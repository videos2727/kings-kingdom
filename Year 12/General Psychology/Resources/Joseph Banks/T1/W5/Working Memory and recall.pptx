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Lst>
  <p:sldIdLst>
    <p:sldId id="363" r:id="rId4"/>
    <p:sldId id="262" r:id="rId5"/>
    <p:sldId id="305" r:id="rId6"/>
    <p:sldId id="345" r:id="rId7"/>
    <p:sldId id="299" r:id="rId8"/>
    <p:sldId id="260" r:id="rId9"/>
    <p:sldId id="261" r:id="rId10"/>
    <p:sldId id="265" r:id="rId11"/>
    <p:sldId id="266" r:id="rId12"/>
    <p:sldId id="263" r:id="rId13"/>
    <p:sldId id="308" r:id="rId14"/>
    <p:sldId id="307" r:id="rId15"/>
    <p:sldId id="361" r:id="rId16"/>
    <p:sldId id="309" r:id="rId17"/>
    <p:sldId id="364" r:id="rId18"/>
    <p:sldId id="365" r:id="rId19"/>
    <p:sldId id="310" r:id="rId20"/>
    <p:sldId id="360" r:id="rId21"/>
    <p:sldId id="3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21"/>
    <p:restoredTop sz="94643"/>
  </p:normalViewPr>
  <p:slideViewPr>
    <p:cSldViewPr snapToGrid="0" snapToObjects="1">
      <p:cViewPr varScale="1">
        <p:scale>
          <a:sx n="129" d="100"/>
          <a:sy n="129" d="100"/>
        </p:scale>
        <p:origin x="4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D5B4F-474F-824B-8A9A-F2ABBB0AEB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433E4F8-259A-6543-91AF-7C853507F3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C6E7239-B2AD-A44B-825A-0D1F9AE74ABF}"/>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5" name="Footer Placeholder 4">
            <a:extLst>
              <a:ext uri="{FF2B5EF4-FFF2-40B4-BE49-F238E27FC236}">
                <a16:creationId xmlns:a16="http://schemas.microsoft.com/office/drawing/2014/main" id="{41E8CAF0-FA9C-9B4E-9D46-0C1F91C1A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DE434F-A60D-B84D-923D-E58870DD8FAC}"/>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4052205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9BCA-339A-9342-B865-C0AB2C413B8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BBE4A52-9EF3-2842-BC82-0FE4FB7F12F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27FA66-04F5-C744-9B14-08943E263F6D}"/>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5" name="Footer Placeholder 4">
            <a:extLst>
              <a:ext uri="{FF2B5EF4-FFF2-40B4-BE49-F238E27FC236}">
                <a16:creationId xmlns:a16="http://schemas.microsoft.com/office/drawing/2014/main" id="{C376B7AD-11F9-F34F-9BE3-2AEE05585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81D664-BEA0-AF46-8DFC-32AC2DD0FD9E}"/>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1721354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F5EB-3045-014F-A38F-706B00535DE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9F15AED-5E64-C84E-9D5F-E18207F2DC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F961075-4105-CC45-8F6A-94D431376284}"/>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5" name="Footer Placeholder 4">
            <a:extLst>
              <a:ext uri="{FF2B5EF4-FFF2-40B4-BE49-F238E27FC236}">
                <a16:creationId xmlns:a16="http://schemas.microsoft.com/office/drawing/2014/main" id="{F4239712-40E6-5042-B4DC-D7318371C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A8438D-6FC3-084C-8EBD-75ACFA6F3706}"/>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4281725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86D6-9670-724E-B6C5-A084F293974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BAF1175-93B8-3947-84B9-7306FF74318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4F4A59E-7874-2441-8959-0005964450D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F72228C-CB88-BF4D-A555-6AA4BE066D5F}"/>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6" name="Footer Placeholder 5">
            <a:extLst>
              <a:ext uri="{FF2B5EF4-FFF2-40B4-BE49-F238E27FC236}">
                <a16:creationId xmlns:a16="http://schemas.microsoft.com/office/drawing/2014/main" id="{0EFF4202-9ABA-3148-87A8-9623359CC4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8C91F-C02D-214A-BF8B-D7725EF97CB8}"/>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574881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CA08-E9AC-6C4D-A378-43B4EEBA4F1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64FD2BB-99EF-2C40-85BD-CD5A38626D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375DA8-EBCE-BB40-B8D4-12AC0F5E5A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8EC966-CA49-FB4B-9287-7C1A101CCC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CE263CB-9A01-4048-BD57-EB5FDA66DC7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BE2D31-3D5D-0540-98F6-C20D0F5B14FF}"/>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8" name="Footer Placeholder 7">
            <a:extLst>
              <a:ext uri="{FF2B5EF4-FFF2-40B4-BE49-F238E27FC236}">
                <a16:creationId xmlns:a16="http://schemas.microsoft.com/office/drawing/2014/main" id="{DA9B4A64-A9EE-954E-8259-7751950A59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934A5D-C0D6-A443-903E-D639EB0867E0}"/>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3808967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CA53-B0BC-8944-A780-C994669CC13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9000170-2C87-FB4D-A631-81FF4AEF9CB6}"/>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4" name="Footer Placeholder 3">
            <a:extLst>
              <a:ext uri="{FF2B5EF4-FFF2-40B4-BE49-F238E27FC236}">
                <a16:creationId xmlns:a16="http://schemas.microsoft.com/office/drawing/2014/main" id="{99460597-E770-5348-8452-29BF922E46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9ACDDA-3582-CA46-9444-3DA266192D5D}"/>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1241921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B39F02-2EF7-4F41-87CD-B57675054FF2}"/>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3" name="Footer Placeholder 2">
            <a:extLst>
              <a:ext uri="{FF2B5EF4-FFF2-40B4-BE49-F238E27FC236}">
                <a16:creationId xmlns:a16="http://schemas.microsoft.com/office/drawing/2014/main" id="{0B753B07-BAC0-F74E-B892-1B33EBEB71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D21948-2185-6140-9652-E039927434B9}"/>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1145952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08744-C483-4346-8A4F-E5B90F60A3F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80723B4-C3AC-1E49-BE14-6D30EC962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9D45AA4-59A3-A046-B18F-4814811706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9EF75EA-F719-B64C-8CDD-25F36CA220F2}"/>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6" name="Footer Placeholder 5">
            <a:extLst>
              <a:ext uri="{FF2B5EF4-FFF2-40B4-BE49-F238E27FC236}">
                <a16:creationId xmlns:a16="http://schemas.microsoft.com/office/drawing/2014/main" id="{7EF5D2E8-89AC-CD43-A2CB-73660CA8E8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B37508-7BFE-4C47-BCDE-335847F6324C}"/>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106100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22606-BAF0-7044-9DCD-F4E196CF0E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1BEC265-92F4-4542-B858-1D7BF7534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CB7765-730D-8D41-AF0B-62FA14B33A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BA95096-10E6-0E45-B842-D8CEB169901A}"/>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6" name="Footer Placeholder 5">
            <a:extLst>
              <a:ext uri="{FF2B5EF4-FFF2-40B4-BE49-F238E27FC236}">
                <a16:creationId xmlns:a16="http://schemas.microsoft.com/office/drawing/2014/main" id="{0F4A74D9-57B1-3E4D-A593-3967FED8E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9733A4-5C54-264F-A48F-7569FF561854}"/>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803628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A3767-2829-A04A-80A8-A49598192E0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C5C01D-BE4A-A340-BD8C-E86800C2AF8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58A63C-6B55-4643-B4A5-0554A9C7B832}"/>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5" name="Footer Placeholder 4">
            <a:extLst>
              <a:ext uri="{FF2B5EF4-FFF2-40B4-BE49-F238E27FC236}">
                <a16:creationId xmlns:a16="http://schemas.microsoft.com/office/drawing/2014/main" id="{0BD5FAC6-92EF-7649-80F3-5E493C3E3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CB91B0-EBC3-804A-B486-583D4F9AF824}"/>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3523641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F9CC48-0D40-C943-B805-0A91B2F0FE2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F814144-C428-CE4C-9F75-F409B29E761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819A7B-6026-BB4E-B199-DC57337EA3B3}"/>
              </a:ext>
            </a:extLst>
          </p:cNvPr>
          <p:cNvSpPr>
            <a:spLocks noGrp="1"/>
          </p:cNvSpPr>
          <p:nvPr>
            <p:ph type="dt" sz="half" idx="10"/>
          </p:nvPr>
        </p:nvSpPr>
        <p:spPr/>
        <p:txBody>
          <a:bodyPr/>
          <a:lstStyle/>
          <a:p>
            <a:fld id="{17B3AB83-EBEC-0B4A-A3C3-AF159C9CA75C}" type="datetimeFigureOut">
              <a:rPr lang="en-US" smtClean="0"/>
              <a:t>3/5/21</a:t>
            </a:fld>
            <a:endParaRPr lang="en-US"/>
          </a:p>
        </p:txBody>
      </p:sp>
      <p:sp>
        <p:nvSpPr>
          <p:cNvPr id="5" name="Footer Placeholder 4">
            <a:extLst>
              <a:ext uri="{FF2B5EF4-FFF2-40B4-BE49-F238E27FC236}">
                <a16:creationId xmlns:a16="http://schemas.microsoft.com/office/drawing/2014/main" id="{134C55D6-E6DF-E84B-BB19-B983578A8C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F24AFA-47F9-6740-9DF4-61B69FA79835}"/>
              </a:ext>
            </a:extLst>
          </p:cNvPr>
          <p:cNvSpPr>
            <a:spLocks noGrp="1"/>
          </p:cNvSpPr>
          <p:nvPr>
            <p:ph type="sldNum" sz="quarter" idx="12"/>
          </p:nvPr>
        </p:nvSpPr>
        <p:spPr/>
        <p:txBody>
          <a:bodyPr/>
          <a:lstStyle/>
          <a:p>
            <a:fld id="{ABA143DA-C1D1-284C-9CCF-59704678BE9A}" type="slidenum">
              <a:rPr lang="en-US" smtClean="0"/>
              <a:t>‹#›</a:t>
            </a:fld>
            <a:endParaRPr lang="en-US"/>
          </a:p>
        </p:txBody>
      </p:sp>
    </p:spTree>
    <p:extLst>
      <p:ext uri="{BB962C8B-B14F-4D97-AF65-F5344CB8AC3E}">
        <p14:creationId xmlns:p14="http://schemas.microsoft.com/office/powerpoint/2010/main" val="3463781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8104589-19CC-9D40-B7D4-FF67560396EB}"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4211250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104589-19CC-9D40-B7D4-FF67560396EB}"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1499488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104589-19CC-9D40-B7D4-FF67560396EB}"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27285831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104589-19CC-9D40-B7D4-FF67560396EB}"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2701390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104589-19CC-9D40-B7D4-FF67560396EB}" type="datetimeFigureOut">
              <a:rPr lang="en-US" smtClean="0"/>
              <a:t>3/5/21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1188132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104589-19CC-9D40-B7D4-FF67560396EB}" type="datetimeFigureOut">
              <a:rPr lang="en-US" smtClean="0"/>
              <a:t>3/5/21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24811344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104589-19CC-9D40-B7D4-FF67560396EB}" type="datetimeFigureOut">
              <a:rPr lang="en-US" smtClean="0"/>
              <a:t>3/5/21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653308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104589-19CC-9D40-B7D4-FF67560396EB}"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3906319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104589-19CC-9D40-B7D4-FF67560396EB}"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16530922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104589-19CC-9D40-B7D4-FF67560396EB}"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154587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104589-19CC-9D40-B7D4-FF67560396EB}"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18C16C-7B15-DD4D-9BD1-9BE9F1F6D2EE}" type="slidenum">
              <a:rPr lang="en-US" smtClean="0"/>
              <a:t>‹#›</a:t>
            </a:fld>
            <a:endParaRPr lang="en-US"/>
          </a:p>
        </p:txBody>
      </p:sp>
    </p:spTree>
    <p:extLst>
      <p:ext uri="{BB962C8B-B14F-4D97-AF65-F5344CB8AC3E}">
        <p14:creationId xmlns:p14="http://schemas.microsoft.com/office/powerpoint/2010/main" val="34870581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1878381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492740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38972317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3426723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046636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39574595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190449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3/5/21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4391122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1654068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554025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6280952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3/5/21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02730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3/5/21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6321761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97441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38106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0092703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3/5/21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31598926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1196872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3/5/21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990817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DB2474-21C9-A244-9E5C-66257C6920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2A7D2E1-9059-A349-94B3-CF2C55AF6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449B67-9750-8B43-B503-68D02121F6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B3AB83-EBEC-0B4A-A3C3-AF159C9CA75C}" type="datetimeFigureOut">
              <a:rPr lang="en-US" smtClean="0"/>
              <a:t>3/5/21</a:t>
            </a:fld>
            <a:endParaRPr lang="en-US"/>
          </a:p>
        </p:txBody>
      </p:sp>
      <p:sp>
        <p:nvSpPr>
          <p:cNvPr id="5" name="Footer Placeholder 4">
            <a:extLst>
              <a:ext uri="{FF2B5EF4-FFF2-40B4-BE49-F238E27FC236}">
                <a16:creationId xmlns:a16="http://schemas.microsoft.com/office/drawing/2014/main" id="{B46DEAD2-14E1-DC4F-A3C9-9C5252AD93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7D9BB7E-3ADB-B04E-8BFB-FBDE88D56D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A143DA-C1D1-284C-9CCF-59704678BE9A}" type="slidenum">
              <a:rPr lang="en-US" smtClean="0"/>
              <a:t>‹#›</a:t>
            </a:fld>
            <a:endParaRPr lang="en-US"/>
          </a:p>
        </p:txBody>
      </p:sp>
    </p:spTree>
    <p:extLst>
      <p:ext uri="{BB962C8B-B14F-4D97-AF65-F5344CB8AC3E}">
        <p14:creationId xmlns:p14="http://schemas.microsoft.com/office/powerpoint/2010/main" val="397804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04589-19CC-9D40-B7D4-FF67560396EB}" type="datetimeFigureOut">
              <a:rPr lang="en-US" smtClean="0"/>
              <a:t>3/5/21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8C16C-7B15-DD4D-9BD1-9BE9F1F6D2EE}" type="slidenum">
              <a:rPr lang="en-US" smtClean="0"/>
              <a:t>‹#›</a:t>
            </a:fld>
            <a:endParaRPr lang="en-US"/>
          </a:p>
        </p:txBody>
      </p:sp>
    </p:spTree>
    <p:extLst>
      <p:ext uri="{BB962C8B-B14F-4D97-AF65-F5344CB8AC3E}">
        <p14:creationId xmlns:p14="http://schemas.microsoft.com/office/powerpoint/2010/main" val="3135041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3/5/21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1708569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3.xml"/><Relationship Id="rId1" Type="http://schemas.openxmlformats.org/officeDocument/2006/relationships/video" Target="https://www.youtube.com/embed/_FfhbvUEURM?feature=oembed"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www.thestudyspace.com/page/revision-strategies-and-tips/" TargetMode="External"/><Relationship Id="rId2" Type="http://schemas.openxmlformats.org/officeDocument/2006/relationships/image" Target="../media/image7.png"/><Relationship Id="rId1" Type="http://schemas.openxmlformats.org/officeDocument/2006/relationships/slideLayout" Target="../slideLayouts/slideLayout18.xml"/><Relationship Id="rId5" Type="http://schemas.openxmlformats.org/officeDocument/2006/relationships/hyperlink" Target="https://www.verywellhealth.com/elaborative-rehearsal-a-better-way-to-memorize-98694" TargetMode="External"/><Relationship Id="rId4" Type="http://schemas.openxmlformats.org/officeDocument/2006/relationships/hyperlink" Target="https://www.hongkiat.com/blog/supercharging-your-mind/"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2420008" y="599088"/>
            <a:ext cx="6471744" cy="6524863"/>
          </a:xfrm>
          <a:prstGeom prst="rect">
            <a:avLst/>
          </a:prstGeom>
          <a:noFill/>
        </p:spPr>
        <p:txBody>
          <a:bodyPr wrap="square" rtlCol="0">
            <a:spAutoFit/>
          </a:bodyPr>
          <a:lstStyle/>
          <a:p>
            <a:pPr lvl="0">
              <a:defRPr/>
            </a:pPr>
            <a:endParaRPr lang="en-US" sz="2800" dirty="0"/>
          </a:p>
          <a:p>
            <a:pPr lvl="0">
              <a:defRPr/>
            </a:pPr>
            <a:r>
              <a:rPr lang="en-US" sz="2800" dirty="0"/>
              <a:t>1. Get your things out</a:t>
            </a:r>
          </a:p>
          <a:p>
            <a:pPr lvl="0">
              <a:defRPr/>
            </a:pPr>
            <a:r>
              <a:rPr lang="en-US" sz="2800" dirty="0"/>
              <a:t>2.</a:t>
            </a:r>
          </a:p>
          <a:p>
            <a:pPr lvl="0">
              <a:defRPr/>
            </a:pPr>
            <a:endParaRPr lang="en-US" sz="2800" dirty="0">
              <a:solidFill>
                <a:schemeClr val="dk1"/>
              </a:solidFill>
            </a:endParaRPr>
          </a:p>
          <a:p>
            <a:pPr lvl="0">
              <a:defRPr/>
            </a:pPr>
            <a:endParaRPr lang="en-US" sz="2800" dirty="0"/>
          </a:p>
          <a:p>
            <a:pPr lvl="0">
              <a:defRPr/>
            </a:pPr>
            <a:endParaRPr lang="en-US" sz="2800" dirty="0"/>
          </a:p>
          <a:p>
            <a:pPr lvl="0">
              <a:defRPr/>
            </a:pPr>
            <a:endParaRPr lang="en-US" sz="2800" dirty="0"/>
          </a:p>
          <a:p>
            <a:pPr lvl="0">
              <a:defRPr/>
            </a:pPr>
            <a:endParaRPr lang="en-US" sz="2800" dirty="0"/>
          </a:p>
          <a:p>
            <a:pPr lvl="0">
              <a:defRPr/>
            </a:pPr>
            <a:endParaRPr lang="en-US" sz="2800" dirty="0"/>
          </a:p>
          <a:p>
            <a:pPr lvl="0">
              <a:defRPr/>
            </a:pPr>
            <a:r>
              <a:rPr lang="en-US" sz="2800" dirty="0"/>
              <a:t>3. Find as many words as you can:</a:t>
            </a:r>
          </a:p>
          <a:p>
            <a:pPr lvl="0">
              <a:defRPr/>
            </a:pPr>
            <a:endParaRPr lang="en-US" sz="2800" dirty="0"/>
          </a:p>
          <a:p>
            <a:pPr lvl="0">
              <a:defRPr/>
            </a:pPr>
            <a:r>
              <a:rPr lang="en-US" sz="5400" dirty="0"/>
              <a:t>DOIVRAERACUALPRAS</a:t>
            </a:r>
          </a:p>
          <a:p>
            <a:pPr lvl="0">
              <a:defRPr/>
            </a:pPr>
            <a:endParaRPr lang="en-US" sz="2800" dirty="0"/>
          </a:p>
          <a:p>
            <a:pPr marL="514350" lvl="0" indent="-514350">
              <a:buAutoNum type="arabicPeriod"/>
              <a:defRPr/>
            </a:pPr>
            <a:endParaRPr lang="en-US" sz="2800" dirty="0"/>
          </a:p>
        </p:txBody>
      </p:sp>
      <p:sp>
        <p:nvSpPr>
          <p:cNvPr id="2" name="TextBox 1">
            <a:extLst>
              <a:ext uri="{FF2B5EF4-FFF2-40B4-BE49-F238E27FC236}">
                <a16:creationId xmlns:a16="http://schemas.microsoft.com/office/drawing/2014/main" id="{0CB713E8-D0D0-4D35-8F6A-4F52B4B63A36}"/>
              </a:ext>
            </a:extLst>
          </p:cNvPr>
          <p:cNvSpPr txBox="1"/>
          <p:nvPr/>
        </p:nvSpPr>
        <p:spPr>
          <a:xfrm>
            <a:off x="50471" y="1170333"/>
            <a:ext cx="2197290"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3" name="Picture 2" descr="Keep silence and be quiet lips and finger silent sign, no noise ...">
            <a:extLst>
              <a:ext uri="{FF2B5EF4-FFF2-40B4-BE49-F238E27FC236}">
                <a16:creationId xmlns:a16="http://schemas.microsoft.com/office/drawing/2014/main" id="{4BBCA871-006E-4992-A9E0-5B94DFC6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9421" y="-6605"/>
            <a:ext cx="2062108" cy="20621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is confusing McDonald's maths puzzle is dividing the internet">
            <a:extLst>
              <a:ext uri="{FF2B5EF4-FFF2-40B4-BE49-F238E27FC236}">
                <a16:creationId xmlns:a16="http://schemas.microsoft.com/office/drawing/2014/main" id="{BC651809-1CE6-AC40-9EF1-7155EAD8C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4571" y="1587973"/>
            <a:ext cx="4290629" cy="26825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 7">
            <a:extLst>
              <a:ext uri="{FF2B5EF4-FFF2-40B4-BE49-F238E27FC236}">
                <a16:creationId xmlns:a16="http://schemas.microsoft.com/office/drawing/2014/main" id="{65FA505D-F8C1-8F41-86AD-3D4B25329566}"/>
              </a:ext>
            </a:extLst>
          </p:cNvPr>
          <p:cNvGraphicFramePr>
            <a:graphicFrameLocks noGrp="1"/>
          </p:cNvGraphicFramePr>
          <p:nvPr>
            <p:extLst>
              <p:ext uri="{D42A27DB-BD31-4B8C-83A1-F6EECF244321}">
                <p14:modId xmlns:p14="http://schemas.microsoft.com/office/powerpoint/2010/main" val="1154060986"/>
              </p:ext>
            </p:extLst>
          </p:nvPr>
        </p:nvGraphicFramePr>
        <p:xfrm>
          <a:off x="9061839" y="5576277"/>
          <a:ext cx="3126644" cy="128524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b="1" dirty="0"/>
                        <a:t>Assessment next Tuesday: </a:t>
                      </a:r>
                    </a:p>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Research Methods and cognition test (5%)</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56738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3428176" y="0"/>
            <a:ext cx="5053517" cy="2246769"/>
          </a:xfrm>
          <a:prstGeom prst="rect">
            <a:avLst/>
          </a:prstGeom>
          <a:noFill/>
        </p:spPr>
        <p:txBody>
          <a:bodyPr wrap="square" rtlCol="0">
            <a:spAutoFit/>
          </a:bodyPr>
          <a:lstStyle/>
          <a:p>
            <a:pPr lvl="0">
              <a:defRPr/>
            </a:pPr>
            <a:r>
              <a:rPr lang="en-US" sz="2800" dirty="0"/>
              <a:t>Questions on content covered recently / revision.</a:t>
            </a:r>
          </a:p>
          <a:p>
            <a:pPr lvl="0">
              <a:defRPr/>
            </a:pPr>
            <a:endParaRPr lang="en-US" sz="2800" dirty="0"/>
          </a:p>
          <a:p>
            <a:pPr marL="514350" lvl="0" indent="-514350">
              <a:buAutoNum type="arabicPeriod"/>
              <a:defRPr/>
            </a:pPr>
            <a:endParaRPr lang="en-US" sz="2800" dirty="0"/>
          </a:p>
        </p:txBody>
      </p:sp>
      <p:graphicFrame>
        <p:nvGraphicFramePr>
          <p:cNvPr id="7" name="Table 6"/>
          <p:cNvGraphicFramePr>
            <a:graphicFrameLocks noGrp="1"/>
          </p:cNvGraphicFramePr>
          <p:nvPr>
            <p:extLst>
              <p:ext uri="{D42A27DB-BD31-4B8C-83A1-F6EECF244321}">
                <p14:modId xmlns:p14="http://schemas.microsoft.com/office/powerpoint/2010/main" val="2564523478"/>
              </p:ext>
            </p:extLst>
          </p:nvPr>
        </p:nvGraphicFramePr>
        <p:xfrm>
          <a:off x="9065356" y="5572760"/>
          <a:ext cx="3126644" cy="128524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b="1" dirty="0"/>
                        <a:t>Assessment next Tuesday: </a:t>
                      </a:r>
                    </a:p>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Research Methods and cognition test (5%)</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CB713E8-D0D0-4D35-8F6A-4F52B4B63A36}"/>
              </a:ext>
            </a:extLst>
          </p:cNvPr>
          <p:cNvSpPr txBox="1"/>
          <p:nvPr/>
        </p:nvSpPr>
        <p:spPr>
          <a:xfrm>
            <a:off x="-1" y="4549676"/>
            <a:ext cx="2213239"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3" name="Picture 2" descr="Keep silence and be quiet lips and finger silent sign, no noise ...">
            <a:extLst>
              <a:ext uri="{FF2B5EF4-FFF2-40B4-BE49-F238E27FC236}">
                <a16:creationId xmlns:a16="http://schemas.microsoft.com/office/drawing/2014/main" id="{4BBCA871-006E-4992-A9E0-5B94DFC6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4760" y="-6606"/>
            <a:ext cx="2246769" cy="22467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7">
            <a:extLst>
              <a:ext uri="{FF2B5EF4-FFF2-40B4-BE49-F238E27FC236}">
                <a16:creationId xmlns:a16="http://schemas.microsoft.com/office/drawing/2014/main" id="{EAC0F3EB-62B9-6A44-9F28-F17806B8F7DC}"/>
              </a:ext>
            </a:extLst>
          </p:cNvPr>
          <p:cNvGraphicFramePr>
            <a:graphicFrameLocks noGrp="1"/>
          </p:cNvGraphicFramePr>
          <p:nvPr>
            <p:extLst>
              <p:ext uri="{D42A27DB-BD31-4B8C-83A1-F6EECF244321}">
                <p14:modId xmlns:p14="http://schemas.microsoft.com/office/powerpoint/2010/main" val="4216281959"/>
              </p:ext>
            </p:extLst>
          </p:nvPr>
        </p:nvGraphicFramePr>
        <p:xfrm>
          <a:off x="2318342" y="916725"/>
          <a:ext cx="7924944" cy="4475080"/>
        </p:xfrm>
        <a:graphic>
          <a:graphicData uri="http://schemas.openxmlformats.org/drawingml/2006/table">
            <a:tbl>
              <a:tblPr firstRow="1" bandRow="1">
                <a:tableStyleId>{21E4AEA4-8DFA-4A89-87EB-49C32662AFE0}</a:tableStyleId>
              </a:tblPr>
              <a:tblGrid>
                <a:gridCol w="2375482">
                  <a:extLst>
                    <a:ext uri="{9D8B030D-6E8A-4147-A177-3AD203B41FA5}">
                      <a16:colId xmlns:a16="http://schemas.microsoft.com/office/drawing/2014/main" val="1690124455"/>
                    </a:ext>
                  </a:extLst>
                </a:gridCol>
                <a:gridCol w="5549462">
                  <a:extLst>
                    <a:ext uri="{9D8B030D-6E8A-4147-A177-3AD203B41FA5}">
                      <a16:colId xmlns:a16="http://schemas.microsoft.com/office/drawing/2014/main" val="2329917092"/>
                    </a:ext>
                  </a:extLst>
                </a:gridCol>
              </a:tblGrid>
              <a:tr h="443745">
                <a:tc>
                  <a:txBody>
                    <a:bodyPr/>
                    <a:lstStyle/>
                    <a:p>
                      <a:pPr algn="ctr"/>
                      <a:r>
                        <a:rPr lang="en-US" dirty="0"/>
                        <a:t>Term</a:t>
                      </a:r>
                    </a:p>
                  </a:txBody>
                  <a:tcPr/>
                </a:tc>
                <a:tc>
                  <a:txBody>
                    <a:bodyPr/>
                    <a:lstStyle/>
                    <a:p>
                      <a:pPr algn="ctr"/>
                      <a:r>
                        <a:rPr lang="en-US" dirty="0"/>
                        <a:t>Description</a:t>
                      </a:r>
                    </a:p>
                  </a:txBody>
                  <a:tcPr/>
                </a:tc>
                <a:extLst>
                  <a:ext uri="{0D108BD9-81ED-4DB2-BD59-A6C34878D82A}">
                    <a16:rowId xmlns:a16="http://schemas.microsoft.com/office/drawing/2014/main" val="2590878072"/>
                  </a:ext>
                </a:extLst>
              </a:tr>
              <a:tr h="806267">
                <a:tc>
                  <a:txBody>
                    <a:bodyPr/>
                    <a:lstStyle/>
                    <a:p>
                      <a:endParaRPr lang="en-US" dirty="0"/>
                    </a:p>
                  </a:txBody>
                  <a:tcPr/>
                </a:tc>
                <a:tc>
                  <a:txBody>
                    <a:bodyPr/>
                    <a:lstStyle/>
                    <a:p>
                      <a:r>
                        <a:rPr lang="en-US" dirty="0"/>
                        <a:t>Duration unlimited, capacity unlimited</a:t>
                      </a:r>
                    </a:p>
                  </a:txBody>
                  <a:tcPr/>
                </a:tc>
                <a:extLst>
                  <a:ext uri="{0D108BD9-81ED-4DB2-BD59-A6C34878D82A}">
                    <a16:rowId xmlns:a16="http://schemas.microsoft.com/office/drawing/2014/main" val="1037101784"/>
                  </a:ext>
                </a:extLst>
              </a:tr>
              <a:tr h="806267">
                <a:tc>
                  <a:txBody>
                    <a:bodyPr/>
                    <a:lstStyle/>
                    <a:p>
                      <a:endParaRPr lang="en-US" dirty="0"/>
                    </a:p>
                  </a:txBody>
                  <a:tcPr/>
                </a:tc>
                <a:tc>
                  <a:txBody>
                    <a:bodyPr/>
                    <a:lstStyle/>
                    <a:p>
                      <a:r>
                        <a:rPr lang="en-US" dirty="0"/>
                        <a:t>A model of memory with 3 memory stores made by Atkinson and Shiffrin</a:t>
                      </a:r>
                    </a:p>
                  </a:txBody>
                  <a:tcPr/>
                </a:tc>
                <a:extLst>
                  <a:ext uri="{0D108BD9-81ED-4DB2-BD59-A6C34878D82A}">
                    <a16:rowId xmlns:a16="http://schemas.microsoft.com/office/drawing/2014/main" val="462863494"/>
                  </a:ext>
                </a:extLst>
              </a:tr>
              <a:tr h="806267">
                <a:tc>
                  <a:txBody>
                    <a:bodyPr/>
                    <a:lstStyle/>
                    <a:p>
                      <a:endParaRPr lang="en-US"/>
                    </a:p>
                  </a:txBody>
                  <a:tcPr/>
                </a:tc>
                <a:tc>
                  <a:txBody>
                    <a:bodyPr/>
                    <a:lstStyle/>
                    <a:p>
                      <a:r>
                        <a:rPr lang="en-US" dirty="0"/>
                        <a:t>A type of rehearsal used to keep information in the short-term </a:t>
                      </a:r>
                      <a:r>
                        <a:rPr lang="en-US" dirty="0" err="1"/>
                        <a:t>memroy</a:t>
                      </a:r>
                      <a:endParaRPr lang="en-US" dirty="0"/>
                    </a:p>
                  </a:txBody>
                  <a:tcPr/>
                </a:tc>
                <a:extLst>
                  <a:ext uri="{0D108BD9-81ED-4DB2-BD59-A6C34878D82A}">
                    <a16:rowId xmlns:a16="http://schemas.microsoft.com/office/drawing/2014/main" val="10571591"/>
                  </a:ext>
                </a:extLst>
              </a:tr>
              <a:tr h="806267">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duration less than a second, capacity unlimited</a:t>
                      </a:r>
                    </a:p>
                    <a:p>
                      <a:endParaRPr lang="en-US" dirty="0"/>
                    </a:p>
                  </a:txBody>
                  <a:tcPr/>
                </a:tc>
                <a:extLst>
                  <a:ext uri="{0D108BD9-81ED-4DB2-BD59-A6C34878D82A}">
                    <a16:rowId xmlns:a16="http://schemas.microsoft.com/office/drawing/2014/main" val="2063704963"/>
                  </a:ext>
                </a:extLst>
              </a:tr>
              <a:tr h="806267">
                <a:tc>
                  <a:txBody>
                    <a:bodyPr/>
                    <a:lstStyle/>
                    <a:p>
                      <a:endParaRPr lang="en-US" dirty="0"/>
                    </a:p>
                  </a:txBody>
                  <a:tcPr/>
                </a:tc>
                <a:tc>
                  <a:txBody>
                    <a:bodyPr/>
                    <a:lstStyle/>
                    <a:p>
                      <a:r>
                        <a:rPr lang="en-US" dirty="0"/>
                        <a:t>A type of rehearsal where information is connected to previously learned information</a:t>
                      </a:r>
                    </a:p>
                  </a:txBody>
                  <a:tcPr/>
                </a:tc>
                <a:extLst>
                  <a:ext uri="{0D108BD9-81ED-4DB2-BD59-A6C34878D82A}">
                    <a16:rowId xmlns:a16="http://schemas.microsoft.com/office/drawing/2014/main" val="3231034381"/>
                  </a:ext>
                </a:extLst>
              </a:tr>
            </a:tbl>
          </a:graphicData>
        </a:graphic>
      </p:graphicFrame>
    </p:spTree>
    <p:extLst>
      <p:ext uri="{BB962C8B-B14F-4D97-AF65-F5344CB8AC3E}">
        <p14:creationId xmlns:p14="http://schemas.microsoft.com/office/powerpoint/2010/main" val="62525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4117642" y="88743"/>
            <a:ext cx="5053517" cy="954107"/>
          </a:xfrm>
          <a:prstGeom prst="rect">
            <a:avLst/>
          </a:prstGeom>
          <a:noFill/>
        </p:spPr>
        <p:txBody>
          <a:bodyPr wrap="square" rtlCol="0">
            <a:spAutoFit/>
          </a:bodyPr>
          <a:lstStyle/>
          <a:p>
            <a:pPr lvl="0">
              <a:defRPr/>
            </a:pPr>
            <a:r>
              <a:rPr lang="en-US" sz="2800" dirty="0"/>
              <a:t>Answer </a:t>
            </a:r>
          </a:p>
          <a:p>
            <a:pPr marL="514350" lvl="0" indent="-514350">
              <a:buAutoNum type="arabicPeriod"/>
              <a:defRPr/>
            </a:pPr>
            <a:endParaRPr lang="en-US" sz="2800" dirty="0"/>
          </a:p>
        </p:txBody>
      </p:sp>
      <p:graphicFrame>
        <p:nvGraphicFramePr>
          <p:cNvPr id="7" name="Table 6"/>
          <p:cNvGraphicFramePr>
            <a:graphicFrameLocks noGrp="1"/>
          </p:cNvGraphicFramePr>
          <p:nvPr/>
        </p:nvGraphicFramePr>
        <p:xfrm>
          <a:off x="9065356" y="5572760"/>
          <a:ext cx="3126644" cy="128524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Assessment next Monday: </a:t>
                      </a:r>
                    </a:p>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Research Methods and cognition test (5%)</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CB713E8-D0D0-4D35-8F6A-4F52B4B63A36}"/>
              </a:ext>
            </a:extLst>
          </p:cNvPr>
          <p:cNvSpPr txBox="1"/>
          <p:nvPr/>
        </p:nvSpPr>
        <p:spPr>
          <a:xfrm>
            <a:off x="-1" y="4549676"/>
            <a:ext cx="2213239"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3" name="Picture 2" descr="Keep silence and be quiet lips and finger silent sign, no noise ...">
            <a:extLst>
              <a:ext uri="{FF2B5EF4-FFF2-40B4-BE49-F238E27FC236}">
                <a16:creationId xmlns:a16="http://schemas.microsoft.com/office/drawing/2014/main" id="{4BBCA871-006E-4992-A9E0-5B94DFC6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4760" y="-6606"/>
            <a:ext cx="2246769" cy="22467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7">
            <a:extLst>
              <a:ext uri="{FF2B5EF4-FFF2-40B4-BE49-F238E27FC236}">
                <a16:creationId xmlns:a16="http://schemas.microsoft.com/office/drawing/2014/main" id="{EAC0F3EB-62B9-6A44-9F28-F17806B8F7DC}"/>
              </a:ext>
            </a:extLst>
          </p:cNvPr>
          <p:cNvGraphicFramePr>
            <a:graphicFrameLocks noGrp="1"/>
          </p:cNvGraphicFramePr>
          <p:nvPr>
            <p:extLst>
              <p:ext uri="{D42A27DB-BD31-4B8C-83A1-F6EECF244321}">
                <p14:modId xmlns:p14="http://schemas.microsoft.com/office/powerpoint/2010/main" val="4349542"/>
              </p:ext>
            </p:extLst>
          </p:nvPr>
        </p:nvGraphicFramePr>
        <p:xfrm>
          <a:off x="2318342" y="971555"/>
          <a:ext cx="7924944" cy="4475080"/>
        </p:xfrm>
        <a:graphic>
          <a:graphicData uri="http://schemas.openxmlformats.org/drawingml/2006/table">
            <a:tbl>
              <a:tblPr firstRow="1" bandRow="1">
                <a:tableStyleId>{93296810-A885-4BE3-A3E7-6D5BEEA58F35}</a:tableStyleId>
              </a:tblPr>
              <a:tblGrid>
                <a:gridCol w="2375482">
                  <a:extLst>
                    <a:ext uri="{9D8B030D-6E8A-4147-A177-3AD203B41FA5}">
                      <a16:colId xmlns:a16="http://schemas.microsoft.com/office/drawing/2014/main" val="1690124455"/>
                    </a:ext>
                  </a:extLst>
                </a:gridCol>
                <a:gridCol w="5549462">
                  <a:extLst>
                    <a:ext uri="{9D8B030D-6E8A-4147-A177-3AD203B41FA5}">
                      <a16:colId xmlns:a16="http://schemas.microsoft.com/office/drawing/2014/main" val="2329917092"/>
                    </a:ext>
                  </a:extLst>
                </a:gridCol>
              </a:tblGrid>
              <a:tr h="443745">
                <a:tc>
                  <a:txBody>
                    <a:bodyPr/>
                    <a:lstStyle/>
                    <a:p>
                      <a:pPr algn="ctr"/>
                      <a:r>
                        <a:rPr lang="en-US" dirty="0"/>
                        <a:t>Term</a:t>
                      </a:r>
                    </a:p>
                  </a:txBody>
                  <a:tcPr/>
                </a:tc>
                <a:tc>
                  <a:txBody>
                    <a:bodyPr/>
                    <a:lstStyle/>
                    <a:p>
                      <a:pPr algn="ctr"/>
                      <a:r>
                        <a:rPr lang="en-US" dirty="0"/>
                        <a:t>Description</a:t>
                      </a:r>
                    </a:p>
                  </a:txBody>
                  <a:tcPr/>
                </a:tc>
                <a:extLst>
                  <a:ext uri="{0D108BD9-81ED-4DB2-BD59-A6C34878D82A}">
                    <a16:rowId xmlns:a16="http://schemas.microsoft.com/office/drawing/2014/main" val="2590878072"/>
                  </a:ext>
                </a:extLst>
              </a:tr>
              <a:tr h="806267">
                <a:tc>
                  <a:txBody>
                    <a:bodyPr/>
                    <a:lstStyle/>
                    <a:p>
                      <a:r>
                        <a:rPr lang="en-US" dirty="0"/>
                        <a:t>Long-term memory</a:t>
                      </a:r>
                    </a:p>
                  </a:txBody>
                  <a:tcPr/>
                </a:tc>
                <a:tc>
                  <a:txBody>
                    <a:bodyPr/>
                    <a:lstStyle/>
                    <a:p>
                      <a:r>
                        <a:rPr lang="en-US" dirty="0"/>
                        <a:t>Duration unlimited, capacity unlimited</a:t>
                      </a:r>
                    </a:p>
                  </a:txBody>
                  <a:tcPr/>
                </a:tc>
                <a:extLst>
                  <a:ext uri="{0D108BD9-81ED-4DB2-BD59-A6C34878D82A}">
                    <a16:rowId xmlns:a16="http://schemas.microsoft.com/office/drawing/2014/main" val="1037101784"/>
                  </a:ext>
                </a:extLst>
              </a:tr>
              <a:tr h="806267">
                <a:tc>
                  <a:txBody>
                    <a:bodyPr/>
                    <a:lstStyle/>
                    <a:p>
                      <a:r>
                        <a:rPr lang="en-US" dirty="0"/>
                        <a:t>Multi-Store model of memory</a:t>
                      </a:r>
                    </a:p>
                  </a:txBody>
                  <a:tcPr/>
                </a:tc>
                <a:tc>
                  <a:txBody>
                    <a:bodyPr/>
                    <a:lstStyle/>
                    <a:p>
                      <a:r>
                        <a:rPr lang="en-US" dirty="0"/>
                        <a:t>A model of memory with 3 memory stores made by Atkinson and Shiffrin</a:t>
                      </a:r>
                    </a:p>
                  </a:txBody>
                  <a:tcPr/>
                </a:tc>
                <a:extLst>
                  <a:ext uri="{0D108BD9-81ED-4DB2-BD59-A6C34878D82A}">
                    <a16:rowId xmlns:a16="http://schemas.microsoft.com/office/drawing/2014/main" val="462863494"/>
                  </a:ext>
                </a:extLst>
              </a:tr>
              <a:tr h="806267">
                <a:tc>
                  <a:txBody>
                    <a:bodyPr/>
                    <a:lstStyle/>
                    <a:p>
                      <a:r>
                        <a:rPr lang="en-US" dirty="0"/>
                        <a:t>Maintenance rehearsal</a:t>
                      </a:r>
                    </a:p>
                  </a:txBody>
                  <a:tcPr/>
                </a:tc>
                <a:tc>
                  <a:txBody>
                    <a:bodyPr/>
                    <a:lstStyle/>
                    <a:p>
                      <a:r>
                        <a:rPr lang="en-US" dirty="0"/>
                        <a:t>A type of rehearsal used to keep information in the short-term memory</a:t>
                      </a:r>
                    </a:p>
                  </a:txBody>
                  <a:tcPr/>
                </a:tc>
                <a:extLst>
                  <a:ext uri="{0D108BD9-81ED-4DB2-BD59-A6C34878D82A}">
                    <a16:rowId xmlns:a16="http://schemas.microsoft.com/office/drawing/2014/main" val="10571591"/>
                  </a:ext>
                </a:extLst>
              </a:tr>
              <a:tr h="806267">
                <a:tc>
                  <a:txBody>
                    <a:bodyPr/>
                    <a:lstStyle/>
                    <a:p>
                      <a:r>
                        <a:rPr lang="en-US" dirty="0"/>
                        <a:t>Sensory memory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duration less than a second, capacity unlimited</a:t>
                      </a:r>
                    </a:p>
                    <a:p>
                      <a:endParaRPr lang="en-US" dirty="0"/>
                    </a:p>
                  </a:txBody>
                  <a:tcPr/>
                </a:tc>
                <a:extLst>
                  <a:ext uri="{0D108BD9-81ED-4DB2-BD59-A6C34878D82A}">
                    <a16:rowId xmlns:a16="http://schemas.microsoft.com/office/drawing/2014/main" val="2063704963"/>
                  </a:ext>
                </a:extLst>
              </a:tr>
              <a:tr h="806267">
                <a:tc>
                  <a:txBody>
                    <a:bodyPr/>
                    <a:lstStyle/>
                    <a:p>
                      <a:r>
                        <a:rPr lang="en-US" dirty="0"/>
                        <a:t>Elaborative rehearsal </a:t>
                      </a:r>
                    </a:p>
                  </a:txBody>
                  <a:tcPr/>
                </a:tc>
                <a:tc>
                  <a:txBody>
                    <a:bodyPr/>
                    <a:lstStyle/>
                    <a:p>
                      <a:r>
                        <a:rPr lang="en-US" dirty="0"/>
                        <a:t>A type of rehearsal where information is connected to previously learned information</a:t>
                      </a:r>
                    </a:p>
                  </a:txBody>
                  <a:tcPr/>
                </a:tc>
                <a:extLst>
                  <a:ext uri="{0D108BD9-81ED-4DB2-BD59-A6C34878D82A}">
                    <a16:rowId xmlns:a16="http://schemas.microsoft.com/office/drawing/2014/main" val="3231034381"/>
                  </a:ext>
                </a:extLst>
              </a:tr>
            </a:tbl>
          </a:graphicData>
        </a:graphic>
      </p:graphicFrame>
    </p:spTree>
    <p:extLst>
      <p:ext uri="{BB962C8B-B14F-4D97-AF65-F5344CB8AC3E}">
        <p14:creationId xmlns:p14="http://schemas.microsoft.com/office/powerpoint/2010/main" val="2117487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4117642" y="88743"/>
            <a:ext cx="5053517" cy="954107"/>
          </a:xfrm>
          <a:prstGeom prst="rect">
            <a:avLst/>
          </a:prstGeom>
          <a:noFill/>
        </p:spPr>
        <p:txBody>
          <a:bodyPr wrap="square" rtlCol="0">
            <a:spAutoFit/>
          </a:bodyPr>
          <a:lstStyle/>
          <a:p>
            <a:pPr lvl="0">
              <a:defRPr/>
            </a:pPr>
            <a:r>
              <a:rPr lang="en-US" sz="2800" dirty="0"/>
              <a:t>Answer </a:t>
            </a:r>
          </a:p>
          <a:p>
            <a:pPr marL="514350" lvl="0" indent="-514350">
              <a:buAutoNum type="arabicPeriod"/>
              <a:defRPr/>
            </a:pPr>
            <a:endParaRPr lang="en-US" sz="2800" dirty="0"/>
          </a:p>
        </p:txBody>
      </p:sp>
      <p:graphicFrame>
        <p:nvGraphicFramePr>
          <p:cNvPr id="7" name="Table 6"/>
          <p:cNvGraphicFramePr>
            <a:graphicFrameLocks noGrp="1"/>
          </p:cNvGraphicFramePr>
          <p:nvPr/>
        </p:nvGraphicFramePr>
        <p:xfrm>
          <a:off x="9065356" y="5572760"/>
          <a:ext cx="3126644" cy="128524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Assessment next Monday: </a:t>
                      </a:r>
                    </a:p>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Research Methods and cognition test (5%)</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0CB713E8-D0D0-4D35-8F6A-4F52B4B63A36}"/>
              </a:ext>
            </a:extLst>
          </p:cNvPr>
          <p:cNvSpPr txBox="1"/>
          <p:nvPr/>
        </p:nvSpPr>
        <p:spPr>
          <a:xfrm>
            <a:off x="-1" y="4549676"/>
            <a:ext cx="2213239"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3" name="Picture 2" descr="Keep silence and be quiet lips and finger silent sign, no noise ...">
            <a:extLst>
              <a:ext uri="{FF2B5EF4-FFF2-40B4-BE49-F238E27FC236}">
                <a16:creationId xmlns:a16="http://schemas.microsoft.com/office/drawing/2014/main" id="{4BBCA871-006E-4992-A9E0-5B94DFC6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4760" y="-6606"/>
            <a:ext cx="2246769" cy="224676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D233902-DA8F-E845-B709-2E492571BA1E}"/>
              </a:ext>
            </a:extLst>
          </p:cNvPr>
          <p:cNvSpPr txBox="1"/>
          <p:nvPr/>
        </p:nvSpPr>
        <p:spPr>
          <a:xfrm>
            <a:off x="1923317" y="1790124"/>
            <a:ext cx="7971443" cy="2585323"/>
          </a:xfrm>
          <a:prstGeom prst="rect">
            <a:avLst/>
          </a:prstGeom>
          <a:noFill/>
        </p:spPr>
        <p:txBody>
          <a:bodyPr wrap="square" rtlCol="0">
            <a:spAutoFit/>
          </a:bodyPr>
          <a:lstStyle/>
          <a:p>
            <a:r>
              <a:rPr lang="en-US" b="1" dirty="0"/>
              <a:t>For each of the following memories state what type of long term memory it is: </a:t>
            </a:r>
          </a:p>
          <a:p>
            <a:endParaRPr lang="en-US" dirty="0"/>
          </a:p>
          <a:p>
            <a:pPr marL="342900" indent="-342900">
              <a:buAutoNum type="alphaLcPeriod"/>
            </a:pPr>
            <a:r>
              <a:rPr lang="en-US" dirty="0"/>
              <a:t>Describing your first day of year 7 </a:t>
            </a:r>
            <a:r>
              <a:rPr lang="en-US" dirty="0">
                <a:solidFill>
                  <a:srgbClr val="FF0000"/>
                </a:solidFill>
              </a:rPr>
              <a:t>(answer explicit / episodic memory)</a:t>
            </a:r>
          </a:p>
          <a:p>
            <a:pPr marL="342900" indent="-342900">
              <a:buAutoNum type="alphaLcPeriod"/>
            </a:pPr>
            <a:r>
              <a:rPr lang="en-US" dirty="0"/>
              <a:t>Planning where to move your queen in a chess game</a:t>
            </a:r>
          </a:p>
          <a:p>
            <a:pPr marL="342900" indent="-342900">
              <a:buAutoNum type="alphaLcPeriod"/>
            </a:pPr>
            <a:r>
              <a:rPr lang="en-US" dirty="0"/>
              <a:t>Walking on stilts up stairs</a:t>
            </a:r>
          </a:p>
          <a:p>
            <a:pPr marL="342900" indent="-342900">
              <a:buAutoNum type="alphaLcPeriod"/>
            </a:pPr>
            <a:r>
              <a:rPr lang="en-US" dirty="0"/>
              <a:t>Recalling the name of </a:t>
            </a:r>
            <a:r>
              <a:rPr lang="en-US" dirty="0" err="1"/>
              <a:t>Santas</a:t>
            </a:r>
            <a:r>
              <a:rPr lang="en-US" dirty="0"/>
              <a:t> reindeer</a:t>
            </a:r>
          </a:p>
          <a:p>
            <a:pPr marL="342900" indent="-342900">
              <a:buAutoNum type="alphaLcPeriod"/>
            </a:pPr>
            <a:r>
              <a:rPr lang="en-US" dirty="0"/>
              <a:t>Texting a phone message</a:t>
            </a:r>
          </a:p>
          <a:p>
            <a:pPr marL="342900" indent="-342900">
              <a:buAutoNum type="alphaLcPeriod"/>
            </a:pPr>
            <a:r>
              <a:rPr lang="en-US" dirty="0"/>
              <a:t>Describing the plot of a novel</a:t>
            </a:r>
          </a:p>
          <a:p>
            <a:pPr marL="342900" indent="-342900">
              <a:buAutoNum type="alphaLcPeriod"/>
            </a:pPr>
            <a:endParaRPr lang="en-US" dirty="0"/>
          </a:p>
        </p:txBody>
      </p:sp>
    </p:spTree>
    <p:extLst>
      <p:ext uri="{BB962C8B-B14F-4D97-AF65-F5344CB8AC3E}">
        <p14:creationId xmlns:p14="http://schemas.microsoft.com/office/powerpoint/2010/main" val="4203698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091" y="717221"/>
            <a:ext cx="10515600" cy="1325563"/>
          </a:xfrm>
        </p:spPr>
        <p:txBody>
          <a:bodyPr>
            <a:normAutofit/>
          </a:bodyPr>
          <a:lstStyle/>
          <a:p>
            <a:r>
              <a:rPr lang="en-US" b="1" dirty="0">
                <a:solidFill>
                  <a:srgbClr val="4472C4"/>
                </a:solidFill>
                <a:latin typeface="Calibri" panose="020F0502020204030204"/>
                <a:ea typeface="+mn-ea"/>
                <a:cs typeface="+mn-cs"/>
              </a:rPr>
              <a:t>Learning Intentions</a:t>
            </a:r>
          </a:p>
        </p:txBody>
      </p:sp>
      <p:sp>
        <p:nvSpPr>
          <p:cNvPr id="3" name="Content Placeholder 2"/>
          <p:cNvSpPr>
            <a:spLocks noGrp="1"/>
          </p:cNvSpPr>
          <p:nvPr>
            <p:ph idx="1"/>
          </p:nvPr>
        </p:nvSpPr>
        <p:spPr>
          <a:xfrm>
            <a:off x="289560" y="2639548"/>
            <a:ext cx="10515600" cy="4351338"/>
          </a:xfrm>
        </p:spPr>
        <p:txBody>
          <a:bodyPr>
            <a:normAutofit/>
          </a:bodyPr>
          <a:lstStyle/>
          <a:p>
            <a:pPr marL="514350" lvl="0" indent="-514350">
              <a:lnSpc>
                <a:spcPct val="100000"/>
              </a:lnSpc>
              <a:spcBef>
                <a:spcPts val="0"/>
              </a:spcBef>
              <a:buFont typeface="+mj-lt"/>
              <a:buAutoNum type="arabicPeriod"/>
              <a:defRPr/>
            </a:pPr>
            <a:r>
              <a:rPr lang="en-AU" sz="4000" dirty="0">
                <a:solidFill>
                  <a:schemeClr val="tx2">
                    <a:lumMod val="75000"/>
                  </a:schemeClr>
                </a:solidFill>
              </a:rPr>
              <a:t>Identify and describe the different types of retrieval.</a:t>
            </a:r>
          </a:p>
          <a:p>
            <a:pPr marL="514350" indent="-514350">
              <a:lnSpc>
                <a:spcPct val="100000"/>
              </a:lnSpc>
              <a:spcBef>
                <a:spcPts val="0"/>
              </a:spcBef>
              <a:buFont typeface="+mj-lt"/>
              <a:buAutoNum type="arabicPeriod"/>
              <a:defRPr/>
            </a:pPr>
            <a:r>
              <a:rPr lang="en-AU" sz="4000" dirty="0">
                <a:solidFill>
                  <a:schemeClr val="tx2">
                    <a:lumMod val="75000"/>
                  </a:schemeClr>
                </a:solidFill>
              </a:rPr>
              <a:t>Outline the different aspects of the working memory model </a:t>
            </a:r>
          </a:p>
          <a:p>
            <a:pPr marL="514350" indent="-514350">
              <a:lnSpc>
                <a:spcPct val="100000"/>
              </a:lnSpc>
              <a:spcBef>
                <a:spcPts val="0"/>
              </a:spcBef>
              <a:buFont typeface="+mj-lt"/>
              <a:buAutoNum type="arabicPeriod"/>
              <a:defRPr/>
            </a:pPr>
            <a:r>
              <a:rPr lang="en-AU" sz="4000" dirty="0">
                <a:solidFill>
                  <a:schemeClr val="tx2">
                    <a:lumMod val="75000"/>
                  </a:schemeClr>
                </a:solidFill>
              </a:rPr>
              <a:t>Compare the multi-store model of memory and the working memory model </a:t>
            </a:r>
          </a:p>
          <a:p>
            <a:pPr marL="0" lvl="0" indent="0">
              <a:lnSpc>
                <a:spcPct val="100000"/>
              </a:lnSpc>
              <a:spcBef>
                <a:spcPts val="0"/>
              </a:spcBef>
              <a:buNone/>
              <a:defRPr/>
            </a:pPr>
            <a:r>
              <a:rPr lang="en-AU" dirty="0">
                <a:solidFill>
                  <a:schemeClr val="tx2">
                    <a:lumMod val="75000"/>
                  </a:schemeClr>
                </a:solidFill>
              </a:rPr>
              <a:t> </a:t>
            </a:r>
            <a:endParaRPr lang="en-AU" b="1" dirty="0"/>
          </a:p>
          <a:p>
            <a:pPr marL="514350" lvl="0" indent="-514350">
              <a:lnSpc>
                <a:spcPct val="100000"/>
              </a:lnSpc>
              <a:spcBef>
                <a:spcPts val="0"/>
              </a:spcBef>
              <a:buFont typeface="+mj-lt"/>
              <a:buAutoNum type="arabicPeriod"/>
              <a:defRPr/>
            </a:pPr>
            <a:endParaRPr lang="en-AU"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7585" y="-7470"/>
            <a:ext cx="4494415" cy="2526738"/>
          </a:xfrm>
          <a:prstGeom prst="rect">
            <a:avLst/>
          </a:prstGeom>
        </p:spPr>
      </p:pic>
    </p:spTree>
    <p:extLst>
      <p:ext uri="{BB962C8B-B14F-4D97-AF65-F5344CB8AC3E}">
        <p14:creationId xmlns:p14="http://schemas.microsoft.com/office/powerpoint/2010/main" val="1965394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154824" y="125301"/>
            <a:ext cx="5945602" cy="107721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sp>
        <p:nvSpPr>
          <p:cNvPr id="11" name="TextBox 10">
            <a:extLst>
              <a:ext uri="{FF2B5EF4-FFF2-40B4-BE49-F238E27FC236}">
                <a16:creationId xmlns:a16="http://schemas.microsoft.com/office/drawing/2014/main" id="{389C038F-68E5-534D-9A6B-215CB0C63181}"/>
              </a:ext>
            </a:extLst>
          </p:cNvPr>
          <p:cNvSpPr txBox="1"/>
          <p:nvPr/>
        </p:nvSpPr>
        <p:spPr>
          <a:xfrm>
            <a:off x="2949311" y="1202519"/>
            <a:ext cx="4356642"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200" b="1" i="0" u="none" strike="noStrike" kern="1200" cap="none" spc="0" normalizeH="0" baseline="0" noProof="0" dirty="0">
                <a:ln>
                  <a:noFill/>
                </a:ln>
                <a:solidFill>
                  <a:srgbClr val="70AD47"/>
                </a:solidFill>
                <a:effectLst/>
                <a:uLnTx/>
                <a:uFillTx/>
                <a:latin typeface="Calibri" panose="020F0502020204030204"/>
                <a:ea typeface="+mn-ea"/>
                <a:cs typeface="+mn-cs"/>
              </a:rPr>
              <a:t>Retrieval (remembering)</a:t>
            </a:r>
          </a:p>
        </p:txBody>
      </p:sp>
      <p:graphicFrame>
        <p:nvGraphicFramePr>
          <p:cNvPr id="14" name="Table 13">
            <a:extLst>
              <a:ext uri="{FF2B5EF4-FFF2-40B4-BE49-F238E27FC236}">
                <a16:creationId xmlns:a16="http://schemas.microsoft.com/office/drawing/2014/main" id="{63F63036-378C-8340-BB5A-3947501DE972}"/>
              </a:ext>
            </a:extLst>
          </p:cNvPr>
          <p:cNvGraphicFramePr>
            <a:graphicFrameLocks noGrp="1"/>
          </p:cNvGraphicFramePr>
          <p:nvPr>
            <p:extLst>
              <p:ext uri="{D42A27DB-BD31-4B8C-83A1-F6EECF244321}">
                <p14:modId xmlns:p14="http://schemas.microsoft.com/office/powerpoint/2010/main" val="898044832"/>
              </p:ext>
            </p:extLst>
          </p:nvPr>
        </p:nvGraphicFramePr>
        <p:xfrm>
          <a:off x="8871284" y="5664200"/>
          <a:ext cx="3320716" cy="1193800"/>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What does</a:t>
                      </a:r>
                      <a:r>
                        <a:rPr lang="en-AU" sz="1600" b="0" baseline="0" dirty="0"/>
                        <a:t> the amount of information we can retrieve from our memories depend on?</a:t>
                      </a:r>
                      <a:endParaRPr lang="en-AU" sz="1600" b="0" dirty="0"/>
                    </a:p>
                  </a:txBody>
                  <a:tcPr/>
                </a:tc>
                <a:extLst>
                  <a:ext uri="{0D108BD9-81ED-4DB2-BD59-A6C34878D82A}">
                    <a16:rowId xmlns:a16="http://schemas.microsoft.com/office/drawing/2014/main" val="3546612696"/>
                  </a:ext>
                </a:extLst>
              </a:tr>
            </a:tbl>
          </a:graphicData>
        </a:graphic>
      </p:graphicFrame>
      <p:sp>
        <p:nvSpPr>
          <p:cNvPr id="8" name="TextBox 7"/>
          <p:cNvSpPr txBox="1"/>
          <p:nvPr/>
        </p:nvSpPr>
        <p:spPr>
          <a:xfrm>
            <a:off x="527680" y="1964353"/>
            <a:ext cx="8563506" cy="37856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Remembering refers to the </a:t>
            </a: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retrieval</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of information from our memories. Research has shown that the amount of information that we can retrieve from our </a:t>
            </a:r>
            <a:r>
              <a:rPr kumimoji="0" lang="en-AU" sz="2400" b="0" i="0" u="sng" strike="noStrike" kern="1200" cap="none" spc="0" normalizeH="0" baseline="0" noProof="0" dirty="0">
                <a:ln>
                  <a:noFill/>
                </a:ln>
                <a:solidFill>
                  <a:prstClr val="black"/>
                </a:solidFill>
                <a:effectLst/>
                <a:uLnTx/>
                <a:uFillTx/>
                <a:latin typeface="Calibri" panose="020F0502020204030204"/>
                <a:ea typeface="+mn-ea"/>
                <a:cs typeface="+mn-cs"/>
              </a:rPr>
              <a:t>memories depends on the sort of questions that we ask</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There are three main ways of measuring what a person has remembered: </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1" i="0" u="none" strike="noStrike" kern="1200" cap="none" spc="0" normalizeH="0" baseline="0" noProof="0" dirty="0">
                <a:ln>
                  <a:noFill/>
                </a:ln>
                <a:solidFill>
                  <a:srgbClr val="70AD47"/>
                </a:solidFill>
                <a:effectLst/>
                <a:uLnTx/>
                <a:uFillTx/>
                <a:latin typeface="Calibri" panose="020F0502020204030204"/>
                <a:ea typeface="+mn-ea"/>
                <a:cs typeface="+mn-cs"/>
              </a:rPr>
              <a:t>Recall</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1" i="0" u="none" strike="noStrike" kern="1200" cap="none" spc="0" normalizeH="0" baseline="0" noProof="0" dirty="0">
                <a:ln>
                  <a:noFill/>
                </a:ln>
                <a:solidFill>
                  <a:srgbClr val="70AD47"/>
                </a:solidFill>
                <a:effectLst/>
                <a:uLnTx/>
                <a:uFillTx/>
                <a:latin typeface="Calibri" panose="020F0502020204030204"/>
                <a:ea typeface="+mn-ea"/>
                <a:cs typeface="+mn-cs"/>
              </a:rPr>
              <a:t>Recognition</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1" i="0" u="none" strike="noStrike" kern="1200" cap="none" spc="0" normalizeH="0" baseline="0" noProof="0" dirty="0">
                <a:ln>
                  <a:noFill/>
                </a:ln>
                <a:solidFill>
                  <a:srgbClr val="70AD47"/>
                </a:solidFill>
                <a:effectLst/>
                <a:uLnTx/>
                <a:uFillTx/>
                <a:latin typeface="Calibri" panose="020F0502020204030204"/>
                <a:ea typeface="+mn-ea"/>
                <a:cs typeface="+mn-cs"/>
              </a:rPr>
              <a:t>Relearning</a:t>
            </a:r>
          </a:p>
          <a:p>
            <a:pPr marL="342900" marR="0" lvl="0"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E38FB5A-5753-CE44-AB97-A40EAE124C0E}"/>
              </a:ext>
            </a:extLst>
          </p:cNvPr>
          <p:cNvGraphicFramePr>
            <a:graphicFrameLocks noGrp="1"/>
          </p:cNvGraphicFramePr>
          <p:nvPr>
            <p:extLst>
              <p:ext uri="{D42A27DB-BD31-4B8C-83A1-F6EECF244321}">
                <p14:modId xmlns:p14="http://schemas.microsoft.com/office/powerpoint/2010/main" val="2590931364"/>
              </p:ext>
            </p:extLst>
          </p:nvPr>
        </p:nvGraphicFramePr>
        <p:xfrm>
          <a:off x="8716488" y="0"/>
          <a:ext cx="3475512" cy="192532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Tree>
    <p:extLst>
      <p:ext uri="{BB962C8B-B14F-4D97-AF65-F5344CB8AC3E}">
        <p14:creationId xmlns:p14="http://schemas.microsoft.com/office/powerpoint/2010/main" val="1141276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876335" y="-40954"/>
            <a:ext cx="4502578"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sp>
        <p:nvSpPr>
          <p:cNvPr id="11" name="TextBox 10">
            <a:extLst>
              <a:ext uri="{FF2B5EF4-FFF2-40B4-BE49-F238E27FC236}">
                <a16:creationId xmlns:a16="http://schemas.microsoft.com/office/drawing/2014/main" id="{389C038F-68E5-534D-9A6B-215CB0C63181}"/>
              </a:ext>
            </a:extLst>
          </p:cNvPr>
          <p:cNvSpPr txBox="1"/>
          <p:nvPr/>
        </p:nvSpPr>
        <p:spPr>
          <a:xfrm>
            <a:off x="4383772" y="597105"/>
            <a:ext cx="1321452"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70AD47"/>
                </a:solidFill>
                <a:effectLst/>
                <a:uLnTx/>
                <a:uFillTx/>
                <a:latin typeface="Calibri" panose="020F0502020204030204"/>
                <a:ea typeface="+mn-ea"/>
                <a:cs typeface="+mn-cs"/>
              </a:rPr>
              <a:t>Retrieval</a:t>
            </a:r>
          </a:p>
        </p:txBody>
      </p:sp>
      <p:graphicFrame>
        <p:nvGraphicFramePr>
          <p:cNvPr id="14" name="Table 13">
            <a:extLst>
              <a:ext uri="{FF2B5EF4-FFF2-40B4-BE49-F238E27FC236}">
                <a16:creationId xmlns:a16="http://schemas.microsoft.com/office/drawing/2014/main" id="{63F63036-378C-8340-BB5A-3947501DE972}"/>
              </a:ext>
            </a:extLst>
          </p:cNvPr>
          <p:cNvGraphicFramePr>
            <a:graphicFrameLocks noGrp="1"/>
          </p:cNvGraphicFramePr>
          <p:nvPr/>
        </p:nvGraphicFramePr>
        <p:xfrm>
          <a:off x="8871284" y="4263787"/>
          <a:ext cx="3320716" cy="1925320"/>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What is the difference between recall</a:t>
                      </a:r>
                      <a:r>
                        <a:rPr lang="en-AU" sz="1600" b="0" baseline="0" dirty="0"/>
                        <a:t> questioning and recognition questioning?</a:t>
                      </a:r>
                    </a:p>
                    <a:p>
                      <a:pPr marL="342900" indent="-342900">
                        <a:buAutoNum type="arabicPeriod"/>
                      </a:pPr>
                      <a:r>
                        <a:rPr lang="en-AU" sz="1600" b="0" baseline="0" dirty="0"/>
                        <a:t>Which type of questioning is more effective in getting people to retrieve information</a:t>
                      </a:r>
                      <a:endParaRPr lang="en-AU" sz="1600" b="0" dirty="0"/>
                    </a:p>
                  </a:txBody>
                  <a:tcPr/>
                </a:tc>
                <a:extLst>
                  <a:ext uri="{0D108BD9-81ED-4DB2-BD59-A6C34878D82A}">
                    <a16:rowId xmlns:a16="http://schemas.microsoft.com/office/drawing/2014/main" val="3546612696"/>
                  </a:ext>
                </a:extLst>
              </a:tr>
            </a:tbl>
          </a:graphicData>
        </a:graphic>
      </p:graphicFrame>
      <p:sp>
        <p:nvSpPr>
          <p:cNvPr id="8" name="TextBox 7"/>
          <p:cNvSpPr txBox="1"/>
          <p:nvPr/>
        </p:nvSpPr>
        <p:spPr>
          <a:xfrm>
            <a:off x="417472" y="1064046"/>
            <a:ext cx="8563506" cy="56938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1" i="0" u="sng" strike="noStrike" kern="1200" cap="none" spc="0" normalizeH="0" baseline="0" noProof="0" dirty="0">
                <a:ln>
                  <a:noFill/>
                </a:ln>
                <a:solidFill>
                  <a:prstClr val="black"/>
                </a:solidFill>
                <a:effectLst/>
                <a:uLnTx/>
                <a:uFillTx/>
                <a:latin typeface="Calibri" panose="020F0502020204030204"/>
                <a:ea typeface="+mn-ea"/>
                <a:cs typeface="+mn-cs"/>
              </a:rPr>
              <a:t>Recall</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Recall questions ask you to retrieve information from memory </a:t>
            </a:r>
            <a:r>
              <a:rPr kumimoji="0" lang="en-AU" sz="2400" b="0" i="0" u="sng" strike="noStrike" kern="1200" cap="none" spc="0" normalizeH="0" baseline="0" noProof="0" dirty="0">
                <a:ln>
                  <a:noFill/>
                </a:ln>
                <a:solidFill>
                  <a:prstClr val="black"/>
                </a:solidFill>
                <a:effectLst/>
                <a:uLnTx/>
                <a:uFillTx/>
                <a:latin typeface="Calibri" panose="020F0502020204030204"/>
                <a:ea typeface="+mn-ea"/>
                <a:cs typeface="+mn-cs"/>
              </a:rPr>
              <a:t>without any prompts or cues</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1" u="none" strike="noStrike" kern="1200" cap="none" spc="0" normalizeH="0" baseline="0" noProof="0" dirty="0">
                <a:ln>
                  <a:noFill/>
                </a:ln>
                <a:solidFill>
                  <a:prstClr val="black"/>
                </a:solidFill>
                <a:effectLst/>
                <a:uLnTx/>
                <a:uFillTx/>
                <a:latin typeface="Calibri" panose="020F0502020204030204"/>
                <a:ea typeface="+mn-ea"/>
                <a:cs typeface="+mn-cs"/>
              </a:rPr>
              <a:t>E.g. Who won the women’s 400m race at the Sydney Olympics?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1" i="0" u="sng" strike="noStrike" kern="1200" cap="none" spc="0" normalizeH="0" baseline="0" noProof="0" dirty="0">
                <a:ln>
                  <a:noFill/>
                </a:ln>
                <a:solidFill>
                  <a:prstClr val="black"/>
                </a:solidFill>
                <a:effectLst/>
                <a:uLnTx/>
                <a:uFillTx/>
                <a:latin typeface="Calibri" panose="020F0502020204030204"/>
                <a:ea typeface="+mn-ea"/>
                <a:cs typeface="+mn-cs"/>
              </a:rPr>
              <a:t>Recognition: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Recognition questions ask you to </a:t>
            </a:r>
            <a:r>
              <a:rPr kumimoji="0" lang="en-AU" sz="2400" b="0" i="0" u="sng" strike="noStrike" kern="1200" cap="none" spc="0" normalizeH="0" baseline="0" noProof="0" dirty="0">
                <a:ln>
                  <a:noFill/>
                </a:ln>
                <a:solidFill>
                  <a:prstClr val="black"/>
                </a:solidFill>
                <a:effectLst/>
                <a:uLnTx/>
                <a:uFillTx/>
                <a:latin typeface="Calibri" panose="020F0502020204030204"/>
                <a:ea typeface="+mn-ea"/>
                <a:cs typeface="+mn-cs"/>
              </a:rPr>
              <a:t>identify information from a number of options</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(multiple choice).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1" u="none" strike="noStrike" kern="1200" cap="none" spc="0" normalizeH="0" baseline="0" noProof="0" dirty="0">
                <a:ln>
                  <a:noFill/>
                </a:ln>
                <a:solidFill>
                  <a:prstClr val="black"/>
                </a:solidFill>
                <a:effectLst/>
                <a:uLnTx/>
                <a:uFillTx/>
                <a:latin typeface="Calibri" panose="020F0502020204030204"/>
                <a:ea typeface="+mn-ea"/>
                <a:cs typeface="+mn-cs"/>
              </a:rPr>
              <a:t>E.g. Which of these women won the women’s 400m race at the Sydney Olympics: Katherine Merry, Lorraine Graham, Cathy Freeman, Ana Guevara.</a:t>
            </a:r>
          </a:p>
          <a:p>
            <a:pPr marL="342900" marR="0" lvl="0" indent="-3429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rPr>
              <a:t>There is a lot of research that shows that regardless of the type of information to be remembered, people find recognition easier than recall. </a:t>
            </a:r>
            <a:r>
              <a:rPr kumimoji="0" lang="en-AU" sz="2000" b="0" i="0" u="none" strike="noStrike" kern="1200" cap="none" spc="0" normalizeH="0" baseline="0" noProof="0" dirty="0">
                <a:ln>
                  <a:noFill/>
                </a:ln>
                <a:solidFill>
                  <a:prstClr val="black"/>
                </a:solidFill>
                <a:effectLst/>
                <a:uLnTx/>
                <a:uFillTx/>
                <a:latin typeface="Calibri" panose="020F0502020204030204"/>
                <a:ea typeface="+mn-ea"/>
                <a:cs typeface="+mn-cs"/>
              </a:rPr>
              <a:t>This is why students prefer multi-choice questions to essay/short-answer questions, why most find it easier to recognise a person’s face than recall their name, and why people make fewer mistakes reading than they do spelling.</a:t>
            </a:r>
            <a:endParaRPr kumimoji="0" lang="en-AU" sz="2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192532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Tree>
    <p:extLst>
      <p:ext uri="{BB962C8B-B14F-4D97-AF65-F5344CB8AC3E}">
        <p14:creationId xmlns:p14="http://schemas.microsoft.com/office/powerpoint/2010/main" val="1152263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pPr marL="0" indent="0">
              <a:buNone/>
            </a:pPr>
            <a:r>
              <a:rPr lang="en-US" dirty="0"/>
              <a:t>Which of the following is NOT a way to encode information?</a:t>
            </a:r>
          </a:p>
          <a:p>
            <a:pPr marL="514350" indent="-514350">
              <a:buFont typeface="+mj-lt"/>
              <a:buAutoNum type="alphaLcParenR"/>
            </a:pPr>
            <a:endParaRPr lang="en-US" dirty="0"/>
          </a:p>
          <a:p>
            <a:pPr marL="514350" indent="-514350">
              <a:buFont typeface="+mj-lt"/>
              <a:buAutoNum type="alphaLcParenR"/>
            </a:pPr>
            <a:r>
              <a:rPr lang="en-US" dirty="0"/>
              <a:t>Meaning (words)</a:t>
            </a:r>
          </a:p>
          <a:p>
            <a:pPr marL="514350" indent="-514350">
              <a:buFont typeface="+mj-lt"/>
              <a:buAutoNum type="alphaLcParenR"/>
            </a:pPr>
            <a:r>
              <a:rPr lang="en-US" dirty="0"/>
              <a:t>Echoic</a:t>
            </a:r>
          </a:p>
          <a:p>
            <a:pPr marL="514350" indent="-514350">
              <a:buFont typeface="+mj-lt"/>
              <a:buAutoNum type="alphaLcParenR"/>
            </a:pPr>
            <a:r>
              <a:rPr lang="en-US" dirty="0"/>
              <a:t>Iconic</a:t>
            </a:r>
          </a:p>
          <a:p>
            <a:pPr marL="514350" indent="-514350">
              <a:buFont typeface="+mj-lt"/>
              <a:buAutoNum type="alphaLcParenR"/>
            </a:pPr>
            <a:r>
              <a:rPr lang="en-US" dirty="0"/>
              <a:t>Somatic</a:t>
            </a:r>
          </a:p>
        </p:txBody>
      </p:sp>
    </p:spTree>
    <p:extLst>
      <p:ext uri="{BB962C8B-B14F-4D97-AF65-F5344CB8AC3E}">
        <p14:creationId xmlns:p14="http://schemas.microsoft.com/office/powerpoint/2010/main" val="2082989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pPr marL="0" indent="0">
              <a:buNone/>
            </a:pPr>
            <a:r>
              <a:rPr lang="en-US" dirty="0"/>
              <a:t>Which of the following is NOT a way to encode information?</a:t>
            </a:r>
          </a:p>
          <a:p>
            <a:pPr marL="514350" indent="-514350">
              <a:buFont typeface="+mj-lt"/>
              <a:buAutoNum type="alphaLcParenR"/>
            </a:pPr>
            <a:endParaRPr lang="en-US" dirty="0"/>
          </a:p>
          <a:p>
            <a:pPr marL="514350" indent="-514350">
              <a:buFont typeface="+mj-lt"/>
              <a:buAutoNum type="alphaLcParenR"/>
            </a:pPr>
            <a:r>
              <a:rPr lang="en-US" dirty="0"/>
              <a:t>Meaning (words)</a:t>
            </a:r>
          </a:p>
          <a:p>
            <a:pPr marL="514350" indent="-514350">
              <a:buFont typeface="+mj-lt"/>
              <a:buAutoNum type="alphaLcParenR"/>
            </a:pPr>
            <a:r>
              <a:rPr lang="en-US" dirty="0"/>
              <a:t>Echoic</a:t>
            </a:r>
          </a:p>
          <a:p>
            <a:pPr marL="514350" indent="-514350">
              <a:buFont typeface="+mj-lt"/>
              <a:buAutoNum type="alphaLcParenR"/>
            </a:pPr>
            <a:r>
              <a:rPr lang="en-US" dirty="0"/>
              <a:t>Iconic</a:t>
            </a:r>
          </a:p>
          <a:p>
            <a:pPr marL="514350" indent="-514350">
              <a:buFont typeface="+mj-lt"/>
              <a:buAutoNum type="alphaLcParenR"/>
            </a:pPr>
            <a:r>
              <a:rPr lang="en-US" b="1" dirty="0"/>
              <a:t>Somatic </a:t>
            </a:r>
          </a:p>
          <a:p>
            <a:pPr marL="514350" indent="-514350">
              <a:buFont typeface="+mj-lt"/>
              <a:buAutoNum type="alphaLcParenR"/>
            </a:pPr>
            <a:endParaRPr lang="en-US" b="1" dirty="0"/>
          </a:p>
          <a:p>
            <a:pPr marL="0" indent="0">
              <a:buNone/>
            </a:pPr>
            <a:r>
              <a:rPr lang="en-US" b="1" dirty="0">
                <a:solidFill>
                  <a:srgbClr val="FF0000"/>
                </a:solidFill>
              </a:rPr>
              <a:t>Is this an example of recall or recognition retrieval?</a:t>
            </a:r>
          </a:p>
          <a:p>
            <a:pPr marL="514350" indent="-514350">
              <a:buFont typeface="+mj-lt"/>
              <a:buAutoNum type="alphaLcParenR"/>
            </a:pPr>
            <a:endParaRPr lang="en-US" b="1" dirty="0"/>
          </a:p>
        </p:txBody>
      </p:sp>
    </p:spTree>
    <p:extLst>
      <p:ext uri="{BB962C8B-B14F-4D97-AF65-F5344CB8AC3E}">
        <p14:creationId xmlns:p14="http://schemas.microsoft.com/office/powerpoint/2010/main" val="983163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2876335" y="-40954"/>
            <a:ext cx="4502578"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4472C4"/>
                </a:solidFill>
                <a:effectLst/>
                <a:uLnTx/>
                <a:uFillTx/>
                <a:latin typeface="Calibri" panose="020F0502020204030204"/>
                <a:ea typeface="+mn-ea"/>
                <a:cs typeface="+mn-cs"/>
              </a:rPr>
              <a:t>The multi-store model of memory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4472C4"/>
                </a:solidFill>
                <a:effectLst/>
                <a:uLnTx/>
                <a:uFillTx/>
                <a:latin typeface="Calibri" panose="020F0502020204030204"/>
                <a:ea typeface="+mn-ea"/>
                <a:cs typeface="+mn-cs"/>
              </a:rPr>
              <a:t>(Atkinson &amp; Shiffrin, 1968)</a:t>
            </a:r>
          </a:p>
        </p:txBody>
      </p:sp>
      <p:sp>
        <p:nvSpPr>
          <p:cNvPr id="11" name="TextBox 10">
            <a:extLst>
              <a:ext uri="{FF2B5EF4-FFF2-40B4-BE49-F238E27FC236}">
                <a16:creationId xmlns:a16="http://schemas.microsoft.com/office/drawing/2014/main" id="{389C038F-68E5-534D-9A6B-215CB0C63181}"/>
              </a:ext>
            </a:extLst>
          </p:cNvPr>
          <p:cNvSpPr txBox="1"/>
          <p:nvPr/>
        </p:nvSpPr>
        <p:spPr>
          <a:xfrm>
            <a:off x="4383772" y="597105"/>
            <a:ext cx="1321452"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70AD47"/>
                </a:solidFill>
                <a:effectLst/>
                <a:uLnTx/>
                <a:uFillTx/>
                <a:latin typeface="Calibri" panose="020F0502020204030204"/>
                <a:ea typeface="+mn-ea"/>
                <a:cs typeface="+mn-cs"/>
              </a:rPr>
              <a:t>Retrieval</a:t>
            </a:r>
          </a:p>
        </p:txBody>
      </p:sp>
      <p:graphicFrame>
        <p:nvGraphicFramePr>
          <p:cNvPr id="14" name="Table 13">
            <a:extLst>
              <a:ext uri="{FF2B5EF4-FFF2-40B4-BE49-F238E27FC236}">
                <a16:creationId xmlns:a16="http://schemas.microsoft.com/office/drawing/2014/main" id="{63F63036-378C-8340-BB5A-3947501DE972}"/>
              </a:ext>
            </a:extLst>
          </p:cNvPr>
          <p:cNvGraphicFramePr>
            <a:graphicFrameLocks noGrp="1"/>
          </p:cNvGraphicFramePr>
          <p:nvPr/>
        </p:nvGraphicFramePr>
        <p:xfrm>
          <a:off x="8871284" y="4263787"/>
          <a:ext cx="3320716" cy="1193800"/>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Explain</a:t>
                      </a:r>
                      <a:r>
                        <a:rPr lang="en-AU" sz="1600" b="0" baseline="0" dirty="0"/>
                        <a:t> how </a:t>
                      </a:r>
                      <a:r>
                        <a:rPr lang="en-AU" sz="1600" b="1" baseline="0" dirty="0"/>
                        <a:t>relearning</a:t>
                      </a:r>
                      <a:r>
                        <a:rPr lang="en-AU" sz="1600" b="0" baseline="0" dirty="0"/>
                        <a:t> proves that some information has been retained.</a:t>
                      </a:r>
                      <a:endParaRPr lang="en-AU" sz="1600" b="0" dirty="0"/>
                    </a:p>
                  </a:txBody>
                  <a:tcPr/>
                </a:tc>
                <a:extLst>
                  <a:ext uri="{0D108BD9-81ED-4DB2-BD59-A6C34878D82A}">
                    <a16:rowId xmlns:a16="http://schemas.microsoft.com/office/drawing/2014/main" val="3546612696"/>
                  </a:ext>
                </a:extLst>
              </a:tr>
            </a:tbl>
          </a:graphicData>
        </a:graphic>
      </p:graphicFrame>
      <p:sp>
        <p:nvSpPr>
          <p:cNvPr id="8" name="TextBox 7"/>
          <p:cNvSpPr txBox="1"/>
          <p:nvPr/>
        </p:nvSpPr>
        <p:spPr>
          <a:xfrm>
            <a:off x="417472" y="1064046"/>
            <a:ext cx="8049634"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400" b="1" i="0" u="sng" strike="noStrike" kern="1200" cap="none" spc="0" normalizeH="0" baseline="0" noProof="0" dirty="0">
                <a:ln>
                  <a:noFill/>
                </a:ln>
                <a:solidFill>
                  <a:prstClr val="black"/>
                </a:solidFill>
                <a:effectLst/>
                <a:uLnTx/>
                <a:uFillTx/>
                <a:latin typeface="Calibri" panose="020F0502020204030204"/>
                <a:ea typeface="+mn-ea"/>
                <a:cs typeface="+mn-cs"/>
              </a:rPr>
              <a:t>Relearning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There are many times when we seem unable to retrieve something we have seen or heard from memory, even with the help of cues or prompts. This doesn’t necessarily mean that we have totally forgotten this information.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Psychologists have devised a technique called </a:t>
            </a: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relearning</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(the method of savings) to see if any information has been retained.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This method involves a person </a:t>
            </a:r>
            <a:r>
              <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rPr>
              <a:t>relearning</a:t>
            </a: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 information they have previously learned – if the information is learned more quickly the second time, it is assumed that some information must have been retained.</a:t>
            </a:r>
          </a:p>
        </p:txBody>
      </p:sp>
      <p:graphicFrame>
        <p:nvGraphicFramePr>
          <p:cNvPr id="9" name="Table 8">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305893"/>
          <a:ext cx="3475512" cy="192532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Tree>
    <p:extLst>
      <p:ext uri="{BB962C8B-B14F-4D97-AF65-F5344CB8AC3E}">
        <p14:creationId xmlns:p14="http://schemas.microsoft.com/office/powerpoint/2010/main" val="2924042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091" y="717221"/>
            <a:ext cx="10515600" cy="1325563"/>
          </a:xfrm>
        </p:spPr>
        <p:txBody>
          <a:bodyPr>
            <a:normAutofit/>
          </a:bodyPr>
          <a:lstStyle/>
          <a:p>
            <a:r>
              <a:rPr lang="en-US" b="1" dirty="0">
                <a:solidFill>
                  <a:srgbClr val="4472C4"/>
                </a:solidFill>
                <a:latin typeface="Calibri" panose="020F0502020204030204"/>
                <a:ea typeface="+mn-ea"/>
                <a:cs typeface="+mn-cs"/>
              </a:rPr>
              <a:t>Learning Intentions</a:t>
            </a:r>
          </a:p>
        </p:txBody>
      </p:sp>
      <p:sp>
        <p:nvSpPr>
          <p:cNvPr id="3" name="Content Placeholder 2"/>
          <p:cNvSpPr>
            <a:spLocks noGrp="1"/>
          </p:cNvSpPr>
          <p:nvPr>
            <p:ph idx="1"/>
          </p:nvPr>
        </p:nvSpPr>
        <p:spPr>
          <a:xfrm>
            <a:off x="289560" y="2639548"/>
            <a:ext cx="10515600" cy="4351338"/>
          </a:xfrm>
        </p:spPr>
        <p:txBody>
          <a:bodyPr>
            <a:normAutofit/>
          </a:bodyPr>
          <a:lstStyle/>
          <a:p>
            <a:pPr marL="514350" lvl="0" indent="-514350">
              <a:lnSpc>
                <a:spcPct val="100000"/>
              </a:lnSpc>
              <a:spcBef>
                <a:spcPts val="0"/>
              </a:spcBef>
              <a:buFont typeface="+mj-lt"/>
              <a:buAutoNum type="arabicPeriod"/>
              <a:defRPr/>
            </a:pPr>
            <a:r>
              <a:rPr lang="en-AU" sz="4000" dirty="0">
                <a:solidFill>
                  <a:schemeClr val="tx2">
                    <a:lumMod val="75000"/>
                  </a:schemeClr>
                </a:solidFill>
              </a:rPr>
              <a:t>Identify and describe the different types of retrieval.</a:t>
            </a:r>
          </a:p>
          <a:p>
            <a:pPr marL="514350" indent="-514350">
              <a:lnSpc>
                <a:spcPct val="100000"/>
              </a:lnSpc>
              <a:spcBef>
                <a:spcPts val="0"/>
              </a:spcBef>
              <a:buFont typeface="+mj-lt"/>
              <a:buAutoNum type="arabicPeriod"/>
              <a:defRPr/>
            </a:pPr>
            <a:r>
              <a:rPr lang="en-AU" sz="4000" dirty="0">
                <a:solidFill>
                  <a:schemeClr val="tx2">
                    <a:lumMod val="75000"/>
                  </a:schemeClr>
                </a:solidFill>
                <a:highlight>
                  <a:srgbClr val="FFFF00"/>
                </a:highlight>
              </a:rPr>
              <a:t>Outline the different aspects of the working memory model </a:t>
            </a:r>
          </a:p>
          <a:p>
            <a:pPr marL="514350" indent="-514350">
              <a:lnSpc>
                <a:spcPct val="100000"/>
              </a:lnSpc>
              <a:spcBef>
                <a:spcPts val="0"/>
              </a:spcBef>
              <a:buFont typeface="+mj-lt"/>
              <a:buAutoNum type="arabicPeriod"/>
              <a:defRPr/>
            </a:pPr>
            <a:r>
              <a:rPr lang="en-AU" sz="4000" dirty="0">
                <a:solidFill>
                  <a:schemeClr val="tx2">
                    <a:lumMod val="75000"/>
                  </a:schemeClr>
                </a:solidFill>
              </a:rPr>
              <a:t>Compare the multi-store model of memory and the working memory model </a:t>
            </a:r>
          </a:p>
          <a:p>
            <a:pPr marL="0" lvl="0" indent="0">
              <a:lnSpc>
                <a:spcPct val="100000"/>
              </a:lnSpc>
              <a:spcBef>
                <a:spcPts val="0"/>
              </a:spcBef>
              <a:buNone/>
              <a:defRPr/>
            </a:pPr>
            <a:r>
              <a:rPr lang="en-AU" dirty="0">
                <a:solidFill>
                  <a:schemeClr val="tx2">
                    <a:lumMod val="75000"/>
                  </a:schemeClr>
                </a:solidFill>
              </a:rPr>
              <a:t> </a:t>
            </a:r>
            <a:endParaRPr lang="en-AU" b="1" dirty="0"/>
          </a:p>
          <a:p>
            <a:pPr marL="514350" lvl="0" indent="-514350">
              <a:lnSpc>
                <a:spcPct val="100000"/>
              </a:lnSpc>
              <a:spcBef>
                <a:spcPts val="0"/>
              </a:spcBef>
              <a:buFont typeface="+mj-lt"/>
              <a:buAutoNum type="arabicPeriod"/>
              <a:defRPr/>
            </a:pPr>
            <a:endParaRPr lang="en-AU"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7585" y="-7470"/>
            <a:ext cx="4494415" cy="2526738"/>
          </a:xfrm>
          <a:prstGeom prst="rect">
            <a:avLst/>
          </a:prstGeom>
        </p:spPr>
      </p:pic>
    </p:spTree>
    <p:extLst>
      <p:ext uri="{BB962C8B-B14F-4D97-AF65-F5344CB8AC3E}">
        <p14:creationId xmlns:p14="http://schemas.microsoft.com/office/powerpoint/2010/main" val="3515458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3234127" y="-40954"/>
            <a:ext cx="3786999"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4472C4"/>
                </a:solidFill>
                <a:effectLst/>
                <a:uLnTx/>
                <a:uFillTx/>
                <a:latin typeface="Calibri" panose="020F0502020204030204"/>
                <a:ea typeface="+mn-ea"/>
                <a:cs typeface="+mn-cs"/>
              </a:rPr>
              <a:t>The working memory model</a:t>
            </a:r>
          </a:p>
        </p:txBody>
      </p:sp>
      <p:graphicFrame>
        <p:nvGraphicFramePr>
          <p:cNvPr id="14" name="Table 13">
            <a:extLst>
              <a:ext uri="{FF2B5EF4-FFF2-40B4-BE49-F238E27FC236}">
                <a16:creationId xmlns:a16="http://schemas.microsoft.com/office/drawing/2014/main" id="{63F63036-378C-8340-BB5A-3947501DE972}"/>
              </a:ext>
            </a:extLst>
          </p:cNvPr>
          <p:cNvGraphicFramePr>
            <a:graphicFrameLocks noGrp="1"/>
          </p:cNvGraphicFramePr>
          <p:nvPr>
            <p:extLst>
              <p:ext uri="{D42A27DB-BD31-4B8C-83A1-F6EECF244321}">
                <p14:modId xmlns:p14="http://schemas.microsoft.com/office/powerpoint/2010/main" val="1429323737"/>
              </p:ext>
            </p:extLst>
          </p:nvPr>
        </p:nvGraphicFramePr>
        <p:xfrm>
          <a:off x="7953190" y="5455920"/>
          <a:ext cx="4235695" cy="1402080"/>
        </p:xfrm>
        <a:graphic>
          <a:graphicData uri="http://schemas.openxmlformats.org/drawingml/2006/table">
            <a:tbl>
              <a:tblPr firstRow="1" bandRow="1">
                <a:tableStyleId>{5C22544A-7EE6-4342-B048-85BDC9FD1C3A}</a:tableStyleId>
              </a:tblPr>
              <a:tblGrid>
                <a:gridCol w="4235695">
                  <a:extLst>
                    <a:ext uri="{9D8B030D-6E8A-4147-A177-3AD203B41FA5}">
                      <a16:colId xmlns:a16="http://schemas.microsoft.com/office/drawing/2014/main" val="984443331"/>
                    </a:ext>
                  </a:extLst>
                </a:gridCol>
              </a:tblGrid>
              <a:tr h="299871">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1047239">
                <a:tc>
                  <a:txBody>
                    <a:bodyPr/>
                    <a:lstStyle/>
                    <a:p>
                      <a:pPr marL="342900" indent="-342900">
                        <a:buAutoNum type="arabicPeriod"/>
                      </a:pPr>
                      <a:r>
                        <a:rPr lang="en-AU" sz="1600" b="0" dirty="0"/>
                        <a:t>Why was another model of memory created?</a:t>
                      </a:r>
                    </a:p>
                    <a:p>
                      <a:pPr marL="342900" indent="-342900">
                        <a:buAutoNum type="arabicPeriod"/>
                      </a:pPr>
                      <a:r>
                        <a:rPr lang="en-AU" sz="1600" b="0" dirty="0"/>
                        <a:t>How many components to the working memory model</a:t>
                      </a:r>
                    </a:p>
                  </a:txBody>
                  <a:tcPr/>
                </a:tc>
                <a:extLst>
                  <a:ext uri="{0D108BD9-81ED-4DB2-BD59-A6C34878D82A}">
                    <a16:rowId xmlns:a16="http://schemas.microsoft.com/office/drawing/2014/main" val="3546612696"/>
                  </a:ext>
                </a:extLst>
              </a:tr>
            </a:tbl>
          </a:graphicData>
        </a:graphic>
      </p:graphicFrame>
      <p:graphicFrame>
        <p:nvGraphicFramePr>
          <p:cNvPr id="9" name="Table 8">
            <a:extLst>
              <a:ext uri="{FF2B5EF4-FFF2-40B4-BE49-F238E27FC236}">
                <a16:creationId xmlns:a16="http://schemas.microsoft.com/office/drawing/2014/main" id="{3E38FB5A-5753-CE44-AB97-A40EAE124C0E}"/>
              </a:ext>
            </a:extLst>
          </p:cNvPr>
          <p:cNvGraphicFramePr>
            <a:graphicFrameLocks noGrp="1"/>
          </p:cNvGraphicFramePr>
          <p:nvPr>
            <p:extLst>
              <p:ext uri="{D42A27DB-BD31-4B8C-83A1-F6EECF244321}">
                <p14:modId xmlns:p14="http://schemas.microsoft.com/office/powerpoint/2010/main" val="3211297135"/>
              </p:ext>
            </p:extLst>
          </p:nvPr>
        </p:nvGraphicFramePr>
        <p:xfrm>
          <a:off x="8716488" y="0"/>
          <a:ext cx="3475512" cy="192532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sp>
        <p:nvSpPr>
          <p:cNvPr id="2" name="TextBox 1">
            <a:extLst>
              <a:ext uri="{FF2B5EF4-FFF2-40B4-BE49-F238E27FC236}">
                <a16:creationId xmlns:a16="http://schemas.microsoft.com/office/drawing/2014/main" id="{9F2298B2-9144-A649-8720-D47F7156FE43}"/>
              </a:ext>
            </a:extLst>
          </p:cNvPr>
          <p:cNvSpPr txBox="1"/>
          <p:nvPr/>
        </p:nvSpPr>
        <p:spPr>
          <a:xfrm>
            <a:off x="525803" y="604564"/>
            <a:ext cx="7212477" cy="6832640"/>
          </a:xfrm>
          <a:prstGeom prst="rect">
            <a:avLst/>
          </a:prstGeom>
          <a:noFill/>
        </p:spPr>
        <p:txBody>
          <a:bodyPr wrap="square" rtlCol="0">
            <a:spAutoFit/>
          </a:bodyPr>
          <a:lstStyle/>
          <a:p>
            <a:r>
              <a:rPr lang="en-AU" sz="2000" dirty="0"/>
              <a:t>Atkinson’s and Shiffrin’s (1968) multi-store model was extremely successful in terms of the amount of research it generated. However, Baddeley and Hitch (1974) argue that the picture of short-term memory (STM) provided by the Multi-Store Model is far too simple.</a:t>
            </a:r>
            <a:endParaRPr lang="en-US" sz="2000" dirty="0"/>
          </a:p>
          <a:p>
            <a:endParaRPr lang="en-US" sz="2000" dirty="0"/>
          </a:p>
          <a:p>
            <a:r>
              <a:rPr lang="en-US" sz="2000" b="1" dirty="0"/>
              <a:t>Overview of Working Memory:</a:t>
            </a:r>
          </a:p>
          <a:p>
            <a:endParaRPr lang="en-US" sz="2000" b="1" dirty="0"/>
          </a:p>
          <a:p>
            <a:r>
              <a:rPr lang="en-US" sz="2000" dirty="0"/>
              <a:t>- The new model for short-term memory</a:t>
            </a:r>
          </a:p>
          <a:p>
            <a:endParaRPr lang="en-US" sz="2000" b="1" dirty="0"/>
          </a:p>
          <a:p>
            <a:r>
              <a:rPr lang="en-AU" sz="2000" dirty="0"/>
              <a:t>- Working memory is </a:t>
            </a:r>
            <a:r>
              <a:rPr lang="en-AU" sz="2000" b="1" dirty="0"/>
              <a:t>important for reasoning, learning and comprehension.</a:t>
            </a:r>
          </a:p>
          <a:p>
            <a:endParaRPr lang="en-AU" sz="2000" dirty="0"/>
          </a:p>
          <a:p>
            <a:r>
              <a:rPr lang="en-AU" sz="2000" dirty="0"/>
              <a:t>- Working memory theories assume that complex reasoning and learning tasks require a mental workspace to hold and manipulate information.</a:t>
            </a:r>
            <a:endParaRPr lang="en-US" sz="2000" b="1" dirty="0"/>
          </a:p>
          <a:p>
            <a:endParaRPr lang="en-US" sz="2000" dirty="0"/>
          </a:p>
          <a:p>
            <a:r>
              <a:rPr lang="en-AU" sz="2000" dirty="0"/>
              <a:t>- Working memory is a multi-component system which includes the central executive, visuospatial sketchpad, phonological loop, and episodic buffer.</a:t>
            </a:r>
          </a:p>
          <a:p>
            <a:endParaRPr lang="en-AU" sz="2000" dirty="0"/>
          </a:p>
          <a:p>
            <a:pPr marL="285750" indent="-285750">
              <a:buFontTx/>
              <a:buChar char="-"/>
            </a:pPr>
            <a:endParaRPr lang="en-US" dirty="0"/>
          </a:p>
        </p:txBody>
      </p:sp>
      <p:pic>
        <p:nvPicPr>
          <p:cNvPr id="1028" name="Picture 4" descr="Working Memory Model - AS Psychology">
            <a:extLst>
              <a:ext uri="{FF2B5EF4-FFF2-40B4-BE49-F238E27FC236}">
                <a16:creationId xmlns:a16="http://schemas.microsoft.com/office/drawing/2014/main" id="{20B5F009-8AB2-EB4A-813C-2A73EB44AC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7818" y="2303950"/>
            <a:ext cx="4601067" cy="2675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646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E2AAF-49A0-C743-8E17-D5BED8B3DDD0}"/>
              </a:ext>
            </a:extLst>
          </p:cNvPr>
          <p:cNvSpPr>
            <a:spLocks noGrp="1"/>
          </p:cNvSpPr>
          <p:nvPr>
            <p:ph type="title"/>
          </p:nvPr>
        </p:nvSpPr>
        <p:spPr/>
        <p:txBody>
          <a:bodyPr/>
          <a:lstStyle/>
          <a:p>
            <a:r>
              <a:rPr lang="en-US" dirty="0"/>
              <a:t>Working Memory model</a:t>
            </a:r>
          </a:p>
        </p:txBody>
      </p:sp>
      <p:pic>
        <p:nvPicPr>
          <p:cNvPr id="4" name="Online Media 3" descr="Tricky Topics: Baddeley &amp; Hitch Working Memory Model">
            <a:hlinkClick r:id="" action="ppaction://media"/>
            <a:extLst>
              <a:ext uri="{FF2B5EF4-FFF2-40B4-BE49-F238E27FC236}">
                <a16:creationId xmlns:a16="http://schemas.microsoft.com/office/drawing/2014/main" id="{359153FB-0B3B-8349-9DF6-AE4A29B4FF94}"/>
              </a:ext>
            </a:extLst>
          </p:cNvPr>
          <p:cNvPicPr>
            <a:picLocks noGrp="1" noRot="1" noChangeAspect="1"/>
          </p:cNvPicPr>
          <p:nvPr>
            <p:ph idx="1"/>
            <a:videoFile r:link="rId1"/>
          </p:nvPr>
        </p:nvPicPr>
        <p:blipFill>
          <a:blip r:embed="rId3"/>
          <a:stretch>
            <a:fillRect/>
          </a:stretch>
        </p:blipFill>
        <p:spPr>
          <a:xfrm>
            <a:off x="2246313" y="1825625"/>
            <a:ext cx="7700962" cy="4351338"/>
          </a:xfrm>
          <a:prstGeom prst="rect">
            <a:avLst/>
          </a:prstGeom>
        </p:spPr>
      </p:pic>
      <p:sp>
        <p:nvSpPr>
          <p:cNvPr id="5" name="TextBox 4">
            <a:extLst>
              <a:ext uri="{FF2B5EF4-FFF2-40B4-BE49-F238E27FC236}">
                <a16:creationId xmlns:a16="http://schemas.microsoft.com/office/drawing/2014/main" id="{FC0A4849-02A1-CE42-99B3-E5B4E4E99B2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Tree>
    <p:extLst>
      <p:ext uri="{BB962C8B-B14F-4D97-AF65-F5344CB8AC3E}">
        <p14:creationId xmlns:p14="http://schemas.microsoft.com/office/powerpoint/2010/main" val="392315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3234127" y="-40954"/>
            <a:ext cx="3786999"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4472C4"/>
                </a:solidFill>
                <a:effectLst/>
                <a:uLnTx/>
                <a:uFillTx/>
                <a:latin typeface="Calibri" panose="020F0502020204030204"/>
                <a:ea typeface="+mn-ea"/>
                <a:cs typeface="+mn-cs"/>
              </a:rPr>
              <a:t>The working memory model</a:t>
            </a:r>
          </a:p>
        </p:txBody>
      </p:sp>
      <p:graphicFrame>
        <p:nvGraphicFramePr>
          <p:cNvPr id="14" name="Table 13">
            <a:extLst>
              <a:ext uri="{FF2B5EF4-FFF2-40B4-BE49-F238E27FC236}">
                <a16:creationId xmlns:a16="http://schemas.microsoft.com/office/drawing/2014/main" id="{63F63036-378C-8340-BB5A-3947501DE972}"/>
              </a:ext>
            </a:extLst>
          </p:cNvPr>
          <p:cNvGraphicFramePr>
            <a:graphicFrameLocks noGrp="1"/>
          </p:cNvGraphicFramePr>
          <p:nvPr/>
        </p:nvGraphicFramePr>
        <p:xfrm>
          <a:off x="8871284" y="5664200"/>
          <a:ext cx="3320716" cy="1193800"/>
        </p:xfrm>
        <a:graphic>
          <a:graphicData uri="http://schemas.openxmlformats.org/drawingml/2006/table">
            <a:tbl>
              <a:tblPr firstRow="1" bandRow="1">
                <a:tableStyleId>{5C22544A-7EE6-4342-B048-85BDC9FD1C3A}</a:tableStyleId>
              </a:tblPr>
              <a:tblGrid>
                <a:gridCol w="3320716">
                  <a:extLst>
                    <a:ext uri="{9D8B030D-6E8A-4147-A177-3AD203B41FA5}">
                      <a16:colId xmlns:a16="http://schemas.microsoft.com/office/drawing/2014/main" val="984443331"/>
                    </a:ext>
                  </a:extLst>
                </a:gridCol>
              </a:tblGrid>
              <a:tr h="370840">
                <a:tc>
                  <a:txBody>
                    <a:bodyPr/>
                    <a:lstStyle/>
                    <a:p>
                      <a:pPr algn="ctr"/>
                      <a:r>
                        <a:rPr lang="en-AU" sz="1600" dirty="0"/>
                        <a:t>Checking for understanding:</a:t>
                      </a:r>
                    </a:p>
                  </a:txBody>
                  <a:tcPr/>
                </a:tc>
                <a:extLst>
                  <a:ext uri="{0D108BD9-81ED-4DB2-BD59-A6C34878D82A}">
                    <a16:rowId xmlns:a16="http://schemas.microsoft.com/office/drawing/2014/main" val="1235380871"/>
                  </a:ext>
                </a:extLst>
              </a:tr>
              <a:tr h="370840">
                <a:tc>
                  <a:txBody>
                    <a:bodyPr/>
                    <a:lstStyle/>
                    <a:p>
                      <a:pPr marL="342900" indent="-342900">
                        <a:buAutoNum type="arabicPeriod"/>
                      </a:pPr>
                      <a:r>
                        <a:rPr lang="en-AU" sz="1600" b="0" dirty="0"/>
                        <a:t>Explain</a:t>
                      </a:r>
                      <a:r>
                        <a:rPr lang="en-AU" sz="1600" b="0" baseline="0" dirty="0"/>
                        <a:t> how </a:t>
                      </a:r>
                      <a:r>
                        <a:rPr lang="en-AU" sz="1600" b="1" baseline="0" dirty="0"/>
                        <a:t>relearning</a:t>
                      </a:r>
                      <a:r>
                        <a:rPr lang="en-AU" sz="1600" b="0" baseline="0" dirty="0"/>
                        <a:t> proves that some information has been retained.</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9" name="Table 8">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0"/>
          <a:ext cx="3475512" cy="192532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pic>
        <p:nvPicPr>
          <p:cNvPr id="2050" name="Picture 2" descr="Working Memory Model - AS Psychology">
            <a:extLst>
              <a:ext uri="{FF2B5EF4-FFF2-40B4-BE49-F238E27FC236}">
                <a16:creationId xmlns:a16="http://schemas.microsoft.com/office/drawing/2014/main" id="{9E093506-9FDC-0D42-B488-633A942934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288" y="667224"/>
            <a:ext cx="7950200" cy="4622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058B24B-92ED-BC4D-A7F0-6F37D285B018}"/>
              </a:ext>
            </a:extLst>
          </p:cNvPr>
          <p:cNvSpPr/>
          <p:nvPr/>
        </p:nvSpPr>
        <p:spPr>
          <a:xfrm>
            <a:off x="307778" y="5290024"/>
            <a:ext cx="7512388" cy="1477328"/>
          </a:xfrm>
          <a:prstGeom prst="rect">
            <a:avLst/>
          </a:prstGeom>
          <a:ln w="76200">
            <a:solidFill>
              <a:schemeClr val="accent2"/>
            </a:solidFill>
          </a:ln>
        </p:spPr>
        <p:txBody>
          <a:bodyPr wrap="square">
            <a:spAutoFit/>
          </a:bodyPr>
          <a:lstStyle/>
          <a:p>
            <a:r>
              <a:rPr lang="en-US" b="1" dirty="0"/>
              <a:t>TASK</a:t>
            </a:r>
          </a:p>
          <a:p>
            <a:r>
              <a:rPr lang="en-US" dirty="0"/>
              <a:t>1. Draw the model in your book and explain what each part does:</a:t>
            </a:r>
          </a:p>
          <a:p>
            <a:r>
              <a:rPr lang="en-US" dirty="0"/>
              <a:t>Central executive, Phonological loop, Visuo-Spatial Sketch Pad, Episodic Buffer</a:t>
            </a:r>
          </a:p>
          <a:p>
            <a:r>
              <a:rPr lang="en-US" dirty="0"/>
              <a:t>2. What evidence is there for the WM model?</a:t>
            </a:r>
          </a:p>
          <a:p>
            <a:r>
              <a:rPr lang="en-US" b="1" dirty="0"/>
              <a:t>Link on SEQTA</a:t>
            </a:r>
          </a:p>
        </p:txBody>
      </p:sp>
    </p:spTree>
    <p:extLst>
      <p:ext uri="{BB962C8B-B14F-4D97-AF65-F5344CB8AC3E}">
        <p14:creationId xmlns:p14="http://schemas.microsoft.com/office/powerpoint/2010/main" val="1918150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9CA5-1EDF-4D48-A248-1C2E5AE1D7D0}"/>
              </a:ext>
            </a:extLst>
          </p:cNvPr>
          <p:cNvSpPr>
            <a:spLocks noGrp="1"/>
          </p:cNvSpPr>
          <p:nvPr>
            <p:ph type="title"/>
          </p:nvPr>
        </p:nvSpPr>
        <p:spPr>
          <a:xfrm>
            <a:off x="610335" y="70253"/>
            <a:ext cx="10515600" cy="1325563"/>
          </a:xfrm>
        </p:spPr>
        <p:txBody>
          <a:bodyPr/>
          <a:lstStyle/>
          <a:p>
            <a:r>
              <a:rPr lang="en-US" dirty="0"/>
              <a:t>Evaluating the </a:t>
            </a:r>
            <a:r>
              <a:rPr lang="en-US" b="1" dirty="0"/>
              <a:t>Working Memory </a:t>
            </a:r>
            <a:r>
              <a:rPr lang="en-US" dirty="0"/>
              <a:t>model</a:t>
            </a:r>
          </a:p>
        </p:txBody>
      </p:sp>
      <p:graphicFrame>
        <p:nvGraphicFramePr>
          <p:cNvPr id="6" name="Table 6">
            <a:extLst>
              <a:ext uri="{FF2B5EF4-FFF2-40B4-BE49-F238E27FC236}">
                <a16:creationId xmlns:a16="http://schemas.microsoft.com/office/drawing/2014/main" id="{844E9174-A427-814E-81F3-B8F427A629DD}"/>
              </a:ext>
            </a:extLst>
          </p:cNvPr>
          <p:cNvGraphicFramePr>
            <a:graphicFrameLocks noGrp="1"/>
          </p:cNvGraphicFramePr>
          <p:nvPr>
            <p:ph idx="1"/>
            <p:extLst>
              <p:ext uri="{D42A27DB-BD31-4B8C-83A1-F6EECF244321}">
                <p14:modId xmlns:p14="http://schemas.microsoft.com/office/powerpoint/2010/main" val="1028219111"/>
              </p:ext>
            </p:extLst>
          </p:nvPr>
        </p:nvGraphicFramePr>
        <p:xfrm>
          <a:off x="610335" y="1253121"/>
          <a:ext cx="10515600" cy="435175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43362637"/>
                    </a:ext>
                  </a:extLst>
                </a:gridCol>
                <a:gridCol w="5257800">
                  <a:extLst>
                    <a:ext uri="{9D8B030D-6E8A-4147-A177-3AD203B41FA5}">
                      <a16:colId xmlns:a16="http://schemas.microsoft.com/office/drawing/2014/main" val="4086467873"/>
                    </a:ext>
                  </a:extLst>
                </a:gridCol>
              </a:tblGrid>
              <a:tr h="511278">
                <a:tc>
                  <a:txBody>
                    <a:bodyPr/>
                    <a:lstStyle/>
                    <a:p>
                      <a:pPr algn="ctr"/>
                      <a:r>
                        <a:rPr lang="en-US" dirty="0"/>
                        <a:t>Support for the model</a:t>
                      </a:r>
                    </a:p>
                  </a:txBody>
                  <a:tcPr/>
                </a:tc>
                <a:tc>
                  <a:txBody>
                    <a:bodyPr/>
                    <a:lstStyle/>
                    <a:p>
                      <a:pPr algn="ctr"/>
                      <a:r>
                        <a:rPr lang="en-US" dirty="0"/>
                        <a:t>Limitations of the model</a:t>
                      </a:r>
                    </a:p>
                  </a:txBody>
                  <a:tcPr/>
                </a:tc>
                <a:extLst>
                  <a:ext uri="{0D108BD9-81ED-4DB2-BD59-A6C34878D82A}">
                    <a16:rowId xmlns:a16="http://schemas.microsoft.com/office/drawing/2014/main" val="3409853028"/>
                  </a:ext>
                </a:extLst>
              </a:tr>
              <a:tr h="1117510">
                <a:tc>
                  <a:txBody>
                    <a:bodyPr/>
                    <a:lstStyle/>
                    <a:p>
                      <a:r>
                        <a:rPr lang="en-US" dirty="0"/>
                        <a:t>Explains how we are able to parallel processes two different cognitive tasks at once (multi-tasking) unlike MSM </a:t>
                      </a:r>
                    </a:p>
                  </a:txBody>
                  <a:tcPr/>
                </a:tc>
                <a:tc>
                  <a:txBody>
                    <a:bodyPr/>
                    <a:lstStyle/>
                    <a:p>
                      <a:r>
                        <a:rPr lang="en-AU" sz="1800" b="0" i="0" kern="1200" dirty="0">
                          <a:solidFill>
                            <a:schemeClr val="dk1"/>
                          </a:solidFill>
                          <a:effectLst/>
                          <a:latin typeface="+mn-lt"/>
                          <a:ea typeface="+mn-ea"/>
                          <a:cs typeface="+mn-cs"/>
                        </a:rPr>
                        <a:t>more detail of STM than the multi-store model, the WMM has been criticized for being too simplistic and vague, e.g. it is unclear what the central executive is, or its exact role in attention</a:t>
                      </a:r>
                      <a:endParaRPr lang="en-US" dirty="0"/>
                    </a:p>
                  </a:txBody>
                  <a:tcPr/>
                </a:tc>
                <a:extLst>
                  <a:ext uri="{0D108BD9-81ED-4DB2-BD59-A6C34878D82A}">
                    <a16:rowId xmlns:a16="http://schemas.microsoft.com/office/drawing/2014/main" val="2083284986"/>
                  </a:ext>
                </a:extLst>
              </a:tr>
              <a:tr h="1117510">
                <a:tc>
                  <a:txBody>
                    <a:bodyPr/>
                    <a:lstStyle/>
                    <a:p>
                      <a:r>
                        <a:rPr lang="en-AU" sz="1800" b="0" i="0" kern="1200" dirty="0">
                          <a:solidFill>
                            <a:schemeClr val="dk1"/>
                          </a:solidFill>
                          <a:effectLst/>
                          <a:latin typeface="+mn-lt"/>
                          <a:ea typeface="+mn-ea"/>
                          <a:cs typeface="+mn-cs"/>
                        </a:rPr>
                        <a:t>brain-damaged patient KF could recall verbal but not visual information immediately after its presentation, which supports the WMM’s claim that separate short-term stores manage short-term phonological and visual memories.</a:t>
                      </a:r>
                      <a:endParaRPr lang="en-US" dirty="0"/>
                    </a:p>
                  </a:txBody>
                  <a:tcPr/>
                </a:tc>
                <a:tc>
                  <a:txBody>
                    <a:bodyPr/>
                    <a:lstStyle/>
                    <a:p>
                      <a:r>
                        <a:rPr lang="en-AU" sz="1800" b="0" i="0" kern="1200" dirty="0">
                          <a:solidFill>
                            <a:schemeClr val="dk1"/>
                          </a:solidFill>
                          <a:effectLst/>
                          <a:latin typeface="+mn-lt"/>
                          <a:ea typeface="+mn-ea"/>
                          <a:cs typeface="+mn-cs"/>
                        </a:rPr>
                        <a:t>Results from laboratory experiments researching the WMM will often have low ecological validity</a:t>
                      </a:r>
                      <a:endParaRPr lang="en-US" dirty="0"/>
                    </a:p>
                  </a:txBody>
                  <a:tcPr/>
                </a:tc>
                <a:extLst>
                  <a:ext uri="{0D108BD9-81ED-4DB2-BD59-A6C34878D82A}">
                    <a16:rowId xmlns:a16="http://schemas.microsoft.com/office/drawing/2014/main" val="2153058816"/>
                  </a:ext>
                </a:extLst>
              </a:tr>
              <a:tr h="1117510">
                <a:tc>
                  <a:txBody>
                    <a:bodyPr/>
                    <a:lstStyle/>
                    <a:p>
                      <a:r>
                        <a:rPr lang="en-AU" sz="1800" b="0" i="0" kern="1200" dirty="0">
                          <a:solidFill>
                            <a:schemeClr val="dk1"/>
                          </a:solidFill>
                          <a:effectLst/>
                          <a:latin typeface="+mn-lt"/>
                          <a:ea typeface="+mn-ea"/>
                          <a:cs typeface="+mn-cs"/>
                        </a:rPr>
                        <a:t>model was developed based on evidence from laboratory experiments, so confounding variables could be carefully controlled to produce reliable results</a:t>
                      </a:r>
                      <a:endParaRPr lang="en-US" dirty="0"/>
                    </a:p>
                  </a:txBody>
                  <a:tcPr/>
                </a:tc>
                <a:tc>
                  <a:txBody>
                    <a:bodyPr/>
                    <a:lstStyle/>
                    <a:p>
                      <a:r>
                        <a:rPr lang="en-US" dirty="0"/>
                        <a:t>Still no biological evidence of the working memory model. We </a:t>
                      </a:r>
                      <a:r>
                        <a:rPr lang="en-US" dirty="0" err="1"/>
                        <a:t>aare</a:t>
                      </a:r>
                      <a:r>
                        <a:rPr lang="en-US" dirty="0"/>
                        <a:t> unable to pinpoint structures that are </a:t>
                      </a:r>
                      <a:r>
                        <a:rPr lang="en-US" dirty="0" err="1"/>
                        <a:t>accociated</a:t>
                      </a:r>
                      <a:r>
                        <a:rPr lang="en-US" dirty="0"/>
                        <a:t> with the functions.</a:t>
                      </a:r>
                    </a:p>
                  </a:txBody>
                  <a:tcPr/>
                </a:tc>
                <a:extLst>
                  <a:ext uri="{0D108BD9-81ED-4DB2-BD59-A6C34878D82A}">
                    <a16:rowId xmlns:a16="http://schemas.microsoft.com/office/drawing/2014/main" val="14880438"/>
                  </a:ext>
                </a:extLst>
              </a:tr>
            </a:tbl>
          </a:graphicData>
        </a:graphic>
      </p:graphicFrame>
      <p:sp>
        <p:nvSpPr>
          <p:cNvPr id="4" name="TextBox 3">
            <a:extLst>
              <a:ext uri="{FF2B5EF4-FFF2-40B4-BE49-F238E27FC236}">
                <a16:creationId xmlns:a16="http://schemas.microsoft.com/office/drawing/2014/main" id="{129C4A6C-845B-794E-A946-61CDB8752012}"/>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7" name="TextBox 6">
            <a:extLst>
              <a:ext uri="{FF2B5EF4-FFF2-40B4-BE49-F238E27FC236}">
                <a16:creationId xmlns:a16="http://schemas.microsoft.com/office/drawing/2014/main" id="{2874E4CF-C6D1-AB4B-A46F-EEC19D7DC1D0}"/>
              </a:ext>
            </a:extLst>
          </p:cNvPr>
          <p:cNvSpPr txBox="1"/>
          <p:nvPr/>
        </p:nvSpPr>
        <p:spPr>
          <a:xfrm>
            <a:off x="610335" y="5843239"/>
            <a:ext cx="3055132" cy="646331"/>
          </a:xfrm>
          <a:prstGeom prst="rect">
            <a:avLst/>
          </a:prstGeom>
          <a:noFill/>
        </p:spPr>
        <p:txBody>
          <a:bodyPr wrap="none" rtlCol="0">
            <a:spAutoFit/>
          </a:bodyPr>
          <a:lstStyle/>
          <a:p>
            <a:r>
              <a:rPr lang="en-US" dirty="0"/>
              <a:t>MSM – Multi-store model</a:t>
            </a:r>
          </a:p>
          <a:p>
            <a:r>
              <a:rPr lang="en-US" dirty="0"/>
              <a:t>WM- Working Memory model </a:t>
            </a:r>
          </a:p>
        </p:txBody>
      </p:sp>
      <p:pic>
        <p:nvPicPr>
          <p:cNvPr id="2050" name="Picture 2" descr="Working Memory Model - AS Psychology">
            <a:extLst>
              <a:ext uri="{FF2B5EF4-FFF2-40B4-BE49-F238E27FC236}">
                <a16:creationId xmlns:a16="http://schemas.microsoft.com/office/drawing/2014/main" id="{2490EB17-F5F0-0F4B-97BA-1A72C80FB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9456" y="5151327"/>
            <a:ext cx="2852544" cy="1658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602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9CA5-1EDF-4D48-A248-1C2E5AE1D7D0}"/>
              </a:ext>
            </a:extLst>
          </p:cNvPr>
          <p:cNvSpPr>
            <a:spLocks noGrp="1"/>
          </p:cNvSpPr>
          <p:nvPr>
            <p:ph type="title"/>
          </p:nvPr>
        </p:nvSpPr>
        <p:spPr>
          <a:xfrm>
            <a:off x="610335" y="70253"/>
            <a:ext cx="10515600" cy="1325563"/>
          </a:xfrm>
        </p:spPr>
        <p:txBody>
          <a:bodyPr/>
          <a:lstStyle/>
          <a:p>
            <a:r>
              <a:rPr lang="en-US" dirty="0"/>
              <a:t>Evaluating the </a:t>
            </a:r>
            <a:r>
              <a:rPr lang="en-US" b="1" dirty="0"/>
              <a:t>Multi-Store model</a:t>
            </a:r>
          </a:p>
        </p:txBody>
      </p:sp>
      <p:graphicFrame>
        <p:nvGraphicFramePr>
          <p:cNvPr id="6" name="Table 6">
            <a:extLst>
              <a:ext uri="{FF2B5EF4-FFF2-40B4-BE49-F238E27FC236}">
                <a16:creationId xmlns:a16="http://schemas.microsoft.com/office/drawing/2014/main" id="{844E9174-A427-814E-81F3-B8F427A629DD}"/>
              </a:ext>
            </a:extLst>
          </p:cNvPr>
          <p:cNvGraphicFramePr>
            <a:graphicFrameLocks noGrp="1"/>
          </p:cNvGraphicFramePr>
          <p:nvPr>
            <p:ph idx="1"/>
            <p:extLst>
              <p:ext uri="{D42A27DB-BD31-4B8C-83A1-F6EECF244321}">
                <p14:modId xmlns:p14="http://schemas.microsoft.com/office/powerpoint/2010/main" val="639667317"/>
              </p:ext>
            </p:extLst>
          </p:nvPr>
        </p:nvGraphicFramePr>
        <p:xfrm>
          <a:off x="610335" y="1253121"/>
          <a:ext cx="10515600" cy="4077438"/>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43362637"/>
                    </a:ext>
                  </a:extLst>
                </a:gridCol>
                <a:gridCol w="5257800">
                  <a:extLst>
                    <a:ext uri="{9D8B030D-6E8A-4147-A177-3AD203B41FA5}">
                      <a16:colId xmlns:a16="http://schemas.microsoft.com/office/drawing/2014/main" val="4086467873"/>
                    </a:ext>
                  </a:extLst>
                </a:gridCol>
              </a:tblGrid>
              <a:tr h="511278">
                <a:tc>
                  <a:txBody>
                    <a:bodyPr/>
                    <a:lstStyle/>
                    <a:p>
                      <a:pPr algn="ctr"/>
                      <a:r>
                        <a:rPr lang="en-US" dirty="0"/>
                        <a:t>Support for the model</a:t>
                      </a:r>
                    </a:p>
                  </a:txBody>
                  <a:tcPr/>
                </a:tc>
                <a:tc>
                  <a:txBody>
                    <a:bodyPr/>
                    <a:lstStyle/>
                    <a:p>
                      <a:pPr algn="ctr"/>
                      <a:r>
                        <a:rPr lang="en-US" dirty="0"/>
                        <a:t>Limitations of the model</a:t>
                      </a:r>
                    </a:p>
                  </a:txBody>
                  <a:tcPr/>
                </a:tc>
                <a:extLst>
                  <a:ext uri="{0D108BD9-81ED-4DB2-BD59-A6C34878D82A}">
                    <a16:rowId xmlns:a16="http://schemas.microsoft.com/office/drawing/2014/main" val="3409853028"/>
                  </a:ext>
                </a:extLst>
              </a:tr>
              <a:tr h="1117510">
                <a:tc>
                  <a:txBody>
                    <a:bodyPr/>
                    <a:lstStyle/>
                    <a:p>
                      <a:r>
                        <a:rPr lang="en-US" dirty="0"/>
                        <a:t>Miller (1957) Researched the capacity of STM which provides support for the claim that your STM holds 5-9 items and struggles past 9 items. Also found support for chunking of items in STM</a:t>
                      </a:r>
                    </a:p>
                  </a:txBody>
                  <a:tcPr/>
                </a:tc>
                <a:tc>
                  <a:txBody>
                    <a:bodyPr/>
                    <a:lstStyle/>
                    <a:p>
                      <a:r>
                        <a:rPr lang="en-US" dirty="0"/>
                        <a:t>A lot of research into MSM is from a lab and thus low ecological validity as memories are usually personal to you and meaningful and not a list of arbitrary words to recall. </a:t>
                      </a:r>
                    </a:p>
                  </a:txBody>
                  <a:tcPr/>
                </a:tc>
                <a:extLst>
                  <a:ext uri="{0D108BD9-81ED-4DB2-BD59-A6C34878D82A}">
                    <a16:rowId xmlns:a16="http://schemas.microsoft.com/office/drawing/2014/main" val="2083284986"/>
                  </a:ext>
                </a:extLst>
              </a:tr>
              <a:tr h="1117510">
                <a:tc>
                  <a:txBody>
                    <a:bodyPr/>
                    <a:lstStyle/>
                    <a:p>
                      <a:r>
                        <a:rPr lang="en-US" dirty="0"/>
                        <a:t>Clive Wearing brain damage to the hippocampus. He could rehearse information for around 20 sec (maintenance rehearsal) but was unable to move anything to his LTM (elaborative rehearsal)</a:t>
                      </a:r>
                    </a:p>
                  </a:txBody>
                  <a:tcPr/>
                </a:tc>
                <a:tc>
                  <a:txBody>
                    <a:bodyPr/>
                    <a:lstStyle/>
                    <a:p>
                      <a:endParaRPr lang="en-US" dirty="0"/>
                    </a:p>
                  </a:txBody>
                  <a:tcPr/>
                </a:tc>
                <a:extLst>
                  <a:ext uri="{0D108BD9-81ED-4DB2-BD59-A6C34878D82A}">
                    <a16:rowId xmlns:a16="http://schemas.microsoft.com/office/drawing/2014/main" val="2153058816"/>
                  </a:ext>
                </a:extLst>
              </a:tr>
              <a:tr h="1117510">
                <a:tc>
                  <a:txBody>
                    <a:bodyPr/>
                    <a:lstStyle/>
                    <a:p>
                      <a:r>
                        <a:rPr lang="en-US" dirty="0"/>
                        <a:t>Case study of H.M. surgery to cure sever epilepsy, causing damage to the hippocampus. Unable to form new memories but could retrieve info from LTM, thus there are different stores for these functions</a:t>
                      </a:r>
                    </a:p>
                  </a:txBody>
                  <a:tcPr/>
                </a:tc>
                <a:tc>
                  <a:txBody>
                    <a:bodyPr/>
                    <a:lstStyle/>
                    <a:p>
                      <a:endParaRPr lang="en-US" dirty="0"/>
                    </a:p>
                  </a:txBody>
                  <a:tcPr/>
                </a:tc>
                <a:extLst>
                  <a:ext uri="{0D108BD9-81ED-4DB2-BD59-A6C34878D82A}">
                    <a16:rowId xmlns:a16="http://schemas.microsoft.com/office/drawing/2014/main" val="14880438"/>
                  </a:ext>
                </a:extLst>
              </a:tr>
            </a:tbl>
          </a:graphicData>
        </a:graphic>
      </p:graphicFrame>
      <p:sp>
        <p:nvSpPr>
          <p:cNvPr id="4" name="TextBox 3">
            <a:extLst>
              <a:ext uri="{FF2B5EF4-FFF2-40B4-BE49-F238E27FC236}">
                <a16:creationId xmlns:a16="http://schemas.microsoft.com/office/drawing/2014/main" id="{129C4A6C-845B-794E-A946-61CDB8752012}"/>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7" name="TextBox 6">
            <a:extLst>
              <a:ext uri="{FF2B5EF4-FFF2-40B4-BE49-F238E27FC236}">
                <a16:creationId xmlns:a16="http://schemas.microsoft.com/office/drawing/2014/main" id="{2874E4CF-C6D1-AB4B-A46F-EEC19D7DC1D0}"/>
              </a:ext>
            </a:extLst>
          </p:cNvPr>
          <p:cNvSpPr txBox="1"/>
          <p:nvPr/>
        </p:nvSpPr>
        <p:spPr>
          <a:xfrm>
            <a:off x="610335" y="5843239"/>
            <a:ext cx="3055132" cy="646331"/>
          </a:xfrm>
          <a:prstGeom prst="rect">
            <a:avLst/>
          </a:prstGeom>
          <a:noFill/>
        </p:spPr>
        <p:txBody>
          <a:bodyPr wrap="none" rtlCol="0">
            <a:spAutoFit/>
          </a:bodyPr>
          <a:lstStyle/>
          <a:p>
            <a:r>
              <a:rPr lang="en-US" dirty="0"/>
              <a:t>MSM – Multi-store model</a:t>
            </a:r>
          </a:p>
          <a:p>
            <a:r>
              <a:rPr lang="en-US" dirty="0"/>
              <a:t>WM- Working Memory model </a:t>
            </a:r>
          </a:p>
        </p:txBody>
      </p:sp>
      <p:pic>
        <p:nvPicPr>
          <p:cNvPr id="1026" name="Picture 2" descr="The multi-store model (MSM) | Tilda123456789">
            <a:extLst>
              <a:ext uri="{FF2B5EF4-FFF2-40B4-BE49-F238E27FC236}">
                <a16:creationId xmlns:a16="http://schemas.microsoft.com/office/drawing/2014/main" id="{46A915C8-59EC-8149-907B-B958B4E0E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3582" y="4716480"/>
            <a:ext cx="5320526" cy="1796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2185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8784AFD-D0F3-DC42-8422-DC415DA27FE8}"/>
              </a:ext>
            </a:extLst>
          </p:cNvPr>
          <p:cNvSpPr txBox="1"/>
          <p:nvPr/>
        </p:nvSpPr>
        <p:spPr>
          <a:xfrm rot="16200000">
            <a:off x="-754244" y="1241928"/>
            <a:ext cx="1816266" cy="307777"/>
          </a:xfrm>
          <a:prstGeom prst="rect">
            <a:avLst/>
          </a:prstGeom>
          <a:solidFill>
            <a:schemeClr val="accent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white"/>
                </a:solidFill>
                <a:effectLst/>
                <a:uLnTx/>
                <a:uFillTx/>
                <a:latin typeface="Calibri" panose="020F0502020204030204"/>
                <a:ea typeface="+mn-ea"/>
                <a:cs typeface="+mn-cs"/>
              </a:rPr>
              <a:t>Concept Development</a:t>
            </a:r>
          </a:p>
        </p:txBody>
      </p:sp>
      <p:sp>
        <p:nvSpPr>
          <p:cNvPr id="12" name="TextBox 11">
            <a:extLst>
              <a:ext uri="{FF2B5EF4-FFF2-40B4-BE49-F238E27FC236}">
                <a16:creationId xmlns:a16="http://schemas.microsoft.com/office/drawing/2014/main" id="{389C038F-68E5-534D-9A6B-215CB0C63181}"/>
              </a:ext>
            </a:extLst>
          </p:cNvPr>
          <p:cNvSpPr txBox="1"/>
          <p:nvPr/>
        </p:nvSpPr>
        <p:spPr>
          <a:xfrm>
            <a:off x="963020" y="296072"/>
            <a:ext cx="709822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3600" b="1" i="0" u="none" strike="noStrike" kern="1200" cap="none" spc="0" normalizeH="0" baseline="0" noProof="0" dirty="0">
                <a:ln>
                  <a:noFill/>
                </a:ln>
                <a:solidFill>
                  <a:srgbClr val="4472C4"/>
                </a:solidFill>
                <a:effectLst/>
                <a:uLnTx/>
                <a:uFillTx/>
                <a:latin typeface="Calibri" panose="020F0502020204030204"/>
                <a:ea typeface="+mn-ea"/>
                <a:cs typeface="+mn-cs"/>
              </a:rPr>
              <a:t>Comparing the two memory models</a:t>
            </a:r>
          </a:p>
        </p:txBody>
      </p:sp>
      <p:graphicFrame>
        <p:nvGraphicFramePr>
          <p:cNvPr id="9" name="Table 8">
            <a:extLst>
              <a:ext uri="{FF2B5EF4-FFF2-40B4-BE49-F238E27FC236}">
                <a16:creationId xmlns:a16="http://schemas.microsoft.com/office/drawing/2014/main" id="{3E38FB5A-5753-CE44-AB97-A40EAE124C0E}"/>
              </a:ext>
            </a:extLst>
          </p:cNvPr>
          <p:cNvGraphicFramePr>
            <a:graphicFrameLocks noGrp="1"/>
          </p:cNvGraphicFramePr>
          <p:nvPr/>
        </p:nvGraphicFramePr>
        <p:xfrm>
          <a:off x="8716488" y="0"/>
          <a:ext cx="3475512" cy="1925320"/>
        </p:xfrm>
        <a:graphic>
          <a:graphicData uri="http://schemas.openxmlformats.org/drawingml/2006/table">
            <a:tbl>
              <a:tblPr firstRow="1" bandRow="1">
                <a:tableStyleId>{93296810-A885-4BE3-A3E7-6D5BEEA58F35}</a:tableStyleId>
              </a:tblPr>
              <a:tblGrid>
                <a:gridCol w="3475512">
                  <a:extLst>
                    <a:ext uri="{9D8B030D-6E8A-4147-A177-3AD203B41FA5}">
                      <a16:colId xmlns:a16="http://schemas.microsoft.com/office/drawing/2014/main" val="984443331"/>
                    </a:ext>
                  </a:extLst>
                </a:gridCol>
              </a:tblGrid>
              <a:tr h="370840">
                <a:tc>
                  <a:txBody>
                    <a:bodyPr/>
                    <a:lstStyle/>
                    <a:p>
                      <a:pPr algn="ctr"/>
                      <a:r>
                        <a:rPr lang="en-AU" sz="1600" dirty="0"/>
                        <a:t>Vocabulary</a:t>
                      </a:r>
                    </a:p>
                  </a:txBody>
                  <a:tcPr/>
                </a:tc>
                <a:extLst>
                  <a:ext uri="{0D108BD9-81ED-4DB2-BD59-A6C34878D82A}">
                    <a16:rowId xmlns:a16="http://schemas.microsoft.com/office/drawing/2014/main" val="1235380871"/>
                  </a:ext>
                </a:extLst>
              </a:tr>
              <a:tr h="370840">
                <a:tc>
                  <a:txBody>
                    <a:bodyPr/>
                    <a:lstStyle/>
                    <a:p>
                      <a:r>
                        <a:rPr lang="en-AU" sz="1600" b="1" dirty="0"/>
                        <a:t>model</a:t>
                      </a:r>
                      <a:r>
                        <a:rPr lang="en-AU" sz="1600" b="0" dirty="0"/>
                        <a:t>: a simplified</a:t>
                      </a:r>
                      <a:r>
                        <a:rPr lang="en-AU" sz="1600" b="0" baseline="0" dirty="0"/>
                        <a:t> way of explaining or representing a process or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dirty="0"/>
                        <a:t>memory:</a:t>
                      </a:r>
                      <a:r>
                        <a:rPr lang="en-AU" sz="1600" b="0" dirty="0"/>
                        <a:t> the internal record of some previous event or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600" b="1" baseline="0" dirty="0"/>
                        <a:t>retrieval:</a:t>
                      </a:r>
                      <a:r>
                        <a:rPr lang="en-AU" sz="1600" b="0" baseline="0" dirty="0"/>
                        <a:t> the recovery of information stored in the brain</a:t>
                      </a:r>
                      <a:endParaRPr lang="en-AU" sz="1600" b="0" dirty="0"/>
                    </a:p>
                  </a:txBody>
                  <a:tcPr/>
                </a:tc>
                <a:extLst>
                  <a:ext uri="{0D108BD9-81ED-4DB2-BD59-A6C34878D82A}">
                    <a16:rowId xmlns:a16="http://schemas.microsoft.com/office/drawing/2014/main" val="3546612696"/>
                  </a:ext>
                </a:extLst>
              </a:tr>
            </a:tbl>
          </a:graphicData>
        </a:graphic>
      </p:graphicFrame>
      <p:graphicFrame>
        <p:nvGraphicFramePr>
          <p:cNvPr id="4" name="Table 4">
            <a:extLst>
              <a:ext uri="{FF2B5EF4-FFF2-40B4-BE49-F238E27FC236}">
                <a16:creationId xmlns:a16="http://schemas.microsoft.com/office/drawing/2014/main" id="{552EE527-3393-2C4E-A440-AC1BC9F1CD40}"/>
              </a:ext>
            </a:extLst>
          </p:cNvPr>
          <p:cNvGraphicFramePr>
            <a:graphicFrameLocks noGrp="1"/>
          </p:cNvGraphicFramePr>
          <p:nvPr>
            <p:extLst>
              <p:ext uri="{D42A27DB-BD31-4B8C-83A1-F6EECF244321}">
                <p14:modId xmlns:p14="http://schemas.microsoft.com/office/powerpoint/2010/main" val="1368883227"/>
              </p:ext>
            </p:extLst>
          </p:nvPr>
        </p:nvGraphicFramePr>
        <p:xfrm>
          <a:off x="1337481" y="2549974"/>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828726687"/>
                    </a:ext>
                  </a:extLst>
                </a:gridCol>
                <a:gridCol w="4064000">
                  <a:extLst>
                    <a:ext uri="{9D8B030D-6E8A-4147-A177-3AD203B41FA5}">
                      <a16:colId xmlns:a16="http://schemas.microsoft.com/office/drawing/2014/main" val="3947585332"/>
                    </a:ext>
                  </a:extLst>
                </a:gridCol>
              </a:tblGrid>
              <a:tr h="370840">
                <a:tc>
                  <a:txBody>
                    <a:bodyPr/>
                    <a:lstStyle/>
                    <a:p>
                      <a:pPr algn="ctr"/>
                      <a:r>
                        <a:rPr lang="en-US" dirty="0"/>
                        <a:t>Similarities</a:t>
                      </a:r>
                    </a:p>
                  </a:txBody>
                  <a:tcPr/>
                </a:tc>
                <a:tc>
                  <a:txBody>
                    <a:bodyPr/>
                    <a:lstStyle/>
                    <a:p>
                      <a:pPr algn="ctr"/>
                      <a:r>
                        <a:rPr lang="en-US" dirty="0"/>
                        <a:t>Differences</a:t>
                      </a:r>
                    </a:p>
                  </a:txBody>
                  <a:tcPr/>
                </a:tc>
                <a:extLst>
                  <a:ext uri="{0D108BD9-81ED-4DB2-BD59-A6C34878D82A}">
                    <a16:rowId xmlns:a16="http://schemas.microsoft.com/office/drawing/2014/main" val="3976287249"/>
                  </a:ext>
                </a:extLst>
              </a:tr>
              <a:tr h="370840">
                <a:tc>
                  <a:txBody>
                    <a:bodyPr/>
                    <a:lstStyle/>
                    <a:p>
                      <a:r>
                        <a:rPr lang="en-US" dirty="0"/>
                        <a:t>Both show how information is processed </a:t>
                      </a:r>
                    </a:p>
                  </a:txBody>
                  <a:tcPr/>
                </a:tc>
                <a:tc>
                  <a:txBody>
                    <a:bodyPr/>
                    <a:lstStyle/>
                    <a:p>
                      <a:endParaRPr lang="en-US"/>
                    </a:p>
                  </a:txBody>
                  <a:tcPr/>
                </a:tc>
                <a:extLst>
                  <a:ext uri="{0D108BD9-81ED-4DB2-BD59-A6C34878D82A}">
                    <a16:rowId xmlns:a16="http://schemas.microsoft.com/office/drawing/2014/main" val="164731546"/>
                  </a:ext>
                </a:extLst>
              </a:tr>
              <a:tr h="370840">
                <a:tc>
                  <a:txBody>
                    <a:bodyPr/>
                    <a:lstStyle/>
                    <a:p>
                      <a:endParaRPr lang="en-US"/>
                    </a:p>
                  </a:txBody>
                  <a:tcPr/>
                </a:tc>
                <a:tc>
                  <a:txBody>
                    <a:bodyPr/>
                    <a:lstStyle/>
                    <a:p>
                      <a:endParaRPr lang="en-US" dirty="0"/>
                    </a:p>
                  </a:txBody>
                  <a:tcPr/>
                </a:tc>
                <a:extLst>
                  <a:ext uri="{0D108BD9-81ED-4DB2-BD59-A6C34878D82A}">
                    <a16:rowId xmlns:a16="http://schemas.microsoft.com/office/drawing/2014/main" val="272403661"/>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356383922"/>
                  </a:ext>
                </a:extLst>
              </a:tr>
            </a:tbl>
          </a:graphicData>
        </a:graphic>
      </p:graphicFrame>
      <p:sp>
        <p:nvSpPr>
          <p:cNvPr id="5" name="TextBox 4">
            <a:extLst>
              <a:ext uri="{FF2B5EF4-FFF2-40B4-BE49-F238E27FC236}">
                <a16:creationId xmlns:a16="http://schemas.microsoft.com/office/drawing/2014/main" id="{4AD83B5D-EDCC-7648-9A1B-C21A401E8EBE}"/>
              </a:ext>
            </a:extLst>
          </p:cNvPr>
          <p:cNvSpPr txBox="1"/>
          <p:nvPr/>
        </p:nvSpPr>
        <p:spPr>
          <a:xfrm>
            <a:off x="1337481" y="1733266"/>
            <a:ext cx="1749582" cy="369332"/>
          </a:xfrm>
          <a:prstGeom prst="rect">
            <a:avLst/>
          </a:prstGeom>
          <a:noFill/>
        </p:spPr>
        <p:txBody>
          <a:bodyPr wrap="none" rtlCol="0">
            <a:spAutoFit/>
          </a:bodyPr>
          <a:lstStyle/>
          <a:p>
            <a:r>
              <a:rPr lang="en-US" b="1" dirty="0"/>
              <a:t>Finish the table</a:t>
            </a:r>
            <a:r>
              <a:rPr lang="en-US" dirty="0"/>
              <a:t>:</a:t>
            </a:r>
          </a:p>
        </p:txBody>
      </p:sp>
      <p:sp>
        <p:nvSpPr>
          <p:cNvPr id="6" name="TextBox 5">
            <a:extLst>
              <a:ext uri="{FF2B5EF4-FFF2-40B4-BE49-F238E27FC236}">
                <a16:creationId xmlns:a16="http://schemas.microsoft.com/office/drawing/2014/main" id="{6D3773DD-3AEB-6B48-87F1-E7DAF230D770}"/>
              </a:ext>
            </a:extLst>
          </p:cNvPr>
          <p:cNvSpPr txBox="1"/>
          <p:nvPr/>
        </p:nvSpPr>
        <p:spPr>
          <a:xfrm>
            <a:off x="737038" y="5418161"/>
            <a:ext cx="9717206" cy="923330"/>
          </a:xfrm>
          <a:prstGeom prst="rect">
            <a:avLst/>
          </a:prstGeom>
          <a:noFill/>
          <a:ln w="76200">
            <a:solidFill>
              <a:srgbClr val="7030A0"/>
            </a:solidFill>
          </a:ln>
        </p:spPr>
        <p:txBody>
          <a:bodyPr wrap="square" rtlCol="0">
            <a:spAutoFit/>
          </a:bodyPr>
          <a:lstStyle/>
          <a:p>
            <a:r>
              <a:rPr lang="en-US" b="1" dirty="0"/>
              <a:t>Extension: </a:t>
            </a:r>
          </a:p>
          <a:p>
            <a:r>
              <a:rPr lang="en-US" dirty="0"/>
              <a:t>Research the advantages and disadvantages of both models of memory and note down two strengths and two limitations of both models.</a:t>
            </a:r>
          </a:p>
        </p:txBody>
      </p:sp>
    </p:spTree>
    <p:extLst>
      <p:ext uri="{BB962C8B-B14F-4D97-AF65-F5344CB8AC3E}">
        <p14:creationId xmlns:p14="http://schemas.microsoft.com/office/powerpoint/2010/main" val="2243567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E4CB6F2-E4A4-7940-9F1E-F8EF4C7F4417}"/>
              </a:ext>
            </a:extLst>
          </p:cNvPr>
          <p:cNvSpPr txBox="1"/>
          <p:nvPr/>
        </p:nvSpPr>
        <p:spPr>
          <a:xfrm>
            <a:off x="7612083" y="42040"/>
            <a:ext cx="4569407" cy="307777"/>
          </a:xfrm>
          <a:prstGeom prst="rect">
            <a:avLst/>
          </a:prstGeom>
          <a:solidFill>
            <a:schemeClr val="accent5"/>
          </a:solid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rPr>
              <a:t>LO: Explain the process of neural transmission (3.3)</a:t>
            </a:r>
          </a:p>
        </p:txBody>
      </p:sp>
      <p:sp>
        <p:nvSpPr>
          <p:cNvPr id="4" name="TextBox 3">
            <a:extLst>
              <a:ext uri="{FF2B5EF4-FFF2-40B4-BE49-F238E27FC236}">
                <a16:creationId xmlns:a16="http://schemas.microsoft.com/office/drawing/2014/main" id="{BBAAB358-1EF4-7D44-A12D-9DF509A6789B}"/>
              </a:ext>
            </a:extLst>
          </p:cNvPr>
          <p:cNvSpPr txBox="1"/>
          <p:nvPr/>
        </p:nvSpPr>
        <p:spPr>
          <a:xfrm>
            <a:off x="438056" y="549820"/>
            <a:ext cx="778891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Memories in the long-term memory last better when they are rehearsed through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elaborative rehearsal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when they are linked to information that you already know! </a:t>
            </a:r>
          </a:p>
        </p:txBody>
      </p:sp>
      <p:sp>
        <p:nvSpPr>
          <p:cNvPr id="8" name="TextBox 7">
            <a:extLst>
              <a:ext uri="{FF2B5EF4-FFF2-40B4-BE49-F238E27FC236}">
                <a16:creationId xmlns:a16="http://schemas.microsoft.com/office/drawing/2014/main" id="{A80D13DE-1FFF-224F-ABEF-2C541C09066F}"/>
              </a:ext>
            </a:extLst>
          </p:cNvPr>
          <p:cNvSpPr txBox="1"/>
          <p:nvPr/>
        </p:nvSpPr>
        <p:spPr>
          <a:xfrm>
            <a:off x="2064439" y="5354"/>
            <a:ext cx="2824684"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dirty="0">
                <a:ln>
                  <a:noFill/>
                </a:ln>
                <a:solidFill>
                  <a:srgbClr val="4472C4"/>
                </a:solidFill>
                <a:effectLst/>
                <a:uLnTx/>
                <a:uFillTx/>
                <a:latin typeface="Calibri" panose="020F0502020204030204"/>
                <a:ea typeface="+mn-ea"/>
                <a:cs typeface="+mn-cs"/>
              </a:rPr>
              <a:t>Strategy: </a:t>
            </a:r>
            <a:r>
              <a:rPr kumimoji="0" lang="en-AU" sz="2800" b="1" i="0" u="none" strike="noStrike" kern="1200" cap="none" spc="0" normalizeH="0" baseline="0" noProof="0" dirty="0">
                <a:ln>
                  <a:noFill/>
                </a:ln>
                <a:solidFill>
                  <a:srgbClr val="FF0000"/>
                </a:solidFill>
                <a:effectLst/>
                <a:uLnTx/>
                <a:uFillTx/>
                <a:latin typeface="Calibri" panose="020F0502020204030204"/>
                <a:ea typeface="+mn-ea"/>
                <a:cs typeface="+mn-cs"/>
              </a:rPr>
              <a:t>Revising</a:t>
            </a:r>
          </a:p>
        </p:txBody>
      </p:sp>
      <p:pic>
        <p:nvPicPr>
          <p:cNvPr id="1026" name="Picture 2" descr="How To Make Flashcards - That Nurse Life | Study flashcards, Flashcards,  Flashcards college">
            <a:extLst>
              <a:ext uri="{FF2B5EF4-FFF2-40B4-BE49-F238E27FC236}">
                <a16:creationId xmlns:a16="http://schemas.microsoft.com/office/drawing/2014/main" id="{ADC414C8-25F1-6440-822F-42071DD36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9222" y="1831875"/>
            <a:ext cx="3312268" cy="24842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BD67BA9-F8DF-F146-BF02-1C20220C3128}"/>
              </a:ext>
            </a:extLst>
          </p:cNvPr>
          <p:cNvSpPr txBox="1"/>
          <p:nvPr/>
        </p:nvSpPr>
        <p:spPr>
          <a:xfrm>
            <a:off x="546846" y="1505447"/>
            <a:ext cx="3526971" cy="3970318"/>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Revision strategy examples and what they are good for: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Flashcards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definitions, theories, key words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Narratives and visuals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when you find info hard to understand / remember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Acronyms: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Remembering information that has to be in a a specific order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Mindmaps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great for topic overviews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A5634130-DF69-074C-9D8B-9C8230561BE6}"/>
              </a:ext>
            </a:extLst>
          </p:cNvPr>
          <p:cNvSpPr txBox="1"/>
          <p:nvPr/>
        </p:nvSpPr>
        <p:spPr>
          <a:xfrm>
            <a:off x="4550419" y="1528191"/>
            <a:ext cx="3891452" cy="3947574"/>
          </a:xfrm>
          <a:prstGeom prst="rect">
            <a:avLst/>
          </a:prstGeom>
          <a:noFill/>
          <a:ln>
            <a:solidFill>
              <a:schemeClr val="accent6"/>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General tips: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Make it visual: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pictures, tables, diagrams, headings and subheadings. Memory works better visually and this makes it easier to go over notes when you need them for exams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Colours: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Also can be used to colour code: one colour for – definitions, evaluations, theorist names,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Get someone to test you</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Stay consistent with even when you think you know it well</a:t>
            </a:r>
          </a:p>
        </p:txBody>
      </p:sp>
      <p:sp>
        <p:nvSpPr>
          <p:cNvPr id="10" name="TextBox 9">
            <a:extLst>
              <a:ext uri="{FF2B5EF4-FFF2-40B4-BE49-F238E27FC236}">
                <a16:creationId xmlns:a16="http://schemas.microsoft.com/office/drawing/2014/main" id="{3677392C-791E-5E49-84D2-A268953927F1}"/>
              </a:ext>
            </a:extLst>
          </p:cNvPr>
          <p:cNvSpPr txBox="1"/>
          <p:nvPr/>
        </p:nvSpPr>
        <p:spPr>
          <a:xfrm>
            <a:off x="184666" y="5569516"/>
            <a:ext cx="5131213" cy="147732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More ideas on revision techniques: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hlinkClick r:id="rId3"/>
              </a:rPr>
              <a:t>Click me for general tips</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hlinkClick r:id="rId4"/>
              </a:rPr>
              <a:t>Click me on how to for mindmapping, flashcards etc</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hlinkClick r:id="rId5"/>
              </a:rPr>
              <a:t>Click me for what elaborative rehearsal is </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7C6E23FE-15B2-B745-B50A-CC749ABDA6E9}"/>
              </a:ext>
            </a:extLst>
          </p:cNvPr>
          <p:cNvSpPr txBox="1"/>
          <p:nvPr/>
        </p:nvSpPr>
        <p:spPr>
          <a:xfrm rot="16200000">
            <a:off x="-725647" y="1523698"/>
            <a:ext cx="1820627" cy="369332"/>
          </a:xfrm>
          <a:prstGeom prst="rect">
            <a:avLst/>
          </a:prstGeom>
          <a:solidFill>
            <a:schemeClr val="accent2"/>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rPr>
              <a:t>Skill Development</a:t>
            </a:r>
          </a:p>
        </p:txBody>
      </p:sp>
    </p:spTree>
    <p:extLst>
      <p:ext uri="{BB962C8B-B14F-4D97-AF65-F5344CB8AC3E}">
        <p14:creationId xmlns:p14="http://schemas.microsoft.com/office/powerpoint/2010/main" val="660671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E555-EA4A-4184-918C-1630F809740B}"/>
              </a:ext>
            </a:extLst>
          </p:cNvPr>
          <p:cNvSpPr>
            <a:spLocks noGrp="1"/>
          </p:cNvSpPr>
          <p:nvPr>
            <p:ph type="title"/>
          </p:nvPr>
        </p:nvSpPr>
        <p:spPr/>
        <p:txBody>
          <a:bodyPr/>
          <a:lstStyle/>
          <a:p>
            <a:r>
              <a:rPr lang="en-AU" sz="5400" b="1" dirty="0"/>
              <a:t>Exit Ticket </a:t>
            </a:r>
          </a:p>
        </p:txBody>
      </p:sp>
      <p:sp>
        <p:nvSpPr>
          <p:cNvPr id="3" name="Content Placeholder 2">
            <a:extLst>
              <a:ext uri="{FF2B5EF4-FFF2-40B4-BE49-F238E27FC236}">
                <a16:creationId xmlns:a16="http://schemas.microsoft.com/office/drawing/2014/main" id="{CA90E94D-8BB9-4152-80A2-4A18D09037E2}"/>
              </a:ext>
            </a:extLst>
          </p:cNvPr>
          <p:cNvSpPr>
            <a:spLocks noGrp="1"/>
          </p:cNvSpPr>
          <p:nvPr>
            <p:ph idx="1"/>
          </p:nvPr>
        </p:nvSpPr>
        <p:spPr>
          <a:xfrm>
            <a:off x="1757082" y="3346523"/>
            <a:ext cx="8677836" cy="1477963"/>
          </a:xfrm>
        </p:spPr>
        <p:txBody>
          <a:bodyPr>
            <a:normAutofit/>
          </a:bodyPr>
          <a:lstStyle/>
          <a:p>
            <a:pPr marL="0" indent="0">
              <a:buNone/>
            </a:pPr>
            <a:r>
              <a:rPr lang="en-AU" sz="3600" dirty="0"/>
              <a:t>Fist to five and explain to partner</a:t>
            </a:r>
          </a:p>
        </p:txBody>
      </p:sp>
      <p:pic>
        <p:nvPicPr>
          <p:cNvPr id="4" name="Picture 3" descr="__-41-51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7234" y="136524"/>
            <a:ext cx="1765167" cy="1765167"/>
          </a:xfrm>
          <a:prstGeom prst="rect">
            <a:avLst/>
          </a:prstGeom>
        </p:spPr>
      </p:pic>
    </p:spTree>
    <p:extLst>
      <p:ext uri="{BB962C8B-B14F-4D97-AF65-F5344CB8AC3E}">
        <p14:creationId xmlns:p14="http://schemas.microsoft.com/office/powerpoint/2010/main" val="35240998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sson template" id="{BE3FD172-D024-DE49-B586-228D6C825ABD}" vid="{007CADC7-1C8C-EE44-9A84-575C6C189305}"/>
    </a:ext>
  </a:extLst>
</a:theme>
</file>

<file path=docProps/app.xml><?xml version="1.0" encoding="utf-8"?>
<Properties xmlns="http://schemas.openxmlformats.org/officeDocument/2006/extended-properties" xmlns:vt="http://schemas.openxmlformats.org/officeDocument/2006/docPropsVTypes">
  <TotalTime>1838</TotalTime>
  <Words>1835</Words>
  <Application>Microsoft Macintosh PowerPoint</Application>
  <PresentationFormat>Widescreen</PresentationFormat>
  <Paragraphs>247</Paragraphs>
  <Slides>19</Slides>
  <Notes>0</Notes>
  <HiddenSlides>0</HiddenSlides>
  <MMClips>1</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19</vt:i4>
      </vt:variant>
    </vt:vector>
  </HeadingPairs>
  <TitlesOfParts>
    <vt:vector size="28" baseType="lpstr">
      <vt:lpstr>Arial</vt:lpstr>
      <vt:lpstr>Calibri</vt:lpstr>
      <vt:lpstr>Calibri Light</vt:lpstr>
      <vt:lpstr>Century Gothic</vt:lpstr>
      <vt:lpstr>Courier New</vt:lpstr>
      <vt:lpstr>Wingdings 2</vt:lpstr>
      <vt:lpstr>Office Theme</vt:lpstr>
      <vt:lpstr>1_Office Theme</vt:lpstr>
      <vt:lpstr>Saba</vt:lpstr>
      <vt:lpstr>PowerPoint Presentation</vt:lpstr>
      <vt:lpstr>PowerPoint Presentation</vt:lpstr>
      <vt:lpstr>PowerPoint Presentation</vt:lpstr>
      <vt:lpstr>PowerPoint Presentation</vt:lpstr>
      <vt:lpstr>Learning Intentions</vt:lpstr>
      <vt:lpstr>PowerPoint Presentation</vt:lpstr>
      <vt:lpstr>PowerPoint Presentation</vt:lpstr>
      <vt:lpstr>QUESTION 3</vt:lpstr>
      <vt:lpstr>QUESTION 3</vt:lpstr>
      <vt:lpstr>PowerPoint Presentation</vt:lpstr>
      <vt:lpstr>Learning Intentions</vt:lpstr>
      <vt:lpstr>PowerPoint Presentation</vt:lpstr>
      <vt:lpstr>Working Memory model</vt:lpstr>
      <vt:lpstr>PowerPoint Presentation</vt:lpstr>
      <vt:lpstr>Evaluating the Working Memory model</vt:lpstr>
      <vt:lpstr>Evaluating the Multi-Store model</vt:lpstr>
      <vt:lpstr>PowerPoint Presentation</vt:lpstr>
      <vt:lpstr>PowerPoint Presentation</vt:lpstr>
      <vt:lpstr>Exit Ticket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DAVEY Sarah [Joseph Banks Secondary College]</dc:creator>
  <cp:lastModifiedBy>DAVEY Sarah [Joseph Banks Secondary College]</cp:lastModifiedBy>
  <cp:revision>14</cp:revision>
  <dcterms:created xsi:type="dcterms:W3CDTF">2021-03-01T06:14:44Z</dcterms:created>
  <dcterms:modified xsi:type="dcterms:W3CDTF">2021-03-06T06:58:30Z</dcterms:modified>
</cp:coreProperties>
</file>
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92" r:id="rId3"/>
  </p:sldMasterIdLst>
  <p:notesMasterIdLst>
    <p:notesMasterId r:id="rId22"/>
  </p:notesMasterIdLst>
  <p:sldIdLst>
    <p:sldId id="262" r:id="rId4"/>
    <p:sldId id="404" r:id="rId5"/>
    <p:sldId id="419" r:id="rId6"/>
    <p:sldId id="420" r:id="rId7"/>
    <p:sldId id="359" r:id="rId8"/>
    <p:sldId id="408" r:id="rId9"/>
    <p:sldId id="427" r:id="rId10"/>
    <p:sldId id="429" r:id="rId11"/>
    <p:sldId id="426" r:id="rId12"/>
    <p:sldId id="410" r:id="rId13"/>
    <p:sldId id="411" r:id="rId14"/>
    <p:sldId id="412" r:id="rId15"/>
    <p:sldId id="435" r:id="rId16"/>
    <p:sldId id="399" r:id="rId17"/>
    <p:sldId id="434" r:id="rId18"/>
    <p:sldId id="432" r:id="rId19"/>
    <p:sldId id="433" r:id="rId20"/>
    <p:sldId id="34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56"/>
    <p:restoredTop sz="85714"/>
  </p:normalViewPr>
  <p:slideViewPr>
    <p:cSldViewPr snapToGrid="0" snapToObjects="1">
      <p:cViewPr varScale="1">
        <p:scale>
          <a:sx n="138" d="100"/>
          <a:sy n="138" d="100"/>
        </p:scale>
        <p:origin x="200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191.42957" units="1/cm"/>
          <inkml:channelProperty channel="Y" name="resolution" value="295.9982" units="1/cm"/>
          <inkml:channelProperty channel="T" name="resolution" value="1" units="1/dev"/>
        </inkml:channelProperties>
      </inkml:inkSource>
      <inkml:timestamp xml:id="ts0" timeString="2019-04-09T01:18:37.470"/>
    </inkml:context>
    <inkml:brush xml:id="br0">
      <inkml:brushProperty name="width" value="0.05292" units="cm"/>
      <inkml:brushProperty name="height" value="0.05292" units="cm"/>
      <inkml:brushProperty name="color" value="#0070C0"/>
    </inkml:brush>
  </inkml:definitions>
  <inkml:trace contextRef="#ctx0" brushRef="#br0">1958 7641 0,'0'0'15,"0"0"-15,0 0 16,0 0-16,0 0 16,23 189-16,-19-125 15,2 0-15,0 1 16,0-3-16,-3-5 16,0-2 15,0 5-16,-6-27-15,-2-17 16,-2-19-16,-3-14 16,1-12-16,3-9 15,2-10-15,3-5 16,-3 1-16,3 2 16,6-5-16,1 2 31,4-25-16,34-1 1,-6 7-16,9 19 16,-12 4-16,7 12 15,-1 8-15,-10 6 16,0 8-16,-1 11 16,3 1-16,-8 1 15</inkml:trace>
  <inkml:trace contextRef="#ctx0" brushRef="#br0" timeOffset="453.13">2562 7830 0,'0'0'15,"0"0"-15,0 0 16,0 0-16,129 2 16,-95-2-16,0-9 15,-10-2-15,-5-3 16,-5-8-16,-2 5 16,-4-3 15,-1-3-16,-37 9-15,-6 14 16,8 1-16,-2 11 16,-1 7-16,2 3 15,5 13-15,5 4 16,6 6-16,14 3 16,12-1-16,-3-2 31,-1 11-16,44-16 1,-11-18-16,13-13 16,-13-15-16,-9-17 15,17-15-15,-14-21 16,-8-15-16</inkml:trace>
  <inkml:trace contextRef="#ctx0" brushRef="#br0" timeOffset="875.06">3269 7159 0,'0'0'16,"0"0"-16,0 0 15,-1 187-15,2-122 16,-1 6-16,0-1 16,0-3-16,0 5 15,12-1-15,7-3 16,-2-9 15,-5 17-31,21-8 16,16-14-1,-11-14-15,-10-12 16,18-17-16,-11-1 16,-1-11-16,9-8 15,-12-10-15,-5 2 16,-8-11-16,-3-7 31,-4-21-15</inkml:trace>
  <inkml:trace contextRef="#ctx0" brushRef="#br0" timeOffset="1156.31">2965 7831 0,'0'0'0,"0"0"16,0 0-16,0 0 15,145-42-15,-108 23 16,7 3-16,-2 5 16,1-5-1,4-3-15,-12 2 16,2-1 15,6-15-15</inkml:trace>
  <inkml:trace contextRef="#ctx0" brushRef="#br0" timeOffset="1812.57">3771 7762 0,'0'0'16,"0"0"-16,0 0 15,45 149-15,-32-109 16,-2-1-16,-4-4 16,-1-4-16,-2-5 15,-1-5-15,0-6 16,0-4 15,-2-31-15,0-17-16,0-12 15,0 4-15,-1-4 16,0 4-16,0 3 16,0-2-16,0 2 15,11 0-15,11 3 16,-6 3-16,-3 4 31,15-3-15,22 16-1,-2 6-15,-4 6 16,-2 4 0,-10 3-16,-9 3 15,-4 10-15,-6-3 16,-2-3-16,-4-1 15,10 6-15,-4-1 32,0 18-17,8 6-15,-5 8 16,-6 1-16,-1 8 16,-3-13-16,0 5 15,-2-3-15,8-2 16,3-9-1,4-7-15,-3-6 16,-4-4 15,-3-33-15</inkml:trace>
  <inkml:trace contextRef="#ctx0" brushRef="#br0" timeOffset="1953.16">4378 7341 0,'0'0'16,"0"0"0</inkml:trace>
  <inkml:trace contextRef="#ctx0" brushRef="#br0" timeOffset="2843.85">4623 7902 0,'0'0'16,"0"0"-16,123-10 15,-92-3-15,-6 4 16,1-11 0,-5-2-16,-4-6 15,-8 1-15,-8-2 16,1 2-16,-2-4 31,-5 7-15,-16 7-1,3 13-15,-8 7 16,2 5-16,4 7 0,-1 6 16,7 4-16,0 4 15,5 3-15,8 1 0,4 4 16,6-1 15,6 21-15,20 9-16,-8-17 15,4-11-15,6-10 16,-9-6-16,-8-5 16,9-20-16,5-13 15,-7-5-15,-8-8 16,-5-2-16,-2-13 31,-4-18-15,9 5-1,-6 7-15,-3 12 16,-2 16-16,1 5 16,-1 5-16,2 13 15,8 8-15,-4 9 16,-3 12-16,-1 6 16,-3 4 15,-1 26-16,23-5-15,7-7 16,2-13-16,-8-17 16,-7-6-16,-5-5 15,3-13-15,0-20 16,1-4-16,-2-5 16,0-3-16,-3-11 46,-5-29-30,-8-6-16,-4 11 16,-3 5-16,0 11 15,-2 9-15,2 10 16,2 8-16,4 7 16,14 5-16,-5 6 15</inkml:trace>
  <inkml:trace contextRef="#ctx0" brushRef="#br0" timeOffset="3531.36">6154 7719 0,'0'0'0,"0"0"16,0 0-16,0 0 16,0 0-16,0 0 15,-95-102-15,78 96 16,-14 12-16,1 8 16,7 6-16,0 10 31,-3 30-16,21 7 1,1-9-16,10-4 16,13-13-16,-3-11 15,-5-6-15,-1-7 16,9-14-16,6-8 16,-5-11-16,-5-6 15,-3-14 16,-3-21-15,-3-7 0,-1 7-16,0 13 15,-3 10-15,1 9 16,-1 5-16,-1 6 16,0 3-16,0 9 15,-1 9-15,0 12 16,0-3 15,0 41-15,14 10-16,8-5 15,-6-6-15,7-14 16,8-2-16,-7-6 16,-7-11-16,21-14 15,-9-2-15,-8-17 16,-4-11-16,11-11 31</inkml:trace>
  <inkml:trace contextRef="#ctx0" brushRef="#br0" timeOffset="3937.61">6558 6979 0,'0'0'0,"0"0"16,0 0-16,0 0 15,0 0-15,30 165 16,-28-116-16,-1 7 15,0 5-15,-1 7 16,8-1-16,3-1 31,1 44-15,5 10 0,-4-6-16,-3-19 15,-2-13-15,-2-9 16,7-17-16,2-13 15,6-10-15,-4-9 16,-6-5 0,-1-4-16</inkml:trace>
  <inkml:trace contextRef="#ctx0" brushRef="#br0" timeOffset="63985.17">2153 10342 0,'0'0'16,"0"0"0,0 0-16,63 145 15,-63-71-15,-4 12 16,1 9-16,2-10 15,4-3-15,5-20 16,-1-2-16,-1-11 31,-2-17-15,-1-42 0,6-34-16,-3-10 15,0-13-15,3-7 16,-2-1-16,3-3 15,6 9-15,-4-6 16,-2 4-16,12 7 16,3 4 15,-4 28-15,9 43-16,2 25 15,-9 16-15,-4 11 16,-7 9-16,-1 1 15,-3 2-15,-2 3 16,8-19-16,-2-5 16,2-8-16,5-11 31,-4-32-15,3-51-16,-1-17 15,-6-6 1,-3-6-16,0 4 15,-2-2-15,1 7 16,1 0-16,8 3 16,-3 15-16,-3 4 15,-5 11 17,0 17-17,-1 41-15,12 17 16,1 20-16,3 15 15,-6 13-15,6 0 16,2-2-16,2-2 16,-4-7-16,3-9 15,-2-10-15,7-13 32,-6-41-17</inkml:trace>
  <inkml:trace contextRef="#ctx0" brushRef="#br0" timeOffset="66438.38">3161 10802 0,'0'0'0,"0"0"16,0 0-16,147-60 15,-109 32-15,-10-11 16,-8 2-16,-3 1 16,-5 2-16,-11 1 15,-6 8-15,-8 6 47,2 15-47,-21 29 16,-2 15-1,8 5-15,9 4 16,10 7-16,2-3 16,10 4-16,15 0 15,-5-5-15,9-8 16,6-6-16,2-9 31,7-25-15,14-48-16,-5-22 15,-10-9 1,-8 3-16,-7-11 16,-7 20-16,-3 14 15,-5 13-15,-1 8 16,-4 6-16,0 22 16,-1 14 15,0 56-31,6 13 15,1-4 1,6-7-16,-4-15 16,-3-15-16,-3-9 0,1-9 15,-2-15-15,-1-14 16,-1-15 0,1-17-16,-2-12 31,0-56-16,0 7 1,-1 12-16,0 20 16,8 16-16,3 20 15,2 19-15,5 12 16,-5 21-16,-2 12 16,1 14-16,-1-1 15,1 1 16,-2 11-15,11-12-16,-7-15 16,-1-23-16,-4-2 15,3-20-15,-1-16 16,-2-15-16,-1-3 16,0-4-16,1 12 15,1-8-15,5-1 31,-4 12-15,9 8 0,8 25-16,-6 14 15,-5 17-15,-5 13 16,-3 8-16,6 9 16,-3-5-16,2 9 15,0-6-15,4-4 16,-5-5 15,6-14-15,35-31-16,-4-21 15,4-26-15,-2 12 16,0-22-16,-3 13 16,4-3-16,-13-6 15,-11 13-15,4 8 16,-7 9-16,-6 4 31,-6-13-15,-24 7-1,-11 22-15,-4 1 0,-9 12 16,9 14-16,-7 14 16,-6 10-16,10 9 15,8-1 1,4 2-16,3-14 15,4 0 17,15-7-17,35-25-15,12-34 16,-10 0-16,-8-11 0,-4-11 16,-5-9-16,-7 5 15,-5 1-15,-7-2 16,-7 11-16,1 9 15,-1 7 17,-11-12-17,-7 2-15,6-1 16,6 9-16,17 4 16,-3 5-16,-2 3 0,0 2 15,8 2-15,10 1 16,-6 2-16,2 12 15,-2 6 17,-1 36-17,9 27 1,-2 2-16,-6 0 16,-2-9-16,-4-4 15,-1 1-15,-3-16 16,-1-14-16,-2-9 15,0-5-15,0-8 16,-2-3 15,-1-48-31,-4-36 16,2-13 0,2 11-16,2 4 15,4 11-15,5 13 16,-3-8-16,4 1 15,5 13-15,5 1 16,-7 3-16,7-6 31,1 9-15,8 9 0,-3 20-16,-4 8 15,-5 5-15,-5 14 16,-4 9-16,-2 8 15,-4 4-15,-1 8 16,0-2-16,6 0 16,-3-1 15,4-7-15,27-9-16,4-19 15,-5-22-15,-1 1 16,2-28-16,-12-1 15,3-12-15,-2-1 16,-5-5-16,-3 11 16,1 0-16,-3 5 47,-5 11-47,-2 32 15,6 16 1,2 25-16,5 17 15,-8 7-15,4 8 16,1-6-16,0 12 16,2 10-16,-6-3 15,-5 1-15,-2-5 32,-2 37-17,-41 0 1,-7-31-16,-4-21 15,4-19-15,-4-23 16,1-20-16,1-9 16,5-31-16,-1-10 15,9-2-15,6-21 16,7 3 15,3-19-15,47 5-16,12 17 15,5 14-15,5-3 16,10 10-16,-2 9 16,2 20-16,2 1 15,-3 2-15,-4 0 16</inkml:trace>
  <inkml:trace contextRef="#ctx0" brushRef="#br0" timeOffset="114797.09">1639 13927 0,'0'0'16,"0"0"-16,0 0 15,0 0-15,131 12 16,-89-24-16,-6-4 15,4-5-15,-2-9 16,-2 8-16,-2-9 16,1-2 15,-7-21-31,-33 6 16,2-2-16,-24 14 15,7 19-15,-11 5 16,-1 2-16,3 17 15,0 14-15,3 4 16,4 7-16,4 8 16,6 13 15,4 16-15,26 13-16,13-20 15,-5-14-15,8-13 16,-1-7-16,3-13 15,3-15-15,-1-13 16,3-11-16,-5-9 16,-9-8-16,8-3 31,3-20-15,-10 15-1,-7 13-15,-4 8 16,-4 6-16,-4 15 15,-3 10-15,0 12 16,-3 13-16,1 6 16,-3 5-16,1 7 15,-1-11 17,0 21-17,15-13-15,-4-10 16,-2-18-1,7-13-15,-6-11 16,-2-15-16,-1-8 16,-4-9-16,1-2 15,-3-5-15,0-2 16,0 3 15,1-10-31,21 14 16,10 9-16,2 20 15,-10 14-15,-5 14 16,19 21-16,-10 4 16,-8 7-1,-6 19-15,-2-5 16,-4 5-16,-3-16 31,0 8-15,22-33-16,2-15 15,7-21-15,-9 1 16,-7-27-16,20 9 16,-11-22-16</inkml:trace>
  <inkml:trace contextRef="#ctx0" brushRef="#br0" timeOffset="115453.35">3154 13601 0,'0'0'0,"0"0"16,0 0-16,0 0 15,0 0-15,0 0 16,0 0-16,0 0 16,-121-25-16,103 51 15,1 14-15,-1 0 32,0 29-17,15 11 1,13-6-1,10-17-15,-5-14 16,21-10-16,-9-17 16,5-11-16,4-15 15,-8-10-15,18-12 16,-12-2-16,9-12 31,-3-19-15,15 3-16,-12 7 15,-11 5-15,-8 11 16,-5 9-16,-7 9 16,-2-6-1,-12 16-15,-13 3 16,3 2-16,-8 11 16,-8 9 15,6 36-31,-3 27 15,14 2-15,3-19 16,16-15-16,8-10 16,5-8-16,11-6 15,-8-5-15,18-15 16,-10-11-16,-7-6 16,4-8 15,-1-27-16,-17-2-15,-9 2 16,-11 8-16,-10 5 16,3 7-16,5-1 15,1 8-15,4 5 16,1 6-16</inkml:trace>
  <inkml:trace contextRef="#ctx0" brushRef="#br0" timeOffset="116297.17">4164 13528 0,'0'0'16,"0"0"-16,0 0 15,0 0-15,0 0 16,-134 9 0,106 18-16,-6 4 15,8 12-15,6 3 16,6 5-16,1-2 31,4 7-15,27-12-16,18-11 15,-7-8-15,1-19 16,9-19-16,-10-5 16,-6-15-16,-6-9 15,4-4-15,-2-19 16,-5-3-16,-3 6 47,-3-45-47,-13 6 15,2 14-15,1 22 16,0 14-16,1 13 16,0 9-16,0 7 0,0 22 15,1 13-15,-7 15 16,1 5-16,2 21 31,8 48-15,5 4-1,16-2 1,-8-19-16,9-20 16,7-15-16,-9-12 15,-5-10-15,7-5 0,5-17 16,-7-12-16,-5-8 16,-5-15 15,-1-24-16,-5 3-15,-2 13 16,0 20 0,-3 22-1,0 8-15,-2 7 16,12 6-16,10 2 16,-7-2-16,-3-1 15,-3-5-15,-3-6 31,0-21-15,-3-29 0,0-21-16</inkml:trace>
  <inkml:trace contextRef="#ctx0" brushRef="#br0" timeOffset="116453.37">4467 13119 0,'0'0'0,"0"0"16,0 0 0,0 0-16,0 0 15,0 0 1,0 0-16</inkml:trace>
  <inkml:trace contextRef="#ctx0" brushRef="#br0" timeOffset="117687.77">4669 13529 0,'0'0'16,"0"0"-16,0 0 0,0 0 16,54 161-16,-52-141 15,1-4-15,-1-4 16,-2-3-16,1-2 0,0-2 16,7-1 15,-2-30-31,-1-24 15,-1-17 1,5 16 0,4 0-1,9 6-15,-6-1 16,3 10 0,6 22-16,2 21 15,-8-2 1,5 29-16,2 5 31,2 37-15,-9 10-1,7-9-15,-2-13 16,5-9 0,-7-5-16,-6-13 15,3-19-15,7-11 16,0-14-16,1-8 15,11-17-15,-9-4 32,15-38-17,16 2-15,-16 2 16,-9 17-16,-10 4 16,-5 5-16,-5-3 15,-8 11-15,-9 10 16,-12 5-1,5 5-15,-10 17 16,-10 16 15,0 26-31,-19 20 16,11-2 0,12-8-16,12-11 15,4-3-15,2-17 16,12-11-16,14-8 15,-6-11-15,-3-8 16,9-16-16,9 8 31,-7-24-15,1 0 0,-3 12-16,-3 20 15,2 11-15,0 23 16,-1 6-16,-3 14 15,-4 11-15,-3 10 16,-1 3-16,-1 15 16,-2 4 15,0 38-15,-5 18-16,-21-11 15,6-30-15,-4-13 16,-11-17-16,9-15 15,-14-13-15,3-12 16,-4-16-16,-3-3 16,4-16-16,-9-13 31,11-25-15,-16-9-1,11-5-15,10 4 16,9 3-1,11 3-15,12 4 16,8 1-16,6 10 16,12 10-16,1 6 15,9-5-15,-1 6 32,8 4-17,43 14-15,-2 0 16,-15 1-16,-7 0 15,-8-10-15,-13-4 16,-5-11-16,-6-1 16,-5-16-1,-17 10-15</inkml:trace>
  <inkml:trace contextRef="#ctx0" brushRef="#br0" timeOffset="139982.87">2466 16440 0,'0'0'16,"0"0"-16,0 0 15,0 0 1,0 0-16,-112-91 15,78 95-15,-1-1 16,-1 11-16,9 2 16,6 9-16,6 1 31,9 17-15,43 19-16,3-6 15,3 7-15,-5-6 0,-2-7 16,-5 3-16,-5-14 15,-5 1-15,-8-2 16,-8 3-16,-6-10 16,-6 1 15,-9-3-15,-34-10-16,-1-15 15,10-13-15,8-16 16,12-7-16,12-8 15,9-7-15,9-2 16,12-8-16,19 3 16,-2-15-16,9 16 31,11-47-15,36-5-1,-24 25-15,9 19 16,-19 27-16,-24 15 15,-9 5-15,-8 4 16,-4 11-16,-5 1 16,-3 13-16,-2 12 15,0 5 17,-2 40-32,1 29 15,1-2-15,7-2 16,-2-14-1,-4-6-15,5-5 16,3-7-16,-1-4 16,2-15-16,1-3 15,-4-17-15,-2-6 32,8-36-17,10-37-15,-8-5 16,-5 3-16,-1-6 15,-30 15-15,5-2 16,-21-5-16,8 12 16,4 11-1,-20 5-15,10 7 16,-15-12 15,9 12-31,-22 17 16,12-2-16,13 2 15,15-8-15,4 0 16,28 2-16,-4-1 16,22 0-16,3 2 15,5 1-15,9 0 16,-6 1 15,14-1-15,19 1-16,-11-2 15,-15 1-15,-12-5 16,-9 2-16,-11 2 16,-7 1-16,-12 2 15,-1 1-15,2-1 16,-10 2 0,-6 9 15,-3 29-31,-5 18 15,16-4 1,2 0-16,1-12 0,13-9 16,10-1-16,-3-5 15,-5-7-15,8-5 0,0-8 16,6-2-16,-5 0 31,-6-31-15,-2-8-1,-3-5-15,-2 9 16,-8-2-16,-4 1 16,0 3-16,1 2 15,5-4-15,11 4 16,-4 1-16,-2-4 16,-2 9 15,0 17-16,24 33-15,-7 10 16,-5 6-16,-4 4 16,-2 2-16,-3 4 15,-1-12-15,0-1 0,-2-7 16,-1-6-16,0-6 16,-1-5 15,0-8-16,0-23-15,-1-15 16,0-1-16,9-5 16,3 0-16,0-7 15,5 5-15,-6 0 16,-1 9-16,-3 7 16,9 6-16,3 3 46,3 3-46,20 14 16,6 5-16,-5 10 16,14-4-16,-14-3 15,3-3-15,1-2 16,-13-2-16,1-1 16,-4-2-16,-4 1 15,-5-1 16,-6-30-15,-20-3-16,-12 7 16,-8 15-16,-9 2 15,-1 14-15,-3 17 16,-5-7-16,10 14 16,8 4-16,6-8 15,4 5-15,14-2 31,8-3-15,29-16 0,-1-15-16,-4-8 15,-3-7-15,-1-6 16,-7-3 0,-4 2-16,-5 6 15,-2 5-15,-3 4 16,-2 3-16,-1 15 31,-1 19-15,-1 20-16,0 2 15,6-5-15,3-6 16,3-6-16,4-6 0,-4-5 16,8-6-16,7-4 15,-6-5-15,6-5 16,4-7 15,-7-22-15,29-19-16,-8 1 15,-10-3 1,-13 5-16,-19 3 16,-1 8-1,-25 22-15,-6 20 16,-6-2-1,1 16 1,5 7-16,7-6 31,13-7-15,26-14 0,9-10-1,5-7-15,3-13 16,3 0-1,-9 9-15,1 7 0,-6 22 16,-4 7 0,-4 15-16,-4 23 15,-1 16 17,-3 42-17,-6 18 1,-2-16-16,-10-16 15,2-20 1,-7-21 0,-12-20-16,6-18 15,-6-26 1,-7-16-16,7-8 16,7 1-1,5-11 16,4-11-15,24-9-16,22 15 16,7 1-1,10 5 1,10 3-16,0 1 16,6-3-1,-2-1-15,-4 0 16,-7-1-1,-9-9 1,-7 12 15,-10-15-31,-24 7 16,-14 10 0,-9 9-16,-13 15 15,-6 23 1,-5 10-1,5 12-15,8 4 16,8 8 0,11 0-1,14-2-15,14-1 32,10-10-17,51-9 1,-5-14-16,0-5 15,-6-4-15,-9-2 16,-12 0-16,-2-1 16,-11-1-16,-8-2 0,-9-5 15,-2 1-15,-5 2 32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D0D9C0-2159-4D49-96B1-E21AD93A4AD1}" type="datetimeFigureOut">
              <a:rPr lang="en-US" smtClean="0"/>
              <a:t>3/3/21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32E1EC-A831-0046-9224-CC703CB8BD66}" type="slidenum">
              <a:rPr lang="en-US" smtClean="0"/>
              <a:t>‹#›</a:t>
            </a:fld>
            <a:endParaRPr lang="en-US"/>
          </a:p>
        </p:txBody>
      </p:sp>
    </p:spTree>
    <p:extLst>
      <p:ext uri="{BB962C8B-B14F-4D97-AF65-F5344CB8AC3E}">
        <p14:creationId xmlns:p14="http://schemas.microsoft.com/office/powerpoint/2010/main" val="267892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32E1EC-A831-0046-9224-CC703CB8BD66}" type="slidenum">
              <a:rPr lang="en-US" smtClean="0"/>
              <a:t>8</a:t>
            </a:fld>
            <a:endParaRPr lang="en-US"/>
          </a:p>
        </p:txBody>
      </p:sp>
    </p:spTree>
    <p:extLst>
      <p:ext uri="{BB962C8B-B14F-4D97-AF65-F5344CB8AC3E}">
        <p14:creationId xmlns:p14="http://schemas.microsoft.com/office/powerpoint/2010/main" val="3085079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questions: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the three divisions of the brain?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is the oldest part of the brain?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201B88CF-89E8-E740-B754-A3753DCFCD84}" type="slidenum">
              <a:rPr lang="en-US" smtClean="0"/>
              <a:t>14</a:t>
            </a:fld>
            <a:endParaRPr lang="en-US"/>
          </a:p>
        </p:txBody>
      </p:sp>
    </p:spTree>
    <p:extLst>
      <p:ext uri="{BB962C8B-B14F-4D97-AF65-F5344CB8AC3E}">
        <p14:creationId xmlns:p14="http://schemas.microsoft.com/office/powerpoint/2010/main" val="419032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questions: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the three divisions of the brain?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is the oldest part of the brain?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201B88CF-89E8-E740-B754-A3753DCFCD84}" type="slidenum">
              <a:rPr lang="en-US" smtClean="0"/>
              <a:t>15</a:t>
            </a:fld>
            <a:endParaRPr lang="en-US"/>
          </a:p>
        </p:txBody>
      </p:sp>
    </p:spTree>
    <p:extLst>
      <p:ext uri="{BB962C8B-B14F-4D97-AF65-F5344CB8AC3E}">
        <p14:creationId xmlns:p14="http://schemas.microsoft.com/office/powerpoint/2010/main" val="2754296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questions: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the three divisions of the brain?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is the oldest part of the brain?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201B88CF-89E8-E740-B754-A3753DCFCD84}" type="slidenum">
              <a:rPr lang="en-US" smtClean="0"/>
              <a:t>16</a:t>
            </a:fld>
            <a:endParaRPr lang="en-US"/>
          </a:p>
        </p:txBody>
      </p:sp>
    </p:spTree>
    <p:extLst>
      <p:ext uri="{BB962C8B-B14F-4D97-AF65-F5344CB8AC3E}">
        <p14:creationId xmlns:p14="http://schemas.microsoft.com/office/powerpoint/2010/main" val="444327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questions: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the three divisions of the brain?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is the oldest part of the brain?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201B88CF-89E8-E740-B754-A3753DCFCD84}" type="slidenum">
              <a:rPr lang="en-US" smtClean="0"/>
              <a:t>17</a:t>
            </a:fld>
            <a:endParaRPr lang="en-US"/>
          </a:p>
        </p:txBody>
      </p:sp>
    </p:spTree>
    <p:extLst>
      <p:ext uri="{BB962C8B-B14F-4D97-AF65-F5344CB8AC3E}">
        <p14:creationId xmlns:p14="http://schemas.microsoft.com/office/powerpoint/2010/main" val="457707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75062-DF0B-4543-8818-77580940159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0EBEC5B-9D57-954B-9F15-528A3914A2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9435AB6-D5C3-1746-84AD-D97F3DE89CF2}"/>
              </a:ext>
            </a:extLst>
          </p:cNvPr>
          <p:cNvSpPr>
            <a:spLocks noGrp="1"/>
          </p:cNvSpPr>
          <p:nvPr>
            <p:ph type="dt" sz="half" idx="10"/>
          </p:nvPr>
        </p:nvSpPr>
        <p:spPr/>
        <p:txBody>
          <a:bodyPr/>
          <a:lstStyle/>
          <a:p>
            <a:fld id="{DFF2BE9E-5D73-B148-8D30-EDA62A1B0BFE}" type="datetimeFigureOut">
              <a:rPr lang="en-US" smtClean="0"/>
              <a:t>3/3/21</a:t>
            </a:fld>
            <a:endParaRPr lang="en-US"/>
          </a:p>
        </p:txBody>
      </p:sp>
      <p:sp>
        <p:nvSpPr>
          <p:cNvPr id="5" name="Footer Placeholder 4">
            <a:extLst>
              <a:ext uri="{FF2B5EF4-FFF2-40B4-BE49-F238E27FC236}">
                <a16:creationId xmlns:a16="http://schemas.microsoft.com/office/drawing/2014/main" id="{9075D2BB-965C-414B-A4CF-63431920FA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F661F0-36F4-9D42-8D7D-C5A787EA4F54}"/>
              </a:ext>
            </a:extLst>
          </p:cNvPr>
          <p:cNvSpPr>
            <a:spLocks noGrp="1"/>
          </p:cNvSpPr>
          <p:nvPr>
            <p:ph type="sldNum" sz="quarter" idx="12"/>
          </p:nvPr>
        </p:nvSpPr>
        <p:spPr/>
        <p:txBody>
          <a:bodyPr/>
          <a:lstStyle/>
          <a:p>
            <a:fld id="{2407C622-6112-3D49-AAFB-44FA4F4FA711}" type="slidenum">
              <a:rPr lang="en-US" smtClean="0"/>
              <a:t>‹#›</a:t>
            </a:fld>
            <a:endParaRPr lang="en-US"/>
          </a:p>
        </p:txBody>
      </p:sp>
    </p:spTree>
    <p:extLst>
      <p:ext uri="{BB962C8B-B14F-4D97-AF65-F5344CB8AC3E}">
        <p14:creationId xmlns:p14="http://schemas.microsoft.com/office/powerpoint/2010/main" val="3236938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FF85D-17E9-8041-B388-5A7394E532C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59AEAC6-6367-644C-A085-2CF6928E2DE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CEF6272-2A78-0043-9359-2C425CAC1B17}"/>
              </a:ext>
            </a:extLst>
          </p:cNvPr>
          <p:cNvSpPr>
            <a:spLocks noGrp="1"/>
          </p:cNvSpPr>
          <p:nvPr>
            <p:ph type="dt" sz="half" idx="10"/>
          </p:nvPr>
        </p:nvSpPr>
        <p:spPr/>
        <p:txBody>
          <a:bodyPr/>
          <a:lstStyle/>
          <a:p>
            <a:fld id="{DFF2BE9E-5D73-B148-8D30-EDA62A1B0BFE}" type="datetimeFigureOut">
              <a:rPr lang="en-US" smtClean="0"/>
              <a:t>3/3/21</a:t>
            </a:fld>
            <a:endParaRPr lang="en-US"/>
          </a:p>
        </p:txBody>
      </p:sp>
      <p:sp>
        <p:nvSpPr>
          <p:cNvPr id="5" name="Footer Placeholder 4">
            <a:extLst>
              <a:ext uri="{FF2B5EF4-FFF2-40B4-BE49-F238E27FC236}">
                <a16:creationId xmlns:a16="http://schemas.microsoft.com/office/drawing/2014/main" id="{265112F2-2E69-454D-9A59-EC3CBBF19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303AB5-3C9B-FD46-A9F7-3E6EF1F45EDD}"/>
              </a:ext>
            </a:extLst>
          </p:cNvPr>
          <p:cNvSpPr>
            <a:spLocks noGrp="1"/>
          </p:cNvSpPr>
          <p:nvPr>
            <p:ph type="sldNum" sz="quarter" idx="12"/>
          </p:nvPr>
        </p:nvSpPr>
        <p:spPr/>
        <p:txBody>
          <a:bodyPr/>
          <a:lstStyle/>
          <a:p>
            <a:fld id="{2407C622-6112-3D49-AAFB-44FA4F4FA711}" type="slidenum">
              <a:rPr lang="en-US" smtClean="0"/>
              <a:t>‹#›</a:t>
            </a:fld>
            <a:endParaRPr lang="en-US"/>
          </a:p>
        </p:txBody>
      </p:sp>
    </p:spTree>
    <p:extLst>
      <p:ext uri="{BB962C8B-B14F-4D97-AF65-F5344CB8AC3E}">
        <p14:creationId xmlns:p14="http://schemas.microsoft.com/office/powerpoint/2010/main" val="997056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39039-0EDB-BB4A-B0DF-00C77990EB7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2C1AC94-0A02-E04F-98AE-19C175376B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EE6E181-F0DF-2649-8280-5DBFE3ED2A2E}"/>
              </a:ext>
            </a:extLst>
          </p:cNvPr>
          <p:cNvSpPr>
            <a:spLocks noGrp="1"/>
          </p:cNvSpPr>
          <p:nvPr>
            <p:ph type="dt" sz="half" idx="10"/>
          </p:nvPr>
        </p:nvSpPr>
        <p:spPr/>
        <p:txBody>
          <a:bodyPr/>
          <a:lstStyle/>
          <a:p>
            <a:fld id="{DFF2BE9E-5D73-B148-8D30-EDA62A1B0BFE}" type="datetimeFigureOut">
              <a:rPr lang="en-US" smtClean="0"/>
              <a:t>3/3/21</a:t>
            </a:fld>
            <a:endParaRPr lang="en-US"/>
          </a:p>
        </p:txBody>
      </p:sp>
      <p:sp>
        <p:nvSpPr>
          <p:cNvPr id="5" name="Footer Placeholder 4">
            <a:extLst>
              <a:ext uri="{FF2B5EF4-FFF2-40B4-BE49-F238E27FC236}">
                <a16:creationId xmlns:a16="http://schemas.microsoft.com/office/drawing/2014/main" id="{F098B57D-9640-8046-B6B0-4B4C262B8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083FE5-970D-B74D-82A4-E19261A23A3A}"/>
              </a:ext>
            </a:extLst>
          </p:cNvPr>
          <p:cNvSpPr>
            <a:spLocks noGrp="1"/>
          </p:cNvSpPr>
          <p:nvPr>
            <p:ph type="sldNum" sz="quarter" idx="12"/>
          </p:nvPr>
        </p:nvSpPr>
        <p:spPr/>
        <p:txBody>
          <a:bodyPr/>
          <a:lstStyle/>
          <a:p>
            <a:fld id="{2407C622-6112-3D49-AAFB-44FA4F4FA711}" type="slidenum">
              <a:rPr lang="en-US" smtClean="0"/>
              <a:t>‹#›</a:t>
            </a:fld>
            <a:endParaRPr lang="en-US"/>
          </a:p>
        </p:txBody>
      </p:sp>
    </p:spTree>
    <p:extLst>
      <p:ext uri="{BB962C8B-B14F-4D97-AF65-F5344CB8AC3E}">
        <p14:creationId xmlns:p14="http://schemas.microsoft.com/office/powerpoint/2010/main" val="4159379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F9924-7C35-F645-AF99-E558BD437D6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08EC8C8-1C34-7F44-8ECF-B954D16E4E8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BD4238A-E34C-844C-964F-9D89DA8DB4F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4712796-CC3D-524E-814B-CA958D87FB67}"/>
              </a:ext>
            </a:extLst>
          </p:cNvPr>
          <p:cNvSpPr>
            <a:spLocks noGrp="1"/>
          </p:cNvSpPr>
          <p:nvPr>
            <p:ph type="dt" sz="half" idx="10"/>
          </p:nvPr>
        </p:nvSpPr>
        <p:spPr/>
        <p:txBody>
          <a:bodyPr/>
          <a:lstStyle/>
          <a:p>
            <a:fld id="{DFF2BE9E-5D73-B148-8D30-EDA62A1B0BFE}" type="datetimeFigureOut">
              <a:rPr lang="en-US" smtClean="0"/>
              <a:t>3/3/21</a:t>
            </a:fld>
            <a:endParaRPr lang="en-US"/>
          </a:p>
        </p:txBody>
      </p:sp>
      <p:sp>
        <p:nvSpPr>
          <p:cNvPr id="6" name="Footer Placeholder 5">
            <a:extLst>
              <a:ext uri="{FF2B5EF4-FFF2-40B4-BE49-F238E27FC236}">
                <a16:creationId xmlns:a16="http://schemas.microsoft.com/office/drawing/2014/main" id="{DB816617-CD6A-F844-ABA8-802AAA3D8D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93E9E9-CEBB-994D-AC8A-FB32AA717259}"/>
              </a:ext>
            </a:extLst>
          </p:cNvPr>
          <p:cNvSpPr>
            <a:spLocks noGrp="1"/>
          </p:cNvSpPr>
          <p:nvPr>
            <p:ph type="sldNum" sz="quarter" idx="12"/>
          </p:nvPr>
        </p:nvSpPr>
        <p:spPr/>
        <p:txBody>
          <a:bodyPr/>
          <a:lstStyle/>
          <a:p>
            <a:fld id="{2407C622-6112-3D49-AAFB-44FA4F4FA711}" type="slidenum">
              <a:rPr lang="en-US" smtClean="0"/>
              <a:t>‹#›</a:t>
            </a:fld>
            <a:endParaRPr lang="en-US"/>
          </a:p>
        </p:txBody>
      </p:sp>
    </p:spTree>
    <p:extLst>
      <p:ext uri="{BB962C8B-B14F-4D97-AF65-F5344CB8AC3E}">
        <p14:creationId xmlns:p14="http://schemas.microsoft.com/office/powerpoint/2010/main" val="1226648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E1F74-C385-ED49-A1F5-3BBEF30A601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362C470-352B-6246-B356-4B810491A8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644FC9D-7AB1-A84A-B08A-5DCA43FD227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42D3F5F-4823-9840-9FB1-8E31F684F7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8517AD2-A1E0-3648-B297-74CE4ADCCCE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89F0816-9BDD-2D49-8BEB-AF0AB6853E91}"/>
              </a:ext>
            </a:extLst>
          </p:cNvPr>
          <p:cNvSpPr>
            <a:spLocks noGrp="1"/>
          </p:cNvSpPr>
          <p:nvPr>
            <p:ph type="dt" sz="half" idx="10"/>
          </p:nvPr>
        </p:nvSpPr>
        <p:spPr/>
        <p:txBody>
          <a:bodyPr/>
          <a:lstStyle/>
          <a:p>
            <a:fld id="{DFF2BE9E-5D73-B148-8D30-EDA62A1B0BFE}" type="datetimeFigureOut">
              <a:rPr lang="en-US" smtClean="0"/>
              <a:t>3/3/21</a:t>
            </a:fld>
            <a:endParaRPr lang="en-US"/>
          </a:p>
        </p:txBody>
      </p:sp>
      <p:sp>
        <p:nvSpPr>
          <p:cNvPr id="8" name="Footer Placeholder 7">
            <a:extLst>
              <a:ext uri="{FF2B5EF4-FFF2-40B4-BE49-F238E27FC236}">
                <a16:creationId xmlns:a16="http://schemas.microsoft.com/office/drawing/2014/main" id="{DD21561A-54F7-6D43-AAE3-45B80CBD60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5EEEAB-A158-0148-8963-784990F6FA3E}"/>
              </a:ext>
            </a:extLst>
          </p:cNvPr>
          <p:cNvSpPr>
            <a:spLocks noGrp="1"/>
          </p:cNvSpPr>
          <p:nvPr>
            <p:ph type="sldNum" sz="quarter" idx="12"/>
          </p:nvPr>
        </p:nvSpPr>
        <p:spPr/>
        <p:txBody>
          <a:bodyPr/>
          <a:lstStyle/>
          <a:p>
            <a:fld id="{2407C622-6112-3D49-AAFB-44FA4F4FA711}" type="slidenum">
              <a:rPr lang="en-US" smtClean="0"/>
              <a:t>‹#›</a:t>
            </a:fld>
            <a:endParaRPr lang="en-US"/>
          </a:p>
        </p:txBody>
      </p:sp>
    </p:spTree>
    <p:extLst>
      <p:ext uri="{BB962C8B-B14F-4D97-AF65-F5344CB8AC3E}">
        <p14:creationId xmlns:p14="http://schemas.microsoft.com/office/powerpoint/2010/main" val="2727646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900D6-AD68-9445-8497-BD383128471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03DFC68-733E-2148-A9DF-67768ADF0811}"/>
              </a:ext>
            </a:extLst>
          </p:cNvPr>
          <p:cNvSpPr>
            <a:spLocks noGrp="1"/>
          </p:cNvSpPr>
          <p:nvPr>
            <p:ph type="dt" sz="half" idx="10"/>
          </p:nvPr>
        </p:nvSpPr>
        <p:spPr/>
        <p:txBody>
          <a:bodyPr/>
          <a:lstStyle/>
          <a:p>
            <a:fld id="{DFF2BE9E-5D73-B148-8D30-EDA62A1B0BFE}" type="datetimeFigureOut">
              <a:rPr lang="en-US" smtClean="0"/>
              <a:t>3/3/21</a:t>
            </a:fld>
            <a:endParaRPr lang="en-US"/>
          </a:p>
        </p:txBody>
      </p:sp>
      <p:sp>
        <p:nvSpPr>
          <p:cNvPr id="4" name="Footer Placeholder 3">
            <a:extLst>
              <a:ext uri="{FF2B5EF4-FFF2-40B4-BE49-F238E27FC236}">
                <a16:creationId xmlns:a16="http://schemas.microsoft.com/office/drawing/2014/main" id="{F4F32F10-B446-9F4A-B55B-0AD229B7F2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28F643-417A-C745-886F-CDB7F2360EA9}"/>
              </a:ext>
            </a:extLst>
          </p:cNvPr>
          <p:cNvSpPr>
            <a:spLocks noGrp="1"/>
          </p:cNvSpPr>
          <p:nvPr>
            <p:ph type="sldNum" sz="quarter" idx="12"/>
          </p:nvPr>
        </p:nvSpPr>
        <p:spPr/>
        <p:txBody>
          <a:bodyPr/>
          <a:lstStyle/>
          <a:p>
            <a:fld id="{2407C622-6112-3D49-AAFB-44FA4F4FA711}" type="slidenum">
              <a:rPr lang="en-US" smtClean="0"/>
              <a:t>‹#›</a:t>
            </a:fld>
            <a:endParaRPr lang="en-US"/>
          </a:p>
        </p:txBody>
      </p:sp>
    </p:spTree>
    <p:extLst>
      <p:ext uri="{BB962C8B-B14F-4D97-AF65-F5344CB8AC3E}">
        <p14:creationId xmlns:p14="http://schemas.microsoft.com/office/powerpoint/2010/main" val="4864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8C904E-30A5-E143-AE3E-24F55C68BD8E}"/>
              </a:ext>
            </a:extLst>
          </p:cNvPr>
          <p:cNvSpPr>
            <a:spLocks noGrp="1"/>
          </p:cNvSpPr>
          <p:nvPr>
            <p:ph type="dt" sz="half" idx="10"/>
          </p:nvPr>
        </p:nvSpPr>
        <p:spPr/>
        <p:txBody>
          <a:bodyPr/>
          <a:lstStyle/>
          <a:p>
            <a:fld id="{DFF2BE9E-5D73-B148-8D30-EDA62A1B0BFE}" type="datetimeFigureOut">
              <a:rPr lang="en-US" smtClean="0"/>
              <a:t>3/3/21</a:t>
            </a:fld>
            <a:endParaRPr lang="en-US"/>
          </a:p>
        </p:txBody>
      </p:sp>
      <p:sp>
        <p:nvSpPr>
          <p:cNvPr id="3" name="Footer Placeholder 2">
            <a:extLst>
              <a:ext uri="{FF2B5EF4-FFF2-40B4-BE49-F238E27FC236}">
                <a16:creationId xmlns:a16="http://schemas.microsoft.com/office/drawing/2014/main" id="{C6C81BE4-B550-A04A-861F-C8D20F6B6E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6612D4-A04E-E14B-AF34-FA2D12B927A3}"/>
              </a:ext>
            </a:extLst>
          </p:cNvPr>
          <p:cNvSpPr>
            <a:spLocks noGrp="1"/>
          </p:cNvSpPr>
          <p:nvPr>
            <p:ph type="sldNum" sz="quarter" idx="12"/>
          </p:nvPr>
        </p:nvSpPr>
        <p:spPr/>
        <p:txBody>
          <a:bodyPr/>
          <a:lstStyle/>
          <a:p>
            <a:fld id="{2407C622-6112-3D49-AAFB-44FA4F4FA711}" type="slidenum">
              <a:rPr lang="en-US" smtClean="0"/>
              <a:t>‹#›</a:t>
            </a:fld>
            <a:endParaRPr lang="en-US"/>
          </a:p>
        </p:txBody>
      </p:sp>
    </p:spTree>
    <p:extLst>
      <p:ext uri="{BB962C8B-B14F-4D97-AF65-F5344CB8AC3E}">
        <p14:creationId xmlns:p14="http://schemas.microsoft.com/office/powerpoint/2010/main" val="1197701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303E-E56E-0447-ADE5-7A89B6F0E54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DCCAB9C-74F6-9040-BB8D-576D4E3B0C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B4C9476-53BE-7A4D-AD8C-040D8BDEE3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E90A222-6C71-6C42-9798-B199D95F9368}"/>
              </a:ext>
            </a:extLst>
          </p:cNvPr>
          <p:cNvSpPr>
            <a:spLocks noGrp="1"/>
          </p:cNvSpPr>
          <p:nvPr>
            <p:ph type="dt" sz="half" idx="10"/>
          </p:nvPr>
        </p:nvSpPr>
        <p:spPr/>
        <p:txBody>
          <a:bodyPr/>
          <a:lstStyle/>
          <a:p>
            <a:fld id="{DFF2BE9E-5D73-B148-8D30-EDA62A1B0BFE}" type="datetimeFigureOut">
              <a:rPr lang="en-US" smtClean="0"/>
              <a:t>3/3/21</a:t>
            </a:fld>
            <a:endParaRPr lang="en-US"/>
          </a:p>
        </p:txBody>
      </p:sp>
      <p:sp>
        <p:nvSpPr>
          <p:cNvPr id="6" name="Footer Placeholder 5">
            <a:extLst>
              <a:ext uri="{FF2B5EF4-FFF2-40B4-BE49-F238E27FC236}">
                <a16:creationId xmlns:a16="http://schemas.microsoft.com/office/drawing/2014/main" id="{D63CF0E2-3077-6449-8483-BEDDE32DB2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0E6AD6-4BAF-3F4A-B59A-AA3DA148D2CC}"/>
              </a:ext>
            </a:extLst>
          </p:cNvPr>
          <p:cNvSpPr>
            <a:spLocks noGrp="1"/>
          </p:cNvSpPr>
          <p:nvPr>
            <p:ph type="sldNum" sz="quarter" idx="12"/>
          </p:nvPr>
        </p:nvSpPr>
        <p:spPr/>
        <p:txBody>
          <a:bodyPr/>
          <a:lstStyle/>
          <a:p>
            <a:fld id="{2407C622-6112-3D49-AAFB-44FA4F4FA711}" type="slidenum">
              <a:rPr lang="en-US" smtClean="0"/>
              <a:t>‹#›</a:t>
            </a:fld>
            <a:endParaRPr lang="en-US"/>
          </a:p>
        </p:txBody>
      </p:sp>
    </p:spTree>
    <p:extLst>
      <p:ext uri="{BB962C8B-B14F-4D97-AF65-F5344CB8AC3E}">
        <p14:creationId xmlns:p14="http://schemas.microsoft.com/office/powerpoint/2010/main" val="1465731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D2967-BC8A-A24D-8451-2B4CFEE5F32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FEDED1C-CB4B-024B-A600-B6AFCA4D24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6320DC-A020-BB4F-B3BA-E3ACD9C883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F299605-7846-E640-A689-979D375CB39C}"/>
              </a:ext>
            </a:extLst>
          </p:cNvPr>
          <p:cNvSpPr>
            <a:spLocks noGrp="1"/>
          </p:cNvSpPr>
          <p:nvPr>
            <p:ph type="dt" sz="half" idx="10"/>
          </p:nvPr>
        </p:nvSpPr>
        <p:spPr/>
        <p:txBody>
          <a:bodyPr/>
          <a:lstStyle/>
          <a:p>
            <a:fld id="{DFF2BE9E-5D73-B148-8D30-EDA62A1B0BFE}" type="datetimeFigureOut">
              <a:rPr lang="en-US" smtClean="0"/>
              <a:t>3/3/21</a:t>
            </a:fld>
            <a:endParaRPr lang="en-US"/>
          </a:p>
        </p:txBody>
      </p:sp>
      <p:sp>
        <p:nvSpPr>
          <p:cNvPr id="6" name="Footer Placeholder 5">
            <a:extLst>
              <a:ext uri="{FF2B5EF4-FFF2-40B4-BE49-F238E27FC236}">
                <a16:creationId xmlns:a16="http://schemas.microsoft.com/office/drawing/2014/main" id="{7BA7F17A-F44E-9C40-A676-CFF740C4FB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E2DC58-F272-1643-9641-A61E1DB3A924}"/>
              </a:ext>
            </a:extLst>
          </p:cNvPr>
          <p:cNvSpPr>
            <a:spLocks noGrp="1"/>
          </p:cNvSpPr>
          <p:nvPr>
            <p:ph type="sldNum" sz="quarter" idx="12"/>
          </p:nvPr>
        </p:nvSpPr>
        <p:spPr/>
        <p:txBody>
          <a:bodyPr/>
          <a:lstStyle/>
          <a:p>
            <a:fld id="{2407C622-6112-3D49-AAFB-44FA4F4FA711}" type="slidenum">
              <a:rPr lang="en-US" smtClean="0"/>
              <a:t>‹#›</a:t>
            </a:fld>
            <a:endParaRPr lang="en-US"/>
          </a:p>
        </p:txBody>
      </p:sp>
    </p:spTree>
    <p:extLst>
      <p:ext uri="{BB962C8B-B14F-4D97-AF65-F5344CB8AC3E}">
        <p14:creationId xmlns:p14="http://schemas.microsoft.com/office/powerpoint/2010/main" val="300602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4C1DE-E3C0-B743-B440-690D1721E63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90280B2-8F98-BB4E-B3BD-92136057AAF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70120E6-208F-1546-81D8-22C7DD627B3F}"/>
              </a:ext>
            </a:extLst>
          </p:cNvPr>
          <p:cNvSpPr>
            <a:spLocks noGrp="1"/>
          </p:cNvSpPr>
          <p:nvPr>
            <p:ph type="dt" sz="half" idx="10"/>
          </p:nvPr>
        </p:nvSpPr>
        <p:spPr/>
        <p:txBody>
          <a:bodyPr/>
          <a:lstStyle/>
          <a:p>
            <a:fld id="{DFF2BE9E-5D73-B148-8D30-EDA62A1B0BFE}" type="datetimeFigureOut">
              <a:rPr lang="en-US" smtClean="0"/>
              <a:t>3/3/21</a:t>
            </a:fld>
            <a:endParaRPr lang="en-US"/>
          </a:p>
        </p:txBody>
      </p:sp>
      <p:sp>
        <p:nvSpPr>
          <p:cNvPr id="5" name="Footer Placeholder 4">
            <a:extLst>
              <a:ext uri="{FF2B5EF4-FFF2-40B4-BE49-F238E27FC236}">
                <a16:creationId xmlns:a16="http://schemas.microsoft.com/office/drawing/2014/main" id="{F950A8DE-C87D-D74E-9B3F-4ED455B04D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34219-794F-D24A-B378-FE5431BBD637}"/>
              </a:ext>
            </a:extLst>
          </p:cNvPr>
          <p:cNvSpPr>
            <a:spLocks noGrp="1"/>
          </p:cNvSpPr>
          <p:nvPr>
            <p:ph type="sldNum" sz="quarter" idx="12"/>
          </p:nvPr>
        </p:nvSpPr>
        <p:spPr/>
        <p:txBody>
          <a:bodyPr/>
          <a:lstStyle/>
          <a:p>
            <a:fld id="{2407C622-6112-3D49-AAFB-44FA4F4FA711}" type="slidenum">
              <a:rPr lang="en-US" smtClean="0"/>
              <a:t>‹#›</a:t>
            </a:fld>
            <a:endParaRPr lang="en-US"/>
          </a:p>
        </p:txBody>
      </p:sp>
    </p:spTree>
    <p:extLst>
      <p:ext uri="{BB962C8B-B14F-4D97-AF65-F5344CB8AC3E}">
        <p14:creationId xmlns:p14="http://schemas.microsoft.com/office/powerpoint/2010/main" val="1491650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69AE21-9CED-3E41-A5F9-09CEC77DA93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F44D90A-2A96-0842-A6CB-6FD9F6BDF4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A874ECC-8CBF-AF44-86E6-A744691943AD}"/>
              </a:ext>
            </a:extLst>
          </p:cNvPr>
          <p:cNvSpPr>
            <a:spLocks noGrp="1"/>
          </p:cNvSpPr>
          <p:nvPr>
            <p:ph type="dt" sz="half" idx="10"/>
          </p:nvPr>
        </p:nvSpPr>
        <p:spPr/>
        <p:txBody>
          <a:bodyPr/>
          <a:lstStyle/>
          <a:p>
            <a:fld id="{DFF2BE9E-5D73-B148-8D30-EDA62A1B0BFE}" type="datetimeFigureOut">
              <a:rPr lang="en-US" smtClean="0"/>
              <a:t>3/3/21</a:t>
            </a:fld>
            <a:endParaRPr lang="en-US"/>
          </a:p>
        </p:txBody>
      </p:sp>
      <p:sp>
        <p:nvSpPr>
          <p:cNvPr id="5" name="Footer Placeholder 4">
            <a:extLst>
              <a:ext uri="{FF2B5EF4-FFF2-40B4-BE49-F238E27FC236}">
                <a16:creationId xmlns:a16="http://schemas.microsoft.com/office/drawing/2014/main" id="{B300D497-CA12-ED44-B3BF-88DEBECF89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42917-1860-5F4B-88B7-D9ECBC0725C9}"/>
              </a:ext>
            </a:extLst>
          </p:cNvPr>
          <p:cNvSpPr>
            <a:spLocks noGrp="1"/>
          </p:cNvSpPr>
          <p:nvPr>
            <p:ph type="sldNum" sz="quarter" idx="12"/>
          </p:nvPr>
        </p:nvSpPr>
        <p:spPr/>
        <p:txBody>
          <a:bodyPr/>
          <a:lstStyle/>
          <a:p>
            <a:fld id="{2407C622-6112-3D49-AAFB-44FA4F4FA711}" type="slidenum">
              <a:rPr lang="en-US" smtClean="0"/>
              <a:t>‹#›</a:t>
            </a:fld>
            <a:endParaRPr lang="en-US"/>
          </a:p>
        </p:txBody>
      </p:sp>
    </p:spTree>
    <p:extLst>
      <p:ext uri="{BB962C8B-B14F-4D97-AF65-F5344CB8AC3E}">
        <p14:creationId xmlns:p14="http://schemas.microsoft.com/office/powerpoint/2010/main" val="24238581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9BDD2-E523-E549-AFE0-FD3C0A0DE9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ACCC70D0-4698-D540-831F-FD7E237B19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1C4B9848-594F-C643-A158-0970AE290980}"/>
              </a:ext>
            </a:extLst>
          </p:cNvPr>
          <p:cNvSpPr>
            <a:spLocks noGrp="1"/>
          </p:cNvSpPr>
          <p:nvPr>
            <p:ph type="dt" sz="half" idx="10"/>
          </p:nvPr>
        </p:nvSpPr>
        <p:spPr/>
        <p:txBody>
          <a:bodyPr/>
          <a:lstStyle/>
          <a:p>
            <a:fld id="{85128BE6-2747-494E-B7AD-CC43AC4396B6}" type="datetimeFigureOut">
              <a:rPr lang="en-AU" smtClean="0"/>
              <a:t>3/3/21</a:t>
            </a:fld>
            <a:endParaRPr lang="en-AU"/>
          </a:p>
        </p:txBody>
      </p:sp>
      <p:sp>
        <p:nvSpPr>
          <p:cNvPr id="5" name="Footer Placeholder 4">
            <a:extLst>
              <a:ext uri="{FF2B5EF4-FFF2-40B4-BE49-F238E27FC236}">
                <a16:creationId xmlns:a16="http://schemas.microsoft.com/office/drawing/2014/main" id="{55DDD324-EF5B-BE44-AA86-E03EE37D917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F3B409C-0B99-9245-8908-FC1E84D25ECE}"/>
              </a:ext>
            </a:extLst>
          </p:cNvPr>
          <p:cNvSpPr>
            <a:spLocks noGrp="1"/>
          </p:cNvSpPr>
          <p:nvPr>
            <p:ph type="sldNum" sz="quarter" idx="12"/>
          </p:nvPr>
        </p:nvSpPr>
        <p:spPr/>
        <p:txBody>
          <a:bodyPr/>
          <a:lstStyle/>
          <a:p>
            <a:fld id="{50EF26A5-8F8B-D241-A698-EED03AD16C25}" type="slidenum">
              <a:rPr lang="en-AU" smtClean="0"/>
              <a:t>‹#›</a:t>
            </a:fld>
            <a:endParaRPr lang="en-AU"/>
          </a:p>
        </p:txBody>
      </p:sp>
    </p:spTree>
    <p:extLst>
      <p:ext uri="{BB962C8B-B14F-4D97-AF65-F5344CB8AC3E}">
        <p14:creationId xmlns:p14="http://schemas.microsoft.com/office/powerpoint/2010/main" val="37952374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88A60-4FC3-E548-A46E-EF542FC305F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B2D4BD0-C668-134D-B482-A0ECC04A59E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64A62BB-B37B-F642-B87E-E5D3DA7C743A}"/>
              </a:ext>
            </a:extLst>
          </p:cNvPr>
          <p:cNvSpPr>
            <a:spLocks noGrp="1"/>
          </p:cNvSpPr>
          <p:nvPr>
            <p:ph type="dt" sz="half" idx="10"/>
          </p:nvPr>
        </p:nvSpPr>
        <p:spPr/>
        <p:txBody>
          <a:bodyPr/>
          <a:lstStyle/>
          <a:p>
            <a:fld id="{85128BE6-2747-494E-B7AD-CC43AC4396B6}" type="datetimeFigureOut">
              <a:rPr lang="en-AU" smtClean="0"/>
              <a:t>3/3/21</a:t>
            </a:fld>
            <a:endParaRPr lang="en-AU"/>
          </a:p>
        </p:txBody>
      </p:sp>
      <p:sp>
        <p:nvSpPr>
          <p:cNvPr id="5" name="Footer Placeholder 4">
            <a:extLst>
              <a:ext uri="{FF2B5EF4-FFF2-40B4-BE49-F238E27FC236}">
                <a16:creationId xmlns:a16="http://schemas.microsoft.com/office/drawing/2014/main" id="{61C5AFA3-34E5-6C40-B991-E0AD2F26260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D5969CB-764D-8E4F-A348-166E3B77A574}"/>
              </a:ext>
            </a:extLst>
          </p:cNvPr>
          <p:cNvSpPr>
            <a:spLocks noGrp="1"/>
          </p:cNvSpPr>
          <p:nvPr>
            <p:ph type="sldNum" sz="quarter" idx="12"/>
          </p:nvPr>
        </p:nvSpPr>
        <p:spPr/>
        <p:txBody>
          <a:bodyPr/>
          <a:lstStyle/>
          <a:p>
            <a:fld id="{50EF26A5-8F8B-D241-A698-EED03AD16C25}" type="slidenum">
              <a:rPr lang="en-AU" smtClean="0"/>
              <a:t>‹#›</a:t>
            </a:fld>
            <a:endParaRPr lang="en-AU"/>
          </a:p>
        </p:txBody>
      </p:sp>
    </p:spTree>
    <p:extLst>
      <p:ext uri="{BB962C8B-B14F-4D97-AF65-F5344CB8AC3E}">
        <p14:creationId xmlns:p14="http://schemas.microsoft.com/office/powerpoint/2010/main" val="1986932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35066-9FCC-6546-9524-D288A795CC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98B4C7A8-2CD7-3C40-8B24-1EFC974BB2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E151A3B-C657-C44B-9B71-AC5799565193}"/>
              </a:ext>
            </a:extLst>
          </p:cNvPr>
          <p:cNvSpPr>
            <a:spLocks noGrp="1"/>
          </p:cNvSpPr>
          <p:nvPr>
            <p:ph type="dt" sz="half" idx="10"/>
          </p:nvPr>
        </p:nvSpPr>
        <p:spPr/>
        <p:txBody>
          <a:bodyPr/>
          <a:lstStyle/>
          <a:p>
            <a:fld id="{85128BE6-2747-494E-B7AD-CC43AC4396B6}" type="datetimeFigureOut">
              <a:rPr lang="en-AU" smtClean="0"/>
              <a:t>3/3/21</a:t>
            </a:fld>
            <a:endParaRPr lang="en-AU"/>
          </a:p>
        </p:txBody>
      </p:sp>
      <p:sp>
        <p:nvSpPr>
          <p:cNvPr id="5" name="Footer Placeholder 4">
            <a:extLst>
              <a:ext uri="{FF2B5EF4-FFF2-40B4-BE49-F238E27FC236}">
                <a16:creationId xmlns:a16="http://schemas.microsoft.com/office/drawing/2014/main" id="{D76EE016-58EB-CF4B-AA96-455C144B97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3BF26B2-0067-9D44-86E3-ADA9A6D70855}"/>
              </a:ext>
            </a:extLst>
          </p:cNvPr>
          <p:cNvSpPr>
            <a:spLocks noGrp="1"/>
          </p:cNvSpPr>
          <p:nvPr>
            <p:ph type="sldNum" sz="quarter" idx="12"/>
          </p:nvPr>
        </p:nvSpPr>
        <p:spPr/>
        <p:txBody>
          <a:bodyPr/>
          <a:lstStyle/>
          <a:p>
            <a:fld id="{50EF26A5-8F8B-D241-A698-EED03AD16C25}" type="slidenum">
              <a:rPr lang="en-AU" smtClean="0"/>
              <a:t>‹#›</a:t>
            </a:fld>
            <a:endParaRPr lang="en-AU"/>
          </a:p>
        </p:txBody>
      </p:sp>
    </p:spTree>
    <p:extLst>
      <p:ext uri="{BB962C8B-B14F-4D97-AF65-F5344CB8AC3E}">
        <p14:creationId xmlns:p14="http://schemas.microsoft.com/office/powerpoint/2010/main" val="23981201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F35D1-CDB2-3D4C-AD54-7036C198577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D353F337-8C0A-DF41-B352-1B97172C6C2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4A709EC-A444-7B45-9FFB-43EBB5FB640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7EECF6CC-802C-E046-B21F-5F3981F5E62E}"/>
              </a:ext>
            </a:extLst>
          </p:cNvPr>
          <p:cNvSpPr>
            <a:spLocks noGrp="1"/>
          </p:cNvSpPr>
          <p:nvPr>
            <p:ph type="dt" sz="half" idx="10"/>
          </p:nvPr>
        </p:nvSpPr>
        <p:spPr/>
        <p:txBody>
          <a:bodyPr/>
          <a:lstStyle/>
          <a:p>
            <a:fld id="{85128BE6-2747-494E-B7AD-CC43AC4396B6}" type="datetimeFigureOut">
              <a:rPr lang="en-AU" smtClean="0"/>
              <a:t>3/3/21</a:t>
            </a:fld>
            <a:endParaRPr lang="en-AU"/>
          </a:p>
        </p:txBody>
      </p:sp>
      <p:sp>
        <p:nvSpPr>
          <p:cNvPr id="6" name="Footer Placeholder 5">
            <a:extLst>
              <a:ext uri="{FF2B5EF4-FFF2-40B4-BE49-F238E27FC236}">
                <a16:creationId xmlns:a16="http://schemas.microsoft.com/office/drawing/2014/main" id="{DF07188D-DC61-FF4F-AA00-C06D245C148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031484E-F814-164D-9718-157039B91C42}"/>
              </a:ext>
            </a:extLst>
          </p:cNvPr>
          <p:cNvSpPr>
            <a:spLocks noGrp="1"/>
          </p:cNvSpPr>
          <p:nvPr>
            <p:ph type="sldNum" sz="quarter" idx="12"/>
          </p:nvPr>
        </p:nvSpPr>
        <p:spPr/>
        <p:txBody>
          <a:bodyPr/>
          <a:lstStyle/>
          <a:p>
            <a:fld id="{50EF26A5-8F8B-D241-A698-EED03AD16C25}" type="slidenum">
              <a:rPr lang="en-AU" smtClean="0"/>
              <a:t>‹#›</a:t>
            </a:fld>
            <a:endParaRPr lang="en-AU"/>
          </a:p>
        </p:txBody>
      </p:sp>
    </p:spTree>
    <p:extLst>
      <p:ext uri="{BB962C8B-B14F-4D97-AF65-F5344CB8AC3E}">
        <p14:creationId xmlns:p14="http://schemas.microsoft.com/office/powerpoint/2010/main" val="1264497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109F-5AF7-3E47-AF55-5EB358F77859}"/>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90FC3E7-F938-4E45-885B-92B19470F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94E6D87-2D8A-9C43-939B-7F867582A4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0B83FBE9-24E1-0B48-B6D6-17A8B64F22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91A6A5F-F32F-6B42-B114-1F6EAED367B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C9F1B4B0-91DC-A740-B9D7-2B27D23ED8A2}"/>
              </a:ext>
            </a:extLst>
          </p:cNvPr>
          <p:cNvSpPr>
            <a:spLocks noGrp="1"/>
          </p:cNvSpPr>
          <p:nvPr>
            <p:ph type="dt" sz="half" idx="10"/>
          </p:nvPr>
        </p:nvSpPr>
        <p:spPr/>
        <p:txBody>
          <a:bodyPr/>
          <a:lstStyle/>
          <a:p>
            <a:fld id="{85128BE6-2747-494E-B7AD-CC43AC4396B6}" type="datetimeFigureOut">
              <a:rPr lang="en-AU" smtClean="0"/>
              <a:t>3/3/21</a:t>
            </a:fld>
            <a:endParaRPr lang="en-AU"/>
          </a:p>
        </p:txBody>
      </p:sp>
      <p:sp>
        <p:nvSpPr>
          <p:cNvPr id="8" name="Footer Placeholder 7">
            <a:extLst>
              <a:ext uri="{FF2B5EF4-FFF2-40B4-BE49-F238E27FC236}">
                <a16:creationId xmlns:a16="http://schemas.microsoft.com/office/drawing/2014/main" id="{8289CDF5-AD6F-8749-A0F3-3D2B66C6CF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7E36178-256C-9D47-A8FA-D22BF3E3ED8F}"/>
              </a:ext>
            </a:extLst>
          </p:cNvPr>
          <p:cNvSpPr>
            <a:spLocks noGrp="1"/>
          </p:cNvSpPr>
          <p:nvPr>
            <p:ph type="sldNum" sz="quarter" idx="12"/>
          </p:nvPr>
        </p:nvSpPr>
        <p:spPr/>
        <p:txBody>
          <a:bodyPr/>
          <a:lstStyle/>
          <a:p>
            <a:fld id="{50EF26A5-8F8B-D241-A698-EED03AD16C25}" type="slidenum">
              <a:rPr lang="en-AU" smtClean="0"/>
              <a:t>‹#›</a:t>
            </a:fld>
            <a:endParaRPr lang="en-AU"/>
          </a:p>
        </p:txBody>
      </p:sp>
    </p:spTree>
    <p:extLst>
      <p:ext uri="{BB962C8B-B14F-4D97-AF65-F5344CB8AC3E}">
        <p14:creationId xmlns:p14="http://schemas.microsoft.com/office/powerpoint/2010/main" val="19732646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0A8A4-3826-F741-A4E4-9B03F677B91E}"/>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CBF113E-23B9-2048-8EA2-92EE09CE1A7D}"/>
              </a:ext>
            </a:extLst>
          </p:cNvPr>
          <p:cNvSpPr>
            <a:spLocks noGrp="1"/>
          </p:cNvSpPr>
          <p:nvPr>
            <p:ph type="dt" sz="half" idx="10"/>
          </p:nvPr>
        </p:nvSpPr>
        <p:spPr/>
        <p:txBody>
          <a:bodyPr/>
          <a:lstStyle/>
          <a:p>
            <a:fld id="{85128BE6-2747-494E-B7AD-CC43AC4396B6}" type="datetimeFigureOut">
              <a:rPr lang="en-AU" smtClean="0"/>
              <a:t>3/3/21</a:t>
            </a:fld>
            <a:endParaRPr lang="en-AU"/>
          </a:p>
        </p:txBody>
      </p:sp>
      <p:sp>
        <p:nvSpPr>
          <p:cNvPr id="4" name="Footer Placeholder 3">
            <a:extLst>
              <a:ext uri="{FF2B5EF4-FFF2-40B4-BE49-F238E27FC236}">
                <a16:creationId xmlns:a16="http://schemas.microsoft.com/office/drawing/2014/main" id="{FF1974B7-4B81-554C-B8AF-258ECCF6FA8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ADB7581-D8B3-BD41-97EF-917961CC6423}"/>
              </a:ext>
            </a:extLst>
          </p:cNvPr>
          <p:cNvSpPr>
            <a:spLocks noGrp="1"/>
          </p:cNvSpPr>
          <p:nvPr>
            <p:ph type="sldNum" sz="quarter" idx="12"/>
          </p:nvPr>
        </p:nvSpPr>
        <p:spPr/>
        <p:txBody>
          <a:bodyPr/>
          <a:lstStyle/>
          <a:p>
            <a:fld id="{50EF26A5-8F8B-D241-A698-EED03AD16C25}" type="slidenum">
              <a:rPr lang="en-AU" smtClean="0"/>
              <a:t>‹#›</a:t>
            </a:fld>
            <a:endParaRPr lang="en-AU"/>
          </a:p>
        </p:txBody>
      </p:sp>
    </p:spTree>
    <p:extLst>
      <p:ext uri="{BB962C8B-B14F-4D97-AF65-F5344CB8AC3E}">
        <p14:creationId xmlns:p14="http://schemas.microsoft.com/office/powerpoint/2010/main" val="5965840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3C75A8-1901-6244-8289-D1683CC97BBB}"/>
              </a:ext>
            </a:extLst>
          </p:cNvPr>
          <p:cNvSpPr>
            <a:spLocks noGrp="1"/>
          </p:cNvSpPr>
          <p:nvPr>
            <p:ph type="dt" sz="half" idx="10"/>
          </p:nvPr>
        </p:nvSpPr>
        <p:spPr/>
        <p:txBody>
          <a:bodyPr/>
          <a:lstStyle/>
          <a:p>
            <a:fld id="{85128BE6-2747-494E-B7AD-CC43AC4396B6}" type="datetimeFigureOut">
              <a:rPr lang="en-AU" smtClean="0"/>
              <a:t>3/3/21</a:t>
            </a:fld>
            <a:endParaRPr lang="en-AU"/>
          </a:p>
        </p:txBody>
      </p:sp>
      <p:sp>
        <p:nvSpPr>
          <p:cNvPr id="3" name="Footer Placeholder 2">
            <a:extLst>
              <a:ext uri="{FF2B5EF4-FFF2-40B4-BE49-F238E27FC236}">
                <a16:creationId xmlns:a16="http://schemas.microsoft.com/office/drawing/2014/main" id="{D065EBDA-75BE-C048-AB6A-BCDFA28E544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B478D6FB-55B9-4643-B1F5-B3C62E429FFF}"/>
              </a:ext>
            </a:extLst>
          </p:cNvPr>
          <p:cNvSpPr>
            <a:spLocks noGrp="1"/>
          </p:cNvSpPr>
          <p:nvPr>
            <p:ph type="sldNum" sz="quarter" idx="12"/>
          </p:nvPr>
        </p:nvSpPr>
        <p:spPr/>
        <p:txBody>
          <a:bodyPr/>
          <a:lstStyle/>
          <a:p>
            <a:fld id="{50EF26A5-8F8B-D241-A698-EED03AD16C25}" type="slidenum">
              <a:rPr lang="en-AU" smtClean="0"/>
              <a:t>‹#›</a:t>
            </a:fld>
            <a:endParaRPr lang="en-AU"/>
          </a:p>
        </p:txBody>
      </p:sp>
    </p:spTree>
    <p:extLst>
      <p:ext uri="{BB962C8B-B14F-4D97-AF65-F5344CB8AC3E}">
        <p14:creationId xmlns:p14="http://schemas.microsoft.com/office/powerpoint/2010/main" val="4984849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55849-6B8D-FF44-AD1A-597BAD2356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C5BC01D-B286-D34D-9685-D3C90D17D0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4A7D860D-8F60-544A-943A-BCB52CC85F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CD301A3-F13A-234B-95CF-772C0B18FF6E}"/>
              </a:ext>
            </a:extLst>
          </p:cNvPr>
          <p:cNvSpPr>
            <a:spLocks noGrp="1"/>
          </p:cNvSpPr>
          <p:nvPr>
            <p:ph type="dt" sz="half" idx="10"/>
          </p:nvPr>
        </p:nvSpPr>
        <p:spPr/>
        <p:txBody>
          <a:bodyPr/>
          <a:lstStyle/>
          <a:p>
            <a:fld id="{85128BE6-2747-494E-B7AD-CC43AC4396B6}" type="datetimeFigureOut">
              <a:rPr lang="en-AU" smtClean="0"/>
              <a:t>3/3/21</a:t>
            </a:fld>
            <a:endParaRPr lang="en-AU"/>
          </a:p>
        </p:txBody>
      </p:sp>
      <p:sp>
        <p:nvSpPr>
          <p:cNvPr id="6" name="Footer Placeholder 5">
            <a:extLst>
              <a:ext uri="{FF2B5EF4-FFF2-40B4-BE49-F238E27FC236}">
                <a16:creationId xmlns:a16="http://schemas.microsoft.com/office/drawing/2014/main" id="{56952738-4823-E54B-B7BF-6701BD69BA2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D38C402-E7C0-6141-863D-1C027D6C1AD9}"/>
              </a:ext>
            </a:extLst>
          </p:cNvPr>
          <p:cNvSpPr>
            <a:spLocks noGrp="1"/>
          </p:cNvSpPr>
          <p:nvPr>
            <p:ph type="sldNum" sz="quarter" idx="12"/>
          </p:nvPr>
        </p:nvSpPr>
        <p:spPr/>
        <p:txBody>
          <a:bodyPr/>
          <a:lstStyle/>
          <a:p>
            <a:fld id="{50EF26A5-8F8B-D241-A698-EED03AD16C25}" type="slidenum">
              <a:rPr lang="en-AU" smtClean="0"/>
              <a:t>‹#›</a:t>
            </a:fld>
            <a:endParaRPr lang="en-AU"/>
          </a:p>
        </p:txBody>
      </p:sp>
    </p:spTree>
    <p:extLst>
      <p:ext uri="{BB962C8B-B14F-4D97-AF65-F5344CB8AC3E}">
        <p14:creationId xmlns:p14="http://schemas.microsoft.com/office/powerpoint/2010/main" val="1493809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7465E-9331-2740-B931-A595BEE594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21D2347-7979-4046-A28B-F46915D574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95600B14-0466-064E-A265-7040CBF431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58D45B-8DC7-C941-B885-6811EDAF45E4}"/>
              </a:ext>
            </a:extLst>
          </p:cNvPr>
          <p:cNvSpPr>
            <a:spLocks noGrp="1"/>
          </p:cNvSpPr>
          <p:nvPr>
            <p:ph type="dt" sz="half" idx="10"/>
          </p:nvPr>
        </p:nvSpPr>
        <p:spPr/>
        <p:txBody>
          <a:bodyPr/>
          <a:lstStyle/>
          <a:p>
            <a:fld id="{85128BE6-2747-494E-B7AD-CC43AC4396B6}" type="datetimeFigureOut">
              <a:rPr lang="en-AU" smtClean="0"/>
              <a:t>3/3/21</a:t>
            </a:fld>
            <a:endParaRPr lang="en-AU"/>
          </a:p>
        </p:txBody>
      </p:sp>
      <p:sp>
        <p:nvSpPr>
          <p:cNvPr id="6" name="Footer Placeholder 5">
            <a:extLst>
              <a:ext uri="{FF2B5EF4-FFF2-40B4-BE49-F238E27FC236}">
                <a16:creationId xmlns:a16="http://schemas.microsoft.com/office/drawing/2014/main" id="{EFE45896-26B9-1A41-A462-53F5073E9BA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5BDC564-7BD3-5048-A99F-9FB718268973}"/>
              </a:ext>
            </a:extLst>
          </p:cNvPr>
          <p:cNvSpPr>
            <a:spLocks noGrp="1"/>
          </p:cNvSpPr>
          <p:nvPr>
            <p:ph type="sldNum" sz="quarter" idx="12"/>
          </p:nvPr>
        </p:nvSpPr>
        <p:spPr/>
        <p:txBody>
          <a:bodyPr/>
          <a:lstStyle/>
          <a:p>
            <a:fld id="{50EF26A5-8F8B-D241-A698-EED03AD16C25}" type="slidenum">
              <a:rPr lang="en-AU" smtClean="0"/>
              <a:t>‹#›</a:t>
            </a:fld>
            <a:endParaRPr lang="en-AU"/>
          </a:p>
        </p:txBody>
      </p:sp>
    </p:spTree>
    <p:extLst>
      <p:ext uri="{BB962C8B-B14F-4D97-AF65-F5344CB8AC3E}">
        <p14:creationId xmlns:p14="http://schemas.microsoft.com/office/powerpoint/2010/main" val="20523395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3D374-74A9-9048-BB6F-38ADC28D280A}"/>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9114D70-2E5F-6347-B3C3-CFD13162C9C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59C1EAE-0D44-CD47-8945-C0609FE879A3}"/>
              </a:ext>
            </a:extLst>
          </p:cNvPr>
          <p:cNvSpPr>
            <a:spLocks noGrp="1"/>
          </p:cNvSpPr>
          <p:nvPr>
            <p:ph type="dt" sz="half" idx="10"/>
          </p:nvPr>
        </p:nvSpPr>
        <p:spPr/>
        <p:txBody>
          <a:bodyPr/>
          <a:lstStyle/>
          <a:p>
            <a:fld id="{85128BE6-2747-494E-B7AD-CC43AC4396B6}" type="datetimeFigureOut">
              <a:rPr lang="en-AU" smtClean="0"/>
              <a:t>3/3/21</a:t>
            </a:fld>
            <a:endParaRPr lang="en-AU"/>
          </a:p>
        </p:txBody>
      </p:sp>
      <p:sp>
        <p:nvSpPr>
          <p:cNvPr id="5" name="Footer Placeholder 4">
            <a:extLst>
              <a:ext uri="{FF2B5EF4-FFF2-40B4-BE49-F238E27FC236}">
                <a16:creationId xmlns:a16="http://schemas.microsoft.com/office/drawing/2014/main" id="{690637B0-B326-AF4B-AF36-0EC01EA73F5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4FFCB0B-357D-154F-B158-6667889845FB}"/>
              </a:ext>
            </a:extLst>
          </p:cNvPr>
          <p:cNvSpPr>
            <a:spLocks noGrp="1"/>
          </p:cNvSpPr>
          <p:nvPr>
            <p:ph type="sldNum" sz="quarter" idx="12"/>
          </p:nvPr>
        </p:nvSpPr>
        <p:spPr/>
        <p:txBody>
          <a:bodyPr/>
          <a:lstStyle/>
          <a:p>
            <a:fld id="{50EF26A5-8F8B-D241-A698-EED03AD16C25}" type="slidenum">
              <a:rPr lang="en-AU" smtClean="0"/>
              <a:t>‹#›</a:t>
            </a:fld>
            <a:endParaRPr lang="en-AU"/>
          </a:p>
        </p:txBody>
      </p:sp>
    </p:spTree>
    <p:extLst>
      <p:ext uri="{BB962C8B-B14F-4D97-AF65-F5344CB8AC3E}">
        <p14:creationId xmlns:p14="http://schemas.microsoft.com/office/powerpoint/2010/main" val="595004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D58206-4C3C-CF4A-B960-3F530C3E4F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30EBBED-CD9C-2B41-BC4B-EBA9F0258A3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82217F1-B224-954C-9E8A-EFA7702313C3}"/>
              </a:ext>
            </a:extLst>
          </p:cNvPr>
          <p:cNvSpPr>
            <a:spLocks noGrp="1"/>
          </p:cNvSpPr>
          <p:nvPr>
            <p:ph type="dt" sz="half" idx="10"/>
          </p:nvPr>
        </p:nvSpPr>
        <p:spPr/>
        <p:txBody>
          <a:bodyPr/>
          <a:lstStyle/>
          <a:p>
            <a:fld id="{85128BE6-2747-494E-B7AD-CC43AC4396B6}" type="datetimeFigureOut">
              <a:rPr lang="en-AU" smtClean="0"/>
              <a:t>3/3/21</a:t>
            </a:fld>
            <a:endParaRPr lang="en-AU"/>
          </a:p>
        </p:txBody>
      </p:sp>
      <p:sp>
        <p:nvSpPr>
          <p:cNvPr id="5" name="Footer Placeholder 4">
            <a:extLst>
              <a:ext uri="{FF2B5EF4-FFF2-40B4-BE49-F238E27FC236}">
                <a16:creationId xmlns:a16="http://schemas.microsoft.com/office/drawing/2014/main" id="{322862B1-9EF5-084A-9449-454012E632A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5FE0591-FAFF-AD44-B9E8-916966B04BFA}"/>
              </a:ext>
            </a:extLst>
          </p:cNvPr>
          <p:cNvSpPr>
            <a:spLocks noGrp="1"/>
          </p:cNvSpPr>
          <p:nvPr>
            <p:ph type="sldNum" sz="quarter" idx="12"/>
          </p:nvPr>
        </p:nvSpPr>
        <p:spPr/>
        <p:txBody>
          <a:bodyPr/>
          <a:lstStyle/>
          <a:p>
            <a:fld id="{50EF26A5-8F8B-D241-A698-EED03AD16C25}" type="slidenum">
              <a:rPr lang="en-AU" smtClean="0"/>
              <a:t>‹#›</a:t>
            </a:fld>
            <a:endParaRPr lang="en-AU"/>
          </a:p>
        </p:txBody>
      </p:sp>
    </p:spTree>
    <p:extLst>
      <p:ext uri="{BB962C8B-B14F-4D97-AF65-F5344CB8AC3E}">
        <p14:creationId xmlns:p14="http://schemas.microsoft.com/office/powerpoint/2010/main" val="28738297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GB"/>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3/3/21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3480883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Content Placeholder 2"/>
          <p:cNvSpPr>
            <a:spLocks noGrp="1"/>
          </p:cNvSpPr>
          <p:nvPr>
            <p:ph idx="1"/>
          </p:nvPr>
        </p:nvSpPr>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3/3/21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6026591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GB"/>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3/3/21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GB"/>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28760540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GB"/>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3/3/21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10261344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3/3/21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9110921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13777020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4694929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GB"/>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3/3/21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8124358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15512682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20652339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32207299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3/3/21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4199951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3/3/21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6426626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3/3/21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628262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3/3/21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26764172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3/3/21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3402993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3/3/21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Tree>
    <p:extLst>
      <p:ext uri="{BB962C8B-B14F-4D97-AF65-F5344CB8AC3E}">
        <p14:creationId xmlns:p14="http://schemas.microsoft.com/office/powerpoint/2010/main" val="16864582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3/3/21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4315557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GB"/>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3/3/21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671026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theme" Target="../theme/theme3.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E17185-AC10-7944-A43A-80D46E9A2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05F9D50-00D8-814F-9443-10AF0A5011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45C3F51-AEC7-F443-AD31-C4FD02A3EA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F2BE9E-5D73-B148-8D30-EDA62A1B0BFE}" type="datetimeFigureOut">
              <a:rPr lang="en-US" smtClean="0"/>
              <a:t>3/3/21</a:t>
            </a:fld>
            <a:endParaRPr lang="en-US"/>
          </a:p>
        </p:txBody>
      </p:sp>
      <p:sp>
        <p:nvSpPr>
          <p:cNvPr id="5" name="Footer Placeholder 4">
            <a:extLst>
              <a:ext uri="{FF2B5EF4-FFF2-40B4-BE49-F238E27FC236}">
                <a16:creationId xmlns:a16="http://schemas.microsoft.com/office/drawing/2014/main" id="{797AB607-1C62-394F-A767-6E5B7E634E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847430D-0EA2-FA4F-ABF3-EA5F9CA50E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07C622-6112-3D49-AAFB-44FA4F4FA711}" type="slidenum">
              <a:rPr lang="en-US" smtClean="0"/>
              <a:t>‹#›</a:t>
            </a:fld>
            <a:endParaRPr lang="en-US"/>
          </a:p>
        </p:txBody>
      </p:sp>
    </p:spTree>
    <p:extLst>
      <p:ext uri="{BB962C8B-B14F-4D97-AF65-F5344CB8AC3E}">
        <p14:creationId xmlns:p14="http://schemas.microsoft.com/office/powerpoint/2010/main" val="1270210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7242B2-BCDF-2547-BE89-8FA860469C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26BF4F8-24AF-B84C-B1C6-7FC5382189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CCBAE4B-051B-A248-A2F0-1DCEC6D5F3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128BE6-2747-494E-B7AD-CC43AC4396B6}" type="datetimeFigureOut">
              <a:rPr lang="en-AU" smtClean="0"/>
              <a:t>3/3/21</a:t>
            </a:fld>
            <a:endParaRPr lang="en-AU"/>
          </a:p>
        </p:txBody>
      </p:sp>
      <p:sp>
        <p:nvSpPr>
          <p:cNvPr id="5" name="Footer Placeholder 4">
            <a:extLst>
              <a:ext uri="{FF2B5EF4-FFF2-40B4-BE49-F238E27FC236}">
                <a16:creationId xmlns:a16="http://schemas.microsoft.com/office/drawing/2014/main" id="{EA0FE36D-82F6-1945-8FFE-F29D4355E4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1E9567AE-0434-8948-B645-1702E46DAA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EF26A5-8F8B-D241-A698-EED03AD16C25}" type="slidenum">
              <a:rPr lang="en-AU" smtClean="0"/>
              <a:t>‹#›</a:t>
            </a:fld>
            <a:endParaRPr lang="en-AU"/>
          </a:p>
        </p:txBody>
      </p:sp>
    </p:spTree>
    <p:extLst>
      <p:ext uri="{BB962C8B-B14F-4D97-AF65-F5344CB8AC3E}">
        <p14:creationId xmlns:p14="http://schemas.microsoft.com/office/powerpoint/2010/main" val="40633539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GB"/>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3/3/21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1222562097"/>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customXml" Target="../ink/ink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video" Target="https://www.youtube.com/embed/0nFkQ4cQhME?feature=oembed"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Check in</a:t>
            </a:r>
          </a:p>
        </p:txBody>
      </p:sp>
      <p:sp>
        <p:nvSpPr>
          <p:cNvPr id="5" name="TextBox 4"/>
          <p:cNvSpPr txBox="1"/>
          <p:nvPr/>
        </p:nvSpPr>
        <p:spPr>
          <a:xfrm>
            <a:off x="3205018" y="0"/>
            <a:ext cx="8395855" cy="6617196"/>
          </a:xfrm>
          <a:prstGeom prst="rect">
            <a:avLst/>
          </a:prstGeom>
          <a:noFill/>
        </p:spPr>
        <p:txBody>
          <a:bodyPr wrap="square" rtlCol="0">
            <a:spAutoFit/>
          </a:bodyPr>
          <a:lstStyle/>
          <a:p>
            <a:pPr marL="514350" lvl="0" indent="-514350">
              <a:buAutoNum type="arabicPeriod"/>
              <a:defRPr/>
            </a:pPr>
            <a:r>
              <a:rPr lang="en-US" sz="4400" dirty="0"/>
              <a:t>Get your things out</a:t>
            </a:r>
          </a:p>
          <a:p>
            <a:pPr marL="514350" lvl="0" indent="-514350">
              <a:buAutoNum type="arabicPeriod"/>
              <a:defRPr/>
            </a:pPr>
            <a:r>
              <a:rPr lang="en-US" sz="4400" dirty="0"/>
              <a:t>Quizizz: 443723</a:t>
            </a:r>
          </a:p>
          <a:p>
            <a:pPr marL="514350" lvl="0" indent="-514350">
              <a:buAutoNum type="arabicPeriod"/>
              <a:defRPr/>
            </a:pPr>
            <a:r>
              <a:rPr lang="en-US" sz="4400" dirty="0"/>
              <a:t>As you wait: </a:t>
            </a:r>
          </a:p>
          <a:p>
            <a:pPr lvl="0">
              <a:defRPr/>
            </a:pPr>
            <a:endParaRPr lang="en-US" sz="4400" dirty="0"/>
          </a:p>
          <a:p>
            <a:pPr lvl="0">
              <a:defRPr/>
            </a:pPr>
            <a:r>
              <a:rPr lang="en-US" sz="4400" dirty="0"/>
              <a:t>What do the terms duration, capacity and encoding mean?</a:t>
            </a:r>
          </a:p>
          <a:p>
            <a:pPr lvl="0">
              <a:defRPr/>
            </a:pPr>
            <a:r>
              <a:rPr lang="en-US" sz="4400" dirty="0"/>
              <a:t>What is the capacity, duration and encoding for each memory store</a:t>
            </a:r>
          </a:p>
          <a:p>
            <a:pPr marL="514350" lvl="0" indent="-514350">
              <a:buAutoNum type="arabicPeriod"/>
              <a:defRPr/>
            </a:pPr>
            <a:endParaRPr lang="en-US" sz="4400" dirty="0"/>
          </a:p>
          <a:p>
            <a:pPr lvl="0">
              <a:defRPr/>
            </a:pPr>
            <a:endParaRPr lang="en-US" sz="2800" dirty="0"/>
          </a:p>
        </p:txBody>
      </p:sp>
      <p:graphicFrame>
        <p:nvGraphicFramePr>
          <p:cNvPr id="7" name="Table 6"/>
          <p:cNvGraphicFramePr>
            <a:graphicFrameLocks noGrp="1"/>
          </p:cNvGraphicFramePr>
          <p:nvPr>
            <p:extLst>
              <p:ext uri="{D42A27DB-BD31-4B8C-83A1-F6EECF244321}">
                <p14:modId xmlns:p14="http://schemas.microsoft.com/office/powerpoint/2010/main" val="1837887400"/>
              </p:ext>
            </p:extLst>
          </p:nvPr>
        </p:nvGraphicFramePr>
        <p:xfrm>
          <a:off x="9065356" y="5847080"/>
          <a:ext cx="3126644" cy="1010920"/>
        </p:xfrm>
        <a:graphic>
          <a:graphicData uri="http://schemas.openxmlformats.org/drawingml/2006/table">
            <a:tbl>
              <a:tblPr firstRow="1" bandRow="1">
                <a:tableStyleId>{F5AB1C69-6EDB-4FF4-983F-18BD219EF322}</a:tableStyleId>
              </a:tblPr>
              <a:tblGrid>
                <a:gridCol w="3126644">
                  <a:extLst>
                    <a:ext uri="{9D8B030D-6E8A-4147-A177-3AD203B41FA5}">
                      <a16:colId xmlns:a16="http://schemas.microsoft.com/office/drawing/2014/main" val="20000"/>
                    </a:ext>
                  </a:extLst>
                </a:gridCol>
              </a:tblGrid>
              <a:tr h="370840">
                <a:tc>
                  <a:txBody>
                    <a:bodyPr/>
                    <a:lstStyle/>
                    <a:p>
                      <a:r>
                        <a:rPr lang="en-AU" sz="1800" dirty="0"/>
                        <a:t>Reminders</a:t>
                      </a:r>
                    </a:p>
                  </a:txBody>
                  <a:tcPr>
                    <a:solidFill>
                      <a:srgbClr val="7030A0"/>
                    </a:solidFill>
                  </a:tcPr>
                </a:tc>
                <a:extLst>
                  <a:ext uri="{0D108BD9-81ED-4DB2-BD59-A6C34878D82A}">
                    <a16:rowId xmlns:a16="http://schemas.microsoft.com/office/drawing/2014/main" val="10000"/>
                  </a:ext>
                </a:extLst>
              </a:tr>
              <a:tr h="365585">
                <a:tc>
                  <a:txBody>
                    <a:bodyPr/>
                    <a:lstStyle/>
                    <a:p>
                      <a:pPr marL="0" marR="0" lvl="0" indent="0" defTabSz="914400" eaLnBrk="1" fontAlgn="auto" latinLnBrk="0" hangingPunct="1">
                        <a:lnSpc>
                          <a:spcPct val="100000"/>
                        </a:lnSpc>
                        <a:spcBef>
                          <a:spcPts val="0"/>
                        </a:spcBef>
                        <a:spcAft>
                          <a:spcPts val="0"/>
                        </a:spcAft>
                        <a:buClrTx/>
                        <a:buSzTx/>
                        <a:buFont typeface="+mj-lt"/>
                        <a:buNone/>
                        <a:tabLst/>
                        <a:defRPr/>
                      </a:pPr>
                      <a:r>
                        <a:rPr lang="en-US" sz="1800" dirty="0"/>
                        <a:t>Assessment:</a:t>
                      </a:r>
                    </a:p>
                    <a:p>
                      <a:pPr marL="0" marR="0" lvl="0" indent="0" defTabSz="914400" eaLnBrk="1" fontAlgn="auto" latinLnBrk="0" hangingPunct="1">
                        <a:lnSpc>
                          <a:spcPct val="100000"/>
                        </a:lnSpc>
                        <a:spcBef>
                          <a:spcPts val="0"/>
                        </a:spcBef>
                        <a:spcAft>
                          <a:spcPts val="0"/>
                        </a:spcAft>
                        <a:buClrTx/>
                        <a:buSzTx/>
                        <a:buFont typeface="+mj-lt"/>
                        <a:buNone/>
                        <a:tabLst/>
                        <a:defRPr/>
                      </a:pPr>
                      <a:r>
                        <a:rPr lang="en-US" sz="1800" dirty="0"/>
                        <a:t>WEEK 7 - INVESTIGATION</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0CB713E8-D0D0-4D35-8F6A-4F52B4B63A36}"/>
              </a:ext>
            </a:extLst>
          </p:cNvPr>
          <p:cNvSpPr txBox="1"/>
          <p:nvPr/>
        </p:nvSpPr>
        <p:spPr>
          <a:xfrm>
            <a:off x="50471" y="1170333"/>
            <a:ext cx="2197290" cy="2308324"/>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Whiteboard</a:t>
            </a:r>
          </a:p>
        </p:txBody>
      </p:sp>
    </p:spTree>
    <p:extLst>
      <p:ext uri="{BB962C8B-B14F-4D97-AF65-F5344CB8AC3E}">
        <p14:creationId xmlns:p14="http://schemas.microsoft.com/office/powerpoint/2010/main" val="3284117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968245" y="1241928"/>
            <a:ext cx="2244269"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 - CFU</a:t>
            </a:r>
          </a:p>
        </p:txBody>
      </p:sp>
      <p:sp>
        <p:nvSpPr>
          <p:cNvPr id="12" name="TextBox 11">
            <a:extLst>
              <a:ext uri="{FF2B5EF4-FFF2-40B4-BE49-F238E27FC236}">
                <a16:creationId xmlns:a16="http://schemas.microsoft.com/office/drawing/2014/main" id="{389C038F-68E5-534D-9A6B-215CB0C63181}"/>
              </a:ext>
            </a:extLst>
          </p:cNvPr>
          <p:cNvSpPr txBox="1"/>
          <p:nvPr/>
        </p:nvSpPr>
        <p:spPr>
          <a:xfrm>
            <a:off x="2154824" y="125301"/>
            <a:ext cx="5945602" cy="10772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The multi-store model of memory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(Atkinson &amp; Shiffrin, 1968)</a:t>
            </a:r>
          </a:p>
        </p:txBody>
      </p:sp>
      <p:graphicFrame>
        <p:nvGraphicFramePr>
          <p:cNvPr id="6" name="Table 5">
            <a:extLst>
              <a:ext uri="{FF2B5EF4-FFF2-40B4-BE49-F238E27FC236}">
                <a16:creationId xmlns:a16="http://schemas.microsoft.com/office/drawing/2014/main" id="{63F63036-378C-8340-BB5A-3947501DE972}"/>
              </a:ext>
            </a:extLst>
          </p:cNvPr>
          <p:cNvGraphicFramePr>
            <a:graphicFrameLocks noGrp="1"/>
          </p:cNvGraphicFramePr>
          <p:nvPr/>
        </p:nvGraphicFramePr>
        <p:xfrm>
          <a:off x="8716488" y="5856138"/>
          <a:ext cx="3475512" cy="949960"/>
        </p:xfrm>
        <a:graphic>
          <a:graphicData uri="http://schemas.openxmlformats.org/drawingml/2006/table">
            <a:tbl>
              <a:tblPr firstRow="1" bandRow="1">
                <a:tableStyleId>{5C22544A-7EE6-4342-B048-85BDC9FD1C3A}</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Checking for understanding:</a:t>
                      </a:r>
                    </a:p>
                  </a:txBody>
                  <a:tcPr/>
                </a:tc>
                <a:extLst>
                  <a:ext uri="{0D108BD9-81ED-4DB2-BD59-A6C34878D82A}">
                    <a16:rowId xmlns:a16="http://schemas.microsoft.com/office/drawing/2014/main" val="1235380871"/>
                  </a:ext>
                </a:extLst>
              </a:tr>
              <a:tr h="370840">
                <a:tc>
                  <a:txBody>
                    <a:bodyPr/>
                    <a:lstStyle/>
                    <a:p>
                      <a:pPr marL="342900" indent="-342900">
                        <a:buAutoNum type="arabicPeriod"/>
                      </a:pPr>
                      <a:r>
                        <a:rPr lang="en-AU" sz="1600" b="0" dirty="0"/>
                        <a:t>Why is retrieval an essential</a:t>
                      </a:r>
                      <a:r>
                        <a:rPr lang="en-AU" sz="1600" b="0" baseline="0" dirty="0"/>
                        <a:t> part in the process of memory?</a:t>
                      </a:r>
                      <a:endParaRPr lang="en-AU" sz="1600" b="0" dirty="0"/>
                    </a:p>
                  </a:txBody>
                  <a:tcPr/>
                </a:tc>
                <a:extLst>
                  <a:ext uri="{0D108BD9-81ED-4DB2-BD59-A6C34878D82A}">
                    <a16:rowId xmlns:a16="http://schemas.microsoft.com/office/drawing/2014/main" val="3546612696"/>
                  </a:ext>
                </a:extLst>
              </a:tr>
            </a:tbl>
          </a:graphicData>
        </a:graphic>
      </p:graphicFrame>
      <p:graphicFrame>
        <p:nvGraphicFramePr>
          <p:cNvPr id="8" name="Table 7">
            <a:extLst>
              <a:ext uri="{FF2B5EF4-FFF2-40B4-BE49-F238E27FC236}">
                <a16:creationId xmlns:a16="http://schemas.microsoft.com/office/drawing/2014/main" id="{3E38FB5A-5753-CE44-AB97-A40EAE124C0E}"/>
              </a:ext>
            </a:extLst>
          </p:cNvPr>
          <p:cNvGraphicFramePr>
            <a:graphicFrameLocks noGrp="1"/>
          </p:cNvGraphicFramePr>
          <p:nvPr/>
        </p:nvGraphicFramePr>
        <p:xfrm>
          <a:off x="8716488" y="305893"/>
          <a:ext cx="3475512" cy="241300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encoded:</a:t>
                      </a:r>
                      <a:r>
                        <a:rPr lang="en-AU" sz="1600" b="0" dirty="0"/>
                        <a:t> converted into a form that can be processed by the brain</a:t>
                      </a:r>
                      <a:endParaRPr lang="en-AU" sz="16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sp>
        <p:nvSpPr>
          <p:cNvPr id="9" name="TextBox 8"/>
          <p:cNvSpPr txBox="1"/>
          <p:nvPr/>
        </p:nvSpPr>
        <p:spPr>
          <a:xfrm>
            <a:off x="923841" y="1508738"/>
            <a:ext cx="7418054"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600" b="0" i="0" u="sng" strike="noStrike" kern="1200" cap="none" spc="0" normalizeH="0" baseline="0" noProof="0" dirty="0">
                <a:ln>
                  <a:noFill/>
                </a:ln>
                <a:solidFill>
                  <a:prstClr val="black"/>
                </a:solidFill>
                <a:effectLst/>
                <a:uLnTx/>
                <a:uFillTx/>
                <a:latin typeface="Calibri" panose="020F0502020204030204"/>
                <a:ea typeface="+mn-ea"/>
                <a:cs typeface="+mn-cs"/>
              </a:rPr>
              <a:t>T/F:</a:t>
            </a:r>
            <a:endParaRPr kumimoji="0" lang="en-AU"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AU" sz="3600" b="0" i="0" u="none" strike="noStrike" kern="1200" cap="none" spc="0" normalizeH="0" baseline="0" noProof="0" dirty="0">
                <a:ln>
                  <a:noFill/>
                </a:ln>
                <a:solidFill>
                  <a:prstClr val="black"/>
                </a:solidFill>
                <a:effectLst/>
                <a:uLnTx/>
                <a:uFillTx/>
                <a:latin typeface="Calibri" panose="020F0502020204030204"/>
                <a:ea typeface="+mn-ea"/>
                <a:cs typeface="+mn-cs"/>
              </a:rPr>
              <a:t>Sensory memory refers to  memory retained for a brief period, usually just more than 5 seconds.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AU" sz="3600" b="0" i="0" u="none" strike="noStrike" kern="1200" cap="none" spc="0" normalizeH="0" baseline="0" noProof="0" dirty="0">
                <a:ln>
                  <a:noFill/>
                </a:ln>
                <a:solidFill>
                  <a:prstClr val="black"/>
                </a:solidFill>
                <a:effectLst/>
                <a:uLnTx/>
                <a:uFillTx/>
                <a:latin typeface="Calibri" panose="020F0502020204030204"/>
                <a:ea typeface="+mn-ea"/>
                <a:cs typeface="+mn-cs"/>
              </a:rPr>
              <a:t>Iconic memory is visual memory.</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AU" sz="3600" b="0" i="0" u="none" strike="noStrike" kern="1200" cap="none" spc="0" normalizeH="0" baseline="0" noProof="0" dirty="0">
                <a:ln>
                  <a:noFill/>
                </a:ln>
                <a:solidFill>
                  <a:prstClr val="black"/>
                </a:solidFill>
                <a:effectLst/>
                <a:uLnTx/>
                <a:uFillTx/>
                <a:latin typeface="Calibri" panose="020F0502020204030204"/>
                <a:ea typeface="+mn-ea"/>
                <a:cs typeface="+mn-cs"/>
              </a:rPr>
              <a:t>Echoic memory is sound memory.</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AU" sz="3600" b="0" i="0" u="none" strike="noStrike" kern="1200" cap="none" spc="0" normalizeH="0" baseline="0" noProof="0" dirty="0">
                <a:ln>
                  <a:noFill/>
                </a:ln>
                <a:solidFill>
                  <a:prstClr val="black"/>
                </a:solidFill>
                <a:effectLst/>
                <a:uLnTx/>
                <a:uFillTx/>
                <a:latin typeface="Calibri" panose="020F0502020204030204"/>
                <a:ea typeface="+mn-ea"/>
                <a:cs typeface="+mn-cs"/>
              </a:rPr>
              <a:t>Most information held in sensory memory is lost very quickly</a:t>
            </a:r>
          </a:p>
        </p:txBody>
      </p:sp>
    </p:spTree>
    <p:extLst>
      <p:ext uri="{BB962C8B-B14F-4D97-AF65-F5344CB8AC3E}">
        <p14:creationId xmlns:p14="http://schemas.microsoft.com/office/powerpoint/2010/main" val="39418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968245" y="1241928"/>
            <a:ext cx="2244269"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 - CFU</a:t>
            </a:r>
          </a:p>
        </p:txBody>
      </p:sp>
      <p:sp>
        <p:nvSpPr>
          <p:cNvPr id="12" name="TextBox 11">
            <a:extLst>
              <a:ext uri="{FF2B5EF4-FFF2-40B4-BE49-F238E27FC236}">
                <a16:creationId xmlns:a16="http://schemas.microsoft.com/office/drawing/2014/main" id="{389C038F-68E5-534D-9A6B-215CB0C63181}"/>
              </a:ext>
            </a:extLst>
          </p:cNvPr>
          <p:cNvSpPr txBox="1"/>
          <p:nvPr/>
        </p:nvSpPr>
        <p:spPr>
          <a:xfrm>
            <a:off x="2154824" y="125301"/>
            <a:ext cx="5945602" cy="10772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The multi-store model of memory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(Atkinson &amp; Shiffrin, 1968)</a:t>
            </a:r>
          </a:p>
        </p:txBody>
      </p:sp>
      <p:graphicFrame>
        <p:nvGraphicFramePr>
          <p:cNvPr id="6" name="Table 5">
            <a:extLst>
              <a:ext uri="{FF2B5EF4-FFF2-40B4-BE49-F238E27FC236}">
                <a16:creationId xmlns:a16="http://schemas.microsoft.com/office/drawing/2014/main" id="{63F63036-378C-8340-BB5A-3947501DE972}"/>
              </a:ext>
            </a:extLst>
          </p:cNvPr>
          <p:cNvGraphicFramePr>
            <a:graphicFrameLocks noGrp="1"/>
          </p:cNvGraphicFramePr>
          <p:nvPr/>
        </p:nvGraphicFramePr>
        <p:xfrm>
          <a:off x="8716488" y="5856138"/>
          <a:ext cx="3475512" cy="949960"/>
        </p:xfrm>
        <a:graphic>
          <a:graphicData uri="http://schemas.openxmlformats.org/drawingml/2006/table">
            <a:tbl>
              <a:tblPr firstRow="1" bandRow="1">
                <a:tableStyleId>{5C22544A-7EE6-4342-B048-85BDC9FD1C3A}</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Checking for understanding:</a:t>
                      </a:r>
                    </a:p>
                  </a:txBody>
                  <a:tcPr/>
                </a:tc>
                <a:extLst>
                  <a:ext uri="{0D108BD9-81ED-4DB2-BD59-A6C34878D82A}">
                    <a16:rowId xmlns:a16="http://schemas.microsoft.com/office/drawing/2014/main" val="1235380871"/>
                  </a:ext>
                </a:extLst>
              </a:tr>
              <a:tr h="370840">
                <a:tc>
                  <a:txBody>
                    <a:bodyPr/>
                    <a:lstStyle/>
                    <a:p>
                      <a:pPr marL="342900" indent="-342900">
                        <a:buAutoNum type="arabicPeriod"/>
                      </a:pPr>
                      <a:r>
                        <a:rPr lang="en-AU" sz="1600" b="0" dirty="0"/>
                        <a:t>Why is retrieval an essential</a:t>
                      </a:r>
                      <a:r>
                        <a:rPr lang="en-AU" sz="1600" b="0" baseline="0" dirty="0"/>
                        <a:t> part in the process of memory?</a:t>
                      </a:r>
                      <a:endParaRPr lang="en-AU" sz="1600" b="0" dirty="0"/>
                    </a:p>
                  </a:txBody>
                  <a:tcPr/>
                </a:tc>
                <a:extLst>
                  <a:ext uri="{0D108BD9-81ED-4DB2-BD59-A6C34878D82A}">
                    <a16:rowId xmlns:a16="http://schemas.microsoft.com/office/drawing/2014/main" val="3546612696"/>
                  </a:ext>
                </a:extLst>
              </a:tr>
            </a:tbl>
          </a:graphicData>
        </a:graphic>
      </p:graphicFrame>
      <p:graphicFrame>
        <p:nvGraphicFramePr>
          <p:cNvPr id="8" name="Table 7">
            <a:extLst>
              <a:ext uri="{FF2B5EF4-FFF2-40B4-BE49-F238E27FC236}">
                <a16:creationId xmlns:a16="http://schemas.microsoft.com/office/drawing/2014/main" id="{3E38FB5A-5753-CE44-AB97-A40EAE124C0E}"/>
              </a:ext>
            </a:extLst>
          </p:cNvPr>
          <p:cNvGraphicFramePr>
            <a:graphicFrameLocks noGrp="1"/>
          </p:cNvGraphicFramePr>
          <p:nvPr/>
        </p:nvGraphicFramePr>
        <p:xfrm>
          <a:off x="8716488" y="305893"/>
          <a:ext cx="3475512" cy="241300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encoded:</a:t>
                      </a:r>
                      <a:r>
                        <a:rPr lang="en-AU" sz="1600" b="0" dirty="0"/>
                        <a:t> converted into a form that can be processed by the brain</a:t>
                      </a:r>
                      <a:endParaRPr lang="en-AU" sz="16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graphicFrame>
        <p:nvGraphicFramePr>
          <p:cNvPr id="2" name="Table 1"/>
          <p:cNvGraphicFramePr>
            <a:graphicFrameLocks noGrp="1"/>
          </p:cNvGraphicFramePr>
          <p:nvPr/>
        </p:nvGraphicFramePr>
        <p:xfrm>
          <a:off x="448133" y="1776271"/>
          <a:ext cx="8128000" cy="4724400"/>
        </p:xfrm>
        <a:graphic>
          <a:graphicData uri="http://schemas.openxmlformats.org/drawingml/2006/table">
            <a:tbl>
              <a:tblPr firstRow="1" bandRow="1">
                <a:tableStyleId>{5C22544A-7EE6-4342-B048-85BDC9FD1C3A}</a:tableStyleId>
              </a:tblPr>
              <a:tblGrid>
                <a:gridCol w="2246941">
                  <a:extLst>
                    <a:ext uri="{9D8B030D-6E8A-4147-A177-3AD203B41FA5}">
                      <a16:colId xmlns:a16="http://schemas.microsoft.com/office/drawing/2014/main" val="3573136499"/>
                    </a:ext>
                  </a:extLst>
                </a:gridCol>
                <a:gridCol w="5881059">
                  <a:extLst>
                    <a:ext uri="{9D8B030D-6E8A-4147-A177-3AD203B41FA5}">
                      <a16:colId xmlns:a16="http://schemas.microsoft.com/office/drawing/2014/main" val="3083567942"/>
                    </a:ext>
                  </a:extLst>
                </a:gridCol>
              </a:tblGrid>
              <a:tr h="370840">
                <a:tc>
                  <a:txBody>
                    <a:bodyPr/>
                    <a:lstStyle/>
                    <a:p>
                      <a:r>
                        <a:rPr lang="en-AU" sz="2800" dirty="0"/>
                        <a:t>Term</a:t>
                      </a:r>
                    </a:p>
                  </a:txBody>
                  <a:tcPr/>
                </a:tc>
                <a:tc>
                  <a:txBody>
                    <a:bodyPr/>
                    <a:lstStyle/>
                    <a:p>
                      <a:r>
                        <a:rPr lang="en-AU" sz="2800" dirty="0"/>
                        <a:t>Definition</a:t>
                      </a:r>
                    </a:p>
                  </a:txBody>
                  <a:tcPr/>
                </a:tc>
                <a:extLst>
                  <a:ext uri="{0D108BD9-81ED-4DB2-BD59-A6C34878D82A}">
                    <a16:rowId xmlns:a16="http://schemas.microsoft.com/office/drawing/2014/main" val="65822485"/>
                  </a:ext>
                </a:extLst>
              </a:tr>
              <a:tr h="370840">
                <a:tc>
                  <a:txBody>
                    <a:bodyPr/>
                    <a:lstStyle/>
                    <a:p>
                      <a:endParaRPr lang="en-AU" sz="2800"/>
                    </a:p>
                  </a:txBody>
                  <a:tcPr/>
                </a:tc>
                <a:tc>
                  <a:txBody>
                    <a:bodyPr/>
                    <a:lstStyle/>
                    <a:p>
                      <a:r>
                        <a:rPr lang="en-AU" sz="2800" dirty="0"/>
                        <a:t>The recovery of information stored in the brain</a:t>
                      </a:r>
                    </a:p>
                  </a:txBody>
                  <a:tcPr/>
                </a:tc>
                <a:extLst>
                  <a:ext uri="{0D108BD9-81ED-4DB2-BD59-A6C34878D82A}">
                    <a16:rowId xmlns:a16="http://schemas.microsoft.com/office/drawing/2014/main" val="3887512260"/>
                  </a:ext>
                </a:extLst>
              </a:tr>
              <a:tr h="370840">
                <a:tc>
                  <a:txBody>
                    <a:bodyPr/>
                    <a:lstStyle/>
                    <a:p>
                      <a:endParaRPr lang="en-AU" sz="2800"/>
                    </a:p>
                  </a:txBody>
                  <a:tcPr/>
                </a:tc>
                <a:tc>
                  <a:txBody>
                    <a:bodyPr/>
                    <a:lstStyle/>
                    <a:p>
                      <a:r>
                        <a:rPr lang="en-AU" sz="2800" dirty="0"/>
                        <a:t>A psychological version of the original sound, thought,</a:t>
                      </a:r>
                      <a:r>
                        <a:rPr lang="en-AU" sz="2800" baseline="0" dirty="0"/>
                        <a:t> object or concept</a:t>
                      </a:r>
                      <a:endParaRPr lang="en-AU" sz="2800" dirty="0"/>
                    </a:p>
                  </a:txBody>
                  <a:tcPr/>
                </a:tc>
                <a:extLst>
                  <a:ext uri="{0D108BD9-81ED-4DB2-BD59-A6C34878D82A}">
                    <a16:rowId xmlns:a16="http://schemas.microsoft.com/office/drawing/2014/main" val="2850852174"/>
                  </a:ext>
                </a:extLst>
              </a:tr>
              <a:tr h="370840">
                <a:tc>
                  <a:txBody>
                    <a:bodyPr/>
                    <a:lstStyle/>
                    <a:p>
                      <a:endParaRPr lang="en-AU" sz="2800"/>
                    </a:p>
                  </a:txBody>
                  <a:tcPr/>
                </a:tc>
                <a:tc>
                  <a:txBody>
                    <a:bodyPr/>
                    <a:lstStyle/>
                    <a:p>
                      <a:r>
                        <a:rPr lang="en-AU" sz="2800" dirty="0"/>
                        <a:t>Conversion of sensory</a:t>
                      </a:r>
                      <a:r>
                        <a:rPr lang="en-AU" sz="2800" baseline="0" dirty="0"/>
                        <a:t> information into a form that can be processed by the brain</a:t>
                      </a:r>
                      <a:endParaRPr lang="en-AU" sz="2800" dirty="0"/>
                    </a:p>
                  </a:txBody>
                  <a:tcPr/>
                </a:tc>
                <a:extLst>
                  <a:ext uri="{0D108BD9-81ED-4DB2-BD59-A6C34878D82A}">
                    <a16:rowId xmlns:a16="http://schemas.microsoft.com/office/drawing/2014/main" val="1875268316"/>
                  </a:ext>
                </a:extLst>
              </a:tr>
              <a:tr h="370840">
                <a:tc>
                  <a:txBody>
                    <a:bodyPr/>
                    <a:lstStyle/>
                    <a:p>
                      <a:endParaRPr lang="en-AU" sz="2800" dirty="0"/>
                    </a:p>
                  </a:txBody>
                  <a:tcPr/>
                </a:tc>
                <a:tc>
                  <a:txBody>
                    <a:bodyPr/>
                    <a:lstStyle/>
                    <a:p>
                      <a:r>
                        <a:rPr lang="en-AU" sz="2800" dirty="0"/>
                        <a:t>Retention of the information via networks of neurons</a:t>
                      </a:r>
                    </a:p>
                  </a:txBody>
                  <a:tcPr/>
                </a:tc>
                <a:extLst>
                  <a:ext uri="{0D108BD9-81ED-4DB2-BD59-A6C34878D82A}">
                    <a16:rowId xmlns:a16="http://schemas.microsoft.com/office/drawing/2014/main" val="4226384118"/>
                  </a:ext>
                </a:extLst>
              </a:tr>
            </a:tbl>
          </a:graphicData>
        </a:graphic>
      </p:graphicFrame>
    </p:spTree>
    <p:extLst>
      <p:ext uri="{BB962C8B-B14F-4D97-AF65-F5344CB8AC3E}">
        <p14:creationId xmlns:p14="http://schemas.microsoft.com/office/powerpoint/2010/main" val="563758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968245" y="1241928"/>
            <a:ext cx="2244269"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 - CFU</a:t>
            </a:r>
          </a:p>
        </p:txBody>
      </p:sp>
      <p:sp>
        <p:nvSpPr>
          <p:cNvPr id="12" name="TextBox 11">
            <a:extLst>
              <a:ext uri="{FF2B5EF4-FFF2-40B4-BE49-F238E27FC236}">
                <a16:creationId xmlns:a16="http://schemas.microsoft.com/office/drawing/2014/main" id="{389C038F-68E5-534D-9A6B-215CB0C63181}"/>
              </a:ext>
            </a:extLst>
          </p:cNvPr>
          <p:cNvSpPr txBox="1"/>
          <p:nvPr/>
        </p:nvSpPr>
        <p:spPr>
          <a:xfrm>
            <a:off x="2154824" y="125301"/>
            <a:ext cx="5945602" cy="10772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The multi-store model of memory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(Atkinson &amp; Shiffrin, 1968)</a:t>
            </a:r>
          </a:p>
        </p:txBody>
      </p:sp>
      <p:graphicFrame>
        <p:nvGraphicFramePr>
          <p:cNvPr id="6" name="Table 5">
            <a:extLst>
              <a:ext uri="{FF2B5EF4-FFF2-40B4-BE49-F238E27FC236}">
                <a16:creationId xmlns:a16="http://schemas.microsoft.com/office/drawing/2014/main" id="{63F63036-378C-8340-BB5A-3947501DE972}"/>
              </a:ext>
            </a:extLst>
          </p:cNvPr>
          <p:cNvGraphicFramePr>
            <a:graphicFrameLocks noGrp="1"/>
          </p:cNvGraphicFramePr>
          <p:nvPr/>
        </p:nvGraphicFramePr>
        <p:xfrm>
          <a:off x="8716488" y="5856138"/>
          <a:ext cx="3475512" cy="949960"/>
        </p:xfrm>
        <a:graphic>
          <a:graphicData uri="http://schemas.openxmlformats.org/drawingml/2006/table">
            <a:tbl>
              <a:tblPr firstRow="1" bandRow="1">
                <a:tableStyleId>{5C22544A-7EE6-4342-B048-85BDC9FD1C3A}</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Checking for understanding:</a:t>
                      </a:r>
                    </a:p>
                  </a:txBody>
                  <a:tcPr/>
                </a:tc>
                <a:extLst>
                  <a:ext uri="{0D108BD9-81ED-4DB2-BD59-A6C34878D82A}">
                    <a16:rowId xmlns:a16="http://schemas.microsoft.com/office/drawing/2014/main" val="1235380871"/>
                  </a:ext>
                </a:extLst>
              </a:tr>
              <a:tr h="370840">
                <a:tc>
                  <a:txBody>
                    <a:bodyPr/>
                    <a:lstStyle/>
                    <a:p>
                      <a:pPr marL="342900" indent="-342900">
                        <a:buAutoNum type="arabicPeriod"/>
                      </a:pPr>
                      <a:r>
                        <a:rPr lang="en-AU" sz="1600" b="0" dirty="0"/>
                        <a:t>Why is retrieval an essential</a:t>
                      </a:r>
                      <a:r>
                        <a:rPr lang="en-AU" sz="1600" b="0" baseline="0" dirty="0"/>
                        <a:t> part in the process of memory?</a:t>
                      </a:r>
                      <a:endParaRPr lang="en-AU" sz="1600" b="0" dirty="0"/>
                    </a:p>
                  </a:txBody>
                  <a:tcPr/>
                </a:tc>
                <a:extLst>
                  <a:ext uri="{0D108BD9-81ED-4DB2-BD59-A6C34878D82A}">
                    <a16:rowId xmlns:a16="http://schemas.microsoft.com/office/drawing/2014/main" val="3546612696"/>
                  </a:ext>
                </a:extLst>
              </a:tr>
            </a:tbl>
          </a:graphicData>
        </a:graphic>
      </p:graphicFrame>
      <p:graphicFrame>
        <p:nvGraphicFramePr>
          <p:cNvPr id="8" name="Table 7">
            <a:extLst>
              <a:ext uri="{FF2B5EF4-FFF2-40B4-BE49-F238E27FC236}">
                <a16:creationId xmlns:a16="http://schemas.microsoft.com/office/drawing/2014/main" id="{3E38FB5A-5753-CE44-AB97-A40EAE124C0E}"/>
              </a:ext>
            </a:extLst>
          </p:cNvPr>
          <p:cNvGraphicFramePr>
            <a:graphicFrameLocks noGrp="1"/>
          </p:cNvGraphicFramePr>
          <p:nvPr/>
        </p:nvGraphicFramePr>
        <p:xfrm>
          <a:off x="8716488" y="305893"/>
          <a:ext cx="3475512" cy="241300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encoded:</a:t>
                      </a:r>
                      <a:r>
                        <a:rPr lang="en-AU" sz="1600" b="0" dirty="0"/>
                        <a:t> converted into a form that can be processed by the brain</a:t>
                      </a:r>
                      <a:endParaRPr lang="en-AU" sz="16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graphicFrame>
        <p:nvGraphicFramePr>
          <p:cNvPr id="2" name="Table 1"/>
          <p:cNvGraphicFramePr>
            <a:graphicFrameLocks noGrp="1"/>
          </p:cNvGraphicFramePr>
          <p:nvPr/>
        </p:nvGraphicFramePr>
        <p:xfrm>
          <a:off x="448133" y="1776271"/>
          <a:ext cx="8128000" cy="4724400"/>
        </p:xfrm>
        <a:graphic>
          <a:graphicData uri="http://schemas.openxmlformats.org/drawingml/2006/table">
            <a:tbl>
              <a:tblPr firstRow="1" bandRow="1">
                <a:tableStyleId>{5C22544A-7EE6-4342-B048-85BDC9FD1C3A}</a:tableStyleId>
              </a:tblPr>
              <a:tblGrid>
                <a:gridCol w="2246941">
                  <a:extLst>
                    <a:ext uri="{9D8B030D-6E8A-4147-A177-3AD203B41FA5}">
                      <a16:colId xmlns:a16="http://schemas.microsoft.com/office/drawing/2014/main" val="3573136499"/>
                    </a:ext>
                  </a:extLst>
                </a:gridCol>
                <a:gridCol w="5881059">
                  <a:extLst>
                    <a:ext uri="{9D8B030D-6E8A-4147-A177-3AD203B41FA5}">
                      <a16:colId xmlns:a16="http://schemas.microsoft.com/office/drawing/2014/main" val="3083567942"/>
                    </a:ext>
                  </a:extLst>
                </a:gridCol>
              </a:tblGrid>
              <a:tr h="370840">
                <a:tc>
                  <a:txBody>
                    <a:bodyPr/>
                    <a:lstStyle/>
                    <a:p>
                      <a:r>
                        <a:rPr lang="en-AU" sz="2800" dirty="0"/>
                        <a:t>Term</a:t>
                      </a:r>
                    </a:p>
                  </a:txBody>
                  <a:tcPr/>
                </a:tc>
                <a:tc>
                  <a:txBody>
                    <a:bodyPr/>
                    <a:lstStyle/>
                    <a:p>
                      <a:r>
                        <a:rPr lang="en-AU" sz="2800" dirty="0"/>
                        <a:t>Definition</a:t>
                      </a:r>
                    </a:p>
                  </a:txBody>
                  <a:tcPr/>
                </a:tc>
                <a:extLst>
                  <a:ext uri="{0D108BD9-81ED-4DB2-BD59-A6C34878D82A}">
                    <a16:rowId xmlns:a16="http://schemas.microsoft.com/office/drawing/2014/main" val="65822485"/>
                  </a:ext>
                </a:extLst>
              </a:tr>
              <a:tr h="370840">
                <a:tc>
                  <a:txBody>
                    <a:bodyPr/>
                    <a:lstStyle/>
                    <a:p>
                      <a:endParaRPr lang="en-AU" sz="2800"/>
                    </a:p>
                  </a:txBody>
                  <a:tcPr/>
                </a:tc>
                <a:tc>
                  <a:txBody>
                    <a:bodyPr/>
                    <a:lstStyle/>
                    <a:p>
                      <a:r>
                        <a:rPr lang="en-AU" sz="2800" dirty="0"/>
                        <a:t>The recovery of information stored in the brain</a:t>
                      </a:r>
                    </a:p>
                  </a:txBody>
                  <a:tcPr/>
                </a:tc>
                <a:extLst>
                  <a:ext uri="{0D108BD9-81ED-4DB2-BD59-A6C34878D82A}">
                    <a16:rowId xmlns:a16="http://schemas.microsoft.com/office/drawing/2014/main" val="3887512260"/>
                  </a:ext>
                </a:extLst>
              </a:tr>
              <a:tr h="370840">
                <a:tc>
                  <a:txBody>
                    <a:bodyPr/>
                    <a:lstStyle/>
                    <a:p>
                      <a:endParaRPr lang="en-AU" sz="2800"/>
                    </a:p>
                  </a:txBody>
                  <a:tcPr/>
                </a:tc>
                <a:tc>
                  <a:txBody>
                    <a:bodyPr/>
                    <a:lstStyle/>
                    <a:p>
                      <a:r>
                        <a:rPr lang="en-AU" sz="2800" dirty="0"/>
                        <a:t>A psychological version of the original sound, thought,</a:t>
                      </a:r>
                      <a:r>
                        <a:rPr lang="en-AU" sz="2800" baseline="0" dirty="0"/>
                        <a:t> object or concept</a:t>
                      </a:r>
                      <a:endParaRPr lang="en-AU" sz="2800" dirty="0"/>
                    </a:p>
                  </a:txBody>
                  <a:tcPr/>
                </a:tc>
                <a:extLst>
                  <a:ext uri="{0D108BD9-81ED-4DB2-BD59-A6C34878D82A}">
                    <a16:rowId xmlns:a16="http://schemas.microsoft.com/office/drawing/2014/main" val="2850852174"/>
                  </a:ext>
                </a:extLst>
              </a:tr>
              <a:tr h="370840">
                <a:tc>
                  <a:txBody>
                    <a:bodyPr/>
                    <a:lstStyle/>
                    <a:p>
                      <a:endParaRPr lang="en-AU" sz="2800"/>
                    </a:p>
                  </a:txBody>
                  <a:tcPr/>
                </a:tc>
                <a:tc>
                  <a:txBody>
                    <a:bodyPr/>
                    <a:lstStyle/>
                    <a:p>
                      <a:r>
                        <a:rPr lang="en-AU" sz="2800" dirty="0"/>
                        <a:t>Conversion of sensory</a:t>
                      </a:r>
                      <a:r>
                        <a:rPr lang="en-AU" sz="2800" baseline="0" dirty="0"/>
                        <a:t> information into a form that can be processed by the brain</a:t>
                      </a:r>
                      <a:endParaRPr lang="en-AU" sz="2800" dirty="0"/>
                    </a:p>
                  </a:txBody>
                  <a:tcPr/>
                </a:tc>
                <a:extLst>
                  <a:ext uri="{0D108BD9-81ED-4DB2-BD59-A6C34878D82A}">
                    <a16:rowId xmlns:a16="http://schemas.microsoft.com/office/drawing/2014/main" val="1875268316"/>
                  </a:ext>
                </a:extLst>
              </a:tr>
              <a:tr h="370840">
                <a:tc>
                  <a:txBody>
                    <a:bodyPr/>
                    <a:lstStyle/>
                    <a:p>
                      <a:endParaRPr lang="en-AU" sz="2800" dirty="0"/>
                    </a:p>
                  </a:txBody>
                  <a:tcPr/>
                </a:tc>
                <a:tc>
                  <a:txBody>
                    <a:bodyPr/>
                    <a:lstStyle/>
                    <a:p>
                      <a:r>
                        <a:rPr lang="en-AU" sz="2800" dirty="0"/>
                        <a:t>Retention of the information via networks of neurons</a:t>
                      </a:r>
                    </a:p>
                  </a:txBody>
                  <a:tcPr/>
                </a:tc>
                <a:extLst>
                  <a:ext uri="{0D108BD9-81ED-4DB2-BD59-A6C34878D82A}">
                    <a16:rowId xmlns:a16="http://schemas.microsoft.com/office/drawing/2014/main" val="4226384118"/>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590040" y="2512440"/>
              <a:ext cx="1845360" cy="3759480"/>
            </p14:xfrm>
          </p:contentPart>
        </mc:Choice>
        <mc:Fallback xmlns="">
          <p:pic>
            <p:nvPicPr>
              <p:cNvPr id="3" name="Ink 2"/>
              <p:cNvPicPr/>
              <p:nvPr/>
            </p:nvPicPr>
            <p:blipFill>
              <a:blip r:embed="rId3"/>
              <a:stretch>
                <a:fillRect/>
              </a:stretch>
            </p:blipFill>
            <p:spPr>
              <a:xfrm>
                <a:off x="580680" y="2503080"/>
                <a:ext cx="1864080" cy="3778200"/>
              </a:xfrm>
              <a:prstGeom prst="rect">
                <a:avLst/>
              </a:prstGeom>
            </p:spPr>
          </p:pic>
        </mc:Fallback>
      </mc:AlternateContent>
    </p:spTree>
    <p:extLst>
      <p:ext uri="{BB962C8B-B14F-4D97-AF65-F5344CB8AC3E}">
        <p14:creationId xmlns:p14="http://schemas.microsoft.com/office/powerpoint/2010/main" val="2258892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242916245"/>
              </p:ext>
            </p:extLst>
          </p:nvPr>
        </p:nvGraphicFramePr>
        <p:xfrm>
          <a:off x="484908" y="4343624"/>
          <a:ext cx="11075524" cy="2433276"/>
        </p:xfrm>
        <a:graphic>
          <a:graphicData uri="http://schemas.openxmlformats.org/drawingml/2006/table">
            <a:tbl>
              <a:tblPr firstRow="1" bandRow="1">
                <a:tableStyleId>{5C22544A-7EE6-4342-B048-85BDC9FD1C3A}</a:tableStyleId>
              </a:tblPr>
              <a:tblGrid>
                <a:gridCol w="11075524">
                  <a:extLst>
                    <a:ext uri="{9D8B030D-6E8A-4147-A177-3AD203B41FA5}">
                      <a16:colId xmlns:a16="http://schemas.microsoft.com/office/drawing/2014/main" val="20000"/>
                    </a:ext>
                  </a:extLst>
                </a:gridCol>
              </a:tblGrid>
              <a:tr h="744198">
                <a:tc>
                  <a:txBody>
                    <a:bodyPr/>
                    <a:lstStyle/>
                    <a:p>
                      <a:r>
                        <a:rPr lang="en-US" sz="3600" dirty="0"/>
                        <a:t>Everyone </a:t>
                      </a:r>
                    </a:p>
                  </a:txBody>
                  <a:tcPr/>
                </a:tc>
                <a:extLst>
                  <a:ext uri="{0D108BD9-81ED-4DB2-BD59-A6C34878D82A}">
                    <a16:rowId xmlns:a16="http://schemas.microsoft.com/office/drawing/2014/main" val="10000"/>
                  </a:ext>
                </a:extLst>
              </a:tr>
              <a:tr h="744198">
                <a:tc>
                  <a:txBody>
                    <a:bodyPr/>
                    <a:lstStyle/>
                    <a:p>
                      <a:r>
                        <a:rPr lang="en-AU" sz="3200" b="0" i="0" kern="1200" dirty="0">
                          <a:solidFill>
                            <a:schemeClr val="dk1"/>
                          </a:solidFill>
                          <a:effectLst/>
                          <a:latin typeface="+mn-lt"/>
                          <a:ea typeface="+mn-ea"/>
                          <a:cs typeface="+mn-cs"/>
                        </a:rPr>
                        <a:t>I will have tried out elaborative and maintenance rehearsal </a:t>
                      </a:r>
                    </a:p>
                  </a:txBody>
                  <a:tcPr/>
                </a:tc>
                <a:extLst>
                  <a:ext uri="{0D108BD9-81ED-4DB2-BD59-A6C34878D82A}">
                    <a16:rowId xmlns:a16="http://schemas.microsoft.com/office/drawing/2014/main" val="10001"/>
                  </a:ext>
                </a:extLst>
              </a:tr>
              <a:tr h="7441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800" b="0" i="0" kern="1200" dirty="0">
                          <a:solidFill>
                            <a:schemeClr val="dk1"/>
                          </a:solidFill>
                          <a:effectLst/>
                          <a:latin typeface="+mn-lt"/>
                          <a:ea typeface="+mn-ea"/>
                          <a:cs typeface="+mn-cs"/>
                        </a:rPr>
                        <a:t>I will have a diagram showing the different types of long-term memory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800" dirty="0"/>
                    </a:p>
                  </a:txBody>
                  <a:tcPr/>
                </a:tc>
                <a:extLst>
                  <a:ext uri="{0D108BD9-81ED-4DB2-BD59-A6C34878D82A}">
                    <a16:rowId xmlns:a16="http://schemas.microsoft.com/office/drawing/2014/main" val="10002"/>
                  </a:ext>
                </a:extLst>
              </a:tr>
            </a:tbl>
          </a:graphicData>
        </a:graphic>
      </p:graphicFrame>
      <p:sp>
        <p:nvSpPr>
          <p:cNvPr id="4" name="Title 1"/>
          <p:cNvSpPr txBox="1">
            <a:spLocks/>
          </p:cNvSpPr>
          <p:nvPr/>
        </p:nvSpPr>
        <p:spPr>
          <a:xfrm>
            <a:off x="-184165" y="0"/>
            <a:ext cx="5622766"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b="1" dirty="0">
                <a:solidFill>
                  <a:schemeClr val="accent1"/>
                </a:solidFill>
              </a:rPr>
              <a:t>Learning Intention </a:t>
            </a:r>
          </a:p>
        </p:txBody>
      </p:sp>
      <p:sp>
        <p:nvSpPr>
          <p:cNvPr id="5" name="TextBox 4"/>
          <p:cNvSpPr txBox="1"/>
          <p:nvPr/>
        </p:nvSpPr>
        <p:spPr>
          <a:xfrm>
            <a:off x="631568" y="1100561"/>
            <a:ext cx="11075524" cy="2246769"/>
          </a:xfrm>
          <a:prstGeom prst="rect">
            <a:avLst/>
          </a:prstGeom>
          <a:noFill/>
        </p:spPr>
        <p:txBody>
          <a:bodyPr wrap="square" rtlCol="0">
            <a:spAutoFit/>
          </a:bodyPr>
          <a:lstStyle/>
          <a:p>
            <a:r>
              <a:rPr lang="en-US" sz="2400" dirty="0"/>
              <a:t>By the end of the lesson I will be able to:</a:t>
            </a:r>
            <a:br>
              <a:rPr lang="en-US" sz="2400" dirty="0"/>
            </a:br>
            <a:endParaRPr lang="en-US" sz="2400" dirty="0"/>
          </a:p>
          <a:p>
            <a:r>
              <a:rPr lang="en-US" sz="2400" dirty="0"/>
              <a:t>Explain the difference between maintenance and elaborative rehearsal</a:t>
            </a:r>
          </a:p>
          <a:p>
            <a:endParaRPr lang="en-US" sz="2400" dirty="0"/>
          </a:p>
          <a:p>
            <a:r>
              <a:rPr lang="en-US" sz="2400" dirty="0"/>
              <a:t>Describe the different types of long-term memory </a:t>
            </a:r>
            <a:endParaRPr lang="en-US" sz="2000" dirty="0"/>
          </a:p>
          <a:p>
            <a:endParaRPr lang="en-US" sz="2000" dirty="0">
              <a:solidFill>
                <a:srgbClr val="194431"/>
              </a:solidFill>
            </a:endParaRPr>
          </a:p>
        </p:txBody>
      </p:sp>
      <p:pic>
        <p:nvPicPr>
          <p:cNvPr id="3" name="Picture 2" descr="Iconsmind-Outline-Pen-5.ic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7431" y="136524"/>
            <a:ext cx="1143001" cy="1143001"/>
          </a:xfrm>
          <a:prstGeom prst="rect">
            <a:avLst/>
          </a:prstGeom>
        </p:spPr>
      </p:pic>
      <p:sp>
        <p:nvSpPr>
          <p:cNvPr id="9" name="Title 1">
            <a:extLst>
              <a:ext uri="{FF2B5EF4-FFF2-40B4-BE49-F238E27FC236}">
                <a16:creationId xmlns:a16="http://schemas.microsoft.com/office/drawing/2014/main" id="{6676DBBC-1F85-554D-A2D6-B79EE01495D2}"/>
              </a:ext>
            </a:extLst>
          </p:cNvPr>
          <p:cNvSpPr txBox="1">
            <a:spLocks/>
          </p:cNvSpPr>
          <p:nvPr/>
        </p:nvSpPr>
        <p:spPr>
          <a:xfrm>
            <a:off x="-184165" y="3149824"/>
            <a:ext cx="5622766"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b="1" dirty="0">
                <a:solidFill>
                  <a:schemeClr val="accent1"/>
                </a:solidFill>
              </a:rPr>
              <a:t>Success Criteria</a:t>
            </a:r>
          </a:p>
        </p:txBody>
      </p:sp>
    </p:spTree>
    <p:extLst>
      <p:ext uri="{BB962C8B-B14F-4D97-AF65-F5344CB8AC3E}">
        <p14:creationId xmlns:p14="http://schemas.microsoft.com/office/powerpoint/2010/main" val="773920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856159" y="1241928"/>
            <a:ext cx="2020105"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Activate Prior Knowledge</a:t>
            </a:r>
          </a:p>
        </p:txBody>
      </p:sp>
      <p:sp>
        <p:nvSpPr>
          <p:cNvPr id="2" name="TextBox 1">
            <a:extLst>
              <a:ext uri="{FF2B5EF4-FFF2-40B4-BE49-F238E27FC236}">
                <a16:creationId xmlns:a16="http://schemas.microsoft.com/office/drawing/2014/main" id="{B690CFB9-DCF4-3B4E-B435-6C7B61EC0F57}"/>
              </a:ext>
            </a:extLst>
          </p:cNvPr>
          <p:cNvSpPr txBox="1"/>
          <p:nvPr/>
        </p:nvSpPr>
        <p:spPr>
          <a:xfrm>
            <a:off x="751114" y="6025243"/>
            <a:ext cx="716991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CLASS: WATCH THE MIND, EXPLAINED FROM 2:40 ON NETFLIX, skip to 6.40 </a:t>
            </a:r>
          </a:p>
        </p:txBody>
      </p:sp>
      <p:pic>
        <p:nvPicPr>
          <p:cNvPr id="4" name="Online Media 3" descr="How to Memorize Fast and Easily">
            <a:hlinkClick r:id="" action="ppaction://media"/>
            <a:extLst>
              <a:ext uri="{FF2B5EF4-FFF2-40B4-BE49-F238E27FC236}">
                <a16:creationId xmlns:a16="http://schemas.microsoft.com/office/drawing/2014/main" id="{5A4973CE-3EB4-6D45-9D97-AD39BF2BFB35}"/>
              </a:ext>
            </a:extLst>
          </p:cNvPr>
          <p:cNvPicPr>
            <a:picLocks noRot="1" noChangeAspect="1"/>
          </p:cNvPicPr>
          <p:nvPr>
            <a:videoFile r:link="rId1"/>
          </p:nvPr>
        </p:nvPicPr>
        <p:blipFill>
          <a:blip r:embed="rId3"/>
          <a:stretch>
            <a:fillRect/>
          </a:stretch>
        </p:blipFill>
        <p:spPr>
          <a:xfrm>
            <a:off x="2631364" y="929848"/>
            <a:ext cx="7510091" cy="4224426"/>
          </a:xfrm>
          <a:prstGeom prst="rect">
            <a:avLst/>
          </a:prstGeom>
        </p:spPr>
      </p:pic>
    </p:spTree>
    <p:extLst>
      <p:ext uri="{BB962C8B-B14F-4D97-AF65-F5344CB8AC3E}">
        <p14:creationId xmlns:p14="http://schemas.microsoft.com/office/powerpoint/2010/main" val="3948355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12" name="TextBox 11">
            <a:extLst>
              <a:ext uri="{FF2B5EF4-FFF2-40B4-BE49-F238E27FC236}">
                <a16:creationId xmlns:a16="http://schemas.microsoft.com/office/drawing/2014/main" id="{389C038F-68E5-534D-9A6B-215CB0C63181}"/>
              </a:ext>
            </a:extLst>
          </p:cNvPr>
          <p:cNvSpPr txBox="1"/>
          <p:nvPr/>
        </p:nvSpPr>
        <p:spPr>
          <a:xfrm>
            <a:off x="3691881" y="125301"/>
            <a:ext cx="2871492"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Rehearsal types</a:t>
            </a:r>
          </a:p>
        </p:txBody>
      </p:sp>
      <p:graphicFrame>
        <p:nvGraphicFramePr>
          <p:cNvPr id="6" name="Table 5">
            <a:extLst>
              <a:ext uri="{FF2B5EF4-FFF2-40B4-BE49-F238E27FC236}">
                <a16:creationId xmlns:a16="http://schemas.microsoft.com/office/drawing/2014/main" id="{63F63036-378C-8340-BB5A-3947501DE972}"/>
              </a:ext>
            </a:extLst>
          </p:cNvPr>
          <p:cNvGraphicFramePr>
            <a:graphicFrameLocks noGrp="1"/>
          </p:cNvGraphicFramePr>
          <p:nvPr>
            <p:extLst>
              <p:ext uri="{D42A27DB-BD31-4B8C-83A1-F6EECF244321}">
                <p14:modId xmlns:p14="http://schemas.microsoft.com/office/powerpoint/2010/main" val="1536558930"/>
              </p:ext>
            </p:extLst>
          </p:nvPr>
        </p:nvGraphicFramePr>
        <p:xfrm>
          <a:off x="8871284" y="4895552"/>
          <a:ext cx="3320716" cy="1909201"/>
        </p:xfrm>
        <a:graphic>
          <a:graphicData uri="http://schemas.openxmlformats.org/drawingml/2006/table">
            <a:tbl>
              <a:tblPr firstRow="1" bandRow="1">
                <a:tableStyleId>{5C22544A-7EE6-4342-B048-85BDC9FD1C3A}</a:tableStyleId>
              </a:tblPr>
              <a:tblGrid>
                <a:gridCol w="3320716">
                  <a:extLst>
                    <a:ext uri="{9D8B030D-6E8A-4147-A177-3AD203B41FA5}">
                      <a16:colId xmlns:a16="http://schemas.microsoft.com/office/drawing/2014/main" val="984443331"/>
                    </a:ext>
                  </a:extLst>
                </a:gridCol>
              </a:tblGrid>
              <a:tr h="354721">
                <a:tc>
                  <a:txBody>
                    <a:bodyPr/>
                    <a:lstStyle/>
                    <a:p>
                      <a:pPr algn="ctr"/>
                      <a:r>
                        <a:rPr lang="en-AU" sz="1600" dirty="0"/>
                        <a:t>Checking for understanding:</a:t>
                      </a:r>
                    </a:p>
                  </a:txBody>
                  <a:tcPr/>
                </a:tc>
                <a:extLst>
                  <a:ext uri="{0D108BD9-81ED-4DB2-BD59-A6C34878D82A}">
                    <a16:rowId xmlns:a16="http://schemas.microsoft.com/office/drawing/2014/main" val="1235380871"/>
                  </a:ext>
                </a:extLst>
              </a:tr>
              <a:tr h="1253670">
                <a:tc>
                  <a:txBody>
                    <a:bodyPr/>
                    <a:lstStyle/>
                    <a:p>
                      <a:pPr marL="342900" indent="-342900">
                        <a:buAutoNum type="arabicPeriod"/>
                      </a:pPr>
                      <a:r>
                        <a:rPr lang="en-AU" sz="1600" b="0" dirty="0"/>
                        <a:t>When do we use each type of rehearsal</a:t>
                      </a:r>
                    </a:p>
                    <a:p>
                      <a:pPr marL="342900" indent="-342900">
                        <a:buAutoNum type="arabicPeriod"/>
                      </a:pPr>
                      <a:r>
                        <a:rPr lang="en-AU" sz="1600" b="0" dirty="0"/>
                        <a:t>Which is better for studying for tests</a:t>
                      </a:r>
                    </a:p>
                    <a:p>
                      <a:pPr marL="342900" indent="-342900">
                        <a:buAutoNum type="arabicPeriod"/>
                      </a:pPr>
                      <a:r>
                        <a:rPr lang="en-AU" sz="1600" b="0" dirty="0"/>
                        <a:t>How do </a:t>
                      </a:r>
                      <a:r>
                        <a:rPr lang="en-AU" sz="1600" b="1" dirty="0"/>
                        <a:t>you </a:t>
                      </a:r>
                      <a:r>
                        <a:rPr lang="en-AU" sz="1600" b="0" dirty="0"/>
                        <a:t>remember information</a:t>
                      </a:r>
                      <a:endParaRPr lang="en-AU" sz="1600" b="1" dirty="0"/>
                    </a:p>
                  </a:txBody>
                  <a:tcPr/>
                </a:tc>
                <a:extLst>
                  <a:ext uri="{0D108BD9-81ED-4DB2-BD59-A6C34878D82A}">
                    <a16:rowId xmlns:a16="http://schemas.microsoft.com/office/drawing/2014/main" val="3546612696"/>
                  </a:ext>
                </a:extLst>
              </a:tr>
            </a:tbl>
          </a:graphicData>
        </a:graphic>
      </p:graphicFrame>
      <p:graphicFrame>
        <p:nvGraphicFramePr>
          <p:cNvPr id="8" name="Table 7">
            <a:extLst>
              <a:ext uri="{FF2B5EF4-FFF2-40B4-BE49-F238E27FC236}">
                <a16:creationId xmlns:a16="http://schemas.microsoft.com/office/drawing/2014/main" id="{3E38FB5A-5753-CE44-AB97-A40EAE124C0E}"/>
              </a:ext>
            </a:extLst>
          </p:cNvPr>
          <p:cNvGraphicFramePr>
            <a:graphicFrameLocks noGrp="1"/>
          </p:cNvGraphicFramePr>
          <p:nvPr>
            <p:extLst>
              <p:ext uri="{D42A27DB-BD31-4B8C-83A1-F6EECF244321}">
                <p14:modId xmlns:p14="http://schemas.microsoft.com/office/powerpoint/2010/main" val="653956906"/>
              </p:ext>
            </p:extLst>
          </p:nvPr>
        </p:nvGraphicFramePr>
        <p:xfrm>
          <a:off x="8716488" y="0"/>
          <a:ext cx="3475512" cy="241300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encoded:</a:t>
                      </a:r>
                      <a:r>
                        <a:rPr lang="en-AU" sz="1600" b="0" dirty="0"/>
                        <a:t> converted into a form that can be processed by the brain</a:t>
                      </a:r>
                      <a:endParaRPr lang="en-AU" sz="16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pic>
        <p:nvPicPr>
          <p:cNvPr id="5122" name="Picture 2" descr="MSM - Psychology4A.com">
            <a:extLst>
              <a:ext uri="{FF2B5EF4-FFF2-40B4-BE49-F238E27FC236}">
                <a16:creationId xmlns:a16="http://schemas.microsoft.com/office/drawing/2014/main" id="{78B6A521-E973-9041-94EC-6E74A2C7AD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78" r="5253"/>
          <a:stretch/>
        </p:blipFill>
        <p:spPr bwMode="auto">
          <a:xfrm>
            <a:off x="448133" y="3501136"/>
            <a:ext cx="7556740" cy="321678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3">
            <a:extLst>
              <a:ext uri="{FF2B5EF4-FFF2-40B4-BE49-F238E27FC236}">
                <a16:creationId xmlns:a16="http://schemas.microsoft.com/office/drawing/2014/main" id="{1BFAFD61-EF09-7140-9FBD-94A6CCDA3D8E}"/>
              </a:ext>
            </a:extLst>
          </p:cNvPr>
          <p:cNvGraphicFramePr>
            <a:graphicFrameLocks noGrp="1"/>
          </p:cNvGraphicFramePr>
          <p:nvPr>
            <p:extLst>
              <p:ext uri="{D42A27DB-BD31-4B8C-83A1-F6EECF244321}">
                <p14:modId xmlns:p14="http://schemas.microsoft.com/office/powerpoint/2010/main" val="1079958844"/>
              </p:ext>
            </p:extLst>
          </p:nvPr>
        </p:nvGraphicFramePr>
        <p:xfrm>
          <a:off x="448133" y="938785"/>
          <a:ext cx="8128000" cy="24180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796936903"/>
                    </a:ext>
                  </a:extLst>
                </a:gridCol>
                <a:gridCol w="4064000">
                  <a:extLst>
                    <a:ext uri="{9D8B030D-6E8A-4147-A177-3AD203B41FA5}">
                      <a16:colId xmlns:a16="http://schemas.microsoft.com/office/drawing/2014/main" val="26739360"/>
                    </a:ext>
                  </a:extLst>
                </a:gridCol>
              </a:tblGrid>
              <a:tr h="370840">
                <a:tc>
                  <a:txBody>
                    <a:bodyPr/>
                    <a:lstStyle/>
                    <a:p>
                      <a:pPr algn="ctr"/>
                      <a:r>
                        <a:rPr lang="en-US" sz="2000" dirty="0"/>
                        <a:t>Maintenance rehearsal</a:t>
                      </a:r>
                    </a:p>
                  </a:txBody>
                  <a:tcPr/>
                </a:tc>
                <a:tc>
                  <a:txBody>
                    <a:bodyPr/>
                    <a:lstStyle/>
                    <a:p>
                      <a:pPr algn="ctr"/>
                      <a:r>
                        <a:rPr lang="en-US" sz="2000" dirty="0"/>
                        <a:t>Elaborative rehearsal</a:t>
                      </a:r>
                    </a:p>
                  </a:txBody>
                  <a:tcPr/>
                </a:tc>
                <a:extLst>
                  <a:ext uri="{0D108BD9-81ED-4DB2-BD59-A6C34878D82A}">
                    <a16:rowId xmlns:a16="http://schemas.microsoft.com/office/drawing/2014/main" val="1737345210"/>
                  </a:ext>
                </a:extLst>
              </a:tr>
              <a:tr h="370840">
                <a:tc>
                  <a:txBody>
                    <a:bodyPr/>
                    <a:lstStyle/>
                    <a:p>
                      <a:r>
                        <a:rPr lang="en-US" dirty="0"/>
                        <a:t>Used to keep info in STM</a:t>
                      </a:r>
                    </a:p>
                  </a:txBody>
                  <a:tcPr/>
                </a:tc>
                <a:tc>
                  <a:txBody>
                    <a:bodyPr/>
                    <a:lstStyle/>
                    <a:p>
                      <a:r>
                        <a:rPr lang="en-US" dirty="0"/>
                        <a:t>Used to move info to LTM</a:t>
                      </a:r>
                    </a:p>
                  </a:txBody>
                  <a:tcPr/>
                </a:tc>
                <a:extLst>
                  <a:ext uri="{0D108BD9-81ED-4DB2-BD59-A6C34878D82A}">
                    <a16:rowId xmlns:a16="http://schemas.microsoft.com/office/drawing/2014/main" val="2190075982"/>
                  </a:ext>
                </a:extLst>
              </a:tr>
              <a:tr h="370840">
                <a:tc>
                  <a:txBody>
                    <a:bodyPr/>
                    <a:lstStyle/>
                    <a:p>
                      <a:r>
                        <a:rPr lang="en-US" dirty="0"/>
                        <a:t>Shallow processing / surface level processing </a:t>
                      </a:r>
                    </a:p>
                  </a:txBody>
                  <a:tcPr/>
                </a:tc>
                <a:tc>
                  <a:txBody>
                    <a:bodyPr/>
                    <a:lstStyle/>
                    <a:p>
                      <a:r>
                        <a:rPr lang="en-US" dirty="0"/>
                        <a:t>Deep processing of info and many retrieval cues made</a:t>
                      </a:r>
                    </a:p>
                  </a:txBody>
                  <a:tcPr/>
                </a:tc>
                <a:extLst>
                  <a:ext uri="{0D108BD9-81ED-4DB2-BD59-A6C34878D82A}">
                    <a16:rowId xmlns:a16="http://schemas.microsoft.com/office/drawing/2014/main" val="1871566088"/>
                  </a:ext>
                </a:extLst>
              </a:tr>
              <a:tr h="370840">
                <a:tc>
                  <a:txBody>
                    <a:bodyPr/>
                    <a:lstStyle/>
                    <a:p>
                      <a:r>
                        <a:rPr lang="en-US" dirty="0"/>
                        <a:t>Repetitive </a:t>
                      </a:r>
                    </a:p>
                  </a:txBody>
                  <a:tcPr/>
                </a:tc>
                <a:tc>
                  <a:txBody>
                    <a:bodyPr/>
                    <a:lstStyle/>
                    <a:p>
                      <a:r>
                        <a:rPr lang="en-US" dirty="0"/>
                        <a:t>Links new information to personal experience </a:t>
                      </a:r>
                    </a:p>
                  </a:txBody>
                  <a:tcPr/>
                </a:tc>
                <a:extLst>
                  <a:ext uri="{0D108BD9-81ED-4DB2-BD59-A6C34878D82A}">
                    <a16:rowId xmlns:a16="http://schemas.microsoft.com/office/drawing/2014/main" val="1706942782"/>
                  </a:ext>
                </a:extLst>
              </a:tr>
              <a:tr h="370840">
                <a:tc>
                  <a:txBody>
                    <a:bodyPr/>
                    <a:lstStyle/>
                    <a:p>
                      <a:r>
                        <a:rPr lang="en-US" dirty="0"/>
                        <a:t>Usually acoustic rehearsal </a:t>
                      </a:r>
                    </a:p>
                  </a:txBody>
                  <a:tcPr/>
                </a:tc>
                <a:tc>
                  <a:txBody>
                    <a:bodyPr/>
                    <a:lstStyle/>
                    <a:p>
                      <a:r>
                        <a:rPr lang="en-US" dirty="0"/>
                        <a:t>Can be visual, narrative based, mnemonic</a:t>
                      </a:r>
                    </a:p>
                  </a:txBody>
                  <a:tcPr/>
                </a:tc>
                <a:extLst>
                  <a:ext uri="{0D108BD9-81ED-4DB2-BD59-A6C34878D82A}">
                    <a16:rowId xmlns:a16="http://schemas.microsoft.com/office/drawing/2014/main" val="2766689393"/>
                  </a:ext>
                </a:extLst>
              </a:tr>
            </a:tbl>
          </a:graphicData>
        </a:graphic>
      </p:graphicFrame>
    </p:spTree>
    <p:extLst>
      <p:ext uri="{BB962C8B-B14F-4D97-AF65-F5344CB8AC3E}">
        <p14:creationId xmlns:p14="http://schemas.microsoft.com/office/powerpoint/2010/main" val="3298036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12" name="TextBox 11">
            <a:extLst>
              <a:ext uri="{FF2B5EF4-FFF2-40B4-BE49-F238E27FC236}">
                <a16:creationId xmlns:a16="http://schemas.microsoft.com/office/drawing/2014/main" id="{389C038F-68E5-534D-9A6B-215CB0C63181}"/>
              </a:ext>
            </a:extLst>
          </p:cNvPr>
          <p:cNvSpPr txBox="1"/>
          <p:nvPr/>
        </p:nvSpPr>
        <p:spPr>
          <a:xfrm>
            <a:off x="3237016" y="125301"/>
            <a:ext cx="3781228"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Elaborative rehearsal </a:t>
            </a:r>
          </a:p>
        </p:txBody>
      </p:sp>
      <p:graphicFrame>
        <p:nvGraphicFramePr>
          <p:cNvPr id="6" name="Table 5">
            <a:extLst>
              <a:ext uri="{FF2B5EF4-FFF2-40B4-BE49-F238E27FC236}">
                <a16:creationId xmlns:a16="http://schemas.microsoft.com/office/drawing/2014/main" id="{63F63036-378C-8340-BB5A-3947501DE972}"/>
              </a:ext>
            </a:extLst>
          </p:cNvPr>
          <p:cNvGraphicFramePr>
            <a:graphicFrameLocks noGrp="1"/>
          </p:cNvGraphicFramePr>
          <p:nvPr/>
        </p:nvGraphicFramePr>
        <p:xfrm>
          <a:off x="8871284" y="4895552"/>
          <a:ext cx="3320716" cy="1909201"/>
        </p:xfrm>
        <a:graphic>
          <a:graphicData uri="http://schemas.openxmlformats.org/drawingml/2006/table">
            <a:tbl>
              <a:tblPr firstRow="1" bandRow="1">
                <a:tableStyleId>{5C22544A-7EE6-4342-B048-85BDC9FD1C3A}</a:tableStyleId>
              </a:tblPr>
              <a:tblGrid>
                <a:gridCol w="3320716">
                  <a:extLst>
                    <a:ext uri="{9D8B030D-6E8A-4147-A177-3AD203B41FA5}">
                      <a16:colId xmlns:a16="http://schemas.microsoft.com/office/drawing/2014/main" val="984443331"/>
                    </a:ext>
                  </a:extLst>
                </a:gridCol>
              </a:tblGrid>
              <a:tr h="354721">
                <a:tc>
                  <a:txBody>
                    <a:bodyPr/>
                    <a:lstStyle/>
                    <a:p>
                      <a:pPr algn="ctr"/>
                      <a:r>
                        <a:rPr lang="en-AU" sz="1600" dirty="0"/>
                        <a:t>Checking for understanding:</a:t>
                      </a:r>
                    </a:p>
                  </a:txBody>
                  <a:tcPr/>
                </a:tc>
                <a:extLst>
                  <a:ext uri="{0D108BD9-81ED-4DB2-BD59-A6C34878D82A}">
                    <a16:rowId xmlns:a16="http://schemas.microsoft.com/office/drawing/2014/main" val="1235380871"/>
                  </a:ext>
                </a:extLst>
              </a:tr>
              <a:tr h="1253670">
                <a:tc>
                  <a:txBody>
                    <a:bodyPr/>
                    <a:lstStyle/>
                    <a:p>
                      <a:pPr marL="342900" indent="-342900">
                        <a:buAutoNum type="arabicPeriod"/>
                      </a:pPr>
                      <a:r>
                        <a:rPr lang="en-AU" sz="1600" b="0" dirty="0"/>
                        <a:t>When do we use each type of rehearsal</a:t>
                      </a:r>
                    </a:p>
                    <a:p>
                      <a:pPr marL="342900" indent="-342900">
                        <a:buAutoNum type="arabicPeriod"/>
                      </a:pPr>
                      <a:r>
                        <a:rPr lang="en-AU" sz="1600" b="0" dirty="0"/>
                        <a:t>Which is better for studying for tests</a:t>
                      </a:r>
                    </a:p>
                    <a:p>
                      <a:pPr marL="342900" indent="-342900">
                        <a:buAutoNum type="arabicPeriod"/>
                      </a:pPr>
                      <a:r>
                        <a:rPr lang="en-AU" sz="1600" b="0" dirty="0"/>
                        <a:t>How do </a:t>
                      </a:r>
                      <a:r>
                        <a:rPr lang="en-AU" sz="1600" b="1" dirty="0"/>
                        <a:t>you </a:t>
                      </a:r>
                      <a:r>
                        <a:rPr lang="en-AU" sz="1600" b="0" dirty="0"/>
                        <a:t>remember information</a:t>
                      </a:r>
                      <a:endParaRPr lang="en-AU" sz="1600" b="1" dirty="0"/>
                    </a:p>
                  </a:txBody>
                  <a:tcPr/>
                </a:tc>
                <a:extLst>
                  <a:ext uri="{0D108BD9-81ED-4DB2-BD59-A6C34878D82A}">
                    <a16:rowId xmlns:a16="http://schemas.microsoft.com/office/drawing/2014/main" val="3546612696"/>
                  </a:ext>
                </a:extLst>
              </a:tr>
            </a:tbl>
          </a:graphicData>
        </a:graphic>
      </p:graphicFrame>
      <p:graphicFrame>
        <p:nvGraphicFramePr>
          <p:cNvPr id="8" name="Table 7">
            <a:extLst>
              <a:ext uri="{FF2B5EF4-FFF2-40B4-BE49-F238E27FC236}">
                <a16:creationId xmlns:a16="http://schemas.microsoft.com/office/drawing/2014/main" id="{3E38FB5A-5753-CE44-AB97-A40EAE124C0E}"/>
              </a:ext>
            </a:extLst>
          </p:cNvPr>
          <p:cNvGraphicFramePr>
            <a:graphicFrameLocks noGrp="1"/>
          </p:cNvGraphicFramePr>
          <p:nvPr/>
        </p:nvGraphicFramePr>
        <p:xfrm>
          <a:off x="8716488" y="0"/>
          <a:ext cx="3475512" cy="241300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encoded:</a:t>
                      </a:r>
                      <a:r>
                        <a:rPr lang="en-AU" sz="1600" b="0" dirty="0"/>
                        <a:t> converted into a form that can be processed by the brain</a:t>
                      </a:r>
                      <a:endParaRPr lang="en-AU" sz="16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pic>
        <p:nvPicPr>
          <p:cNvPr id="5122" name="Picture 2" descr="MSM - Psychology4A.com">
            <a:extLst>
              <a:ext uri="{FF2B5EF4-FFF2-40B4-BE49-F238E27FC236}">
                <a16:creationId xmlns:a16="http://schemas.microsoft.com/office/drawing/2014/main" id="{78B6A521-E973-9041-94EC-6E74A2C7AD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78" r="5253"/>
          <a:stretch/>
        </p:blipFill>
        <p:spPr bwMode="auto">
          <a:xfrm>
            <a:off x="1019393" y="3587971"/>
            <a:ext cx="7556740" cy="321678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B862946-EABE-F542-A393-ED6938613E90}"/>
              </a:ext>
            </a:extLst>
          </p:cNvPr>
          <p:cNvSpPr txBox="1"/>
          <p:nvPr/>
        </p:nvSpPr>
        <p:spPr>
          <a:xfrm>
            <a:off x="948906" y="1035170"/>
            <a:ext cx="7530588" cy="2585323"/>
          </a:xfrm>
          <a:prstGeom prst="rect">
            <a:avLst/>
          </a:prstGeom>
          <a:noFill/>
        </p:spPr>
        <p:txBody>
          <a:bodyPr wrap="none" rtlCol="0">
            <a:spAutoFit/>
          </a:bodyPr>
          <a:lstStyle/>
          <a:p>
            <a:r>
              <a:rPr lang="en-US" b="1" dirty="0"/>
              <a:t>Use the link on SEQTA and research the 6 strategies for elaborative rehearsal.</a:t>
            </a:r>
          </a:p>
          <a:p>
            <a:endParaRPr lang="en-US" b="1" dirty="0"/>
          </a:p>
          <a:p>
            <a:r>
              <a:rPr lang="en-US" b="1" dirty="0"/>
              <a:t>Note down </a:t>
            </a:r>
            <a:r>
              <a:rPr lang="en-US" b="1" dirty="0" err="1"/>
              <a:t>atleast</a:t>
            </a:r>
            <a:r>
              <a:rPr lang="en-US" b="1" dirty="0"/>
              <a:t> 3 </a:t>
            </a:r>
          </a:p>
          <a:p>
            <a:endParaRPr lang="en-US" dirty="0"/>
          </a:p>
          <a:p>
            <a:endParaRPr lang="en-US" dirty="0"/>
          </a:p>
          <a:p>
            <a:endParaRPr lang="en-US" dirty="0"/>
          </a:p>
          <a:p>
            <a:r>
              <a:rPr lang="en-US" dirty="0"/>
              <a:t> </a:t>
            </a:r>
          </a:p>
          <a:p>
            <a:endParaRPr lang="en-US" dirty="0"/>
          </a:p>
          <a:p>
            <a:endParaRPr lang="en-US" dirty="0"/>
          </a:p>
        </p:txBody>
      </p:sp>
    </p:spTree>
    <p:extLst>
      <p:ext uri="{BB962C8B-B14F-4D97-AF65-F5344CB8AC3E}">
        <p14:creationId xmlns:p14="http://schemas.microsoft.com/office/powerpoint/2010/main" val="2314442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21D8E-C9F7-0741-8D62-7C88F2ACE74E}"/>
              </a:ext>
            </a:extLst>
          </p:cNvPr>
          <p:cNvSpPr>
            <a:spLocks noGrp="1"/>
          </p:cNvSpPr>
          <p:nvPr>
            <p:ph type="title"/>
          </p:nvPr>
        </p:nvSpPr>
        <p:spPr/>
        <p:txBody>
          <a:bodyPr>
            <a:normAutofit/>
          </a:bodyPr>
          <a:lstStyle/>
          <a:p>
            <a:r>
              <a:rPr lang="en-US" sz="5400" b="1" dirty="0"/>
              <a:t>Types of long-term memory</a:t>
            </a:r>
          </a:p>
        </p:txBody>
      </p:sp>
      <p:pic>
        <p:nvPicPr>
          <p:cNvPr id="3074" name="Picture 2" descr="long term memory - Google Search | How to memorize things, Episodic memory,  Declarative memory">
            <a:extLst>
              <a:ext uri="{FF2B5EF4-FFF2-40B4-BE49-F238E27FC236}">
                <a16:creationId xmlns:a16="http://schemas.microsoft.com/office/drawing/2014/main" id="{0281CF34-A847-7247-BE8D-DF26D065E0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040" y="1683648"/>
            <a:ext cx="7983906" cy="4753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0501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12" name="TextBox 11">
            <a:extLst>
              <a:ext uri="{FF2B5EF4-FFF2-40B4-BE49-F238E27FC236}">
                <a16:creationId xmlns:a16="http://schemas.microsoft.com/office/drawing/2014/main" id="{389C038F-68E5-534D-9A6B-215CB0C63181}"/>
              </a:ext>
            </a:extLst>
          </p:cNvPr>
          <p:cNvSpPr txBox="1"/>
          <p:nvPr/>
        </p:nvSpPr>
        <p:spPr>
          <a:xfrm>
            <a:off x="2154824" y="125301"/>
            <a:ext cx="5945602" cy="10772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The multi-store model of memory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(Atkinson &amp; Shiffrin, 1968)</a:t>
            </a:r>
          </a:p>
        </p:txBody>
      </p:sp>
      <p:graphicFrame>
        <p:nvGraphicFramePr>
          <p:cNvPr id="6" name="Table 5">
            <a:extLst>
              <a:ext uri="{FF2B5EF4-FFF2-40B4-BE49-F238E27FC236}">
                <a16:creationId xmlns:a16="http://schemas.microsoft.com/office/drawing/2014/main" id="{63F63036-378C-8340-BB5A-3947501DE972}"/>
              </a:ext>
            </a:extLst>
          </p:cNvPr>
          <p:cNvGraphicFramePr>
            <a:graphicFrameLocks noGrp="1"/>
          </p:cNvGraphicFramePr>
          <p:nvPr/>
        </p:nvGraphicFramePr>
        <p:xfrm>
          <a:off x="8871284" y="5196362"/>
          <a:ext cx="3320716" cy="1681480"/>
        </p:xfrm>
        <a:graphic>
          <a:graphicData uri="http://schemas.openxmlformats.org/drawingml/2006/table">
            <a:tbl>
              <a:tblPr firstRow="1" bandRow="1">
                <a:tableStyleId>{5C22544A-7EE6-4342-B048-85BDC9FD1C3A}</a:tableStyleId>
              </a:tblPr>
              <a:tblGrid>
                <a:gridCol w="3320716">
                  <a:extLst>
                    <a:ext uri="{9D8B030D-6E8A-4147-A177-3AD203B41FA5}">
                      <a16:colId xmlns:a16="http://schemas.microsoft.com/office/drawing/2014/main" val="984443331"/>
                    </a:ext>
                  </a:extLst>
                </a:gridCol>
              </a:tblGrid>
              <a:tr h="370840">
                <a:tc>
                  <a:txBody>
                    <a:bodyPr/>
                    <a:lstStyle/>
                    <a:p>
                      <a:pPr algn="ctr"/>
                      <a:r>
                        <a:rPr lang="en-AU" sz="1600" dirty="0"/>
                        <a:t>Checking for understanding:</a:t>
                      </a:r>
                    </a:p>
                  </a:txBody>
                  <a:tcPr/>
                </a:tc>
                <a:extLst>
                  <a:ext uri="{0D108BD9-81ED-4DB2-BD59-A6C34878D82A}">
                    <a16:rowId xmlns:a16="http://schemas.microsoft.com/office/drawing/2014/main" val="1235380871"/>
                  </a:ext>
                </a:extLst>
              </a:tr>
              <a:tr h="370840">
                <a:tc>
                  <a:txBody>
                    <a:bodyPr/>
                    <a:lstStyle/>
                    <a:p>
                      <a:pPr marL="342900" indent="-342900">
                        <a:buAutoNum type="arabicPeriod"/>
                      </a:pPr>
                      <a:r>
                        <a:rPr lang="en-AU" sz="1600" b="0" dirty="0"/>
                        <a:t>How</a:t>
                      </a:r>
                      <a:r>
                        <a:rPr lang="en-AU" sz="1600" b="0" baseline="0" dirty="0"/>
                        <a:t> could we test the proposition that we have greater STM capacity for numbers than for letters.</a:t>
                      </a:r>
                    </a:p>
                    <a:p>
                      <a:pPr marL="342900" indent="-342900">
                        <a:buAutoNum type="arabicPeriod"/>
                      </a:pPr>
                      <a:r>
                        <a:rPr lang="en-AU" sz="1600" b="0" baseline="0" dirty="0"/>
                        <a:t>Why do we ‘chunk’ information?</a:t>
                      </a:r>
                      <a:endParaRPr lang="en-AU" sz="1600" b="0" dirty="0"/>
                    </a:p>
                  </a:txBody>
                  <a:tcPr/>
                </a:tc>
                <a:extLst>
                  <a:ext uri="{0D108BD9-81ED-4DB2-BD59-A6C34878D82A}">
                    <a16:rowId xmlns:a16="http://schemas.microsoft.com/office/drawing/2014/main" val="3546612696"/>
                  </a:ext>
                </a:extLst>
              </a:tr>
            </a:tbl>
          </a:graphicData>
        </a:graphic>
      </p:graphicFrame>
      <p:graphicFrame>
        <p:nvGraphicFramePr>
          <p:cNvPr id="8" name="Table 7">
            <a:extLst>
              <a:ext uri="{FF2B5EF4-FFF2-40B4-BE49-F238E27FC236}">
                <a16:creationId xmlns:a16="http://schemas.microsoft.com/office/drawing/2014/main" id="{3E38FB5A-5753-CE44-AB97-A40EAE124C0E}"/>
              </a:ext>
            </a:extLst>
          </p:cNvPr>
          <p:cNvGraphicFramePr>
            <a:graphicFrameLocks noGrp="1"/>
          </p:cNvGraphicFramePr>
          <p:nvPr/>
        </p:nvGraphicFramePr>
        <p:xfrm>
          <a:off x="8716488" y="305893"/>
          <a:ext cx="3475512" cy="241300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encoded:</a:t>
                      </a:r>
                      <a:r>
                        <a:rPr lang="en-AU" sz="1600" b="0" dirty="0"/>
                        <a:t> converted into a form that can be processed by the brain</a:t>
                      </a:r>
                      <a:endParaRPr lang="en-AU" sz="16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sp>
        <p:nvSpPr>
          <p:cNvPr id="9" name="TextBox 8"/>
          <p:cNvSpPr txBox="1"/>
          <p:nvPr/>
        </p:nvSpPr>
        <p:spPr>
          <a:xfrm>
            <a:off x="307778" y="2718893"/>
            <a:ext cx="8563506" cy="3416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400" b="0" i="0" u="sng" strike="noStrike" kern="1200" cap="none" spc="0" normalizeH="0" baseline="0" noProof="0" dirty="0">
                <a:ln>
                  <a:noFill/>
                </a:ln>
                <a:solidFill>
                  <a:prstClr val="black"/>
                </a:solidFill>
                <a:effectLst/>
                <a:uLnTx/>
                <a:uFillTx/>
                <a:latin typeface="Calibri" panose="020F0502020204030204"/>
                <a:ea typeface="+mn-ea"/>
                <a:cs typeface="+mn-cs"/>
              </a:rPr>
              <a:t>Long-term memory </a:t>
            </a:r>
          </a:p>
          <a:p>
            <a:pPr marL="342900" marR="0" lvl="0" indent="-3429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rPr>
              <a:t>Procedural memory (implicit memory)</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Stores the way you </a:t>
            </a:r>
            <a:r>
              <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rPr>
              <a:t>do</a:t>
            </a: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 things, the ‘how to’ of memory</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E.g. how to ride a bicycle, how to hold a pen, how to swim</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The memory of actions and skills that have been learned</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It is </a:t>
            </a:r>
            <a:r>
              <a:rPr kumimoji="0" lang="en-AU"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not a conscious memory process</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Mainly refers to the learning of motor skills</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Requires little effort to retrieve/retrieval is automatic because the skills are well established and learned</a:t>
            </a:r>
          </a:p>
        </p:txBody>
      </p:sp>
      <p:sp>
        <p:nvSpPr>
          <p:cNvPr id="10" name="TextBox 9">
            <a:extLst>
              <a:ext uri="{FF2B5EF4-FFF2-40B4-BE49-F238E27FC236}">
                <a16:creationId xmlns:a16="http://schemas.microsoft.com/office/drawing/2014/main" id="{3023BDBD-51D8-B04D-9E86-15F759570BA4}"/>
              </a:ext>
            </a:extLst>
          </p:cNvPr>
          <p:cNvSpPr txBox="1"/>
          <p:nvPr/>
        </p:nvSpPr>
        <p:spPr>
          <a:xfrm>
            <a:off x="923840" y="1096669"/>
            <a:ext cx="7697870" cy="1015663"/>
          </a:xfrm>
          <a:prstGeom prst="rect">
            <a:avLst/>
          </a:prstGeom>
          <a:solidFill>
            <a:schemeClr val="tx2">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1" i="0" u="none" strike="noStrike" kern="1200" cap="none" spc="0" normalizeH="0" baseline="0" noProof="0" dirty="0">
                <a:ln>
                  <a:noFill/>
                </a:ln>
                <a:solidFill>
                  <a:prstClr val="black"/>
                </a:solidFill>
                <a:effectLst/>
                <a:uLnTx/>
                <a:uFillTx/>
                <a:latin typeface="Calibri" panose="020F0502020204030204"/>
                <a:ea typeface="+mn-ea"/>
                <a:cs typeface="+mn-cs"/>
              </a:rPr>
              <a:t>Long-term memory </a:t>
            </a:r>
            <a:r>
              <a:rPr kumimoji="0" lang="en-AU" sz="2000" b="1" i="1" u="none" strike="noStrike" kern="1200" cap="none" spc="0" normalizeH="0" baseline="0" noProof="0" dirty="0">
                <a:ln>
                  <a:noFill/>
                </a:ln>
                <a:solidFill>
                  <a:prstClr val="black"/>
                </a:solidFill>
                <a:effectLst/>
                <a:uLnTx/>
                <a:uFillTx/>
                <a:latin typeface="Calibri" panose="020F0502020204030204"/>
                <a:ea typeface="+mn-ea"/>
                <a:cs typeface="+mn-cs"/>
              </a:rPr>
              <a:t>(n)</a:t>
            </a:r>
            <a:endParaRPr kumimoji="0" lang="en-AU" sz="2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prstClr val="black"/>
                </a:solidFill>
                <a:effectLst/>
                <a:uLnTx/>
                <a:uFillTx/>
                <a:latin typeface="Calibri" panose="020F0502020204030204"/>
                <a:ea typeface="+mn-ea"/>
                <a:cs typeface="+mn-cs"/>
              </a:rPr>
              <a:t>In the multi-store model of memory, long-term memory refers to </a:t>
            </a:r>
            <a:r>
              <a:rPr kumimoji="0" lang="en-AU" sz="2000" b="1" i="0" u="none" strike="noStrike" kern="1200" cap="none" spc="0" normalizeH="0" baseline="0" noProof="0" dirty="0">
                <a:ln>
                  <a:noFill/>
                </a:ln>
                <a:solidFill>
                  <a:prstClr val="black"/>
                </a:solidFill>
                <a:effectLst/>
                <a:uLnTx/>
                <a:uFillTx/>
                <a:latin typeface="Calibri" panose="020F0502020204030204"/>
                <a:ea typeface="+mn-ea"/>
                <a:cs typeface="+mn-cs"/>
              </a:rPr>
              <a:t>a relatively permanent store of information (from 30s to forever).</a:t>
            </a:r>
          </a:p>
        </p:txBody>
      </p:sp>
    </p:spTree>
    <p:extLst>
      <p:ext uri="{BB962C8B-B14F-4D97-AF65-F5344CB8AC3E}">
        <p14:creationId xmlns:p14="http://schemas.microsoft.com/office/powerpoint/2010/main" val="1005509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12" name="TextBox 11">
            <a:extLst>
              <a:ext uri="{FF2B5EF4-FFF2-40B4-BE49-F238E27FC236}">
                <a16:creationId xmlns:a16="http://schemas.microsoft.com/office/drawing/2014/main" id="{389C038F-68E5-534D-9A6B-215CB0C63181}"/>
              </a:ext>
            </a:extLst>
          </p:cNvPr>
          <p:cNvSpPr txBox="1"/>
          <p:nvPr/>
        </p:nvSpPr>
        <p:spPr>
          <a:xfrm>
            <a:off x="2154824" y="125301"/>
            <a:ext cx="5945602" cy="10772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The multi-store model of memory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(Atkinson &amp; Shiffrin, 1968)</a:t>
            </a:r>
          </a:p>
        </p:txBody>
      </p:sp>
      <p:graphicFrame>
        <p:nvGraphicFramePr>
          <p:cNvPr id="6" name="Table 5">
            <a:extLst>
              <a:ext uri="{FF2B5EF4-FFF2-40B4-BE49-F238E27FC236}">
                <a16:creationId xmlns:a16="http://schemas.microsoft.com/office/drawing/2014/main" id="{63F63036-378C-8340-BB5A-3947501DE972}"/>
              </a:ext>
            </a:extLst>
          </p:cNvPr>
          <p:cNvGraphicFramePr>
            <a:graphicFrameLocks noGrp="1"/>
          </p:cNvGraphicFramePr>
          <p:nvPr/>
        </p:nvGraphicFramePr>
        <p:xfrm>
          <a:off x="8871284" y="5420360"/>
          <a:ext cx="3320716" cy="1437640"/>
        </p:xfrm>
        <a:graphic>
          <a:graphicData uri="http://schemas.openxmlformats.org/drawingml/2006/table">
            <a:tbl>
              <a:tblPr firstRow="1" bandRow="1">
                <a:tableStyleId>{5C22544A-7EE6-4342-B048-85BDC9FD1C3A}</a:tableStyleId>
              </a:tblPr>
              <a:tblGrid>
                <a:gridCol w="3320716">
                  <a:extLst>
                    <a:ext uri="{9D8B030D-6E8A-4147-A177-3AD203B41FA5}">
                      <a16:colId xmlns:a16="http://schemas.microsoft.com/office/drawing/2014/main" val="984443331"/>
                    </a:ext>
                  </a:extLst>
                </a:gridCol>
              </a:tblGrid>
              <a:tr h="370840">
                <a:tc>
                  <a:txBody>
                    <a:bodyPr/>
                    <a:lstStyle/>
                    <a:p>
                      <a:pPr algn="ctr"/>
                      <a:r>
                        <a:rPr lang="en-AU" sz="1600" dirty="0"/>
                        <a:t>Checking for understanding:</a:t>
                      </a:r>
                    </a:p>
                  </a:txBody>
                  <a:tcPr/>
                </a:tc>
                <a:extLst>
                  <a:ext uri="{0D108BD9-81ED-4DB2-BD59-A6C34878D82A}">
                    <a16:rowId xmlns:a16="http://schemas.microsoft.com/office/drawing/2014/main" val="1235380871"/>
                  </a:ext>
                </a:extLst>
              </a:tr>
              <a:tr h="370840">
                <a:tc>
                  <a:txBody>
                    <a:bodyPr/>
                    <a:lstStyle/>
                    <a:p>
                      <a:pPr marL="342900" indent="-342900">
                        <a:buAutoNum type="arabicPeriod"/>
                      </a:pPr>
                      <a:r>
                        <a:rPr lang="en-AU" sz="1600" b="0" dirty="0"/>
                        <a:t>How is declarative memory different to procedural</a:t>
                      </a:r>
                      <a:r>
                        <a:rPr lang="en-AU" sz="1600" b="0" baseline="0" dirty="0"/>
                        <a:t> memory?</a:t>
                      </a:r>
                    </a:p>
                    <a:p>
                      <a:pPr marL="342900" indent="-342900">
                        <a:buAutoNum type="arabicPeriod"/>
                      </a:pPr>
                      <a:r>
                        <a:rPr lang="en-AU" sz="1600" b="0" baseline="0" dirty="0"/>
                        <a:t>What is an example of episodic and of semantic memory</a:t>
                      </a:r>
                      <a:endParaRPr lang="en-AU" sz="1600" b="0" dirty="0"/>
                    </a:p>
                  </a:txBody>
                  <a:tcPr/>
                </a:tc>
                <a:extLst>
                  <a:ext uri="{0D108BD9-81ED-4DB2-BD59-A6C34878D82A}">
                    <a16:rowId xmlns:a16="http://schemas.microsoft.com/office/drawing/2014/main" val="3546612696"/>
                  </a:ext>
                </a:extLst>
              </a:tr>
            </a:tbl>
          </a:graphicData>
        </a:graphic>
      </p:graphicFrame>
      <p:graphicFrame>
        <p:nvGraphicFramePr>
          <p:cNvPr id="8" name="Table 7">
            <a:extLst>
              <a:ext uri="{FF2B5EF4-FFF2-40B4-BE49-F238E27FC236}">
                <a16:creationId xmlns:a16="http://schemas.microsoft.com/office/drawing/2014/main" id="{3E38FB5A-5753-CE44-AB97-A40EAE124C0E}"/>
              </a:ext>
            </a:extLst>
          </p:cNvPr>
          <p:cNvGraphicFramePr>
            <a:graphicFrameLocks noGrp="1"/>
          </p:cNvGraphicFramePr>
          <p:nvPr/>
        </p:nvGraphicFramePr>
        <p:xfrm>
          <a:off x="8716488" y="305893"/>
          <a:ext cx="3475512" cy="241300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encoded:</a:t>
                      </a:r>
                      <a:r>
                        <a:rPr lang="en-AU" sz="1600" b="0" dirty="0"/>
                        <a:t> converted into a form that can be processed by the brain</a:t>
                      </a:r>
                      <a:endParaRPr lang="en-AU" sz="16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sp>
        <p:nvSpPr>
          <p:cNvPr id="9" name="TextBox 8"/>
          <p:cNvSpPr txBox="1"/>
          <p:nvPr/>
        </p:nvSpPr>
        <p:spPr>
          <a:xfrm>
            <a:off x="385176" y="2303950"/>
            <a:ext cx="8563506" cy="489364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400" b="0" i="0" u="sng" strike="noStrike" kern="1200" cap="none" spc="0" normalizeH="0" baseline="0" noProof="0" dirty="0">
                <a:ln>
                  <a:noFill/>
                </a:ln>
                <a:solidFill>
                  <a:prstClr val="black"/>
                </a:solidFill>
                <a:effectLst/>
                <a:uLnTx/>
                <a:uFillTx/>
                <a:latin typeface="Calibri" panose="020F0502020204030204"/>
                <a:ea typeface="+mn-ea"/>
                <a:cs typeface="+mn-cs"/>
              </a:rPr>
              <a:t>Long-term memory </a:t>
            </a:r>
          </a:p>
          <a:p>
            <a:pPr marL="342900" marR="0" lvl="0" indent="-3429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rPr>
              <a:t>Declarative memory (explicit memory)</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The ‘what’ of memory</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Requires </a:t>
            </a:r>
            <a:r>
              <a:rPr kumimoji="0" lang="en-AU"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conscious effort </a:t>
            </a: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for retrieval</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It allows you to ‘declare’ how thing are or what you remember</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rPr>
              <a:t>Episodic:</a:t>
            </a: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 memory for past personal events; an internal representation of your own interpretation of an event; linked to feelings and sensations</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rPr>
              <a:t>Semantic:</a:t>
            </a: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 knowledge of facts and information, based on an understanding and interpretation, often spoken/written material</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023BDBD-51D8-B04D-9E86-15F759570BA4}"/>
              </a:ext>
            </a:extLst>
          </p:cNvPr>
          <p:cNvSpPr txBox="1"/>
          <p:nvPr/>
        </p:nvSpPr>
        <p:spPr>
          <a:xfrm>
            <a:off x="923840" y="1096669"/>
            <a:ext cx="7697870" cy="1015663"/>
          </a:xfrm>
          <a:prstGeom prst="rect">
            <a:avLst/>
          </a:prstGeom>
          <a:solidFill>
            <a:schemeClr val="tx2">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1" i="0" u="none" strike="noStrike" kern="1200" cap="none" spc="0" normalizeH="0" baseline="0" noProof="0" dirty="0">
                <a:ln>
                  <a:noFill/>
                </a:ln>
                <a:solidFill>
                  <a:prstClr val="black"/>
                </a:solidFill>
                <a:effectLst/>
                <a:uLnTx/>
                <a:uFillTx/>
                <a:latin typeface="Calibri" panose="020F0502020204030204"/>
                <a:ea typeface="+mn-ea"/>
                <a:cs typeface="+mn-cs"/>
              </a:rPr>
              <a:t>Long-term memory </a:t>
            </a:r>
            <a:r>
              <a:rPr kumimoji="0" lang="en-AU" sz="2000" b="1" i="1" u="none" strike="noStrike" kern="1200" cap="none" spc="0" normalizeH="0" baseline="0" noProof="0" dirty="0">
                <a:ln>
                  <a:noFill/>
                </a:ln>
                <a:solidFill>
                  <a:prstClr val="black"/>
                </a:solidFill>
                <a:effectLst/>
                <a:uLnTx/>
                <a:uFillTx/>
                <a:latin typeface="Calibri" panose="020F0502020204030204"/>
                <a:ea typeface="+mn-ea"/>
                <a:cs typeface="+mn-cs"/>
              </a:rPr>
              <a:t>(n)</a:t>
            </a:r>
            <a:endParaRPr kumimoji="0" lang="en-AU" sz="2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prstClr val="black"/>
                </a:solidFill>
                <a:effectLst/>
                <a:uLnTx/>
                <a:uFillTx/>
                <a:latin typeface="Calibri" panose="020F0502020204030204"/>
                <a:ea typeface="+mn-ea"/>
                <a:cs typeface="+mn-cs"/>
              </a:rPr>
              <a:t>In the multi-store model of memory, long-term memory refers to </a:t>
            </a:r>
            <a:r>
              <a:rPr kumimoji="0" lang="en-AU" sz="2000" b="1" i="0" u="none" strike="noStrike" kern="1200" cap="none" spc="0" normalizeH="0" baseline="0" noProof="0" dirty="0">
                <a:ln>
                  <a:noFill/>
                </a:ln>
                <a:solidFill>
                  <a:prstClr val="black"/>
                </a:solidFill>
                <a:effectLst/>
                <a:uLnTx/>
                <a:uFillTx/>
                <a:latin typeface="Calibri" panose="020F0502020204030204"/>
                <a:ea typeface="+mn-ea"/>
                <a:cs typeface="+mn-cs"/>
              </a:rPr>
              <a:t>a relatively permanent store of information (from 30s to forever).</a:t>
            </a:r>
          </a:p>
        </p:txBody>
      </p:sp>
    </p:spTree>
    <p:extLst>
      <p:ext uri="{BB962C8B-B14F-4D97-AF65-F5344CB8AC3E}">
        <p14:creationId xmlns:p14="http://schemas.microsoft.com/office/powerpoint/2010/main" val="2806760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pic>
        <p:nvPicPr>
          <p:cNvPr id="5" name="Picture 2" descr="long term memory - Google Search | How to memorize things, Episodic memory,  Declarative memory">
            <a:extLst>
              <a:ext uri="{FF2B5EF4-FFF2-40B4-BE49-F238E27FC236}">
                <a16:creationId xmlns:a16="http://schemas.microsoft.com/office/drawing/2014/main" id="{F0C1EACD-9684-1146-898D-F9F35F2B51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988" y="1052422"/>
            <a:ext cx="7983906" cy="47531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7A2FC38-DA33-AE4F-BD6A-9F9C62329221}"/>
              </a:ext>
            </a:extLst>
          </p:cNvPr>
          <p:cNvSpPr txBox="1"/>
          <p:nvPr/>
        </p:nvSpPr>
        <p:spPr>
          <a:xfrm>
            <a:off x="767988" y="75307"/>
            <a:ext cx="7983906" cy="1231106"/>
          </a:xfrm>
          <a:prstGeom prst="rect">
            <a:avLst/>
          </a:prstGeom>
          <a:noFill/>
        </p:spPr>
        <p:txBody>
          <a:bodyPr wrap="square" rtlCol="0">
            <a:spAutoFit/>
          </a:bodyPr>
          <a:lstStyle/>
          <a:p>
            <a:r>
              <a:rPr lang="en-US" sz="2800" b="1" dirty="0"/>
              <a:t>Turn and talk to a friend: what do you remember about the types of long-term memory </a:t>
            </a:r>
          </a:p>
          <a:p>
            <a:endParaRPr lang="en-US" dirty="0"/>
          </a:p>
        </p:txBody>
      </p:sp>
      <p:sp>
        <p:nvSpPr>
          <p:cNvPr id="3" name="TextBox 2">
            <a:extLst>
              <a:ext uri="{FF2B5EF4-FFF2-40B4-BE49-F238E27FC236}">
                <a16:creationId xmlns:a16="http://schemas.microsoft.com/office/drawing/2014/main" id="{74F6CD6C-43F5-2047-9695-879FE43FA773}"/>
              </a:ext>
            </a:extLst>
          </p:cNvPr>
          <p:cNvSpPr txBox="1"/>
          <p:nvPr/>
        </p:nvSpPr>
        <p:spPr>
          <a:xfrm>
            <a:off x="584195" y="5805577"/>
            <a:ext cx="10478252" cy="707886"/>
          </a:xfrm>
          <a:prstGeom prst="rect">
            <a:avLst/>
          </a:prstGeom>
          <a:noFill/>
          <a:ln w="76200">
            <a:solidFill>
              <a:schemeClr val="accent2"/>
            </a:solidFill>
          </a:ln>
        </p:spPr>
        <p:txBody>
          <a:bodyPr wrap="square" rtlCol="0">
            <a:spAutoFit/>
          </a:bodyPr>
          <a:lstStyle/>
          <a:p>
            <a:r>
              <a:rPr lang="en-US" sz="2000" dirty="0"/>
              <a:t>Task: Draw out the diagram in your notes ensure to define the memory store, explain what type of information it retains and write an example of each type of memory (personal to you). </a:t>
            </a:r>
          </a:p>
        </p:txBody>
      </p:sp>
    </p:spTree>
    <p:extLst>
      <p:ext uri="{BB962C8B-B14F-4D97-AF65-F5344CB8AC3E}">
        <p14:creationId xmlns:p14="http://schemas.microsoft.com/office/powerpoint/2010/main" val="2584536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53F5B-3B53-2A43-82B6-83B50F1093E8}"/>
              </a:ext>
            </a:extLst>
          </p:cNvPr>
          <p:cNvSpPr>
            <a:spLocks noGrp="1"/>
          </p:cNvSpPr>
          <p:nvPr>
            <p:ph type="title"/>
          </p:nvPr>
        </p:nvSpPr>
        <p:spPr/>
        <p:txBody>
          <a:bodyPr/>
          <a:lstStyle/>
          <a:p>
            <a:r>
              <a:rPr lang="en-US" dirty="0"/>
              <a:t>Practice</a:t>
            </a:r>
          </a:p>
        </p:txBody>
      </p:sp>
      <p:pic>
        <p:nvPicPr>
          <p:cNvPr id="4" name="Picture 3">
            <a:extLst>
              <a:ext uri="{FF2B5EF4-FFF2-40B4-BE49-F238E27FC236}">
                <a16:creationId xmlns:a16="http://schemas.microsoft.com/office/drawing/2014/main" id="{65F5E08D-7070-C34D-B8B8-7AC0F49F380E}"/>
              </a:ext>
            </a:extLst>
          </p:cNvPr>
          <p:cNvPicPr>
            <a:picLocks noChangeAspect="1"/>
          </p:cNvPicPr>
          <p:nvPr/>
        </p:nvPicPr>
        <p:blipFill>
          <a:blip r:embed="rId2"/>
          <a:stretch>
            <a:fillRect/>
          </a:stretch>
        </p:blipFill>
        <p:spPr>
          <a:xfrm>
            <a:off x="5068454" y="140851"/>
            <a:ext cx="6181437" cy="6181437"/>
          </a:xfrm>
          <a:prstGeom prst="rect">
            <a:avLst/>
          </a:prstGeom>
        </p:spPr>
      </p:pic>
      <p:sp>
        <p:nvSpPr>
          <p:cNvPr id="5" name="TextBox 4">
            <a:extLst>
              <a:ext uri="{FF2B5EF4-FFF2-40B4-BE49-F238E27FC236}">
                <a16:creationId xmlns:a16="http://schemas.microsoft.com/office/drawing/2014/main" id="{B6D30EEB-23D9-FE45-9CD0-36C00B217FE1}"/>
              </a:ext>
            </a:extLst>
          </p:cNvPr>
          <p:cNvSpPr txBox="1"/>
          <p:nvPr/>
        </p:nvSpPr>
        <p:spPr>
          <a:xfrm rot="16200000">
            <a:off x="-1132740" y="1523698"/>
            <a:ext cx="2634824" cy="369332"/>
          </a:xfrm>
          <a:prstGeom prst="rect">
            <a:avLst/>
          </a:prstGeom>
          <a:solidFill>
            <a:schemeClr val="accent2"/>
          </a:solidFill>
        </p:spPr>
        <p:txBody>
          <a:bodyPr wrap="none" rtlCol="0">
            <a:spAutoFit/>
          </a:bodyPr>
          <a:lstStyle/>
          <a:p>
            <a:r>
              <a:rPr lang="en-AU" dirty="0">
                <a:solidFill>
                  <a:schemeClr val="bg1"/>
                </a:solidFill>
              </a:rPr>
              <a:t>Check your understanding</a:t>
            </a:r>
          </a:p>
        </p:txBody>
      </p:sp>
    </p:spTree>
    <p:extLst>
      <p:ext uri="{BB962C8B-B14F-4D97-AF65-F5344CB8AC3E}">
        <p14:creationId xmlns:p14="http://schemas.microsoft.com/office/powerpoint/2010/main" val="460628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625539-DDA3-CD49-A515-93ED6762E009}"/>
              </a:ext>
            </a:extLst>
          </p:cNvPr>
          <p:cNvPicPr>
            <a:picLocks noChangeAspect="1"/>
          </p:cNvPicPr>
          <p:nvPr/>
        </p:nvPicPr>
        <p:blipFill>
          <a:blip r:embed="rId3"/>
          <a:stretch>
            <a:fillRect/>
          </a:stretch>
        </p:blipFill>
        <p:spPr>
          <a:xfrm>
            <a:off x="10270472" y="0"/>
            <a:ext cx="1921527" cy="1472339"/>
          </a:xfrm>
          <a:prstGeom prst="rect">
            <a:avLst/>
          </a:prstGeom>
        </p:spPr>
      </p:pic>
      <p:sp>
        <p:nvSpPr>
          <p:cNvPr id="3" name="TextBox 2">
            <a:extLst>
              <a:ext uri="{FF2B5EF4-FFF2-40B4-BE49-F238E27FC236}">
                <a16:creationId xmlns:a16="http://schemas.microsoft.com/office/drawing/2014/main" id="{DF96FE21-9F4C-F64E-9022-163D12187526}"/>
              </a:ext>
            </a:extLst>
          </p:cNvPr>
          <p:cNvSpPr txBox="1"/>
          <p:nvPr/>
        </p:nvSpPr>
        <p:spPr>
          <a:xfrm rot="16200000">
            <a:off x="-1132740" y="1523698"/>
            <a:ext cx="2634824" cy="369332"/>
          </a:xfrm>
          <a:prstGeom prst="rect">
            <a:avLst/>
          </a:prstGeom>
          <a:solidFill>
            <a:schemeClr val="accent2"/>
          </a:solidFill>
        </p:spPr>
        <p:txBody>
          <a:bodyPr wrap="none" rtlCol="0">
            <a:spAutoFit/>
          </a:bodyPr>
          <a:lstStyle/>
          <a:p>
            <a:r>
              <a:rPr lang="en-AU" dirty="0">
                <a:solidFill>
                  <a:schemeClr val="bg1"/>
                </a:solidFill>
              </a:rPr>
              <a:t>Check your understanding</a:t>
            </a:r>
          </a:p>
        </p:txBody>
      </p:sp>
      <p:sp>
        <p:nvSpPr>
          <p:cNvPr id="4" name="TextBox 3">
            <a:extLst>
              <a:ext uri="{FF2B5EF4-FFF2-40B4-BE49-F238E27FC236}">
                <a16:creationId xmlns:a16="http://schemas.microsoft.com/office/drawing/2014/main" id="{5980BC36-0B05-F242-8CDF-8681FEF1A5C7}"/>
              </a:ext>
            </a:extLst>
          </p:cNvPr>
          <p:cNvSpPr txBox="1"/>
          <p:nvPr/>
        </p:nvSpPr>
        <p:spPr>
          <a:xfrm>
            <a:off x="1338916" y="2800598"/>
            <a:ext cx="9509526" cy="923330"/>
          </a:xfrm>
          <a:prstGeom prst="rect">
            <a:avLst/>
          </a:prstGeom>
          <a:noFill/>
        </p:spPr>
        <p:txBody>
          <a:bodyPr wrap="none" rtlCol="0">
            <a:spAutoFit/>
          </a:bodyPr>
          <a:lstStyle/>
          <a:p>
            <a:r>
              <a:rPr lang="en-US" sz="3600" b="1" dirty="0"/>
              <a:t>Compare elaborative and maintenance rehearsal</a:t>
            </a:r>
          </a:p>
          <a:p>
            <a:endParaRPr lang="en-US" dirty="0"/>
          </a:p>
        </p:txBody>
      </p:sp>
      <p:graphicFrame>
        <p:nvGraphicFramePr>
          <p:cNvPr id="7" name="Table 7">
            <a:extLst>
              <a:ext uri="{FF2B5EF4-FFF2-40B4-BE49-F238E27FC236}">
                <a16:creationId xmlns:a16="http://schemas.microsoft.com/office/drawing/2014/main" id="{44B8E780-265D-5A49-97EF-55B3FE055058}"/>
              </a:ext>
            </a:extLst>
          </p:cNvPr>
          <p:cNvGraphicFramePr>
            <a:graphicFrameLocks noGrp="1"/>
          </p:cNvGraphicFramePr>
          <p:nvPr>
            <p:extLst>
              <p:ext uri="{D42A27DB-BD31-4B8C-83A1-F6EECF244321}">
                <p14:modId xmlns:p14="http://schemas.microsoft.com/office/powerpoint/2010/main" val="1984436921"/>
              </p:ext>
            </p:extLst>
          </p:nvPr>
        </p:nvGraphicFramePr>
        <p:xfrm>
          <a:off x="1852706" y="4495927"/>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73214040"/>
                    </a:ext>
                  </a:extLst>
                </a:gridCol>
                <a:gridCol w="4064000">
                  <a:extLst>
                    <a:ext uri="{9D8B030D-6E8A-4147-A177-3AD203B41FA5}">
                      <a16:colId xmlns:a16="http://schemas.microsoft.com/office/drawing/2014/main" val="1562659921"/>
                    </a:ext>
                  </a:extLst>
                </a:gridCol>
              </a:tblGrid>
              <a:tr h="370840">
                <a:tc>
                  <a:txBody>
                    <a:bodyPr/>
                    <a:lstStyle/>
                    <a:p>
                      <a:r>
                        <a:rPr lang="en-US" dirty="0"/>
                        <a:t>Similarities</a:t>
                      </a:r>
                    </a:p>
                  </a:txBody>
                  <a:tcPr/>
                </a:tc>
                <a:tc>
                  <a:txBody>
                    <a:bodyPr/>
                    <a:lstStyle/>
                    <a:p>
                      <a:r>
                        <a:rPr lang="en-US" dirty="0"/>
                        <a:t>Differences</a:t>
                      </a:r>
                    </a:p>
                  </a:txBody>
                  <a:tcPr/>
                </a:tc>
                <a:extLst>
                  <a:ext uri="{0D108BD9-81ED-4DB2-BD59-A6C34878D82A}">
                    <a16:rowId xmlns:a16="http://schemas.microsoft.com/office/drawing/2014/main" val="1170546041"/>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3658736808"/>
                  </a:ext>
                </a:extLst>
              </a:tr>
              <a:tr h="370840">
                <a:tc>
                  <a:txBody>
                    <a:bodyPr/>
                    <a:lstStyle/>
                    <a:p>
                      <a:endParaRPr lang="en-US"/>
                    </a:p>
                  </a:txBody>
                  <a:tcPr/>
                </a:tc>
                <a:tc>
                  <a:txBody>
                    <a:bodyPr/>
                    <a:lstStyle/>
                    <a:p>
                      <a:endParaRPr lang="en-US" dirty="0"/>
                    </a:p>
                  </a:txBody>
                  <a:tcPr/>
                </a:tc>
                <a:extLst>
                  <a:ext uri="{0D108BD9-81ED-4DB2-BD59-A6C34878D82A}">
                    <a16:rowId xmlns:a16="http://schemas.microsoft.com/office/drawing/2014/main" val="2229446133"/>
                  </a:ext>
                </a:extLst>
              </a:tr>
            </a:tbl>
          </a:graphicData>
        </a:graphic>
      </p:graphicFrame>
    </p:spTree>
    <p:extLst>
      <p:ext uri="{BB962C8B-B14F-4D97-AF65-F5344CB8AC3E}">
        <p14:creationId xmlns:p14="http://schemas.microsoft.com/office/powerpoint/2010/main" val="1974907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625539-DDA3-CD49-A515-93ED6762E009}"/>
              </a:ext>
            </a:extLst>
          </p:cNvPr>
          <p:cNvPicPr>
            <a:picLocks noChangeAspect="1"/>
          </p:cNvPicPr>
          <p:nvPr/>
        </p:nvPicPr>
        <p:blipFill>
          <a:blip r:embed="rId3"/>
          <a:stretch>
            <a:fillRect/>
          </a:stretch>
        </p:blipFill>
        <p:spPr>
          <a:xfrm>
            <a:off x="10270472" y="0"/>
            <a:ext cx="1921527" cy="1472339"/>
          </a:xfrm>
          <a:prstGeom prst="rect">
            <a:avLst/>
          </a:prstGeom>
        </p:spPr>
      </p:pic>
      <p:sp>
        <p:nvSpPr>
          <p:cNvPr id="3" name="TextBox 2">
            <a:extLst>
              <a:ext uri="{FF2B5EF4-FFF2-40B4-BE49-F238E27FC236}">
                <a16:creationId xmlns:a16="http://schemas.microsoft.com/office/drawing/2014/main" id="{DF96FE21-9F4C-F64E-9022-163D12187526}"/>
              </a:ext>
            </a:extLst>
          </p:cNvPr>
          <p:cNvSpPr txBox="1"/>
          <p:nvPr/>
        </p:nvSpPr>
        <p:spPr>
          <a:xfrm rot="16200000">
            <a:off x="-1132740" y="1523698"/>
            <a:ext cx="2634824" cy="369332"/>
          </a:xfrm>
          <a:prstGeom prst="rect">
            <a:avLst/>
          </a:prstGeom>
          <a:solidFill>
            <a:schemeClr val="accent2"/>
          </a:solidFill>
        </p:spPr>
        <p:txBody>
          <a:bodyPr wrap="none" rtlCol="0">
            <a:spAutoFit/>
          </a:bodyPr>
          <a:lstStyle/>
          <a:p>
            <a:r>
              <a:rPr lang="en-AU" dirty="0">
                <a:solidFill>
                  <a:schemeClr val="bg1"/>
                </a:solidFill>
              </a:rPr>
              <a:t>Check your understanding</a:t>
            </a:r>
          </a:p>
        </p:txBody>
      </p:sp>
      <p:sp>
        <p:nvSpPr>
          <p:cNvPr id="4" name="TextBox 3">
            <a:extLst>
              <a:ext uri="{FF2B5EF4-FFF2-40B4-BE49-F238E27FC236}">
                <a16:creationId xmlns:a16="http://schemas.microsoft.com/office/drawing/2014/main" id="{5980BC36-0B05-F242-8CDF-8681FEF1A5C7}"/>
              </a:ext>
            </a:extLst>
          </p:cNvPr>
          <p:cNvSpPr txBox="1"/>
          <p:nvPr/>
        </p:nvSpPr>
        <p:spPr>
          <a:xfrm>
            <a:off x="1184118" y="565399"/>
            <a:ext cx="8271575" cy="4678204"/>
          </a:xfrm>
          <a:prstGeom prst="rect">
            <a:avLst/>
          </a:prstGeom>
          <a:noFill/>
        </p:spPr>
        <p:txBody>
          <a:bodyPr wrap="square" rtlCol="0">
            <a:spAutoFit/>
          </a:bodyPr>
          <a:lstStyle/>
          <a:p>
            <a:r>
              <a:rPr lang="en-US" sz="2800" dirty="0"/>
              <a:t>Use elaborative rehearsal for a topic you find hard to remember in biological influences. Choose from: </a:t>
            </a:r>
          </a:p>
          <a:p>
            <a:endParaRPr lang="en-US" sz="2800" dirty="0"/>
          </a:p>
          <a:p>
            <a:pPr marL="285750" indent="-285750">
              <a:buFontTx/>
              <a:buChar char="-"/>
            </a:pPr>
            <a:r>
              <a:rPr lang="en-US" sz="2800" dirty="0"/>
              <a:t>Neural transmission inside the neuron</a:t>
            </a:r>
          </a:p>
          <a:p>
            <a:pPr marL="285750" indent="-285750">
              <a:buFontTx/>
              <a:buChar char="-"/>
            </a:pPr>
            <a:r>
              <a:rPr lang="en-US" sz="2800" dirty="0"/>
              <a:t>Neural transmission between two neurons</a:t>
            </a:r>
          </a:p>
          <a:p>
            <a:pPr marL="285750" indent="-285750">
              <a:buFontTx/>
              <a:buChar char="-"/>
            </a:pPr>
            <a:r>
              <a:rPr lang="en-US" sz="2800" dirty="0"/>
              <a:t>Reflex arc</a:t>
            </a:r>
          </a:p>
          <a:p>
            <a:pPr marL="285750" indent="-285750">
              <a:buFontTx/>
              <a:buChar char="-"/>
            </a:pPr>
            <a:r>
              <a:rPr lang="en-US" sz="2800" dirty="0"/>
              <a:t>Brain areas for year 12 (PAC, </a:t>
            </a:r>
            <a:r>
              <a:rPr lang="en-US" sz="2800" dirty="0" err="1"/>
              <a:t>Wernicks</a:t>
            </a:r>
            <a:r>
              <a:rPr lang="en-US" sz="2800" dirty="0"/>
              <a:t>, </a:t>
            </a:r>
            <a:r>
              <a:rPr lang="en-US" sz="2800" dirty="0" err="1"/>
              <a:t>Brocas</a:t>
            </a:r>
            <a:r>
              <a:rPr lang="en-US" sz="2800" dirty="0"/>
              <a:t>, PMC, PSC, PVC </a:t>
            </a:r>
            <a:r>
              <a:rPr lang="en-US" sz="2800" dirty="0" err="1"/>
              <a:t>etc</a:t>
            </a:r>
            <a:r>
              <a:rPr lang="en-US" sz="2800" dirty="0"/>
              <a:t>)</a:t>
            </a:r>
          </a:p>
          <a:p>
            <a:pPr marL="285750" indent="-285750">
              <a:buFontTx/>
              <a:buChar char="-"/>
            </a:pPr>
            <a:r>
              <a:rPr lang="en-US" sz="2800" dirty="0"/>
              <a:t>Excitatory neurotransmitters and inhibitory </a:t>
            </a:r>
            <a:r>
              <a:rPr lang="en-US" sz="2800" dirty="0" err="1"/>
              <a:t>neurontransmitters</a:t>
            </a:r>
            <a:endParaRPr lang="en-US" sz="2800" dirty="0"/>
          </a:p>
          <a:p>
            <a:endParaRPr lang="en-US" dirty="0"/>
          </a:p>
        </p:txBody>
      </p:sp>
    </p:spTree>
    <p:extLst>
      <p:ext uri="{BB962C8B-B14F-4D97-AF65-F5344CB8AC3E}">
        <p14:creationId xmlns:p14="http://schemas.microsoft.com/office/powerpoint/2010/main" val="667742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625539-DDA3-CD49-A515-93ED6762E009}"/>
              </a:ext>
            </a:extLst>
          </p:cNvPr>
          <p:cNvPicPr>
            <a:picLocks noChangeAspect="1"/>
          </p:cNvPicPr>
          <p:nvPr/>
        </p:nvPicPr>
        <p:blipFill>
          <a:blip r:embed="rId3"/>
          <a:stretch>
            <a:fillRect/>
          </a:stretch>
        </p:blipFill>
        <p:spPr>
          <a:xfrm>
            <a:off x="10270472" y="0"/>
            <a:ext cx="1921527" cy="1472339"/>
          </a:xfrm>
          <a:prstGeom prst="rect">
            <a:avLst/>
          </a:prstGeom>
        </p:spPr>
      </p:pic>
      <p:sp>
        <p:nvSpPr>
          <p:cNvPr id="3" name="TextBox 2">
            <a:extLst>
              <a:ext uri="{FF2B5EF4-FFF2-40B4-BE49-F238E27FC236}">
                <a16:creationId xmlns:a16="http://schemas.microsoft.com/office/drawing/2014/main" id="{DF96FE21-9F4C-F64E-9022-163D12187526}"/>
              </a:ext>
            </a:extLst>
          </p:cNvPr>
          <p:cNvSpPr txBox="1"/>
          <p:nvPr/>
        </p:nvSpPr>
        <p:spPr>
          <a:xfrm rot="16200000">
            <a:off x="-1132740" y="1523698"/>
            <a:ext cx="2634824" cy="369332"/>
          </a:xfrm>
          <a:prstGeom prst="rect">
            <a:avLst/>
          </a:prstGeom>
          <a:solidFill>
            <a:schemeClr val="accent2"/>
          </a:solidFill>
        </p:spPr>
        <p:txBody>
          <a:bodyPr wrap="none" rtlCol="0">
            <a:spAutoFit/>
          </a:bodyPr>
          <a:lstStyle/>
          <a:p>
            <a:r>
              <a:rPr lang="en-AU" dirty="0">
                <a:solidFill>
                  <a:schemeClr val="bg1"/>
                </a:solidFill>
              </a:rPr>
              <a:t>Check your understanding</a:t>
            </a:r>
          </a:p>
        </p:txBody>
      </p:sp>
      <p:sp>
        <p:nvSpPr>
          <p:cNvPr id="6" name="TextBox 5">
            <a:extLst>
              <a:ext uri="{FF2B5EF4-FFF2-40B4-BE49-F238E27FC236}">
                <a16:creationId xmlns:a16="http://schemas.microsoft.com/office/drawing/2014/main" id="{845A9135-6D23-9B40-A318-5A5318AD7149}"/>
              </a:ext>
            </a:extLst>
          </p:cNvPr>
          <p:cNvSpPr txBox="1"/>
          <p:nvPr/>
        </p:nvSpPr>
        <p:spPr>
          <a:xfrm>
            <a:off x="1019147" y="2014932"/>
            <a:ext cx="9085501" cy="707886"/>
          </a:xfrm>
          <a:prstGeom prst="rect">
            <a:avLst/>
          </a:prstGeom>
          <a:noFill/>
        </p:spPr>
        <p:txBody>
          <a:bodyPr wrap="none" rtlCol="0">
            <a:spAutoFit/>
          </a:bodyPr>
          <a:lstStyle/>
          <a:p>
            <a:r>
              <a:rPr lang="en-US" sz="4000" b="1" dirty="0"/>
              <a:t>Name 3 elaborative rehearsal techniques?</a:t>
            </a:r>
          </a:p>
        </p:txBody>
      </p:sp>
    </p:spTree>
    <p:extLst>
      <p:ext uri="{BB962C8B-B14F-4D97-AF65-F5344CB8AC3E}">
        <p14:creationId xmlns:p14="http://schemas.microsoft.com/office/powerpoint/2010/main" val="3249823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625539-DDA3-CD49-A515-93ED6762E009}"/>
              </a:ext>
            </a:extLst>
          </p:cNvPr>
          <p:cNvPicPr>
            <a:picLocks noChangeAspect="1"/>
          </p:cNvPicPr>
          <p:nvPr/>
        </p:nvPicPr>
        <p:blipFill>
          <a:blip r:embed="rId3"/>
          <a:stretch>
            <a:fillRect/>
          </a:stretch>
        </p:blipFill>
        <p:spPr>
          <a:xfrm>
            <a:off x="10270472" y="0"/>
            <a:ext cx="1921527" cy="1472339"/>
          </a:xfrm>
          <a:prstGeom prst="rect">
            <a:avLst/>
          </a:prstGeom>
        </p:spPr>
      </p:pic>
      <p:sp>
        <p:nvSpPr>
          <p:cNvPr id="3" name="TextBox 2">
            <a:extLst>
              <a:ext uri="{FF2B5EF4-FFF2-40B4-BE49-F238E27FC236}">
                <a16:creationId xmlns:a16="http://schemas.microsoft.com/office/drawing/2014/main" id="{DF96FE21-9F4C-F64E-9022-163D12187526}"/>
              </a:ext>
            </a:extLst>
          </p:cNvPr>
          <p:cNvSpPr txBox="1"/>
          <p:nvPr/>
        </p:nvSpPr>
        <p:spPr>
          <a:xfrm rot="16200000">
            <a:off x="-1132740" y="1523698"/>
            <a:ext cx="2634824" cy="369332"/>
          </a:xfrm>
          <a:prstGeom prst="rect">
            <a:avLst/>
          </a:prstGeom>
          <a:solidFill>
            <a:schemeClr val="accent2"/>
          </a:solidFill>
        </p:spPr>
        <p:txBody>
          <a:bodyPr wrap="none" rtlCol="0">
            <a:spAutoFit/>
          </a:bodyPr>
          <a:lstStyle/>
          <a:p>
            <a:r>
              <a:rPr lang="en-AU" dirty="0">
                <a:solidFill>
                  <a:schemeClr val="bg1"/>
                </a:solidFill>
              </a:rPr>
              <a:t>Check your understanding</a:t>
            </a:r>
          </a:p>
        </p:txBody>
      </p:sp>
      <p:sp>
        <p:nvSpPr>
          <p:cNvPr id="6" name="TextBox 5">
            <a:extLst>
              <a:ext uri="{FF2B5EF4-FFF2-40B4-BE49-F238E27FC236}">
                <a16:creationId xmlns:a16="http://schemas.microsoft.com/office/drawing/2014/main" id="{845A9135-6D23-9B40-A318-5A5318AD7149}"/>
              </a:ext>
            </a:extLst>
          </p:cNvPr>
          <p:cNvSpPr txBox="1"/>
          <p:nvPr/>
        </p:nvSpPr>
        <p:spPr>
          <a:xfrm>
            <a:off x="1019147" y="2364056"/>
            <a:ext cx="9251325" cy="2554545"/>
          </a:xfrm>
          <a:prstGeom prst="rect">
            <a:avLst/>
          </a:prstGeom>
          <a:noFill/>
        </p:spPr>
        <p:txBody>
          <a:bodyPr wrap="square" rtlCol="0">
            <a:spAutoFit/>
          </a:bodyPr>
          <a:lstStyle/>
          <a:p>
            <a:r>
              <a:rPr lang="en-US" sz="4000" b="1" dirty="0"/>
              <a:t>Draw out the flow diagram of long-term memory.</a:t>
            </a:r>
          </a:p>
          <a:p>
            <a:r>
              <a:rPr lang="en-US" sz="4000" b="1" dirty="0"/>
              <a:t>Label which ones are consciously recalled and which are unconsciously recalled</a:t>
            </a:r>
          </a:p>
        </p:txBody>
      </p:sp>
    </p:spTree>
    <p:extLst>
      <p:ext uri="{BB962C8B-B14F-4D97-AF65-F5344CB8AC3E}">
        <p14:creationId xmlns:p14="http://schemas.microsoft.com/office/powerpoint/2010/main" val="1356762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2E555-EA4A-4184-918C-1630F809740B}"/>
              </a:ext>
            </a:extLst>
          </p:cNvPr>
          <p:cNvSpPr>
            <a:spLocks noGrp="1"/>
          </p:cNvSpPr>
          <p:nvPr>
            <p:ph type="title"/>
          </p:nvPr>
        </p:nvSpPr>
        <p:spPr/>
        <p:txBody>
          <a:bodyPr/>
          <a:lstStyle/>
          <a:p>
            <a:r>
              <a:rPr lang="en-AU" sz="5400" b="1" dirty="0"/>
              <a:t>Exit Ticket </a:t>
            </a:r>
          </a:p>
        </p:txBody>
      </p:sp>
      <p:sp>
        <p:nvSpPr>
          <p:cNvPr id="3" name="Content Placeholder 2">
            <a:extLst>
              <a:ext uri="{FF2B5EF4-FFF2-40B4-BE49-F238E27FC236}">
                <a16:creationId xmlns:a16="http://schemas.microsoft.com/office/drawing/2014/main" id="{CA90E94D-8BB9-4152-80A2-4A18D09037E2}"/>
              </a:ext>
            </a:extLst>
          </p:cNvPr>
          <p:cNvSpPr>
            <a:spLocks noGrp="1"/>
          </p:cNvSpPr>
          <p:nvPr>
            <p:ph idx="1"/>
          </p:nvPr>
        </p:nvSpPr>
        <p:spPr>
          <a:xfrm>
            <a:off x="1336622" y="2505636"/>
            <a:ext cx="8677836" cy="3916363"/>
          </a:xfrm>
        </p:spPr>
        <p:txBody>
          <a:bodyPr>
            <a:normAutofit/>
          </a:bodyPr>
          <a:lstStyle/>
          <a:p>
            <a:pPr marL="0" indent="0">
              <a:buNone/>
            </a:pPr>
            <a:r>
              <a:rPr lang="en-AU" sz="8000" dirty="0"/>
              <a:t>Ask one, get one</a:t>
            </a:r>
          </a:p>
        </p:txBody>
      </p:sp>
      <p:pic>
        <p:nvPicPr>
          <p:cNvPr id="4" name="Picture 3" descr="__-41-51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17234" y="136524"/>
            <a:ext cx="1765167" cy="1765167"/>
          </a:xfrm>
          <a:prstGeom prst="rect">
            <a:avLst/>
          </a:prstGeom>
        </p:spPr>
      </p:pic>
    </p:spTree>
    <p:extLst>
      <p:ext uri="{BB962C8B-B14F-4D97-AF65-F5344CB8AC3E}">
        <p14:creationId xmlns:p14="http://schemas.microsoft.com/office/powerpoint/2010/main" val="1576314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esson template" id="{BE3FD172-D024-DE49-B586-228D6C825ABD}" vid="{007CADC7-1C8C-EE44-9A84-575C6C18930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TotalTime>
  <Words>1373</Words>
  <Application>Microsoft Macintosh PowerPoint</Application>
  <PresentationFormat>Widescreen</PresentationFormat>
  <Paragraphs>196</Paragraphs>
  <Slides>18</Slides>
  <Notes>5</Notes>
  <HiddenSlides>0</HiddenSlides>
  <MMClips>1</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18</vt:i4>
      </vt:variant>
    </vt:vector>
  </HeadingPairs>
  <TitlesOfParts>
    <vt:vector size="27" baseType="lpstr">
      <vt:lpstr>Arial</vt:lpstr>
      <vt:lpstr>Calibri</vt:lpstr>
      <vt:lpstr>Calibri Light</vt:lpstr>
      <vt:lpstr>Century Gothic</vt:lpstr>
      <vt:lpstr>Courier New</vt:lpstr>
      <vt:lpstr>Wingdings 2</vt:lpstr>
      <vt:lpstr>Office Theme</vt:lpstr>
      <vt:lpstr>1_Office Theme</vt:lpstr>
      <vt:lpstr>1_Saba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long-term memory</vt:lpstr>
      <vt:lpstr>PowerPoint Presentation</vt:lpstr>
      <vt:lpstr>PowerPoint Presentation</vt:lpstr>
      <vt:lpstr>PowerPoint Presentation</vt:lpstr>
      <vt:lpstr>Practice</vt:lpstr>
      <vt:lpstr>PowerPoint Presentation</vt:lpstr>
      <vt:lpstr>PowerPoint Presentation</vt:lpstr>
      <vt:lpstr>PowerPoint Presentation</vt:lpstr>
      <vt:lpstr>PowerPoint Presentation</vt:lpstr>
      <vt:lpstr>Exit Ticket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LTM AND RETRIEVAL OF INFORMATION</dc:title>
  <dc:creator>DAVEY Sarah [Joseph Banks Secondary College]</dc:creator>
  <cp:lastModifiedBy>DAVEY Sarah [Joseph Banks Secondary College]</cp:lastModifiedBy>
  <cp:revision>9</cp:revision>
  <dcterms:created xsi:type="dcterms:W3CDTF">2021-02-24T01:33:41Z</dcterms:created>
  <dcterms:modified xsi:type="dcterms:W3CDTF">2021-03-03T03:17:44Z</dcterms:modified>
</cp:coreProperties>
</file>
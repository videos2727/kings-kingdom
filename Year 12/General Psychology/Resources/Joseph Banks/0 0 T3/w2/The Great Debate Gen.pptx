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0" r:id="rId1"/>
  </p:sldMasterIdLst>
  <p:notesMasterIdLst>
    <p:notesMasterId r:id="rId13"/>
  </p:notesMasterIdLst>
  <p:sldIdLst>
    <p:sldId id="395" r:id="rId2"/>
    <p:sldId id="349" r:id="rId3"/>
    <p:sldId id="391" r:id="rId4"/>
    <p:sldId id="394" r:id="rId5"/>
    <p:sldId id="390" r:id="rId6"/>
    <p:sldId id="396" r:id="rId7"/>
    <p:sldId id="354" r:id="rId8"/>
    <p:sldId id="392" r:id="rId9"/>
    <p:sldId id="393" r:id="rId10"/>
    <p:sldId id="385" r:id="rId11"/>
    <p:sldId id="39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56" autoAdjust="0"/>
    <p:restoredTop sz="97059" autoAdjust="0"/>
  </p:normalViewPr>
  <p:slideViewPr>
    <p:cSldViewPr snapToGrid="0" snapToObjects="1">
      <p:cViewPr varScale="1">
        <p:scale>
          <a:sx n="162" d="100"/>
          <a:sy n="162" d="100"/>
        </p:scale>
        <p:origin x="78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89A3D-5FA8-6B42-92CA-B793AF9680B3}" type="datetimeFigureOut">
              <a:rPr lang="en-US" smtClean="0"/>
              <a:t>7/28/21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A3A09D-58FF-8544-8F30-659E369A30FA}" type="slidenum">
              <a:rPr lang="en-US" smtClean="0"/>
              <a:t>‹#›</a:t>
            </a:fld>
            <a:endParaRPr lang="en-US"/>
          </a:p>
        </p:txBody>
      </p:sp>
    </p:spTree>
    <p:extLst>
      <p:ext uri="{BB962C8B-B14F-4D97-AF65-F5344CB8AC3E}">
        <p14:creationId xmlns:p14="http://schemas.microsoft.com/office/powerpoint/2010/main" val="2825564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5A3A09D-58FF-8544-8F30-659E369A30FA}" type="slidenum">
              <a:rPr lang="en-US" smtClean="0"/>
              <a:t>7</a:t>
            </a:fld>
            <a:endParaRPr lang="en-US"/>
          </a:p>
        </p:txBody>
      </p:sp>
    </p:spTree>
    <p:extLst>
      <p:ext uri="{BB962C8B-B14F-4D97-AF65-F5344CB8AC3E}">
        <p14:creationId xmlns:p14="http://schemas.microsoft.com/office/powerpoint/2010/main" val="1148827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A3A09D-58FF-8544-8F30-659E369A30FA}" type="slidenum">
              <a:rPr lang="en-US" smtClean="0"/>
              <a:t>8</a:t>
            </a:fld>
            <a:endParaRPr lang="en-US"/>
          </a:p>
        </p:txBody>
      </p:sp>
    </p:spTree>
    <p:extLst>
      <p:ext uri="{BB962C8B-B14F-4D97-AF65-F5344CB8AC3E}">
        <p14:creationId xmlns:p14="http://schemas.microsoft.com/office/powerpoint/2010/main" val="2444581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5A3A09D-58FF-8544-8F30-659E369A30FA}" type="slidenum">
              <a:rPr lang="en-US" smtClean="0"/>
              <a:t>10</a:t>
            </a:fld>
            <a:endParaRPr lang="en-US"/>
          </a:p>
        </p:txBody>
      </p:sp>
    </p:spTree>
    <p:extLst>
      <p:ext uri="{BB962C8B-B14F-4D97-AF65-F5344CB8AC3E}">
        <p14:creationId xmlns:p14="http://schemas.microsoft.com/office/powerpoint/2010/main" val="1352179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EB507C1E-5E0D-3E4D-8113-714502558754}" type="datetimeFigureOut">
              <a:rPr lang="en-US" smtClean="0"/>
              <a:t>7/28/21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209611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7/28/21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735896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US"/>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EB507C1E-5E0D-3E4D-8113-714502558754}" type="datetimeFigureOut">
              <a:rPr lang="en-US" smtClean="0"/>
              <a:t>7/28/21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US"/>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1344535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US"/>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7/28/21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92477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EB507C1E-5E0D-3E4D-8113-714502558754}" type="datetimeFigureOut">
              <a:rPr lang="en-US" smtClean="0"/>
              <a:t>7/28/21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69657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145234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7/28/21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74020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EB507C1E-5E0D-3E4D-8113-714502558754}" type="datetimeFigureOut">
              <a:rPr lang="en-US" smtClean="0"/>
              <a:t>7/28/21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171164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7/28/21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441811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7/28/21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4270761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7/28/21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103447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EB507C1E-5E0D-3E4D-8113-714502558754}" type="datetimeFigureOut">
              <a:rPr lang="en-US" smtClean="0"/>
              <a:t>7/28/21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535889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EB507C1E-5E0D-3E4D-8113-714502558754}" type="datetimeFigureOut">
              <a:rPr lang="en-US" smtClean="0"/>
              <a:t>7/28/21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932214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7/28/21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833382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EB507C1E-5E0D-3E4D-8113-714502558754}" type="datetimeFigureOut">
              <a:rPr lang="en-US" smtClean="0"/>
              <a:t>7/28/21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3176510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7/28/21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090284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7/28/21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2841283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7/28/21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2904465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7/28/21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650992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EB507C1E-5E0D-3E4D-8113-714502558754}" type="datetimeFigureOut">
              <a:rPr lang="en-US" smtClean="0"/>
              <a:t>7/28/21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31074487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EFE69C-EB88-F244-AB62-461D2A5256E1}"/>
              </a:ext>
            </a:extLst>
          </p:cNvPr>
          <p:cNvPicPr>
            <a:picLocks noChangeAspect="1"/>
          </p:cNvPicPr>
          <p:nvPr/>
        </p:nvPicPr>
        <p:blipFill>
          <a:blip r:embed="rId2"/>
          <a:stretch>
            <a:fillRect/>
          </a:stretch>
        </p:blipFill>
        <p:spPr>
          <a:xfrm>
            <a:off x="2076450" y="102162"/>
            <a:ext cx="8039100" cy="4635500"/>
          </a:xfrm>
          <a:prstGeom prst="rect">
            <a:avLst/>
          </a:prstGeom>
        </p:spPr>
      </p:pic>
      <p:sp>
        <p:nvSpPr>
          <p:cNvPr id="5" name="Title 4"/>
          <p:cNvSpPr>
            <a:spLocks noGrp="1"/>
          </p:cNvSpPr>
          <p:nvPr>
            <p:ph type="title" idx="4294967295"/>
          </p:nvPr>
        </p:nvSpPr>
        <p:spPr>
          <a:xfrm>
            <a:off x="1875864" y="4989044"/>
            <a:ext cx="8440271" cy="614909"/>
          </a:xfrm>
        </p:spPr>
        <p:txBody>
          <a:bodyPr>
            <a:noAutofit/>
          </a:bodyPr>
          <a:lstStyle/>
          <a:p>
            <a:r>
              <a:rPr lang="en-US" sz="2000" dirty="0">
                <a:solidFill>
                  <a:schemeClr val="tx1"/>
                </a:solidFill>
              </a:rPr>
              <a:t>Question: Describe three findings from the data	(3 marks)</a:t>
            </a:r>
          </a:p>
        </p:txBody>
      </p:sp>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4000" dirty="0"/>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1586753"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spTree>
    <p:extLst>
      <p:ext uri="{BB962C8B-B14F-4D97-AF65-F5344CB8AC3E}">
        <p14:creationId xmlns:p14="http://schemas.microsoft.com/office/powerpoint/2010/main" val="128039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817311" y="-191295"/>
            <a:ext cx="7175500" cy="1646238"/>
          </a:xfrm>
        </p:spPr>
        <p:txBody>
          <a:bodyPr>
            <a:normAutofit/>
          </a:bodyPr>
          <a:lstStyle/>
          <a:p>
            <a:r>
              <a:rPr lang="en-US" sz="3200" b="1" dirty="0"/>
              <a:t>Twin &amp; Adoption Studies – Fill out the table below</a:t>
            </a:r>
          </a:p>
        </p:txBody>
      </p:sp>
      <p:graphicFrame>
        <p:nvGraphicFramePr>
          <p:cNvPr id="11" name="Content Placeholder 7"/>
          <p:cNvGraphicFramePr>
            <a:graphicFrameLocks/>
          </p:cNvGraphicFramePr>
          <p:nvPr>
            <p:extLst>
              <p:ext uri="{D42A27DB-BD31-4B8C-83A1-F6EECF244321}">
                <p14:modId xmlns:p14="http://schemas.microsoft.com/office/powerpoint/2010/main" val="332320815"/>
              </p:ext>
            </p:extLst>
          </p:nvPr>
        </p:nvGraphicFramePr>
        <p:xfrm>
          <a:off x="1297859" y="1977698"/>
          <a:ext cx="9445162" cy="3033250"/>
        </p:xfrm>
        <a:graphic>
          <a:graphicData uri="http://schemas.openxmlformats.org/drawingml/2006/table">
            <a:tbl>
              <a:tblPr firstRow="1" bandRow="1">
                <a:tableStyleId>{3B4B98B0-60AC-42C2-AFA5-B58CD77FA1E5}</a:tableStyleId>
              </a:tblPr>
              <a:tblGrid>
                <a:gridCol w="4722581">
                  <a:extLst>
                    <a:ext uri="{9D8B030D-6E8A-4147-A177-3AD203B41FA5}">
                      <a16:colId xmlns:a16="http://schemas.microsoft.com/office/drawing/2014/main" val="20000"/>
                    </a:ext>
                  </a:extLst>
                </a:gridCol>
                <a:gridCol w="4722581">
                  <a:extLst>
                    <a:ext uri="{9D8B030D-6E8A-4147-A177-3AD203B41FA5}">
                      <a16:colId xmlns:a16="http://schemas.microsoft.com/office/drawing/2014/main" val="20001"/>
                    </a:ext>
                  </a:extLst>
                </a:gridCol>
              </a:tblGrid>
              <a:tr h="831800">
                <a:tc>
                  <a:txBody>
                    <a:bodyPr/>
                    <a:lstStyle/>
                    <a:p>
                      <a:pPr algn="ctr"/>
                      <a:r>
                        <a:rPr lang="en-US" sz="2600" dirty="0"/>
                        <a:t>Degree of Relationship</a:t>
                      </a:r>
                    </a:p>
                  </a:txBody>
                  <a:tcPr marL="131162" marR="131162" marT="65581" marB="65581"/>
                </a:tc>
                <a:tc>
                  <a:txBody>
                    <a:bodyPr/>
                    <a:lstStyle/>
                    <a:p>
                      <a:pPr algn="ctr"/>
                      <a:r>
                        <a:rPr lang="en-US" sz="2600" dirty="0"/>
                        <a:t>Degree of Gene</a:t>
                      </a:r>
                      <a:r>
                        <a:rPr lang="en-US" sz="2600" baseline="0" dirty="0"/>
                        <a:t> Similarity (%)</a:t>
                      </a:r>
                      <a:endParaRPr lang="en-US" sz="2600" dirty="0"/>
                    </a:p>
                  </a:txBody>
                  <a:tcPr marL="131162" marR="131162" marT="65581" marB="65581"/>
                </a:tc>
                <a:extLst>
                  <a:ext uri="{0D108BD9-81ED-4DB2-BD59-A6C34878D82A}">
                    <a16:rowId xmlns:a16="http://schemas.microsoft.com/office/drawing/2014/main" val="10000"/>
                  </a:ext>
                </a:extLst>
              </a:tr>
              <a:tr h="519730">
                <a:tc>
                  <a:txBody>
                    <a:bodyPr/>
                    <a:lstStyle/>
                    <a:p>
                      <a:pPr algn="ctr"/>
                      <a:r>
                        <a:rPr lang="en-US" sz="2600"/>
                        <a:t>MZ</a:t>
                      </a:r>
                    </a:p>
                  </a:txBody>
                  <a:tcPr marL="131162" marR="131162" marT="65581" marB="65581"/>
                </a:tc>
                <a:tc>
                  <a:txBody>
                    <a:bodyPr/>
                    <a:lstStyle/>
                    <a:p>
                      <a:pPr algn="ctr"/>
                      <a:endParaRPr lang="en-US" sz="2600" dirty="0"/>
                    </a:p>
                  </a:txBody>
                  <a:tcPr marL="131162" marR="131162" marT="65581" marB="65581"/>
                </a:tc>
                <a:extLst>
                  <a:ext uri="{0D108BD9-81ED-4DB2-BD59-A6C34878D82A}">
                    <a16:rowId xmlns:a16="http://schemas.microsoft.com/office/drawing/2014/main" val="10001"/>
                  </a:ext>
                </a:extLst>
              </a:tr>
              <a:tr h="519730">
                <a:tc>
                  <a:txBody>
                    <a:bodyPr/>
                    <a:lstStyle/>
                    <a:p>
                      <a:pPr algn="ctr"/>
                      <a:r>
                        <a:rPr lang="en-US" sz="2600" dirty="0"/>
                        <a:t>DZ</a:t>
                      </a:r>
                    </a:p>
                  </a:txBody>
                  <a:tcPr marL="131162" marR="131162" marT="65581" marB="65581"/>
                </a:tc>
                <a:tc>
                  <a:txBody>
                    <a:bodyPr/>
                    <a:lstStyle/>
                    <a:p>
                      <a:pPr algn="ctr"/>
                      <a:endParaRPr lang="en-US" sz="2600" dirty="0"/>
                    </a:p>
                  </a:txBody>
                  <a:tcPr marL="131162" marR="131162" marT="65581" marB="65581"/>
                </a:tc>
                <a:extLst>
                  <a:ext uri="{0D108BD9-81ED-4DB2-BD59-A6C34878D82A}">
                    <a16:rowId xmlns:a16="http://schemas.microsoft.com/office/drawing/2014/main" val="10002"/>
                  </a:ext>
                </a:extLst>
              </a:tr>
              <a:tr h="519730">
                <a:tc>
                  <a:txBody>
                    <a:bodyPr/>
                    <a:lstStyle/>
                    <a:p>
                      <a:pPr algn="ctr"/>
                      <a:r>
                        <a:rPr lang="en-US" sz="2600" dirty="0"/>
                        <a:t>Siblings</a:t>
                      </a:r>
                    </a:p>
                  </a:txBody>
                  <a:tcPr marL="131162" marR="131162" marT="65581" marB="65581"/>
                </a:tc>
                <a:tc>
                  <a:txBody>
                    <a:bodyPr/>
                    <a:lstStyle/>
                    <a:p>
                      <a:pPr algn="ctr"/>
                      <a:endParaRPr lang="en-US" sz="2600" dirty="0"/>
                    </a:p>
                  </a:txBody>
                  <a:tcPr marL="131162" marR="131162" marT="65581" marB="65581"/>
                </a:tc>
                <a:extLst>
                  <a:ext uri="{0D108BD9-81ED-4DB2-BD59-A6C34878D82A}">
                    <a16:rowId xmlns:a16="http://schemas.microsoft.com/office/drawing/2014/main" val="10003"/>
                  </a:ext>
                </a:extLst>
              </a:tr>
              <a:tr h="519730">
                <a:tc>
                  <a:txBody>
                    <a:bodyPr/>
                    <a:lstStyle/>
                    <a:p>
                      <a:pPr algn="ctr"/>
                      <a:r>
                        <a:rPr lang="en-US" sz="2600" dirty="0"/>
                        <a:t>Adopted Children</a:t>
                      </a:r>
                    </a:p>
                  </a:txBody>
                  <a:tcPr marL="131162" marR="131162" marT="65581" marB="65581"/>
                </a:tc>
                <a:tc>
                  <a:txBody>
                    <a:bodyPr/>
                    <a:lstStyle/>
                    <a:p>
                      <a:pPr algn="ctr"/>
                      <a:endParaRPr lang="en-US" sz="2600" dirty="0"/>
                    </a:p>
                  </a:txBody>
                  <a:tcPr marL="131162" marR="131162" marT="65581" marB="65581"/>
                </a:tc>
                <a:extLst>
                  <a:ext uri="{0D108BD9-81ED-4DB2-BD59-A6C34878D82A}">
                    <a16:rowId xmlns:a16="http://schemas.microsoft.com/office/drawing/2014/main" val="10004"/>
                  </a:ext>
                </a:extLst>
              </a:tr>
            </a:tbl>
          </a:graphicData>
        </a:graphic>
      </p:graphicFrame>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4000" dirty="0"/>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2128995"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graphicFrame>
        <p:nvGraphicFramePr>
          <p:cNvPr id="7" name="Table 6">
            <a:extLst>
              <a:ext uri="{FF2B5EF4-FFF2-40B4-BE49-F238E27FC236}">
                <a16:creationId xmlns:a16="http://schemas.microsoft.com/office/drawing/2014/main" id="{FCAF955D-9FBE-4970-BCCF-0D9D1BAD1592}"/>
              </a:ext>
            </a:extLst>
          </p:cNvPr>
          <p:cNvGraphicFramePr>
            <a:graphicFrameLocks noGrp="1"/>
          </p:cNvGraphicFramePr>
          <p:nvPr>
            <p:extLst>
              <p:ext uri="{D42A27DB-BD31-4B8C-83A1-F6EECF244321}">
                <p14:modId xmlns:p14="http://schemas.microsoft.com/office/powerpoint/2010/main" val="1944146818"/>
              </p:ext>
            </p:extLst>
          </p:nvPr>
        </p:nvGraphicFramePr>
        <p:xfrm>
          <a:off x="8821441" y="6002879"/>
          <a:ext cx="3455537" cy="931703"/>
        </p:xfrm>
        <a:graphic>
          <a:graphicData uri="http://schemas.openxmlformats.org/drawingml/2006/table">
            <a:tbl>
              <a:tblPr firstRow="1" bandRow="1">
                <a:tableStyleId>{F5AB1C69-6EDB-4FF4-983F-18BD219EF322}</a:tableStyleId>
              </a:tblPr>
              <a:tblGrid>
                <a:gridCol w="3455537">
                  <a:extLst>
                    <a:ext uri="{9D8B030D-6E8A-4147-A177-3AD203B41FA5}">
                      <a16:colId xmlns:a16="http://schemas.microsoft.com/office/drawing/2014/main" val="20000"/>
                    </a:ext>
                  </a:extLst>
                </a:gridCol>
              </a:tblGrid>
              <a:tr h="228113">
                <a:tc>
                  <a:txBody>
                    <a:bodyPr/>
                    <a:lstStyle/>
                    <a:p>
                      <a:r>
                        <a:rPr lang="en-AU" sz="1800" dirty="0"/>
                        <a:t>Reminders</a:t>
                      </a:r>
                    </a:p>
                  </a:txBody>
                  <a:tcPr>
                    <a:solidFill>
                      <a:srgbClr val="7030A0"/>
                    </a:solidFill>
                  </a:tcPr>
                </a:tc>
                <a:extLst>
                  <a:ext uri="{0D108BD9-81ED-4DB2-BD59-A6C34878D82A}">
                    <a16:rowId xmlns:a16="http://schemas.microsoft.com/office/drawing/2014/main" val="10000"/>
                  </a:ext>
                </a:extLst>
              </a:tr>
              <a:tr h="565943">
                <a:tc>
                  <a:txBody>
                    <a:bodyPr/>
                    <a:lstStyle/>
                    <a:p>
                      <a:pPr marL="0" marR="0" lvl="0" indent="0" defTabSz="914400" eaLnBrk="1" fontAlgn="auto" latinLnBrk="0" hangingPunct="1">
                        <a:lnSpc>
                          <a:spcPct val="100000"/>
                        </a:lnSpc>
                        <a:spcBef>
                          <a:spcPts val="0"/>
                        </a:spcBef>
                        <a:spcAft>
                          <a:spcPts val="0"/>
                        </a:spcAft>
                        <a:buClrTx/>
                        <a:buSzTx/>
                        <a:buFont typeface="+mj-lt"/>
                        <a:buNone/>
                        <a:tabLst/>
                        <a:defRPr/>
                      </a:pPr>
                      <a:r>
                        <a:rPr lang="en-US" sz="1800" dirty="0"/>
                        <a:t>Test: Next Friday</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00256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817311" y="-191295"/>
            <a:ext cx="7175500" cy="1646238"/>
          </a:xfrm>
        </p:spPr>
        <p:txBody>
          <a:bodyPr>
            <a:normAutofit/>
          </a:bodyPr>
          <a:lstStyle/>
          <a:p>
            <a:r>
              <a:rPr lang="en-US" sz="3200" b="1" dirty="0" err="1"/>
              <a:t>Categorise</a:t>
            </a:r>
            <a:r>
              <a:rPr lang="en-US" sz="3200" b="1" dirty="0"/>
              <a:t> the following data collection tools:</a:t>
            </a:r>
          </a:p>
        </p:txBody>
      </p:sp>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4000" dirty="0"/>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2128995"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graphicFrame>
        <p:nvGraphicFramePr>
          <p:cNvPr id="3" name="Table 3">
            <a:extLst>
              <a:ext uri="{FF2B5EF4-FFF2-40B4-BE49-F238E27FC236}">
                <a16:creationId xmlns:a16="http://schemas.microsoft.com/office/drawing/2014/main" id="{9DE9643F-AE0A-0249-B408-E7644040506D}"/>
              </a:ext>
            </a:extLst>
          </p:cNvPr>
          <p:cNvGraphicFramePr>
            <a:graphicFrameLocks noGrp="1"/>
          </p:cNvGraphicFramePr>
          <p:nvPr>
            <p:extLst>
              <p:ext uri="{D42A27DB-BD31-4B8C-83A1-F6EECF244321}">
                <p14:modId xmlns:p14="http://schemas.microsoft.com/office/powerpoint/2010/main" val="377566972"/>
              </p:ext>
            </p:extLst>
          </p:nvPr>
        </p:nvGraphicFramePr>
        <p:xfrm>
          <a:off x="513167" y="2208007"/>
          <a:ext cx="10903384" cy="2103120"/>
        </p:xfrm>
        <a:graphic>
          <a:graphicData uri="http://schemas.openxmlformats.org/drawingml/2006/table">
            <a:tbl>
              <a:tblPr firstRow="1" bandRow="1">
                <a:tableStyleId>{93296810-A885-4BE3-A3E7-6D5BEEA58F35}</a:tableStyleId>
              </a:tblPr>
              <a:tblGrid>
                <a:gridCol w="2725846">
                  <a:extLst>
                    <a:ext uri="{9D8B030D-6E8A-4147-A177-3AD203B41FA5}">
                      <a16:colId xmlns:a16="http://schemas.microsoft.com/office/drawing/2014/main" val="2804104988"/>
                    </a:ext>
                  </a:extLst>
                </a:gridCol>
                <a:gridCol w="2725846">
                  <a:extLst>
                    <a:ext uri="{9D8B030D-6E8A-4147-A177-3AD203B41FA5}">
                      <a16:colId xmlns:a16="http://schemas.microsoft.com/office/drawing/2014/main" val="826121520"/>
                    </a:ext>
                  </a:extLst>
                </a:gridCol>
                <a:gridCol w="2725846">
                  <a:extLst>
                    <a:ext uri="{9D8B030D-6E8A-4147-A177-3AD203B41FA5}">
                      <a16:colId xmlns:a16="http://schemas.microsoft.com/office/drawing/2014/main" val="1227274984"/>
                    </a:ext>
                  </a:extLst>
                </a:gridCol>
                <a:gridCol w="2725846">
                  <a:extLst>
                    <a:ext uri="{9D8B030D-6E8A-4147-A177-3AD203B41FA5}">
                      <a16:colId xmlns:a16="http://schemas.microsoft.com/office/drawing/2014/main" val="4035015966"/>
                    </a:ext>
                  </a:extLst>
                </a:gridCol>
              </a:tblGrid>
              <a:tr h="370840">
                <a:tc>
                  <a:txBody>
                    <a:bodyPr/>
                    <a:lstStyle/>
                    <a:p>
                      <a:pPr algn="ctr"/>
                      <a:endParaRPr lang="en-US" sz="2400"/>
                    </a:p>
                  </a:txBody>
                  <a:tcPr/>
                </a:tc>
                <a:tc>
                  <a:txBody>
                    <a:bodyPr/>
                    <a:lstStyle/>
                    <a:p>
                      <a:pPr algn="ctr"/>
                      <a:r>
                        <a:rPr lang="en-US" sz="2400" dirty="0"/>
                        <a:t>Interviews</a:t>
                      </a:r>
                    </a:p>
                  </a:txBody>
                  <a:tcPr/>
                </a:tc>
                <a:tc>
                  <a:txBody>
                    <a:bodyPr/>
                    <a:lstStyle/>
                    <a:p>
                      <a:pPr algn="ctr"/>
                      <a:r>
                        <a:rPr lang="en-US" sz="2400" dirty="0"/>
                        <a:t>Likert scale</a:t>
                      </a:r>
                    </a:p>
                  </a:txBody>
                  <a:tcPr/>
                </a:tc>
                <a:tc>
                  <a:txBody>
                    <a:bodyPr/>
                    <a:lstStyle/>
                    <a:p>
                      <a:pPr algn="ctr"/>
                      <a:r>
                        <a:rPr lang="en-US" sz="2400" dirty="0"/>
                        <a:t>Heart rate </a:t>
                      </a:r>
                    </a:p>
                  </a:txBody>
                  <a:tcPr/>
                </a:tc>
                <a:extLst>
                  <a:ext uri="{0D108BD9-81ED-4DB2-BD59-A6C34878D82A}">
                    <a16:rowId xmlns:a16="http://schemas.microsoft.com/office/drawing/2014/main" val="4062759269"/>
                  </a:ext>
                </a:extLst>
              </a:tr>
              <a:tr h="370840">
                <a:tc>
                  <a:txBody>
                    <a:bodyPr/>
                    <a:lstStyle/>
                    <a:p>
                      <a:r>
                        <a:rPr lang="en-US" sz="2400" dirty="0"/>
                        <a:t>Subjective OR Objective</a:t>
                      </a:r>
                    </a:p>
                  </a:txBody>
                  <a:tcPr/>
                </a:tc>
                <a:tc>
                  <a:txBody>
                    <a:bodyPr/>
                    <a:lstStyle/>
                    <a:p>
                      <a:endParaRPr lang="en-US" sz="2400"/>
                    </a:p>
                  </a:txBody>
                  <a:tcPr/>
                </a:tc>
                <a:tc>
                  <a:txBody>
                    <a:bodyPr/>
                    <a:lstStyle/>
                    <a:p>
                      <a:endParaRPr lang="en-US" sz="2400"/>
                    </a:p>
                  </a:txBody>
                  <a:tcPr/>
                </a:tc>
                <a:tc>
                  <a:txBody>
                    <a:bodyPr/>
                    <a:lstStyle/>
                    <a:p>
                      <a:endParaRPr lang="en-US" sz="2400"/>
                    </a:p>
                  </a:txBody>
                  <a:tcPr/>
                </a:tc>
                <a:extLst>
                  <a:ext uri="{0D108BD9-81ED-4DB2-BD59-A6C34878D82A}">
                    <a16:rowId xmlns:a16="http://schemas.microsoft.com/office/drawing/2014/main" val="4199325298"/>
                  </a:ext>
                </a:extLst>
              </a:tr>
              <a:tr h="370840">
                <a:tc>
                  <a:txBody>
                    <a:bodyPr/>
                    <a:lstStyle/>
                    <a:p>
                      <a:r>
                        <a:rPr lang="en-US" sz="2400" dirty="0"/>
                        <a:t>Qualitative OR Quantitative</a:t>
                      </a:r>
                    </a:p>
                  </a:txBody>
                  <a:tcPr/>
                </a:tc>
                <a:tc>
                  <a:txBody>
                    <a:bodyPr/>
                    <a:lstStyle/>
                    <a:p>
                      <a:endParaRPr lang="en-US" sz="2400" dirty="0"/>
                    </a:p>
                  </a:txBody>
                  <a:tcPr/>
                </a:tc>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3583375696"/>
                  </a:ext>
                </a:extLst>
              </a:tr>
            </a:tbl>
          </a:graphicData>
        </a:graphic>
      </p:graphicFrame>
    </p:spTree>
    <p:extLst>
      <p:ext uri="{BB962C8B-B14F-4D97-AF65-F5344CB8AC3E}">
        <p14:creationId xmlns:p14="http://schemas.microsoft.com/office/powerpoint/2010/main" val="1206839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830758" y="1408904"/>
            <a:ext cx="7711736" cy="3391695"/>
          </a:xfrm>
        </p:spPr>
        <p:txBody>
          <a:bodyPr>
            <a:normAutofit/>
          </a:bodyPr>
          <a:lstStyle/>
          <a:p>
            <a:pPr algn="ctr"/>
            <a:r>
              <a:rPr lang="en-US" b="1" dirty="0">
                <a:solidFill>
                  <a:schemeClr val="tx1"/>
                </a:solidFill>
              </a:rPr>
              <a:t>Write 2 </a:t>
            </a:r>
            <a:r>
              <a:rPr lang="en-US" b="1" dirty="0" err="1">
                <a:solidFill>
                  <a:schemeClr val="tx1"/>
                </a:solidFill>
              </a:rPr>
              <a:t>likert</a:t>
            </a:r>
            <a:r>
              <a:rPr lang="en-US" b="1" dirty="0">
                <a:solidFill>
                  <a:schemeClr val="tx1"/>
                </a:solidFill>
              </a:rPr>
              <a:t> scale questions that could help measure a persons extroversion</a:t>
            </a:r>
          </a:p>
        </p:txBody>
      </p:sp>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4000" dirty="0"/>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2128995"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spTree>
    <p:extLst>
      <p:ext uri="{BB962C8B-B14F-4D97-AF65-F5344CB8AC3E}">
        <p14:creationId xmlns:p14="http://schemas.microsoft.com/office/powerpoint/2010/main" val="2646128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424779" y="1920082"/>
            <a:ext cx="11342442" cy="1646238"/>
          </a:xfrm>
        </p:spPr>
        <p:txBody>
          <a:bodyPr>
            <a:noAutofit/>
          </a:bodyPr>
          <a:lstStyle/>
          <a:p>
            <a:r>
              <a:rPr lang="en-US" sz="2000" dirty="0">
                <a:solidFill>
                  <a:schemeClr val="tx1"/>
                </a:solidFill>
              </a:rPr>
              <a:t>Chloe is a personal trainer at Gold’s Gym. Although she has always officially led a “straight edge” lifestyle and denounced the use of anabolic steroids, she’s always secretly wondered if they helped people get significantly stronger. She decides to find out. She purchases some steroids off the black marker from her dealer Jiggy and convinces half of her clientele at the gym to start injecting. This continues for thirty days while Chloe keeps a journal of how much weight each person in the two groups can squat. At the end of the month she compares the results.</a:t>
            </a:r>
          </a:p>
        </p:txBody>
      </p:sp>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4000" dirty="0"/>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1586753"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sp>
        <p:nvSpPr>
          <p:cNvPr id="2" name="TextBox 1">
            <a:extLst>
              <a:ext uri="{FF2B5EF4-FFF2-40B4-BE49-F238E27FC236}">
                <a16:creationId xmlns:a16="http://schemas.microsoft.com/office/drawing/2014/main" id="{4C368280-1A32-AA42-BB99-216A104295A4}"/>
              </a:ext>
            </a:extLst>
          </p:cNvPr>
          <p:cNvSpPr txBox="1"/>
          <p:nvPr/>
        </p:nvSpPr>
        <p:spPr>
          <a:xfrm>
            <a:off x="3119718" y="4276165"/>
            <a:ext cx="5961888" cy="1754326"/>
          </a:xfrm>
          <a:prstGeom prst="rect">
            <a:avLst/>
          </a:prstGeom>
          <a:noFill/>
        </p:spPr>
        <p:txBody>
          <a:bodyPr wrap="none" rtlCol="0">
            <a:spAutoFit/>
          </a:bodyPr>
          <a:lstStyle/>
          <a:p>
            <a:r>
              <a:rPr lang="en-US" b="1" dirty="0"/>
              <a:t>Identify the: </a:t>
            </a:r>
          </a:p>
          <a:p>
            <a:r>
              <a:rPr lang="en-US" dirty="0"/>
              <a:t>1. IV and DV</a:t>
            </a:r>
          </a:p>
          <a:p>
            <a:r>
              <a:rPr lang="en-US" dirty="0"/>
              <a:t>2. Experimental group and Control group</a:t>
            </a:r>
          </a:p>
          <a:p>
            <a:endParaRPr lang="en-US" dirty="0"/>
          </a:p>
          <a:p>
            <a:endParaRPr lang="en-US" dirty="0"/>
          </a:p>
          <a:p>
            <a:r>
              <a:rPr lang="en-US" b="1" dirty="0"/>
              <a:t>Write an operationalized hypothesis for this scenario</a:t>
            </a:r>
          </a:p>
        </p:txBody>
      </p:sp>
    </p:spTree>
    <p:extLst>
      <p:ext uri="{BB962C8B-B14F-4D97-AF65-F5344CB8AC3E}">
        <p14:creationId xmlns:p14="http://schemas.microsoft.com/office/powerpoint/2010/main" val="2702088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480981" y="5696930"/>
            <a:ext cx="8440271" cy="614909"/>
          </a:xfrm>
        </p:spPr>
        <p:txBody>
          <a:bodyPr>
            <a:noAutofit/>
          </a:bodyPr>
          <a:lstStyle/>
          <a:p>
            <a:r>
              <a:rPr lang="en-US" sz="2000" dirty="0">
                <a:solidFill>
                  <a:schemeClr val="tx1"/>
                </a:solidFill>
              </a:rPr>
              <a:t>1. How many fishing boat deaths were there in 2004? </a:t>
            </a:r>
            <a:br>
              <a:rPr lang="en-US" sz="2000" dirty="0">
                <a:solidFill>
                  <a:schemeClr val="tx1"/>
                </a:solidFill>
              </a:rPr>
            </a:br>
            <a:r>
              <a:rPr lang="en-US" sz="2000" dirty="0">
                <a:solidFill>
                  <a:schemeClr val="tx1"/>
                </a:solidFill>
              </a:rPr>
              <a:t>2. Describe the correlation between the years 1999 to 2001.</a:t>
            </a:r>
            <a:br>
              <a:rPr lang="en-US" sz="2000" dirty="0">
                <a:solidFill>
                  <a:schemeClr val="tx1"/>
                </a:solidFill>
              </a:rPr>
            </a:br>
            <a:endParaRPr lang="en-US" sz="2000" dirty="0">
              <a:solidFill>
                <a:schemeClr val="tx1"/>
              </a:solidFill>
            </a:endParaRPr>
          </a:p>
        </p:txBody>
      </p:sp>
      <p:sp>
        <p:nvSpPr>
          <p:cNvPr id="9" name="TextBox 8">
            <a:extLst>
              <a:ext uri="{FF2B5EF4-FFF2-40B4-BE49-F238E27FC236}">
                <a16:creationId xmlns:a16="http://schemas.microsoft.com/office/drawing/2014/main" id="{A4B3C05C-FA6D-48F9-AE64-DE8B3C71D4F1}"/>
              </a:ext>
            </a:extLst>
          </p:cNvPr>
          <p:cNvSpPr txBox="1"/>
          <p:nvPr/>
        </p:nvSpPr>
        <p:spPr>
          <a:xfrm>
            <a:off x="0" y="16915"/>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4000" dirty="0"/>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1586753"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pic>
        <p:nvPicPr>
          <p:cNvPr id="1030" name="Picture 6" descr="Student Shares A Graphic About Nicolas Cage Movies With His Math Teacher,  And It Proves Correlation Does Not Mean Causation | Bored Panda">
            <a:extLst>
              <a:ext uri="{FF2B5EF4-FFF2-40B4-BE49-F238E27FC236}">
                <a16:creationId xmlns:a16="http://schemas.microsoft.com/office/drawing/2014/main" id="{AEB19315-0F93-A34B-BBDA-6F2DB5795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445" y="724801"/>
            <a:ext cx="10815109" cy="4264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8918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709" y="3150082"/>
            <a:ext cx="8977745" cy="1323439"/>
          </a:xfrm>
        </p:spPr>
        <p:txBody>
          <a:bodyPr>
            <a:normAutofit/>
          </a:bodyPr>
          <a:lstStyle/>
          <a:p>
            <a:r>
              <a:rPr lang="en-US" sz="4000" b="1" dirty="0"/>
              <a:t>Success Criteria </a:t>
            </a:r>
          </a:p>
        </p:txBody>
      </p:sp>
      <p:sp>
        <p:nvSpPr>
          <p:cNvPr id="4" name="Title 1"/>
          <p:cNvSpPr txBox="1">
            <a:spLocks/>
          </p:cNvSpPr>
          <p:nvPr/>
        </p:nvSpPr>
        <p:spPr>
          <a:xfrm>
            <a:off x="0" y="391704"/>
            <a:ext cx="5622766"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b="1" dirty="0">
                <a:solidFill>
                  <a:schemeClr val="accent1"/>
                </a:solidFill>
              </a:rPr>
              <a:t>Learning Intention </a:t>
            </a:r>
          </a:p>
        </p:txBody>
      </p:sp>
      <p:sp>
        <p:nvSpPr>
          <p:cNvPr id="5" name="TextBox 4"/>
          <p:cNvSpPr txBox="1"/>
          <p:nvPr/>
        </p:nvSpPr>
        <p:spPr>
          <a:xfrm>
            <a:off x="645422" y="1715500"/>
            <a:ext cx="10606961" cy="1569660"/>
          </a:xfrm>
          <a:prstGeom prst="rect">
            <a:avLst/>
          </a:prstGeom>
          <a:noFill/>
        </p:spPr>
        <p:txBody>
          <a:bodyPr wrap="square" rtlCol="0">
            <a:spAutoFit/>
          </a:bodyPr>
          <a:lstStyle/>
          <a:p>
            <a:r>
              <a:rPr lang="en-US" sz="2400" dirty="0">
                <a:solidFill>
                  <a:srgbClr val="194431"/>
                </a:solidFill>
              </a:rPr>
              <a:t>By the end of the lesson I will be able to:</a:t>
            </a:r>
          </a:p>
          <a:p>
            <a:endParaRPr lang="en-US" sz="2400" dirty="0">
              <a:solidFill>
                <a:srgbClr val="194431"/>
              </a:solidFill>
            </a:endParaRPr>
          </a:p>
          <a:p>
            <a:pPr marL="342900" indent="-342900">
              <a:buFont typeface="Arial" panose="020B0604020202020204" pitchFamily="34" charset="0"/>
              <a:buChar char="•"/>
            </a:pPr>
            <a:r>
              <a:rPr lang="en-US" sz="2400" dirty="0">
                <a:solidFill>
                  <a:srgbClr val="194431"/>
                </a:solidFill>
              </a:rPr>
              <a:t>Skim read journal articles and outline the research</a:t>
            </a:r>
          </a:p>
          <a:p>
            <a:pPr marL="342900" indent="-342900">
              <a:buFont typeface="Arial" panose="020B0604020202020204" pitchFamily="34" charset="0"/>
              <a:buChar char="•"/>
            </a:pPr>
            <a:r>
              <a:rPr lang="en-US" sz="2400" dirty="0">
                <a:solidFill>
                  <a:srgbClr val="194431"/>
                </a:solidFill>
              </a:rPr>
              <a:t>Know the challenges and milestones for a 5 year old</a:t>
            </a:r>
          </a:p>
        </p:txBody>
      </p:sp>
      <p:pic>
        <p:nvPicPr>
          <p:cNvPr id="3" name="Picture 2" descr="Iconsmind-Outline-Pen-5.ic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1703" y="192389"/>
            <a:ext cx="1724875" cy="1724875"/>
          </a:xfrm>
          <a:prstGeom prst="rect">
            <a:avLst/>
          </a:prstGeom>
        </p:spPr>
      </p:pic>
      <p:sp>
        <p:nvSpPr>
          <p:cNvPr id="7" name="Content Placeholder 6"/>
          <p:cNvSpPr>
            <a:spLocks noGrp="1"/>
          </p:cNvSpPr>
          <p:nvPr>
            <p:ph idx="1"/>
          </p:nvPr>
        </p:nvSpPr>
        <p:spPr>
          <a:xfrm>
            <a:off x="939616" y="4686800"/>
            <a:ext cx="10926100" cy="1978811"/>
          </a:xfrm>
        </p:spPr>
        <p:txBody>
          <a:bodyPr>
            <a:normAutofit/>
          </a:bodyPr>
          <a:lstStyle/>
          <a:p>
            <a:r>
              <a:rPr lang="en-US" sz="2400" dirty="0"/>
              <a:t>I will outline 1 twin/adoption studies.</a:t>
            </a:r>
          </a:p>
          <a:p>
            <a:r>
              <a:rPr lang="en-US" sz="2400" dirty="0"/>
              <a:t>I will be able to describe a case study of one of the children in life at 5</a:t>
            </a:r>
          </a:p>
          <a:p>
            <a:pPr marL="0" indent="0">
              <a:buNone/>
            </a:pPr>
            <a:endParaRPr lang="en-US" dirty="0"/>
          </a:p>
          <a:p>
            <a:endParaRPr lang="en-US" dirty="0"/>
          </a:p>
        </p:txBody>
      </p:sp>
    </p:spTree>
    <p:extLst>
      <p:ext uri="{BB962C8B-B14F-4D97-AF65-F5344CB8AC3E}">
        <p14:creationId xmlns:p14="http://schemas.microsoft.com/office/powerpoint/2010/main" val="158384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46CD2F4-1701-0849-8E37-72ABFDE0CC66}"/>
              </a:ext>
            </a:extLst>
          </p:cNvPr>
          <p:cNvPicPr>
            <a:picLocks noGrp="1" noChangeAspect="1"/>
          </p:cNvPicPr>
          <p:nvPr>
            <p:ph idx="4294967295"/>
          </p:nvPr>
        </p:nvPicPr>
        <p:blipFill>
          <a:blip r:embed="rId3"/>
          <a:stretch>
            <a:fillRect/>
          </a:stretch>
        </p:blipFill>
        <p:spPr>
          <a:xfrm>
            <a:off x="369334" y="822679"/>
            <a:ext cx="6320118" cy="697225"/>
          </a:xfrm>
          <a:prstGeom prst="rect">
            <a:avLst/>
          </a:prstGeom>
        </p:spPr>
      </p:pic>
      <p:sp>
        <p:nvSpPr>
          <p:cNvPr id="5" name="TextBox 4">
            <a:extLst>
              <a:ext uri="{FF2B5EF4-FFF2-40B4-BE49-F238E27FC236}">
                <a16:creationId xmlns:a16="http://schemas.microsoft.com/office/drawing/2014/main" id="{D394F923-BEDC-6049-8ED6-5258D664596A}"/>
              </a:ext>
            </a:extLst>
          </p:cNvPr>
          <p:cNvSpPr txBox="1"/>
          <p:nvPr/>
        </p:nvSpPr>
        <p:spPr>
          <a:xfrm rot="16200000">
            <a:off x="-1675777" y="2052414"/>
            <a:ext cx="3720890" cy="369332"/>
          </a:xfrm>
          <a:prstGeom prst="rect">
            <a:avLst/>
          </a:prstGeom>
          <a:solidFill>
            <a:schemeClr val="accent6"/>
          </a:solidFill>
        </p:spPr>
        <p:txBody>
          <a:bodyPr wrap="none" rtlCol="0">
            <a:spAutoFit/>
          </a:bodyPr>
          <a:lstStyle/>
          <a:p>
            <a:r>
              <a:rPr lang="en-US" dirty="0"/>
              <a:t>Skill Development – teacher led</a:t>
            </a:r>
          </a:p>
        </p:txBody>
      </p:sp>
      <p:sp>
        <p:nvSpPr>
          <p:cNvPr id="6" name="TextBox 5">
            <a:extLst>
              <a:ext uri="{FF2B5EF4-FFF2-40B4-BE49-F238E27FC236}">
                <a16:creationId xmlns:a16="http://schemas.microsoft.com/office/drawing/2014/main" id="{C0118960-76B7-3541-9415-DEECCE886F75}"/>
              </a:ext>
            </a:extLst>
          </p:cNvPr>
          <p:cNvSpPr txBox="1"/>
          <p:nvPr/>
        </p:nvSpPr>
        <p:spPr>
          <a:xfrm>
            <a:off x="470586" y="115025"/>
            <a:ext cx="8032968" cy="523220"/>
          </a:xfrm>
          <a:prstGeom prst="rect">
            <a:avLst/>
          </a:prstGeom>
          <a:noFill/>
          <a:ln>
            <a:solidFill>
              <a:schemeClr val="accent1"/>
            </a:solidFill>
          </a:ln>
        </p:spPr>
        <p:txBody>
          <a:bodyPr wrap="none" rtlCol="0">
            <a:spAutoFit/>
          </a:bodyPr>
          <a:lstStyle/>
          <a:p>
            <a:r>
              <a:rPr lang="en-US" sz="2800" b="1" dirty="0"/>
              <a:t>Skill: Skim reading and summarizing research</a:t>
            </a:r>
          </a:p>
        </p:txBody>
      </p:sp>
      <p:pic>
        <p:nvPicPr>
          <p:cNvPr id="7" name="Picture 6">
            <a:extLst>
              <a:ext uri="{FF2B5EF4-FFF2-40B4-BE49-F238E27FC236}">
                <a16:creationId xmlns:a16="http://schemas.microsoft.com/office/drawing/2014/main" id="{B35BBD9E-F1E4-5E48-837D-E80BC88634B0}"/>
              </a:ext>
            </a:extLst>
          </p:cNvPr>
          <p:cNvPicPr>
            <a:picLocks noChangeAspect="1"/>
          </p:cNvPicPr>
          <p:nvPr/>
        </p:nvPicPr>
        <p:blipFill rotWithShape="1">
          <a:blip r:embed="rId4"/>
          <a:srcRect l="31011" t="13721"/>
          <a:stretch/>
        </p:blipFill>
        <p:spPr>
          <a:xfrm>
            <a:off x="6528022" y="667381"/>
            <a:ext cx="5663978" cy="6176080"/>
          </a:xfrm>
          <a:prstGeom prst="rect">
            <a:avLst/>
          </a:prstGeom>
        </p:spPr>
      </p:pic>
      <p:pic>
        <p:nvPicPr>
          <p:cNvPr id="8" name="Picture 7">
            <a:extLst>
              <a:ext uri="{FF2B5EF4-FFF2-40B4-BE49-F238E27FC236}">
                <a16:creationId xmlns:a16="http://schemas.microsoft.com/office/drawing/2014/main" id="{E78EC271-39ED-5943-9D10-62890BF66057}"/>
              </a:ext>
            </a:extLst>
          </p:cNvPr>
          <p:cNvPicPr>
            <a:picLocks noChangeAspect="1"/>
          </p:cNvPicPr>
          <p:nvPr/>
        </p:nvPicPr>
        <p:blipFill>
          <a:blip r:embed="rId5"/>
          <a:stretch>
            <a:fillRect/>
          </a:stretch>
        </p:blipFill>
        <p:spPr>
          <a:xfrm>
            <a:off x="470586" y="1563579"/>
            <a:ext cx="5842000" cy="495300"/>
          </a:xfrm>
          <a:prstGeom prst="rect">
            <a:avLst/>
          </a:prstGeom>
        </p:spPr>
      </p:pic>
      <p:sp>
        <p:nvSpPr>
          <p:cNvPr id="9" name="TextBox 8">
            <a:extLst>
              <a:ext uri="{FF2B5EF4-FFF2-40B4-BE49-F238E27FC236}">
                <a16:creationId xmlns:a16="http://schemas.microsoft.com/office/drawing/2014/main" id="{93C6522D-DE16-9D41-9588-EC0F1AD2240F}"/>
              </a:ext>
            </a:extLst>
          </p:cNvPr>
          <p:cNvSpPr txBox="1"/>
          <p:nvPr/>
        </p:nvSpPr>
        <p:spPr>
          <a:xfrm>
            <a:off x="885087" y="2335023"/>
            <a:ext cx="4601313" cy="3693319"/>
          </a:xfrm>
          <a:prstGeom prst="rect">
            <a:avLst/>
          </a:prstGeom>
          <a:noFill/>
          <a:ln>
            <a:solidFill>
              <a:schemeClr val="accent1"/>
            </a:solidFill>
          </a:ln>
        </p:spPr>
        <p:txBody>
          <a:bodyPr wrap="square" rtlCol="0">
            <a:spAutoFit/>
          </a:bodyPr>
          <a:lstStyle/>
          <a:p>
            <a:r>
              <a:rPr lang="en-US" b="1" dirty="0"/>
              <a:t>When skim reading research papers the abstract should include most of the key information you need.</a:t>
            </a:r>
          </a:p>
          <a:p>
            <a:endParaRPr lang="en-US" dirty="0"/>
          </a:p>
          <a:p>
            <a:r>
              <a:rPr lang="en-US" dirty="0"/>
              <a:t>Key information to look for:</a:t>
            </a:r>
          </a:p>
          <a:p>
            <a:endParaRPr lang="en-US" dirty="0"/>
          </a:p>
          <a:p>
            <a:r>
              <a:rPr lang="en-US" dirty="0"/>
              <a:t>Aim</a:t>
            </a:r>
          </a:p>
          <a:p>
            <a:r>
              <a:rPr lang="en-US" dirty="0"/>
              <a:t>Participants</a:t>
            </a:r>
          </a:p>
          <a:p>
            <a:r>
              <a:rPr lang="en-US" dirty="0"/>
              <a:t>Procedure</a:t>
            </a:r>
          </a:p>
          <a:p>
            <a:r>
              <a:rPr lang="en-US" dirty="0"/>
              <a:t>Results</a:t>
            </a:r>
          </a:p>
          <a:p>
            <a:r>
              <a:rPr lang="en-US" dirty="0"/>
              <a:t>Conclusion</a:t>
            </a:r>
          </a:p>
          <a:p>
            <a:r>
              <a:rPr lang="en-US" dirty="0"/>
              <a:t>Author(s) and year</a:t>
            </a:r>
          </a:p>
          <a:p>
            <a:endParaRPr lang="en-US" dirty="0"/>
          </a:p>
        </p:txBody>
      </p:sp>
      <p:sp>
        <p:nvSpPr>
          <p:cNvPr id="10" name="TextBox 9">
            <a:extLst>
              <a:ext uri="{FF2B5EF4-FFF2-40B4-BE49-F238E27FC236}">
                <a16:creationId xmlns:a16="http://schemas.microsoft.com/office/drawing/2014/main" id="{189107AD-1E92-0540-8AE2-0BE2A9032B87}"/>
              </a:ext>
            </a:extLst>
          </p:cNvPr>
          <p:cNvSpPr txBox="1"/>
          <p:nvPr/>
        </p:nvSpPr>
        <p:spPr>
          <a:xfrm>
            <a:off x="527829" y="6096644"/>
            <a:ext cx="5094664" cy="584775"/>
          </a:xfrm>
          <a:prstGeom prst="rect">
            <a:avLst/>
          </a:prstGeom>
          <a:noFill/>
        </p:spPr>
        <p:txBody>
          <a:bodyPr wrap="none" rtlCol="0">
            <a:spAutoFit/>
          </a:bodyPr>
          <a:lstStyle/>
          <a:p>
            <a:pPr algn="ctr"/>
            <a:r>
              <a:rPr lang="en-US" sz="1600" i="1" dirty="0"/>
              <a:t>Tip: When you stumble on words you don’t know. </a:t>
            </a:r>
          </a:p>
          <a:p>
            <a:pPr algn="ctr"/>
            <a:r>
              <a:rPr lang="en-US" sz="1600" i="1" dirty="0"/>
              <a:t>Make a note, but keep reading.</a:t>
            </a:r>
          </a:p>
        </p:txBody>
      </p:sp>
    </p:spTree>
    <p:extLst>
      <p:ext uri="{BB962C8B-B14F-4D97-AF65-F5344CB8AC3E}">
        <p14:creationId xmlns:p14="http://schemas.microsoft.com/office/powerpoint/2010/main" val="3236889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94F923-BEDC-6049-8ED6-5258D664596A}"/>
              </a:ext>
            </a:extLst>
          </p:cNvPr>
          <p:cNvSpPr txBox="1"/>
          <p:nvPr/>
        </p:nvSpPr>
        <p:spPr>
          <a:xfrm rot="16200000">
            <a:off x="-1656067" y="2136571"/>
            <a:ext cx="3720890" cy="369332"/>
          </a:xfrm>
          <a:prstGeom prst="rect">
            <a:avLst/>
          </a:prstGeom>
          <a:solidFill>
            <a:schemeClr val="accent6"/>
          </a:solidFill>
        </p:spPr>
        <p:txBody>
          <a:bodyPr wrap="none" rtlCol="0">
            <a:spAutoFit/>
          </a:bodyPr>
          <a:lstStyle/>
          <a:p>
            <a:r>
              <a:rPr lang="en-US" dirty="0"/>
              <a:t>Skill Development / paired work</a:t>
            </a:r>
          </a:p>
        </p:txBody>
      </p:sp>
      <p:sp>
        <p:nvSpPr>
          <p:cNvPr id="6" name="TextBox 5">
            <a:extLst>
              <a:ext uri="{FF2B5EF4-FFF2-40B4-BE49-F238E27FC236}">
                <a16:creationId xmlns:a16="http://schemas.microsoft.com/office/drawing/2014/main" id="{C0118960-76B7-3541-9415-DEECCE886F75}"/>
              </a:ext>
            </a:extLst>
          </p:cNvPr>
          <p:cNvSpPr txBox="1"/>
          <p:nvPr/>
        </p:nvSpPr>
        <p:spPr>
          <a:xfrm>
            <a:off x="470586" y="115025"/>
            <a:ext cx="8032968" cy="523220"/>
          </a:xfrm>
          <a:prstGeom prst="rect">
            <a:avLst/>
          </a:prstGeom>
          <a:noFill/>
          <a:ln>
            <a:solidFill>
              <a:schemeClr val="accent1"/>
            </a:solidFill>
          </a:ln>
        </p:spPr>
        <p:txBody>
          <a:bodyPr wrap="none" rtlCol="0">
            <a:spAutoFit/>
          </a:bodyPr>
          <a:lstStyle/>
          <a:p>
            <a:r>
              <a:rPr lang="en-US" sz="2800" b="1" dirty="0"/>
              <a:t>Skill: Skim reading and summarizing research</a:t>
            </a:r>
          </a:p>
        </p:txBody>
      </p:sp>
      <p:sp>
        <p:nvSpPr>
          <p:cNvPr id="9" name="TextBox 8">
            <a:extLst>
              <a:ext uri="{FF2B5EF4-FFF2-40B4-BE49-F238E27FC236}">
                <a16:creationId xmlns:a16="http://schemas.microsoft.com/office/drawing/2014/main" id="{93C6522D-DE16-9D41-9588-EC0F1AD2240F}"/>
              </a:ext>
            </a:extLst>
          </p:cNvPr>
          <p:cNvSpPr txBox="1"/>
          <p:nvPr/>
        </p:nvSpPr>
        <p:spPr>
          <a:xfrm>
            <a:off x="885087" y="2335023"/>
            <a:ext cx="4601313" cy="3693319"/>
          </a:xfrm>
          <a:prstGeom prst="rect">
            <a:avLst/>
          </a:prstGeom>
          <a:noFill/>
          <a:ln>
            <a:solidFill>
              <a:schemeClr val="accent1"/>
            </a:solidFill>
          </a:ln>
        </p:spPr>
        <p:txBody>
          <a:bodyPr wrap="square" rtlCol="0">
            <a:spAutoFit/>
          </a:bodyPr>
          <a:lstStyle/>
          <a:p>
            <a:r>
              <a:rPr lang="en-US" b="1" dirty="0"/>
              <a:t>When skim reading research papers the abstract should include most of the key information you need.</a:t>
            </a:r>
          </a:p>
          <a:p>
            <a:endParaRPr lang="en-US" dirty="0"/>
          </a:p>
          <a:p>
            <a:r>
              <a:rPr lang="en-US" dirty="0"/>
              <a:t>Key information to look for:</a:t>
            </a:r>
          </a:p>
          <a:p>
            <a:endParaRPr lang="en-US" dirty="0"/>
          </a:p>
          <a:p>
            <a:r>
              <a:rPr lang="en-US" dirty="0"/>
              <a:t>Aim</a:t>
            </a:r>
          </a:p>
          <a:p>
            <a:r>
              <a:rPr lang="en-US" dirty="0"/>
              <a:t>Participants</a:t>
            </a:r>
          </a:p>
          <a:p>
            <a:r>
              <a:rPr lang="en-US" dirty="0"/>
              <a:t>Procedure</a:t>
            </a:r>
          </a:p>
          <a:p>
            <a:r>
              <a:rPr lang="en-US" dirty="0"/>
              <a:t>Results</a:t>
            </a:r>
          </a:p>
          <a:p>
            <a:r>
              <a:rPr lang="en-US" dirty="0"/>
              <a:t>Conclusion</a:t>
            </a:r>
          </a:p>
          <a:p>
            <a:r>
              <a:rPr lang="en-US" dirty="0"/>
              <a:t>Author(s) and year</a:t>
            </a:r>
          </a:p>
          <a:p>
            <a:endParaRPr lang="en-US" dirty="0"/>
          </a:p>
        </p:txBody>
      </p:sp>
      <p:sp>
        <p:nvSpPr>
          <p:cNvPr id="10" name="TextBox 9">
            <a:extLst>
              <a:ext uri="{FF2B5EF4-FFF2-40B4-BE49-F238E27FC236}">
                <a16:creationId xmlns:a16="http://schemas.microsoft.com/office/drawing/2014/main" id="{189107AD-1E92-0540-8AE2-0BE2A9032B87}"/>
              </a:ext>
            </a:extLst>
          </p:cNvPr>
          <p:cNvSpPr txBox="1"/>
          <p:nvPr/>
        </p:nvSpPr>
        <p:spPr>
          <a:xfrm>
            <a:off x="527829" y="6096644"/>
            <a:ext cx="5094664" cy="584775"/>
          </a:xfrm>
          <a:prstGeom prst="rect">
            <a:avLst/>
          </a:prstGeom>
          <a:noFill/>
        </p:spPr>
        <p:txBody>
          <a:bodyPr wrap="none" rtlCol="0">
            <a:spAutoFit/>
          </a:bodyPr>
          <a:lstStyle/>
          <a:p>
            <a:pPr algn="ctr"/>
            <a:r>
              <a:rPr lang="en-US" sz="1600" i="1" dirty="0"/>
              <a:t>Tip: When you stumble on words you don’t know. </a:t>
            </a:r>
          </a:p>
          <a:p>
            <a:pPr algn="ctr"/>
            <a:r>
              <a:rPr lang="en-US" sz="1600" i="1" dirty="0"/>
              <a:t>Make a note, but keep reading.</a:t>
            </a:r>
          </a:p>
        </p:txBody>
      </p:sp>
      <p:pic>
        <p:nvPicPr>
          <p:cNvPr id="2" name="Picture 1">
            <a:extLst>
              <a:ext uri="{FF2B5EF4-FFF2-40B4-BE49-F238E27FC236}">
                <a16:creationId xmlns:a16="http://schemas.microsoft.com/office/drawing/2014/main" id="{A05CE206-B5CE-7C45-93C5-27D3EC73096B}"/>
              </a:ext>
            </a:extLst>
          </p:cNvPr>
          <p:cNvPicPr>
            <a:picLocks noChangeAspect="1"/>
          </p:cNvPicPr>
          <p:nvPr/>
        </p:nvPicPr>
        <p:blipFill>
          <a:blip r:embed="rId2"/>
          <a:stretch>
            <a:fillRect/>
          </a:stretch>
        </p:blipFill>
        <p:spPr>
          <a:xfrm>
            <a:off x="5486399" y="2157130"/>
            <a:ext cx="6685889" cy="4510503"/>
          </a:xfrm>
          <a:prstGeom prst="rect">
            <a:avLst/>
          </a:prstGeom>
        </p:spPr>
      </p:pic>
      <p:pic>
        <p:nvPicPr>
          <p:cNvPr id="3" name="Picture 2">
            <a:extLst>
              <a:ext uri="{FF2B5EF4-FFF2-40B4-BE49-F238E27FC236}">
                <a16:creationId xmlns:a16="http://schemas.microsoft.com/office/drawing/2014/main" id="{D923A439-C575-D349-856A-855299E6D805}"/>
              </a:ext>
            </a:extLst>
          </p:cNvPr>
          <p:cNvPicPr>
            <a:picLocks noChangeAspect="1"/>
          </p:cNvPicPr>
          <p:nvPr/>
        </p:nvPicPr>
        <p:blipFill>
          <a:blip r:embed="rId3"/>
          <a:stretch>
            <a:fillRect/>
          </a:stretch>
        </p:blipFill>
        <p:spPr>
          <a:xfrm>
            <a:off x="953347" y="908480"/>
            <a:ext cx="4464792" cy="978415"/>
          </a:xfrm>
          <a:prstGeom prst="rect">
            <a:avLst/>
          </a:prstGeom>
        </p:spPr>
      </p:pic>
      <p:pic>
        <p:nvPicPr>
          <p:cNvPr id="12" name="Picture 11">
            <a:extLst>
              <a:ext uri="{FF2B5EF4-FFF2-40B4-BE49-F238E27FC236}">
                <a16:creationId xmlns:a16="http://schemas.microsoft.com/office/drawing/2014/main" id="{E5914E58-5B0C-7242-A96D-666A69FFBE9B}"/>
              </a:ext>
            </a:extLst>
          </p:cNvPr>
          <p:cNvPicPr>
            <a:picLocks noChangeAspect="1"/>
          </p:cNvPicPr>
          <p:nvPr/>
        </p:nvPicPr>
        <p:blipFill>
          <a:blip r:embed="rId4"/>
          <a:stretch>
            <a:fillRect/>
          </a:stretch>
        </p:blipFill>
        <p:spPr>
          <a:xfrm>
            <a:off x="6425353" y="1061395"/>
            <a:ext cx="4813300" cy="825500"/>
          </a:xfrm>
          <a:prstGeom prst="rect">
            <a:avLst/>
          </a:prstGeom>
        </p:spPr>
      </p:pic>
    </p:spTree>
    <p:extLst>
      <p:ext uri="{BB962C8B-B14F-4D97-AF65-F5344CB8AC3E}">
        <p14:creationId xmlns:p14="http://schemas.microsoft.com/office/powerpoint/2010/main" val="3502572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FDA994B-C446-422A-90EF-06BCEC2EE46E}"/>
              </a:ext>
            </a:extLst>
          </p:cNvPr>
          <p:cNvSpPr txBox="1"/>
          <p:nvPr/>
        </p:nvSpPr>
        <p:spPr>
          <a:xfrm>
            <a:off x="1186648" y="82477"/>
            <a:ext cx="8407624" cy="707886"/>
          </a:xfrm>
          <a:prstGeom prst="rect">
            <a:avLst/>
          </a:prstGeom>
          <a:noFill/>
        </p:spPr>
        <p:txBody>
          <a:bodyPr wrap="square" rtlCol="0">
            <a:spAutoFit/>
          </a:bodyPr>
          <a:lstStyle/>
          <a:p>
            <a:r>
              <a:rPr lang="en-AU" sz="4000" b="1" dirty="0">
                <a:solidFill>
                  <a:srgbClr val="2D6069"/>
                </a:solidFill>
              </a:rPr>
              <a:t>The Nature and Nurture debate</a:t>
            </a:r>
          </a:p>
        </p:txBody>
      </p:sp>
      <p:sp>
        <p:nvSpPr>
          <p:cNvPr id="7" name="Rectangle 6">
            <a:extLst>
              <a:ext uri="{FF2B5EF4-FFF2-40B4-BE49-F238E27FC236}">
                <a16:creationId xmlns:a16="http://schemas.microsoft.com/office/drawing/2014/main" id="{3A159323-2B57-4028-AE27-8469B4B2BEBF}"/>
              </a:ext>
            </a:extLst>
          </p:cNvPr>
          <p:cNvSpPr/>
          <p:nvPr/>
        </p:nvSpPr>
        <p:spPr>
          <a:xfrm>
            <a:off x="712378" y="1116567"/>
            <a:ext cx="8063173" cy="3046988"/>
          </a:xfrm>
          <a:prstGeom prst="rect">
            <a:avLst/>
          </a:prstGeom>
          <a:solidFill>
            <a:srgbClr val="B4E7E6">
              <a:alpha val="54118"/>
            </a:srgbClr>
          </a:solidFill>
        </p:spPr>
        <p:txBody>
          <a:bodyPr wrap="square">
            <a:spAutoFit/>
          </a:bodyPr>
          <a:lstStyle/>
          <a:p>
            <a:r>
              <a:rPr lang="en-US" sz="2400" b="1" dirty="0"/>
              <a:t>In your groups of 3-4</a:t>
            </a:r>
          </a:p>
          <a:p>
            <a:endParaRPr lang="en-US" sz="2400" dirty="0"/>
          </a:p>
          <a:p>
            <a:r>
              <a:rPr lang="en-US" sz="2400" dirty="0"/>
              <a:t>You will be allocated to either the nature or nurture side of the debate.</a:t>
            </a:r>
          </a:p>
          <a:p>
            <a:endParaRPr lang="en-US" sz="2400" dirty="0"/>
          </a:p>
          <a:p>
            <a:r>
              <a:rPr lang="en-US" sz="2400" dirty="0"/>
              <a:t>Your task is to argue for your side. Finding research to support your arguments using twin and adoption studies.</a:t>
            </a:r>
          </a:p>
        </p:txBody>
      </p:sp>
      <p:sp>
        <p:nvSpPr>
          <p:cNvPr id="8" name="Rectangle 6">
            <a:extLst>
              <a:ext uri="{FF2B5EF4-FFF2-40B4-BE49-F238E27FC236}">
                <a16:creationId xmlns:a16="http://schemas.microsoft.com/office/drawing/2014/main" id="{9F11A52C-B7B7-4BC6-84F9-0F79F53039B6}"/>
              </a:ext>
            </a:extLst>
          </p:cNvPr>
          <p:cNvSpPr>
            <a:spLocks noChangeArrowheads="1"/>
          </p:cNvSpPr>
          <p:nvPr/>
        </p:nvSpPr>
        <p:spPr bwMode="auto">
          <a:xfrm>
            <a:off x="658872" y="4381604"/>
            <a:ext cx="8116679" cy="2247411"/>
          </a:xfrm>
          <a:prstGeom prst="rect">
            <a:avLst/>
          </a:prstGeom>
          <a:solidFill>
            <a:schemeClr val="accent6">
              <a:lumMod val="20000"/>
              <a:lumOff val="80000"/>
            </a:schemeClr>
          </a:solidFill>
          <a:ln>
            <a:noFill/>
          </a:ln>
          <a:effectLst/>
        </p:spPr>
        <p:txBody>
          <a:bodyPr wrap="square" lIns="92075" tIns="46038" rIns="92075" bIns="46038">
            <a:spAutoFit/>
          </a:bodyPr>
          <a:lstStyle/>
          <a:p>
            <a:pPr marL="342900" indent="-342900">
              <a:buFont typeface="Arial" panose="020B0604020202020204" pitchFamily="34" charset="0"/>
              <a:buChar char="•"/>
            </a:pPr>
            <a:r>
              <a:rPr lang="en-US" sz="2000" dirty="0"/>
              <a:t>Skim read at least two journal articles each (provided for you)</a:t>
            </a:r>
          </a:p>
          <a:p>
            <a:pPr marL="342900" indent="-342900">
              <a:buFont typeface="Arial" panose="020B0604020202020204" pitchFamily="34" charset="0"/>
              <a:buChar char="•"/>
            </a:pPr>
            <a:r>
              <a:rPr lang="en-US" sz="2000" dirty="0"/>
              <a:t>Outline one journal article using APPRC to use in your argument (and to save in your notes).</a:t>
            </a:r>
          </a:p>
          <a:p>
            <a:pPr marL="342900" indent="-342900">
              <a:buFont typeface="Arial" panose="020B0604020202020204" pitchFamily="34" charset="0"/>
              <a:buChar char="•"/>
            </a:pPr>
            <a:r>
              <a:rPr lang="en-US" sz="2000" dirty="0"/>
              <a:t>Conduct your own internet search to find supporting evidence. </a:t>
            </a:r>
          </a:p>
          <a:p>
            <a:pPr marL="342900" indent="-342900">
              <a:buFont typeface="Arial" panose="020B0604020202020204" pitchFamily="34" charset="0"/>
              <a:buChar char="•"/>
            </a:pPr>
            <a:r>
              <a:rPr lang="en-US" sz="2000" dirty="0"/>
              <a:t>Two members of your group will be asked to debate: One to present arguments (1 minute), one to rebuttal (30 seconds).</a:t>
            </a:r>
          </a:p>
        </p:txBody>
      </p:sp>
      <p:sp>
        <p:nvSpPr>
          <p:cNvPr id="10" name="Rectangle 9">
            <a:extLst>
              <a:ext uri="{FF2B5EF4-FFF2-40B4-BE49-F238E27FC236}">
                <a16:creationId xmlns:a16="http://schemas.microsoft.com/office/drawing/2014/main" id="{6AE9C803-0C8D-46FF-ADF2-C1CFAD92DCFB}"/>
              </a:ext>
            </a:extLst>
          </p:cNvPr>
          <p:cNvSpPr/>
          <p:nvPr/>
        </p:nvSpPr>
        <p:spPr>
          <a:xfrm>
            <a:off x="9969189" y="661042"/>
            <a:ext cx="1620138" cy="830997"/>
          </a:xfrm>
          <a:prstGeom prst="rect">
            <a:avLst/>
          </a:prstGeom>
          <a:solidFill>
            <a:schemeClr val="accent1">
              <a:lumMod val="60000"/>
              <a:lumOff val="40000"/>
              <a:alpha val="54118"/>
            </a:schemeClr>
          </a:solidFill>
        </p:spPr>
        <p:txBody>
          <a:bodyPr wrap="square">
            <a:spAutoFit/>
          </a:bodyPr>
          <a:lstStyle/>
          <a:p>
            <a:pPr algn="ctr"/>
            <a:r>
              <a:rPr lang="en-AU" sz="2400" b="1" dirty="0"/>
              <a:t>25 minutes</a:t>
            </a:r>
          </a:p>
        </p:txBody>
      </p:sp>
      <p:sp>
        <p:nvSpPr>
          <p:cNvPr id="9" name="Rectangle 8">
            <a:extLst>
              <a:ext uri="{FF2B5EF4-FFF2-40B4-BE49-F238E27FC236}">
                <a16:creationId xmlns:a16="http://schemas.microsoft.com/office/drawing/2014/main" id="{7F146999-93FD-45FB-A45A-3757C6E0CB8E}"/>
              </a:ext>
            </a:extLst>
          </p:cNvPr>
          <p:cNvSpPr/>
          <p:nvPr/>
        </p:nvSpPr>
        <p:spPr>
          <a:xfrm>
            <a:off x="9100297" y="4690023"/>
            <a:ext cx="2964054" cy="1938992"/>
          </a:xfrm>
          <a:prstGeom prst="rect">
            <a:avLst/>
          </a:prstGeom>
          <a:solidFill>
            <a:schemeClr val="accent1">
              <a:lumMod val="60000"/>
              <a:lumOff val="40000"/>
              <a:alpha val="54118"/>
            </a:schemeClr>
          </a:solidFill>
          <a:ln w="38100">
            <a:solidFill>
              <a:schemeClr val="accent5"/>
            </a:solidFill>
          </a:ln>
        </p:spPr>
        <p:txBody>
          <a:bodyPr wrap="square">
            <a:spAutoFit/>
          </a:bodyPr>
          <a:lstStyle/>
          <a:p>
            <a:pPr algn="ctr"/>
            <a:r>
              <a:rPr lang="en-AU" sz="2400" b="1" dirty="0">
                <a:solidFill>
                  <a:schemeClr val="accent3">
                    <a:lumMod val="50000"/>
                  </a:schemeClr>
                </a:solidFill>
              </a:rPr>
              <a:t>You may need evidence for IQ’s heritability in extended response answers.</a:t>
            </a:r>
          </a:p>
        </p:txBody>
      </p:sp>
    </p:spTree>
    <p:extLst>
      <p:ext uri="{BB962C8B-B14F-4D97-AF65-F5344CB8AC3E}">
        <p14:creationId xmlns:p14="http://schemas.microsoft.com/office/powerpoint/2010/main" val="1225642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C4694-C5B3-DE48-9B49-8023DD080BB9}"/>
              </a:ext>
            </a:extLst>
          </p:cNvPr>
          <p:cNvSpPr>
            <a:spLocks noGrp="1"/>
          </p:cNvSpPr>
          <p:nvPr>
            <p:ph type="title"/>
          </p:nvPr>
        </p:nvSpPr>
        <p:spPr/>
        <p:txBody>
          <a:bodyPr/>
          <a:lstStyle/>
          <a:p>
            <a:r>
              <a:rPr lang="en-US" sz="4400" b="1" dirty="0"/>
              <a:t>Life at series – longitudinal series</a:t>
            </a:r>
          </a:p>
        </p:txBody>
      </p:sp>
      <p:sp>
        <p:nvSpPr>
          <p:cNvPr id="3" name="Content Placeholder 2">
            <a:extLst>
              <a:ext uri="{FF2B5EF4-FFF2-40B4-BE49-F238E27FC236}">
                <a16:creationId xmlns:a16="http://schemas.microsoft.com/office/drawing/2014/main" id="{7AE578BE-6A17-5D41-BE02-EDDEFD30362D}"/>
              </a:ext>
            </a:extLst>
          </p:cNvPr>
          <p:cNvSpPr>
            <a:spLocks noGrp="1"/>
          </p:cNvSpPr>
          <p:nvPr>
            <p:ph idx="1"/>
          </p:nvPr>
        </p:nvSpPr>
        <p:spPr/>
        <p:txBody>
          <a:bodyPr>
            <a:normAutofit/>
          </a:bodyPr>
          <a:lstStyle/>
          <a:p>
            <a:pPr marL="0" indent="0">
              <a:buNone/>
            </a:pPr>
            <a:endParaRPr lang="en-US" sz="4000" dirty="0"/>
          </a:p>
          <a:p>
            <a:pPr marL="0" indent="0">
              <a:buNone/>
            </a:pPr>
            <a:r>
              <a:rPr lang="en-US" sz="4000" dirty="0"/>
              <a:t>Open your ”life at 3” document</a:t>
            </a:r>
          </a:p>
          <a:p>
            <a:pPr marL="0" indent="0">
              <a:buNone/>
            </a:pPr>
            <a:endParaRPr lang="en-US" sz="4000" dirty="0"/>
          </a:p>
          <a:p>
            <a:pPr marL="0" indent="0">
              <a:buNone/>
            </a:pPr>
            <a:r>
              <a:rPr lang="en-US" sz="4000" dirty="0"/>
              <a:t>What are the questions for life at 5?</a:t>
            </a:r>
          </a:p>
        </p:txBody>
      </p:sp>
    </p:spTree>
    <p:extLst>
      <p:ext uri="{BB962C8B-B14F-4D97-AF65-F5344CB8AC3E}">
        <p14:creationId xmlns:p14="http://schemas.microsoft.com/office/powerpoint/2010/main" val="1311474801"/>
      </p:ext>
    </p:extLst>
  </p:cSld>
  <p:clrMapOvr>
    <a:masterClrMapping/>
  </p:clrMapOvr>
</p:sld>
</file>

<file path=ppt/theme/theme1.xml><?xml version="1.0" encoding="utf-8"?>
<a:theme xmlns:a="http://schemas.openxmlformats.org/drawingml/2006/main" name="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ABFCDE80-9FF4-EB43-9EB8-ADDCCB13B279}" vid="{9C6BB66C-35D3-EB49-8314-0F986D4FA8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7801</TotalTime>
  <Words>654</Words>
  <Application>Microsoft Macintosh PowerPoint</Application>
  <PresentationFormat>Widescreen</PresentationFormat>
  <Paragraphs>123</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Century Gothic</vt:lpstr>
      <vt:lpstr>Wingdings 2</vt:lpstr>
      <vt:lpstr>Saba</vt:lpstr>
      <vt:lpstr>Question: Describe three findings from the data (3 marks)</vt:lpstr>
      <vt:lpstr>Twin &amp; Adoption Studies – Fill out the table below</vt:lpstr>
      <vt:lpstr>Categorise the following data collection tools:</vt:lpstr>
      <vt:lpstr>Write 2 likert scale questions that could help measure a persons extroversion</vt:lpstr>
      <vt:lpstr>Chloe is a personal trainer at Gold’s Gym. Although she has always officially led a “straight edge” lifestyle and denounced the use of anabolic steroids, she’s always secretly wondered if they helped people get significantly stronger. She decides to find out. She purchases some steroids off the black marker from her dealer Jiggy and convinces half of her clientele at the gym to start injecting. This continues for thirty days while Chloe keeps a journal of how much weight each person in the two groups can squat. At the end of the month she compares the results.</vt:lpstr>
      <vt:lpstr>1. How many fishing boat deaths were there in 2004?  2. Describe the correlation between the years 1999 to 2001. </vt:lpstr>
      <vt:lpstr>Success Criteria </vt:lpstr>
      <vt:lpstr>PowerPoint Presentation</vt:lpstr>
      <vt:lpstr>PowerPoint Presentation</vt:lpstr>
      <vt:lpstr>PowerPoint Presentation</vt:lpstr>
      <vt:lpstr>Life at series – longitudinal series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1.Define personality 2.Define the psychodynamic theory of personality  3.Describe an Id dominant personality</dc:title>
  <dc:creator>sarahdavey.yoga@gmail.com</dc:creator>
  <cp:lastModifiedBy>DAVEY Sarah [Joseph Banks Secondary College]</cp:lastModifiedBy>
  <cp:revision>55</cp:revision>
  <dcterms:created xsi:type="dcterms:W3CDTF">2020-07-20T06:36:36Z</dcterms:created>
  <dcterms:modified xsi:type="dcterms:W3CDTF">2021-07-29T07:57:54Z</dcterms:modified>
</cp:coreProperties>
</file>
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 id="2147483680" r:id="rId2"/>
  </p:sldMasterIdLst>
  <p:notesMasterIdLst>
    <p:notesMasterId r:id="rId22"/>
  </p:notesMasterIdLst>
  <p:sldIdLst>
    <p:sldId id="391" r:id="rId3"/>
    <p:sldId id="394" r:id="rId4"/>
    <p:sldId id="390" r:id="rId5"/>
    <p:sldId id="349" r:id="rId6"/>
    <p:sldId id="396" r:id="rId7"/>
    <p:sldId id="257" r:id="rId8"/>
    <p:sldId id="265" r:id="rId9"/>
    <p:sldId id="259" r:id="rId10"/>
    <p:sldId id="264" r:id="rId11"/>
    <p:sldId id="404" r:id="rId12"/>
    <p:sldId id="407" r:id="rId13"/>
    <p:sldId id="267" r:id="rId14"/>
    <p:sldId id="268" r:id="rId15"/>
    <p:sldId id="266" r:id="rId16"/>
    <p:sldId id="260" r:id="rId17"/>
    <p:sldId id="261" r:id="rId18"/>
    <p:sldId id="408" r:id="rId19"/>
    <p:sldId id="409" r:id="rId20"/>
    <p:sldId id="410"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765"/>
    <p:restoredTop sz="94674"/>
  </p:normalViewPr>
  <p:slideViewPr>
    <p:cSldViewPr snapToGrid="0" snapToObjects="1">
      <p:cViewPr varScale="1">
        <p:scale>
          <a:sx n="125" d="100"/>
          <a:sy n="125" d="100"/>
        </p:scale>
        <p:origin x="192" y="2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6990A3E-A2E1-D349-AFC7-32E9E93DC1AD}" type="datetimeFigureOut">
              <a:rPr lang="en-US" smtClean="0"/>
              <a:t>11/4/21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7233316-7E11-C84B-95B7-BADAA84521E3}" type="slidenum">
              <a:rPr lang="en-US" smtClean="0"/>
              <a:t>‹#›</a:t>
            </a:fld>
            <a:endParaRPr lang="en-US"/>
          </a:p>
        </p:txBody>
      </p:sp>
    </p:spTree>
    <p:extLst>
      <p:ext uri="{BB962C8B-B14F-4D97-AF65-F5344CB8AC3E}">
        <p14:creationId xmlns:p14="http://schemas.microsoft.com/office/powerpoint/2010/main" val="30898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249271" y="268288"/>
            <a:ext cx="7559040" cy="39003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8" name="Rectangle 7"/>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208929"/>
            <a:ext cx="7278624" cy="1048684"/>
          </a:xfrm>
        </p:spPr>
        <p:txBody>
          <a:bodyPr vert="horz" lIns="91440" tIns="45720" rIns="91440" bIns="45720" rtlCol="0" anchor="b" anchorCtr="0">
            <a:normAutofit/>
          </a:bodyPr>
          <a:lstStyle>
            <a:lvl1pPr algn="l" defTabSz="914400" rtl="0" eaLnBrk="1" latinLnBrk="0" hangingPunct="1">
              <a:spcBef>
                <a:spcPct val="0"/>
              </a:spcBef>
              <a:buNone/>
              <a:defRPr sz="4600" kern="1200">
                <a:solidFill>
                  <a:schemeClr val="accent1"/>
                </a:solidFill>
                <a:latin typeface="+mj-lt"/>
                <a:ea typeface="+mj-ea"/>
                <a:cs typeface="+mj-cs"/>
              </a:defRPr>
            </a:lvl1pPr>
          </a:lstStyle>
          <a:p>
            <a:r>
              <a:rPr lang="en-US"/>
              <a:t>Click to edit Master title style</a:t>
            </a:r>
            <a:endParaRPr/>
          </a:p>
        </p:txBody>
      </p:sp>
      <p:sp>
        <p:nvSpPr>
          <p:cNvPr id="3" name="Subtitle 2"/>
          <p:cNvSpPr>
            <a:spLocks noGrp="1"/>
          </p:cNvSpPr>
          <p:nvPr>
            <p:ph type="subTitle" idx="1"/>
          </p:nvPr>
        </p:nvSpPr>
        <p:spPr>
          <a:xfrm>
            <a:off x="4267200" y="5257800"/>
            <a:ext cx="7278624" cy="621792"/>
          </a:xfrm>
        </p:spPr>
        <p:txBody>
          <a:bodyPr vert="horz" lIns="91440" tIns="45720" rIns="91440" bIns="45720" rtlCol="0">
            <a:normAutofit/>
          </a:bodyPr>
          <a:lstStyle>
            <a:lvl1pPr marL="0" indent="0" algn="l" defTabSz="914400" rtl="0" eaLnBrk="1" latinLnBrk="0" hangingPunct="1">
              <a:spcBef>
                <a:spcPts val="0"/>
              </a:spcBef>
              <a:buClr>
                <a:schemeClr val="accent1"/>
              </a:buClr>
              <a:buSzPct val="100000"/>
              <a:buFont typeface="Wingdings 2" pitchFamily="18" charset="2"/>
              <a:buNone/>
              <a:defRPr sz="1600" kern="1200">
                <a:solidFill>
                  <a:schemeClr val="tx2"/>
                </a:solidFill>
                <a:latin typeface="+mn-lt"/>
                <a:ea typeface="+mn-ea"/>
                <a:cs typeface="+mn-cs"/>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4368800" y="390526"/>
            <a:ext cx="7339584" cy="365125"/>
          </a:xfrm>
        </p:spPr>
        <p:txBody>
          <a:bodyPr vert="horz" lIns="91440" tIns="45720" rIns="91440" bIns="45720" rtlCol="0" anchor="ctr"/>
          <a:lstStyle>
            <a:lvl1pPr marL="0" algn="r" defTabSz="914400" rtl="0" eaLnBrk="1" latinLnBrk="0" hangingPunct="1">
              <a:defRPr sz="2200" b="0" kern="1200" baseline="0">
                <a:solidFill>
                  <a:schemeClr val="bg1"/>
                </a:solidFill>
                <a:latin typeface="+mn-lt"/>
                <a:ea typeface="+mn-ea"/>
                <a:cs typeface="+mn-cs"/>
              </a:defRPr>
            </a:lvl1pPr>
          </a:lstStyle>
          <a:p>
            <a:fld id="{EB507C1E-5E0D-3E4D-8113-714502558754}" type="datetimeFigureOut">
              <a:rPr lang="en-US" smtClean="0"/>
              <a:t>11/4/21</a:t>
            </a:fld>
            <a:endParaRPr lang="en-US"/>
          </a:p>
        </p:txBody>
      </p:sp>
      <p:sp>
        <p:nvSpPr>
          <p:cNvPr id="5" name="Footer Placeholder 4"/>
          <p:cNvSpPr>
            <a:spLocks noGrp="1"/>
          </p:cNvSpPr>
          <p:nvPr>
            <p:ph type="ftr" sz="quarter" idx="11"/>
          </p:nvPr>
        </p:nvSpPr>
        <p:spPr>
          <a:xfrm>
            <a:off x="4291584" y="6356351"/>
            <a:ext cx="6315456" cy="365125"/>
          </a:xfrm>
        </p:spPr>
        <p:txBody>
          <a:bodyPr vert="horz" lIns="91440" tIns="45720" rIns="91440" bIns="45720" rtlCol="0" anchor="ctr"/>
          <a:lstStyle>
            <a:lvl1pPr marL="0" algn="l" defTabSz="914400" rtl="0" eaLnBrk="1" latinLnBrk="0" hangingPunct="1">
              <a:defRPr sz="1100" b="1" kern="1200">
                <a:solidFill>
                  <a:schemeClr val="tx2">
                    <a:lumMod val="60000"/>
                    <a:lumOff val="40000"/>
                  </a:schemeClr>
                </a:solidFill>
                <a:latin typeface="+mn-lt"/>
                <a:ea typeface="+mn-ea"/>
                <a:cs typeface="+mn-cs"/>
              </a:defRPr>
            </a:lvl1pPr>
          </a:lstStyle>
          <a:p>
            <a:endParaRPr lang="en-US"/>
          </a:p>
        </p:txBody>
      </p:sp>
      <p:sp>
        <p:nvSpPr>
          <p:cNvPr id="6" name="Slide Number Placeholder 5"/>
          <p:cNvSpPr>
            <a:spLocks noGrp="1"/>
          </p:cNvSpPr>
          <p:nvPr>
            <p:ph type="sldNum" sz="quarter" idx="12"/>
          </p:nvPr>
        </p:nvSpPr>
        <p:spPr>
          <a:xfrm>
            <a:off x="11008659"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45715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11/4/21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302814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sp>
        <p:nvSpPr>
          <p:cNvPr id="7" name="Rectangle 6"/>
          <p:cNvSpPr/>
          <p:nvPr/>
        </p:nvSpPr>
        <p:spPr>
          <a:xfrm>
            <a:off x="4249271" y="268288"/>
            <a:ext cx="7559040" cy="25603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ctrTitle"/>
          </p:nvPr>
        </p:nvSpPr>
        <p:spPr>
          <a:xfrm>
            <a:off x="4267200" y="4171950"/>
            <a:ext cx="7277225" cy="1085850"/>
          </a:xfrm>
        </p:spPr>
        <p:txBody>
          <a:bodyPr>
            <a:normAutofit/>
          </a:bodyPr>
          <a:lstStyle>
            <a:lvl1pPr>
              <a:defRPr sz="4600"/>
            </a:lvl1pPr>
          </a:lstStyle>
          <a:p>
            <a:r>
              <a:rPr lang="en-US"/>
              <a:t>Click to edit Master title style</a:t>
            </a:r>
            <a:endParaRPr/>
          </a:p>
        </p:txBody>
      </p:sp>
      <p:sp>
        <p:nvSpPr>
          <p:cNvPr id="3" name="Subtitle 2"/>
          <p:cNvSpPr>
            <a:spLocks noGrp="1"/>
          </p:cNvSpPr>
          <p:nvPr>
            <p:ph type="subTitle" idx="1"/>
          </p:nvPr>
        </p:nvSpPr>
        <p:spPr>
          <a:xfrm>
            <a:off x="4267201" y="5257800"/>
            <a:ext cx="7277224" cy="618565"/>
          </a:xfrm>
        </p:spPr>
        <p:txBody>
          <a:bodyPr>
            <a:normAutofit/>
          </a:bodyPr>
          <a:lstStyle>
            <a:lvl1pPr marL="0" indent="0" algn="l">
              <a:spcBef>
                <a:spcPct val="0"/>
              </a:spcBef>
              <a:buNone/>
              <a:defRPr sz="1600">
                <a:solidFill>
                  <a:schemeClr val="tx2"/>
                </a:solidFill>
              </a:defRPr>
            </a:lvl1pPr>
            <a:lvl2pPr marL="457200" indent="0" algn="ctr">
              <a:spcBef>
                <a:spcPct val="0"/>
              </a:spcBef>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4" name="Date Placeholder 3"/>
          <p:cNvSpPr>
            <a:spLocks noGrp="1"/>
          </p:cNvSpPr>
          <p:nvPr>
            <p:ph type="dt" sz="half" idx="10"/>
          </p:nvPr>
        </p:nvSpPr>
        <p:spPr>
          <a:xfrm>
            <a:off x="4368801" y="389966"/>
            <a:ext cx="7333129" cy="365125"/>
          </a:xfrm>
        </p:spPr>
        <p:txBody>
          <a:bodyPr/>
          <a:lstStyle>
            <a:lvl1pPr>
              <a:defRPr sz="2200" b="0" baseline="0">
                <a:solidFill>
                  <a:schemeClr val="bg1"/>
                </a:solidFill>
              </a:defRPr>
            </a:lvl1pPr>
          </a:lstStyle>
          <a:p>
            <a:fld id="{EB507C1E-5E0D-3E4D-8113-714502558754}" type="datetimeFigureOut">
              <a:rPr lang="en-US" smtClean="0"/>
              <a:t>11/4/21</a:t>
            </a:fld>
            <a:endParaRPr lang="en-US"/>
          </a:p>
        </p:txBody>
      </p:sp>
      <p:sp>
        <p:nvSpPr>
          <p:cNvPr id="5" name="Footer Placeholder 4"/>
          <p:cNvSpPr>
            <a:spLocks noGrp="1"/>
          </p:cNvSpPr>
          <p:nvPr>
            <p:ph type="ftr" sz="quarter" idx="11"/>
          </p:nvPr>
        </p:nvSpPr>
        <p:spPr>
          <a:xfrm>
            <a:off x="4285130" y="6356351"/>
            <a:ext cx="6312149" cy="365125"/>
          </a:xfrm>
        </p:spPr>
        <p:txBody>
          <a:bodyPr/>
          <a:lstStyle/>
          <a:p>
            <a:endParaRPr lang="en-US"/>
          </a:p>
        </p:txBody>
      </p:sp>
      <p:sp>
        <p:nvSpPr>
          <p:cNvPr id="6" name="Slide Number Placeholder 5"/>
          <p:cNvSpPr>
            <a:spLocks noGrp="1"/>
          </p:cNvSpPr>
          <p:nvPr>
            <p:ph type="sldNum" sz="quarter" idx="12"/>
          </p:nvPr>
        </p:nvSpPr>
        <p:spPr>
          <a:xfrm>
            <a:off x="11020612" y="6356351"/>
            <a:ext cx="914400" cy="365125"/>
          </a:xfrm>
        </p:spPr>
        <p:txBody>
          <a:bodyPr vert="horz" lIns="91440" tIns="45720" rIns="91440" bIns="45720" rtlCol="0" anchor="ctr"/>
          <a:lstStyle>
            <a:lvl1pPr marL="0" algn="r" defTabSz="914400" rtl="0" eaLnBrk="1" latinLnBrk="0" hangingPunct="1">
              <a:defRPr sz="1100" b="1" kern="1200">
                <a:solidFill>
                  <a:schemeClr val="tx2">
                    <a:lumMod val="60000"/>
                    <a:lumOff val="40000"/>
                  </a:schemeClr>
                </a:solidFill>
                <a:latin typeface="+mn-lt"/>
                <a:ea typeface="+mn-ea"/>
                <a:cs typeface="+mn-cs"/>
              </a:defRPr>
            </a:lvl1p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4267201" y="2877671"/>
            <a:ext cx="7529156" cy="1280160"/>
          </a:xfrm>
        </p:spPr>
        <p:txBody>
          <a:bodyPr/>
          <a:lstStyle>
            <a:lvl1pPr>
              <a:buNone/>
              <a:defRPr/>
            </a:lvl1pPr>
          </a:lstStyle>
          <a:p>
            <a:r>
              <a:rPr lang="en-US"/>
              <a:t>Click icon to add picture</a:t>
            </a:r>
            <a:endParaRPr/>
          </a:p>
        </p:txBody>
      </p:sp>
      <p:sp>
        <p:nvSpPr>
          <p:cNvPr id="10" name="Rectangle 9"/>
          <p:cNvSpPr/>
          <p:nvPr/>
        </p:nvSpPr>
        <p:spPr>
          <a:xfrm>
            <a:off x="358587" y="268289"/>
            <a:ext cx="243840" cy="3886853"/>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Tree>
    <p:extLst>
      <p:ext uri="{BB962C8B-B14F-4D97-AF65-F5344CB8AC3E}">
        <p14:creationId xmlns:p14="http://schemas.microsoft.com/office/powerpoint/2010/main" val="3026224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Content, and Picture">
    <p:spTree>
      <p:nvGrpSpPr>
        <p:cNvPr id="1" name=""/>
        <p:cNvGrpSpPr/>
        <p:nvPr/>
      </p:nvGrpSpPr>
      <p:grpSpPr>
        <a:xfrm>
          <a:off x="0" y="0"/>
          <a:ext cx="0" cy="0"/>
          <a:chOff x="0" y="0"/>
          <a:chExt cx="0" cy="0"/>
        </a:xfrm>
      </p:grpSpPr>
      <p:sp>
        <p:nvSpPr>
          <p:cNvPr id="7" name="Rectangle 6"/>
          <p:cNvSpPr/>
          <p:nvPr/>
        </p:nvSpPr>
        <p:spPr>
          <a:xfrm>
            <a:off x="359833"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04565" y="914400"/>
            <a:ext cx="8677836" cy="1143000"/>
          </a:xfrm>
        </p:spPr>
        <p:txBody>
          <a:bodyPr/>
          <a:lstStyle/>
          <a:p>
            <a:r>
              <a:rPr lang="en-US"/>
              <a:t>Click to edit Master title style</a:t>
            </a:r>
            <a:endParaRPr/>
          </a:p>
        </p:txBody>
      </p:sp>
      <p:sp>
        <p:nvSpPr>
          <p:cNvPr id="3" name="Content Placeholder 2"/>
          <p:cNvSpPr>
            <a:spLocks noGrp="1"/>
          </p:cNvSpPr>
          <p:nvPr>
            <p:ph idx="1"/>
          </p:nvPr>
        </p:nvSpPr>
        <p:spPr>
          <a:xfrm>
            <a:off x="2904565" y="2209801"/>
            <a:ext cx="8677836" cy="3916363"/>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a:xfrm>
            <a:off x="9616141" y="6356351"/>
            <a:ext cx="2336800" cy="365125"/>
          </a:xfrm>
        </p:spPr>
        <p:txBody>
          <a:bodyPr/>
          <a:lstStyle/>
          <a:p>
            <a:fld id="{EB507C1E-5E0D-3E4D-8113-714502558754}" type="datetimeFigureOut">
              <a:rPr lang="en-US" smtClean="0"/>
              <a:t>11/4/21</a:t>
            </a:fld>
            <a:endParaRPr lang="en-US"/>
          </a:p>
        </p:txBody>
      </p:sp>
      <p:sp>
        <p:nvSpPr>
          <p:cNvPr id="5" name="Footer Placeholder 4"/>
          <p:cNvSpPr>
            <a:spLocks noGrp="1"/>
          </p:cNvSpPr>
          <p:nvPr>
            <p:ph type="ftr" sz="quarter" idx="11"/>
          </p:nvPr>
        </p:nvSpPr>
        <p:spPr>
          <a:xfrm>
            <a:off x="2904564" y="6356351"/>
            <a:ext cx="6569136" cy="365125"/>
          </a:xfrm>
        </p:spPr>
        <p:txBody>
          <a:bodyPr/>
          <a:lstStyle/>
          <a:p>
            <a:endParaRPr lang="en-US"/>
          </a:p>
        </p:txBody>
      </p:sp>
      <p:sp>
        <p:nvSpPr>
          <p:cNvPr id="6" name="Slide Number Placeholder 5"/>
          <p:cNvSpPr>
            <a:spLocks noGrp="1"/>
          </p:cNvSpPr>
          <p:nvPr>
            <p:ph type="sldNum" sz="quarter" idx="12"/>
          </p:nvPr>
        </p:nvSpPr>
        <p:spPr>
          <a:xfrm>
            <a:off x="442259" y="361017"/>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3" y="1976718"/>
            <a:ext cx="2194560" cy="4625788"/>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3972978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10345270" y="268288"/>
            <a:ext cx="1465431" cy="635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2946401" y="3429000"/>
            <a:ext cx="6621928" cy="1398494"/>
          </a:xfrm>
        </p:spPr>
        <p:txBody>
          <a:bodyPr anchor="b" anchorCtr="0"/>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2946401"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7416800" y="6356351"/>
            <a:ext cx="2163483" cy="365125"/>
          </a:xfrm>
        </p:spPr>
        <p:txBody>
          <a:bodyPr/>
          <a:lstStyle/>
          <a:p>
            <a:fld id="{EB507C1E-5E0D-3E4D-8113-714502558754}" type="datetimeFigureOut">
              <a:rPr lang="en-US" smtClean="0"/>
              <a:t>11/4/21</a:t>
            </a:fld>
            <a:endParaRPr lang="en-US"/>
          </a:p>
        </p:txBody>
      </p:sp>
      <p:sp>
        <p:nvSpPr>
          <p:cNvPr id="5" name="Footer Placeholder 4"/>
          <p:cNvSpPr>
            <a:spLocks noGrp="1"/>
          </p:cNvSpPr>
          <p:nvPr>
            <p:ph type="ftr" sz="quarter" idx="11"/>
          </p:nvPr>
        </p:nvSpPr>
        <p:spPr>
          <a:xfrm>
            <a:off x="233083" y="6356351"/>
            <a:ext cx="7082117" cy="365125"/>
          </a:xfrm>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7005475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with Picture">
    <p:spTree>
      <p:nvGrpSpPr>
        <p:cNvPr id="1" name=""/>
        <p:cNvGrpSpPr/>
        <p:nvPr/>
      </p:nvGrpSpPr>
      <p:grpSpPr>
        <a:xfrm>
          <a:off x="0" y="0"/>
          <a:ext cx="0" cy="0"/>
          <a:chOff x="0" y="0"/>
          <a:chExt cx="0" cy="0"/>
        </a:xfrm>
      </p:grpSpPr>
      <p:sp>
        <p:nvSpPr>
          <p:cNvPr id="7" name="Rectangle 6"/>
          <p:cNvSpPr/>
          <p:nvPr/>
        </p:nvSpPr>
        <p:spPr>
          <a:xfrm>
            <a:off x="359833" y="4773706"/>
            <a:ext cx="3962400" cy="184458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4960472" y="3429001"/>
            <a:ext cx="6621928" cy="1398494"/>
          </a:xfrm>
        </p:spPr>
        <p:txBody>
          <a:bodyPr anchor="b" anchorCtr="0"/>
          <a:lstStyle>
            <a:lvl1pPr algn="r">
              <a:defRPr sz="4600" b="0" cap="none" baseline="0"/>
            </a:lvl1pPr>
          </a:lstStyle>
          <a:p>
            <a:r>
              <a:rPr lang="en-US"/>
              <a:t>Click to edit Master title style</a:t>
            </a:r>
            <a:endParaRPr/>
          </a:p>
        </p:txBody>
      </p:sp>
      <p:sp>
        <p:nvSpPr>
          <p:cNvPr id="3" name="Text Placeholder 2"/>
          <p:cNvSpPr>
            <a:spLocks noGrp="1"/>
          </p:cNvSpPr>
          <p:nvPr>
            <p:ph type="body" idx="1"/>
          </p:nvPr>
        </p:nvSpPr>
        <p:spPr>
          <a:xfrm>
            <a:off x="4960472" y="4824414"/>
            <a:ext cx="6621928" cy="1320800"/>
          </a:xfrm>
        </p:spPr>
        <p:txBody>
          <a:bodyPr anchor="t" anchorCtr="0">
            <a:normAutofit/>
          </a:bodyPr>
          <a:lstStyle>
            <a:lvl1pPr marL="0" indent="0" algn="r">
              <a:spcBef>
                <a:spcPts val="0"/>
              </a:spcBef>
              <a:buNone/>
              <a:defRPr sz="16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6" name="Slide Number Placeholder 5"/>
          <p:cNvSpPr>
            <a:spLocks noGrp="1"/>
          </p:cNvSpPr>
          <p:nvPr>
            <p:ph type="sldNum" sz="quarter" idx="12"/>
          </p:nvPr>
        </p:nvSpPr>
        <p:spPr>
          <a:xfrm>
            <a:off x="468283" y="6104966"/>
            <a:ext cx="675341" cy="365125"/>
          </a:xfrm>
        </p:spPr>
        <p:txBody>
          <a:bodyPr/>
          <a:lstStyle/>
          <a:p>
            <a:fld id="{CC611861-616C-A14E-8244-40FC50D01E26}" type="slidenum">
              <a:rPr lang="en-US" smtClean="0"/>
              <a:t>‹#›</a:t>
            </a:fld>
            <a:endParaRPr lang="en-US"/>
          </a:p>
        </p:txBody>
      </p:sp>
      <p:sp>
        <p:nvSpPr>
          <p:cNvPr id="9" name="Picture Placeholder 8"/>
          <p:cNvSpPr>
            <a:spLocks noGrp="1"/>
          </p:cNvSpPr>
          <p:nvPr>
            <p:ph type="pic" sz="quarter" idx="13"/>
          </p:nvPr>
        </p:nvSpPr>
        <p:spPr>
          <a:xfrm>
            <a:off x="359832" y="268288"/>
            <a:ext cx="3962400" cy="4438650"/>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16061548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Content Placeholder 3"/>
          <p:cNvSpPr>
            <a:spLocks noGrp="1"/>
          </p:cNvSpPr>
          <p:nvPr>
            <p:ph sz="half" idx="2"/>
          </p:nvPr>
        </p:nvSpPr>
        <p:spPr>
          <a:xfrm>
            <a:off x="570992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11/4/21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4541287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14400"/>
            <a:ext cx="9851136" cy="11430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609600"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Text Placeholder 4"/>
          <p:cNvSpPr>
            <a:spLocks noGrp="1"/>
          </p:cNvSpPr>
          <p:nvPr>
            <p:ph type="body" sz="quarter" idx="3"/>
          </p:nvPr>
        </p:nvSpPr>
        <p:spPr>
          <a:xfrm>
            <a:off x="5705855" y="2054132"/>
            <a:ext cx="4754880" cy="639762"/>
          </a:xfrm>
        </p:spPr>
        <p:txBody>
          <a:bodyPr anchor="b">
            <a:noAutofit/>
          </a:bodyPr>
          <a:lstStyle>
            <a:lvl1pPr marL="0" indent="0" algn="ctr">
              <a:spcBef>
                <a:spcPct val="0"/>
              </a:spcBef>
              <a:buNone/>
              <a:defRPr sz="2000" b="1">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705855" y="2689412"/>
            <a:ext cx="4754880" cy="3436751"/>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7" name="Date Placeholder 6"/>
          <p:cNvSpPr>
            <a:spLocks noGrp="1"/>
          </p:cNvSpPr>
          <p:nvPr>
            <p:ph type="dt" sz="half" idx="10"/>
          </p:nvPr>
        </p:nvSpPr>
        <p:spPr/>
        <p:txBody>
          <a:bodyPr/>
          <a:lstStyle/>
          <a:p>
            <a:fld id="{EB507C1E-5E0D-3E4D-8113-714502558754}" type="datetimeFigureOut">
              <a:rPr lang="en-US" smtClean="0"/>
              <a:t>11/4/21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216709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609599" y="2214562"/>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11/4/21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609599" y="4224973"/>
            <a:ext cx="9861551"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5535158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11/4/21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0" name="Content Placeholder 2"/>
          <p:cNvSpPr>
            <a:spLocks noGrp="1"/>
          </p:cNvSpPr>
          <p:nvPr>
            <p:ph sz="half" idx="14"/>
          </p:nvPr>
        </p:nvSpPr>
        <p:spPr>
          <a:xfrm>
            <a:off x="609600" y="2214563"/>
            <a:ext cx="4754880" cy="39116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42786563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600" y="914400"/>
            <a:ext cx="9855201" cy="1143000"/>
          </a:xfrm>
        </p:spPr>
        <p:txBody>
          <a:bodyPr/>
          <a:lstStyle/>
          <a:p>
            <a:r>
              <a:rPr lang="en-US"/>
              <a:t>Click to edit Master title style</a:t>
            </a:r>
            <a:endParaRPr/>
          </a:p>
        </p:txBody>
      </p:sp>
      <p:sp>
        <p:nvSpPr>
          <p:cNvPr id="3" name="Content Placeholder 2"/>
          <p:cNvSpPr>
            <a:spLocks noGrp="1"/>
          </p:cNvSpPr>
          <p:nvPr>
            <p:ph sz="half" idx="1"/>
          </p:nvPr>
        </p:nvSpPr>
        <p:spPr>
          <a:xfrm>
            <a:off x="570992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Date Placeholder 4"/>
          <p:cNvSpPr>
            <a:spLocks noGrp="1"/>
          </p:cNvSpPr>
          <p:nvPr>
            <p:ph type="dt" sz="half" idx="10"/>
          </p:nvPr>
        </p:nvSpPr>
        <p:spPr/>
        <p:txBody>
          <a:bodyPr/>
          <a:lstStyle/>
          <a:p>
            <a:fld id="{EB507C1E-5E0D-3E4D-8113-714502558754}" type="datetimeFigureOut">
              <a:rPr lang="en-US" smtClean="0"/>
              <a:t>11/4/21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9" name="Content Placeholder 2"/>
          <p:cNvSpPr>
            <a:spLocks noGrp="1"/>
          </p:cNvSpPr>
          <p:nvPr>
            <p:ph sz="half" idx="13"/>
          </p:nvPr>
        </p:nvSpPr>
        <p:spPr>
          <a:xfrm>
            <a:off x="570992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1" name="Content Placeholder 2"/>
          <p:cNvSpPr>
            <a:spLocks noGrp="1"/>
          </p:cNvSpPr>
          <p:nvPr>
            <p:ph sz="half" idx="14"/>
          </p:nvPr>
        </p:nvSpPr>
        <p:spPr>
          <a:xfrm>
            <a:off x="609600" y="2214562"/>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12" name="Content Placeholder 2"/>
          <p:cNvSpPr>
            <a:spLocks noGrp="1"/>
          </p:cNvSpPr>
          <p:nvPr>
            <p:ph sz="half" idx="15"/>
          </p:nvPr>
        </p:nvSpPr>
        <p:spPr>
          <a:xfrm>
            <a:off x="609600" y="4224973"/>
            <a:ext cx="4754880" cy="192024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Tree>
    <p:extLst>
      <p:ext uri="{BB962C8B-B14F-4D97-AF65-F5344CB8AC3E}">
        <p14:creationId xmlns:p14="http://schemas.microsoft.com/office/powerpoint/2010/main" val="20041780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p:cNvSpPr/>
          <p:nvPr/>
        </p:nvSpPr>
        <p:spPr>
          <a:xfrm>
            <a:off x="10865225" y="268288"/>
            <a:ext cx="957431"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Date Placeholder 2"/>
          <p:cNvSpPr>
            <a:spLocks noGrp="1"/>
          </p:cNvSpPr>
          <p:nvPr>
            <p:ph type="dt" sz="half" idx="10"/>
          </p:nvPr>
        </p:nvSpPr>
        <p:spPr/>
        <p:txBody>
          <a:bodyPr/>
          <a:lstStyle/>
          <a:p>
            <a:fld id="{EB507C1E-5E0D-3E4D-8113-714502558754}" type="datetimeFigureOut">
              <a:rPr lang="en-US" smtClean="0"/>
              <a:t>11/4/21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833114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Date Placeholder 1"/>
          <p:cNvSpPr>
            <a:spLocks noGrp="1"/>
          </p:cNvSpPr>
          <p:nvPr>
            <p:ph type="dt" sz="half" idx="10"/>
          </p:nvPr>
        </p:nvSpPr>
        <p:spPr/>
        <p:txBody>
          <a:bodyPr/>
          <a:lstStyle/>
          <a:p>
            <a:fld id="{EB507C1E-5E0D-3E4D-8113-714502558754}" type="datetimeFigureOut">
              <a:rPr lang="en-US" smtClean="0"/>
              <a:t>11/4/21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04765624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US"/>
              <a:t>Click to edit Master title style</a:t>
            </a:r>
            <a:endParaRPr/>
          </a:p>
        </p:txBody>
      </p:sp>
      <p:sp>
        <p:nvSpPr>
          <p:cNvPr id="3" name="Content Placeholder 2"/>
          <p:cNvSpPr>
            <a:spLocks noGrp="1"/>
          </p:cNvSpPr>
          <p:nvPr>
            <p:ph idx="1"/>
          </p:nvPr>
        </p:nvSpPr>
        <p:spPr>
          <a:xfrm>
            <a:off x="6349403" y="990600"/>
            <a:ext cx="4754880" cy="5135563"/>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11/4/21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4578852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Picture with Caption">
    <p:spTree>
      <p:nvGrpSpPr>
        <p:cNvPr id="1" name=""/>
        <p:cNvGrpSpPr/>
        <p:nvPr/>
      </p:nvGrpSpPr>
      <p:grpSpPr>
        <a:xfrm>
          <a:off x="0" y="0"/>
          <a:ext cx="0" cy="0"/>
          <a:chOff x="0" y="0"/>
          <a:chExt cx="0" cy="0"/>
        </a:xfrm>
      </p:grpSpPr>
      <p:sp>
        <p:nvSpPr>
          <p:cNvPr id="8" name="Rectangle 7"/>
          <p:cNvSpPr/>
          <p:nvPr/>
        </p:nvSpPr>
        <p:spPr>
          <a:xfrm>
            <a:off x="6329081" y="268288"/>
            <a:ext cx="5486400"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09599" y="995082"/>
            <a:ext cx="4754880" cy="1035424"/>
          </a:xfrm>
        </p:spPr>
        <p:txBody>
          <a:bodyPr anchor="b"/>
          <a:lstStyle>
            <a:lvl1pPr algn="l">
              <a:defRPr sz="2800" b="0"/>
            </a:lvl1pPr>
          </a:lstStyle>
          <a:p>
            <a:r>
              <a:rPr lang="en-US"/>
              <a:t>Click to edit Master title style</a:t>
            </a:r>
            <a:endParaRPr/>
          </a:p>
        </p:txBody>
      </p:sp>
      <p:sp>
        <p:nvSpPr>
          <p:cNvPr id="4" name="Text Placeholder 3"/>
          <p:cNvSpPr>
            <a:spLocks noGrp="1"/>
          </p:cNvSpPr>
          <p:nvPr>
            <p:ph type="body" sz="half" idx="2"/>
          </p:nvPr>
        </p:nvSpPr>
        <p:spPr>
          <a:xfrm>
            <a:off x="609599" y="2057401"/>
            <a:ext cx="4754880" cy="3657601"/>
          </a:xfrm>
        </p:spPr>
        <p:txBody>
          <a:bodyPr>
            <a:normAutofit/>
          </a:bodyPr>
          <a:lstStyle>
            <a:lvl1pPr marL="0" indent="0">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215153" y="6124015"/>
            <a:ext cx="2336800" cy="365125"/>
          </a:xfrm>
        </p:spPr>
        <p:txBody>
          <a:bodyPr/>
          <a:lstStyle>
            <a:lvl1pPr algn="l">
              <a:defRPr/>
            </a:lvl1pPr>
          </a:lstStyle>
          <a:p>
            <a:fld id="{EB507C1E-5E0D-3E4D-8113-714502558754}" type="datetimeFigureOut">
              <a:rPr lang="en-US" smtClean="0"/>
              <a:t>11/4/21</a:t>
            </a:fld>
            <a:endParaRPr lang="en-US"/>
          </a:p>
        </p:txBody>
      </p:sp>
      <p:sp>
        <p:nvSpPr>
          <p:cNvPr id="6" name="Footer Placeholder 5"/>
          <p:cNvSpPr>
            <a:spLocks noGrp="1"/>
          </p:cNvSpPr>
          <p:nvPr>
            <p:ph type="ftr" sz="quarter" idx="11"/>
          </p:nvPr>
        </p:nvSpPr>
        <p:spPr>
          <a:xfrm>
            <a:off x="233083" y="6356351"/>
            <a:ext cx="5151717" cy="365125"/>
          </a:xfrm>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9"/>
          <p:cNvSpPr>
            <a:spLocks noGrp="1"/>
          </p:cNvSpPr>
          <p:nvPr>
            <p:ph type="pic" sz="quarter" idx="13"/>
          </p:nvPr>
        </p:nvSpPr>
        <p:spPr>
          <a:xfrm>
            <a:off x="6347011" y="990600"/>
            <a:ext cx="5462016" cy="5611813"/>
          </a:xfr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3268900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8" name="Rectangle 7"/>
          <p:cNvSpPr/>
          <p:nvPr/>
        </p:nvSpPr>
        <p:spPr>
          <a:xfrm>
            <a:off x="9622367" y="268288"/>
            <a:ext cx="2185943"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359832" y="268288"/>
            <a:ext cx="9144000"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11/4/21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358681742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picTx" preserve="1">
  <p:cSld name="4 Pictures with Caption">
    <p:spTree>
      <p:nvGrpSpPr>
        <p:cNvPr id="1" name=""/>
        <p:cNvGrpSpPr/>
        <p:nvPr/>
      </p:nvGrpSpPr>
      <p:grpSpPr>
        <a:xfrm>
          <a:off x="0" y="0"/>
          <a:ext cx="0" cy="0"/>
          <a:chOff x="0" y="0"/>
          <a:chExt cx="0" cy="0"/>
        </a:xfrm>
      </p:grpSpPr>
      <p:sp>
        <p:nvSpPr>
          <p:cNvPr id="8" name="Rectangle 7"/>
          <p:cNvSpPr/>
          <p:nvPr/>
        </p:nvSpPr>
        <p:spPr>
          <a:xfrm>
            <a:off x="10847295" y="268288"/>
            <a:ext cx="961015" cy="363931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a:xfrm>
            <a:off x="611717" y="4267200"/>
            <a:ext cx="8636000" cy="566738"/>
          </a:xfrm>
        </p:spPr>
        <p:txBody>
          <a:bodyPr anchor="b"/>
          <a:lstStyle>
            <a:lvl1pPr algn="l">
              <a:defRPr sz="2800" b="0"/>
            </a:lvl1pPr>
          </a:lstStyle>
          <a:p>
            <a:r>
              <a:rPr lang="en-US"/>
              <a:t>Click to edit Master title style</a:t>
            </a:r>
            <a:endParaRPr/>
          </a:p>
        </p:txBody>
      </p:sp>
      <p:sp>
        <p:nvSpPr>
          <p:cNvPr id="3" name="Picture Placeholder 2"/>
          <p:cNvSpPr>
            <a:spLocks noGrp="1"/>
          </p:cNvSpPr>
          <p:nvPr>
            <p:ph type="pic" idx="1"/>
          </p:nvPr>
        </p:nvSpPr>
        <p:spPr>
          <a:xfrm>
            <a:off x="359832" y="268288"/>
            <a:ext cx="4008968" cy="363931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611717" y="4840942"/>
            <a:ext cx="8633883" cy="1304271"/>
          </a:xfrm>
        </p:spPr>
        <p:txBody>
          <a:bodyPr>
            <a:normAutofit/>
          </a:bodyPr>
          <a:lstStyle>
            <a:lvl1pPr marL="0" indent="0">
              <a:spcBef>
                <a:spcPts val="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B507C1E-5E0D-3E4D-8113-714502558754}" type="datetimeFigureOut">
              <a:rPr lang="en-US" smtClean="0"/>
              <a:t>11/4/21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C611861-616C-A14E-8244-40FC50D01E26}" type="slidenum">
              <a:rPr lang="en-US" smtClean="0"/>
              <a:t>‹#›</a:t>
            </a:fld>
            <a:endParaRPr lang="en-US"/>
          </a:p>
        </p:txBody>
      </p:sp>
      <p:sp>
        <p:nvSpPr>
          <p:cNvPr id="10" name="Picture Placeholder 2"/>
          <p:cNvSpPr>
            <a:spLocks noGrp="1"/>
          </p:cNvSpPr>
          <p:nvPr>
            <p:ph type="pic" idx="13"/>
          </p:nvPr>
        </p:nvSpPr>
        <p:spPr>
          <a:xfrm>
            <a:off x="4470400" y="268289"/>
            <a:ext cx="6269317"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1" name="Picture Placeholder 2"/>
          <p:cNvSpPr>
            <a:spLocks noGrp="1"/>
          </p:cNvSpPr>
          <p:nvPr>
            <p:ph type="pic" idx="14"/>
          </p:nvPr>
        </p:nvSpPr>
        <p:spPr>
          <a:xfrm>
            <a:off x="4470400"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12" name="Picture Placeholder 2"/>
          <p:cNvSpPr>
            <a:spLocks noGrp="1"/>
          </p:cNvSpPr>
          <p:nvPr>
            <p:ph type="pic" idx="15"/>
          </p:nvPr>
        </p:nvSpPr>
        <p:spPr>
          <a:xfrm>
            <a:off x="7667333" y="2131936"/>
            <a:ext cx="3072384" cy="177566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Tree>
    <p:extLst>
      <p:ext uri="{BB962C8B-B14F-4D97-AF65-F5344CB8AC3E}">
        <p14:creationId xmlns:p14="http://schemas.microsoft.com/office/powerpoint/2010/main" val="6809773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p:cNvSpPr/>
          <p:nvPr/>
        </p:nvSpPr>
        <p:spPr>
          <a:xfrm>
            <a:off x="9616141" y="268288"/>
            <a:ext cx="2194560" cy="164592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11/4/21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203008042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10865225" y="268288"/>
            <a:ext cx="957431" cy="56692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800"/>
          </a:p>
        </p:txBody>
      </p:sp>
      <p:sp>
        <p:nvSpPr>
          <p:cNvPr id="2" name="Vertical Title 1"/>
          <p:cNvSpPr>
            <a:spLocks noGrp="1"/>
          </p:cNvSpPr>
          <p:nvPr>
            <p:ph type="title" orient="vert"/>
          </p:nvPr>
        </p:nvSpPr>
        <p:spPr>
          <a:xfrm>
            <a:off x="10058399" y="1035425"/>
            <a:ext cx="1763060" cy="5090739"/>
          </a:xfrm>
        </p:spPr>
        <p:txBody>
          <a:bodyPr vert="eaVert" anchor="t" anchorCtr="0"/>
          <a:lstStyle/>
          <a:p>
            <a:r>
              <a:rPr lang="en-US"/>
              <a:t>Click to edit Master title style</a:t>
            </a:r>
            <a:endParaRPr/>
          </a:p>
        </p:txBody>
      </p:sp>
      <p:sp>
        <p:nvSpPr>
          <p:cNvPr id="3" name="Vertical Text Placeholder 2"/>
          <p:cNvSpPr>
            <a:spLocks noGrp="1"/>
          </p:cNvSpPr>
          <p:nvPr>
            <p:ph type="body" orient="vert" idx="1"/>
          </p:nvPr>
        </p:nvSpPr>
        <p:spPr>
          <a:xfrm>
            <a:off x="609600" y="1035425"/>
            <a:ext cx="8026400" cy="5109789"/>
          </a:xfrm>
        </p:spPr>
        <p:txBody>
          <a:bodyPr vert="eaVert"/>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10"/>
          </p:nvPr>
        </p:nvSpPr>
        <p:spPr/>
        <p:txBody>
          <a:bodyPr/>
          <a:lstStyle/>
          <a:p>
            <a:fld id="{EB507C1E-5E0D-3E4D-8113-714502558754}" type="datetimeFigureOut">
              <a:rPr lang="en-US" smtClean="0"/>
              <a:t>11/4/21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C611861-616C-A14E-8244-40FC50D01E26}" type="slidenum">
              <a:rPr lang="en-US" smtClean="0"/>
              <a:t>‹#›</a:t>
            </a:fld>
            <a:endParaRPr lang="en-US"/>
          </a:p>
        </p:txBody>
      </p:sp>
    </p:spTree>
    <p:extLst>
      <p:ext uri="{BB962C8B-B14F-4D97-AF65-F5344CB8AC3E}">
        <p14:creationId xmlns:p14="http://schemas.microsoft.com/office/powerpoint/2010/main" val="7721352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4A592FCD-500C-445D-904D-16EE79FAB3A5}" type="datetimeFigureOut">
              <a:rPr lang="en-AU" smtClean="0"/>
              <a:t>4/11/21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72DED8E-4D8C-4319-92D2-0A8CC3B99180}" type="slidenum">
              <a:rPr lang="en-AU" smtClean="0"/>
              <a:t>‹#›</a:t>
            </a:fld>
            <a:endParaRPr lang="en-AU"/>
          </a:p>
        </p:txBody>
      </p:sp>
    </p:spTree>
    <p:extLst>
      <p:ext uri="{BB962C8B-B14F-4D97-AF65-F5344CB8AC3E}">
        <p14:creationId xmlns:p14="http://schemas.microsoft.com/office/powerpoint/2010/main" val="35001054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592FCD-500C-445D-904D-16EE79FAB3A5}" type="datetimeFigureOut">
              <a:rPr lang="en-AU" smtClean="0"/>
              <a:t>4/11/21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72DED8E-4D8C-4319-92D2-0A8CC3B99180}" type="slidenum">
              <a:rPr lang="en-AU" smtClean="0"/>
              <a:t>‹#›</a:t>
            </a:fld>
            <a:endParaRPr lang="en-AU"/>
          </a:p>
        </p:txBody>
      </p:sp>
    </p:spTree>
    <p:extLst>
      <p:ext uri="{BB962C8B-B14F-4D97-AF65-F5344CB8AC3E}">
        <p14:creationId xmlns:p14="http://schemas.microsoft.com/office/powerpoint/2010/main" val="71939017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A592FCD-500C-445D-904D-16EE79FAB3A5}" type="datetimeFigureOut">
              <a:rPr lang="en-AU" smtClean="0"/>
              <a:t>4/11/21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72DED8E-4D8C-4319-92D2-0A8CC3B99180}" type="slidenum">
              <a:rPr lang="en-AU" smtClean="0"/>
              <a:t>‹#›</a:t>
            </a:fld>
            <a:endParaRPr lang="en-AU"/>
          </a:p>
        </p:txBody>
      </p:sp>
    </p:spTree>
    <p:extLst>
      <p:ext uri="{BB962C8B-B14F-4D97-AF65-F5344CB8AC3E}">
        <p14:creationId xmlns:p14="http://schemas.microsoft.com/office/powerpoint/2010/main" val="58268113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A592FCD-500C-445D-904D-16EE79FAB3A5}" type="datetimeFigureOut">
              <a:rPr lang="en-AU" smtClean="0"/>
              <a:t>4/11/21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72DED8E-4D8C-4319-92D2-0A8CC3B99180}" type="slidenum">
              <a:rPr lang="en-AU" smtClean="0"/>
              <a:t>‹#›</a:t>
            </a:fld>
            <a:endParaRPr lang="en-AU"/>
          </a:p>
        </p:txBody>
      </p:sp>
    </p:spTree>
    <p:extLst>
      <p:ext uri="{BB962C8B-B14F-4D97-AF65-F5344CB8AC3E}">
        <p14:creationId xmlns:p14="http://schemas.microsoft.com/office/powerpoint/2010/main" val="9389989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A592FCD-500C-445D-904D-16EE79FAB3A5}" type="datetimeFigureOut">
              <a:rPr lang="en-AU" smtClean="0"/>
              <a:t>4/11/21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872DED8E-4D8C-4319-92D2-0A8CC3B99180}" type="slidenum">
              <a:rPr lang="en-AU" smtClean="0"/>
              <a:t>‹#›</a:t>
            </a:fld>
            <a:endParaRPr lang="en-AU"/>
          </a:p>
        </p:txBody>
      </p:sp>
    </p:spTree>
    <p:extLst>
      <p:ext uri="{BB962C8B-B14F-4D97-AF65-F5344CB8AC3E}">
        <p14:creationId xmlns:p14="http://schemas.microsoft.com/office/powerpoint/2010/main" val="35799536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A592FCD-500C-445D-904D-16EE79FAB3A5}" type="datetimeFigureOut">
              <a:rPr lang="en-AU" smtClean="0"/>
              <a:t>4/11/21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872DED8E-4D8C-4319-92D2-0A8CC3B99180}" type="slidenum">
              <a:rPr lang="en-AU" smtClean="0"/>
              <a:t>‹#›</a:t>
            </a:fld>
            <a:endParaRPr lang="en-AU"/>
          </a:p>
        </p:txBody>
      </p:sp>
    </p:spTree>
    <p:extLst>
      <p:ext uri="{BB962C8B-B14F-4D97-AF65-F5344CB8AC3E}">
        <p14:creationId xmlns:p14="http://schemas.microsoft.com/office/powerpoint/2010/main" val="342973106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A592FCD-500C-445D-904D-16EE79FAB3A5}" type="datetimeFigureOut">
              <a:rPr lang="en-AU" smtClean="0"/>
              <a:t>4/11/21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872DED8E-4D8C-4319-92D2-0A8CC3B99180}" type="slidenum">
              <a:rPr lang="en-AU" smtClean="0"/>
              <a:t>‹#›</a:t>
            </a:fld>
            <a:endParaRPr lang="en-AU"/>
          </a:p>
        </p:txBody>
      </p:sp>
    </p:spTree>
    <p:extLst>
      <p:ext uri="{BB962C8B-B14F-4D97-AF65-F5344CB8AC3E}">
        <p14:creationId xmlns:p14="http://schemas.microsoft.com/office/powerpoint/2010/main" val="365929574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592FCD-500C-445D-904D-16EE79FAB3A5}" type="datetimeFigureOut">
              <a:rPr lang="en-AU" smtClean="0"/>
              <a:t>4/11/21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72DED8E-4D8C-4319-92D2-0A8CC3B99180}" type="slidenum">
              <a:rPr lang="en-AU" smtClean="0"/>
              <a:t>‹#›</a:t>
            </a:fld>
            <a:endParaRPr lang="en-AU"/>
          </a:p>
        </p:txBody>
      </p:sp>
    </p:spTree>
    <p:extLst>
      <p:ext uri="{BB962C8B-B14F-4D97-AF65-F5344CB8AC3E}">
        <p14:creationId xmlns:p14="http://schemas.microsoft.com/office/powerpoint/2010/main" val="30662408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A592FCD-500C-445D-904D-16EE79FAB3A5}" type="datetimeFigureOut">
              <a:rPr lang="en-AU" smtClean="0"/>
              <a:t>4/11/21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872DED8E-4D8C-4319-92D2-0A8CC3B99180}" type="slidenum">
              <a:rPr lang="en-AU" smtClean="0"/>
              <a:t>‹#›</a:t>
            </a:fld>
            <a:endParaRPr lang="en-AU"/>
          </a:p>
        </p:txBody>
      </p:sp>
    </p:spTree>
    <p:extLst>
      <p:ext uri="{BB962C8B-B14F-4D97-AF65-F5344CB8AC3E}">
        <p14:creationId xmlns:p14="http://schemas.microsoft.com/office/powerpoint/2010/main" val="14551664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592FCD-500C-445D-904D-16EE79FAB3A5}" type="datetimeFigureOut">
              <a:rPr lang="en-AU" smtClean="0"/>
              <a:t>4/11/21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72DED8E-4D8C-4319-92D2-0A8CC3B99180}" type="slidenum">
              <a:rPr lang="en-AU" smtClean="0"/>
              <a:t>‹#›</a:t>
            </a:fld>
            <a:endParaRPr lang="en-AU"/>
          </a:p>
        </p:txBody>
      </p:sp>
    </p:spTree>
    <p:extLst>
      <p:ext uri="{BB962C8B-B14F-4D97-AF65-F5344CB8AC3E}">
        <p14:creationId xmlns:p14="http://schemas.microsoft.com/office/powerpoint/2010/main" val="381747874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A592FCD-500C-445D-904D-16EE79FAB3A5}" type="datetimeFigureOut">
              <a:rPr lang="en-AU" smtClean="0"/>
              <a:t>4/11/21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872DED8E-4D8C-4319-92D2-0A8CC3B99180}" type="slidenum">
              <a:rPr lang="en-AU" smtClean="0"/>
              <a:t>‹#›</a:t>
            </a:fld>
            <a:endParaRPr lang="en-AU"/>
          </a:p>
        </p:txBody>
      </p:sp>
    </p:spTree>
    <p:extLst>
      <p:ext uri="{BB962C8B-B14F-4D97-AF65-F5344CB8AC3E}">
        <p14:creationId xmlns:p14="http://schemas.microsoft.com/office/powerpoint/2010/main" val="26801341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7.xml"/><Relationship Id="rId3" Type="http://schemas.openxmlformats.org/officeDocument/2006/relationships/slideLayout" Target="../slideLayouts/slideLayout22.xml"/><Relationship Id="rId7" Type="http://schemas.openxmlformats.org/officeDocument/2006/relationships/slideLayout" Target="../slideLayouts/slideLayout26.xml"/><Relationship Id="rId12" Type="http://schemas.openxmlformats.org/officeDocument/2006/relationships/theme" Target="../theme/theme2.xml"/><Relationship Id="rId2" Type="http://schemas.openxmlformats.org/officeDocument/2006/relationships/slideLayout" Target="../slideLayouts/slideLayout21.xml"/><Relationship Id="rId1" Type="http://schemas.openxmlformats.org/officeDocument/2006/relationships/slideLayout" Target="../slideLayouts/slideLayout20.xml"/><Relationship Id="rId6" Type="http://schemas.openxmlformats.org/officeDocument/2006/relationships/slideLayout" Target="../slideLayouts/slideLayout25.xml"/><Relationship Id="rId11" Type="http://schemas.openxmlformats.org/officeDocument/2006/relationships/slideLayout" Target="../slideLayouts/slideLayout30.xml"/><Relationship Id="rId5" Type="http://schemas.openxmlformats.org/officeDocument/2006/relationships/slideLayout" Target="../slideLayouts/slideLayout24.xml"/><Relationship Id="rId10" Type="http://schemas.openxmlformats.org/officeDocument/2006/relationships/slideLayout" Target="../slideLayouts/slideLayout29.xml"/><Relationship Id="rId4" Type="http://schemas.openxmlformats.org/officeDocument/2006/relationships/slideLayout" Target="../slideLayouts/slideLayout23.xml"/><Relationship Id="rId9"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599" y="914400"/>
            <a:ext cx="8677836" cy="1143000"/>
          </a:xfrm>
          <a:prstGeom prst="rect">
            <a:avLst/>
          </a:prstGeom>
        </p:spPr>
        <p:txBody>
          <a:bodyPr vert="horz" lIns="91440" tIns="45720" rIns="91440" bIns="45720" rtlCol="0" anchor="b" anchorCtr="0">
            <a:noAutofit/>
          </a:bodyPr>
          <a:lstStyle/>
          <a:p>
            <a:r>
              <a:rPr lang="en-US"/>
              <a:t>Click to edit Master title style</a:t>
            </a:r>
            <a:endParaRPr/>
          </a:p>
        </p:txBody>
      </p:sp>
      <p:sp>
        <p:nvSpPr>
          <p:cNvPr id="3" name="Text Placeholder 2"/>
          <p:cNvSpPr>
            <a:spLocks noGrp="1"/>
          </p:cNvSpPr>
          <p:nvPr>
            <p:ph type="body" idx="1"/>
          </p:nvPr>
        </p:nvSpPr>
        <p:spPr>
          <a:xfrm>
            <a:off x="609599" y="2209801"/>
            <a:ext cx="8677836" cy="39163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4" name="Date Placeholder 3"/>
          <p:cNvSpPr>
            <a:spLocks noGrp="1"/>
          </p:cNvSpPr>
          <p:nvPr>
            <p:ph type="dt" sz="half" idx="2"/>
          </p:nvPr>
        </p:nvSpPr>
        <p:spPr>
          <a:xfrm>
            <a:off x="9598212" y="6356351"/>
            <a:ext cx="2336800" cy="365125"/>
          </a:xfrm>
          <a:prstGeom prst="rect">
            <a:avLst/>
          </a:prstGeom>
        </p:spPr>
        <p:txBody>
          <a:bodyPr vert="horz" lIns="91440" tIns="45720" rIns="91440" bIns="45720" rtlCol="0" anchor="ctr"/>
          <a:lstStyle>
            <a:lvl1pPr algn="r">
              <a:defRPr sz="1100" b="1">
                <a:solidFill>
                  <a:schemeClr val="tx2">
                    <a:lumMod val="60000"/>
                    <a:lumOff val="40000"/>
                  </a:schemeClr>
                </a:solidFill>
              </a:defRPr>
            </a:lvl1pPr>
          </a:lstStyle>
          <a:p>
            <a:fld id="{EB507C1E-5E0D-3E4D-8113-714502558754}" type="datetimeFigureOut">
              <a:rPr lang="en-US" smtClean="0"/>
              <a:t>11/4/21</a:t>
            </a:fld>
            <a:endParaRPr lang="en-US"/>
          </a:p>
        </p:txBody>
      </p:sp>
      <p:sp>
        <p:nvSpPr>
          <p:cNvPr id="5" name="Footer Placeholder 4"/>
          <p:cNvSpPr>
            <a:spLocks noGrp="1"/>
          </p:cNvSpPr>
          <p:nvPr>
            <p:ph type="ftr" sz="quarter" idx="3"/>
          </p:nvPr>
        </p:nvSpPr>
        <p:spPr>
          <a:xfrm>
            <a:off x="233083" y="6356351"/>
            <a:ext cx="8009467" cy="365125"/>
          </a:xfrm>
          <a:prstGeom prst="rect">
            <a:avLst/>
          </a:prstGeom>
        </p:spPr>
        <p:txBody>
          <a:bodyPr vert="horz" lIns="91440" tIns="45720" rIns="91440" bIns="45720" rtlCol="0" anchor="ctr"/>
          <a:lstStyle>
            <a:lvl1pPr algn="l">
              <a:defRPr sz="1100" b="1">
                <a:solidFill>
                  <a:schemeClr val="tx2">
                    <a:lumMod val="60000"/>
                    <a:lumOff val="40000"/>
                  </a:schemeClr>
                </a:solidFill>
              </a:defRPr>
            </a:lvl1pPr>
          </a:lstStyle>
          <a:p>
            <a:endParaRPr lang="en-US"/>
          </a:p>
        </p:txBody>
      </p:sp>
      <p:sp>
        <p:nvSpPr>
          <p:cNvPr id="6" name="Slide Number Placeholder 5"/>
          <p:cNvSpPr>
            <a:spLocks noGrp="1"/>
          </p:cNvSpPr>
          <p:nvPr>
            <p:ph type="sldNum" sz="quarter" idx="4"/>
          </p:nvPr>
        </p:nvSpPr>
        <p:spPr>
          <a:xfrm>
            <a:off x="11008659" y="361017"/>
            <a:ext cx="675341" cy="365125"/>
          </a:xfrm>
          <a:prstGeom prst="rect">
            <a:avLst/>
          </a:prstGeom>
        </p:spPr>
        <p:txBody>
          <a:bodyPr vert="horz" lIns="91440" tIns="45720" rIns="91440" bIns="45720" rtlCol="0" anchor="ctr"/>
          <a:lstStyle>
            <a:lvl1pPr algn="r">
              <a:defRPr sz="2200" b="1">
                <a:solidFill>
                  <a:schemeClr val="bg1"/>
                </a:solidFill>
              </a:defRPr>
            </a:lvl1pPr>
          </a:lstStyle>
          <a:p>
            <a:fld id="{CC611861-616C-A14E-8244-40FC50D01E26}" type="slidenum">
              <a:rPr lang="en-US" smtClean="0"/>
              <a:t>‹#›</a:t>
            </a:fld>
            <a:endParaRPr lang="en-US"/>
          </a:p>
        </p:txBody>
      </p:sp>
    </p:spTree>
    <p:extLst>
      <p:ext uri="{BB962C8B-B14F-4D97-AF65-F5344CB8AC3E}">
        <p14:creationId xmlns:p14="http://schemas.microsoft.com/office/powerpoint/2010/main" val="23761412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txStyles>
    <p:titleStyle>
      <a:lvl1pPr algn="l" defTabSz="914400" rtl="0" eaLnBrk="1" latinLnBrk="0" hangingPunct="1">
        <a:spcBef>
          <a:spcPct val="0"/>
        </a:spcBef>
        <a:buNone/>
        <a:defRPr sz="3600" kern="1200">
          <a:solidFill>
            <a:schemeClr val="accent1"/>
          </a:solidFill>
          <a:latin typeface="+mj-lt"/>
          <a:ea typeface="+mj-ea"/>
          <a:cs typeface="+mj-cs"/>
        </a:defRPr>
      </a:lvl1pPr>
    </p:titleStyle>
    <p:bodyStyle>
      <a:lvl1pPr marL="228600" indent="-228600" algn="l" defTabSz="914400" rtl="0" eaLnBrk="1" latinLnBrk="0" hangingPunct="1">
        <a:spcBef>
          <a:spcPts val="1800"/>
        </a:spcBef>
        <a:buClr>
          <a:schemeClr val="accent1"/>
        </a:buClr>
        <a:buSzPct val="100000"/>
        <a:buFont typeface="Wingdings 2" pitchFamily="18" charset="2"/>
        <a:buChar char="¡"/>
        <a:defRPr sz="2000" kern="1200">
          <a:solidFill>
            <a:schemeClr val="tx2"/>
          </a:solidFill>
          <a:latin typeface="+mn-lt"/>
          <a:ea typeface="+mn-ea"/>
          <a:cs typeface="+mn-cs"/>
        </a:defRPr>
      </a:lvl1pPr>
      <a:lvl2pPr marL="4572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2pPr>
      <a:lvl3pPr marL="6858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3pPr>
      <a:lvl4pPr marL="914400" indent="-228600" algn="l" defTabSz="914400" rtl="0" eaLnBrk="1" latinLnBrk="0" hangingPunct="1">
        <a:spcBef>
          <a:spcPts val="600"/>
        </a:spcBef>
        <a:buClr>
          <a:schemeClr val="accent1">
            <a:lumMod val="50000"/>
          </a:schemeClr>
        </a:buClr>
        <a:buSzPct val="100000"/>
        <a:buFont typeface="Wingdings 2" pitchFamily="18" charset="2"/>
        <a:buChar char="¡"/>
        <a:defRPr sz="1800" kern="1200">
          <a:solidFill>
            <a:schemeClr val="tx2"/>
          </a:solidFill>
          <a:latin typeface="+mn-lt"/>
          <a:ea typeface="+mn-ea"/>
          <a:cs typeface="+mn-cs"/>
        </a:defRPr>
      </a:lvl4pPr>
      <a:lvl5pPr marL="1143000" indent="-228600" algn="l" defTabSz="914400" rtl="0" eaLnBrk="1" latinLnBrk="0" hangingPunct="1">
        <a:spcBef>
          <a:spcPts val="600"/>
        </a:spcBef>
        <a:buClr>
          <a:schemeClr val="accent1"/>
        </a:buClr>
        <a:buSzPct val="100000"/>
        <a:buFont typeface="Wingdings 2" pitchFamily="18" charset="2"/>
        <a:buChar char="¡"/>
        <a:defRPr sz="1800" kern="1200">
          <a:solidFill>
            <a:schemeClr val="tx2"/>
          </a:solidFill>
          <a:latin typeface="+mn-lt"/>
          <a:ea typeface="+mn-ea"/>
          <a:cs typeface="+mn-cs"/>
        </a:defRPr>
      </a:lvl5pPr>
      <a:lvl6pPr marL="1377950"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6pPr>
      <a:lvl7pPr marL="1603375" indent="-228600" algn="l" defTabSz="914400" rtl="0" eaLnBrk="1" latinLnBrk="0" hangingPunct="1">
        <a:spcBef>
          <a:spcPct val="20000"/>
        </a:spcBef>
        <a:buClr>
          <a:schemeClr val="accent1"/>
        </a:buClr>
        <a:buFont typeface="Wingdings 2" pitchFamily="18" charset="2"/>
        <a:buChar char=""/>
        <a:defRPr lang="en-US" sz="1800" kern="1200" dirty="0" smtClean="0">
          <a:solidFill>
            <a:schemeClr val="tx2"/>
          </a:solidFill>
          <a:latin typeface="+mn-lt"/>
          <a:ea typeface="+mn-ea"/>
          <a:cs typeface="+mn-cs"/>
        </a:defRPr>
      </a:lvl7pPr>
      <a:lvl8pPr marL="1830388" indent="-228600" algn="l" defTabSz="914400" rtl="0" eaLnBrk="1" latinLnBrk="0" hangingPunct="1">
        <a:spcBef>
          <a:spcPct val="20000"/>
        </a:spcBef>
        <a:buClr>
          <a:schemeClr val="accent1">
            <a:lumMod val="50000"/>
          </a:schemeClr>
        </a:buClr>
        <a:buFont typeface="Wingdings 2" pitchFamily="18" charset="2"/>
        <a:buChar char=""/>
        <a:defRPr lang="en-US" sz="1800" kern="1200" dirty="0" smtClean="0">
          <a:solidFill>
            <a:schemeClr val="tx2"/>
          </a:solidFill>
          <a:latin typeface="+mn-lt"/>
          <a:ea typeface="+mn-ea"/>
          <a:cs typeface="+mn-cs"/>
        </a:defRPr>
      </a:lvl8pPr>
      <a:lvl9pPr marL="2057400" indent="-228600" algn="l" defTabSz="914400" rtl="0" eaLnBrk="1" latinLnBrk="0" hangingPunct="1">
        <a:spcBef>
          <a:spcPct val="20000"/>
        </a:spcBef>
        <a:buClr>
          <a:schemeClr val="accent1"/>
        </a:buClr>
        <a:buFont typeface="Wingdings 2" pitchFamily="18" charset="2"/>
        <a:buChar char=""/>
        <a:defRPr lang="en-US" sz="1800" kern="1200" dirty="0">
          <a:solidFill>
            <a:schemeClr val="tx2"/>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592FCD-500C-445D-904D-16EE79FAB3A5}" type="datetimeFigureOut">
              <a:rPr lang="en-AU" smtClean="0"/>
              <a:t>4/11/21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DED8E-4D8C-4319-92D2-0A8CC3B99180}" type="slidenum">
              <a:rPr lang="en-AU" smtClean="0"/>
              <a:t>‹#›</a:t>
            </a:fld>
            <a:endParaRPr lang="en-AU"/>
          </a:p>
        </p:txBody>
      </p:sp>
    </p:spTree>
    <p:extLst>
      <p:ext uri="{BB962C8B-B14F-4D97-AF65-F5344CB8AC3E}">
        <p14:creationId xmlns:p14="http://schemas.microsoft.com/office/powerpoint/2010/main" val="1608554316"/>
      </p:ext>
    </p:extLst>
  </p:cSld>
  <p:clrMap bg1="lt1" tx1="dk1" bg2="lt2" tx2="dk2" accent1="accent1" accent2="accent2" accent3="accent3" accent4="accent4" accent5="accent5" accent6="accent6" hlink="hlink" folHlink="folHlink"/>
  <p:sldLayoutIdLst>
    <p:sldLayoutId id="2147483681" r:id="rId1"/>
    <p:sldLayoutId id="2147483682" r:id="rId2"/>
    <p:sldLayoutId id="2147483683" r:id="rId3"/>
    <p:sldLayoutId id="2147483684" r:id="rId4"/>
    <p:sldLayoutId id="2147483685" r:id="rId5"/>
    <p:sldLayoutId id="2147483686" r:id="rId6"/>
    <p:sldLayoutId id="2147483687" r:id="rId7"/>
    <p:sldLayoutId id="2147483688" r:id="rId8"/>
    <p:sldLayoutId id="2147483689" r:id="rId9"/>
    <p:sldLayoutId id="2147483690" r:id="rId10"/>
    <p:sldLayoutId id="214748369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1.xml"/><Relationship Id="rId4" Type="http://schemas.openxmlformats.org/officeDocument/2006/relationships/image" Target="../media/image6.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1.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1.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1.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817311" y="-191295"/>
            <a:ext cx="7175500" cy="1646238"/>
          </a:xfrm>
        </p:spPr>
        <p:txBody>
          <a:bodyPr>
            <a:normAutofit/>
          </a:bodyPr>
          <a:lstStyle/>
          <a:p>
            <a:r>
              <a:rPr lang="en-US" sz="3200" b="1" dirty="0" err="1"/>
              <a:t>Categorise</a:t>
            </a:r>
            <a:r>
              <a:rPr lang="en-US" sz="3200" b="1" dirty="0"/>
              <a:t> the following data collection tools:</a:t>
            </a:r>
          </a:p>
        </p:txBody>
      </p:sp>
      <p:sp>
        <p:nvSpPr>
          <p:cNvPr id="9" name="TextBox 8">
            <a:extLst>
              <a:ext uri="{FF2B5EF4-FFF2-40B4-BE49-F238E27FC236}">
                <a16:creationId xmlns:a16="http://schemas.microsoft.com/office/drawing/2014/main" id="{A4B3C05C-FA6D-48F9-AE64-DE8B3C71D4F1}"/>
              </a:ext>
            </a:extLst>
          </p:cNvPr>
          <p:cNvSpPr txBox="1"/>
          <p:nvPr/>
        </p:nvSpPr>
        <p:spPr>
          <a:xfrm>
            <a:off x="1" y="277881"/>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4000" b="0" i="0" u="none" strike="noStrike" kern="1200" cap="none" spc="0" normalizeH="0" baseline="0" noProof="0" dirty="0">
                <a:ln>
                  <a:noFill/>
                </a:ln>
                <a:solidFill>
                  <a:prstClr val="white"/>
                </a:solidFill>
                <a:effectLst/>
                <a:uLnTx/>
                <a:uFillTx/>
                <a:latin typeface="Century Gothic"/>
                <a:ea typeface="+mn-ea"/>
                <a:cs typeface="+mn-cs"/>
              </a:rPr>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2128995"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graphicFrame>
        <p:nvGraphicFramePr>
          <p:cNvPr id="3" name="Table 3">
            <a:extLst>
              <a:ext uri="{FF2B5EF4-FFF2-40B4-BE49-F238E27FC236}">
                <a16:creationId xmlns:a16="http://schemas.microsoft.com/office/drawing/2014/main" id="{9DE9643F-AE0A-0249-B408-E7644040506D}"/>
              </a:ext>
            </a:extLst>
          </p:cNvPr>
          <p:cNvGraphicFramePr>
            <a:graphicFrameLocks noGrp="1"/>
          </p:cNvGraphicFramePr>
          <p:nvPr/>
        </p:nvGraphicFramePr>
        <p:xfrm>
          <a:off x="513167" y="2208007"/>
          <a:ext cx="10903384" cy="2103120"/>
        </p:xfrm>
        <a:graphic>
          <a:graphicData uri="http://schemas.openxmlformats.org/drawingml/2006/table">
            <a:tbl>
              <a:tblPr firstRow="1" bandRow="1">
                <a:tableStyleId>{93296810-A885-4BE3-A3E7-6D5BEEA58F35}</a:tableStyleId>
              </a:tblPr>
              <a:tblGrid>
                <a:gridCol w="2725846">
                  <a:extLst>
                    <a:ext uri="{9D8B030D-6E8A-4147-A177-3AD203B41FA5}">
                      <a16:colId xmlns:a16="http://schemas.microsoft.com/office/drawing/2014/main" val="2804104988"/>
                    </a:ext>
                  </a:extLst>
                </a:gridCol>
                <a:gridCol w="2725846">
                  <a:extLst>
                    <a:ext uri="{9D8B030D-6E8A-4147-A177-3AD203B41FA5}">
                      <a16:colId xmlns:a16="http://schemas.microsoft.com/office/drawing/2014/main" val="826121520"/>
                    </a:ext>
                  </a:extLst>
                </a:gridCol>
                <a:gridCol w="2725846">
                  <a:extLst>
                    <a:ext uri="{9D8B030D-6E8A-4147-A177-3AD203B41FA5}">
                      <a16:colId xmlns:a16="http://schemas.microsoft.com/office/drawing/2014/main" val="1227274984"/>
                    </a:ext>
                  </a:extLst>
                </a:gridCol>
                <a:gridCol w="2725846">
                  <a:extLst>
                    <a:ext uri="{9D8B030D-6E8A-4147-A177-3AD203B41FA5}">
                      <a16:colId xmlns:a16="http://schemas.microsoft.com/office/drawing/2014/main" val="4035015966"/>
                    </a:ext>
                  </a:extLst>
                </a:gridCol>
              </a:tblGrid>
              <a:tr h="370840">
                <a:tc>
                  <a:txBody>
                    <a:bodyPr/>
                    <a:lstStyle/>
                    <a:p>
                      <a:pPr algn="ctr"/>
                      <a:endParaRPr lang="en-US" sz="2400"/>
                    </a:p>
                  </a:txBody>
                  <a:tcPr/>
                </a:tc>
                <a:tc>
                  <a:txBody>
                    <a:bodyPr/>
                    <a:lstStyle/>
                    <a:p>
                      <a:pPr algn="ctr"/>
                      <a:r>
                        <a:rPr lang="en-US" sz="2400" dirty="0"/>
                        <a:t>Interviews</a:t>
                      </a:r>
                    </a:p>
                  </a:txBody>
                  <a:tcPr/>
                </a:tc>
                <a:tc>
                  <a:txBody>
                    <a:bodyPr/>
                    <a:lstStyle/>
                    <a:p>
                      <a:pPr algn="ctr"/>
                      <a:r>
                        <a:rPr lang="en-US" sz="2400" dirty="0"/>
                        <a:t>Likert scale</a:t>
                      </a:r>
                    </a:p>
                  </a:txBody>
                  <a:tcPr/>
                </a:tc>
                <a:tc>
                  <a:txBody>
                    <a:bodyPr/>
                    <a:lstStyle/>
                    <a:p>
                      <a:pPr algn="ctr"/>
                      <a:r>
                        <a:rPr lang="en-US" sz="2400" dirty="0"/>
                        <a:t>Heart rate </a:t>
                      </a:r>
                    </a:p>
                  </a:txBody>
                  <a:tcPr/>
                </a:tc>
                <a:extLst>
                  <a:ext uri="{0D108BD9-81ED-4DB2-BD59-A6C34878D82A}">
                    <a16:rowId xmlns:a16="http://schemas.microsoft.com/office/drawing/2014/main" val="4062759269"/>
                  </a:ext>
                </a:extLst>
              </a:tr>
              <a:tr h="370840">
                <a:tc>
                  <a:txBody>
                    <a:bodyPr/>
                    <a:lstStyle/>
                    <a:p>
                      <a:r>
                        <a:rPr lang="en-US" sz="2400" dirty="0"/>
                        <a:t>Subjective OR Objective</a:t>
                      </a:r>
                    </a:p>
                  </a:txBody>
                  <a:tcPr/>
                </a:tc>
                <a:tc>
                  <a:txBody>
                    <a:bodyPr/>
                    <a:lstStyle/>
                    <a:p>
                      <a:endParaRPr lang="en-US" sz="2400"/>
                    </a:p>
                  </a:txBody>
                  <a:tcPr/>
                </a:tc>
                <a:tc>
                  <a:txBody>
                    <a:bodyPr/>
                    <a:lstStyle/>
                    <a:p>
                      <a:endParaRPr lang="en-US" sz="2400"/>
                    </a:p>
                  </a:txBody>
                  <a:tcPr/>
                </a:tc>
                <a:tc>
                  <a:txBody>
                    <a:bodyPr/>
                    <a:lstStyle/>
                    <a:p>
                      <a:endParaRPr lang="en-US" sz="2400"/>
                    </a:p>
                  </a:txBody>
                  <a:tcPr/>
                </a:tc>
                <a:extLst>
                  <a:ext uri="{0D108BD9-81ED-4DB2-BD59-A6C34878D82A}">
                    <a16:rowId xmlns:a16="http://schemas.microsoft.com/office/drawing/2014/main" val="4199325298"/>
                  </a:ext>
                </a:extLst>
              </a:tr>
              <a:tr h="370840">
                <a:tc>
                  <a:txBody>
                    <a:bodyPr/>
                    <a:lstStyle/>
                    <a:p>
                      <a:r>
                        <a:rPr lang="en-US" sz="2400" dirty="0"/>
                        <a:t>Qualitative OR Quantitative</a:t>
                      </a:r>
                    </a:p>
                  </a:txBody>
                  <a:tcPr/>
                </a:tc>
                <a:tc>
                  <a:txBody>
                    <a:bodyPr/>
                    <a:lstStyle/>
                    <a:p>
                      <a:endParaRPr lang="en-US" sz="2400" dirty="0"/>
                    </a:p>
                  </a:txBody>
                  <a:tcPr/>
                </a:tc>
                <a:tc>
                  <a:txBody>
                    <a:bodyPr/>
                    <a:lstStyle/>
                    <a:p>
                      <a:endParaRPr lang="en-US" sz="2400" dirty="0"/>
                    </a:p>
                  </a:txBody>
                  <a:tcPr/>
                </a:tc>
                <a:tc>
                  <a:txBody>
                    <a:bodyPr/>
                    <a:lstStyle/>
                    <a:p>
                      <a:endParaRPr lang="en-US" sz="2400" dirty="0"/>
                    </a:p>
                  </a:txBody>
                  <a:tcPr/>
                </a:tc>
                <a:extLst>
                  <a:ext uri="{0D108BD9-81ED-4DB2-BD59-A6C34878D82A}">
                    <a16:rowId xmlns:a16="http://schemas.microsoft.com/office/drawing/2014/main" val="3583375696"/>
                  </a:ext>
                </a:extLst>
              </a:tr>
            </a:tbl>
          </a:graphicData>
        </a:graphic>
      </p:graphicFrame>
    </p:spTree>
    <p:extLst>
      <p:ext uri="{BB962C8B-B14F-4D97-AF65-F5344CB8AC3E}">
        <p14:creationId xmlns:p14="http://schemas.microsoft.com/office/powerpoint/2010/main" val="1206839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830758" y="1408904"/>
            <a:ext cx="7711736" cy="3391695"/>
          </a:xfrm>
        </p:spPr>
        <p:txBody>
          <a:bodyPr>
            <a:normAutofit/>
          </a:bodyPr>
          <a:lstStyle/>
          <a:p>
            <a:pPr algn="ctr"/>
            <a:r>
              <a:rPr lang="en-US" b="1" dirty="0">
                <a:solidFill>
                  <a:schemeClr val="tx1"/>
                </a:solidFill>
              </a:rPr>
              <a:t>Write 2 </a:t>
            </a:r>
            <a:r>
              <a:rPr lang="en-US" b="1" dirty="0" err="1">
                <a:solidFill>
                  <a:schemeClr val="tx1"/>
                </a:solidFill>
              </a:rPr>
              <a:t>likert</a:t>
            </a:r>
            <a:r>
              <a:rPr lang="en-US" b="1" dirty="0">
                <a:solidFill>
                  <a:schemeClr val="tx1"/>
                </a:solidFill>
              </a:rPr>
              <a:t> scale questions that could help measure a persons extroversion</a:t>
            </a:r>
          </a:p>
        </p:txBody>
      </p:sp>
      <p:sp>
        <p:nvSpPr>
          <p:cNvPr id="9" name="TextBox 8">
            <a:extLst>
              <a:ext uri="{FF2B5EF4-FFF2-40B4-BE49-F238E27FC236}">
                <a16:creationId xmlns:a16="http://schemas.microsoft.com/office/drawing/2014/main" id="{A4B3C05C-FA6D-48F9-AE64-DE8B3C71D4F1}"/>
              </a:ext>
            </a:extLst>
          </p:cNvPr>
          <p:cNvSpPr txBox="1"/>
          <p:nvPr/>
        </p:nvSpPr>
        <p:spPr>
          <a:xfrm>
            <a:off x="1" y="277881"/>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4000" b="0" i="0" u="none" strike="noStrike" kern="1200" cap="none" spc="0" normalizeH="0" baseline="0" noProof="0" dirty="0">
                <a:ln>
                  <a:noFill/>
                </a:ln>
                <a:solidFill>
                  <a:prstClr val="white"/>
                </a:solidFill>
                <a:effectLst/>
                <a:uLnTx/>
                <a:uFillTx/>
                <a:latin typeface="Century Gothic"/>
                <a:ea typeface="+mn-ea"/>
                <a:cs typeface="+mn-cs"/>
              </a:rPr>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2128995"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spTree>
    <p:extLst>
      <p:ext uri="{BB962C8B-B14F-4D97-AF65-F5344CB8AC3E}">
        <p14:creationId xmlns:p14="http://schemas.microsoft.com/office/powerpoint/2010/main" val="26461289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424779" y="1920082"/>
            <a:ext cx="11342442" cy="1646238"/>
          </a:xfrm>
        </p:spPr>
        <p:txBody>
          <a:bodyPr>
            <a:noAutofit/>
          </a:bodyPr>
          <a:lstStyle/>
          <a:p>
            <a:r>
              <a:rPr lang="en-US" sz="2000" dirty="0">
                <a:solidFill>
                  <a:schemeClr val="tx1"/>
                </a:solidFill>
              </a:rPr>
              <a:t>Chloe is a personal trainer at Gold’s Gym. Although she has always officially led a “straight edge” lifestyle and denounced the use of anabolic steroids, she’s always secretly wondered if they helped people get significantly stronger. She decides to find out. She purchases some steroids off the black market from her dealer Jiggy and convinces half of her clientele at the gym to start injecting. This continues for thirty days while Chloe keeps a journal of how much weight each person in the two groups can squat. At the end of the month she compares the results.</a:t>
            </a:r>
          </a:p>
        </p:txBody>
      </p:sp>
      <p:sp>
        <p:nvSpPr>
          <p:cNvPr id="9" name="TextBox 8">
            <a:extLst>
              <a:ext uri="{FF2B5EF4-FFF2-40B4-BE49-F238E27FC236}">
                <a16:creationId xmlns:a16="http://schemas.microsoft.com/office/drawing/2014/main" id="{A4B3C05C-FA6D-48F9-AE64-DE8B3C71D4F1}"/>
              </a:ext>
            </a:extLst>
          </p:cNvPr>
          <p:cNvSpPr txBox="1"/>
          <p:nvPr/>
        </p:nvSpPr>
        <p:spPr>
          <a:xfrm>
            <a:off x="1" y="277881"/>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4000" b="0" i="0" u="none" strike="noStrike" kern="1200" cap="none" spc="0" normalizeH="0" baseline="0" noProof="0" dirty="0">
                <a:ln>
                  <a:noFill/>
                </a:ln>
                <a:solidFill>
                  <a:prstClr val="white"/>
                </a:solidFill>
                <a:effectLst/>
                <a:uLnTx/>
                <a:uFillTx/>
                <a:latin typeface="Century Gothic"/>
                <a:ea typeface="+mn-ea"/>
                <a:cs typeface="+mn-cs"/>
              </a:rPr>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1586753"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sp>
        <p:nvSpPr>
          <p:cNvPr id="2" name="TextBox 1">
            <a:extLst>
              <a:ext uri="{FF2B5EF4-FFF2-40B4-BE49-F238E27FC236}">
                <a16:creationId xmlns:a16="http://schemas.microsoft.com/office/drawing/2014/main" id="{4C368280-1A32-AA42-BB99-216A104295A4}"/>
              </a:ext>
            </a:extLst>
          </p:cNvPr>
          <p:cNvSpPr txBox="1"/>
          <p:nvPr/>
        </p:nvSpPr>
        <p:spPr>
          <a:xfrm>
            <a:off x="3119718" y="4276165"/>
            <a:ext cx="5961888" cy="1754326"/>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mn-ea"/>
                <a:cs typeface="+mn-cs"/>
              </a:rPr>
              <a:t>Identify the: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a:ea typeface="+mn-ea"/>
                <a:cs typeface="+mn-cs"/>
              </a:rPr>
              <a:t>1. IV and DV</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entury Gothic"/>
                <a:ea typeface="+mn-ea"/>
                <a:cs typeface="+mn-cs"/>
              </a:rPr>
              <a:t>2. Experimental group and Control group</a:t>
            </a: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entury Gothic"/>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entury Gothic"/>
                <a:ea typeface="+mn-ea"/>
                <a:cs typeface="+mn-cs"/>
              </a:rPr>
              <a:t>Write an operationalized hypothesis for this scenario</a:t>
            </a:r>
          </a:p>
        </p:txBody>
      </p:sp>
    </p:spTree>
    <p:extLst>
      <p:ext uri="{BB962C8B-B14F-4D97-AF65-F5344CB8AC3E}">
        <p14:creationId xmlns:p14="http://schemas.microsoft.com/office/powerpoint/2010/main" val="27020881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595353" y="1782762"/>
            <a:ext cx="10640093" cy="1646238"/>
          </a:xfrm>
        </p:spPr>
        <p:txBody>
          <a:bodyPr>
            <a:normAutofit fontScale="90000"/>
          </a:bodyPr>
          <a:lstStyle/>
          <a:p>
            <a:r>
              <a:rPr lang="en-US" sz="2000" dirty="0">
                <a:solidFill>
                  <a:schemeClr val="tx1"/>
                </a:solidFill>
              </a:rPr>
              <a:t>Shortly after adopting his cat, Sassy, Thomas realized that his poor kitty isn’t eating very much. After ruling out and confounding variables, he determined that Sassy is a huge diva and is simply very picky about the type of food she eats. He decides to run a month-long experiment, separated into four weeks. In the first week, he feed her normal dry food. In the second week, he feeds her wet canned food. In the third week he feeds her feeds her raw salmon. In the final week he feed she home-cooked liver and gravy. At the end of the experiment, Thomas compares how much of each type of food Sassy ate.</a:t>
            </a:r>
          </a:p>
        </p:txBody>
      </p:sp>
      <p:sp>
        <p:nvSpPr>
          <p:cNvPr id="9" name="TextBox 8">
            <a:extLst>
              <a:ext uri="{FF2B5EF4-FFF2-40B4-BE49-F238E27FC236}">
                <a16:creationId xmlns:a16="http://schemas.microsoft.com/office/drawing/2014/main" id="{A4B3C05C-FA6D-48F9-AE64-DE8B3C71D4F1}"/>
              </a:ext>
            </a:extLst>
          </p:cNvPr>
          <p:cNvSpPr txBox="1"/>
          <p:nvPr/>
        </p:nvSpPr>
        <p:spPr>
          <a:xfrm>
            <a:off x="1" y="277881"/>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4000" b="0" i="0" u="none" strike="noStrike" kern="1200" cap="none" spc="0" normalizeH="0" baseline="0" noProof="0" dirty="0">
                <a:ln>
                  <a:noFill/>
                </a:ln>
                <a:solidFill>
                  <a:prstClr val="white"/>
                </a:solidFill>
                <a:effectLst/>
                <a:uLnTx/>
                <a:uFillTx/>
                <a:latin typeface="Century Gothic"/>
                <a:ea typeface="+mn-ea"/>
                <a:cs typeface="+mn-cs"/>
              </a:rPr>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2128995"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sp>
        <p:nvSpPr>
          <p:cNvPr id="2" name="TextBox 1">
            <a:extLst>
              <a:ext uri="{FF2B5EF4-FFF2-40B4-BE49-F238E27FC236}">
                <a16:creationId xmlns:a16="http://schemas.microsoft.com/office/drawing/2014/main" id="{19956C31-E52F-B04D-AD8F-A0086C1EA2EC}"/>
              </a:ext>
            </a:extLst>
          </p:cNvPr>
          <p:cNvSpPr txBox="1"/>
          <p:nvPr/>
        </p:nvSpPr>
        <p:spPr>
          <a:xfrm>
            <a:off x="3258766" y="4212077"/>
            <a:ext cx="6061275" cy="923330"/>
          </a:xfrm>
          <a:prstGeom prst="rect">
            <a:avLst/>
          </a:prstGeom>
          <a:noFill/>
        </p:spPr>
        <p:txBody>
          <a:bodyPr wrap="none" rtlCol="0">
            <a:spAutoFit/>
          </a:bodyPr>
          <a:lstStyle/>
          <a:p>
            <a:r>
              <a:rPr lang="en-US" dirty="0"/>
              <a:t>Identify the IV and DV</a:t>
            </a:r>
          </a:p>
          <a:p>
            <a:r>
              <a:rPr lang="en-US" dirty="0"/>
              <a:t>Identify the three different experimental conditions </a:t>
            </a:r>
          </a:p>
          <a:p>
            <a:r>
              <a:rPr lang="en-US" dirty="0"/>
              <a:t>Identify the control condition</a:t>
            </a:r>
          </a:p>
        </p:txBody>
      </p:sp>
    </p:spTree>
    <p:extLst>
      <p:ext uri="{BB962C8B-B14F-4D97-AF65-F5344CB8AC3E}">
        <p14:creationId xmlns:p14="http://schemas.microsoft.com/office/powerpoint/2010/main" val="23002566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idx="4294967295"/>
          </p:nvPr>
        </p:nvSpPr>
        <p:spPr>
          <a:xfrm>
            <a:off x="2480981" y="5696930"/>
            <a:ext cx="8440271" cy="614909"/>
          </a:xfrm>
        </p:spPr>
        <p:txBody>
          <a:bodyPr>
            <a:noAutofit/>
          </a:bodyPr>
          <a:lstStyle/>
          <a:p>
            <a:r>
              <a:rPr lang="en-US" sz="2000" dirty="0">
                <a:solidFill>
                  <a:schemeClr val="tx1"/>
                </a:solidFill>
              </a:rPr>
              <a:t>1. How many fishing boat deaths were there in 2004? </a:t>
            </a:r>
            <a:br>
              <a:rPr lang="en-US" sz="2000" dirty="0">
                <a:solidFill>
                  <a:schemeClr val="tx1"/>
                </a:solidFill>
              </a:rPr>
            </a:br>
            <a:r>
              <a:rPr lang="en-US" sz="2000" dirty="0">
                <a:solidFill>
                  <a:schemeClr val="tx1"/>
                </a:solidFill>
              </a:rPr>
              <a:t>2. Describe the correlation between the years 1999 to 2001.</a:t>
            </a:r>
            <a:br>
              <a:rPr lang="en-US" sz="2000" dirty="0">
                <a:solidFill>
                  <a:schemeClr val="tx1"/>
                </a:solidFill>
              </a:rPr>
            </a:br>
            <a:endParaRPr lang="en-US" sz="2000" dirty="0">
              <a:solidFill>
                <a:schemeClr val="tx1"/>
              </a:solidFill>
            </a:endParaRPr>
          </a:p>
        </p:txBody>
      </p:sp>
      <p:sp>
        <p:nvSpPr>
          <p:cNvPr id="9" name="TextBox 8">
            <a:extLst>
              <a:ext uri="{FF2B5EF4-FFF2-40B4-BE49-F238E27FC236}">
                <a16:creationId xmlns:a16="http://schemas.microsoft.com/office/drawing/2014/main" id="{A4B3C05C-FA6D-48F9-AE64-DE8B3C71D4F1}"/>
              </a:ext>
            </a:extLst>
          </p:cNvPr>
          <p:cNvSpPr txBox="1"/>
          <p:nvPr/>
        </p:nvSpPr>
        <p:spPr>
          <a:xfrm>
            <a:off x="0" y="16915"/>
            <a:ext cx="2585258" cy="707886"/>
          </a:xfrm>
          <a:prstGeom prst="homePlate">
            <a:avLst/>
          </a:prstGeom>
          <a:solidFill>
            <a:srgbClr val="7030A0"/>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4000" b="0" i="0" u="none" strike="noStrike" kern="1200" cap="none" spc="0" normalizeH="0" baseline="0" noProof="0" dirty="0">
                <a:ln>
                  <a:noFill/>
                </a:ln>
                <a:solidFill>
                  <a:prstClr val="white"/>
                </a:solidFill>
                <a:effectLst/>
                <a:uLnTx/>
                <a:uFillTx/>
                <a:latin typeface="Century Gothic"/>
                <a:ea typeface="+mn-ea"/>
                <a:cs typeface="+mn-cs"/>
              </a:rPr>
              <a:t>Do Now</a:t>
            </a:r>
          </a:p>
        </p:txBody>
      </p:sp>
      <p:sp>
        <p:nvSpPr>
          <p:cNvPr id="6" name="TextBox 5">
            <a:extLst>
              <a:ext uri="{FF2B5EF4-FFF2-40B4-BE49-F238E27FC236}">
                <a16:creationId xmlns:a16="http://schemas.microsoft.com/office/drawing/2014/main" id="{190A185A-2D7B-4882-82E0-7A58B7206C4F}"/>
              </a:ext>
            </a:extLst>
          </p:cNvPr>
          <p:cNvSpPr txBox="1"/>
          <p:nvPr/>
        </p:nvSpPr>
        <p:spPr>
          <a:xfrm>
            <a:off x="0" y="5296499"/>
            <a:ext cx="1586753" cy="1569660"/>
          </a:xfrm>
          <a:prstGeom prst="rect">
            <a:avLst/>
          </a:prstGeom>
          <a:noFill/>
          <a:ln w="76200">
            <a:solidFill>
              <a:srgbClr val="FF0000"/>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1" i="0" u="none" strike="noStrike" kern="1200" cap="none" spc="0" normalizeH="0" baseline="0" noProof="0" dirty="0">
                <a:ln>
                  <a:noFill/>
                </a:ln>
                <a:solidFill>
                  <a:prstClr val="black"/>
                </a:solidFill>
                <a:effectLst/>
                <a:uLnTx/>
                <a:uFillTx/>
                <a:latin typeface="Century Gothic"/>
                <a:ea typeface="+mn-ea"/>
                <a:cs typeface="+mn-cs"/>
              </a:rPr>
              <a:t>Reminders:</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Phones away</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Bags on floor</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Books out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Pens out</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AU" sz="1600" b="0" i="0" u="none" strike="noStrike" kern="1200" cap="none" spc="0" normalizeH="0" baseline="0" noProof="0" dirty="0">
                <a:ln>
                  <a:noFill/>
                </a:ln>
                <a:solidFill>
                  <a:prstClr val="black"/>
                </a:solidFill>
                <a:effectLst/>
                <a:uLnTx/>
                <a:uFillTx/>
                <a:latin typeface="Century Gothic"/>
                <a:ea typeface="+mn-ea"/>
                <a:cs typeface="+mn-cs"/>
              </a:rPr>
              <a:t>Whiteboard</a:t>
            </a:r>
          </a:p>
        </p:txBody>
      </p:sp>
      <p:pic>
        <p:nvPicPr>
          <p:cNvPr id="1030" name="Picture 6" descr="Student Shares A Graphic About Nicolas Cage Movies With His Math Teacher,  And It Proves Correlation Does Not Mean Causation | Bored Panda">
            <a:extLst>
              <a:ext uri="{FF2B5EF4-FFF2-40B4-BE49-F238E27FC236}">
                <a16:creationId xmlns:a16="http://schemas.microsoft.com/office/drawing/2014/main" id="{AEB19315-0F93-A34B-BBDA-6F2DB57955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8445" y="724801"/>
            <a:ext cx="10815109" cy="42642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89180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E5038-A28A-49A2-AC6C-8AFB3F30657B}"/>
              </a:ext>
            </a:extLst>
          </p:cNvPr>
          <p:cNvSpPr>
            <a:spLocks noGrp="1"/>
          </p:cNvSpPr>
          <p:nvPr>
            <p:ph type="title"/>
          </p:nvPr>
        </p:nvSpPr>
        <p:spPr>
          <a:xfrm>
            <a:off x="0" y="0"/>
            <a:ext cx="6621928" cy="1398494"/>
          </a:xfrm>
        </p:spPr>
        <p:txBody>
          <a:bodyPr>
            <a:normAutofit/>
          </a:bodyPr>
          <a:lstStyle/>
          <a:p>
            <a:r>
              <a:rPr lang="en-AU" dirty="0">
                <a:solidFill>
                  <a:srgbClr val="000000"/>
                </a:solidFill>
              </a:rPr>
              <a:t>Learning Intentions</a:t>
            </a:r>
          </a:p>
        </p:txBody>
      </p:sp>
      <p:sp>
        <p:nvSpPr>
          <p:cNvPr id="3" name="Content Placeholder 2">
            <a:extLst>
              <a:ext uri="{FF2B5EF4-FFF2-40B4-BE49-F238E27FC236}">
                <a16:creationId xmlns:a16="http://schemas.microsoft.com/office/drawing/2014/main" id="{42EC546C-7629-4B1A-9720-9487BCEBE826}"/>
              </a:ext>
            </a:extLst>
          </p:cNvPr>
          <p:cNvSpPr>
            <a:spLocks noGrp="1"/>
          </p:cNvSpPr>
          <p:nvPr>
            <p:ph type="body" idx="1"/>
          </p:nvPr>
        </p:nvSpPr>
        <p:spPr>
          <a:xfrm>
            <a:off x="450253" y="1876933"/>
            <a:ext cx="7399968" cy="3620020"/>
          </a:xfrm>
        </p:spPr>
        <p:txBody>
          <a:bodyPr anchor="ctr">
            <a:normAutofit/>
          </a:bodyPr>
          <a:lstStyle/>
          <a:p>
            <a:pPr marL="457200" indent="-457200" algn="l">
              <a:buFont typeface="+mj-lt"/>
              <a:buAutoNum type="arabicPeriod"/>
            </a:pPr>
            <a:endParaRPr lang="en-AU" sz="2400" dirty="0">
              <a:solidFill>
                <a:srgbClr val="000000"/>
              </a:solidFill>
            </a:endParaRPr>
          </a:p>
          <a:p>
            <a:pPr marL="457200" indent="-457200" algn="l">
              <a:buFont typeface="+mj-lt"/>
              <a:buAutoNum type="arabicPeriod"/>
            </a:pPr>
            <a:r>
              <a:rPr lang="en-AU" sz="2400" dirty="0">
                <a:solidFill>
                  <a:srgbClr val="000000"/>
                </a:solidFill>
              </a:rPr>
              <a:t>I will be able to describe the different functions of descriptive and inferential statistics</a:t>
            </a:r>
          </a:p>
          <a:p>
            <a:pPr marL="457200" indent="-457200" algn="l">
              <a:buFont typeface="+mj-lt"/>
              <a:buAutoNum type="arabicPeriod"/>
            </a:pPr>
            <a:endParaRPr lang="en-AU" sz="2400" dirty="0">
              <a:solidFill>
                <a:srgbClr val="000000"/>
              </a:solidFill>
            </a:endParaRPr>
          </a:p>
          <a:p>
            <a:pPr marL="457200" indent="-457200" algn="l">
              <a:buFont typeface="+mj-lt"/>
              <a:buAutoNum type="arabicPeriod"/>
            </a:pPr>
            <a:r>
              <a:rPr lang="en-AU" sz="2400" dirty="0">
                <a:solidFill>
                  <a:srgbClr val="000000"/>
                </a:solidFill>
              </a:rPr>
              <a:t>I will be able to interpret a p value and know their purpose</a:t>
            </a:r>
          </a:p>
          <a:p>
            <a:pPr marL="457200" indent="-457200" algn="l">
              <a:buFont typeface="+mj-lt"/>
              <a:buAutoNum type="arabicPeriod"/>
            </a:pPr>
            <a:endParaRPr lang="en-AU" sz="2400" dirty="0">
              <a:solidFill>
                <a:srgbClr val="000000"/>
              </a:solidFill>
            </a:endParaRPr>
          </a:p>
          <a:p>
            <a:pPr marL="0" indent="0" algn="l">
              <a:buNone/>
            </a:pPr>
            <a:endParaRPr lang="en-AU" sz="1000" dirty="0">
              <a:solidFill>
                <a:srgbClr val="000000"/>
              </a:solidFill>
            </a:endParaRPr>
          </a:p>
        </p:txBody>
      </p:sp>
      <p:pic>
        <p:nvPicPr>
          <p:cNvPr id="7" name="Graphic 6" descr="Light Bulb and Gear">
            <a:extLst>
              <a:ext uri="{FF2B5EF4-FFF2-40B4-BE49-F238E27FC236}">
                <a16:creationId xmlns:a16="http://schemas.microsoft.com/office/drawing/2014/main" id="{F2A0F6F4-57CB-4C52-B6A8-6B260D42D62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940798" y="-205612"/>
            <a:ext cx="2539789" cy="3620021"/>
          </a:xfrm>
          <a:prstGeom prst="rect">
            <a:avLst/>
          </a:prstGeom>
        </p:spPr>
      </p:pic>
    </p:spTree>
    <p:extLst>
      <p:ext uri="{BB962C8B-B14F-4D97-AF65-F5344CB8AC3E}">
        <p14:creationId xmlns:p14="http://schemas.microsoft.com/office/powerpoint/2010/main" val="29964727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FA67CD3-AB4E-4A7A-BEB8-53C445D8C4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577125" y="3726"/>
            <a:ext cx="5614875" cy="6858000"/>
          </a:xfrm>
          <a:prstGeom prst="rect">
            <a:avLst/>
          </a:prstGeom>
          <a:gradFill>
            <a:gsLst>
              <a:gs pos="0">
                <a:schemeClr val="accent1">
                  <a:lumMod val="100000"/>
                  <a:alpha val="82000"/>
                </a:schemeClr>
              </a:gs>
              <a:gs pos="25000">
                <a:schemeClr val="accent1">
                  <a:alpha val="60000"/>
                </a:schemeClr>
              </a:gs>
              <a:gs pos="94000">
                <a:schemeClr val="bg2">
                  <a:lumMod val="75000"/>
                </a:schemeClr>
              </a:gs>
              <a:gs pos="100000">
                <a:schemeClr val="bg2">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07CF545F-9C2E-4446-97CD-AD92990C2B68}"/>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flipH="1">
            <a:off x="0" y="0"/>
            <a:ext cx="12192000" cy="6858000"/>
          </a:xfrm>
          <a:prstGeom prst="rect">
            <a:avLst/>
          </a:prstGeom>
        </p:spPr>
      </p:pic>
      <p:sp>
        <p:nvSpPr>
          <p:cNvPr id="2" name="Title 1">
            <a:extLst>
              <a:ext uri="{FF2B5EF4-FFF2-40B4-BE49-F238E27FC236}">
                <a16:creationId xmlns:a16="http://schemas.microsoft.com/office/drawing/2014/main" id="{9C255A1D-7BEE-4132-9540-C099A115D6FC}"/>
              </a:ext>
            </a:extLst>
          </p:cNvPr>
          <p:cNvSpPr>
            <a:spLocks noGrp="1"/>
          </p:cNvSpPr>
          <p:nvPr>
            <p:ph type="title"/>
          </p:nvPr>
        </p:nvSpPr>
        <p:spPr>
          <a:xfrm>
            <a:off x="279745" y="229845"/>
            <a:ext cx="6461563" cy="1454051"/>
          </a:xfrm>
        </p:spPr>
        <p:txBody>
          <a:bodyPr>
            <a:normAutofit/>
          </a:bodyPr>
          <a:lstStyle/>
          <a:p>
            <a:r>
              <a:rPr lang="en-AU" b="1" dirty="0">
                <a:solidFill>
                  <a:srgbClr val="000000"/>
                </a:solidFill>
              </a:rPr>
              <a:t>Descriptive v Inferential Statistics</a:t>
            </a:r>
          </a:p>
        </p:txBody>
      </p:sp>
      <p:sp>
        <p:nvSpPr>
          <p:cNvPr id="3" name="Content Placeholder 2">
            <a:extLst>
              <a:ext uri="{FF2B5EF4-FFF2-40B4-BE49-F238E27FC236}">
                <a16:creationId xmlns:a16="http://schemas.microsoft.com/office/drawing/2014/main" id="{C61E949E-FACB-475B-AFBD-BBE443D20E6E}"/>
              </a:ext>
            </a:extLst>
          </p:cNvPr>
          <p:cNvSpPr>
            <a:spLocks noGrp="1"/>
          </p:cNvSpPr>
          <p:nvPr>
            <p:ph idx="1"/>
          </p:nvPr>
        </p:nvSpPr>
        <p:spPr>
          <a:xfrm>
            <a:off x="152348" y="2387241"/>
            <a:ext cx="6731996" cy="4340524"/>
          </a:xfrm>
        </p:spPr>
        <p:txBody>
          <a:bodyPr anchor="ctr">
            <a:normAutofit/>
          </a:bodyPr>
          <a:lstStyle/>
          <a:p>
            <a:pPr marL="0" indent="0">
              <a:buNone/>
            </a:pPr>
            <a:r>
              <a:rPr lang="en-AU" sz="2000" b="1" dirty="0">
                <a:solidFill>
                  <a:srgbClr val="000000"/>
                </a:solidFill>
              </a:rPr>
              <a:t>Descriptive statistics </a:t>
            </a:r>
            <a:r>
              <a:rPr lang="en-AU" sz="2000" dirty="0">
                <a:solidFill>
                  <a:srgbClr val="000000"/>
                </a:solidFill>
              </a:rPr>
              <a:t>– organise and summarise a set of data.</a:t>
            </a:r>
          </a:p>
          <a:p>
            <a:pPr marL="0" indent="0">
              <a:buNone/>
            </a:pPr>
            <a:r>
              <a:rPr lang="en-AU" sz="2000" dirty="0">
                <a:solidFill>
                  <a:srgbClr val="000000"/>
                </a:solidFill>
              </a:rPr>
              <a:t>e.g. measures of central tendencies and measures of dispersions</a:t>
            </a:r>
          </a:p>
          <a:p>
            <a:pPr marL="0" indent="0">
              <a:buNone/>
            </a:pPr>
            <a:endParaRPr lang="en-AU" sz="2000" dirty="0">
              <a:solidFill>
                <a:srgbClr val="000000"/>
              </a:solidFill>
            </a:endParaRPr>
          </a:p>
          <a:p>
            <a:pPr marL="0" indent="0">
              <a:buNone/>
            </a:pPr>
            <a:r>
              <a:rPr lang="en-AU" sz="2000" b="1" dirty="0">
                <a:solidFill>
                  <a:srgbClr val="000000"/>
                </a:solidFill>
              </a:rPr>
              <a:t>Inferential statistics </a:t>
            </a:r>
            <a:r>
              <a:rPr lang="en-AU" sz="2000" dirty="0">
                <a:solidFill>
                  <a:srgbClr val="000000"/>
                </a:solidFill>
              </a:rPr>
              <a:t>– allow us to draw conclusions from the results and generalise these findings to the larger population</a:t>
            </a:r>
          </a:p>
          <a:p>
            <a:pPr marL="0" indent="0">
              <a:buNone/>
            </a:pPr>
            <a:endParaRPr lang="en-AU" sz="2000" dirty="0">
              <a:solidFill>
                <a:srgbClr val="000000"/>
              </a:solidFill>
            </a:endParaRPr>
          </a:p>
          <a:p>
            <a:pPr marL="0" indent="0">
              <a:buNone/>
            </a:pPr>
            <a:r>
              <a:rPr lang="en-AU" sz="2000" dirty="0">
                <a:solidFill>
                  <a:srgbClr val="000000"/>
                </a:solidFill>
              </a:rPr>
              <a:t>Determine the probability that the measured difference between two groups are due to chance and allow researchers to state with a level of confidence that their results are due to the IV affecting the DV.</a:t>
            </a:r>
          </a:p>
          <a:p>
            <a:pPr marL="0" indent="0">
              <a:buNone/>
            </a:pPr>
            <a:endParaRPr lang="en-AU" sz="2000" dirty="0">
              <a:solidFill>
                <a:srgbClr val="000000"/>
              </a:solidFill>
            </a:endParaRPr>
          </a:p>
          <a:p>
            <a:pPr marL="0" indent="0">
              <a:buNone/>
            </a:pPr>
            <a:endParaRPr lang="en-AU" sz="2000" dirty="0">
              <a:solidFill>
                <a:srgbClr val="000000"/>
              </a:solidFill>
            </a:endParaRPr>
          </a:p>
        </p:txBody>
      </p:sp>
      <p:sp>
        <p:nvSpPr>
          <p:cNvPr id="14" name="Freeform 62">
            <a:extLst>
              <a:ext uri="{FF2B5EF4-FFF2-40B4-BE49-F238E27FC236}">
                <a16:creationId xmlns:a16="http://schemas.microsoft.com/office/drawing/2014/main" id="{339C8D78-A644-462F-B674-F440635E53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191562" y="738619"/>
            <a:ext cx="5000438" cy="5400962"/>
          </a:xfrm>
          <a:custGeom>
            <a:avLst/>
            <a:gdLst>
              <a:gd name="connsiteX0" fmla="*/ 2299956 w 5000438"/>
              <a:gd name="connsiteY0" fmla="*/ 0 h 5400962"/>
              <a:gd name="connsiteX1" fmla="*/ 5000438 w 5000438"/>
              <a:gd name="connsiteY1" fmla="*/ 2700481 h 5400962"/>
              <a:gd name="connsiteX2" fmla="*/ 2299956 w 5000438"/>
              <a:gd name="connsiteY2" fmla="*/ 5400962 h 5400962"/>
              <a:gd name="connsiteX3" fmla="*/ 60675 w 5000438"/>
              <a:gd name="connsiteY3" fmla="*/ 4210346 h 5400962"/>
              <a:gd name="connsiteX4" fmla="*/ 0 w 5000438"/>
              <a:gd name="connsiteY4" fmla="*/ 4110472 h 5400962"/>
              <a:gd name="connsiteX5" fmla="*/ 0 w 5000438"/>
              <a:gd name="connsiteY5" fmla="*/ 1290491 h 5400962"/>
              <a:gd name="connsiteX6" fmla="*/ 60675 w 5000438"/>
              <a:gd name="connsiteY6" fmla="*/ 1190617 h 5400962"/>
              <a:gd name="connsiteX7" fmla="*/ 2299956 w 5000438"/>
              <a:gd name="connsiteY7" fmla="*/ 0 h 5400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00438" h="5400962">
                <a:moveTo>
                  <a:pt x="2299956" y="0"/>
                </a:moveTo>
                <a:cubicBezTo>
                  <a:pt x="3791390" y="0"/>
                  <a:pt x="5000438" y="1209047"/>
                  <a:pt x="5000438" y="2700481"/>
                </a:cubicBezTo>
                <a:cubicBezTo>
                  <a:pt x="5000438" y="4191915"/>
                  <a:pt x="3791390" y="5400962"/>
                  <a:pt x="2299956" y="5400962"/>
                </a:cubicBezTo>
                <a:cubicBezTo>
                  <a:pt x="1367810" y="5400962"/>
                  <a:pt x="545971" y="4928678"/>
                  <a:pt x="60675" y="4210346"/>
                </a:cubicBezTo>
                <a:lnTo>
                  <a:pt x="0" y="4110472"/>
                </a:lnTo>
                <a:lnTo>
                  <a:pt x="0" y="1290491"/>
                </a:lnTo>
                <a:lnTo>
                  <a:pt x="60675" y="1190617"/>
                </a:lnTo>
                <a:cubicBezTo>
                  <a:pt x="545971" y="472284"/>
                  <a:pt x="1367810" y="0"/>
                  <a:pt x="2299956" y="0"/>
                </a:cubicBezTo>
                <a:close/>
              </a:path>
            </a:pathLst>
          </a:custGeom>
          <a:solidFill>
            <a:srgbClr val="FFFFFF"/>
          </a:solidFill>
          <a:ln>
            <a:gradFill>
              <a:gsLst>
                <a:gs pos="0">
                  <a:schemeClr val="accent1">
                    <a:lumMod val="40000"/>
                    <a:lumOff val="60000"/>
                  </a:schemeClr>
                </a:gs>
                <a:gs pos="23000">
                  <a:schemeClr val="accent1">
                    <a:lumMod val="45000"/>
                    <a:lumOff val="55000"/>
                  </a:schemeClr>
                </a:gs>
                <a:gs pos="83000">
                  <a:schemeClr val="bg2">
                    <a:lumMod val="85000"/>
                  </a:schemeClr>
                </a:gs>
                <a:gs pos="100000">
                  <a:schemeClr val="bg2">
                    <a:lumMod val="8500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7" name="Graphic 6" descr="Statistics">
            <a:extLst>
              <a:ext uri="{FF2B5EF4-FFF2-40B4-BE49-F238E27FC236}">
                <a16:creationId xmlns:a16="http://schemas.microsoft.com/office/drawing/2014/main" id="{26AAF137-7C2F-4FB0-BB97-BCA33CD6766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121726" y="1629089"/>
            <a:ext cx="3620021" cy="3620021"/>
          </a:xfrm>
          <a:prstGeom prst="rect">
            <a:avLst/>
          </a:prstGeom>
        </p:spPr>
      </p:pic>
    </p:spTree>
    <p:extLst>
      <p:ext uri="{BB962C8B-B14F-4D97-AF65-F5344CB8AC3E}">
        <p14:creationId xmlns:p14="http://schemas.microsoft.com/office/powerpoint/2010/main" val="7348725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E6D9CF4-1A2D-4844-ADDE-1C94F9719E11}"/>
              </a:ext>
            </a:extLst>
          </p:cNvPr>
          <p:cNvSpPr>
            <a:spLocks noGrp="1"/>
          </p:cNvSpPr>
          <p:nvPr>
            <p:ph type="title"/>
          </p:nvPr>
        </p:nvSpPr>
        <p:spPr>
          <a:xfrm>
            <a:off x="808638" y="386930"/>
            <a:ext cx="9236700" cy="1188950"/>
          </a:xfrm>
        </p:spPr>
        <p:txBody>
          <a:bodyPr anchor="b">
            <a:normAutofit/>
          </a:bodyPr>
          <a:lstStyle/>
          <a:p>
            <a:r>
              <a:rPr lang="en-AU" sz="5400" dirty="0"/>
              <a:t>P values explained</a:t>
            </a:r>
          </a:p>
        </p:txBody>
      </p:sp>
      <p:grpSp>
        <p:nvGrpSpPr>
          <p:cNvPr id="10" name="Group 9">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11" name="Rectangle 10">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3C92283D-477A-42D7-96DA-0242C1029207}"/>
              </a:ext>
            </a:extLst>
          </p:cNvPr>
          <p:cNvSpPr>
            <a:spLocks noGrp="1"/>
          </p:cNvSpPr>
          <p:nvPr>
            <p:ph idx="1"/>
          </p:nvPr>
        </p:nvSpPr>
        <p:spPr>
          <a:xfrm>
            <a:off x="496919" y="2203079"/>
            <a:ext cx="10440409" cy="3831961"/>
          </a:xfrm>
        </p:spPr>
        <p:txBody>
          <a:bodyPr anchor="ctr">
            <a:normAutofit/>
          </a:bodyPr>
          <a:lstStyle/>
          <a:p>
            <a:r>
              <a:rPr lang="en-AU" sz="2200" dirty="0"/>
              <a:t>When are they used? Experimental research to show cause &amp; effect</a:t>
            </a:r>
          </a:p>
          <a:p>
            <a:pPr marL="0" indent="0">
              <a:buNone/>
            </a:pPr>
            <a:r>
              <a:rPr lang="en-AU" sz="2200" dirty="0"/>
              <a:t>The purpose of  P value is to test the hypothesis and to state whether the results are</a:t>
            </a:r>
          </a:p>
          <a:p>
            <a:pPr marL="0" indent="0">
              <a:buNone/>
            </a:pPr>
            <a:r>
              <a:rPr lang="en-AU" sz="2200" dirty="0"/>
              <a:t>- due to chance (or extraneous variables) or </a:t>
            </a:r>
          </a:p>
          <a:p>
            <a:pPr marL="0" indent="0">
              <a:buNone/>
            </a:pPr>
            <a:r>
              <a:rPr lang="en-AU" sz="2200" dirty="0"/>
              <a:t>- due to the manipulation of the IV. </a:t>
            </a:r>
          </a:p>
          <a:p>
            <a:pPr marL="0" indent="0">
              <a:buNone/>
            </a:pPr>
            <a:endParaRPr lang="en-AU" sz="2200" dirty="0"/>
          </a:p>
          <a:p>
            <a:r>
              <a:rPr lang="en-AU" sz="2200" dirty="0"/>
              <a:t>The p-value is a range from 0 to 1 with a </a:t>
            </a:r>
            <a:r>
              <a:rPr lang="en-AU" sz="2200" b="1" u="sng" dirty="0"/>
              <a:t>p-value of less than .05 being statistically significant. </a:t>
            </a:r>
            <a:r>
              <a:rPr lang="en-AU" sz="2200" dirty="0"/>
              <a:t>This means that the results have a </a:t>
            </a:r>
            <a:r>
              <a:rPr lang="en-AU" sz="2200" b="1" dirty="0"/>
              <a:t>less than 5% percent possibility of being due to chance and not the experimental conditions.</a:t>
            </a:r>
          </a:p>
        </p:txBody>
      </p:sp>
    </p:spTree>
    <p:extLst>
      <p:ext uri="{BB962C8B-B14F-4D97-AF65-F5344CB8AC3E}">
        <p14:creationId xmlns:p14="http://schemas.microsoft.com/office/powerpoint/2010/main" val="22872641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AD81F-1C91-4610-B046-306F92EA3A0E}"/>
              </a:ext>
            </a:extLst>
          </p:cNvPr>
          <p:cNvSpPr>
            <a:spLocks noGrp="1"/>
          </p:cNvSpPr>
          <p:nvPr>
            <p:ph type="title"/>
          </p:nvPr>
        </p:nvSpPr>
        <p:spPr>
          <a:xfrm>
            <a:off x="439561" y="233833"/>
            <a:ext cx="3878466" cy="1622321"/>
          </a:xfrm>
        </p:spPr>
        <p:txBody>
          <a:bodyPr>
            <a:normAutofit/>
          </a:bodyPr>
          <a:lstStyle/>
          <a:p>
            <a:r>
              <a:rPr lang="en-AU" sz="3700" b="1" dirty="0"/>
              <a:t>Reading and Describing P values</a:t>
            </a:r>
          </a:p>
        </p:txBody>
      </p:sp>
      <p:sp>
        <p:nvSpPr>
          <p:cNvPr id="3" name="Content Placeholder 2">
            <a:extLst>
              <a:ext uri="{FF2B5EF4-FFF2-40B4-BE49-F238E27FC236}">
                <a16:creationId xmlns:a16="http://schemas.microsoft.com/office/drawing/2014/main" id="{71A765C3-4BDF-4B80-A88C-340A79C98F52}"/>
              </a:ext>
            </a:extLst>
          </p:cNvPr>
          <p:cNvSpPr>
            <a:spLocks noGrp="1"/>
          </p:cNvSpPr>
          <p:nvPr>
            <p:ph idx="1"/>
          </p:nvPr>
        </p:nvSpPr>
        <p:spPr>
          <a:xfrm>
            <a:off x="648931" y="2438400"/>
            <a:ext cx="3505494" cy="3785419"/>
          </a:xfrm>
        </p:spPr>
        <p:txBody>
          <a:bodyPr>
            <a:normAutofit lnSpcReduction="10000"/>
          </a:bodyPr>
          <a:lstStyle/>
          <a:p>
            <a:pPr marL="0" indent="0">
              <a:buNone/>
            </a:pPr>
            <a:r>
              <a:rPr lang="en-AU" sz="2000" dirty="0"/>
              <a:t>P &gt; .05  reads as “the probability is greater than 5%”</a:t>
            </a:r>
          </a:p>
          <a:p>
            <a:pPr marL="0" indent="0">
              <a:buNone/>
            </a:pPr>
            <a:endParaRPr lang="en-AU" sz="2000" dirty="0"/>
          </a:p>
          <a:p>
            <a:pPr marL="0" indent="0">
              <a:buNone/>
            </a:pPr>
            <a:r>
              <a:rPr lang="en-AU" sz="2000" dirty="0"/>
              <a:t>P &lt; .03 reads as “the probability is less than 3%”</a:t>
            </a:r>
          </a:p>
          <a:p>
            <a:pPr marL="0" indent="0">
              <a:buNone/>
            </a:pPr>
            <a:endParaRPr lang="en-AU" sz="2000" dirty="0"/>
          </a:p>
          <a:p>
            <a:pPr marL="0" indent="0">
              <a:buNone/>
            </a:pPr>
            <a:r>
              <a:rPr lang="en-AU" sz="2000" b="1" dirty="0"/>
              <a:t>Researchers want a small P </a:t>
            </a:r>
            <a:r>
              <a:rPr lang="en-AU" sz="2000" dirty="0"/>
              <a:t>value so that they can state with some confidence that their results are due to the IV impacting the DV and not chance / extraneous variables</a:t>
            </a:r>
          </a:p>
          <a:p>
            <a:pPr marL="0" indent="0">
              <a:buNone/>
            </a:pPr>
            <a:endParaRPr lang="en-AU" sz="2000" dirty="0"/>
          </a:p>
        </p:txBody>
      </p:sp>
      <p:sp>
        <p:nvSpPr>
          <p:cNvPr id="9" name="Rectangle 8">
            <a:extLst>
              <a:ext uri="{FF2B5EF4-FFF2-40B4-BE49-F238E27FC236}">
                <a16:creationId xmlns:a16="http://schemas.microsoft.com/office/drawing/2014/main" id="{5E39A796-BE83-48B1-B33F-35C4A32AAB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9056" y="0"/>
            <a:ext cx="7552944" cy="6858000"/>
          </a:xfrm>
          <a:prstGeom prst="rect">
            <a:avLst/>
          </a:prstGeom>
          <a:solidFill>
            <a:srgbClr val="C8CA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Rounded Rectangle 9">
            <a:extLst>
              <a:ext uri="{FF2B5EF4-FFF2-40B4-BE49-F238E27FC236}">
                <a16:creationId xmlns:a16="http://schemas.microsoft.com/office/drawing/2014/main" id="{72F84B47-E267-4194-8194-831DB7B55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123688" y="557784"/>
            <a:ext cx="6584098" cy="5739187"/>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C6C70E23-4C89-46DC-BAFB-0225D378D3A1}"/>
              </a:ext>
            </a:extLst>
          </p:cNvPr>
          <p:cNvPicPr/>
          <p:nvPr/>
        </p:nvPicPr>
        <p:blipFill>
          <a:blip r:embed="rId2"/>
          <a:stretch>
            <a:fillRect/>
          </a:stretch>
        </p:blipFill>
        <p:spPr>
          <a:xfrm>
            <a:off x="5405862" y="832869"/>
            <a:ext cx="6019331" cy="2046571"/>
          </a:xfrm>
          <a:prstGeom prst="rect">
            <a:avLst/>
          </a:prstGeom>
          <a:effectLst/>
        </p:spPr>
      </p:pic>
      <p:sp>
        <p:nvSpPr>
          <p:cNvPr id="5" name="TextBox 4">
            <a:extLst>
              <a:ext uri="{FF2B5EF4-FFF2-40B4-BE49-F238E27FC236}">
                <a16:creationId xmlns:a16="http://schemas.microsoft.com/office/drawing/2014/main" id="{AA17523D-ECCE-4C71-BF88-63EA63F2C119}"/>
              </a:ext>
            </a:extLst>
          </p:cNvPr>
          <p:cNvSpPr txBox="1"/>
          <p:nvPr/>
        </p:nvSpPr>
        <p:spPr>
          <a:xfrm>
            <a:off x="5499279" y="3978417"/>
            <a:ext cx="6043790" cy="4093428"/>
          </a:xfrm>
          <a:prstGeom prst="rect">
            <a:avLst/>
          </a:prstGeom>
          <a:noFill/>
        </p:spPr>
        <p:txBody>
          <a:bodyPr wrap="square" numCol="2"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7 &gt; 6</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8 &lt; 9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4 &lt; 2</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6 &gt; 3</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P &lt; .3</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P &gt; .05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P &gt; .04</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rPr>
              <a:t>P &lt; .01</a:t>
            </a:r>
          </a:p>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2B16BEE-789E-4AA0-BF7C-F7F256EFD9C7}"/>
              </a:ext>
            </a:extLst>
          </p:cNvPr>
          <p:cNvSpPr txBox="1"/>
          <p:nvPr/>
        </p:nvSpPr>
        <p:spPr>
          <a:xfrm>
            <a:off x="5486400" y="3078051"/>
            <a:ext cx="6221386" cy="52322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AU" sz="2800" b="0" i="0" u="none" strike="noStrike" kern="1200" cap="none" spc="0" normalizeH="0" baseline="0" noProof="0">
                <a:ln>
                  <a:noFill/>
                </a:ln>
                <a:solidFill>
                  <a:prstClr val="black"/>
                </a:solidFill>
                <a:effectLst/>
                <a:uLnTx/>
                <a:uFillTx/>
                <a:latin typeface="Calibri" panose="020F0502020204030204"/>
                <a:ea typeface="+mn-ea"/>
                <a:cs typeface="+mn-cs"/>
              </a:rPr>
              <a:t>Practice what do these read as:</a:t>
            </a:r>
            <a:endParaRPr kumimoji="0" lang="en-AU" sz="2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2213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5FDD1456-97F3-0649-8214-63359062504B}"/>
              </a:ext>
            </a:extLst>
          </p:cNvPr>
          <p:cNvSpPr>
            <a:spLocks noGrp="1"/>
          </p:cNvSpPr>
          <p:nvPr>
            <p:ph type="title"/>
          </p:nvPr>
        </p:nvSpPr>
        <p:spPr>
          <a:xfrm>
            <a:off x="838200" y="365125"/>
            <a:ext cx="5181600" cy="1325563"/>
          </a:xfrm>
        </p:spPr>
        <p:txBody>
          <a:bodyPr/>
          <a:lstStyle/>
          <a:p>
            <a:r>
              <a:rPr lang="en-US" dirty="0"/>
              <a:t>P &gt; 0.05</a:t>
            </a:r>
            <a:br>
              <a:rPr lang="en-US" sz="1600" dirty="0"/>
            </a:br>
            <a:r>
              <a:rPr lang="en-US" sz="1600" dirty="0"/>
              <a:t>This reads as: the probability is greater than 5%</a:t>
            </a:r>
            <a:endParaRPr lang="en-US" dirty="0"/>
          </a:p>
        </p:txBody>
      </p:sp>
      <p:sp>
        <p:nvSpPr>
          <p:cNvPr id="5" name="Content Placeholder 4">
            <a:extLst>
              <a:ext uri="{FF2B5EF4-FFF2-40B4-BE49-F238E27FC236}">
                <a16:creationId xmlns:a16="http://schemas.microsoft.com/office/drawing/2014/main" id="{DB1B807C-7A04-824E-9ABC-FDC392550C3C}"/>
              </a:ext>
            </a:extLst>
          </p:cNvPr>
          <p:cNvSpPr>
            <a:spLocks noGrp="1"/>
          </p:cNvSpPr>
          <p:nvPr>
            <p:ph sz="half" idx="1"/>
          </p:nvPr>
        </p:nvSpPr>
        <p:spPr/>
        <p:txBody>
          <a:bodyPr>
            <a:normAutofit fontScale="92500" lnSpcReduction="10000"/>
          </a:bodyPr>
          <a:lstStyle/>
          <a:p>
            <a:pPr marL="0" indent="0">
              <a:buNone/>
            </a:pPr>
            <a:r>
              <a:rPr lang="en-US" dirty="0"/>
              <a:t>The conclusions you can draw:</a:t>
            </a:r>
          </a:p>
          <a:p>
            <a:pPr>
              <a:buFontTx/>
              <a:buChar char="-"/>
            </a:pPr>
            <a:r>
              <a:rPr lang="en-AU" b="1" dirty="0"/>
              <a:t>The results are statistically insignificant</a:t>
            </a:r>
          </a:p>
          <a:p>
            <a:pPr>
              <a:buFontTx/>
              <a:buChar char="-"/>
            </a:pPr>
            <a:r>
              <a:rPr lang="en-AU" b="1" dirty="0"/>
              <a:t>The operational hypothesis is rejected </a:t>
            </a:r>
          </a:p>
          <a:p>
            <a:pPr>
              <a:buFontTx/>
              <a:buChar char="-"/>
            </a:pPr>
            <a:r>
              <a:rPr lang="en-AU" dirty="0"/>
              <a:t>as there is over a 5% probability that results are due to chance</a:t>
            </a:r>
          </a:p>
          <a:p>
            <a:pPr>
              <a:buFontTx/>
              <a:buChar char="-"/>
            </a:pPr>
            <a:r>
              <a:rPr lang="en-AU" dirty="0"/>
              <a:t>The difference between the experimental and control group is not due to the IV being manipulated.</a:t>
            </a:r>
          </a:p>
          <a:p>
            <a:pPr marL="0" indent="0">
              <a:buNone/>
            </a:pPr>
            <a:endParaRPr lang="en-US" dirty="0"/>
          </a:p>
        </p:txBody>
      </p:sp>
      <p:sp>
        <p:nvSpPr>
          <p:cNvPr id="6" name="Content Placeholder 5">
            <a:extLst>
              <a:ext uri="{FF2B5EF4-FFF2-40B4-BE49-F238E27FC236}">
                <a16:creationId xmlns:a16="http://schemas.microsoft.com/office/drawing/2014/main" id="{A7F2618A-0189-0646-BED1-05BB4267FA8C}"/>
              </a:ext>
            </a:extLst>
          </p:cNvPr>
          <p:cNvSpPr>
            <a:spLocks noGrp="1"/>
          </p:cNvSpPr>
          <p:nvPr>
            <p:ph sz="half" idx="2"/>
          </p:nvPr>
        </p:nvSpPr>
        <p:spPr/>
        <p:txBody>
          <a:bodyPr>
            <a:normAutofit fontScale="92500" lnSpcReduction="10000"/>
          </a:bodyPr>
          <a:lstStyle/>
          <a:p>
            <a:pPr marL="0" indent="0">
              <a:buNone/>
            </a:pPr>
            <a:r>
              <a:rPr lang="en-US" dirty="0"/>
              <a:t>The conclusions you can draw:</a:t>
            </a:r>
          </a:p>
          <a:p>
            <a:pPr>
              <a:buFontTx/>
              <a:buChar char="-"/>
            </a:pPr>
            <a:r>
              <a:rPr lang="en-AU" b="1" dirty="0"/>
              <a:t>The results are statistically significant </a:t>
            </a:r>
          </a:p>
          <a:p>
            <a:pPr>
              <a:buFontTx/>
              <a:buChar char="-"/>
            </a:pPr>
            <a:r>
              <a:rPr lang="en-AU" dirty="0"/>
              <a:t>The operational hypothesis is supported.</a:t>
            </a:r>
          </a:p>
          <a:p>
            <a:pPr>
              <a:buFontTx/>
              <a:buChar char="-"/>
            </a:pPr>
            <a:r>
              <a:rPr lang="en-GB" dirty="0"/>
              <a:t>The difference between the experimental and control groups is due to the </a:t>
            </a:r>
            <a:r>
              <a:rPr lang="en-GB" b="1" dirty="0"/>
              <a:t>Independent variable being manipulated and not due to chance.</a:t>
            </a:r>
            <a:endParaRPr lang="en-US" dirty="0"/>
          </a:p>
          <a:p>
            <a:pPr marL="0" indent="0">
              <a:buNone/>
            </a:pPr>
            <a:endParaRPr lang="en-US" dirty="0"/>
          </a:p>
        </p:txBody>
      </p:sp>
      <p:sp>
        <p:nvSpPr>
          <p:cNvPr id="7" name="Title 3">
            <a:extLst>
              <a:ext uri="{FF2B5EF4-FFF2-40B4-BE49-F238E27FC236}">
                <a16:creationId xmlns:a16="http://schemas.microsoft.com/office/drawing/2014/main" id="{B19AEE39-5167-F247-A1E6-033B9C4B28E9}"/>
              </a:ext>
            </a:extLst>
          </p:cNvPr>
          <p:cNvSpPr txBox="1">
            <a:spLocks/>
          </p:cNvSpPr>
          <p:nvPr/>
        </p:nvSpPr>
        <p:spPr>
          <a:xfrm>
            <a:off x="6172200" y="365124"/>
            <a:ext cx="5181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rPr>
              <a:t>P &lt; 0.05</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Light" panose="020F0302020204030204"/>
                <a:ea typeface="+mj-ea"/>
                <a:cs typeface="+mj-cs"/>
              </a:rPr>
              <a:t>This reads as: the probability is less than 5%</a:t>
            </a:r>
            <a:endParaRPr kumimoji="0" lang="en-US" sz="4400" b="0" i="0" u="none" strike="noStrike" kern="1200" cap="none" spc="0" normalizeH="0" baseline="0" noProof="0" dirty="0">
              <a:ln>
                <a:noFill/>
              </a:ln>
              <a:solidFill>
                <a:prstClr val="black"/>
              </a:solidFill>
              <a:effectLst/>
              <a:uLnTx/>
              <a:uFillTx/>
              <a:latin typeface="Calibri Light" panose="020F0302020204030204"/>
              <a:ea typeface="+mj-ea"/>
              <a:cs typeface="+mj-cs"/>
            </a:endParaRPr>
          </a:p>
        </p:txBody>
      </p:sp>
    </p:spTree>
    <p:extLst>
      <p:ext uri="{BB962C8B-B14F-4D97-AF65-F5344CB8AC3E}">
        <p14:creationId xmlns:p14="http://schemas.microsoft.com/office/powerpoint/2010/main" val="21068995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5FA50-8D52-4617-AF91-5C7B1C835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16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AA676B5-B07D-4ED6-BF2C-3A2FF6CF35E6}"/>
              </a:ext>
            </a:extLst>
          </p:cNvPr>
          <p:cNvSpPr>
            <a:spLocks noGrp="1"/>
          </p:cNvSpPr>
          <p:nvPr>
            <p:ph type="title"/>
          </p:nvPr>
        </p:nvSpPr>
        <p:spPr>
          <a:xfrm>
            <a:off x="8735740" y="542293"/>
            <a:ext cx="3342890" cy="2168243"/>
          </a:xfrm>
          <a:solidFill>
            <a:schemeClr val="bg1"/>
          </a:solidFill>
        </p:spPr>
        <p:txBody>
          <a:bodyPr vert="horz" lIns="91440" tIns="45720" rIns="91440" bIns="45720" rtlCol="0" anchor="ctr">
            <a:normAutofit/>
          </a:bodyPr>
          <a:lstStyle/>
          <a:p>
            <a:r>
              <a:rPr lang="en-US" sz="3300" dirty="0"/>
              <a:t>1. Which group shows the most difference from pre to post test?</a:t>
            </a:r>
            <a:r>
              <a:rPr lang="en-US" sz="3300" dirty="0">
                <a:solidFill>
                  <a:srgbClr val="FFFFFF"/>
                </a:solidFill>
              </a:rPr>
              <a:t>?</a:t>
            </a:r>
          </a:p>
        </p:txBody>
      </p:sp>
      <p:sp>
        <p:nvSpPr>
          <p:cNvPr id="20"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B8B8593C-D113-C04B-89A0-5BFD7787AD8C}"/>
              </a:ext>
            </a:extLst>
          </p:cNvPr>
          <p:cNvPicPr>
            <a:picLocks noChangeAspect="1"/>
          </p:cNvPicPr>
          <p:nvPr/>
        </p:nvPicPr>
        <p:blipFill>
          <a:blip r:embed="rId2"/>
          <a:stretch>
            <a:fillRect/>
          </a:stretch>
        </p:blipFill>
        <p:spPr>
          <a:xfrm>
            <a:off x="1110959" y="649224"/>
            <a:ext cx="6893805" cy="5214047"/>
          </a:xfrm>
          <a:prstGeom prst="rect">
            <a:avLst/>
          </a:prstGeom>
        </p:spPr>
      </p:pic>
      <p:sp>
        <p:nvSpPr>
          <p:cNvPr id="5" name="TextBox 4">
            <a:extLst>
              <a:ext uri="{FF2B5EF4-FFF2-40B4-BE49-F238E27FC236}">
                <a16:creationId xmlns:a16="http://schemas.microsoft.com/office/drawing/2014/main" id="{E1B9F069-5F72-724F-A1F0-88EEC2A6E5C6}"/>
              </a:ext>
            </a:extLst>
          </p:cNvPr>
          <p:cNvSpPr txBox="1"/>
          <p:nvPr/>
        </p:nvSpPr>
        <p:spPr>
          <a:xfrm rot="16200000">
            <a:off x="-295206" y="953153"/>
            <a:ext cx="977191" cy="369332"/>
          </a:xfrm>
          <a:prstGeom prst="rect">
            <a:avLst/>
          </a:prstGeom>
          <a:solidFill>
            <a:schemeClr val="accent6"/>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Example</a:t>
            </a:r>
          </a:p>
        </p:txBody>
      </p:sp>
      <p:sp>
        <p:nvSpPr>
          <p:cNvPr id="10" name="Title 1">
            <a:extLst>
              <a:ext uri="{FF2B5EF4-FFF2-40B4-BE49-F238E27FC236}">
                <a16:creationId xmlns:a16="http://schemas.microsoft.com/office/drawing/2014/main" id="{B6234880-7BBB-6C49-B1A9-5009E2C00212}"/>
              </a:ext>
            </a:extLst>
          </p:cNvPr>
          <p:cNvSpPr txBox="1">
            <a:spLocks/>
          </p:cNvSpPr>
          <p:nvPr/>
        </p:nvSpPr>
        <p:spPr>
          <a:xfrm>
            <a:off x="8735740" y="2820142"/>
            <a:ext cx="3342890" cy="2168243"/>
          </a:xfrm>
          <a:prstGeom prst="rect">
            <a:avLst/>
          </a:prstGeom>
          <a:solidFill>
            <a:schemeClr val="bg1"/>
          </a:solidFill>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0" i="0" u="none" strike="noStrike" kern="1200" cap="none" spc="0" normalizeH="0" baseline="0" noProof="0" dirty="0">
                <a:ln>
                  <a:noFill/>
                </a:ln>
                <a:solidFill>
                  <a:prstClr val="black"/>
                </a:solidFill>
                <a:effectLst/>
                <a:uLnTx/>
                <a:uFillTx/>
                <a:latin typeface="Calibri Light" panose="020F0302020204030204"/>
                <a:ea typeface="+mj-ea"/>
                <a:cs typeface="+mj-cs"/>
              </a:rPr>
              <a:t>2. Are the results statistically significant if </a:t>
            </a:r>
          </a:p>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300" b="0" i="0" u="none" strike="noStrike" kern="1200" cap="none" spc="0" normalizeH="0" baseline="0" noProof="0" dirty="0">
                <a:ln>
                  <a:noFill/>
                </a:ln>
                <a:solidFill>
                  <a:prstClr val="black"/>
                </a:solidFill>
                <a:effectLst/>
                <a:uLnTx/>
                <a:uFillTx/>
                <a:latin typeface="Calibri Light" panose="020F0302020204030204"/>
                <a:ea typeface="+mj-ea"/>
                <a:cs typeface="+mj-cs"/>
              </a:rPr>
              <a:t>p &gt;0.05?</a:t>
            </a:r>
            <a:r>
              <a:rPr kumimoji="0" lang="en-US" sz="3300" b="0" i="0" u="none" strike="noStrike" kern="1200" cap="none" spc="0" normalizeH="0" baseline="0" noProof="0" dirty="0">
                <a:ln>
                  <a:noFill/>
                </a:ln>
                <a:solidFill>
                  <a:srgbClr val="FFFFFF"/>
                </a:solidFill>
                <a:effectLst/>
                <a:uLnTx/>
                <a:uFillTx/>
                <a:latin typeface="Calibri Light" panose="020F0302020204030204"/>
                <a:ea typeface="+mj-ea"/>
                <a:cs typeface="+mj-cs"/>
              </a:rPr>
              <a:t>?</a:t>
            </a:r>
          </a:p>
        </p:txBody>
      </p:sp>
    </p:spTree>
    <p:extLst>
      <p:ext uri="{BB962C8B-B14F-4D97-AF65-F5344CB8AC3E}">
        <p14:creationId xmlns:p14="http://schemas.microsoft.com/office/powerpoint/2010/main" val="18543949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16C5FA50-8D52-4617-AF91-5C7B1C835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41645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AA676B5-B07D-4ED6-BF2C-3A2FF6CF35E6}"/>
              </a:ext>
            </a:extLst>
          </p:cNvPr>
          <p:cNvSpPr>
            <a:spLocks noGrp="1"/>
          </p:cNvSpPr>
          <p:nvPr>
            <p:ph type="title"/>
          </p:nvPr>
        </p:nvSpPr>
        <p:spPr>
          <a:xfrm>
            <a:off x="9093495" y="618681"/>
            <a:ext cx="2927519" cy="4794567"/>
          </a:xfrm>
          <a:solidFill>
            <a:schemeClr val="bg1"/>
          </a:solidFill>
        </p:spPr>
        <p:txBody>
          <a:bodyPr vert="horz" lIns="91440" tIns="45720" rIns="91440" bIns="45720" rtlCol="0" anchor="ctr">
            <a:normAutofit/>
          </a:bodyPr>
          <a:lstStyle/>
          <a:p>
            <a:r>
              <a:rPr lang="en-US" sz="3300" dirty="0"/>
              <a:t>Worked example of the conclusions you can draw for insignificant results or a P greater than .07 (p &gt; .07)</a:t>
            </a:r>
          </a:p>
        </p:txBody>
      </p:sp>
      <p:sp>
        <p:nvSpPr>
          <p:cNvPr id="20"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Content Placeholder 5">
            <a:extLst>
              <a:ext uri="{FF2B5EF4-FFF2-40B4-BE49-F238E27FC236}">
                <a16:creationId xmlns:a16="http://schemas.microsoft.com/office/drawing/2014/main" id="{36F962E1-A8E3-4CA0-B5E4-0F6BEBAC0A37}"/>
              </a:ext>
            </a:extLst>
          </p:cNvPr>
          <p:cNvPicPr>
            <a:picLocks noGrp="1" noChangeAspect="1"/>
          </p:cNvPicPr>
          <p:nvPr>
            <p:ph idx="1"/>
          </p:nvPr>
        </p:nvPicPr>
        <p:blipFill rotWithShape="1">
          <a:blip r:embed="rId2"/>
          <a:srcRect b="4787"/>
          <a:stretch/>
        </p:blipFill>
        <p:spPr>
          <a:xfrm>
            <a:off x="976251" y="942538"/>
            <a:ext cx="7163222" cy="4808332"/>
          </a:xfrm>
          <a:prstGeom prst="rect">
            <a:avLst/>
          </a:prstGeom>
          <a:effectLst/>
        </p:spPr>
      </p:pic>
      <p:sp>
        <p:nvSpPr>
          <p:cNvPr id="7" name="TextBox 6">
            <a:extLst>
              <a:ext uri="{FF2B5EF4-FFF2-40B4-BE49-F238E27FC236}">
                <a16:creationId xmlns:a16="http://schemas.microsoft.com/office/drawing/2014/main" id="{6FC06CFF-1A11-5048-9AF5-FCEB6E057933}"/>
              </a:ext>
            </a:extLst>
          </p:cNvPr>
          <p:cNvSpPr txBox="1"/>
          <p:nvPr/>
        </p:nvSpPr>
        <p:spPr>
          <a:xfrm rot="16200000">
            <a:off x="-295206" y="953153"/>
            <a:ext cx="977191" cy="369332"/>
          </a:xfrm>
          <a:prstGeom prst="rect">
            <a:avLst/>
          </a:prstGeom>
          <a:solidFill>
            <a:schemeClr val="accent6"/>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Example</a:t>
            </a:r>
          </a:p>
        </p:txBody>
      </p:sp>
    </p:spTree>
    <p:extLst>
      <p:ext uri="{BB962C8B-B14F-4D97-AF65-F5344CB8AC3E}">
        <p14:creationId xmlns:p14="http://schemas.microsoft.com/office/powerpoint/2010/main" val="3454384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6C5FA50-8D52-4617-AF91-5C7B1C8352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rgbClr val="3F5E5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C5EE7A9-A811-4843-A7F3-E1AB265F8ACF}"/>
              </a:ext>
            </a:extLst>
          </p:cNvPr>
          <p:cNvSpPr>
            <a:spLocks noGrp="1"/>
          </p:cNvSpPr>
          <p:nvPr>
            <p:ph type="title"/>
          </p:nvPr>
        </p:nvSpPr>
        <p:spPr>
          <a:xfrm>
            <a:off x="9093496" y="618681"/>
            <a:ext cx="2613872" cy="4794567"/>
          </a:xfrm>
          <a:solidFill>
            <a:schemeClr val="bg1"/>
          </a:solidFill>
        </p:spPr>
        <p:txBody>
          <a:bodyPr vert="horz" lIns="91440" tIns="45720" rIns="91440" bIns="45720" rtlCol="0" anchor="ctr">
            <a:normAutofit fontScale="90000"/>
          </a:bodyPr>
          <a:lstStyle/>
          <a:p>
            <a:r>
              <a:rPr lang="en-US" sz="3600" dirty="0"/>
              <a:t>Worked example of the conclusions you can draw for significant results or a P less than .05 (p &gt; .02)</a:t>
            </a:r>
          </a:p>
        </p:txBody>
      </p:sp>
      <p:sp>
        <p:nvSpPr>
          <p:cNvPr id="11" name="Rounded Rectangle 9">
            <a:extLst>
              <a:ext uri="{FF2B5EF4-FFF2-40B4-BE49-F238E27FC236}">
                <a16:creationId xmlns:a16="http://schemas.microsoft.com/office/drawing/2014/main" id="{E223798C-12AD-4B0C-A50C-D676347D6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3354" y="484632"/>
            <a:ext cx="8129016" cy="5724144"/>
          </a:xfrm>
          <a:prstGeom prst="roundRect">
            <a:avLst>
              <a:gd name="adj" fmla="val 0"/>
            </a:avLst>
          </a:prstGeom>
          <a:solidFill>
            <a:srgbClr val="FFFFFF"/>
          </a:solidFill>
          <a:ln w="9525">
            <a:solidFill>
              <a:srgbClr val="C8CACA"/>
            </a:solidFill>
          </a:ln>
          <a:effectLst>
            <a:outerShdw blurRad="57150" dist="19050" dir="5400000" algn="t" rotWithShape="0">
              <a:prstClr val="black">
                <a:alpha val="6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a:extLst>
              <a:ext uri="{FF2B5EF4-FFF2-40B4-BE49-F238E27FC236}">
                <a16:creationId xmlns:a16="http://schemas.microsoft.com/office/drawing/2014/main" id="{365E4ECC-715B-4051-BF61-AAEE9A15E6F0}"/>
              </a:ext>
            </a:extLst>
          </p:cNvPr>
          <p:cNvPicPr>
            <a:picLocks noGrp="1" noChangeAspect="1"/>
          </p:cNvPicPr>
          <p:nvPr>
            <p:ph idx="1"/>
          </p:nvPr>
        </p:nvPicPr>
        <p:blipFill rotWithShape="1">
          <a:blip r:embed="rId2"/>
          <a:srcRect b="3417"/>
          <a:stretch/>
        </p:blipFill>
        <p:spPr>
          <a:xfrm>
            <a:off x="976251" y="942538"/>
            <a:ext cx="7163222" cy="4808332"/>
          </a:xfrm>
          <a:prstGeom prst="rect">
            <a:avLst/>
          </a:prstGeom>
          <a:effectLst/>
        </p:spPr>
      </p:pic>
      <p:sp>
        <p:nvSpPr>
          <p:cNvPr id="6" name="TextBox 5">
            <a:extLst>
              <a:ext uri="{FF2B5EF4-FFF2-40B4-BE49-F238E27FC236}">
                <a16:creationId xmlns:a16="http://schemas.microsoft.com/office/drawing/2014/main" id="{4C429741-DDFC-F242-9577-BA9702E2008E}"/>
              </a:ext>
            </a:extLst>
          </p:cNvPr>
          <p:cNvSpPr txBox="1"/>
          <p:nvPr/>
        </p:nvSpPr>
        <p:spPr>
          <a:xfrm rot="16200000">
            <a:off x="-295206" y="953153"/>
            <a:ext cx="977191" cy="369332"/>
          </a:xfrm>
          <a:prstGeom prst="rect">
            <a:avLst/>
          </a:prstGeom>
          <a:solidFill>
            <a:schemeClr val="accent6"/>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Example</a:t>
            </a:r>
          </a:p>
        </p:txBody>
      </p:sp>
    </p:spTree>
    <p:extLst>
      <p:ext uri="{BB962C8B-B14F-4D97-AF65-F5344CB8AC3E}">
        <p14:creationId xmlns:p14="http://schemas.microsoft.com/office/powerpoint/2010/main" val="1862740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0F24D38-B79E-44B4-830E-043F45D96D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45BFF79-0C47-4AA2-B1DE-388765C0B76E}"/>
              </a:ext>
            </a:extLst>
          </p:cNvPr>
          <p:cNvSpPr>
            <a:spLocks noGrp="1"/>
          </p:cNvSpPr>
          <p:nvPr>
            <p:ph type="title"/>
          </p:nvPr>
        </p:nvSpPr>
        <p:spPr>
          <a:xfrm>
            <a:off x="838200" y="620742"/>
            <a:ext cx="10515600" cy="1325563"/>
          </a:xfrm>
        </p:spPr>
        <p:txBody>
          <a:bodyPr vert="horz" lIns="91440" tIns="45720" rIns="91440" bIns="45720" rtlCol="0" anchor="ctr">
            <a:normAutofit/>
          </a:bodyPr>
          <a:lstStyle/>
          <a:p>
            <a:r>
              <a:rPr lang="en-US" kern="1200" dirty="0">
                <a:solidFill>
                  <a:srgbClr val="FFFFFF"/>
                </a:solidFill>
                <a:latin typeface="+mj-lt"/>
                <a:ea typeface="+mj-ea"/>
                <a:cs typeface="+mj-cs"/>
              </a:rPr>
              <a:t>Let's act!</a:t>
            </a:r>
          </a:p>
        </p:txBody>
      </p:sp>
      <p:cxnSp>
        <p:nvCxnSpPr>
          <p:cNvPr id="11" name="Straight Connector 10">
            <a:extLst>
              <a:ext uri="{FF2B5EF4-FFF2-40B4-BE49-F238E27FC236}">
                <a16:creationId xmlns:a16="http://schemas.microsoft.com/office/drawing/2014/main" id="{FC469874-256B-45B3-A79C-7591B4BA1EC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rgbClr val="FFFFFF">
                <a:alpha val="80000"/>
              </a:srgb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2C4EB7E-1A42-4B9E-B6D7-9057F9622FB5}"/>
              </a:ext>
            </a:extLst>
          </p:cNvPr>
          <p:cNvSpPr>
            <a:spLocks noGrp="1"/>
          </p:cNvSpPr>
          <p:nvPr>
            <p:ph idx="1"/>
          </p:nvPr>
        </p:nvSpPr>
        <p:spPr>
          <a:xfrm>
            <a:off x="258651" y="2214829"/>
            <a:ext cx="5097780" cy="3910617"/>
          </a:xfrm>
        </p:spPr>
        <p:txBody>
          <a:bodyPr vert="horz" lIns="91440" tIns="45720" rIns="91440" bIns="45720" rtlCol="0">
            <a:normAutofit lnSpcReduction="10000"/>
          </a:bodyPr>
          <a:lstStyle/>
          <a:p>
            <a:pPr marL="0" indent="0">
              <a:buNone/>
            </a:pPr>
            <a:r>
              <a:rPr lang="en-US" sz="1900" dirty="0">
                <a:solidFill>
                  <a:srgbClr val="FFFFFF"/>
                </a:solidFill>
              </a:rPr>
              <a:t>Instructions:</a:t>
            </a:r>
          </a:p>
          <a:p>
            <a:pPr marL="0" indent="0">
              <a:buNone/>
            </a:pPr>
            <a:r>
              <a:rPr lang="en-US" sz="1900" dirty="0">
                <a:solidFill>
                  <a:srgbClr val="FFFFFF"/>
                </a:solidFill>
              </a:rPr>
              <a:t>Partner up</a:t>
            </a:r>
          </a:p>
          <a:p>
            <a:pPr marL="0" indent="0">
              <a:buNone/>
            </a:pPr>
            <a:r>
              <a:rPr lang="en-US" sz="1900" dirty="0">
                <a:solidFill>
                  <a:srgbClr val="FFFFFF"/>
                </a:solidFill>
              </a:rPr>
              <a:t>Person 1: A year 7 </a:t>
            </a:r>
          </a:p>
          <a:p>
            <a:pPr marL="0" indent="0">
              <a:buNone/>
            </a:pPr>
            <a:r>
              <a:rPr lang="en-US" sz="1900" dirty="0">
                <a:solidFill>
                  <a:srgbClr val="FFFFFF"/>
                </a:solidFill>
              </a:rPr>
              <a:t>Person 2: A teacher</a:t>
            </a:r>
          </a:p>
          <a:p>
            <a:pPr marL="0" indent="0">
              <a:buNone/>
            </a:pPr>
            <a:r>
              <a:rPr lang="en-US" sz="1900" dirty="0">
                <a:solidFill>
                  <a:srgbClr val="FFFFFF"/>
                </a:solidFill>
              </a:rPr>
              <a:t>After each question switch roles.</a:t>
            </a:r>
          </a:p>
          <a:p>
            <a:pPr marL="0"/>
            <a:endParaRPr lang="en-US" sz="1900" dirty="0">
              <a:solidFill>
                <a:srgbClr val="FFFFFF"/>
              </a:solidFill>
            </a:endParaRPr>
          </a:p>
          <a:p>
            <a:pPr marL="0" indent="0">
              <a:buNone/>
            </a:pPr>
            <a:r>
              <a:rPr lang="en-US" sz="1900" dirty="0">
                <a:solidFill>
                  <a:srgbClr val="FFFFFF"/>
                </a:solidFill>
              </a:rPr>
              <a:t>You are acting the part and trying to explain the answer to a year 7 so simple language, relate it to them and use examples.</a:t>
            </a:r>
          </a:p>
          <a:p>
            <a:pPr marL="0" indent="0">
              <a:buNone/>
            </a:pPr>
            <a:r>
              <a:rPr lang="en-US" sz="1900" dirty="0">
                <a:solidFill>
                  <a:srgbClr val="FFFFFF"/>
                </a:solidFill>
              </a:rPr>
              <a:t>This is a form of active rehearsal to strengthen the neural networks.</a:t>
            </a:r>
          </a:p>
          <a:p>
            <a:pPr marL="0" indent="0">
              <a:buNone/>
            </a:pPr>
            <a:r>
              <a:rPr lang="en-US" sz="1900" dirty="0">
                <a:solidFill>
                  <a:srgbClr val="FFFFFF"/>
                </a:solidFill>
              </a:rPr>
              <a:t>Reminder – year 7s ask a lot of questions!</a:t>
            </a:r>
          </a:p>
          <a:p>
            <a:pPr marL="0"/>
            <a:endParaRPr lang="en-US" sz="1900" dirty="0">
              <a:solidFill>
                <a:srgbClr val="FFFFFF"/>
              </a:solidFill>
            </a:endParaRPr>
          </a:p>
          <a:p>
            <a:pPr marL="0"/>
            <a:endParaRPr lang="en-US" sz="1900" dirty="0">
              <a:solidFill>
                <a:srgbClr val="FFFFFF"/>
              </a:solidFill>
            </a:endParaRPr>
          </a:p>
        </p:txBody>
      </p:sp>
      <p:sp>
        <p:nvSpPr>
          <p:cNvPr id="4" name="TextBox 3">
            <a:extLst>
              <a:ext uri="{FF2B5EF4-FFF2-40B4-BE49-F238E27FC236}">
                <a16:creationId xmlns:a16="http://schemas.microsoft.com/office/drawing/2014/main" id="{08B6DEBF-20F4-4019-A94B-B927C6D8362E}"/>
              </a:ext>
            </a:extLst>
          </p:cNvPr>
          <p:cNvSpPr txBox="1"/>
          <p:nvPr/>
        </p:nvSpPr>
        <p:spPr>
          <a:xfrm>
            <a:off x="6096000" y="826324"/>
            <a:ext cx="5257800" cy="5350639"/>
          </a:xfrm>
          <a:prstGeom prst="rect">
            <a:avLst/>
          </a:prstGeom>
        </p:spPr>
        <p:txBody>
          <a:bodyPr vert="horz" lIns="91440" tIns="45720" rIns="91440" bIns="45720" rtlCol="0">
            <a:normAutofit/>
          </a:bodyPr>
          <a:lstStyle/>
          <a:p>
            <a:pPr marL="114300" marR="0" lvl="0" indent="0" algn="l" defTabSz="914400" rtl="0" eaLnBrk="1" fontAlgn="auto" latinLnBrk="0" hangingPunct="1">
              <a:lnSpc>
                <a:spcPct val="90000"/>
              </a:lnSpc>
              <a:spcBef>
                <a:spcPts val="0"/>
              </a:spcBef>
              <a:spcAft>
                <a:spcPts val="600"/>
              </a:spcAft>
              <a:buClrTx/>
              <a:buSzTx/>
              <a:buFontTx/>
              <a:buNone/>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mn-cs"/>
              </a:rPr>
              <a:t>1. What is a theory </a:t>
            </a:r>
          </a:p>
          <a:p>
            <a:pPr marL="628650" marR="0" lvl="0" indent="-51435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mn-cs"/>
              </a:rPr>
              <a:t>Why do we test theories</a:t>
            </a:r>
          </a:p>
          <a:p>
            <a:pPr marL="628650" marR="0" lvl="0" indent="-51435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mn-cs"/>
              </a:rPr>
              <a:t>What is a measure of central tendency (use examples) </a:t>
            </a:r>
          </a:p>
          <a:p>
            <a:pPr marL="628650" marR="0" lvl="0" indent="-51435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mn-cs"/>
              </a:rPr>
              <a:t>What is a P value</a:t>
            </a:r>
          </a:p>
          <a:p>
            <a:pPr marL="628650" marR="0" lvl="0" indent="-51435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mn-cs"/>
              </a:rPr>
              <a:t>What is a measure of dispersion </a:t>
            </a:r>
          </a:p>
          <a:p>
            <a:pPr marL="628650" marR="0" lvl="0" indent="-51435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mn-cs"/>
              </a:rPr>
              <a:t>What is an extraneous variable</a:t>
            </a:r>
          </a:p>
          <a:p>
            <a:pPr marL="628650" marR="0" lvl="0" indent="-514350" algn="l" defTabSz="914400" rtl="0" eaLnBrk="1" fontAlgn="auto" latinLnBrk="0" hangingPunct="1">
              <a:lnSpc>
                <a:spcPct val="90000"/>
              </a:lnSpc>
              <a:spcBef>
                <a:spcPts val="0"/>
              </a:spcBef>
              <a:spcAft>
                <a:spcPts val="600"/>
              </a:spcAft>
              <a:buClrTx/>
              <a:buSzTx/>
              <a:buFont typeface="+mj-lt"/>
              <a:buAutoNum type="arabicPeriod"/>
              <a:tabLst/>
              <a:defRPr/>
            </a:pPr>
            <a:r>
              <a:rPr kumimoji="0" lang="en-US" sz="2800" b="0" i="0" u="none" strike="noStrike" kern="1200" cap="none" spc="0" normalizeH="0" baseline="0" noProof="0" dirty="0">
                <a:ln>
                  <a:noFill/>
                </a:ln>
                <a:solidFill>
                  <a:srgbClr val="FFFFFF"/>
                </a:solidFill>
                <a:effectLst/>
                <a:uLnTx/>
                <a:uFillTx/>
                <a:latin typeface="Calibri" panose="020F0502020204030204"/>
                <a:ea typeface="+mn-ea"/>
                <a:cs typeface="+mn-cs"/>
              </a:rPr>
              <a:t>What does the term reliable mean </a:t>
            </a: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3497971"/>
      </p:ext>
    </p:extLst>
  </p:cSld>
  <p:clrMapOvr>
    <a:overrideClrMapping bg1="dk1" tx1="lt1" bg2="dk2" tx2="lt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62542EEC-4F7C-4AE2-933E-EAC8EB3FA3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6E8A479-BA92-45F0-88FD-EB60C5086469}"/>
              </a:ext>
            </a:extLst>
          </p:cNvPr>
          <p:cNvSpPr>
            <a:spLocks noGrp="1"/>
          </p:cNvSpPr>
          <p:nvPr>
            <p:ph type="title"/>
          </p:nvPr>
        </p:nvSpPr>
        <p:spPr>
          <a:xfrm>
            <a:off x="7789906" y="246695"/>
            <a:ext cx="4036334" cy="2387600"/>
          </a:xfrm>
        </p:spPr>
        <p:txBody>
          <a:bodyPr vert="horz" lIns="91440" tIns="45720" rIns="91440" bIns="45720" rtlCol="0" anchor="t">
            <a:normAutofit/>
          </a:bodyPr>
          <a:lstStyle/>
          <a:p>
            <a:r>
              <a:rPr lang="en-US" sz="3800" dirty="0"/>
              <a:t>PRACTICE</a:t>
            </a:r>
            <a:br>
              <a:rPr lang="en-US" sz="3800" dirty="0"/>
            </a:br>
            <a:br>
              <a:rPr lang="en-US" sz="3800" dirty="0"/>
            </a:br>
            <a:endParaRPr lang="en-US" sz="3800" dirty="0"/>
          </a:p>
        </p:txBody>
      </p:sp>
      <p:sp>
        <p:nvSpPr>
          <p:cNvPr id="25" name="Rectangle 24">
            <a:extLst>
              <a:ext uri="{FF2B5EF4-FFF2-40B4-BE49-F238E27FC236}">
                <a16:creationId xmlns:a16="http://schemas.microsoft.com/office/drawing/2014/main" id="{B81933D1-5615-42C7-9C0B-4EB7105CCE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6824" y="391886"/>
            <a:ext cx="6009366" cy="6017078"/>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a:extLst>
              <a:ext uri="{FF2B5EF4-FFF2-40B4-BE49-F238E27FC236}">
                <a16:creationId xmlns:a16="http://schemas.microsoft.com/office/drawing/2014/main" id="{13FE7DE4-BB45-423A-928F-6026FAA32BC1}"/>
              </a:ext>
            </a:extLst>
          </p:cNvPr>
          <p:cNvPicPr>
            <a:picLocks noGrp="1" noChangeAspect="1"/>
          </p:cNvPicPr>
          <p:nvPr>
            <p:ph idx="1"/>
          </p:nvPr>
        </p:nvPicPr>
        <p:blipFill rotWithShape="1">
          <a:blip r:embed="rId2"/>
          <a:srcRect l="1824" r="6769" b="2"/>
          <a:stretch/>
        </p:blipFill>
        <p:spPr>
          <a:xfrm>
            <a:off x="365760" y="158011"/>
            <a:ext cx="7303609" cy="7210981"/>
          </a:xfrm>
          <a:prstGeom prst="rect">
            <a:avLst/>
          </a:prstGeom>
        </p:spPr>
      </p:pic>
      <p:grpSp>
        <p:nvGrpSpPr>
          <p:cNvPr id="29" name="Group 28">
            <a:extLst>
              <a:ext uri="{FF2B5EF4-FFF2-40B4-BE49-F238E27FC236}">
                <a16:creationId xmlns:a16="http://schemas.microsoft.com/office/drawing/2014/main" id="{032D8612-31EB-44CF-A1D0-14FD4C70542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1460480" y="3154317"/>
            <a:ext cx="731521" cy="673460"/>
            <a:chOff x="3940602" y="308034"/>
            <a:chExt cx="2116791" cy="3428999"/>
          </a:xfrm>
          <a:solidFill>
            <a:schemeClr val="accent4"/>
          </a:solidFill>
        </p:grpSpPr>
        <p:sp>
          <p:nvSpPr>
            <p:cNvPr id="30" name="Rectangle 29">
              <a:extLst>
                <a:ext uri="{FF2B5EF4-FFF2-40B4-BE49-F238E27FC236}">
                  <a16:creationId xmlns:a16="http://schemas.microsoft.com/office/drawing/2014/main" id="{F19A4A0F-1B59-4DB0-9764-D10936E987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1" name="Rectangle 30">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2" name="Rectangle 31">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6229246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E45B1D5C-0827-4AF0-8186-11FC5A8B8B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4AE3B9C-04C2-45AB-B020-769F964C5407}"/>
              </a:ext>
            </a:extLst>
          </p:cNvPr>
          <p:cNvSpPr>
            <a:spLocks noGrp="1"/>
          </p:cNvSpPr>
          <p:nvPr>
            <p:ph type="title"/>
          </p:nvPr>
        </p:nvSpPr>
        <p:spPr>
          <a:xfrm>
            <a:off x="9267909" y="2023110"/>
            <a:ext cx="2469624" cy="2846070"/>
          </a:xfrm>
        </p:spPr>
        <p:txBody>
          <a:bodyPr vert="horz" lIns="91440" tIns="45720" rIns="91440" bIns="45720" rtlCol="0" anchor="ctr">
            <a:normAutofit/>
          </a:bodyPr>
          <a:lstStyle/>
          <a:p>
            <a:r>
              <a:rPr lang="en-US" sz="3700" dirty="0"/>
              <a:t>Answers</a:t>
            </a:r>
          </a:p>
        </p:txBody>
      </p:sp>
      <p:sp>
        <p:nvSpPr>
          <p:cNvPr id="11" name="Rectangle 10">
            <a:extLst>
              <a:ext uri="{FF2B5EF4-FFF2-40B4-BE49-F238E27FC236}">
                <a16:creationId xmlns:a16="http://schemas.microsoft.com/office/drawing/2014/main" id="{99413ED5-9ED4-4772-BCE4-2BCAE6B12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3433973" y="-827233"/>
            <a:ext cx="1715478" cy="858342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04357C93-F0CB-4A1C-8F77-4E90637898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2085" y="664308"/>
            <a:ext cx="8082632" cy="5600340"/>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4" name="Content Placeholder 3">
            <a:extLst>
              <a:ext uri="{FF2B5EF4-FFF2-40B4-BE49-F238E27FC236}">
                <a16:creationId xmlns:a16="http://schemas.microsoft.com/office/drawing/2014/main" id="{DBCA11CD-4DC6-4FE7-BC2D-F4DDE0CAC7CB}"/>
              </a:ext>
            </a:extLst>
          </p:cNvPr>
          <p:cNvPicPr>
            <a:picLocks noGrp="1" noChangeAspect="1"/>
          </p:cNvPicPr>
          <p:nvPr>
            <p:ph idx="1"/>
          </p:nvPr>
        </p:nvPicPr>
        <p:blipFill rotWithShape="1">
          <a:blip r:embed="rId2"/>
          <a:srcRect l="2559" r="-1" b="-1"/>
          <a:stretch/>
        </p:blipFill>
        <p:spPr>
          <a:xfrm>
            <a:off x="17225" y="0"/>
            <a:ext cx="8757065" cy="5998840"/>
          </a:xfrm>
          <a:prstGeom prst="rect">
            <a:avLst/>
          </a:prstGeom>
        </p:spPr>
      </p:pic>
      <p:sp>
        <p:nvSpPr>
          <p:cNvPr id="15" name="Rectangle 14">
            <a:extLst>
              <a:ext uri="{FF2B5EF4-FFF2-40B4-BE49-F238E27FC236}">
                <a16:creationId xmlns:a16="http://schemas.microsoft.com/office/drawing/2014/main" id="{90F533E9-6690-41A8-A372-4C6C622D02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950447" y="3392097"/>
            <a:ext cx="1719072"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3498270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31EF36-D2FB-F147-A076-1612CBEC551B}"/>
              </a:ext>
            </a:extLst>
          </p:cNvPr>
          <p:cNvPicPr>
            <a:picLocks noChangeAspect="1"/>
          </p:cNvPicPr>
          <p:nvPr/>
        </p:nvPicPr>
        <p:blipFill>
          <a:blip r:embed="rId2"/>
          <a:stretch>
            <a:fillRect/>
          </a:stretch>
        </p:blipFill>
        <p:spPr>
          <a:xfrm>
            <a:off x="184150" y="2787650"/>
            <a:ext cx="11823700" cy="1282700"/>
          </a:xfrm>
          <a:prstGeom prst="rect">
            <a:avLst/>
          </a:prstGeom>
        </p:spPr>
      </p:pic>
    </p:spTree>
    <p:extLst>
      <p:ext uri="{BB962C8B-B14F-4D97-AF65-F5344CB8AC3E}">
        <p14:creationId xmlns:p14="http://schemas.microsoft.com/office/powerpoint/2010/main" val="3519158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911BB-54BA-A24E-B938-727D41180A03}"/>
              </a:ext>
            </a:extLst>
          </p:cNvPr>
          <p:cNvSpPr>
            <a:spLocks noGrp="1"/>
          </p:cNvSpPr>
          <p:nvPr>
            <p:ph type="title"/>
          </p:nvPr>
        </p:nvSpPr>
        <p:spPr/>
        <p:txBody>
          <a:bodyPr/>
          <a:lstStyle/>
          <a:p>
            <a:r>
              <a:rPr lang="en-US" dirty="0"/>
              <a:t>answer</a:t>
            </a:r>
          </a:p>
        </p:txBody>
      </p:sp>
      <p:sp>
        <p:nvSpPr>
          <p:cNvPr id="3" name="Content Placeholder 2">
            <a:extLst>
              <a:ext uri="{FF2B5EF4-FFF2-40B4-BE49-F238E27FC236}">
                <a16:creationId xmlns:a16="http://schemas.microsoft.com/office/drawing/2014/main" id="{A00C2711-AF3C-9343-990C-A10349A917AC}"/>
              </a:ext>
            </a:extLst>
          </p:cNvPr>
          <p:cNvSpPr>
            <a:spLocks noGrp="1"/>
          </p:cNvSpPr>
          <p:nvPr>
            <p:ph idx="1"/>
          </p:nvPr>
        </p:nvSpPr>
        <p:spPr/>
        <p:txBody>
          <a:bodyPr/>
          <a:lstStyle/>
          <a:p>
            <a:r>
              <a:rPr lang="en-US" dirty="0"/>
              <a:t>The result is statistically significant as more than 95% of the results are due to the change in the independent variable</a:t>
            </a:r>
          </a:p>
          <a:p>
            <a:r>
              <a:rPr lang="en-US" dirty="0"/>
              <a:t>There is only 5% chance that the results are due to chance </a:t>
            </a:r>
          </a:p>
          <a:p>
            <a:r>
              <a:rPr lang="en-US" dirty="0"/>
              <a:t>This is a real difference caused by the independent variable </a:t>
            </a:r>
          </a:p>
        </p:txBody>
      </p:sp>
    </p:spTree>
    <p:extLst>
      <p:ext uri="{BB962C8B-B14F-4D97-AF65-F5344CB8AC3E}">
        <p14:creationId xmlns:p14="http://schemas.microsoft.com/office/powerpoint/2010/main" val="2132006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F40E54-24CB-D142-959C-4848555B8828}"/>
              </a:ext>
            </a:extLst>
          </p:cNvPr>
          <p:cNvSpPr>
            <a:spLocks noGrp="1"/>
          </p:cNvSpPr>
          <p:nvPr>
            <p:ph type="title"/>
          </p:nvPr>
        </p:nvSpPr>
        <p:spPr>
          <a:xfrm>
            <a:off x="1246761" y="2252190"/>
            <a:ext cx="10515600" cy="1325563"/>
          </a:xfrm>
        </p:spPr>
        <p:txBody>
          <a:bodyPr/>
          <a:lstStyle/>
          <a:p>
            <a:pPr algn="ctr"/>
            <a:r>
              <a:rPr lang="en-US" dirty="0"/>
              <a:t>Data interpretation questions on SEQTA</a:t>
            </a:r>
          </a:p>
        </p:txBody>
      </p:sp>
      <p:sp>
        <p:nvSpPr>
          <p:cNvPr id="3" name="Content Placeholder 2">
            <a:extLst>
              <a:ext uri="{FF2B5EF4-FFF2-40B4-BE49-F238E27FC236}">
                <a16:creationId xmlns:a16="http://schemas.microsoft.com/office/drawing/2014/main" id="{C848F526-DF69-1040-BA35-12C5545FC92D}"/>
              </a:ext>
            </a:extLst>
          </p:cNvPr>
          <p:cNvSpPr>
            <a:spLocks noGrp="1"/>
          </p:cNvSpPr>
          <p:nvPr>
            <p:ph idx="1"/>
          </p:nvPr>
        </p:nvSpPr>
        <p:spPr>
          <a:xfrm>
            <a:off x="838200" y="4289897"/>
            <a:ext cx="10515600" cy="1887065"/>
          </a:xfrm>
        </p:spPr>
        <p:txBody>
          <a:bodyPr/>
          <a:lstStyle/>
          <a:p>
            <a:pPr marL="0" indent="0" algn="ctr">
              <a:buNone/>
            </a:pPr>
            <a:r>
              <a:rPr lang="en-US" dirty="0"/>
              <a:t>- Answer and self-mark</a:t>
            </a:r>
          </a:p>
        </p:txBody>
      </p:sp>
    </p:spTree>
    <p:extLst>
      <p:ext uri="{BB962C8B-B14F-4D97-AF65-F5344CB8AC3E}">
        <p14:creationId xmlns:p14="http://schemas.microsoft.com/office/powerpoint/2010/main" val="2505196389"/>
      </p:ext>
    </p:extLst>
  </p:cSld>
  <p:clrMapOvr>
    <a:masterClrMapping/>
  </p:clrMapOvr>
</p:sld>
</file>

<file path=ppt/theme/theme1.xml><?xml version="1.0" encoding="utf-8"?>
<a:theme xmlns:a="http://schemas.openxmlformats.org/drawingml/2006/main" name="Saba">
  <a:themeElements>
    <a:clrScheme name="Austin">
      <a:dk1>
        <a:sysClr val="windowText" lastClr="000000"/>
      </a:dk1>
      <a:lt1>
        <a:sysClr val="window" lastClr="FFFFFF"/>
      </a:lt1>
      <a:dk2>
        <a:srgbClr val="3E3D2D"/>
      </a:dk2>
      <a:lt2>
        <a:srgbClr val="CAF278"/>
      </a:lt2>
      <a:accent1>
        <a:srgbClr val="94C600"/>
      </a:accent1>
      <a:accent2>
        <a:srgbClr val="71685A"/>
      </a:accent2>
      <a:accent3>
        <a:srgbClr val="FF6700"/>
      </a:accent3>
      <a:accent4>
        <a:srgbClr val="909465"/>
      </a:accent4>
      <a:accent5>
        <a:srgbClr val="956B43"/>
      </a:accent5>
      <a:accent6>
        <a:srgbClr val="FEA022"/>
      </a:accent6>
      <a:hlink>
        <a:srgbClr val="E68200"/>
      </a:hlink>
      <a:folHlink>
        <a:srgbClr val="FFA94A"/>
      </a:folHlink>
    </a:clrScheme>
    <a:fontScheme name="Austin">
      <a:maj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a:ea typeface=""/>
        <a:cs typeface=""/>
        <a:font script="Jpan" typeface="ＭＳ ゴシック"/>
        <a:font script="Hang" typeface="HY중고딕"/>
        <a:font script="Hans" typeface="微软雅黑"/>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Plaza">
      <a:fillStyleLst>
        <a:solidFill>
          <a:schemeClr val="phClr"/>
        </a:solidFill>
        <a:gradFill rotWithShape="1">
          <a:gsLst>
            <a:gs pos="0">
              <a:schemeClr val="phClr">
                <a:tint val="100000"/>
                <a:shade val="60000"/>
                <a:satMod val="135000"/>
              </a:schemeClr>
            </a:gs>
            <a:gs pos="100000">
              <a:schemeClr val="phClr">
                <a:tint val="100000"/>
                <a:shade val="100000"/>
                <a:satMod val="135000"/>
              </a:schemeClr>
            </a:gs>
          </a:gsLst>
          <a:lin ang="16200000" scaled="1"/>
        </a:gradFill>
        <a:gradFill rotWithShape="1">
          <a:gsLst>
            <a:gs pos="0">
              <a:schemeClr val="phClr">
                <a:shade val="70000"/>
                <a:satMod val="120000"/>
              </a:schemeClr>
            </a:gs>
            <a:gs pos="35000">
              <a:schemeClr val="phClr">
                <a:shade val="100000"/>
                <a:satMod val="150000"/>
              </a:schemeClr>
            </a:gs>
            <a:gs pos="70000">
              <a:schemeClr val="phClr">
                <a:tint val="100000"/>
                <a:shade val="100000"/>
                <a:satMod val="200000"/>
                <a:greenMod val="100000"/>
              </a:schemeClr>
            </a:gs>
            <a:gs pos="100000">
              <a:schemeClr val="phClr">
                <a:tint val="100000"/>
                <a:shade val="100000"/>
                <a:satMod val="250000"/>
                <a:greenMod val="100000"/>
              </a:schemeClr>
            </a:gs>
          </a:gsLst>
          <a:lin ang="162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innerShdw blurRad="190500" dist="63500" dir="5400000">
              <a:srgbClr val="FFFFFF">
                <a:alpha val="65000"/>
              </a:srgbClr>
            </a:innerShdw>
          </a:effectLst>
          <a:scene3d>
            <a:camera prst="orthographicFront">
              <a:rot lat="0" lon="0" rev="0"/>
            </a:camera>
            <a:lightRig rig="twoPt" dir="r">
              <a:rot lat="0" lon="0" rev="6000000"/>
            </a:lightRig>
          </a:scene3d>
          <a:sp3d prstMaterial="matte">
            <a:bevelT w="0" h="0" prst="relaxedInset"/>
          </a:sp3d>
        </a:effectStyle>
        <a:effectStyle>
          <a:effectLst>
            <a:innerShdw blurRad="50800" dist="25400" dir="13500000">
              <a:srgbClr val="FFFFFF">
                <a:alpha val="75000"/>
              </a:srgbClr>
            </a:innerShdw>
            <a:outerShdw blurRad="88900" dist="38100" dir="6600000" sx="101000" sy="101000" rotWithShape="0">
              <a:srgbClr val="000000">
                <a:alpha val="50000"/>
              </a:srgbClr>
            </a:outerShdw>
          </a:effectLst>
          <a:scene3d>
            <a:camera prst="perspectiveFront" fov="3000000"/>
            <a:lightRig rig="morning" dir="tl">
              <a:rot lat="0" lon="0" rev="1800000"/>
            </a:lightRig>
          </a:scene3d>
          <a:sp3d contourW="38100" prstMaterial="softEdge">
            <a:bevelT w="25400" h="38100"/>
            <a:contourClr>
              <a:schemeClr val="phClr">
                <a:tint val="6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ABFCDE80-9FF4-EB43-9EB8-ADDCCB13B279}" vid="{9C6BB66C-35D3-EB49-8314-0F986D4FA813}"/>
    </a:ext>
  </a:extLst>
</a:theme>
</file>

<file path=ppt/theme/theme2.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AE6F2518-B084-4896-AF52-66CC2144AA26}"/>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5095</TotalTime>
  <Words>1071</Words>
  <Application>Microsoft Macintosh PowerPoint</Application>
  <PresentationFormat>Widescreen</PresentationFormat>
  <Paragraphs>139</Paragraphs>
  <Slides>19</Slides>
  <Notes>0</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19</vt:i4>
      </vt:variant>
    </vt:vector>
  </HeadingPairs>
  <TitlesOfParts>
    <vt:vector size="26" baseType="lpstr">
      <vt:lpstr>Arial</vt:lpstr>
      <vt:lpstr>Calibri</vt:lpstr>
      <vt:lpstr>Calibri Light</vt:lpstr>
      <vt:lpstr>Century Gothic</vt:lpstr>
      <vt:lpstr>Wingdings 2</vt:lpstr>
      <vt:lpstr>Saba</vt:lpstr>
      <vt:lpstr>Office Theme</vt:lpstr>
      <vt:lpstr>Categorise the following data collection tools:</vt:lpstr>
      <vt:lpstr>Write 2 likert scale questions that could help measure a persons extroversion</vt:lpstr>
      <vt:lpstr>Chloe is a personal trainer at Gold’s Gym. Although she has always officially led a “straight edge” lifestyle and denounced the use of anabolic steroids, she’s always secretly wondered if they helped people get significantly stronger. She decides to find out. She purchases some steroids off the black market from her dealer Jiggy and convinces half of her clientele at the gym to start injecting. This continues for thirty days while Chloe keeps a journal of how much weight each person in the two groups can squat. At the end of the month she compares the results.</vt:lpstr>
      <vt:lpstr>Shortly after adopting his cat, Sassy, Thomas realized that his poor kitty isn’t eating very much. After ruling out and confounding variables, he determined that Sassy is a huge diva and is simply very picky about the type of food she eats. He decides to run a month-long experiment, separated into four weeks. In the first week, he feed her normal dry food. In the second week, he feeds her wet canned food. In the third week he feeds her feeds her raw salmon. In the final week he feed she home-cooked liver and gravy. At the end of the experiment, Thomas compares how much of each type of food Sassy ate.</vt:lpstr>
      <vt:lpstr>1. How many fishing boat deaths were there in 2004?  2. Describe the correlation between the years 1999 to 2001. </vt:lpstr>
      <vt:lpstr>Learning Intentions</vt:lpstr>
      <vt:lpstr>Descriptive v Inferential Statistics</vt:lpstr>
      <vt:lpstr>P values explained</vt:lpstr>
      <vt:lpstr>Reading and Describing P values</vt:lpstr>
      <vt:lpstr>P &gt; 0.05 This reads as: the probability is greater than 5%</vt:lpstr>
      <vt:lpstr>1. Which group shows the most difference from pre to post test??</vt:lpstr>
      <vt:lpstr>Worked example of the conclusions you can draw for insignificant results or a P greater than .07 (p &gt; .07)</vt:lpstr>
      <vt:lpstr>Worked example of the conclusions you can draw for significant results or a P less than .05 (p &gt; .02)</vt:lpstr>
      <vt:lpstr>Let's act!</vt:lpstr>
      <vt:lpstr>PRACTICE  </vt:lpstr>
      <vt:lpstr>Answers</vt:lpstr>
      <vt:lpstr>PowerPoint Presentation</vt:lpstr>
      <vt:lpstr>answer</vt:lpstr>
      <vt:lpstr>Data interpretation questions on SEQTA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Question: Describe three findings from the data (3 marks)</dc:title>
  <dc:creator>DAVEY Sarah [Joseph Banks Secondary College]</dc:creator>
  <cp:lastModifiedBy>DAVEY Sarah [Joseph Banks Secondary College]</cp:lastModifiedBy>
  <cp:revision>5</cp:revision>
  <dcterms:created xsi:type="dcterms:W3CDTF">2021-07-30T00:30:56Z</dcterms:created>
  <dcterms:modified xsi:type="dcterms:W3CDTF">2021-11-07T13:58:37Z</dcterms:modified>
</cp:coreProperties>
</file>
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80" r:id="rId3"/>
    <p:sldMasterId id="2147483701" r:id="rId4"/>
  </p:sldMasterIdLst>
  <p:notesMasterIdLst>
    <p:notesMasterId r:id="rId23"/>
  </p:notesMasterIdLst>
  <p:sldIdLst>
    <p:sldId id="395" r:id="rId5"/>
    <p:sldId id="391" r:id="rId6"/>
    <p:sldId id="394" r:id="rId7"/>
    <p:sldId id="390" r:id="rId8"/>
    <p:sldId id="407" r:id="rId9"/>
    <p:sldId id="396" r:id="rId10"/>
    <p:sldId id="403" r:id="rId11"/>
    <p:sldId id="359" r:id="rId12"/>
    <p:sldId id="400" r:id="rId13"/>
    <p:sldId id="401" r:id="rId14"/>
    <p:sldId id="360" r:id="rId15"/>
    <p:sldId id="324" r:id="rId16"/>
    <p:sldId id="304" r:id="rId17"/>
    <p:sldId id="404" r:id="rId18"/>
    <p:sldId id="399" r:id="rId19"/>
    <p:sldId id="402" r:id="rId20"/>
    <p:sldId id="319" r:id="rId21"/>
    <p:sldId id="3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92"/>
    <p:restoredTop sz="94643"/>
  </p:normalViewPr>
  <p:slideViewPr>
    <p:cSldViewPr snapToGrid="0" snapToObjects="1">
      <p:cViewPr varScale="1">
        <p:scale>
          <a:sx n="162" d="100"/>
          <a:sy n="162" d="100"/>
        </p:scale>
        <p:origin x="6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FAB6C-3138-6440-BC93-B4B889D09C18}" type="datetimeFigureOut">
              <a:rPr lang="en-US" smtClean="0"/>
              <a:t>7/29/21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1B88CF-89E8-E740-B754-A3753DCFCD84}" type="slidenum">
              <a:rPr lang="en-US" smtClean="0"/>
              <a:t>‹#›</a:t>
            </a:fld>
            <a:endParaRPr lang="en-US"/>
          </a:p>
        </p:txBody>
      </p:sp>
    </p:spTree>
    <p:extLst>
      <p:ext uri="{BB962C8B-B14F-4D97-AF65-F5344CB8AC3E}">
        <p14:creationId xmlns:p14="http://schemas.microsoft.com/office/powerpoint/2010/main" val="305452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three divisions of the brain?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oldest part of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1B88CF-89E8-E740-B754-A3753DCFCD84}" type="slidenum">
              <a:rPr lang="en-US" smtClean="0"/>
              <a:t>15</a:t>
            </a:fld>
            <a:endParaRPr lang="en-US"/>
          </a:p>
        </p:txBody>
      </p:sp>
    </p:spTree>
    <p:extLst>
      <p:ext uri="{BB962C8B-B14F-4D97-AF65-F5344CB8AC3E}">
        <p14:creationId xmlns:p14="http://schemas.microsoft.com/office/powerpoint/2010/main" val="1445948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three divisions of the brain?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is the oldest part of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1B88CF-89E8-E740-B754-A3753DCFCD84}" type="slidenum">
              <a:rPr lang="en-US" smtClean="0"/>
              <a:t>16</a:t>
            </a:fld>
            <a:endParaRPr lang="en-US"/>
          </a:p>
        </p:txBody>
      </p:sp>
    </p:spTree>
    <p:extLst>
      <p:ext uri="{BB962C8B-B14F-4D97-AF65-F5344CB8AC3E}">
        <p14:creationId xmlns:p14="http://schemas.microsoft.com/office/powerpoint/2010/main" val="3402909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9403-0A70-6342-AD93-9768B2D9399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DB54347-3F03-124F-96EB-030C734605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325659E-A2D1-B748-A249-5D5B4D67E8FD}"/>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5" name="Footer Placeholder 4">
            <a:extLst>
              <a:ext uri="{FF2B5EF4-FFF2-40B4-BE49-F238E27FC236}">
                <a16:creationId xmlns:a16="http://schemas.microsoft.com/office/drawing/2014/main" id="{EC866F3E-DC9C-7A42-B6AA-EE9329C57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2BB6A-4459-D440-A462-AB491D2E93D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006381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73771-2C5D-324E-96C1-1D0731351D0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99ADD6-06C2-0140-BC76-1998A0BB2A7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39CD7A-B170-7644-97DA-49A85FFE64CF}"/>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5" name="Footer Placeholder 4">
            <a:extLst>
              <a:ext uri="{FF2B5EF4-FFF2-40B4-BE49-F238E27FC236}">
                <a16:creationId xmlns:a16="http://schemas.microsoft.com/office/drawing/2014/main" id="{B6DB10CC-78FB-B046-99D1-DC57EDA1D0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0E833-292B-2849-B271-F8640E733A4C}"/>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10368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C990-558A-AE46-80F7-D4F77B03FC2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CA4EDAA-4286-C746-BE37-6BAFABA432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44AA73-B1E1-2D41-9458-0FA447D7EB45}"/>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5" name="Footer Placeholder 4">
            <a:extLst>
              <a:ext uri="{FF2B5EF4-FFF2-40B4-BE49-F238E27FC236}">
                <a16:creationId xmlns:a16="http://schemas.microsoft.com/office/drawing/2014/main" id="{0A8DFF87-2C57-4849-8357-2EF037D32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753EE-FC36-7C41-B550-E9A2EA45D76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752829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75A6-5B2E-5D4D-B8C3-87CE4BCEA9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94974F-F3B7-BE45-9CE2-3F5CAD14F6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FD57523-300B-2945-B9DE-50200343B87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747CC82-CAA8-DC46-ADE1-A1C394DDC684}"/>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6" name="Footer Placeholder 5">
            <a:extLst>
              <a:ext uri="{FF2B5EF4-FFF2-40B4-BE49-F238E27FC236}">
                <a16:creationId xmlns:a16="http://schemas.microsoft.com/office/drawing/2014/main" id="{6035D147-F3C5-0C42-9AFB-A75140B7E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7E03AD-15F3-414D-930C-1B5AEABC8B0B}"/>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930393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1B44-9F47-A149-A10A-1687F36ECA8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C391B29-62C9-564B-A7C6-17C8E87FAD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153DD78-19AC-F244-84D1-3AAA433A27C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5B1DD53-EFE3-404D-B262-89B66C74D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ACEBA4-5169-8B4B-92C3-0A0D1E0F9A2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646305B-45B6-0040-84CF-FF35B78E33D5}"/>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8" name="Footer Placeholder 7">
            <a:extLst>
              <a:ext uri="{FF2B5EF4-FFF2-40B4-BE49-F238E27FC236}">
                <a16:creationId xmlns:a16="http://schemas.microsoft.com/office/drawing/2014/main" id="{BCB62CE6-4603-A948-A3DB-46FA184B78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B122EF-0C06-EE45-BAB2-384B428C4550}"/>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005553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526B2-FE7B-FA44-901F-604F43CEC4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5ADD536-C96F-D846-93FC-DBA7EB65C44C}"/>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4" name="Footer Placeholder 3">
            <a:extLst>
              <a:ext uri="{FF2B5EF4-FFF2-40B4-BE49-F238E27FC236}">
                <a16:creationId xmlns:a16="http://schemas.microsoft.com/office/drawing/2014/main" id="{D53951AF-46E5-964D-82E4-6EC18DA2D8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E21BC4-FBA5-9545-800E-B783DDAC8E2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47049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0D2B45-6D3E-5140-9E1A-EA6BD1F7585D}"/>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3" name="Footer Placeholder 2">
            <a:extLst>
              <a:ext uri="{FF2B5EF4-FFF2-40B4-BE49-F238E27FC236}">
                <a16:creationId xmlns:a16="http://schemas.microsoft.com/office/drawing/2014/main" id="{57CCA7E1-6DB7-5348-9A38-94A036A218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0C71B7-DFE4-0741-A4BB-22829005B46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034590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B3DB-7E96-B241-951E-E0213CB508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795E2D9-6211-4F4B-90D8-E32643AD18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DE4D28-C849-1F4E-BEB1-4232BBBD46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EB73FAF-7209-E043-807C-C17A5520B8E7}"/>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6" name="Footer Placeholder 5">
            <a:extLst>
              <a:ext uri="{FF2B5EF4-FFF2-40B4-BE49-F238E27FC236}">
                <a16:creationId xmlns:a16="http://schemas.microsoft.com/office/drawing/2014/main" id="{BE19F006-D4FB-EE42-A616-30D03C31B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3CA3F-1808-CB4E-942B-E869B8CE5E01}"/>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1396975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BFB93-FFEA-6B43-AC94-7159009E4E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6F7D9EC-D130-1946-8998-11940C629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B97D7668-5870-B446-A751-8DC3458983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870E1C2-86D2-B740-868A-F6676DD51124}"/>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6" name="Footer Placeholder 5">
            <a:extLst>
              <a:ext uri="{FF2B5EF4-FFF2-40B4-BE49-F238E27FC236}">
                <a16:creationId xmlns:a16="http://schemas.microsoft.com/office/drawing/2014/main" id="{47ECBE31-E8B5-BF43-82AD-2FF081CD78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9355F8-0EDC-6D4C-85CC-3AC3BB229035}"/>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3591266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4E170-EF20-594A-A449-DC901974961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D584A1D-6C2C-2945-94AA-730A7F67CFF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F1DD28-B73A-3B4D-B817-2A14D70162B2}"/>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5" name="Footer Placeholder 4">
            <a:extLst>
              <a:ext uri="{FF2B5EF4-FFF2-40B4-BE49-F238E27FC236}">
                <a16:creationId xmlns:a16="http://schemas.microsoft.com/office/drawing/2014/main" id="{A224C8CE-002D-0947-9AC3-A3D63D6D64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96C238-FC97-594A-8BE5-F401E278D913}"/>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268992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E7AD74-D535-EE47-9F94-E8712FCCB30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BB504AE-ACBE-694B-8C8A-48DA810EC93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142C47-4ACA-904D-A9F0-5427F9FEE8D4}"/>
              </a:ext>
            </a:extLst>
          </p:cNvPr>
          <p:cNvSpPr>
            <a:spLocks noGrp="1"/>
          </p:cNvSpPr>
          <p:nvPr>
            <p:ph type="dt" sz="half" idx="10"/>
          </p:nvPr>
        </p:nvSpPr>
        <p:spPr/>
        <p:txBody>
          <a:bodyPr/>
          <a:lstStyle/>
          <a:p>
            <a:fld id="{47EAACE0-986B-954A-BDE6-68B4D7D9F963}" type="datetimeFigureOut">
              <a:rPr lang="en-US" smtClean="0"/>
              <a:t>7/29/21</a:t>
            </a:fld>
            <a:endParaRPr lang="en-US"/>
          </a:p>
        </p:txBody>
      </p:sp>
      <p:sp>
        <p:nvSpPr>
          <p:cNvPr id="5" name="Footer Placeholder 4">
            <a:extLst>
              <a:ext uri="{FF2B5EF4-FFF2-40B4-BE49-F238E27FC236}">
                <a16:creationId xmlns:a16="http://schemas.microsoft.com/office/drawing/2014/main" id="{E703A839-90C6-CA44-AA4A-5466C0449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E918E6-8954-6145-826C-A4DF11243907}"/>
              </a:ext>
            </a:extLst>
          </p:cNvPr>
          <p:cNvSpPr>
            <a:spLocks noGrp="1"/>
          </p:cNvSpPr>
          <p:nvPr>
            <p:ph type="sldNum" sz="quarter" idx="12"/>
          </p:nvPr>
        </p:nvSpPr>
        <p:spPr/>
        <p:txBody>
          <a:bodyPr/>
          <a:lstStyle/>
          <a:p>
            <a:fld id="{70E85387-20FC-2648-8F1D-0C359D3EA0C8}" type="slidenum">
              <a:rPr lang="en-US" smtClean="0"/>
              <a:t>‹#›</a:t>
            </a:fld>
            <a:endParaRPr lang="en-US"/>
          </a:p>
        </p:txBody>
      </p:sp>
    </p:spTree>
    <p:extLst>
      <p:ext uri="{BB962C8B-B14F-4D97-AF65-F5344CB8AC3E}">
        <p14:creationId xmlns:p14="http://schemas.microsoft.com/office/powerpoint/2010/main" val="412708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363364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53397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806158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47306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285807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608888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398768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7/29/21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331731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5846402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4131788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6119255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7/29/21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4064095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7/29/21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40002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45677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0341438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8916811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41848108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06376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582104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F06C81FB-A82A-5949-9CC7-0753844474EC}" type="slidenum">
              <a:rPr lang="en-US" smtClean="0"/>
              <a:t>‹#›</a:t>
            </a:fld>
            <a:endParaRPr lang="en-US"/>
          </a:p>
        </p:txBody>
      </p:sp>
    </p:spTree>
    <p:extLst>
      <p:ext uri="{BB962C8B-B14F-4D97-AF65-F5344CB8AC3E}">
        <p14:creationId xmlns:p14="http://schemas.microsoft.com/office/powerpoint/2010/main" val="5710664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33647406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F06C81FB-A82A-5949-9CC7-0753844474EC}"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2623857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F06C81FB-A82A-5949-9CC7-0753844474EC}"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8340893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4385756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F06C81FB-A82A-5949-9CC7-0753844474EC}"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6720290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3708248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5A011D86-DC34-7546-97EC-749AB3079894}" type="datetimeFigureOut">
              <a:rPr lang="en-US" smtClean="0"/>
              <a:t>7/29/21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39255739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8880890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2642704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1753988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5A011D86-DC34-7546-97EC-749AB3079894}" type="datetimeFigureOut">
              <a:rPr lang="en-US" smtClean="0"/>
              <a:t>7/29/21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4521240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5A011D86-DC34-7546-97EC-749AB3079894}" type="datetimeFigureOut">
              <a:rPr lang="en-US" smtClean="0"/>
              <a:t>7/29/21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21174570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27154741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1697849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27899924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A011D86-DC34-7546-97EC-749AB307989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C81FB-A82A-5949-9CC7-0753844474EC}"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38047557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24907286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5A011D86-DC34-7546-97EC-749AB307989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C81FB-A82A-5949-9CC7-0753844474EC}" type="slidenum">
              <a:rPr lang="en-US" smtClean="0"/>
              <a:t>‹#›</a:t>
            </a:fld>
            <a:endParaRPr lang="en-US"/>
          </a:p>
        </p:txBody>
      </p:sp>
    </p:spTree>
    <p:extLst>
      <p:ext uri="{BB962C8B-B14F-4D97-AF65-F5344CB8AC3E}">
        <p14:creationId xmlns:p14="http://schemas.microsoft.com/office/powerpoint/2010/main" val="39939106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Edit Master text styles</a:t>
            </a:r>
          </a:p>
        </p:txBody>
      </p:sp>
      <p:sp>
        <p:nvSpPr>
          <p:cNvPr id="4" name="Date Placeholder 3"/>
          <p:cNvSpPr>
            <a:spLocks noGrp="1"/>
          </p:cNvSpPr>
          <p:nvPr>
            <p:ph type="dt" sz="half" idx="10"/>
          </p:nvPr>
        </p:nvSpPr>
        <p:spPr/>
        <p:txBody>
          <a:bodyPr/>
          <a:lstStyle/>
          <a:p>
            <a:fld id="{3B5D1DFC-17E5-C14E-BC3E-6F75E2F6365C}"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2235F-EC74-7846-ADD8-6E0795AA41C0}" type="slidenum">
              <a:rPr lang="en-US" smtClean="0"/>
              <a:t>‹#›</a:t>
            </a:fld>
            <a:endParaRPr lang="en-US"/>
          </a:p>
        </p:txBody>
      </p:sp>
    </p:spTree>
    <p:extLst>
      <p:ext uri="{BB962C8B-B14F-4D97-AF65-F5344CB8AC3E}">
        <p14:creationId xmlns:p14="http://schemas.microsoft.com/office/powerpoint/2010/main" val="41930074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0882261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8844829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US"/>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10060353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US"/>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17141753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831675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8578658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32018593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7/29/21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133028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7873513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16638402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14588139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7/29/21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40488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7/29/21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3415727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9481568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168592037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85767211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7/29/21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16905304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5627019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7/29/21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931651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 Type="http://schemas.openxmlformats.org/officeDocument/2006/relationships/slideLayout" Target="../slideLayouts/slideLayout33.xml"/><Relationship Id="rId21" Type="http://schemas.openxmlformats.org/officeDocument/2006/relationships/theme" Target="../theme/theme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theme" Target="../theme/theme4.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DC31F3-683C-D045-A95B-0EC27CA2C9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8EF1DC-57E7-904E-98BF-D5D10293DA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D47479-C980-A84E-A2E5-5881B9D50A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AACE0-986B-954A-BDE6-68B4D7D9F963}" type="datetimeFigureOut">
              <a:rPr lang="en-US" smtClean="0"/>
              <a:t>7/29/21</a:t>
            </a:fld>
            <a:endParaRPr lang="en-US"/>
          </a:p>
        </p:txBody>
      </p:sp>
      <p:sp>
        <p:nvSpPr>
          <p:cNvPr id="5" name="Footer Placeholder 4">
            <a:extLst>
              <a:ext uri="{FF2B5EF4-FFF2-40B4-BE49-F238E27FC236}">
                <a16:creationId xmlns:a16="http://schemas.microsoft.com/office/drawing/2014/main" id="{F5B25FE8-A678-014F-B1F7-4D6BC1F62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87D8D9-8D56-9242-B7FA-28E157121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E85387-20FC-2648-8F1D-0C359D3EA0C8}" type="slidenum">
              <a:rPr lang="en-US" smtClean="0"/>
              <a:t>‹#›</a:t>
            </a:fld>
            <a:endParaRPr lang="en-US"/>
          </a:p>
        </p:txBody>
      </p:sp>
    </p:spTree>
    <p:extLst>
      <p:ext uri="{BB962C8B-B14F-4D97-AF65-F5344CB8AC3E}">
        <p14:creationId xmlns:p14="http://schemas.microsoft.com/office/powerpoint/2010/main" val="2666753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7/29/21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418318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5A011D86-DC34-7546-97EC-749AB3079894}" type="datetimeFigureOut">
              <a:rPr lang="en-US" smtClean="0"/>
              <a:t>7/29/21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F06C81FB-A82A-5949-9CC7-0753844474EC}" type="slidenum">
              <a:rPr lang="en-US" smtClean="0"/>
              <a:t>‹#›</a:t>
            </a:fld>
            <a:endParaRPr lang="en-US"/>
          </a:p>
        </p:txBody>
      </p:sp>
    </p:spTree>
    <p:extLst>
      <p:ext uri="{BB962C8B-B14F-4D97-AF65-F5344CB8AC3E}">
        <p14:creationId xmlns:p14="http://schemas.microsoft.com/office/powerpoint/2010/main" val="83038170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7/29/21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4832109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EFE69C-EB88-F244-AB62-461D2A5256E1}"/>
              </a:ext>
            </a:extLst>
          </p:cNvPr>
          <p:cNvPicPr>
            <a:picLocks noChangeAspect="1"/>
          </p:cNvPicPr>
          <p:nvPr/>
        </p:nvPicPr>
        <p:blipFill>
          <a:blip r:embed="rId2"/>
          <a:stretch>
            <a:fillRect/>
          </a:stretch>
        </p:blipFill>
        <p:spPr>
          <a:xfrm>
            <a:off x="2076450" y="102162"/>
            <a:ext cx="8039100" cy="4635500"/>
          </a:xfrm>
          <a:prstGeom prst="rect">
            <a:avLst/>
          </a:prstGeom>
        </p:spPr>
      </p:pic>
      <p:sp>
        <p:nvSpPr>
          <p:cNvPr id="5" name="Title 4"/>
          <p:cNvSpPr>
            <a:spLocks noGrp="1"/>
          </p:cNvSpPr>
          <p:nvPr>
            <p:ph type="title" idx="4294967295"/>
          </p:nvPr>
        </p:nvSpPr>
        <p:spPr>
          <a:xfrm>
            <a:off x="1875864" y="4989044"/>
            <a:ext cx="8440271" cy="614909"/>
          </a:xfrm>
        </p:spPr>
        <p:txBody>
          <a:bodyPr>
            <a:noAutofit/>
          </a:bodyPr>
          <a:lstStyle/>
          <a:p>
            <a:r>
              <a:rPr lang="en-US" sz="2000" dirty="0">
                <a:solidFill>
                  <a:schemeClr val="tx1"/>
                </a:solidFill>
              </a:rPr>
              <a:t>Question: Describe three findings from the data	(3 marks)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128039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17311" y="-191295"/>
            <a:ext cx="7175500" cy="1646238"/>
          </a:xfrm>
        </p:spPr>
        <p:txBody>
          <a:bodyPr>
            <a:normAutofit/>
          </a:bodyPr>
          <a:lstStyle/>
          <a:p>
            <a:r>
              <a:rPr lang="en-US" sz="3200" b="1" dirty="0"/>
              <a:t>Categories the following data collection tools: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graphicFrame>
        <p:nvGraphicFramePr>
          <p:cNvPr id="3" name="Table 3">
            <a:extLst>
              <a:ext uri="{FF2B5EF4-FFF2-40B4-BE49-F238E27FC236}">
                <a16:creationId xmlns:a16="http://schemas.microsoft.com/office/drawing/2014/main" id="{9DE9643F-AE0A-0249-B408-E7644040506D}"/>
              </a:ext>
            </a:extLst>
          </p:cNvPr>
          <p:cNvGraphicFramePr>
            <a:graphicFrameLocks noGrp="1"/>
          </p:cNvGraphicFramePr>
          <p:nvPr/>
        </p:nvGraphicFramePr>
        <p:xfrm>
          <a:off x="513167" y="2208007"/>
          <a:ext cx="10903384" cy="2103120"/>
        </p:xfrm>
        <a:graphic>
          <a:graphicData uri="http://schemas.openxmlformats.org/drawingml/2006/table">
            <a:tbl>
              <a:tblPr firstRow="1" bandRow="1">
                <a:tableStyleId>{93296810-A885-4BE3-A3E7-6D5BEEA58F35}</a:tableStyleId>
              </a:tblPr>
              <a:tblGrid>
                <a:gridCol w="2725846">
                  <a:extLst>
                    <a:ext uri="{9D8B030D-6E8A-4147-A177-3AD203B41FA5}">
                      <a16:colId xmlns:a16="http://schemas.microsoft.com/office/drawing/2014/main" val="2804104988"/>
                    </a:ext>
                  </a:extLst>
                </a:gridCol>
                <a:gridCol w="2725846">
                  <a:extLst>
                    <a:ext uri="{9D8B030D-6E8A-4147-A177-3AD203B41FA5}">
                      <a16:colId xmlns:a16="http://schemas.microsoft.com/office/drawing/2014/main" val="826121520"/>
                    </a:ext>
                  </a:extLst>
                </a:gridCol>
                <a:gridCol w="2725846">
                  <a:extLst>
                    <a:ext uri="{9D8B030D-6E8A-4147-A177-3AD203B41FA5}">
                      <a16:colId xmlns:a16="http://schemas.microsoft.com/office/drawing/2014/main" val="1227274984"/>
                    </a:ext>
                  </a:extLst>
                </a:gridCol>
                <a:gridCol w="2725846">
                  <a:extLst>
                    <a:ext uri="{9D8B030D-6E8A-4147-A177-3AD203B41FA5}">
                      <a16:colId xmlns:a16="http://schemas.microsoft.com/office/drawing/2014/main" val="4035015966"/>
                    </a:ext>
                  </a:extLst>
                </a:gridCol>
              </a:tblGrid>
              <a:tr h="370840">
                <a:tc>
                  <a:txBody>
                    <a:bodyPr/>
                    <a:lstStyle/>
                    <a:p>
                      <a:pPr algn="ctr"/>
                      <a:endParaRPr lang="en-US" sz="2400"/>
                    </a:p>
                  </a:txBody>
                  <a:tcPr/>
                </a:tc>
                <a:tc>
                  <a:txBody>
                    <a:bodyPr/>
                    <a:lstStyle/>
                    <a:p>
                      <a:pPr algn="ctr"/>
                      <a:r>
                        <a:rPr lang="en-US" sz="2400" dirty="0"/>
                        <a:t>Interviews</a:t>
                      </a:r>
                    </a:p>
                  </a:txBody>
                  <a:tcPr/>
                </a:tc>
                <a:tc>
                  <a:txBody>
                    <a:bodyPr/>
                    <a:lstStyle/>
                    <a:p>
                      <a:pPr algn="ctr"/>
                      <a:r>
                        <a:rPr lang="en-US" sz="2400" dirty="0"/>
                        <a:t>Likert scale</a:t>
                      </a:r>
                    </a:p>
                  </a:txBody>
                  <a:tcPr/>
                </a:tc>
                <a:tc>
                  <a:txBody>
                    <a:bodyPr/>
                    <a:lstStyle/>
                    <a:p>
                      <a:pPr algn="ctr"/>
                      <a:r>
                        <a:rPr lang="en-US" sz="2400" dirty="0"/>
                        <a:t>Heart rate </a:t>
                      </a:r>
                    </a:p>
                  </a:txBody>
                  <a:tcPr/>
                </a:tc>
                <a:extLst>
                  <a:ext uri="{0D108BD9-81ED-4DB2-BD59-A6C34878D82A}">
                    <a16:rowId xmlns:a16="http://schemas.microsoft.com/office/drawing/2014/main" val="4062759269"/>
                  </a:ext>
                </a:extLst>
              </a:tr>
              <a:tr h="370840">
                <a:tc>
                  <a:txBody>
                    <a:bodyPr/>
                    <a:lstStyle/>
                    <a:p>
                      <a:r>
                        <a:rPr lang="en-US" sz="2400" dirty="0"/>
                        <a:t>Subjective OR Objective</a:t>
                      </a:r>
                    </a:p>
                  </a:txBody>
                  <a:tcPr/>
                </a:tc>
                <a:tc>
                  <a:txBody>
                    <a:bodyPr/>
                    <a:lstStyle/>
                    <a:p>
                      <a:endParaRPr lang="en-US" sz="2400"/>
                    </a:p>
                  </a:txBody>
                  <a:tcPr/>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4199325298"/>
                  </a:ext>
                </a:extLst>
              </a:tr>
              <a:tr h="370840">
                <a:tc>
                  <a:txBody>
                    <a:bodyPr/>
                    <a:lstStyle/>
                    <a:p>
                      <a:r>
                        <a:rPr lang="en-US" sz="2400" dirty="0"/>
                        <a:t>Qualitative OR Quantitative</a:t>
                      </a:r>
                    </a:p>
                  </a:txBody>
                  <a:tcPr/>
                </a:tc>
                <a:tc>
                  <a:txBody>
                    <a:bodyPr/>
                    <a:lstStyle/>
                    <a:p>
                      <a:endParaRPr lang="en-US" sz="2400" dirty="0"/>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3583375696"/>
                  </a:ext>
                </a:extLst>
              </a:tr>
            </a:tbl>
          </a:graphicData>
        </a:graphic>
      </p:graphicFrame>
    </p:spTree>
    <p:extLst>
      <p:ext uri="{BB962C8B-B14F-4D97-AF65-F5344CB8AC3E}">
        <p14:creationId xmlns:p14="http://schemas.microsoft.com/office/powerpoint/2010/main" val="120683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30758" y="1408904"/>
            <a:ext cx="7711736" cy="3391695"/>
          </a:xfrm>
        </p:spPr>
        <p:txBody>
          <a:bodyPr>
            <a:normAutofit/>
          </a:bodyPr>
          <a:lstStyle/>
          <a:p>
            <a:pPr algn="ctr"/>
            <a:r>
              <a:rPr lang="en-US" b="1" dirty="0">
                <a:solidFill>
                  <a:schemeClr val="tx1"/>
                </a:solidFill>
              </a:rPr>
              <a:t>Write 2 </a:t>
            </a:r>
            <a:r>
              <a:rPr lang="en-US" b="1" dirty="0" err="1">
                <a:solidFill>
                  <a:schemeClr val="tx1"/>
                </a:solidFill>
              </a:rPr>
              <a:t>likert</a:t>
            </a:r>
            <a:r>
              <a:rPr lang="en-US" b="1" dirty="0">
                <a:solidFill>
                  <a:schemeClr val="tx1"/>
                </a:solidFill>
              </a:rPr>
              <a:t> scale questions that could help measure a persons extroversion</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2646128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24779" y="1920082"/>
            <a:ext cx="11342442" cy="1646238"/>
          </a:xfrm>
        </p:spPr>
        <p:txBody>
          <a:bodyPr>
            <a:noAutofit/>
          </a:bodyPr>
          <a:lstStyle/>
          <a:p>
            <a:r>
              <a:rPr lang="en-US" sz="2000" dirty="0">
                <a:solidFill>
                  <a:schemeClr val="tx1"/>
                </a:solidFill>
              </a:rPr>
              <a:t>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marker from her dealer Jiggy and convinces half of her clientele at the gym to start injecting. This continues for thirty days while Chloe keeps a journal of how much weight each person in the two groups can squat. At the end of the month she compares the results.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2" name="TextBox 1">
            <a:extLst>
              <a:ext uri="{FF2B5EF4-FFF2-40B4-BE49-F238E27FC236}">
                <a16:creationId xmlns:a16="http://schemas.microsoft.com/office/drawing/2014/main" id="{4C368280-1A32-AA42-BB99-216A104295A4}"/>
              </a:ext>
            </a:extLst>
          </p:cNvPr>
          <p:cNvSpPr txBox="1"/>
          <p:nvPr/>
        </p:nvSpPr>
        <p:spPr>
          <a:xfrm>
            <a:off x="3119718" y="4276165"/>
            <a:ext cx="5961888" cy="175432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Identify the: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1. IV and DV</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2. Experimental group and Control group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Write an operationalized hypothesis for this scenario</a:t>
            </a:r>
          </a:p>
        </p:txBody>
      </p:sp>
    </p:spTree>
    <p:extLst>
      <p:ext uri="{BB962C8B-B14F-4D97-AF65-F5344CB8AC3E}">
        <p14:creationId xmlns:p14="http://schemas.microsoft.com/office/powerpoint/2010/main" val="2702088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24779" y="1920082"/>
            <a:ext cx="11342442" cy="1646238"/>
          </a:xfrm>
        </p:spPr>
        <p:txBody>
          <a:bodyPr>
            <a:noAutofit/>
          </a:bodyPr>
          <a:lstStyle/>
          <a:p>
            <a:r>
              <a:rPr lang="en-US" sz="2000" dirty="0">
                <a:solidFill>
                  <a:schemeClr val="tx1"/>
                </a:solidFill>
              </a:rPr>
              <a:t>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marker from her dealer Jiggy and convinces half of her clientele at the gym to start injecting. This continues for thirty days while Chloe keeps a journal of how much weight each person in the two groups can squat. At the end of the month she compares the results.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2" name="TextBox 1">
            <a:extLst>
              <a:ext uri="{FF2B5EF4-FFF2-40B4-BE49-F238E27FC236}">
                <a16:creationId xmlns:a16="http://schemas.microsoft.com/office/drawing/2014/main" id="{4C368280-1A32-AA42-BB99-216A104295A4}"/>
              </a:ext>
            </a:extLst>
          </p:cNvPr>
          <p:cNvSpPr txBox="1"/>
          <p:nvPr/>
        </p:nvSpPr>
        <p:spPr>
          <a:xfrm>
            <a:off x="3119718" y="4276165"/>
            <a:ext cx="5961888" cy="175432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Identify the: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1. IV and DV</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2. Experimental group and Control group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Write an operationalized hypothesis for this scenario</a:t>
            </a:r>
          </a:p>
        </p:txBody>
      </p:sp>
    </p:spTree>
    <p:extLst>
      <p:ext uri="{BB962C8B-B14F-4D97-AF65-F5344CB8AC3E}">
        <p14:creationId xmlns:p14="http://schemas.microsoft.com/office/powerpoint/2010/main" val="1211165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480981" y="5696930"/>
            <a:ext cx="8440271" cy="614909"/>
          </a:xfrm>
        </p:spPr>
        <p:txBody>
          <a:bodyPr>
            <a:noAutofit/>
          </a:bodyPr>
          <a:lstStyle/>
          <a:p>
            <a:r>
              <a:rPr lang="en-US" sz="2000" dirty="0">
                <a:solidFill>
                  <a:schemeClr val="tx1"/>
                </a:solidFill>
              </a:rPr>
              <a:t>1. How many fishing boat deaths were there in 2004? </a:t>
            </a:r>
            <a:br>
              <a:rPr lang="en-US" sz="2000" dirty="0">
                <a:solidFill>
                  <a:schemeClr val="tx1"/>
                </a:solidFill>
              </a:rPr>
            </a:br>
            <a:r>
              <a:rPr lang="en-US" sz="2000" dirty="0">
                <a:solidFill>
                  <a:schemeClr val="tx1"/>
                </a:solidFill>
              </a:rPr>
              <a:t>2. Describe the correlation between the years 1999 to 2001.</a:t>
            </a:r>
            <a:br>
              <a:rPr lang="en-US" sz="2000" dirty="0">
                <a:solidFill>
                  <a:schemeClr val="tx1"/>
                </a:solidFill>
              </a:rPr>
            </a:br>
            <a:endParaRPr lang="en-US" sz="2000" dirty="0">
              <a:solidFill>
                <a:schemeClr val="tx1"/>
              </a:solidFill>
            </a:endParaRPr>
          </a:p>
        </p:txBody>
      </p:sp>
      <p:sp>
        <p:nvSpPr>
          <p:cNvPr id="9" name="TextBox 8">
            <a:extLst>
              <a:ext uri="{FF2B5EF4-FFF2-40B4-BE49-F238E27FC236}">
                <a16:creationId xmlns:a16="http://schemas.microsoft.com/office/drawing/2014/main" id="{A4B3C05C-FA6D-48F9-AE64-DE8B3C71D4F1}"/>
              </a:ext>
            </a:extLst>
          </p:cNvPr>
          <p:cNvSpPr txBox="1"/>
          <p:nvPr/>
        </p:nvSpPr>
        <p:spPr>
          <a:xfrm>
            <a:off x="0" y="16915"/>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1030" name="Picture 6" descr="Student Shares A Graphic About Nicolas Cage Movies With His Math Teacher,  And It Proves Correlation Does Not Mean Causation | Bored Panda">
            <a:extLst>
              <a:ext uri="{FF2B5EF4-FFF2-40B4-BE49-F238E27FC236}">
                <a16:creationId xmlns:a16="http://schemas.microsoft.com/office/drawing/2014/main" id="{AEB19315-0F93-A34B-BBDA-6F2DB5795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445" y="724801"/>
            <a:ext cx="10815109" cy="4264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918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87F6-7899-8A4C-B0CE-119200A57932}"/>
              </a:ext>
            </a:extLst>
          </p:cNvPr>
          <p:cNvSpPr>
            <a:spLocks noGrp="1"/>
          </p:cNvSpPr>
          <p:nvPr>
            <p:ph type="title"/>
          </p:nvPr>
        </p:nvSpPr>
        <p:spPr>
          <a:xfrm>
            <a:off x="704193" y="1563305"/>
            <a:ext cx="10515600" cy="1325563"/>
          </a:xfrm>
        </p:spPr>
        <p:txBody>
          <a:bodyPr>
            <a:normAutofit/>
          </a:bodyPr>
          <a:lstStyle/>
          <a:p>
            <a:r>
              <a:rPr lang="en-US" sz="7200" b="1" dirty="0"/>
              <a:t>Group behaviour task </a:t>
            </a:r>
          </a:p>
        </p:txBody>
      </p:sp>
      <p:graphicFrame>
        <p:nvGraphicFramePr>
          <p:cNvPr id="4" name="Table 3">
            <a:extLst>
              <a:ext uri="{FF2B5EF4-FFF2-40B4-BE49-F238E27FC236}">
                <a16:creationId xmlns:a16="http://schemas.microsoft.com/office/drawing/2014/main" id="{1EB46B19-CCE1-E54A-9C21-B0AC411AF15E}"/>
              </a:ext>
            </a:extLst>
          </p:cNvPr>
          <p:cNvGraphicFramePr>
            <a:graphicFrameLocks noGrp="1"/>
          </p:cNvGraphicFramePr>
          <p:nvPr>
            <p:extLst>
              <p:ext uri="{D42A27DB-BD31-4B8C-83A1-F6EECF244321}">
                <p14:modId xmlns:p14="http://schemas.microsoft.com/office/powerpoint/2010/main" val="74604430"/>
              </p:ext>
            </p:extLst>
          </p:nvPr>
        </p:nvGraphicFramePr>
        <p:xfrm>
          <a:off x="9065356" y="5847080"/>
          <a:ext cx="3126644" cy="1010920"/>
        </p:xfrm>
        <a:graphic>
          <a:graphicData uri="http://schemas.openxmlformats.org/drawingml/2006/table">
            <a:tbl>
              <a:tblPr firstRow="1" bandRow="1">
                <a:tableStyleId>{F5AB1C69-6EDB-4FF4-983F-18BD219EF322}</a:tableStyleId>
              </a:tblPr>
              <a:tblGrid>
                <a:gridCol w="3126644">
                  <a:extLst>
                    <a:ext uri="{9D8B030D-6E8A-4147-A177-3AD203B41FA5}">
                      <a16:colId xmlns:a16="http://schemas.microsoft.com/office/drawing/2014/main" val="20000"/>
                    </a:ext>
                  </a:extLst>
                </a:gridCol>
              </a:tblGrid>
              <a:tr h="370840">
                <a:tc>
                  <a:txBody>
                    <a:bodyPr/>
                    <a:lstStyle/>
                    <a:p>
                      <a:r>
                        <a:rPr lang="en-AU" sz="1800" dirty="0"/>
                        <a:t>Reminders</a:t>
                      </a:r>
                    </a:p>
                  </a:txBody>
                  <a:tcPr>
                    <a:solidFill>
                      <a:srgbClr val="7030A0"/>
                    </a:solidFill>
                  </a:tcPr>
                </a:tc>
                <a:extLst>
                  <a:ext uri="{0D108BD9-81ED-4DB2-BD59-A6C34878D82A}">
                    <a16:rowId xmlns:a16="http://schemas.microsoft.com/office/drawing/2014/main" val="10000"/>
                  </a:ext>
                </a:extLst>
              </a:tr>
              <a:tr h="365585">
                <a:tc>
                  <a:txBody>
                    <a:bodyPr/>
                    <a:lstStyle/>
                    <a:p>
                      <a:pPr marL="0" marR="0" lvl="0" indent="0" defTabSz="914400" eaLnBrk="1" fontAlgn="auto" latinLnBrk="0" hangingPunct="1">
                        <a:lnSpc>
                          <a:spcPct val="100000"/>
                        </a:lnSpc>
                        <a:spcBef>
                          <a:spcPts val="0"/>
                        </a:spcBef>
                        <a:spcAft>
                          <a:spcPts val="0"/>
                        </a:spcAft>
                        <a:buClrTx/>
                        <a:buSzTx/>
                        <a:buFont typeface="+mj-lt"/>
                        <a:buNone/>
                        <a:tabLst/>
                        <a:defRPr/>
                      </a:pPr>
                      <a:r>
                        <a:rPr lang="en-US" sz="1800" dirty="0"/>
                        <a:t>Assessment due: Tuesday Week 4 – Investigation </a:t>
                      </a:r>
                    </a:p>
                  </a:txBody>
                  <a:tcPr>
                    <a:solidFill>
                      <a:schemeClr val="bg1">
                        <a:lumMod val="9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28928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1193785436"/>
              </p:ext>
            </p:extLst>
          </p:nvPr>
        </p:nvGraphicFramePr>
        <p:xfrm>
          <a:off x="118241" y="3610528"/>
          <a:ext cx="11075524" cy="2976792"/>
        </p:xfrm>
        <a:graphic>
          <a:graphicData uri="http://schemas.openxmlformats.org/drawingml/2006/table">
            <a:tbl>
              <a:tblPr firstRow="1" bandRow="1">
                <a:tableStyleId>{5C22544A-7EE6-4342-B048-85BDC9FD1C3A}</a:tableStyleId>
              </a:tblPr>
              <a:tblGrid>
                <a:gridCol w="11075524">
                  <a:extLst>
                    <a:ext uri="{9D8B030D-6E8A-4147-A177-3AD203B41FA5}">
                      <a16:colId xmlns:a16="http://schemas.microsoft.com/office/drawing/2014/main" val="20000"/>
                    </a:ext>
                  </a:extLst>
                </a:gridCol>
              </a:tblGrid>
              <a:tr h="744198">
                <a:tc>
                  <a:txBody>
                    <a:bodyPr/>
                    <a:lstStyle/>
                    <a:p>
                      <a:r>
                        <a:rPr lang="en-US" dirty="0"/>
                        <a:t>Everyone </a:t>
                      </a:r>
                    </a:p>
                  </a:txBody>
                  <a:tcPr/>
                </a:tc>
                <a:extLst>
                  <a:ext uri="{0D108BD9-81ED-4DB2-BD59-A6C34878D82A}">
                    <a16:rowId xmlns:a16="http://schemas.microsoft.com/office/drawing/2014/main" val="10000"/>
                  </a:ext>
                </a:extLst>
              </a:tr>
              <a:tr h="744198">
                <a:tc>
                  <a:txBody>
                    <a:bodyPr/>
                    <a:lstStyle/>
                    <a:p>
                      <a:r>
                        <a:rPr lang="en-US" sz="2400" b="0" dirty="0"/>
                        <a:t>Participated in the group competitive activity</a:t>
                      </a:r>
                    </a:p>
                  </a:txBody>
                  <a:tcPr/>
                </a:tc>
                <a:extLst>
                  <a:ext uri="{0D108BD9-81ED-4DB2-BD59-A6C34878D82A}">
                    <a16:rowId xmlns:a16="http://schemas.microsoft.com/office/drawing/2014/main" val="10001"/>
                  </a:ext>
                </a:extLst>
              </a:tr>
              <a:tr h="7441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Completed my reflection survey</a:t>
                      </a:r>
                    </a:p>
                  </a:txBody>
                  <a:tcPr/>
                </a:tc>
                <a:extLst>
                  <a:ext uri="{0D108BD9-81ED-4DB2-BD59-A6C34878D82A}">
                    <a16:rowId xmlns:a16="http://schemas.microsoft.com/office/drawing/2014/main" val="10002"/>
                  </a:ext>
                </a:extLst>
              </a:tr>
              <a:tr h="7441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Researched and compared 3 different leadership styles </a:t>
                      </a:r>
                    </a:p>
                  </a:txBody>
                  <a:tcPr/>
                </a:tc>
                <a:extLst>
                  <a:ext uri="{0D108BD9-81ED-4DB2-BD59-A6C34878D82A}">
                    <a16:rowId xmlns:a16="http://schemas.microsoft.com/office/drawing/2014/main" val="2565520172"/>
                  </a:ext>
                </a:extLst>
              </a:tr>
            </a:tbl>
          </a:graphicData>
        </a:graphic>
      </p:graphicFrame>
      <p:sp>
        <p:nvSpPr>
          <p:cNvPr id="4" name="Title 1"/>
          <p:cNvSpPr txBox="1">
            <a:spLocks/>
          </p:cNvSpPr>
          <p:nvPr/>
        </p:nvSpPr>
        <p:spPr>
          <a:xfrm>
            <a:off x="-184165" y="0"/>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solidFill>
              </a:rPr>
              <a:t>Learning Intention </a:t>
            </a:r>
          </a:p>
        </p:txBody>
      </p:sp>
      <p:sp>
        <p:nvSpPr>
          <p:cNvPr id="5" name="TextBox 4"/>
          <p:cNvSpPr txBox="1"/>
          <p:nvPr/>
        </p:nvSpPr>
        <p:spPr>
          <a:xfrm>
            <a:off x="118241" y="1100560"/>
            <a:ext cx="11588851" cy="1938992"/>
          </a:xfrm>
          <a:prstGeom prst="rect">
            <a:avLst/>
          </a:prstGeom>
          <a:noFill/>
        </p:spPr>
        <p:txBody>
          <a:bodyPr wrap="square" rtlCol="0">
            <a:spAutoFit/>
          </a:bodyPr>
          <a:lstStyle/>
          <a:p>
            <a:r>
              <a:rPr lang="en-US" sz="3200" dirty="0"/>
              <a:t>By the end of the lesson I will be able to:</a:t>
            </a:r>
            <a:br>
              <a:rPr lang="en-US" sz="3200" dirty="0"/>
            </a:br>
            <a:endParaRPr lang="en-US" sz="3200" dirty="0"/>
          </a:p>
          <a:p>
            <a:r>
              <a:rPr lang="en-US" sz="2800" dirty="0"/>
              <a:t>Collect data for my last investigation </a:t>
            </a:r>
          </a:p>
          <a:p>
            <a:r>
              <a:rPr lang="en-US" sz="2800" dirty="0"/>
              <a:t>Explain 3 different group dynamics</a:t>
            </a:r>
          </a:p>
        </p:txBody>
      </p:sp>
      <p:pic>
        <p:nvPicPr>
          <p:cNvPr id="3" name="Picture 2" descr="Iconsmind-Outline-Pen-5.ic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7431" y="136524"/>
            <a:ext cx="1143001" cy="1143001"/>
          </a:xfrm>
          <a:prstGeom prst="rect">
            <a:avLst/>
          </a:prstGeom>
        </p:spPr>
      </p:pic>
      <p:sp>
        <p:nvSpPr>
          <p:cNvPr id="9" name="Title 1">
            <a:extLst>
              <a:ext uri="{FF2B5EF4-FFF2-40B4-BE49-F238E27FC236}">
                <a16:creationId xmlns:a16="http://schemas.microsoft.com/office/drawing/2014/main" id="{6676DBBC-1F85-554D-A2D6-B79EE01495D2}"/>
              </a:ext>
            </a:extLst>
          </p:cNvPr>
          <p:cNvSpPr txBox="1">
            <a:spLocks/>
          </p:cNvSpPr>
          <p:nvPr/>
        </p:nvSpPr>
        <p:spPr>
          <a:xfrm>
            <a:off x="5366165" y="2380085"/>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solidFill>
                  <a:schemeClr val="accent1"/>
                </a:solidFill>
              </a:rPr>
              <a:t>Success Criteria</a:t>
            </a:r>
          </a:p>
        </p:txBody>
      </p:sp>
    </p:spTree>
    <p:extLst>
      <p:ext uri="{BB962C8B-B14F-4D97-AF65-F5344CB8AC3E}">
        <p14:creationId xmlns:p14="http://schemas.microsoft.com/office/powerpoint/2010/main" val="240511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454A59-47D4-2D4A-B660-17DA2CB89A3E}"/>
              </a:ext>
            </a:extLst>
          </p:cNvPr>
          <p:cNvSpPr txBox="1"/>
          <p:nvPr/>
        </p:nvSpPr>
        <p:spPr>
          <a:xfrm rot="16200000">
            <a:off x="-956768" y="1523698"/>
            <a:ext cx="2282869" cy="369332"/>
          </a:xfrm>
          <a:prstGeom prst="rect">
            <a:avLst/>
          </a:prstGeom>
          <a:solidFill>
            <a:schemeClr val="accent1"/>
          </a:solidFill>
        </p:spPr>
        <p:txBody>
          <a:bodyPr wrap="none" rtlCol="0">
            <a:spAutoFit/>
          </a:bodyPr>
          <a:lstStyle/>
          <a:p>
            <a:r>
              <a:rPr lang="en-AU" dirty="0">
                <a:solidFill>
                  <a:schemeClr val="bg1"/>
                </a:solidFill>
              </a:rPr>
              <a:t>Concept Development</a:t>
            </a:r>
          </a:p>
        </p:txBody>
      </p:sp>
      <p:sp>
        <p:nvSpPr>
          <p:cNvPr id="3" name="TextBox 2">
            <a:extLst>
              <a:ext uri="{FF2B5EF4-FFF2-40B4-BE49-F238E27FC236}">
                <a16:creationId xmlns:a16="http://schemas.microsoft.com/office/drawing/2014/main" id="{B4970E73-56BD-9945-BE31-1BADB9D8A41C}"/>
              </a:ext>
            </a:extLst>
          </p:cNvPr>
          <p:cNvSpPr txBox="1"/>
          <p:nvPr/>
        </p:nvSpPr>
        <p:spPr>
          <a:xfrm>
            <a:off x="2064439" y="5354"/>
            <a:ext cx="963725" cy="523220"/>
          </a:xfrm>
          <a:prstGeom prst="rect">
            <a:avLst/>
          </a:prstGeom>
          <a:noFill/>
        </p:spPr>
        <p:txBody>
          <a:bodyPr wrap="none" rtlCol="0">
            <a:spAutoFit/>
          </a:bodyPr>
          <a:lstStyle/>
          <a:p>
            <a:r>
              <a:rPr lang="en-AU" sz="2800" b="1" dirty="0">
                <a:solidFill>
                  <a:schemeClr val="accent1"/>
                </a:solidFill>
              </a:rPr>
              <a:t>TITLE</a:t>
            </a:r>
          </a:p>
        </p:txBody>
      </p:sp>
      <p:graphicFrame>
        <p:nvGraphicFramePr>
          <p:cNvPr id="5" name="Table 4">
            <a:extLst>
              <a:ext uri="{FF2B5EF4-FFF2-40B4-BE49-F238E27FC236}">
                <a16:creationId xmlns:a16="http://schemas.microsoft.com/office/drawing/2014/main" id="{CF21DEA7-128D-A044-9ED9-2E822794E105}"/>
              </a:ext>
            </a:extLst>
          </p:cNvPr>
          <p:cNvGraphicFramePr>
            <a:graphicFrameLocks noGrp="1"/>
          </p:cNvGraphicFramePr>
          <p:nvPr/>
        </p:nvGraphicFramePr>
        <p:xfrm>
          <a:off x="9030594" y="868433"/>
          <a:ext cx="3150896" cy="741680"/>
        </p:xfrm>
        <a:graphic>
          <a:graphicData uri="http://schemas.openxmlformats.org/drawingml/2006/table">
            <a:tbl>
              <a:tblPr firstRow="1" bandRow="1">
                <a:tableStyleId>{5C22544A-7EE6-4342-B048-85BDC9FD1C3A}</a:tableStyleId>
              </a:tblPr>
              <a:tblGrid>
                <a:gridCol w="3150896">
                  <a:extLst>
                    <a:ext uri="{9D8B030D-6E8A-4147-A177-3AD203B41FA5}">
                      <a16:colId xmlns:a16="http://schemas.microsoft.com/office/drawing/2014/main" val="1024621798"/>
                    </a:ext>
                  </a:extLst>
                </a:gridCol>
              </a:tblGrid>
              <a:tr h="370840">
                <a:tc>
                  <a:txBody>
                    <a:bodyPr/>
                    <a:lstStyle/>
                    <a:p>
                      <a:pPr algn="ctr"/>
                      <a:r>
                        <a:rPr lang="en-AU" sz="1400" dirty="0"/>
                        <a:t>Vocabulary</a:t>
                      </a:r>
                    </a:p>
                  </a:txBody>
                  <a:tcPr/>
                </a:tc>
                <a:extLst>
                  <a:ext uri="{0D108BD9-81ED-4DB2-BD59-A6C34878D82A}">
                    <a16:rowId xmlns:a16="http://schemas.microsoft.com/office/drawing/2014/main" val="1679219781"/>
                  </a:ext>
                </a:extLst>
              </a:tr>
              <a:tr h="370840">
                <a:tc>
                  <a:txBody>
                    <a:bodyPr/>
                    <a:lstStyle/>
                    <a:p>
                      <a:r>
                        <a:rPr lang="en-AU" sz="1400" b="1" dirty="0"/>
                        <a:t>Define:</a:t>
                      </a:r>
                      <a:endParaRPr lang="en-AU" sz="1400" b="0" dirty="0"/>
                    </a:p>
                  </a:txBody>
                  <a:tcPr/>
                </a:tc>
                <a:extLst>
                  <a:ext uri="{0D108BD9-81ED-4DB2-BD59-A6C34878D82A}">
                    <a16:rowId xmlns:a16="http://schemas.microsoft.com/office/drawing/2014/main" val="3190978482"/>
                  </a:ext>
                </a:extLst>
              </a:tr>
            </a:tbl>
          </a:graphicData>
        </a:graphic>
      </p:graphicFrame>
      <p:graphicFrame>
        <p:nvGraphicFramePr>
          <p:cNvPr id="6" name="Table 5">
            <a:extLst>
              <a:ext uri="{FF2B5EF4-FFF2-40B4-BE49-F238E27FC236}">
                <a16:creationId xmlns:a16="http://schemas.microsoft.com/office/drawing/2014/main" id="{A10D51C2-38FD-464F-B88A-6D72FE98D9C3}"/>
              </a:ext>
            </a:extLst>
          </p:cNvPr>
          <p:cNvGraphicFramePr>
            <a:graphicFrameLocks noGrp="1"/>
          </p:cNvGraphicFramePr>
          <p:nvPr/>
        </p:nvGraphicFramePr>
        <p:xfrm>
          <a:off x="7061051" y="5576372"/>
          <a:ext cx="5130949" cy="1102360"/>
        </p:xfrm>
        <a:graphic>
          <a:graphicData uri="http://schemas.openxmlformats.org/drawingml/2006/table">
            <a:tbl>
              <a:tblPr firstRow="1" bandRow="1">
                <a:tableStyleId>{93296810-A885-4BE3-A3E7-6D5BEEA58F35}</a:tableStyleId>
              </a:tblPr>
              <a:tblGrid>
                <a:gridCol w="5130949">
                  <a:extLst>
                    <a:ext uri="{9D8B030D-6E8A-4147-A177-3AD203B41FA5}">
                      <a16:colId xmlns:a16="http://schemas.microsoft.com/office/drawing/2014/main" val="1024621798"/>
                    </a:ext>
                  </a:extLst>
                </a:gridCol>
              </a:tblGrid>
              <a:tr h="370840">
                <a:tc>
                  <a:txBody>
                    <a:bodyPr/>
                    <a:lstStyle/>
                    <a:p>
                      <a:pPr algn="ctr"/>
                      <a:r>
                        <a:rPr lang="en-AU" sz="1400" dirty="0"/>
                        <a:t>Checking for understanding</a:t>
                      </a:r>
                    </a:p>
                  </a:txBody>
                  <a:tcPr/>
                </a:tc>
                <a:extLst>
                  <a:ext uri="{0D108BD9-81ED-4DB2-BD59-A6C34878D82A}">
                    <a16:rowId xmlns:a16="http://schemas.microsoft.com/office/drawing/2014/main" val="1679219781"/>
                  </a:ext>
                </a:extLst>
              </a:tr>
              <a:tr h="370840">
                <a:tc>
                  <a:txBody>
                    <a:bodyPr/>
                    <a:lstStyle/>
                    <a:p>
                      <a:pPr marL="342900" indent="-342900">
                        <a:buFont typeface="+mj-lt"/>
                        <a:buAutoNum type="arabicPeriod"/>
                      </a:pPr>
                      <a:r>
                        <a:rPr lang="en-AU" sz="1400" dirty="0"/>
                        <a:t>Summarise</a:t>
                      </a:r>
                    </a:p>
                    <a:p>
                      <a:pPr marL="342900" indent="-342900">
                        <a:buFont typeface="+mj-lt"/>
                        <a:buAutoNum type="arabicPeriod"/>
                      </a:pPr>
                      <a:r>
                        <a:rPr lang="en-AU" sz="1400" dirty="0"/>
                        <a:t>Define</a:t>
                      </a:r>
                    </a:p>
                    <a:p>
                      <a:pPr marL="342900" indent="-342900">
                        <a:buFont typeface="+mj-lt"/>
                        <a:buAutoNum type="arabicPeriod"/>
                      </a:pPr>
                      <a:r>
                        <a:rPr lang="en-AU" sz="1400" dirty="0"/>
                        <a:t>Explain</a:t>
                      </a:r>
                    </a:p>
                  </a:txBody>
                  <a:tcPr/>
                </a:tc>
                <a:extLst>
                  <a:ext uri="{0D108BD9-81ED-4DB2-BD59-A6C34878D82A}">
                    <a16:rowId xmlns:a16="http://schemas.microsoft.com/office/drawing/2014/main" val="3190978482"/>
                  </a:ext>
                </a:extLst>
              </a:tr>
            </a:tbl>
          </a:graphicData>
        </a:graphic>
      </p:graphicFrame>
      <p:sp>
        <p:nvSpPr>
          <p:cNvPr id="9" name="TextBox 8">
            <a:extLst>
              <a:ext uri="{FF2B5EF4-FFF2-40B4-BE49-F238E27FC236}">
                <a16:creationId xmlns:a16="http://schemas.microsoft.com/office/drawing/2014/main" id="{9E4CB6F2-E4A4-7940-9F1E-F8EF4C7F4417}"/>
              </a:ext>
            </a:extLst>
          </p:cNvPr>
          <p:cNvSpPr txBox="1"/>
          <p:nvPr/>
        </p:nvSpPr>
        <p:spPr>
          <a:xfrm>
            <a:off x="7612083" y="42040"/>
            <a:ext cx="4569407" cy="307777"/>
          </a:xfrm>
          <a:prstGeom prst="rect">
            <a:avLst/>
          </a:prstGeom>
          <a:solidFill>
            <a:schemeClr val="accent5"/>
          </a:solidFill>
        </p:spPr>
        <p:txBody>
          <a:bodyPr wrap="square" rtlCol="0">
            <a:spAutoFit/>
          </a:bodyPr>
          <a:lstStyle/>
          <a:p>
            <a:pPr algn="r"/>
            <a:r>
              <a:rPr lang="en-AU" sz="1400" dirty="0"/>
              <a:t>LO: Explain the process of neural transmission (3.3)</a:t>
            </a:r>
          </a:p>
        </p:txBody>
      </p:sp>
      <p:sp>
        <p:nvSpPr>
          <p:cNvPr id="4" name="TextBox 3">
            <a:extLst>
              <a:ext uri="{FF2B5EF4-FFF2-40B4-BE49-F238E27FC236}">
                <a16:creationId xmlns:a16="http://schemas.microsoft.com/office/drawing/2014/main" id="{BBAAB358-1EF4-7D44-A12D-9DF509A6789B}"/>
              </a:ext>
            </a:extLst>
          </p:cNvPr>
          <p:cNvSpPr txBox="1"/>
          <p:nvPr/>
        </p:nvSpPr>
        <p:spPr>
          <a:xfrm>
            <a:off x="767255" y="1177159"/>
            <a:ext cx="641522" cy="1754326"/>
          </a:xfrm>
          <a:prstGeom prst="rect">
            <a:avLst/>
          </a:prstGeom>
          <a:noFill/>
        </p:spPr>
        <p:txBody>
          <a:bodyPr wrap="none" rtlCol="0">
            <a:spAutoFit/>
          </a:bodyPr>
          <a:lstStyle/>
          <a:p>
            <a:r>
              <a:rPr lang="en-US" dirty="0"/>
              <a:t>TEXT</a:t>
            </a:r>
          </a:p>
          <a:p>
            <a:r>
              <a:rPr lang="en-US" dirty="0"/>
              <a:t>-text</a:t>
            </a:r>
          </a:p>
          <a:p>
            <a:r>
              <a:rPr lang="en-US" dirty="0"/>
              <a:t>-text</a:t>
            </a:r>
          </a:p>
          <a:p>
            <a:endParaRPr lang="en-US" dirty="0"/>
          </a:p>
          <a:p>
            <a:endParaRPr lang="en-US" dirty="0"/>
          </a:p>
          <a:p>
            <a:endParaRPr lang="en-US" dirty="0"/>
          </a:p>
        </p:txBody>
      </p:sp>
    </p:spTree>
    <p:extLst>
      <p:ext uri="{BB962C8B-B14F-4D97-AF65-F5344CB8AC3E}">
        <p14:creationId xmlns:p14="http://schemas.microsoft.com/office/powerpoint/2010/main" val="878759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454A59-47D4-2D4A-B660-17DA2CB89A3E}"/>
              </a:ext>
            </a:extLst>
          </p:cNvPr>
          <p:cNvSpPr txBox="1"/>
          <p:nvPr/>
        </p:nvSpPr>
        <p:spPr>
          <a:xfrm rot="16200000">
            <a:off x="-956768" y="1523698"/>
            <a:ext cx="2282869" cy="369332"/>
          </a:xfrm>
          <a:prstGeom prst="rect">
            <a:avLst/>
          </a:prstGeom>
          <a:solidFill>
            <a:schemeClr val="accent1"/>
          </a:solidFill>
        </p:spPr>
        <p:txBody>
          <a:bodyPr wrap="none" rtlCol="0">
            <a:spAutoFit/>
          </a:bodyPr>
          <a:lstStyle/>
          <a:p>
            <a:r>
              <a:rPr lang="en-AU" dirty="0">
                <a:solidFill>
                  <a:schemeClr val="bg1"/>
                </a:solidFill>
              </a:rPr>
              <a:t>Concept Development</a:t>
            </a:r>
          </a:p>
        </p:txBody>
      </p:sp>
      <p:sp>
        <p:nvSpPr>
          <p:cNvPr id="3" name="TextBox 2">
            <a:extLst>
              <a:ext uri="{FF2B5EF4-FFF2-40B4-BE49-F238E27FC236}">
                <a16:creationId xmlns:a16="http://schemas.microsoft.com/office/drawing/2014/main" id="{B4970E73-56BD-9945-BE31-1BADB9D8A41C}"/>
              </a:ext>
            </a:extLst>
          </p:cNvPr>
          <p:cNvSpPr txBox="1"/>
          <p:nvPr/>
        </p:nvSpPr>
        <p:spPr>
          <a:xfrm>
            <a:off x="2064439" y="5354"/>
            <a:ext cx="963725" cy="523220"/>
          </a:xfrm>
          <a:prstGeom prst="rect">
            <a:avLst/>
          </a:prstGeom>
          <a:noFill/>
        </p:spPr>
        <p:txBody>
          <a:bodyPr wrap="none" rtlCol="0">
            <a:spAutoFit/>
          </a:bodyPr>
          <a:lstStyle/>
          <a:p>
            <a:r>
              <a:rPr lang="en-AU" sz="2800" b="1" dirty="0">
                <a:solidFill>
                  <a:schemeClr val="accent1"/>
                </a:solidFill>
              </a:rPr>
              <a:t>TITLE</a:t>
            </a:r>
          </a:p>
        </p:txBody>
      </p:sp>
      <p:graphicFrame>
        <p:nvGraphicFramePr>
          <p:cNvPr id="5" name="Table 4">
            <a:extLst>
              <a:ext uri="{FF2B5EF4-FFF2-40B4-BE49-F238E27FC236}">
                <a16:creationId xmlns:a16="http://schemas.microsoft.com/office/drawing/2014/main" id="{CF21DEA7-128D-A044-9ED9-2E822794E105}"/>
              </a:ext>
            </a:extLst>
          </p:cNvPr>
          <p:cNvGraphicFramePr>
            <a:graphicFrameLocks noGrp="1"/>
          </p:cNvGraphicFramePr>
          <p:nvPr/>
        </p:nvGraphicFramePr>
        <p:xfrm>
          <a:off x="9030594" y="868433"/>
          <a:ext cx="3150896" cy="741680"/>
        </p:xfrm>
        <a:graphic>
          <a:graphicData uri="http://schemas.openxmlformats.org/drawingml/2006/table">
            <a:tbl>
              <a:tblPr firstRow="1" bandRow="1">
                <a:tableStyleId>{5C22544A-7EE6-4342-B048-85BDC9FD1C3A}</a:tableStyleId>
              </a:tblPr>
              <a:tblGrid>
                <a:gridCol w="3150896">
                  <a:extLst>
                    <a:ext uri="{9D8B030D-6E8A-4147-A177-3AD203B41FA5}">
                      <a16:colId xmlns:a16="http://schemas.microsoft.com/office/drawing/2014/main" val="1024621798"/>
                    </a:ext>
                  </a:extLst>
                </a:gridCol>
              </a:tblGrid>
              <a:tr h="370840">
                <a:tc>
                  <a:txBody>
                    <a:bodyPr/>
                    <a:lstStyle/>
                    <a:p>
                      <a:pPr algn="ctr"/>
                      <a:r>
                        <a:rPr lang="en-AU" sz="1400" dirty="0"/>
                        <a:t>Vocabulary</a:t>
                      </a:r>
                    </a:p>
                  </a:txBody>
                  <a:tcPr/>
                </a:tc>
                <a:extLst>
                  <a:ext uri="{0D108BD9-81ED-4DB2-BD59-A6C34878D82A}">
                    <a16:rowId xmlns:a16="http://schemas.microsoft.com/office/drawing/2014/main" val="1679219781"/>
                  </a:ext>
                </a:extLst>
              </a:tr>
              <a:tr h="370840">
                <a:tc>
                  <a:txBody>
                    <a:bodyPr/>
                    <a:lstStyle/>
                    <a:p>
                      <a:r>
                        <a:rPr lang="en-AU" sz="1400" b="1" dirty="0"/>
                        <a:t>Define:</a:t>
                      </a:r>
                      <a:endParaRPr lang="en-AU" sz="1400" b="0" dirty="0"/>
                    </a:p>
                  </a:txBody>
                  <a:tcPr/>
                </a:tc>
                <a:extLst>
                  <a:ext uri="{0D108BD9-81ED-4DB2-BD59-A6C34878D82A}">
                    <a16:rowId xmlns:a16="http://schemas.microsoft.com/office/drawing/2014/main" val="3190978482"/>
                  </a:ext>
                </a:extLst>
              </a:tr>
            </a:tbl>
          </a:graphicData>
        </a:graphic>
      </p:graphicFrame>
      <p:graphicFrame>
        <p:nvGraphicFramePr>
          <p:cNvPr id="6" name="Table 5">
            <a:extLst>
              <a:ext uri="{FF2B5EF4-FFF2-40B4-BE49-F238E27FC236}">
                <a16:creationId xmlns:a16="http://schemas.microsoft.com/office/drawing/2014/main" id="{A10D51C2-38FD-464F-B88A-6D72FE98D9C3}"/>
              </a:ext>
            </a:extLst>
          </p:cNvPr>
          <p:cNvGraphicFramePr>
            <a:graphicFrameLocks noGrp="1"/>
          </p:cNvGraphicFramePr>
          <p:nvPr/>
        </p:nvGraphicFramePr>
        <p:xfrm>
          <a:off x="7061051" y="5576372"/>
          <a:ext cx="5130949" cy="1102360"/>
        </p:xfrm>
        <a:graphic>
          <a:graphicData uri="http://schemas.openxmlformats.org/drawingml/2006/table">
            <a:tbl>
              <a:tblPr firstRow="1" bandRow="1">
                <a:tableStyleId>{93296810-A885-4BE3-A3E7-6D5BEEA58F35}</a:tableStyleId>
              </a:tblPr>
              <a:tblGrid>
                <a:gridCol w="5130949">
                  <a:extLst>
                    <a:ext uri="{9D8B030D-6E8A-4147-A177-3AD203B41FA5}">
                      <a16:colId xmlns:a16="http://schemas.microsoft.com/office/drawing/2014/main" val="1024621798"/>
                    </a:ext>
                  </a:extLst>
                </a:gridCol>
              </a:tblGrid>
              <a:tr h="370840">
                <a:tc>
                  <a:txBody>
                    <a:bodyPr/>
                    <a:lstStyle/>
                    <a:p>
                      <a:pPr algn="ctr"/>
                      <a:r>
                        <a:rPr lang="en-AU" sz="1400" dirty="0"/>
                        <a:t>Checking for understanding</a:t>
                      </a:r>
                    </a:p>
                  </a:txBody>
                  <a:tcPr/>
                </a:tc>
                <a:extLst>
                  <a:ext uri="{0D108BD9-81ED-4DB2-BD59-A6C34878D82A}">
                    <a16:rowId xmlns:a16="http://schemas.microsoft.com/office/drawing/2014/main" val="1679219781"/>
                  </a:ext>
                </a:extLst>
              </a:tr>
              <a:tr h="370840">
                <a:tc>
                  <a:txBody>
                    <a:bodyPr/>
                    <a:lstStyle/>
                    <a:p>
                      <a:pPr marL="342900" indent="-342900">
                        <a:buFont typeface="+mj-lt"/>
                        <a:buAutoNum type="arabicPeriod"/>
                      </a:pPr>
                      <a:r>
                        <a:rPr lang="en-AU" sz="1400" dirty="0"/>
                        <a:t>Summarise</a:t>
                      </a:r>
                    </a:p>
                    <a:p>
                      <a:pPr marL="342900" indent="-342900">
                        <a:buFont typeface="+mj-lt"/>
                        <a:buAutoNum type="arabicPeriod"/>
                      </a:pPr>
                      <a:r>
                        <a:rPr lang="en-AU" sz="1400" dirty="0"/>
                        <a:t>Define</a:t>
                      </a:r>
                    </a:p>
                    <a:p>
                      <a:pPr marL="342900" indent="-342900">
                        <a:buFont typeface="+mj-lt"/>
                        <a:buAutoNum type="arabicPeriod"/>
                      </a:pPr>
                      <a:r>
                        <a:rPr lang="en-AU" sz="1400" dirty="0"/>
                        <a:t>Explain</a:t>
                      </a:r>
                    </a:p>
                  </a:txBody>
                  <a:tcPr/>
                </a:tc>
                <a:extLst>
                  <a:ext uri="{0D108BD9-81ED-4DB2-BD59-A6C34878D82A}">
                    <a16:rowId xmlns:a16="http://schemas.microsoft.com/office/drawing/2014/main" val="3190978482"/>
                  </a:ext>
                </a:extLst>
              </a:tr>
            </a:tbl>
          </a:graphicData>
        </a:graphic>
      </p:graphicFrame>
      <p:sp>
        <p:nvSpPr>
          <p:cNvPr id="9" name="TextBox 8">
            <a:extLst>
              <a:ext uri="{FF2B5EF4-FFF2-40B4-BE49-F238E27FC236}">
                <a16:creationId xmlns:a16="http://schemas.microsoft.com/office/drawing/2014/main" id="{9E4CB6F2-E4A4-7940-9F1E-F8EF4C7F4417}"/>
              </a:ext>
            </a:extLst>
          </p:cNvPr>
          <p:cNvSpPr txBox="1"/>
          <p:nvPr/>
        </p:nvSpPr>
        <p:spPr>
          <a:xfrm>
            <a:off x="7612083" y="42040"/>
            <a:ext cx="4569407" cy="307777"/>
          </a:xfrm>
          <a:prstGeom prst="rect">
            <a:avLst/>
          </a:prstGeom>
          <a:solidFill>
            <a:schemeClr val="accent5"/>
          </a:solidFill>
        </p:spPr>
        <p:txBody>
          <a:bodyPr wrap="square" rtlCol="0">
            <a:spAutoFit/>
          </a:bodyPr>
          <a:lstStyle/>
          <a:p>
            <a:pPr algn="r"/>
            <a:r>
              <a:rPr lang="en-AU" sz="1400" dirty="0"/>
              <a:t>LO: Explain the process of neural transmission (3.3)</a:t>
            </a:r>
          </a:p>
        </p:txBody>
      </p:sp>
      <p:sp>
        <p:nvSpPr>
          <p:cNvPr id="4" name="TextBox 3">
            <a:extLst>
              <a:ext uri="{FF2B5EF4-FFF2-40B4-BE49-F238E27FC236}">
                <a16:creationId xmlns:a16="http://schemas.microsoft.com/office/drawing/2014/main" id="{BBAAB358-1EF4-7D44-A12D-9DF509A6789B}"/>
              </a:ext>
            </a:extLst>
          </p:cNvPr>
          <p:cNvSpPr txBox="1"/>
          <p:nvPr/>
        </p:nvSpPr>
        <p:spPr>
          <a:xfrm>
            <a:off x="767255" y="1177159"/>
            <a:ext cx="641522" cy="1754326"/>
          </a:xfrm>
          <a:prstGeom prst="rect">
            <a:avLst/>
          </a:prstGeom>
          <a:noFill/>
        </p:spPr>
        <p:txBody>
          <a:bodyPr wrap="none" rtlCol="0">
            <a:spAutoFit/>
          </a:bodyPr>
          <a:lstStyle/>
          <a:p>
            <a:r>
              <a:rPr lang="en-US" dirty="0"/>
              <a:t>TEXT</a:t>
            </a:r>
          </a:p>
          <a:p>
            <a:r>
              <a:rPr lang="en-US" dirty="0"/>
              <a:t>-text</a:t>
            </a:r>
          </a:p>
          <a:p>
            <a:r>
              <a:rPr lang="en-US" dirty="0"/>
              <a:t>-text</a:t>
            </a:r>
          </a:p>
          <a:p>
            <a:endParaRPr lang="en-US" dirty="0"/>
          </a:p>
          <a:p>
            <a:endParaRPr lang="en-US" dirty="0"/>
          </a:p>
          <a:p>
            <a:endParaRPr lang="en-US" dirty="0"/>
          </a:p>
        </p:txBody>
      </p:sp>
    </p:spTree>
    <p:extLst>
      <p:ext uri="{BB962C8B-B14F-4D97-AF65-F5344CB8AC3E}">
        <p14:creationId xmlns:p14="http://schemas.microsoft.com/office/powerpoint/2010/main" val="2201799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454A59-47D4-2D4A-B660-17DA2CB89A3E}"/>
              </a:ext>
            </a:extLst>
          </p:cNvPr>
          <p:cNvSpPr txBox="1"/>
          <p:nvPr/>
        </p:nvSpPr>
        <p:spPr>
          <a:xfrm rot="16200000">
            <a:off x="-956768" y="1523698"/>
            <a:ext cx="2282869" cy="369332"/>
          </a:xfrm>
          <a:prstGeom prst="rect">
            <a:avLst/>
          </a:prstGeom>
          <a:solidFill>
            <a:schemeClr val="accent1"/>
          </a:solidFill>
        </p:spPr>
        <p:txBody>
          <a:bodyPr wrap="none" rtlCol="0">
            <a:spAutoFit/>
          </a:bodyPr>
          <a:lstStyle/>
          <a:p>
            <a:r>
              <a:rPr lang="en-AU" dirty="0">
                <a:solidFill>
                  <a:schemeClr val="bg1"/>
                </a:solidFill>
              </a:rPr>
              <a:t>Concept Development</a:t>
            </a:r>
          </a:p>
        </p:txBody>
      </p:sp>
      <p:sp>
        <p:nvSpPr>
          <p:cNvPr id="3" name="TextBox 2">
            <a:extLst>
              <a:ext uri="{FF2B5EF4-FFF2-40B4-BE49-F238E27FC236}">
                <a16:creationId xmlns:a16="http://schemas.microsoft.com/office/drawing/2014/main" id="{B4970E73-56BD-9945-BE31-1BADB9D8A41C}"/>
              </a:ext>
            </a:extLst>
          </p:cNvPr>
          <p:cNvSpPr txBox="1"/>
          <p:nvPr/>
        </p:nvSpPr>
        <p:spPr>
          <a:xfrm>
            <a:off x="2064439" y="5354"/>
            <a:ext cx="963725" cy="523220"/>
          </a:xfrm>
          <a:prstGeom prst="rect">
            <a:avLst/>
          </a:prstGeom>
          <a:noFill/>
        </p:spPr>
        <p:txBody>
          <a:bodyPr wrap="none" rtlCol="0">
            <a:spAutoFit/>
          </a:bodyPr>
          <a:lstStyle/>
          <a:p>
            <a:r>
              <a:rPr lang="en-AU" sz="2800" b="1" dirty="0">
                <a:solidFill>
                  <a:schemeClr val="accent1"/>
                </a:solidFill>
              </a:rPr>
              <a:t>TITLE</a:t>
            </a:r>
          </a:p>
        </p:txBody>
      </p:sp>
      <p:graphicFrame>
        <p:nvGraphicFramePr>
          <p:cNvPr id="5" name="Table 4">
            <a:extLst>
              <a:ext uri="{FF2B5EF4-FFF2-40B4-BE49-F238E27FC236}">
                <a16:creationId xmlns:a16="http://schemas.microsoft.com/office/drawing/2014/main" id="{CF21DEA7-128D-A044-9ED9-2E822794E105}"/>
              </a:ext>
            </a:extLst>
          </p:cNvPr>
          <p:cNvGraphicFramePr>
            <a:graphicFrameLocks noGrp="1"/>
          </p:cNvGraphicFramePr>
          <p:nvPr>
            <p:extLst>
              <p:ext uri="{D42A27DB-BD31-4B8C-83A1-F6EECF244321}">
                <p14:modId xmlns:p14="http://schemas.microsoft.com/office/powerpoint/2010/main" val="1866730875"/>
              </p:ext>
            </p:extLst>
          </p:nvPr>
        </p:nvGraphicFramePr>
        <p:xfrm>
          <a:off x="9030594" y="868433"/>
          <a:ext cx="3150896" cy="741680"/>
        </p:xfrm>
        <a:graphic>
          <a:graphicData uri="http://schemas.openxmlformats.org/drawingml/2006/table">
            <a:tbl>
              <a:tblPr firstRow="1" bandRow="1">
                <a:tableStyleId>{5C22544A-7EE6-4342-B048-85BDC9FD1C3A}</a:tableStyleId>
              </a:tblPr>
              <a:tblGrid>
                <a:gridCol w="3150896">
                  <a:extLst>
                    <a:ext uri="{9D8B030D-6E8A-4147-A177-3AD203B41FA5}">
                      <a16:colId xmlns:a16="http://schemas.microsoft.com/office/drawing/2014/main" val="1024621798"/>
                    </a:ext>
                  </a:extLst>
                </a:gridCol>
              </a:tblGrid>
              <a:tr h="370840">
                <a:tc>
                  <a:txBody>
                    <a:bodyPr/>
                    <a:lstStyle/>
                    <a:p>
                      <a:pPr algn="ctr"/>
                      <a:r>
                        <a:rPr lang="en-AU" sz="1400" dirty="0"/>
                        <a:t>Vocabulary</a:t>
                      </a:r>
                    </a:p>
                  </a:txBody>
                  <a:tcPr/>
                </a:tc>
                <a:extLst>
                  <a:ext uri="{0D108BD9-81ED-4DB2-BD59-A6C34878D82A}">
                    <a16:rowId xmlns:a16="http://schemas.microsoft.com/office/drawing/2014/main" val="1679219781"/>
                  </a:ext>
                </a:extLst>
              </a:tr>
              <a:tr h="370840">
                <a:tc>
                  <a:txBody>
                    <a:bodyPr/>
                    <a:lstStyle/>
                    <a:p>
                      <a:r>
                        <a:rPr lang="en-AU" sz="1400" b="1" dirty="0"/>
                        <a:t>Define:</a:t>
                      </a:r>
                      <a:endParaRPr lang="en-AU" sz="1400" b="0" dirty="0"/>
                    </a:p>
                  </a:txBody>
                  <a:tcPr/>
                </a:tc>
                <a:extLst>
                  <a:ext uri="{0D108BD9-81ED-4DB2-BD59-A6C34878D82A}">
                    <a16:rowId xmlns:a16="http://schemas.microsoft.com/office/drawing/2014/main" val="3190978482"/>
                  </a:ext>
                </a:extLst>
              </a:tr>
            </a:tbl>
          </a:graphicData>
        </a:graphic>
      </p:graphicFrame>
      <p:graphicFrame>
        <p:nvGraphicFramePr>
          <p:cNvPr id="6" name="Table 5">
            <a:extLst>
              <a:ext uri="{FF2B5EF4-FFF2-40B4-BE49-F238E27FC236}">
                <a16:creationId xmlns:a16="http://schemas.microsoft.com/office/drawing/2014/main" id="{A10D51C2-38FD-464F-B88A-6D72FE98D9C3}"/>
              </a:ext>
            </a:extLst>
          </p:cNvPr>
          <p:cNvGraphicFramePr>
            <a:graphicFrameLocks noGrp="1"/>
          </p:cNvGraphicFramePr>
          <p:nvPr>
            <p:extLst>
              <p:ext uri="{D42A27DB-BD31-4B8C-83A1-F6EECF244321}">
                <p14:modId xmlns:p14="http://schemas.microsoft.com/office/powerpoint/2010/main" val="2189146443"/>
              </p:ext>
            </p:extLst>
          </p:nvPr>
        </p:nvGraphicFramePr>
        <p:xfrm>
          <a:off x="7061051" y="5576372"/>
          <a:ext cx="5130949" cy="1102360"/>
        </p:xfrm>
        <a:graphic>
          <a:graphicData uri="http://schemas.openxmlformats.org/drawingml/2006/table">
            <a:tbl>
              <a:tblPr firstRow="1" bandRow="1">
                <a:tableStyleId>{93296810-A885-4BE3-A3E7-6D5BEEA58F35}</a:tableStyleId>
              </a:tblPr>
              <a:tblGrid>
                <a:gridCol w="5130949">
                  <a:extLst>
                    <a:ext uri="{9D8B030D-6E8A-4147-A177-3AD203B41FA5}">
                      <a16:colId xmlns:a16="http://schemas.microsoft.com/office/drawing/2014/main" val="1024621798"/>
                    </a:ext>
                  </a:extLst>
                </a:gridCol>
              </a:tblGrid>
              <a:tr h="370840">
                <a:tc>
                  <a:txBody>
                    <a:bodyPr/>
                    <a:lstStyle/>
                    <a:p>
                      <a:pPr algn="ctr"/>
                      <a:r>
                        <a:rPr lang="en-AU" sz="1400" dirty="0"/>
                        <a:t>Checking for understanding</a:t>
                      </a:r>
                    </a:p>
                  </a:txBody>
                  <a:tcPr/>
                </a:tc>
                <a:extLst>
                  <a:ext uri="{0D108BD9-81ED-4DB2-BD59-A6C34878D82A}">
                    <a16:rowId xmlns:a16="http://schemas.microsoft.com/office/drawing/2014/main" val="1679219781"/>
                  </a:ext>
                </a:extLst>
              </a:tr>
              <a:tr h="370840">
                <a:tc>
                  <a:txBody>
                    <a:bodyPr/>
                    <a:lstStyle/>
                    <a:p>
                      <a:pPr marL="342900" indent="-342900">
                        <a:buFont typeface="+mj-lt"/>
                        <a:buAutoNum type="arabicPeriod"/>
                      </a:pPr>
                      <a:r>
                        <a:rPr lang="en-AU" sz="1400" dirty="0"/>
                        <a:t>Summarise</a:t>
                      </a:r>
                    </a:p>
                    <a:p>
                      <a:pPr marL="342900" indent="-342900">
                        <a:buFont typeface="+mj-lt"/>
                        <a:buAutoNum type="arabicPeriod"/>
                      </a:pPr>
                      <a:r>
                        <a:rPr lang="en-AU" sz="1400" dirty="0"/>
                        <a:t>Define</a:t>
                      </a:r>
                    </a:p>
                    <a:p>
                      <a:pPr marL="342900" indent="-342900">
                        <a:buFont typeface="+mj-lt"/>
                        <a:buAutoNum type="arabicPeriod"/>
                      </a:pPr>
                      <a:r>
                        <a:rPr lang="en-AU" sz="1400" dirty="0"/>
                        <a:t>Explain</a:t>
                      </a:r>
                    </a:p>
                  </a:txBody>
                  <a:tcPr/>
                </a:tc>
                <a:extLst>
                  <a:ext uri="{0D108BD9-81ED-4DB2-BD59-A6C34878D82A}">
                    <a16:rowId xmlns:a16="http://schemas.microsoft.com/office/drawing/2014/main" val="3190978482"/>
                  </a:ext>
                </a:extLst>
              </a:tr>
            </a:tbl>
          </a:graphicData>
        </a:graphic>
      </p:graphicFrame>
      <p:sp>
        <p:nvSpPr>
          <p:cNvPr id="9" name="TextBox 8">
            <a:extLst>
              <a:ext uri="{FF2B5EF4-FFF2-40B4-BE49-F238E27FC236}">
                <a16:creationId xmlns:a16="http://schemas.microsoft.com/office/drawing/2014/main" id="{9E4CB6F2-E4A4-7940-9F1E-F8EF4C7F4417}"/>
              </a:ext>
            </a:extLst>
          </p:cNvPr>
          <p:cNvSpPr txBox="1"/>
          <p:nvPr/>
        </p:nvSpPr>
        <p:spPr>
          <a:xfrm>
            <a:off x="7612083" y="42040"/>
            <a:ext cx="4569407" cy="307777"/>
          </a:xfrm>
          <a:prstGeom prst="rect">
            <a:avLst/>
          </a:prstGeom>
          <a:solidFill>
            <a:schemeClr val="accent5"/>
          </a:solidFill>
        </p:spPr>
        <p:txBody>
          <a:bodyPr wrap="square" rtlCol="0">
            <a:spAutoFit/>
          </a:bodyPr>
          <a:lstStyle/>
          <a:p>
            <a:pPr algn="r"/>
            <a:r>
              <a:rPr lang="en-AU" sz="1400" dirty="0"/>
              <a:t>LO: Explain the process of neural transmission (3.3)</a:t>
            </a:r>
          </a:p>
        </p:txBody>
      </p:sp>
      <p:sp>
        <p:nvSpPr>
          <p:cNvPr id="4" name="TextBox 3">
            <a:extLst>
              <a:ext uri="{FF2B5EF4-FFF2-40B4-BE49-F238E27FC236}">
                <a16:creationId xmlns:a16="http://schemas.microsoft.com/office/drawing/2014/main" id="{BBAAB358-1EF4-7D44-A12D-9DF509A6789B}"/>
              </a:ext>
            </a:extLst>
          </p:cNvPr>
          <p:cNvSpPr txBox="1"/>
          <p:nvPr/>
        </p:nvSpPr>
        <p:spPr>
          <a:xfrm>
            <a:off x="767255" y="1177159"/>
            <a:ext cx="641522" cy="1754326"/>
          </a:xfrm>
          <a:prstGeom prst="rect">
            <a:avLst/>
          </a:prstGeom>
          <a:noFill/>
        </p:spPr>
        <p:txBody>
          <a:bodyPr wrap="none" rtlCol="0">
            <a:spAutoFit/>
          </a:bodyPr>
          <a:lstStyle/>
          <a:p>
            <a:r>
              <a:rPr lang="en-US" dirty="0"/>
              <a:t>TEXT</a:t>
            </a:r>
          </a:p>
          <a:p>
            <a:r>
              <a:rPr lang="en-US" dirty="0"/>
              <a:t>-text</a:t>
            </a:r>
          </a:p>
          <a:p>
            <a:r>
              <a:rPr lang="en-US" dirty="0"/>
              <a:t>-text</a:t>
            </a:r>
          </a:p>
          <a:p>
            <a:endParaRPr lang="en-US" dirty="0"/>
          </a:p>
          <a:p>
            <a:endParaRPr lang="en-US" dirty="0"/>
          </a:p>
          <a:p>
            <a:endParaRPr lang="en-US" dirty="0"/>
          </a:p>
        </p:txBody>
      </p:sp>
    </p:spTree>
    <p:extLst>
      <p:ext uri="{BB962C8B-B14F-4D97-AF65-F5344CB8AC3E}">
        <p14:creationId xmlns:p14="http://schemas.microsoft.com/office/powerpoint/2010/main" val="3191678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454A59-47D4-2D4A-B660-17DA2CB89A3E}"/>
              </a:ext>
            </a:extLst>
          </p:cNvPr>
          <p:cNvSpPr txBox="1"/>
          <p:nvPr/>
        </p:nvSpPr>
        <p:spPr>
          <a:xfrm rot="16200000">
            <a:off x="-1535990" y="2997499"/>
            <a:ext cx="3441327" cy="369332"/>
          </a:xfrm>
          <a:prstGeom prst="rect">
            <a:avLst/>
          </a:prstGeom>
          <a:solidFill>
            <a:schemeClr val="accent6">
              <a:lumMod val="60000"/>
              <a:lumOff val="40000"/>
            </a:schemeClr>
          </a:solidFill>
        </p:spPr>
        <p:txBody>
          <a:bodyPr wrap="none" rtlCol="0">
            <a:spAutoFit/>
          </a:bodyPr>
          <a:lstStyle/>
          <a:p>
            <a:r>
              <a:rPr lang="en-AU" dirty="0">
                <a:solidFill>
                  <a:schemeClr val="bg1"/>
                </a:solidFill>
              </a:rPr>
              <a:t>Skill Development/Guided Practice</a:t>
            </a:r>
          </a:p>
        </p:txBody>
      </p:sp>
      <p:sp>
        <p:nvSpPr>
          <p:cNvPr id="3" name="TextBox 2">
            <a:extLst>
              <a:ext uri="{FF2B5EF4-FFF2-40B4-BE49-F238E27FC236}">
                <a16:creationId xmlns:a16="http://schemas.microsoft.com/office/drawing/2014/main" id="{B4970E73-56BD-9945-BE31-1BADB9D8A41C}"/>
              </a:ext>
            </a:extLst>
          </p:cNvPr>
          <p:cNvSpPr txBox="1"/>
          <p:nvPr/>
        </p:nvSpPr>
        <p:spPr>
          <a:xfrm>
            <a:off x="2064439" y="5354"/>
            <a:ext cx="5343835" cy="954107"/>
          </a:xfrm>
          <a:prstGeom prst="rect">
            <a:avLst/>
          </a:prstGeom>
          <a:noFill/>
        </p:spPr>
        <p:txBody>
          <a:bodyPr wrap="none" rtlCol="0">
            <a:spAutoFit/>
          </a:bodyPr>
          <a:lstStyle/>
          <a:p>
            <a:r>
              <a:rPr lang="en-AU" sz="2800" b="1" dirty="0">
                <a:solidFill>
                  <a:schemeClr val="accent1"/>
                </a:solidFill>
              </a:rPr>
              <a:t>The process of neural transmission</a:t>
            </a:r>
          </a:p>
          <a:p>
            <a:pPr algn="ctr"/>
            <a:r>
              <a:rPr lang="en-AU" sz="2800" dirty="0"/>
              <a:t>Past exam questions and answers:</a:t>
            </a:r>
          </a:p>
        </p:txBody>
      </p:sp>
      <p:sp>
        <p:nvSpPr>
          <p:cNvPr id="9" name="TextBox 8">
            <a:extLst>
              <a:ext uri="{FF2B5EF4-FFF2-40B4-BE49-F238E27FC236}">
                <a16:creationId xmlns:a16="http://schemas.microsoft.com/office/drawing/2014/main" id="{9E4CB6F2-E4A4-7940-9F1E-F8EF4C7F4417}"/>
              </a:ext>
            </a:extLst>
          </p:cNvPr>
          <p:cNvSpPr txBox="1"/>
          <p:nvPr/>
        </p:nvSpPr>
        <p:spPr>
          <a:xfrm>
            <a:off x="8229600" y="42040"/>
            <a:ext cx="3951890" cy="307777"/>
          </a:xfrm>
          <a:prstGeom prst="rect">
            <a:avLst/>
          </a:prstGeom>
          <a:solidFill>
            <a:schemeClr val="accent5"/>
          </a:solidFill>
        </p:spPr>
        <p:txBody>
          <a:bodyPr wrap="square" rtlCol="0">
            <a:spAutoFit/>
          </a:bodyPr>
          <a:lstStyle/>
          <a:p>
            <a:pPr algn="r"/>
            <a:r>
              <a:rPr lang="en-AU" sz="1400" dirty="0"/>
              <a:t>LO: Explain the process of neural transmission (3.3)</a:t>
            </a:r>
          </a:p>
        </p:txBody>
      </p:sp>
      <p:sp>
        <p:nvSpPr>
          <p:cNvPr id="6" name="TextBox 5">
            <a:extLst>
              <a:ext uri="{FF2B5EF4-FFF2-40B4-BE49-F238E27FC236}">
                <a16:creationId xmlns:a16="http://schemas.microsoft.com/office/drawing/2014/main" id="{C583A573-36A2-9F4E-A334-C92B3DDD3792}"/>
              </a:ext>
            </a:extLst>
          </p:cNvPr>
          <p:cNvSpPr txBox="1"/>
          <p:nvPr/>
        </p:nvSpPr>
        <p:spPr>
          <a:xfrm>
            <a:off x="925156" y="1203317"/>
            <a:ext cx="10607041" cy="4401205"/>
          </a:xfrm>
          <a:prstGeom prst="rect">
            <a:avLst/>
          </a:prstGeom>
          <a:noFill/>
          <a:ln>
            <a:solidFill>
              <a:schemeClr val="tx1"/>
            </a:solidFill>
          </a:ln>
        </p:spPr>
        <p:txBody>
          <a:bodyPr wrap="square" rtlCol="0">
            <a:spAutoFit/>
          </a:bodyPr>
          <a:lstStyle/>
          <a:p>
            <a:r>
              <a:rPr lang="en-AU" sz="2800" b="1" dirty="0"/>
              <a:t>Q: Explain the process of neural transmission and the role the synapse plays. (5 marks)</a:t>
            </a:r>
          </a:p>
          <a:p>
            <a:r>
              <a:rPr lang="en-AU" sz="2800" b="1" dirty="0">
                <a:highlight>
                  <a:srgbClr val="FFFF00"/>
                </a:highlight>
              </a:rPr>
              <a:t>A:</a:t>
            </a:r>
            <a:r>
              <a:rPr lang="en-US" sz="2800" dirty="0">
                <a:highlight>
                  <a:srgbClr val="FFFF00"/>
                </a:highlight>
              </a:rPr>
              <a:t>Synapse is the small space between the sending neuron and the receiving neuron and where synaptic transmission occurs (1).  Electrical impulse travels down the axon of the pre-synaptic neuron (i.e. a stimulus causes an action potential which generates another action potential just in front of it) (1) and pushes vesicles containing neurotransmitters to the axon terminal (1).  Neurotransmitters/Chemical messengers (1) are sent across the synapse to receptor sites on the dendrite of the post-synaptic neuron (1).</a:t>
            </a:r>
            <a:endParaRPr lang="en-AU" sz="2400" dirty="0">
              <a:solidFill>
                <a:srgbClr val="000000"/>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Table 10">
            <a:extLst>
              <a:ext uri="{FF2B5EF4-FFF2-40B4-BE49-F238E27FC236}">
                <a16:creationId xmlns:a16="http://schemas.microsoft.com/office/drawing/2014/main" id="{F0301BFF-DFFF-1643-BCA5-2CA589873CE8}"/>
              </a:ext>
            </a:extLst>
          </p:cNvPr>
          <p:cNvGraphicFramePr>
            <a:graphicFrameLocks noGrp="1"/>
          </p:cNvGraphicFramePr>
          <p:nvPr/>
        </p:nvGraphicFramePr>
        <p:xfrm>
          <a:off x="7853082" y="5654683"/>
          <a:ext cx="4328408" cy="889000"/>
        </p:xfrm>
        <a:graphic>
          <a:graphicData uri="http://schemas.openxmlformats.org/drawingml/2006/table">
            <a:tbl>
              <a:tblPr firstRow="1" bandRow="1">
                <a:tableStyleId>{93296810-A885-4BE3-A3E7-6D5BEEA58F35}</a:tableStyleId>
              </a:tblPr>
              <a:tblGrid>
                <a:gridCol w="4328408">
                  <a:extLst>
                    <a:ext uri="{9D8B030D-6E8A-4147-A177-3AD203B41FA5}">
                      <a16:colId xmlns:a16="http://schemas.microsoft.com/office/drawing/2014/main" val="1024621798"/>
                    </a:ext>
                  </a:extLst>
                </a:gridCol>
              </a:tblGrid>
              <a:tr h="370840">
                <a:tc>
                  <a:txBody>
                    <a:bodyPr/>
                    <a:lstStyle/>
                    <a:p>
                      <a:pPr algn="ctr"/>
                      <a:r>
                        <a:rPr lang="en-AU" sz="1400" dirty="0"/>
                        <a:t>Checking for understanding</a:t>
                      </a:r>
                    </a:p>
                  </a:txBody>
                  <a:tcPr/>
                </a:tc>
                <a:extLst>
                  <a:ext uri="{0D108BD9-81ED-4DB2-BD59-A6C34878D82A}">
                    <a16:rowId xmlns:a16="http://schemas.microsoft.com/office/drawing/2014/main" val="1679219781"/>
                  </a:ext>
                </a:extLst>
              </a:tr>
              <a:tr h="370840">
                <a:tc>
                  <a:txBody>
                    <a:bodyPr/>
                    <a:lstStyle/>
                    <a:p>
                      <a:r>
                        <a:rPr lang="en-AU" sz="1400" dirty="0"/>
                        <a:t>Identify what marks were allocated for in the above questions.</a:t>
                      </a:r>
                    </a:p>
                  </a:txBody>
                  <a:tcPr/>
                </a:tc>
                <a:extLst>
                  <a:ext uri="{0D108BD9-81ED-4DB2-BD59-A6C34878D82A}">
                    <a16:rowId xmlns:a16="http://schemas.microsoft.com/office/drawing/2014/main" val="3190978482"/>
                  </a:ext>
                </a:extLst>
              </a:tr>
            </a:tbl>
          </a:graphicData>
        </a:graphic>
      </p:graphicFrame>
    </p:spTree>
    <p:extLst>
      <p:ext uri="{BB962C8B-B14F-4D97-AF65-F5344CB8AC3E}">
        <p14:creationId xmlns:p14="http://schemas.microsoft.com/office/powerpoint/2010/main" val="1446980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lose up of a map&#10;&#10;Description automatically generated">
            <a:extLst>
              <a:ext uri="{FF2B5EF4-FFF2-40B4-BE49-F238E27FC236}">
                <a16:creationId xmlns:a16="http://schemas.microsoft.com/office/drawing/2014/main" id="{1A81BEAA-8258-A34E-8241-D49AE74DE065}"/>
              </a:ext>
            </a:extLst>
          </p:cNvPr>
          <p:cNvPicPr>
            <a:picLocks noChangeAspect="1"/>
          </p:cNvPicPr>
          <p:nvPr/>
        </p:nvPicPr>
        <p:blipFill>
          <a:blip r:embed="rId2"/>
          <a:stretch>
            <a:fillRect/>
          </a:stretch>
        </p:blipFill>
        <p:spPr>
          <a:xfrm>
            <a:off x="369334" y="1374845"/>
            <a:ext cx="4900114" cy="2878432"/>
          </a:xfrm>
          <a:prstGeom prst="rect">
            <a:avLst/>
          </a:prstGeom>
        </p:spPr>
      </p:pic>
      <p:sp>
        <p:nvSpPr>
          <p:cNvPr id="2" name="TextBox 1">
            <a:extLst>
              <a:ext uri="{FF2B5EF4-FFF2-40B4-BE49-F238E27FC236}">
                <a16:creationId xmlns:a16="http://schemas.microsoft.com/office/drawing/2014/main" id="{C4373A1A-E74C-6C47-9C3C-F00B5501561C}"/>
              </a:ext>
            </a:extLst>
          </p:cNvPr>
          <p:cNvSpPr txBox="1"/>
          <p:nvPr/>
        </p:nvSpPr>
        <p:spPr>
          <a:xfrm>
            <a:off x="7742712" y="42040"/>
            <a:ext cx="4438778" cy="523220"/>
          </a:xfrm>
          <a:prstGeom prst="rect">
            <a:avLst/>
          </a:prstGeom>
          <a:solidFill>
            <a:schemeClr val="accent5"/>
          </a:solidFill>
        </p:spPr>
        <p:txBody>
          <a:bodyPr wrap="square" rtlCol="0">
            <a:spAutoFit/>
          </a:bodyPr>
          <a:lstStyle/>
          <a:p>
            <a:pPr algn="r"/>
            <a:r>
              <a:rPr lang="en-AU" sz="1400" dirty="0"/>
              <a:t>LO: Explain the process of neural transmission (3.3)</a:t>
            </a:r>
          </a:p>
        </p:txBody>
      </p:sp>
      <p:graphicFrame>
        <p:nvGraphicFramePr>
          <p:cNvPr id="4" name="Table 3">
            <a:extLst>
              <a:ext uri="{FF2B5EF4-FFF2-40B4-BE49-F238E27FC236}">
                <a16:creationId xmlns:a16="http://schemas.microsoft.com/office/drawing/2014/main" id="{04F4B3A9-E3F0-AB41-A73B-78369405CE9F}"/>
              </a:ext>
            </a:extLst>
          </p:cNvPr>
          <p:cNvGraphicFramePr>
            <a:graphicFrameLocks noGrp="1"/>
          </p:cNvGraphicFramePr>
          <p:nvPr/>
        </p:nvGraphicFramePr>
        <p:xfrm>
          <a:off x="578027" y="4380864"/>
          <a:ext cx="4549698" cy="2443480"/>
        </p:xfrm>
        <a:graphic>
          <a:graphicData uri="http://schemas.openxmlformats.org/drawingml/2006/table">
            <a:tbl>
              <a:tblPr firstRow="1" bandRow="1">
                <a:tableStyleId>{00A15C55-8517-42AA-B614-E9B94910E393}</a:tableStyleId>
              </a:tblPr>
              <a:tblGrid>
                <a:gridCol w="4549698">
                  <a:extLst>
                    <a:ext uri="{9D8B030D-6E8A-4147-A177-3AD203B41FA5}">
                      <a16:colId xmlns:a16="http://schemas.microsoft.com/office/drawing/2014/main" val="1024621798"/>
                    </a:ext>
                  </a:extLst>
                </a:gridCol>
              </a:tblGrid>
              <a:tr h="370840">
                <a:tc>
                  <a:txBody>
                    <a:bodyPr/>
                    <a:lstStyle/>
                    <a:p>
                      <a:pPr algn="ctr"/>
                      <a:r>
                        <a:rPr lang="en-AU" sz="1600" dirty="0"/>
                        <a:t>Curriculum links:</a:t>
                      </a:r>
                    </a:p>
                  </a:txBody>
                  <a:tcPr>
                    <a:solidFill>
                      <a:srgbClr val="73669C"/>
                    </a:solidFill>
                  </a:tcPr>
                </a:tc>
                <a:extLst>
                  <a:ext uri="{0D108BD9-81ED-4DB2-BD59-A6C34878D82A}">
                    <a16:rowId xmlns:a16="http://schemas.microsoft.com/office/drawing/2014/main" val="1679219781"/>
                  </a:ext>
                </a:extLst>
              </a:tr>
              <a:tr h="370840">
                <a:tc>
                  <a:txBody>
                    <a:bodyPr/>
                    <a:lstStyle/>
                    <a:p>
                      <a:r>
                        <a:rPr lang="en-AU" sz="1600" b="1" dirty="0"/>
                        <a:t>Unit 3 - Self – Biological influences/bases of behaviour</a:t>
                      </a:r>
                    </a:p>
                    <a:p>
                      <a:pPr lvl="0"/>
                      <a:r>
                        <a:rPr lang="en-AU" sz="1400" b="1" kern="1200" dirty="0">
                          <a:solidFill>
                            <a:schemeClr val="dk1"/>
                          </a:solidFill>
                          <a:effectLst/>
                          <a:latin typeface="+mn-lt"/>
                          <a:ea typeface="+mn-ea"/>
                          <a:cs typeface="+mn-cs"/>
                        </a:rPr>
                        <a:t>Process of neural transmission</a:t>
                      </a:r>
                      <a:endParaRPr lang="en-AU" sz="1400" kern="1200" dirty="0">
                        <a:solidFill>
                          <a:schemeClr val="dk1"/>
                        </a:solidFill>
                        <a:effectLst/>
                        <a:latin typeface="+mn-lt"/>
                        <a:ea typeface="+mn-ea"/>
                        <a:cs typeface="+mn-cs"/>
                      </a:endParaRPr>
                    </a:p>
                    <a:p>
                      <a:pPr marL="285750" lvl="0" indent="-285750">
                        <a:buFont typeface="Arial" panose="020B0604020202020204" pitchFamily="34" charset="0"/>
                        <a:buChar char="•"/>
                      </a:pPr>
                      <a:r>
                        <a:rPr lang="en-AU" sz="1400" kern="1200" dirty="0">
                          <a:solidFill>
                            <a:schemeClr val="dk1"/>
                          </a:solidFill>
                          <a:effectLst/>
                          <a:latin typeface="+mn-lt"/>
                          <a:ea typeface="+mn-ea"/>
                          <a:cs typeface="+mn-cs"/>
                        </a:rPr>
                        <a:t>Role of synapses: action potential (NOT Na/K pump) including resting membrane potential, threshold and direction of the impulse. </a:t>
                      </a:r>
                    </a:p>
                    <a:p>
                      <a:pPr marL="285750" lvl="0" indent="-285750">
                        <a:buFont typeface="Arial" panose="020B0604020202020204" pitchFamily="34" charset="0"/>
                        <a:buChar char="•"/>
                      </a:pPr>
                      <a:r>
                        <a:rPr lang="en-AU" sz="1400" kern="1200" dirty="0">
                          <a:solidFill>
                            <a:schemeClr val="dk1"/>
                          </a:solidFill>
                          <a:effectLst/>
                          <a:latin typeface="+mn-lt"/>
                          <a:ea typeface="+mn-ea"/>
                          <a:cs typeface="+mn-cs"/>
                        </a:rPr>
                        <a:t>Role of neurotransmitters: functions</a:t>
                      </a:r>
                    </a:p>
                    <a:p>
                      <a:pPr marL="742950" lvl="1" indent="-285750">
                        <a:buFont typeface="Arial" panose="020B0604020202020204" pitchFamily="34" charset="0"/>
                        <a:buChar char="•"/>
                      </a:pPr>
                      <a:r>
                        <a:rPr lang="en-AU" sz="1400" kern="1200" dirty="0">
                          <a:solidFill>
                            <a:schemeClr val="dk1"/>
                          </a:solidFill>
                          <a:effectLst/>
                          <a:latin typeface="+mn-lt"/>
                          <a:ea typeface="+mn-ea"/>
                          <a:cs typeface="+mn-cs"/>
                        </a:rPr>
                        <a:t>Serotonin</a:t>
                      </a:r>
                    </a:p>
                    <a:p>
                      <a:pPr marL="742950" lvl="1" indent="-285750">
                        <a:buFont typeface="Arial" panose="020B0604020202020204" pitchFamily="34" charset="0"/>
                        <a:buChar char="•"/>
                      </a:pPr>
                      <a:r>
                        <a:rPr lang="en-AU" sz="1400" kern="1200" dirty="0">
                          <a:solidFill>
                            <a:schemeClr val="dk1"/>
                          </a:solidFill>
                          <a:effectLst/>
                          <a:latin typeface="+mn-lt"/>
                          <a:ea typeface="+mn-ea"/>
                          <a:cs typeface="+mn-cs"/>
                        </a:rPr>
                        <a:t>Dopamine </a:t>
                      </a:r>
                    </a:p>
                  </a:txBody>
                  <a:tcPr>
                    <a:solidFill>
                      <a:schemeClr val="bg1">
                        <a:lumMod val="85000"/>
                      </a:schemeClr>
                    </a:solidFill>
                  </a:tcPr>
                </a:tc>
                <a:extLst>
                  <a:ext uri="{0D108BD9-81ED-4DB2-BD59-A6C34878D82A}">
                    <a16:rowId xmlns:a16="http://schemas.microsoft.com/office/drawing/2014/main" val="3190978482"/>
                  </a:ext>
                </a:extLst>
              </a:tr>
            </a:tbl>
          </a:graphicData>
        </a:graphic>
      </p:graphicFrame>
      <p:graphicFrame>
        <p:nvGraphicFramePr>
          <p:cNvPr id="5" name="Table 4">
            <a:extLst>
              <a:ext uri="{FF2B5EF4-FFF2-40B4-BE49-F238E27FC236}">
                <a16:creationId xmlns:a16="http://schemas.microsoft.com/office/drawing/2014/main" id="{11DD798E-A786-F54A-8DDD-1585C7D30461}"/>
              </a:ext>
            </a:extLst>
          </p:cNvPr>
          <p:cNvGraphicFramePr>
            <a:graphicFrameLocks noGrp="1"/>
          </p:cNvGraphicFramePr>
          <p:nvPr/>
        </p:nvGraphicFramePr>
        <p:xfrm>
          <a:off x="5572708" y="6074280"/>
          <a:ext cx="6608782" cy="741680"/>
        </p:xfrm>
        <a:graphic>
          <a:graphicData uri="http://schemas.openxmlformats.org/drawingml/2006/table">
            <a:tbl>
              <a:tblPr firstRow="1" bandRow="1">
                <a:tableStyleId>{93296810-A885-4BE3-A3E7-6D5BEEA58F35}</a:tableStyleId>
              </a:tblPr>
              <a:tblGrid>
                <a:gridCol w="6608782">
                  <a:extLst>
                    <a:ext uri="{9D8B030D-6E8A-4147-A177-3AD203B41FA5}">
                      <a16:colId xmlns:a16="http://schemas.microsoft.com/office/drawing/2014/main" val="1024621798"/>
                    </a:ext>
                  </a:extLst>
                </a:gridCol>
              </a:tblGrid>
              <a:tr h="370840">
                <a:tc>
                  <a:txBody>
                    <a:bodyPr/>
                    <a:lstStyle/>
                    <a:p>
                      <a:pPr algn="ctr"/>
                      <a:r>
                        <a:rPr lang="en-AU" sz="1400" dirty="0"/>
                        <a:t>Checking for understanding</a:t>
                      </a:r>
                    </a:p>
                  </a:txBody>
                  <a:tcPr/>
                </a:tc>
                <a:extLst>
                  <a:ext uri="{0D108BD9-81ED-4DB2-BD59-A6C34878D82A}">
                    <a16:rowId xmlns:a16="http://schemas.microsoft.com/office/drawing/2014/main" val="1679219781"/>
                  </a:ext>
                </a:extLst>
              </a:tr>
              <a:tr h="370840">
                <a:tc>
                  <a:txBody>
                    <a:bodyPr/>
                    <a:lstStyle/>
                    <a:p>
                      <a:r>
                        <a:rPr lang="en-AU" sz="1400" dirty="0"/>
                        <a:t>Why is it relevant to YOU to be able to explain the process of neural transmission?</a:t>
                      </a:r>
                    </a:p>
                  </a:txBody>
                  <a:tcPr/>
                </a:tc>
                <a:extLst>
                  <a:ext uri="{0D108BD9-81ED-4DB2-BD59-A6C34878D82A}">
                    <a16:rowId xmlns:a16="http://schemas.microsoft.com/office/drawing/2014/main" val="3190978482"/>
                  </a:ext>
                </a:extLst>
              </a:tr>
            </a:tbl>
          </a:graphicData>
        </a:graphic>
      </p:graphicFrame>
      <p:sp>
        <p:nvSpPr>
          <p:cNvPr id="6" name="TextBox 5">
            <a:extLst>
              <a:ext uri="{FF2B5EF4-FFF2-40B4-BE49-F238E27FC236}">
                <a16:creationId xmlns:a16="http://schemas.microsoft.com/office/drawing/2014/main" id="{DE6364C5-EB43-614F-A2D0-0E1AA985A9EB}"/>
              </a:ext>
            </a:extLst>
          </p:cNvPr>
          <p:cNvSpPr txBox="1"/>
          <p:nvPr/>
        </p:nvSpPr>
        <p:spPr>
          <a:xfrm>
            <a:off x="-56456" y="-123920"/>
            <a:ext cx="8441473" cy="1015663"/>
          </a:xfrm>
          <a:prstGeom prst="rect">
            <a:avLst/>
          </a:prstGeom>
          <a:noFill/>
        </p:spPr>
        <p:txBody>
          <a:bodyPr wrap="square" rtlCol="0">
            <a:spAutoFit/>
          </a:bodyPr>
          <a:lstStyle/>
          <a:p>
            <a:r>
              <a:rPr lang="en-AU" sz="2000" b="1" dirty="0"/>
              <a:t>Why is it relevant to be able to explain the process of neural transmission?</a:t>
            </a:r>
          </a:p>
          <a:p>
            <a:pPr marL="285750" indent="-285750">
              <a:buFont typeface="Courier New" panose="02070309020205020404" pitchFamily="49" charset="0"/>
              <a:buChar char="o"/>
            </a:pPr>
            <a:r>
              <a:rPr lang="en-AU" sz="2000" dirty="0"/>
              <a:t>So we can understand how messages are transmitted to and from the brain.</a:t>
            </a:r>
          </a:p>
          <a:p>
            <a:pPr marL="285750" indent="-285750">
              <a:buFont typeface="Courier New" panose="02070309020205020404" pitchFamily="49" charset="0"/>
              <a:buChar char="o"/>
            </a:pPr>
            <a:r>
              <a:rPr lang="en-AU" sz="2000" dirty="0"/>
              <a:t>To do well in the 12 ATAR Psychology course:</a:t>
            </a:r>
          </a:p>
        </p:txBody>
      </p:sp>
      <p:sp>
        <p:nvSpPr>
          <p:cNvPr id="12" name="TextBox 11">
            <a:extLst>
              <a:ext uri="{FF2B5EF4-FFF2-40B4-BE49-F238E27FC236}">
                <a16:creationId xmlns:a16="http://schemas.microsoft.com/office/drawing/2014/main" id="{A3F207D7-56CF-A844-A87F-0C69BA49D04E}"/>
              </a:ext>
            </a:extLst>
          </p:cNvPr>
          <p:cNvSpPr txBox="1"/>
          <p:nvPr/>
        </p:nvSpPr>
        <p:spPr>
          <a:xfrm>
            <a:off x="8027720" y="587652"/>
            <a:ext cx="2884123" cy="461665"/>
          </a:xfrm>
          <a:prstGeom prst="rect">
            <a:avLst/>
          </a:prstGeom>
          <a:noFill/>
        </p:spPr>
        <p:txBody>
          <a:bodyPr wrap="none" rtlCol="0">
            <a:spAutoFit/>
          </a:bodyPr>
          <a:lstStyle/>
          <a:p>
            <a:r>
              <a:rPr lang="en-AU" sz="2400" dirty="0">
                <a:solidFill>
                  <a:srgbClr val="73669C"/>
                </a:solidFill>
                <a:latin typeface="Bradley Hand" pitchFamily="2" charset="77"/>
              </a:rPr>
              <a:t>Past exam question:</a:t>
            </a:r>
          </a:p>
        </p:txBody>
      </p:sp>
      <p:sp>
        <p:nvSpPr>
          <p:cNvPr id="10" name="TextBox 9">
            <a:extLst>
              <a:ext uri="{FF2B5EF4-FFF2-40B4-BE49-F238E27FC236}">
                <a16:creationId xmlns:a16="http://schemas.microsoft.com/office/drawing/2014/main" id="{4977B906-6428-C14C-90B7-35BF56C6347A}"/>
              </a:ext>
            </a:extLst>
          </p:cNvPr>
          <p:cNvSpPr txBox="1"/>
          <p:nvPr/>
        </p:nvSpPr>
        <p:spPr>
          <a:xfrm rot="16200000">
            <a:off x="-382667" y="4850603"/>
            <a:ext cx="1134670" cy="369332"/>
          </a:xfrm>
          <a:prstGeom prst="rect">
            <a:avLst/>
          </a:prstGeom>
          <a:solidFill>
            <a:schemeClr val="accent4">
              <a:lumMod val="75000"/>
            </a:schemeClr>
          </a:solidFill>
        </p:spPr>
        <p:txBody>
          <a:bodyPr wrap="none" rtlCol="0">
            <a:spAutoFit/>
          </a:bodyPr>
          <a:lstStyle/>
          <a:p>
            <a:r>
              <a:rPr lang="en-AU" dirty="0">
                <a:solidFill>
                  <a:schemeClr val="bg1"/>
                </a:solidFill>
              </a:rPr>
              <a:t>Relevance</a:t>
            </a:r>
          </a:p>
        </p:txBody>
      </p:sp>
      <p:pic>
        <p:nvPicPr>
          <p:cNvPr id="13" name="Picture 12" descr="A screenshot of a cell phone&#10;&#10;Description automatically generated">
            <a:extLst>
              <a:ext uri="{FF2B5EF4-FFF2-40B4-BE49-F238E27FC236}">
                <a16:creationId xmlns:a16="http://schemas.microsoft.com/office/drawing/2014/main" id="{70F00EF3-FF50-484E-A931-E729A87F7CFB}"/>
              </a:ext>
            </a:extLst>
          </p:cNvPr>
          <p:cNvPicPr>
            <a:picLocks noChangeAspect="1"/>
          </p:cNvPicPr>
          <p:nvPr/>
        </p:nvPicPr>
        <p:blipFill>
          <a:blip r:embed="rId3"/>
          <a:stretch>
            <a:fillRect/>
          </a:stretch>
        </p:blipFill>
        <p:spPr>
          <a:xfrm>
            <a:off x="5913912" y="1216257"/>
            <a:ext cx="6267578" cy="4779235"/>
          </a:xfrm>
          <a:prstGeom prst="rect">
            <a:avLst/>
          </a:prstGeom>
          <a:ln w="38100">
            <a:solidFill>
              <a:srgbClr val="73669C"/>
            </a:solidFill>
          </a:ln>
        </p:spPr>
      </p:pic>
    </p:spTree>
    <p:extLst>
      <p:ext uri="{BB962C8B-B14F-4D97-AF65-F5344CB8AC3E}">
        <p14:creationId xmlns:p14="http://schemas.microsoft.com/office/powerpoint/2010/main" val="1881802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991D3-CBD5-B548-A48B-BCDA4B62307A}"/>
              </a:ext>
            </a:extLst>
          </p:cNvPr>
          <p:cNvSpPr>
            <a:spLocks noGrp="1"/>
          </p:cNvSpPr>
          <p:nvPr>
            <p:ph type="title"/>
          </p:nvPr>
        </p:nvSpPr>
        <p:spPr/>
        <p:txBody>
          <a:bodyPr/>
          <a:lstStyle/>
          <a:p>
            <a:r>
              <a:rPr lang="en-US" b="1" dirty="0"/>
              <a:t>Whiteboard reminders. </a:t>
            </a:r>
            <a:br>
              <a:rPr lang="en-US" b="1" dirty="0"/>
            </a:br>
            <a:endParaRPr lang="en-US" b="1" dirty="0"/>
          </a:p>
        </p:txBody>
      </p:sp>
      <p:sp>
        <p:nvSpPr>
          <p:cNvPr id="3" name="Content Placeholder 2">
            <a:extLst>
              <a:ext uri="{FF2B5EF4-FFF2-40B4-BE49-F238E27FC236}">
                <a16:creationId xmlns:a16="http://schemas.microsoft.com/office/drawing/2014/main" id="{994579E5-ED59-BF4F-8FA7-DB93B8AAAC07}"/>
              </a:ext>
            </a:extLst>
          </p:cNvPr>
          <p:cNvSpPr>
            <a:spLocks noGrp="1"/>
          </p:cNvSpPr>
          <p:nvPr>
            <p:ph idx="1"/>
          </p:nvPr>
        </p:nvSpPr>
        <p:spPr>
          <a:xfrm>
            <a:off x="283778" y="1975946"/>
            <a:ext cx="5065988" cy="4497060"/>
          </a:xfrm>
        </p:spPr>
        <p:txBody>
          <a:bodyPr>
            <a:normAutofit fontScale="85000" lnSpcReduction="20000"/>
          </a:bodyPr>
          <a:lstStyle/>
          <a:p>
            <a:pPr marL="457200" indent="-457200">
              <a:buAutoNum type="arabicPeriod"/>
            </a:pPr>
            <a:r>
              <a:rPr lang="en-US" sz="3600" b="1" dirty="0"/>
              <a:t>Write it – </a:t>
            </a:r>
            <a:r>
              <a:rPr lang="en-US" sz="3600" dirty="0"/>
              <a:t>start writing your answer</a:t>
            </a:r>
          </a:p>
          <a:p>
            <a:pPr marL="457200" indent="-457200">
              <a:buAutoNum type="arabicPeriod"/>
            </a:pPr>
            <a:r>
              <a:rPr lang="en-US" sz="3600" b="1" dirty="0"/>
              <a:t>Chin it </a:t>
            </a:r>
            <a:r>
              <a:rPr lang="en-US" sz="3600" dirty="0"/>
              <a:t>– Show me your answers</a:t>
            </a:r>
          </a:p>
          <a:p>
            <a:pPr marL="457200" indent="-457200">
              <a:buAutoNum type="arabicPeriod"/>
            </a:pPr>
            <a:r>
              <a:rPr lang="en-US" sz="3600" b="1" dirty="0"/>
              <a:t>Bin it </a:t>
            </a:r>
            <a:r>
              <a:rPr lang="en-US" sz="3600" dirty="0"/>
              <a:t>– Wipe your whiteboard clean</a:t>
            </a:r>
          </a:p>
          <a:p>
            <a:pPr marL="457200" indent="-457200">
              <a:buFont typeface="Wingdings 2" pitchFamily="18" charset="2"/>
              <a:buAutoNum type="arabicPeriod"/>
            </a:pPr>
            <a:r>
              <a:rPr lang="en-US" sz="3500" b="1" dirty="0"/>
              <a:t>Park it </a:t>
            </a:r>
            <a:r>
              <a:rPr lang="en-US" sz="3500" dirty="0"/>
              <a:t>– Lids back on whiteboard markers and whiteboard down</a:t>
            </a:r>
          </a:p>
          <a:p>
            <a:pPr marL="457200" indent="-457200">
              <a:buAutoNum type="arabicPeriod"/>
            </a:pPr>
            <a:endParaRPr lang="en-US" dirty="0"/>
          </a:p>
        </p:txBody>
      </p:sp>
      <p:sp>
        <p:nvSpPr>
          <p:cNvPr id="4" name="Content Placeholder 2">
            <a:extLst>
              <a:ext uri="{FF2B5EF4-FFF2-40B4-BE49-F238E27FC236}">
                <a16:creationId xmlns:a16="http://schemas.microsoft.com/office/drawing/2014/main" id="{16B17E88-C34B-1145-A4A4-E0DA41B1B4FB}"/>
              </a:ext>
            </a:extLst>
          </p:cNvPr>
          <p:cNvSpPr txBox="1">
            <a:spLocks/>
          </p:cNvSpPr>
          <p:nvPr/>
        </p:nvSpPr>
        <p:spPr>
          <a:xfrm>
            <a:off x="5575736" y="2220310"/>
            <a:ext cx="6237891" cy="4085897"/>
          </a:xfrm>
          <a:prstGeom prst="rect">
            <a:avLst/>
          </a:prstGeom>
        </p:spPr>
        <p:txBody>
          <a:bodyPr vert="horz" lIns="91440" tIns="45720" rIns="91440" bIns="45720" rtlCol="0">
            <a:normAutofit lnSpcReduction="10000"/>
          </a:bodyPr>
          <a:lst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1800"/>
              </a:spcBef>
              <a:spcAft>
                <a:spcPts val="0"/>
              </a:spcAft>
              <a:buClr>
                <a:srgbClr val="94C600"/>
              </a:buClr>
              <a:buSzPct val="100000"/>
              <a:buFont typeface="Wingdings 2" pitchFamily="18" charset="2"/>
              <a:buNone/>
              <a:tabLst/>
              <a:defRPr/>
            </a:pPr>
            <a:r>
              <a:rPr kumimoji="0" lang="en-US" sz="2000" b="1" i="0" u="none" strike="noStrike" kern="1200" cap="none" spc="0" normalizeH="0" baseline="0" noProof="0" dirty="0">
                <a:ln>
                  <a:noFill/>
                </a:ln>
                <a:solidFill>
                  <a:srgbClr val="3E3D2D"/>
                </a:solidFill>
                <a:effectLst/>
                <a:uLnTx/>
                <a:uFillTx/>
                <a:latin typeface="Century Gothic"/>
                <a:ea typeface="+mn-ea"/>
                <a:cs typeface="+mn-cs"/>
              </a:rPr>
              <a:t>Norms and rules:</a:t>
            </a:r>
          </a:p>
          <a:p>
            <a:pPr marL="0" marR="0" lvl="0" indent="0" algn="l" defTabSz="914400" rtl="0" eaLnBrk="1" fontAlgn="auto" latinLnBrk="0" hangingPunct="1">
              <a:lnSpc>
                <a:spcPct val="100000"/>
              </a:lnSpc>
              <a:spcBef>
                <a:spcPts val="1800"/>
              </a:spcBef>
              <a:spcAft>
                <a:spcPts val="0"/>
              </a:spcAft>
              <a:buClr>
                <a:srgbClr val="94C600"/>
              </a:buClr>
              <a:buSzPct val="100000"/>
              <a:buFont typeface="Wingdings 2" pitchFamily="18" charset="2"/>
              <a:buNone/>
              <a:tabLst/>
              <a:defRPr/>
            </a:pPr>
            <a:r>
              <a:rPr kumimoji="0" lang="en-US" sz="2000" b="1" i="0" u="none" strike="noStrike" kern="1200" cap="none" spc="0" normalizeH="0" baseline="0" noProof="0" dirty="0">
                <a:ln>
                  <a:noFill/>
                </a:ln>
                <a:solidFill>
                  <a:srgbClr val="3E3D2D"/>
                </a:solidFill>
                <a:effectLst/>
                <a:uLnTx/>
                <a:uFillTx/>
                <a:latin typeface="Century Gothic"/>
                <a:ea typeface="+mn-ea"/>
                <a:cs typeface="+mn-cs"/>
              </a:rPr>
              <a:t>1. Do not waste the ink </a:t>
            </a:r>
            <a:r>
              <a:rPr kumimoji="0" lang="en-US" sz="2000" b="0" i="0" u="none" strike="noStrike" kern="1200" cap="none" spc="0" normalizeH="0" baseline="0" noProof="0" dirty="0">
                <a:ln>
                  <a:noFill/>
                </a:ln>
                <a:solidFill>
                  <a:srgbClr val="3E3D2D"/>
                </a:solidFill>
                <a:effectLst/>
                <a:uLnTx/>
                <a:uFillTx/>
                <a:latin typeface="Century Gothic"/>
                <a:ea typeface="+mn-ea"/>
                <a:cs typeface="+mn-cs"/>
              </a:rPr>
              <a:t>– these pens are for learning and </a:t>
            </a:r>
            <a:r>
              <a:rPr kumimoji="0" lang="en-US" sz="2000" b="0" i="0" u="none" strike="noStrike" kern="1200" cap="none" spc="0" normalizeH="0" baseline="0" noProof="0" dirty="0" err="1">
                <a:ln>
                  <a:noFill/>
                </a:ln>
                <a:solidFill>
                  <a:srgbClr val="3E3D2D"/>
                </a:solidFill>
                <a:effectLst/>
                <a:uLnTx/>
                <a:uFillTx/>
                <a:latin typeface="Century Gothic"/>
                <a:ea typeface="+mn-ea"/>
                <a:cs typeface="+mn-cs"/>
              </a:rPr>
              <a:t>Ms</a:t>
            </a:r>
            <a:r>
              <a:rPr kumimoji="0" lang="en-US" sz="2000" b="0" i="0" u="none" strike="noStrike" kern="1200" cap="none" spc="0" normalizeH="0" baseline="0" noProof="0" dirty="0">
                <a:ln>
                  <a:noFill/>
                </a:ln>
                <a:solidFill>
                  <a:srgbClr val="3E3D2D"/>
                </a:solidFill>
                <a:effectLst/>
                <a:uLnTx/>
                <a:uFillTx/>
                <a:latin typeface="Century Gothic"/>
                <a:ea typeface="+mn-ea"/>
                <a:cs typeface="+mn-cs"/>
              </a:rPr>
              <a:t> Davey buys the pens (they are expensive).</a:t>
            </a:r>
          </a:p>
          <a:p>
            <a:pPr marL="0" marR="0" lvl="0" indent="0" algn="l" defTabSz="914400" rtl="0" eaLnBrk="1" fontAlgn="auto" latinLnBrk="0" hangingPunct="1">
              <a:lnSpc>
                <a:spcPct val="100000"/>
              </a:lnSpc>
              <a:spcBef>
                <a:spcPts val="1800"/>
              </a:spcBef>
              <a:spcAft>
                <a:spcPts val="0"/>
              </a:spcAft>
              <a:buClr>
                <a:srgbClr val="94C600"/>
              </a:buClr>
              <a:buSzPct val="100000"/>
              <a:buFont typeface="Wingdings 2" pitchFamily="18" charset="2"/>
              <a:buNone/>
              <a:tabLst/>
              <a:defRPr/>
            </a:pPr>
            <a:r>
              <a:rPr kumimoji="0" lang="en-US" sz="2000" b="1" i="0" u="none" strike="noStrike" kern="1200" cap="none" spc="0" normalizeH="0" baseline="0" noProof="0" dirty="0">
                <a:ln>
                  <a:noFill/>
                </a:ln>
                <a:solidFill>
                  <a:srgbClr val="3E3D2D"/>
                </a:solidFill>
                <a:effectLst/>
                <a:uLnTx/>
                <a:uFillTx/>
                <a:latin typeface="Century Gothic"/>
                <a:ea typeface="+mn-ea"/>
                <a:cs typeface="+mn-cs"/>
              </a:rPr>
              <a:t>2. Include everyone </a:t>
            </a:r>
            <a:r>
              <a:rPr kumimoji="0" lang="en-US" sz="2000" b="0" i="0" u="none" strike="noStrike" kern="1200" cap="none" spc="0" normalizeH="0" baseline="0" noProof="0" dirty="0">
                <a:ln>
                  <a:noFill/>
                </a:ln>
                <a:solidFill>
                  <a:srgbClr val="3E3D2D"/>
                </a:solidFill>
                <a:effectLst/>
                <a:uLnTx/>
                <a:uFillTx/>
                <a:latin typeface="Century Gothic"/>
                <a:ea typeface="+mn-ea"/>
                <a:cs typeface="+mn-cs"/>
              </a:rPr>
              <a:t>– Person who is writing the answer cannot research the answer (use your team, communicate). Swap roles each turn.</a:t>
            </a:r>
          </a:p>
          <a:p>
            <a:pPr marL="0" marR="0" lvl="0" indent="0" algn="l" defTabSz="914400" rtl="0" eaLnBrk="1" fontAlgn="auto" latinLnBrk="0" hangingPunct="1">
              <a:lnSpc>
                <a:spcPct val="100000"/>
              </a:lnSpc>
              <a:spcBef>
                <a:spcPts val="1800"/>
              </a:spcBef>
              <a:spcAft>
                <a:spcPts val="0"/>
              </a:spcAft>
              <a:buClr>
                <a:srgbClr val="94C600"/>
              </a:buClr>
              <a:buSzPct val="100000"/>
              <a:buFont typeface="Wingdings 2" pitchFamily="18" charset="2"/>
              <a:buNone/>
              <a:tabLst/>
              <a:defRPr/>
            </a:pPr>
            <a:r>
              <a:rPr kumimoji="0" lang="en-US" sz="2000" b="1" i="0" u="none" strike="noStrike" kern="1200" cap="none" spc="0" normalizeH="0" baseline="0" noProof="0" dirty="0">
                <a:ln>
                  <a:noFill/>
                </a:ln>
                <a:solidFill>
                  <a:srgbClr val="3E3D2D"/>
                </a:solidFill>
                <a:effectLst/>
                <a:uLnTx/>
                <a:uFillTx/>
                <a:latin typeface="Century Gothic"/>
                <a:ea typeface="+mn-ea"/>
                <a:cs typeface="+mn-cs"/>
              </a:rPr>
              <a:t>3. Be an active learner! </a:t>
            </a:r>
            <a:r>
              <a:rPr kumimoji="0" lang="en-US" sz="2000" b="0" i="0" u="none" strike="noStrike" kern="1200" cap="none" spc="0" normalizeH="0" baseline="0" noProof="0" dirty="0">
                <a:ln>
                  <a:noFill/>
                </a:ln>
                <a:solidFill>
                  <a:srgbClr val="3E3D2D"/>
                </a:solidFill>
                <a:effectLst/>
                <a:uLnTx/>
                <a:uFillTx/>
                <a:latin typeface="Century Gothic"/>
                <a:ea typeface="+mn-ea"/>
                <a:cs typeface="+mn-cs"/>
              </a:rPr>
              <a:t>– Using the whiteboards get you rehearsing information, making it easier to recall later. It also lets me know what you know and don’t know.</a:t>
            </a:r>
          </a:p>
        </p:txBody>
      </p:sp>
      <p:pic>
        <p:nvPicPr>
          <p:cNvPr id="5" name="Picture 4">
            <a:extLst>
              <a:ext uri="{FF2B5EF4-FFF2-40B4-BE49-F238E27FC236}">
                <a16:creationId xmlns:a16="http://schemas.microsoft.com/office/drawing/2014/main" id="{99434D6F-EBB4-A94D-88E8-E57BAB7813F1}"/>
              </a:ext>
            </a:extLst>
          </p:cNvPr>
          <p:cNvPicPr>
            <a:picLocks noChangeAspect="1"/>
          </p:cNvPicPr>
          <p:nvPr/>
        </p:nvPicPr>
        <p:blipFill>
          <a:blip r:embed="rId2"/>
          <a:stretch>
            <a:fillRect/>
          </a:stretch>
        </p:blipFill>
        <p:spPr>
          <a:xfrm>
            <a:off x="9513405" y="131380"/>
            <a:ext cx="2515682" cy="2515682"/>
          </a:xfrm>
          <a:prstGeom prst="rect">
            <a:avLst/>
          </a:prstGeom>
        </p:spPr>
      </p:pic>
    </p:spTree>
    <p:extLst>
      <p:ext uri="{BB962C8B-B14F-4D97-AF65-F5344CB8AC3E}">
        <p14:creationId xmlns:p14="http://schemas.microsoft.com/office/powerpoint/2010/main" val="102977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625539-DDA3-CD49-A515-93ED6762E009}"/>
              </a:ext>
            </a:extLst>
          </p:cNvPr>
          <p:cNvPicPr>
            <a:picLocks noChangeAspect="1"/>
          </p:cNvPicPr>
          <p:nvPr/>
        </p:nvPicPr>
        <p:blipFill>
          <a:blip r:embed="rId3"/>
          <a:stretch>
            <a:fillRect/>
          </a:stretch>
        </p:blipFill>
        <p:spPr>
          <a:xfrm>
            <a:off x="10270472" y="0"/>
            <a:ext cx="1921527" cy="1472339"/>
          </a:xfrm>
          <a:prstGeom prst="rect">
            <a:avLst/>
          </a:prstGeom>
        </p:spPr>
      </p:pic>
      <p:sp>
        <p:nvSpPr>
          <p:cNvPr id="3" name="TextBox 2">
            <a:extLst>
              <a:ext uri="{FF2B5EF4-FFF2-40B4-BE49-F238E27FC236}">
                <a16:creationId xmlns:a16="http://schemas.microsoft.com/office/drawing/2014/main" id="{DF96FE21-9F4C-F64E-9022-163D12187526}"/>
              </a:ext>
            </a:extLst>
          </p:cNvPr>
          <p:cNvSpPr txBox="1"/>
          <p:nvPr/>
        </p:nvSpPr>
        <p:spPr>
          <a:xfrm rot="16200000">
            <a:off x="-1132740" y="1523698"/>
            <a:ext cx="2634824" cy="369332"/>
          </a:xfrm>
          <a:prstGeom prst="rect">
            <a:avLst/>
          </a:prstGeom>
          <a:solidFill>
            <a:schemeClr val="accent2"/>
          </a:solidFill>
        </p:spPr>
        <p:txBody>
          <a:bodyPr wrap="none" rtlCol="0">
            <a:spAutoFit/>
          </a:bodyPr>
          <a:lstStyle/>
          <a:p>
            <a:r>
              <a:rPr lang="en-AU" dirty="0">
                <a:solidFill>
                  <a:schemeClr val="bg1"/>
                </a:solidFill>
              </a:rPr>
              <a:t>Check your understanding</a:t>
            </a:r>
          </a:p>
        </p:txBody>
      </p:sp>
      <p:sp>
        <p:nvSpPr>
          <p:cNvPr id="5" name="TextBox 4">
            <a:extLst>
              <a:ext uri="{FF2B5EF4-FFF2-40B4-BE49-F238E27FC236}">
                <a16:creationId xmlns:a16="http://schemas.microsoft.com/office/drawing/2014/main" id="{1C3FDC3F-F0E3-CF4D-B7F8-EEF0D58150ED}"/>
              </a:ext>
            </a:extLst>
          </p:cNvPr>
          <p:cNvSpPr txBox="1"/>
          <p:nvPr/>
        </p:nvSpPr>
        <p:spPr>
          <a:xfrm>
            <a:off x="1916886" y="4489125"/>
            <a:ext cx="8353586" cy="1754326"/>
          </a:xfrm>
          <a:prstGeom prst="rect">
            <a:avLst/>
          </a:prstGeom>
          <a:noFill/>
        </p:spPr>
        <p:txBody>
          <a:bodyPr wrap="square" rtlCol="0">
            <a:spAutoFit/>
          </a:bodyPr>
          <a:lstStyle/>
          <a:p>
            <a:r>
              <a:rPr lang="en-US" dirty="0"/>
              <a:t>5 roles:</a:t>
            </a:r>
          </a:p>
          <a:p>
            <a:r>
              <a:rPr lang="en-US" dirty="0"/>
              <a:t>Teacher – You will explain what you have just learnt to the rest of your team</a:t>
            </a:r>
          </a:p>
          <a:p>
            <a:r>
              <a:rPr lang="en-US" dirty="0"/>
              <a:t>Question master - look at the notes and question / extend and fact check the teacher </a:t>
            </a:r>
          </a:p>
          <a:p>
            <a:r>
              <a:rPr lang="en-US" dirty="0"/>
              <a:t>Scribe – your job to summarise on the whiteboard what the key points are</a:t>
            </a:r>
          </a:p>
          <a:p>
            <a:r>
              <a:rPr lang="en-US" dirty="0"/>
              <a:t>Reporter – you will be presenting the material to the rest of the class</a:t>
            </a:r>
          </a:p>
          <a:p>
            <a:r>
              <a:rPr lang="en-US" dirty="0"/>
              <a:t>Motivator – you are time keeper and responsible for keeping everyone on task</a:t>
            </a:r>
          </a:p>
        </p:txBody>
      </p:sp>
      <p:sp>
        <p:nvSpPr>
          <p:cNvPr id="6" name="TextBox 5">
            <a:extLst>
              <a:ext uri="{FF2B5EF4-FFF2-40B4-BE49-F238E27FC236}">
                <a16:creationId xmlns:a16="http://schemas.microsoft.com/office/drawing/2014/main" id="{845A9135-6D23-9B40-A318-5A5318AD7149}"/>
              </a:ext>
            </a:extLst>
          </p:cNvPr>
          <p:cNvSpPr txBox="1"/>
          <p:nvPr/>
        </p:nvSpPr>
        <p:spPr>
          <a:xfrm>
            <a:off x="1628747" y="1929413"/>
            <a:ext cx="9296519" cy="1323439"/>
          </a:xfrm>
          <a:prstGeom prst="rect">
            <a:avLst/>
          </a:prstGeom>
          <a:noFill/>
        </p:spPr>
        <p:txBody>
          <a:bodyPr wrap="none" rtlCol="0">
            <a:spAutoFit/>
          </a:bodyPr>
          <a:lstStyle/>
          <a:p>
            <a:r>
              <a:rPr lang="en-US" sz="4000" b="1" dirty="0"/>
              <a:t>Collaborative whiteboard or verbal activity</a:t>
            </a:r>
          </a:p>
          <a:p>
            <a:r>
              <a:rPr lang="en-US" sz="4000" b="1" dirty="0"/>
              <a:t>Summarise what you just learnt</a:t>
            </a:r>
          </a:p>
        </p:txBody>
      </p:sp>
    </p:spTree>
    <p:extLst>
      <p:ext uri="{BB962C8B-B14F-4D97-AF65-F5344CB8AC3E}">
        <p14:creationId xmlns:p14="http://schemas.microsoft.com/office/powerpoint/2010/main" val="3925082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96FE21-9F4C-F64E-9022-163D12187526}"/>
              </a:ext>
            </a:extLst>
          </p:cNvPr>
          <p:cNvSpPr txBox="1"/>
          <p:nvPr/>
        </p:nvSpPr>
        <p:spPr>
          <a:xfrm rot="16200000">
            <a:off x="-913317" y="1523698"/>
            <a:ext cx="2195986" cy="369332"/>
          </a:xfrm>
          <a:prstGeom prst="rect">
            <a:avLst/>
          </a:prstGeom>
          <a:solidFill>
            <a:schemeClr val="accent2"/>
          </a:solidFill>
        </p:spPr>
        <p:txBody>
          <a:bodyPr wrap="none" rtlCol="0">
            <a:spAutoFit/>
          </a:bodyPr>
          <a:lstStyle/>
          <a:p>
            <a:r>
              <a:rPr lang="en-AU" dirty="0">
                <a:solidFill>
                  <a:schemeClr val="bg1"/>
                </a:solidFill>
              </a:rPr>
              <a:t>Independent practice</a:t>
            </a:r>
          </a:p>
        </p:txBody>
      </p:sp>
      <p:sp>
        <p:nvSpPr>
          <p:cNvPr id="6" name="TextBox 5">
            <a:extLst>
              <a:ext uri="{FF2B5EF4-FFF2-40B4-BE49-F238E27FC236}">
                <a16:creationId xmlns:a16="http://schemas.microsoft.com/office/drawing/2014/main" id="{845A9135-6D23-9B40-A318-5A5318AD7149}"/>
              </a:ext>
            </a:extLst>
          </p:cNvPr>
          <p:cNvSpPr txBox="1"/>
          <p:nvPr/>
        </p:nvSpPr>
        <p:spPr>
          <a:xfrm>
            <a:off x="3100196" y="1536174"/>
            <a:ext cx="5462393" cy="3785652"/>
          </a:xfrm>
          <a:prstGeom prst="rect">
            <a:avLst/>
          </a:prstGeom>
          <a:noFill/>
        </p:spPr>
        <p:txBody>
          <a:bodyPr wrap="none" rtlCol="0">
            <a:spAutoFit/>
          </a:bodyPr>
          <a:lstStyle/>
          <a:p>
            <a:r>
              <a:rPr lang="en-US" sz="4000" b="1" dirty="0"/>
              <a:t>Activity..</a:t>
            </a:r>
          </a:p>
          <a:p>
            <a:r>
              <a:rPr lang="en-US" sz="4000" b="1" dirty="0"/>
              <a:t>Questions on SEQTA or</a:t>
            </a:r>
          </a:p>
          <a:p>
            <a:r>
              <a:rPr lang="en-US" sz="4000" b="1" dirty="0"/>
              <a:t>Exam questions timed or</a:t>
            </a:r>
          </a:p>
          <a:p>
            <a:r>
              <a:rPr lang="en-US" sz="4000" b="1" dirty="0"/>
              <a:t>Poster or</a:t>
            </a:r>
          </a:p>
          <a:p>
            <a:r>
              <a:rPr lang="en-US" sz="4000" b="1" dirty="0"/>
              <a:t>Flashcards</a:t>
            </a:r>
          </a:p>
          <a:p>
            <a:endParaRPr lang="en-US" sz="4000" b="1" dirty="0"/>
          </a:p>
        </p:txBody>
      </p:sp>
      <p:pic>
        <p:nvPicPr>
          <p:cNvPr id="7" name="Picture 6" descr="Keep silence and be quiet lips and finger silent sign, no noise ...">
            <a:extLst>
              <a:ext uri="{FF2B5EF4-FFF2-40B4-BE49-F238E27FC236}">
                <a16:creationId xmlns:a16="http://schemas.microsoft.com/office/drawing/2014/main" id="{47B733C3-8854-A940-9624-0DECD96AF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5692" y="130028"/>
            <a:ext cx="2645837" cy="2645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914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E40A-5FB4-D74C-8F95-466AA94F7BD1}"/>
              </a:ext>
            </a:extLst>
          </p:cNvPr>
          <p:cNvSpPr>
            <a:spLocks noGrp="1"/>
          </p:cNvSpPr>
          <p:nvPr>
            <p:ph type="title"/>
          </p:nvPr>
        </p:nvSpPr>
        <p:spPr>
          <a:xfrm>
            <a:off x="235527" y="107759"/>
            <a:ext cx="6508377" cy="1617133"/>
          </a:xfrm>
        </p:spPr>
        <p:txBody>
          <a:bodyPr/>
          <a:lstStyle/>
          <a:p>
            <a:r>
              <a:rPr lang="en-AU" sz="5400" b="1" dirty="0"/>
              <a:t>Homework</a:t>
            </a:r>
          </a:p>
        </p:txBody>
      </p:sp>
      <p:sp>
        <p:nvSpPr>
          <p:cNvPr id="3" name="Content Placeholder 2">
            <a:extLst>
              <a:ext uri="{FF2B5EF4-FFF2-40B4-BE49-F238E27FC236}">
                <a16:creationId xmlns:a16="http://schemas.microsoft.com/office/drawing/2014/main" id="{69492060-9AC3-0B43-9E1B-8809CB7521FA}"/>
              </a:ext>
            </a:extLst>
          </p:cNvPr>
          <p:cNvSpPr>
            <a:spLocks noGrp="1"/>
          </p:cNvSpPr>
          <p:nvPr>
            <p:ph idx="1"/>
          </p:nvPr>
        </p:nvSpPr>
        <p:spPr>
          <a:xfrm>
            <a:off x="318654" y="1780311"/>
            <a:ext cx="9838927" cy="4540440"/>
          </a:xfrm>
        </p:spPr>
        <p:txBody>
          <a:bodyPr>
            <a:normAutofit/>
          </a:bodyPr>
          <a:lstStyle/>
          <a:p>
            <a:pPr marL="0" indent="0" algn="ctr">
              <a:buNone/>
            </a:pPr>
            <a:r>
              <a:rPr lang="en-AU" sz="2400" b="1" dirty="0"/>
              <a:t>Before X you must have: </a:t>
            </a:r>
          </a:p>
          <a:p>
            <a:pPr marL="0" indent="0">
              <a:buNone/>
            </a:pPr>
            <a:endParaRPr lang="en-AU" sz="2400" dirty="0"/>
          </a:p>
          <a:p>
            <a:pPr marL="0" indent="0">
              <a:buNone/>
            </a:pPr>
            <a:endParaRPr lang="en-AU" sz="2400" dirty="0"/>
          </a:p>
          <a:p>
            <a:endParaRPr lang="en-AU" sz="2400" dirty="0"/>
          </a:p>
          <a:p>
            <a:pPr marL="0" indent="0">
              <a:buNone/>
            </a:pPr>
            <a:endParaRPr lang="en-AU" sz="2400" dirty="0"/>
          </a:p>
        </p:txBody>
      </p:sp>
      <p:pic>
        <p:nvPicPr>
          <p:cNvPr id="5" name="Picture 4" descr="062608-glossy-black-icon-people-things-people-student-study.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4922" y="-44823"/>
            <a:ext cx="2178424" cy="2178424"/>
          </a:xfrm>
          <a:prstGeom prst="rect">
            <a:avLst/>
          </a:prstGeom>
        </p:spPr>
      </p:pic>
    </p:spTree>
    <p:extLst>
      <p:ext uri="{BB962C8B-B14F-4D97-AF65-F5344CB8AC3E}">
        <p14:creationId xmlns:p14="http://schemas.microsoft.com/office/powerpoint/2010/main" val="3196302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2E555-EA4A-4184-918C-1630F809740B}"/>
              </a:ext>
            </a:extLst>
          </p:cNvPr>
          <p:cNvSpPr>
            <a:spLocks noGrp="1"/>
          </p:cNvSpPr>
          <p:nvPr>
            <p:ph type="title"/>
          </p:nvPr>
        </p:nvSpPr>
        <p:spPr/>
        <p:txBody>
          <a:bodyPr/>
          <a:lstStyle/>
          <a:p>
            <a:r>
              <a:rPr lang="en-AU" sz="5400" b="1" dirty="0"/>
              <a:t>Exit Ticket </a:t>
            </a:r>
          </a:p>
        </p:txBody>
      </p:sp>
      <p:sp>
        <p:nvSpPr>
          <p:cNvPr id="3" name="Content Placeholder 2">
            <a:extLst>
              <a:ext uri="{FF2B5EF4-FFF2-40B4-BE49-F238E27FC236}">
                <a16:creationId xmlns:a16="http://schemas.microsoft.com/office/drawing/2014/main" id="{CA90E94D-8BB9-4152-80A2-4A18D09037E2}"/>
              </a:ext>
            </a:extLst>
          </p:cNvPr>
          <p:cNvSpPr>
            <a:spLocks noGrp="1"/>
          </p:cNvSpPr>
          <p:nvPr>
            <p:ph idx="1"/>
          </p:nvPr>
        </p:nvSpPr>
        <p:spPr>
          <a:xfrm>
            <a:off x="1139398" y="2362201"/>
            <a:ext cx="8677836" cy="3916363"/>
          </a:xfrm>
        </p:spPr>
        <p:txBody>
          <a:bodyPr>
            <a:normAutofit/>
          </a:bodyPr>
          <a:lstStyle/>
          <a:p>
            <a:pPr marL="0" indent="0">
              <a:buNone/>
            </a:pPr>
            <a:r>
              <a:rPr lang="en-AU" sz="3600" dirty="0"/>
              <a:t>Fist to five and explain to partner</a:t>
            </a:r>
          </a:p>
          <a:p>
            <a:pPr marL="0" indent="0">
              <a:buNone/>
            </a:pPr>
            <a:r>
              <a:rPr lang="en-AU" sz="3600" dirty="0"/>
              <a:t>Ask one get one</a:t>
            </a:r>
          </a:p>
          <a:p>
            <a:pPr marL="0" indent="0">
              <a:buNone/>
            </a:pPr>
            <a:r>
              <a:rPr lang="en-AU" sz="3600" dirty="0"/>
              <a:t>SEQTA message</a:t>
            </a:r>
          </a:p>
          <a:p>
            <a:pPr marL="0" indent="0">
              <a:buNone/>
            </a:pPr>
            <a:r>
              <a:rPr lang="en-AU" sz="3600" dirty="0"/>
              <a:t>Answer these questions..</a:t>
            </a:r>
          </a:p>
          <a:p>
            <a:pPr marL="0" indent="0">
              <a:buNone/>
            </a:pPr>
            <a:r>
              <a:rPr lang="en-AU" sz="3600" dirty="0"/>
              <a:t>Flash whiteboard quiz</a:t>
            </a:r>
          </a:p>
        </p:txBody>
      </p:sp>
      <p:pic>
        <p:nvPicPr>
          <p:cNvPr id="4" name="Picture 3" descr="__-41-51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7234" y="136524"/>
            <a:ext cx="1765167" cy="1765167"/>
          </a:xfrm>
          <a:prstGeom prst="rect">
            <a:avLst/>
          </a:prstGeom>
        </p:spPr>
      </p:pic>
    </p:spTree>
    <p:extLst>
      <p:ext uri="{BB962C8B-B14F-4D97-AF65-F5344CB8AC3E}">
        <p14:creationId xmlns:p14="http://schemas.microsoft.com/office/powerpoint/2010/main" val="575127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sson template" id="{BE3FD172-D024-DE49-B586-228D6C825ABD}" vid="{767780C8-878E-A447-AAC4-C73CC567D16E}"/>
    </a:ext>
  </a:extLst>
</a:theme>
</file>

<file path=ppt/theme/theme2.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sson template" id="{BE3FD172-D024-DE49-B586-228D6C825ABD}" vid="{007CADC7-1C8C-EE44-9A84-575C6C189305}"/>
    </a:ext>
  </a:extLst>
</a:theme>
</file>

<file path=ppt/theme/theme3.xml><?xml version="1.0" encoding="utf-8"?>
<a:theme xmlns:a="http://schemas.openxmlformats.org/drawingml/2006/main" name="1_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Lesson template" id="{BE3FD172-D024-DE49-B586-228D6C825ABD}" vid="{E2FDA488-A169-CE43-BC5C-1C56A94CA573}"/>
    </a:ext>
  </a:extLst>
</a:theme>
</file>

<file path=ppt/theme/theme4.xml><?xml version="1.0" encoding="utf-8"?>
<a:theme xmlns:a="http://schemas.openxmlformats.org/drawingml/2006/main" name="2_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TotalTime>
  <Words>1134</Words>
  <Application>Microsoft Macintosh PowerPoint</Application>
  <PresentationFormat>Widescreen</PresentationFormat>
  <Paragraphs>181</Paragraphs>
  <Slides>18</Slides>
  <Notes>2</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18</vt:i4>
      </vt:variant>
    </vt:vector>
  </HeadingPairs>
  <TitlesOfParts>
    <vt:vector size="29" baseType="lpstr">
      <vt:lpstr>Arial</vt:lpstr>
      <vt:lpstr>Bradley Hand</vt:lpstr>
      <vt:lpstr>Calibri</vt:lpstr>
      <vt:lpstr>Calibri Light</vt:lpstr>
      <vt:lpstr>Century Gothic</vt:lpstr>
      <vt:lpstr>Courier New</vt:lpstr>
      <vt:lpstr>Wingdings 2</vt:lpstr>
      <vt:lpstr>Office Theme</vt:lpstr>
      <vt:lpstr>Saba</vt:lpstr>
      <vt:lpstr>1_Saba</vt:lpstr>
      <vt:lpstr>2_Saba</vt:lpstr>
      <vt:lpstr>Question: Describe three findings from the data (3 marks)</vt:lpstr>
      <vt:lpstr>Categories the following data collection tools:</vt:lpstr>
      <vt:lpstr>Write 2 likert scale questions that could help measure a persons extroversion</vt:lpstr>
      <vt:lpstr>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marker from her dealer Jiggy and convinces half of her clientele at the gym to start injecting. This continues for thirty days while Chloe keeps a journal of how much weight each person in the two groups can squat. At the end of the month she compares the results.</vt:lpstr>
      <vt:lpstr>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marker from her dealer Jiggy and convinces half of her clientele at the gym to start injecting. This continues for thirty days while Chloe keeps a journal of how much weight each person in the two groups can squat. At the end of the month she compares the results.</vt:lpstr>
      <vt:lpstr>1. How many fishing boat deaths were there in 2004?  2. Describe the correlation between the years 1999 to 2001. </vt:lpstr>
      <vt:lpstr>Group behaviour task </vt:lpstr>
      <vt:lpstr>PowerPoint Presentation</vt:lpstr>
      <vt:lpstr>PowerPoint Presentation</vt:lpstr>
      <vt:lpstr>PowerPoint Presentation</vt:lpstr>
      <vt:lpstr>PowerPoint Presentation</vt:lpstr>
      <vt:lpstr>PowerPoint Presentation</vt:lpstr>
      <vt:lpstr>PowerPoint Presentation</vt:lpstr>
      <vt:lpstr>Whiteboard reminders.  </vt:lpstr>
      <vt:lpstr>PowerPoint Presentation</vt:lpstr>
      <vt:lpstr>PowerPoint Presentation</vt:lpstr>
      <vt:lpstr>Homework</vt:lpstr>
      <vt:lpstr>Exit Ticket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 Describe three findings from the data (3 marks)</dc:title>
  <dc:creator>DAVEY Sarah [Joseph Banks Secondary College]</dc:creator>
  <cp:lastModifiedBy>DAVEY Sarah [Joseph Banks Secondary College]</cp:lastModifiedBy>
  <cp:revision>2</cp:revision>
  <dcterms:created xsi:type="dcterms:W3CDTF">2021-07-29T07:58:21Z</dcterms:created>
  <dcterms:modified xsi:type="dcterms:W3CDTF">2021-07-29T08:20:08Z</dcterms:modified>
</cp:coreProperties>
</file>
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sldIdLst>
    <p:sldId id="382" r:id="rId2"/>
    <p:sldId id="318" r:id="rId3"/>
    <p:sldId id="370" r:id="rId4"/>
    <p:sldId id="295" r:id="rId5"/>
    <p:sldId id="258" r:id="rId6"/>
    <p:sldId id="400" r:id="rId7"/>
    <p:sldId id="417" r:id="rId8"/>
    <p:sldId id="416" r:id="rId9"/>
    <p:sldId id="369" r:id="rId10"/>
    <p:sldId id="359" r:id="rId11"/>
    <p:sldId id="372" r:id="rId12"/>
    <p:sldId id="388" r:id="rId13"/>
    <p:sldId id="384" r:id="rId14"/>
    <p:sldId id="387" r:id="rId15"/>
    <p:sldId id="376" r:id="rId16"/>
    <p:sldId id="377" r:id="rId17"/>
    <p:sldId id="380" r:id="rId18"/>
    <p:sldId id="31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E2EE"/>
    <a:srgbClr val="49CD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728"/>
    <p:restoredTop sz="94643"/>
  </p:normalViewPr>
  <p:slideViewPr>
    <p:cSldViewPr snapToGrid="0" snapToObjects="1">
      <p:cViewPr>
        <p:scale>
          <a:sx n="163" d="100"/>
          <a:sy n="163" d="100"/>
        </p:scale>
        <p:origin x="192"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1C549E-BCCB-3F41-934F-1D8CBC08F25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0F1BBCDD-CBCF-D64D-84DF-C9CB945A9672}">
      <dgm:prSet phldrT="[Text]"/>
      <dgm:spPr/>
      <dgm:t>
        <a:bodyPr/>
        <a:lstStyle/>
        <a:p>
          <a:r>
            <a:rPr lang="en-GB" b="1" dirty="0">
              <a:solidFill>
                <a:schemeClr val="tx1"/>
              </a:solidFill>
            </a:rPr>
            <a:t>Participant variables</a:t>
          </a:r>
        </a:p>
      </dgm:t>
    </dgm:pt>
    <dgm:pt modelId="{6C5AFC48-729F-EE4F-8DE3-367D4C70B668}" type="parTrans" cxnId="{5B0218D9-CA5F-3843-95D9-99B1D40D1D73}">
      <dgm:prSet/>
      <dgm:spPr/>
      <dgm:t>
        <a:bodyPr/>
        <a:lstStyle/>
        <a:p>
          <a:endParaRPr lang="en-GB"/>
        </a:p>
      </dgm:t>
    </dgm:pt>
    <dgm:pt modelId="{19B571C4-A1DC-4A42-AF84-B4B6A43C4F2A}" type="sibTrans" cxnId="{5B0218D9-CA5F-3843-95D9-99B1D40D1D73}">
      <dgm:prSet/>
      <dgm:spPr/>
      <dgm:t>
        <a:bodyPr/>
        <a:lstStyle/>
        <a:p>
          <a:endParaRPr lang="en-GB"/>
        </a:p>
      </dgm:t>
    </dgm:pt>
    <dgm:pt modelId="{8C4BF83D-E2D5-ED4E-ADFF-734B1A0CDFCB}">
      <dgm:prSet phldrT="[Text]"/>
      <dgm:spPr/>
      <dgm:t>
        <a:bodyPr/>
        <a:lstStyle/>
        <a:p>
          <a:r>
            <a:rPr lang="en-AU" b="0" i="0" dirty="0"/>
            <a:t>This refers to the ways in which each participant varies from one another, and how this could affect the results e.g. mood, intelligence, anxiety, nerves, concentration etc</a:t>
          </a:r>
          <a:endParaRPr lang="en-GB" dirty="0"/>
        </a:p>
      </dgm:t>
    </dgm:pt>
    <dgm:pt modelId="{7C552DFD-7E60-514E-9F9E-FCAEF488F21F}" type="parTrans" cxnId="{92B68984-D586-8140-832B-9E8039223F05}">
      <dgm:prSet/>
      <dgm:spPr/>
      <dgm:t>
        <a:bodyPr/>
        <a:lstStyle/>
        <a:p>
          <a:endParaRPr lang="en-GB"/>
        </a:p>
      </dgm:t>
    </dgm:pt>
    <dgm:pt modelId="{D6EF8A2A-928F-BD49-A7F6-63493AD8D036}" type="sibTrans" cxnId="{92B68984-D586-8140-832B-9E8039223F05}">
      <dgm:prSet/>
      <dgm:spPr/>
      <dgm:t>
        <a:bodyPr/>
        <a:lstStyle/>
        <a:p>
          <a:endParaRPr lang="en-GB"/>
        </a:p>
      </dgm:t>
    </dgm:pt>
    <dgm:pt modelId="{A716688F-A537-5241-9D08-881DC9418F9D}">
      <dgm:prSet phldrT="[Text]"/>
      <dgm:spPr/>
      <dgm:t>
        <a:bodyPr/>
        <a:lstStyle/>
        <a:p>
          <a:r>
            <a:rPr lang="en-GB" b="1" dirty="0">
              <a:solidFill>
                <a:schemeClr val="tx1"/>
              </a:solidFill>
            </a:rPr>
            <a:t>Situational</a:t>
          </a:r>
        </a:p>
        <a:p>
          <a:r>
            <a:rPr lang="en-GB" b="1" dirty="0">
              <a:solidFill>
                <a:schemeClr val="tx1"/>
              </a:solidFill>
            </a:rPr>
            <a:t>variables</a:t>
          </a:r>
        </a:p>
      </dgm:t>
    </dgm:pt>
    <dgm:pt modelId="{FC6299F6-9897-6144-91D0-09F5068DA488}" type="parTrans" cxnId="{555EBA00-2C4A-A448-A2A3-283C17F9E8E2}">
      <dgm:prSet/>
      <dgm:spPr/>
      <dgm:t>
        <a:bodyPr/>
        <a:lstStyle/>
        <a:p>
          <a:endParaRPr lang="en-GB"/>
        </a:p>
      </dgm:t>
    </dgm:pt>
    <dgm:pt modelId="{EB29E3A4-74EC-6D43-AC62-41D925A43DC0}" type="sibTrans" cxnId="{555EBA00-2C4A-A448-A2A3-283C17F9E8E2}">
      <dgm:prSet/>
      <dgm:spPr/>
      <dgm:t>
        <a:bodyPr/>
        <a:lstStyle/>
        <a:p>
          <a:endParaRPr lang="en-GB"/>
        </a:p>
      </dgm:t>
    </dgm:pt>
    <dgm:pt modelId="{E8012EB6-8DCF-9E43-BF61-4ADC9DF4C6C9}">
      <dgm:prSet phldrT="[Text]"/>
      <dgm:spPr/>
      <dgm:t>
        <a:bodyPr/>
        <a:lstStyle/>
        <a:p>
          <a:r>
            <a:rPr lang="en-AU" b="0" i="0" dirty="0"/>
            <a:t>These are aspects of the environment that might affect the participant’s behaviour, e.g. noise, temperature, lighting conditions, etc. Situational variables should be controlled so they are the same for all participants – this is called standardising the procedure</a:t>
          </a:r>
          <a:endParaRPr lang="en-GB" dirty="0"/>
        </a:p>
      </dgm:t>
    </dgm:pt>
    <dgm:pt modelId="{B0C4C2AC-4038-2E45-8749-26762383DE0F}" type="parTrans" cxnId="{DEE63A9D-B035-8E41-A12F-6F082F076FD6}">
      <dgm:prSet/>
      <dgm:spPr/>
      <dgm:t>
        <a:bodyPr/>
        <a:lstStyle/>
        <a:p>
          <a:endParaRPr lang="en-GB"/>
        </a:p>
      </dgm:t>
    </dgm:pt>
    <dgm:pt modelId="{DF9A2CC3-2292-7047-8E7F-EFC20E636974}" type="sibTrans" cxnId="{DEE63A9D-B035-8E41-A12F-6F082F076FD6}">
      <dgm:prSet/>
      <dgm:spPr/>
      <dgm:t>
        <a:bodyPr/>
        <a:lstStyle/>
        <a:p>
          <a:endParaRPr lang="en-GB"/>
        </a:p>
      </dgm:t>
    </dgm:pt>
    <dgm:pt modelId="{AC4DF3C4-87A6-5D4B-A038-98FB9FFBFF2D}">
      <dgm:prSet phldrT="[Text]"/>
      <dgm:spPr/>
      <dgm:t>
        <a:bodyPr/>
        <a:lstStyle/>
        <a:p>
          <a:r>
            <a:rPr lang="en-GB" b="1" dirty="0">
              <a:solidFill>
                <a:schemeClr val="tx1"/>
              </a:solidFill>
            </a:rPr>
            <a:t>Experimenter Bias </a:t>
          </a:r>
        </a:p>
      </dgm:t>
    </dgm:pt>
    <dgm:pt modelId="{1712CB94-CA3E-FC48-91C1-14A4358510F7}" type="parTrans" cxnId="{87F6F80B-9CA1-E44D-9E94-1666F1B90589}">
      <dgm:prSet/>
      <dgm:spPr/>
      <dgm:t>
        <a:bodyPr/>
        <a:lstStyle/>
        <a:p>
          <a:endParaRPr lang="en-GB"/>
        </a:p>
      </dgm:t>
    </dgm:pt>
    <dgm:pt modelId="{07E4EFD4-01D7-8845-9213-78F00B064290}" type="sibTrans" cxnId="{87F6F80B-9CA1-E44D-9E94-1666F1B90589}">
      <dgm:prSet/>
      <dgm:spPr/>
      <dgm:t>
        <a:bodyPr/>
        <a:lstStyle/>
        <a:p>
          <a:endParaRPr lang="en-GB"/>
        </a:p>
      </dgm:t>
    </dgm:pt>
    <dgm:pt modelId="{F3E6B4FB-8AFA-884B-9C03-758A6752DD89}">
      <dgm:prSet phldrT="[Text]"/>
      <dgm:spPr/>
      <dgm:t>
        <a:bodyPr/>
        <a:lstStyle/>
        <a:p>
          <a:r>
            <a:rPr lang="en-AU" b="0" i="0" dirty="0"/>
            <a:t>The experimenter unconsciously conveys to participants how they should behave. They may do this by giving unintentional cue these may be very subtle.</a:t>
          </a:r>
          <a:endParaRPr lang="en-GB" dirty="0"/>
        </a:p>
      </dgm:t>
    </dgm:pt>
    <dgm:pt modelId="{96269825-3506-4245-9028-693BF162284B}" type="parTrans" cxnId="{0B747DE8-B642-EF41-A84D-86DF0F3B528D}">
      <dgm:prSet/>
      <dgm:spPr/>
      <dgm:t>
        <a:bodyPr/>
        <a:lstStyle/>
        <a:p>
          <a:endParaRPr lang="en-GB"/>
        </a:p>
      </dgm:t>
    </dgm:pt>
    <dgm:pt modelId="{4EBB9287-D6B0-FA44-A9BF-FF641303D2F4}" type="sibTrans" cxnId="{0B747DE8-B642-EF41-A84D-86DF0F3B528D}">
      <dgm:prSet/>
      <dgm:spPr/>
      <dgm:t>
        <a:bodyPr/>
        <a:lstStyle/>
        <a:p>
          <a:endParaRPr lang="en-GB"/>
        </a:p>
      </dgm:t>
    </dgm:pt>
    <dgm:pt modelId="{C6D31AE0-F5E1-4A4E-90BB-D16FA457D5D4}">
      <dgm:prSet phldrT="[Text]"/>
      <dgm:spPr/>
      <dgm:t>
        <a:bodyPr/>
        <a:lstStyle/>
        <a:p>
          <a:r>
            <a:rPr lang="en-GB" b="1" dirty="0">
              <a:solidFill>
                <a:schemeClr val="tx1"/>
              </a:solidFill>
            </a:rPr>
            <a:t>Demand Characteristics </a:t>
          </a:r>
        </a:p>
      </dgm:t>
    </dgm:pt>
    <dgm:pt modelId="{2DAF6354-90C4-F140-8AC5-A76E7B7DCD4C}" type="parTrans" cxnId="{9984051D-C8D6-2445-AAE6-FD78DEB508D1}">
      <dgm:prSet/>
      <dgm:spPr/>
      <dgm:t>
        <a:bodyPr/>
        <a:lstStyle/>
        <a:p>
          <a:endParaRPr lang="en-GB"/>
        </a:p>
      </dgm:t>
    </dgm:pt>
    <dgm:pt modelId="{6C1BEAE9-FC82-1044-B8E1-BE75ECC31DEB}" type="sibTrans" cxnId="{9984051D-C8D6-2445-AAE6-FD78DEB508D1}">
      <dgm:prSet/>
      <dgm:spPr/>
      <dgm:t>
        <a:bodyPr/>
        <a:lstStyle/>
        <a:p>
          <a:endParaRPr lang="en-GB"/>
        </a:p>
      </dgm:t>
    </dgm:pt>
    <dgm:pt modelId="{35743E85-A7B3-0C4C-944D-2C30F32B3679}">
      <dgm:prSet phldrT="[Text]"/>
      <dgm:spPr/>
      <dgm:t>
        <a:bodyPr/>
        <a:lstStyle/>
        <a:p>
          <a:r>
            <a:rPr lang="en-AU" b="0" i="0" dirty="0"/>
            <a:t>The personal attributes (e.g. age, gender, accent, manner etc.) of the experiment can affect the behaviour of the participants.</a:t>
          </a:r>
          <a:endParaRPr lang="en-GB" dirty="0"/>
        </a:p>
      </dgm:t>
    </dgm:pt>
    <dgm:pt modelId="{A983B9A0-2849-5E44-BC63-A7B73A2B95AD}" type="parTrans" cxnId="{9146651D-00BD-864F-B95D-0F27C8CBB287}">
      <dgm:prSet/>
      <dgm:spPr/>
      <dgm:t>
        <a:bodyPr/>
        <a:lstStyle/>
        <a:p>
          <a:endParaRPr lang="en-GB"/>
        </a:p>
      </dgm:t>
    </dgm:pt>
    <dgm:pt modelId="{C2546FCE-2081-0F43-A97B-1B55E0EB90CA}" type="sibTrans" cxnId="{9146651D-00BD-864F-B95D-0F27C8CBB287}">
      <dgm:prSet/>
      <dgm:spPr/>
      <dgm:t>
        <a:bodyPr/>
        <a:lstStyle/>
        <a:p>
          <a:endParaRPr lang="en-GB"/>
        </a:p>
      </dgm:t>
    </dgm:pt>
    <dgm:pt modelId="{3E0089F0-DEEB-434A-83DA-9E6EE61ED84E}">
      <dgm:prSet/>
      <dgm:spPr/>
      <dgm:t>
        <a:bodyPr/>
        <a:lstStyle/>
        <a:p>
          <a:r>
            <a:rPr lang="en-AU" b="0" i="0" dirty="0"/>
            <a:t>these are all the clues in an experiment which convey to the participant the purpose of the research.</a:t>
          </a:r>
          <a:endParaRPr lang="en-GB" dirty="0"/>
        </a:p>
      </dgm:t>
    </dgm:pt>
    <dgm:pt modelId="{13FC8F5E-7374-D64C-8AD4-4062BC7C4C9E}" type="parTrans" cxnId="{92146BC4-A28F-E346-A0EE-026BE7F5C096}">
      <dgm:prSet/>
      <dgm:spPr/>
      <dgm:t>
        <a:bodyPr/>
        <a:lstStyle/>
        <a:p>
          <a:endParaRPr lang="en-GB"/>
        </a:p>
      </dgm:t>
    </dgm:pt>
    <dgm:pt modelId="{9AB54B87-BE0C-1D4F-B0D4-61AE7789B8CD}" type="sibTrans" cxnId="{92146BC4-A28F-E346-A0EE-026BE7F5C096}">
      <dgm:prSet/>
      <dgm:spPr/>
      <dgm:t>
        <a:bodyPr/>
        <a:lstStyle/>
        <a:p>
          <a:endParaRPr lang="en-GB"/>
        </a:p>
      </dgm:t>
    </dgm:pt>
    <dgm:pt modelId="{75709387-313F-1C43-B6F6-F229A59AEE8C}">
      <dgm:prSet/>
      <dgm:spPr/>
      <dgm:t>
        <a:bodyPr/>
        <a:lstStyle/>
        <a:p>
          <a:r>
            <a:rPr lang="en-AU" b="0" i="0" dirty="0"/>
            <a:t>To minimize these factors by keeping the environment as natural as possible, carefully following standardized procedures. </a:t>
          </a:r>
          <a:endParaRPr lang="en-GB" dirty="0"/>
        </a:p>
      </dgm:t>
    </dgm:pt>
    <dgm:pt modelId="{31AB00A7-4AB1-824F-82F8-0D448D24A48D}" type="parTrans" cxnId="{95BAACDF-0539-004E-A5F8-8E180C84EF63}">
      <dgm:prSet/>
      <dgm:spPr/>
      <dgm:t>
        <a:bodyPr/>
        <a:lstStyle/>
        <a:p>
          <a:endParaRPr lang="en-GB"/>
        </a:p>
      </dgm:t>
    </dgm:pt>
    <dgm:pt modelId="{45823124-16E5-F74C-B12D-7A89A47952CA}" type="sibTrans" cxnId="{95BAACDF-0539-004E-A5F8-8E180C84EF63}">
      <dgm:prSet/>
      <dgm:spPr/>
      <dgm:t>
        <a:bodyPr/>
        <a:lstStyle/>
        <a:p>
          <a:endParaRPr lang="en-GB"/>
        </a:p>
      </dgm:t>
    </dgm:pt>
    <dgm:pt modelId="{B785B0BE-29AA-134E-84A6-F3248AC549B6}" type="pres">
      <dgm:prSet presAssocID="{A91C549E-BCCB-3F41-934F-1D8CBC08F253}" presName="Name0" presStyleCnt="0">
        <dgm:presLayoutVars>
          <dgm:dir/>
          <dgm:animLvl val="lvl"/>
          <dgm:resizeHandles val="exact"/>
        </dgm:presLayoutVars>
      </dgm:prSet>
      <dgm:spPr/>
    </dgm:pt>
    <dgm:pt modelId="{46B9EA4A-6E1E-4241-AC0B-1F093CB788C3}" type="pres">
      <dgm:prSet presAssocID="{0F1BBCDD-CBCF-D64D-84DF-C9CB945A9672}" presName="composite" presStyleCnt="0"/>
      <dgm:spPr/>
    </dgm:pt>
    <dgm:pt modelId="{302A2B93-09A3-B440-A3E4-7E497C0D45BF}" type="pres">
      <dgm:prSet presAssocID="{0F1BBCDD-CBCF-D64D-84DF-C9CB945A9672}" presName="parTx" presStyleLbl="alignNode1" presStyleIdx="0" presStyleCnt="4">
        <dgm:presLayoutVars>
          <dgm:chMax val="0"/>
          <dgm:chPref val="0"/>
          <dgm:bulletEnabled val="1"/>
        </dgm:presLayoutVars>
      </dgm:prSet>
      <dgm:spPr/>
    </dgm:pt>
    <dgm:pt modelId="{3B78633F-C7ED-4E47-BEA0-BE09DE8A83BE}" type="pres">
      <dgm:prSet presAssocID="{0F1BBCDD-CBCF-D64D-84DF-C9CB945A9672}" presName="desTx" presStyleLbl="alignAccFollowNode1" presStyleIdx="0" presStyleCnt="4">
        <dgm:presLayoutVars>
          <dgm:bulletEnabled val="1"/>
        </dgm:presLayoutVars>
      </dgm:prSet>
      <dgm:spPr/>
    </dgm:pt>
    <dgm:pt modelId="{FDCAE799-79B0-D74F-A946-981EF4FD2A71}" type="pres">
      <dgm:prSet presAssocID="{19B571C4-A1DC-4A42-AF84-B4B6A43C4F2A}" presName="space" presStyleCnt="0"/>
      <dgm:spPr/>
    </dgm:pt>
    <dgm:pt modelId="{83680427-8E02-7F4C-8A5B-A10908DEF3CB}" type="pres">
      <dgm:prSet presAssocID="{A716688F-A537-5241-9D08-881DC9418F9D}" presName="composite" presStyleCnt="0"/>
      <dgm:spPr/>
    </dgm:pt>
    <dgm:pt modelId="{47B2C4BC-516F-3249-A0FB-188C848837D0}" type="pres">
      <dgm:prSet presAssocID="{A716688F-A537-5241-9D08-881DC9418F9D}" presName="parTx" presStyleLbl="alignNode1" presStyleIdx="1" presStyleCnt="4">
        <dgm:presLayoutVars>
          <dgm:chMax val="0"/>
          <dgm:chPref val="0"/>
          <dgm:bulletEnabled val="1"/>
        </dgm:presLayoutVars>
      </dgm:prSet>
      <dgm:spPr/>
    </dgm:pt>
    <dgm:pt modelId="{29339589-E840-4543-B3A7-D733BCF55A04}" type="pres">
      <dgm:prSet presAssocID="{A716688F-A537-5241-9D08-881DC9418F9D}" presName="desTx" presStyleLbl="alignAccFollowNode1" presStyleIdx="1" presStyleCnt="4">
        <dgm:presLayoutVars>
          <dgm:bulletEnabled val="1"/>
        </dgm:presLayoutVars>
      </dgm:prSet>
      <dgm:spPr/>
    </dgm:pt>
    <dgm:pt modelId="{C8927BE4-B7F0-714D-92F0-79F842BE144A}" type="pres">
      <dgm:prSet presAssocID="{EB29E3A4-74EC-6D43-AC62-41D925A43DC0}" presName="space" presStyleCnt="0"/>
      <dgm:spPr/>
    </dgm:pt>
    <dgm:pt modelId="{AFE90A24-892F-CE42-B81C-0AB3B93E8587}" type="pres">
      <dgm:prSet presAssocID="{AC4DF3C4-87A6-5D4B-A038-98FB9FFBFF2D}" presName="composite" presStyleCnt="0"/>
      <dgm:spPr/>
    </dgm:pt>
    <dgm:pt modelId="{5B2C9B72-C920-5B46-AAC7-706CDF0DB089}" type="pres">
      <dgm:prSet presAssocID="{AC4DF3C4-87A6-5D4B-A038-98FB9FFBFF2D}" presName="parTx" presStyleLbl="alignNode1" presStyleIdx="2" presStyleCnt="4">
        <dgm:presLayoutVars>
          <dgm:chMax val="0"/>
          <dgm:chPref val="0"/>
          <dgm:bulletEnabled val="1"/>
        </dgm:presLayoutVars>
      </dgm:prSet>
      <dgm:spPr/>
    </dgm:pt>
    <dgm:pt modelId="{E6AA7231-C196-4A4D-AFC9-0BF3D0650AEE}" type="pres">
      <dgm:prSet presAssocID="{AC4DF3C4-87A6-5D4B-A038-98FB9FFBFF2D}" presName="desTx" presStyleLbl="alignAccFollowNode1" presStyleIdx="2" presStyleCnt="4">
        <dgm:presLayoutVars>
          <dgm:bulletEnabled val="1"/>
        </dgm:presLayoutVars>
      </dgm:prSet>
      <dgm:spPr/>
    </dgm:pt>
    <dgm:pt modelId="{65E7445D-4B64-E440-B6EF-4D263225B632}" type="pres">
      <dgm:prSet presAssocID="{07E4EFD4-01D7-8845-9213-78F00B064290}" presName="space" presStyleCnt="0"/>
      <dgm:spPr/>
    </dgm:pt>
    <dgm:pt modelId="{63EA691D-9DA7-A346-A9DC-EC039DB00FA1}" type="pres">
      <dgm:prSet presAssocID="{C6D31AE0-F5E1-4A4E-90BB-D16FA457D5D4}" presName="composite" presStyleCnt="0"/>
      <dgm:spPr/>
    </dgm:pt>
    <dgm:pt modelId="{34131616-948F-BD41-8B8E-0B5E6141FA5C}" type="pres">
      <dgm:prSet presAssocID="{C6D31AE0-F5E1-4A4E-90BB-D16FA457D5D4}" presName="parTx" presStyleLbl="alignNode1" presStyleIdx="3" presStyleCnt="4">
        <dgm:presLayoutVars>
          <dgm:chMax val="0"/>
          <dgm:chPref val="0"/>
          <dgm:bulletEnabled val="1"/>
        </dgm:presLayoutVars>
      </dgm:prSet>
      <dgm:spPr/>
    </dgm:pt>
    <dgm:pt modelId="{4353AEF0-B35B-2F40-9481-0B63454444E4}" type="pres">
      <dgm:prSet presAssocID="{C6D31AE0-F5E1-4A4E-90BB-D16FA457D5D4}" presName="desTx" presStyleLbl="alignAccFollowNode1" presStyleIdx="3" presStyleCnt="4">
        <dgm:presLayoutVars>
          <dgm:bulletEnabled val="1"/>
        </dgm:presLayoutVars>
      </dgm:prSet>
      <dgm:spPr/>
    </dgm:pt>
  </dgm:ptLst>
  <dgm:cxnLst>
    <dgm:cxn modelId="{555EBA00-2C4A-A448-A2A3-283C17F9E8E2}" srcId="{A91C549E-BCCB-3F41-934F-1D8CBC08F253}" destId="{A716688F-A537-5241-9D08-881DC9418F9D}" srcOrd="1" destOrd="0" parTransId="{FC6299F6-9897-6144-91D0-09F5068DA488}" sibTransId="{EB29E3A4-74EC-6D43-AC62-41D925A43DC0}"/>
    <dgm:cxn modelId="{A8BFAF04-6C08-2447-BDBC-E695185A87D9}" type="presOf" srcId="{8C4BF83D-E2D5-ED4E-ADFF-734B1A0CDFCB}" destId="{3B78633F-C7ED-4E47-BEA0-BE09DE8A83BE}" srcOrd="0" destOrd="0" presId="urn:microsoft.com/office/officeart/2005/8/layout/hList1"/>
    <dgm:cxn modelId="{87F6F80B-9CA1-E44D-9E94-1666F1B90589}" srcId="{A91C549E-BCCB-3F41-934F-1D8CBC08F253}" destId="{AC4DF3C4-87A6-5D4B-A038-98FB9FFBFF2D}" srcOrd="2" destOrd="0" parTransId="{1712CB94-CA3E-FC48-91C1-14A4358510F7}" sibTransId="{07E4EFD4-01D7-8845-9213-78F00B064290}"/>
    <dgm:cxn modelId="{34479D0D-32CF-EA45-ADB7-47919415E002}" type="presOf" srcId="{3E0089F0-DEEB-434A-83DA-9E6EE61ED84E}" destId="{4353AEF0-B35B-2F40-9481-0B63454444E4}" srcOrd="0" destOrd="0" presId="urn:microsoft.com/office/officeart/2005/8/layout/hList1"/>
    <dgm:cxn modelId="{9984051D-C8D6-2445-AAE6-FD78DEB508D1}" srcId="{A91C549E-BCCB-3F41-934F-1D8CBC08F253}" destId="{C6D31AE0-F5E1-4A4E-90BB-D16FA457D5D4}" srcOrd="3" destOrd="0" parTransId="{2DAF6354-90C4-F140-8AC5-A76E7B7DCD4C}" sibTransId="{6C1BEAE9-FC82-1044-B8E1-BE75ECC31DEB}"/>
    <dgm:cxn modelId="{9146651D-00BD-864F-B95D-0F27C8CBB287}" srcId="{AC4DF3C4-87A6-5D4B-A038-98FB9FFBFF2D}" destId="{35743E85-A7B3-0C4C-944D-2C30F32B3679}" srcOrd="1" destOrd="0" parTransId="{A983B9A0-2849-5E44-BC63-A7B73A2B95AD}" sibTransId="{C2546FCE-2081-0F43-A97B-1B55E0EB90CA}"/>
    <dgm:cxn modelId="{AF3E283C-11FF-A445-951D-D5DDDD87EDA7}" type="presOf" srcId="{0F1BBCDD-CBCF-D64D-84DF-C9CB945A9672}" destId="{302A2B93-09A3-B440-A3E4-7E497C0D45BF}" srcOrd="0" destOrd="0" presId="urn:microsoft.com/office/officeart/2005/8/layout/hList1"/>
    <dgm:cxn modelId="{A0C6DE5F-C5DD-0249-8613-6C7DE05340CA}" type="presOf" srcId="{35743E85-A7B3-0C4C-944D-2C30F32B3679}" destId="{E6AA7231-C196-4A4D-AFC9-0BF3D0650AEE}" srcOrd="0" destOrd="1" presId="urn:microsoft.com/office/officeart/2005/8/layout/hList1"/>
    <dgm:cxn modelId="{CF6B8C64-E75A-C94A-AB32-37497579B74D}" type="presOf" srcId="{A91C549E-BCCB-3F41-934F-1D8CBC08F253}" destId="{B785B0BE-29AA-134E-84A6-F3248AC549B6}" srcOrd="0" destOrd="0" presId="urn:microsoft.com/office/officeart/2005/8/layout/hList1"/>
    <dgm:cxn modelId="{F6A32A6E-EB9D-6A43-9A80-F74B0765910D}" type="presOf" srcId="{C6D31AE0-F5E1-4A4E-90BB-D16FA457D5D4}" destId="{34131616-948F-BD41-8B8E-0B5E6141FA5C}" srcOrd="0" destOrd="0" presId="urn:microsoft.com/office/officeart/2005/8/layout/hList1"/>
    <dgm:cxn modelId="{92B68984-D586-8140-832B-9E8039223F05}" srcId="{0F1BBCDD-CBCF-D64D-84DF-C9CB945A9672}" destId="{8C4BF83D-E2D5-ED4E-ADFF-734B1A0CDFCB}" srcOrd="0" destOrd="0" parTransId="{7C552DFD-7E60-514E-9F9E-FCAEF488F21F}" sibTransId="{D6EF8A2A-928F-BD49-A7F6-63493AD8D036}"/>
    <dgm:cxn modelId="{47F7EE92-576D-564B-905B-78128EAE22DB}" type="presOf" srcId="{F3E6B4FB-8AFA-884B-9C03-758A6752DD89}" destId="{E6AA7231-C196-4A4D-AFC9-0BF3D0650AEE}" srcOrd="0" destOrd="0" presId="urn:microsoft.com/office/officeart/2005/8/layout/hList1"/>
    <dgm:cxn modelId="{BCBBCF93-24EF-AE46-B781-3E51354C037B}" type="presOf" srcId="{AC4DF3C4-87A6-5D4B-A038-98FB9FFBFF2D}" destId="{5B2C9B72-C920-5B46-AAC7-706CDF0DB089}" srcOrd="0" destOrd="0" presId="urn:microsoft.com/office/officeart/2005/8/layout/hList1"/>
    <dgm:cxn modelId="{DEE63A9D-B035-8E41-A12F-6F082F076FD6}" srcId="{A716688F-A537-5241-9D08-881DC9418F9D}" destId="{E8012EB6-8DCF-9E43-BF61-4ADC9DF4C6C9}" srcOrd="0" destOrd="0" parTransId="{B0C4C2AC-4038-2E45-8749-26762383DE0F}" sibTransId="{DF9A2CC3-2292-7047-8E7F-EFC20E636974}"/>
    <dgm:cxn modelId="{92146BC4-A28F-E346-A0EE-026BE7F5C096}" srcId="{C6D31AE0-F5E1-4A4E-90BB-D16FA457D5D4}" destId="{3E0089F0-DEEB-434A-83DA-9E6EE61ED84E}" srcOrd="0" destOrd="0" parTransId="{13FC8F5E-7374-D64C-8AD4-4062BC7C4C9E}" sibTransId="{9AB54B87-BE0C-1D4F-B0D4-61AE7789B8CD}"/>
    <dgm:cxn modelId="{6F2535C5-2790-2448-BDFA-C59AF26C5789}" type="presOf" srcId="{A716688F-A537-5241-9D08-881DC9418F9D}" destId="{47B2C4BC-516F-3249-A0FB-188C848837D0}" srcOrd="0" destOrd="0" presId="urn:microsoft.com/office/officeart/2005/8/layout/hList1"/>
    <dgm:cxn modelId="{5B0218D9-CA5F-3843-95D9-99B1D40D1D73}" srcId="{A91C549E-BCCB-3F41-934F-1D8CBC08F253}" destId="{0F1BBCDD-CBCF-D64D-84DF-C9CB945A9672}" srcOrd="0" destOrd="0" parTransId="{6C5AFC48-729F-EE4F-8DE3-367D4C70B668}" sibTransId="{19B571C4-A1DC-4A42-AF84-B4B6A43C4F2A}"/>
    <dgm:cxn modelId="{BC30F6DD-6C57-4841-96B5-CE82B705E7AF}" type="presOf" srcId="{E8012EB6-8DCF-9E43-BF61-4ADC9DF4C6C9}" destId="{29339589-E840-4543-B3A7-D733BCF55A04}" srcOrd="0" destOrd="0" presId="urn:microsoft.com/office/officeart/2005/8/layout/hList1"/>
    <dgm:cxn modelId="{95BAACDF-0539-004E-A5F8-8E180C84EF63}" srcId="{C6D31AE0-F5E1-4A4E-90BB-D16FA457D5D4}" destId="{75709387-313F-1C43-B6F6-F229A59AEE8C}" srcOrd="1" destOrd="0" parTransId="{31AB00A7-4AB1-824F-82F8-0D448D24A48D}" sibTransId="{45823124-16E5-F74C-B12D-7A89A47952CA}"/>
    <dgm:cxn modelId="{0B747DE8-B642-EF41-A84D-86DF0F3B528D}" srcId="{AC4DF3C4-87A6-5D4B-A038-98FB9FFBFF2D}" destId="{F3E6B4FB-8AFA-884B-9C03-758A6752DD89}" srcOrd="0" destOrd="0" parTransId="{96269825-3506-4245-9028-693BF162284B}" sibTransId="{4EBB9287-D6B0-FA44-A9BF-FF641303D2F4}"/>
    <dgm:cxn modelId="{B668BAFC-B1E6-AE44-939A-3EEC831E5721}" type="presOf" srcId="{75709387-313F-1C43-B6F6-F229A59AEE8C}" destId="{4353AEF0-B35B-2F40-9481-0B63454444E4}" srcOrd="0" destOrd="1" presId="urn:microsoft.com/office/officeart/2005/8/layout/hList1"/>
    <dgm:cxn modelId="{2B5897E4-1D9C-E849-87AB-E027EA8C7D88}" type="presParOf" srcId="{B785B0BE-29AA-134E-84A6-F3248AC549B6}" destId="{46B9EA4A-6E1E-4241-AC0B-1F093CB788C3}" srcOrd="0" destOrd="0" presId="urn:microsoft.com/office/officeart/2005/8/layout/hList1"/>
    <dgm:cxn modelId="{5615B287-31CF-5E46-A288-2E20AD80C57D}" type="presParOf" srcId="{46B9EA4A-6E1E-4241-AC0B-1F093CB788C3}" destId="{302A2B93-09A3-B440-A3E4-7E497C0D45BF}" srcOrd="0" destOrd="0" presId="urn:microsoft.com/office/officeart/2005/8/layout/hList1"/>
    <dgm:cxn modelId="{FF313C61-0382-0C48-A4E9-F887F374EF69}" type="presParOf" srcId="{46B9EA4A-6E1E-4241-AC0B-1F093CB788C3}" destId="{3B78633F-C7ED-4E47-BEA0-BE09DE8A83BE}" srcOrd="1" destOrd="0" presId="urn:microsoft.com/office/officeart/2005/8/layout/hList1"/>
    <dgm:cxn modelId="{01C31987-FEC6-104A-8FC2-4C02A43E236A}" type="presParOf" srcId="{B785B0BE-29AA-134E-84A6-F3248AC549B6}" destId="{FDCAE799-79B0-D74F-A946-981EF4FD2A71}" srcOrd="1" destOrd="0" presId="urn:microsoft.com/office/officeart/2005/8/layout/hList1"/>
    <dgm:cxn modelId="{CF6055B6-14AE-8440-8D7E-3BB17EE2278E}" type="presParOf" srcId="{B785B0BE-29AA-134E-84A6-F3248AC549B6}" destId="{83680427-8E02-7F4C-8A5B-A10908DEF3CB}" srcOrd="2" destOrd="0" presId="urn:microsoft.com/office/officeart/2005/8/layout/hList1"/>
    <dgm:cxn modelId="{120879C5-85A2-1B4E-AC2C-4501EF4A9A73}" type="presParOf" srcId="{83680427-8E02-7F4C-8A5B-A10908DEF3CB}" destId="{47B2C4BC-516F-3249-A0FB-188C848837D0}" srcOrd="0" destOrd="0" presId="urn:microsoft.com/office/officeart/2005/8/layout/hList1"/>
    <dgm:cxn modelId="{84D22062-3F58-5E46-A410-C492A0BC4555}" type="presParOf" srcId="{83680427-8E02-7F4C-8A5B-A10908DEF3CB}" destId="{29339589-E840-4543-B3A7-D733BCF55A04}" srcOrd="1" destOrd="0" presId="urn:microsoft.com/office/officeart/2005/8/layout/hList1"/>
    <dgm:cxn modelId="{4A3F8C53-653A-9547-AA8F-1B85721ACC3A}" type="presParOf" srcId="{B785B0BE-29AA-134E-84A6-F3248AC549B6}" destId="{C8927BE4-B7F0-714D-92F0-79F842BE144A}" srcOrd="3" destOrd="0" presId="urn:microsoft.com/office/officeart/2005/8/layout/hList1"/>
    <dgm:cxn modelId="{751A85F2-6326-2148-A3CE-F402BAD6E03A}" type="presParOf" srcId="{B785B0BE-29AA-134E-84A6-F3248AC549B6}" destId="{AFE90A24-892F-CE42-B81C-0AB3B93E8587}" srcOrd="4" destOrd="0" presId="urn:microsoft.com/office/officeart/2005/8/layout/hList1"/>
    <dgm:cxn modelId="{FF19C579-C69D-544D-B8A9-9D0BE71551FF}" type="presParOf" srcId="{AFE90A24-892F-CE42-B81C-0AB3B93E8587}" destId="{5B2C9B72-C920-5B46-AAC7-706CDF0DB089}" srcOrd="0" destOrd="0" presId="urn:microsoft.com/office/officeart/2005/8/layout/hList1"/>
    <dgm:cxn modelId="{7FC30F12-A800-4743-AEAA-E274FDE3CAB0}" type="presParOf" srcId="{AFE90A24-892F-CE42-B81C-0AB3B93E8587}" destId="{E6AA7231-C196-4A4D-AFC9-0BF3D0650AEE}" srcOrd="1" destOrd="0" presId="urn:microsoft.com/office/officeart/2005/8/layout/hList1"/>
    <dgm:cxn modelId="{33E6EA69-0AA9-1741-9326-221CB9E3DD50}" type="presParOf" srcId="{B785B0BE-29AA-134E-84A6-F3248AC549B6}" destId="{65E7445D-4B64-E440-B6EF-4D263225B632}" srcOrd="5" destOrd="0" presId="urn:microsoft.com/office/officeart/2005/8/layout/hList1"/>
    <dgm:cxn modelId="{0E814FCE-7B24-4745-92E3-A1B6B3CFFCB6}" type="presParOf" srcId="{B785B0BE-29AA-134E-84A6-F3248AC549B6}" destId="{63EA691D-9DA7-A346-A9DC-EC039DB00FA1}" srcOrd="6" destOrd="0" presId="urn:microsoft.com/office/officeart/2005/8/layout/hList1"/>
    <dgm:cxn modelId="{EB273E22-A194-A84A-A180-7548A3E9F99F}" type="presParOf" srcId="{63EA691D-9DA7-A346-A9DC-EC039DB00FA1}" destId="{34131616-948F-BD41-8B8E-0B5E6141FA5C}" srcOrd="0" destOrd="0" presId="urn:microsoft.com/office/officeart/2005/8/layout/hList1"/>
    <dgm:cxn modelId="{B906F772-79DE-8647-937B-0955F0C4CE1E}" type="presParOf" srcId="{63EA691D-9DA7-A346-A9DC-EC039DB00FA1}" destId="{4353AEF0-B35B-2F40-9481-0B63454444E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A2B93-09A3-B440-A3E4-7E497C0D45BF}">
      <dsp:nvSpPr>
        <dsp:cNvPr id="0" name=""/>
        <dsp:cNvSpPr/>
      </dsp:nvSpPr>
      <dsp:spPr>
        <a:xfrm>
          <a:off x="4066" y="129471"/>
          <a:ext cx="2445020" cy="636753"/>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GB" sz="1500" b="1" kern="1200" dirty="0">
              <a:solidFill>
                <a:schemeClr val="tx1"/>
              </a:solidFill>
            </a:rPr>
            <a:t>Participant variables</a:t>
          </a:r>
        </a:p>
      </dsp:txBody>
      <dsp:txXfrm>
        <a:off x="4066" y="129471"/>
        <a:ext cx="2445020" cy="636753"/>
      </dsp:txXfrm>
    </dsp:sp>
    <dsp:sp modelId="{3B78633F-C7ED-4E47-BEA0-BE09DE8A83BE}">
      <dsp:nvSpPr>
        <dsp:cNvPr id="0" name=""/>
        <dsp:cNvSpPr/>
      </dsp:nvSpPr>
      <dsp:spPr>
        <a:xfrm>
          <a:off x="4066" y="766224"/>
          <a:ext cx="2445020" cy="322986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AU" sz="1500" b="0" i="0" kern="1200" dirty="0"/>
            <a:t>This refers to the ways in which each participant varies from one another, and how this could affect the results e.g. mood, intelligence, anxiety, nerves, concentration etc</a:t>
          </a:r>
          <a:endParaRPr lang="en-GB" sz="1500" kern="1200" dirty="0"/>
        </a:p>
      </dsp:txBody>
      <dsp:txXfrm>
        <a:off x="4066" y="766224"/>
        <a:ext cx="2445020" cy="3229865"/>
      </dsp:txXfrm>
    </dsp:sp>
    <dsp:sp modelId="{47B2C4BC-516F-3249-A0FB-188C848837D0}">
      <dsp:nvSpPr>
        <dsp:cNvPr id="0" name=""/>
        <dsp:cNvSpPr/>
      </dsp:nvSpPr>
      <dsp:spPr>
        <a:xfrm>
          <a:off x="2791389" y="129471"/>
          <a:ext cx="2445020" cy="636753"/>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GB" sz="1500" b="1" kern="1200" dirty="0">
              <a:solidFill>
                <a:schemeClr val="tx1"/>
              </a:solidFill>
            </a:rPr>
            <a:t>Situational</a:t>
          </a:r>
        </a:p>
        <a:p>
          <a:pPr marL="0" lvl="0" indent="0" algn="ctr" defTabSz="666750">
            <a:lnSpc>
              <a:spcPct val="90000"/>
            </a:lnSpc>
            <a:spcBef>
              <a:spcPct val="0"/>
            </a:spcBef>
            <a:spcAft>
              <a:spcPct val="35000"/>
            </a:spcAft>
            <a:buNone/>
          </a:pPr>
          <a:r>
            <a:rPr lang="en-GB" sz="1500" b="1" kern="1200" dirty="0">
              <a:solidFill>
                <a:schemeClr val="tx1"/>
              </a:solidFill>
            </a:rPr>
            <a:t>variables</a:t>
          </a:r>
        </a:p>
      </dsp:txBody>
      <dsp:txXfrm>
        <a:off x="2791389" y="129471"/>
        <a:ext cx="2445020" cy="636753"/>
      </dsp:txXfrm>
    </dsp:sp>
    <dsp:sp modelId="{29339589-E840-4543-B3A7-D733BCF55A04}">
      <dsp:nvSpPr>
        <dsp:cNvPr id="0" name=""/>
        <dsp:cNvSpPr/>
      </dsp:nvSpPr>
      <dsp:spPr>
        <a:xfrm>
          <a:off x="2791389" y="766224"/>
          <a:ext cx="2445020" cy="322986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AU" sz="1500" b="0" i="0" kern="1200" dirty="0"/>
            <a:t>These are aspects of the environment that might affect the participant’s behaviour, e.g. noise, temperature, lighting conditions, etc. Situational variables should be controlled so they are the same for all participants – this is called standardising the procedure</a:t>
          </a:r>
          <a:endParaRPr lang="en-GB" sz="1500" kern="1200" dirty="0"/>
        </a:p>
      </dsp:txBody>
      <dsp:txXfrm>
        <a:off x="2791389" y="766224"/>
        <a:ext cx="2445020" cy="3229865"/>
      </dsp:txXfrm>
    </dsp:sp>
    <dsp:sp modelId="{5B2C9B72-C920-5B46-AAC7-706CDF0DB089}">
      <dsp:nvSpPr>
        <dsp:cNvPr id="0" name=""/>
        <dsp:cNvSpPr/>
      </dsp:nvSpPr>
      <dsp:spPr>
        <a:xfrm>
          <a:off x="5578713" y="129471"/>
          <a:ext cx="2445020" cy="636753"/>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GB" sz="1500" b="1" kern="1200" dirty="0">
              <a:solidFill>
                <a:schemeClr val="tx1"/>
              </a:solidFill>
            </a:rPr>
            <a:t>Experimenter Bias </a:t>
          </a:r>
        </a:p>
      </dsp:txBody>
      <dsp:txXfrm>
        <a:off x="5578713" y="129471"/>
        <a:ext cx="2445020" cy="636753"/>
      </dsp:txXfrm>
    </dsp:sp>
    <dsp:sp modelId="{E6AA7231-C196-4A4D-AFC9-0BF3D0650AEE}">
      <dsp:nvSpPr>
        <dsp:cNvPr id="0" name=""/>
        <dsp:cNvSpPr/>
      </dsp:nvSpPr>
      <dsp:spPr>
        <a:xfrm>
          <a:off x="5578713" y="766224"/>
          <a:ext cx="2445020" cy="322986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AU" sz="1500" b="0" i="0" kern="1200" dirty="0"/>
            <a:t>The experimenter unconsciously conveys to participants how they should behave. They may do this by giving unintentional cue these may be very subtle.</a:t>
          </a:r>
          <a:endParaRPr lang="en-GB" sz="1500" kern="1200" dirty="0"/>
        </a:p>
        <a:p>
          <a:pPr marL="114300" lvl="1" indent="-114300" algn="l" defTabSz="666750">
            <a:lnSpc>
              <a:spcPct val="90000"/>
            </a:lnSpc>
            <a:spcBef>
              <a:spcPct val="0"/>
            </a:spcBef>
            <a:spcAft>
              <a:spcPct val="15000"/>
            </a:spcAft>
            <a:buChar char="•"/>
          </a:pPr>
          <a:r>
            <a:rPr lang="en-AU" sz="1500" b="0" i="0" kern="1200" dirty="0"/>
            <a:t>The personal attributes (e.g. age, gender, accent, manner etc.) of the experiment can affect the behaviour of the participants.</a:t>
          </a:r>
          <a:endParaRPr lang="en-GB" sz="1500" kern="1200" dirty="0"/>
        </a:p>
      </dsp:txBody>
      <dsp:txXfrm>
        <a:off x="5578713" y="766224"/>
        <a:ext cx="2445020" cy="3229865"/>
      </dsp:txXfrm>
    </dsp:sp>
    <dsp:sp modelId="{34131616-948F-BD41-8B8E-0B5E6141FA5C}">
      <dsp:nvSpPr>
        <dsp:cNvPr id="0" name=""/>
        <dsp:cNvSpPr/>
      </dsp:nvSpPr>
      <dsp:spPr>
        <a:xfrm>
          <a:off x="8366037" y="129471"/>
          <a:ext cx="2445020" cy="636753"/>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GB" sz="1500" b="1" kern="1200" dirty="0">
              <a:solidFill>
                <a:schemeClr val="tx1"/>
              </a:solidFill>
            </a:rPr>
            <a:t>Demand Characteristics </a:t>
          </a:r>
        </a:p>
      </dsp:txBody>
      <dsp:txXfrm>
        <a:off x="8366037" y="129471"/>
        <a:ext cx="2445020" cy="636753"/>
      </dsp:txXfrm>
    </dsp:sp>
    <dsp:sp modelId="{4353AEF0-B35B-2F40-9481-0B63454444E4}">
      <dsp:nvSpPr>
        <dsp:cNvPr id="0" name=""/>
        <dsp:cNvSpPr/>
      </dsp:nvSpPr>
      <dsp:spPr>
        <a:xfrm>
          <a:off x="8366037" y="766224"/>
          <a:ext cx="2445020" cy="322986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AU" sz="1500" b="0" i="0" kern="1200" dirty="0"/>
            <a:t>these are all the clues in an experiment which convey to the participant the purpose of the research.</a:t>
          </a:r>
          <a:endParaRPr lang="en-GB" sz="1500" kern="1200" dirty="0"/>
        </a:p>
        <a:p>
          <a:pPr marL="114300" lvl="1" indent="-114300" algn="l" defTabSz="666750">
            <a:lnSpc>
              <a:spcPct val="90000"/>
            </a:lnSpc>
            <a:spcBef>
              <a:spcPct val="0"/>
            </a:spcBef>
            <a:spcAft>
              <a:spcPct val="15000"/>
            </a:spcAft>
            <a:buChar char="•"/>
          </a:pPr>
          <a:r>
            <a:rPr lang="en-AU" sz="1500" b="0" i="0" kern="1200" dirty="0"/>
            <a:t>To minimize these factors by keeping the environment as natural as possible, carefully following standardized procedures. </a:t>
          </a:r>
          <a:endParaRPr lang="en-GB" sz="1500" kern="1200" dirty="0"/>
        </a:p>
      </dsp:txBody>
      <dsp:txXfrm>
        <a:off x="8366037" y="766224"/>
        <a:ext cx="2445020" cy="322986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89A3D-5FA8-6B42-92CA-B793AF9680B3}" type="datetimeFigureOut">
              <a:rPr lang="en-US" smtClean="0"/>
              <a:t>8/13/21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A3A09D-58FF-8544-8F30-659E369A30FA}" type="slidenum">
              <a:rPr lang="en-US" smtClean="0"/>
              <a:t>‹#›</a:t>
            </a:fld>
            <a:endParaRPr lang="en-US"/>
          </a:p>
        </p:txBody>
      </p:sp>
    </p:spTree>
    <p:extLst>
      <p:ext uri="{BB962C8B-B14F-4D97-AF65-F5344CB8AC3E}">
        <p14:creationId xmlns:p14="http://schemas.microsoft.com/office/powerpoint/2010/main" val="2825564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19D573-4650-784F-BCB3-D758643C580A}" type="slidenum">
              <a:rPr lang="en-US" smtClean="0"/>
              <a:t>4</a:t>
            </a:fld>
            <a:endParaRPr lang="en-US"/>
          </a:p>
        </p:txBody>
      </p:sp>
    </p:spTree>
    <p:extLst>
      <p:ext uri="{BB962C8B-B14F-4D97-AF65-F5344CB8AC3E}">
        <p14:creationId xmlns:p14="http://schemas.microsoft.com/office/powerpoint/2010/main" val="2379626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GB"/>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EB507C1E-5E0D-3E4D-8113-714502558754}" type="datetimeFigureOut">
              <a:rPr lang="en-US" smtClean="0"/>
              <a:t>8/13/21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209611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Content Placeholder 2"/>
          <p:cNvSpPr>
            <a:spLocks noGrp="1"/>
          </p:cNvSpPr>
          <p:nvPr>
            <p:ph idx="1"/>
          </p:nvPr>
        </p:nvSpPr>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8/13/21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735896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GB"/>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EB507C1E-5E0D-3E4D-8113-714502558754}" type="datetimeFigureOut">
              <a:rPr lang="en-US" smtClean="0"/>
              <a:t>8/13/21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GB"/>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1344535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GB"/>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8/13/21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292477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EB507C1E-5E0D-3E4D-8113-714502558754}" type="datetimeFigureOut">
              <a:rPr lang="en-US" smtClean="0"/>
              <a:t>8/13/21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69657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2145234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8/13/21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74020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GB"/>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7" name="Date Placeholder 6"/>
          <p:cNvSpPr>
            <a:spLocks noGrp="1"/>
          </p:cNvSpPr>
          <p:nvPr>
            <p:ph type="dt" sz="half" idx="10"/>
          </p:nvPr>
        </p:nvSpPr>
        <p:spPr/>
        <p:txBody>
          <a:bodyPr/>
          <a:lstStyle/>
          <a:p>
            <a:fld id="{EB507C1E-5E0D-3E4D-8113-714502558754}" type="datetimeFigureOut">
              <a:rPr lang="en-US" smtClean="0"/>
              <a:t>8/13/21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171164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8/13/21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3441811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8/13/21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4270761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8/13/21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2103447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Date Placeholder 2"/>
          <p:cNvSpPr>
            <a:spLocks noGrp="1"/>
          </p:cNvSpPr>
          <p:nvPr>
            <p:ph type="dt" sz="half" idx="10"/>
          </p:nvPr>
        </p:nvSpPr>
        <p:spPr/>
        <p:txBody>
          <a:bodyPr/>
          <a:lstStyle/>
          <a:p>
            <a:fld id="{EB507C1E-5E0D-3E4D-8113-714502558754}" type="datetimeFigureOut">
              <a:rPr lang="en-US" smtClean="0"/>
              <a:t>8/13/21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535889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EB507C1E-5E0D-3E4D-8113-714502558754}" type="datetimeFigureOut">
              <a:rPr lang="en-US" smtClean="0"/>
              <a:t>8/13/21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932214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8/13/21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833382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EB507C1E-5E0D-3E4D-8113-714502558754}" type="datetimeFigureOut">
              <a:rPr lang="en-US" smtClean="0"/>
              <a:t>8/13/21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3176510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8/13/21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090284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8/13/21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Tree>
    <p:extLst>
      <p:ext uri="{BB962C8B-B14F-4D97-AF65-F5344CB8AC3E}">
        <p14:creationId xmlns:p14="http://schemas.microsoft.com/office/powerpoint/2010/main" val="2841283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8/13/21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2904465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GB"/>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8/13/21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650992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GB"/>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EB507C1E-5E0D-3E4D-8113-714502558754}" type="datetimeFigureOut">
              <a:rPr lang="en-US" smtClean="0"/>
              <a:t>8/13/21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31074487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3.tif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png"/><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hyperlink" Target="http://www.psychology.org.au/publications/statements/substance/" TargetMode="External"/><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hyperlink" Target="http://www.psychology.org.au/publications/statements/substance/" TargetMode="External"/><Relationship Id="rId2" Type="http://schemas.openxmlformats.org/officeDocument/2006/relationships/image" Target="../media/image5.png"/><Relationship Id="rId1" Type="http://schemas.openxmlformats.org/officeDocument/2006/relationships/slideLayout" Target="../slideLayouts/slideLayout13.xml"/><Relationship Id="rId5" Type="http://schemas.openxmlformats.org/officeDocument/2006/relationships/hyperlink" Target="http://www.architecture.com.au/" TargetMode="External"/><Relationship Id="rId4" Type="http://schemas.openxmlformats.org/officeDocument/2006/relationships/hyperlink" Target="http://www.raia.com.au/i-cms?page=10220"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577" y="7273742"/>
            <a:ext cx="8547496" cy="1398494"/>
          </a:xfrm>
        </p:spPr>
        <p:txBody>
          <a:bodyPr>
            <a:normAutofit fontScale="90000"/>
          </a:bodyPr>
          <a:lstStyle/>
          <a:p>
            <a:pPr algn="l"/>
            <a:br>
              <a:rPr lang="en-US" sz="2200" dirty="0">
                <a:solidFill>
                  <a:schemeClr val="tx1"/>
                </a:solidFill>
              </a:rPr>
            </a:br>
            <a:r>
              <a:rPr lang="en-US" sz="6000" b="1" dirty="0">
                <a:solidFill>
                  <a:schemeClr val="bg2">
                    <a:lumMod val="50000"/>
                  </a:schemeClr>
                </a:solidFill>
              </a:rPr>
              <a:t>DO NOW </a:t>
            </a:r>
            <a:br>
              <a:rPr lang="en-US" sz="2700" b="1" dirty="0">
                <a:solidFill>
                  <a:schemeClr val="tx1"/>
                </a:solidFill>
              </a:rPr>
            </a:br>
            <a:br>
              <a:rPr lang="en-US" sz="2700" b="1" dirty="0">
                <a:solidFill>
                  <a:schemeClr val="tx1"/>
                </a:solidFill>
              </a:rPr>
            </a:br>
            <a:r>
              <a:rPr lang="en-US" sz="2700" b="1" dirty="0">
                <a:solidFill>
                  <a:schemeClr val="tx1"/>
                </a:solidFill>
              </a:rPr>
              <a:t>A researcher was examining a case study of a man who was unable to speak coherent sentences. The researcher conducted brain scans, structured interviews and recorded videos of his speech to make observations.</a:t>
            </a:r>
            <a:br>
              <a:rPr lang="en-US" sz="2700" b="1" dirty="0">
                <a:solidFill>
                  <a:schemeClr val="tx1"/>
                </a:solidFill>
              </a:rPr>
            </a:br>
            <a:br>
              <a:rPr lang="en-US" sz="2700" b="1" dirty="0">
                <a:solidFill>
                  <a:schemeClr val="tx1"/>
                </a:solidFill>
              </a:rPr>
            </a:br>
            <a:r>
              <a:rPr lang="en-US" sz="2700" b="1" dirty="0">
                <a:solidFill>
                  <a:schemeClr val="tx1"/>
                </a:solidFill>
              </a:rPr>
              <a:t>a) Identify: Subjective qualitative data </a:t>
            </a:r>
            <a:br>
              <a:rPr lang="en-US" sz="2700" b="1" dirty="0">
                <a:solidFill>
                  <a:schemeClr val="tx1"/>
                </a:solidFill>
              </a:rPr>
            </a:br>
            <a:r>
              <a:rPr lang="en-US" sz="2700" b="1" dirty="0">
                <a:solidFill>
                  <a:schemeClr val="tx1"/>
                </a:solidFill>
              </a:rPr>
              <a:t>1. ________________ 2. ______________</a:t>
            </a:r>
            <a:br>
              <a:rPr lang="en-US" sz="2700" b="1" dirty="0">
                <a:solidFill>
                  <a:schemeClr val="tx1"/>
                </a:solidFill>
              </a:rPr>
            </a:br>
            <a:br>
              <a:rPr lang="en-US" sz="2700" b="1" dirty="0">
                <a:solidFill>
                  <a:schemeClr val="tx1"/>
                </a:solidFill>
              </a:rPr>
            </a:br>
            <a:r>
              <a:rPr lang="en-US" sz="2700" b="1" dirty="0">
                <a:solidFill>
                  <a:schemeClr val="tx1"/>
                </a:solidFill>
              </a:rPr>
              <a:t>Identify: Objective quantitative data</a:t>
            </a:r>
            <a:br>
              <a:rPr lang="en-US" sz="2700" b="1" dirty="0">
                <a:solidFill>
                  <a:schemeClr val="tx1"/>
                </a:solidFill>
              </a:rPr>
            </a:br>
            <a:r>
              <a:rPr lang="en-US" sz="2700" b="1" dirty="0">
                <a:solidFill>
                  <a:schemeClr val="tx1"/>
                </a:solidFill>
              </a:rPr>
              <a:t>1.________________</a:t>
            </a:r>
            <a:br>
              <a:rPr lang="en-US" sz="2700" b="1" dirty="0">
                <a:solidFill>
                  <a:schemeClr val="tx1"/>
                </a:solidFill>
              </a:rPr>
            </a:br>
            <a:br>
              <a:rPr lang="en-US" sz="2700" b="1" dirty="0">
                <a:solidFill>
                  <a:schemeClr val="tx1"/>
                </a:solidFill>
              </a:rPr>
            </a:br>
            <a:r>
              <a:rPr lang="en-US" sz="2700" b="1" dirty="0">
                <a:solidFill>
                  <a:schemeClr val="tx1"/>
                </a:solidFill>
              </a:rPr>
              <a:t>b) Suggest another way to acquire objective quantitative data for this research.</a:t>
            </a:r>
            <a:br>
              <a:rPr lang="en-US" sz="1800" b="1" dirty="0">
                <a:solidFill>
                  <a:schemeClr val="tx1"/>
                </a:solidFill>
              </a:rPr>
            </a:br>
            <a:br>
              <a:rPr lang="en-AU" sz="1800" dirty="0"/>
            </a:br>
            <a:br>
              <a:rPr lang="en-US" sz="6000" b="1" dirty="0">
                <a:solidFill>
                  <a:schemeClr val="tx1"/>
                </a:solidFill>
              </a:rPr>
            </a:br>
            <a:br>
              <a:rPr lang="en-US" b="1" dirty="0">
                <a:solidFill>
                  <a:schemeClr val="tx1"/>
                </a:solidFill>
              </a:rPr>
            </a:br>
            <a:endParaRPr lang="en-US" b="1" dirty="0">
              <a:solidFill>
                <a:schemeClr val="tx1"/>
              </a:solidFill>
            </a:endParaRPr>
          </a:p>
        </p:txBody>
      </p:sp>
      <p:pic>
        <p:nvPicPr>
          <p:cNvPr id="5" name="Picture 4" descr="Exclamation_encircled.sv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12925" y="3615560"/>
            <a:ext cx="2979076" cy="2979076"/>
          </a:xfrm>
          <a:prstGeom prst="rect">
            <a:avLst/>
          </a:prstGeom>
        </p:spPr>
      </p:pic>
      <p:pic>
        <p:nvPicPr>
          <p:cNvPr id="32" name="Picture 2" descr="Keep silence and be quiet lips and finger silent sign, no noise ...">
            <a:extLst>
              <a:ext uri="{FF2B5EF4-FFF2-40B4-BE49-F238E27FC236}">
                <a16:creationId xmlns:a16="http://schemas.microsoft.com/office/drawing/2014/main" id="{4D8EBDD9-72FB-D041-B937-97F5C7F58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9758" y="180109"/>
            <a:ext cx="2146434" cy="2146434"/>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E7BFAD0E-969B-2E45-ADD6-A814326B655A}"/>
              </a:ext>
            </a:extLst>
          </p:cNvPr>
          <p:cNvSpPr txBox="1"/>
          <p:nvPr/>
        </p:nvSpPr>
        <p:spPr>
          <a:xfrm rot="16200000">
            <a:off x="-1358427" y="1406741"/>
            <a:ext cx="3182821" cy="369332"/>
          </a:xfrm>
          <a:prstGeom prst="rect">
            <a:avLst/>
          </a:prstGeom>
          <a:solidFill>
            <a:srgbClr val="9ACDED"/>
          </a:solidFill>
        </p:spPr>
        <p:txBody>
          <a:bodyPr wrap="square" rtlCol="0">
            <a:spAutoFit/>
          </a:bodyPr>
          <a:lstStyle/>
          <a:p>
            <a:r>
              <a:rPr lang="en-AU" dirty="0">
                <a:solidFill>
                  <a:srgbClr val="0E344D"/>
                </a:solidFill>
              </a:rPr>
              <a:t>Activate Prior Knowledge</a:t>
            </a:r>
          </a:p>
        </p:txBody>
      </p:sp>
    </p:spTree>
    <p:extLst>
      <p:ext uri="{BB962C8B-B14F-4D97-AF65-F5344CB8AC3E}">
        <p14:creationId xmlns:p14="http://schemas.microsoft.com/office/powerpoint/2010/main" val="2825805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6831" y="3919613"/>
            <a:ext cx="7769377" cy="1398494"/>
          </a:xfrm>
        </p:spPr>
        <p:txBody>
          <a:bodyPr>
            <a:normAutofit fontScale="90000"/>
          </a:bodyPr>
          <a:lstStyle/>
          <a:p>
            <a:pPr algn="l"/>
            <a:br>
              <a:rPr lang="en-US" sz="2200" dirty="0">
                <a:solidFill>
                  <a:schemeClr val="tx1"/>
                </a:solidFill>
              </a:rPr>
            </a:br>
            <a:r>
              <a:rPr lang="en-US" sz="6000" b="1" dirty="0">
                <a:solidFill>
                  <a:schemeClr val="bg2">
                    <a:lumMod val="50000"/>
                  </a:schemeClr>
                </a:solidFill>
              </a:rPr>
              <a:t>DO NOW </a:t>
            </a:r>
            <a:br>
              <a:rPr lang="en-US" sz="2700" b="1" dirty="0">
                <a:solidFill>
                  <a:schemeClr val="tx1"/>
                </a:solidFill>
              </a:rPr>
            </a:br>
            <a:br>
              <a:rPr lang="en-US" sz="2700" b="1" dirty="0">
                <a:solidFill>
                  <a:schemeClr val="tx1"/>
                </a:solidFill>
              </a:rPr>
            </a:br>
            <a:r>
              <a:rPr lang="en-US" sz="2700" b="1" dirty="0">
                <a:solidFill>
                  <a:schemeClr val="tx1"/>
                </a:solidFill>
              </a:rPr>
              <a:t>Define extraneous variables and confounding variables</a:t>
            </a:r>
            <a:br>
              <a:rPr lang="en-US" sz="1800" b="1" dirty="0">
                <a:solidFill>
                  <a:schemeClr val="tx1"/>
                </a:solidFill>
              </a:rPr>
            </a:br>
            <a:br>
              <a:rPr lang="en-US" sz="1800" b="1" dirty="0">
                <a:solidFill>
                  <a:schemeClr val="tx1"/>
                </a:solidFill>
              </a:rPr>
            </a:br>
            <a:br>
              <a:rPr lang="en-AU" sz="1800" dirty="0"/>
            </a:br>
            <a:br>
              <a:rPr lang="en-US" sz="6000" b="1" dirty="0">
                <a:solidFill>
                  <a:schemeClr val="tx1"/>
                </a:solidFill>
              </a:rPr>
            </a:br>
            <a:br>
              <a:rPr lang="en-US" b="1" dirty="0">
                <a:solidFill>
                  <a:schemeClr val="tx1"/>
                </a:solidFill>
              </a:rPr>
            </a:br>
            <a:endParaRPr lang="en-US" b="1" dirty="0">
              <a:solidFill>
                <a:schemeClr val="tx1"/>
              </a:solidFill>
            </a:endParaRPr>
          </a:p>
        </p:txBody>
      </p:sp>
      <p:pic>
        <p:nvPicPr>
          <p:cNvPr id="5" name="Picture 4" descr="Exclamation_encircled.sv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12925" y="3615560"/>
            <a:ext cx="2979076" cy="2979076"/>
          </a:xfrm>
          <a:prstGeom prst="rect">
            <a:avLst/>
          </a:prstGeom>
        </p:spPr>
      </p:pic>
      <p:pic>
        <p:nvPicPr>
          <p:cNvPr id="32" name="Picture 2" descr="Keep silence and be quiet lips and finger silent sign, no noise ...">
            <a:extLst>
              <a:ext uri="{FF2B5EF4-FFF2-40B4-BE49-F238E27FC236}">
                <a16:creationId xmlns:a16="http://schemas.microsoft.com/office/drawing/2014/main" id="{4D8EBDD9-72FB-D041-B937-97F5C7F58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9758" y="180109"/>
            <a:ext cx="2146434" cy="2146434"/>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E7BFAD0E-969B-2E45-ADD6-A814326B655A}"/>
              </a:ext>
            </a:extLst>
          </p:cNvPr>
          <p:cNvSpPr txBox="1"/>
          <p:nvPr/>
        </p:nvSpPr>
        <p:spPr>
          <a:xfrm rot="16200000">
            <a:off x="-1358427" y="1406741"/>
            <a:ext cx="3182821" cy="369332"/>
          </a:xfrm>
          <a:prstGeom prst="rect">
            <a:avLst/>
          </a:prstGeom>
          <a:solidFill>
            <a:srgbClr val="9ACDED"/>
          </a:solidFill>
        </p:spPr>
        <p:txBody>
          <a:bodyPr wrap="square" rtlCol="0">
            <a:spAutoFit/>
          </a:bodyPr>
          <a:lstStyle/>
          <a:p>
            <a:r>
              <a:rPr lang="en-AU" dirty="0">
                <a:solidFill>
                  <a:srgbClr val="0E344D"/>
                </a:solidFill>
              </a:rPr>
              <a:t>Activate Prior Knowledge</a:t>
            </a:r>
          </a:p>
        </p:txBody>
      </p:sp>
      <p:pic>
        <p:nvPicPr>
          <p:cNvPr id="8" name="Picture 7">
            <a:extLst>
              <a:ext uri="{FF2B5EF4-FFF2-40B4-BE49-F238E27FC236}">
                <a16:creationId xmlns:a16="http://schemas.microsoft.com/office/drawing/2014/main" id="{67B72256-8712-C64E-A742-1B37CF4074BA}"/>
              </a:ext>
            </a:extLst>
          </p:cNvPr>
          <p:cNvPicPr>
            <a:picLocks noChangeAspect="1"/>
          </p:cNvPicPr>
          <p:nvPr/>
        </p:nvPicPr>
        <p:blipFill>
          <a:blip r:embed="rId4"/>
          <a:stretch>
            <a:fillRect/>
          </a:stretch>
        </p:blipFill>
        <p:spPr>
          <a:xfrm>
            <a:off x="2753722" y="2528226"/>
            <a:ext cx="5920378" cy="4181267"/>
          </a:xfrm>
          <a:prstGeom prst="rect">
            <a:avLst/>
          </a:prstGeom>
        </p:spPr>
      </p:pic>
    </p:spTree>
    <p:extLst>
      <p:ext uri="{BB962C8B-B14F-4D97-AF65-F5344CB8AC3E}">
        <p14:creationId xmlns:p14="http://schemas.microsoft.com/office/powerpoint/2010/main" val="2998335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4FAA5A-7EDE-3743-8236-DE2FEE6FAC00}"/>
              </a:ext>
            </a:extLst>
          </p:cNvPr>
          <p:cNvSpPr txBox="1"/>
          <p:nvPr/>
        </p:nvSpPr>
        <p:spPr>
          <a:xfrm>
            <a:off x="937260" y="1518921"/>
            <a:ext cx="10378440" cy="4247317"/>
          </a:xfrm>
          <a:prstGeom prst="rect">
            <a:avLst/>
          </a:prstGeom>
          <a:noFill/>
        </p:spPr>
        <p:txBody>
          <a:bodyPr wrap="square" rtlCol="0">
            <a:spAutoFit/>
          </a:bodyPr>
          <a:lstStyle/>
          <a:p>
            <a:r>
              <a:rPr lang="en-AU" dirty="0"/>
              <a:t>Suppose we wanted to measure the effects of Alcohol (IV) on driving ability (DV) we would have to try to ensure that extraneous variables did not affect the results. These variables could include:</a:t>
            </a:r>
            <a:br>
              <a:rPr lang="en-AU" dirty="0"/>
            </a:br>
            <a:endParaRPr lang="en-AU" dirty="0"/>
          </a:p>
          <a:p>
            <a:r>
              <a:rPr lang="en-AU" dirty="0"/>
              <a:t>• Familiarity with the car: Some people may drive better because they have driven this make of car before.</a:t>
            </a:r>
          </a:p>
          <a:p>
            <a:r>
              <a:rPr lang="en-AU" dirty="0"/>
              <a:t>• Familiarity with the test: Some people may do better than others because they know what to expect on the test.</a:t>
            </a:r>
          </a:p>
          <a:p>
            <a:r>
              <a:rPr lang="en-AU" dirty="0"/>
              <a:t>• Used to drinking. The effects of alcohol on some people may be less than on others because they are used to drinking.</a:t>
            </a:r>
          </a:p>
          <a:p>
            <a:r>
              <a:rPr lang="en-AU" dirty="0"/>
              <a:t>• Full stomach. The effect of alcohol on some subjects may be less than on others because they have just had a big meal.</a:t>
            </a:r>
            <a:br>
              <a:rPr lang="en-AU" dirty="0"/>
            </a:br>
            <a:endParaRPr lang="en-AU" dirty="0"/>
          </a:p>
          <a:p>
            <a:r>
              <a:rPr lang="en-AU" dirty="0"/>
              <a:t>If these extraneous variables are not controlled they may become confounding variables, because they could go on to affect the results of the experiment.</a:t>
            </a:r>
          </a:p>
        </p:txBody>
      </p:sp>
      <p:sp>
        <p:nvSpPr>
          <p:cNvPr id="3" name="TextBox 2">
            <a:extLst>
              <a:ext uri="{FF2B5EF4-FFF2-40B4-BE49-F238E27FC236}">
                <a16:creationId xmlns:a16="http://schemas.microsoft.com/office/drawing/2014/main" id="{73EBF5A4-6219-CD42-9842-E4D8C1BFE633}"/>
              </a:ext>
            </a:extLst>
          </p:cNvPr>
          <p:cNvSpPr txBox="1"/>
          <p:nvPr/>
        </p:nvSpPr>
        <p:spPr>
          <a:xfrm>
            <a:off x="2049517" y="420414"/>
            <a:ext cx="6922088" cy="646331"/>
          </a:xfrm>
          <a:prstGeom prst="rect">
            <a:avLst/>
          </a:prstGeom>
          <a:noFill/>
        </p:spPr>
        <p:txBody>
          <a:bodyPr wrap="none" rtlCol="0">
            <a:spAutoFit/>
          </a:bodyPr>
          <a:lstStyle/>
          <a:p>
            <a:r>
              <a:rPr lang="en-US" sz="3600" b="1" dirty="0">
                <a:solidFill>
                  <a:schemeClr val="accent1"/>
                </a:solidFill>
                <a:latin typeface="+mj-lt"/>
                <a:ea typeface="+mj-ea"/>
                <a:cs typeface="+mj-cs"/>
              </a:rPr>
              <a:t>Extraneous variables example</a:t>
            </a:r>
          </a:p>
        </p:txBody>
      </p:sp>
      <p:sp>
        <p:nvSpPr>
          <p:cNvPr id="5" name="TextBox 4">
            <a:extLst>
              <a:ext uri="{FF2B5EF4-FFF2-40B4-BE49-F238E27FC236}">
                <a16:creationId xmlns:a16="http://schemas.microsoft.com/office/drawing/2014/main" id="{96D2DD60-EC80-6D45-B436-1A1A8771A3A3}"/>
              </a:ext>
            </a:extLst>
          </p:cNvPr>
          <p:cNvSpPr txBox="1"/>
          <p:nvPr/>
        </p:nvSpPr>
        <p:spPr>
          <a:xfrm rot="16200000">
            <a:off x="-1280511" y="1256785"/>
            <a:ext cx="2882903" cy="369332"/>
          </a:xfrm>
          <a:prstGeom prst="rect">
            <a:avLst/>
          </a:prstGeom>
          <a:solidFill>
            <a:srgbClr val="9ACDED"/>
          </a:solidFill>
        </p:spPr>
        <p:txBody>
          <a:bodyPr wrap="square" rtlCol="0">
            <a:spAutoFit/>
          </a:bodyPr>
          <a:lstStyle/>
          <a:p>
            <a:r>
              <a:rPr lang="en-AU" dirty="0">
                <a:solidFill>
                  <a:srgbClr val="0E344D"/>
                </a:solidFill>
              </a:rPr>
              <a:t>Concept development</a:t>
            </a:r>
          </a:p>
        </p:txBody>
      </p:sp>
    </p:spTree>
    <p:extLst>
      <p:ext uri="{BB962C8B-B14F-4D97-AF65-F5344CB8AC3E}">
        <p14:creationId xmlns:p14="http://schemas.microsoft.com/office/powerpoint/2010/main" val="3261502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48F48-F366-794E-BC67-D51A15247C84}"/>
              </a:ext>
            </a:extLst>
          </p:cNvPr>
          <p:cNvSpPr>
            <a:spLocks noGrp="1"/>
          </p:cNvSpPr>
          <p:nvPr>
            <p:ph type="title"/>
          </p:nvPr>
        </p:nvSpPr>
        <p:spPr>
          <a:xfrm>
            <a:off x="892658" y="0"/>
            <a:ext cx="8677836" cy="1143000"/>
          </a:xfrm>
        </p:spPr>
        <p:txBody>
          <a:bodyPr/>
          <a:lstStyle/>
          <a:p>
            <a:r>
              <a:rPr lang="en-US" b="1" dirty="0"/>
              <a:t>Experiments - controlling variables</a:t>
            </a:r>
          </a:p>
        </p:txBody>
      </p:sp>
      <p:sp>
        <p:nvSpPr>
          <p:cNvPr id="3" name="Content Placeholder 2">
            <a:extLst>
              <a:ext uri="{FF2B5EF4-FFF2-40B4-BE49-F238E27FC236}">
                <a16:creationId xmlns:a16="http://schemas.microsoft.com/office/drawing/2014/main" id="{1F0B302C-9D21-CF4B-AA17-CB114EF519C8}"/>
              </a:ext>
            </a:extLst>
          </p:cNvPr>
          <p:cNvSpPr>
            <a:spLocks noGrp="1"/>
          </p:cNvSpPr>
          <p:nvPr>
            <p:ph idx="1"/>
          </p:nvPr>
        </p:nvSpPr>
        <p:spPr>
          <a:xfrm>
            <a:off x="574605" y="1699146"/>
            <a:ext cx="5662613" cy="5002213"/>
          </a:xfrm>
        </p:spPr>
        <p:txBody>
          <a:bodyPr>
            <a:normAutofit/>
          </a:bodyPr>
          <a:lstStyle/>
          <a:p>
            <a:pPr marL="0" indent="0">
              <a:buNone/>
            </a:pPr>
            <a:r>
              <a:rPr lang="en-US" sz="2400" b="1" dirty="0"/>
              <a:t>To ensure that it is the IV effecting the DV   </a:t>
            </a:r>
          </a:p>
          <a:p>
            <a:pPr marL="0" indent="0">
              <a:buNone/>
            </a:pPr>
            <a:r>
              <a:rPr lang="en-US" sz="2400" b="1" dirty="0"/>
              <a:t>Extraneous variables – </a:t>
            </a:r>
            <a:r>
              <a:rPr lang="en-US" sz="2400" dirty="0"/>
              <a:t>Any variable that could effect the DV and therefore effects the reliability of the results if left uncontrolled </a:t>
            </a:r>
          </a:p>
          <a:p>
            <a:pPr marL="0" indent="0">
              <a:buNone/>
            </a:pPr>
            <a:r>
              <a:rPr lang="en-US" sz="2400" b="1" dirty="0"/>
              <a:t>Confounding variables – </a:t>
            </a:r>
            <a:r>
              <a:rPr lang="en-US" sz="2400" dirty="0"/>
              <a:t>Any variable left uncontrolled that does effect the DV and therefore effects the reliability of the results </a:t>
            </a:r>
          </a:p>
          <a:p>
            <a:pPr marL="0" indent="0">
              <a:buNone/>
            </a:pPr>
            <a:endParaRPr lang="en-US" dirty="0"/>
          </a:p>
        </p:txBody>
      </p:sp>
      <p:sp>
        <p:nvSpPr>
          <p:cNvPr id="5" name="TextBox 4">
            <a:extLst>
              <a:ext uri="{FF2B5EF4-FFF2-40B4-BE49-F238E27FC236}">
                <a16:creationId xmlns:a16="http://schemas.microsoft.com/office/drawing/2014/main" id="{614AC83D-9240-FB4B-BFA4-19F03812600B}"/>
              </a:ext>
            </a:extLst>
          </p:cNvPr>
          <p:cNvSpPr txBox="1"/>
          <p:nvPr/>
        </p:nvSpPr>
        <p:spPr>
          <a:xfrm rot="16200000">
            <a:off x="-1488134" y="1514480"/>
            <a:ext cx="3398299" cy="369332"/>
          </a:xfrm>
          <a:prstGeom prst="rect">
            <a:avLst/>
          </a:prstGeom>
          <a:solidFill>
            <a:srgbClr val="9ACDED"/>
          </a:solidFill>
        </p:spPr>
        <p:txBody>
          <a:bodyPr wrap="square" rtlCol="0">
            <a:spAutoFit/>
          </a:bodyPr>
          <a:lstStyle/>
          <a:p>
            <a:r>
              <a:rPr lang="en-AU" dirty="0">
                <a:solidFill>
                  <a:srgbClr val="0E344D"/>
                </a:solidFill>
              </a:rPr>
              <a:t>Activate Prior Knowledge</a:t>
            </a:r>
          </a:p>
        </p:txBody>
      </p:sp>
      <p:pic>
        <p:nvPicPr>
          <p:cNvPr id="6" name="Picture 5">
            <a:extLst>
              <a:ext uri="{FF2B5EF4-FFF2-40B4-BE49-F238E27FC236}">
                <a16:creationId xmlns:a16="http://schemas.microsoft.com/office/drawing/2014/main" id="{8CF18E0B-472B-EF47-8D71-0662F3E56DDD}"/>
              </a:ext>
            </a:extLst>
          </p:cNvPr>
          <p:cNvPicPr>
            <a:picLocks noChangeAspect="1"/>
          </p:cNvPicPr>
          <p:nvPr/>
        </p:nvPicPr>
        <p:blipFill>
          <a:blip r:embed="rId3"/>
          <a:stretch>
            <a:fillRect/>
          </a:stretch>
        </p:blipFill>
        <p:spPr>
          <a:xfrm>
            <a:off x="6658868" y="2397750"/>
            <a:ext cx="5126731" cy="2834650"/>
          </a:xfrm>
          <a:prstGeom prst="rect">
            <a:avLst/>
          </a:prstGeom>
        </p:spPr>
      </p:pic>
    </p:spTree>
    <p:extLst>
      <p:ext uri="{BB962C8B-B14F-4D97-AF65-F5344CB8AC3E}">
        <p14:creationId xmlns:p14="http://schemas.microsoft.com/office/powerpoint/2010/main" val="929981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128900"/>
            <a:ext cx="5622766" cy="1143000"/>
          </a:xfrm>
          <a:prstGeom prst="rect">
            <a:avLst/>
          </a:prstGeom>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800" b="1" dirty="0">
                <a:solidFill>
                  <a:srgbClr val="2D6069"/>
                </a:solidFill>
                <a:latin typeface="+mn-lt"/>
                <a:ea typeface="+mn-ea"/>
                <a:cs typeface="+mn-cs"/>
              </a:rPr>
              <a:t>Learning Intentions</a:t>
            </a:r>
          </a:p>
        </p:txBody>
      </p:sp>
      <p:sp>
        <p:nvSpPr>
          <p:cNvPr id="5" name="TextBox 4"/>
          <p:cNvSpPr txBox="1"/>
          <p:nvPr/>
        </p:nvSpPr>
        <p:spPr>
          <a:xfrm>
            <a:off x="155960" y="1102400"/>
            <a:ext cx="9889376" cy="2123658"/>
          </a:xfrm>
          <a:prstGeom prst="rect">
            <a:avLst/>
          </a:prstGeom>
          <a:noFill/>
        </p:spPr>
        <p:txBody>
          <a:bodyPr wrap="square" rtlCol="0">
            <a:spAutoFit/>
          </a:bodyPr>
          <a:lstStyle/>
          <a:p>
            <a:pPr marL="514350" indent="-514350">
              <a:buFont typeface="+mj-lt"/>
              <a:buAutoNum type="arabicPeriod"/>
            </a:pPr>
            <a:r>
              <a:rPr lang="en-US" sz="2800" dirty="0"/>
              <a:t>I will be able to graph my results</a:t>
            </a:r>
          </a:p>
          <a:p>
            <a:pPr marL="514350" indent="-514350">
              <a:buFont typeface="+mj-lt"/>
              <a:buAutoNum type="arabicPeriod"/>
            </a:pPr>
            <a:r>
              <a:rPr lang="en-US" sz="2800" dirty="0"/>
              <a:t>I will be able to identify and execute the steps required to write the discussion, conclusion and references of my investigation.</a:t>
            </a:r>
          </a:p>
          <a:p>
            <a:endParaRPr lang="en-US" sz="2000" dirty="0">
              <a:solidFill>
                <a:srgbClr val="194431"/>
              </a:solidFill>
            </a:endParaRPr>
          </a:p>
        </p:txBody>
      </p:sp>
      <p:pic>
        <p:nvPicPr>
          <p:cNvPr id="3" name="Picture 2" descr="Iconsmind-Outline-Pen-5.ic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9211" y="136524"/>
            <a:ext cx="1221221" cy="1221221"/>
          </a:xfrm>
          <a:prstGeom prst="rect">
            <a:avLst/>
          </a:prstGeom>
        </p:spPr>
      </p:pic>
      <p:sp>
        <p:nvSpPr>
          <p:cNvPr id="6" name="Title 1">
            <a:extLst>
              <a:ext uri="{FF2B5EF4-FFF2-40B4-BE49-F238E27FC236}">
                <a16:creationId xmlns:a16="http://schemas.microsoft.com/office/drawing/2014/main" id="{A90886D5-D4B5-A845-A0BD-0043CF73BE16}"/>
              </a:ext>
            </a:extLst>
          </p:cNvPr>
          <p:cNvSpPr txBox="1">
            <a:spLocks/>
          </p:cNvSpPr>
          <p:nvPr/>
        </p:nvSpPr>
        <p:spPr>
          <a:xfrm>
            <a:off x="-124489" y="3207126"/>
            <a:ext cx="5622766"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800" b="1" dirty="0">
                <a:solidFill>
                  <a:srgbClr val="2D6069"/>
                </a:solidFill>
                <a:latin typeface="+mn-lt"/>
                <a:ea typeface="+mn-ea"/>
                <a:cs typeface="+mn-cs"/>
              </a:rPr>
              <a:t>Success Criteria</a:t>
            </a:r>
          </a:p>
        </p:txBody>
      </p:sp>
      <p:sp>
        <p:nvSpPr>
          <p:cNvPr id="2" name="TextBox 1">
            <a:extLst>
              <a:ext uri="{FF2B5EF4-FFF2-40B4-BE49-F238E27FC236}">
                <a16:creationId xmlns:a16="http://schemas.microsoft.com/office/drawing/2014/main" id="{709AF6B6-F131-D046-A2FA-208C7D4130D2}"/>
              </a:ext>
            </a:extLst>
          </p:cNvPr>
          <p:cNvSpPr txBox="1"/>
          <p:nvPr/>
        </p:nvSpPr>
        <p:spPr>
          <a:xfrm>
            <a:off x="328049" y="4693771"/>
            <a:ext cx="12147667" cy="1384995"/>
          </a:xfrm>
          <a:prstGeom prst="rect">
            <a:avLst/>
          </a:prstGeom>
          <a:noFill/>
        </p:spPr>
        <p:txBody>
          <a:bodyPr wrap="square" rtlCol="0">
            <a:spAutoFit/>
          </a:bodyPr>
          <a:lstStyle/>
          <a:p>
            <a:pPr marL="514350" indent="-514350">
              <a:buFont typeface="+mj-lt"/>
              <a:buAutoNum type="arabicPeriod"/>
            </a:pPr>
            <a:r>
              <a:rPr lang="en-US" sz="2800" dirty="0"/>
              <a:t>I will add to my notes on extraneous variables</a:t>
            </a:r>
          </a:p>
          <a:p>
            <a:pPr marL="514350" indent="-514350">
              <a:buFont typeface="+mj-lt"/>
              <a:buAutoNum type="arabicPeriod"/>
            </a:pPr>
            <a:r>
              <a:rPr lang="en-US" sz="2800" dirty="0"/>
              <a:t>I will apply the steps to my investigation - writing a discussion, conclusion and references.</a:t>
            </a:r>
          </a:p>
        </p:txBody>
      </p:sp>
    </p:spTree>
    <p:extLst>
      <p:ext uri="{BB962C8B-B14F-4D97-AF65-F5344CB8AC3E}">
        <p14:creationId xmlns:p14="http://schemas.microsoft.com/office/powerpoint/2010/main" val="1810377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970E73-56BD-9945-BE31-1BADB9D8A41C}"/>
              </a:ext>
            </a:extLst>
          </p:cNvPr>
          <p:cNvSpPr txBox="1"/>
          <p:nvPr/>
        </p:nvSpPr>
        <p:spPr>
          <a:xfrm>
            <a:off x="2064439" y="5354"/>
            <a:ext cx="1253420" cy="523220"/>
          </a:xfrm>
          <a:prstGeom prst="rect">
            <a:avLst/>
          </a:prstGeom>
          <a:noFill/>
        </p:spPr>
        <p:txBody>
          <a:bodyPr wrap="none" rtlCol="0">
            <a:spAutoFit/>
          </a:bodyPr>
          <a:lstStyle/>
          <a:p>
            <a:r>
              <a:rPr lang="en-AU" sz="2800" b="1" dirty="0">
                <a:solidFill>
                  <a:schemeClr val="accent1"/>
                </a:solidFill>
              </a:rPr>
              <a:t>Results</a:t>
            </a:r>
          </a:p>
        </p:txBody>
      </p:sp>
      <p:sp>
        <p:nvSpPr>
          <p:cNvPr id="9" name="TextBox 8">
            <a:extLst>
              <a:ext uri="{FF2B5EF4-FFF2-40B4-BE49-F238E27FC236}">
                <a16:creationId xmlns:a16="http://schemas.microsoft.com/office/drawing/2014/main" id="{9E4CB6F2-E4A4-7940-9F1E-F8EF4C7F4417}"/>
              </a:ext>
            </a:extLst>
          </p:cNvPr>
          <p:cNvSpPr txBox="1"/>
          <p:nvPr/>
        </p:nvSpPr>
        <p:spPr>
          <a:xfrm>
            <a:off x="7612083" y="42040"/>
            <a:ext cx="4569407" cy="523220"/>
          </a:xfrm>
          <a:prstGeom prst="rect">
            <a:avLst/>
          </a:prstGeom>
          <a:solidFill>
            <a:schemeClr val="accent5"/>
          </a:solidFill>
        </p:spPr>
        <p:txBody>
          <a:bodyPr wrap="square" rtlCol="0">
            <a:spAutoFit/>
          </a:bodyPr>
          <a:lstStyle/>
          <a:p>
            <a:pPr algn="r"/>
            <a:r>
              <a:rPr lang="en-AU" sz="1400" dirty="0"/>
              <a:t>LO: Obtain my results for each leadership style, including averages</a:t>
            </a:r>
          </a:p>
        </p:txBody>
      </p:sp>
      <p:pic>
        <p:nvPicPr>
          <p:cNvPr id="1026" name="Picture 2">
            <a:extLst>
              <a:ext uri="{FF2B5EF4-FFF2-40B4-BE49-F238E27FC236}">
                <a16:creationId xmlns:a16="http://schemas.microsoft.com/office/drawing/2014/main" id="{AF845147-5C1C-4B74-886A-05C98D0912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2941"/>
            <a:ext cx="7886150" cy="506884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E1B1F27-5CD3-4F17-ADA0-FBADF0DC2670}"/>
              </a:ext>
            </a:extLst>
          </p:cNvPr>
          <p:cNvSpPr txBox="1"/>
          <p:nvPr/>
        </p:nvSpPr>
        <p:spPr>
          <a:xfrm>
            <a:off x="7739512" y="630716"/>
            <a:ext cx="4314548" cy="3539430"/>
          </a:xfrm>
          <a:prstGeom prst="rect">
            <a:avLst/>
          </a:prstGeom>
          <a:noFill/>
        </p:spPr>
        <p:txBody>
          <a:bodyPr wrap="square">
            <a:spAutoFit/>
          </a:bodyPr>
          <a:lstStyle/>
          <a:p>
            <a:pPr algn="ctr"/>
            <a:r>
              <a:rPr lang="en-US" sz="1400" u="sng" dirty="0"/>
              <a:t>Questions from the survey​</a:t>
            </a:r>
          </a:p>
          <a:p>
            <a:endParaRPr lang="en-US" sz="1400" dirty="0"/>
          </a:p>
          <a:p>
            <a:r>
              <a:rPr lang="en-US" sz="1400" dirty="0"/>
              <a:t>Question a</a:t>
            </a:r>
          </a:p>
          <a:p>
            <a:endParaRPr lang="en-US" sz="1400" dirty="0"/>
          </a:p>
          <a:p>
            <a:r>
              <a:rPr lang="en-US" sz="1400" dirty="0"/>
              <a:t>How understood and listened to did you feel in your group?​</a:t>
            </a:r>
          </a:p>
          <a:p>
            <a:endParaRPr lang="en-US" sz="1400" dirty="0"/>
          </a:p>
          <a:p>
            <a:r>
              <a:rPr lang="en-US" sz="1400" dirty="0"/>
              <a:t>Question b</a:t>
            </a:r>
          </a:p>
          <a:p>
            <a:endParaRPr lang="en-US" sz="1400" dirty="0"/>
          </a:p>
          <a:p>
            <a:r>
              <a:rPr lang="en-US" sz="1400" dirty="0"/>
              <a:t>How much influence do you feel you had in your group’s decision making?​</a:t>
            </a:r>
          </a:p>
          <a:p>
            <a:endParaRPr lang="en-US" sz="1400" dirty="0"/>
          </a:p>
          <a:p>
            <a:r>
              <a:rPr lang="en-US" sz="1400" dirty="0"/>
              <a:t>Question c</a:t>
            </a:r>
          </a:p>
          <a:p>
            <a:endParaRPr lang="en-US" sz="1400" dirty="0"/>
          </a:p>
          <a:p>
            <a:r>
              <a:rPr lang="en-US" sz="1400" dirty="0"/>
              <a:t>How committed do you feel to the decisions your group made​?</a:t>
            </a:r>
          </a:p>
        </p:txBody>
      </p:sp>
    </p:spTree>
    <p:extLst>
      <p:ext uri="{BB962C8B-B14F-4D97-AF65-F5344CB8AC3E}">
        <p14:creationId xmlns:p14="http://schemas.microsoft.com/office/powerpoint/2010/main" val="878759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1360763" y="39592"/>
            <a:ext cx="7961914"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000" b="1" i="0" u="none" strike="noStrike" kern="1200" cap="none" spc="0" normalizeH="0" baseline="0" noProof="0" dirty="0">
                <a:ln>
                  <a:noFill/>
                </a:ln>
                <a:solidFill>
                  <a:srgbClr val="2D6069"/>
                </a:solidFill>
                <a:effectLst/>
                <a:uLnTx/>
                <a:uFillTx/>
                <a:latin typeface="Calibri" panose="020F0502020204030204"/>
                <a:ea typeface="+mn-ea"/>
                <a:cs typeface="+mn-cs"/>
              </a:rPr>
              <a:t>Data collection: Results section</a:t>
            </a:r>
          </a:p>
        </p:txBody>
      </p:sp>
      <p:graphicFrame>
        <p:nvGraphicFramePr>
          <p:cNvPr id="10" name="Table 9">
            <a:extLst>
              <a:ext uri="{FF2B5EF4-FFF2-40B4-BE49-F238E27FC236}">
                <a16:creationId xmlns:a16="http://schemas.microsoft.com/office/drawing/2014/main" id="{15AA9FBA-6EF7-DB44-B12B-B686880AA94A}"/>
              </a:ext>
            </a:extLst>
          </p:cNvPr>
          <p:cNvGraphicFramePr>
            <a:graphicFrameLocks noGrp="1"/>
          </p:cNvGraphicFramePr>
          <p:nvPr/>
        </p:nvGraphicFramePr>
        <p:xfrm>
          <a:off x="8597734" y="1"/>
          <a:ext cx="3594266" cy="1842443"/>
        </p:xfrm>
        <a:graphic>
          <a:graphicData uri="http://schemas.openxmlformats.org/drawingml/2006/table">
            <a:tbl>
              <a:tblPr firstRow="1" bandRow="1">
                <a:tableStyleId>{93296810-A885-4BE3-A3E7-6D5BEEA58F35}</a:tableStyleId>
              </a:tblPr>
              <a:tblGrid>
                <a:gridCol w="3594266">
                  <a:extLst>
                    <a:ext uri="{9D8B030D-6E8A-4147-A177-3AD203B41FA5}">
                      <a16:colId xmlns:a16="http://schemas.microsoft.com/office/drawing/2014/main" val="3535165183"/>
                    </a:ext>
                  </a:extLst>
                </a:gridCol>
              </a:tblGrid>
              <a:tr h="334869">
                <a:tc>
                  <a:txBody>
                    <a:bodyPr/>
                    <a:lstStyle/>
                    <a:p>
                      <a:pPr algn="ctr"/>
                      <a:r>
                        <a:rPr lang="en-AU" dirty="0">
                          <a:solidFill>
                            <a:schemeClr val="tx1"/>
                          </a:solidFill>
                        </a:rPr>
                        <a:t>Assessment tips!</a:t>
                      </a:r>
                    </a:p>
                  </a:txBody>
                  <a:tcPr/>
                </a:tc>
                <a:extLst>
                  <a:ext uri="{0D108BD9-81ED-4DB2-BD59-A6C34878D82A}">
                    <a16:rowId xmlns:a16="http://schemas.microsoft.com/office/drawing/2014/main" val="2660461276"/>
                  </a:ext>
                </a:extLst>
              </a:tr>
              <a:tr h="1476683">
                <a:tc>
                  <a:txBody>
                    <a:bodyPr/>
                    <a:lstStyle/>
                    <a:p>
                      <a:pPr marL="285750" indent="-285750">
                        <a:buFont typeface="Arial" panose="020B0604020202020204" pitchFamily="34" charset="0"/>
                        <a:buChar char="•"/>
                      </a:pPr>
                      <a:r>
                        <a:rPr lang="en-AU" b="1" dirty="0"/>
                        <a:t>Use a ruler and pencil</a:t>
                      </a:r>
                    </a:p>
                    <a:p>
                      <a:pPr marL="285750" indent="-285750">
                        <a:buFont typeface="Arial" panose="020B0604020202020204" pitchFamily="34" charset="0"/>
                        <a:buChar char="•"/>
                      </a:pPr>
                      <a:r>
                        <a:rPr lang="en-AU" b="1" dirty="0"/>
                        <a:t>Label the headings for columns and rows</a:t>
                      </a:r>
                    </a:p>
                    <a:p>
                      <a:pPr marL="285750" indent="-285750">
                        <a:buFont typeface="Arial" panose="020B0604020202020204" pitchFamily="34" charset="0"/>
                        <a:buChar char="•"/>
                      </a:pPr>
                      <a:r>
                        <a:rPr lang="en-AU" b="1" dirty="0"/>
                        <a:t>Label the table with Table 1. and a title</a:t>
                      </a:r>
                    </a:p>
                  </a:txBody>
                  <a:tcPr/>
                </a:tc>
                <a:extLst>
                  <a:ext uri="{0D108BD9-81ED-4DB2-BD59-A6C34878D82A}">
                    <a16:rowId xmlns:a16="http://schemas.microsoft.com/office/drawing/2014/main" val="189824520"/>
                  </a:ext>
                </a:extLst>
              </a:tr>
            </a:tbl>
          </a:graphicData>
        </a:graphic>
      </p:graphicFrame>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814" y="39592"/>
            <a:ext cx="805540" cy="664687"/>
          </a:xfrm>
          <a:prstGeom prst="rect">
            <a:avLst/>
          </a:prstGeom>
        </p:spPr>
      </p:pic>
      <p:sp>
        <p:nvSpPr>
          <p:cNvPr id="11" name="TextBox 10">
            <a:extLst>
              <a:ext uri="{FF2B5EF4-FFF2-40B4-BE49-F238E27FC236}">
                <a16:creationId xmlns:a16="http://schemas.microsoft.com/office/drawing/2014/main" id="{F4EC785B-2556-1043-8B29-72E8138F9351}"/>
              </a:ext>
            </a:extLst>
          </p:cNvPr>
          <p:cNvSpPr txBox="1"/>
          <p:nvPr/>
        </p:nvSpPr>
        <p:spPr>
          <a:xfrm rot="16200000">
            <a:off x="-1508293" y="1523698"/>
            <a:ext cx="3385927" cy="369332"/>
          </a:xfrm>
          <a:prstGeom prst="rect">
            <a:avLst/>
          </a:prstGeom>
          <a:solidFill>
            <a:schemeClr val="accent2"/>
          </a:solidFill>
          <a:ln>
            <a:solidFill>
              <a:schemeClr val="accent2"/>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rPr>
              <a:t>Skill Development: </a:t>
            </a:r>
            <a:r>
              <a:rPr kumimoji="0" lang="en-AU" sz="1800" b="0" i="0" u="none" strike="noStrike" kern="1200" cap="none" spc="0" normalizeH="0" baseline="0" noProof="0" dirty="0">
                <a:ln>
                  <a:noFill/>
                </a:ln>
                <a:solidFill>
                  <a:prstClr val="black"/>
                </a:solidFill>
                <a:effectLst/>
                <a:uLnTx/>
                <a:uFillTx/>
                <a:latin typeface="Calibri" panose="020F0502020204030204"/>
                <a:ea typeface="+mn-ea"/>
                <a:cs typeface="+mn-cs"/>
              </a:rPr>
              <a:t>Results section</a:t>
            </a:r>
          </a:p>
        </p:txBody>
      </p:sp>
      <p:pic>
        <p:nvPicPr>
          <p:cNvPr id="5" name="Picture 4">
            <a:extLst>
              <a:ext uri="{FF2B5EF4-FFF2-40B4-BE49-F238E27FC236}">
                <a16:creationId xmlns:a16="http://schemas.microsoft.com/office/drawing/2014/main" id="{1AACCBCE-5F7B-B446-8979-7BEBDB0444EF}"/>
              </a:ext>
            </a:extLst>
          </p:cNvPr>
          <p:cNvPicPr>
            <a:picLocks noChangeAspect="1"/>
          </p:cNvPicPr>
          <p:nvPr/>
        </p:nvPicPr>
        <p:blipFill>
          <a:blip r:embed="rId3"/>
          <a:stretch>
            <a:fillRect/>
          </a:stretch>
        </p:blipFill>
        <p:spPr>
          <a:xfrm>
            <a:off x="686955" y="2555587"/>
            <a:ext cx="11150600" cy="3263900"/>
          </a:xfrm>
          <a:prstGeom prst="rect">
            <a:avLst/>
          </a:prstGeom>
        </p:spPr>
      </p:pic>
    </p:spTree>
    <p:extLst>
      <p:ext uri="{BB962C8B-B14F-4D97-AF65-F5344CB8AC3E}">
        <p14:creationId xmlns:p14="http://schemas.microsoft.com/office/powerpoint/2010/main" val="2049138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1219354" y="150945"/>
            <a:ext cx="751211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000" b="1" i="0" u="none" strike="noStrike" kern="1200" cap="none" spc="0" normalizeH="0" baseline="0" noProof="0" dirty="0">
                <a:ln>
                  <a:noFill/>
                </a:ln>
                <a:solidFill>
                  <a:srgbClr val="2D6069"/>
                </a:solidFill>
                <a:effectLst/>
                <a:uLnTx/>
                <a:uFillTx/>
                <a:latin typeface="Calibri" panose="020F0502020204030204"/>
                <a:ea typeface="+mn-ea"/>
                <a:cs typeface="+mn-cs"/>
              </a:rPr>
              <a:t>Data collection: Graphing results</a:t>
            </a:r>
          </a:p>
        </p:txBody>
      </p:sp>
      <p:graphicFrame>
        <p:nvGraphicFramePr>
          <p:cNvPr id="10" name="Table 9">
            <a:extLst>
              <a:ext uri="{FF2B5EF4-FFF2-40B4-BE49-F238E27FC236}">
                <a16:creationId xmlns:a16="http://schemas.microsoft.com/office/drawing/2014/main" id="{15AA9FBA-6EF7-DB44-B12B-B686880AA94A}"/>
              </a:ext>
            </a:extLst>
          </p:cNvPr>
          <p:cNvGraphicFramePr>
            <a:graphicFrameLocks noGrp="1"/>
          </p:cNvGraphicFramePr>
          <p:nvPr/>
        </p:nvGraphicFramePr>
        <p:xfrm>
          <a:off x="8597734" y="0"/>
          <a:ext cx="3594266" cy="2210426"/>
        </p:xfrm>
        <a:graphic>
          <a:graphicData uri="http://schemas.openxmlformats.org/drawingml/2006/table">
            <a:tbl>
              <a:tblPr firstRow="1" bandRow="1">
                <a:tableStyleId>{93296810-A885-4BE3-A3E7-6D5BEEA58F35}</a:tableStyleId>
              </a:tblPr>
              <a:tblGrid>
                <a:gridCol w="3594266">
                  <a:extLst>
                    <a:ext uri="{9D8B030D-6E8A-4147-A177-3AD203B41FA5}">
                      <a16:colId xmlns:a16="http://schemas.microsoft.com/office/drawing/2014/main" val="3535165183"/>
                    </a:ext>
                  </a:extLst>
                </a:gridCol>
              </a:tblGrid>
              <a:tr h="340052">
                <a:tc>
                  <a:txBody>
                    <a:bodyPr/>
                    <a:lstStyle/>
                    <a:p>
                      <a:pPr algn="ctr"/>
                      <a:r>
                        <a:rPr lang="en-AU" dirty="0">
                          <a:solidFill>
                            <a:schemeClr val="tx1"/>
                          </a:solidFill>
                        </a:rPr>
                        <a:t>Assessment tips!</a:t>
                      </a:r>
                    </a:p>
                  </a:txBody>
                  <a:tcPr/>
                </a:tc>
                <a:extLst>
                  <a:ext uri="{0D108BD9-81ED-4DB2-BD59-A6C34878D82A}">
                    <a16:rowId xmlns:a16="http://schemas.microsoft.com/office/drawing/2014/main" val="2660461276"/>
                  </a:ext>
                </a:extLst>
              </a:tr>
              <a:tr h="1844666">
                <a:tc>
                  <a:txBody>
                    <a:bodyPr/>
                    <a:lstStyle/>
                    <a:p>
                      <a:pPr marL="285750" indent="-285750">
                        <a:buFont typeface="Arial" panose="020B0604020202020204" pitchFamily="34" charset="0"/>
                        <a:buChar char="•"/>
                      </a:pPr>
                      <a:r>
                        <a:rPr lang="en-AU" b="1" dirty="0"/>
                        <a:t>Use a ruler and pencil</a:t>
                      </a:r>
                    </a:p>
                    <a:p>
                      <a:pPr marL="285750" indent="-285750">
                        <a:buFont typeface="Arial" panose="020B0604020202020204" pitchFamily="34" charset="0"/>
                        <a:buChar char="•"/>
                      </a:pPr>
                      <a:r>
                        <a:rPr lang="en-AU" b="1" dirty="0"/>
                        <a:t>Label the headings for columns and rows</a:t>
                      </a:r>
                    </a:p>
                    <a:p>
                      <a:pPr marL="285750" indent="-285750">
                        <a:buFont typeface="Arial" panose="020B0604020202020204" pitchFamily="34" charset="0"/>
                        <a:buChar char="•"/>
                      </a:pPr>
                      <a:r>
                        <a:rPr lang="en-AU" b="1" dirty="0"/>
                        <a:t>Label the table with Graph 1. and a title</a:t>
                      </a:r>
                    </a:p>
                    <a:p>
                      <a:pPr marL="285750" indent="-285750">
                        <a:buFont typeface="Arial" panose="020B0604020202020204" pitchFamily="34" charset="0"/>
                        <a:buChar char="•"/>
                      </a:pPr>
                      <a:r>
                        <a:rPr lang="en-AU" b="1" dirty="0"/>
                        <a:t>Remember to put units in</a:t>
                      </a:r>
                    </a:p>
                  </a:txBody>
                  <a:tcPr/>
                </a:tc>
                <a:extLst>
                  <a:ext uri="{0D108BD9-81ED-4DB2-BD59-A6C34878D82A}">
                    <a16:rowId xmlns:a16="http://schemas.microsoft.com/office/drawing/2014/main" val="189824520"/>
                  </a:ext>
                </a:extLst>
              </a:tr>
            </a:tbl>
          </a:graphicData>
        </a:graphic>
      </p:graphicFrame>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814" y="39592"/>
            <a:ext cx="805540" cy="664687"/>
          </a:xfrm>
          <a:prstGeom prst="rect">
            <a:avLst/>
          </a:prstGeom>
        </p:spPr>
      </p:pic>
      <p:pic>
        <p:nvPicPr>
          <p:cNvPr id="4" name="Picture 3">
            <a:extLst>
              <a:ext uri="{FF2B5EF4-FFF2-40B4-BE49-F238E27FC236}">
                <a16:creationId xmlns:a16="http://schemas.microsoft.com/office/drawing/2014/main" id="{51126712-B799-3842-93BF-A0DBAEA42E9A}"/>
              </a:ext>
            </a:extLst>
          </p:cNvPr>
          <p:cNvPicPr>
            <a:picLocks noChangeAspect="1"/>
          </p:cNvPicPr>
          <p:nvPr/>
        </p:nvPicPr>
        <p:blipFill rotWithShape="1">
          <a:blip r:embed="rId3"/>
          <a:srcRect b="5849"/>
          <a:stretch/>
        </p:blipFill>
        <p:spPr>
          <a:xfrm>
            <a:off x="0" y="2673333"/>
            <a:ext cx="4524703" cy="4184667"/>
          </a:xfrm>
          <a:prstGeom prst="rect">
            <a:avLst/>
          </a:prstGeom>
        </p:spPr>
      </p:pic>
      <p:sp>
        <p:nvSpPr>
          <p:cNvPr id="2" name="TextBox 1">
            <a:extLst>
              <a:ext uri="{FF2B5EF4-FFF2-40B4-BE49-F238E27FC236}">
                <a16:creationId xmlns:a16="http://schemas.microsoft.com/office/drawing/2014/main" id="{A0398A33-4C70-A549-BD57-EF5B8EE1CD19}"/>
              </a:ext>
            </a:extLst>
          </p:cNvPr>
          <p:cNvSpPr txBox="1"/>
          <p:nvPr/>
        </p:nvSpPr>
        <p:spPr>
          <a:xfrm>
            <a:off x="1377009" y="2492274"/>
            <a:ext cx="8732168" cy="3225105"/>
          </a:xfrm>
          <a:prstGeom prst="rect">
            <a:avLst/>
          </a:prstGeom>
          <a:noFill/>
          <a:ln w="76200">
            <a:solidFill>
              <a:srgbClr val="92D05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Step 1: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Choose an appropriate graph. What type of data have we collected?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Step 2: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Choose an appropriate scale, how big does it need to be to be clear?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Step 3: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Draw and label the X and Y axis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Step 4: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Plot your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Step 5: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Label your graph with both variables mentioned </a:t>
            </a:r>
          </a:p>
        </p:txBody>
      </p:sp>
      <p:sp>
        <p:nvSpPr>
          <p:cNvPr id="9" name="TextBox 8">
            <a:extLst>
              <a:ext uri="{FF2B5EF4-FFF2-40B4-BE49-F238E27FC236}">
                <a16:creationId xmlns:a16="http://schemas.microsoft.com/office/drawing/2014/main" id="{BEE01D1B-C22C-DA4A-8C1F-99ED25B3415A}"/>
              </a:ext>
            </a:extLst>
          </p:cNvPr>
          <p:cNvSpPr txBox="1"/>
          <p:nvPr/>
        </p:nvSpPr>
        <p:spPr>
          <a:xfrm rot="16200000">
            <a:off x="-1508293" y="1523698"/>
            <a:ext cx="3385927" cy="369332"/>
          </a:xfrm>
          <a:prstGeom prst="rect">
            <a:avLst/>
          </a:prstGeom>
          <a:solidFill>
            <a:schemeClr val="accent2"/>
          </a:solidFill>
          <a:ln>
            <a:solidFill>
              <a:schemeClr val="accent2"/>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rPr>
              <a:t>Skill Development: </a:t>
            </a:r>
            <a:r>
              <a:rPr kumimoji="0" lang="en-AU" sz="1800" b="0" i="0" u="none" strike="noStrike" kern="1200" cap="none" spc="0" normalizeH="0" baseline="0" noProof="0" dirty="0">
                <a:ln>
                  <a:noFill/>
                </a:ln>
                <a:solidFill>
                  <a:prstClr val="black"/>
                </a:solidFill>
                <a:effectLst/>
                <a:uLnTx/>
                <a:uFillTx/>
                <a:latin typeface="Calibri" panose="020F0502020204030204"/>
                <a:ea typeface="+mn-ea"/>
                <a:cs typeface="+mn-cs"/>
              </a:rPr>
              <a:t>Results section</a:t>
            </a:r>
          </a:p>
        </p:txBody>
      </p:sp>
    </p:spTree>
    <p:extLst>
      <p:ext uri="{BB962C8B-B14F-4D97-AF65-F5344CB8AC3E}">
        <p14:creationId xmlns:p14="http://schemas.microsoft.com/office/powerpoint/2010/main" val="2008946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2240280" y="32291"/>
            <a:ext cx="6690360" cy="707886"/>
          </a:xfrm>
          <a:prstGeom prst="rect">
            <a:avLst/>
          </a:prstGeom>
          <a:noFill/>
        </p:spPr>
        <p:txBody>
          <a:bodyPr wrap="square" rtlCol="0">
            <a:spAutoFit/>
          </a:bodyPr>
          <a:lstStyle/>
          <a:p>
            <a:r>
              <a:rPr lang="en-AU" sz="4000" b="1" dirty="0">
                <a:solidFill>
                  <a:srgbClr val="2D6069"/>
                </a:solidFill>
              </a:rPr>
              <a:t>Extraneous Variables</a:t>
            </a:r>
          </a:p>
        </p:txBody>
      </p:sp>
      <p:graphicFrame>
        <p:nvGraphicFramePr>
          <p:cNvPr id="9" name="Table 8">
            <a:extLst>
              <a:ext uri="{FF2B5EF4-FFF2-40B4-BE49-F238E27FC236}">
                <a16:creationId xmlns:a16="http://schemas.microsoft.com/office/drawing/2014/main" id="{F4660C92-7CA7-E642-B616-E56D9EAA166A}"/>
              </a:ext>
            </a:extLst>
          </p:cNvPr>
          <p:cNvGraphicFramePr>
            <a:graphicFrameLocks noGrp="1"/>
          </p:cNvGraphicFramePr>
          <p:nvPr/>
        </p:nvGraphicFramePr>
        <p:xfrm>
          <a:off x="8930640" y="42560"/>
          <a:ext cx="3261360" cy="2103120"/>
        </p:xfrm>
        <a:graphic>
          <a:graphicData uri="http://schemas.openxmlformats.org/drawingml/2006/table">
            <a:tbl>
              <a:tblPr firstRow="1" bandRow="1">
                <a:tableStyleId>{7DF18680-E054-41AD-8BC1-D1AEF772440D}</a:tableStyleId>
              </a:tblPr>
              <a:tblGrid>
                <a:gridCol w="3261360">
                  <a:extLst>
                    <a:ext uri="{9D8B030D-6E8A-4147-A177-3AD203B41FA5}">
                      <a16:colId xmlns:a16="http://schemas.microsoft.com/office/drawing/2014/main" val="3535165183"/>
                    </a:ext>
                  </a:extLst>
                </a:gridCol>
              </a:tblGrid>
              <a:tr h="239992">
                <a:tc>
                  <a:txBody>
                    <a:bodyPr/>
                    <a:lstStyle/>
                    <a:p>
                      <a:pPr algn="ctr"/>
                      <a:r>
                        <a:rPr lang="en-AU" dirty="0"/>
                        <a:t>Vocabulary </a:t>
                      </a:r>
                    </a:p>
                  </a:txBody>
                  <a:tcPr>
                    <a:solidFill>
                      <a:schemeClr val="accent1"/>
                    </a:solidFill>
                  </a:tcPr>
                </a:tc>
                <a:extLst>
                  <a:ext uri="{0D108BD9-81ED-4DB2-BD59-A6C34878D82A}">
                    <a16:rowId xmlns:a16="http://schemas.microsoft.com/office/drawing/2014/main" val="2660461276"/>
                  </a:ext>
                </a:extLst>
              </a:tr>
              <a:tr h="1499949">
                <a:tc>
                  <a:txBody>
                    <a:bodyPr/>
                    <a:lstStyle/>
                    <a:p>
                      <a:r>
                        <a:rPr lang="en-AU" b="1" dirty="0"/>
                        <a:t>Participant extraneous variables: </a:t>
                      </a:r>
                      <a:r>
                        <a:rPr lang="en-AU" sz="1800" b="0" i="0" kern="1200" dirty="0">
                          <a:solidFill>
                            <a:schemeClr val="dk1"/>
                          </a:solidFill>
                          <a:effectLst/>
                          <a:latin typeface="+mn-lt"/>
                          <a:ea typeface="+mn-ea"/>
                          <a:cs typeface="+mn-cs"/>
                        </a:rPr>
                        <a:t>differing individual characteristics of participants in an experiment which may impact DV.</a:t>
                      </a:r>
                      <a:endParaRPr lang="en-AU" b="1" dirty="0"/>
                    </a:p>
                  </a:txBody>
                  <a:tcPr>
                    <a:solidFill>
                      <a:schemeClr val="bg2">
                        <a:lumMod val="40000"/>
                        <a:lumOff val="60000"/>
                      </a:schemeClr>
                    </a:solidFill>
                  </a:tcPr>
                </a:tc>
                <a:extLst>
                  <a:ext uri="{0D108BD9-81ED-4DB2-BD59-A6C34878D82A}">
                    <a16:rowId xmlns:a16="http://schemas.microsoft.com/office/drawing/2014/main" val="189824520"/>
                  </a:ext>
                </a:extLst>
              </a:tr>
            </a:tbl>
          </a:graphicData>
        </a:graphic>
      </p:graphicFrame>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0499" y="95382"/>
            <a:ext cx="559496" cy="461665"/>
          </a:xfrm>
          <a:prstGeom prst="rect">
            <a:avLst/>
          </a:prstGeom>
        </p:spPr>
      </p:pic>
      <p:graphicFrame>
        <p:nvGraphicFramePr>
          <p:cNvPr id="5" name="Diagram 4">
            <a:extLst>
              <a:ext uri="{FF2B5EF4-FFF2-40B4-BE49-F238E27FC236}">
                <a16:creationId xmlns:a16="http://schemas.microsoft.com/office/drawing/2014/main" id="{8DF0B48A-30D6-6E47-9CE6-2827CFF72E90}"/>
              </a:ext>
            </a:extLst>
          </p:cNvPr>
          <p:cNvGraphicFramePr/>
          <p:nvPr/>
        </p:nvGraphicFramePr>
        <p:xfrm>
          <a:off x="825891" y="2298685"/>
          <a:ext cx="10815124" cy="41255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F7BAD863-4022-D041-888E-848841F379B4}"/>
              </a:ext>
            </a:extLst>
          </p:cNvPr>
          <p:cNvSpPr txBox="1"/>
          <p:nvPr/>
        </p:nvSpPr>
        <p:spPr>
          <a:xfrm rot="16200000">
            <a:off x="-1369409" y="1345682"/>
            <a:ext cx="3060700" cy="369332"/>
          </a:xfrm>
          <a:prstGeom prst="rect">
            <a:avLst/>
          </a:prstGeom>
          <a:solidFill>
            <a:srgbClr val="9ACDED"/>
          </a:solidFill>
        </p:spPr>
        <p:txBody>
          <a:bodyPr wrap="square" rtlCol="0">
            <a:spAutoFit/>
          </a:bodyPr>
          <a:lstStyle/>
          <a:p>
            <a:r>
              <a:rPr lang="en-AU" dirty="0">
                <a:solidFill>
                  <a:srgbClr val="0E344D"/>
                </a:solidFill>
              </a:rPr>
              <a:t>Activate prior knowledge</a:t>
            </a:r>
          </a:p>
        </p:txBody>
      </p:sp>
    </p:spTree>
    <p:extLst>
      <p:ext uri="{BB962C8B-B14F-4D97-AF65-F5344CB8AC3E}">
        <p14:creationId xmlns:p14="http://schemas.microsoft.com/office/powerpoint/2010/main" val="3596444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9CF2CF6-BDD2-BB43-8711-487D77B96D4F}"/>
              </a:ext>
            </a:extLst>
          </p:cNvPr>
          <p:cNvPicPr>
            <a:picLocks noChangeAspect="1"/>
          </p:cNvPicPr>
          <p:nvPr/>
        </p:nvPicPr>
        <p:blipFill>
          <a:blip r:embed="rId2"/>
          <a:stretch>
            <a:fillRect/>
          </a:stretch>
        </p:blipFill>
        <p:spPr>
          <a:xfrm>
            <a:off x="768350" y="1066659"/>
            <a:ext cx="10655300" cy="3581400"/>
          </a:xfrm>
          <a:prstGeom prst="rect">
            <a:avLst/>
          </a:prstGeom>
        </p:spPr>
      </p:pic>
      <p:sp>
        <p:nvSpPr>
          <p:cNvPr id="7" name="TextBox 6">
            <a:extLst>
              <a:ext uri="{FF2B5EF4-FFF2-40B4-BE49-F238E27FC236}">
                <a16:creationId xmlns:a16="http://schemas.microsoft.com/office/drawing/2014/main" id="{77630E07-6D2D-A042-8929-90780AECB0BA}"/>
              </a:ext>
            </a:extLst>
          </p:cNvPr>
          <p:cNvSpPr txBox="1"/>
          <p:nvPr/>
        </p:nvSpPr>
        <p:spPr>
          <a:xfrm>
            <a:off x="2154458" y="0"/>
            <a:ext cx="7083971" cy="923330"/>
          </a:xfrm>
          <a:prstGeom prst="rect">
            <a:avLst/>
          </a:prstGeom>
          <a:noFill/>
        </p:spPr>
        <p:txBody>
          <a:bodyPr wrap="square" rtlCol="0">
            <a:spAutoFit/>
          </a:bodyPr>
          <a:lstStyle/>
          <a:p>
            <a:r>
              <a:rPr lang="en-AU" sz="5400" b="1" dirty="0">
                <a:solidFill>
                  <a:srgbClr val="2D6069"/>
                </a:solidFill>
              </a:rPr>
              <a:t>Discussion</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008" y="16414"/>
            <a:ext cx="1272801" cy="1050245"/>
          </a:xfrm>
          <a:prstGeom prst="rect">
            <a:avLst/>
          </a:prstGeom>
        </p:spPr>
      </p:pic>
      <p:sp>
        <p:nvSpPr>
          <p:cNvPr id="5" name="TextBox 4">
            <a:extLst>
              <a:ext uri="{FF2B5EF4-FFF2-40B4-BE49-F238E27FC236}">
                <a16:creationId xmlns:a16="http://schemas.microsoft.com/office/drawing/2014/main" id="{C9DD2806-596B-7C4C-97A1-913EE3803DBD}"/>
              </a:ext>
            </a:extLst>
          </p:cNvPr>
          <p:cNvSpPr txBox="1"/>
          <p:nvPr/>
        </p:nvSpPr>
        <p:spPr>
          <a:xfrm>
            <a:off x="1018780" y="4791388"/>
            <a:ext cx="9670120" cy="1938992"/>
          </a:xfrm>
          <a:prstGeom prst="rect">
            <a:avLst/>
          </a:prstGeom>
          <a:noFill/>
          <a:ln w="76200">
            <a:solidFill>
              <a:srgbClr val="0070C0"/>
            </a:solidFill>
          </a:ln>
        </p:spPr>
        <p:txBody>
          <a:bodyPr wrap="square" rtlCol="0">
            <a:spAutoFit/>
          </a:bodyPr>
          <a:lstStyle/>
          <a:p>
            <a:r>
              <a:rPr lang="en-US" sz="2400" b="1" dirty="0"/>
              <a:t>Step 1: </a:t>
            </a:r>
            <a:r>
              <a:rPr lang="en-US" sz="2400" dirty="0"/>
              <a:t>Restate the hypothesis for the experiment. </a:t>
            </a:r>
          </a:p>
          <a:p>
            <a:r>
              <a:rPr lang="en-US" sz="2400" b="1" dirty="0"/>
              <a:t>Step 2: </a:t>
            </a:r>
            <a:r>
              <a:rPr lang="en-US" sz="2400" dirty="0"/>
              <a:t>State whether the hypothesis was supported or rejected</a:t>
            </a:r>
          </a:p>
          <a:p>
            <a:r>
              <a:rPr lang="en-US" sz="2400" b="1" dirty="0"/>
              <a:t>Step 3</a:t>
            </a:r>
            <a:r>
              <a:rPr lang="en-US" sz="2400" dirty="0"/>
              <a:t>: Refer to your results to explain why it was supported or rejected to draw conclusions.</a:t>
            </a:r>
          </a:p>
          <a:p>
            <a:r>
              <a:rPr lang="en-US" sz="2400" b="1" dirty="0"/>
              <a:t>Step 4</a:t>
            </a:r>
            <a:r>
              <a:rPr lang="en-US" sz="2400" dirty="0"/>
              <a:t>: Relate to previous research (similar findings or not?)</a:t>
            </a:r>
          </a:p>
        </p:txBody>
      </p:sp>
      <p:sp>
        <p:nvSpPr>
          <p:cNvPr id="9" name="Rectangle 8">
            <a:extLst>
              <a:ext uri="{FF2B5EF4-FFF2-40B4-BE49-F238E27FC236}">
                <a16:creationId xmlns:a16="http://schemas.microsoft.com/office/drawing/2014/main" id="{DE372E91-40AF-F148-A79C-E28C172E14C9}"/>
              </a:ext>
            </a:extLst>
          </p:cNvPr>
          <p:cNvSpPr/>
          <p:nvPr/>
        </p:nvSpPr>
        <p:spPr>
          <a:xfrm>
            <a:off x="1018780" y="1301646"/>
            <a:ext cx="8973371" cy="533813"/>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ACF31C90-2432-A84E-AF12-B1227B7A9821}"/>
              </a:ext>
            </a:extLst>
          </p:cNvPr>
          <p:cNvSpPr txBox="1"/>
          <p:nvPr/>
        </p:nvSpPr>
        <p:spPr>
          <a:xfrm rot="16200000">
            <a:off x="-1002060" y="9783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spTree>
    <p:extLst>
      <p:ext uri="{BB962C8B-B14F-4D97-AF65-F5344CB8AC3E}">
        <p14:creationId xmlns:p14="http://schemas.microsoft.com/office/powerpoint/2010/main" val="4095106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6414731" y="-82462"/>
            <a:ext cx="3799533" cy="923330"/>
          </a:xfrm>
          <a:prstGeom prst="rect">
            <a:avLst/>
          </a:prstGeom>
          <a:noFill/>
        </p:spPr>
        <p:txBody>
          <a:bodyPr wrap="square" rtlCol="0">
            <a:spAutoFit/>
          </a:bodyPr>
          <a:lstStyle/>
          <a:p>
            <a:r>
              <a:rPr lang="en-AU" sz="5400" b="1" dirty="0">
                <a:solidFill>
                  <a:srgbClr val="2D6069"/>
                </a:solidFill>
              </a:rPr>
              <a:t>Discussion</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37" y="80541"/>
            <a:ext cx="1272801" cy="1050245"/>
          </a:xfrm>
          <a:prstGeom prst="rect">
            <a:avLst/>
          </a:prstGeom>
        </p:spPr>
      </p:pic>
      <p:sp>
        <p:nvSpPr>
          <p:cNvPr id="5" name="TextBox 4">
            <a:extLst>
              <a:ext uri="{FF2B5EF4-FFF2-40B4-BE49-F238E27FC236}">
                <a16:creationId xmlns:a16="http://schemas.microsoft.com/office/drawing/2014/main" id="{C9DD2806-596B-7C4C-97A1-913EE3803DBD}"/>
              </a:ext>
            </a:extLst>
          </p:cNvPr>
          <p:cNvSpPr txBox="1"/>
          <p:nvPr/>
        </p:nvSpPr>
        <p:spPr>
          <a:xfrm>
            <a:off x="199696" y="3344598"/>
            <a:ext cx="11776404" cy="3354765"/>
          </a:xfrm>
          <a:prstGeom prst="rect">
            <a:avLst/>
          </a:prstGeom>
          <a:noFill/>
          <a:ln w="76200">
            <a:solidFill>
              <a:srgbClr val="0070C0"/>
            </a:solidFill>
          </a:ln>
        </p:spPr>
        <p:txBody>
          <a:bodyPr wrap="square" rtlCol="0">
            <a:spAutoFit/>
          </a:bodyPr>
          <a:lstStyle/>
          <a:p>
            <a:r>
              <a:rPr lang="en-US" sz="2400" b="1" dirty="0"/>
              <a:t>Step 5: Discuss at least two limitations of study design and suggest how to improve.</a:t>
            </a:r>
          </a:p>
          <a:p>
            <a:endParaRPr lang="en-US" sz="2400" dirty="0"/>
          </a:p>
          <a:p>
            <a:r>
              <a:rPr lang="en-US" sz="2000" u="sng" dirty="0"/>
              <a:t>Limitations may include: </a:t>
            </a:r>
          </a:p>
          <a:p>
            <a:pPr marL="342900" indent="-342900">
              <a:buFont typeface="Arial" panose="020B0604020202020204" pitchFamily="34" charset="0"/>
              <a:buChar char="•"/>
            </a:pPr>
            <a:r>
              <a:rPr lang="en-US" sz="2000" dirty="0"/>
              <a:t>Not controlling for extraneous variables.</a:t>
            </a:r>
          </a:p>
          <a:p>
            <a:pPr marL="342900" indent="-342900">
              <a:buFont typeface="Arial" panose="020B0604020202020204" pitchFamily="34" charset="0"/>
              <a:buChar char="•"/>
            </a:pPr>
            <a:r>
              <a:rPr lang="en-US" sz="2000" dirty="0"/>
              <a:t>Not a valid measure of mood or sufficient exercise to create changes in mood. </a:t>
            </a:r>
          </a:p>
          <a:p>
            <a:pPr marL="342900" indent="-342900">
              <a:buFont typeface="Arial" panose="020B0604020202020204" pitchFamily="34" charset="0"/>
              <a:buChar char="•"/>
            </a:pPr>
            <a:r>
              <a:rPr lang="en-US" sz="2000" dirty="0"/>
              <a:t>Not enough experimental conditions.</a:t>
            </a:r>
          </a:p>
          <a:p>
            <a:pPr marL="342900" indent="-342900">
              <a:buFont typeface="Arial" panose="020B0604020202020204" pitchFamily="34" charset="0"/>
              <a:buChar char="•"/>
            </a:pPr>
            <a:r>
              <a:rPr lang="en-US" sz="2000" dirty="0"/>
              <a:t>The placebo of relaxation was not a valid activity to constitute as a placebo.</a:t>
            </a:r>
          </a:p>
          <a:p>
            <a:pPr marL="342900" indent="-342900">
              <a:buFont typeface="Arial" panose="020B0604020202020204" pitchFamily="34" charset="0"/>
              <a:buChar char="•"/>
            </a:pPr>
            <a:r>
              <a:rPr lang="en-US" sz="2000" dirty="0"/>
              <a:t>Not reliable/consistent. </a:t>
            </a:r>
          </a:p>
          <a:p>
            <a:pPr marL="342900" indent="-342900">
              <a:buFont typeface="Arial" panose="020B0604020202020204" pitchFamily="34" charset="0"/>
              <a:buChar char="•"/>
            </a:pPr>
            <a:r>
              <a:rPr lang="en-US" sz="2000" dirty="0"/>
              <a:t>Not a representative sample or appropriate participant allocation method.</a:t>
            </a:r>
          </a:p>
        </p:txBody>
      </p:sp>
      <p:sp>
        <p:nvSpPr>
          <p:cNvPr id="10" name="TextBox 9">
            <a:extLst>
              <a:ext uri="{FF2B5EF4-FFF2-40B4-BE49-F238E27FC236}">
                <a16:creationId xmlns:a16="http://schemas.microsoft.com/office/drawing/2014/main" id="{F5911E7F-E813-1A4F-88CE-F9356CD13601}"/>
              </a:ext>
            </a:extLst>
          </p:cNvPr>
          <p:cNvSpPr txBox="1"/>
          <p:nvPr/>
        </p:nvSpPr>
        <p:spPr>
          <a:xfrm rot="16200000">
            <a:off x="-1002060" y="9783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pic>
        <p:nvPicPr>
          <p:cNvPr id="11" name="Picture 10">
            <a:extLst>
              <a:ext uri="{FF2B5EF4-FFF2-40B4-BE49-F238E27FC236}">
                <a16:creationId xmlns:a16="http://schemas.microsoft.com/office/drawing/2014/main" id="{25C951F0-379D-644B-AE51-0B7FB8A6009C}"/>
              </a:ext>
            </a:extLst>
          </p:cNvPr>
          <p:cNvPicPr>
            <a:picLocks noChangeAspect="1"/>
          </p:cNvPicPr>
          <p:nvPr/>
        </p:nvPicPr>
        <p:blipFill>
          <a:blip r:embed="rId3"/>
          <a:stretch>
            <a:fillRect/>
          </a:stretch>
        </p:blipFill>
        <p:spPr>
          <a:xfrm>
            <a:off x="1217438" y="812336"/>
            <a:ext cx="7414201" cy="2492020"/>
          </a:xfrm>
          <a:prstGeom prst="rect">
            <a:avLst/>
          </a:prstGeom>
        </p:spPr>
      </p:pic>
      <p:sp>
        <p:nvSpPr>
          <p:cNvPr id="9" name="Rectangle 8">
            <a:extLst>
              <a:ext uri="{FF2B5EF4-FFF2-40B4-BE49-F238E27FC236}">
                <a16:creationId xmlns:a16="http://schemas.microsoft.com/office/drawing/2014/main" id="{DE372E91-40AF-F148-A79C-E28C172E14C9}"/>
              </a:ext>
            </a:extLst>
          </p:cNvPr>
          <p:cNvSpPr/>
          <p:nvPr/>
        </p:nvSpPr>
        <p:spPr>
          <a:xfrm>
            <a:off x="1249139" y="1561764"/>
            <a:ext cx="8267700" cy="774700"/>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04183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6414731" y="-82462"/>
            <a:ext cx="3799533" cy="923330"/>
          </a:xfrm>
          <a:prstGeom prst="rect">
            <a:avLst/>
          </a:prstGeom>
          <a:noFill/>
        </p:spPr>
        <p:txBody>
          <a:bodyPr wrap="square" rtlCol="0">
            <a:spAutoFit/>
          </a:bodyPr>
          <a:lstStyle/>
          <a:p>
            <a:r>
              <a:rPr lang="en-AU" sz="5400" b="1" dirty="0">
                <a:solidFill>
                  <a:srgbClr val="2D6069"/>
                </a:solidFill>
              </a:rPr>
              <a:t>Discussion</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37" y="80541"/>
            <a:ext cx="1272801" cy="1050245"/>
          </a:xfrm>
          <a:prstGeom prst="rect">
            <a:avLst/>
          </a:prstGeom>
        </p:spPr>
      </p:pic>
      <p:sp>
        <p:nvSpPr>
          <p:cNvPr id="5" name="TextBox 4">
            <a:extLst>
              <a:ext uri="{FF2B5EF4-FFF2-40B4-BE49-F238E27FC236}">
                <a16:creationId xmlns:a16="http://schemas.microsoft.com/office/drawing/2014/main" id="{C9DD2806-596B-7C4C-97A1-913EE3803DBD}"/>
              </a:ext>
            </a:extLst>
          </p:cNvPr>
          <p:cNvSpPr txBox="1"/>
          <p:nvPr/>
        </p:nvSpPr>
        <p:spPr>
          <a:xfrm>
            <a:off x="345607" y="4375754"/>
            <a:ext cx="11424924" cy="1569660"/>
          </a:xfrm>
          <a:prstGeom prst="rect">
            <a:avLst/>
          </a:prstGeom>
          <a:noFill/>
          <a:ln w="76200">
            <a:solidFill>
              <a:srgbClr val="0070C0"/>
            </a:solidFill>
          </a:ln>
        </p:spPr>
        <p:txBody>
          <a:bodyPr wrap="square" rtlCol="0">
            <a:spAutoFit/>
          </a:bodyPr>
          <a:lstStyle/>
          <a:p>
            <a:r>
              <a:rPr lang="en-US" sz="2400" b="1" dirty="0"/>
              <a:t>Step 6:</a:t>
            </a:r>
            <a:r>
              <a:rPr lang="en-US" sz="2400" dirty="0"/>
              <a:t> How were ethical issues addressed –(participant rights)</a:t>
            </a:r>
          </a:p>
          <a:p>
            <a:r>
              <a:rPr lang="en-US" sz="2400" b="1" dirty="0"/>
              <a:t>Step 7: </a:t>
            </a:r>
            <a:r>
              <a:rPr lang="en-US" sz="2400" dirty="0"/>
              <a:t>Relate this back to the introduction – why are these results relevant to the population you researched?</a:t>
            </a:r>
          </a:p>
          <a:p>
            <a:r>
              <a:rPr lang="en-US" sz="2400" b="1" dirty="0"/>
              <a:t>Step 8</a:t>
            </a:r>
            <a:r>
              <a:rPr lang="en-US" sz="2400" dirty="0"/>
              <a:t>: Conclusions that relate to the hypothesis </a:t>
            </a:r>
          </a:p>
        </p:txBody>
      </p:sp>
      <p:sp>
        <p:nvSpPr>
          <p:cNvPr id="10" name="TextBox 9">
            <a:extLst>
              <a:ext uri="{FF2B5EF4-FFF2-40B4-BE49-F238E27FC236}">
                <a16:creationId xmlns:a16="http://schemas.microsoft.com/office/drawing/2014/main" id="{F5911E7F-E813-1A4F-88CE-F9356CD13601}"/>
              </a:ext>
            </a:extLst>
          </p:cNvPr>
          <p:cNvSpPr txBox="1"/>
          <p:nvPr/>
        </p:nvSpPr>
        <p:spPr>
          <a:xfrm rot="16200000">
            <a:off x="-1002060" y="9783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pic>
        <p:nvPicPr>
          <p:cNvPr id="11" name="Picture 10">
            <a:extLst>
              <a:ext uri="{FF2B5EF4-FFF2-40B4-BE49-F238E27FC236}">
                <a16:creationId xmlns:a16="http://schemas.microsoft.com/office/drawing/2014/main" id="{25C951F0-379D-644B-AE51-0B7FB8A6009C}"/>
              </a:ext>
            </a:extLst>
          </p:cNvPr>
          <p:cNvPicPr>
            <a:picLocks noChangeAspect="1"/>
          </p:cNvPicPr>
          <p:nvPr/>
        </p:nvPicPr>
        <p:blipFill>
          <a:blip r:embed="rId3"/>
          <a:stretch>
            <a:fillRect/>
          </a:stretch>
        </p:blipFill>
        <p:spPr>
          <a:xfrm>
            <a:off x="1644187" y="1236235"/>
            <a:ext cx="8455777" cy="2842109"/>
          </a:xfrm>
          <a:prstGeom prst="rect">
            <a:avLst/>
          </a:prstGeom>
        </p:spPr>
      </p:pic>
      <p:sp>
        <p:nvSpPr>
          <p:cNvPr id="9" name="Rectangle 8">
            <a:extLst>
              <a:ext uri="{FF2B5EF4-FFF2-40B4-BE49-F238E27FC236}">
                <a16:creationId xmlns:a16="http://schemas.microsoft.com/office/drawing/2014/main" id="{DE372E91-40AF-F148-A79C-E28C172E14C9}"/>
              </a:ext>
            </a:extLst>
          </p:cNvPr>
          <p:cNvSpPr/>
          <p:nvPr/>
        </p:nvSpPr>
        <p:spPr>
          <a:xfrm>
            <a:off x="1570729" y="3041650"/>
            <a:ext cx="7646007" cy="774700"/>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2829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B850BC-374C-0D43-A2FC-D38573EECF52}"/>
              </a:ext>
            </a:extLst>
          </p:cNvPr>
          <p:cNvPicPr>
            <a:picLocks noChangeAspect="1"/>
          </p:cNvPicPr>
          <p:nvPr/>
        </p:nvPicPr>
        <p:blipFill rotWithShape="1">
          <a:blip r:embed="rId2"/>
          <a:srcRect r="27102" b="46238"/>
          <a:stretch/>
        </p:blipFill>
        <p:spPr>
          <a:xfrm>
            <a:off x="6292147" y="95250"/>
            <a:ext cx="5899853" cy="952500"/>
          </a:xfrm>
          <a:prstGeom prst="rect">
            <a:avLst/>
          </a:prstGeom>
        </p:spPr>
      </p:pic>
      <p:sp>
        <p:nvSpPr>
          <p:cNvPr id="5" name="Title 1">
            <a:extLst>
              <a:ext uri="{FF2B5EF4-FFF2-40B4-BE49-F238E27FC236}">
                <a16:creationId xmlns:a16="http://schemas.microsoft.com/office/drawing/2014/main" id="{39846104-E686-DF4D-A3B0-AADA7D6A4664}"/>
              </a:ext>
            </a:extLst>
          </p:cNvPr>
          <p:cNvSpPr txBox="1">
            <a:spLocks/>
          </p:cNvSpPr>
          <p:nvPr/>
        </p:nvSpPr>
        <p:spPr>
          <a:xfrm>
            <a:off x="82447" y="95250"/>
            <a:ext cx="8677836" cy="1143000"/>
          </a:xfrm>
          <a:prstGeom prst="rect">
            <a:avLst/>
          </a:prstGeom>
        </p:spPr>
        <p:txBody>
          <a:bodyPr/>
          <a:lstStyle>
            <a:lvl1pPr algn="l" defTabSz="914400" rtl="0" eaLnBrk="1" latinLnBrk="0" hangingPunct="1">
              <a:spcBef>
                <a:spcPct val="0"/>
              </a:spcBef>
              <a:buNone/>
              <a:defRPr sz="3600" kern="1200">
                <a:solidFill>
                  <a:schemeClr val="accent1"/>
                </a:solidFill>
                <a:latin typeface="+mj-lt"/>
                <a:ea typeface="+mj-ea"/>
                <a:cs typeface="+mj-cs"/>
              </a:defRPr>
            </a:lvl1pPr>
          </a:lstStyle>
          <a:p>
            <a:r>
              <a:rPr lang="en-US" b="1" dirty="0"/>
              <a:t>What is good?</a:t>
            </a:r>
          </a:p>
          <a:p>
            <a:r>
              <a:rPr lang="en-US" b="1" dirty="0"/>
              <a:t>What should be improved?</a:t>
            </a:r>
          </a:p>
        </p:txBody>
      </p:sp>
      <p:pic>
        <p:nvPicPr>
          <p:cNvPr id="6" name="Picture 5">
            <a:extLst>
              <a:ext uri="{FF2B5EF4-FFF2-40B4-BE49-F238E27FC236}">
                <a16:creationId xmlns:a16="http://schemas.microsoft.com/office/drawing/2014/main" id="{5D6794F4-8EE0-6647-BB78-D99C5999FE2D}"/>
              </a:ext>
            </a:extLst>
          </p:cNvPr>
          <p:cNvPicPr>
            <a:picLocks noChangeAspect="1"/>
          </p:cNvPicPr>
          <p:nvPr/>
        </p:nvPicPr>
        <p:blipFill>
          <a:blip r:embed="rId3"/>
          <a:stretch>
            <a:fillRect/>
          </a:stretch>
        </p:blipFill>
        <p:spPr>
          <a:xfrm>
            <a:off x="1413164" y="1397576"/>
            <a:ext cx="7107382" cy="5330537"/>
          </a:xfrm>
          <a:prstGeom prst="rect">
            <a:avLst/>
          </a:prstGeom>
        </p:spPr>
      </p:pic>
    </p:spTree>
    <p:extLst>
      <p:ext uri="{BB962C8B-B14F-4D97-AF65-F5344CB8AC3E}">
        <p14:creationId xmlns:p14="http://schemas.microsoft.com/office/powerpoint/2010/main" val="1721450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7EC377-73C2-F448-9564-5B72DF8E147F}"/>
              </a:ext>
            </a:extLst>
          </p:cNvPr>
          <p:cNvPicPr>
            <a:picLocks noChangeAspect="1"/>
          </p:cNvPicPr>
          <p:nvPr/>
        </p:nvPicPr>
        <p:blipFill rotWithShape="1">
          <a:blip r:embed="rId2"/>
          <a:srcRect l="12122" t="12122" b="13636"/>
          <a:stretch/>
        </p:blipFill>
        <p:spPr>
          <a:xfrm>
            <a:off x="6130635" y="0"/>
            <a:ext cx="6061365" cy="6827746"/>
          </a:xfrm>
          <a:prstGeom prst="rect">
            <a:avLst/>
          </a:prstGeom>
        </p:spPr>
      </p:pic>
      <p:pic>
        <p:nvPicPr>
          <p:cNvPr id="5" name="Picture 4">
            <a:extLst>
              <a:ext uri="{FF2B5EF4-FFF2-40B4-BE49-F238E27FC236}">
                <a16:creationId xmlns:a16="http://schemas.microsoft.com/office/drawing/2014/main" id="{72B3CD09-82E6-E042-A7F3-E38F5FD4336F}"/>
              </a:ext>
            </a:extLst>
          </p:cNvPr>
          <p:cNvPicPr>
            <a:picLocks noChangeAspect="1"/>
          </p:cNvPicPr>
          <p:nvPr/>
        </p:nvPicPr>
        <p:blipFill rotWithShape="1">
          <a:blip r:embed="rId3"/>
          <a:srcRect t="24848"/>
          <a:stretch/>
        </p:blipFill>
        <p:spPr>
          <a:xfrm>
            <a:off x="0" y="0"/>
            <a:ext cx="6304936" cy="6317673"/>
          </a:xfrm>
          <a:prstGeom prst="rect">
            <a:avLst/>
          </a:prstGeom>
        </p:spPr>
      </p:pic>
    </p:spTree>
    <p:extLst>
      <p:ext uri="{BB962C8B-B14F-4D97-AF65-F5344CB8AC3E}">
        <p14:creationId xmlns:p14="http://schemas.microsoft.com/office/powerpoint/2010/main" val="116365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4233946" y="153974"/>
            <a:ext cx="5176271" cy="707886"/>
          </a:xfrm>
          <a:prstGeom prst="rect">
            <a:avLst/>
          </a:prstGeom>
          <a:noFill/>
        </p:spPr>
        <p:txBody>
          <a:bodyPr wrap="square" rtlCol="0">
            <a:spAutoFit/>
          </a:bodyPr>
          <a:lstStyle/>
          <a:p>
            <a:r>
              <a:rPr lang="en-AU" sz="4000" b="1" dirty="0">
                <a:solidFill>
                  <a:srgbClr val="2D6069"/>
                </a:solidFill>
              </a:rPr>
              <a:t>Referencing</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0613" y="173181"/>
            <a:ext cx="559496" cy="461665"/>
          </a:xfrm>
          <a:prstGeom prst="rect">
            <a:avLst/>
          </a:prstGeom>
        </p:spPr>
      </p:pic>
      <p:sp>
        <p:nvSpPr>
          <p:cNvPr id="15" name="TextBox 14">
            <a:extLst>
              <a:ext uri="{FF2B5EF4-FFF2-40B4-BE49-F238E27FC236}">
                <a16:creationId xmlns:a16="http://schemas.microsoft.com/office/drawing/2014/main" id="{975958D3-8240-8347-B6F1-68224727BE12}"/>
              </a:ext>
            </a:extLst>
          </p:cNvPr>
          <p:cNvSpPr txBox="1"/>
          <p:nvPr/>
        </p:nvSpPr>
        <p:spPr>
          <a:xfrm>
            <a:off x="407688" y="2607472"/>
            <a:ext cx="5032565" cy="3785652"/>
          </a:xfrm>
          <a:prstGeom prst="rect">
            <a:avLst/>
          </a:prstGeom>
          <a:solidFill>
            <a:schemeClr val="bg2">
              <a:lumMod val="60000"/>
              <a:lumOff val="40000"/>
            </a:schemeClr>
          </a:solidFill>
        </p:spPr>
        <p:txBody>
          <a:bodyPr wrap="square" rtlCol="0">
            <a:spAutoFit/>
          </a:bodyPr>
          <a:lstStyle/>
          <a:p>
            <a:r>
              <a:rPr lang="en-US" sz="2400" dirty="0"/>
              <a:t>Make sure your submit a </a:t>
            </a:r>
            <a:r>
              <a:rPr lang="en-US" sz="2400" b="1" dirty="0"/>
              <a:t>reference list </a:t>
            </a:r>
            <a:r>
              <a:rPr lang="en-US" sz="2400" dirty="0"/>
              <a:t>at the end of your investigation report (in alphabetical order).</a:t>
            </a:r>
          </a:p>
          <a:p>
            <a:endParaRPr lang="en-US" sz="2400" dirty="0"/>
          </a:p>
          <a:p>
            <a:r>
              <a:rPr lang="en-US" sz="2400" dirty="0"/>
              <a:t>Don’t forget that you need to write in-text references as well at the end of a sentence the reference was used. </a:t>
            </a:r>
          </a:p>
          <a:p>
            <a:endParaRPr lang="en-US" sz="2400" dirty="0"/>
          </a:p>
        </p:txBody>
      </p:sp>
      <p:sp>
        <p:nvSpPr>
          <p:cNvPr id="2" name="Rectangle 1">
            <a:extLst>
              <a:ext uri="{FF2B5EF4-FFF2-40B4-BE49-F238E27FC236}">
                <a16:creationId xmlns:a16="http://schemas.microsoft.com/office/drawing/2014/main" id="{8A4A7D46-9559-3944-984B-1455D90AE8E5}"/>
              </a:ext>
            </a:extLst>
          </p:cNvPr>
          <p:cNvSpPr/>
          <p:nvPr/>
        </p:nvSpPr>
        <p:spPr>
          <a:xfrm>
            <a:off x="5892799" y="2515139"/>
            <a:ext cx="6007101" cy="3970318"/>
          </a:xfrm>
          <a:prstGeom prst="rect">
            <a:avLst/>
          </a:prstGeom>
          <a:solidFill>
            <a:srgbClr val="82E2EE"/>
          </a:solidFill>
        </p:spPr>
        <p:txBody>
          <a:bodyPr wrap="square">
            <a:spAutoFit/>
          </a:bodyPr>
          <a:lstStyle/>
          <a:p>
            <a:pPr algn="ctr"/>
            <a:r>
              <a:rPr lang="en-US" dirty="0"/>
              <a:t>Example</a:t>
            </a:r>
          </a:p>
          <a:p>
            <a:pPr>
              <a:spcAft>
                <a:spcPts val="0"/>
              </a:spcAft>
            </a:pPr>
            <a:endParaRPr lang="en-AU" dirty="0">
              <a:latin typeface="Times" pitchFamily="2" charset="0"/>
              <a:ea typeface="MS Mincho" panose="02020609040205080304" pitchFamily="49" charset="-128"/>
              <a:cs typeface="Times New Roman" panose="02020603050405020304" pitchFamily="18" charset="0"/>
            </a:endParaRPr>
          </a:p>
          <a:p>
            <a:pPr>
              <a:spcAft>
                <a:spcPts val="0"/>
              </a:spcAft>
            </a:pPr>
            <a:r>
              <a:rPr lang="en-AU" u="sng" dirty="0">
                <a:latin typeface="Times" pitchFamily="2" charset="0"/>
                <a:ea typeface="MS Mincho" panose="02020609040205080304" pitchFamily="49" charset="-128"/>
                <a:cs typeface="Times New Roman" panose="02020603050405020304" pitchFamily="18" charset="0"/>
              </a:rPr>
              <a:t>In text:</a:t>
            </a:r>
          </a:p>
          <a:p>
            <a:pPr>
              <a:spcAft>
                <a:spcPts val="0"/>
              </a:spcAft>
            </a:pPr>
            <a:r>
              <a:rPr lang="en-AU" dirty="0">
                <a:latin typeface="Times" pitchFamily="2" charset="0"/>
                <a:ea typeface="MS Mincho" panose="02020609040205080304" pitchFamily="49" charset="-128"/>
                <a:cs typeface="Times New Roman" panose="02020603050405020304" pitchFamily="18" charset="0"/>
              </a:rPr>
              <a:t>According to the Australian Psychological Society (2008), substance abuse is…</a:t>
            </a:r>
          </a:p>
          <a:p>
            <a:pPr>
              <a:spcAft>
                <a:spcPts val="0"/>
              </a:spcAft>
            </a:pPr>
            <a:r>
              <a:rPr lang="en-AU" i="1" dirty="0">
                <a:latin typeface="Times" pitchFamily="2" charset="0"/>
                <a:ea typeface="MS Mincho" panose="02020609040205080304" pitchFamily="49" charset="-128"/>
                <a:cs typeface="Times New Roman" panose="02020603050405020304" pitchFamily="18" charset="0"/>
              </a:rPr>
              <a:t>or</a:t>
            </a:r>
          </a:p>
          <a:p>
            <a:pPr>
              <a:spcAft>
                <a:spcPts val="0"/>
              </a:spcAft>
            </a:pPr>
            <a:r>
              <a:rPr lang="en-AU" dirty="0">
                <a:latin typeface="Times" pitchFamily="2" charset="0"/>
                <a:ea typeface="MS Mincho" panose="02020609040205080304" pitchFamily="49" charset="-128"/>
                <a:cs typeface="Times New Roman" panose="02020603050405020304" pitchFamily="18" charset="0"/>
              </a:rPr>
              <a:t>Substance abuse is a series issue for mental health (Australian Psychological Society, 2008).</a:t>
            </a:r>
          </a:p>
          <a:p>
            <a:pPr>
              <a:spcAft>
                <a:spcPts val="0"/>
              </a:spcAft>
            </a:pPr>
            <a:endParaRPr lang="en-AU" dirty="0">
              <a:latin typeface="Times" pitchFamily="2" charset="0"/>
              <a:ea typeface="MS Mincho" panose="02020609040205080304" pitchFamily="49" charset="-128"/>
              <a:cs typeface="Times New Roman" panose="02020603050405020304" pitchFamily="18" charset="0"/>
            </a:endParaRPr>
          </a:p>
          <a:p>
            <a:pPr>
              <a:spcAft>
                <a:spcPts val="0"/>
              </a:spcAft>
            </a:pPr>
            <a:r>
              <a:rPr lang="en-AU" u="sng" dirty="0">
                <a:latin typeface="Times" pitchFamily="2" charset="0"/>
                <a:ea typeface="MS Mincho" panose="02020609040205080304" pitchFamily="49" charset="-128"/>
                <a:cs typeface="Times New Roman" panose="02020603050405020304" pitchFamily="18" charset="0"/>
              </a:rPr>
              <a:t>Reference for the reference list:</a:t>
            </a:r>
          </a:p>
          <a:p>
            <a:pPr>
              <a:spcAft>
                <a:spcPts val="0"/>
              </a:spcAft>
            </a:pPr>
            <a:r>
              <a:rPr lang="en-AU" dirty="0">
                <a:latin typeface="Times" pitchFamily="2" charset="0"/>
                <a:ea typeface="MS Mincho" panose="02020609040205080304" pitchFamily="49" charset="-128"/>
                <a:cs typeface="Times New Roman" panose="02020603050405020304" pitchFamily="18" charset="0"/>
              </a:rPr>
              <a:t>Australian Psychological Society. (2008). </a:t>
            </a:r>
            <a:r>
              <a:rPr lang="en-AU" i="1" dirty="0">
                <a:latin typeface="Times" pitchFamily="2" charset="0"/>
                <a:ea typeface="MS Mincho" panose="02020609040205080304" pitchFamily="49" charset="-128"/>
                <a:cs typeface="Times New Roman" panose="02020603050405020304" pitchFamily="18" charset="0"/>
              </a:rPr>
              <a:t>Substance abuse: Position statement.</a:t>
            </a:r>
            <a:r>
              <a:rPr lang="en-AU" dirty="0">
                <a:latin typeface="Times" pitchFamily="2" charset="0"/>
                <a:ea typeface="MS Mincho" panose="02020609040205080304" pitchFamily="49" charset="-128"/>
                <a:cs typeface="Times New Roman" panose="02020603050405020304" pitchFamily="18" charset="0"/>
              </a:rPr>
              <a:t> Retrieved from </a:t>
            </a:r>
            <a:r>
              <a:rPr lang="en-AU" dirty="0">
                <a:solidFill>
                  <a:srgbClr val="0000FF"/>
                </a:solidFill>
                <a:latin typeface="Times" pitchFamily="2" charset="0"/>
                <a:ea typeface="MS Mincho" panose="02020609040205080304" pitchFamily="49" charset="-128"/>
                <a:cs typeface="Times New Roman" panose="02020603050405020304" pitchFamily="18" charset="0"/>
                <a:hlinkClick r:id="rId3"/>
              </a:rPr>
              <a:t>http://www.psychology.org.au/publications/statements/substance/</a:t>
            </a:r>
            <a:endParaRPr lang="en-AU" sz="2800" dirty="0">
              <a:effectLst/>
              <a:latin typeface="Cambria" panose="02040503050406030204" pitchFamily="18" charset="0"/>
              <a:ea typeface="MS Mincho" panose="02020609040205080304" pitchFamily="49" charset="-128"/>
              <a:cs typeface="Times New Roman" panose="02020603050405020304" pitchFamily="18" charset="0"/>
            </a:endParaRPr>
          </a:p>
        </p:txBody>
      </p:sp>
      <p:pic>
        <p:nvPicPr>
          <p:cNvPr id="9" name="Picture 8">
            <a:extLst>
              <a:ext uri="{FF2B5EF4-FFF2-40B4-BE49-F238E27FC236}">
                <a16:creationId xmlns:a16="http://schemas.microsoft.com/office/drawing/2014/main" id="{0867A296-BFE9-4847-9B14-8562E7B93250}"/>
              </a:ext>
            </a:extLst>
          </p:cNvPr>
          <p:cNvPicPr>
            <a:picLocks noChangeAspect="1"/>
          </p:cNvPicPr>
          <p:nvPr/>
        </p:nvPicPr>
        <p:blipFill>
          <a:blip r:embed="rId4"/>
          <a:stretch>
            <a:fillRect/>
          </a:stretch>
        </p:blipFill>
        <p:spPr>
          <a:xfrm>
            <a:off x="1137442" y="840973"/>
            <a:ext cx="9804400" cy="1079500"/>
          </a:xfrm>
          <a:prstGeom prst="rect">
            <a:avLst/>
          </a:prstGeom>
        </p:spPr>
      </p:pic>
      <p:sp>
        <p:nvSpPr>
          <p:cNvPr id="10" name="Rectangle 9">
            <a:extLst>
              <a:ext uri="{FF2B5EF4-FFF2-40B4-BE49-F238E27FC236}">
                <a16:creationId xmlns:a16="http://schemas.microsoft.com/office/drawing/2014/main" id="{D0F6C5AB-1E06-2D41-8CF5-E8CA9D8B66B4}"/>
              </a:ext>
            </a:extLst>
          </p:cNvPr>
          <p:cNvSpPr/>
          <p:nvPr/>
        </p:nvSpPr>
        <p:spPr>
          <a:xfrm>
            <a:off x="1324577" y="1218238"/>
            <a:ext cx="8231352" cy="421076"/>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B4B7E16D-1129-464C-B6F9-89625F9F987C}"/>
              </a:ext>
            </a:extLst>
          </p:cNvPr>
          <p:cNvSpPr txBox="1"/>
          <p:nvPr/>
        </p:nvSpPr>
        <p:spPr>
          <a:xfrm rot="16200000">
            <a:off x="-1002060" y="9783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spTree>
    <p:extLst>
      <p:ext uri="{BB962C8B-B14F-4D97-AF65-F5344CB8AC3E}">
        <p14:creationId xmlns:p14="http://schemas.microsoft.com/office/powerpoint/2010/main" val="2961672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4233946" y="153974"/>
            <a:ext cx="5176271" cy="707886"/>
          </a:xfrm>
          <a:prstGeom prst="rect">
            <a:avLst/>
          </a:prstGeom>
          <a:noFill/>
        </p:spPr>
        <p:txBody>
          <a:bodyPr wrap="square" rtlCol="0">
            <a:spAutoFit/>
          </a:bodyPr>
          <a:lstStyle/>
          <a:p>
            <a:r>
              <a:rPr lang="en-AU" sz="4000" b="1" dirty="0">
                <a:solidFill>
                  <a:srgbClr val="2D6069"/>
                </a:solidFill>
              </a:rPr>
              <a:t>Referencing</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0613" y="173181"/>
            <a:ext cx="559496" cy="461665"/>
          </a:xfrm>
          <a:prstGeom prst="rect">
            <a:avLst/>
          </a:prstGeom>
        </p:spPr>
      </p:pic>
      <p:sp>
        <p:nvSpPr>
          <p:cNvPr id="15" name="TextBox 14">
            <a:extLst>
              <a:ext uri="{FF2B5EF4-FFF2-40B4-BE49-F238E27FC236}">
                <a16:creationId xmlns:a16="http://schemas.microsoft.com/office/drawing/2014/main" id="{975958D3-8240-8347-B6F1-68224727BE12}"/>
              </a:ext>
            </a:extLst>
          </p:cNvPr>
          <p:cNvSpPr txBox="1"/>
          <p:nvPr/>
        </p:nvSpPr>
        <p:spPr>
          <a:xfrm>
            <a:off x="288735" y="1140762"/>
            <a:ext cx="11250896" cy="523220"/>
          </a:xfrm>
          <a:prstGeom prst="rect">
            <a:avLst/>
          </a:prstGeom>
          <a:noFill/>
        </p:spPr>
        <p:txBody>
          <a:bodyPr wrap="square" rtlCol="0">
            <a:spAutoFit/>
          </a:bodyPr>
          <a:lstStyle/>
          <a:p>
            <a:r>
              <a:rPr lang="en-US" sz="2800" dirty="0"/>
              <a:t>Other examples</a:t>
            </a:r>
          </a:p>
        </p:txBody>
      </p:sp>
      <p:graphicFrame>
        <p:nvGraphicFramePr>
          <p:cNvPr id="10" name="Table 9">
            <a:extLst>
              <a:ext uri="{FF2B5EF4-FFF2-40B4-BE49-F238E27FC236}">
                <a16:creationId xmlns:a16="http://schemas.microsoft.com/office/drawing/2014/main" id="{02113BA9-B069-EB4D-8CEA-5B18EDD538B1}"/>
              </a:ext>
            </a:extLst>
          </p:cNvPr>
          <p:cNvGraphicFramePr>
            <a:graphicFrameLocks noGrp="1"/>
          </p:cNvGraphicFramePr>
          <p:nvPr>
            <p:extLst>
              <p:ext uri="{D42A27DB-BD31-4B8C-83A1-F6EECF244321}">
                <p14:modId xmlns:p14="http://schemas.microsoft.com/office/powerpoint/2010/main" val="2938003043"/>
              </p:ext>
            </p:extLst>
          </p:nvPr>
        </p:nvGraphicFramePr>
        <p:xfrm>
          <a:off x="495301" y="1814298"/>
          <a:ext cx="10562382" cy="4553257"/>
        </p:xfrm>
        <a:graphic>
          <a:graphicData uri="http://schemas.openxmlformats.org/drawingml/2006/table">
            <a:tbl>
              <a:tblPr firstRow="1" firstCol="1" bandRow="1">
                <a:tableStyleId>{5C22544A-7EE6-4342-B048-85BDC9FD1C3A}</a:tableStyleId>
              </a:tblPr>
              <a:tblGrid>
                <a:gridCol w="2569884">
                  <a:extLst>
                    <a:ext uri="{9D8B030D-6E8A-4147-A177-3AD203B41FA5}">
                      <a16:colId xmlns:a16="http://schemas.microsoft.com/office/drawing/2014/main" val="3050665288"/>
                    </a:ext>
                  </a:extLst>
                </a:gridCol>
                <a:gridCol w="7992498">
                  <a:extLst>
                    <a:ext uri="{9D8B030D-6E8A-4147-A177-3AD203B41FA5}">
                      <a16:colId xmlns:a16="http://schemas.microsoft.com/office/drawing/2014/main" val="3204441265"/>
                    </a:ext>
                  </a:extLst>
                </a:gridCol>
              </a:tblGrid>
              <a:tr h="493711">
                <a:tc>
                  <a:txBody>
                    <a:bodyPr/>
                    <a:lstStyle/>
                    <a:p>
                      <a:pPr algn="l">
                        <a:spcAft>
                          <a:spcPts val="0"/>
                        </a:spcAft>
                      </a:pPr>
                      <a:r>
                        <a:rPr lang="en-AU" sz="1800" dirty="0">
                          <a:effectLst/>
                        </a:rPr>
                        <a:t>SOURCE</a:t>
                      </a: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nchor="ctr"/>
                </a:tc>
                <a:tc>
                  <a:txBody>
                    <a:bodyPr/>
                    <a:lstStyle/>
                    <a:p>
                      <a:pPr marL="457200" indent="-457200" algn="l">
                        <a:spcAft>
                          <a:spcPts val="0"/>
                        </a:spcAft>
                      </a:pPr>
                      <a:r>
                        <a:rPr lang="en-AU" sz="1800">
                          <a:effectLst/>
                        </a:rPr>
                        <a:t> How to reference at the end of the text</a:t>
                      </a:r>
                      <a:endParaRPr lang="en-AU" sz="180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nchor="ctr"/>
                </a:tc>
                <a:extLst>
                  <a:ext uri="{0D108BD9-81ED-4DB2-BD59-A6C34878D82A}">
                    <a16:rowId xmlns:a16="http://schemas.microsoft.com/office/drawing/2014/main" val="298133181"/>
                  </a:ext>
                </a:extLst>
              </a:tr>
              <a:tr h="987422">
                <a:tc>
                  <a:txBody>
                    <a:bodyPr/>
                    <a:lstStyle/>
                    <a:p>
                      <a:pPr algn="l">
                        <a:spcAft>
                          <a:spcPts val="0"/>
                        </a:spcAft>
                      </a:pPr>
                      <a:r>
                        <a:rPr lang="en-AU" sz="1800">
                          <a:effectLst/>
                        </a:rPr>
                        <a:t>Web page</a:t>
                      </a:r>
                      <a:endParaRPr lang="en-AU" sz="180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tc>
                  <a:txBody>
                    <a:bodyPr/>
                    <a:lstStyle/>
                    <a:p>
                      <a:pPr algn="l">
                        <a:spcAft>
                          <a:spcPts val="0"/>
                        </a:spcAft>
                      </a:pPr>
                      <a:r>
                        <a:rPr lang="en-AU" sz="1800" dirty="0">
                          <a:effectLst/>
                        </a:rPr>
                        <a:t>Australian Psychological Society. (2008). </a:t>
                      </a:r>
                      <a:r>
                        <a:rPr lang="en-AU" sz="1800" i="1" dirty="0">
                          <a:effectLst/>
                        </a:rPr>
                        <a:t>Substance abuse: Position statement. </a:t>
                      </a:r>
                      <a:r>
                        <a:rPr lang="en-AU" sz="1800" dirty="0">
                          <a:effectLst/>
                        </a:rPr>
                        <a:t>Retrieved from </a:t>
                      </a:r>
                      <a:r>
                        <a:rPr lang="en-AU" sz="1800" u="sng" dirty="0">
                          <a:effectLst/>
                          <a:hlinkClick r:id="rId3"/>
                        </a:rPr>
                        <a:t>http://www.psychology.org.au/publications/statements/substance/</a:t>
                      </a: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extLst>
                  <a:ext uri="{0D108BD9-81ED-4DB2-BD59-A6C34878D82A}">
                    <a16:rowId xmlns:a16="http://schemas.microsoft.com/office/drawing/2014/main" val="2094601542"/>
                  </a:ext>
                </a:extLst>
              </a:tr>
              <a:tr h="987422">
                <a:tc>
                  <a:txBody>
                    <a:bodyPr/>
                    <a:lstStyle/>
                    <a:p>
                      <a:pPr algn="l">
                        <a:spcAft>
                          <a:spcPts val="0"/>
                        </a:spcAft>
                      </a:pPr>
                      <a:r>
                        <a:rPr lang="en-AU" sz="1800">
                          <a:effectLst/>
                        </a:rPr>
                        <a:t>Web page: No author</a:t>
                      </a:r>
                      <a:endParaRPr lang="en-AU" sz="180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tc>
                  <a:txBody>
                    <a:bodyPr/>
                    <a:lstStyle/>
                    <a:p>
                      <a:pPr algn="l">
                        <a:spcAft>
                          <a:spcPts val="0"/>
                        </a:spcAft>
                      </a:pPr>
                      <a:r>
                        <a:rPr lang="en-AU" sz="1800" i="1" dirty="0">
                          <a:effectLst/>
                        </a:rPr>
                        <a:t>Improve indigenous housing now, governments told</a:t>
                      </a:r>
                      <a:r>
                        <a:rPr lang="en-AU" sz="1800" dirty="0">
                          <a:effectLst/>
                        </a:rPr>
                        <a:t>. (2007). Retrieved from </a:t>
                      </a:r>
                      <a:r>
                        <a:rPr lang="en-AU" sz="1800" u="sng" dirty="0">
                          <a:effectLst/>
                          <a:hlinkClick r:id="rId4"/>
                        </a:rPr>
                        <a:t>http://www.raia.com.au/i-cms?page=10220</a:t>
                      </a: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extLst>
                  <a:ext uri="{0D108BD9-81ED-4DB2-BD59-A6C34878D82A}">
                    <a16:rowId xmlns:a16="http://schemas.microsoft.com/office/drawing/2014/main" val="3629215939"/>
                  </a:ext>
                </a:extLst>
              </a:tr>
              <a:tr h="987422">
                <a:tc>
                  <a:txBody>
                    <a:bodyPr/>
                    <a:lstStyle/>
                    <a:p>
                      <a:pPr algn="l">
                        <a:spcAft>
                          <a:spcPts val="0"/>
                        </a:spcAft>
                      </a:pPr>
                      <a:r>
                        <a:rPr lang="en-AU" sz="1800" dirty="0">
                          <a:effectLst/>
                        </a:rPr>
                        <a:t>Web page: No date</a:t>
                      </a: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tc>
                  <a:txBody>
                    <a:bodyPr/>
                    <a:lstStyle/>
                    <a:p>
                      <a:pPr algn="l">
                        <a:spcAft>
                          <a:spcPts val="0"/>
                        </a:spcAft>
                      </a:pPr>
                      <a:r>
                        <a:rPr lang="en-AU" sz="1800" dirty="0">
                          <a:effectLst/>
                        </a:rPr>
                        <a:t>Jones, M. D. (n.d.). </a:t>
                      </a:r>
                      <a:r>
                        <a:rPr lang="en-AU" sz="1800" i="1" dirty="0">
                          <a:effectLst/>
                        </a:rPr>
                        <a:t>Commentary on indigenous housing initiatives</a:t>
                      </a:r>
                      <a:r>
                        <a:rPr lang="en-AU" sz="1800" dirty="0">
                          <a:effectLst/>
                        </a:rPr>
                        <a:t>. Retrieved from </a:t>
                      </a:r>
                      <a:r>
                        <a:rPr lang="en-AU" sz="1800" u="sng" dirty="0">
                          <a:effectLst/>
                          <a:hlinkClick r:id="rId5"/>
                        </a:rPr>
                        <a:t>http://www.architecture.com.au</a:t>
                      </a: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extLst>
                  <a:ext uri="{0D108BD9-81ED-4DB2-BD59-A6C34878D82A}">
                    <a16:rowId xmlns:a16="http://schemas.microsoft.com/office/drawing/2014/main" val="4063593118"/>
                  </a:ext>
                </a:extLst>
              </a:tr>
              <a:tr h="987422">
                <a:tc>
                  <a:txBody>
                    <a:bodyPr/>
                    <a:lstStyle/>
                    <a:p>
                      <a:pPr algn="l">
                        <a:spcAft>
                          <a:spcPts val="0"/>
                        </a:spcAft>
                      </a:pPr>
                      <a:r>
                        <a:rPr lang="en-AU" sz="1800" dirty="0">
                          <a:effectLst/>
                          <a:latin typeface="Cambria" panose="02040503050406030204" pitchFamily="18" charset="0"/>
                          <a:ea typeface="MS Mincho" panose="02020609040205080304" pitchFamily="49" charset="-128"/>
                          <a:cs typeface="Times New Roman" panose="02020603050405020304" pitchFamily="18" charset="0"/>
                        </a:rPr>
                        <a:t>Journal article</a:t>
                      </a: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err="1">
                          <a:effectLst/>
                        </a:rPr>
                        <a:t>Myre</a:t>
                      </a:r>
                      <a:r>
                        <a:rPr lang="en-AU" sz="1800" dirty="0">
                          <a:effectLst/>
                        </a:rPr>
                        <a:t>, A. S., &amp; Door, H. (2011). </a:t>
                      </a:r>
                      <a:r>
                        <a:rPr lang="en-AU" sz="1800" i="0" dirty="0">
                          <a:effectLst/>
                        </a:rPr>
                        <a:t>The effect of mental well-being on education outcomes</a:t>
                      </a:r>
                      <a:r>
                        <a:rPr lang="en-AU" sz="1800" dirty="0">
                          <a:effectLst/>
                        </a:rPr>
                        <a:t>. </a:t>
                      </a:r>
                      <a:r>
                        <a:rPr lang="en-AU" sz="1800" i="1" dirty="0">
                          <a:effectLst/>
                        </a:rPr>
                        <a:t>Journal of Educational Psychology, 51</a:t>
                      </a:r>
                      <a:r>
                        <a:rPr lang="en-AU" sz="1800" i="0" dirty="0">
                          <a:effectLst/>
                        </a:rPr>
                        <a:t>(3), 1138-1139.</a:t>
                      </a:r>
                      <a:r>
                        <a:rPr lang="en-AU" sz="1800" dirty="0">
                          <a:effectLst/>
                        </a:rPr>
                        <a:t> Retrieved from </a:t>
                      </a:r>
                      <a:r>
                        <a:rPr lang="en-AU" sz="1800" u="sng" dirty="0">
                          <a:effectLst/>
                          <a:hlinkClick r:id="rId5"/>
                        </a:rPr>
                        <a:t>http://www.architecture.com.au</a:t>
                      </a: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p>
                      <a:pPr algn="l">
                        <a:spcAft>
                          <a:spcPts val="0"/>
                        </a:spcAft>
                      </a:pP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extLst>
                  <a:ext uri="{0D108BD9-81ED-4DB2-BD59-A6C34878D82A}">
                    <a16:rowId xmlns:a16="http://schemas.microsoft.com/office/drawing/2014/main" val="4291237371"/>
                  </a:ext>
                </a:extLst>
              </a:tr>
            </a:tbl>
          </a:graphicData>
        </a:graphic>
      </p:graphicFrame>
      <p:sp>
        <p:nvSpPr>
          <p:cNvPr id="6" name="TextBox 5">
            <a:extLst>
              <a:ext uri="{FF2B5EF4-FFF2-40B4-BE49-F238E27FC236}">
                <a16:creationId xmlns:a16="http://schemas.microsoft.com/office/drawing/2014/main" id="{9B20C956-993A-7145-A61B-B526D89B90AE}"/>
              </a:ext>
            </a:extLst>
          </p:cNvPr>
          <p:cNvSpPr txBox="1"/>
          <p:nvPr/>
        </p:nvSpPr>
        <p:spPr>
          <a:xfrm rot="16200000">
            <a:off x="-1002060" y="9910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spTree>
    <p:extLst>
      <p:ext uri="{BB962C8B-B14F-4D97-AF65-F5344CB8AC3E}">
        <p14:creationId xmlns:p14="http://schemas.microsoft.com/office/powerpoint/2010/main" val="1051962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4233946" y="153974"/>
            <a:ext cx="5176271" cy="707886"/>
          </a:xfrm>
          <a:prstGeom prst="rect">
            <a:avLst/>
          </a:prstGeom>
          <a:noFill/>
        </p:spPr>
        <p:txBody>
          <a:bodyPr wrap="square" rtlCol="0">
            <a:spAutoFit/>
          </a:bodyPr>
          <a:lstStyle/>
          <a:p>
            <a:r>
              <a:rPr lang="en-AU" sz="4000" b="1" dirty="0">
                <a:solidFill>
                  <a:srgbClr val="2D6069"/>
                </a:solidFill>
              </a:rPr>
              <a:t>Referencing </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0613" y="173181"/>
            <a:ext cx="559496" cy="461665"/>
          </a:xfrm>
          <a:prstGeom prst="rect">
            <a:avLst/>
          </a:prstGeom>
        </p:spPr>
      </p:pic>
      <p:pic>
        <p:nvPicPr>
          <p:cNvPr id="9" name="Picture 8">
            <a:extLst>
              <a:ext uri="{FF2B5EF4-FFF2-40B4-BE49-F238E27FC236}">
                <a16:creationId xmlns:a16="http://schemas.microsoft.com/office/drawing/2014/main" id="{0867A296-BFE9-4847-9B14-8562E7B93250}"/>
              </a:ext>
            </a:extLst>
          </p:cNvPr>
          <p:cNvPicPr>
            <a:picLocks noChangeAspect="1"/>
          </p:cNvPicPr>
          <p:nvPr/>
        </p:nvPicPr>
        <p:blipFill>
          <a:blip r:embed="rId3"/>
          <a:stretch>
            <a:fillRect/>
          </a:stretch>
        </p:blipFill>
        <p:spPr>
          <a:xfrm>
            <a:off x="1137442" y="840973"/>
            <a:ext cx="9804400" cy="1079500"/>
          </a:xfrm>
          <a:prstGeom prst="rect">
            <a:avLst/>
          </a:prstGeom>
        </p:spPr>
      </p:pic>
      <p:sp>
        <p:nvSpPr>
          <p:cNvPr id="10" name="Rectangle 9">
            <a:extLst>
              <a:ext uri="{FF2B5EF4-FFF2-40B4-BE49-F238E27FC236}">
                <a16:creationId xmlns:a16="http://schemas.microsoft.com/office/drawing/2014/main" id="{D0F6C5AB-1E06-2D41-8CF5-E8CA9D8B66B4}"/>
              </a:ext>
            </a:extLst>
          </p:cNvPr>
          <p:cNvSpPr/>
          <p:nvPr/>
        </p:nvSpPr>
        <p:spPr>
          <a:xfrm>
            <a:off x="1324577" y="1218238"/>
            <a:ext cx="8231352" cy="421076"/>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7" name="Picture 16">
            <a:extLst>
              <a:ext uri="{FF2B5EF4-FFF2-40B4-BE49-F238E27FC236}">
                <a16:creationId xmlns:a16="http://schemas.microsoft.com/office/drawing/2014/main" id="{86C01F5F-09C9-B84E-9858-739D2EE36FF0}"/>
              </a:ext>
            </a:extLst>
          </p:cNvPr>
          <p:cNvPicPr>
            <a:picLocks noChangeAspect="1"/>
          </p:cNvPicPr>
          <p:nvPr/>
        </p:nvPicPr>
        <p:blipFill>
          <a:blip r:embed="rId4"/>
          <a:stretch>
            <a:fillRect/>
          </a:stretch>
        </p:blipFill>
        <p:spPr>
          <a:xfrm>
            <a:off x="5985465" y="2641600"/>
            <a:ext cx="4495800" cy="1016000"/>
          </a:xfrm>
          <a:prstGeom prst="rect">
            <a:avLst/>
          </a:prstGeom>
        </p:spPr>
      </p:pic>
      <p:sp>
        <p:nvSpPr>
          <p:cNvPr id="11" name="Rectangle 10">
            <a:extLst>
              <a:ext uri="{FF2B5EF4-FFF2-40B4-BE49-F238E27FC236}">
                <a16:creationId xmlns:a16="http://schemas.microsoft.com/office/drawing/2014/main" id="{7955AD9D-D8FE-4D44-A438-DCF46DD976D0}"/>
              </a:ext>
            </a:extLst>
          </p:cNvPr>
          <p:cNvSpPr/>
          <p:nvPr/>
        </p:nvSpPr>
        <p:spPr>
          <a:xfrm>
            <a:off x="7137898" y="3088794"/>
            <a:ext cx="3250702" cy="327506"/>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47DDF474-E6C2-A042-B937-06D095516F1A}"/>
              </a:ext>
            </a:extLst>
          </p:cNvPr>
          <p:cNvSpPr/>
          <p:nvPr/>
        </p:nvSpPr>
        <p:spPr>
          <a:xfrm>
            <a:off x="6039642" y="3373197"/>
            <a:ext cx="1491458" cy="284403"/>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2" name="Picture 21">
            <a:extLst>
              <a:ext uri="{FF2B5EF4-FFF2-40B4-BE49-F238E27FC236}">
                <a16:creationId xmlns:a16="http://schemas.microsoft.com/office/drawing/2014/main" id="{DED5FA90-7E1A-5B4E-A736-5F99D0CD95A3}"/>
              </a:ext>
            </a:extLst>
          </p:cNvPr>
          <p:cNvPicPr>
            <a:picLocks noChangeAspect="1"/>
          </p:cNvPicPr>
          <p:nvPr/>
        </p:nvPicPr>
        <p:blipFill>
          <a:blip r:embed="rId5"/>
          <a:stretch>
            <a:fillRect/>
          </a:stretch>
        </p:blipFill>
        <p:spPr>
          <a:xfrm>
            <a:off x="5905500" y="4279900"/>
            <a:ext cx="4483100" cy="787400"/>
          </a:xfrm>
          <a:prstGeom prst="rect">
            <a:avLst/>
          </a:prstGeom>
        </p:spPr>
      </p:pic>
      <p:sp>
        <p:nvSpPr>
          <p:cNvPr id="23" name="Rectangle 22">
            <a:extLst>
              <a:ext uri="{FF2B5EF4-FFF2-40B4-BE49-F238E27FC236}">
                <a16:creationId xmlns:a16="http://schemas.microsoft.com/office/drawing/2014/main" id="{A13938B7-C163-8E4C-AE25-6593C934182A}"/>
              </a:ext>
            </a:extLst>
          </p:cNvPr>
          <p:cNvSpPr/>
          <p:nvPr/>
        </p:nvSpPr>
        <p:spPr>
          <a:xfrm>
            <a:off x="5905749" y="4785398"/>
            <a:ext cx="1625351" cy="358102"/>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49C07392-86BF-E940-BC32-5FF434F61DB8}"/>
              </a:ext>
            </a:extLst>
          </p:cNvPr>
          <p:cNvPicPr>
            <a:picLocks noChangeAspect="1"/>
          </p:cNvPicPr>
          <p:nvPr/>
        </p:nvPicPr>
        <p:blipFill>
          <a:blip r:embed="rId6"/>
          <a:stretch>
            <a:fillRect/>
          </a:stretch>
        </p:blipFill>
        <p:spPr>
          <a:xfrm>
            <a:off x="1239591" y="1920473"/>
            <a:ext cx="3699772" cy="4899698"/>
          </a:xfrm>
          <a:prstGeom prst="rect">
            <a:avLst/>
          </a:prstGeom>
        </p:spPr>
      </p:pic>
      <p:sp>
        <p:nvSpPr>
          <p:cNvPr id="25" name="TextBox 24">
            <a:extLst>
              <a:ext uri="{FF2B5EF4-FFF2-40B4-BE49-F238E27FC236}">
                <a16:creationId xmlns:a16="http://schemas.microsoft.com/office/drawing/2014/main" id="{55AD8CCF-9783-8B43-839F-663DD4ACE6D8}"/>
              </a:ext>
            </a:extLst>
          </p:cNvPr>
          <p:cNvSpPr txBox="1"/>
          <p:nvPr/>
        </p:nvSpPr>
        <p:spPr>
          <a:xfrm rot="16200000">
            <a:off x="-1800948" y="3334434"/>
            <a:ext cx="5176271" cy="646331"/>
          </a:xfrm>
          <a:prstGeom prst="rect">
            <a:avLst/>
          </a:prstGeom>
          <a:noFill/>
        </p:spPr>
        <p:txBody>
          <a:bodyPr wrap="square" rtlCol="0">
            <a:spAutoFit/>
          </a:bodyPr>
          <a:lstStyle/>
          <a:p>
            <a:r>
              <a:rPr lang="en-AU" sz="3600" b="1" dirty="0">
                <a:solidFill>
                  <a:srgbClr val="2D6069"/>
                </a:solidFill>
              </a:rPr>
              <a:t>Referencing List </a:t>
            </a:r>
          </a:p>
        </p:txBody>
      </p:sp>
      <p:sp>
        <p:nvSpPr>
          <p:cNvPr id="26" name="TextBox 25">
            <a:extLst>
              <a:ext uri="{FF2B5EF4-FFF2-40B4-BE49-F238E27FC236}">
                <a16:creationId xmlns:a16="http://schemas.microsoft.com/office/drawing/2014/main" id="{35A6E36A-C421-FF44-AA6C-F191FB803058}"/>
              </a:ext>
            </a:extLst>
          </p:cNvPr>
          <p:cNvSpPr txBox="1"/>
          <p:nvPr/>
        </p:nvSpPr>
        <p:spPr>
          <a:xfrm rot="16200000">
            <a:off x="2980596" y="1762299"/>
            <a:ext cx="5176271" cy="646331"/>
          </a:xfrm>
          <a:prstGeom prst="rect">
            <a:avLst/>
          </a:prstGeom>
          <a:noFill/>
        </p:spPr>
        <p:txBody>
          <a:bodyPr wrap="square" rtlCol="0">
            <a:spAutoFit/>
          </a:bodyPr>
          <a:lstStyle/>
          <a:p>
            <a:r>
              <a:rPr lang="en-AU" sz="3600" b="1" dirty="0">
                <a:solidFill>
                  <a:srgbClr val="2D6069"/>
                </a:solidFill>
              </a:rPr>
              <a:t>In-text</a:t>
            </a:r>
          </a:p>
        </p:txBody>
      </p:sp>
      <p:sp>
        <p:nvSpPr>
          <p:cNvPr id="27" name="TextBox 26">
            <a:extLst>
              <a:ext uri="{FF2B5EF4-FFF2-40B4-BE49-F238E27FC236}">
                <a16:creationId xmlns:a16="http://schemas.microsoft.com/office/drawing/2014/main" id="{68F39ACA-E9B3-154A-A66C-3CD4A11FEB2F}"/>
              </a:ext>
            </a:extLst>
          </p:cNvPr>
          <p:cNvSpPr txBox="1"/>
          <p:nvPr/>
        </p:nvSpPr>
        <p:spPr>
          <a:xfrm rot="16200000">
            <a:off x="-1002060" y="9783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spTree>
    <p:extLst>
      <p:ext uri="{BB962C8B-B14F-4D97-AF65-F5344CB8AC3E}">
        <p14:creationId xmlns:p14="http://schemas.microsoft.com/office/powerpoint/2010/main" val="3888190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5E40A-5FB4-D74C-8F95-466AA94F7BD1}"/>
              </a:ext>
            </a:extLst>
          </p:cNvPr>
          <p:cNvSpPr>
            <a:spLocks noGrp="1"/>
          </p:cNvSpPr>
          <p:nvPr>
            <p:ph type="title"/>
          </p:nvPr>
        </p:nvSpPr>
        <p:spPr>
          <a:xfrm>
            <a:off x="235527" y="107759"/>
            <a:ext cx="6508377" cy="1617133"/>
          </a:xfrm>
        </p:spPr>
        <p:txBody>
          <a:bodyPr/>
          <a:lstStyle/>
          <a:p>
            <a:r>
              <a:rPr lang="en-AU" sz="5400" b="1" dirty="0"/>
              <a:t>Homework</a:t>
            </a:r>
          </a:p>
        </p:txBody>
      </p:sp>
      <p:sp>
        <p:nvSpPr>
          <p:cNvPr id="3" name="Content Placeholder 2">
            <a:extLst>
              <a:ext uri="{FF2B5EF4-FFF2-40B4-BE49-F238E27FC236}">
                <a16:creationId xmlns:a16="http://schemas.microsoft.com/office/drawing/2014/main" id="{69492060-9AC3-0B43-9E1B-8809CB7521FA}"/>
              </a:ext>
            </a:extLst>
          </p:cNvPr>
          <p:cNvSpPr>
            <a:spLocks noGrp="1"/>
          </p:cNvSpPr>
          <p:nvPr>
            <p:ph idx="1"/>
          </p:nvPr>
        </p:nvSpPr>
        <p:spPr>
          <a:xfrm>
            <a:off x="1728951" y="2335926"/>
            <a:ext cx="8415868" cy="3916363"/>
          </a:xfrm>
          <a:ln w="76200">
            <a:solidFill>
              <a:srgbClr val="0070C0"/>
            </a:solidFill>
          </a:ln>
        </p:spPr>
        <p:txBody>
          <a:bodyPr>
            <a:normAutofit/>
          </a:bodyPr>
          <a:lstStyle/>
          <a:p>
            <a:pPr marL="0" indent="0">
              <a:buNone/>
            </a:pPr>
            <a:r>
              <a:rPr lang="en-AU" sz="2400" dirty="0"/>
              <a:t>Before your next lesson, you must have:</a:t>
            </a:r>
          </a:p>
          <a:p>
            <a:pPr marL="0" indent="0">
              <a:buNone/>
            </a:pPr>
            <a:r>
              <a:rPr lang="en-AU" sz="2400" dirty="0"/>
              <a:t>DRAFTED YOUR DISCUSSION AND CONCLUSION</a:t>
            </a:r>
          </a:p>
          <a:p>
            <a:pPr marL="0" indent="0">
              <a:buNone/>
            </a:pPr>
            <a:endParaRPr lang="en-AU" sz="2400" dirty="0"/>
          </a:p>
          <a:p>
            <a:pPr marL="0" indent="0">
              <a:buNone/>
            </a:pPr>
            <a:r>
              <a:rPr lang="en-AU" sz="2400" dirty="0"/>
              <a:t>If you need support message me on SEQTA.</a:t>
            </a:r>
          </a:p>
          <a:p>
            <a:pPr marL="0" indent="0">
              <a:buNone/>
            </a:pPr>
            <a:endParaRPr lang="en-AU" sz="2400" dirty="0"/>
          </a:p>
        </p:txBody>
      </p:sp>
      <p:pic>
        <p:nvPicPr>
          <p:cNvPr id="5" name="Picture 4" descr="062608-glossy-black-icon-people-things-people-student-study.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4922" y="-44823"/>
            <a:ext cx="2178424" cy="2178424"/>
          </a:xfrm>
          <a:prstGeom prst="rect">
            <a:avLst/>
          </a:prstGeom>
        </p:spPr>
      </p:pic>
    </p:spTree>
    <p:extLst>
      <p:ext uri="{BB962C8B-B14F-4D97-AF65-F5344CB8AC3E}">
        <p14:creationId xmlns:p14="http://schemas.microsoft.com/office/powerpoint/2010/main" val="3438221955"/>
      </p:ext>
    </p:extLst>
  </p:cSld>
  <p:clrMapOvr>
    <a:masterClrMapping/>
  </p:clrMapOvr>
</p:sld>
</file>

<file path=ppt/theme/theme1.xml><?xml version="1.0" encoding="utf-8"?>
<a:theme xmlns:a="http://schemas.openxmlformats.org/drawingml/2006/main" name="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ABFCDE80-9FF4-EB43-9EB8-ADDCCB13B279}" vid="{9C6BB66C-35D3-EB49-8314-0F986D4FA8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Saba</Template>
  <TotalTime>4716</TotalTime>
  <Words>1291</Words>
  <Application>Microsoft Macintosh PowerPoint</Application>
  <PresentationFormat>Widescreen</PresentationFormat>
  <Paragraphs>132</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Cambria</vt:lpstr>
      <vt:lpstr>Century Gothic</vt:lpstr>
      <vt:lpstr>Times</vt:lpstr>
      <vt:lpstr>Wingdings 2</vt:lpstr>
      <vt:lpstr>Saba</vt:lpstr>
      <vt:lpstr> DO NOW   A researcher was examining a case study of a man who was unable to speak coherent sentences. The researcher conducted brain scans, structured interviews and recorded videos of his speech to make observations.  a) Identify: Subjective qualitative data  1. ________________ 2. ______________  Identify: Objective quantitative data 1.________________  b) Suggest another way to acquire objective quantitative data for this research.    </vt:lpstr>
      <vt:lpstr> DO NOW   Define extraneous variables and confounding variables     </vt:lpstr>
      <vt:lpstr>PowerPoint Presentation</vt:lpstr>
      <vt:lpstr>Experiments - controlling variables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DO NOW  [Insert Word]</dc:title>
  <dc:creator>DAVEY Sarah [Joseph Banks Secondary College]</dc:creator>
  <cp:lastModifiedBy>DAVEY Sarah [Joseph Banks Secondary College]</cp:lastModifiedBy>
  <cp:revision>27</cp:revision>
  <dcterms:created xsi:type="dcterms:W3CDTF">2020-02-26T04:17:00Z</dcterms:created>
  <dcterms:modified xsi:type="dcterms:W3CDTF">2021-08-15T07:07:40Z</dcterms:modified>
</cp:coreProperties>
</file>
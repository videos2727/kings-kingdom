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7"/>
  </p:notesMasterIdLst>
  <p:sldIdLst>
    <p:sldId id="318" r:id="rId3"/>
    <p:sldId id="317" r:id="rId4"/>
    <p:sldId id="262" r:id="rId5"/>
    <p:sldId id="263" r:id="rId6"/>
    <p:sldId id="402" r:id="rId7"/>
    <p:sldId id="405" r:id="rId8"/>
    <p:sldId id="404" r:id="rId9"/>
    <p:sldId id="391" r:id="rId10"/>
    <p:sldId id="357" r:id="rId11"/>
    <p:sldId id="377" r:id="rId12"/>
    <p:sldId id="382" r:id="rId13"/>
    <p:sldId id="378" r:id="rId14"/>
    <p:sldId id="379" r:id="rId15"/>
    <p:sldId id="380" r:id="rId16"/>
    <p:sldId id="407" r:id="rId17"/>
    <p:sldId id="280" r:id="rId18"/>
    <p:sldId id="282" r:id="rId19"/>
    <p:sldId id="388" r:id="rId20"/>
    <p:sldId id="279" r:id="rId21"/>
    <p:sldId id="366" r:id="rId22"/>
    <p:sldId id="367" r:id="rId23"/>
    <p:sldId id="403" r:id="rId24"/>
    <p:sldId id="384" r:id="rId25"/>
    <p:sldId id="39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7"/>
    <p:restoredTop sz="94437"/>
  </p:normalViewPr>
  <p:slideViewPr>
    <p:cSldViewPr snapToGrid="0" snapToObjects="1">
      <p:cViewPr varScale="1">
        <p:scale>
          <a:sx n="100" d="100"/>
          <a:sy n="100" d="100"/>
        </p:scale>
        <p:origin x="1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7BF24A-1588-E54A-B573-310CFAB4C9FD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FAC4BD-455D-5842-A08B-C3036E8712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good introduction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dirty="0">
              <a:solidFill>
                <a:schemeClr val="tx1"/>
              </a:solidFill>
            </a:rPr>
            <a:t> to the specific study taking place.</a:t>
          </a:r>
          <a:endParaRPr lang="en-GB" dirty="0">
            <a:solidFill>
              <a:schemeClr val="tx1"/>
            </a:solidFill>
          </a:endParaRPr>
        </a:p>
      </dgm:t>
    </dgm:pt>
    <dgm:pt modelId="{5EEC0D68-3CF7-6B45-8D26-D41EA15D518A}" type="parTrans" cxnId="{315B65C8-A328-CC4A-AE46-7D411B04E2BA}">
      <dgm:prSet/>
      <dgm:spPr/>
      <dgm:t>
        <a:bodyPr/>
        <a:lstStyle/>
        <a:p>
          <a:endParaRPr lang="en-GB"/>
        </a:p>
      </dgm:t>
    </dgm:pt>
    <dgm:pt modelId="{1FEBB8BA-E79E-0648-B722-00430753980B}" type="sibTrans" cxnId="{315B65C8-A328-CC4A-AE46-7D411B04E2BA}">
      <dgm:prSet/>
      <dgm:spPr/>
      <dgm:t>
        <a:bodyPr/>
        <a:lstStyle/>
        <a:p>
          <a:endParaRPr lang="en-GB"/>
        </a:p>
      </dgm:t>
    </dgm:pt>
    <dgm:pt modelId="{7642674A-3E59-494C-ADC4-F9FF02138B4E}">
      <dgm:prSet/>
      <dgm:spPr/>
      <dgm:t>
        <a:bodyPr/>
        <a:lstStyle/>
        <a:p>
          <a:endParaRPr lang="en-GB"/>
        </a:p>
      </dgm:t>
    </dgm:pt>
    <dgm:pt modelId="{2FC7CCA4-2754-D543-950F-83A7A0FEB859}" type="parTrans" cxnId="{8CCAB0F4-920E-6C4D-AAA7-0F509A78BB53}">
      <dgm:prSet/>
      <dgm:spPr/>
      <dgm:t>
        <a:bodyPr/>
        <a:lstStyle/>
        <a:p>
          <a:endParaRPr lang="en-GB"/>
        </a:p>
      </dgm:t>
    </dgm:pt>
    <dgm:pt modelId="{0FBD9251-DE03-C740-87C6-128EEFD736A7}" type="sibTrans" cxnId="{8CCAB0F4-920E-6C4D-AAA7-0F509A78BB53}">
      <dgm:prSet/>
      <dgm:spPr/>
      <dgm:t>
        <a:bodyPr/>
        <a:lstStyle/>
        <a:p>
          <a:endParaRPr lang="en-GB"/>
        </a:p>
      </dgm:t>
    </dgm:pt>
    <dgm:pt modelId="{F6E6CED5-C784-A342-9017-2628F177766D}" type="pres">
      <dgm:prSet presAssocID="{057BF24A-1588-E54A-B573-310CFAB4C9FD}" presName="Name0" presStyleCnt="0">
        <dgm:presLayoutVars>
          <dgm:chMax val="4"/>
          <dgm:resizeHandles val="exact"/>
        </dgm:presLayoutVars>
      </dgm:prSet>
      <dgm:spPr/>
    </dgm:pt>
    <dgm:pt modelId="{8378FAFE-CA85-B94E-BB42-1F57CE2F4EB1}" type="pres">
      <dgm:prSet presAssocID="{057BF24A-1588-E54A-B573-310CFAB4C9FD}" presName="ellipse" presStyleLbl="trBgShp" presStyleIdx="0" presStyleCnt="1"/>
      <dgm:spPr/>
    </dgm:pt>
    <dgm:pt modelId="{822E1A1F-149A-5A4D-BF24-7CE83B3E085B}" type="pres">
      <dgm:prSet presAssocID="{057BF24A-1588-E54A-B573-310CFAB4C9FD}" presName="arrow1" presStyleLbl="fgShp" presStyleIdx="0" presStyleCnt="1"/>
      <dgm:spPr/>
    </dgm:pt>
    <dgm:pt modelId="{2787C7BE-E62B-4743-8706-FBB8F4711B19}" type="pres">
      <dgm:prSet presAssocID="{057BF24A-1588-E54A-B573-310CFAB4C9FD}" presName="rectangle" presStyleLbl="revTx" presStyleIdx="0" presStyleCnt="1">
        <dgm:presLayoutVars>
          <dgm:bulletEnabled val="1"/>
        </dgm:presLayoutVars>
      </dgm:prSet>
      <dgm:spPr/>
    </dgm:pt>
    <dgm:pt modelId="{9A95F336-3858-1249-B42E-087773606FDC}" type="pres">
      <dgm:prSet presAssocID="{7642674A-3E59-494C-ADC4-F9FF02138B4E}" presName="item1" presStyleLbl="node1" presStyleIdx="0" presStyleCnt="1" custScaleX="189811" custScaleY="161526" custLinFactNeighborX="16958" custLinFactNeighborY="-6681">
        <dgm:presLayoutVars>
          <dgm:bulletEnabled val="1"/>
        </dgm:presLayoutVars>
      </dgm:prSet>
      <dgm:spPr/>
    </dgm:pt>
    <dgm:pt modelId="{0D6DA553-8701-3545-B1BF-11726DA502F7}" type="pres">
      <dgm:prSet presAssocID="{057BF24A-1588-E54A-B573-310CFAB4C9FD}" presName="funnel" presStyleLbl="trAlignAcc1" presStyleIdx="0" presStyleCnt="1" custScaleX="142857" custScaleY="132767"/>
      <dgm:spPr/>
    </dgm:pt>
  </dgm:ptLst>
  <dgm:cxnLst>
    <dgm:cxn modelId="{9547DF4F-B082-F14F-B599-9C293A94B2B7}" type="presOf" srcId="{057BF24A-1588-E54A-B573-310CFAB4C9FD}" destId="{F6E6CED5-C784-A342-9017-2628F177766D}" srcOrd="0" destOrd="0" presId="urn:microsoft.com/office/officeart/2005/8/layout/funnel1"/>
    <dgm:cxn modelId="{886953A5-489B-FC44-8214-1250A8C03A6F}" type="presOf" srcId="{7642674A-3E59-494C-ADC4-F9FF02138B4E}" destId="{2787C7BE-E62B-4743-8706-FBB8F4711B19}" srcOrd="0" destOrd="0" presId="urn:microsoft.com/office/officeart/2005/8/layout/funnel1"/>
    <dgm:cxn modelId="{0446EDA5-D0B0-D940-9C85-EE25C805DF95}" type="presOf" srcId="{D5FAC4BD-455D-5842-A08B-C3036E871234}" destId="{9A95F336-3858-1249-B42E-087773606FDC}" srcOrd="0" destOrd="0" presId="urn:microsoft.com/office/officeart/2005/8/layout/funnel1"/>
    <dgm:cxn modelId="{315B65C8-A328-CC4A-AE46-7D411B04E2BA}" srcId="{057BF24A-1588-E54A-B573-310CFAB4C9FD}" destId="{D5FAC4BD-455D-5842-A08B-C3036E871234}" srcOrd="0" destOrd="0" parTransId="{5EEC0D68-3CF7-6B45-8D26-D41EA15D518A}" sibTransId="{1FEBB8BA-E79E-0648-B722-00430753980B}"/>
    <dgm:cxn modelId="{8CCAB0F4-920E-6C4D-AAA7-0F509A78BB53}" srcId="{057BF24A-1588-E54A-B573-310CFAB4C9FD}" destId="{7642674A-3E59-494C-ADC4-F9FF02138B4E}" srcOrd="1" destOrd="0" parTransId="{2FC7CCA4-2754-D543-950F-83A7A0FEB859}" sibTransId="{0FBD9251-DE03-C740-87C6-128EEFD736A7}"/>
    <dgm:cxn modelId="{C3B658F8-8B27-3740-92E3-F5808E94F342}" type="presParOf" srcId="{F6E6CED5-C784-A342-9017-2628F177766D}" destId="{8378FAFE-CA85-B94E-BB42-1F57CE2F4EB1}" srcOrd="0" destOrd="0" presId="urn:microsoft.com/office/officeart/2005/8/layout/funnel1"/>
    <dgm:cxn modelId="{08039312-BFDC-F245-97F5-066D6DC62788}" type="presParOf" srcId="{F6E6CED5-C784-A342-9017-2628F177766D}" destId="{822E1A1F-149A-5A4D-BF24-7CE83B3E085B}" srcOrd="1" destOrd="0" presId="urn:microsoft.com/office/officeart/2005/8/layout/funnel1"/>
    <dgm:cxn modelId="{4E7F996A-B788-B146-81AD-9CF0943EECC2}" type="presParOf" srcId="{F6E6CED5-C784-A342-9017-2628F177766D}" destId="{2787C7BE-E62B-4743-8706-FBB8F4711B19}" srcOrd="2" destOrd="0" presId="urn:microsoft.com/office/officeart/2005/8/layout/funnel1"/>
    <dgm:cxn modelId="{3B0EBE96-1ECA-1044-BD0C-358B8B87F6C5}" type="presParOf" srcId="{F6E6CED5-C784-A342-9017-2628F177766D}" destId="{9A95F336-3858-1249-B42E-087773606FDC}" srcOrd="3" destOrd="0" presId="urn:microsoft.com/office/officeart/2005/8/layout/funnel1"/>
    <dgm:cxn modelId="{DE52AAB4-6E46-4E44-AF31-1B5050D99602}" type="presParOf" srcId="{F6E6CED5-C784-A342-9017-2628F177766D}" destId="{0D6DA553-8701-3545-B1BF-11726DA502F7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7BF24A-1588-E54A-B573-310CFAB4C9FD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FAC4BD-455D-5842-A08B-C3036E8712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good introduction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dirty="0">
              <a:solidFill>
                <a:schemeClr val="tx1"/>
              </a:solidFill>
            </a:rPr>
            <a:t> to the specific study taking place.</a:t>
          </a:r>
          <a:endParaRPr lang="en-GB" dirty="0">
            <a:solidFill>
              <a:schemeClr val="tx1"/>
            </a:solidFill>
          </a:endParaRPr>
        </a:p>
      </dgm:t>
    </dgm:pt>
    <dgm:pt modelId="{5EEC0D68-3CF7-6B45-8D26-D41EA15D518A}" type="parTrans" cxnId="{315B65C8-A328-CC4A-AE46-7D411B04E2BA}">
      <dgm:prSet/>
      <dgm:spPr/>
      <dgm:t>
        <a:bodyPr/>
        <a:lstStyle/>
        <a:p>
          <a:endParaRPr lang="en-GB"/>
        </a:p>
      </dgm:t>
    </dgm:pt>
    <dgm:pt modelId="{1FEBB8BA-E79E-0648-B722-00430753980B}" type="sibTrans" cxnId="{315B65C8-A328-CC4A-AE46-7D411B04E2BA}">
      <dgm:prSet/>
      <dgm:spPr/>
      <dgm:t>
        <a:bodyPr/>
        <a:lstStyle/>
        <a:p>
          <a:endParaRPr lang="en-GB"/>
        </a:p>
      </dgm:t>
    </dgm:pt>
    <dgm:pt modelId="{7642674A-3E59-494C-ADC4-F9FF02138B4E}">
      <dgm:prSet/>
      <dgm:spPr/>
      <dgm:t>
        <a:bodyPr/>
        <a:lstStyle/>
        <a:p>
          <a:endParaRPr lang="en-GB"/>
        </a:p>
      </dgm:t>
    </dgm:pt>
    <dgm:pt modelId="{2FC7CCA4-2754-D543-950F-83A7A0FEB859}" type="parTrans" cxnId="{8CCAB0F4-920E-6C4D-AAA7-0F509A78BB53}">
      <dgm:prSet/>
      <dgm:spPr/>
      <dgm:t>
        <a:bodyPr/>
        <a:lstStyle/>
        <a:p>
          <a:endParaRPr lang="en-GB"/>
        </a:p>
      </dgm:t>
    </dgm:pt>
    <dgm:pt modelId="{0FBD9251-DE03-C740-87C6-128EEFD736A7}" type="sibTrans" cxnId="{8CCAB0F4-920E-6C4D-AAA7-0F509A78BB53}">
      <dgm:prSet/>
      <dgm:spPr/>
      <dgm:t>
        <a:bodyPr/>
        <a:lstStyle/>
        <a:p>
          <a:endParaRPr lang="en-GB"/>
        </a:p>
      </dgm:t>
    </dgm:pt>
    <dgm:pt modelId="{F6E6CED5-C784-A342-9017-2628F177766D}" type="pres">
      <dgm:prSet presAssocID="{057BF24A-1588-E54A-B573-310CFAB4C9FD}" presName="Name0" presStyleCnt="0">
        <dgm:presLayoutVars>
          <dgm:chMax val="4"/>
          <dgm:resizeHandles val="exact"/>
        </dgm:presLayoutVars>
      </dgm:prSet>
      <dgm:spPr/>
    </dgm:pt>
    <dgm:pt modelId="{8378FAFE-CA85-B94E-BB42-1F57CE2F4EB1}" type="pres">
      <dgm:prSet presAssocID="{057BF24A-1588-E54A-B573-310CFAB4C9FD}" presName="ellipse" presStyleLbl="trBgShp" presStyleIdx="0" presStyleCnt="1"/>
      <dgm:spPr/>
    </dgm:pt>
    <dgm:pt modelId="{822E1A1F-149A-5A4D-BF24-7CE83B3E085B}" type="pres">
      <dgm:prSet presAssocID="{057BF24A-1588-E54A-B573-310CFAB4C9FD}" presName="arrow1" presStyleLbl="fgShp" presStyleIdx="0" presStyleCnt="1"/>
      <dgm:spPr/>
    </dgm:pt>
    <dgm:pt modelId="{2787C7BE-E62B-4743-8706-FBB8F4711B19}" type="pres">
      <dgm:prSet presAssocID="{057BF24A-1588-E54A-B573-310CFAB4C9FD}" presName="rectangle" presStyleLbl="revTx" presStyleIdx="0" presStyleCnt="1">
        <dgm:presLayoutVars>
          <dgm:bulletEnabled val="1"/>
        </dgm:presLayoutVars>
      </dgm:prSet>
      <dgm:spPr/>
    </dgm:pt>
    <dgm:pt modelId="{9A95F336-3858-1249-B42E-087773606FDC}" type="pres">
      <dgm:prSet presAssocID="{7642674A-3E59-494C-ADC4-F9FF02138B4E}" presName="item1" presStyleLbl="node1" presStyleIdx="0" presStyleCnt="1" custScaleX="189811" custScaleY="161526" custLinFactNeighborX="16958" custLinFactNeighborY="-6681">
        <dgm:presLayoutVars>
          <dgm:bulletEnabled val="1"/>
        </dgm:presLayoutVars>
      </dgm:prSet>
      <dgm:spPr/>
    </dgm:pt>
    <dgm:pt modelId="{0D6DA553-8701-3545-B1BF-11726DA502F7}" type="pres">
      <dgm:prSet presAssocID="{057BF24A-1588-E54A-B573-310CFAB4C9FD}" presName="funnel" presStyleLbl="trAlignAcc1" presStyleIdx="0" presStyleCnt="1" custScaleX="142857" custScaleY="132767" custLinFactNeighborX="5920" custLinFactNeighborY="2602"/>
      <dgm:spPr/>
    </dgm:pt>
  </dgm:ptLst>
  <dgm:cxnLst>
    <dgm:cxn modelId="{7C31DD9E-8678-CC45-A548-0327B4392848}" type="presOf" srcId="{057BF24A-1588-E54A-B573-310CFAB4C9FD}" destId="{F6E6CED5-C784-A342-9017-2628F177766D}" srcOrd="0" destOrd="0" presId="urn:microsoft.com/office/officeart/2005/8/layout/funnel1"/>
    <dgm:cxn modelId="{F6215BA6-4537-6140-B744-5C2D47F47881}" type="presOf" srcId="{7642674A-3E59-494C-ADC4-F9FF02138B4E}" destId="{2787C7BE-E62B-4743-8706-FBB8F4711B19}" srcOrd="0" destOrd="0" presId="urn:microsoft.com/office/officeart/2005/8/layout/funnel1"/>
    <dgm:cxn modelId="{609DC3A8-045E-2848-987B-FD3AC9AB625E}" type="presOf" srcId="{D5FAC4BD-455D-5842-A08B-C3036E871234}" destId="{9A95F336-3858-1249-B42E-087773606FDC}" srcOrd="0" destOrd="0" presId="urn:microsoft.com/office/officeart/2005/8/layout/funnel1"/>
    <dgm:cxn modelId="{315B65C8-A328-CC4A-AE46-7D411B04E2BA}" srcId="{057BF24A-1588-E54A-B573-310CFAB4C9FD}" destId="{D5FAC4BD-455D-5842-A08B-C3036E871234}" srcOrd="0" destOrd="0" parTransId="{5EEC0D68-3CF7-6B45-8D26-D41EA15D518A}" sibTransId="{1FEBB8BA-E79E-0648-B722-00430753980B}"/>
    <dgm:cxn modelId="{8CCAB0F4-920E-6C4D-AAA7-0F509A78BB53}" srcId="{057BF24A-1588-E54A-B573-310CFAB4C9FD}" destId="{7642674A-3E59-494C-ADC4-F9FF02138B4E}" srcOrd="1" destOrd="0" parTransId="{2FC7CCA4-2754-D543-950F-83A7A0FEB859}" sibTransId="{0FBD9251-DE03-C740-87C6-128EEFD736A7}"/>
    <dgm:cxn modelId="{0361FB8B-7A03-A544-8F55-09CFF9275EAF}" type="presParOf" srcId="{F6E6CED5-C784-A342-9017-2628F177766D}" destId="{8378FAFE-CA85-B94E-BB42-1F57CE2F4EB1}" srcOrd="0" destOrd="0" presId="urn:microsoft.com/office/officeart/2005/8/layout/funnel1"/>
    <dgm:cxn modelId="{F30AE3BA-FCBF-464D-B935-67CE635F7E32}" type="presParOf" srcId="{F6E6CED5-C784-A342-9017-2628F177766D}" destId="{822E1A1F-149A-5A4D-BF24-7CE83B3E085B}" srcOrd="1" destOrd="0" presId="urn:microsoft.com/office/officeart/2005/8/layout/funnel1"/>
    <dgm:cxn modelId="{94B97C2E-A3F6-9E41-9427-E819047E8884}" type="presParOf" srcId="{F6E6CED5-C784-A342-9017-2628F177766D}" destId="{2787C7BE-E62B-4743-8706-FBB8F4711B19}" srcOrd="2" destOrd="0" presId="urn:microsoft.com/office/officeart/2005/8/layout/funnel1"/>
    <dgm:cxn modelId="{6ACD7AE2-316F-B346-93D5-139520643C64}" type="presParOf" srcId="{F6E6CED5-C784-A342-9017-2628F177766D}" destId="{9A95F336-3858-1249-B42E-087773606FDC}" srcOrd="3" destOrd="0" presId="urn:microsoft.com/office/officeart/2005/8/layout/funnel1"/>
    <dgm:cxn modelId="{9E505F9B-879D-DA45-9182-9DA450C00081}" type="presParOf" srcId="{F6E6CED5-C784-A342-9017-2628F177766D}" destId="{0D6DA553-8701-3545-B1BF-11726DA502F7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7BF24A-1588-E54A-B573-310CFAB4C9FD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FAC4BD-455D-5842-A08B-C3036E8712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good introduction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dirty="0">
              <a:solidFill>
                <a:schemeClr val="tx1"/>
              </a:solidFill>
            </a:rPr>
            <a:t> to the specific study taking place.</a:t>
          </a:r>
          <a:endParaRPr lang="en-GB" dirty="0">
            <a:solidFill>
              <a:schemeClr val="tx1"/>
            </a:solidFill>
          </a:endParaRPr>
        </a:p>
      </dgm:t>
    </dgm:pt>
    <dgm:pt modelId="{5EEC0D68-3CF7-6B45-8D26-D41EA15D518A}" type="parTrans" cxnId="{315B65C8-A328-CC4A-AE46-7D411B04E2BA}">
      <dgm:prSet/>
      <dgm:spPr/>
      <dgm:t>
        <a:bodyPr/>
        <a:lstStyle/>
        <a:p>
          <a:endParaRPr lang="en-GB"/>
        </a:p>
      </dgm:t>
    </dgm:pt>
    <dgm:pt modelId="{1FEBB8BA-E79E-0648-B722-00430753980B}" type="sibTrans" cxnId="{315B65C8-A328-CC4A-AE46-7D411B04E2BA}">
      <dgm:prSet/>
      <dgm:spPr/>
      <dgm:t>
        <a:bodyPr/>
        <a:lstStyle/>
        <a:p>
          <a:endParaRPr lang="en-GB"/>
        </a:p>
      </dgm:t>
    </dgm:pt>
    <dgm:pt modelId="{7642674A-3E59-494C-ADC4-F9FF02138B4E}">
      <dgm:prSet/>
      <dgm:spPr/>
      <dgm:t>
        <a:bodyPr/>
        <a:lstStyle/>
        <a:p>
          <a:endParaRPr lang="en-GB"/>
        </a:p>
      </dgm:t>
    </dgm:pt>
    <dgm:pt modelId="{2FC7CCA4-2754-D543-950F-83A7A0FEB859}" type="parTrans" cxnId="{8CCAB0F4-920E-6C4D-AAA7-0F509A78BB53}">
      <dgm:prSet/>
      <dgm:spPr/>
      <dgm:t>
        <a:bodyPr/>
        <a:lstStyle/>
        <a:p>
          <a:endParaRPr lang="en-GB"/>
        </a:p>
      </dgm:t>
    </dgm:pt>
    <dgm:pt modelId="{0FBD9251-DE03-C740-87C6-128EEFD736A7}" type="sibTrans" cxnId="{8CCAB0F4-920E-6C4D-AAA7-0F509A78BB53}">
      <dgm:prSet/>
      <dgm:spPr/>
      <dgm:t>
        <a:bodyPr/>
        <a:lstStyle/>
        <a:p>
          <a:endParaRPr lang="en-GB"/>
        </a:p>
      </dgm:t>
    </dgm:pt>
    <dgm:pt modelId="{F6E6CED5-C784-A342-9017-2628F177766D}" type="pres">
      <dgm:prSet presAssocID="{057BF24A-1588-E54A-B573-310CFAB4C9FD}" presName="Name0" presStyleCnt="0">
        <dgm:presLayoutVars>
          <dgm:chMax val="4"/>
          <dgm:resizeHandles val="exact"/>
        </dgm:presLayoutVars>
      </dgm:prSet>
      <dgm:spPr/>
    </dgm:pt>
    <dgm:pt modelId="{8378FAFE-CA85-B94E-BB42-1F57CE2F4EB1}" type="pres">
      <dgm:prSet presAssocID="{057BF24A-1588-E54A-B573-310CFAB4C9FD}" presName="ellipse" presStyleLbl="trBgShp" presStyleIdx="0" presStyleCnt="1"/>
      <dgm:spPr/>
    </dgm:pt>
    <dgm:pt modelId="{822E1A1F-149A-5A4D-BF24-7CE83B3E085B}" type="pres">
      <dgm:prSet presAssocID="{057BF24A-1588-E54A-B573-310CFAB4C9FD}" presName="arrow1" presStyleLbl="fgShp" presStyleIdx="0" presStyleCnt="1"/>
      <dgm:spPr/>
    </dgm:pt>
    <dgm:pt modelId="{2787C7BE-E62B-4743-8706-FBB8F4711B19}" type="pres">
      <dgm:prSet presAssocID="{057BF24A-1588-E54A-B573-310CFAB4C9FD}" presName="rectangle" presStyleLbl="revTx" presStyleIdx="0" presStyleCnt="1">
        <dgm:presLayoutVars>
          <dgm:bulletEnabled val="1"/>
        </dgm:presLayoutVars>
      </dgm:prSet>
      <dgm:spPr/>
    </dgm:pt>
    <dgm:pt modelId="{9A95F336-3858-1249-B42E-087773606FDC}" type="pres">
      <dgm:prSet presAssocID="{7642674A-3E59-494C-ADC4-F9FF02138B4E}" presName="item1" presStyleLbl="node1" presStyleIdx="0" presStyleCnt="1" custScaleX="189811" custScaleY="161526" custLinFactNeighborX="16958" custLinFactNeighborY="-6681">
        <dgm:presLayoutVars>
          <dgm:bulletEnabled val="1"/>
        </dgm:presLayoutVars>
      </dgm:prSet>
      <dgm:spPr/>
    </dgm:pt>
    <dgm:pt modelId="{0D6DA553-8701-3545-B1BF-11726DA502F7}" type="pres">
      <dgm:prSet presAssocID="{057BF24A-1588-E54A-B573-310CFAB4C9FD}" presName="funnel" presStyleLbl="trAlignAcc1" presStyleIdx="0" presStyleCnt="1" custScaleX="142857" custScaleY="132767" custLinFactNeighborX="5920" custLinFactNeighborY="2602"/>
      <dgm:spPr/>
    </dgm:pt>
  </dgm:ptLst>
  <dgm:cxnLst>
    <dgm:cxn modelId="{7C31DD9E-8678-CC45-A548-0327B4392848}" type="presOf" srcId="{057BF24A-1588-E54A-B573-310CFAB4C9FD}" destId="{F6E6CED5-C784-A342-9017-2628F177766D}" srcOrd="0" destOrd="0" presId="urn:microsoft.com/office/officeart/2005/8/layout/funnel1"/>
    <dgm:cxn modelId="{F6215BA6-4537-6140-B744-5C2D47F47881}" type="presOf" srcId="{7642674A-3E59-494C-ADC4-F9FF02138B4E}" destId="{2787C7BE-E62B-4743-8706-FBB8F4711B19}" srcOrd="0" destOrd="0" presId="urn:microsoft.com/office/officeart/2005/8/layout/funnel1"/>
    <dgm:cxn modelId="{609DC3A8-045E-2848-987B-FD3AC9AB625E}" type="presOf" srcId="{D5FAC4BD-455D-5842-A08B-C3036E871234}" destId="{9A95F336-3858-1249-B42E-087773606FDC}" srcOrd="0" destOrd="0" presId="urn:microsoft.com/office/officeart/2005/8/layout/funnel1"/>
    <dgm:cxn modelId="{315B65C8-A328-CC4A-AE46-7D411B04E2BA}" srcId="{057BF24A-1588-E54A-B573-310CFAB4C9FD}" destId="{D5FAC4BD-455D-5842-A08B-C3036E871234}" srcOrd="0" destOrd="0" parTransId="{5EEC0D68-3CF7-6B45-8D26-D41EA15D518A}" sibTransId="{1FEBB8BA-E79E-0648-B722-00430753980B}"/>
    <dgm:cxn modelId="{8CCAB0F4-920E-6C4D-AAA7-0F509A78BB53}" srcId="{057BF24A-1588-E54A-B573-310CFAB4C9FD}" destId="{7642674A-3E59-494C-ADC4-F9FF02138B4E}" srcOrd="1" destOrd="0" parTransId="{2FC7CCA4-2754-D543-950F-83A7A0FEB859}" sibTransId="{0FBD9251-DE03-C740-87C6-128EEFD736A7}"/>
    <dgm:cxn modelId="{0361FB8B-7A03-A544-8F55-09CFF9275EAF}" type="presParOf" srcId="{F6E6CED5-C784-A342-9017-2628F177766D}" destId="{8378FAFE-CA85-B94E-BB42-1F57CE2F4EB1}" srcOrd="0" destOrd="0" presId="urn:microsoft.com/office/officeart/2005/8/layout/funnel1"/>
    <dgm:cxn modelId="{F30AE3BA-FCBF-464D-B935-67CE635F7E32}" type="presParOf" srcId="{F6E6CED5-C784-A342-9017-2628F177766D}" destId="{822E1A1F-149A-5A4D-BF24-7CE83B3E085B}" srcOrd="1" destOrd="0" presId="urn:microsoft.com/office/officeart/2005/8/layout/funnel1"/>
    <dgm:cxn modelId="{94B97C2E-A3F6-9E41-9427-E819047E8884}" type="presParOf" srcId="{F6E6CED5-C784-A342-9017-2628F177766D}" destId="{2787C7BE-E62B-4743-8706-FBB8F4711B19}" srcOrd="2" destOrd="0" presId="urn:microsoft.com/office/officeart/2005/8/layout/funnel1"/>
    <dgm:cxn modelId="{6ACD7AE2-316F-B346-93D5-139520643C64}" type="presParOf" srcId="{F6E6CED5-C784-A342-9017-2628F177766D}" destId="{9A95F336-3858-1249-B42E-087773606FDC}" srcOrd="3" destOrd="0" presId="urn:microsoft.com/office/officeart/2005/8/layout/funnel1"/>
    <dgm:cxn modelId="{9E505F9B-879D-DA45-9182-9DA450C00081}" type="presParOf" srcId="{F6E6CED5-C784-A342-9017-2628F177766D}" destId="{0D6DA553-8701-3545-B1BF-11726DA502F7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7BF24A-1588-E54A-B573-310CFAB4C9FD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FAC4BD-455D-5842-A08B-C3036E8712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good introduction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dirty="0">
              <a:solidFill>
                <a:schemeClr val="tx1"/>
              </a:solidFill>
            </a:rPr>
            <a:t> to the specific study taking place.</a:t>
          </a:r>
          <a:endParaRPr lang="en-GB" dirty="0">
            <a:solidFill>
              <a:schemeClr val="tx1"/>
            </a:solidFill>
          </a:endParaRPr>
        </a:p>
      </dgm:t>
    </dgm:pt>
    <dgm:pt modelId="{5EEC0D68-3CF7-6B45-8D26-D41EA15D518A}" type="parTrans" cxnId="{315B65C8-A328-CC4A-AE46-7D411B04E2BA}">
      <dgm:prSet/>
      <dgm:spPr/>
      <dgm:t>
        <a:bodyPr/>
        <a:lstStyle/>
        <a:p>
          <a:endParaRPr lang="en-GB"/>
        </a:p>
      </dgm:t>
    </dgm:pt>
    <dgm:pt modelId="{1FEBB8BA-E79E-0648-B722-00430753980B}" type="sibTrans" cxnId="{315B65C8-A328-CC4A-AE46-7D411B04E2BA}">
      <dgm:prSet/>
      <dgm:spPr/>
      <dgm:t>
        <a:bodyPr/>
        <a:lstStyle/>
        <a:p>
          <a:endParaRPr lang="en-GB"/>
        </a:p>
      </dgm:t>
    </dgm:pt>
    <dgm:pt modelId="{7642674A-3E59-494C-ADC4-F9FF02138B4E}">
      <dgm:prSet/>
      <dgm:spPr/>
      <dgm:t>
        <a:bodyPr/>
        <a:lstStyle/>
        <a:p>
          <a:endParaRPr lang="en-GB"/>
        </a:p>
      </dgm:t>
    </dgm:pt>
    <dgm:pt modelId="{2FC7CCA4-2754-D543-950F-83A7A0FEB859}" type="parTrans" cxnId="{8CCAB0F4-920E-6C4D-AAA7-0F509A78BB53}">
      <dgm:prSet/>
      <dgm:spPr/>
      <dgm:t>
        <a:bodyPr/>
        <a:lstStyle/>
        <a:p>
          <a:endParaRPr lang="en-GB"/>
        </a:p>
      </dgm:t>
    </dgm:pt>
    <dgm:pt modelId="{0FBD9251-DE03-C740-87C6-128EEFD736A7}" type="sibTrans" cxnId="{8CCAB0F4-920E-6C4D-AAA7-0F509A78BB53}">
      <dgm:prSet/>
      <dgm:spPr/>
      <dgm:t>
        <a:bodyPr/>
        <a:lstStyle/>
        <a:p>
          <a:endParaRPr lang="en-GB"/>
        </a:p>
      </dgm:t>
    </dgm:pt>
    <dgm:pt modelId="{F6E6CED5-C784-A342-9017-2628F177766D}" type="pres">
      <dgm:prSet presAssocID="{057BF24A-1588-E54A-B573-310CFAB4C9FD}" presName="Name0" presStyleCnt="0">
        <dgm:presLayoutVars>
          <dgm:chMax val="4"/>
          <dgm:resizeHandles val="exact"/>
        </dgm:presLayoutVars>
      </dgm:prSet>
      <dgm:spPr/>
    </dgm:pt>
    <dgm:pt modelId="{8378FAFE-CA85-B94E-BB42-1F57CE2F4EB1}" type="pres">
      <dgm:prSet presAssocID="{057BF24A-1588-E54A-B573-310CFAB4C9FD}" presName="ellipse" presStyleLbl="trBgShp" presStyleIdx="0" presStyleCnt="1"/>
      <dgm:spPr/>
    </dgm:pt>
    <dgm:pt modelId="{822E1A1F-149A-5A4D-BF24-7CE83B3E085B}" type="pres">
      <dgm:prSet presAssocID="{057BF24A-1588-E54A-B573-310CFAB4C9FD}" presName="arrow1" presStyleLbl="fgShp" presStyleIdx="0" presStyleCnt="1"/>
      <dgm:spPr/>
    </dgm:pt>
    <dgm:pt modelId="{2787C7BE-E62B-4743-8706-FBB8F4711B19}" type="pres">
      <dgm:prSet presAssocID="{057BF24A-1588-E54A-B573-310CFAB4C9FD}" presName="rectangle" presStyleLbl="revTx" presStyleIdx="0" presStyleCnt="1">
        <dgm:presLayoutVars>
          <dgm:bulletEnabled val="1"/>
        </dgm:presLayoutVars>
      </dgm:prSet>
      <dgm:spPr/>
    </dgm:pt>
    <dgm:pt modelId="{9A95F336-3858-1249-B42E-087773606FDC}" type="pres">
      <dgm:prSet presAssocID="{7642674A-3E59-494C-ADC4-F9FF02138B4E}" presName="item1" presStyleLbl="node1" presStyleIdx="0" presStyleCnt="1" custScaleX="189811" custScaleY="161526" custLinFactNeighborX="16958" custLinFactNeighborY="-6681">
        <dgm:presLayoutVars>
          <dgm:bulletEnabled val="1"/>
        </dgm:presLayoutVars>
      </dgm:prSet>
      <dgm:spPr/>
    </dgm:pt>
    <dgm:pt modelId="{0D6DA553-8701-3545-B1BF-11726DA502F7}" type="pres">
      <dgm:prSet presAssocID="{057BF24A-1588-E54A-B573-310CFAB4C9FD}" presName="funnel" presStyleLbl="trAlignAcc1" presStyleIdx="0" presStyleCnt="1" custScaleX="142857" custScaleY="132767" custLinFactNeighborX="5920" custLinFactNeighborY="2602"/>
      <dgm:spPr/>
    </dgm:pt>
  </dgm:ptLst>
  <dgm:cxnLst>
    <dgm:cxn modelId="{7C31DD9E-8678-CC45-A548-0327B4392848}" type="presOf" srcId="{057BF24A-1588-E54A-B573-310CFAB4C9FD}" destId="{F6E6CED5-C784-A342-9017-2628F177766D}" srcOrd="0" destOrd="0" presId="urn:microsoft.com/office/officeart/2005/8/layout/funnel1"/>
    <dgm:cxn modelId="{F6215BA6-4537-6140-B744-5C2D47F47881}" type="presOf" srcId="{7642674A-3E59-494C-ADC4-F9FF02138B4E}" destId="{2787C7BE-E62B-4743-8706-FBB8F4711B19}" srcOrd="0" destOrd="0" presId="urn:microsoft.com/office/officeart/2005/8/layout/funnel1"/>
    <dgm:cxn modelId="{609DC3A8-045E-2848-987B-FD3AC9AB625E}" type="presOf" srcId="{D5FAC4BD-455D-5842-A08B-C3036E871234}" destId="{9A95F336-3858-1249-B42E-087773606FDC}" srcOrd="0" destOrd="0" presId="urn:microsoft.com/office/officeart/2005/8/layout/funnel1"/>
    <dgm:cxn modelId="{315B65C8-A328-CC4A-AE46-7D411B04E2BA}" srcId="{057BF24A-1588-E54A-B573-310CFAB4C9FD}" destId="{D5FAC4BD-455D-5842-A08B-C3036E871234}" srcOrd="0" destOrd="0" parTransId="{5EEC0D68-3CF7-6B45-8D26-D41EA15D518A}" sibTransId="{1FEBB8BA-E79E-0648-B722-00430753980B}"/>
    <dgm:cxn modelId="{8CCAB0F4-920E-6C4D-AAA7-0F509A78BB53}" srcId="{057BF24A-1588-E54A-B573-310CFAB4C9FD}" destId="{7642674A-3E59-494C-ADC4-F9FF02138B4E}" srcOrd="1" destOrd="0" parTransId="{2FC7CCA4-2754-D543-950F-83A7A0FEB859}" sibTransId="{0FBD9251-DE03-C740-87C6-128EEFD736A7}"/>
    <dgm:cxn modelId="{0361FB8B-7A03-A544-8F55-09CFF9275EAF}" type="presParOf" srcId="{F6E6CED5-C784-A342-9017-2628F177766D}" destId="{8378FAFE-CA85-B94E-BB42-1F57CE2F4EB1}" srcOrd="0" destOrd="0" presId="urn:microsoft.com/office/officeart/2005/8/layout/funnel1"/>
    <dgm:cxn modelId="{F30AE3BA-FCBF-464D-B935-67CE635F7E32}" type="presParOf" srcId="{F6E6CED5-C784-A342-9017-2628F177766D}" destId="{822E1A1F-149A-5A4D-BF24-7CE83B3E085B}" srcOrd="1" destOrd="0" presId="urn:microsoft.com/office/officeart/2005/8/layout/funnel1"/>
    <dgm:cxn modelId="{94B97C2E-A3F6-9E41-9427-E819047E8884}" type="presParOf" srcId="{F6E6CED5-C784-A342-9017-2628F177766D}" destId="{2787C7BE-E62B-4743-8706-FBB8F4711B19}" srcOrd="2" destOrd="0" presId="urn:microsoft.com/office/officeart/2005/8/layout/funnel1"/>
    <dgm:cxn modelId="{6ACD7AE2-316F-B346-93D5-139520643C64}" type="presParOf" srcId="{F6E6CED5-C784-A342-9017-2628F177766D}" destId="{9A95F336-3858-1249-B42E-087773606FDC}" srcOrd="3" destOrd="0" presId="urn:microsoft.com/office/officeart/2005/8/layout/funnel1"/>
    <dgm:cxn modelId="{9E505F9B-879D-DA45-9182-9DA450C00081}" type="presParOf" srcId="{F6E6CED5-C784-A342-9017-2628F177766D}" destId="{0D6DA553-8701-3545-B1BF-11726DA502F7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AFE-CA85-B94E-BB42-1F57CE2F4EB1}">
      <dsp:nvSpPr>
        <dsp:cNvPr id="0" name=""/>
        <dsp:cNvSpPr/>
      </dsp:nvSpPr>
      <dsp:spPr>
        <a:xfrm>
          <a:off x="597274" y="328938"/>
          <a:ext cx="2182674" cy="758013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E1A1F-149A-5A4D-BF24-7CE83B3E085B}">
      <dsp:nvSpPr>
        <dsp:cNvPr id="0" name=""/>
        <dsp:cNvSpPr/>
      </dsp:nvSpPr>
      <dsp:spPr>
        <a:xfrm>
          <a:off x="1480496" y="2185057"/>
          <a:ext cx="422998" cy="270719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C7BE-E62B-4743-8706-FBB8F4711B19}">
      <dsp:nvSpPr>
        <dsp:cNvPr id="0" name=""/>
        <dsp:cNvSpPr/>
      </dsp:nvSpPr>
      <dsp:spPr>
        <a:xfrm>
          <a:off x="676798" y="2401632"/>
          <a:ext cx="2030394" cy="507598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>
        <a:off x="676798" y="2401632"/>
        <a:ext cx="2030394" cy="507598"/>
      </dsp:txXfrm>
    </dsp:sp>
    <dsp:sp modelId="{9A95F336-3858-1249-B42E-087773606FDC}">
      <dsp:nvSpPr>
        <dsp:cNvPr id="0" name=""/>
        <dsp:cNvSpPr/>
      </dsp:nvSpPr>
      <dsp:spPr>
        <a:xfrm>
          <a:off x="599588" y="0"/>
          <a:ext cx="2248115" cy="19131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A good introduction </a:t>
          </a:r>
          <a:r>
            <a:rPr lang="en-US" sz="1100" kern="1200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sz="1100" kern="1200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sz="1100" kern="1200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sz="1100" kern="1200" dirty="0">
              <a:solidFill>
                <a:schemeClr val="tx1"/>
              </a:solidFill>
            </a:rPr>
            <a:t> to the specific study taking place.</a:t>
          </a:r>
          <a:endParaRPr lang="en-GB" sz="1100" kern="1200" dirty="0">
            <a:solidFill>
              <a:schemeClr val="tx1"/>
            </a:solidFill>
          </a:endParaRPr>
        </a:p>
      </dsp:txBody>
      <dsp:txXfrm>
        <a:off x="928817" y="280168"/>
        <a:ext cx="1589657" cy="1352772"/>
      </dsp:txXfrm>
    </dsp:sp>
    <dsp:sp modelId="{0D6DA553-8701-3545-B1BF-11726DA502F7}">
      <dsp:nvSpPr>
        <dsp:cNvPr id="0" name=""/>
        <dsp:cNvSpPr/>
      </dsp:nvSpPr>
      <dsp:spPr>
        <a:xfrm>
          <a:off x="1" y="-74594"/>
          <a:ext cx="3383987" cy="2515981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AFE-CA85-B94E-BB42-1F57CE2F4EB1}">
      <dsp:nvSpPr>
        <dsp:cNvPr id="0" name=""/>
        <dsp:cNvSpPr/>
      </dsp:nvSpPr>
      <dsp:spPr>
        <a:xfrm>
          <a:off x="690200" y="409326"/>
          <a:ext cx="2522260" cy="875947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E1A1F-149A-5A4D-BF24-7CE83B3E085B}">
      <dsp:nvSpPr>
        <dsp:cNvPr id="0" name=""/>
        <dsp:cNvSpPr/>
      </dsp:nvSpPr>
      <dsp:spPr>
        <a:xfrm>
          <a:off x="1710835" y="2554225"/>
          <a:ext cx="488810" cy="312838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C7BE-E62B-4743-8706-FBB8F4711B19}">
      <dsp:nvSpPr>
        <dsp:cNvPr id="0" name=""/>
        <dsp:cNvSpPr/>
      </dsp:nvSpPr>
      <dsp:spPr>
        <a:xfrm>
          <a:off x="782096" y="2804496"/>
          <a:ext cx="2346289" cy="58657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782096" y="2804496"/>
        <a:ext cx="2346289" cy="586572"/>
      </dsp:txXfrm>
    </dsp:sp>
    <dsp:sp modelId="{9A95F336-3858-1249-B42E-087773606FDC}">
      <dsp:nvSpPr>
        <dsp:cNvPr id="0" name=""/>
        <dsp:cNvSpPr/>
      </dsp:nvSpPr>
      <dsp:spPr>
        <a:xfrm>
          <a:off x="692873" y="0"/>
          <a:ext cx="2597883" cy="22107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 good introduction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sz="1300" kern="1200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sz="1300" kern="1200" dirty="0">
              <a:solidFill>
                <a:schemeClr val="tx1"/>
              </a:solidFill>
            </a:rPr>
            <a:t> to the specific study taking place.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1073324" y="323758"/>
        <a:ext cx="1836981" cy="1563239"/>
      </dsp:txXfrm>
    </dsp:sp>
    <dsp:sp modelId="{0D6DA553-8701-3545-B1BF-11726DA502F7}">
      <dsp:nvSpPr>
        <dsp:cNvPr id="0" name=""/>
        <dsp:cNvSpPr/>
      </dsp:nvSpPr>
      <dsp:spPr>
        <a:xfrm>
          <a:off x="3" y="-9"/>
          <a:ext cx="3910478" cy="290742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AFE-CA85-B94E-BB42-1F57CE2F4EB1}">
      <dsp:nvSpPr>
        <dsp:cNvPr id="0" name=""/>
        <dsp:cNvSpPr/>
      </dsp:nvSpPr>
      <dsp:spPr>
        <a:xfrm>
          <a:off x="690200" y="409326"/>
          <a:ext cx="2522260" cy="875947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E1A1F-149A-5A4D-BF24-7CE83B3E085B}">
      <dsp:nvSpPr>
        <dsp:cNvPr id="0" name=""/>
        <dsp:cNvSpPr/>
      </dsp:nvSpPr>
      <dsp:spPr>
        <a:xfrm>
          <a:off x="1710835" y="2554225"/>
          <a:ext cx="488810" cy="312838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C7BE-E62B-4743-8706-FBB8F4711B19}">
      <dsp:nvSpPr>
        <dsp:cNvPr id="0" name=""/>
        <dsp:cNvSpPr/>
      </dsp:nvSpPr>
      <dsp:spPr>
        <a:xfrm>
          <a:off x="782096" y="2804496"/>
          <a:ext cx="2346289" cy="58657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782096" y="2804496"/>
        <a:ext cx="2346289" cy="586572"/>
      </dsp:txXfrm>
    </dsp:sp>
    <dsp:sp modelId="{9A95F336-3858-1249-B42E-087773606FDC}">
      <dsp:nvSpPr>
        <dsp:cNvPr id="0" name=""/>
        <dsp:cNvSpPr/>
      </dsp:nvSpPr>
      <dsp:spPr>
        <a:xfrm>
          <a:off x="692873" y="0"/>
          <a:ext cx="2597883" cy="22107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 good introduction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sz="1300" kern="1200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sz="1300" kern="1200" dirty="0">
              <a:solidFill>
                <a:schemeClr val="tx1"/>
              </a:solidFill>
            </a:rPr>
            <a:t> to the specific study taking place.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1073324" y="323758"/>
        <a:ext cx="1836981" cy="1563239"/>
      </dsp:txXfrm>
    </dsp:sp>
    <dsp:sp modelId="{0D6DA553-8701-3545-B1BF-11726DA502F7}">
      <dsp:nvSpPr>
        <dsp:cNvPr id="0" name=""/>
        <dsp:cNvSpPr/>
      </dsp:nvSpPr>
      <dsp:spPr>
        <a:xfrm>
          <a:off x="3" y="-9"/>
          <a:ext cx="3910478" cy="290742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AFE-CA85-B94E-BB42-1F57CE2F4EB1}">
      <dsp:nvSpPr>
        <dsp:cNvPr id="0" name=""/>
        <dsp:cNvSpPr/>
      </dsp:nvSpPr>
      <dsp:spPr>
        <a:xfrm>
          <a:off x="690200" y="409326"/>
          <a:ext cx="2522260" cy="875947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E1A1F-149A-5A4D-BF24-7CE83B3E085B}">
      <dsp:nvSpPr>
        <dsp:cNvPr id="0" name=""/>
        <dsp:cNvSpPr/>
      </dsp:nvSpPr>
      <dsp:spPr>
        <a:xfrm>
          <a:off x="1710835" y="2554225"/>
          <a:ext cx="488810" cy="312838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C7BE-E62B-4743-8706-FBB8F4711B19}">
      <dsp:nvSpPr>
        <dsp:cNvPr id="0" name=""/>
        <dsp:cNvSpPr/>
      </dsp:nvSpPr>
      <dsp:spPr>
        <a:xfrm>
          <a:off x="782096" y="2804496"/>
          <a:ext cx="2346289" cy="58657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782096" y="2804496"/>
        <a:ext cx="2346289" cy="586572"/>
      </dsp:txXfrm>
    </dsp:sp>
    <dsp:sp modelId="{9A95F336-3858-1249-B42E-087773606FDC}">
      <dsp:nvSpPr>
        <dsp:cNvPr id="0" name=""/>
        <dsp:cNvSpPr/>
      </dsp:nvSpPr>
      <dsp:spPr>
        <a:xfrm>
          <a:off x="692873" y="0"/>
          <a:ext cx="2597883" cy="22107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 good introduction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sz="1300" kern="1200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sz="1300" kern="1200" dirty="0">
              <a:solidFill>
                <a:schemeClr val="tx1"/>
              </a:solidFill>
            </a:rPr>
            <a:t> to the specific study taking place.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1073324" y="323758"/>
        <a:ext cx="1836981" cy="1563239"/>
      </dsp:txXfrm>
    </dsp:sp>
    <dsp:sp modelId="{0D6DA553-8701-3545-B1BF-11726DA502F7}">
      <dsp:nvSpPr>
        <dsp:cNvPr id="0" name=""/>
        <dsp:cNvSpPr/>
      </dsp:nvSpPr>
      <dsp:spPr>
        <a:xfrm>
          <a:off x="3" y="-9"/>
          <a:ext cx="3910478" cy="290742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733FE-D705-1440-A9DA-38C7C7CCB57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BF5B2-5A22-9041-88EF-67B350C1A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01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0E9C-2AF3-4E4F-979D-F128D5CBB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217B4-5BE7-044C-A474-86FDBDC43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2036E-69AC-E345-9AB2-FDB9DFDC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8/10/21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A49BD-B236-D641-866E-F1B7FECE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9792E-CA88-B84A-BDFB-2C262712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93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E216-3B99-8F4A-8A21-B9E1531B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72199-6C81-5848-9270-8BEED7190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5D366-0D9E-FD4A-9FE1-FD3E40C8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C1FBE-5022-8748-9567-7082B5D1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0AAE-B09C-FA4A-BF78-CECF6162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1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097A-D677-1743-86D4-25B827D8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5B9B9-9D46-E340-ACB1-992927F44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993B4-5213-F544-B653-856970BF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8/10/21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7082F-95E5-894C-9389-40CC6F33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73516-9551-3840-92EA-142189DD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4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B8F4-F9D7-BC47-A69A-97D92EBC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4ECD-EFBF-0246-A96C-E7E29A264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AD019-C7B4-D147-81F7-184900399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BC93F-9727-8F4A-837B-C0F4D4F0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3C1ED-D5E9-CE4A-B064-401FE611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63E29-CC9D-3E4E-B111-FDC26241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576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7108-5FC6-7647-BA39-F661C071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70C41-5AA4-5242-9EBE-C6A036868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A806A-D30D-3C4F-83D1-65AE39A92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172C4-3EA2-BB48-BBFD-C2EBA0CE2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5F2FC-FE38-4749-BB14-7E73D98B9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A2BAA-B5BE-124C-B525-64F00A57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98706-18EB-DA4F-AE15-8F38975D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A9654-7566-6249-B64D-FAAAE36F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3022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ED65-9837-7A45-B16B-769889E8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35A0D-2019-3240-BA12-BD21B6F2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D01DCB-2DA3-5F46-BBDE-A9E4170DB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C8472-D8F6-AC45-AB55-B8E64620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69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CA29A-D536-7A41-A8E5-E4EE5F7F6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876F3-257C-7E44-8C36-6A1DB2FB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37272-C6BC-CA43-91D3-0D2B90A1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2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F173-7D9D-D840-8423-CDA6BFF6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820A3-E853-9C41-B37D-4EA114B48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CE9-8C82-AB40-93CF-528E0FFA9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E21B1-D69A-8241-BDF7-0D97382F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E1AC4-785B-334E-A853-71BE6E4F3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DF73-15FA-C24E-93B3-C66C49DA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17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C466-BFFF-8444-B8C4-B96F81D9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5B94F-9C00-0948-B371-CF0E952C2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8F10-5174-D04F-B629-F1CEC0937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558BB-1DD0-3544-B7DA-FBBEEE90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ED6C2-E3DA-1943-B42A-B358614F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4602E-7987-4D4F-8867-5528A95F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44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6247-3CB8-624D-8AFB-4FB00341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FBAC2-2D93-1845-B616-1CB1DA54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9BCEF-3B15-8043-9F92-2DBBA1F3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39774-AE78-A547-AE3D-BE3084A0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BC0B6-492C-CF48-AFC0-60B14ADB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3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67745-9650-1449-9697-114E83E06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7A854-93E6-BE48-AA01-0CCF70557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23B3-3931-1D4F-BA76-82CB666A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8/10/21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088F2-0D12-394D-B281-B61E3C50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3C1D4-4036-2447-97E6-7FBC89FF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423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4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47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96642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0219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57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5805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19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56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9680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76725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4297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64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47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48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145807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264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0339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437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D819D-78FD-0D4D-AA52-AE40B0A0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92A8C-4F8D-1143-9D86-425E2D31B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BAC1-2560-514C-8B87-7A8C43BF7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8/10/21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B3B07-521B-2843-B18B-EBF32B827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934B2-13CF-FF49-9337-252677A91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3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9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users.clas.ufl.edu/msscha/psych/report_intro.html#sig" TargetMode="External"/><Relationship Id="rId2" Type="http://schemas.openxmlformats.org/officeDocument/2006/relationships/hyperlink" Target="http://users.clas.ufl.edu/msscha/psych/report_intro.html#topi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users.clas.ufl.edu/msscha/psych/report_intro.html#rq" TargetMode="External"/><Relationship Id="rId5" Type="http://schemas.openxmlformats.org/officeDocument/2006/relationships/hyperlink" Target="http://users.clas.ufl.edu/msscha/psych/report_intro.html#gap" TargetMode="External"/><Relationship Id="rId4" Type="http://schemas.openxmlformats.org/officeDocument/2006/relationships/hyperlink" Target="http://users.clas.ufl.edu/msscha/psych/report_intro.html#litreview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837" y="1774457"/>
            <a:ext cx="6621928" cy="1398494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800" b="1" dirty="0">
                <a:solidFill>
                  <a:srgbClr val="92D050"/>
                </a:solidFill>
              </a:rPr>
              <a:t>DO NOW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 descr="Exclamation_encircled.sv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558" y="3640103"/>
            <a:ext cx="2888367" cy="2888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2048B-DF52-4E8D-A882-2851398F8E31}"/>
              </a:ext>
            </a:extLst>
          </p:cNvPr>
          <p:cNvSpPr txBox="1"/>
          <p:nvPr/>
        </p:nvSpPr>
        <p:spPr>
          <a:xfrm>
            <a:off x="332507" y="4589478"/>
            <a:ext cx="2797743" cy="19389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Reminder:</a:t>
            </a:r>
          </a:p>
          <a:p>
            <a:r>
              <a:rPr lang="en-AU" sz="2400" dirty="0"/>
              <a:t>Phones away</a:t>
            </a:r>
          </a:p>
          <a:p>
            <a:r>
              <a:rPr lang="en-AU" sz="2400" dirty="0"/>
              <a:t>Bags on floor</a:t>
            </a:r>
          </a:p>
          <a:p>
            <a:r>
              <a:rPr lang="en-AU" sz="2400" dirty="0"/>
              <a:t>Books out </a:t>
            </a:r>
          </a:p>
          <a:p>
            <a:r>
              <a:rPr lang="en-AU" sz="2400" dirty="0"/>
              <a:t>Pens out</a:t>
            </a:r>
          </a:p>
        </p:txBody>
      </p:sp>
      <p:pic>
        <p:nvPicPr>
          <p:cNvPr id="1026" name="Picture 2" descr="Keep silence and be quiet lips and finger silent sign, no noise ...">
            <a:extLst>
              <a:ext uri="{FF2B5EF4-FFF2-40B4-BE49-F238E27FC236}">
                <a16:creationId xmlns:a16="http://schemas.microsoft.com/office/drawing/2014/main" id="{F9579519-E5BA-4956-BC00-B5DFEB770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4336" y="180109"/>
            <a:ext cx="2146434" cy="214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C6649-D31F-3044-9828-A7494BB3C649}"/>
              </a:ext>
            </a:extLst>
          </p:cNvPr>
          <p:cNvSpPr txBox="1"/>
          <p:nvPr/>
        </p:nvSpPr>
        <p:spPr>
          <a:xfrm>
            <a:off x="723813" y="2326543"/>
            <a:ext cx="98537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What is the difference between a sample and population?</a:t>
            </a:r>
          </a:p>
          <a:p>
            <a:pPr algn="ctr"/>
            <a:endParaRPr lang="en-AU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252A31-95E5-1E4E-BD90-19EC13B7DEED}"/>
              </a:ext>
            </a:extLst>
          </p:cNvPr>
          <p:cNvSpPr txBox="1"/>
          <p:nvPr/>
        </p:nvSpPr>
        <p:spPr>
          <a:xfrm rot="16200000">
            <a:off x="-1102807" y="1085874"/>
            <a:ext cx="2541080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Activate Prior Knowledge</a:t>
            </a:r>
          </a:p>
        </p:txBody>
      </p:sp>
    </p:spTree>
    <p:extLst>
      <p:ext uri="{BB962C8B-B14F-4D97-AF65-F5344CB8AC3E}">
        <p14:creationId xmlns:p14="http://schemas.microsoft.com/office/powerpoint/2010/main" val="291788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28303-B0E0-B24D-827A-DB2F27B589E7}"/>
              </a:ext>
            </a:extLst>
          </p:cNvPr>
          <p:cNvSpPr txBox="1"/>
          <p:nvPr/>
        </p:nvSpPr>
        <p:spPr>
          <a:xfrm rot="16200000">
            <a:off x="-1102807" y="1085874"/>
            <a:ext cx="2541080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Activate Prior 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BCDAA-A982-034A-8C4C-91D47D9534D7}"/>
              </a:ext>
            </a:extLst>
          </p:cNvPr>
          <p:cNvSpPr txBox="1"/>
          <p:nvPr/>
        </p:nvSpPr>
        <p:spPr>
          <a:xfrm>
            <a:off x="1169130" y="351076"/>
            <a:ext cx="9853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/>
              <a:t>What is the difference between the population and the sample of a study?</a:t>
            </a:r>
          </a:p>
        </p:txBody>
      </p:sp>
      <p:sp>
        <p:nvSpPr>
          <p:cNvPr id="4" name="Rectangle 3"/>
          <p:cNvSpPr/>
          <p:nvPr/>
        </p:nvSpPr>
        <p:spPr>
          <a:xfrm>
            <a:off x="2405448" y="1990632"/>
            <a:ext cx="6602627" cy="3520482"/>
          </a:xfrm>
          <a:prstGeom prst="rect">
            <a:avLst/>
          </a:prstGeom>
          <a:solidFill>
            <a:srgbClr val="9ACDED"/>
          </a:solidFill>
        </p:spPr>
        <p:txBody>
          <a:bodyPr wrap="square">
            <a:spAutoFit/>
          </a:bodyPr>
          <a:lstStyle/>
          <a:p>
            <a:r>
              <a:rPr lang="en-AU" sz="2400" b="1" u="sng" dirty="0"/>
              <a:t>Sample: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In a study or experiment, the sample is the group that is a subset of the population (a larger group) being studied for research purposes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400" dirty="0"/>
          </a:p>
          <a:p>
            <a:r>
              <a:rPr lang="en-AU" sz="2400" b="1" u="sng" dirty="0"/>
              <a:t>Population:</a:t>
            </a:r>
            <a:endParaRPr lang="en-AU" sz="24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The group of *people to whom the findings from a research study apply</a:t>
            </a:r>
          </a:p>
        </p:txBody>
      </p:sp>
      <p:pic>
        <p:nvPicPr>
          <p:cNvPr id="6" name="Picture 5" descr="Iconsmind-Outline-Pen-5.ico">
            <a:extLst>
              <a:ext uri="{FF2B5EF4-FFF2-40B4-BE49-F238E27FC236}">
                <a16:creationId xmlns:a16="http://schemas.microsoft.com/office/drawing/2014/main" id="{001B3486-EF5E-1246-B3FD-CF10909F3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512" y="940794"/>
            <a:ext cx="1221221" cy="12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38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549676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227BF2-3A23-4146-A5CB-2F1E3B8062BE}"/>
              </a:ext>
            </a:extLst>
          </p:cNvPr>
          <p:cNvGraphicFramePr>
            <a:graphicFrameLocks noGrp="1"/>
          </p:cNvGraphicFramePr>
          <p:nvPr/>
        </p:nvGraphicFramePr>
        <p:xfrm>
          <a:off x="8277101" y="5847080"/>
          <a:ext cx="3914899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14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b="1" dirty="0"/>
                        <a:t>Next assessment: due week 8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Investigation 1: Data manipulation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977C874-59B7-7D40-AD84-39D71CED2E7B}"/>
              </a:ext>
            </a:extLst>
          </p:cNvPr>
          <p:cNvGraphicFramePr>
            <a:graphicFrameLocks noGrp="1"/>
          </p:cNvGraphicFramePr>
          <p:nvPr/>
        </p:nvGraphicFramePr>
        <p:xfrm>
          <a:off x="2517924" y="1067125"/>
          <a:ext cx="8205494" cy="4638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747">
                  <a:extLst>
                    <a:ext uri="{9D8B030D-6E8A-4147-A177-3AD203B41FA5}">
                      <a16:colId xmlns:a16="http://schemas.microsoft.com/office/drawing/2014/main" val="1757585107"/>
                    </a:ext>
                  </a:extLst>
                </a:gridCol>
                <a:gridCol w="4102747">
                  <a:extLst>
                    <a:ext uri="{9D8B030D-6E8A-4147-A177-3AD203B41FA5}">
                      <a16:colId xmlns:a16="http://schemas.microsoft.com/office/drawing/2014/main" val="2017565963"/>
                    </a:ext>
                  </a:extLst>
                </a:gridCol>
              </a:tblGrid>
              <a:tr h="44491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Terminology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792114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Operationalise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variable that could impact the results in research and is controlled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958320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Extraneous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extent to how replicable a piece of research is and how consistent the results would 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958005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research is testable, measurable, and follows a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38096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Taking an abstract variable and making it testable and measurable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75163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Scientific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 measured in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766486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Dependent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extent to which your research measures what it intends to measure (how accurate it is)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70411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F77788-628B-D74F-9C0E-DD4DE058DDCD}"/>
              </a:ext>
            </a:extLst>
          </p:cNvPr>
          <p:cNvSpPr txBox="1"/>
          <p:nvPr/>
        </p:nvSpPr>
        <p:spPr>
          <a:xfrm>
            <a:off x="3682426" y="197584"/>
            <a:ext cx="6161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Match the correct term to the definition</a:t>
            </a:r>
          </a:p>
        </p:txBody>
      </p:sp>
    </p:spTree>
    <p:extLst>
      <p:ext uri="{BB962C8B-B14F-4D97-AF65-F5344CB8AC3E}">
        <p14:creationId xmlns:p14="http://schemas.microsoft.com/office/powerpoint/2010/main" val="144170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8176" y="0"/>
            <a:ext cx="50535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877584"/>
            <a:ext cx="2197290" cy="19389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33D86A-45A7-7D40-B50A-B4F810AE92EF}"/>
              </a:ext>
            </a:extLst>
          </p:cNvPr>
          <p:cNvGraphicFramePr>
            <a:graphicFrameLocks noGrp="1"/>
          </p:cNvGraphicFramePr>
          <p:nvPr/>
        </p:nvGraphicFramePr>
        <p:xfrm>
          <a:off x="8277101" y="5847080"/>
          <a:ext cx="3914899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14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b="1" dirty="0"/>
                        <a:t>Next assessment: due week 8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Investigation 1: Data manipulation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073425A4-5ABE-064D-9673-F5C90011D266}"/>
              </a:ext>
            </a:extLst>
          </p:cNvPr>
          <p:cNvGraphicFramePr>
            <a:graphicFrameLocks noGrp="1"/>
          </p:cNvGraphicFramePr>
          <p:nvPr/>
        </p:nvGraphicFramePr>
        <p:xfrm>
          <a:off x="2339795" y="923775"/>
          <a:ext cx="8205494" cy="4868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747">
                  <a:extLst>
                    <a:ext uri="{9D8B030D-6E8A-4147-A177-3AD203B41FA5}">
                      <a16:colId xmlns:a16="http://schemas.microsoft.com/office/drawing/2014/main" val="1757585107"/>
                    </a:ext>
                  </a:extLst>
                </a:gridCol>
                <a:gridCol w="4102747">
                  <a:extLst>
                    <a:ext uri="{9D8B030D-6E8A-4147-A177-3AD203B41FA5}">
                      <a16:colId xmlns:a16="http://schemas.microsoft.com/office/drawing/2014/main" val="2017565963"/>
                    </a:ext>
                  </a:extLst>
                </a:gridCol>
              </a:tblGrid>
              <a:tr h="4788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Terminology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792114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Extraneous variable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variable that could impact the results in research and is controlled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958320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extent to how replicable a piece of research is and how consistent the results would 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958005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Scientific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research is testable, measurable, and follows a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38096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Operationalise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Taking an abstract variable and making it testable and measurable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75163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Dependent variable 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 measured in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766486"/>
                  </a:ext>
                </a:extLst>
              </a:tr>
              <a:tr h="444917">
                <a:tc>
                  <a:txBody>
                    <a:bodyPr/>
                    <a:lstStyle/>
                    <a:p>
                      <a:r>
                        <a:rPr lang="en-US" b="1" dirty="0"/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extent to which your research measures what it intends to measure (how accurate it is)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70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6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01" y="2009655"/>
            <a:ext cx="6224359" cy="712749"/>
          </a:xfrm>
        </p:spPr>
        <p:txBody>
          <a:bodyPr>
            <a:normAutofit/>
          </a:bodyPr>
          <a:lstStyle/>
          <a:p>
            <a:r>
              <a:rPr lang="en-US" sz="4000" b="1" dirty="0"/>
              <a:t>What do I need to prepare?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60844" y="13426"/>
            <a:ext cx="8817446" cy="1054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ASSESSMENT –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82" y="924404"/>
            <a:ext cx="9645155" cy="101566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2000" b="1" dirty="0">
                <a:solidFill>
                  <a:prstClr val="black"/>
                </a:solidFill>
              </a:rPr>
              <a:t>What is it?</a:t>
            </a:r>
            <a:endParaRPr lang="en-US" sz="2000" dirty="0">
              <a:solidFill>
                <a:prstClr val="black"/>
              </a:solidFill>
            </a:endParaRPr>
          </a:p>
          <a:p>
            <a:pPr defTabSz="457200"/>
            <a:r>
              <a:rPr lang="en-US" sz="2000" dirty="0">
                <a:solidFill>
                  <a:prstClr val="black"/>
                </a:solidFill>
              </a:rPr>
              <a:t>It is a Scientific piece of research. You will have to collect data, analyse it and write a report</a:t>
            </a:r>
          </a:p>
          <a:p>
            <a:pPr defTabSz="457200"/>
            <a:r>
              <a:rPr lang="en-US" sz="2000" dirty="0">
                <a:solidFill>
                  <a:prstClr val="black"/>
                </a:solidFill>
              </a:rPr>
              <a:t>  </a:t>
            </a: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638" y="137211"/>
            <a:ext cx="1123554" cy="1123554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0182" y="2722404"/>
            <a:ext cx="5504813" cy="3619853"/>
          </a:xfrm>
          <a:ln w="76200">
            <a:solidFill>
              <a:srgbClr val="92D050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will need to prepare notes for each section of your poster.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will write up your poster in test conditions:</a:t>
            </a:r>
          </a:p>
          <a:p>
            <a:pPr marL="0" indent="0">
              <a:buNone/>
            </a:pPr>
            <a:endParaRPr lang="en-US" dirty="0"/>
          </a:p>
          <a:p>
            <a:pPr algn="ctr">
              <a:buFontTx/>
              <a:buChar char="-"/>
            </a:pPr>
            <a:r>
              <a:rPr lang="en-US" dirty="0"/>
              <a:t>Introduction, Method, Results, Discussion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B2DC8-FBA4-3345-9ED4-D3C7873D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689" y="2459697"/>
            <a:ext cx="2147724" cy="434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A16EF6-F4E9-9C4C-90F2-72E4876ACAE4}"/>
              </a:ext>
            </a:extLst>
          </p:cNvPr>
          <p:cNvSpPr txBox="1"/>
          <p:nvPr/>
        </p:nvSpPr>
        <p:spPr>
          <a:xfrm>
            <a:off x="6096000" y="2722404"/>
            <a:ext cx="3193364" cy="20313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</a:rPr>
              <a:t>When is it due? </a:t>
            </a:r>
          </a:p>
          <a:p>
            <a:pPr defTabSz="457200"/>
            <a:endParaRPr lang="en-US" dirty="0">
              <a:solidFill>
                <a:prstClr val="black"/>
              </a:solidFill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</a:rPr>
              <a:t>Next Tuesday – write up</a:t>
            </a:r>
          </a:p>
          <a:p>
            <a:pPr defTabSz="457200"/>
            <a:endParaRPr lang="en-US" b="1" dirty="0">
              <a:solidFill>
                <a:prstClr val="black"/>
              </a:solidFill>
            </a:endParaRPr>
          </a:p>
          <a:p>
            <a:pPr defTabSz="457200"/>
            <a:r>
              <a:rPr lang="en-US" b="1" dirty="0">
                <a:solidFill>
                  <a:prstClr val="black"/>
                </a:solidFill>
              </a:rPr>
              <a:t>How much is it worth?</a:t>
            </a:r>
            <a:endParaRPr lang="en-US" dirty="0">
              <a:solidFill>
                <a:prstClr val="black"/>
              </a:solidFill>
            </a:endParaRPr>
          </a:p>
          <a:p>
            <a:pPr defTabSz="457200"/>
            <a:endParaRPr lang="en-US" dirty="0">
              <a:solidFill>
                <a:prstClr val="black"/>
              </a:solidFill>
            </a:endParaRPr>
          </a:p>
          <a:p>
            <a:pPr algn="ctr" defTabSz="457200"/>
            <a:r>
              <a:rPr lang="en-US" dirty="0">
                <a:solidFill>
                  <a:prstClr val="black"/>
                </a:solidFill>
              </a:rPr>
              <a:t>12.5%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3F4CF-2BA9-DC4E-9A73-8C0566649B30}"/>
              </a:ext>
            </a:extLst>
          </p:cNvPr>
          <p:cNvSpPr txBox="1"/>
          <p:nvPr/>
        </p:nvSpPr>
        <p:spPr>
          <a:xfrm>
            <a:off x="6063564" y="5074401"/>
            <a:ext cx="39973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Who here is near a grade boundary?</a:t>
            </a:r>
          </a:p>
          <a:p>
            <a:r>
              <a:rPr lang="en-US" dirty="0"/>
              <a:t>Who here wants to improve their grade?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87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FD52F-2616-8B4E-B67B-D9532DC6776F}"/>
              </a:ext>
            </a:extLst>
          </p:cNvPr>
          <p:cNvSpPr txBox="1"/>
          <p:nvPr/>
        </p:nvSpPr>
        <p:spPr>
          <a:xfrm>
            <a:off x="1430767" y="2441986"/>
            <a:ext cx="64710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/>
              <a:t>Listen to the brief</a:t>
            </a:r>
          </a:p>
        </p:txBody>
      </p:sp>
    </p:spTree>
    <p:extLst>
      <p:ext uri="{BB962C8B-B14F-4D97-AF65-F5344CB8AC3E}">
        <p14:creationId xmlns:p14="http://schemas.microsoft.com/office/powerpoint/2010/main" val="2236304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246" y="193567"/>
            <a:ext cx="9133490" cy="2344825"/>
          </a:xfrm>
        </p:spPr>
        <p:txBody>
          <a:bodyPr>
            <a:normAutofit/>
          </a:bodyPr>
          <a:lstStyle/>
          <a:p>
            <a:r>
              <a:rPr lang="en-US" sz="6600" b="1" dirty="0"/>
              <a:t>Learning Intention</a:t>
            </a: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94" y="506437"/>
            <a:ext cx="1380778" cy="138077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7E1E3A-1A7B-AC46-8FA4-79F4030D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46" y="2653435"/>
            <a:ext cx="8677836" cy="178659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I will be able to write a method section for my investigation, including participants, materials, procedure.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I will continue to draft my introduction section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9FDDC-ADEC-DB43-9575-5CC65019297B}"/>
              </a:ext>
            </a:extLst>
          </p:cNvPr>
          <p:cNvSpPr txBox="1"/>
          <p:nvPr/>
        </p:nvSpPr>
        <p:spPr>
          <a:xfrm>
            <a:off x="8946082" y="2423350"/>
            <a:ext cx="3101569" cy="2246769"/>
          </a:xfrm>
          <a:prstGeom prst="rect">
            <a:avLst/>
          </a:prstGeom>
          <a:noFill/>
          <a:ln w="508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Your turn: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Complete your method and ethics section!</a:t>
            </a:r>
          </a:p>
        </p:txBody>
      </p:sp>
    </p:spTree>
    <p:extLst>
      <p:ext uri="{BB962C8B-B14F-4D97-AF65-F5344CB8AC3E}">
        <p14:creationId xmlns:p14="http://schemas.microsoft.com/office/powerpoint/2010/main" val="182721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0886D5-D4B5-A845-A0BD-0043CF73BE16}"/>
              </a:ext>
            </a:extLst>
          </p:cNvPr>
          <p:cNvSpPr txBox="1">
            <a:spLocks/>
          </p:cNvSpPr>
          <p:nvPr/>
        </p:nvSpPr>
        <p:spPr>
          <a:xfrm>
            <a:off x="-472008" y="255643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Success Criteria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AF6B6-F131-D046-A2FA-208C7D4130D2}"/>
              </a:ext>
            </a:extLst>
          </p:cNvPr>
          <p:cNvSpPr txBox="1"/>
          <p:nvPr/>
        </p:nvSpPr>
        <p:spPr>
          <a:xfrm>
            <a:off x="267004" y="1701188"/>
            <a:ext cx="67988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I will participate in the investigation – </a:t>
            </a:r>
          </a:p>
          <a:p>
            <a:r>
              <a:rPr lang="en-US" sz="2800" dirty="0">
                <a:highlight>
                  <a:srgbClr val="FFFF00"/>
                </a:highlight>
              </a:rPr>
              <a:t>Experimental or control group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/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I will complete my notes for my method section 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/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I will start the  introduction and undertake a peer review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FE567-32F5-9B4F-AE6D-E1480284E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111" y="123404"/>
            <a:ext cx="4599483" cy="63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39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8286-A031-8549-88FE-82F207117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182" y="1140422"/>
            <a:ext cx="5962650" cy="5288086"/>
          </a:xfrm>
          <a:solidFill>
            <a:schemeClr val="bg1"/>
          </a:solidFill>
          <a:ln w="92075"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D6069"/>
                </a:solidFill>
              </a:rPr>
              <a:t>Writing style </a:t>
            </a:r>
          </a:p>
          <a:p>
            <a:pPr marL="0" indent="0">
              <a:buNone/>
            </a:pPr>
            <a:r>
              <a:rPr lang="en-US" dirty="0"/>
              <a:t>In this learning task you are the </a:t>
            </a:r>
            <a:r>
              <a:rPr lang="en-US" b="1" dirty="0"/>
              <a:t>student</a:t>
            </a:r>
            <a:r>
              <a:rPr lang="en-US" dirty="0"/>
              <a:t>, </a:t>
            </a:r>
            <a:r>
              <a:rPr lang="en-US" b="1" dirty="0"/>
              <a:t>researcher</a:t>
            </a:r>
            <a:r>
              <a:rPr lang="en-US" dirty="0"/>
              <a:t> and </a:t>
            </a:r>
            <a:r>
              <a:rPr lang="en-US" b="1" dirty="0"/>
              <a:t>participant</a:t>
            </a:r>
          </a:p>
          <a:p>
            <a:r>
              <a:rPr lang="en-US" dirty="0"/>
              <a:t>You are writing your report in </a:t>
            </a:r>
            <a:r>
              <a:rPr lang="en-US" u="sng" dirty="0"/>
              <a:t>third person</a:t>
            </a:r>
            <a:r>
              <a:rPr lang="en-US" dirty="0"/>
              <a:t> as the researcher</a:t>
            </a:r>
          </a:p>
          <a:p>
            <a:r>
              <a:rPr lang="en-US" u="sng" dirty="0"/>
              <a:t>Do not </a:t>
            </a:r>
            <a:r>
              <a:rPr lang="en-US" dirty="0"/>
              <a:t>write in first hand or as a student / participant</a:t>
            </a:r>
          </a:p>
          <a:p>
            <a:pPr marL="0" indent="0">
              <a:buNone/>
            </a:pPr>
            <a:r>
              <a:rPr lang="en-US" dirty="0"/>
              <a:t>Use as much scientific terminology to describe the sampling, method, and results.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92FD4-3D2B-2840-8F37-BBEC8B33E5AB}"/>
              </a:ext>
            </a:extLst>
          </p:cNvPr>
          <p:cNvSpPr txBox="1"/>
          <p:nvPr/>
        </p:nvSpPr>
        <p:spPr>
          <a:xfrm rot="16200000">
            <a:off x="-1070435" y="1070437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Skill Development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374AD-570E-3644-84F4-4F9870455505}"/>
              </a:ext>
            </a:extLst>
          </p:cNvPr>
          <p:cNvSpPr/>
          <p:nvPr/>
        </p:nvSpPr>
        <p:spPr>
          <a:xfrm>
            <a:off x="6944460" y="1141711"/>
            <a:ext cx="5057040" cy="5386090"/>
          </a:xfrm>
          <a:prstGeom prst="rect">
            <a:avLst/>
          </a:prstGeom>
          <a:ln w="889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D6069"/>
                </a:solidFill>
              </a:rPr>
              <a:t>Literature review sentence starters</a:t>
            </a:r>
          </a:p>
          <a:p>
            <a:endParaRPr lang="en-US" sz="2800" dirty="0"/>
          </a:p>
          <a:p>
            <a:r>
              <a:rPr lang="en-US" sz="2800" dirty="0"/>
              <a:t>Davey (2019) noted that… </a:t>
            </a:r>
          </a:p>
          <a:p>
            <a:r>
              <a:rPr lang="en-US" sz="2800" dirty="0"/>
              <a:t>From the previous research it was found that __________</a:t>
            </a:r>
          </a:p>
          <a:p>
            <a:endParaRPr lang="en-US" sz="2800" dirty="0"/>
          </a:p>
          <a:p>
            <a:r>
              <a:rPr lang="en-US" sz="2800" dirty="0"/>
              <a:t>Previous research indicates that ________</a:t>
            </a:r>
          </a:p>
          <a:p>
            <a:r>
              <a:rPr lang="en-US" sz="2800" dirty="0"/>
              <a:t>Another study by _________ also found similar results that_______</a:t>
            </a:r>
          </a:p>
          <a:p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2E6CF-61F3-0D4E-9E25-4E948F6B82C7}"/>
              </a:ext>
            </a:extLst>
          </p:cNvPr>
          <p:cNvSpPr txBox="1"/>
          <p:nvPr/>
        </p:nvSpPr>
        <p:spPr>
          <a:xfrm>
            <a:off x="5012489" y="1"/>
            <a:ext cx="3863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D6069"/>
                </a:solidFill>
              </a:rPr>
              <a:t>Write-up hints</a:t>
            </a:r>
          </a:p>
        </p:txBody>
      </p:sp>
    </p:spTree>
    <p:extLst>
      <p:ext uri="{BB962C8B-B14F-4D97-AF65-F5344CB8AC3E}">
        <p14:creationId xmlns:p14="http://schemas.microsoft.com/office/powerpoint/2010/main" val="82704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B8DC52-3CC7-AD40-895E-985C974B4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3" y="1076786"/>
            <a:ext cx="11036300" cy="269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977956" y="1349266"/>
            <a:ext cx="7734243" cy="581134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496936" y="3554779"/>
            <a:ext cx="11580414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1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participants (how many? Who are they/demographic information)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sampling method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sampling method was used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participant allocation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participant allocation was used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85237-3639-A941-9A9F-0927E37BA231}"/>
              </a:ext>
            </a:extLst>
          </p:cNvPr>
          <p:cNvSpPr txBox="1"/>
          <p:nvPr/>
        </p:nvSpPr>
        <p:spPr>
          <a:xfrm rot="16200000">
            <a:off x="-702934" y="1774766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28300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583571" y="1326155"/>
            <a:ext cx="4312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Example of Step 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DDB9F9-9B63-0F43-98DF-3E09A46AC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610" y="95383"/>
            <a:ext cx="6511092" cy="6447362"/>
          </a:xfrm>
          <a:prstGeom prst="rect">
            <a:avLst/>
          </a:prstGeom>
          <a:scene3d>
            <a:camera prst="orthographicFront"/>
            <a:lightRig rig="threePt" dir="t"/>
          </a:scene3d>
          <a:sp3d contourW="82550">
            <a:contourClr>
              <a:schemeClr val="accent1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42CAED-D478-A947-BC46-65DA37AA7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57" y="4122729"/>
            <a:ext cx="3650804" cy="2044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CF8628-2810-BF4B-9DC9-6A4CDB2C41E7}"/>
              </a:ext>
            </a:extLst>
          </p:cNvPr>
          <p:cNvSpPr txBox="1"/>
          <p:nvPr/>
        </p:nvSpPr>
        <p:spPr>
          <a:xfrm rot="16200000">
            <a:off x="-702934" y="1774766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942202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A94C9-4338-054C-AED0-9BAC30C7F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1045867"/>
            <a:ext cx="11036300" cy="269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1254427" y="1859810"/>
            <a:ext cx="1455753" cy="320548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543625" y="4514164"/>
            <a:ext cx="733886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2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the materials used in the investigation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materials were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F23C2-18B3-2543-B9FC-C925BD58F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492" y="3738267"/>
            <a:ext cx="8394348" cy="1551793"/>
          </a:xfrm>
          <a:prstGeom prst="rect">
            <a:avLst/>
          </a:prstGeom>
          <a:scene3d>
            <a:camera prst="orthographicFront"/>
            <a:lightRig rig="threePt" dir="t"/>
          </a:scene3d>
          <a:sp3d contourW="82550">
            <a:contourClr>
              <a:schemeClr val="accent1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C5D606-D191-6243-8FE5-E780A26F7478}"/>
              </a:ext>
            </a:extLst>
          </p:cNvPr>
          <p:cNvSpPr txBox="1"/>
          <p:nvPr/>
        </p:nvSpPr>
        <p:spPr>
          <a:xfrm rot="16200000">
            <a:off x="-702934" y="1774766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3743877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496937" y="3239246"/>
            <a:ext cx="10429458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4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Provide a step-by-step guide on the procedure of the investigation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Sentence starters: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Firstly the researchers briefed participants on the aim that…..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Then the researchers handed out the questionnaire that measured…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Participants anonymity was maintained through…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4ADF7-F5F2-184A-B453-80B162C1754B}"/>
              </a:ext>
            </a:extLst>
          </p:cNvPr>
          <p:cNvSpPr txBox="1"/>
          <p:nvPr/>
        </p:nvSpPr>
        <p:spPr>
          <a:xfrm rot="16200000">
            <a:off x="-773567" y="1557848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4CAE02-368D-DC44-9307-4FB9C45BF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909" y="1294583"/>
            <a:ext cx="9806037" cy="23922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2100909" y="2277823"/>
            <a:ext cx="4333031" cy="212893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720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4839103" y="1869124"/>
            <a:ext cx="4052485" cy="226767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325315" y="3983593"/>
            <a:ext cx="8284113" cy="2415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5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possible extraneous variables.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how extraneous variables are being controlled for.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87C01F-7FE5-5544-9757-584C19E3C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350821"/>
              </p:ext>
            </p:extLst>
          </p:nvPr>
        </p:nvGraphicFramePr>
        <p:xfrm>
          <a:off x="8891588" y="4259937"/>
          <a:ext cx="3231857" cy="24645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31857">
                  <a:extLst>
                    <a:ext uri="{9D8B030D-6E8A-4147-A177-3AD203B41FA5}">
                      <a16:colId xmlns:a16="http://schemas.microsoft.com/office/drawing/2014/main" val="3734395305"/>
                    </a:ext>
                  </a:extLst>
                </a:gridCol>
              </a:tblGrid>
              <a:tr h="49837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172276"/>
                  </a:ext>
                </a:extLst>
              </a:tr>
              <a:tr h="196620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1" dirty="0"/>
                        <a:t>Extraneous variables: </a:t>
                      </a:r>
                      <a:r>
                        <a:rPr lang="en-US" sz="1800" dirty="0"/>
                        <a:t>variables that the researchers tries to control for, so they do not influence the dependent variable (they are not being studied in the experiment).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8154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3329399-4597-F948-8F56-301C87B632E8}"/>
              </a:ext>
            </a:extLst>
          </p:cNvPr>
          <p:cNvSpPr txBox="1"/>
          <p:nvPr/>
        </p:nvSpPr>
        <p:spPr>
          <a:xfrm rot="16200000">
            <a:off x="-737158" y="1584267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9CBE42-94F4-2340-A1F8-472A779FD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33" y="1028280"/>
            <a:ext cx="11036300" cy="2692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EBF549-DE5F-E946-BB33-321AE83B615D}"/>
              </a:ext>
            </a:extLst>
          </p:cNvPr>
          <p:cNvSpPr/>
          <p:nvPr/>
        </p:nvSpPr>
        <p:spPr>
          <a:xfrm>
            <a:off x="1422595" y="2936735"/>
            <a:ext cx="4673405" cy="215073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812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DEFDE9-2D29-C744-9AF2-1503DE45FE24}"/>
              </a:ext>
            </a:extLst>
          </p:cNvPr>
          <p:cNvSpPr txBox="1"/>
          <p:nvPr/>
        </p:nvSpPr>
        <p:spPr>
          <a:xfrm>
            <a:off x="2895861" y="0"/>
            <a:ext cx="6400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Literature review station 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F47CE-0BFD-0642-A76F-4ED443BA4988}"/>
              </a:ext>
            </a:extLst>
          </p:cNvPr>
          <p:cNvSpPr txBox="1"/>
          <p:nvPr/>
        </p:nvSpPr>
        <p:spPr>
          <a:xfrm>
            <a:off x="1283097" y="659011"/>
            <a:ext cx="10311605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In pairs…</a:t>
            </a:r>
          </a:p>
          <a:p>
            <a:pPr algn="ctr"/>
            <a:endParaRPr lang="en-US" sz="2800" dirty="0"/>
          </a:p>
          <a:p>
            <a:pPr algn="ctr"/>
            <a:r>
              <a:rPr lang="en-US" sz="3600" dirty="0"/>
              <a:t>You will go around and summarise 4 research papers. </a:t>
            </a:r>
            <a:endParaRPr lang="en-US" sz="2400" dirty="0"/>
          </a:p>
          <a:p>
            <a:r>
              <a:rPr lang="en-US" sz="2400" dirty="0"/>
              <a:t>At each station: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One person will be scribe and take notes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One person will be be the reviewer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Switch roles at each station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5713C-E2E0-684F-B33A-C3FA5EC81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102" y="3756233"/>
            <a:ext cx="4483100" cy="214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080D1B-FFCE-5A4F-A7A7-BE917D4F8133}"/>
              </a:ext>
            </a:extLst>
          </p:cNvPr>
          <p:cNvSpPr txBox="1"/>
          <p:nvPr/>
        </p:nvSpPr>
        <p:spPr>
          <a:xfrm>
            <a:off x="2338682" y="6014323"/>
            <a:ext cx="792794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Put the research into your own words and try to find a link to the current research.</a:t>
            </a:r>
          </a:p>
          <a:p>
            <a:pPr algn="ctr"/>
            <a:r>
              <a:rPr lang="en-US" dirty="0"/>
              <a:t>This will be used in your introduction section.</a:t>
            </a:r>
          </a:p>
        </p:txBody>
      </p:sp>
    </p:spTree>
    <p:extLst>
      <p:ext uri="{BB962C8B-B14F-4D97-AF65-F5344CB8AC3E}">
        <p14:creationId xmlns:p14="http://schemas.microsoft.com/office/powerpoint/2010/main" val="2168403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746" y="-285620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15ECB-27C8-6B4A-84BB-ECDF1BE10ED0}"/>
              </a:ext>
            </a:extLst>
          </p:cNvPr>
          <p:cNvSpPr txBox="1"/>
          <p:nvPr/>
        </p:nvSpPr>
        <p:spPr>
          <a:xfrm>
            <a:off x="7339149" y="4557932"/>
            <a:ext cx="3225688" cy="1477328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Use this as a guide for </a:t>
            </a:r>
          </a:p>
          <a:p>
            <a:r>
              <a:rPr lang="en-US" dirty="0"/>
              <a:t>When we come to drafting your</a:t>
            </a:r>
          </a:p>
          <a:p>
            <a:r>
              <a:rPr lang="en-US" dirty="0"/>
              <a:t>Introductions.</a:t>
            </a:r>
          </a:p>
          <a:p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5D82E8C-BE41-7340-85D0-59AF80E50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2059133"/>
              </p:ext>
            </p:extLst>
          </p:nvPr>
        </p:nvGraphicFramePr>
        <p:xfrm>
          <a:off x="470250" y="4216761"/>
          <a:ext cx="3383991" cy="2834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A49520E-7A1E-3146-ABD0-3118FE59A759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E56CD3-F562-DD4B-9D88-D2BDCA6E8AF3}"/>
              </a:ext>
            </a:extLst>
          </p:cNvPr>
          <p:cNvSpPr txBox="1"/>
          <p:nvPr/>
        </p:nvSpPr>
        <p:spPr>
          <a:xfrm>
            <a:off x="3252117" y="6408514"/>
            <a:ext cx="893988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Writing your introduction is easier when you have read a few introductions on the same topic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0C1376-CBED-FF48-A90A-B9DF9BD335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114" y="756628"/>
            <a:ext cx="8943771" cy="30868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90B7EE-0A6C-5642-8A5C-B6CB23394892}"/>
              </a:ext>
            </a:extLst>
          </p:cNvPr>
          <p:cNvSpPr/>
          <p:nvPr/>
        </p:nvSpPr>
        <p:spPr>
          <a:xfrm>
            <a:off x="1624114" y="935061"/>
            <a:ext cx="7697686" cy="916157"/>
          </a:xfrm>
          <a:prstGeom prst="rect">
            <a:avLst/>
          </a:prstGeom>
          <a:solidFill>
            <a:schemeClr val="accent2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739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Tips for an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5 steps to Writing the Introduction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1)	</a:t>
            </a:r>
            <a:r>
              <a:rPr lang="en-US" dirty="0">
                <a:hlinkClick r:id="rId2"/>
              </a:rPr>
              <a:t>Establish Topic</a:t>
            </a:r>
            <a:r>
              <a:rPr lang="en-US" dirty="0"/>
              <a:t> -- quick, concise (what is being studied).</a:t>
            </a:r>
            <a:br>
              <a:rPr lang="en-US" dirty="0"/>
            </a:br>
            <a:r>
              <a:rPr lang="en-US" dirty="0"/>
              <a:t>2) 	</a:t>
            </a:r>
            <a:r>
              <a:rPr lang="en-US" dirty="0">
                <a:hlinkClick r:id="rId3"/>
              </a:rPr>
              <a:t>Provide significance</a:t>
            </a:r>
            <a:r>
              <a:rPr lang="en-US" dirty="0"/>
              <a:t> -- why it is generally important/interesting to 	study.</a:t>
            </a:r>
            <a:br>
              <a:rPr lang="en-US" dirty="0"/>
            </a:br>
            <a:r>
              <a:rPr lang="en-US" dirty="0"/>
              <a:t>3) 	</a:t>
            </a:r>
            <a:r>
              <a:rPr lang="en-US" dirty="0">
                <a:hlinkClick r:id="rId4"/>
              </a:rPr>
              <a:t>Review the relevant literature</a:t>
            </a:r>
            <a:r>
              <a:rPr lang="en-US" dirty="0"/>
              <a:t> -- what the expert literature 	reveals (what the scientific community already know). 	Provides a summary, classification, comparison and evaluation 	of different studies.</a:t>
            </a:r>
            <a:br>
              <a:rPr lang="en-US" dirty="0"/>
            </a:br>
            <a:r>
              <a:rPr lang="en-US" dirty="0"/>
              <a:t>4) 	</a:t>
            </a:r>
            <a:r>
              <a:rPr lang="en-US" dirty="0">
                <a:hlinkClick r:id="rId5"/>
              </a:rPr>
              <a:t>Point out the gap</a:t>
            </a:r>
            <a:r>
              <a:rPr lang="en-US" dirty="0"/>
              <a:t> -- what is the motivation for study = aim</a:t>
            </a:r>
            <a:br>
              <a:rPr lang="en-US" dirty="0"/>
            </a:br>
            <a:r>
              <a:rPr lang="en-US" dirty="0"/>
              <a:t>5) 	</a:t>
            </a:r>
            <a:r>
              <a:rPr lang="en-US" dirty="0">
                <a:hlinkClick r:id="rId6"/>
              </a:rPr>
              <a:t>Reveal the research question</a:t>
            </a:r>
            <a:r>
              <a:rPr lang="en-US" dirty="0"/>
              <a:t> (hypothesis) – </a:t>
            </a:r>
            <a:r>
              <a:rPr lang="en-GB" dirty="0"/>
              <a:t>Identifies variables 	and formulates an operational hypothesis.</a:t>
            </a:r>
            <a:r>
              <a:rPr lang="en-AU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25A41-E846-0940-96CF-3477DC3D2C9F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878083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64" y="-133598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5D82E8C-BE41-7340-85D0-59AF80E5003B}"/>
              </a:ext>
            </a:extLst>
          </p:cNvPr>
          <p:cNvGraphicFramePr/>
          <p:nvPr/>
        </p:nvGraphicFramePr>
        <p:xfrm>
          <a:off x="8119466" y="1484809"/>
          <a:ext cx="3910482" cy="3334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56BECB-E07C-314D-B66F-E5770E89B1E1}"/>
              </a:ext>
            </a:extLst>
          </p:cNvPr>
          <p:cNvSpPr txBox="1">
            <a:spLocks/>
          </p:cNvSpPr>
          <p:nvPr/>
        </p:nvSpPr>
        <p:spPr>
          <a:xfrm>
            <a:off x="520505" y="1484809"/>
            <a:ext cx="7598961" cy="4983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/>
              <a:t>Step 1: Establish the topic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/>
          </a:p>
          <a:p>
            <a:r>
              <a:rPr lang="en-AU" sz="2800" dirty="0"/>
              <a:t>What are you studying in this investigation?</a:t>
            </a:r>
          </a:p>
          <a:p>
            <a:r>
              <a:rPr lang="en-AU" sz="2800" dirty="0"/>
              <a:t>State the topic in broad terms.</a:t>
            </a:r>
          </a:p>
          <a:p>
            <a:r>
              <a:rPr lang="en-AU" sz="2800" dirty="0"/>
              <a:t>An example of establishing the topic from McCann and Holmes: 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accent1">
                    <a:lumMod val="75000"/>
                  </a:schemeClr>
                </a:solidFill>
              </a:rPr>
              <a:t>There is currently a substantial amount of interest in the use of strenuous aerobic exercise for reducing depression. </a:t>
            </a:r>
          </a:p>
          <a:p>
            <a:endParaRPr lang="en-AU" sz="3200" dirty="0"/>
          </a:p>
          <a:p>
            <a:pPr marL="514350" indent="-514350">
              <a:buFont typeface="+mj-lt"/>
              <a:buAutoNum type="alphaUcPeriod"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710F4-5EA2-E641-BA6A-17327C0DE570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614364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64" y="-133598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5D82E8C-BE41-7340-85D0-59AF80E50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751549"/>
              </p:ext>
            </p:extLst>
          </p:nvPr>
        </p:nvGraphicFramePr>
        <p:xfrm>
          <a:off x="8119466" y="1484809"/>
          <a:ext cx="3910482" cy="3334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56BECB-E07C-314D-B66F-E5770E89B1E1}"/>
              </a:ext>
            </a:extLst>
          </p:cNvPr>
          <p:cNvSpPr txBox="1">
            <a:spLocks/>
          </p:cNvSpPr>
          <p:nvPr/>
        </p:nvSpPr>
        <p:spPr>
          <a:xfrm>
            <a:off x="825305" y="1233055"/>
            <a:ext cx="7598961" cy="5360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dirty="0"/>
              <a:t>Step 2: Explain its significance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r>
              <a:rPr lang="en-AU" sz="3200" dirty="0"/>
              <a:t>Describe relevant theories, models or concepts that demonstrate the relationship between exercise and mood</a:t>
            </a:r>
          </a:p>
          <a:p>
            <a:r>
              <a:rPr lang="en-AU" sz="3200" dirty="0"/>
              <a:t>Summaries in your own words</a:t>
            </a:r>
          </a:p>
          <a:p>
            <a:r>
              <a:rPr lang="en-AU" sz="3200" dirty="0"/>
              <a:t>Cite the sources of the theories using APA referencing (surname, year). </a:t>
            </a:r>
          </a:p>
          <a:p>
            <a:r>
              <a:rPr lang="en-AU" sz="3200" dirty="0"/>
              <a:t>An example from McCann and Holmes: </a:t>
            </a:r>
          </a:p>
          <a:p>
            <a:pPr marL="0" indent="0">
              <a:buNone/>
            </a:pPr>
            <a:r>
              <a:rPr lang="en-AU" sz="3200" dirty="0">
                <a:solidFill>
                  <a:schemeClr val="accent1">
                    <a:lumMod val="75000"/>
                  </a:schemeClr>
                </a:solidFill>
              </a:rPr>
              <a:t>The interest in the effects of exercise on depression appears to have been stimulated initially by the "feeling good" phenomenon associated with exercise (Cooper, 1968). </a:t>
            </a:r>
          </a:p>
          <a:p>
            <a:endParaRPr lang="en-AU" sz="3200" dirty="0"/>
          </a:p>
          <a:p>
            <a:pPr marL="514350" indent="-514350">
              <a:buFont typeface="+mj-lt"/>
              <a:buAutoNum type="alphaUcPeriod"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710F4-5EA2-E641-BA6A-17327C0DE570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665478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64" y="-133598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56BECB-E07C-314D-B66F-E5770E89B1E1}"/>
              </a:ext>
            </a:extLst>
          </p:cNvPr>
          <p:cNvSpPr txBox="1">
            <a:spLocks/>
          </p:cNvSpPr>
          <p:nvPr/>
        </p:nvSpPr>
        <p:spPr>
          <a:xfrm>
            <a:off x="722388" y="1558589"/>
            <a:ext cx="6161212" cy="52851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Step 3: Review relevant literature</a:t>
            </a:r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/>
              <a:t>Read McCann and Holmes and two more studies</a:t>
            </a:r>
          </a:p>
          <a:p>
            <a:r>
              <a:rPr lang="en-AU" sz="3200" dirty="0"/>
              <a:t>Summaries at least two of studies’ method and findings</a:t>
            </a:r>
          </a:p>
          <a:p>
            <a:r>
              <a:rPr lang="en-AU" sz="3200" dirty="0"/>
              <a:t>Evaluate the usefulness of each study to the current research = outline any weaknesses and strengths to contribute to </a:t>
            </a:r>
            <a:r>
              <a:rPr lang="en-AU" sz="3200" b="1" dirty="0"/>
              <a:t>why</a:t>
            </a:r>
            <a:r>
              <a:rPr lang="en-AU" sz="3200" dirty="0"/>
              <a:t> we are conducting the current study (link previous study to current study).</a:t>
            </a:r>
          </a:p>
          <a:p>
            <a:r>
              <a:rPr lang="en-AU" sz="3200" dirty="0"/>
              <a:t>Cite the studies using APA referencing (surname, year).</a:t>
            </a:r>
          </a:p>
          <a:p>
            <a:r>
              <a:rPr lang="en-AU" sz="3200" dirty="0"/>
              <a:t>Include other studies to help compare/add to understanding, without as much detail.  </a:t>
            </a:r>
          </a:p>
          <a:p>
            <a:endParaRPr lang="en-AU" sz="3200" dirty="0"/>
          </a:p>
          <a:p>
            <a:pPr marL="514350" indent="-514350">
              <a:buFont typeface="+mj-lt"/>
              <a:buAutoNum type="alphaUcPeriod"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7DD03-C2E5-AA4B-A513-EB1E667A2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655" y="1900100"/>
            <a:ext cx="4724400" cy="415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269F6-ABA1-5049-AB39-BA58411B87B4}"/>
              </a:ext>
            </a:extLst>
          </p:cNvPr>
          <p:cNvSpPr txBox="1"/>
          <p:nvPr/>
        </p:nvSpPr>
        <p:spPr>
          <a:xfrm>
            <a:off x="7508282" y="1358534"/>
            <a:ext cx="4181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example from McCann and Holmes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41A05C-272C-C74E-8CFD-C6D8F00E3085}"/>
              </a:ext>
            </a:extLst>
          </p:cNvPr>
          <p:cNvSpPr txBox="1"/>
          <p:nvPr/>
        </p:nvSpPr>
        <p:spPr>
          <a:xfrm rot="16200000">
            <a:off x="-741676" y="3790763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67952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64" y="-133598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5D82E8C-BE41-7340-85D0-59AF80E50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1277329"/>
              </p:ext>
            </p:extLst>
          </p:nvPr>
        </p:nvGraphicFramePr>
        <p:xfrm>
          <a:off x="8281518" y="1695825"/>
          <a:ext cx="3910482" cy="3334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56BECB-E07C-314D-B66F-E5770E89B1E1}"/>
              </a:ext>
            </a:extLst>
          </p:cNvPr>
          <p:cNvSpPr txBox="1">
            <a:spLocks/>
          </p:cNvSpPr>
          <p:nvPr/>
        </p:nvSpPr>
        <p:spPr>
          <a:xfrm>
            <a:off x="520505" y="1484809"/>
            <a:ext cx="7761013" cy="508480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Step 4: </a:t>
            </a:r>
            <a:r>
              <a:rPr lang="en-GB" sz="3100" dirty="0"/>
              <a:t>Point out the gap</a:t>
            </a:r>
            <a:endParaRPr lang="en-AU" sz="3100" dirty="0"/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/>
              <a:t>Use a justification from previous studies (a gap in previous research).</a:t>
            </a:r>
          </a:p>
          <a:p>
            <a:r>
              <a:rPr lang="en-AU" sz="3200" dirty="0"/>
              <a:t>Write the aim of the study.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An example from McCann and Holmes: </a:t>
            </a:r>
            <a:endParaRPr lang="en-AU" dirty="0"/>
          </a:p>
          <a:p>
            <a:pPr marL="0" indent="0">
              <a:buNone/>
            </a:pPr>
            <a:r>
              <a:rPr lang="en-AU" sz="3100" dirty="0">
                <a:solidFill>
                  <a:schemeClr val="accent1">
                    <a:lumMod val="75000"/>
                  </a:schemeClr>
                </a:solidFill>
              </a:rPr>
              <a:t>The present investigation was conducted to provide a controlled experimental test of the hypothesized relationship between strenuous aerobic exercise and decreases in depression.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37A4D-AB44-4743-A268-FE6F91EEF075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704200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0844" y="13426"/>
            <a:ext cx="8817446" cy="1054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ASSESSMENT 2 – Peer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309" y="1268563"/>
            <a:ext cx="9645155" cy="2246769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Look at the rubric below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In groups of 2-3, switch drafts 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Assess your peer’s work according to the rubric (5 minutes)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What do you notice was done well?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Is there anything they are missing or could be improved?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Give them constructive feedback! (2 minutes)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Make your improvements!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638" y="137211"/>
            <a:ext cx="1123554" cy="11235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3B2DC8-FBA4-3345-9ED4-D3C7873D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689" y="2459697"/>
            <a:ext cx="2147724" cy="43428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0E51EB8-84F6-B347-B413-A64FA9817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00" y="3715643"/>
            <a:ext cx="8943771" cy="30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06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-1010073"/>
            <a:ext cx="9133490" cy="2344825"/>
          </a:xfrm>
        </p:spPr>
        <p:txBody>
          <a:bodyPr>
            <a:normAutofit/>
          </a:bodyPr>
          <a:lstStyle/>
          <a:p>
            <a:r>
              <a:rPr lang="en-US" sz="6600" b="1" dirty="0"/>
              <a:t>Learning Intention</a:t>
            </a: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94" y="506437"/>
            <a:ext cx="1380778" cy="138077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7E1E3A-1A7B-AC46-8FA4-79F4030D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547445"/>
            <a:ext cx="8677836" cy="178659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I will be able to write a method section for my investigation, including participants, materials, procedure.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CF71D0-28E6-7446-8024-5889D3585DEF}"/>
              </a:ext>
            </a:extLst>
          </p:cNvPr>
          <p:cNvSpPr txBox="1">
            <a:spLocks/>
          </p:cNvSpPr>
          <p:nvPr/>
        </p:nvSpPr>
        <p:spPr>
          <a:xfrm>
            <a:off x="775668" y="1887215"/>
            <a:ext cx="9133490" cy="23448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  <a:t>Success Criteria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ACBAF8-385D-3C4C-9CB2-902268BBBEA2}"/>
              </a:ext>
            </a:extLst>
          </p:cNvPr>
          <p:cNvSpPr txBox="1">
            <a:spLocks/>
          </p:cNvSpPr>
          <p:nvPr/>
        </p:nvSpPr>
        <p:spPr>
          <a:xfrm>
            <a:off x="837426" y="4571810"/>
            <a:ext cx="8677836" cy="17865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 will complete my method section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outlined past research on leadership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 sz="3200" dirty="0">
                <a:solidFill>
                  <a:srgbClr val="3E3D2D"/>
                </a:solidFill>
                <a:latin typeface="Century Gothic"/>
              </a:rPr>
              <a:t>Started my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9FDDC-ADEC-DB43-9575-5CC65019297B}"/>
              </a:ext>
            </a:extLst>
          </p:cNvPr>
          <p:cNvSpPr txBox="1"/>
          <p:nvPr/>
        </p:nvSpPr>
        <p:spPr>
          <a:xfrm>
            <a:off x="8946082" y="2423350"/>
            <a:ext cx="3101569" cy="2246769"/>
          </a:xfrm>
          <a:prstGeom prst="rect">
            <a:avLst/>
          </a:prstGeom>
          <a:noFill/>
          <a:ln w="508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Your turn: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Complete your method and ethics section!</a:t>
            </a:r>
          </a:p>
        </p:txBody>
      </p:sp>
    </p:spTree>
    <p:extLst>
      <p:ext uri="{BB962C8B-B14F-4D97-AF65-F5344CB8AC3E}">
        <p14:creationId xmlns:p14="http://schemas.microsoft.com/office/powerpoint/2010/main" val="1087791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0886D5-D4B5-A845-A0BD-0043CF73BE16}"/>
              </a:ext>
            </a:extLst>
          </p:cNvPr>
          <p:cNvSpPr txBox="1">
            <a:spLocks/>
          </p:cNvSpPr>
          <p:nvPr/>
        </p:nvSpPr>
        <p:spPr>
          <a:xfrm>
            <a:off x="-472008" y="255643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Success Criteria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AF6B6-F131-D046-A2FA-208C7D4130D2}"/>
              </a:ext>
            </a:extLst>
          </p:cNvPr>
          <p:cNvSpPr txBox="1"/>
          <p:nvPr/>
        </p:nvSpPr>
        <p:spPr>
          <a:xfrm>
            <a:off x="267004" y="1701188"/>
            <a:ext cx="679881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I will participate in the station activity to practice outlining research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I will complete my introduction and undertake a peer review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FE567-32F5-9B4F-AE6D-E1480284E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111" y="123404"/>
            <a:ext cx="4599483" cy="63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94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ABFCDE80-9FF4-EB43-9EB8-ADDCCB13B279}" vid="{9C6BB66C-35D3-EB49-8314-0F986D4FA81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5865</TotalTime>
  <Words>1556</Words>
  <Application>Microsoft Macintosh PowerPoint</Application>
  <PresentationFormat>Widescreen</PresentationFormat>
  <Paragraphs>234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Century Gothic</vt:lpstr>
      <vt:lpstr>Wingdings 2</vt:lpstr>
      <vt:lpstr>Office Theme</vt:lpstr>
      <vt:lpstr>Saba</vt:lpstr>
      <vt:lpstr> DO NOW  </vt:lpstr>
      <vt:lpstr>PowerPoint Presentation</vt:lpstr>
      <vt:lpstr>PowerPoint Presentation</vt:lpstr>
      <vt:lpstr>PowerPoint Presentation</vt:lpstr>
      <vt:lpstr>What do I need to prepare?</vt:lpstr>
      <vt:lpstr>PowerPoint Presentation</vt:lpstr>
      <vt:lpstr>Learning Intention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YOU NEED TO DO: Introduction</vt:lpstr>
      <vt:lpstr>Tips for an introduction</vt:lpstr>
      <vt:lpstr>WHAT YOU NEED TO DO: Introduction</vt:lpstr>
      <vt:lpstr>WHAT YOU NEED TO DO: Introduction</vt:lpstr>
      <vt:lpstr>WHAT YOU NEED TO DO: Introduction</vt:lpstr>
      <vt:lpstr>WHAT YOU NEED TO DO: Introduction</vt:lpstr>
      <vt:lpstr>PowerPoint Presentation</vt:lpstr>
      <vt:lpstr>Learning Intention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LITRATURE REVIEW</dc:title>
  <dc:creator>Sarah Davey</dc:creator>
  <cp:lastModifiedBy>DAVEY Sarah [Joseph Banks Secondary College]</cp:lastModifiedBy>
  <cp:revision>57</cp:revision>
  <dcterms:created xsi:type="dcterms:W3CDTF">2019-02-28T11:45:02Z</dcterms:created>
  <dcterms:modified xsi:type="dcterms:W3CDTF">2021-08-10T12:41:18Z</dcterms:modified>
</cp:coreProperties>
</file>
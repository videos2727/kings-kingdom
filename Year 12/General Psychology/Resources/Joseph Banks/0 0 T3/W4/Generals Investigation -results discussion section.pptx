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0" r:id="rId2"/>
  </p:sldMasterIdLst>
  <p:notesMasterIdLst>
    <p:notesMasterId r:id="rId18"/>
  </p:notesMasterIdLst>
  <p:sldIdLst>
    <p:sldId id="382" r:id="rId3"/>
    <p:sldId id="318" r:id="rId4"/>
    <p:sldId id="258" r:id="rId5"/>
    <p:sldId id="413" r:id="rId6"/>
    <p:sldId id="417" r:id="rId7"/>
    <p:sldId id="416" r:id="rId8"/>
    <p:sldId id="359" r:id="rId9"/>
    <p:sldId id="372" r:id="rId10"/>
    <p:sldId id="388" r:id="rId11"/>
    <p:sldId id="384" r:id="rId12"/>
    <p:sldId id="387" r:id="rId13"/>
    <p:sldId id="376" r:id="rId14"/>
    <p:sldId id="377" r:id="rId15"/>
    <p:sldId id="380" r:id="rId16"/>
    <p:sldId id="31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E2EE"/>
    <a:srgbClr val="49C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21"/>
    <p:restoredTop sz="94643"/>
  </p:normalViewPr>
  <p:slideViewPr>
    <p:cSldViewPr snapToGrid="0" snapToObjects="1">
      <p:cViewPr varScale="1">
        <p:scale>
          <a:sx n="123" d="100"/>
          <a:sy n="123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89A3D-5FA8-6B42-92CA-B793AF9680B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3A09D-58FF-8544-8F30-659E369A3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6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9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34453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47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7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523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0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6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81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076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3447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8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1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6510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84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412837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46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92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9403-0A70-6342-AD93-9768B2D9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54347-3F03-124F-96EB-030C73460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659E-A2D1-B748-A249-5D5B4D6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6F3E-DC9C-7A42-B6AA-EE9329C5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BB6A-4459-D440-A462-AB491D2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84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3771-2C5D-324E-96C1-1D073135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DD6-06C2-0140-BC76-1998A0BB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CD7A-B170-7644-97DA-49A85FFE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10CC-78FB-B046-99D1-DC57EDA1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E833-292B-2849-B271-F8640E73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270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C990-558A-AE46-80F7-D4F77B03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EDAA-4286-C746-BE37-6BAFABA4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AA73-B1E1-2D41-9458-0FA447D7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FF87-2C57-4849-8357-2EF037D3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53EE-FC36-7C41-B550-E9A2EA45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757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75A6-5B2E-5D4D-B8C3-87CE4BCE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974F-F3B7-BE45-9CE2-3F5CAD14F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57523-300B-2945-B9DE-50200343B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CC82-CAA8-DC46-ADE1-A1C394D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D147-F3C5-0C42-9AFB-A75140B7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03AD-15F3-414D-930C-1B5AEABC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438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1B44-9F47-A149-A10A-1687F36E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B29-62C9-564B-A7C6-17C8E87F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3DD78-19AC-F244-84D1-3AAA433A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1DD53-EFE3-404D-B262-89B66C74D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CEBA4-5169-8B4B-92C3-0A0D1E0F9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6305B-45B6-0040-84CF-FF35B78E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62CE6-4603-A948-A3DB-46FA184B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122EF-0C06-EE45-BAB2-384B428C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26B2-FE7B-FA44-901F-604F43CE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DD536-C96F-D846-93FC-DBA7EB65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51AF-46E5-964D-82E4-6EC18D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21BC4-FBA5-9545-800E-B783DDAC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63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D2B45-6D3E-5140-9E1A-EA6BD1F7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CA7E1-6DB7-5348-9A38-94A036A2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71B7-DFE4-0741-A4BB-22829005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030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B3DB-7E96-B241-951E-E0213CB5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E2D9-6211-4F4B-90D8-E32643AD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E4D28-C849-1F4E-BEB1-4232BBBD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73FAF-7209-E043-807C-C17A5520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9F006-D4FB-EE42-A616-30D03C3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CA3F-1808-CB4E-942B-E869B8CE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610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FB93-FFEA-6B43-AC94-7159009E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7D9EC-D130-1946-8998-11940C62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D7668-5870-B446-A751-8DC34589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0E1C2-86D2-B740-868A-F6676DD5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BE31-E8B5-BF43-82AD-2FF081CD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355F8-0EDC-6D4C-85CC-3AC3BB2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201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E170-EF20-594A-A449-DC901974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84A1D-6C2C-2945-94AA-730A7F67C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DD28-B73A-3B4D-B817-2A14D701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C8CE-002D-0947-9AC3-A3D63D6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C238-FC97-594A-8BE5-F401E27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540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7AD74-D535-EE47-9F94-E8712FCCB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504AE-ACBE-694B-8C8A-48DA810E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2C47-4ACA-904D-A9F0-5427F9FE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A839-90C6-CA44-AA4A-5466C044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18E6-8954-6145-826C-A4DF1124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48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31F3-683C-D045-A95B-0EC27CA2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EF1DC-57E7-904E-98BF-D5D10293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7479-C980-A84E-A2E5-5881B9D50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5FE8-A678-014F-B1F7-4D6BC1F62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D8D9-8D56-9242-B7FA-28E157121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2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sychology.org.au/publications/statements/substanc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sychology.org.au/publications/statements/substanc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www.architecture.com.au/" TargetMode="External"/><Relationship Id="rId4" Type="http://schemas.openxmlformats.org/officeDocument/2006/relationships/hyperlink" Target="http://www.raia.com.au/i-cms?page=10220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577" y="7273742"/>
            <a:ext cx="8547496" cy="1398494"/>
          </a:xfrm>
        </p:spPr>
        <p:txBody>
          <a:bodyPr>
            <a:normAutofit fontScale="90000"/>
          </a:bodyPr>
          <a:lstStyle/>
          <a:p>
            <a:pPr algn="l"/>
            <a:br>
              <a:rPr lang="en-US" sz="2200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br>
              <a:rPr lang="en-AU" sz="1800" dirty="0"/>
            </a:br>
            <a:br>
              <a:rPr lang="en-US" sz="6000" b="1" dirty="0">
                <a:solidFill>
                  <a:schemeClr val="tx1"/>
                </a:solidFill>
              </a:rPr>
            </a:b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32" name="Picture 2" descr="Keep silence and be quiet lips and finger silent sign, no noise ...">
            <a:extLst>
              <a:ext uri="{FF2B5EF4-FFF2-40B4-BE49-F238E27FC236}">
                <a16:creationId xmlns:a16="http://schemas.microsoft.com/office/drawing/2014/main" id="{4D8EBDD9-72FB-D041-B937-97F5C7F58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758" y="180109"/>
            <a:ext cx="2146434" cy="214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7BFAD0E-969B-2E45-ADD6-A814326B655A}"/>
              </a:ext>
            </a:extLst>
          </p:cNvPr>
          <p:cNvSpPr txBox="1"/>
          <p:nvPr/>
        </p:nvSpPr>
        <p:spPr>
          <a:xfrm rot="16200000">
            <a:off x="-1358427" y="1406741"/>
            <a:ext cx="3182821" cy="369332"/>
          </a:xfrm>
          <a:prstGeom prst="rect">
            <a:avLst/>
          </a:prstGeom>
          <a:solidFill>
            <a:srgbClr val="9ACDED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Activate Prior 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0E27F-8D45-1A43-A781-106F970FB6DA}"/>
              </a:ext>
            </a:extLst>
          </p:cNvPr>
          <p:cNvSpPr txBox="1"/>
          <p:nvPr/>
        </p:nvSpPr>
        <p:spPr>
          <a:xfrm>
            <a:off x="1236517" y="644236"/>
            <a:ext cx="818803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DO NOW </a:t>
            </a:r>
            <a:br>
              <a:rPr lang="en-US" b="1" dirty="0"/>
            </a:br>
            <a:br>
              <a:rPr lang="en-US" b="1" dirty="0"/>
            </a:b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Name 4 types of continuous data</a:t>
            </a:r>
          </a:p>
          <a:p>
            <a:pPr marL="457200" indent="-457200">
              <a:buFont typeface="+mj-lt"/>
              <a:buAutoNum type="arabicPeriod"/>
            </a:pPr>
            <a:endParaRPr lang="en-US" sz="2800" b="1" dirty="0"/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Name 4 types of discreet data</a:t>
            </a:r>
          </a:p>
          <a:p>
            <a:pPr marL="457200" indent="-457200">
              <a:buFont typeface="+mj-lt"/>
              <a:buAutoNum type="arabicPeriod"/>
            </a:pPr>
            <a:endParaRPr lang="en-US" sz="2800" b="1" dirty="0"/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Name 4 types of categorical data</a:t>
            </a:r>
          </a:p>
          <a:p>
            <a:pPr marL="457200" indent="-457200">
              <a:buFont typeface="+mj-lt"/>
              <a:buAutoNum type="arabicPeriod"/>
            </a:pPr>
            <a:endParaRPr lang="en-US" sz="2800" b="1" dirty="0"/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Find the mean, median, mode and range:</a:t>
            </a:r>
          </a:p>
          <a:p>
            <a:endParaRPr lang="en-US" sz="2400" b="1" dirty="0"/>
          </a:p>
          <a:p>
            <a:r>
              <a:rPr lang="en-US" sz="2400" b="1" dirty="0"/>
              <a:t>1, 4, 5, 12, 14, 3, 17, 20, 21, 1, 4, 2, 7, 13 </a:t>
            </a:r>
          </a:p>
          <a:p>
            <a:endParaRPr lang="en-US" b="1" dirty="0"/>
          </a:p>
          <a:p>
            <a:endParaRPr lang="en-US" b="1" dirty="0"/>
          </a:p>
          <a:p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805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 descr="Keep silence and be quiet lips and finger silent sign, no noise ...">
            <a:extLst>
              <a:ext uri="{FF2B5EF4-FFF2-40B4-BE49-F238E27FC236}">
                <a16:creationId xmlns:a16="http://schemas.microsoft.com/office/drawing/2014/main" id="{4D8EBDD9-72FB-D041-B937-97F5C7F58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758" y="180109"/>
            <a:ext cx="2146434" cy="214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7BFAD0E-969B-2E45-ADD6-A814326B655A}"/>
              </a:ext>
            </a:extLst>
          </p:cNvPr>
          <p:cNvSpPr txBox="1"/>
          <p:nvPr/>
        </p:nvSpPr>
        <p:spPr>
          <a:xfrm rot="16200000">
            <a:off x="-1358427" y="1406741"/>
            <a:ext cx="3182821" cy="369332"/>
          </a:xfrm>
          <a:prstGeom prst="rect">
            <a:avLst/>
          </a:prstGeom>
          <a:solidFill>
            <a:srgbClr val="9ACDED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Activate Prior Knowledge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15D37C-C060-B449-826B-D0C3A4C6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528" y="3044537"/>
            <a:ext cx="8878453" cy="1398494"/>
          </a:xfrm>
        </p:spPr>
        <p:txBody>
          <a:bodyPr/>
          <a:lstStyle/>
          <a:p>
            <a:pPr algn="l"/>
            <a:r>
              <a:rPr lang="en-US" sz="4000" dirty="0">
                <a:solidFill>
                  <a:schemeClr val="tx1"/>
                </a:solidFill>
              </a:rPr>
              <a:t>Explain the difference between differential statistics and inferential statistics </a:t>
            </a:r>
          </a:p>
        </p:txBody>
      </p:sp>
    </p:spTree>
    <p:extLst>
      <p:ext uri="{BB962C8B-B14F-4D97-AF65-F5344CB8AC3E}">
        <p14:creationId xmlns:p14="http://schemas.microsoft.com/office/powerpoint/2010/main" val="2998335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128900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Learning Intentions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023" y="846750"/>
            <a:ext cx="98893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I will be able to describe different extraneous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 will be able to identify and execute the steps required to write the discussion, conclusion and references of my investigation.</a:t>
            </a:r>
          </a:p>
          <a:p>
            <a:endParaRPr lang="en-US" sz="2000" dirty="0">
              <a:solidFill>
                <a:srgbClr val="194431"/>
              </a:solidFill>
            </a:endParaRP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211" y="136524"/>
            <a:ext cx="1221221" cy="122122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0886D5-D4B5-A845-A0BD-0043CF73BE16}"/>
              </a:ext>
            </a:extLst>
          </p:cNvPr>
          <p:cNvSpPr txBox="1">
            <a:spLocks/>
          </p:cNvSpPr>
          <p:nvPr/>
        </p:nvSpPr>
        <p:spPr>
          <a:xfrm>
            <a:off x="-124489" y="3207126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2D6069"/>
                </a:solidFill>
                <a:latin typeface="+mn-lt"/>
                <a:ea typeface="+mn-ea"/>
                <a:cs typeface="+mn-cs"/>
              </a:rPr>
              <a:t>Success Criteria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AF6B6-F131-D046-A2FA-208C7D4130D2}"/>
              </a:ext>
            </a:extLst>
          </p:cNvPr>
          <p:cNvSpPr txBox="1"/>
          <p:nvPr/>
        </p:nvSpPr>
        <p:spPr>
          <a:xfrm>
            <a:off x="328049" y="4693771"/>
            <a:ext cx="121476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I will add to my notes on extraneous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 will apply the steps to my investigation - writing a discussion, conclusion and references.</a:t>
            </a:r>
          </a:p>
        </p:txBody>
      </p:sp>
    </p:spTree>
    <p:extLst>
      <p:ext uri="{BB962C8B-B14F-4D97-AF65-F5344CB8AC3E}">
        <p14:creationId xmlns:p14="http://schemas.microsoft.com/office/powerpoint/2010/main" val="1810377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360763" y="39592"/>
            <a:ext cx="7961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collection: Results section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AA9FBA-6EF7-DB44-B12B-B686880AA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63647"/>
              </p:ext>
            </p:extLst>
          </p:nvPr>
        </p:nvGraphicFramePr>
        <p:xfrm>
          <a:off x="8597734" y="1"/>
          <a:ext cx="3594266" cy="184244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94266">
                  <a:extLst>
                    <a:ext uri="{9D8B030D-6E8A-4147-A177-3AD203B41FA5}">
                      <a16:colId xmlns:a16="http://schemas.microsoft.com/office/drawing/2014/main" val="3535165183"/>
                    </a:ext>
                  </a:extLst>
                </a:gridCol>
              </a:tblGrid>
              <a:tr h="334869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Assessment tips!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61276"/>
                  </a:ext>
                </a:extLst>
              </a:tr>
              <a:tr h="147668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Use a ruler and pencil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Label the headings for columns and rows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Label the table with Table 1. and a 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4520"/>
                  </a:ext>
                </a:extLst>
              </a:tr>
            </a:tbl>
          </a:graphicData>
        </a:graphic>
      </p:graphicFrame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14" y="39592"/>
            <a:ext cx="805540" cy="664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398A33-4C70-A549-BD57-EF5B8EE1CD19}"/>
              </a:ext>
            </a:extLst>
          </p:cNvPr>
          <p:cNvSpPr txBox="1"/>
          <p:nvPr/>
        </p:nvSpPr>
        <p:spPr>
          <a:xfrm>
            <a:off x="1299798" y="1007955"/>
            <a:ext cx="6141361" cy="646331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Step 1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all of your should create your table on Excel / Numbers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pages like below: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B7E28-DFE6-FE4C-B106-246E3B3C79B0}"/>
              </a:ext>
            </a:extLst>
          </p:cNvPr>
          <p:cNvSpPr txBox="1"/>
          <p:nvPr/>
        </p:nvSpPr>
        <p:spPr>
          <a:xfrm>
            <a:off x="1299798" y="1811552"/>
            <a:ext cx="653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Table1. To show the ___________________________________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C785B-2556-1043-8B29-72E8138F9351}"/>
              </a:ext>
            </a:extLst>
          </p:cNvPr>
          <p:cNvSpPr txBox="1"/>
          <p:nvPr/>
        </p:nvSpPr>
        <p:spPr>
          <a:xfrm rot="16200000">
            <a:off x="-1508293" y="1523698"/>
            <a:ext cx="338592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Development: 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section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4F8D0F-4087-0D42-99A9-A8419BDFC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56" y="2210750"/>
            <a:ext cx="7227354" cy="4647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D00ED8-8819-DF45-A7C3-AE17C01B5B1D}"/>
              </a:ext>
            </a:extLst>
          </p:cNvPr>
          <p:cNvSpPr txBox="1"/>
          <p:nvPr/>
        </p:nvSpPr>
        <p:spPr>
          <a:xfrm>
            <a:off x="8281555" y="2388605"/>
            <a:ext cx="35942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Questions from the survey</a:t>
            </a:r>
          </a:p>
          <a:p>
            <a:endParaRPr lang="en-US" b="1" dirty="0"/>
          </a:p>
          <a:p>
            <a:r>
              <a:rPr lang="en-US" b="1" dirty="0"/>
              <a:t>Question 1. </a:t>
            </a:r>
          </a:p>
          <a:p>
            <a:r>
              <a:rPr lang="en-US" dirty="0"/>
              <a:t>How understood and listened to did you feel in your group?</a:t>
            </a:r>
          </a:p>
          <a:p>
            <a:endParaRPr lang="en-US" dirty="0"/>
          </a:p>
          <a:p>
            <a:r>
              <a:rPr lang="en-US" b="1" dirty="0"/>
              <a:t>Question 2 </a:t>
            </a:r>
          </a:p>
          <a:p>
            <a:r>
              <a:rPr lang="en-US" dirty="0"/>
              <a:t>How much influence do you feel you had in your group’s decision making?</a:t>
            </a:r>
          </a:p>
          <a:p>
            <a:endParaRPr lang="en-US" dirty="0"/>
          </a:p>
          <a:p>
            <a:r>
              <a:rPr lang="en-US" b="1" dirty="0"/>
              <a:t>Question 3</a:t>
            </a:r>
          </a:p>
          <a:p>
            <a:r>
              <a:rPr lang="en-US" dirty="0"/>
              <a:t>How committed do you feel to the decisions your group made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13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360763" y="39592"/>
            <a:ext cx="7961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collection: Results section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AA9FBA-6EF7-DB44-B12B-B686880AA94A}"/>
              </a:ext>
            </a:extLst>
          </p:cNvPr>
          <p:cNvGraphicFramePr>
            <a:graphicFrameLocks noGrp="1"/>
          </p:cNvGraphicFramePr>
          <p:nvPr/>
        </p:nvGraphicFramePr>
        <p:xfrm>
          <a:off x="8597734" y="1"/>
          <a:ext cx="3594266" cy="184244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94266">
                  <a:extLst>
                    <a:ext uri="{9D8B030D-6E8A-4147-A177-3AD203B41FA5}">
                      <a16:colId xmlns:a16="http://schemas.microsoft.com/office/drawing/2014/main" val="3535165183"/>
                    </a:ext>
                  </a:extLst>
                </a:gridCol>
              </a:tblGrid>
              <a:tr h="334869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Assessment tips!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61276"/>
                  </a:ext>
                </a:extLst>
              </a:tr>
              <a:tr h="147668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Use a ruler and pencil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Label the headings for columns and rows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Label the table with Table 1. and a 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4520"/>
                  </a:ext>
                </a:extLst>
              </a:tr>
            </a:tbl>
          </a:graphicData>
        </a:graphic>
      </p:graphicFrame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14" y="39592"/>
            <a:ext cx="805540" cy="6646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EC785B-2556-1043-8B29-72E8138F9351}"/>
              </a:ext>
            </a:extLst>
          </p:cNvPr>
          <p:cNvSpPr txBox="1"/>
          <p:nvPr/>
        </p:nvSpPr>
        <p:spPr>
          <a:xfrm rot="16200000">
            <a:off x="-1508293" y="1523698"/>
            <a:ext cx="338592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Development: 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CCBCE-5F7B-B446-8979-7BEBDB044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55" y="2555587"/>
            <a:ext cx="111506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38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219354" y="150945"/>
            <a:ext cx="7512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collection: Graphing results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AA9FBA-6EF7-DB44-B12B-B686880AA94A}"/>
              </a:ext>
            </a:extLst>
          </p:cNvPr>
          <p:cNvGraphicFramePr>
            <a:graphicFrameLocks noGrp="1"/>
          </p:cNvGraphicFramePr>
          <p:nvPr/>
        </p:nvGraphicFramePr>
        <p:xfrm>
          <a:off x="8597734" y="0"/>
          <a:ext cx="3594266" cy="22104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94266">
                  <a:extLst>
                    <a:ext uri="{9D8B030D-6E8A-4147-A177-3AD203B41FA5}">
                      <a16:colId xmlns:a16="http://schemas.microsoft.com/office/drawing/2014/main" val="3535165183"/>
                    </a:ext>
                  </a:extLst>
                </a:gridCol>
              </a:tblGrid>
              <a:tr h="340052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Assessment tips!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61276"/>
                  </a:ext>
                </a:extLst>
              </a:tr>
              <a:tr h="184466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Use a ruler and pencil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Label the headings for columns and rows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Label the table with Graph 1. and a title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1" dirty="0"/>
                        <a:t>Remember to put units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4520"/>
                  </a:ext>
                </a:extLst>
              </a:tr>
            </a:tbl>
          </a:graphicData>
        </a:graphic>
      </p:graphicFrame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14" y="39592"/>
            <a:ext cx="805540" cy="6646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126712-B799-3842-93BF-A0DBAEA42E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49"/>
          <a:stretch/>
        </p:blipFill>
        <p:spPr>
          <a:xfrm>
            <a:off x="0" y="2673333"/>
            <a:ext cx="4524703" cy="41846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398A33-4C70-A549-BD57-EF5B8EE1CD19}"/>
              </a:ext>
            </a:extLst>
          </p:cNvPr>
          <p:cNvSpPr txBox="1"/>
          <p:nvPr/>
        </p:nvSpPr>
        <p:spPr>
          <a:xfrm>
            <a:off x="1377009" y="2492274"/>
            <a:ext cx="8732168" cy="3225105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1: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Choose an appropriate graph. What type of data have we collected?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2: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Choose an appropriate scale, how big does it need to be to be clear?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3: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and label the X and Y axis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4: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Plot your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5: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your graph with both variables mentioned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E01D1B-C22C-DA4A-8C1F-99ED25B3415A}"/>
              </a:ext>
            </a:extLst>
          </p:cNvPr>
          <p:cNvSpPr txBox="1"/>
          <p:nvPr/>
        </p:nvSpPr>
        <p:spPr>
          <a:xfrm rot="16200000">
            <a:off x="-1508293" y="1523698"/>
            <a:ext cx="338592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 Development: 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section</a:t>
            </a:r>
          </a:p>
        </p:txBody>
      </p:sp>
    </p:spTree>
    <p:extLst>
      <p:ext uri="{BB962C8B-B14F-4D97-AF65-F5344CB8AC3E}">
        <p14:creationId xmlns:p14="http://schemas.microsoft.com/office/powerpoint/2010/main" val="200894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CF2CF6-BDD2-BB43-8711-487D77B96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1066659"/>
            <a:ext cx="10655300" cy="3581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2154458" y="0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b="1" dirty="0">
                <a:solidFill>
                  <a:srgbClr val="2D6069"/>
                </a:solidFill>
              </a:rPr>
              <a:t>Discussion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08" y="16414"/>
            <a:ext cx="1272801" cy="1050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DD2806-596B-7C4C-97A1-913EE3803DBD}"/>
              </a:ext>
            </a:extLst>
          </p:cNvPr>
          <p:cNvSpPr txBox="1"/>
          <p:nvPr/>
        </p:nvSpPr>
        <p:spPr>
          <a:xfrm>
            <a:off x="1018780" y="4791388"/>
            <a:ext cx="9670120" cy="1938992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Step 1: </a:t>
            </a:r>
            <a:r>
              <a:rPr lang="en-US" sz="2400" dirty="0"/>
              <a:t>Restate the hypothesis for the experiment. </a:t>
            </a:r>
          </a:p>
          <a:p>
            <a:r>
              <a:rPr lang="en-US" sz="2400" b="1" dirty="0"/>
              <a:t>Step 2: </a:t>
            </a:r>
            <a:r>
              <a:rPr lang="en-US" sz="2400" dirty="0"/>
              <a:t>State whether the hypothesis was supported or rejected</a:t>
            </a:r>
          </a:p>
          <a:p>
            <a:r>
              <a:rPr lang="en-US" sz="2400" b="1" dirty="0"/>
              <a:t>Step 3</a:t>
            </a:r>
            <a:r>
              <a:rPr lang="en-US" sz="2400" dirty="0"/>
              <a:t>: Refer to your results to explain why it was supported or rejected to draw conclusions.</a:t>
            </a:r>
          </a:p>
          <a:p>
            <a:r>
              <a:rPr lang="en-US" sz="2400" b="1" dirty="0"/>
              <a:t>Step 4</a:t>
            </a:r>
            <a:r>
              <a:rPr lang="en-US" sz="2400" dirty="0"/>
              <a:t>: Relate to previous research (similar findings or not?)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372E91-40AF-F148-A79C-E28C172E14C9}"/>
              </a:ext>
            </a:extLst>
          </p:cNvPr>
          <p:cNvSpPr/>
          <p:nvPr/>
        </p:nvSpPr>
        <p:spPr>
          <a:xfrm>
            <a:off x="1018780" y="1301646"/>
            <a:ext cx="8973371" cy="533813"/>
          </a:xfrm>
          <a:prstGeom prst="rect">
            <a:avLst/>
          </a:prstGeom>
          <a:solidFill>
            <a:schemeClr val="bg2">
              <a:lumMod val="60000"/>
              <a:lumOff val="40000"/>
              <a:alpha val="34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F31C90-2432-A84E-AF12-B1227B7A9821}"/>
              </a:ext>
            </a:extLst>
          </p:cNvPr>
          <p:cNvSpPr txBox="1"/>
          <p:nvPr/>
        </p:nvSpPr>
        <p:spPr>
          <a:xfrm rot="16200000">
            <a:off x="-1002060" y="978334"/>
            <a:ext cx="2326001" cy="369332"/>
          </a:xfrm>
          <a:prstGeom prst="rect">
            <a:avLst/>
          </a:prstGeom>
          <a:solidFill>
            <a:srgbClr val="9ACDED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4095106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6414731" y="-82462"/>
            <a:ext cx="3799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b="1" dirty="0">
                <a:solidFill>
                  <a:srgbClr val="2D6069"/>
                </a:solidFill>
              </a:rPr>
              <a:t>Discussion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37" y="80541"/>
            <a:ext cx="1272801" cy="1050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DD2806-596B-7C4C-97A1-913EE3803DBD}"/>
              </a:ext>
            </a:extLst>
          </p:cNvPr>
          <p:cNvSpPr txBox="1"/>
          <p:nvPr/>
        </p:nvSpPr>
        <p:spPr>
          <a:xfrm>
            <a:off x="199696" y="3344598"/>
            <a:ext cx="11776404" cy="3354765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Step 5: Discuss at least two limitations of study design and suggest how to improve.</a:t>
            </a:r>
          </a:p>
          <a:p>
            <a:endParaRPr lang="en-US" sz="2400" dirty="0"/>
          </a:p>
          <a:p>
            <a:r>
              <a:rPr lang="en-US" sz="2000" u="sng" dirty="0"/>
              <a:t>Limitations may include: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 controlling for extraneous variables.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 a valid measure of mood or sufficient exercise to create changes in mood.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 enough experimental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placebo of relaxation was not a valid activity to constitute as a placebo.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 reliable/consistent.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 a representative sample or appropriate participant allocation method.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11E7F-E813-1A4F-88CE-F9356CD13601}"/>
              </a:ext>
            </a:extLst>
          </p:cNvPr>
          <p:cNvSpPr txBox="1"/>
          <p:nvPr/>
        </p:nvSpPr>
        <p:spPr>
          <a:xfrm rot="16200000">
            <a:off x="-1002060" y="978334"/>
            <a:ext cx="2326001" cy="369332"/>
          </a:xfrm>
          <a:prstGeom prst="rect">
            <a:avLst/>
          </a:prstGeom>
          <a:solidFill>
            <a:srgbClr val="9ACDED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Skill development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C951F0-379D-644B-AE51-0B7FB8A60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438" y="812336"/>
            <a:ext cx="7414201" cy="24920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372E91-40AF-F148-A79C-E28C172E14C9}"/>
              </a:ext>
            </a:extLst>
          </p:cNvPr>
          <p:cNvSpPr/>
          <p:nvPr/>
        </p:nvSpPr>
        <p:spPr>
          <a:xfrm>
            <a:off x="1249139" y="1561764"/>
            <a:ext cx="8267700" cy="774700"/>
          </a:xfrm>
          <a:prstGeom prst="rect">
            <a:avLst/>
          </a:prstGeom>
          <a:solidFill>
            <a:schemeClr val="bg2">
              <a:lumMod val="60000"/>
              <a:lumOff val="40000"/>
              <a:alpha val="34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183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6414731" y="-82462"/>
            <a:ext cx="3799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b="1" dirty="0">
                <a:solidFill>
                  <a:srgbClr val="2D6069"/>
                </a:solidFill>
              </a:rPr>
              <a:t>Discussion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37" y="80541"/>
            <a:ext cx="1272801" cy="1050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DD2806-596B-7C4C-97A1-913EE3803DBD}"/>
              </a:ext>
            </a:extLst>
          </p:cNvPr>
          <p:cNvSpPr txBox="1"/>
          <p:nvPr/>
        </p:nvSpPr>
        <p:spPr>
          <a:xfrm>
            <a:off x="345607" y="4375754"/>
            <a:ext cx="11424924" cy="156966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Step 6:</a:t>
            </a:r>
            <a:r>
              <a:rPr lang="en-US" sz="2400" dirty="0"/>
              <a:t> How were ethical issues addressed –(participant rights)</a:t>
            </a:r>
          </a:p>
          <a:p>
            <a:r>
              <a:rPr lang="en-US" sz="2400" b="1" dirty="0"/>
              <a:t>Step 7: </a:t>
            </a:r>
            <a:r>
              <a:rPr lang="en-US" sz="2400" dirty="0"/>
              <a:t>Relate this back to the introduction – why are these results relevant to the population you researched?</a:t>
            </a:r>
          </a:p>
          <a:p>
            <a:r>
              <a:rPr lang="en-US" sz="2400" b="1" dirty="0"/>
              <a:t>Step 8</a:t>
            </a:r>
            <a:r>
              <a:rPr lang="en-US" sz="2400" dirty="0"/>
              <a:t>: Conclusions that relate to the hypothesis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11E7F-E813-1A4F-88CE-F9356CD13601}"/>
              </a:ext>
            </a:extLst>
          </p:cNvPr>
          <p:cNvSpPr txBox="1"/>
          <p:nvPr/>
        </p:nvSpPr>
        <p:spPr>
          <a:xfrm rot="16200000">
            <a:off x="-1002060" y="978334"/>
            <a:ext cx="2326001" cy="369332"/>
          </a:xfrm>
          <a:prstGeom prst="rect">
            <a:avLst/>
          </a:prstGeom>
          <a:solidFill>
            <a:srgbClr val="9ACDED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Skill development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C951F0-379D-644B-AE51-0B7FB8A60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187" y="1236235"/>
            <a:ext cx="8455777" cy="28421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372E91-40AF-F148-A79C-E28C172E14C9}"/>
              </a:ext>
            </a:extLst>
          </p:cNvPr>
          <p:cNvSpPr/>
          <p:nvPr/>
        </p:nvSpPr>
        <p:spPr>
          <a:xfrm>
            <a:off x="1570729" y="3041650"/>
            <a:ext cx="7646007" cy="774700"/>
          </a:xfrm>
          <a:prstGeom prst="rect">
            <a:avLst/>
          </a:prstGeom>
          <a:solidFill>
            <a:schemeClr val="bg2">
              <a:lumMod val="60000"/>
              <a:lumOff val="40000"/>
              <a:alpha val="34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2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B850BC-374C-0D43-A2FC-D38573EECF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102" b="46238"/>
          <a:stretch/>
        </p:blipFill>
        <p:spPr>
          <a:xfrm>
            <a:off x="6292147" y="95250"/>
            <a:ext cx="5899853" cy="952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9846104-E686-DF4D-A3B0-AADA7D6A4664}"/>
              </a:ext>
            </a:extLst>
          </p:cNvPr>
          <p:cNvSpPr txBox="1">
            <a:spLocks/>
          </p:cNvSpPr>
          <p:nvPr/>
        </p:nvSpPr>
        <p:spPr>
          <a:xfrm>
            <a:off x="82447" y="95250"/>
            <a:ext cx="8677836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What is good?</a:t>
            </a:r>
          </a:p>
          <a:p>
            <a:r>
              <a:rPr lang="en-US" b="1" dirty="0"/>
              <a:t>What should be improved?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6794F4-8EE0-6647-BB78-D99C5999F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164" y="1397576"/>
            <a:ext cx="7107382" cy="533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5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EC377-73C2-F448-9564-5B72DF8E14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22" t="12122" b="13636"/>
          <a:stretch/>
        </p:blipFill>
        <p:spPr>
          <a:xfrm>
            <a:off x="6130635" y="0"/>
            <a:ext cx="6061365" cy="6827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B3CD09-82E6-E042-A7F3-E38F5FD433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848"/>
          <a:stretch/>
        </p:blipFill>
        <p:spPr>
          <a:xfrm>
            <a:off x="0" y="0"/>
            <a:ext cx="6304936" cy="631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5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4233946" y="153974"/>
            <a:ext cx="5176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Referencing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13" y="173181"/>
            <a:ext cx="559496" cy="4616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75958D3-8240-8347-B6F1-68224727BE12}"/>
              </a:ext>
            </a:extLst>
          </p:cNvPr>
          <p:cNvSpPr txBox="1"/>
          <p:nvPr/>
        </p:nvSpPr>
        <p:spPr>
          <a:xfrm>
            <a:off x="407688" y="2607472"/>
            <a:ext cx="5032565" cy="37856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Make sure your submit a </a:t>
            </a:r>
            <a:r>
              <a:rPr lang="en-US" sz="2400" b="1" dirty="0"/>
              <a:t>reference list </a:t>
            </a:r>
            <a:r>
              <a:rPr lang="en-US" sz="2400" dirty="0"/>
              <a:t>at the end of your investigation report (in alphabetical order).</a:t>
            </a:r>
          </a:p>
          <a:p>
            <a:endParaRPr lang="en-US" sz="2400" dirty="0"/>
          </a:p>
          <a:p>
            <a:r>
              <a:rPr lang="en-US" sz="2400" dirty="0"/>
              <a:t>Don’t forget that you need to write in-text references as well at the end of a sentence the reference was used. </a:t>
            </a:r>
          </a:p>
          <a:p>
            <a:endParaRPr 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4A7D46-9559-3944-984B-1455D90AE8E5}"/>
              </a:ext>
            </a:extLst>
          </p:cNvPr>
          <p:cNvSpPr/>
          <p:nvPr/>
        </p:nvSpPr>
        <p:spPr>
          <a:xfrm>
            <a:off x="5892799" y="2515139"/>
            <a:ext cx="6007101" cy="3970318"/>
          </a:xfrm>
          <a:prstGeom prst="rect">
            <a:avLst/>
          </a:prstGeom>
          <a:solidFill>
            <a:srgbClr val="82E2EE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Example</a:t>
            </a:r>
          </a:p>
          <a:p>
            <a:pPr>
              <a:spcAft>
                <a:spcPts val="0"/>
              </a:spcAft>
            </a:pPr>
            <a:endParaRPr lang="en-AU" dirty="0"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u="sng" dirty="0"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In text:</a:t>
            </a:r>
          </a:p>
          <a:p>
            <a:pPr>
              <a:spcAft>
                <a:spcPts val="0"/>
              </a:spcAft>
            </a:pPr>
            <a:r>
              <a:rPr lang="en-AU" dirty="0"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According to the Australian Psychological Society (2008), substance abuse is…</a:t>
            </a:r>
          </a:p>
          <a:p>
            <a:pPr>
              <a:spcAft>
                <a:spcPts val="0"/>
              </a:spcAft>
            </a:pPr>
            <a:r>
              <a:rPr lang="en-AU" i="1" dirty="0"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or</a:t>
            </a:r>
          </a:p>
          <a:p>
            <a:pPr>
              <a:spcAft>
                <a:spcPts val="0"/>
              </a:spcAft>
            </a:pPr>
            <a:r>
              <a:rPr lang="en-AU" dirty="0"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Substance abuse is a series issue for mental health (Australian Psychological Society, 2008).</a:t>
            </a:r>
          </a:p>
          <a:p>
            <a:pPr>
              <a:spcAft>
                <a:spcPts val="0"/>
              </a:spcAft>
            </a:pPr>
            <a:endParaRPr lang="en-AU" dirty="0">
              <a:latin typeface="Times" pitchFamily="2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u="sng" dirty="0"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Reference for the reference list:</a:t>
            </a:r>
          </a:p>
          <a:p>
            <a:pPr>
              <a:spcAft>
                <a:spcPts val="0"/>
              </a:spcAft>
            </a:pPr>
            <a:r>
              <a:rPr lang="en-AU" dirty="0"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Australian Psychological Society. (2008). </a:t>
            </a:r>
            <a:r>
              <a:rPr lang="en-AU" i="1" dirty="0"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Substance abuse: Position statement.</a:t>
            </a:r>
            <a:r>
              <a:rPr lang="en-AU" dirty="0"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 Retrieved from </a:t>
            </a:r>
            <a:r>
              <a:rPr lang="en-AU" dirty="0">
                <a:solidFill>
                  <a:srgbClr val="0000FF"/>
                </a:solidFill>
                <a:latin typeface="Times" pitchFamily="2" charset="0"/>
                <a:ea typeface="MS Mincho" panose="02020609040205080304" pitchFamily="49" charset="-128"/>
                <a:cs typeface="Times New Roman" panose="02020603050405020304" pitchFamily="18" charset="0"/>
                <a:hlinkClick r:id="rId3"/>
              </a:rPr>
              <a:t>http://www.psychology.org.au/publications/statements/substance/</a:t>
            </a:r>
            <a:endParaRPr lang="en-AU" sz="2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67A296-BFE9-4847-9B14-8562E7B93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442" y="840973"/>
            <a:ext cx="9804400" cy="1079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F6C5AB-1E06-2D41-8CF5-E8CA9D8B66B4}"/>
              </a:ext>
            </a:extLst>
          </p:cNvPr>
          <p:cNvSpPr/>
          <p:nvPr/>
        </p:nvSpPr>
        <p:spPr>
          <a:xfrm>
            <a:off x="1324577" y="1218238"/>
            <a:ext cx="8231352" cy="421076"/>
          </a:xfrm>
          <a:prstGeom prst="rect">
            <a:avLst/>
          </a:prstGeom>
          <a:solidFill>
            <a:schemeClr val="bg2">
              <a:lumMod val="60000"/>
              <a:lumOff val="40000"/>
              <a:alpha val="34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B7E16D-1129-464C-B6F9-89625F9F987C}"/>
              </a:ext>
            </a:extLst>
          </p:cNvPr>
          <p:cNvSpPr txBox="1"/>
          <p:nvPr/>
        </p:nvSpPr>
        <p:spPr>
          <a:xfrm rot="16200000">
            <a:off x="-1002060" y="978334"/>
            <a:ext cx="2326001" cy="369332"/>
          </a:xfrm>
          <a:prstGeom prst="rect">
            <a:avLst/>
          </a:prstGeom>
          <a:solidFill>
            <a:srgbClr val="9ACDED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961672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4233946" y="153974"/>
            <a:ext cx="5176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Referencing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13" y="173181"/>
            <a:ext cx="559496" cy="4616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75958D3-8240-8347-B6F1-68224727BE12}"/>
              </a:ext>
            </a:extLst>
          </p:cNvPr>
          <p:cNvSpPr txBox="1"/>
          <p:nvPr/>
        </p:nvSpPr>
        <p:spPr>
          <a:xfrm>
            <a:off x="288735" y="1140762"/>
            <a:ext cx="11250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Other examples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113BA9-B069-EB4D-8CEA-5B18EDD53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003043"/>
              </p:ext>
            </p:extLst>
          </p:nvPr>
        </p:nvGraphicFramePr>
        <p:xfrm>
          <a:off x="495301" y="1814298"/>
          <a:ext cx="10562382" cy="45532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9884">
                  <a:extLst>
                    <a:ext uri="{9D8B030D-6E8A-4147-A177-3AD203B41FA5}">
                      <a16:colId xmlns:a16="http://schemas.microsoft.com/office/drawing/2014/main" val="3050665288"/>
                    </a:ext>
                  </a:extLst>
                </a:gridCol>
                <a:gridCol w="7992498">
                  <a:extLst>
                    <a:ext uri="{9D8B030D-6E8A-4147-A177-3AD203B41FA5}">
                      <a16:colId xmlns:a16="http://schemas.microsoft.com/office/drawing/2014/main" val="3204441265"/>
                    </a:ext>
                  </a:extLst>
                </a:gridCol>
              </a:tblGrid>
              <a:tr h="4937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</a:rPr>
                        <a:t>SOURCE</a:t>
                      </a:r>
                      <a:endParaRPr lang="en-AU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0" indent="-457200" algn="l"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 How to reference at the end of the text</a:t>
                      </a:r>
                      <a:endParaRPr lang="en-AU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133181"/>
                  </a:ext>
                </a:extLst>
              </a:tr>
              <a:tr h="9874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Web page</a:t>
                      </a:r>
                      <a:endParaRPr lang="en-AU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</a:rPr>
                        <a:t>Australian Psychological Society. (2008). </a:t>
                      </a:r>
                      <a:r>
                        <a:rPr lang="en-AU" sz="1800" i="1" dirty="0">
                          <a:effectLst/>
                        </a:rPr>
                        <a:t>Substance abuse: Position statement. </a:t>
                      </a:r>
                      <a:r>
                        <a:rPr lang="en-AU" sz="1800" dirty="0">
                          <a:effectLst/>
                        </a:rPr>
                        <a:t>Retrieved from </a:t>
                      </a:r>
                      <a:r>
                        <a:rPr lang="en-AU" sz="1800" u="sng" dirty="0">
                          <a:effectLst/>
                          <a:hlinkClick r:id="rId3"/>
                        </a:rPr>
                        <a:t>http://www.psychology.org.au/publications/statements/substance/</a:t>
                      </a:r>
                      <a:endParaRPr lang="en-AU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4601542"/>
                  </a:ext>
                </a:extLst>
              </a:tr>
              <a:tr h="9874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AU" sz="1800">
                          <a:effectLst/>
                        </a:rPr>
                        <a:t>Web page: No author</a:t>
                      </a:r>
                      <a:endParaRPr lang="en-AU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AU" sz="1800" i="1" dirty="0">
                          <a:effectLst/>
                        </a:rPr>
                        <a:t>Improve indigenous housing now, governments told</a:t>
                      </a:r>
                      <a:r>
                        <a:rPr lang="en-AU" sz="1800" dirty="0">
                          <a:effectLst/>
                        </a:rPr>
                        <a:t>. (2007). Retrieved from </a:t>
                      </a:r>
                      <a:r>
                        <a:rPr lang="en-AU" sz="1800" u="sng" dirty="0">
                          <a:effectLst/>
                          <a:hlinkClick r:id="rId4"/>
                        </a:rPr>
                        <a:t>http://www.raia.com.au/i-cms?page=10220</a:t>
                      </a:r>
                      <a:endParaRPr lang="en-AU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29215939"/>
                  </a:ext>
                </a:extLst>
              </a:tr>
              <a:tr h="9874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</a:rPr>
                        <a:t>Web page: No date</a:t>
                      </a:r>
                      <a:endParaRPr lang="en-AU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</a:rPr>
                        <a:t>Jones, M. D. (n.d.). </a:t>
                      </a:r>
                      <a:r>
                        <a:rPr lang="en-AU" sz="1800" i="1" dirty="0">
                          <a:effectLst/>
                        </a:rPr>
                        <a:t>Commentary on indigenous housing initiatives</a:t>
                      </a:r>
                      <a:r>
                        <a:rPr lang="en-AU" sz="1800" dirty="0">
                          <a:effectLst/>
                        </a:rPr>
                        <a:t>. Retrieved from </a:t>
                      </a:r>
                      <a:r>
                        <a:rPr lang="en-AU" sz="1800" u="sng" dirty="0">
                          <a:effectLst/>
                          <a:hlinkClick r:id="rId5"/>
                        </a:rPr>
                        <a:t>http://www.architecture.com.au</a:t>
                      </a:r>
                      <a:endParaRPr lang="en-AU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63593118"/>
                  </a:ext>
                </a:extLst>
              </a:tr>
              <a:tr h="9874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AU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Journal article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 err="1">
                          <a:effectLst/>
                        </a:rPr>
                        <a:t>Myre</a:t>
                      </a:r>
                      <a:r>
                        <a:rPr lang="en-AU" sz="1800" dirty="0">
                          <a:effectLst/>
                        </a:rPr>
                        <a:t>, A. S., &amp; Door, H. (2011). </a:t>
                      </a:r>
                      <a:r>
                        <a:rPr lang="en-AU" sz="1800" i="0" dirty="0">
                          <a:effectLst/>
                        </a:rPr>
                        <a:t>The effect of mental well-being on education outcomes</a:t>
                      </a:r>
                      <a:r>
                        <a:rPr lang="en-AU" sz="1800" dirty="0">
                          <a:effectLst/>
                        </a:rPr>
                        <a:t>. </a:t>
                      </a:r>
                      <a:r>
                        <a:rPr lang="en-AU" sz="1800" i="1" dirty="0">
                          <a:effectLst/>
                        </a:rPr>
                        <a:t>Journal of Educational Psychology, 51</a:t>
                      </a:r>
                      <a:r>
                        <a:rPr lang="en-AU" sz="1800" i="0" dirty="0">
                          <a:effectLst/>
                        </a:rPr>
                        <a:t>(3), 1138-1139.</a:t>
                      </a:r>
                      <a:r>
                        <a:rPr lang="en-AU" sz="1800" dirty="0">
                          <a:effectLst/>
                        </a:rPr>
                        <a:t> Retrieved from </a:t>
                      </a:r>
                      <a:r>
                        <a:rPr lang="en-AU" sz="1800" u="sng" dirty="0">
                          <a:effectLst/>
                          <a:hlinkClick r:id="rId5"/>
                        </a:rPr>
                        <a:t>http://www.architecture.com.au</a:t>
                      </a:r>
                      <a:endParaRPr lang="en-AU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endParaRPr lang="en-AU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912373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B20C956-993A-7145-A61B-B526D89B90AE}"/>
              </a:ext>
            </a:extLst>
          </p:cNvPr>
          <p:cNvSpPr txBox="1"/>
          <p:nvPr/>
        </p:nvSpPr>
        <p:spPr>
          <a:xfrm rot="16200000">
            <a:off x="-1002060" y="991034"/>
            <a:ext cx="2326001" cy="369332"/>
          </a:xfrm>
          <a:prstGeom prst="rect">
            <a:avLst/>
          </a:prstGeom>
          <a:solidFill>
            <a:srgbClr val="9ACDED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051962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4233946" y="153974"/>
            <a:ext cx="5176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Referencing 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13" y="173181"/>
            <a:ext cx="559496" cy="461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67A296-BFE9-4847-9B14-8562E7B93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442" y="840973"/>
            <a:ext cx="9804400" cy="1079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F6C5AB-1E06-2D41-8CF5-E8CA9D8B66B4}"/>
              </a:ext>
            </a:extLst>
          </p:cNvPr>
          <p:cNvSpPr/>
          <p:nvPr/>
        </p:nvSpPr>
        <p:spPr>
          <a:xfrm>
            <a:off x="1324577" y="1218238"/>
            <a:ext cx="8231352" cy="421076"/>
          </a:xfrm>
          <a:prstGeom prst="rect">
            <a:avLst/>
          </a:prstGeom>
          <a:solidFill>
            <a:schemeClr val="bg2">
              <a:lumMod val="60000"/>
              <a:lumOff val="40000"/>
              <a:alpha val="34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C01F5F-09C9-B84E-9858-739D2EE36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465" y="2641600"/>
            <a:ext cx="4495800" cy="1016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955AD9D-D8FE-4D44-A438-DCF46DD976D0}"/>
              </a:ext>
            </a:extLst>
          </p:cNvPr>
          <p:cNvSpPr/>
          <p:nvPr/>
        </p:nvSpPr>
        <p:spPr>
          <a:xfrm>
            <a:off x="7137898" y="3088794"/>
            <a:ext cx="3250702" cy="327506"/>
          </a:xfrm>
          <a:prstGeom prst="rect">
            <a:avLst/>
          </a:prstGeom>
          <a:solidFill>
            <a:schemeClr val="bg2">
              <a:lumMod val="60000"/>
              <a:lumOff val="40000"/>
              <a:alpha val="34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DF474-E6C2-A042-B937-06D095516F1A}"/>
              </a:ext>
            </a:extLst>
          </p:cNvPr>
          <p:cNvSpPr/>
          <p:nvPr/>
        </p:nvSpPr>
        <p:spPr>
          <a:xfrm>
            <a:off x="6039642" y="3373197"/>
            <a:ext cx="1491458" cy="284403"/>
          </a:xfrm>
          <a:prstGeom prst="rect">
            <a:avLst/>
          </a:prstGeom>
          <a:solidFill>
            <a:schemeClr val="bg2">
              <a:lumMod val="60000"/>
              <a:lumOff val="40000"/>
              <a:alpha val="34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ED5FA90-7E1A-5B4E-A736-5F99D0CD9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4279900"/>
            <a:ext cx="4483100" cy="7874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13938B7-C163-8E4C-AE25-6593C934182A}"/>
              </a:ext>
            </a:extLst>
          </p:cNvPr>
          <p:cNvSpPr/>
          <p:nvPr/>
        </p:nvSpPr>
        <p:spPr>
          <a:xfrm>
            <a:off x="5905749" y="4785398"/>
            <a:ext cx="1625351" cy="358102"/>
          </a:xfrm>
          <a:prstGeom prst="rect">
            <a:avLst/>
          </a:prstGeom>
          <a:solidFill>
            <a:schemeClr val="bg2">
              <a:lumMod val="60000"/>
              <a:lumOff val="40000"/>
              <a:alpha val="34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C07392-86BF-E940-BC32-5FF434F61D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591" y="1920473"/>
            <a:ext cx="3699772" cy="48996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5AD8CCF-9783-8B43-839F-663DD4ACE6D8}"/>
              </a:ext>
            </a:extLst>
          </p:cNvPr>
          <p:cNvSpPr txBox="1"/>
          <p:nvPr/>
        </p:nvSpPr>
        <p:spPr>
          <a:xfrm rot="16200000">
            <a:off x="-1800948" y="3334434"/>
            <a:ext cx="5176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2D6069"/>
                </a:solidFill>
              </a:rPr>
              <a:t>Referencing List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A6E36A-C421-FF44-AA6C-F191FB803058}"/>
              </a:ext>
            </a:extLst>
          </p:cNvPr>
          <p:cNvSpPr txBox="1"/>
          <p:nvPr/>
        </p:nvSpPr>
        <p:spPr>
          <a:xfrm rot="16200000">
            <a:off x="2980596" y="1762299"/>
            <a:ext cx="5176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2D6069"/>
                </a:solidFill>
              </a:rPr>
              <a:t>In-text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F39ACA-E9B3-154A-A66C-3CD4A11FEB2F}"/>
              </a:ext>
            </a:extLst>
          </p:cNvPr>
          <p:cNvSpPr txBox="1"/>
          <p:nvPr/>
        </p:nvSpPr>
        <p:spPr>
          <a:xfrm rot="16200000">
            <a:off x="-1002060" y="978334"/>
            <a:ext cx="2326001" cy="369332"/>
          </a:xfrm>
          <a:prstGeom prst="rect">
            <a:avLst/>
          </a:prstGeom>
          <a:solidFill>
            <a:srgbClr val="9ACDED"/>
          </a:solidFill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E344D"/>
                </a:solidFill>
              </a:rPr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388819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E40A-5FB4-D74C-8F95-466AA94F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" y="107759"/>
            <a:ext cx="6508377" cy="1617133"/>
          </a:xfrm>
        </p:spPr>
        <p:txBody>
          <a:bodyPr/>
          <a:lstStyle/>
          <a:p>
            <a:r>
              <a:rPr lang="en-AU" sz="5400" b="1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2060-9AC3-0B43-9E1B-8809CB75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8951" y="2335926"/>
            <a:ext cx="8415868" cy="3916363"/>
          </a:xfrm>
          <a:ln w="762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Before your next lesson, you must have:</a:t>
            </a:r>
          </a:p>
          <a:p>
            <a:pPr marL="0" indent="0">
              <a:buNone/>
            </a:pPr>
            <a:r>
              <a:rPr lang="en-AU" sz="2400" dirty="0"/>
              <a:t>DRAFTED YOUR DISCUSSION AND CONCLUSION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If you need support message me on SEQTA.</a:t>
            </a:r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5" name="Picture 4" descr="062608-glossy-black-icon-people-things-people-student-stud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922" y="-44823"/>
            <a:ext cx="2178424" cy="217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221955"/>
      </p:ext>
    </p:extLst>
  </p:cSld>
  <p:clrMapOvr>
    <a:masterClrMapping/>
  </p:clrMapOvr>
</p:sld>
</file>

<file path=ppt/theme/theme1.xml><?xml version="1.0" encoding="utf-8"?>
<a:theme xmlns:a="http://schemas.openxmlformats.org/drawingml/2006/main" name="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ABFCDE80-9FF4-EB43-9EB8-ADDCCB13B279}" vid="{9C6BB66C-35D3-EB49-8314-0F986D4FA8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template" id="{BE3FD172-D024-DE49-B586-228D6C825ABD}" vid="{767780C8-878E-A447-AAC4-C73CC567D1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Saba</Template>
  <TotalTime>1461</TotalTime>
  <Words>882</Words>
  <Application>Microsoft Macintosh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Century Gothic</vt:lpstr>
      <vt:lpstr>Times</vt:lpstr>
      <vt:lpstr>Wingdings 2</vt:lpstr>
      <vt:lpstr>Saba</vt:lpstr>
      <vt:lpstr>Office Theme</vt:lpstr>
      <vt:lpstr>     </vt:lpstr>
      <vt:lpstr>Explain the difference between differential statistics and inferential statistics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DO NOW  [Insert Word]</dc:title>
  <dc:creator>DAVEY Sarah [Joseph Banks Secondary College]</dc:creator>
  <cp:lastModifiedBy>DAVEY Sarah [Joseph Banks Secondary College]</cp:lastModifiedBy>
  <cp:revision>28</cp:revision>
  <dcterms:created xsi:type="dcterms:W3CDTF">2020-02-26T04:17:00Z</dcterms:created>
  <dcterms:modified xsi:type="dcterms:W3CDTF">2021-08-10T13:10:28Z</dcterms:modified>
</cp:coreProperties>
</file>
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0" r:id="rId2"/>
  </p:sldMasterIdLst>
  <p:notesMasterIdLst>
    <p:notesMasterId r:id="rId12"/>
  </p:notesMasterIdLst>
  <p:sldIdLst>
    <p:sldId id="262" r:id="rId3"/>
    <p:sldId id="407" r:id="rId4"/>
    <p:sldId id="408" r:id="rId5"/>
    <p:sldId id="409" r:id="rId6"/>
    <p:sldId id="410" r:id="rId7"/>
    <p:sldId id="406" r:id="rId8"/>
    <p:sldId id="359" r:id="rId9"/>
    <p:sldId id="411" r:id="rId10"/>
    <p:sldId id="4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43"/>
  </p:normalViewPr>
  <p:slideViewPr>
    <p:cSldViewPr snapToGrid="0" snapToObjects="1">
      <p:cViewPr>
        <p:scale>
          <a:sx n="97" d="100"/>
          <a:sy n="97" d="100"/>
        </p:scale>
        <p:origin x="-22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87F029-CE93-664F-9541-CBEF375DF8D7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F98331E-B4C3-2044-B586-E36BCC6E0A29}">
      <dgm:prSet/>
      <dgm:spPr/>
      <dgm:t>
        <a:bodyPr/>
        <a:lstStyle/>
        <a:p>
          <a:r>
            <a:rPr lang="en-AU" dirty="0"/>
            <a:t>Reducing prejudice</a:t>
          </a:r>
        </a:p>
      </dgm:t>
    </dgm:pt>
    <dgm:pt modelId="{23373AF7-15D4-264E-9F3B-EFD6FE1DF59E}" type="parTrans" cxnId="{524E0738-F270-8C41-AC93-72DF001FAB7A}">
      <dgm:prSet/>
      <dgm:spPr/>
      <dgm:t>
        <a:bodyPr/>
        <a:lstStyle/>
        <a:p>
          <a:endParaRPr lang="en-GB"/>
        </a:p>
      </dgm:t>
    </dgm:pt>
    <dgm:pt modelId="{C81B383B-C0EF-2240-8C63-4CA6A3CB5268}" type="sibTrans" cxnId="{524E0738-F270-8C41-AC93-72DF001FAB7A}">
      <dgm:prSet/>
      <dgm:spPr/>
      <dgm:t>
        <a:bodyPr/>
        <a:lstStyle/>
        <a:p>
          <a:endParaRPr lang="en-GB"/>
        </a:p>
      </dgm:t>
    </dgm:pt>
    <dgm:pt modelId="{888F3357-A336-904E-9317-EB16F6F397BF}">
      <dgm:prSet/>
      <dgm:spPr/>
    </dgm:pt>
    <dgm:pt modelId="{D836C28F-8E3D-9C45-B3C0-4DFB96776B12}" type="parTrans" cxnId="{39BAF365-CC59-A346-AD42-7080E2C5C196}">
      <dgm:prSet/>
      <dgm:spPr/>
      <dgm:t>
        <a:bodyPr/>
        <a:lstStyle/>
        <a:p>
          <a:endParaRPr lang="en-GB"/>
        </a:p>
      </dgm:t>
    </dgm:pt>
    <dgm:pt modelId="{01A9DE4E-A414-D14B-808F-B29FB66DDB09}" type="sibTrans" cxnId="{39BAF365-CC59-A346-AD42-7080E2C5C196}">
      <dgm:prSet/>
      <dgm:spPr/>
      <dgm:t>
        <a:bodyPr/>
        <a:lstStyle/>
        <a:p>
          <a:endParaRPr lang="en-GB"/>
        </a:p>
      </dgm:t>
    </dgm:pt>
    <dgm:pt modelId="{0ECAA7BB-9918-C542-B17B-F2EFE185A73E}">
      <dgm:prSet/>
      <dgm:spPr/>
    </dgm:pt>
    <dgm:pt modelId="{5C72740F-1951-A742-A238-351B1CAB9F9F}" type="parTrans" cxnId="{18A05E16-D383-A140-8E33-4E24D8B03873}">
      <dgm:prSet/>
      <dgm:spPr/>
      <dgm:t>
        <a:bodyPr/>
        <a:lstStyle/>
        <a:p>
          <a:endParaRPr lang="en-GB"/>
        </a:p>
      </dgm:t>
    </dgm:pt>
    <dgm:pt modelId="{58B287AB-297B-2B4D-962A-B6D1085A4E0F}" type="sibTrans" cxnId="{18A05E16-D383-A140-8E33-4E24D8B03873}">
      <dgm:prSet/>
      <dgm:spPr/>
      <dgm:t>
        <a:bodyPr/>
        <a:lstStyle/>
        <a:p>
          <a:endParaRPr lang="en-GB"/>
        </a:p>
      </dgm:t>
    </dgm:pt>
    <dgm:pt modelId="{E504CC57-8E68-6643-8560-C547C65A8AD1}">
      <dgm:prSet/>
      <dgm:spPr/>
      <dgm:t>
        <a:bodyPr/>
        <a:lstStyle/>
        <a:p>
          <a:r>
            <a:rPr lang="en-GB" dirty="0"/>
            <a:t>Intergroup contact</a:t>
          </a:r>
        </a:p>
      </dgm:t>
    </dgm:pt>
    <dgm:pt modelId="{07211FE5-4B9A-FA4D-9F44-C87998C162F7}" type="parTrans" cxnId="{6E6C7B70-DD9F-6F48-8C82-3CD36AF7150D}">
      <dgm:prSet/>
      <dgm:spPr/>
      <dgm:t>
        <a:bodyPr/>
        <a:lstStyle/>
        <a:p>
          <a:endParaRPr lang="en-GB"/>
        </a:p>
      </dgm:t>
    </dgm:pt>
    <dgm:pt modelId="{8EC7F852-41A9-E443-9B4B-FADCBD0110F1}" type="sibTrans" cxnId="{6E6C7B70-DD9F-6F48-8C82-3CD36AF7150D}">
      <dgm:prSet/>
      <dgm:spPr/>
      <dgm:t>
        <a:bodyPr/>
        <a:lstStyle/>
        <a:p>
          <a:endParaRPr lang="en-GB"/>
        </a:p>
      </dgm:t>
    </dgm:pt>
    <dgm:pt modelId="{0C913C0A-E37D-3641-ACA4-CC018B206C78}">
      <dgm:prSet/>
      <dgm:spPr/>
      <dgm:t>
        <a:bodyPr/>
        <a:lstStyle/>
        <a:p>
          <a:r>
            <a:rPr lang="en-GB" dirty="0"/>
            <a:t>Self awareness on own biases</a:t>
          </a:r>
        </a:p>
      </dgm:t>
    </dgm:pt>
    <dgm:pt modelId="{93CA46DA-29F9-7E44-A9FA-614DB9AC39BF}" type="parTrans" cxnId="{BC357C47-76A8-1746-AE80-FFB30A458C1F}">
      <dgm:prSet/>
      <dgm:spPr/>
      <dgm:t>
        <a:bodyPr/>
        <a:lstStyle/>
        <a:p>
          <a:endParaRPr lang="en-GB"/>
        </a:p>
      </dgm:t>
    </dgm:pt>
    <dgm:pt modelId="{0571706C-13F8-C948-89CD-003C66492D21}" type="sibTrans" cxnId="{BC357C47-76A8-1746-AE80-FFB30A458C1F}">
      <dgm:prSet/>
      <dgm:spPr/>
      <dgm:t>
        <a:bodyPr/>
        <a:lstStyle/>
        <a:p>
          <a:endParaRPr lang="en-GB"/>
        </a:p>
      </dgm:t>
    </dgm:pt>
    <dgm:pt modelId="{CCA86F08-48E3-194E-8259-C4CC3895E375}">
      <dgm:prSet/>
      <dgm:spPr/>
      <dgm:t>
        <a:bodyPr/>
        <a:lstStyle/>
        <a:p>
          <a:r>
            <a:rPr lang="en-GB" dirty="0"/>
            <a:t>Growth mindset</a:t>
          </a:r>
        </a:p>
      </dgm:t>
    </dgm:pt>
    <dgm:pt modelId="{7E29351F-E981-B44C-9889-9E79B12DAFBB}" type="parTrans" cxnId="{66258464-3ABF-2843-B95E-FAC4E47D281F}">
      <dgm:prSet/>
      <dgm:spPr/>
      <dgm:t>
        <a:bodyPr/>
        <a:lstStyle/>
        <a:p>
          <a:endParaRPr lang="en-GB"/>
        </a:p>
      </dgm:t>
    </dgm:pt>
    <dgm:pt modelId="{E4A9C4FE-4351-334E-9089-D3C1CA58DD81}" type="sibTrans" cxnId="{66258464-3ABF-2843-B95E-FAC4E47D281F}">
      <dgm:prSet/>
      <dgm:spPr/>
      <dgm:t>
        <a:bodyPr/>
        <a:lstStyle/>
        <a:p>
          <a:endParaRPr lang="en-GB"/>
        </a:p>
      </dgm:t>
    </dgm:pt>
    <dgm:pt modelId="{64FD1468-78CB-DF4F-813F-D387A38E01F3}">
      <dgm:prSet/>
      <dgm:spPr/>
      <dgm:t>
        <a:bodyPr/>
        <a:lstStyle/>
        <a:p>
          <a:r>
            <a:rPr lang="en-GB" dirty="0"/>
            <a:t>Educations and discussion</a:t>
          </a:r>
        </a:p>
      </dgm:t>
    </dgm:pt>
    <dgm:pt modelId="{1E92B863-55C0-5049-96DA-12F6D18AB386}" type="parTrans" cxnId="{7985B342-7623-484A-8F09-474B785A01A4}">
      <dgm:prSet/>
      <dgm:spPr/>
      <dgm:t>
        <a:bodyPr/>
        <a:lstStyle/>
        <a:p>
          <a:endParaRPr lang="en-GB"/>
        </a:p>
      </dgm:t>
    </dgm:pt>
    <dgm:pt modelId="{E118D60A-8C4F-2346-A5BA-32322B1442C4}" type="sibTrans" cxnId="{7985B342-7623-484A-8F09-474B785A01A4}">
      <dgm:prSet/>
      <dgm:spPr/>
      <dgm:t>
        <a:bodyPr/>
        <a:lstStyle/>
        <a:p>
          <a:endParaRPr lang="en-GB"/>
        </a:p>
      </dgm:t>
    </dgm:pt>
    <dgm:pt modelId="{C22828BA-2CE4-B846-9C8A-299E6643D3C4}">
      <dgm:prSet custT="1"/>
      <dgm:spPr/>
      <dgm:t>
        <a:bodyPr/>
        <a:lstStyle/>
        <a:p>
          <a:r>
            <a:rPr lang="en-GB" sz="1400" dirty="0"/>
            <a:t>representation</a:t>
          </a:r>
        </a:p>
      </dgm:t>
    </dgm:pt>
    <dgm:pt modelId="{260A9917-7E35-484F-A77F-65885737431E}" type="parTrans" cxnId="{3AA8BBA7-4CD9-C947-96C5-72EEAFA2E327}">
      <dgm:prSet/>
      <dgm:spPr/>
      <dgm:t>
        <a:bodyPr/>
        <a:lstStyle/>
        <a:p>
          <a:endParaRPr lang="en-GB"/>
        </a:p>
      </dgm:t>
    </dgm:pt>
    <dgm:pt modelId="{CA16402F-647C-4E46-B63E-52949043DB63}" type="sibTrans" cxnId="{3AA8BBA7-4CD9-C947-96C5-72EEAFA2E327}">
      <dgm:prSet/>
      <dgm:spPr/>
      <dgm:t>
        <a:bodyPr/>
        <a:lstStyle/>
        <a:p>
          <a:endParaRPr lang="en-GB"/>
        </a:p>
      </dgm:t>
    </dgm:pt>
    <dgm:pt modelId="{20FE8AF3-826B-5043-8860-3056BCE68DEC}" type="pres">
      <dgm:prSet presAssocID="{5087F029-CE93-664F-9541-CBEF375DF8D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D930C02-99AD-7649-AE6B-2AF748FB1360}" type="pres">
      <dgm:prSet presAssocID="{6F98331E-B4C3-2044-B586-E36BCC6E0A29}" presName="singleCycle" presStyleCnt="0"/>
      <dgm:spPr/>
    </dgm:pt>
    <dgm:pt modelId="{E21629FE-479C-C34C-95F5-A550B0CC0482}" type="pres">
      <dgm:prSet presAssocID="{6F98331E-B4C3-2044-B586-E36BCC6E0A29}" presName="singleCenter" presStyleLbl="node1" presStyleIdx="0" presStyleCnt="6">
        <dgm:presLayoutVars>
          <dgm:chMax val="7"/>
          <dgm:chPref val="7"/>
        </dgm:presLayoutVars>
      </dgm:prSet>
      <dgm:spPr/>
    </dgm:pt>
    <dgm:pt modelId="{3D5714D7-0175-AF46-B365-28470644A68D}" type="pres">
      <dgm:prSet presAssocID="{07211FE5-4B9A-FA4D-9F44-C87998C162F7}" presName="Name56" presStyleLbl="parChTrans1D2" presStyleIdx="0" presStyleCnt="5"/>
      <dgm:spPr/>
    </dgm:pt>
    <dgm:pt modelId="{0DAEDE53-2C80-4941-8B59-EC92D549ED01}" type="pres">
      <dgm:prSet presAssocID="{E504CC57-8E68-6643-8560-C547C65A8AD1}" presName="text0" presStyleLbl="node1" presStyleIdx="1" presStyleCnt="6">
        <dgm:presLayoutVars>
          <dgm:bulletEnabled val="1"/>
        </dgm:presLayoutVars>
      </dgm:prSet>
      <dgm:spPr/>
    </dgm:pt>
    <dgm:pt modelId="{2018B12F-0B4E-4C42-BCDE-A3DADC3C3BC2}" type="pres">
      <dgm:prSet presAssocID="{260A9917-7E35-484F-A77F-65885737431E}" presName="Name56" presStyleLbl="parChTrans1D2" presStyleIdx="1" presStyleCnt="5"/>
      <dgm:spPr/>
    </dgm:pt>
    <dgm:pt modelId="{79DFBB9D-B1CE-8E4E-BF38-F1AB31E37164}" type="pres">
      <dgm:prSet presAssocID="{C22828BA-2CE4-B846-9C8A-299E6643D3C4}" presName="text0" presStyleLbl="node1" presStyleIdx="2" presStyleCnt="6" custScaleX="116519" custScaleY="113208">
        <dgm:presLayoutVars>
          <dgm:bulletEnabled val="1"/>
        </dgm:presLayoutVars>
      </dgm:prSet>
      <dgm:spPr/>
    </dgm:pt>
    <dgm:pt modelId="{B0BF96EE-D1B7-F740-8562-4E38850B5C5C}" type="pres">
      <dgm:prSet presAssocID="{93CA46DA-29F9-7E44-A9FA-614DB9AC39BF}" presName="Name56" presStyleLbl="parChTrans1D2" presStyleIdx="2" presStyleCnt="5"/>
      <dgm:spPr/>
    </dgm:pt>
    <dgm:pt modelId="{839AAA03-0FAF-6348-BD1D-22FBFEA519E8}" type="pres">
      <dgm:prSet presAssocID="{0C913C0A-E37D-3641-ACA4-CC018B206C78}" presName="text0" presStyleLbl="node1" presStyleIdx="3" presStyleCnt="6">
        <dgm:presLayoutVars>
          <dgm:bulletEnabled val="1"/>
        </dgm:presLayoutVars>
      </dgm:prSet>
      <dgm:spPr/>
    </dgm:pt>
    <dgm:pt modelId="{D00F9B3D-DDDD-D443-BD6A-5E57634A74D9}" type="pres">
      <dgm:prSet presAssocID="{7E29351F-E981-B44C-9889-9E79B12DAFBB}" presName="Name56" presStyleLbl="parChTrans1D2" presStyleIdx="3" presStyleCnt="5"/>
      <dgm:spPr/>
    </dgm:pt>
    <dgm:pt modelId="{9783DADA-2E00-E948-BD71-0EEFCC9B8513}" type="pres">
      <dgm:prSet presAssocID="{CCA86F08-48E3-194E-8259-C4CC3895E375}" presName="text0" presStyleLbl="node1" presStyleIdx="4" presStyleCnt="6">
        <dgm:presLayoutVars>
          <dgm:bulletEnabled val="1"/>
        </dgm:presLayoutVars>
      </dgm:prSet>
      <dgm:spPr/>
    </dgm:pt>
    <dgm:pt modelId="{70D7EC27-F37D-B446-AF87-634FBF5D3436}" type="pres">
      <dgm:prSet presAssocID="{1E92B863-55C0-5049-96DA-12F6D18AB386}" presName="Name56" presStyleLbl="parChTrans1D2" presStyleIdx="4" presStyleCnt="5"/>
      <dgm:spPr/>
    </dgm:pt>
    <dgm:pt modelId="{3836985B-1E80-274A-A89E-1A1789336AE8}" type="pres">
      <dgm:prSet presAssocID="{64FD1468-78CB-DF4F-813F-D387A38E01F3}" presName="text0" presStyleLbl="node1" presStyleIdx="5" presStyleCnt="6">
        <dgm:presLayoutVars>
          <dgm:bulletEnabled val="1"/>
        </dgm:presLayoutVars>
      </dgm:prSet>
      <dgm:spPr/>
    </dgm:pt>
  </dgm:ptLst>
  <dgm:cxnLst>
    <dgm:cxn modelId="{18A05E16-D383-A140-8E33-4E24D8B03873}" srcId="{5087F029-CE93-664F-9541-CBEF375DF8D7}" destId="{0ECAA7BB-9918-C542-B17B-F2EFE185A73E}" srcOrd="2" destOrd="0" parTransId="{5C72740F-1951-A742-A238-351B1CAB9F9F}" sibTransId="{58B287AB-297B-2B4D-962A-B6D1085A4E0F}"/>
    <dgm:cxn modelId="{26E8EA1F-07D4-FF44-8187-8911AE335C57}" type="presOf" srcId="{CCA86F08-48E3-194E-8259-C4CC3895E375}" destId="{9783DADA-2E00-E948-BD71-0EEFCC9B8513}" srcOrd="0" destOrd="0" presId="urn:microsoft.com/office/officeart/2008/layout/RadialCluster"/>
    <dgm:cxn modelId="{11163921-E4B7-ED43-ACA3-B4C7CB1FE828}" type="presOf" srcId="{64FD1468-78CB-DF4F-813F-D387A38E01F3}" destId="{3836985B-1E80-274A-A89E-1A1789336AE8}" srcOrd="0" destOrd="0" presId="urn:microsoft.com/office/officeart/2008/layout/RadialCluster"/>
    <dgm:cxn modelId="{524E0738-F270-8C41-AC93-72DF001FAB7A}" srcId="{5087F029-CE93-664F-9541-CBEF375DF8D7}" destId="{6F98331E-B4C3-2044-B586-E36BCC6E0A29}" srcOrd="0" destOrd="0" parTransId="{23373AF7-15D4-264E-9F3B-EFD6FE1DF59E}" sibTransId="{C81B383B-C0EF-2240-8C63-4CA6A3CB5268}"/>
    <dgm:cxn modelId="{7985B342-7623-484A-8F09-474B785A01A4}" srcId="{6F98331E-B4C3-2044-B586-E36BCC6E0A29}" destId="{64FD1468-78CB-DF4F-813F-D387A38E01F3}" srcOrd="4" destOrd="0" parTransId="{1E92B863-55C0-5049-96DA-12F6D18AB386}" sibTransId="{E118D60A-8C4F-2346-A5BA-32322B1442C4}"/>
    <dgm:cxn modelId="{BC357C47-76A8-1746-AE80-FFB30A458C1F}" srcId="{6F98331E-B4C3-2044-B586-E36BCC6E0A29}" destId="{0C913C0A-E37D-3641-ACA4-CC018B206C78}" srcOrd="2" destOrd="0" parTransId="{93CA46DA-29F9-7E44-A9FA-614DB9AC39BF}" sibTransId="{0571706C-13F8-C948-89CD-003C66492D21}"/>
    <dgm:cxn modelId="{1635295D-A9DD-F643-9D28-1BC4D045A69A}" type="presOf" srcId="{C22828BA-2CE4-B846-9C8A-299E6643D3C4}" destId="{79DFBB9D-B1CE-8E4E-BF38-F1AB31E37164}" srcOrd="0" destOrd="0" presId="urn:microsoft.com/office/officeart/2008/layout/RadialCluster"/>
    <dgm:cxn modelId="{66258464-3ABF-2843-B95E-FAC4E47D281F}" srcId="{6F98331E-B4C3-2044-B586-E36BCC6E0A29}" destId="{CCA86F08-48E3-194E-8259-C4CC3895E375}" srcOrd="3" destOrd="0" parTransId="{7E29351F-E981-B44C-9889-9E79B12DAFBB}" sibTransId="{E4A9C4FE-4351-334E-9089-D3C1CA58DD81}"/>
    <dgm:cxn modelId="{39BAF365-CC59-A346-AD42-7080E2C5C196}" srcId="{5087F029-CE93-664F-9541-CBEF375DF8D7}" destId="{888F3357-A336-904E-9317-EB16F6F397BF}" srcOrd="1" destOrd="0" parTransId="{D836C28F-8E3D-9C45-B3C0-4DFB96776B12}" sibTransId="{01A9DE4E-A414-D14B-808F-B29FB66DDB09}"/>
    <dgm:cxn modelId="{6E6C7B70-DD9F-6F48-8C82-3CD36AF7150D}" srcId="{6F98331E-B4C3-2044-B586-E36BCC6E0A29}" destId="{E504CC57-8E68-6643-8560-C547C65A8AD1}" srcOrd="0" destOrd="0" parTransId="{07211FE5-4B9A-FA4D-9F44-C87998C162F7}" sibTransId="{8EC7F852-41A9-E443-9B4B-FADCBD0110F1}"/>
    <dgm:cxn modelId="{4FA64197-C4BC-FC4C-837D-E64826DA98FC}" type="presOf" srcId="{93CA46DA-29F9-7E44-A9FA-614DB9AC39BF}" destId="{B0BF96EE-D1B7-F740-8562-4E38850B5C5C}" srcOrd="0" destOrd="0" presId="urn:microsoft.com/office/officeart/2008/layout/RadialCluster"/>
    <dgm:cxn modelId="{48D3B39F-264F-8041-812A-69785D9B7FD7}" type="presOf" srcId="{0C913C0A-E37D-3641-ACA4-CC018B206C78}" destId="{839AAA03-0FAF-6348-BD1D-22FBFEA519E8}" srcOrd="0" destOrd="0" presId="urn:microsoft.com/office/officeart/2008/layout/RadialCluster"/>
    <dgm:cxn modelId="{FD61F7A3-B1AA-5644-BD1D-AE0CC0E7E774}" type="presOf" srcId="{1E92B863-55C0-5049-96DA-12F6D18AB386}" destId="{70D7EC27-F37D-B446-AF87-634FBF5D3436}" srcOrd="0" destOrd="0" presId="urn:microsoft.com/office/officeart/2008/layout/RadialCluster"/>
    <dgm:cxn modelId="{3AA8BBA7-4CD9-C947-96C5-72EEAFA2E327}" srcId="{6F98331E-B4C3-2044-B586-E36BCC6E0A29}" destId="{C22828BA-2CE4-B846-9C8A-299E6643D3C4}" srcOrd="1" destOrd="0" parTransId="{260A9917-7E35-484F-A77F-65885737431E}" sibTransId="{CA16402F-647C-4E46-B63E-52949043DB63}"/>
    <dgm:cxn modelId="{3C7BABAB-03AC-924A-8735-F4D65B1A64B9}" type="presOf" srcId="{6F98331E-B4C3-2044-B586-E36BCC6E0A29}" destId="{E21629FE-479C-C34C-95F5-A550B0CC0482}" srcOrd="0" destOrd="0" presId="urn:microsoft.com/office/officeart/2008/layout/RadialCluster"/>
    <dgm:cxn modelId="{58EBE1AF-5F23-0247-B3D9-B03737898F8B}" type="presOf" srcId="{07211FE5-4B9A-FA4D-9F44-C87998C162F7}" destId="{3D5714D7-0175-AF46-B365-28470644A68D}" srcOrd="0" destOrd="0" presId="urn:microsoft.com/office/officeart/2008/layout/RadialCluster"/>
    <dgm:cxn modelId="{E32AA5B9-9225-C14F-8093-10636103F724}" type="presOf" srcId="{260A9917-7E35-484F-A77F-65885737431E}" destId="{2018B12F-0B4E-4C42-BCDE-A3DADC3C3BC2}" srcOrd="0" destOrd="0" presId="urn:microsoft.com/office/officeart/2008/layout/RadialCluster"/>
    <dgm:cxn modelId="{AA8724CD-B23D-5A43-A8AF-E5C14243A483}" type="presOf" srcId="{E504CC57-8E68-6643-8560-C547C65A8AD1}" destId="{0DAEDE53-2C80-4941-8B59-EC92D549ED01}" srcOrd="0" destOrd="0" presId="urn:microsoft.com/office/officeart/2008/layout/RadialCluster"/>
    <dgm:cxn modelId="{F4B1D2D6-AFC0-C546-989D-D676CB8F5FAD}" type="presOf" srcId="{5087F029-CE93-664F-9541-CBEF375DF8D7}" destId="{20FE8AF3-826B-5043-8860-3056BCE68DEC}" srcOrd="0" destOrd="0" presId="urn:microsoft.com/office/officeart/2008/layout/RadialCluster"/>
    <dgm:cxn modelId="{7EA9F9E3-539F-6843-91B5-B30DE327514A}" type="presOf" srcId="{7E29351F-E981-B44C-9889-9E79B12DAFBB}" destId="{D00F9B3D-DDDD-D443-BD6A-5E57634A74D9}" srcOrd="0" destOrd="0" presId="urn:microsoft.com/office/officeart/2008/layout/RadialCluster"/>
    <dgm:cxn modelId="{4F93D6AE-F77C-984A-8F2E-2A085E0CF4C3}" type="presParOf" srcId="{20FE8AF3-826B-5043-8860-3056BCE68DEC}" destId="{DD930C02-99AD-7649-AE6B-2AF748FB1360}" srcOrd="0" destOrd="0" presId="urn:microsoft.com/office/officeart/2008/layout/RadialCluster"/>
    <dgm:cxn modelId="{C2F606A6-0458-F948-B237-81F6F850CDD1}" type="presParOf" srcId="{DD930C02-99AD-7649-AE6B-2AF748FB1360}" destId="{E21629FE-479C-C34C-95F5-A550B0CC0482}" srcOrd="0" destOrd="0" presId="urn:microsoft.com/office/officeart/2008/layout/RadialCluster"/>
    <dgm:cxn modelId="{CF984AC2-CADC-DE46-A0E2-C3E0A29083DB}" type="presParOf" srcId="{DD930C02-99AD-7649-AE6B-2AF748FB1360}" destId="{3D5714D7-0175-AF46-B365-28470644A68D}" srcOrd="1" destOrd="0" presId="urn:microsoft.com/office/officeart/2008/layout/RadialCluster"/>
    <dgm:cxn modelId="{F7830C4D-BE18-E84F-B986-6D89C2D3004B}" type="presParOf" srcId="{DD930C02-99AD-7649-AE6B-2AF748FB1360}" destId="{0DAEDE53-2C80-4941-8B59-EC92D549ED01}" srcOrd="2" destOrd="0" presId="urn:microsoft.com/office/officeart/2008/layout/RadialCluster"/>
    <dgm:cxn modelId="{EE6E5982-1DC4-FD42-9062-62FE842BCC92}" type="presParOf" srcId="{DD930C02-99AD-7649-AE6B-2AF748FB1360}" destId="{2018B12F-0B4E-4C42-BCDE-A3DADC3C3BC2}" srcOrd="3" destOrd="0" presId="urn:microsoft.com/office/officeart/2008/layout/RadialCluster"/>
    <dgm:cxn modelId="{6ECEB609-8278-4847-98D6-A0D03B78E379}" type="presParOf" srcId="{DD930C02-99AD-7649-AE6B-2AF748FB1360}" destId="{79DFBB9D-B1CE-8E4E-BF38-F1AB31E37164}" srcOrd="4" destOrd="0" presId="urn:microsoft.com/office/officeart/2008/layout/RadialCluster"/>
    <dgm:cxn modelId="{A3ADCD0D-CFCA-D040-AE36-FA0950A46F11}" type="presParOf" srcId="{DD930C02-99AD-7649-AE6B-2AF748FB1360}" destId="{B0BF96EE-D1B7-F740-8562-4E38850B5C5C}" srcOrd="5" destOrd="0" presId="urn:microsoft.com/office/officeart/2008/layout/RadialCluster"/>
    <dgm:cxn modelId="{56C72852-FA75-4744-95C4-2C19CD2B590B}" type="presParOf" srcId="{DD930C02-99AD-7649-AE6B-2AF748FB1360}" destId="{839AAA03-0FAF-6348-BD1D-22FBFEA519E8}" srcOrd="6" destOrd="0" presId="urn:microsoft.com/office/officeart/2008/layout/RadialCluster"/>
    <dgm:cxn modelId="{4B854EAE-3661-B843-AE05-9DBB77717EA7}" type="presParOf" srcId="{DD930C02-99AD-7649-AE6B-2AF748FB1360}" destId="{D00F9B3D-DDDD-D443-BD6A-5E57634A74D9}" srcOrd="7" destOrd="0" presId="urn:microsoft.com/office/officeart/2008/layout/RadialCluster"/>
    <dgm:cxn modelId="{1F4E4D45-386F-DF40-8DF4-D9548FAFD708}" type="presParOf" srcId="{DD930C02-99AD-7649-AE6B-2AF748FB1360}" destId="{9783DADA-2E00-E948-BD71-0EEFCC9B8513}" srcOrd="8" destOrd="0" presId="urn:microsoft.com/office/officeart/2008/layout/RadialCluster"/>
    <dgm:cxn modelId="{DF939743-8CF2-D242-A534-30179E66D5BD}" type="presParOf" srcId="{DD930C02-99AD-7649-AE6B-2AF748FB1360}" destId="{70D7EC27-F37D-B446-AF87-634FBF5D3436}" srcOrd="9" destOrd="0" presId="urn:microsoft.com/office/officeart/2008/layout/RadialCluster"/>
    <dgm:cxn modelId="{8D55FE58-C9D9-9047-9257-896BE66CEB58}" type="presParOf" srcId="{DD930C02-99AD-7649-AE6B-2AF748FB1360}" destId="{3836985B-1E80-274A-A89E-1A1789336AE8}" srcOrd="1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1629FE-479C-C34C-95F5-A550B0CC0482}">
      <dsp:nvSpPr>
        <dsp:cNvPr id="0" name=""/>
        <dsp:cNvSpPr/>
      </dsp:nvSpPr>
      <dsp:spPr>
        <a:xfrm>
          <a:off x="5580042" y="1877315"/>
          <a:ext cx="1443722" cy="14437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 dirty="0"/>
            <a:t>Reducing prejudice</a:t>
          </a:r>
        </a:p>
      </dsp:txBody>
      <dsp:txXfrm>
        <a:off x="5650519" y="1947792"/>
        <a:ext cx="1302768" cy="1302768"/>
      </dsp:txXfrm>
    </dsp:sp>
    <dsp:sp modelId="{3D5714D7-0175-AF46-B365-28470644A68D}">
      <dsp:nvSpPr>
        <dsp:cNvPr id="0" name=""/>
        <dsp:cNvSpPr/>
      </dsp:nvSpPr>
      <dsp:spPr>
        <a:xfrm rot="16200000">
          <a:off x="5894240" y="1469651"/>
          <a:ext cx="81532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532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AEDE53-2C80-4941-8B59-EC92D549ED01}">
      <dsp:nvSpPr>
        <dsp:cNvPr id="0" name=""/>
        <dsp:cNvSpPr/>
      </dsp:nvSpPr>
      <dsp:spPr>
        <a:xfrm>
          <a:off x="5818257" y="94694"/>
          <a:ext cx="967294" cy="9672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Intergroup contact</a:t>
          </a:r>
        </a:p>
      </dsp:txBody>
      <dsp:txXfrm>
        <a:off x="5865476" y="141913"/>
        <a:ext cx="872856" cy="872856"/>
      </dsp:txXfrm>
    </dsp:sp>
    <dsp:sp modelId="{2018B12F-0B4E-4C42-BCDE-A3DADC3C3BC2}">
      <dsp:nvSpPr>
        <dsp:cNvPr id="0" name=""/>
        <dsp:cNvSpPr/>
      </dsp:nvSpPr>
      <dsp:spPr>
        <a:xfrm rot="20520000">
          <a:off x="7007386" y="2261219"/>
          <a:ext cx="66928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6928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DFBB9D-B1CE-8E4E-BF38-F1AB31E37164}">
      <dsp:nvSpPr>
        <dsp:cNvPr id="0" name=""/>
        <dsp:cNvSpPr/>
      </dsp:nvSpPr>
      <dsp:spPr>
        <a:xfrm>
          <a:off x="7660292" y="1427177"/>
          <a:ext cx="1127081" cy="10950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representation</a:t>
          </a:r>
        </a:p>
      </dsp:txBody>
      <dsp:txXfrm>
        <a:off x="7713748" y="1480633"/>
        <a:ext cx="1020169" cy="988142"/>
      </dsp:txXfrm>
    </dsp:sp>
    <dsp:sp modelId="{B0BF96EE-D1B7-F740-8562-4E38850B5C5C}">
      <dsp:nvSpPr>
        <dsp:cNvPr id="0" name=""/>
        <dsp:cNvSpPr/>
      </dsp:nvSpPr>
      <dsp:spPr>
        <a:xfrm rot="3240000">
          <a:off x="6716976" y="3535728"/>
          <a:ext cx="53074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3074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AAA03-0FAF-6348-BD1D-22FBFEA519E8}">
      <dsp:nvSpPr>
        <dsp:cNvPr id="0" name=""/>
        <dsp:cNvSpPr/>
      </dsp:nvSpPr>
      <dsp:spPr>
        <a:xfrm>
          <a:off x="7006074" y="3750419"/>
          <a:ext cx="967294" cy="9672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Self awareness on own biases</a:t>
          </a:r>
        </a:p>
      </dsp:txBody>
      <dsp:txXfrm>
        <a:off x="7053293" y="3797638"/>
        <a:ext cx="872856" cy="872856"/>
      </dsp:txXfrm>
    </dsp:sp>
    <dsp:sp modelId="{D00F9B3D-DDDD-D443-BD6A-5E57634A74D9}">
      <dsp:nvSpPr>
        <dsp:cNvPr id="0" name=""/>
        <dsp:cNvSpPr/>
      </dsp:nvSpPr>
      <dsp:spPr>
        <a:xfrm rot="7560000">
          <a:off x="5356086" y="3535728"/>
          <a:ext cx="53074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3074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83DADA-2E00-E948-BD71-0EEFCC9B8513}">
      <dsp:nvSpPr>
        <dsp:cNvPr id="0" name=""/>
        <dsp:cNvSpPr/>
      </dsp:nvSpPr>
      <dsp:spPr>
        <a:xfrm>
          <a:off x="4630439" y="3750419"/>
          <a:ext cx="967294" cy="9672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Growth mindset</a:t>
          </a:r>
        </a:p>
      </dsp:txBody>
      <dsp:txXfrm>
        <a:off x="4677658" y="3797638"/>
        <a:ext cx="872856" cy="872856"/>
      </dsp:txXfrm>
    </dsp:sp>
    <dsp:sp modelId="{70D7EC27-F37D-B446-AF87-634FBF5D3436}">
      <dsp:nvSpPr>
        <dsp:cNvPr id="0" name=""/>
        <dsp:cNvSpPr/>
      </dsp:nvSpPr>
      <dsp:spPr>
        <a:xfrm rot="11880000">
          <a:off x="4845188" y="2248240"/>
          <a:ext cx="75328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5328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6985B-1E80-274A-A89E-1A1789336AE8}">
      <dsp:nvSpPr>
        <dsp:cNvPr id="0" name=""/>
        <dsp:cNvSpPr/>
      </dsp:nvSpPr>
      <dsp:spPr>
        <a:xfrm>
          <a:off x="3896328" y="1491057"/>
          <a:ext cx="967294" cy="9672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Educations and discussion</a:t>
          </a:r>
        </a:p>
      </dsp:txBody>
      <dsp:txXfrm>
        <a:off x="3943547" y="1538276"/>
        <a:ext cx="872856" cy="8728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FAB6C-3138-6440-BC93-B4B889D09C18}" type="datetimeFigureOut">
              <a:rPr lang="en-US" smtClean="0"/>
              <a:t>9/13/21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B88CF-89E8-E740-B754-A3753DCF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2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10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9403-0A70-6342-AD93-9768B2D9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54347-3F03-124F-96EB-030C73460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659E-A2D1-B748-A249-5D5B4D6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6F3E-DC9C-7A42-B6AA-EE9329C5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BB6A-4459-D440-A462-AB491D2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3771-2C5D-324E-96C1-1D073135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DD6-06C2-0140-BC76-1998A0BB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CD7A-B170-7644-97DA-49A85FFE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10CC-78FB-B046-99D1-DC57EDA1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E833-292B-2849-B271-F8640E73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8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C990-558A-AE46-80F7-D4F77B03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EDAA-4286-C746-BE37-6BAFABA4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AA73-B1E1-2D41-9458-0FA447D7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FF87-2C57-4849-8357-2EF037D3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53EE-FC36-7C41-B550-E9A2EA45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2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75A6-5B2E-5D4D-B8C3-87CE4BCE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974F-F3B7-BE45-9CE2-3F5CAD14F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57523-300B-2945-B9DE-50200343B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CC82-CAA8-DC46-ADE1-A1C394D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D147-F3C5-0C42-9AFB-A75140B7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03AD-15F3-414D-930C-1B5AEABC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9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1B44-9F47-A149-A10A-1687F36E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B29-62C9-564B-A7C6-17C8E87F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3DD78-19AC-F244-84D1-3AAA433A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1DD53-EFE3-404D-B262-89B66C74D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CEBA4-5169-8B4B-92C3-0A0D1E0F9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6305B-45B6-0040-84CF-FF35B78E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62CE6-4603-A948-A3DB-46FA184B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122EF-0C06-EE45-BAB2-384B428C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26B2-FE7B-FA44-901F-604F43CE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DD536-C96F-D846-93FC-DBA7EB65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51AF-46E5-964D-82E4-6EC18D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21BC4-FBA5-9545-800E-B783DDAC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9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D2B45-6D3E-5140-9E1A-EA6BD1F7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CA7E1-6DB7-5348-9A38-94A036A2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71B7-DFE4-0741-A4BB-22829005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9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B3DB-7E96-B241-951E-E0213CB5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E2D9-6211-4F4B-90D8-E32643AD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E4D28-C849-1F4E-BEB1-4232BBBD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73FAF-7209-E043-807C-C17A5520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9F006-D4FB-EE42-A616-30D03C3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CA3F-1808-CB4E-942B-E869B8CE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FB93-FFEA-6B43-AC94-7159009E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7D9EC-D130-1946-8998-11940C62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D7668-5870-B446-A751-8DC34589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0E1C2-86D2-B740-868A-F6676DD5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BE31-E8B5-BF43-82AD-2FF081CD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355F8-0EDC-6D4C-85CC-3AC3BB2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6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E170-EF20-594A-A449-DC901974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84A1D-6C2C-2945-94AA-730A7F67C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DD28-B73A-3B4D-B817-2A14D701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C8CE-002D-0947-9AC3-A3D63D6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C238-FC97-594A-8BE5-F401E27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7AD74-D535-EE47-9F94-E8712FCCB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504AE-ACBE-694B-8C8A-48DA810E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2C47-4ACA-904D-A9F0-5427F9FE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A839-90C6-CA44-AA4A-5466C044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18E6-8954-6145-826C-A4DF1124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8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66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40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623857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4089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75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2029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73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8089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4270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5398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240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570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741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7849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924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47557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286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106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D1DFC-17E5-C14E-BC3E-6F75E2F6365C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235F-EC74-7846-ADD8-6E0795AA4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31F3-683C-D045-A95B-0EC27CA2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EF1DC-57E7-904E-98BF-D5D10293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7479-C980-A84E-A2E5-5881B9D50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ACE0-986B-954A-BDE6-68B4D7D9F963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5FE8-A678-014F-B1F7-4D6BC1F62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D8D9-8D56-9242-B7FA-28E157121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5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A011D86-DC34-7546-97EC-749AB3079894}" type="datetimeFigureOut">
              <a:rPr lang="en-US" smtClean="0"/>
              <a:t>9/13/21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F06C81FB-A82A-5949-9CC7-07538444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8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builtin.com/diversity-inclusion/unconscious-bias-exampl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oBvzI-YZf4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3679" y="1295291"/>
            <a:ext cx="50535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dirty="0"/>
              <a:t>Write an operationalized hypothesis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544544"/>
              </p:ext>
            </p:extLst>
          </p:nvPr>
        </p:nvGraphicFramePr>
        <p:xfrm>
          <a:off x="9065356" y="5847080"/>
          <a:ext cx="3126644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2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 due: next Wednesday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549676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</p:spTree>
    <p:extLst>
      <p:ext uri="{BB962C8B-B14F-4D97-AF65-F5344CB8AC3E}">
        <p14:creationId xmlns:p14="http://schemas.microsoft.com/office/powerpoint/2010/main" val="144170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7290" y="1080194"/>
            <a:ext cx="87953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0" indent="-914400">
              <a:buAutoNum type="arabicPeriod"/>
              <a:defRPr/>
            </a:pPr>
            <a:r>
              <a:rPr lang="en-US" sz="5400" dirty="0"/>
              <a:t>Explain what a positive and negative correlation shows.</a:t>
            </a:r>
          </a:p>
          <a:p>
            <a:pPr marL="914400" lvl="0" indent="-914400">
              <a:buAutoNum type="arabicPeriod"/>
              <a:defRPr/>
            </a:pPr>
            <a:r>
              <a:rPr lang="en-US" sz="5400" dirty="0"/>
              <a:t>Draw what they look like on a graph</a:t>
            </a:r>
          </a:p>
          <a:p>
            <a:pPr marL="914400" lvl="0" indent="-914400">
              <a:buAutoNum type="arabicPeriod"/>
              <a:defRPr/>
            </a:pPr>
            <a:r>
              <a:rPr lang="en-US" sz="5400" dirty="0"/>
              <a:t>Give an example of each</a:t>
            </a:r>
          </a:p>
          <a:p>
            <a:pPr lvl="0">
              <a:defRPr/>
            </a:pPr>
            <a:endParaRPr lang="en-US" sz="5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65356" y="5847080"/>
          <a:ext cx="3126644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2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 due: next Wednesday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549676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</p:spTree>
    <p:extLst>
      <p:ext uri="{BB962C8B-B14F-4D97-AF65-F5344CB8AC3E}">
        <p14:creationId xmlns:p14="http://schemas.microsoft.com/office/powerpoint/2010/main" val="104598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7290" y="1080194"/>
            <a:ext cx="8795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dirty="0"/>
              <a:t>Come up with 3 synonyms for reliability and validity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65356" y="5847080"/>
          <a:ext cx="3126644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2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 due: next Wednesday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549676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</p:spTree>
    <p:extLst>
      <p:ext uri="{BB962C8B-B14F-4D97-AF65-F5344CB8AC3E}">
        <p14:creationId xmlns:p14="http://schemas.microsoft.com/office/powerpoint/2010/main" val="559902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3234" y="1133356"/>
            <a:ext cx="60848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dirty="0"/>
              <a:t>Define:</a:t>
            </a:r>
          </a:p>
          <a:p>
            <a:pPr lvl="0">
              <a:defRPr/>
            </a:pPr>
            <a:r>
              <a:rPr lang="en-US" sz="5400" dirty="0"/>
              <a:t>Prejudice</a:t>
            </a:r>
          </a:p>
          <a:p>
            <a:pPr lvl="0">
              <a:defRPr/>
            </a:pPr>
            <a:r>
              <a:rPr lang="en-US" sz="5400" dirty="0"/>
              <a:t>Stereotypes</a:t>
            </a:r>
          </a:p>
          <a:p>
            <a:pPr lvl="0">
              <a:defRPr/>
            </a:pPr>
            <a:r>
              <a:rPr lang="en-US" sz="5400" dirty="0"/>
              <a:t>Discrimination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65356" y="5847080"/>
          <a:ext cx="3126644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2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 due: next Wednesday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549676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</p:spTree>
    <p:extLst>
      <p:ext uri="{BB962C8B-B14F-4D97-AF65-F5344CB8AC3E}">
        <p14:creationId xmlns:p14="http://schemas.microsoft.com/office/powerpoint/2010/main" val="169209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7290" y="1932142"/>
            <a:ext cx="80608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dirty="0"/>
              <a:t>Outline 3 causes of prejudice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65356" y="5847080"/>
          <a:ext cx="3126644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2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 due: next Wednesday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549676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</p:spTree>
    <p:extLst>
      <p:ext uri="{BB962C8B-B14F-4D97-AF65-F5344CB8AC3E}">
        <p14:creationId xmlns:p14="http://schemas.microsoft.com/office/powerpoint/2010/main" val="286025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1326147" y="1683498"/>
            <a:ext cx="3021626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A9135-6D23-9B40-A318-5A5318AD7149}"/>
              </a:ext>
            </a:extLst>
          </p:cNvPr>
          <p:cNvSpPr txBox="1"/>
          <p:nvPr/>
        </p:nvSpPr>
        <p:spPr>
          <a:xfrm>
            <a:off x="596448" y="1572964"/>
            <a:ext cx="1017757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Discuss:</a:t>
            </a:r>
          </a:p>
          <a:p>
            <a:r>
              <a:rPr lang="en-US" sz="3200" b="1" dirty="0"/>
              <a:t>What does the term unconscious bias mean?</a:t>
            </a:r>
          </a:p>
          <a:p>
            <a:endParaRPr lang="en-US" sz="3200" b="1" dirty="0"/>
          </a:p>
          <a:p>
            <a:r>
              <a:rPr lang="en-US" sz="3200" b="1" dirty="0"/>
              <a:t>2. When I say so…</a:t>
            </a:r>
          </a:p>
          <a:p>
            <a:r>
              <a:rPr lang="en-US" sz="3200" b="1" dirty="0"/>
              <a:t>Take the unconscious bias test</a:t>
            </a:r>
          </a:p>
          <a:p>
            <a:endParaRPr lang="en-US" sz="3200" b="1" dirty="0"/>
          </a:p>
          <a:p>
            <a:r>
              <a:rPr lang="en-US" sz="3200" b="1" dirty="0"/>
              <a:t>3. Research using the link on SEQTA and define 3 biases</a:t>
            </a:r>
          </a:p>
          <a:p>
            <a:r>
              <a:rPr lang="en-US" sz="3200" b="1" dirty="0">
                <a:hlinkClick r:id="rId4"/>
              </a:rPr>
              <a:t>https://builtin.com/diversity-inclusion/unconscious-bias-examples</a:t>
            </a:r>
            <a:r>
              <a:rPr lang="en-US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6991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184165" y="0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Learning Intention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568" y="1100561"/>
            <a:ext cx="1107552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94431"/>
                </a:solidFill>
              </a:rPr>
              <a:t>By the end of the lesson I will be able to:</a:t>
            </a:r>
            <a:br>
              <a:rPr lang="en-US" sz="2400" dirty="0">
                <a:solidFill>
                  <a:srgbClr val="194431"/>
                </a:solidFill>
              </a:rPr>
            </a:br>
            <a:endParaRPr lang="en-US" sz="2400" dirty="0">
              <a:solidFill>
                <a:srgbClr val="194431"/>
              </a:solidFill>
            </a:endParaRPr>
          </a:p>
          <a:p>
            <a:r>
              <a:rPr lang="en-US" sz="2400" dirty="0">
                <a:solidFill>
                  <a:srgbClr val="194431"/>
                </a:solidFill>
              </a:rPr>
              <a:t>Outline method for reducing prejudice</a:t>
            </a:r>
            <a:endParaRPr lang="en-US" sz="2000" dirty="0"/>
          </a:p>
          <a:p>
            <a:endParaRPr lang="en-US" sz="2000" dirty="0">
              <a:solidFill>
                <a:srgbClr val="194431"/>
              </a:solidFill>
            </a:endParaRP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431" y="136524"/>
            <a:ext cx="1143001" cy="1143001"/>
          </a:xfrm>
          <a:prstGeom prst="rect">
            <a:avLst/>
          </a:prstGeom>
        </p:spPr>
      </p:pic>
      <p:pic>
        <p:nvPicPr>
          <p:cNvPr id="1026" name="Picture 2" descr="Stanford study: Participation in a cultural activity may reduce prejudice">
            <a:extLst>
              <a:ext uri="{FF2B5EF4-FFF2-40B4-BE49-F238E27FC236}">
                <a16:creationId xmlns:a16="http://schemas.microsoft.com/office/drawing/2014/main" id="{390DBB01-D9AD-E84A-832F-CD8B08DE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3292476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11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E11B-6EF2-F443-8A89-6F5F49B53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Unconscious bias / Implicit bias</a:t>
            </a:r>
          </a:p>
        </p:txBody>
      </p:sp>
      <p:pic>
        <p:nvPicPr>
          <p:cNvPr id="4" name="Online Media 3" descr="Implicit Bias | Concepts Unwrapped">
            <a:hlinkClick r:id="" action="ppaction://media"/>
            <a:extLst>
              <a:ext uri="{FF2B5EF4-FFF2-40B4-BE49-F238E27FC236}">
                <a16:creationId xmlns:a16="http://schemas.microsoft.com/office/drawing/2014/main" id="{B0ECB275-90BC-794B-B295-61D337966F3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8730" y="1690688"/>
            <a:ext cx="770096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827998-9CD3-264B-8FAF-7D208E1258E5}"/>
              </a:ext>
            </a:extLst>
          </p:cNvPr>
          <p:cNvSpPr txBox="1"/>
          <p:nvPr/>
        </p:nvSpPr>
        <p:spPr>
          <a:xfrm>
            <a:off x="8242852" y="1948070"/>
            <a:ext cx="30178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Watch and describe:</a:t>
            </a:r>
          </a:p>
          <a:p>
            <a:endParaRPr lang="en-US" dirty="0"/>
          </a:p>
          <a:p>
            <a:r>
              <a:rPr lang="en-US" dirty="0"/>
              <a:t>What is it?</a:t>
            </a:r>
          </a:p>
          <a:p>
            <a:r>
              <a:rPr lang="en-US" dirty="0"/>
              <a:t>What groups cam be impacts?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6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2064439" y="5354"/>
            <a:ext cx="3023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Reducing prejudice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7612083" y="42040"/>
            <a:ext cx="4569407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Explain the process of neural transmission (3.3)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F5D3DD2-1CD0-6F4B-AF68-437C28E06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153403"/>
              </p:ext>
            </p:extLst>
          </p:nvPr>
        </p:nvGraphicFramePr>
        <p:xfrm>
          <a:off x="-2943354" y="1177159"/>
          <a:ext cx="12683702" cy="481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522943-2B46-7D4C-AE1A-216AC1CF4118}"/>
              </a:ext>
            </a:extLst>
          </p:cNvPr>
          <p:cNvSpPr txBox="1"/>
          <p:nvPr/>
        </p:nvSpPr>
        <p:spPr>
          <a:xfrm>
            <a:off x="7061051" y="2402732"/>
            <a:ext cx="45911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Task: </a:t>
            </a:r>
          </a:p>
          <a:p>
            <a:endParaRPr lang="en-US" sz="3200" dirty="0"/>
          </a:p>
          <a:p>
            <a:r>
              <a:rPr lang="en-US" sz="3200" dirty="0"/>
              <a:t>Explore the resources on SEQTA and online and work on your assignment</a:t>
            </a:r>
          </a:p>
        </p:txBody>
      </p:sp>
    </p:spTree>
    <p:extLst>
      <p:ext uri="{BB962C8B-B14F-4D97-AF65-F5344CB8AC3E}">
        <p14:creationId xmlns:p14="http://schemas.microsoft.com/office/powerpoint/2010/main" val="878759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template" id="{BE3FD172-D024-DE49-B586-228D6C825ABD}" vid="{767780C8-878E-A447-AAC4-C73CC567D16E}"/>
    </a:ext>
  </a:extLst>
</a:theme>
</file>

<file path=ppt/theme/theme2.xml><?xml version="1.0" encoding="utf-8"?>
<a:theme xmlns:a="http://schemas.openxmlformats.org/drawingml/2006/main" name="1_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esson template" id="{BE3FD172-D024-DE49-B586-228D6C825ABD}" vid="{E2FDA488-A169-CE43-BC5C-1C56A94CA57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298</Words>
  <Application>Microsoft Macintosh PowerPoint</Application>
  <PresentationFormat>Widescreen</PresentationFormat>
  <Paragraphs>88</Paragraphs>
  <Slides>9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Wingdings 2</vt:lpstr>
      <vt:lpstr>Office Theme</vt:lpstr>
      <vt:lpstr>1_Saba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Unconscious bias / Implicit bias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DAVEY Sarah [Joseph Banks Secondary College]</dc:creator>
  <cp:lastModifiedBy>DAVEY Sarah [Joseph Banks Secondary College]</cp:lastModifiedBy>
  <cp:revision>1</cp:revision>
  <dcterms:created xsi:type="dcterms:W3CDTF">2021-09-13T13:24:04Z</dcterms:created>
  <dcterms:modified xsi:type="dcterms:W3CDTF">2021-09-13T14:08:26Z</dcterms:modified>
</cp:coreProperties>
</file>
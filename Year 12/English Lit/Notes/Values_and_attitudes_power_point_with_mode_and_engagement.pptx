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614"/>
  </p:normalViewPr>
  <p:slideViewPr>
    <p:cSldViewPr snapToGrid="0" snapToObjects="1">
      <p:cViewPr>
        <p:scale>
          <a:sx n="69" d="100"/>
          <a:sy n="69" d="100"/>
        </p:scale>
        <p:origin x="75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8/4/2022</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8/4/2022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8/4/2022</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8/4/2022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8/4/2022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8/4/2022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8/4/2022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fld id="{1CF131DD-A141-4471-BCF9-C6073EDD7E20}" type="datetimeFigureOut">
              <a:rPr lang="en-US" dirty="0"/>
              <a:t>8/4/2022</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8/4/2022</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8/4/2022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8/4/2022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8/4/2022</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ADA86-361C-0340-85C6-C6E268FAE79D}"/>
              </a:ext>
            </a:extLst>
          </p:cNvPr>
          <p:cNvSpPr>
            <a:spLocks noGrp="1"/>
          </p:cNvSpPr>
          <p:nvPr>
            <p:ph type="ctrTitle"/>
          </p:nvPr>
        </p:nvSpPr>
        <p:spPr/>
        <p:txBody>
          <a:bodyPr/>
          <a:lstStyle/>
          <a:p>
            <a:r>
              <a:rPr lang="en-US" dirty="0"/>
              <a:t>Values &amp; attitudes</a:t>
            </a:r>
          </a:p>
        </p:txBody>
      </p:sp>
      <p:sp>
        <p:nvSpPr>
          <p:cNvPr id="3" name="Subtitle 2">
            <a:extLst>
              <a:ext uri="{FF2B5EF4-FFF2-40B4-BE49-F238E27FC236}">
                <a16:creationId xmlns:a16="http://schemas.microsoft.com/office/drawing/2014/main" id="{E8AC177E-D83E-9244-8D9C-7C3B12D81465}"/>
              </a:ext>
            </a:extLst>
          </p:cNvPr>
          <p:cNvSpPr>
            <a:spLocks noGrp="1"/>
          </p:cNvSpPr>
          <p:nvPr>
            <p:ph type="subTitle" idx="1"/>
          </p:nvPr>
        </p:nvSpPr>
        <p:spPr/>
        <p:txBody>
          <a:bodyPr/>
          <a:lstStyle/>
          <a:p>
            <a:r>
              <a:rPr lang="en-US" dirty="0"/>
              <a:t>Ideas, engagement and understanding, mode </a:t>
            </a:r>
            <a:r>
              <a:rPr lang="en-US"/>
              <a:t>and meaning</a:t>
            </a:r>
          </a:p>
        </p:txBody>
      </p:sp>
    </p:spTree>
    <p:extLst>
      <p:ext uri="{BB962C8B-B14F-4D97-AF65-F5344CB8AC3E}">
        <p14:creationId xmlns:p14="http://schemas.microsoft.com/office/powerpoint/2010/main" val="2695313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5BDC4-E2C9-4B48-8D85-DF7C9F3C180A}"/>
              </a:ext>
            </a:extLst>
          </p:cNvPr>
          <p:cNvSpPr>
            <a:spLocks noGrp="1"/>
          </p:cNvSpPr>
          <p:nvPr>
            <p:ph type="title"/>
          </p:nvPr>
        </p:nvSpPr>
        <p:spPr/>
        <p:txBody>
          <a:bodyPr/>
          <a:lstStyle/>
          <a:p>
            <a:r>
              <a:rPr lang="en-US" dirty="0"/>
              <a:t>Values are…</a:t>
            </a:r>
          </a:p>
        </p:txBody>
      </p:sp>
      <p:sp>
        <p:nvSpPr>
          <p:cNvPr id="3" name="Content Placeholder 2">
            <a:extLst>
              <a:ext uri="{FF2B5EF4-FFF2-40B4-BE49-F238E27FC236}">
                <a16:creationId xmlns:a16="http://schemas.microsoft.com/office/drawing/2014/main" id="{A5294CE9-EF02-FD4E-B180-F7A7464FFB10}"/>
              </a:ext>
            </a:extLst>
          </p:cNvPr>
          <p:cNvSpPr>
            <a:spLocks noGrp="1"/>
          </p:cNvSpPr>
          <p:nvPr>
            <p:ph idx="1"/>
          </p:nvPr>
        </p:nvSpPr>
        <p:spPr/>
        <p:txBody>
          <a:bodyPr/>
          <a:lstStyle/>
          <a:p>
            <a:r>
              <a:rPr lang="en-US" dirty="0"/>
              <a:t>Principles of significant importance or worth.</a:t>
            </a:r>
          </a:p>
          <a:p>
            <a:endParaRPr lang="en-US" dirty="0"/>
          </a:p>
          <a:p>
            <a:r>
              <a:rPr lang="en-US" dirty="0"/>
              <a:t>At various times in our life with personal development or growth, we might value principles such as friendship, financial wealth, education, independence, romantic love etc.</a:t>
            </a:r>
          </a:p>
          <a:p>
            <a:endParaRPr lang="en-US" dirty="0"/>
          </a:p>
          <a:p>
            <a:r>
              <a:rPr lang="en-US" dirty="0"/>
              <a:t>In the texts we </a:t>
            </a:r>
            <a:r>
              <a:rPr lang="en-US" dirty="0" err="1"/>
              <a:t>studiy</a:t>
            </a:r>
            <a:r>
              <a:rPr lang="en-US" dirty="0"/>
              <a:t> values can be explicitly stated but are </a:t>
            </a:r>
            <a:r>
              <a:rPr lang="en-US" dirty="0" err="1"/>
              <a:t>mor</a:t>
            </a:r>
            <a:r>
              <a:rPr lang="en-US" dirty="0"/>
              <a:t> often implied. </a:t>
            </a:r>
          </a:p>
          <a:p>
            <a:endParaRPr lang="en-US" dirty="0"/>
          </a:p>
          <a:p>
            <a:r>
              <a:rPr lang="en-US" dirty="0"/>
              <a:t>This is particularly important when the values being endorsed or supported in a text are the same as ours- they are neutralized and we almost don’t know they are there. </a:t>
            </a:r>
          </a:p>
        </p:txBody>
      </p:sp>
    </p:spTree>
    <p:extLst>
      <p:ext uri="{BB962C8B-B14F-4D97-AF65-F5344CB8AC3E}">
        <p14:creationId xmlns:p14="http://schemas.microsoft.com/office/powerpoint/2010/main" val="1399569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2A44C-8E09-284F-8642-E71760F0650C}"/>
              </a:ext>
            </a:extLst>
          </p:cNvPr>
          <p:cNvSpPr>
            <a:spLocks noGrp="1"/>
          </p:cNvSpPr>
          <p:nvPr>
            <p:ph type="title"/>
          </p:nvPr>
        </p:nvSpPr>
        <p:spPr/>
        <p:txBody>
          <a:bodyPr/>
          <a:lstStyle/>
          <a:p>
            <a:r>
              <a:rPr lang="en-US" dirty="0"/>
              <a:t>What is the effect of this?</a:t>
            </a:r>
          </a:p>
        </p:txBody>
      </p:sp>
      <p:sp>
        <p:nvSpPr>
          <p:cNvPr id="3" name="Content Placeholder 2">
            <a:extLst>
              <a:ext uri="{FF2B5EF4-FFF2-40B4-BE49-F238E27FC236}">
                <a16:creationId xmlns:a16="http://schemas.microsoft.com/office/drawing/2014/main" id="{CE783AD9-77BA-5342-BC7C-95EFE85A457C}"/>
              </a:ext>
            </a:extLst>
          </p:cNvPr>
          <p:cNvSpPr>
            <a:spLocks noGrp="1"/>
          </p:cNvSpPr>
          <p:nvPr>
            <p:ph idx="1"/>
          </p:nvPr>
        </p:nvSpPr>
        <p:spPr/>
        <p:txBody>
          <a:bodyPr/>
          <a:lstStyle/>
          <a:p>
            <a:r>
              <a:rPr lang="en-US" dirty="0"/>
              <a:t>As readers, we tend to </a:t>
            </a:r>
            <a:r>
              <a:rPr lang="en-US" dirty="0" err="1"/>
              <a:t>empathise</a:t>
            </a:r>
            <a:r>
              <a:rPr lang="en-US" dirty="0"/>
              <a:t> with and like a character if they share our own values and generally perceive those with opposing values as antagonists.</a:t>
            </a:r>
          </a:p>
          <a:p>
            <a:endParaRPr lang="en-US" dirty="0"/>
          </a:p>
          <a:p>
            <a:endParaRPr lang="en-US" dirty="0"/>
          </a:p>
        </p:txBody>
      </p:sp>
    </p:spTree>
    <p:extLst>
      <p:ext uri="{BB962C8B-B14F-4D97-AF65-F5344CB8AC3E}">
        <p14:creationId xmlns:p14="http://schemas.microsoft.com/office/powerpoint/2010/main" val="1354917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D0A18-C5AE-8044-8E5B-9CB84890163B}"/>
              </a:ext>
            </a:extLst>
          </p:cNvPr>
          <p:cNvSpPr>
            <a:spLocks noGrp="1"/>
          </p:cNvSpPr>
          <p:nvPr>
            <p:ph type="title"/>
          </p:nvPr>
        </p:nvSpPr>
        <p:spPr/>
        <p:txBody>
          <a:bodyPr/>
          <a:lstStyle/>
          <a:p>
            <a:r>
              <a:rPr lang="en-US" dirty="0"/>
              <a:t>How to identify values in texts</a:t>
            </a:r>
          </a:p>
        </p:txBody>
      </p:sp>
      <p:sp>
        <p:nvSpPr>
          <p:cNvPr id="3" name="Content Placeholder 2">
            <a:extLst>
              <a:ext uri="{FF2B5EF4-FFF2-40B4-BE49-F238E27FC236}">
                <a16:creationId xmlns:a16="http://schemas.microsoft.com/office/drawing/2014/main" id="{5B052B66-5B91-FD4E-BF51-48F2E76306C1}"/>
              </a:ext>
            </a:extLst>
          </p:cNvPr>
          <p:cNvSpPr>
            <a:spLocks noGrp="1"/>
          </p:cNvSpPr>
          <p:nvPr>
            <p:ph idx="1"/>
          </p:nvPr>
        </p:nvSpPr>
        <p:spPr/>
        <p:txBody>
          <a:bodyPr>
            <a:normAutofit lnSpcReduction="10000"/>
          </a:bodyPr>
          <a:lstStyle/>
          <a:p>
            <a:r>
              <a:rPr lang="en-US" dirty="0"/>
              <a:t>Who gets criticized and who gets endorsed?</a:t>
            </a:r>
          </a:p>
          <a:p>
            <a:r>
              <a:rPr lang="en-US" dirty="0"/>
              <a:t>Who are we encouraged to feel sorry for or empathize with and why?</a:t>
            </a:r>
          </a:p>
          <a:p>
            <a:r>
              <a:rPr lang="en-US" dirty="0"/>
              <a:t>What values are given verbal support by characters/people? Which values are more highly regarded over others?</a:t>
            </a:r>
          </a:p>
          <a:p>
            <a:r>
              <a:rPr lang="en-US" dirty="0"/>
              <a:t>Are there character/people outside the main storyline that seem to comment on the actions of others?</a:t>
            </a:r>
          </a:p>
          <a:p>
            <a:r>
              <a:rPr lang="en-US" dirty="0"/>
              <a:t>What happens to members of minority groups such as Indigenous Australians or women?</a:t>
            </a:r>
          </a:p>
          <a:p>
            <a:r>
              <a:rPr lang="en-US" dirty="0"/>
              <a:t>How are members of minority groups represented? Are they shown to be different or similar? Are they stereotyped?</a:t>
            </a:r>
          </a:p>
          <a:p>
            <a:r>
              <a:rPr lang="en-US" dirty="0"/>
              <a:t>At whom are we asked to laugh? Is that laughter affectionate or sarcastic?</a:t>
            </a:r>
          </a:p>
          <a:p>
            <a:r>
              <a:rPr lang="en-US" dirty="0"/>
              <a:t>What is the tone of the text?</a:t>
            </a:r>
          </a:p>
        </p:txBody>
      </p:sp>
    </p:spTree>
    <p:extLst>
      <p:ext uri="{BB962C8B-B14F-4D97-AF65-F5344CB8AC3E}">
        <p14:creationId xmlns:p14="http://schemas.microsoft.com/office/powerpoint/2010/main" val="4091206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63AD7-955A-2641-B118-A7761FC654D7}"/>
              </a:ext>
            </a:extLst>
          </p:cNvPr>
          <p:cNvSpPr>
            <a:spLocks noGrp="1"/>
          </p:cNvSpPr>
          <p:nvPr>
            <p:ph type="title"/>
          </p:nvPr>
        </p:nvSpPr>
        <p:spPr/>
        <p:txBody>
          <a:bodyPr/>
          <a:lstStyle/>
          <a:p>
            <a:r>
              <a:rPr lang="en-US" dirty="0"/>
              <a:t>How to write about values</a:t>
            </a:r>
          </a:p>
        </p:txBody>
      </p:sp>
      <p:sp>
        <p:nvSpPr>
          <p:cNvPr id="3" name="Content Placeholder 2">
            <a:extLst>
              <a:ext uri="{FF2B5EF4-FFF2-40B4-BE49-F238E27FC236}">
                <a16:creationId xmlns:a16="http://schemas.microsoft.com/office/drawing/2014/main" id="{557B0174-5E7E-4449-A5FC-09B6C8A6CF8C}"/>
              </a:ext>
            </a:extLst>
          </p:cNvPr>
          <p:cNvSpPr>
            <a:spLocks noGrp="1"/>
          </p:cNvSpPr>
          <p:nvPr>
            <p:ph idx="1"/>
          </p:nvPr>
        </p:nvSpPr>
        <p:spPr/>
        <p:txBody>
          <a:bodyPr/>
          <a:lstStyle/>
          <a:p>
            <a:r>
              <a:rPr lang="en-US" dirty="0">
                <a:solidFill>
                  <a:srgbClr val="FF0000"/>
                </a:solidFill>
              </a:rPr>
              <a:t>In the poster for Dangerous Minds the film, values that are conveyed include those of friendship, loyalty and education. </a:t>
            </a:r>
            <a:r>
              <a:rPr lang="en-US" dirty="0"/>
              <a:t>We see this being friendship being conveyed through the physical closeness of the students in the background and their comfortability communicated by their slouching and side-on body language. Loyalty is conveyed through the positioning and body language of the teacher. Her stance is confident and her arms are crossed indicating she won’t let anyone past her. This shows us that she is protecting her students and loyal to them and they to her. If we assume the woman is the kids’ teacher, we can see that she values education by confidently assuming her position as teacher and leader of the pack. The students, as they stand comfortably behind her, have taken her lead in coming to value their education.</a:t>
            </a:r>
          </a:p>
        </p:txBody>
      </p:sp>
    </p:spTree>
    <p:extLst>
      <p:ext uri="{BB962C8B-B14F-4D97-AF65-F5344CB8AC3E}">
        <p14:creationId xmlns:p14="http://schemas.microsoft.com/office/powerpoint/2010/main" val="2299771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BC69F-2EB6-B84D-B677-C1A18621CB1C}"/>
              </a:ext>
            </a:extLst>
          </p:cNvPr>
          <p:cNvSpPr>
            <a:spLocks noGrp="1"/>
          </p:cNvSpPr>
          <p:nvPr>
            <p:ph type="title"/>
          </p:nvPr>
        </p:nvSpPr>
        <p:spPr/>
        <p:txBody>
          <a:bodyPr/>
          <a:lstStyle/>
          <a:p>
            <a:r>
              <a:rPr lang="en-US" dirty="0"/>
              <a:t>Bank of words - values</a:t>
            </a:r>
          </a:p>
        </p:txBody>
      </p:sp>
      <p:graphicFrame>
        <p:nvGraphicFramePr>
          <p:cNvPr id="4" name="Content Placeholder 3">
            <a:extLst>
              <a:ext uri="{FF2B5EF4-FFF2-40B4-BE49-F238E27FC236}">
                <a16:creationId xmlns:a16="http://schemas.microsoft.com/office/drawing/2014/main" id="{0C481CEC-4AA8-B74A-9CAD-37ED4013B52A}"/>
              </a:ext>
            </a:extLst>
          </p:cNvPr>
          <p:cNvGraphicFramePr>
            <a:graphicFrameLocks noGrp="1"/>
          </p:cNvGraphicFramePr>
          <p:nvPr>
            <p:ph idx="1"/>
            <p:extLst>
              <p:ext uri="{D42A27DB-BD31-4B8C-83A1-F6EECF244321}">
                <p14:modId xmlns:p14="http://schemas.microsoft.com/office/powerpoint/2010/main" val="3160546526"/>
              </p:ext>
            </p:extLst>
          </p:nvPr>
        </p:nvGraphicFramePr>
        <p:xfrm>
          <a:off x="1066800" y="2103438"/>
          <a:ext cx="9177339" cy="3154362"/>
        </p:xfrm>
        <a:graphic>
          <a:graphicData uri="http://schemas.openxmlformats.org/drawingml/2006/table">
            <a:tbl>
              <a:tblPr firstRow="1" bandRow="1">
                <a:tableStyleId>{5C22544A-7EE6-4342-B048-85BDC9FD1C3A}</a:tableStyleId>
              </a:tblPr>
              <a:tblGrid>
                <a:gridCol w="3059113">
                  <a:extLst>
                    <a:ext uri="{9D8B030D-6E8A-4147-A177-3AD203B41FA5}">
                      <a16:colId xmlns:a16="http://schemas.microsoft.com/office/drawing/2014/main" val="558322329"/>
                    </a:ext>
                  </a:extLst>
                </a:gridCol>
                <a:gridCol w="3059113">
                  <a:extLst>
                    <a:ext uri="{9D8B030D-6E8A-4147-A177-3AD203B41FA5}">
                      <a16:colId xmlns:a16="http://schemas.microsoft.com/office/drawing/2014/main" val="1284353084"/>
                    </a:ext>
                  </a:extLst>
                </a:gridCol>
                <a:gridCol w="3059113">
                  <a:extLst>
                    <a:ext uri="{9D8B030D-6E8A-4147-A177-3AD203B41FA5}">
                      <a16:colId xmlns:a16="http://schemas.microsoft.com/office/drawing/2014/main" val="866521768"/>
                    </a:ext>
                  </a:extLst>
                </a:gridCol>
              </a:tblGrid>
              <a:tr h="3154362">
                <a:tc>
                  <a:txBody>
                    <a:bodyPr/>
                    <a:lstStyle/>
                    <a:p>
                      <a:r>
                        <a:rPr lang="en-US" dirty="0"/>
                        <a:t>Safety</a:t>
                      </a:r>
                    </a:p>
                    <a:p>
                      <a:r>
                        <a:rPr lang="en-US" dirty="0"/>
                        <a:t>Equality</a:t>
                      </a:r>
                    </a:p>
                    <a:p>
                      <a:r>
                        <a:rPr lang="en-US" dirty="0"/>
                        <a:t>Friendship</a:t>
                      </a:r>
                    </a:p>
                    <a:p>
                      <a:r>
                        <a:rPr lang="en-US" dirty="0"/>
                        <a:t>Fame</a:t>
                      </a:r>
                    </a:p>
                    <a:p>
                      <a:r>
                        <a:rPr lang="en-US" dirty="0"/>
                        <a:t>Wealth</a:t>
                      </a:r>
                    </a:p>
                    <a:p>
                      <a:r>
                        <a:rPr lang="en-US" dirty="0"/>
                        <a:t>Trust</a:t>
                      </a:r>
                    </a:p>
                    <a:p>
                      <a:r>
                        <a:rPr lang="en-US" dirty="0"/>
                        <a:t>Freedom</a:t>
                      </a:r>
                    </a:p>
                    <a:p>
                      <a:r>
                        <a:rPr lang="en-US" dirty="0" err="1"/>
                        <a:t>Honour</a:t>
                      </a:r>
                      <a:endParaRPr lang="en-US" dirty="0"/>
                    </a:p>
                    <a:p>
                      <a:r>
                        <a:rPr lang="en-US" dirty="0"/>
                        <a:t>Acceptance</a:t>
                      </a:r>
                    </a:p>
                    <a:p>
                      <a:r>
                        <a:rPr lang="en-US" dirty="0"/>
                        <a:t>Wisdom</a:t>
                      </a:r>
                    </a:p>
                    <a:p>
                      <a:endParaRPr lang="en-US" dirty="0"/>
                    </a:p>
                  </a:txBody>
                  <a:tcPr/>
                </a:tc>
                <a:tc>
                  <a:txBody>
                    <a:bodyPr/>
                    <a:lstStyle/>
                    <a:p>
                      <a:r>
                        <a:rPr lang="en-US" dirty="0"/>
                        <a:t>Independence</a:t>
                      </a:r>
                    </a:p>
                    <a:p>
                      <a:r>
                        <a:rPr lang="en-US" dirty="0"/>
                        <a:t>Family</a:t>
                      </a:r>
                    </a:p>
                    <a:p>
                      <a:r>
                        <a:rPr lang="en-US" dirty="0"/>
                        <a:t>Youth</a:t>
                      </a:r>
                    </a:p>
                    <a:p>
                      <a:r>
                        <a:rPr lang="en-US" dirty="0"/>
                        <a:t>Modesty</a:t>
                      </a:r>
                    </a:p>
                    <a:p>
                      <a:r>
                        <a:rPr lang="en-US" dirty="0"/>
                        <a:t>Imagination</a:t>
                      </a:r>
                    </a:p>
                    <a:p>
                      <a:r>
                        <a:rPr lang="en-US" dirty="0"/>
                        <a:t>Fertility</a:t>
                      </a:r>
                    </a:p>
                    <a:p>
                      <a:r>
                        <a:rPr lang="en-US" dirty="0"/>
                        <a:t>Strength</a:t>
                      </a:r>
                    </a:p>
                    <a:p>
                      <a:r>
                        <a:rPr lang="en-US" dirty="0"/>
                        <a:t>Order</a:t>
                      </a:r>
                    </a:p>
                    <a:p>
                      <a:r>
                        <a:rPr lang="en-US" dirty="0" err="1"/>
                        <a:t>Mateship</a:t>
                      </a:r>
                      <a:endParaRPr lang="en-US" dirty="0"/>
                    </a:p>
                    <a:p>
                      <a:r>
                        <a:rPr lang="en-US" dirty="0"/>
                        <a:t>affection</a:t>
                      </a:r>
                    </a:p>
                  </a:txBody>
                  <a:tcPr/>
                </a:tc>
                <a:tc>
                  <a:txBody>
                    <a:bodyPr/>
                    <a:lstStyle/>
                    <a:p>
                      <a:r>
                        <a:rPr lang="en-US" dirty="0"/>
                        <a:t>Beauty</a:t>
                      </a:r>
                    </a:p>
                    <a:p>
                      <a:r>
                        <a:rPr lang="en-US" dirty="0"/>
                        <a:t>Ambition</a:t>
                      </a:r>
                    </a:p>
                    <a:p>
                      <a:r>
                        <a:rPr lang="en-US" dirty="0"/>
                        <a:t>Health</a:t>
                      </a:r>
                    </a:p>
                    <a:p>
                      <a:r>
                        <a:rPr lang="en-US" dirty="0"/>
                        <a:t>Creativity</a:t>
                      </a:r>
                    </a:p>
                    <a:p>
                      <a:r>
                        <a:rPr lang="en-US" dirty="0"/>
                        <a:t>Love</a:t>
                      </a:r>
                    </a:p>
                    <a:p>
                      <a:r>
                        <a:rPr lang="en-US" dirty="0" err="1"/>
                        <a:t>Organisation</a:t>
                      </a:r>
                      <a:endParaRPr lang="en-US" dirty="0"/>
                    </a:p>
                    <a:p>
                      <a:r>
                        <a:rPr lang="en-US" dirty="0"/>
                        <a:t>Fun</a:t>
                      </a:r>
                    </a:p>
                    <a:p>
                      <a:r>
                        <a:rPr lang="en-US" dirty="0"/>
                        <a:t>Tradition</a:t>
                      </a:r>
                    </a:p>
                    <a:p>
                      <a:r>
                        <a:rPr lang="en-US" dirty="0"/>
                        <a:t>Courage</a:t>
                      </a:r>
                    </a:p>
                    <a:p>
                      <a:r>
                        <a:rPr lang="en-US" dirty="0"/>
                        <a:t>Courtesy</a:t>
                      </a:r>
                    </a:p>
                    <a:p>
                      <a:endParaRPr lang="en-US" dirty="0"/>
                    </a:p>
                  </a:txBody>
                  <a:tcPr/>
                </a:tc>
                <a:extLst>
                  <a:ext uri="{0D108BD9-81ED-4DB2-BD59-A6C34878D82A}">
                    <a16:rowId xmlns:a16="http://schemas.microsoft.com/office/drawing/2014/main" val="4201448086"/>
                  </a:ext>
                </a:extLst>
              </a:tr>
            </a:tbl>
          </a:graphicData>
        </a:graphic>
      </p:graphicFrame>
    </p:spTree>
    <p:extLst>
      <p:ext uri="{BB962C8B-B14F-4D97-AF65-F5344CB8AC3E}">
        <p14:creationId xmlns:p14="http://schemas.microsoft.com/office/powerpoint/2010/main" val="4271126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03707-88B0-1243-A899-4F34A0E3B2A6}"/>
              </a:ext>
            </a:extLst>
          </p:cNvPr>
          <p:cNvSpPr>
            <a:spLocks noGrp="1"/>
          </p:cNvSpPr>
          <p:nvPr>
            <p:ph type="title"/>
          </p:nvPr>
        </p:nvSpPr>
        <p:spPr/>
        <p:txBody>
          <a:bodyPr/>
          <a:lstStyle/>
          <a:p>
            <a:r>
              <a:rPr lang="en-US" dirty="0"/>
              <a:t>Attitudes are</a:t>
            </a:r>
          </a:p>
        </p:txBody>
      </p:sp>
      <p:sp>
        <p:nvSpPr>
          <p:cNvPr id="3" name="Content Placeholder 2">
            <a:extLst>
              <a:ext uri="{FF2B5EF4-FFF2-40B4-BE49-F238E27FC236}">
                <a16:creationId xmlns:a16="http://schemas.microsoft.com/office/drawing/2014/main" id="{D36CB17D-3609-734C-B565-F63FA5BB55EE}"/>
              </a:ext>
            </a:extLst>
          </p:cNvPr>
          <p:cNvSpPr>
            <a:spLocks noGrp="1"/>
          </p:cNvSpPr>
          <p:nvPr>
            <p:ph idx="1"/>
          </p:nvPr>
        </p:nvSpPr>
        <p:spPr/>
        <p:txBody>
          <a:bodyPr/>
          <a:lstStyle/>
          <a:p>
            <a:r>
              <a:rPr lang="en-US" dirty="0"/>
              <a:t>Opinions or viewpoints.</a:t>
            </a:r>
          </a:p>
          <a:p>
            <a:r>
              <a:rPr lang="en-US" dirty="0"/>
              <a:t>A particular tone, reaction, disposition or feeling toward the subject matter.</a:t>
            </a:r>
          </a:p>
          <a:p>
            <a:endParaRPr lang="en-US" dirty="0"/>
          </a:p>
          <a:p>
            <a:r>
              <a:rPr lang="en-US" dirty="0"/>
              <a:t>It is important to note that just because a text represents particular attitudes, it doesn’t mean it endorses or agrees with them.</a:t>
            </a:r>
          </a:p>
          <a:p>
            <a:endParaRPr lang="en-US" dirty="0"/>
          </a:p>
          <a:p>
            <a:pPr marL="0" indent="0">
              <a:buNone/>
            </a:pPr>
            <a:endParaRPr lang="en-US" dirty="0"/>
          </a:p>
        </p:txBody>
      </p:sp>
    </p:spTree>
    <p:extLst>
      <p:ext uri="{BB962C8B-B14F-4D97-AF65-F5344CB8AC3E}">
        <p14:creationId xmlns:p14="http://schemas.microsoft.com/office/powerpoint/2010/main" val="3613432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8F9F4-FBCF-4347-9E74-22A607A01D5B}"/>
              </a:ext>
            </a:extLst>
          </p:cNvPr>
          <p:cNvSpPr>
            <a:spLocks noGrp="1"/>
          </p:cNvSpPr>
          <p:nvPr>
            <p:ph type="title"/>
          </p:nvPr>
        </p:nvSpPr>
        <p:spPr/>
        <p:txBody>
          <a:bodyPr/>
          <a:lstStyle/>
          <a:p>
            <a:r>
              <a:rPr lang="en-US" dirty="0"/>
              <a:t>Bank of words- attitudes</a:t>
            </a:r>
          </a:p>
        </p:txBody>
      </p:sp>
      <p:graphicFrame>
        <p:nvGraphicFramePr>
          <p:cNvPr id="4" name="Content Placeholder 3">
            <a:extLst>
              <a:ext uri="{FF2B5EF4-FFF2-40B4-BE49-F238E27FC236}">
                <a16:creationId xmlns:a16="http://schemas.microsoft.com/office/drawing/2014/main" id="{41AE52C1-E0E9-1143-80F4-B4E65B53907C}"/>
              </a:ext>
            </a:extLst>
          </p:cNvPr>
          <p:cNvGraphicFramePr>
            <a:graphicFrameLocks noGrp="1"/>
          </p:cNvGraphicFramePr>
          <p:nvPr>
            <p:ph idx="1"/>
            <p:extLst>
              <p:ext uri="{D42A27DB-BD31-4B8C-83A1-F6EECF244321}">
                <p14:modId xmlns:p14="http://schemas.microsoft.com/office/powerpoint/2010/main" val="764890647"/>
              </p:ext>
            </p:extLst>
          </p:nvPr>
        </p:nvGraphicFramePr>
        <p:xfrm>
          <a:off x="1066800" y="2103438"/>
          <a:ext cx="9105900" cy="2882900"/>
        </p:xfrm>
        <a:graphic>
          <a:graphicData uri="http://schemas.openxmlformats.org/drawingml/2006/table">
            <a:tbl>
              <a:tblPr firstRow="1" bandRow="1">
                <a:tableStyleId>{5C22544A-7EE6-4342-B048-85BDC9FD1C3A}</a:tableStyleId>
              </a:tblPr>
              <a:tblGrid>
                <a:gridCol w="4552950">
                  <a:extLst>
                    <a:ext uri="{9D8B030D-6E8A-4147-A177-3AD203B41FA5}">
                      <a16:colId xmlns:a16="http://schemas.microsoft.com/office/drawing/2014/main" val="1356272188"/>
                    </a:ext>
                  </a:extLst>
                </a:gridCol>
                <a:gridCol w="4552950">
                  <a:extLst>
                    <a:ext uri="{9D8B030D-6E8A-4147-A177-3AD203B41FA5}">
                      <a16:colId xmlns:a16="http://schemas.microsoft.com/office/drawing/2014/main" val="1430099790"/>
                    </a:ext>
                  </a:extLst>
                </a:gridCol>
              </a:tblGrid>
              <a:tr h="2882900">
                <a:tc>
                  <a:txBody>
                    <a:bodyPr/>
                    <a:lstStyle/>
                    <a:p>
                      <a:r>
                        <a:rPr lang="en-US" dirty="0"/>
                        <a:t>Apathetic</a:t>
                      </a:r>
                    </a:p>
                    <a:p>
                      <a:r>
                        <a:rPr lang="en-US" dirty="0"/>
                        <a:t>Jovial</a:t>
                      </a:r>
                    </a:p>
                    <a:p>
                      <a:r>
                        <a:rPr lang="en-US" dirty="0"/>
                        <a:t>Defiant</a:t>
                      </a:r>
                    </a:p>
                    <a:p>
                      <a:r>
                        <a:rPr lang="en-US" dirty="0"/>
                        <a:t>Indifferent</a:t>
                      </a:r>
                    </a:p>
                    <a:p>
                      <a:r>
                        <a:rPr lang="en-US" dirty="0"/>
                        <a:t>Critical</a:t>
                      </a:r>
                    </a:p>
                    <a:p>
                      <a:r>
                        <a:rPr lang="en-US" dirty="0"/>
                        <a:t>Bitter</a:t>
                      </a:r>
                    </a:p>
                    <a:p>
                      <a:r>
                        <a:rPr lang="en-US" dirty="0"/>
                        <a:t>Sincere</a:t>
                      </a:r>
                    </a:p>
                    <a:p>
                      <a:r>
                        <a:rPr lang="en-US" dirty="0"/>
                        <a:t>Determined</a:t>
                      </a:r>
                    </a:p>
                    <a:p>
                      <a:r>
                        <a:rPr lang="en-US" dirty="0"/>
                        <a:t>regretful</a:t>
                      </a:r>
                    </a:p>
                    <a:p>
                      <a:r>
                        <a:rPr lang="en-US" dirty="0"/>
                        <a:t>condescending</a:t>
                      </a:r>
                    </a:p>
                  </a:txBody>
                  <a:tcPr/>
                </a:tc>
                <a:tc>
                  <a:txBody>
                    <a:bodyPr/>
                    <a:lstStyle/>
                    <a:p>
                      <a:r>
                        <a:rPr lang="en-US" dirty="0"/>
                        <a:t>Concerned</a:t>
                      </a:r>
                    </a:p>
                    <a:p>
                      <a:r>
                        <a:rPr lang="en-US" dirty="0"/>
                        <a:t>Urgent</a:t>
                      </a:r>
                    </a:p>
                    <a:p>
                      <a:r>
                        <a:rPr lang="en-US" dirty="0"/>
                        <a:t>Solemn</a:t>
                      </a:r>
                    </a:p>
                    <a:p>
                      <a:r>
                        <a:rPr lang="en-US" dirty="0"/>
                        <a:t>Considerate</a:t>
                      </a:r>
                    </a:p>
                    <a:p>
                      <a:r>
                        <a:rPr lang="en-US" dirty="0"/>
                        <a:t>Mature</a:t>
                      </a:r>
                    </a:p>
                    <a:p>
                      <a:r>
                        <a:rPr lang="en-US" dirty="0"/>
                        <a:t>Caring</a:t>
                      </a:r>
                    </a:p>
                    <a:p>
                      <a:r>
                        <a:rPr lang="en-US" dirty="0"/>
                        <a:t>Selfish</a:t>
                      </a:r>
                    </a:p>
                    <a:p>
                      <a:r>
                        <a:rPr lang="en-US" dirty="0"/>
                        <a:t>Optimistic</a:t>
                      </a:r>
                    </a:p>
                    <a:p>
                      <a:r>
                        <a:rPr lang="en-US" dirty="0"/>
                        <a:t>Irresponsible</a:t>
                      </a:r>
                    </a:p>
                    <a:p>
                      <a:r>
                        <a:rPr lang="en-US" dirty="0"/>
                        <a:t>insincere</a:t>
                      </a:r>
                    </a:p>
                  </a:txBody>
                  <a:tcPr/>
                </a:tc>
                <a:extLst>
                  <a:ext uri="{0D108BD9-81ED-4DB2-BD59-A6C34878D82A}">
                    <a16:rowId xmlns:a16="http://schemas.microsoft.com/office/drawing/2014/main" val="3820122908"/>
                  </a:ext>
                </a:extLst>
              </a:tr>
            </a:tbl>
          </a:graphicData>
        </a:graphic>
      </p:graphicFrame>
    </p:spTree>
    <p:extLst>
      <p:ext uri="{BB962C8B-B14F-4D97-AF65-F5344CB8AC3E}">
        <p14:creationId xmlns:p14="http://schemas.microsoft.com/office/powerpoint/2010/main" val="1506425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E6E15-8A40-CD49-998E-8909366601A2}"/>
              </a:ext>
            </a:extLst>
          </p:cNvPr>
          <p:cNvSpPr>
            <a:spLocks noGrp="1"/>
          </p:cNvSpPr>
          <p:nvPr>
            <p:ph type="title"/>
          </p:nvPr>
        </p:nvSpPr>
        <p:spPr/>
        <p:txBody>
          <a:bodyPr/>
          <a:lstStyle/>
          <a:p>
            <a:r>
              <a:rPr lang="en-US" dirty="0"/>
              <a:t>Ideas</a:t>
            </a:r>
          </a:p>
        </p:txBody>
      </p:sp>
      <p:sp>
        <p:nvSpPr>
          <p:cNvPr id="3" name="Content Placeholder 2">
            <a:extLst>
              <a:ext uri="{FF2B5EF4-FFF2-40B4-BE49-F238E27FC236}">
                <a16:creationId xmlns:a16="http://schemas.microsoft.com/office/drawing/2014/main" id="{5A809325-3C80-6745-B1CC-7A9CA551C0C2}"/>
              </a:ext>
            </a:extLst>
          </p:cNvPr>
          <p:cNvSpPr>
            <a:spLocks noGrp="1"/>
          </p:cNvSpPr>
          <p:nvPr>
            <p:ph idx="1"/>
          </p:nvPr>
        </p:nvSpPr>
        <p:spPr/>
        <p:txBody>
          <a:bodyPr>
            <a:normAutofit fontScale="92500" lnSpcReduction="10000"/>
          </a:bodyPr>
          <a:lstStyle/>
          <a:p>
            <a:r>
              <a:rPr lang="en-US" dirty="0"/>
              <a:t>When we discuss ideas we are talking about:</a:t>
            </a:r>
          </a:p>
          <a:p>
            <a:endParaRPr lang="en-US" dirty="0"/>
          </a:p>
          <a:p>
            <a:r>
              <a:rPr lang="en-US" dirty="0"/>
              <a:t>Messages</a:t>
            </a:r>
          </a:p>
          <a:p>
            <a:r>
              <a:rPr lang="en-US" dirty="0"/>
              <a:t>notions</a:t>
            </a:r>
          </a:p>
          <a:p>
            <a:r>
              <a:rPr lang="en-US" dirty="0"/>
              <a:t>Thoughts</a:t>
            </a:r>
          </a:p>
          <a:p>
            <a:r>
              <a:rPr lang="en-US" dirty="0"/>
              <a:t>Perspectives</a:t>
            </a:r>
          </a:p>
          <a:p>
            <a:r>
              <a:rPr lang="en-US" dirty="0"/>
              <a:t>Representations</a:t>
            </a:r>
          </a:p>
          <a:p>
            <a:r>
              <a:rPr lang="en-US" dirty="0"/>
              <a:t>Viewpoints</a:t>
            </a:r>
          </a:p>
          <a:p>
            <a:r>
              <a:rPr lang="en-US" dirty="0"/>
              <a:t>Beliefs</a:t>
            </a:r>
          </a:p>
          <a:p>
            <a:r>
              <a:rPr lang="en-US" dirty="0"/>
              <a:t>Opinions</a:t>
            </a:r>
          </a:p>
          <a:p>
            <a:r>
              <a:rPr lang="en-US" dirty="0"/>
              <a:t>Views </a:t>
            </a:r>
          </a:p>
        </p:txBody>
      </p:sp>
    </p:spTree>
    <p:extLst>
      <p:ext uri="{BB962C8B-B14F-4D97-AF65-F5344CB8AC3E}">
        <p14:creationId xmlns:p14="http://schemas.microsoft.com/office/powerpoint/2010/main" val="2317744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2F18A-4477-2040-8260-2609A80A6E49}"/>
              </a:ext>
            </a:extLst>
          </p:cNvPr>
          <p:cNvSpPr>
            <a:spLocks noGrp="1"/>
          </p:cNvSpPr>
          <p:nvPr>
            <p:ph type="title"/>
          </p:nvPr>
        </p:nvSpPr>
        <p:spPr/>
        <p:txBody>
          <a:bodyPr/>
          <a:lstStyle/>
          <a:p>
            <a:r>
              <a:rPr lang="en-US" dirty="0"/>
              <a:t>Engagement and understanding</a:t>
            </a:r>
          </a:p>
        </p:txBody>
      </p:sp>
      <p:sp>
        <p:nvSpPr>
          <p:cNvPr id="3" name="Content Placeholder 2">
            <a:extLst>
              <a:ext uri="{FF2B5EF4-FFF2-40B4-BE49-F238E27FC236}">
                <a16:creationId xmlns:a16="http://schemas.microsoft.com/office/drawing/2014/main" id="{82B7022E-5C6E-A649-8E17-AE5A51CB3F96}"/>
              </a:ext>
            </a:extLst>
          </p:cNvPr>
          <p:cNvSpPr>
            <a:spLocks noGrp="1"/>
          </p:cNvSpPr>
          <p:nvPr>
            <p:ph idx="1"/>
          </p:nvPr>
        </p:nvSpPr>
        <p:spPr/>
        <p:txBody>
          <a:bodyPr/>
          <a:lstStyle/>
          <a:p>
            <a:r>
              <a:rPr lang="en-US" dirty="0"/>
              <a:t>Your understanding of a text depends on your engagement with it.</a:t>
            </a:r>
          </a:p>
          <a:p>
            <a:endParaRPr lang="en-US" dirty="0"/>
          </a:p>
          <a:p>
            <a:r>
              <a:rPr lang="en-US" dirty="0"/>
              <a:t>Engagement refers to</a:t>
            </a:r>
          </a:p>
          <a:p>
            <a:pPr lvl="1"/>
            <a:r>
              <a:rPr lang="en-US" dirty="0"/>
              <a:t>How to creator of the text or image captures and then maintains your attention.</a:t>
            </a:r>
          </a:p>
          <a:p>
            <a:pPr lvl="1"/>
            <a:r>
              <a:rPr lang="en-US" dirty="0"/>
              <a:t>How does the creator of the text keep you wondering what might happen next or what the image is about.</a:t>
            </a:r>
          </a:p>
          <a:p>
            <a:pPr lvl="1"/>
            <a:endParaRPr lang="en-US" dirty="0"/>
          </a:p>
          <a:p>
            <a:pPr lvl="1"/>
            <a:r>
              <a:rPr lang="en-US" i="1" dirty="0"/>
              <a:t>If we look at the Dangerous Minds poster as an example, we can say that as a movie poster it is effective in capturing and maintaining audience’s attention because of the confronting gaze of the woman, the rebellious teens behind her and the title of the film which include dangerous (connotations. These are the elements that particularly engage us because we want to find out more about who this woman is, how she got to gain these students’ respect and what could be dangerous about this situation.</a:t>
            </a:r>
          </a:p>
          <a:p>
            <a:pPr lvl="1"/>
            <a:endParaRPr lang="en-US" dirty="0"/>
          </a:p>
        </p:txBody>
      </p:sp>
    </p:spTree>
    <p:extLst>
      <p:ext uri="{BB962C8B-B14F-4D97-AF65-F5344CB8AC3E}">
        <p14:creationId xmlns:p14="http://schemas.microsoft.com/office/powerpoint/2010/main" val="663280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E189A-57D8-9543-A006-35468CA81C46}"/>
              </a:ext>
            </a:extLst>
          </p:cNvPr>
          <p:cNvSpPr>
            <a:spLocks noGrp="1"/>
          </p:cNvSpPr>
          <p:nvPr>
            <p:ph type="title"/>
          </p:nvPr>
        </p:nvSpPr>
        <p:spPr/>
        <p:txBody>
          <a:bodyPr/>
          <a:lstStyle/>
          <a:p>
            <a:r>
              <a:rPr lang="en-US" dirty="0"/>
              <a:t>Mode and meaning</a:t>
            </a:r>
          </a:p>
        </p:txBody>
      </p:sp>
      <p:sp>
        <p:nvSpPr>
          <p:cNvPr id="3" name="Content Placeholder 2">
            <a:extLst>
              <a:ext uri="{FF2B5EF4-FFF2-40B4-BE49-F238E27FC236}">
                <a16:creationId xmlns:a16="http://schemas.microsoft.com/office/drawing/2014/main" id="{49EC966F-366B-3940-8BF3-C98FB1FA47C3}"/>
              </a:ext>
            </a:extLst>
          </p:cNvPr>
          <p:cNvSpPr>
            <a:spLocks noGrp="1"/>
          </p:cNvSpPr>
          <p:nvPr>
            <p:ph idx="1"/>
          </p:nvPr>
        </p:nvSpPr>
        <p:spPr/>
        <p:txBody>
          <a:bodyPr>
            <a:normAutofit fontScale="92500" lnSpcReduction="20000"/>
          </a:bodyPr>
          <a:lstStyle/>
          <a:p>
            <a:r>
              <a:rPr lang="en-US" dirty="0"/>
              <a:t>Visual images can come in a range of types or modes.</a:t>
            </a:r>
          </a:p>
          <a:p>
            <a:endParaRPr lang="en-US" dirty="0"/>
          </a:p>
          <a:p>
            <a:r>
              <a:rPr lang="en-US" dirty="0"/>
              <a:t>You can have novel covers, comic book pages, movie posters, photographs, advertisements and so on.</a:t>
            </a:r>
          </a:p>
          <a:p>
            <a:endParaRPr lang="en-US" dirty="0"/>
          </a:p>
          <a:p>
            <a:r>
              <a:rPr lang="en-US" dirty="0"/>
              <a:t>It is important to consider that a visual text’s mode will impact the meanings made.</a:t>
            </a:r>
          </a:p>
          <a:p>
            <a:endParaRPr lang="en-US" dirty="0"/>
          </a:p>
          <a:p>
            <a:r>
              <a:rPr lang="en-US" dirty="0"/>
              <a:t>For example, in the movie poster, we can see it is a movie poster because of its conventions of displaying the characters, the title of the movie and because it tries to draw you in to the storyline and relationships in the movie. </a:t>
            </a:r>
          </a:p>
          <a:p>
            <a:endParaRPr lang="en-US" dirty="0"/>
          </a:p>
          <a:p>
            <a:r>
              <a:rPr lang="en-US" dirty="0"/>
              <a:t>This is similar to novel covers. You need to be able to discuss mode and how it adds to meaning. We will look at some novel covers on Friday.</a:t>
            </a:r>
          </a:p>
        </p:txBody>
      </p:sp>
    </p:spTree>
    <p:extLst>
      <p:ext uri="{BB962C8B-B14F-4D97-AF65-F5344CB8AC3E}">
        <p14:creationId xmlns:p14="http://schemas.microsoft.com/office/powerpoint/2010/main" val="26971555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45</TotalTime>
  <Words>816</Words>
  <Application>Microsoft Office PowerPoint</Application>
  <PresentationFormat>Widescreen</PresentationFormat>
  <Paragraphs>110</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Century Gothic</vt:lpstr>
      <vt:lpstr>Garamond</vt:lpstr>
      <vt:lpstr>Savon</vt:lpstr>
      <vt:lpstr>Values &amp; attitudes</vt:lpstr>
      <vt:lpstr>Values are…</vt:lpstr>
      <vt:lpstr>What is the effect of this?</vt:lpstr>
      <vt:lpstr>How to identify values in texts</vt:lpstr>
      <vt:lpstr>How to write about values</vt:lpstr>
      <vt:lpstr>Bank of words - values</vt:lpstr>
      <vt:lpstr>Attitudes are</vt:lpstr>
      <vt:lpstr>Bank of words- attitudes</vt:lpstr>
      <vt:lpstr>Ideas</vt:lpstr>
      <vt:lpstr>Engagement and understanding</vt:lpstr>
      <vt:lpstr>Mode and meaning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Values &amp; attitudes</dc:title>
  <dc:creator>Jana Majoski</dc:creator>
  <cp:lastModifiedBy>Rusul Haroosh</cp:lastModifiedBy>
  <cp:revision>4</cp:revision>
  <dcterms:created xsi:type="dcterms:W3CDTF">2022-02-09T04:21:25Z</dcterms:created>
  <dcterms:modified xsi:type="dcterms:W3CDTF">2022-08-04T09:31:00Z</dcterms:modified>
</cp:coreProperties>
</file>
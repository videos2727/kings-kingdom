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14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8/4/2022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E66A-5A7E-0642-ABE3-77BBAF4B8D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Tension &amp; Suspense in Narrative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3F3D0F-5A64-8D4E-8B7E-9696B7D9B7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3865859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6A14-F567-A64C-BA62-0D9D9B32F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Tension &amp; Suspense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8D829-BE99-D349-B912-D89C406A5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Suspense</a:t>
            </a:r>
          </a:p>
          <a:p>
            <a:pPr lvl="1"/>
            <a:r>
              <a:rPr lang="en-AU" dirty="0"/>
              <a:t>A state or feeling of excited or anxious uncertainty about what may happen.</a:t>
            </a:r>
          </a:p>
          <a:p>
            <a:r>
              <a:rPr lang="en-AU" dirty="0"/>
              <a:t>Tension</a:t>
            </a:r>
          </a:p>
          <a:p>
            <a:pPr lvl="1"/>
            <a:r>
              <a:rPr lang="en-AU" dirty="0"/>
              <a:t>Mental or emotional strain.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14159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0CF3D-61CC-214F-A73F-619CA9B3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authors create suspense &amp; tension in a narrative?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5C950-15A9-5644-98E7-46B8525B8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Narrative structure / plot structure</a:t>
            </a:r>
          </a:p>
          <a:p>
            <a:pPr lvl="1"/>
            <a:r>
              <a:rPr lang="en-US" dirty="0"/>
              <a:t>Usually in a narrative, we have an exposition where tension is low, there is then an early crisis or conflict, and </a:t>
            </a:r>
            <a:r>
              <a:rPr lang="en-US" b="1" dirty="0"/>
              <a:t>then events tend to lead up to the major crisis or conflict </a:t>
            </a:r>
            <a:r>
              <a:rPr lang="en-US" dirty="0"/>
              <a:t>in the middle of the narrative/toward the end.</a:t>
            </a:r>
          </a:p>
          <a:p>
            <a:pPr lvl="1"/>
            <a:r>
              <a:rPr lang="en-US" b="1" dirty="0"/>
              <a:t>This deliberate timing </a:t>
            </a:r>
            <a:r>
              <a:rPr lang="en-US" dirty="0"/>
              <a:t>of the character’s crisis point helps to keep the reader anticipating the major conflict in the climax.</a:t>
            </a:r>
          </a:p>
          <a:p>
            <a:pPr lvl="1"/>
            <a:r>
              <a:rPr lang="en-US" b="1" dirty="0"/>
              <a:t>The character might be working toward a crisis point </a:t>
            </a:r>
            <a:r>
              <a:rPr lang="en-US" dirty="0"/>
              <a:t>within themselves (inner conflict to do with morals/right or wrong/choosing a life path/making a decision) or they could have a conflict with another person (external) or a conflict with their environment (external).</a:t>
            </a:r>
          </a:p>
        </p:txBody>
      </p:sp>
    </p:spTree>
    <p:extLst>
      <p:ext uri="{BB962C8B-B14F-4D97-AF65-F5344CB8AC3E}">
        <p14:creationId xmlns:p14="http://schemas.microsoft.com/office/powerpoint/2010/main" val="3874724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6239C-79FA-6240-973D-3E1AA4BB2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authors create suspense in a narrative?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78BB0-1124-7346-8558-5809C30B7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Posing a question to the reader at the beginning of the narrative</a:t>
            </a:r>
          </a:p>
          <a:p>
            <a:pPr lvl="1"/>
            <a:r>
              <a:rPr lang="en-US" dirty="0"/>
              <a:t>For example, in a mystery the implied question or unknown is perhaps who committed a murder.</a:t>
            </a:r>
          </a:p>
          <a:p>
            <a:pPr lvl="1"/>
            <a:r>
              <a:rPr lang="en-US" dirty="0"/>
              <a:t>In a horror story, the implied question at the beginning could be how could the character end up dying?</a:t>
            </a:r>
          </a:p>
          <a:p>
            <a:pPr lvl="1"/>
            <a:r>
              <a:rPr lang="en-US" dirty="0"/>
              <a:t>In a drama, the implied question might simply be, what has happened to the character/what have they experienced in order for them to be behaving in such a nasty way/odd way.</a:t>
            </a:r>
          </a:p>
          <a:p>
            <a:r>
              <a:rPr lang="en-US" dirty="0"/>
              <a:t>To create suspense, the reader is encouraged to think about how the problems could be averted.</a:t>
            </a:r>
          </a:p>
        </p:txBody>
      </p:sp>
    </p:spTree>
    <p:extLst>
      <p:ext uri="{BB962C8B-B14F-4D97-AF65-F5344CB8AC3E}">
        <p14:creationId xmlns:p14="http://schemas.microsoft.com/office/powerpoint/2010/main" val="822271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C677E-C711-C14B-915A-297A5CCD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authors create suspense in a narrative?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7A0A2-F837-8949-BED3-EFAC2380D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Narrative point of view</a:t>
            </a:r>
          </a:p>
          <a:p>
            <a:pPr lvl="1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person POV – I, we etc.</a:t>
            </a:r>
          </a:p>
          <a:p>
            <a:pPr lvl="2"/>
            <a:r>
              <a:rPr lang="en-US" dirty="0"/>
              <a:t>The author might describe events from the narrator’s point of view. They may notice certain things that create suspense, describe first-hand feelings and experiences that may create suspense and appeal to reader’s emotions, readers get a better idea of who the narrator is, their personality, beliefs, fears </a:t>
            </a:r>
            <a:r>
              <a:rPr lang="en-US" dirty="0" err="1"/>
              <a:t>etc</a:t>
            </a:r>
            <a:r>
              <a:rPr lang="en-US" dirty="0"/>
              <a:t> which can increase intensity.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person POV – you…</a:t>
            </a:r>
          </a:p>
          <a:p>
            <a:pPr lvl="2"/>
            <a:r>
              <a:rPr lang="en-US" dirty="0"/>
              <a:t>The author will encourage the reader to step into the story and experience things for themselves/encourage readers to imagine events happening to them personally thus increasing intensity.</a:t>
            </a:r>
          </a:p>
          <a:p>
            <a:pPr lvl="1"/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person POV – limited </a:t>
            </a:r>
          </a:p>
          <a:p>
            <a:pPr lvl="2"/>
            <a:r>
              <a:rPr lang="en-US" dirty="0"/>
              <a:t>The author will describe events from the outside in using language to help create suspense. The author might omit certain information, create red-herrings, establish certain moods and so on through description of setting, character’s actions, dialogue and so on.</a:t>
            </a:r>
          </a:p>
        </p:txBody>
      </p:sp>
    </p:spTree>
    <p:extLst>
      <p:ext uri="{BB962C8B-B14F-4D97-AF65-F5344CB8AC3E}">
        <p14:creationId xmlns:p14="http://schemas.microsoft.com/office/powerpoint/2010/main" val="3970917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F3832-35CA-714E-8F0A-AD4CA69F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authors create suspense in a narrative?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C841B-4F0B-0E4F-B911-2639B84AA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Imagery, figurative language like simile, metaphor, personification</a:t>
            </a:r>
          </a:p>
          <a:p>
            <a:pPr lvl="1"/>
            <a:r>
              <a:rPr lang="en-US" dirty="0"/>
              <a:t>Authors can appeal to senses using imagery. This usually leads to heightened responses (heightened feelings of fear, tension, anxiety if the senses are involved)</a:t>
            </a:r>
          </a:p>
          <a:p>
            <a:pPr lvl="1"/>
            <a:r>
              <a:rPr lang="en-US" dirty="0"/>
              <a:t>Increase engagement and encourage readers to create a mental picture of what is happening thus painting a picture of a tense scene or suspenseful setting or events.</a:t>
            </a:r>
          </a:p>
          <a:p>
            <a:pPr lvl="1"/>
            <a:r>
              <a:rPr lang="en-US" dirty="0"/>
              <a:t>Comparisons in metaphors and other figurative language help readers to make connections between the narrative and the real world – increasing relatability and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849528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AF1F-4B7A-8B4A-A81B-17A902447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authors create suspense in a narrative?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891CA-FA29-D048-8A1D-517992EB1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Sentence structure, syntax.</a:t>
            </a:r>
          </a:p>
          <a:p>
            <a:pPr lvl="1"/>
            <a:r>
              <a:rPr lang="en-US" dirty="0"/>
              <a:t>Authors will tend to use short, sharp sentences in order to create a sense of urgency, suspense and tension.</a:t>
            </a:r>
          </a:p>
          <a:p>
            <a:pPr lvl="1"/>
            <a:r>
              <a:rPr lang="en-US" dirty="0"/>
              <a:t>Short, sharp sentences create dramatic impact and shock the reader into wondering, worrying and anticipating what might happen next.</a:t>
            </a:r>
          </a:p>
        </p:txBody>
      </p:sp>
    </p:spTree>
    <p:extLst>
      <p:ext uri="{BB962C8B-B14F-4D97-AF65-F5344CB8AC3E}">
        <p14:creationId xmlns:p14="http://schemas.microsoft.com/office/powerpoint/2010/main" val="1995683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6F8DF-1A2B-9743-A648-9BE4145F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authors create suspense in a narrative?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19259-3D2E-724F-AE53-650114EA1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Characterisation</a:t>
            </a:r>
            <a:endParaRPr lang="en-US" dirty="0"/>
          </a:p>
          <a:p>
            <a:r>
              <a:rPr lang="en-US" dirty="0"/>
              <a:t>Dialogue</a:t>
            </a:r>
          </a:p>
          <a:p>
            <a:pPr lvl="1"/>
            <a:r>
              <a:rPr lang="en-US" dirty="0"/>
              <a:t>Character might have short and curt conversations and speech.</a:t>
            </a:r>
          </a:p>
          <a:p>
            <a:pPr lvl="1"/>
            <a:r>
              <a:rPr lang="en-US" dirty="0"/>
              <a:t>Contradictions and disagreements in dialogue, conversations and interactions with others.</a:t>
            </a:r>
          </a:p>
          <a:p>
            <a:pPr lvl="1"/>
            <a:r>
              <a:rPr lang="en-US" dirty="0"/>
              <a:t>Tense actions might occur in the midst of dialogue to increase suspense and tension.</a:t>
            </a:r>
          </a:p>
          <a:p>
            <a:pPr lvl="1"/>
            <a:r>
              <a:rPr lang="en-US" dirty="0"/>
              <a:t>Character experiences interruptions.</a:t>
            </a:r>
          </a:p>
          <a:p>
            <a:pPr lvl="1"/>
            <a:r>
              <a:rPr lang="en-US" dirty="0"/>
              <a:t>Tone in dialogue snappy/brusque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977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E2A9F-B2C8-9246-AA5F-666E7E3A5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authors create suspense in a narrative?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44231-769B-464C-9776-12C1531C0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Authors might compress time to make matters seem more urgent and pressing thus creating a tense mood.</a:t>
            </a:r>
          </a:p>
          <a:p>
            <a:endParaRPr lang="en-US" dirty="0"/>
          </a:p>
          <a:p>
            <a:r>
              <a:rPr lang="en-US" dirty="0"/>
              <a:t>Authors will use descriptive language, figurative language and imagery to create a suspenseful setting (description of surroundings).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087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7754-0046-5345-81FA-46CCF9C63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authors create suspense in a narrative?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72461-7EA9-9043-98DC-4E6D7EC29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Style</a:t>
            </a:r>
          </a:p>
          <a:p>
            <a:pPr lvl="1"/>
            <a:r>
              <a:rPr lang="en-US" dirty="0"/>
              <a:t>Style refers to the language features that are characteristic of a particular author. Period or genre. The style is the result of particular syntax, diction, paragraphing and other language features that certain authors commonly use in their writing.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Words to describe style are: academic, aggressive, bold, conversational, descriptive, direct, dramatic, emotive, formal, gloomy, interrogative, moody, pretentious, succinct.</a:t>
            </a:r>
          </a:p>
        </p:txBody>
      </p:sp>
    </p:spTree>
    <p:extLst>
      <p:ext uri="{BB962C8B-B14F-4D97-AF65-F5344CB8AC3E}">
        <p14:creationId xmlns:p14="http://schemas.microsoft.com/office/powerpoint/2010/main" val="996092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65FC2-B7A9-FA4C-8F32-D1B15AA2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5E575-82DE-A243-83EB-B0449F077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7611" y="643467"/>
            <a:ext cx="7012710" cy="5408341"/>
          </a:xfrm>
        </p:spPr>
        <p:txBody>
          <a:bodyPr/>
          <a:lstStyle/>
          <a:p>
            <a:r>
              <a:rPr lang="en-US" dirty="0"/>
              <a:t>Now it is your turn to apply these understandings in the activity sheet given to you.</a:t>
            </a:r>
          </a:p>
          <a:p>
            <a:r>
              <a:rPr lang="en-US" dirty="0"/>
              <a:t>You will go through a few steps in order to really understand how tension and suspense are created.</a:t>
            </a:r>
          </a:p>
          <a:p>
            <a:pPr marL="342900" indent="-342900">
              <a:buAutoNum type="arabicPeriod"/>
            </a:pPr>
            <a:r>
              <a:rPr lang="en-US" dirty="0"/>
              <a:t>Write your own suspenseful opening to a story using 3 or more of the techniques described in this presentation.</a:t>
            </a:r>
          </a:p>
          <a:p>
            <a:pPr marL="342900" indent="-342900">
              <a:buAutoNum type="arabicPeriod"/>
            </a:pPr>
            <a:r>
              <a:rPr lang="en-US" dirty="0"/>
              <a:t>Read a short story entitled “Breakfast.”</a:t>
            </a:r>
          </a:p>
          <a:p>
            <a:pPr marL="342900" indent="-342900">
              <a:buAutoNum type="arabicPeriod"/>
            </a:pPr>
            <a:r>
              <a:rPr lang="en-US" dirty="0"/>
              <a:t>Annotate the text, your question and plan your response using a response planning scaffold.</a:t>
            </a:r>
          </a:p>
          <a:p>
            <a:pPr marL="342900" indent="-342900">
              <a:buAutoNum type="arabicPeriod"/>
            </a:pPr>
            <a:r>
              <a:rPr lang="en-US" dirty="0"/>
              <a:t>Write your short answer response in 20 minutes using your plan.</a:t>
            </a:r>
          </a:p>
        </p:txBody>
      </p:sp>
    </p:spTree>
    <p:extLst>
      <p:ext uri="{BB962C8B-B14F-4D97-AF65-F5344CB8AC3E}">
        <p14:creationId xmlns:p14="http://schemas.microsoft.com/office/powerpoint/2010/main" val="882170217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30</TotalTime>
  <Words>896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 Light</vt:lpstr>
      <vt:lpstr>Rockwell</vt:lpstr>
      <vt:lpstr>Wingdings</vt:lpstr>
      <vt:lpstr>Atlas</vt:lpstr>
      <vt:lpstr>Tension &amp; Suspense in Narrative</vt:lpstr>
      <vt:lpstr>Tension &amp; Suspense </vt:lpstr>
      <vt:lpstr>How can authors create suspense &amp; tension in a narrative?</vt:lpstr>
      <vt:lpstr>How can authors create suspense in a narrative?</vt:lpstr>
      <vt:lpstr>How can authors create suspense in a narrative?</vt:lpstr>
      <vt:lpstr>How can authors create suspense in a narrative?</vt:lpstr>
      <vt:lpstr>How can authors create suspense in a narrative?</vt:lpstr>
      <vt:lpstr>How can authors create suspense in a narrative? </vt:lpstr>
      <vt:lpstr>How can authors create suspense in a narrative?</vt:lpstr>
      <vt:lpstr>How can authors create suspense in a narrative?</vt:lpstr>
      <vt:lpstr>Applying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Tension &amp; Suspense in Narrative</dc:title>
  <dc:creator>Jana Majoski</dc:creator>
  <cp:lastModifiedBy>Rusul Haroosh</cp:lastModifiedBy>
  <cp:revision>4</cp:revision>
  <dcterms:created xsi:type="dcterms:W3CDTF">2022-02-06T11:22:45Z</dcterms:created>
  <dcterms:modified xsi:type="dcterms:W3CDTF">2022-08-04T09:34:29Z</dcterms:modified>
</cp:coreProperties>
</file>
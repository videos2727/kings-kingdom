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263" r:id="rId3"/>
    <p:sldId id="279" r:id="rId4"/>
    <p:sldId id="280" r:id="rId5"/>
    <p:sldId id="264" r:id="rId6"/>
    <p:sldId id="265" r:id="rId7"/>
    <p:sldId id="281" r:id="rId8"/>
    <p:sldId id="269" r:id="rId9"/>
    <p:sldId id="270" r:id="rId10"/>
    <p:sldId id="266" r:id="rId11"/>
    <p:sldId id="282" r:id="rId12"/>
    <p:sldId id="267" r:id="rId13"/>
    <p:sldId id="268" r:id="rId14"/>
    <p:sldId id="284" r:id="rId15"/>
    <p:sldId id="271" r:id="rId16"/>
    <p:sldId id="285" r:id="rId17"/>
    <p:sldId id="286" r:id="rId18"/>
    <p:sldId id="287" r:id="rId19"/>
    <p:sldId id="288" r:id="rId20"/>
    <p:sldId id="289" r:id="rId21"/>
    <p:sldId id="272" r:id="rId22"/>
    <p:sldId id="291" r:id="rId23"/>
    <p:sldId id="292" r:id="rId24"/>
    <p:sldId id="293"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94660"/>
  </p:normalViewPr>
  <p:slideViewPr>
    <p:cSldViewPr snapToGrid="0">
      <p:cViewPr varScale="1">
        <p:scale>
          <a:sx n="90" d="100"/>
          <a:sy n="90" d="100"/>
        </p:scale>
        <p:origin x="8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AAF7E-4E61-ED44-B8D9-A85070C2ABE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9188923-2F9E-A244-942C-2AE35A1543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D59F17-ED3E-C94F-9E20-8636D3D504F4}"/>
              </a:ext>
            </a:extLst>
          </p:cNvPr>
          <p:cNvSpPr>
            <a:spLocks noGrp="1"/>
          </p:cNvSpPr>
          <p:nvPr>
            <p:ph type="dt" sz="half" idx="10"/>
          </p:nvPr>
        </p:nvSpPr>
        <p:spPr/>
        <p:txBody>
          <a:bodyPr/>
          <a:lstStyle/>
          <a:p>
            <a:fld id="{87DE6118-2437-4B30-8E3C-4D2BE6020583}" type="datetimeFigureOut">
              <a:rPr lang="en-US" smtClean="0"/>
              <a:pPr/>
              <a:t>5/21/20</a:t>
            </a:fld>
            <a:endParaRPr lang="en-US" dirty="0"/>
          </a:p>
        </p:txBody>
      </p:sp>
      <p:sp>
        <p:nvSpPr>
          <p:cNvPr id="5" name="Footer Placeholder 4">
            <a:extLst>
              <a:ext uri="{FF2B5EF4-FFF2-40B4-BE49-F238E27FC236}">
                <a16:creationId xmlns:a16="http://schemas.microsoft.com/office/drawing/2014/main" id="{9E8344AB-5A48-694D-AF58-49E9A08765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6682C9-7D9F-0D4C-BD55-31DA864173A5}"/>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22430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9C79E-BC99-2C43-AF49-323D8A42788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698D7E4-AA85-A747-A9D5-99046212434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09226E-6582-A04C-802F-026228E7D1F6}"/>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5" name="Footer Placeholder 4">
            <a:extLst>
              <a:ext uri="{FF2B5EF4-FFF2-40B4-BE49-F238E27FC236}">
                <a16:creationId xmlns:a16="http://schemas.microsoft.com/office/drawing/2014/main" id="{EEB36473-860D-7E47-BA9F-0EAEB2943E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17891B-1BEC-AD41-A93D-670FBDF37EF9}"/>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94441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16960-ECCF-7A43-9592-C6F9FF36DBC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36A3855-F947-9F4C-80B0-51A1AC6F21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1BC306-69A0-9347-A4EE-2C233AE666E1}"/>
              </a:ext>
            </a:extLst>
          </p:cNvPr>
          <p:cNvSpPr>
            <a:spLocks noGrp="1"/>
          </p:cNvSpPr>
          <p:nvPr>
            <p:ph type="dt" sz="half" idx="10"/>
          </p:nvPr>
        </p:nvSpPr>
        <p:spPr/>
        <p:txBody>
          <a:bodyPr/>
          <a:lstStyle/>
          <a:p>
            <a:fld id="{87DE6118-2437-4B30-8E3C-4D2BE6020583}" type="datetimeFigureOut">
              <a:rPr lang="en-US" smtClean="0"/>
              <a:pPr/>
              <a:t>5/21/20</a:t>
            </a:fld>
            <a:endParaRPr lang="en-US" dirty="0"/>
          </a:p>
        </p:txBody>
      </p:sp>
      <p:sp>
        <p:nvSpPr>
          <p:cNvPr id="5" name="Footer Placeholder 4">
            <a:extLst>
              <a:ext uri="{FF2B5EF4-FFF2-40B4-BE49-F238E27FC236}">
                <a16:creationId xmlns:a16="http://schemas.microsoft.com/office/drawing/2014/main" id="{38968B1A-FDC6-FF4E-876C-96B69E62C9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D821AA-5613-C849-BA96-70F78C53080E}"/>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403181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90586-2031-4344-A9D4-856A548162F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B113DB-6E6E-1542-B65A-1440D6679AA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9B7B43-FA47-FE4A-834F-C5E0D1FCAD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3FFF04D-5419-FC4E-BF77-4F0B5CC407D8}"/>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6" name="Footer Placeholder 5">
            <a:extLst>
              <a:ext uri="{FF2B5EF4-FFF2-40B4-BE49-F238E27FC236}">
                <a16:creationId xmlns:a16="http://schemas.microsoft.com/office/drawing/2014/main" id="{7FEB39D3-1E9E-E944-8D9E-E56CC5CA9A4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15C8AC-BBE8-3147-AD10-9B00834AB743}"/>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507978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F60A-DF98-D543-896A-994A43FC2E8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D43E41-FDA6-A644-9ADE-20ACBBDB58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5161169-5D81-224E-ADEC-29AA3101380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9A8C669-F02C-CB4D-81B3-CCC8BB9836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F895F5-89C0-1943-A2AC-92790B0092C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E142215-51EF-EC4F-9FFF-492308DE6188}"/>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8" name="Footer Placeholder 7">
            <a:extLst>
              <a:ext uri="{FF2B5EF4-FFF2-40B4-BE49-F238E27FC236}">
                <a16:creationId xmlns:a16="http://schemas.microsoft.com/office/drawing/2014/main" id="{8C88F103-F9A8-F24B-8358-D93E89C8868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F8F3CD2-7159-374C-9964-377CBBE22375}"/>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180841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B6DC0-EE1A-9E42-990B-485113821C3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5B93C50-63D4-0E4F-B3A3-AE863D4594A0}"/>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4" name="Footer Placeholder 3">
            <a:extLst>
              <a:ext uri="{FF2B5EF4-FFF2-40B4-BE49-F238E27FC236}">
                <a16:creationId xmlns:a16="http://schemas.microsoft.com/office/drawing/2014/main" id="{ABEC95EF-C064-264B-BDFA-78B66AF8F17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EF2352D-BD1A-914C-A50D-1FF71DA0C874}"/>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0070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00C283-D14B-EE4B-AB94-8B5E9DE271E4}"/>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3" name="Footer Placeholder 2">
            <a:extLst>
              <a:ext uri="{FF2B5EF4-FFF2-40B4-BE49-F238E27FC236}">
                <a16:creationId xmlns:a16="http://schemas.microsoft.com/office/drawing/2014/main" id="{B80782DB-7ECC-E449-ACE7-A97FA84A78D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50D8FCE-1A28-DA4D-A189-5827F141DB6A}"/>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97795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34872-D859-5B48-8EBD-3B78B35458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284E9C1-2355-5D48-903B-A193B0BFD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4706EF7-BACF-0B4E-9427-86E2CB55CA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E76495-8650-664B-B11F-533267758545}"/>
              </a:ext>
            </a:extLst>
          </p:cNvPr>
          <p:cNvSpPr>
            <a:spLocks noGrp="1"/>
          </p:cNvSpPr>
          <p:nvPr>
            <p:ph type="dt" sz="half" idx="10"/>
          </p:nvPr>
        </p:nvSpPr>
        <p:spPr/>
        <p:txBody>
          <a:bodyPr/>
          <a:lstStyle/>
          <a:p>
            <a:fld id="{87DE6118-2437-4B30-8E3C-4D2BE6020583}" type="datetimeFigureOut">
              <a:rPr lang="en-US" smtClean="0"/>
              <a:pPr/>
              <a:t>5/21/20</a:t>
            </a:fld>
            <a:endParaRPr lang="en-US" dirty="0"/>
          </a:p>
        </p:txBody>
      </p:sp>
      <p:sp>
        <p:nvSpPr>
          <p:cNvPr id="6" name="Footer Placeholder 5">
            <a:extLst>
              <a:ext uri="{FF2B5EF4-FFF2-40B4-BE49-F238E27FC236}">
                <a16:creationId xmlns:a16="http://schemas.microsoft.com/office/drawing/2014/main" id="{50E8D77C-BAF9-6B49-A1F2-0EE596F7DDF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7D96B92-7C0E-4E40-A27F-07BE84222282}"/>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62627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ACB0-31F7-B04C-999A-B8AAD37F2AD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84B255-EE32-BA49-8AAA-750D1CBDD2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232AA3-7D44-5544-A16D-D061E3AAD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9B75C0D-BA95-DA48-A163-5071C7B20085}"/>
              </a:ext>
            </a:extLst>
          </p:cNvPr>
          <p:cNvSpPr>
            <a:spLocks noGrp="1"/>
          </p:cNvSpPr>
          <p:nvPr>
            <p:ph type="dt" sz="half" idx="10"/>
          </p:nvPr>
        </p:nvSpPr>
        <p:spPr/>
        <p:txBody>
          <a:bodyPr/>
          <a:lstStyle/>
          <a:p>
            <a:fld id="{87DE6118-2437-4B30-8E3C-4D2BE6020583}" type="datetimeFigureOut">
              <a:rPr lang="en-US" smtClean="0"/>
              <a:pPr/>
              <a:t>5/21/20</a:t>
            </a:fld>
            <a:endParaRPr lang="en-US" dirty="0"/>
          </a:p>
        </p:txBody>
      </p:sp>
      <p:sp>
        <p:nvSpPr>
          <p:cNvPr id="6" name="Footer Placeholder 5">
            <a:extLst>
              <a:ext uri="{FF2B5EF4-FFF2-40B4-BE49-F238E27FC236}">
                <a16:creationId xmlns:a16="http://schemas.microsoft.com/office/drawing/2014/main" id="{7780BAD6-30BC-3241-AB53-8DF5C398FF3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B9824A-A5B3-F144-B7E7-4C1A14B45480}"/>
              </a:ext>
            </a:extLst>
          </p:cNvPr>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794150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7993F-E6DE-7A45-9227-19F23DE0B23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7BA3CAF-23F7-A14E-964B-5CA6B240E4C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EB2135-FF02-CB46-8836-280263001E70}"/>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5" name="Footer Placeholder 4">
            <a:extLst>
              <a:ext uri="{FF2B5EF4-FFF2-40B4-BE49-F238E27FC236}">
                <a16:creationId xmlns:a16="http://schemas.microsoft.com/office/drawing/2014/main" id="{0EAE43D1-D8C1-D143-BC6C-C8C78E6C07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246601-21A3-974B-89D9-25719AC72E21}"/>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029612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A353E8-89CA-E643-8F3B-3B42E0A0E38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7F5384-819E-5546-90CC-B3E68F2F49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FC0739-B773-9C4F-BC59-BB43736F5529}"/>
              </a:ext>
            </a:extLst>
          </p:cNvPr>
          <p:cNvSpPr>
            <a:spLocks noGrp="1"/>
          </p:cNvSpPr>
          <p:nvPr>
            <p:ph type="dt" sz="half" idx="10"/>
          </p:nvPr>
        </p:nvSpPr>
        <p:spPr/>
        <p:txBody>
          <a:bodyPr/>
          <a:lstStyle/>
          <a:p>
            <a:fld id="{87DE6118-2437-4B30-8E3C-4D2BE6020583}" type="datetimeFigureOut">
              <a:rPr lang="en-US" smtClean="0"/>
              <a:t>5/21/20</a:t>
            </a:fld>
            <a:endParaRPr lang="en-US" dirty="0"/>
          </a:p>
        </p:txBody>
      </p:sp>
      <p:sp>
        <p:nvSpPr>
          <p:cNvPr id="5" name="Footer Placeholder 4">
            <a:extLst>
              <a:ext uri="{FF2B5EF4-FFF2-40B4-BE49-F238E27FC236}">
                <a16:creationId xmlns:a16="http://schemas.microsoft.com/office/drawing/2014/main" id="{DFC51159-1872-7447-99F0-1B372AB09F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1738596-2FAB-D346-81BF-505EBFA84603}"/>
              </a:ext>
            </a:extLst>
          </p:cNvPr>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5200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4DC7C6-78B3-3640-B423-186A0B1185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F84CF80-FBE1-1C46-BDA6-0D805D938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83AE02E-A114-384D-95A4-1AE9B08619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DE6118-2437-4B30-8E3C-4D2BE6020583}" type="datetimeFigureOut">
              <a:rPr lang="en-US" smtClean="0"/>
              <a:pPr/>
              <a:t>5/21/20</a:t>
            </a:fld>
            <a:endParaRPr lang="en-US" dirty="0"/>
          </a:p>
        </p:txBody>
      </p:sp>
      <p:sp>
        <p:nvSpPr>
          <p:cNvPr id="5" name="Footer Placeholder 4">
            <a:extLst>
              <a:ext uri="{FF2B5EF4-FFF2-40B4-BE49-F238E27FC236}">
                <a16:creationId xmlns:a16="http://schemas.microsoft.com/office/drawing/2014/main" id="{285157E4-D05A-7745-BE9F-CD889D1CFB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50B531A-3684-164C-8DFA-4241198000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325187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3181B-BDEA-494F-8191-F1D40E6081B2}"/>
              </a:ext>
            </a:extLst>
          </p:cNvPr>
          <p:cNvSpPr>
            <a:spLocks noGrp="1"/>
          </p:cNvSpPr>
          <p:nvPr>
            <p:ph type="ctrTitle"/>
          </p:nvPr>
        </p:nvSpPr>
        <p:spPr>
          <a:xfrm>
            <a:off x="8154186" y="1340841"/>
            <a:ext cx="3355942" cy="3026022"/>
          </a:xfrm>
        </p:spPr>
        <p:txBody>
          <a:bodyPr>
            <a:normAutofit fontScale="90000"/>
          </a:bodyPr>
          <a:lstStyle/>
          <a:p>
            <a:r>
              <a:rPr lang="en-AU" sz="8000" b="1" dirty="0"/>
              <a:t>YEAR 12 EXAM PREP</a:t>
            </a:r>
          </a:p>
        </p:txBody>
      </p:sp>
      <p:sp>
        <p:nvSpPr>
          <p:cNvPr id="3" name="Subtitle 2">
            <a:extLst>
              <a:ext uri="{FF2B5EF4-FFF2-40B4-BE49-F238E27FC236}">
                <a16:creationId xmlns:a16="http://schemas.microsoft.com/office/drawing/2014/main" id="{6BC569C4-F974-435C-BEB6-E67B980D832C}"/>
              </a:ext>
            </a:extLst>
          </p:cNvPr>
          <p:cNvSpPr>
            <a:spLocks noGrp="1"/>
          </p:cNvSpPr>
          <p:nvPr>
            <p:ph type="subTitle" idx="1"/>
          </p:nvPr>
        </p:nvSpPr>
        <p:spPr>
          <a:xfrm>
            <a:off x="8154186" y="4436462"/>
            <a:ext cx="3355942" cy="1794656"/>
          </a:xfrm>
        </p:spPr>
        <p:txBody>
          <a:bodyPr>
            <a:normAutofit/>
          </a:bodyPr>
          <a:lstStyle/>
          <a:p>
            <a:pPr>
              <a:spcAft>
                <a:spcPts val="600"/>
              </a:spcAft>
            </a:pPr>
            <a:r>
              <a:rPr lang="en-AU" dirty="0"/>
              <a:t>Semester One 2020</a:t>
            </a:r>
          </a:p>
        </p:txBody>
      </p:sp>
      <p:pic>
        <p:nvPicPr>
          <p:cNvPr id="6" name="Picture 5" descr="A picture containing mirror&#10;&#10;Description automatically generated">
            <a:extLst>
              <a:ext uri="{FF2B5EF4-FFF2-40B4-BE49-F238E27FC236}">
                <a16:creationId xmlns:a16="http://schemas.microsoft.com/office/drawing/2014/main" id="{6A59202E-26D7-4620-B663-966D937C4642}"/>
              </a:ext>
            </a:extLst>
          </p:cNvPr>
          <p:cNvPicPr>
            <a:picLocks noChangeAspect="1"/>
          </p:cNvPicPr>
          <p:nvPr/>
        </p:nvPicPr>
        <p:blipFill>
          <a:blip r:embed="rId2"/>
          <a:stretch>
            <a:fillRect/>
          </a:stretch>
        </p:blipFill>
        <p:spPr>
          <a:xfrm>
            <a:off x="2020879" y="1340841"/>
            <a:ext cx="4375510" cy="4375510"/>
          </a:xfrm>
          <a:prstGeom prst="rect">
            <a:avLst/>
          </a:prstGeom>
        </p:spPr>
      </p:pic>
    </p:spTree>
    <p:extLst>
      <p:ext uri="{BB962C8B-B14F-4D97-AF65-F5344CB8AC3E}">
        <p14:creationId xmlns:p14="http://schemas.microsoft.com/office/powerpoint/2010/main" val="3082996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7989-5871-4AB3-97F9-56172D7AB978}"/>
              </a:ext>
            </a:extLst>
          </p:cNvPr>
          <p:cNvSpPr>
            <a:spLocks noGrp="1"/>
          </p:cNvSpPr>
          <p:nvPr>
            <p:ph type="title"/>
          </p:nvPr>
        </p:nvSpPr>
        <p:spPr/>
        <p:txBody>
          <a:bodyPr>
            <a:normAutofit/>
          </a:bodyPr>
          <a:lstStyle/>
          <a:p>
            <a:pPr algn="ctr"/>
            <a:r>
              <a:rPr lang="en-AU" sz="4800" b="1" dirty="0"/>
              <a:t>RESPONDING: THE BASICS</a:t>
            </a:r>
          </a:p>
        </p:txBody>
      </p:sp>
      <p:sp>
        <p:nvSpPr>
          <p:cNvPr id="3" name="Content Placeholder 2">
            <a:extLst>
              <a:ext uri="{FF2B5EF4-FFF2-40B4-BE49-F238E27FC236}">
                <a16:creationId xmlns:a16="http://schemas.microsoft.com/office/drawing/2014/main" id="{3B80642B-CD05-4E36-8369-00A9A2F16ABF}"/>
              </a:ext>
            </a:extLst>
          </p:cNvPr>
          <p:cNvSpPr>
            <a:spLocks noGrp="1"/>
          </p:cNvSpPr>
          <p:nvPr>
            <p:ph idx="1"/>
          </p:nvPr>
        </p:nvSpPr>
        <p:spPr>
          <a:xfrm>
            <a:off x="838200" y="1825624"/>
            <a:ext cx="10515600" cy="4842461"/>
          </a:xfrm>
        </p:spPr>
        <p:txBody>
          <a:bodyPr>
            <a:normAutofit fontScale="85000" lnSpcReduction="20000"/>
          </a:bodyPr>
          <a:lstStyle/>
          <a:p>
            <a:r>
              <a:rPr lang="en-AU" dirty="0"/>
              <a:t>In this section you need to show your understanding of the construction, genre, purpose, audience, context etc of the texts you have studied.</a:t>
            </a:r>
          </a:p>
          <a:p>
            <a:pPr marL="0" indent="0">
              <a:buNone/>
            </a:pPr>
            <a:endParaRPr lang="en-AU" dirty="0"/>
          </a:p>
          <a:p>
            <a:pPr marL="0" indent="0">
              <a:buNone/>
            </a:pPr>
            <a:r>
              <a:rPr lang="en-AU" dirty="0"/>
              <a:t>You should be able to:</a:t>
            </a:r>
          </a:p>
          <a:p>
            <a:pPr>
              <a:buFont typeface="Arial" panose="020B0604020202020204" pitchFamily="34" charset="0"/>
              <a:buChar char="•"/>
            </a:pPr>
            <a:r>
              <a:rPr lang="en-AU" dirty="0"/>
              <a:t>Demonstrate an understanding or construction, purpose, context, and audience</a:t>
            </a:r>
          </a:p>
          <a:p>
            <a:pPr>
              <a:buFont typeface="Arial" panose="020B0604020202020204" pitchFamily="34" charset="0"/>
              <a:buChar char="•"/>
            </a:pPr>
            <a:r>
              <a:rPr lang="en-AU" dirty="0"/>
              <a:t>Demonstrate an understanding of representation and meaning in a studied text</a:t>
            </a:r>
          </a:p>
          <a:p>
            <a:pPr>
              <a:buFont typeface="Arial" panose="020B0604020202020204" pitchFamily="34" charset="0"/>
              <a:buChar char="•"/>
            </a:pPr>
            <a:r>
              <a:rPr lang="en-AU" dirty="0"/>
              <a:t>Compose a clear, structured, analytical response </a:t>
            </a:r>
          </a:p>
          <a:p>
            <a:pPr>
              <a:buFont typeface="Arial" panose="020B0604020202020204" pitchFamily="34" charset="0"/>
              <a:buChar char="•"/>
            </a:pPr>
            <a:endParaRPr lang="en-AU" dirty="0"/>
          </a:p>
          <a:p>
            <a:pPr>
              <a:buFont typeface="Wingdings" panose="05000000000000000000" pitchFamily="2" charset="2"/>
              <a:buChar char="§"/>
            </a:pPr>
            <a:r>
              <a:rPr lang="en-AU" dirty="0"/>
              <a:t>Worth 40%</a:t>
            </a:r>
          </a:p>
          <a:p>
            <a:pPr>
              <a:buFont typeface="Wingdings" panose="05000000000000000000" pitchFamily="2" charset="2"/>
              <a:buChar char="§"/>
            </a:pPr>
            <a:r>
              <a:rPr lang="en-AU" dirty="0"/>
              <a:t>Respond to one question out of six</a:t>
            </a:r>
          </a:p>
          <a:p>
            <a:pPr>
              <a:buFont typeface="Wingdings" panose="05000000000000000000" pitchFamily="2" charset="2"/>
              <a:buChar char="§"/>
            </a:pPr>
            <a:r>
              <a:rPr lang="en-AU" dirty="0"/>
              <a:t>60 minutes</a:t>
            </a:r>
          </a:p>
          <a:p>
            <a:pPr>
              <a:buFont typeface="Wingdings" panose="05000000000000000000" pitchFamily="2" charset="2"/>
              <a:buChar char="§"/>
            </a:pPr>
            <a:r>
              <a:rPr lang="en-AU" dirty="0"/>
              <a:t>Minimum of 2 pages</a:t>
            </a:r>
          </a:p>
        </p:txBody>
      </p:sp>
    </p:spTree>
    <p:extLst>
      <p:ext uri="{BB962C8B-B14F-4D97-AF65-F5344CB8AC3E}">
        <p14:creationId xmlns:p14="http://schemas.microsoft.com/office/powerpoint/2010/main" val="3840672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4AEF2-B86E-45C9-95F8-E4F0F867B74F}"/>
              </a:ext>
            </a:extLst>
          </p:cNvPr>
          <p:cNvSpPr>
            <a:spLocks noGrp="1"/>
          </p:cNvSpPr>
          <p:nvPr>
            <p:ph type="title"/>
          </p:nvPr>
        </p:nvSpPr>
        <p:spPr/>
        <p:txBody>
          <a:bodyPr>
            <a:normAutofit fontScale="90000"/>
          </a:bodyPr>
          <a:lstStyle/>
          <a:p>
            <a:r>
              <a:rPr lang="en-AU" b="1" dirty="0"/>
              <a:t>The Responding Section assesses your ability to:</a:t>
            </a:r>
            <a:br>
              <a:rPr lang="en-AU" b="1" dirty="0"/>
            </a:br>
            <a:endParaRPr lang="en-AU" b="1" dirty="0"/>
          </a:p>
        </p:txBody>
      </p:sp>
      <p:sp>
        <p:nvSpPr>
          <p:cNvPr id="3" name="Content Placeholder 2">
            <a:extLst>
              <a:ext uri="{FF2B5EF4-FFF2-40B4-BE49-F238E27FC236}">
                <a16:creationId xmlns:a16="http://schemas.microsoft.com/office/drawing/2014/main" id="{1C69E5C7-0038-46F8-B8D3-4123FEEFA1A0}"/>
              </a:ext>
            </a:extLst>
          </p:cNvPr>
          <p:cNvSpPr>
            <a:spLocks noGrp="1"/>
          </p:cNvSpPr>
          <p:nvPr>
            <p:ph idx="1"/>
          </p:nvPr>
        </p:nvSpPr>
        <p:spPr/>
        <p:txBody>
          <a:bodyPr/>
          <a:lstStyle/>
          <a:p>
            <a:r>
              <a:rPr lang="en-AU" dirty="0"/>
              <a:t>Compare texts based upon their genre and or context</a:t>
            </a:r>
          </a:p>
          <a:p>
            <a:r>
              <a:rPr lang="en-AU" dirty="0"/>
              <a:t>Compare and contrast distinct elements of genres</a:t>
            </a:r>
          </a:p>
          <a:p>
            <a:r>
              <a:rPr lang="en-AU" dirty="0"/>
              <a:t>Explain how a text’s construction can influence its audience</a:t>
            </a:r>
          </a:p>
          <a:p>
            <a:r>
              <a:rPr lang="en-AU" dirty="0"/>
              <a:t>Explore the relationship between texts, context, and meaning</a:t>
            </a:r>
          </a:p>
          <a:p>
            <a:r>
              <a:rPr lang="en-AU" dirty="0"/>
              <a:t>Identify different perspectives, attitudes, or values in studied texts</a:t>
            </a:r>
          </a:p>
        </p:txBody>
      </p:sp>
    </p:spTree>
    <p:extLst>
      <p:ext uri="{BB962C8B-B14F-4D97-AF65-F5344CB8AC3E}">
        <p14:creationId xmlns:p14="http://schemas.microsoft.com/office/powerpoint/2010/main" val="2786462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AD55-2BB9-46C1-8411-D2816CBF879E}"/>
              </a:ext>
            </a:extLst>
          </p:cNvPr>
          <p:cNvSpPr>
            <a:spLocks noGrp="1"/>
          </p:cNvSpPr>
          <p:nvPr>
            <p:ph type="title"/>
          </p:nvPr>
        </p:nvSpPr>
        <p:spPr/>
        <p:txBody>
          <a:bodyPr/>
          <a:lstStyle/>
          <a:p>
            <a:r>
              <a:rPr lang="en-AU" dirty="0"/>
              <a:t>Tips</a:t>
            </a:r>
          </a:p>
        </p:txBody>
      </p:sp>
      <p:sp>
        <p:nvSpPr>
          <p:cNvPr id="3" name="Content Placeholder 2">
            <a:extLst>
              <a:ext uri="{FF2B5EF4-FFF2-40B4-BE49-F238E27FC236}">
                <a16:creationId xmlns:a16="http://schemas.microsoft.com/office/drawing/2014/main" id="{EA82040E-DD3E-4349-A579-74C540578A12}"/>
              </a:ext>
            </a:extLst>
          </p:cNvPr>
          <p:cNvSpPr>
            <a:spLocks noGrp="1"/>
          </p:cNvSpPr>
          <p:nvPr>
            <p:ph idx="1"/>
          </p:nvPr>
        </p:nvSpPr>
        <p:spPr/>
        <p:txBody>
          <a:bodyPr/>
          <a:lstStyle/>
          <a:p>
            <a:r>
              <a:rPr lang="en-AU" dirty="0"/>
              <a:t>Don’t feel like you have to write a huge amount (again, don’t waffle!)</a:t>
            </a:r>
          </a:p>
          <a:p>
            <a:r>
              <a:rPr lang="en-AU" dirty="0"/>
              <a:t>Try to stick to one hour of the exam time</a:t>
            </a:r>
          </a:p>
          <a:p>
            <a:r>
              <a:rPr lang="en-AU" dirty="0"/>
              <a:t>Introduce the text clearly – use a nutshell statement that you can memorise</a:t>
            </a:r>
          </a:p>
          <a:p>
            <a:r>
              <a:rPr lang="en-AU" dirty="0"/>
              <a:t>Briefly introduce the characters role before you discuss them</a:t>
            </a:r>
          </a:p>
          <a:p>
            <a:r>
              <a:rPr lang="en-AU" dirty="0"/>
              <a:t>Do not retell the whole plot of the text </a:t>
            </a:r>
          </a:p>
        </p:txBody>
      </p:sp>
    </p:spTree>
    <p:extLst>
      <p:ext uri="{BB962C8B-B14F-4D97-AF65-F5344CB8AC3E}">
        <p14:creationId xmlns:p14="http://schemas.microsoft.com/office/powerpoint/2010/main" val="119272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D7697-FB77-4C8A-B0BE-95E32C5B6E36}"/>
              </a:ext>
            </a:extLst>
          </p:cNvPr>
          <p:cNvSpPr>
            <a:spLocks noGrp="1"/>
          </p:cNvSpPr>
          <p:nvPr>
            <p:ph type="title"/>
          </p:nvPr>
        </p:nvSpPr>
        <p:spPr/>
        <p:txBody>
          <a:bodyPr/>
          <a:lstStyle/>
          <a:p>
            <a:r>
              <a:rPr lang="en-AU" u="sng" dirty="0"/>
              <a:t>The Return</a:t>
            </a:r>
          </a:p>
        </p:txBody>
      </p:sp>
      <p:sp>
        <p:nvSpPr>
          <p:cNvPr id="3" name="Content Placeholder 2">
            <a:extLst>
              <a:ext uri="{FF2B5EF4-FFF2-40B4-BE49-F238E27FC236}">
                <a16:creationId xmlns:a16="http://schemas.microsoft.com/office/drawing/2014/main" id="{9DA8C111-D424-45EC-AEAC-A0C581620212}"/>
              </a:ext>
            </a:extLst>
          </p:cNvPr>
          <p:cNvSpPr>
            <a:spLocks noGrp="1"/>
          </p:cNvSpPr>
          <p:nvPr>
            <p:ph idx="1"/>
          </p:nvPr>
        </p:nvSpPr>
        <p:spPr>
          <a:xfrm>
            <a:off x="1371600" y="1659987"/>
            <a:ext cx="10403058" cy="4797083"/>
          </a:xfrm>
        </p:spPr>
        <p:txBody>
          <a:bodyPr>
            <a:normAutofit/>
          </a:bodyPr>
          <a:lstStyle/>
          <a:p>
            <a:pPr marL="0" indent="0">
              <a:buNone/>
            </a:pPr>
            <a:r>
              <a:rPr lang="en-AU" sz="2400" dirty="0"/>
              <a:t>Key Facts</a:t>
            </a:r>
          </a:p>
          <a:p>
            <a:pPr marL="0" indent="0">
              <a:buNone/>
            </a:pPr>
            <a:r>
              <a:rPr lang="en-AU" sz="2400" dirty="0"/>
              <a:t>Written by: Reg Cribb</a:t>
            </a:r>
          </a:p>
          <a:p>
            <a:pPr marL="0" indent="0">
              <a:buNone/>
            </a:pPr>
            <a:r>
              <a:rPr lang="en-AU" sz="2400" dirty="0"/>
              <a:t>Published in: 2003</a:t>
            </a:r>
          </a:p>
          <a:p>
            <a:pPr marL="0" indent="0">
              <a:buNone/>
            </a:pPr>
            <a:r>
              <a:rPr lang="en-AU" sz="2400" dirty="0"/>
              <a:t>Genre: Stage Drama, Psychological Thriller, Social Realism </a:t>
            </a:r>
          </a:p>
        </p:txBody>
      </p:sp>
    </p:spTree>
    <p:extLst>
      <p:ext uri="{BB962C8B-B14F-4D97-AF65-F5344CB8AC3E}">
        <p14:creationId xmlns:p14="http://schemas.microsoft.com/office/powerpoint/2010/main" val="387894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DBCD-D7F8-4752-934E-9CA243D76B90}"/>
              </a:ext>
            </a:extLst>
          </p:cNvPr>
          <p:cNvSpPr>
            <a:spLocks noGrp="1"/>
          </p:cNvSpPr>
          <p:nvPr>
            <p:ph type="title"/>
          </p:nvPr>
        </p:nvSpPr>
        <p:spPr/>
        <p:txBody>
          <a:bodyPr/>
          <a:lstStyle/>
          <a:p>
            <a:r>
              <a:rPr lang="en-AU" u="sng" dirty="0"/>
              <a:t>Issues</a:t>
            </a:r>
          </a:p>
        </p:txBody>
      </p:sp>
      <p:sp>
        <p:nvSpPr>
          <p:cNvPr id="3" name="Content Placeholder 2">
            <a:extLst>
              <a:ext uri="{FF2B5EF4-FFF2-40B4-BE49-F238E27FC236}">
                <a16:creationId xmlns:a16="http://schemas.microsoft.com/office/drawing/2014/main" id="{EE9A16AB-C5B4-4D4C-94E7-72A035152E67}"/>
              </a:ext>
            </a:extLst>
          </p:cNvPr>
          <p:cNvSpPr>
            <a:spLocks noGrp="1"/>
          </p:cNvSpPr>
          <p:nvPr>
            <p:ph idx="1"/>
          </p:nvPr>
        </p:nvSpPr>
        <p:spPr/>
        <p:txBody>
          <a:bodyPr>
            <a:normAutofit/>
          </a:bodyPr>
          <a:lstStyle/>
          <a:p>
            <a:r>
              <a:rPr lang="en-AU" sz="2600" dirty="0"/>
              <a:t>Classes divide causing alienation</a:t>
            </a:r>
          </a:p>
          <a:p>
            <a:r>
              <a:rPr lang="en-AU" sz="2600" dirty="0"/>
              <a:t>Crime and poverty as cycles</a:t>
            </a:r>
          </a:p>
          <a:p>
            <a:r>
              <a:rPr lang="en-AU" sz="2600" dirty="0"/>
              <a:t>The importance of belonging</a:t>
            </a:r>
          </a:p>
          <a:p>
            <a:r>
              <a:rPr lang="en-AU" sz="2600" dirty="0"/>
              <a:t>The significance of a sense of identity</a:t>
            </a:r>
          </a:p>
          <a:p>
            <a:r>
              <a:rPr lang="en-AU" sz="2600" dirty="0"/>
              <a:t>The lives and experience of ex-convicts</a:t>
            </a:r>
          </a:p>
          <a:p>
            <a:r>
              <a:rPr lang="en-AU" sz="2600" dirty="0"/>
              <a:t>The motivation for violence/crime</a:t>
            </a:r>
          </a:p>
        </p:txBody>
      </p:sp>
    </p:spTree>
    <p:extLst>
      <p:ext uri="{BB962C8B-B14F-4D97-AF65-F5344CB8AC3E}">
        <p14:creationId xmlns:p14="http://schemas.microsoft.com/office/powerpoint/2010/main" val="190256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CB6BF-7058-4220-9D79-D01B621B9F73}"/>
              </a:ext>
            </a:extLst>
          </p:cNvPr>
          <p:cNvSpPr>
            <a:spLocks noGrp="1"/>
          </p:cNvSpPr>
          <p:nvPr>
            <p:ph type="title"/>
          </p:nvPr>
        </p:nvSpPr>
        <p:spPr/>
        <p:txBody>
          <a:bodyPr/>
          <a:lstStyle/>
          <a:p>
            <a:r>
              <a:rPr lang="en-AU" dirty="0"/>
              <a:t>Ideas</a:t>
            </a:r>
          </a:p>
        </p:txBody>
      </p:sp>
      <p:sp>
        <p:nvSpPr>
          <p:cNvPr id="3" name="Content Placeholder 2">
            <a:extLst>
              <a:ext uri="{FF2B5EF4-FFF2-40B4-BE49-F238E27FC236}">
                <a16:creationId xmlns:a16="http://schemas.microsoft.com/office/drawing/2014/main" id="{C97D648F-F005-43FC-A22F-36F0DD731F7C}"/>
              </a:ext>
            </a:extLst>
          </p:cNvPr>
          <p:cNvSpPr>
            <a:spLocks noGrp="1"/>
          </p:cNvSpPr>
          <p:nvPr>
            <p:ph idx="1"/>
          </p:nvPr>
        </p:nvSpPr>
        <p:spPr>
          <a:xfrm>
            <a:off x="542925" y="1825625"/>
            <a:ext cx="10810875" cy="4351338"/>
          </a:xfrm>
        </p:spPr>
        <p:txBody>
          <a:bodyPr>
            <a:normAutofit/>
          </a:bodyPr>
          <a:lstStyle/>
          <a:p>
            <a:pPr marL="0" indent="0">
              <a:buNone/>
            </a:pPr>
            <a:r>
              <a:rPr lang="en-AU" sz="2600" i="1" dirty="0"/>
              <a:t>The idea that…</a:t>
            </a:r>
          </a:p>
          <a:p>
            <a:r>
              <a:rPr lang="en-AU" sz="2600" dirty="0"/>
              <a:t>The cyclical nature of the class divide creates fear towards and alienation of individuals</a:t>
            </a:r>
          </a:p>
          <a:p>
            <a:r>
              <a:rPr lang="en-AU" sz="2600" dirty="0"/>
              <a:t>The shared value of belonging has the ability to transcend the class divide, if we let it</a:t>
            </a:r>
          </a:p>
          <a:p>
            <a:r>
              <a:rPr lang="en-AU" sz="2600" dirty="0"/>
              <a:t>The justice system is flawed as it does not promote rehabilitation </a:t>
            </a:r>
          </a:p>
          <a:p>
            <a:endParaRPr lang="en-AU" sz="2600" dirty="0"/>
          </a:p>
          <a:p>
            <a:pPr marL="0" indent="0">
              <a:buNone/>
            </a:pPr>
            <a:r>
              <a:rPr lang="en-AU" sz="2600" dirty="0"/>
              <a:t>What are some others? </a:t>
            </a:r>
          </a:p>
        </p:txBody>
      </p:sp>
    </p:spTree>
    <p:extLst>
      <p:ext uri="{BB962C8B-B14F-4D97-AF65-F5344CB8AC3E}">
        <p14:creationId xmlns:p14="http://schemas.microsoft.com/office/powerpoint/2010/main" val="645690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E6532-51E5-4A66-9583-4B97AE7F66AA}"/>
              </a:ext>
            </a:extLst>
          </p:cNvPr>
          <p:cNvSpPr>
            <a:spLocks noGrp="1"/>
          </p:cNvSpPr>
          <p:nvPr>
            <p:ph type="title"/>
          </p:nvPr>
        </p:nvSpPr>
        <p:spPr/>
        <p:txBody>
          <a:bodyPr/>
          <a:lstStyle/>
          <a:p>
            <a:r>
              <a:rPr lang="en-AU" dirty="0"/>
              <a:t>Genre</a:t>
            </a:r>
          </a:p>
        </p:txBody>
      </p:sp>
      <p:sp>
        <p:nvSpPr>
          <p:cNvPr id="3" name="Content Placeholder 2">
            <a:extLst>
              <a:ext uri="{FF2B5EF4-FFF2-40B4-BE49-F238E27FC236}">
                <a16:creationId xmlns:a16="http://schemas.microsoft.com/office/drawing/2014/main" id="{A833261D-CF1B-4242-A535-8E959627D426}"/>
              </a:ext>
            </a:extLst>
          </p:cNvPr>
          <p:cNvSpPr>
            <a:spLocks noGrp="1"/>
          </p:cNvSpPr>
          <p:nvPr>
            <p:ph idx="1"/>
          </p:nvPr>
        </p:nvSpPr>
        <p:spPr>
          <a:xfrm>
            <a:off x="271463" y="1617785"/>
            <a:ext cx="11475059" cy="4825218"/>
          </a:xfrm>
        </p:spPr>
        <p:txBody>
          <a:bodyPr>
            <a:normAutofit fontScale="85000" lnSpcReduction="20000"/>
          </a:bodyPr>
          <a:lstStyle/>
          <a:p>
            <a:pPr marL="0" indent="0">
              <a:buNone/>
            </a:pPr>
            <a:r>
              <a:rPr lang="en-AU" sz="2800" b="1" dirty="0"/>
              <a:t>Psychological Thriller: </a:t>
            </a:r>
          </a:p>
          <a:p>
            <a:pPr>
              <a:buFont typeface="Arial" panose="020B0604020202020204" pitchFamily="34" charset="0"/>
              <a:buChar char="•"/>
            </a:pPr>
            <a:r>
              <a:rPr lang="en-US" sz="2800" dirty="0"/>
              <a:t>Focus on story, character development, choice, and moral conflict; fear and anxiety drive the psychological tension in unpredictable ways. Psychological thrillers are suspenseful by exploiting uncertainty over characters' motives, honesty, and how they see the world. Texts can also cause discomfort in audiences by privileging them with information they wish to share with the characters; guilty characters may suffer similar distress by virtue of their knowledge.</a:t>
            </a:r>
          </a:p>
          <a:p>
            <a:pPr marL="0" indent="0">
              <a:buNone/>
            </a:pPr>
            <a:r>
              <a:rPr lang="en-AU" sz="2800" i="1" dirty="0"/>
              <a:t>What aspects of the play are characteristic of a Psychological Thriller? What aspects are not?</a:t>
            </a:r>
          </a:p>
          <a:p>
            <a:pPr marL="0" indent="0">
              <a:buNone/>
            </a:pPr>
            <a:endParaRPr lang="en-AU" sz="2800" dirty="0"/>
          </a:p>
          <a:p>
            <a:pPr marL="0" indent="0">
              <a:buNone/>
            </a:pPr>
            <a:r>
              <a:rPr lang="en-AU" sz="2800" b="1" dirty="0"/>
              <a:t>Social Realism:</a:t>
            </a:r>
          </a:p>
          <a:p>
            <a:pPr>
              <a:buFont typeface="Arial" panose="020B0604020202020204" pitchFamily="34" charset="0"/>
              <a:buChar char="•"/>
            </a:pPr>
            <a:r>
              <a:rPr lang="en-US" sz="2800" dirty="0"/>
              <a:t>Draws attention to the everyday conditions of the working class and the poor; social realists are critical of the social structures which maintain these conditions. While the movement's characteristics vary from nation to nation, it almost always utilizes a form of descriptive or critical realism.</a:t>
            </a:r>
          </a:p>
          <a:p>
            <a:endParaRPr lang="en-AU" dirty="0"/>
          </a:p>
          <a:p>
            <a:endParaRPr lang="en-AU" dirty="0"/>
          </a:p>
        </p:txBody>
      </p:sp>
    </p:spTree>
    <p:extLst>
      <p:ext uri="{BB962C8B-B14F-4D97-AF65-F5344CB8AC3E}">
        <p14:creationId xmlns:p14="http://schemas.microsoft.com/office/powerpoint/2010/main" val="395609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7F7C2-40A6-470F-B6A5-FFC0F16FC21B}"/>
              </a:ext>
            </a:extLst>
          </p:cNvPr>
          <p:cNvSpPr>
            <a:spLocks noGrp="1"/>
          </p:cNvSpPr>
          <p:nvPr>
            <p:ph type="title"/>
          </p:nvPr>
        </p:nvSpPr>
        <p:spPr/>
        <p:txBody>
          <a:bodyPr/>
          <a:lstStyle/>
          <a:p>
            <a:r>
              <a:rPr lang="en-AU" dirty="0"/>
              <a:t>Construction (Dramatic Conventions + Language Features)</a:t>
            </a:r>
          </a:p>
        </p:txBody>
      </p:sp>
      <p:sp>
        <p:nvSpPr>
          <p:cNvPr id="3" name="Content Placeholder 2">
            <a:extLst>
              <a:ext uri="{FF2B5EF4-FFF2-40B4-BE49-F238E27FC236}">
                <a16:creationId xmlns:a16="http://schemas.microsoft.com/office/drawing/2014/main" id="{3698797E-59B8-4F2C-AE49-CEBD3AD108A2}"/>
              </a:ext>
            </a:extLst>
          </p:cNvPr>
          <p:cNvSpPr>
            <a:spLocks noGrp="1"/>
          </p:cNvSpPr>
          <p:nvPr>
            <p:ph idx="1"/>
          </p:nvPr>
        </p:nvSpPr>
        <p:spPr>
          <a:xfrm>
            <a:off x="1219200" y="2035629"/>
            <a:ext cx="10384971" cy="4822371"/>
          </a:xfrm>
        </p:spPr>
        <p:txBody>
          <a:bodyPr numCol="2">
            <a:normAutofit/>
          </a:bodyPr>
          <a:lstStyle/>
          <a:p>
            <a:pPr marL="0" indent="0">
              <a:buNone/>
            </a:pPr>
            <a:r>
              <a:rPr lang="en-AU" sz="2500" b="1" dirty="0"/>
              <a:t>Dramatic Conventions: </a:t>
            </a:r>
            <a:endParaRPr lang="en-AU" sz="2500" dirty="0"/>
          </a:p>
          <a:p>
            <a:pPr>
              <a:buFont typeface="Arial" panose="020B0604020202020204" pitchFamily="34" charset="0"/>
              <a:buChar char="•"/>
            </a:pPr>
            <a:r>
              <a:rPr lang="en-AU" sz="2500" dirty="0"/>
              <a:t>Structure</a:t>
            </a:r>
          </a:p>
          <a:p>
            <a:pPr>
              <a:buFont typeface="Arial" panose="020B0604020202020204" pitchFamily="34" charset="0"/>
              <a:buChar char="•"/>
            </a:pPr>
            <a:r>
              <a:rPr lang="en-AU" sz="2500" dirty="0"/>
              <a:t>Conflict</a:t>
            </a:r>
          </a:p>
          <a:p>
            <a:pPr>
              <a:buFont typeface="Arial" panose="020B0604020202020204" pitchFamily="34" charset="0"/>
              <a:buChar char="•"/>
            </a:pPr>
            <a:r>
              <a:rPr lang="en-AU" sz="2500" dirty="0"/>
              <a:t>Dialogue</a:t>
            </a:r>
          </a:p>
          <a:p>
            <a:pPr>
              <a:buFont typeface="Arial" panose="020B0604020202020204" pitchFamily="34" charset="0"/>
              <a:buChar char="•"/>
            </a:pPr>
            <a:r>
              <a:rPr lang="en-AU" sz="2500" dirty="0"/>
              <a:t>Characterisation</a:t>
            </a:r>
          </a:p>
          <a:p>
            <a:pPr>
              <a:buFont typeface="Arial" panose="020B0604020202020204" pitchFamily="34" charset="0"/>
              <a:buChar char="•"/>
            </a:pPr>
            <a:r>
              <a:rPr lang="en-AU" sz="2500" dirty="0"/>
              <a:t>Stage directions</a:t>
            </a:r>
          </a:p>
          <a:p>
            <a:pPr>
              <a:buFont typeface="Arial" panose="020B0604020202020204" pitchFamily="34" charset="0"/>
              <a:buChar char="•"/>
            </a:pPr>
            <a:r>
              <a:rPr lang="en-AU" sz="2500" dirty="0"/>
              <a:t>Music </a:t>
            </a:r>
          </a:p>
          <a:p>
            <a:pPr>
              <a:buFont typeface="Arial" panose="020B0604020202020204" pitchFamily="34" charset="0"/>
              <a:buChar char="•"/>
            </a:pPr>
            <a:r>
              <a:rPr lang="en-AU" sz="2500" dirty="0"/>
              <a:t>Lighting </a:t>
            </a:r>
          </a:p>
          <a:p>
            <a:pPr>
              <a:buFont typeface="Arial" panose="020B0604020202020204" pitchFamily="34" charset="0"/>
              <a:buChar char="•"/>
            </a:pPr>
            <a:r>
              <a:rPr lang="en-AU" sz="2500" dirty="0"/>
              <a:t>Setting </a:t>
            </a:r>
          </a:p>
          <a:p>
            <a:pPr marL="0" indent="0">
              <a:buNone/>
            </a:pPr>
            <a:endParaRPr lang="en-AU" sz="2500" dirty="0"/>
          </a:p>
          <a:p>
            <a:pPr marL="0" indent="0">
              <a:buNone/>
            </a:pPr>
            <a:r>
              <a:rPr lang="en-AU" sz="2500" b="1" dirty="0"/>
              <a:t>Language Features: </a:t>
            </a:r>
          </a:p>
          <a:p>
            <a:pPr>
              <a:buFont typeface="Arial" panose="020B0604020202020204" pitchFamily="34" charset="0"/>
              <a:buChar char="•"/>
            </a:pPr>
            <a:r>
              <a:rPr lang="en-AU" sz="2500" dirty="0"/>
              <a:t>Colloquialism</a:t>
            </a:r>
          </a:p>
          <a:p>
            <a:pPr>
              <a:buFont typeface="Arial" panose="020B0604020202020204" pitchFamily="34" charset="0"/>
              <a:buChar char="•"/>
            </a:pPr>
            <a:r>
              <a:rPr lang="en-AU" sz="2500" dirty="0"/>
              <a:t>Profanity</a:t>
            </a:r>
          </a:p>
          <a:p>
            <a:pPr>
              <a:buFont typeface="Arial" panose="020B0604020202020204" pitchFamily="34" charset="0"/>
              <a:buChar char="•"/>
            </a:pPr>
            <a:r>
              <a:rPr lang="en-AU" sz="2500" dirty="0"/>
              <a:t>Cultural allusions</a:t>
            </a:r>
          </a:p>
          <a:p>
            <a:pPr>
              <a:buFont typeface="Arial" panose="020B0604020202020204" pitchFamily="34" charset="0"/>
              <a:buChar char="•"/>
            </a:pPr>
            <a:r>
              <a:rPr lang="en-AU" sz="2500" dirty="0"/>
              <a:t>Syntax</a:t>
            </a:r>
          </a:p>
          <a:p>
            <a:pPr>
              <a:buFont typeface="Arial" panose="020B0604020202020204" pitchFamily="34" charset="0"/>
              <a:buChar char="•"/>
            </a:pPr>
            <a:r>
              <a:rPr lang="en-AU" sz="2500" dirty="0"/>
              <a:t>Metaphors</a:t>
            </a:r>
          </a:p>
          <a:p>
            <a:pPr>
              <a:buFont typeface="Arial" panose="020B0604020202020204" pitchFamily="34" charset="0"/>
              <a:buChar char="•"/>
            </a:pPr>
            <a:r>
              <a:rPr lang="en-AU" sz="2500" dirty="0"/>
              <a:t>Personification </a:t>
            </a:r>
          </a:p>
        </p:txBody>
      </p:sp>
    </p:spTree>
    <p:extLst>
      <p:ext uri="{BB962C8B-B14F-4D97-AF65-F5344CB8AC3E}">
        <p14:creationId xmlns:p14="http://schemas.microsoft.com/office/powerpoint/2010/main" val="1900519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67512-2D6C-4426-9F7C-1282FC0EA51E}"/>
              </a:ext>
            </a:extLst>
          </p:cNvPr>
          <p:cNvSpPr>
            <a:spLocks noGrp="1"/>
          </p:cNvSpPr>
          <p:nvPr>
            <p:ph type="title"/>
          </p:nvPr>
        </p:nvSpPr>
        <p:spPr/>
        <p:txBody>
          <a:bodyPr/>
          <a:lstStyle/>
          <a:p>
            <a:r>
              <a:rPr lang="en-AU" dirty="0"/>
              <a:t>Our Response</a:t>
            </a:r>
          </a:p>
        </p:txBody>
      </p:sp>
      <p:sp>
        <p:nvSpPr>
          <p:cNvPr id="3" name="Content Placeholder 2">
            <a:extLst>
              <a:ext uri="{FF2B5EF4-FFF2-40B4-BE49-F238E27FC236}">
                <a16:creationId xmlns:a16="http://schemas.microsoft.com/office/drawing/2014/main" id="{71D0D2C0-5CEA-4BD5-8D97-83522DAB8036}"/>
              </a:ext>
            </a:extLst>
          </p:cNvPr>
          <p:cNvSpPr>
            <a:spLocks noGrp="1"/>
          </p:cNvSpPr>
          <p:nvPr>
            <p:ph idx="1"/>
          </p:nvPr>
        </p:nvSpPr>
        <p:spPr>
          <a:xfrm>
            <a:off x="1371600" y="1688123"/>
            <a:ext cx="10318652" cy="4923692"/>
          </a:xfrm>
        </p:spPr>
        <p:txBody>
          <a:bodyPr>
            <a:noAutofit/>
          </a:bodyPr>
          <a:lstStyle/>
          <a:p>
            <a:pPr marL="0" indent="0">
              <a:buNone/>
            </a:pPr>
            <a:r>
              <a:rPr lang="en-AU" sz="2400" dirty="0"/>
              <a:t>How do you feel about the characters and issues after reading the text? </a:t>
            </a:r>
          </a:p>
          <a:p>
            <a:pPr marL="0" indent="0">
              <a:buNone/>
            </a:pPr>
            <a:r>
              <a:rPr lang="en-AU" sz="2400" dirty="0">
                <a:sym typeface="Wingdings" panose="05000000000000000000" pitchFamily="2" charset="2"/>
              </a:rPr>
              <a:t> In Steve’s initial interaction with Lisa, I felt fear for her, and anger at Steve, who seemed to be purposefully making someone quite vulnerable anxious.</a:t>
            </a:r>
            <a:endParaRPr lang="en-AU" sz="2400" dirty="0"/>
          </a:p>
          <a:p>
            <a:pPr marL="0" indent="0">
              <a:buNone/>
            </a:pPr>
            <a:r>
              <a:rPr lang="en-AU" sz="2400" dirty="0">
                <a:sym typeface="Wingdings" panose="05000000000000000000" pitchFamily="2" charset="2"/>
              </a:rPr>
              <a:t> H</a:t>
            </a:r>
            <a:r>
              <a:rPr lang="en-AU" sz="2400" dirty="0"/>
              <a:t>owever, towards the end I feel a sense of injustice for Steve, whose intelligence and need to belong has been overridden by a flawed justice system and judgement from society</a:t>
            </a:r>
          </a:p>
          <a:p>
            <a:pPr>
              <a:buFont typeface="Wingdings" panose="05000000000000000000" pitchFamily="2" charset="2"/>
              <a:buChar char="à"/>
            </a:pPr>
            <a:r>
              <a:rPr lang="en-AU" sz="2400" dirty="0">
                <a:sym typeface="Wingdings" panose="05000000000000000000" pitchFamily="2" charset="2"/>
              </a:rPr>
              <a:t>I also feel sympathetic towards the writer, who is trying to gain power after losing the brother he knew, and is seeking justice </a:t>
            </a:r>
          </a:p>
          <a:p>
            <a:pPr>
              <a:buFont typeface="Wingdings" panose="05000000000000000000" pitchFamily="2" charset="2"/>
              <a:buChar char="à"/>
            </a:pPr>
            <a:endParaRPr lang="en-AU" sz="2400" dirty="0">
              <a:sym typeface="Wingdings" panose="05000000000000000000" pitchFamily="2" charset="2"/>
            </a:endParaRPr>
          </a:p>
          <a:p>
            <a:pPr marL="0" indent="0">
              <a:buNone/>
            </a:pPr>
            <a:r>
              <a:rPr lang="en-AU" sz="2400" dirty="0"/>
              <a:t>How do you feel? What do you think?</a:t>
            </a:r>
          </a:p>
        </p:txBody>
      </p:sp>
    </p:spTree>
    <p:extLst>
      <p:ext uri="{BB962C8B-B14F-4D97-AF65-F5344CB8AC3E}">
        <p14:creationId xmlns:p14="http://schemas.microsoft.com/office/powerpoint/2010/main" val="1543495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EEF5-C137-46D3-ACB8-D824DF4EFC2A}"/>
              </a:ext>
            </a:extLst>
          </p:cNvPr>
          <p:cNvSpPr>
            <a:spLocks noGrp="1"/>
          </p:cNvSpPr>
          <p:nvPr>
            <p:ph type="title"/>
          </p:nvPr>
        </p:nvSpPr>
        <p:spPr/>
        <p:txBody>
          <a:bodyPr/>
          <a:lstStyle/>
          <a:p>
            <a:r>
              <a:rPr lang="en-AU" dirty="0"/>
              <a:t>Key Quotes</a:t>
            </a:r>
          </a:p>
        </p:txBody>
      </p:sp>
      <p:sp>
        <p:nvSpPr>
          <p:cNvPr id="3" name="Content Placeholder 2">
            <a:extLst>
              <a:ext uri="{FF2B5EF4-FFF2-40B4-BE49-F238E27FC236}">
                <a16:creationId xmlns:a16="http://schemas.microsoft.com/office/drawing/2014/main" id="{393B44B8-C1F1-4D9F-9726-37B6AEC60BCA}"/>
              </a:ext>
            </a:extLst>
          </p:cNvPr>
          <p:cNvSpPr>
            <a:spLocks noGrp="1"/>
          </p:cNvSpPr>
          <p:nvPr>
            <p:ph idx="1"/>
          </p:nvPr>
        </p:nvSpPr>
        <p:spPr>
          <a:xfrm>
            <a:off x="1371599" y="1716258"/>
            <a:ext cx="10459329" cy="4614204"/>
          </a:xfrm>
        </p:spPr>
        <p:txBody>
          <a:bodyPr>
            <a:normAutofit fontScale="62500" lnSpcReduction="20000"/>
          </a:bodyPr>
          <a:lstStyle/>
          <a:p>
            <a:pPr marL="0" indent="0">
              <a:buNone/>
            </a:pPr>
            <a:r>
              <a:rPr lang="en-US" sz="4000" dirty="0"/>
              <a:t>“Who are my people? Do I have people?” </a:t>
            </a:r>
          </a:p>
          <a:p>
            <a:pPr marL="0" indent="0">
              <a:buNone/>
            </a:pPr>
            <a:r>
              <a:rPr lang="en-US" sz="4000" dirty="0"/>
              <a:t>“I’m starting to see you as the voice of a very misunderstood section of our society. ..There’s a million of me getting around, mate. And they’ll tell </a:t>
            </a:r>
            <a:r>
              <a:rPr lang="en-US" sz="4000" dirty="0" err="1"/>
              <a:t>ya</a:t>
            </a:r>
            <a:r>
              <a:rPr lang="en-US" sz="4000" dirty="0"/>
              <a:t> that had a tough life.” </a:t>
            </a:r>
          </a:p>
          <a:p>
            <a:pPr marL="0" indent="0">
              <a:buNone/>
            </a:pPr>
            <a:r>
              <a:rPr lang="en-US" sz="4000" dirty="0"/>
              <a:t>“He loved me. And he needed me. Just like you do. Like </a:t>
            </a:r>
            <a:r>
              <a:rPr lang="en-US" sz="4000" dirty="0" err="1"/>
              <a:t>ya</a:t>
            </a:r>
            <a:r>
              <a:rPr lang="en-US" sz="4000" dirty="0"/>
              <a:t> all do. </a:t>
            </a:r>
            <a:r>
              <a:rPr lang="en-US" sz="4000" dirty="0" err="1"/>
              <a:t>‘Cause</a:t>
            </a:r>
            <a:r>
              <a:rPr lang="en-US" sz="4000" dirty="0"/>
              <a:t> I make you know how lucky and empty your lives are. Put that in your play.”</a:t>
            </a:r>
          </a:p>
          <a:p>
            <a:pPr marL="0" indent="0">
              <a:buNone/>
            </a:pPr>
            <a:r>
              <a:rPr lang="en-US" sz="4000" dirty="0"/>
              <a:t>“They’re not songs. They’re orchestral pieces. This is Beethoven. ‘Moonlight Sonata. They’re movements.”</a:t>
            </a:r>
          </a:p>
          <a:p>
            <a:pPr marL="0" indent="0">
              <a:buNone/>
            </a:pPr>
            <a:r>
              <a:rPr lang="en-US" sz="4000" dirty="0"/>
              <a:t>“Red sleeves. He’s an Apache war chief… He defended his people..” </a:t>
            </a:r>
          </a:p>
          <a:p>
            <a:pPr marL="0" indent="0">
              <a:buNone/>
            </a:pPr>
            <a:r>
              <a:rPr lang="en-US" sz="4000" dirty="0"/>
              <a:t>“I.. </a:t>
            </a:r>
            <a:r>
              <a:rPr lang="en-US" sz="4000" dirty="0" err="1"/>
              <a:t>Wanna</a:t>
            </a:r>
            <a:r>
              <a:rPr lang="en-US" sz="4000" dirty="0"/>
              <a:t> get your number. Let’s go out to dinner… Do </a:t>
            </a:r>
            <a:r>
              <a:rPr lang="en-US" sz="4000" dirty="0" err="1"/>
              <a:t>ya</a:t>
            </a:r>
            <a:r>
              <a:rPr lang="en-US" sz="4000" dirty="0"/>
              <a:t> </a:t>
            </a:r>
            <a:r>
              <a:rPr lang="en-US" sz="4000" dirty="0" err="1"/>
              <a:t>wanna</a:t>
            </a:r>
            <a:r>
              <a:rPr lang="en-US" sz="4000" dirty="0"/>
              <a:t> go for a walk along the beach at sunset? Don’t laugh at me, I’m serious.” </a:t>
            </a:r>
          </a:p>
          <a:p>
            <a:pPr marL="0" indent="0">
              <a:buNone/>
            </a:pPr>
            <a:r>
              <a:rPr lang="en-US" sz="4000" dirty="0"/>
              <a:t>“Well, that mugger has a story to tell as well” [“I’m sorry, I’m not interested in hearing it.”] ”Then on and on it goes.” </a:t>
            </a:r>
          </a:p>
        </p:txBody>
      </p:sp>
    </p:spTree>
    <p:extLst>
      <p:ext uri="{BB962C8B-B14F-4D97-AF65-F5344CB8AC3E}">
        <p14:creationId xmlns:p14="http://schemas.microsoft.com/office/powerpoint/2010/main" val="1173136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44952-E468-442C-A4F7-5358B1D979FA}"/>
              </a:ext>
            </a:extLst>
          </p:cNvPr>
          <p:cNvSpPr>
            <a:spLocks noGrp="1"/>
          </p:cNvSpPr>
          <p:nvPr>
            <p:ph type="title"/>
          </p:nvPr>
        </p:nvSpPr>
        <p:spPr/>
        <p:txBody>
          <a:bodyPr/>
          <a:lstStyle/>
          <a:p>
            <a:r>
              <a:rPr lang="en-AU" u="sng" dirty="0"/>
              <a:t>The Golden Age</a:t>
            </a:r>
          </a:p>
        </p:txBody>
      </p:sp>
      <p:sp>
        <p:nvSpPr>
          <p:cNvPr id="3" name="Content Placeholder 2">
            <a:extLst>
              <a:ext uri="{FF2B5EF4-FFF2-40B4-BE49-F238E27FC236}">
                <a16:creationId xmlns:a16="http://schemas.microsoft.com/office/drawing/2014/main" id="{6247ECF6-2DD3-4057-99AC-B35FC7DE4516}"/>
              </a:ext>
            </a:extLst>
          </p:cNvPr>
          <p:cNvSpPr>
            <a:spLocks noGrp="1"/>
          </p:cNvSpPr>
          <p:nvPr>
            <p:ph idx="1"/>
          </p:nvPr>
        </p:nvSpPr>
        <p:spPr/>
        <p:txBody>
          <a:bodyPr>
            <a:normAutofit/>
          </a:bodyPr>
          <a:lstStyle/>
          <a:p>
            <a:pPr marL="0" indent="0">
              <a:buNone/>
            </a:pPr>
            <a:r>
              <a:rPr lang="en-AU" sz="2600" dirty="0"/>
              <a:t>Key Facts</a:t>
            </a:r>
          </a:p>
          <a:p>
            <a:pPr marL="0" indent="0">
              <a:buNone/>
            </a:pPr>
            <a:r>
              <a:rPr lang="en-AU" sz="2600" dirty="0"/>
              <a:t>Written by: Joan London</a:t>
            </a:r>
          </a:p>
          <a:p>
            <a:pPr marL="0" indent="0">
              <a:buNone/>
            </a:pPr>
            <a:r>
              <a:rPr lang="en-AU" sz="2600" dirty="0"/>
              <a:t>Published in: 2014</a:t>
            </a:r>
          </a:p>
          <a:p>
            <a:pPr marL="0" indent="0">
              <a:buNone/>
            </a:pPr>
            <a:r>
              <a:rPr lang="en-AU" sz="2600" dirty="0"/>
              <a:t>Genre: Novel, Historical Fiction, Bildungsroman</a:t>
            </a:r>
          </a:p>
        </p:txBody>
      </p:sp>
    </p:spTree>
    <p:extLst>
      <p:ext uri="{BB962C8B-B14F-4D97-AF65-F5344CB8AC3E}">
        <p14:creationId xmlns:p14="http://schemas.microsoft.com/office/powerpoint/2010/main" val="3854484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B675-C3BC-40D7-BBFE-C7A03D3C46C2}"/>
              </a:ext>
            </a:extLst>
          </p:cNvPr>
          <p:cNvSpPr>
            <a:spLocks noGrp="1"/>
          </p:cNvSpPr>
          <p:nvPr>
            <p:ph type="title"/>
          </p:nvPr>
        </p:nvSpPr>
        <p:spPr/>
        <p:txBody>
          <a:bodyPr/>
          <a:lstStyle/>
          <a:p>
            <a:r>
              <a:rPr lang="en-AU" dirty="0"/>
              <a:t>Issues</a:t>
            </a:r>
          </a:p>
        </p:txBody>
      </p:sp>
      <p:sp>
        <p:nvSpPr>
          <p:cNvPr id="3" name="Content Placeholder 2">
            <a:extLst>
              <a:ext uri="{FF2B5EF4-FFF2-40B4-BE49-F238E27FC236}">
                <a16:creationId xmlns:a16="http://schemas.microsoft.com/office/drawing/2014/main" id="{CAA987E0-128C-4699-9ED7-3D92A9AD4DCD}"/>
              </a:ext>
            </a:extLst>
          </p:cNvPr>
          <p:cNvSpPr>
            <a:spLocks noGrp="1"/>
          </p:cNvSpPr>
          <p:nvPr>
            <p:ph idx="1"/>
          </p:nvPr>
        </p:nvSpPr>
        <p:spPr>
          <a:xfrm>
            <a:off x="1371600" y="1800665"/>
            <a:ext cx="9601200" cy="4529797"/>
          </a:xfrm>
        </p:spPr>
        <p:txBody>
          <a:bodyPr>
            <a:normAutofit/>
          </a:bodyPr>
          <a:lstStyle/>
          <a:p>
            <a:r>
              <a:rPr lang="en-AU" sz="2600" dirty="0"/>
              <a:t>Disability</a:t>
            </a:r>
          </a:p>
          <a:p>
            <a:r>
              <a:rPr lang="en-AU" sz="2600" dirty="0"/>
              <a:t>Immigration</a:t>
            </a:r>
          </a:p>
          <a:p>
            <a:r>
              <a:rPr lang="en-AU" sz="2600" dirty="0"/>
              <a:t>Loneliness</a:t>
            </a:r>
          </a:p>
          <a:p>
            <a:r>
              <a:rPr lang="en-AU" sz="2600" dirty="0"/>
              <a:t>Identity</a:t>
            </a:r>
          </a:p>
          <a:p>
            <a:r>
              <a:rPr lang="en-AU" sz="2600" dirty="0"/>
              <a:t>Sense of belonging</a:t>
            </a:r>
          </a:p>
          <a:p>
            <a:r>
              <a:rPr lang="en-AU" sz="2600" dirty="0"/>
              <a:t>Survival</a:t>
            </a:r>
          </a:p>
          <a:p>
            <a:r>
              <a:rPr lang="en-AU" sz="2600" dirty="0"/>
              <a:t>Solitude</a:t>
            </a:r>
          </a:p>
          <a:p>
            <a:r>
              <a:rPr lang="en-AU" sz="2600" dirty="0"/>
              <a:t>Creativity </a:t>
            </a:r>
          </a:p>
          <a:p>
            <a:endParaRPr lang="en-AU" dirty="0"/>
          </a:p>
        </p:txBody>
      </p:sp>
    </p:spTree>
    <p:extLst>
      <p:ext uri="{BB962C8B-B14F-4D97-AF65-F5344CB8AC3E}">
        <p14:creationId xmlns:p14="http://schemas.microsoft.com/office/powerpoint/2010/main" val="3639448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7DE70-A6FE-4117-B3C7-2F1B6BC0908F}"/>
              </a:ext>
            </a:extLst>
          </p:cNvPr>
          <p:cNvSpPr>
            <a:spLocks noGrp="1"/>
          </p:cNvSpPr>
          <p:nvPr>
            <p:ph type="title"/>
          </p:nvPr>
        </p:nvSpPr>
        <p:spPr/>
        <p:txBody>
          <a:bodyPr/>
          <a:lstStyle/>
          <a:p>
            <a:r>
              <a:rPr lang="en-AU" dirty="0"/>
              <a:t>Ideas</a:t>
            </a:r>
          </a:p>
        </p:txBody>
      </p:sp>
      <p:sp>
        <p:nvSpPr>
          <p:cNvPr id="3" name="Content Placeholder 2">
            <a:extLst>
              <a:ext uri="{FF2B5EF4-FFF2-40B4-BE49-F238E27FC236}">
                <a16:creationId xmlns:a16="http://schemas.microsoft.com/office/drawing/2014/main" id="{6ADB3BE0-3CE8-45CA-839C-06F67FC9A9D6}"/>
              </a:ext>
            </a:extLst>
          </p:cNvPr>
          <p:cNvSpPr>
            <a:spLocks noGrp="1"/>
          </p:cNvSpPr>
          <p:nvPr>
            <p:ph idx="1"/>
          </p:nvPr>
        </p:nvSpPr>
        <p:spPr>
          <a:xfrm>
            <a:off x="400050" y="1519311"/>
            <a:ext cx="11388676" cy="5064369"/>
          </a:xfrm>
        </p:spPr>
        <p:txBody>
          <a:bodyPr>
            <a:noAutofit/>
          </a:bodyPr>
          <a:lstStyle/>
          <a:p>
            <a:pPr marL="0" indent="0">
              <a:buNone/>
            </a:pPr>
            <a:r>
              <a:rPr lang="en-US" sz="2400" i="1" dirty="0"/>
              <a:t>The idea that…</a:t>
            </a:r>
          </a:p>
          <a:p>
            <a:r>
              <a:rPr lang="en-US" sz="2400" dirty="0"/>
              <a:t>Disability and illness, while obviously a source of suffering and anguish, can also be a defining moment in peoples’ lives as they seek to find new meaning and purpose</a:t>
            </a:r>
          </a:p>
          <a:p>
            <a:r>
              <a:rPr lang="en-AU" sz="2400" dirty="0"/>
              <a:t>Cultural divide leads to feelings of alienation </a:t>
            </a:r>
          </a:p>
          <a:p>
            <a:r>
              <a:rPr lang="en-AU" sz="2400" dirty="0"/>
              <a:t>Suffering is an important human experience, because it allows us to more clearly experience happiness</a:t>
            </a:r>
          </a:p>
          <a:p>
            <a:r>
              <a:rPr lang="en-AU" sz="2400" dirty="0"/>
              <a:t>Freedom is an innate human desire</a:t>
            </a:r>
          </a:p>
          <a:p>
            <a:r>
              <a:rPr lang="en-AU" sz="2400" dirty="0"/>
              <a:t>Most people feel, from their perspective’ like ‘the other’; our experiences, personality, and identity will separate us from communities, yet it is these elements that allow us to bond and create strength. </a:t>
            </a:r>
          </a:p>
          <a:p>
            <a:pPr marL="0" indent="0">
              <a:buNone/>
            </a:pPr>
            <a:endParaRPr lang="en-AU" sz="2400" dirty="0"/>
          </a:p>
          <a:p>
            <a:pPr marL="0" indent="0">
              <a:buNone/>
            </a:pPr>
            <a:r>
              <a:rPr lang="en-AU" sz="2400" i="1" dirty="0"/>
              <a:t>What are some other ideas? </a:t>
            </a:r>
          </a:p>
        </p:txBody>
      </p:sp>
    </p:spTree>
    <p:extLst>
      <p:ext uri="{BB962C8B-B14F-4D97-AF65-F5344CB8AC3E}">
        <p14:creationId xmlns:p14="http://schemas.microsoft.com/office/powerpoint/2010/main" val="313386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2EECF-8FD9-4C4C-8C9C-1B69BF8B0886}"/>
              </a:ext>
            </a:extLst>
          </p:cNvPr>
          <p:cNvSpPr>
            <a:spLocks noGrp="1"/>
          </p:cNvSpPr>
          <p:nvPr>
            <p:ph type="title"/>
          </p:nvPr>
        </p:nvSpPr>
        <p:spPr/>
        <p:txBody>
          <a:bodyPr/>
          <a:lstStyle/>
          <a:p>
            <a:r>
              <a:rPr lang="en-AU" dirty="0"/>
              <a:t>Construction</a:t>
            </a:r>
          </a:p>
        </p:txBody>
      </p:sp>
      <p:sp>
        <p:nvSpPr>
          <p:cNvPr id="3" name="Content Placeholder 2">
            <a:extLst>
              <a:ext uri="{FF2B5EF4-FFF2-40B4-BE49-F238E27FC236}">
                <a16:creationId xmlns:a16="http://schemas.microsoft.com/office/drawing/2014/main" id="{4A3B2E25-6FF0-4A50-A43E-03EB0C429B7E}"/>
              </a:ext>
            </a:extLst>
          </p:cNvPr>
          <p:cNvSpPr>
            <a:spLocks noGrp="1"/>
          </p:cNvSpPr>
          <p:nvPr>
            <p:ph idx="1"/>
          </p:nvPr>
        </p:nvSpPr>
        <p:spPr>
          <a:xfrm>
            <a:off x="838200" y="1392702"/>
            <a:ext cx="11049000" cy="4474698"/>
          </a:xfrm>
        </p:spPr>
        <p:txBody>
          <a:bodyPr>
            <a:noAutofit/>
          </a:bodyPr>
          <a:lstStyle/>
          <a:p>
            <a:r>
              <a:rPr lang="en-US" sz="2200" dirty="0"/>
              <a:t>Style: lyrical prose that </a:t>
            </a:r>
            <a:r>
              <a:rPr lang="en-US" sz="2200" dirty="0" err="1"/>
              <a:t>interwines</a:t>
            </a:r>
            <a:r>
              <a:rPr lang="en-US" sz="2200" dirty="0"/>
              <a:t> depressing and bleak experiences with stories of love, optimism and hope</a:t>
            </a:r>
          </a:p>
          <a:p>
            <a:r>
              <a:rPr lang="en-US" sz="2200" dirty="0"/>
              <a:t>Free indirect discourse: an external narrator whose voice is shaped by the character each chapter focuses on – snapshots of a variety of characters are used to build a larger story. </a:t>
            </a:r>
          </a:p>
          <a:p>
            <a:r>
              <a:rPr lang="en-US" sz="2200" dirty="0"/>
              <a:t>Symbolism – birds are used to symbolize desire of freedom, light is used to contrast darkness as a way of exploring feelings towards life and death, music is symbolic of life and freedom</a:t>
            </a:r>
          </a:p>
          <a:p>
            <a:r>
              <a:rPr lang="en-US" sz="2200" dirty="0"/>
              <a:t>Poetry: poetry is a artistic expression of Frank and Sullivan, who capture their longings, desires, and reflections through this creative expression</a:t>
            </a:r>
          </a:p>
          <a:p>
            <a:r>
              <a:rPr lang="en-US" sz="2200" dirty="0"/>
              <a:t>Setting: constant contrast between the outside and inside, as well as Perth and Australia </a:t>
            </a:r>
          </a:p>
          <a:p>
            <a:r>
              <a:rPr lang="en-US" sz="2200" dirty="0"/>
              <a:t>vivid imagery, symbolic motifs, shifting perspectives, human relationships, and relationships between people and landscapes</a:t>
            </a:r>
            <a:endParaRPr lang="en-AU" sz="2200" dirty="0"/>
          </a:p>
        </p:txBody>
      </p:sp>
    </p:spTree>
    <p:extLst>
      <p:ext uri="{BB962C8B-B14F-4D97-AF65-F5344CB8AC3E}">
        <p14:creationId xmlns:p14="http://schemas.microsoft.com/office/powerpoint/2010/main" val="3167914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337C2-3F64-4E7B-967F-62120E5A0487}"/>
              </a:ext>
            </a:extLst>
          </p:cNvPr>
          <p:cNvSpPr>
            <a:spLocks noGrp="1"/>
          </p:cNvSpPr>
          <p:nvPr>
            <p:ph type="title"/>
          </p:nvPr>
        </p:nvSpPr>
        <p:spPr/>
        <p:txBody>
          <a:bodyPr/>
          <a:lstStyle/>
          <a:p>
            <a:r>
              <a:rPr lang="en-AU" dirty="0"/>
              <a:t>Genre – Historical Fiction </a:t>
            </a:r>
          </a:p>
        </p:txBody>
      </p:sp>
      <p:sp>
        <p:nvSpPr>
          <p:cNvPr id="3" name="Content Placeholder 2">
            <a:extLst>
              <a:ext uri="{FF2B5EF4-FFF2-40B4-BE49-F238E27FC236}">
                <a16:creationId xmlns:a16="http://schemas.microsoft.com/office/drawing/2014/main" id="{19007BC3-8F92-4AF2-9650-74B34779F9AA}"/>
              </a:ext>
            </a:extLst>
          </p:cNvPr>
          <p:cNvSpPr>
            <a:spLocks noGrp="1"/>
          </p:cNvSpPr>
          <p:nvPr>
            <p:ph idx="1"/>
          </p:nvPr>
        </p:nvSpPr>
        <p:spPr>
          <a:xfrm>
            <a:off x="471489" y="1631851"/>
            <a:ext cx="11331306" cy="5036235"/>
          </a:xfrm>
        </p:spPr>
        <p:txBody>
          <a:bodyPr>
            <a:normAutofit fontScale="62500" lnSpcReduction="20000"/>
          </a:bodyPr>
          <a:lstStyle/>
          <a:p>
            <a:r>
              <a:rPr lang="en-AU" sz="3600" b="1" dirty="0"/>
              <a:t>Character</a:t>
            </a:r>
            <a:r>
              <a:rPr lang="en-AU" sz="3600" dirty="0"/>
              <a:t> – whether real or imagined, characters behave in keeping with the era they inhabit, even if they push the boundaries. Characters conform to the norms, attitudes, values, beliefs and expectations of their time and station in life. </a:t>
            </a:r>
            <a:endParaRPr lang="en-AU" sz="3600" b="1" dirty="0"/>
          </a:p>
          <a:p>
            <a:r>
              <a:rPr lang="en-AU" sz="3600" b="1" dirty="0"/>
              <a:t>Plot</a:t>
            </a:r>
            <a:r>
              <a:rPr lang="en-AU" sz="3600" dirty="0"/>
              <a:t> </a:t>
            </a:r>
            <a:r>
              <a:rPr lang="en-AU" sz="3600" b="1" dirty="0"/>
              <a:t>structure</a:t>
            </a:r>
            <a:r>
              <a:rPr lang="en-AU" sz="3600" dirty="0"/>
              <a:t> – the plot has to make sense for the time period. And plot will often be shaped around or by the historical events taking place at that time. </a:t>
            </a:r>
          </a:p>
          <a:p>
            <a:r>
              <a:rPr lang="en-AU" sz="3600" b="1" dirty="0"/>
              <a:t>Conflict </a:t>
            </a:r>
            <a:r>
              <a:rPr lang="en-AU" sz="3600" dirty="0"/>
              <a:t>must be realistic for the chosen time and place. Reasons for the conflicts are historically justifiable. </a:t>
            </a:r>
          </a:p>
          <a:p>
            <a:r>
              <a:rPr lang="en-US" sz="3600" b="1" dirty="0"/>
              <a:t>Setting</a:t>
            </a:r>
            <a:r>
              <a:rPr lang="en-US" sz="3600" dirty="0"/>
              <a:t> – a particular real location and historical period. </a:t>
            </a:r>
            <a:r>
              <a:rPr lang="en-AU" sz="3600" dirty="0"/>
              <a:t>Details of setting such as costume, food, furniture, housing, toiletries, entertainment, landscape, architecture, conveyances, sounds, smells, tastes, etc are historically accurate.</a:t>
            </a:r>
          </a:p>
          <a:p>
            <a:r>
              <a:rPr lang="en-AU" sz="3600" b="1" dirty="0"/>
              <a:t>Theme</a:t>
            </a:r>
            <a:r>
              <a:rPr lang="en-AU" sz="3600" dirty="0"/>
              <a:t> – most themes transcend history. And yet, theme must still </a:t>
            </a:r>
            <a:r>
              <a:rPr lang="en-AU" sz="3600" i="1" dirty="0"/>
              <a:t>be interpreted</a:t>
            </a:r>
            <a:r>
              <a:rPr lang="en-AU" sz="3600" dirty="0"/>
              <a:t> within the context of a novel’s time period.</a:t>
            </a:r>
          </a:p>
          <a:p>
            <a:r>
              <a:rPr lang="en-AU" sz="3600" b="1" dirty="0"/>
              <a:t>Style - </a:t>
            </a:r>
            <a:r>
              <a:rPr lang="en-AU" sz="3600" dirty="0"/>
              <a:t>events, dialogue, inner monologue, etc are historically accurate, but not all information is authentic. Characters and dialogue if fictional still fit the historical aspects. The story must be told with significant detail to place the reader/listener in the historical setting.</a:t>
            </a:r>
          </a:p>
          <a:p>
            <a:r>
              <a:rPr lang="en-AU" sz="3600" b="1" dirty="0"/>
              <a:t>Tone</a:t>
            </a:r>
            <a:r>
              <a:rPr lang="en-AU" sz="3600" dirty="0"/>
              <a:t> - reflects the values and spirit of the time and culture. </a:t>
            </a:r>
          </a:p>
          <a:p>
            <a:endParaRPr lang="en-US" dirty="0"/>
          </a:p>
          <a:p>
            <a:endParaRPr lang="en-AU" dirty="0"/>
          </a:p>
        </p:txBody>
      </p:sp>
    </p:spTree>
    <p:extLst>
      <p:ext uri="{BB962C8B-B14F-4D97-AF65-F5344CB8AC3E}">
        <p14:creationId xmlns:p14="http://schemas.microsoft.com/office/powerpoint/2010/main" val="472523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B768-9A7B-4E26-89B0-2F10C4B18D01}"/>
              </a:ext>
            </a:extLst>
          </p:cNvPr>
          <p:cNvSpPr>
            <a:spLocks noGrp="1"/>
          </p:cNvSpPr>
          <p:nvPr>
            <p:ph type="title"/>
          </p:nvPr>
        </p:nvSpPr>
        <p:spPr/>
        <p:txBody>
          <a:bodyPr/>
          <a:lstStyle/>
          <a:p>
            <a:r>
              <a:rPr lang="en-AU" dirty="0"/>
              <a:t>Purpose of Historical Fiction</a:t>
            </a:r>
          </a:p>
        </p:txBody>
      </p:sp>
      <p:sp>
        <p:nvSpPr>
          <p:cNvPr id="3" name="Content Placeholder 2">
            <a:extLst>
              <a:ext uri="{FF2B5EF4-FFF2-40B4-BE49-F238E27FC236}">
                <a16:creationId xmlns:a16="http://schemas.microsoft.com/office/drawing/2014/main" id="{BF493B66-523C-4C7D-BB71-CF630D32CFD0}"/>
              </a:ext>
            </a:extLst>
          </p:cNvPr>
          <p:cNvSpPr>
            <a:spLocks noGrp="1"/>
          </p:cNvSpPr>
          <p:nvPr>
            <p:ph idx="1"/>
          </p:nvPr>
        </p:nvSpPr>
        <p:spPr>
          <a:xfrm>
            <a:off x="838200" y="1744393"/>
            <a:ext cx="10950526" cy="4628271"/>
          </a:xfrm>
        </p:spPr>
        <p:txBody>
          <a:bodyPr>
            <a:normAutofit/>
          </a:bodyPr>
          <a:lstStyle/>
          <a:p>
            <a:r>
              <a:rPr lang="en-AU" sz="2200" b="1" dirty="0"/>
              <a:t>Purpose: </a:t>
            </a:r>
            <a:r>
              <a:rPr lang="en-AU" sz="2200" dirty="0"/>
              <a:t>the historical narrative encourages the reader to place themselves imaginatively within an historical context, to engage with the experiences and concerns of the people who lived in that time and place.</a:t>
            </a:r>
          </a:p>
          <a:p>
            <a:endParaRPr lang="en-AU" sz="2200" dirty="0"/>
          </a:p>
          <a:p>
            <a:r>
              <a:rPr lang="en-AU" sz="2200" b="1" dirty="0"/>
              <a:t>What is the ideological function of this genre?  </a:t>
            </a:r>
          </a:p>
          <a:p>
            <a:pPr lvl="1"/>
            <a:r>
              <a:rPr lang="en-AU" sz="2200" dirty="0"/>
              <a:t>To construct a reading of, an imaginative representation of the ideologies, values, attitudes of a society in a particular historical time and place? </a:t>
            </a:r>
          </a:p>
          <a:p>
            <a:pPr lvl="1"/>
            <a:r>
              <a:rPr lang="en-AU" sz="2200" dirty="0"/>
              <a:t>To look back on an historical time, place and society from the perspective of the context of production or the context of reception? </a:t>
            </a:r>
          </a:p>
          <a:p>
            <a:pPr lvl="1">
              <a:buFont typeface="Wingdings" pitchFamily="2" charset="2"/>
              <a:buChar char="v"/>
            </a:pPr>
            <a:r>
              <a:rPr lang="en-AU" sz="2200" dirty="0"/>
              <a:t>How is the historical representation constructed reflective of the values and attitudes of the context of production (</a:t>
            </a:r>
            <a:r>
              <a:rPr lang="en-AU" sz="2200" dirty="0" err="1"/>
              <a:t>ie</a:t>
            </a:r>
            <a:r>
              <a:rPr lang="en-AU" sz="2200" dirty="0"/>
              <a:t> 2014)?</a:t>
            </a:r>
          </a:p>
          <a:p>
            <a:endParaRPr lang="en-AU" dirty="0"/>
          </a:p>
        </p:txBody>
      </p:sp>
    </p:spTree>
    <p:extLst>
      <p:ext uri="{BB962C8B-B14F-4D97-AF65-F5344CB8AC3E}">
        <p14:creationId xmlns:p14="http://schemas.microsoft.com/office/powerpoint/2010/main" val="3494210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83051-13D2-4A18-9B38-2C7A7D377A0F}"/>
              </a:ext>
            </a:extLst>
          </p:cNvPr>
          <p:cNvSpPr>
            <a:spLocks noGrp="1"/>
          </p:cNvSpPr>
          <p:nvPr>
            <p:ph type="title"/>
          </p:nvPr>
        </p:nvSpPr>
        <p:spPr/>
        <p:txBody>
          <a:bodyPr/>
          <a:lstStyle/>
          <a:p>
            <a:r>
              <a:rPr lang="en-AU" dirty="0"/>
              <a:t>Bildungsroman</a:t>
            </a:r>
          </a:p>
        </p:txBody>
      </p:sp>
      <p:sp>
        <p:nvSpPr>
          <p:cNvPr id="3" name="Content Placeholder 2">
            <a:extLst>
              <a:ext uri="{FF2B5EF4-FFF2-40B4-BE49-F238E27FC236}">
                <a16:creationId xmlns:a16="http://schemas.microsoft.com/office/drawing/2014/main" id="{EA6022FD-137C-431A-BA5C-492FB276E82C}"/>
              </a:ext>
            </a:extLst>
          </p:cNvPr>
          <p:cNvSpPr>
            <a:spLocks noGrp="1"/>
          </p:cNvSpPr>
          <p:nvPr>
            <p:ph idx="1"/>
          </p:nvPr>
        </p:nvSpPr>
        <p:spPr/>
        <p:txBody>
          <a:bodyPr/>
          <a:lstStyle/>
          <a:p>
            <a:r>
              <a:rPr lang="en-US" sz="2600" dirty="0"/>
              <a:t>The (German) word bildungsroman comes from the words ‘</a:t>
            </a:r>
            <a:r>
              <a:rPr lang="en-US" sz="2600" dirty="0" err="1"/>
              <a:t>bildung</a:t>
            </a:r>
            <a:r>
              <a:rPr lang="en-US" sz="2600" dirty="0"/>
              <a:t>’ which means formation and ‘roman’ which means novel.</a:t>
            </a:r>
            <a:r>
              <a:rPr lang="en-AU" sz="2600" dirty="0"/>
              <a:t> </a:t>
            </a:r>
          </a:p>
          <a:p>
            <a:r>
              <a:rPr lang="en-AU" sz="2600" dirty="0"/>
              <a:t>A </a:t>
            </a:r>
            <a:r>
              <a:rPr lang="en-AU" sz="2600" b="1" dirty="0"/>
              <a:t>Bildungsroman</a:t>
            </a:r>
            <a:r>
              <a:rPr lang="en-AU" sz="2600" dirty="0"/>
              <a:t> relates the growing up or "coming of age" of a sensitive person who goes in search of answers to life's questions with the expectation that these will result from gaining experience of the world. </a:t>
            </a:r>
            <a:endParaRPr lang="en-US" sz="2600" dirty="0"/>
          </a:p>
          <a:p>
            <a:endParaRPr lang="en-AU" dirty="0"/>
          </a:p>
        </p:txBody>
      </p:sp>
    </p:spTree>
    <p:extLst>
      <p:ext uri="{BB962C8B-B14F-4D97-AF65-F5344CB8AC3E}">
        <p14:creationId xmlns:p14="http://schemas.microsoft.com/office/powerpoint/2010/main" val="3759373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E63EF-08FC-42E3-8A49-25AA7BABAA10}"/>
              </a:ext>
            </a:extLst>
          </p:cNvPr>
          <p:cNvSpPr>
            <a:spLocks noGrp="1"/>
          </p:cNvSpPr>
          <p:nvPr>
            <p:ph type="title"/>
          </p:nvPr>
        </p:nvSpPr>
        <p:spPr/>
        <p:txBody>
          <a:bodyPr/>
          <a:lstStyle/>
          <a:p>
            <a:r>
              <a:rPr lang="en-AU" dirty="0"/>
              <a:t>Plot Pattern</a:t>
            </a:r>
          </a:p>
        </p:txBody>
      </p:sp>
      <p:sp>
        <p:nvSpPr>
          <p:cNvPr id="3" name="Content Placeholder 2">
            <a:extLst>
              <a:ext uri="{FF2B5EF4-FFF2-40B4-BE49-F238E27FC236}">
                <a16:creationId xmlns:a16="http://schemas.microsoft.com/office/drawing/2014/main" id="{9B09B4AF-54B2-411E-ABFF-6367E87E1264}"/>
              </a:ext>
            </a:extLst>
          </p:cNvPr>
          <p:cNvSpPr>
            <a:spLocks noGrp="1"/>
          </p:cNvSpPr>
          <p:nvPr>
            <p:ph idx="1"/>
          </p:nvPr>
        </p:nvSpPr>
        <p:spPr/>
        <p:txBody>
          <a:bodyPr>
            <a:normAutofit/>
          </a:bodyPr>
          <a:lstStyle/>
          <a:p>
            <a:r>
              <a:rPr lang="en-US" sz="2600" dirty="0"/>
              <a:t>State of innocence </a:t>
            </a:r>
          </a:p>
          <a:p>
            <a:r>
              <a:rPr lang="en-US" sz="2600" dirty="0"/>
              <a:t>Gradual exposure to adult world and accompanying values and understanding</a:t>
            </a:r>
          </a:p>
          <a:p>
            <a:r>
              <a:rPr lang="en-US" sz="2600" dirty="0"/>
              <a:t>Resistance to that adult world</a:t>
            </a:r>
          </a:p>
          <a:p>
            <a:r>
              <a:rPr lang="en-US" sz="2600" dirty="0"/>
              <a:t>Time spent on the boundary of childhood and adulthood ---  climax  </a:t>
            </a:r>
          </a:p>
          <a:p>
            <a:r>
              <a:rPr lang="en-US" sz="2600" dirty="0"/>
              <a:t>Transformation of central character into a mature adult </a:t>
            </a:r>
          </a:p>
          <a:p>
            <a:r>
              <a:rPr lang="en-US" sz="2600" dirty="0"/>
              <a:t>Acceptance of adult world </a:t>
            </a:r>
          </a:p>
          <a:p>
            <a:endParaRPr lang="en-AU" dirty="0"/>
          </a:p>
        </p:txBody>
      </p:sp>
    </p:spTree>
    <p:extLst>
      <p:ext uri="{BB962C8B-B14F-4D97-AF65-F5344CB8AC3E}">
        <p14:creationId xmlns:p14="http://schemas.microsoft.com/office/powerpoint/2010/main" val="3633807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5F26-6A92-4E50-8CF7-1ADBA669633B}"/>
              </a:ext>
            </a:extLst>
          </p:cNvPr>
          <p:cNvSpPr>
            <a:spLocks noGrp="1"/>
          </p:cNvSpPr>
          <p:nvPr>
            <p:ph type="title"/>
          </p:nvPr>
        </p:nvSpPr>
        <p:spPr/>
        <p:txBody>
          <a:bodyPr/>
          <a:lstStyle/>
          <a:p>
            <a:r>
              <a:rPr lang="en-AU" dirty="0"/>
              <a:t>Ideological and Aesthetic Functions</a:t>
            </a:r>
          </a:p>
        </p:txBody>
      </p:sp>
      <p:sp>
        <p:nvSpPr>
          <p:cNvPr id="3" name="Content Placeholder 2">
            <a:extLst>
              <a:ext uri="{FF2B5EF4-FFF2-40B4-BE49-F238E27FC236}">
                <a16:creationId xmlns:a16="http://schemas.microsoft.com/office/drawing/2014/main" id="{43195411-5601-4C5B-A53D-D653D3E5F7BA}"/>
              </a:ext>
            </a:extLst>
          </p:cNvPr>
          <p:cNvSpPr>
            <a:spLocks noGrp="1"/>
          </p:cNvSpPr>
          <p:nvPr>
            <p:ph idx="1"/>
          </p:nvPr>
        </p:nvSpPr>
        <p:spPr>
          <a:xfrm>
            <a:off x="838200" y="2286000"/>
            <a:ext cx="10978662" cy="4185138"/>
          </a:xfrm>
        </p:spPr>
        <p:txBody>
          <a:bodyPr>
            <a:normAutofit/>
          </a:bodyPr>
          <a:lstStyle/>
          <a:p>
            <a:r>
              <a:rPr lang="en-AU" sz="2600" dirty="0"/>
              <a:t>depicts and criticizes those vices of the society which cause the protagonist to suffer. </a:t>
            </a:r>
          </a:p>
          <a:p>
            <a:r>
              <a:rPr lang="en-AU" sz="2600" dirty="0"/>
              <a:t>conveys a sense of realism because the protagonist is a common sensitive person who is affected by the loss that they suffer and this loss, ultimately, changes the course of their life.</a:t>
            </a:r>
          </a:p>
          <a:p>
            <a:r>
              <a:rPr lang="en-AU" sz="2600" dirty="0"/>
              <a:t>the psychological and moral growth of the protagonist gives us a deep insight into their characters and also helps to understand the conflict in their lives. </a:t>
            </a:r>
          </a:p>
          <a:p>
            <a:r>
              <a:rPr lang="en-AU" sz="2600" dirty="0"/>
              <a:t>readers identify ourselves with the coming-of-age characters and feel emotionally attached and interested as we see them pass different stages of their lives until they finally change for the good.</a:t>
            </a:r>
          </a:p>
          <a:p>
            <a:endParaRPr lang="en-AU" dirty="0"/>
          </a:p>
        </p:txBody>
      </p:sp>
    </p:spTree>
    <p:extLst>
      <p:ext uri="{BB962C8B-B14F-4D97-AF65-F5344CB8AC3E}">
        <p14:creationId xmlns:p14="http://schemas.microsoft.com/office/powerpoint/2010/main" val="4150160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072F-0E5A-41EE-83DE-F59367BDCC39}"/>
              </a:ext>
            </a:extLst>
          </p:cNvPr>
          <p:cNvSpPr>
            <a:spLocks noGrp="1"/>
          </p:cNvSpPr>
          <p:nvPr>
            <p:ph type="title"/>
          </p:nvPr>
        </p:nvSpPr>
        <p:spPr/>
        <p:txBody>
          <a:bodyPr/>
          <a:lstStyle/>
          <a:p>
            <a:r>
              <a:rPr lang="en-AU" dirty="0"/>
              <a:t>Your Response</a:t>
            </a:r>
          </a:p>
        </p:txBody>
      </p:sp>
      <p:sp>
        <p:nvSpPr>
          <p:cNvPr id="3" name="Content Placeholder 2">
            <a:extLst>
              <a:ext uri="{FF2B5EF4-FFF2-40B4-BE49-F238E27FC236}">
                <a16:creationId xmlns:a16="http://schemas.microsoft.com/office/drawing/2014/main" id="{5D9B1FD5-824B-403D-806D-2F98A67B7AAF}"/>
              </a:ext>
            </a:extLst>
          </p:cNvPr>
          <p:cNvSpPr>
            <a:spLocks noGrp="1"/>
          </p:cNvSpPr>
          <p:nvPr>
            <p:ph idx="1"/>
          </p:nvPr>
        </p:nvSpPr>
        <p:spPr/>
        <p:txBody>
          <a:bodyPr>
            <a:normAutofit/>
          </a:bodyPr>
          <a:lstStyle/>
          <a:p>
            <a:r>
              <a:rPr lang="en-AU" sz="2600" dirty="0"/>
              <a:t>Sympathy for immigrants who struggle to belong, particularly those who came under harrowing circumstances</a:t>
            </a:r>
          </a:p>
          <a:p>
            <a:r>
              <a:rPr lang="en-AU" sz="2600" dirty="0"/>
              <a:t>Empathetic response to young children who suffered from polio, as well as respect and admiration for their optimism and sense of hope</a:t>
            </a:r>
          </a:p>
          <a:p>
            <a:endParaRPr lang="en-AU" sz="2600" dirty="0"/>
          </a:p>
          <a:p>
            <a:pPr marL="0" indent="0">
              <a:buNone/>
            </a:pPr>
            <a:r>
              <a:rPr lang="en-AU" sz="2600" i="1" dirty="0"/>
              <a:t>How did you feel? Why? </a:t>
            </a:r>
          </a:p>
        </p:txBody>
      </p:sp>
    </p:spTree>
    <p:extLst>
      <p:ext uri="{BB962C8B-B14F-4D97-AF65-F5344CB8AC3E}">
        <p14:creationId xmlns:p14="http://schemas.microsoft.com/office/powerpoint/2010/main" val="2919230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D6C26-7F17-4952-AF66-6A3FB2C05058}"/>
              </a:ext>
            </a:extLst>
          </p:cNvPr>
          <p:cNvSpPr>
            <a:spLocks noGrp="1"/>
          </p:cNvSpPr>
          <p:nvPr>
            <p:ph type="title"/>
          </p:nvPr>
        </p:nvSpPr>
        <p:spPr/>
        <p:txBody>
          <a:bodyPr/>
          <a:lstStyle/>
          <a:p>
            <a:r>
              <a:rPr lang="en-AU" dirty="0"/>
              <a:t>Key Quotes</a:t>
            </a:r>
          </a:p>
        </p:txBody>
      </p:sp>
      <p:sp>
        <p:nvSpPr>
          <p:cNvPr id="3" name="Content Placeholder 2">
            <a:extLst>
              <a:ext uri="{FF2B5EF4-FFF2-40B4-BE49-F238E27FC236}">
                <a16:creationId xmlns:a16="http://schemas.microsoft.com/office/drawing/2014/main" id="{EECC4B55-135F-4C73-B5DD-50C8699FEF4B}"/>
              </a:ext>
            </a:extLst>
          </p:cNvPr>
          <p:cNvSpPr>
            <a:spLocks noGrp="1"/>
          </p:cNvSpPr>
          <p:nvPr>
            <p:ph idx="1"/>
          </p:nvPr>
        </p:nvSpPr>
        <p:spPr>
          <a:xfrm>
            <a:off x="838201" y="1871663"/>
            <a:ext cx="10823916" cy="4501001"/>
          </a:xfrm>
        </p:spPr>
        <p:txBody>
          <a:bodyPr>
            <a:normAutofit fontScale="92500" lnSpcReduction="20000"/>
          </a:bodyPr>
          <a:lstStyle/>
          <a:p>
            <a:r>
              <a:rPr lang="en-US" dirty="0"/>
              <a:t>Though like his past in Hungary, it was something he didn’t talk about.</a:t>
            </a:r>
          </a:p>
          <a:p>
            <a:r>
              <a:rPr lang="en-US" dirty="0"/>
              <a:t>Sullivan said his real life had always been when he was alone</a:t>
            </a:r>
          </a:p>
          <a:p>
            <a:r>
              <a:rPr lang="en-US" dirty="0"/>
              <a:t>He remembered the day with a peculiar vividness. In his mind it had a sort of beauty.</a:t>
            </a:r>
          </a:p>
          <a:p>
            <a:r>
              <a:rPr lang="en-US" dirty="0"/>
              <a:t>The old darkness was waiting for him there. He lay rigid on his back, eyes open, arms at his side, barely breathing, as if he too had died.</a:t>
            </a:r>
          </a:p>
          <a:p>
            <a:r>
              <a:rPr lang="en-US" dirty="0"/>
              <a:t>To stay quiet could be a matter of life or death. But the effort of lying still in that space, alone, never left him.</a:t>
            </a:r>
          </a:p>
          <a:p>
            <a:r>
              <a:rPr lang="en-US" dirty="0"/>
              <a:t>Frank had been tested and found out, revealing himself as un-Australian. For some reason this gave Warren pleasure</a:t>
            </a:r>
          </a:p>
          <a:p>
            <a:r>
              <a:rPr lang="en-US" dirty="0"/>
              <a:t>For a moment everything at the Golden Age had mystery, glamour. Shadows deepened, the last long beams of light streaked across its polished floorboards</a:t>
            </a:r>
          </a:p>
          <a:p>
            <a:endParaRPr lang="en-AU" dirty="0"/>
          </a:p>
        </p:txBody>
      </p:sp>
    </p:spTree>
    <p:extLst>
      <p:ext uri="{BB962C8B-B14F-4D97-AF65-F5344CB8AC3E}">
        <p14:creationId xmlns:p14="http://schemas.microsoft.com/office/powerpoint/2010/main" val="2624610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C802-0A5F-4F14-8DDC-20FE6972A3D3}"/>
              </a:ext>
            </a:extLst>
          </p:cNvPr>
          <p:cNvSpPr>
            <a:spLocks noGrp="1"/>
          </p:cNvSpPr>
          <p:nvPr>
            <p:ph type="title"/>
          </p:nvPr>
        </p:nvSpPr>
        <p:spPr/>
        <p:txBody>
          <a:bodyPr/>
          <a:lstStyle/>
          <a:p>
            <a:r>
              <a:rPr lang="en-AU" dirty="0"/>
              <a:t>Key Quotes</a:t>
            </a:r>
          </a:p>
        </p:txBody>
      </p:sp>
      <p:sp>
        <p:nvSpPr>
          <p:cNvPr id="3" name="Content Placeholder 2">
            <a:extLst>
              <a:ext uri="{FF2B5EF4-FFF2-40B4-BE49-F238E27FC236}">
                <a16:creationId xmlns:a16="http://schemas.microsoft.com/office/drawing/2014/main" id="{2ED55B51-1B85-46F5-AD50-699555110896}"/>
              </a:ext>
            </a:extLst>
          </p:cNvPr>
          <p:cNvSpPr>
            <a:spLocks noGrp="1"/>
          </p:cNvSpPr>
          <p:nvPr>
            <p:ph idx="1"/>
          </p:nvPr>
        </p:nvSpPr>
        <p:spPr>
          <a:xfrm>
            <a:off x="838200" y="1589649"/>
            <a:ext cx="11133406" cy="4903226"/>
          </a:xfrm>
        </p:spPr>
        <p:txBody>
          <a:bodyPr>
            <a:noAutofit/>
          </a:bodyPr>
          <a:lstStyle/>
          <a:p>
            <a:r>
              <a:rPr lang="en-US" sz="2200" dirty="0"/>
              <a:t>Poetry gave relief. From what? From everything else.</a:t>
            </a:r>
          </a:p>
          <a:p>
            <a:r>
              <a:rPr lang="en-US" sz="2200" dirty="0"/>
              <a:t>A reminder to the Golden Age kids of how they must look in the outside world. Tragic children, cursed, deformed.</a:t>
            </a:r>
          </a:p>
          <a:p>
            <a:r>
              <a:rPr lang="en-US" sz="2200" dirty="0"/>
              <a:t>Budapest was the glamorous love of his life who had betrayed him</a:t>
            </a:r>
          </a:p>
          <a:p>
            <a:r>
              <a:rPr lang="en-US" sz="2200" dirty="0"/>
              <a:t>Small things give you happiness</a:t>
            </a:r>
          </a:p>
          <a:p>
            <a:r>
              <a:rPr lang="en-US" sz="2200" dirty="0"/>
              <a:t>The children who celebrated Christmas at the Golden Age seemed much happier than those who returned at bedtime, exhausted, silent, distant and alone</a:t>
            </a:r>
          </a:p>
          <a:p>
            <a:r>
              <a:rPr lang="en-US" sz="2200" dirty="0"/>
              <a:t>Until they went home they’d forgotten they were in a tragedy.</a:t>
            </a:r>
          </a:p>
          <a:p>
            <a:r>
              <a:rPr lang="en-US" sz="2200" dirty="0"/>
              <a:t>Left on their own, like birds gathered at a waterhole at sundown, the children were </a:t>
            </a:r>
            <a:r>
              <a:rPr lang="en-US" sz="2200" dirty="0" err="1"/>
              <a:t>revitalised</a:t>
            </a:r>
            <a:r>
              <a:rPr lang="en-US" sz="2200" dirty="0"/>
              <a:t>, their thin voices echoing in the twilight.</a:t>
            </a:r>
          </a:p>
          <a:p>
            <a:r>
              <a:rPr lang="en-US" sz="2200" dirty="0"/>
              <a:t>There was beauty everywhere, strange beauty, even – especially? – in a </a:t>
            </a:r>
            <a:r>
              <a:rPr lang="en-US" sz="2200" dirty="0" err="1"/>
              <a:t>children‟s</a:t>
            </a:r>
            <a:r>
              <a:rPr lang="en-US" sz="2200" dirty="0"/>
              <a:t> polio hospital</a:t>
            </a:r>
            <a:endParaRPr lang="en-AU" sz="2200" dirty="0"/>
          </a:p>
        </p:txBody>
      </p:sp>
    </p:spTree>
    <p:extLst>
      <p:ext uri="{BB962C8B-B14F-4D97-AF65-F5344CB8AC3E}">
        <p14:creationId xmlns:p14="http://schemas.microsoft.com/office/powerpoint/2010/main" val="2775525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28675-C672-4EA0-BE40-9A643B4DA237}"/>
              </a:ext>
            </a:extLst>
          </p:cNvPr>
          <p:cNvSpPr>
            <a:spLocks noGrp="1"/>
          </p:cNvSpPr>
          <p:nvPr>
            <p:ph type="title"/>
          </p:nvPr>
        </p:nvSpPr>
        <p:spPr/>
        <p:txBody>
          <a:bodyPr/>
          <a:lstStyle/>
          <a:p>
            <a:r>
              <a:rPr lang="en-AU" dirty="0"/>
              <a:t>Key Quotes</a:t>
            </a:r>
          </a:p>
        </p:txBody>
      </p:sp>
      <p:sp>
        <p:nvSpPr>
          <p:cNvPr id="3" name="Content Placeholder 2">
            <a:extLst>
              <a:ext uri="{FF2B5EF4-FFF2-40B4-BE49-F238E27FC236}">
                <a16:creationId xmlns:a16="http://schemas.microsoft.com/office/drawing/2014/main" id="{D12443F8-CD69-4ECF-A6DA-182304EDAD2C}"/>
              </a:ext>
            </a:extLst>
          </p:cNvPr>
          <p:cNvSpPr>
            <a:spLocks noGrp="1"/>
          </p:cNvSpPr>
          <p:nvPr>
            <p:ph idx="1"/>
          </p:nvPr>
        </p:nvSpPr>
        <p:spPr/>
        <p:txBody>
          <a:bodyPr>
            <a:normAutofit/>
          </a:bodyPr>
          <a:lstStyle/>
          <a:p>
            <a:r>
              <a:rPr lang="en-US" sz="2400" dirty="0"/>
              <a:t>Home. She hadn’t called Hungary that for years. She was talking of somewhere else. Her place in music</a:t>
            </a:r>
          </a:p>
          <a:p>
            <a:r>
              <a:rPr lang="en-US" sz="2400" dirty="0"/>
              <a:t>They hadn’t learnt what he now knew, that he, and only he, could cope with his condition</a:t>
            </a:r>
          </a:p>
          <a:p>
            <a:r>
              <a:rPr lang="en-US" sz="2400" dirty="0"/>
              <a:t>She limped unaided around the house, like a bird with its wing broken. Tame, because it couldn’t fly away.</a:t>
            </a:r>
            <a:endParaRPr lang="en-AU" sz="2400" dirty="0"/>
          </a:p>
        </p:txBody>
      </p:sp>
    </p:spTree>
    <p:extLst>
      <p:ext uri="{BB962C8B-B14F-4D97-AF65-F5344CB8AC3E}">
        <p14:creationId xmlns:p14="http://schemas.microsoft.com/office/powerpoint/2010/main" val="4271756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19E9-9F9D-4661-B7B9-6A419AFA8C37}"/>
              </a:ext>
            </a:extLst>
          </p:cNvPr>
          <p:cNvSpPr>
            <a:spLocks noGrp="1"/>
          </p:cNvSpPr>
          <p:nvPr>
            <p:ph type="title"/>
          </p:nvPr>
        </p:nvSpPr>
        <p:spPr/>
        <p:txBody>
          <a:bodyPr/>
          <a:lstStyle/>
          <a:p>
            <a:r>
              <a:rPr lang="en-AU" dirty="0"/>
              <a:t>Other Texts? </a:t>
            </a:r>
          </a:p>
        </p:txBody>
      </p:sp>
      <p:sp>
        <p:nvSpPr>
          <p:cNvPr id="3" name="Content Placeholder 2">
            <a:extLst>
              <a:ext uri="{FF2B5EF4-FFF2-40B4-BE49-F238E27FC236}">
                <a16:creationId xmlns:a16="http://schemas.microsoft.com/office/drawing/2014/main" id="{7A3BF207-1006-47AB-A2A8-96DD9B6682AC}"/>
              </a:ext>
            </a:extLst>
          </p:cNvPr>
          <p:cNvSpPr>
            <a:spLocks noGrp="1"/>
          </p:cNvSpPr>
          <p:nvPr>
            <p:ph idx="1"/>
          </p:nvPr>
        </p:nvSpPr>
        <p:spPr/>
        <p:txBody>
          <a:bodyPr/>
          <a:lstStyle/>
          <a:p>
            <a:pPr marL="0" indent="0">
              <a:buNone/>
            </a:pPr>
            <a:r>
              <a:rPr lang="en-AU" dirty="0"/>
              <a:t>Consider other shorter texts that would work well with </a:t>
            </a:r>
            <a:r>
              <a:rPr lang="en-AU" u="sng" dirty="0"/>
              <a:t>The </a:t>
            </a:r>
            <a:r>
              <a:rPr lang="en-AU" u="sng"/>
              <a:t>Return</a:t>
            </a:r>
            <a:r>
              <a:rPr lang="en-AU"/>
              <a:t> and/or </a:t>
            </a:r>
            <a:r>
              <a:rPr lang="en-AU" u="sng"/>
              <a:t>The Golden Age</a:t>
            </a:r>
            <a:r>
              <a:rPr lang="en-AU"/>
              <a:t>. </a:t>
            </a:r>
            <a:endParaRPr lang="en-AU" dirty="0"/>
          </a:p>
        </p:txBody>
      </p:sp>
    </p:spTree>
    <p:extLst>
      <p:ext uri="{BB962C8B-B14F-4D97-AF65-F5344CB8AC3E}">
        <p14:creationId xmlns:p14="http://schemas.microsoft.com/office/powerpoint/2010/main" val="3038435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TotalTime>
  <Words>2095</Words>
  <Application>Microsoft Macintosh PowerPoint</Application>
  <PresentationFormat>Widescreen</PresentationFormat>
  <Paragraphs>173</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Wingdings</vt:lpstr>
      <vt:lpstr>Office Theme</vt:lpstr>
      <vt:lpstr>YEAR 12 EXAM PREP</vt:lpstr>
      <vt:lpstr>RESPONDING: THE BASICS</vt:lpstr>
      <vt:lpstr>The Responding Section assesses your ability to: </vt:lpstr>
      <vt:lpstr>Tips</vt:lpstr>
      <vt:lpstr>The Return</vt:lpstr>
      <vt:lpstr>Issues</vt:lpstr>
      <vt:lpstr>Ideas</vt:lpstr>
      <vt:lpstr>Genre</vt:lpstr>
      <vt:lpstr>Construction (Dramatic Conventions + Language Features)</vt:lpstr>
      <vt:lpstr>Our Response</vt:lpstr>
      <vt:lpstr>Key Quotes</vt:lpstr>
      <vt:lpstr>The Golden Age</vt:lpstr>
      <vt:lpstr>Issues</vt:lpstr>
      <vt:lpstr>Ideas</vt:lpstr>
      <vt:lpstr>Construction</vt:lpstr>
      <vt:lpstr>Genre – Historical Fiction </vt:lpstr>
      <vt:lpstr>Purpose of Historical Fiction</vt:lpstr>
      <vt:lpstr>Bildungsroman</vt:lpstr>
      <vt:lpstr>Plot Pattern</vt:lpstr>
      <vt:lpstr>Ideological and Aesthetic Functions</vt:lpstr>
      <vt:lpstr>Your Response</vt:lpstr>
      <vt:lpstr>Key Quotes</vt:lpstr>
      <vt:lpstr>Key Quotes</vt:lpstr>
      <vt:lpstr>Key Quotes</vt:lpstr>
      <vt:lpstr>Other Texts?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12 exam prep</dc:title>
  <dc:creator>Brittany Carson</dc:creator>
  <cp:lastModifiedBy>BURTON Claire [Shenton College]</cp:lastModifiedBy>
  <cp:revision>7</cp:revision>
  <dcterms:created xsi:type="dcterms:W3CDTF">2020-05-16T12:29:08Z</dcterms:created>
  <dcterms:modified xsi:type="dcterms:W3CDTF">2020-05-20T23:38:34Z</dcterms:modified>
</cp:coreProperties>
</file>
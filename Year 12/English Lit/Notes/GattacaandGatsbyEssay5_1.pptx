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9" r:id="rId4"/>
    <p:sldId id="264" r:id="rId5"/>
    <p:sldId id="263" r:id="rId6"/>
    <p:sldId id="265" r:id="rId7"/>
    <p:sldId id="267" r:id="rId8"/>
    <p:sldId id="266" r:id="rId9"/>
    <p:sldId id="27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CB49E8-FE77-9C80-636A-910EDC25BA8F}" v="20" dt="2021-08-01T23:57:37.0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7" d="100"/>
          <a:sy n="87" d="100"/>
        </p:scale>
        <p:origin x="533" y="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NASINGHE Natasha [Leeming Senior High School]" userId="S::natasha.senasinghe@education.wa.edu.au::770fedcf-1608-4dc4-bb26-89b3008ea3f3" providerId="AD" clId="Web-{6ECB49E8-FE77-9C80-636A-910EDC25BA8F}"/>
    <pc:docChg chg="delSld modSld">
      <pc:chgData name="SENASINGHE Natasha [Leeming Senior High School]" userId="S::natasha.senasinghe@education.wa.edu.au::770fedcf-1608-4dc4-bb26-89b3008ea3f3" providerId="AD" clId="Web-{6ECB49E8-FE77-9C80-636A-910EDC25BA8F}" dt="2021-08-01T23:57:37.078" v="13" actId="20577"/>
      <pc:docMkLst>
        <pc:docMk/>
      </pc:docMkLst>
      <pc:sldChg chg="del">
        <pc:chgData name="SENASINGHE Natasha [Leeming Senior High School]" userId="S::natasha.senasinghe@education.wa.edu.au::770fedcf-1608-4dc4-bb26-89b3008ea3f3" providerId="AD" clId="Web-{6ECB49E8-FE77-9C80-636A-910EDC25BA8F}" dt="2021-08-01T23:55:57.857" v="0"/>
        <pc:sldMkLst>
          <pc:docMk/>
          <pc:sldMk cId="563970357" sldId="257"/>
        </pc:sldMkLst>
      </pc:sldChg>
      <pc:sldChg chg="del">
        <pc:chgData name="SENASINGHE Natasha [Leeming Senior High School]" userId="S::natasha.senasinghe@education.wa.edu.au::770fedcf-1608-4dc4-bb26-89b3008ea3f3" providerId="AD" clId="Web-{6ECB49E8-FE77-9C80-636A-910EDC25BA8F}" dt="2021-08-01T23:56:06.905" v="1"/>
        <pc:sldMkLst>
          <pc:docMk/>
          <pc:sldMk cId="33703050" sldId="258"/>
        </pc:sldMkLst>
      </pc:sldChg>
      <pc:sldChg chg="del">
        <pc:chgData name="SENASINGHE Natasha [Leeming Senior High School]" userId="S::natasha.senasinghe@education.wa.edu.au::770fedcf-1608-4dc4-bb26-89b3008ea3f3" providerId="AD" clId="Web-{6ECB49E8-FE77-9C80-636A-910EDC25BA8F}" dt="2021-08-01T23:56:17.420" v="4"/>
        <pc:sldMkLst>
          <pc:docMk/>
          <pc:sldMk cId="426974497" sldId="259"/>
        </pc:sldMkLst>
      </pc:sldChg>
      <pc:sldChg chg="del">
        <pc:chgData name="SENASINGHE Natasha [Leeming Senior High School]" userId="S::natasha.senasinghe@education.wa.edu.au::770fedcf-1608-4dc4-bb26-89b3008ea3f3" providerId="AD" clId="Web-{6ECB49E8-FE77-9C80-636A-910EDC25BA8F}" dt="2021-08-01T23:56:14.717" v="3"/>
        <pc:sldMkLst>
          <pc:docMk/>
          <pc:sldMk cId="317644755" sldId="261"/>
        </pc:sldMkLst>
      </pc:sldChg>
      <pc:sldChg chg="addSp delSp modSp mod setBg">
        <pc:chgData name="SENASINGHE Natasha [Leeming Senior High School]" userId="S::natasha.senasinghe@education.wa.edu.au::770fedcf-1608-4dc4-bb26-89b3008ea3f3" providerId="AD" clId="Web-{6ECB49E8-FE77-9C80-636A-910EDC25BA8F}" dt="2021-08-01T23:56:49.686" v="7"/>
        <pc:sldMkLst>
          <pc:docMk/>
          <pc:sldMk cId="3922081204" sldId="262"/>
        </pc:sldMkLst>
        <pc:spChg chg="mod">
          <ac:chgData name="SENASINGHE Natasha [Leeming Senior High School]" userId="S::natasha.senasinghe@education.wa.edu.au::770fedcf-1608-4dc4-bb26-89b3008ea3f3" providerId="AD" clId="Web-{6ECB49E8-FE77-9C80-636A-910EDC25BA8F}" dt="2021-08-01T23:56:49.686" v="7"/>
          <ac:spMkLst>
            <pc:docMk/>
            <pc:sldMk cId="3922081204" sldId="262"/>
            <ac:spMk id="2" creationId="{2B7F0C6D-7EF2-42AE-8BAF-AD32011635CE}"/>
          </ac:spMkLst>
        </pc:spChg>
        <pc:spChg chg="add del mod">
          <ac:chgData name="SENASINGHE Natasha [Leeming Senior High School]" userId="S::natasha.senasinghe@education.wa.edu.au::770fedcf-1608-4dc4-bb26-89b3008ea3f3" providerId="AD" clId="Web-{6ECB49E8-FE77-9C80-636A-910EDC25BA8F}" dt="2021-08-01T23:56:46.077" v="6"/>
          <ac:spMkLst>
            <pc:docMk/>
            <pc:sldMk cId="3922081204" sldId="262"/>
            <ac:spMk id="4" creationId="{8438A43E-57CE-4F9D-9F4C-5EDEB3040410}"/>
          </ac:spMkLst>
        </pc:spChg>
        <pc:spChg chg="add">
          <ac:chgData name="SENASINGHE Natasha [Leeming Senior High School]" userId="S::natasha.senasinghe@education.wa.edu.au::770fedcf-1608-4dc4-bb26-89b3008ea3f3" providerId="AD" clId="Web-{6ECB49E8-FE77-9C80-636A-910EDC25BA8F}" dt="2021-08-01T23:56:49.686" v="7"/>
          <ac:spMkLst>
            <pc:docMk/>
            <pc:sldMk cId="3922081204" sldId="262"/>
            <ac:spMk id="75" creationId="{5B9CE10B-7217-4727-A3A7-5DF664DEB4F7}"/>
          </ac:spMkLst>
        </pc:spChg>
        <pc:spChg chg="add">
          <ac:chgData name="SENASINGHE Natasha [Leeming Senior High School]" userId="S::natasha.senasinghe@education.wa.edu.au::770fedcf-1608-4dc4-bb26-89b3008ea3f3" providerId="AD" clId="Web-{6ECB49E8-FE77-9C80-636A-910EDC25BA8F}" dt="2021-08-01T23:56:49.686" v="7"/>
          <ac:spMkLst>
            <pc:docMk/>
            <pc:sldMk cId="3922081204" sldId="262"/>
            <ac:spMk id="81" creationId="{04357C93-F0CB-4A1C-8F77-4E9063789819}"/>
          </ac:spMkLst>
        </pc:spChg>
        <pc:grpChg chg="add">
          <ac:chgData name="SENASINGHE Natasha [Leeming Senior High School]" userId="S::natasha.senasinghe@education.wa.edu.au::770fedcf-1608-4dc4-bb26-89b3008ea3f3" providerId="AD" clId="Web-{6ECB49E8-FE77-9C80-636A-910EDC25BA8F}" dt="2021-08-01T23:56:49.686" v="7"/>
          <ac:grpSpMkLst>
            <pc:docMk/>
            <pc:sldMk cId="3922081204" sldId="262"/>
            <ac:grpSpMk id="77" creationId="{3AF6A671-C637-4547-85F4-51B6D1881399}"/>
          </ac:grpSpMkLst>
        </pc:grpChg>
        <pc:picChg chg="add mod ord">
          <ac:chgData name="SENASINGHE Natasha [Leeming Senior High School]" userId="S::natasha.senasinghe@education.wa.edu.au::770fedcf-1608-4dc4-bb26-89b3008ea3f3" providerId="AD" clId="Web-{6ECB49E8-FE77-9C80-636A-910EDC25BA8F}" dt="2021-08-01T23:56:49.686" v="7"/>
          <ac:picMkLst>
            <pc:docMk/>
            <pc:sldMk cId="3922081204" sldId="262"/>
            <ac:picMk id="5" creationId="{2B1467EA-5821-495B-84C4-62E1E7210CDE}"/>
          </ac:picMkLst>
        </pc:picChg>
        <pc:picChg chg="del">
          <ac:chgData name="SENASINGHE Natasha [Leeming Senior High School]" userId="S::natasha.senasinghe@education.wa.edu.au::770fedcf-1608-4dc4-bb26-89b3008ea3f3" providerId="AD" clId="Web-{6ECB49E8-FE77-9C80-636A-910EDC25BA8F}" dt="2021-08-01T23:56:44.358" v="5"/>
          <ac:picMkLst>
            <pc:docMk/>
            <pc:sldMk cId="3922081204" sldId="262"/>
            <ac:picMk id="6148" creationId="{5EB80010-2A9D-42A8-AE2B-87B6235263D5}"/>
          </ac:picMkLst>
        </pc:picChg>
        <pc:picChg chg="mod">
          <ac:chgData name="SENASINGHE Natasha [Leeming Senior High School]" userId="S::natasha.senasinghe@education.wa.edu.au::770fedcf-1608-4dc4-bb26-89b3008ea3f3" providerId="AD" clId="Web-{6ECB49E8-FE77-9C80-636A-910EDC25BA8F}" dt="2021-08-01T23:56:49.686" v="7"/>
          <ac:picMkLst>
            <pc:docMk/>
            <pc:sldMk cId="3922081204" sldId="262"/>
            <ac:picMk id="6150" creationId="{8DFC9D7B-326B-44CE-AF0F-0A357C0A6FA4}"/>
          </ac:picMkLst>
        </pc:picChg>
      </pc:sldChg>
      <pc:sldChg chg="del">
        <pc:chgData name="SENASINGHE Natasha [Leeming Senior High School]" userId="S::natasha.senasinghe@education.wa.edu.au::770fedcf-1608-4dc4-bb26-89b3008ea3f3" providerId="AD" clId="Web-{6ECB49E8-FE77-9C80-636A-910EDC25BA8F}" dt="2021-08-01T23:56:07.857" v="2"/>
        <pc:sldMkLst>
          <pc:docMk/>
          <pc:sldMk cId="2426810047" sldId="268"/>
        </pc:sldMkLst>
      </pc:sldChg>
      <pc:sldChg chg="modSp">
        <pc:chgData name="SENASINGHE Natasha [Leeming Senior High School]" userId="S::natasha.senasinghe@education.wa.edu.au::770fedcf-1608-4dc4-bb26-89b3008ea3f3" providerId="AD" clId="Web-{6ECB49E8-FE77-9C80-636A-910EDC25BA8F}" dt="2021-08-01T23:57:37.078" v="13" actId="20577"/>
        <pc:sldMkLst>
          <pc:docMk/>
          <pc:sldMk cId="1653261012" sldId="269"/>
        </pc:sldMkLst>
        <pc:spChg chg="mod">
          <ac:chgData name="SENASINGHE Natasha [Leeming Senior High School]" userId="S::natasha.senasinghe@education.wa.edu.au::770fedcf-1608-4dc4-bb26-89b3008ea3f3" providerId="AD" clId="Web-{6ECB49E8-FE77-9C80-636A-910EDC25BA8F}" dt="2021-08-01T23:57:37.078" v="13" actId="20577"/>
          <ac:spMkLst>
            <pc:docMk/>
            <pc:sldMk cId="1653261012" sldId="26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D1C3C-A63C-4E86-A73B-89FEA0E870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FCFFC95-20AF-4A8F-AA94-6EC4DF1FCF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660F60CB-588F-4B54-A92A-5A134792746B}"/>
              </a:ext>
            </a:extLst>
          </p:cNvPr>
          <p:cNvSpPr>
            <a:spLocks noGrp="1"/>
          </p:cNvSpPr>
          <p:nvPr>
            <p:ph type="dt" sz="half" idx="10"/>
          </p:nvPr>
        </p:nvSpPr>
        <p:spPr/>
        <p:txBody>
          <a:bodyPr/>
          <a:lstStyle/>
          <a:p>
            <a:fld id="{3F49032E-EB87-4086-9153-F085899AC0FF}" type="datetimeFigureOut">
              <a:rPr lang="en-AU" smtClean="0"/>
              <a:t>1/08/2021</a:t>
            </a:fld>
            <a:endParaRPr lang="en-AU"/>
          </a:p>
        </p:txBody>
      </p:sp>
      <p:sp>
        <p:nvSpPr>
          <p:cNvPr id="5" name="Footer Placeholder 4">
            <a:extLst>
              <a:ext uri="{FF2B5EF4-FFF2-40B4-BE49-F238E27FC236}">
                <a16:creationId xmlns:a16="http://schemas.microsoft.com/office/drawing/2014/main" id="{DBDD055A-85B3-4BEA-83FD-ED039B7E65B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2F25E0-C27D-48FE-BB55-993115D2BD35}"/>
              </a:ext>
            </a:extLst>
          </p:cNvPr>
          <p:cNvSpPr>
            <a:spLocks noGrp="1"/>
          </p:cNvSpPr>
          <p:nvPr>
            <p:ph type="sldNum" sz="quarter" idx="12"/>
          </p:nvPr>
        </p:nvSpPr>
        <p:spPr/>
        <p:txBody>
          <a:bodyPr/>
          <a:lstStyle/>
          <a:p>
            <a:fld id="{FDA28636-55D9-4528-978F-0AB4B97B87F8}" type="slidenum">
              <a:rPr lang="en-AU" smtClean="0"/>
              <a:t>‹#›</a:t>
            </a:fld>
            <a:endParaRPr lang="en-AU"/>
          </a:p>
        </p:txBody>
      </p:sp>
    </p:spTree>
    <p:extLst>
      <p:ext uri="{BB962C8B-B14F-4D97-AF65-F5344CB8AC3E}">
        <p14:creationId xmlns:p14="http://schemas.microsoft.com/office/powerpoint/2010/main" val="3094624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CCBFF-ABCD-4E5C-B26E-7B8403C5CF8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20BF6D1-3B45-4936-BD14-DA032B8220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041DC1E-9D0F-46A4-88CF-291B3F228197}"/>
              </a:ext>
            </a:extLst>
          </p:cNvPr>
          <p:cNvSpPr>
            <a:spLocks noGrp="1"/>
          </p:cNvSpPr>
          <p:nvPr>
            <p:ph type="dt" sz="half" idx="10"/>
          </p:nvPr>
        </p:nvSpPr>
        <p:spPr/>
        <p:txBody>
          <a:bodyPr/>
          <a:lstStyle/>
          <a:p>
            <a:fld id="{3F49032E-EB87-4086-9153-F085899AC0FF}" type="datetimeFigureOut">
              <a:rPr lang="en-AU" smtClean="0"/>
              <a:t>1/08/2021</a:t>
            </a:fld>
            <a:endParaRPr lang="en-AU"/>
          </a:p>
        </p:txBody>
      </p:sp>
      <p:sp>
        <p:nvSpPr>
          <p:cNvPr id="5" name="Footer Placeholder 4">
            <a:extLst>
              <a:ext uri="{FF2B5EF4-FFF2-40B4-BE49-F238E27FC236}">
                <a16:creationId xmlns:a16="http://schemas.microsoft.com/office/drawing/2014/main" id="{181F8D04-B682-4AE2-B824-E8BE3E54ED7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320DAC1-2227-4591-AC71-DD4A3DFAF520}"/>
              </a:ext>
            </a:extLst>
          </p:cNvPr>
          <p:cNvSpPr>
            <a:spLocks noGrp="1"/>
          </p:cNvSpPr>
          <p:nvPr>
            <p:ph type="sldNum" sz="quarter" idx="12"/>
          </p:nvPr>
        </p:nvSpPr>
        <p:spPr/>
        <p:txBody>
          <a:bodyPr/>
          <a:lstStyle/>
          <a:p>
            <a:fld id="{FDA28636-55D9-4528-978F-0AB4B97B87F8}" type="slidenum">
              <a:rPr lang="en-AU" smtClean="0"/>
              <a:t>‹#›</a:t>
            </a:fld>
            <a:endParaRPr lang="en-AU"/>
          </a:p>
        </p:txBody>
      </p:sp>
    </p:spTree>
    <p:extLst>
      <p:ext uri="{BB962C8B-B14F-4D97-AF65-F5344CB8AC3E}">
        <p14:creationId xmlns:p14="http://schemas.microsoft.com/office/powerpoint/2010/main" val="2968192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3B49F-AA6E-44E8-B52C-688A3E0946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D5448F3-441C-4457-9675-AF4AB2C016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DEC200-A982-4031-B145-D4455329EE64}"/>
              </a:ext>
            </a:extLst>
          </p:cNvPr>
          <p:cNvSpPr>
            <a:spLocks noGrp="1"/>
          </p:cNvSpPr>
          <p:nvPr>
            <p:ph type="dt" sz="half" idx="10"/>
          </p:nvPr>
        </p:nvSpPr>
        <p:spPr/>
        <p:txBody>
          <a:bodyPr/>
          <a:lstStyle/>
          <a:p>
            <a:fld id="{3F49032E-EB87-4086-9153-F085899AC0FF}" type="datetimeFigureOut">
              <a:rPr lang="en-AU" smtClean="0"/>
              <a:t>1/08/2021</a:t>
            </a:fld>
            <a:endParaRPr lang="en-AU"/>
          </a:p>
        </p:txBody>
      </p:sp>
      <p:sp>
        <p:nvSpPr>
          <p:cNvPr id="5" name="Footer Placeholder 4">
            <a:extLst>
              <a:ext uri="{FF2B5EF4-FFF2-40B4-BE49-F238E27FC236}">
                <a16:creationId xmlns:a16="http://schemas.microsoft.com/office/drawing/2014/main" id="{01A3116F-CC71-464E-9943-8CA96B542E4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3BACB51-232E-4A47-8689-C6D290C97D2E}"/>
              </a:ext>
            </a:extLst>
          </p:cNvPr>
          <p:cNvSpPr>
            <a:spLocks noGrp="1"/>
          </p:cNvSpPr>
          <p:nvPr>
            <p:ph type="sldNum" sz="quarter" idx="12"/>
          </p:nvPr>
        </p:nvSpPr>
        <p:spPr/>
        <p:txBody>
          <a:bodyPr/>
          <a:lstStyle/>
          <a:p>
            <a:fld id="{FDA28636-55D9-4528-978F-0AB4B97B87F8}" type="slidenum">
              <a:rPr lang="en-AU" smtClean="0"/>
              <a:t>‹#›</a:t>
            </a:fld>
            <a:endParaRPr lang="en-AU"/>
          </a:p>
        </p:txBody>
      </p:sp>
    </p:spTree>
    <p:extLst>
      <p:ext uri="{BB962C8B-B14F-4D97-AF65-F5344CB8AC3E}">
        <p14:creationId xmlns:p14="http://schemas.microsoft.com/office/powerpoint/2010/main" val="1097830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E47F8-E882-4F7C-B6A0-812C2E4A131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3220426-307E-43F3-9362-88333C2F71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37B0247F-6FB9-4404-A18E-607A9BDDEC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5C6396A7-B8C5-4221-A82F-3CF97CD8B4BD}"/>
              </a:ext>
            </a:extLst>
          </p:cNvPr>
          <p:cNvSpPr>
            <a:spLocks noGrp="1"/>
          </p:cNvSpPr>
          <p:nvPr>
            <p:ph type="dt" sz="half" idx="10"/>
          </p:nvPr>
        </p:nvSpPr>
        <p:spPr/>
        <p:txBody>
          <a:bodyPr/>
          <a:lstStyle/>
          <a:p>
            <a:fld id="{3F49032E-EB87-4086-9153-F085899AC0FF}" type="datetimeFigureOut">
              <a:rPr lang="en-AU" smtClean="0"/>
              <a:t>1/08/2021</a:t>
            </a:fld>
            <a:endParaRPr lang="en-AU"/>
          </a:p>
        </p:txBody>
      </p:sp>
      <p:sp>
        <p:nvSpPr>
          <p:cNvPr id="6" name="Footer Placeholder 5">
            <a:extLst>
              <a:ext uri="{FF2B5EF4-FFF2-40B4-BE49-F238E27FC236}">
                <a16:creationId xmlns:a16="http://schemas.microsoft.com/office/drawing/2014/main" id="{73E9499E-A015-4E1E-B3C9-2A090DBF0C3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CAC1C60-BE5B-4275-80DA-E9690DF452DE}"/>
              </a:ext>
            </a:extLst>
          </p:cNvPr>
          <p:cNvSpPr>
            <a:spLocks noGrp="1"/>
          </p:cNvSpPr>
          <p:nvPr>
            <p:ph type="sldNum" sz="quarter" idx="12"/>
          </p:nvPr>
        </p:nvSpPr>
        <p:spPr/>
        <p:txBody>
          <a:bodyPr/>
          <a:lstStyle/>
          <a:p>
            <a:fld id="{FDA28636-55D9-4528-978F-0AB4B97B87F8}" type="slidenum">
              <a:rPr lang="en-AU" smtClean="0"/>
              <a:t>‹#›</a:t>
            </a:fld>
            <a:endParaRPr lang="en-AU"/>
          </a:p>
        </p:txBody>
      </p:sp>
    </p:spTree>
    <p:extLst>
      <p:ext uri="{BB962C8B-B14F-4D97-AF65-F5344CB8AC3E}">
        <p14:creationId xmlns:p14="http://schemas.microsoft.com/office/powerpoint/2010/main" val="1412118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FC657-30F4-40B3-ADB1-9225480F3862}"/>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2AB5E35-541B-430E-9ED1-DF037AEB2E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2659EF-2D60-46E4-83C3-8C8BDB05D5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62C4A37F-18AC-4546-AF6D-DA750C765B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FC846A-4513-47F4-A13A-90DC7C433D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20C560B5-3014-47A1-A056-7BE46DDBEAA1}"/>
              </a:ext>
            </a:extLst>
          </p:cNvPr>
          <p:cNvSpPr>
            <a:spLocks noGrp="1"/>
          </p:cNvSpPr>
          <p:nvPr>
            <p:ph type="dt" sz="half" idx="10"/>
          </p:nvPr>
        </p:nvSpPr>
        <p:spPr/>
        <p:txBody>
          <a:bodyPr/>
          <a:lstStyle/>
          <a:p>
            <a:fld id="{3F49032E-EB87-4086-9153-F085899AC0FF}" type="datetimeFigureOut">
              <a:rPr lang="en-AU" smtClean="0"/>
              <a:t>1/08/2021</a:t>
            </a:fld>
            <a:endParaRPr lang="en-AU"/>
          </a:p>
        </p:txBody>
      </p:sp>
      <p:sp>
        <p:nvSpPr>
          <p:cNvPr id="8" name="Footer Placeholder 7">
            <a:extLst>
              <a:ext uri="{FF2B5EF4-FFF2-40B4-BE49-F238E27FC236}">
                <a16:creationId xmlns:a16="http://schemas.microsoft.com/office/drawing/2014/main" id="{4290D233-4474-4E78-800F-34604E7B4B0F}"/>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08A16247-F77B-456C-B7B0-B8BF698C4B2F}"/>
              </a:ext>
            </a:extLst>
          </p:cNvPr>
          <p:cNvSpPr>
            <a:spLocks noGrp="1"/>
          </p:cNvSpPr>
          <p:nvPr>
            <p:ph type="sldNum" sz="quarter" idx="12"/>
          </p:nvPr>
        </p:nvSpPr>
        <p:spPr/>
        <p:txBody>
          <a:bodyPr/>
          <a:lstStyle/>
          <a:p>
            <a:fld id="{FDA28636-55D9-4528-978F-0AB4B97B87F8}" type="slidenum">
              <a:rPr lang="en-AU" smtClean="0"/>
              <a:t>‹#›</a:t>
            </a:fld>
            <a:endParaRPr lang="en-AU"/>
          </a:p>
        </p:txBody>
      </p:sp>
    </p:spTree>
    <p:extLst>
      <p:ext uri="{BB962C8B-B14F-4D97-AF65-F5344CB8AC3E}">
        <p14:creationId xmlns:p14="http://schemas.microsoft.com/office/powerpoint/2010/main" val="3780891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43D0E-A038-4C14-8E4F-692CF7988452}"/>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FF115DE-E64D-4524-86AB-4F4E9F34110A}"/>
              </a:ext>
            </a:extLst>
          </p:cNvPr>
          <p:cNvSpPr>
            <a:spLocks noGrp="1"/>
          </p:cNvSpPr>
          <p:nvPr>
            <p:ph type="dt" sz="half" idx="10"/>
          </p:nvPr>
        </p:nvSpPr>
        <p:spPr/>
        <p:txBody>
          <a:bodyPr/>
          <a:lstStyle/>
          <a:p>
            <a:fld id="{3F49032E-EB87-4086-9153-F085899AC0FF}" type="datetimeFigureOut">
              <a:rPr lang="en-AU" smtClean="0"/>
              <a:t>1/08/2021</a:t>
            </a:fld>
            <a:endParaRPr lang="en-AU"/>
          </a:p>
        </p:txBody>
      </p:sp>
      <p:sp>
        <p:nvSpPr>
          <p:cNvPr id="4" name="Footer Placeholder 3">
            <a:extLst>
              <a:ext uri="{FF2B5EF4-FFF2-40B4-BE49-F238E27FC236}">
                <a16:creationId xmlns:a16="http://schemas.microsoft.com/office/drawing/2014/main" id="{8CD78BCB-83C3-4E4D-B77C-F9480DE81DD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3D12CCE-4CC4-4A50-B4C5-5762C38A9376}"/>
              </a:ext>
            </a:extLst>
          </p:cNvPr>
          <p:cNvSpPr>
            <a:spLocks noGrp="1"/>
          </p:cNvSpPr>
          <p:nvPr>
            <p:ph type="sldNum" sz="quarter" idx="12"/>
          </p:nvPr>
        </p:nvSpPr>
        <p:spPr/>
        <p:txBody>
          <a:bodyPr/>
          <a:lstStyle/>
          <a:p>
            <a:fld id="{FDA28636-55D9-4528-978F-0AB4B97B87F8}" type="slidenum">
              <a:rPr lang="en-AU" smtClean="0"/>
              <a:t>‹#›</a:t>
            </a:fld>
            <a:endParaRPr lang="en-AU"/>
          </a:p>
        </p:txBody>
      </p:sp>
    </p:spTree>
    <p:extLst>
      <p:ext uri="{BB962C8B-B14F-4D97-AF65-F5344CB8AC3E}">
        <p14:creationId xmlns:p14="http://schemas.microsoft.com/office/powerpoint/2010/main" val="2330344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A69E7D-4D11-4577-A9B6-E30AA387A0C2}"/>
              </a:ext>
            </a:extLst>
          </p:cNvPr>
          <p:cNvSpPr>
            <a:spLocks noGrp="1"/>
          </p:cNvSpPr>
          <p:nvPr>
            <p:ph type="dt" sz="half" idx="10"/>
          </p:nvPr>
        </p:nvSpPr>
        <p:spPr/>
        <p:txBody>
          <a:bodyPr/>
          <a:lstStyle/>
          <a:p>
            <a:fld id="{3F49032E-EB87-4086-9153-F085899AC0FF}" type="datetimeFigureOut">
              <a:rPr lang="en-AU" smtClean="0"/>
              <a:t>1/08/2021</a:t>
            </a:fld>
            <a:endParaRPr lang="en-AU"/>
          </a:p>
        </p:txBody>
      </p:sp>
      <p:sp>
        <p:nvSpPr>
          <p:cNvPr id="3" name="Footer Placeholder 2">
            <a:extLst>
              <a:ext uri="{FF2B5EF4-FFF2-40B4-BE49-F238E27FC236}">
                <a16:creationId xmlns:a16="http://schemas.microsoft.com/office/drawing/2014/main" id="{8B40D87D-DC91-4BE3-8A4B-3A1A98E5BD7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85BB4A7-70B8-447E-984B-E781A936C563}"/>
              </a:ext>
            </a:extLst>
          </p:cNvPr>
          <p:cNvSpPr>
            <a:spLocks noGrp="1"/>
          </p:cNvSpPr>
          <p:nvPr>
            <p:ph type="sldNum" sz="quarter" idx="12"/>
          </p:nvPr>
        </p:nvSpPr>
        <p:spPr/>
        <p:txBody>
          <a:bodyPr/>
          <a:lstStyle/>
          <a:p>
            <a:fld id="{FDA28636-55D9-4528-978F-0AB4B97B87F8}" type="slidenum">
              <a:rPr lang="en-AU" smtClean="0"/>
              <a:t>‹#›</a:t>
            </a:fld>
            <a:endParaRPr lang="en-AU"/>
          </a:p>
        </p:txBody>
      </p:sp>
    </p:spTree>
    <p:extLst>
      <p:ext uri="{BB962C8B-B14F-4D97-AF65-F5344CB8AC3E}">
        <p14:creationId xmlns:p14="http://schemas.microsoft.com/office/powerpoint/2010/main" val="2338889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7253E-F5FB-4D49-BC3D-E9F8C4E33A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343D5042-7F87-4625-881F-D0EBC2193E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04189958-D435-408B-877D-2C7845F37B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5FBA7C-CF11-40DA-8DF0-4400536944BC}"/>
              </a:ext>
            </a:extLst>
          </p:cNvPr>
          <p:cNvSpPr>
            <a:spLocks noGrp="1"/>
          </p:cNvSpPr>
          <p:nvPr>
            <p:ph type="dt" sz="half" idx="10"/>
          </p:nvPr>
        </p:nvSpPr>
        <p:spPr/>
        <p:txBody>
          <a:bodyPr/>
          <a:lstStyle/>
          <a:p>
            <a:fld id="{3F49032E-EB87-4086-9153-F085899AC0FF}" type="datetimeFigureOut">
              <a:rPr lang="en-AU" smtClean="0"/>
              <a:t>1/08/2021</a:t>
            </a:fld>
            <a:endParaRPr lang="en-AU"/>
          </a:p>
        </p:txBody>
      </p:sp>
      <p:sp>
        <p:nvSpPr>
          <p:cNvPr id="6" name="Footer Placeholder 5">
            <a:extLst>
              <a:ext uri="{FF2B5EF4-FFF2-40B4-BE49-F238E27FC236}">
                <a16:creationId xmlns:a16="http://schemas.microsoft.com/office/drawing/2014/main" id="{481F9532-082E-4812-86FD-5B67F335D72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42E9EEC-B085-4C9D-8165-6C30EC49C605}"/>
              </a:ext>
            </a:extLst>
          </p:cNvPr>
          <p:cNvSpPr>
            <a:spLocks noGrp="1"/>
          </p:cNvSpPr>
          <p:nvPr>
            <p:ph type="sldNum" sz="quarter" idx="12"/>
          </p:nvPr>
        </p:nvSpPr>
        <p:spPr/>
        <p:txBody>
          <a:bodyPr/>
          <a:lstStyle/>
          <a:p>
            <a:fld id="{FDA28636-55D9-4528-978F-0AB4B97B87F8}" type="slidenum">
              <a:rPr lang="en-AU" smtClean="0"/>
              <a:t>‹#›</a:t>
            </a:fld>
            <a:endParaRPr lang="en-AU"/>
          </a:p>
        </p:txBody>
      </p:sp>
    </p:spTree>
    <p:extLst>
      <p:ext uri="{BB962C8B-B14F-4D97-AF65-F5344CB8AC3E}">
        <p14:creationId xmlns:p14="http://schemas.microsoft.com/office/powerpoint/2010/main" val="2617556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B77CE-44C6-49A4-99C0-E2FBFC3DB0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81716F4-0CC5-4769-858A-5D0E479440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5711B30A-07C6-4639-8CD9-00FEA8FADB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B5BCE8-B518-4637-AEB5-8398603F600E}"/>
              </a:ext>
            </a:extLst>
          </p:cNvPr>
          <p:cNvSpPr>
            <a:spLocks noGrp="1"/>
          </p:cNvSpPr>
          <p:nvPr>
            <p:ph type="dt" sz="half" idx="10"/>
          </p:nvPr>
        </p:nvSpPr>
        <p:spPr/>
        <p:txBody>
          <a:bodyPr/>
          <a:lstStyle/>
          <a:p>
            <a:fld id="{3F49032E-EB87-4086-9153-F085899AC0FF}" type="datetimeFigureOut">
              <a:rPr lang="en-AU" smtClean="0"/>
              <a:t>1/08/2021</a:t>
            </a:fld>
            <a:endParaRPr lang="en-AU"/>
          </a:p>
        </p:txBody>
      </p:sp>
      <p:sp>
        <p:nvSpPr>
          <p:cNvPr id="6" name="Footer Placeholder 5">
            <a:extLst>
              <a:ext uri="{FF2B5EF4-FFF2-40B4-BE49-F238E27FC236}">
                <a16:creationId xmlns:a16="http://schemas.microsoft.com/office/drawing/2014/main" id="{781E2F7B-9A21-4318-8072-ACC79AB4DD9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04698A0-8861-475D-A724-CFD42750B6DC}"/>
              </a:ext>
            </a:extLst>
          </p:cNvPr>
          <p:cNvSpPr>
            <a:spLocks noGrp="1"/>
          </p:cNvSpPr>
          <p:nvPr>
            <p:ph type="sldNum" sz="quarter" idx="12"/>
          </p:nvPr>
        </p:nvSpPr>
        <p:spPr/>
        <p:txBody>
          <a:bodyPr/>
          <a:lstStyle/>
          <a:p>
            <a:fld id="{FDA28636-55D9-4528-978F-0AB4B97B87F8}" type="slidenum">
              <a:rPr lang="en-AU" smtClean="0"/>
              <a:t>‹#›</a:t>
            </a:fld>
            <a:endParaRPr lang="en-AU"/>
          </a:p>
        </p:txBody>
      </p:sp>
    </p:spTree>
    <p:extLst>
      <p:ext uri="{BB962C8B-B14F-4D97-AF65-F5344CB8AC3E}">
        <p14:creationId xmlns:p14="http://schemas.microsoft.com/office/powerpoint/2010/main" val="2123188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81544-FF58-4A42-BEA8-5558BE7292C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06628D1-DE8F-45AE-B6E4-99AE831D9E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CB6A48F-24AF-43C7-864B-1DEE7FB9ECD9}"/>
              </a:ext>
            </a:extLst>
          </p:cNvPr>
          <p:cNvSpPr>
            <a:spLocks noGrp="1"/>
          </p:cNvSpPr>
          <p:nvPr>
            <p:ph type="dt" sz="half" idx="10"/>
          </p:nvPr>
        </p:nvSpPr>
        <p:spPr/>
        <p:txBody>
          <a:bodyPr/>
          <a:lstStyle/>
          <a:p>
            <a:fld id="{3F49032E-EB87-4086-9153-F085899AC0FF}" type="datetimeFigureOut">
              <a:rPr lang="en-AU" smtClean="0"/>
              <a:t>1/08/2021</a:t>
            </a:fld>
            <a:endParaRPr lang="en-AU"/>
          </a:p>
        </p:txBody>
      </p:sp>
      <p:sp>
        <p:nvSpPr>
          <p:cNvPr id="5" name="Footer Placeholder 4">
            <a:extLst>
              <a:ext uri="{FF2B5EF4-FFF2-40B4-BE49-F238E27FC236}">
                <a16:creationId xmlns:a16="http://schemas.microsoft.com/office/drawing/2014/main" id="{3BF10E2D-D6F6-443D-902F-F53E99937FD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44311A0-6888-491C-A36D-9B9EECF48F43}"/>
              </a:ext>
            </a:extLst>
          </p:cNvPr>
          <p:cNvSpPr>
            <a:spLocks noGrp="1"/>
          </p:cNvSpPr>
          <p:nvPr>
            <p:ph type="sldNum" sz="quarter" idx="12"/>
          </p:nvPr>
        </p:nvSpPr>
        <p:spPr/>
        <p:txBody>
          <a:bodyPr/>
          <a:lstStyle/>
          <a:p>
            <a:fld id="{FDA28636-55D9-4528-978F-0AB4B97B87F8}" type="slidenum">
              <a:rPr lang="en-AU" smtClean="0"/>
              <a:t>‹#›</a:t>
            </a:fld>
            <a:endParaRPr lang="en-AU"/>
          </a:p>
        </p:txBody>
      </p:sp>
    </p:spTree>
    <p:extLst>
      <p:ext uri="{BB962C8B-B14F-4D97-AF65-F5344CB8AC3E}">
        <p14:creationId xmlns:p14="http://schemas.microsoft.com/office/powerpoint/2010/main" val="1849061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E82320-695E-447D-A67B-4416BF5CAD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1945359-0416-411F-984B-6C0815AF51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11DBF8B-309E-42DB-A808-D62751BFE0A4}"/>
              </a:ext>
            </a:extLst>
          </p:cNvPr>
          <p:cNvSpPr>
            <a:spLocks noGrp="1"/>
          </p:cNvSpPr>
          <p:nvPr>
            <p:ph type="dt" sz="half" idx="10"/>
          </p:nvPr>
        </p:nvSpPr>
        <p:spPr/>
        <p:txBody>
          <a:bodyPr/>
          <a:lstStyle/>
          <a:p>
            <a:fld id="{3F49032E-EB87-4086-9153-F085899AC0FF}" type="datetimeFigureOut">
              <a:rPr lang="en-AU" smtClean="0"/>
              <a:t>1/08/2021</a:t>
            </a:fld>
            <a:endParaRPr lang="en-AU"/>
          </a:p>
        </p:txBody>
      </p:sp>
      <p:sp>
        <p:nvSpPr>
          <p:cNvPr id="5" name="Footer Placeholder 4">
            <a:extLst>
              <a:ext uri="{FF2B5EF4-FFF2-40B4-BE49-F238E27FC236}">
                <a16:creationId xmlns:a16="http://schemas.microsoft.com/office/drawing/2014/main" id="{A4E3E3CD-7CD6-4ED8-8FCB-FB9FAF6B365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20F4DA3-A9DA-4459-B34E-C853DCDBF743}"/>
              </a:ext>
            </a:extLst>
          </p:cNvPr>
          <p:cNvSpPr>
            <a:spLocks noGrp="1"/>
          </p:cNvSpPr>
          <p:nvPr>
            <p:ph type="sldNum" sz="quarter" idx="12"/>
          </p:nvPr>
        </p:nvSpPr>
        <p:spPr/>
        <p:txBody>
          <a:bodyPr/>
          <a:lstStyle/>
          <a:p>
            <a:fld id="{FDA28636-55D9-4528-978F-0AB4B97B87F8}" type="slidenum">
              <a:rPr lang="en-AU" smtClean="0"/>
              <a:t>‹#›</a:t>
            </a:fld>
            <a:endParaRPr lang="en-AU"/>
          </a:p>
        </p:txBody>
      </p:sp>
    </p:spTree>
    <p:extLst>
      <p:ext uri="{BB962C8B-B14F-4D97-AF65-F5344CB8AC3E}">
        <p14:creationId xmlns:p14="http://schemas.microsoft.com/office/powerpoint/2010/main" val="3250276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938F8A-997F-4A4A-9F1E-13F7557C0D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42319E9-3B4C-480B-864D-3265DBA2B6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9015CCA-B92A-43F9-B223-7EADCE3589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49032E-EB87-4086-9153-F085899AC0FF}" type="datetimeFigureOut">
              <a:rPr lang="en-AU" smtClean="0"/>
              <a:t>1/08/2021</a:t>
            </a:fld>
            <a:endParaRPr lang="en-AU"/>
          </a:p>
        </p:txBody>
      </p:sp>
      <p:sp>
        <p:nvSpPr>
          <p:cNvPr id="5" name="Footer Placeholder 4">
            <a:extLst>
              <a:ext uri="{FF2B5EF4-FFF2-40B4-BE49-F238E27FC236}">
                <a16:creationId xmlns:a16="http://schemas.microsoft.com/office/drawing/2014/main" id="{A49CFEB3-2A20-4FE7-8F90-84B4FA44EC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BE676A70-4701-40C2-8990-B1973153D9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A28636-55D9-4528-978F-0AB4B97B87F8}" type="slidenum">
              <a:rPr lang="en-AU" smtClean="0"/>
              <a:t>‹#›</a:t>
            </a:fld>
            <a:endParaRPr lang="en-AU"/>
          </a:p>
        </p:txBody>
      </p:sp>
    </p:spTree>
    <p:extLst>
      <p:ext uri="{BB962C8B-B14F-4D97-AF65-F5344CB8AC3E}">
        <p14:creationId xmlns:p14="http://schemas.microsoft.com/office/powerpoint/2010/main" val="426458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hyperlink" Target="https://www.gradesaver.com/gattaca/study-guide/summary"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397AC-B566-4105-9AB1-B31E778FF5B9}"/>
              </a:ext>
            </a:extLst>
          </p:cNvPr>
          <p:cNvSpPr>
            <a:spLocks noGrp="1"/>
          </p:cNvSpPr>
          <p:nvPr>
            <p:ph type="ctrTitle"/>
          </p:nvPr>
        </p:nvSpPr>
        <p:spPr/>
        <p:txBody>
          <a:bodyPr/>
          <a:lstStyle/>
          <a:p>
            <a:r>
              <a:rPr lang="en-AU" dirty="0"/>
              <a:t>Gattaca and The Great Gatsby: Comparative Essay</a:t>
            </a:r>
          </a:p>
        </p:txBody>
      </p:sp>
      <p:sp>
        <p:nvSpPr>
          <p:cNvPr id="3" name="Subtitle 2">
            <a:extLst>
              <a:ext uri="{FF2B5EF4-FFF2-40B4-BE49-F238E27FC236}">
                <a16:creationId xmlns:a16="http://schemas.microsoft.com/office/drawing/2014/main" id="{00C4C902-5B89-43A0-8FBF-ACA36B79F536}"/>
              </a:ext>
            </a:extLst>
          </p:cNvPr>
          <p:cNvSpPr>
            <a:spLocks noGrp="1"/>
          </p:cNvSpPr>
          <p:nvPr>
            <p:ph type="subTitle" idx="1"/>
          </p:nvPr>
        </p:nvSpPr>
        <p:spPr/>
        <p:txBody>
          <a:bodyPr/>
          <a:lstStyle/>
          <a:p>
            <a:r>
              <a:rPr lang="en-AU" dirty="0"/>
              <a:t>Learning Intention: Students will understand what they need to know to pass the assessment.</a:t>
            </a:r>
          </a:p>
        </p:txBody>
      </p:sp>
    </p:spTree>
    <p:extLst>
      <p:ext uri="{BB962C8B-B14F-4D97-AF65-F5344CB8AC3E}">
        <p14:creationId xmlns:p14="http://schemas.microsoft.com/office/powerpoint/2010/main" val="1671720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5B9CE10B-7217-4727-A3A7-5DF664DEB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7F0C6D-7EF2-42AE-8BAF-AD32011635CE}"/>
              </a:ext>
            </a:extLst>
          </p:cNvPr>
          <p:cNvSpPr>
            <a:spLocks noGrp="1"/>
          </p:cNvSpPr>
          <p:nvPr>
            <p:ph type="title"/>
          </p:nvPr>
        </p:nvSpPr>
        <p:spPr>
          <a:xfrm>
            <a:off x="337497" y="679731"/>
            <a:ext cx="3124151" cy="3736540"/>
          </a:xfrm>
        </p:spPr>
        <p:txBody>
          <a:bodyPr vert="horz" lIns="91440" tIns="45720" rIns="91440" bIns="45720" rtlCol="0" anchor="b">
            <a:normAutofit/>
          </a:bodyPr>
          <a:lstStyle/>
          <a:p>
            <a:r>
              <a:rPr lang="en-US" sz="2500" kern="1200">
                <a:solidFill>
                  <a:schemeClr val="tx1"/>
                </a:solidFill>
                <a:latin typeface="+mj-lt"/>
                <a:ea typeface="+mj-ea"/>
                <a:cs typeface="+mj-cs"/>
              </a:rPr>
              <a:t>Texts from different genres, that look at similar ideas or issues. Remember that an idea is never just one word. Remember that an issue is something that can be debated.</a:t>
            </a:r>
          </a:p>
        </p:txBody>
      </p:sp>
      <p:grpSp>
        <p:nvGrpSpPr>
          <p:cNvPr id="77" name="Group 76">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78" name="Straight Connector 77">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Rectangle 8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1084" y="679731"/>
            <a:ext cx="7682293" cy="56628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50" name="Picture 6" descr="Amazon.com: Gattaca: Ethan Hawke, Uma Thurman, Alan Arkin, Jude ...">
            <a:extLst>
              <a:ext uri="{FF2B5EF4-FFF2-40B4-BE49-F238E27FC236}">
                <a16:creationId xmlns:a16="http://schemas.microsoft.com/office/drawing/2014/main" id="{8DFC9D7B-326B-44CE-AF0F-0A357C0A6FA4}"/>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l="3583" r="1" b="1"/>
          <a:stretch/>
        </p:blipFill>
        <p:spPr bwMode="auto">
          <a:xfrm>
            <a:off x="4125081" y="972235"/>
            <a:ext cx="3383280" cy="50477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5" descr="Text&#10;&#10;Description automatically generated">
            <a:extLst>
              <a:ext uri="{FF2B5EF4-FFF2-40B4-BE49-F238E27FC236}">
                <a16:creationId xmlns:a16="http://schemas.microsoft.com/office/drawing/2014/main" id="{2B1467EA-5821-495B-84C4-62E1E7210CDE}"/>
              </a:ext>
            </a:extLst>
          </p:cNvPr>
          <p:cNvPicPr>
            <a:picLocks noGrp="1" noChangeAspect="1"/>
          </p:cNvPicPr>
          <p:nvPr>
            <p:ph sz="half" idx="1"/>
          </p:nvPr>
        </p:nvPicPr>
        <p:blipFill rotWithShape="1">
          <a:blip r:embed="rId3"/>
          <a:srcRect r="3" b="539"/>
          <a:stretch/>
        </p:blipFill>
        <p:spPr>
          <a:xfrm>
            <a:off x="7812357" y="972235"/>
            <a:ext cx="3383280" cy="5047735"/>
          </a:xfrm>
          <a:prstGeom prst="rect">
            <a:avLst/>
          </a:prstGeom>
        </p:spPr>
      </p:pic>
    </p:spTree>
    <p:extLst>
      <p:ext uri="{BB962C8B-B14F-4D97-AF65-F5344CB8AC3E}">
        <p14:creationId xmlns:p14="http://schemas.microsoft.com/office/powerpoint/2010/main" val="3922081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important strand of the marking criteria</a:t>
            </a:r>
          </a:p>
        </p:txBody>
      </p:sp>
      <p:sp>
        <p:nvSpPr>
          <p:cNvPr id="3" name="Rectangle 2"/>
          <p:cNvSpPr/>
          <p:nvPr/>
        </p:nvSpPr>
        <p:spPr>
          <a:xfrm>
            <a:off x="838200" y="1690688"/>
            <a:ext cx="10369731" cy="4524315"/>
          </a:xfrm>
          <a:prstGeom prst="rect">
            <a:avLst/>
          </a:prstGeom>
        </p:spPr>
        <p:txBody>
          <a:bodyPr wrap="square" lIns="91440" tIns="45720" rIns="91440" bIns="45720" anchor="t">
            <a:spAutoFit/>
          </a:bodyPr>
          <a:lstStyle/>
          <a:p>
            <a:pPr lvl="0"/>
            <a:r>
              <a:rPr lang="en-AU" dirty="0">
                <a:solidFill>
                  <a:prstClr val="black"/>
                </a:solidFill>
                <a:latin typeface="Arial" panose="020B0604020202020204" pitchFamily="34" charset="0"/>
                <a:ea typeface="Times New Roman" panose="02020603050405020304" pitchFamily="18" charset="0"/>
              </a:rPr>
              <a:t>Demonstrates facility with metalanguage of text types (conventions), text structures, language features, ideas, issues and representation. Conventions </a:t>
            </a:r>
            <a:r>
              <a:rPr lang="en-AU" i="1" dirty="0">
                <a:solidFill>
                  <a:prstClr val="black"/>
                </a:solidFill>
                <a:latin typeface="Arial" panose="020B0604020202020204" pitchFamily="34" charset="0"/>
                <a:ea typeface="Times New Roman" panose="02020603050405020304" pitchFamily="18" charset="0"/>
              </a:rPr>
              <a:t>in feature film include: </a:t>
            </a:r>
            <a:endParaRPr lang="en-AU" i="1" dirty="0">
              <a:solidFill>
                <a:prstClr val="black"/>
              </a:solidFill>
              <a:latin typeface="Times New Roman" panose="02020603050405020304" pitchFamily="18" charset="0"/>
              <a:ea typeface="Times New Roman" panose="02020603050405020304" pitchFamily="18" charset="0"/>
            </a:endParaRPr>
          </a:p>
          <a:p>
            <a:pPr lvl="0"/>
            <a:endParaRPr lang="en-AU" i="1" dirty="0">
              <a:solidFill>
                <a:prstClr val="black"/>
              </a:solidFill>
              <a:latin typeface="Times New Roman" panose="02020603050405020304" pitchFamily="18" charset="0"/>
              <a:ea typeface="Times New Roman" panose="02020603050405020304" pitchFamily="18" charset="0"/>
            </a:endParaRPr>
          </a:p>
          <a:p>
            <a:pPr lvl="0"/>
            <a:r>
              <a:rPr lang="en-AU" i="1" dirty="0">
                <a:solidFill>
                  <a:prstClr val="black"/>
                </a:solidFill>
                <a:latin typeface="Arial" panose="020B0604020202020204" pitchFamily="34" charset="0"/>
                <a:ea typeface="Times New Roman" panose="02020603050405020304" pitchFamily="18" charset="0"/>
              </a:rPr>
              <a:t>Symbolic: setting, objects, colour, character’s clothing, facial expression and appearance.</a:t>
            </a:r>
            <a:endParaRPr lang="en-AU" i="1" dirty="0">
              <a:solidFill>
                <a:prstClr val="black"/>
              </a:solidFill>
              <a:latin typeface="Times New Roman" panose="02020603050405020304" pitchFamily="18" charset="0"/>
              <a:ea typeface="Times New Roman" panose="02020603050405020304" pitchFamily="18" charset="0"/>
            </a:endParaRPr>
          </a:p>
          <a:p>
            <a:pPr lvl="0"/>
            <a:r>
              <a:rPr lang="en-AU" i="1" dirty="0">
                <a:latin typeface="Arial"/>
                <a:ea typeface="Times New Roman" panose="02020603050405020304" pitchFamily="18" charset="0"/>
                <a:cs typeface="Arial"/>
              </a:rPr>
              <a:t>Technical: camera angles (low, high), shot length (extreme close up, close up, medium shot, long shot), leading lines (or vector lines) these are lines within the composition that lead the viewer to focus on a particular aspect of the shot</a:t>
            </a:r>
          </a:p>
          <a:p>
            <a:pPr lvl="0"/>
            <a:r>
              <a:rPr lang="en-AU" i="1" dirty="0">
                <a:solidFill>
                  <a:prstClr val="black"/>
                </a:solidFill>
                <a:latin typeface="Arial" panose="020B0604020202020204" pitchFamily="34" charset="0"/>
                <a:ea typeface="Times New Roman" panose="02020603050405020304" pitchFamily="18" charset="0"/>
              </a:rPr>
              <a:t>Audio: sound effects, soundtrack, voice over, dialogue (only use this in conjunction with the other conventions.)</a:t>
            </a:r>
            <a:endParaRPr lang="en-AU" i="1" dirty="0">
              <a:solidFill>
                <a:prstClr val="black"/>
              </a:solidFill>
              <a:latin typeface="Times New Roman" panose="02020603050405020304" pitchFamily="18" charset="0"/>
              <a:ea typeface="Times New Roman" panose="02020603050405020304" pitchFamily="18" charset="0"/>
            </a:endParaRPr>
          </a:p>
          <a:p>
            <a:pPr lvl="0"/>
            <a:r>
              <a:rPr lang="en-AU" i="1" dirty="0">
                <a:latin typeface="Arial"/>
                <a:ea typeface="Times New Roman" panose="02020603050405020304" pitchFamily="18" charset="0"/>
                <a:cs typeface="Arial"/>
              </a:rPr>
              <a:t>Written: writing on signs, cards etc</a:t>
            </a:r>
          </a:p>
          <a:p>
            <a:pPr lvl="0"/>
            <a:endParaRPr lang="en-AU" i="1" dirty="0">
              <a:solidFill>
                <a:prstClr val="black"/>
              </a:solidFill>
              <a:latin typeface="Times New Roman" panose="02020603050405020304" pitchFamily="18" charset="0"/>
              <a:ea typeface="Times New Roman" panose="02020603050405020304" pitchFamily="18" charset="0"/>
            </a:endParaRPr>
          </a:p>
          <a:p>
            <a:r>
              <a:rPr lang="en-AU" i="1" dirty="0">
                <a:latin typeface="Arial"/>
                <a:ea typeface="Times New Roman" panose="02020603050405020304" pitchFamily="18" charset="0"/>
                <a:cs typeface="Arial"/>
              </a:rPr>
              <a:t>You also need to be able to discuss composition or mise </a:t>
            </a:r>
            <a:r>
              <a:rPr lang="en-AU" i="1" dirty="0" err="1">
                <a:latin typeface="Arial"/>
                <a:ea typeface="Times New Roman" panose="02020603050405020304" pitchFamily="18" charset="0"/>
                <a:cs typeface="Arial"/>
              </a:rPr>
              <a:t>en</a:t>
            </a:r>
            <a:r>
              <a:rPr lang="en-AU" i="1" dirty="0">
                <a:latin typeface="Arial"/>
                <a:ea typeface="Times New Roman" panose="02020603050405020304" pitchFamily="18" charset="0"/>
                <a:cs typeface="Arial"/>
              </a:rPr>
              <a:t> scene. Where people and objects are place within a scene (foreground, background etc.) and why this is significant.  </a:t>
            </a:r>
            <a:endParaRPr lang="en-AU" i="1" dirty="0">
              <a:latin typeface="Arial" panose="020B0604020202020204" pitchFamily="34" charset="0"/>
              <a:ea typeface="Times New Roman" panose="02020603050405020304" pitchFamily="18" charset="0"/>
              <a:cs typeface="Arial"/>
            </a:endParaRPr>
          </a:p>
          <a:p>
            <a:pPr lvl="0"/>
            <a:endParaRPr lang="en-AU" i="1" dirty="0">
              <a:solidFill>
                <a:prstClr val="black"/>
              </a:solidFill>
              <a:latin typeface="Arial" panose="020B0604020202020204" pitchFamily="34" charset="0"/>
              <a:ea typeface="Times New Roman" panose="02020603050405020304" pitchFamily="18" charset="0"/>
            </a:endParaRPr>
          </a:p>
          <a:p>
            <a:r>
              <a:rPr lang="en-AU" i="1" dirty="0">
                <a:latin typeface="Arial"/>
                <a:ea typeface="Times New Roman" panose="02020603050405020304" pitchFamily="18" charset="0"/>
                <a:cs typeface="Arial"/>
              </a:rPr>
              <a:t>You need to do the same for </a:t>
            </a:r>
            <a:r>
              <a:rPr lang="en-AU" i="1" u="sng" dirty="0">
                <a:latin typeface="Arial"/>
                <a:ea typeface="Times New Roman" panose="02020603050405020304" pitchFamily="18" charset="0"/>
                <a:cs typeface="Arial"/>
              </a:rPr>
              <a:t>The White Tiger </a:t>
            </a:r>
            <a:r>
              <a:rPr lang="en-AU" i="1" dirty="0">
                <a:latin typeface="Arial"/>
                <a:ea typeface="Times New Roman" panose="02020603050405020304" pitchFamily="18" charset="0"/>
                <a:cs typeface="Arial"/>
              </a:rPr>
              <a:t>using language features and novel conventions. For some this proved a challenge in last assessment</a:t>
            </a:r>
            <a:r>
              <a:rPr lang="en-AU" dirty="0">
                <a:solidFill>
                  <a:srgbClr val="002060"/>
                </a:solidFill>
                <a:latin typeface="Arial"/>
                <a:ea typeface="Times New Roman" panose="02020603050405020304" pitchFamily="18" charset="0"/>
                <a:cs typeface="Arial"/>
              </a:rPr>
              <a:t>. </a:t>
            </a:r>
            <a:endParaRPr lang="en-AU" dirty="0">
              <a:solidFill>
                <a:prstClr val="black"/>
              </a:solidFill>
              <a:latin typeface="Times New Roman"/>
              <a:ea typeface="Times New Roman" panose="02020603050405020304" pitchFamily="18" charset="0"/>
            </a:endParaRPr>
          </a:p>
        </p:txBody>
      </p:sp>
    </p:spTree>
    <p:extLst>
      <p:ext uri="{BB962C8B-B14F-4D97-AF65-F5344CB8AC3E}">
        <p14:creationId xmlns:p14="http://schemas.microsoft.com/office/powerpoint/2010/main" val="1653261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gattaca-1997-ethan-hawke-ernest-borgnine – BookPeople">
            <a:extLst>
              <a:ext uri="{FF2B5EF4-FFF2-40B4-BE49-F238E27FC236}">
                <a16:creationId xmlns:a16="http://schemas.microsoft.com/office/drawing/2014/main" id="{37002BE5-20E6-4610-BD13-6DFB8E94E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2214563"/>
            <a:ext cx="5715000" cy="242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74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256C8C0-50BA-40B9-BB6E-24421CF6DC10}"/>
              </a:ext>
            </a:extLst>
          </p:cNvPr>
          <p:cNvSpPr/>
          <p:nvPr/>
        </p:nvSpPr>
        <p:spPr>
          <a:xfrm>
            <a:off x="3048000" y="1166843"/>
            <a:ext cx="6096000" cy="4524315"/>
          </a:xfrm>
          <a:prstGeom prst="rect">
            <a:avLst/>
          </a:prstGeom>
        </p:spPr>
        <p:txBody>
          <a:bodyPr>
            <a:spAutoFit/>
          </a:bodyPr>
          <a:lstStyle/>
          <a:p>
            <a:r>
              <a:rPr lang="en-AU" dirty="0"/>
              <a:t>One example that </a:t>
            </a:r>
            <a:r>
              <a:rPr lang="en-AU" dirty="0">
                <a:solidFill>
                  <a:srgbClr val="FF0000"/>
                </a:solidFill>
              </a:rPr>
              <a:t>the setting </a:t>
            </a:r>
            <a:r>
              <a:rPr lang="en-AU" dirty="0"/>
              <a:t>represents obstacles for the protagonist, Vincent, is the director's use of </a:t>
            </a:r>
            <a:r>
              <a:rPr lang="en-AU" dirty="0">
                <a:solidFill>
                  <a:srgbClr val="FF0000"/>
                </a:solidFill>
              </a:rPr>
              <a:t>mise-</a:t>
            </a:r>
            <a:r>
              <a:rPr lang="en-AU" dirty="0" err="1">
                <a:solidFill>
                  <a:srgbClr val="FF0000"/>
                </a:solidFill>
              </a:rPr>
              <a:t>en</a:t>
            </a:r>
            <a:r>
              <a:rPr lang="en-AU" dirty="0">
                <a:solidFill>
                  <a:srgbClr val="FF0000"/>
                </a:solidFill>
              </a:rPr>
              <a:t>-scene. </a:t>
            </a:r>
            <a:r>
              <a:rPr lang="en-AU" dirty="0"/>
              <a:t>Earlier in the film, while Vincent is working as a janitor there is a </a:t>
            </a:r>
            <a:r>
              <a:rPr lang="en-AU" dirty="0">
                <a:solidFill>
                  <a:srgbClr val="FF0000"/>
                </a:solidFill>
              </a:rPr>
              <a:t>long shot </a:t>
            </a:r>
            <a:r>
              <a:rPr lang="en-AU" dirty="0"/>
              <a:t>with a pane of glass in </a:t>
            </a:r>
            <a:r>
              <a:rPr lang="en-AU" dirty="0">
                <a:solidFill>
                  <a:schemeClr val="accent1">
                    <a:lumMod val="50000"/>
                  </a:schemeClr>
                </a:solidFill>
              </a:rPr>
              <a:t>the foreground </a:t>
            </a:r>
            <a:r>
              <a:rPr lang="en-AU" dirty="0"/>
              <a:t>and a reflected image of Vincent looking through the glass with a determined expression on his face. The reflection in the glass allows the audience to realise that they observing Vincent watch the chosen citizens ascend the escalator into the Gattaca Complex. The escalator and the golden lights along the sides that create leading lines upwards symbolise the exclusive status of the genetically superior citizens  as long they are allowed to literally (and symbolically)  move up in the world. This establishes both the </a:t>
            </a:r>
            <a:r>
              <a:rPr lang="en-AU" dirty="0" err="1"/>
              <a:t>protagonists’s</a:t>
            </a:r>
            <a:r>
              <a:rPr lang="en-AU" dirty="0"/>
              <a:t> awareness of the obstacle and his determination to reach his dream  and this is further reinforced by his dialogue to his supervisor, when Vincent states that he intends to be on the "other </a:t>
            </a:r>
            <a:r>
              <a:rPr lang="en-AU" dirty="0" err="1"/>
              <a:t>side”of</a:t>
            </a:r>
            <a:r>
              <a:rPr lang="en-AU" dirty="0"/>
              <a:t> the glass. </a:t>
            </a:r>
          </a:p>
        </p:txBody>
      </p:sp>
    </p:spTree>
    <p:extLst>
      <p:ext uri="{BB962C8B-B14F-4D97-AF65-F5344CB8AC3E}">
        <p14:creationId xmlns:p14="http://schemas.microsoft.com/office/powerpoint/2010/main" val="2415170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71C5E-9975-4072-B72B-8D5307910746}"/>
              </a:ext>
            </a:extLst>
          </p:cNvPr>
          <p:cNvSpPr>
            <a:spLocks noGrp="1"/>
          </p:cNvSpPr>
          <p:nvPr>
            <p:ph type="title"/>
          </p:nvPr>
        </p:nvSpPr>
        <p:spPr/>
        <p:txBody>
          <a:bodyPr>
            <a:normAutofit fontScale="90000"/>
          </a:bodyPr>
          <a:lstStyle/>
          <a:p>
            <a:r>
              <a:rPr lang="en-AU" dirty="0"/>
              <a:t>Have a go at your own analysis of the image below.  Identify the conventions and the idea represented.</a:t>
            </a:r>
          </a:p>
        </p:txBody>
      </p:sp>
      <p:pic>
        <p:nvPicPr>
          <p:cNvPr id="3" name="Picture 2" descr="new_worlds_weekly_NWW31_Gattaca_ladder">
            <a:extLst>
              <a:ext uri="{FF2B5EF4-FFF2-40B4-BE49-F238E27FC236}">
                <a16:creationId xmlns:a16="http://schemas.microsoft.com/office/drawing/2014/main" id="{808943A0-3545-4D4A-9086-6C6656BF708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762125"/>
            <a:ext cx="7620000" cy="3333750"/>
          </a:xfrm>
          <a:prstGeom prst="rect">
            <a:avLst/>
          </a:prstGeom>
          <a:noFill/>
          <a:ln>
            <a:noFill/>
          </a:ln>
        </p:spPr>
      </p:pic>
    </p:spTree>
    <p:extLst>
      <p:ext uri="{BB962C8B-B14F-4D97-AF65-F5344CB8AC3E}">
        <p14:creationId xmlns:p14="http://schemas.microsoft.com/office/powerpoint/2010/main" val="450947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D2629-981F-486F-B6B2-7C109382D3A1}"/>
              </a:ext>
            </a:extLst>
          </p:cNvPr>
          <p:cNvSpPr>
            <a:spLocks noGrp="1"/>
          </p:cNvSpPr>
          <p:nvPr>
            <p:ph type="title"/>
          </p:nvPr>
        </p:nvSpPr>
        <p:spPr/>
        <p:txBody>
          <a:bodyPr>
            <a:normAutofit fontScale="90000"/>
          </a:bodyPr>
          <a:lstStyle/>
          <a:p>
            <a:r>
              <a:rPr lang="en-AU" dirty="0"/>
              <a:t>There is a lot of information on Gattaca online. Use it to support your understanding, but not in place of your own understanding. </a:t>
            </a:r>
          </a:p>
        </p:txBody>
      </p:sp>
    </p:spTree>
    <p:extLst>
      <p:ext uri="{BB962C8B-B14F-4D97-AF65-F5344CB8AC3E}">
        <p14:creationId xmlns:p14="http://schemas.microsoft.com/office/powerpoint/2010/main" val="660150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7F315-2925-4280-8B33-C5B52CB3BF3C}"/>
              </a:ext>
            </a:extLst>
          </p:cNvPr>
          <p:cNvSpPr>
            <a:spLocks noGrp="1"/>
          </p:cNvSpPr>
          <p:nvPr>
            <p:ph type="title"/>
          </p:nvPr>
        </p:nvSpPr>
        <p:spPr/>
        <p:txBody>
          <a:bodyPr>
            <a:normAutofit fontScale="90000"/>
          </a:bodyPr>
          <a:lstStyle/>
          <a:p>
            <a:br>
              <a:rPr lang="en-AU" u="sng" dirty="0">
                <a:solidFill>
                  <a:srgbClr val="660099"/>
                </a:solidFill>
                <a:latin typeface="arial" panose="020B0604020202020204" pitchFamily="34" charset="0"/>
                <a:hlinkClick r:id="rId2">
                  <a:extLst>
                    <a:ext uri="{A12FA001-AC4F-418D-AE19-62706E023703}">
                      <ahyp:hlinkClr xmlns:ahyp="http://schemas.microsoft.com/office/drawing/2018/hyperlinkcolor" val="tx"/>
                    </a:ext>
                  </a:extLst>
                </a:hlinkClick>
              </a:rPr>
            </a:br>
            <a:r>
              <a:rPr lang="en-AU" u="sng" dirty="0">
                <a:solidFill>
                  <a:srgbClr val="3C4043"/>
                </a:solidFill>
                <a:latin typeface="arial" panose="020B0604020202020204" pitchFamily="34" charset="0"/>
                <a:hlinkClick r:id="rId2">
                  <a:extLst>
                    <a:ext uri="{A12FA001-AC4F-418D-AE19-62706E023703}">
                      <ahyp:hlinkClr xmlns:ahyp="http://schemas.microsoft.com/office/drawing/2018/hyperlinkcolor" val="tx"/>
                    </a:ext>
                  </a:extLst>
                </a:hlinkClick>
              </a:rPr>
              <a:t>www.gradesaver.com › </a:t>
            </a:r>
            <a:r>
              <a:rPr lang="en-AU" u="sng" dirty="0" err="1">
                <a:solidFill>
                  <a:srgbClr val="3C4043"/>
                </a:solidFill>
                <a:latin typeface="arial" panose="020B0604020202020204" pitchFamily="34" charset="0"/>
                <a:hlinkClick r:id="rId2">
                  <a:extLst>
                    <a:ext uri="{A12FA001-AC4F-418D-AE19-62706E023703}">
                      <ahyp:hlinkClr xmlns:ahyp="http://schemas.microsoft.com/office/drawing/2018/hyperlinkcolor" val="tx"/>
                    </a:ext>
                  </a:extLst>
                </a:hlinkClick>
              </a:rPr>
              <a:t>gattaca</a:t>
            </a:r>
            <a:r>
              <a:rPr lang="en-AU" u="sng" dirty="0">
                <a:solidFill>
                  <a:srgbClr val="3C4043"/>
                </a:solidFill>
                <a:latin typeface="arial" panose="020B0604020202020204" pitchFamily="34" charset="0"/>
                <a:hlinkClick r:id="rId2">
                  <a:extLst>
                    <a:ext uri="{A12FA001-AC4F-418D-AE19-62706E023703}">
                      <ahyp:hlinkClr xmlns:ahyp="http://schemas.microsoft.com/office/drawing/2018/hyperlinkcolor" val="tx"/>
                    </a:ext>
                  </a:extLst>
                </a:hlinkClick>
              </a:rPr>
              <a:t> › study-guide › summary</a:t>
            </a:r>
            <a:br>
              <a:rPr lang="en-AU" u="sng" dirty="0">
                <a:solidFill>
                  <a:srgbClr val="660099"/>
                </a:solidFill>
                <a:latin typeface="arial" panose="020B0604020202020204" pitchFamily="34" charset="0"/>
              </a:rPr>
            </a:br>
            <a:endParaRPr lang="en-AU" dirty="0"/>
          </a:p>
        </p:txBody>
      </p:sp>
      <p:sp>
        <p:nvSpPr>
          <p:cNvPr id="3" name="Rectangle 2">
            <a:extLst>
              <a:ext uri="{FF2B5EF4-FFF2-40B4-BE49-F238E27FC236}">
                <a16:creationId xmlns:a16="http://schemas.microsoft.com/office/drawing/2014/main" id="{DA1C6758-7238-4D92-A6E6-ED76E5015062}"/>
              </a:ext>
            </a:extLst>
          </p:cNvPr>
          <p:cNvSpPr/>
          <p:nvPr/>
        </p:nvSpPr>
        <p:spPr>
          <a:xfrm>
            <a:off x="838200" y="2240281"/>
            <a:ext cx="10603230" cy="4239687"/>
          </a:xfrm>
          <a:prstGeom prst="rect">
            <a:avLst/>
          </a:prstGeom>
        </p:spPr>
        <p:txBody>
          <a:bodyPr wrap="square">
            <a:spAutoFit/>
          </a:bodyPr>
          <a:lstStyle/>
          <a:p>
            <a:pPr>
              <a:lnSpc>
                <a:spcPct val="107000"/>
              </a:lnSpc>
              <a:spcAft>
                <a:spcPts val="800"/>
              </a:spcAft>
            </a:pPr>
            <a:r>
              <a:rPr lang="en-AU" b="1" dirty="0">
                <a:solidFill>
                  <a:srgbClr val="4F4F4F"/>
                </a:solidFill>
                <a:latin typeface="Calibri" panose="020F0502020204030204" pitchFamily="34" charset="0"/>
                <a:ea typeface="Calibri" panose="020F0502020204030204" pitchFamily="34" charset="0"/>
                <a:cs typeface="Times New Roman" panose="02020603050405020304" pitchFamily="18" charset="0"/>
              </a:rPr>
              <a:t>Spiral staircase</a:t>
            </a:r>
            <a:endParaRPr lang="en-AU"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AU" dirty="0">
                <a:solidFill>
                  <a:srgbClr val="4F4F4F"/>
                </a:solidFill>
                <a:latin typeface="Calibri" panose="020F0502020204030204" pitchFamily="34" charset="0"/>
                <a:ea typeface="Calibri" panose="020F0502020204030204" pitchFamily="34" charset="0"/>
                <a:cs typeface="Times New Roman" panose="02020603050405020304" pitchFamily="18" charset="0"/>
              </a:rPr>
              <a:t>The staircase in Vincent and Jerome's apartment is spiral-shaped, representing the shape of the double-helix model of DNA. This is a focal point of many scenes, as it symbolizes the society founded upon genetics and scientific ideals. It is also a powerful symbol for life and humanity, key themes explored in the film.</a:t>
            </a:r>
            <a:endParaRPr lang="en-AU"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AU" dirty="0">
                <a:solidFill>
                  <a:srgbClr val="4F4F4F"/>
                </a:solidFill>
                <a:latin typeface="Calibri" panose="020F0502020204030204" pitchFamily="34" charset="0"/>
                <a:ea typeface="Calibri" panose="020F0502020204030204" pitchFamily="34" charset="0"/>
                <a:cs typeface="Times New Roman" panose="02020603050405020304" pitchFamily="18" charset="0"/>
              </a:rPr>
              <a:t>As well as this, the spiral staircase in the mise-</a:t>
            </a:r>
            <a:r>
              <a:rPr lang="en-AU" dirty="0" err="1">
                <a:solidFill>
                  <a:srgbClr val="4F4F4F"/>
                </a:solidFill>
                <a:latin typeface="Calibri" panose="020F0502020204030204" pitchFamily="34" charset="0"/>
                <a:ea typeface="Calibri" panose="020F0502020204030204" pitchFamily="34" charset="0"/>
                <a:cs typeface="Times New Roman" panose="02020603050405020304" pitchFamily="18" charset="0"/>
              </a:rPr>
              <a:t>en</a:t>
            </a:r>
            <a:r>
              <a:rPr lang="en-AU" dirty="0">
                <a:solidFill>
                  <a:srgbClr val="4F4F4F"/>
                </a:solidFill>
                <a:latin typeface="Calibri" panose="020F0502020204030204" pitchFamily="34" charset="0"/>
                <a:ea typeface="Calibri" panose="020F0502020204030204" pitchFamily="34" charset="0"/>
                <a:cs typeface="Times New Roman" panose="02020603050405020304" pitchFamily="18" charset="0"/>
              </a:rPr>
              <a:t>-scene of Jerome's apartment symbolically represents the parallel between Vincent and Jerome. This is most clearly seen towards the end of the film, when Vincent stands at the top of the stairs and Jerome is placed at the bottom. This illustrates that the two have essentially 'become' each other - while Vincent adopted Jerome's identity, Jerome fell further into disrepute. The image of the spiral staircase is so central to the film that it was used in promotional posters and is now on the DVD cover.</a:t>
            </a:r>
            <a:endParaRPr lang="en-AU"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AU" dirty="0">
                <a:solidFill>
                  <a:srgbClr val="4F4F4F"/>
                </a:solidFill>
                <a:latin typeface="Calibri" panose="020F0502020204030204" pitchFamily="34" charset="0"/>
                <a:ea typeface="Calibri" panose="020F0502020204030204" pitchFamily="34" charset="0"/>
                <a:cs typeface="Times New Roman" panose="02020603050405020304" pitchFamily="18" charset="0"/>
              </a:rPr>
              <a:t>The staircase also represents human drive and determination. This can be seen when Jerome has to climb the staircase. He has to pull himself up slowly, which is incredibly difficult as he is paralysed from the waist down, nonetheless he manages to do so. This is the first moment in the film where Jerome strives to achieve something, as he is typically characterized as jaded and cynical.</a:t>
            </a:r>
            <a:endParaRPr lang="en-AU"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73931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1801"/>
          </a:xfrm>
        </p:spPr>
        <p:txBody>
          <a:bodyPr/>
          <a:lstStyle/>
          <a:p>
            <a:endParaRPr lang="en-AU" u="sng" dirty="0"/>
          </a:p>
        </p:txBody>
      </p:sp>
    </p:spTree>
    <p:extLst>
      <p:ext uri="{BB962C8B-B14F-4D97-AF65-F5344CB8AC3E}">
        <p14:creationId xmlns:p14="http://schemas.microsoft.com/office/powerpoint/2010/main" val="2439306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TotalTime>
  <Words>1176</Words>
  <Application>Microsoft Office PowerPoint</Application>
  <PresentationFormat>Widescreen</PresentationFormat>
  <Paragraphs>53</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Gattaca and The Great Gatsby: Comparative Essay</vt:lpstr>
      <vt:lpstr>Texts from different genres, that look at similar ideas or issues. Remember that an idea is never just one word. Remember that an issue is something that can be debated.</vt:lpstr>
      <vt:lpstr>The important strand of the marking criteria</vt:lpstr>
      <vt:lpstr>PowerPoint Presentation</vt:lpstr>
      <vt:lpstr>PowerPoint Presentation</vt:lpstr>
      <vt:lpstr>Have a go at your own analysis of the image below.  Identify the conventions and the idea represented.</vt:lpstr>
      <vt:lpstr>There is a lot of information on Gattaca online. Use it to support your understanding, but not in place of your own understanding. </vt:lpstr>
      <vt:lpstr> www.gradesaver.com › gattaca › study-guide › summary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Gattaca and Gatsby Essay</dc:title>
  <dc:creator>Sarah French</dc:creator>
  <cp:lastModifiedBy>Natasha Senasinghe</cp:lastModifiedBy>
  <cp:revision>22</cp:revision>
  <dcterms:created xsi:type="dcterms:W3CDTF">2020-04-05T04:04:59Z</dcterms:created>
  <dcterms:modified xsi:type="dcterms:W3CDTF">2021-08-01T23:57:38Z</dcterms:modified>
</cp:coreProperties>
</file>
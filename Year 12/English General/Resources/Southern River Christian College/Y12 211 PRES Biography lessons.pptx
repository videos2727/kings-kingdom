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85" r:id="rId7"/>
    <p:sldId id="261" r:id="rId8"/>
    <p:sldId id="262" r:id="rId9"/>
    <p:sldId id="286" r:id="rId10"/>
    <p:sldId id="287" r:id="rId11"/>
    <p:sldId id="288" r:id="rId12"/>
    <p:sldId id="289" r:id="rId13"/>
    <p:sldId id="263" r:id="rId14"/>
    <p:sldId id="264" r:id="rId15"/>
    <p:sldId id="290" r:id="rId16"/>
    <p:sldId id="291" r:id="rId17"/>
    <p:sldId id="292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3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Janse van Rensburg" userId="c242d890-f940-49be-a646-5509d964c911" providerId="ADAL" clId="{AD3BCA8F-7E3C-44BC-AD4F-5CD287C1D0BC}"/>
    <pc:docChg chg="undo redo custSel addSld modSld">
      <pc:chgData name="Andre Janse van Rensburg" userId="c242d890-f940-49be-a646-5509d964c911" providerId="ADAL" clId="{AD3BCA8F-7E3C-44BC-AD4F-5CD287C1D0BC}" dt="2018-09-13T03:22:28.136" v="254" actId="13926"/>
      <pc:docMkLst>
        <pc:docMk/>
      </pc:docMkLst>
      <pc:sldChg chg="modSp">
        <pc:chgData name="Andre Janse van Rensburg" userId="c242d890-f940-49be-a646-5509d964c911" providerId="ADAL" clId="{AD3BCA8F-7E3C-44BC-AD4F-5CD287C1D0BC}" dt="2018-09-13T03:11:12.967" v="19" actId="20577"/>
        <pc:sldMkLst>
          <pc:docMk/>
          <pc:sldMk cId="1873628663" sldId="264"/>
        </pc:sldMkLst>
        <pc:spChg chg="mod">
          <ac:chgData name="Andre Janse van Rensburg" userId="c242d890-f940-49be-a646-5509d964c911" providerId="ADAL" clId="{AD3BCA8F-7E3C-44BC-AD4F-5CD287C1D0BC}" dt="2018-09-13T03:11:12.967" v="19" actId="20577"/>
          <ac:spMkLst>
            <pc:docMk/>
            <pc:sldMk cId="1873628663" sldId="264"/>
            <ac:spMk id="3" creationId="{C491BBD9-A897-40CA-A2CF-713AAA341EEA}"/>
          </ac:spMkLst>
        </pc:spChg>
      </pc:sldChg>
      <pc:sldChg chg="modSp add">
        <pc:chgData name="Andre Janse van Rensburg" userId="c242d890-f940-49be-a646-5509d964c911" providerId="ADAL" clId="{AD3BCA8F-7E3C-44BC-AD4F-5CD287C1D0BC}" dt="2018-09-13T03:16:46.900" v="125" actId="13926"/>
        <pc:sldMkLst>
          <pc:docMk/>
          <pc:sldMk cId="1974705002" sldId="290"/>
        </pc:sldMkLst>
        <pc:spChg chg="mod">
          <ac:chgData name="Andre Janse van Rensburg" userId="c242d890-f940-49be-a646-5509d964c911" providerId="ADAL" clId="{AD3BCA8F-7E3C-44BC-AD4F-5CD287C1D0BC}" dt="2018-09-13T03:11:26.373" v="21"/>
          <ac:spMkLst>
            <pc:docMk/>
            <pc:sldMk cId="1974705002" sldId="290"/>
            <ac:spMk id="2" creationId="{8FD543CD-4CD4-4C94-86B1-183F13178237}"/>
          </ac:spMkLst>
        </pc:spChg>
        <pc:spChg chg="mod">
          <ac:chgData name="Andre Janse van Rensburg" userId="c242d890-f940-49be-a646-5509d964c911" providerId="ADAL" clId="{AD3BCA8F-7E3C-44BC-AD4F-5CD287C1D0BC}" dt="2018-09-13T03:16:46.900" v="125" actId="13926"/>
          <ac:spMkLst>
            <pc:docMk/>
            <pc:sldMk cId="1974705002" sldId="290"/>
            <ac:spMk id="3" creationId="{BA2FF1B0-D64D-4A81-84F2-7E205E5264E6}"/>
          </ac:spMkLst>
        </pc:spChg>
      </pc:sldChg>
      <pc:sldChg chg="modSp add">
        <pc:chgData name="Andre Janse van Rensburg" userId="c242d890-f940-49be-a646-5509d964c911" providerId="ADAL" clId="{AD3BCA8F-7E3C-44BC-AD4F-5CD287C1D0BC}" dt="2018-09-13T03:19:10.295" v="183" actId="11"/>
        <pc:sldMkLst>
          <pc:docMk/>
          <pc:sldMk cId="3717165115" sldId="291"/>
        </pc:sldMkLst>
        <pc:spChg chg="mod">
          <ac:chgData name="Andre Janse van Rensburg" userId="c242d890-f940-49be-a646-5509d964c911" providerId="ADAL" clId="{AD3BCA8F-7E3C-44BC-AD4F-5CD287C1D0BC}" dt="2018-09-13T03:17:05.003" v="127"/>
          <ac:spMkLst>
            <pc:docMk/>
            <pc:sldMk cId="3717165115" sldId="291"/>
            <ac:spMk id="2" creationId="{4C360B9A-BF51-4D97-A4C0-A0F8138F6816}"/>
          </ac:spMkLst>
        </pc:spChg>
        <pc:spChg chg="mod">
          <ac:chgData name="Andre Janse van Rensburg" userId="c242d890-f940-49be-a646-5509d964c911" providerId="ADAL" clId="{AD3BCA8F-7E3C-44BC-AD4F-5CD287C1D0BC}" dt="2018-09-13T03:19:10.295" v="183" actId="11"/>
          <ac:spMkLst>
            <pc:docMk/>
            <pc:sldMk cId="3717165115" sldId="291"/>
            <ac:spMk id="3" creationId="{00B4945F-02C6-4B99-8E4F-13B656729FC0}"/>
          </ac:spMkLst>
        </pc:spChg>
      </pc:sldChg>
      <pc:sldChg chg="modSp add">
        <pc:chgData name="Andre Janse van Rensburg" userId="c242d890-f940-49be-a646-5509d964c911" providerId="ADAL" clId="{AD3BCA8F-7E3C-44BC-AD4F-5CD287C1D0BC}" dt="2018-09-13T03:22:28.136" v="254" actId="13926"/>
        <pc:sldMkLst>
          <pc:docMk/>
          <pc:sldMk cId="4164638238" sldId="292"/>
        </pc:sldMkLst>
        <pc:spChg chg="mod">
          <ac:chgData name="Andre Janse van Rensburg" userId="c242d890-f940-49be-a646-5509d964c911" providerId="ADAL" clId="{AD3BCA8F-7E3C-44BC-AD4F-5CD287C1D0BC}" dt="2018-09-13T03:19:24.535" v="185"/>
          <ac:spMkLst>
            <pc:docMk/>
            <pc:sldMk cId="4164638238" sldId="292"/>
            <ac:spMk id="2" creationId="{C696D433-A519-4478-A13F-84F731EEDE31}"/>
          </ac:spMkLst>
        </pc:spChg>
        <pc:spChg chg="mod">
          <ac:chgData name="Andre Janse van Rensburg" userId="c242d890-f940-49be-a646-5509d964c911" providerId="ADAL" clId="{AD3BCA8F-7E3C-44BC-AD4F-5CD287C1D0BC}" dt="2018-09-13T03:22:28.136" v="254" actId="13926"/>
          <ac:spMkLst>
            <pc:docMk/>
            <pc:sldMk cId="4164638238" sldId="292"/>
            <ac:spMk id="3" creationId="{EFB41C6B-28EF-48C7-809A-D2FEAF9BF0B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82AB2-986E-49F7-B0AA-8B91E25F6F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176E76-3E98-47C2-9684-46425C403A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8C71-1535-4751-B511-805AB4BC6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EC3FB-FFAD-4381-BAF6-A14165AEF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AFB49-E8C4-46C6-ABE6-85D46BE32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2857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C946F-9850-49AD-A46F-28951F6BC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6600">
                <a:latin typeface="Traveling _Typewriter" panose="02000506000000020004" pitchFamily="2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197DE-C063-49F0-9495-D97C3F5646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4400"/>
            </a:lvl1pPr>
            <a:lvl2pPr>
              <a:lnSpc>
                <a:spcPct val="120000"/>
              </a:lnSpc>
              <a:defRPr sz="4000"/>
            </a:lvl2pPr>
            <a:lvl3pPr>
              <a:lnSpc>
                <a:spcPct val="120000"/>
              </a:lnSpc>
              <a:defRPr sz="3600"/>
            </a:lvl3pPr>
            <a:lvl4pPr>
              <a:lnSpc>
                <a:spcPct val="120000"/>
              </a:lnSpc>
              <a:defRPr sz="3200"/>
            </a:lvl4pPr>
            <a:lvl5pPr>
              <a:lnSpc>
                <a:spcPct val="120000"/>
              </a:lnSpc>
              <a:defRPr sz="3200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A994C-3B32-4348-818C-2F8D4333C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385E1-E9A8-49F8-A7FE-1BF316F41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785EFA-1047-4947-8D8F-E7F3D509F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4252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1856C-8A2D-4B99-850B-B88444342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D9CA28-E29B-49FF-9513-1BA647A98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9C0678-43EF-44C8-8EF3-6BBA2FCAD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E7BE4-0DC7-479E-9A17-8891638B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84AF5E-7E58-492A-A90D-81766419A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5571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5ABBB-117D-419F-A589-48DFBC14A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7B7E61-81DB-4208-9E3B-E073019EE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918C0-4F19-4D34-8F67-BB4A8DD3F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CD48CB-1D24-43CD-A6B9-831C9960B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130041-E48D-40FB-988B-66540268B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0558C-6440-4E18-B010-040C17669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785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A8229-F1B8-4609-887D-19D1FD0D6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B81A4F-A39C-47AB-8A13-ACE3C8145B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E8CD67-C810-4AC9-B6DB-9303737A49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EBFCB3-F6B9-4531-9ABC-CE667E7817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C440B-90A3-4895-B17D-555FD67A74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AC42B-BA37-422E-8DEA-870C44DDD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E6B59C-76CA-4F2A-AFB5-AE7DD1BF7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C512E5-24FA-47A7-A156-C775E4661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535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76FDD-7E09-4772-8093-C1132FA05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942E65-808F-4009-9E33-DC86F20C0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95F54D-3229-437C-83EB-6313827CC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CF0563-BC1B-427D-B695-AE9D80401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16472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AF5F8A-BD84-4A67-9AE9-486F262F8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F1F130-96B8-4C46-9327-90E77AAC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EE475-AE54-4EC0-BA65-42F8C0B0D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0439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A154C-ED79-482A-AE13-9456DD63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ECD63-521F-4499-9584-ABAD28E56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C2AD1-192D-461F-BC24-BCF5CDC339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50F08C-7155-4345-8014-3C5505C41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C22E3C-29D0-4148-BE3F-B0C2F4B3B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6BE43-7271-4C30-B63A-035F7C327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748222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94ED-B72E-432A-B07E-D4EE441DD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D70E6C-E298-48A2-92A5-402477830F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A60D0C-1E12-4F92-81A8-A25781AAB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1D832-D01B-4A1A-A9C6-B4F7042DD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A35D7-9D0F-4950-A3F3-727AD0A90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4C397-9C7D-4BB8-85AB-D94129A8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5667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977E1-227A-4EF8-9562-4DDEB0B32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444234-7C0A-4B9F-BD66-26B145975D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EC908-E36E-4609-8DF0-A6DD96AD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C7955-93DC-45FC-96C4-C99FD674E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41124-1D99-4C4B-A41B-EF1409E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22114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09B3D-23A5-45EE-981B-FE0A3E864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C7A90C-AF57-46AF-BC84-E9C963ACB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538B1-48E9-48CE-9FF6-859D21938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B61348-9B25-4641-A526-04EC2526D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CD87A-0C61-491A-925F-6B21EB08E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0975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40000"/>
            <a:lum/>
          </a:blip>
          <a:srcRect/>
          <a:stretch>
            <a:fillRect t="-83000" b="-8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01A712-5077-478E-BCB5-766D1A774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129E2-660A-4AE9-9525-A4642C7651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03C59-023F-4BB1-9D2D-FD6240D941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87F77-B8D1-4C20-ACC9-33AE515AC199}" type="datetimeFigureOut">
              <a:rPr lang="en-AU" smtClean="0"/>
              <a:t>13/09/2018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58DDD-3A7F-44CF-8887-2AFB4796B8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261E8-0E82-4D80-8EA4-462700A5FC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4D11-0CE0-4022-8015-E280DF703EB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940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BAB88D-8821-400C-B05E-C45389E4C1E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/>
          <a:lstStyle/>
          <a:p>
            <a:r>
              <a:rPr lang="en-US" dirty="0"/>
              <a:t>Y12 English General Course</a:t>
            </a:r>
            <a:endParaRPr lang="en-AU" dirty="0"/>
          </a:p>
        </p:txBody>
      </p:sp>
      <p:pic>
        <p:nvPicPr>
          <p:cNvPr id="6" name="Picture 4" descr="Image result for biography">
            <a:extLst>
              <a:ext uri="{FF2B5EF4-FFF2-40B4-BE49-F238E27FC236}">
                <a16:creationId xmlns:a16="http://schemas.microsoft.com/office/drawing/2014/main" id="{F72A5279-710D-4D34-AA5E-38F5C8EA5A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837" y="643596"/>
            <a:ext cx="10563519" cy="4105659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95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43307-2ADB-47C7-97F6-B824BEA5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E5D1D-1A12-4FF3-A582-451886F8F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examine the reasons for writing biographies and the qualities that readers desire in biographies</a:t>
            </a:r>
          </a:p>
          <a:p>
            <a:endParaRPr lang="en-US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8656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A3328-8D22-4DCD-B16B-70B2FBFC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B6334-26E1-49CA-9BCD-D7FA8816B3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Silent reading of the information in handout pages 2-3</a:t>
            </a:r>
            <a:endParaRPr lang="en-AU" dirty="0"/>
          </a:p>
          <a:p>
            <a:pPr lvl="0"/>
            <a:r>
              <a:rPr lang="en-US" dirty="0"/>
              <a:t>Pair work</a:t>
            </a:r>
          </a:p>
          <a:p>
            <a:pPr lvl="1"/>
            <a:r>
              <a:rPr lang="en-US" dirty="0"/>
              <a:t>Complete the vocab exercise</a:t>
            </a:r>
            <a:endParaRPr lang="en-AU" dirty="0"/>
          </a:p>
          <a:p>
            <a:r>
              <a:rPr lang="en-AU" dirty="0"/>
              <a:t>Groups of three</a:t>
            </a:r>
          </a:p>
          <a:p>
            <a:pPr lvl="1"/>
            <a:r>
              <a:rPr lang="en-AU" dirty="0"/>
              <a:t>Discuss qualities of biographies</a:t>
            </a:r>
          </a:p>
        </p:txBody>
      </p:sp>
    </p:spTree>
    <p:extLst>
      <p:ext uri="{BB962C8B-B14F-4D97-AF65-F5344CB8AC3E}">
        <p14:creationId xmlns:p14="http://schemas.microsoft.com/office/powerpoint/2010/main" val="4092118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173C5-0600-4F34-A7F3-092B3F5EB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B7A5E1-24A4-4CC5-A2CC-FE57F12C9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examine biographies as representation by looking at omissions and inclusions and the use of opinions and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108212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A4CFFD-5BB7-4CFC-B383-34AEF888A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2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3CFFA-23BD-4C8C-B7DC-8B683390E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/>
            <a:r>
              <a:rPr lang="en-US" dirty="0"/>
              <a:t>Individual work</a:t>
            </a:r>
          </a:p>
          <a:p>
            <a:pPr lvl="1"/>
            <a:r>
              <a:rPr lang="en-US" dirty="0"/>
              <a:t>Silent reading on background page 6 		2 min</a:t>
            </a:r>
          </a:p>
          <a:p>
            <a:pPr lvl="1"/>
            <a:r>
              <a:rPr lang="en-US" dirty="0"/>
              <a:t>Silent reading of data on Ned Kelly in handout page 7	2 min</a:t>
            </a:r>
            <a:endParaRPr lang="en-AU" dirty="0"/>
          </a:p>
          <a:p>
            <a:pPr lvl="0"/>
            <a:r>
              <a:rPr lang="en-US" dirty="0"/>
              <a:t>Pair work</a:t>
            </a:r>
          </a:p>
          <a:p>
            <a:pPr lvl="1"/>
            <a:r>
              <a:rPr lang="en-US" dirty="0"/>
              <a:t>Discuss omissions</a:t>
            </a:r>
          </a:p>
          <a:p>
            <a:pPr lvl="0"/>
            <a:r>
              <a:rPr lang="en-US" dirty="0"/>
              <a:t>Individual work</a:t>
            </a:r>
          </a:p>
          <a:p>
            <a:pPr lvl="1"/>
            <a:r>
              <a:rPr lang="en-US" dirty="0"/>
              <a:t>Silent reading of data on Ned Kelly in handout pp 9-11</a:t>
            </a:r>
          </a:p>
        </p:txBody>
      </p:sp>
    </p:spTree>
    <p:extLst>
      <p:ext uri="{BB962C8B-B14F-4D97-AF65-F5344CB8AC3E}">
        <p14:creationId xmlns:p14="http://schemas.microsoft.com/office/powerpoint/2010/main" val="256590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2FA4F-780A-4FB5-964B-95D1B0204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Lesson 2 Activities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302D3-6EE8-4CFC-801E-25C40F9D8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Pair work</a:t>
            </a:r>
          </a:p>
          <a:p>
            <a:pPr lvl="1"/>
            <a:r>
              <a:rPr lang="en-US" dirty="0"/>
              <a:t>Discuss omissions and inclusions</a:t>
            </a:r>
          </a:p>
          <a:p>
            <a:pPr lvl="1"/>
            <a:r>
              <a:rPr lang="en-US" dirty="0"/>
              <a:t>Complete grid on pages 8 and 9</a:t>
            </a:r>
            <a:endParaRPr lang="en-AU" dirty="0"/>
          </a:p>
          <a:p>
            <a:pPr lvl="1"/>
            <a:r>
              <a:rPr lang="en-AU" dirty="0"/>
              <a:t>Complete exercise identifying Facts and Opinions (Handout pages 11-13)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546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A50C4-72AC-4C4E-B56C-1CC99A369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9AFD-E4CF-4FFC-AC4B-A6063C6ECA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examine biographies as representation by looking at organisation and diction</a:t>
            </a:r>
          </a:p>
        </p:txBody>
      </p:sp>
    </p:spTree>
    <p:extLst>
      <p:ext uri="{BB962C8B-B14F-4D97-AF65-F5344CB8AC3E}">
        <p14:creationId xmlns:p14="http://schemas.microsoft.com/office/powerpoint/2010/main" val="3810966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F060-1E47-4345-85D3-511F69FCE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88AB1-7A65-4481-A347-5B759DA35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View pdf on context</a:t>
            </a:r>
          </a:p>
          <a:p>
            <a:pPr lvl="0"/>
            <a:r>
              <a:rPr lang="en-US" dirty="0"/>
              <a:t>Individual Work 				</a:t>
            </a:r>
            <a:r>
              <a:rPr lang="en-US" b="1" dirty="0">
                <a:solidFill>
                  <a:schemeClr val="bg1"/>
                </a:solidFill>
              </a:rPr>
              <a:t>5 minutes</a:t>
            </a:r>
          </a:p>
          <a:p>
            <a:pPr lvl="1"/>
            <a:r>
              <a:rPr lang="en-US" dirty="0"/>
              <a:t>Read sample biographies </a:t>
            </a:r>
          </a:p>
          <a:p>
            <a:pPr lvl="1"/>
            <a:r>
              <a:rPr lang="en-US" dirty="0"/>
              <a:t>Handout pages 14-15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896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55E48-A3CE-4272-85B8-9BD98EC0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502B-9B21-421F-A629-52CE024DC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Groups</a:t>
            </a:r>
          </a:p>
          <a:p>
            <a:pPr lvl="1"/>
            <a:r>
              <a:rPr lang="en-US" dirty="0"/>
              <a:t>Complete retrieval chart 		</a:t>
            </a:r>
            <a:r>
              <a:rPr lang="en-US" b="1" dirty="0">
                <a:solidFill>
                  <a:schemeClr val="bg1"/>
                </a:solidFill>
              </a:rPr>
              <a:t>15 minutes</a:t>
            </a:r>
          </a:p>
          <a:p>
            <a:pPr lvl="1"/>
            <a:r>
              <a:rPr lang="en-US" dirty="0"/>
              <a:t>Skip Angry Anderson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111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7273-63BE-419E-BA75-BB6DEF1C7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0E7AA-DBDD-4D88-9E8C-020317FA0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AU" dirty="0"/>
              <a:t>Most words have multiple </a:t>
            </a:r>
            <a:r>
              <a:rPr lang="en-AU" b="1" dirty="0"/>
              <a:t>meanings</a:t>
            </a:r>
            <a:r>
              <a:rPr lang="en-AU" dirty="0"/>
              <a:t>, which are categorized as either </a:t>
            </a:r>
            <a:r>
              <a:rPr lang="en-AU" b="1" dirty="0"/>
              <a:t>denotative</a:t>
            </a:r>
            <a:r>
              <a:rPr lang="en-AU" dirty="0"/>
              <a:t> or </a:t>
            </a:r>
            <a:r>
              <a:rPr lang="en-AU" b="1" dirty="0"/>
              <a:t>connotative</a:t>
            </a:r>
            <a:r>
              <a:rPr lang="en-AU" dirty="0"/>
              <a:t>. </a:t>
            </a:r>
          </a:p>
          <a:p>
            <a:r>
              <a:rPr lang="en-AU" dirty="0"/>
              <a:t>The </a:t>
            </a:r>
            <a:r>
              <a:rPr lang="en-AU" b="1" dirty="0"/>
              <a:t>denotation</a:t>
            </a:r>
            <a:r>
              <a:rPr lang="en-AU" dirty="0"/>
              <a:t> of a word is its explicit </a:t>
            </a:r>
            <a:r>
              <a:rPr lang="en-AU" b="1" dirty="0"/>
              <a:t>definition</a:t>
            </a:r>
            <a:r>
              <a:rPr lang="en-AU" dirty="0"/>
              <a:t> as listed in a dictionary. Let's use the word “home” as an example. The </a:t>
            </a:r>
            <a:r>
              <a:rPr lang="en-AU" b="1" dirty="0"/>
              <a:t>denotative</a:t>
            </a:r>
            <a:r>
              <a:rPr lang="en-AU" dirty="0"/>
              <a:t> or literal </a:t>
            </a:r>
            <a:r>
              <a:rPr lang="en-AU" b="1" dirty="0"/>
              <a:t>meaning</a:t>
            </a:r>
            <a:r>
              <a:rPr lang="en-AU" dirty="0"/>
              <a:t> of “home” is “ a place where one lives; a residence.”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60334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8FD3C-4B28-485E-BC70-27BF64FBD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61E25-F8CC-4AFF-9252-0C6CD1B42D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78" y="1825625"/>
            <a:ext cx="11237844" cy="4667250"/>
          </a:xfrm>
        </p:spPr>
        <p:txBody>
          <a:bodyPr>
            <a:normAutofit fontScale="92500" lnSpcReduction="10000"/>
          </a:bodyPr>
          <a:lstStyle/>
          <a:p>
            <a:pPr fontAlgn="base"/>
            <a:r>
              <a:rPr lang="en-AU" sz="3600" dirty="0"/>
              <a:t>The expressiveness of language, however, comes from the other type of word meaning—connotation, or </a:t>
            </a:r>
            <a:r>
              <a:rPr lang="en-AU" sz="3600" b="1" dirty="0"/>
              <a:t>the association or set of associations that a word usually brings to mind </a:t>
            </a:r>
            <a:r>
              <a:rPr lang="en-AU" sz="3600" dirty="0"/>
              <a:t>. </a:t>
            </a:r>
          </a:p>
          <a:p>
            <a:pPr fontAlgn="base"/>
            <a:r>
              <a:rPr lang="en-AU" sz="3600" dirty="0"/>
              <a:t>The connotative meaning of “home” is a place of security, comfort, and family. </a:t>
            </a:r>
          </a:p>
          <a:p>
            <a:pPr lvl="1" fontAlgn="base"/>
            <a:r>
              <a:rPr lang="en-AU" sz="3200" dirty="0"/>
              <a:t>When Dorothy in The Wizard of Oz says, “There’s no place like home,” she’s not referring to its denotation, but the emotions “home” evokes for her and most people.</a:t>
            </a:r>
          </a:p>
        </p:txBody>
      </p:sp>
    </p:spTree>
    <p:extLst>
      <p:ext uri="{BB962C8B-B14F-4D97-AF65-F5344CB8AC3E}">
        <p14:creationId xmlns:p14="http://schemas.microsoft.com/office/powerpoint/2010/main" val="2402196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286D-DE21-498F-AFF1-D2BECA6FD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6FAFB-9716-488C-A5B6-82A32C553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Group work</a:t>
            </a:r>
          </a:p>
          <a:p>
            <a:pPr lvl="1"/>
            <a:r>
              <a:rPr lang="en-AU" dirty="0"/>
              <a:t>Complete activity on connotative meaning </a:t>
            </a:r>
          </a:p>
          <a:p>
            <a:pPr lvl="2"/>
            <a:r>
              <a:rPr lang="en-AU" dirty="0"/>
              <a:t>Handout page 17			</a:t>
            </a:r>
            <a:r>
              <a:rPr lang="en-AU" b="1" dirty="0">
                <a:solidFill>
                  <a:schemeClr val="bg1"/>
                </a:solidFill>
              </a:rPr>
              <a:t>10 minutes</a:t>
            </a:r>
          </a:p>
          <a:p>
            <a:pPr lvl="1"/>
            <a:r>
              <a:rPr lang="en-AU" dirty="0"/>
              <a:t>Complete the activity on diction </a:t>
            </a:r>
          </a:p>
          <a:p>
            <a:pPr lvl="2"/>
            <a:r>
              <a:rPr lang="en-AU" dirty="0"/>
              <a:t>Handout page 18			</a:t>
            </a:r>
            <a:r>
              <a:rPr lang="en-AU" b="1" dirty="0">
                <a:solidFill>
                  <a:schemeClr val="bg1"/>
                </a:solidFill>
              </a:rPr>
              <a:t>10 minutes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464324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F23AED-5034-4FAB-9D70-C0F895297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4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7B0759-1DCE-491C-A653-CAB520D50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consider a sample biography</a:t>
            </a:r>
          </a:p>
        </p:txBody>
      </p:sp>
    </p:spTree>
    <p:extLst>
      <p:ext uri="{BB962C8B-B14F-4D97-AF65-F5344CB8AC3E}">
        <p14:creationId xmlns:p14="http://schemas.microsoft.com/office/powerpoint/2010/main" val="1180933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F909-06F9-4AC4-915E-29471987B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4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BBD9-A897-40CA-A2CF-713AAA341E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lvl="0"/>
            <a:r>
              <a:rPr lang="en-US" dirty="0"/>
              <a:t>Individual work</a:t>
            </a:r>
          </a:p>
          <a:p>
            <a:pPr lvl="0"/>
            <a:r>
              <a:rPr lang="en-US" dirty="0"/>
              <a:t>Read the biography in handout </a:t>
            </a:r>
          </a:p>
          <a:p>
            <a:pPr lvl="1"/>
            <a:r>
              <a:rPr lang="en-US" dirty="0"/>
              <a:t>Pages 19-21</a:t>
            </a:r>
            <a:endParaRPr lang="en-AU" dirty="0"/>
          </a:p>
          <a:p>
            <a:r>
              <a:rPr lang="en-AU" dirty="0"/>
              <a:t>Individual work for assessment</a:t>
            </a:r>
          </a:p>
          <a:p>
            <a:pPr lvl="1"/>
            <a:r>
              <a:rPr lang="en-AU" dirty="0"/>
              <a:t>Respond to the questions</a:t>
            </a:r>
          </a:p>
          <a:p>
            <a:pPr lvl="1"/>
            <a:r>
              <a:rPr lang="en-US" dirty="0"/>
              <a:t>P</a:t>
            </a:r>
            <a:r>
              <a:rPr lang="en-AU" dirty="0"/>
              <a:t>ages 20-24</a:t>
            </a:r>
          </a:p>
        </p:txBody>
      </p:sp>
    </p:spTree>
    <p:extLst>
      <p:ext uri="{BB962C8B-B14F-4D97-AF65-F5344CB8AC3E}">
        <p14:creationId xmlns:p14="http://schemas.microsoft.com/office/powerpoint/2010/main" val="18736286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43CD-4CD4-4C94-86B1-183F13178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4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FF1B0-D64D-4A81-84F2-7E205E526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AU" dirty="0"/>
              <a:t>This biography starts with the subject’s death.  -  							</a:t>
            </a:r>
            <a:r>
              <a:rPr lang="en-AU" dirty="0">
                <a:highlight>
                  <a:srgbClr val="00FFFF"/>
                </a:highlight>
              </a:rPr>
              <a:t>Organisation</a:t>
            </a:r>
          </a:p>
          <a:p>
            <a:pPr marL="742950" indent="-742950">
              <a:buFont typeface="+mj-lt"/>
              <a:buAutoNum type="arabicPeriod"/>
            </a:pPr>
            <a:r>
              <a:rPr lang="en-AU" dirty="0"/>
              <a:t>Choice of language is important to our understanding of a text. 		</a:t>
            </a:r>
            <a:r>
              <a:rPr lang="en-AU" dirty="0">
                <a:highlight>
                  <a:srgbClr val="00FFFF"/>
                </a:highlight>
              </a:rPr>
              <a:t>Diction</a:t>
            </a:r>
            <a:endParaRPr lang="en-US" b="1" dirty="0">
              <a:solidFill>
                <a:schemeClr val="tx2">
                  <a:lumMod val="20000"/>
                  <a:lumOff val="80000"/>
                </a:schemeClr>
              </a:solidFill>
              <a:highlight>
                <a:srgbClr val="00FFFF"/>
              </a:highlight>
            </a:endParaRPr>
          </a:p>
          <a:p>
            <a:pPr marL="742950" lvl="0" indent="-742950">
              <a:buFont typeface="+mj-lt"/>
              <a:buAutoNum type="arabicPeriod"/>
            </a:pPr>
            <a:r>
              <a:rPr lang="en-AU" dirty="0"/>
              <a:t>Why do you think the author included information about the chess championship that Ledger won as a 10 year–old? </a:t>
            </a:r>
            <a:r>
              <a:rPr lang="en-AU" dirty="0">
                <a:highlight>
                  <a:srgbClr val="00FFFF"/>
                </a:highlight>
              </a:rPr>
              <a:t>Inclusion</a:t>
            </a:r>
          </a:p>
        </p:txBody>
      </p:sp>
    </p:spTree>
    <p:extLst>
      <p:ext uri="{BB962C8B-B14F-4D97-AF65-F5344CB8AC3E}">
        <p14:creationId xmlns:p14="http://schemas.microsoft.com/office/powerpoint/2010/main" val="1974705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60B9A-BF51-4D97-A4C0-A0F8138F6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4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B4945F-02C6-4B99-8E4F-13B656729F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742950" indent="-742950">
              <a:buFont typeface="+mj-lt"/>
              <a:buAutoNum type="arabicPeriod" startAt="4"/>
            </a:pPr>
            <a:r>
              <a:rPr lang="en-AU" dirty="0"/>
              <a:t>This article appears to suggest that Ledger was a serious actor rather than a Hollywood heart–throb.</a:t>
            </a:r>
            <a:r>
              <a:rPr lang="en-US" dirty="0"/>
              <a:t> </a:t>
            </a:r>
            <a:r>
              <a:rPr lang="en-US" dirty="0">
                <a:highlight>
                  <a:srgbClr val="00FFFF"/>
                </a:highlight>
              </a:rPr>
              <a:t>Fact or an opinion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n-AU" dirty="0"/>
              <a:t>Find three examples in the text that show the author had a positive opinion of Heath Ledger</a:t>
            </a:r>
            <a:r>
              <a:rPr lang="en-US" dirty="0"/>
              <a:t>. </a:t>
            </a:r>
            <a:r>
              <a:rPr lang="en-US" dirty="0">
                <a:highlight>
                  <a:srgbClr val="00FFFF"/>
                </a:highlight>
              </a:rPr>
              <a:t>Diction</a:t>
            </a:r>
            <a:r>
              <a:rPr lang="en-US" dirty="0"/>
              <a:t> </a:t>
            </a:r>
          </a:p>
          <a:p>
            <a:pPr marL="742950" indent="-742950">
              <a:buFont typeface="+mj-lt"/>
              <a:buAutoNum type="arabicPeriod" startAt="4"/>
            </a:pPr>
            <a:r>
              <a:rPr lang="en-AU" dirty="0"/>
              <a:t>What value judgements are implied in paragraph 13 about his romantic life? </a:t>
            </a:r>
            <a:r>
              <a:rPr lang="en-AU" dirty="0">
                <a:highlight>
                  <a:srgbClr val="00FFFF"/>
                </a:highlight>
              </a:rPr>
              <a:t>Diction</a:t>
            </a:r>
            <a:r>
              <a:rPr lang="en-AU" dirty="0"/>
              <a:t> </a:t>
            </a:r>
          </a:p>
          <a:p>
            <a:pPr marL="742950" indent="-742950">
              <a:buFont typeface="+mj-lt"/>
              <a:buAutoNum type="arabicPeriod" startAt="4"/>
            </a:pPr>
            <a:endParaRPr lang="en-AU" dirty="0"/>
          </a:p>
          <a:p>
            <a:pPr marL="742950" indent="-742950">
              <a:buFont typeface="+mj-lt"/>
              <a:buAutoNum type="arabicPeriod" startAt="4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17165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6D433-A519-4478-A13F-84F731EED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4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41C6B-28EF-48C7-809A-D2FEAF9BF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591" y="1825625"/>
            <a:ext cx="11145079" cy="4351338"/>
          </a:xfrm>
        </p:spPr>
        <p:txBody>
          <a:bodyPr>
            <a:normAutofit fontScale="62500" lnSpcReduction="20000"/>
          </a:bodyPr>
          <a:lstStyle/>
          <a:p>
            <a:pPr marL="742950" indent="-742950">
              <a:buFont typeface="+mj-lt"/>
              <a:buAutoNum type="arabicPeriod" startAt="7"/>
            </a:pPr>
            <a:r>
              <a:rPr lang="en-AU" dirty="0"/>
              <a:t>What does the mention of the fact that his ex–girlfriends were ‘several years his senior’ say about men and women and what is considered normal?					</a:t>
            </a:r>
            <a:r>
              <a:rPr lang="en-AU" dirty="0">
                <a:highlight>
                  <a:srgbClr val="00FFFF"/>
                </a:highlight>
              </a:rPr>
              <a:t>Values</a:t>
            </a:r>
          </a:p>
          <a:p>
            <a:pPr marL="742950" indent="-742950">
              <a:buFont typeface="+mj-lt"/>
              <a:buAutoNum type="arabicPeriod" startAt="7"/>
            </a:pPr>
            <a:r>
              <a:rPr lang="en-AU" dirty="0"/>
              <a:t>Why do you think the author has included information about Ledger’s relationship with his daughter?		</a:t>
            </a:r>
            <a:r>
              <a:rPr lang="en-AU" dirty="0">
                <a:highlight>
                  <a:srgbClr val="00FFFF"/>
                </a:highlight>
              </a:rPr>
              <a:t>Values and Inclusion</a:t>
            </a:r>
          </a:p>
          <a:p>
            <a:pPr marL="742950" indent="-742950">
              <a:buFont typeface="+mj-lt"/>
              <a:buAutoNum type="arabicPeriod" startAt="7"/>
            </a:pPr>
            <a:r>
              <a:rPr lang="en-AU" dirty="0"/>
              <a:t>In your opinion, what information should have been included or not included in the biography? 		</a:t>
            </a:r>
            <a:r>
              <a:rPr lang="en-AU" dirty="0">
                <a:highlight>
                  <a:srgbClr val="00FFFF"/>
                </a:highlight>
              </a:rPr>
              <a:t>Inclusion</a:t>
            </a:r>
          </a:p>
          <a:p>
            <a:pPr marL="742950" indent="-742950">
              <a:buFont typeface="+mj-lt"/>
              <a:buAutoNum type="arabicPeriod" startAt="7"/>
            </a:pPr>
            <a:r>
              <a:rPr lang="en-AU" dirty="0"/>
              <a:t>What was your opinion of Heath Ledger before reading the biography?  Describe how the biography has confirmed or changed your opinion. </a:t>
            </a:r>
          </a:p>
        </p:txBody>
      </p:sp>
    </p:spTree>
    <p:extLst>
      <p:ext uri="{BB962C8B-B14F-4D97-AF65-F5344CB8AC3E}">
        <p14:creationId xmlns:p14="http://schemas.microsoft.com/office/powerpoint/2010/main" val="4164638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82A0C-143D-4BA8-9310-38673B295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52D0D-272B-4AC0-A817-2A0D24321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revise visual language</a:t>
            </a:r>
          </a:p>
        </p:txBody>
      </p:sp>
    </p:spTree>
    <p:extLst>
      <p:ext uri="{BB962C8B-B14F-4D97-AF65-F5344CB8AC3E}">
        <p14:creationId xmlns:p14="http://schemas.microsoft.com/office/powerpoint/2010/main" val="2008201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4F70D-0D98-4B0E-855D-34A78077C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5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C5B9-F597-4459-8537-0D2FD9F9A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AU" dirty="0"/>
              <a:t>Revise the visual techniques table </a:t>
            </a:r>
          </a:p>
          <a:p>
            <a:pPr lvl="1"/>
            <a:r>
              <a:rPr lang="en-AU" dirty="0"/>
              <a:t>Handout pages 24-25</a:t>
            </a:r>
          </a:p>
          <a:p>
            <a:r>
              <a:rPr lang="en-AU" dirty="0"/>
              <a:t>View and discuss the PPT</a:t>
            </a:r>
          </a:p>
          <a:p>
            <a:r>
              <a:rPr lang="en-AU" dirty="0"/>
              <a:t>Add to annotations of poster</a:t>
            </a:r>
          </a:p>
          <a:p>
            <a:pPr lvl="1"/>
            <a:r>
              <a:rPr lang="en-US" dirty="0"/>
              <a:t>Handout page 26</a:t>
            </a:r>
            <a:endParaRPr lang="en-AU" dirty="0"/>
          </a:p>
          <a:p>
            <a:r>
              <a:rPr lang="en-AU" dirty="0"/>
              <a:t>Complete the retrieval chart</a:t>
            </a:r>
          </a:p>
          <a:p>
            <a:pPr lvl="1"/>
            <a:r>
              <a:rPr lang="en-US" dirty="0"/>
              <a:t>Handout page 27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62400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6237-FB6C-4DE0-9D84-D58C7A261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6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C655F6-819A-4C82-AD32-E624EA929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  <a:endParaRPr lang="en-AU" dirty="0"/>
          </a:p>
          <a:p>
            <a:pPr lvl="1"/>
            <a:r>
              <a:rPr lang="en-AU" dirty="0"/>
              <a:t>To respond to visual language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9155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AF238-4C46-489B-9C51-888169C1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6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6FDB5-365C-4BAE-8A5E-3AB7C2B70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Individual work for assessment</a:t>
            </a:r>
          </a:p>
          <a:p>
            <a:r>
              <a:rPr lang="en-AU" dirty="0"/>
              <a:t>Complete the retrieval chart</a:t>
            </a:r>
          </a:p>
          <a:p>
            <a:pPr lvl="1"/>
            <a:r>
              <a:rPr lang="en-AU" dirty="0"/>
              <a:t>Handout pages 27</a:t>
            </a:r>
          </a:p>
          <a:p>
            <a:r>
              <a:rPr lang="en-AU" dirty="0"/>
              <a:t>Complete a written response</a:t>
            </a:r>
          </a:p>
          <a:p>
            <a:pPr lvl="1"/>
            <a:r>
              <a:rPr lang="en-US" dirty="0"/>
              <a:t>H</a:t>
            </a:r>
            <a:r>
              <a:rPr lang="en-AU" dirty="0" err="1"/>
              <a:t>andout</a:t>
            </a:r>
            <a:r>
              <a:rPr lang="en-AU" dirty="0"/>
              <a:t> page 28</a:t>
            </a:r>
          </a:p>
        </p:txBody>
      </p:sp>
    </p:spTree>
    <p:extLst>
      <p:ext uri="{BB962C8B-B14F-4D97-AF65-F5344CB8AC3E}">
        <p14:creationId xmlns:p14="http://schemas.microsoft.com/office/powerpoint/2010/main" val="739425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1FC32-F72D-4142-85DF-37AF8881C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7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13D1A-FE69-4774-93EC-617E5892E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obtain background information to the movie</a:t>
            </a:r>
          </a:p>
        </p:txBody>
      </p:sp>
    </p:spTree>
    <p:extLst>
      <p:ext uri="{BB962C8B-B14F-4D97-AF65-F5344CB8AC3E}">
        <p14:creationId xmlns:p14="http://schemas.microsoft.com/office/powerpoint/2010/main" val="36870966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1A651-7E0D-4679-A690-E6D421A4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7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D4DE8-EE2B-4E9F-B2FF-351A6747AE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Pair work</a:t>
            </a:r>
          </a:p>
          <a:p>
            <a:r>
              <a:rPr lang="en-AU" dirty="0"/>
              <a:t>Complete an e-scavenger hunt</a:t>
            </a:r>
          </a:p>
          <a:p>
            <a:pPr lvl="1"/>
            <a:r>
              <a:rPr lang="en-US" dirty="0"/>
              <a:t>Biopic H</a:t>
            </a:r>
            <a:r>
              <a:rPr lang="en-AU" dirty="0" err="1"/>
              <a:t>andout</a:t>
            </a:r>
            <a:r>
              <a:rPr lang="en-AU" dirty="0"/>
              <a:t> page 2</a:t>
            </a:r>
          </a:p>
        </p:txBody>
      </p:sp>
    </p:spTree>
    <p:extLst>
      <p:ext uri="{BB962C8B-B14F-4D97-AF65-F5344CB8AC3E}">
        <p14:creationId xmlns:p14="http://schemas.microsoft.com/office/powerpoint/2010/main" val="21162681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25F3D-949A-45AE-B2D7-E8E14C7C7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8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C9B84-7333-4309-9F95-E2714175BF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view the movie</a:t>
            </a:r>
          </a:p>
        </p:txBody>
      </p:sp>
    </p:spTree>
    <p:extLst>
      <p:ext uri="{BB962C8B-B14F-4D97-AF65-F5344CB8AC3E}">
        <p14:creationId xmlns:p14="http://schemas.microsoft.com/office/powerpoint/2010/main" val="31780142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5202-3ABC-41F8-939F-D345B314B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9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7D086-31BB-4A74-B6C6-A5F7FAEBF9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view the movie</a:t>
            </a:r>
          </a:p>
        </p:txBody>
      </p:sp>
    </p:spTree>
    <p:extLst>
      <p:ext uri="{BB962C8B-B14F-4D97-AF65-F5344CB8AC3E}">
        <p14:creationId xmlns:p14="http://schemas.microsoft.com/office/powerpoint/2010/main" val="38630149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C7C6C-3797-47F2-BD8B-2A0450C9C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10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012B-1BDF-43C2-8108-FBF6D6D55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consider viewer positioning in the movie</a:t>
            </a:r>
          </a:p>
        </p:txBody>
      </p:sp>
    </p:spTree>
    <p:extLst>
      <p:ext uri="{BB962C8B-B14F-4D97-AF65-F5344CB8AC3E}">
        <p14:creationId xmlns:p14="http://schemas.microsoft.com/office/powerpoint/2010/main" val="35857944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E90-9EEA-4607-9003-DE3EC4C4F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10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42985-8928-415C-B86F-8D3F58EB6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Respond to questions on </a:t>
            </a:r>
          </a:p>
          <a:p>
            <a:pPr lvl="1"/>
            <a:r>
              <a:rPr lang="en-AU" dirty="0"/>
              <a:t>the opening sequence; </a:t>
            </a:r>
          </a:p>
          <a:p>
            <a:pPr lvl="1"/>
            <a:r>
              <a:rPr lang="en-AU" dirty="0"/>
              <a:t>family scenes and </a:t>
            </a:r>
          </a:p>
          <a:p>
            <a:pPr lvl="1"/>
            <a:r>
              <a:rPr lang="en-AU" dirty="0"/>
              <a:t>female characters</a:t>
            </a:r>
          </a:p>
          <a:p>
            <a:r>
              <a:rPr lang="en-US" dirty="0"/>
              <a:t>B</a:t>
            </a:r>
            <a:r>
              <a:rPr lang="en-AU" dirty="0" err="1"/>
              <a:t>iopic</a:t>
            </a:r>
            <a:r>
              <a:rPr lang="en-AU" dirty="0"/>
              <a:t> handout Questions 1-5</a:t>
            </a:r>
          </a:p>
        </p:txBody>
      </p:sp>
    </p:spTree>
    <p:extLst>
      <p:ext uri="{BB962C8B-B14F-4D97-AF65-F5344CB8AC3E}">
        <p14:creationId xmlns:p14="http://schemas.microsoft.com/office/powerpoint/2010/main" val="237990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8C7B4-2E2C-4CC7-91F8-848AC0486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11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A6C12-F35A-422F-B276-2D5601E71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consider character representation in the movie</a:t>
            </a:r>
          </a:p>
        </p:txBody>
      </p:sp>
    </p:spTree>
    <p:extLst>
      <p:ext uri="{BB962C8B-B14F-4D97-AF65-F5344CB8AC3E}">
        <p14:creationId xmlns:p14="http://schemas.microsoft.com/office/powerpoint/2010/main" val="27844932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676E8-2879-49CD-A800-9B844D8E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11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AB47BF-D436-4A70-A808-D0999FF120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Respond to questions on various incidents in the movie</a:t>
            </a:r>
          </a:p>
          <a:p>
            <a:pPr lvl="1"/>
            <a:r>
              <a:rPr lang="en-US" dirty="0"/>
              <a:t>B</a:t>
            </a:r>
            <a:r>
              <a:rPr lang="en-AU" dirty="0" err="1"/>
              <a:t>iopic</a:t>
            </a:r>
            <a:r>
              <a:rPr lang="en-AU" dirty="0"/>
              <a:t> handout Questions 6-9</a:t>
            </a:r>
          </a:p>
        </p:txBody>
      </p:sp>
    </p:spTree>
    <p:extLst>
      <p:ext uri="{BB962C8B-B14F-4D97-AF65-F5344CB8AC3E}">
        <p14:creationId xmlns:p14="http://schemas.microsoft.com/office/powerpoint/2010/main" val="2481001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E6274-BECC-4271-B539-E6C5BFF7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12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57F3D-535E-4351-9FF0-352C63925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To consider the use of symbols in the movie</a:t>
            </a:r>
          </a:p>
        </p:txBody>
      </p:sp>
    </p:spTree>
    <p:extLst>
      <p:ext uri="{BB962C8B-B14F-4D97-AF65-F5344CB8AC3E}">
        <p14:creationId xmlns:p14="http://schemas.microsoft.com/office/powerpoint/2010/main" val="3334180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35E69-36B0-4430-BAE3-055E3EC2F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12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CF87F-2C61-4239-8BD3-68F8D3C04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Discuss the meaning of symbols in the movie</a:t>
            </a:r>
          </a:p>
          <a:p>
            <a:pPr lvl="1"/>
            <a:r>
              <a:rPr lang="en-US" dirty="0"/>
              <a:t>B</a:t>
            </a:r>
            <a:r>
              <a:rPr lang="en-AU" dirty="0" err="1"/>
              <a:t>iopic</a:t>
            </a:r>
            <a:r>
              <a:rPr lang="en-AU" dirty="0"/>
              <a:t> handout Question 10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039572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311D7-B3E3-4018-B048-2BA56A083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13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64CE6-81E4-49B9-B752-CD9E22FC75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To reflect on understanding the film</a:t>
            </a:r>
          </a:p>
        </p:txBody>
      </p:sp>
    </p:spTree>
    <p:extLst>
      <p:ext uri="{BB962C8B-B14F-4D97-AF65-F5344CB8AC3E}">
        <p14:creationId xmlns:p14="http://schemas.microsoft.com/office/powerpoint/2010/main" val="2455738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36F3E-D97A-45A7-8BCE-26EA6D871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13 Activities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E1CF5-8078-4F33-BBB5-7CAC3D9534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Respond to questions that elicit opinionative responses</a:t>
            </a:r>
          </a:p>
          <a:p>
            <a:pPr lvl="1"/>
            <a:r>
              <a:rPr lang="en-AU" dirty="0"/>
              <a:t>Biopic Questions 11-15</a:t>
            </a:r>
          </a:p>
        </p:txBody>
      </p:sp>
    </p:spTree>
    <p:extLst>
      <p:ext uri="{BB962C8B-B14F-4D97-AF65-F5344CB8AC3E}">
        <p14:creationId xmlns:p14="http://schemas.microsoft.com/office/powerpoint/2010/main" val="2478307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3862F-84A4-46A4-B84A-56F901041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14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1A50-6B17-44C2-AA05-BFC562C9E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Complete an in class short answer assessment explaining the selection and organisation of information, and specific uses of techniques and effects</a:t>
            </a:r>
          </a:p>
        </p:txBody>
      </p:sp>
    </p:spTree>
    <p:extLst>
      <p:ext uri="{BB962C8B-B14F-4D97-AF65-F5344CB8AC3E}">
        <p14:creationId xmlns:p14="http://schemas.microsoft.com/office/powerpoint/2010/main" val="8010878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47900-4068-4BDB-BFA7-0FFB23842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15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7D478-8EB2-417D-AAA1-0D2C6746C7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Learning Intentions</a:t>
            </a:r>
          </a:p>
          <a:p>
            <a:pPr lvl="1"/>
            <a:r>
              <a:rPr lang="en-AU" dirty="0"/>
              <a:t>Complete an in class short answer assessment explaining the selection and organisation of information, and specific uses of techniques and effects</a:t>
            </a:r>
          </a:p>
        </p:txBody>
      </p:sp>
    </p:spTree>
    <p:extLst>
      <p:ext uri="{BB962C8B-B14F-4D97-AF65-F5344CB8AC3E}">
        <p14:creationId xmlns:p14="http://schemas.microsoft.com/office/powerpoint/2010/main" val="1686155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658</Words>
  <Application>Microsoft Office PowerPoint</Application>
  <PresentationFormat>Widescreen</PresentationFormat>
  <Paragraphs>139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Traveling _Typewriter</vt:lpstr>
      <vt:lpstr>Office Theme</vt:lpstr>
      <vt:lpstr>PowerPoint Presentation</vt:lpstr>
      <vt:lpstr>Lesson 1</vt:lpstr>
      <vt:lpstr>Lesson 1 Activities</vt:lpstr>
      <vt:lpstr>Lesson 2</vt:lpstr>
      <vt:lpstr>Lesson 2 Activities</vt:lpstr>
      <vt:lpstr>Lesson 2 Activities</vt:lpstr>
      <vt:lpstr>Lesson 3</vt:lpstr>
      <vt:lpstr>Lesson 3 Activities</vt:lpstr>
      <vt:lpstr>Lesson 3 Activities</vt:lpstr>
      <vt:lpstr>Lesson 3 Activities</vt:lpstr>
      <vt:lpstr>Lesson 3 Activities</vt:lpstr>
      <vt:lpstr>Lesson 3 Activities</vt:lpstr>
      <vt:lpstr>Lesson 4</vt:lpstr>
      <vt:lpstr>Lesson 4 Activities</vt:lpstr>
      <vt:lpstr>Lesson 4 Activities</vt:lpstr>
      <vt:lpstr>Lesson 4 Activities</vt:lpstr>
      <vt:lpstr>Lesson 4 Activities</vt:lpstr>
      <vt:lpstr>Lesson 5</vt:lpstr>
      <vt:lpstr>Lesson 5 Activities</vt:lpstr>
      <vt:lpstr>Lesson 6</vt:lpstr>
      <vt:lpstr>Lesson 6 Activities</vt:lpstr>
      <vt:lpstr>Lesson 7</vt:lpstr>
      <vt:lpstr>Lesson 7 Activities</vt:lpstr>
      <vt:lpstr>Lesson 8</vt:lpstr>
      <vt:lpstr>Lesson 9</vt:lpstr>
      <vt:lpstr>Lesson 10</vt:lpstr>
      <vt:lpstr>Lesson 10 Activities</vt:lpstr>
      <vt:lpstr>Lesson 11</vt:lpstr>
      <vt:lpstr>Lesson 11 Activities</vt:lpstr>
      <vt:lpstr>Lesson 12</vt:lpstr>
      <vt:lpstr>Lesson 12 Activities</vt:lpstr>
      <vt:lpstr>Lesson 13</vt:lpstr>
      <vt:lpstr>Lesson 13 Activities</vt:lpstr>
      <vt:lpstr>Lesson 14</vt:lpstr>
      <vt:lpstr>Lesson 15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Biographies</dc:title>
  <dc:creator>Andre Janse van Rensburg</dc:creator>
  <cp:lastModifiedBy>Andre Janse van Rensburg</cp:lastModifiedBy>
  <cp:revision>7</cp:revision>
  <dcterms:created xsi:type="dcterms:W3CDTF">2018-09-04T05:59:23Z</dcterms:created>
  <dcterms:modified xsi:type="dcterms:W3CDTF">2018-09-13T03:22:31Z</dcterms:modified>
</cp:coreProperties>
</file>
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0" r:id="rId4"/>
    <p:sldId id="276" r:id="rId5"/>
    <p:sldId id="284" r:id="rId6"/>
    <p:sldId id="282" r:id="rId7"/>
    <p:sldId id="258" r:id="rId8"/>
    <p:sldId id="260" r:id="rId9"/>
    <p:sldId id="261" r:id="rId10"/>
    <p:sldId id="283" r:id="rId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Verdana" panose="020B0604030504040204" pitchFamily="34" charset="0"/>
        <a:ea typeface="+mn-ea"/>
        <a:cs typeface="+mn-cs"/>
      </a:defRPr>
    </a:lvl1pPr>
    <a:lvl2pPr marL="457200" algn="l" rtl="0" fontAlgn="base">
      <a:spcBef>
        <a:spcPct val="0"/>
      </a:spcBef>
      <a:spcAft>
        <a:spcPct val="0"/>
      </a:spcAft>
      <a:defRPr kern="1200">
        <a:solidFill>
          <a:schemeClr val="tx1"/>
        </a:solidFill>
        <a:latin typeface="Verdana" panose="020B0604030504040204" pitchFamily="34" charset="0"/>
        <a:ea typeface="+mn-ea"/>
        <a:cs typeface="+mn-cs"/>
      </a:defRPr>
    </a:lvl2pPr>
    <a:lvl3pPr marL="914400" algn="l" rtl="0" fontAlgn="base">
      <a:spcBef>
        <a:spcPct val="0"/>
      </a:spcBef>
      <a:spcAft>
        <a:spcPct val="0"/>
      </a:spcAft>
      <a:defRPr kern="1200">
        <a:solidFill>
          <a:schemeClr val="tx1"/>
        </a:solidFill>
        <a:latin typeface="Verdana" panose="020B0604030504040204" pitchFamily="34" charset="0"/>
        <a:ea typeface="+mn-ea"/>
        <a:cs typeface="+mn-cs"/>
      </a:defRPr>
    </a:lvl3pPr>
    <a:lvl4pPr marL="1371600" algn="l" rtl="0" fontAlgn="base">
      <a:spcBef>
        <a:spcPct val="0"/>
      </a:spcBef>
      <a:spcAft>
        <a:spcPct val="0"/>
      </a:spcAft>
      <a:defRPr kern="1200">
        <a:solidFill>
          <a:schemeClr val="tx1"/>
        </a:solidFill>
        <a:latin typeface="Verdana" panose="020B0604030504040204" pitchFamily="34" charset="0"/>
        <a:ea typeface="+mn-ea"/>
        <a:cs typeface="+mn-cs"/>
      </a:defRPr>
    </a:lvl4pPr>
    <a:lvl5pPr marL="1828800" algn="l" rtl="0" fontAlgn="base">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p:defaultTextStyle>
  <p:extLst>
    <p:ext uri="{EFAFB233-063F-42B5-8137-9DF3F51BA10A}">
      <p15:sldGuideLst xmlns:p15="http://schemas.microsoft.com/office/powerpoint/2012/main">
        <p15:guide id="1" orient="horz" pos="3504">
          <p15:clr>
            <a:srgbClr val="A4A3A4"/>
          </p15:clr>
        </p15:guide>
        <p15:guide id="2" orient="horz" pos="3744">
          <p15:clr>
            <a:srgbClr val="A4A3A4"/>
          </p15:clr>
        </p15:guide>
        <p15:guide id="3" orient="horz" pos="912">
          <p15:clr>
            <a:srgbClr val="A4A3A4"/>
          </p15:clr>
        </p15:guide>
        <p15:guide id="4" pos="336">
          <p15:clr>
            <a:srgbClr val="A4A3A4"/>
          </p15:clr>
        </p15:guide>
        <p15:guide id="5" pos="2880">
          <p15:clr>
            <a:srgbClr val="A4A3A4"/>
          </p15:clr>
        </p15:guide>
        <p15:guide id="6" pos="54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336633"/>
    <a:srgbClr val="FFCC66"/>
    <a:srgbClr val="FFFF66"/>
    <a:srgbClr val="FFFFFF"/>
    <a:srgbClr val="336699"/>
    <a:srgbClr val="3366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59A70C-7641-4BD5-905C-A5AEAC06D02E}" v="17" dt="2018-06-27T02:06:18.5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624" autoAdjust="0"/>
  </p:normalViewPr>
  <p:slideViewPr>
    <p:cSldViewPr>
      <p:cViewPr varScale="1">
        <p:scale>
          <a:sx n="68" d="100"/>
          <a:sy n="68" d="100"/>
        </p:scale>
        <p:origin x="1440" y="72"/>
      </p:cViewPr>
      <p:guideLst>
        <p:guide orient="horz" pos="3504"/>
        <p:guide orient="horz" pos="3744"/>
        <p:guide orient="horz" pos="912"/>
        <p:guide pos="336"/>
        <p:guide pos="2880"/>
        <p:guide pos="54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 Janse van Rensburg" userId="c242d890-f940-49be-a646-5509d964c911" providerId="ADAL" clId="{E659A70C-7641-4BD5-905C-A5AEAC06D02E}"/>
    <pc:docChg chg="custSel delSld modSld">
      <pc:chgData name="Andre Janse van Rensburg" userId="c242d890-f940-49be-a646-5509d964c911" providerId="ADAL" clId="{E659A70C-7641-4BD5-905C-A5AEAC06D02E}" dt="2018-06-27T02:06:18.522" v="16" actId="403"/>
      <pc:docMkLst>
        <pc:docMk/>
      </pc:docMkLst>
      <pc:sldChg chg="delSp modSp">
        <pc:chgData name="Andre Janse van Rensburg" userId="c242d890-f940-49be-a646-5509d964c911" providerId="ADAL" clId="{E659A70C-7641-4BD5-905C-A5AEAC06D02E}" dt="2018-06-27T02:06:18.522" v="16" actId="403"/>
        <pc:sldMkLst>
          <pc:docMk/>
          <pc:sldMk cId="0" sldId="256"/>
        </pc:sldMkLst>
        <pc:spChg chg="mod">
          <ac:chgData name="Andre Janse van Rensburg" userId="c242d890-f940-49be-a646-5509d964c911" providerId="ADAL" clId="{E659A70C-7641-4BD5-905C-A5AEAC06D02E}" dt="2018-06-27T02:06:18.522" v="16" actId="403"/>
          <ac:spMkLst>
            <pc:docMk/>
            <pc:sldMk cId="0" sldId="256"/>
            <ac:spMk id="2053" creationId="{81A05AF7-F5A8-4D20-9530-87E4E9672337}"/>
          </ac:spMkLst>
        </pc:spChg>
        <pc:spChg chg="del">
          <ac:chgData name="Andre Janse van Rensburg" userId="c242d890-f940-49be-a646-5509d964c911" providerId="ADAL" clId="{E659A70C-7641-4BD5-905C-A5AEAC06D02E}" dt="2018-06-27T02:06:09.334" v="2" actId="478"/>
          <ac:spMkLst>
            <pc:docMk/>
            <pc:sldMk cId="0" sldId="256"/>
            <ac:spMk id="2054" creationId="{7FC5498E-36BF-4745-BA1B-34EB9CD8AE7E}"/>
          </ac:spMkLst>
        </pc:spChg>
        <pc:spChg chg="del">
          <ac:chgData name="Andre Janse van Rensburg" userId="c242d890-f940-49be-a646-5509d964c911" providerId="ADAL" clId="{E659A70C-7641-4BD5-905C-A5AEAC06D02E}" dt="2018-06-27T02:06:05.241" v="1" actId="478"/>
          <ac:spMkLst>
            <pc:docMk/>
            <pc:sldMk cId="0" sldId="256"/>
            <ac:spMk id="2059" creationId="{ED99E513-2C39-49AB-82B5-B9F59B23C2D0}"/>
          </ac:spMkLst>
        </pc:spChg>
      </pc:sldChg>
      <pc:sldChg chg="del">
        <pc:chgData name="Andre Janse van Rensburg" userId="c242d890-f940-49be-a646-5509d964c911" providerId="ADAL" clId="{E659A70C-7641-4BD5-905C-A5AEAC06D02E}" dt="2018-06-27T02:05:51.232" v="0" actId="2696"/>
        <pc:sldMkLst>
          <pc:docMk/>
          <pc:sldMk cId="0" sldId="27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E75CB-A09A-4AEA-8D42-C935F0705CBE}"/>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786C625-0AE6-491F-B726-42E4718BECFA}"/>
              </a:ext>
            </a:extLst>
          </p:cNvPr>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Tree>
    <p:extLst>
      <p:ext uri="{BB962C8B-B14F-4D97-AF65-F5344CB8AC3E}">
        <p14:creationId xmlns:p14="http://schemas.microsoft.com/office/powerpoint/2010/main" val="2925187349"/>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B6C81-91F0-4552-96FB-1200A0CFE00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D98BF6-3DE0-47B9-BC49-D78D5C7506F7}"/>
              </a:ext>
            </a:extLst>
          </p:cNvPr>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11761979"/>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6033A-69B0-44B0-9272-CF0DB180FFA1}"/>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B605F6BA-499C-48FE-9D6B-541F26CB41BD}"/>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2206652824"/>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1150D-F235-4D5E-A740-A458ACD2103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D593A3D-3379-411D-A621-DF307BCE31A3}"/>
              </a:ext>
            </a:extLst>
          </p:cNvPr>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CAE6CD4-7D44-4252-A47B-444CC935E202}"/>
              </a:ext>
            </a:extLst>
          </p:cNvPr>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248521403"/>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DE8F8-254E-4C3D-86BF-B2E5D7EB33AA}"/>
              </a:ext>
            </a:extLst>
          </p:cNvPr>
          <p:cNvSpPr>
            <a:spLocks noGrp="1"/>
          </p:cNvSpPr>
          <p:nvPr>
            <p:ph type="title"/>
          </p:nvPr>
        </p:nvSpPr>
        <p:spPr>
          <a:xfrm>
            <a:off x="630238" y="365125"/>
            <a:ext cx="78867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31E1179-0B94-4DC4-9565-A77210B53A7B}"/>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B5098BE-CE75-4244-A870-DDA0E4BC5BE4}"/>
              </a:ext>
            </a:extLst>
          </p:cNvPr>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90674CCA-8313-4F1C-91D8-996818F16880}"/>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AA2C85-C513-47BE-9626-3812F1296AB7}"/>
              </a:ext>
            </a:extLst>
          </p:cNvPr>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5806926"/>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7F677-3908-49E3-BF2B-39E132507303}"/>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254401513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0386006"/>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FE507-AB43-46A6-894D-640AEFADED5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82AD9F2C-D996-466B-8F7C-9043E4FED400}"/>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A3A2D4E-E62B-4CD6-9B49-1A9DFC5F8522}"/>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264324052"/>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04A3C-6DEF-4BD8-92E9-0B9E32085B8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03C91D33-EF87-4B92-B986-510FF24B84DA}"/>
              </a:ext>
            </a:extLst>
          </p:cNvPr>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BD8C2BD-78C1-49C5-82CF-B89BFCD009F3}"/>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670594616"/>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9CDB2-A650-47F3-9813-195B38B8F63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151ABE0-B99A-48EE-8878-16E4DAC0F9E3}"/>
              </a:ext>
            </a:extLst>
          </p:cNvPr>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90302877"/>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FB82AB-9F3D-4ECF-AC50-631D5EEC58F4}"/>
              </a:ext>
            </a:extLst>
          </p:cNvPr>
          <p:cNvSpPr>
            <a:spLocks noGrp="1"/>
          </p:cNvSpPr>
          <p:nvPr>
            <p:ph type="title" orient="vert"/>
          </p:nvPr>
        </p:nvSpPr>
        <p:spPr>
          <a:xfrm>
            <a:off x="6591300" y="528638"/>
            <a:ext cx="2019300" cy="5648325"/>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E4DB0F3-3807-4940-B7B4-B406B50EFF3E}"/>
              </a:ext>
            </a:extLst>
          </p:cNvPr>
          <p:cNvSpPr>
            <a:spLocks noGrp="1"/>
          </p:cNvSpPr>
          <p:nvPr>
            <p:ph type="body" orient="vert" idx="1"/>
          </p:nvPr>
        </p:nvSpPr>
        <p:spPr>
          <a:xfrm>
            <a:off x="528638" y="528638"/>
            <a:ext cx="5910262" cy="5648325"/>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055965338"/>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669E-834A-4FED-BE2F-BB6A59CCE56F}"/>
              </a:ext>
            </a:extLst>
          </p:cNvPr>
          <p:cNvSpPr>
            <a:spLocks noGrp="1"/>
          </p:cNvSpPr>
          <p:nvPr>
            <p:ph type="title"/>
          </p:nvPr>
        </p:nvSpPr>
        <p:spPr>
          <a:xfrm>
            <a:off x="528638" y="528638"/>
            <a:ext cx="8081962" cy="612775"/>
          </a:xfrm>
        </p:spPr>
        <p:txBody>
          <a:bodyPr/>
          <a:lstStyle/>
          <a:p>
            <a:r>
              <a:rPr lang="en-US"/>
              <a:t>Click to edit Master title style</a:t>
            </a:r>
            <a:endParaRPr lang="en-AU"/>
          </a:p>
        </p:txBody>
      </p:sp>
      <p:sp>
        <p:nvSpPr>
          <p:cNvPr id="3" name="Table Placeholder 2">
            <a:extLst>
              <a:ext uri="{FF2B5EF4-FFF2-40B4-BE49-F238E27FC236}">
                <a16:creationId xmlns:a16="http://schemas.microsoft.com/office/drawing/2014/main" id="{2B17F3E4-A69A-43D4-AE95-39D2F4A1A1C7}"/>
              </a:ext>
            </a:extLst>
          </p:cNvPr>
          <p:cNvSpPr>
            <a:spLocks noGrp="1"/>
          </p:cNvSpPr>
          <p:nvPr>
            <p:ph type="tbl" idx="1"/>
          </p:nvPr>
        </p:nvSpPr>
        <p:spPr>
          <a:xfrm>
            <a:off x="628650" y="1825625"/>
            <a:ext cx="7886700" cy="4351338"/>
          </a:xfrm>
          <a:prstGeom prst="rect">
            <a:avLst/>
          </a:prstGeom>
        </p:spPr>
        <p:txBody>
          <a:bodyPr/>
          <a:lstStyle/>
          <a:p>
            <a:endParaRPr lang="en-AU"/>
          </a:p>
        </p:txBody>
      </p:sp>
    </p:spTree>
    <p:extLst>
      <p:ext uri="{BB962C8B-B14F-4D97-AF65-F5344CB8AC3E}">
        <p14:creationId xmlns:p14="http://schemas.microsoft.com/office/powerpoint/2010/main" val="2679983584"/>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Credits.ppt"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 Target="../slides/slid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849FC38-D2FB-4C96-BFCB-9BDFDCBB5B85}"/>
              </a:ext>
            </a:extLst>
          </p:cNvPr>
          <p:cNvSpPr>
            <a:spLocks noGrp="1" noChangeArrowheads="1"/>
          </p:cNvSpPr>
          <p:nvPr>
            <p:ph type="title"/>
          </p:nvPr>
        </p:nvSpPr>
        <p:spPr bwMode="auto">
          <a:xfrm>
            <a:off x="528638" y="528638"/>
            <a:ext cx="8081962"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1" name="AutoShape 7">
            <a:hlinkClick r:id="" action="ppaction://hlinkshowjump?jump=previousslide" highlightClick="1"/>
            <a:extLst>
              <a:ext uri="{FF2B5EF4-FFF2-40B4-BE49-F238E27FC236}">
                <a16:creationId xmlns:a16="http://schemas.microsoft.com/office/drawing/2014/main" id="{CD55339A-D520-48DD-8DF2-7B77A0C52377}"/>
              </a:ext>
            </a:extLst>
          </p:cNvPr>
          <p:cNvSpPr>
            <a:spLocks noChangeArrowheads="1"/>
          </p:cNvSpPr>
          <p:nvPr userDrawn="1"/>
        </p:nvSpPr>
        <p:spPr bwMode="auto">
          <a:xfrm>
            <a:off x="6172200" y="6019800"/>
            <a:ext cx="685800" cy="838200"/>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32" name="AutoShape 8">
            <a:hlinkClick r:id="" action="ppaction://hlinkshowjump?jump=nextslide" highlightClick="1"/>
            <a:extLst>
              <a:ext uri="{FF2B5EF4-FFF2-40B4-BE49-F238E27FC236}">
                <a16:creationId xmlns:a16="http://schemas.microsoft.com/office/drawing/2014/main" id="{A2578A65-2B19-4236-88DE-9F30BCBDA51C}"/>
              </a:ext>
            </a:extLst>
          </p:cNvPr>
          <p:cNvSpPr>
            <a:spLocks noChangeArrowheads="1"/>
          </p:cNvSpPr>
          <p:nvPr userDrawn="1"/>
        </p:nvSpPr>
        <p:spPr bwMode="auto">
          <a:xfrm>
            <a:off x="6934200" y="6019800"/>
            <a:ext cx="685800" cy="838200"/>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33" name="AutoShape 9">
            <a:hlinkClick r:id="rId15" action="ppaction://hlinksldjump" highlightClick="1"/>
            <a:extLst>
              <a:ext uri="{FF2B5EF4-FFF2-40B4-BE49-F238E27FC236}">
                <a16:creationId xmlns:a16="http://schemas.microsoft.com/office/drawing/2014/main" id="{B778EE1B-9E1C-4CAC-A79D-F5B7ECB96D50}"/>
              </a:ext>
            </a:extLst>
          </p:cNvPr>
          <p:cNvSpPr>
            <a:spLocks noChangeArrowheads="1"/>
          </p:cNvSpPr>
          <p:nvPr userDrawn="1"/>
        </p:nvSpPr>
        <p:spPr bwMode="auto">
          <a:xfrm>
            <a:off x="7620000" y="6019800"/>
            <a:ext cx="685800" cy="838200"/>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34" name="AutoShape 10">
            <a:hlinkClick r:id="" action="ppaction://hlinkshowjump?jump=endshow" highlightClick="1"/>
            <a:extLst>
              <a:ext uri="{FF2B5EF4-FFF2-40B4-BE49-F238E27FC236}">
                <a16:creationId xmlns:a16="http://schemas.microsoft.com/office/drawing/2014/main" id="{D5B7FC48-75B9-456C-88E0-EA3A3BCE6956}"/>
              </a:ext>
            </a:extLst>
          </p:cNvPr>
          <p:cNvSpPr>
            <a:spLocks noChangeArrowheads="1"/>
          </p:cNvSpPr>
          <p:nvPr userDrawn="1"/>
        </p:nvSpPr>
        <p:spPr bwMode="auto">
          <a:xfrm>
            <a:off x="8305800" y="6019800"/>
            <a:ext cx="685800" cy="838200"/>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035" name="Rectangle 11">
            <a:hlinkClick r:id="rId16" action="ppaction://hlinkpres?slideindex=1&amp;slidetitle="/>
            <a:extLst>
              <a:ext uri="{FF2B5EF4-FFF2-40B4-BE49-F238E27FC236}">
                <a16:creationId xmlns:a16="http://schemas.microsoft.com/office/drawing/2014/main" id="{FDF7DDAD-86FA-4427-A40B-447DF2DC1D51}"/>
              </a:ext>
            </a:extLst>
          </p:cNvPr>
          <p:cNvSpPr>
            <a:spLocks noChangeArrowheads="1"/>
          </p:cNvSpPr>
          <p:nvPr userDrawn="1"/>
        </p:nvSpPr>
        <p:spPr bwMode="auto">
          <a:xfrm>
            <a:off x="5029200" y="6629400"/>
            <a:ext cx="60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wipe dir="r"/>
  </p:transition>
  <p:txStyles>
    <p:titleStyle>
      <a:lvl1pPr algn="ctr" rtl="0" fontAlgn="base">
        <a:spcBef>
          <a:spcPct val="0"/>
        </a:spcBef>
        <a:spcAft>
          <a:spcPct val="0"/>
        </a:spcAft>
        <a:defRPr sz="2500" kern="1200">
          <a:solidFill>
            <a:srgbClr val="FFFF99"/>
          </a:solidFill>
          <a:latin typeface="+mj-lt"/>
          <a:ea typeface="+mj-ea"/>
          <a:cs typeface="+mj-cs"/>
        </a:defRPr>
      </a:lvl1pPr>
      <a:lvl2pPr algn="ctr" rtl="0" fontAlgn="base">
        <a:spcBef>
          <a:spcPct val="0"/>
        </a:spcBef>
        <a:spcAft>
          <a:spcPct val="0"/>
        </a:spcAft>
        <a:defRPr sz="2500">
          <a:solidFill>
            <a:srgbClr val="FFFF99"/>
          </a:solidFill>
          <a:latin typeface="Verdana" panose="020B0604030504040204" pitchFamily="34" charset="0"/>
        </a:defRPr>
      </a:lvl2pPr>
      <a:lvl3pPr algn="ctr" rtl="0" fontAlgn="base">
        <a:spcBef>
          <a:spcPct val="0"/>
        </a:spcBef>
        <a:spcAft>
          <a:spcPct val="0"/>
        </a:spcAft>
        <a:defRPr sz="2500">
          <a:solidFill>
            <a:srgbClr val="FFFF99"/>
          </a:solidFill>
          <a:latin typeface="Verdana" panose="020B0604030504040204" pitchFamily="34" charset="0"/>
        </a:defRPr>
      </a:lvl3pPr>
      <a:lvl4pPr algn="ctr" rtl="0" fontAlgn="base">
        <a:spcBef>
          <a:spcPct val="0"/>
        </a:spcBef>
        <a:spcAft>
          <a:spcPct val="0"/>
        </a:spcAft>
        <a:defRPr sz="2500">
          <a:solidFill>
            <a:srgbClr val="FFFF99"/>
          </a:solidFill>
          <a:latin typeface="Verdana" panose="020B0604030504040204" pitchFamily="34" charset="0"/>
        </a:defRPr>
      </a:lvl4pPr>
      <a:lvl5pPr algn="ctr" rtl="0" fontAlgn="base">
        <a:spcBef>
          <a:spcPct val="0"/>
        </a:spcBef>
        <a:spcAft>
          <a:spcPct val="0"/>
        </a:spcAft>
        <a:defRPr sz="2500">
          <a:solidFill>
            <a:srgbClr val="FFFF99"/>
          </a:solidFill>
          <a:latin typeface="Verdana" panose="020B0604030504040204" pitchFamily="34" charset="0"/>
        </a:defRPr>
      </a:lvl5pPr>
      <a:lvl6pPr marL="457200" algn="ctr" rtl="0" fontAlgn="base">
        <a:spcBef>
          <a:spcPct val="0"/>
        </a:spcBef>
        <a:spcAft>
          <a:spcPct val="0"/>
        </a:spcAft>
        <a:defRPr sz="2500">
          <a:solidFill>
            <a:srgbClr val="FFFF99"/>
          </a:solidFill>
          <a:latin typeface="Verdana" panose="020B0604030504040204" pitchFamily="34" charset="0"/>
        </a:defRPr>
      </a:lvl6pPr>
      <a:lvl7pPr marL="914400" algn="ctr" rtl="0" fontAlgn="base">
        <a:spcBef>
          <a:spcPct val="0"/>
        </a:spcBef>
        <a:spcAft>
          <a:spcPct val="0"/>
        </a:spcAft>
        <a:defRPr sz="2500">
          <a:solidFill>
            <a:srgbClr val="FFFF99"/>
          </a:solidFill>
          <a:latin typeface="Verdana" panose="020B0604030504040204" pitchFamily="34" charset="0"/>
        </a:defRPr>
      </a:lvl7pPr>
      <a:lvl8pPr marL="1371600" algn="ctr" rtl="0" fontAlgn="base">
        <a:spcBef>
          <a:spcPct val="0"/>
        </a:spcBef>
        <a:spcAft>
          <a:spcPct val="0"/>
        </a:spcAft>
        <a:defRPr sz="2500">
          <a:solidFill>
            <a:srgbClr val="FFFF99"/>
          </a:solidFill>
          <a:latin typeface="Verdana" panose="020B0604030504040204" pitchFamily="34" charset="0"/>
        </a:defRPr>
      </a:lvl8pPr>
      <a:lvl9pPr marL="1828800" algn="ctr" rtl="0" fontAlgn="base">
        <a:spcBef>
          <a:spcPct val="0"/>
        </a:spcBef>
        <a:spcAft>
          <a:spcPct val="0"/>
        </a:spcAft>
        <a:defRPr sz="2500">
          <a:solidFill>
            <a:srgbClr val="FFFF99"/>
          </a:solidFill>
          <a:latin typeface="Verdana" panose="020B060403050404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6.xml"/><Relationship Id="rId5" Type="http://schemas.openxmlformats.org/officeDocument/2006/relationships/image" Target="../media/image9.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3" name="Rectangle 5">
            <a:extLst>
              <a:ext uri="{FF2B5EF4-FFF2-40B4-BE49-F238E27FC236}">
                <a16:creationId xmlns:a16="http://schemas.microsoft.com/office/drawing/2014/main" id="{81A05AF7-F5A8-4D20-9530-87E4E9672337}"/>
              </a:ext>
            </a:extLst>
          </p:cNvPr>
          <p:cNvSpPr>
            <a:spLocks noGrp="1" noChangeArrowheads="1"/>
          </p:cNvSpPr>
          <p:nvPr>
            <p:ph type="title"/>
          </p:nvPr>
        </p:nvSpPr>
        <p:spPr>
          <a:xfrm>
            <a:off x="528638" y="528638"/>
            <a:ext cx="8081962" cy="3738562"/>
          </a:xfrm>
        </p:spPr>
        <p:txBody>
          <a:bodyPr/>
          <a:lstStyle/>
          <a:p>
            <a:r>
              <a:rPr lang="en-US" altLang="en-US" sz="9600" b="1" dirty="0"/>
              <a:t>Setting</a:t>
            </a:r>
          </a:p>
        </p:txBody>
      </p:sp>
      <p:sp>
        <p:nvSpPr>
          <p:cNvPr id="2056" name="AutoShape 8">
            <a:hlinkClick r:id="" action="ppaction://hlinkshowjump?jump=endshow" highlightClick="1"/>
            <a:extLst>
              <a:ext uri="{FF2B5EF4-FFF2-40B4-BE49-F238E27FC236}">
                <a16:creationId xmlns:a16="http://schemas.microsoft.com/office/drawing/2014/main" id="{6F5EC104-FB73-4292-BE8B-5B7456EABA2E}"/>
              </a:ext>
            </a:extLst>
          </p:cNvPr>
          <p:cNvSpPr>
            <a:spLocks noChangeArrowheads="1"/>
          </p:cNvSpPr>
          <p:nvPr/>
        </p:nvSpPr>
        <p:spPr bwMode="auto">
          <a:xfrm>
            <a:off x="6019800" y="6019800"/>
            <a:ext cx="914400" cy="838200"/>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2057" name="AutoShape 9">
            <a:hlinkClick r:id="" action="ppaction://hlinkshowjump?jump=endshow" highlightClick="1"/>
            <a:extLst>
              <a:ext uri="{FF2B5EF4-FFF2-40B4-BE49-F238E27FC236}">
                <a16:creationId xmlns:a16="http://schemas.microsoft.com/office/drawing/2014/main" id="{65B5E404-8BA2-46D0-BB6F-9B18C6B5BC00}"/>
              </a:ext>
            </a:extLst>
          </p:cNvPr>
          <p:cNvSpPr>
            <a:spLocks noChangeArrowheads="1"/>
          </p:cNvSpPr>
          <p:nvPr/>
        </p:nvSpPr>
        <p:spPr bwMode="auto">
          <a:xfrm>
            <a:off x="7543800" y="6019800"/>
            <a:ext cx="762000" cy="838200"/>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E54E22D-7648-4EF9-B695-D8262D8BCC30}"/>
              </a:ext>
            </a:extLst>
          </p:cNvPr>
          <p:cNvSpPr>
            <a:spLocks noGrp="1" noChangeArrowheads="1"/>
          </p:cNvSpPr>
          <p:nvPr>
            <p:ph type="title"/>
          </p:nvPr>
        </p:nvSpPr>
        <p:spPr/>
        <p:txBody>
          <a:bodyPr/>
          <a:lstStyle/>
          <a:p>
            <a:r>
              <a:rPr lang="en-US" altLang="en-US" b="1"/>
              <a:t>Setting</a:t>
            </a:r>
          </a:p>
        </p:txBody>
      </p:sp>
      <p:sp>
        <p:nvSpPr>
          <p:cNvPr id="4099" name="Text Box 3">
            <a:extLst>
              <a:ext uri="{FF2B5EF4-FFF2-40B4-BE49-F238E27FC236}">
                <a16:creationId xmlns:a16="http://schemas.microsoft.com/office/drawing/2014/main" id="{43DBA93E-5958-43AF-B3F7-85826C03A878}"/>
              </a:ext>
            </a:extLst>
          </p:cNvPr>
          <p:cNvSpPr txBox="1">
            <a:spLocks noChangeArrowheads="1"/>
          </p:cNvSpPr>
          <p:nvPr/>
        </p:nvSpPr>
        <p:spPr bwMode="auto">
          <a:xfrm>
            <a:off x="533400" y="1370013"/>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400" b="1">
                <a:solidFill>
                  <a:srgbClr val="FFFF99"/>
                </a:solidFill>
              </a:rPr>
              <a:t>Setting </a:t>
            </a:r>
            <a:r>
              <a:rPr lang="en-US" altLang="en-US" sz="2400">
                <a:solidFill>
                  <a:srgbClr val="FFFF99"/>
                </a:solidFill>
              </a:rPr>
              <a:t>is the time and place of a story. Setting can include</a:t>
            </a:r>
          </a:p>
        </p:txBody>
      </p:sp>
      <p:sp>
        <p:nvSpPr>
          <p:cNvPr id="4120" name="Text Box 24">
            <a:extLst>
              <a:ext uri="{FF2B5EF4-FFF2-40B4-BE49-F238E27FC236}">
                <a16:creationId xmlns:a16="http://schemas.microsoft.com/office/drawing/2014/main" id="{D621126E-B03E-498F-8A7D-2DC080E3151E}"/>
              </a:ext>
            </a:extLst>
          </p:cNvPr>
          <p:cNvSpPr txBox="1">
            <a:spLocks noChangeArrowheads="1"/>
          </p:cNvSpPr>
          <p:nvPr/>
        </p:nvSpPr>
        <p:spPr bwMode="auto">
          <a:xfrm>
            <a:off x="533400" y="2286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the locale of a story</a:t>
            </a:r>
          </a:p>
        </p:txBody>
      </p:sp>
      <p:sp>
        <p:nvSpPr>
          <p:cNvPr id="4121" name="Text Box 25">
            <a:extLst>
              <a:ext uri="{FF2B5EF4-FFF2-40B4-BE49-F238E27FC236}">
                <a16:creationId xmlns:a16="http://schemas.microsoft.com/office/drawing/2014/main" id="{820BC65A-CA6E-48EA-ACC2-FABEFA5C6F3A}"/>
              </a:ext>
            </a:extLst>
          </p:cNvPr>
          <p:cNvSpPr txBox="1">
            <a:spLocks noChangeArrowheads="1"/>
          </p:cNvSpPr>
          <p:nvPr/>
        </p:nvSpPr>
        <p:spPr bwMode="auto">
          <a:xfrm>
            <a:off x="533400" y="2835275"/>
            <a:ext cx="4038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people’s customs—how they live, dress, eat, and behave</a:t>
            </a:r>
            <a:endParaRPr lang="en-US" altLang="en-US" sz="2400" b="1">
              <a:solidFill>
                <a:srgbClr val="FFFF99"/>
              </a:solidFill>
            </a:endParaRPr>
          </a:p>
        </p:txBody>
      </p:sp>
      <p:pic>
        <p:nvPicPr>
          <p:cNvPr id="4122" name="Picture 26">
            <a:extLst>
              <a:ext uri="{FF2B5EF4-FFF2-40B4-BE49-F238E27FC236}">
                <a16:creationId xmlns:a16="http://schemas.microsoft.com/office/drawing/2014/main" id="{F0655AEF-9DC2-4757-A290-438765B06D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3650" y="1968500"/>
            <a:ext cx="133350" cy="88900"/>
          </a:xfrm>
          <a:prstGeom prst="rect">
            <a:avLst/>
          </a:prstGeom>
          <a:noFill/>
          <a:extLst>
            <a:ext uri="{909E8E84-426E-40DD-AFC4-6F175D3DCCD1}">
              <a14:hiddenFill xmlns:a14="http://schemas.microsoft.com/office/drawing/2010/main">
                <a:solidFill>
                  <a:srgbClr val="FFFFFF"/>
                </a:solidFill>
              </a14:hiddenFill>
            </a:ext>
          </a:extLst>
        </p:spPr>
      </p:pic>
      <p:pic>
        <p:nvPicPr>
          <p:cNvPr id="4124" name="Picture 28">
            <a:extLst>
              <a:ext uri="{FF2B5EF4-FFF2-40B4-BE49-F238E27FC236}">
                <a16:creationId xmlns:a16="http://schemas.microsoft.com/office/drawing/2014/main" id="{70550B9F-CC2C-432C-95B8-88B83A7CE7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2450" y="2501900"/>
            <a:ext cx="133350" cy="88900"/>
          </a:xfrm>
          <a:prstGeom prst="rect">
            <a:avLst/>
          </a:prstGeom>
          <a:noFill/>
          <a:extLst>
            <a:ext uri="{909E8E84-426E-40DD-AFC4-6F175D3DCCD1}">
              <a14:hiddenFill xmlns:a14="http://schemas.microsoft.com/office/drawing/2010/main">
                <a:solidFill>
                  <a:srgbClr val="FFFFFF"/>
                </a:solidFill>
              </a14:hiddenFill>
            </a:ext>
          </a:extLst>
        </p:spPr>
      </p:pic>
      <p:pic>
        <p:nvPicPr>
          <p:cNvPr id="4126" name="Picture 30" descr="WTR0066E.JPG">
            <a:extLst>
              <a:ext uri="{FF2B5EF4-FFF2-40B4-BE49-F238E27FC236}">
                <a16:creationId xmlns:a16="http://schemas.microsoft.com/office/drawing/2014/main" id="{7019F90C-CD62-4CDC-9AA9-A4A74E3239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1981200"/>
            <a:ext cx="2590800" cy="1728788"/>
          </a:xfrm>
          <a:prstGeom prst="rect">
            <a:avLst/>
          </a:prstGeom>
          <a:noFill/>
          <a:extLst>
            <a:ext uri="{909E8E84-426E-40DD-AFC4-6F175D3DCCD1}">
              <a14:hiddenFill xmlns:a14="http://schemas.microsoft.com/office/drawing/2010/main">
                <a:solidFill>
                  <a:srgbClr val="FFFFFF"/>
                </a:solidFill>
              </a14:hiddenFill>
            </a:ext>
          </a:extLst>
        </p:spPr>
      </p:pic>
      <p:sp>
        <p:nvSpPr>
          <p:cNvPr id="4127" name="Text Box 31">
            <a:extLst>
              <a:ext uri="{FF2B5EF4-FFF2-40B4-BE49-F238E27FC236}">
                <a16:creationId xmlns:a16="http://schemas.microsoft.com/office/drawing/2014/main" id="{C90CC4A1-D14C-457B-82DB-FC2F03EC4677}"/>
              </a:ext>
            </a:extLst>
          </p:cNvPr>
          <p:cNvSpPr txBox="1">
            <a:spLocks noChangeArrowheads="1"/>
          </p:cNvSpPr>
          <p:nvPr/>
        </p:nvSpPr>
        <p:spPr bwMode="auto">
          <a:xfrm>
            <a:off x="6781800" y="3657600"/>
            <a:ext cx="1905000" cy="457200"/>
          </a:xfrm>
          <a:prstGeom prst="rect">
            <a:avLst/>
          </a:prstGeom>
          <a:solidFill>
            <a:srgbClr val="3366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400">
                <a:solidFill>
                  <a:srgbClr val="FFFF99"/>
                </a:solidFill>
              </a:rPr>
              <a:t>Hong Kong</a:t>
            </a:r>
            <a:endParaRPr lang="en-US" altLang="en-US" sz="2400" b="1">
              <a:solidFill>
                <a:srgbClr val="FFFF99"/>
              </a:solidFill>
            </a:endParaRPr>
          </a:p>
        </p:txBody>
      </p:sp>
      <p:pic>
        <p:nvPicPr>
          <p:cNvPr id="4138" name="Picture 42" descr="c01ele202">
            <a:extLst>
              <a:ext uri="{FF2B5EF4-FFF2-40B4-BE49-F238E27FC236}">
                <a16:creationId xmlns:a16="http://schemas.microsoft.com/office/drawing/2014/main" id="{A6B4D5B5-570F-4AA8-9B8E-CAA49B6277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019425"/>
            <a:ext cx="1743075" cy="2543175"/>
          </a:xfrm>
          <a:prstGeom prst="rect">
            <a:avLst/>
          </a:prstGeom>
          <a:noFill/>
          <a:extLst>
            <a:ext uri="{909E8E84-426E-40DD-AFC4-6F175D3DCCD1}">
              <a14:hiddenFill xmlns:a14="http://schemas.microsoft.com/office/drawing/2010/main">
                <a:solidFill>
                  <a:srgbClr val="FFFFFF"/>
                </a:solidFill>
              </a14:hiddenFill>
            </a:ext>
          </a:extLst>
        </p:spPr>
      </p:pic>
      <p:pic>
        <p:nvPicPr>
          <p:cNvPr id="4119" name="Picture 23" descr="5051.JPG">
            <a:extLst>
              <a:ext uri="{FF2B5EF4-FFF2-40B4-BE49-F238E27FC236}">
                <a16:creationId xmlns:a16="http://schemas.microsoft.com/office/drawing/2014/main" id="{E7B449D9-0D9C-4EEB-8A73-32C56EE3E2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129088"/>
            <a:ext cx="2514600" cy="1662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20"/>
                                        </p:tgtEl>
                                        <p:attrNameLst>
                                          <p:attrName>style.visibility</p:attrName>
                                        </p:attrNameLst>
                                      </p:cBhvr>
                                      <p:to>
                                        <p:strVal val="visible"/>
                                      </p:to>
                                    </p:set>
                                    <p:animEffect transition="in" filter="wipe(left)">
                                      <p:cBhvr>
                                        <p:cTn id="7" dur="500"/>
                                        <p:tgtEl>
                                          <p:spTgt spid="412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126"/>
                                        </p:tgtEl>
                                        <p:attrNameLst>
                                          <p:attrName>style.visibility</p:attrName>
                                        </p:attrNameLst>
                                      </p:cBhvr>
                                      <p:to>
                                        <p:strVal val="visible"/>
                                      </p:to>
                                    </p:set>
                                    <p:animEffect transition="in" filter="wipe(left)">
                                      <p:cBhvr>
                                        <p:cTn id="11" dur="500"/>
                                        <p:tgtEl>
                                          <p:spTgt spid="4126"/>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4127"/>
                                        </p:tgtEl>
                                        <p:attrNameLst>
                                          <p:attrName>style.visibility</p:attrName>
                                        </p:attrNameLst>
                                      </p:cBhvr>
                                      <p:to>
                                        <p:strVal val="visible"/>
                                      </p:to>
                                    </p:set>
                                    <p:animEffect transition="in" filter="wipe(left)">
                                      <p:cBhvr>
                                        <p:cTn id="14" dur="500"/>
                                        <p:tgtEl>
                                          <p:spTgt spid="4127"/>
                                        </p:tgtEl>
                                      </p:cBhvr>
                                    </p:animEffect>
                                  </p:childTnLst>
                                </p:cTn>
                              </p:par>
                            </p:childTnLst>
                          </p:cTn>
                        </p:par>
                        <p:par>
                          <p:cTn id="15" fill="hold" nodeType="afterGroup">
                            <p:stCondLst>
                              <p:cond delay="1000"/>
                            </p:stCondLst>
                            <p:childTnLst>
                              <p:par>
                                <p:cTn id="16" presetID="1" presetClass="entr" presetSubtype="0" fill="hold" nodeType="afterEffect">
                                  <p:stCondLst>
                                    <p:cond delay="0"/>
                                  </p:stCondLst>
                                  <p:childTnLst>
                                    <p:set>
                                      <p:cBhvr>
                                        <p:cTn id="17" dur="1" fill="hold">
                                          <p:stCondLst>
                                            <p:cond delay="0"/>
                                          </p:stCondLst>
                                        </p:cTn>
                                        <p:tgtEl>
                                          <p:spTgt spid="4124"/>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21"/>
                                        </p:tgtEl>
                                        <p:attrNameLst>
                                          <p:attrName>style.visibility</p:attrName>
                                        </p:attrNameLst>
                                      </p:cBhvr>
                                      <p:to>
                                        <p:strVal val="visible"/>
                                      </p:to>
                                    </p:set>
                                    <p:animEffect transition="in" filter="wipe(left)">
                                      <p:cBhvr>
                                        <p:cTn id="22" dur="500"/>
                                        <p:tgtEl>
                                          <p:spTgt spid="4121"/>
                                        </p:tgtEl>
                                      </p:cBhvr>
                                    </p:animEffect>
                                  </p:childTnLst>
                                </p:cTn>
                              </p:par>
                            </p:childTnLst>
                          </p:cTn>
                        </p:par>
                        <p:par>
                          <p:cTn id="23" fill="hold" nodeType="afterGroup">
                            <p:stCondLst>
                              <p:cond delay="500"/>
                            </p:stCondLst>
                            <p:childTnLst>
                              <p:par>
                                <p:cTn id="24" presetID="22" presetClass="entr" presetSubtype="1" fill="hold" nodeType="afterEffect">
                                  <p:stCondLst>
                                    <p:cond delay="0"/>
                                  </p:stCondLst>
                                  <p:childTnLst>
                                    <p:set>
                                      <p:cBhvr>
                                        <p:cTn id="25" dur="1" fill="hold">
                                          <p:stCondLst>
                                            <p:cond delay="0"/>
                                          </p:stCondLst>
                                        </p:cTn>
                                        <p:tgtEl>
                                          <p:spTgt spid="4138"/>
                                        </p:tgtEl>
                                        <p:attrNameLst>
                                          <p:attrName>style.visibility</p:attrName>
                                        </p:attrNameLst>
                                      </p:cBhvr>
                                      <p:to>
                                        <p:strVal val="visible"/>
                                      </p:to>
                                    </p:set>
                                    <p:animEffect transition="in" filter="wipe(up)">
                                      <p:cBhvr>
                                        <p:cTn id="26" dur="500"/>
                                        <p:tgtEl>
                                          <p:spTgt spid="4138"/>
                                        </p:tgtEl>
                                      </p:cBhvr>
                                    </p:animEffect>
                                  </p:childTnLst>
                                </p:cTn>
                              </p:par>
                            </p:childTnLst>
                          </p:cTn>
                        </p:par>
                        <p:par>
                          <p:cTn id="27" fill="hold" nodeType="afterGroup">
                            <p:stCondLst>
                              <p:cond delay="1000"/>
                            </p:stCondLst>
                            <p:childTnLst>
                              <p:par>
                                <p:cTn id="28" presetID="22" presetClass="entr" presetSubtype="1" fill="hold" nodeType="afterEffect">
                                  <p:stCondLst>
                                    <p:cond delay="0"/>
                                  </p:stCondLst>
                                  <p:childTnLst>
                                    <p:set>
                                      <p:cBhvr>
                                        <p:cTn id="29" dur="1" fill="hold">
                                          <p:stCondLst>
                                            <p:cond delay="0"/>
                                          </p:stCondLst>
                                        </p:cTn>
                                        <p:tgtEl>
                                          <p:spTgt spid="4119"/>
                                        </p:tgtEl>
                                        <p:attrNameLst>
                                          <p:attrName>style.visibility</p:attrName>
                                        </p:attrNameLst>
                                      </p:cBhvr>
                                      <p:to>
                                        <p:strVal val="visible"/>
                                      </p:to>
                                    </p:set>
                                    <p:animEffect transition="in" filter="wipe(up)">
                                      <p:cBhvr>
                                        <p:cTn id="30" dur="500"/>
                                        <p:tgtEl>
                                          <p:spTgt spid="4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0" grpId="0"/>
      <p:bldP spid="4121" grpId="0"/>
      <p:bldP spid="41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60" name="Picture 16" descr="44236.JPG">
            <a:extLst>
              <a:ext uri="{FF2B5EF4-FFF2-40B4-BE49-F238E27FC236}">
                <a16:creationId xmlns:a16="http://schemas.microsoft.com/office/drawing/2014/main" id="{EEBA3C51-1CA2-4F72-812C-25D4D5B058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438400"/>
            <a:ext cx="1676400" cy="1108075"/>
          </a:xfrm>
          <a:prstGeom prst="rect">
            <a:avLst/>
          </a:prstGeom>
          <a:noFill/>
          <a:extLst>
            <a:ext uri="{909E8E84-426E-40DD-AFC4-6F175D3DCCD1}">
              <a14:hiddenFill xmlns:a14="http://schemas.microsoft.com/office/drawing/2010/main">
                <a:solidFill>
                  <a:srgbClr val="FFFFFF"/>
                </a:solidFill>
              </a14:hiddenFill>
            </a:ext>
          </a:extLst>
        </p:spPr>
      </p:pic>
      <p:sp>
        <p:nvSpPr>
          <p:cNvPr id="31746" name="Rectangle 2">
            <a:extLst>
              <a:ext uri="{FF2B5EF4-FFF2-40B4-BE49-F238E27FC236}">
                <a16:creationId xmlns:a16="http://schemas.microsoft.com/office/drawing/2014/main" id="{C8603AAF-0353-4820-927A-BCBF76C39931}"/>
              </a:ext>
            </a:extLst>
          </p:cNvPr>
          <p:cNvSpPr>
            <a:spLocks noGrp="1" noChangeArrowheads="1"/>
          </p:cNvSpPr>
          <p:nvPr>
            <p:ph type="title"/>
          </p:nvPr>
        </p:nvSpPr>
        <p:spPr/>
        <p:txBody>
          <a:bodyPr/>
          <a:lstStyle/>
          <a:p>
            <a:r>
              <a:rPr lang="en-US" altLang="en-US" b="1"/>
              <a:t>Setting</a:t>
            </a:r>
          </a:p>
        </p:txBody>
      </p:sp>
      <p:sp>
        <p:nvSpPr>
          <p:cNvPr id="31747" name="Text Box 3">
            <a:extLst>
              <a:ext uri="{FF2B5EF4-FFF2-40B4-BE49-F238E27FC236}">
                <a16:creationId xmlns:a16="http://schemas.microsoft.com/office/drawing/2014/main" id="{72B58ADD-3EFE-44EE-ADCB-43AEBE091426}"/>
              </a:ext>
            </a:extLst>
          </p:cNvPr>
          <p:cNvSpPr txBox="1">
            <a:spLocks noChangeArrowheads="1"/>
          </p:cNvSpPr>
          <p:nvPr/>
        </p:nvSpPr>
        <p:spPr bwMode="auto">
          <a:xfrm>
            <a:off x="533400" y="1370013"/>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400" b="1">
                <a:solidFill>
                  <a:srgbClr val="FFFF99"/>
                </a:solidFill>
              </a:rPr>
              <a:t>Setting </a:t>
            </a:r>
            <a:r>
              <a:rPr lang="en-US" altLang="en-US" sz="2400">
                <a:solidFill>
                  <a:srgbClr val="FFFF99"/>
                </a:solidFill>
              </a:rPr>
              <a:t>is the time and place of a story. Setting can include the</a:t>
            </a:r>
          </a:p>
        </p:txBody>
      </p:sp>
      <p:sp>
        <p:nvSpPr>
          <p:cNvPr id="31756" name="Text Box 12">
            <a:extLst>
              <a:ext uri="{FF2B5EF4-FFF2-40B4-BE49-F238E27FC236}">
                <a16:creationId xmlns:a16="http://schemas.microsoft.com/office/drawing/2014/main" id="{0BC1E916-71C5-4A35-BB93-57F0357BC415}"/>
              </a:ext>
            </a:extLst>
          </p:cNvPr>
          <p:cNvSpPr txBox="1">
            <a:spLocks noChangeArrowheads="1"/>
          </p:cNvSpPr>
          <p:nvPr/>
        </p:nvSpPr>
        <p:spPr bwMode="auto">
          <a:xfrm>
            <a:off x="4572000" y="2286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weather</a:t>
            </a:r>
          </a:p>
        </p:txBody>
      </p:sp>
      <p:sp>
        <p:nvSpPr>
          <p:cNvPr id="31757" name="Text Box 13">
            <a:extLst>
              <a:ext uri="{FF2B5EF4-FFF2-40B4-BE49-F238E27FC236}">
                <a16:creationId xmlns:a16="http://schemas.microsoft.com/office/drawing/2014/main" id="{2A1868E2-C44E-42DE-82D8-2B82622C1CCE}"/>
              </a:ext>
            </a:extLst>
          </p:cNvPr>
          <p:cNvSpPr txBox="1">
            <a:spLocks noChangeArrowheads="1"/>
          </p:cNvSpPr>
          <p:nvPr/>
        </p:nvSpPr>
        <p:spPr bwMode="auto">
          <a:xfrm>
            <a:off x="4572000" y="28194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time of day</a:t>
            </a:r>
          </a:p>
        </p:txBody>
      </p:sp>
      <p:sp>
        <p:nvSpPr>
          <p:cNvPr id="31758" name="Text Box 14">
            <a:extLst>
              <a:ext uri="{FF2B5EF4-FFF2-40B4-BE49-F238E27FC236}">
                <a16:creationId xmlns:a16="http://schemas.microsoft.com/office/drawing/2014/main" id="{D2796C80-FB59-4514-9A2E-6B48FEC4E5D9}"/>
              </a:ext>
            </a:extLst>
          </p:cNvPr>
          <p:cNvSpPr txBox="1">
            <a:spLocks noChangeArrowheads="1"/>
          </p:cNvSpPr>
          <p:nvPr/>
        </p:nvSpPr>
        <p:spPr bwMode="auto">
          <a:xfrm>
            <a:off x="4572000" y="3352800"/>
            <a:ext cx="4038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time period (past, present, or future)</a:t>
            </a:r>
          </a:p>
        </p:txBody>
      </p:sp>
      <p:pic>
        <p:nvPicPr>
          <p:cNvPr id="31751" name="Picture 7" descr="BRI040D.jpg">
            <a:extLst>
              <a:ext uri="{FF2B5EF4-FFF2-40B4-BE49-F238E27FC236}">
                <a16:creationId xmlns:a16="http://schemas.microsoft.com/office/drawing/2014/main" id="{7E0618CA-C587-44F0-85DE-2632B3F0DE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438400"/>
            <a:ext cx="1663700" cy="2514600"/>
          </a:xfrm>
          <a:prstGeom prst="rect">
            <a:avLst/>
          </a:prstGeom>
          <a:noFill/>
          <a:extLst>
            <a:ext uri="{909E8E84-426E-40DD-AFC4-6F175D3DCCD1}">
              <a14:hiddenFill xmlns:a14="http://schemas.microsoft.com/office/drawing/2010/main">
                <a:solidFill>
                  <a:srgbClr val="FFFFFF"/>
                </a:solidFill>
              </a14:hiddenFill>
            </a:ext>
          </a:extLst>
        </p:spPr>
      </p:pic>
      <p:pic>
        <p:nvPicPr>
          <p:cNvPr id="31762" name="Picture 18">
            <a:extLst>
              <a:ext uri="{FF2B5EF4-FFF2-40B4-BE49-F238E27FC236}">
                <a16:creationId xmlns:a16="http://schemas.microsoft.com/office/drawing/2014/main" id="{B051007F-6328-4156-962A-F0590E2656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2501900"/>
            <a:ext cx="133350" cy="88900"/>
          </a:xfrm>
          <a:prstGeom prst="rect">
            <a:avLst/>
          </a:prstGeom>
          <a:noFill/>
          <a:extLst>
            <a:ext uri="{909E8E84-426E-40DD-AFC4-6F175D3DCCD1}">
              <a14:hiddenFill xmlns:a14="http://schemas.microsoft.com/office/drawing/2010/main">
                <a:solidFill>
                  <a:srgbClr val="FFFFFF"/>
                </a:solidFill>
              </a14:hiddenFill>
            </a:ext>
          </a:extLst>
        </p:spPr>
      </p:pic>
      <p:pic>
        <p:nvPicPr>
          <p:cNvPr id="31763" name="Picture 19">
            <a:extLst>
              <a:ext uri="{FF2B5EF4-FFF2-40B4-BE49-F238E27FC236}">
                <a16:creationId xmlns:a16="http://schemas.microsoft.com/office/drawing/2014/main" id="{233CA3EB-33B6-4D34-9C1D-FCB5658278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5650" y="3035300"/>
            <a:ext cx="133350" cy="88900"/>
          </a:xfrm>
          <a:prstGeom prst="rect">
            <a:avLst/>
          </a:prstGeom>
          <a:noFill/>
          <a:extLst>
            <a:ext uri="{909E8E84-426E-40DD-AFC4-6F175D3DCCD1}">
              <a14:hiddenFill xmlns:a14="http://schemas.microsoft.com/office/drawing/2010/main">
                <a:solidFill>
                  <a:srgbClr val="FFFFFF"/>
                </a:solidFill>
              </a14:hiddenFill>
            </a:ext>
          </a:extLst>
        </p:spPr>
      </p:pic>
      <p:pic>
        <p:nvPicPr>
          <p:cNvPr id="31765" name="Picture 21" descr="ADE0054E.JPG">
            <a:extLst>
              <a:ext uri="{FF2B5EF4-FFF2-40B4-BE49-F238E27FC236}">
                <a16:creationId xmlns:a16="http://schemas.microsoft.com/office/drawing/2014/main" id="{BECDE82E-B70B-4D2D-95BE-A3B6035EBE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3833813"/>
            <a:ext cx="1676400" cy="11191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57"/>
                                        </p:tgtEl>
                                        <p:attrNameLst>
                                          <p:attrName>style.visibility</p:attrName>
                                        </p:attrNameLst>
                                      </p:cBhvr>
                                      <p:to>
                                        <p:strVal val="visible"/>
                                      </p:to>
                                    </p:set>
                                    <p:animEffect transition="in" filter="wipe(left)">
                                      <p:cBhvr>
                                        <p:cTn id="7" dur="500"/>
                                        <p:tgtEl>
                                          <p:spTgt spid="3175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1765"/>
                                        </p:tgtEl>
                                        <p:attrNameLst>
                                          <p:attrName>style.visibility</p:attrName>
                                        </p:attrNameLst>
                                      </p:cBhvr>
                                      <p:to>
                                        <p:strVal val="visible"/>
                                      </p:to>
                                    </p:set>
                                    <p:animEffect transition="in" filter="wipe(left)">
                                      <p:cBhvr>
                                        <p:cTn id="11" dur="500"/>
                                        <p:tgtEl>
                                          <p:spTgt spid="31765"/>
                                        </p:tgtEl>
                                      </p:cBhvr>
                                    </p:animEffect>
                                  </p:childTnLst>
                                </p:cTn>
                              </p:par>
                            </p:childTnLst>
                          </p:cTn>
                        </p:par>
                        <p:par>
                          <p:cTn id="12" fill="hold" nodeType="afterGroup">
                            <p:stCondLst>
                              <p:cond delay="1000"/>
                            </p:stCondLst>
                            <p:childTnLst>
                              <p:par>
                                <p:cTn id="13" presetID="1" presetClass="entr" presetSubtype="0" fill="hold" nodeType="afterEffect">
                                  <p:stCondLst>
                                    <p:cond delay="0"/>
                                  </p:stCondLst>
                                  <p:childTnLst>
                                    <p:set>
                                      <p:cBhvr>
                                        <p:cTn id="14" dur="1" fill="hold">
                                          <p:stCondLst>
                                            <p:cond delay="0"/>
                                          </p:stCondLst>
                                        </p:cTn>
                                        <p:tgtEl>
                                          <p:spTgt spid="3176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1758"/>
                                        </p:tgtEl>
                                        <p:attrNameLst>
                                          <p:attrName>style.visibility</p:attrName>
                                        </p:attrNameLst>
                                      </p:cBhvr>
                                      <p:to>
                                        <p:strVal val="visible"/>
                                      </p:to>
                                    </p:set>
                                    <p:animEffect transition="in" filter="wipe(left)">
                                      <p:cBhvr>
                                        <p:cTn id="19" dur="500"/>
                                        <p:tgtEl>
                                          <p:spTgt spid="31758"/>
                                        </p:tgtEl>
                                      </p:cBhvr>
                                    </p:animEffect>
                                  </p:childTnLst>
                                </p:cTn>
                              </p:par>
                            </p:childTnLst>
                          </p:cTn>
                        </p:par>
                        <p:par>
                          <p:cTn id="20" fill="hold" nodeType="afterGroup">
                            <p:stCondLst>
                              <p:cond delay="500"/>
                            </p:stCondLst>
                            <p:childTnLst>
                              <p:par>
                                <p:cTn id="21" presetID="22" presetClass="entr" presetSubtype="8" fill="hold" nodeType="afterEffect">
                                  <p:stCondLst>
                                    <p:cond delay="0"/>
                                  </p:stCondLst>
                                  <p:childTnLst>
                                    <p:set>
                                      <p:cBhvr>
                                        <p:cTn id="22" dur="1" fill="hold">
                                          <p:stCondLst>
                                            <p:cond delay="0"/>
                                          </p:stCondLst>
                                        </p:cTn>
                                        <p:tgtEl>
                                          <p:spTgt spid="31751"/>
                                        </p:tgtEl>
                                        <p:attrNameLst>
                                          <p:attrName>style.visibility</p:attrName>
                                        </p:attrNameLst>
                                      </p:cBhvr>
                                      <p:to>
                                        <p:strVal val="visible"/>
                                      </p:to>
                                    </p:set>
                                    <p:animEffect transition="in" filter="wipe(left)">
                                      <p:cBhvr>
                                        <p:cTn id="23" dur="500"/>
                                        <p:tgtEl>
                                          <p:spTgt spid="3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7" grpId="0"/>
      <p:bldP spid="3175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209C9A9-0301-47FD-A870-20953AD8E58E}"/>
              </a:ext>
            </a:extLst>
          </p:cNvPr>
          <p:cNvSpPr>
            <a:spLocks noGrp="1" noChangeArrowheads="1"/>
          </p:cNvSpPr>
          <p:nvPr>
            <p:ph type="title"/>
          </p:nvPr>
        </p:nvSpPr>
        <p:spPr/>
        <p:txBody>
          <a:bodyPr/>
          <a:lstStyle/>
          <a:p>
            <a:r>
              <a:rPr lang="en-US" altLang="en-US" b="1"/>
              <a:t>Setting</a:t>
            </a:r>
          </a:p>
        </p:txBody>
      </p:sp>
      <p:sp>
        <p:nvSpPr>
          <p:cNvPr id="25603" name="Text Box 3">
            <a:extLst>
              <a:ext uri="{FF2B5EF4-FFF2-40B4-BE49-F238E27FC236}">
                <a16:creationId xmlns:a16="http://schemas.microsoft.com/office/drawing/2014/main" id="{23492932-0017-4152-A2C5-224D6666AE9D}"/>
              </a:ext>
            </a:extLst>
          </p:cNvPr>
          <p:cNvSpPr txBox="1">
            <a:spLocks noChangeArrowheads="1"/>
          </p:cNvSpPr>
          <p:nvPr/>
        </p:nvSpPr>
        <p:spPr bwMode="auto">
          <a:xfrm>
            <a:off x="533400" y="1370013"/>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342900" indent="-228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400">
                <a:solidFill>
                  <a:srgbClr val="FFFF99"/>
                </a:solidFill>
              </a:rPr>
              <a:t>Setting provides a background—a place where the characters live and act. </a:t>
            </a:r>
            <a:endParaRPr lang="en-US" altLang="en-US" sz="2200" b="1">
              <a:solidFill>
                <a:srgbClr val="FFFF99"/>
              </a:solidFill>
            </a:endParaRPr>
          </a:p>
        </p:txBody>
      </p:sp>
      <p:pic>
        <p:nvPicPr>
          <p:cNvPr id="25612" name="Picture 12" descr="17237.JPG">
            <a:extLst>
              <a:ext uri="{FF2B5EF4-FFF2-40B4-BE49-F238E27FC236}">
                <a16:creationId xmlns:a16="http://schemas.microsoft.com/office/drawing/2014/main" id="{99C64D33-D061-444B-8E60-3F7FE52E2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3598863"/>
            <a:ext cx="2590800" cy="1712912"/>
          </a:xfrm>
          <a:prstGeom prst="rect">
            <a:avLst/>
          </a:prstGeom>
          <a:noFill/>
          <a:extLst>
            <a:ext uri="{909E8E84-426E-40DD-AFC4-6F175D3DCCD1}">
              <a14:hiddenFill xmlns:a14="http://schemas.microsoft.com/office/drawing/2010/main">
                <a:solidFill>
                  <a:srgbClr val="FFFFFF"/>
                </a:solidFill>
              </a14:hiddenFill>
            </a:ext>
          </a:extLst>
        </p:spPr>
      </p:pic>
      <p:pic>
        <p:nvPicPr>
          <p:cNvPr id="25622" name="Picture 22" descr="16224.JPG">
            <a:extLst>
              <a:ext uri="{FF2B5EF4-FFF2-40B4-BE49-F238E27FC236}">
                <a16:creationId xmlns:a16="http://schemas.microsoft.com/office/drawing/2014/main" id="{4B4FAA71-E41E-48E6-BD40-446E0662EB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5650" y="2667000"/>
            <a:ext cx="2571750" cy="1700213"/>
          </a:xfrm>
          <a:prstGeom prst="rect">
            <a:avLst/>
          </a:prstGeom>
          <a:noFill/>
          <a:extLst>
            <a:ext uri="{909E8E84-426E-40DD-AFC4-6F175D3DCCD1}">
              <a14:hiddenFill xmlns:a14="http://schemas.microsoft.com/office/drawing/2010/main">
                <a:solidFill>
                  <a:srgbClr val="FFFFFF"/>
                </a:solidFill>
              </a14:hiddenFill>
            </a:ext>
          </a:extLst>
        </p:spPr>
      </p:pic>
      <p:pic>
        <p:nvPicPr>
          <p:cNvPr id="25610" name="Picture 10" descr="SCA0017E.JPG">
            <a:extLst>
              <a:ext uri="{FF2B5EF4-FFF2-40B4-BE49-F238E27FC236}">
                <a16:creationId xmlns:a16="http://schemas.microsoft.com/office/drawing/2014/main" id="{F4C99224-F52A-447A-B1C3-FF9282E85B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581400"/>
            <a:ext cx="2590800" cy="1730375"/>
          </a:xfrm>
          <a:prstGeom prst="rect">
            <a:avLst/>
          </a:prstGeom>
          <a:noFill/>
          <a:extLst>
            <a:ext uri="{909E8E84-426E-40DD-AFC4-6F175D3DCCD1}">
              <a14:hiddenFill xmlns:a14="http://schemas.microsoft.com/office/drawing/2010/main">
                <a:solidFill>
                  <a:srgbClr val="FFFFFF"/>
                </a:solidFill>
              </a14:hiddenFill>
            </a:ext>
          </a:extLst>
        </p:spPr>
      </p:pic>
      <p:sp>
        <p:nvSpPr>
          <p:cNvPr id="25624" name="Text Box 24">
            <a:extLst>
              <a:ext uri="{FF2B5EF4-FFF2-40B4-BE49-F238E27FC236}">
                <a16:creationId xmlns:a16="http://schemas.microsoft.com/office/drawing/2014/main" id="{45D57CF6-8CE9-441C-A1C8-678E4B07A0EF}"/>
              </a:ext>
            </a:extLst>
          </p:cNvPr>
          <p:cNvSpPr txBox="1">
            <a:spLocks noChangeArrowheads="1"/>
          </p:cNvSpPr>
          <p:nvPr/>
        </p:nvSpPr>
        <p:spPr bwMode="auto">
          <a:xfrm>
            <a:off x="6553200" y="5607050"/>
            <a:ext cx="2057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FFFF99"/>
                </a:solidFill>
              </a:rPr>
              <a:t>[End of Section]</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5610"/>
                                        </p:tgtEl>
                                        <p:attrNameLst>
                                          <p:attrName>style.visibility</p:attrName>
                                        </p:attrNameLst>
                                      </p:cBhvr>
                                      <p:to>
                                        <p:strVal val="visible"/>
                                      </p:to>
                                    </p:set>
                                    <p:animEffect transition="in" filter="wipe(up)">
                                      <p:cBhvr>
                                        <p:cTn id="7" dur="500"/>
                                        <p:tgtEl>
                                          <p:spTgt spid="2561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5622"/>
                                        </p:tgtEl>
                                        <p:attrNameLst>
                                          <p:attrName>style.visibility</p:attrName>
                                        </p:attrNameLst>
                                      </p:cBhvr>
                                      <p:to>
                                        <p:strVal val="visible"/>
                                      </p:to>
                                    </p:set>
                                    <p:animEffect transition="in" filter="wipe(up)">
                                      <p:cBhvr>
                                        <p:cTn id="11" dur="500"/>
                                        <p:tgtEl>
                                          <p:spTgt spid="25622"/>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25612"/>
                                        </p:tgtEl>
                                        <p:attrNameLst>
                                          <p:attrName>style.visibility</p:attrName>
                                        </p:attrNameLst>
                                      </p:cBhvr>
                                      <p:to>
                                        <p:strVal val="visible"/>
                                      </p:to>
                                    </p:set>
                                    <p:animEffect transition="in" filter="wipe(up)">
                                      <p:cBhvr>
                                        <p:cTn id="15" dur="500"/>
                                        <p:tgtEl>
                                          <p:spTgt spid="25612"/>
                                        </p:tgtEl>
                                      </p:cBhvr>
                                    </p:animEffect>
                                  </p:childTnLst>
                                </p:cTn>
                              </p:par>
                            </p:childTnLst>
                          </p:cTn>
                        </p:par>
                        <p:par>
                          <p:cTn id="16" fill="hold" nodeType="afterGroup">
                            <p:stCondLst>
                              <p:cond delay="1500"/>
                            </p:stCondLst>
                            <p:childTnLst>
                              <p:par>
                                <p:cTn id="17" presetID="1" presetClass="entr" presetSubtype="0" fill="hold" grpId="0" nodeType="afterEffect">
                                  <p:stCondLst>
                                    <p:cond delay="0"/>
                                  </p:stCondLst>
                                  <p:childTnLst>
                                    <p:set>
                                      <p:cBhvr>
                                        <p:cTn id="18" dur="1" fill="hold">
                                          <p:stCondLst>
                                            <p:cond delay="0"/>
                                          </p:stCondLst>
                                        </p:cTn>
                                        <p:tgtEl>
                                          <p:spTgt spid="256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ACT0095E.JPG">
            <a:extLst>
              <a:ext uri="{FF2B5EF4-FFF2-40B4-BE49-F238E27FC236}">
                <a16:creationId xmlns:a16="http://schemas.microsoft.com/office/drawing/2014/main" id="{9598E87D-2355-4ADB-96AD-4C452C673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879725"/>
            <a:ext cx="2590800" cy="1731963"/>
          </a:xfrm>
          <a:prstGeom prst="rect">
            <a:avLst/>
          </a:prstGeom>
          <a:noFill/>
          <a:extLst>
            <a:ext uri="{909E8E84-426E-40DD-AFC4-6F175D3DCCD1}">
              <a14:hiddenFill xmlns:a14="http://schemas.microsoft.com/office/drawing/2010/main">
                <a:solidFill>
                  <a:srgbClr val="FFFFFF"/>
                </a:solidFill>
              </a14:hiddenFill>
            </a:ext>
          </a:extLst>
        </p:spPr>
      </p:pic>
      <p:sp>
        <p:nvSpPr>
          <p:cNvPr id="35843" name="Rectangle 3">
            <a:extLst>
              <a:ext uri="{FF2B5EF4-FFF2-40B4-BE49-F238E27FC236}">
                <a16:creationId xmlns:a16="http://schemas.microsoft.com/office/drawing/2014/main" id="{0ECA4FEA-16A7-41DA-AABB-37A1C9122DD6}"/>
              </a:ext>
            </a:extLst>
          </p:cNvPr>
          <p:cNvSpPr>
            <a:spLocks noGrp="1" noChangeArrowheads="1"/>
          </p:cNvSpPr>
          <p:nvPr>
            <p:ph type="title"/>
          </p:nvPr>
        </p:nvSpPr>
        <p:spPr/>
        <p:txBody>
          <a:bodyPr/>
          <a:lstStyle/>
          <a:p>
            <a:r>
              <a:rPr lang="en-US" altLang="en-US" b="1"/>
              <a:t>How Is Setting Created?</a:t>
            </a:r>
          </a:p>
        </p:txBody>
      </p:sp>
      <p:sp>
        <p:nvSpPr>
          <p:cNvPr id="35844" name="Text Box 4">
            <a:extLst>
              <a:ext uri="{FF2B5EF4-FFF2-40B4-BE49-F238E27FC236}">
                <a16:creationId xmlns:a16="http://schemas.microsoft.com/office/drawing/2014/main" id="{361D5861-241F-4BF5-A462-E4152AFB1F4A}"/>
              </a:ext>
            </a:extLst>
          </p:cNvPr>
          <p:cNvSpPr txBox="1">
            <a:spLocks noChangeArrowheads="1"/>
          </p:cNvSpPr>
          <p:nvPr/>
        </p:nvSpPr>
        <p:spPr bwMode="auto">
          <a:xfrm>
            <a:off x="533400" y="1370013"/>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400">
                <a:solidFill>
                  <a:srgbClr val="FFFF99"/>
                </a:solidFill>
              </a:rPr>
              <a:t>Writers carefully select </a:t>
            </a:r>
            <a:r>
              <a:rPr lang="en-US" altLang="en-US" sz="2400" b="1">
                <a:solidFill>
                  <a:srgbClr val="FFFF99"/>
                </a:solidFill>
              </a:rPr>
              <a:t>images</a:t>
            </a:r>
            <a:r>
              <a:rPr lang="en-US" altLang="en-US" sz="2400">
                <a:solidFill>
                  <a:srgbClr val="FFFF99"/>
                </a:solidFill>
              </a:rPr>
              <a:t> and details to create a setting that draws us into the story.</a:t>
            </a:r>
          </a:p>
        </p:txBody>
      </p:sp>
      <p:sp>
        <p:nvSpPr>
          <p:cNvPr id="35845" name="Text Box 5">
            <a:extLst>
              <a:ext uri="{FF2B5EF4-FFF2-40B4-BE49-F238E27FC236}">
                <a16:creationId xmlns:a16="http://schemas.microsoft.com/office/drawing/2014/main" id="{FC24C4C0-EAD8-4D89-A8F2-A695D2AFDE98}"/>
              </a:ext>
            </a:extLst>
          </p:cNvPr>
          <p:cNvSpPr txBox="1">
            <a:spLocks noChangeArrowheads="1"/>
          </p:cNvSpPr>
          <p:nvPr/>
        </p:nvSpPr>
        <p:spPr bwMode="auto">
          <a:xfrm>
            <a:off x="533400" y="2284413"/>
            <a:ext cx="141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sight</a:t>
            </a:r>
          </a:p>
        </p:txBody>
      </p:sp>
      <p:sp>
        <p:nvSpPr>
          <p:cNvPr id="35846" name="Text Box 6">
            <a:extLst>
              <a:ext uri="{FF2B5EF4-FFF2-40B4-BE49-F238E27FC236}">
                <a16:creationId xmlns:a16="http://schemas.microsoft.com/office/drawing/2014/main" id="{6CFDC177-1B87-454C-BF01-89DF87761EB7}"/>
              </a:ext>
            </a:extLst>
          </p:cNvPr>
          <p:cNvSpPr txBox="1">
            <a:spLocks noChangeArrowheads="1"/>
          </p:cNvSpPr>
          <p:nvPr/>
        </p:nvSpPr>
        <p:spPr bwMode="auto">
          <a:xfrm>
            <a:off x="6172200" y="22844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hearing</a:t>
            </a:r>
          </a:p>
        </p:txBody>
      </p:sp>
      <p:pic>
        <p:nvPicPr>
          <p:cNvPr id="35847" name="Picture 7" descr="84191.JPG">
            <a:extLst>
              <a:ext uri="{FF2B5EF4-FFF2-40B4-BE49-F238E27FC236}">
                <a16:creationId xmlns:a16="http://schemas.microsoft.com/office/drawing/2014/main" id="{3BA8B47D-1E01-45BB-B7A8-0EE34AF5E3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2895600"/>
            <a:ext cx="2590800" cy="1711325"/>
          </a:xfrm>
          <a:prstGeom prst="rect">
            <a:avLst/>
          </a:prstGeom>
          <a:noFill/>
          <a:extLst>
            <a:ext uri="{909E8E84-426E-40DD-AFC4-6F175D3DCCD1}">
              <a14:hiddenFill xmlns:a14="http://schemas.microsoft.com/office/drawing/2010/main">
                <a:solidFill>
                  <a:srgbClr val="FFFFFF"/>
                </a:solidFill>
              </a14:hiddenFill>
            </a:ext>
          </a:extLst>
        </p:spPr>
      </p:pic>
      <p:sp>
        <p:nvSpPr>
          <p:cNvPr id="35848" name="Text Box 8">
            <a:extLst>
              <a:ext uri="{FF2B5EF4-FFF2-40B4-BE49-F238E27FC236}">
                <a16:creationId xmlns:a16="http://schemas.microsoft.com/office/drawing/2014/main" id="{AC2CC5A3-8900-436E-8158-443166FC2C1B}"/>
              </a:ext>
            </a:extLst>
          </p:cNvPr>
          <p:cNvSpPr txBox="1">
            <a:spLocks noChangeArrowheads="1"/>
          </p:cNvSpPr>
          <p:nvPr/>
        </p:nvSpPr>
        <p:spPr bwMode="auto">
          <a:xfrm>
            <a:off x="6477000" y="4419600"/>
            <a:ext cx="2209800" cy="7016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000">
                <a:solidFill>
                  <a:srgbClr val="003300"/>
                </a:solidFill>
              </a:rPr>
              <a:t>the steady beat of the drum</a:t>
            </a:r>
          </a:p>
        </p:txBody>
      </p:sp>
      <p:pic>
        <p:nvPicPr>
          <p:cNvPr id="35849" name="Picture 9" descr="BXP45729.JPG">
            <a:extLst>
              <a:ext uri="{FF2B5EF4-FFF2-40B4-BE49-F238E27FC236}">
                <a16:creationId xmlns:a16="http://schemas.microsoft.com/office/drawing/2014/main" id="{ED195249-4F3E-4E37-8631-BA63A917C8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2688" y="2895600"/>
            <a:ext cx="1698625" cy="2590800"/>
          </a:xfrm>
          <a:prstGeom prst="rect">
            <a:avLst/>
          </a:prstGeom>
          <a:noFill/>
          <a:extLst>
            <a:ext uri="{909E8E84-426E-40DD-AFC4-6F175D3DCCD1}">
              <a14:hiddenFill xmlns:a14="http://schemas.microsoft.com/office/drawing/2010/main">
                <a:solidFill>
                  <a:srgbClr val="FFFFFF"/>
                </a:solidFill>
              </a14:hiddenFill>
            </a:ext>
          </a:extLst>
        </p:spPr>
      </p:pic>
      <p:sp>
        <p:nvSpPr>
          <p:cNvPr id="35850" name="Text Box 10">
            <a:extLst>
              <a:ext uri="{FF2B5EF4-FFF2-40B4-BE49-F238E27FC236}">
                <a16:creationId xmlns:a16="http://schemas.microsoft.com/office/drawing/2014/main" id="{3C0F2C59-78AD-4593-959C-5D6AFB823A9C}"/>
              </a:ext>
            </a:extLst>
          </p:cNvPr>
          <p:cNvSpPr txBox="1">
            <a:spLocks noChangeArrowheads="1"/>
          </p:cNvSpPr>
          <p:nvPr/>
        </p:nvSpPr>
        <p:spPr bwMode="auto">
          <a:xfrm>
            <a:off x="3886200" y="5241925"/>
            <a:ext cx="1981200" cy="3968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000">
                <a:solidFill>
                  <a:srgbClr val="003300"/>
                </a:solidFill>
              </a:rPr>
              <a:t>the tart apple </a:t>
            </a:r>
          </a:p>
        </p:txBody>
      </p:sp>
      <p:sp>
        <p:nvSpPr>
          <p:cNvPr id="35851" name="Text Box 11">
            <a:extLst>
              <a:ext uri="{FF2B5EF4-FFF2-40B4-BE49-F238E27FC236}">
                <a16:creationId xmlns:a16="http://schemas.microsoft.com/office/drawing/2014/main" id="{5D833C83-BC82-47A1-AB28-6AD936AFC9B4}"/>
              </a:ext>
            </a:extLst>
          </p:cNvPr>
          <p:cNvSpPr txBox="1">
            <a:spLocks noChangeArrowheads="1"/>
          </p:cNvSpPr>
          <p:nvPr/>
        </p:nvSpPr>
        <p:spPr bwMode="auto">
          <a:xfrm>
            <a:off x="533400" y="4556125"/>
            <a:ext cx="2971800" cy="7016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000">
                <a:solidFill>
                  <a:srgbClr val="003300"/>
                </a:solidFill>
              </a:rPr>
              <a:t>three hot-air balloons colored the sky</a:t>
            </a:r>
          </a:p>
        </p:txBody>
      </p:sp>
      <p:sp>
        <p:nvSpPr>
          <p:cNvPr id="35852" name="Text Box 12">
            <a:extLst>
              <a:ext uri="{FF2B5EF4-FFF2-40B4-BE49-F238E27FC236}">
                <a16:creationId xmlns:a16="http://schemas.microsoft.com/office/drawing/2014/main" id="{38B9681C-D143-4658-9004-15A947899552}"/>
              </a:ext>
            </a:extLst>
          </p:cNvPr>
          <p:cNvSpPr txBox="1">
            <a:spLocks noChangeArrowheads="1"/>
          </p:cNvSpPr>
          <p:nvPr/>
        </p:nvSpPr>
        <p:spPr bwMode="auto">
          <a:xfrm>
            <a:off x="3733800" y="2284413"/>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taste</a:t>
            </a:r>
          </a:p>
        </p:txBody>
      </p:sp>
      <p:pic>
        <p:nvPicPr>
          <p:cNvPr id="35853" name="Picture 13">
            <a:extLst>
              <a:ext uri="{FF2B5EF4-FFF2-40B4-BE49-F238E27FC236}">
                <a16:creationId xmlns:a16="http://schemas.microsoft.com/office/drawing/2014/main" id="{0B8C641F-C1EA-4CAA-8CF3-739B90C78F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6200" y="1968500"/>
            <a:ext cx="133350" cy="88900"/>
          </a:xfrm>
          <a:prstGeom prst="rect">
            <a:avLst/>
          </a:prstGeom>
          <a:noFill/>
          <a:extLst>
            <a:ext uri="{909E8E84-426E-40DD-AFC4-6F175D3DCCD1}">
              <a14:hiddenFill xmlns:a14="http://schemas.microsoft.com/office/drawing/2010/main">
                <a:solidFill>
                  <a:srgbClr val="FFFFFF"/>
                </a:solidFill>
              </a14:hiddenFill>
            </a:ext>
          </a:extLst>
        </p:spPr>
      </p:pic>
      <p:pic>
        <p:nvPicPr>
          <p:cNvPr id="35854" name="Picture 14">
            <a:extLst>
              <a:ext uri="{FF2B5EF4-FFF2-40B4-BE49-F238E27FC236}">
                <a16:creationId xmlns:a16="http://schemas.microsoft.com/office/drawing/2014/main" id="{E6F021AF-B1D2-4202-9997-E204815219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501900"/>
            <a:ext cx="133350" cy="88900"/>
          </a:xfrm>
          <a:prstGeom prst="rect">
            <a:avLst/>
          </a:prstGeom>
          <a:noFill/>
          <a:extLst>
            <a:ext uri="{909E8E84-426E-40DD-AFC4-6F175D3DCCD1}">
              <a14:hiddenFill xmlns:a14="http://schemas.microsoft.com/office/drawing/2010/main">
                <a:solidFill>
                  <a:srgbClr val="FFFFFF"/>
                </a:solidFill>
              </a14:hiddenFill>
            </a:ext>
          </a:extLst>
        </p:spPr>
      </p:pic>
      <p:pic>
        <p:nvPicPr>
          <p:cNvPr id="35855" name="Picture 15">
            <a:extLst>
              <a:ext uri="{FF2B5EF4-FFF2-40B4-BE49-F238E27FC236}">
                <a16:creationId xmlns:a16="http://schemas.microsoft.com/office/drawing/2014/main" id="{675C7ED7-5AE8-4B6A-AE1E-11B149B772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0" y="2514600"/>
            <a:ext cx="133350" cy="88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5"/>
                                        </p:tgtEl>
                                        <p:attrNameLst>
                                          <p:attrName>style.visibility</p:attrName>
                                        </p:attrNameLst>
                                      </p:cBhvr>
                                      <p:to>
                                        <p:strVal val="visible"/>
                                      </p:to>
                                    </p:set>
                                    <p:animEffect transition="in" filter="wipe(left)">
                                      <p:cBhvr>
                                        <p:cTn id="7" dur="500"/>
                                        <p:tgtEl>
                                          <p:spTgt spid="35845"/>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5842"/>
                                        </p:tgtEl>
                                        <p:attrNameLst>
                                          <p:attrName>style.visibility</p:attrName>
                                        </p:attrNameLst>
                                      </p:cBhvr>
                                      <p:to>
                                        <p:strVal val="visible"/>
                                      </p:to>
                                    </p:set>
                                    <p:animEffect transition="in" filter="wipe(up)">
                                      <p:cBhvr>
                                        <p:cTn id="11" dur="500"/>
                                        <p:tgtEl>
                                          <p:spTgt spid="35842"/>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35851"/>
                                        </p:tgtEl>
                                        <p:attrNameLst>
                                          <p:attrName>style.visibility</p:attrName>
                                        </p:attrNameLst>
                                      </p:cBhvr>
                                      <p:to>
                                        <p:strVal val="visible"/>
                                      </p:to>
                                    </p:set>
                                    <p:animEffect transition="in" filter="wipe(up)">
                                      <p:cBhvr>
                                        <p:cTn id="14" dur="500"/>
                                        <p:tgtEl>
                                          <p:spTgt spid="35851"/>
                                        </p:tgtEl>
                                      </p:cBhvr>
                                    </p:animEffect>
                                  </p:childTnLst>
                                </p:cTn>
                              </p:par>
                            </p:childTnLst>
                          </p:cTn>
                        </p:par>
                        <p:par>
                          <p:cTn id="15" fill="hold" nodeType="afterGroup">
                            <p:stCondLst>
                              <p:cond delay="1000"/>
                            </p:stCondLst>
                            <p:childTnLst>
                              <p:par>
                                <p:cTn id="16" presetID="1" presetClass="entr" presetSubtype="0" fill="hold" nodeType="afterEffect">
                                  <p:stCondLst>
                                    <p:cond delay="0"/>
                                  </p:stCondLst>
                                  <p:childTnLst>
                                    <p:set>
                                      <p:cBhvr>
                                        <p:cTn id="17" dur="1" fill="hold">
                                          <p:stCondLst>
                                            <p:cond delay="0"/>
                                          </p:stCondLst>
                                        </p:cTn>
                                        <p:tgtEl>
                                          <p:spTgt spid="35854"/>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852"/>
                                        </p:tgtEl>
                                        <p:attrNameLst>
                                          <p:attrName>style.visibility</p:attrName>
                                        </p:attrNameLst>
                                      </p:cBhvr>
                                      <p:to>
                                        <p:strVal val="visible"/>
                                      </p:to>
                                    </p:set>
                                    <p:animEffect transition="in" filter="wipe(left)">
                                      <p:cBhvr>
                                        <p:cTn id="22" dur="500"/>
                                        <p:tgtEl>
                                          <p:spTgt spid="35852"/>
                                        </p:tgtEl>
                                      </p:cBhvr>
                                    </p:animEffect>
                                  </p:childTnLst>
                                </p:cTn>
                              </p:par>
                            </p:childTnLst>
                          </p:cTn>
                        </p:par>
                        <p:par>
                          <p:cTn id="23" fill="hold" nodeType="afterGroup">
                            <p:stCondLst>
                              <p:cond delay="500"/>
                            </p:stCondLst>
                            <p:childTnLst>
                              <p:par>
                                <p:cTn id="24" presetID="22" presetClass="entr" presetSubtype="1" fill="hold" nodeType="afterEffect">
                                  <p:stCondLst>
                                    <p:cond delay="0"/>
                                  </p:stCondLst>
                                  <p:childTnLst>
                                    <p:set>
                                      <p:cBhvr>
                                        <p:cTn id="25" dur="1" fill="hold">
                                          <p:stCondLst>
                                            <p:cond delay="0"/>
                                          </p:stCondLst>
                                        </p:cTn>
                                        <p:tgtEl>
                                          <p:spTgt spid="35849"/>
                                        </p:tgtEl>
                                        <p:attrNameLst>
                                          <p:attrName>style.visibility</p:attrName>
                                        </p:attrNameLst>
                                      </p:cBhvr>
                                      <p:to>
                                        <p:strVal val="visible"/>
                                      </p:to>
                                    </p:set>
                                    <p:animEffect transition="in" filter="wipe(up)">
                                      <p:cBhvr>
                                        <p:cTn id="26" dur="500"/>
                                        <p:tgtEl>
                                          <p:spTgt spid="35849"/>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35850"/>
                                        </p:tgtEl>
                                        <p:attrNameLst>
                                          <p:attrName>style.visibility</p:attrName>
                                        </p:attrNameLst>
                                      </p:cBhvr>
                                      <p:to>
                                        <p:strVal val="visible"/>
                                      </p:to>
                                    </p:set>
                                    <p:animEffect transition="in" filter="wipe(up)">
                                      <p:cBhvr>
                                        <p:cTn id="29" dur="500"/>
                                        <p:tgtEl>
                                          <p:spTgt spid="35850"/>
                                        </p:tgtEl>
                                      </p:cBhvr>
                                    </p:animEffect>
                                  </p:childTnLst>
                                </p:cTn>
                              </p:par>
                            </p:childTnLst>
                          </p:cTn>
                        </p:par>
                        <p:par>
                          <p:cTn id="30" fill="hold" nodeType="afterGroup">
                            <p:stCondLst>
                              <p:cond delay="1000"/>
                            </p:stCondLst>
                            <p:childTnLst>
                              <p:par>
                                <p:cTn id="31" presetID="1" presetClass="entr" presetSubtype="0" fill="hold" nodeType="afterEffect">
                                  <p:stCondLst>
                                    <p:cond delay="0"/>
                                  </p:stCondLst>
                                  <p:childTnLst>
                                    <p:set>
                                      <p:cBhvr>
                                        <p:cTn id="32" dur="1" fill="hold">
                                          <p:stCondLst>
                                            <p:cond delay="0"/>
                                          </p:stCondLst>
                                        </p:cTn>
                                        <p:tgtEl>
                                          <p:spTgt spid="3585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5846"/>
                                        </p:tgtEl>
                                        <p:attrNameLst>
                                          <p:attrName>style.visibility</p:attrName>
                                        </p:attrNameLst>
                                      </p:cBhvr>
                                      <p:to>
                                        <p:strVal val="visible"/>
                                      </p:to>
                                    </p:set>
                                    <p:animEffect transition="in" filter="wipe(left)">
                                      <p:cBhvr>
                                        <p:cTn id="37" dur="500"/>
                                        <p:tgtEl>
                                          <p:spTgt spid="35846"/>
                                        </p:tgtEl>
                                      </p:cBhvr>
                                    </p:animEffect>
                                  </p:childTnLst>
                                </p:cTn>
                              </p:par>
                            </p:childTnLst>
                          </p:cTn>
                        </p:par>
                        <p:par>
                          <p:cTn id="38" fill="hold" nodeType="afterGroup">
                            <p:stCondLst>
                              <p:cond delay="500"/>
                            </p:stCondLst>
                            <p:childTnLst>
                              <p:par>
                                <p:cTn id="39" presetID="22" presetClass="entr" presetSubtype="1" fill="hold" nodeType="afterEffect">
                                  <p:stCondLst>
                                    <p:cond delay="0"/>
                                  </p:stCondLst>
                                  <p:childTnLst>
                                    <p:set>
                                      <p:cBhvr>
                                        <p:cTn id="40" dur="1" fill="hold">
                                          <p:stCondLst>
                                            <p:cond delay="0"/>
                                          </p:stCondLst>
                                        </p:cTn>
                                        <p:tgtEl>
                                          <p:spTgt spid="35847"/>
                                        </p:tgtEl>
                                        <p:attrNameLst>
                                          <p:attrName>style.visibility</p:attrName>
                                        </p:attrNameLst>
                                      </p:cBhvr>
                                      <p:to>
                                        <p:strVal val="visible"/>
                                      </p:to>
                                    </p:set>
                                    <p:animEffect transition="in" filter="wipe(up)">
                                      <p:cBhvr>
                                        <p:cTn id="41" dur="500"/>
                                        <p:tgtEl>
                                          <p:spTgt spid="35847"/>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35848"/>
                                        </p:tgtEl>
                                        <p:attrNameLst>
                                          <p:attrName>style.visibility</p:attrName>
                                        </p:attrNameLst>
                                      </p:cBhvr>
                                      <p:to>
                                        <p:strVal val="visible"/>
                                      </p:to>
                                    </p:set>
                                    <p:animEffect transition="in" filter="wipe(up)">
                                      <p:cBhvr>
                                        <p:cTn id="44" dur="500"/>
                                        <p:tgtEl>
                                          <p:spTgt spid="35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p:bldP spid="35846" grpId="0"/>
      <p:bldP spid="35848" grpId="0" animBg="1"/>
      <p:bldP spid="35850" grpId="0" animBg="1"/>
      <p:bldP spid="35851" grpId="0" animBg="1"/>
      <p:bldP spid="358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07" name="Picture 15" descr="ATH0093D.JPG">
            <a:extLst>
              <a:ext uri="{FF2B5EF4-FFF2-40B4-BE49-F238E27FC236}">
                <a16:creationId xmlns:a16="http://schemas.microsoft.com/office/drawing/2014/main" id="{F103483F-65C6-4F24-A836-F909AFC41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993900"/>
            <a:ext cx="1730375" cy="2590800"/>
          </a:xfrm>
          <a:prstGeom prst="rect">
            <a:avLst/>
          </a:prstGeom>
          <a:noFill/>
          <a:extLst>
            <a:ext uri="{909E8E84-426E-40DD-AFC4-6F175D3DCCD1}">
              <a14:hiddenFill xmlns:a14="http://schemas.microsoft.com/office/drawing/2010/main">
                <a:solidFill>
                  <a:srgbClr val="FFFFFF"/>
                </a:solidFill>
              </a14:hiddenFill>
            </a:ext>
          </a:extLst>
        </p:spPr>
      </p:pic>
      <p:pic>
        <p:nvPicPr>
          <p:cNvPr id="33805" name="Picture 13" descr="FDA0005D.JPG">
            <a:extLst>
              <a:ext uri="{FF2B5EF4-FFF2-40B4-BE49-F238E27FC236}">
                <a16:creationId xmlns:a16="http://schemas.microsoft.com/office/drawing/2014/main" id="{1054BDC2-2AD8-497F-B314-61989DE9B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795" t="20792"/>
          <a:stretch>
            <a:fillRect/>
          </a:stretch>
        </p:blipFill>
        <p:spPr bwMode="auto">
          <a:xfrm>
            <a:off x="838200" y="1993900"/>
            <a:ext cx="1778000" cy="2565400"/>
          </a:xfrm>
          <a:prstGeom prst="rect">
            <a:avLst/>
          </a:prstGeom>
          <a:noFill/>
          <a:extLst>
            <a:ext uri="{909E8E84-426E-40DD-AFC4-6F175D3DCCD1}">
              <a14:hiddenFill xmlns:a14="http://schemas.microsoft.com/office/drawing/2010/main">
                <a:solidFill>
                  <a:srgbClr val="FFFFFF"/>
                </a:solidFill>
              </a14:hiddenFill>
            </a:ext>
          </a:extLst>
        </p:spPr>
      </p:pic>
      <p:sp>
        <p:nvSpPr>
          <p:cNvPr id="33794" name="Rectangle 2">
            <a:extLst>
              <a:ext uri="{FF2B5EF4-FFF2-40B4-BE49-F238E27FC236}">
                <a16:creationId xmlns:a16="http://schemas.microsoft.com/office/drawing/2014/main" id="{93F9A595-C0A7-4F6B-B533-7A5D40C118C0}"/>
              </a:ext>
            </a:extLst>
          </p:cNvPr>
          <p:cNvSpPr>
            <a:spLocks noGrp="1" noChangeArrowheads="1"/>
          </p:cNvSpPr>
          <p:nvPr>
            <p:ph type="title"/>
          </p:nvPr>
        </p:nvSpPr>
        <p:spPr/>
        <p:txBody>
          <a:bodyPr/>
          <a:lstStyle/>
          <a:p>
            <a:r>
              <a:rPr lang="en-US" altLang="en-US" b="1"/>
              <a:t>How Is Setting Created?</a:t>
            </a:r>
          </a:p>
        </p:txBody>
      </p:sp>
      <p:sp>
        <p:nvSpPr>
          <p:cNvPr id="33798" name="Text Box 6">
            <a:extLst>
              <a:ext uri="{FF2B5EF4-FFF2-40B4-BE49-F238E27FC236}">
                <a16:creationId xmlns:a16="http://schemas.microsoft.com/office/drawing/2014/main" id="{952C8603-F0AC-4849-8CED-DE589EF93A3D}"/>
              </a:ext>
            </a:extLst>
          </p:cNvPr>
          <p:cNvSpPr txBox="1">
            <a:spLocks noChangeArrowheads="1"/>
          </p:cNvSpPr>
          <p:nvPr/>
        </p:nvSpPr>
        <p:spPr bwMode="auto">
          <a:xfrm>
            <a:off x="4572000" y="1370013"/>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smell</a:t>
            </a:r>
          </a:p>
        </p:txBody>
      </p:sp>
      <p:sp>
        <p:nvSpPr>
          <p:cNvPr id="33806" name="Text Box 14">
            <a:extLst>
              <a:ext uri="{FF2B5EF4-FFF2-40B4-BE49-F238E27FC236}">
                <a16:creationId xmlns:a16="http://schemas.microsoft.com/office/drawing/2014/main" id="{8B1B75C9-199B-4EF2-BDAF-C547FE4726CF}"/>
              </a:ext>
            </a:extLst>
          </p:cNvPr>
          <p:cNvSpPr txBox="1">
            <a:spLocks noChangeArrowheads="1"/>
          </p:cNvSpPr>
          <p:nvPr/>
        </p:nvSpPr>
        <p:spPr bwMode="auto">
          <a:xfrm>
            <a:off x="533400" y="4568825"/>
            <a:ext cx="2438400" cy="7016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000">
                <a:solidFill>
                  <a:srgbClr val="003300"/>
                </a:solidFill>
              </a:rPr>
              <a:t>gritty, wet sand between her toes</a:t>
            </a:r>
          </a:p>
        </p:txBody>
      </p:sp>
      <p:sp>
        <p:nvSpPr>
          <p:cNvPr id="33808" name="Text Box 16">
            <a:extLst>
              <a:ext uri="{FF2B5EF4-FFF2-40B4-BE49-F238E27FC236}">
                <a16:creationId xmlns:a16="http://schemas.microsoft.com/office/drawing/2014/main" id="{1DFBD3BE-B5EF-4E98-9EC4-27E0EFDC2BAF}"/>
              </a:ext>
            </a:extLst>
          </p:cNvPr>
          <p:cNvSpPr txBox="1">
            <a:spLocks noChangeArrowheads="1"/>
          </p:cNvSpPr>
          <p:nvPr/>
        </p:nvSpPr>
        <p:spPr bwMode="auto">
          <a:xfrm>
            <a:off x="4572000" y="4572000"/>
            <a:ext cx="2133600" cy="7016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000">
                <a:solidFill>
                  <a:srgbClr val="003300"/>
                </a:solidFill>
              </a:rPr>
              <a:t>strong, sweet scent of a rose</a:t>
            </a:r>
          </a:p>
        </p:txBody>
      </p:sp>
      <p:sp>
        <p:nvSpPr>
          <p:cNvPr id="33810" name="Text Box 18">
            <a:extLst>
              <a:ext uri="{FF2B5EF4-FFF2-40B4-BE49-F238E27FC236}">
                <a16:creationId xmlns:a16="http://schemas.microsoft.com/office/drawing/2014/main" id="{995957AF-A3F4-44DD-B34E-7F301CF3E5CE}"/>
              </a:ext>
            </a:extLst>
          </p:cNvPr>
          <p:cNvSpPr txBox="1">
            <a:spLocks noChangeArrowheads="1"/>
          </p:cNvSpPr>
          <p:nvPr/>
        </p:nvSpPr>
        <p:spPr bwMode="auto">
          <a:xfrm>
            <a:off x="533400" y="1370013"/>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touch</a:t>
            </a:r>
          </a:p>
        </p:txBody>
      </p:sp>
      <p:pic>
        <p:nvPicPr>
          <p:cNvPr id="33812" name="Picture 20">
            <a:extLst>
              <a:ext uri="{FF2B5EF4-FFF2-40B4-BE49-F238E27FC236}">
                <a16:creationId xmlns:a16="http://schemas.microsoft.com/office/drawing/2014/main" id="{3B099845-DF8D-47C5-956D-56919478EF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2650" y="1600200"/>
            <a:ext cx="133350" cy="88900"/>
          </a:xfrm>
          <a:prstGeom prst="rect">
            <a:avLst/>
          </a:prstGeom>
          <a:noFill/>
          <a:extLst>
            <a:ext uri="{909E8E84-426E-40DD-AFC4-6F175D3DCCD1}">
              <a14:hiddenFill xmlns:a14="http://schemas.microsoft.com/office/drawing/2010/main">
                <a:solidFill>
                  <a:srgbClr val="FFFFFF"/>
                </a:solidFill>
              </a14:hiddenFill>
            </a:ext>
          </a:extLst>
        </p:spPr>
      </p:pic>
      <p:sp>
        <p:nvSpPr>
          <p:cNvPr id="33814" name="Text Box 22">
            <a:extLst>
              <a:ext uri="{FF2B5EF4-FFF2-40B4-BE49-F238E27FC236}">
                <a16:creationId xmlns:a16="http://schemas.microsoft.com/office/drawing/2014/main" id="{B845C878-2A05-41DF-A229-BCF454DF76F4}"/>
              </a:ext>
            </a:extLst>
          </p:cNvPr>
          <p:cNvSpPr txBox="1">
            <a:spLocks noChangeArrowheads="1"/>
          </p:cNvSpPr>
          <p:nvPr/>
        </p:nvSpPr>
        <p:spPr bwMode="auto">
          <a:xfrm>
            <a:off x="6553200" y="5607050"/>
            <a:ext cx="2057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FFFF99"/>
                </a:solidFill>
              </a:rPr>
              <a:t>[End of Section]</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33805"/>
                                        </p:tgtEl>
                                        <p:attrNameLst>
                                          <p:attrName>style.visibility</p:attrName>
                                        </p:attrNameLst>
                                      </p:cBhvr>
                                      <p:to>
                                        <p:strVal val="visible"/>
                                      </p:to>
                                    </p:set>
                                    <p:animEffect transition="in" filter="wipe(up)">
                                      <p:cBhvr>
                                        <p:cTn id="7" dur="500"/>
                                        <p:tgtEl>
                                          <p:spTgt spid="3380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3806"/>
                                        </p:tgtEl>
                                        <p:attrNameLst>
                                          <p:attrName>style.visibility</p:attrName>
                                        </p:attrNameLst>
                                      </p:cBhvr>
                                      <p:to>
                                        <p:strVal val="visible"/>
                                      </p:to>
                                    </p:set>
                                    <p:animEffect transition="in" filter="wipe(up)">
                                      <p:cBhvr>
                                        <p:cTn id="10" dur="500"/>
                                        <p:tgtEl>
                                          <p:spTgt spid="33806"/>
                                        </p:tgtEl>
                                      </p:cBhvr>
                                    </p:animEffec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0"/>
                                          </p:stCondLst>
                                        </p:cTn>
                                        <p:tgtEl>
                                          <p:spTgt spid="33812"/>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3798"/>
                                        </p:tgtEl>
                                        <p:attrNameLst>
                                          <p:attrName>style.visibility</p:attrName>
                                        </p:attrNameLst>
                                      </p:cBhvr>
                                      <p:to>
                                        <p:strVal val="visible"/>
                                      </p:to>
                                    </p:set>
                                    <p:animEffect transition="in" filter="wipe(left)">
                                      <p:cBhvr>
                                        <p:cTn id="18" dur="500"/>
                                        <p:tgtEl>
                                          <p:spTgt spid="33798"/>
                                        </p:tgtEl>
                                      </p:cBhvr>
                                    </p:animEffect>
                                  </p:childTnLst>
                                </p:cTn>
                              </p:par>
                            </p:childTnLst>
                          </p:cTn>
                        </p:par>
                        <p:par>
                          <p:cTn id="19" fill="hold" nodeType="afterGroup">
                            <p:stCondLst>
                              <p:cond delay="500"/>
                            </p:stCondLst>
                            <p:childTnLst>
                              <p:par>
                                <p:cTn id="20" presetID="22" presetClass="entr" presetSubtype="1" fill="hold" nodeType="afterEffect">
                                  <p:stCondLst>
                                    <p:cond delay="0"/>
                                  </p:stCondLst>
                                  <p:childTnLst>
                                    <p:set>
                                      <p:cBhvr>
                                        <p:cTn id="21" dur="1" fill="hold">
                                          <p:stCondLst>
                                            <p:cond delay="0"/>
                                          </p:stCondLst>
                                        </p:cTn>
                                        <p:tgtEl>
                                          <p:spTgt spid="33807"/>
                                        </p:tgtEl>
                                        <p:attrNameLst>
                                          <p:attrName>style.visibility</p:attrName>
                                        </p:attrNameLst>
                                      </p:cBhvr>
                                      <p:to>
                                        <p:strVal val="visible"/>
                                      </p:to>
                                    </p:set>
                                    <p:animEffect transition="in" filter="wipe(up)">
                                      <p:cBhvr>
                                        <p:cTn id="22" dur="500"/>
                                        <p:tgtEl>
                                          <p:spTgt spid="33807"/>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3808"/>
                                        </p:tgtEl>
                                        <p:attrNameLst>
                                          <p:attrName>style.visibility</p:attrName>
                                        </p:attrNameLst>
                                      </p:cBhvr>
                                      <p:to>
                                        <p:strVal val="visible"/>
                                      </p:to>
                                    </p:set>
                                    <p:animEffect transition="in" filter="wipe(up)">
                                      <p:cBhvr>
                                        <p:cTn id="25" dur="500"/>
                                        <p:tgtEl>
                                          <p:spTgt spid="33808"/>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338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p:bldP spid="33806" grpId="0" animBg="1"/>
      <p:bldP spid="33808" grpId="0" animBg="1"/>
      <p:bldP spid="338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2E841E4-ADF2-48D3-9AA8-7279391A86B8}"/>
              </a:ext>
            </a:extLst>
          </p:cNvPr>
          <p:cNvSpPr>
            <a:spLocks noGrp="1" noChangeArrowheads="1"/>
          </p:cNvSpPr>
          <p:nvPr>
            <p:ph type="title"/>
          </p:nvPr>
        </p:nvSpPr>
        <p:spPr/>
        <p:txBody>
          <a:bodyPr/>
          <a:lstStyle/>
          <a:p>
            <a:r>
              <a:rPr lang="en-US" altLang="en-US" b="1"/>
              <a:t>Setting and Character</a:t>
            </a:r>
          </a:p>
        </p:txBody>
      </p:sp>
      <p:sp>
        <p:nvSpPr>
          <p:cNvPr id="5123" name="Text Box 3">
            <a:extLst>
              <a:ext uri="{FF2B5EF4-FFF2-40B4-BE49-F238E27FC236}">
                <a16:creationId xmlns:a16="http://schemas.microsoft.com/office/drawing/2014/main" id="{DD7C9380-F6A2-4A11-B508-65ABA3E5ED05}"/>
              </a:ext>
            </a:extLst>
          </p:cNvPr>
          <p:cNvSpPr txBox="1">
            <a:spLocks noChangeArrowheads="1"/>
          </p:cNvSpPr>
          <p:nvPr/>
        </p:nvSpPr>
        <p:spPr bwMode="auto">
          <a:xfrm>
            <a:off x="533400" y="1370013"/>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400">
                <a:solidFill>
                  <a:srgbClr val="FFFF99"/>
                </a:solidFill>
              </a:rPr>
              <a:t>Sometimes writers place characters in settings that reflect the characters’ personalities. </a:t>
            </a:r>
          </a:p>
        </p:txBody>
      </p:sp>
      <p:pic>
        <p:nvPicPr>
          <p:cNvPr id="5130" name="Picture 10" descr="WGE0030D.JPG">
            <a:extLst>
              <a:ext uri="{FF2B5EF4-FFF2-40B4-BE49-F238E27FC236}">
                <a16:creationId xmlns:a16="http://schemas.microsoft.com/office/drawing/2014/main" id="{7D12A597-5CC5-4026-ACDB-9C595F621C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048000"/>
            <a:ext cx="1679575" cy="2514600"/>
          </a:xfrm>
          <a:prstGeom prst="rect">
            <a:avLst/>
          </a:prstGeom>
          <a:noFill/>
          <a:extLst>
            <a:ext uri="{909E8E84-426E-40DD-AFC4-6F175D3DCCD1}">
              <a14:hiddenFill xmlns:a14="http://schemas.microsoft.com/office/drawing/2010/main">
                <a:solidFill>
                  <a:srgbClr val="FFFFFF"/>
                </a:solidFill>
              </a14:hiddenFill>
            </a:ext>
          </a:extLst>
        </p:spPr>
      </p:pic>
      <p:pic>
        <p:nvPicPr>
          <p:cNvPr id="5131" name="Picture 11" descr="57106.JPG">
            <a:extLst>
              <a:ext uri="{FF2B5EF4-FFF2-40B4-BE49-F238E27FC236}">
                <a16:creationId xmlns:a16="http://schemas.microsoft.com/office/drawing/2014/main" id="{53BD916D-96CC-4520-ABE1-79D167BDF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0150" y="3048000"/>
            <a:ext cx="1662113" cy="2514600"/>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STB0010D.jpg">
            <a:extLst>
              <a:ext uri="{FF2B5EF4-FFF2-40B4-BE49-F238E27FC236}">
                <a16:creationId xmlns:a16="http://schemas.microsoft.com/office/drawing/2014/main" id="{5014B747-AD31-497C-B448-29B755CC62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0225" y="2971800"/>
            <a:ext cx="1730375" cy="2590800"/>
          </a:xfrm>
          <a:prstGeom prst="rect">
            <a:avLst/>
          </a:prstGeom>
          <a:noFill/>
          <a:extLst>
            <a:ext uri="{909E8E84-426E-40DD-AFC4-6F175D3DCCD1}">
              <a14:hiddenFill xmlns:a14="http://schemas.microsoft.com/office/drawing/2010/main">
                <a:solidFill>
                  <a:srgbClr val="FFFFFF"/>
                </a:solidFill>
              </a14:hiddenFill>
            </a:ext>
          </a:extLst>
        </p:spPr>
      </p:pic>
      <p:sp>
        <p:nvSpPr>
          <p:cNvPr id="5133" name="Text Box 13">
            <a:extLst>
              <a:ext uri="{FF2B5EF4-FFF2-40B4-BE49-F238E27FC236}">
                <a16:creationId xmlns:a16="http://schemas.microsoft.com/office/drawing/2014/main" id="{826E8189-27A7-4363-8F82-FD1E5EB3E58E}"/>
              </a:ext>
            </a:extLst>
          </p:cNvPr>
          <p:cNvSpPr txBox="1">
            <a:spLocks noChangeArrowheads="1"/>
          </p:cNvSpPr>
          <p:nvPr/>
        </p:nvSpPr>
        <p:spPr bwMode="auto">
          <a:xfrm>
            <a:off x="533400" y="2301875"/>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400">
                <a:solidFill>
                  <a:srgbClr val="FFFF99"/>
                </a:solidFill>
              </a:rPr>
              <a:t>What do you think these characters are like? </a:t>
            </a:r>
          </a:p>
        </p:txBody>
      </p:sp>
      <p:pic>
        <p:nvPicPr>
          <p:cNvPr id="5134" name="Picture 14">
            <a:extLst>
              <a:ext uri="{FF2B5EF4-FFF2-40B4-BE49-F238E27FC236}">
                <a16:creationId xmlns:a16="http://schemas.microsoft.com/office/drawing/2014/main" id="{CD82E37F-B959-4E4A-84AD-55318DC1D3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5650" y="1968500"/>
            <a:ext cx="133350" cy="88900"/>
          </a:xfrm>
          <a:prstGeom prst="rect">
            <a:avLst/>
          </a:prstGeom>
          <a:noFill/>
          <a:extLst>
            <a:ext uri="{909E8E84-426E-40DD-AFC4-6F175D3DCCD1}">
              <a14:hiddenFill xmlns:a14="http://schemas.microsoft.com/office/drawing/2010/main">
                <a:solidFill>
                  <a:srgbClr val="FFFFFF"/>
                </a:solidFill>
              </a14:hiddenFill>
            </a:ext>
          </a:extLst>
        </p:spPr>
      </p:pic>
      <p:sp>
        <p:nvSpPr>
          <p:cNvPr id="5135" name="Text Box 15">
            <a:extLst>
              <a:ext uri="{FF2B5EF4-FFF2-40B4-BE49-F238E27FC236}">
                <a16:creationId xmlns:a16="http://schemas.microsoft.com/office/drawing/2014/main" id="{4389989B-883F-4ADF-9BB3-4864B1BD4148}"/>
              </a:ext>
            </a:extLst>
          </p:cNvPr>
          <p:cNvSpPr txBox="1">
            <a:spLocks noChangeArrowheads="1"/>
          </p:cNvSpPr>
          <p:nvPr/>
        </p:nvSpPr>
        <p:spPr bwMode="auto">
          <a:xfrm>
            <a:off x="6553200" y="5607050"/>
            <a:ext cx="2057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FFFF99"/>
                </a:solidFill>
              </a:rPr>
              <a:t>[End of Section]</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33"/>
                                        </p:tgtEl>
                                        <p:attrNameLst>
                                          <p:attrName>style.visibility</p:attrName>
                                        </p:attrNameLst>
                                      </p:cBhvr>
                                      <p:to>
                                        <p:strVal val="visible"/>
                                      </p:to>
                                    </p:set>
                                    <p:animEffect transition="in" filter="wipe(left)">
                                      <p:cBhvr>
                                        <p:cTn id="7" dur="500"/>
                                        <p:tgtEl>
                                          <p:spTgt spid="5133"/>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5130"/>
                                        </p:tgtEl>
                                        <p:attrNameLst>
                                          <p:attrName>style.visibility</p:attrName>
                                        </p:attrNameLst>
                                      </p:cBhvr>
                                      <p:to>
                                        <p:strVal val="visible"/>
                                      </p:to>
                                    </p:set>
                                    <p:animEffect transition="in" filter="wipe(up)">
                                      <p:cBhvr>
                                        <p:cTn id="11" dur="500"/>
                                        <p:tgtEl>
                                          <p:spTgt spid="5130"/>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5131"/>
                                        </p:tgtEl>
                                        <p:attrNameLst>
                                          <p:attrName>style.visibility</p:attrName>
                                        </p:attrNameLst>
                                      </p:cBhvr>
                                      <p:to>
                                        <p:strVal val="visible"/>
                                      </p:to>
                                    </p:set>
                                    <p:animEffect transition="in" filter="wipe(up)">
                                      <p:cBhvr>
                                        <p:cTn id="15" dur="500"/>
                                        <p:tgtEl>
                                          <p:spTgt spid="5131"/>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5132"/>
                                        </p:tgtEl>
                                        <p:attrNameLst>
                                          <p:attrName>style.visibility</p:attrName>
                                        </p:attrNameLst>
                                      </p:cBhvr>
                                      <p:to>
                                        <p:strVal val="visible"/>
                                      </p:to>
                                    </p:set>
                                    <p:animEffect transition="in" filter="wipe(up)">
                                      <p:cBhvr>
                                        <p:cTn id="19" dur="500"/>
                                        <p:tgtEl>
                                          <p:spTgt spid="5132"/>
                                        </p:tgtEl>
                                      </p:cBhvr>
                                    </p:animEffect>
                                  </p:childTnLst>
                                </p:cTn>
                              </p:par>
                            </p:childTnLst>
                          </p:cTn>
                        </p:par>
                        <p:par>
                          <p:cTn id="20" fill="hold" nodeType="afterGroup">
                            <p:stCondLst>
                              <p:cond delay="2000"/>
                            </p:stCondLst>
                            <p:childTnLst>
                              <p:par>
                                <p:cTn id="21" presetID="1" presetClass="entr" presetSubtype="0" fill="hold" grpId="0" nodeType="afterEffect">
                                  <p:stCondLst>
                                    <p:cond delay="0"/>
                                  </p:stCondLst>
                                  <p:childTnLst>
                                    <p:set>
                                      <p:cBhvr>
                                        <p:cTn id="22" dur="1" fill="hold">
                                          <p:stCondLst>
                                            <p:cond delay="0"/>
                                          </p:stCondLst>
                                        </p:cTn>
                                        <p:tgtEl>
                                          <p:spTgt spid="5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3" grpId="0"/>
      <p:bldP spid="51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F8B9747-9813-4A49-935B-E0B3CC97F3C2}"/>
              </a:ext>
            </a:extLst>
          </p:cNvPr>
          <p:cNvSpPr>
            <a:spLocks noGrp="1" noChangeArrowheads="1"/>
          </p:cNvSpPr>
          <p:nvPr>
            <p:ph type="title"/>
          </p:nvPr>
        </p:nvSpPr>
        <p:spPr/>
        <p:txBody>
          <a:bodyPr/>
          <a:lstStyle/>
          <a:p>
            <a:r>
              <a:rPr lang="en-US" altLang="en-US" b="1"/>
              <a:t>Setting, Mood, and Tone</a:t>
            </a:r>
          </a:p>
        </p:txBody>
      </p:sp>
      <p:sp>
        <p:nvSpPr>
          <p:cNvPr id="7171" name="Text Box 3">
            <a:extLst>
              <a:ext uri="{FF2B5EF4-FFF2-40B4-BE49-F238E27FC236}">
                <a16:creationId xmlns:a16="http://schemas.microsoft.com/office/drawing/2014/main" id="{34994E0E-A72C-4FDF-92E8-3C43BD847C35}"/>
              </a:ext>
            </a:extLst>
          </p:cNvPr>
          <p:cNvSpPr txBox="1">
            <a:spLocks noChangeArrowheads="1"/>
          </p:cNvSpPr>
          <p:nvPr/>
        </p:nvSpPr>
        <p:spPr bwMode="auto">
          <a:xfrm>
            <a:off x="533400" y="1370013"/>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400">
                <a:solidFill>
                  <a:srgbClr val="FFFF99"/>
                </a:solidFill>
              </a:rPr>
              <a:t>Setting can also create </a:t>
            </a:r>
            <a:r>
              <a:rPr lang="en-US" altLang="en-US" sz="2400" b="1">
                <a:solidFill>
                  <a:srgbClr val="FFFF99"/>
                </a:solidFill>
              </a:rPr>
              <a:t>mood, </a:t>
            </a:r>
            <a:r>
              <a:rPr lang="en-US" altLang="en-US" sz="2400">
                <a:solidFill>
                  <a:srgbClr val="FFFF99"/>
                </a:solidFill>
              </a:rPr>
              <a:t>or atmosphere. It can affect the way we feel about the characters.</a:t>
            </a:r>
            <a:endParaRPr lang="en-US" altLang="en-US" sz="2200">
              <a:solidFill>
                <a:srgbClr val="FFFF99"/>
              </a:solidFill>
            </a:endParaRPr>
          </a:p>
        </p:txBody>
      </p:sp>
      <p:pic>
        <p:nvPicPr>
          <p:cNvPr id="7179" name="Picture 11" descr="51036.JPG">
            <a:extLst>
              <a:ext uri="{FF2B5EF4-FFF2-40B4-BE49-F238E27FC236}">
                <a16:creationId xmlns:a16="http://schemas.microsoft.com/office/drawing/2014/main" id="{5A2B644B-9969-46F2-8452-4151AEE617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230688"/>
            <a:ext cx="2590800" cy="1712912"/>
          </a:xfrm>
          <a:prstGeom prst="rect">
            <a:avLst/>
          </a:prstGeom>
          <a:noFill/>
          <a:extLst>
            <a:ext uri="{909E8E84-426E-40DD-AFC4-6F175D3DCCD1}">
              <a14:hiddenFill xmlns:a14="http://schemas.microsoft.com/office/drawing/2010/main">
                <a:solidFill>
                  <a:srgbClr val="FFFFFF"/>
                </a:solidFill>
              </a14:hiddenFill>
            </a:ext>
          </a:extLst>
        </p:spPr>
      </p:pic>
      <p:sp>
        <p:nvSpPr>
          <p:cNvPr id="7180" name="Text Box 12">
            <a:extLst>
              <a:ext uri="{FF2B5EF4-FFF2-40B4-BE49-F238E27FC236}">
                <a16:creationId xmlns:a16="http://schemas.microsoft.com/office/drawing/2014/main" id="{C78394BC-3A31-46D6-80A4-27E7B6908C9E}"/>
              </a:ext>
            </a:extLst>
          </p:cNvPr>
          <p:cNvSpPr txBox="1">
            <a:spLocks noChangeArrowheads="1"/>
          </p:cNvSpPr>
          <p:nvPr/>
        </p:nvSpPr>
        <p:spPr bwMode="auto">
          <a:xfrm>
            <a:off x="762000" y="3962400"/>
            <a:ext cx="1981200" cy="4572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lgn="ctr">
              <a:spcBef>
                <a:spcPct val="50000"/>
              </a:spcBef>
            </a:pPr>
            <a:r>
              <a:rPr lang="en-US" altLang="en-US" sz="2400">
                <a:solidFill>
                  <a:srgbClr val="003300"/>
                </a:solidFill>
              </a:rPr>
              <a:t>mysterious</a:t>
            </a:r>
            <a:endParaRPr lang="en-US" altLang="en-US" sz="2200">
              <a:solidFill>
                <a:srgbClr val="003300"/>
              </a:solidFill>
            </a:endParaRPr>
          </a:p>
        </p:txBody>
      </p:sp>
      <p:pic>
        <p:nvPicPr>
          <p:cNvPr id="7182" name="Picture 14" descr="15327.JPG">
            <a:extLst>
              <a:ext uri="{FF2B5EF4-FFF2-40B4-BE49-F238E27FC236}">
                <a16:creationId xmlns:a16="http://schemas.microsoft.com/office/drawing/2014/main" id="{20D10FFD-831D-49BB-946B-DD8A161560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700" y="2895600"/>
            <a:ext cx="2514600" cy="1662113"/>
          </a:xfrm>
          <a:prstGeom prst="rect">
            <a:avLst/>
          </a:prstGeom>
          <a:noFill/>
          <a:extLst>
            <a:ext uri="{909E8E84-426E-40DD-AFC4-6F175D3DCCD1}">
              <a14:hiddenFill xmlns:a14="http://schemas.microsoft.com/office/drawing/2010/main">
                <a:solidFill>
                  <a:srgbClr val="FFFFFF"/>
                </a:solidFill>
              </a14:hiddenFill>
            </a:ext>
          </a:extLst>
        </p:spPr>
      </p:pic>
      <p:sp>
        <p:nvSpPr>
          <p:cNvPr id="7183" name="Text Box 15">
            <a:extLst>
              <a:ext uri="{FF2B5EF4-FFF2-40B4-BE49-F238E27FC236}">
                <a16:creationId xmlns:a16="http://schemas.microsoft.com/office/drawing/2014/main" id="{95F66010-5F4B-4DE5-B17F-AD77E1003F47}"/>
              </a:ext>
            </a:extLst>
          </p:cNvPr>
          <p:cNvSpPr txBox="1">
            <a:spLocks noChangeArrowheads="1"/>
          </p:cNvSpPr>
          <p:nvPr/>
        </p:nvSpPr>
        <p:spPr bwMode="auto">
          <a:xfrm>
            <a:off x="4191000" y="2590800"/>
            <a:ext cx="1524000" cy="4572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lgn="ctr">
              <a:spcBef>
                <a:spcPct val="50000"/>
              </a:spcBef>
            </a:pPr>
            <a:r>
              <a:rPr lang="en-US" altLang="en-US" sz="2400">
                <a:solidFill>
                  <a:srgbClr val="003300"/>
                </a:solidFill>
              </a:rPr>
              <a:t>peaceful</a:t>
            </a:r>
            <a:endParaRPr lang="en-US" altLang="en-US" sz="2200">
              <a:solidFill>
                <a:srgbClr val="003300"/>
              </a:solidFill>
            </a:endParaRPr>
          </a:p>
        </p:txBody>
      </p:sp>
      <p:pic>
        <p:nvPicPr>
          <p:cNvPr id="7185" name="Picture 17" descr="ANT0098E.JPG">
            <a:extLst>
              <a:ext uri="{FF2B5EF4-FFF2-40B4-BE49-F238E27FC236}">
                <a16:creationId xmlns:a16="http://schemas.microsoft.com/office/drawing/2014/main" id="{70A18F1B-989E-45C2-AE48-F5217010C6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883025"/>
            <a:ext cx="2514600" cy="1679575"/>
          </a:xfrm>
          <a:prstGeom prst="rect">
            <a:avLst/>
          </a:prstGeom>
          <a:noFill/>
          <a:extLst>
            <a:ext uri="{909E8E84-426E-40DD-AFC4-6F175D3DCCD1}">
              <a14:hiddenFill xmlns:a14="http://schemas.microsoft.com/office/drawing/2010/main">
                <a:solidFill>
                  <a:srgbClr val="FFFFFF"/>
                </a:solidFill>
              </a14:hiddenFill>
            </a:ext>
          </a:extLst>
        </p:spPr>
      </p:pic>
      <p:sp>
        <p:nvSpPr>
          <p:cNvPr id="7186" name="Text Box 18">
            <a:extLst>
              <a:ext uri="{FF2B5EF4-FFF2-40B4-BE49-F238E27FC236}">
                <a16:creationId xmlns:a16="http://schemas.microsoft.com/office/drawing/2014/main" id="{B18EAC69-211B-455C-A546-D06B0632E03E}"/>
              </a:ext>
            </a:extLst>
          </p:cNvPr>
          <p:cNvSpPr txBox="1">
            <a:spLocks noChangeArrowheads="1"/>
          </p:cNvSpPr>
          <p:nvPr/>
        </p:nvSpPr>
        <p:spPr bwMode="auto">
          <a:xfrm>
            <a:off x="6858000" y="5486400"/>
            <a:ext cx="1676400" cy="4572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lgn="ctr">
              <a:spcBef>
                <a:spcPct val="50000"/>
              </a:spcBef>
            </a:pPr>
            <a:r>
              <a:rPr lang="en-US" altLang="en-US" sz="2400">
                <a:solidFill>
                  <a:srgbClr val="003300"/>
                </a:solidFill>
              </a:rPr>
              <a:t>menacing</a:t>
            </a:r>
            <a:endParaRPr lang="en-US" altLang="en-US" sz="2200">
              <a:solidFill>
                <a:srgbClr val="003300"/>
              </a:solidFill>
            </a:endParaRPr>
          </a:p>
        </p:txBody>
      </p:sp>
      <p:pic>
        <p:nvPicPr>
          <p:cNvPr id="7187" name="Picture 19">
            <a:extLst>
              <a:ext uri="{FF2B5EF4-FFF2-40B4-BE49-F238E27FC236}">
                <a16:creationId xmlns:a16="http://schemas.microsoft.com/office/drawing/2014/main" id="{90AD2E05-44A1-4104-B066-BBB77C5A6B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2450" y="1968500"/>
            <a:ext cx="133350" cy="88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79"/>
                                        </p:tgtEl>
                                        <p:attrNameLst>
                                          <p:attrName>style.visibility</p:attrName>
                                        </p:attrNameLst>
                                      </p:cBhvr>
                                      <p:to>
                                        <p:strVal val="visible"/>
                                      </p:to>
                                    </p:set>
                                    <p:animEffect transition="in" filter="wipe(left)">
                                      <p:cBhvr>
                                        <p:cTn id="7" dur="500"/>
                                        <p:tgtEl>
                                          <p:spTgt spid="717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180"/>
                                        </p:tgtEl>
                                        <p:attrNameLst>
                                          <p:attrName>style.visibility</p:attrName>
                                        </p:attrNameLst>
                                      </p:cBhvr>
                                      <p:to>
                                        <p:strVal val="visible"/>
                                      </p:to>
                                    </p:set>
                                    <p:animEffect transition="in" filter="wipe(left)">
                                      <p:cBhvr>
                                        <p:cTn id="11" dur="500"/>
                                        <p:tgtEl>
                                          <p:spTgt spid="7180"/>
                                        </p:tgtEl>
                                      </p:cBhvr>
                                    </p:animEffect>
                                  </p:childTnLst>
                                </p:cTn>
                              </p:par>
                            </p:childTnLst>
                          </p:cTn>
                        </p:par>
                        <p:par>
                          <p:cTn id="12" fill="hold" nodeType="afterGroup">
                            <p:stCondLst>
                              <p:cond delay="1000"/>
                            </p:stCondLst>
                            <p:childTnLst>
                              <p:par>
                                <p:cTn id="13" presetID="22" presetClass="entr" presetSubtype="8" fill="hold" nodeType="afterEffect">
                                  <p:stCondLst>
                                    <p:cond delay="500"/>
                                  </p:stCondLst>
                                  <p:childTnLst>
                                    <p:set>
                                      <p:cBhvr>
                                        <p:cTn id="14" dur="1" fill="hold">
                                          <p:stCondLst>
                                            <p:cond delay="0"/>
                                          </p:stCondLst>
                                        </p:cTn>
                                        <p:tgtEl>
                                          <p:spTgt spid="7182"/>
                                        </p:tgtEl>
                                        <p:attrNameLst>
                                          <p:attrName>style.visibility</p:attrName>
                                        </p:attrNameLst>
                                      </p:cBhvr>
                                      <p:to>
                                        <p:strVal val="visible"/>
                                      </p:to>
                                    </p:set>
                                    <p:animEffect transition="in" filter="wipe(left)">
                                      <p:cBhvr>
                                        <p:cTn id="15" dur="500"/>
                                        <p:tgtEl>
                                          <p:spTgt spid="7182"/>
                                        </p:tgtEl>
                                      </p:cBhvr>
                                    </p:animEffect>
                                  </p:childTnLst>
                                </p:cTn>
                              </p:par>
                            </p:childTnLst>
                          </p:cTn>
                        </p:par>
                        <p:par>
                          <p:cTn id="16" fill="hold" nodeType="afterGroup">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7183"/>
                                        </p:tgtEl>
                                        <p:attrNameLst>
                                          <p:attrName>style.visibility</p:attrName>
                                        </p:attrNameLst>
                                      </p:cBhvr>
                                      <p:to>
                                        <p:strVal val="visible"/>
                                      </p:to>
                                    </p:set>
                                    <p:animEffect transition="in" filter="wipe(left)">
                                      <p:cBhvr>
                                        <p:cTn id="19" dur="500"/>
                                        <p:tgtEl>
                                          <p:spTgt spid="7183"/>
                                        </p:tgtEl>
                                      </p:cBhvr>
                                    </p:animEffect>
                                  </p:childTnLst>
                                </p:cTn>
                              </p:par>
                            </p:childTnLst>
                          </p:cTn>
                        </p:par>
                        <p:par>
                          <p:cTn id="20" fill="hold" nodeType="afterGroup">
                            <p:stCondLst>
                              <p:cond delay="2500"/>
                            </p:stCondLst>
                            <p:childTnLst>
                              <p:par>
                                <p:cTn id="21" presetID="22" presetClass="entr" presetSubtype="8" fill="hold" nodeType="afterEffect">
                                  <p:stCondLst>
                                    <p:cond delay="500"/>
                                  </p:stCondLst>
                                  <p:childTnLst>
                                    <p:set>
                                      <p:cBhvr>
                                        <p:cTn id="22" dur="1" fill="hold">
                                          <p:stCondLst>
                                            <p:cond delay="0"/>
                                          </p:stCondLst>
                                        </p:cTn>
                                        <p:tgtEl>
                                          <p:spTgt spid="7185"/>
                                        </p:tgtEl>
                                        <p:attrNameLst>
                                          <p:attrName>style.visibility</p:attrName>
                                        </p:attrNameLst>
                                      </p:cBhvr>
                                      <p:to>
                                        <p:strVal val="visible"/>
                                      </p:to>
                                    </p:set>
                                    <p:animEffect transition="in" filter="wipe(left)">
                                      <p:cBhvr>
                                        <p:cTn id="23" dur="500"/>
                                        <p:tgtEl>
                                          <p:spTgt spid="7185"/>
                                        </p:tgtEl>
                                      </p:cBhvr>
                                    </p:animEffect>
                                  </p:childTnLst>
                                </p:cTn>
                              </p:par>
                            </p:childTnLst>
                          </p:cTn>
                        </p:par>
                        <p:par>
                          <p:cTn id="24" fill="hold" nodeType="afterGroup">
                            <p:stCondLst>
                              <p:cond delay="3500"/>
                            </p:stCondLst>
                            <p:childTnLst>
                              <p:par>
                                <p:cTn id="25" presetID="22" presetClass="entr" presetSubtype="8" fill="hold" grpId="0" nodeType="afterEffect">
                                  <p:stCondLst>
                                    <p:cond delay="0"/>
                                  </p:stCondLst>
                                  <p:childTnLst>
                                    <p:set>
                                      <p:cBhvr>
                                        <p:cTn id="26" dur="1" fill="hold">
                                          <p:stCondLst>
                                            <p:cond delay="0"/>
                                          </p:stCondLst>
                                        </p:cTn>
                                        <p:tgtEl>
                                          <p:spTgt spid="7186"/>
                                        </p:tgtEl>
                                        <p:attrNameLst>
                                          <p:attrName>style.visibility</p:attrName>
                                        </p:attrNameLst>
                                      </p:cBhvr>
                                      <p:to>
                                        <p:strVal val="visible"/>
                                      </p:to>
                                    </p:set>
                                    <p:animEffect transition="in" filter="wipe(left)">
                                      <p:cBhvr>
                                        <p:cTn id="27" dur="500"/>
                                        <p:tgtEl>
                                          <p:spTgt spid="7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0" grpId="0" animBg="1"/>
      <p:bldP spid="7183" grpId="0" animBg="1"/>
      <p:bldP spid="718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3D2FE45-F485-4E8B-B10D-1475A77A8921}"/>
              </a:ext>
            </a:extLst>
          </p:cNvPr>
          <p:cNvSpPr>
            <a:spLocks noGrp="1" noChangeArrowheads="1"/>
          </p:cNvSpPr>
          <p:nvPr>
            <p:ph type="title"/>
          </p:nvPr>
        </p:nvSpPr>
        <p:spPr/>
        <p:txBody>
          <a:bodyPr/>
          <a:lstStyle/>
          <a:p>
            <a:r>
              <a:rPr lang="en-US" altLang="en-US" b="1"/>
              <a:t>Setting, Mood, and Tone</a:t>
            </a:r>
          </a:p>
        </p:txBody>
      </p:sp>
      <p:sp>
        <p:nvSpPr>
          <p:cNvPr id="8195" name="Text Box 3">
            <a:extLst>
              <a:ext uri="{FF2B5EF4-FFF2-40B4-BE49-F238E27FC236}">
                <a16:creationId xmlns:a16="http://schemas.microsoft.com/office/drawing/2014/main" id="{72000B2D-E779-402B-A28F-6926277B590D}"/>
              </a:ext>
            </a:extLst>
          </p:cNvPr>
          <p:cNvSpPr txBox="1">
            <a:spLocks noChangeArrowheads="1"/>
          </p:cNvSpPr>
          <p:nvPr/>
        </p:nvSpPr>
        <p:spPr bwMode="auto">
          <a:xfrm>
            <a:off x="533400" y="1370013"/>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a:spcBef>
                <a:spcPct val="50000"/>
              </a:spcBef>
            </a:pPr>
            <a:r>
              <a:rPr lang="en-US" altLang="en-US" sz="2400">
                <a:solidFill>
                  <a:srgbClr val="FFFF99"/>
                </a:solidFill>
              </a:rPr>
              <a:t>Setting can also express a </a:t>
            </a:r>
            <a:r>
              <a:rPr lang="en-US" altLang="en-US" sz="2400" b="1">
                <a:solidFill>
                  <a:srgbClr val="FFFF99"/>
                </a:solidFill>
              </a:rPr>
              <a:t>tone, </a:t>
            </a:r>
            <a:r>
              <a:rPr lang="en-US" altLang="en-US" sz="2400">
                <a:solidFill>
                  <a:srgbClr val="FFFF99"/>
                </a:solidFill>
              </a:rPr>
              <a:t>or attitude toward a subject or object.</a:t>
            </a:r>
          </a:p>
        </p:txBody>
      </p:sp>
      <p:sp>
        <p:nvSpPr>
          <p:cNvPr id="8198" name="Text Box 6">
            <a:extLst>
              <a:ext uri="{FF2B5EF4-FFF2-40B4-BE49-F238E27FC236}">
                <a16:creationId xmlns:a16="http://schemas.microsoft.com/office/drawing/2014/main" id="{2D643151-BC26-4CE7-8DB2-EDB03A329AC4}"/>
              </a:ext>
            </a:extLst>
          </p:cNvPr>
          <p:cNvSpPr txBox="1">
            <a:spLocks noChangeArrowheads="1"/>
          </p:cNvSpPr>
          <p:nvPr/>
        </p:nvSpPr>
        <p:spPr bwMode="auto">
          <a:xfrm>
            <a:off x="533400" y="3276600"/>
            <a:ext cx="8077200" cy="222726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003300"/>
                </a:solidFill>
              </a:rPr>
              <a:t>     Now, with supper finished, we retire to the room in a faraway part of the house where my friend sleeps in a scrap-quilt-covered iron bed painted rose pink, her favorite color. Silently, wallowing in the pleasures of conspiracy, we take the bead purse from its secret place and spill its contents on the scrap quilt.</a:t>
            </a:r>
          </a:p>
          <a:p>
            <a:pPr algn="r">
              <a:spcBef>
                <a:spcPct val="25000"/>
              </a:spcBef>
            </a:pPr>
            <a:r>
              <a:rPr lang="en-US" altLang="en-US" sz="1600">
                <a:solidFill>
                  <a:srgbClr val="003300"/>
                </a:solidFill>
              </a:rPr>
              <a:t>from “A Christmas Memory” by Truman Capote</a:t>
            </a:r>
          </a:p>
        </p:txBody>
      </p:sp>
      <p:sp>
        <p:nvSpPr>
          <p:cNvPr id="8199" name="Text Box 7">
            <a:extLst>
              <a:ext uri="{FF2B5EF4-FFF2-40B4-BE49-F238E27FC236}">
                <a16:creationId xmlns:a16="http://schemas.microsoft.com/office/drawing/2014/main" id="{07B9EDA9-CF43-42A3-9541-432CDB68B6BF}"/>
              </a:ext>
            </a:extLst>
          </p:cNvPr>
          <p:cNvSpPr txBox="1">
            <a:spLocks noChangeArrowheads="1"/>
          </p:cNvSpPr>
          <p:nvPr/>
        </p:nvSpPr>
        <p:spPr bwMode="auto">
          <a:xfrm>
            <a:off x="533400" y="2286000"/>
            <a:ext cx="807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defRPr>
            </a:lvl1pPr>
            <a:lvl2pPr marL="469900" indent="-355600">
              <a:defRPr>
                <a:solidFill>
                  <a:schemeClr val="tx1"/>
                </a:solidFill>
                <a:latin typeface="Verdana" panose="020B0604030504040204" pitchFamily="34" charset="0"/>
              </a:defRPr>
            </a:lvl2pPr>
            <a:lvl3pPr>
              <a:defRPr>
                <a:solidFill>
                  <a:schemeClr val="tx1"/>
                </a:solidFill>
                <a:latin typeface="Verdana" panose="020B0604030504040204" pitchFamily="34" charset="0"/>
              </a:defRPr>
            </a:lvl3pPr>
            <a:lvl4pPr>
              <a:defRPr>
                <a:solidFill>
                  <a:schemeClr val="tx1"/>
                </a:solidFill>
                <a:latin typeface="Verdana" panose="020B0604030504040204" pitchFamily="34" charset="0"/>
              </a:defRPr>
            </a:lvl4pPr>
            <a:lvl5pPr>
              <a:defRPr>
                <a:solidFill>
                  <a:schemeClr val="tx1"/>
                </a:solidFill>
                <a:latin typeface="Verdana" panose="020B0604030504040204" pitchFamily="34" charset="0"/>
              </a:defRPr>
            </a:lvl5pPr>
            <a:lvl6pPr fontAlgn="base">
              <a:spcBef>
                <a:spcPct val="0"/>
              </a:spcBef>
              <a:spcAft>
                <a:spcPct val="0"/>
              </a:spcAft>
              <a:defRPr>
                <a:solidFill>
                  <a:schemeClr val="tx1"/>
                </a:solidFill>
                <a:latin typeface="Verdana" panose="020B0604030504040204" pitchFamily="34" charset="0"/>
              </a:defRPr>
            </a:lvl6pPr>
            <a:lvl7pPr fontAlgn="base">
              <a:spcBef>
                <a:spcPct val="0"/>
              </a:spcBef>
              <a:spcAft>
                <a:spcPct val="0"/>
              </a:spcAft>
              <a:defRPr>
                <a:solidFill>
                  <a:schemeClr val="tx1"/>
                </a:solidFill>
                <a:latin typeface="Verdana" panose="020B0604030504040204" pitchFamily="34" charset="0"/>
              </a:defRPr>
            </a:lvl7pPr>
            <a:lvl8pPr fontAlgn="base">
              <a:spcBef>
                <a:spcPct val="0"/>
              </a:spcBef>
              <a:spcAft>
                <a:spcPct val="0"/>
              </a:spcAft>
              <a:defRPr>
                <a:solidFill>
                  <a:schemeClr val="tx1"/>
                </a:solidFill>
                <a:latin typeface="Verdana" panose="020B0604030504040204" pitchFamily="34" charset="0"/>
              </a:defRPr>
            </a:lvl8pPr>
            <a:lvl9pPr fontAlgn="base">
              <a:spcBef>
                <a:spcPct val="0"/>
              </a:spcBef>
              <a:spcAft>
                <a:spcPct val="0"/>
              </a:spcAft>
              <a:defRPr>
                <a:solidFill>
                  <a:schemeClr val="tx1"/>
                </a:solidFill>
                <a:latin typeface="Verdana" panose="020B0604030504040204" pitchFamily="34" charset="0"/>
              </a:defRPr>
            </a:lvl9pPr>
          </a:lstStyle>
          <a:p>
            <a:pPr lvl="1">
              <a:spcBef>
                <a:spcPct val="50000"/>
              </a:spcBef>
              <a:buFontTx/>
              <a:buChar char="•"/>
            </a:pPr>
            <a:r>
              <a:rPr lang="en-US" altLang="en-US" sz="2400">
                <a:solidFill>
                  <a:srgbClr val="FFFF99"/>
                </a:solidFill>
              </a:rPr>
              <a:t>What is the tone of this passage? How do you think the writer feels about these characters?</a:t>
            </a:r>
          </a:p>
        </p:txBody>
      </p:sp>
      <p:pic>
        <p:nvPicPr>
          <p:cNvPr id="8200" name="Picture 8">
            <a:extLst>
              <a:ext uri="{FF2B5EF4-FFF2-40B4-BE49-F238E27FC236}">
                <a16:creationId xmlns:a16="http://schemas.microsoft.com/office/drawing/2014/main" id="{3B0FAA36-0B7B-4C39-B5CC-112BDCD0D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1968500"/>
            <a:ext cx="133350" cy="88900"/>
          </a:xfrm>
          <a:prstGeom prst="rect">
            <a:avLst/>
          </a:prstGeom>
          <a:noFill/>
          <a:extLst>
            <a:ext uri="{909E8E84-426E-40DD-AFC4-6F175D3DCCD1}">
              <a14:hiddenFill xmlns:a14="http://schemas.microsoft.com/office/drawing/2010/main">
                <a:solidFill>
                  <a:srgbClr val="FFFFFF"/>
                </a:solidFill>
              </a14:hiddenFill>
            </a:ext>
          </a:extLst>
        </p:spPr>
      </p:pic>
      <p:sp>
        <p:nvSpPr>
          <p:cNvPr id="8201" name="Text Box 9">
            <a:extLst>
              <a:ext uri="{FF2B5EF4-FFF2-40B4-BE49-F238E27FC236}">
                <a16:creationId xmlns:a16="http://schemas.microsoft.com/office/drawing/2014/main" id="{9E86B9F1-8E66-4173-AEC3-4AA0149C6B37}"/>
              </a:ext>
            </a:extLst>
          </p:cNvPr>
          <p:cNvSpPr txBox="1">
            <a:spLocks noChangeArrowheads="1"/>
          </p:cNvSpPr>
          <p:nvPr/>
        </p:nvSpPr>
        <p:spPr bwMode="auto">
          <a:xfrm>
            <a:off x="6553200" y="5607050"/>
            <a:ext cx="2057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FFFF99"/>
                </a:solidFill>
              </a:rPr>
              <a:t>[End of Section]</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animEffect transition="in" filter="wipe(left)">
                                      <p:cBhvr>
                                        <p:cTn id="7" dur="500"/>
                                        <p:tgtEl>
                                          <p:spTgt spid="8199"/>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198"/>
                                        </p:tgtEl>
                                        <p:attrNameLst>
                                          <p:attrName>style.visibility</p:attrName>
                                        </p:attrNameLst>
                                      </p:cBhvr>
                                      <p:to>
                                        <p:strVal val="visible"/>
                                      </p:to>
                                    </p:set>
                                    <p:animEffect transition="in" filter="wipe(up)">
                                      <p:cBhvr>
                                        <p:cTn id="11" dur="500"/>
                                        <p:tgtEl>
                                          <p:spTgt spid="8198"/>
                                        </p:tgtEl>
                                      </p:cBhvr>
                                    </p:animEffect>
                                  </p:childTnLst>
                                </p:cTn>
                              </p:par>
                            </p:childTnLst>
                          </p:cTn>
                        </p:par>
                        <p:par>
                          <p:cTn id="12" fill="hold" nodeType="afterGroup">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8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animBg="1"/>
      <p:bldP spid="8199" grpId="0"/>
      <p:bldP spid="8201"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4820" name="Rectangle 4">
            <a:extLst>
              <a:ext uri="{FF2B5EF4-FFF2-40B4-BE49-F238E27FC236}">
                <a16:creationId xmlns:a16="http://schemas.microsoft.com/office/drawing/2014/main" id="{8F95C505-FA06-449C-8074-D00458765902}"/>
              </a:ext>
            </a:extLst>
          </p:cNvPr>
          <p:cNvSpPr>
            <a:spLocks noGrp="1" noChangeArrowheads="1"/>
          </p:cNvSpPr>
          <p:nvPr>
            <p:ph type="title"/>
          </p:nvPr>
        </p:nvSpPr>
        <p:spPr>
          <a:xfrm>
            <a:off x="528638" y="2892425"/>
            <a:ext cx="8081962" cy="612775"/>
          </a:xfrm>
        </p:spPr>
        <p:txBody>
          <a:bodyPr/>
          <a:lstStyle/>
          <a:p>
            <a:r>
              <a:rPr lang="en-US" altLang="en-US" b="1"/>
              <a:t>The End</a:t>
            </a:r>
          </a:p>
        </p:txBody>
      </p:sp>
      <p:sp>
        <p:nvSpPr>
          <p:cNvPr id="34839" name="AutoShape 23">
            <a:hlinkClick r:id="" action="ppaction://noaction" highlightClick="1"/>
            <a:extLst>
              <a:ext uri="{FF2B5EF4-FFF2-40B4-BE49-F238E27FC236}">
                <a16:creationId xmlns:a16="http://schemas.microsoft.com/office/drawing/2014/main" id="{3F6B675B-4691-409B-98F5-E3ADB807D172}"/>
              </a:ext>
            </a:extLst>
          </p:cNvPr>
          <p:cNvSpPr>
            <a:spLocks noChangeArrowheads="1"/>
          </p:cNvSpPr>
          <p:nvPr/>
        </p:nvSpPr>
        <p:spPr bwMode="auto">
          <a:xfrm>
            <a:off x="5638800" y="6019800"/>
            <a:ext cx="1981200" cy="838200"/>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Tree>
  </p:cSld>
  <p:clrMapOvr>
    <a:masterClrMapping/>
  </p:clrMapOvr>
  <p:transition>
    <p:wipe dir="r"/>
  </p:transition>
</p:sld>
</file>

<file path=ppt/theme/theme1.xml><?xml version="1.0" encoding="utf-8"?>
<a:theme xmlns:a="http://schemas.openxmlformats.org/drawingml/2006/main" name="Default Design">
  <a:themeElements>
    <a:clrScheme name="Default Design 15">
      <a:dk1>
        <a:srgbClr val="000000"/>
      </a:dk1>
      <a:lt1>
        <a:srgbClr val="CC99FF"/>
      </a:lt1>
      <a:dk2>
        <a:srgbClr val="000000"/>
      </a:dk2>
      <a:lt2>
        <a:srgbClr val="808080"/>
      </a:lt2>
      <a:accent1>
        <a:srgbClr val="BBE0E3"/>
      </a:accent1>
      <a:accent2>
        <a:srgbClr val="333399"/>
      </a:accent2>
      <a:accent3>
        <a:srgbClr val="E2CAFF"/>
      </a:accent3>
      <a:accent4>
        <a:srgbClr val="000000"/>
      </a:accent4>
      <a:accent5>
        <a:srgbClr val="DAEDEF"/>
      </a:accent5>
      <a:accent6>
        <a:srgbClr val="2D2D8A"/>
      </a:accent6>
      <a:hlink>
        <a:srgbClr val="FFFF99"/>
      </a:hlink>
      <a:folHlink>
        <a:srgbClr val="CC99FF"/>
      </a:folHlink>
    </a:clrScheme>
    <a:fontScheme name="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CC99FF"/>
        </a:lt1>
        <a:dk2>
          <a:srgbClr val="000000"/>
        </a:dk2>
        <a:lt2>
          <a:srgbClr val="808080"/>
        </a:lt2>
        <a:accent1>
          <a:srgbClr val="BBE0E3"/>
        </a:accent1>
        <a:accent2>
          <a:srgbClr val="333399"/>
        </a:accent2>
        <a:accent3>
          <a:srgbClr val="E2CAFF"/>
        </a:accent3>
        <a:accent4>
          <a:srgbClr val="000000"/>
        </a:accent4>
        <a:accent5>
          <a:srgbClr val="DAEDEF"/>
        </a:accent5>
        <a:accent6>
          <a:srgbClr val="2D2D8A"/>
        </a:accent6>
        <a:hlink>
          <a:srgbClr val="FFFF99"/>
        </a:hlink>
        <a:folHlink>
          <a:srgbClr val="99CC00"/>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CC99FF"/>
        </a:lt1>
        <a:dk2>
          <a:srgbClr val="000000"/>
        </a:dk2>
        <a:lt2>
          <a:srgbClr val="808080"/>
        </a:lt2>
        <a:accent1>
          <a:srgbClr val="BBE0E3"/>
        </a:accent1>
        <a:accent2>
          <a:srgbClr val="333399"/>
        </a:accent2>
        <a:accent3>
          <a:srgbClr val="E2CAFF"/>
        </a:accent3>
        <a:accent4>
          <a:srgbClr val="000000"/>
        </a:accent4>
        <a:accent5>
          <a:srgbClr val="DAEDEF"/>
        </a:accent5>
        <a:accent6>
          <a:srgbClr val="2D2D8A"/>
        </a:accent6>
        <a:hlink>
          <a:srgbClr val="FFFF99"/>
        </a:hlink>
        <a:folHlink>
          <a:srgbClr val="CC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898</TotalTime>
  <Words>328</Words>
  <Application>Microsoft Office PowerPoint</Application>
  <PresentationFormat>On-screen Show (4:3)</PresentationFormat>
  <Paragraphs>44</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Verdana</vt:lpstr>
      <vt:lpstr>Default Design</vt:lpstr>
      <vt:lpstr>Setting</vt:lpstr>
      <vt:lpstr>Setting</vt:lpstr>
      <vt:lpstr>Setting</vt:lpstr>
      <vt:lpstr>Setting</vt:lpstr>
      <vt:lpstr>How Is Setting Created?</vt:lpstr>
      <vt:lpstr>How Is Setting Created?</vt:lpstr>
      <vt:lpstr>Setting and Character</vt:lpstr>
      <vt:lpstr>Setting, Mood, and Tone</vt:lpstr>
      <vt:lpstr>Setting, Mood, and Tone</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Elements of Literature Plot</dc:title>
  <dc:creator>Amber </dc:creator>
  <cp:lastModifiedBy>Andre Janse van Rensburg</cp:lastModifiedBy>
  <cp:revision>26</cp:revision>
  <dcterms:created xsi:type="dcterms:W3CDTF">2004-11-30T14:57:50Z</dcterms:created>
  <dcterms:modified xsi:type="dcterms:W3CDTF">2018-06-27T02:06:22Z</dcterms:modified>
</cp:coreProperties>
</file>
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5" r:id="rId2"/>
    <p:sldId id="266" r:id="rId3"/>
    <p:sldId id="269" r:id="rId4"/>
    <p:sldId id="270" r:id="rId5"/>
    <p:sldId id="267" r:id="rId6"/>
    <p:sldId id="268" r:id="rId7"/>
    <p:sldId id="271" r:id="rId8"/>
    <p:sldId id="272" r:id="rId9"/>
    <p:sldId id="273" r:id="rId10"/>
    <p:sldId id="277" r:id="rId11"/>
    <p:sldId id="278" r:id="rId12"/>
    <p:sldId id="274" r:id="rId13"/>
    <p:sldId id="275" r:id="rId14"/>
    <p:sldId id="279" r:id="rId15"/>
    <p:sldId id="280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49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outlineViewPr>
    <p:cViewPr>
      <p:scale>
        <a:sx n="33" d="100"/>
        <a:sy n="33" d="100"/>
      </p:scale>
      <p:origin x="0" y="-37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96"/>
    </p:cViewPr>
  </p:sorter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Andre Janse van Rensburg" userId="c242d890-f940-49be-a646-5509d964c911" providerId="ADAL" clId="{BD718B6F-D502-4D92-913F-A222F955AA2B}"/>
    <pc:docChg chg="delSld modSld">
      <pc:chgData name="Dr Andre Janse van Rensburg" userId="c242d890-f940-49be-a646-5509d964c911" providerId="ADAL" clId="{BD718B6F-D502-4D92-913F-A222F955AA2B}" dt="2018-12-27T02:57:40.859" v="16"/>
      <pc:docMkLst>
        <pc:docMk/>
      </pc:docMkLst>
      <pc:sldChg chg="del">
        <pc:chgData name="Dr Andre Janse van Rensburg" userId="c242d890-f940-49be-a646-5509d964c911" providerId="ADAL" clId="{BD718B6F-D502-4D92-913F-A222F955AA2B}" dt="2018-12-27T02:56:57.613" v="8" actId="2696"/>
        <pc:sldMkLst>
          <pc:docMk/>
          <pc:sldMk cId="2318616253" sldId="256"/>
        </pc:sldMkLst>
      </pc:sldChg>
      <pc:sldChg chg="del">
        <pc:chgData name="Dr Andre Janse van Rensburg" userId="c242d890-f940-49be-a646-5509d964c911" providerId="ADAL" clId="{BD718B6F-D502-4D92-913F-A222F955AA2B}" dt="2018-12-27T02:56:57.597" v="7" actId="2696"/>
        <pc:sldMkLst>
          <pc:docMk/>
          <pc:sldMk cId="3310090938" sldId="257"/>
        </pc:sldMkLst>
      </pc:sldChg>
      <pc:sldChg chg="del">
        <pc:chgData name="Dr Andre Janse van Rensburg" userId="c242d890-f940-49be-a646-5509d964c911" providerId="ADAL" clId="{BD718B6F-D502-4D92-913F-A222F955AA2B}" dt="2018-12-27T02:56:57.597" v="6" actId="2696"/>
        <pc:sldMkLst>
          <pc:docMk/>
          <pc:sldMk cId="2719750332" sldId="258"/>
        </pc:sldMkLst>
      </pc:sldChg>
      <pc:sldChg chg="del">
        <pc:chgData name="Dr Andre Janse van Rensburg" userId="c242d890-f940-49be-a646-5509d964c911" providerId="ADAL" clId="{BD718B6F-D502-4D92-913F-A222F955AA2B}" dt="2018-12-27T02:56:57.597" v="5" actId="2696"/>
        <pc:sldMkLst>
          <pc:docMk/>
          <pc:sldMk cId="4111157725" sldId="259"/>
        </pc:sldMkLst>
      </pc:sldChg>
      <pc:sldChg chg="del">
        <pc:chgData name="Dr Andre Janse van Rensburg" userId="c242d890-f940-49be-a646-5509d964c911" providerId="ADAL" clId="{BD718B6F-D502-4D92-913F-A222F955AA2B}" dt="2018-12-27T02:56:57.597" v="4" actId="2696"/>
        <pc:sldMkLst>
          <pc:docMk/>
          <pc:sldMk cId="1323030314" sldId="260"/>
        </pc:sldMkLst>
      </pc:sldChg>
      <pc:sldChg chg="del">
        <pc:chgData name="Dr Andre Janse van Rensburg" userId="c242d890-f940-49be-a646-5509d964c911" providerId="ADAL" clId="{BD718B6F-D502-4D92-913F-A222F955AA2B}" dt="2018-12-27T02:56:57.597" v="3" actId="2696"/>
        <pc:sldMkLst>
          <pc:docMk/>
          <pc:sldMk cId="2544549772" sldId="261"/>
        </pc:sldMkLst>
      </pc:sldChg>
      <pc:sldChg chg="del">
        <pc:chgData name="Dr Andre Janse van Rensburg" userId="c242d890-f940-49be-a646-5509d964c911" providerId="ADAL" clId="{BD718B6F-D502-4D92-913F-A222F955AA2B}" dt="2018-12-27T02:56:57.597" v="2" actId="2696"/>
        <pc:sldMkLst>
          <pc:docMk/>
          <pc:sldMk cId="930872478" sldId="262"/>
        </pc:sldMkLst>
      </pc:sldChg>
      <pc:sldChg chg="del">
        <pc:chgData name="Dr Andre Janse van Rensburg" userId="c242d890-f940-49be-a646-5509d964c911" providerId="ADAL" clId="{BD718B6F-D502-4D92-913F-A222F955AA2B}" dt="2018-12-27T02:56:57.597" v="1" actId="2696"/>
        <pc:sldMkLst>
          <pc:docMk/>
          <pc:sldMk cId="1742553699" sldId="263"/>
        </pc:sldMkLst>
      </pc:sldChg>
      <pc:sldChg chg="del">
        <pc:chgData name="Dr Andre Janse van Rensburg" userId="c242d890-f940-49be-a646-5509d964c911" providerId="ADAL" clId="{BD718B6F-D502-4D92-913F-A222F955AA2B}" dt="2018-12-27T02:56:57.597" v="0" actId="2696"/>
        <pc:sldMkLst>
          <pc:docMk/>
          <pc:sldMk cId="3338591907" sldId="264"/>
        </pc:sldMkLst>
      </pc:sldChg>
      <pc:sldChg chg="delSp">
        <pc:chgData name="Dr Andre Janse van Rensburg" userId="c242d890-f940-49be-a646-5509d964c911" providerId="ADAL" clId="{BD718B6F-D502-4D92-913F-A222F955AA2B}" dt="2018-12-27T02:57:29.787" v="14"/>
        <pc:sldMkLst>
          <pc:docMk/>
          <pc:sldMk cId="2097775487" sldId="265"/>
        </pc:sldMkLst>
        <pc:spChg chg="del">
          <ac:chgData name="Dr Andre Janse van Rensburg" userId="c242d890-f940-49be-a646-5509d964c911" providerId="ADAL" clId="{BD718B6F-D502-4D92-913F-A222F955AA2B}" dt="2018-12-27T02:57:29.787" v="14"/>
          <ac:spMkLst>
            <pc:docMk/>
            <pc:sldMk cId="2097775487" sldId="265"/>
            <ac:spMk id="2" creationId="{2762EDFE-C954-4FA2-9F92-3AB7E972D8C3}"/>
          </ac:spMkLst>
        </pc:spChg>
        <pc:spChg chg="del">
          <ac:chgData name="Dr Andre Janse van Rensburg" userId="c242d890-f940-49be-a646-5509d964c911" providerId="ADAL" clId="{BD718B6F-D502-4D92-913F-A222F955AA2B}" dt="2018-12-27T02:57:29.787" v="14"/>
          <ac:spMkLst>
            <pc:docMk/>
            <pc:sldMk cId="2097775487" sldId="265"/>
            <ac:spMk id="3" creationId="{F0D48875-214D-4EFF-9296-EC573CEF6E48}"/>
          </ac:spMkLst>
        </pc:spChg>
      </pc:sldChg>
      <pc:sldChg chg="delSp">
        <pc:chgData name="Dr Andre Janse van Rensburg" userId="c242d890-f940-49be-a646-5509d964c911" providerId="ADAL" clId="{BD718B6F-D502-4D92-913F-A222F955AA2B}" dt="2018-12-27T02:57:40.859" v="16"/>
        <pc:sldMkLst>
          <pc:docMk/>
          <pc:sldMk cId="1120890400" sldId="267"/>
        </pc:sldMkLst>
        <pc:spChg chg="del">
          <ac:chgData name="Dr Andre Janse van Rensburg" userId="c242d890-f940-49be-a646-5509d964c911" providerId="ADAL" clId="{BD718B6F-D502-4D92-913F-A222F955AA2B}" dt="2018-12-27T02:57:40.859" v="16"/>
          <ac:spMkLst>
            <pc:docMk/>
            <pc:sldMk cId="1120890400" sldId="267"/>
            <ac:spMk id="2" creationId="{19A05443-0EC0-476D-B474-A8E45632F054}"/>
          </ac:spMkLst>
        </pc:spChg>
        <pc:spChg chg="del">
          <ac:chgData name="Dr Andre Janse van Rensburg" userId="c242d890-f940-49be-a646-5509d964c911" providerId="ADAL" clId="{BD718B6F-D502-4D92-913F-A222F955AA2B}" dt="2018-12-27T02:57:40.859" v="16"/>
          <ac:spMkLst>
            <pc:docMk/>
            <pc:sldMk cId="1120890400" sldId="267"/>
            <ac:spMk id="3" creationId="{942F3577-8901-4767-AF2C-9D088D4166A1}"/>
          </ac:spMkLst>
        </pc:spChg>
      </pc:sldChg>
      <pc:sldChg chg="delSp">
        <pc:chgData name="Dr Andre Janse van Rensburg" userId="c242d890-f940-49be-a646-5509d964c911" providerId="ADAL" clId="{BD718B6F-D502-4D92-913F-A222F955AA2B}" dt="2018-12-27T02:57:34.863" v="15"/>
        <pc:sldMkLst>
          <pc:docMk/>
          <pc:sldMk cId="4050753765" sldId="269"/>
        </pc:sldMkLst>
        <pc:spChg chg="del">
          <ac:chgData name="Dr Andre Janse van Rensburg" userId="c242d890-f940-49be-a646-5509d964c911" providerId="ADAL" clId="{BD718B6F-D502-4D92-913F-A222F955AA2B}" dt="2018-12-27T02:57:34.863" v="15"/>
          <ac:spMkLst>
            <pc:docMk/>
            <pc:sldMk cId="4050753765" sldId="269"/>
            <ac:spMk id="2" creationId="{371B23CE-9CA8-4A3E-9101-C5CCF72FB8D8}"/>
          </ac:spMkLst>
        </pc:spChg>
        <pc:spChg chg="del">
          <ac:chgData name="Dr Andre Janse van Rensburg" userId="c242d890-f940-49be-a646-5509d964c911" providerId="ADAL" clId="{BD718B6F-D502-4D92-913F-A222F955AA2B}" dt="2018-12-27T02:57:34.863" v="15"/>
          <ac:spMkLst>
            <pc:docMk/>
            <pc:sldMk cId="4050753765" sldId="269"/>
            <ac:spMk id="3" creationId="{2E462FC7-D294-4DAE-829D-9A01D7D1B086}"/>
          </ac:spMkLst>
        </pc:spChg>
      </pc:sldChg>
      <pc:sldChg chg="del">
        <pc:chgData name="Dr Andre Janse van Rensburg" userId="c242d890-f940-49be-a646-5509d964c911" providerId="ADAL" clId="{BD718B6F-D502-4D92-913F-A222F955AA2B}" dt="2018-12-27T02:56:57.613" v="13" actId="2696"/>
        <pc:sldMkLst>
          <pc:docMk/>
          <pc:sldMk cId="2761906167" sldId="282"/>
        </pc:sldMkLst>
      </pc:sldChg>
      <pc:sldChg chg="del">
        <pc:chgData name="Dr Andre Janse van Rensburg" userId="c242d890-f940-49be-a646-5509d964c911" providerId="ADAL" clId="{BD718B6F-D502-4D92-913F-A222F955AA2B}" dt="2018-12-27T02:56:57.613" v="12" actId="2696"/>
        <pc:sldMkLst>
          <pc:docMk/>
          <pc:sldMk cId="4018034540" sldId="283"/>
        </pc:sldMkLst>
      </pc:sldChg>
      <pc:sldChg chg="del">
        <pc:chgData name="Dr Andre Janse van Rensburg" userId="c242d890-f940-49be-a646-5509d964c911" providerId="ADAL" clId="{BD718B6F-D502-4D92-913F-A222F955AA2B}" dt="2018-12-27T02:56:57.613" v="11" actId="2696"/>
        <pc:sldMkLst>
          <pc:docMk/>
          <pc:sldMk cId="4051754557" sldId="284"/>
        </pc:sldMkLst>
      </pc:sldChg>
      <pc:sldChg chg="del">
        <pc:chgData name="Dr Andre Janse van Rensburg" userId="c242d890-f940-49be-a646-5509d964c911" providerId="ADAL" clId="{BD718B6F-D502-4D92-913F-A222F955AA2B}" dt="2018-12-27T02:56:57.613" v="10" actId="2696"/>
        <pc:sldMkLst>
          <pc:docMk/>
          <pc:sldMk cId="4222148427" sldId="285"/>
        </pc:sldMkLst>
      </pc:sldChg>
      <pc:sldChg chg="del">
        <pc:chgData name="Dr Andre Janse van Rensburg" userId="c242d890-f940-49be-a646-5509d964c911" providerId="ADAL" clId="{BD718B6F-D502-4D92-913F-A222F955AA2B}" dt="2018-12-27T02:56:57.613" v="9" actId="2696"/>
        <pc:sldMkLst>
          <pc:docMk/>
          <pc:sldMk cId="95318564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93E7C-B565-459A-A49D-3CB1BA40AED0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B70CD-6E81-4FBB-B513-BDBA8AEBF8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264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6EE2E-4338-4BE6-B3B5-0E4560F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B6C26-512B-498E-A4A1-3AC2E7D52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D51E2-7408-469A-8006-FCEC14FF6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906C-E576-4BCD-AF09-1F5145B0BC8E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7242A-EEA1-4CAD-BFDA-27B1EBED1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F4504-45BA-49A1-AB14-64FF7D1E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EA45C-AD9A-4389-A33C-E4CD0486E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896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17032-AE5F-4023-9A06-247B9F52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Rockwell" panose="020606030202050204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AEE49-3CEA-4492-80B7-B793D7574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77E33-AFE6-4F90-970F-25490240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906C-E576-4BCD-AF09-1F5145B0BC8E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2307D-74E3-49A4-B739-2A33F8BC8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C0D03-55CF-43D7-8644-41695406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EA45C-AD9A-4389-A33C-E4CD0486E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935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FF302-580B-4D79-AD45-FF7B65218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2D40A-2ADB-4652-BC9A-FDD42BD8A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0AF81-F017-4C8B-93D5-9A2803D5A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906C-E576-4BCD-AF09-1F5145B0BC8E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37515-76DD-4834-856E-890791E6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C5019-CB94-4F38-83DB-8B48AF537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EA45C-AD9A-4389-A33C-E4CD0486E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65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7A72A-A7A4-4162-AAB9-074D2403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F0E6E-3EBA-43DA-ABC1-82BE7AF4F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7E04B-4FE8-4AC6-A474-F5D67B33A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F43D3-733F-4ABA-93DC-A79569AA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906C-E576-4BCD-AF09-1F5145B0BC8E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40D96-0CA6-4636-A959-413A2E33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56FF5-E29B-4D29-B6F2-89EDA87D1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EA45C-AD9A-4389-A33C-E4CD0486E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792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5FBB5-58AE-4CAA-A1C6-CBD462DF4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F6CB1-3B93-453A-936E-6A6E48446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A8EF2-417B-4B91-90CB-41A09EF58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8DB22D-D7AC-4A1A-B1C3-5810C9CF7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4429F2-B3FF-450C-BEA7-68BD37C48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F452D5-2508-4138-A21F-2D5C67979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906C-E576-4BCD-AF09-1F5145B0BC8E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47D972-77B6-43F5-AA76-DE94A7F5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9AB58-505B-431D-9F8C-1D4CDD1D8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EA45C-AD9A-4389-A33C-E4CD0486E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068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77E6-EA66-4D3C-A927-C4005C5F3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4EBFD-DE3B-4173-95AB-0DF237071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906C-E576-4BCD-AF09-1F5145B0BC8E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F74CE-B6A6-42EB-B527-39B113D7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1E316-99BA-4424-BD02-A53A01C3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EA45C-AD9A-4389-A33C-E4CD0486E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15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40D85C-4946-417E-B27A-8A4D93733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906C-E576-4BCD-AF09-1F5145B0BC8E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A4DD9-B46F-4CC6-AE40-6E490C85A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E367C-7249-4A41-9EE9-1D81C270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EA45C-AD9A-4389-A33C-E4CD0486E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699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82E5E-AB0A-4499-8B19-8E38C91D3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8F361-9240-4B1D-A061-266A8AFD5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4F891-AD9A-44E3-B575-3CDA5FE88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DF005-A10D-4355-A2E6-C825BDF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906C-E576-4BCD-AF09-1F5145B0BC8E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1C0B5-86CA-439A-B45E-BFED26E0B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E5448-4C21-4601-9520-717F08AF1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EA45C-AD9A-4389-A33C-E4CD0486E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80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A313-8873-415B-BC09-7D6BCB89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B149BC-9EEF-4BB3-A92B-EA4B62C34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45DEC-89C9-4260-9333-C45C6A806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519DD-0873-41A5-83CF-9DD46072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906C-E576-4BCD-AF09-1F5145B0BC8E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BEC42-5581-49BC-AA91-FFD0C6D74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49DE2-70E2-4420-8356-909EB59E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EA45C-AD9A-4389-A33C-E4CD0486E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0440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F2104-A838-484F-9A31-9DC403EF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12467-6CF5-4489-B5B8-318AF677A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4F7CD-B6D1-474C-8580-C3BA0E11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906C-E576-4BCD-AF09-1F5145B0BC8E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F7E49-0309-4761-8C5C-E8323C10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F745-FF04-4E87-8D90-27318E42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EA45C-AD9A-4389-A33C-E4CD0486E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137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C63B00-3A8C-4DEB-AE0A-A157E4616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F9478-E0E3-48F4-9C1E-9B30C7A67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E87C7-E5FC-4770-BA5D-A062B6B4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906C-E576-4BCD-AF09-1F5145B0BC8E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CF9-FE8E-4044-B280-560F046F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76F58-994E-42B6-98ED-901137CB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EA45C-AD9A-4389-A33C-E4CD0486E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728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BB659-538C-45E1-8B87-747EB3D21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42A68-E4CF-461E-93D4-58FD03F9F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1B6E4-8BF9-4007-B39F-4FBB23A46D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6906C-E576-4BCD-AF09-1F5145B0BC8E}" type="datetimeFigureOut">
              <a:rPr lang="en-AU" smtClean="0"/>
              <a:t>27/12/2018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40912-C88C-4AE7-89E0-BDD9F9386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489CE-8D6F-481A-BD5F-5E5088A0D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EA45C-AD9A-4389-A33C-E4CD0486E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0250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8E3295-03AB-43CC-8A09-B39DC6A31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985295"/>
              </p:ext>
            </p:extLst>
          </p:nvPr>
        </p:nvGraphicFramePr>
        <p:xfrm>
          <a:off x="336000" y="369000"/>
          <a:ext cx="11520000" cy="612000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4704291">
                  <a:extLst>
                    <a:ext uri="{9D8B030D-6E8A-4147-A177-3AD203B41FA5}">
                      <a16:colId xmlns:a16="http://schemas.microsoft.com/office/drawing/2014/main" val="2567902329"/>
                    </a:ext>
                  </a:extLst>
                </a:gridCol>
                <a:gridCol w="6815709">
                  <a:extLst>
                    <a:ext uri="{9D8B030D-6E8A-4147-A177-3AD203B41FA5}">
                      <a16:colId xmlns:a16="http://schemas.microsoft.com/office/drawing/2014/main" val="4235837279"/>
                    </a:ext>
                  </a:extLst>
                </a:gridCol>
              </a:tblGrid>
              <a:tr h="1184761">
                <a:tc gridSpan="2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800" dirty="0">
                          <a:effectLst/>
                        </a:rPr>
                        <a:t>Lesson Seven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240026"/>
                  </a:ext>
                </a:extLst>
              </a:tr>
              <a:tr h="118476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800" dirty="0">
                          <a:effectLst/>
                        </a:rPr>
                        <a:t>Learning Intentions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800" dirty="0">
                          <a:effectLst/>
                        </a:rPr>
                        <a:t>Success Criteria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6716680"/>
                  </a:ext>
                </a:extLst>
              </a:tr>
              <a:tr h="3750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AU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practise IST responses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 a reading of “Drugs” by Karl Quinn</a:t>
                      </a:r>
                    </a:p>
                    <a:p>
                      <a:pPr marL="457200" lvl="0" indent="-4572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 chart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 two short answers 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386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775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D818-572D-43A4-ACC4-325AF102F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Activities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F0691-1DDE-423C-9D09-4775D60CF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200000"/>
              </a:lnSpc>
            </a:pPr>
            <a:r>
              <a:rPr lang="en-AU" noProof="0" dirty="0">
                <a:solidFill>
                  <a:schemeClr val="dk1"/>
                </a:solidFill>
              </a:rPr>
              <a:t>Quickly re-read the text “Drugs” by Karl Quinn</a:t>
            </a:r>
          </a:p>
          <a:p>
            <a:pPr marL="457200" lvl="0" indent="-457200">
              <a:lnSpc>
                <a:spcPct val="200000"/>
              </a:lnSpc>
            </a:pPr>
            <a:r>
              <a:rPr lang="en-AU" noProof="0" dirty="0">
                <a:solidFill>
                  <a:schemeClr val="dk1"/>
                </a:solidFill>
              </a:rPr>
              <a:t>Complete chart on pages 24 and 25</a:t>
            </a:r>
          </a:p>
          <a:p>
            <a:pPr marL="457200" indent="-457200">
              <a:lnSpc>
                <a:spcPct val="200000"/>
              </a:lnSpc>
            </a:pPr>
            <a:r>
              <a:rPr lang="en-AU" noProof="0" dirty="0">
                <a:solidFill>
                  <a:schemeClr val="dk1"/>
                </a:solidFill>
              </a:rPr>
              <a:t>Silent individual response to the two short questions on pages 25 and 26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93024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32DB8C-650C-407D-89FE-7C0C70909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754087"/>
              </p:ext>
            </p:extLst>
          </p:nvPr>
        </p:nvGraphicFramePr>
        <p:xfrm>
          <a:off x="336000" y="369000"/>
          <a:ext cx="11520000" cy="612000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4704291">
                  <a:extLst>
                    <a:ext uri="{9D8B030D-6E8A-4147-A177-3AD203B41FA5}">
                      <a16:colId xmlns:a16="http://schemas.microsoft.com/office/drawing/2014/main" val="2567902329"/>
                    </a:ext>
                  </a:extLst>
                </a:gridCol>
                <a:gridCol w="6815709">
                  <a:extLst>
                    <a:ext uri="{9D8B030D-6E8A-4147-A177-3AD203B41FA5}">
                      <a16:colId xmlns:a16="http://schemas.microsoft.com/office/drawing/2014/main" val="4235837279"/>
                    </a:ext>
                  </a:extLst>
                </a:gridCol>
              </a:tblGrid>
              <a:tr h="1184761">
                <a:tc gridSpan="2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800" dirty="0">
                          <a:effectLst/>
                        </a:rPr>
                        <a:t>Lesson Eight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240026"/>
                  </a:ext>
                </a:extLst>
              </a:tr>
              <a:tr h="118476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800" dirty="0">
                          <a:effectLst/>
                        </a:rPr>
                        <a:t>Learning Intentions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800" dirty="0">
                          <a:effectLst/>
                        </a:rPr>
                        <a:t>Success Criteria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6716680"/>
                  </a:ext>
                </a:extLst>
              </a:tr>
              <a:tr h="3750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AU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practise IST responses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 a reading of “Drugs” by Karl Quinn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 two long answers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386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75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AC40C-61A2-471B-9ECF-3DFDB6B63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D7B50-0430-498A-866F-D4961756D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200000"/>
              </a:lnSpc>
            </a:pPr>
            <a:r>
              <a:rPr lang="en-AU" noProof="0" dirty="0">
                <a:solidFill>
                  <a:schemeClr val="dk1"/>
                </a:solidFill>
              </a:rPr>
              <a:t>Quickly re-read the text “Drugs” by Karl Quinn</a:t>
            </a:r>
          </a:p>
          <a:p>
            <a:pPr marL="457200" indent="-457200">
              <a:lnSpc>
                <a:spcPct val="200000"/>
              </a:lnSpc>
            </a:pPr>
            <a:r>
              <a:rPr lang="en-AU" noProof="0" dirty="0">
                <a:solidFill>
                  <a:schemeClr val="dk1"/>
                </a:solidFill>
              </a:rPr>
              <a:t>Individual response </a:t>
            </a:r>
            <a:r>
              <a:rPr lang="en-AU" noProof="0">
                <a:solidFill>
                  <a:schemeClr val="dk1"/>
                </a:solidFill>
              </a:rPr>
              <a:t>to questions 2-5. </a:t>
            </a:r>
            <a:endParaRPr lang="en-AU" noProof="0" dirty="0"/>
          </a:p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6060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320A86-6D44-43DC-8488-DDC99BA44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185767"/>
              </p:ext>
            </p:extLst>
          </p:nvPr>
        </p:nvGraphicFramePr>
        <p:xfrm>
          <a:off x="336000" y="369000"/>
          <a:ext cx="11520000" cy="612000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4704291">
                  <a:extLst>
                    <a:ext uri="{9D8B030D-6E8A-4147-A177-3AD203B41FA5}">
                      <a16:colId xmlns:a16="http://schemas.microsoft.com/office/drawing/2014/main" val="2567902329"/>
                    </a:ext>
                  </a:extLst>
                </a:gridCol>
                <a:gridCol w="6815709">
                  <a:extLst>
                    <a:ext uri="{9D8B030D-6E8A-4147-A177-3AD203B41FA5}">
                      <a16:colId xmlns:a16="http://schemas.microsoft.com/office/drawing/2014/main" val="4235837279"/>
                    </a:ext>
                  </a:extLst>
                </a:gridCol>
              </a:tblGrid>
              <a:tr h="1184761">
                <a:tc gridSpan="2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600" dirty="0">
                          <a:effectLst/>
                        </a:rPr>
                        <a:t>Lesson Nine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240026"/>
                  </a:ext>
                </a:extLst>
              </a:tr>
              <a:tr h="118476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600" dirty="0">
                          <a:effectLst/>
                        </a:rPr>
                        <a:t>Learning Intentions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600" dirty="0">
                          <a:effectLst/>
                        </a:rPr>
                        <a:t>Success Criteria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6716680"/>
                  </a:ext>
                </a:extLst>
              </a:tr>
              <a:tr h="3750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AU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identify key elements of online news services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Discussion of Online News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Discuss questions in group, record individual answers to Section 1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386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890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0E1B5-A90B-43A5-9A7B-C53008A78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AF01F-60C0-4EEC-8097-45F531D1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noProof="0" dirty="0"/>
              <a:t>Small group discussion</a:t>
            </a:r>
          </a:p>
          <a:p>
            <a:pPr lvl="1">
              <a:lnSpc>
                <a:spcPct val="150000"/>
              </a:lnSpc>
            </a:pPr>
            <a:r>
              <a:rPr lang="en-AU" noProof="0" dirty="0"/>
              <a:t>Where do you source your information about world events from?</a:t>
            </a:r>
          </a:p>
          <a:p>
            <a:pPr lvl="1">
              <a:lnSpc>
                <a:spcPct val="150000"/>
              </a:lnSpc>
            </a:pPr>
            <a:r>
              <a:rPr lang="en-AU" noProof="0" dirty="0"/>
              <a:t>Do you think that print newspapers will soon die out?</a:t>
            </a:r>
          </a:p>
          <a:p>
            <a:pPr lvl="1">
              <a:lnSpc>
                <a:spcPct val="150000"/>
              </a:lnSpc>
            </a:pPr>
            <a:r>
              <a:rPr lang="en-AU" noProof="0" dirty="0"/>
              <a:t>Do online news services LOOK like traditional newspapers?</a:t>
            </a:r>
          </a:p>
        </p:txBody>
      </p:sp>
    </p:spTree>
    <p:extLst>
      <p:ext uri="{BB962C8B-B14F-4D97-AF65-F5344CB8AC3E}">
        <p14:creationId xmlns:p14="http://schemas.microsoft.com/office/powerpoint/2010/main" val="642186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D5F0-CB18-42A2-9781-70B08357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Activities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174B7-976B-49B4-A6E6-1F19E41A7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498"/>
            <a:ext cx="10515600" cy="5275589"/>
          </a:xfrm>
        </p:spPr>
        <p:txBody>
          <a:bodyPr>
            <a:normAutofit/>
          </a:bodyPr>
          <a:lstStyle/>
          <a:p>
            <a:r>
              <a:rPr lang="en-AU" noProof="0" dirty="0"/>
              <a:t>Now record your own answers to the questions we’ve just discussed.</a:t>
            </a:r>
          </a:p>
          <a:p>
            <a:endParaRPr lang="en-US" dirty="0"/>
          </a:p>
          <a:p>
            <a:endParaRPr lang="en-AU" noProof="0" dirty="0"/>
          </a:p>
          <a:p>
            <a:pPr>
              <a:lnSpc>
                <a:spcPct val="150000"/>
              </a:lnSpc>
            </a:pPr>
            <a:endParaRPr lang="en-US" noProof="0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AU" noProof="0" dirty="0"/>
          </a:p>
          <a:p>
            <a:pPr>
              <a:lnSpc>
                <a:spcPct val="150000"/>
              </a:lnSpc>
            </a:pPr>
            <a:r>
              <a:rPr lang="en-AU" noProof="0" dirty="0"/>
              <a:t>Read the report on page 5-7; discuss the meaning and answer the three questions.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8C1C8E-E922-457D-BF29-EFCAA5576828}"/>
              </a:ext>
            </a:extLst>
          </p:cNvPr>
          <p:cNvSpPr/>
          <p:nvPr/>
        </p:nvSpPr>
        <p:spPr>
          <a:xfrm>
            <a:off x="1130105" y="2001129"/>
            <a:ext cx="9931790" cy="28557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>
                <a:latin typeface="Stencil" panose="040409050D0802020404" pitchFamily="82" charset="0"/>
              </a:rPr>
              <a:t>Bernie Sanders could replace President Trump with a little-known loophole</a:t>
            </a:r>
          </a:p>
        </p:txBody>
      </p:sp>
    </p:spTree>
    <p:extLst>
      <p:ext uri="{BB962C8B-B14F-4D97-AF65-F5344CB8AC3E}">
        <p14:creationId xmlns:p14="http://schemas.microsoft.com/office/powerpoint/2010/main" val="2845564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029D4B-7DC3-4DD7-931F-1A44AA818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047569"/>
              </p:ext>
            </p:extLst>
          </p:nvPr>
        </p:nvGraphicFramePr>
        <p:xfrm>
          <a:off x="336000" y="369000"/>
          <a:ext cx="11520000" cy="612000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4704291">
                  <a:extLst>
                    <a:ext uri="{9D8B030D-6E8A-4147-A177-3AD203B41FA5}">
                      <a16:colId xmlns:a16="http://schemas.microsoft.com/office/drawing/2014/main" val="2567902329"/>
                    </a:ext>
                  </a:extLst>
                </a:gridCol>
                <a:gridCol w="6815709">
                  <a:extLst>
                    <a:ext uri="{9D8B030D-6E8A-4147-A177-3AD203B41FA5}">
                      <a16:colId xmlns:a16="http://schemas.microsoft.com/office/drawing/2014/main" val="4235837279"/>
                    </a:ext>
                  </a:extLst>
                </a:gridCol>
              </a:tblGrid>
              <a:tr h="1184761">
                <a:tc gridSpan="2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600" dirty="0">
                          <a:effectLst/>
                        </a:rPr>
                        <a:t>Lesson Ten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240026"/>
                  </a:ext>
                </a:extLst>
              </a:tr>
              <a:tr h="118476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600" dirty="0">
                          <a:effectLst/>
                        </a:rPr>
                        <a:t>Learning Intentions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600" dirty="0">
                          <a:effectLst/>
                        </a:rPr>
                        <a:t>Success Criteria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6716680"/>
                  </a:ext>
                </a:extLst>
              </a:tr>
              <a:tr h="3750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AU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analyse online news reporting  style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Recorded information on FOUR news websites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Completed an analysis of the sites</a:t>
                      </a:r>
                      <a:endParaRPr lang="en-A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386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8157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D49E3-E0E2-4CBB-A764-0CA693D64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Activities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065D0-746E-4A7B-96FB-C873DDCEB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noProof="0" dirty="0"/>
              <a:t>Pair work (1 period)</a:t>
            </a:r>
          </a:p>
          <a:p>
            <a:pPr lvl="1">
              <a:lnSpc>
                <a:spcPct val="150000"/>
              </a:lnSpc>
            </a:pPr>
            <a:r>
              <a:rPr lang="en-AU" noProof="0" dirty="0"/>
              <a:t>Locate four online news services</a:t>
            </a:r>
          </a:p>
          <a:p>
            <a:pPr lvl="1">
              <a:lnSpc>
                <a:spcPct val="150000"/>
              </a:lnSpc>
            </a:pPr>
            <a:r>
              <a:rPr lang="en-AU" noProof="0" dirty="0"/>
              <a:t>Complete the retrieval and analysis charts</a:t>
            </a:r>
          </a:p>
          <a:p>
            <a:pPr>
              <a:lnSpc>
                <a:spcPct val="150000"/>
              </a:lnSpc>
            </a:pPr>
            <a:r>
              <a:rPr lang="en-AU" noProof="0" dirty="0"/>
              <a:t>Individual work (1 Period)</a:t>
            </a:r>
          </a:p>
          <a:p>
            <a:pPr lvl="1">
              <a:lnSpc>
                <a:spcPct val="150000"/>
              </a:lnSpc>
            </a:pPr>
            <a:r>
              <a:rPr lang="en-AU" noProof="0" dirty="0"/>
              <a:t>Respond to the three questions in great detail. </a:t>
            </a:r>
          </a:p>
        </p:txBody>
      </p:sp>
    </p:spTree>
    <p:extLst>
      <p:ext uri="{BB962C8B-B14F-4D97-AF65-F5344CB8AC3E}">
        <p14:creationId xmlns:p14="http://schemas.microsoft.com/office/powerpoint/2010/main" val="103200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536A1-025F-49A4-B62F-FEABEEF0F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Chart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16968A-2DA3-4F3C-924E-57F9E2824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fontAlgn="ctr">
              <a:lnSpc>
                <a:spcPct val="150000"/>
              </a:lnSpc>
            </a:pPr>
            <a:r>
              <a:rPr lang="en-AU" dirty="0"/>
              <a:t>Comments on layout features such as headlines and links</a:t>
            </a:r>
          </a:p>
          <a:p>
            <a:pPr fontAlgn="ctr">
              <a:lnSpc>
                <a:spcPct val="150000"/>
              </a:lnSpc>
            </a:pPr>
            <a:r>
              <a:rPr lang="en-AU" dirty="0"/>
              <a:t>Summary of stories and issues reported</a:t>
            </a:r>
          </a:p>
          <a:p>
            <a:pPr fontAlgn="ctr">
              <a:lnSpc>
                <a:spcPct val="150000"/>
              </a:lnSpc>
            </a:pPr>
            <a:r>
              <a:rPr lang="en-AU" dirty="0"/>
              <a:t>Examples of the language used (informal/formal) in the stories you read</a:t>
            </a:r>
          </a:p>
          <a:p>
            <a:pPr fontAlgn="ctr">
              <a:lnSpc>
                <a:spcPct val="150000"/>
              </a:lnSpc>
            </a:pPr>
            <a:r>
              <a:rPr lang="en-AU" dirty="0"/>
              <a:t>Description of target audience characteristics and justify your opinion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6848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09C354-EDB5-44AD-B65E-08C5583A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to reports: page 12-13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C348D-9CE0-477A-A13E-B8B21CD1D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837"/>
            <a:ext cx="10515600" cy="475612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9000"/>
              </a:lnSpc>
              <a:buNone/>
            </a:pPr>
            <a:r>
              <a:rPr lang="en-AU" dirty="0"/>
              <a:t>6. 	Write an evaluation of one of the news services you have recorded in your table. Comment on how effective this service was for navigating and reading the news.</a:t>
            </a:r>
          </a:p>
          <a:p>
            <a:pPr marL="0" indent="0">
              <a:lnSpc>
                <a:spcPct val="119000"/>
              </a:lnSpc>
              <a:buNone/>
            </a:pPr>
            <a:r>
              <a:rPr lang="en-US" dirty="0"/>
              <a:t>7. 	</a:t>
            </a:r>
            <a:r>
              <a:rPr lang="en-AU" dirty="0"/>
              <a:t>We usually see stories about tragedies, natural disasters, celebrities such as sportspeople, film stars, musicians and politicians and stories about local events. Look at the </a:t>
            </a:r>
            <a:r>
              <a:rPr lang="en-AU" b="1" dirty="0"/>
              <a:t>headlines </a:t>
            </a:r>
            <a:r>
              <a:rPr lang="en-AU" dirty="0"/>
              <a:t>in an online news website. Do they include these sorts of topics?  Give some examples</a:t>
            </a:r>
          </a:p>
          <a:p>
            <a:pPr marL="0" indent="0">
              <a:lnSpc>
                <a:spcPct val="119000"/>
              </a:lnSpc>
              <a:buNone/>
            </a:pPr>
            <a:r>
              <a:rPr lang="en-US" dirty="0"/>
              <a:t>8.	</a:t>
            </a:r>
            <a:r>
              <a:rPr lang="en-AU" dirty="0"/>
              <a:t>Browse an online news service and find local news reports. What are the top stories in the news </a:t>
            </a:r>
            <a:r>
              <a:rPr lang="en-AU"/>
              <a:t>today?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11285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4FBDF6-EDC4-448D-A5CC-6FF0B8CCD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713438"/>
              </p:ext>
            </p:extLst>
          </p:nvPr>
        </p:nvGraphicFramePr>
        <p:xfrm>
          <a:off x="336000" y="369000"/>
          <a:ext cx="11520000" cy="612000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4704291">
                  <a:extLst>
                    <a:ext uri="{9D8B030D-6E8A-4147-A177-3AD203B41FA5}">
                      <a16:colId xmlns:a16="http://schemas.microsoft.com/office/drawing/2014/main" val="2567902329"/>
                    </a:ext>
                  </a:extLst>
                </a:gridCol>
                <a:gridCol w="6815709">
                  <a:extLst>
                    <a:ext uri="{9D8B030D-6E8A-4147-A177-3AD203B41FA5}">
                      <a16:colId xmlns:a16="http://schemas.microsoft.com/office/drawing/2014/main" val="4235837279"/>
                    </a:ext>
                  </a:extLst>
                </a:gridCol>
              </a:tblGrid>
              <a:tr h="1184761">
                <a:tc gridSpan="2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600" dirty="0">
                          <a:effectLst/>
                        </a:rPr>
                        <a:t>Lesson Eleven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240026"/>
                  </a:ext>
                </a:extLst>
              </a:tr>
              <a:tr h="118476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600" dirty="0">
                          <a:effectLst/>
                        </a:rPr>
                        <a:t>Learning Intentions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AU" sz="2600" dirty="0">
                          <a:effectLst/>
                        </a:rPr>
                        <a:t>Success Criteria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6716680"/>
                  </a:ext>
                </a:extLst>
              </a:tr>
              <a:tr h="3750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AU" sz="2800" b="1" kern="1200" baseline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analyse and respond to online news</a:t>
                      </a:r>
                      <a:endParaRPr lang="en-AU" sz="28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sz="2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Found and analysed two online reports about the same issue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Completed a </a:t>
                      </a:r>
                      <a:r>
                        <a:rPr lang="en-AU" sz="2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representation table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Completed a </a:t>
                      </a:r>
                      <a:r>
                        <a:rPr lang="en-AU" sz="2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response to one article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386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512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2254-16C2-4E2C-BC85-E1E873712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Activities </a:t>
            </a:r>
            <a:endParaRPr lang="en-AU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8828-4B57-4380-A442-8F7B2BC79B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INDIVIDUAL WORK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First period</a:t>
            </a:r>
          </a:p>
          <a:p>
            <a:pPr>
              <a:lnSpc>
                <a:spcPct val="150000"/>
              </a:lnSpc>
            </a:pPr>
            <a:r>
              <a:rPr lang="en-US" dirty="0"/>
              <a:t>Locate two online news articles</a:t>
            </a:r>
          </a:p>
          <a:p>
            <a:pPr>
              <a:lnSpc>
                <a:spcPct val="150000"/>
              </a:lnSpc>
            </a:pPr>
            <a:r>
              <a:rPr lang="en-US" dirty="0"/>
              <a:t>Save and print both</a:t>
            </a:r>
          </a:p>
          <a:p>
            <a:pPr>
              <a:lnSpc>
                <a:spcPct val="150000"/>
              </a:lnSpc>
            </a:pPr>
            <a:r>
              <a:rPr lang="en-US" dirty="0"/>
              <a:t>Complete the representation table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C28D95-8D65-4ADD-B4E4-1E79FB9FEB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/>
              <a:t>INDIVIDUAL WORK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Second period</a:t>
            </a:r>
          </a:p>
          <a:p>
            <a:pPr>
              <a:lnSpc>
                <a:spcPct val="160000"/>
              </a:lnSpc>
            </a:pPr>
            <a:r>
              <a:rPr lang="en-US" dirty="0"/>
              <a:t>Write a response to one of your articles – summary and writer’s influence on perspective</a:t>
            </a:r>
            <a:endParaRPr lang="en-AU" dirty="0"/>
          </a:p>
          <a:p>
            <a:pPr>
              <a:lnSpc>
                <a:spcPct val="160000"/>
              </a:lnSpc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859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517AFA-469F-4C2C-ACDB-FCE132F0A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697"/>
          </a:xfrm>
        </p:spPr>
        <p:txBody>
          <a:bodyPr/>
          <a:lstStyle/>
          <a:p>
            <a:r>
              <a:rPr lang="en-US" dirty="0"/>
              <a:t>Monday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2B22E-7F75-4D6C-8B49-8539BCA69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1" y="1209822"/>
            <a:ext cx="11338559" cy="554267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Locate two online news articles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Save and print both</a:t>
            </a:r>
          </a:p>
          <a:p>
            <a:pPr lvl="0">
              <a:lnSpc>
                <a:spcPct val="150000"/>
              </a:lnSpc>
            </a:pPr>
            <a:r>
              <a:rPr lang="en-AU" sz="3200" dirty="0"/>
              <a:t>Complete the representation table for the articles you have selected.</a:t>
            </a:r>
          </a:p>
          <a:p>
            <a:pPr>
              <a:lnSpc>
                <a:spcPct val="150000"/>
              </a:lnSpc>
            </a:pPr>
            <a:r>
              <a:rPr lang="en-AU" sz="3200" dirty="0"/>
              <a:t>Write a response to one of your articles. </a:t>
            </a:r>
          </a:p>
          <a:p>
            <a:pPr lvl="1">
              <a:lnSpc>
                <a:spcPct val="150000"/>
              </a:lnSpc>
            </a:pPr>
            <a:r>
              <a:rPr lang="en-AU" sz="2800" dirty="0"/>
              <a:t>Model your response on the example given in the next section. </a:t>
            </a:r>
          </a:p>
          <a:p>
            <a:pPr lvl="1">
              <a:lnSpc>
                <a:spcPct val="150000"/>
              </a:lnSpc>
            </a:pPr>
            <a:r>
              <a:rPr lang="en-AU" sz="2800" dirty="0"/>
              <a:t>Use the sample response topics provided or think of your own</a:t>
            </a:r>
          </a:p>
        </p:txBody>
      </p:sp>
    </p:spTree>
    <p:extLst>
      <p:ext uri="{BB962C8B-B14F-4D97-AF65-F5344CB8AC3E}">
        <p14:creationId xmlns:p14="http://schemas.microsoft.com/office/powerpoint/2010/main" val="1049557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3581F-B963-45B1-A3D8-4786856B0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Wednesday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43B0D-7867-4456-BD40-5580F8ECC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03366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3200" dirty="0"/>
              <a:t>Write a response to one of your articles. </a:t>
            </a:r>
          </a:p>
          <a:p>
            <a:pPr lvl="1">
              <a:lnSpc>
                <a:spcPct val="150000"/>
              </a:lnSpc>
            </a:pPr>
            <a:r>
              <a:rPr lang="en-AU" sz="2800" dirty="0"/>
              <a:t>Model your response on the example given in the next section. </a:t>
            </a:r>
          </a:p>
          <a:p>
            <a:r>
              <a:rPr lang="en-US" dirty="0"/>
              <a:t>Question 1</a:t>
            </a:r>
          </a:p>
          <a:p>
            <a:pPr lvl="1"/>
            <a:r>
              <a:rPr lang="en-US" dirty="0" err="1"/>
              <a:t>Summarise</a:t>
            </a:r>
            <a:r>
              <a:rPr lang="en-US" dirty="0"/>
              <a:t> main fact of both reports – 5 points</a:t>
            </a:r>
          </a:p>
          <a:p>
            <a:pPr lvl="1"/>
            <a:r>
              <a:rPr lang="en-US" dirty="0"/>
              <a:t>Explain perspective of 1</a:t>
            </a:r>
            <a:r>
              <a:rPr lang="en-US" baseline="30000" dirty="0"/>
              <a:t>st</a:t>
            </a:r>
            <a:r>
              <a:rPr lang="en-US" dirty="0"/>
              <a:t> report and then of 2</a:t>
            </a:r>
            <a:r>
              <a:rPr lang="en-US" baseline="30000" dirty="0"/>
              <a:t>nd</a:t>
            </a:r>
            <a:r>
              <a:rPr lang="en-US" dirty="0"/>
              <a:t> report</a:t>
            </a:r>
          </a:p>
          <a:p>
            <a:r>
              <a:rPr lang="en-US" dirty="0"/>
              <a:t>Question 2</a:t>
            </a:r>
          </a:p>
          <a:p>
            <a:pPr lvl="1"/>
            <a:r>
              <a:rPr lang="en-US" dirty="0"/>
              <a:t>Which techniques have been used to persuade the reader</a:t>
            </a:r>
          </a:p>
          <a:p>
            <a:pPr lvl="1"/>
            <a:r>
              <a:rPr lang="en-US" dirty="0"/>
              <a:t>Describe for 1</a:t>
            </a:r>
            <a:r>
              <a:rPr lang="en-US" baseline="30000" dirty="0"/>
              <a:t>st</a:t>
            </a:r>
            <a:r>
              <a:rPr lang="en-US" dirty="0"/>
              <a:t> report and then for 2</a:t>
            </a:r>
            <a:r>
              <a:rPr lang="en-US" baseline="30000" dirty="0"/>
              <a:t>nd</a:t>
            </a:r>
            <a:r>
              <a:rPr lang="en-US" dirty="0"/>
              <a:t> report</a:t>
            </a:r>
          </a:p>
          <a:p>
            <a:pPr lvl="1"/>
            <a:r>
              <a:rPr lang="en-US" dirty="0"/>
              <a:t>Techniques: language; repetition; rhetorical question; generalization; emotive language, </a:t>
            </a:r>
            <a:r>
              <a:rPr lang="en-US" dirty="0" err="1"/>
              <a:t>etc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7920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5340C-F2C5-46D5-A294-385E5B3D5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2452C-7E36-4A0F-BF43-ACE0232F9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5980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508</Words>
  <Application>Microsoft Office PowerPoint</Application>
  <PresentationFormat>Widescreen</PresentationFormat>
  <Paragraphs>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Rockwell</vt:lpstr>
      <vt:lpstr>Stencil</vt:lpstr>
      <vt:lpstr>Times New Roman</vt:lpstr>
      <vt:lpstr>Office Theme</vt:lpstr>
      <vt:lpstr>PowerPoint Presentation</vt:lpstr>
      <vt:lpstr>Activities </vt:lpstr>
      <vt:lpstr>PowerPoint Presentation</vt:lpstr>
      <vt:lpstr>Activities</vt:lpstr>
      <vt:lpstr>PowerPoint Presentation</vt:lpstr>
      <vt:lpstr>Activities</vt:lpstr>
      <vt:lpstr>Activities </vt:lpstr>
      <vt:lpstr>PowerPoint Presentation</vt:lpstr>
      <vt:lpstr>Activities </vt:lpstr>
      <vt:lpstr>Retrieval Chart</vt:lpstr>
      <vt:lpstr>Response to reports: page 12-13</vt:lpstr>
      <vt:lpstr>PowerPoint Presentation</vt:lpstr>
      <vt:lpstr>Activities </vt:lpstr>
      <vt:lpstr>Monday</vt:lpstr>
      <vt:lpstr>Wednesday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 Janse van Rensburg</dc:creator>
  <cp:lastModifiedBy>Dr Andre Janse van Rensburg</cp:lastModifiedBy>
  <cp:revision>7</cp:revision>
  <dcterms:created xsi:type="dcterms:W3CDTF">2018-02-07T01:04:21Z</dcterms:created>
  <dcterms:modified xsi:type="dcterms:W3CDTF">2018-12-27T02:57:47Z</dcterms:modified>
</cp:coreProperties>
</file>
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8" r:id="rId2"/>
    <p:sldId id="269" r:id="rId3"/>
    <p:sldId id="270" r:id="rId4"/>
    <p:sldId id="256" r:id="rId5"/>
    <p:sldId id="257" r:id="rId6"/>
    <p:sldId id="258" r:id="rId7"/>
    <p:sldId id="259" r:id="rId8"/>
    <p:sldId id="260" r:id="rId9"/>
    <p:sldId id="261" r:id="rId10"/>
    <p:sldId id="262" r:id="rId11"/>
    <p:sldId id="263" r:id="rId12"/>
    <p:sldId id="264" r:id="rId13"/>
    <p:sldId id="265" r:id="rId14"/>
    <p:sldId id="266" r:id="rId15"/>
    <p:sldId id="267" r:id="rId16"/>
    <p:sldId id="271" r:id="rId17"/>
    <p:sldId id="272" r:id="rId18"/>
    <p:sldId id="273" r:id="rId19"/>
    <p:sldId id="274" r:id="rId20"/>
    <p:sldId id="275" r:id="rId21"/>
    <p:sldId id="276" r:id="rId22"/>
    <p:sldId id="277" r:id="rId23"/>
    <p:sldId id="278" r:id="rId24"/>
    <p:sldId id="280" r:id="rId25"/>
    <p:sldId id="281" r:id="rId26"/>
    <p:sldId id="284" r:id="rId27"/>
    <p:sldId id="285" r:id="rId28"/>
    <p:sldId id="286" r:id="rId29"/>
    <p:sldId id="288" r:id="rId30"/>
    <p:sldId id="289" r:id="rId31"/>
    <p:sldId id="290" r:id="rId32"/>
    <p:sldId id="291" r:id="rId33"/>
    <p:sldId id="292" r:id="rId34"/>
    <p:sldId id="293" r:id="rId35"/>
    <p:sldId id="294"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291" autoAdjust="0"/>
  </p:normalViewPr>
  <p:slideViewPr>
    <p:cSldViewPr snapToGrid="0">
      <p:cViewPr varScale="1">
        <p:scale>
          <a:sx n="68" d="100"/>
          <a:sy n="68" d="100"/>
        </p:scale>
        <p:origin x="816" y="7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92BFB-94F0-4B6D-98FA-D794007CE421}"/>
              </a:ext>
            </a:extLst>
          </p:cNvPr>
          <p:cNvSpPr>
            <a:spLocks noGrp="1"/>
          </p:cNvSpPr>
          <p:nvPr>
            <p:ph type="ctrTitle"/>
          </p:nvPr>
        </p:nvSpPr>
        <p:spPr>
          <a:xfrm>
            <a:off x="1524000" y="1122363"/>
            <a:ext cx="9144000" cy="2387600"/>
          </a:xfrm>
        </p:spPr>
        <p:txBody>
          <a:bodyPr anchor="b"/>
          <a:lstStyle>
            <a:lvl1pPr algn="ctr">
              <a:defRPr sz="6000">
                <a:latin typeface="Broadway" panose="04040905080B02020502" pitchFamily="82" charset="0"/>
              </a:defRPr>
            </a:lvl1pPr>
          </a:lstStyle>
          <a:p>
            <a:r>
              <a:rPr lang="en-US" dirty="0"/>
              <a:t>Click to edit Master title style</a:t>
            </a:r>
            <a:endParaRPr lang="en-AU" dirty="0"/>
          </a:p>
        </p:txBody>
      </p:sp>
      <p:sp>
        <p:nvSpPr>
          <p:cNvPr id="3" name="Subtitle 2">
            <a:extLst>
              <a:ext uri="{FF2B5EF4-FFF2-40B4-BE49-F238E27FC236}">
                <a16:creationId xmlns:a16="http://schemas.microsoft.com/office/drawing/2014/main" id="{0826B4F9-11D6-42C0-8DC4-EE8EF491B6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A876D990-83E8-43D8-A783-00B5D948C61E}"/>
              </a:ext>
            </a:extLst>
          </p:cNvPr>
          <p:cNvSpPr>
            <a:spLocks noGrp="1"/>
          </p:cNvSpPr>
          <p:nvPr>
            <p:ph type="dt" sz="half" idx="10"/>
          </p:nvPr>
        </p:nvSpPr>
        <p:spPr/>
        <p:txBody>
          <a:bodyPr/>
          <a:lstStyle/>
          <a:p>
            <a:fld id="{8F88CBEA-576C-478D-8172-C9544090EB0B}" type="datetimeFigureOut">
              <a:rPr lang="en-AU" smtClean="0"/>
              <a:t>13/08/2018</a:t>
            </a:fld>
            <a:endParaRPr lang="en-AU"/>
          </a:p>
        </p:txBody>
      </p:sp>
      <p:sp>
        <p:nvSpPr>
          <p:cNvPr id="5" name="Footer Placeholder 4">
            <a:extLst>
              <a:ext uri="{FF2B5EF4-FFF2-40B4-BE49-F238E27FC236}">
                <a16:creationId xmlns:a16="http://schemas.microsoft.com/office/drawing/2014/main" id="{01534BB5-550C-4931-9DC5-10C5E04769AB}"/>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1A23E199-3C06-45C2-ADB4-9836E3426979}"/>
              </a:ext>
            </a:extLst>
          </p:cNvPr>
          <p:cNvSpPr>
            <a:spLocks noGrp="1"/>
          </p:cNvSpPr>
          <p:nvPr>
            <p:ph type="sldNum" sz="quarter" idx="12"/>
          </p:nvPr>
        </p:nvSpPr>
        <p:spPr/>
        <p:txBody>
          <a:bodyPr/>
          <a:lstStyle/>
          <a:p>
            <a:fld id="{F83766BF-25D7-47FF-91E9-B437A137A337}" type="slidenum">
              <a:rPr lang="en-AU" smtClean="0"/>
              <a:t>‹#›</a:t>
            </a:fld>
            <a:endParaRPr lang="en-AU"/>
          </a:p>
        </p:txBody>
      </p:sp>
    </p:spTree>
    <p:extLst>
      <p:ext uri="{BB962C8B-B14F-4D97-AF65-F5344CB8AC3E}">
        <p14:creationId xmlns:p14="http://schemas.microsoft.com/office/powerpoint/2010/main" val="31308483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11F97-AE45-4602-ACAD-C64EE322B363}"/>
              </a:ext>
            </a:extLst>
          </p:cNvPr>
          <p:cNvSpPr>
            <a:spLocks noGrp="1"/>
          </p:cNvSpPr>
          <p:nvPr>
            <p:ph type="title"/>
          </p:nvPr>
        </p:nvSpPr>
        <p:spPr/>
        <p:txBody>
          <a:bodyPr>
            <a:normAutofit/>
          </a:bodyPr>
          <a:lstStyle>
            <a:lvl1pPr>
              <a:defRPr sz="6000">
                <a:latin typeface="Berlin Sans FB" panose="020E0602020502020306" pitchFamily="34" charset="0"/>
              </a:defRPr>
            </a:lvl1pPr>
          </a:lstStyle>
          <a:p>
            <a:r>
              <a:rPr lang="en-US" dirty="0"/>
              <a:t>Click to edit Master title style</a:t>
            </a:r>
            <a:endParaRPr lang="en-AU" dirty="0"/>
          </a:p>
        </p:txBody>
      </p:sp>
      <p:sp>
        <p:nvSpPr>
          <p:cNvPr id="3" name="Content Placeholder 2">
            <a:extLst>
              <a:ext uri="{FF2B5EF4-FFF2-40B4-BE49-F238E27FC236}">
                <a16:creationId xmlns:a16="http://schemas.microsoft.com/office/drawing/2014/main" id="{EE58414C-FB42-468C-B3EE-CB7F9FAF692C}"/>
              </a:ext>
            </a:extLst>
          </p:cNvPr>
          <p:cNvSpPr>
            <a:spLocks noGrp="1"/>
          </p:cNvSpPr>
          <p:nvPr>
            <p:ph idx="1"/>
          </p:nvPr>
        </p:nvSpPr>
        <p:spPr/>
        <p:txBody>
          <a:bodyPr>
            <a:normAutofit/>
          </a:bodyPr>
          <a:lstStyle>
            <a:lvl1pPr>
              <a:lnSpc>
                <a:spcPct val="130000"/>
              </a:lnSpc>
              <a:spcBef>
                <a:spcPts val="0"/>
              </a:spcBef>
              <a:defRPr sz="4000"/>
            </a:lvl1pPr>
            <a:lvl2pPr>
              <a:lnSpc>
                <a:spcPct val="130000"/>
              </a:lnSpc>
              <a:spcBef>
                <a:spcPts val="0"/>
              </a:spcBef>
              <a:defRPr sz="3600"/>
            </a:lvl2pPr>
            <a:lvl3pPr>
              <a:lnSpc>
                <a:spcPct val="130000"/>
              </a:lnSpc>
              <a:spcBef>
                <a:spcPts val="0"/>
              </a:spcBef>
              <a:defRPr sz="3200"/>
            </a:lvl3pPr>
            <a:lvl4pPr>
              <a:lnSpc>
                <a:spcPct val="130000"/>
              </a:lnSpc>
              <a:spcBef>
                <a:spcPts val="0"/>
              </a:spcBef>
              <a:defRPr sz="2800"/>
            </a:lvl4pPr>
            <a:lvl5pPr>
              <a:lnSpc>
                <a:spcPct val="130000"/>
              </a:lnSpc>
              <a:spcBef>
                <a:spcPts val="0"/>
              </a:spcBef>
              <a:defRPr sz="28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4" name="Date Placeholder 3">
            <a:extLst>
              <a:ext uri="{FF2B5EF4-FFF2-40B4-BE49-F238E27FC236}">
                <a16:creationId xmlns:a16="http://schemas.microsoft.com/office/drawing/2014/main" id="{67AB1715-B2CE-408A-877F-34D9E70F947E}"/>
              </a:ext>
            </a:extLst>
          </p:cNvPr>
          <p:cNvSpPr>
            <a:spLocks noGrp="1"/>
          </p:cNvSpPr>
          <p:nvPr>
            <p:ph type="dt" sz="half" idx="10"/>
          </p:nvPr>
        </p:nvSpPr>
        <p:spPr/>
        <p:txBody>
          <a:bodyPr/>
          <a:lstStyle/>
          <a:p>
            <a:fld id="{8F88CBEA-576C-478D-8172-C9544090EB0B}" type="datetimeFigureOut">
              <a:rPr lang="en-AU" smtClean="0"/>
              <a:t>13/08/2018</a:t>
            </a:fld>
            <a:endParaRPr lang="en-AU"/>
          </a:p>
        </p:txBody>
      </p:sp>
      <p:sp>
        <p:nvSpPr>
          <p:cNvPr id="5" name="Footer Placeholder 4">
            <a:extLst>
              <a:ext uri="{FF2B5EF4-FFF2-40B4-BE49-F238E27FC236}">
                <a16:creationId xmlns:a16="http://schemas.microsoft.com/office/drawing/2014/main" id="{77E8621A-D98F-4A38-A71A-4953A36310C8}"/>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1142DF4-2A4E-4786-8295-9E29B5B514C1}"/>
              </a:ext>
            </a:extLst>
          </p:cNvPr>
          <p:cNvSpPr>
            <a:spLocks noGrp="1"/>
          </p:cNvSpPr>
          <p:nvPr>
            <p:ph type="sldNum" sz="quarter" idx="12"/>
          </p:nvPr>
        </p:nvSpPr>
        <p:spPr/>
        <p:txBody>
          <a:bodyPr/>
          <a:lstStyle/>
          <a:p>
            <a:fld id="{F83766BF-25D7-47FF-91E9-B437A137A337}" type="slidenum">
              <a:rPr lang="en-AU" smtClean="0"/>
              <a:t>‹#›</a:t>
            </a:fld>
            <a:endParaRPr lang="en-AU"/>
          </a:p>
        </p:txBody>
      </p:sp>
    </p:spTree>
    <p:extLst>
      <p:ext uri="{BB962C8B-B14F-4D97-AF65-F5344CB8AC3E}">
        <p14:creationId xmlns:p14="http://schemas.microsoft.com/office/powerpoint/2010/main" val="26162410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821E2-7791-4C57-B6F9-482B499F974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5F4B2D18-2434-4145-A734-103ED017D17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AF816147-B734-4D16-93CC-8FD315A526D1}"/>
              </a:ext>
            </a:extLst>
          </p:cNvPr>
          <p:cNvSpPr>
            <a:spLocks noGrp="1"/>
          </p:cNvSpPr>
          <p:nvPr>
            <p:ph type="dt" sz="half" idx="10"/>
          </p:nvPr>
        </p:nvSpPr>
        <p:spPr/>
        <p:txBody>
          <a:bodyPr/>
          <a:lstStyle/>
          <a:p>
            <a:fld id="{8F88CBEA-576C-478D-8172-C9544090EB0B}" type="datetimeFigureOut">
              <a:rPr lang="en-AU" smtClean="0"/>
              <a:t>13/08/2018</a:t>
            </a:fld>
            <a:endParaRPr lang="en-AU"/>
          </a:p>
        </p:txBody>
      </p:sp>
      <p:sp>
        <p:nvSpPr>
          <p:cNvPr id="5" name="Footer Placeholder 4">
            <a:extLst>
              <a:ext uri="{FF2B5EF4-FFF2-40B4-BE49-F238E27FC236}">
                <a16:creationId xmlns:a16="http://schemas.microsoft.com/office/drawing/2014/main" id="{7F20BF01-9459-41D5-9DB5-3E67EA33737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F50D1421-AD0E-49B9-B053-50F0B1A9D83C}"/>
              </a:ext>
            </a:extLst>
          </p:cNvPr>
          <p:cNvSpPr>
            <a:spLocks noGrp="1"/>
          </p:cNvSpPr>
          <p:nvPr>
            <p:ph type="sldNum" sz="quarter" idx="12"/>
          </p:nvPr>
        </p:nvSpPr>
        <p:spPr/>
        <p:txBody>
          <a:bodyPr/>
          <a:lstStyle/>
          <a:p>
            <a:fld id="{F83766BF-25D7-47FF-91E9-B437A137A337}" type="slidenum">
              <a:rPr lang="en-AU" smtClean="0"/>
              <a:t>‹#›</a:t>
            </a:fld>
            <a:endParaRPr lang="en-AU"/>
          </a:p>
        </p:txBody>
      </p:sp>
    </p:spTree>
    <p:extLst>
      <p:ext uri="{BB962C8B-B14F-4D97-AF65-F5344CB8AC3E}">
        <p14:creationId xmlns:p14="http://schemas.microsoft.com/office/powerpoint/2010/main" val="35265775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A4704D-6FA6-4A07-8B7A-C976F3A44BA6}"/>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8D1EB21E-2C3B-409F-8FC6-A16C75F03BA8}"/>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E8A33BC4-7E14-4DA4-8182-5AC56B01276B}"/>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7D3338F0-4DD0-4088-A3B5-A5D8121BDA24}"/>
              </a:ext>
            </a:extLst>
          </p:cNvPr>
          <p:cNvSpPr>
            <a:spLocks noGrp="1"/>
          </p:cNvSpPr>
          <p:nvPr>
            <p:ph type="dt" sz="half" idx="10"/>
          </p:nvPr>
        </p:nvSpPr>
        <p:spPr/>
        <p:txBody>
          <a:bodyPr/>
          <a:lstStyle/>
          <a:p>
            <a:fld id="{8F88CBEA-576C-478D-8172-C9544090EB0B}" type="datetimeFigureOut">
              <a:rPr lang="en-AU" smtClean="0"/>
              <a:t>13/08/2018</a:t>
            </a:fld>
            <a:endParaRPr lang="en-AU"/>
          </a:p>
        </p:txBody>
      </p:sp>
      <p:sp>
        <p:nvSpPr>
          <p:cNvPr id="6" name="Footer Placeholder 5">
            <a:extLst>
              <a:ext uri="{FF2B5EF4-FFF2-40B4-BE49-F238E27FC236}">
                <a16:creationId xmlns:a16="http://schemas.microsoft.com/office/drawing/2014/main" id="{941FD477-E8F9-4C9C-A993-D026374FD8A1}"/>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17160CF3-8692-4A65-853B-B4926E739945}"/>
              </a:ext>
            </a:extLst>
          </p:cNvPr>
          <p:cNvSpPr>
            <a:spLocks noGrp="1"/>
          </p:cNvSpPr>
          <p:nvPr>
            <p:ph type="sldNum" sz="quarter" idx="12"/>
          </p:nvPr>
        </p:nvSpPr>
        <p:spPr/>
        <p:txBody>
          <a:bodyPr/>
          <a:lstStyle/>
          <a:p>
            <a:fld id="{F83766BF-25D7-47FF-91E9-B437A137A337}" type="slidenum">
              <a:rPr lang="en-AU" smtClean="0"/>
              <a:t>‹#›</a:t>
            </a:fld>
            <a:endParaRPr lang="en-AU"/>
          </a:p>
        </p:txBody>
      </p:sp>
    </p:spTree>
    <p:extLst>
      <p:ext uri="{BB962C8B-B14F-4D97-AF65-F5344CB8AC3E}">
        <p14:creationId xmlns:p14="http://schemas.microsoft.com/office/powerpoint/2010/main" val="24281323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E2DA8-79D6-4D75-A405-9399982632AF}"/>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0F6ECC92-D078-418E-8885-843AD29B775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0C43B83-228F-42C9-8C34-AC3496EFC37D}"/>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4C2D7974-B71B-45C4-AFDB-E5CE49593E2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2443B1F-AE35-43F0-B532-5A47AD044525}"/>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2A177905-7DB0-47CF-9ADC-E65D2A488139}"/>
              </a:ext>
            </a:extLst>
          </p:cNvPr>
          <p:cNvSpPr>
            <a:spLocks noGrp="1"/>
          </p:cNvSpPr>
          <p:nvPr>
            <p:ph type="dt" sz="half" idx="10"/>
          </p:nvPr>
        </p:nvSpPr>
        <p:spPr/>
        <p:txBody>
          <a:bodyPr/>
          <a:lstStyle/>
          <a:p>
            <a:fld id="{8F88CBEA-576C-478D-8172-C9544090EB0B}" type="datetimeFigureOut">
              <a:rPr lang="en-AU" smtClean="0"/>
              <a:t>13/08/2018</a:t>
            </a:fld>
            <a:endParaRPr lang="en-AU"/>
          </a:p>
        </p:txBody>
      </p:sp>
      <p:sp>
        <p:nvSpPr>
          <p:cNvPr id="8" name="Footer Placeholder 7">
            <a:extLst>
              <a:ext uri="{FF2B5EF4-FFF2-40B4-BE49-F238E27FC236}">
                <a16:creationId xmlns:a16="http://schemas.microsoft.com/office/drawing/2014/main" id="{62896216-7737-4E86-99B7-E19C1764F122}"/>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50FE9AA7-6740-47A5-B8CE-3A1BF59070A3}"/>
              </a:ext>
            </a:extLst>
          </p:cNvPr>
          <p:cNvSpPr>
            <a:spLocks noGrp="1"/>
          </p:cNvSpPr>
          <p:nvPr>
            <p:ph type="sldNum" sz="quarter" idx="12"/>
          </p:nvPr>
        </p:nvSpPr>
        <p:spPr/>
        <p:txBody>
          <a:bodyPr/>
          <a:lstStyle/>
          <a:p>
            <a:fld id="{F83766BF-25D7-47FF-91E9-B437A137A337}" type="slidenum">
              <a:rPr lang="en-AU" smtClean="0"/>
              <a:t>‹#›</a:t>
            </a:fld>
            <a:endParaRPr lang="en-AU"/>
          </a:p>
        </p:txBody>
      </p:sp>
    </p:spTree>
    <p:extLst>
      <p:ext uri="{BB962C8B-B14F-4D97-AF65-F5344CB8AC3E}">
        <p14:creationId xmlns:p14="http://schemas.microsoft.com/office/powerpoint/2010/main" val="23297226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BDE1A-500A-4B4E-B346-8C598F9A4EEC}"/>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F2A0E06A-B376-4332-91B8-8255D8508910}"/>
              </a:ext>
            </a:extLst>
          </p:cNvPr>
          <p:cNvSpPr>
            <a:spLocks noGrp="1"/>
          </p:cNvSpPr>
          <p:nvPr>
            <p:ph type="dt" sz="half" idx="10"/>
          </p:nvPr>
        </p:nvSpPr>
        <p:spPr/>
        <p:txBody>
          <a:bodyPr/>
          <a:lstStyle/>
          <a:p>
            <a:fld id="{8F88CBEA-576C-478D-8172-C9544090EB0B}" type="datetimeFigureOut">
              <a:rPr lang="en-AU" smtClean="0"/>
              <a:t>13/08/2018</a:t>
            </a:fld>
            <a:endParaRPr lang="en-AU"/>
          </a:p>
        </p:txBody>
      </p:sp>
      <p:sp>
        <p:nvSpPr>
          <p:cNvPr id="4" name="Footer Placeholder 3">
            <a:extLst>
              <a:ext uri="{FF2B5EF4-FFF2-40B4-BE49-F238E27FC236}">
                <a16:creationId xmlns:a16="http://schemas.microsoft.com/office/drawing/2014/main" id="{A248A7C3-DAED-4676-B116-60A21716DF29}"/>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FEBAB043-D070-495F-A33E-28E1F2C07751}"/>
              </a:ext>
            </a:extLst>
          </p:cNvPr>
          <p:cNvSpPr>
            <a:spLocks noGrp="1"/>
          </p:cNvSpPr>
          <p:nvPr>
            <p:ph type="sldNum" sz="quarter" idx="12"/>
          </p:nvPr>
        </p:nvSpPr>
        <p:spPr/>
        <p:txBody>
          <a:bodyPr/>
          <a:lstStyle/>
          <a:p>
            <a:fld id="{F83766BF-25D7-47FF-91E9-B437A137A337}" type="slidenum">
              <a:rPr lang="en-AU" smtClean="0"/>
              <a:t>‹#›</a:t>
            </a:fld>
            <a:endParaRPr lang="en-AU"/>
          </a:p>
        </p:txBody>
      </p:sp>
    </p:spTree>
    <p:extLst>
      <p:ext uri="{BB962C8B-B14F-4D97-AF65-F5344CB8AC3E}">
        <p14:creationId xmlns:p14="http://schemas.microsoft.com/office/powerpoint/2010/main" val="18111434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3268CFA-B62D-471E-A0D1-2360182C22E6}"/>
              </a:ext>
            </a:extLst>
          </p:cNvPr>
          <p:cNvSpPr>
            <a:spLocks noGrp="1"/>
          </p:cNvSpPr>
          <p:nvPr>
            <p:ph type="dt" sz="half" idx="10"/>
          </p:nvPr>
        </p:nvSpPr>
        <p:spPr/>
        <p:txBody>
          <a:bodyPr/>
          <a:lstStyle/>
          <a:p>
            <a:fld id="{8F88CBEA-576C-478D-8172-C9544090EB0B}" type="datetimeFigureOut">
              <a:rPr lang="en-AU" smtClean="0"/>
              <a:t>13/08/2018</a:t>
            </a:fld>
            <a:endParaRPr lang="en-AU"/>
          </a:p>
        </p:txBody>
      </p:sp>
      <p:sp>
        <p:nvSpPr>
          <p:cNvPr id="3" name="Footer Placeholder 2">
            <a:extLst>
              <a:ext uri="{FF2B5EF4-FFF2-40B4-BE49-F238E27FC236}">
                <a16:creationId xmlns:a16="http://schemas.microsoft.com/office/drawing/2014/main" id="{F71959FC-D949-4ADD-B3D9-EB98A84F0051}"/>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D2588C0C-100F-44AB-A438-31AE5A50DFFC}"/>
              </a:ext>
            </a:extLst>
          </p:cNvPr>
          <p:cNvSpPr>
            <a:spLocks noGrp="1"/>
          </p:cNvSpPr>
          <p:nvPr>
            <p:ph type="sldNum" sz="quarter" idx="12"/>
          </p:nvPr>
        </p:nvSpPr>
        <p:spPr/>
        <p:txBody>
          <a:bodyPr/>
          <a:lstStyle/>
          <a:p>
            <a:fld id="{F83766BF-25D7-47FF-91E9-B437A137A337}" type="slidenum">
              <a:rPr lang="en-AU" smtClean="0"/>
              <a:t>‹#›</a:t>
            </a:fld>
            <a:endParaRPr lang="en-AU"/>
          </a:p>
        </p:txBody>
      </p:sp>
    </p:spTree>
    <p:extLst>
      <p:ext uri="{BB962C8B-B14F-4D97-AF65-F5344CB8AC3E}">
        <p14:creationId xmlns:p14="http://schemas.microsoft.com/office/powerpoint/2010/main" val="2776250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795FF-6160-47EE-A57B-6EAF33D18B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1798E063-31A1-476F-9FAD-E31F04A0A24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C1CD531F-FE6E-4F20-B912-DB2433D817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E746334-7CE9-4890-8CBB-FA4A2C6667DC}"/>
              </a:ext>
            </a:extLst>
          </p:cNvPr>
          <p:cNvSpPr>
            <a:spLocks noGrp="1"/>
          </p:cNvSpPr>
          <p:nvPr>
            <p:ph type="dt" sz="half" idx="10"/>
          </p:nvPr>
        </p:nvSpPr>
        <p:spPr/>
        <p:txBody>
          <a:bodyPr/>
          <a:lstStyle/>
          <a:p>
            <a:fld id="{8F88CBEA-576C-478D-8172-C9544090EB0B}" type="datetimeFigureOut">
              <a:rPr lang="en-AU" smtClean="0"/>
              <a:t>13/08/2018</a:t>
            </a:fld>
            <a:endParaRPr lang="en-AU"/>
          </a:p>
        </p:txBody>
      </p:sp>
      <p:sp>
        <p:nvSpPr>
          <p:cNvPr id="6" name="Footer Placeholder 5">
            <a:extLst>
              <a:ext uri="{FF2B5EF4-FFF2-40B4-BE49-F238E27FC236}">
                <a16:creationId xmlns:a16="http://schemas.microsoft.com/office/drawing/2014/main" id="{655F003D-3B2C-4CC9-AC16-5A3790AFC1B2}"/>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B4C49668-0D30-455D-8E68-72C12957B841}"/>
              </a:ext>
            </a:extLst>
          </p:cNvPr>
          <p:cNvSpPr>
            <a:spLocks noGrp="1"/>
          </p:cNvSpPr>
          <p:nvPr>
            <p:ph type="sldNum" sz="quarter" idx="12"/>
          </p:nvPr>
        </p:nvSpPr>
        <p:spPr/>
        <p:txBody>
          <a:bodyPr/>
          <a:lstStyle/>
          <a:p>
            <a:fld id="{F83766BF-25D7-47FF-91E9-B437A137A337}" type="slidenum">
              <a:rPr lang="en-AU" smtClean="0"/>
              <a:t>‹#›</a:t>
            </a:fld>
            <a:endParaRPr lang="en-AU"/>
          </a:p>
        </p:txBody>
      </p:sp>
    </p:spTree>
    <p:extLst>
      <p:ext uri="{BB962C8B-B14F-4D97-AF65-F5344CB8AC3E}">
        <p14:creationId xmlns:p14="http://schemas.microsoft.com/office/powerpoint/2010/main" val="28191575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DA610-0AB3-4303-87E5-717BA59279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F5F82D78-8B49-4381-B0A1-AF9F47741D1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533A4FD0-30EC-4DB7-8955-42F93E9DDC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24D4C7D0-BA58-4B73-ACC7-3F656D2A7C6D}"/>
              </a:ext>
            </a:extLst>
          </p:cNvPr>
          <p:cNvSpPr>
            <a:spLocks noGrp="1"/>
          </p:cNvSpPr>
          <p:nvPr>
            <p:ph type="dt" sz="half" idx="10"/>
          </p:nvPr>
        </p:nvSpPr>
        <p:spPr/>
        <p:txBody>
          <a:bodyPr/>
          <a:lstStyle/>
          <a:p>
            <a:fld id="{8F88CBEA-576C-478D-8172-C9544090EB0B}" type="datetimeFigureOut">
              <a:rPr lang="en-AU" smtClean="0"/>
              <a:t>13/08/2018</a:t>
            </a:fld>
            <a:endParaRPr lang="en-AU"/>
          </a:p>
        </p:txBody>
      </p:sp>
      <p:sp>
        <p:nvSpPr>
          <p:cNvPr id="6" name="Footer Placeholder 5">
            <a:extLst>
              <a:ext uri="{FF2B5EF4-FFF2-40B4-BE49-F238E27FC236}">
                <a16:creationId xmlns:a16="http://schemas.microsoft.com/office/drawing/2014/main" id="{200247EA-42C2-48C5-9E80-5C874A6B3841}"/>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58907ACE-393D-4468-AEAA-E9B2ED79389F}"/>
              </a:ext>
            </a:extLst>
          </p:cNvPr>
          <p:cNvSpPr>
            <a:spLocks noGrp="1"/>
          </p:cNvSpPr>
          <p:nvPr>
            <p:ph type="sldNum" sz="quarter" idx="12"/>
          </p:nvPr>
        </p:nvSpPr>
        <p:spPr/>
        <p:txBody>
          <a:bodyPr/>
          <a:lstStyle/>
          <a:p>
            <a:fld id="{F83766BF-25D7-47FF-91E9-B437A137A337}" type="slidenum">
              <a:rPr lang="en-AU" smtClean="0"/>
              <a:t>‹#›</a:t>
            </a:fld>
            <a:endParaRPr lang="en-AU"/>
          </a:p>
        </p:txBody>
      </p:sp>
    </p:spTree>
    <p:extLst>
      <p:ext uri="{BB962C8B-B14F-4D97-AF65-F5344CB8AC3E}">
        <p14:creationId xmlns:p14="http://schemas.microsoft.com/office/powerpoint/2010/main" val="34994627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CCCC6-A464-4D93-BE52-10DAE97F07B0}"/>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E3F3A8C7-2BA6-4598-A98D-09260BA7F32F}"/>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CE423FA5-1353-425F-963A-D718E2385732}"/>
              </a:ext>
            </a:extLst>
          </p:cNvPr>
          <p:cNvSpPr>
            <a:spLocks noGrp="1"/>
          </p:cNvSpPr>
          <p:nvPr>
            <p:ph type="dt" sz="half" idx="10"/>
          </p:nvPr>
        </p:nvSpPr>
        <p:spPr/>
        <p:txBody>
          <a:bodyPr/>
          <a:lstStyle/>
          <a:p>
            <a:fld id="{8F88CBEA-576C-478D-8172-C9544090EB0B}" type="datetimeFigureOut">
              <a:rPr lang="en-AU" smtClean="0"/>
              <a:t>13/08/2018</a:t>
            </a:fld>
            <a:endParaRPr lang="en-AU"/>
          </a:p>
        </p:txBody>
      </p:sp>
      <p:sp>
        <p:nvSpPr>
          <p:cNvPr id="5" name="Footer Placeholder 4">
            <a:extLst>
              <a:ext uri="{FF2B5EF4-FFF2-40B4-BE49-F238E27FC236}">
                <a16:creationId xmlns:a16="http://schemas.microsoft.com/office/drawing/2014/main" id="{A92F14AF-DFF2-4191-83CC-0FA75FD676D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726257BD-284F-465D-966A-FDE70C6C75A4}"/>
              </a:ext>
            </a:extLst>
          </p:cNvPr>
          <p:cNvSpPr>
            <a:spLocks noGrp="1"/>
          </p:cNvSpPr>
          <p:nvPr>
            <p:ph type="sldNum" sz="quarter" idx="12"/>
          </p:nvPr>
        </p:nvSpPr>
        <p:spPr/>
        <p:txBody>
          <a:bodyPr/>
          <a:lstStyle/>
          <a:p>
            <a:fld id="{F83766BF-25D7-47FF-91E9-B437A137A337}" type="slidenum">
              <a:rPr lang="en-AU" smtClean="0"/>
              <a:t>‹#›</a:t>
            </a:fld>
            <a:endParaRPr lang="en-AU"/>
          </a:p>
        </p:txBody>
      </p:sp>
    </p:spTree>
    <p:extLst>
      <p:ext uri="{BB962C8B-B14F-4D97-AF65-F5344CB8AC3E}">
        <p14:creationId xmlns:p14="http://schemas.microsoft.com/office/powerpoint/2010/main" val="649844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A174B17-34B3-46AD-BC8F-1327E5B4B0A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00A444A5-DFD9-4A23-8F5C-F59623F3AFE7}"/>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3752C11D-1A47-4D79-991A-43DCEE6E202A}"/>
              </a:ext>
            </a:extLst>
          </p:cNvPr>
          <p:cNvSpPr>
            <a:spLocks noGrp="1"/>
          </p:cNvSpPr>
          <p:nvPr>
            <p:ph type="dt" sz="half" idx="10"/>
          </p:nvPr>
        </p:nvSpPr>
        <p:spPr/>
        <p:txBody>
          <a:bodyPr/>
          <a:lstStyle/>
          <a:p>
            <a:fld id="{8F88CBEA-576C-478D-8172-C9544090EB0B}" type="datetimeFigureOut">
              <a:rPr lang="en-AU" smtClean="0"/>
              <a:t>13/08/2018</a:t>
            </a:fld>
            <a:endParaRPr lang="en-AU"/>
          </a:p>
        </p:txBody>
      </p:sp>
      <p:sp>
        <p:nvSpPr>
          <p:cNvPr id="5" name="Footer Placeholder 4">
            <a:extLst>
              <a:ext uri="{FF2B5EF4-FFF2-40B4-BE49-F238E27FC236}">
                <a16:creationId xmlns:a16="http://schemas.microsoft.com/office/drawing/2014/main" id="{FEAFD25D-13A5-4F7F-B8D1-8A9464C2EDB6}"/>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23624E66-A494-4C30-BDB6-B8791BD26A03}"/>
              </a:ext>
            </a:extLst>
          </p:cNvPr>
          <p:cNvSpPr>
            <a:spLocks noGrp="1"/>
          </p:cNvSpPr>
          <p:nvPr>
            <p:ph type="sldNum" sz="quarter" idx="12"/>
          </p:nvPr>
        </p:nvSpPr>
        <p:spPr/>
        <p:txBody>
          <a:bodyPr/>
          <a:lstStyle/>
          <a:p>
            <a:fld id="{F83766BF-25D7-47FF-91E9-B437A137A337}" type="slidenum">
              <a:rPr lang="en-AU" smtClean="0"/>
              <a:t>‹#›</a:t>
            </a:fld>
            <a:endParaRPr lang="en-AU"/>
          </a:p>
        </p:txBody>
      </p:sp>
    </p:spTree>
    <p:extLst>
      <p:ext uri="{BB962C8B-B14F-4D97-AF65-F5344CB8AC3E}">
        <p14:creationId xmlns:p14="http://schemas.microsoft.com/office/powerpoint/2010/main" val="13276539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22A224-FF5C-4CF6-BB18-180D1B560FCD}"/>
              </a:ext>
            </a:extLst>
          </p:cNvPr>
          <p:cNvSpPr>
            <a:spLocks noGrp="1"/>
          </p:cNvSpPr>
          <p:nvPr>
            <p:ph type="title"/>
          </p:nvPr>
        </p:nvSpPr>
        <p:spPr/>
        <p:txBody>
          <a:bodyPr>
            <a:normAutofit/>
          </a:bodyPr>
          <a:lstStyle>
            <a:lvl1pPr>
              <a:defRPr sz="5400">
                <a:latin typeface="Berlin Sans FB" panose="020E0602020502020306" pitchFamily="34" charset="0"/>
              </a:defRPr>
            </a:lvl1pPr>
          </a:lstStyle>
          <a:p>
            <a:r>
              <a:rPr lang="en-US" dirty="0"/>
              <a:t>Click to edit Master title style</a:t>
            </a:r>
            <a:endParaRPr lang="en-AU" dirty="0"/>
          </a:p>
        </p:txBody>
      </p:sp>
      <p:sp>
        <p:nvSpPr>
          <p:cNvPr id="3" name="Text Placeholder 2">
            <a:extLst>
              <a:ext uri="{FF2B5EF4-FFF2-40B4-BE49-F238E27FC236}">
                <a16:creationId xmlns:a16="http://schemas.microsoft.com/office/drawing/2014/main" id="{9E781099-0C0B-4A47-8978-C5E57DDDCA8E}"/>
              </a:ext>
            </a:extLst>
          </p:cNvPr>
          <p:cNvSpPr>
            <a:spLocks noGrp="1"/>
          </p:cNvSpPr>
          <p:nvPr>
            <p:ph type="body" idx="1"/>
          </p:nvPr>
        </p:nvSpPr>
        <p:spPr/>
        <p:txBody>
          <a:bodyPr>
            <a:normAutofit/>
          </a:bodyPr>
          <a:lstStyle>
            <a:lvl1pPr>
              <a:lnSpc>
                <a:spcPct val="130000"/>
              </a:lnSpc>
              <a:defRPr sz="4000"/>
            </a:lvl1pPr>
            <a:lvl2pPr>
              <a:lnSpc>
                <a:spcPct val="130000"/>
              </a:lnSpc>
              <a:defRPr sz="3600"/>
            </a:lvl2pPr>
            <a:lvl3pPr>
              <a:lnSpc>
                <a:spcPct val="130000"/>
              </a:lnSpc>
              <a:defRPr sz="3200"/>
            </a:lvl3pPr>
            <a:lvl4pPr>
              <a:lnSpc>
                <a:spcPct val="130000"/>
              </a:lnSpc>
              <a:defRPr sz="2800"/>
            </a:lvl4pPr>
            <a:lvl5pPr>
              <a:lnSpc>
                <a:spcPct val="130000"/>
              </a:lnSpc>
              <a:defRPr sz="28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4" name="Date Placeholder 3">
            <a:extLst>
              <a:ext uri="{FF2B5EF4-FFF2-40B4-BE49-F238E27FC236}">
                <a16:creationId xmlns:a16="http://schemas.microsoft.com/office/drawing/2014/main" id="{0673E9F9-1927-440E-A982-44D3778EC1DC}"/>
              </a:ext>
            </a:extLst>
          </p:cNvPr>
          <p:cNvSpPr>
            <a:spLocks noGrp="1"/>
          </p:cNvSpPr>
          <p:nvPr>
            <p:ph type="dt" sz="half" idx="10"/>
          </p:nvPr>
        </p:nvSpPr>
        <p:spPr/>
        <p:txBody>
          <a:bodyPr/>
          <a:lstStyle/>
          <a:p>
            <a:fld id="{72D79A6D-F09A-4123-88D9-634689E98F48}" type="datetimeFigureOut">
              <a:rPr lang="en-AU" smtClean="0"/>
              <a:t>13/08/2018</a:t>
            </a:fld>
            <a:endParaRPr lang="en-AU"/>
          </a:p>
        </p:txBody>
      </p:sp>
      <p:sp>
        <p:nvSpPr>
          <p:cNvPr id="5" name="Footer Placeholder 4">
            <a:extLst>
              <a:ext uri="{FF2B5EF4-FFF2-40B4-BE49-F238E27FC236}">
                <a16:creationId xmlns:a16="http://schemas.microsoft.com/office/drawing/2014/main" id="{19265321-8D72-43D5-8D26-5EB6ED9D9558}"/>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1F1A0D59-CFFF-483A-B74C-347B57556941}"/>
              </a:ext>
            </a:extLst>
          </p:cNvPr>
          <p:cNvSpPr>
            <a:spLocks noGrp="1"/>
          </p:cNvSpPr>
          <p:nvPr>
            <p:ph type="sldNum" sz="quarter" idx="12"/>
          </p:nvPr>
        </p:nvSpPr>
        <p:spPr/>
        <p:txBody>
          <a:bodyPr/>
          <a:lstStyle/>
          <a:p>
            <a:fld id="{726BCFE0-59B6-4700-B63F-E1CBBF854944}" type="slidenum">
              <a:rPr lang="en-AU" smtClean="0"/>
              <a:t>‹#›</a:t>
            </a:fld>
            <a:endParaRPr lang="en-AU"/>
          </a:p>
        </p:txBody>
      </p:sp>
    </p:spTree>
    <p:extLst>
      <p:ext uri="{BB962C8B-B14F-4D97-AF65-F5344CB8AC3E}">
        <p14:creationId xmlns:p14="http://schemas.microsoft.com/office/powerpoint/2010/main" val="25312169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alphaModFix amt="35000"/>
            <a:lum/>
          </a:blip>
          <a:srcRect/>
          <a:stretch>
            <a:fillRect t="-6000" b="-6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975150A-7831-4F16-81E2-15720C3B7D4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1FC09F38-BC8A-4803-84AF-404E4E3ADBF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2636279E-3EBF-455A-8A14-27981F8EA0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88CBEA-576C-478D-8172-C9544090EB0B}" type="datetimeFigureOut">
              <a:rPr lang="en-AU" smtClean="0"/>
              <a:t>13/08/2018</a:t>
            </a:fld>
            <a:endParaRPr lang="en-AU"/>
          </a:p>
        </p:txBody>
      </p:sp>
      <p:sp>
        <p:nvSpPr>
          <p:cNvPr id="5" name="Footer Placeholder 4">
            <a:extLst>
              <a:ext uri="{FF2B5EF4-FFF2-40B4-BE49-F238E27FC236}">
                <a16:creationId xmlns:a16="http://schemas.microsoft.com/office/drawing/2014/main" id="{E9F6FC32-38EB-4E2D-A07C-B77428EB107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57569B6C-E94F-4801-844F-1BF50E8F7D4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83766BF-25D7-47FF-91E9-B437A137A337}" type="slidenum">
              <a:rPr lang="en-AU" smtClean="0"/>
              <a:t>‹#›</a:t>
            </a:fld>
            <a:endParaRPr lang="en-AU"/>
          </a:p>
        </p:txBody>
      </p:sp>
    </p:spTree>
    <p:extLst>
      <p:ext uri="{BB962C8B-B14F-4D97-AF65-F5344CB8AC3E}">
        <p14:creationId xmlns:p14="http://schemas.microsoft.com/office/powerpoint/2010/main" val="3568213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2.xml"/><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CFA42A3-8B04-4FF9-9049-81EC4627081B}"/>
              </a:ext>
            </a:extLst>
          </p:cNvPr>
          <p:cNvSpPr>
            <a:spLocks noGrp="1"/>
          </p:cNvSpPr>
          <p:nvPr>
            <p:ph type="ctrTitle"/>
          </p:nvPr>
        </p:nvSpPr>
        <p:spPr/>
        <p:txBody>
          <a:bodyPr>
            <a:normAutofit fontScale="90000"/>
          </a:bodyPr>
          <a:lstStyle/>
          <a:p>
            <a:r>
              <a:rPr lang="en-US" sz="8800" b="1" dirty="0">
                <a:ln w="28575">
                  <a:solidFill>
                    <a:schemeClr val="accent6">
                      <a:lumMod val="50000"/>
                    </a:schemeClr>
                  </a:solidFill>
                  <a:prstDash val="solid"/>
                </a:ln>
                <a:pattFill prst="wdDnDiag">
                  <a:fgClr>
                    <a:schemeClr val="accent6">
                      <a:lumMod val="75000"/>
                    </a:schemeClr>
                  </a:fgClr>
                  <a:bgClr>
                    <a:schemeClr val="accent6">
                      <a:lumMod val="20000"/>
                      <a:lumOff val="80000"/>
                    </a:schemeClr>
                  </a:bgClr>
                </a:pattFill>
                <a:effectLst>
                  <a:outerShdw dist="38100" dir="2640000" algn="bl" rotWithShape="0">
                    <a:schemeClr val="tx2">
                      <a:lumMod val="75000"/>
                    </a:schemeClr>
                  </a:outerShdw>
                </a:effectLst>
                <a:latin typeface="Broadway" panose="04040905080002020502" pitchFamily="82" charset="0"/>
              </a:rPr>
              <a:t>Documentary </a:t>
            </a:r>
            <a:br>
              <a:rPr lang="en-US" sz="8800" b="1" dirty="0">
                <a:ln w="28575">
                  <a:solidFill>
                    <a:schemeClr val="accent6">
                      <a:lumMod val="50000"/>
                    </a:schemeClr>
                  </a:solidFill>
                  <a:prstDash val="solid"/>
                </a:ln>
                <a:pattFill prst="wdDnDiag">
                  <a:fgClr>
                    <a:schemeClr val="accent6">
                      <a:lumMod val="75000"/>
                    </a:schemeClr>
                  </a:fgClr>
                  <a:bgClr>
                    <a:schemeClr val="accent6">
                      <a:lumMod val="20000"/>
                      <a:lumOff val="80000"/>
                    </a:schemeClr>
                  </a:bgClr>
                </a:pattFill>
                <a:effectLst>
                  <a:outerShdw dist="38100" dir="2640000" algn="bl" rotWithShape="0">
                    <a:schemeClr val="tx2">
                      <a:lumMod val="75000"/>
                    </a:schemeClr>
                  </a:outerShdw>
                </a:effectLst>
                <a:latin typeface="Broadway" panose="04040905080002020502" pitchFamily="82" charset="0"/>
              </a:rPr>
            </a:br>
            <a:r>
              <a:rPr lang="en-US" sz="8800" b="1" dirty="0">
                <a:ln w="28575">
                  <a:solidFill>
                    <a:schemeClr val="accent6">
                      <a:lumMod val="50000"/>
                    </a:schemeClr>
                  </a:solidFill>
                  <a:prstDash val="solid"/>
                </a:ln>
                <a:pattFill prst="wdDnDiag">
                  <a:fgClr>
                    <a:schemeClr val="accent6">
                      <a:lumMod val="75000"/>
                    </a:schemeClr>
                  </a:fgClr>
                  <a:bgClr>
                    <a:schemeClr val="accent6">
                      <a:lumMod val="20000"/>
                      <a:lumOff val="80000"/>
                    </a:schemeClr>
                  </a:bgClr>
                </a:pattFill>
                <a:effectLst>
                  <a:outerShdw dist="38100" dir="2640000" algn="bl" rotWithShape="0">
                    <a:schemeClr val="tx2">
                      <a:lumMod val="75000"/>
                    </a:schemeClr>
                  </a:outerShdw>
                </a:effectLst>
                <a:latin typeface="Broadway" panose="04040905080002020502" pitchFamily="82" charset="0"/>
              </a:rPr>
              <a:t>Study</a:t>
            </a:r>
            <a:endParaRPr lang="en-AU" sz="8800" dirty="0">
              <a:ln>
                <a:solidFill>
                  <a:schemeClr val="accent6">
                    <a:lumMod val="50000"/>
                  </a:schemeClr>
                </a:solidFill>
              </a:ln>
              <a:pattFill prst="wdDnDiag">
                <a:fgClr>
                  <a:schemeClr val="accent6">
                    <a:lumMod val="75000"/>
                  </a:schemeClr>
                </a:fgClr>
                <a:bgClr>
                  <a:schemeClr val="accent6">
                    <a:lumMod val="20000"/>
                    <a:lumOff val="80000"/>
                  </a:schemeClr>
                </a:bgClr>
              </a:pattFill>
            </a:endParaRPr>
          </a:p>
        </p:txBody>
      </p:sp>
      <p:sp>
        <p:nvSpPr>
          <p:cNvPr id="5" name="Subtitle 4">
            <a:extLst>
              <a:ext uri="{FF2B5EF4-FFF2-40B4-BE49-F238E27FC236}">
                <a16:creationId xmlns:a16="http://schemas.microsoft.com/office/drawing/2014/main" id="{DCC3FAC3-DC2D-44EF-9445-FBB09CEC60F9}"/>
              </a:ext>
            </a:extLst>
          </p:cNvPr>
          <p:cNvSpPr>
            <a:spLocks noGrp="1"/>
          </p:cNvSpPr>
          <p:nvPr>
            <p:ph type="subTitle" idx="1"/>
          </p:nvPr>
        </p:nvSpPr>
        <p:spPr/>
        <p:txBody>
          <a:bodyPr>
            <a:normAutofit/>
          </a:bodyPr>
          <a:lstStyle/>
          <a:p>
            <a:r>
              <a:rPr lang="en-AU" sz="3200" dirty="0"/>
              <a:t>Year 12 English</a:t>
            </a:r>
          </a:p>
          <a:p>
            <a:r>
              <a:rPr lang="en-AU" sz="3200" dirty="0"/>
              <a:t>General Course </a:t>
            </a:r>
          </a:p>
        </p:txBody>
      </p:sp>
    </p:spTree>
    <p:extLst>
      <p:ext uri="{BB962C8B-B14F-4D97-AF65-F5344CB8AC3E}">
        <p14:creationId xmlns:p14="http://schemas.microsoft.com/office/powerpoint/2010/main" val="13405999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F345E-A479-40A7-8F6F-E53BEC5CB2FC}"/>
              </a:ext>
            </a:extLst>
          </p:cNvPr>
          <p:cNvSpPr>
            <a:spLocks noGrp="1"/>
          </p:cNvSpPr>
          <p:nvPr>
            <p:ph type="title"/>
          </p:nvPr>
        </p:nvSpPr>
        <p:spPr/>
        <p:txBody>
          <a:bodyPr/>
          <a:lstStyle/>
          <a:p>
            <a:r>
              <a:rPr lang="en-AU" dirty="0"/>
              <a:t>Lesson 1</a:t>
            </a:r>
          </a:p>
        </p:txBody>
      </p:sp>
      <p:sp>
        <p:nvSpPr>
          <p:cNvPr id="3" name="Content Placeholder 2">
            <a:extLst>
              <a:ext uri="{FF2B5EF4-FFF2-40B4-BE49-F238E27FC236}">
                <a16:creationId xmlns:a16="http://schemas.microsoft.com/office/drawing/2014/main" id="{0DBBCA90-E25B-4F41-95CB-3F84047E5F4A}"/>
              </a:ext>
            </a:extLst>
          </p:cNvPr>
          <p:cNvSpPr>
            <a:spLocks noGrp="1"/>
          </p:cNvSpPr>
          <p:nvPr>
            <p:ph idx="1"/>
          </p:nvPr>
        </p:nvSpPr>
        <p:spPr/>
        <p:txBody>
          <a:bodyPr/>
          <a:lstStyle/>
          <a:p>
            <a:r>
              <a:rPr lang="en-AU" dirty="0"/>
              <a:t>Learning Intentions</a:t>
            </a:r>
          </a:p>
          <a:p>
            <a:pPr lvl="1"/>
            <a:r>
              <a:rPr lang="en-AU" dirty="0"/>
              <a:t>To explore the topic: “Health”</a:t>
            </a:r>
          </a:p>
          <a:p>
            <a:pPr lvl="1"/>
            <a:r>
              <a:rPr lang="en-AU" dirty="0"/>
              <a:t>To revisit the nature of a documentary</a:t>
            </a:r>
          </a:p>
          <a:p>
            <a:r>
              <a:rPr lang="en-AU" dirty="0"/>
              <a:t>Success Criteria</a:t>
            </a:r>
          </a:p>
          <a:p>
            <a:pPr lvl="1"/>
            <a:r>
              <a:rPr lang="en-AU" dirty="0"/>
              <a:t>Completed pre-viewing questions</a:t>
            </a:r>
          </a:p>
        </p:txBody>
      </p:sp>
    </p:spTree>
    <p:extLst>
      <p:ext uri="{BB962C8B-B14F-4D97-AF65-F5344CB8AC3E}">
        <p14:creationId xmlns:p14="http://schemas.microsoft.com/office/powerpoint/2010/main" val="3273551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85972-38F9-4739-82F2-85C41AA992E9}"/>
              </a:ext>
            </a:extLst>
          </p:cNvPr>
          <p:cNvSpPr>
            <a:spLocks noGrp="1"/>
          </p:cNvSpPr>
          <p:nvPr>
            <p:ph type="title"/>
          </p:nvPr>
        </p:nvSpPr>
        <p:spPr/>
        <p:txBody>
          <a:bodyPr/>
          <a:lstStyle/>
          <a:p>
            <a:r>
              <a:rPr lang="en-AU" dirty="0"/>
              <a:t>Lesson 1 Activities</a:t>
            </a:r>
          </a:p>
        </p:txBody>
      </p:sp>
      <p:sp>
        <p:nvSpPr>
          <p:cNvPr id="3" name="Content Placeholder 2">
            <a:extLst>
              <a:ext uri="{FF2B5EF4-FFF2-40B4-BE49-F238E27FC236}">
                <a16:creationId xmlns:a16="http://schemas.microsoft.com/office/drawing/2014/main" id="{4EED4BE4-ABFE-4CD4-AC4C-1A6835855C9B}"/>
              </a:ext>
            </a:extLst>
          </p:cNvPr>
          <p:cNvSpPr>
            <a:spLocks noGrp="1"/>
          </p:cNvSpPr>
          <p:nvPr>
            <p:ph idx="1"/>
          </p:nvPr>
        </p:nvSpPr>
        <p:spPr/>
        <p:txBody>
          <a:bodyPr>
            <a:normAutofit fontScale="77500" lnSpcReduction="20000"/>
          </a:bodyPr>
          <a:lstStyle/>
          <a:p>
            <a:r>
              <a:rPr lang="en-AU" dirty="0"/>
              <a:t>Pair Work</a:t>
            </a:r>
          </a:p>
          <a:p>
            <a:pPr lvl="1"/>
            <a:r>
              <a:rPr lang="en-AU" dirty="0"/>
              <a:t>Discuss Questions 1-3 in the handout</a:t>
            </a:r>
          </a:p>
          <a:p>
            <a:pPr lvl="1"/>
            <a:r>
              <a:rPr lang="en-AU" dirty="0"/>
              <a:t>Respond to the questions in writing</a:t>
            </a:r>
          </a:p>
          <a:p>
            <a:r>
              <a:rPr lang="en-AU" dirty="0"/>
              <a:t>Individual work</a:t>
            </a:r>
          </a:p>
          <a:p>
            <a:pPr lvl="1"/>
            <a:r>
              <a:rPr lang="en-AU" dirty="0"/>
              <a:t>Brainstorm the concept of Sugar</a:t>
            </a:r>
          </a:p>
          <a:p>
            <a:r>
              <a:rPr lang="en-AU" dirty="0"/>
              <a:t>Class work</a:t>
            </a:r>
          </a:p>
          <a:p>
            <a:pPr lvl="1"/>
            <a:r>
              <a:rPr lang="en-AU" dirty="0"/>
              <a:t>Attend to the information on documentaries</a:t>
            </a:r>
          </a:p>
          <a:p>
            <a:pPr lvl="1"/>
            <a:r>
              <a:rPr lang="en-AU" dirty="0"/>
              <a:t>Respond to questions 5-7 in the handout.</a:t>
            </a:r>
          </a:p>
        </p:txBody>
      </p:sp>
    </p:spTree>
    <p:extLst>
      <p:ext uri="{BB962C8B-B14F-4D97-AF65-F5344CB8AC3E}">
        <p14:creationId xmlns:p14="http://schemas.microsoft.com/office/powerpoint/2010/main" val="24049670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AF3051D2-6BCE-41D8-88CF-E49D3264E3EA}"/>
              </a:ext>
            </a:extLst>
          </p:cNvPr>
          <p:cNvSpPr>
            <a:spLocks noGrp="1"/>
          </p:cNvSpPr>
          <p:nvPr>
            <p:ph type="body" idx="1"/>
          </p:nvPr>
        </p:nvSpPr>
        <p:spPr/>
        <p:txBody>
          <a:bodyPr/>
          <a:lstStyle/>
          <a:p>
            <a:r>
              <a:rPr lang="en-US" dirty="0"/>
              <a:t>Year 12 English</a:t>
            </a:r>
          </a:p>
          <a:p>
            <a:r>
              <a:rPr lang="en-US" dirty="0"/>
              <a:t>General Course</a:t>
            </a:r>
            <a:endParaRPr lang="en-AU" dirty="0"/>
          </a:p>
        </p:txBody>
      </p:sp>
      <p:sp>
        <p:nvSpPr>
          <p:cNvPr id="4" name="Rectangle 3">
            <a:extLst>
              <a:ext uri="{FF2B5EF4-FFF2-40B4-BE49-F238E27FC236}">
                <a16:creationId xmlns:a16="http://schemas.microsoft.com/office/drawing/2014/main" id="{7BDB3F8F-9859-4CF9-A6E9-1CEFDD12D5E7}"/>
              </a:ext>
            </a:extLst>
          </p:cNvPr>
          <p:cNvSpPr/>
          <p:nvPr/>
        </p:nvSpPr>
        <p:spPr>
          <a:xfrm>
            <a:off x="1229828" y="745043"/>
            <a:ext cx="9732344" cy="3046988"/>
          </a:xfrm>
          <a:prstGeom prst="rect">
            <a:avLst/>
          </a:prstGeom>
          <a:noFill/>
        </p:spPr>
        <p:txBody>
          <a:bodyPr wrap="none" lIns="91440" tIns="45720" rIns="91440" bIns="45720">
            <a:spAutoFit/>
          </a:bodyPr>
          <a:lstStyle/>
          <a:p>
            <a:pPr algn="ctr"/>
            <a:r>
              <a:rPr lang="en-US" sz="9600" b="1" cap="none" spc="0" dirty="0">
                <a:ln w="28575">
                  <a:solidFill>
                    <a:schemeClr val="tx2">
                      <a:lumMod val="75000"/>
                    </a:schemeClr>
                  </a:solidFill>
                  <a:prstDash val="solid"/>
                </a:ln>
                <a:pattFill prst="dkUpDiag">
                  <a:fgClr>
                    <a:schemeClr val="accent6">
                      <a:lumMod val="75000"/>
                    </a:schemeClr>
                  </a:fgClr>
                  <a:bgClr>
                    <a:schemeClr val="bg1"/>
                  </a:bgClr>
                </a:pattFill>
                <a:effectLst>
                  <a:outerShdw dist="38100" dir="2640000" algn="bl" rotWithShape="0">
                    <a:schemeClr val="tx2">
                      <a:lumMod val="75000"/>
                    </a:schemeClr>
                  </a:outerShdw>
                </a:effectLst>
                <a:latin typeface="Broadway" panose="04040905080002020502" pitchFamily="82" charset="0"/>
              </a:rPr>
              <a:t>Documentary </a:t>
            </a:r>
          </a:p>
          <a:p>
            <a:pPr algn="ctr"/>
            <a:r>
              <a:rPr lang="en-US" sz="9600" b="1" cap="none" spc="0" dirty="0">
                <a:ln w="28575">
                  <a:solidFill>
                    <a:schemeClr val="tx2">
                      <a:lumMod val="75000"/>
                    </a:schemeClr>
                  </a:solidFill>
                  <a:prstDash val="solid"/>
                </a:ln>
                <a:pattFill prst="dkUpDiag">
                  <a:fgClr>
                    <a:schemeClr val="accent6">
                      <a:lumMod val="75000"/>
                    </a:schemeClr>
                  </a:fgClr>
                  <a:bgClr>
                    <a:schemeClr val="bg1"/>
                  </a:bgClr>
                </a:pattFill>
                <a:effectLst>
                  <a:outerShdw dist="38100" dir="2640000" algn="bl" rotWithShape="0">
                    <a:schemeClr val="tx2">
                      <a:lumMod val="75000"/>
                    </a:schemeClr>
                  </a:outerShdw>
                </a:effectLst>
                <a:latin typeface="Broadway" panose="04040905080002020502" pitchFamily="82" charset="0"/>
              </a:rPr>
              <a:t>Conventions</a:t>
            </a:r>
            <a:endParaRPr lang="en-AU" sz="9600" b="1" cap="none" spc="0" dirty="0">
              <a:ln w="28575">
                <a:solidFill>
                  <a:schemeClr val="tx2">
                    <a:lumMod val="75000"/>
                  </a:schemeClr>
                </a:solidFill>
                <a:prstDash val="solid"/>
              </a:ln>
              <a:pattFill prst="dkUpDiag">
                <a:fgClr>
                  <a:schemeClr val="accent6">
                    <a:lumMod val="75000"/>
                  </a:schemeClr>
                </a:fgClr>
                <a:bgClr>
                  <a:schemeClr val="bg1"/>
                </a:bgClr>
              </a:pattFill>
              <a:effectLst>
                <a:outerShdw dist="38100" dir="2640000" algn="bl" rotWithShape="0">
                  <a:schemeClr val="tx2">
                    <a:lumMod val="75000"/>
                  </a:schemeClr>
                </a:outerShdw>
              </a:effectLst>
            </a:endParaRPr>
          </a:p>
        </p:txBody>
      </p:sp>
    </p:spTree>
    <p:extLst>
      <p:ext uri="{BB962C8B-B14F-4D97-AF65-F5344CB8AC3E}">
        <p14:creationId xmlns:p14="http://schemas.microsoft.com/office/powerpoint/2010/main" val="16563084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61A33-2949-47E3-9003-99362CDCFF48}"/>
              </a:ext>
            </a:extLst>
          </p:cNvPr>
          <p:cNvSpPr>
            <a:spLocks noGrp="1"/>
          </p:cNvSpPr>
          <p:nvPr>
            <p:ph type="title"/>
          </p:nvPr>
        </p:nvSpPr>
        <p:spPr/>
        <p:txBody>
          <a:bodyPr/>
          <a:lstStyle/>
          <a:p>
            <a:pPr marR="0" rtl="0"/>
            <a:r>
              <a:rPr lang="en-AU" dirty="0"/>
              <a:t>Symbolic	</a:t>
            </a:r>
          </a:p>
        </p:txBody>
      </p:sp>
      <p:sp>
        <p:nvSpPr>
          <p:cNvPr id="3" name="Text Placeholder 2">
            <a:extLst>
              <a:ext uri="{FF2B5EF4-FFF2-40B4-BE49-F238E27FC236}">
                <a16:creationId xmlns:a16="http://schemas.microsoft.com/office/drawing/2014/main" id="{0F85FB8F-68E5-4744-A249-39665F2DC36E}"/>
              </a:ext>
            </a:extLst>
          </p:cNvPr>
          <p:cNvSpPr>
            <a:spLocks noGrp="1"/>
          </p:cNvSpPr>
          <p:nvPr>
            <p:ph type="body" idx="1"/>
          </p:nvPr>
        </p:nvSpPr>
        <p:spPr/>
        <p:txBody>
          <a:bodyPr>
            <a:normAutofit fontScale="77500" lnSpcReduction="20000"/>
          </a:bodyPr>
          <a:lstStyle/>
          <a:p>
            <a:pPr marR="0" lvl="0" rtl="0"/>
            <a:r>
              <a:rPr lang="en-AU" dirty="0"/>
              <a:t>Symbols are used to imply meaning that can subtly reinforce the filmmaker’s ideas. Examples of symbolic codes include:</a:t>
            </a:r>
          </a:p>
          <a:p>
            <a:pPr marR="0" lvl="1" rtl="0"/>
            <a:r>
              <a:rPr lang="en-AU" dirty="0"/>
              <a:t>setting</a:t>
            </a:r>
          </a:p>
          <a:p>
            <a:pPr marR="0" lvl="1" rtl="0"/>
            <a:r>
              <a:rPr lang="en-AU" dirty="0"/>
              <a:t>objects</a:t>
            </a:r>
          </a:p>
          <a:p>
            <a:pPr marR="0" lvl="1" rtl="0"/>
            <a:r>
              <a:rPr lang="en-AU" dirty="0"/>
              <a:t>lighting</a:t>
            </a:r>
          </a:p>
          <a:p>
            <a:pPr marR="0" lvl="1" rtl="0"/>
            <a:r>
              <a:rPr lang="en-AU" dirty="0"/>
              <a:t>colours</a:t>
            </a:r>
          </a:p>
          <a:p>
            <a:pPr marR="0" lvl="1" rtl="0"/>
            <a:r>
              <a:rPr lang="en-AU" dirty="0"/>
              <a:t>signs.</a:t>
            </a:r>
          </a:p>
        </p:txBody>
      </p:sp>
      <p:pic>
        <p:nvPicPr>
          <p:cNvPr id="1026" name="Picture 2" descr="Image result for symbolic codes">
            <a:extLst>
              <a:ext uri="{FF2B5EF4-FFF2-40B4-BE49-F238E27FC236}">
                <a16:creationId xmlns:a16="http://schemas.microsoft.com/office/drawing/2014/main" id="{06E27F02-4853-48B0-90FD-59934AB0BA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66348" y="2861614"/>
            <a:ext cx="5000625" cy="36312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47682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216CC-6831-4015-AED9-458B27987583}"/>
              </a:ext>
            </a:extLst>
          </p:cNvPr>
          <p:cNvSpPr>
            <a:spLocks noGrp="1"/>
          </p:cNvSpPr>
          <p:nvPr>
            <p:ph type="title"/>
          </p:nvPr>
        </p:nvSpPr>
        <p:spPr/>
        <p:txBody>
          <a:bodyPr/>
          <a:lstStyle/>
          <a:p>
            <a:pPr marR="0" rtl="0"/>
            <a:r>
              <a:rPr lang="en-AU" dirty="0"/>
              <a:t>Written</a:t>
            </a:r>
          </a:p>
        </p:txBody>
      </p:sp>
      <p:sp>
        <p:nvSpPr>
          <p:cNvPr id="3" name="Text Placeholder 2">
            <a:extLst>
              <a:ext uri="{FF2B5EF4-FFF2-40B4-BE49-F238E27FC236}">
                <a16:creationId xmlns:a16="http://schemas.microsoft.com/office/drawing/2014/main" id="{B9EF28E4-4A9C-4718-9668-BF6DEE74EFC4}"/>
              </a:ext>
            </a:extLst>
          </p:cNvPr>
          <p:cNvSpPr>
            <a:spLocks noGrp="1"/>
          </p:cNvSpPr>
          <p:nvPr>
            <p:ph type="body" idx="1"/>
          </p:nvPr>
        </p:nvSpPr>
        <p:spPr>
          <a:xfrm>
            <a:off x="838200" y="2055813"/>
            <a:ext cx="10515600" cy="4351338"/>
          </a:xfrm>
        </p:spPr>
        <p:txBody>
          <a:bodyPr>
            <a:normAutofit fontScale="85000" lnSpcReduction="10000"/>
          </a:bodyPr>
          <a:lstStyle/>
          <a:p>
            <a:pPr marR="0" lvl="0" rtl="0"/>
            <a:r>
              <a:rPr lang="en-AU" dirty="0"/>
              <a:t>The most common uses of written codes in documentaries are:</a:t>
            </a:r>
          </a:p>
          <a:p>
            <a:pPr lvl="1"/>
            <a:r>
              <a:rPr lang="en-AU" dirty="0"/>
              <a:t>captions which indicate place, time, names, titles and roles</a:t>
            </a:r>
          </a:p>
          <a:p>
            <a:pPr lvl="1"/>
            <a:r>
              <a:rPr lang="en-AU" dirty="0"/>
              <a:t>highlighted or enlarged passages from texts which are used as evidence</a:t>
            </a:r>
          </a:p>
          <a:p>
            <a:pPr lvl="1"/>
            <a:r>
              <a:rPr lang="en-AU" dirty="0"/>
              <a:t>key words or sentences displayed on the screen by the filmmaker to reinforce a point or idea.</a:t>
            </a:r>
          </a:p>
        </p:txBody>
      </p:sp>
      <p:pic>
        <p:nvPicPr>
          <p:cNvPr id="5" name="Picture 4">
            <a:extLst>
              <a:ext uri="{FF2B5EF4-FFF2-40B4-BE49-F238E27FC236}">
                <a16:creationId xmlns:a16="http://schemas.microsoft.com/office/drawing/2014/main" id="{74BC273D-F35A-4D6A-B82E-35F28635EBF4}"/>
              </a:ext>
            </a:extLst>
          </p:cNvPr>
          <p:cNvPicPr>
            <a:picLocks noChangeAspect="1"/>
          </p:cNvPicPr>
          <p:nvPr/>
        </p:nvPicPr>
        <p:blipFill>
          <a:blip r:embed="rId2"/>
          <a:stretch>
            <a:fillRect/>
          </a:stretch>
        </p:blipFill>
        <p:spPr>
          <a:xfrm>
            <a:off x="7152270" y="0"/>
            <a:ext cx="4914440" cy="2166425"/>
          </a:xfrm>
          <a:prstGeom prst="rect">
            <a:avLst/>
          </a:prstGeom>
          <a:ln>
            <a:noFill/>
          </a:ln>
          <a:effectLst>
            <a:softEdge rad="112500"/>
          </a:effectLst>
        </p:spPr>
      </p:pic>
    </p:spTree>
    <p:extLst>
      <p:ext uri="{BB962C8B-B14F-4D97-AF65-F5344CB8AC3E}">
        <p14:creationId xmlns:p14="http://schemas.microsoft.com/office/powerpoint/2010/main" val="8159388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05F7F-302C-4A04-BF1E-FC867611249D}"/>
              </a:ext>
            </a:extLst>
          </p:cNvPr>
          <p:cNvSpPr>
            <a:spLocks noGrp="1"/>
          </p:cNvSpPr>
          <p:nvPr>
            <p:ph type="title"/>
          </p:nvPr>
        </p:nvSpPr>
        <p:spPr/>
        <p:txBody>
          <a:bodyPr/>
          <a:lstStyle/>
          <a:p>
            <a:pPr marR="0" rtl="0"/>
            <a:r>
              <a:rPr lang="en-AU"/>
              <a:t>Audio	</a:t>
            </a:r>
          </a:p>
        </p:txBody>
      </p:sp>
      <p:sp>
        <p:nvSpPr>
          <p:cNvPr id="3" name="Text Placeholder 2">
            <a:extLst>
              <a:ext uri="{FF2B5EF4-FFF2-40B4-BE49-F238E27FC236}">
                <a16:creationId xmlns:a16="http://schemas.microsoft.com/office/drawing/2014/main" id="{9503F508-2225-4C05-856C-F9008A24D04E}"/>
              </a:ext>
            </a:extLst>
          </p:cNvPr>
          <p:cNvSpPr>
            <a:spLocks noGrp="1"/>
          </p:cNvSpPr>
          <p:nvPr>
            <p:ph type="body" idx="1"/>
          </p:nvPr>
        </p:nvSpPr>
        <p:spPr>
          <a:xfrm>
            <a:off x="5500468" y="376017"/>
            <a:ext cx="6228470" cy="6116857"/>
          </a:xfrm>
        </p:spPr>
        <p:txBody>
          <a:bodyPr>
            <a:normAutofit lnSpcReduction="10000"/>
          </a:bodyPr>
          <a:lstStyle/>
          <a:p>
            <a:pPr marR="0" lvl="0" rtl="0"/>
            <a:r>
              <a:rPr lang="en-AU" dirty="0"/>
              <a:t>Many different types of audio are used in documentaries including:</a:t>
            </a:r>
          </a:p>
          <a:p>
            <a:pPr lvl="1"/>
            <a:r>
              <a:rPr lang="en-AU" dirty="0"/>
              <a:t>voice-overs</a:t>
            </a:r>
          </a:p>
          <a:p>
            <a:pPr lvl="1"/>
            <a:r>
              <a:rPr lang="en-AU" dirty="0"/>
              <a:t>interviews</a:t>
            </a:r>
          </a:p>
          <a:p>
            <a:pPr lvl="1"/>
            <a:r>
              <a:rPr lang="en-AU" dirty="0"/>
              <a:t>music for mood or to heighten emotions </a:t>
            </a:r>
          </a:p>
          <a:p>
            <a:pPr lvl="1"/>
            <a:r>
              <a:rPr lang="en-AU" dirty="0"/>
              <a:t>ambient sounds.</a:t>
            </a:r>
          </a:p>
        </p:txBody>
      </p:sp>
      <p:pic>
        <p:nvPicPr>
          <p:cNvPr id="3074" name="Picture 2" descr="Image result for voice over">
            <a:extLst>
              <a:ext uri="{FF2B5EF4-FFF2-40B4-BE49-F238E27FC236}">
                <a16:creationId xmlns:a16="http://schemas.microsoft.com/office/drawing/2014/main" id="{0C0CE54D-84AB-4C4A-A1D0-1F92C6A408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802" y="1825625"/>
            <a:ext cx="5097058" cy="2880946"/>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16237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E9CC28E-8278-4A05-98DC-FB231D8043A0}"/>
              </a:ext>
            </a:extLst>
          </p:cNvPr>
          <p:cNvPicPr>
            <a:picLocks noChangeAspect="1"/>
          </p:cNvPicPr>
          <p:nvPr/>
        </p:nvPicPr>
        <p:blipFill>
          <a:blip r:embed="rId2"/>
          <a:stretch>
            <a:fillRect/>
          </a:stretch>
        </p:blipFill>
        <p:spPr>
          <a:xfrm>
            <a:off x="838200" y="5122800"/>
            <a:ext cx="2045357" cy="1735200"/>
          </a:xfrm>
          <a:prstGeom prst="rect">
            <a:avLst/>
          </a:prstGeom>
          <a:ln>
            <a:noFill/>
          </a:ln>
          <a:effectLst>
            <a:softEdge rad="112500"/>
          </a:effectLst>
        </p:spPr>
      </p:pic>
      <p:pic>
        <p:nvPicPr>
          <p:cNvPr id="8" name="Picture 7">
            <a:extLst>
              <a:ext uri="{FF2B5EF4-FFF2-40B4-BE49-F238E27FC236}">
                <a16:creationId xmlns:a16="http://schemas.microsoft.com/office/drawing/2014/main" id="{15EF8867-E7C5-4682-AA8A-AE0C3AA68197}"/>
              </a:ext>
            </a:extLst>
          </p:cNvPr>
          <p:cNvPicPr>
            <a:picLocks noChangeAspect="1"/>
          </p:cNvPicPr>
          <p:nvPr/>
        </p:nvPicPr>
        <p:blipFill>
          <a:blip r:embed="rId3"/>
          <a:stretch>
            <a:fillRect/>
          </a:stretch>
        </p:blipFill>
        <p:spPr>
          <a:xfrm>
            <a:off x="3721970" y="5122800"/>
            <a:ext cx="3790042" cy="1735200"/>
          </a:xfrm>
          <a:prstGeom prst="rect">
            <a:avLst/>
          </a:prstGeom>
          <a:ln>
            <a:noFill/>
          </a:ln>
          <a:effectLst>
            <a:softEdge rad="112500"/>
          </a:effectLst>
        </p:spPr>
      </p:pic>
      <p:sp>
        <p:nvSpPr>
          <p:cNvPr id="2" name="Title 1">
            <a:extLst>
              <a:ext uri="{FF2B5EF4-FFF2-40B4-BE49-F238E27FC236}">
                <a16:creationId xmlns:a16="http://schemas.microsoft.com/office/drawing/2014/main" id="{C9B4A993-24E6-4AE5-92BA-E6644F79E016}"/>
              </a:ext>
            </a:extLst>
          </p:cNvPr>
          <p:cNvSpPr>
            <a:spLocks noGrp="1"/>
          </p:cNvSpPr>
          <p:nvPr>
            <p:ph type="title"/>
          </p:nvPr>
        </p:nvSpPr>
        <p:spPr/>
        <p:txBody>
          <a:bodyPr/>
          <a:lstStyle/>
          <a:p>
            <a:pPr marR="0" rtl="0"/>
            <a:r>
              <a:rPr lang="en-AU" dirty="0"/>
              <a:t>Technical</a:t>
            </a:r>
          </a:p>
        </p:txBody>
      </p:sp>
      <p:sp>
        <p:nvSpPr>
          <p:cNvPr id="3" name="Text Placeholder 2">
            <a:extLst>
              <a:ext uri="{FF2B5EF4-FFF2-40B4-BE49-F238E27FC236}">
                <a16:creationId xmlns:a16="http://schemas.microsoft.com/office/drawing/2014/main" id="{CE26261F-7E9A-42F1-8C94-88A65145C0E3}"/>
              </a:ext>
            </a:extLst>
          </p:cNvPr>
          <p:cNvSpPr>
            <a:spLocks noGrp="1"/>
          </p:cNvSpPr>
          <p:nvPr>
            <p:ph type="body" idx="1"/>
          </p:nvPr>
        </p:nvSpPr>
        <p:spPr>
          <a:xfrm>
            <a:off x="838200" y="1448972"/>
            <a:ext cx="8108852" cy="4727991"/>
          </a:xfrm>
        </p:spPr>
        <p:txBody>
          <a:bodyPr>
            <a:normAutofit fontScale="70000" lnSpcReduction="20000"/>
          </a:bodyPr>
          <a:lstStyle/>
          <a:p>
            <a:pPr marR="0" lvl="0" rtl="0"/>
            <a:r>
              <a:rPr lang="en-AU" dirty="0"/>
              <a:t>Probably the most important technical code used in a documentary is editing because it:</a:t>
            </a:r>
          </a:p>
          <a:p>
            <a:pPr lvl="1"/>
            <a:r>
              <a:rPr lang="en-AU" dirty="0"/>
              <a:t>structures the information and images, thereby dictating the order in which we receive information</a:t>
            </a:r>
          </a:p>
          <a:p>
            <a:pPr lvl="1"/>
            <a:r>
              <a:rPr lang="en-AU" dirty="0"/>
              <a:t>selects details that are considered relevant by the filmmaker and excludes details that are not considered relevant or which may undermine the filmmaker’s ideas</a:t>
            </a:r>
          </a:p>
          <a:p>
            <a:pPr lvl="1"/>
            <a:r>
              <a:rPr lang="en-AU" dirty="0"/>
              <a:t>may juxtapose images and information in a way that creates a new meaning.</a:t>
            </a:r>
          </a:p>
        </p:txBody>
      </p:sp>
      <p:pic>
        <p:nvPicPr>
          <p:cNvPr id="5" name="Picture 4">
            <a:extLst>
              <a:ext uri="{FF2B5EF4-FFF2-40B4-BE49-F238E27FC236}">
                <a16:creationId xmlns:a16="http://schemas.microsoft.com/office/drawing/2014/main" id="{F1D4022F-C579-4945-B6A2-EB3D4E46D9B8}"/>
              </a:ext>
            </a:extLst>
          </p:cNvPr>
          <p:cNvPicPr>
            <a:picLocks noChangeAspect="1"/>
          </p:cNvPicPr>
          <p:nvPr/>
        </p:nvPicPr>
        <p:blipFill>
          <a:blip r:embed="rId4"/>
          <a:stretch>
            <a:fillRect/>
          </a:stretch>
        </p:blipFill>
        <p:spPr>
          <a:xfrm>
            <a:off x="8350426" y="4965899"/>
            <a:ext cx="3600000" cy="1735678"/>
          </a:xfrm>
          <a:prstGeom prst="rect">
            <a:avLst/>
          </a:prstGeom>
          <a:ln>
            <a:noFill/>
          </a:ln>
          <a:effectLst>
            <a:softEdge rad="112500"/>
          </a:effectLst>
        </p:spPr>
      </p:pic>
      <p:pic>
        <p:nvPicPr>
          <p:cNvPr id="6" name="Picture 5">
            <a:extLst>
              <a:ext uri="{FF2B5EF4-FFF2-40B4-BE49-F238E27FC236}">
                <a16:creationId xmlns:a16="http://schemas.microsoft.com/office/drawing/2014/main" id="{2E6D07A6-DCF5-47EC-AFE4-D87C8198542B}"/>
              </a:ext>
            </a:extLst>
          </p:cNvPr>
          <p:cNvPicPr>
            <a:picLocks noChangeAspect="1"/>
          </p:cNvPicPr>
          <p:nvPr/>
        </p:nvPicPr>
        <p:blipFill>
          <a:blip r:embed="rId5"/>
          <a:stretch>
            <a:fillRect/>
          </a:stretch>
        </p:blipFill>
        <p:spPr>
          <a:xfrm>
            <a:off x="8350426" y="1908825"/>
            <a:ext cx="3600000" cy="2025000"/>
          </a:xfrm>
          <a:prstGeom prst="rect">
            <a:avLst/>
          </a:prstGeom>
          <a:ln>
            <a:noFill/>
          </a:ln>
          <a:effectLst>
            <a:softEdge rad="112500"/>
          </a:effectLst>
        </p:spPr>
      </p:pic>
    </p:spTree>
    <p:extLst>
      <p:ext uri="{BB962C8B-B14F-4D97-AF65-F5344CB8AC3E}">
        <p14:creationId xmlns:p14="http://schemas.microsoft.com/office/powerpoint/2010/main" val="17793809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58846-3EC5-4E4F-9204-CE7CC50CBE76}"/>
              </a:ext>
            </a:extLst>
          </p:cNvPr>
          <p:cNvSpPr>
            <a:spLocks noGrp="1"/>
          </p:cNvSpPr>
          <p:nvPr>
            <p:ph type="title"/>
          </p:nvPr>
        </p:nvSpPr>
        <p:spPr/>
        <p:txBody>
          <a:bodyPr>
            <a:normAutofit/>
          </a:bodyPr>
          <a:lstStyle/>
          <a:p>
            <a:pPr marR="0" rtl="0"/>
            <a:r>
              <a:rPr lang="en-AU" dirty="0"/>
              <a:t>Other technical codes</a:t>
            </a:r>
          </a:p>
        </p:txBody>
      </p:sp>
      <p:sp>
        <p:nvSpPr>
          <p:cNvPr id="3" name="Text Placeholder 2">
            <a:extLst>
              <a:ext uri="{FF2B5EF4-FFF2-40B4-BE49-F238E27FC236}">
                <a16:creationId xmlns:a16="http://schemas.microsoft.com/office/drawing/2014/main" id="{B77BD21A-D465-4D12-A891-DF2FE6166804}"/>
              </a:ext>
            </a:extLst>
          </p:cNvPr>
          <p:cNvSpPr>
            <a:spLocks noGrp="1"/>
          </p:cNvSpPr>
          <p:nvPr>
            <p:ph type="body" idx="1"/>
          </p:nvPr>
        </p:nvSpPr>
        <p:spPr>
          <a:xfrm>
            <a:off x="838200" y="1825624"/>
            <a:ext cx="6247984" cy="4561107"/>
          </a:xfrm>
        </p:spPr>
        <p:txBody>
          <a:bodyPr>
            <a:normAutofit fontScale="85000" lnSpcReduction="20000"/>
          </a:bodyPr>
          <a:lstStyle/>
          <a:p>
            <a:pPr marR="0" lvl="0" rtl="0"/>
            <a:r>
              <a:rPr lang="en-AU" dirty="0"/>
              <a:t>Camera movement (tilting, tracking, panning and hand-held use)</a:t>
            </a:r>
          </a:p>
          <a:p>
            <a:pPr marR="0" lvl="0" rtl="0"/>
            <a:r>
              <a:rPr lang="en-AU" dirty="0"/>
              <a:t>Camera distance and angle (long shot, mid shot, close-up, high angle, eye-level and low angle)</a:t>
            </a:r>
          </a:p>
          <a:p>
            <a:pPr marR="0" lvl="0" rtl="0"/>
            <a:r>
              <a:rPr lang="en-AU" dirty="0"/>
              <a:t>Lighting.</a:t>
            </a:r>
          </a:p>
        </p:txBody>
      </p:sp>
      <p:pic>
        <p:nvPicPr>
          <p:cNvPr id="4" name="Picture 3">
            <a:extLst>
              <a:ext uri="{FF2B5EF4-FFF2-40B4-BE49-F238E27FC236}">
                <a16:creationId xmlns:a16="http://schemas.microsoft.com/office/drawing/2014/main" id="{117BB456-9F7E-4653-954D-253FB738E929}"/>
              </a:ext>
            </a:extLst>
          </p:cNvPr>
          <p:cNvPicPr>
            <a:picLocks noChangeAspect="1"/>
          </p:cNvPicPr>
          <p:nvPr/>
        </p:nvPicPr>
        <p:blipFill>
          <a:blip r:embed="rId2"/>
          <a:stretch>
            <a:fillRect/>
          </a:stretch>
        </p:blipFill>
        <p:spPr>
          <a:xfrm>
            <a:off x="7086184" y="1825625"/>
            <a:ext cx="4900662" cy="2764301"/>
          </a:xfrm>
          <a:prstGeom prst="rect">
            <a:avLst/>
          </a:prstGeom>
        </p:spPr>
      </p:pic>
    </p:spTree>
    <p:extLst>
      <p:ext uri="{BB962C8B-B14F-4D97-AF65-F5344CB8AC3E}">
        <p14:creationId xmlns:p14="http://schemas.microsoft.com/office/powerpoint/2010/main" val="29030802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6DCD00B-FC2A-4818-AC9D-58952B8818AC}"/>
              </a:ext>
            </a:extLst>
          </p:cNvPr>
          <p:cNvPicPr>
            <a:picLocks noChangeAspect="1"/>
          </p:cNvPicPr>
          <p:nvPr/>
        </p:nvPicPr>
        <p:blipFill>
          <a:blip r:embed="rId2"/>
          <a:stretch>
            <a:fillRect/>
          </a:stretch>
        </p:blipFill>
        <p:spPr>
          <a:xfrm>
            <a:off x="6924791" y="365124"/>
            <a:ext cx="4090431" cy="3063875"/>
          </a:xfrm>
          <a:prstGeom prst="rect">
            <a:avLst/>
          </a:prstGeom>
          <a:ln>
            <a:noFill/>
          </a:ln>
          <a:effectLst>
            <a:softEdge rad="112500"/>
          </a:effectLst>
        </p:spPr>
      </p:pic>
      <p:sp>
        <p:nvSpPr>
          <p:cNvPr id="2" name="Title 1">
            <a:extLst>
              <a:ext uri="{FF2B5EF4-FFF2-40B4-BE49-F238E27FC236}">
                <a16:creationId xmlns:a16="http://schemas.microsoft.com/office/drawing/2014/main" id="{63ABFEEA-A64E-4DC8-BEC5-81E34795A50B}"/>
              </a:ext>
            </a:extLst>
          </p:cNvPr>
          <p:cNvSpPr>
            <a:spLocks noGrp="1"/>
          </p:cNvSpPr>
          <p:nvPr>
            <p:ph type="title"/>
          </p:nvPr>
        </p:nvSpPr>
        <p:spPr/>
        <p:txBody>
          <a:bodyPr/>
          <a:lstStyle/>
          <a:p>
            <a:pPr marR="0" rtl="0"/>
            <a:r>
              <a:rPr lang="en-AU"/>
              <a:t>Interviews</a:t>
            </a:r>
          </a:p>
        </p:txBody>
      </p:sp>
      <p:sp>
        <p:nvSpPr>
          <p:cNvPr id="3" name="Text Placeholder 2">
            <a:extLst>
              <a:ext uri="{FF2B5EF4-FFF2-40B4-BE49-F238E27FC236}">
                <a16:creationId xmlns:a16="http://schemas.microsoft.com/office/drawing/2014/main" id="{95162997-C6B7-44D6-9397-AE2505A38E09}"/>
              </a:ext>
            </a:extLst>
          </p:cNvPr>
          <p:cNvSpPr>
            <a:spLocks noGrp="1"/>
          </p:cNvSpPr>
          <p:nvPr>
            <p:ph type="body" idx="1"/>
          </p:nvPr>
        </p:nvSpPr>
        <p:spPr/>
        <p:txBody>
          <a:bodyPr>
            <a:normAutofit fontScale="70000" lnSpcReduction="20000"/>
          </a:bodyPr>
          <a:lstStyle/>
          <a:p>
            <a:pPr marR="0" lvl="0" rtl="0"/>
            <a:r>
              <a:rPr lang="en-AU" dirty="0"/>
              <a:t>Most documentaries will include interviews.</a:t>
            </a:r>
          </a:p>
          <a:p>
            <a:pPr marR="0" lvl="0" rtl="0"/>
            <a:r>
              <a:rPr lang="en-AU" dirty="0"/>
              <a:t>Interview subjects are frequently ‘experts’ who are included to validate the filmmaker’s ideas. Alternatively they may be everyday people the viewer can relate to and who add a ‘personal touch’.</a:t>
            </a:r>
          </a:p>
          <a:p>
            <a:pPr marR="0" lvl="0" rtl="0"/>
            <a:r>
              <a:rPr lang="en-AU" dirty="0"/>
              <a:t>Interviewees are often responding to set questions; the interviewer or the questions may be excluded from the film so as to give the impression that the interviewee is openly sharing their ideas or recounting their knowledge of the topic.</a:t>
            </a:r>
          </a:p>
        </p:txBody>
      </p:sp>
    </p:spTree>
    <p:extLst>
      <p:ext uri="{BB962C8B-B14F-4D97-AF65-F5344CB8AC3E}">
        <p14:creationId xmlns:p14="http://schemas.microsoft.com/office/powerpoint/2010/main" val="38126539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A6644E-228E-4DC9-9202-20397DED8A31}"/>
              </a:ext>
            </a:extLst>
          </p:cNvPr>
          <p:cNvSpPr>
            <a:spLocks noGrp="1"/>
          </p:cNvSpPr>
          <p:nvPr>
            <p:ph type="title"/>
          </p:nvPr>
        </p:nvSpPr>
        <p:spPr/>
        <p:txBody>
          <a:bodyPr/>
          <a:lstStyle/>
          <a:p>
            <a:pPr marR="0" rtl="0"/>
            <a:r>
              <a:rPr lang="en-AU" dirty="0"/>
              <a:t>Authoritative sources	</a:t>
            </a:r>
          </a:p>
        </p:txBody>
      </p:sp>
      <p:sp>
        <p:nvSpPr>
          <p:cNvPr id="3" name="Text Placeholder 2">
            <a:extLst>
              <a:ext uri="{FF2B5EF4-FFF2-40B4-BE49-F238E27FC236}">
                <a16:creationId xmlns:a16="http://schemas.microsoft.com/office/drawing/2014/main" id="{D0A6BE81-B21D-45A3-85B0-8CB786C18859}"/>
              </a:ext>
            </a:extLst>
          </p:cNvPr>
          <p:cNvSpPr>
            <a:spLocks noGrp="1"/>
          </p:cNvSpPr>
          <p:nvPr>
            <p:ph type="body" idx="1"/>
          </p:nvPr>
        </p:nvSpPr>
        <p:spPr/>
        <p:txBody>
          <a:bodyPr>
            <a:normAutofit fontScale="85000" lnSpcReduction="20000"/>
          </a:bodyPr>
          <a:lstStyle/>
          <a:p>
            <a:pPr marR="0" lvl="0" rtl="0"/>
            <a:r>
              <a:rPr lang="en-AU" dirty="0"/>
              <a:t>Referring to or using authoritative sources adds credibility to the documentary.</a:t>
            </a:r>
          </a:p>
          <a:p>
            <a:pPr marR="0" lvl="0" rtl="0"/>
            <a:r>
              <a:rPr lang="en-AU" dirty="0"/>
              <a:t>Authoritative sources can take many forms including </a:t>
            </a:r>
          </a:p>
          <a:p>
            <a:pPr lvl="1"/>
            <a:r>
              <a:rPr lang="en-AU" dirty="0"/>
              <a:t>studies, </a:t>
            </a:r>
          </a:p>
          <a:p>
            <a:pPr lvl="1"/>
            <a:r>
              <a:rPr lang="en-AU" dirty="0"/>
              <a:t>Surveys and statistics, </a:t>
            </a:r>
          </a:p>
          <a:p>
            <a:pPr lvl="1"/>
            <a:r>
              <a:rPr lang="en-AU" dirty="0"/>
              <a:t>well-known texts and important documents, </a:t>
            </a:r>
          </a:p>
          <a:p>
            <a:pPr lvl="1"/>
            <a:r>
              <a:rPr lang="en-AU" dirty="0"/>
              <a:t>quotes or interviews with experts.</a:t>
            </a:r>
          </a:p>
          <a:p>
            <a:pPr marR="0" lvl="0" rtl="0"/>
            <a:endParaRPr lang="en-AU" dirty="0"/>
          </a:p>
        </p:txBody>
      </p:sp>
    </p:spTree>
    <p:extLst>
      <p:ext uri="{BB962C8B-B14F-4D97-AF65-F5344CB8AC3E}">
        <p14:creationId xmlns:p14="http://schemas.microsoft.com/office/powerpoint/2010/main" val="21928607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71E7FAB-6706-451D-8D0A-25FF945EC3A8}"/>
              </a:ext>
            </a:extLst>
          </p:cNvPr>
          <p:cNvPicPr>
            <a:picLocks noChangeAspect="1"/>
          </p:cNvPicPr>
          <p:nvPr/>
        </p:nvPicPr>
        <p:blipFill>
          <a:blip r:embed="rId2"/>
          <a:stretch>
            <a:fillRect/>
          </a:stretch>
        </p:blipFill>
        <p:spPr>
          <a:xfrm>
            <a:off x="4966775" y="3060211"/>
            <a:ext cx="7003891" cy="3600000"/>
          </a:xfrm>
          <a:prstGeom prst="rect">
            <a:avLst/>
          </a:prstGeom>
          <a:ln>
            <a:noFill/>
          </a:ln>
          <a:effectLst>
            <a:softEdge rad="112500"/>
          </a:effectLst>
        </p:spPr>
      </p:pic>
      <p:sp>
        <p:nvSpPr>
          <p:cNvPr id="2" name="Title 1">
            <a:extLst>
              <a:ext uri="{FF2B5EF4-FFF2-40B4-BE49-F238E27FC236}">
                <a16:creationId xmlns:a16="http://schemas.microsoft.com/office/drawing/2014/main" id="{C6BE7642-053D-47A4-A67D-D3EB733CDCE3}"/>
              </a:ext>
            </a:extLst>
          </p:cNvPr>
          <p:cNvSpPr>
            <a:spLocks noGrp="1"/>
          </p:cNvSpPr>
          <p:nvPr>
            <p:ph type="title"/>
          </p:nvPr>
        </p:nvSpPr>
        <p:spPr/>
        <p:txBody>
          <a:bodyPr/>
          <a:lstStyle/>
          <a:p>
            <a:pPr marR="0" rtl="0"/>
            <a:r>
              <a:rPr lang="en-AU" dirty="0"/>
              <a:t>Actuality footage</a:t>
            </a:r>
          </a:p>
        </p:txBody>
      </p:sp>
      <p:sp>
        <p:nvSpPr>
          <p:cNvPr id="3" name="Text Placeholder 2">
            <a:extLst>
              <a:ext uri="{FF2B5EF4-FFF2-40B4-BE49-F238E27FC236}">
                <a16:creationId xmlns:a16="http://schemas.microsoft.com/office/drawing/2014/main" id="{38422EAD-8329-4158-8B66-37DE038CAB48}"/>
              </a:ext>
            </a:extLst>
          </p:cNvPr>
          <p:cNvSpPr>
            <a:spLocks noGrp="1"/>
          </p:cNvSpPr>
          <p:nvPr>
            <p:ph type="body" idx="1"/>
          </p:nvPr>
        </p:nvSpPr>
        <p:spPr/>
        <p:txBody>
          <a:bodyPr>
            <a:normAutofit fontScale="70000" lnSpcReduction="20000"/>
          </a:bodyPr>
          <a:lstStyle/>
          <a:p>
            <a:pPr marR="0" lvl="0" rtl="0"/>
            <a:r>
              <a:rPr lang="en-AU" dirty="0"/>
              <a:t>This is footage taken by the filmmaker in making the documentary.</a:t>
            </a:r>
          </a:p>
          <a:p>
            <a:pPr marR="0" lvl="0" rtl="0"/>
            <a:r>
              <a:rPr lang="en-AU" dirty="0"/>
              <a:t>It is the most common type of footage used, especially in social commentary documentaries.</a:t>
            </a:r>
          </a:p>
          <a:p>
            <a:pPr marR="0" lvl="0" rtl="0"/>
            <a:r>
              <a:rPr lang="en-AU" dirty="0"/>
              <a:t>Actuality footage gives the</a:t>
            </a:r>
            <a:r>
              <a:rPr lang="en-AU" dirty="0">
                <a:solidFill>
                  <a:schemeClr val="bg1"/>
                </a:solidFill>
              </a:rPr>
              <a:t> impression of reality but viewers must </a:t>
            </a:r>
            <a:r>
              <a:rPr lang="en-AU" dirty="0"/>
              <a:t>remember that the filmma</a:t>
            </a:r>
            <a:r>
              <a:rPr lang="en-AU" dirty="0">
                <a:solidFill>
                  <a:schemeClr val="bg1"/>
                </a:solidFill>
              </a:rPr>
              <a:t>ker still made decisions about what to </a:t>
            </a:r>
            <a:r>
              <a:rPr lang="en-AU" dirty="0"/>
              <a:t>shoot, when to shoot it an</a:t>
            </a:r>
            <a:r>
              <a:rPr lang="en-AU" dirty="0">
                <a:solidFill>
                  <a:schemeClr val="bg1"/>
                </a:solidFill>
              </a:rPr>
              <a:t>d how to shoot it; therefore it’s a version of </a:t>
            </a:r>
            <a:r>
              <a:rPr lang="en-AU" dirty="0"/>
              <a:t>reality.</a:t>
            </a:r>
          </a:p>
          <a:p>
            <a:pPr marR="0" lvl="0" rtl="0"/>
            <a:endParaRPr lang="en-AU" dirty="0"/>
          </a:p>
        </p:txBody>
      </p:sp>
    </p:spTree>
    <p:extLst>
      <p:ext uri="{BB962C8B-B14F-4D97-AF65-F5344CB8AC3E}">
        <p14:creationId xmlns:p14="http://schemas.microsoft.com/office/powerpoint/2010/main" val="11768533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131581B-810B-474F-95BC-3BBC8F885FE0}"/>
              </a:ext>
            </a:extLst>
          </p:cNvPr>
          <p:cNvPicPr>
            <a:picLocks noChangeAspect="1"/>
          </p:cNvPicPr>
          <p:nvPr/>
        </p:nvPicPr>
        <p:blipFill rotWithShape="1">
          <a:blip r:embed="rId2"/>
          <a:srcRect l="13750" r="13000"/>
          <a:stretch/>
        </p:blipFill>
        <p:spPr>
          <a:xfrm>
            <a:off x="0" y="1825625"/>
            <a:ext cx="4465320" cy="3429000"/>
          </a:xfrm>
          <a:prstGeom prst="rect">
            <a:avLst/>
          </a:prstGeom>
          <a:ln>
            <a:noFill/>
          </a:ln>
          <a:effectLst>
            <a:softEdge rad="112500"/>
          </a:effectLst>
        </p:spPr>
      </p:pic>
      <p:sp>
        <p:nvSpPr>
          <p:cNvPr id="2" name="Title 1">
            <a:extLst>
              <a:ext uri="{FF2B5EF4-FFF2-40B4-BE49-F238E27FC236}">
                <a16:creationId xmlns:a16="http://schemas.microsoft.com/office/drawing/2014/main" id="{90D74394-E486-4F4A-AB8A-3FAE974EA395}"/>
              </a:ext>
            </a:extLst>
          </p:cNvPr>
          <p:cNvSpPr>
            <a:spLocks noGrp="1"/>
          </p:cNvSpPr>
          <p:nvPr>
            <p:ph type="title"/>
          </p:nvPr>
        </p:nvSpPr>
        <p:spPr/>
        <p:txBody>
          <a:bodyPr/>
          <a:lstStyle/>
          <a:p>
            <a:pPr marR="0" rtl="0"/>
            <a:r>
              <a:rPr lang="en-AU" dirty="0"/>
              <a:t>File footage</a:t>
            </a:r>
          </a:p>
        </p:txBody>
      </p:sp>
      <p:sp>
        <p:nvSpPr>
          <p:cNvPr id="3" name="Text Placeholder 2">
            <a:extLst>
              <a:ext uri="{FF2B5EF4-FFF2-40B4-BE49-F238E27FC236}">
                <a16:creationId xmlns:a16="http://schemas.microsoft.com/office/drawing/2014/main" id="{DA4271BC-2A8C-4109-B76C-CB67D6A2F4C8}"/>
              </a:ext>
            </a:extLst>
          </p:cNvPr>
          <p:cNvSpPr>
            <a:spLocks noGrp="1"/>
          </p:cNvSpPr>
          <p:nvPr>
            <p:ph type="body" idx="1"/>
          </p:nvPr>
        </p:nvSpPr>
        <p:spPr>
          <a:xfrm>
            <a:off x="4572000" y="872197"/>
            <a:ext cx="7498080" cy="5304766"/>
          </a:xfrm>
        </p:spPr>
        <p:txBody>
          <a:bodyPr>
            <a:normAutofit fontScale="70000" lnSpcReduction="20000"/>
          </a:bodyPr>
          <a:lstStyle/>
          <a:p>
            <a:pPr marR="0" lvl="0" rtl="0"/>
            <a:r>
              <a:rPr lang="en-AU" dirty="0"/>
              <a:t>This type of footage is popular in historical documentaries or to show a subject progression.</a:t>
            </a:r>
          </a:p>
          <a:p>
            <a:pPr marR="0" lvl="0" rtl="0"/>
            <a:r>
              <a:rPr lang="en-AU" dirty="0"/>
              <a:t>It is footage taken prior to the documentary and from other sources.</a:t>
            </a:r>
          </a:p>
          <a:p>
            <a:pPr marR="0" lvl="0" rtl="0"/>
            <a:r>
              <a:rPr lang="en-AU" dirty="0"/>
              <a:t>File footage may be from various sources including television news, archives, other documentaries or past interviews.</a:t>
            </a:r>
          </a:p>
          <a:p>
            <a:pPr marR="0" lvl="0" rtl="0"/>
            <a:r>
              <a:rPr lang="en-AU" dirty="0"/>
              <a:t>It allows filmmakers to provide background to the subject or to show ‘evidence’.</a:t>
            </a:r>
          </a:p>
          <a:p>
            <a:pPr marR="0" lvl="0" rtl="0"/>
            <a:endParaRPr lang="en-AU" dirty="0"/>
          </a:p>
        </p:txBody>
      </p:sp>
    </p:spTree>
    <p:extLst>
      <p:ext uri="{BB962C8B-B14F-4D97-AF65-F5344CB8AC3E}">
        <p14:creationId xmlns:p14="http://schemas.microsoft.com/office/powerpoint/2010/main" val="14645613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A5F0D-E0A1-4D69-84C5-E8EEA533A8ED}"/>
              </a:ext>
            </a:extLst>
          </p:cNvPr>
          <p:cNvSpPr>
            <a:spLocks noGrp="1"/>
          </p:cNvSpPr>
          <p:nvPr>
            <p:ph type="title"/>
          </p:nvPr>
        </p:nvSpPr>
        <p:spPr/>
        <p:txBody>
          <a:bodyPr/>
          <a:lstStyle/>
          <a:p>
            <a:pPr marR="0" rtl="0"/>
            <a:r>
              <a:rPr lang="en-AU"/>
              <a:t>Voice-over	</a:t>
            </a:r>
          </a:p>
        </p:txBody>
      </p:sp>
      <p:pic>
        <p:nvPicPr>
          <p:cNvPr id="6" name="Picture 5">
            <a:extLst>
              <a:ext uri="{FF2B5EF4-FFF2-40B4-BE49-F238E27FC236}">
                <a16:creationId xmlns:a16="http://schemas.microsoft.com/office/drawing/2014/main" id="{6FE6D7F0-2813-4E6A-97B8-74B9E8A29458}"/>
              </a:ext>
            </a:extLst>
          </p:cNvPr>
          <p:cNvPicPr>
            <a:picLocks noChangeAspect="1"/>
          </p:cNvPicPr>
          <p:nvPr/>
        </p:nvPicPr>
        <p:blipFill rotWithShape="1">
          <a:blip r:embed="rId2"/>
          <a:srcRect l="10834"/>
          <a:stretch/>
        </p:blipFill>
        <p:spPr>
          <a:xfrm flipH="1">
            <a:off x="6625883" y="2632346"/>
            <a:ext cx="5566117" cy="2737895"/>
          </a:xfrm>
          <a:prstGeom prst="homePlate">
            <a:avLst/>
          </a:prstGeom>
          <a:ln w="19050">
            <a:solidFill>
              <a:schemeClr val="tx1"/>
            </a:solidFill>
          </a:ln>
        </p:spPr>
      </p:pic>
      <p:sp>
        <p:nvSpPr>
          <p:cNvPr id="3" name="Text Placeholder 2">
            <a:extLst>
              <a:ext uri="{FF2B5EF4-FFF2-40B4-BE49-F238E27FC236}">
                <a16:creationId xmlns:a16="http://schemas.microsoft.com/office/drawing/2014/main" id="{92F7D853-5985-4236-B85B-D74718A23448}"/>
              </a:ext>
            </a:extLst>
          </p:cNvPr>
          <p:cNvSpPr>
            <a:spLocks noGrp="1"/>
          </p:cNvSpPr>
          <p:nvPr>
            <p:ph type="body" idx="1"/>
          </p:nvPr>
        </p:nvSpPr>
        <p:spPr>
          <a:xfrm>
            <a:off x="838200" y="1825625"/>
            <a:ext cx="8981049" cy="4351338"/>
          </a:xfrm>
        </p:spPr>
        <p:txBody>
          <a:bodyPr>
            <a:normAutofit fontScale="70000" lnSpcReduction="20000"/>
          </a:bodyPr>
          <a:lstStyle/>
          <a:p>
            <a:pPr marR="0" lvl="0" rtl="0"/>
            <a:r>
              <a:rPr lang="en-AU" dirty="0"/>
              <a:t>Many documentaries use a voice-over with a narrator talking over the footage.</a:t>
            </a:r>
          </a:p>
          <a:p>
            <a:pPr marR="0" lvl="0" rtl="0"/>
            <a:r>
              <a:rPr lang="en-AU" dirty="0"/>
              <a:t>The narrator may be a fictional character, a hired actor or even the filmmaker themselves.</a:t>
            </a:r>
          </a:p>
          <a:p>
            <a:pPr marR="0" lvl="0" rtl="0"/>
            <a:r>
              <a:rPr lang="en-AU" dirty="0"/>
              <a:t>Voice-over helps explain what we are viewing and adds extra meaning.</a:t>
            </a:r>
          </a:p>
          <a:p>
            <a:pPr marR="0" lvl="0" rtl="0"/>
            <a:r>
              <a:rPr lang="en-AU" dirty="0"/>
              <a:t>Voice-over is also a structural device incorporating verbal transitions to signal a new topic or idea. </a:t>
            </a:r>
          </a:p>
        </p:txBody>
      </p:sp>
    </p:spTree>
    <p:extLst>
      <p:ext uri="{BB962C8B-B14F-4D97-AF65-F5344CB8AC3E}">
        <p14:creationId xmlns:p14="http://schemas.microsoft.com/office/powerpoint/2010/main" val="35137843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5EAD1-0C08-45D8-B4C7-A1D9F7DDEB77}"/>
              </a:ext>
            </a:extLst>
          </p:cNvPr>
          <p:cNvSpPr>
            <a:spLocks noGrp="1"/>
          </p:cNvSpPr>
          <p:nvPr>
            <p:ph type="title"/>
          </p:nvPr>
        </p:nvSpPr>
        <p:spPr/>
        <p:txBody>
          <a:bodyPr/>
          <a:lstStyle/>
          <a:p>
            <a:pPr marR="0" rtl="0"/>
            <a:r>
              <a:rPr lang="en-AU"/>
              <a:t>Graphics and animation	</a:t>
            </a:r>
          </a:p>
        </p:txBody>
      </p:sp>
      <p:pic>
        <p:nvPicPr>
          <p:cNvPr id="5" name="Picture 4">
            <a:extLst>
              <a:ext uri="{FF2B5EF4-FFF2-40B4-BE49-F238E27FC236}">
                <a16:creationId xmlns:a16="http://schemas.microsoft.com/office/drawing/2014/main" id="{59FABC74-07A3-484A-9CA7-20AA0EE2F981}"/>
              </a:ext>
            </a:extLst>
          </p:cNvPr>
          <p:cNvPicPr>
            <a:picLocks noChangeAspect="1"/>
          </p:cNvPicPr>
          <p:nvPr/>
        </p:nvPicPr>
        <p:blipFill rotWithShape="1">
          <a:blip r:embed="rId2"/>
          <a:srcRect l="10999" t="16410" r="10023" b="5324"/>
          <a:stretch/>
        </p:blipFill>
        <p:spPr>
          <a:xfrm>
            <a:off x="6096000" y="3412222"/>
            <a:ext cx="6096000" cy="3445777"/>
          </a:xfrm>
          <a:prstGeom prst="flowChartManualInput">
            <a:avLst/>
          </a:prstGeom>
        </p:spPr>
      </p:pic>
      <p:sp>
        <p:nvSpPr>
          <p:cNvPr id="3" name="Text Placeholder 2">
            <a:extLst>
              <a:ext uri="{FF2B5EF4-FFF2-40B4-BE49-F238E27FC236}">
                <a16:creationId xmlns:a16="http://schemas.microsoft.com/office/drawing/2014/main" id="{2B82780B-EE1E-4F6B-824C-EF5653C70D1E}"/>
              </a:ext>
            </a:extLst>
          </p:cNvPr>
          <p:cNvSpPr>
            <a:spLocks noGrp="1"/>
          </p:cNvSpPr>
          <p:nvPr>
            <p:ph type="body" idx="1"/>
          </p:nvPr>
        </p:nvSpPr>
        <p:spPr/>
        <p:txBody>
          <a:bodyPr>
            <a:normAutofit fontScale="70000" lnSpcReduction="20000"/>
          </a:bodyPr>
          <a:lstStyle/>
          <a:p>
            <a:pPr marR="0" lvl="0" rtl="0"/>
            <a:r>
              <a:rPr lang="en-AU" dirty="0"/>
              <a:t>Graphics are a visual way of presenting information so it can be quickly understood.</a:t>
            </a:r>
          </a:p>
          <a:p>
            <a:pPr marR="0" lvl="0" rtl="0"/>
            <a:r>
              <a:rPr lang="en-AU" dirty="0"/>
              <a:t>Graphics filmmakers use include graphs, maps, lists and animations.</a:t>
            </a:r>
          </a:p>
          <a:p>
            <a:pPr marR="0" lvl="0" rtl="0"/>
            <a:r>
              <a:rPr lang="en-AU" dirty="0"/>
              <a:t>In recent years filmmakers have also been making greater use of digital animation. This may be to provide for an increasingly technology-savvy audience accustomed to receiving information via multimodal texts.</a:t>
            </a:r>
          </a:p>
        </p:txBody>
      </p:sp>
    </p:spTree>
    <p:extLst>
      <p:ext uri="{BB962C8B-B14F-4D97-AF65-F5344CB8AC3E}">
        <p14:creationId xmlns:p14="http://schemas.microsoft.com/office/powerpoint/2010/main" val="24528122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FFFE4-6BE3-463C-AF77-982F2331C678}"/>
              </a:ext>
            </a:extLst>
          </p:cNvPr>
          <p:cNvSpPr>
            <a:spLocks noGrp="1"/>
          </p:cNvSpPr>
          <p:nvPr>
            <p:ph type="title"/>
          </p:nvPr>
        </p:nvSpPr>
        <p:spPr/>
        <p:txBody>
          <a:bodyPr/>
          <a:lstStyle/>
          <a:p>
            <a:r>
              <a:rPr lang="en-AU" dirty="0"/>
              <a:t>Lesson 2</a:t>
            </a:r>
          </a:p>
        </p:txBody>
      </p:sp>
      <p:sp>
        <p:nvSpPr>
          <p:cNvPr id="3" name="Text Placeholder 2">
            <a:extLst>
              <a:ext uri="{FF2B5EF4-FFF2-40B4-BE49-F238E27FC236}">
                <a16:creationId xmlns:a16="http://schemas.microsoft.com/office/drawing/2014/main" id="{5271D88A-915C-46C4-AA78-2FC009721FCC}"/>
              </a:ext>
            </a:extLst>
          </p:cNvPr>
          <p:cNvSpPr>
            <a:spLocks noGrp="1"/>
          </p:cNvSpPr>
          <p:nvPr>
            <p:ph type="body" idx="1"/>
          </p:nvPr>
        </p:nvSpPr>
        <p:spPr/>
        <p:txBody>
          <a:bodyPr>
            <a:normAutofit fontScale="85000" lnSpcReduction="20000"/>
          </a:bodyPr>
          <a:lstStyle/>
          <a:p>
            <a:r>
              <a:rPr lang="en-AU" dirty="0"/>
              <a:t>Learning Intentions</a:t>
            </a:r>
          </a:p>
          <a:p>
            <a:pPr lvl="1"/>
            <a:r>
              <a:rPr lang="en-AU" dirty="0"/>
              <a:t>To view the movie “That Sugar Film” </a:t>
            </a:r>
          </a:p>
          <a:p>
            <a:pPr lvl="1"/>
            <a:r>
              <a:rPr lang="en-AU" dirty="0"/>
              <a:t>To examine the opening sequence</a:t>
            </a:r>
          </a:p>
          <a:p>
            <a:pPr lvl="1"/>
            <a:endParaRPr lang="en-AU" dirty="0"/>
          </a:p>
          <a:p>
            <a:r>
              <a:rPr lang="en-AU" dirty="0"/>
              <a:t>Success Criteria</a:t>
            </a:r>
          </a:p>
          <a:p>
            <a:pPr lvl="1"/>
            <a:r>
              <a:rPr lang="en-AU" dirty="0"/>
              <a:t>Completed viewing of the movie.</a:t>
            </a:r>
          </a:p>
          <a:p>
            <a:pPr lvl="1"/>
            <a:r>
              <a:rPr lang="en-AU" dirty="0"/>
              <a:t>Responded to questions on the opening sequence</a:t>
            </a:r>
          </a:p>
        </p:txBody>
      </p:sp>
    </p:spTree>
    <p:extLst>
      <p:ext uri="{BB962C8B-B14F-4D97-AF65-F5344CB8AC3E}">
        <p14:creationId xmlns:p14="http://schemas.microsoft.com/office/powerpoint/2010/main" val="10770239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5B73B-4B16-49B7-97F5-863D4B994C88}"/>
              </a:ext>
            </a:extLst>
          </p:cNvPr>
          <p:cNvSpPr>
            <a:spLocks noGrp="1"/>
          </p:cNvSpPr>
          <p:nvPr>
            <p:ph type="title"/>
          </p:nvPr>
        </p:nvSpPr>
        <p:spPr/>
        <p:txBody>
          <a:bodyPr/>
          <a:lstStyle/>
          <a:p>
            <a:r>
              <a:rPr lang="en-AU" dirty="0"/>
              <a:t>Lesson 2 Activities</a:t>
            </a:r>
          </a:p>
        </p:txBody>
      </p:sp>
      <p:sp>
        <p:nvSpPr>
          <p:cNvPr id="3" name="Text Placeholder 2">
            <a:extLst>
              <a:ext uri="{FF2B5EF4-FFF2-40B4-BE49-F238E27FC236}">
                <a16:creationId xmlns:a16="http://schemas.microsoft.com/office/drawing/2014/main" id="{29CF5762-1888-40A4-93EA-F3D3828FA864}"/>
              </a:ext>
            </a:extLst>
          </p:cNvPr>
          <p:cNvSpPr>
            <a:spLocks noGrp="1"/>
          </p:cNvSpPr>
          <p:nvPr>
            <p:ph type="body" idx="1"/>
          </p:nvPr>
        </p:nvSpPr>
        <p:spPr/>
        <p:txBody>
          <a:bodyPr/>
          <a:lstStyle/>
          <a:p>
            <a:r>
              <a:rPr lang="en-AU" dirty="0"/>
              <a:t>View opening sequence</a:t>
            </a:r>
          </a:p>
          <a:p>
            <a:r>
              <a:rPr lang="en-AU" dirty="0"/>
              <a:t>Respond to questions 8 and 9 in the handout.</a:t>
            </a:r>
          </a:p>
          <a:p>
            <a:r>
              <a:rPr lang="en-AU" dirty="0"/>
              <a:t>The movie will be stopped at 10 minute intervals to allow you to enter information on Codes and Conventions (Question 10)</a:t>
            </a:r>
          </a:p>
          <a:p>
            <a:endParaRPr lang="en-AU" dirty="0"/>
          </a:p>
        </p:txBody>
      </p:sp>
    </p:spTree>
    <p:extLst>
      <p:ext uri="{BB962C8B-B14F-4D97-AF65-F5344CB8AC3E}">
        <p14:creationId xmlns:p14="http://schemas.microsoft.com/office/powerpoint/2010/main" val="32428110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9CB2F-4ADA-40FE-B773-0A6D3176B6A4}"/>
              </a:ext>
            </a:extLst>
          </p:cNvPr>
          <p:cNvSpPr>
            <a:spLocks noGrp="1"/>
          </p:cNvSpPr>
          <p:nvPr>
            <p:ph type="title"/>
          </p:nvPr>
        </p:nvSpPr>
        <p:spPr/>
        <p:txBody>
          <a:bodyPr/>
          <a:lstStyle/>
          <a:p>
            <a:r>
              <a:rPr lang="en-AU" dirty="0"/>
              <a:t>Questions </a:t>
            </a:r>
          </a:p>
        </p:txBody>
      </p:sp>
      <p:sp>
        <p:nvSpPr>
          <p:cNvPr id="3" name="Text Placeholder 2">
            <a:extLst>
              <a:ext uri="{FF2B5EF4-FFF2-40B4-BE49-F238E27FC236}">
                <a16:creationId xmlns:a16="http://schemas.microsoft.com/office/drawing/2014/main" id="{9ADDBD6E-98D3-4FD5-966C-A2804E67137E}"/>
              </a:ext>
            </a:extLst>
          </p:cNvPr>
          <p:cNvSpPr>
            <a:spLocks noGrp="1"/>
          </p:cNvSpPr>
          <p:nvPr>
            <p:ph type="body" idx="1"/>
          </p:nvPr>
        </p:nvSpPr>
        <p:spPr>
          <a:xfrm>
            <a:off x="838200" y="1825624"/>
            <a:ext cx="10515600" cy="4870597"/>
          </a:xfrm>
        </p:spPr>
        <p:txBody>
          <a:bodyPr>
            <a:normAutofit fontScale="70000" lnSpcReduction="20000"/>
          </a:bodyPr>
          <a:lstStyle/>
          <a:p>
            <a:r>
              <a:rPr lang="en-AU" dirty="0"/>
              <a:t>Question 8</a:t>
            </a:r>
          </a:p>
          <a:p>
            <a:pPr lvl="1"/>
            <a:r>
              <a:rPr lang="en-AU" dirty="0"/>
              <a:t>What do you think of this opening sequence? </a:t>
            </a:r>
          </a:p>
          <a:p>
            <a:pPr lvl="1"/>
            <a:r>
              <a:rPr lang="en-AU" dirty="0"/>
              <a:t>What kind of effect does it have on you, and how is what you’re seeing and hearing affecting how you’re feeling as the film begins? </a:t>
            </a:r>
          </a:p>
          <a:p>
            <a:r>
              <a:rPr lang="en-AU" dirty="0"/>
              <a:t>Question 9</a:t>
            </a:r>
          </a:p>
          <a:p>
            <a:pPr lvl="1"/>
            <a:r>
              <a:rPr lang="en-AU" dirty="0"/>
              <a:t>Although Gameau is very natural, charming and open on screen, he is still an actor playing a role he has written for himself. </a:t>
            </a:r>
          </a:p>
          <a:p>
            <a:pPr lvl="1"/>
            <a:r>
              <a:rPr lang="en-AU" dirty="0"/>
              <a:t>What kind of self-image has he started to construct here? </a:t>
            </a:r>
          </a:p>
          <a:p>
            <a:pPr lvl="1"/>
            <a:r>
              <a:rPr lang="en-AU" dirty="0"/>
              <a:t>Give 3 adjectives you would use to describe him when the film introduces him to us? </a:t>
            </a:r>
          </a:p>
          <a:p>
            <a:pPr lvl="1"/>
            <a:endParaRPr lang="en-AU" dirty="0"/>
          </a:p>
          <a:p>
            <a:pPr lvl="1"/>
            <a:endParaRPr lang="en-AU" dirty="0"/>
          </a:p>
        </p:txBody>
      </p:sp>
    </p:spTree>
    <p:extLst>
      <p:ext uri="{BB962C8B-B14F-4D97-AF65-F5344CB8AC3E}">
        <p14:creationId xmlns:p14="http://schemas.microsoft.com/office/powerpoint/2010/main" val="21300886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4ADF7-9D61-445F-A425-0FB7C991CE6E}"/>
              </a:ext>
            </a:extLst>
          </p:cNvPr>
          <p:cNvSpPr>
            <a:spLocks noGrp="1"/>
          </p:cNvSpPr>
          <p:nvPr>
            <p:ph type="title"/>
          </p:nvPr>
        </p:nvSpPr>
        <p:spPr/>
        <p:txBody>
          <a:bodyPr/>
          <a:lstStyle/>
          <a:p>
            <a:r>
              <a:rPr lang="en-AU" dirty="0"/>
              <a:t>Lesson 3</a:t>
            </a:r>
          </a:p>
        </p:txBody>
      </p:sp>
      <p:sp>
        <p:nvSpPr>
          <p:cNvPr id="3" name="Text Placeholder 2">
            <a:extLst>
              <a:ext uri="{FF2B5EF4-FFF2-40B4-BE49-F238E27FC236}">
                <a16:creationId xmlns:a16="http://schemas.microsoft.com/office/drawing/2014/main" id="{F1184140-DE85-4D42-A566-5310F1449E12}"/>
              </a:ext>
            </a:extLst>
          </p:cNvPr>
          <p:cNvSpPr>
            <a:spLocks noGrp="1"/>
          </p:cNvSpPr>
          <p:nvPr>
            <p:ph type="body" idx="1"/>
          </p:nvPr>
        </p:nvSpPr>
        <p:spPr/>
        <p:txBody>
          <a:bodyPr>
            <a:normAutofit fontScale="92500" lnSpcReduction="10000"/>
          </a:bodyPr>
          <a:lstStyle/>
          <a:p>
            <a:r>
              <a:rPr lang="en-AU" dirty="0"/>
              <a:t>Learning Intentions</a:t>
            </a:r>
          </a:p>
          <a:p>
            <a:pPr lvl="1"/>
            <a:r>
              <a:rPr lang="en-AU" dirty="0"/>
              <a:t>To view the movie.</a:t>
            </a:r>
          </a:p>
          <a:p>
            <a:pPr lvl="1"/>
            <a:endParaRPr lang="en-AU" dirty="0"/>
          </a:p>
          <a:p>
            <a:r>
              <a:rPr lang="en-AU" dirty="0"/>
              <a:t>Success Criteria</a:t>
            </a:r>
          </a:p>
          <a:p>
            <a:pPr lvl="1"/>
            <a:r>
              <a:rPr lang="en-AU" dirty="0"/>
              <a:t>Completed viewing of the movie</a:t>
            </a:r>
          </a:p>
          <a:p>
            <a:pPr lvl="1"/>
            <a:r>
              <a:rPr lang="en-AU" dirty="0"/>
              <a:t>Completed retrieval chart on Codes and Conventions</a:t>
            </a:r>
          </a:p>
          <a:p>
            <a:pPr lvl="1"/>
            <a:endParaRPr lang="en-AU" dirty="0"/>
          </a:p>
        </p:txBody>
      </p:sp>
    </p:spTree>
    <p:extLst>
      <p:ext uri="{BB962C8B-B14F-4D97-AF65-F5344CB8AC3E}">
        <p14:creationId xmlns:p14="http://schemas.microsoft.com/office/powerpoint/2010/main" val="24093201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A7BAF-539F-4A0E-9A1C-86A0EFFF517A}"/>
              </a:ext>
            </a:extLst>
          </p:cNvPr>
          <p:cNvSpPr>
            <a:spLocks noGrp="1"/>
          </p:cNvSpPr>
          <p:nvPr>
            <p:ph type="title"/>
          </p:nvPr>
        </p:nvSpPr>
        <p:spPr/>
        <p:txBody>
          <a:bodyPr/>
          <a:lstStyle/>
          <a:p>
            <a:r>
              <a:rPr lang="en-AU" dirty="0"/>
              <a:t>Lesson 3 Activities</a:t>
            </a:r>
          </a:p>
        </p:txBody>
      </p:sp>
      <p:sp>
        <p:nvSpPr>
          <p:cNvPr id="3" name="Text Placeholder 2">
            <a:extLst>
              <a:ext uri="{FF2B5EF4-FFF2-40B4-BE49-F238E27FC236}">
                <a16:creationId xmlns:a16="http://schemas.microsoft.com/office/drawing/2014/main" id="{1B0AB171-1860-49FB-AC0F-780FB7476C55}"/>
              </a:ext>
            </a:extLst>
          </p:cNvPr>
          <p:cNvSpPr>
            <a:spLocks noGrp="1"/>
          </p:cNvSpPr>
          <p:nvPr>
            <p:ph type="body" idx="1"/>
          </p:nvPr>
        </p:nvSpPr>
        <p:spPr/>
        <p:txBody>
          <a:bodyPr/>
          <a:lstStyle/>
          <a:p>
            <a:r>
              <a:rPr lang="en-AU" dirty="0"/>
              <a:t>View the movie</a:t>
            </a:r>
          </a:p>
          <a:p>
            <a:r>
              <a:rPr lang="en-AU" dirty="0"/>
              <a:t>The movie will be stopped at 10 minute intervals to allow you to enter information on Codes and Conventions (Question 10)</a:t>
            </a:r>
          </a:p>
          <a:p>
            <a:endParaRPr lang="en-AU" dirty="0"/>
          </a:p>
        </p:txBody>
      </p:sp>
    </p:spTree>
    <p:extLst>
      <p:ext uri="{BB962C8B-B14F-4D97-AF65-F5344CB8AC3E}">
        <p14:creationId xmlns:p14="http://schemas.microsoft.com/office/powerpoint/2010/main" val="31177625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3E3B3-1FF0-46D8-9417-2B05E07AEFD9}"/>
              </a:ext>
            </a:extLst>
          </p:cNvPr>
          <p:cNvSpPr>
            <a:spLocks noGrp="1"/>
          </p:cNvSpPr>
          <p:nvPr>
            <p:ph type="title"/>
          </p:nvPr>
        </p:nvSpPr>
        <p:spPr/>
        <p:txBody>
          <a:bodyPr/>
          <a:lstStyle/>
          <a:p>
            <a:r>
              <a:rPr lang="en-AU" dirty="0"/>
              <a:t>Lesson 4</a:t>
            </a:r>
          </a:p>
        </p:txBody>
      </p:sp>
      <p:sp>
        <p:nvSpPr>
          <p:cNvPr id="3" name="Text Placeholder 2">
            <a:extLst>
              <a:ext uri="{FF2B5EF4-FFF2-40B4-BE49-F238E27FC236}">
                <a16:creationId xmlns:a16="http://schemas.microsoft.com/office/drawing/2014/main" id="{FFBB9375-64AA-4CBC-9B9E-933E1DDBAFD4}"/>
              </a:ext>
            </a:extLst>
          </p:cNvPr>
          <p:cNvSpPr>
            <a:spLocks noGrp="1"/>
          </p:cNvSpPr>
          <p:nvPr>
            <p:ph type="body" idx="1"/>
          </p:nvPr>
        </p:nvSpPr>
        <p:spPr/>
        <p:txBody>
          <a:bodyPr/>
          <a:lstStyle/>
          <a:p>
            <a:r>
              <a:rPr lang="en-AU" dirty="0"/>
              <a:t>Learning Intentions</a:t>
            </a:r>
          </a:p>
          <a:p>
            <a:pPr lvl="1"/>
            <a:r>
              <a:rPr lang="en-AU" dirty="0"/>
              <a:t>to view the section on the Experiment</a:t>
            </a:r>
          </a:p>
          <a:p>
            <a:pPr lvl="1"/>
            <a:r>
              <a:rPr lang="en-AU" dirty="0"/>
              <a:t>to respond to the Experiment</a:t>
            </a:r>
          </a:p>
          <a:p>
            <a:r>
              <a:rPr lang="en-AU" dirty="0"/>
              <a:t>Success Criteria</a:t>
            </a:r>
          </a:p>
          <a:p>
            <a:pPr lvl="1"/>
            <a:r>
              <a:rPr lang="en-AU" dirty="0"/>
              <a:t>Completed response to the Experiment</a:t>
            </a:r>
          </a:p>
          <a:p>
            <a:pPr lvl="1"/>
            <a:endParaRPr lang="en-AU" dirty="0"/>
          </a:p>
        </p:txBody>
      </p:sp>
    </p:spTree>
    <p:extLst>
      <p:ext uri="{BB962C8B-B14F-4D97-AF65-F5344CB8AC3E}">
        <p14:creationId xmlns:p14="http://schemas.microsoft.com/office/powerpoint/2010/main" val="29482368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DEA3E5-4FDC-4299-81B5-0D1A76F1A510}"/>
              </a:ext>
            </a:extLst>
          </p:cNvPr>
          <p:cNvSpPr>
            <a:spLocks noGrp="1"/>
          </p:cNvSpPr>
          <p:nvPr>
            <p:ph type="title"/>
          </p:nvPr>
        </p:nvSpPr>
        <p:spPr/>
        <p:txBody>
          <a:bodyPr/>
          <a:lstStyle/>
          <a:p>
            <a:r>
              <a:rPr lang="en-AU" dirty="0"/>
              <a:t>Lesson 4 Activities</a:t>
            </a:r>
          </a:p>
        </p:txBody>
      </p:sp>
      <p:sp>
        <p:nvSpPr>
          <p:cNvPr id="3" name="Text Placeholder 2">
            <a:extLst>
              <a:ext uri="{FF2B5EF4-FFF2-40B4-BE49-F238E27FC236}">
                <a16:creationId xmlns:a16="http://schemas.microsoft.com/office/drawing/2014/main" id="{EA30FE80-006E-4208-BFB7-FADAC124543B}"/>
              </a:ext>
            </a:extLst>
          </p:cNvPr>
          <p:cNvSpPr>
            <a:spLocks noGrp="1"/>
          </p:cNvSpPr>
          <p:nvPr>
            <p:ph type="body" idx="1"/>
          </p:nvPr>
        </p:nvSpPr>
        <p:spPr/>
        <p:txBody>
          <a:bodyPr/>
          <a:lstStyle/>
          <a:p>
            <a:r>
              <a:rPr lang="en-AU" dirty="0"/>
              <a:t>View the section on the Experiment</a:t>
            </a:r>
          </a:p>
          <a:p>
            <a:pPr lvl="1"/>
            <a:r>
              <a:rPr lang="en-AU" dirty="0"/>
              <a:t>Discuss the questions with a partner</a:t>
            </a:r>
          </a:p>
          <a:p>
            <a:pPr lvl="1"/>
            <a:r>
              <a:rPr lang="en-AU" dirty="0"/>
              <a:t>Present your discussion to the class</a:t>
            </a:r>
          </a:p>
          <a:p>
            <a:pPr lvl="1"/>
            <a:r>
              <a:rPr lang="en-AU" dirty="0"/>
              <a:t>Write in your own response</a:t>
            </a:r>
          </a:p>
        </p:txBody>
      </p:sp>
    </p:spTree>
    <p:extLst>
      <p:ext uri="{BB962C8B-B14F-4D97-AF65-F5344CB8AC3E}">
        <p14:creationId xmlns:p14="http://schemas.microsoft.com/office/powerpoint/2010/main" val="17562678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5F841-5C77-41F4-B9AF-15C7F0A6D32E}"/>
              </a:ext>
            </a:extLst>
          </p:cNvPr>
          <p:cNvSpPr>
            <a:spLocks noGrp="1"/>
          </p:cNvSpPr>
          <p:nvPr>
            <p:ph type="title"/>
          </p:nvPr>
        </p:nvSpPr>
        <p:spPr/>
        <p:txBody>
          <a:bodyPr/>
          <a:lstStyle/>
          <a:p>
            <a:r>
              <a:rPr lang="en-AU" dirty="0"/>
              <a:t>Experiment Questions</a:t>
            </a:r>
          </a:p>
        </p:txBody>
      </p:sp>
      <p:sp>
        <p:nvSpPr>
          <p:cNvPr id="3" name="Text Placeholder 2">
            <a:extLst>
              <a:ext uri="{FF2B5EF4-FFF2-40B4-BE49-F238E27FC236}">
                <a16:creationId xmlns:a16="http://schemas.microsoft.com/office/drawing/2014/main" id="{1B8A7AC7-AA50-40AB-B310-3A355A81133C}"/>
              </a:ext>
            </a:extLst>
          </p:cNvPr>
          <p:cNvSpPr>
            <a:spLocks noGrp="1"/>
          </p:cNvSpPr>
          <p:nvPr>
            <p:ph type="body" idx="1"/>
          </p:nvPr>
        </p:nvSpPr>
        <p:spPr>
          <a:xfrm>
            <a:off x="838200" y="1825624"/>
            <a:ext cx="10753578" cy="4828393"/>
          </a:xfrm>
        </p:spPr>
        <p:txBody>
          <a:bodyPr>
            <a:normAutofit fontScale="77500" lnSpcReduction="20000"/>
          </a:bodyPr>
          <a:lstStyle/>
          <a:p>
            <a:r>
              <a:rPr lang="en-AU" dirty="0"/>
              <a:t>Question 11</a:t>
            </a:r>
          </a:p>
          <a:p>
            <a:pPr lvl="1"/>
            <a:r>
              <a:rPr lang="en-AU" dirty="0"/>
              <a:t>Why doesn’t Gameau include high-sugar foods like soft drinks and lollies in his experiment? He’s aiming to do more than just tell us that sugar isn’t healthy (we all know that!) – what else is he trying to emphasise?</a:t>
            </a:r>
          </a:p>
          <a:p>
            <a:r>
              <a:rPr lang="en-AU" dirty="0"/>
              <a:t>Question 12</a:t>
            </a:r>
          </a:p>
          <a:p>
            <a:pPr lvl="1"/>
            <a:r>
              <a:rPr lang="en-AU" dirty="0"/>
              <a:t>Could you commit to Gameau’s pre-experiment healthy diet yourself? What would be the hardest sugary food for you to give up?</a:t>
            </a:r>
          </a:p>
        </p:txBody>
      </p:sp>
    </p:spTree>
    <p:extLst>
      <p:ext uri="{BB962C8B-B14F-4D97-AF65-F5344CB8AC3E}">
        <p14:creationId xmlns:p14="http://schemas.microsoft.com/office/powerpoint/2010/main" val="12330505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8D937-018B-4F6A-BC2C-A06E89C6E6D0}"/>
              </a:ext>
            </a:extLst>
          </p:cNvPr>
          <p:cNvSpPr>
            <a:spLocks noGrp="1"/>
          </p:cNvSpPr>
          <p:nvPr>
            <p:ph type="title"/>
          </p:nvPr>
        </p:nvSpPr>
        <p:spPr/>
        <p:txBody>
          <a:bodyPr/>
          <a:lstStyle/>
          <a:p>
            <a:r>
              <a:rPr lang="en-AU" dirty="0"/>
              <a:t>Lesson 5 Activities</a:t>
            </a:r>
          </a:p>
        </p:txBody>
      </p:sp>
      <p:sp>
        <p:nvSpPr>
          <p:cNvPr id="3" name="Text Placeholder 2">
            <a:extLst>
              <a:ext uri="{FF2B5EF4-FFF2-40B4-BE49-F238E27FC236}">
                <a16:creationId xmlns:a16="http://schemas.microsoft.com/office/drawing/2014/main" id="{181062C6-DB68-4208-8ABD-F71E72F03DFF}"/>
              </a:ext>
            </a:extLst>
          </p:cNvPr>
          <p:cNvSpPr>
            <a:spLocks noGrp="1"/>
          </p:cNvSpPr>
          <p:nvPr>
            <p:ph type="body" idx="1"/>
          </p:nvPr>
        </p:nvSpPr>
        <p:spPr/>
        <p:txBody>
          <a:bodyPr>
            <a:normAutofit fontScale="85000" lnSpcReduction="10000"/>
          </a:bodyPr>
          <a:lstStyle/>
          <a:p>
            <a:r>
              <a:rPr lang="en-AU" dirty="0"/>
              <a:t>Discuss with a partner the purpose of inserting personal scenes in the film</a:t>
            </a:r>
          </a:p>
          <a:p>
            <a:r>
              <a:rPr lang="en-AU" dirty="0"/>
              <a:t>Share your response with the class</a:t>
            </a:r>
          </a:p>
          <a:p>
            <a:r>
              <a:rPr lang="en-AU" dirty="0"/>
              <a:t>Write your written response to Question 13</a:t>
            </a:r>
          </a:p>
          <a:p>
            <a:pPr lvl="1"/>
            <a:r>
              <a:rPr lang="en-AU" dirty="0"/>
              <a:t>What is the purpose of scenes like this in the documentary?</a:t>
            </a:r>
            <a:br>
              <a:rPr lang="en-AU" dirty="0"/>
            </a:br>
            <a:r>
              <a:rPr lang="en-AU" dirty="0"/>
              <a:t>What are they designed to call attention to? </a:t>
            </a:r>
          </a:p>
        </p:txBody>
      </p:sp>
    </p:spTree>
    <p:extLst>
      <p:ext uri="{BB962C8B-B14F-4D97-AF65-F5344CB8AC3E}">
        <p14:creationId xmlns:p14="http://schemas.microsoft.com/office/powerpoint/2010/main" val="32459156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23CAF-94DA-4BE2-A47D-3D9A017F9AFF}"/>
              </a:ext>
            </a:extLst>
          </p:cNvPr>
          <p:cNvSpPr>
            <a:spLocks noGrp="1"/>
          </p:cNvSpPr>
          <p:nvPr>
            <p:ph type="title"/>
          </p:nvPr>
        </p:nvSpPr>
        <p:spPr/>
        <p:txBody>
          <a:bodyPr/>
          <a:lstStyle/>
          <a:p>
            <a:r>
              <a:rPr lang="en-AU" dirty="0"/>
              <a:t>Lesson 5 Activities</a:t>
            </a:r>
          </a:p>
        </p:txBody>
      </p:sp>
      <p:sp>
        <p:nvSpPr>
          <p:cNvPr id="3" name="Text Placeholder 2">
            <a:extLst>
              <a:ext uri="{FF2B5EF4-FFF2-40B4-BE49-F238E27FC236}">
                <a16:creationId xmlns:a16="http://schemas.microsoft.com/office/drawing/2014/main" id="{E74164B6-D5E4-4E08-9A6D-3554720AA2F5}"/>
              </a:ext>
            </a:extLst>
          </p:cNvPr>
          <p:cNvSpPr>
            <a:spLocks noGrp="1"/>
          </p:cNvSpPr>
          <p:nvPr>
            <p:ph type="body" idx="1"/>
          </p:nvPr>
        </p:nvSpPr>
        <p:spPr/>
        <p:txBody>
          <a:bodyPr/>
          <a:lstStyle/>
          <a:p>
            <a:r>
              <a:rPr lang="en-AU" dirty="0"/>
              <a:t>View the “Gross-out” scenes</a:t>
            </a:r>
          </a:p>
          <a:p>
            <a:r>
              <a:rPr lang="en-AU" dirty="0"/>
              <a:t>Discuss in groups of four</a:t>
            </a:r>
          </a:p>
          <a:p>
            <a:pPr lvl="1"/>
            <a:r>
              <a:rPr lang="en-AU" dirty="0"/>
              <a:t>The reason for shocking scenes</a:t>
            </a:r>
          </a:p>
          <a:p>
            <a:pPr lvl="1"/>
            <a:r>
              <a:rPr lang="en-AU" dirty="0"/>
              <a:t>The value of such scenes</a:t>
            </a:r>
          </a:p>
          <a:p>
            <a:r>
              <a:rPr lang="en-AU" dirty="0"/>
              <a:t>Formulate your own response to Question 14 </a:t>
            </a:r>
          </a:p>
          <a:p>
            <a:pPr lvl="1"/>
            <a:endParaRPr lang="en-AU" dirty="0"/>
          </a:p>
          <a:p>
            <a:endParaRPr lang="en-AU" dirty="0"/>
          </a:p>
        </p:txBody>
      </p:sp>
    </p:spTree>
    <p:extLst>
      <p:ext uri="{BB962C8B-B14F-4D97-AF65-F5344CB8AC3E}">
        <p14:creationId xmlns:p14="http://schemas.microsoft.com/office/powerpoint/2010/main" val="41825877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170A2-6319-4570-9B97-BBB24C5836F3}"/>
              </a:ext>
            </a:extLst>
          </p:cNvPr>
          <p:cNvSpPr>
            <a:spLocks noGrp="1"/>
          </p:cNvSpPr>
          <p:nvPr>
            <p:ph type="title"/>
          </p:nvPr>
        </p:nvSpPr>
        <p:spPr/>
        <p:txBody>
          <a:bodyPr/>
          <a:lstStyle/>
          <a:p>
            <a:r>
              <a:rPr lang="en-AU" dirty="0"/>
              <a:t>Mai </a:t>
            </a:r>
            <a:r>
              <a:rPr lang="en-AU" dirty="0" err="1"/>
              <a:t>Wiru</a:t>
            </a:r>
            <a:r>
              <a:rPr lang="en-AU" dirty="0"/>
              <a:t> sugar challenge questions</a:t>
            </a:r>
          </a:p>
        </p:txBody>
      </p:sp>
      <p:sp>
        <p:nvSpPr>
          <p:cNvPr id="3" name="Text Placeholder 2">
            <a:extLst>
              <a:ext uri="{FF2B5EF4-FFF2-40B4-BE49-F238E27FC236}">
                <a16:creationId xmlns:a16="http://schemas.microsoft.com/office/drawing/2014/main" id="{4C7CB4B8-9D42-43F2-B622-BB6F8C41CE7F}"/>
              </a:ext>
            </a:extLst>
          </p:cNvPr>
          <p:cNvSpPr>
            <a:spLocks noGrp="1"/>
          </p:cNvSpPr>
          <p:nvPr>
            <p:ph type="body" idx="1"/>
          </p:nvPr>
        </p:nvSpPr>
        <p:spPr/>
        <p:txBody>
          <a:bodyPr>
            <a:normAutofit fontScale="77500" lnSpcReduction="20000"/>
          </a:bodyPr>
          <a:lstStyle/>
          <a:p>
            <a:r>
              <a:rPr lang="en-AU" dirty="0"/>
              <a:t>Question 15</a:t>
            </a:r>
          </a:p>
          <a:p>
            <a:pPr lvl="1"/>
            <a:r>
              <a:rPr lang="en-AU" dirty="0"/>
              <a:t>What is the Mai </a:t>
            </a:r>
            <a:r>
              <a:rPr lang="en-AU" dirty="0" err="1"/>
              <a:t>Wiru</a:t>
            </a:r>
            <a:r>
              <a:rPr lang="en-AU" dirty="0"/>
              <a:t> sugar challenge? </a:t>
            </a:r>
          </a:p>
          <a:p>
            <a:pPr lvl="1"/>
            <a:r>
              <a:rPr lang="en-AU" dirty="0"/>
              <a:t>What happened in Amata before, during and after its introduction and conclusion?</a:t>
            </a:r>
          </a:p>
          <a:p>
            <a:r>
              <a:rPr lang="en-AU" dirty="0"/>
              <a:t>Question 16</a:t>
            </a:r>
          </a:p>
          <a:p>
            <a:pPr lvl="1"/>
            <a:r>
              <a:rPr lang="en-AU" dirty="0"/>
              <a:t>What is the impression we are given in this film about Americans and their food and health choices? </a:t>
            </a:r>
          </a:p>
          <a:p>
            <a:pPr lvl="1"/>
            <a:r>
              <a:rPr lang="en-AU" dirty="0"/>
              <a:t>Do you think this is an accurate depiction?</a:t>
            </a:r>
          </a:p>
          <a:p>
            <a:pPr lvl="1"/>
            <a:endParaRPr lang="en-AU" dirty="0"/>
          </a:p>
          <a:p>
            <a:pPr lvl="1"/>
            <a:endParaRPr lang="en-AU" dirty="0"/>
          </a:p>
        </p:txBody>
      </p:sp>
    </p:spTree>
    <p:extLst>
      <p:ext uri="{BB962C8B-B14F-4D97-AF65-F5344CB8AC3E}">
        <p14:creationId xmlns:p14="http://schemas.microsoft.com/office/powerpoint/2010/main" val="36958319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13D594-D990-4FEC-836C-38B912199CE8}"/>
              </a:ext>
            </a:extLst>
          </p:cNvPr>
          <p:cNvSpPr>
            <a:spLocks noGrp="1"/>
          </p:cNvSpPr>
          <p:nvPr>
            <p:ph type="title"/>
          </p:nvPr>
        </p:nvSpPr>
        <p:spPr/>
        <p:txBody>
          <a:bodyPr/>
          <a:lstStyle/>
          <a:p>
            <a:r>
              <a:rPr lang="en-AU" dirty="0"/>
              <a:t>Lesson 7</a:t>
            </a:r>
          </a:p>
        </p:txBody>
      </p:sp>
      <p:sp>
        <p:nvSpPr>
          <p:cNvPr id="3" name="Text Placeholder 2">
            <a:extLst>
              <a:ext uri="{FF2B5EF4-FFF2-40B4-BE49-F238E27FC236}">
                <a16:creationId xmlns:a16="http://schemas.microsoft.com/office/drawing/2014/main" id="{7870BA80-D829-44D8-96AA-C451E5A71D63}"/>
              </a:ext>
            </a:extLst>
          </p:cNvPr>
          <p:cNvSpPr>
            <a:spLocks noGrp="1"/>
          </p:cNvSpPr>
          <p:nvPr>
            <p:ph type="body" idx="1"/>
          </p:nvPr>
        </p:nvSpPr>
        <p:spPr>
          <a:xfrm>
            <a:off x="838200" y="1519084"/>
            <a:ext cx="10515600" cy="5088193"/>
          </a:xfrm>
        </p:spPr>
        <p:txBody>
          <a:bodyPr>
            <a:normAutofit fontScale="85000" lnSpcReduction="20000"/>
          </a:bodyPr>
          <a:lstStyle/>
          <a:p>
            <a:r>
              <a:rPr lang="en-AU" dirty="0"/>
              <a:t>Learning Intentions</a:t>
            </a:r>
          </a:p>
          <a:p>
            <a:pPr lvl="1"/>
            <a:r>
              <a:rPr lang="en-AU" dirty="0"/>
              <a:t>To examine the ending sequence to the movie</a:t>
            </a:r>
          </a:p>
          <a:p>
            <a:pPr lvl="1"/>
            <a:r>
              <a:rPr lang="en-AU" dirty="0"/>
              <a:t>To respond to the film critically</a:t>
            </a:r>
          </a:p>
          <a:p>
            <a:pPr lvl="1"/>
            <a:endParaRPr lang="en-AU" dirty="0"/>
          </a:p>
          <a:p>
            <a:r>
              <a:rPr lang="en-AU" dirty="0"/>
              <a:t>Success Criteria</a:t>
            </a:r>
          </a:p>
          <a:p>
            <a:pPr lvl="1"/>
            <a:r>
              <a:rPr lang="en-AU" dirty="0"/>
              <a:t>Viewed the ending sequence</a:t>
            </a:r>
          </a:p>
          <a:p>
            <a:pPr lvl="1"/>
            <a:r>
              <a:rPr lang="en-AU" dirty="0"/>
              <a:t>Justified response to the question. </a:t>
            </a:r>
          </a:p>
          <a:p>
            <a:pPr lvl="1"/>
            <a:r>
              <a:rPr lang="en-AU" dirty="0"/>
              <a:t>Reasoned responses to the </a:t>
            </a:r>
            <a:r>
              <a:rPr lang="en-AU" dirty="0" err="1"/>
              <a:t>docco</a:t>
            </a:r>
            <a:endParaRPr lang="en-AU" dirty="0"/>
          </a:p>
        </p:txBody>
      </p:sp>
    </p:spTree>
    <p:extLst>
      <p:ext uri="{BB962C8B-B14F-4D97-AF65-F5344CB8AC3E}">
        <p14:creationId xmlns:p14="http://schemas.microsoft.com/office/powerpoint/2010/main" val="34909054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DE320-F3CE-440E-B5DD-D388FC2FF5B3}"/>
              </a:ext>
            </a:extLst>
          </p:cNvPr>
          <p:cNvSpPr>
            <a:spLocks noGrp="1"/>
          </p:cNvSpPr>
          <p:nvPr>
            <p:ph type="title"/>
          </p:nvPr>
        </p:nvSpPr>
        <p:spPr/>
        <p:txBody>
          <a:bodyPr/>
          <a:lstStyle/>
          <a:p>
            <a:r>
              <a:rPr lang="en-AU" dirty="0"/>
              <a:t>Lesson 7 Activities</a:t>
            </a:r>
          </a:p>
        </p:txBody>
      </p:sp>
      <p:sp>
        <p:nvSpPr>
          <p:cNvPr id="3" name="Text Placeholder 2">
            <a:extLst>
              <a:ext uri="{FF2B5EF4-FFF2-40B4-BE49-F238E27FC236}">
                <a16:creationId xmlns:a16="http://schemas.microsoft.com/office/drawing/2014/main" id="{AC57F77E-1973-45E9-859D-B772A9DE30EB}"/>
              </a:ext>
            </a:extLst>
          </p:cNvPr>
          <p:cNvSpPr>
            <a:spLocks noGrp="1"/>
          </p:cNvSpPr>
          <p:nvPr>
            <p:ph type="body" idx="1"/>
          </p:nvPr>
        </p:nvSpPr>
        <p:spPr/>
        <p:txBody>
          <a:bodyPr/>
          <a:lstStyle/>
          <a:p>
            <a:r>
              <a:rPr lang="en-AU" dirty="0"/>
              <a:t>View the closing sequence (last 10 minutes)</a:t>
            </a:r>
          </a:p>
          <a:p>
            <a:r>
              <a:rPr lang="en-AU" dirty="0"/>
              <a:t>Consider the question</a:t>
            </a:r>
          </a:p>
          <a:p>
            <a:pPr lvl="1"/>
            <a:r>
              <a:rPr lang="en-AU" dirty="0"/>
              <a:t>Which part of the closing sequence did you like the best and why? </a:t>
            </a:r>
          </a:p>
          <a:p>
            <a:r>
              <a:rPr lang="en-AU" dirty="0"/>
              <a:t>Write a detailed response</a:t>
            </a:r>
          </a:p>
        </p:txBody>
      </p:sp>
    </p:spTree>
    <p:extLst>
      <p:ext uri="{BB962C8B-B14F-4D97-AF65-F5344CB8AC3E}">
        <p14:creationId xmlns:p14="http://schemas.microsoft.com/office/powerpoint/2010/main" val="7943083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CBFD2-DFC5-484A-ADF3-D65666E923A8}"/>
              </a:ext>
            </a:extLst>
          </p:cNvPr>
          <p:cNvSpPr>
            <a:spLocks noGrp="1"/>
          </p:cNvSpPr>
          <p:nvPr>
            <p:ph type="title"/>
          </p:nvPr>
        </p:nvSpPr>
        <p:spPr>
          <a:xfrm>
            <a:off x="811828" y="91230"/>
            <a:ext cx="10515600" cy="1325563"/>
          </a:xfrm>
        </p:spPr>
        <p:txBody>
          <a:bodyPr anchor="t"/>
          <a:lstStyle/>
          <a:p>
            <a:r>
              <a:rPr lang="en-AU" dirty="0"/>
              <a:t>Lesson 7 Activities</a:t>
            </a:r>
          </a:p>
        </p:txBody>
      </p:sp>
      <p:sp>
        <p:nvSpPr>
          <p:cNvPr id="3" name="Text Placeholder 2">
            <a:extLst>
              <a:ext uri="{FF2B5EF4-FFF2-40B4-BE49-F238E27FC236}">
                <a16:creationId xmlns:a16="http://schemas.microsoft.com/office/drawing/2014/main" id="{E033B9D1-F3F3-478A-94CA-DD044DCB34F7}"/>
              </a:ext>
            </a:extLst>
          </p:cNvPr>
          <p:cNvSpPr>
            <a:spLocks noGrp="1"/>
          </p:cNvSpPr>
          <p:nvPr>
            <p:ph type="body" idx="1"/>
          </p:nvPr>
        </p:nvSpPr>
        <p:spPr>
          <a:xfrm>
            <a:off x="838200" y="1156596"/>
            <a:ext cx="10692000" cy="5421027"/>
          </a:xfrm>
        </p:spPr>
        <p:txBody>
          <a:bodyPr>
            <a:normAutofit fontScale="62500" lnSpcReduction="20000"/>
          </a:bodyPr>
          <a:lstStyle/>
          <a:p>
            <a:pPr marL="0" indent="0">
              <a:buNone/>
            </a:pPr>
            <a:r>
              <a:rPr lang="en-AU" dirty="0"/>
              <a:t>Question 18.	</a:t>
            </a:r>
          </a:p>
          <a:p>
            <a:pPr marL="0" indent="0">
              <a:buNone/>
            </a:pPr>
            <a:r>
              <a:rPr lang="en-AU" dirty="0"/>
              <a:t>What did you think of That Sugar Film? Give your opinions on the following, explaining your answers.</a:t>
            </a:r>
          </a:p>
          <a:p>
            <a:pPr>
              <a:buFont typeface="Wingdings" panose="05000000000000000000" pitchFamily="2" charset="2"/>
              <a:buChar char="Ø"/>
            </a:pPr>
            <a:r>
              <a:rPr lang="en-AU" dirty="0"/>
              <a:t>What elements of the film did you enjoy or find interesting?</a:t>
            </a:r>
          </a:p>
          <a:p>
            <a:pPr>
              <a:buFont typeface="Wingdings" panose="05000000000000000000" pitchFamily="2" charset="2"/>
              <a:buChar char="Ø"/>
            </a:pPr>
            <a:r>
              <a:rPr lang="en-AU" dirty="0"/>
              <a:t>How do you feel about the information presented and the way it is presented?</a:t>
            </a:r>
          </a:p>
          <a:p>
            <a:pPr>
              <a:buFont typeface="Wingdings" panose="05000000000000000000" pitchFamily="2" charset="2"/>
              <a:buChar char="Ø"/>
            </a:pPr>
            <a:r>
              <a:rPr lang="en-AU" dirty="0"/>
              <a:t>What things didn’t you like?</a:t>
            </a:r>
          </a:p>
          <a:p>
            <a:pPr>
              <a:buFont typeface="Wingdings" panose="05000000000000000000" pitchFamily="2" charset="2"/>
              <a:buChar char="Ø"/>
            </a:pPr>
            <a:r>
              <a:rPr lang="en-AU" dirty="0"/>
              <a:t>Which is the most memorable part of the film for you?</a:t>
            </a:r>
          </a:p>
          <a:p>
            <a:pPr>
              <a:buFont typeface="Wingdings" panose="05000000000000000000" pitchFamily="2" charset="2"/>
              <a:buChar char="Ø"/>
            </a:pPr>
            <a:r>
              <a:rPr lang="en-AU" dirty="0"/>
              <a:t>What fact did you find the most intriguing, surprising or shocking?</a:t>
            </a:r>
          </a:p>
          <a:p>
            <a:pPr>
              <a:buFont typeface="Wingdings" panose="05000000000000000000" pitchFamily="2" charset="2"/>
              <a:buChar char="Ø"/>
            </a:pPr>
            <a:r>
              <a:rPr lang="en-AU" dirty="0"/>
              <a:t>Who would you recommend this film to?</a:t>
            </a:r>
          </a:p>
          <a:p>
            <a:pPr>
              <a:buFont typeface="Wingdings" panose="05000000000000000000" pitchFamily="2" charset="2"/>
              <a:buChar char="Ø"/>
            </a:pPr>
            <a:r>
              <a:rPr lang="en-AU" dirty="0"/>
              <a:t>Why is it worth studying at school? </a:t>
            </a:r>
          </a:p>
        </p:txBody>
      </p:sp>
      <p:grpSp>
        <p:nvGrpSpPr>
          <p:cNvPr id="9" name="Group 8">
            <a:extLst>
              <a:ext uri="{FF2B5EF4-FFF2-40B4-BE49-F238E27FC236}">
                <a16:creationId xmlns:a16="http://schemas.microsoft.com/office/drawing/2014/main" id="{D1853755-A5B9-4E9A-8A89-90FBF42FFECB}"/>
              </a:ext>
            </a:extLst>
          </p:cNvPr>
          <p:cNvGrpSpPr/>
          <p:nvPr/>
        </p:nvGrpSpPr>
        <p:grpSpPr>
          <a:xfrm>
            <a:off x="308848" y="737418"/>
            <a:ext cx="11724333" cy="6120581"/>
            <a:chOff x="308848" y="1434991"/>
            <a:chExt cx="11724333" cy="5168706"/>
          </a:xfrm>
        </p:grpSpPr>
        <p:sp>
          <p:nvSpPr>
            <p:cNvPr id="4" name="TextBox 3">
              <a:extLst>
                <a:ext uri="{FF2B5EF4-FFF2-40B4-BE49-F238E27FC236}">
                  <a16:creationId xmlns:a16="http://schemas.microsoft.com/office/drawing/2014/main" id="{2408B505-153B-4CDC-B149-71E415C12432}"/>
                </a:ext>
              </a:extLst>
            </p:cNvPr>
            <p:cNvSpPr txBox="1"/>
            <p:nvPr/>
          </p:nvSpPr>
          <p:spPr>
            <a:xfrm>
              <a:off x="518160" y="1434991"/>
              <a:ext cx="11155680" cy="369332"/>
            </a:xfrm>
            <a:prstGeom prst="rect">
              <a:avLst/>
            </a:prstGeom>
            <a:noFill/>
          </p:spPr>
          <p:txBody>
            <a:bodyPr wrap="square" rtlCol="0">
              <a:spAutoFit/>
            </a:bodyPr>
            <a:lstStyle/>
            <a:p>
              <a:pPr algn="ctr"/>
              <a:r>
                <a:rPr lang="en-AU" b="1" dirty="0">
                  <a:solidFill>
                    <a:srgbClr val="FF0000"/>
                  </a:solidFill>
                </a:rPr>
                <a:t>INDIVIDUAL WORK***INDIVIDUAL WORK*** INDIVIDUAL WORK*** INDIVIDUAL WORK*** INDIVIDUAL WORK**</a:t>
              </a:r>
            </a:p>
          </p:txBody>
        </p:sp>
        <p:grpSp>
          <p:nvGrpSpPr>
            <p:cNvPr id="8" name="Group 7">
              <a:extLst>
                <a:ext uri="{FF2B5EF4-FFF2-40B4-BE49-F238E27FC236}">
                  <a16:creationId xmlns:a16="http://schemas.microsoft.com/office/drawing/2014/main" id="{3C9E030A-AA3E-4C3B-BCC3-939DE5DD968F}"/>
                </a:ext>
              </a:extLst>
            </p:cNvPr>
            <p:cNvGrpSpPr/>
            <p:nvPr/>
          </p:nvGrpSpPr>
          <p:grpSpPr>
            <a:xfrm>
              <a:off x="308848" y="1434991"/>
              <a:ext cx="11724333" cy="5168706"/>
              <a:chOff x="308848" y="1434991"/>
              <a:chExt cx="11724333" cy="5168706"/>
            </a:xfrm>
          </p:grpSpPr>
          <p:sp>
            <p:nvSpPr>
              <p:cNvPr id="5" name="TextBox 4">
                <a:extLst>
                  <a:ext uri="{FF2B5EF4-FFF2-40B4-BE49-F238E27FC236}">
                    <a16:creationId xmlns:a16="http://schemas.microsoft.com/office/drawing/2014/main" id="{0C6C692A-E83B-4627-BC4A-3DDE6D57566A}"/>
                  </a:ext>
                </a:extLst>
              </p:cNvPr>
              <p:cNvSpPr txBox="1"/>
              <p:nvPr/>
            </p:nvSpPr>
            <p:spPr>
              <a:xfrm>
                <a:off x="518160" y="6234365"/>
                <a:ext cx="11155680" cy="369332"/>
              </a:xfrm>
              <a:prstGeom prst="rect">
                <a:avLst/>
              </a:prstGeom>
              <a:noFill/>
            </p:spPr>
            <p:txBody>
              <a:bodyPr wrap="square" rtlCol="0">
                <a:spAutoFit/>
              </a:bodyPr>
              <a:lstStyle/>
              <a:p>
                <a:pPr algn="ctr"/>
                <a:r>
                  <a:rPr lang="en-AU" b="1" dirty="0">
                    <a:solidFill>
                      <a:srgbClr val="FF0000"/>
                    </a:solidFill>
                  </a:rPr>
                  <a:t>INDIVIDUAL WORK***INDIVIDUAL WORK*** INDIVIDUAL WORK*** INDIVIDUAL WORK*** INDIVIDUAL WORK**</a:t>
                </a:r>
              </a:p>
            </p:txBody>
          </p:sp>
          <p:sp>
            <p:nvSpPr>
              <p:cNvPr id="6" name="Rectangle 5">
                <a:extLst>
                  <a:ext uri="{FF2B5EF4-FFF2-40B4-BE49-F238E27FC236}">
                    <a16:creationId xmlns:a16="http://schemas.microsoft.com/office/drawing/2014/main" id="{14497009-55AD-4F03-A412-AEFEED73D07A}"/>
                  </a:ext>
                </a:extLst>
              </p:cNvPr>
              <p:cNvSpPr/>
              <p:nvPr/>
            </p:nvSpPr>
            <p:spPr>
              <a:xfrm rot="16200000">
                <a:off x="-2090839" y="3834678"/>
                <a:ext cx="5168705" cy="369332"/>
              </a:xfrm>
              <a:prstGeom prst="rect">
                <a:avLst/>
              </a:prstGeom>
            </p:spPr>
            <p:txBody>
              <a:bodyPr wrap="square">
                <a:spAutoFit/>
              </a:bodyPr>
              <a:lstStyle/>
              <a:p>
                <a:pPr algn="ctr"/>
                <a:r>
                  <a:rPr lang="en-AU" b="1" dirty="0">
                    <a:solidFill>
                      <a:srgbClr val="FF0000"/>
                    </a:solidFill>
                  </a:rPr>
                  <a:t>INDIVIDUAL WORK***INDIVIDUAL WORK*** INDIV</a:t>
                </a:r>
              </a:p>
            </p:txBody>
          </p:sp>
          <p:sp>
            <p:nvSpPr>
              <p:cNvPr id="7" name="Rectangle 6">
                <a:extLst>
                  <a:ext uri="{FF2B5EF4-FFF2-40B4-BE49-F238E27FC236}">
                    <a16:creationId xmlns:a16="http://schemas.microsoft.com/office/drawing/2014/main" id="{AE12B0A7-AC62-483B-951E-8FA58D20B5B4}"/>
                  </a:ext>
                </a:extLst>
              </p:cNvPr>
              <p:cNvSpPr/>
              <p:nvPr/>
            </p:nvSpPr>
            <p:spPr>
              <a:xfrm rot="5400000">
                <a:off x="9264162" y="3834678"/>
                <a:ext cx="5168705" cy="369332"/>
              </a:xfrm>
              <a:prstGeom prst="rect">
                <a:avLst/>
              </a:prstGeom>
            </p:spPr>
            <p:txBody>
              <a:bodyPr wrap="square">
                <a:spAutoFit/>
              </a:bodyPr>
              <a:lstStyle/>
              <a:p>
                <a:pPr algn="ctr"/>
                <a:r>
                  <a:rPr lang="en-AU" b="1" dirty="0">
                    <a:solidFill>
                      <a:srgbClr val="FF0000"/>
                    </a:solidFill>
                  </a:rPr>
                  <a:t>INDIVIDUAL WORK***INDIVIDUAL WORK*** INDIV</a:t>
                </a:r>
              </a:p>
            </p:txBody>
          </p:sp>
        </p:grpSp>
      </p:grpSp>
    </p:spTree>
    <p:extLst>
      <p:ext uri="{BB962C8B-B14F-4D97-AF65-F5344CB8AC3E}">
        <p14:creationId xmlns:p14="http://schemas.microsoft.com/office/powerpoint/2010/main" val="12069430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2C850-EA70-475B-B4E0-E0B83D45AC87}"/>
              </a:ext>
            </a:extLst>
          </p:cNvPr>
          <p:cNvSpPr>
            <a:spLocks noGrp="1"/>
          </p:cNvSpPr>
          <p:nvPr>
            <p:ph type="title"/>
          </p:nvPr>
        </p:nvSpPr>
        <p:spPr/>
        <p:txBody>
          <a:bodyPr anchor="t"/>
          <a:lstStyle/>
          <a:p>
            <a:r>
              <a:rPr lang="en-AU" dirty="0"/>
              <a:t>Lesson 7 Activities</a:t>
            </a:r>
          </a:p>
        </p:txBody>
      </p:sp>
      <p:sp>
        <p:nvSpPr>
          <p:cNvPr id="3" name="Text Placeholder 2">
            <a:extLst>
              <a:ext uri="{FF2B5EF4-FFF2-40B4-BE49-F238E27FC236}">
                <a16:creationId xmlns:a16="http://schemas.microsoft.com/office/drawing/2014/main" id="{37A1E2FE-55C7-4A0E-8E09-0B160984E1A0}"/>
              </a:ext>
            </a:extLst>
          </p:cNvPr>
          <p:cNvSpPr>
            <a:spLocks noGrp="1"/>
          </p:cNvSpPr>
          <p:nvPr>
            <p:ph type="body" idx="1"/>
          </p:nvPr>
        </p:nvSpPr>
        <p:spPr>
          <a:xfrm>
            <a:off x="838200" y="1430488"/>
            <a:ext cx="10515600" cy="4746476"/>
          </a:xfrm>
        </p:spPr>
        <p:txBody>
          <a:bodyPr>
            <a:noAutofit/>
          </a:bodyPr>
          <a:lstStyle/>
          <a:p>
            <a:pPr marL="0" indent="0">
              <a:lnSpc>
                <a:spcPct val="110000"/>
              </a:lnSpc>
              <a:buNone/>
            </a:pPr>
            <a:r>
              <a:rPr lang="en-AU" sz="2400" dirty="0"/>
              <a:t>Question 19.	</a:t>
            </a:r>
          </a:p>
          <a:p>
            <a:pPr marL="0" indent="0">
              <a:lnSpc>
                <a:spcPct val="110000"/>
              </a:lnSpc>
              <a:buNone/>
            </a:pPr>
            <a:r>
              <a:rPr lang="en-AU" sz="2400" dirty="0"/>
              <a:t>That Sugar Film is openly geared towards creating dialogue about our health, food choices and changing ideas about ‘healthy eating’.</a:t>
            </a:r>
          </a:p>
          <a:p>
            <a:pPr>
              <a:lnSpc>
                <a:spcPct val="110000"/>
              </a:lnSpc>
              <a:buFont typeface="Wingdings" panose="05000000000000000000" pitchFamily="2" charset="2"/>
              <a:buChar char="Ø"/>
            </a:pPr>
            <a:r>
              <a:rPr lang="en-AU" sz="2400" dirty="0"/>
              <a:t>In your opinion how successful is it in achieving its purpose?</a:t>
            </a:r>
          </a:p>
          <a:p>
            <a:pPr>
              <a:lnSpc>
                <a:spcPct val="110000"/>
              </a:lnSpc>
              <a:buFont typeface="Wingdings" panose="05000000000000000000" pitchFamily="2" charset="2"/>
              <a:buChar char="Ø"/>
            </a:pPr>
            <a:r>
              <a:rPr lang="en-AU" sz="2400" dirty="0"/>
              <a:t>If sugar is so bad for you, why isn’t it banned? Why is it found in or added to so many products? </a:t>
            </a:r>
          </a:p>
          <a:p>
            <a:pPr>
              <a:lnSpc>
                <a:spcPct val="110000"/>
              </a:lnSpc>
              <a:buFont typeface="Wingdings" panose="05000000000000000000" pitchFamily="2" charset="2"/>
              <a:buChar char="Ø"/>
            </a:pPr>
            <a:r>
              <a:rPr lang="en-AU" sz="2400" dirty="0"/>
              <a:t>Create a meal plan for a day that contains no refined sugar. </a:t>
            </a:r>
          </a:p>
          <a:p>
            <a:pPr>
              <a:lnSpc>
                <a:spcPct val="110000"/>
              </a:lnSpc>
              <a:buFont typeface="Wingdings" panose="05000000000000000000" pitchFamily="2" charset="2"/>
              <a:buChar char="Ø"/>
            </a:pPr>
            <a:r>
              <a:rPr lang="en-AU" sz="2400" dirty="0"/>
              <a:t>How hard did you find this to achieve? How about a plan for a week or more? What issues do you encounter? What are the difficulties with choosing a no-refined-sugar diet?</a:t>
            </a:r>
          </a:p>
        </p:txBody>
      </p:sp>
      <p:grpSp>
        <p:nvGrpSpPr>
          <p:cNvPr id="4" name="Group 3">
            <a:extLst>
              <a:ext uri="{FF2B5EF4-FFF2-40B4-BE49-F238E27FC236}">
                <a16:creationId xmlns:a16="http://schemas.microsoft.com/office/drawing/2014/main" id="{A66414F3-6FE3-41C5-9AE4-92FEEC5D8430}"/>
              </a:ext>
            </a:extLst>
          </p:cNvPr>
          <p:cNvGrpSpPr/>
          <p:nvPr/>
        </p:nvGrpSpPr>
        <p:grpSpPr>
          <a:xfrm>
            <a:off x="308848" y="1032387"/>
            <a:ext cx="11724333" cy="5571310"/>
            <a:chOff x="308848" y="1434991"/>
            <a:chExt cx="11724333" cy="5168706"/>
          </a:xfrm>
        </p:grpSpPr>
        <p:sp>
          <p:nvSpPr>
            <p:cNvPr id="5" name="TextBox 4">
              <a:extLst>
                <a:ext uri="{FF2B5EF4-FFF2-40B4-BE49-F238E27FC236}">
                  <a16:creationId xmlns:a16="http://schemas.microsoft.com/office/drawing/2014/main" id="{B8AB4DC9-C7DE-441A-97DD-38FB74A0CC5E}"/>
                </a:ext>
              </a:extLst>
            </p:cNvPr>
            <p:cNvSpPr txBox="1"/>
            <p:nvPr/>
          </p:nvSpPr>
          <p:spPr>
            <a:xfrm>
              <a:off x="518160" y="1434991"/>
              <a:ext cx="11155680" cy="369332"/>
            </a:xfrm>
            <a:prstGeom prst="rect">
              <a:avLst/>
            </a:prstGeom>
            <a:noFill/>
          </p:spPr>
          <p:txBody>
            <a:bodyPr wrap="square" rtlCol="0">
              <a:spAutoFit/>
            </a:bodyPr>
            <a:lstStyle/>
            <a:p>
              <a:pPr algn="ctr"/>
              <a:r>
                <a:rPr lang="en-AU" b="1" dirty="0">
                  <a:solidFill>
                    <a:srgbClr val="FF0000"/>
                  </a:solidFill>
                </a:rPr>
                <a:t>INDIVIDUAL WORK***INDIVIDUAL WORK*** INDIVIDUAL WORK*** INDIVIDUAL WORK*** INDIVIDUAL WORK**</a:t>
              </a:r>
            </a:p>
          </p:txBody>
        </p:sp>
        <p:grpSp>
          <p:nvGrpSpPr>
            <p:cNvPr id="6" name="Group 5">
              <a:extLst>
                <a:ext uri="{FF2B5EF4-FFF2-40B4-BE49-F238E27FC236}">
                  <a16:creationId xmlns:a16="http://schemas.microsoft.com/office/drawing/2014/main" id="{A61E03F1-44CD-4886-83E3-5DB528F51CAC}"/>
                </a:ext>
              </a:extLst>
            </p:cNvPr>
            <p:cNvGrpSpPr/>
            <p:nvPr/>
          </p:nvGrpSpPr>
          <p:grpSpPr>
            <a:xfrm>
              <a:off x="308848" y="1434991"/>
              <a:ext cx="11724333" cy="5168706"/>
              <a:chOff x="308848" y="1434991"/>
              <a:chExt cx="11724333" cy="5168706"/>
            </a:xfrm>
          </p:grpSpPr>
          <p:sp>
            <p:nvSpPr>
              <p:cNvPr id="7" name="TextBox 6">
                <a:extLst>
                  <a:ext uri="{FF2B5EF4-FFF2-40B4-BE49-F238E27FC236}">
                    <a16:creationId xmlns:a16="http://schemas.microsoft.com/office/drawing/2014/main" id="{74E37762-1732-46C8-8573-C5BF343BFFBE}"/>
                  </a:ext>
                </a:extLst>
              </p:cNvPr>
              <p:cNvSpPr txBox="1"/>
              <p:nvPr/>
            </p:nvSpPr>
            <p:spPr>
              <a:xfrm>
                <a:off x="518160" y="6234365"/>
                <a:ext cx="11155680" cy="369332"/>
              </a:xfrm>
              <a:prstGeom prst="rect">
                <a:avLst/>
              </a:prstGeom>
              <a:noFill/>
            </p:spPr>
            <p:txBody>
              <a:bodyPr wrap="square" rtlCol="0">
                <a:spAutoFit/>
              </a:bodyPr>
              <a:lstStyle/>
              <a:p>
                <a:pPr algn="ctr"/>
                <a:r>
                  <a:rPr lang="en-AU" b="1" dirty="0">
                    <a:solidFill>
                      <a:srgbClr val="FF0000"/>
                    </a:solidFill>
                  </a:rPr>
                  <a:t>INDIVIDUAL WORK***INDIVIDUAL WORK*** INDIVIDUAL WORK*** INDIVIDUAL WORK*** INDIVIDUAL WORK**</a:t>
                </a:r>
              </a:p>
            </p:txBody>
          </p:sp>
          <p:sp>
            <p:nvSpPr>
              <p:cNvPr id="8" name="Rectangle 7">
                <a:extLst>
                  <a:ext uri="{FF2B5EF4-FFF2-40B4-BE49-F238E27FC236}">
                    <a16:creationId xmlns:a16="http://schemas.microsoft.com/office/drawing/2014/main" id="{836AFE76-BEB0-4365-A5C9-A7CFBCCAEC5E}"/>
                  </a:ext>
                </a:extLst>
              </p:cNvPr>
              <p:cNvSpPr/>
              <p:nvPr/>
            </p:nvSpPr>
            <p:spPr>
              <a:xfrm rot="16200000">
                <a:off x="-2090839" y="3834678"/>
                <a:ext cx="5168705" cy="369332"/>
              </a:xfrm>
              <a:prstGeom prst="rect">
                <a:avLst/>
              </a:prstGeom>
            </p:spPr>
            <p:txBody>
              <a:bodyPr wrap="square">
                <a:spAutoFit/>
              </a:bodyPr>
              <a:lstStyle/>
              <a:p>
                <a:pPr algn="ctr"/>
                <a:r>
                  <a:rPr lang="en-AU" b="1" dirty="0">
                    <a:solidFill>
                      <a:srgbClr val="FF0000"/>
                    </a:solidFill>
                  </a:rPr>
                  <a:t>INDIVIDUAL WORK***INDIVIDUAL WORK*** INDIV</a:t>
                </a:r>
              </a:p>
            </p:txBody>
          </p:sp>
          <p:sp>
            <p:nvSpPr>
              <p:cNvPr id="9" name="Rectangle 8">
                <a:extLst>
                  <a:ext uri="{FF2B5EF4-FFF2-40B4-BE49-F238E27FC236}">
                    <a16:creationId xmlns:a16="http://schemas.microsoft.com/office/drawing/2014/main" id="{65471785-E0CC-4FD7-966B-32F365FF3C97}"/>
                  </a:ext>
                </a:extLst>
              </p:cNvPr>
              <p:cNvSpPr/>
              <p:nvPr/>
            </p:nvSpPr>
            <p:spPr>
              <a:xfrm rot="5400000">
                <a:off x="9264162" y="3834678"/>
                <a:ext cx="5168705" cy="369332"/>
              </a:xfrm>
              <a:prstGeom prst="rect">
                <a:avLst/>
              </a:prstGeom>
            </p:spPr>
            <p:txBody>
              <a:bodyPr wrap="square">
                <a:spAutoFit/>
              </a:bodyPr>
              <a:lstStyle/>
              <a:p>
                <a:pPr algn="ctr"/>
                <a:r>
                  <a:rPr lang="en-AU" b="1" dirty="0">
                    <a:solidFill>
                      <a:srgbClr val="FF0000"/>
                    </a:solidFill>
                  </a:rPr>
                  <a:t>INDIVIDUAL WORK***INDIVIDUAL WORK*** INDIV</a:t>
                </a:r>
              </a:p>
            </p:txBody>
          </p:sp>
        </p:grpSp>
      </p:grpSp>
    </p:spTree>
    <p:extLst>
      <p:ext uri="{BB962C8B-B14F-4D97-AF65-F5344CB8AC3E}">
        <p14:creationId xmlns:p14="http://schemas.microsoft.com/office/powerpoint/2010/main" val="5060121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81410-3C58-4DD0-B999-6DCC77F8E0E5}"/>
              </a:ext>
            </a:extLst>
          </p:cNvPr>
          <p:cNvSpPr>
            <a:spLocks noGrp="1"/>
          </p:cNvSpPr>
          <p:nvPr>
            <p:ph type="title"/>
          </p:nvPr>
        </p:nvSpPr>
        <p:spPr/>
        <p:txBody>
          <a:bodyPr/>
          <a:lstStyle/>
          <a:p>
            <a:r>
              <a:rPr lang="en-AU" dirty="0"/>
              <a:t>Lesson 8</a:t>
            </a:r>
          </a:p>
        </p:txBody>
      </p:sp>
      <p:sp>
        <p:nvSpPr>
          <p:cNvPr id="3" name="Text Placeholder 2">
            <a:extLst>
              <a:ext uri="{FF2B5EF4-FFF2-40B4-BE49-F238E27FC236}">
                <a16:creationId xmlns:a16="http://schemas.microsoft.com/office/drawing/2014/main" id="{9E84B1D3-D108-4F5B-BB55-5931168EF0EC}"/>
              </a:ext>
            </a:extLst>
          </p:cNvPr>
          <p:cNvSpPr>
            <a:spLocks noGrp="1"/>
          </p:cNvSpPr>
          <p:nvPr>
            <p:ph type="body" idx="1"/>
          </p:nvPr>
        </p:nvSpPr>
        <p:spPr/>
        <p:txBody>
          <a:bodyPr>
            <a:normAutofit fontScale="85000" lnSpcReduction="20000"/>
          </a:bodyPr>
          <a:lstStyle/>
          <a:p>
            <a:r>
              <a:rPr lang="en-AU" dirty="0"/>
              <a:t>Learning Intentions</a:t>
            </a:r>
          </a:p>
          <a:p>
            <a:pPr lvl="1"/>
            <a:r>
              <a:rPr lang="en-AU" dirty="0"/>
              <a:t>To consider the impact of the </a:t>
            </a:r>
            <a:r>
              <a:rPr lang="en-AU" dirty="0" err="1"/>
              <a:t>docco</a:t>
            </a:r>
            <a:r>
              <a:rPr lang="en-AU" dirty="0"/>
              <a:t>.</a:t>
            </a:r>
          </a:p>
          <a:p>
            <a:pPr lvl="1"/>
            <a:r>
              <a:rPr lang="en-US" dirty="0"/>
              <a:t>To prepare for an assessment task</a:t>
            </a:r>
            <a:endParaRPr lang="en-AU" dirty="0"/>
          </a:p>
          <a:p>
            <a:pPr lvl="1"/>
            <a:endParaRPr lang="en-AU" dirty="0"/>
          </a:p>
          <a:p>
            <a:r>
              <a:rPr lang="en-AU" dirty="0"/>
              <a:t>Success Criteria</a:t>
            </a:r>
          </a:p>
          <a:p>
            <a:pPr lvl="1"/>
            <a:r>
              <a:rPr lang="en-AU" dirty="0"/>
              <a:t>Completed Impact Chart</a:t>
            </a:r>
          </a:p>
          <a:p>
            <a:pPr lvl="1"/>
            <a:r>
              <a:rPr lang="en-US" dirty="0"/>
              <a:t>Completed mock assessment</a:t>
            </a:r>
            <a:endParaRPr lang="en-AU" dirty="0"/>
          </a:p>
        </p:txBody>
      </p:sp>
    </p:spTree>
    <p:extLst>
      <p:ext uri="{BB962C8B-B14F-4D97-AF65-F5344CB8AC3E}">
        <p14:creationId xmlns:p14="http://schemas.microsoft.com/office/powerpoint/2010/main" val="14977803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55A26-4A78-4646-B93D-512402F92D24}"/>
              </a:ext>
            </a:extLst>
          </p:cNvPr>
          <p:cNvSpPr>
            <a:spLocks noGrp="1"/>
          </p:cNvSpPr>
          <p:nvPr>
            <p:ph type="title"/>
          </p:nvPr>
        </p:nvSpPr>
        <p:spPr/>
        <p:txBody>
          <a:bodyPr/>
          <a:lstStyle/>
          <a:p>
            <a:r>
              <a:rPr lang="en-AU" dirty="0"/>
              <a:t>Lesson 8 Activities</a:t>
            </a:r>
          </a:p>
        </p:txBody>
      </p:sp>
      <p:sp>
        <p:nvSpPr>
          <p:cNvPr id="3" name="Text Placeholder 2">
            <a:extLst>
              <a:ext uri="{FF2B5EF4-FFF2-40B4-BE49-F238E27FC236}">
                <a16:creationId xmlns:a16="http://schemas.microsoft.com/office/drawing/2014/main" id="{1170A722-B9A3-43F8-9BA8-F3FC80F11E32}"/>
              </a:ext>
            </a:extLst>
          </p:cNvPr>
          <p:cNvSpPr>
            <a:spLocks noGrp="1"/>
          </p:cNvSpPr>
          <p:nvPr>
            <p:ph type="body" idx="1"/>
          </p:nvPr>
        </p:nvSpPr>
        <p:spPr/>
        <p:txBody>
          <a:bodyPr>
            <a:normAutofit fontScale="85000" lnSpcReduction="20000"/>
          </a:bodyPr>
          <a:lstStyle/>
          <a:p>
            <a:pPr marL="0" indent="0">
              <a:buNone/>
            </a:pPr>
            <a:r>
              <a:rPr lang="en-AU" i="1" dirty="0"/>
              <a:t>Gameau says his main motivations for changing his eating habits were personal – first he wanted to impress his girlfriend, and now, as a soon-to-be-father concerned for the health of his child, he’s anxious to find out all he can about the effects of sugar. </a:t>
            </a:r>
            <a:endParaRPr lang="en-AU" dirty="0"/>
          </a:p>
          <a:p>
            <a:pPr lvl="0">
              <a:buFont typeface="Wingdings" panose="05000000000000000000" pitchFamily="2" charset="2"/>
              <a:buChar char="ü"/>
            </a:pPr>
            <a:r>
              <a:rPr lang="en-AU" dirty="0"/>
              <a:t>What influences your food choices?  </a:t>
            </a:r>
          </a:p>
          <a:p>
            <a:pPr lvl="0">
              <a:buFont typeface="Wingdings" panose="05000000000000000000" pitchFamily="2" charset="2"/>
              <a:buChar char="ü"/>
            </a:pPr>
            <a:r>
              <a:rPr lang="en-AU" dirty="0"/>
              <a:t>How many of these affect your diet? </a:t>
            </a:r>
          </a:p>
        </p:txBody>
      </p:sp>
    </p:spTree>
    <p:extLst>
      <p:ext uri="{BB962C8B-B14F-4D97-AF65-F5344CB8AC3E}">
        <p14:creationId xmlns:p14="http://schemas.microsoft.com/office/powerpoint/2010/main" val="6677059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16014-147D-4B72-862E-A008A0FB6073}"/>
              </a:ext>
            </a:extLst>
          </p:cNvPr>
          <p:cNvSpPr>
            <a:spLocks noGrp="1"/>
          </p:cNvSpPr>
          <p:nvPr>
            <p:ph type="title"/>
          </p:nvPr>
        </p:nvSpPr>
        <p:spPr/>
        <p:txBody>
          <a:bodyPr/>
          <a:lstStyle/>
          <a:p>
            <a:r>
              <a:rPr lang="en-AU" dirty="0"/>
              <a:t>Lesson 8 Activities</a:t>
            </a:r>
          </a:p>
        </p:txBody>
      </p:sp>
      <p:sp>
        <p:nvSpPr>
          <p:cNvPr id="3" name="Text Placeholder 2">
            <a:extLst>
              <a:ext uri="{FF2B5EF4-FFF2-40B4-BE49-F238E27FC236}">
                <a16:creationId xmlns:a16="http://schemas.microsoft.com/office/drawing/2014/main" id="{F30ADB50-3B85-4D05-8C8A-3BC70F3EC2BC}"/>
              </a:ext>
            </a:extLst>
          </p:cNvPr>
          <p:cNvSpPr>
            <a:spLocks noGrp="1"/>
          </p:cNvSpPr>
          <p:nvPr>
            <p:ph type="body" idx="1"/>
          </p:nvPr>
        </p:nvSpPr>
        <p:spPr>
          <a:xfrm>
            <a:off x="281354" y="1690688"/>
            <a:ext cx="11408898" cy="4802187"/>
          </a:xfrm>
        </p:spPr>
        <p:txBody>
          <a:bodyPr>
            <a:normAutofit fontScale="47500" lnSpcReduction="20000"/>
          </a:bodyPr>
          <a:lstStyle/>
          <a:p>
            <a:pPr marL="0" indent="0">
              <a:buNone/>
            </a:pPr>
            <a:r>
              <a:rPr lang="en-GB" dirty="0"/>
              <a:t>View the trailer twice and then respond to the following questions</a:t>
            </a:r>
            <a:endParaRPr lang="en-AU" dirty="0"/>
          </a:p>
          <a:p>
            <a:pPr marL="742950" lvl="0" indent="-742950">
              <a:buFont typeface="+mj-lt"/>
              <a:buAutoNum type="arabicPeriod"/>
            </a:pPr>
            <a:r>
              <a:rPr lang="en-GB" dirty="0"/>
              <a:t>What is the genre? </a:t>
            </a:r>
            <a:endParaRPr lang="en-AU" dirty="0"/>
          </a:p>
          <a:p>
            <a:pPr marL="742950" lvl="0" indent="-742950">
              <a:buFont typeface="+mj-lt"/>
              <a:buAutoNum type="arabicPeriod"/>
            </a:pPr>
            <a:r>
              <a:rPr lang="en-GB" dirty="0"/>
              <a:t>Narrative: how is the story told?</a:t>
            </a:r>
            <a:endParaRPr lang="en-AU" dirty="0"/>
          </a:p>
          <a:p>
            <a:pPr marL="742950" lvl="0" indent="-742950">
              <a:buFont typeface="+mj-lt"/>
              <a:buAutoNum type="arabicPeriod"/>
            </a:pPr>
            <a:r>
              <a:rPr lang="en-GB" dirty="0"/>
              <a:t>Location: how does the trailer reveal location? </a:t>
            </a:r>
            <a:endParaRPr lang="en-AU" dirty="0"/>
          </a:p>
          <a:p>
            <a:pPr marL="742950" lvl="0" indent="-742950">
              <a:buFont typeface="+mj-lt"/>
              <a:buAutoNum type="arabicPeriod"/>
            </a:pPr>
            <a:r>
              <a:rPr lang="en-GB" dirty="0"/>
              <a:t>Characters: describe the people portrayed in the trailer</a:t>
            </a:r>
            <a:endParaRPr lang="en-AU" dirty="0"/>
          </a:p>
          <a:p>
            <a:pPr marL="742950" lvl="0" indent="-742950">
              <a:buFont typeface="+mj-lt"/>
              <a:buAutoNum type="arabicPeriod"/>
            </a:pPr>
            <a:r>
              <a:rPr lang="en-GB" dirty="0"/>
              <a:t>Voice Over: who is the narrator? </a:t>
            </a:r>
            <a:endParaRPr lang="en-AU" dirty="0"/>
          </a:p>
          <a:p>
            <a:pPr marL="742950" lvl="0" indent="-742950">
              <a:buFont typeface="+mj-lt"/>
              <a:buAutoNum type="arabicPeriod"/>
            </a:pPr>
            <a:r>
              <a:rPr lang="en-GB" dirty="0"/>
              <a:t>Theme: identify at least one theme based on the trailer</a:t>
            </a:r>
            <a:endParaRPr lang="en-AU" dirty="0"/>
          </a:p>
          <a:p>
            <a:pPr marL="742950" lvl="0" indent="-742950">
              <a:buFont typeface="+mj-lt"/>
              <a:buAutoNum type="arabicPeriod"/>
            </a:pPr>
            <a:r>
              <a:rPr lang="en-GB" dirty="0"/>
              <a:t>Pacing: how is the trailer paced: fast, medium, slow? </a:t>
            </a:r>
            <a:endParaRPr lang="en-AU" dirty="0"/>
          </a:p>
          <a:p>
            <a:pPr marL="742950" lvl="0" indent="-742950">
              <a:buFont typeface="+mj-lt"/>
              <a:buAutoNum type="arabicPeriod"/>
            </a:pPr>
            <a:r>
              <a:rPr lang="en-GB" dirty="0"/>
              <a:t>On-screen graphics:  what kind of info is revealed--be specific</a:t>
            </a:r>
            <a:endParaRPr lang="en-AU" dirty="0"/>
          </a:p>
          <a:p>
            <a:pPr marL="742950" lvl="0" indent="-742950">
              <a:buFont typeface="+mj-lt"/>
              <a:buAutoNum type="arabicPeriod"/>
            </a:pPr>
            <a:r>
              <a:rPr lang="en-GB" dirty="0"/>
              <a:t>Music and other sound effects: what role do they play?</a:t>
            </a:r>
            <a:endParaRPr lang="en-AU" dirty="0"/>
          </a:p>
        </p:txBody>
      </p:sp>
    </p:spTree>
    <p:extLst>
      <p:ext uri="{BB962C8B-B14F-4D97-AF65-F5344CB8AC3E}">
        <p14:creationId xmlns:p14="http://schemas.microsoft.com/office/powerpoint/2010/main" val="21489889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7F042-F7BE-4F79-9410-1C9AD95A2D69}"/>
              </a:ext>
            </a:extLst>
          </p:cNvPr>
          <p:cNvSpPr>
            <a:spLocks noGrp="1"/>
          </p:cNvSpPr>
          <p:nvPr>
            <p:ph type="title"/>
          </p:nvPr>
        </p:nvSpPr>
        <p:spPr/>
        <p:txBody>
          <a:bodyPr>
            <a:normAutofit/>
          </a:bodyPr>
          <a:lstStyle/>
          <a:p>
            <a:r>
              <a:rPr lang="en-GB" sz="2800" dirty="0"/>
              <a:t>Annotate the following two images, identifying the visual conventions used (camera shots, angles, composition, </a:t>
            </a:r>
            <a:r>
              <a:rPr lang="en-GB" sz="2800" dirty="0" err="1"/>
              <a:t>mise</a:t>
            </a:r>
            <a:r>
              <a:rPr lang="en-GB" sz="2800" dirty="0"/>
              <a:t>-</a:t>
            </a:r>
            <a:r>
              <a:rPr lang="en-GB" sz="2800" dirty="0" err="1"/>
              <a:t>en</a:t>
            </a:r>
            <a:r>
              <a:rPr lang="en-GB" sz="2800" dirty="0"/>
              <a:t>-scene, etc).  Explain the main ideas in each image</a:t>
            </a:r>
            <a:r>
              <a:rPr lang="en-GB" sz="2200" dirty="0"/>
              <a:t>.</a:t>
            </a:r>
            <a:endParaRPr lang="en-AU" sz="2200" dirty="0"/>
          </a:p>
        </p:txBody>
      </p:sp>
      <p:pic>
        <p:nvPicPr>
          <p:cNvPr id="5" name="Picture 4">
            <a:extLst>
              <a:ext uri="{FF2B5EF4-FFF2-40B4-BE49-F238E27FC236}">
                <a16:creationId xmlns:a16="http://schemas.microsoft.com/office/drawing/2014/main" id="{C23BEF75-3B5B-41D9-84BF-8EFAE7BE5C24}"/>
              </a:ext>
            </a:extLst>
          </p:cNvPr>
          <p:cNvPicPr/>
          <p:nvPr/>
        </p:nvPicPr>
        <p:blipFill rotWithShape="1">
          <a:blip r:embed="rId2"/>
          <a:srcRect t="13656" b="15851"/>
          <a:stretch/>
        </p:blipFill>
        <p:spPr bwMode="auto">
          <a:xfrm>
            <a:off x="281012" y="1715306"/>
            <a:ext cx="11629976" cy="5142694"/>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1069689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99317E1-0B52-43C3-85D0-68236118BFCD}"/>
              </a:ext>
            </a:extLst>
          </p:cNvPr>
          <p:cNvPicPr/>
          <p:nvPr/>
        </p:nvPicPr>
        <p:blipFill rotWithShape="1">
          <a:blip r:embed="rId2"/>
          <a:srcRect t="14025" b="14744"/>
          <a:stretch/>
        </p:blipFill>
        <p:spPr bwMode="auto">
          <a:xfrm>
            <a:off x="0" y="112542"/>
            <a:ext cx="12191999" cy="6745458"/>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7223590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300</TotalTime>
  <Words>1530</Words>
  <Application>Microsoft Office PowerPoint</Application>
  <PresentationFormat>Widescreen</PresentationFormat>
  <Paragraphs>205</Paragraphs>
  <Slides>35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35</vt:i4>
      </vt:variant>
    </vt:vector>
  </HeadingPairs>
  <TitlesOfParts>
    <vt:vector size="42" baseType="lpstr">
      <vt:lpstr>Arial</vt:lpstr>
      <vt:lpstr>Berlin Sans FB</vt:lpstr>
      <vt:lpstr>Broadway</vt:lpstr>
      <vt:lpstr>Calibri</vt:lpstr>
      <vt:lpstr>Calibri Light</vt:lpstr>
      <vt:lpstr>Wingdings</vt:lpstr>
      <vt:lpstr>Office Theme</vt:lpstr>
      <vt:lpstr>Documentary  Study</vt:lpstr>
      <vt:lpstr>Lesson 1</vt:lpstr>
      <vt:lpstr>Lesson 1 Activities</vt:lpstr>
      <vt:lpstr>PowerPoint Presentation</vt:lpstr>
      <vt:lpstr>Symbolic </vt:lpstr>
      <vt:lpstr>Written</vt:lpstr>
      <vt:lpstr>Audio </vt:lpstr>
      <vt:lpstr>Technical</vt:lpstr>
      <vt:lpstr>Other technical codes</vt:lpstr>
      <vt:lpstr>Interviews</vt:lpstr>
      <vt:lpstr>Authoritative sources </vt:lpstr>
      <vt:lpstr>Actuality footage</vt:lpstr>
      <vt:lpstr>File footage</vt:lpstr>
      <vt:lpstr>Voice-over </vt:lpstr>
      <vt:lpstr>Graphics and animation </vt:lpstr>
      <vt:lpstr>Lesson 2</vt:lpstr>
      <vt:lpstr>Lesson 2 Activities</vt:lpstr>
      <vt:lpstr>Questions </vt:lpstr>
      <vt:lpstr>Lesson 3</vt:lpstr>
      <vt:lpstr>Lesson 3 Activities</vt:lpstr>
      <vt:lpstr>Lesson 4</vt:lpstr>
      <vt:lpstr>Lesson 4 Activities</vt:lpstr>
      <vt:lpstr>Experiment Questions</vt:lpstr>
      <vt:lpstr>Lesson 5 Activities</vt:lpstr>
      <vt:lpstr>Lesson 5 Activities</vt:lpstr>
      <vt:lpstr>Mai Wiru sugar challenge questions</vt:lpstr>
      <vt:lpstr>Lesson 7</vt:lpstr>
      <vt:lpstr>Lesson 7 Activities</vt:lpstr>
      <vt:lpstr>Lesson 7 Activities</vt:lpstr>
      <vt:lpstr>Lesson 7 Activities</vt:lpstr>
      <vt:lpstr>Lesson 8</vt:lpstr>
      <vt:lpstr>Lesson 8 Activities</vt:lpstr>
      <vt:lpstr>Lesson 8 Activities</vt:lpstr>
      <vt:lpstr>Annotate the following two images, identifying the visual conventions used (camera shots, angles, composition, mise-en-scene, etc).  Explain the main ideas in each image.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Documentary Conventions</dc:title>
  <dc:creator>Andre Janse van Rensburg</dc:creator>
  <cp:lastModifiedBy>Andre Janse van Rensburg</cp:lastModifiedBy>
  <cp:revision>17</cp:revision>
  <dcterms:created xsi:type="dcterms:W3CDTF">2018-06-29T06:44:53Z</dcterms:created>
  <dcterms:modified xsi:type="dcterms:W3CDTF">2018-08-13T02:51:19Z</dcterms:modified>
</cp:coreProperties>
</file>
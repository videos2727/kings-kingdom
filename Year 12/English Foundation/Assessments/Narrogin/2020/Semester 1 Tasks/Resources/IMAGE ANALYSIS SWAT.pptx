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handoutMasterIdLst>
    <p:handoutMasterId r:id="rId19"/>
  </p:handoutMasterIdLst>
  <p:sldIdLst>
    <p:sldId id="256" r:id="rId2"/>
    <p:sldId id="264" r:id="rId3"/>
    <p:sldId id="265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6" r:id="rId12"/>
    <p:sldId id="267" r:id="rId13"/>
    <p:sldId id="268" r:id="rId14"/>
    <p:sldId id="269" r:id="rId15"/>
    <p:sldId id="270" r:id="rId16"/>
    <p:sldId id="272" r:id="rId17"/>
    <p:sldId id="271" r:id="rId18"/>
  </p:sldIdLst>
  <p:sldSz cx="12192000" cy="6858000"/>
  <p:notesSz cx="6794500" cy="9931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8645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76EE0-3FC4-4A98-B4B6-A84D7C875FD7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8645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444BA2-EAC0-4C20-8C48-85BD306AA9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76930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3/31/2020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3/31/2020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3/31/2020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3/31/2020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3/31/2020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3/31/2020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3/31/2020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3/31/2020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3/31/2020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3/31/2020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3/31/2020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3/31/2020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3/31/2020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3/31/2020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3/31/2020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sz="9600" dirty="0" smtClean="0"/>
              <a:t>IMAGE ANALYSIS</a:t>
            </a:r>
            <a:br>
              <a:rPr lang="en-AU" sz="9600" dirty="0" smtClean="0"/>
            </a:br>
            <a:r>
              <a:rPr lang="en-AU" sz="7200" dirty="0" smtClean="0"/>
              <a:t>VISUAL CONVENTIONS</a:t>
            </a:r>
            <a:endParaRPr lang="en-AU" sz="7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AU" sz="2800" dirty="0" smtClean="0"/>
              <a:t>													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598248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969" y="441961"/>
            <a:ext cx="11224056" cy="970450"/>
          </a:xfrm>
        </p:spPr>
        <p:txBody>
          <a:bodyPr/>
          <a:lstStyle/>
          <a:p>
            <a:r>
              <a:rPr lang="en-AU" sz="5400" dirty="0" smtClean="0"/>
              <a:t>MIND MAP FOR VISUAL ANALYSIS </a:t>
            </a:r>
            <a:endParaRPr lang="en-AU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9338" y="1745673"/>
            <a:ext cx="10554574" cy="4754880"/>
          </a:xfrm>
        </p:spPr>
        <p:txBody>
          <a:bodyPr/>
          <a:lstStyle/>
          <a:p>
            <a:pPr marL="0" indent="0">
              <a:buNone/>
            </a:pPr>
            <a:endParaRPr lang="en-AU" dirty="0"/>
          </a:p>
        </p:txBody>
      </p:sp>
      <p:sp>
        <p:nvSpPr>
          <p:cNvPr id="5" name="Oval 4"/>
          <p:cNvSpPr/>
          <p:nvPr/>
        </p:nvSpPr>
        <p:spPr>
          <a:xfrm>
            <a:off x="4868934" y="3784034"/>
            <a:ext cx="2776451" cy="12801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b="1" dirty="0" smtClean="0">
                <a:solidFill>
                  <a:schemeClr val="bg1"/>
                </a:solidFill>
              </a:rPr>
              <a:t>VISUAL TEXT</a:t>
            </a:r>
            <a:endParaRPr lang="en-AU" sz="3200" b="1" dirty="0">
              <a:solidFill>
                <a:schemeClr val="bg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708658" y="2594321"/>
            <a:ext cx="3150524" cy="19618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 smtClean="0">
                <a:solidFill>
                  <a:schemeClr val="bg1"/>
                </a:solidFill>
              </a:rPr>
              <a:t>POINT OF VIEW (POV) OR</a:t>
            </a:r>
          </a:p>
          <a:p>
            <a:pPr algn="ctr"/>
            <a:r>
              <a:rPr lang="en-AU" sz="2400" b="1" dirty="0" smtClean="0">
                <a:solidFill>
                  <a:schemeClr val="bg1"/>
                </a:solidFill>
              </a:rPr>
              <a:t>PERSPECTIVE</a:t>
            </a:r>
            <a:endParaRPr lang="en-AU" sz="2400" b="1" dirty="0">
              <a:solidFill>
                <a:schemeClr val="bg1"/>
              </a:solidFill>
            </a:endParaRPr>
          </a:p>
          <a:p>
            <a:pPr algn="ctr"/>
            <a:r>
              <a:rPr lang="en-AU" b="1" dirty="0" smtClean="0">
                <a:solidFill>
                  <a:schemeClr val="bg1"/>
                </a:solidFill>
              </a:rPr>
              <a:t>(</a:t>
            </a:r>
            <a:r>
              <a:rPr lang="en-AU" b="1" dirty="0" err="1" smtClean="0">
                <a:solidFill>
                  <a:schemeClr val="bg1"/>
                </a:solidFill>
              </a:rPr>
              <a:t>ie</a:t>
            </a:r>
            <a:r>
              <a:rPr lang="en-AU" b="1" dirty="0" smtClean="0">
                <a:solidFill>
                  <a:schemeClr val="bg1"/>
                </a:solidFill>
              </a:rPr>
              <a:t>. TEEN, DOG, PARENT) </a:t>
            </a:r>
          </a:p>
        </p:txBody>
      </p:sp>
      <p:sp>
        <p:nvSpPr>
          <p:cNvPr id="7" name="Oval 6"/>
          <p:cNvSpPr/>
          <p:nvPr/>
        </p:nvSpPr>
        <p:spPr>
          <a:xfrm>
            <a:off x="4112476" y="2041092"/>
            <a:ext cx="4289366" cy="15341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b="1" dirty="0" smtClean="0">
                <a:solidFill>
                  <a:schemeClr val="bg1"/>
                </a:solidFill>
              </a:rPr>
              <a:t>STYLE/</a:t>
            </a:r>
          </a:p>
          <a:p>
            <a:pPr algn="ctr"/>
            <a:r>
              <a:rPr lang="en-AU" sz="2400" b="1" dirty="0" smtClean="0">
                <a:solidFill>
                  <a:schemeClr val="bg1"/>
                </a:solidFill>
              </a:rPr>
              <a:t>VISUAL LANGUAGE CONVENTIONS</a:t>
            </a:r>
            <a:endParaRPr lang="en-AU" sz="2400" b="1" dirty="0">
              <a:solidFill>
                <a:schemeClr val="bg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8689793" y="2568633"/>
            <a:ext cx="2516167" cy="15544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b="1" dirty="0" smtClean="0">
                <a:solidFill>
                  <a:schemeClr val="bg1"/>
                </a:solidFill>
              </a:rPr>
              <a:t>THEME(S)</a:t>
            </a:r>
          </a:p>
          <a:p>
            <a:pPr algn="ctr"/>
            <a:r>
              <a:rPr lang="en-AU" sz="2400" b="1" dirty="0" smtClean="0">
                <a:solidFill>
                  <a:schemeClr val="bg1"/>
                </a:solidFill>
              </a:rPr>
              <a:t>OF TEXT</a:t>
            </a:r>
            <a:endParaRPr lang="en-AU" sz="2400" b="1" dirty="0">
              <a:solidFill>
                <a:schemeClr val="bg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775358" y="4841009"/>
            <a:ext cx="3477044" cy="13799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 smtClean="0">
                <a:solidFill>
                  <a:schemeClr val="bg1"/>
                </a:solidFill>
              </a:rPr>
              <a:t>REPRESENTATION OF</a:t>
            </a:r>
          </a:p>
          <a:p>
            <a:pPr algn="ctr"/>
            <a:r>
              <a:rPr lang="en-AU" sz="2400" b="1" dirty="0" smtClean="0">
                <a:solidFill>
                  <a:schemeClr val="bg1"/>
                </a:solidFill>
              </a:rPr>
              <a:t>EVENTS</a:t>
            </a:r>
            <a:endParaRPr lang="en-AU" sz="2400" b="1" dirty="0">
              <a:solidFill>
                <a:schemeClr val="bg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4707771" y="5401411"/>
            <a:ext cx="3466407" cy="13632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 smtClean="0">
                <a:solidFill>
                  <a:schemeClr val="bg1"/>
                </a:solidFill>
              </a:rPr>
              <a:t>REPRESENTATION OF</a:t>
            </a:r>
          </a:p>
          <a:p>
            <a:pPr algn="ctr"/>
            <a:r>
              <a:rPr lang="en-AU" sz="2400" b="1" dirty="0" smtClean="0">
                <a:solidFill>
                  <a:schemeClr val="bg1"/>
                </a:solidFill>
              </a:rPr>
              <a:t>PLACES</a:t>
            </a:r>
            <a:endParaRPr lang="en-AU" sz="2400" b="1" dirty="0">
              <a:solidFill>
                <a:schemeClr val="bg1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8100754" y="4530812"/>
            <a:ext cx="3848527" cy="11796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000" b="1" dirty="0" smtClean="0">
              <a:solidFill>
                <a:schemeClr val="bg1"/>
              </a:solidFill>
            </a:endParaRPr>
          </a:p>
          <a:p>
            <a:pPr algn="ctr"/>
            <a:endParaRPr lang="en-AU" sz="2000" b="1" dirty="0">
              <a:solidFill>
                <a:schemeClr val="bg1"/>
              </a:solidFill>
            </a:endParaRPr>
          </a:p>
          <a:p>
            <a:pPr algn="ctr"/>
            <a:r>
              <a:rPr lang="en-AU" sz="2000" b="1" dirty="0" smtClean="0">
                <a:solidFill>
                  <a:schemeClr val="bg1"/>
                </a:solidFill>
              </a:rPr>
              <a:t>REPRESENTATION </a:t>
            </a:r>
          </a:p>
          <a:p>
            <a:pPr algn="ctr"/>
            <a:r>
              <a:rPr lang="en-AU" sz="2000" b="1" dirty="0" smtClean="0">
                <a:solidFill>
                  <a:schemeClr val="bg1"/>
                </a:solidFill>
              </a:rPr>
              <a:t>OF </a:t>
            </a:r>
          </a:p>
          <a:p>
            <a:pPr algn="ctr"/>
            <a:r>
              <a:rPr lang="en-AU" sz="2400" b="1" dirty="0" smtClean="0">
                <a:solidFill>
                  <a:schemeClr val="bg1"/>
                </a:solidFill>
              </a:rPr>
              <a:t>PEOPLE</a:t>
            </a:r>
          </a:p>
          <a:p>
            <a:pPr algn="ctr"/>
            <a:endParaRPr lang="en-AU" sz="3200" b="1" dirty="0">
              <a:solidFill>
                <a:schemeClr val="bg1"/>
              </a:solidFill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3665913" y="3424844"/>
            <a:ext cx="1662545" cy="10307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7281949" y="3225338"/>
            <a:ext cx="1812175" cy="109728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 flipV="1">
            <a:off x="7057505" y="4606001"/>
            <a:ext cx="1495801" cy="46923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6095997" y="3444702"/>
            <a:ext cx="120628" cy="55372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3961013" y="4606001"/>
            <a:ext cx="1242754" cy="7954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6257159" y="4923808"/>
            <a:ext cx="114545" cy="66234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609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CONTENT: REPRESENTATION OF EVENTS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9011" y="2222287"/>
            <a:ext cx="10974275" cy="363651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sz="3600" b="1" dirty="0" smtClean="0">
                <a:solidFill>
                  <a:srgbClr val="92D050"/>
                </a:solidFill>
              </a:rPr>
              <a:t>EVENTS         PLACES          PEOPLE </a:t>
            </a:r>
          </a:p>
          <a:p>
            <a:pPr marL="0" indent="0">
              <a:buNone/>
            </a:pPr>
            <a:r>
              <a:rPr lang="en-AU" sz="3600" b="1" dirty="0" smtClean="0">
                <a:solidFill>
                  <a:srgbClr val="92D050"/>
                </a:solidFill>
              </a:rPr>
              <a:t>1. </a:t>
            </a:r>
            <a:r>
              <a:rPr lang="en-AU" sz="3600" b="1" u="sng" dirty="0" smtClean="0">
                <a:solidFill>
                  <a:srgbClr val="92D050"/>
                </a:solidFill>
              </a:rPr>
              <a:t>SELECTION</a:t>
            </a:r>
            <a:r>
              <a:rPr lang="en-AU" sz="3600" dirty="0" smtClean="0">
                <a:solidFill>
                  <a:srgbClr val="92D050"/>
                </a:solidFill>
              </a:rPr>
              <a:t> = PRIVILEGED</a:t>
            </a:r>
          </a:p>
          <a:p>
            <a:pPr marL="0" indent="0">
              <a:buNone/>
            </a:pPr>
            <a:r>
              <a:rPr lang="en-AU" sz="3600" b="1" dirty="0" smtClean="0">
                <a:solidFill>
                  <a:srgbClr val="92D050"/>
                </a:solidFill>
              </a:rPr>
              <a:t>2. </a:t>
            </a:r>
            <a:r>
              <a:rPr lang="en-AU" sz="3600" b="1" u="sng" dirty="0" smtClean="0">
                <a:solidFill>
                  <a:srgbClr val="92D050"/>
                </a:solidFill>
              </a:rPr>
              <a:t>OMISSION</a:t>
            </a:r>
            <a:r>
              <a:rPr lang="en-AU" sz="3600" dirty="0" smtClean="0">
                <a:solidFill>
                  <a:srgbClr val="92D050"/>
                </a:solidFill>
              </a:rPr>
              <a:t> = MARGINALISED OR SILENCED</a:t>
            </a:r>
          </a:p>
          <a:p>
            <a:pPr marL="0" indent="0">
              <a:buNone/>
            </a:pPr>
            <a:r>
              <a:rPr lang="en-AU" sz="3600" b="1" dirty="0" smtClean="0">
                <a:solidFill>
                  <a:srgbClr val="92D050"/>
                </a:solidFill>
              </a:rPr>
              <a:t>3. </a:t>
            </a:r>
            <a:r>
              <a:rPr lang="en-AU" sz="3600" b="1" u="sng" dirty="0" smtClean="0">
                <a:solidFill>
                  <a:srgbClr val="92D050"/>
                </a:solidFill>
              </a:rPr>
              <a:t>EMPHASIS</a:t>
            </a:r>
            <a:r>
              <a:rPr lang="en-AU" sz="3600" dirty="0" smtClean="0">
                <a:solidFill>
                  <a:srgbClr val="92D050"/>
                </a:solidFill>
              </a:rPr>
              <a:t> = REPEATED OR HIGHLIGHTED </a:t>
            </a:r>
            <a:endParaRPr lang="en-AU" sz="3600" dirty="0">
              <a:solidFill>
                <a:srgbClr val="92D050"/>
              </a:solidFill>
            </a:endParaRPr>
          </a:p>
        </p:txBody>
      </p:sp>
      <p:sp>
        <p:nvSpPr>
          <p:cNvPr id="4" name="Left-Right Arrow 3"/>
          <p:cNvSpPr/>
          <p:nvPr/>
        </p:nvSpPr>
        <p:spPr>
          <a:xfrm>
            <a:off x="3948545" y="2676685"/>
            <a:ext cx="988597" cy="548665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7666" y="2634277"/>
            <a:ext cx="1005927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863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79" y="74815"/>
            <a:ext cx="11878887" cy="1822435"/>
          </a:xfrm>
        </p:spPr>
        <p:txBody>
          <a:bodyPr/>
          <a:lstStyle/>
          <a:p>
            <a:pPr algn="ctr"/>
            <a:r>
              <a:rPr lang="en-AU" sz="5400" dirty="0" smtClean="0"/>
              <a:t/>
            </a:r>
            <a:br>
              <a:rPr lang="en-AU" sz="5400" dirty="0" smtClean="0"/>
            </a:br>
            <a:r>
              <a:rPr lang="en-AU" sz="5400" dirty="0"/>
              <a:t/>
            </a:r>
            <a:br>
              <a:rPr lang="en-AU" sz="5400" dirty="0"/>
            </a:br>
            <a:r>
              <a:rPr lang="en-AU" sz="5400" dirty="0" smtClean="0"/>
              <a:t>SWAT CODE = </a:t>
            </a:r>
            <a:r>
              <a:rPr lang="en-AU" sz="7200" dirty="0" smtClean="0"/>
              <a:t/>
            </a:r>
            <a:br>
              <a:rPr lang="en-AU" sz="7200" dirty="0" smtClean="0"/>
            </a:br>
            <a:r>
              <a:rPr lang="en-AU" sz="5400" dirty="0" smtClean="0"/>
              <a:t>VISUAL LANGUAGE CONVENTIONS </a:t>
            </a:r>
            <a:endParaRPr lang="en-AU" sz="54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7648" y="1897250"/>
            <a:ext cx="8624454" cy="4728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422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7200" dirty="0" smtClean="0"/>
              <a:t>SYMBOLIC CODE</a:t>
            </a:r>
            <a:endParaRPr lang="en-AU" sz="7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161888"/>
          </a:xfrm>
        </p:spPr>
        <p:txBody>
          <a:bodyPr>
            <a:noAutofit/>
          </a:bodyPr>
          <a:lstStyle/>
          <a:p>
            <a:r>
              <a:rPr lang="en-AU" sz="2400" dirty="0" smtClean="0"/>
              <a:t>COLOUR</a:t>
            </a:r>
          </a:p>
          <a:p>
            <a:r>
              <a:rPr lang="en-AU" sz="2400" dirty="0" smtClean="0"/>
              <a:t>CLOTHING</a:t>
            </a:r>
          </a:p>
          <a:p>
            <a:r>
              <a:rPr lang="en-AU" sz="2400" dirty="0" smtClean="0"/>
              <a:t>LIGHTING</a:t>
            </a:r>
          </a:p>
          <a:p>
            <a:r>
              <a:rPr lang="en-AU" sz="2400" dirty="0" smtClean="0"/>
              <a:t>SETTING</a:t>
            </a:r>
          </a:p>
          <a:p>
            <a:r>
              <a:rPr lang="en-AU" sz="2400" dirty="0" smtClean="0"/>
              <a:t>OBJECTS</a:t>
            </a:r>
          </a:p>
          <a:p>
            <a:r>
              <a:rPr lang="en-AU" sz="2400" dirty="0" smtClean="0"/>
              <a:t>BODY LANGUAGE: </a:t>
            </a:r>
          </a:p>
          <a:p>
            <a:pPr marL="0" indent="0">
              <a:buNone/>
            </a:pPr>
            <a:r>
              <a:rPr lang="en-AU" sz="2400" dirty="0" smtClean="0"/>
              <a:t>	(PROXIMITY, GESTURE, FACIAL EXPRESSION, OBJECTS, GAZE, 		ORIENTATION)</a:t>
            </a:r>
            <a:endParaRPr lang="en-AU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6776" b="6258"/>
          <a:stretch/>
        </p:blipFill>
        <p:spPr>
          <a:xfrm>
            <a:off x="4052292" y="1886506"/>
            <a:ext cx="8139708" cy="328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468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7200" dirty="0" smtClean="0"/>
              <a:t>WRITTEN CODE</a:t>
            </a:r>
            <a:endParaRPr lang="en-AU" sz="7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1877119"/>
            <a:ext cx="10554574" cy="4598496"/>
          </a:xfrm>
        </p:spPr>
        <p:txBody>
          <a:bodyPr>
            <a:normAutofit/>
          </a:bodyPr>
          <a:lstStyle/>
          <a:p>
            <a:endParaRPr lang="en-AU" sz="2400" dirty="0" smtClean="0"/>
          </a:p>
          <a:p>
            <a:pPr marL="0" indent="0">
              <a:buNone/>
            </a:pPr>
            <a:endParaRPr lang="en-AU" sz="2400" dirty="0"/>
          </a:p>
          <a:p>
            <a:endParaRPr lang="en-AU" sz="2400" dirty="0" smtClean="0"/>
          </a:p>
          <a:p>
            <a:r>
              <a:rPr lang="en-AU" sz="2400" dirty="0" smtClean="0"/>
              <a:t>TEXT TITLES</a:t>
            </a:r>
          </a:p>
          <a:p>
            <a:r>
              <a:rPr lang="en-AU" sz="2400" dirty="0" smtClean="0"/>
              <a:t>SUBTITLES</a:t>
            </a:r>
          </a:p>
          <a:p>
            <a:r>
              <a:rPr lang="en-AU" sz="2400" dirty="0" smtClean="0"/>
              <a:t>CREDITS</a:t>
            </a:r>
          </a:p>
          <a:p>
            <a:r>
              <a:rPr lang="en-AU" sz="2400" dirty="0" smtClean="0"/>
              <a:t>ANY OTHER WRITTEN TEXT</a:t>
            </a:r>
            <a:endParaRPr lang="en-AU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0475" y="1877118"/>
            <a:ext cx="8391525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536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7200" dirty="0" smtClean="0"/>
              <a:t>AUDIO CODE</a:t>
            </a:r>
            <a:endParaRPr lang="en-AU" sz="7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1884565"/>
            <a:ext cx="10554574" cy="4807180"/>
          </a:xfrm>
        </p:spPr>
        <p:txBody>
          <a:bodyPr>
            <a:normAutofit/>
          </a:bodyPr>
          <a:lstStyle/>
          <a:p>
            <a:endParaRPr lang="en-AU" sz="2400" dirty="0" smtClean="0"/>
          </a:p>
          <a:p>
            <a:r>
              <a:rPr lang="en-AU" sz="2400" dirty="0" smtClean="0"/>
              <a:t>DIALOGUE</a:t>
            </a:r>
          </a:p>
          <a:p>
            <a:r>
              <a:rPr lang="en-AU" sz="2400" dirty="0" smtClean="0"/>
              <a:t>MUSIC</a:t>
            </a:r>
          </a:p>
          <a:p>
            <a:r>
              <a:rPr lang="en-AU" sz="2400" dirty="0" smtClean="0"/>
              <a:t>SPECIAL EFFECTS </a:t>
            </a:r>
          </a:p>
          <a:p>
            <a:pPr marL="0" indent="0">
              <a:buNone/>
            </a:pPr>
            <a:r>
              <a:rPr lang="en-AU" sz="2400" dirty="0"/>
              <a:t>	</a:t>
            </a:r>
            <a:r>
              <a:rPr lang="en-AU" sz="2400" dirty="0" smtClean="0"/>
              <a:t>(AUDIO SPECIAL EFFECTS)</a:t>
            </a:r>
            <a:endParaRPr lang="en-AU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1684" y="1884565"/>
            <a:ext cx="7060316" cy="4000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486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7200" dirty="0" smtClean="0"/>
              <a:t>TECHNICAL CODE</a:t>
            </a:r>
            <a:endParaRPr lang="en-AU" sz="7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1903615"/>
            <a:ext cx="10554574" cy="43974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 smtClean="0"/>
              <a:t>SHOT SELECTION					CAMERA ANGLES</a:t>
            </a:r>
          </a:p>
          <a:p>
            <a:pPr marL="0" indent="0">
              <a:buNone/>
            </a:pPr>
            <a:r>
              <a:rPr lang="en-AU" sz="2400" dirty="0" smtClean="0"/>
              <a:t>CAMERA DISTANCE				CAMERA MOVEMENT</a:t>
            </a:r>
          </a:p>
          <a:p>
            <a:pPr marL="0" indent="0">
              <a:buNone/>
            </a:pPr>
            <a:r>
              <a:rPr lang="en-AU" sz="2400" dirty="0" smtClean="0"/>
              <a:t>MONTAGE							JUXTAPOSITION</a:t>
            </a:r>
          </a:p>
          <a:p>
            <a:pPr marL="0" indent="0">
              <a:buNone/>
            </a:pPr>
            <a:r>
              <a:rPr lang="en-AU" sz="2400" dirty="0" smtClean="0"/>
              <a:t>LEADING LINES OR VECTORS	LIGHTING</a:t>
            </a:r>
          </a:p>
          <a:p>
            <a:pPr marL="0" indent="0">
              <a:buNone/>
            </a:pPr>
            <a:r>
              <a:rPr lang="en-AU" sz="2400" dirty="0" smtClean="0"/>
              <a:t>RULE OF THIRDS						LENS SELECTION</a:t>
            </a:r>
          </a:p>
          <a:p>
            <a:pPr marL="0" indent="0">
              <a:buNone/>
            </a:pPr>
            <a:r>
              <a:rPr lang="en-AU" sz="2400" dirty="0" smtClean="0"/>
              <a:t>DEPTH OF FIELD						FRAMING</a:t>
            </a:r>
          </a:p>
          <a:p>
            <a:pPr marL="0" indent="0">
              <a:buNone/>
            </a:pPr>
            <a:r>
              <a:rPr lang="en-AU" sz="2400" dirty="0" smtClean="0"/>
              <a:t>COMPOSITION </a:t>
            </a:r>
            <a:endParaRPr lang="en-AU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9927" y="1882975"/>
            <a:ext cx="3422074" cy="497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506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TURN THE PAGE AND WRITE YOU ANSWERS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0" indent="-914400">
              <a:buAutoNum type="arabicPeriod"/>
            </a:pPr>
            <a:r>
              <a:rPr lang="en-AU" sz="5400" dirty="0" smtClean="0">
                <a:solidFill>
                  <a:srgbClr val="92D050"/>
                </a:solidFill>
              </a:rPr>
              <a:t>WHAT DOES THE ACRONYM </a:t>
            </a:r>
            <a:r>
              <a:rPr lang="en-AU" sz="5400" b="1" u="sng" dirty="0" smtClean="0">
                <a:solidFill>
                  <a:srgbClr val="92D050"/>
                </a:solidFill>
              </a:rPr>
              <a:t>SWAT</a:t>
            </a:r>
            <a:r>
              <a:rPr lang="en-AU" sz="5400" dirty="0" smtClean="0">
                <a:solidFill>
                  <a:srgbClr val="92D050"/>
                </a:solidFill>
              </a:rPr>
              <a:t> STAND FOR?</a:t>
            </a:r>
          </a:p>
          <a:p>
            <a:pPr marL="914400" indent="-914400">
              <a:buAutoNum type="arabicPeriod"/>
            </a:pPr>
            <a:r>
              <a:rPr lang="en-AU" sz="5400" dirty="0" smtClean="0">
                <a:solidFill>
                  <a:srgbClr val="92D050"/>
                </a:solidFill>
              </a:rPr>
              <a:t>UNDER EACH TITLE WRITE DOT POINTS YOU REMEMBER</a:t>
            </a:r>
          </a:p>
        </p:txBody>
      </p:sp>
    </p:spTree>
    <p:extLst>
      <p:ext uri="{BB962C8B-B14F-4D97-AF65-F5344CB8AC3E}">
        <p14:creationId xmlns:p14="http://schemas.microsoft.com/office/powerpoint/2010/main" val="4290421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341" y="432261"/>
            <a:ext cx="11571316" cy="1276322"/>
          </a:xfrm>
        </p:spPr>
        <p:txBody>
          <a:bodyPr/>
          <a:lstStyle/>
          <a:p>
            <a:r>
              <a:rPr lang="en-AU" dirty="0" smtClean="0"/>
              <a:t>TECHNICAL CONSTRUCTION:</a:t>
            </a:r>
            <a:br>
              <a:rPr lang="en-AU" dirty="0" smtClean="0"/>
            </a:br>
            <a:r>
              <a:rPr lang="en-AU" dirty="0" smtClean="0"/>
              <a:t>VIEWER PERSPECTIVE….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1837113"/>
            <a:ext cx="10554574" cy="492113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AU" sz="2800" b="1" u="sng" dirty="0" smtClean="0"/>
          </a:p>
          <a:p>
            <a:pPr marL="0" indent="0">
              <a:buNone/>
            </a:pPr>
            <a:r>
              <a:rPr lang="en-AU" sz="2800" b="1" u="sng" dirty="0" smtClean="0">
                <a:solidFill>
                  <a:srgbClr val="92D050"/>
                </a:solidFill>
              </a:rPr>
              <a:t>VIEWING ANGLE</a:t>
            </a:r>
          </a:p>
          <a:p>
            <a:r>
              <a:rPr lang="en-AU" sz="2800" b="1" dirty="0"/>
              <a:t>Birds eye </a:t>
            </a:r>
            <a:r>
              <a:rPr lang="en-AU" sz="2800" b="1" dirty="0" smtClean="0"/>
              <a:t>view </a:t>
            </a:r>
          </a:p>
          <a:p>
            <a:pPr marL="0" indent="0">
              <a:buNone/>
            </a:pPr>
            <a:r>
              <a:rPr lang="en-AU" sz="2800" b="1" dirty="0"/>
              <a:t>	</a:t>
            </a:r>
            <a:r>
              <a:rPr lang="en-AU" sz="2800" b="1" dirty="0" smtClean="0"/>
              <a:t>or drone shot</a:t>
            </a:r>
            <a:endParaRPr lang="en-AU" sz="2800" b="1" dirty="0"/>
          </a:p>
          <a:p>
            <a:r>
              <a:rPr lang="en-AU" sz="2800" b="1" dirty="0" smtClean="0"/>
              <a:t>High </a:t>
            </a:r>
          </a:p>
          <a:p>
            <a:r>
              <a:rPr lang="en-AU" sz="2800" b="1" dirty="0"/>
              <a:t>E</a:t>
            </a:r>
            <a:r>
              <a:rPr lang="en-AU" sz="2800" b="1" dirty="0" smtClean="0"/>
              <a:t>ye level</a:t>
            </a:r>
          </a:p>
          <a:p>
            <a:r>
              <a:rPr lang="en-AU" sz="2800" b="1" dirty="0"/>
              <a:t>L</a:t>
            </a:r>
            <a:r>
              <a:rPr lang="en-AU" sz="2800" b="1" dirty="0" smtClean="0"/>
              <a:t>ow angle</a:t>
            </a:r>
          </a:p>
          <a:p>
            <a:r>
              <a:rPr lang="en-AU" sz="2800" b="1" dirty="0" smtClean="0"/>
              <a:t>Worms eye view (extremely threatening)</a:t>
            </a:r>
          </a:p>
          <a:p>
            <a:pPr marL="0" indent="0">
              <a:buNone/>
            </a:pPr>
            <a:r>
              <a:rPr lang="en-AU" sz="2400" b="1" dirty="0" smtClean="0"/>
              <a:t>CONSIDER: HIGH ANGLES TEND TO MAKE A SUBJECT LESS POWERFUL. LOW ANGLES TEND TO MAKE A SUBJECT MORE THREATENING OR IMPORTANT.</a:t>
            </a:r>
            <a:endParaRPr lang="en-AU" sz="2400" b="1" dirty="0"/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4159" y="1070422"/>
            <a:ext cx="6147841" cy="384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157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116378"/>
            <a:ext cx="10571998" cy="1301260"/>
          </a:xfrm>
        </p:spPr>
        <p:txBody>
          <a:bodyPr/>
          <a:lstStyle/>
          <a:p>
            <a:r>
              <a:rPr lang="en-AU" dirty="0"/>
              <a:t>TECHNICAL CONSTRUCTION:</a:t>
            </a:r>
            <a:br>
              <a:rPr lang="en-AU" dirty="0"/>
            </a:br>
            <a:r>
              <a:rPr lang="en-AU" dirty="0"/>
              <a:t>VIEWER PERSPECTIVE….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1886989"/>
            <a:ext cx="10554574" cy="469669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endParaRPr lang="en-AU" sz="2800" b="1" u="sng" dirty="0" smtClean="0"/>
          </a:p>
          <a:p>
            <a:pPr marL="0" indent="0">
              <a:buNone/>
            </a:pPr>
            <a:r>
              <a:rPr lang="en-AU" sz="2800" b="1" u="sng" dirty="0" smtClean="0">
                <a:solidFill>
                  <a:srgbClr val="92D050"/>
                </a:solidFill>
              </a:rPr>
              <a:t>VIEWING DISTANCE</a:t>
            </a:r>
          </a:p>
          <a:p>
            <a:r>
              <a:rPr lang="en-AU" sz="2800" b="1" dirty="0" smtClean="0"/>
              <a:t>Close up</a:t>
            </a:r>
          </a:p>
          <a:p>
            <a:r>
              <a:rPr lang="en-AU" sz="2800" b="1" dirty="0" smtClean="0"/>
              <a:t>Medium shot</a:t>
            </a:r>
          </a:p>
          <a:p>
            <a:r>
              <a:rPr lang="en-AU" sz="2800" b="1" dirty="0" smtClean="0"/>
              <a:t>Long shot</a:t>
            </a:r>
          </a:p>
          <a:p>
            <a:pPr marL="0" indent="0">
              <a:buNone/>
            </a:pPr>
            <a:endParaRPr lang="en-AU" sz="2800" b="1" dirty="0" smtClean="0"/>
          </a:p>
          <a:p>
            <a:pPr marL="0" indent="0">
              <a:buNone/>
            </a:pPr>
            <a:r>
              <a:rPr lang="en-AU" sz="2800" b="1" dirty="0" smtClean="0"/>
              <a:t>CONSIDER: CLOSE UPS TEND TO CREATE INTIMACY BETWEEN VIEWER AND SUBJECT. MEDIUM GIVES CONTEXT. LONG SHOTS CREATE EMOTIONAL DISTANCE AND DESIGNATE LOCATION. </a:t>
            </a:r>
            <a:endParaRPr lang="en-AU" sz="2800" b="1" dirty="0"/>
          </a:p>
          <a:p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491" y="1903932"/>
            <a:ext cx="5666509" cy="3187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969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1265234"/>
          </a:xfrm>
        </p:spPr>
        <p:txBody>
          <a:bodyPr/>
          <a:lstStyle/>
          <a:p>
            <a:r>
              <a:rPr lang="en-AU" dirty="0"/>
              <a:t>TECHNICAL CONSTRUCTION:</a:t>
            </a:r>
            <a:br>
              <a:rPr lang="en-AU" dirty="0"/>
            </a:br>
            <a:r>
              <a:rPr lang="en-AU" dirty="0"/>
              <a:t>VIEWER PERSPECTIVE….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1878677"/>
            <a:ext cx="10554574" cy="453874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AU" sz="2800" b="1" u="sng" dirty="0" smtClean="0"/>
          </a:p>
          <a:p>
            <a:pPr marL="0" indent="0">
              <a:buNone/>
            </a:pPr>
            <a:endParaRPr lang="en-AU" sz="2800" b="1" u="sng" dirty="0" smtClean="0"/>
          </a:p>
          <a:p>
            <a:pPr marL="0" indent="0">
              <a:buNone/>
            </a:pPr>
            <a:r>
              <a:rPr lang="en-AU" sz="2800" b="1" u="sng" dirty="0" smtClean="0">
                <a:solidFill>
                  <a:srgbClr val="92D050"/>
                </a:solidFill>
              </a:rPr>
              <a:t>FRAMING</a:t>
            </a:r>
          </a:p>
          <a:p>
            <a:r>
              <a:rPr lang="en-AU" sz="2800" b="1" dirty="0" smtClean="0"/>
              <a:t>AFFECTS WHAT THE VIEWER </a:t>
            </a:r>
          </a:p>
          <a:p>
            <a:pPr marL="0" indent="0">
              <a:buNone/>
            </a:pPr>
            <a:r>
              <a:rPr lang="en-AU" sz="2800" b="1" dirty="0" smtClean="0"/>
              <a:t>SEES AND DOES NOT SEE.</a:t>
            </a:r>
          </a:p>
          <a:p>
            <a:r>
              <a:rPr lang="en-AU" sz="2800" b="1" dirty="0" smtClean="0"/>
              <a:t>THE VIEWER CAN BE AWARE </a:t>
            </a:r>
          </a:p>
          <a:p>
            <a:pPr marL="0" indent="0">
              <a:buNone/>
            </a:pPr>
            <a:r>
              <a:rPr lang="en-AU" sz="2800" b="1" dirty="0" smtClean="0"/>
              <a:t>OF WHAT THE SUBJECT IS NOT </a:t>
            </a:r>
          </a:p>
          <a:p>
            <a:pPr marL="0" indent="0">
              <a:buNone/>
            </a:pPr>
            <a:r>
              <a:rPr lang="en-AU" sz="2800" b="1" dirty="0" smtClean="0"/>
              <a:t>AWARE OF OR VICE VERSA</a:t>
            </a:r>
          </a:p>
          <a:p>
            <a:pPr marL="0" indent="0">
              <a:buNone/>
            </a:pPr>
            <a:r>
              <a:rPr lang="en-AU" sz="2800" b="1" dirty="0" smtClean="0"/>
              <a:t>(DRAMATIC IRONY).</a:t>
            </a:r>
            <a:endParaRPr lang="en-AU" sz="2800" b="1" dirty="0"/>
          </a:p>
          <a:p>
            <a:pPr marL="0" indent="0">
              <a:buNone/>
            </a:pPr>
            <a:endParaRPr lang="en-AU" sz="2800" b="1" dirty="0" smtClean="0"/>
          </a:p>
          <a:p>
            <a:pPr marL="0" indent="0">
              <a:buNone/>
            </a:pPr>
            <a:endParaRPr lang="en-AU" sz="28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0729" y="1886990"/>
            <a:ext cx="6261271" cy="3507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550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07818"/>
            <a:ext cx="10571998" cy="1209820"/>
          </a:xfrm>
        </p:spPr>
        <p:txBody>
          <a:bodyPr/>
          <a:lstStyle/>
          <a:p>
            <a:r>
              <a:rPr lang="en-AU" dirty="0"/>
              <a:t>TECHNICAL CONSTRUCTION:</a:t>
            </a:r>
            <a:br>
              <a:rPr lang="en-AU" dirty="0"/>
            </a:br>
            <a:r>
              <a:rPr lang="en-AU" dirty="0"/>
              <a:t>VIEWER PERSPECTIVE….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065" y="2222287"/>
            <a:ext cx="11265221" cy="363651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AU" sz="2800" b="1" u="sng" dirty="0" smtClean="0"/>
          </a:p>
          <a:p>
            <a:pPr marL="0" indent="0">
              <a:buNone/>
            </a:pPr>
            <a:r>
              <a:rPr lang="en-AU" sz="2800" b="1" u="sng" dirty="0" smtClean="0">
                <a:solidFill>
                  <a:srgbClr val="92D050"/>
                </a:solidFill>
              </a:rPr>
              <a:t>FOCUS</a:t>
            </a:r>
          </a:p>
          <a:p>
            <a:pPr marL="0" indent="0">
              <a:buNone/>
            </a:pPr>
            <a:r>
              <a:rPr lang="en-AU" sz="2800" b="1" dirty="0" smtClean="0"/>
              <a:t>WHAT IS IN FOCUS IS </a:t>
            </a:r>
          </a:p>
          <a:p>
            <a:pPr marL="0" indent="0">
              <a:buNone/>
            </a:pPr>
            <a:r>
              <a:rPr lang="en-AU" sz="4800" b="1" u="sng" dirty="0" smtClean="0">
                <a:solidFill>
                  <a:srgbClr val="FF0000"/>
                </a:solidFill>
              </a:rPr>
              <a:t>IMPORTANT</a:t>
            </a:r>
            <a:r>
              <a:rPr lang="en-AU" sz="2800" b="1" dirty="0" smtClean="0"/>
              <a:t>.</a:t>
            </a:r>
          </a:p>
          <a:p>
            <a:pPr marL="0" indent="0">
              <a:buNone/>
            </a:pPr>
            <a:endParaRPr lang="en-AU" sz="2800" b="1" dirty="0" smtClean="0"/>
          </a:p>
          <a:p>
            <a:pPr marL="0" indent="0">
              <a:buNone/>
            </a:pPr>
            <a:endParaRPr lang="en-AU" sz="2800" b="1" dirty="0"/>
          </a:p>
          <a:p>
            <a:pPr marL="0" indent="0">
              <a:buNone/>
            </a:pPr>
            <a:endParaRPr lang="en-AU" sz="2800" b="1" dirty="0" smtClean="0"/>
          </a:p>
          <a:p>
            <a:pPr marL="0" indent="0">
              <a:buNone/>
            </a:pPr>
            <a:endParaRPr lang="en-AU" sz="28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2823" y="1417638"/>
            <a:ext cx="7279178" cy="5456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70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7"/>
            <a:ext cx="10571998" cy="1323423"/>
          </a:xfrm>
        </p:spPr>
        <p:txBody>
          <a:bodyPr/>
          <a:lstStyle/>
          <a:p>
            <a:r>
              <a:rPr lang="en-AU" dirty="0"/>
              <a:t>TECHNICAL CONSTRUCTION:</a:t>
            </a:r>
            <a:br>
              <a:rPr lang="en-AU" dirty="0"/>
            </a:br>
            <a:r>
              <a:rPr lang="en-AU" dirty="0" smtClean="0"/>
              <a:t>COMPOSITION….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13694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AU" b="1" u="sng" dirty="0" smtClean="0"/>
              <a:t>VIEW WITH PURPOSE</a:t>
            </a:r>
          </a:p>
          <a:p>
            <a:pPr marL="0" indent="0">
              <a:buNone/>
            </a:pPr>
            <a:r>
              <a:rPr lang="en-AU" b="1" u="sng" dirty="0" smtClean="0"/>
              <a:t>HOW</a:t>
            </a:r>
            <a:r>
              <a:rPr lang="en-AU" b="1" dirty="0" smtClean="0"/>
              <a:t> ARE THE ELEMENTS OF AN IMAGE ARRANGED?</a:t>
            </a:r>
          </a:p>
          <a:p>
            <a:pPr marL="0" indent="0">
              <a:buNone/>
            </a:pPr>
            <a:r>
              <a:rPr lang="en-AU" b="1" u="sng" dirty="0" smtClean="0"/>
              <a:t>WHY</a:t>
            </a:r>
            <a:r>
              <a:rPr lang="en-AU" b="1" dirty="0" smtClean="0"/>
              <a:t> ARE THE ELEMENTS OF AN IMAGE ARRANGED THAT WAY?</a:t>
            </a:r>
          </a:p>
          <a:p>
            <a:pPr marL="0" indent="0">
              <a:buNone/>
            </a:pPr>
            <a:r>
              <a:rPr lang="en-AU" b="1" dirty="0" smtClean="0"/>
              <a:t> </a:t>
            </a:r>
          </a:p>
          <a:p>
            <a:pPr marL="0" indent="0">
              <a:buNone/>
            </a:pPr>
            <a:r>
              <a:rPr lang="en-AU" sz="2800" b="1" dirty="0" smtClean="0">
                <a:solidFill>
                  <a:srgbClr val="92D050"/>
                </a:solidFill>
              </a:rPr>
              <a:t>1. FOREGROUNDING &amp; BACKGROUNDING</a:t>
            </a:r>
          </a:p>
          <a:p>
            <a:pPr marL="0" indent="0">
              <a:buNone/>
            </a:pPr>
            <a:r>
              <a:rPr lang="en-AU" sz="2800" b="1" dirty="0" smtClean="0">
                <a:solidFill>
                  <a:srgbClr val="92D050"/>
                </a:solidFill>
              </a:rPr>
              <a:t>2. CENTRING AND MARGINALISING</a:t>
            </a:r>
          </a:p>
          <a:p>
            <a:pPr marL="0" indent="0">
              <a:buNone/>
            </a:pPr>
            <a:endParaRPr lang="en-AU" b="1" dirty="0" smtClean="0"/>
          </a:p>
          <a:p>
            <a:pPr marL="0" indent="0">
              <a:buNone/>
            </a:pPr>
            <a:r>
              <a:rPr lang="en-AU" b="1" dirty="0" smtClean="0"/>
              <a:t>CONSIDER: OBJECTS THAT ARE FOREGROUNDED AND </a:t>
            </a:r>
          </a:p>
          <a:p>
            <a:pPr marL="0" indent="0">
              <a:buNone/>
            </a:pPr>
            <a:r>
              <a:rPr lang="en-AU" b="1" dirty="0" smtClean="0"/>
              <a:t>CENTRED APPEAR MORE IMPORTANT OR POWERFUL </a:t>
            </a:r>
          </a:p>
          <a:p>
            <a:pPr marL="0" indent="0">
              <a:buNone/>
            </a:pPr>
            <a:r>
              <a:rPr lang="en-AU" b="1" dirty="0" smtClean="0"/>
              <a:t>THAN THOSE WHICH ARE BACKGROUNDED OR AT THE </a:t>
            </a:r>
          </a:p>
          <a:p>
            <a:pPr marL="0" indent="0">
              <a:buNone/>
            </a:pPr>
            <a:r>
              <a:rPr lang="en-AU" b="1" dirty="0" smtClean="0"/>
              <a:t>EDGE OF THE FRAME (MARGINALISED).</a:t>
            </a:r>
            <a:endParaRPr lang="en-AU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7181" y="0"/>
            <a:ext cx="4344819" cy="6359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618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7"/>
            <a:ext cx="10571998" cy="1215357"/>
          </a:xfrm>
        </p:spPr>
        <p:txBody>
          <a:bodyPr/>
          <a:lstStyle/>
          <a:p>
            <a:r>
              <a:rPr lang="en-AU" dirty="0"/>
              <a:t>TECHNICAL CONSTRUCTION:</a:t>
            </a:r>
            <a:br>
              <a:rPr lang="en-AU" dirty="0"/>
            </a:br>
            <a:r>
              <a:rPr lang="en-AU" dirty="0" smtClean="0"/>
              <a:t>COMPOSITION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5533" y="1888067"/>
            <a:ext cx="11127753" cy="496993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AU" b="1" dirty="0" smtClean="0"/>
          </a:p>
          <a:p>
            <a:pPr marL="0" indent="0">
              <a:buNone/>
            </a:pPr>
            <a:endParaRPr lang="en-AU" sz="2400" b="1" u="sng" dirty="0" smtClean="0">
              <a:solidFill>
                <a:srgbClr val="92D050"/>
              </a:solidFill>
            </a:endParaRPr>
          </a:p>
          <a:p>
            <a:pPr marL="0" indent="0">
              <a:buNone/>
            </a:pPr>
            <a:r>
              <a:rPr lang="en-AU" sz="3200" b="1" u="sng" dirty="0" smtClean="0">
                <a:solidFill>
                  <a:srgbClr val="92D050"/>
                </a:solidFill>
              </a:rPr>
              <a:t>RULE </a:t>
            </a:r>
            <a:r>
              <a:rPr lang="en-AU" sz="3200" b="1" u="sng" dirty="0">
                <a:solidFill>
                  <a:srgbClr val="92D050"/>
                </a:solidFill>
              </a:rPr>
              <a:t>OF THIRDS</a:t>
            </a:r>
            <a:endParaRPr lang="en-AU" sz="3200" b="1" u="sng" dirty="0" smtClean="0">
              <a:solidFill>
                <a:srgbClr val="92D050"/>
              </a:solidFill>
            </a:endParaRPr>
          </a:p>
          <a:p>
            <a:pPr marL="0" indent="0">
              <a:buNone/>
            </a:pPr>
            <a:r>
              <a:rPr lang="en-AU" b="1" dirty="0" smtClean="0"/>
              <a:t>1. EMPHASIS AND IMPORTANCE </a:t>
            </a:r>
          </a:p>
          <a:p>
            <a:pPr marL="0" indent="0">
              <a:buNone/>
            </a:pPr>
            <a:r>
              <a:rPr lang="en-AU" b="1" dirty="0" smtClean="0"/>
              <a:t>    IS GIVEN TO A PARTICULAR </a:t>
            </a:r>
          </a:p>
          <a:p>
            <a:pPr marL="0" indent="0">
              <a:buNone/>
            </a:pPr>
            <a:r>
              <a:rPr lang="en-AU" b="1" dirty="0" smtClean="0"/>
              <a:t>    ELEMENT CONVEYING IMPORTANCE.</a:t>
            </a:r>
          </a:p>
          <a:p>
            <a:pPr marL="0" indent="0">
              <a:buNone/>
            </a:pPr>
            <a:r>
              <a:rPr lang="en-AU" b="1" dirty="0" smtClean="0"/>
              <a:t>2. AN IMAGE </a:t>
            </a:r>
            <a:r>
              <a:rPr lang="en-AU" b="1" dirty="0"/>
              <a:t>CONSISTS OF </a:t>
            </a:r>
            <a:endParaRPr lang="en-AU" b="1" dirty="0" smtClean="0"/>
          </a:p>
          <a:p>
            <a:pPr marL="0" indent="0">
              <a:buNone/>
            </a:pPr>
            <a:r>
              <a:rPr lang="en-AU" b="1" dirty="0"/>
              <a:t> </a:t>
            </a:r>
            <a:r>
              <a:rPr lang="en-AU" b="1" dirty="0" smtClean="0"/>
              <a:t>   NINE </a:t>
            </a:r>
            <a:r>
              <a:rPr lang="en-AU" b="1" dirty="0"/>
              <a:t>PARTS</a:t>
            </a:r>
            <a:r>
              <a:rPr lang="en-AU" b="1" dirty="0" smtClean="0"/>
              <a:t>.</a:t>
            </a:r>
          </a:p>
          <a:p>
            <a:pPr marL="0" indent="0">
              <a:buNone/>
            </a:pPr>
            <a:r>
              <a:rPr lang="en-AU" b="1" dirty="0" smtClean="0"/>
              <a:t>3. MAIN POINTS OF INTEREST IN AN </a:t>
            </a:r>
          </a:p>
          <a:p>
            <a:pPr marL="0" indent="0">
              <a:buNone/>
            </a:pPr>
            <a:r>
              <a:rPr lang="en-AU" b="1" dirty="0"/>
              <a:t> </a:t>
            </a:r>
            <a:r>
              <a:rPr lang="en-AU" b="1" dirty="0" smtClean="0"/>
              <a:t>   IMAGE SHOULD BE PLACED ALONG</a:t>
            </a:r>
          </a:p>
          <a:p>
            <a:pPr marL="0" indent="0">
              <a:buNone/>
            </a:pPr>
            <a:r>
              <a:rPr lang="en-AU" b="1" dirty="0"/>
              <a:t> </a:t>
            </a:r>
            <a:r>
              <a:rPr lang="en-AU" b="1" dirty="0" smtClean="0"/>
              <a:t>   ONE OF THE BANDS OR ON ONE </a:t>
            </a:r>
          </a:p>
          <a:p>
            <a:pPr marL="0" indent="0">
              <a:buNone/>
            </a:pPr>
            <a:r>
              <a:rPr lang="en-AU" b="1" dirty="0"/>
              <a:t> </a:t>
            </a:r>
            <a:r>
              <a:rPr lang="en-AU" b="1" dirty="0" smtClean="0"/>
              <a:t>   OF THE INTERSECTION POINTS. </a:t>
            </a:r>
          </a:p>
          <a:p>
            <a:endParaRPr lang="en-AU" sz="2000" b="1" dirty="0"/>
          </a:p>
          <a:p>
            <a:endParaRPr lang="en-AU" sz="28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338" y="1888067"/>
            <a:ext cx="7452662" cy="4969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357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89" y="447188"/>
            <a:ext cx="11323809" cy="1223670"/>
          </a:xfrm>
        </p:spPr>
        <p:txBody>
          <a:bodyPr/>
          <a:lstStyle/>
          <a:p>
            <a:r>
              <a:rPr lang="en-AU" dirty="0"/>
              <a:t>TECHNICAL CONSTRUCTION:</a:t>
            </a:r>
            <a:br>
              <a:rPr lang="en-AU" dirty="0"/>
            </a:br>
            <a:r>
              <a:rPr lang="en-AU" dirty="0" smtClean="0"/>
              <a:t>COMPOSITION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818" y="2222287"/>
            <a:ext cx="11165468" cy="3636511"/>
          </a:xfrm>
        </p:spPr>
        <p:txBody>
          <a:bodyPr/>
          <a:lstStyle/>
          <a:p>
            <a:pPr marL="0" indent="0">
              <a:buNone/>
            </a:pPr>
            <a:endParaRPr lang="en-AU" b="1" dirty="0" smtClean="0"/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r>
              <a:rPr lang="en-AU" sz="3200" b="1" u="sng" dirty="0">
                <a:solidFill>
                  <a:srgbClr val="92D050"/>
                </a:solidFill>
              </a:rPr>
              <a:t>JUXTAPOSITION</a:t>
            </a:r>
            <a:endParaRPr lang="en-AU" sz="3200" b="1" u="sng" dirty="0" smtClean="0">
              <a:solidFill>
                <a:srgbClr val="92D050"/>
              </a:solidFill>
            </a:endParaRPr>
          </a:p>
          <a:p>
            <a:pPr marL="0" indent="0">
              <a:buNone/>
            </a:pPr>
            <a:endParaRPr lang="en-AU" b="1" dirty="0" smtClean="0"/>
          </a:p>
          <a:p>
            <a:pPr marL="0" indent="0">
              <a:buNone/>
            </a:pPr>
            <a:r>
              <a:rPr lang="en-AU" b="1" dirty="0" smtClean="0"/>
              <a:t>THE PLACEMENT NEXT TO EACH OTHER </a:t>
            </a:r>
          </a:p>
          <a:p>
            <a:pPr marL="0" indent="0">
              <a:buNone/>
            </a:pPr>
            <a:r>
              <a:rPr lang="en-AU" b="1" dirty="0" smtClean="0"/>
              <a:t>OF TWO UNEXPECTED THINGS TO CREATE </a:t>
            </a:r>
          </a:p>
          <a:p>
            <a:pPr marL="0" indent="0">
              <a:buNone/>
            </a:pPr>
            <a:r>
              <a:rPr lang="en-AU" b="1" dirty="0" smtClean="0"/>
              <a:t>MEANING THAT EACH ALONE WOULD </a:t>
            </a:r>
          </a:p>
          <a:p>
            <a:pPr marL="0" indent="0">
              <a:buNone/>
            </a:pPr>
            <a:r>
              <a:rPr lang="en-AU" b="1" dirty="0" smtClean="0"/>
              <a:t>NOT SUGGEST.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b="1" dirty="0" smtClean="0"/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5014" y="0"/>
            <a:ext cx="51669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0376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TECHNICAL CODE FOR IMAGE ANALYSIS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2948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b="1" dirty="0" smtClean="0">
                <a:solidFill>
                  <a:srgbClr val="92D050"/>
                </a:solidFill>
              </a:rPr>
              <a:t>SHOT </a:t>
            </a:r>
            <a:r>
              <a:rPr lang="en-AU" sz="2800" b="1" dirty="0">
                <a:solidFill>
                  <a:srgbClr val="92D050"/>
                </a:solidFill>
              </a:rPr>
              <a:t>SELECTION</a:t>
            </a:r>
            <a:r>
              <a:rPr lang="en-AU" sz="2800" b="1" dirty="0"/>
              <a:t>					</a:t>
            </a:r>
            <a:r>
              <a:rPr lang="en-AU" sz="2800" b="1" dirty="0" smtClean="0"/>
              <a:t>			CAMERA ANGLES </a:t>
            </a:r>
            <a:endParaRPr lang="en-AU" sz="2800" b="1" dirty="0"/>
          </a:p>
          <a:p>
            <a:pPr marL="0" indent="0">
              <a:buNone/>
            </a:pPr>
            <a:r>
              <a:rPr lang="en-AU" sz="2800" b="1" dirty="0"/>
              <a:t>CAMERA </a:t>
            </a:r>
            <a:r>
              <a:rPr lang="en-AU" sz="2800" b="1" dirty="0" smtClean="0"/>
              <a:t>DISTANCE </a:t>
            </a:r>
            <a:r>
              <a:rPr lang="en-AU" sz="2800" b="1" dirty="0"/>
              <a:t>				</a:t>
            </a:r>
            <a:r>
              <a:rPr lang="en-AU" sz="2800" b="1" dirty="0" smtClean="0"/>
              <a:t>			</a:t>
            </a:r>
            <a:r>
              <a:rPr lang="en-AU" sz="2800" b="1" dirty="0" smtClean="0">
                <a:solidFill>
                  <a:srgbClr val="92D050"/>
                </a:solidFill>
              </a:rPr>
              <a:t>CAMERA </a:t>
            </a:r>
            <a:r>
              <a:rPr lang="en-AU" sz="2800" b="1" dirty="0">
                <a:solidFill>
                  <a:srgbClr val="92D050"/>
                </a:solidFill>
              </a:rPr>
              <a:t>MOVEMENT</a:t>
            </a:r>
          </a:p>
          <a:p>
            <a:pPr marL="0" indent="0">
              <a:buNone/>
            </a:pPr>
            <a:r>
              <a:rPr lang="en-AU" sz="2800" b="1" dirty="0">
                <a:solidFill>
                  <a:srgbClr val="92D050"/>
                </a:solidFill>
              </a:rPr>
              <a:t>MONTAGE	</a:t>
            </a:r>
            <a:r>
              <a:rPr lang="en-AU" sz="2800" b="1" dirty="0"/>
              <a:t>					</a:t>
            </a:r>
            <a:r>
              <a:rPr lang="en-AU" sz="2800" b="1" dirty="0" smtClean="0"/>
              <a:t>					JUXTAPOSITION </a:t>
            </a:r>
            <a:endParaRPr lang="en-AU" sz="2800" b="1" dirty="0"/>
          </a:p>
          <a:p>
            <a:pPr marL="0" indent="0">
              <a:buNone/>
            </a:pPr>
            <a:r>
              <a:rPr lang="en-AU" sz="2800" b="1" dirty="0">
                <a:solidFill>
                  <a:srgbClr val="92D050"/>
                </a:solidFill>
              </a:rPr>
              <a:t>LEADING LINES OR VECTORS</a:t>
            </a:r>
            <a:r>
              <a:rPr lang="en-AU" sz="2800" b="1" dirty="0"/>
              <a:t>	</a:t>
            </a:r>
            <a:r>
              <a:rPr lang="en-AU" sz="2800" b="1" dirty="0" smtClean="0"/>
              <a:t>			</a:t>
            </a:r>
            <a:r>
              <a:rPr lang="en-AU" sz="2800" b="1" dirty="0" smtClean="0">
                <a:solidFill>
                  <a:srgbClr val="92D050"/>
                </a:solidFill>
              </a:rPr>
              <a:t>LIGHTING</a:t>
            </a:r>
            <a:endParaRPr lang="en-AU" sz="2800" b="1" dirty="0">
              <a:solidFill>
                <a:srgbClr val="92D050"/>
              </a:solidFill>
            </a:endParaRPr>
          </a:p>
          <a:p>
            <a:pPr marL="0" indent="0">
              <a:buNone/>
            </a:pPr>
            <a:r>
              <a:rPr lang="en-AU" sz="2800" b="1" dirty="0"/>
              <a:t>RULES OF THIRDS					</a:t>
            </a:r>
            <a:r>
              <a:rPr lang="en-AU" sz="2800" b="1" dirty="0" smtClean="0"/>
              <a:t>			</a:t>
            </a:r>
            <a:r>
              <a:rPr lang="en-AU" sz="2800" b="1" dirty="0" smtClean="0">
                <a:solidFill>
                  <a:srgbClr val="92D050"/>
                </a:solidFill>
              </a:rPr>
              <a:t>LENS </a:t>
            </a:r>
            <a:r>
              <a:rPr lang="en-AU" sz="2800" b="1" dirty="0">
                <a:solidFill>
                  <a:srgbClr val="92D050"/>
                </a:solidFill>
              </a:rPr>
              <a:t>SELECTION</a:t>
            </a:r>
          </a:p>
          <a:p>
            <a:pPr marL="0" indent="0">
              <a:buNone/>
            </a:pPr>
            <a:r>
              <a:rPr lang="en-AU" sz="2800" b="1" dirty="0">
                <a:solidFill>
                  <a:srgbClr val="92D050"/>
                </a:solidFill>
              </a:rPr>
              <a:t>DEPTH OF FIELD</a:t>
            </a:r>
            <a:r>
              <a:rPr lang="en-AU" sz="2800" b="1" dirty="0"/>
              <a:t>					</a:t>
            </a:r>
            <a:r>
              <a:rPr lang="en-AU" sz="2800" b="1" dirty="0" smtClean="0"/>
              <a:t>				FRAMING </a:t>
            </a:r>
            <a:endParaRPr lang="en-AU" sz="2800" b="1" dirty="0"/>
          </a:p>
          <a:p>
            <a:pPr marL="0" indent="0">
              <a:buNone/>
            </a:pPr>
            <a:r>
              <a:rPr lang="en-AU" sz="2800" b="1" dirty="0"/>
              <a:t>COMPOSITION</a:t>
            </a:r>
            <a:r>
              <a:rPr lang="en-AU" sz="2800" b="1" dirty="0">
                <a:solidFill>
                  <a:srgbClr val="92D050"/>
                </a:solidFill>
              </a:rPr>
              <a:t> </a:t>
            </a:r>
          </a:p>
          <a:p>
            <a:endParaRPr lang="en-AU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3786" y="4537364"/>
            <a:ext cx="483523" cy="48352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379" y="3343081"/>
            <a:ext cx="487722" cy="48772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5703" y="2222287"/>
            <a:ext cx="487722" cy="48772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5914" y="5097066"/>
            <a:ext cx="487722" cy="48772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0786" y="2710009"/>
            <a:ext cx="487722" cy="48772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514" y="5687270"/>
            <a:ext cx="487722" cy="48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9725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9ECD33"/>
      </a:accent1>
      <a:accent2>
        <a:srgbClr val="E19933"/>
      </a:accent2>
      <a:accent3>
        <a:srgbClr val="DC5D3D"/>
      </a:accent3>
      <a:accent4>
        <a:srgbClr val="A967CB"/>
      </a:accent4>
      <a:accent5>
        <a:srgbClr val="5EA5DD"/>
      </a:accent5>
      <a:accent6>
        <a:srgbClr val="44BEA9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98D1675B-7325-48AD-994B-0DEF3379A9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309</TotalTime>
  <Words>370</Words>
  <Application>Microsoft Office PowerPoint</Application>
  <PresentationFormat>Widescreen</PresentationFormat>
  <Paragraphs>138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Calibri</vt:lpstr>
      <vt:lpstr>Century Gothic</vt:lpstr>
      <vt:lpstr>Wingdings 2</vt:lpstr>
      <vt:lpstr>Quotable</vt:lpstr>
      <vt:lpstr>IMAGE ANALYSIS VISUAL CONVENTIONS</vt:lpstr>
      <vt:lpstr>MIND MAP FOR VISUAL ANALYSIS </vt:lpstr>
      <vt:lpstr>CONTENT: REPRESENTATION OF EVENTS</vt:lpstr>
      <vt:lpstr>  SWAT CODE =  VISUAL LANGUAGE CONVENTIONS </vt:lpstr>
      <vt:lpstr>SYMBOLIC CODE</vt:lpstr>
      <vt:lpstr>WRITTEN CODE</vt:lpstr>
      <vt:lpstr>AUDIO CODE</vt:lpstr>
      <vt:lpstr>TECHNICAL CODE</vt:lpstr>
      <vt:lpstr>TURN THE PAGE AND WRITE YOU ANSWERS</vt:lpstr>
      <vt:lpstr>TECHNICAL CONSTRUCTION: VIEWER PERSPECTIVE….</vt:lpstr>
      <vt:lpstr>TECHNICAL CONSTRUCTION: VIEWER PERSPECTIVE….</vt:lpstr>
      <vt:lpstr>TECHNICAL CONSTRUCTION: VIEWER PERSPECTIVE….</vt:lpstr>
      <vt:lpstr>TECHNICAL CONSTRUCTION: VIEWER PERSPECTIVE….</vt:lpstr>
      <vt:lpstr>TECHNICAL CONSTRUCTION: COMPOSITION….</vt:lpstr>
      <vt:lpstr>TECHNICAL CONSTRUCTION: COMPOSITION</vt:lpstr>
      <vt:lpstr>TECHNICAL CONSTRUCTION: COMPOSITION</vt:lpstr>
      <vt:lpstr>TECHNICAL CODE FOR IMAGE ANALYSIS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PAULEY Rebecca [Narrogin Senior High School]</dc:creator>
  <cp:lastModifiedBy>MCWILLIAMS Hayden [Narrogin Senior High School]</cp:lastModifiedBy>
  <cp:revision>83</cp:revision>
  <cp:lastPrinted>2020-03-30T23:47:47Z</cp:lastPrinted>
  <dcterms:created xsi:type="dcterms:W3CDTF">2019-07-28T04:39:27Z</dcterms:created>
  <dcterms:modified xsi:type="dcterms:W3CDTF">2020-03-30T23:47:56Z</dcterms:modified>
</cp:coreProperties>
</file>
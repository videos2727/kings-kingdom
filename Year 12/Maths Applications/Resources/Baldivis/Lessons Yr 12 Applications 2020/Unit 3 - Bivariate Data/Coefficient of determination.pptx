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8" r:id="rId5"/>
    <p:sldId id="264" r:id="rId6"/>
    <p:sldId id="363" r:id="rId7"/>
    <p:sldId id="367" r:id="rId8"/>
    <p:sldId id="341" r:id="rId9"/>
    <p:sldId id="362" r:id="rId10"/>
    <p:sldId id="384" r:id="rId11"/>
    <p:sldId id="39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17" autoAdjust="0"/>
    <p:restoredTop sz="94650"/>
  </p:normalViewPr>
  <p:slideViewPr>
    <p:cSldViewPr snapToGrid="0">
      <p:cViewPr varScale="1">
        <p:scale>
          <a:sx n="100" d="100"/>
          <a:sy n="100" d="100"/>
        </p:scale>
        <p:origin x="160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2/21/20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2/21/20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EABDD7AE-682D-5840-B944-EAD4E1FF0A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5C99C39-7522-B749-9DA8-AD747F2EAF74}" type="slidenum">
              <a:rPr lang="en-US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F50777D2-4E7A-3A4B-A4B4-8B0FC3BE51B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27E6CDD6-F772-ED49-914A-E2207AED0A3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61577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uk-UA" smtClean="0"/>
              <a:t>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89330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8293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2/21/20</a:t>
            </a:fld>
            <a:endParaRPr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2/21/20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2/21/20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2/21/20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2/21/20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2/21/20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2/21/20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8896" y="2465294"/>
            <a:ext cx="5389895" cy="4392706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2/21/20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2/21/20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2/21/20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/>
          <a:lstStyle/>
          <a:p>
            <a:fld id="{2CCFE9AC-F15C-4FA0-A6F1-298829FA691D}" type="datetimeFigureOut">
              <a:rPr lang="en-US"/>
              <a:t>2/21/20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/>
          <a:lstStyle/>
          <a:p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E00E7F3-33B8-354E-9F7B-E4EEEA6120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D69412B-D9E1-7F42-9013-2485055CE56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39132BA-E469-2643-B84B-5C4E7A940D26}" type="slidenum">
              <a:rPr lang="ar-SA" altLang="en-US"/>
              <a:pPr/>
              <a:t>‹#›</a:t>
            </a:fld>
            <a:endParaRPr lang="ru-RU" altLang="en-US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95CD18FB-F679-534D-B3D9-CF0D45B1B4B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032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  <a:p>
            <a:pPr lvl="5"/>
            <a:r>
              <a:t>Sixth</a:t>
            </a:r>
          </a:p>
          <a:p>
            <a:pPr lvl="6"/>
            <a:r>
              <a:t>Seventh</a:t>
            </a:r>
          </a:p>
          <a:p>
            <a:pPr lvl="7"/>
            <a:r>
              <a:t>Eighth</a:t>
            </a:r>
          </a:p>
          <a:p>
            <a:pPr lvl="8"/>
            <a:r>
              <a:t>Ninth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E9AC-F15C-4FA0-A6F1-298829FA691D}" type="datetimeFigureOut">
              <a:rPr lang="en-US"/>
              <a:t>2/21/20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Topic: Coefficient of Determination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31460" y="4464425"/>
            <a:ext cx="9260540" cy="1021976"/>
          </a:xfrm>
        </p:spPr>
        <p:txBody>
          <a:bodyPr>
            <a:normAutofit/>
          </a:bodyPr>
          <a:lstStyle/>
          <a:p>
            <a:r>
              <a:rPr lang="en-US" dirty="0"/>
              <a:t>EQ: How does the coefficient of determination differ from the correlation coefficient?</a:t>
            </a:r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1" name="Rectangle 1031">
            <a:extLst>
              <a:ext uri="{FF2B5EF4-FFF2-40B4-BE49-F238E27FC236}">
                <a16:creationId xmlns:a16="http://schemas.microsoft.com/office/drawing/2014/main" id="{EA5A95A6-1988-7F40-8374-290CF10539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3214117" y="508872"/>
            <a:ext cx="9628632" cy="1362113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4800" dirty="0"/>
              <a:t>To review</a:t>
            </a:r>
          </a:p>
        </p:txBody>
      </p:sp>
      <p:sp>
        <p:nvSpPr>
          <p:cNvPr id="21512" name="Rectangle 1032">
            <a:extLst>
              <a:ext uri="{FF2B5EF4-FFF2-40B4-BE49-F238E27FC236}">
                <a16:creationId xmlns:a16="http://schemas.microsoft.com/office/drawing/2014/main" id="{21586B1B-5EDE-474C-ADCD-1A024B0707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5848" y="2018714"/>
            <a:ext cx="11328676" cy="174354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800" b="1" dirty="0"/>
              <a:t>Pearson’s Correlation Coefficient, </a:t>
            </a:r>
            <a:r>
              <a:rPr lang="en-US" altLang="en-US" sz="2800" b="1" i="1" dirty="0"/>
              <a:t>r</a:t>
            </a:r>
            <a:endParaRPr lang="en-US" altLang="en-US" sz="2800" b="1" dirty="0"/>
          </a:p>
          <a:p>
            <a:r>
              <a:rPr lang="en-US" altLang="en-US" sz="2400" b="1" dirty="0">
                <a:ea typeface="Calibri" panose="020F0502020204030204" pitchFamily="34" charset="0"/>
                <a:cs typeface="Calibri" panose="020F0502020204030204" pitchFamily="34" charset="0"/>
              </a:rPr>
              <a:t>R is a measure of strength of the linear association between two variables, x and y. </a:t>
            </a:r>
          </a:p>
          <a:p>
            <a:r>
              <a:rPr lang="en-US" alt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It measures the </a:t>
            </a:r>
            <a:r>
              <a:rPr lang="en-US" altLang="en-US" sz="2400" b="1" u="sng" dirty="0">
                <a:ea typeface="Calibri" panose="020F0502020204030204" pitchFamily="34" charset="0"/>
                <a:cs typeface="Calibri" panose="020F0502020204030204" pitchFamily="34" charset="0"/>
              </a:rPr>
              <a:t>direction</a:t>
            </a:r>
            <a:r>
              <a:rPr lang="en-US" alt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 and the </a:t>
            </a:r>
            <a:r>
              <a:rPr lang="en-US" altLang="en-US" sz="2400" b="1" u="sng" dirty="0">
                <a:ea typeface="Calibri" panose="020F0502020204030204" pitchFamily="34" charset="0"/>
                <a:cs typeface="Calibri" panose="020F0502020204030204" pitchFamily="34" charset="0"/>
              </a:rPr>
              <a:t>strength</a:t>
            </a:r>
            <a:r>
              <a:rPr lang="en-US" alt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 of the linear association between two numerical paired variables.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B03C4D3-6C80-6C47-8537-5082230B5897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165848" y="4040372"/>
            <a:ext cx="11540599" cy="24044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Difference between Correlation and Regression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lang="en-US" altLang="x-none" sz="2500" dirty="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rPr>
              <a:t>Correlation Coefficient, R, measures the </a:t>
            </a:r>
            <a:r>
              <a:rPr lang="en-US" altLang="x-none" sz="2500" i="1" dirty="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rPr>
              <a:t>strength</a:t>
            </a:r>
            <a:r>
              <a:rPr lang="en-US" altLang="x-none" sz="2500" dirty="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rPr>
              <a:t> of bivariate association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lang="en-US" altLang="x-none" sz="2500" dirty="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rPr>
              <a:t>The regression line is a </a:t>
            </a:r>
            <a:r>
              <a:rPr lang="en-US" altLang="x-none" sz="2500" i="1" dirty="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rPr>
              <a:t>prediction equation</a:t>
            </a:r>
            <a:r>
              <a:rPr lang="en-US" altLang="x-none" sz="2500" dirty="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rPr>
              <a:t> that estimates the values of y for any given 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500" b="1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endParaRPr lang="en-US" altLang="en-US" sz="2800" b="1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endParaRPr lang="en-US" altLang="en-US" sz="28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800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2" grpId="0" build="p" bldLvl="2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0FF7821F-8835-C544-901D-480CD58A07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3419" y="928577"/>
            <a:ext cx="7924800" cy="762000"/>
          </a:xfrm>
        </p:spPr>
        <p:txBody>
          <a:bodyPr>
            <a:normAutofit fontScale="90000"/>
          </a:bodyPr>
          <a:lstStyle/>
          <a:p>
            <a:r>
              <a:rPr lang="en-US" altLang="en-US" sz="4000" b="1" dirty="0">
                <a:cs typeface="Times New Roman" panose="02020603050405020304" pitchFamily="18" charset="0"/>
              </a:rPr>
              <a:t>Limitations of the correlation coefficient</a:t>
            </a:r>
            <a:endParaRPr lang="en-US" altLang="en-US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24DB797D-27D5-E343-A3D9-AF2AAE8E45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981200"/>
            <a:ext cx="11734800" cy="344978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Though R measures how closely the two variables approximate a straight line, it does not validly measure the strength of nonlinear relationship </a:t>
            </a:r>
          </a:p>
          <a:p>
            <a:pPr>
              <a:lnSpc>
                <a:spcPct val="90000"/>
              </a:lnSpc>
            </a:pPr>
            <a:r>
              <a:rPr lang="en-US" alt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the sample size, n, is small we also have to be careful with the reliability of the correlation </a:t>
            </a:r>
          </a:p>
          <a:p>
            <a:pPr>
              <a:lnSpc>
                <a:spcPct val="90000"/>
              </a:lnSpc>
            </a:pPr>
            <a:r>
              <a:rPr lang="en-US" alt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Outliers could have a marked effect on R</a:t>
            </a:r>
          </a:p>
          <a:p>
            <a:pPr>
              <a:lnSpc>
                <a:spcPct val="90000"/>
              </a:lnSpc>
            </a:pPr>
            <a:r>
              <a:rPr lang="en-US" alt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Remember: Correlation does not imply causality!</a:t>
            </a:r>
          </a:p>
        </p:txBody>
      </p:sp>
    </p:spTree>
    <p:extLst>
      <p:ext uri="{BB962C8B-B14F-4D97-AF65-F5344CB8AC3E}">
        <p14:creationId xmlns:p14="http://schemas.microsoft.com/office/powerpoint/2010/main" val="4277802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863411DD-8492-8E45-9A71-F3C040060B7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00035" y="824346"/>
            <a:ext cx="8229600" cy="69215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>
                <a:solidFill>
                  <a:schemeClr val="bg2"/>
                </a:solidFill>
              </a:rPr>
              <a:t>Least Squares Regression</a:t>
            </a:r>
          </a:p>
        </p:txBody>
      </p:sp>
      <p:sp>
        <p:nvSpPr>
          <p:cNvPr id="218115" name="Rectangle 3">
            <a:extLst>
              <a:ext uri="{FF2B5EF4-FFF2-40B4-BE49-F238E27FC236}">
                <a16:creationId xmlns:a16="http://schemas.microsoft.com/office/drawing/2014/main" id="{6854A676-E07B-164F-81D5-AD255749138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07947" y="1967345"/>
            <a:ext cx="11197362" cy="1968067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buFont typeface="Wingdings" pitchFamily="2" charset="2"/>
              <a:buChar char="Ø"/>
              <a:defRPr/>
            </a:pPr>
            <a:r>
              <a:rPr lang="en-US" sz="3400" dirty="0">
                <a:ea typeface="Calibri" charset="0"/>
                <a:cs typeface="Calibri" charset="0"/>
              </a:rPr>
              <a:t>Calculates the “best-fit” line for a certain set of data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3400" dirty="0">
                <a:ea typeface="Calibri" charset="0"/>
                <a:cs typeface="Calibri" charset="0"/>
              </a:rPr>
              <a:t>The regression line makes the sum of the squares of the residuals smaller than for any other line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3400" b="1" dirty="0">
                <a:solidFill>
                  <a:srgbClr val="FFCC00"/>
                </a:solidFill>
              </a:rPr>
              <a:t>Regression minimizes residuals</a:t>
            </a:r>
            <a:endParaRPr lang="en-US" sz="3400" dirty="0"/>
          </a:p>
          <a:p>
            <a:pPr eaLnBrk="1" hangingPunct="1">
              <a:defRPr/>
            </a:pPr>
            <a:endParaRPr lang="en-US" sz="2800" dirty="0"/>
          </a:p>
        </p:txBody>
      </p:sp>
      <p:pic>
        <p:nvPicPr>
          <p:cNvPr id="35843" name="Picture 1028">
            <a:extLst>
              <a:ext uri="{FF2B5EF4-FFF2-40B4-BE49-F238E27FC236}">
                <a16:creationId xmlns:a16="http://schemas.microsoft.com/office/drawing/2014/main" id="{BE6636A6-F00A-E046-930D-4B1EFC765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7783" y="3318599"/>
            <a:ext cx="3627415" cy="3377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1027">
            <a:extLst>
              <a:ext uri="{FF2B5EF4-FFF2-40B4-BE49-F238E27FC236}">
                <a16:creationId xmlns:a16="http://schemas.microsoft.com/office/drawing/2014/main" id="{29901090-8CF4-FF48-916D-951F095522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6" y="3935412"/>
            <a:ext cx="41148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Char char="n"/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charset="2"/>
              <a:buChar char="n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charset="2"/>
              <a:buChar char="n"/>
              <a:defRPr sz="28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eaLnBrk="1" hangingPunct="1">
              <a:buFont typeface="Wingdings" pitchFamily="2" charset="2"/>
              <a:buChar char="n"/>
              <a:defRPr/>
            </a:pPr>
            <a:r>
              <a:rPr lang="en-US" sz="2800" b="1" kern="0" dirty="0">
                <a:solidFill>
                  <a:schemeClr val="tx1"/>
                </a:solidFill>
              </a:rPr>
              <a:t>GOAL </a:t>
            </a:r>
            <a:r>
              <a:rPr lang="en-US" sz="2800" kern="0" dirty="0">
                <a:solidFill>
                  <a:schemeClr val="tx1"/>
                </a:solidFill>
              </a:rPr>
              <a:t>-  </a:t>
            </a:r>
            <a:r>
              <a:rPr lang="en-US" sz="2800" kern="0" dirty="0">
                <a:solidFill>
                  <a:schemeClr val="tx1"/>
                </a:solidFill>
                <a:ea typeface="Calibri" charset="0"/>
                <a:cs typeface="Calibri" charset="0"/>
              </a:rPr>
              <a:t>minimize the sum of the squared differences between the points (observed values) and the line (predicted values)</a:t>
            </a:r>
            <a:r>
              <a:rPr lang="en-US" sz="2800" kern="0" dirty="0">
                <a:solidFill>
                  <a:schemeClr val="tx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57508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8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8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8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8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8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8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5" grpId="0" build="p" bldLvl="2" autoUpdateAnimBg="0"/>
      <p:bldP spid="7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>
            <a:extLst>
              <a:ext uri="{FF2B5EF4-FFF2-40B4-BE49-F238E27FC236}">
                <a16:creationId xmlns:a16="http://schemas.microsoft.com/office/drawing/2014/main" id="{B28D766E-0908-9E45-8163-C2941CE75E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6487" y="507907"/>
            <a:ext cx="9628632" cy="136211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200" dirty="0"/>
              <a:t>Strength of the Association:  </a:t>
            </a:r>
            <a:r>
              <a:rPr lang="en-US" sz="3200" i="1" dirty="0"/>
              <a:t>r</a:t>
            </a:r>
            <a:r>
              <a:rPr lang="en-US" sz="3200" i="1" baseline="30000" dirty="0"/>
              <a:t>2</a:t>
            </a:r>
            <a:endParaRPr lang="en-US" sz="3200" i="1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CC9456C-AAB2-E146-8219-719215E6C3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856" y="4066308"/>
            <a:ext cx="11118126" cy="26808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buChar char="n"/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charset="2"/>
              <a:buChar char="n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charset="2"/>
              <a:buChar char="n"/>
              <a:defRPr sz="28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eaLnBrk="1" hangingPunct="1">
              <a:lnSpc>
                <a:spcPct val="90000"/>
              </a:lnSpc>
              <a:buFont typeface="Wingdings" pitchFamily="2" charset="2"/>
              <a:buChar char="n"/>
              <a:defRPr/>
            </a:pPr>
            <a:r>
              <a:rPr lang="en-US" sz="2400" kern="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Example:    </a:t>
            </a:r>
            <a:r>
              <a:rPr lang="en-US" sz="2400" i="1" kern="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r</a:t>
            </a:r>
            <a:r>
              <a:rPr lang="en-US" sz="2400" i="1" kern="0" baseline="30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2</a:t>
            </a:r>
            <a:r>
              <a:rPr lang="en-US" sz="2400" kern="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 =92.7%.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n"/>
              <a:defRPr/>
            </a:pPr>
            <a:r>
              <a:rPr lang="en-US" sz="2400" b="1" kern="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Interpretation: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Char char="n"/>
              <a:defRPr/>
            </a:pPr>
            <a:r>
              <a:rPr lang="en-US" sz="2400" kern="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Almost 93% of the variability in the amount of water consumed is explained by outside temperature using this model.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Char char="n"/>
              <a:defRPr/>
            </a:pPr>
            <a:r>
              <a:rPr lang="en-US" sz="2400" kern="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Note:  Therefore 7% of the variation in the amount of water consumed is not explained by this model using temperature.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0FD6046F-745A-3E4A-B971-7C4A5D4A22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6487" y="2199408"/>
                <a:ext cx="11118126" cy="268085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charset="2"/>
                  <a:buChar char="n"/>
                  <a:defRPr sz="36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charset="2"/>
                  <a:buChar char="n"/>
                  <a:defRPr sz="32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charset="2"/>
                  <a:buChar char="n"/>
                  <a:defRPr sz="28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charset="2"/>
                  <a:buChar char="n"/>
                  <a:defRPr sz="20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charset="2"/>
                  <a:buChar char="n"/>
                  <a:defRPr sz="20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n-lt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buFont typeface="Wingdings" pitchFamily="2" charset="2"/>
                  <a:buChar char="n"/>
                  <a:defRPr/>
                </a:pPr>
                <a:r>
                  <a:rPr lang="en-US" sz="2400" kern="0" dirty="0">
                    <a:solidFill>
                      <a:schemeClr val="tx1"/>
                    </a:solidFill>
                    <a:ea typeface="Calibri" charset="0"/>
                    <a:cs typeface="Calibri" charset="0"/>
                  </a:rPr>
                  <a:t>Coefficient of determination:    </a:t>
                </a:r>
                <a:r>
                  <a:rPr lang="en-US" sz="2400" i="1" kern="0" dirty="0">
                    <a:solidFill>
                      <a:schemeClr val="tx1"/>
                    </a:solidFill>
                    <a:ea typeface="Calibri" charset="0"/>
                    <a:cs typeface="Calibri" charset="0"/>
                  </a:rPr>
                  <a:t>r</a:t>
                </a:r>
                <a:r>
                  <a:rPr lang="en-US" sz="2400" i="1" kern="0" baseline="30000" dirty="0">
                    <a:solidFill>
                      <a:schemeClr val="tx1"/>
                    </a:solidFill>
                    <a:ea typeface="Calibri" charset="0"/>
                    <a:cs typeface="Calibri" charset="0"/>
                  </a:rPr>
                  <a:t>2</a:t>
                </a:r>
                <a:endParaRPr lang="en-US" sz="2400" kern="0" dirty="0">
                  <a:solidFill>
                    <a:schemeClr val="tx1"/>
                  </a:solidFill>
                  <a:ea typeface="Calibri" charset="0"/>
                  <a:cs typeface="Calibri" charset="0"/>
                </a:endParaRPr>
              </a:p>
              <a:p>
                <a:pPr eaLnBrk="1" hangingPunct="1">
                  <a:lnSpc>
                    <a:spcPct val="90000"/>
                  </a:lnSpc>
                  <a:buFont typeface="Wingdings" pitchFamily="2" charset="2"/>
                  <a:buChar char="n"/>
                  <a:defRPr/>
                </a:pPr>
                <a:r>
                  <a:rPr lang="en-US" sz="2400" b="1" kern="0" dirty="0">
                    <a:solidFill>
                      <a:schemeClr val="tx1"/>
                    </a:solidFill>
                    <a:ea typeface="Calibri" charset="0"/>
                    <a:cs typeface="Calibri" charset="0"/>
                  </a:rPr>
                  <a:t>R</a:t>
                </a:r>
                <a:r>
                  <a:rPr lang="en-US" sz="2400" b="1" kern="0" baseline="30000" dirty="0">
                    <a:solidFill>
                      <a:schemeClr val="tx1"/>
                    </a:solidFill>
                    <a:ea typeface="Calibri" charset="0"/>
                    <a:cs typeface="Calibri" charset="0"/>
                  </a:rPr>
                  <a:t>2</a:t>
                </a:r>
                <a:r>
                  <a:rPr lang="en-US" sz="2400" b="1" kern="0" dirty="0">
                    <a:solidFill>
                      <a:schemeClr val="tx1"/>
                    </a:solidFill>
                    <a:ea typeface="Calibri" charset="0"/>
                    <a:cs typeface="Calibri" charset="0"/>
                  </a:rPr>
                  <a:t> is another important measure of linear association between x and y (0 </a:t>
                </a:r>
                <a14:m>
                  <m:oMath xmlns:m="http://schemas.openxmlformats.org/officeDocument/2006/math">
                    <m:r>
                      <a:rPr lang="en-US" sz="2400" b="1" i="1" kern="0" smtClean="0">
                        <a:solidFill>
                          <a:schemeClr val="tx1"/>
                        </a:solidFill>
                        <a:ea typeface="Cambria Math" panose="02040503050406030204" pitchFamily="18" charset="0"/>
                        <a:cs typeface="Calibri" charset="0"/>
                      </a:rPr>
                      <m:t>≤</m:t>
                    </m:r>
                  </m:oMath>
                </a14:m>
                <a:r>
                  <a:rPr lang="en-US" sz="2400" b="1" kern="0" dirty="0">
                    <a:solidFill>
                      <a:schemeClr val="tx1"/>
                    </a:solidFill>
                    <a:ea typeface="Calibri" charset="0"/>
                    <a:cs typeface="Calibri" charset="0"/>
                  </a:rPr>
                  <a:t> R</a:t>
                </a:r>
                <a:r>
                  <a:rPr lang="en-US" sz="2400" b="1" kern="0" baseline="30000" dirty="0">
                    <a:solidFill>
                      <a:schemeClr val="tx1"/>
                    </a:solidFill>
                    <a:ea typeface="Calibri" charset="0"/>
                    <a:cs typeface="Calibri" charset="0"/>
                  </a:rPr>
                  <a:t>2 </a:t>
                </a:r>
                <a14:m>
                  <m:oMath xmlns:m="http://schemas.openxmlformats.org/officeDocument/2006/math">
                    <m:r>
                      <a:rPr lang="en-US" sz="2400" b="1" i="1" kern="0">
                        <a:solidFill>
                          <a:schemeClr val="tx1"/>
                        </a:solidFill>
                        <a:ea typeface="Cambria Math" panose="02040503050406030204" pitchFamily="18" charset="0"/>
                        <a:cs typeface="Calibri" charset="0"/>
                      </a:rPr>
                      <m:t>≤</m:t>
                    </m:r>
                  </m:oMath>
                </a14:m>
                <a:r>
                  <a:rPr lang="en-US" sz="2400" b="1" kern="0" dirty="0">
                    <a:solidFill>
                      <a:schemeClr val="tx1"/>
                    </a:solidFill>
                    <a:ea typeface="Calibri" charset="0"/>
                    <a:cs typeface="Calibri" charset="0"/>
                  </a:rPr>
                  <a:t> 1)</a:t>
                </a:r>
                <a:endParaRPr lang="en-US" sz="2400" kern="0" dirty="0">
                  <a:solidFill>
                    <a:schemeClr val="tx1"/>
                  </a:solidFill>
                  <a:ea typeface="Calibri" charset="0"/>
                  <a:cs typeface="Calibri" charset="0"/>
                </a:endParaRPr>
              </a:p>
              <a:p>
                <a:pPr eaLnBrk="1" hangingPunct="1">
                  <a:lnSpc>
                    <a:spcPct val="90000"/>
                  </a:lnSpc>
                  <a:buFont typeface="Wingdings" pitchFamily="2" charset="2"/>
                  <a:buChar char="n"/>
                  <a:defRPr/>
                </a:pPr>
                <a:r>
                  <a:rPr lang="en-US" sz="2400" b="1" kern="0" dirty="0">
                    <a:solidFill>
                      <a:schemeClr val="tx1"/>
                    </a:solidFill>
                    <a:ea typeface="Calibri" charset="0"/>
                    <a:cs typeface="Calibri" charset="0"/>
                  </a:rPr>
                  <a:t>R</a:t>
                </a:r>
                <a:r>
                  <a:rPr lang="en-US" sz="2400" b="1" kern="0" baseline="30000" dirty="0">
                    <a:solidFill>
                      <a:schemeClr val="tx1"/>
                    </a:solidFill>
                    <a:ea typeface="Calibri" charset="0"/>
                    <a:cs typeface="Calibri" charset="0"/>
                  </a:rPr>
                  <a:t>2</a:t>
                </a:r>
                <a:r>
                  <a:rPr lang="en-US" sz="2400" b="1" kern="0" dirty="0">
                    <a:solidFill>
                      <a:schemeClr val="tx1"/>
                    </a:solidFill>
                    <a:ea typeface="Calibri" charset="0"/>
                    <a:cs typeface="Calibri" charset="0"/>
                  </a:rPr>
                  <a:t> tells the percent of the variation in the response variable that is explained (determined) by the model and the explanatory variable</a:t>
                </a:r>
                <a:endParaRPr lang="en-US" sz="2400" kern="0" dirty="0">
                  <a:solidFill>
                    <a:schemeClr val="tx1"/>
                  </a:solidFill>
                  <a:ea typeface="Calibri" charset="0"/>
                  <a:cs typeface="Calibri" charset="0"/>
                </a:endParaRPr>
              </a:p>
            </p:txBody>
          </p:sp>
        </mc:Choice>
        <mc:Fallback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0FD6046F-745A-3E4A-B971-7C4A5D4A2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6487" y="2199408"/>
                <a:ext cx="11118126" cy="2680855"/>
              </a:xfrm>
              <a:prstGeom prst="rect">
                <a:avLst/>
              </a:prstGeom>
              <a:blipFill>
                <a:blip r:embed="rId2"/>
                <a:stretch>
                  <a:fillRect t="-235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3">
            <a:extLst>
              <a:ext uri="{FF2B5EF4-FFF2-40B4-BE49-F238E27FC236}">
                <a16:creationId xmlns:a16="http://schemas.microsoft.com/office/drawing/2014/main" id="{57310DED-1114-3D40-A5B2-20DE5BC3B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1998" y="660400"/>
            <a:ext cx="4368800" cy="4062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7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2" autoUpdateAnimBg="0"/>
      <p:bldP spid="5" grpId="0" build="p" bldLvl="2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DBC4A6E1-C0AA-DB44-AA8D-7DEF9CEEDB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00" y="2083554"/>
            <a:ext cx="3018811" cy="2584450"/>
          </a:xfrm>
          <a:prstGeom prst="rect">
            <a:avLst/>
          </a:prstGeom>
        </p:spPr>
      </p:pic>
      <p:pic>
        <p:nvPicPr>
          <p:cNvPr id="7" name="Picture 6" descr="A close up of a piece of paper&#10;&#10;Description automatically generated">
            <a:extLst>
              <a:ext uri="{FF2B5EF4-FFF2-40B4-BE49-F238E27FC236}">
                <a16:creationId xmlns:a16="http://schemas.microsoft.com/office/drawing/2014/main" id="{5E2F5B5A-5F8D-0A44-94D0-BACF6AC245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5090" y="2001004"/>
            <a:ext cx="2849047" cy="2667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2E6A28-767D-0E4E-B16E-3EC4AB6FDC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36" y="5417324"/>
            <a:ext cx="11012170" cy="1320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74C9007-DA09-9A4F-B788-9404AEBCFC86}"/>
              </a:ext>
            </a:extLst>
          </p:cNvPr>
          <p:cNvSpPr txBox="1"/>
          <p:nvPr/>
        </p:nvSpPr>
        <p:spPr>
          <a:xfrm>
            <a:off x="3158511" y="2001004"/>
            <a:ext cx="301881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Here we have a perfect correlation, or r 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</a:t>
            </a:r>
            <a:r>
              <a:rPr lang="en-US" baseline="30000" dirty="0"/>
              <a:t>2</a:t>
            </a:r>
            <a:r>
              <a:rPr lang="en-US" dirty="0"/>
              <a:t> is also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means that 100% of the variation in the cooking time is explained, or accounted for, by the relationship between the two variables (cooking time and weight)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3E5666-2472-A242-8E56-F2EFE0688F77}"/>
              </a:ext>
            </a:extLst>
          </p:cNvPr>
          <p:cNvSpPr txBox="1"/>
          <p:nvPr/>
        </p:nvSpPr>
        <p:spPr>
          <a:xfrm>
            <a:off x="9613900" y="2001004"/>
            <a:ext cx="25781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Here we have a correlation coefficient, of r = 0.823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</a:t>
            </a:r>
            <a:r>
              <a:rPr lang="en-US" baseline="30000" dirty="0"/>
              <a:t>2</a:t>
            </a:r>
            <a:r>
              <a:rPr lang="en-US" dirty="0"/>
              <a:t> = 0.677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means that approx. 68% of the variation in death rates due to heart disease can be explained by the variation in foodstuff consumption</a:t>
            </a:r>
          </a:p>
        </p:txBody>
      </p:sp>
    </p:spTree>
    <p:extLst>
      <p:ext uri="{BB962C8B-B14F-4D97-AF65-F5344CB8AC3E}">
        <p14:creationId xmlns:p14="http://schemas.microsoft.com/office/powerpoint/2010/main" val="2865277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ater&#10;&#10;Description automatically generated">
            <a:extLst>
              <a:ext uri="{FF2B5EF4-FFF2-40B4-BE49-F238E27FC236}">
                <a16:creationId xmlns:a16="http://schemas.microsoft.com/office/drawing/2014/main" id="{AFB33C43-D01B-8643-A460-9B52B32B78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2785"/>
            <a:ext cx="12192000" cy="2104030"/>
          </a:xfrm>
          <a:prstGeom prst="rect">
            <a:avLst/>
          </a:prstGeom>
        </p:spPr>
      </p:pic>
      <p:pic>
        <p:nvPicPr>
          <p:cNvPr id="8" name="Picture 7" descr="A picture containing clock&#10;&#10;Description automatically generated">
            <a:extLst>
              <a:ext uri="{FF2B5EF4-FFF2-40B4-BE49-F238E27FC236}">
                <a16:creationId xmlns:a16="http://schemas.microsoft.com/office/drawing/2014/main" id="{97351332-5BBF-4842-8936-849B776633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" y="3138705"/>
            <a:ext cx="6591300" cy="1092481"/>
          </a:xfrm>
          <a:prstGeom prst="rect">
            <a:avLst/>
          </a:prstGeom>
        </p:spPr>
      </p:pic>
      <p:pic>
        <p:nvPicPr>
          <p:cNvPr id="10" name="Picture 9" descr="A close up of a piece of paper&#10;&#10;Description automatically generated">
            <a:extLst>
              <a:ext uri="{FF2B5EF4-FFF2-40B4-BE49-F238E27FC236}">
                <a16:creationId xmlns:a16="http://schemas.microsoft.com/office/drawing/2014/main" id="{B18FAC28-5F67-E94D-BE57-8700A16B13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3200" y="2789642"/>
            <a:ext cx="4000951" cy="3876628"/>
          </a:xfrm>
          <a:prstGeom prst="rect">
            <a:avLst/>
          </a:prstGeom>
        </p:spPr>
      </p:pic>
      <p:pic>
        <p:nvPicPr>
          <p:cNvPr id="12" name="Picture 11" descr="A picture containing knife, table&#10;&#10;Description automatically generated">
            <a:extLst>
              <a:ext uri="{FF2B5EF4-FFF2-40B4-BE49-F238E27FC236}">
                <a16:creationId xmlns:a16="http://schemas.microsoft.com/office/drawing/2014/main" id="{5FDFD2D4-E00A-BD45-89D8-CC31777A6E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" y="5021995"/>
            <a:ext cx="6400800" cy="131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32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3600" dirty="0"/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2800" dirty="0"/>
              <a:t>Sadler 2C</a:t>
            </a:r>
          </a:p>
        </p:txBody>
      </p:sp>
      <p:pic>
        <p:nvPicPr>
          <p:cNvPr id="1026" name="Picture 2" descr="C:\Users\e4075868\AppData\Local\Microsoft\Windows\Temporary Internet Files\Content.IE5\RP2BT71J\clipart0198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7459" y="4149080"/>
            <a:ext cx="2879080" cy="2354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6077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ducation 16x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ducation_16x9.potx" id="{AA5F22BC-61EA-4F01-AB22-75117871E196}" vid="{BD0EB374-1DDC-4F15-88A9-D386288C58A6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141aba3b8f8cb7f331be6546df69db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8e4ef66d87525153bd8907774ed28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1BC99BC-3A63-4255-9D4F-38C5B80A319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F7A874A-6E55-415B-9061-8B2D43DC2F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896FEF9-821E-45A6-82F2-0B1CE4CD8C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419</Words>
  <Application>Microsoft Macintosh PowerPoint</Application>
  <PresentationFormat>Widescreen</PresentationFormat>
  <Paragraphs>40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Tahoma</vt:lpstr>
      <vt:lpstr>Wingdings</vt:lpstr>
      <vt:lpstr>Education 16x9</vt:lpstr>
      <vt:lpstr>Topic: Coefficient of Determination</vt:lpstr>
      <vt:lpstr>To review</vt:lpstr>
      <vt:lpstr>Limitations of the correlation coefficient</vt:lpstr>
      <vt:lpstr>Least Squares Regression</vt:lpstr>
      <vt:lpstr>Strength of the Association:  r2</vt:lpstr>
      <vt:lpstr>PowerPoint Presentation</vt:lpstr>
      <vt:lpstr>PowerPoint Presentation</vt:lpstr>
      <vt:lpstr>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2012-09-21T18:31:34Z</dcterms:created>
  <dcterms:modified xsi:type="dcterms:W3CDTF">2020-02-21T01:34:34Z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
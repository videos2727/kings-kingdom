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sldIdLst>
    <p:sldId id="259" r:id="rId2"/>
    <p:sldId id="335" r:id="rId3"/>
    <p:sldId id="258" r:id="rId4"/>
    <p:sldId id="303" r:id="rId5"/>
    <p:sldId id="321" r:id="rId6"/>
    <p:sldId id="338" r:id="rId7"/>
    <p:sldId id="339" r:id="rId8"/>
    <p:sldId id="341" r:id="rId9"/>
    <p:sldId id="340" r:id="rId10"/>
    <p:sldId id="326" r:id="rId11"/>
    <p:sldId id="342" r:id="rId12"/>
    <p:sldId id="343" r:id="rId13"/>
    <p:sldId id="344" r:id="rId14"/>
    <p:sldId id="345" r:id="rId15"/>
    <p:sldId id="347" r:id="rId16"/>
    <p:sldId id="327" r:id="rId17"/>
    <p:sldId id="348" r:id="rId18"/>
    <p:sldId id="349" r:id="rId19"/>
    <p:sldId id="350" r:id="rId20"/>
    <p:sldId id="351" r:id="rId21"/>
    <p:sldId id="352" r:id="rId22"/>
    <p:sldId id="353" r:id="rId23"/>
    <p:sldId id="324" r:id="rId24"/>
    <p:sldId id="325" r:id="rId2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797" autoAdjust="0"/>
    <p:restoredTop sz="92936" autoAdjust="0"/>
  </p:normalViewPr>
  <p:slideViewPr>
    <p:cSldViewPr>
      <p:cViewPr varScale="1">
        <p:scale>
          <a:sx n="117" d="100"/>
          <a:sy n="117" d="100"/>
        </p:scale>
        <p:origin x="272" y="18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2-09T03:41:04.136"/>
    </inkml:context>
    <inkml:brush xml:id="br0">
      <inkml:brushProperty name="width" value="0.1" units="cm"/>
      <inkml:brushProperty name="height" value="0.6" units="cm"/>
      <inkml:brushProperty name="inkEffects" value="pencil"/>
    </inkml:brush>
  </inkml:definitions>
  <inkml:trace contextRef="#ctx0" brushRef="#br0">1 1 16383,'0'0'0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2-09T03:41:04.136"/>
    </inkml:context>
    <inkml:brush xml:id="br0">
      <inkml:brushProperty name="width" value="0.1" units="cm"/>
      <inkml:brushProperty name="height" value="0.6" units="cm"/>
      <inkml:brushProperty name="inkEffects" value="pencil"/>
    </inkml:brush>
  </inkml:definitions>
  <inkml:trace contextRef="#ctx0" brushRef="#br0">1 1 16383,'0'0'0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2-09T03:41:04.136"/>
    </inkml:context>
    <inkml:brush xml:id="br0">
      <inkml:brushProperty name="width" value="0.1" units="cm"/>
      <inkml:brushProperty name="height" value="0.6" units="cm"/>
      <inkml:brushProperty name="inkEffects" value="pencil"/>
    </inkml:brush>
  </inkml:definitions>
  <inkml:trace contextRef="#ctx0" brushRef="#br0">1 1 16383,'0'0'0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75AD73A-AE13-444E-A6A8-7967ABAB8119}" type="datetimeFigureOut">
              <a:rPr lang="en-AU" smtClean="0"/>
              <a:t>8/2/20</a:t>
            </a:fld>
            <a:endParaRPr lang="en-AU"/>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516DE00-3598-450D-9FD4-B3F4D33F029B}" type="slidenum">
              <a:rPr lang="en-AU" smtClean="0"/>
              <a:t>‹#›</a:t>
            </a:fld>
            <a:endParaRPr lang="en-AU"/>
          </a:p>
        </p:txBody>
      </p:sp>
    </p:spTree>
    <p:extLst>
      <p:ext uri="{BB962C8B-B14F-4D97-AF65-F5344CB8AC3E}">
        <p14:creationId xmlns:p14="http://schemas.microsoft.com/office/powerpoint/2010/main" val="5759409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AU"/>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AU"/>
          </a:p>
        </p:txBody>
      </p:sp>
      <p:sp>
        <p:nvSpPr>
          <p:cNvPr id="4" name="Date Placeholder 3"/>
          <p:cNvSpPr>
            <a:spLocks noGrp="1"/>
          </p:cNvSpPr>
          <p:nvPr>
            <p:ph type="dt" sz="half" idx="10"/>
          </p:nvPr>
        </p:nvSpPr>
        <p:spPr/>
        <p:txBody>
          <a:bodyPr/>
          <a:lstStyle/>
          <a:p>
            <a:fld id="{303B91B3-E50F-4EFF-8D5F-21DA810ECD9F}" type="datetimeFigureOut">
              <a:rPr lang="en-AU" smtClean="0"/>
              <a:t>8/2/20</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FD937BE4-3242-4672-8D3A-460DCD9877AE}" type="slidenum">
              <a:rPr lang="en-AU" smtClean="0"/>
              <a:t>‹#›</a:t>
            </a:fld>
            <a:endParaRPr lang="en-AU" dirty="0"/>
          </a:p>
        </p:txBody>
      </p:sp>
    </p:spTree>
    <p:extLst>
      <p:ext uri="{BB962C8B-B14F-4D97-AF65-F5344CB8AC3E}">
        <p14:creationId xmlns:p14="http://schemas.microsoft.com/office/powerpoint/2010/main" val="34326484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10"/>
          </p:nvPr>
        </p:nvSpPr>
        <p:spPr/>
        <p:txBody>
          <a:bodyPr/>
          <a:lstStyle/>
          <a:p>
            <a:fld id="{303B91B3-E50F-4EFF-8D5F-21DA810ECD9F}" type="datetimeFigureOut">
              <a:rPr lang="en-AU" smtClean="0"/>
              <a:t>8/2/20</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FD937BE4-3242-4672-8D3A-460DCD9877AE}" type="slidenum">
              <a:rPr lang="en-AU" smtClean="0"/>
              <a:t>‹#›</a:t>
            </a:fld>
            <a:endParaRPr lang="en-AU" dirty="0"/>
          </a:p>
        </p:txBody>
      </p:sp>
    </p:spTree>
    <p:extLst>
      <p:ext uri="{BB962C8B-B14F-4D97-AF65-F5344CB8AC3E}">
        <p14:creationId xmlns:p14="http://schemas.microsoft.com/office/powerpoint/2010/main" val="38355484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AU"/>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03B91B3-E50F-4EFF-8D5F-21DA810ECD9F}" type="datetimeFigureOut">
              <a:rPr lang="en-AU" smtClean="0"/>
              <a:t>8/2/20</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FD937BE4-3242-4672-8D3A-460DCD9877AE}" type="slidenum">
              <a:rPr lang="en-AU" smtClean="0"/>
              <a:t>‹#›</a:t>
            </a:fld>
            <a:endParaRPr lang="en-AU" dirty="0"/>
          </a:p>
        </p:txBody>
      </p:sp>
    </p:spTree>
    <p:extLst>
      <p:ext uri="{BB962C8B-B14F-4D97-AF65-F5344CB8AC3E}">
        <p14:creationId xmlns:p14="http://schemas.microsoft.com/office/powerpoint/2010/main" val="41804912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p:cNvSpPr>
            <a:spLocks noGrp="1"/>
          </p:cNvSpPr>
          <p:nvPr>
            <p:ph type="dt" sz="half" idx="10"/>
          </p:nvPr>
        </p:nvSpPr>
        <p:spPr/>
        <p:txBody>
          <a:bodyPr/>
          <a:lstStyle/>
          <a:p>
            <a:fld id="{303B91B3-E50F-4EFF-8D5F-21DA810ECD9F}" type="datetimeFigureOut">
              <a:rPr lang="en-AU" smtClean="0"/>
              <a:t>8/2/20</a:t>
            </a:fld>
            <a:endParaRPr lang="en-AU" dirty="0"/>
          </a:p>
        </p:txBody>
      </p:sp>
      <p:sp>
        <p:nvSpPr>
          <p:cNvPr id="6" name="Footer Placeholder 5"/>
          <p:cNvSpPr>
            <a:spLocks noGrp="1"/>
          </p:cNvSpPr>
          <p:nvPr>
            <p:ph type="ftr" sz="quarter" idx="11"/>
          </p:nvPr>
        </p:nvSpPr>
        <p:spPr/>
        <p:txBody>
          <a:bodyPr/>
          <a:lstStyle/>
          <a:p>
            <a:endParaRPr lang="en-AU" dirty="0"/>
          </a:p>
        </p:txBody>
      </p:sp>
      <p:sp>
        <p:nvSpPr>
          <p:cNvPr id="7" name="Slide Number Placeholder 6"/>
          <p:cNvSpPr>
            <a:spLocks noGrp="1"/>
          </p:cNvSpPr>
          <p:nvPr>
            <p:ph type="sldNum" sz="quarter" idx="12"/>
          </p:nvPr>
        </p:nvSpPr>
        <p:spPr/>
        <p:txBody>
          <a:bodyPr/>
          <a:lstStyle/>
          <a:p>
            <a:fld id="{FD937BE4-3242-4672-8D3A-460DCD9877AE}" type="slidenum">
              <a:rPr lang="en-AU" smtClean="0"/>
              <a:t>‹#›</a:t>
            </a:fld>
            <a:endParaRPr lang="en-AU" dirty="0"/>
          </a:p>
        </p:txBody>
      </p:sp>
    </p:spTree>
    <p:extLst>
      <p:ext uri="{BB962C8B-B14F-4D97-AF65-F5344CB8AC3E}">
        <p14:creationId xmlns:p14="http://schemas.microsoft.com/office/powerpoint/2010/main" val="17425957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AU"/>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p:cNvSpPr>
            <a:spLocks noGrp="1"/>
          </p:cNvSpPr>
          <p:nvPr>
            <p:ph type="dt" sz="half" idx="10"/>
          </p:nvPr>
        </p:nvSpPr>
        <p:spPr/>
        <p:txBody>
          <a:bodyPr/>
          <a:lstStyle/>
          <a:p>
            <a:fld id="{303B91B3-E50F-4EFF-8D5F-21DA810ECD9F}" type="datetimeFigureOut">
              <a:rPr lang="en-AU" smtClean="0"/>
              <a:t>8/2/20</a:t>
            </a:fld>
            <a:endParaRPr lang="en-AU" dirty="0"/>
          </a:p>
        </p:txBody>
      </p:sp>
      <p:sp>
        <p:nvSpPr>
          <p:cNvPr id="8" name="Footer Placeholder 7"/>
          <p:cNvSpPr>
            <a:spLocks noGrp="1"/>
          </p:cNvSpPr>
          <p:nvPr>
            <p:ph type="ftr" sz="quarter" idx="11"/>
          </p:nvPr>
        </p:nvSpPr>
        <p:spPr/>
        <p:txBody>
          <a:bodyPr/>
          <a:lstStyle/>
          <a:p>
            <a:endParaRPr lang="en-AU" dirty="0"/>
          </a:p>
        </p:txBody>
      </p:sp>
      <p:sp>
        <p:nvSpPr>
          <p:cNvPr id="9" name="Slide Number Placeholder 8"/>
          <p:cNvSpPr>
            <a:spLocks noGrp="1"/>
          </p:cNvSpPr>
          <p:nvPr>
            <p:ph type="sldNum" sz="quarter" idx="12"/>
          </p:nvPr>
        </p:nvSpPr>
        <p:spPr/>
        <p:txBody>
          <a:bodyPr/>
          <a:lstStyle/>
          <a:p>
            <a:fld id="{FD937BE4-3242-4672-8D3A-460DCD9877AE}" type="slidenum">
              <a:rPr lang="en-AU" smtClean="0"/>
              <a:t>‹#›</a:t>
            </a:fld>
            <a:endParaRPr lang="en-AU" dirty="0"/>
          </a:p>
        </p:txBody>
      </p:sp>
    </p:spTree>
    <p:extLst>
      <p:ext uri="{BB962C8B-B14F-4D97-AF65-F5344CB8AC3E}">
        <p14:creationId xmlns:p14="http://schemas.microsoft.com/office/powerpoint/2010/main" val="20071826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Date Placeholder 2"/>
          <p:cNvSpPr>
            <a:spLocks noGrp="1"/>
          </p:cNvSpPr>
          <p:nvPr>
            <p:ph type="dt" sz="half" idx="10"/>
          </p:nvPr>
        </p:nvSpPr>
        <p:spPr/>
        <p:txBody>
          <a:bodyPr/>
          <a:lstStyle/>
          <a:p>
            <a:fld id="{303B91B3-E50F-4EFF-8D5F-21DA810ECD9F}" type="datetimeFigureOut">
              <a:rPr lang="en-AU" smtClean="0"/>
              <a:t>8/2/20</a:t>
            </a:fld>
            <a:endParaRPr lang="en-AU" dirty="0"/>
          </a:p>
        </p:txBody>
      </p:sp>
      <p:sp>
        <p:nvSpPr>
          <p:cNvPr id="4" name="Footer Placeholder 3"/>
          <p:cNvSpPr>
            <a:spLocks noGrp="1"/>
          </p:cNvSpPr>
          <p:nvPr>
            <p:ph type="ftr" sz="quarter" idx="11"/>
          </p:nvPr>
        </p:nvSpPr>
        <p:spPr/>
        <p:txBody>
          <a:bodyPr/>
          <a:lstStyle/>
          <a:p>
            <a:endParaRPr lang="en-AU" dirty="0"/>
          </a:p>
        </p:txBody>
      </p:sp>
      <p:sp>
        <p:nvSpPr>
          <p:cNvPr id="5" name="Slide Number Placeholder 4"/>
          <p:cNvSpPr>
            <a:spLocks noGrp="1"/>
          </p:cNvSpPr>
          <p:nvPr>
            <p:ph type="sldNum" sz="quarter" idx="12"/>
          </p:nvPr>
        </p:nvSpPr>
        <p:spPr/>
        <p:txBody>
          <a:bodyPr/>
          <a:lstStyle/>
          <a:p>
            <a:fld id="{FD937BE4-3242-4672-8D3A-460DCD9877AE}" type="slidenum">
              <a:rPr lang="en-AU" smtClean="0"/>
              <a:t>‹#›</a:t>
            </a:fld>
            <a:endParaRPr lang="en-AU" dirty="0"/>
          </a:p>
        </p:txBody>
      </p:sp>
    </p:spTree>
    <p:extLst>
      <p:ext uri="{BB962C8B-B14F-4D97-AF65-F5344CB8AC3E}">
        <p14:creationId xmlns:p14="http://schemas.microsoft.com/office/powerpoint/2010/main" val="5772354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03B91B3-E50F-4EFF-8D5F-21DA810ECD9F}" type="datetimeFigureOut">
              <a:rPr lang="en-AU" smtClean="0"/>
              <a:t>8/2/20</a:t>
            </a:fld>
            <a:endParaRPr lang="en-AU" dirty="0"/>
          </a:p>
        </p:txBody>
      </p:sp>
      <p:sp>
        <p:nvSpPr>
          <p:cNvPr id="3" name="Footer Placeholder 2"/>
          <p:cNvSpPr>
            <a:spLocks noGrp="1"/>
          </p:cNvSpPr>
          <p:nvPr>
            <p:ph type="ftr" sz="quarter" idx="11"/>
          </p:nvPr>
        </p:nvSpPr>
        <p:spPr/>
        <p:txBody>
          <a:bodyPr/>
          <a:lstStyle/>
          <a:p>
            <a:endParaRPr lang="en-AU" dirty="0"/>
          </a:p>
        </p:txBody>
      </p:sp>
      <p:sp>
        <p:nvSpPr>
          <p:cNvPr id="4" name="Slide Number Placeholder 3"/>
          <p:cNvSpPr>
            <a:spLocks noGrp="1"/>
          </p:cNvSpPr>
          <p:nvPr>
            <p:ph type="sldNum" sz="quarter" idx="12"/>
          </p:nvPr>
        </p:nvSpPr>
        <p:spPr/>
        <p:txBody>
          <a:bodyPr/>
          <a:lstStyle/>
          <a:p>
            <a:fld id="{FD937BE4-3242-4672-8D3A-460DCD9877AE}" type="slidenum">
              <a:rPr lang="en-AU" smtClean="0"/>
              <a:t>‹#›</a:t>
            </a:fld>
            <a:endParaRPr lang="en-AU" dirty="0"/>
          </a:p>
        </p:txBody>
      </p:sp>
    </p:spTree>
    <p:extLst>
      <p:ext uri="{BB962C8B-B14F-4D97-AF65-F5344CB8AC3E}">
        <p14:creationId xmlns:p14="http://schemas.microsoft.com/office/powerpoint/2010/main" val="19199198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AU"/>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03B91B3-E50F-4EFF-8D5F-21DA810ECD9F}" type="datetimeFigureOut">
              <a:rPr lang="en-AU" smtClean="0"/>
              <a:t>8/2/20</a:t>
            </a:fld>
            <a:endParaRPr lang="en-AU" dirty="0"/>
          </a:p>
        </p:txBody>
      </p:sp>
      <p:sp>
        <p:nvSpPr>
          <p:cNvPr id="6" name="Footer Placeholder 5"/>
          <p:cNvSpPr>
            <a:spLocks noGrp="1"/>
          </p:cNvSpPr>
          <p:nvPr>
            <p:ph type="ftr" sz="quarter" idx="11"/>
          </p:nvPr>
        </p:nvSpPr>
        <p:spPr/>
        <p:txBody>
          <a:bodyPr/>
          <a:lstStyle/>
          <a:p>
            <a:endParaRPr lang="en-AU" dirty="0"/>
          </a:p>
        </p:txBody>
      </p:sp>
      <p:sp>
        <p:nvSpPr>
          <p:cNvPr id="7" name="Slide Number Placeholder 6"/>
          <p:cNvSpPr>
            <a:spLocks noGrp="1"/>
          </p:cNvSpPr>
          <p:nvPr>
            <p:ph type="sldNum" sz="quarter" idx="12"/>
          </p:nvPr>
        </p:nvSpPr>
        <p:spPr/>
        <p:txBody>
          <a:bodyPr/>
          <a:lstStyle/>
          <a:p>
            <a:fld id="{FD937BE4-3242-4672-8D3A-460DCD9877AE}" type="slidenum">
              <a:rPr lang="en-AU" smtClean="0"/>
              <a:t>‹#›</a:t>
            </a:fld>
            <a:endParaRPr lang="en-AU" dirty="0"/>
          </a:p>
        </p:txBody>
      </p:sp>
    </p:spTree>
    <p:extLst>
      <p:ext uri="{BB962C8B-B14F-4D97-AF65-F5344CB8AC3E}">
        <p14:creationId xmlns:p14="http://schemas.microsoft.com/office/powerpoint/2010/main" val="8185026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AU"/>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03B91B3-E50F-4EFF-8D5F-21DA810ECD9F}" type="datetimeFigureOut">
              <a:rPr lang="en-AU" smtClean="0"/>
              <a:t>8/2/20</a:t>
            </a:fld>
            <a:endParaRPr lang="en-AU" dirty="0"/>
          </a:p>
        </p:txBody>
      </p:sp>
      <p:sp>
        <p:nvSpPr>
          <p:cNvPr id="6" name="Footer Placeholder 5"/>
          <p:cNvSpPr>
            <a:spLocks noGrp="1"/>
          </p:cNvSpPr>
          <p:nvPr>
            <p:ph type="ftr" sz="quarter" idx="11"/>
          </p:nvPr>
        </p:nvSpPr>
        <p:spPr/>
        <p:txBody>
          <a:bodyPr/>
          <a:lstStyle/>
          <a:p>
            <a:endParaRPr lang="en-AU" dirty="0"/>
          </a:p>
        </p:txBody>
      </p:sp>
      <p:sp>
        <p:nvSpPr>
          <p:cNvPr id="7" name="Slide Number Placeholder 6"/>
          <p:cNvSpPr>
            <a:spLocks noGrp="1"/>
          </p:cNvSpPr>
          <p:nvPr>
            <p:ph type="sldNum" sz="quarter" idx="12"/>
          </p:nvPr>
        </p:nvSpPr>
        <p:spPr/>
        <p:txBody>
          <a:bodyPr/>
          <a:lstStyle/>
          <a:p>
            <a:fld id="{FD937BE4-3242-4672-8D3A-460DCD9877AE}" type="slidenum">
              <a:rPr lang="en-AU" smtClean="0"/>
              <a:t>‹#›</a:t>
            </a:fld>
            <a:endParaRPr lang="en-AU" dirty="0"/>
          </a:p>
        </p:txBody>
      </p:sp>
    </p:spTree>
    <p:extLst>
      <p:ext uri="{BB962C8B-B14F-4D97-AF65-F5344CB8AC3E}">
        <p14:creationId xmlns:p14="http://schemas.microsoft.com/office/powerpoint/2010/main" val="23839825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10"/>
          </p:nvPr>
        </p:nvSpPr>
        <p:spPr/>
        <p:txBody>
          <a:bodyPr/>
          <a:lstStyle/>
          <a:p>
            <a:fld id="{303B91B3-E50F-4EFF-8D5F-21DA810ECD9F}" type="datetimeFigureOut">
              <a:rPr lang="en-AU" smtClean="0"/>
              <a:t>8/2/20</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FD937BE4-3242-4672-8D3A-460DCD9877AE}" type="slidenum">
              <a:rPr lang="en-AU" smtClean="0"/>
              <a:t>‹#›</a:t>
            </a:fld>
            <a:endParaRPr lang="en-AU" dirty="0"/>
          </a:p>
        </p:txBody>
      </p:sp>
    </p:spTree>
    <p:extLst>
      <p:ext uri="{BB962C8B-B14F-4D97-AF65-F5344CB8AC3E}">
        <p14:creationId xmlns:p14="http://schemas.microsoft.com/office/powerpoint/2010/main" val="40963694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AU"/>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10"/>
          </p:nvPr>
        </p:nvSpPr>
        <p:spPr/>
        <p:txBody>
          <a:bodyPr/>
          <a:lstStyle/>
          <a:p>
            <a:fld id="{303B91B3-E50F-4EFF-8D5F-21DA810ECD9F}" type="datetimeFigureOut">
              <a:rPr lang="en-AU" smtClean="0"/>
              <a:t>8/2/20</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FD937BE4-3242-4672-8D3A-460DCD9877AE}" type="slidenum">
              <a:rPr lang="en-AU" smtClean="0"/>
              <a:t>‹#›</a:t>
            </a:fld>
            <a:endParaRPr lang="en-AU" dirty="0"/>
          </a:p>
        </p:txBody>
      </p:sp>
    </p:spTree>
    <p:extLst>
      <p:ext uri="{BB962C8B-B14F-4D97-AF65-F5344CB8AC3E}">
        <p14:creationId xmlns:p14="http://schemas.microsoft.com/office/powerpoint/2010/main" val="18802157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03B91B3-E50F-4EFF-8D5F-21DA810ECD9F}" type="datetimeFigureOut">
              <a:rPr lang="en-AU" smtClean="0"/>
              <a:t>8/2/20</a:t>
            </a:fld>
            <a:endParaRPr lang="en-AU"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D937BE4-3242-4672-8D3A-460DCD9877AE}" type="slidenum">
              <a:rPr lang="en-AU" smtClean="0"/>
              <a:t>‹#›</a:t>
            </a:fld>
            <a:endParaRPr lang="en-AU" dirty="0"/>
          </a:p>
        </p:txBody>
      </p:sp>
    </p:spTree>
    <p:extLst>
      <p:ext uri="{BB962C8B-B14F-4D97-AF65-F5344CB8AC3E}">
        <p14:creationId xmlns:p14="http://schemas.microsoft.com/office/powerpoint/2010/main" val="24286664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 Id="rId5" Type="http://schemas.openxmlformats.org/officeDocument/2006/relationships/image" Target="../media/image19.png"/><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26.png"/><Relationship Id="rId1" Type="http://schemas.openxmlformats.org/officeDocument/2006/relationships/slideLayout" Target="../slideLayouts/slideLayout7.xml"/><Relationship Id="rId4" Type="http://schemas.openxmlformats.org/officeDocument/2006/relationships/image" Target="../media/image27.png"/></Relationships>
</file>

<file path=ppt/slides/_rels/slide1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customXml" Target="../ink/ink2.xml"/><Relationship Id="rId1" Type="http://schemas.openxmlformats.org/officeDocument/2006/relationships/slideLayout" Target="../slideLayouts/slideLayout7.xml"/><Relationship Id="rId5" Type="http://schemas.openxmlformats.org/officeDocument/2006/relationships/image" Target="../media/image29.png"/><Relationship Id="rId4" Type="http://schemas.openxmlformats.org/officeDocument/2006/relationships/image" Target="../media/image28.png"/></Relationships>
</file>

<file path=ppt/slides/_rels/slide1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customXml" Target="../ink/ink3.xml"/><Relationship Id="rId1" Type="http://schemas.openxmlformats.org/officeDocument/2006/relationships/slideLayout" Target="../slideLayouts/slideLayout7.xml"/><Relationship Id="rId4" Type="http://schemas.openxmlformats.org/officeDocument/2006/relationships/image" Target="../media/image2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1859162" y="2256947"/>
            <a:ext cx="5055295" cy="954107"/>
          </a:xfrm>
          <a:prstGeom prst="rect">
            <a:avLst/>
          </a:prstGeom>
          <a:noFill/>
        </p:spPr>
        <p:txBody>
          <a:bodyPr wrap="none" rtlCol="0">
            <a:spAutoFit/>
          </a:bodyPr>
          <a:lstStyle/>
          <a:p>
            <a:pPr algn="ctr"/>
            <a:r>
              <a:rPr lang="en-AU" sz="2800" b="1" dirty="0"/>
              <a:t>Mathematics Applications Unit 3</a:t>
            </a:r>
          </a:p>
          <a:p>
            <a:pPr algn="ctr"/>
            <a:r>
              <a:rPr lang="en-AU" sz="2800" b="1" dirty="0"/>
              <a:t>Chapter 1 Bivariate Data</a:t>
            </a:r>
          </a:p>
        </p:txBody>
      </p:sp>
    </p:spTree>
    <p:extLst>
      <p:ext uri="{BB962C8B-B14F-4D97-AF65-F5344CB8AC3E}">
        <p14:creationId xmlns:p14="http://schemas.microsoft.com/office/powerpoint/2010/main" val="15154573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p:cNvCxnSpPr/>
          <p:nvPr/>
        </p:nvCxnSpPr>
        <p:spPr>
          <a:xfrm>
            <a:off x="4500081" y="0"/>
            <a:ext cx="72008" cy="6957392"/>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0" y="620688"/>
            <a:ext cx="4500081"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15" name="Straight Connector 14"/>
          <p:cNvCxnSpPr/>
          <p:nvPr/>
        </p:nvCxnSpPr>
        <p:spPr>
          <a:xfrm>
            <a:off x="1115616" y="620688"/>
            <a:ext cx="0" cy="5651956"/>
          </a:xfrm>
          <a:prstGeom prst="line">
            <a:avLst/>
          </a:prstGeom>
        </p:spPr>
        <p:style>
          <a:lnRef idx="1">
            <a:schemeClr val="accent2"/>
          </a:lnRef>
          <a:fillRef idx="0">
            <a:schemeClr val="accent2"/>
          </a:fillRef>
          <a:effectRef idx="0">
            <a:schemeClr val="accent2"/>
          </a:effectRef>
          <a:fontRef idx="minor">
            <a:schemeClr val="tx1"/>
          </a:fontRef>
        </p:style>
      </p:cxnSp>
      <p:sp>
        <p:nvSpPr>
          <p:cNvPr id="20" name="TextBox 19"/>
          <p:cNvSpPr txBox="1"/>
          <p:nvPr/>
        </p:nvSpPr>
        <p:spPr>
          <a:xfrm>
            <a:off x="577648" y="5803"/>
            <a:ext cx="932050" cy="338554"/>
          </a:xfrm>
          <a:prstGeom prst="rect">
            <a:avLst/>
          </a:prstGeom>
          <a:noFill/>
        </p:spPr>
        <p:txBody>
          <a:bodyPr wrap="none" rtlCol="0">
            <a:spAutoFit/>
          </a:bodyPr>
          <a:lstStyle/>
          <a:p>
            <a:r>
              <a:rPr lang="en-AU" sz="1600" dirty="0"/>
              <a:t>Contents</a:t>
            </a:r>
          </a:p>
        </p:txBody>
      </p:sp>
      <p:sp>
        <p:nvSpPr>
          <p:cNvPr id="23" name="TextBox 22"/>
          <p:cNvSpPr txBox="1"/>
          <p:nvPr/>
        </p:nvSpPr>
        <p:spPr>
          <a:xfrm>
            <a:off x="223224" y="374467"/>
            <a:ext cx="580865" cy="338554"/>
          </a:xfrm>
          <a:prstGeom prst="rect">
            <a:avLst/>
          </a:prstGeom>
          <a:noFill/>
        </p:spPr>
        <p:txBody>
          <a:bodyPr wrap="none" rtlCol="0">
            <a:spAutoFit/>
          </a:bodyPr>
          <a:lstStyle/>
          <a:p>
            <a:r>
              <a:rPr lang="en-AU" sz="1600" dirty="0"/>
              <a:t>Page</a:t>
            </a:r>
          </a:p>
        </p:txBody>
      </p:sp>
      <p:cxnSp>
        <p:nvCxnSpPr>
          <p:cNvPr id="16" name="Straight Connector 15"/>
          <p:cNvCxnSpPr/>
          <p:nvPr/>
        </p:nvCxnSpPr>
        <p:spPr>
          <a:xfrm>
            <a:off x="2143810" y="620688"/>
            <a:ext cx="0" cy="5651956"/>
          </a:xfrm>
          <a:prstGeom prst="line">
            <a:avLst/>
          </a:prstGeom>
        </p:spPr>
        <p:style>
          <a:lnRef idx="1">
            <a:schemeClr val="accent2"/>
          </a:lnRef>
          <a:fillRef idx="0">
            <a:schemeClr val="accent2"/>
          </a:fillRef>
          <a:effectRef idx="0">
            <a:schemeClr val="accent2"/>
          </a:effectRef>
          <a:fontRef idx="minor">
            <a:schemeClr val="tx1"/>
          </a:fontRef>
        </p:style>
      </p:cxnSp>
      <p:sp>
        <p:nvSpPr>
          <p:cNvPr id="17" name="TextBox 16"/>
          <p:cNvSpPr txBox="1"/>
          <p:nvPr/>
        </p:nvSpPr>
        <p:spPr>
          <a:xfrm>
            <a:off x="1403646" y="344357"/>
            <a:ext cx="576504" cy="338554"/>
          </a:xfrm>
          <a:prstGeom prst="rect">
            <a:avLst/>
          </a:prstGeom>
          <a:noFill/>
        </p:spPr>
        <p:txBody>
          <a:bodyPr wrap="none" rtlCol="0">
            <a:spAutoFit/>
          </a:bodyPr>
          <a:lstStyle/>
          <a:p>
            <a:r>
              <a:rPr lang="en-AU" sz="1600" dirty="0"/>
              <a:t>Date</a:t>
            </a:r>
          </a:p>
        </p:txBody>
      </p:sp>
      <p:sp>
        <p:nvSpPr>
          <p:cNvPr id="18" name="TextBox 17"/>
          <p:cNvSpPr txBox="1"/>
          <p:nvPr/>
        </p:nvSpPr>
        <p:spPr>
          <a:xfrm>
            <a:off x="2555776" y="344357"/>
            <a:ext cx="1398888" cy="338554"/>
          </a:xfrm>
          <a:prstGeom prst="rect">
            <a:avLst/>
          </a:prstGeom>
          <a:noFill/>
        </p:spPr>
        <p:txBody>
          <a:bodyPr wrap="square" rtlCol="0">
            <a:spAutoFit/>
          </a:bodyPr>
          <a:lstStyle/>
          <a:p>
            <a:r>
              <a:rPr lang="en-AU" sz="1600" dirty="0"/>
              <a:t>Description</a:t>
            </a:r>
          </a:p>
        </p:txBody>
      </p:sp>
      <p:sp>
        <p:nvSpPr>
          <p:cNvPr id="21" name="TextBox 20"/>
          <p:cNvSpPr txBox="1"/>
          <p:nvPr/>
        </p:nvSpPr>
        <p:spPr>
          <a:xfrm>
            <a:off x="5796136" y="66504"/>
            <a:ext cx="2592288" cy="338554"/>
          </a:xfrm>
          <a:prstGeom prst="rect">
            <a:avLst/>
          </a:prstGeom>
          <a:noFill/>
        </p:spPr>
        <p:txBody>
          <a:bodyPr wrap="square" rtlCol="0">
            <a:spAutoFit/>
          </a:bodyPr>
          <a:lstStyle/>
          <a:p>
            <a:r>
              <a:rPr lang="en-AU" sz="1600" dirty="0"/>
              <a:t>Glossary or Formula Page</a:t>
            </a:r>
          </a:p>
        </p:txBody>
      </p:sp>
    </p:spTree>
    <p:extLst>
      <p:ext uri="{BB962C8B-B14F-4D97-AF65-F5344CB8AC3E}">
        <p14:creationId xmlns:p14="http://schemas.microsoft.com/office/powerpoint/2010/main" val="26821253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p:cNvCxnSpPr/>
          <p:nvPr/>
        </p:nvCxnSpPr>
        <p:spPr>
          <a:xfrm>
            <a:off x="4500081" y="0"/>
            <a:ext cx="72008" cy="6957392"/>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4500081" y="620688"/>
            <a:ext cx="4643919"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11" name="Straight Connector 10"/>
          <p:cNvCxnSpPr/>
          <p:nvPr/>
        </p:nvCxnSpPr>
        <p:spPr>
          <a:xfrm>
            <a:off x="4500081" y="1196752"/>
            <a:ext cx="4643919"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13" name="Straight Connector 12"/>
          <p:cNvCxnSpPr/>
          <p:nvPr/>
        </p:nvCxnSpPr>
        <p:spPr>
          <a:xfrm>
            <a:off x="4572089" y="5373216"/>
            <a:ext cx="472615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15" name="Straight Connector 14"/>
          <p:cNvCxnSpPr/>
          <p:nvPr/>
        </p:nvCxnSpPr>
        <p:spPr>
          <a:xfrm>
            <a:off x="5868144" y="1196752"/>
            <a:ext cx="0" cy="4176464"/>
          </a:xfrm>
          <a:prstGeom prst="line">
            <a:avLst/>
          </a:prstGeom>
        </p:spPr>
        <p:style>
          <a:lnRef idx="1">
            <a:schemeClr val="accent2"/>
          </a:lnRef>
          <a:fillRef idx="0">
            <a:schemeClr val="accent2"/>
          </a:fillRef>
          <a:effectRef idx="0">
            <a:schemeClr val="accent2"/>
          </a:effectRef>
          <a:fontRef idx="minor">
            <a:schemeClr val="tx1"/>
          </a:fontRef>
        </p:style>
      </p:cxnSp>
      <p:sp>
        <p:nvSpPr>
          <p:cNvPr id="19" name="TextBox 18"/>
          <p:cNvSpPr txBox="1"/>
          <p:nvPr/>
        </p:nvSpPr>
        <p:spPr>
          <a:xfrm>
            <a:off x="4533261" y="66690"/>
            <a:ext cx="431959" cy="553998"/>
          </a:xfrm>
          <a:prstGeom prst="rect">
            <a:avLst/>
          </a:prstGeom>
          <a:noFill/>
        </p:spPr>
        <p:txBody>
          <a:bodyPr wrap="square" rtlCol="0">
            <a:spAutoFit/>
          </a:bodyPr>
          <a:lstStyle/>
          <a:p>
            <a:r>
              <a:rPr lang="en-AU" sz="1000" dirty="0"/>
              <a:t>24</a:t>
            </a:r>
          </a:p>
          <a:p>
            <a:r>
              <a:rPr lang="en-AU" sz="1000" dirty="0"/>
              <a:t>7</a:t>
            </a:r>
          </a:p>
          <a:p>
            <a:r>
              <a:rPr lang="en-AU" sz="1000" dirty="0"/>
              <a:t>30</a:t>
            </a:r>
          </a:p>
        </p:txBody>
      </p:sp>
      <p:sp>
        <p:nvSpPr>
          <p:cNvPr id="20" name="TextBox 19"/>
          <p:cNvSpPr txBox="1"/>
          <p:nvPr/>
        </p:nvSpPr>
        <p:spPr>
          <a:xfrm>
            <a:off x="4572089" y="601548"/>
            <a:ext cx="1143262" cy="246221"/>
          </a:xfrm>
          <a:prstGeom prst="rect">
            <a:avLst/>
          </a:prstGeom>
          <a:noFill/>
        </p:spPr>
        <p:txBody>
          <a:bodyPr wrap="none" rtlCol="0">
            <a:spAutoFit/>
          </a:bodyPr>
          <a:lstStyle/>
          <a:p>
            <a:r>
              <a:rPr lang="en-AU" sz="1000" dirty="0"/>
              <a:t>Essential Question</a:t>
            </a:r>
          </a:p>
        </p:txBody>
      </p:sp>
      <p:sp>
        <p:nvSpPr>
          <p:cNvPr id="22" name="TextBox 21"/>
          <p:cNvSpPr txBox="1"/>
          <p:nvPr/>
        </p:nvSpPr>
        <p:spPr>
          <a:xfrm>
            <a:off x="5867750" y="1196751"/>
            <a:ext cx="492443" cy="246221"/>
          </a:xfrm>
          <a:prstGeom prst="rect">
            <a:avLst/>
          </a:prstGeom>
          <a:noFill/>
        </p:spPr>
        <p:txBody>
          <a:bodyPr wrap="none" rtlCol="0">
            <a:spAutoFit/>
          </a:bodyPr>
          <a:lstStyle/>
          <a:p>
            <a:r>
              <a:rPr lang="en-AU" sz="1000" dirty="0"/>
              <a:t>Notes</a:t>
            </a:r>
          </a:p>
        </p:txBody>
      </p:sp>
      <p:sp>
        <p:nvSpPr>
          <p:cNvPr id="23" name="TextBox 22"/>
          <p:cNvSpPr txBox="1"/>
          <p:nvPr/>
        </p:nvSpPr>
        <p:spPr>
          <a:xfrm>
            <a:off x="4521850" y="1196752"/>
            <a:ext cx="708848" cy="246221"/>
          </a:xfrm>
          <a:prstGeom prst="rect">
            <a:avLst/>
          </a:prstGeom>
          <a:noFill/>
        </p:spPr>
        <p:txBody>
          <a:bodyPr wrap="none" rtlCol="0">
            <a:spAutoFit/>
          </a:bodyPr>
          <a:lstStyle/>
          <a:p>
            <a:r>
              <a:rPr lang="en-AU" sz="1000" dirty="0"/>
              <a:t>Questions</a:t>
            </a:r>
          </a:p>
        </p:txBody>
      </p:sp>
      <p:sp>
        <p:nvSpPr>
          <p:cNvPr id="24" name="TextBox 23"/>
          <p:cNvSpPr txBox="1"/>
          <p:nvPr/>
        </p:nvSpPr>
        <p:spPr>
          <a:xfrm>
            <a:off x="4572089" y="5373216"/>
            <a:ext cx="679994" cy="246221"/>
          </a:xfrm>
          <a:prstGeom prst="rect">
            <a:avLst/>
          </a:prstGeom>
          <a:noFill/>
        </p:spPr>
        <p:txBody>
          <a:bodyPr wrap="none" rtlCol="0">
            <a:spAutoFit/>
          </a:bodyPr>
          <a:lstStyle/>
          <a:p>
            <a:r>
              <a:rPr lang="en-AU" sz="1000" dirty="0"/>
              <a:t>Summary</a:t>
            </a:r>
          </a:p>
        </p:txBody>
      </p:sp>
      <p:sp>
        <p:nvSpPr>
          <p:cNvPr id="25" name="TextBox 24"/>
          <p:cNvSpPr txBox="1"/>
          <p:nvPr/>
        </p:nvSpPr>
        <p:spPr>
          <a:xfrm>
            <a:off x="151246" y="142494"/>
            <a:ext cx="671081" cy="369332"/>
          </a:xfrm>
          <a:prstGeom prst="rect">
            <a:avLst/>
          </a:prstGeom>
          <a:noFill/>
        </p:spPr>
        <p:txBody>
          <a:bodyPr wrap="none" rtlCol="0">
            <a:spAutoFit/>
          </a:bodyPr>
          <a:lstStyle/>
          <a:p>
            <a:r>
              <a:rPr lang="en-AU" dirty="0"/>
              <a:t>Tasks</a:t>
            </a:r>
          </a:p>
        </p:txBody>
      </p:sp>
    </p:spTree>
    <p:extLst>
      <p:ext uri="{BB962C8B-B14F-4D97-AF65-F5344CB8AC3E}">
        <p14:creationId xmlns:p14="http://schemas.microsoft.com/office/powerpoint/2010/main" val="22165325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a:off x="0" y="849907"/>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0" y="1311572"/>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93471" y="18910"/>
            <a:ext cx="576064" cy="830997"/>
          </a:xfrm>
          <a:prstGeom prst="rect">
            <a:avLst/>
          </a:prstGeom>
          <a:noFill/>
        </p:spPr>
        <p:txBody>
          <a:bodyPr wrap="square" rtlCol="0">
            <a:spAutoFit/>
          </a:bodyPr>
          <a:lstStyle/>
          <a:p>
            <a:r>
              <a:rPr lang="en-AU" sz="1600" dirty="0"/>
              <a:t>24</a:t>
            </a:r>
          </a:p>
          <a:p>
            <a:r>
              <a:rPr lang="en-AU" sz="1600" dirty="0"/>
              <a:t>7</a:t>
            </a:r>
          </a:p>
          <a:p>
            <a:r>
              <a:rPr lang="en-AU" sz="1600" dirty="0"/>
              <a:t>30</a:t>
            </a:r>
          </a:p>
        </p:txBody>
      </p:sp>
      <p:sp>
        <p:nvSpPr>
          <p:cNvPr id="10" name="TextBox 9"/>
          <p:cNvSpPr txBox="1"/>
          <p:nvPr/>
        </p:nvSpPr>
        <p:spPr>
          <a:xfrm>
            <a:off x="1115616" y="172798"/>
            <a:ext cx="2217979" cy="523220"/>
          </a:xfrm>
          <a:prstGeom prst="rect">
            <a:avLst/>
          </a:prstGeom>
          <a:noFill/>
        </p:spPr>
        <p:txBody>
          <a:bodyPr wrap="none" rtlCol="0">
            <a:spAutoFit/>
          </a:bodyPr>
          <a:lstStyle/>
          <a:p>
            <a:r>
              <a:rPr lang="en-AU" sz="2800" dirty="0"/>
              <a:t>Bivariate Data</a:t>
            </a:r>
          </a:p>
        </p:txBody>
      </p:sp>
      <p:sp>
        <p:nvSpPr>
          <p:cNvPr id="11" name="TextBox 10"/>
          <p:cNvSpPr txBox="1"/>
          <p:nvPr/>
        </p:nvSpPr>
        <p:spPr>
          <a:xfrm>
            <a:off x="7439175" y="106354"/>
            <a:ext cx="1584176" cy="461665"/>
          </a:xfrm>
          <a:prstGeom prst="rect">
            <a:avLst/>
          </a:prstGeom>
          <a:noFill/>
        </p:spPr>
        <p:txBody>
          <a:bodyPr wrap="square" rtlCol="0">
            <a:spAutoFit/>
          </a:bodyPr>
          <a:lstStyle/>
          <a:p>
            <a:r>
              <a:rPr lang="en-AU" sz="2400" dirty="0"/>
              <a:t>Date</a:t>
            </a:r>
          </a:p>
        </p:txBody>
      </p:sp>
      <p:sp>
        <p:nvSpPr>
          <p:cNvPr id="12" name="TextBox 11"/>
          <p:cNvSpPr txBox="1"/>
          <p:nvPr/>
        </p:nvSpPr>
        <p:spPr>
          <a:xfrm>
            <a:off x="93471" y="849907"/>
            <a:ext cx="8620422" cy="461665"/>
          </a:xfrm>
          <a:prstGeom prst="rect">
            <a:avLst/>
          </a:prstGeom>
          <a:noFill/>
        </p:spPr>
        <p:txBody>
          <a:bodyPr wrap="square" rtlCol="0">
            <a:spAutoFit/>
          </a:bodyPr>
          <a:lstStyle/>
          <a:p>
            <a:r>
              <a:rPr lang="en-AU" sz="2400" dirty="0"/>
              <a:t>EQ – How can I display bivariate data? </a:t>
            </a:r>
          </a:p>
        </p:txBody>
      </p:sp>
      <p:sp>
        <p:nvSpPr>
          <p:cNvPr id="17" name="TextBox 16"/>
          <p:cNvSpPr txBox="1"/>
          <p:nvPr/>
        </p:nvSpPr>
        <p:spPr>
          <a:xfrm>
            <a:off x="251519" y="1352136"/>
            <a:ext cx="8771831" cy="861774"/>
          </a:xfrm>
          <a:prstGeom prst="rect">
            <a:avLst/>
          </a:prstGeom>
          <a:noFill/>
        </p:spPr>
        <p:txBody>
          <a:bodyPr wrap="square" rtlCol="0">
            <a:spAutoFit/>
          </a:bodyPr>
          <a:lstStyle/>
          <a:p>
            <a:pPr lvl="0" fontAlgn="base">
              <a:spcBef>
                <a:spcPct val="0"/>
              </a:spcBef>
              <a:spcAft>
                <a:spcPct val="0"/>
              </a:spcAft>
            </a:pPr>
            <a:r>
              <a:rPr lang="en-US" b="1" dirty="0">
                <a:latin typeface="Calibri" pitchFamily="34" charset="0"/>
                <a:ea typeface="Times New Roman" pitchFamily="18" charset="0"/>
                <a:cs typeface="Helvetica" charset="0"/>
              </a:rPr>
              <a:t>Two Way Tables</a:t>
            </a:r>
          </a:p>
          <a:p>
            <a:pPr lvl="0" fontAlgn="base">
              <a:spcBef>
                <a:spcPct val="0"/>
              </a:spcBef>
              <a:spcAft>
                <a:spcPct val="0"/>
              </a:spcAft>
            </a:pPr>
            <a:r>
              <a:rPr lang="en-US" sz="1600" dirty="0">
                <a:latin typeface="Calibri" pitchFamily="34" charset="0"/>
                <a:ea typeface="Times New Roman" pitchFamily="18" charset="0"/>
                <a:cs typeface="Helvetica" charset="0"/>
              </a:rPr>
              <a:t>Like Venn Diagrams (from year 10), two-way tables are a visual way of representing information. The below two-way table displays information about members of two political parties and their gender</a:t>
            </a:r>
            <a:endParaRPr lang="en-AU" sz="1600" dirty="0">
              <a:latin typeface="Arial" pitchFamily="34" charset="0"/>
              <a:cs typeface="Arial" pitchFamily="34" charset="0"/>
            </a:endParaRPr>
          </a:p>
        </p:txBody>
      </p:sp>
      <p:pic>
        <p:nvPicPr>
          <p:cNvPr id="5" name="Picture 4" descr="A screenshot of a cell phone&#10;&#10;Description automatically generated">
            <a:extLst>
              <a:ext uri="{FF2B5EF4-FFF2-40B4-BE49-F238E27FC236}">
                <a16:creationId xmlns:a16="http://schemas.microsoft.com/office/drawing/2014/main" id="{F2D1BE54-2B4D-E64D-9991-82BE8C7C870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6020" y="2330921"/>
            <a:ext cx="2768724" cy="902246"/>
          </a:xfrm>
          <a:prstGeom prst="rect">
            <a:avLst/>
          </a:prstGeom>
        </p:spPr>
      </p:pic>
      <p:sp>
        <p:nvSpPr>
          <p:cNvPr id="8" name="TextBox 7">
            <a:extLst>
              <a:ext uri="{FF2B5EF4-FFF2-40B4-BE49-F238E27FC236}">
                <a16:creationId xmlns:a16="http://schemas.microsoft.com/office/drawing/2014/main" id="{0B7D5F55-F9FA-8845-B70B-B934C42AA1C0}"/>
              </a:ext>
            </a:extLst>
          </p:cNvPr>
          <p:cNvSpPr txBox="1"/>
          <p:nvPr/>
        </p:nvSpPr>
        <p:spPr>
          <a:xfrm>
            <a:off x="4064828" y="2267788"/>
            <a:ext cx="4861973" cy="1200329"/>
          </a:xfrm>
          <a:prstGeom prst="rect">
            <a:avLst/>
          </a:prstGeom>
          <a:noFill/>
        </p:spPr>
        <p:txBody>
          <a:bodyPr wrap="square" rtlCol="0">
            <a:spAutoFit/>
          </a:bodyPr>
          <a:lstStyle/>
          <a:p>
            <a:r>
              <a:rPr lang="en-US" dirty="0"/>
              <a:t>On its own, we can only draw simple conclusions. We are going to explore how more nuanced displays will allow us to see if there is an </a:t>
            </a:r>
            <a:r>
              <a:rPr lang="en-US" b="1" i="1" dirty="0"/>
              <a:t>association</a:t>
            </a:r>
            <a:r>
              <a:rPr lang="en-US" dirty="0"/>
              <a:t> between the two variables</a:t>
            </a:r>
          </a:p>
        </p:txBody>
      </p:sp>
      <p:sp>
        <p:nvSpPr>
          <p:cNvPr id="13" name="Down Arrow 12">
            <a:extLst>
              <a:ext uri="{FF2B5EF4-FFF2-40B4-BE49-F238E27FC236}">
                <a16:creationId xmlns:a16="http://schemas.microsoft.com/office/drawing/2014/main" id="{0641A281-FAD4-B34B-97D1-4ABFF77B63F9}"/>
              </a:ext>
            </a:extLst>
          </p:cNvPr>
          <p:cNvSpPr/>
          <p:nvPr/>
        </p:nvSpPr>
        <p:spPr>
          <a:xfrm>
            <a:off x="1833735" y="3198023"/>
            <a:ext cx="174644" cy="25896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 picture containing keyboard&#10;&#10;Description automatically generated">
            <a:extLst>
              <a:ext uri="{FF2B5EF4-FFF2-40B4-BE49-F238E27FC236}">
                <a16:creationId xmlns:a16="http://schemas.microsoft.com/office/drawing/2014/main" id="{6E12081E-FF3A-9F4D-979D-01CDAC42EEE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1519" y="3456989"/>
            <a:ext cx="3712840" cy="1230581"/>
          </a:xfrm>
          <a:prstGeom prst="rect">
            <a:avLst/>
          </a:prstGeom>
        </p:spPr>
      </p:pic>
      <p:sp>
        <p:nvSpPr>
          <p:cNvPr id="19" name="TextBox 18">
            <a:extLst>
              <a:ext uri="{FF2B5EF4-FFF2-40B4-BE49-F238E27FC236}">
                <a16:creationId xmlns:a16="http://schemas.microsoft.com/office/drawing/2014/main" id="{72EC7AA9-1774-484F-8CD4-0205B7B7E506}"/>
              </a:ext>
            </a:extLst>
          </p:cNvPr>
          <p:cNvSpPr txBox="1"/>
          <p:nvPr/>
        </p:nvSpPr>
        <p:spPr>
          <a:xfrm>
            <a:off x="4064828" y="3610614"/>
            <a:ext cx="4861973" cy="923330"/>
          </a:xfrm>
          <a:prstGeom prst="rect">
            <a:avLst/>
          </a:prstGeom>
          <a:noFill/>
        </p:spPr>
        <p:txBody>
          <a:bodyPr wrap="square" rtlCol="0">
            <a:spAutoFit/>
          </a:bodyPr>
          <a:lstStyle/>
          <a:p>
            <a:r>
              <a:rPr lang="en-US" dirty="0"/>
              <a:t>Adding totals allows us to see that Party A and B have more male MPs, and that Party A has more male MPs than Party B </a:t>
            </a:r>
          </a:p>
        </p:txBody>
      </p:sp>
      <p:sp>
        <p:nvSpPr>
          <p:cNvPr id="20" name="Down Arrow 19">
            <a:extLst>
              <a:ext uri="{FF2B5EF4-FFF2-40B4-BE49-F238E27FC236}">
                <a16:creationId xmlns:a16="http://schemas.microsoft.com/office/drawing/2014/main" id="{13AFFCD0-BE5B-4240-B8E8-DDFE893D9A24}"/>
              </a:ext>
            </a:extLst>
          </p:cNvPr>
          <p:cNvSpPr/>
          <p:nvPr/>
        </p:nvSpPr>
        <p:spPr>
          <a:xfrm>
            <a:off x="1820382" y="4700068"/>
            <a:ext cx="174644" cy="25896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 name="Picture 21" descr="A screenshot of a cell phone&#10;&#10;Description automatically generated">
            <a:extLst>
              <a:ext uri="{FF2B5EF4-FFF2-40B4-BE49-F238E27FC236}">
                <a16:creationId xmlns:a16="http://schemas.microsoft.com/office/drawing/2014/main" id="{3E21E716-6FD4-4B4E-BF63-A081FE9F913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5905" y="4974913"/>
            <a:ext cx="4157400" cy="1317039"/>
          </a:xfrm>
          <a:prstGeom prst="rect">
            <a:avLst/>
          </a:prstGeom>
        </p:spPr>
      </p:pic>
      <p:sp>
        <p:nvSpPr>
          <p:cNvPr id="23" name="TextBox 22">
            <a:extLst>
              <a:ext uri="{FF2B5EF4-FFF2-40B4-BE49-F238E27FC236}">
                <a16:creationId xmlns:a16="http://schemas.microsoft.com/office/drawing/2014/main" id="{9E28A34E-2B51-7A43-9373-FE918CDEE5B5}"/>
              </a:ext>
            </a:extLst>
          </p:cNvPr>
          <p:cNvSpPr txBox="1"/>
          <p:nvPr/>
        </p:nvSpPr>
        <p:spPr>
          <a:xfrm>
            <a:off x="4426942" y="4826991"/>
            <a:ext cx="4499859" cy="2031325"/>
          </a:xfrm>
          <a:prstGeom prst="rect">
            <a:avLst/>
          </a:prstGeom>
          <a:noFill/>
        </p:spPr>
        <p:txBody>
          <a:bodyPr wrap="square" rtlCol="0">
            <a:spAutoFit/>
          </a:bodyPr>
          <a:lstStyle/>
          <a:p>
            <a:r>
              <a:rPr lang="en-US" dirty="0"/>
              <a:t>Converting into proportions or percentages allows for more nuance. Now we can see:</a:t>
            </a:r>
          </a:p>
          <a:p>
            <a:pPr marL="285750" indent="-285750">
              <a:buFont typeface="Arial" panose="020B0604020202020204" pitchFamily="34" charset="0"/>
              <a:buChar char="•"/>
            </a:pPr>
            <a:r>
              <a:rPr lang="en-US" dirty="0"/>
              <a:t>51% of all the MPs from the two parties are males from party A</a:t>
            </a:r>
          </a:p>
          <a:p>
            <a:pPr marL="285750" indent="-285750">
              <a:buFont typeface="Arial" panose="020B0604020202020204" pitchFamily="34" charset="0"/>
              <a:buChar char="•"/>
            </a:pPr>
            <a:r>
              <a:rPr lang="en-US" dirty="0"/>
              <a:t>76% of all the MPs from these two parties are male</a:t>
            </a:r>
          </a:p>
          <a:p>
            <a:endParaRPr lang="en-US" dirty="0"/>
          </a:p>
        </p:txBody>
      </p:sp>
    </p:spTree>
    <p:extLst>
      <p:ext uri="{BB962C8B-B14F-4D97-AF65-F5344CB8AC3E}">
        <p14:creationId xmlns:p14="http://schemas.microsoft.com/office/powerpoint/2010/main" val="16709025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fill="hold"/>
                                        <p:tgtEl>
                                          <p:spTgt spid="8"/>
                                        </p:tgtEl>
                                        <p:attrNameLst>
                                          <p:attrName>ppt_x</p:attrName>
                                        </p:attrNameLst>
                                      </p:cBhvr>
                                      <p:tavLst>
                                        <p:tav tm="0">
                                          <p:val>
                                            <p:strVal val="#ppt_x"/>
                                          </p:val>
                                        </p:tav>
                                        <p:tav tm="100000">
                                          <p:val>
                                            <p:strVal val="#ppt_x"/>
                                          </p:val>
                                        </p:tav>
                                      </p:tavLst>
                                    </p:anim>
                                    <p:anim calcmode="lin" valueType="num">
                                      <p:cBhvr additive="base">
                                        <p:cTn id="12"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grpId="1" nodeType="click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blinds(horizontal)">
                                      <p:cBhvr>
                                        <p:cTn id="21" dur="500"/>
                                        <p:tgtEl>
                                          <p:spTgt spid="13"/>
                                        </p:tgtEl>
                                      </p:cBhvr>
                                    </p:animEffec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16"/>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grpId="0" nodeType="clickEffect">
                                  <p:stCondLst>
                                    <p:cond delay="0"/>
                                  </p:stCondLst>
                                  <p:childTnLst>
                                    <p:set>
                                      <p:cBhvr>
                                        <p:cTn id="29" dur="1" fill="hold">
                                          <p:stCondLst>
                                            <p:cond delay="0"/>
                                          </p:stCondLst>
                                        </p:cTn>
                                        <p:tgtEl>
                                          <p:spTgt spid="19"/>
                                        </p:tgtEl>
                                        <p:attrNameLst>
                                          <p:attrName>style.visibility</p:attrName>
                                        </p:attrNameLst>
                                      </p:cBhvr>
                                      <p:to>
                                        <p:strVal val="visible"/>
                                      </p:to>
                                    </p:set>
                                    <p:anim calcmode="lin" valueType="num">
                                      <p:cBhvr additive="base">
                                        <p:cTn id="30" dur="500" fill="hold"/>
                                        <p:tgtEl>
                                          <p:spTgt spid="19"/>
                                        </p:tgtEl>
                                        <p:attrNameLst>
                                          <p:attrName>ppt_x</p:attrName>
                                        </p:attrNameLst>
                                      </p:cBhvr>
                                      <p:tavLst>
                                        <p:tav tm="0">
                                          <p:val>
                                            <p:strVal val="#ppt_x"/>
                                          </p:val>
                                        </p:tav>
                                        <p:tav tm="100000">
                                          <p:val>
                                            <p:strVal val="#ppt_x"/>
                                          </p:val>
                                        </p:tav>
                                      </p:tavLst>
                                    </p:anim>
                                    <p:anim calcmode="lin" valueType="num">
                                      <p:cBhvr additive="base">
                                        <p:cTn id="31"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grpId="0" nodeType="clickEffect">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blinds(horizontal)">
                                      <p:cBhvr>
                                        <p:cTn id="36" dur="500"/>
                                        <p:tgtEl>
                                          <p:spTgt spid="20"/>
                                        </p:tgtEl>
                                      </p:cBhvr>
                                    </p:animEffec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22"/>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grpId="0" nodeType="clickEffect">
                                  <p:stCondLst>
                                    <p:cond delay="0"/>
                                  </p:stCondLst>
                                  <p:childTnLst>
                                    <p:set>
                                      <p:cBhvr>
                                        <p:cTn id="44" dur="1" fill="hold">
                                          <p:stCondLst>
                                            <p:cond delay="0"/>
                                          </p:stCondLst>
                                        </p:cTn>
                                        <p:tgtEl>
                                          <p:spTgt spid="23"/>
                                        </p:tgtEl>
                                        <p:attrNameLst>
                                          <p:attrName>style.visibility</p:attrName>
                                        </p:attrNameLst>
                                      </p:cBhvr>
                                      <p:to>
                                        <p:strVal val="visible"/>
                                      </p:to>
                                    </p:set>
                                    <p:anim calcmode="lin" valueType="num">
                                      <p:cBhvr additive="base">
                                        <p:cTn id="45" dur="500" fill="hold"/>
                                        <p:tgtEl>
                                          <p:spTgt spid="23"/>
                                        </p:tgtEl>
                                        <p:attrNameLst>
                                          <p:attrName>ppt_x</p:attrName>
                                        </p:attrNameLst>
                                      </p:cBhvr>
                                      <p:tavLst>
                                        <p:tav tm="0">
                                          <p:val>
                                            <p:strVal val="#ppt_x"/>
                                          </p:val>
                                        </p:tav>
                                        <p:tav tm="100000">
                                          <p:val>
                                            <p:strVal val="#ppt_x"/>
                                          </p:val>
                                        </p:tav>
                                      </p:tavLst>
                                    </p:anim>
                                    <p:anim calcmode="lin" valueType="num">
                                      <p:cBhvr additive="base">
                                        <p:cTn id="46"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3" grpId="0" animBg="1"/>
      <p:bldP spid="13" grpId="1" animBg="1"/>
      <p:bldP spid="19" grpId="0"/>
      <p:bldP spid="20" grpId="0" animBg="1"/>
      <p:bldP spid="2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a:off x="0" y="849907"/>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0" y="1311572"/>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93471" y="18910"/>
            <a:ext cx="576064" cy="830997"/>
          </a:xfrm>
          <a:prstGeom prst="rect">
            <a:avLst/>
          </a:prstGeom>
          <a:noFill/>
        </p:spPr>
        <p:txBody>
          <a:bodyPr wrap="square" rtlCol="0">
            <a:spAutoFit/>
          </a:bodyPr>
          <a:lstStyle/>
          <a:p>
            <a:r>
              <a:rPr lang="en-AU" sz="1600" dirty="0"/>
              <a:t>24</a:t>
            </a:r>
          </a:p>
          <a:p>
            <a:r>
              <a:rPr lang="en-AU" sz="1600" dirty="0"/>
              <a:t>7</a:t>
            </a:r>
          </a:p>
          <a:p>
            <a:r>
              <a:rPr lang="en-AU" sz="1600" dirty="0"/>
              <a:t>30</a:t>
            </a:r>
          </a:p>
        </p:txBody>
      </p:sp>
      <p:sp>
        <p:nvSpPr>
          <p:cNvPr id="10" name="TextBox 9"/>
          <p:cNvSpPr txBox="1"/>
          <p:nvPr/>
        </p:nvSpPr>
        <p:spPr>
          <a:xfrm>
            <a:off x="1115616" y="172798"/>
            <a:ext cx="2217979" cy="523220"/>
          </a:xfrm>
          <a:prstGeom prst="rect">
            <a:avLst/>
          </a:prstGeom>
          <a:noFill/>
        </p:spPr>
        <p:txBody>
          <a:bodyPr wrap="none" rtlCol="0">
            <a:spAutoFit/>
          </a:bodyPr>
          <a:lstStyle/>
          <a:p>
            <a:r>
              <a:rPr lang="en-AU" sz="2800" dirty="0"/>
              <a:t>Bivariate Data</a:t>
            </a:r>
          </a:p>
        </p:txBody>
      </p:sp>
      <p:sp>
        <p:nvSpPr>
          <p:cNvPr id="11" name="TextBox 10"/>
          <p:cNvSpPr txBox="1"/>
          <p:nvPr/>
        </p:nvSpPr>
        <p:spPr>
          <a:xfrm>
            <a:off x="7439175" y="106354"/>
            <a:ext cx="1584176" cy="461665"/>
          </a:xfrm>
          <a:prstGeom prst="rect">
            <a:avLst/>
          </a:prstGeom>
          <a:noFill/>
        </p:spPr>
        <p:txBody>
          <a:bodyPr wrap="square" rtlCol="0">
            <a:spAutoFit/>
          </a:bodyPr>
          <a:lstStyle/>
          <a:p>
            <a:r>
              <a:rPr lang="en-AU" sz="2400" dirty="0"/>
              <a:t>Date</a:t>
            </a:r>
          </a:p>
        </p:txBody>
      </p:sp>
      <p:sp>
        <p:nvSpPr>
          <p:cNvPr id="12" name="TextBox 11"/>
          <p:cNvSpPr txBox="1"/>
          <p:nvPr/>
        </p:nvSpPr>
        <p:spPr>
          <a:xfrm>
            <a:off x="93471" y="849907"/>
            <a:ext cx="8620422" cy="461665"/>
          </a:xfrm>
          <a:prstGeom prst="rect">
            <a:avLst/>
          </a:prstGeom>
          <a:noFill/>
        </p:spPr>
        <p:txBody>
          <a:bodyPr wrap="square" rtlCol="0">
            <a:spAutoFit/>
          </a:bodyPr>
          <a:lstStyle/>
          <a:p>
            <a:r>
              <a:rPr lang="en-AU" sz="2400" dirty="0"/>
              <a:t>EQ – How can I display bivariate data? </a:t>
            </a:r>
          </a:p>
        </p:txBody>
      </p:sp>
      <p:sp>
        <p:nvSpPr>
          <p:cNvPr id="25" name="Rectangle 5"/>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112" tIns="914112" rIns="809370" bIns="914112" numCol="1" anchor="ctr" anchorCtr="0" compatLnSpc="1">
            <a:prstTxWarp prst="textNoShape">
              <a:avLst/>
            </a:prstTxWarp>
            <a:spAutoFit/>
          </a:bodyPr>
          <a:lstStyle/>
          <a:p>
            <a:endParaRPr lang="en-AU"/>
          </a:p>
        </p:txBody>
      </p:sp>
      <p:pic>
        <p:nvPicPr>
          <p:cNvPr id="5" name="Picture 4" descr="A picture containing knife&#10;&#10;Description automatically generated">
            <a:extLst>
              <a:ext uri="{FF2B5EF4-FFF2-40B4-BE49-F238E27FC236}">
                <a16:creationId xmlns:a16="http://schemas.microsoft.com/office/drawing/2014/main" id="{A35955A4-C608-2747-BD07-C20A9162706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2401" y="1408898"/>
            <a:ext cx="7603975" cy="1082293"/>
          </a:xfrm>
          <a:prstGeom prst="rect">
            <a:avLst/>
          </a:prstGeom>
        </p:spPr>
      </p:pic>
      <p:pic>
        <p:nvPicPr>
          <p:cNvPr id="13" name="Picture 12" descr="A picture containing clock&#10;&#10;Description automatically generated">
            <a:extLst>
              <a:ext uri="{FF2B5EF4-FFF2-40B4-BE49-F238E27FC236}">
                <a16:creationId xmlns:a16="http://schemas.microsoft.com/office/drawing/2014/main" id="{0364619D-1A18-E943-950E-DEC705F81F6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3471" y="3101580"/>
            <a:ext cx="4523631" cy="1265230"/>
          </a:xfrm>
          <a:prstGeom prst="rect">
            <a:avLst/>
          </a:prstGeom>
        </p:spPr>
      </p:pic>
      <p:pic>
        <p:nvPicPr>
          <p:cNvPr id="15" name="Picture 14" descr="A screenshot of a cell phone&#10;&#10;Description automatically generated">
            <a:extLst>
              <a:ext uri="{FF2B5EF4-FFF2-40B4-BE49-F238E27FC236}">
                <a16:creationId xmlns:a16="http://schemas.microsoft.com/office/drawing/2014/main" id="{7E772058-6731-F747-9F7E-49ABACFDD4E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089049" y="2711128"/>
            <a:ext cx="3637218" cy="1655682"/>
          </a:xfrm>
          <a:prstGeom prst="rect">
            <a:avLst/>
          </a:prstGeom>
        </p:spPr>
      </p:pic>
      <p:pic>
        <p:nvPicPr>
          <p:cNvPr id="17" name="Picture 16" descr="A picture containing bird&#10;&#10;Description automatically generated">
            <a:extLst>
              <a:ext uri="{FF2B5EF4-FFF2-40B4-BE49-F238E27FC236}">
                <a16:creationId xmlns:a16="http://schemas.microsoft.com/office/drawing/2014/main" id="{367D3369-9893-B44B-A44C-19536D16A6C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241884" y="4772806"/>
            <a:ext cx="6660232" cy="1352592"/>
          </a:xfrm>
          <a:prstGeom prst="rect">
            <a:avLst/>
          </a:prstGeom>
        </p:spPr>
      </p:pic>
    </p:spTree>
    <p:extLst>
      <p:ext uri="{BB962C8B-B14F-4D97-AF65-F5344CB8AC3E}">
        <p14:creationId xmlns:p14="http://schemas.microsoft.com/office/powerpoint/2010/main" val="22015478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dissolve">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dissolve">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7"/>
                                        </p:tgtEl>
                                        <p:attrNameLst>
                                          <p:attrName>style.visibility</p:attrName>
                                        </p:attrNameLst>
                                      </p:cBhvr>
                                      <p:to>
                                        <p:strVal val="visible"/>
                                      </p:to>
                                    </p:set>
                                    <p:anim calcmode="lin" valueType="num">
                                      <p:cBhvr additive="base">
                                        <p:cTn id="17" dur="500" fill="hold"/>
                                        <p:tgtEl>
                                          <p:spTgt spid="17"/>
                                        </p:tgtEl>
                                        <p:attrNameLst>
                                          <p:attrName>ppt_x</p:attrName>
                                        </p:attrNameLst>
                                      </p:cBhvr>
                                      <p:tavLst>
                                        <p:tav tm="0">
                                          <p:val>
                                            <p:strVal val="#ppt_x"/>
                                          </p:val>
                                        </p:tav>
                                        <p:tav tm="100000">
                                          <p:val>
                                            <p:strVal val="#ppt_x"/>
                                          </p:val>
                                        </p:tav>
                                      </p:tavLst>
                                    </p:anim>
                                    <p:anim calcmode="lin" valueType="num">
                                      <p:cBhvr additive="base">
                                        <p:cTn id="18"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a:off x="0" y="849907"/>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0" y="1311572"/>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93471" y="18910"/>
            <a:ext cx="576064" cy="830997"/>
          </a:xfrm>
          <a:prstGeom prst="rect">
            <a:avLst/>
          </a:prstGeom>
          <a:noFill/>
        </p:spPr>
        <p:txBody>
          <a:bodyPr wrap="square" rtlCol="0">
            <a:spAutoFit/>
          </a:bodyPr>
          <a:lstStyle/>
          <a:p>
            <a:r>
              <a:rPr lang="en-AU" sz="1600" dirty="0"/>
              <a:t>24</a:t>
            </a:r>
          </a:p>
          <a:p>
            <a:r>
              <a:rPr lang="en-AU" sz="1600" dirty="0"/>
              <a:t>7</a:t>
            </a:r>
          </a:p>
          <a:p>
            <a:r>
              <a:rPr lang="en-AU" sz="1600" dirty="0"/>
              <a:t>30</a:t>
            </a:r>
          </a:p>
        </p:txBody>
      </p:sp>
      <p:sp>
        <p:nvSpPr>
          <p:cNvPr id="10" name="TextBox 9"/>
          <p:cNvSpPr txBox="1"/>
          <p:nvPr/>
        </p:nvSpPr>
        <p:spPr>
          <a:xfrm>
            <a:off x="1115616" y="172798"/>
            <a:ext cx="2217979" cy="523220"/>
          </a:xfrm>
          <a:prstGeom prst="rect">
            <a:avLst/>
          </a:prstGeom>
          <a:noFill/>
        </p:spPr>
        <p:txBody>
          <a:bodyPr wrap="none" rtlCol="0">
            <a:spAutoFit/>
          </a:bodyPr>
          <a:lstStyle/>
          <a:p>
            <a:r>
              <a:rPr lang="en-AU" sz="2800" dirty="0"/>
              <a:t>Bivariate Data</a:t>
            </a:r>
          </a:p>
        </p:txBody>
      </p:sp>
      <p:sp>
        <p:nvSpPr>
          <p:cNvPr id="11" name="TextBox 10"/>
          <p:cNvSpPr txBox="1"/>
          <p:nvPr/>
        </p:nvSpPr>
        <p:spPr>
          <a:xfrm>
            <a:off x="7439175" y="106354"/>
            <a:ext cx="1584176" cy="461665"/>
          </a:xfrm>
          <a:prstGeom prst="rect">
            <a:avLst/>
          </a:prstGeom>
          <a:noFill/>
        </p:spPr>
        <p:txBody>
          <a:bodyPr wrap="square" rtlCol="0">
            <a:spAutoFit/>
          </a:bodyPr>
          <a:lstStyle/>
          <a:p>
            <a:r>
              <a:rPr lang="en-AU" sz="2400" dirty="0"/>
              <a:t>Date</a:t>
            </a:r>
          </a:p>
        </p:txBody>
      </p:sp>
      <p:sp>
        <p:nvSpPr>
          <p:cNvPr id="12" name="TextBox 11"/>
          <p:cNvSpPr txBox="1"/>
          <p:nvPr/>
        </p:nvSpPr>
        <p:spPr>
          <a:xfrm>
            <a:off x="93471" y="849907"/>
            <a:ext cx="8620422" cy="461665"/>
          </a:xfrm>
          <a:prstGeom prst="rect">
            <a:avLst/>
          </a:prstGeom>
          <a:noFill/>
        </p:spPr>
        <p:txBody>
          <a:bodyPr wrap="square" rtlCol="0">
            <a:spAutoFit/>
          </a:bodyPr>
          <a:lstStyle/>
          <a:p>
            <a:r>
              <a:rPr lang="en-AU" sz="2400" dirty="0"/>
              <a:t>EQ – How can I display bivariate data? </a:t>
            </a:r>
          </a:p>
        </p:txBody>
      </p:sp>
      <p:sp>
        <p:nvSpPr>
          <p:cNvPr id="25" name="Rectangle 5"/>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112" tIns="914112" rIns="809370" bIns="914112" numCol="1" anchor="ctr" anchorCtr="0" compatLnSpc="1">
            <a:prstTxWarp prst="textNoShape">
              <a:avLst/>
            </a:prstTxWarp>
            <a:spAutoFit/>
          </a:bodyPr>
          <a:lstStyle/>
          <a:p>
            <a:endParaRPr lang="en-AU"/>
          </a:p>
        </p:txBody>
      </p:sp>
      <p:sp>
        <p:nvSpPr>
          <p:cNvPr id="2" name="TextBox 1">
            <a:extLst>
              <a:ext uri="{FF2B5EF4-FFF2-40B4-BE49-F238E27FC236}">
                <a16:creationId xmlns:a16="http://schemas.microsoft.com/office/drawing/2014/main" id="{28FDA732-F7A4-874E-A6DA-5D141FFD1789}"/>
              </a:ext>
            </a:extLst>
          </p:cNvPr>
          <p:cNvSpPr txBox="1"/>
          <p:nvPr/>
        </p:nvSpPr>
        <p:spPr>
          <a:xfrm>
            <a:off x="179513" y="1484785"/>
            <a:ext cx="8843838" cy="830997"/>
          </a:xfrm>
          <a:prstGeom prst="rect">
            <a:avLst/>
          </a:prstGeom>
          <a:noFill/>
        </p:spPr>
        <p:txBody>
          <a:bodyPr wrap="square" rtlCol="0">
            <a:spAutoFit/>
          </a:bodyPr>
          <a:lstStyle/>
          <a:p>
            <a:r>
              <a:rPr lang="en-US" sz="2400" dirty="0"/>
              <a:t>Finally, we can turn our two-way table into a proportional column graph (also referred to as a stacked 100% column graph) </a:t>
            </a:r>
          </a:p>
        </p:txBody>
      </p:sp>
      <p:pic>
        <p:nvPicPr>
          <p:cNvPr id="14" name="Picture 13" descr="A screenshot of a cell phone&#10;&#10;Description automatically generated">
            <a:extLst>
              <a:ext uri="{FF2B5EF4-FFF2-40B4-BE49-F238E27FC236}">
                <a16:creationId xmlns:a16="http://schemas.microsoft.com/office/drawing/2014/main" id="{6094F589-6AAB-5B48-8B8C-51C0FDF91DE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9513" y="2492896"/>
            <a:ext cx="3637218" cy="1655682"/>
          </a:xfrm>
          <a:prstGeom prst="rect">
            <a:avLst/>
          </a:prstGeom>
        </p:spPr>
      </p:pic>
      <p:sp>
        <p:nvSpPr>
          <p:cNvPr id="3" name="Right Arrow 2">
            <a:extLst>
              <a:ext uri="{FF2B5EF4-FFF2-40B4-BE49-F238E27FC236}">
                <a16:creationId xmlns:a16="http://schemas.microsoft.com/office/drawing/2014/main" id="{BD92BB4B-FE84-AD4A-95A5-0695682D0A06}"/>
              </a:ext>
            </a:extLst>
          </p:cNvPr>
          <p:cNvSpPr/>
          <p:nvPr/>
        </p:nvSpPr>
        <p:spPr>
          <a:xfrm>
            <a:off x="3971634" y="3302860"/>
            <a:ext cx="432048" cy="25227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descr="A screenshot of a cell phone&#10;&#10;Description automatically generated">
            <a:extLst>
              <a:ext uri="{FF2B5EF4-FFF2-40B4-BE49-F238E27FC236}">
                <a16:creationId xmlns:a16="http://schemas.microsoft.com/office/drawing/2014/main" id="{81DE8AF4-D63B-454D-9195-6AAAA4322A9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72554" y="2315782"/>
            <a:ext cx="3841339" cy="2688070"/>
          </a:xfrm>
          <a:prstGeom prst="rect">
            <a:avLst/>
          </a:prstGeom>
        </p:spPr>
      </p:pic>
      <p:sp>
        <p:nvSpPr>
          <p:cNvPr id="18" name="TextBox 17">
            <a:extLst>
              <a:ext uri="{FF2B5EF4-FFF2-40B4-BE49-F238E27FC236}">
                <a16:creationId xmlns:a16="http://schemas.microsoft.com/office/drawing/2014/main" id="{71873725-D0D0-3741-AE5D-57D601294E8E}"/>
              </a:ext>
            </a:extLst>
          </p:cNvPr>
          <p:cNvSpPr txBox="1"/>
          <p:nvPr/>
        </p:nvSpPr>
        <p:spPr>
          <a:xfrm>
            <a:off x="300162" y="5176638"/>
            <a:ext cx="8843838" cy="1569660"/>
          </a:xfrm>
          <a:prstGeom prst="rect">
            <a:avLst/>
          </a:prstGeom>
          <a:noFill/>
        </p:spPr>
        <p:txBody>
          <a:bodyPr wrap="square" rtlCol="0">
            <a:spAutoFit/>
          </a:bodyPr>
          <a:lstStyle/>
          <a:p>
            <a:pPr algn="ctr"/>
            <a:r>
              <a:rPr lang="en-US" sz="2400" dirty="0"/>
              <a:t>Using these techniques, we can make deeper observations at every stage of the investigative process. From this proportional column graph we can say </a:t>
            </a:r>
            <a:r>
              <a:rPr lang="en-US" sz="2400" b="1" i="1" dirty="0"/>
              <a:t>yes </a:t>
            </a:r>
            <a:r>
              <a:rPr lang="en-US" sz="2400" dirty="0"/>
              <a:t>there is an association between these two variables</a:t>
            </a:r>
          </a:p>
        </p:txBody>
      </p:sp>
    </p:spTree>
    <p:extLst>
      <p:ext uri="{BB962C8B-B14F-4D97-AF65-F5344CB8AC3E}">
        <p14:creationId xmlns:p14="http://schemas.microsoft.com/office/powerpoint/2010/main" val="8473564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dissolve">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checkerboard(across)">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dissolve">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18">
                                            <p:txEl>
                                              <p:pRg st="0" end="0"/>
                                            </p:txEl>
                                          </p:spTgt>
                                        </p:tgtEl>
                                        <p:attrNameLst>
                                          <p:attrName>style.visibility</p:attrName>
                                        </p:attrNameLst>
                                      </p:cBhvr>
                                      <p:to>
                                        <p:strVal val="visible"/>
                                      </p:to>
                                    </p:set>
                                    <p:animEffect transition="in" filter="checkerboard(across)">
                                      <p:cBhvr>
                                        <p:cTn id="22" dur="500"/>
                                        <p:tgtEl>
                                          <p:spTgt spid="1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a:off x="0" y="849907"/>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0" y="1311572"/>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93471" y="18910"/>
            <a:ext cx="576064" cy="830997"/>
          </a:xfrm>
          <a:prstGeom prst="rect">
            <a:avLst/>
          </a:prstGeom>
          <a:noFill/>
        </p:spPr>
        <p:txBody>
          <a:bodyPr wrap="square" rtlCol="0">
            <a:spAutoFit/>
          </a:bodyPr>
          <a:lstStyle/>
          <a:p>
            <a:r>
              <a:rPr lang="en-AU" sz="1600" dirty="0"/>
              <a:t>24</a:t>
            </a:r>
          </a:p>
          <a:p>
            <a:r>
              <a:rPr lang="en-AU" sz="1600" dirty="0"/>
              <a:t>7</a:t>
            </a:r>
          </a:p>
          <a:p>
            <a:r>
              <a:rPr lang="en-AU" sz="1600" dirty="0"/>
              <a:t>30</a:t>
            </a:r>
          </a:p>
        </p:txBody>
      </p:sp>
      <p:sp>
        <p:nvSpPr>
          <p:cNvPr id="10" name="TextBox 9"/>
          <p:cNvSpPr txBox="1"/>
          <p:nvPr/>
        </p:nvSpPr>
        <p:spPr>
          <a:xfrm>
            <a:off x="1115616" y="172798"/>
            <a:ext cx="2217979" cy="523220"/>
          </a:xfrm>
          <a:prstGeom prst="rect">
            <a:avLst/>
          </a:prstGeom>
          <a:noFill/>
        </p:spPr>
        <p:txBody>
          <a:bodyPr wrap="none" rtlCol="0">
            <a:spAutoFit/>
          </a:bodyPr>
          <a:lstStyle/>
          <a:p>
            <a:r>
              <a:rPr lang="en-AU" sz="2800" dirty="0"/>
              <a:t>Bivariate Data</a:t>
            </a:r>
          </a:p>
        </p:txBody>
      </p:sp>
      <p:sp>
        <p:nvSpPr>
          <p:cNvPr id="11" name="TextBox 10"/>
          <p:cNvSpPr txBox="1"/>
          <p:nvPr/>
        </p:nvSpPr>
        <p:spPr>
          <a:xfrm>
            <a:off x="7439175" y="106354"/>
            <a:ext cx="1584176" cy="461665"/>
          </a:xfrm>
          <a:prstGeom prst="rect">
            <a:avLst/>
          </a:prstGeom>
          <a:noFill/>
        </p:spPr>
        <p:txBody>
          <a:bodyPr wrap="square" rtlCol="0">
            <a:spAutoFit/>
          </a:bodyPr>
          <a:lstStyle/>
          <a:p>
            <a:r>
              <a:rPr lang="en-AU" sz="2400" dirty="0"/>
              <a:t>Date</a:t>
            </a:r>
          </a:p>
        </p:txBody>
      </p:sp>
      <p:sp>
        <p:nvSpPr>
          <p:cNvPr id="12" name="TextBox 11"/>
          <p:cNvSpPr txBox="1"/>
          <p:nvPr/>
        </p:nvSpPr>
        <p:spPr>
          <a:xfrm>
            <a:off x="93471" y="849907"/>
            <a:ext cx="8620422" cy="461665"/>
          </a:xfrm>
          <a:prstGeom prst="rect">
            <a:avLst/>
          </a:prstGeom>
          <a:noFill/>
        </p:spPr>
        <p:txBody>
          <a:bodyPr wrap="square" rtlCol="0">
            <a:spAutoFit/>
          </a:bodyPr>
          <a:lstStyle/>
          <a:p>
            <a:r>
              <a:rPr lang="en-AU" sz="2400" dirty="0"/>
              <a:t>EQ – How can I display bivariate data? </a:t>
            </a:r>
          </a:p>
        </p:txBody>
      </p:sp>
      <p:sp>
        <p:nvSpPr>
          <p:cNvPr id="25" name="Rectangle 5"/>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112" tIns="914112" rIns="809370" bIns="914112" numCol="1" anchor="ctr" anchorCtr="0" compatLnSpc="1">
            <a:prstTxWarp prst="textNoShape">
              <a:avLst/>
            </a:prstTxWarp>
            <a:spAutoFit/>
          </a:bodyPr>
          <a:lstStyle/>
          <a:p>
            <a:endParaRPr lang="en-AU"/>
          </a:p>
        </p:txBody>
      </p:sp>
      <p:pic>
        <p:nvPicPr>
          <p:cNvPr id="8" name="Picture 7" descr="A screenshot of a cell phone&#10;&#10;Description automatically generated">
            <a:extLst>
              <a:ext uri="{FF2B5EF4-FFF2-40B4-BE49-F238E27FC236}">
                <a16:creationId xmlns:a16="http://schemas.microsoft.com/office/drawing/2014/main" id="{CCB93453-A519-9A49-8262-4E8FDA67D73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470" y="1363070"/>
            <a:ext cx="5774673" cy="2342136"/>
          </a:xfrm>
          <a:prstGeom prst="rect">
            <a:avLst/>
          </a:prstGeom>
        </p:spPr>
      </p:pic>
      <p:pic>
        <p:nvPicPr>
          <p:cNvPr id="15" name="Picture 14" descr="A screenshot of a cell phone&#10;&#10;Description automatically generated">
            <a:extLst>
              <a:ext uri="{FF2B5EF4-FFF2-40B4-BE49-F238E27FC236}">
                <a16:creationId xmlns:a16="http://schemas.microsoft.com/office/drawing/2014/main" id="{AB6BB2A9-DA10-1747-8183-747995C7EDD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3470" y="3756703"/>
            <a:ext cx="7458797" cy="1221943"/>
          </a:xfrm>
          <a:prstGeom prst="rect">
            <a:avLst/>
          </a:prstGeom>
        </p:spPr>
      </p:pic>
      <p:pic>
        <p:nvPicPr>
          <p:cNvPr id="17" name="Picture 16" descr="A screenshot of a cell phone&#10;&#10;Description automatically generated">
            <a:extLst>
              <a:ext uri="{FF2B5EF4-FFF2-40B4-BE49-F238E27FC236}">
                <a16:creationId xmlns:a16="http://schemas.microsoft.com/office/drawing/2014/main" id="{7DCF31BB-7429-A54E-B701-E95A53D735E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3471" y="5049138"/>
            <a:ext cx="6084168" cy="1763725"/>
          </a:xfrm>
          <a:prstGeom prst="rect">
            <a:avLst/>
          </a:prstGeom>
        </p:spPr>
      </p:pic>
    </p:spTree>
    <p:extLst>
      <p:ext uri="{BB962C8B-B14F-4D97-AF65-F5344CB8AC3E}">
        <p14:creationId xmlns:p14="http://schemas.microsoft.com/office/powerpoint/2010/main" val="644260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9" presetClass="entr" presetSubtype="0" fill="hold" nodeType="clickEffect">
                                  <p:stCondLst>
                                    <p:cond delay="0"/>
                                  </p:stCondLst>
                                  <p:childTnLst>
                                    <p:set>
                                      <p:cBhvr>
                                        <p:cTn id="10" dur="1" fill="hold">
                                          <p:stCondLst>
                                            <p:cond delay="0"/>
                                          </p:stCondLst>
                                        </p:cTn>
                                        <p:tgtEl>
                                          <p:spTgt spid="17"/>
                                        </p:tgtEl>
                                        <p:attrNameLst>
                                          <p:attrName>style.visibility</p:attrName>
                                        </p:attrNameLst>
                                      </p:cBhvr>
                                      <p:to>
                                        <p:strVal val="visible"/>
                                      </p:to>
                                    </p:set>
                                    <p:animEffect transition="in" filter="dissolve">
                                      <p:cBhvr>
                                        <p:cTn id="11"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a:off x="0" y="849907"/>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0" y="1311572"/>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93471" y="18910"/>
            <a:ext cx="576064" cy="830997"/>
          </a:xfrm>
          <a:prstGeom prst="rect">
            <a:avLst/>
          </a:prstGeom>
          <a:noFill/>
        </p:spPr>
        <p:txBody>
          <a:bodyPr wrap="square" rtlCol="0">
            <a:spAutoFit/>
          </a:bodyPr>
          <a:lstStyle/>
          <a:p>
            <a:r>
              <a:rPr lang="en-AU" sz="1600" dirty="0"/>
              <a:t>24</a:t>
            </a:r>
          </a:p>
          <a:p>
            <a:r>
              <a:rPr lang="en-AU" sz="1600" dirty="0"/>
              <a:t>7</a:t>
            </a:r>
          </a:p>
          <a:p>
            <a:r>
              <a:rPr lang="en-AU" sz="1600" dirty="0"/>
              <a:t>30</a:t>
            </a:r>
          </a:p>
        </p:txBody>
      </p:sp>
      <p:sp>
        <p:nvSpPr>
          <p:cNvPr id="10" name="TextBox 9"/>
          <p:cNvSpPr txBox="1"/>
          <p:nvPr/>
        </p:nvSpPr>
        <p:spPr>
          <a:xfrm>
            <a:off x="1115616" y="172798"/>
            <a:ext cx="2217979" cy="523220"/>
          </a:xfrm>
          <a:prstGeom prst="rect">
            <a:avLst/>
          </a:prstGeom>
          <a:noFill/>
        </p:spPr>
        <p:txBody>
          <a:bodyPr wrap="none" rtlCol="0">
            <a:spAutoFit/>
          </a:bodyPr>
          <a:lstStyle/>
          <a:p>
            <a:r>
              <a:rPr lang="en-AU" sz="2800" dirty="0"/>
              <a:t>Bivariate Data</a:t>
            </a:r>
          </a:p>
        </p:txBody>
      </p:sp>
      <p:sp>
        <p:nvSpPr>
          <p:cNvPr id="11" name="TextBox 10"/>
          <p:cNvSpPr txBox="1"/>
          <p:nvPr/>
        </p:nvSpPr>
        <p:spPr>
          <a:xfrm>
            <a:off x="7439175" y="106354"/>
            <a:ext cx="1584176" cy="461665"/>
          </a:xfrm>
          <a:prstGeom prst="rect">
            <a:avLst/>
          </a:prstGeom>
          <a:noFill/>
        </p:spPr>
        <p:txBody>
          <a:bodyPr wrap="square" rtlCol="0">
            <a:spAutoFit/>
          </a:bodyPr>
          <a:lstStyle/>
          <a:p>
            <a:r>
              <a:rPr lang="en-AU" sz="2400" dirty="0"/>
              <a:t>Date</a:t>
            </a:r>
          </a:p>
        </p:txBody>
      </p:sp>
      <p:sp>
        <p:nvSpPr>
          <p:cNvPr id="12" name="TextBox 11"/>
          <p:cNvSpPr txBox="1"/>
          <p:nvPr/>
        </p:nvSpPr>
        <p:spPr>
          <a:xfrm>
            <a:off x="93471" y="849907"/>
            <a:ext cx="8620422" cy="461665"/>
          </a:xfrm>
          <a:prstGeom prst="rect">
            <a:avLst/>
          </a:prstGeom>
          <a:noFill/>
        </p:spPr>
        <p:txBody>
          <a:bodyPr wrap="square" rtlCol="0">
            <a:spAutoFit/>
          </a:bodyPr>
          <a:lstStyle/>
          <a:p>
            <a:r>
              <a:rPr lang="en-AU" sz="2400" dirty="0"/>
              <a:t>EQ – How can I display bivariate data? </a:t>
            </a:r>
          </a:p>
        </p:txBody>
      </p:sp>
      <p:sp>
        <p:nvSpPr>
          <p:cNvPr id="25" name="Rectangle 5"/>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112" tIns="914112" rIns="809370" bIns="914112" numCol="1" anchor="ctr" anchorCtr="0" compatLnSpc="1">
            <a:prstTxWarp prst="textNoShape">
              <a:avLst/>
            </a:prstTxWarp>
            <a:spAutoFit/>
          </a:bodyPr>
          <a:lstStyle/>
          <a:p>
            <a:endParaRPr lang="en-AU"/>
          </a:p>
        </p:txBody>
      </p:sp>
      <p:pic>
        <p:nvPicPr>
          <p:cNvPr id="17" name="Picture 16" descr="A screenshot of a cell phone&#10;&#10;Description automatically generated">
            <a:extLst>
              <a:ext uri="{FF2B5EF4-FFF2-40B4-BE49-F238E27FC236}">
                <a16:creationId xmlns:a16="http://schemas.microsoft.com/office/drawing/2014/main" id="{7DCF31BB-7429-A54E-B701-E95A53D735E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471" y="1412777"/>
            <a:ext cx="5292080" cy="1534108"/>
          </a:xfrm>
          <a:prstGeom prst="rect">
            <a:avLst/>
          </a:prstGeom>
        </p:spPr>
      </p:pic>
      <p:pic>
        <p:nvPicPr>
          <p:cNvPr id="3" name="Picture 2" descr="A screenshot of a cell phone&#10;&#10;Description automatically generated">
            <a:extLst>
              <a:ext uri="{FF2B5EF4-FFF2-40B4-BE49-F238E27FC236}">
                <a16:creationId xmlns:a16="http://schemas.microsoft.com/office/drawing/2014/main" id="{05FA5A26-CC79-164D-9090-BB6F4959109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3471" y="2917596"/>
            <a:ext cx="5292080" cy="1987039"/>
          </a:xfrm>
          <a:prstGeom prst="rect">
            <a:avLst/>
          </a:prstGeom>
        </p:spPr>
      </p:pic>
      <p:pic>
        <p:nvPicPr>
          <p:cNvPr id="9" name="Picture 8" descr="A screenshot of a cell phone&#10;&#10;Description automatically generated">
            <a:extLst>
              <a:ext uri="{FF2B5EF4-FFF2-40B4-BE49-F238E27FC236}">
                <a16:creationId xmlns:a16="http://schemas.microsoft.com/office/drawing/2014/main" id="{B13759C2-2CD7-E747-AF9E-640CACF9F95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8903" y="4926262"/>
            <a:ext cx="5940152" cy="1907542"/>
          </a:xfrm>
          <a:prstGeom prst="rect">
            <a:avLst/>
          </a:prstGeom>
        </p:spPr>
      </p:pic>
    </p:spTree>
    <p:extLst>
      <p:ext uri="{BB962C8B-B14F-4D97-AF65-F5344CB8AC3E}">
        <p14:creationId xmlns:p14="http://schemas.microsoft.com/office/powerpoint/2010/main" val="6321039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dissolve">
                                      <p:cBhvr>
                                        <p:cTn id="7" dur="5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dissolv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blinds(horizontal)">
                                      <p:cBhvr>
                                        <p:cTn id="1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a:off x="0" y="849907"/>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0" y="1311572"/>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93471" y="18910"/>
            <a:ext cx="576064" cy="830997"/>
          </a:xfrm>
          <a:prstGeom prst="rect">
            <a:avLst/>
          </a:prstGeom>
          <a:noFill/>
        </p:spPr>
        <p:txBody>
          <a:bodyPr wrap="square" rtlCol="0">
            <a:spAutoFit/>
          </a:bodyPr>
          <a:lstStyle/>
          <a:p>
            <a:r>
              <a:rPr lang="en-AU" sz="1600" dirty="0"/>
              <a:t>24</a:t>
            </a:r>
          </a:p>
          <a:p>
            <a:r>
              <a:rPr lang="en-AU" sz="1600" dirty="0"/>
              <a:t>7</a:t>
            </a:r>
          </a:p>
          <a:p>
            <a:r>
              <a:rPr lang="en-AU" sz="1600" dirty="0"/>
              <a:t>30</a:t>
            </a:r>
          </a:p>
        </p:txBody>
      </p:sp>
      <p:sp>
        <p:nvSpPr>
          <p:cNvPr id="10" name="TextBox 9"/>
          <p:cNvSpPr txBox="1"/>
          <p:nvPr/>
        </p:nvSpPr>
        <p:spPr>
          <a:xfrm>
            <a:off x="1115616" y="172798"/>
            <a:ext cx="2217979" cy="523220"/>
          </a:xfrm>
          <a:prstGeom prst="rect">
            <a:avLst/>
          </a:prstGeom>
          <a:noFill/>
        </p:spPr>
        <p:txBody>
          <a:bodyPr wrap="none" rtlCol="0">
            <a:spAutoFit/>
          </a:bodyPr>
          <a:lstStyle/>
          <a:p>
            <a:r>
              <a:rPr lang="en-AU" sz="2800" dirty="0"/>
              <a:t>Bivariate Data</a:t>
            </a:r>
          </a:p>
        </p:txBody>
      </p:sp>
      <p:sp>
        <p:nvSpPr>
          <p:cNvPr id="11" name="TextBox 10"/>
          <p:cNvSpPr txBox="1"/>
          <p:nvPr/>
        </p:nvSpPr>
        <p:spPr>
          <a:xfrm>
            <a:off x="7439175" y="106354"/>
            <a:ext cx="1584176" cy="461665"/>
          </a:xfrm>
          <a:prstGeom prst="rect">
            <a:avLst/>
          </a:prstGeom>
          <a:noFill/>
        </p:spPr>
        <p:txBody>
          <a:bodyPr wrap="square" rtlCol="0">
            <a:spAutoFit/>
          </a:bodyPr>
          <a:lstStyle/>
          <a:p>
            <a:r>
              <a:rPr lang="en-AU" sz="2400" dirty="0"/>
              <a:t>Date</a:t>
            </a:r>
          </a:p>
        </p:txBody>
      </p:sp>
      <p:sp>
        <p:nvSpPr>
          <p:cNvPr id="12" name="TextBox 11"/>
          <p:cNvSpPr txBox="1"/>
          <p:nvPr/>
        </p:nvSpPr>
        <p:spPr>
          <a:xfrm>
            <a:off x="93471" y="849907"/>
            <a:ext cx="8620422" cy="461665"/>
          </a:xfrm>
          <a:prstGeom prst="rect">
            <a:avLst/>
          </a:prstGeom>
          <a:noFill/>
        </p:spPr>
        <p:txBody>
          <a:bodyPr wrap="square" rtlCol="0">
            <a:spAutoFit/>
          </a:bodyPr>
          <a:lstStyle/>
          <a:p>
            <a:r>
              <a:rPr lang="en-AU" sz="2400" dirty="0"/>
              <a:t>EQ – How can I display bivariate data? </a:t>
            </a:r>
          </a:p>
        </p:txBody>
      </p:sp>
      <p:sp>
        <p:nvSpPr>
          <p:cNvPr id="25" name="Rectangle 5"/>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112" tIns="914112" rIns="809370" bIns="914112" numCol="1" anchor="ctr" anchorCtr="0" compatLnSpc="1">
            <a:prstTxWarp prst="textNoShape">
              <a:avLst/>
            </a:prstTxWarp>
            <a:spAutoFit/>
          </a:bodyPr>
          <a:lstStyle/>
          <a:p>
            <a:endParaRPr lang="en-AU"/>
          </a:p>
        </p:txBody>
      </p:sp>
      <p:sp>
        <p:nvSpPr>
          <p:cNvPr id="5" name="TextBox 4">
            <a:extLst>
              <a:ext uri="{FF2B5EF4-FFF2-40B4-BE49-F238E27FC236}">
                <a16:creationId xmlns:a16="http://schemas.microsoft.com/office/drawing/2014/main" id="{4BCFA7F2-F390-1A4A-83E9-9E2CE6A89D14}"/>
              </a:ext>
            </a:extLst>
          </p:cNvPr>
          <p:cNvSpPr txBox="1"/>
          <p:nvPr/>
        </p:nvSpPr>
        <p:spPr>
          <a:xfrm>
            <a:off x="1403648" y="1773236"/>
            <a:ext cx="7920881" cy="523220"/>
          </a:xfrm>
          <a:prstGeom prst="rect">
            <a:avLst/>
          </a:prstGeom>
          <a:noFill/>
        </p:spPr>
        <p:txBody>
          <a:bodyPr wrap="square" rtlCol="0">
            <a:spAutoFit/>
          </a:bodyPr>
          <a:lstStyle/>
          <a:p>
            <a:r>
              <a:rPr lang="en-US" sz="2800" dirty="0"/>
              <a:t>Please complete Sadler Unit 3 Exercise 1A</a:t>
            </a:r>
          </a:p>
        </p:txBody>
      </p:sp>
    </p:spTree>
    <p:extLst>
      <p:ext uri="{BB962C8B-B14F-4D97-AF65-F5344CB8AC3E}">
        <p14:creationId xmlns:p14="http://schemas.microsoft.com/office/powerpoint/2010/main" val="33369276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a:off x="0" y="849907"/>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0" y="1311572"/>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93471" y="18910"/>
            <a:ext cx="576064" cy="830997"/>
          </a:xfrm>
          <a:prstGeom prst="rect">
            <a:avLst/>
          </a:prstGeom>
          <a:noFill/>
        </p:spPr>
        <p:txBody>
          <a:bodyPr wrap="square" rtlCol="0">
            <a:spAutoFit/>
          </a:bodyPr>
          <a:lstStyle/>
          <a:p>
            <a:r>
              <a:rPr lang="en-AU" sz="1600" dirty="0"/>
              <a:t>24</a:t>
            </a:r>
          </a:p>
          <a:p>
            <a:r>
              <a:rPr lang="en-AU" sz="1600" dirty="0"/>
              <a:t>7</a:t>
            </a:r>
          </a:p>
          <a:p>
            <a:r>
              <a:rPr lang="en-AU" sz="1600" dirty="0"/>
              <a:t>30</a:t>
            </a:r>
          </a:p>
        </p:txBody>
      </p:sp>
      <p:sp>
        <p:nvSpPr>
          <p:cNvPr id="10" name="TextBox 9"/>
          <p:cNvSpPr txBox="1"/>
          <p:nvPr/>
        </p:nvSpPr>
        <p:spPr>
          <a:xfrm>
            <a:off x="1115616" y="172798"/>
            <a:ext cx="2217979" cy="523220"/>
          </a:xfrm>
          <a:prstGeom prst="rect">
            <a:avLst/>
          </a:prstGeom>
          <a:noFill/>
        </p:spPr>
        <p:txBody>
          <a:bodyPr wrap="none" rtlCol="0">
            <a:spAutoFit/>
          </a:bodyPr>
          <a:lstStyle/>
          <a:p>
            <a:r>
              <a:rPr lang="en-AU" sz="2800" dirty="0"/>
              <a:t>Bivariate Data</a:t>
            </a:r>
          </a:p>
        </p:txBody>
      </p:sp>
      <p:sp>
        <p:nvSpPr>
          <p:cNvPr id="11" name="TextBox 10"/>
          <p:cNvSpPr txBox="1"/>
          <p:nvPr/>
        </p:nvSpPr>
        <p:spPr>
          <a:xfrm>
            <a:off x="7439175" y="106354"/>
            <a:ext cx="1584176" cy="461665"/>
          </a:xfrm>
          <a:prstGeom prst="rect">
            <a:avLst/>
          </a:prstGeom>
          <a:noFill/>
        </p:spPr>
        <p:txBody>
          <a:bodyPr wrap="square" rtlCol="0">
            <a:spAutoFit/>
          </a:bodyPr>
          <a:lstStyle/>
          <a:p>
            <a:r>
              <a:rPr lang="en-AU" sz="2400" dirty="0"/>
              <a:t>Date</a:t>
            </a:r>
          </a:p>
        </p:txBody>
      </p:sp>
      <p:sp>
        <p:nvSpPr>
          <p:cNvPr id="12" name="TextBox 11"/>
          <p:cNvSpPr txBox="1"/>
          <p:nvPr/>
        </p:nvSpPr>
        <p:spPr>
          <a:xfrm>
            <a:off x="102870" y="855814"/>
            <a:ext cx="9143999" cy="400110"/>
          </a:xfrm>
          <a:prstGeom prst="rect">
            <a:avLst/>
          </a:prstGeom>
          <a:noFill/>
        </p:spPr>
        <p:txBody>
          <a:bodyPr wrap="square" rtlCol="0">
            <a:spAutoFit/>
          </a:bodyPr>
          <a:lstStyle/>
          <a:p>
            <a:r>
              <a:rPr lang="en-AU" sz="2000" dirty="0"/>
              <a:t>EQ – How do I determine which variable is the explanatory and which is the response? </a:t>
            </a:r>
          </a:p>
        </p:txBody>
      </p:sp>
      <p:sp>
        <p:nvSpPr>
          <p:cNvPr id="25" name="Rectangle 5"/>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112" tIns="914112" rIns="809370" bIns="914112" numCol="1" anchor="ctr" anchorCtr="0" compatLnSpc="1">
            <a:prstTxWarp prst="textNoShape">
              <a:avLst/>
            </a:prstTxWarp>
            <a:spAutoFit/>
          </a:bodyPr>
          <a:lstStyle/>
          <a:p>
            <a:endParaRPr lang="en-AU"/>
          </a:p>
        </p:txBody>
      </p:sp>
      <p:sp>
        <p:nvSpPr>
          <p:cNvPr id="2" name="TextBox 1">
            <a:extLst>
              <a:ext uri="{FF2B5EF4-FFF2-40B4-BE49-F238E27FC236}">
                <a16:creationId xmlns:a16="http://schemas.microsoft.com/office/drawing/2014/main" id="{ABCF6BC3-B313-E045-8097-2B8EC2DC3E74}"/>
              </a:ext>
            </a:extLst>
          </p:cNvPr>
          <p:cNvSpPr txBox="1"/>
          <p:nvPr/>
        </p:nvSpPr>
        <p:spPr>
          <a:xfrm>
            <a:off x="93471" y="1378430"/>
            <a:ext cx="9050529" cy="1754326"/>
          </a:xfrm>
          <a:prstGeom prst="rect">
            <a:avLst/>
          </a:prstGeom>
          <a:noFill/>
        </p:spPr>
        <p:txBody>
          <a:bodyPr wrap="square" rtlCol="0">
            <a:spAutoFit/>
          </a:bodyPr>
          <a:lstStyle/>
          <a:p>
            <a:r>
              <a:rPr lang="en-US" dirty="0"/>
              <a:t>At the beginning of this chapter, there was a situation that considered whether countries with higher levels of consumption of a particular food tended to have higher death rates due to heart disease. I.e. – are the death rates </a:t>
            </a:r>
            <a:r>
              <a:rPr lang="en-US" b="1" i="1" dirty="0"/>
              <a:t>explained</a:t>
            </a:r>
            <a:r>
              <a:rPr lang="en-US" i="1" dirty="0"/>
              <a:t> </a:t>
            </a:r>
            <a:r>
              <a:rPr lang="en-US" dirty="0"/>
              <a:t>by the consumption of the particular food?</a:t>
            </a:r>
          </a:p>
          <a:p>
            <a:endParaRPr lang="en-US" dirty="0"/>
          </a:p>
          <a:p>
            <a:r>
              <a:rPr lang="en-US" dirty="0"/>
              <a:t>In this case, we would say the consumption of the particular food is the </a:t>
            </a:r>
            <a:r>
              <a:rPr lang="en-US" b="1" dirty="0"/>
              <a:t>explanatory (or independent) </a:t>
            </a:r>
            <a:r>
              <a:rPr lang="en-US" dirty="0"/>
              <a:t>variable and the death rate is the </a:t>
            </a:r>
            <a:r>
              <a:rPr lang="en-US" b="1" dirty="0"/>
              <a:t>response (or dependent) </a:t>
            </a:r>
            <a:r>
              <a:rPr lang="en-US" dirty="0"/>
              <a:t>variable.</a:t>
            </a:r>
          </a:p>
        </p:txBody>
      </p:sp>
      <p:pic>
        <p:nvPicPr>
          <p:cNvPr id="5" name="Picture 4">
            <a:extLst>
              <a:ext uri="{FF2B5EF4-FFF2-40B4-BE49-F238E27FC236}">
                <a16:creationId xmlns:a16="http://schemas.microsoft.com/office/drawing/2014/main" id="{FC560C69-009D-644E-9E54-A493A2FD10F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40296" y="3156513"/>
            <a:ext cx="6948264" cy="609163"/>
          </a:xfrm>
          <a:prstGeom prst="rect">
            <a:avLst/>
          </a:prstGeom>
        </p:spPr>
      </p:pic>
      <p:pic>
        <p:nvPicPr>
          <p:cNvPr id="16" name="Picture 15" descr="A screenshot of a cell phone&#10;&#10;Description automatically generated">
            <a:extLst>
              <a:ext uri="{FF2B5EF4-FFF2-40B4-BE49-F238E27FC236}">
                <a16:creationId xmlns:a16="http://schemas.microsoft.com/office/drawing/2014/main" id="{0FC3F167-8E91-AF4E-B6D7-6DC5C051BE7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3528" y="3876973"/>
            <a:ext cx="6837154" cy="2825527"/>
          </a:xfrm>
          <a:prstGeom prst="rect">
            <a:avLst/>
          </a:prstGeom>
        </p:spPr>
      </p:pic>
    </p:spTree>
    <p:extLst>
      <p:ext uri="{BB962C8B-B14F-4D97-AF65-F5344CB8AC3E}">
        <p14:creationId xmlns:p14="http://schemas.microsoft.com/office/powerpoint/2010/main" val="15678116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ppt_x"/>
                                          </p:val>
                                        </p:tav>
                                        <p:tav tm="100000">
                                          <p:val>
                                            <p:strVal val="#ppt_x"/>
                                          </p:val>
                                        </p:tav>
                                      </p:tavLst>
                                    </p:anim>
                                    <p:anim calcmode="lin" valueType="num">
                                      <p:cBhvr additive="base">
                                        <p:cTn id="1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checkerboard(across)">
                                      <p:cBhvr>
                                        <p:cTn id="1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a:off x="0" y="849907"/>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0" y="1311572"/>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93471" y="18910"/>
            <a:ext cx="576064" cy="830997"/>
          </a:xfrm>
          <a:prstGeom prst="rect">
            <a:avLst/>
          </a:prstGeom>
          <a:noFill/>
        </p:spPr>
        <p:txBody>
          <a:bodyPr wrap="square" rtlCol="0">
            <a:spAutoFit/>
          </a:bodyPr>
          <a:lstStyle/>
          <a:p>
            <a:r>
              <a:rPr lang="en-AU" sz="1600" dirty="0"/>
              <a:t>24</a:t>
            </a:r>
          </a:p>
          <a:p>
            <a:r>
              <a:rPr lang="en-AU" sz="1600" dirty="0"/>
              <a:t>7</a:t>
            </a:r>
          </a:p>
          <a:p>
            <a:r>
              <a:rPr lang="en-AU" sz="1600" dirty="0"/>
              <a:t>30</a:t>
            </a:r>
          </a:p>
        </p:txBody>
      </p:sp>
      <p:sp>
        <p:nvSpPr>
          <p:cNvPr id="10" name="TextBox 9"/>
          <p:cNvSpPr txBox="1"/>
          <p:nvPr/>
        </p:nvSpPr>
        <p:spPr>
          <a:xfrm>
            <a:off x="1115616" y="172798"/>
            <a:ext cx="2217979" cy="523220"/>
          </a:xfrm>
          <a:prstGeom prst="rect">
            <a:avLst/>
          </a:prstGeom>
          <a:noFill/>
        </p:spPr>
        <p:txBody>
          <a:bodyPr wrap="none" rtlCol="0">
            <a:spAutoFit/>
          </a:bodyPr>
          <a:lstStyle/>
          <a:p>
            <a:r>
              <a:rPr lang="en-AU" sz="2800" dirty="0"/>
              <a:t>Bivariate Data</a:t>
            </a:r>
          </a:p>
        </p:txBody>
      </p:sp>
      <p:sp>
        <p:nvSpPr>
          <p:cNvPr id="11" name="TextBox 10"/>
          <p:cNvSpPr txBox="1"/>
          <p:nvPr/>
        </p:nvSpPr>
        <p:spPr>
          <a:xfrm>
            <a:off x="7439175" y="106354"/>
            <a:ext cx="1584176" cy="461665"/>
          </a:xfrm>
          <a:prstGeom prst="rect">
            <a:avLst/>
          </a:prstGeom>
          <a:noFill/>
        </p:spPr>
        <p:txBody>
          <a:bodyPr wrap="square" rtlCol="0">
            <a:spAutoFit/>
          </a:bodyPr>
          <a:lstStyle/>
          <a:p>
            <a:r>
              <a:rPr lang="en-AU" sz="2400" dirty="0"/>
              <a:t>Date</a:t>
            </a:r>
          </a:p>
        </p:txBody>
      </p:sp>
      <p:sp>
        <p:nvSpPr>
          <p:cNvPr id="25" name="Rectangle 5"/>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112" tIns="914112" rIns="809370" bIns="914112" numCol="1" anchor="ctr" anchorCtr="0" compatLnSpc="1">
            <a:prstTxWarp prst="textNoShape">
              <a:avLst/>
            </a:prstTxWarp>
            <a:spAutoFit/>
          </a:bodyPr>
          <a:lstStyle/>
          <a:p>
            <a:endParaRPr lang="en-AU"/>
          </a:p>
        </p:txBody>
      </p:sp>
      <p:pic>
        <p:nvPicPr>
          <p:cNvPr id="14" name="Picture 13" descr="A screenshot of a cell phone&#10;&#10;Description automatically generated">
            <a:extLst>
              <a:ext uri="{FF2B5EF4-FFF2-40B4-BE49-F238E27FC236}">
                <a16:creationId xmlns:a16="http://schemas.microsoft.com/office/drawing/2014/main" id="{104BF47F-B587-E447-B3F7-3E84EEDEBDC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1500" y="1556792"/>
            <a:ext cx="7964363" cy="1247977"/>
          </a:xfrm>
          <a:prstGeom prst="rect">
            <a:avLst/>
          </a:prstGeom>
        </p:spPr>
      </p:pic>
      <p:sp>
        <p:nvSpPr>
          <p:cNvPr id="13" name="TextBox 12">
            <a:extLst>
              <a:ext uri="{FF2B5EF4-FFF2-40B4-BE49-F238E27FC236}">
                <a16:creationId xmlns:a16="http://schemas.microsoft.com/office/drawing/2014/main" id="{61A83D41-B9DA-B147-8C5C-EE7C251C6B70}"/>
              </a:ext>
            </a:extLst>
          </p:cNvPr>
          <p:cNvSpPr txBox="1"/>
          <p:nvPr/>
        </p:nvSpPr>
        <p:spPr>
          <a:xfrm>
            <a:off x="93472" y="2915301"/>
            <a:ext cx="8929879" cy="1192761"/>
          </a:xfrm>
          <a:prstGeom prst="rect">
            <a:avLst/>
          </a:prstGeom>
          <a:noFill/>
        </p:spPr>
        <p:txBody>
          <a:bodyPr wrap="square" rtlCol="0">
            <a:spAutoFit/>
          </a:bodyPr>
          <a:lstStyle/>
          <a:p>
            <a:r>
              <a:rPr lang="en-US" dirty="0"/>
              <a:t>Which to use – row percentages or column percentages?</a:t>
            </a:r>
          </a:p>
          <a:p>
            <a:endParaRPr lang="en-US" dirty="0"/>
          </a:p>
          <a:p>
            <a:r>
              <a:rPr lang="en-US" dirty="0"/>
              <a:t>Let’s look at an example seeking to answer if there is an association between gender and modes of transportation to work</a:t>
            </a:r>
          </a:p>
        </p:txBody>
      </p:sp>
      <p:pic>
        <p:nvPicPr>
          <p:cNvPr id="18" name="Picture 17" descr="A screenshot of a cell phone&#10;&#10;Description automatically generated">
            <a:extLst>
              <a:ext uri="{FF2B5EF4-FFF2-40B4-BE49-F238E27FC236}">
                <a16:creationId xmlns:a16="http://schemas.microsoft.com/office/drawing/2014/main" id="{A4B871ED-AC27-E141-B694-9580727F8FC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83306" y="4189128"/>
            <a:ext cx="3366093" cy="2331019"/>
          </a:xfrm>
          <a:prstGeom prst="rect">
            <a:avLst/>
          </a:prstGeom>
        </p:spPr>
      </p:pic>
      <p:pic>
        <p:nvPicPr>
          <p:cNvPr id="20" name="Picture 19" descr="A screenshot of a cell phone&#10;&#10;Description automatically generated">
            <a:extLst>
              <a:ext uri="{FF2B5EF4-FFF2-40B4-BE49-F238E27FC236}">
                <a16:creationId xmlns:a16="http://schemas.microsoft.com/office/drawing/2014/main" id="{B2943000-7BC3-2742-B077-545E247D853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9512" y="5492440"/>
            <a:ext cx="5342230" cy="1192762"/>
          </a:xfrm>
          <a:prstGeom prst="rect">
            <a:avLst/>
          </a:prstGeom>
        </p:spPr>
      </p:pic>
      <p:pic>
        <p:nvPicPr>
          <p:cNvPr id="21" name="Picture 20" descr="A screenshot of a cell phone&#10;&#10;Description automatically generated">
            <a:extLst>
              <a:ext uri="{FF2B5EF4-FFF2-40B4-BE49-F238E27FC236}">
                <a16:creationId xmlns:a16="http://schemas.microsoft.com/office/drawing/2014/main" id="{A6BF01BF-7C55-0248-B916-2D66FD6889C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3471" y="4276997"/>
            <a:ext cx="5198609" cy="846285"/>
          </a:xfrm>
          <a:prstGeom prst="rect">
            <a:avLst/>
          </a:prstGeom>
        </p:spPr>
      </p:pic>
      <p:sp>
        <p:nvSpPr>
          <p:cNvPr id="19" name="Down Arrow 18">
            <a:extLst>
              <a:ext uri="{FF2B5EF4-FFF2-40B4-BE49-F238E27FC236}">
                <a16:creationId xmlns:a16="http://schemas.microsoft.com/office/drawing/2014/main" id="{77F249C4-39B2-3343-9616-7BCF38DF1C7A}"/>
              </a:ext>
            </a:extLst>
          </p:cNvPr>
          <p:cNvSpPr/>
          <p:nvPr/>
        </p:nvSpPr>
        <p:spPr>
          <a:xfrm>
            <a:off x="2267744" y="5123282"/>
            <a:ext cx="288032" cy="36915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ight Arrow 21">
            <a:extLst>
              <a:ext uri="{FF2B5EF4-FFF2-40B4-BE49-F238E27FC236}">
                <a16:creationId xmlns:a16="http://schemas.microsoft.com/office/drawing/2014/main" id="{5D550BA4-CDCB-524A-B2E5-62790D031848}"/>
              </a:ext>
            </a:extLst>
          </p:cNvPr>
          <p:cNvSpPr/>
          <p:nvPr/>
        </p:nvSpPr>
        <p:spPr>
          <a:xfrm>
            <a:off x="5377865" y="4581836"/>
            <a:ext cx="405441" cy="21841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DF5C8605-52E9-8144-8DDD-784331388EF0}"/>
              </a:ext>
            </a:extLst>
          </p:cNvPr>
          <p:cNvSpPr txBox="1"/>
          <p:nvPr/>
        </p:nvSpPr>
        <p:spPr>
          <a:xfrm>
            <a:off x="102870" y="855814"/>
            <a:ext cx="9143999" cy="400110"/>
          </a:xfrm>
          <a:prstGeom prst="rect">
            <a:avLst/>
          </a:prstGeom>
          <a:noFill/>
        </p:spPr>
        <p:txBody>
          <a:bodyPr wrap="square" rtlCol="0">
            <a:spAutoFit/>
          </a:bodyPr>
          <a:lstStyle/>
          <a:p>
            <a:r>
              <a:rPr lang="en-AU" sz="2000" dirty="0"/>
              <a:t>EQ – How do I determine which variable is the explanatory and which is the response? </a:t>
            </a:r>
          </a:p>
        </p:txBody>
      </p:sp>
    </p:spTree>
    <p:extLst>
      <p:ext uri="{BB962C8B-B14F-4D97-AF65-F5344CB8AC3E}">
        <p14:creationId xmlns:p14="http://schemas.microsoft.com/office/powerpoint/2010/main" val="40112215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anim calcmode="lin" valueType="num">
                                      <p:cBhvr additive="base">
                                        <p:cTn id="11" dur="500" fill="hold"/>
                                        <p:tgtEl>
                                          <p:spTgt spid="13"/>
                                        </p:tgtEl>
                                        <p:attrNameLst>
                                          <p:attrName>ppt_x</p:attrName>
                                        </p:attrNameLst>
                                      </p:cBhvr>
                                      <p:tavLst>
                                        <p:tav tm="0">
                                          <p:val>
                                            <p:strVal val="#ppt_x"/>
                                          </p:val>
                                        </p:tav>
                                        <p:tav tm="100000">
                                          <p:val>
                                            <p:strVal val="#ppt_x"/>
                                          </p:val>
                                        </p:tav>
                                      </p:tavLst>
                                    </p:anim>
                                    <p:anim calcmode="lin" valueType="num">
                                      <p:cBhvr additive="base">
                                        <p:cTn id="12"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21"/>
                                        </p:tgtEl>
                                        <p:attrNameLst>
                                          <p:attrName>style.visibility</p:attrName>
                                        </p:attrNameLst>
                                      </p:cBhvr>
                                      <p:to>
                                        <p:strVal val="visible"/>
                                      </p:to>
                                    </p:set>
                                    <p:animEffect transition="in" filter="dissolve">
                                      <p:cBhvr>
                                        <p:cTn id="17" dur="500"/>
                                        <p:tgtEl>
                                          <p:spTgt spid="21"/>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grpId="0" nodeType="clickEffect">
                                  <p:stCondLst>
                                    <p:cond delay="0"/>
                                  </p:stCondLst>
                                  <p:childTnLst>
                                    <p:set>
                                      <p:cBhvr>
                                        <p:cTn id="21" dur="1" fill="hold">
                                          <p:stCondLst>
                                            <p:cond delay="0"/>
                                          </p:stCondLst>
                                        </p:cTn>
                                        <p:tgtEl>
                                          <p:spTgt spid="19"/>
                                        </p:tgtEl>
                                        <p:attrNameLst>
                                          <p:attrName>style.visibility</p:attrName>
                                        </p:attrNameLst>
                                      </p:cBhvr>
                                      <p:to>
                                        <p:strVal val="visible"/>
                                      </p:to>
                                    </p:set>
                                    <p:anim calcmode="lin" valueType="num">
                                      <p:cBhvr additive="base">
                                        <p:cTn id="22" dur="500" fill="hold"/>
                                        <p:tgtEl>
                                          <p:spTgt spid="19"/>
                                        </p:tgtEl>
                                        <p:attrNameLst>
                                          <p:attrName>ppt_x</p:attrName>
                                        </p:attrNameLst>
                                      </p:cBhvr>
                                      <p:tavLst>
                                        <p:tav tm="0">
                                          <p:val>
                                            <p:strVal val="#ppt_x"/>
                                          </p:val>
                                        </p:tav>
                                        <p:tav tm="100000">
                                          <p:val>
                                            <p:strVal val="#ppt_x"/>
                                          </p:val>
                                        </p:tav>
                                      </p:tavLst>
                                    </p:anim>
                                    <p:anim calcmode="lin" valueType="num">
                                      <p:cBhvr additive="base">
                                        <p:cTn id="23"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nodeType="click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blinds(horizontal)">
                                      <p:cBhvr>
                                        <p:cTn id="28" dur="500"/>
                                        <p:tgtEl>
                                          <p:spTgt spid="20"/>
                                        </p:tgtEl>
                                      </p:cBhvr>
                                    </p:animEffect>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22"/>
                                        </p:tgtEl>
                                        <p:attrNameLst>
                                          <p:attrName>style.visibility</p:attrName>
                                        </p:attrNameLst>
                                      </p:cBhvr>
                                      <p:to>
                                        <p:strVal val="visible"/>
                                      </p:to>
                                    </p:set>
                                    <p:anim calcmode="lin" valueType="num">
                                      <p:cBhvr additive="base">
                                        <p:cTn id="33" dur="500" fill="hold"/>
                                        <p:tgtEl>
                                          <p:spTgt spid="22"/>
                                        </p:tgtEl>
                                        <p:attrNameLst>
                                          <p:attrName>ppt_x</p:attrName>
                                        </p:attrNameLst>
                                      </p:cBhvr>
                                      <p:tavLst>
                                        <p:tav tm="0">
                                          <p:val>
                                            <p:strVal val="#ppt_x"/>
                                          </p:val>
                                        </p:tav>
                                        <p:tav tm="100000">
                                          <p:val>
                                            <p:strVal val="#ppt_x"/>
                                          </p:val>
                                        </p:tav>
                                      </p:tavLst>
                                    </p:anim>
                                    <p:anim calcmode="lin" valueType="num">
                                      <p:cBhvr additive="base">
                                        <p:cTn id="34"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9" presetClass="entr" presetSubtype="0" fill="hold" nodeType="click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dissolve">
                                      <p:cBhvr>
                                        <p:cTn id="39"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9" grpId="0" animBg="1"/>
      <p:bldP spid="22"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a:off x="0" y="849907"/>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0" y="1311572"/>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93471" y="18910"/>
            <a:ext cx="576064" cy="830997"/>
          </a:xfrm>
          <a:prstGeom prst="rect">
            <a:avLst/>
          </a:prstGeom>
          <a:noFill/>
        </p:spPr>
        <p:txBody>
          <a:bodyPr wrap="square" rtlCol="0">
            <a:spAutoFit/>
          </a:bodyPr>
          <a:lstStyle/>
          <a:p>
            <a:r>
              <a:rPr lang="en-AU" sz="1600" dirty="0"/>
              <a:t>24</a:t>
            </a:r>
          </a:p>
          <a:p>
            <a:r>
              <a:rPr lang="en-AU" sz="1600" dirty="0"/>
              <a:t>7</a:t>
            </a:r>
          </a:p>
          <a:p>
            <a:r>
              <a:rPr lang="en-AU" sz="1600" dirty="0"/>
              <a:t>30</a:t>
            </a:r>
          </a:p>
        </p:txBody>
      </p:sp>
      <p:sp>
        <p:nvSpPr>
          <p:cNvPr id="10" name="TextBox 9"/>
          <p:cNvSpPr txBox="1"/>
          <p:nvPr/>
        </p:nvSpPr>
        <p:spPr>
          <a:xfrm>
            <a:off x="1115616" y="172798"/>
            <a:ext cx="2217979" cy="523220"/>
          </a:xfrm>
          <a:prstGeom prst="rect">
            <a:avLst/>
          </a:prstGeom>
          <a:noFill/>
        </p:spPr>
        <p:txBody>
          <a:bodyPr wrap="none" rtlCol="0">
            <a:spAutoFit/>
          </a:bodyPr>
          <a:lstStyle/>
          <a:p>
            <a:r>
              <a:rPr lang="en-AU" sz="2800" dirty="0"/>
              <a:t>Bivariate Data</a:t>
            </a:r>
          </a:p>
        </p:txBody>
      </p:sp>
      <p:sp>
        <p:nvSpPr>
          <p:cNvPr id="11" name="TextBox 10"/>
          <p:cNvSpPr txBox="1"/>
          <p:nvPr/>
        </p:nvSpPr>
        <p:spPr>
          <a:xfrm>
            <a:off x="7439175" y="106354"/>
            <a:ext cx="1584176" cy="461665"/>
          </a:xfrm>
          <a:prstGeom prst="rect">
            <a:avLst/>
          </a:prstGeom>
          <a:noFill/>
        </p:spPr>
        <p:txBody>
          <a:bodyPr wrap="square" rtlCol="0">
            <a:spAutoFit/>
          </a:bodyPr>
          <a:lstStyle/>
          <a:p>
            <a:r>
              <a:rPr lang="en-AU" sz="2400" dirty="0"/>
              <a:t>Date</a:t>
            </a:r>
          </a:p>
        </p:txBody>
      </p:sp>
      <p:sp>
        <p:nvSpPr>
          <p:cNvPr id="25" name="Rectangle 5"/>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112" tIns="914112" rIns="809370" bIns="914112" numCol="1" anchor="ctr" anchorCtr="0" compatLnSpc="1">
            <a:prstTxWarp prst="textNoShape">
              <a:avLst/>
            </a:prstTxWarp>
            <a:spAutoFit/>
          </a:bodyPr>
          <a:lstStyle/>
          <a:p>
            <a:endParaRPr lang="en-AU"/>
          </a:p>
        </p:txBody>
      </p:sp>
      <p:pic>
        <p:nvPicPr>
          <p:cNvPr id="20" name="Picture 19" descr="A screenshot of a cell phone&#10;&#10;Description automatically generated">
            <a:extLst>
              <a:ext uri="{FF2B5EF4-FFF2-40B4-BE49-F238E27FC236}">
                <a16:creationId xmlns:a16="http://schemas.microsoft.com/office/drawing/2014/main" id="{B2943000-7BC3-2742-B077-545E247D853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1520" y="2543999"/>
            <a:ext cx="5593257" cy="1248809"/>
          </a:xfrm>
          <a:prstGeom prst="rect">
            <a:avLst/>
          </a:prstGeom>
        </p:spPr>
      </p:pic>
      <p:pic>
        <p:nvPicPr>
          <p:cNvPr id="3" name="Picture 2" descr="A screenshot of a cell phone&#10;&#10;Description automatically generated">
            <a:extLst>
              <a:ext uri="{FF2B5EF4-FFF2-40B4-BE49-F238E27FC236}">
                <a16:creationId xmlns:a16="http://schemas.microsoft.com/office/drawing/2014/main" id="{197393C6-3F4E-1742-9008-EC8D9098449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4590" y="1519615"/>
            <a:ext cx="5881289" cy="957419"/>
          </a:xfrm>
          <a:prstGeom prst="rect">
            <a:avLst/>
          </a:prstGeom>
        </p:spPr>
      </p:pic>
      <p:sp>
        <p:nvSpPr>
          <p:cNvPr id="15" name="TextBox 14">
            <a:extLst>
              <a:ext uri="{FF2B5EF4-FFF2-40B4-BE49-F238E27FC236}">
                <a16:creationId xmlns:a16="http://schemas.microsoft.com/office/drawing/2014/main" id="{5A2507CC-E086-DB4E-B58D-961CAA8A2A05}"/>
              </a:ext>
            </a:extLst>
          </p:cNvPr>
          <p:cNvSpPr txBox="1"/>
          <p:nvPr/>
        </p:nvSpPr>
        <p:spPr>
          <a:xfrm>
            <a:off x="93471" y="4508658"/>
            <a:ext cx="9050529" cy="646330"/>
          </a:xfrm>
          <a:prstGeom prst="rect">
            <a:avLst/>
          </a:prstGeom>
          <a:noFill/>
        </p:spPr>
        <p:txBody>
          <a:bodyPr wrap="square" rtlCol="0">
            <a:spAutoFit/>
          </a:bodyPr>
          <a:lstStyle/>
          <a:p>
            <a:r>
              <a:rPr lang="en-US" dirty="0"/>
              <a:t>Deciding whether to use row percentages or column percentages depends on the </a:t>
            </a:r>
            <a:r>
              <a:rPr lang="en-US" b="1" i="1" dirty="0"/>
              <a:t>explanatory</a:t>
            </a:r>
            <a:r>
              <a:rPr lang="en-US" dirty="0"/>
              <a:t> variable. </a:t>
            </a:r>
          </a:p>
        </p:txBody>
      </p:sp>
      <p:pic>
        <p:nvPicPr>
          <p:cNvPr id="8" name="Picture 7" descr="A picture containing bird&#10;&#10;Description automatically generated">
            <a:extLst>
              <a:ext uri="{FF2B5EF4-FFF2-40B4-BE49-F238E27FC236}">
                <a16:creationId xmlns:a16="http://schemas.microsoft.com/office/drawing/2014/main" id="{EB04F240-E448-3846-A22B-F140ED25D4E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51520" y="5363031"/>
            <a:ext cx="8771831" cy="1197986"/>
          </a:xfrm>
          <a:prstGeom prst="rect">
            <a:avLst/>
          </a:prstGeom>
        </p:spPr>
      </p:pic>
      <p:sp>
        <p:nvSpPr>
          <p:cNvPr id="9" name="TextBox 8">
            <a:extLst>
              <a:ext uri="{FF2B5EF4-FFF2-40B4-BE49-F238E27FC236}">
                <a16:creationId xmlns:a16="http://schemas.microsoft.com/office/drawing/2014/main" id="{B5C0E6E3-DFC3-9847-AEAB-D681609E1D5D}"/>
              </a:ext>
            </a:extLst>
          </p:cNvPr>
          <p:cNvSpPr txBox="1"/>
          <p:nvPr/>
        </p:nvSpPr>
        <p:spPr>
          <a:xfrm>
            <a:off x="6295404" y="1438293"/>
            <a:ext cx="2664296" cy="2862322"/>
          </a:xfrm>
          <a:prstGeom prst="rect">
            <a:avLst/>
          </a:prstGeom>
          <a:noFill/>
        </p:spPr>
        <p:txBody>
          <a:bodyPr wrap="square" rtlCol="0">
            <a:spAutoFit/>
          </a:bodyPr>
          <a:lstStyle/>
          <a:p>
            <a:r>
              <a:rPr lang="en-US" dirty="0"/>
              <a:t>In this case, gender is the explanatory variable and mode of transport is the response variable (we are wondering if gender will explain mode of transport) and gender uses rows, we therefore use row percentages for our tables</a:t>
            </a:r>
          </a:p>
        </p:txBody>
      </p:sp>
      <p:sp>
        <p:nvSpPr>
          <p:cNvPr id="19" name="TextBox 18">
            <a:extLst>
              <a:ext uri="{FF2B5EF4-FFF2-40B4-BE49-F238E27FC236}">
                <a16:creationId xmlns:a16="http://schemas.microsoft.com/office/drawing/2014/main" id="{35CA7A3D-A485-7B43-AD03-82E51C59FB84}"/>
              </a:ext>
            </a:extLst>
          </p:cNvPr>
          <p:cNvSpPr txBox="1"/>
          <p:nvPr/>
        </p:nvSpPr>
        <p:spPr>
          <a:xfrm>
            <a:off x="102870" y="855814"/>
            <a:ext cx="9143999" cy="400110"/>
          </a:xfrm>
          <a:prstGeom prst="rect">
            <a:avLst/>
          </a:prstGeom>
          <a:noFill/>
        </p:spPr>
        <p:txBody>
          <a:bodyPr wrap="square" rtlCol="0">
            <a:spAutoFit/>
          </a:bodyPr>
          <a:lstStyle/>
          <a:p>
            <a:r>
              <a:rPr lang="en-AU" sz="2000" dirty="0"/>
              <a:t>EQ – How do I determine which variable is the explanatory and which is the response? </a:t>
            </a:r>
          </a:p>
        </p:txBody>
      </p:sp>
    </p:spTree>
    <p:extLst>
      <p:ext uri="{BB962C8B-B14F-4D97-AF65-F5344CB8AC3E}">
        <p14:creationId xmlns:p14="http://schemas.microsoft.com/office/powerpoint/2010/main" val="13715399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5" presetClass="entr" presetSubtype="1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checkerboard(across)">
                                      <p:cBhvr>
                                        <p:cTn id="11" dur="500"/>
                                        <p:tgtEl>
                                          <p:spTgt spid="8"/>
                                        </p:tgtEl>
                                      </p:cBhvr>
                                    </p:animEffec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grpId="0" nodeType="click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blinds(horizontal)">
                                      <p:cBhvr>
                                        <p:cTn id="16"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9"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screenshot of a cell phone&#10;&#10;Description automatically generated">
            <a:extLst>
              <a:ext uri="{FF2B5EF4-FFF2-40B4-BE49-F238E27FC236}">
                <a16:creationId xmlns:a16="http://schemas.microsoft.com/office/drawing/2014/main" id="{B1835579-8DD9-B44C-9223-5313E85D5D4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9181" y="332656"/>
            <a:ext cx="8382900" cy="3819566"/>
          </a:xfrm>
          <a:prstGeom prst="rect">
            <a:avLst/>
          </a:prstGeom>
        </p:spPr>
      </p:pic>
      <p:pic>
        <p:nvPicPr>
          <p:cNvPr id="14" name="Picture 13" descr="A picture containing bird&#10;&#10;Description automatically generated">
            <a:extLst>
              <a:ext uri="{FF2B5EF4-FFF2-40B4-BE49-F238E27FC236}">
                <a16:creationId xmlns:a16="http://schemas.microsoft.com/office/drawing/2014/main" id="{78FB1070-3B76-464A-8257-056C7AED23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4949" y="4581128"/>
            <a:ext cx="8414543" cy="1540020"/>
          </a:xfrm>
          <a:prstGeom prst="rect">
            <a:avLst/>
          </a:prstGeom>
        </p:spPr>
      </p:pic>
    </p:spTree>
    <p:extLst>
      <p:ext uri="{BB962C8B-B14F-4D97-AF65-F5344CB8AC3E}">
        <p14:creationId xmlns:p14="http://schemas.microsoft.com/office/powerpoint/2010/main" val="25422840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ppt_x"/>
                                          </p:val>
                                        </p:tav>
                                        <p:tav tm="100000">
                                          <p:val>
                                            <p:strVal val="#ppt_x"/>
                                          </p:val>
                                        </p:tav>
                                      </p:tavLst>
                                    </p:anim>
                                    <p:anim calcmode="lin" valueType="num">
                                      <p:cBhvr additive="base">
                                        <p:cTn id="8"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A9F529C3-C941-49FD-8C67-82F134F64B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chemeClr val="tx1">
              <a:lumMod val="50000"/>
              <a:lumOff val="5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20586029-32A0-47E5-9AEC-AE3ABA6B9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7759" y="480060"/>
            <a:ext cx="8428482" cy="5897880"/>
          </a:xfrm>
          <a:prstGeom prst="rect">
            <a:avLst/>
          </a:prstGeom>
          <a:solidFill>
            <a:srgbClr val="FFFFFF"/>
          </a:solidFill>
          <a:ln w="9525">
            <a:noFill/>
          </a:ln>
          <a:effectLst>
            <a:outerShdw blurRad="63500" dist="17780" dir="5400000" algn="t" rotWithShape="0">
              <a:prstClr val="black">
                <a:alpha val="4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16" descr="A screenshot of a cell phone&#10;&#10;Description automatically generated">
            <a:extLst>
              <a:ext uri="{FF2B5EF4-FFF2-40B4-BE49-F238E27FC236}">
                <a16:creationId xmlns:a16="http://schemas.microsoft.com/office/drawing/2014/main" id="{6629F653-A183-1843-AFDE-B8D265CFCA4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2600" y="2475950"/>
            <a:ext cx="3971037" cy="1906097"/>
          </a:xfrm>
          <a:prstGeom prst="rect">
            <a:avLst/>
          </a:prstGeom>
        </p:spPr>
      </p:pic>
      <p:cxnSp>
        <p:nvCxnSpPr>
          <p:cNvPr id="26" name="Straight Connector 25">
            <a:extLst>
              <a:ext uri="{FF2B5EF4-FFF2-40B4-BE49-F238E27FC236}">
                <a16:creationId xmlns:a16="http://schemas.microsoft.com/office/drawing/2014/main" id="{8C730EAB-A532-4295-A302-FB4B90DB9F5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559968" y="1143000"/>
            <a:ext cx="0" cy="4572000"/>
          </a:xfrm>
          <a:prstGeom prst="line">
            <a:avLst/>
          </a:prstGeom>
          <a:ln>
            <a:solidFill>
              <a:srgbClr val="4E4E4E"/>
            </a:solidFill>
          </a:ln>
        </p:spPr>
        <p:style>
          <a:lnRef idx="1">
            <a:schemeClr val="accent1"/>
          </a:lnRef>
          <a:fillRef idx="0">
            <a:schemeClr val="accent1"/>
          </a:fillRef>
          <a:effectRef idx="0">
            <a:schemeClr val="accent1"/>
          </a:effectRef>
          <a:fontRef idx="minor">
            <a:schemeClr val="tx1"/>
          </a:fontRef>
        </p:style>
      </p:cxnSp>
      <p:pic>
        <p:nvPicPr>
          <p:cNvPr id="3" name="Picture 2" descr="A screenshot of a cell phone&#10;&#10;Description automatically generated">
            <a:extLst>
              <a:ext uri="{FF2B5EF4-FFF2-40B4-BE49-F238E27FC236}">
                <a16:creationId xmlns:a16="http://schemas.microsoft.com/office/drawing/2014/main" id="{60E09520-1467-764B-A158-A86E4C9BA1E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90362" y="2292291"/>
            <a:ext cx="3971037" cy="2273418"/>
          </a:xfrm>
          <a:prstGeom prst="rect">
            <a:avLst/>
          </a:prstGeom>
        </p:spPr>
      </p:pic>
    </p:spTree>
    <p:extLst>
      <p:ext uri="{BB962C8B-B14F-4D97-AF65-F5344CB8AC3E}">
        <p14:creationId xmlns:p14="http://schemas.microsoft.com/office/powerpoint/2010/main" val="23345788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blinds(horizontal)">
                                      <p:cBhvr>
                                        <p:cTn id="7" dur="5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checkerboard(across)">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a:off x="0" y="849907"/>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0" y="1311572"/>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93471" y="18910"/>
            <a:ext cx="576064" cy="830997"/>
          </a:xfrm>
          <a:prstGeom prst="rect">
            <a:avLst/>
          </a:prstGeom>
          <a:noFill/>
        </p:spPr>
        <p:txBody>
          <a:bodyPr wrap="square" rtlCol="0">
            <a:spAutoFit/>
          </a:bodyPr>
          <a:lstStyle/>
          <a:p>
            <a:r>
              <a:rPr lang="en-AU" sz="1600" dirty="0"/>
              <a:t>24</a:t>
            </a:r>
          </a:p>
          <a:p>
            <a:r>
              <a:rPr lang="en-AU" sz="1600" dirty="0"/>
              <a:t>7</a:t>
            </a:r>
          </a:p>
          <a:p>
            <a:r>
              <a:rPr lang="en-AU" sz="1600" dirty="0"/>
              <a:t>30</a:t>
            </a:r>
          </a:p>
        </p:txBody>
      </p:sp>
      <p:sp>
        <p:nvSpPr>
          <p:cNvPr id="10" name="TextBox 9"/>
          <p:cNvSpPr txBox="1"/>
          <p:nvPr/>
        </p:nvSpPr>
        <p:spPr>
          <a:xfrm>
            <a:off x="1115616" y="172798"/>
            <a:ext cx="2217979" cy="523220"/>
          </a:xfrm>
          <a:prstGeom prst="rect">
            <a:avLst/>
          </a:prstGeom>
          <a:noFill/>
        </p:spPr>
        <p:txBody>
          <a:bodyPr wrap="none" rtlCol="0">
            <a:spAutoFit/>
          </a:bodyPr>
          <a:lstStyle/>
          <a:p>
            <a:r>
              <a:rPr lang="en-AU" sz="2800" dirty="0"/>
              <a:t>Bivariate Data</a:t>
            </a:r>
          </a:p>
        </p:txBody>
      </p:sp>
      <p:sp>
        <p:nvSpPr>
          <p:cNvPr id="11" name="TextBox 10"/>
          <p:cNvSpPr txBox="1"/>
          <p:nvPr/>
        </p:nvSpPr>
        <p:spPr>
          <a:xfrm>
            <a:off x="7439175" y="106354"/>
            <a:ext cx="1584176" cy="461665"/>
          </a:xfrm>
          <a:prstGeom prst="rect">
            <a:avLst/>
          </a:prstGeom>
          <a:noFill/>
        </p:spPr>
        <p:txBody>
          <a:bodyPr wrap="square" rtlCol="0">
            <a:spAutoFit/>
          </a:bodyPr>
          <a:lstStyle/>
          <a:p>
            <a:r>
              <a:rPr lang="en-AU" sz="2400" dirty="0"/>
              <a:t>Date</a:t>
            </a:r>
          </a:p>
        </p:txBody>
      </p:sp>
      <p:sp>
        <p:nvSpPr>
          <p:cNvPr id="25" name="Rectangle 5"/>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112" tIns="914112" rIns="809370" bIns="914112" numCol="1" anchor="ctr" anchorCtr="0" compatLnSpc="1">
            <a:prstTxWarp prst="textNoShape">
              <a:avLst/>
            </a:prstTxWarp>
            <a:spAutoFit/>
          </a:bodyPr>
          <a:lstStyle/>
          <a:p>
            <a:endParaRPr lang="en-AU"/>
          </a:p>
        </p:txBody>
      </p:sp>
      <p:sp>
        <p:nvSpPr>
          <p:cNvPr id="5" name="TextBox 4">
            <a:extLst>
              <a:ext uri="{FF2B5EF4-FFF2-40B4-BE49-F238E27FC236}">
                <a16:creationId xmlns:a16="http://schemas.microsoft.com/office/drawing/2014/main" id="{4BCFA7F2-F390-1A4A-83E9-9E2CE6A89D14}"/>
              </a:ext>
            </a:extLst>
          </p:cNvPr>
          <p:cNvSpPr txBox="1"/>
          <p:nvPr/>
        </p:nvSpPr>
        <p:spPr>
          <a:xfrm>
            <a:off x="1403648" y="1773236"/>
            <a:ext cx="7920881" cy="523220"/>
          </a:xfrm>
          <a:prstGeom prst="rect">
            <a:avLst/>
          </a:prstGeom>
          <a:noFill/>
        </p:spPr>
        <p:txBody>
          <a:bodyPr wrap="square" rtlCol="0">
            <a:spAutoFit/>
          </a:bodyPr>
          <a:lstStyle/>
          <a:p>
            <a:r>
              <a:rPr lang="en-US" sz="2800" dirty="0"/>
              <a:t>Please complete Sadler Unit 3 Exercise 1B</a:t>
            </a:r>
          </a:p>
        </p:txBody>
      </p:sp>
      <p:sp>
        <p:nvSpPr>
          <p:cNvPr id="13" name="TextBox 12">
            <a:extLst>
              <a:ext uri="{FF2B5EF4-FFF2-40B4-BE49-F238E27FC236}">
                <a16:creationId xmlns:a16="http://schemas.microsoft.com/office/drawing/2014/main" id="{8E5E35C9-EF85-B245-BECB-3D616198DD2D}"/>
              </a:ext>
            </a:extLst>
          </p:cNvPr>
          <p:cNvSpPr txBox="1"/>
          <p:nvPr/>
        </p:nvSpPr>
        <p:spPr>
          <a:xfrm>
            <a:off x="102870" y="855814"/>
            <a:ext cx="9143999" cy="400110"/>
          </a:xfrm>
          <a:prstGeom prst="rect">
            <a:avLst/>
          </a:prstGeom>
          <a:noFill/>
        </p:spPr>
        <p:txBody>
          <a:bodyPr wrap="square" rtlCol="0">
            <a:spAutoFit/>
          </a:bodyPr>
          <a:lstStyle/>
          <a:p>
            <a:r>
              <a:rPr lang="en-AU" sz="2000" dirty="0"/>
              <a:t>EQ – How do I determine which variable is the explanatory and which is the response? </a:t>
            </a:r>
          </a:p>
        </p:txBody>
      </p:sp>
    </p:spTree>
    <p:extLst>
      <p:ext uri="{BB962C8B-B14F-4D97-AF65-F5344CB8AC3E}">
        <p14:creationId xmlns:p14="http://schemas.microsoft.com/office/powerpoint/2010/main" val="23113363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a:off x="0" y="849907"/>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0" y="1311572"/>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93471" y="18910"/>
            <a:ext cx="576064" cy="830997"/>
          </a:xfrm>
          <a:prstGeom prst="rect">
            <a:avLst/>
          </a:prstGeom>
          <a:noFill/>
        </p:spPr>
        <p:txBody>
          <a:bodyPr wrap="square" rtlCol="0">
            <a:spAutoFit/>
          </a:bodyPr>
          <a:lstStyle/>
          <a:p>
            <a:r>
              <a:rPr lang="en-AU" sz="1600" dirty="0"/>
              <a:t>24</a:t>
            </a:r>
          </a:p>
          <a:p>
            <a:r>
              <a:rPr lang="en-AU" sz="1600" dirty="0"/>
              <a:t>7</a:t>
            </a:r>
          </a:p>
          <a:p>
            <a:r>
              <a:rPr lang="en-AU" sz="1600" dirty="0"/>
              <a:t>30</a:t>
            </a:r>
          </a:p>
        </p:txBody>
      </p:sp>
      <p:sp>
        <p:nvSpPr>
          <p:cNvPr id="10" name="TextBox 9"/>
          <p:cNvSpPr txBox="1"/>
          <p:nvPr/>
        </p:nvSpPr>
        <p:spPr>
          <a:xfrm>
            <a:off x="1115616" y="172798"/>
            <a:ext cx="2217979" cy="523220"/>
          </a:xfrm>
          <a:prstGeom prst="rect">
            <a:avLst/>
          </a:prstGeom>
          <a:noFill/>
        </p:spPr>
        <p:txBody>
          <a:bodyPr wrap="none" rtlCol="0">
            <a:spAutoFit/>
          </a:bodyPr>
          <a:lstStyle/>
          <a:p>
            <a:r>
              <a:rPr lang="en-AU" sz="2800" dirty="0"/>
              <a:t>Bivariate Data</a:t>
            </a:r>
          </a:p>
        </p:txBody>
      </p:sp>
      <p:sp>
        <p:nvSpPr>
          <p:cNvPr id="11" name="TextBox 10"/>
          <p:cNvSpPr txBox="1"/>
          <p:nvPr/>
        </p:nvSpPr>
        <p:spPr>
          <a:xfrm>
            <a:off x="7439175" y="106354"/>
            <a:ext cx="1584176" cy="461665"/>
          </a:xfrm>
          <a:prstGeom prst="rect">
            <a:avLst/>
          </a:prstGeom>
          <a:noFill/>
        </p:spPr>
        <p:txBody>
          <a:bodyPr wrap="square" rtlCol="0">
            <a:spAutoFit/>
          </a:bodyPr>
          <a:lstStyle/>
          <a:p>
            <a:r>
              <a:rPr lang="en-AU" sz="2400" dirty="0"/>
              <a:t>Date</a:t>
            </a:r>
          </a:p>
        </p:txBody>
      </p:sp>
      <p:sp>
        <p:nvSpPr>
          <p:cNvPr id="12" name="TextBox 11"/>
          <p:cNvSpPr txBox="1"/>
          <p:nvPr/>
        </p:nvSpPr>
        <p:spPr>
          <a:xfrm>
            <a:off x="93471" y="849907"/>
            <a:ext cx="8620422" cy="461665"/>
          </a:xfrm>
          <a:prstGeom prst="rect">
            <a:avLst/>
          </a:prstGeom>
          <a:noFill/>
        </p:spPr>
        <p:txBody>
          <a:bodyPr wrap="square" rtlCol="0">
            <a:spAutoFit/>
          </a:bodyPr>
          <a:lstStyle/>
          <a:p>
            <a:r>
              <a:rPr lang="en-AU" sz="2400" dirty="0"/>
              <a:t>EQ – How can I display numerical data more suitably? </a:t>
            </a:r>
          </a:p>
        </p:txBody>
      </p:sp>
      <p:sp>
        <p:nvSpPr>
          <p:cNvPr id="25" name="Rectangle 5"/>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112" tIns="914112" rIns="809370" bIns="914112" numCol="1" anchor="ctr" anchorCtr="0" compatLnSpc="1">
            <a:prstTxWarp prst="textNoShape">
              <a:avLst/>
            </a:prstTxWarp>
            <a:spAutoFit/>
          </a:bodyPr>
          <a:lstStyle/>
          <a:p>
            <a:endParaRPr lang="en-AU"/>
          </a:p>
        </p:txBody>
      </p:sp>
      <p:sp>
        <p:nvSpPr>
          <p:cNvPr id="2" name="Rectangle 1"/>
          <p:cNvSpPr/>
          <p:nvPr/>
        </p:nvSpPr>
        <p:spPr>
          <a:xfrm>
            <a:off x="97921" y="1412776"/>
            <a:ext cx="8925430" cy="646331"/>
          </a:xfrm>
          <a:prstGeom prst="rect">
            <a:avLst/>
          </a:prstGeom>
        </p:spPr>
        <p:txBody>
          <a:bodyPr wrap="square">
            <a:spAutoFit/>
          </a:bodyPr>
          <a:lstStyle/>
          <a:p>
            <a:r>
              <a:rPr lang="en-AU" dirty="0"/>
              <a:t>Let’s revisit our original case comparing consumption of a particular food and rates of death due to heart disease</a:t>
            </a:r>
          </a:p>
        </p:txBody>
      </p:sp>
      <p:sp>
        <p:nvSpPr>
          <p:cNvPr id="5" name="Rectangle 2"/>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AU"/>
          </a:p>
        </p:txBody>
      </p:sp>
      <p:sp>
        <p:nvSpPr>
          <p:cNvPr id="8" name="Rectangle 3"/>
          <p:cNvSpPr>
            <a:spLocks noChangeArrowheads="1"/>
          </p:cNvSpPr>
          <p:nvPr/>
        </p:nvSpPr>
        <p:spPr bwMode="auto">
          <a:xfrm>
            <a:off x="0" y="27908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pic>
        <p:nvPicPr>
          <p:cNvPr id="14" name="Picture 13" descr="A screenshot of a cell phone&#10;&#10;Description automatically generated">
            <a:extLst>
              <a:ext uri="{FF2B5EF4-FFF2-40B4-BE49-F238E27FC236}">
                <a16:creationId xmlns:a16="http://schemas.microsoft.com/office/drawing/2014/main" id="{148BBF08-A920-3146-9184-D3A55F970F4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91680" y="2011938"/>
            <a:ext cx="5400600" cy="4815169"/>
          </a:xfrm>
          <a:prstGeom prst="rect">
            <a:avLst/>
          </a:prstGeom>
        </p:spPr>
      </p:pic>
    </p:spTree>
    <p:extLst>
      <p:ext uri="{BB962C8B-B14F-4D97-AF65-F5344CB8AC3E}">
        <p14:creationId xmlns:p14="http://schemas.microsoft.com/office/powerpoint/2010/main" val="34572162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blinds(horizontal)">
                                      <p:cBhvr>
                                        <p:cTn id="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a:off x="0" y="849907"/>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0" y="1311572"/>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93471" y="18910"/>
            <a:ext cx="576064" cy="830997"/>
          </a:xfrm>
          <a:prstGeom prst="rect">
            <a:avLst/>
          </a:prstGeom>
          <a:noFill/>
        </p:spPr>
        <p:txBody>
          <a:bodyPr wrap="square" rtlCol="0">
            <a:spAutoFit/>
          </a:bodyPr>
          <a:lstStyle/>
          <a:p>
            <a:r>
              <a:rPr lang="en-AU" sz="1600" dirty="0"/>
              <a:t>24</a:t>
            </a:r>
          </a:p>
          <a:p>
            <a:r>
              <a:rPr lang="en-AU" sz="1600" dirty="0"/>
              <a:t>7</a:t>
            </a:r>
          </a:p>
          <a:p>
            <a:r>
              <a:rPr lang="en-AU" sz="1600" dirty="0"/>
              <a:t>30</a:t>
            </a:r>
          </a:p>
        </p:txBody>
      </p:sp>
      <p:sp>
        <p:nvSpPr>
          <p:cNvPr id="10" name="TextBox 9"/>
          <p:cNvSpPr txBox="1"/>
          <p:nvPr/>
        </p:nvSpPr>
        <p:spPr>
          <a:xfrm>
            <a:off x="1115616" y="172798"/>
            <a:ext cx="2217979" cy="523220"/>
          </a:xfrm>
          <a:prstGeom prst="rect">
            <a:avLst/>
          </a:prstGeom>
          <a:noFill/>
        </p:spPr>
        <p:txBody>
          <a:bodyPr wrap="none" rtlCol="0">
            <a:spAutoFit/>
          </a:bodyPr>
          <a:lstStyle/>
          <a:p>
            <a:r>
              <a:rPr lang="en-AU" sz="2800" dirty="0"/>
              <a:t>Bivariate Data</a:t>
            </a:r>
          </a:p>
        </p:txBody>
      </p:sp>
      <p:sp>
        <p:nvSpPr>
          <p:cNvPr id="11" name="TextBox 10"/>
          <p:cNvSpPr txBox="1"/>
          <p:nvPr/>
        </p:nvSpPr>
        <p:spPr>
          <a:xfrm>
            <a:off x="7439175" y="106354"/>
            <a:ext cx="1584176" cy="461665"/>
          </a:xfrm>
          <a:prstGeom prst="rect">
            <a:avLst/>
          </a:prstGeom>
          <a:noFill/>
        </p:spPr>
        <p:txBody>
          <a:bodyPr wrap="square" rtlCol="0">
            <a:spAutoFit/>
          </a:bodyPr>
          <a:lstStyle/>
          <a:p>
            <a:r>
              <a:rPr lang="en-AU" sz="2400" dirty="0"/>
              <a:t>Date</a:t>
            </a:r>
          </a:p>
        </p:txBody>
      </p:sp>
      <p:sp>
        <p:nvSpPr>
          <p:cNvPr id="12" name="TextBox 11"/>
          <p:cNvSpPr txBox="1"/>
          <p:nvPr/>
        </p:nvSpPr>
        <p:spPr>
          <a:xfrm>
            <a:off x="93471" y="849907"/>
            <a:ext cx="8620422" cy="461665"/>
          </a:xfrm>
          <a:prstGeom prst="rect">
            <a:avLst/>
          </a:prstGeom>
          <a:noFill/>
        </p:spPr>
        <p:txBody>
          <a:bodyPr wrap="square" rtlCol="0">
            <a:spAutoFit/>
          </a:bodyPr>
          <a:lstStyle/>
          <a:p>
            <a:r>
              <a:rPr lang="en-AU" sz="2400" dirty="0"/>
              <a:t>EQ – How can I display numerical data more suitably? </a:t>
            </a:r>
          </a:p>
        </p:txBody>
      </p:sp>
      <p:sp>
        <p:nvSpPr>
          <p:cNvPr id="25" name="Rectangle 5"/>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112" tIns="914112" rIns="809370" bIns="914112" numCol="1" anchor="ctr" anchorCtr="0" compatLnSpc="1">
            <a:prstTxWarp prst="textNoShape">
              <a:avLst/>
            </a:prstTxWarp>
            <a:spAutoFit/>
          </a:bodyPr>
          <a:lstStyle/>
          <a:p>
            <a:endParaRPr lang="en-AU"/>
          </a:p>
        </p:txBody>
      </p:sp>
      <p:sp>
        <p:nvSpPr>
          <p:cNvPr id="2" name="Rectangle 1"/>
          <p:cNvSpPr/>
          <p:nvPr/>
        </p:nvSpPr>
        <p:spPr>
          <a:xfrm>
            <a:off x="97921" y="1412776"/>
            <a:ext cx="8925430" cy="923330"/>
          </a:xfrm>
          <a:prstGeom prst="rect">
            <a:avLst/>
          </a:prstGeom>
        </p:spPr>
        <p:txBody>
          <a:bodyPr wrap="square">
            <a:spAutoFit/>
          </a:bodyPr>
          <a:lstStyle/>
          <a:p>
            <a:r>
              <a:rPr lang="en-AU" dirty="0"/>
              <a:t>Because both of these variables involve </a:t>
            </a:r>
            <a:r>
              <a:rPr lang="en-AU" i="1" dirty="0"/>
              <a:t>numerical</a:t>
            </a:r>
            <a:r>
              <a:rPr lang="en-AU" dirty="0"/>
              <a:t> data, as opposed to </a:t>
            </a:r>
            <a:r>
              <a:rPr lang="en-AU" i="1" dirty="0"/>
              <a:t>categorical</a:t>
            </a:r>
            <a:r>
              <a:rPr lang="en-AU" dirty="0"/>
              <a:t> data that other questions we’ve looked have had, a </a:t>
            </a:r>
            <a:r>
              <a:rPr lang="en-AU" b="1" dirty="0" err="1"/>
              <a:t>scattergraph</a:t>
            </a:r>
            <a:r>
              <a:rPr lang="en-AU" dirty="0"/>
              <a:t>, with one variable on the x-axis and one on the y-axis, is a more suitable form of display.</a:t>
            </a:r>
          </a:p>
        </p:txBody>
      </p:sp>
      <p:sp>
        <p:nvSpPr>
          <p:cNvPr id="5" name="Rectangle 2"/>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AU"/>
          </a:p>
        </p:txBody>
      </p:sp>
      <p:sp>
        <p:nvSpPr>
          <p:cNvPr id="8" name="Rectangle 3"/>
          <p:cNvSpPr>
            <a:spLocks noChangeArrowheads="1"/>
          </p:cNvSpPr>
          <p:nvPr/>
        </p:nvSpPr>
        <p:spPr bwMode="auto">
          <a:xfrm>
            <a:off x="0" y="27908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pic>
        <p:nvPicPr>
          <p:cNvPr id="9" name="Picture 8" descr="A screenshot of a cell phone&#10;&#10;Description automatically generated">
            <a:extLst>
              <a:ext uri="{FF2B5EF4-FFF2-40B4-BE49-F238E27FC236}">
                <a16:creationId xmlns:a16="http://schemas.microsoft.com/office/drawing/2014/main" id="{DA087795-F4D4-BB48-BAE5-3E3137DF285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3528" y="2543808"/>
            <a:ext cx="3994141" cy="3926316"/>
          </a:xfrm>
          <a:prstGeom prst="rect">
            <a:avLst/>
          </a:prstGeom>
        </p:spPr>
      </p:pic>
      <p:sp>
        <p:nvSpPr>
          <p:cNvPr id="13" name="TextBox 12">
            <a:extLst>
              <a:ext uri="{FF2B5EF4-FFF2-40B4-BE49-F238E27FC236}">
                <a16:creationId xmlns:a16="http://schemas.microsoft.com/office/drawing/2014/main" id="{87746014-EBC8-264C-B492-4CBE455E7BF6}"/>
              </a:ext>
            </a:extLst>
          </p:cNvPr>
          <p:cNvSpPr txBox="1"/>
          <p:nvPr/>
        </p:nvSpPr>
        <p:spPr>
          <a:xfrm>
            <a:off x="4674843" y="2258469"/>
            <a:ext cx="4307335" cy="4801314"/>
          </a:xfrm>
          <a:prstGeom prst="rect">
            <a:avLst/>
          </a:prstGeom>
          <a:noFill/>
        </p:spPr>
        <p:txBody>
          <a:bodyPr wrap="square" rtlCol="0">
            <a:spAutoFit/>
          </a:bodyPr>
          <a:lstStyle/>
          <a:p>
            <a:pPr marL="285750" indent="-285750">
              <a:buFont typeface="Arial" panose="020B0604020202020204" pitchFamily="34" charset="0"/>
              <a:buChar char="•"/>
            </a:pPr>
            <a:r>
              <a:rPr lang="en-US" dirty="0"/>
              <a:t>Notice that the points tend to form an oval shape, from lower left to upper right</a:t>
            </a:r>
          </a:p>
          <a:p>
            <a:pPr marL="285750" indent="-285750">
              <a:buFont typeface="Arial" panose="020B0604020202020204" pitchFamily="34" charset="0"/>
              <a:buChar char="•"/>
            </a:pPr>
            <a:r>
              <a:rPr lang="en-US" dirty="0"/>
              <a:t>This indicates that </a:t>
            </a:r>
            <a:r>
              <a:rPr lang="en-US" b="1" i="1" dirty="0"/>
              <a:t>in general</a:t>
            </a:r>
            <a:r>
              <a:rPr lang="en-US" dirty="0"/>
              <a:t>, countries with a lower consumption of a particular food have lower deaths due to heart disease.</a:t>
            </a:r>
          </a:p>
          <a:p>
            <a:pPr marL="285750" indent="-285750">
              <a:buFont typeface="Arial" panose="020B0604020202020204" pitchFamily="34" charset="0"/>
              <a:buChar char="•"/>
            </a:pPr>
            <a:r>
              <a:rPr lang="en-US" dirty="0"/>
              <a:t>We can say that there seems to be and </a:t>
            </a:r>
            <a:r>
              <a:rPr lang="en-US" b="1" dirty="0"/>
              <a:t>association</a:t>
            </a:r>
            <a:r>
              <a:rPr lang="en-US" dirty="0"/>
              <a:t> or </a:t>
            </a:r>
            <a:r>
              <a:rPr lang="en-US" b="1" dirty="0"/>
              <a:t>correlation</a:t>
            </a:r>
            <a:r>
              <a:rPr lang="en-US" dirty="0"/>
              <a:t> between the foodstuff consumption and the death rate due to heart disease.</a:t>
            </a:r>
          </a:p>
          <a:p>
            <a:pPr marL="285750" indent="-285750">
              <a:buFont typeface="Arial" panose="020B0604020202020204" pitchFamily="34" charset="0"/>
              <a:buChar char="•"/>
            </a:pPr>
            <a:r>
              <a:rPr lang="en-US" dirty="0"/>
              <a:t>Using proper mathematical language, we can attempt to </a:t>
            </a:r>
            <a:r>
              <a:rPr lang="en-US" dirty="0" err="1"/>
              <a:t>summarise</a:t>
            </a:r>
            <a:r>
              <a:rPr lang="en-US" dirty="0"/>
              <a:t> and underlying pattern or </a:t>
            </a:r>
            <a:r>
              <a:rPr lang="en-US" i="1" dirty="0"/>
              <a:t>trend</a:t>
            </a:r>
            <a:r>
              <a:rPr lang="en-US" dirty="0"/>
              <a:t> suggested by the points. Not every point will fit the trend, but we can comment on the general behavior.</a:t>
            </a:r>
          </a:p>
          <a:p>
            <a:pPr marL="285750" indent="-285750">
              <a:buFont typeface="Arial" panose="020B0604020202020204" pitchFamily="34" charset="0"/>
              <a:buChar char="•"/>
            </a:pPr>
            <a:endParaRPr lang="en-US" dirty="0"/>
          </a:p>
        </p:txBody>
      </p:sp>
      <mc:AlternateContent xmlns:mc="http://schemas.openxmlformats.org/markup-compatibility/2006">
        <mc:Choice xmlns:p14="http://schemas.microsoft.com/office/powerpoint/2010/main" xmlns:aink="http://schemas.microsoft.com/office/drawing/2016/ink" Requires="p14 aink">
          <p:contentPart p14:bwMode="auto" r:id="rId3">
            <p14:nvContentPartPr>
              <p14:cNvPr id="17" name="Ink 16">
                <a:extLst>
                  <a:ext uri="{FF2B5EF4-FFF2-40B4-BE49-F238E27FC236}">
                    <a16:creationId xmlns:a16="http://schemas.microsoft.com/office/drawing/2014/main" id="{EDEA5908-5D2B-124B-8EDC-8504FEE250BB}"/>
                  </a:ext>
                </a:extLst>
              </p14:cNvPr>
              <p14:cNvContentPartPr/>
              <p14:nvPr/>
            </p14:nvContentPartPr>
            <p14:xfrm>
              <a:off x="3713006" y="2258469"/>
              <a:ext cx="360" cy="360"/>
            </p14:xfrm>
          </p:contentPart>
        </mc:Choice>
        <mc:Fallback>
          <p:pic>
            <p:nvPicPr>
              <p:cNvPr id="17" name="Ink 16">
                <a:extLst>
                  <a:ext uri="{FF2B5EF4-FFF2-40B4-BE49-F238E27FC236}">
                    <a16:creationId xmlns:a16="http://schemas.microsoft.com/office/drawing/2014/main" id="{EDEA5908-5D2B-124B-8EDC-8504FEE250BB}"/>
                  </a:ext>
                </a:extLst>
              </p:cNvPr>
              <p:cNvPicPr/>
              <p:nvPr/>
            </p:nvPicPr>
            <p:blipFill>
              <a:blip r:embed="rId4"/>
              <a:stretch>
                <a:fillRect/>
              </a:stretch>
            </p:blipFill>
            <p:spPr>
              <a:xfrm>
                <a:off x="3695366" y="2150829"/>
                <a:ext cx="36000" cy="216000"/>
              </a:xfrm>
              <a:prstGeom prst="rect">
                <a:avLst/>
              </a:prstGeom>
            </p:spPr>
          </p:pic>
        </mc:Fallback>
      </mc:AlternateContent>
      <p:sp>
        <p:nvSpPr>
          <p:cNvPr id="26" name="Oval 25">
            <a:extLst>
              <a:ext uri="{FF2B5EF4-FFF2-40B4-BE49-F238E27FC236}">
                <a16:creationId xmlns:a16="http://schemas.microsoft.com/office/drawing/2014/main" id="{6AA5990C-29F0-48E4-97D3-8F97AB0D505F}"/>
              </a:ext>
            </a:extLst>
          </p:cNvPr>
          <p:cNvSpPr/>
          <p:nvPr/>
        </p:nvSpPr>
        <p:spPr>
          <a:xfrm rot="18672462">
            <a:off x="938801" y="3163250"/>
            <a:ext cx="3349813" cy="1474682"/>
          </a:xfrm>
          <a:prstGeom prst="ellipse">
            <a:avLst/>
          </a:prstGeom>
          <a:solidFill>
            <a:srgbClr val="000000">
              <a:alpha val="5000"/>
            </a:srgbClr>
          </a:solidFill>
          <a:ln w="360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nchorCtr="1"/>
          <a:lstStyle/>
          <a:p>
            <a:endParaRPr lang="en-US">
              <a:solidFill>
                <a:schemeClr val="tx2"/>
              </a:solidFill>
            </a:endParaRPr>
          </a:p>
        </p:txBody>
      </p:sp>
    </p:spTree>
    <p:extLst>
      <p:ext uri="{BB962C8B-B14F-4D97-AF65-F5344CB8AC3E}">
        <p14:creationId xmlns:p14="http://schemas.microsoft.com/office/powerpoint/2010/main" val="1102740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13">
                                            <p:txEl>
                                              <p:pRg st="0" end="0"/>
                                            </p:txEl>
                                          </p:spTgt>
                                        </p:tgtEl>
                                        <p:attrNameLst>
                                          <p:attrName>style.visibility</p:attrName>
                                        </p:attrNameLst>
                                      </p:cBhvr>
                                      <p:to>
                                        <p:strVal val="visible"/>
                                      </p:to>
                                    </p:set>
                                    <p:anim calcmode="lin" valueType="num">
                                      <p:cBhvr additive="base">
                                        <p:cTn id="11" dur="500" fill="hold"/>
                                        <p:tgtEl>
                                          <p:spTgt spid="13">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26"/>
                                        </p:tgtEl>
                                        <p:attrNameLst>
                                          <p:attrName>style.visibility</p:attrName>
                                        </p:attrNameLst>
                                      </p:cBhvr>
                                      <p:to>
                                        <p:strVal val="visible"/>
                                      </p:to>
                                    </p:set>
                                    <p:anim calcmode="lin" valueType="num">
                                      <p:cBhvr additive="base">
                                        <p:cTn id="17" dur="500" fill="hold"/>
                                        <p:tgtEl>
                                          <p:spTgt spid="26"/>
                                        </p:tgtEl>
                                        <p:attrNameLst>
                                          <p:attrName>ppt_x</p:attrName>
                                        </p:attrNameLst>
                                      </p:cBhvr>
                                      <p:tavLst>
                                        <p:tav tm="0">
                                          <p:val>
                                            <p:strVal val="#ppt_x"/>
                                          </p:val>
                                        </p:tav>
                                        <p:tav tm="100000">
                                          <p:val>
                                            <p:strVal val="#ppt_x"/>
                                          </p:val>
                                        </p:tav>
                                      </p:tavLst>
                                    </p:anim>
                                    <p:anim calcmode="lin" valueType="num">
                                      <p:cBhvr additive="base">
                                        <p:cTn id="18"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13">
                                            <p:txEl>
                                              <p:pRg st="1" end="1"/>
                                            </p:txEl>
                                          </p:spTgt>
                                        </p:tgtEl>
                                        <p:attrNameLst>
                                          <p:attrName>style.visibility</p:attrName>
                                        </p:attrNameLst>
                                      </p:cBhvr>
                                      <p:to>
                                        <p:strVal val="visible"/>
                                      </p:to>
                                    </p:set>
                                    <p:anim calcmode="lin" valueType="num">
                                      <p:cBhvr additive="base">
                                        <p:cTn id="23" dur="500" fill="hold"/>
                                        <p:tgtEl>
                                          <p:spTgt spid="13">
                                            <p:txEl>
                                              <p:pRg st="1" end="1"/>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13">
                                            <p:txEl>
                                              <p:pRg st="2" end="2"/>
                                            </p:txEl>
                                          </p:spTgt>
                                        </p:tgtEl>
                                        <p:attrNameLst>
                                          <p:attrName>style.visibility</p:attrName>
                                        </p:attrNameLst>
                                      </p:cBhvr>
                                      <p:to>
                                        <p:strVal val="visible"/>
                                      </p:to>
                                    </p:set>
                                    <p:anim calcmode="lin" valueType="num">
                                      <p:cBhvr additive="base">
                                        <p:cTn id="29" dur="500" fill="hold"/>
                                        <p:tgtEl>
                                          <p:spTgt spid="13">
                                            <p:txEl>
                                              <p:pRg st="2" end="2"/>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1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13">
                                            <p:txEl>
                                              <p:pRg st="3" end="3"/>
                                            </p:txEl>
                                          </p:spTgt>
                                        </p:tgtEl>
                                        <p:attrNameLst>
                                          <p:attrName>style.visibility</p:attrName>
                                        </p:attrNameLst>
                                      </p:cBhvr>
                                      <p:to>
                                        <p:strVal val="visible"/>
                                      </p:to>
                                    </p:set>
                                    <p:anim calcmode="lin" valueType="num">
                                      <p:cBhvr additive="base">
                                        <p:cTn id="35" dur="500" fill="hold"/>
                                        <p:tgtEl>
                                          <p:spTgt spid="13">
                                            <p:txEl>
                                              <p:pRg st="3" end="3"/>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1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a:off x="0" y="849907"/>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0" y="1311572"/>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93471" y="18910"/>
            <a:ext cx="576064" cy="830997"/>
          </a:xfrm>
          <a:prstGeom prst="rect">
            <a:avLst/>
          </a:prstGeom>
          <a:noFill/>
        </p:spPr>
        <p:txBody>
          <a:bodyPr wrap="square" rtlCol="0">
            <a:spAutoFit/>
          </a:bodyPr>
          <a:lstStyle/>
          <a:p>
            <a:r>
              <a:rPr lang="en-AU" sz="1600" dirty="0"/>
              <a:t>24</a:t>
            </a:r>
          </a:p>
          <a:p>
            <a:r>
              <a:rPr lang="en-AU" sz="1600" dirty="0"/>
              <a:t>7</a:t>
            </a:r>
          </a:p>
          <a:p>
            <a:r>
              <a:rPr lang="en-AU" sz="1600" dirty="0"/>
              <a:t>30</a:t>
            </a:r>
          </a:p>
        </p:txBody>
      </p:sp>
      <p:sp>
        <p:nvSpPr>
          <p:cNvPr id="10" name="TextBox 9"/>
          <p:cNvSpPr txBox="1"/>
          <p:nvPr/>
        </p:nvSpPr>
        <p:spPr>
          <a:xfrm>
            <a:off x="1115616" y="172798"/>
            <a:ext cx="2217979" cy="523220"/>
          </a:xfrm>
          <a:prstGeom prst="rect">
            <a:avLst/>
          </a:prstGeom>
          <a:noFill/>
        </p:spPr>
        <p:txBody>
          <a:bodyPr wrap="none" rtlCol="0">
            <a:spAutoFit/>
          </a:bodyPr>
          <a:lstStyle/>
          <a:p>
            <a:r>
              <a:rPr lang="en-AU" sz="2800" dirty="0"/>
              <a:t>Bivariate Data</a:t>
            </a:r>
          </a:p>
        </p:txBody>
      </p:sp>
      <p:sp>
        <p:nvSpPr>
          <p:cNvPr id="11" name="TextBox 10"/>
          <p:cNvSpPr txBox="1"/>
          <p:nvPr/>
        </p:nvSpPr>
        <p:spPr>
          <a:xfrm>
            <a:off x="7439175" y="106354"/>
            <a:ext cx="1584176" cy="461665"/>
          </a:xfrm>
          <a:prstGeom prst="rect">
            <a:avLst/>
          </a:prstGeom>
          <a:noFill/>
        </p:spPr>
        <p:txBody>
          <a:bodyPr wrap="square" rtlCol="0">
            <a:spAutoFit/>
          </a:bodyPr>
          <a:lstStyle/>
          <a:p>
            <a:r>
              <a:rPr lang="en-AU" sz="2400" dirty="0"/>
              <a:t>Date</a:t>
            </a:r>
          </a:p>
        </p:txBody>
      </p:sp>
      <p:sp>
        <p:nvSpPr>
          <p:cNvPr id="12" name="TextBox 11"/>
          <p:cNvSpPr txBox="1"/>
          <p:nvPr/>
        </p:nvSpPr>
        <p:spPr>
          <a:xfrm>
            <a:off x="93471" y="849907"/>
            <a:ext cx="8620422" cy="461665"/>
          </a:xfrm>
          <a:prstGeom prst="rect">
            <a:avLst/>
          </a:prstGeom>
          <a:noFill/>
        </p:spPr>
        <p:txBody>
          <a:bodyPr wrap="square" rtlCol="0">
            <a:spAutoFit/>
          </a:bodyPr>
          <a:lstStyle/>
          <a:p>
            <a:r>
              <a:rPr lang="en-AU" sz="2400" dirty="0"/>
              <a:t>EQ – How can I display numerical data more suitably? </a:t>
            </a:r>
          </a:p>
        </p:txBody>
      </p:sp>
      <p:sp>
        <p:nvSpPr>
          <p:cNvPr id="25" name="Rectangle 5"/>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112" tIns="914112" rIns="809370" bIns="914112" numCol="1" anchor="ctr" anchorCtr="0" compatLnSpc="1">
            <a:prstTxWarp prst="textNoShape">
              <a:avLst/>
            </a:prstTxWarp>
            <a:spAutoFit/>
          </a:bodyPr>
          <a:lstStyle/>
          <a:p>
            <a:endParaRPr lang="en-AU"/>
          </a:p>
        </p:txBody>
      </p:sp>
      <p:sp>
        <p:nvSpPr>
          <p:cNvPr id="5" name="Rectangle 2"/>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AU"/>
          </a:p>
        </p:txBody>
      </p:sp>
      <p:sp>
        <p:nvSpPr>
          <p:cNvPr id="8" name="Rectangle 3"/>
          <p:cNvSpPr>
            <a:spLocks noChangeArrowheads="1"/>
          </p:cNvSpPr>
          <p:nvPr/>
        </p:nvSpPr>
        <p:spPr bwMode="auto">
          <a:xfrm>
            <a:off x="0" y="27908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13" name="TextBox 12">
            <a:extLst>
              <a:ext uri="{FF2B5EF4-FFF2-40B4-BE49-F238E27FC236}">
                <a16:creationId xmlns:a16="http://schemas.microsoft.com/office/drawing/2014/main" id="{87746014-EBC8-264C-B492-4CBE455E7BF6}"/>
              </a:ext>
            </a:extLst>
          </p:cNvPr>
          <p:cNvSpPr txBox="1"/>
          <p:nvPr/>
        </p:nvSpPr>
        <p:spPr>
          <a:xfrm>
            <a:off x="4607021" y="1506949"/>
            <a:ext cx="4307335" cy="2308324"/>
          </a:xfrm>
          <a:prstGeom prst="rect">
            <a:avLst/>
          </a:prstGeom>
          <a:noFill/>
        </p:spPr>
        <p:txBody>
          <a:bodyPr wrap="square" rtlCol="0">
            <a:spAutoFit/>
          </a:bodyPr>
          <a:lstStyle/>
          <a:p>
            <a:pPr marL="285750" indent="-285750">
              <a:buFont typeface="Arial" panose="020B0604020202020204" pitchFamily="34" charset="0"/>
              <a:buChar char="•"/>
            </a:pPr>
            <a:r>
              <a:rPr lang="en-US" dirty="0"/>
              <a:t>Additionally, we could attempt to draw a straight line that seems to ‘best fit’ this data</a:t>
            </a:r>
          </a:p>
          <a:p>
            <a:pPr marL="285750" indent="-285750">
              <a:buFont typeface="Arial" panose="020B0604020202020204" pitchFamily="34" charset="0"/>
              <a:buChar char="•"/>
            </a:pPr>
            <a:r>
              <a:rPr lang="en-US" dirty="0"/>
              <a:t>In this way we could fit a </a:t>
            </a:r>
            <a:r>
              <a:rPr lang="en-US" b="1" dirty="0"/>
              <a:t>linear model</a:t>
            </a:r>
            <a:r>
              <a:rPr lang="en-US" dirty="0"/>
              <a:t> to the situation.</a:t>
            </a:r>
          </a:p>
          <a:p>
            <a:pPr marL="285750" indent="-285750">
              <a:buFont typeface="Arial" panose="020B0604020202020204" pitchFamily="34" charset="0"/>
              <a:buChar char="•"/>
            </a:pPr>
            <a:r>
              <a:rPr lang="en-US" dirty="0"/>
              <a:t>We can then use the model to make predictions.</a:t>
            </a:r>
          </a:p>
          <a:p>
            <a:pPr marL="285750" indent="-285750">
              <a:buFont typeface="Arial" panose="020B0604020202020204" pitchFamily="34" charset="0"/>
              <a:buChar char="•"/>
            </a:pPr>
            <a:endParaRPr lang="en-US" dirty="0"/>
          </a:p>
        </p:txBody>
      </p:sp>
      <mc:AlternateContent xmlns:mc="http://schemas.openxmlformats.org/markup-compatibility/2006">
        <mc:Choice xmlns:p14="http://schemas.microsoft.com/office/powerpoint/2010/main" xmlns:aink="http://schemas.microsoft.com/office/drawing/2016/ink" Requires="p14 aink">
          <p:contentPart p14:bwMode="auto" r:id="rId2">
            <p14:nvContentPartPr>
              <p14:cNvPr id="17" name="Ink 16">
                <a:extLst>
                  <a:ext uri="{FF2B5EF4-FFF2-40B4-BE49-F238E27FC236}">
                    <a16:creationId xmlns:a16="http://schemas.microsoft.com/office/drawing/2014/main" id="{EDEA5908-5D2B-124B-8EDC-8504FEE250BB}"/>
                  </a:ext>
                </a:extLst>
              </p14:cNvPr>
              <p14:cNvContentPartPr/>
              <p14:nvPr/>
            </p14:nvContentPartPr>
            <p14:xfrm>
              <a:off x="3713006" y="2258469"/>
              <a:ext cx="360" cy="360"/>
            </p14:xfrm>
          </p:contentPart>
        </mc:Choice>
        <mc:Fallback>
          <p:pic>
            <p:nvPicPr>
              <p:cNvPr id="17" name="Ink 16">
                <a:extLst>
                  <a:ext uri="{FF2B5EF4-FFF2-40B4-BE49-F238E27FC236}">
                    <a16:creationId xmlns:a16="http://schemas.microsoft.com/office/drawing/2014/main" id="{EDEA5908-5D2B-124B-8EDC-8504FEE250BB}"/>
                  </a:ext>
                </a:extLst>
              </p:cNvPr>
              <p:cNvPicPr/>
              <p:nvPr/>
            </p:nvPicPr>
            <p:blipFill>
              <a:blip r:embed="rId3"/>
              <a:stretch>
                <a:fillRect/>
              </a:stretch>
            </p:blipFill>
            <p:spPr>
              <a:xfrm>
                <a:off x="3695366" y="2150829"/>
                <a:ext cx="36000" cy="216000"/>
              </a:xfrm>
              <a:prstGeom prst="rect">
                <a:avLst/>
              </a:prstGeom>
            </p:spPr>
          </p:pic>
        </mc:Fallback>
      </mc:AlternateContent>
      <p:sp>
        <p:nvSpPr>
          <p:cNvPr id="28" name="TextBox 27">
            <a:extLst>
              <a:ext uri="{FF2B5EF4-FFF2-40B4-BE49-F238E27FC236}">
                <a16:creationId xmlns:a16="http://schemas.microsoft.com/office/drawing/2014/main" id="{76AAB4F9-4638-1C4F-BE54-4FDEC0828A4C}"/>
              </a:ext>
            </a:extLst>
          </p:cNvPr>
          <p:cNvSpPr txBox="1"/>
          <p:nvPr/>
        </p:nvSpPr>
        <p:spPr>
          <a:xfrm>
            <a:off x="4622708" y="3798814"/>
            <a:ext cx="4307335" cy="2031325"/>
          </a:xfrm>
          <a:prstGeom prst="rect">
            <a:avLst/>
          </a:prstGeom>
          <a:noFill/>
        </p:spPr>
        <p:txBody>
          <a:bodyPr wrap="square" rtlCol="0">
            <a:spAutoFit/>
          </a:bodyPr>
          <a:lstStyle/>
          <a:p>
            <a:pPr marL="285750" indent="-285750">
              <a:buFont typeface="Arial" panose="020B0604020202020204" pitchFamily="34" charset="0"/>
              <a:buChar char="•"/>
            </a:pPr>
            <a:r>
              <a:rPr lang="en-US" dirty="0"/>
              <a:t>For example, using our </a:t>
            </a:r>
            <a:r>
              <a:rPr lang="en-US" b="1" dirty="0"/>
              <a:t>line of best fit</a:t>
            </a:r>
            <a:r>
              <a:rPr lang="en-US" dirty="0"/>
              <a:t>, we could suggest that a country with an intake of 45kgs per person/</a:t>
            </a:r>
            <a:r>
              <a:rPr lang="en-US" dirty="0" err="1"/>
              <a:t>yr</a:t>
            </a:r>
            <a:r>
              <a:rPr lang="en-US" dirty="0"/>
              <a:t> of the particular food might have a heart disease death rate of approx. 230 persons per year per 100,000</a:t>
            </a:r>
            <a:endParaRPr lang="en-US" b="1" dirty="0"/>
          </a:p>
          <a:p>
            <a:pPr marL="285750" indent="-285750">
              <a:buFont typeface="Arial" panose="020B0604020202020204" pitchFamily="34" charset="0"/>
              <a:buChar char="•"/>
            </a:pPr>
            <a:endParaRPr lang="en-US" dirty="0"/>
          </a:p>
        </p:txBody>
      </p:sp>
      <p:pic>
        <p:nvPicPr>
          <p:cNvPr id="30" name="Picture 29" descr="A screenshot of a cell phone&#10;&#10;Description automatically generated">
            <a:extLst>
              <a:ext uri="{FF2B5EF4-FFF2-40B4-BE49-F238E27FC236}">
                <a16:creationId xmlns:a16="http://schemas.microsoft.com/office/drawing/2014/main" id="{D79725B9-C66A-0D44-B8DC-0B980C5DBE6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81502" y="1412776"/>
            <a:ext cx="3686441" cy="3658193"/>
          </a:xfrm>
          <a:prstGeom prst="rect">
            <a:avLst/>
          </a:prstGeom>
        </p:spPr>
      </p:pic>
      <p:pic>
        <p:nvPicPr>
          <p:cNvPr id="27" name="Picture 26" descr="A close up of a map&#10;&#10;Description automatically generated">
            <a:extLst>
              <a:ext uri="{FF2B5EF4-FFF2-40B4-BE49-F238E27FC236}">
                <a16:creationId xmlns:a16="http://schemas.microsoft.com/office/drawing/2014/main" id="{F98F475B-24DB-E747-8BEE-5127457942A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76950" y="3075576"/>
            <a:ext cx="3895310" cy="3763514"/>
          </a:xfrm>
          <a:prstGeom prst="rect">
            <a:avLst/>
          </a:prstGeom>
        </p:spPr>
      </p:pic>
      <p:sp>
        <p:nvSpPr>
          <p:cNvPr id="31" name="TextBox 30">
            <a:extLst>
              <a:ext uri="{FF2B5EF4-FFF2-40B4-BE49-F238E27FC236}">
                <a16:creationId xmlns:a16="http://schemas.microsoft.com/office/drawing/2014/main" id="{4F56128B-B97C-C94C-8857-17EAFBA0E43C}"/>
              </a:ext>
            </a:extLst>
          </p:cNvPr>
          <p:cNvSpPr txBox="1"/>
          <p:nvPr/>
        </p:nvSpPr>
        <p:spPr>
          <a:xfrm>
            <a:off x="4521293" y="5621626"/>
            <a:ext cx="4307335" cy="1200329"/>
          </a:xfrm>
          <a:prstGeom prst="rect">
            <a:avLst/>
          </a:prstGeom>
          <a:noFill/>
        </p:spPr>
        <p:txBody>
          <a:bodyPr wrap="square" rtlCol="0">
            <a:spAutoFit/>
          </a:bodyPr>
          <a:lstStyle/>
          <a:p>
            <a:r>
              <a:rPr lang="en-US" b="1" dirty="0"/>
              <a:t>Note:</a:t>
            </a:r>
            <a:r>
              <a:rPr lang="en-US" dirty="0"/>
              <a:t> We tend to plot the explanatory (independent) variable on the horizontal axis and response (dependent) variable on the vertical axis</a:t>
            </a:r>
            <a:endParaRPr lang="en-US" b="1" dirty="0"/>
          </a:p>
        </p:txBody>
      </p:sp>
    </p:spTree>
    <p:extLst>
      <p:ext uri="{BB962C8B-B14F-4D97-AF65-F5344CB8AC3E}">
        <p14:creationId xmlns:p14="http://schemas.microsoft.com/office/powerpoint/2010/main" val="15176045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 calcmode="lin" valueType="num">
                                      <p:cBhvr additive="base">
                                        <p:cTn id="7" dur="500" fill="hold"/>
                                        <p:tgtEl>
                                          <p:spTgt spid="1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30"/>
                                        </p:tgtEl>
                                        <p:attrNameLst>
                                          <p:attrName>style.visibility</p:attrName>
                                        </p:attrNameLst>
                                      </p:cBhvr>
                                      <p:to>
                                        <p:strVal val="visible"/>
                                      </p:to>
                                    </p:set>
                                    <p:animEffect transition="in" filter="blinds(horizontal)">
                                      <p:cBhvr>
                                        <p:cTn id="13" dur="500"/>
                                        <p:tgtEl>
                                          <p:spTgt spid="30"/>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13">
                                            <p:txEl>
                                              <p:pRg st="1" end="1"/>
                                            </p:txEl>
                                          </p:spTgt>
                                        </p:tgtEl>
                                        <p:attrNameLst>
                                          <p:attrName>style.visibility</p:attrName>
                                        </p:attrNameLst>
                                      </p:cBhvr>
                                      <p:to>
                                        <p:strVal val="visible"/>
                                      </p:to>
                                    </p:set>
                                    <p:anim calcmode="lin" valueType="num">
                                      <p:cBhvr additive="base">
                                        <p:cTn id="18" dur="500" fill="hold"/>
                                        <p:tgtEl>
                                          <p:spTgt spid="13">
                                            <p:txEl>
                                              <p:pRg st="1" end="1"/>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1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13">
                                            <p:txEl>
                                              <p:pRg st="2" end="2"/>
                                            </p:txEl>
                                          </p:spTgt>
                                        </p:tgtEl>
                                        <p:attrNameLst>
                                          <p:attrName>style.visibility</p:attrName>
                                        </p:attrNameLst>
                                      </p:cBhvr>
                                      <p:to>
                                        <p:strVal val="visible"/>
                                      </p:to>
                                    </p:set>
                                    <p:anim calcmode="lin" valueType="num">
                                      <p:cBhvr additive="base">
                                        <p:cTn id="24" dur="500" fill="hold"/>
                                        <p:tgtEl>
                                          <p:spTgt spid="13">
                                            <p:txEl>
                                              <p:pRg st="2" end="2"/>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1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nodeType="clickEffect">
                                  <p:stCondLst>
                                    <p:cond delay="0"/>
                                  </p:stCondLst>
                                  <p:childTnLst>
                                    <p:set>
                                      <p:cBhvr>
                                        <p:cTn id="29" dur="1" fill="hold">
                                          <p:stCondLst>
                                            <p:cond delay="0"/>
                                          </p:stCondLst>
                                        </p:cTn>
                                        <p:tgtEl>
                                          <p:spTgt spid="27"/>
                                        </p:tgtEl>
                                        <p:attrNameLst>
                                          <p:attrName>style.visibility</p:attrName>
                                        </p:attrNameLst>
                                      </p:cBhvr>
                                      <p:to>
                                        <p:strVal val="visible"/>
                                      </p:to>
                                    </p:set>
                                    <p:anim calcmode="lin" valueType="num">
                                      <p:cBhvr additive="base">
                                        <p:cTn id="30" dur="500" fill="hold"/>
                                        <p:tgtEl>
                                          <p:spTgt spid="27"/>
                                        </p:tgtEl>
                                        <p:attrNameLst>
                                          <p:attrName>ppt_x</p:attrName>
                                        </p:attrNameLst>
                                      </p:cBhvr>
                                      <p:tavLst>
                                        <p:tav tm="0">
                                          <p:val>
                                            <p:strVal val="#ppt_x"/>
                                          </p:val>
                                        </p:tav>
                                        <p:tav tm="100000">
                                          <p:val>
                                            <p:strVal val="#ppt_x"/>
                                          </p:val>
                                        </p:tav>
                                      </p:tavLst>
                                    </p:anim>
                                    <p:anim calcmode="lin" valueType="num">
                                      <p:cBhvr additive="base">
                                        <p:cTn id="31" dur="500" fill="hold"/>
                                        <p:tgtEl>
                                          <p:spTgt spid="27"/>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nodeType="clickEffect">
                                  <p:stCondLst>
                                    <p:cond delay="0"/>
                                  </p:stCondLst>
                                  <p:childTnLst>
                                    <p:set>
                                      <p:cBhvr>
                                        <p:cTn id="35" dur="1" fill="hold">
                                          <p:stCondLst>
                                            <p:cond delay="0"/>
                                          </p:stCondLst>
                                        </p:cTn>
                                        <p:tgtEl>
                                          <p:spTgt spid="28">
                                            <p:txEl>
                                              <p:pRg st="0" end="0"/>
                                            </p:txEl>
                                          </p:spTgt>
                                        </p:tgtEl>
                                        <p:attrNameLst>
                                          <p:attrName>style.visibility</p:attrName>
                                        </p:attrNameLst>
                                      </p:cBhvr>
                                      <p:to>
                                        <p:strVal val="visible"/>
                                      </p:to>
                                    </p:set>
                                    <p:anim calcmode="lin" valueType="num">
                                      <p:cBhvr additive="base">
                                        <p:cTn id="36" dur="500" fill="hold"/>
                                        <p:tgtEl>
                                          <p:spTgt spid="28">
                                            <p:txEl>
                                              <p:pRg st="0" end="0"/>
                                            </p:txEl>
                                          </p:spTgt>
                                        </p:tgtEl>
                                        <p:attrNameLst>
                                          <p:attrName>ppt_x</p:attrName>
                                        </p:attrNameLst>
                                      </p:cBhvr>
                                      <p:tavLst>
                                        <p:tav tm="0">
                                          <p:val>
                                            <p:strVal val="#ppt_x"/>
                                          </p:val>
                                        </p:tav>
                                        <p:tav tm="100000">
                                          <p:val>
                                            <p:strVal val="#ppt_x"/>
                                          </p:val>
                                        </p:tav>
                                      </p:tavLst>
                                    </p:anim>
                                    <p:anim calcmode="lin" valueType="num">
                                      <p:cBhvr additive="base">
                                        <p:cTn id="37" dur="500" fill="hold"/>
                                        <p:tgtEl>
                                          <p:spTgt spid="2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nodeType="clickEffect">
                                  <p:stCondLst>
                                    <p:cond delay="0"/>
                                  </p:stCondLst>
                                  <p:childTnLst>
                                    <p:set>
                                      <p:cBhvr>
                                        <p:cTn id="41" dur="1" fill="hold">
                                          <p:stCondLst>
                                            <p:cond delay="0"/>
                                          </p:stCondLst>
                                        </p:cTn>
                                        <p:tgtEl>
                                          <p:spTgt spid="31">
                                            <p:txEl>
                                              <p:pRg st="0" end="0"/>
                                            </p:txEl>
                                          </p:spTgt>
                                        </p:tgtEl>
                                        <p:attrNameLst>
                                          <p:attrName>style.visibility</p:attrName>
                                        </p:attrNameLst>
                                      </p:cBhvr>
                                      <p:to>
                                        <p:strVal val="visible"/>
                                      </p:to>
                                    </p:set>
                                    <p:anim calcmode="lin" valueType="num">
                                      <p:cBhvr additive="base">
                                        <p:cTn id="42" dur="500" fill="hold"/>
                                        <p:tgtEl>
                                          <p:spTgt spid="31">
                                            <p:txEl>
                                              <p:pRg st="0" end="0"/>
                                            </p:txEl>
                                          </p:spTgt>
                                        </p:tgtEl>
                                        <p:attrNameLst>
                                          <p:attrName>ppt_x</p:attrName>
                                        </p:attrNameLst>
                                      </p:cBhvr>
                                      <p:tavLst>
                                        <p:tav tm="0">
                                          <p:val>
                                            <p:strVal val="#ppt_x"/>
                                          </p:val>
                                        </p:tav>
                                        <p:tav tm="100000">
                                          <p:val>
                                            <p:strVal val="#ppt_x"/>
                                          </p:val>
                                        </p:tav>
                                      </p:tavLst>
                                    </p:anim>
                                    <p:anim calcmode="lin" valueType="num">
                                      <p:cBhvr additive="base">
                                        <p:cTn id="43" dur="500" fill="hold"/>
                                        <p:tgtEl>
                                          <p:spTgt spid="31">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a:off x="0" y="849907"/>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0" y="1311572"/>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93471" y="18910"/>
            <a:ext cx="576064" cy="830997"/>
          </a:xfrm>
          <a:prstGeom prst="rect">
            <a:avLst/>
          </a:prstGeom>
          <a:noFill/>
        </p:spPr>
        <p:txBody>
          <a:bodyPr wrap="square" rtlCol="0">
            <a:spAutoFit/>
          </a:bodyPr>
          <a:lstStyle/>
          <a:p>
            <a:r>
              <a:rPr lang="en-AU" sz="1600" dirty="0"/>
              <a:t>24</a:t>
            </a:r>
          </a:p>
          <a:p>
            <a:r>
              <a:rPr lang="en-AU" sz="1600" dirty="0"/>
              <a:t>7</a:t>
            </a:r>
          </a:p>
          <a:p>
            <a:r>
              <a:rPr lang="en-AU" sz="1600" dirty="0"/>
              <a:t>30</a:t>
            </a:r>
          </a:p>
        </p:txBody>
      </p:sp>
      <p:sp>
        <p:nvSpPr>
          <p:cNvPr id="10" name="TextBox 9"/>
          <p:cNvSpPr txBox="1"/>
          <p:nvPr/>
        </p:nvSpPr>
        <p:spPr>
          <a:xfrm>
            <a:off x="1115616" y="172798"/>
            <a:ext cx="2217979" cy="523220"/>
          </a:xfrm>
          <a:prstGeom prst="rect">
            <a:avLst/>
          </a:prstGeom>
          <a:noFill/>
        </p:spPr>
        <p:txBody>
          <a:bodyPr wrap="none" rtlCol="0">
            <a:spAutoFit/>
          </a:bodyPr>
          <a:lstStyle/>
          <a:p>
            <a:r>
              <a:rPr lang="en-AU" sz="2800" dirty="0"/>
              <a:t>Bivariate Data</a:t>
            </a:r>
          </a:p>
        </p:txBody>
      </p:sp>
      <p:sp>
        <p:nvSpPr>
          <p:cNvPr id="11" name="TextBox 10"/>
          <p:cNvSpPr txBox="1"/>
          <p:nvPr/>
        </p:nvSpPr>
        <p:spPr>
          <a:xfrm>
            <a:off x="7439175" y="106354"/>
            <a:ext cx="1584176" cy="461665"/>
          </a:xfrm>
          <a:prstGeom prst="rect">
            <a:avLst/>
          </a:prstGeom>
          <a:noFill/>
        </p:spPr>
        <p:txBody>
          <a:bodyPr wrap="square" rtlCol="0">
            <a:spAutoFit/>
          </a:bodyPr>
          <a:lstStyle/>
          <a:p>
            <a:r>
              <a:rPr lang="en-AU" sz="2400" dirty="0"/>
              <a:t>Date</a:t>
            </a:r>
          </a:p>
        </p:txBody>
      </p:sp>
      <p:sp>
        <p:nvSpPr>
          <p:cNvPr id="12" name="TextBox 11"/>
          <p:cNvSpPr txBox="1"/>
          <p:nvPr/>
        </p:nvSpPr>
        <p:spPr>
          <a:xfrm>
            <a:off x="93471" y="849907"/>
            <a:ext cx="8620422" cy="461665"/>
          </a:xfrm>
          <a:prstGeom prst="rect">
            <a:avLst/>
          </a:prstGeom>
          <a:noFill/>
        </p:spPr>
        <p:txBody>
          <a:bodyPr wrap="square" rtlCol="0">
            <a:spAutoFit/>
          </a:bodyPr>
          <a:lstStyle/>
          <a:p>
            <a:r>
              <a:rPr lang="en-AU" sz="2400" dirty="0"/>
              <a:t>EQ – How can I display numerical data more suitably? </a:t>
            </a:r>
          </a:p>
        </p:txBody>
      </p:sp>
      <p:sp>
        <p:nvSpPr>
          <p:cNvPr id="25" name="Rectangle 5"/>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112" tIns="914112" rIns="809370" bIns="914112" numCol="1" anchor="ctr" anchorCtr="0" compatLnSpc="1">
            <a:prstTxWarp prst="textNoShape">
              <a:avLst/>
            </a:prstTxWarp>
            <a:spAutoFit/>
          </a:bodyPr>
          <a:lstStyle/>
          <a:p>
            <a:endParaRPr lang="en-AU"/>
          </a:p>
        </p:txBody>
      </p:sp>
      <p:sp>
        <p:nvSpPr>
          <p:cNvPr id="2" name="Rectangle 1"/>
          <p:cNvSpPr/>
          <p:nvPr/>
        </p:nvSpPr>
        <p:spPr>
          <a:xfrm>
            <a:off x="48960" y="1404096"/>
            <a:ext cx="9046079" cy="1569660"/>
          </a:xfrm>
          <a:prstGeom prst="rect">
            <a:avLst/>
          </a:prstGeom>
        </p:spPr>
        <p:txBody>
          <a:bodyPr wrap="square">
            <a:spAutoFit/>
          </a:bodyPr>
          <a:lstStyle/>
          <a:p>
            <a:r>
              <a:rPr lang="en-AU" sz="2400" dirty="0"/>
              <a:t>How reliable are our predictions? Some things we need to consider are:</a:t>
            </a:r>
          </a:p>
          <a:p>
            <a:pPr marL="342900" indent="-342900">
              <a:buFont typeface="Arial" panose="020B0604020202020204" pitchFamily="34" charset="0"/>
              <a:buChar char="•"/>
            </a:pPr>
            <a:r>
              <a:rPr lang="en-AU" sz="2400" dirty="0"/>
              <a:t>Does the distribution of points on the </a:t>
            </a:r>
            <a:r>
              <a:rPr lang="en-AU" sz="2400" dirty="0" err="1"/>
              <a:t>scattergraph</a:t>
            </a:r>
            <a:r>
              <a:rPr lang="en-AU" sz="2400" dirty="0"/>
              <a:t> suggest that using a linear model is a good idea, or should we perhaps use another model (which we’ll learn later)? Consider the following:</a:t>
            </a:r>
          </a:p>
        </p:txBody>
      </p:sp>
      <p:sp>
        <p:nvSpPr>
          <p:cNvPr id="5" name="Rectangle 2"/>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AU"/>
          </a:p>
        </p:txBody>
      </p:sp>
      <p:sp>
        <p:nvSpPr>
          <p:cNvPr id="8" name="Rectangle 3"/>
          <p:cNvSpPr>
            <a:spLocks noChangeArrowheads="1"/>
          </p:cNvSpPr>
          <p:nvPr/>
        </p:nvSpPr>
        <p:spPr bwMode="auto">
          <a:xfrm>
            <a:off x="0" y="27908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pic>
        <p:nvPicPr>
          <p:cNvPr id="14" name="Picture 13" descr="A picture containing clock&#10;&#10;Description automatically generated">
            <a:extLst>
              <a:ext uri="{FF2B5EF4-FFF2-40B4-BE49-F238E27FC236}">
                <a16:creationId xmlns:a16="http://schemas.microsoft.com/office/drawing/2014/main" id="{90A279CE-D9E7-234C-A76A-635896B2F53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7777" y="3077165"/>
            <a:ext cx="7308304" cy="1737157"/>
          </a:xfrm>
          <a:prstGeom prst="rect">
            <a:avLst/>
          </a:prstGeom>
        </p:spPr>
      </p:pic>
      <p:sp>
        <p:nvSpPr>
          <p:cNvPr id="15" name="TextBox 14">
            <a:extLst>
              <a:ext uri="{FF2B5EF4-FFF2-40B4-BE49-F238E27FC236}">
                <a16:creationId xmlns:a16="http://schemas.microsoft.com/office/drawing/2014/main" id="{F6B61319-EC26-1844-8AB3-7BDE94319A62}"/>
              </a:ext>
            </a:extLst>
          </p:cNvPr>
          <p:cNvSpPr txBox="1"/>
          <p:nvPr/>
        </p:nvSpPr>
        <p:spPr>
          <a:xfrm>
            <a:off x="93471" y="4863415"/>
            <a:ext cx="8929879" cy="646331"/>
          </a:xfrm>
          <a:prstGeom prst="rect">
            <a:avLst/>
          </a:prstGeom>
          <a:noFill/>
        </p:spPr>
        <p:txBody>
          <a:bodyPr wrap="square" rtlCol="0">
            <a:spAutoFit/>
          </a:bodyPr>
          <a:lstStyle/>
          <a:p>
            <a:pPr algn="ctr"/>
            <a:r>
              <a:rPr lang="en-US" dirty="0"/>
              <a:t>One of these graphs suggest using a linear model is appropriate, another suggest using a curve, while another shows no particular pattern.</a:t>
            </a:r>
          </a:p>
        </p:txBody>
      </p:sp>
      <p:sp>
        <p:nvSpPr>
          <p:cNvPr id="16" name="TextBox 15">
            <a:extLst>
              <a:ext uri="{FF2B5EF4-FFF2-40B4-BE49-F238E27FC236}">
                <a16:creationId xmlns:a16="http://schemas.microsoft.com/office/drawing/2014/main" id="{15317771-6958-1C44-8567-B7ED85C226E1}"/>
              </a:ext>
            </a:extLst>
          </p:cNvPr>
          <p:cNvSpPr txBox="1"/>
          <p:nvPr/>
        </p:nvSpPr>
        <p:spPr>
          <a:xfrm>
            <a:off x="93471" y="5564062"/>
            <a:ext cx="8929880" cy="1200329"/>
          </a:xfrm>
          <a:prstGeom prst="rect">
            <a:avLst/>
          </a:prstGeom>
          <a:noFill/>
        </p:spPr>
        <p:txBody>
          <a:bodyPr wrap="square" rtlCol="0">
            <a:spAutoFit/>
          </a:bodyPr>
          <a:lstStyle/>
          <a:p>
            <a:pPr marL="285750" indent="-285750">
              <a:buFont typeface="Arial" panose="020B0604020202020204" pitchFamily="34" charset="0"/>
              <a:buChar char="•"/>
            </a:pPr>
            <a:r>
              <a:rPr lang="en-US" dirty="0"/>
              <a:t>How many points does the </a:t>
            </a:r>
            <a:r>
              <a:rPr lang="en-US" dirty="0" err="1"/>
              <a:t>scattergraph</a:t>
            </a:r>
            <a:r>
              <a:rPr lang="en-US" dirty="0"/>
              <a:t> involve. The more we have, the more confidence we have in our predictions.</a:t>
            </a:r>
          </a:p>
          <a:p>
            <a:pPr marL="285750" indent="-285750">
              <a:buFont typeface="Arial" panose="020B0604020202020204" pitchFamily="34" charset="0"/>
              <a:buChar char="•"/>
            </a:pPr>
            <a:r>
              <a:rPr lang="en-US" dirty="0"/>
              <a:t>How closely do the points fit a straight line? The closer the points are to a straight line, the better the linear model will be and the more confidence we can have in our predictions.</a:t>
            </a:r>
          </a:p>
        </p:txBody>
      </p:sp>
    </p:spTree>
    <p:extLst>
      <p:ext uri="{BB962C8B-B14F-4D97-AF65-F5344CB8AC3E}">
        <p14:creationId xmlns:p14="http://schemas.microsoft.com/office/powerpoint/2010/main" val="12344396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 calcmode="lin" valueType="num">
                                      <p:cBhvr additive="base">
                                        <p:cTn id="7"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9" presetClass="entr" presetSubtype="0" fill="hold" nodeType="click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dissolve">
                                      <p:cBhvr>
                                        <p:cTn id="13" dur="500"/>
                                        <p:tgtEl>
                                          <p:spTgt spid="14"/>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15"/>
                                        </p:tgtEl>
                                        <p:attrNameLst>
                                          <p:attrName>style.visibility</p:attrName>
                                        </p:attrNameLst>
                                      </p:cBhvr>
                                      <p:to>
                                        <p:strVal val="visible"/>
                                      </p:to>
                                    </p:set>
                                    <p:anim calcmode="lin" valueType="num">
                                      <p:cBhvr additive="base">
                                        <p:cTn id="18" dur="500" fill="hold"/>
                                        <p:tgtEl>
                                          <p:spTgt spid="15"/>
                                        </p:tgtEl>
                                        <p:attrNameLst>
                                          <p:attrName>ppt_x</p:attrName>
                                        </p:attrNameLst>
                                      </p:cBhvr>
                                      <p:tavLst>
                                        <p:tav tm="0">
                                          <p:val>
                                            <p:strVal val="#ppt_x"/>
                                          </p:val>
                                        </p:tav>
                                        <p:tav tm="100000">
                                          <p:val>
                                            <p:strVal val="#ppt_x"/>
                                          </p:val>
                                        </p:tav>
                                      </p:tavLst>
                                    </p:anim>
                                    <p:anim calcmode="lin" valueType="num">
                                      <p:cBhvr additive="base">
                                        <p:cTn id="19"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16">
                                            <p:txEl>
                                              <p:pRg st="0" end="0"/>
                                            </p:txEl>
                                          </p:spTgt>
                                        </p:tgtEl>
                                        <p:attrNameLst>
                                          <p:attrName>style.visibility</p:attrName>
                                        </p:attrNameLst>
                                      </p:cBhvr>
                                      <p:to>
                                        <p:strVal val="visible"/>
                                      </p:to>
                                    </p:set>
                                    <p:anim calcmode="lin" valueType="num">
                                      <p:cBhvr additive="base">
                                        <p:cTn id="24" dur="500" fill="hold"/>
                                        <p:tgtEl>
                                          <p:spTgt spid="16">
                                            <p:txEl>
                                              <p:pRg st="0" end="0"/>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1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nodeType="clickEffect">
                                  <p:stCondLst>
                                    <p:cond delay="0"/>
                                  </p:stCondLst>
                                  <p:childTnLst>
                                    <p:set>
                                      <p:cBhvr>
                                        <p:cTn id="29" dur="1" fill="hold">
                                          <p:stCondLst>
                                            <p:cond delay="0"/>
                                          </p:stCondLst>
                                        </p:cTn>
                                        <p:tgtEl>
                                          <p:spTgt spid="16">
                                            <p:txEl>
                                              <p:pRg st="1" end="1"/>
                                            </p:txEl>
                                          </p:spTgt>
                                        </p:tgtEl>
                                        <p:attrNameLst>
                                          <p:attrName>style.visibility</p:attrName>
                                        </p:attrNameLst>
                                      </p:cBhvr>
                                      <p:to>
                                        <p:strVal val="visible"/>
                                      </p:to>
                                    </p:set>
                                    <p:anim calcmode="lin" valueType="num">
                                      <p:cBhvr additive="base">
                                        <p:cTn id="30" dur="500" fill="hold"/>
                                        <p:tgtEl>
                                          <p:spTgt spid="16">
                                            <p:txEl>
                                              <p:pRg st="1" end="1"/>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16">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a:off x="0" y="849907"/>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0" y="1311572"/>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93471" y="18910"/>
            <a:ext cx="576064" cy="830997"/>
          </a:xfrm>
          <a:prstGeom prst="rect">
            <a:avLst/>
          </a:prstGeom>
          <a:noFill/>
        </p:spPr>
        <p:txBody>
          <a:bodyPr wrap="square" rtlCol="0">
            <a:spAutoFit/>
          </a:bodyPr>
          <a:lstStyle/>
          <a:p>
            <a:r>
              <a:rPr lang="en-AU" sz="1600" dirty="0"/>
              <a:t>24</a:t>
            </a:r>
          </a:p>
          <a:p>
            <a:r>
              <a:rPr lang="en-AU" sz="1600" dirty="0"/>
              <a:t>7</a:t>
            </a:r>
          </a:p>
          <a:p>
            <a:r>
              <a:rPr lang="en-AU" sz="1600" dirty="0"/>
              <a:t>30</a:t>
            </a:r>
          </a:p>
        </p:txBody>
      </p:sp>
      <p:sp>
        <p:nvSpPr>
          <p:cNvPr id="10" name="TextBox 9"/>
          <p:cNvSpPr txBox="1"/>
          <p:nvPr/>
        </p:nvSpPr>
        <p:spPr>
          <a:xfrm>
            <a:off x="1115616" y="172798"/>
            <a:ext cx="2217979" cy="523220"/>
          </a:xfrm>
          <a:prstGeom prst="rect">
            <a:avLst/>
          </a:prstGeom>
          <a:noFill/>
        </p:spPr>
        <p:txBody>
          <a:bodyPr wrap="none" rtlCol="0">
            <a:spAutoFit/>
          </a:bodyPr>
          <a:lstStyle/>
          <a:p>
            <a:r>
              <a:rPr lang="en-AU" sz="2800" dirty="0"/>
              <a:t>Bivariate Data</a:t>
            </a:r>
          </a:p>
        </p:txBody>
      </p:sp>
      <p:sp>
        <p:nvSpPr>
          <p:cNvPr id="11" name="TextBox 10"/>
          <p:cNvSpPr txBox="1"/>
          <p:nvPr/>
        </p:nvSpPr>
        <p:spPr>
          <a:xfrm>
            <a:off x="7439175" y="106354"/>
            <a:ext cx="1584176" cy="461665"/>
          </a:xfrm>
          <a:prstGeom prst="rect">
            <a:avLst/>
          </a:prstGeom>
          <a:noFill/>
        </p:spPr>
        <p:txBody>
          <a:bodyPr wrap="square" rtlCol="0">
            <a:spAutoFit/>
          </a:bodyPr>
          <a:lstStyle/>
          <a:p>
            <a:r>
              <a:rPr lang="en-AU" sz="2400" dirty="0"/>
              <a:t>Date</a:t>
            </a:r>
          </a:p>
        </p:txBody>
      </p:sp>
      <p:sp>
        <p:nvSpPr>
          <p:cNvPr id="12" name="TextBox 11"/>
          <p:cNvSpPr txBox="1"/>
          <p:nvPr/>
        </p:nvSpPr>
        <p:spPr>
          <a:xfrm>
            <a:off x="93471" y="849907"/>
            <a:ext cx="8620422" cy="461665"/>
          </a:xfrm>
          <a:prstGeom prst="rect">
            <a:avLst/>
          </a:prstGeom>
          <a:noFill/>
        </p:spPr>
        <p:txBody>
          <a:bodyPr wrap="square" rtlCol="0">
            <a:spAutoFit/>
          </a:bodyPr>
          <a:lstStyle/>
          <a:p>
            <a:r>
              <a:rPr lang="en-AU" sz="2400" dirty="0"/>
              <a:t>EQ – How can I display numerical data more suitably? </a:t>
            </a:r>
          </a:p>
        </p:txBody>
      </p:sp>
      <p:sp>
        <p:nvSpPr>
          <p:cNvPr id="25" name="Rectangle 5"/>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112" tIns="914112" rIns="809370" bIns="914112" numCol="1" anchor="ctr" anchorCtr="0" compatLnSpc="1">
            <a:prstTxWarp prst="textNoShape">
              <a:avLst/>
            </a:prstTxWarp>
            <a:spAutoFit/>
          </a:bodyPr>
          <a:lstStyle/>
          <a:p>
            <a:endParaRPr lang="en-AU"/>
          </a:p>
        </p:txBody>
      </p:sp>
      <p:sp>
        <p:nvSpPr>
          <p:cNvPr id="2" name="Rectangle 1"/>
          <p:cNvSpPr/>
          <p:nvPr/>
        </p:nvSpPr>
        <p:spPr>
          <a:xfrm>
            <a:off x="48960" y="1404096"/>
            <a:ext cx="9046079" cy="1938992"/>
          </a:xfrm>
          <a:prstGeom prst="rect">
            <a:avLst/>
          </a:prstGeom>
        </p:spPr>
        <p:txBody>
          <a:bodyPr wrap="square">
            <a:spAutoFit/>
          </a:bodyPr>
          <a:lstStyle/>
          <a:p>
            <a:pPr marL="342900" indent="-342900">
              <a:buFont typeface="Arial" panose="020B0604020202020204" pitchFamily="34" charset="0"/>
              <a:buChar char="•"/>
            </a:pPr>
            <a:r>
              <a:rPr lang="en-AU" sz="2400" dirty="0"/>
              <a:t>Finally, we need to consider: Are we making a prediction for a value that lies within or without the spread of our known values? </a:t>
            </a:r>
            <a:r>
              <a:rPr lang="en-AU" sz="2400" dirty="0" err="1"/>
              <a:t>I.e</a:t>
            </a:r>
            <a:r>
              <a:rPr lang="en-AU" sz="2400" dirty="0"/>
              <a:t> – does our prediction involve </a:t>
            </a:r>
            <a:r>
              <a:rPr lang="en-AU" sz="2400" i="1" dirty="0"/>
              <a:t>interpolation</a:t>
            </a:r>
            <a:r>
              <a:rPr lang="en-AU" sz="2400" dirty="0"/>
              <a:t> (between the given points) or </a:t>
            </a:r>
            <a:r>
              <a:rPr lang="en-AU" sz="2400" i="1" dirty="0"/>
              <a:t>extrapolation</a:t>
            </a:r>
            <a:r>
              <a:rPr lang="en-AU" sz="2400" dirty="0"/>
              <a:t> (beyond the given points)? Predictions involving extrapolation are </a:t>
            </a:r>
            <a:r>
              <a:rPr lang="en-AU" sz="2400" b="1" dirty="0"/>
              <a:t>likely to be less reliable.</a:t>
            </a:r>
            <a:endParaRPr lang="en-AU" sz="2400" dirty="0"/>
          </a:p>
        </p:txBody>
      </p:sp>
      <p:sp>
        <p:nvSpPr>
          <p:cNvPr id="5" name="Rectangle 2"/>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AU"/>
          </a:p>
        </p:txBody>
      </p:sp>
      <p:sp>
        <p:nvSpPr>
          <p:cNvPr id="8" name="Rectangle 3"/>
          <p:cNvSpPr>
            <a:spLocks noChangeArrowheads="1"/>
          </p:cNvSpPr>
          <p:nvPr/>
        </p:nvSpPr>
        <p:spPr bwMode="auto">
          <a:xfrm>
            <a:off x="0" y="27908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pic>
        <p:nvPicPr>
          <p:cNvPr id="9" name="Picture 8" descr="A close up of a map&#10;&#10;Description automatically generated">
            <a:extLst>
              <a:ext uri="{FF2B5EF4-FFF2-40B4-BE49-F238E27FC236}">
                <a16:creationId xmlns:a16="http://schemas.microsoft.com/office/drawing/2014/main" id="{042CFE0E-BBFD-7E4D-9707-BD2590EDDDB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4589" y="3429000"/>
            <a:ext cx="6804248" cy="3337760"/>
          </a:xfrm>
          <a:prstGeom prst="rect">
            <a:avLst/>
          </a:prstGeom>
        </p:spPr>
      </p:pic>
    </p:spTree>
    <p:extLst>
      <p:ext uri="{BB962C8B-B14F-4D97-AF65-F5344CB8AC3E}">
        <p14:creationId xmlns:p14="http://schemas.microsoft.com/office/powerpoint/2010/main" val="36290872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a:off x="0" y="849907"/>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0" y="1311572"/>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93471" y="18910"/>
            <a:ext cx="576064" cy="830997"/>
          </a:xfrm>
          <a:prstGeom prst="rect">
            <a:avLst/>
          </a:prstGeom>
          <a:noFill/>
        </p:spPr>
        <p:txBody>
          <a:bodyPr wrap="square" rtlCol="0">
            <a:spAutoFit/>
          </a:bodyPr>
          <a:lstStyle/>
          <a:p>
            <a:r>
              <a:rPr lang="en-AU" sz="1600" dirty="0"/>
              <a:t>24</a:t>
            </a:r>
          </a:p>
          <a:p>
            <a:r>
              <a:rPr lang="en-AU" sz="1600" dirty="0"/>
              <a:t>7</a:t>
            </a:r>
          </a:p>
          <a:p>
            <a:r>
              <a:rPr lang="en-AU" sz="1600" dirty="0"/>
              <a:t>30</a:t>
            </a:r>
          </a:p>
        </p:txBody>
      </p:sp>
      <p:sp>
        <p:nvSpPr>
          <p:cNvPr id="10" name="TextBox 9"/>
          <p:cNvSpPr txBox="1"/>
          <p:nvPr/>
        </p:nvSpPr>
        <p:spPr>
          <a:xfrm>
            <a:off x="1115616" y="172798"/>
            <a:ext cx="2217979" cy="523220"/>
          </a:xfrm>
          <a:prstGeom prst="rect">
            <a:avLst/>
          </a:prstGeom>
          <a:noFill/>
        </p:spPr>
        <p:txBody>
          <a:bodyPr wrap="none" rtlCol="0">
            <a:spAutoFit/>
          </a:bodyPr>
          <a:lstStyle/>
          <a:p>
            <a:r>
              <a:rPr lang="en-AU" sz="2800" dirty="0"/>
              <a:t>Bivariate Data</a:t>
            </a:r>
          </a:p>
        </p:txBody>
      </p:sp>
      <p:sp>
        <p:nvSpPr>
          <p:cNvPr id="11" name="TextBox 10"/>
          <p:cNvSpPr txBox="1"/>
          <p:nvPr/>
        </p:nvSpPr>
        <p:spPr>
          <a:xfrm>
            <a:off x="7439175" y="106354"/>
            <a:ext cx="1584176" cy="461665"/>
          </a:xfrm>
          <a:prstGeom prst="rect">
            <a:avLst/>
          </a:prstGeom>
          <a:noFill/>
        </p:spPr>
        <p:txBody>
          <a:bodyPr wrap="square" rtlCol="0">
            <a:spAutoFit/>
          </a:bodyPr>
          <a:lstStyle/>
          <a:p>
            <a:r>
              <a:rPr lang="en-AU" sz="2400" dirty="0"/>
              <a:t>Date</a:t>
            </a:r>
          </a:p>
        </p:txBody>
      </p:sp>
      <p:sp>
        <p:nvSpPr>
          <p:cNvPr id="12" name="TextBox 11"/>
          <p:cNvSpPr txBox="1"/>
          <p:nvPr/>
        </p:nvSpPr>
        <p:spPr>
          <a:xfrm>
            <a:off x="93471" y="849907"/>
            <a:ext cx="8620422" cy="461665"/>
          </a:xfrm>
          <a:prstGeom prst="rect">
            <a:avLst/>
          </a:prstGeom>
          <a:noFill/>
        </p:spPr>
        <p:txBody>
          <a:bodyPr wrap="square" rtlCol="0">
            <a:spAutoFit/>
          </a:bodyPr>
          <a:lstStyle/>
          <a:p>
            <a:r>
              <a:rPr lang="en-AU" sz="2400" dirty="0"/>
              <a:t>EQ – How can I display numerical data more suitably? </a:t>
            </a:r>
          </a:p>
        </p:txBody>
      </p:sp>
      <p:sp>
        <p:nvSpPr>
          <p:cNvPr id="25" name="Rectangle 5"/>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112" tIns="914112" rIns="809370" bIns="914112" numCol="1" anchor="ctr" anchorCtr="0" compatLnSpc="1">
            <a:prstTxWarp prst="textNoShape">
              <a:avLst/>
            </a:prstTxWarp>
            <a:spAutoFit/>
          </a:bodyPr>
          <a:lstStyle/>
          <a:p>
            <a:endParaRPr lang="en-AU"/>
          </a:p>
        </p:txBody>
      </p:sp>
      <p:sp>
        <p:nvSpPr>
          <p:cNvPr id="2" name="Rectangle 1"/>
          <p:cNvSpPr/>
          <p:nvPr/>
        </p:nvSpPr>
        <p:spPr>
          <a:xfrm>
            <a:off x="97921" y="1412776"/>
            <a:ext cx="8925430" cy="923330"/>
          </a:xfrm>
          <a:prstGeom prst="rect">
            <a:avLst/>
          </a:prstGeom>
        </p:spPr>
        <p:txBody>
          <a:bodyPr wrap="square">
            <a:spAutoFit/>
          </a:bodyPr>
          <a:lstStyle/>
          <a:p>
            <a:r>
              <a:rPr lang="en-AU" dirty="0"/>
              <a:t>Let’s apply all of this to our earlier prediction that a country with a consumption of 45kg of a particular foodstuff will have a death rate due to heart disease of approx. 230 deaths per year per 100,000 people:</a:t>
            </a:r>
          </a:p>
        </p:txBody>
      </p:sp>
      <p:sp>
        <p:nvSpPr>
          <p:cNvPr id="5" name="Rectangle 2"/>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AU"/>
          </a:p>
        </p:txBody>
      </p:sp>
      <p:sp>
        <p:nvSpPr>
          <p:cNvPr id="8" name="Rectangle 3"/>
          <p:cNvSpPr>
            <a:spLocks noChangeArrowheads="1"/>
          </p:cNvSpPr>
          <p:nvPr/>
        </p:nvSpPr>
        <p:spPr bwMode="auto">
          <a:xfrm>
            <a:off x="0" y="27908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13" name="TextBox 12">
            <a:extLst>
              <a:ext uri="{FF2B5EF4-FFF2-40B4-BE49-F238E27FC236}">
                <a16:creationId xmlns:a16="http://schemas.microsoft.com/office/drawing/2014/main" id="{87746014-EBC8-264C-B492-4CBE455E7BF6}"/>
              </a:ext>
            </a:extLst>
          </p:cNvPr>
          <p:cNvSpPr txBox="1"/>
          <p:nvPr/>
        </p:nvSpPr>
        <p:spPr>
          <a:xfrm>
            <a:off x="4600596" y="2636014"/>
            <a:ext cx="4307335" cy="2862322"/>
          </a:xfrm>
          <a:prstGeom prst="rect">
            <a:avLst/>
          </a:prstGeom>
          <a:noFill/>
        </p:spPr>
        <p:txBody>
          <a:bodyPr wrap="square" rtlCol="0">
            <a:spAutoFit/>
          </a:bodyPr>
          <a:lstStyle/>
          <a:p>
            <a:r>
              <a:rPr lang="en-US" dirty="0"/>
              <a:t>We can be reasonably confident in this prediction because:</a:t>
            </a:r>
          </a:p>
          <a:p>
            <a:endParaRPr lang="en-US" dirty="0"/>
          </a:p>
          <a:p>
            <a:pPr marL="285750" indent="-285750">
              <a:buFont typeface="Arial" panose="020B0604020202020204" pitchFamily="34" charset="0"/>
              <a:buChar char="•"/>
            </a:pPr>
            <a:r>
              <a:rPr lang="en-US" dirty="0"/>
              <a:t>The graph </a:t>
            </a:r>
            <a:r>
              <a:rPr lang="en-US" i="1" dirty="0"/>
              <a:t>does</a:t>
            </a:r>
            <a:r>
              <a:rPr lang="en-US" dirty="0"/>
              <a:t> suggest a linear model could be appropriate</a:t>
            </a:r>
          </a:p>
          <a:p>
            <a:pPr marL="285750" indent="-285750">
              <a:buFont typeface="Arial" panose="020B0604020202020204" pitchFamily="34" charset="0"/>
              <a:buChar char="•"/>
            </a:pPr>
            <a:r>
              <a:rPr lang="en-US" dirty="0"/>
              <a:t>The graph involves a reasonable number of data points</a:t>
            </a:r>
          </a:p>
          <a:p>
            <a:pPr marL="285750" indent="-285750">
              <a:buFont typeface="Arial" panose="020B0604020202020204" pitchFamily="34" charset="0"/>
              <a:buChar char="•"/>
            </a:pPr>
            <a:r>
              <a:rPr lang="en-US" dirty="0"/>
              <a:t>The figure of 45kg/person per year is </a:t>
            </a:r>
            <a:r>
              <a:rPr lang="en-US" i="1" dirty="0"/>
              <a:t>within</a:t>
            </a:r>
            <a:r>
              <a:rPr lang="en-US" dirty="0"/>
              <a:t> the values covered by the given data, therefore interpolation is involved</a:t>
            </a:r>
          </a:p>
        </p:txBody>
      </p:sp>
      <mc:AlternateContent xmlns:mc="http://schemas.openxmlformats.org/markup-compatibility/2006">
        <mc:Choice xmlns:p14="http://schemas.microsoft.com/office/powerpoint/2010/main" xmlns:aink="http://schemas.microsoft.com/office/drawing/2016/ink" Requires="p14 aink">
          <p:contentPart p14:bwMode="auto" r:id="rId2">
            <p14:nvContentPartPr>
              <p14:cNvPr id="17" name="Ink 16">
                <a:extLst>
                  <a:ext uri="{FF2B5EF4-FFF2-40B4-BE49-F238E27FC236}">
                    <a16:creationId xmlns:a16="http://schemas.microsoft.com/office/drawing/2014/main" id="{EDEA5908-5D2B-124B-8EDC-8504FEE250BB}"/>
                  </a:ext>
                </a:extLst>
              </p14:cNvPr>
              <p14:cNvContentPartPr/>
              <p14:nvPr/>
            </p14:nvContentPartPr>
            <p14:xfrm>
              <a:off x="3713006" y="2258469"/>
              <a:ext cx="360" cy="360"/>
            </p14:xfrm>
          </p:contentPart>
        </mc:Choice>
        <mc:Fallback>
          <p:pic>
            <p:nvPicPr>
              <p:cNvPr id="17" name="Ink 16">
                <a:extLst>
                  <a:ext uri="{FF2B5EF4-FFF2-40B4-BE49-F238E27FC236}">
                    <a16:creationId xmlns:a16="http://schemas.microsoft.com/office/drawing/2014/main" id="{EDEA5908-5D2B-124B-8EDC-8504FEE250BB}"/>
                  </a:ext>
                </a:extLst>
              </p:cNvPr>
              <p:cNvPicPr/>
              <p:nvPr/>
            </p:nvPicPr>
            <p:blipFill>
              <a:blip r:embed="rId3"/>
              <a:stretch>
                <a:fillRect/>
              </a:stretch>
            </p:blipFill>
            <p:spPr>
              <a:xfrm>
                <a:off x="3695366" y="2150829"/>
                <a:ext cx="36000" cy="216000"/>
              </a:xfrm>
              <a:prstGeom prst="rect">
                <a:avLst/>
              </a:prstGeom>
            </p:spPr>
          </p:pic>
        </mc:Fallback>
      </mc:AlternateContent>
      <p:pic>
        <p:nvPicPr>
          <p:cNvPr id="16" name="Picture 15" descr="A close up of a map&#10;&#10;Description automatically generated">
            <a:extLst>
              <a:ext uri="{FF2B5EF4-FFF2-40B4-BE49-F238E27FC236}">
                <a16:creationId xmlns:a16="http://schemas.microsoft.com/office/drawing/2014/main" id="{A8FCF702-FAE7-FF47-8281-4649B9B5640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0312" y="2437309"/>
            <a:ext cx="4423860" cy="4274181"/>
          </a:xfrm>
          <a:prstGeom prst="rect">
            <a:avLst/>
          </a:prstGeom>
        </p:spPr>
      </p:pic>
    </p:spTree>
    <p:extLst>
      <p:ext uri="{BB962C8B-B14F-4D97-AF65-F5344CB8AC3E}">
        <p14:creationId xmlns:p14="http://schemas.microsoft.com/office/powerpoint/2010/main" val="31493278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ppt_x"/>
                                          </p:val>
                                        </p:tav>
                                        <p:tav tm="100000">
                                          <p:val>
                                            <p:strVal val="#ppt_x"/>
                                          </p:val>
                                        </p:tav>
                                      </p:tavLst>
                                    </p:anim>
                                    <p:anim calcmode="lin" valueType="num">
                                      <p:cBhvr additive="base">
                                        <p:cTn id="8"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3">
                                            <p:txEl>
                                              <p:pRg st="0" end="0"/>
                                            </p:txEl>
                                          </p:spTgt>
                                        </p:tgtEl>
                                        <p:attrNameLst>
                                          <p:attrName>style.visibility</p:attrName>
                                        </p:attrNameLst>
                                      </p:cBhvr>
                                      <p:to>
                                        <p:strVal val="visible"/>
                                      </p:to>
                                    </p:set>
                                    <p:anim calcmode="lin" valueType="num">
                                      <p:cBhvr additive="base">
                                        <p:cTn id="13" dur="500" fill="hold"/>
                                        <p:tgtEl>
                                          <p:spTgt spid="1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3">
                                            <p:txEl>
                                              <p:pRg st="2" end="2"/>
                                            </p:txEl>
                                          </p:spTgt>
                                        </p:tgtEl>
                                        <p:attrNameLst>
                                          <p:attrName>style.visibility</p:attrName>
                                        </p:attrNameLst>
                                      </p:cBhvr>
                                      <p:to>
                                        <p:strVal val="visible"/>
                                      </p:to>
                                    </p:set>
                                    <p:anim calcmode="lin" valueType="num">
                                      <p:cBhvr additive="base">
                                        <p:cTn id="19" dur="500" fill="hold"/>
                                        <p:tgtEl>
                                          <p:spTgt spid="1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3">
                                            <p:txEl>
                                              <p:pRg st="3" end="3"/>
                                            </p:txEl>
                                          </p:spTgt>
                                        </p:tgtEl>
                                        <p:attrNameLst>
                                          <p:attrName>style.visibility</p:attrName>
                                        </p:attrNameLst>
                                      </p:cBhvr>
                                      <p:to>
                                        <p:strVal val="visible"/>
                                      </p:to>
                                    </p:set>
                                    <p:anim calcmode="lin" valueType="num">
                                      <p:cBhvr additive="base">
                                        <p:cTn id="25" dur="500" fill="hold"/>
                                        <p:tgtEl>
                                          <p:spTgt spid="1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3">
                                            <p:txEl>
                                              <p:pRg st="4" end="4"/>
                                            </p:txEl>
                                          </p:spTgt>
                                        </p:tgtEl>
                                        <p:attrNameLst>
                                          <p:attrName>style.visibility</p:attrName>
                                        </p:attrNameLst>
                                      </p:cBhvr>
                                      <p:to>
                                        <p:strVal val="visible"/>
                                      </p:to>
                                    </p:set>
                                    <p:anim calcmode="lin" valueType="num">
                                      <p:cBhvr additive="base">
                                        <p:cTn id="31" dur="500" fill="hold"/>
                                        <p:tgtEl>
                                          <p:spTgt spid="1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a:off x="0" y="849907"/>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0" y="1311572"/>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93471" y="18910"/>
            <a:ext cx="576064" cy="830997"/>
          </a:xfrm>
          <a:prstGeom prst="rect">
            <a:avLst/>
          </a:prstGeom>
          <a:noFill/>
        </p:spPr>
        <p:txBody>
          <a:bodyPr wrap="square" rtlCol="0">
            <a:spAutoFit/>
          </a:bodyPr>
          <a:lstStyle/>
          <a:p>
            <a:r>
              <a:rPr lang="en-AU" sz="1600" dirty="0"/>
              <a:t>24</a:t>
            </a:r>
          </a:p>
          <a:p>
            <a:r>
              <a:rPr lang="en-AU" sz="1600" dirty="0"/>
              <a:t>7</a:t>
            </a:r>
          </a:p>
          <a:p>
            <a:r>
              <a:rPr lang="en-AU" sz="1600" dirty="0"/>
              <a:t>30</a:t>
            </a:r>
          </a:p>
        </p:txBody>
      </p:sp>
      <p:sp>
        <p:nvSpPr>
          <p:cNvPr id="10" name="TextBox 9"/>
          <p:cNvSpPr txBox="1"/>
          <p:nvPr/>
        </p:nvSpPr>
        <p:spPr>
          <a:xfrm>
            <a:off x="1115616" y="172798"/>
            <a:ext cx="2217979" cy="523220"/>
          </a:xfrm>
          <a:prstGeom prst="rect">
            <a:avLst/>
          </a:prstGeom>
          <a:noFill/>
        </p:spPr>
        <p:txBody>
          <a:bodyPr wrap="none" rtlCol="0">
            <a:spAutoFit/>
          </a:bodyPr>
          <a:lstStyle/>
          <a:p>
            <a:r>
              <a:rPr lang="en-AU" sz="2800" dirty="0"/>
              <a:t>Bivariate Data</a:t>
            </a:r>
          </a:p>
        </p:txBody>
      </p:sp>
      <p:sp>
        <p:nvSpPr>
          <p:cNvPr id="11" name="TextBox 10"/>
          <p:cNvSpPr txBox="1"/>
          <p:nvPr/>
        </p:nvSpPr>
        <p:spPr>
          <a:xfrm>
            <a:off x="7439175" y="106354"/>
            <a:ext cx="1584176" cy="461665"/>
          </a:xfrm>
          <a:prstGeom prst="rect">
            <a:avLst/>
          </a:prstGeom>
          <a:noFill/>
        </p:spPr>
        <p:txBody>
          <a:bodyPr wrap="square" rtlCol="0">
            <a:spAutoFit/>
          </a:bodyPr>
          <a:lstStyle/>
          <a:p>
            <a:r>
              <a:rPr lang="en-AU" sz="2400" dirty="0"/>
              <a:t>Date</a:t>
            </a:r>
          </a:p>
        </p:txBody>
      </p:sp>
      <p:sp>
        <p:nvSpPr>
          <p:cNvPr id="25" name="Rectangle 5"/>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112" tIns="914112" rIns="809370" bIns="914112" numCol="1" anchor="ctr" anchorCtr="0" compatLnSpc="1">
            <a:prstTxWarp prst="textNoShape">
              <a:avLst/>
            </a:prstTxWarp>
            <a:spAutoFit/>
          </a:bodyPr>
          <a:lstStyle/>
          <a:p>
            <a:endParaRPr lang="en-AU"/>
          </a:p>
        </p:txBody>
      </p:sp>
      <p:sp>
        <p:nvSpPr>
          <p:cNvPr id="5" name="TextBox 4">
            <a:extLst>
              <a:ext uri="{FF2B5EF4-FFF2-40B4-BE49-F238E27FC236}">
                <a16:creationId xmlns:a16="http://schemas.microsoft.com/office/drawing/2014/main" id="{4BCFA7F2-F390-1A4A-83E9-9E2CE6A89D14}"/>
              </a:ext>
            </a:extLst>
          </p:cNvPr>
          <p:cNvSpPr txBox="1"/>
          <p:nvPr/>
        </p:nvSpPr>
        <p:spPr>
          <a:xfrm>
            <a:off x="669535" y="1844824"/>
            <a:ext cx="7920881" cy="1384995"/>
          </a:xfrm>
          <a:prstGeom prst="rect">
            <a:avLst/>
          </a:prstGeom>
          <a:noFill/>
        </p:spPr>
        <p:txBody>
          <a:bodyPr wrap="square" rtlCol="0">
            <a:spAutoFit/>
          </a:bodyPr>
          <a:lstStyle/>
          <a:p>
            <a:pPr algn="ctr"/>
            <a:r>
              <a:rPr lang="en-US" sz="2800" dirty="0"/>
              <a:t>Please complete Sadler Unit 3 Exercise 1C </a:t>
            </a:r>
            <a:r>
              <a:rPr lang="en-US" sz="2800" b="1" dirty="0"/>
              <a:t>(odd numbers only)</a:t>
            </a:r>
            <a:r>
              <a:rPr lang="en-US" sz="2800" dirty="0"/>
              <a:t> in class and Miscellaneous Exercise 1 for homework</a:t>
            </a:r>
          </a:p>
        </p:txBody>
      </p:sp>
      <p:sp>
        <p:nvSpPr>
          <p:cNvPr id="12" name="TextBox 11">
            <a:extLst>
              <a:ext uri="{FF2B5EF4-FFF2-40B4-BE49-F238E27FC236}">
                <a16:creationId xmlns:a16="http://schemas.microsoft.com/office/drawing/2014/main" id="{C6F76413-13E8-BA4F-B794-B5D62F7DD99F}"/>
              </a:ext>
            </a:extLst>
          </p:cNvPr>
          <p:cNvSpPr txBox="1"/>
          <p:nvPr/>
        </p:nvSpPr>
        <p:spPr>
          <a:xfrm>
            <a:off x="93471" y="849907"/>
            <a:ext cx="8620422" cy="461665"/>
          </a:xfrm>
          <a:prstGeom prst="rect">
            <a:avLst/>
          </a:prstGeom>
          <a:noFill/>
        </p:spPr>
        <p:txBody>
          <a:bodyPr wrap="square" rtlCol="0">
            <a:spAutoFit/>
          </a:bodyPr>
          <a:lstStyle/>
          <a:p>
            <a:r>
              <a:rPr lang="en-AU" sz="2400" dirty="0"/>
              <a:t>EQ – How can I display numerical data more suitably? </a:t>
            </a:r>
          </a:p>
        </p:txBody>
      </p:sp>
    </p:spTree>
    <p:extLst>
      <p:ext uri="{BB962C8B-B14F-4D97-AF65-F5344CB8AC3E}">
        <p14:creationId xmlns:p14="http://schemas.microsoft.com/office/powerpoint/2010/main" val="2078386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Notes Review</a:t>
            </a:r>
          </a:p>
        </p:txBody>
      </p:sp>
      <p:sp>
        <p:nvSpPr>
          <p:cNvPr id="3" name="Content Placeholder 2"/>
          <p:cNvSpPr>
            <a:spLocks noGrp="1"/>
          </p:cNvSpPr>
          <p:nvPr>
            <p:ph idx="1"/>
          </p:nvPr>
        </p:nvSpPr>
        <p:spPr/>
        <p:txBody>
          <a:bodyPr>
            <a:normAutofit fontScale="92500" lnSpcReduction="20000"/>
          </a:bodyPr>
          <a:lstStyle/>
          <a:p>
            <a:r>
              <a:rPr lang="en-AU" dirty="0"/>
              <a:t>24, 7 ,30</a:t>
            </a:r>
          </a:p>
          <a:p>
            <a:r>
              <a:rPr lang="en-AU" dirty="0"/>
              <a:t>Date</a:t>
            </a:r>
          </a:p>
          <a:p>
            <a:r>
              <a:rPr lang="en-AU" dirty="0"/>
              <a:t>Title</a:t>
            </a:r>
          </a:p>
          <a:p>
            <a:r>
              <a:rPr lang="en-AU" dirty="0"/>
              <a:t>Essential question</a:t>
            </a:r>
          </a:p>
          <a:p>
            <a:r>
              <a:rPr lang="en-AU" dirty="0"/>
              <a:t>Notes complete </a:t>
            </a:r>
          </a:p>
          <a:p>
            <a:r>
              <a:rPr lang="en-AU" dirty="0"/>
              <a:t>Notes complete with colour and diagrams</a:t>
            </a:r>
          </a:p>
          <a:p>
            <a:r>
              <a:rPr lang="en-AU" dirty="0"/>
              <a:t>Questions completed</a:t>
            </a:r>
          </a:p>
          <a:p>
            <a:r>
              <a:rPr lang="en-AU" dirty="0"/>
              <a:t>Contents page filled in</a:t>
            </a:r>
          </a:p>
          <a:p>
            <a:r>
              <a:rPr lang="en-AU" dirty="0"/>
              <a:t>Formula page filled in</a:t>
            </a:r>
          </a:p>
          <a:p>
            <a:pPr marL="0" indent="0">
              <a:buNone/>
            </a:pPr>
            <a:endParaRPr lang="en-AU" dirty="0"/>
          </a:p>
          <a:p>
            <a:endParaRPr lang="en-AU" dirty="0"/>
          </a:p>
        </p:txBody>
      </p:sp>
    </p:spTree>
    <p:extLst>
      <p:ext uri="{BB962C8B-B14F-4D97-AF65-F5344CB8AC3E}">
        <p14:creationId xmlns:p14="http://schemas.microsoft.com/office/powerpoint/2010/main" val="319020210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Homework</a:t>
            </a:r>
          </a:p>
        </p:txBody>
      </p:sp>
      <p:sp>
        <p:nvSpPr>
          <p:cNvPr id="3" name="Content Placeholder 2"/>
          <p:cNvSpPr>
            <a:spLocks noGrp="1"/>
          </p:cNvSpPr>
          <p:nvPr>
            <p:ph idx="1"/>
          </p:nvPr>
        </p:nvSpPr>
        <p:spPr/>
        <p:txBody>
          <a:bodyPr/>
          <a:lstStyle/>
          <a:p>
            <a:r>
              <a:rPr lang="en-AU" dirty="0"/>
              <a:t>Review your notes and write a summary answering the essential question. </a:t>
            </a:r>
          </a:p>
        </p:txBody>
      </p:sp>
    </p:spTree>
    <p:extLst>
      <p:ext uri="{BB962C8B-B14F-4D97-AF65-F5344CB8AC3E}">
        <p14:creationId xmlns:p14="http://schemas.microsoft.com/office/powerpoint/2010/main" val="160380910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98</TotalTime>
  <Words>1341</Words>
  <Application>Microsoft Macintosh PowerPoint</Application>
  <PresentationFormat>On-screen Show (4:3)</PresentationFormat>
  <Paragraphs>172</Paragraphs>
  <Slides>24</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Notes Review</vt:lpstr>
      <vt:lpstr>Homework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SUMMERS Brad [Baldivis Secondary College]</dc:creator>
  <cp:lastModifiedBy>SUMMERS Brad [Baldivis Secondary College]</cp:lastModifiedBy>
  <cp:revision>16</cp:revision>
  <dcterms:created xsi:type="dcterms:W3CDTF">2020-02-09T03:09:42Z</dcterms:created>
  <dcterms:modified xsi:type="dcterms:W3CDTF">2020-02-09T04:48:14Z</dcterms:modified>
</cp:coreProperties>
</file>
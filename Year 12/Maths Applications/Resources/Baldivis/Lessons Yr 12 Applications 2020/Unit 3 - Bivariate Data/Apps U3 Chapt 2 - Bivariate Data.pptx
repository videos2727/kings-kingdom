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6"/>
  </p:handoutMasterIdLst>
  <p:sldIdLst>
    <p:sldId id="260" r:id="rId2"/>
    <p:sldId id="261" r:id="rId3"/>
    <p:sldId id="262" r:id="rId4"/>
    <p:sldId id="263" r:id="rId5"/>
    <p:sldId id="264" r:id="rId6"/>
    <p:sldId id="266" r:id="rId7"/>
    <p:sldId id="268" r:id="rId8"/>
    <p:sldId id="269" r:id="rId9"/>
    <p:sldId id="270" r:id="rId10"/>
    <p:sldId id="271" r:id="rId11"/>
    <p:sldId id="272" r:id="rId12"/>
    <p:sldId id="273" r:id="rId13"/>
    <p:sldId id="274" r:id="rId14"/>
    <p:sldId id="275" r:id="rId15"/>
  </p:sldIdLst>
  <p:sldSz cx="9144000" cy="6858000" type="screen4x3"/>
  <p:notesSz cx="6797675" cy="9926638"/>
  <p:defaultTextStyle>
    <a:defPPr>
      <a:defRPr lang="en-AU"/>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51D691A5-57CD-48EA-98A5-0849135A3CE2}" type="datetimeFigureOut">
              <a:rPr lang="en-AU" smtClean="0"/>
              <a:t>13/02/2018</a:t>
            </a:fld>
            <a:endParaRPr lang="en-AU"/>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32CB5A85-501B-4FD3-8A5A-48D022841738}" type="slidenum">
              <a:rPr lang="en-AU" smtClean="0"/>
              <a:t>‹#›</a:t>
            </a:fld>
            <a:endParaRPr lang="en-AU"/>
          </a:p>
        </p:txBody>
      </p:sp>
    </p:spTree>
    <p:extLst>
      <p:ext uri="{BB962C8B-B14F-4D97-AF65-F5344CB8AC3E}">
        <p14:creationId xmlns:p14="http://schemas.microsoft.com/office/powerpoint/2010/main" val="303907319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BD701D93-1059-4E71-9FC9-367B1764BCFC}" type="slidenum">
              <a:rPr lang="en-AU"/>
              <a:pPr/>
              <a:t>‹#›</a:t>
            </a:fld>
            <a:endParaRPr lang="en-AU"/>
          </a:p>
        </p:txBody>
      </p:sp>
    </p:spTree>
    <p:extLst>
      <p:ext uri="{BB962C8B-B14F-4D97-AF65-F5344CB8AC3E}">
        <p14:creationId xmlns:p14="http://schemas.microsoft.com/office/powerpoint/2010/main" val="3742779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C0889978-41E8-427C-B8AF-62037440BBB3}" type="slidenum">
              <a:rPr lang="en-AU"/>
              <a:pPr/>
              <a:t>‹#›</a:t>
            </a:fld>
            <a:endParaRPr lang="en-AU"/>
          </a:p>
        </p:txBody>
      </p:sp>
    </p:spTree>
    <p:extLst>
      <p:ext uri="{BB962C8B-B14F-4D97-AF65-F5344CB8AC3E}">
        <p14:creationId xmlns:p14="http://schemas.microsoft.com/office/powerpoint/2010/main" val="606388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AB2C4D1A-FA5C-4B52-9316-1EE996753EB6}" type="slidenum">
              <a:rPr lang="en-AU"/>
              <a:pPr/>
              <a:t>‹#›</a:t>
            </a:fld>
            <a:endParaRPr lang="en-AU"/>
          </a:p>
        </p:txBody>
      </p:sp>
    </p:spTree>
    <p:extLst>
      <p:ext uri="{BB962C8B-B14F-4D97-AF65-F5344CB8AC3E}">
        <p14:creationId xmlns:p14="http://schemas.microsoft.com/office/powerpoint/2010/main" val="999550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A18DDE8D-5F2A-434A-AD5B-A3919635E9DD}" type="slidenum">
              <a:rPr lang="en-AU"/>
              <a:pPr/>
              <a:t>‹#›</a:t>
            </a:fld>
            <a:endParaRPr lang="en-AU"/>
          </a:p>
        </p:txBody>
      </p:sp>
    </p:spTree>
    <p:extLst>
      <p:ext uri="{BB962C8B-B14F-4D97-AF65-F5344CB8AC3E}">
        <p14:creationId xmlns:p14="http://schemas.microsoft.com/office/powerpoint/2010/main" val="14306427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32836A92-8797-40C3-859D-51CB877CBE01}" type="slidenum">
              <a:rPr lang="en-AU"/>
              <a:pPr/>
              <a:t>‹#›</a:t>
            </a:fld>
            <a:endParaRPr lang="en-AU"/>
          </a:p>
        </p:txBody>
      </p:sp>
    </p:spTree>
    <p:extLst>
      <p:ext uri="{BB962C8B-B14F-4D97-AF65-F5344CB8AC3E}">
        <p14:creationId xmlns:p14="http://schemas.microsoft.com/office/powerpoint/2010/main" val="188175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25C989E8-237B-41E4-BB75-A9791FDD0836}" type="slidenum">
              <a:rPr lang="en-AU"/>
              <a:pPr/>
              <a:t>‹#›</a:t>
            </a:fld>
            <a:endParaRPr lang="en-AU"/>
          </a:p>
        </p:txBody>
      </p:sp>
    </p:spTree>
    <p:extLst>
      <p:ext uri="{BB962C8B-B14F-4D97-AF65-F5344CB8AC3E}">
        <p14:creationId xmlns:p14="http://schemas.microsoft.com/office/powerpoint/2010/main" val="669630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1E3433AE-EB35-4CB5-98A2-DB305AB7798B}" type="slidenum">
              <a:rPr lang="en-AU"/>
              <a:pPr/>
              <a:t>‹#›</a:t>
            </a:fld>
            <a:endParaRPr lang="en-AU"/>
          </a:p>
        </p:txBody>
      </p:sp>
    </p:spTree>
    <p:extLst>
      <p:ext uri="{BB962C8B-B14F-4D97-AF65-F5344CB8AC3E}">
        <p14:creationId xmlns:p14="http://schemas.microsoft.com/office/powerpoint/2010/main" val="2071904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E2989445-C180-45D7-B51A-E2687CECC283}" type="slidenum">
              <a:rPr lang="en-AU"/>
              <a:pPr/>
              <a:t>‹#›</a:t>
            </a:fld>
            <a:endParaRPr lang="en-AU"/>
          </a:p>
        </p:txBody>
      </p:sp>
    </p:spTree>
    <p:extLst>
      <p:ext uri="{BB962C8B-B14F-4D97-AF65-F5344CB8AC3E}">
        <p14:creationId xmlns:p14="http://schemas.microsoft.com/office/powerpoint/2010/main" val="745808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C80B0838-9BE9-49A4-86F1-0B1395668362}" type="slidenum">
              <a:rPr lang="en-AU"/>
              <a:pPr/>
              <a:t>‹#›</a:t>
            </a:fld>
            <a:endParaRPr lang="en-AU"/>
          </a:p>
        </p:txBody>
      </p:sp>
    </p:spTree>
    <p:extLst>
      <p:ext uri="{BB962C8B-B14F-4D97-AF65-F5344CB8AC3E}">
        <p14:creationId xmlns:p14="http://schemas.microsoft.com/office/powerpoint/2010/main" val="2335079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EB1579AF-5D91-41DF-8D26-FDB4C36715E5}" type="slidenum">
              <a:rPr lang="en-AU"/>
              <a:pPr/>
              <a:t>‹#›</a:t>
            </a:fld>
            <a:endParaRPr lang="en-AU"/>
          </a:p>
        </p:txBody>
      </p:sp>
    </p:spTree>
    <p:extLst>
      <p:ext uri="{BB962C8B-B14F-4D97-AF65-F5344CB8AC3E}">
        <p14:creationId xmlns:p14="http://schemas.microsoft.com/office/powerpoint/2010/main" val="872852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32790806-192B-47B5-8821-24E8B0C1C320}" type="slidenum">
              <a:rPr lang="en-AU"/>
              <a:pPr/>
              <a:t>‹#›</a:t>
            </a:fld>
            <a:endParaRPr lang="en-AU"/>
          </a:p>
        </p:txBody>
      </p:sp>
    </p:spTree>
    <p:extLst>
      <p:ext uri="{BB962C8B-B14F-4D97-AF65-F5344CB8AC3E}">
        <p14:creationId xmlns:p14="http://schemas.microsoft.com/office/powerpoint/2010/main" val="3706219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A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A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40D9502-0500-4EC4-A1C1-143596A66F8B}"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s>
</file>

<file path=ppt/slides/_rels/slide4.xml.rels><?xml version="1.0" encoding="UTF-8" standalone="yes"?>
<Relationships xmlns="http://schemas.openxmlformats.org/package/2006/relationships"><Relationship Id="rId8" Type="http://schemas.openxmlformats.org/officeDocument/2006/relationships/image" Target="../media/image7.wmf"/><Relationship Id="rId13"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6.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8.wmf"/><Relationship Id="rId4" Type="http://schemas.openxmlformats.org/officeDocument/2006/relationships/image" Target="../media/image5.wmf"/><Relationship Id="rId9" Type="http://schemas.openxmlformats.org/officeDocument/2006/relationships/oleObject" Target="../embeddings/oleObject8.bin"/><Relationship Id="rId14" Type="http://schemas.openxmlformats.org/officeDocument/2006/relationships/image" Target="../media/image10.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mathspace.co/chapters/chapter/1706"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wmf"/></Relationships>
</file>

<file path=ppt/slides/_rels/slide14.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4"/>
          <p:cNvSpPr>
            <a:spLocks noChangeArrowheads="1"/>
          </p:cNvSpPr>
          <p:nvPr/>
        </p:nvSpPr>
        <p:spPr bwMode="auto">
          <a:xfrm>
            <a:off x="-1" y="692696"/>
            <a:ext cx="8964613" cy="3514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dirty="0">
                <a:latin typeface="Calibri" pitchFamily="34" charset="0"/>
                <a:ea typeface="Times New Roman" pitchFamily="18" charset="0"/>
                <a:cs typeface="Calibri" pitchFamily="34" charset="0"/>
              </a:rPr>
              <a:t>MEASURES OF RELATIONSHIP</a:t>
            </a:r>
          </a:p>
          <a:p>
            <a:pPr eaLnBrk="0" hangingPunct="0"/>
            <a:r>
              <a:rPr lang="en-AU" sz="1600" dirty="0">
                <a:latin typeface="Calibri" pitchFamily="34" charset="0"/>
                <a:ea typeface="Times New Roman" pitchFamily="18" charset="0"/>
                <a:cs typeface="Calibri" pitchFamily="34" charset="0"/>
              </a:rPr>
              <a:t>The statistical work we have dealt with so far has been concerned with a single variable “x”. We have found and discussed such things as the mean, standard deviation, variance etc. Many of the problems in statistical work however, involve more than one variable. </a:t>
            </a:r>
            <a:endParaRPr lang="en-AU" sz="1600" dirty="0">
              <a:latin typeface="Calibri" pitchFamily="34" charset="0"/>
              <a:cs typeface="Calibri" pitchFamily="34" charset="0"/>
            </a:endParaRPr>
          </a:p>
          <a:p>
            <a:pPr eaLnBrk="0" hangingPunct="0"/>
            <a:r>
              <a:rPr lang="en-AU" sz="1600" dirty="0">
                <a:latin typeface="Calibri" pitchFamily="34" charset="0"/>
                <a:cs typeface="Calibri" pitchFamily="34" charset="0"/>
              </a:rPr>
              <a:t>The following section of work is concerned with data associated with two variables. For instance, is smoking associated with lung cancer? Is alcohol consumption related to traffic accidents? Does reading age affect mathematical ability? Each of these questions can be studied abstractly as the problem of describing the way in which scores on a variable (x) say alcohol consumption – are paired with scores on a second variable (y) – say traffic accidents. These questions concern </a:t>
            </a:r>
            <a:r>
              <a:rPr lang="en-AU" sz="1600" dirty="0" err="1">
                <a:latin typeface="Calibri" pitchFamily="34" charset="0"/>
                <a:cs typeface="Calibri" pitchFamily="34" charset="0"/>
              </a:rPr>
              <a:t>bivariable</a:t>
            </a:r>
            <a:r>
              <a:rPr lang="en-AU" sz="1600" dirty="0">
                <a:latin typeface="Calibri" pitchFamily="34" charset="0"/>
                <a:cs typeface="Calibri" pitchFamily="34" charset="0"/>
              </a:rPr>
              <a:t> or </a:t>
            </a:r>
            <a:r>
              <a:rPr lang="en-AU" sz="1600" b="1" u="sng" dirty="0">
                <a:latin typeface="Calibri" pitchFamily="34" charset="0"/>
                <a:cs typeface="Calibri" pitchFamily="34" charset="0"/>
              </a:rPr>
              <a:t>bivariate</a:t>
            </a:r>
            <a:r>
              <a:rPr lang="en-AU" sz="1600" dirty="0">
                <a:latin typeface="Calibri" pitchFamily="34" charset="0"/>
                <a:cs typeface="Calibri" pitchFamily="34" charset="0"/>
              </a:rPr>
              <a:t> relationships i.e. relationships between two variables.</a:t>
            </a:r>
          </a:p>
          <a:p>
            <a:pPr eaLnBrk="0" hangingPunct="0"/>
            <a:r>
              <a:rPr lang="en-AU" sz="1600" dirty="0">
                <a:latin typeface="Calibri" pitchFamily="34" charset="0"/>
                <a:cs typeface="Calibri" pitchFamily="34" charset="0"/>
              </a:rPr>
              <a:t>For the purpose of illustrating the relationship between two variables, consider Table 1, which consists of scores of ten students, the X scores are their scores in Maths and Y scores, their corresponding scores on a Physics test.</a:t>
            </a:r>
          </a:p>
          <a:p>
            <a:pPr eaLnBrk="0" hangingPunct="0"/>
            <a:r>
              <a:rPr lang="en-AU" sz="1600" dirty="0">
                <a:latin typeface="Calibri" pitchFamily="34" charset="0"/>
                <a:cs typeface="Calibri" pitchFamily="34" charset="0"/>
              </a:rPr>
              <a:t>				Table 1</a:t>
            </a:r>
          </a:p>
        </p:txBody>
      </p:sp>
      <p:graphicFrame>
        <p:nvGraphicFramePr>
          <p:cNvPr id="6364" name="Group 220"/>
          <p:cNvGraphicFramePr>
            <a:graphicFrameLocks noGrp="1"/>
          </p:cNvGraphicFramePr>
          <p:nvPr>
            <p:extLst>
              <p:ext uri="{D42A27DB-BD31-4B8C-83A1-F6EECF244321}">
                <p14:modId xmlns:p14="http://schemas.microsoft.com/office/powerpoint/2010/main" val="2201577186"/>
              </p:ext>
            </p:extLst>
          </p:nvPr>
        </p:nvGraphicFramePr>
        <p:xfrm>
          <a:off x="539554" y="4653135"/>
          <a:ext cx="7776865" cy="1512170"/>
        </p:xfrm>
        <a:graphic>
          <a:graphicData uri="http://schemas.openxmlformats.org/drawingml/2006/table">
            <a:tbl>
              <a:tblPr/>
              <a:tblGrid>
                <a:gridCol w="1232483">
                  <a:extLst>
                    <a:ext uri="{9D8B030D-6E8A-4147-A177-3AD203B41FA5}">
                      <a16:colId xmlns:a16="http://schemas.microsoft.com/office/drawing/2014/main" val="20000"/>
                    </a:ext>
                  </a:extLst>
                </a:gridCol>
                <a:gridCol w="653589">
                  <a:extLst>
                    <a:ext uri="{9D8B030D-6E8A-4147-A177-3AD203B41FA5}">
                      <a16:colId xmlns:a16="http://schemas.microsoft.com/office/drawing/2014/main" val="20001"/>
                    </a:ext>
                  </a:extLst>
                </a:gridCol>
                <a:gridCol w="655287">
                  <a:extLst>
                    <a:ext uri="{9D8B030D-6E8A-4147-A177-3AD203B41FA5}">
                      <a16:colId xmlns:a16="http://schemas.microsoft.com/office/drawing/2014/main" val="20002"/>
                    </a:ext>
                  </a:extLst>
                </a:gridCol>
                <a:gridCol w="653590">
                  <a:extLst>
                    <a:ext uri="{9D8B030D-6E8A-4147-A177-3AD203B41FA5}">
                      <a16:colId xmlns:a16="http://schemas.microsoft.com/office/drawing/2014/main" val="20003"/>
                    </a:ext>
                  </a:extLst>
                </a:gridCol>
                <a:gridCol w="655287">
                  <a:extLst>
                    <a:ext uri="{9D8B030D-6E8A-4147-A177-3AD203B41FA5}">
                      <a16:colId xmlns:a16="http://schemas.microsoft.com/office/drawing/2014/main" val="20004"/>
                    </a:ext>
                  </a:extLst>
                </a:gridCol>
                <a:gridCol w="653589">
                  <a:extLst>
                    <a:ext uri="{9D8B030D-6E8A-4147-A177-3AD203B41FA5}">
                      <a16:colId xmlns:a16="http://schemas.microsoft.com/office/drawing/2014/main" val="20005"/>
                    </a:ext>
                  </a:extLst>
                </a:gridCol>
                <a:gridCol w="655287">
                  <a:extLst>
                    <a:ext uri="{9D8B030D-6E8A-4147-A177-3AD203B41FA5}">
                      <a16:colId xmlns:a16="http://schemas.microsoft.com/office/drawing/2014/main" val="20006"/>
                    </a:ext>
                  </a:extLst>
                </a:gridCol>
                <a:gridCol w="653590">
                  <a:extLst>
                    <a:ext uri="{9D8B030D-6E8A-4147-A177-3AD203B41FA5}">
                      <a16:colId xmlns:a16="http://schemas.microsoft.com/office/drawing/2014/main" val="20007"/>
                    </a:ext>
                  </a:extLst>
                </a:gridCol>
                <a:gridCol w="655287">
                  <a:extLst>
                    <a:ext uri="{9D8B030D-6E8A-4147-A177-3AD203B41FA5}">
                      <a16:colId xmlns:a16="http://schemas.microsoft.com/office/drawing/2014/main" val="20008"/>
                    </a:ext>
                  </a:extLst>
                </a:gridCol>
                <a:gridCol w="653589">
                  <a:extLst>
                    <a:ext uri="{9D8B030D-6E8A-4147-A177-3AD203B41FA5}">
                      <a16:colId xmlns:a16="http://schemas.microsoft.com/office/drawing/2014/main" val="20009"/>
                    </a:ext>
                  </a:extLst>
                </a:gridCol>
                <a:gridCol w="655287">
                  <a:extLst>
                    <a:ext uri="{9D8B030D-6E8A-4147-A177-3AD203B41FA5}">
                      <a16:colId xmlns:a16="http://schemas.microsoft.com/office/drawing/2014/main" val="20010"/>
                    </a:ext>
                  </a:extLst>
                </a:gridCol>
              </a:tblGrid>
              <a:tr h="4632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Student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H</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J</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446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X (maths)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446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Y (Phys)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5"/>
          <p:cNvSpPr>
            <a:spLocks noChangeArrowheads="1"/>
          </p:cNvSpPr>
          <p:nvPr/>
        </p:nvSpPr>
        <p:spPr bwMode="auto">
          <a:xfrm>
            <a:off x="179388" y="53975"/>
            <a:ext cx="86756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a:latin typeface="Calibri" pitchFamily="34" charset="0"/>
                <a:ea typeface="Times New Roman" pitchFamily="18" charset="0"/>
                <a:cs typeface="Calibri" pitchFamily="34" charset="0"/>
              </a:rPr>
              <a:t>The relationship between the two variables can be depicted graphically in a presentation of the data called a scattergraph, as shown below in diagram 1:-</a:t>
            </a:r>
          </a:p>
        </p:txBody>
      </p:sp>
      <p:graphicFrame>
        <p:nvGraphicFramePr>
          <p:cNvPr id="7172" name="Object 4"/>
          <p:cNvGraphicFramePr>
            <a:graphicFrameLocks noChangeAspect="1"/>
          </p:cNvGraphicFramePr>
          <p:nvPr>
            <p:extLst>
              <p:ext uri="{D42A27DB-BD31-4B8C-83A1-F6EECF244321}">
                <p14:modId xmlns:p14="http://schemas.microsoft.com/office/powerpoint/2010/main" val="3438480166"/>
              </p:ext>
            </p:extLst>
          </p:nvPr>
        </p:nvGraphicFramePr>
        <p:xfrm>
          <a:off x="2771775" y="644525"/>
          <a:ext cx="3313113" cy="3074988"/>
        </p:xfrm>
        <a:graphic>
          <a:graphicData uri="http://schemas.openxmlformats.org/presentationml/2006/ole">
            <mc:AlternateContent xmlns:mc="http://schemas.openxmlformats.org/markup-compatibility/2006">
              <mc:Choice xmlns:v="urn:schemas-microsoft-com:vml" Requires="v">
                <p:oleObj spid="_x0000_s7198" r:id="rId3" imgW="2520360" imgH="2722680" progId="FXDraw3.Document">
                  <p:embed/>
                </p:oleObj>
              </mc:Choice>
              <mc:Fallback>
                <p:oleObj r:id="rId3" imgW="2520360" imgH="2722680" progId="FXDraw3.Document">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644525"/>
                        <a:ext cx="3313113" cy="307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4" name="Rectangle 6"/>
          <p:cNvSpPr>
            <a:spLocks noChangeArrowheads="1"/>
          </p:cNvSpPr>
          <p:nvPr/>
        </p:nvSpPr>
        <p:spPr bwMode="auto">
          <a:xfrm>
            <a:off x="323850" y="3480102"/>
            <a:ext cx="8424863"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dirty="0">
                <a:latin typeface="Calibri" pitchFamily="34" charset="0"/>
                <a:cs typeface="Calibri" pitchFamily="34" charset="0"/>
              </a:rPr>
              <a:t>Each unit (in this case, a person) is represented by a point on the </a:t>
            </a:r>
            <a:r>
              <a:rPr lang="en-AU" sz="1600" dirty="0" err="1">
                <a:latin typeface="Calibri" pitchFamily="34" charset="0"/>
                <a:cs typeface="Calibri" pitchFamily="34" charset="0"/>
              </a:rPr>
              <a:t>scattergraph</a:t>
            </a:r>
            <a:r>
              <a:rPr lang="en-AU" sz="1600" dirty="0">
                <a:latin typeface="Calibri" pitchFamily="34" charset="0"/>
                <a:cs typeface="Calibri" pitchFamily="34" charset="0"/>
              </a:rPr>
              <a:t>. A dot represents the ordered pair (Xi, Yi) for the </a:t>
            </a:r>
            <a:r>
              <a:rPr lang="en-AU" sz="1600" dirty="0" err="1">
                <a:latin typeface="Calibri" pitchFamily="34" charset="0"/>
                <a:cs typeface="Calibri" pitchFamily="34" charset="0"/>
              </a:rPr>
              <a:t>ith</a:t>
            </a:r>
            <a:r>
              <a:rPr lang="en-AU" sz="1600" dirty="0">
                <a:latin typeface="Calibri" pitchFamily="34" charset="0"/>
                <a:cs typeface="Calibri" pitchFamily="34" charset="0"/>
              </a:rPr>
              <a:t> person. </a:t>
            </a:r>
          </a:p>
          <a:p>
            <a:r>
              <a:rPr lang="en-AU" sz="1600" dirty="0">
                <a:latin typeface="Calibri" pitchFamily="34" charset="0"/>
                <a:cs typeface="Calibri" pitchFamily="34" charset="0"/>
              </a:rPr>
              <a:t>As shown, a line could be drawn through these points and we can see that there is a linear relationship between the two variables X and Y. Many relationships are linear, and we shall be looking at the strengths of these linear relationships. We shall also be looking at an analytical way of calculating the “line of best fit” so that we may make predictions (both interpolations and extrapolations).</a:t>
            </a:r>
          </a:p>
          <a:p>
            <a:r>
              <a:rPr lang="en-AU" sz="1600" dirty="0">
                <a:latin typeface="Calibri" pitchFamily="34" charset="0"/>
                <a:cs typeface="Calibri" pitchFamily="34" charset="0"/>
              </a:rPr>
              <a:t>To find the equation of the line of best fit by “eye”, select two points on the line (near the “ends”).</a:t>
            </a:r>
            <a:br>
              <a:rPr lang="en-AU" sz="1600" dirty="0">
                <a:latin typeface="Calibri" pitchFamily="34" charset="0"/>
                <a:cs typeface="Calibri" pitchFamily="34" charset="0"/>
              </a:rPr>
            </a:br>
            <a:r>
              <a:rPr lang="en-AU" sz="1600" dirty="0">
                <a:latin typeface="Calibri" pitchFamily="34" charset="0"/>
                <a:cs typeface="Calibri" pitchFamily="34" charset="0"/>
              </a:rPr>
              <a:t>In the case above, select say (0, 2) and (10, 10)</a:t>
            </a:r>
          </a:p>
          <a:p>
            <a:r>
              <a:rPr lang="en-AU" sz="1600" dirty="0">
                <a:latin typeface="Calibri" pitchFamily="34" charset="0"/>
                <a:cs typeface="Calibri" pitchFamily="34" charset="0"/>
              </a:rPr>
              <a:t>Then gradient of line is 0.8, and y intercept is 2</a:t>
            </a:r>
          </a:p>
          <a:p>
            <a:r>
              <a:rPr lang="en-AU" sz="1600" dirty="0">
                <a:latin typeface="Calibri" pitchFamily="34" charset="0"/>
                <a:cs typeface="Calibri" pitchFamily="34" charset="0"/>
              </a:rPr>
              <a:t>Hence equation is y = 0.8x + 2</a:t>
            </a:r>
          </a:p>
        </p:txBody>
      </p:sp>
      <mc:AlternateContent xmlns:mc="http://schemas.openxmlformats.org/markup-compatibility/2006" xmlns:a14="http://schemas.microsoft.com/office/drawing/2010/main">
        <mc:Choice Requires="a14">
          <p:sp>
            <p:nvSpPr>
              <p:cNvPr id="2" name="TextBox 1"/>
              <p:cNvSpPr txBox="1"/>
              <p:nvPr/>
            </p:nvSpPr>
            <p:spPr>
              <a:xfrm>
                <a:off x="4860032" y="5517232"/>
                <a:ext cx="3830344" cy="1323439"/>
              </a:xfrm>
              <a:prstGeom prst="rect">
                <a:avLst/>
              </a:prstGeom>
              <a:noFill/>
              <a:ln>
                <a:solidFill>
                  <a:schemeClr val="tx1">
                    <a:lumMod val="50000"/>
                    <a:lumOff val="50000"/>
                  </a:schemeClr>
                </a:solidFill>
              </a:ln>
            </p:spPr>
            <p:txBody>
              <a:bodyPr wrap="none" rtlCol="0">
                <a:spAutoFit/>
              </a:bodyPr>
              <a:lstStyle/>
              <a:p>
                <a:r>
                  <a:rPr lang="en-AU" sz="1600" dirty="0">
                    <a:latin typeface="Calibri" pitchFamily="34" charset="0"/>
                    <a:cs typeface="Calibri" pitchFamily="34" charset="0"/>
                  </a:rPr>
                  <a:t>Therefore If a Maths score is 5 then</a:t>
                </a:r>
              </a:p>
              <a:p>
                <a:pPr/>
                <a14:m>
                  <m:oMathPara xmlns:m="http://schemas.openxmlformats.org/officeDocument/2006/math">
                    <m:oMathParaPr>
                      <m:jc m:val="centerGroup"/>
                    </m:oMathParaPr>
                    <m:oMath xmlns:m="http://schemas.openxmlformats.org/officeDocument/2006/math">
                      <m:r>
                        <a:rPr lang="en-AU" sz="1600" b="0" i="1" smtClean="0">
                          <a:latin typeface="Cambria Math"/>
                          <a:cs typeface="Calibri" pitchFamily="34" charset="0"/>
                        </a:rPr>
                        <m:t>𝑦</m:t>
                      </m:r>
                      <m:r>
                        <a:rPr lang="en-AU" sz="1600" b="0" i="1" smtClean="0">
                          <a:latin typeface="Cambria Math"/>
                          <a:cs typeface="Calibri" pitchFamily="34" charset="0"/>
                        </a:rPr>
                        <m:t>=0.8×5+2</m:t>
                      </m:r>
                    </m:oMath>
                    <m:oMath xmlns:m="http://schemas.openxmlformats.org/officeDocument/2006/math">
                      <m:r>
                        <a:rPr lang="en-AU" sz="1600" b="0" i="1" smtClean="0">
                          <a:latin typeface="Cambria Math"/>
                          <a:ea typeface="Cambria Math"/>
                          <a:cs typeface="Calibri" pitchFamily="34" charset="0"/>
                        </a:rPr>
                        <m:t>𝑦</m:t>
                      </m:r>
                      <m:r>
                        <a:rPr lang="en-AU" sz="1600" b="0" i="1" smtClean="0">
                          <a:latin typeface="Cambria Math"/>
                          <a:ea typeface="Cambria Math"/>
                          <a:cs typeface="Calibri" pitchFamily="34" charset="0"/>
                        </a:rPr>
                        <m:t>=6</m:t>
                      </m:r>
                    </m:oMath>
                  </m:oMathPara>
                </a14:m>
                <a:endParaRPr lang="en-AU" sz="1600" b="0" dirty="0">
                  <a:latin typeface="Calibri" pitchFamily="34" charset="0"/>
                  <a:ea typeface="Cambria Math"/>
                  <a:cs typeface="Calibri" pitchFamily="34" charset="0"/>
                </a:endParaRPr>
              </a:p>
              <a:p>
                <a:r>
                  <a:rPr lang="en-AU" sz="1600" dirty="0">
                    <a:latin typeface="Calibri" pitchFamily="34" charset="0"/>
                    <a:cs typeface="Calibri" pitchFamily="34" charset="0"/>
                  </a:rPr>
                  <a:t>This gives an approximate Physics score of 6</a:t>
                </a:r>
              </a:p>
              <a:p>
                <a:r>
                  <a:rPr lang="en-AU" sz="1600" dirty="0">
                    <a:latin typeface="Calibri" pitchFamily="34" charset="0"/>
                    <a:cs typeface="Calibri" pitchFamily="34" charset="0"/>
                  </a:rPr>
                  <a:t>NOTE: this is only an approximation!</a:t>
                </a:r>
              </a:p>
            </p:txBody>
          </p:sp>
        </mc:Choice>
        <mc:Fallback xmlns="">
          <p:sp>
            <p:nvSpPr>
              <p:cNvPr id="2" name="TextBox 1"/>
              <p:cNvSpPr txBox="1">
                <a:spLocks noRot="1" noChangeAspect="1" noMove="1" noResize="1" noEditPoints="1" noAdjustHandles="1" noChangeArrowheads="1" noChangeShapeType="1" noTextEdit="1"/>
              </p:cNvSpPr>
              <p:nvPr/>
            </p:nvSpPr>
            <p:spPr>
              <a:xfrm>
                <a:off x="4860032" y="5517232"/>
                <a:ext cx="3830344" cy="1323439"/>
              </a:xfrm>
              <a:prstGeom prst="rect">
                <a:avLst/>
              </a:prstGeom>
              <a:blipFill rotWithShape="1">
                <a:blip r:embed="rId5"/>
                <a:stretch>
                  <a:fillRect l="-634" t="-913" b="-4566"/>
                </a:stretch>
              </a:blipFill>
              <a:ln>
                <a:solidFill>
                  <a:schemeClr val="tx1">
                    <a:lumMod val="50000"/>
                    <a:lumOff val="50000"/>
                  </a:schemeClr>
                </a:solidFill>
              </a:ln>
            </p:spPr>
            <p:txBody>
              <a:bodyPr/>
              <a:lstStyle/>
              <a:p>
                <a:r>
                  <a:rPr lang="en-AU">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4"/>
          <p:cNvSpPr>
            <a:spLocks noChangeArrowheads="1"/>
          </p:cNvSpPr>
          <p:nvPr/>
        </p:nvSpPr>
        <p:spPr bwMode="auto">
          <a:xfrm>
            <a:off x="179388" y="188913"/>
            <a:ext cx="8713787" cy="400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indent="457200"/>
            <a:r>
              <a:rPr lang="en-AU" sz="1600" dirty="0"/>
              <a:t>A linear relationship has two measures:-</a:t>
            </a:r>
          </a:p>
          <a:p>
            <a:pPr indent="457200"/>
            <a:r>
              <a:rPr lang="en-AU" sz="1600" dirty="0"/>
              <a:t>(</a:t>
            </a:r>
            <a:r>
              <a:rPr lang="en-AU" sz="1600" dirty="0" err="1"/>
              <a:t>i</a:t>
            </a:r>
            <a:r>
              <a:rPr lang="en-AU" sz="1600" dirty="0"/>
              <a:t>)	direction</a:t>
            </a:r>
          </a:p>
          <a:p>
            <a:pPr indent="457200"/>
            <a:r>
              <a:rPr lang="en-AU" sz="1600" dirty="0"/>
              <a:t>	A </a:t>
            </a:r>
            <a:r>
              <a:rPr lang="en-AU" sz="1600" b="1" dirty="0"/>
              <a:t>positive</a:t>
            </a:r>
            <a:r>
              <a:rPr lang="en-AU" sz="1600" dirty="0"/>
              <a:t> relationship means an increase in one variable is associated with an </a:t>
            </a:r>
            <a:br>
              <a:rPr lang="en-AU" sz="1600" dirty="0"/>
            </a:br>
            <a:r>
              <a:rPr lang="en-AU" sz="1600" dirty="0"/>
              <a:t>	increase in the other variable</a:t>
            </a:r>
            <a:br>
              <a:rPr lang="en-AU" sz="1600" dirty="0"/>
            </a:br>
            <a:r>
              <a:rPr lang="en-AU" sz="1600" dirty="0"/>
              <a:t>		</a:t>
            </a:r>
            <a:br>
              <a:rPr lang="en-AU" sz="1600" dirty="0"/>
            </a:br>
            <a:r>
              <a:rPr lang="en-AU" sz="1600" dirty="0"/>
              <a:t>	A </a:t>
            </a:r>
            <a:r>
              <a:rPr lang="en-AU" sz="1600" b="1" dirty="0"/>
              <a:t>negative</a:t>
            </a:r>
            <a:r>
              <a:rPr lang="en-AU" sz="1600" dirty="0"/>
              <a:t> relationship means an increase in one variable is associated with an </a:t>
            </a:r>
            <a:br>
              <a:rPr lang="en-AU" sz="1600" dirty="0"/>
            </a:br>
            <a:r>
              <a:rPr lang="en-AU" sz="1600" dirty="0"/>
              <a:t>	decrease in the other variable</a:t>
            </a:r>
            <a:br>
              <a:rPr lang="en-AU" sz="1600" dirty="0"/>
            </a:br>
            <a:br>
              <a:rPr lang="en-AU" sz="1600" dirty="0"/>
            </a:br>
            <a:r>
              <a:rPr lang="en-AU" sz="1600" dirty="0"/>
              <a:t>	e.g. in Diagram 1 on the previous page, the relationship is positive.</a:t>
            </a:r>
          </a:p>
          <a:p>
            <a:pPr indent="457200"/>
            <a:r>
              <a:rPr lang="en-AU" sz="1600" dirty="0"/>
              <a:t>(ii)	strength</a:t>
            </a:r>
          </a:p>
          <a:p>
            <a:pPr indent="457200"/>
            <a:r>
              <a:rPr lang="en-AU" sz="1600" dirty="0"/>
              <a:t>	We shall attempt to measure how closely the ordered pairs approximate </a:t>
            </a:r>
            <a:br>
              <a:rPr lang="en-AU" sz="1600" dirty="0"/>
            </a:br>
            <a:r>
              <a:rPr lang="en-AU" sz="1600" dirty="0"/>
              <a:t>	to a linear relationship i.e. how closely the points on the </a:t>
            </a:r>
            <a:r>
              <a:rPr lang="en-AU" sz="1600" dirty="0" err="1"/>
              <a:t>scattergraph</a:t>
            </a:r>
            <a:r>
              <a:rPr lang="en-AU" sz="1600" dirty="0"/>
              <a:t> approximate </a:t>
            </a:r>
          </a:p>
          <a:p>
            <a:pPr indent="457200"/>
            <a:r>
              <a:rPr lang="en-AU" sz="1600" dirty="0"/>
              <a:t>	to a (straight) line.</a:t>
            </a:r>
            <a:br>
              <a:rPr lang="en-AU" sz="1600" b="1" i="1" dirty="0"/>
            </a:br>
            <a:br>
              <a:rPr lang="en-AU" sz="1600" b="1" i="1" dirty="0"/>
            </a:br>
            <a:r>
              <a:rPr lang="en-AU" sz="1600" u="sng" dirty="0"/>
              <a:t>Estimating </a:t>
            </a:r>
            <a:r>
              <a:rPr lang="en-AU" sz="1600" dirty="0"/>
              <a:t>Value of the measure of Relationship or as we say “Correlation Coefficient” - </a:t>
            </a:r>
            <a:r>
              <a:rPr lang="en-AU" sz="1600" dirty="0" err="1"/>
              <a:t>r</a:t>
            </a:r>
            <a:r>
              <a:rPr lang="en-AU" sz="1600" baseline="-25000" dirty="0" err="1"/>
              <a:t>xy</a:t>
            </a:r>
            <a:endParaRPr lang="en-AU" sz="1600" dirty="0"/>
          </a:p>
          <a:p>
            <a:pPr indent="457200"/>
            <a:r>
              <a:rPr lang="en-AU" sz="1600" dirty="0"/>
              <a:t>You should be able to look at a </a:t>
            </a:r>
            <a:r>
              <a:rPr lang="en-AU" sz="1600" dirty="0" err="1"/>
              <a:t>scattergraph</a:t>
            </a:r>
            <a:r>
              <a:rPr lang="en-AU" sz="1600" dirty="0"/>
              <a:t> and estimate the value of </a:t>
            </a:r>
            <a:r>
              <a:rPr lang="en-AU" sz="1600" dirty="0" err="1"/>
              <a:t>r</a:t>
            </a:r>
            <a:r>
              <a:rPr lang="en-AU" sz="1600" baseline="-25000" dirty="0" err="1"/>
              <a:t>xy</a:t>
            </a:r>
            <a:r>
              <a:rPr lang="en-AU" sz="1600" dirty="0"/>
              <a:t>. </a:t>
            </a:r>
          </a:p>
        </p:txBody>
      </p:sp>
      <p:graphicFrame>
        <p:nvGraphicFramePr>
          <p:cNvPr id="8199" name="Object 7"/>
          <p:cNvGraphicFramePr>
            <a:graphicFrameLocks noChangeAspect="1"/>
          </p:cNvGraphicFramePr>
          <p:nvPr/>
        </p:nvGraphicFramePr>
        <p:xfrm>
          <a:off x="827088" y="4292600"/>
          <a:ext cx="1962150" cy="1876425"/>
        </p:xfrm>
        <a:graphic>
          <a:graphicData uri="http://schemas.openxmlformats.org/presentationml/2006/ole">
            <mc:AlternateContent xmlns:mc="http://schemas.openxmlformats.org/markup-compatibility/2006">
              <mc:Choice xmlns:v="urn:schemas-microsoft-com:vml" Requires="v">
                <p:oleObj spid="_x0000_s8286" r:id="rId3" imgW="1982160" imgH="2162160" progId="FXDraw3.Document">
                  <p:embed/>
                </p:oleObj>
              </mc:Choice>
              <mc:Fallback>
                <p:oleObj r:id="rId3" imgW="1982160" imgH="2162160" progId="FXDraw3.Document">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4292600"/>
                        <a:ext cx="1962150" cy="187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8" name="Object 6"/>
          <p:cNvGraphicFramePr>
            <a:graphicFrameLocks noChangeAspect="1"/>
          </p:cNvGraphicFramePr>
          <p:nvPr/>
        </p:nvGraphicFramePr>
        <p:xfrm>
          <a:off x="3419475" y="4437063"/>
          <a:ext cx="1619250" cy="1676400"/>
        </p:xfrm>
        <a:graphic>
          <a:graphicData uri="http://schemas.openxmlformats.org/presentationml/2006/ole">
            <mc:AlternateContent xmlns:mc="http://schemas.openxmlformats.org/markup-compatibility/2006">
              <mc:Choice xmlns:v="urn:schemas-microsoft-com:vml" Requires="v">
                <p:oleObj spid="_x0000_s8287" r:id="rId5" imgW="1623960" imgH="1678320" progId="FXDraw3.Document">
                  <p:embed/>
                </p:oleObj>
              </mc:Choice>
              <mc:Fallback>
                <p:oleObj r:id="rId5" imgW="1623960" imgH="1678320" progId="FXDraw3.Document">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4437063"/>
                        <a:ext cx="1619250"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7" name="Object 5"/>
          <p:cNvGraphicFramePr>
            <a:graphicFrameLocks noChangeAspect="1"/>
          </p:cNvGraphicFramePr>
          <p:nvPr/>
        </p:nvGraphicFramePr>
        <p:xfrm>
          <a:off x="5795963" y="4437063"/>
          <a:ext cx="1619250" cy="1676400"/>
        </p:xfrm>
        <a:graphic>
          <a:graphicData uri="http://schemas.openxmlformats.org/presentationml/2006/ole">
            <mc:AlternateContent xmlns:mc="http://schemas.openxmlformats.org/markup-compatibility/2006">
              <mc:Choice xmlns:v="urn:schemas-microsoft-com:vml" Requires="v">
                <p:oleObj spid="_x0000_s8288" r:id="rId7" imgW="1623960" imgH="1678320" progId="FXDraw3.Document">
                  <p:embed/>
                </p:oleObj>
              </mc:Choice>
              <mc:Fallback>
                <p:oleObj r:id="rId7" imgW="1623960" imgH="1678320" progId="FXDraw3.Document">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95963" y="4437063"/>
                        <a:ext cx="1619250"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0" name="Rectangle 8"/>
          <p:cNvSpPr>
            <a:spLocks noChangeArrowheads="1"/>
          </p:cNvSpPr>
          <p:nvPr/>
        </p:nvSpPr>
        <p:spPr bwMode="auto">
          <a:xfrm>
            <a:off x="1263650" y="2490788"/>
            <a:ext cx="21907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sp>
        <p:nvSpPr>
          <p:cNvPr id="8202" name="Rectangle 10"/>
          <p:cNvSpPr>
            <a:spLocks noChangeArrowheads="1"/>
          </p:cNvSpPr>
          <p:nvPr/>
        </p:nvSpPr>
        <p:spPr bwMode="auto">
          <a:xfrm>
            <a:off x="1263650" y="2490788"/>
            <a:ext cx="21272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sp>
        <p:nvSpPr>
          <p:cNvPr id="8204" name="Rectangle 12"/>
          <p:cNvSpPr>
            <a:spLocks noChangeArrowheads="1"/>
          </p:cNvSpPr>
          <p:nvPr/>
        </p:nvSpPr>
        <p:spPr bwMode="auto">
          <a:xfrm>
            <a:off x="1263650" y="2490788"/>
            <a:ext cx="23002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graphicFrame>
        <p:nvGraphicFramePr>
          <p:cNvPr id="8225" name="Group 33"/>
          <p:cNvGraphicFramePr>
            <a:graphicFrameLocks noGrp="1"/>
          </p:cNvGraphicFramePr>
          <p:nvPr/>
        </p:nvGraphicFramePr>
        <p:xfrm>
          <a:off x="684213" y="4365625"/>
          <a:ext cx="7488237" cy="2087563"/>
        </p:xfrm>
        <a:graphic>
          <a:graphicData uri="http://schemas.openxmlformats.org/drawingml/2006/table">
            <a:tbl>
              <a:tblPr/>
              <a:tblGrid>
                <a:gridCol w="2478087">
                  <a:extLst>
                    <a:ext uri="{9D8B030D-6E8A-4147-A177-3AD203B41FA5}">
                      <a16:colId xmlns:a16="http://schemas.microsoft.com/office/drawing/2014/main" val="20000"/>
                    </a:ext>
                  </a:extLst>
                </a:gridCol>
                <a:gridCol w="2408238">
                  <a:extLst>
                    <a:ext uri="{9D8B030D-6E8A-4147-A177-3AD203B41FA5}">
                      <a16:colId xmlns:a16="http://schemas.microsoft.com/office/drawing/2014/main" val="20001"/>
                    </a:ext>
                  </a:extLst>
                </a:gridCol>
                <a:gridCol w="2601912">
                  <a:extLst>
                    <a:ext uri="{9D8B030D-6E8A-4147-A177-3AD203B41FA5}">
                      <a16:colId xmlns:a16="http://schemas.microsoft.com/office/drawing/2014/main" val="20002"/>
                    </a:ext>
                  </a:extLst>
                </a:gridCol>
              </a:tblGrid>
              <a:tr h="2087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charset="0"/>
                          <a:ea typeface="Times New Roman" pitchFamily="18" charset="0"/>
                          <a:cs typeface="Arial" charset="0"/>
                        </a:rPr>
                        <a:t>r = 1</a:t>
                      </a:r>
                      <a:endParaRPr kumimoji="0" lang="en-AU" sz="1800" b="0" i="0" u="none" strike="noStrike" cap="none" normalizeH="0" baseline="0" dirty="0">
                        <a:ln>
                          <a:noFill/>
                        </a:ln>
                        <a:solidFill>
                          <a:schemeClr val="tx1"/>
                        </a:solidFill>
                        <a:effectLst/>
                        <a:latin typeface="Arial" charset="0"/>
                        <a:ea typeface="Times New Roman" pitchFamily="18" charset="0"/>
                        <a:cs typeface="Arial" charset="0"/>
                      </a:endParaRPr>
                    </a:p>
                  </a:txBody>
                  <a:tcPr horzOverflow="overflow">
                    <a:lnL cap="flat">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charset="0"/>
                          <a:ea typeface="Times New Roman" pitchFamily="18" charset="0"/>
                          <a:cs typeface="Arial" charset="0"/>
                        </a:rPr>
                        <a:t>r ≈ 0.8</a:t>
                      </a:r>
                      <a:endParaRPr kumimoji="0" lang="en-AU" sz="1000" b="0"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horzOverflow="overflow">
                    <a:lnL>
                      <a:noFill/>
                    </a:lnL>
                    <a:lnR>
                      <a:noFill/>
                    </a:lnR>
                    <a:lnT cap="fla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AU" sz="1200" b="0" i="0" u="none" strike="noStrike" cap="none" normalizeH="0" baseline="0" dirty="0">
                          <a:ln>
                            <a:noFill/>
                          </a:ln>
                          <a:solidFill>
                            <a:schemeClr val="tx1"/>
                          </a:solidFill>
                          <a:effectLst/>
                          <a:latin typeface="Arial" charset="0"/>
                          <a:ea typeface="Times New Roman" pitchFamily="18" charset="0"/>
                          <a:cs typeface="Arial" charset="0"/>
                        </a:rPr>
                      </a:br>
                      <a:br>
                        <a:rPr kumimoji="0" lang="en-AU" sz="1200" b="0" i="0" u="none" strike="noStrike" cap="none" normalizeH="0" baseline="0" dirty="0">
                          <a:ln>
                            <a:noFill/>
                          </a:ln>
                          <a:solidFill>
                            <a:schemeClr val="tx1"/>
                          </a:solidFill>
                          <a:effectLst/>
                          <a:latin typeface="Arial" charset="0"/>
                          <a:ea typeface="Times New Roman" pitchFamily="18" charset="0"/>
                          <a:cs typeface="Arial" charset="0"/>
                        </a:rPr>
                      </a:br>
                      <a:endParaRPr kumimoji="0" lang="en-AU" sz="1000" b="0" i="0" u="none" strike="noStrike" cap="none" normalizeH="0" baseline="0" dirty="0">
                        <a:ln>
                          <a:noFill/>
                        </a:ln>
                        <a:solidFill>
                          <a:schemeClr val="tx1"/>
                        </a:solidFill>
                        <a:effectLst/>
                        <a:latin typeface="Times New Roman" pitchFamily="18"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charset="0"/>
                          <a:ea typeface="Times New Roman" pitchFamily="18" charset="0"/>
                          <a:cs typeface="Arial" charset="0"/>
                        </a:rPr>
                        <a:t>r ≈ 0.6</a:t>
                      </a:r>
                      <a:endParaRPr kumimoji="0" lang="en-AU" sz="1000" b="0" i="0" u="none" strike="noStrike" cap="none" normalizeH="0" baseline="0" dirty="0">
                        <a:ln>
                          <a:noFill/>
                        </a:ln>
                        <a:solidFill>
                          <a:schemeClr val="tx1"/>
                        </a:solidFill>
                        <a:effectLst/>
                        <a:latin typeface="Times New Roman" pitchFamily="18" charset="0"/>
                        <a:cs typeface="Times New Roman" pitchFamily="18" charset="0"/>
                      </a:endParaRPr>
                    </a:p>
                  </a:txBody>
                  <a:tcPr horzOverflow="overflow">
                    <a:lnL>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25" name="Object 9"/>
          <p:cNvGraphicFramePr>
            <a:graphicFrameLocks noChangeAspect="1"/>
          </p:cNvGraphicFramePr>
          <p:nvPr/>
        </p:nvGraphicFramePr>
        <p:xfrm>
          <a:off x="1042988" y="333375"/>
          <a:ext cx="2089150" cy="2089150"/>
        </p:xfrm>
        <a:graphic>
          <a:graphicData uri="http://schemas.openxmlformats.org/presentationml/2006/ole">
            <mc:AlternateContent xmlns:mc="http://schemas.openxmlformats.org/markup-compatibility/2006">
              <mc:Choice xmlns:v="urn:schemas-microsoft-com:vml" Requires="v">
                <p:oleObj spid="_x0000_s9400" r:id="rId3" imgW="1803960" imgH="1803960" progId="FXDraw3.Document">
                  <p:embed/>
                </p:oleObj>
              </mc:Choice>
              <mc:Fallback>
                <p:oleObj r:id="rId3" imgW="1803960" imgH="1803960" progId="FXDraw3.Document">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333375"/>
                        <a:ext cx="2089150" cy="2089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4" name="Object 8"/>
          <p:cNvGraphicFramePr>
            <a:graphicFrameLocks noChangeAspect="1"/>
          </p:cNvGraphicFramePr>
          <p:nvPr/>
        </p:nvGraphicFramePr>
        <p:xfrm>
          <a:off x="3382963" y="404813"/>
          <a:ext cx="2016125" cy="2087562"/>
        </p:xfrm>
        <a:graphic>
          <a:graphicData uri="http://schemas.openxmlformats.org/presentationml/2006/ole">
            <mc:AlternateContent xmlns:mc="http://schemas.openxmlformats.org/markup-compatibility/2006">
              <mc:Choice xmlns:v="urn:schemas-microsoft-com:vml" Requires="v">
                <p:oleObj spid="_x0000_s9401" r:id="rId5" imgW="1623960" imgH="1678320" progId="FXDraw3.Document">
                  <p:embed/>
                </p:oleObj>
              </mc:Choice>
              <mc:Fallback>
                <p:oleObj r:id="rId5" imgW="1623960" imgH="1678320" progId="FXDraw3.Document">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2963" y="404813"/>
                        <a:ext cx="2016125" cy="2087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3" name="Object 7"/>
          <p:cNvGraphicFramePr>
            <a:graphicFrameLocks noChangeAspect="1"/>
          </p:cNvGraphicFramePr>
          <p:nvPr/>
        </p:nvGraphicFramePr>
        <p:xfrm>
          <a:off x="5651500" y="549275"/>
          <a:ext cx="2593975" cy="2011363"/>
        </p:xfrm>
        <a:graphic>
          <a:graphicData uri="http://schemas.openxmlformats.org/presentationml/2006/ole">
            <mc:AlternateContent xmlns:mc="http://schemas.openxmlformats.org/markup-compatibility/2006">
              <mc:Choice xmlns:v="urn:schemas-microsoft-com:vml" Requires="v">
                <p:oleObj spid="_x0000_s9402" r:id="rId7" imgW="2162160" imgH="1678320" progId="FXDraw3.Document">
                  <p:embed/>
                </p:oleObj>
              </mc:Choice>
              <mc:Fallback>
                <p:oleObj r:id="rId7" imgW="2162160" imgH="1678320" progId="FXDraw3.Document">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1500" y="549275"/>
                        <a:ext cx="2593975" cy="2011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2" name="Object 6"/>
          <p:cNvGraphicFramePr>
            <a:graphicFrameLocks noChangeAspect="1"/>
          </p:cNvGraphicFramePr>
          <p:nvPr/>
        </p:nvGraphicFramePr>
        <p:xfrm>
          <a:off x="3382963" y="3141663"/>
          <a:ext cx="2016125" cy="2087562"/>
        </p:xfrm>
        <a:graphic>
          <a:graphicData uri="http://schemas.openxmlformats.org/presentationml/2006/ole">
            <mc:AlternateContent xmlns:mc="http://schemas.openxmlformats.org/markup-compatibility/2006">
              <mc:Choice xmlns:v="urn:schemas-microsoft-com:vml" Requires="v">
                <p:oleObj spid="_x0000_s9403" r:id="rId9" imgW="1623960" imgH="1678320" progId="FXDraw3.Document">
                  <p:embed/>
                </p:oleObj>
              </mc:Choice>
              <mc:Fallback>
                <p:oleObj r:id="rId9" imgW="1623960" imgH="1678320" progId="FXDraw3.Document">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2963" y="3141663"/>
                        <a:ext cx="2016125" cy="2087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5"/>
          <p:cNvGraphicFramePr>
            <a:graphicFrameLocks noChangeAspect="1"/>
          </p:cNvGraphicFramePr>
          <p:nvPr/>
        </p:nvGraphicFramePr>
        <p:xfrm>
          <a:off x="1219200" y="3213100"/>
          <a:ext cx="1947863" cy="2016125"/>
        </p:xfrm>
        <a:graphic>
          <a:graphicData uri="http://schemas.openxmlformats.org/presentationml/2006/ole">
            <mc:AlternateContent xmlns:mc="http://schemas.openxmlformats.org/markup-compatibility/2006">
              <mc:Choice xmlns:v="urn:schemas-microsoft-com:vml" Requires="v">
                <p:oleObj spid="_x0000_s9404" r:id="rId11" imgW="1623960" imgH="1678320" progId="FXDraw3.Document">
                  <p:embed/>
                </p:oleObj>
              </mc:Choice>
              <mc:Fallback>
                <p:oleObj r:id="rId11" imgW="1623960" imgH="1678320" progId="FXDraw3.Document">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9200" y="3213100"/>
                        <a:ext cx="1947863" cy="201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4"/>
          <p:cNvGraphicFramePr>
            <a:graphicFrameLocks noChangeAspect="1"/>
          </p:cNvGraphicFramePr>
          <p:nvPr/>
        </p:nvGraphicFramePr>
        <p:xfrm>
          <a:off x="5724525" y="3141663"/>
          <a:ext cx="2087563" cy="2087562"/>
        </p:xfrm>
        <a:graphic>
          <a:graphicData uri="http://schemas.openxmlformats.org/presentationml/2006/ole">
            <mc:AlternateContent xmlns:mc="http://schemas.openxmlformats.org/markup-compatibility/2006">
              <mc:Choice xmlns:v="urn:schemas-microsoft-com:vml" Requires="v">
                <p:oleObj spid="_x0000_s9405" r:id="rId13" imgW="1803960" imgH="1803960" progId="FXDraw3.Document">
                  <p:embed/>
                </p:oleObj>
              </mc:Choice>
              <mc:Fallback>
                <p:oleObj r:id="rId13" imgW="1803960" imgH="1803960" progId="FXDraw3.Document">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24525" y="3141663"/>
                        <a:ext cx="2087563" cy="2087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6" name="Rectangle 10"/>
          <p:cNvSpPr>
            <a:spLocks noChangeArrowheads="1"/>
          </p:cNvSpPr>
          <p:nvPr/>
        </p:nvSpPr>
        <p:spPr bwMode="auto">
          <a:xfrm>
            <a:off x="1263650" y="2528888"/>
            <a:ext cx="21907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sp>
        <p:nvSpPr>
          <p:cNvPr id="9228" name="Rectangle 12"/>
          <p:cNvSpPr>
            <a:spLocks noChangeArrowheads="1"/>
          </p:cNvSpPr>
          <p:nvPr/>
        </p:nvSpPr>
        <p:spPr bwMode="auto">
          <a:xfrm>
            <a:off x="1263650" y="2528888"/>
            <a:ext cx="21272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sp>
        <p:nvSpPr>
          <p:cNvPr id="9230" name="Rectangle 14"/>
          <p:cNvSpPr>
            <a:spLocks noChangeArrowheads="1"/>
          </p:cNvSpPr>
          <p:nvPr/>
        </p:nvSpPr>
        <p:spPr bwMode="auto">
          <a:xfrm>
            <a:off x="1263650" y="2528888"/>
            <a:ext cx="23002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sp>
        <p:nvSpPr>
          <p:cNvPr id="9232" name="Rectangle 16"/>
          <p:cNvSpPr>
            <a:spLocks noChangeArrowheads="1"/>
          </p:cNvSpPr>
          <p:nvPr/>
        </p:nvSpPr>
        <p:spPr bwMode="auto">
          <a:xfrm>
            <a:off x="1263650" y="2528888"/>
            <a:ext cx="21907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sp>
        <p:nvSpPr>
          <p:cNvPr id="9234" name="Rectangle 18"/>
          <p:cNvSpPr>
            <a:spLocks noChangeArrowheads="1"/>
          </p:cNvSpPr>
          <p:nvPr/>
        </p:nvSpPr>
        <p:spPr bwMode="auto">
          <a:xfrm>
            <a:off x="1263650" y="2528888"/>
            <a:ext cx="21272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sp>
        <p:nvSpPr>
          <p:cNvPr id="9236" name="Rectangle 20"/>
          <p:cNvSpPr>
            <a:spLocks noChangeArrowheads="1"/>
          </p:cNvSpPr>
          <p:nvPr/>
        </p:nvSpPr>
        <p:spPr bwMode="auto">
          <a:xfrm>
            <a:off x="1263650" y="2528888"/>
            <a:ext cx="2300288"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AU"/>
          </a:p>
        </p:txBody>
      </p:sp>
      <p:graphicFrame>
        <p:nvGraphicFramePr>
          <p:cNvPr id="9279" name="Group 63"/>
          <p:cNvGraphicFramePr>
            <a:graphicFrameLocks noGrp="1"/>
          </p:cNvGraphicFramePr>
          <p:nvPr/>
        </p:nvGraphicFramePr>
        <p:xfrm>
          <a:off x="1116013" y="260350"/>
          <a:ext cx="6618287" cy="5303520"/>
        </p:xfrm>
        <a:graphic>
          <a:graphicData uri="http://schemas.openxmlformats.org/drawingml/2006/table">
            <a:tbl>
              <a:tblPr/>
              <a:tblGrid>
                <a:gridCol w="2190750">
                  <a:extLst>
                    <a:ext uri="{9D8B030D-6E8A-4147-A177-3AD203B41FA5}">
                      <a16:colId xmlns:a16="http://schemas.microsoft.com/office/drawing/2014/main" val="20000"/>
                    </a:ext>
                  </a:extLst>
                </a:gridCol>
                <a:gridCol w="2127250">
                  <a:extLst>
                    <a:ext uri="{9D8B030D-6E8A-4147-A177-3AD203B41FA5}">
                      <a16:colId xmlns:a16="http://schemas.microsoft.com/office/drawing/2014/main" val="20001"/>
                    </a:ext>
                  </a:extLst>
                </a:gridCol>
                <a:gridCol w="2300287">
                  <a:extLst>
                    <a:ext uri="{9D8B030D-6E8A-4147-A177-3AD203B41FA5}">
                      <a16:colId xmlns:a16="http://schemas.microsoft.com/office/drawing/2014/main" val="20002"/>
                    </a:ext>
                  </a:extLst>
                </a:gridCol>
              </a:tblGrid>
              <a:tr h="19050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charset="0"/>
                          <a:ea typeface="Times New Roman" pitchFamily="18" charset="0"/>
                          <a:cs typeface="Arial" charset="0"/>
                        </a:rPr>
                        <a:t>r ≈ 0.4</a:t>
                      </a:r>
                      <a:endParaRPr kumimoji="0" lang="en-AU" sz="1000" b="0"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horzOverflow="overflow">
                    <a:lnL cap="flat">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charset="0"/>
                          <a:ea typeface="Times New Roman" pitchFamily="18" charset="0"/>
                          <a:cs typeface="Arial" charset="0"/>
                        </a:rPr>
                        <a:t>r ≈ 0</a:t>
                      </a:r>
                      <a:endParaRPr kumimoji="0" lang="en-AU"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horzOverflow="overflow">
                    <a:lnL>
                      <a:noFill/>
                    </a:lnL>
                    <a:lnR>
                      <a:noFill/>
                    </a:lnR>
                    <a:lnT cap="fla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charset="0"/>
                          <a:ea typeface="Times New Roman" pitchFamily="18" charset="0"/>
                          <a:cs typeface="Arial" charset="0"/>
                        </a:rPr>
                        <a:t>r ≈ -0.2</a:t>
                      </a:r>
                      <a:endParaRPr kumimoji="0" lang="en-AU" sz="1000" b="0" i="0" u="none" strike="noStrike" cap="none" normalizeH="0" baseline="0">
                        <a:ln>
                          <a:noFill/>
                        </a:ln>
                        <a:solidFill>
                          <a:schemeClr val="tx1"/>
                        </a:solidFill>
                        <a:effectLst/>
                        <a:latin typeface="Times New Roman" pitchFamily="18" charset="0"/>
                        <a:ea typeface="Times New Roman" pitchFamily="18" charset="0"/>
                        <a:cs typeface="Arial" charset="0"/>
                      </a:endParaRPr>
                    </a:p>
                  </a:txBody>
                  <a:tcPr horzOverflow="overflow">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31432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charset="0"/>
                          <a:ea typeface="Times New Roman" pitchFamily="18" charset="0"/>
                          <a:cs typeface="Arial" charset="0"/>
                        </a:rPr>
                        <a:t>r ≈ -0.5</a:t>
                      </a:r>
                      <a:endParaRPr kumimoji="0" lang="en-AU" sz="1000" b="0"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horzOverflow="overflow">
                    <a:lnL cap="flat">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charset="0"/>
                          <a:ea typeface="Times New Roman" pitchFamily="18" charset="0"/>
                          <a:cs typeface="Arial" charset="0"/>
                        </a:rPr>
                        <a:t>r ≈ -0.8</a:t>
                      </a:r>
                      <a:endParaRPr kumimoji="0" lang="en-AU" sz="1000" b="0"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horzOverflow="overflow">
                    <a:lnL>
                      <a:noFill/>
                    </a:lnL>
                    <a:lnR>
                      <a:noFill/>
                    </a:lnR>
                    <a:lnT>
                      <a:noFill/>
                    </a:lnT>
                    <a:lnB cap="flat">
                      <a:noFill/>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dirty="0">
                        <a:ln>
                          <a:noFill/>
                        </a:ln>
                        <a:solidFill>
                          <a:schemeClr val="tx1"/>
                        </a:solidFill>
                        <a:effectLst/>
                        <a:latin typeface="Arial" charset="0"/>
                        <a:ea typeface="Times New Roman" pitchFamily="18"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charset="0"/>
                          <a:ea typeface="Times New Roman" pitchFamily="18" charset="0"/>
                          <a:cs typeface="Arial" charset="0"/>
                        </a:rPr>
                        <a:t>r = -1</a:t>
                      </a:r>
                      <a:endParaRPr kumimoji="0" lang="en-AU" sz="1000" b="0" i="0" u="none" strike="noStrike" cap="none" normalizeH="0" baseline="0" dirty="0">
                        <a:ln>
                          <a:noFill/>
                        </a:ln>
                        <a:solidFill>
                          <a:schemeClr val="tx1"/>
                        </a:solidFill>
                        <a:effectLst/>
                        <a:latin typeface="Times New Roman" pitchFamily="18" charset="0"/>
                        <a:ea typeface="Times New Roman" pitchFamily="18" charset="0"/>
                        <a:cs typeface="Arial" charset="0"/>
                      </a:endParaRPr>
                    </a:p>
                  </a:txBody>
                  <a:tcPr horzOverflow="overflow">
                    <a:lnL>
                      <a:noFill/>
                    </a:lnL>
                    <a:lnR cap="flat">
                      <a:noFill/>
                    </a:lnR>
                    <a:lnT>
                      <a:noFill/>
                    </a:lnT>
                    <a:lnB cap="flat">
                      <a:noFill/>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TextBox 1"/>
          <p:cNvSpPr txBox="1"/>
          <p:nvPr/>
        </p:nvSpPr>
        <p:spPr>
          <a:xfrm>
            <a:off x="1167527" y="5309980"/>
            <a:ext cx="596161" cy="276999"/>
          </a:xfrm>
          <a:prstGeom prst="rect">
            <a:avLst/>
          </a:prstGeom>
          <a:solidFill>
            <a:schemeClr val="bg1"/>
          </a:solidFill>
        </p:spPr>
        <p:txBody>
          <a:bodyPr wrap="square" rtlCol="0">
            <a:spAutoFit/>
          </a:bodyPr>
          <a:lstStyle/>
          <a:p>
            <a:r>
              <a:rPr lang="en-AU" sz="1200" dirty="0">
                <a:latin typeface="Calibri" panose="020F0502020204030204" pitchFamily="34" charset="0"/>
              </a:rPr>
              <a:t>r</a:t>
            </a:r>
            <a:r>
              <a:rPr lang="en-AU" sz="1200" dirty="0">
                <a:latin typeface="Cambria Math"/>
                <a:ea typeface="Cambria Math"/>
              </a:rPr>
              <a:t>≈</a:t>
            </a:r>
            <a:r>
              <a:rPr lang="en-AU" sz="1200" dirty="0">
                <a:latin typeface="Calibri" panose="020F0502020204030204" pitchFamily="34" charset="0"/>
              </a:rPr>
              <a:t>-0.8</a:t>
            </a:r>
          </a:p>
        </p:txBody>
      </p:sp>
      <p:sp>
        <p:nvSpPr>
          <p:cNvPr id="16" name="TextBox 15"/>
          <p:cNvSpPr txBox="1"/>
          <p:nvPr/>
        </p:nvSpPr>
        <p:spPr>
          <a:xfrm>
            <a:off x="3390900" y="5327569"/>
            <a:ext cx="596161" cy="276999"/>
          </a:xfrm>
          <a:prstGeom prst="rect">
            <a:avLst/>
          </a:prstGeom>
          <a:solidFill>
            <a:schemeClr val="bg1"/>
          </a:solidFill>
        </p:spPr>
        <p:txBody>
          <a:bodyPr wrap="square" rtlCol="0">
            <a:spAutoFit/>
          </a:bodyPr>
          <a:lstStyle/>
          <a:p>
            <a:r>
              <a:rPr lang="en-AU" sz="1200" dirty="0">
                <a:latin typeface="Calibri" panose="020F0502020204030204" pitchFamily="34" charset="0"/>
              </a:rPr>
              <a:t>r</a:t>
            </a:r>
            <a:r>
              <a:rPr lang="en-AU" sz="1200" dirty="0">
                <a:latin typeface="Cambria Math"/>
                <a:ea typeface="Cambria Math"/>
              </a:rPr>
              <a:t>≈</a:t>
            </a:r>
            <a:r>
              <a:rPr lang="en-AU" sz="1200" dirty="0">
                <a:latin typeface="Calibri" panose="020F0502020204030204" pitchFamily="34" charset="0"/>
              </a:rPr>
              <a:t>-0.5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ChangeArrowheads="1"/>
          </p:cNvSpPr>
          <p:nvPr/>
        </p:nvSpPr>
        <p:spPr bwMode="auto">
          <a:xfrm>
            <a:off x="326430" y="836712"/>
            <a:ext cx="83534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dirty="0">
                <a:latin typeface="Calibri" pitchFamily="34" charset="0"/>
                <a:ea typeface="Times New Roman" pitchFamily="18" charset="0"/>
                <a:cs typeface="Calibri" pitchFamily="34" charset="0"/>
              </a:rPr>
              <a:t>After a little experience with actual data, you will begin to develop a “feel” for the degree of relationship which is indicated by any particular value of r that corresponds to it. </a:t>
            </a:r>
          </a:p>
        </p:txBody>
      </p:sp>
      <p:graphicFrame>
        <p:nvGraphicFramePr>
          <p:cNvPr id="10371" name="Group 131"/>
          <p:cNvGraphicFramePr>
            <a:graphicFrameLocks noGrp="1"/>
          </p:cNvGraphicFramePr>
          <p:nvPr>
            <p:extLst>
              <p:ext uri="{D42A27DB-BD31-4B8C-83A1-F6EECF244321}">
                <p14:modId xmlns:p14="http://schemas.microsoft.com/office/powerpoint/2010/main" val="3301100566"/>
              </p:ext>
            </p:extLst>
          </p:nvPr>
        </p:nvGraphicFramePr>
        <p:xfrm>
          <a:off x="899592" y="1844824"/>
          <a:ext cx="7128792" cy="3456383"/>
        </p:xfrm>
        <a:graphic>
          <a:graphicData uri="http://schemas.openxmlformats.org/drawingml/2006/table">
            <a:tbl>
              <a:tblPr/>
              <a:tblGrid>
                <a:gridCol w="1833311">
                  <a:extLst>
                    <a:ext uri="{9D8B030D-6E8A-4147-A177-3AD203B41FA5}">
                      <a16:colId xmlns:a16="http://schemas.microsoft.com/office/drawing/2014/main" val="20000"/>
                    </a:ext>
                  </a:extLst>
                </a:gridCol>
                <a:gridCol w="5295481">
                  <a:extLst>
                    <a:ext uri="{9D8B030D-6E8A-4147-A177-3AD203B41FA5}">
                      <a16:colId xmlns:a16="http://schemas.microsoft.com/office/drawing/2014/main" val="20001"/>
                    </a:ext>
                  </a:extLst>
                </a:gridCol>
              </a:tblGrid>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dirty="0">
                          <a:ln>
                            <a:noFill/>
                          </a:ln>
                          <a:solidFill>
                            <a:schemeClr val="tx1"/>
                          </a:solidFill>
                          <a:effectLst/>
                          <a:latin typeface="Arial" charset="0"/>
                          <a:ea typeface="Times New Roman" pitchFamily="18" charset="0"/>
                          <a:cs typeface="Arial" charset="0"/>
                        </a:rPr>
                        <a:t>Value of 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Description of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796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Perfect positive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&gt; 0.8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Strong positive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 0.6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Moderate positive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 0.3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Weak positive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 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Little or no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 -0.3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Weak negative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 -0.6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dirty="0">
                          <a:ln>
                            <a:noFill/>
                          </a:ln>
                          <a:solidFill>
                            <a:schemeClr val="tx1"/>
                          </a:solidFill>
                          <a:effectLst/>
                          <a:latin typeface="Arial" charset="0"/>
                          <a:ea typeface="Times New Roman" pitchFamily="18" charset="0"/>
                          <a:cs typeface="Arial" charset="0"/>
                        </a:rPr>
                        <a:t>Moderate Negative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dirty="0">
                          <a:ln>
                            <a:noFill/>
                          </a:ln>
                          <a:solidFill>
                            <a:schemeClr val="tx1"/>
                          </a:solidFill>
                          <a:effectLst/>
                          <a:latin typeface="Arial" charset="0"/>
                          <a:ea typeface="Times New Roman" pitchFamily="18" charset="0"/>
                          <a:cs typeface="Arial" charset="0"/>
                        </a:rPr>
                        <a:t>≈ -0.8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Strong negative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760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a:ln>
                            <a:noFill/>
                          </a:ln>
                          <a:solidFill>
                            <a:schemeClr val="tx1"/>
                          </a:solidFill>
                          <a:effectLst/>
                          <a:latin typeface="Arial" charset="0"/>
                          <a:ea typeface="Times New Roman" pitchFamily="18" charset="0"/>
                          <a:cs typeface="Arial"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300" b="0" i="0" u="none" strike="noStrike" cap="none" normalizeH="0" baseline="0" dirty="0">
                          <a:ln>
                            <a:noFill/>
                          </a:ln>
                          <a:solidFill>
                            <a:schemeClr val="tx1"/>
                          </a:solidFill>
                          <a:effectLst/>
                          <a:latin typeface="Arial" charset="0"/>
                          <a:ea typeface="Times New Roman" pitchFamily="18" charset="0"/>
                          <a:cs typeface="Arial" charset="0"/>
                        </a:rPr>
                        <a:t>Perfect negative linear relationship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4"/>
          <p:cNvSpPr>
            <a:spLocks noChangeArrowheads="1"/>
          </p:cNvSpPr>
          <p:nvPr/>
        </p:nvSpPr>
        <p:spPr bwMode="auto">
          <a:xfrm>
            <a:off x="517525" y="-64264"/>
            <a:ext cx="7478073" cy="698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AU" sz="1400" dirty="0">
                <a:latin typeface="Calibri" pitchFamily="34" charset="0"/>
                <a:cs typeface="Calibri" pitchFamily="34" charset="0"/>
              </a:rPr>
              <a:t>Exercise:   </a:t>
            </a:r>
            <a:r>
              <a:rPr lang="en-AU" sz="1400" b="1" dirty="0">
                <a:latin typeface="Calibri" pitchFamily="34" charset="0"/>
                <a:cs typeface="Calibri" pitchFamily="34" charset="0"/>
              </a:rPr>
              <a:t>State whether positive, negative or no relationship; strong or weak)</a:t>
            </a:r>
            <a:br>
              <a:rPr lang="en-AU" sz="1400" dirty="0">
                <a:latin typeface="Calibri" pitchFamily="34" charset="0"/>
                <a:cs typeface="Calibri" pitchFamily="34" charset="0"/>
              </a:rPr>
            </a:br>
            <a:r>
              <a:rPr lang="en-AU" sz="1400" dirty="0">
                <a:latin typeface="Calibri" pitchFamily="34" charset="0"/>
                <a:cs typeface="Calibri" pitchFamily="34" charset="0"/>
              </a:rPr>
              <a:t>Estimate the correlation coefficient for the following pairs of variables or attributes:-</a:t>
            </a:r>
          </a:p>
          <a:p>
            <a:r>
              <a:rPr lang="en-AU" sz="1400" dirty="0">
                <a:latin typeface="Calibri" pitchFamily="34" charset="0"/>
                <a:cs typeface="Calibri" pitchFamily="34" charset="0"/>
              </a:rPr>
              <a:t>(a)	radius of a circle; circumference of the circle</a:t>
            </a:r>
            <a:br>
              <a:rPr lang="en-AU" sz="1400" dirty="0">
                <a:latin typeface="Calibri" pitchFamily="34" charset="0"/>
                <a:cs typeface="Calibri" pitchFamily="34" charset="0"/>
              </a:rPr>
            </a:br>
            <a:r>
              <a:rPr lang="en-AU" sz="1400" dirty="0">
                <a:latin typeface="Calibri" pitchFamily="34" charset="0"/>
                <a:cs typeface="Calibri" pitchFamily="34" charset="0"/>
              </a:rPr>
              <a:t>(b)	speed of a car; distance travelled in a given time</a:t>
            </a:r>
            <a:br>
              <a:rPr lang="en-AU" sz="1400" dirty="0">
                <a:latin typeface="Calibri" pitchFamily="34" charset="0"/>
                <a:cs typeface="Calibri" pitchFamily="34" charset="0"/>
              </a:rPr>
            </a:br>
            <a:r>
              <a:rPr lang="en-AU" sz="1400" dirty="0">
                <a:latin typeface="Calibri" pitchFamily="34" charset="0"/>
                <a:cs typeface="Calibri" pitchFamily="34" charset="0"/>
              </a:rPr>
              <a:t>(c) 	speed of a car; time taken to travel a given distance</a:t>
            </a:r>
            <a:br>
              <a:rPr lang="en-AU" sz="1400" dirty="0">
                <a:latin typeface="Calibri" pitchFamily="34" charset="0"/>
                <a:cs typeface="Calibri" pitchFamily="34" charset="0"/>
              </a:rPr>
            </a:br>
            <a:r>
              <a:rPr lang="en-AU" sz="1400" dirty="0">
                <a:latin typeface="Calibri" pitchFamily="34" charset="0"/>
                <a:cs typeface="Calibri" pitchFamily="34" charset="0"/>
              </a:rPr>
              <a:t>(d)	shoe size of a policeman; ability to solve crime</a:t>
            </a:r>
            <a:br>
              <a:rPr lang="en-AU" sz="1400" dirty="0">
                <a:latin typeface="Calibri" pitchFamily="34" charset="0"/>
                <a:cs typeface="Calibri" pitchFamily="34" charset="0"/>
              </a:rPr>
            </a:br>
            <a:r>
              <a:rPr lang="en-AU" sz="1400" dirty="0">
                <a:latin typeface="Calibri" pitchFamily="34" charset="0"/>
                <a:cs typeface="Calibri" pitchFamily="34" charset="0"/>
              </a:rPr>
              <a:t>(e)	time spent studying; marks on test</a:t>
            </a:r>
            <a:br>
              <a:rPr lang="en-AU" sz="1400" dirty="0">
                <a:latin typeface="Calibri" pitchFamily="34" charset="0"/>
                <a:cs typeface="Calibri" pitchFamily="34" charset="0"/>
              </a:rPr>
            </a:br>
            <a:r>
              <a:rPr lang="en-AU" sz="1400" dirty="0">
                <a:latin typeface="Calibri" pitchFamily="34" charset="0"/>
                <a:cs typeface="Calibri" pitchFamily="34" charset="0"/>
              </a:rPr>
              <a:t>(f)	I.Q. of a man; I.Q. of his wife</a:t>
            </a:r>
            <a:br>
              <a:rPr lang="en-AU" sz="1400" dirty="0">
                <a:latin typeface="Calibri" pitchFamily="34" charset="0"/>
                <a:cs typeface="Calibri" pitchFamily="34" charset="0"/>
              </a:rPr>
            </a:br>
            <a:r>
              <a:rPr lang="en-AU" sz="1400" dirty="0">
                <a:latin typeface="Calibri" pitchFamily="34" charset="0"/>
                <a:cs typeface="Calibri" pitchFamily="34" charset="0"/>
              </a:rPr>
              <a:t>(g)	hat size of a man; his intelligence</a:t>
            </a:r>
            <a:br>
              <a:rPr lang="en-AU" sz="1400" dirty="0">
                <a:latin typeface="Calibri" pitchFamily="34" charset="0"/>
                <a:cs typeface="Calibri" pitchFamily="34" charset="0"/>
              </a:rPr>
            </a:br>
            <a:r>
              <a:rPr lang="en-AU" sz="1400" dirty="0">
                <a:latin typeface="Calibri" pitchFamily="34" charset="0"/>
                <a:cs typeface="Calibri" pitchFamily="34" charset="0"/>
              </a:rPr>
              <a:t>(h) 	shirt size; sense of humour</a:t>
            </a:r>
            <a:br>
              <a:rPr lang="en-AU" sz="1400" dirty="0">
                <a:latin typeface="Calibri" pitchFamily="34" charset="0"/>
                <a:cs typeface="Calibri" pitchFamily="34" charset="0"/>
              </a:rPr>
            </a:br>
            <a:r>
              <a:rPr lang="en-AU" sz="1400" dirty="0">
                <a:latin typeface="Calibri" pitchFamily="34" charset="0"/>
                <a:cs typeface="Calibri" pitchFamily="34" charset="0"/>
              </a:rPr>
              <a:t>(i)	ability in Mathematics; ability in Chemistry</a:t>
            </a:r>
            <a:br>
              <a:rPr lang="en-AU" sz="1400" dirty="0">
                <a:latin typeface="Calibri" pitchFamily="34" charset="0"/>
                <a:cs typeface="Calibri" pitchFamily="34" charset="0"/>
              </a:rPr>
            </a:br>
            <a:r>
              <a:rPr lang="en-AU" sz="1400" dirty="0">
                <a:latin typeface="Calibri" pitchFamily="34" charset="0"/>
                <a:cs typeface="Calibri" pitchFamily="34" charset="0"/>
              </a:rPr>
              <a:t>(j)	speed a javelin leaves hand; distance thrown</a:t>
            </a:r>
            <a:br>
              <a:rPr lang="en-AU" sz="1400" dirty="0">
                <a:latin typeface="Calibri" pitchFamily="34" charset="0"/>
                <a:cs typeface="Calibri" pitchFamily="34" charset="0"/>
              </a:rPr>
            </a:br>
            <a:r>
              <a:rPr lang="en-AU" sz="1400" dirty="0">
                <a:latin typeface="Calibri" pitchFamily="34" charset="0"/>
                <a:cs typeface="Calibri" pitchFamily="34" charset="0"/>
              </a:rPr>
              <a:t>(k)	time spent training; time to run 100 m</a:t>
            </a:r>
            <a:br>
              <a:rPr lang="en-AU" sz="1400" dirty="0">
                <a:latin typeface="Calibri" pitchFamily="34" charset="0"/>
                <a:cs typeface="Calibri" pitchFamily="34" charset="0"/>
              </a:rPr>
            </a:br>
            <a:r>
              <a:rPr lang="en-AU" sz="1400" dirty="0">
                <a:latin typeface="Calibri" pitchFamily="34" charset="0"/>
                <a:cs typeface="Calibri" pitchFamily="34" charset="0"/>
              </a:rPr>
              <a:t>(l)	number of days since last Christmas; number of days until next Christmas</a:t>
            </a:r>
            <a:br>
              <a:rPr lang="en-AU" sz="1400" dirty="0">
                <a:latin typeface="Calibri" pitchFamily="34" charset="0"/>
                <a:cs typeface="Calibri" pitchFamily="34" charset="0"/>
              </a:rPr>
            </a:br>
            <a:r>
              <a:rPr lang="en-AU" sz="1400" dirty="0">
                <a:latin typeface="Calibri" pitchFamily="34" charset="0"/>
                <a:cs typeface="Calibri" pitchFamily="34" charset="0"/>
              </a:rPr>
              <a:t>(m)	maximum temperature; water consumption</a:t>
            </a:r>
            <a:br>
              <a:rPr lang="en-AU" sz="1400" dirty="0">
                <a:latin typeface="Calibri" pitchFamily="34" charset="0"/>
                <a:cs typeface="Calibri" pitchFamily="34" charset="0"/>
              </a:rPr>
            </a:br>
            <a:r>
              <a:rPr lang="en-AU" sz="1400" dirty="0">
                <a:latin typeface="Calibri" pitchFamily="34" charset="0"/>
                <a:cs typeface="Calibri" pitchFamily="34" charset="0"/>
              </a:rPr>
              <a:t>(n)	amount of advertising of a product; its sales</a:t>
            </a:r>
            <a:br>
              <a:rPr lang="en-AU" sz="1400" dirty="0">
                <a:latin typeface="Calibri" pitchFamily="34" charset="0"/>
                <a:cs typeface="Calibri" pitchFamily="34" charset="0"/>
              </a:rPr>
            </a:br>
            <a:r>
              <a:rPr lang="en-AU" sz="1400" dirty="0">
                <a:latin typeface="Calibri" pitchFamily="34" charset="0"/>
                <a:cs typeface="Calibri" pitchFamily="34" charset="0"/>
              </a:rPr>
              <a:t>(o)	number of articles of a product produced; cost per unit</a:t>
            </a:r>
            <a:br>
              <a:rPr lang="en-AU" sz="1400" dirty="0">
                <a:latin typeface="Calibri" pitchFamily="34" charset="0"/>
                <a:cs typeface="Calibri" pitchFamily="34" charset="0"/>
              </a:rPr>
            </a:br>
            <a:r>
              <a:rPr lang="en-AU" sz="1400" dirty="0">
                <a:latin typeface="Calibri" pitchFamily="34" charset="0"/>
                <a:cs typeface="Calibri" pitchFamily="34" charset="0"/>
              </a:rPr>
              <a:t>(p)	time spent practicing golf; number of strokes per round</a:t>
            </a:r>
            <a:br>
              <a:rPr lang="en-AU" sz="1400" dirty="0">
                <a:latin typeface="Calibri" pitchFamily="34" charset="0"/>
                <a:cs typeface="Calibri" pitchFamily="34" charset="0"/>
              </a:rPr>
            </a:br>
            <a:r>
              <a:rPr lang="en-AU" sz="1400" dirty="0">
                <a:latin typeface="Calibri" pitchFamily="34" charset="0"/>
                <a:cs typeface="Calibri" pitchFamily="34" charset="0"/>
              </a:rPr>
              <a:t>(q)	number of articles of a product produced; total cost of production</a:t>
            </a:r>
          </a:p>
          <a:p>
            <a:r>
              <a:rPr lang="en-AU" sz="1400" dirty="0">
                <a:latin typeface="Calibri" pitchFamily="34" charset="0"/>
                <a:cs typeface="Calibri" pitchFamily="34" charset="0"/>
              </a:rPr>
              <a:t>(r)	price of beer; amount of beer consumed</a:t>
            </a:r>
            <a:br>
              <a:rPr lang="en-AU" sz="1400" dirty="0">
                <a:latin typeface="Calibri" pitchFamily="34" charset="0"/>
                <a:cs typeface="Calibri" pitchFamily="34" charset="0"/>
              </a:rPr>
            </a:br>
            <a:r>
              <a:rPr lang="en-AU" sz="1400" dirty="0">
                <a:latin typeface="Calibri" pitchFamily="34" charset="0"/>
                <a:cs typeface="Calibri" pitchFamily="34" charset="0"/>
              </a:rPr>
              <a:t>(s)	pollen count; incidence of hay fever</a:t>
            </a:r>
            <a:br>
              <a:rPr lang="en-AU" sz="1400" dirty="0">
                <a:latin typeface="Calibri" pitchFamily="34" charset="0"/>
                <a:cs typeface="Calibri" pitchFamily="34" charset="0"/>
              </a:rPr>
            </a:br>
            <a:r>
              <a:rPr lang="en-AU" sz="1400" dirty="0">
                <a:latin typeface="Calibri" pitchFamily="34" charset="0"/>
                <a:cs typeface="Calibri" pitchFamily="34" charset="0"/>
              </a:rPr>
              <a:t>(t)	amount of tread left on a tyre; distance it has already travelled</a:t>
            </a:r>
            <a:br>
              <a:rPr lang="en-AU" sz="1400" dirty="0">
                <a:latin typeface="Calibri" pitchFamily="34" charset="0"/>
                <a:cs typeface="Calibri" pitchFamily="34" charset="0"/>
              </a:rPr>
            </a:br>
            <a:r>
              <a:rPr lang="en-AU" sz="1400" dirty="0">
                <a:latin typeface="Calibri" pitchFamily="34" charset="0"/>
                <a:cs typeface="Calibri" pitchFamily="34" charset="0"/>
              </a:rPr>
              <a:t>(u)	number of man-hours of work done; number of units of an article produced</a:t>
            </a:r>
            <a:br>
              <a:rPr lang="en-AU" sz="1400" dirty="0">
                <a:latin typeface="Calibri" pitchFamily="34" charset="0"/>
                <a:cs typeface="Calibri" pitchFamily="34" charset="0"/>
              </a:rPr>
            </a:br>
            <a:r>
              <a:rPr lang="en-AU" sz="1400" dirty="0">
                <a:latin typeface="Calibri" pitchFamily="34" charset="0"/>
                <a:cs typeface="Calibri" pitchFamily="34" charset="0"/>
              </a:rPr>
              <a:t>(v)	size of a city; crime rate of that city</a:t>
            </a:r>
            <a:br>
              <a:rPr lang="en-AU" sz="1400" dirty="0">
                <a:latin typeface="Calibri" pitchFamily="34" charset="0"/>
                <a:cs typeface="Calibri" pitchFamily="34" charset="0"/>
              </a:rPr>
            </a:br>
            <a:r>
              <a:rPr lang="en-AU" sz="1400" dirty="0">
                <a:latin typeface="Calibri" pitchFamily="34" charset="0"/>
                <a:cs typeface="Calibri" pitchFamily="34" charset="0"/>
              </a:rPr>
              <a:t>(w)	price of butter; consumption of butter</a:t>
            </a:r>
            <a:br>
              <a:rPr lang="en-AU" sz="1400" dirty="0">
                <a:latin typeface="Calibri" pitchFamily="34" charset="0"/>
                <a:cs typeface="Calibri" pitchFamily="34" charset="0"/>
              </a:rPr>
            </a:br>
            <a:r>
              <a:rPr lang="en-AU" sz="1400" dirty="0">
                <a:latin typeface="Calibri" pitchFamily="34" charset="0"/>
                <a:cs typeface="Calibri" pitchFamily="34" charset="0"/>
              </a:rPr>
              <a:t>(x)	side of a square; area of the square</a:t>
            </a:r>
            <a:br>
              <a:rPr lang="en-AU" sz="1400" dirty="0">
                <a:latin typeface="Calibri" pitchFamily="34" charset="0"/>
                <a:cs typeface="Calibri" pitchFamily="34" charset="0"/>
              </a:rPr>
            </a:br>
            <a:r>
              <a:rPr lang="en-AU" sz="1400" dirty="0">
                <a:latin typeface="Calibri" pitchFamily="34" charset="0"/>
                <a:cs typeface="Calibri" pitchFamily="34" charset="0"/>
              </a:rPr>
              <a:t>(y)	a girl’s beauty; her I.Q.</a:t>
            </a:r>
            <a:br>
              <a:rPr lang="en-AU" sz="1400" dirty="0">
                <a:latin typeface="Calibri" pitchFamily="34" charset="0"/>
                <a:cs typeface="Calibri" pitchFamily="34" charset="0"/>
              </a:rPr>
            </a:br>
            <a:r>
              <a:rPr lang="en-AU" sz="1400" dirty="0">
                <a:latin typeface="Calibri" pitchFamily="34" charset="0"/>
                <a:cs typeface="Calibri" pitchFamily="34" charset="0"/>
              </a:rPr>
              <a:t>(z)	temperature; amount of clothes worn</a:t>
            </a:r>
            <a:br>
              <a:rPr lang="en-AU" sz="1400" dirty="0">
                <a:latin typeface="Calibri" pitchFamily="34" charset="0"/>
                <a:cs typeface="Calibri" pitchFamily="34" charset="0"/>
              </a:rPr>
            </a:br>
            <a:r>
              <a:rPr lang="en-AU" sz="1400" dirty="0">
                <a:latin typeface="Calibri" pitchFamily="34" charset="0"/>
                <a:cs typeface="Calibri" pitchFamily="34" charset="0"/>
              </a:rPr>
              <a:t>(a1)	distance from start; distance to finish</a:t>
            </a:r>
            <a:br>
              <a:rPr lang="en-AU" sz="1400" dirty="0">
                <a:latin typeface="Calibri" pitchFamily="34" charset="0"/>
                <a:cs typeface="Calibri" pitchFamily="34" charset="0"/>
              </a:rPr>
            </a:br>
            <a:r>
              <a:rPr lang="en-AU" sz="1400" dirty="0">
                <a:latin typeface="Calibri" pitchFamily="34" charset="0"/>
                <a:cs typeface="Calibri" pitchFamily="34" charset="0"/>
              </a:rPr>
              <a:t>(b1)	radius of sphere; volume of sphere</a:t>
            </a:r>
            <a:br>
              <a:rPr lang="en-AU" sz="1400" dirty="0">
                <a:latin typeface="Calibri" pitchFamily="34" charset="0"/>
                <a:cs typeface="Calibri" pitchFamily="34" charset="0"/>
              </a:rPr>
            </a:br>
            <a:r>
              <a:rPr lang="en-AU" sz="1400" dirty="0">
                <a:latin typeface="Calibri" pitchFamily="34" charset="0"/>
                <a:cs typeface="Calibri" pitchFamily="34" charset="0"/>
              </a:rPr>
              <a:t>(c1)	amount of time until next election; amount of attention politician pays to his electorate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ChangeArrowheads="1"/>
          </p:cNvSpPr>
          <p:nvPr/>
        </p:nvSpPr>
        <p:spPr bwMode="auto">
          <a:xfrm>
            <a:off x="-11584" y="0"/>
            <a:ext cx="9144000" cy="6771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tabLst>
                <a:tab pos="1143000" algn="l"/>
              </a:tabLst>
            </a:pPr>
            <a:r>
              <a:rPr lang="en-AU" sz="1400" b="1" u="sng" dirty="0">
                <a:latin typeface="Calibri" pitchFamily="34" charset="0"/>
                <a:cs typeface="Calibri" pitchFamily="34" charset="0"/>
              </a:rPr>
              <a:t>CALCULATIONS USING CAS CALCULATOR</a:t>
            </a:r>
            <a:endParaRPr lang="en-AU" sz="1400" dirty="0">
              <a:latin typeface="Calibri" pitchFamily="34" charset="0"/>
              <a:cs typeface="Calibri" pitchFamily="34" charset="0"/>
            </a:endParaRPr>
          </a:p>
          <a:p>
            <a:pPr>
              <a:tabLst>
                <a:tab pos="1143000" algn="l"/>
              </a:tabLst>
            </a:pPr>
            <a:r>
              <a:rPr lang="en-AU" sz="1400" dirty="0">
                <a:latin typeface="Calibri" pitchFamily="34" charset="0"/>
                <a:cs typeface="Calibri" pitchFamily="34" charset="0"/>
              </a:rPr>
              <a:t>Go to Statistics menu</a:t>
            </a:r>
          </a:p>
          <a:p>
            <a:pPr>
              <a:tabLst>
                <a:tab pos="1143000" algn="l"/>
              </a:tabLst>
            </a:pPr>
            <a:r>
              <a:rPr lang="en-AU" sz="1400" dirty="0">
                <a:latin typeface="Calibri" pitchFamily="34" charset="0"/>
                <a:cs typeface="Calibri" pitchFamily="34" charset="0"/>
              </a:rPr>
              <a:t>Enter x values in list 1, enter corresponding y values in list 2</a:t>
            </a:r>
          </a:p>
          <a:p>
            <a:pPr>
              <a:tabLst>
                <a:tab pos="1143000" algn="l"/>
              </a:tabLst>
            </a:pPr>
            <a:r>
              <a:rPr lang="en-AU" sz="1400" dirty="0">
                <a:latin typeface="Calibri" pitchFamily="34" charset="0"/>
                <a:cs typeface="Calibri" pitchFamily="34" charset="0"/>
              </a:rPr>
              <a:t>Tap </a:t>
            </a:r>
            <a:r>
              <a:rPr lang="en-AU" sz="1400" b="1" dirty="0" err="1">
                <a:latin typeface="Calibri" pitchFamily="34" charset="0"/>
                <a:cs typeface="Calibri" pitchFamily="34" charset="0"/>
              </a:rPr>
              <a:t>Calc</a:t>
            </a:r>
            <a:r>
              <a:rPr lang="en-AU" sz="1400" dirty="0">
                <a:latin typeface="Calibri" pitchFamily="34" charset="0"/>
                <a:cs typeface="Calibri" pitchFamily="34" charset="0"/>
              </a:rPr>
              <a:t>, then Linear </a:t>
            </a:r>
            <a:r>
              <a:rPr lang="en-AU" sz="1400" dirty="0" err="1">
                <a:latin typeface="Calibri" pitchFamily="34" charset="0"/>
                <a:cs typeface="Calibri" pitchFamily="34" charset="0"/>
              </a:rPr>
              <a:t>Reg</a:t>
            </a:r>
            <a:r>
              <a:rPr lang="en-AU" sz="1400" dirty="0">
                <a:latin typeface="Calibri" pitchFamily="34" charset="0"/>
                <a:cs typeface="Calibri" pitchFamily="34" charset="0"/>
              </a:rPr>
              <a:t>		Set  </a:t>
            </a:r>
            <a:r>
              <a:rPr lang="en-AU" sz="1400" dirty="0" err="1">
                <a:latin typeface="Calibri" pitchFamily="34" charset="0"/>
                <a:cs typeface="Calibri" pitchFamily="34" charset="0"/>
              </a:rPr>
              <a:t>Xlist</a:t>
            </a:r>
            <a:r>
              <a:rPr lang="en-AU" sz="1400" dirty="0">
                <a:latin typeface="Calibri" pitchFamily="34" charset="0"/>
                <a:cs typeface="Calibri" pitchFamily="34" charset="0"/>
              </a:rPr>
              <a:t> to </a:t>
            </a:r>
            <a:r>
              <a:rPr lang="en-AU" sz="1400" b="1" dirty="0">
                <a:latin typeface="Calibri" pitchFamily="34" charset="0"/>
                <a:cs typeface="Calibri" pitchFamily="34" charset="0"/>
              </a:rPr>
              <a:t>List 1</a:t>
            </a:r>
            <a:endParaRPr lang="en-AU" sz="1400" dirty="0">
              <a:latin typeface="Calibri" pitchFamily="34" charset="0"/>
              <a:cs typeface="Calibri" pitchFamily="34" charset="0"/>
            </a:endParaRPr>
          </a:p>
          <a:p>
            <a:pPr>
              <a:tabLst>
                <a:tab pos="1143000" algn="l"/>
              </a:tabLst>
            </a:pPr>
            <a:r>
              <a:rPr lang="en-AU" sz="1400" dirty="0">
                <a:latin typeface="Calibri" pitchFamily="34" charset="0"/>
                <a:cs typeface="Calibri" pitchFamily="34" charset="0"/>
              </a:rPr>
              <a:t>			 set </a:t>
            </a:r>
            <a:r>
              <a:rPr lang="en-AU" sz="1400" dirty="0" err="1">
                <a:latin typeface="Calibri" pitchFamily="34" charset="0"/>
                <a:cs typeface="Calibri" pitchFamily="34" charset="0"/>
              </a:rPr>
              <a:t>Ylist</a:t>
            </a:r>
            <a:r>
              <a:rPr lang="en-AU" sz="1400" dirty="0">
                <a:latin typeface="Calibri" pitchFamily="34" charset="0"/>
                <a:cs typeface="Calibri" pitchFamily="34" charset="0"/>
              </a:rPr>
              <a:t> to </a:t>
            </a:r>
            <a:r>
              <a:rPr lang="en-AU" sz="1400" b="1" dirty="0">
                <a:latin typeface="Calibri" pitchFamily="34" charset="0"/>
                <a:cs typeface="Calibri" pitchFamily="34" charset="0"/>
              </a:rPr>
              <a:t>List 2 – </a:t>
            </a:r>
            <a:r>
              <a:rPr lang="en-AU" sz="1400" dirty="0">
                <a:latin typeface="Calibri" pitchFamily="34" charset="0"/>
                <a:cs typeface="Calibri" pitchFamily="34" charset="0"/>
              </a:rPr>
              <a:t>make sure </a:t>
            </a:r>
            <a:r>
              <a:rPr lang="en-AU" sz="1400" b="1" dirty="0" err="1">
                <a:latin typeface="Calibri" pitchFamily="34" charset="0"/>
                <a:cs typeface="Calibri" pitchFamily="34" charset="0"/>
              </a:rPr>
              <a:t>Freq</a:t>
            </a:r>
            <a:r>
              <a:rPr lang="en-AU" sz="1400" dirty="0">
                <a:latin typeface="Calibri" pitchFamily="34" charset="0"/>
                <a:cs typeface="Calibri" pitchFamily="34" charset="0"/>
              </a:rPr>
              <a:t> is 1  and also set </a:t>
            </a:r>
            <a:r>
              <a:rPr lang="en-AU" sz="1400" b="1" dirty="0">
                <a:latin typeface="Calibri" pitchFamily="34" charset="0"/>
                <a:cs typeface="Calibri" pitchFamily="34" charset="0"/>
              </a:rPr>
              <a:t>Copy Formula </a:t>
            </a:r>
            <a:r>
              <a:rPr lang="en-AU" sz="1400" dirty="0">
                <a:latin typeface="Calibri" pitchFamily="34" charset="0"/>
                <a:cs typeface="Calibri" pitchFamily="34" charset="0"/>
              </a:rPr>
              <a:t>to y1</a:t>
            </a:r>
          </a:p>
          <a:p>
            <a:pPr>
              <a:tabLst>
                <a:tab pos="1143000" algn="l"/>
              </a:tabLst>
            </a:pPr>
            <a:r>
              <a:rPr lang="en-AU" sz="1400" dirty="0">
                <a:latin typeface="Calibri" pitchFamily="34" charset="0"/>
                <a:cs typeface="Calibri" pitchFamily="34" charset="0"/>
              </a:rPr>
              <a:t>Press OK </a:t>
            </a:r>
          </a:p>
          <a:p>
            <a:pPr>
              <a:tabLst>
                <a:tab pos="1143000" algn="l"/>
              </a:tabLst>
            </a:pPr>
            <a:r>
              <a:rPr lang="en-AU" sz="1400" dirty="0">
                <a:latin typeface="Calibri" pitchFamily="34" charset="0"/>
                <a:cs typeface="Calibri" pitchFamily="34" charset="0"/>
              </a:rPr>
              <a:t>You should see a screen showing 	</a:t>
            </a:r>
            <a:r>
              <a:rPr lang="en-AU" sz="1400" dirty="0" err="1">
                <a:latin typeface="Calibri" pitchFamily="34" charset="0"/>
                <a:cs typeface="Calibri" pitchFamily="34" charset="0"/>
              </a:rPr>
              <a:t>LinearReg</a:t>
            </a:r>
            <a:r>
              <a:rPr lang="en-AU" sz="1400" dirty="0">
                <a:latin typeface="Calibri" pitchFamily="34" charset="0"/>
                <a:cs typeface="Calibri" pitchFamily="34" charset="0"/>
              </a:rPr>
              <a:t> </a:t>
            </a:r>
          </a:p>
          <a:p>
            <a:pPr>
              <a:tabLst>
                <a:tab pos="1143000" algn="l"/>
              </a:tabLst>
            </a:pPr>
            <a:r>
              <a:rPr lang="en-AU" sz="1400" dirty="0">
                <a:latin typeface="Calibri" pitchFamily="34" charset="0"/>
                <a:cs typeface="Calibri" pitchFamily="34" charset="0"/>
              </a:rPr>
              <a:t>			y = </a:t>
            </a:r>
            <a:r>
              <a:rPr lang="en-AU" sz="1400" dirty="0" err="1">
                <a:latin typeface="Calibri" pitchFamily="34" charset="0"/>
                <a:cs typeface="Calibri" pitchFamily="34" charset="0"/>
              </a:rPr>
              <a:t>ax+b</a:t>
            </a:r>
            <a:endParaRPr lang="en-AU" sz="1400" dirty="0">
              <a:latin typeface="Calibri" pitchFamily="34" charset="0"/>
              <a:cs typeface="Calibri" pitchFamily="34" charset="0"/>
            </a:endParaRPr>
          </a:p>
          <a:p>
            <a:pPr>
              <a:tabLst>
                <a:tab pos="1143000" algn="l"/>
              </a:tabLst>
            </a:pPr>
            <a:r>
              <a:rPr lang="en-AU" sz="1400" dirty="0">
                <a:latin typeface="Calibri" pitchFamily="34" charset="0"/>
                <a:cs typeface="Calibri" pitchFamily="34" charset="0"/>
              </a:rPr>
              <a:t>r is the correlation coefficient – we’ll talk more about that next. </a:t>
            </a:r>
          </a:p>
          <a:p>
            <a:pPr>
              <a:tabLst>
                <a:tab pos="1143000" algn="l"/>
              </a:tabLst>
            </a:pPr>
            <a:r>
              <a:rPr lang="en-AU" sz="1400" dirty="0">
                <a:latin typeface="Calibri" pitchFamily="34" charset="0"/>
                <a:cs typeface="Calibri" pitchFamily="34" charset="0"/>
              </a:rPr>
              <a:t>y = </a:t>
            </a:r>
            <a:r>
              <a:rPr lang="en-AU" sz="1400" dirty="0" err="1">
                <a:latin typeface="Calibri" pitchFamily="34" charset="0"/>
                <a:cs typeface="Calibri" pitchFamily="34" charset="0"/>
              </a:rPr>
              <a:t>ax+b</a:t>
            </a:r>
            <a:r>
              <a:rPr lang="en-AU" sz="1400" dirty="0">
                <a:latin typeface="Calibri" pitchFamily="34" charset="0"/>
                <a:cs typeface="Calibri" pitchFamily="34" charset="0"/>
              </a:rPr>
              <a:t> is the equation of the least squares regression line (y on x)</a:t>
            </a:r>
          </a:p>
          <a:p>
            <a:pPr>
              <a:tabLst>
                <a:tab pos="1143000" algn="l"/>
              </a:tabLst>
            </a:pPr>
            <a:r>
              <a:rPr lang="en-AU" sz="1400" dirty="0">
                <a:latin typeface="Calibri" pitchFamily="34" charset="0"/>
                <a:cs typeface="Calibri" pitchFamily="34" charset="0"/>
              </a:rPr>
              <a:t>To find predicted values of y for a given value of x, you may do the following:-</a:t>
            </a:r>
          </a:p>
          <a:p>
            <a:pPr>
              <a:tabLst>
                <a:tab pos="1143000" algn="l"/>
              </a:tabLst>
            </a:pPr>
            <a:r>
              <a:rPr lang="en-AU" sz="1400" dirty="0">
                <a:latin typeface="Calibri" pitchFamily="34" charset="0"/>
                <a:cs typeface="Calibri" pitchFamily="34" charset="0"/>
              </a:rPr>
              <a:t>	Substitute the given value of x into the equation of the regression line in your calculator</a:t>
            </a:r>
          </a:p>
          <a:p>
            <a:pPr>
              <a:tabLst>
                <a:tab pos="1143000" algn="l"/>
              </a:tabLst>
            </a:pPr>
            <a:r>
              <a:rPr lang="en-AU" sz="1400" dirty="0">
                <a:latin typeface="Calibri" pitchFamily="34" charset="0"/>
                <a:cs typeface="Calibri" pitchFamily="34" charset="0"/>
              </a:rPr>
              <a:t>		</a:t>
            </a:r>
            <a:r>
              <a:rPr lang="en-AU" sz="1400" dirty="0" err="1">
                <a:latin typeface="Calibri" pitchFamily="34" charset="0"/>
                <a:cs typeface="Calibri" pitchFamily="34" charset="0"/>
              </a:rPr>
              <a:t>eg</a:t>
            </a:r>
            <a:r>
              <a:rPr lang="en-AU" sz="1400" dirty="0">
                <a:latin typeface="Calibri" pitchFamily="34" charset="0"/>
                <a:cs typeface="Calibri" pitchFamily="34" charset="0"/>
              </a:rPr>
              <a:t> y = 0.82x + 2.1 gives for a Maths score of 5</a:t>
            </a:r>
          </a:p>
          <a:p>
            <a:pPr>
              <a:tabLst>
                <a:tab pos="1143000" algn="l"/>
              </a:tabLst>
            </a:pPr>
            <a:r>
              <a:rPr lang="en-AU" sz="1400" dirty="0">
                <a:latin typeface="Calibri" pitchFamily="34" charset="0"/>
                <a:cs typeface="Calibri" pitchFamily="34" charset="0"/>
              </a:rPr>
              <a:t>		      y = 0.82*5 + 2.1  we have a Physics score of 6.2 </a:t>
            </a:r>
            <a:r>
              <a:rPr lang="en-AU" sz="1400" b="1" i="1" dirty="0">
                <a:latin typeface="Calibri" pitchFamily="34" charset="0"/>
                <a:cs typeface="Calibri" pitchFamily="34" charset="0"/>
              </a:rPr>
              <a:t>estimated</a:t>
            </a:r>
          </a:p>
          <a:p>
            <a:pPr>
              <a:tabLst>
                <a:tab pos="1143000" algn="l"/>
              </a:tabLst>
            </a:pPr>
            <a:r>
              <a:rPr lang="en-AU" sz="1400" dirty="0">
                <a:latin typeface="Calibri" pitchFamily="34" charset="0"/>
                <a:cs typeface="Calibri" pitchFamily="34" charset="0"/>
              </a:rPr>
              <a:t>		(You may be slightly out due to rounding errors)</a:t>
            </a:r>
          </a:p>
          <a:p>
            <a:pPr>
              <a:tabLst>
                <a:tab pos="1143000" algn="l"/>
              </a:tabLst>
            </a:pPr>
            <a:endParaRPr lang="en-AU" sz="1400" dirty="0">
              <a:latin typeface="Calibri" pitchFamily="34" charset="0"/>
              <a:cs typeface="Calibri" pitchFamily="34" charset="0"/>
            </a:endParaRPr>
          </a:p>
          <a:p>
            <a:pPr>
              <a:tabLst>
                <a:tab pos="1143000" algn="l"/>
              </a:tabLst>
            </a:pPr>
            <a:r>
              <a:rPr lang="en-AU" sz="1400" dirty="0">
                <a:latin typeface="Calibri" pitchFamily="34" charset="0"/>
                <a:cs typeface="Calibri" pitchFamily="34" charset="0"/>
              </a:rPr>
              <a:t>	Also your CAS Calculator can be used because you have set the Copy Formula</a:t>
            </a:r>
          </a:p>
          <a:p>
            <a:pPr>
              <a:tabLst>
                <a:tab pos="1143000" algn="l"/>
              </a:tabLst>
            </a:pPr>
            <a:r>
              <a:rPr lang="en-AU" sz="1400" dirty="0">
                <a:latin typeface="Calibri" pitchFamily="34" charset="0"/>
                <a:cs typeface="Calibri" pitchFamily="34" charset="0"/>
              </a:rPr>
              <a:t>	In Main using Keyboard type (using the same Maths score as before</a:t>
            </a:r>
          </a:p>
          <a:p>
            <a:pPr>
              <a:tabLst>
                <a:tab pos="1143000" algn="l"/>
              </a:tabLst>
            </a:pPr>
            <a:r>
              <a:rPr lang="en-AU" sz="1400" dirty="0">
                <a:latin typeface="Calibri" pitchFamily="34" charset="0"/>
                <a:cs typeface="Calibri" pitchFamily="34" charset="0"/>
              </a:rPr>
              <a:t> 		y1(5) and you’ll get an answer of 6.183333 for Physics</a:t>
            </a:r>
          </a:p>
          <a:p>
            <a:pPr>
              <a:tabLst>
                <a:tab pos="1143000" algn="l"/>
              </a:tabLst>
            </a:pPr>
            <a:r>
              <a:rPr lang="en-AU" sz="1400" dirty="0">
                <a:latin typeface="Calibri" pitchFamily="34" charset="0"/>
                <a:cs typeface="Calibri" pitchFamily="34" charset="0"/>
              </a:rPr>
              <a:t>		Don’t forget this is an estimated score so how accurate do you require your answer.</a:t>
            </a:r>
          </a:p>
          <a:p>
            <a:pPr>
              <a:tabLst>
                <a:tab pos="1143000" algn="l"/>
              </a:tabLst>
            </a:pPr>
            <a:r>
              <a:rPr lang="en-AU" sz="1400" dirty="0">
                <a:latin typeface="Calibri" pitchFamily="34" charset="0"/>
                <a:cs typeface="Calibri" pitchFamily="34" charset="0"/>
              </a:rPr>
              <a:t>	</a:t>
            </a:r>
          </a:p>
          <a:p>
            <a:pPr>
              <a:tabLst>
                <a:tab pos="1143000" algn="l"/>
              </a:tabLst>
            </a:pPr>
            <a:r>
              <a:rPr lang="en-AU" sz="1400" dirty="0">
                <a:latin typeface="Calibri" pitchFamily="34" charset="0"/>
                <a:cs typeface="Calibri" pitchFamily="34" charset="0"/>
              </a:rPr>
              <a:t>NOTE	You should take care when making predictions</a:t>
            </a:r>
          </a:p>
          <a:p>
            <a:pPr>
              <a:tabLst>
                <a:tab pos="1143000" algn="l"/>
              </a:tabLst>
            </a:pPr>
            <a:r>
              <a:rPr lang="en-AU" sz="1400" dirty="0">
                <a:latin typeface="Calibri" pitchFamily="34" charset="0"/>
                <a:cs typeface="Calibri" pitchFamily="34" charset="0"/>
              </a:rPr>
              <a:t>(a) Reliability is greater when correlation is stronger</a:t>
            </a:r>
          </a:p>
          <a:p>
            <a:pPr>
              <a:tabLst>
                <a:tab pos="1143000" algn="l"/>
              </a:tabLst>
            </a:pPr>
            <a:r>
              <a:rPr lang="en-AU" sz="1400" dirty="0">
                <a:latin typeface="Calibri" pitchFamily="34" charset="0"/>
                <a:cs typeface="Calibri" pitchFamily="34" charset="0"/>
              </a:rPr>
              <a:t>(b) Interpolation is likely to give greater reliability than extrapolation</a:t>
            </a:r>
          </a:p>
          <a:p>
            <a:pPr>
              <a:tabLst>
                <a:tab pos="1143000" algn="l"/>
              </a:tabLst>
            </a:pPr>
            <a:r>
              <a:rPr lang="en-AU" sz="1400" dirty="0">
                <a:latin typeface="Calibri" pitchFamily="34" charset="0"/>
                <a:cs typeface="Calibri" pitchFamily="34" charset="0"/>
              </a:rPr>
              <a:t>(c) With extrapolation, the further away from the given data you are making the prediction, the less the reliability.</a:t>
            </a:r>
          </a:p>
          <a:p>
            <a:pPr>
              <a:tabLst>
                <a:tab pos="1143000" algn="l"/>
              </a:tabLst>
            </a:pPr>
            <a:r>
              <a:rPr lang="en-AU" sz="1400" dirty="0">
                <a:latin typeface="Calibri" pitchFamily="34" charset="0"/>
                <a:cs typeface="Calibri" pitchFamily="34" charset="0"/>
              </a:rPr>
              <a:t>(d) The more data you have, the better the prediction.</a:t>
            </a:r>
          </a:p>
          <a:p>
            <a:pPr>
              <a:tabLst>
                <a:tab pos="1143000" algn="l"/>
              </a:tabLst>
            </a:pPr>
            <a:r>
              <a:rPr lang="en-AU" sz="1400" dirty="0">
                <a:latin typeface="Calibri" pitchFamily="34" charset="0"/>
                <a:cs typeface="Calibri" pitchFamily="34" charset="0"/>
              </a:rPr>
              <a:t>NOTE	To predict x values for a given y value, you should not use this regression line. You should calculate the regression line of x on y, and use that line. However, if </a:t>
            </a:r>
            <a:r>
              <a:rPr lang="en-AU" sz="1400" dirty="0" err="1">
                <a:latin typeface="Calibri" pitchFamily="34" charset="0"/>
                <a:cs typeface="Calibri" pitchFamily="34" charset="0"/>
              </a:rPr>
              <a:t>r</a:t>
            </a:r>
            <a:r>
              <a:rPr lang="en-AU" sz="1400" baseline="-25000" dirty="0" err="1">
                <a:latin typeface="Calibri" pitchFamily="34" charset="0"/>
                <a:cs typeface="Calibri" pitchFamily="34" charset="0"/>
              </a:rPr>
              <a:t>xy</a:t>
            </a:r>
            <a:r>
              <a:rPr lang="en-AU" sz="1400" dirty="0">
                <a:latin typeface="Calibri" pitchFamily="34" charset="0"/>
                <a:cs typeface="Calibri" pitchFamily="34" charset="0"/>
              </a:rPr>
              <a:t> is strong, the former is a very good approximation and may be used.</a:t>
            </a:r>
            <a:br>
              <a:rPr lang="en-AU" sz="1400" dirty="0">
                <a:latin typeface="Calibri" pitchFamily="34" charset="0"/>
                <a:cs typeface="Calibri" pitchFamily="34" charset="0"/>
              </a:rPr>
            </a:br>
            <a:r>
              <a:rPr lang="en-AU" sz="1400" dirty="0">
                <a:latin typeface="Calibri" pitchFamily="34" charset="0"/>
                <a:cs typeface="Calibri" pitchFamily="34" charset="0"/>
              </a:rPr>
              <a:t>Now have a go at Exercise 2A pages 44 – 47.</a:t>
            </a:r>
          </a:p>
        </p:txBody>
      </p:sp>
    </p:spTree>
    <p:extLst>
      <p:ext uri="{BB962C8B-B14F-4D97-AF65-F5344CB8AC3E}">
        <p14:creationId xmlns:p14="http://schemas.microsoft.com/office/powerpoint/2010/main" val="3808236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50433483"/>
              </p:ext>
            </p:extLst>
          </p:nvPr>
        </p:nvGraphicFramePr>
        <p:xfrm>
          <a:off x="2056211" y="117356"/>
          <a:ext cx="5031578" cy="2499360"/>
        </p:xfrm>
        <a:graphic>
          <a:graphicData uri="http://schemas.openxmlformats.org/drawingml/2006/table">
            <a:tbl>
              <a:tblPr firstRow="1" firstCol="1" bandRow="1">
                <a:tableStyleId>{F5AB1C69-6EDB-4FF4-983F-18BD219EF322}</a:tableStyleId>
              </a:tblPr>
              <a:tblGrid>
                <a:gridCol w="2215907">
                  <a:extLst>
                    <a:ext uri="{9D8B030D-6E8A-4147-A177-3AD203B41FA5}">
                      <a16:colId xmlns:a16="http://schemas.microsoft.com/office/drawing/2014/main" val="20000"/>
                    </a:ext>
                  </a:extLst>
                </a:gridCol>
                <a:gridCol w="2815671">
                  <a:extLst>
                    <a:ext uri="{9D8B030D-6E8A-4147-A177-3AD203B41FA5}">
                      <a16:colId xmlns:a16="http://schemas.microsoft.com/office/drawing/2014/main" val="20001"/>
                    </a:ext>
                  </a:extLst>
                </a:gridCol>
              </a:tblGrid>
              <a:tr h="0">
                <a:tc>
                  <a:txBody>
                    <a:bodyPr/>
                    <a:lstStyle/>
                    <a:p>
                      <a:pPr>
                        <a:lnSpc>
                          <a:spcPct val="115000"/>
                        </a:lnSpc>
                        <a:spcAft>
                          <a:spcPts val="0"/>
                        </a:spcAft>
                      </a:pPr>
                      <a:r>
                        <a:rPr lang="en-AU" sz="1100" dirty="0">
                          <a:solidFill>
                            <a:schemeClr val="tx1"/>
                          </a:solidFill>
                          <a:effectLst/>
                        </a:rPr>
                        <a:t>Correlation Coefficient</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a:solidFill>
                            <a:schemeClr val="tx1"/>
                          </a:solidFill>
                          <a:effectLst/>
                        </a:rPr>
                        <a:t>Strength</a:t>
                      </a:r>
                      <a:endParaRPr lang="en-AU" sz="110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nSpc>
                          <a:spcPct val="115000"/>
                        </a:lnSpc>
                        <a:spcAft>
                          <a:spcPts val="0"/>
                        </a:spcAft>
                      </a:pPr>
                      <a:r>
                        <a:rPr lang="en-AU" sz="1100" dirty="0">
                          <a:solidFill>
                            <a:schemeClr val="tx1"/>
                          </a:solidFill>
                          <a:effectLst/>
                        </a:rPr>
                        <a:t>+1</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a:solidFill>
                            <a:schemeClr val="tx1"/>
                          </a:solidFill>
                          <a:effectLst/>
                        </a:rPr>
                        <a:t>Perfect positive relationship</a:t>
                      </a:r>
                      <a:endParaRPr lang="en-AU" sz="110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nSpc>
                          <a:spcPct val="115000"/>
                        </a:lnSpc>
                        <a:spcAft>
                          <a:spcPts val="0"/>
                        </a:spcAft>
                      </a:pPr>
                      <a:r>
                        <a:rPr lang="en-AU" sz="1100" dirty="0">
                          <a:solidFill>
                            <a:schemeClr val="tx1"/>
                          </a:solidFill>
                          <a:effectLst/>
                        </a:rPr>
                        <a:t>+0.7</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a:solidFill>
                            <a:schemeClr val="tx1"/>
                          </a:solidFill>
                          <a:effectLst/>
                        </a:rPr>
                        <a:t>Strong positive relationship</a:t>
                      </a:r>
                      <a:endParaRPr lang="en-AU" sz="110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nSpc>
                          <a:spcPct val="115000"/>
                        </a:lnSpc>
                        <a:spcAft>
                          <a:spcPts val="0"/>
                        </a:spcAft>
                      </a:pPr>
                      <a:r>
                        <a:rPr lang="en-AU" sz="1100" dirty="0">
                          <a:solidFill>
                            <a:schemeClr val="tx1"/>
                          </a:solidFill>
                          <a:effectLst/>
                        </a:rPr>
                        <a:t>+0.5</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dirty="0">
                          <a:solidFill>
                            <a:schemeClr val="tx1"/>
                          </a:solidFill>
                          <a:effectLst/>
                        </a:rPr>
                        <a:t>Moderate positive relationship</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a:lnSpc>
                          <a:spcPct val="115000"/>
                        </a:lnSpc>
                        <a:spcAft>
                          <a:spcPts val="0"/>
                        </a:spcAft>
                      </a:pPr>
                      <a:r>
                        <a:rPr lang="en-AU" sz="1100" dirty="0">
                          <a:solidFill>
                            <a:schemeClr val="tx1"/>
                          </a:solidFill>
                          <a:effectLst/>
                        </a:rPr>
                        <a:t>+0.3</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dirty="0">
                          <a:solidFill>
                            <a:schemeClr val="tx1"/>
                          </a:solidFill>
                          <a:effectLst/>
                        </a:rPr>
                        <a:t>Weak positive relationship</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nSpc>
                          <a:spcPct val="115000"/>
                        </a:lnSpc>
                        <a:spcAft>
                          <a:spcPts val="0"/>
                        </a:spcAft>
                      </a:pPr>
                      <a:r>
                        <a:rPr lang="en-AU" sz="1100" dirty="0">
                          <a:solidFill>
                            <a:schemeClr val="tx1"/>
                          </a:solidFill>
                          <a:effectLst/>
                        </a:rPr>
                        <a:t>0</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dirty="0">
                          <a:solidFill>
                            <a:schemeClr val="tx1"/>
                          </a:solidFill>
                          <a:effectLst/>
                        </a:rPr>
                        <a:t>No relationship</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nSpc>
                          <a:spcPct val="115000"/>
                        </a:lnSpc>
                        <a:spcAft>
                          <a:spcPts val="0"/>
                        </a:spcAft>
                      </a:pPr>
                      <a:r>
                        <a:rPr lang="en-AU" sz="1100" dirty="0">
                          <a:solidFill>
                            <a:schemeClr val="tx1"/>
                          </a:solidFill>
                          <a:effectLst/>
                        </a:rPr>
                        <a:t>-0.3</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dirty="0">
                          <a:solidFill>
                            <a:schemeClr val="tx1"/>
                          </a:solidFill>
                          <a:effectLst/>
                        </a:rPr>
                        <a:t>Weak negative relationship</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0">
                <a:tc>
                  <a:txBody>
                    <a:bodyPr/>
                    <a:lstStyle/>
                    <a:p>
                      <a:pPr>
                        <a:lnSpc>
                          <a:spcPct val="115000"/>
                        </a:lnSpc>
                        <a:spcAft>
                          <a:spcPts val="0"/>
                        </a:spcAft>
                      </a:pPr>
                      <a:r>
                        <a:rPr lang="en-AU" sz="1100" dirty="0">
                          <a:solidFill>
                            <a:schemeClr val="tx1"/>
                          </a:solidFill>
                          <a:effectLst/>
                        </a:rPr>
                        <a:t>-0.5</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dirty="0">
                          <a:solidFill>
                            <a:schemeClr val="tx1"/>
                          </a:solidFill>
                          <a:effectLst/>
                        </a:rPr>
                        <a:t>Moderate negative relationship</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nSpc>
                          <a:spcPct val="115000"/>
                        </a:lnSpc>
                        <a:spcAft>
                          <a:spcPts val="0"/>
                        </a:spcAft>
                      </a:pPr>
                      <a:r>
                        <a:rPr lang="en-AU" sz="1100" dirty="0">
                          <a:solidFill>
                            <a:schemeClr val="tx1"/>
                          </a:solidFill>
                          <a:effectLst/>
                        </a:rPr>
                        <a:t>-0.7</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dirty="0">
                          <a:solidFill>
                            <a:schemeClr val="tx1"/>
                          </a:solidFill>
                          <a:effectLst/>
                        </a:rPr>
                        <a:t>Strong negative relationship</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0">
                <a:tc>
                  <a:txBody>
                    <a:bodyPr/>
                    <a:lstStyle/>
                    <a:p>
                      <a:pPr>
                        <a:lnSpc>
                          <a:spcPct val="115000"/>
                        </a:lnSpc>
                        <a:spcAft>
                          <a:spcPts val="0"/>
                        </a:spcAft>
                      </a:pPr>
                      <a:r>
                        <a:rPr lang="en-AU" sz="1100" dirty="0">
                          <a:solidFill>
                            <a:schemeClr val="tx1"/>
                          </a:solidFill>
                          <a:effectLst/>
                        </a:rPr>
                        <a:t>-1</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nSpc>
                          <a:spcPct val="115000"/>
                        </a:lnSpc>
                        <a:spcAft>
                          <a:spcPts val="0"/>
                        </a:spcAft>
                      </a:pPr>
                      <a:r>
                        <a:rPr lang="en-AU" sz="1100" dirty="0">
                          <a:solidFill>
                            <a:schemeClr val="tx1"/>
                          </a:solidFill>
                          <a:effectLst/>
                        </a:rPr>
                        <a:t>Perfect negative relationship</a:t>
                      </a:r>
                      <a:endParaRPr lang="en-AU" sz="1100" dirty="0">
                        <a:solidFill>
                          <a:schemeClr val="tx1"/>
                        </a:solidFill>
                        <a:effectLst/>
                        <a:latin typeface="Calibri"/>
                        <a:ea typeface="Calibri"/>
                        <a:cs typeface="Times New Roman"/>
                      </a:endParaRPr>
                    </a:p>
                  </a:txBody>
                  <a:tcPr marL="28575" marR="28575" marT="28575" marB="285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3" name="Rectangle 2"/>
          <p:cNvSpPr/>
          <p:nvPr/>
        </p:nvSpPr>
        <p:spPr>
          <a:xfrm>
            <a:off x="211684" y="2672239"/>
            <a:ext cx="8784976" cy="4185761"/>
          </a:xfrm>
          <a:prstGeom prst="rect">
            <a:avLst/>
          </a:prstGeom>
        </p:spPr>
        <p:txBody>
          <a:bodyPr wrap="square">
            <a:spAutoFit/>
          </a:bodyPr>
          <a:lstStyle/>
          <a:p>
            <a:r>
              <a:rPr lang="en-AU" sz="1400" u="sng" dirty="0">
                <a:latin typeface="Calibri" pitchFamily="34" charset="0"/>
                <a:cs typeface="Calibri" pitchFamily="34" charset="0"/>
              </a:rPr>
              <a:t>Analysing the validity of our prediction</a:t>
            </a:r>
          </a:p>
          <a:p>
            <a:r>
              <a:rPr lang="en-AU" sz="1400" dirty="0">
                <a:latin typeface="Calibri" pitchFamily="34" charset="0"/>
                <a:cs typeface="Calibri" pitchFamily="34" charset="0"/>
              </a:rPr>
              <a:t>After you have used your linear model or the equation of the line and calculator to make a prediction for a particular value for the independent variable, you now need to determine how valid or reliable it is.</a:t>
            </a:r>
          </a:p>
          <a:p>
            <a:r>
              <a:rPr lang="en-AU" sz="1400" dirty="0">
                <a:latin typeface="Calibri" pitchFamily="34" charset="0"/>
                <a:cs typeface="Calibri" pitchFamily="34" charset="0"/>
              </a:rPr>
              <a:t>To do this, you need to consider three things:</a:t>
            </a:r>
          </a:p>
          <a:p>
            <a:pPr lvl="0"/>
            <a:r>
              <a:rPr lang="en-AU" sz="1400" dirty="0">
                <a:latin typeface="Calibri" pitchFamily="34" charset="0"/>
                <a:cs typeface="Calibri" pitchFamily="34" charset="0"/>
              </a:rPr>
              <a:t>1.  How strong is the correlation?</a:t>
            </a:r>
          </a:p>
          <a:p>
            <a:pPr lvl="0"/>
            <a:r>
              <a:rPr lang="en-AU" sz="1400" dirty="0">
                <a:latin typeface="Calibri" pitchFamily="34" charset="0"/>
                <a:cs typeface="Calibri" pitchFamily="34" charset="0"/>
              </a:rPr>
              <a:t>2.  Is the data interpolated or extrapolated?</a:t>
            </a:r>
          </a:p>
          <a:p>
            <a:pPr lvl="0"/>
            <a:r>
              <a:rPr lang="en-AU" sz="1400" dirty="0">
                <a:latin typeface="Calibri" pitchFamily="34" charset="0"/>
                <a:cs typeface="Calibri" pitchFamily="34" charset="0"/>
              </a:rPr>
              <a:t>3.  Do you have a reasonable number of points involved in the calculation?</a:t>
            </a:r>
          </a:p>
          <a:p>
            <a:r>
              <a:rPr lang="en-AU" sz="1400" dirty="0">
                <a:latin typeface="Calibri" pitchFamily="34" charset="0"/>
                <a:cs typeface="Calibri" pitchFamily="34" charset="0"/>
              </a:rPr>
              <a:t>We already know all about correlation and the strength of a relationship. Let's talk about the second point.</a:t>
            </a:r>
          </a:p>
          <a:p>
            <a:r>
              <a:rPr lang="en-AU" sz="1400" dirty="0">
                <a:latin typeface="Calibri" pitchFamily="34" charset="0"/>
                <a:cs typeface="Calibri" pitchFamily="34" charset="0"/>
              </a:rPr>
              <a:t>Interpolation means you have used an x value in your prediction that is within the available range of data that you were working with. In the Maths/Physic example, the </a:t>
            </a:r>
            <a:r>
              <a:rPr lang="en-AU" sz="1400" i="1" dirty="0">
                <a:latin typeface="Calibri" pitchFamily="34" charset="0"/>
                <a:cs typeface="Calibri" pitchFamily="34" charset="0"/>
              </a:rPr>
              <a:t>x</a:t>
            </a:r>
            <a:r>
              <a:rPr lang="en-AU" sz="1400" dirty="0">
                <a:latin typeface="Calibri" pitchFamily="34" charset="0"/>
                <a:cs typeface="Calibri" pitchFamily="34" charset="0"/>
              </a:rPr>
              <a:t> values range between 3 and 10, so any x value you choose within this range would be considered an interpolation.</a:t>
            </a:r>
          </a:p>
          <a:p>
            <a:r>
              <a:rPr lang="en-AU" sz="1400" dirty="0">
                <a:latin typeface="Calibri" pitchFamily="34" charset="0"/>
                <a:cs typeface="Calibri" pitchFamily="34" charset="0"/>
              </a:rPr>
              <a:t>Extrapolation means you have used an </a:t>
            </a:r>
            <a:r>
              <a:rPr lang="en-AU" sz="1400" i="1" dirty="0">
                <a:latin typeface="Calibri" pitchFamily="34" charset="0"/>
                <a:cs typeface="Calibri" pitchFamily="34" charset="0"/>
              </a:rPr>
              <a:t>x</a:t>
            </a:r>
            <a:r>
              <a:rPr lang="en-AU" sz="1400" dirty="0">
                <a:latin typeface="Calibri" pitchFamily="34" charset="0"/>
                <a:cs typeface="Calibri" pitchFamily="34" charset="0"/>
              </a:rPr>
              <a:t> value in your prediction that is outside the available range of data. So in the video example, anything below 3 or above 10 would be considered an extrapolation.</a:t>
            </a:r>
          </a:p>
          <a:p>
            <a:r>
              <a:rPr lang="en-AU" sz="1400" u="sng" dirty="0">
                <a:latin typeface="Calibri" pitchFamily="34" charset="0"/>
                <a:cs typeface="Calibri" pitchFamily="34" charset="0"/>
              </a:rPr>
              <a:t>Let's put it all together.</a:t>
            </a:r>
          </a:p>
          <a:p>
            <a:pPr lvl="0"/>
            <a:r>
              <a:rPr lang="en-AU" sz="1400" dirty="0">
                <a:latin typeface="Calibri" pitchFamily="34" charset="0"/>
                <a:cs typeface="Calibri" pitchFamily="34" charset="0"/>
              </a:rPr>
              <a:t>If my correlation is strong and I have used interpolation, then my prediction will be reliable.</a:t>
            </a:r>
          </a:p>
          <a:p>
            <a:pPr lvl="0"/>
            <a:r>
              <a:rPr lang="en-AU" sz="1400" dirty="0">
                <a:latin typeface="Calibri" pitchFamily="34" charset="0"/>
                <a:cs typeface="Calibri" pitchFamily="34" charset="0"/>
              </a:rPr>
              <a:t>If my correlation is moderate to weak and I have used interpolation, then my prediction is far less reliable.</a:t>
            </a:r>
          </a:p>
          <a:p>
            <a:pPr lvl="0"/>
            <a:r>
              <a:rPr lang="en-AU" sz="1400" dirty="0">
                <a:latin typeface="Calibri" pitchFamily="34" charset="0"/>
                <a:cs typeface="Calibri" pitchFamily="34" charset="0"/>
              </a:rPr>
              <a:t>If my correlation is strong and I have used extrapolation, then my prediction will be far less reliable, especially if I extrapolate far beyond the range of available data.</a:t>
            </a:r>
          </a:p>
          <a:p>
            <a:pPr lvl="0"/>
            <a:r>
              <a:rPr lang="en-AU" sz="1400" dirty="0">
                <a:latin typeface="Calibri" pitchFamily="34" charset="0"/>
                <a:cs typeface="Calibri" pitchFamily="34" charset="0"/>
              </a:rPr>
              <a:t>The worst of all is if I have a weak correlation and I extrapolate. There's little chance of this prediction being reliable.</a:t>
            </a:r>
          </a:p>
        </p:txBody>
      </p:sp>
    </p:spTree>
    <p:extLst>
      <p:ext uri="{BB962C8B-B14F-4D97-AF65-F5344CB8AC3E}">
        <p14:creationId xmlns:p14="http://schemas.microsoft.com/office/powerpoint/2010/main" val="3513398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0524" y="260648"/>
            <a:ext cx="8640960" cy="6340197"/>
          </a:xfrm>
          <a:prstGeom prst="rect">
            <a:avLst/>
          </a:prstGeom>
        </p:spPr>
        <p:txBody>
          <a:bodyPr wrap="square">
            <a:spAutoFit/>
          </a:bodyPr>
          <a:lstStyle/>
          <a:p>
            <a:r>
              <a:rPr lang="en-AU" sz="1400" b="1" dirty="0">
                <a:latin typeface="Calibri" pitchFamily="34" charset="0"/>
                <a:cs typeface="Calibri" pitchFamily="34" charset="0"/>
              </a:rPr>
              <a:t>Causality and Correlation</a:t>
            </a:r>
          </a:p>
          <a:p>
            <a:r>
              <a:rPr lang="en-AU" sz="1400" dirty="0">
                <a:latin typeface="Calibri" pitchFamily="34" charset="0"/>
                <a:cs typeface="Calibri" pitchFamily="34" charset="0"/>
              </a:rPr>
              <a:t>This chapter revisits ideas about causality and correlation that we will discuss.</a:t>
            </a:r>
          </a:p>
          <a:p>
            <a:r>
              <a:rPr lang="en-AU" sz="1400" dirty="0">
                <a:latin typeface="Calibri" pitchFamily="34" charset="0"/>
                <a:cs typeface="Calibri" pitchFamily="34" charset="0"/>
              </a:rPr>
              <a:t>When a change in the value of one variable quantity seems to be associated with a proportional change in another variable, we say there is a correlation (or a relationship) between the two variables.</a:t>
            </a:r>
          </a:p>
          <a:p>
            <a:r>
              <a:rPr lang="en-AU" sz="1400" dirty="0">
                <a:latin typeface="Calibri" pitchFamily="34" charset="0"/>
                <a:cs typeface="Calibri" pitchFamily="34" charset="0"/>
              </a:rPr>
              <a:t>A correlation between variables may be discovered in the course of an experiment or through an analysis of observational data.</a:t>
            </a:r>
          </a:p>
          <a:p>
            <a:r>
              <a:rPr lang="en-AU" sz="1400" dirty="0">
                <a:latin typeface="Calibri" pitchFamily="34" charset="0"/>
                <a:cs typeface="Calibri" pitchFamily="34" charset="0"/>
              </a:rPr>
              <a:t>In a typical experiment, a researcher sets one variable, called the </a:t>
            </a:r>
            <a:r>
              <a:rPr lang="en-AU" sz="1400" i="1" dirty="0">
                <a:latin typeface="Calibri" pitchFamily="34" charset="0"/>
                <a:cs typeface="Calibri" pitchFamily="34" charset="0"/>
              </a:rPr>
              <a:t>independent </a:t>
            </a:r>
            <a:r>
              <a:rPr lang="en-AU" sz="1400" dirty="0">
                <a:latin typeface="Calibri" pitchFamily="34" charset="0"/>
                <a:cs typeface="Calibri" pitchFamily="34" charset="0"/>
              </a:rPr>
              <a:t>or </a:t>
            </a:r>
            <a:r>
              <a:rPr lang="en-AU" sz="1400" i="1" dirty="0">
                <a:latin typeface="Calibri" pitchFamily="34" charset="0"/>
                <a:cs typeface="Calibri" pitchFamily="34" charset="0"/>
              </a:rPr>
              <a:t>explanatory </a:t>
            </a:r>
            <a:r>
              <a:rPr lang="en-AU" sz="1400" dirty="0">
                <a:latin typeface="Calibri" pitchFamily="34" charset="0"/>
                <a:cs typeface="Calibri" pitchFamily="34" charset="0"/>
              </a:rPr>
              <a:t>variable, to various levels and observes the corresponding values of the other variable, called the </a:t>
            </a:r>
            <a:r>
              <a:rPr lang="en-AU" sz="1400" i="1" dirty="0">
                <a:latin typeface="Calibri" pitchFamily="34" charset="0"/>
                <a:cs typeface="Calibri" pitchFamily="34" charset="0"/>
              </a:rPr>
              <a:t>response </a:t>
            </a:r>
            <a:r>
              <a:rPr lang="en-AU" sz="1400" dirty="0">
                <a:latin typeface="Calibri" pitchFamily="34" charset="0"/>
                <a:cs typeface="Calibri" pitchFamily="34" charset="0"/>
              </a:rPr>
              <a:t>variable. The pairs of data values obtained in this way may be graphed as a scatter plot and the best fitting straight line found. The correlation is said to be strong if the data points are reasonably close to the line and weak otherwise.</a:t>
            </a:r>
          </a:p>
          <a:p>
            <a:r>
              <a:rPr lang="en-AU" sz="1400" dirty="0">
                <a:latin typeface="Calibri" pitchFamily="34" charset="0"/>
                <a:cs typeface="Calibri" pitchFamily="34" charset="0"/>
              </a:rPr>
              <a:t>Correlation is measured on a continuous scale from -1 to 1 by a quantity called a </a:t>
            </a:r>
            <a:r>
              <a:rPr lang="en-AU" sz="1400" dirty="0">
                <a:latin typeface="Calibri" pitchFamily="34" charset="0"/>
                <a:cs typeface="Calibri" pitchFamily="34" charset="0"/>
                <a:hlinkClick r:id="rId2"/>
              </a:rPr>
              <a:t>correlation coefficient</a:t>
            </a:r>
            <a:r>
              <a:rPr lang="en-AU" sz="1400" dirty="0">
                <a:latin typeface="Calibri" pitchFamily="34" charset="0"/>
                <a:cs typeface="Calibri" pitchFamily="34" charset="0"/>
              </a:rPr>
              <a:t> </a:t>
            </a:r>
            <a:r>
              <a:rPr lang="en-AU" sz="1400" dirty="0" err="1">
                <a:latin typeface="Calibri" pitchFamily="34" charset="0"/>
                <a:cs typeface="Calibri" pitchFamily="34" charset="0"/>
              </a:rPr>
              <a:t>r</a:t>
            </a:r>
            <a:r>
              <a:rPr lang="en-AU" sz="1400" baseline="-25000" dirty="0" err="1">
                <a:latin typeface="Calibri" pitchFamily="34" charset="0"/>
                <a:cs typeface="Calibri" pitchFamily="34" charset="0"/>
              </a:rPr>
              <a:t>xy</a:t>
            </a:r>
            <a:r>
              <a:rPr lang="en-AU" sz="1400" dirty="0">
                <a:latin typeface="Calibri" pitchFamily="34" charset="0"/>
                <a:cs typeface="Calibri" pitchFamily="34" charset="0"/>
              </a:rPr>
              <a:t>.</a:t>
            </a:r>
          </a:p>
          <a:p>
            <a:r>
              <a:rPr lang="en-AU" sz="1400" dirty="0">
                <a:latin typeface="Calibri" pitchFamily="34" charset="0"/>
                <a:cs typeface="Calibri" pitchFamily="34" charset="0"/>
              </a:rPr>
              <a:t>When a correlation is discovered through the analysis of data obtained by an observational study, the same use is made of a straight line graphical representation as in the experimental case and the strength of the correlation is measured in a similar way. Observational studies are important in medical research and in other situations where it would be unethical or impractical to perform experiments.</a:t>
            </a:r>
          </a:p>
          <a:p>
            <a:r>
              <a:rPr lang="en-AU" sz="1400" dirty="0">
                <a:latin typeface="Calibri" pitchFamily="34" charset="0"/>
                <a:cs typeface="Calibri" pitchFamily="34" charset="0"/>
              </a:rPr>
              <a:t>In the case of an observational study, more so than in an experiment, care must be taken not to assume that correlation implies </a:t>
            </a:r>
            <a:r>
              <a:rPr lang="en-AU" sz="1400" i="1" dirty="0">
                <a:latin typeface="Calibri" pitchFamily="34" charset="0"/>
                <a:cs typeface="Calibri" pitchFamily="34" charset="0"/>
              </a:rPr>
              <a:t>causation</a:t>
            </a:r>
            <a:r>
              <a:rPr lang="en-AU" sz="1400" dirty="0">
                <a:latin typeface="Calibri" pitchFamily="34" charset="0"/>
                <a:cs typeface="Calibri" pitchFamily="34" charset="0"/>
              </a:rPr>
              <a:t>.</a:t>
            </a:r>
          </a:p>
          <a:p>
            <a:r>
              <a:rPr lang="en-AU" sz="1400" dirty="0">
                <a:latin typeface="Calibri" pitchFamily="34" charset="0"/>
                <a:cs typeface="Calibri" pitchFamily="34" charset="0"/>
              </a:rPr>
              <a:t>In an experiment, it is usually reasonable to think that if values of an explanatory variable are deliberately chosen and the response variable is observed to change accordingly, then there is a causal relation between the explanatory and response variables. However, in an observational study, the values of both variables in the pair are merely observed, not chosen.</a:t>
            </a:r>
          </a:p>
          <a:p>
            <a:r>
              <a:rPr lang="en-AU" sz="1400" dirty="0">
                <a:latin typeface="Calibri" pitchFamily="34" charset="0"/>
                <a:cs typeface="Calibri" pitchFamily="34" charset="0"/>
              </a:rPr>
              <a:t>It is possible in an observational study for variables to be correlated purely by chance, or because both are dependent on a third, hidden variable. Moreover, if data sets A and B are correlated, it may be that values in B are causally determined by corresponding values in A, or conversely, it could be that values in set A are determined by corresponding values in B.</a:t>
            </a:r>
          </a:p>
          <a:p>
            <a:r>
              <a:rPr lang="en-AU" sz="1400" dirty="0">
                <a:latin typeface="Calibri" pitchFamily="34" charset="0"/>
                <a:cs typeface="Calibri" pitchFamily="34" charset="0"/>
              </a:rPr>
              <a:t>Thus, care is needed lest a correlation is wrongly taken to imply a causal relationship. To move from the discovery of a correlation to the claim that a causal effect has been found, researchers need to gather evidence external to the data. Typically a plausible physical mechanism needs to be demonstrated in order to explain the apparent relationship.</a:t>
            </a:r>
          </a:p>
        </p:txBody>
      </p:sp>
    </p:spTree>
    <p:extLst>
      <p:ext uri="{BB962C8B-B14F-4D97-AF65-F5344CB8AC3E}">
        <p14:creationId xmlns:p14="http://schemas.microsoft.com/office/powerpoint/2010/main" val="3881644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8"/>
          <p:cNvSpPr>
            <a:spLocks noChangeArrowheads="1"/>
          </p:cNvSpPr>
          <p:nvPr/>
        </p:nvSpPr>
        <p:spPr bwMode="auto">
          <a:xfrm>
            <a:off x="89446" y="935143"/>
            <a:ext cx="8856663"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500" b="1" u="sng" dirty="0">
                <a:latin typeface="Calibri" pitchFamily="34" charset="0"/>
                <a:cs typeface="Calibri" pitchFamily="34" charset="0"/>
              </a:rPr>
              <a:t>The Cause – Effect Relationship</a:t>
            </a:r>
            <a:r>
              <a:rPr lang="en-AU" sz="1500" dirty="0">
                <a:latin typeface="Calibri" pitchFamily="34" charset="0"/>
                <a:cs typeface="Calibri" pitchFamily="34" charset="0"/>
              </a:rPr>
              <a:t>	</a:t>
            </a:r>
          </a:p>
          <a:p>
            <a:r>
              <a:rPr lang="en-AU" sz="1500" dirty="0">
                <a:latin typeface="Calibri" pitchFamily="34" charset="0"/>
                <a:cs typeface="Calibri" pitchFamily="34" charset="0"/>
              </a:rPr>
              <a:t>The following examples should illustrate the salient features:-</a:t>
            </a:r>
          </a:p>
          <a:p>
            <a:r>
              <a:rPr lang="en-AU" sz="1500" dirty="0">
                <a:latin typeface="Calibri" pitchFamily="34" charset="0"/>
                <a:cs typeface="Calibri" pitchFamily="34" charset="0"/>
              </a:rPr>
              <a:t>1.	In a correlation study in England in the 1950s, it was found that in one large city, people who live in neighbourhoods in which there is a heavy </a:t>
            </a:r>
            <a:r>
              <a:rPr lang="en-AU" sz="1500" dirty="0" err="1">
                <a:latin typeface="Calibri" pitchFamily="34" charset="0"/>
                <a:cs typeface="Calibri" pitchFamily="34" charset="0"/>
              </a:rPr>
              <a:t>sootfall</a:t>
            </a:r>
            <a:r>
              <a:rPr lang="en-AU" sz="1500" dirty="0">
                <a:latin typeface="Calibri" pitchFamily="34" charset="0"/>
                <a:cs typeface="Calibri" pitchFamily="34" charset="0"/>
              </a:rPr>
              <a:t> are more likely top get T.B. (tuberculosis) than people who live in neighbourhoods with less </a:t>
            </a:r>
            <a:r>
              <a:rPr lang="en-AU" sz="1500" dirty="0" err="1">
                <a:latin typeface="Calibri" pitchFamily="34" charset="0"/>
                <a:cs typeface="Calibri" pitchFamily="34" charset="0"/>
              </a:rPr>
              <a:t>sootfall</a:t>
            </a:r>
            <a:r>
              <a:rPr lang="en-AU" sz="1500" dirty="0">
                <a:latin typeface="Calibri" pitchFamily="34" charset="0"/>
                <a:cs typeface="Calibri" pitchFamily="34" charset="0"/>
              </a:rPr>
              <a:t>. On this correlation basis, a researcher concluded that increased </a:t>
            </a:r>
            <a:r>
              <a:rPr lang="en-AU" sz="1500" dirty="0" err="1">
                <a:latin typeface="Calibri" pitchFamily="34" charset="0"/>
                <a:cs typeface="Calibri" pitchFamily="34" charset="0"/>
              </a:rPr>
              <a:t>sootfall</a:t>
            </a:r>
            <a:r>
              <a:rPr lang="en-AU" sz="1500" dirty="0">
                <a:latin typeface="Calibri" pitchFamily="34" charset="0"/>
                <a:cs typeface="Calibri" pitchFamily="34" charset="0"/>
              </a:rPr>
              <a:t> causes an increase in tuberculosis. Was he correct in his conclusion? Was he justified in implying a cause-effect relationship because of the existence of the correlation?</a:t>
            </a:r>
          </a:p>
          <a:p>
            <a:r>
              <a:rPr lang="en-AU" sz="1500" dirty="0">
                <a:latin typeface="Calibri" pitchFamily="34" charset="0"/>
                <a:cs typeface="Calibri" pitchFamily="34" charset="0"/>
              </a:rPr>
              <a:t>The answer is an emphatic NO! Subsequent research showed that dietary deficiencies are among the causes of T.B.  Further, dietary deficiencies are more likely to occur most frequently among low income groups. Low income groups are more likely to live in low rent districts. Districts become low rent areas because, among other things, of heavy </a:t>
            </a:r>
            <a:r>
              <a:rPr lang="en-AU" sz="1500" dirty="0" err="1">
                <a:latin typeface="Calibri" pitchFamily="34" charset="0"/>
                <a:cs typeface="Calibri" pitchFamily="34" charset="0"/>
              </a:rPr>
              <a:t>sootfall</a:t>
            </a:r>
            <a:r>
              <a:rPr lang="en-AU" sz="1500" dirty="0">
                <a:latin typeface="Calibri" pitchFamily="34" charset="0"/>
                <a:cs typeface="Calibri" pitchFamily="34" charset="0"/>
              </a:rPr>
              <a:t>.</a:t>
            </a:r>
          </a:p>
          <a:p>
            <a:r>
              <a:rPr lang="en-AU" sz="1500" dirty="0">
                <a:latin typeface="Calibri" pitchFamily="34" charset="0"/>
                <a:cs typeface="Calibri" pitchFamily="34" charset="0"/>
              </a:rPr>
              <a:t>This chain of links resulted in the incidental correlation between </a:t>
            </a:r>
            <a:r>
              <a:rPr lang="en-AU" sz="1500" dirty="0" err="1">
                <a:latin typeface="Calibri" pitchFamily="34" charset="0"/>
                <a:cs typeface="Calibri" pitchFamily="34" charset="0"/>
              </a:rPr>
              <a:t>sootfall</a:t>
            </a:r>
            <a:r>
              <a:rPr lang="en-AU" sz="1500" dirty="0">
                <a:latin typeface="Calibri" pitchFamily="34" charset="0"/>
                <a:cs typeface="Calibri" pitchFamily="34" charset="0"/>
              </a:rPr>
              <a:t> and T.B.</a:t>
            </a:r>
          </a:p>
          <a:p>
            <a:endParaRPr lang="en-AU" sz="1500" dirty="0">
              <a:latin typeface="Calibri" pitchFamily="34" charset="0"/>
              <a:cs typeface="Calibri" pitchFamily="34" charset="0"/>
            </a:endParaRPr>
          </a:p>
          <a:p>
            <a:endParaRPr lang="en-AU" sz="1500" dirty="0">
              <a:latin typeface="Calibri" pitchFamily="34" charset="0"/>
              <a:cs typeface="Calibri" pitchFamily="34" charset="0"/>
            </a:endParaRPr>
          </a:p>
          <a:p>
            <a:r>
              <a:rPr lang="en-AU" sz="1500" dirty="0">
                <a:latin typeface="Calibri" pitchFamily="34" charset="0"/>
                <a:cs typeface="Calibri" pitchFamily="34" charset="0"/>
              </a:rPr>
              <a:t>2.	There is a very strong positive correlation between the number of firepersons at a fire and the amount of damage done. Can we conclude that the firepersons cause the damage?</a:t>
            </a:r>
            <a:br>
              <a:rPr lang="en-AU" sz="1500" dirty="0">
                <a:latin typeface="Calibri" pitchFamily="34" charset="0"/>
                <a:cs typeface="Calibri" pitchFamily="34" charset="0"/>
              </a:rPr>
            </a:br>
            <a:r>
              <a:rPr lang="en-AU" sz="1500" dirty="0">
                <a:latin typeface="Calibri" pitchFamily="34" charset="0"/>
                <a:cs typeface="Calibri" pitchFamily="34" charset="0"/>
              </a:rPr>
              <a:t>NO!  There is a third factor, </a:t>
            </a:r>
            <a:r>
              <a:rPr lang="en-AU" sz="1500" dirty="0" err="1">
                <a:latin typeface="Calibri" pitchFamily="34" charset="0"/>
                <a:cs typeface="Calibri" pitchFamily="34" charset="0"/>
              </a:rPr>
              <a:t>viz</a:t>
            </a:r>
            <a:r>
              <a:rPr lang="en-AU" sz="1500" dirty="0">
                <a:latin typeface="Calibri" pitchFamily="34" charset="0"/>
                <a:cs typeface="Calibri" pitchFamily="34" charset="0"/>
              </a:rPr>
              <a:t> the size of the fire, which affects both other variable – the bigger the fire, the more damage done; and the bigger the fire, the more firepersons are needed to bring it under control.</a:t>
            </a:r>
          </a:p>
          <a:p>
            <a:endParaRPr lang="en-AU" sz="1500" dirty="0">
              <a:latin typeface="Calibri" pitchFamily="34" charset="0"/>
              <a:cs typeface="Calibri" pitchFamily="34" charset="0"/>
            </a:endParaRPr>
          </a:p>
        </p:txBody>
      </p:sp>
    </p:spTree>
    <p:extLst>
      <p:ext uri="{BB962C8B-B14F-4D97-AF65-F5344CB8AC3E}">
        <p14:creationId xmlns:p14="http://schemas.microsoft.com/office/powerpoint/2010/main" val="937313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4"/>
          <p:cNvSpPr>
            <a:spLocks noChangeArrowheads="1"/>
          </p:cNvSpPr>
          <p:nvPr/>
        </p:nvSpPr>
        <p:spPr bwMode="auto">
          <a:xfrm>
            <a:off x="250825" y="927844"/>
            <a:ext cx="8564563"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342900"/>
            <a:r>
              <a:rPr lang="en-AU" sz="1600" dirty="0">
                <a:latin typeface="Calibri" pitchFamily="34" charset="0"/>
                <a:cs typeface="Calibri" pitchFamily="34" charset="0"/>
              </a:rPr>
              <a:t>3.	Over a period of years, the correlation coefficient between teachers’ salaries and the consumption of liquor turned out to be 0.98 (from an American study in the first half of the 20th century).</a:t>
            </a:r>
          </a:p>
          <a:p>
            <a:pPr marL="342900"/>
            <a:br>
              <a:rPr lang="en-AU" sz="1600" dirty="0">
                <a:latin typeface="Calibri" pitchFamily="34" charset="0"/>
                <a:cs typeface="Calibri" pitchFamily="34" charset="0"/>
              </a:rPr>
            </a:br>
            <a:r>
              <a:rPr lang="en-AU" sz="1600" dirty="0">
                <a:latin typeface="Calibri" pitchFamily="34" charset="0"/>
                <a:cs typeface="Calibri" pitchFamily="34" charset="0"/>
              </a:rPr>
              <a:t>During this time, there was a steady rise in wages and salaries of all types and a general upward trend of good times. Moreover, the general upward trend in wages and buying power, together with the increase in population, would be reflected in the increased total purchases of liquor. Thus the high correlation merely reflects the common effect of the upward trend of the two variables. </a:t>
            </a:r>
          </a:p>
          <a:p>
            <a:pPr marL="342900"/>
            <a:endParaRPr lang="en-AU" sz="1600" dirty="0">
              <a:latin typeface="Calibri" pitchFamily="34" charset="0"/>
              <a:cs typeface="Calibri" pitchFamily="34" charset="0"/>
            </a:endParaRPr>
          </a:p>
          <a:p>
            <a:pPr marL="342900"/>
            <a:endParaRPr lang="en-AU" sz="1600" dirty="0">
              <a:latin typeface="Calibri" pitchFamily="34" charset="0"/>
              <a:cs typeface="Calibri" pitchFamily="34" charset="0"/>
            </a:endParaRPr>
          </a:p>
          <a:p>
            <a:pPr marL="342900"/>
            <a:r>
              <a:rPr lang="en-AU" sz="1600" dirty="0">
                <a:latin typeface="Calibri" pitchFamily="34" charset="0"/>
                <a:cs typeface="Calibri" pitchFamily="34" charset="0"/>
              </a:rPr>
              <a:t>The most important lesson to be learnt from the above examples is, that if two variables tend to increase (or decrease) together, this does not necessarily imply that one variable cause the other to change. Both may be influenced by other variables which are responsible for the observed correlation. Remember, the correlation coefficient merely measures the strength of the mathematical relationship between two variables – it does not imply a cause-effect  relationship. Correlation coefficients must be handled with care if they are to give sensible information concerning relationships between pairs of variables. Success with them requires familiarity with the area under investigation as well as being able to derive them mathematically</a:t>
            </a:r>
          </a:p>
        </p:txBody>
      </p:sp>
      <p:sp>
        <p:nvSpPr>
          <p:cNvPr id="2" name="TextBox 1"/>
          <p:cNvSpPr txBox="1"/>
          <p:nvPr/>
        </p:nvSpPr>
        <p:spPr>
          <a:xfrm>
            <a:off x="2627784" y="6145157"/>
            <a:ext cx="3134128" cy="323165"/>
          </a:xfrm>
          <a:prstGeom prst="rect">
            <a:avLst/>
          </a:prstGeom>
          <a:noFill/>
        </p:spPr>
        <p:txBody>
          <a:bodyPr wrap="none" rtlCol="0">
            <a:spAutoFit/>
          </a:bodyPr>
          <a:lstStyle/>
          <a:p>
            <a:r>
              <a:rPr lang="en-AU" sz="1500" dirty="0">
                <a:latin typeface="Calibri" pitchFamily="34" charset="0"/>
                <a:cs typeface="Calibri" pitchFamily="34" charset="0"/>
              </a:rPr>
              <a:t>Have a go at Exercise 2B pages 56 - 60</a:t>
            </a:r>
          </a:p>
        </p:txBody>
      </p:sp>
    </p:spTree>
    <p:extLst>
      <p:ext uri="{BB962C8B-B14F-4D97-AF65-F5344CB8AC3E}">
        <p14:creationId xmlns:p14="http://schemas.microsoft.com/office/powerpoint/2010/main" val="2341295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536" y="764704"/>
            <a:ext cx="8352928" cy="3785652"/>
          </a:xfrm>
          <a:prstGeom prst="rect">
            <a:avLst/>
          </a:prstGeom>
        </p:spPr>
        <p:txBody>
          <a:bodyPr wrap="square">
            <a:spAutoFit/>
          </a:bodyPr>
          <a:lstStyle/>
          <a:p>
            <a:r>
              <a:rPr lang="en-AU" u="sng" dirty="0">
                <a:latin typeface="Calibri" pitchFamily="34" charset="0"/>
                <a:cs typeface="Calibri" pitchFamily="34" charset="0"/>
              </a:rPr>
              <a:t>Some Further Considerations.</a:t>
            </a:r>
          </a:p>
          <a:p>
            <a:endParaRPr lang="en-AU" sz="1600" dirty="0">
              <a:latin typeface="Calibri" pitchFamily="34" charset="0"/>
              <a:cs typeface="Calibri" pitchFamily="34" charset="0"/>
            </a:endParaRPr>
          </a:p>
          <a:p>
            <a:r>
              <a:rPr lang="en-AU" sz="1600" dirty="0">
                <a:latin typeface="Calibri" pitchFamily="34" charset="0"/>
                <a:cs typeface="Calibri" pitchFamily="34" charset="0"/>
              </a:rPr>
              <a:t>In statistics, we tend to assume that our data will fit some kind of trend and that most things will fit into a "normal" range, even though we expect a certain amount of variability. This is why we look at measures of central tendency, such as the mean, median and mode, and talk about the normal distribution, which is a nice symmetrical graph shaped like a bell. </a:t>
            </a:r>
          </a:p>
          <a:p>
            <a:r>
              <a:rPr lang="en-AU" sz="1600" dirty="0">
                <a:latin typeface="Calibri" pitchFamily="34" charset="0"/>
                <a:cs typeface="Calibri" pitchFamily="34" charset="0"/>
              </a:rPr>
              <a:t>An outlier is an event that is very different from the norm and results in a score that is really above or below average. For example, if there are 20 people in a Maths class and 18 received scores between 60 – 80%, the other 2 people only received scores of 32% &amp; 35%, they would be an outlier as their scores are </a:t>
            </a:r>
            <a:r>
              <a:rPr lang="en-AU" sz="1600" i="1" dirty="0">
                <a:latin typeface="Calibri" pitchFamily="34" charset="0"/>
                <a:cs typeface="Calibri" pitchFamily="34" charset="0"/>
              </a:rPr>
              <a:t>much</a:t>
            </a:r>
            <a:r>
              <a:rPr lang="en-AU" sz="1600" dirty="0">
                <a:latin typeface="Calibri" pitchFamily="34" charset="0"/>
                <a:cs typeface="Calibri" pitchFamily="34" charset="0"/>
              </a:rPr>
              <a:t> less than everyone else in the group.  In this if we approximated the mean for all of them it would be about 66%, if we take out the “outliers” it would now be about 70%.</a:t>
            </a:r>
          </a:p>
          <a:p>
            <a:r>
              <a:rPr lang="en-AU" sz="1600" dirty="0">
                <a:latin typeface="Calibri" pitchFamily="34" charset="0"/>
                <a:cs typeface="Calibri" pitchFamily="34" charset="0"/>
              </a:rPr>
              <a:t>Outliers can affect our measures of central tendency and variability, which we will look into a bit later in things out of the Norm.  Quite often when we are working with bivariate data we remove the outlying data, which is called trimming or cropping.</a:t>
            </a:r>
          </a:p>
        </p:txBody>
      </p:sp>
    </p:spTree>
    <p:extLst>
      <p:ext uri="{BB962C8B-B14F-4D97-AF65-F5344CB8AC3E}">
        <p14:creationId xmlns:p14="http://schemas.microsoft.com/office/powerpoint/2010/main" val="2633911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220"/>
          <p:cNvGraphicFramePr>
            <a:graphicFrameLocks noGrp="1"/>
          </p:cNvGraphicFramePr>
          <p:nvPr>
            <p:extLst>
              <p:ext uri="{D42A27DB-BD31-4B8C-83A1-F6EECF244321}">
                <p14:modId xmlns:p14="http://schemas.microsoft.com/office/powerpoint/2010/main" val="4286168732"/>
              </p:ext>
            </p:extLst>
          </p:nvPr>
        </p:nvGraphicFramePr>
        <p:xfrm>
          <a:off x="467544" y="908720"/>
          <a:ext cx="7776865" cy="1512170"/>
        </p:xfrm>
        <a:graphic>
          <a:graphicData uri="http://schemas.openxmlformats.org/drawingml/2006/table">
            <a:tbl>
              <a:tblPr/>
              <a:tblGrid>
                <a:gridCol w="1232483">
                  <a:extLst>
                    <a:ext uri="{9D8B030D-6E8A-4147-A177-3AD203B41FA5}">
                      <a16:colId xmlns:a16="http://schemas.microsoft.com/office/drawing/2014/main" val="20000"/>
                    </a:ext>
                  </a:extLst>
                </a:gridCol>
                <a:gridCol w="653589">
                  <a:extLst>
                    <a:ext uri="{9D8B030D-6E8A-4147-A177-3AD203B41FA5}">
                      <a16:colId xmlns:a16="http://schemas.microsoft.com/office/drawing/2014/main" val="20001"/>
                    </a:ext>
                  </a:extLst>
                </a:gridCol>
                <a:gridCol w="655287">
                  <a:extLst>
                    <a:ext uri="{9D8B030D-6E8A-4147-A177-3AD203B41FA5}">
                      <a16:colId xmlns:a16="http://schemas.microsoft.com/office/drawing/2014/main" val="20002"/>
                    </a:ext>
                  </a:extLst>
                </a:gridCol>
                <a:gridCol w="653590">
                  <a:extLst>
                    <a:ext uri="{9D8B030D-6E8A-4147-A177-3AD203B41FA5}">
                      <a16:colId xmlns:a16="http://schemas.microsoft.com/office/drawing/2014/main" val="20003"/>
                    </a:ext>
                  </a:extLst>
                </a:gridCol>
                <a:gridCol w="655287">
                  <a:extLst>
                    <a:ext uri="{9D8B030D-6E8A-4147-A177-3AD203B41FA5}">
                      <a16:colId xmlns:a16="http://schemas.microsoft.com/office/drawing/2014/main" val="20004"/>
                    </a:ext>
                  </a:extLst>
                </a:gridCol>
                <a:gridCol w="653589">
                  <a:extLst>
                    <a:ext uri="{9D8B030D-6E8A-4147-A177-3AD203B41FA5}">
                      <a16:colId xmlns:a16="http://schemas.microsoft.com/office/drawing/2014/main" val="20005"/>
                    </a:ext>
                  </a:extLst>
                </a:gridCol>
                <a:gridCol w="655287">
                  <a:extLst>
                    <a:ext uri="{9D8B030D-6E8A-4147-A177-3AD203B41FA5}">
                      <a16:colId xmlns:a16="http://schemas.microsoft.com/office/drawing/2014/main" val="20006"/>
                    </a:ext>
                  </a:extLst>
                </a:gridCol>
                <a:gridCol w="653590">
                  <a:extLst>
                    <a:ext uri="{9D8B030D-6E8A-4147-A177-3AD203B41FA5}">
                      <a16:colId xmlns:a16="http://schemas.microsoft.com/office/drawing/2014/main" val="20007"/>
                    </a:ext>
                  </a:extLst>
                </a:gridCol>
                <a:gridCol w="655287">
                  <a:extLst>
                    <a:ext uri="{9D8B030D-6E8A-4147-A177-3AD203B41FA5}">
                      <a16:colId xmlns:a16="http://schemas.microsoft.com/office/drawing/2014/main" val="20008"/>
                    </a:ext>
                  </a:extLst>
                </a:gridCol>
                <a:gridCol w="653589">
                  <a:extLst>
                    <a:ext uri="{9D8B030D-6E8A-4147-A177-3AD203B41FA5}">
                      <a16:colId xmlns:a16="http://schemas.microsoft.com/office/drawing/2014/main" val="20009"/>
                    </a:ext>
                  </a:extLst>
                </a:gridCol>
                <a:gridCol w="655287">
                  <a:extLst>
                    <a:ext uri="{9D8B030D-6E8A-4147-A177-3AD203B41FA5}">
                      <a16:colId xmlns:a16="http://schemas.microsoft.com/office/drawing/2014/main" val="20010"/>
                    </a:ext>
                  </a:extLst>
                </a:gridCol>
              </a:tblGrid>
              <a:tr h="463242">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Student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H</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J</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446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X (maths)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446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Y (Phys)</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a:ln>
                            <a:noFill/>
                          </a:ln>
                          <a:solidFill>
                            <a:schemeClr val="tx1"/>
                          </a:solidFill>
                          <a:effectLst/>
                          <a:latin typeface="Arial" charset="0"/>
                          <a:ea typeface="Times New Roman" pitchFamily="18" charset="0"/>
                          <a:cs typeface="Arial" charset="0"/>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AU" sz="1400" b="0" i="0" u="none" strike="noStrike" cap="none" normalizeH="0" baseline="0" dirty="0">
                          <a:ln>
                            <a:noFill/>
                          </a:ln>
                          <a:solidFill>
                            <a:schemeClr val="tx1"/>
                          </a:solidFill>
                          <a:effectLst/>
                          <a:latin typeface="Arial" charset="0"/>
                          <a:ea typeface="Times New Roman" pitchFamily="18" charset="0"/>
                          <a:cs typeface="Arial" charset="0"/>
                        </a:rPr>
                        <a:t>10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6" name="TextBox 5"/>
          <p:cNvSpPr txBox="1"/>
          <p:nvPr/>
        </p:nvSpPr>
        <p:spPr>
          <a:xfrm>
            <a:off x="395536" y="404664"/>
            <a:ext cx="8340297" cy="307777"/>
          </a:xfrm>
          <a:prstGeom prst="rect">
            <a:avLst/>
          </a:prstGeom>
          <a:noFill/>
        </p:spPr>
        <p:txBody>
          <a:bodyPr wrap="none" rtlCol="0">
            <a:spAutoFit/>
          </a:bodyPr>
          <a:lstStyle/>
          <a:p>
            <a:r>
              <a:rPr lang="en-AU" sz="1400" dirty="0">
                <a:latin typeface="Calibri" pitchFamily="34" charset="0"/>
                <a:cs typeface="Calibri" pitchFamily="34" charset="0"/>
              </a:rPr>
              <a:t>If we go back to our original data and change student I’s Physics score to 2 (this person had a “</a:t>
            </a:r>
            <a:r>
              <a:rPr lang="en-AU" sz="1400" dirty="0" err="1">
                <a:latin typeface="Calibri" pitchFamily="34" charset="0"/>
                <a:cs typeface="Calibri" pitchFamily="34" charset="0"/>
              </a:rPr>
              <a:t>rooooly</a:t>
            </a:r>
            <a:r>
              <a:rPr lang="en-AU" sz="1400" dirty="0">
                <a:latin typeface="Calibri" pitchFamily="34" charset="0"/>
                <a:cs typeface="Calibri" pitchFamily="34" charset="0"/>
              </a:rPr>
              <a:t>” bad day) </a:t>
            </a:r>
          </a:p>
        </p:txBody>
      </p:sp>
      <p:sp>
        <p:nvSpPr>
          <p:cNvPr id="10" name="TextBox 9"/>
          <p:cNvSpPr txBox="1"/>
          <p:nvPr/>
        </p:nvSpPr>
        <p:spPr>
          <a:xfrm>
            <a:off x="3491880" y="4298536"/>
            <a:ext cx="1786066" cy="307777"/>
          </a:xfrm>
          <a:prstGeom prst="rect">
            <a:avLst/>
          </a:prstGeom>
          <a:noFill/>
        </p:spPr>
        <p:txBody>
          <a:bodyPr wrap="none" rtlCol="0">
            <a:spAutoFit/>
          </a:bodyPr>
          <a:lstStyle/>
          <a:p>
            <a:r>
              <a:rPr lang="en-AU" sz="1400" dirty="0"/>
              <a:t>Point moved to here</a:t>
            </a:r>
          </a:p>
        </p:txBody>
      </p:sp>
      <p:grpSp>
        <p:nvGrpSpPr>
          <p:cNvPr id="18" name="Group 17"/>
          <p:cNvGrpSpPr/>
          <p:nvPr/>
        </p:nvGrpSpPr>
        <p:grpSpPr>
          <a:xfrm>
            <a:off x="718031" y="2646466"/>
            <a:ext cx="3313113" cy="3074988"/>
            <a:chOff x="1187624" y="3284984"/>
            <a:chExt cx="3313113" cy="3074988"/>
          </a:xfrm>
        </p:grpSpPr>
        <p:graphicFrame>
          <p:nvGraphicFramePr>
            <p:cNvPr id="2" name="Object 1"/>
            <p:cNvGraphicFramePr>
              <a:graphicFrameLocks noChangeAspect="1"/>
            </p:cNvGraphicFramePr>
            <p:nvPr>
              <p:extLst>
                <p:ext uri="{D42A27DB-BD31-4B8C-83A1-F6EECF244321}">
                  <p14:modId xmlns:p14="http://schemas.microsoft.com/office/powerpoint/2010/main" val="151465871"/>
                </p:ext>
              </p:extLst>
            </p:nvPr>
          </p:nvGraphicFramePr>
          <p:xfrm>
            <a:off x="1187624" y="3284984"/>
            <a:ext cx="3313113" cy="3074988"/>
          </p:xfrm>
          <a:graphic>
            <a:graphicData uri="http://schemas.openxmlformats.org/presentationml/2006/ole">
              <mc:AlternateContent xmlns:mc="http://schemas.openxmlformats.org/markup-compatibility/2006">
                <mc:Choice xmlns:v="urn:schemas-microsoft-com:vml" Requires="v">
                  <p:oleObj spid="_x0000_s10251" r:id="rId3" imgW="2520360" imgH="2722680" progId="FXDraw3.Document">
                    <p:embed/>
                  </p:oleObj>
                </mc:Choice>
                <mc:Fallback>
                  <p:oleObj r:id="rId3" imgW="2520360" imgH="2722680" progId="FXDraw3.Document">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3284984"/>
                          <a:ext cx="3313113" cy="307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8" name="Straight Arrow Connector 7"/>
            <p:cNvCxnSpPr/>
            <p:nvPr/>
          </p:nvCxnSpPr>
          <p:spPr>
            <a:xfrm>
              <a:off x="3851920" y="3645024"/>
              <a:ext cx="0" cy="1584176"/>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1691680" y="4005064"/>
              <a:ext cx="2464052" cy="864096"/>
            </a:xfrm>
            <a:prstGeom prst="straightConnector1">
              <a:avLst/>
            </a:prstGeom>
            <a:ln w="3810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sp>
        <p:nvSpPr>
          <p:cNvPr id="17" name="TextBox 16"/>
          <p:cNvSpPr txBox="1"/>
          <p:nvPr/>
        </p:nvSpPr>
        <p:spPr>
          <a:xfrm>
            <a:off x="3686139" y="3212657"/>
            <a:ext cx="1955985" cy="307777"/>
          </a:xfrm>
          <a:prstGeom prst="rect">
            <a:avLst/>
          </a:prstGeom>
          <a:noFill/>
        </p:spPr>
        <p:txBody>
          <a:bodyPr wrap="none" rtlCol="0">
            <a:spAutoFit/>
          </a:bodyPr>
          <a:lstStyle/>
          <a:p>
            <a:r>
              <a:rPr lang="en-AU" sz="1400" dirty="0"/>
              <a:t>New line of regression</a:t>
            </a:r>
          </a:p>
        </p:txBody>
      </p:sp>
      <p:sp>
        <p:nvSpPr>
          <p:cNvPr id="19" name="TextBox 18"/>
          <p:cNvSpPr txBox="1"/>
          <p:nvPr/>
        </p:nvSpPr>
        <p:spPr>
          <a:xfrm>
            <a:off x="5656132" y="3058769"/>
            <a:ext cx="3227729" cy="2246769"/>
          </a:xfrm>
          <a:prstGeom prst="rect">
            <a:avLst/>
          </a:prstGeom>
          <a:noFill/>
        </p:spPr>
        <p:txBody>
          <a:bodyPr wrap="square" rtlCol="0">
            <a:spAutoFit/>
          </a:bodyPr>
          <a:lstStyle/>
          <a:p>
            <a:r>
              <a:rPr lang="en-AU" sz="1400" dirty="0"/>
              <a:t>You can see how the line has changed and how it doesn’t seem to reflect the majority of the data.</a:t>
            </a:r>
          </a:p>
          <a:p>
            <a:r>
              <a:rPr lang="en-AU" sz="1400" dirty="0"/>
              <a:t>The old regression line was</a:t>
            </a:r>
          </a:p>
          <a:p>
            <a:r>
              <a:rPr lang="en-AU" sz="1400" dirty="0">
                <a:latin typeface="Calibri" pitchFamily="34" charset="0"/>
                <a:cs typeface="Calibri" pitchFamily="34" charset="0"/>
              </a:rPr>
              <a:t>y = 0.82x + 2.1</a:t>
            </a:r>
          </a:p>
          <a:p>
            <a:r>
              <a:rPr lang="en-AU" sz="1400" dirty="0">
                <a:latin typeface="Calibri" pitchFamily="34" charset="0"/>
                <a:cs typeface="Calibri" pitchFamily="34" charset="0"/>
              </a:rPr>
              <a:t>The new one is y = 0.42x + 3.7</a:t>
            </a:r>
          </a:p>
          <a:p>
            <a:endParaRPr lang="en-AU" sz="1400" dirty="0">
              <a:latin typeface="Calibri" pitchFamily="34" charset="0"/>
              <a:cs typeface="Calibri" pitchFamily="34" charset="0"/>
            </a:endParaRPr>
          </a:p>
          <a:p>
            <a:r>
              <a:rPr lang="en-AU" sz="1400" dirty="0">
                <a:latin typeface="Calibri" pitchFamily="34" charset="0"/>
                <a:cs typeface="Calibri" pitchFamily="34" charset="0"/>
              </a:rPr>
              <a:t>If we took the scores 9 &amp; 2 out of the mix we would be back to something that seems to fit the majority of the scores.</a:t>
            </a:r>
            <a:endParaRPr lang="en-AU" sz="1400" dirty="0"/>
          </a:p>
        </p:txBody>
      </p:sp>
    </p:spTree>
    <p:extLst>
      <p:ext uri="{BB962C8B-B14F-4D97-AF65-F5344CB8AC3E}">
        <p14:creationId xmlns:p14="http://schemas.microsoft.com/office/powerpoint/2010/main" val="10545904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116632"/>
            <a:ext cx="7200800" cy="984885"/>
          </a:xfrm>
          <a:prstGeom prst="rect">
            <a:avLst/>
          </a:prstGeom>
        </p:spPr>
        <p:txBody>
          <a:bodyPr wrap="square">
            <a:spAutoFit/>
          </a:bodyPr>
          <a:lstStyle/>
          <a:p>
            <a:r>
              <a:rPr lang="en-AU" sz="1600" u="sng" dirty="0"/>
              <a:t>Coefficient of Determination r</a:t>
            </a:r>
            <a:r>
              <a:rPr lang="en-AU" sz="1600" u="sng" baseline="30000" dirty="0"/>
              <a:t>2</a:t>
            </a:r>
            <a:r>
              <a:rPr lang="en-AU" sz="1600" u="sng" dirty="0"/>
              <a:t> or R</a:t>
            </a:r>
            <a:r>
              <a:rPr lang="en-AU" sz="1600" u="sng" baseline="30000" dirty="0"/>
              <a:t>2</a:t>
            </a:r>
          </a:p>
          <a:p>
            <a:r>
              <a:rPr lang="en-AU" sz="1400" i="1" dirty="0"/>
              <a:t>How well does your regression equation truly represent your set of data?</a:t>
            </a:r>
            <a:br>
              <a:rPr lang="en-AU" sz="1400" dirty="0"/>
            </a:br>
            <a:r>
              <a:rPr lang="en-AU" sz="1400" dirty="0"/>
              <a:t>  One of the ways to determine the answer to this question is to examine the </a:t>
            </a:r>
            <a:r>
              <a:rPr lang="en-AU" sz="1400" i="1" dirty="0"/>
              <a:t>correlation coefficient</a:t>
            </a:r>
            <a:r>
              <a:rPr lang="en-AU" sz="1400" dirty="0"/>
              <a:t> and the </a:t>
            </a:r>
            <a:r>
              <a:rPr lang="en-AU" sz="1400" i="1" dirty="0"/>
              <a:t>coefficient of determination</a:t>
            </a:r>
            <a:r>
              <a:rPr lang="en-AU" sz="1400" dirty="0"/>
              <a:t>.</a:t>
            </a:r>
          </a:p>
        </p:txBody>
      </p:sp>
      <p:pic>
        <p:nvPicPr>
          <p:cNvPr id="5" name="Picture 4" descr="https://mathbits.com/MathBits/TISection/Statistics2/correl1.gif"/>
          <p:cNvPicPr/>
          <p:nvPr/>
        </p:nvPicPr>
        <p:blipFill>
          <a:blip r:embed="rId2">
            <a:extLst>
              <a:ext uri="{28A0092B-C50C-407E-A947-70E740481C1C}">
                <a14:useLocalDpi xmlns:a14="http://schemas.microsoft.com/office/drawing/2010/main" val="0"/>
              </a:ext>
            </a:extLst>
          </a:blip>
          <a:srcRect/>
          <a:stretch>
            <a:fillRect/>
          </a:stretch>
        </p:blipFill>
        <p:spPr bwMode="auto">
          <a:xfrm>
            <a:off x="1377895" y="1124744"/>
            <a:ext cx="1895475" cy="1295400"/>
          </a:xfrm>
          <a:prstGeom prst="rect">
            <a:avLst/>
          </a:prstGeom>
          <a:noFill/>
          <a:ln>
            <a:noFill/>
          </a:ln>
        </p:spPr>
      </p:pic>
      <p:sp>
        <p:nvSpPr>
          <p:cNvPr id="3" name="Rectangle 2"/>
          <p:cNvSpPr/>
          <p:nvPr/>
        </p:nvSpPr>
        <p:spPr>
          <a:xfrm>
            <a:off x="3635896" y="1124744"/>
            <a:ext cx="4572000" cy="738664"/>
          </a:xfrm>
          <a:prstGeom prst="rect">
            <a:avLst/>
          </a:prstGeom>
        </p:spPr>
        <p:txBody>
          <a:bodyPr>
            <a:spAutoFit/>
          </a:bodyPr>
          <a:lstStyle/>
          <a:p>
            <a:r>
              <a:rPr lang="en-AU" sz="1400" dirty="0"/>
              <a:t>The correlation coefficient, </a:t>
            </a:r>
            <a:r>
              <a:rPr lang="en-AU" sz="1400" i="1" dirty="0"/>
              <a:t>r</a:t>
            </a:r>
            <a:r>
              <a:rPr lang="en-AU" sz="1400" dirty="0"/>
              <a:t>, and the coefficient of determination,</a:t>
            </a:r>
            <a:r>
              <a:rPr lang="en-AU" sz="1400" i="1" dirty="0"/>
              <a:t> r</a:t>
            </a:r>
            <a:r>
              <a:rPr lang="en-AU" sz="1400" baseline="30000" dirty="0"/>
              <a:t>2</a:t>
            </a:r>
            <a:r>
              <a:rPr lang="en-AU" sz="1400" dirty="0"/>
              <a:t>, will appear on the screen that shows the regression equation information.</a:t>
            </a:r>
          </a:p>
        </p:txBody>
      </p:sp>
      <p:sp>
        <p:nvSpPr>
          <p:cNvPr id="6" name="Rectangle 5"/>
          <p:cNvSpPr/>
          <p:nvPr/>
        </p:nvSpPr>
        <p:spPr>
          <a:xfrm>
            <a:off x="463000" y="2564904"/>
            <a:ext cx="8424936" cy="3754874"/>
          </a:xfrm>
          <a:prstGeom prst="rect">
            <a:avLst/>
          </a:prstGeom>
        </p:spPr>
        <p:txBody>
          <a:bodyPr wrap="square">
            <a:spAutoFit/>
          </a:bodyPr>
          <a:lstStyle/>
          <a:p>
            <a:r>
              <a:rPr lang="en-AU" sz="1400" dirty="0"/>
              <a:t>The </a:t>
            </a:r>
            <a:r>
              <a:rPr lang="en-AU" sz="1400" i="1" dirty="0"/>
              <a:t>coefficient of determination, r </a:t>
            </a:r>
            <a:r>
              <a:rPr lang="en-AU" sz="1400" baseline="30000" dirty="0"/>
              <a:t>2</a:t>
            </a:r>
            <a:r>
              <a:rPr lang="en-AU" sz="1400" dirty="0"/>
              <a:t>,</a:t>
            </a:r>
            <a:r>
              <a:rPr lang="en-AU" sz="1400" i="1" dirty="0"/>
              <a:t> </a:t>
            </a:r>
            <a:r>
              <a:rPr lang="en-AU" sz="1400" dirty="0"/>
              <a:t>is useful because it gives the proportion of the variance (fluctuation) of one variable that is predictable from the other variable.  It is a measure that allows us to determine how certain one can be in making predictions from a certain model/graph.</a:t>
            </a:r>
          </a:p>
          <a:p>
            <a:endParaRPr lang="en-AU" sz="1400" dirty="0"/>
          </a:p>
          <a:p>
            <a:r>
              <a:rPr lang="en-AU" sz="1400" dirty="0"/>
              <a:t>The </a:t>
            </a:r>
            <a:r>
              <a:rPr lang="en-AU" sz="1400" i="1" dirty="0"/>
              <a:t>coefficient of determination</a:t>
            </a:r>
            <a:r>
              <a:rPr lang="en-AU" sz="1400" dirty="0"/>
              <a:t> is the ratio of the explained variation to the total variation.</a:t>
            </a:r>
          </a:p>
          <a:p>
            <a:endParaRPr lang="en-AU" sz="1400" dirty="0"/>
          </a:p>
          <a:p>
            <a:r>
              <a:rPr lang="en-AU" sz="1400" dirty="0"/>
              <a:t>The </a:t>
            </a:r>
            <a:r>
              <a:rPr lang="en-AU" sz="1400" i="1" dirty="0"/>
              <a:t>coefficient of determination</a:t>
            </a:r>
            <a:r>
              <a:rPr lang="en-AU" sz="1400" dirty="0"/>
              <a:t> is such that 0 </a:t>
            </a:r>
            <a:r>
              <a:rPr lang="en-AU" sz="1400" u="sng" dirty="0"/>
              <a:t>&lt;</a:t>
            </a:r>
            <a:r>
              <a:rPr lang="en-AU" sz="1400" dirty="0"/>
              <a:t>  </a:t>
            </a:r>
            <a:r>
              <a:rPr lang="en-AU" sz="1400" i="1" dirty="0"/>
              <a:t>r</a:t>
            </a:r>
            <a:r>
              <a:rPr lang="en-AU" sz="1400" baseline="30000" dirty="0"/>
              <a:t> 2</a:t>
            </a:r>
            <a:r>
              <a:rPr lang="en-AU" sz="1400" dirty="0"/>
              <a:t> </a:t>
            </a:r>
            <a:r>
              <a:rPr lang="en-AU" sz="1400" u="sng" dirty="0"/>
              <a:t>&lt;</a:t>
            </a:r>
            <a:r>
              <a:rPr lang="en-AU" sz="1400" dirty="0"/>
              <a:t> 1,  and denotes the strength of the linear association between </a:t>
            </a:r>
            <a:r>
              <a:rPr lang="en-AU" sz="1400" i="1" dirty="0"/>
              <a:t>x</a:t>
            </a:r>
            <a:r>
              <a:rPr lang="en-AU" sz="1400" dirty="0"/>
              <a:t> and </a:t>
            </a:r>
            <a:r>
              <a:rPr lang="en-AU" sz="1400" i="1" dirty="0"/>
              <a:t>y</a:t>
            </a:r>
            <a:r>
              <a:rPr lang="en-AU" sz="1400" dirty="0"/>
              <a:t>.</a:t>
            </a:r>
          </a:p>
          <a:p>
            <a:endParaRPr lang="en-AU" sz="1400" dirty="0"/>
          </a:p>
          <a:p>
            <a:r>
              <a:rPr lang="en-AU" sz="1400" dirty="0"/>
              <a:t>The </a:t>
            </a:r>
            <a:r>
              <a:rPr lang="en-AU" sz="1400" i="1" dirty="0"/>
              <a:t>coefficient of determination</a:t>
            </a:r>
            <a:r>
              <a:rPr lang="en-AU" sz="1400" dirty="0"/>
              <a:t> </a:t>
            </a:r>
            <a:r>
              <a:rPr lang="en-AU" sz="1400" dirty="0">
                <a:solidFill>
                  <a:srgbClr val="C00000"/>
                </a:solidFill>
              </a:rPr>
              <a:t>represents the </a:t>
            </a:r>
            <a:r>
              <a:rPr lang="en-AU" sz="1400" dirty="0" err="1">
                <a:solidFill>
                  <a:srgbClr val="C00000"/>
                </a:solidFill>
              </a:rPr>
              <a:t>percent</a:t>
            </a:r>
            <a:r>
              <a:rPr lang="en-AU" sz="1400" dirty="0">
                <a:solidFill>
                  <a:srgbClr val="C00000"/>
                </a:solidFill>
              </a:rPr>
              <a:t> of the data that is the closest to the line of best fit.  </a:t>
            </a:r>
            <a:r>
              <a:rPr lang="en-AU" sz="1400" dirty="0">
                <a:solidFill>
                  <a:srgbClr val="0070C0"/>
                </a:solidFill>
              </a:rPr>
              <a:t>For example, if </a:t>
            </a:r>
            <a:r>
              <a:rPr lang="en-AU" sz="1400" i="1" dirty="0">
                <a:solidFill>
                  <a:srgbClr val="0070C0"/>
                </a:solidFill>
              </a:rPr>
              <a:t>r</a:t>
            </a:r>
            <a:r>
              <a:rPr lang="en-AU" sz="1400" dirty="0">
                <a:solidFill>
                  <a:srgbClr val="0070C0"/>
                </a:solidFill>
              </a:rPr>
              <a:t> = 0.922, then </a:t>
            </a:r>
            <a:r>
              <a:rPr lang="en-AU" sz="1400" i="1" dirty="0">
                <a:solidFill>
                  <a:srgbClr val="0070C0"/>
                </a:solidFill>
              </a:rPr>
              <a:t>r </a:t>
            </a:r>
            <a:r>
              <a:rPr lang="en-AU" sz="1400" baseline="30000" dirty="0">
                <a:solidFill>
                  <a:srgbClr val="0070C0"/>
                </a:solidFill>
              </a:rPr>
              <a:t>2</a:t>
            </a:r>
            <a:r>
              <a:rPr lang="en-AU" sz="1400" dirty="0">
                <a:solidFill>
                  <a:srgbClr val="0070C0"/>
                </a:solidFill>
              </a:rPr>
              <a:t> = 0.850, which means that 85% of the total variation in </a:t>
            </a:r>
            <a:r>
              <a:rPr lang="en-AU" sz="1400" i="1" dirty="0">
                <a:solidFill>
                  <a:srgbClr val="0070C0"/>
                </a:solidFill>
              </a:rPr>
              <a:t>y</a:t>
            </a:r>
            <a:r>
              <a:rPr lang="en-AU" sz="1400" dirty="0">
                <a:solidFill>
                  <a:srgbClr val="0070C0"/>
                </a:solidFill>
              </a:rPr>
              <a:t> can be explained by the linear relationship between </a:t>
            </a:r>
            <a:r>
              <a:rPr lang="en-AU" sz="1400" i="1" dirty="0">
                <a:solidFill>
                  <a:srgbClr val="0070C0"/>
                </a:solidFill>
              </a:rPr>
              <a:t>x</a:t>
            </a:r>
            <a:r>
              <a:rPr lang="en-AU" sz="1400" dirty="0">
                <a:solidFill>
                  <a:srgbClr val="0070C0"/>
                </a:solidFill>
              </a:rPr>
              <a:t> and </a:t>
            </a:r>
            <a:r>
              <a:rPr lang="en-AU" sz="1400" i="1" dirty="0">
                <a:solidFill>
                  <a:srgbClr val="0070C0"/>
                </a:solidFill>
              </a:rPr>
              <a:t>y</a:t>
            </a:r>
            <a:r>
              <a:rPr lang="en-AU" sz="1400" dirty="0">
                <a:solidFill>
                  <a:srgbClr val="0070C0"/>
                </a:solidFill>
              </a:rPr>
              <a:t> (as described by the regression equation).  The other 15% of the total variation in </a:t>
            </a:r>
            <a:r>
              <a:rPr lang="en-AU" sz="1400" i="1" dirty="0">
                <a:solidFill>
                  <a:srgbClr val="0070C0"/>
                </a:solidFill>
              </a:rPr>
              <a:t>y</a:t>
            </a:r>
            <a:r>
              <a:rPr lang="en-AU" sz="1400" dirty="0">
                <a:solidFill>
                  <a:srgbClr val="0070C0"/>
                </a:solidFill>
              </a:rPr>
              <a:t> remains unexplained.</a:t>
            </a:r>
          </a:p>
          <a:p>
            <a:endParaRPr lang="en-AU" sz="1400" dirty="0"/>
          </a:p>
          <a:p>
            <a:r>
              <a:rPr lang="en-AU" sz="1400" dirty="0"/>
              <a:t>The </a:t>
            </a:r>
            <a:r>
              <a:rPr lang="en-AU" sz="1400" i="1" dirty="0"/>
              <a:t>coefficient of determination</a:t>
            </a:r>
            <a:r>
              <a:rPr lang="en-AU" sz="1400" dirty="0"/>
              <a:t> is a measure of how well the regression line represents the data.  If the regression line passes exactly through every point on the scatter plot, it would be able to explain all of the variation. The further the line is away from the points, the less it is able to explain. </a:t>
            </a:r>
          </a:p>
        </p:txBody>
      </p:sp>
      <p:sp>
        <p:nvSpPr>
          <p:cNvPr id="7" name="TextBox 6"/>
          <p:cNvSpPr txBox="1"/>
          <p:nvPr/>
        </p:nvSpPr>
        <p:spPr>
          <a:xfrm>
            <a:off x="1412175" y="6351413"/>
            <a:ext cx="6180538" cy="323165"/>
          </a:xfrm>
          <a:prstGeom prst="rect">
            <a:avLst/>
          </a:prstGeom>
          <a:noFill/>
        </p:spPr>
        <p:txBody>
          <a:bodyPr wrap="none" rtlCol="0">
            <a:spAutoFit/>
          </a:bodyPr>
          <a:lstStyle/>
          <a:p>
            <a:r>
              <a:rPr lang="en-AU" sz="1500" dirty="0">
                <a:latin typeface="Calibri" pitchFamily="34" charset="0"/>
                <a:cs typeface="Calibri" pitchFamily="34" charset="0"/>
              </a:rPr>
              <a:t>Have a go at Exercise 2C pages 65 – 68 and Miscellaneous Ex 2 Pages 70 – 72 </a:t>
            </a:r>
          </a:p>
        </p:txBody>
      </p:sp>
    </p:spTree>
    <p:extLst>
      <p:ext uri="{BB962C8B-B14F-4D97-AF65-F5344CB8AC3E}">
        <p14:creationId xmlns:p14="http://schemas.microsoft.com/office/powerpoint/2010/main" val="2966134579"/>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1532</Words>
  <Application>Microsoft Office PowerPoint</Application>
  <PresentationFormat>On-screen Show (4:3)</PresentationFormat>
  <Paragraphs>339</Paragraphs>
  <Slides>14</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0" baseType="lpstr">
      <vt:lpstr>Arial</vt:lpstr>
      <vt:lpstr>Calibri</vt:lpstr>
      <vt:lpstr>Cambria Math</vt:lpstr>
      <vt:lpstr>Times New Roman</vt:lpstr>
      <vt:lpstr>Default Design</vt:lpstr>
      <vt:lpstr>FXDraw3.Document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Rob Mac</dc:creator>
  <cp:lastModifiedBy>KEEN Stephanie [Baldivis Secondary College]</cp:lastModifiedBy>
  <cp:revision>29</cp:revision>
  <cp:lastPrinted>2017-02-20T00:50:22Z</cp:lastPrinted>
  <dcterms:created xsi:type="dcterms:W3CDTF">2011-05-19T06:05:27Z</dcterms:created>
  <dcterms:modified xsi:type="dcterms:W3CDTF">2018-02-13T05:03:20Z</dcterms:modified>
</cp:coreProperties>
</file>
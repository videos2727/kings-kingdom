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38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5" autoAdjust="0"/>
    <p:restoredTop sz="94684"/>
  </p:normalViewPr>
  <p:slideViewPr>
    <p:cSldViewPr snapToGrid="0">
      <p:cViewPr varScale="1">
        <p:scale>
          <a:sx n="90" d="100"/>
          <a:sy n="90" d="100"/>
        </p:scale>
        <p:origin x="2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2/17/20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2/17/20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33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0781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4921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8481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257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955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602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151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9459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7398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0256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2/17/20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Least squares regression line and residuals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1460" y="4464425"/>
            <a:ext cx="9260540" cy="1021976"/>
          </a:xfrm>
        </p:spPr>
        <p:txBody>
          <a:bodyPr>
            <a:normAutofit/>
          </a:bodyPr>
          <a:lstStyle/>
          <a:p>
            <a:r>
              <a:rPr lang="en-US" dirty="0"/>
              <a:t>EQ: What is the relationship between a least squares regression line and residuals?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Least squares regression line and residuals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 least squares regression line and residuals?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3" name="Picture 2" descr="A picture containing bird&#10;&#10;Description automatically generated">
            <a:extLst>
              <a:ext uri="{FF2B5EF4-FFF2-40B4-BE49-F238E27FC236}">
                <a16:creationId xmlns:a16="http://schemas.microsoft.com/office/drawing/2014/main" id="{56A01305-29CA-124E-88FD-97E5DD86D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14" y="1979613"/>
            <a:ext cx="6538661" cy="2828576"/>
          </a:xfrm>
          <a:prstGeom prst="rect">
            <a:avLst/>
          </a:prstGeom>
        </p:spPr>
      </p:pic>
      <p:pic>
        <p:nvPicPr>
          <p:cNvPr id="5" name="Picture 4" descr="A picture containing photo, sitting, different, table&#10;&#10;Description automatically generated">
            <a:extLst>
              <a:ext uri="{FF2B5EF4-FFF2-40B4-BE49-F238E27FC236}">
                <a16:creationId xmlns:a16="http://schemas.microsoft.com/office/drawing/2014/main" id="{0BBBF7F5-2A92-CE4B-A2FB-8D46DC308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56" y="1979612"/>
            <a:ext cx="3393658" cy="2853075"/>
          </a:xfrm>
          <a:prstGeom prst="rect">
            <a:avLst/>
          </a:prstGeom>
        </p:spPr>
      </p:pic>
      <p:pic>
        <p:nvPicPr>
          <p:cNvPr id="19" name="Picture 18" descr="A picture containing bird&#10;&#10;Description automatically generated">
            <a:extLst>
              <a:ext uri="{FF2B5EF4-FFF2-40B4-BE49-F238E27FC236}">
                <a16:creationId xmlns:a16="http://schemas.microsoft.com/office/drawing/2014/main" id="{E747C83A-3D91-1E4E-B8CC-19F673A437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26" y="4832687"/>
            <a:ext cx="10800288" cy="20738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72B91E-DDE9-714A-8F89-A0749BD1BE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060" y="4571540"/>
            <a:ext cx="81407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Least squares regression line and residuals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 least squares regression line and residuals?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13DF2C-327F-B14F-8AED-1869E045B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2610"/>
            <a:ext cx="12192000" cy="1979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574EFB-0A22-254B-BC6E-903B32FA3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4362"/>
            <a:ext cx="12192000" cy="1161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16AA48-9609-A046-9A94-B9D64DA4F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7063"/>
            <a:ext cx="12192000" cy="79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9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Least squares regression line and residuals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 least squares regression line and residuals?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8BC7B880-22C0-B345-97FF-0D7D60C9F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10" y="1504488"/>
            <a:ext cx="7763378" cy="53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1968" y="71405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How to deal with outliers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4" name="Picture 3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056EF0FA-C7BF-374E-A6EC-19F2828F8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" y="1948083"/>
            <a:ext cx="3794125" cy="3087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6AB489-F2D2-7B48-95C3-31CB8174D1B2}"/>
              </a:ext>
            </a:extLst>
          </p:cNvPr>
          <p:cNvSpPr txBox="1"/>
          <p:nvPr/>
        </p:nvSpPr>
        <p:spPr>
          <a:xfrm>
            <a:off x="4100513" y="1791268"/>
            <a:ext cx="780097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Consider the graph on the left. The point (40,10) is out of step with the rest of the points and is considered an outlier.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Outliers can significantly alter the location of the line of best fit, as noted 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B02F1F1E-B5A0-C44A-9D32-BBF682CD66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3" y="3747826"/>
            <a:ext cx="7065595" cy="31101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3E9DE0-730D-1A4A-97C3-F83A63377462}"/>
              </a:ext>
            </a:extLst>
          </p:cNvPr>
          <p:cNvSpPr txBox="1"/>
          <p:nvPr/>
        </p:nvSpPr>
        <p:spPr>
          <a:xfrm>
            <a:off x="440105" y="4358540"/>
            <a:ext cx="11515725" cy="135421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Sadlers</a:t>
            </a:r>
            <a:r>
              <a:rPr lang="en-US" sz="3200" dirty="0"/>
              <a:t> advice is to remove outliers when calculating a line of best fit, but to also note that </a:t>
            </a:r>
            <a:r>
              <a:rPr lang="en-US" sz="3200" b="1" i="1" dirty="0"/>
              <a:t>outliers must be investigated further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1968" y="71405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Residuals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8" name="Picture 7" descr="A picture containing text, table, computer, man&#10;&#10;Description automatically generated">
            <a:extLst>
              <a:ext uri="{FF2B5EF4-FFF2-40B4-BE49-F238E27FC236}">
                <a16:creationId xmlns:a16="http://schemas.microsoft.com/office/drawing/2014/main" id="{BEC697E9-1DA1-0545-96AF-12893F7AF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1350"/>
            <a:ext cx="7047748" cy="4665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4690DC-5561-0449-88CB-F87D7943C9D8}"/>
              </a:ext>
            </a:extLst>
          </p:cNvPr>
          <p:cNvSpPr txBox="1"/>
          <p:nvPr/>
        </p:nvSpPr>
        <p:spPr>
          <a:xfrm>
            <a:off x="7286625" y="2007393"/>
            <a:ext cx="467201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Important</a:t>
            </a:r>
            <a:endParaRPr lang="en-US" sz="2400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Residual = actual </a:t>
            </a:r>
            <a:r>
              <a:rPr lang="en-US" sz="2400" i="1" dirty="0"/>
              <a:t>y </a:t>
            </a:r>
            <a:r>
              <a:rPr lang="en-US" sz="2400" dirty="0"/>
              <a:t>value – predicted </a:t>
            </a:r>
            <a:r>
              <a:rPr lang="en-US" sz="2400" i="1" dirty="0"/>
              <a:t>y</a:t>
            </a:r>
            <a:r>
              <a:rPr lang="en-US" sz="2400" dirty="0"/>
              <a:t>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actual </a:t>
            </a:r>
            <a:r>
              <a:rPr lang="en-US" sz="2400" i="1" dirty="0"/>
              <a:t>y</a:t>
            </a:r>
            <a:r>
              <a:rPr lang="en-US" sz="2400" dirty="0"/>
              <a:t> value can either be stated, be found in the data table or read from a scatter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predicted </a:t>
            </a:r>
            <a:r>
              <a:rPr lang="en-US" sz="2400" i="1" dirty="0"/>
              <a:t>y </a:t>
            </a:r>
            <a:r>
              <a:rPr lang="en-US" sz="2400" dirty="0"/>
              <a:t>value needs to be calculated using the linear regression model for the data</a:t>
            </a:r>
          </a:p>
        </p:txBody>
      </p:sp>
    </p:spTree>
    <p:extLst>
      <p:ext uri="{BB962C8B-B14F-4D97-AF65-F5344CB8AC3E}">
        <p14:creationId xmlns:p14="http://schemas.microsoft.com/office/powerpoint/2010/main" val="254141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1968" y="71405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Residuals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8" name="Picture 7" descr="A picture containing text, table, computer, man&#10;&#10;Description automatically generated">
            <a:extLst>
              <a:ext uri="{FF2B5EF4-FFF2-40B4-BE49-F238E27FC236}">
                <a16:creationId xmlns:a16="http://schemas.microsoft.com/office/drawing/2014/main" id="{BEC697E9-1DA1-0545-96AF-12893F7AF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1350"/>
            <a:ext cx="7047748" cy="4665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4690DC-5561-0449-88CB-F87D7943C9D8}"/>
              </a:ext>
            </a:extLst>
          </p:cNvPr>
          <p:cNvSpPr txBox="1"/>
          <p:nvPr/>
        </p:nvSpPr>
        <p:spPr>
          <a:xfrm>
            <a:off x="7291388" y="1791268"/>
            <a:ext cx="4900612" cy="600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Important points from Diagram 2</a:t>
            </a:r>
            <a:endParaRPr lang="en-US" sz="2400" dirty="0"/>
          </a:p>
          <a:p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Actual data points that lie above the regression line will have a positive residual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Actual data points that lie below the regression line will have a negative residual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Actual data points that lie on the regression line will have a residual value of zero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further the actual value is from the regression line, the larger the residual value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27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0" y="537348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Example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3" name="Picture 2" descr="A picture containing bird, table, knife&#10;&#10;Description automatically generated">
            <a:extLst>
              <a:ext uri="{FF2B5EF4-FFF2-40B4-BE49-F238E27FC236}">
                <a16:creationId xmlns:a16="http://schemas.microsoft.com/office/drawing/2014/main" id="{A5635542-C12D-9F40-B4C6-B612883BB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68" y="553159"/>
            <a:ext cx="9861682" cy="2476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BF7F58-951F-2041-9BFD-F72518A3A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68" y="3081190"/>
            <a:ext cx="9077325" cy="1106991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1382E88-7D2D-2546-948D-43984E8015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68" y="4267485"/>
            <a:ext cx="9299575" cy="247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3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ird, table, knife&#10;&#10;Description automatically generated">
            <a:extLst>
              <a:ext uri="{FF2B5EF4-FFF2-40B4-BE49-F238E27FC236}">
                <a16:creationId xmlns:a16="http://schemas.microsoft.com/office/drawing/2014/main" id="{A5635542-C12D-9F40-B4C6-B612883BB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866897"/>
            <a:ext cx="9861682" cy="2476218"/>
          </a:xfrm>
          <a:prstGeom prst="rect">
            <a:avLst/>
          </a:prstGeom>
        </p:spPr>
      </p:pic>
      <p:pic>
        <p:nvPicPr>
          <p:cNvPr id="4" name="Picture 3" descr="A picture containing knife&#10;&#10;Description automatically generated">
            <a:extLst>
              <a:ext uri="{FF2B5EF4-FFF2-40B4-BE49-F238E27FC236}">
                <a16:creationId xmlns:a16="http://schemas.microsoft.com/office/drawing/2014/main" id="{F3845E73-DAE7-F94F-92F1-8B59E7F2B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3609355"/>
            <a:ext cx="9690101" cy="1260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B5A3FA-F933-ED43-9689-1F6525C3E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5136441"/>
            <a:ext cx="106934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4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ird, table, knife&#10;&#10;Description automatically generated">
            <a:extLst>
              <a:ext uri="{FF2B5EF4-FFF2-40B4-BE49-F238E27FC236}">
                <a16:creationId xmlns:a16="http://schemas.microsoft.com/office/drawing/2014/main" id="{A5635542-C12D-9F40-B4C6-B612883BB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866897"/>
            <a:ext cx="9861682" cy="2476218"/>
          </a:xfrm>
          <a:prstGeom prst="rect">
            <a:avLst/>
          </a:prstGeom>
        </p:spPr>
      </p:pic>
      <p:pic>
        <p:nvPicPr>
          <p:cNvPr id="4" name="Picture 3" descr="A picture containing knife&#10;&#10;Description automatically generated">
            <a:extLst>
              <a:ext uri="{FF2B5EF4-FFF2-40B4-BE49-F238E27FC236}">
                <a16:creationId xmlns:a16="http://schemas.microsoft.com/office/drawing/2014/main" id="{F3845E73-DAE7-F94F-92F1-8B59E7F2B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3609355"/>
            <a:ext cx="9690101" cy="1260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B5A3FA-F933-ED43-9689-1F6525C3E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69" y="5136441"/>
            <a:ext cx="106934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5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1968" y="71405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Reading Residual Plots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406BC071-0F0E-E64A-9EAD-A6594CC16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268"/>
            <a:ext cx="12192000" cy="48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1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1968" y="71405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Those </a:t>
            </a:r>
            <a:r>
              <a:rPr lang="en-US" sz="3600" dirty="0" err="1">
                <a:solidFill>
                  <a:schemeClr val="bg2"/>
                </a:solidFill>
              </a:rPr>
              <a:t>scattergraphs</a:t>
            </a:r>
            <a:r>
              <a:rPr lang="en-US" sz="3600" dirty="0">
                <a:solidFill>
                  <a:schemeClr val="bg2"/>
                </a:solidFill>
              </a:rPr>
              <a:t> give the following residual plots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41B31173-45B3-6A42-A77E-836335F99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5878"/>
            <a:ext cx="12192000" cy="42262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19A13C-2FB1-9246-B01F-D7E3ED2281C9}"/>
              </a:ext>
            </a:extLst>
          </p:cNvPr>
          <p:cNvSpPr txBox="1"/>
          <p:nvPr/>
        </p:nvSpPr>
        <p:spPr>
          <a:xfrm>
            <a:off x="101968" y="5715000"/>
            <a:ext cx="116566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IMPORTANT: A residual plot that appears to be random suggests that a linear model is appropriate for displaying data</a:t>
            </a:r>
          </a:p>
        </p:txBody>
      </p:sp>
    </p:spTree>
    <p:extLst>
      <p:ext uri="{BB962C8B-B14F-4D97-AF65-F5344CB8AC3E}">
        <p14:creationId xmlns:p14="http://schemas.microsoft.com/office/powerpoint/2010/main" val="20995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dirty="0"/>
              <a:t>Residuals Worksheet</a:t>
            </a:r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329</Words>
  <Application>Microsoft Macintosh PowerPoint</Application>
  <PresentationFormat>Widescreen</PresentationFormat>
  <Paragraphs>46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Education 16x9</vt:lpstr>
      <vt:lpstr>Topic: Least squares regression line and residuals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2020-02-17T13:23:19Z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
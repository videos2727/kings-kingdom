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60" r:id="rId2"/>
    <p:sldId id="276" r:id="rId3"/>
    <p:sldId id="277" r:id="rId4"/>
    <p:sldId id="278" r:id="rId5"/>
    <p:sldId id="279" r:id="rId6"/>
    <p:sldId id="261" r:id="rId7"/>
    <p:sldId id="280" r:id="rId8"/>
    <p:sldId id="281" r:id="rId9"/>
    <p:sldId id="282" r:id="rId10"/>
    <p:sldId id="283" r:id="rId11"/>
    <p:sldId id="284" r:id="rId12"/>
    <p:sldId id="285" r:id="rId13"/>
    <p:sldId id="286" r:id="rId14"/>
  </p:sldIdLst>
  <p:sldSz cx="9144000" cy="6858000" type="screen4x3"/>
  <p:notesSz cx="6797675" cy="9926638"/>
  <p:defaultTextStyle>
    <a:defPPr>
      <a:defRPr lang="en-AU"/>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01"/>
    <p:restoredTop sz="94696"/>
  </p:normalViewPr>
  <p:slideViewPr>
    <p:cSldViewPr>
      <p:cViewPr varScale="1">
        <p:scale>
          <a:sx n="105" d="100"/>
          <a:sy n="105" d="100"/>
        </p:scale>
        <p:origin x="1856"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51D691A5-57CD-48EA-98A5-0849135A3CE2}" type="datetimeFigureOut">
              <a:rPr lang="en-AU" smtClean="0"/>
              <a:t>17/2/20</a:t>
            </a:fld>
            <a:endParaRPr lang="en-AU"/>
          </a:p>
        </p:txBody>
      </p:sp>
      <p:sp>
        <p:nvSpPr>
          <p:cNvPr id="4" name="Footer Placehold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32CB5A85-501B-4FD3-8A5A-48D022841738}" type="slidenum">
              <a:rPr lang="en-AU" smtClean="0"/>
              <a:t>‹#›</a:t>
            </a:fld>
            <a:endParaRPr lang="en-AU"/>
          </a:p>
        </p:txBody>
      </p:sp>
    </p:spTree>
    <p:extLst>
      <p:ext uri="{BB962C8B-B14F-4D97-AF65-F5344CB8AC3E}">
        <p14:creationId xmlns:p14="http://schemas.microsoft.com/office/powerpoint/2010/main" val="30390731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FAEC3736-45D8-3D4F-A954-6E360E75FBF8}" type="datetimeFigureOut">
              <a:rPr lang="en-US" smtClean="0"/>
              <a:t>2/17/20</a:t>
            </a:fld>
            <a:endParaRPr lang="en-US"/>
          </a:p>
        </p:txBody>
      </p:sp>
      <p:sp>
        <p:nvSpPr>
          <p:cNvPr id="4" name="Slide Image Placeholder 3"/>
          <p:cNvSpPr>
            <a:spLocks noGrp="1" noRot="1" noChangeAspect="1"/>
          </p:cNvSpPr>
          <p:nvPr>
            <p:ph type="sldImg" idx="2"/>
          </p:nvPr>
        </p:nvSpPr>
        <p:spPr>
          <a:xfrm>
            <a:off x="1165225" y="1241425"/>
            <a:ext cx="44672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40D46D28-B6C6-EF43-AD86-A12BFF66E5C6}" type="slidenum">
              <a:rPr lang="en-US" smtClean="0"/>
              <a:t>‹#›</a:t>
            </a:fld>
            <a:endParaRPr lang="en-US"/>
          </a:p>
        </p:txBody>
      </p:sp>
    </p:spTree>
    <p:extLst>
      <p:ext uri="{BB962C8B-B14F-4D97-AF65-F5344CB8AC3E}">
        <p14:creationId xmlns:p14="http://schemas.microsoft.com/office/powerpoint/2010/main" val="3523132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D46D28-B6C6-EF43-AD86-A12BFF66E5C6}" type="slidenum">
              <a:rPr lang="en-US" smtClean="0"/>
              <a:t>4</a:t>
            </a:fld>
            <a:endParaRPr lang="en-US"/>
          </a:p>
        </p:txBody>
      </p:sp>
    </p:spTree>
    <p:extLst>
      <p:ext uri="{BB962C8B-B14F-4D97-AF65-F5344CB8AC3E}">
        <p14:creationId xmlns:p14="http://schemas.microsoft.com/office/powerpoint/2010/main" val="4211148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BD701D93-1059-4E71-9FC9-367B1764BCFC}" type="slidenum">
              <a:rPr lang="en-AU"/>
              <a:pPr/>
              <a:t>‹#›</a:t>
            </a:fld>
            <a:endParaRPr lang="en-AU"/>
          </a:p>
        </p:txBody>
      </p:sp>
    </p:spTree>
    <p:extLst>
      <p:ext uri="{BB962C8B-B14F-4D97-AF65-F5344CB8AC3E}">
        <p14:creationId xmlns:p14="http://schemas.microsoft.com/office/powerpoint/2010/main" val="3742779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C0889978-41E8-427C-B8AF-62037440BBB3}" type="slidenum">
              <a:rPr lang="en-AU"/>
              <a:pPr/>
              <a:t>‹#›</a:t>
            </a:fld>
            <a:endParaRPr lang="en-AU"/>
          </a:p>
        </p:txBody>
      </p:sp>
    </p:spTree>
    <p:extLst>
      <p:ext uri="{BB962C8B-B14F-4D97-AF65-F5344CB8AC3E}">
        <p14:creationId xmlns:p14="http://schemas.microsoft.com/office/powerpoint/2010/main" val="606388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AB2C4D1A-FA5C-4B52-9316-1EE996753EB6}" type="slidenum">
              <a:rPr lang="en-AU"/>
              <a:pPr/>
              <a:t>‹#›</a:t>
            </a:fld>
            <a:endParaRPr lang="en-AU"/>
          </a:p>
        </p:txBody>
      </p:sp>
    </p:spTree>
    <p:extLst>
      <p:ext uri="{BB962C8B-B14F-4D97-AF65-F5344CB8AC3E}">
        <p14:creationId xmlns:p14="http://schemas.microsoft.com/office/powerpoint/2010/main" val="999550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A18DDE8D-5F2A-434A-AD5B-A3919635E9DD}" type="slidenum">
              <a:rPr lang="en-AU"/>
              <a:pPr/>
              <a:t>‹#›</a:t>
            </a:fld>
            <a:endParaRPr lang="en-AU"/>
          </a:p>
        </p:txBody>
      </p:sp>
    </p:spTree>
    <p:extLst>
      <p:ext uri="{BB962C8B-B14F-4D97-AF65-F5344CB8AC3E}">
        <p14:creationId xmlns:p14="http://schemas.microsoft.com/office/powerpoint/2010/main" val="1430642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lvl1pPr>
              <a:defRPr/>
            </a:lvl1pPr>
          </a:lstStyle>
          <a:p>
            <a:endParaRPr lang="en-AU"/>
          </a:p>
        </p:txBody>
      </p:sp>
      <p:sp>
        <p:nvSpPr>
          <p:cNvPr id="8" name="Footer Placeholder 7"/>
          <p:cNvSpPr>
            <a:spLocks noGrp="1"/>
          </p:cNvSpPr>
          <p:nvPr>
            <p:ph type="ftr" sz="quarter" idx="11"/>
          </p:nvPr>
        </p:nvSpPr>
        <p:spPr/>
        <p:txBody>
          <a:bodyPr/>
          <a:lstStyle>
            <a:lvl1pPr>
              <a:defRPr/>
            </a:lvl1pPr>
          </a:lstStyle>
          <a:p>
            <a:endParaRPr lang="en-AU"/>
          </a:p>
        </p:txBody>
      </p:sp>
      <p:sp>
        <p:nvSpPr>
          <p:cNvPr id="9" name="Slide Number Placeholder 8"/>
          <p:cNvSpPr>
            <a:spLocks noGrp="1"/>
          </p:cNvSpPr>
          <p:nvPr>
            <p:ph type="sldNum" sz="quarter" idx="12"/>
          </p:nvPr>
        </p:nvSpPr>
        <p:spPr/>
        <p:txBody>
          <a:bodyPr/>
          <a:lstStyle>
            <a:lvl1pPr>
              <a:defRPr/>
            </a:lvl1pPr>
          </a:lstStyle>
          <a:p>
            <a:fld id="{32836A92-8797-40C3-859D-51CB877CBE01}" type="slidenum">
              <a:rPr lang="en-AU"/>
              <a:pPr/>
              <a:t>‹#›</a:t>
            </a:fld>
            <a:endParaRPr lang="en-AU"/>
          </a:p>
        </p:txBody>
      </p:sp>
    </p:spTree>
    <p:extLst>
      <p:ext uri="{BB962C8B-B14F-4D97-AF65-F5344CB8AC3E}">
        <p14:creationId xmlns:p14="http://schemas.microsoft.com/office/powerpoint/2010/main" val="1881754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lvl1pPr>
              <a:defRPr/>
            </a:lvl1pPr>
          </a:lstStyle>
          <a:p>
            <a:endParaRPr lang="en-AU"/>
          </a:p>
        </p:txBody>
      </p:sp>
      <p:sp>
        <p:nvSpPr>
          <p:cNvPr id="4" name="Footer Placeholder 3"/>
          <p:cNvSpPr>
            <a:spLocks noGrp="1"/>
          </p:cNvSpPr>
          <p:nvPr>
            <p:ph type="ftr" sz="quarter" idx="11"/>
          </p:nvPr>
        </p:nvSpPr>
        <p:spPr/>
        <p:txBody>
          <a:bodyPr/>
          <a:lstStyle>
            <a:lvl1pPr>
              <a:defRPr/>
            </a:lvl1pPr>
          </a:lstStyle>
          <a:p>
            <a:endParaRPr lang="en-AU"/>
          </a:p>
        </p:txBody>
      </p:sp>
      <p:sp>
        <p:nvSpPr>
          <p:cNvPr id="5" name="Slide Number Placeholder 4"/>
          <p:cNvSpPr>
            <a:spLocks noGrp="1"/>
          </p:cNvSpPr>
          <p:nvPr>
            <p:ph type="sldNum" sz="quarter" idx="12"/>
          </p:nvPr>
        </p:nvSpPr>
        <p:spPr/>
        <p:txBody>
          <a:bodyPr/>
          <a:lstStyle>
            <a:lvl1pPr>
              <a:defRPr/>
            </a:lvl1pPr>
          </a:lstStyle>
          <a:p>
            <a:fld id="{25C989E8-237B-41E4-BB75-A9791FDD0836}" type="slidenum">
              <a:rPr lang="en-AU"/>
              <a:pPr/>
              <a:t>‹#›</a:t>
            </a:fld>
            <a:endParaRPr lang="en-AU"/>
          </a:p>
        </p:txBody>
      </p:sp>
    </p:spTree>
    <p:extLst>
      <p:ext uri="{BB962C8B-B14F-4D97-AF65-F5344CB8AC3E}">
        <p14:creationId xmlns:p14="http://schemas.microsoft.com/office/powerpoint/2010/main" val="669630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AU"/>
          </a:p>
        </p:txBody>
      </p:sp>
      <p:sp>
        <p:nvSpPr>
          <p:cNvPr id="3" name="Footer Placeholder 2"/>
          <p:cNvSpPr>
            <a:spLocks noGrp="1"/>
          </p:cNvSpPr>
          <p:nvPr>
            <p:ph type="ftr" sz="quarter" idx="11"/>
          </p:nvPr>
        </p:nvSpPr>
        <p:spPr/>
        <p:txBody>
          <a:bodyPr/>
          <a:lstStyle>
            <a:lvl1pPr>
              <a:defRPr/>
            </a:lvl1pPr>
          </a:lstStyle>
          <a:p>
            <a:endParaRPr lang="en-AU"/>
          </a:p>
        </p:txBody>
      </p:sp>
      <p:sp>
        <p:nvSpPr>
          <p:cNvPr id="4" name="Slide Number Placeholder 3"/>
          <p:cNvSpPr>
            <a:spLocks noGrp="1"/>
          </p:cNvSpPr>
          <p:nvPr>
            <p:ph type="sldNum" sz="quarter" idx="12"/>
          </p:nvPr>
        </p:nvSpPr>
        <p:spPr/>
        <p:txBody>
          <a:bodyPr/>
          <a:lstStyle>
            <a:lvl1pPr>
              <a:defRPr/>
            </a:lvl1pPr>
          </a:lstStyle>
          <a:p>
            <a:fld id="{1E3433AE-EB35-4CB5-98A2-DB305AB7798B}" type="slidenum">
              <a:rPr lang="en-AU"/>
              <a:pPr/>
              <a:t>‹#›</a:t>
            </a:fld>
            <a:endParaRPr lang="en-AU"/>
          </a:p>
        </p:txBody>
      </p:sp>
    </p:spTree>
    <p:extLst>
      <p:ext uri="{BB962C8B-B14F-4D97-AF65-F5344CB8AC3E}">
        <p14:creationId xmlns:p14="http://schemas.microsoft.com/office/powerpoint/2010/main" val="2071904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E2989445-C180-45D7-B51A-E2687CECC283}" type="slidenum">
              <a:rPr lang="en-AU"/>
              <a:pPr/>
              <a:t>‹#›</a:t>
            </a:fld>
            <a:endParaRPr lang="en-AU"/>
          </a:p>
        </p:txBody>
      </p:sp>
    </p:spTree>
    <p:extLst>
      <p:ext uri="{BB962C8B-B14F-4D97-AF65-F5344CB8AC3E}">
        <p14:creationId xmlns:p14="http://schemas.microsoft.com/office/powerpoint/2010/main" val="745808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C80B0838-9BE9-49A4-86F1-0B1395668362}" type="slidenum">
              <a:rPr lang="en-AU"/>
              <a:pPr/>
              <a:t>‹#›</a:t>
            </a:fld>
            <a:endParaRPr lang="en-AU"/>
          </a:p>
        </p:txBody>
      </p:sp>
    </p:spTree>
    <p:extLst>
      <p:ext uri="{BB962C8B-B14F-4D97-AF65-F5344CB8AC3E}">
        <p14:creationId xmlns:p14="http://schemas.microsoft.com/office/powerpoint/2010/main" val="2335079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EB1579AF-5D91-41DF-8D26-FDB4C36715E5}" type="slidenum">
              <a:rPr lang="en-AU"/>
              <a:pPr/>
              <a:t>‹#›</a:t>
            </a:fld>
            <a:endParaRPr lang="en-AU"/>
          </a:p>
        </p:txBody>
      </p:sp>
    </p:spTree>
    <p:extLst>
      <p:ext uri="{BB962C8B-B14F-4D97-AF65-F5344CB8AC3E}">
        <p14:creationId xmlns:p14="http://schemas.microsoft.com/office/powerpoint/2010/main" val="872852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32790806-192B-47B5-8821-24E8B0C1C320}" type="slidenum">
              <a:rPr lang="en-AU"/>
              <a:pPr/>
              <a:t>‹#›</a:t>
            </a:fld>
            <a:endParaRPr lang="en-AU"/>
          </a:p>
        </p:txBody>
      </p:sp>
    </p:spTree>
    <p:extLst>
      <p:ext uri="{BB962C8B-B14F-4D97-AF65-F5344CB8AC3E}">
        <p14:creationId xmlns:p14="http://schemas.microsoft.com/office/powerpoint/2010/main" val="3706219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AU"/>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AU"/>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AU"/>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A40D9502-0500-4EC4-A1C1-143596A66F8B}" type="slidenum">
              <a:rPr lang="en-AU"/>
              <a:pPr/>
              <a:t>‹#›</a:t>
            </a:fld>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0.png"/><Relationship Id="rId4" Type="http://schemas.openxmlformats.org/officeDocument/2006/relationships/image" Target="../media/image11.wmf"/></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3.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4"/>
          <p:cNvSpPr>
            <a:spLocks noChangeArrowheads="1"/>
          </p:cNvSpPr>
          <p:nvPr/>
        </p:nvSpPr>
        <p:spPr bwMode="auto">
          <a:xfrm>
            <a:off x="190019" y="8911"/>
            <a:ext cx="8964613"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AU" sz="2400" b="1" dirty="0">
                <a:latin typeface="Calibri" pitchFamily="34" charset="0"/>
                <a:ea typeface="Times New Roman" pitchFamily="18" charset="0"/>
                <a:cs typeface="Calibri" pitchFamily="34" charset="0"/>
              </a:rPr>
              <a:t>Topic: Bivariate Data – Further Analysis</a:t>
            </a:r>
          </a:p>
          <a:p>
            <a:r>
              <a:rPr lang="en-AU" sz="2400" b="1" dirty="0">
                <a:latin typeface="Calibri" pitchFamily="34" charset="0"/>
                <a:ea typeface="Times New Roman" pitchFamily="18" charset="0"/>
                <a:cs typeface="Calibri" pitchFamily="34" charset="0"/>
              </a:rPr>
              <a:t>EQ: What are some more advanced tools we can use to accurately describe the relationship between two variables?</a:t>
            </a:r>
          </a:p>
          <a:p>
            <a:endParaRPr lang="en-AU" sz="1600" dirty="0">
              <a:latin typeface="Calibri" pitchFamily="34" charset="0"/>
              <a:ea typeface="Times New Roman" pitchFamily="18" charset="0"/>
              <a:cs typeface="Calibri" pitchFamily="34" charset="0"/>
            </a:endParaRPr>
          </a:p>
          <a:p>
            <a:pPr eaLnBrk="0" hangingPunct="0"/>
            <a:r>
              <a:rPr lang="en-AU" sz="2200" dirty="0">
                <a:latin typeface="Calibri" pitchFamily="34" charset="0"/>
                <a:ea typeface="Times New Roman" pitchFamily="18" charset="0"/>
                <a:cs typeface="Calibri" pitchFamily="34" charset="0"/>
              </a:rPr>
              <a:t>In the previous chapter we investigated whether </a:t>
            </a:r>
            <a:r>
              <a:rPr lang="en-AU" sz="2200" i="1" dirty="0">
                <a:latin typeface="Calibri" pitchFamily="34" charset="0"/>
                <a:ea typeface="Times New Roman" pitchFamily="18" charset="0"/>
                <a:cs typeface="Calibri" pitchFamily="34" charset="0"/>
              </a:rPr>
              <a:t>associations</a:t>
            </a:r>
            <a:r>
              <a:rPr lang="en-AU" sz="2200" dirty="0">
                <a:latin typeface="Calibri" pitchFamily="34" charset="0"/>
                <a:ea typeface="Times New Roman" pitchFamily="18" charset="0"/>
                <a:cs typeface="Calibri" pitchFamily="34" charset="0"/>
              </a:rPr>
              <a:t> or </a:t>
            </a:r>
            <a:r>
              <a:rPr lang="en-AU" sz="2200" i="1" dirty="0">
                <a:latin typeface="Calibri" pitchFamily="34" charset="0"/>
                <a:ea typeface="Times New Roman" pitchFamily="18" charset="0"/>
                <a:cs typeface="Calibri" pitchFamily="34" charset="0"/>
              </a:rPr>
              <a:t>correlations</a:t>
            </a:r>
            <a:r>
              <a:rPr lang="en-AU" sz="2200" dirty="0">
                <a:latin typeface="Calibri" pitchFamily="34" charset="0"/>
                <a:ea typeface="Times New Roman" pitchFamily="18" charset="0"/>
                <a:cs typeface="Calibri" pitchFamily="34" charset="0"/>
              </a:rPr>
              <a:t> existed between two numerical variables. A scatter plot was used to suggest whether a linear, or some other, model would be useful. In this respect, we considered what </a:t>
            </a:r>
            <a:r>
              <a:rPr lang="en-AU" sz="2200" b="1" dirty="0">
                <a:latin typeface="Calibri" pitchFamily="34" charset="0"/>
                <a:ea typeface="Times New Roman" pitchFamily="18" charset="0"/>
                <a:cs typeface="Calibri" pitchFamily="34" charset="0"/>
              </a:rPr>
              <a:t>form</a:t>
            </a:r>
            <a:r>
              <a:rPr lang="en-AU" sz="2200" dirty="0">
                <a:latin typeface="Calibri" pitchFamily="34" charset="0"/>
                <a:ea typeface="Times New Roman" pitchFamily="18" charset="0"/>
                <a:cs typeface="Calibri" pitchFamily="34" charset="0"/>
              </a:rPr>
              <a:t> (linear/non-linear) any association might take. We now need to be more </a:t>
            </a:r>
            <a:r>
              <a:rPr lang="en-AU" sz="2200" i="1" dirty="0">
                <a:latin typeface="Calibri" pitchFamily="34" charset="0"/>
                <a:ea typeface="Times New Roman" pitchFamily="18" charset="0"/>
                <a:cs typeface="Calibri" pitchFamily="34" charset="0"/>
              </a:rPr>
              <a:t>descriptive</a:t>
            </a:r>
            <a:r>
              <a:rPr lang="en-AU" sz="2200" dirty="0">
                <a:latin typeface="Calibri" pitchFamily="34" charset="0"/>
                <a:ea typeface="Times New Roman" pitchFamily="18" charset="0"/>
                <a:cs typeface="Calibri" pitchFamily="34" charset="0"/>
              </a:rPr>
              <a:t> and </a:t>
            </a:r>
            <a:r>
              <a:rPr lang="en-AU" sz="2200" i="1" dirty="0">
                <a:latin typeface="Calibri" pitchFamily="34" charset="0"/>
                <a:ea typeface="Times New Roman" pitchFamily="18" charset="0"/>
                <a:cs typeface="Calibri" pitchFamily="34" charset="0"/>
              </a:rPr>
              <a:t>quantitative</a:t>
            </a:r>
            <a:r>
              <a:rPr lang="en-AU" sz="2200" dirty="0">
                <a:latin typeface="Calibri" pitchFamily="34" charset="0"/>
                <a:ea typeface="Times New Roman" pitchFamily="18" charset="0"/>
                <a:cs typeface="Calibri" pitchFamily="34" charset="0"/>
              </a:rPr>
              <a:t> about situations for which a linear model seems appropriate. Let’s look at the following:</a:t>
            </a:r>
            <a:endParaRPr lang="en-AU" sz="2200" dirty="0">
              <a:latin typeface="Calibri" pitchFamily="34" charset="0"/>
              <a:cs typeface="Calibri" pitchFamily="34" charset="0"/>
            </a:endParaRPr>
          </a:p>
          <a:p>
            <a:pPr eaLnBrk="0" hangingPunct="0"/>
            <a:r>
              <a:rPr lang="en-AU" sz="2200" dirty="0">
                <a:latin typeface="Calibri" pitchFamily="34" charset="0"/>
                <a:cs typeface="Calibri" pitchFamily="34" charset="0"/>
              </a:rPr>
              <a:t>				</a:t>
            </a:r>
          </a:p>
        </p:txBody>
      </p:sp>
      <p:pic>
        <p:nvPicPr>
          <p:cNvPr id="4" name="Picture 3">
            <a:extLst>
              <a:ext uri="{FF2B5EF4-FFF2-40B4-BE49-F238E27FC236}">
                <a16:creationId xmlns:a16="http://schemas.microsoft.com/office/drawing/2014/main" id="{E2D3FD37-0FED-8647-A609-D2739ED005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828" y="3485446"/>
            <a:ext cx="7668344" cy="679788"/>
          </a:xfrm>
          <a:prstGeom prst="rect">
            <a:avLst/>
          </a:prstGeom>
        </p:spPr>
      </p:pic>
      <p:pic>
        <p:nvPicPr>
          <p:cNvPr id="6" name="Picture 5" descr="A close up of a map&#10;&#10;Description automatically generated">
            <a:extLst>
              <a:ext uri="{FF2B5EF4-FFF2-40B4-BE49-F238E27FC236}">
                <a16:creationId xmlns:a16="http://schemas.microsoft.com/office/drawing/2014/main" id="{0D54C011-F7CD-A440-B7A0-4E720A942F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568" y="4292908"/>
            <a:ext cx="7596336" cy="255618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D3FD37-0FED-8647-A609-D2739ED005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12" y="188640"/>
            <a:ext cx="7668344" cy="679788"/>
          </a:xfrm>
          <a:prstGeom prst="rect">
            <a:avLst/>
          </a:prstGeom>
        </p:spPr>
      </p:pic>
      <p:pic>
        <p:nvPicPr>
          <p:cNvPr id="6" name="Picture 5" descr="A close up of a map&#10;&#10;Description automatically generated">
            <a:extLst>
              <a:ext uri="{FF2B5EF4-FFF2-40B4-BE49-F238E27FC236}">
                <a16:creationId xmlns:a16="http://schemas.microsoft.com/office/drawing/2014/main" id="{0D54C011-F7CD-A440-B7A0-4E720A942F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493" y="1124744"/>
            <a:ext cx="7596336" cy="2556181"/>
          </a:xfrm>
          <a:prstGeom prst="rect">
            <a:avLst/>
          </a:prstGeom>
        </p:spPr>
      </p:pic>
      <p:sp>
        <p:nvSpPr>
          <p:cNvPr id="5" name="Rectangle 4">
            <a:extLst>
              <a:ext uri="{FF2B5EF4-FFF2-40B4-BE49-F238E27FC236}">
                <a16:creationId xmlns:a16="http://schemas.microsoft.com/office/drawing/2014/main" id="{C3A08E0E-1E85-5144-A57C-6663DAB2CC71}"/>
              </a:ext>
            </a:extLst>
          </p:cNvPr>
          <p:cNvSpPr>
            <a:spLocks noChangeArrowheads="1"/>
          </p:cNvSpPr>
          <p:nvPr/>
        </p:nvSpPr>
        <p:spPr bwMode="auto">
          <a:xfrm>
            <a:off x="214118" y="4077072"/>
            <a:ext cx="8964613"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342900" indent="-342900" eaLnBrk="0" hangingPunct="0">
              <a:buFont typeface="Arial" panose="020B0604020202020204" pitchFamily="34" charset="0"/>
              <a:buChar char="•"/>
            </a:pPr>
            <a:r>
              <a:rPr lang="en-AU" sz="2400" dirty="0">
                <a:latin typeface="Calibri" pitchFamily="34" charset="0"/>
                <a:ea typeface="Times New Roman" pitchFamily="18" charset="0"/>
                <a:cs typeface="Calibri" pitchFamily="34" charset="0"/>
              </a:rPr>
              <a:t>We can say that the </a:t>
            </a:r>
            <a:r>
              <a:rPr lang="en-AU" sz="2400" dirty="0" err="1">
                <a:latin typeface="Calibri" pitchFamily="34" charset="0"/>
                <a:ea typeface="Times New Roman" pitchFamily="18" charset="0"/>
                <a:cs typeface="Calibri" pitchFamily="34" charset="0"/>
              </a:rPr>
              <a:t>scattergraph</a:t>
            </a:r>
            <a:r>
              <a:rPr lang="en-AU" sz="2400" dirty="0">
                <a:latin typeface="Calibri" pitchFamily="34" charset="0"/>
                <a:ea typeface="Times New Roman" pitchFamily="18" charset="0"/>
                <a:cs typeface="Calibri" pitchFamily="34" charset="0"/>
              </a:rPr>
              <a:t> suggests a </a:t>
            </a:r>
            <a:r>
              <a:rPr lang="en-AU" sz="2400" b="1" dirty="0">
                <a:latin typeface="Calibri" pitchFamily="34" charset="0"/>
                <a:ea typeface="Times New Roman" pitchFamily="18" charset="0"/>
                <a:cs typeface="Calibri" pitchFamily="34" charset="0"/>
              </a:rPr>
              <a:t>positive correlation</a:t>
            </a:r>
          </a:p>
          <a:p>
            <a:pPr marL="342900" indent="-342900" eaLnBrk="0" hangingPunct="0">
              <a:buFont typeface="Arial" panose="020B0604020202020204" pitchFamily="34" charset="0"/>
              <a:buChar char="•"/>
            </a:pPr>
            <a:endParaRPr lang="en-AU" sz="2400" b="1" dirty="0">
              <a:latin typeface="Calibri" pitchFamily="34" charset="0"/>
              <a:ea typeface="Times New Roman" pitchFamily="18" charset="0"/>
              <a:cs typeface="Calibri" pitchFamily="34" charset="0"/>
            </a:endParaRPr>
          </a:p>
          <a:p>
            <a:pPr marL="342900" indent="-342900" eaLnBrk="0" hangingPunct="0">
              <a:buFont typeface="Arial" panose="020B0604020202020204" pitchFamily="34" charset="0"/>
              <a:buChar char="•"/>
            </a:pPr>
            <a:r>
              <a:rPr lang="en-AU" sz="2400" dirty="0">
                <a:latin typeface="Calibri" pitchFamily="34" charset="0"/>
                <a:cs typeface="Calibri" pitchFamily="34" charset="0"/>
              </a:rPr>
              <a:t>As well as talking about the form of the relationship between the two variables, we can talk about the </a:t>
            </a:r>
            <a:r>
              <a:rPr lang="en-AU" sz="2400" b="1" dirty="0">
                <a:latin typeface="Calibri" pitchFamily="34" charset="0"/>
                <a:cs typeface="Calibri" pitchFamily="34" charset="0"/>
              </a:rPr>
              <a:t>direction</a:t>
            </a:r>
            <a:r>
              <a:rPr lang="en-AU" sz="2400" dirty="0">
                <a:latin typeface="Calibri" pitchFamily="34" charset="0"/>
                <a:cs typeface="Calibri" pitchFamily="34" charset="0"/>
              </a:rPr>
              <a:t> (positive or negative) of the relationship and and </a:t>
            </a:r>
            <a:r>
              <a:rPr lang="en-AU" sz="2400" b="1" dirty="0">
                <a:latin typeface="Calibri" pitchFamily="34" charset="0"/>
                <a:cs typeface="Calibri" pitchFamily="34" charset="0"/>
              </a:rPr>
              <a:t>strength</a:t>
            </a:r>
            <a:r>
              <a:rPr lang="en-AU" sz="2400" dirty="0">
                <a:latin typeface="Calibri" pitchFamily="34" charset="0"/>
                <a:cs typeface="Calibri" pitchFamily="34" charset="0"/>
              </a:rPr>
              <a:t> (strong, moderate, weak)</a:t>
            </a:r>
          </a:p>
          <a:p>
            <a:pPr eaLnBrk="0" hangingPunct="0"/>
            <a:r>
              <a:rPr lang="en-AU" sz="1600" dirty="0">
                <a:latin typeface="Calibri" pitchFamily="34" charset="0"/>
                <a:cs typeface="Calibri" pitchFamily="34" charset="0"/>
              </a:rPr>
              <a:t>				</a:t>
            </a:r>
          </a:p>
        </p:txBody>
      </p:sp>
    </p:spTree>
    <p:extLst>
      <p:ext uri="{BB962C8B-B14F-4D97-AF65-F5344CB8AC3E}">
        <p14:creationId xmlns:p14="http://schemas.microsoft.com/office/powerpoint/2010/main" val="3724184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dissolve">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map&#10;&#10;Description automatically generated">
            <a:extLst>
              <a:ext uri="{FF2B5EF4-FFF2-40B4-BE49-F238E27FC236}">
                <a16:creationId xmlns:a16="http://schemas.microsoft.com/office/drawing/2014/main" id="{A379B052-E949-3446-848C-38C53554A3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8164" y="548680"/>
            <a:ext cx="8267671" cy="5315994"/>
          </a:xfrm>
          <a:prstGeom prst="rect">
            <a:avLst/>
          </a:prstGeom>
        </p:spPr>
      </p:pic>
    </p:spTree>
    <p:extLst>
      <p:ext uri="{BB962C8B-B14F-4D97-AF65-F5344CB8AC3E}">
        <p14:creationId xmlns:p14="http://schemas.microsoft.com/office/powerpoint/2010/main" val="1987981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D3FD37-0FED-8647-A609-D2739ED005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552" y="869151"/>
            <a:ext cx="7668344" cy="679788"/>
          </a:xfrm>
          <a:prstGeom prst="rect">
            <a:avLst/>
          </a:prstGeom>
        </p:spPr>
      </p:pic>
      <p:sp>
        <p:nvSpPr>
          <p:cNvPr id="2" name="TextBox 1">
            <a:extLst>
              <a:ext uri="{FF2B5EF4-FFF2-40B4-BE49-F238E27FC236}">
                <a16:creationId xmlns:a16="http://schemas.microsoft.com/office/drawing/2014/main" id="{5173299D-A9E1-884D-A087-D41B74AE161D}"/>
              </a:ext>
            </a:extLst>
          </p:cNvPr>
          <p:cNvSpPr txBox="1"/>
          <p:nvPr/>
        </p:nvSpPr>
        <p:spPr>
          <a:xfrm>
            <a:off x="214255" y="116913"/>
            <a:ext cx="8941367" cy="646331"/>
          </a:xfrm>
          <a:prstGeom prst="rect">
            <a:avLst/>
          </a:prstGeom>
          <a:noFill/>
        </p:spPr>
        <p:txBody>
          <a:bodyPr wrap="square" rtlCol="0">
            <a:spAutoFit/>
          </a:bodyPr>
          <a:lstStyle/>
          <a:p>
            <a:r>
              <a:rPr lang="en-US" dirty="0"/>
              <a:t>If we want to do better than eye-balling the line of best fit, we can use our </a:t>
            </a:r>
            <a:r>
              <a:rPr lang="en-US" dirty="0" err="1"/>
              <a:t>ClassPad</a:t>
            </a:r>
            <a:r>
              <a:rPr lang="en-US" dirty="0"/>
              <a:t>. Let’s look at a previous example: </a:t>
            </a:r>
          </a:p>
        </p:txBody>
      </p:sp>
      <p:sp>
        <p:nvSpPr>
          <p:cNvPr id="7" name="TextBox 6">
            <a:extLst>
              <a:ext uri="{FF2B5EF4-FFF2-40B4-BE49-F238E27FC236}">
                <a16:creationId xmlns:a16="http://schemas.microsoft.com/office/drawing/2014/main" id="{D31F3961-C2E6-B245-A763-8B9BF67CBF69}"/>
              </a:ext>
            </a:extLst>
          </p:cNvPr>
          <p:cNvSpPr txBox="1"/>
          <p:nvPr/>
        </p:nvSpPr>
        <p:spPr>
          <a:xfrm>
            <a:off x="225879" y="1654846"/>
            <a:ext cx="8941367" cy="369332"/>
          </a:xfrm>
          <a:prstGeom prst="rect">
            <a:avLst/>
          </a:prstGeom>
          <a:noFill/>
        </p:spPr>
        <p:txBody>
          <a:bodyPr wrap="square" rtlCol="0">
            <a:spAutoFit/>
          </a:bodyPr>
          <a:lstStyle/>
          <a:p>
            <a:r>
              <a:rPr lang="en-US" dirty="0"/>
              <a:t>When we enter these values into our </a:t>
            </a:r>
            <a:r>
              <a:rPr lang="en-US" dirty="0" err="1"/>
              <a:t>ClassPad</a:t>
            </a:r>
            <a:r>
              <a:rPr lang="en-US" dirty="0"/>
              <a:t>, we typically get this screen:</a:t>
            </a:r>
          </a:p>
        </p:txBody>
      </p:sp>
      <p:pic>
        <p:nvPicPr>
          <p:cNvPr id="8" name="Picture 7" descr="A screenshot of a cell phone&#10;&#10;Description automatically generated">
            <a:extLst>
              <a:ext uri="{FF2B5EF4-FFF2-40B4-BE49-F238E27FC236}">
                <a16:creationId xmlns:a16="http://schemas.microsoft.com/office/drawing/2014/main" id="{82D8D24E-C72F-9F4E-B274-4558836315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528" y="2071288"/>
            <a:ext cx="3035424" cy="2091981"/>
          </a:xfrm>
          <a:prstGeom prst="rect">
            <a:avLst/>
          </a:prstGeom>
        </p:spPr>
      </p:pic>
      <p:pic>
        <p:nvPicPr>
          <p:cNvPr id="12" name="Picture 11" descr="A screenshot of a cell phone&#10;&#10;Description automatically generated">
            <a:extLst>
              <a:ext uri="{FF2B5EF4-FFF2-40B4-BE49-F238E27FC236}">
                <a16:creationId xmlns:a16="http://schemas.microsoft.com/office/drawing/2014/main" id="{25CDA9F7-2223-E84E-A2E3-8165560739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3528" y="4467505"/>
            <a:ext cx="2819400" cy="1993900"/>
          </a:xfrm>
          <a:prstGeom prst="rect">
            <a:avLst/>
          </a:prstGeom>
        </p:spPr>
      </p:pic>
      <p:pic>
        <p:nvPicPr>
          <p:cNvPr id="14" name="Picture 13" descr="A picture containing photo, sitting, small, different&#10;&#10;Description automatically generated">
            <a:extLst>
              <a:ext uri="{FF2B5EF4-FFF2-40B4-BE49-F238E27FC236}">
                <a16:creationId xmlns:a16="http://schemas.microsoft.com/office/drawing/2014/main" id="{AFD8F1FF-24D6-A544-B5CE-CE52CA9889F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51920" y="4369423"/>
            <a:ext cx="2962517" cy="2091982"/>
          </a:xfrm>
          <a:prstGeom prst="rect">
            <a:avLst/>
          </a:prstGeom>
        </p:spPr>
      </p:pic>
      <p:sp>
        <p:nvSpPr>
          <p:cNvPr id="15" name="TextBox 14">
            <a:extLst>
              <a:ext uri="{FF2B5EF4-FFF2-40B4-BE49-F238E27FC236}">
                <a16:creationId xmlns:a16="http://schemas.microsoft.com/office/drawing/2014/main" id="{34F8FD23-F5A6-DB42-A23F-CE26585A8286}"/>
              </a:ext>
            </a:extLst>
          </p:cNvPr>
          <p:cNvSpPr txBox="1"/>
          <p:nvPr/>
        </p:nvSpPr>
        <p:spPr>
          <a:xfrm>
            <a:off x="3803447" y="2130085"/>
            <a:ext cx="5184576" cy="1754326"/>
          </a:xfrm>
          <a:prstGeom prst="rect">
            <a:avLst/>
          </a:prstGeom>
          <a:noFill/>
        </p:spPr>
        <p:txBody>
          <a:bodyPr wrap="square" rtlCol="0">
            <a:spAutoFit/>
          </a:bodyPr>
          <a:lstStyle/>
          <a:p>
            <a:r>
              <a:rPr lang="en-US" dirty="0"/>
              <a:t>The calculator can then use linear regression to:</a:t>
            </a:r>
          </a:p>
          <a:p>
            <a:pPr marL="285750" indent="-285750">
              <a:buFont typeface="Arial" panose="020B0604020202020204" pitchFamily="34" charset="0"/>
              <a:buChar char="•"/>
            </a:pPr>
            <a:r>
              <a:rPr lang="en-US" dirty="0"/>
              <a:t>Output the equation of the line of best fit in the form </a:t>
            </a:r>
            <a:r>
              <a:rPr lang="en-US" i="1" dirty="0"/>
              <a:t>y = mx + c </a:t>
            </a:r>
            <a:r>
              <a:rPr lang="en-US" dirty="0"/>
              <a:t>where y is the </a:t>
            </a:r>
            <a:r>
              <a:rPr lang="en-US" dirty="0" err="1"/>
              <a:t>maths</a:t>
            </a:r>
            <a:r>
              <a:rPr lang="en-US" dirty="0"/>
              <a:t> score and x is the physics score (see below left)</a:t>
            </a:r>
          </a:p>
          <a:p>
            <a:pPr marL="285750" indent="-285750">
              <a:buFont typeface="Arial" panose="020B0604020202020204" pitchFamily="34" charset="0"/>
              <a:buChar char="•"/>
            </a:pPr>
            <a:r>
              <a:rPr lang="en-US" dirty="0"/>
              <a:t>Display the points and the line of best fit (see below right)</a:t>
            </a:r>
          </a:p>
        </p:txBody>
      </p:sp>
      <p:pic>
        <p:nvPicPr>
          <p:cNvPr id="17" name="Picture 16" descr="A close up of a logo&#10;&#10;Description automatically generated">
            <a:extLst>
              <a:ext uri="{FF2B5EF4-FFF2-40B4-BE49-F238E27FC236}">
                <a16:creationId xmlns:a16="http://schemas.microsoft.com/office/drawing/2014/main" id="{710255CB-9E43-2F47-967D-4D5BADD44AB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08770" y="6248848"/>
            <a:ext cx="1248916" cy="516793"/>
          </a:xfrm>
          <a:prstGeom prst="rect">
            <a:avLst/>
          </a:prstGeom>
        </p:spPr>
      </p:pic>
      <p:sp>
        <p:nvSpPr>
          <p:cNvPr id="18" name="TextBox 17">
            <a:extLst>
              <a:ext uri="{FF2B5EF4-FFF2-40B4-BE49-F238E27FC236}">
                <a16:creationId xmlns:a16="http://schemas.microsoft.com/office/drawing/2014/main" id="{77714023-AAC4-7C43-9E7C-015B525E972B}"/>
              </a:ext>
            </a:extLst>
          </p:cNvPr>
          <p:cNvSpPr txBox="1"/>
          <p:nvPr/>
        </p:nvSpPr>
        <p:spPr>
          <a:xfrm>
            <a:off x="7087358" y="4526607"/>
            <a:ext cx="1895743" cy="1754326"/>
          </a:xfrm>
          <a:prstGeom prst="rect">
            <a:avLst/>
          </a:prstGeom>
          <a:noFill/>
        </p:spPr>
        <p:txBody>
          <a:bodyPr wrap="square" rtlCol="0">
            <a:spAutoFit/>
          </a:bodyPr>
          <a:lstStyle/>
          <a:p>
            <a:pPr algn="ctr"/>
            <a:r>
              <a:rPr lang="en-US" dirty="0"/>
              <a:t>Use this line of best fit to predict a </a:t>
            </a:r>
            <a:r>
              <a:rPr lang="en-US" dirty="0" err="1"/>
              <a:t>maths</a:t>
            </a:r>
            <a:r>
              <a:rPr lang="en-US" dirty="0"/>
              <a:t> score based on a physics score of 13</a:t>
            </a:r>
          </a:p>
        </p:txBody>
      </p:sp>
    </p:spTree>
    <p:extLst>
      <p:ext uri="{BB962C8B-B14F-4D97-AF65-F5344CB8AC3E}">
        <p14:creationId xmlns:p14="http://schemas.microsoft.com/office/powerpoint/2010/main" val="2787702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linds(horizontal)">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5">
                                            <p:txEl>
                                              <p:pRg st="0" end="0"/>
                                            </p:txEl>
                                          </p:spTgt>
                                        </p:tgtEl>
                                        <p:attrNameLst>
                                          <p:attrName>style.visibility</p:attrName>
                                        </p:attrNameLst>
                                      </p:cBhvr>
                                      <p:to>
                                        <p:strVal val="visible"/>
                                      </p:to>
                                    </p:set>
                                    <p:anim calcmode="lin" valueType="num">
                                      <p:cBhvr additive="base">
                                        <p:cTn id="28"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nodeType="clickEffect">
                                  <p:stCondLst>
                                    <p:cond delay="0"/>
                                  </p:stCondLst>
                                  <p:childTnLst>
                                    <p:set>
                                      <p:cBhvr>
                                        <p:cTn id="33" dur="1" fill="hold">
                                          <p:stCondLst>
                                            <p:cond delay="0"/>
                                          </p:stCondLst>
                                        </p:cTn>
                                        <p:tgtEl>
                                          <p:spTgt spid="15">
                                            <p:txEl>
                                              <p:pRg st="1" end="1"/>
                                            </p:txEl>
                                          </p:spTgt>
                                        </p:tgtEl>
                                        <p:attrNameLst>
                                          <p:attrName>style.visibility</p:attrName>
                                        </p:attrNameLst>
                                      </p:cBhvr>
                                      <p:to>
                                        <p:strVal val="visible"/>
                                      </p:to>
                                    </p:set>
                                    <p:animEffect transition="in" filter="checkerboard(across)">
                                      <p:cBhvr>
                                        <p:cTn id="34" dur="500"/>
                                        <p:tgtEl>
                                          <p:spTgt spid="15">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5" presetClass="entr" presetSubtype="10" fill="hold" nodeType="clickEffect">
                                  <p:stCondLst>
                                    <p:cond delay="0"/>
                                  </p:stCondLst>
                                  <p:childTnLst>
                                    <p:set>
                                      <p:cBhvr>
                                        <p:cTn id="44" dur="1" fill="hold">
                                          <p:stCondLst>
                                            <p:cond delay="0"/>
                                          </p:stCondLst>
                                        </p:cTn>
                                        <p:tgtEl>
                                          <p:spTgt spid="15">
                                            <p:txEl>
                                              <p:pRg st="2" end="2"/>
                                            </p:txEl>
                                          </p:spTgt>
                                        </p:tgtEl>
                                        <p:attrNameLst>
                                          <p:attrName>style.visibility</p:attrName>
                                        </p:attrNameLst>
                                      </p:cBhvr>
                                      <p:to>
                                        <p:strVal val="visible"/>
                                      </p:to>
                                    </p:set>
                                    <p:animEffect transition="in" filter="checkerboard(across)">
                                      <p:cBhvr>
                                        <p:cTn id="45" dur="500"/>
                                        <p:tgtEl>
                                          <p:spTgt spid="15">
                                            <p:txEl>
                                              <p:pRg st="2" end="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5" presetClass="entr" presetSubtype="10" fill="hold"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checkerboard(across)">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00" fill="hold"/>
                                        <p:tgtEl>
                                          <p:spTgt spid="18"/>
                                        </p:tgtEl>
                                        <p:attrNameLst>
                                          <p:attrName>ppt_x</p:attrName>
                                        </p:attrNameLst>
                                      </p:cBhvr>
                                      <p:tavLst>
                                        <p:tav tm="0">
                                          <p:val>
                                            <p:strVal val="#ppt_x"/>
                                          </p:val>
                                        </p:tav>
                                        <p:tav tm="100000">
                                          <p:val>
                                            <p:strVal val="#ppt_x"/>
                                          </p:val>
                                        </p:tav>
                                      </p:tavLst>
                                    </p:anim>
                                    <p:anim calcmode="lin" valueType="num">
                                      <p:cBhvr additive="base">
                                        <p:cTn id="6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knife, table&#10;&#10;Description automatically generated">
            <a:extLst>
              <a:ext uri="{FF2B5EF4-FFF2-40B4-BE49-F238E27FC236}">
                <a16:creationId xmlns:a16="http://schemas.microsoft.com/office/drawing/2014/main" id="{8EA8B732-B5ED-A64E-AD79-E481B0FA0A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8780" y="944224"/>
            <a:ext cx="4979115" cy="863724"/>
          </a:xfrm>
          <a:prstGeom prst="rect">
            <a:avLst/>
          </a:prstGeom>
        </p:spPr>
      </p:pic>
      <p:pic>
        <p:nvPicPr>
          <p:cNvPr id="5" name="Picture 4" descr="A screenshot of a cell phone&#10;&#10;Description automatically generated">
            <a:extLst>
              <a:ext uri="{FF2B5EF4-FFF2-40B4-BE49-F238E27FC236}">
                <a16:creationId xmlns:a16="http://schemas.microsoft.com/office/drawing/2014/main" id="{F8B2054C-34F5-1D4B-8B05-780A337D03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280778"/>
            <a:ext cx="9144000" cy="2606585"/>
          </a:xfrm>
          <a:prstGeom prst="rect">
            <a:avLst/>
          </a:prstGeom>
        </p:spPr>
      </p:pic>
      <p:pic>
        <p:nvPicPr>
          <p:cNvPr id="7" name="Picture 6" descr="A picture containing bird, flower&#10;&#10;Description automatically generated">
            <a:extLst>
              <a:ext uri="{FF2B5EF4-FFF2-40B4-BE49-F238E27FC236}">
                <a16:creationId xmlns:a16="http://schemas.microsoft.com/office/drawing/2014/main" id="{F2B1B35E-FA5E-7E47-AEC6-DC6E618981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1560" y="548680"/>
            <a:ext cx="3296434" cy="2273929"/>
          </a:xfrm>
          <a:prstGeom prst="rect">
            <a:avLst/>
          </a:prstGeom>
        </p:spPr>
      </p:pic>
    </p:spTree>
    <p:extLst>
      <p:ext uri="{BB962C8B-B14F-4D97-AF65-F5344CB8AC3E}">
        <p14:creationId xmlns:p14="http://schemas.microsoft.com/office/powerpoint/2010/main" val="1259067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5"/>
          <p:cNvSpPr>
            <a:spLocks noChangeArrowheads="1"/>
          </p:cNvSpPr>
          <p:nvPr/>
        </p:nvSpPr>
        <p:spPr bwMode="auto">
          <a:xfrm>
            <a:off x="179388" y="53975"/>
            <a:ext cx="867568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AU" sz="1600">
                <a:latin typeface="Calibri" pitchFamily="34" charset="0"/>
                <a:ea typeface="Times New Roman" pitchFamily="18" charset="0"/>
                <a:cs typeface="Calibri" pitchFamily="34" charset="0"/>
              </a:rPr>
              <a:t>The relationship between the two variables can be depicted graphically in a presentation of the data called a scattergraph, as shown below in diagram 1:-</a:t>
            </a:r>
          </a:p>
        </p:txBody>
      </p:sp>
      <p:graphicFrame>
        <p:nvGraphicFramePr>
          <p:cNvPr id="7172" name="Object 4"/>
          <p:cNvGraphicFramePr>
            <a:graphicFrameLocks noChangeAspect="1"/>
          </p:cNvGraphicFramePr>
          <p:nvPr>
            <p:extLst>
              <p:ext uri="{D42A27DB-BD31-4B8C-83A1-F6EECF244321}">
                <p14:modId xmlns:p14="http://schemas.microsoft.com/office/powerpoint/2010/main" val="3438480166"/>
              </p:ext>
            </p:extLst>
          </p:nvPr>
        </p:nvGraphicFramePr>
        <p:xfrm>
          <a:off x="2771775" y="644525"/>
          <a:ext cx="3313113" cy="3074988"/>
        </p:xfrm>
        <a:graphic>
          <a:graphicData uri="http://schemas.openxmlformats.org/presentationml/2006/ole">
            <mc:AlternateContent xmlns:mc="http://schemas.openxmlformats.org/markup-compatibility/2006">
              <mc:Choice xmlns:v="urn:schemas-microsoft-com:vml" Requires="v">
                <p:oleObj spid="_x0000_s7213" r:id="rId3" imgW="2520360" imgH="2722680" progId="FXDraw3.Document">
                  <p:embed/>
                </p:oleObj>
              </mc:Choice>
              <mc:Fallback>
                <p:oleObj r:id="rId3" imgW="2520360" imgH="2722680" progId="FXDraw3.Document">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644525"/>
                        <a:ext cx="3313113" cy="3074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4" name="Rectangle 6"/>
          <p:cNvSpPr>
            <a:spLocks noChangeArrowheads="1"/>
          </p:cNvSpPr>
          <p:nvPr/>
        </p:nvSpPr>
        <p:spPr bwMode="auto">
          <a:xfrm>
            <a:off x="323850" y="3480102"/>
            <a:ext cx="8424863"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AU" sz="1600" dirty="0">
                <a:latin typeface="Calibri" pitchFamily="34" charset="0"/>
                <a:cs typeface="Calibri" pitchFamily="34" charset="0"/>
              </a:rPr>
              <a:t>Each unit (in this case, a person) is represented by a point on the </a:t>
            </a:r>
            <a:r>
              <a:rPr lang="en-AU" sz="1600" dirty="0" err="1">
                <a:latin typeface="Calibri" pitchFamily="34" charset="0"/>
                <a:cs typeface="Calibri" pitchFamily="34" charset="0"/>
              </a:rPr>
              <a:t>scattergraph</a:t>
            </a:r>
            <a:r>
              <a:rPr lang="en-AU" sz="1600" dirty="0">
                <a:latin typeface="Calibri" pitchFamily="34" charset="0"/>
                <a:cs typeface="Calibri" pitchFamily="34" charset="0"/>
              </a:rPr>
              <a:t>. A dot represents the ordered pair (Xi, Yi) for the </a:t>
            </a:r>
            <a:r>
              <a:rPr lang="en-AU" sz="1600" dirty="0" err="1">
                <a:latin typeface="Calibri" pitchFamily="34" charset="0"/>
                <a:cs typeface="Calibri" pitchFamily="34" charset="0"/>
              </a:rPr>
              <a:t>ith</a:t>
            </a:r>
            <a:r>
              <a:rPr lang="en-AU" sz="1600" dirty="0">
                <a:latin typeface="Calibri" pitchFamily="34" charset="0"/>
                <a:cs typeface="Calibri" pitchFamily="34" charset="0"/>
              </a:rPr>
              <a:t> person. </a:t>
            </a:r>
          </a:p>
          <a:p>
            <a:r>
              <a:rPr lang="en-AU" sz="1600" dirty="0">
                <a:latin typeface="Calibri" pitchFamily="34" charset="0"/>
                <a:cs typeface="Calibri" pitchFamily="34" charset="0"/>
              </a:rPr>
              <a:t>As shown, a line could be drawn through these points and we can see that there is a linear relationship between the two variables X and Y. Many relationships are linear, and we shall be looking at the strengths of these linear relationships. We shall also be looking at an analytical way of calculating the “line of best fit” so that we may make predictions (both interpolations and extrapolations).</a:t>
            </a:r>
          </a:p>
          <a:p>
            <a:r>
              <a:rPr lang="en-AU" sz="1600" dirty="0">
                <a:latin typeface="Calibri" pitchFamily="34" charset="0"/>
                <a:cs typeface="Calibri" pitchFamily="34" charset="0"/>
              </a:rPr>
              <a:t>To find the equation of the line of best fit by “eye”, select two points on the line (near the “ends”).</a:t>
            </a:r>
            <a:br>
              <a:rPr lang="en-AU" sz="1600" dirty="0">
                <a:latin typeface="Calibri" pitchFamily="34" charset="0"/>
                <a:cs typeface="Calibri" pitchFamily="34" charset="0"/>
              </a:rPr>
            </a:br>
            <a:r>
              <a:rPr lang="en-AU" sz="1600" dirty="0">
                <a:latin typeface="Calibri" pitchFamily="34" charset="0"/>
                <a:cs typeface="Calibri" pitchFamily="34" charset="0"/>
              </a:rPr>
              <a:t>In the case above, select say (0, 2) and (10, 10)</a:t>
            </a:r>
          </a:p>
          <a:p>
            <a:r>
              <a:rPr lang="en-AU" sz="1600" dirty="0">
                <a:latin typeface="Calibri" pitchFamily="34" charset="0"/>
                <a:cs typeface="Calibri" pitchFamily="34" charset="0"/>
              </a:rPr>
              <a:t>Then gradient of line is 0.8, and y intercept is 2</a:t>
            </a:r>
          </a:p>
          <a:p>
            <a:r>
              <a:rPr lang="en-AU" sz="1600" dirty="0">
                <a:latin typeface="Calibri" pitchFamily="34" charset="0"/>
                <a:cs typeface="Calibri" pitchFamily="34" charset="0"/>
              </a:rPr>
              <a:t>Hence equation is y = 0.8x + 2</a:t>
            </a:r>
          </a:p>
        </p:txBody>
      </p:sp>
      <mc:AlternateContent xmlns:mc="http://schemas.openxmlformats.org/markup-compatibility/2006" xmlns:a14="http://schemas.microsoft.com/office/drawing/2010/main">
        <mc:Choice Requires="a14">
          <p:sp>
            <p:nvSpPr>
              <p:cNvPr id="2" name="TextBox 1"/>
              <p:cNvSpPr txBox="1"/>
              <p:nvPr/>
            </p:nvSpPr>
            <p:spPr>
              <a:xfrm>
                <a:off x="4860032" y="5517232"/>
                <a:ext cx="3830344" cy="1323439"/>
              </a:xfrm>
              <a:prstGeom prst="rect">
                <a:avLst/>
              </a:prstGeom>
              <a:noFill/>
              <a:ln>
                <a:solidFill>
                  <a:schemeClr val="tx1">
                    <a:lumMod val="50000"/>
                    <a:lumOff val="50000"/>
                  </a:schemeClr>
                </a:solidFill>
              </a:ln>
            </p:spPr>
            <p:txBody>
              <a:bodyPr wrap="none" rtlCol="0">
                <a:spAutoFit/>
              </a:bodyPr>
              <a:lstStyle/>
              <a:p>
                <a:r>
                  <a:rPr lang="en-AU" sz="1600" dirty="0">
                    <a:latin typeface="Calibri" pitchFamily="34" charset="0"/>
                    <a:cs typeface="Calibri" pitchFamily="34" charset="0"/>
                  </a:rPr>
                  <a:t>Therefore If a Maths score is 5 then</a:t>
                </a:r>
              </a:p>
              <a:p>
                <a:pPr/>
                <a14:m>
                  <m:oMathPara xmlns:m="http://schemas.openxmlformats.org/officeDocument/2006/math">
                    <m:oMathParaPr>
                      <m:jc m:val="centerGroup"/>
                    </m:oMathParaPr>
                    <m:oMath xmlns:m="http://schemas.openxmlformats.org/officeDocument/2006/math">
                      <m:r>
                        <a:rPr lang="en-AU" sz="1600" b="0" i="1" smtClean="0">
                          <a:latin typeface="Cambria Math"/>
                          <a:cs typeface="Calibri" pitchFamily="34" charset="0"/>
                        </a:rPr>
                        <m:t>𝑦</m:t>
                      </m:r>
                      <m:r>
                        <a:rPr lang="en-AU" sz="1600" b="0" i="1" smtClean="0">
                          <a:latin typeface="Cambria Math"/>
                          <a:cs typeface="Calibri" pitchFamily="34" charset="0"/>
                        </a:rPr>
                        <m:t>=0.8×5+2</m:t>
                      </m:r>
                    </m:oMath>
                    <m:oMath xmlns:m="http://schemas.openxmlformats.org/officeDocument/2006/math">
                      <m:r>
                        <a:rPr lang="en-AU" sz="1600" b="0" i="1" smtClean="0">
                          <a:latin typeface="Cambria Math"/>
                          <a:ea typeface="Cambria Math"/>
                          <a:cs typeface="Calibri" pitchFamily="34" charset="0"/>
                        </a:rPr>
                        <m:t>𝑦</m:t>
                      </m:r>
                      <m:r>
                        <a:rPr lang="en-AU" sz="1600" b="0" i="1" smtClean="0">
                          <a:latin typeface="Cambria Math"/>
                          <a:ea typeface="Cambria Math"/>
                          <a:cs typeface="Calibri" pitchFamily="34" charset="0"/>
                        </a:rPr>
                        <m:t>=6</m:t>
                      </m:r>
                    </m:oMath>
                  </m:oMathPara>
                </a14:m>
                <a:endParaRPr lang="en-AU" sz="1600" b="0" dirty="0">
                  <a:latin typeface="Calibri" pitchFamily="34" charset="0"/>
                  <a:ea typeface="Cambria Math"/>
                  <a:cs typeface="Calibri" pitchFamily="34" charset="0"/>
                </a:endParaRPr>
              </a:p>
              <a:p>
                <a:r>
                  <a:rPr lang="en-AU" sz="1600" dirty="0">
                    <a:latin typeface="Calibri" pitchFamily="34" charset="0"/>
                    <a:cs typeface="Calibri" pitchFamily="34" charset="0"/>
                  </a:rPr>
                  <a:t>This gives an approximate Physics score of 6</a:t>
                </a:r>
              </a:p>
              <a:p>
                <a:r>
                  <a:rPr lang="en-AU" sz="1600" dirty="0">
                    <a:latin typeface="Calibri" pitchFamily="34" charset="0"/>
                    <a:cs typeface="Calibri" pitchFamily="34" charset="0"/>
                  </a:rPr>
                  <a:t>NOTE: this is only an approximation!</a:t>
                </a:r>
              </a:p>
            </p:txBody>
          </p:sp>
        </mc:Choice>
        <mc:Fallback xmlns="">
          <p:sp>
            <p:nvSpPr>
              <p:cNvPr id="2" name="TextBox 1"/>
              <p:cNvSpPr txBox="1">
                <a:spLocks noRot="1" noChangeAspect="1" noMove="1" noResize="1" noEditPoints="1" noAdjustHandles="1" noChangeArrowheads="1" noChangeShapeType="1" noTextEdit="1"/>
              </p:cNvSpPr>
              <p:nvPr/>
            </p:nvSpPr>
            <p:spPr>
              <a:xfrm>
                <a:off x="4860032" y="5517232"/>
                <a:ext cx="3830344" cy="1323439"/>
              </a:xfrm>
              <a:prstGeom prst="rect">
                <a:avLst/>
              </a:prstGeom>
              <a:blipFill rotWithShape="1">
                <a:blip r:embed="rId5"/>
                <a:stretch>
                  <a:fillRect l="-634" t="-913" b="-4566"/>
                </a:stretch>
              </a:blipFill>
              <a:ln>
                <a:solidFill>
                  <a:schemeClr val="tx1">
                    <a:lumMod val="50000"/>
                    <a:lumOff val="50000"/>
                  </a:schemeClr>
                </a:solidFill>
              </a:ln>
            </p:spPr>
            <p:txBody>
              <a:bodyPr/>
              <a:lstStyle/>
              <a:p>
                <a:r>
                  <a:rPr lang="en-AU">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E8D25FA-0273-2540-9853-D97EFEAF75FC}"/>
                  </a:ext>
                </a:extLst>
              </p:cNvPr>
              <p:cNvSpPr txBox="1"/>
              <p:nvPr/>
            </p:nvSpPr>
            <p:spPr>
              <a:xfrm>
                <a:off x="251520" y="260649"/>
                <a:ext cx="8712968" cy="3139321"/>
              </a:xfrm>
              <a:prstGeom prst="rect">
                <a:avLst/>
              </a:prstGeom>
              <a:noFill/>
            </p:spPr>
            <p:txBody>
              <a:bodyPr wrap="square" rtlCol="0">
                <a:spAutoFit/>
              </a:bodyPr>
              <a:lstStyle/>
              <a:p>
                <a:r>
                  <a:rPr lang="en-US" dirty="0"/>
                  <a:t>Pearson’s Correlation Coefficient</a:t>
                </a:r>
              </a:p>
              <a:p>
                <a:endParaRPr lang="en-US" dirty="0"/>
              </a:p>
              <a:p>
                <a:r>
                  <a:rPr lang="en-US" dirty="0"/>
                  <a:t>For a detailed explanation, see Linear regression Review </a:t>
                </a:r>
                <a:r>
                  <a:rPr lang="en-US" dirty="0" err="1"/>
                  <a:t>Powerpoint</a:t>
                </a:r>
                <a:r>
                  <a:rPr lang="en-US" dirty="0"/>
                  <a:t> on our Class Connect page. The quick takeaways:</a:t>
                </a:r>
              </a:p>
              <a:p>
                <a:endParaRPr lang="en-US" dirty="0"/>
              </a:p>
              <a:p>
                <a:pPr marL="285750" indent="-285750">
                  <a:buFont typeface="Arial" panose="020B0604020202020204" pitchFamily="34" charset="0"/>
                  <a:buChar char="•"/>
                </a:pPr>
                <a:r>
                  <a:rPr lang="en-US" dirty="0"/>
                  <a:t>It is a measure of how closely the relationship between two sets of data approximates to a linear relationship</a:t>
                </a:r>
              </a:p>
              <a:p>
                <a:pPr marL="285750" indent="-285750">
                  <a:buFont typeface="Arial" panose="020B0604020202020204" pitchFamily="34" charset="0"/>
                  <a:buChar char="•"/>
                </a:pPr>
                <a:r>
                  <a:rPr lang="en-US" dirty="0"/>
                  <a:t>It is denoted by the variable </a:t>
                </a:r>
                <a:r>
                  <a:rPr lang="en-US" b="1" i="1" dirty="0"/>
                  <a:t>r </a:t>
                </a:r>
                <a:r>
                  <a:rPr lang="en-US" dirty="0"/>
                  <a:t>or sometimes written as </a:t>
                </a:r>
                <a:r>
                  <a:rPr lang="en-US" b="1" i="1" dirty="0" err="1"/>
                  <a:t>r</a:t>
                </a:r>
                <a:r>
                  <a:rPr lang="en-US" b="1" i="1" baseline="-25000" dirty="0" err="1"/>
                  <a:t>xy</a:t>
                </a:r>
                <a:endParaRPr lang="en-US" dirty="0"/>
              </a:p>
              <a:p>
                <a:pPr marL="285750" indent="-285750">
                  <a:buFont typeface="Arial" panose="020B0604020202020204" pitchFamily="34" charset="0"/>
                  <a:buChar char="•"/>
                </a:pPr>
                <a:r>
                  <a:rPr lang="en-US" dirty="0"/>
                  <a:t>Its values range from -1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a:t>
                </a:r>
                <a:r>
                  <a:rPr lang="en-US" b="1" i="1" dirty="0"/>
                  <a:t>r</a:t>
                </a:r>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+1</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mc:Choice>
        <mc:Fallback xmlns="">
          <p:sp>
            <p:nvSpPr>
              <p:cNvPr id="2" name="TextBox 1">
                <a:extLst>
                  <a:ext uri="{FF2B5EF4-FFF2-40B4-BE49-F238E27FC236}">
                    <a16:creationId xmlns:a16="http://schemas.microsoft.com/office/drawing/2014/main" id="{BE8D25FA-0273-2540-9853-D97EFEAF75FC}"/>
                  </a:ext>
                </a:extLst>
              </p:cNvPr>
              <p:cNvSpPr txBox="1">
                <a:spLocks noRot="1" noChangeAspect="1" noMove="1" noResize="1" noEditPoints="1" noAdjustHandles="1" noChangeArrowheads="1" noChangeShapeType="1" noTextEdit="1"/>
              </p:cNvSpPr>
              <p:nvPr/>
            </p:nvSpPr>
            <p:spPr>
              <a:xfrm>
                <a:off x="251520" y="260649"/>
                <a:ext cx="8712968" cy="3139321"/>
              </a:xfrm>
              <a:prstGeom prst="rect">
                <a:avLst/>
              </a:prstGeom>
              <a:blipFill>
                <a:blip r:embed="rId2"/>
                <a:stretch>
                  <a:fillRect l="-582" t="-806"/>
                </a:stretch>
              </a:blipFill>
            </p:spPr>
            <p:txBody>
              <a:bodyPr/>
              <a:lstStyle/>
              <a:p>
                <a:r>
                  <a:rPr lang="en-US">
                    <a:noFill/>
                  </a:rPr>
                  <a:t> </a:t>
                </a:r>
              </a:p>
            </p:txBody>
          </p:sp>
        </mc:Fallback>
      </mc:AlternateContent>
      <p:pic>
        <p:nvPicPr>
          <p:cNvPr id="5" name="Picture 4" descr="A screenshot of a cell phone&#10;&#10;Description automatically generated">
            <a:extLst>
              <a:ext uri="{FF2B5EF4-FFF2-40B4-BE49-F238E27FC236}">
                <a16:creationId xmlns:a16="http://schemas.microsoft.com/office/drawing/2014/main" id="{A779EE38-E6A5-A24F-AFFD-05F8F941D7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212976"/>
            <a:ext cx="9144000" cy="3094639"/>
          </a:xfrm>
          <a:prstGeom prst="rect">
            <a:avLst/>
          </a:prstGeom>
        </p:spPr>
      </p:pic>
    </p:spTree>
    <p:extLst>
      <p:ext uri="{BB962C8B-B14F-4D97-AF65-F5344CB8AC3E}">
        <p14:creationId xmlns:p14="http://schemas.microsoft.com/office/powerpoint/2010/main" val="3678044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35F935-C465-1C4B-A312-36D39E379DE2}"/>
              </a:ext>
            </a:extLst>
          </p:cNvPr>
          <p:cNvSpPr txBox="1"/>
          <p:nvPr/>
        </p:nvSpPr>
        <p:spPr>
          <a:xfrm>
            <a:off x="395536" y="260648"/>
            <a:ext cx="8352928" cy="1200329"/>
          </a:xfrm>
          <a:prstGeom prst="rect">
            <a:avLst/>
          </a:prstGeom>
          <a:noFill/>
        </p:spPr>
        <p:txBody>
          <a:bodyPr wrap="square" rtlCol="0">
            <a:spAutoFit/>
          </a:bodyPr>
          <a:lstStyle/>
          <a:p>
            <a:r>
              <a:rPr lang="en-US" dirty="0"/>
              <a:t>Can we have confidence in our predictions? Let’s look at an example</a:t>
            </a:r>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6" name="Picture 5" descr="A screenshot of a cell phone&#10;&#10;Description automatically generated">
            <a:extLst>
              <a:ext uri="{FF2B5EF4-FFF2-40B4-BE49-F238E27FC236}">
                <a16:creationId xmlns:a16="http://schemas.microsoft.com/office/drawing/2014/main" id="{C7CF2B81-7A72-C14D-B9B2-71B7A6A76D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860812"/>
            <a:ext cx="7812360" cy="2589773"/>
          </a:xfrm>
          <a:prstGeom prst="rect">
            <a:avLst/>
          </a:prstGeom>
        </p:spPr>
      </p:pic>
      <p:pic>
        <p:nvPicPr>
          <p:cNvPr id="8" name="Picture 7" descr="A close up of a map&#10;&#10;Description automatically generated">
            <a:extLst>
              <a:ext uri="{FF2B5EF4-FFF2-40B4-BE49-F238E27FC236}">
                <a16:creationId xmlns:a16="http://schemas.microsoft.com/office/drawing/2014/main" id="{D87B2A8D-D75A-DB48-A4E2-FC760FFF42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7624" y="3607952"/>
            <a:ext cx="5760640" cy="2989400"/>
          </a:xfrm>
          <a:prstGeom prst="rect">
            <a:avLst/>
          </a:prstGeom>
        </p:spPr>
      </p:pic>
    </p:spTree>
    <p:extLst>
      <p:ext uri="{BB962C8B-B14F-4D97-AF65-F5344CB8AC3E}">
        <p14:creationId xmlns:p14="http://schemas.microsoft.com/office/powerpoint/2010/main" val="3161355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35F935-C465-1C4B-A312-36D39E379DE2}"/>
              </a:ext>
            </a:extLst>
          </p:cNvPr>
          <p:cNvSpPr txBox="1"/>
          <p:nvPr/>
        </p:nvSpPr>
        <p:spPr>
          <a:xfrm>
            <a:off x="395536" y="260648"/>
            <a:ext cx="8352928" cy="1200329"/>
          </a:xfrm>
          <a:prstGeom prst="rect">
            <a:avLst/>
          </a:prstGeom>
          <a:noFill/>
        </p:spPr>
        <p:txBody>
          <a:bodyPr wrap="square" rtlCol="0">
            <a:spAutoFit/>
          </a:bodyPr>
          <a:lstStyle/>
          <a:p>
            <a:r>
              <a:rPr lang="en-US" dirty="0"/>
              <a:t>Can we have confidence in our predictions? Let’s look at an example</a:t>
            </a:r>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8" name="Picture 7" descr="A close up of a map&#10;&#10;Description automatically generated">
            <a:extLst>
              <a:ext uri="{FF2B5EF4-FFF2-40B4-BE49-F238E27FC236}">
                <a16:creationId xmlns:a16="http://schemas.microsoft.com/office/drawing/2014/main" id="{D87B2A8D-D75A-DB48-A4E2-FC760FFF42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727080"/>
            <a:ext cx="6799290" cy="3528392"/>
          </a:xfrm>
          <a:prstGeom prst="rect">
            <a:avLst/>
          </a:prstGeom>
        </p:spPr>
      </p:pic>
      <p:pic>
        <p:nvPicPr>
          <p:cNvPr id="3" name="Picture 2" descr="A screenshot of a cell phone&#10;&#10;Description automatically generated">
            <a:extLst>
              <a:ext uri="{FF2B5EF4-FFF2-40B4-BE49-F238E27FC236}">
                <a16:creationId xmlns:a16="http://schemas.microsoft.com/office/drawing/2014/main" id="{FA3F4F81-E670-E84F-8DCA-EFB8E35A96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616" y="4270608"/>
            <a:ext cx="7700246" cy="2370386"/>
          </a:xfrm>
          <a:prstGeom prst="rect">
            <a:avLst/>
          </a:prstGeom>
        </p:spPr>
      </p:pic>
    </p:spTree>
    <p:extLst>
      <p:ext uri="{BB962C8B-B14F-4D97-AF65-F5344CB8AC3E}">
        <p14:creationId xmlns:p14="http://schemas.microsoft.com/office/powerpoint/2010/main" val="935372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checkerboard(across)">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35F935-C465-1C4B-A312-36D39E379DE2}"/>
              </a:ext>
            </a:extLst>
          </p:cNvPr>
          <p:cNvSpPr txBox="1"/>
          <p:nvPr/>
        </p:nvSpPr>
        <p:spPr>
          <a:xfrm>
            <a:off x="395536" y="260648"/>
            <a:ext cx="8352928" cy="1200329"/>
          </a:xfrm>
          <a:prstGeom prst="rect">
            <a:avLst/>
          </a:prstGeom>
          <a:noFill/>
        </p:spPr>
        <p:txBody>
          <a:bodyPr wrap="square" rtlCol="0">
            <a:spAutoFit/>
          </a:bodyPr>
          <a:lstStyle/>
          <a:p>
            <a:r>
              <a:rPr lang="en-US" dirty="0"/>
              <a:t>Can we have confidence in our predictions? Let’s look at an example</a:t>
            </a:r>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8" name="Picture 7" descr="A close up of a map&#10;&#10;Description automatically generated">
            <a:extLst>
              <a:ext uri="{FF2B5EF4-FFF2-40B4-BE49-F238E27FC236}">
                <a16:creationId xmlns:a16="http://schemas.microsoft.com/office/drawing/2014/main" id="{D87B2A8D-D75A-DB48-A4E2-FC760FFF42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727080"/>
            <a:ext cx="6799290" cy="3528392"/>
          </a:xfrm>
          <a:prstGeom prst="rect">
            <a:avLst/>
          </a:prstGeom>
        </p:spPr>
      </p:pic>
      <p:pic>
        <p:nvPicPr>
          <p:cNvPr id="3" name="Picture 2" descr="A screenshot of a cell phone&#10;&#10;Description automatically generated">
            <a:extLst>
              <a:ext uri="{FF2B5EF4-FFF2-40B4-BE49-F238E27FC236}">
                <a16:creationId xmlns:a16="http://schemas.microsoft.com/office/drawing/2014/main" id="{FA3F4F81-E670-E84F-8DCA-EFB8E35A96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616" y="4270608"/>
            <a:ext cx="7700246" cy="2370386"/>
          </a:xfrm>
          <a:prstGeom prst="rect">
            <a:avLst/>
          </a:prstGeom>
        </p:spPr>
      </p:pic>
    </p:spTree>
    <p:extLst>
      <p:ext uri="{BB962C8B-B14F-4D97-AF65-F5344CB8AC3E}">
        <p14:creationId xmlns:p14="http://schemas.microsoft.com/office/powerpoint/2010/main" val="949202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checkerboard(across)">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ell phone&#10;&#10;Description automatically generated">
            <a:extLst>
              <a:ext uri="{FF2B5EF4-FFF2-40B4-BE49-F238E27FC236}">
                <a16:creationId xmlns:a16="http://schemas.microsoft.com/office/drawing/2014/main" id="{4E9C314D-62F7-B043-89E6-33EFB25D48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520"/>
            <a:ext cx="8892480" cy="4178002"/>
          </a:xfrm>
          <a:prstGeom prst="rect">
            <a:avLst/>
          </a:prstGeom>
        </p:spPr>
      </p:pic>
      <p:pic>
        <p:nvPicPr>
          <p:cNvPr id="5" name="Picture 4" descr="A close up of a logo&#10;&#10;Description automatically generated">
            <a:extLst>
              <a:ext uri="{FF2B5EF4-FFF2-40B4-BE49-F238E27FC236}">
                <a16:creationId xmlns:a16="http://schemas.microsoft.com/office/drawing/2014/main" id="{58EED93B-49A0-814B-AABF-45D689081F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0421" y="1772816"/>
            <a:ext cx="3693579" cy="3649712"/>
          </a:xfrm>
          <a:prstGeom prst="rect">
            <a:avLst/>
          </a:prstGeom>
        </p:spPr>
      </p:pic>
      <p:pic>
        <p:nvPicPr>
          <p:cNvPr id="7" name="Picture 6" descr="A picture containing table&#10;&#10;Description automatically generated">
            <a:extLst>
              <a:ext uri="{FF2B5EF4-FFF2-40B4-BE49-F238E27FC236}">
                <a16:creationId xmlns:a16="http://schemas.microsoft.com/office/drawing/2014/main" id="{D5B8E8E9-AD70-D54F-B890-64282AFD28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416024"/>
            <a:ext cx="4883428" cy="1049332"/>
          </a:xfrm>
          <a:prstGeom prst="rect">
            <a:avLst/>
          </a:prstGeom>
        </p:spPr>
      </p:pic>
      <p:pic>
        <p:nvPicPr>
          <p:cNvPr id="9" name="Picture 8" descr="A picture containing knife&#10;&#10;Description automatically generated">
            <a:extLst>
              <a:ext uri="{FF2B5EF4-FFF2-40B4-BE49-F238E27FC236}">
                <a16:creationId xmlns:a16="http://schemas.microsoft.com/office/drawing/2014/main" id="{0B00E9E9-2470-CA44-98B2-111D39B7FB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800" y="4514631"/>
            <a:ext cx="5010770" cy="809494"/>
          </a:xfrm>
          <a:prstGeom prst="rect">
            <a:avLst/>
          </a:prstGeom>
        </p:spPr>
      </p:pic>
      <p:pic>
        <p:nvPicPr>
          <p:cNvPr id="11" name="Picture 10">
            <a:extLst>
              <a:ext uri="{FF2B5EF4-FFF2-40B4-BE49-F238E27FC236}">
                <a16:creationId xmlns:a16="http://schemas.microsoft.com/office/drawing/2014/main" id="{75FAB9D1-77C7-9A4D-A4BD-BFCB93C882F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800" y="5365875"/>
            <a:ext cx="7904600" cy="245104"/>
          </a:xfrm>
          <a:prstGeom prst="rect">
            <a:avLst/>
          </a:prstGeom>
        </p:spPr>
      </p:pic>
      <p:pic>
        <p:nvPicPr>
          <p:cNvPr id="13" name="Picture 12" descr="A screenshot of a cell phone&#10;&#10;Description automatically generated">
            <a:extLst>
              <a:ext uri="{FF2B5EF4-FFF2-40B4-BE49-F238E27FC236}">
                <a16:creationId xmlns:a16="http://schemas.microsoft.com/office/drawing/2014/main" id="{14BF9F20-B1DF-0644-AA60-AC30E14F15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032" y="5652729"/>
            <a:ext cx="8676456" cy="1148478"/>
          </a:xfrm>
          <a:prstGeom prst="rect">
            <a:avLst/>
          </a:prstGeom>
        </p:spPr>
      </p:pic>
    </p:spTree>
    <p:extLst>
      <p:ext uri="{BB962C8B-B14F-4D97-AF65-F5344CB8AC3E}">
        <p14:creationId xmlns:p14="http://schemas.microsoft.com/office/powerpoint/2010/main" val="1578981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checkerboard(across)">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dissolv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dissolv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dissolve">
                                      <p:cBhvr>
                                        <p:cTn id="3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35F935-C465-1C4B-A312-36D39E379DE2}"/>
              </a:ext>
            </a:extLst>
          </p:cNvPr>
          <p:cNvSpPr txBox="1"/>
          <p:nvPr/>
        </p:nvSpPr>
        <p:spPr>
          <a:xfrm>
            <a:off x="235275" y="217006"/>
            <a:ext cx="8352928" cy="1415772"/>
          </a:xfrm>
          <a:prstGeom prst="rect">
            <a:avLst/>
          </a:prstGeom>
          <a:noFill/>
        </p:spPr>
        <p:txBody>
          <a:bodyPr wrap="square" rtlCol="0">
            <a:spAutoFit/>
          </a:bodyPr>
          <a:lstStyle/>
          <a:p>
            <a:r>
              <a:rPr lang="en-US" sz="3200" dirty="0"/>
              <a:t>Cause and effect – Let’s have a look</a:t>
            </a:r>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5" name="Picture 4" descr="A close up of a map&#10;&#10;Description automatically generated">
            <a:extLst>
              <a:ext uri="{FF2B5EF4-FFF2-40B4-BE49-F238E27FC236}">
                <a16:creationId xmlns:a16="http://schemas.microsoft.com/office/drawing/2014/main" id="{D9CECA19-ECCC-0345-A64B-049D74632C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275" y="884088"/>
            <a:ext cx="3441700" cy="3346450"/>
          </a:xfrm>
          <a:prstGeom prst="rect">
            <a:avLst/>
          </a:prstGeom>
        </p:spPr>
      </p:pic>
      <p:sp>
        <p:nvSpPr>
          <p:cNvPr id="6" name="TextBox 5">
            <a:extLst>
              <a:ext uri="{FF2B5EF4-FFF2-40B4-BE49-F238E27FC236}">
                <a16:creationId xmlns:a16="http://schemas.microsoft.com/office/drawing/2014/main" id="{1022FBBC-FE00-1B43-9339-F2A28EE1C4DD}"/>
              </a:ext>
            </a:extLst>
          </p:cNvPr>
          <p:cNvSpPr txBox="1"/>
          <p:nvPr/>
        </p:nvSpPr>
        <p:spPr>
          <a:xfrm>
            <a:off x="4211959" y="1124745"/>
            <a:ext cx="4696765" cy="3139321"/>
          </a:xfrm>
          <a:prstGeom prst="rect">
            <a:avLst/>
          </a:prstGeom>
          <a:noFill/>
        </p:spPr>
        <p:txBody>
          <a:bodyPr wrap="square" rtlCol="0">
            <a:spAutoFit/>
          </a:bodyPr>
          <a:lstStyle/>
          <a:p>
            <a:r>
              <a:rPr lang="en-US" dirty="0"/>
              <a:t>Though a </a:t>
            </a:r>
            <a:r>
              <a:rPr lang="en-US" dirty="0" err="1"/>
              <a:t>scattergraph</a:t>
            </a:r>
            <a:r>
              <a:rPr lang="en-US" dirty="0"/>
              <a:t>, and accompanying </a:t>
            </a:r>
            <a:r>
              <a:rPr lang="en-US" i="1" dirty="0"/>
              <a:t>r</a:t>
            </a:r>
            <a:r>
              <a:rPr lang="en-US" dirty="0"/>
              <a:t> value, suggest a correlation between these two variables, we cannot assume that the changes in one variable </a:t>
            </a:r>
            <a:r>
              <a:rPr lang="en-US" b="1" dirty="0"/>
              <a:t>cause</a:t>
            </a:r>
            <a:r>
              <a:rPr lang="en-US" dirty="0"/>
              <a:t> the changes in another value.</a:t>
            </a:r>
          </a:p>
          <a:p>
            <a:endParaRPr lang="en-US" dirty="0"/>
          </a:p>
          <a:p>
            <a:r>
              <a:rPr lang="en-US" dirty="0"/>
              <a:t>There may be other variables, called </a:t>
            </a:r>
            <a:r>
              <a:rPr lang="en-US" i="1" dirty="0"/>
              <a:t>lurking</a:t>
            </a:r>
            <a:r>
              <a:rPr lang="en-US" dirty="0"/>
              <a:t> or </a:t>
            </a:r>
            <a:r>
              <a:rPr lang="en-US" i="1" dirty="0"/>
              <a:t>confounding</a:t>
            </a:r>
            <a:r>
              <a:rPr lang="en-US" dirty="0"/>
              <a:t> variables that each of our two variables could have a common response to. An example in tis case could be the affluence of the society in question.</a:t>
            </a:r>
          </a:p>
        </p:txBody>
      </p:sp>
      <p:pic>
        <p:nvPicPr>
          <p:cNvPr id="9" name="Picture 8" descr="A screenshot of a cell phone&#10;&#10;Description automatically generated">
            <a:extLst>
              <a:ext uri="{FF2B5EF4-FFF2-40B4-BE49-F238E27FC236}">
                <a16:creationId xmlns:a16="http://schemas.microsoft.com/office/drawing/2014/main" id="{DB6B19D2-6483-5141-B951-93F84FF05A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9856" y="4411036"/>
            <a:ext cx="7164288" cy="1066742"/>
          </a:xfrm>
          <a:prstGeom prst="rect">
            <a:avLst/>
          </a:prstGeom>
        </p:spPr>
      </p:pic>
      <p:pic>
        <p:nvPicPr>
          <p:cNvPr id="11" name="Picture 10" descr="A picture containing bird&#10;&#10;Description automatically generated">
            <a:extLst>
              <a:ext uri="{FF2B5EF4-FFF2-40B4-BE49-F238E27FC236}">
                <a16:creationId xmlns:a16="http://schemas.microsoft.com/office/drawing/2014/main" id="{059D24D3-6593-324D-8CF0-259394B628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658277"/>
            <a:ext cx="9144000" cy="1228299"/>
          </a:xfrm>
          <a:prstGeom prst="rect">
            <a:avLst/>
          </a:prstGeom>
        </p:spPr>
      </p:pic>
    </p:spTree>
    <p:extLst>
      <p:ext uri="{BB962C8B-B14F-4D97-AF65-F5344CB8AC3E}">
        <p14:creationId xmlns:p14="http://schemas.microsoft.com/office/powerpoint/2010/main" val="2880024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dissolv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checkerboard(across)">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social media post&#10;&#10;Description automatically generated">
            <a:extLst>
              <a:ext uri="{FF2B5EF4-FFF2-40B4-BE49-F238E27FC236}">
                <a16:creationId xmlns:a16="http://schemas.microsoft.com/office/drawing/2014/main" id="{27A64F91-05FF-094B-B380-06DC8EA27A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52" y="1340768"/>
            <a:ext cx="9144000" cy="2279805"/>
          </a:xfrm>
          <a:prstGeom prst="rect">
            <a:avLst/>
          </a:prstGeom>
        </p:spPr>
      </p:pic>
      <p:sp>
        <p:nvSpPr>
          <p:cNvPr id="3" name="TextBox 2">
            <a:extLst>
              <a:ext uri="{FF2B5EF4-FFF2-40B4-BE49-F238E27FC236}">
                <a16:creationId xmlns:a16="http://schemas.microsoft.com/office/drawing/2014/main" id="{6150A7E6-E7DF-B240-9406-2B6221BBB98F}"/>
              </a:ext>
            </a:extLst>
          </p:cNvPr>
          <p:cNvSpPr txBox="1"/>
          <p:nvPr/>
        </p:nvSpPr>
        <p:spPr>
          <a:xfrm>
            <a:off x="171389" y="260648"/>
            <a:ext cx="8801221" cy="1785104"/>
          </a:xfrm>
          <a:prstGeom prst="rect">
            <a:avLst/>
          </a:prstGeom>
          <a:noFill/>
        </p:spPr>
        <p:txBody>
          <a:bodyPr wrap="square" rtlCol="0">
            <a:spAutoFit/>
          </a:bodyPr>
          <a:lstStyle/>
          <a:p>
            <a:r>
              <a:rPr lang="en-US" sz="2800" dirty="0"/>
              <a:t>Pearson’s Correlation Coefficient and the line of best fit</a:t>
            </a:r>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961959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1795</TotalTime>
  <Words>709</Words>
  <Application>Microsoft Macintosh PowerPoint</Application>
  <PresentationFormat>On-screen Show (4:3)</PresentationFormat>
  <Paragraphs>46</Paragraphs>
  <Slides>13</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8" baseType="lpstr">
      <vt:lpstr>Arial</vt:lpstr>
      <vt:lpstr>Calibri</vt:lpstr>
      <vt:lpstr>Cambria Math</vt:lpstr>
      <vt:lpstr>Default Design</vt:lpstr>
      <vt:lpstr>FXDraw3.Document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Rob Mac</dc:creator>
  <cp:lastModifiedBy>SUMMERS Brad [Baldivis Secondary College]</cp:lastModifiedBy>
  <cp:revision>45</cp:revision>
  <cp:lastPrinted>2020-02-11T04:03:59Z</cp:lastPrinted>
  <dcterms:created xsi:type="dcterms:W3CDTF">2011-05-19T06:05:27Z</dcterms:created>
  <dcterms:modified xsi:type="dcterms:W3CDTF">2020-02-17T00:24:28Z</dcterms:modified>
</cp:coreProperties>
</file>
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  <p:sldId id="270" r:id="rId14"/>
    <p:sldId id="268" r:id="rId15"/>
    <p:sldId id="269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757743-533A-48BD-8DEF-B2914B43C18E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A13D37-7BAD-47C1-924F-203EEBBA3F74}">
      <dgm:prSet phldrT="[Text]"/>
      <dgm:spPr/>
      <dgm:t>
        <a:bodyPr/>
        <a:lstStyle/>
        <a:p>
          <a:r>
            <a:rPr lang="en-US" dirty="0" smtClean="0"/>
            <a:t>No loops</a:t>
          </a:r>
          <a:endParaRPr lang="en-US" dirty="0"/>
        </a:p>
      </dgm:t>
    </dgm:pt>
    <dgm:pt modelId="{925B0449-2643-4FFA-A47B-DEF651AD71AE}" type="parTrans" cxnId="{29E59E2B-D856-4CA5-A049-5CBD24A10788}">
      <dgm:prSet/>
      <dgm:spPr/>
      <dgm:t>
        <a:bodyPr/>
        <a:lstStyle/>
        <a:p>
          <a:endParaRPr lang="en-US"/>
        </a:p>
      </dgm:t>
    </dgm:pt>
    <dgm:pt modelId="{F89A8B45-9880-4AF2-AD9F-98428E155053}" type="sibTrans" cxnId="{29E59E2B-D856-4CA5-A049-5CBD24A10788}">
      <dgm:prSet/>
      <dgm:spPr/>
      <dgm:t>
        <a:bodyPr/>
        <a:lstStyle/>
        <a:p>
          <a:endParaRPr lang="en-US"/>
        </a:p>
      </dgm:t>
    </dgm:pt>
    <dgm:pt modelId="{AE2ADEEA-D38D-4432-BA86-FCDA8A1969B8}">
      <dgm:prSet phldrT="[Text]"/>
      <dgm:spPr/>
      <dgm:t>
        <a:bodyPr/>
        <a:lstStyle/>
        <a:p>
          <a:r>
            <a:rPr lang="en-US" dirty="0" smtClean="0"/>
            <a:t>No multiple edges</a:t>
          </a:r>
          <a:endParaRPr lang="en-US" dirty="0"/>
        </a:p>
      </dgm:t>
    </dgm:pt>
    <dgm:pt modelId="{E8DA43D4-6700-40C0-8440-AA94A151A220}" type="parTrans" cxnId="{FA44F73B-8C6C-421A-8D33-63F26369CF18}">
      <dgm:prSet/>
      <dgm:spPr/>
      <dgm:t>
        <a:bodyPr/>
        <a:lstStyle/>
        <a:p>
          <a:endParaRPr lang="en-US"/>
        </a:p>
      </dgm:t>
    </dgm:pt>
    <dgm:pt modelId="{F86AA8B3-C0A0-4C57-A76E-0CE8C55A71DC}" type="sibTrans" cxnId="{FA44F73B-8C6C-421A-8D33-63F26369CF18}">
      <dgm:prSet/>
      <dgm:spPr/>
      <dgm:t>
        <a:bodyPr/>
        <a:lstStyle/>
        <a:p>
          <a:endParaRPr lang="en-US"/>
        </a:p>
      </dgm:t>
    </dgm:pt>
    <dgm:pt modelId="{03F18BDB-7B69-4A2F-9451-859C100EBD08}">
      <dgm:prSet phldrT="[Text]"/>
      <dgm:spPr/>
      <dgm:t>
        <a:bodyPr/>
        <a:lstStyle/>
        <a:p>
          <a:r>
            <a:rPr lang="en-US" dirty="0" smtClean="0"/>
            <a:t>Unweighted</a:t>
          </a:r>
          <a:endParaRPr lang="en-US" dirty="0"/>
        </a:p>
      </dgm:t>
    </dgm:pt>
    <dgm:pt modelId="{F6702616-530A-44FC-9CD7-79A5AC4A672A}" type="parTrans" cxnId="{FCF560B2-6A9E-482F-9549-6D69306C9B0B}">
      <dgm:prSet/>
      <dgm:spPr/>
      <dgm:t>
        <a:bodyPr/>
        <a:lstStyle/>
        <a:p>
          <a:endParaRPr lang="en-US"/>
        </a:p>
      </dgm:t>
    </dgm:pt>
    <dgm:pt modelId="{1DDD0AAD-51B0-4BE9-8DE8-D83EE88C7D33}" type="sibTrans" cxnId="{FCF560B2-6A9E-482F-9549-6D69306C9B0B}">
      <dgm:prSet/>
      <dgm:spPr/>
      <dgm:t>
        <a:bodyPr/>
        <a:lstStyle/>
        <a:p>
          <a:endParaRPr lang="en-US"/>
        </a:p>
      </dgm:t>
    </dgm:pt>
    <dgm:pt modelId="{9A381B99-DD4D-4C84-B471-057A1154505A}">
      <dgm:prSet phldrT="[Text]"/>
      <dgm:spPr/>
      <dgm:t>
        <a:bodyPr/>
        <a:lstStyle/>
        <a:p>
          <a:r>
            <a:rPr lang="en-US" dirty="0" smtClean="0"/>
            <a:t>Undirected</a:t>
          </a:r>
          <a:endParaRPr lang="en-US" dirty="0"/>
        </a:p>
      </dgm:t>
    </dgm:pt>
    <dgm:pt modelId="{080C6DCA-6D4B-4D5D-B551-387E132FCC6F}" type="parTrans" cxnId="{2A0D13D6-4B75-452B-91DB-4F841D1A0ED3}">
      <dgm:prSet/>
      <dgm:spPr/>
      <dgm:t>
        <a:bodyPr/>
        <a:lstStyle/>
        <a:p>
          <a:endParaRPr lang="en-US"/>
        </a:p>
      </dgm:t>
    </dgm:pt>
    <dgm:pt modelId="{5FC6E77E-BDE8-46CF-BF41-DF303D9F9B91}" type="sibTrans" cxnId="{2A0D13D6-4B75-452B-91DB-4F841D1A0ED3}">
      <dgm:prSet/>
      <dgm:spPr/>
      <dgm:t>
        <a:bodyPr/>
        <a:lstStyle/>
        <a:p>
          <a:endParaRPr lang="en-US"/>
        </a:p>
      </dgm:t>
    </dgm:pt>
    <dgm:pt modelId="{0DE4129E-B770-4F60-9B8B-890123F50C4B}" type="pres">
      <dgm:prSet presAssocID="{AC757743-533A-48BD-8DEF-B2914B43C18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F3B9F57-EAD1-4DDC-870C-F033A5A9BA57}" type="pres">
      <dgm:prSet presAssocID="{9BA13D37-7BAD-47C1-924F-203EEBBA3F74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D67FF6-607C-4341-BCDF-A77199AC93EF}" type="pres">
      <dgm:prSet presAssocID="{F89A8B45-9880-4AF2-AD9F-98428E155053}" presName="sibTrans" presStyleCnt="0"/>
      <dgm:spPr/>
    </dgm:pt>
    <dgm:pt modelId="{D4C7860C-DA07-477B-AA9B-19E9D96560AE}" type="pres">
      <dgm:prSet presAssocID="{AE2ADEEA-D38D-4432-BA86-FCDA8A1969B8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6595CA-E3D8-42DB-8BFF-AC294694778D}" type="pres">
      <dgm:prSet presAssocID="{F86AA8B3-C0A0-4C57-A76E-0CE8C55A71DC}" presName="sibTrans" presStyleCnt="0"/>
      <dgm:spPr/>
    </dgm:pt>
    <dgm:pt modelId="{F55250B1-F75F-486A-A39C-BCC54159F1A0}" type="pres">
      <dgm:prSet presAssocID="{03F18BDB-7B69-4A2F-9451-859C100EBD08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15CC0E-ABDE-4B35-9FE5-95750BC502A3}" type="pres">
      <dgm:prSet presAssocID="{1DDD0AAD-51B0-4BE9-8DE8-D83EE88C7D33}" presName="sibTrans" presStyleCnt="0"/>
      <dgm:spPr/>
    </dgm:pt>
    <dgm:pt modelId="{7AD7F9AD-65C5-437D-9B0C-D0295D6AC961}" type="pres">
      <dgm:prSet presAssocID="{9A381B99-DD4D-4C84-B471-057A1154505A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B6D4254-D3C0-40C9-B9EF-8FF4471267B2}" type="presOf" srcId="{AC757743-533A-48BD-8DEF-B2914B43C18E}" destId="{0DE4129E-B770-4F60-9B8B-890123F50C4B}" srcOrd="0" destOrd="0" presId="urn:microsoft.com/office/officeart/2005/8/layout/default"/>
    <dgm:cxn modelId="{3EC70310-143C-4DD5-869F-35483C312745}" type="presOf" srcId="{03F18BDB-7B69-4A2F-9451-859C100EBD08}" destId="{F55250B1-F75F-486A-A39C-BCC54159F1A0}" srcOrd="0" destOrd="0" presId="urn:microsoft.com/office/officeart/2005/8/layout/default"/>
    <dgm:cxn modelId="{29E59E2B-D856-4CA5-A049-5CBD24A10788}" srcId="{AC757743-533A-48BD-8DEF-B2914B43C18E}" destId="{9BA13D37-7BAD-47C1-924F-203EEBBA3F74}" srcOrd="0" destOrd="0" parTransId="{925B0449-2643-4FFA-A47B-DEF651AD71AE}" sibTransId="{F89A8B45-9880-4AF2-AD9F-98428E155053}"/>
    <dgm:cxn modelId="{2A0D13D6-4B75-452B-91DB-4F841D1A0ED3}" srcId="{AC757743-533A-48BD-8DEF-B2914B43C18E}" destId="{9A381B99-DD4D-4C84-B471-057A1154505A}" srcOrd="3" destOrd="0" parTransId="{080C6DCA-6D4B-4D5D-B551-387E132FCC6F}" sibTransId="{5FC6E77E-BDE8-46CF-BF41-DF303D9F9B91}"/>
    <dgm:cxn modelId="{FCF560B2-6A9E-482F-9549-6D69306C9B0B}" srcId="{AC757743-533A-48BD-8DEF-B2914B43C18E}" destId="{03F18BDB-7B69-4A2F-9451-859C100EBD08}" srcOrd="2" destOrd="0" parTransId="{F6702616-530A-44FC-9CD7-79A5AC4A672A}" sibTransId="{1DDD0AAD-51B0-4BE9-8DE8-D83EE88C7D33}"/>
    <dgm:cxn modelId="{7107EE2E-C40C-49BC-976E-3C95169339D8}" type="presOf" srcId="{AE2ADEEA-D38D-4432-BA86-FCDA8A1969B8}" destId="{D4C7860C-DA07-477B-AA9B-19E9D96560AE}" srcOrd="0" destOrd="0" presId="urn:microsoft.com/office/officeart/2005/8/layout/default"/>
    <dgm:cxn modelId="{FA44F73B-8C6C-421A-8D33-63F26369CF18}" srcId="{AC757743-533A-48BD-8DEF-B2914B43C18E}" destId="{AE2ADEEA-D38D-4432-BA86-FCDA8A1969B8}" srcOrd="1" destOrd="0" parTransId="{E8DA43D4-6700-40C0-8440-AA94A151A220}" sibTransId="{F86AA8B3-C0A0-4C57-A76E-0CE8C55A71DC}"/>
    <dgm:cxn modelId="{A698CC2B-D528-4915-A825-C86BDF3D7F81}" type="presOf" srcId="{9A381B99-DD4D-4C84-B471-057A1154505A}" destId="{7AD7F9AD-65C5-437D-9B0C-D0295D6AC961}" srcOrd="0" destOrd="0" presId="urn:microsoft.com/office/officeart/2005/8/layout/default"/>
    <dgm:cxn modelId="{898E8B9F-3A62-4A19-819F-31C41B161FDD}" type="presOf" srcId="{9BA13D37-7BAD-47C1-924F-203EEBBA3F74}" destId="{FF3B9F57-EAD1-4DDC-870C-F033A5A9BA57}" srcOrd="0" destOrd="0" presId="urn:microsoft.com/office/officeart/2005/8/layout/default"/>
    <dgm:cxn modelId="{ABEC11DF-A6AA-43F5-8783-2D678280CA81}" type="presParOf" srcId="{0DE4129E-B770-4F60-9B8B-890123F50C4B}" destId="{FF3B9F57-EAD1-4DDC-870C-F033A5A9BA57}" srcOrd="0" destOrd="0" presId="urn:microsoft.com/office/officeart/2005/8/layout/default"/>
    <dgm:cxn modelId="{C19B1FE5-CD75-407F-94FD-24C9693BF7EC}" type="presParOf" srcId="{0DE4129E-B770-4F60-9B8B-890123F50C4B}" destId="{EDD67FF6-607C-4341-BCDF-A77199AC93EF}" srcOrd="1" destOrd="0" presId="urn:microsoft.com/office/officeart/2005/8/layout/default"/>
    <dgm:cxn modelId="{4ACA6143-1E37-4EA0-B60D-2AB7F741CFEB}" type="presParOf" srcId="{0DE4129E-B770-4F60-9B8B-890123F50C4B}" destId="{D4C7860C-DA07-477B-AA9B-19E9D96560AE}" srcOrd="2" destOrd="0" presId="urn:microsoft.com/office/officeart/2005/8/layout/default"/>
    <dgm:cxn modelId="{B2FBA24E-3251-4F66-A170-4C9B3D5ED469}" type="presParOf" srcId="{0DE4129E-B770-4F60-9B8B-890123F50C4B}" destId="{736595CA-E3D8-42DB-8BFF-AC294694778D}" srcOrd="3" destOrd="0" presId="urn:microsoft.com/office/officeart/2005/8/layout/default"/>
    <dgm:cxn modelId="{EC10C567-4C08-4787-9A85-A1556B33B8F5}" type="presParOf" srcId="{0DE4129E-B770-4F60-9B8B-890123F50C4B}" destId="{F55250B1-F75F-486A-A39C-BCC54159F1A0}" srcOrd="4" destOrd="0" presId="urn:microsoft.com/office/officeart/2005/8/layout/default"/>
    <dgm:cxn modelId="{7A3A8E88-5CAF-48FA-8213-695AD6245943}" type="presParOf" srcId="{0DE4129E-B770-4F60-9B8B-890123F50C4B}" destId="{6C15CC0E-ABDE-4B35-9FE5-95750BC502A3}" srcOrd="5" destOrd="0" presId="urn:microsoft.com/office/officeart/2005/8/layout/default"/>
    <dgm:cxn modelId="{37D37CC1-34D4-4EC6-87EA-FD04A1DAF3E0}" type="presParOf" srcId="{0DE4129E-B770-4F60-9B8B-890123F50C4B}" destId="{7AD7F9AD-65C5-437D-9B0C-D0295D6AC961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DF770D-B715-47A1-893B-42C3B53444BD}" type="doc">
      <dgm:prSet loTypeId="urn:diagrams.loki3.com/VaryingWidthList" loCatId="list" qsTypeId="urn:microsoft.com/office/officeart/2005/8/quickstyle/simple1" qsCatId="simple" csTypeId="urn:microsoft.com/office/officeart/2005/8/colors/accent1_2" csCatId="accent1" phldr="1"/>
      <dgm:spPr/>
    </dgm:pt>
    <dgm:pt modelId="{F56DB915-B1FE-431C-99BB-8EC9D6A60EE2}">
      <dgm:prSet phldrT="[Text]"/>
      <dgm:spPr/>
      <dgm:t>
        <a:bodyPr/>
        <a:lstStyle/>
        <a:p>
          <a:r>
            <a:rPr lang="en-US" dirty="0" smtClean="0"/>
            <a:t>9 edges</a:t>
          </a:r>
          <a:endParaRPr lang="en-US" dirty="0"/>
        </a:p>
      </dgm:t>
    </dgm:pt>
    <dgm:pt modelId="{1EDCB3DB-5C8F-4B64-A70A-78C5E6E9DE63}" type="parTrans" cxnId="{C7ADFA5D-0281-4C70-B31F-D5564DF28199}">
      <dgm:prSet/>
      <dgm:spPr/>
      <dgm:t>
        <a:bodyPr/>
        <a:lstStyle/>
        <a:p>
          <a:endParaRPr lang="en-US"/>
        </a:p>
      </dgm:t>
    </dgm:pt>
    <dgm:pt modelId="{D933D329-1CDB-48FA-B1D8-88620DCA5E7F}" type="sibTrans" cxnId="{C7ADFA5D-0281-4C70-B31F-D5564DF28199}">
      <dgm:prSet/>
      <dgm:spPr/>
      <dgm:t>
        <a:bodyPr/>
        <a:lstStyle/>
        <a:p>
          <a:endParaRPr lang="en-US"/>
        </a:p>
      </dgm:t>
    </dgm:pt>
    <dgm:pt modelId="{1F8E388F-C18C-4A3F-AF62-C11408B9A959}">
      <dgm:prSet phldrT="[Text]"/>
      <dgm:spPr/>
      <dgm:t>
        <a:bodyPr/>
        <a:lstStyle/>
        <a:p>
          <a:r>
            <a:rPr lang="en-US" dirty="0" smtClean="0"/>
            <a:t>6 vertices</a:t>
          </a:r>
          <a:endParaRPr lang="en-US" dirty="0"/>
        </a:p>
      </dgm:t>
    </dgm:pt>
    <dgm:pt modelId="{3BE0096C-DF8E-4A7A-A8FE-4C0941B253F8}" type="parTrans" cxnId="{143FCDE3-81C3-4A42-9F94-4A10714BA56A}">
      <dgm:prSet/>
      <dgm:spPr/>
      <dgm:t>
        <a:bodyPr/>
        <a:lstStyle/>
        <a:p>
          <a:endParaRPr lang="en-US"/>
        </a:p>
      </dgm:t>
    </dgm:pt>
    <dgm:pt modelId="{B12FAE48-F29D-480B-9906-FBAA8FA4C529}" type="sibTrans" cxnId="{143FCDE3-81C3-4A42-9F94-4A10714BA56A}">
      <dgm:prSet/>
      <dgm:spPr/>
      <dgm:t>
        <a:bodyPr/>
        <a:lstStyle/>
        <a:p>
          <a:endParaRPr lang="en-US"/>
        </a:p>
      </dgm:t>
    </dgm:pt>
    <dgm:pt modelId="{2F1D53F0-D811-4FF7-9F2D-EE85EFD6193A}">
      <dgm:prSet phldrT="[Text]"/>
      <dgm:spPr/>
      <dgm:t>
        <a:bodyPr/>
        <a:lstStyle/>
        <a:p>
          <a:r>
            <a:rPr lang="en-US" dirty="0" smtClean="0"/>
            <a:t>5 faces</a:t>
          </a:r>
          <a:endParaRPr lang="en-US" dirty="0"/>
        </a:p>
      </dgm:t>
    </dgm:pt>
    <dgm:pt modelId="{306936F2-9496-40D3-8781-7EE8F4985255}" type="parTrans" cxnId="{173D2521-5307-441E-8E3C-1BD806A084DF}">
      <dgm:prSet/>
      <dgm:spPr/>
      <dgm:t>
        <a:bodyPr/>
        <a:lstStyle/>
        <a:p>
          <a:endParaRPr lang="en-US"/>
        </a:p>
      </dgm:t>
    </dgm:pt>
    <dgm:pt modelId="{8BD9D053-EA3C-4C65-8066-C3196362A772}" type="sibTrans" cxnId="{173D2521-5307-441E-8E3C-1BD806A084DF}">
      <dgm:prSet/>
      <dgm:spPr/>
      <dgm:t>
        <a:bodyPr/>
        <a:lstStyle/>
        <a:p>
          <a:endParaRPr lang="en-US"/>
        </a:p>
      </dgm:t>
    </dgm:pt>
    <dgm:pt modelId="{A24589A2-2681-41D0-85CE-E8037C5F84ED}" type="pres">
      <dgm:prSet presAssocID="{3DDF770D-B715-47A1-893B-42C3B53444BD}" presName="Name0" presStyleCnt="0">
        <dgm:presLayoutVars>
          <dgm:resizeHandles/>
        </dgm:presLayoutVars>
      </dgm:prSet>
      <dgm:spPr/>
    </dgm:pt>
    <dgm:pt modelId="{555F6655-28B1-464F-A28F-33B5FA31FDA1}" type="pres">
      <dgm:prSet presAssocID="{F56DB915-B1FE-431C-99BB-8EC9D6A60EE2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B41174-40FB-4DEA-912D-51A34F535384}" type="pres">
      <dgm:prSet presAssocID="{D933D329-1CDB-48FA-B1D8-88620DCA5E7F}" presName="space" presStyleCnt="0"/>
      <dgm:spPr/>
    </dgm:pt>
    <dgm:pt modelId="{56D6982C-8C2D-43F7-A06D-5042B89669ED}" type="pres">
      <dgm:prSet presAssocID="{1F8E388F-C18C-4A3F-AF62-C11408B9A959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7D4A6F-144C-4089-8247-D3C7D35E5224}" type="pres">
      <dgm:prSet presAssocID="{B12FAE48-F29D-480B-9906-FBAA8FA4C529}" presName="space" presStyleCnt="0"/>
      <dgm:spPr/>
    </dgm:pt>
    <dgm:pt modelId="{613EF15F-4498-43F6-8497-8FA036D0A2F4}" type="pres">
      <dgm:prSet presAssocID="{2F1D53F0-D811-4FF7-9F2D-EE85EFD6193A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73D2521-5307-441E-8E3C-1BD806A084DF}" srcId="{3DDF770D-B715-47A1-893B-42C3B53444BD}" destId="{2F1D53F0-D811-4FF7-9F2D-EE85EFD6193A}" srcOrd="2" destOrd="0" parTransId="{306936F2-9496-40D3-8781-7EE8F4985255}" sibTransId="{8BD9D053-EA3C-4C65-8066-C3196362A772}"/>
    <dgm:cxn modelId="{09B399B1-6EBA-4AF4-9E71-80D03FAB0565}" type="presOf" srcId="{1F8E388F-C18C-4A3F-AF62-C11408B9A959}" destId="{56D6982C-8C2D-43F7-A06D-5042B89669ED}" srcOrd="0" destOrd="0" presId="urn:diagrams.loki3.com/VaryingWidthList"/>
    <dgm:cxn modelId="{457B29C7-25DC-4721-B859-951450B074D5}" type="presOf" srcId="{2F1D53F0-D811-4FF7-9F2D-EE85EFD6193A}" destId="{613EF15F-4498-43F6-8497-8FA036D0A2F4}" srcOrd="0" destOrd="0" presId="urn:diagrams.loki3.com/VaryingWidthList"/>
    <dgm:cxn modelId="{C7ADFA5D-0281-4C70-B31F-D5564DF28199}" srcId="{3DDF770D-B715-47A1-893B-42C3B53444BD}" destId="{F56DB915-B1FE-431C-99BB-8EC9D6A60EE2}" srcOrd="0" destOrd="0" parTransId="{1EDCB3DB-5C8F-4B64-A70A-78C5E6E9DE63}" sibTransId="{D933D329-1CDB-48FA-B1D8-88620DCA5E7F}"/>
    <dgm:cxn modelId="{AEE80188-FDFC-4D83-8E33-CBA4108A147F}" type="presOf" srcId="{3DDF770D-B715-47A1-893B-42C3B53444BD}" destId="{A24589A2-2681-41D0-85CE-E8037C5F84ED}" srcOrd="0" destOrd="0" presId="urn:diagrams.loki3.com/VaryingWidthList"/>
    <dgm:cxn modelId="{143FCDE3-81C3-4A42-9F94-4A10714BA56A}" srcId="{3DDF770D-B715-47A1-893B-42C3B53444BD}" destId="{1F8E388F-C18C-4A3F-AF62-C11408B9A959}" srcOrd="1" destOrd="0" parTransId="{3BE0096C-DF8E-4A7A-A8FE-4C0941B253F8}" sibTransId="{B12FAE48-F29D-480B-9906-FBAA8FA4C529}"/>
    <dgm:cxn modelId="{2CEF584B-D76C-4FD9-9090-67C0D51E6B13}" type="presOf" srcId="{F56DB915-B1FE-431C-99BB-8EC9D6A60EE2}" destId="{555F6655-28B1-464F-A28F-33B5FA31FDA1}" srcOrd="0" destOrd="0" presId="urn:diagrams.loki3.com/VaryingWidthList"/>
    <dgm:cxn modelId="{894E36F8-CF6D-48AC-95E9-B417752C7CB7}" type="presParOf" srcId="{A24589A2-2681-41D0-85CE-E8037C5F84ED}" destId="{555F6655-28B1-464F-A28F-33B5FA31FDA1}" srcOrd="0" destOrd="0" presId="urn:diagrams.loki3.com/VaryingWidthList"/>
    <dgm:cxn modelId="{FFEB8DFF-7CE4-4B92-AAB5-EE3D63E16377}" type="presParOf" srcId="{A24589A2-2681-41D0-85CE-E8037C5F84ED}" destId="{3EB41174-40FB-4DEA-912D-51A34F535384}" srcOrd="1" destOrd="0" presId="urn:diagrams.loki3.com/VaryingWidthList"/>
    <dgm:cxn modelId="{679B3A48-480C-44DD-A558-ECDD450724C2}" type="presParOf" srcId="{A24589A2-2681-41D0-85CE-E8037C5F84ED}" destId="{56D6982C-8C2D-43F7-A06D-5042B89669ED}" srcOrd="2" destOrd="0" presId="urn:diagrams.loki3.com/VaryingWidthList"/>
    <dgm:cxn modelId="{6CDCB671-BF10-42C6-9045-252B1317E7D3}" type="presParOf" srcId="{A24589A2-2681-41D0-85CE-E8037C5F84ED}" destId="{D67D4A6F-144C-4089-8247-D3C7D35E5224}" srcOrd="3" destOrd="0" presId="urn:diagrams.loki3.com/VaryingWidthList"/>
    <dgm:cxn modelId="{08D34B67-F736-4D8A-9EF5-6BDD3CB8BDF6}" type="presParOf" srcId="{A24589A2-2681-41D0-85CE-E8037C5F84ED}" destId="{613EF15F-4498-43F6-8497-8FA036D0A2F4}" srcOrd="4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3B9F57-EAD1-4DDC-870C-F033A5A9BA57}">
      <dsp:nvSpPr>
        <dsp:cNvPr id="0" name=""/>
        <dsp:cNvSpPr/>
      </dsp:nvSpPr>
      <dsp:spPr>
        <a:xfrm>
          <a:off x="1140704" y="722"/>
          <a:ext cx="2454220" cy="14725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algn="ctr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No loops</a:t>
          </a:r>
          <a:endParaRPr lang="en-US" sz="3500" kern="1200" dirty="0"/>
        </a:p>
      </dsp:txBody>
      <dsp:txXfrm>
        <a:off x="1140704" y="722"/>
        <a:ext cx="2454220" cy="1472532"/>
      </dsp:txXfrm>
    </dsp:sp>
    <dsp:sp modelId="{D4C7860C-DA07-477B-AA9B-19E9D96560AE}">
      <dsp:nvSpPr>
        <dsp:cNvPr id="0" name=""/>
        <dsp:cNvSpPr/>
      </dsp:nvSpPr>
      <dsp:spPr>
        <a:xfrm>
          <a:off x="3840347" y="722"/>
          <a:ext cx="2454220" cy="14725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algn="ctr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No multiple edges</a:t>
          </a:r>
          <a:endParaRPr lang="en-US" sz="3500" kern="1200" dirty="0"/>
        </a:p>
      </dsp:txBody>
      <dsp:txXfrm>
        <a:off x="3840347" y="722"/>
        <a:ext cx="2454220" cy="1472532"/>
      </dsp:txXfrm>
    </dsp:sp>
    <dsp:sp modelId="{F55250B1-F75F-486A-A39C-BCC54159F1A0}">
      <dsp:nvSpPr>
        <dsp:cNvPr id="0" name=""/>
        <dsp:cNvSpPr/>
      </dsp:nvSpPr>
      <dsp:spPr>
        <a:xfrm>
          <a:off x="1140704" y="1718677"/>
          <a:ext cx="2454220" cy="14725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algn="ctr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Unweighted</a:t>
          </a:r>
          <a:endParaRPr lang="en-US" sz="3500" kern="1200" dirty="0"/>
        </a:p>
      </dsp:txBody>
      <dsp:txXfrm>
        <a:off x="1140704" y="1718677"/>
        <a:ext cx="2454220" cy="1472532"/>
      </dsp:txXfrm>
    </dsp:sp>
    <dsp:sp modelId="{7AD7F9AD-65C5-437D-9B0C-D0295D6AC961}">
      <dsp:nvSpPr>
        <dsp:cNvPr id="0" name=""/>
        <dsp:cNvSpPr/>
      </dsp:nvSpPr>
      <dsp:spPr>
        <a:xfrm>
          <a:off x="3840347" y="1718677"/>
          <a:ext cx="2454220" cy="14725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algn="ctr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Undirected</a:t>
          </a:r>
          <a:endParaRPr lang="en-US" sz="3500" kern="1200" dirty="0"/>
        </a:p>
      </dsp:txBody>
      <dsp:txXfrm>
        <a:off x="3840347" y="1718677"/>
        <a:ext cx="2454220" cy="14725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5F6655-28B1-464F-A28F-33B5FA31FDA1}">
      <dsp:nvSpPr>
        <dsp:cNvPr id="0" name=""/>
        <dsp:cNvSpPr/>
      </dsp:nvSpPr>
      <dsp:spPr>
        <a:xfrm>
          <a:off x="429746" y="1747"/>
          <a:ext cx="2745000" cy="11536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480" tIns="157480" rIns="157480" bIns="157480" numCol="1" spcCol="1270" anchor="ctr" anchorCtr="0">
          <a:noAutofit/>
        </a:bodyPr>
        <a:lstStyle/>
        <a:p>
          <a:pPr lvl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200" kern="1200" dirty="0" smtClean="0"/>
            <a:t>9 edges</a:t>
          </a:r>
          <a:endParaRPr lang="en-US" sz="6200" kern="1200" dirty="0"/>
        </a:p>
      </dsp:txBody>
      <dsp:txXfrm>
        <a:off x="429746" y="1747"/>
        <a:ext cx="2745000" cy="1153666"/>
      </dsp:txXfrm>
    </dsp:sp>
    <dsp:sp modelId="{56D6982C-8C2D-43F7-A06D-5042B89669ED}">
      <dsp:nvSpPr>
        <dsp:cNvPr id="0" name=""/>
        <dsp:cNvSpPr/>
      </dsp:nvSpPr>
      <dsp:spPr>
        <a:xfrm>
          <a:off x="89225" y="1213097"/>
          <a:ext cx="3426041" cy="11536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480" tIns="157480" rIns="157480" bIns="157480" numCol="1" spcCol="1270" anchor="ctr" anchorCtr="0">
          <a:noAutofit/>
        </a:bodyPr>
        <a:lstStyle/>
        <a:p>
          <a:pPr lvl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200" kern="1200" dirty="0" smtClean="0"/>
            <a:t>6 vertices</a:t>
          </a:r>
          <a:endParaRPr lang="en-US" sz="6200" kern="1200" dirty="0"/>
        </a:p>
      </dsp:txBody>
      <dsp:txXfrm>
        <a:off x="89225" y="1213097"/>
        <a:ext cx="3426041" cy="1153666"/>
      </dsp:txXfrm>
    </dsp:sp>
    <dsp:sp modelId="{613EF15F-4498-43F6-8497-8FA036D0A2F4}">
      <dsp:nvSpPr>
        <dsp:cNvPr id="0" name=""/>
        <dsp:cNvSpPr/>
      </dsp:nvSpPr>
      <dsp:spPr>
        <a:xfrm>
          <a:off x="558419" y="2424446"/>
          <a:ext cx="2487653" cy="11536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480" tIns="157480" rIns="157480" bIns="157480" numCol="1" spcCol="1270" anchor="ctr" anchorCtr="0">
          <a:noAutofit/>
        </a:bodyPr>
        <a:lstStyle/>
        <a:p>
          <a:pPr lvl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200" kern="1200" dirty="0" smtClean="0"/>
            <a:t>5 faces</a:t>
          </a:r>
          <a:endParaRPr lang="en-US" sz="6200" kern="1200" dirty="0"/>
        </a:p>
      </dsp:txBody>
      <dsp:txXfrm>
        <a:off x="558419" y="2424446"/>
        <a:ext cx="2487653" cy="11536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5/8/2018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5/8/2018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Terminology tournament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Chapters 5&amp;6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8295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 rules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274619"/>
            <a:ext cx="10178322" cy="4950690"/>
          </a:xfrm>
        </p:spPr>
        <p:txBody>
          <a:bodyPr>
            <a:noAutofit/>
          </a:bodyPr>
          <a:lstStyle/>
          <a:p>
            <a:r>
              <a:rPr lang="en-AU" sz="2400" dirty="0" smtClean="0">
                <a:solidFill>
                  <a:schemeClr val="tx1"/>
                </a:solidFill>
              </a:rPr>
              <a:t>Arrange yourselves into 4 teams (as even as possible!)</a:t>
            </a:r>
          </a:p>
          <a:p>
            <a:r>
              <a:rPr lang="en-AU" sz="2400" dirty="0" smtClean="0">
                <a:solidFill>
                  <a:schemeClr val="tx1"/>
                </a:solidFill>
              </a:rPr>
              <a:t>You will have 5 minutes before the tournament starts to look back at your notes and revise the terminology from chapter 5 and 6.</a:t>
            </a:r>
          </a:p>
          <a:p>
            <a:r>
              <a:rPr lang="en-AU" sz="2400" dirty="0" smtClean="0">
                <a:solidFill>
                  <a:schemeClr val="tx1"/>
                </a:solidFill>
              </a:rPr>
              <a:t>During this time you can create a team cheat sheet</a:t>
            </a:r>
          </a:p>
          <a:p>
            <a:pPr lvl="1"/>
            <a:r>
              <a:rPr lang="en-AU" sz="2000" dirty="0" smtClean="0">
                <a:solidFill>
                  <a:schemeClr val="tx1"/>
                </a:solidFill>
              </a:rPr>
              <a:t>A4 size one sided</a:t>
            </a:r>
          </a:p>
          <a:p>
            <a:r>
              <a:rPr lang="en-AU" sz="2400" dirty="0" smtClean="0">
                <a:solidFill>
                  <a:schemeClr val="tx1"/>
                </a:solidFill>
              </a:rPr>
              <a:t>Each team will be given a buzzer and a small whiteboard (+marker)</a:t>
            </a:r>
          </a:p>
          <a:p>
            <a:r>
              <a:rPr lang="en-AU" sz="2400" dirty="0" smtClean="0">
                <a:solidFill>
                  <a:schemeClr val="tx1"/>
                </a:solidFill>
              </a:rPr>
              <a:t>A question will appear on the board, the first team to buzz in with the correct answer wins a point for their team</a:t>
            </a:r>
          </a:p>
          <a:p>
            <a:r>
              <a:rPr lang="en-AU" sz="2400" dirty="0" smtClean="0">
                <a:solidFill>
                  <a:schemeClr val="tx1"/>
                </a:solidFill>
              </a:rPr>
              <a:t>If you only have a partial answer other teams have the chance to steal your point</a:t>
            </a:r>
          </a:p>
          <a:p>
            <a:r>
              <a:rPr lang="en-AU" sz="2400" dirty="0" smtClean="0">
                <a:solidFill>
                  <a:schemeClr val="tx1"/>
                </a:solidFill>
              </a:rPr>
              <a:t>If the question requires a written answer or a proof you will need to write the answer on your team’s board BEFORE buzzing in</a:t>
            </a:r>
          </a:p>
        </p:txBody>
      </p:sp>
    </p:spTree>
    <p:extLst>
      <p:ext uri="{BB962C8B-B14F-4D97-AF65-F5344CB8AC3E}">
        <p14:creationId xmlns:p14="http://schemas.microsoft.com/office/powerpoint/2010/main" val="12362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1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8551" y="1667165"/>
            <a:ext cx="10178322" cy="3593591"/>
          </a:xfrm>
        </p:spPr>
        <p:txBody>
          <a:bodyPr>
            <a:normAutofit/>
          </a:bodyPr>
          <a:lstStyle/>
          <a:p>
            <a:r>
              <a:rPr lang="en-AU" sz="4000" dirty="0" smtClean="0"/>
              <a:t>Write an adjacency matrix for the following network:</a:t>
            </a:r>
          </a:p>
          <a:p>
            <a:endParaRPr lang="en-AU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262" y="3193374"/>
            <a:ext cx="4371975" cy="316340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738748"/>
              </p:ext>
            </p:extLst>
          </p:nvPr>
        </p:nvGraphicFramePr>
        <p:xfrm>
          <a:off x="7370618" y="3679338"/>
          <a:ext cx="3639125" cy="2191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27825">
                  <a:extLst>
                    <a:ext uri="{9D8B030D-6E8A-4147-A177-3AD203B41FA5}">
                      <a16:colId xmlns:a16="http://schemas.microsoft.com/office/drawing/2014/main" val="1581338820"/>
                    </a:ext>
                  </a:extLst>
                </a:gridCol>
                <a:gridCol w="727825">
                  <a:extLst>
                    <a:ext uri="{9D8B030D-6E8A-4147-A177-3AD203B41FA5}">
                      <a16:colId xmlns:a16="http://schemas.microsoft.com/office/drawing/2014/main" val="2689888700"/>
                    </a:ext>
                  </a:extLst>
                </a:gridCol>
                <a:gridCol w="727825">
                  <a:extLst>
                    <a:ext uri="{9D8B030D-6E8A-4147-A177-3AD203B41FA5}">
                      <a16:colId xmlns:a16="http://schemas.microsoft.com/office/drawing/2014/main" val="2993636674"/>
                    </a:ext>
                  </a:extLst>
                </a:gridCol>
                <a:gridCol w="727825">
                  <a:extLst>
                    <a:ext uri="{9D8B030D-6E8A-4147-A177-3AD203B41FA5}">
                      <a16:colId xmlns:a16="http://schemas.microsoft.com/office/drawing/2014/main" val="4190708492"/>
                    </a:ext>
                  </a:extLst>
                </a:gridCol>
                <a:gridCol w="727825">
                  <a:extLst>
                    <a:ext uri="{9D8B030D-6E8A-4147-A177-3AD203B41FA5}">
                      <a16:colId xmlns:a16="http://schemas.microsoft.com/office/drawing/2014/main" val="3735138015"/>
                    </a:ext>
                  </a:extLst>
                </a:gridCol>
              </a:tblGrid>
              <a:tr h="43829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B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D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R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257674"/>
                  </a:ext>
                </a:extLst>
              </a:tr>
              <a:tr h="438296">
                <a:tc>
                  <a:txBody>
                    <a:bodyPr/>
                    <a:lstStyle/>
                    <a:p>
                      <a:r>
                        <a:rPr lang="en-AU" b="1" dirty="0" smtClean="0"/>
                        <a:t>B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348091"/>
                  </a:ext>
                </a:extLst>
              </a:tr>
              <a:tr h="438296">
                <a:tc>
                  <a:txBody>
                    <a:bodyPr/>
                    <a:lstStyle/>
                    <a:p>
                      <a:r>
                        <a:rPr lang="en-AU" b="1" dirty="0" smtClean="0"/>
                        <a:t>D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544924"/>
                  </a:ext>
                </a:extLst>
              </a:tr>
              <a:tr h="438296">
                <a:tc>
                  <a:txBody>
                    <a:bodyPr/>
                    <a:lstStyle/>
                    <a:p>
                      <a:r>
                        <a:rPr lang="en-AU" b="1" dirty="0" smtClean="0"/>
                        <a:t>M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686037"/>
                  </a:ext>
                </a:extLst>
              </a:tr>
              <a:tr h="438296">
                <a:tc>
                  <a:txBody>
                    <a:bodyPr/>
                    <a:lstStyle/>
                    <a:p>
                      <a:r>
                        <a:rPr lang="en-AU" b="1" dirty="0" smtClean="0"/>
                        <a:t>R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527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15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2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Does this network have a bridge?</a:t>
            </a:r>
          </a:p>
          <a:p>
            <a:pPr lvl="1"/>
            <a:r>
              <a:rPr lang="en-AU" sz="2800" dirty="0" smtClean="0"/>
              <a:t>If so name the bridge</a:t>
            </a:r>
            <a:endParaRPr lang="en-AU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136" y="3803563"/>
            <a:ext cx="7843405" cy="235820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9522691" y="2286001"/>
            <a:ext cx="1237673" cy="11060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b="1" dirty="0" smtClean="0"/>
              <a:t>BC</a:t>
            </a:r>
            <a:endParaRPr lang="en-AU" sz="3600" b="1" dirty="0"/>
          </a:p>
        </p:txBody>
      </p:sp>
    </p:spTree>
    <p:extLst>
      <p:ext uri="{BB962C8B-B14F-4D97-AF65-F5344CB8AC3E}">
        <p14:creationId xmlns:p14="http://schemas.microsoft.com/office/powerpoint/2010/main" val="1936198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3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2286001"/>
            <a:ext cx="10178322" cy="808181"/>
          </a:xfrm>
        </p:spPr>
        <p:txBody>
          <a:bodyPr>
            <a:normAutofit/>
          </a:bodyPr>
          <a:lstStyle/>
          <a:p>
            <a:r>
              <a:rPr lang="en-AU" sz="4000" dirty="0" smtClean="0"/>
              <a:t>What is Euler’s Rule for networks?</a:t>
            </a:r>
            <a:endParaRPr lang="en-AU" sz="4000" dirty="0"/>
          </a:p>
        </p:txBody>
      </p:sp>
      <p:sp>
        <p:nvSpPr>
          <p:cNvPr id="4" name="Horizontal Scroll 3"/>
          <p:cNvSpPr/>
          <p:nvPr/>
        </p:nvSpPr>
        <p:spPr>
          <a:xfrm>
            <a:off x="3648364" y="3505666"/>
            <a:ext cx="5273964" cy="1939636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b="1" dirty="0" smtClean="0"/>
              <a:t>V + F = E + 2</a:t>
            </a:r>
            <a:endParaRPr lang="en-AU" sz="6000" b="1" dirty="0"/>
          </a:p>
        </p:txBody>
      </p:sp>
    </p:spTree>
    <p:extLst>
      <p:ext uri="{BB962C8B-B14F-4D97-AF65-F5344CB8AC3E}">
        <p14:creationId xmlns:p14="http://schemas.microsoft.com/office/powerpoint/2010/main" val="153408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4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620986"/>
            <a:ext cx="10178322" cy="1057563"/>
          </a:xfrm>
        </p:spPr>
        <p:txBody>
          <a:bodyPr>
            <a:normAutofit/>
          </a:bodyPr>
          <a:lstStyle/>
          <a:p>
            <a:r>
              <a:rPr lang="en-AU" sz="4000" dirty="0" smtClean="0"/>
              <a:t>Is this network traversable?</a:t>
            </a:r>
            <a:endParaRPr lang="en-AU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908" y="2771233"/>
            <a:ext cx="5520892" cy="3539368"/>
          </a:xfrm>
          <a:prstGeom prst="rect">
            <a:avLst/>
          </a:prstGeom>
        </p:spPr>
      </p:pic>
      <p:sp>
        <p:nvSpPr>
          <p:cNvPr id="5" name="5-Point Star 4"/>
          <p:cNvSpPr/>
          <p:nvPr/>
        </p:nvSpPr>
        <p:spPr>
          <a:xfrm rot="10800000" flipH="1" flipV="1">
            <a:off x="7924800" y="2895603"/>
            <a:ext cx="2946399" cy="273857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 smtClean="0"/>
              <a:t>Yes!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0501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5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2286002"/>
            <a:ext cx="10178322" cy="983672"/>
          </a:xfrm>
        </p:spPr>
        <p:txBody>
          <a:bodyPr>
            <a:normAutofit/>
          </a:bodyPr>
          <a:lstStyle/>
          <a:p>
            <a:r>
              <a:rPr lang="en-AU" sz="4000" dirty="0" smtClean="0"/>
              <a:t>What is a Bipartite network/graph?</a:t>
            </a:r>
            <a:endParaRPr lang="en-AU" sz="4000" dirty="0"/>
          </a:p>
        </p:txBody>
      </p:sp>
      <p:sp>
        <p:nvSpPr>
          <p:cNvPr id="4" name="Up Arrow Callout 3"/>
          <p:cNvSpPr/>
          <p:nvPr/>
        </p:nvSpPr>
        <p:spPr>
          <a:xfrm>
            <a:off x="2244512" y="3269674"/>
            <a:ext cx="8192654" cy="2807853"/>
          </a:xfrm>
          <a:prstGeom prst="upArrowCallout">
            <a:avLst>
              <a:gd name="adj1" fmla="val 25000"/>
              <a:gd name="adj2" fmla="val 25000"/>
              <a:gd name="adj3" fmla="val 19737"/>
              <a:gd name="adj4" fmla="val 505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smtClean="0"/>
              <a:t>A network that contains two groups of nodes/vertices. Nodes from difference groups are connect via edges but nodes within the same group are NOT connected by edges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9234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6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565566"/>
            <a:ext cx="10178322" cy="3593591"/>
          </a:xfrm>
        </p:spPr>
        <p:txBody>
          <a:bodyPr>
            <a:normAutofit/>
          </a:bodyPr>
          <a:lstStyle/>
          <a:p>
            <a:r>
              <a:rPr lang="en-AU" sz="3600" dirty="0" smtClean="0"/>
              <a:t>What is the length of this network?</a:t>
            </a:r>
            <a:endParaRPr lang="en-AU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473" y="3151784"/>
            <a:ext cx="5271799" cy="3413249"/>
          </a:xfrm>
          <a:prstGeom prst="rect">
            <a:avLst/>
          </a:prstGeom>
        </p:spPr>
      </p:pic>
      <p:sp>
        <p:nvSpPr>
          <p:cNvPr id="5" name="Folded Corner 4"/>
          <p:cNvSpPr/>
          <p:nvPr/>
        </p:nvSpPr>
        <p:spPr>
          <a:xfrm>
            <a:off x="8220364" y="3454399"/>
            <a:ext cx="2623127" cy="2493819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7200" dirty="0" smtClean="0"/>
              <a:t>12</a:t>
            </a:r>
            <a:endParaRPr lang="en-AU" sz="7200" dirty="0"/>
          </a:p>
        </p:txBody>
      </p:sp>
    </p:spTree>
    <p:extLst>
      <p:ext uri="{BB962C8B-B14F-4D97-AF65-F5344CB8AC3E}">
        <p14:creationId xmlns:p14="http://schemas.microsoft.com/office/powerpoint/2010/main" val="107904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7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2286002"/>
            <a:ext cx="10178322" cy="1704108"/>
          </a:xfrm>
        </p:spPr>
        <p:txBody>
          <a:bodyPr>
            <a:normAutofit/>
          </a:bodyPr>
          <a:lstStyle/>
          <a:p>
            <a:r>
              <a:rPr lang="en-AU" sz="3600" dirty="0" smtClean="0"/>
              <a:t>What is the difference between a closed network and an open network?</a:t>
            </a:r>
            <a:endParaRPr lang="en-AU" sz="3600" dirty="0"/>
          </a:p>
        </p:txBody>
      </p:sp>
      <p:sp>
        <p:nvSpPr>
          <p:cNvPr id="4" name="Hexagon 3"/>
          <p:cNvSpPr/>
          <p:nvPr/>
        </p:nvSpPr>
        <p:spPr>
          <a:xfrm>
            <a:off x="1810327" y="4341091"/>
            <a:ext cx="9042400" cy="1921164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 smtClean="0"/>
              <a:t>Closed networks start and finish at the same vertex whereas open networks have different start and finish vertices.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685877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8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556329"/>
            <a:ext cx="10178322" cy="1149926"/>
          </a:xfrm>
        </p:spPr>
        <p:txBody>
          <a:bodyPr>
            <a:normAutofit fontScale="92500" lnSpcReduction="20000"/>
          </a:bodyPr>
          <a:lstStyle/>
          <a:p>
            <a:r>
              <a:rPr lang="en-AU" sz="3600" dirty="0" smtClean="0"/>
              <a:t>What constitutes a simple network?</a:t>
            </a:r>
          </a:p>
          <a:p>
            <a:pPr lvl="1"/>
            <a:r>
              <a:rPr lang="en-AU" sz="3400" dirty="0" smtClean="0"/>
              <a:t>4 points up for grabs!!</a:t>
            </a:r>
            <a:endParaRPr lang="en-AU" sz="3400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15346676"/>
              </p:ext>
            </p:extLst>
          </p:nvPr>
        </p:nvGraphicFramePr>
        <p:xfrm>
          <a:off x="2521527" y="3205018"/>
          <a:ext cx="7435273" cy="3191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352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4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9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874517"/>
            <a:ext cx="10178322" cy="1103744"/>
          </a:xfrm>
        </p:spPr>
        <p:txBody>
          <a:bodyPr>
            <a:normAutofit/>
          </a:bodyPr>
          <a:lstStyle/>
          <a:p>
            <a:r>
              <a:rPr lang="en-AU" sz="4000" dirty="0" smtClean="0"/>
              <a:t>Is the network weighted?</a:t>
            </a:r>
            <a:endParaRPr lang="en-AU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918" y="2704273"/>
            <a:ext cx="4316921" cy="4007821"/>
          </a:xfrm>
          <a:prstGeom prst="rect">
            <a:avLst/>
          </a:prstGeom>
        </p:spPr>
      </p:pic>
      <p:sp>
        <p:nvSpPr>
          <p:cNvPr id="5" name="Horizontal Scroll 4"/>
          <p:cNvSpPr/>
          <p:nvPr/>
        </p:nvSpPr>
        <p:spPr>
          <a:xfrm>
            <a:off x="7961746" y="3469804"/>
            <a:ext cx="2378364" cy="1238379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sz="4800" dirty="0" smtClean="0"/>
              <a:t>No</a:t>
            </a:r>
          </a:p>
          <a:p>
            <a:pPr algn="ctr"/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276685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10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787241"/>
            <a:ext cx="10178322" cy="3593591"/>
          </a:xfrm>
        </p:spPr>
        <p:txBody>
          <a:bodyPr>
            <a:normAutofit/>
          </a:bodyPr>
          <a:lstStyle/>
          <a:p>
            <a:r>
              <a:rPr lang="en-AU" sz="3600" dirty="0" smtClean="0"/>
              <a:t>What is a “complete graph”?</a:t>
            </a:r>
            <a:endParaRPr lang="en-AU" sz="3600" dirty="0"/>
          </a:p>
        </p:txBody>
      </p:sp>
      <p:sp>
        <p:nvSpPr>
          <p:cNvPr id="4" name="Explosion 1 3"/>
          <p:cNvSpPr/>
          <p:nvPr/>
        </p:nvSpPr>
        <p:spPr>
          <a:xfrm>
            <a:off x="2835639" y="2304478"/>
            <a:ext cx="7010400" cy="4673595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 smtClean="0"/>
              <a:t>A simple graph in which all the vertices are connected to each other by an edge.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60243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11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874517"/>
            <a:ext cx="10178322" cy="3593591"/>
          </a:xfrm>
        </p:spPr>
        <p:txBody>
          <a:bodyPr>
            <a:normAutofit/>
          </a:bodyPr>
          <a:lstStyle/>
          <a:p>
            <a:r>
              <a:rPr lang="en-AU" sz="3600" dirty="0" smtClean="0"/>
              <a:t>What type of network is this?</a:t>
            </a:r>
            <a:endParaRPr lang="en-AU" sz="3600" dirty="0"/>
          </a:p>
        </p:txBody>
      </p:sp>
      <p:pic>
        <p:nvPicPr>
          <p:cNvPr id="1026" name="Picture 2" descr="Image result for tree ne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059" y="2707877"/>
            <a:ext cx="4678068" cy="391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n 3"/>
          <p:cNvSpPr/>
          <p:nvPr/>
        </p:nvSpPr>
        <p:spPr>
          <a:xfrm>
            <a:off x="7315200" y="2807854"/>
            <a:ext cx="3486727" cy="3149600"/>
          </a:xfrm>
          <a:prstGeom prst="su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400" dirty="0" smtClean="0"/>
              <a:t>Tree</a:t>
            </a:r>
            <a:endParaRPr lang="en-AU" sz="4400" dirty="0"/>
          </a:p>
        </p:txBody>
      </p:sp>
    </p:spTree>
    <p:extLst>
      <p:ext uri="{BB962C8B-B14F-4D97-AF65-F5344CB8AC3E}">
        <p14:creationId xmlns:p14="http://schemas.microsoft.com/office/powerpoint/2010/main" val="82836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12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600" dirty="0" smtClean="0"/>
              <a:t>What is a planar graph?</a:t>
            </a:r>
            <a:endParaRPr lang="en-AU" sz="6000" dirty="0"/>
          </a:p>
        </p:txBody>
      </p:sp>
      <p:sp>
        <p:nvSpPr>
          <p:cNvPr id="4" name="Cloud Callout 3"/>
          <p:cNvSpPr/>
          <p:nvPr/>
        </p:nvSpPr>
        <p:spPr>
          <a:xfrm>
            <a:off x="4405746" y="3187658"/>
            <a:ext cx="5745018" cy="3103418"/>
          </a:xfrm>
          <a:prstGeom prst="cloudCallout">
            <a:avLst>
              <a:gd name="adj1" fmla="val -77907"/>
              <a:gd name="adj2" fmla="val -485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 smtClean="0"/>
              <a:t>A graph where no edges cross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221012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13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750291"/>
            <a:ext cx="10178322" cy="3593591"/>
          </a:xfrm>
        </p:spPr>
        <p:txBody>
          <a:bodyPr>
            <a:normAutofit/>
          </a:bodyPr>
          <a:lstStyle/>
          <a:p>
            <a:r>
              <a:rPr lang="en-AU" sz="3600" dirty="0" smtClean="0"/>
              <a:t>Is this network Eulerian, Semi-Eulerian or neither?</a:t>
            </a:r>
            <a:endParaRPr lang="en-AU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945" y="2814774"/>
            <a:ext cx="3902220" cy="3674637"/>
          </a:xfrm>
          <a:prstGeom prst="rect">
            <a:avLst/>
          </a:prstGeom>
        </p:spPr>
      </p:pic>
      <p:sp>
        <p:nvSpPr>
          <p:cNvPr id="5" name="Diamond 4"/>
          <p:cNvSpPr/>
          <p:nvPr/>
        </p:nvSpPr>
        <p:spPr>
          <a:xfrm>
            <a:off x="6991928" y="2674684"/>
            <a:ext cx="3805381" cy="350981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 smtClean="0"/>
              <a:t>Semi-Eulerian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341950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14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600" dirty="0" smtClean="0"/>
              <a:t>Can this network be redrawn as a planar graph?</a:t>
            </a:r>
            <a:endParaRPr lang="en-AU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288" y="3330966"/>
            <a:ext cx="5920220" cy="2960110"/>
          </a:xfrm>
          <a:prstGeom prst="rect">
            <a:avLst/>
          </a:prstGeom>
        </p:spPr>
      </p:pic>
      <p:sp>
        <p:nvSpPr>
          <p:cNvPr id="5" name="5-Point Star 4"/>
          <p:cNvSpPr/>
          <p:nvPr/>
        </p:nvSpPr>
        <p:spPr>
          <a:xfrm rot="10800000" flipH="1" flipV="1">
            <a:off x="7964054" y="3141014"/>
            <a:ext cx="2946399" cy="273857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 smtClean="0"/>
              <a:t>Yes!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126823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15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600" dirty="0" smtClean="0"/>
              <a:t>Does this graph have a Hamiltonian cycle?</a:t>
            </a:r>
            <a:endParaRPr lang="en-AU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411" y="3194733"/>
            <a:ext cx="4550208" cy="3388774"/>
          </a:xfrm>
          <a:prstGeom prst="rect">
            <a:avLst/>
          </a:prstGeom>
        </p:spPr>
      </p:pic>
      <p:sp>
        <p:nvSpPr>
          <p:cNvPr id="5" name="Horizontal Scroll 4"/>
          <p:cNvSpPr/>
          <p:nvPr/>
        </p:nvSpPr>
        <p:spPr>
          <a:xfrm>
            <a:off x="6907352" y="3518005"/>
            <a:ext cx="4111630" cy="1949922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sz="3200" dirty="0" smtClean="0"/>
              <a:t>No, it has Hamiltonian paths that are open</a:t>
            </a:r>
          </a:p>
          <a:p>
            <a:pPr algn="ctr"/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4935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16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874517"/>
            <a:ext cx="10178322" cy="3593591"/>
          </a:xfrm>
        </p:spPr>
        <p:txBody>
          <a:bodyPr>
            <a:normAutofit/>
          </a:bodyPr>
          <a:lstStyle/>
          <a:p>
            <a:r>
              <a:rPr lang="en-AU" sz="3600" dirty="0" smtClean="0"/>
              <a:t>Is this graph traversable?</a:t>
            </a:r>
            <a:endParaRPr lang="en-AU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694" y="3052797"/>
            <a:ext cx="5930579" cy="3366476"/>
          </a:xfrm>
          <a:prstGeom prst="rect">
            <a:avLst/>
          </a:prstGeom>
        </p:spPr>
      </p:pic>
      <p:sp>
        <p:nvSpPr>
          <p:cNvPr id="5" name="5-Point Star 4"/>
          <p:cNvSpPr/>
          <p:nvPr/>
        </p:nvSpPr>
        <p:spPr>
          <a:xfrm rot="10800000" flipH="1" flipV="1">
            <a:off x="7964054" y="3141014"/>
            <a:ext cx="2946399" cy="273857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000" dirty="0" smtClean="0"/>
              <a:t>Yes!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39901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17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519382"/>
            <a:ext cx="10178322" cy="3593591"/>
          </a:xfrm>
        </p:spPr>
        <p:txBody>
          <a:bodyPr>
            <a:normAutofit/>
          </a:bodyPr>
          <a:lstStyle/>
          <a:p>
            <a:r>
              <a:rPr lang="en-AU" sz="3600" dirty="0" smtClean="0"/>
              <a:t>Represent this rectangular prism as a planar graph:</a:t>
            </a:r>
            <a:endParaRPr lang="en-AU" sz="3600" dirty="0"/>
          </a:p>
        </p:txBody>
      </p:sp>
      <p:pic>
        <p:nvPicPr>
          <p:cNvPr id="2052" name="Picture 4" descr="Image result for triangular pris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9"/>
          <a:stretch/>
        </p:blipFill>
        <p:spPr bwMode="auto">
          <a:xfrm>
            <a:off x="1380987" y="2289752"/>
            <a:ext cx="4188540" cy="3838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01135060"/>
              </p:ext>
            </p:extLst>
          </p:nvPr>
        </p:nvGraphicFramePr>
        <p:xfrm>
          <a:off x="6697517" y="2548467"/>
          <a:ext cx="3604492" cy="3579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193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4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18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242291"/>
            <a:ext cx="10303013" cy="3108036"/>
          </a:xfrm>
        </p:spPr>
        <p:txBody>
          <a:bodyPr>
            <a:noAutofit/>
          </a:bodyPr>
          <a:lstStyle/>
          <a:p>
            <a:r>
              <a:rPr lang="en-AU" sz="3200" dirty="0" smtClean="0"/>
              <a:t>Bus route P runs from A to G to F to E and back to A</a:t>
            </a:r>
          </a:p>
          <a:p>
            <a:r>
              <a:rPr lang="en-AU" sz="3200" dirty="0" smtClean="0"/>
              <a:t>Bus route Q runs from A to B to G to D to E and back to A</a:t>
            </a:r>
          </a:p>
          <a:p>
            <a:r>
              <a:rPr lang="en-AU" sz="3200" dirty="0" smtClean="0"/>
              <a:t>Bus route R runs from B to G to F to C to B</a:t>
            </a:r>
          </a:p>
          <a:p>
            <a:r>
              <a:rPr lang="en-AU" sz="3200" dirty="0" smtClean="0"/>
              <a:t>Bus route S runs from B to D to C and back to B</a:t>
            </a:r>
          </a:p>
          <a:p>
            <a:pPr marL="0" indent="0">
              <a:buNone/>
            </a:pPr>
            <a:r>
              <a:rPr lang="en-AU" sz="3200" dirty="0" smtClean="0">
                <a:sym typeface="Wingdings" panose="05000000000000000000" pitchFamily="2" charset="2"/>
              </a:rPr>
              <a:t> Construct a network that conveys these routes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45942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115</TotalTime>
  <Words>512</Words>
  <Application>Microsoft Office PowerPoint</Application>
  <PresentationFormat>Widescreen</PresentationFormat>
  <Paragraphs>98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Gill Sans MT</vt:lpstr>
      <vt:lpstr>Impact</vt:lpstr>
      <vt:lpstr>Wingdings</vt:lpstr>
      <vt:lpstr>Badge</vt:lpstr>
      <vt:lpstr>Terminology tournament</vt:lpstr>
      <vt:lpstr>The rules</vt:lpstr>
      <vt:lpstr>Question 1</vt:lpstr>
      <vt:lpstr>Question 2</vt:lpstr>
      <vt:lpstr>Question 3</vt:lpstr>
      <vt:lpstr>Question 4</vt:lpstr>
      <vt:lpstr>Question 5</vt:lpstr>
      <vt:lpstr>Question 6</vt:lpstr>
      <vt:lpstr>Question 7</vt:lpstr>
      <vt:lpstr>Question 8</vt:lpstr>
      <vt:lpstr>Question 9</vt:lpstr>
      <vt:lpstr>Question 10</vt:lpstr>
      <vt:lpstr>Question 11</vt:lpstr>
      <vt:lpstr>Question 12</vt:lpstr>
      <vt:lpstr>Question 13</vt:lpstr>
      <vt:lpstr>Question 14</vt:lpstr>
      <vt:lpstr>Question 15</vt:lpstr>
      <vt:lpstr>Question 16</vt:lpstr>
      <vt:lpstr>Question 17</vt:lpstr>
      <vt:lpstr>Question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Terminology tournament</dc:title>
  <dc:creator>Jason Stephenson</dc:creator>
  <cp:lastModifiedBy>Jason Stephenson</cp:lastModifiedBy>
  <cp:revision>14</cp:revision>
  <dcterms:created xsi:type="dcterms:W3CDTF">2018-05-03T08:16:58Z</dcterms:created>
  <dcterms:modified xsi:type="dcterms:W3CDTF">2018-05-08T05:58:36Z</dcterms:modified>
</cp:coreProperties>
</file>
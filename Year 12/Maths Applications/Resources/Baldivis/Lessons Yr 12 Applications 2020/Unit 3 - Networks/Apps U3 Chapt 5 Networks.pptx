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303" r:id="rId3"/>
    <p:sldId id="307" r:id="rId4"/>
    <p:sldId id="306" r:id="rId5"/>
    <p:sldId id="305" r:id="rId6"/>
    <p:sldId id="304" r:id="rId7"/>
    <p:sldId id="309" r:id="rId8"/>
    <p:sldId id="311" r:id="rId9"/>
    <p:sldId id="321" r:id="rId10"/>
    <p:sldId id="336" r:id="rId11"/>
    <p:sldId id="340" r:id="rId12"/>
    <p:sldId id="341" r:id="rId13"/>
    <p:sldId id="343" r:id="rId14"/>
    <p:sldId id="344" r:id="rId15"/>
    <p:sldId id="345" r:id="rId16"/>
    <p:sldId id="34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 varScale="1">
        <p:scale>
          <a:sx n="68" d="100"/>
          <a:sy n="68" d="100"/>
        </p:scale>
        <p:origin x="144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3/05/2017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126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3/05/2017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l="10303" t="44335" r="24220" b="37931"/>
          <a:stretch/>
        </p:blipFill>
        <p:spPr bwMode="auto">
          <a:xfrm>
            <a:off x="611560" y="2564904"/>
            <a:ext cx="7772400" cy="16561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does a network contain?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does a network contain?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5780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Vertices (sing: vertex) or nodes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132856"/>
            <a:ext cx="58915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Junctions and end points			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			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44" y="2540066"/>
            <a:ext cx="2775991" cy="8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3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does a network contain?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5780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Vertices (sing: vertex) or nodes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Edges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132856"/>
            <a:ext cx="58915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Junctions and end points			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Connections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			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44" y="2540066"/>
            <a:ext cx="2775991" cy="8204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229" y="3968256"/>
            <a:ext cx="2646158" cy="74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2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does a network contain?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5780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Vertices (sing: vertex) or nodes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Edges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Faces or Regions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132856"/>
            <a:ext cx="58915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Junctions and end points			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Connections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Separated areas: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			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44" y="2540066"/>
            <a:ext cx="2775991" cy="8204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229" y="3968256"/>
            <a:ext cx="2646158" cy="74992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768" y="5661247"/>
            <a:ext cx="2616948" cy="99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7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does a network contain?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132856"/>
            <a:ext cx="2578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 in life?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562" y="2204657"/>
            <a:ext cx="5480374" cy="448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0346"/>
          </a:xfrm>
        </p:spPr>
        <p:txBody>
          <a:bodyPr/>
          <a:lstStyle/>
          <a:p>
            <a:r>
              <a:rPr lang="en-AU" dirty="0"/>
              <a:t>Questions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772816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Complete the questions from 5A on pages 113 to 115.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92896"/>
            <a:ext cx="5422891" cy="345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9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know if a network </a:t>
            </a:r>
            <a:r>
              <a:rPr lang="en-AU" sz="2400"/>
              <a:t>is traversable or not?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35519" y="1920457"/>
            <a:ext cx="30233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Euler’s rule?</a:t>
            </a:r>
          </a:p>
          <a:p>
            <a:r>
              <a:rPr lang="en-AU" dirty="0"/>
              <a:t>*pronounced oiler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does Traversable mean?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Traversable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1961934"/>
            <a:ext cx="59635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  +  V  =  E  +  2</a:t>
            </a:r>
          </a:p>
          <a:p>
            <a:r>
              <a:rPr lang="en-AU" sz="1200" dirty="0"/>
              <a:t>*for any polyhedron that does not intersect itself</a:t>
            </a:r>
          </a:p>
          <a:p>
            <a:r>
              <a:rPr lang="en-AU" dirty="0"/>
              <a:t>F – Faces</a:t>
            </a:r>
          </a:p>
          <a:p>
            <a:r>
              <a:rPr lang="en-AU" dirty="0"/>
              <a:t>V – Vertices (corners)</a:t>
            </a:r>
          </a:p>
          <a:p>
            <a:r>
              <a:rPr lang="en-AU" dirty="0"/>
              <a:t>E – Edges</a:t>
            </a:r>
          </a:p>
          <a:p>
            <a:endParaRPr lang="en-AU" dirty="0"/>
          </a:p>
          <a:p>
            <a:r>
              <a:rPr lang="en-AU" dirty="0"/>
              <a:t>Any network that can be drawn without taking the pen off the paper or going over the same edge twice.</a:t>
            </a:r>
          </a:p>
          <a:p>
            <a:endParaRPr lang="en-AU" dirty="0"/>
          </a:p>
          <a:p>
            <a:r>
              <a:rPr lang="en-AU" dirty="0"/>
              <a:t>Count the number of nodes (vertices) with an ODD number of edges joining to it. </a:t>
            </a:r>
          </a:p>
          <a:p>
            <a:endParaRPr lang="en-AU" b="1" u="sng" dirty="0">
              <a:solidFill>
                <a:srgbClr val="FF0000"/>
              </a:solidFill>
            </a:endParaRPr>
          </a:p>
          <a:p>
            <a:r>
              <a:rPr lang="en-AU" b="1" u="sng" dirty="0">
                <a:solidFill>
                  <a:srgbClr val="FF0000"/>
                </a:solidFill>
              </a:rPr>
              <a:t>NO</a:t>
            </a:r>
            <a:r>
              <a:rPr lang="en-AU" dirty="0"/>
              <a:t> odd nodes or </a:t>
            </a:r>
            <a:r>
              <a:rPr lang="en-AU" b="1" u="sng" dirty="0">
                <a:solidFill>
                  <a:srgbClr val="FF0000"/>
                </a:solidFill>
              </a:rPr>
              <a:t>TWO</a:t>
            </a:r>
            <a:r>
              <a:rPr lang="en-AU" dirty="0"/>
              <a:t> odd nodes = traversable</a:t>
            </a:r>
          </a:p>
          <a:p>
            <a:endParaRPr lang="en-AU" dirty="0"/>
          </a:p>
          <a:p>
            <a:r>
              <a:rPr lang="en-AU" dirty="0"/>
              <a:t>No odd nodes = traversable path</a:t>
            </a:r>
          </a:p>
          <a:p>
            <a:r>
              <a:rPr lang="en-AU" dirty="0"/>
              <a:t>Two odd nodes = traversable circuit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906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5B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72007" y="1904921"/>
            <a:ext cx="30598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Theory</a:t>
            </a:r>
          </a:p>
          <a:p>
            <a:endParaRPr lang="en-AU" dirty="0"/>
          </a:p>
          <a:p>
            <a:r>
              <a:rPr lang="en-AU" dirty="0"/>
              <a:t>What is a graph?</a:t>
            </a:r>
          </a:p>
          <a:p>
            <a:endParaRPr lang="en-AU" dirty="0"/>
          </a:p>
          <a:p>
            <a:r>
              <a:rPr lang="en-AU" dirty="0"/>
              <a:t>What is a loop?</a:t>
            </a:r>
          </a:p>
          <a:p>
            <a:endParaRPr lang="en-AU" dirty="0"/>
          </a:p>
          <a:p>
            <a:r>
              <a:rPr lang="en-AU" dirty="0"/>
              <a:t>What are multiple edges?</a:t>
            </a:r>
          </a:p>
          <a:p>
            <a:endParaRPr lang="en-AU" dirty="0"/>
          </a:p>
          <a:p>
            <a:r>
              <a:rPr lang="en-AU" dirty="0"/>
              <a:t>What is a weighted graph/network?</a:t>
            </a:r>
          </a:p>
          <a:p>
            <a:endParaRPr lang="en-AU" dirty="0"/>
          </a:p>
          <a:p>
            <a:r>
              <a:rPr lang="en-AU" dirty="0"/>
              <a:t>What are directed edges/arcs?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a simple graph / simple network?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1904921"/>
            <a:ext cx="59635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study of networks</a:t>
            </a:r>
          </a:p>
          <a:p>
            <a:endParaRPr lang="en-AU" dirty="0"/>
          </a:p>
          <a:p>
            <a:r>
              <a:rPr lang="en-AU" dirty="0"/>
              <a:t>A diagram with vertices and edges.</a:t>
            </a:r>
          </a:p>
          <a:p>
            <a:endParaRPr lang="en-AU" dirty="0"/>
          </a:p>
          <a:p>
            <a:r>
              <a:rPr lang="en-AU" dirty="0"/>
              <a:t>An edge that starts and finishes at the same vertex.</a:t>
            </a:r>
          </a:p>
          <a:p>
            <a:endParaRPr lang="en-AU" dirty="0"/>
          </a:p>
          <a:p>
            <a:r>
              <a:rPr lang="en-AU" dirty="0"/>
              <a:t>Two or more edges that connect the same two vertices.</a:t>
            </a:r>
          </a:p>
          <a:p>
            <a:endParaRPr lang="en-AU" dirty="0"/>
          </a:p>
          <a:p>
            <a:r>
              <a:rPr lang="en-AU" dirty="0"/>
              <a:t>Edges that are ‘worth’ different amounts (distance, cost, time </a:t>
            </a:r>
            <a:r>
              <a:rPr lang="en-AU" dirty="0" err="1"/>
              <a:t>etc</a:t>
            </a:r>
            <a:r>
              <a:rPr lang="en-AU" dirty="0"/>
              <a:t>).</a:t>
            </a:r>
          </a:p>
          <a:p>
            <a:endParaRPr lang="en-AU" dirty="0"/>
          </a:p>
          <a:p>
            <a:r>
              <a:rPr lang="en-AU" dirty="0"/>
              <a:t>Edges with directions given </a:t>
            </a:r>
          </a:p>
          <a:p>
            <a:r>
              <a:rPr lang="en-AU" dirty="0"/>
              <a:t>Graphs without directed edges are call undirected graphs, graphs with directed edges are call directed graphs.</a:t>
            </a:r>
          </a:p>
          <a:p>
            <a:endParaRPr lang="en-AU" dirty="0"/>
          </a:p>
          <a:p>
            <a:r>
              <a:rPr lang="en-AU" dirty="0"/>
              <a:t>An undirected, unweighted graph with no loops or multiple edges.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228184" y="5139854"/>
            <a:ext cx="7200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804248" y="5134203"/>
            <a:ext cx="63492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18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5B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72007" y="1904921"/>
            <a:ext cx="30598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walk?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Closed walk</a:t>
            </a:r>
          </a:p>
          <a:p>
            <a:endParaRPr lang="en-AU" dirty="0"/>
          </a:p>
          <a:p>
            <a:r>
              <a:rPr lang="en-AU" dirty="0"/>
              <a:t>Open walk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Length</a:t>
            </a:r>
          </a:p>
          <a:p>
            <a:endParaRPr lang="en-AU" dirty="0"/>
          </a:p>
          <a:p>
            <a:r>
              <a:rPr lang="en-AU" dirty="0"/>
              <a:t>Connected vertices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Adjacent vertices.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04921"/>
            <a:ext cx="59635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Any path on a network from one vertex to another</a:t>
            </a:r>
          </a:p>
          <a:p>
            <a:r>
              <a:rPr lang="en-AU" dirty="0"/>
              <a:t>e.g.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walk that starts and finishes at the same vertex e.g. ABCA</a:t>
            </a:r>
          </a:p>
          <a:p>
            <a:endParaRPr lang="en-AU" dirty="0"/>
          </a:p>
          <a:p>
            <a:r>
              <a:rPr lang="en-AU" dirty="0"/>
              <a:t>A walk that ends at a different vertex e.g. ABCD</a:t>
            </a:r>
          </a:p>
          <a:p>
            <a:r>
              <a:rPr lang="en-AU" dirty="0"/>
              <a:t>*a walk can repeat edges e.g. ACBCD</a:t>
            </a:r>
          </a:p>
          <a:p>
            <a:endParaRPr lang="en-AU" dirty="0"/>
          </a:p>
          <a:p>
            <a:r>
              <a:rPr lang="en-AU" dirty="0"/>
              <a:t>The number of edges used in the walk.</a:t>
            </a:r>
          </a:p>
          <a:p>
            <a:endParaRPr lang="en-AU" dirty="0"/>
          </a:p>
          <a:p>
            <a:r>
              <a:rPr lang="en-AU" dirty="0"/>
              <a:t>If it is possible to get from one vertex to another along several edges.</a:t>
            </a:r>
          </a:p>
          <a:p>
            <a:endParaRPr lang="en-AU" dirty="0"/>
          </a:p>
          <a:p>
            <a:r>
              <a:rPr lang="en-AU" dirty="0"/>
              <a:t>If the vertices are connected by only one edge.</a:t>
            </a:r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296653"/>
            <a:ext cx="1925214" cy="1362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3584" y="2464162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ACD and ABCD are ‘walks’ from A to D</a:t>
            </a:r>
          </a:p>
        </p:txBody>
      </p:sp>
    </p:spTree>
    <p:extLst>
      <p:ext uri="{BB962C8B-B14F-4D97-AF65-F5344CB8AC3E}">
        <p14:creationId xmlns:p14="http://schemas.microsoft.com/office/powerpoint/2010/main" val="420497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5B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72007" y="1904921"/>
            <a:ext cx="30598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walk?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Trail</a:t>
            </a:r>
          </a:p>
          <a:p>
            <a:endParaRPr lang="en-US" dirty="0"/>
          </a:p>
          <a:p>
            <a:r>
              <a:rPr lang="en-US" dirty="0"/>
              <a:t>Path</a:t>
            </a:r>
            <a:endParaRPr lang="en-AU" dirty="0"/>
          </a:p>
          <a:p>
            <a:endParaRPr lang="en-AU" dirty="0"/>
          </a:p>
          <a:p>
            <a:endParaRPr lang="en-US" dirty="0"/>
          </a:p>
          <a:p>
            <a:r>
              <a:rPr lang="en-US" dirty="0"/>
              <a:t>Cycle</a:t>
            </a:r>
            <a:endParaRPr lang="en-AU" dirty="0"/>
          </a:p>
          <a:p>
            <a:endParaRPr lang="en-AU" dirty="0"/>
          </a:p>
          <a:p>
            <a:r>
              <a:rPr lang="en-AU" dirty="0"/>
              <a:t>Connected graph</a:t>
            </a:r>
          </a:p>
          <a:p>
            <a:endParaRPr lang="en-US" dirty="0"/>
          </a:p>
          <a:p>
            <a:r>
              <a:rPr lang="en-US" dirty="0"/>
              <a:t>Bridge</a:t>
            </a:r>
            <a:endParaRPr lang="en-AU" dirty="0"/>
          </a:p>
          <a:p>
            <a:endParaRPr lang="en-AU" dirty="0"/>
          </a:p>
          <a:p>
            <a:r>
              <a:rPr lang="en-US" dirty="0"/>
              <a:t>Complete Graphs (</a:t>
            </a:r>
            <a:r>
              <a:rPr lang="en-US" dirty="0" err="1"/>
              <a:t>Kn</a:t>
            </a:r>
            <a:r>
              <a:rPr lang="en-US" dirty="0"/>
              <a:t>)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04921"/>
            <a:ext cx="59635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Any path on a network from one vertex to another</a:t>
            </a:r>
          </a:p>
          <a:p>
            <a:r>
              <a:rPr lang="en-AU" dirty="0"/>
              <a:t>e.g.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US" dirty="0"/>
              <a:t>A walk that involves no repeated edges </a:t>
            </a:r>
            <a:r>
              <a:rPr lang="en-US" dirty="0" err="1"/>
              <a:t>eg</a:t>
            </a:r>
            <a:r>
              <a:rPr lang="en-US" dirty="0"/>
              <a:t> CABCD</a:t>
            </a:r>
          </a:p>
          <a:p>
            <a:endParaRPr lang="en-US" dirty="0"/>
          </a:p>
          <a:p>
            <a:r>
              <a:rPr lang="en-US" dirty="0"/>
              <a:t>A walk that involves no repeated edges or vertices (other than perhaps the start/finish) </a:t>
            </a:r>
            <a:r>
              <a:rPr lang="en-US" dirty="0" err="1"/>
              <a:t>Eg</a:t>
            </a:r>
            <a:r>
              <a:rPr lang="en-US" dirty="0"/>
              <a:t> ABCD</a:t>
            </a:r>
          </a:p>
          <a:p>
            <a:endParaRPr lang="en-US" dirty="0"/>
          </a:p>
          <a:p>
            <a:r>
              <a:rPr lang="en-US" dirty="0"/>
              <a:t>Closed Path </a:t>
            </a:r>
            <a:r>
              <a:rPr lang="en-US" dirty="0" err="1"/>
              <a:t>Eg</a:t>
            </a:r>
            <a:r>
              <a:rPr lang="en-US" dirty="0"/>
              <a:t> ABCA</a:t>
            </a:r>
          </a:p>
          <a:p>
            <a:endParaRPr lang="en-US" dirty="0"/>
          </a:p>
          <a:p>
            <a:r>
              <a:rPr lang="en-US" dirty="0"/>
              <a:t>All vertices are connected vertices</a:t>
            </a:r>
          </a:p>
          <a:p>
            <a:endParaRPr lang="en-US" dirty="0"/>
          </a:p>
          <a:p>
            <a:r>
              <a:rPr lang="en-US" dirty="0"/>
              <a:t>An edge that when removed leaves the graph disconnected</a:t>
            </a:r>
          </a:p>
          <a:p>
            <a:endParaRPr lang="en-US" dirty="0"/>
          </a:p>
          <a:p>
            <a:r>
              <a:rPr lang="en-US" dirty="0"/>
              <a:t>Simple graphs where all vertices are joined by exactly 1 edge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296653"/>
            <a:ext cx="1925214" cy="1362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3584" y="2464162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ACD and ABCD are ‘walks’ from A to D</a:t>
            </a:r>
          </a:p>
        </p:txBody>
      </p:sp>
    </p:spTree>
    <p:extLst>
      <p:ext uri="{BB962C8B-B14F-4D97-AF65-F5344CB8AC3E}">
        <p14:creationId xmlns:p14="http://schemas.microsoft.com/office/powerpoint/2010/main" val="361195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5C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076846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Planar Graphs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77260" y="2076846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graph that </a:t>
            </a:r>
            <a:r>
              <a:rPr lang="en-US" i="1" dirty="0"/>
              <a:t>can be </a:t>
            </a:r>
            <a:r>
              <a:rPr lang="en-US" dirty="0"/>
              <a:t>drawn in the same plane (without its edges crossing over).</a:t>
            </a:r>
            <a:endParaRPr lang="en-AU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467" y="2852936"/>
            <a:ext cx="2063962" cy="19103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308" y="2852936"/>
            <a:ext cx="1871758" cy="17232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509" y="2636912"/>
            <a:ext cx="1999143" cy="17439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91766" y="4763471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Planar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455728" y="4672078"/>
            <a:ext cx="95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Planar!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303049" y="4533578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be drawn like this!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68903" y="5895534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Euler’s Rule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06378" y="5941701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Euler’s Rule ( f + v = e + 2) can be used to prove if a shape </a:t>
            </a:r>
            <a:r>
              <a:rPr lang="en-US" b="1" dirty="0"/>
              <a:t>has been drawn </a:t>
            </a:r>
            <a:r>
              <a:rPr lang="en-US" dirty="0"/>
              <a:t>planar. </a:t>
            </a:r>
            <a:endParaRPr lang="en-AU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3263108" y="5337933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 + 5 ≠ 20 + 2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5196309" y="522874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+ 4 ≠ 8 + 2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7303049" y="528295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+ 4 = 6 + 2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678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5C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076846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Subgraphs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987824" y="207684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of an original graph</a:t>
            </a:r>
            <a:endParaRPr lang="en-AU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627" y="2114518"/>
            <a:ext cx="1881175" cy="14224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895" y="2124446"/>
            <a:ext cx="1476671" cy="14296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9514" y="4014974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Bipartite Graphs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5815252" y="3576999"/>
            <a:ext cx="181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7833203" y="3645642"/>
            <a:ext cx="119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Subgraph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2998614" y="400534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graph where vertices are split into 2 groups and </a:t>
            </a:r>
            <a:r>
              <a:rPr lang="en-US" b="1" dirty="0"/>
              <a:t>no edges </a:t>
            </a:r>
            <a:r>
              <a:rPr lang="en-US" dirty="0"/>
              <a:t>join vertices of the same group.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228660" y="4738197"/>
            <a:ext cx="2578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Trees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998613" y="4679951"/>
            <a:ext cx="602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connected simple graph (no loops, no multiple edges) that contains no cycles (closed paths). </a:t>
            </a:r>
            <a:r>
              <a:rPr lang="en-US" i="1" dirty="0"/>
              <a:t>Every edge must be a bridge</a:t>
            </a:r>
            <a:r>
              <a:rPr lang="en-US" dirty="0"/>
              <a:t>.</a:t>
            </a:r>
            <a:endParaRPr lang="en-AU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5326282"/>
            <a:ext cx="1242551" cy="116238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9487" y="6449705"/>
            <a:ext cx="71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Tree</a:t>
            </a:r>
            <a:endParaRPr lang="en-AU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84" y="5381724"/>
            <a:ext cx="1609557" cy="110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51633" y="6488668"/>
            <a:ext cx="280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 Tree (contains a cycle)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 rot="20675485">
            <a:off x="6658526" y="5490367"/>
            <a:ext cx="244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A tree with n vertices has n-1 edges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71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28" grpId="0"/>
      <p:bldP spid="33" grpId="0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5D Vocabulary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076846"/>
            <a:ext cx="275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Degree or order of a vertex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987824" y="2076846"/>
            <a:ext cx="576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an undirected network we say that the degree or order of a vertex is the number of edges meeting at that vertex.</a:t>
            </a:r>
          </a:p>
          <a:p>
            <a:endParaRPr lang="en-US" dirty="0"/>
          </a:p>
          <a:p>
            <a:r>
              <a:rPr lang="en-US" dirty="0"/>
              <a:t>If the degree of a vertex is an odd number, we say call that vertex an </a:t>
            </a:r>
            <a:r>
              <a:rPr lang="en-US" b="1" dirty="0"/>
              <a:t>odd vertex</a:t>
            </a:r>
            <a:r>
              <a:rPr lang="en-US" dirty="0"/>
              <a:t>. Same thing applies to even.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3072650" y="3648752"/>
            <a:ext cx="200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Odd Vertices: A &amp; B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3631265"/>
            <a:ext cx="1935449" cy="124867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449" y="5008816"/>
            <a:ext cx="275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In-degree and out-degree of a vertex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072650" y="4046969"/>
            <a:ext cx="243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 Vertices: C, D &amp; </a:t>
            </a:r>
            <a:r>
              <a:rPr lang="en-US" b="1" dirty="0"/>
              <a:t>E*</a:t>
            </a:r>
            <a:endParaRPr lang="en-AU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3012846" y="5008816"/>
            <a:ext cx="4151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directed network, we have in-degrees (amount of edges coming in to a vertex) and out-degrees (amount going out).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237" y="5033105"/>
            <a:ext cx="1907114" cy="162431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024801" y="5932146"/>
            <a:ext cx="2806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B:   In-degree of 1</a:t>
            </a:r>
          </a:p>
          <a:p>
            <a:r>
              <a:rPr lang="en-US" dirty="0"/>
              <a:t>	Out-degree of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04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7" grpId="0"/>
      <p:bldP spid="39" grpId="0"/>
      <p:bldP spid="40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Reminder about being traversable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35519" y="1920457"/>
            <a:ext cx="3023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Traversable mean?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Traversable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1961934"/>
            <a:ext cx="5963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Any network that can be drawn without taking the pen off the paper or going over the same edge twice.</a:t>
            </a:r>
          </a:p>
          <a:p>
            <a:endParaRPr lang="en-AU" dirty="0"/>
          </a:p>
          <a:p>
            <a:r>
              <a:rPr lang="en-AU" dirty="0"/>
              <a:t>Count the number of nodes (vertices) with an ODD number of edges joining to it. </a:t>
            </a:r>
          </a:p>
          <a:p>
            <a:endParaRPr lang="en-AU" b="1" u="sng" dirty="0">
              <a:solidFill>
                <a:srgbClr val="FF0000"/>
              </a:solidFill>
            </a:endParaRPr>
          </a:p>
          <a:p>
            <a:r>
              <a:rPr lang="en-AU" b="1" u="sng" dirty="0">
                <a:solidFill>
                  <a:srgbClr val="FF0000"/>
                </a:solidFill>
              </a:rPr>
              <a:t>NO</a:t>
            </a:r>
            <a:r>
              <a:rPr lang="en-AU" dirty="0"/>
              <a:t> odd nodes or </a:t>
            </a:r>
            <a:r>
              <a:rPr lang="en-AU" b="1" u="sng" dirty="0">
                <a:solidFill>
                  <a:srgbClr val="FF0000"/>
                </a:solidFill>
              </a:rPr>
              <a:t>TWO</a:t>
            </a:r>
            <a:r>
              <a:rPr lang="en-AU" dirty="0"/>
              <a:t> odd nodes = traversable</a:t>
            </a:r>
          </a:p>
          <a:p>
            <a:endParaRPr lang="en-AU" dirty="0"/>
          </a:p>
          <a:p>
            <a:r>
              <a:rPr lang="en-AU" dirty="0"/>
              <a:t>No odd nodes = traversable path</a:t>
            </a:r>
          </a:p>
          <a:p>
            <a:r>
              <a:rPr lang="en-AU" dirty="0"/>
              <a:t>Two odd nodes = traversable circuit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387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81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5D Vocabulary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84153" y="2099464"/>
            <a:ext cx="5891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trail in a connected graph that covers all </a:t>
            </a:r>
            <a:r>
              <a:rPr lang="en-AU" b="1" dirty="0"/>
              <a:t>edges</a:t>
            </a:r>
            <a:r>
              <a:rPr lang="en-AU" dirty="0"/>
              <a:t> once (only), therefore traversable. </a:t>
            </a:r>
            <a:r>
              <a:rPr lang="en-AU" i="1" dirty="0"/>
              <a:t>Repeated vertices is okay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Closed: Eulerian circuit (will have no odd vertices)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Open: Semi-Eulerian (will have two odd vertices)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8" y="2081393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Eulerian Trail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15837" y="348122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Hamiltonian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963" y="3481220"/>
            <a:ext cx="5891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path in a graph that visits every </a:t>
            </a:r>
            <a:r>
              <a:rPr lang="en-AU" b="1" dirty="0"/>
              <a:t>vertex</a:t>
            </a:r>
            <a:r>
              <a:rPr lang="en-AU" dirty="0"/>
              <a:t> once (only). </a:t>
            </a:r>
          </a:p>
          <a:p>
            <a:r>
              <a:rPr lang="en-US" i="1" dirty="0"/>
              <a:t>Missing edges is okay but you can’t repeat an edge</a:t>
            </a:r>
            <a:endParaRPr lang="en-AU" i="1" dirty="0"/>
          </a:p>
          <a:p>
            <a:r>
              <a:rPr lang="en-AU" i="1" dirty="0"/>
              <a:t>Starting and finishing at the same vertex is okay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Closed: Hamiltonian cycle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Open: Semi-Hamiltonian	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74" y="4763513"/>
            <a:ext cx="2037850" cy="102131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737" y="4892465"/>
            <a:ext cx="1575619" cy="120447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276" y="4840392"/>
            <a:ext cx="1293517" cy="1250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899" y="4866107"/>
            <a:ext cx="1181204" cy="12571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48656" y="6103085"/>
            <a:ext cx="5699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you need to remember!</a:t>
            </a:r>
          </a:p>
          <a:p>
            <a:r>
              <a:rPr lang="en-US" sz="2400" dirty="0"/>
              <a:t>Eulerian: Edges	Hamiltonian: Vertices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617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5814</TotalTime>
  <Words>1094</Words>
  <Application>Microsoft Office PowerPoint</Application>
  <PresentationFormat>On-screen Show (4:3)</PresentationFormat>
  <Paragraphs>362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</cp:lastModifiedBy>
  <cp:revision>109</cp:revision>
  <dcterms:created xsi:type="dcterms:W3CDTF">2014-05-14T02:58:57Z</dcterms:created>
  <dcterms:modified xsi:type="dcterms:W3CDTF">2017-05-03T03:41:00Z</dcterms:modified>
</cp:coreProperties>
</file>
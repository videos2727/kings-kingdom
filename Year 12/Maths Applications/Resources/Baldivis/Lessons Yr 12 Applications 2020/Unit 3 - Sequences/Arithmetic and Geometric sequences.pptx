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5" r:id="rId7"/>
    <p:sldId id="264" r:id="rId8"/>
    <p:sldId id="260" r:id="rId9"/>
    <p:sldId id="261" r:id="rId10"/>
    <p:sldId id="266" r:id="rId11"/>
    <p:sldId id="267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4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3/26/19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3/26/19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Arithmetic &amp; Geometric Sequences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303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22953"/>
              </p:ext>
            </p:extLst>
          </p:nvPr>
        </p:nvGraphicFramePr>
        <p:xfrm>
          <a:off x="386366" y="1705562"/>
          <a:ext cx="11320529" cy="48931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3850"/>
                <a:gridCol w="3281369"/>
                <a:gridCol w="1955782"/>
                <a:gridCol w="1955782"/>
                <a:gridCol w="1863746"/>
              </a:tblGrid>
              <a:tr h="5184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4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3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2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1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0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74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 addition to level 3.0 and above and beyond what was taught in class,  the student may: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· Make connection with other concepts in math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· Make connection with other content areas.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The student will build a function (linear and exponential) that models a relationship between two quantities.  The primary focus will be on arithmetic and geometric sequences.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- Linear and exponential functions can be constructed based off a graph, a description of a relationship and an input/output table.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- Write explicit rule for a sequence.  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- Write recursive rule for a sequence.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The student will be able to: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 Determine if a sequence is arithmetic or geometric.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- Use explicit rules to find a specified term (n</a:t>
                      </a:r>
                      <a:r>
                        <a:rPr lang="en-US" sz="1800" baseline="30000">
                          <a:effectLst/>
                        </a:rPr>
                        <a:t>th</a:t>
                      </a:r>
                      <a:r>
                        <a:rPr lang="en-US" sz="1800">
                          <a:effectLst/>
                        </a:rPr>
                        <a:t>) in the sequence.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With help from the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teacher, the student has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partial success with building a function that models a relationship between two quantities.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Even with help, the student has no success understanding building functions to model relationship between two quantities.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0095" y="74346"/>
            <a:ext cx="1194028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Focus 7 Learning Goal – </a:t>
            </a:r>
            <a:r>
              <a:rPr kumimoji="0" lang="en-US" alt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(HS.F-BF.A.1, HS.F-BF.A.2, HS.F-LE.A.2, HS.F-IF.A.3)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=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Students will build a function (linear and exponential) that models a relationship between two quantities.  The primary focus will be on arithmetic and geometric sequences.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07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55398"/>
            <a:ext cx="9720072" cy="1499616"/>
          </a:xfrm>
        </p:spPr>
        <p:txBody>
          <a:bodyPr/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Arithmetic Sequence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976" y="1736962"/>
            <a:ext cx="10535781" cy="4504812"/>
          </a:xfrm>
        </p:spPr>
        <p:txBody>
          <a:bodyPr>
            <a:noAutofit/>
          </a:bodyPr>
          <a:lstStyle/>
          <a:p>
            <a:r>
              <a:rPr lang="en-US" sz="3200" dirty="0" smtClean="0"/>
              <a:t>In an </a:t>
            </a:r>
            <a:r>
              <a:rPr lang="en-US" sz="3200" b="1" u="sng" dirty="0" smtClean="0"/>
              <a:t>Arithmetic Sequence </a:t>
            </a:r>
            <a:r>
              <a:rPr lang="en-US" sz="3200" dirty="0" smtClean="0"/>
              <a:t>the difference between one term and the next term is a constant.</a:t>
            </a:r>
          </a:p>
          <a:p>
            <a:r>
              <a:rPr lang="en-US" sz="3200" dirty="0" smtClean="0"/>
              <a:t>We just </a:t>
            </a:r>
            <a:r>
              <a:rPr lang="en-US" sz="3200" b="1" i="1" dirty="0" smtClean="0"/>
              <a:t>add some value each time </a:t>
            </a:r>
            <a:r>
              <a:rPr lang="en-US" sz="3200" dirty="0" smtClean="0"/>
              <a:t>on to infinity.</a:t>
            </a:r>
          </a:p>
          <a:p>
            <a:r>
              <a:rPr lang="en-US" sz="3200" dirty="0" smtClean="0"/>
              <a:t>For example:</a:t>
            </a:r>
          </a:p>
          <a:p>
            <a:pPr lvl="1"/>
            <a:r>
              <a:rPr lang="en-US" sz="2800" dirty="0" smtClean="0"/>
              <a:t>1, 4, 7, 10, 13, 16, 19, 22, 25, …</a:t>
            </a:r>
          </a:p>
          <a:p>
            <a:pPr lvl="1"/>
            <a:r>
              <a:rPr lang="en-US" sz="2800" dirty="0" smtClean="0"/>
              <a:t>This sequence has a difference of 3 between each number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It’s recursive rule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is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n-US" sz="2800" b="1" baseline="-25000" dirty="0" smtClean="0">
                <a:solidFill>
                  <a:schemeClr val="accent4">
                    <a:lumMod val="75000"/>
                  </a:schemeClr>
                </a:solidFill>
              </a:rPr>
              <a:t>n+1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= </a:t>
            </a:r>
            <a:r>
              <a:rPr lang="en-US" sz="2800" b="1" dirty="0" err="1" smtClean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n-US" sz="2800" b="1" baseline="-25000" dirty="0" err="1" smtClean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+ 3; T</a:t>
            </a:r>
            <a:r>
              <a:rPr lang="en-US" sz="2800" b="1" baseline="-25000" dirty="0" smtClean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 = 1</a:t>
            </a:r>
            <a:endParaRPr lang="en-US" sz="2800" dirty="0" smtClean="0"/>
          </a:p>
          <a:p>
            <a:pPr lvl="1"/>
            <a:r>
              <a:rPr lang="en-US" sz="2800" dirty="0" smtClean="0"/>
              <a:t>It’s </a:t>
            </a:r>
            <a:r>
              <a:rPr lang="en-US" sz="2800" dirty="0" smtClean="0"/>
              <a:t>explicit (or general) rule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is a</a:t>
            </a:r>
            <a:r>
              <a:rPr lang="en-US" sz="2800" b="1" baseline="-25000" dirty="0" smtClean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 = 3n –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sz="2800" dirty="0"/>
              <a:t> </a:t>
            </a:r>
            <a:r>
              <a:rPr lang="en-US" sz="2800" dirty="0" smtClean="0"/>
              <a:t>(more on this later)</a:t>
            </a:r>
          </a:p>
          <a:p>
            <a:pPr lvl="1"/>
            <a:r>
              <a:rPr lang="en-US" sz="2800" dirty="0" smtClean="0"/>
              <a:t>Remember, a</a:t>
            </a:r>
            <a:r>
              <a:rPr lang="en-US" sz="2800" baseline="-25000" dirty="0" smtClean="0"/>
              <a:t>n</a:t>
            </a:r>
            <a:r>
              <a:rPr lang="en-US" sz="2800" dirty="0" smtClean="0"/>
              <a:t> and </a:t>
            </a:r>
            <a:r>
              <a:rPr lang="en-US" sz="2800" dirty="0" err="1" smtClean="0"/>
              <a:t>T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are interchangeable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37958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Arithmetic 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15921"/>
            <a:ext cx="9720071" cy="449343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In general, we can write an arithmetic sequence like this:</a:t>
            </a:r>
          </a:p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/>
              <a:t> +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/>
              <a:t> + 2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/>
              <a:t> + 3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/>
              <a:t>, </a:t>
            </a:r>
            <a:r>
              <a:rPr lang="en-US" sz="3200" dirty="0" smtClean="0"/>
              <a:t>…</a:t>
            </a:r>
          </a:p>
          <a:p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 smtClean="0"/>
              <a:t> is the first term.</a:t>
            </a:r>
          </a:p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 smtClean="0"/>
              <a:t> is the difference between the terms (called the “</a:t>
            </a:r>
            <a:r>
              <a:rPr lang="en-US" sz="3200" b="1" i="1" dirty="0" smtClean="0"/>
              <a:t>common difference</a:t>
            </a:r>
            <a:r>
              <a:rPr lang="en-US" sz="3200" dirty="0" smtClean="0"/>
              <a:t>”)</a:t>
            </a:r>
          </a:p>
          <a:p>
            <a:r>
              <a:rPr lang="en-US" sz="3200" dirty="0" smtClean="0"/>
              <a:t>The rule is:</a:t>
            </a:r>
          </a:p>
          <a:p>
            <a:r>
              <a:rPr lang="en-US" sz="3200" dirty="0" err="1"/>
              <a:t>T</a:t>
            </a:r>
            <a:r>
              <a:rPr lang="en-US" sz="3200" baseline="-25000" dirty="0" err="1" smtClean="0"/>
              <a:t>n</a:t>
            </a:r>
            <a:r>
              <a:rPr lang="en-US" sz="3200" dirty="0" smtClean="0"/>
              <a:t> </a:t>
            </a:r>
            <a:r>
              <a:rPr lang="en-US" sz="3200" dirty="0" smtClean="0"/>
              <a:t>= </a:t>
            </a: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 smtClean="0"/>
              <a:t> +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 smtClean="0"/>
              <a:t>(n-1)</a:t>
            </a:r>
          </a:p>
          <a:p>
            <a:r>
              <a:rPr lang="en-US" sz="3200" dirty="0" smtClean="0"/>
              <a:t>(We use “n-1” because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 smtClean="0"/>
              <a:t> is not used on the 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term.)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5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Arithmetic 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15921"/>
            <a:ext cx="9720071" cy="449343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Going back to the first example: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Tw Cen MT" panose="020B0602020104020603" pitchFamily="34" charset="0"/>
              <a:buChar char=" "/>
            </a:pPr>
            <a:r>
              <a:rPr lang="en-US" sz="2800" dirty="0"/>
              <a:t>1, 4, 7, 10, 13, 16, 19, 22, 25, </a:t>
            </a:r>
            <a:r>
              <a:rPr lang="en-US" sz="2800" dirty="0" smtClean="0"/>
              <a:t>…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 smtClean="0"/>
              <a:t>rule is:</a:t>
            </a:r>
          </a:p>
          <a:p>
            <a:r>
              <a:rPr lang="en-US" sz="3200" dirty="0" err="1"/>
              <a:t>T</a:t>
            </a:r>
            <a:r>
              <a:rPr lang="en-US" sz="3200" baseline="-25000" dirty="0" err="1" smtClean="0"/>
              <a:t>n</a:t>
            </a:r>
            <a:r>
              <a:rPr lang="en-US" sz="3200" dirty="0" smtClean="0"/>
              <a:t> </a:t>
            </a:r>
            <a:r>
              <a:rPr lang="en-US" sz="3200" dirty="0" smtClean="0"/>
              <a:t>= </a:t>
            </a: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 smtClean="0"/>
              <a:t> +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 smtClean="0"/>
              <a:t>(n-1</a:t>
            </a:r>
            <a:r>
              <a:rPr lang="en-US" sz="3200" dirty="0" smtClean="0"/>
              <a:t>)</a:t>
            </a:r>
          </a:p>
          <a:p>
            <a:r>
              <a:rPr lang="en-US" sz="2400" dirty="0" err="1"/>
              <a:t>T</a:t>
            </a:r>
            <a:r>
              <a:rPr lang="en-US" sz="2400" baseline="-25000" dirty="0" err="1"/>
              <a:t>n</a:t>
            </a:r>
            <a:r>
              <a:rPr lang="en-US" sz="2400" dirty="0"/>
              <a:t> = 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en-US" sz="2400" dirty="0" smtClean="0"/>
              <a:t> </a:t>
            </a:r>
            <a:r>
              <a:rPr lang="en-US" sz="2400" dirty="0"/>
              <a:t>+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sz="2400" dirty="0" smtClean="0"/>
              <a:t>(n-1) or if we expand the brackets</a:t>
            </a:r>
          </a:p>
          <a:p>
            <a:r>
              <a:rPr lang="en-US" sz="2400" dirty="0" err="1"/>
              <a:t>T</a:t>
            </a:r>
            <a:r>
              <a:rPr lang="en-US" sz="2400" baseline="-25000" dirty="0" err="1"/>
              <a:t>n</a:t>
            </a:r>
            <a:r>
              <a:rPr lang="en-US" sz="2400" dirty="0"/>
              <a:t> = 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en-US" sz="2400" dirty="0" smtClean="0"/>
              <a:t> </a:t>
            </a:r>
            <a:r>
              <a:rPr lang="en-US" sz="2400" dirty="0"/>
              <a:t>+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sz="2400" dirty="0" smtClean="0"/>
              <a:t>n </a:t>
            </a:r>
            <a:r>
              <a:rPr lang="mr-IN" sz="2400" dirty="0" smtClean="0"/>
              <a:t>–</a:t>
            </a:r>
            <a:r>
              <a:rPr lang="en-US" sz="2400" dirty="0" smtClean="0"/>
              <a:t> 3</a:t>
            </a:r>
          </a:p>
          <a:p>
            <a:r>
              <a:rPr lang="en-US" sz="2400" dirty="0" err="1"/>
              <a:t>T</a:t>
            </a:r>
            <a:r>
              <a:rPr lang="en-US" sz="2400" baseline="-25000" dirty="0" err="1"/>
              <a:t>n</a:t>
            </a:r>
            <a:r>
              <a:rPr lang="en-US" sz="2400" dirty="0"/>
              <a:t> = 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3n - 2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6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Arithmetic 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160494"/>
            <a:ext cx="5869731" cy="4023360"/>
          </a:xfrm>
        </p:spPr>
        <p:txBody>
          <a:bodyPr/>
          <a:lstStyle/>
          <a:p>
            <a:r>
              <a:rPr lang="en-US" sz="2800" dirty="0" smtClean="0"/>
              <a:t>For each sequence, if it is arithmetic, find the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common difference</a:t>
            </a:r>
            <a:r>
              <a:rPr lang="en-US" sz="28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-3, -6, -9, -12,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1.1, 2.2, 3.3, 4.4,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41, 32, 23, 14, 5,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1, 2, 4, 8, 16, 32, …</a:t>
            </a:r>
            <a:endParaRPr lang="en-US" sz="2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147893" y="3105732"/>
            <a:ext cx="4498131" cy="307812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 = -3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 = </a:t>
            </a:r>
            <a:r>
              <a:rPr lang="en-US" sz="2800" dirty="0" smtClean="0"/>
              <a:t>1.1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 = </a:t>
            </a:r>
            <a:r>
              <a:rPr lang="en-US" sz="2800" dirty="0" smtClean="0"/>
              <a:t>-9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Not an arithmetic sequence.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245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Arithmetic 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211" y="2084832"/>
            <a:ext cx="6120743" cy="402336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Write the explicit rule for the sequence</a:t>
            </a:r>
          </a:p>
          <a:p>
            <a:r>
              <a:rPr lang="en-US" sz="2800" dirty="0" smtClean="0"/>
              <a:t>19, 13, 7, 1, -5, … </a:t>
            </a:r>
          </a:p>
          <a:p>
            <a:r>
              <a:rPr lang="en-US" sz="2800" dirty="0" smtClean="0"/>
              <a:t>Start with the formula:  </a:t>
            </a:r>
            <a:r>
              <a:rPr lang="en-US" sz="3200" dirty="0" err="1"/>
              <a:t>T</a:t>
            </a:r>
            <a:r>
              <a:rPr lang="en-US" sz="3200" baseline="-25000" dirty="0" err="1" smtClean="0"/>
              <a:t>n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3200" dirty="0"/>
              <a:t> +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dirty="0"/>
              <a:t>(n-1)</a:t>
            </a: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2800" dirty="0" smtClean="0"/>
              <a:t> is the first term = 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19</a:t>
            </a:r>
          </a:p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2800" dirty="0" smtClean="0"/>
              <a:t> is the common difference: 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-6</a:t>
            </a:r>
          </a:p>
          <a:p>
            <a:r>
              <a:rPr lang="en-US" sz="2800" dirty="0" smtClean="0"/>
              <a:t>The rule is:</a:t>
            </a:r>
          </a:p>
          <a:p>
            <a:r>
              <a:rPr lang="en-US" sz="2800" dirty="0" err="1"/>
              <a:t>T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19</a:t>
            </a: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- 6</a:t>
            </a:r>
            <a:r>
              <a:rPr lang="en-US" sz="2800" dirty="0" smtClean="0"/>
              <a:t>(n-1</a:t>
            </a:r>
            <a:r>
              <a:rPr lang="en-US" sz="2800" dirty="0" smtClean="0"/>
              <a:t>) or</a:t>
            </a:r>
          </a:p>
          <a:p>
            <a:r>
              <a:rPr lang="en-US" sz="2800" dirty="0" err="1" smtClean="0"/>
              <a:t>T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= 19 </a:t>
            </a:r>
            <a:r>
              <a:rPr lang="mr-IN" sz="2800" dirty="0" smtClean="0"/>
              <a:t>–</a:t>
            </a:r>
            <a:r>
              <a:rPr lang="en-US" sz="2800" dirty="0" smtClean="0"/>
              <a:t> 6n + 6</a:t>
            </a:r>
          </a:p>
          <a:p>
            <a:r>
              <a:rPr lang="en-US" sz="2800" dirty="0" err="1" smtClean="0"/>
              <a:t>T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= 25 </a:t>
            </a:r>
            <a:r>
              <a:rPr lang="mr-IN" sz="2800" dirty="0" smtClean="0"/>
              <a:t>–</a:t>
            </a:r>
            <a:r>
              <a:rPr lang="en-US" sz="2800" dirty="0" smtClean="0"/>
              <a:t> 6n</a:t>
            </a:r>
            <a:endParaRPr lang="en-US" sz="2800" dirty="0" smtClean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144871" y="2084832"/>
            <a:ext cx="475362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Find the 12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term of this sequence.</a:t>
            </a:r>
          </a:p>
          <a:p>
            <a:r>
              <a:rPr lang="en-US" sz="2400" dirty="0" smtClean="0"/>
              <a:t>Substitute 12 in for “n.”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19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sz="2800" dirty="0" smtClean="0"/>
              <a:t>(12-1</a:t>
            </a:r>
            <a:r>
              <a:rPr lang="en-US" sz="2800" dirty="0"/>
              <a:t>)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19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sz="2800" dirty="0" smtClean="0"/>
              <a:t>(11)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19</a:t>
            </a:r>
            <a:r>
              <a:rPr lang="en-US" sz="2800" dirty="0"/>
              <a:t>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– 66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19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- 6</a:t>
            </a:r>
            <a:r>
              <a:rPr lang="en-US" sz="2800" dirty="0"/>
              <a:t>(12-1)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-47</a:t>
            </a:r>
            <a:endParaRPr lang="en-US" sz="2800" dirty="0"/>
          </a:p>
          <a:p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Geometric Sequence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150813" cy="4023360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In a </a:t>
            </a:r>
            <a:r>
              <a:rPr lang="en-US" sz="3200" b="1" u="sng" dirty="0" smtClean="0"/>
              <a:t>Geometric Sequence</a:t>
            </a:r>
            <a:r>
              <a:rPr lang="en-US" sz="3200" b="1" dirty="0" smtClean="0"/>
              <a:t> </a:t>
            </a:r>
            <a:r>
              <a:rPr lang="en-US" sz="3200" dirty="0" smtClean="0"/>
              <a:t>each term is found by multiplying the pervious term by a constant.</a:t>
            </a:r>
          </a:p>
          <a:p>
            <a:r>
              <a:rPr lang="en-US" sz="3200" dirty="0" smtClean="0"/>
              <a:t>For example:</a:t>
            </a:r>
          </a:p>
          <a:p>
            <a:r>
              <a:rPr lang="en-US" sz="3200" dirty="0" smtClean="0"/>
              <a:t>2, 4, 8, 16, 32, 64, 128, …</a:t>
            </a:r>
          </a:p>
          <a:p>
            <a:r>
              <a:rPr lang="en-US" sz="3200" dirty="0" smtClean="0"/>
              <a:t>The sequence has a factor of 2 between each number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It’s recursive rule is </a:t>
            </a:r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T</a:t>
            </a:r>
            <a:r>
              <a:rPr lang="en-US" sz="3200" b="1" baseline="-25000" dirty="0" err="1" smtClean="0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en-US" sz="3200" b="1" baseline="-25000" dirty="0" smtClean="0">
                <a:solidFill>
                  <a:schemeClr val="bg2">
                    <a:lumMod val="50000"/>
                  </a:schemeClr>
                </a:solidFill>
              </a:rPr>
              <a:t> +1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</a:rPr>
              <a:t>= 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2T</a:t>
            </a:r>
            <a:r>
              <a:rPr lang="en-US" sz="3200" b="1" baseline="-25000" dirty="0" smtClean="0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; T</a:t>
            </a:r>
            <a:r>
              <a:rPr lang="en-US" sz="3200" b="1" baseline="-25000" dirty="0" smtClean="0">
                <a:solidFill>
                  <a:schemeClr val="bg2">
                    <a:lumMod val="50000"/>
                  </a:schemeClr>
                </a:solidFill>
              </a:rPr>
              <a:t>1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 = 2</a:t>
            </a:r>
            <a:endParaRPr lang="en-US" sz="3200" dirty="0" smtClean="0"/>
          </a:p>
          <a:p>
            <a:r>
              <a:rPr lang="en-US" sz="3200" dirty="0" smtClean="0"/>
              <a:t>It’s </a:t>
            </a:r>
            <a:r>
              <a:rPr lang="en-US" sz="3200" dirty="0" smtClean="0"/>
              <a:t>explicit (general) rule </a:t>
            </a:r>
            <a:r>
              <a:rPr lang="en-US" sz="3200" dirty="0" smtClean="0"/>
              <a:t>is </a:t>
            </a:r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US" sz="3200" b="1" baseline="-25000" dirty="0" err="1" smtClean="0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 = 2</a:t>
            </a:r>
            <a:r>
              <a:rPr lang="en-US" sz="3200" b="1" baseline="30000" dirty="0" smtClean="0">
                <a:solidFill>
                  <a:schemeClr val="bg2">
                    <a:lumMod val="50000"/>
                  </a:schemeClr>
                </a:solidFill>
              </a:rPr>
              <a:t>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7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Geometric 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084831"/>
            <a:ext cx="9186672" cy="4298039"/>
          </a:xfrm>
        </p:spPr>
        <p:txBody>
          <a:bodyPr/>
          <a:lstStyle/>
          <a:p>
            <a:r>
              <a:rPr lang="en-US" sz="3200" dirty="0" smtClean="0"/>
              <a:t>In general we can write a geometric sequence like this:</a:t>
            </a:r>
          </a:p>
          <a:p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b="1" dirty="0" smtClean="0"/>
              <a:t>, </a:t>
            </a:r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3200" b="1" dirty="0" smtClean="0"/>
              <a:t>, 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3200" b="1" baseline="30000" dirty="0" smtClean="0"/>
              <a:t>2</a:t>
            </a:r>
            <a:r>
              <a:rPr lang="en-US" sz="3200" b="1" dirty="0" smtClean="0"/>
              <a:t>, 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3200" b="1" baseline="30000" dirty="0" smtClean="0"/>
              <a:t>3</a:t>
            </a:r>
            <a:r>
              <a:rPr lang="en-US" sz="3200" b="1" dirty="0" smtClean="0"/>
              <a:t>, …</a:t>
            </a:r>
          </a:p>
          <a:p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dirty="0" smtClean="0"/>
              <a:t> is the first term </a:t>
            </a:r>
          </a:p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3200" dirty="0" smtClean="0"/>
              <a:t> is the factor between the terms (called the </a:t>
            </a:r>
            <a:r>
              <a:rPr lang="en-US" sz="3200" b="1" i="1" dirty="0" smtClean="0"/>
              <a:t>“common ratio”</a:t>
            </a:r>
            <a:r>
              <a:rPr lang="en-US" sz="3200" dirty="0" smtClean="0"/>
              <a:t>).</a:t>
            </a:r>
          </a:p>
          <a:p>
            <a:r>
              <a:rPr lang="en-US" sz="3200" dirty="0" smtClean="0"/>
              <a:t>The rule is </a:t>
            </a:r>
            <a:r>
              <a:rPr lang="en-US" sz="3200" b="1" dirty="0" err="1"/>
              <a:t>T</a:t>
            </a:r>
            <a:r>
              <a:rPr lang="en-US" sz="3200" b="1" baseline="-25000" dirty="0" err="1" smtClean="0"/>
              <a:t>n</a:t>
            </a:r>
            <a:r>
              <a:rPr lang="en-US" sz="3200" b="1" dirty="0" smtClean="0"/>
              <a:t> </a:t>
            </a:r>
            <a:r>
              <a:rPr lang="en-US" sz="3200" b="1" dirty="0" smtClean="0"/>
              <a:t>= </a:t>
            </a:r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3200" b="1" baseline="30000" dirty="0" smtClean="0"/>
              <a:t>(n-1)</a:t>
            </a:r>
          </a:p>
          <a:p>
            <a:r>
              <a:rPr lang="en-US" sz="3200" dirty="0" smtClean="0"/>
              <a:t>We use “n-1” because 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lang="en-US" sz="3200" b="1" baseline="30000" dirty="0" smtClean="0"/>
              <a:t>0</a:t>
            </a:r>
            <a:r>
              <a:rPr lang="en-US" sz="3200" b="1" dirty="0" smtClean="0"/>
              <a:t> </a:t>
            </a:r>
            <a:r>
              <a:rPr lang="en-US" sz="3200" dirty="0" smtClean="0"/>
              <a:t>is the 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term.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45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Geometric Sequence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160494"/>
            <a:ext cx="5869731" cy="4023360"/>
          </a:xfrm>
        </p:spPr>
        <p:txBody>
          <a:bodyPr/>
          <a:lstStyle/>
          <a:p>
            <a:r>
              <a:rPr lang="en-US" sz="2800" dirty="0" smtClean="0"/>
              <a:t>For each sequence, if it is geometric, find the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common ratio</a:t>
            </a:r>
            <a:r>
              <a:rPr lang="en-US" sz="28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2, 8, 32, 128,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1, 10, 100, 1000,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1, -1, 1, -1,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20, 16, 12, 8, 4, …</a:t>
            </a:r>
            <a:endParaRPr lang="en-US" sz="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47893" y="3105732"/>
            <a:ext cx="4498131" cy="307812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 = 4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 </a:t>
            </a:r>
            <a:r>
              <a:rPr lang="en-US" sz="2800" dirty="0"/>
              <a:t>= </a:t>
            </a:r>
            <a:r>
              <a:rPr lang="en-US" sz="2800" dirty="0" smtClean="0"/>
              <a:t>1.1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 </a:t>
            </a:r>
            <a:r>
              <a:rPr lang="en-US" sz="2800" dirty="0"/>
              <a:t>= </a:t>
            </a:r>
            <a:r>
              <a:rPr lang="en-US" sz="2800" dirty="0" smtClean="0"/>
              <a:t>-1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Not a geometric sequence.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498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Geometric Sequence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95211" y="2084832"/>
            <a:ext cx="6120743" cy="442898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Write the explicit rule for the sequence</a:t>
            </a:r>
          </a:p>
          <a:p>
            <a:r>
              <a:rPr lang="en-US" sz="2800" dirty="0" smtClean="0"/>
              <a:t>3, 6, 12, 24, 48, … </a:t>
            </a:r>
          </a:p>
          <a:p>
            <a:r>
              <a:rPr lang="en-US" sz="2800" dirty="0" smtClean="0"/>
              <a:t>Start with the formula:  </a:t>
            </a:r>
            <a:r>
              <a:rPr lang="en-US" sz="2800" b="1" dirty="0" err="1"/>
              <a:t>T</a:t>
            </a:r>
            <a:r>
              <a:rPr lang="en-US" sz="2800" b="1" baseline="-25000" dirty="0" err="1" smtClean="0"/>
              <a:t>n</a:t>
            </a:r>
            <a:r>
              <a:rPr lang="en-US" sz="2800" b="1" dirty="0" smtClean="0"/>
              <a:t> </a:t>
            </a:r>
            <a:r>
              <a:rPr lang="en-US" sz="2800" b="1" dirty="0"/>
              <a:t>= </a:t>
            </a:r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2800" b="1" baseline="30000" dirty="0"/>
              <a:t>(n-1)</a:t>
            </a: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sz="2800" dirty="0" smtClean="0"/>
              <a:t> is the first term =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endParaRPr lang="en-US" sz="28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2800" dirty="0" smtClean="0"/>
              <a:t> is the common ratio: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sz="28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 smtClean="0"/>
              <a:t>The rule is:</a:t>
            </a:r>
          </a:p>
          <a:p>
            <a:r>
              <a:rPr lang="en-US" sz="2800" dirty="0" err="1"/>
              <a:t>T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</a:t>
            </a:r>
            <a:r>
              <a:rPr lang="en-US" sz="2800" dirty="0" smtClean="0"/>
              <a:t>= 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</a:rPr>
              <a:t>(3)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(2)</a:t>
            </a:r>
            <a:r>
              <a:rPr lang="en-US" sz="2400" b="1" baseline="30000" dirty="0" smtClean="0"/>
              <a:t>(n-1)</a:t>
            </a:r>
          </a:p>
          <a:p>
            <a:r>
              <a:rPr lang="en-US" sz="1200" b="1" dirty="0" smtClean="0"/>
              <a:t>(Order of operations states that we would take care of exponents before you multiply.)</a:t>
            </a:r>
            <a:endParaRPr lang="en-US" sz="1200" b="1" baseline="30000" dirty="0"/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27705" y="2312894"/>
            <a:ext cx="475362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Find the 12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term of this sequence.</a:t>
            </a:r>
          </a:p>
          <a:p>
            <a:r>
              <a:rPr lang="en-US" sz="2400" dirty="0" smtClean="0"/>
              <a:t>Substitute 12 in for “n.”</a:t>
            </a:r>
          </a:p>
          <a:p>
            <a:r>
              <a:rPr lang="en-US" sz="2800" dirty="0" smtClean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(3)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(2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sz="2800" b="1" baseline="30000" dirty="0" smtClean="0"/>
              <a:t>(12-1</a:t>
            </a:r>
            <a:r>
              <a:rPr lang="en-US" sz="2800" b="1" baseline="30000" dirty="0"/>
              <a:t>)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(3)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(2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sz="2800" b="1" baseline="30000" dirty="0" smtClean="0"/>
              <a:t>(11)</a:t>
            </a:r>
            <a:endParaRPr lang="en-US" sz="2800" b="1" baseline="30000" dirty="0"/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3)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(2048)</a:t>
            </a:r>
          </a:p>
          <a:p>
            <a:r>
              <a:rPr lang="en-US" sz="2800" dirty="0"/>
              <a:t>T</a:t>
            </a:r>
            <a:r>
              <a:rPr lang="en-US" sz="2800" baseline="-25000" dirty="0" smtClean="0"/>
              <a:t>12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6,144</a:t>
            </a: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1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Group Activity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588" y="2084832"/>
            <a:ext cx="8012296" cy="4023360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Each group will receive a set of cards with sequences on them.  </a:t>
            </a:r>
          </a:p>
          <a:p>
            <a:r>
              <a:rPr lang="en-US" sz="3200" dirty="0" smtClean="0"/>
              <a:t>Separate the cards into two columns:  </a:t>
            </a:r>
            <a:r>
              <a:rPr lang="en-US" sz="3200" b="1" dirty="0" smtClean="0">
                <a:solidFill>
                  <a:srgbClr val="0070C0"/>
                </a:solidFill>
              </a:rPr>
              <a:t>Arithmetic</a:t>
            </a:r>
            <a:r>
              <a:rPr lang="en-US" sz="3200" dirty="0" smtClean="0"/>
              <a:t> and </a:t>
            </a:r>
            <a:r>
              <a:rPr lang="en-US" sz="3200" b="1" dirty="0" smtClean="0">
                <a:solidFill>
                  <a:srgbClr val="C00000"/>
                </a:solidFill>
              </a:rPr>
              <a:t>Geometric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For each </a:t>
            </a:r>
            <a:r>
              <a:rPr lang="en-US" sz="3200" b="1" dirty="0" smtClean="0">
                <a:solidFill>
                  <a:srgbClr val="0070C0"/>
                </a:solidFill>
              </a:rPr>
              <a:t>Arithmetic </a:t>
            </a:r>
            <a:r>
              <a:rPr lang="en-US" sz="3200" dirty="0" smtClean="0"/>
              <a:t>Sequence, find the common difference and write an </a:t>
            </a:r>
            <a:r>
              <a:rPr lang="en-US" sz="3200" b="1" dirty="0" smtClean="0">
                <a:solidFill>
                  <a:srgbClr val="0070C0"/>
                </a:solidFill>
              </a:rPr>
              <a:t>Explicit Formula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For each </a:t>
            </a:r>
            <a:r>
              <a:rPr lang="en-US" sz="3200" b="1" dirty="0" smtClean="0">
                <a:solidFill>
                  <a:srgbClr val="C00000"/>
                </a:solidFill>
              </a:rPr>
              <a:t>Geometric</a:t>
            </a:r>
            <a:r>
              <a:rPr lang="en-US" sz="3200" dirty="0" smtClean="0"/>
              <a:t> Sequence, find the common ratio and write a </a:t>
            </a:r>
            <a:r>
              <a:rPr lang="en-US" sz="3200" b="1" dirty="0" smtClean="0">
                <a:solidFill>
                  <a:srgbClr val="C00000"/>
                </a:solidFill>
              </a:rPr>
              <a:t>Explicit Formula</a:t>
            </a:r>
            <a:r>
              <a:rPr lang="en-US" sz="3200" dirty="0" smtClean="0"/>
              <a:t>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7899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787" y="2198862"/>
            <a:ext cx="9720072" cy="2166949"/>
          </a:xfrm>
        </p:spPr>
        <p:txBody>
          <a:bodyPr/>
          <a:lstStyle/>
          <a:p>
            <a:r>
              <a:rPr lang="en-US" dirty="0" smtClean="0"/>
              <a:t>Explain the difference between an </a:t>
            </a:r>
            <a:r>
              <a:rPr lang="en-US" b="1" dirty="0" smtClean="0">
                <a:solidFill>
                  <a:srgbClr val="0070C0"/>
                </a:solidFill>
              </a:rPr>
              <a:t>Arithmetic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Geometric</a:t>
            </a:r>
            <a:r>
              <a:rPr lang="en-US" dirty="0" smtClean="0"/>
              <a:t> Sequence.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69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471</TotalTime>
  <Words>1029</Words>
  <Application>Microsoft Macintosh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Comic Sans MS</vt:lpstr>
      <vt:lpstr>Mangal</vt:lpstr>
      <vt:lpstr>Times New Roman</vt:lpstr>
      <vt:lpstr>Tw Cen MT</vt:lpstr>
      <vt:lpstr>Tw Cen MT Condensed</vt:lpstr>
      <vt:lpstr>Wingdings 3</vt:lpstr>
      <vt:lpstr>Arial</vt:lpstr>
      <vt:lpstr>Integral</vt:lpstr>
      <vt:lpstr>Arithmetic &amp; Geometric Sequences</vt:lpstr>
      <vt:lpstr>PowerPoint Presentation</vt:lpstr>
      <vt:lpstr>Arithmetic Sequence</vt:lpstr>
      <vt:lpstr>Arithmetic Sequence</vt:lpstr>
      <vt:lpstr>Arithmetic Sequence</vt:lpstr>
      <vt:lpstr>Arithmetic Sequence</vt:lpstr>
      <vt:lpstr>Arithmetic Sequence</vt:lpstr>
      <vt:lpstr>Geometric Sequence</vt:lpstr>
      <vt:lpstr>Geometric Sequence</vt:lpstr>
      <vt:lpstr>Geometric Sequence</vt:lpstr>
      <vt:lpstr>Geometric Sequence</vt:lpstr>
      <vt:lpstr>Group Activity</vt:lpstr>
      <vt:lpstr>Explain the difference between an Arithmetic and Geometric Sequence.</vt:lpstr>
    </vt:vector>
  </TitlesOfParts>
  <Company>Kyrene School District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Arithmetic &amp; Geometric Sequences</dc:title>
  <dc:creator>Jensen, Haley</dc:creator>
  <cp:lastModifiedBy>Microsoft Office User</cp:lastModifiedBy>
  <cp:revision>17</cp:revision>
  <dcterms:created xsi:type="dcterms:W3CDTF">2015-01-07T01:49:52Z</dcterms:created>
  <dcterms:modified xsi:type="dcterms:W3CDTF">2019-03-26T12:40:12Z</dcterms:modified>
</cp:coreProperties>
</file>
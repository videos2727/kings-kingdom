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0"/>
  </p:handoutMasterIdLst>
  <p:sldIdLst>
    <p:sldId id="260" r:id="rId2"/>
    <p:sldId id="261" r:id="rId3"/>
    <p:sldId id="262" r:id="rId4"/>
    <p:sldId id="256" r:id="rId5"/>
    <p:sldId id="257" r:id="rId6"/>
    <p:sldId id="258" r:id="rId7"/>
    <p:sldId id="259" r:id="rId8"/>
    <p:sldId id="263" r:id="rId9"/>
  </p:sldIdLst>
  <p:sldSz cx="9144000" cy="6858000" type="screen4x3"/>
  <p:notesSz cx="6797675" cy="9926638"/>
  <p:defaultTextStyle>
    <a:defPPr>
      <a:defRPr lang="en-AU"/>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F57703B-9824-4A59-B322-DD615B6F95F0}" type="datetimeFigureOut">
              <a:rPr lang="en-AU" smtClean="0"/>
              <a:t>7/03/2017</a:t>
            </a:fld>
            <a:endParaRPr lang="en-AU"/>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214C8090-CB15-4073-A687-5D0251266D64}" type="slidenum">
              <a:rPr lang="en-AU" smtClean="0"/>
              <a:t>‹#›</a:t>
            </a:fld>
            <a:endParaRPr lang="en-AU"/>
          </a:p>
        </p:txBody>
      </p:sp>
    </p:spTree>
    <p:extLst>
      <p:ext uri="{BB962C8B-B14F-4D97-AF65-F5344CB8AC3E}">
        <p14:creationId xmlns:p14="http://schemas.microsoft.com/office/powerpoint/2010/main" val="5666456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10ACFDC7-32F5-4C96-A486-E8B9B23EFF1F}" type="slidenum">
              <a:rPr lang="en-AU"/>
              <a:pPr/>
              <a:t>‹#›</a:t>
            </a:fld>
            <a:endParaRPr lang="en-AU"/>
          </a:p>
        </p:txBody>
      </p:sp>
    </p:spTree>
    <p:extLst>
      <p:ext uri="{BB962C8B-B14F-4D97-AF65-F5344CB8AC3E}">
        <p14:creationId xmlns:p14="http://schemas.microsoft.com/office/powerpoint/2010/main" val="1150725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72D041E1-2248-4F2B-B72C-488F3D1B8D4E}" type="slidenum">
              <a:rPr lang="en-AU"/>
              <a:pPr/>
              <a:t>‹#›</a:t>
            </a:fld>
            <a:endParaRPr lang="en-AU"/>
          </a:p>
        </p:txBody>
      </p:sp>
    </p:spTree>
    <p:extLst>
      <p:ext uri="{BB962C8B-B14F-4D97-AF65-F5344CB8AC3E}">
        <p14:creationId xmlns:p14="http://schemas.microsoft.com/office/powerpoint/2010/main" val="2522550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787FA5CD-1146-46E7-B241-D9B5D1F56145}" type="slidenum">
              <a:rPr lang="en-AU"/>
              <a:pPr/>
              <a:t>‹#›</a:t>
            </a:fld>
            <a:endParaRPr lang="en-AU"/>
          </a:p>
        </p:txBody>
      </p:sp>
    </p:spTree>
    <p:extLst>
      <p:ext uri="{BB962C8B-B14F-4D97-AF65-F5344CB8AC3E}">
        <p14:creationId xmlns:p14="http://schemas.microsoft.com/office/powerpoint/2010/main" val="1531236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F9A4F8AC-6018-43A6-B408-75B2D17653A9}" type="slidenum">
              <a:rPr lang="en-AU"/>
              <a:pPr/>
              <a:t>‹#›</a:t>
            </a:fld>
            <a:endParaRPr lang="en-AU"/>
          </a:p>
        </p:txBody>
      </p:sp>
    </p:spTree>
    <p:extLst>
      <p:ext uri="{BB962C8B-B14F-4D97-AF65-F5344CB8AC3E}">
        <p14:creationId xmlns:p14="http://schemas.microsoft.com/office/powerpoint/2010/main" val="3263136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63E01116-FA93-4449-910B-E9FCEE68879C}" type="slidenum">
              <a:rPr lang="en-AU"/>
              <a:pPr/>
              <a:t>‹#›</a:t>
            </a:fld>
            <a:endParaRPr lang="en-AU"/>
          </a:p>
        </p:txBody>
      </p:sp>
    </p:spTree>
    <p:extLst>
      <p:ext uri="{BB962C8B-B14F-4D97-AF65-F5344CB8AC3E}">
        <p14:creationId xmlns:p14="http://schemas.microsoft.com/office/powerpoint/2010/main" val="362841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5E7635F7-18CD-4D00-80D4-E47C1BB134AD}" type="slidenum">
              <a:rPr lang="en-AU"/>
              <a:pPr/>
              <a:t>‹#›</a:t>
            </a:fld>
            <a:endParaRPr lang="en-AU"/>
          </a:p>
        </p:txBody>
      </p:sp>
    </p:spTree>
    <p:extLst>
      <p:ext uri="{BB962C8B-B14F-4D97-AF65-F5344CB8AC3E}">
        <p14:creationId xmlns:p14="http://schemas.microsoft.com/office/powerpoint/2010/main" val="3253994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F3472FDF-E14C-454B-B668-749D51340081}" type="slidenum">
              <a:rPr lang="en-AU"/>
              <a:pPr/>
              <a:t>‹#›</a:t>
            </a:fld>
            <a:endParaRPr lang="en-AU"/>
          </a:p>
        </p:txBody>
      </p:sp>
    </p:spTree>
    <p:extLst>
      <p:ext uri="{BB962C8B-B14F-4D97-AF65-F5344CB8AC3E}">
        <p14:creationId xmlns:p14="http://schemas.microsoft.com/office/powerpoint/2010/main" val="282232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A56EF4CB-34FC-4BA6-91BD-F1B82CD9296E}" type="slidenum">
              <a:rPr lang="en-AU"/>
              <a:pPr/>
              <a:t>‹#›</a:t>
            </a:fld>
            <a:endParaRPr lang="en-AU"/>
          </a:p>
        </p:txBody>
      </p:sp>
    </p:spTree>
    <p:extLst>
      <p:ext uri="{BB962C8B-B14F-4D97-AF65-F5344CB8AC3E}">
        <p14:creationId xmlns:p14="http://schemas.microsoft.com/office/powerpoint/2010/main" val="4102550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F90D2539-C448-435A-938F-43FB64A104E7}" type="slidenum">
              <a:rPr lang="en-AU"/>
              <a:pPr/>
              <a:t>‹#›</a:t>
            </a:fld>
            <a:endParaRPr lang="en-AU"/>
          </a:p>
        </p:txBody>
      </p:sp>
    </p:spTree>
    <p:extLst>
      <p:ext uri="{BB962C8B-B14F-4D97-AF65-F5344CB8AC3E}">
        <p14:creationId xmlns:p14="http://schemas.microsoft.com/office/powerpoint/2010/main" val="254643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88C066B3-D629-4027-B04F-CDBAE8BC0910}" type="slidenum">
              <a:rPr lang="en-AU"/>
              <a:pPr/>
              <a:t>‹#›</a:t>
            </a:fld>
            <a:endParaRPr lang="en-AU"/>
          </a:p>
        </p:txBody>
      </p:sp>
    </p:spTree>
    <p:extLst>
      <p:ext uri="{BB962C8B-B14F-4D97-AF65-F5344CB8AC3E}">
        <p14:creationId xmlns:p14="http://schemas.microsoft.com/office/powerpoint/2010/main" val="2307517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8E0A339-2752-4563-9B44-AFE22C03B1AA}" type="slidenum">
              <a:rPr lang="en-AU"/>
              <a:pPr/>
              <a:t>‹#›</a:t>
            </a:fld>
            <a:endParaRPr lang="en-AU"/>
          </a:p>
        </p:txBody>
      </p:sp>
    </p:spTree>
    <p:extLst>
      <p:ext uri="{BB962C8B-B14F-4D97-AF65-F5344CB8AC3E}">
        <p14:creationId xmlns:p14="http://schemas.microsoft.com/office/powerpoint/2010/main" val="1568264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AU"/>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AU"/>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AU"/>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D561251B-62C1-4058-BE3C-72F6084C97FB}" type="slidenum">
              <a:rPr lang="en-AU"/>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oleObject" Target="../embeddings/oleObject3.bin"/><Relationship Id="rId7" Type="http://schemas.openxmlformats.org/officeDocument/2006/relationships/image" Target="../media/image6.png"/><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5.wmf"/><Relationship Id="rId11" Type="http://schemas.openxmlformats.org/officeDocument/2006/relationships/image" Target="../media/image10.png"/><Relationship Id="rId5" Type="http://schemas.openxmlformats.org/officeDocument/2006/relationships/oleObject" Target="../embeddings/oleObject4.bin"/><Relationship Id="rId10" Type="http://schemas.openxmlformats.org/officeDocument/2006/relationships/image" Target="../media/image9.png"/><Relationship Id="rId4" Type="http://schemas.openxmlformats.org/officeDocument/2006/relationships/image" Target="../media/image4.wmf"/><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5.bin"/><Relationship Id="rId7" Type="http://schemas.openxmlformats.org/officeDocument/2006/relationships/image" Target="../media/image11.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4.wmf"/><Relationship Id="rId5" Type="http://schemas.openxmlformats.org/officeDocument/2006/relationships/oleObject" Target="../embeddings/oleObject6.bin"/><Relationship Id="rId4" Type="http://schemas.openxmlformats.org/officeDocument/2006/relationships/image" Target="../media/image5.wmf"/><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31640" y="1916832"/>
            <a:ext cx="6427850" cy="1384995"/>
          </a:xfrm>
          <a:prstGeom prst="rect">
            <a:avLst/>
          </a:prstGeom>
          <a:noFill/>
        </p:spPr>
        <p:txBody>
          <a:bodyPr wrap="none" rtlCol="0">
            <a:spAutoFit/>
          </a:bodyPr>
          <a:lstStyle/>
          <a:p>
            <a:pPr algn="ctr"/>
            <a:r>
              <a:rPr lang="en-AU" sz="2800" dirty="0">
                <a:latin typeface="Calibri" pitchFamily="34" charset="0"/>
                <a:cs typeface="Calibri" pitchFamily="34" charset="0"/>
              </a:rPr>
              <a:t>Hi all have a go at exercise 3A page 73 first </a:t>
            </a:r>
          </a:p>
          <a:p>
            <a:pPr algn="ctr"/>
            <a:endParaRPr lang="en-AU" sz="2800" dirty="0">
              <a:latin typeface="Calibri" pitchFamily="34" charset="0"/>
              <a:cs typeface="Calibri" pitchFamily="34" charset="0"/>
            </a:endParaRPr>
          </a:p>
          <a:p>
            <a:pPr algn="ctr"/>
            <a:r>
              <a:rPr lang="en-AU" sz="2800" dirty="0">
                <a:latin typeface="Calibri" pitchFamily="34" charset="0"/>
                <a:cs typeface="Calibri" pitchFamily="34" charset="0"/>
              </a:rPr>
              <a:t>Then have a look at the next pages</a:t>
            </a:r>
          </a:p>
        </p:txBody>
      </p:sp>
    </p:spTree>
    <p:extLst>
      <p:ext uri="{BB962C8B-B14F-4D97-AF65-F5344CB8AC3E}">
        <p14:creationId xmlns:p14="http://schemas.microsoft.com/office/powerpoint/2010/main" val="37110981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s://mathspace-production-media.mathspace.co/media/upload/images/001_Chapter_Entries/Sequences_and_Series/johnconway-sequence.jpg"/>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95575"/>
            <a:ext cx="3289548" cy="4162425"/>
          </a:xfrm>
          <a:prstGeom prst="rect">
            <a:avLst/>
          </a:prstGeom>
          <a:noFill/>
          <a:ln>
            <a:noFill/>
          </a:ln>
        </p:spPr>
      </p:pic>
      <p:sp>
        <p:nvSpPr>
          <p:cNvPr id="5" name="Rectangle 4"/>
          <p:cNvSpPr/>
          <p:nvPr/>
        </p:nvSpPr>
        <p:spPr>
          <a:xfrm>
            <a:off x="82228" y="110252"/>
            <a:ext cx="8928992" cy="2585323"/>
          </a:xfrm>
          <a:prstGeom prst="rect">
            <a:avLst/>
          </a:prstGeom>
        </p:spPr>
        <p:txBody>
          <a:bodyPr wrap="square">
            <a:spAutoFit/>
          </a:bodyPr>
          <a:lstStyle/>
          <a:p>
            <a:pPr algn="ctr"/>
            <a:r>
              <a:rPr lang="en-AU" b="1" u="sng" dirty="0">
                <a:latin typeface="Calibri" pitchFamily="34" charset="0"/>
                <a:cs typeface="Calibri" pitchFamily="34" charset="0"/>
              </a:rPr>
              <a:t>Introduction to sequences</a:t>
            </a:r>
          </a:p>
          <a:p>
            <a:r>
              <a:rPr lang="en-AU" dirty="0">
                <a:latin typeface="Calibri" pitchFamily="34" charset="0"/>
                <a:cs typeface="Calibri" pitchFamily="34" charset="0"/>
              </a:rPr>
              <a:t>An ordered list of numbers, separated by commas, is called a </a:t>
            </a:r>
            <a:r>
              <a:rPr lang="en-AU" i="1" dirty="0">
                <a:latin typeface="Calibri" pitchFamily="34" charset="0"/>
                <a:cs typeface="Calibri" pitchFamily="34" charset="0"/>
              </a:rPr>
              <a:t>progression</a:t>
            </a:r>
            <a:r>
              <a:rPr lang="en-AU" dirty="0">
                <a:latin typeface="Calibri" pitchFamily="34" charset="0"/>
                <a:cs typeface="Calibri" pitchFamily="34" charset="0"/>
              </a:rPr>
              <a:t> or </a:t>
            </a:r>
            <a:r>
              <a:rPr lang="en-AU" i="1" dirty="0">
                <a:latin typeface="Calibri" pitchFamily="34" charset="0"/>
                <a:cs typeface="Calibri" pitchFamily="34" charset="0"/>
              </a:rPr>
              <a:t>sequence</a:t>
            </a:r>
            <a:r>
              <a:rPr lang="en-AU" dirty="0">
                <a:latin typeface="Calibri" pitchFamily="34" charset="0"/>
                <a:cs typeface="Calibri" pitchFamily="34" charset="0"/>
              </a:rPr>
              <a:t>. For example  −3,5,13,21  and 1,10,100,1000  are two interesting mathematical progressions. If the sequence ends, it is known as a finite sequence. Otherwise it is said to be infinite. You might notice that in both examples there is a pattern in the way the progressions are formed. In the first progression, each term, other than the first, is eight more than the previous term in the list. In the second progression, each term, apart from the first, is ten times more than the previous term. When a pattern is detectable in a progression, a generating rule can often be established that allows us to determine any term in the sequence. </a:t>
            </a:r>
          </a:p>
        </p:txBody>
      </p:sp>
      <p:sp>
        <p:nvSpPr>
          <p:cNvPr id="6" name="Rectangle 5"/>
          <p:cNvSpPr/>
          <p:nvPr/>
        </p:nvSpPr>
        <p:spPr>
          <a:xfrm>
            <a:off x="3851920" y="2861072"/>
            <a:ext cx="4572000" cy="2862322"/>
          </a:xfrm>
          <a:prstGeom prst="rect">
            <a:avLst/>
          </a:prstGeom>
        </p:spPr>
        <p:txBody>
          <a:bodyPr>
            <a:spAutoFit/>
          </a:bodyPr>
          <a:lstStyle/>
          <a:p>
            <a:r>
              <a:rPr lang="en-AU" dirty="0">
                <a:latin typeface="Calibri" pitchFamily="34" charset="0"/>
                <a:cs typeface="Calibri" pitchFamily="34" charset="0"/>
              </a:rPr>
              <a:t>Sequences can have strange generating rules like this one provided by the mathematician John Conway. It begins 1,11,21,1211,111221,… and so on. It starts with the number 1, and the next term is created by observing that the first term is really  “one 1”. The third term is created by observing that the second term is really “two 1s”. The fourth term likewise is generated as “one 2, and one 1”. The process of generation continues indefinitely.</a:t>
            </a:r>
          </a:p>
        </p:txBody>
      </p:sp>
    </p:spTree>
    <p:extLst>
      <p:ext uri="{BB962C8B-B14F-4D97-AF65-F5344CB8AC3E}">
        <p14:creationId xmlns:p14="http://schemas.microsoft.com/office/powerpoint/2010/main" val="3228080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83816" y="1268760"/>
            <a:ext cx="8064896" cy="2862322"/>
          </a:xfrm>
          <a:prstGeom prst="rect">
            <a:avLst/>
          </a:prstGeom>
        </p:spPr>
        <p:txBody>
          <a:bodyPr wrap="square">
            <a:spAutoFit/>
          </a:bodyPr>
          <a:lstStyle/>
          <a:p>
            <a:r>
              <a:rPr lang="en-AU" dirty="0">
                <a:latin typeface="Calibri" pitchFamily="34" charset="0"/>
                <a:cs typeface="Calibri" pitchFamily="34" charset="0"/>
              </a:rPr>
              <a:t>There are some sequences that appear to have no pattern at all, but nevertheless have a certain logical way of building. For example, the sequence 3,1,4,1,5,9,… separating the digits of pi - π  exhibits no discernable pattern and continues to do so indefinitely. </a:t>
            </a:r>
          </a:p>
          <a:p>
            <a:r>
              <a:rPr lang="en-AU" dirty="0">
                <a:latin typeface="Calibri" pitchFamily="34" charset="0"/>
                <a:cs typeface="Calibri" pitchFamily="34" charset="0"/>
              </a:rPr>
              <a:t>There are strange sequences such as 7,22,11,34,17,52,26,13,40,20,10,5,16,8,4,2,1,4,2,1,4,2,… which begin with any positive integer (here, 7 was chosen) and then, depending on the parity of the starting term, one of two rules are used to generate the next term. If the term is odd, triple it and add 1. If it’s even, halve it. In this way the sequence always ends with the three numbers 4, 2 and 1, no matter what the starting number. </a:t>
            </a:r>
          </a:p>
        </p:txBody>
      </p:sp>
    </p:spTree>
    <p:extLst>
      <p:ext uri="{BB962C8B-B14F-4D97-AF65-F5344CB8AC3E}">
        <p14:creationId xmlns:p14="http://schemas.microsoft.com/office/powerpoint/2010/main" val="1606760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ChangeArrowheads="1"/>
          </p:cNvSpPr>
          <p:nvPr/>
        </p:nvSpPr>
        <p:spPr bwMode="auto">
          <a:xfrm>
            <a:off x="132542" y="233869"/>
            <a:ext cx="885666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AU" sz="1600" dirty="0">
                <a:latin typeface="Calibri" pitchFamily="34" charset="0"/>
                <a:cs typeface="Calibri" pitchFamily="34" charset="0"/>
              </a:rPr>
              <a:t>SEQUENCES</a:t>
            </a:r>
            <a:br>
              <a:rPr lang="en-AU" sz="1600" dirty="0">
                <a:latin typeface="Calibri" pitchFamily="34" charset="0"/>
                <a:cs typeface="Calibri" pitchFamily="34" charset="0"/>
              </a:rPr>
            </a:br>
            <a:r>
              <a:rPr lang="en-AU" sz="1600" dirty="0">
                <a:latin typeface="Calibri" pitchFamily="34" charset="0"/>
                <a:cs typeface="Calibri" pitchFamily="34" charset="0"/>
              </a:rPr>
              <a:t>A sequence is a set of numbers in order, determined by some defining rule. This may be</a:t>
            </a:r>
            <a:r>
              <a:rPr lang="en-AU" sz="1600" b="1" dirty="0">
                <a:latin typeface="Calibri" pitchFamily="34" charset="0"/>
                <a:cs typeface="Calibri" pitchFamily="34" charset="0"/>
              </a:rPr>
              <a:t> explicit</a:t>
            </a:r>
            <a:r>
              <a:rPr lang="en-AU" sz="1600" dirty="0">
                <a:latin typeface="Calibri" pitchFamily="34" charset="0"/>
                <a:cs typeface="Calibri" pitchFamily="34" charset="0"/>
              </a:rPr>
              <a:t> (the rule is stated) or </a:t>
            </a:r>
            <a:r>
              <a:rPr lang="en-AU" sz="1600" b="1" dirty="0">
                <a:latin typeface="Calibri" pitchFamily="34" charset="0"/>
                <a:cs typeface="Calibri" pitchFamily="34" charset="0"/>
              </a:rPr>
              <a:t>implicit</a:t>
            </a:r>
            <a:r>
              <a:rPr lang="en-AU" sz="1600" dirty="0">
                <a:latin typeface="Calibri" pitchFamily="34" charset="0"/>
                <a:cs typeface="Calibri" pitchFamily="34" charset="0"/>
              </a:rPr>
              <a:t> (the rule may be implied from a listing of the ordered terms).</a:t>
            </a:r>
          </a:p>
          <a:p>
            <a:r>
              <a:rPr lang="en-AU" sz="1600" dirty="0">
                <a:latin typeface="Calibri" pitchFamily="34" charset="0"/>
                <a:cs typeface="Calibri" pitchFamily="34" charset="0"/>
              </a:rPr>
              <a:t>The first term of a sequence is denoted by T</a:t>
            </a:r>
            <a:r>
              <a:rPr lang="en-AU" sz="1600" baseline="-25000" dirty="0">
                <a:latin typeface="Calibri" pitchFamily="34" charset="0"/>
                <a:cs typeface="Calibri" pitchFamily="34" charset="0"/>
              </a:rPr>
              <a:t>1</a:t>
            </a:r>
          </a:p>
          <a:p>
            <a:r>
              <a:rPr lang="en-AU" sz="1600" dirty="0">
                <a:latin typeface="Calibri" pitchFamily="34" charset="0"/>
                <a:cs typeface="Calibri" pitchFamily="34" charset="0"/>
              </a:rPr>
              <a:t>The second term of a sequence is denoted by T</a:t>
            </a:r>
            <a:r>
              <a:rPr lang="en-AU" sz="1600" baseline="-25000" dirty="0">
                <a:latin typeface="Calibri" pitchFamily="34" charset="0"/>
                <a:cs typeface="Calibri" pitchFamily="34" charset="0"/>
              </a:rPr>
              <a:t>2</a:t>
            </a:r>
          </a:p>
          <a:p>
            <a:r>
              <a:rPr lang="en-AU" sz="1600" dirty="0">
                <a:latin typeface="Calibri" pitchFamily="34" charset="0"/>
                <a:cs typeface="Calibri" pitchFamily="34" charset="0"/>
              </a:rPr>
              <a:t>The third term of a sequence is denoted by T</a:t>
            </a:r>
            <a:r>
              <a:rPr lang="en-AU" sz="1600" baseline="-25000" dirty="0">
                <a:latin typeface="Calibri" pitchFamily="34" charset="0"/>
                <a:cs typeface="Calibri" pitchFamily="34" charset="0"/>
              </a:rPr>
              <a:t>3</a:t>
            </a:r>
          </a:p>
          <a:p>
            <a:r>
              <a:rPr lang="en-AU" sz="1600" dirty="0">
                <a:latin typeface="Calibri" pitchFamily="34" charset="0"/>
                <a:cs typeface="Calibri" pitchFamily="34" charset="0"/>
              </a:rPr>
              <a:t>The nth term of a sequence is denoted by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endParaRPr lang="en-AU" sz="1600" baseline="-25000" dirty="0">
              <a:latin typeface="Calibri" pitchFamily="34" charset="0"/>
              <a:cs typeface="Calibri" pitchFamily="34" charset="0"/>
            </a:endParaRPr>
          </a:p>
          <a:p>
            <a:r>
              <a:rPr lang="en-AU" sz="1600" dirty="0">
                <a:latin typeface="Calibri" pitchFamily="34" charset="0"/>
                <a:cs typeface="Calibri" pitchFamily="34" charset="0"/>
              </a:rPr>
              <a:t>Ex	In the sequence	5, 9, 13, 17, . . . </a:t>
            </a:r>
            <a:br>
              <a:rPr lang="en-AU" sz="1600" dirty="0">
                <a:latin typeface="Calibri" pitchFamily="34" charset="0"/>
                <a:cs typeface="Calibri" pitchFamily="34" charset="0"/>
              </a:rPr>
            </a:br>
            <a:r>
              <a:rPr lang="en-AU" sz="1600" dirty="0">
                <a:latin typeface="Calibri" pitchFamily="34" charset="0"/>
                <a:cs typeface="Calibri" pitchFamily="34" charset="0"/>
              </a:rPr>
              <a:t>	T</a:t>
            </a:r>
            <a:r>
              <a:rPr lang="en-AU" sz="1600" baseline="-25000" dirty="0">
                <a:latin typeface="Calibri" pitchFamily="34" charset="0"/>
                <a:cs typeface="Calibri" pitchFamily="34" charset="0"/>
              </a:rPr>
              <a:t>1 </a:t>
            </a:r>
            <a:r>
              <a:rPr lang="en-AU" sz="1600" dirty="0">
                <a:latin typeface="Calibri" pitchFamily="34" charset="0"/>
                <a:cs typeface="Calibri" pitchFamily="34" charset="0"/>
              </a:rPr>
              <a:t>= 5, 	       T</a:t>
            </a:r>
            <a:r>
              <a:rPr lang="en-AU" sz="1600" baseline="-25000" dirty="0">
                <a:latin typeface="Calibri" pitchFamily="34" charset="0"/>
                <a:cs typeface="Calibri" pitchFamily="34" charset="0"/>
              </a:rPr>
              <a:t>4</a:t>
            </a:r>
            <a:r>
              <a:rPr lang="en-AU" sz="1600" dirty="0">
                <a:latin typeface="Calibri" pitchFamily="34" charset="0"/>
                <a:cs typeface="Calibri" pitchFamily="34" charset="0"/>
              </a:rPr>
              <a:t> = 17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4n + 1 (Do you remember how to find rules??)</a:t>
            </a:r>
          </a:p>
          <a:p>
            <a:r>
              <a:rPr lang="en-AU" sz="1600" dirty="0">
                <a:latin typeface="Calibri" pitchFamily="34" charset="0"/>
                <a:cs typeface="Calibri" pitchFamily="34" charset="0"/>
              </a:rPr>
              <a:t>	</a:t>
            </a:r>
            <a:r>
              <a:rPr lang="en-AU" sz="1000" dirty="0">
                <a:latin typeface="Calibri" pitchFamily="34" charset="0"/>
                <a:cs typeface="Calibri" pitchFamily="34" charset="0"/>
              </a:rPr>
              <a:t>The first term is 5          the fourth term is 17        the nth term is found by multiplying n by 4, then adding 1</a:t>
            </a:r>
          </a:p>
          <a:p>
            <a:r>
              <a:rPr lang="en-AU" sz="1600" dirty="0">
                <a:latin typeface="Calibri" pitchFamily="34" charset="0"/>
                <a:cs typeface="Calibri" pitchFamily="34" charset="0"/>
              </a:rPr>
              <a:t>e.g.</a:t>
            </a:r>
          </a:p>
          <a:p>
            <a:r>
              <a:rPr lang="en-AU" sz="1600" dirty="0">
                <a:latin typeface="Calibri" pitchFamily="34" charset="0"/>
                <a:cs typeface="Calibri" pitchFamily="34" charset="0"/>
              </a:rPr>
              <a:t>                             IMPLICIT			   EXPLICIT</a:t>
            </a:r>
          </a:p>
        </p:txBody>
      </p:sp>
      <p:graphicFrame>
        <p:nvGraphicFramePr>
          <p:cNvPr id="2246" name="Group 198"/>
          <p:cNvGraphicFramePr>
            <a:graphicFrameLocks noGrp="1"/>
          </p:cNvGraphicFramePr>
          <p:nvPr>
            <p:extLst>
              <p:ext uri="{D42A27DB-BD31-4B8C-83A1-F6EECF244321}">
                <p14:modId xmlns:p14="http://schemas.microsoft.com/office/powerpoint/2010/main" val="4055776960"/>
              </p:ext>
            </p:extLst>
          </p:nvPr>
        </p:nvGraphicFramePr>
        <p:xfrm>
          <a:off x="1299368" y="3212976"/>
          <a:ext cx="6257925" cy="2775588"/>
        </p:xfrm>
        <a:graphic>
          <a:graphicData uri="http://schemas.openxmlformats.org/drawingml/2006/table">
            <a:tbl>
              <a:tblPr/>
              <a:tblGrid>
                <a:gridCol w="2085975">
                  <a:extLst>
                    <a:ext uri="{9D8B030D-6E8A-4147-A177-3AD203B41FA5}">
                      <a16:colId xmlns:a16="http://schemas.microsoft.com/office/drawing/2014/main" val="20000"/>
                    </a:ext>
                  </a:extLst>
                </a:gridCol>
                <a:gridCol w="1943100">
                  <a:extLst>
                    <a:ext uri="{9D8B030D-6E8A-4147-A177-3AD203B41FA5}">
                      <a16:colId xmlns:a16="http://schemas.microsoft.com/office/drawing/2014/main" val="20001"/>
                    </a:ext>
                  </a:extLst>
                </a:gridCol>
                <a:gridCol w="2228850">
                  <a:extLst>
                    <a:ext uri="{9D8B030D-6E8A-4147-A177-3AD203B41FA5}">
                      <a16:colId xmlns:a16="http://schemas.microsoft.com/office/drawing/2014/main" val="20002"/>
                    </a:ext>
                  </a:extLst>
                </a:gridCol>
              </a:tblGrid>
              <a:tr h="2746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dirty="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General term</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Recursive</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1, 2, 3, 4, . . .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n</a:t>
                      </a:r>
                      <a:endParaRPr kumimoji="0" lang="en-AU" sz="1000" b="0" i="0" u="none" strike="noStrike" cap="none" normalizeH="0" baseline="0">
                        <a:ln>
                          <a:noFill/>
                        </a:ln>
                        <a:solidFill>
                          <a:schemeClr val="tx1"/>
                        </a:solidFill>
                        <a:effectLst/>
                        <a:latin typeface="Times New Roman" pitchFamily="18" charset="0"/>
                        <a:ea typeface="MS Mincho" pitchFamily="49" charset="-128"/>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7, 10, 13, 16, . . .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3n + 4</a:t>
                      </a:r>
                      <a:endParaRPr kumimoji="0" lang="en-AU" sz="1000" b="0" i="0" u="none" strike="noStrike" cap="none" normalizeH="0" baseline="0">
                        <a:ln>
                          <a:noFill/>
                        </a:ln>
                        <a:solidFill>
                          <a:schemeClr val="tx1"/>
                        </a:solidFill>
                        <a:effectLst/>
                        <a:latin typeface="Times New Roman" pitchFamily="18" charset="0"/>
                        <a:ea typeface="MS Mincho" pitchFamily="49" charset="-128"/>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dirty="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a:t>
                      </a:r>
                      <a:r>
                        <a:rPr kumimoji="0" lang="en-AU" sz="1200" b="0" i="0" u="none" strike="noStrike" cap="none" normalizeH="0" baseline="0" dirty="0" err="1">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dirty="0" err="1">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+ 3; T</a:t>
                      </a:r>
                      <a:r>
                        <a:rPr kumimoji="0" lang="en-AU" sz="1200" b="0" i="0" u="none" strike="noStrike" cap="none" normalizeH="0" baseline="-30000" dirty="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 7</a:t>
                      </a:r>
                      <a:endParaRPr kumimoji="0" lang="en-AU" sz="1800" b="0" i="0" u="none" strike="noStrike" cap="none" normalizeH="0" baseline="0" dirty="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1, 2, 4, 8, 16, . .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=2</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a:t>
                      </a:r>
                      <a:endParaRPr kumimoji="0" lang="en-AU" sz="1000" b="0" i="0" u="none" strike="noStrike" cap="none" normalizeH="0" baseline="0">
                        <a:ln>
                          <a:noFill/>
                        </a:ln>
                        <a:solidFill>
                          <a:schemeClr val="tx1"/>
                        </a:solidFill>
                        <a:effectLst/>
                        <a:latin typeface="Times New Roman" pitchFamily="18" charset="0"/>
                        <a:ea typeface="MS Mincho" pitchFamily="49" charset="-128"/>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2;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1, 1, 2, 5, 8, 13, . .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2</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144, 108, 72, 48, . .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rPr>
                        <a:t>Tn =216 × (</a:t>
                      </a:r>
                      <a:r>
                        <a:rPr kumimoji="0" lang="en-AU" sz="1200" b="0" i="0" u="none" strike="noStrike" cap="none" normalizeH="0" baseline="0">
                          <a:ln>
                            <a:noFill/>
                          </a:ln>
                          <a:solidFill>
                            <a:schemeClr val="tx1"/>
                          </a:solidFill>
                          <a:effectLst/>
                          <a:latin typeface="Arial" pitchFamily="34" charset="0"/>
                          <a:cs typeface="Arial" pitchFamily="34" charset="0"/>
                        </a:rPr>
                        <a:t>⅔</a:t>
                      </a:r>
                      <a:r>
                        <a:rPr kumimoji="0" lang="en-AU" sz="1200" b="0" i="0" u="none" strike="noStrike" cap="none" normalizeH="0" baseline="0">
                          <a:ln>
                            <a:noFill/>
                          </a:ln>
                          <a:solidFill>
                            <a:schemeClr val="tx1"/>
                          </a:solidFill>
                          <a:effectLst/>
                          <a:latin typeface="Arial" pitchFamily="34" charset="0"/>
                        </a:rPr>
                        <a:t>)</a:t>
                      </a:r>
                      <a:r>
                        <a:rPr kumimoji="0" lang="en-AU" sz="1200" b="0" i="0" u="none" strike="noStrike" cap="none" normalizeH="0" baseline="30000">
                          <a:ln>
                            <a:noFill/>
                          </a:ln>
                          <a:solidFill>
                            <a:schemeClr val="tx1"/>
                          </a:solidFill>
                          <a:effectLst/>
                          <a:latin typeface="Arial" pitchFamily="34" charset="0"/>
                        </a:rPr>
                        <a:t>n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25000">
                          <a:ln>
                            <a:noFill/>
                          </a:ln>
                          <a:solidFill>
                            <a:schemeClr val="tx1"/>
                          </a:solidFill>
                          <a:effectLst/>
                          <a:latin typeface="Arial" pitchFamily="34" charset="0"/>
                          <a:ea typeface="MS Mincho" pitchFamily="49" charset="-128"/>
                          <a:cs typeface="Arial" pitchFamily="34" charset="0"/>
                        </a:rPr>
                        <a:t>n+1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T</a:t>
                      </a:r>
                      <a:r>
                        <a:rPr kumimoji="0" lang="en-AU" sz="1200" b="0" i="0" u="none" strike="noStrike" cap="none" normalizeH="0" baseline="-25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×⅔ ; T</a:t>
                      </a:r>
                      <a:r>
                        <a:rPr kumimoji="0" lang="en-AU" sz="1200" b="0" i="0" u="none" strike="noStrike" cap="none" normalizeH="0" baseline="-2500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144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1, 4, 9, 16, 25, . . .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=n</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2</a:t>
                      </a:r>
                      <a:endParaRPr kumimoji="0" lang="en-AU" sz="1000" b="0" i="0" u="none" strike="noStrike" cap="none" normalizeH="0" baseline="0">
                        <a:ln>
                          <a:noFill/>
                        </a:ln>
                        <a:solidFill>
                          <a:schemeClr val="tx1"/>
                        </a:solidFill>
                        <a:effectLst/>
                        <a:latin typeface="Times New Roman" pitchFamily="18" charset="0"/>
                        <a:ea typeface="MS Mincho" pitchFamily="49" charset="-128"/>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+ 2n + 1; 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1</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60, 30, 20, 15, 12, . . .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rPr>
                        <a:t>T</a:t>
                      </a:r>
                      <a:r>
                        <a:rPr kumimoji="0" lang="en-AU" sz="1200" b="0" i="0" u="none" strike="noStrike" cap="none" normalizeH="0" baseline="-25000">
                          <a:ln>
                            <a:noFill/>
                          </a:ln>
                          <a:solidFill>
                            <a:schemeClr val="tx1"/>
                          </a:solidFill>
                          <a:effectLst/>
                          <a:latin typeface="Arial" pitchFamily="34" charset="0"/>
                        </a:rPr>
                        <a:t>n</a:t>
                      </a:r>
                      <a:r>
                        <a:rPr kumimoji="0" lang="en-AU" sz="1200" b="0" i="0" u="none" strike="noStrike" cap="none" normalizeH="0" baseline="0">
                          <a:ln>
                            <a:noFill/>
                          </a:ln>
                          <a:solidFill>
                            <a:schemeClr val="tx1"/>
                          </a:solidFill>
                          <a:effectLst/>
                          <a:latin typeface="Arial" pitchFamily="34" charset="0"/>
                        </a:rPr>
                        <a:t>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rPr>
                        <a:t>T</a:t>
                      </a:r>
                      <a:r>
                        <a:rPr kumimoji="0" lang="en-AU" sz="1200" b="0" i="0" u="none" strike="noStrike" cap="none" normalizeH="0" baseline="-25000">
                          <a:ln>
                            <a:noFill/>
                          </a:ln>
                          <a:solidFill>
                            <a:schemeClr val="tx1"/>
                          </a:solidFill>
                          <a:effectLst/>
                          <a:latin typeface="Arial" pitchFamily="34" charset="0"/>
                        </a:rPr>
                        <a:t>n+1</a:t>
                      </a:r>
                      <a:r>
                        <a:rPr kumimoji="0" lang="en-AU" sz="1200" b="0" i="0" u="none" strike="noStrike" cap="none" normalizeH="0" baseline="0">
                          <a:ln>
                            <a:noFill/>
                          </a:ln>
                          <a:solidFill>
                            <a:schemeClr val="tx1"/>
                          </a:solidFill>
                          <a:effectLst/>
                          <a:latin typeface="Arial" pitchFamily="34" charset="0"/>
                        </a:rPr>
                        <a:t> = T</a:t>
                      </a:r>
                      <a:r>
                        <a:rPr kumimoji="0" lang="en-AU" sz="1200" b="0" i="0" u="none" strike="noStrike" cap="none" normalizeH="0" baseline="-25000">
                          <a:ln>
                            <a:noFill/>
                          </a:ln>
                          <a:solidFill>
                            <a:schemeClr val="tx1"/>
                          </a:solidFill>
                          <a:effectLst/>
                          <a:latin typeface="Arial" pitchFamily="34" charset="0"/>
                        </a:rPr>
                        <a:t>n</a:t>
                      </a:r>
                      <a:r>
                        <a:rPr kumimoji="0" lang="en-AU" sz="1200" b="0" i="0" u="none" strike="noStrike" cap="none" normalizeH="0" baseline="0">
                          <a:ln>
                            <a:noFill/>
                          </a:ln>
                          <a:solidFill>
                            <a:schemeClr val="tx1"/>
                          </a:solidFill>
                          <a:effectLst/>
                          <a:latin typeface="Arial" pitchFamily="34" charset="0"/>
                        </a:rPr>
                        <a:t> ×          ; T</a:t>
                      </a:r>
                      <a:r>
                        <a:rPr kumimoji="0" lang="en-AU" sz="1200" b="0" i="0" u="none" strike="noStrike" cap="none" normalizeH="0" baseline="-25000">
                          <a:ln>
                            <a:noFill/>
                          </a:ln>
                          <a:solidFill>
                            <a:schemeClr val="tx1"/>
                          </a:solidFill>
                          <a:effectLst/>
                          <a:latin typeface="Arial" pitchFamily="34" charset="0"/>
                        </a:rPr>
                        <a:t>1</a:t>
                      </a:r>
                      <a:r>
                        <a:rPr kumimoji="0" lang="en-AU" sz="1200" b="0" i="0" u="none" strike="noStrike" cap="none" normalizeH="0" baseline="0">
                          <a:ln>
                            <a:noFill/>
                          </a:ln>
                          <a:solidFill>
                            <a:schemeClr val="tx1"/>
                          </a:solidFill>
                          <a:effectLst/>
                          <a:latin typeface="Arial" pitchFamily="34" charset="0"/>
                        </a:rPr>
                        <a:t> = 60</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AU" sz="1200" b="0" i="0" u="none" strike="noStrike" cap="none" normalizeH="0" baseline="0">
                        <a:ln>
                          <a:noFill/>
                        </a:ln>
                        <a:solidFill>
                          <a:schemeClr val="tx1"/>
                        </a:solidFill>
                        <a:effectLst/>
                        <a:latin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6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5, 13, 29, 61, 125, . . </a:t>
                      </a:r>
                      <a:endParaRPr kumimoji="0" lang="en-AU" sz="1800" b="0" i="0" u="none" strike="noStrike" cap="none" normalizeH="0" baseline="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=2</a:t>
                      </a:r>
                      <a:r>
                        <a:rPr kumimoji="0" lang="en-AU" sz="1200" b="0" i="0" u="none" strike="noStrike" cap="none" normalizeH="0" baseline="30000">
                          <a:ln>
                            <a:noFill/>
                          </a:ln>
                          <a:solidFill>
                            <a:schemeClr val="tx1"/>
                          </a:solidFill>
                          <a:effectLst/>
                          <a:latin typeface="Arial" pitchFamily="34" charset="0"/>
                          <a:ea typeface="MS Mincho" pitchFamily="49" charset="-128"/>
                          <a:cs typeface="Arial" pitchFamily="34" charset="0"/>
                        </a:rPr>
                        <a:t>n+2</a:t>
                      </a:r>
                      <a:r>
                        <a:rPr kumimoji="0" lang="en-AU" sz="1200" b="0" i="0" u="none" strike="noStrike" cap="none" normalizeH="0" baseline="0">
                          <a:ln>
                            <a:noFill/>
                          </a:ln>
                          <a:solidFill>
                            <a:schemeClr val="tx1"/>
                          </a:solidFill>
                          <a:effectLst/>
                          <a:latin typeface="Arial" pitchFamily="34" charset="0"/>
                          <a:ea typeface="MS Mincho" pitchFamily="49" charset="-128"/>
                          <a:cs typeface="Arial" pitchFamily="34" charset="0"/>
                        </a:rPr>
                        <a:t> - 3</a:t>
                      </a:r>
                      <a:endParaRPr kumimoji="0" lang="en-AU" sz="1000" b="0" i="0" u="none" strike="noStrike" cap="none" normalizeH="0" baseline="0">
                        <a:ln>
                          <a:noFill/>
                        </a:ln>
                        <a:solidFill>
                          <a:schemeClr val="tx1"/>
                        </a:solidFill>
                        <a:effectLst/>
                        <a:latin typeface="Times New Roman" pitchFamily="18" charset="0"/>
                        <a:ea typeface="MS Mincho" pitchFamily="49" charset="-128"/>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dirty="0">
                          <a:ln>
                            <a:noFill/>
                          </a:ln>
                          <a:solidFill>
                            <a:schemeClr val="tx1"/>
                          </a:solidFill>
                          <a:effectLst/>
                          <a:latin typeface="Arial" pitchFamily="34" charset="0"/>
                          <a:ea typeface="MS Mincho" pitchFamily="49" charset="-128"/>
                          <a:cs typeface="Arial" pitchFamily="34" charset="0"/>
                        </a:rPr>
                        <a:t>n+1 </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2 ×</a:t>
                      </a:r>
                      <a:r>
                        <a:rPr kumimoji="0" lang="en-AU" sz="1200" b="0" i="0" u="none" strike="noStrike" cap="none" normalizeH="0" baseline="0" dirty="0" err="1">
                          <a:ln>
                            <a:noFill/>
                          </a:ln>
                          <a:solidFill>
                            <a:schemeClr val="tx1"/>
                          </a:solidFill>
                          <a:effectLst/>
                          <a:latin typeface="Arial" pitchFamily="34" charset="0"/>
                          <a:ea typeface="MS Mincho" pitchFamily="49" charset="-128"/>
                          <a:cs typeface="Arial" pitchFamily="34" charset="0"/>
                        </a:rPr>
                        <a:t>T</a:t>
                      </a:r>
                      <a:r>
                        <a:rPr kumimoji="0" lang="en-AU" sz="1200" b="0" i="0" u="none" strike="noStrike" cap="none" normalizeH="0" baseline="-30000" dirty="0" err="1">
                          <a:ln>
                            <a:noFill/>
                          </a:ln>
                          <a:solidFill>
                            <a:schemeClr val="tx1"/>
                          </a:solidFill>
                          <a:effectLst/>
                          <a:latin typeface="Arial" pitchFamily="34" charset="0"/>
                          <a:ea typeface="MS Mincho" pitchFamily="49" charset="-128"/>
                          <a:cs typeface="Arial" pitchFamily="34" charset="0"/>
                        </a:rPr>
                        <a:t>n</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+ 3; T</a:t>
                      </a:r>
                      <a:r>
                        <a:rPr kumimoji="0" lang="en-AU" sz="1200" b="0" i="0" u="none" strike="noStrike" cap="none" normalizeH="0" baseline="-30000" dirty="0">
                          <a:ln>
                            <a:noFill/>
                          </a:ln>
                          <a:solidFill>
                            <a:schemeClr val="tx1"/>
                          </a:solidFill>
                          <a:effectLst/>
                          <a:latin typeface="Arial" pitchFamily="34" charset="0"/>
                          <a:ea typeface="MS Mincho" pitchFamily="49" charset="-128"/>
                          <a:cs typeface="Arial" pitchFamily="34" charset="0"/>
                        </a:rPr>
                        <a:t>1</a:t>
                      </a:r>
                      <a:r>
                        <a:rPr kumimoji="0" lang="en-AU" sz="1200" b="0" i="0" u="none" strike="noStrike" cap="none" normalizeH="0" baseline="0" dirty="0">
                          <a:ln>
                            <a:noFill/>
                          </a:ln>
                          <a:solidFill>
                            <a:schemeClr val="tx1"/>
                          </a:solidFill>
                          <a:effectLst/>
                          <a:latin typeface="Arial" pitchFamily="34" charset="0"/>
                          <a:ea typeface="MS Mincho" pitchFamily="49" charset="-128"/>
                          <a:cs typeface="Arial" pitchFamily="34" charset="0"/>
                        </a:rPr>
                        <a:t> = 5</a:t>
                      </a:r>
                      <a:endParaRPr kumimoji="0" lang="en-AU" sz="1800" b="0" i="0" u="none" strike="noStrike" cap="none" normalizeH="0" baseline="0" dirty="0">
                        <a:ln>
                          <a:noFill/>
                        </a:ln>
                        <a:solidFill>
                          <a:schemeClr val="tx1"/>
                        </a:solidFill>
                        <a:effectLst/>
                        <a:latin typeface="Arial" pitchFamily="34" charset="0"/>
                        <a:ea typeface="MS Mincho" pitchFamily="49" charset="-128"/>
                        <a:cs typeface="Arial"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2054" name="Object 6"/>
          <p:cNvGraphicFramePr>
            <a:graphicFrameLocks noChangeAspect="1"/>
          </p:cNvGraphicFramePr>
          <p:nvPr>
            <p:extLst>
              <p:ext uri="{D42A27DB-BD31-4B8C-83A1-F6EECF244321}">
                <p14:modId xmlns:p14="http://schemas.microsoft.com/office/powerpoint/2010/main" val="2406151888"/>
              </p:ext>
            </p:extLst>
          </p:nvPr>
        </p:nvGraphicFramePr>
        <p:xfrm>
          <a:off x="3851275" y="5589588"/>
          <a:ext cx="228600" cy="390525"/>
        </p:xfrm>
        <a:graphic>
          <a:graphicData uri="http://schemas.openxmlformats.org/presentationml/2006/ole">
            <mc:AlternateContent xmlns:mc="http://schemas.openxmlformats.org/markup-compatibility/2006">
              <mc:Choice xmlns:v="urn:schemas-microsoft-com:vml" Requires="v">
                <p:oleObj spid="_x0000_s2251" name="Microsoft Equation 3.0" r:id="rId3" imgW="228501" imgH="393529" progId="Equation.3">
                  <p:embed/>
                </p:oleObj>
              </mc:Choice>
              <mc:Fallback>
                <p:oleObj name="Microsoft Equation 3.0" r:id="rId3" imgW="228501" imgH="393529"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5589588"/>
                        <a:ext cx="2286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extLst>
              <p:ext uri="{D42A27DB-BD31-4B8C-83A1-F6EECF244321}">
                <p14:modId xmlns:p14="http://schemas.microsoft.com/office/powerpoint/2010/main" val="4117123718"/>
              </p:ext>
            </p:extLst>
          </p:nvPr>
        </p:nvGraphicFramePr>
        <p:xfrm>
          <a:off x="6227763" y="5589588"/>
          <a:ext cx="342900" cy="390525"/>
        </p:xfrm>
        <a:graphic>
          <a:graphicData uri="http://schemas.openxmlformats.org/presentationml/2006/ole">
            <mc:AlternateContent xmlns:mc="http://schemas.openxmlformats.org/markup-compatibility/2006">
              <mc:Choice xmlns:v="urn:schemas-microsoft-com:vml" Requires="v">
                <p:oleObj spid="_x0000_s2252" name="Microsoft Equation 3.0" r:id="rId5" imgW="342751" imgH="393529" progId="Equation.3">
                  <p:embed/>
                </p:oleObj>
              </mc:Choice>
              <mc:Fallback>
                <p:oleObj name="Microsoft Equation 3.0" r:id="rId5" imgW="342751" imgH="393529"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27763" y="5589588"/>
                        <a:ext cx="342900"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p:cNvSpPr txBox="1"/>
          <p:nvPr/>
        </p:nvSpPr>
        <p:spPr>
          <a:xfrm>
            <a:off x="2411760" y="6221372"/>
            <a:ext cx="4298228" cy="523220"/>
          </a:xfrm>
          <a:prstGeom prst="rect">
            <a:avLst/>
          </a:prstGeom>
          <a:noFill/>
        </p:spPr>
        <p:txBody>
          <a:bodyPr wrap="none" rtlCol="0">
            <a:spAutoFit/>
          </a:bodyPr>
          <a:lstStyle/>
          <a:p>
            <a:r>
              <a:rPr lang="en-AU" sz="2800" dirty="0">
                <a:latin typeface="Calibri" pitchFamily="34" charset="0"/>
                <a:cs typeface="Calibri" pitchFamily="34" charset="0"/>
              </a:rPr>
              <a:t>Now try Exercise 3B page 75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p:cNvSpPr>
            <a:spLocks noChangeArrowheads="1"/>
          </p:cNvSpPr>
          <p:nvPr/>
        </p:nvSpPr>
        <p:spPr bwMode="auto">
          <a:xfrm>
            <a:off x="179388" y="327025"/>
            <a:ext cx="8785225" cy="620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a:r>
              <a:rPr lang="en-AU" sz="1600" dirty="0">
                <a:latin typeface="Calibri" pitchFamily="34" charset="0"/>
                <a:cs typeface="Calibri" pitchFamily="34" charset="0"/>
              </a:rPr>
              <a:t>RECURSIVE DEFINITION</a:t>
            </a:r>
          </a:p>
          <a:p>
            <a:r>
              <a:rPr lang="en-AU" sz="1600" dirty="0">
                <a:latin typeface="Calibri" pitchFamily="34" charset="0"/>
                <a:cs typeface="Calibri" pitchFamily="34" charset="0"/>
              </a:rPr>
              <a:t>A recursive definition of a sequence states how to obtain the next term of a sequence given the previous term (or terms). You also need a marker, usually the first term (or terms). </a:t>
            </a:r>
            <a:br>
              <a:rPr lang="en-AU" sz="1600" dirty="0">
                <a:latin typeface="Calibri" pitchFamily="34" charset="0"/>
                <a:cs typeface="Calibri" pitchFamily="34" charset="0"/>
              </a:rPr>
            </a:br>
            <a:br>
              <a:rPr lang="en-AU" sz="1600" dirty="0">
                <a:latin typeface="Calibri" pitchFamily="34" charset="0"/>
                <a:cs typeface="Calibri" pitchFamily="34" charset="0"/>
              </a:rPr>
            </a:br>
            <a:endParaRPr lang="en-AU" sz="1600" dirty="0">
              <a:latin typeface="Calibri" pitchFamily="34" charset="0"/>
              <a:cs typeface="Calibri" pitchFamily="34" charset="0"/>
            </a:endParaRPr>
          </a:p>
          <a:p>
            <a:r>
              <a:rPr lang="en-AU" sz="1600" dirty="0">
                <a:latin typeface="Calibri" pitchFamily="34" charset="0"/>
                <a:cs typeface="Calibri" pitchFamily="34" charset="0"/>
              </a:rPr>
              <a:t>Ex 1	T</a:t>
            </a:r>
            <a:r>
              <a:rPr lang="en-AU" sz="1600" baseline="-25000" dirty="0">
                <a:latin typeface="Calibri" pitchFamily="34" charset="0"/>
                <a:cs typeface="Calibri" pitchFamily="34" charset="0"/>
              </a:rPr>
              <a:t>n+1 </a:t>
            </a:r>
            <a:r>
              <a:rPr lang="en-AU" sz="1600" dirty="0">
                <a:latin typeface="Calibri" pitchFamily="34" charset="0"/>
                <a:cs typeface="Calibri" pitchFamily="34" charset="0"/>
              </a:rPr>
              <a:t>=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+ 3,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4</a:t>
            </a:r>
            <a:br>
              <a:rPr lang="en-AU" sz="1600" dirty="0">
                <a:latin typeface="Calibri" pitchFamily="34" charset="0"/>
                <a:cs typeface="Calibri" pitchFamily="34" charset="0"/>
              </a:rPr>
            </a:br>
            <a:r>
              <a:rPr lang="en-AU" sz="1600" dirty="0">
                <a:latin typeface="Calibri" pitchFamily="34" charset="0"/>
                <a:cs typeface="Calibri" pitchFamily="34" charset="0"/>
              </a:rPr>
              <a:t>	Tn+1 is the very next term after </a:t>
            </a:r>
            <a:r>
              <a:rPr lang="en-AU" sz="1600" dirty="0" err="1">
                <a:latin typeface="Calibri" pitchFamily="34" charset="0"/>
                <a:cs typeface="Calibri" pitchFamily="34" charset="0"/>
              </a:rPr>
              <a:t>Tn</a:t>
            </a:r>
            <a:r>
              <a:rPr lang="en-AU" sz="1600" dirty="0">
                <a:latin typeface="Calibri" pitchFamily="34" charset="0"/>
                <a:cs typeface="Calibri" pitchFamily="34" charset="0"/>
              </a:rPr>
              <a:t> . The first statement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+ 3) thus tells us that every term of the sequence is 3 more than the previous term. The second statement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4) tells us that the first term of the sequence is 4. </a:t>
            </a:r>
          </a:p>
          <a:p>
            <a:r>
              <a:rPr lang="en-AU" sz="1600" dirty="0">
                <a:latin typeface="Calibri" pitchFamily="34" charset="0"/>
                <a:cs typeface="Calibri" pitchFamily="34" charset="0"/>
              </a:rPr>
              <a:t>	Hence the sequence is 4, 7, 10, 13, 16, . . </a:t>
            </a:r>
            <a:br>
              <a:rPr lang="en-AU" sz="1600" dirty="0">
                <a:latin typeface="Calibri" pitchFamily="34" charset="0"/>
                <a:cs typeface="Calibri" pitchFamily="34" charset="0"/>
              </a:rPr>
            </a:br>
            <a:br>
              <a:rPr lang="en-AU" sz="1600" dirty="0">
                <a:latin typeface="Calibri" pitchFamily="34" charset="0"/>
                <a:cs typeface="Calibri" pitchFamily="34" charset="0"/>
              </a:rPr>
            </a:br>
            <a:r>
              <a:rPr lang="en-AU" sz="1600" dirty="0">
                <a:latin typeface="Calibri" pitchFamily="34" charset="0"/>
                <a:cs typeface="Calibri" pitchFamily="34" charset="0"/>
              </a:rPr>
              <a:t>Ex 2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2T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+ 3,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2</a:t>
            </a:r>
            <a:br>
              <a:rPr lang="en-AU" sz="1600" dirty="0">
                <a:latin typeface="Calibri" pitchFamily="34" charset="0"/>
                <a:cs typeface="Calibri" pitchFamily="34" charset="0"/>
              </a:rPr>
            </a:br>
            <a:r>
              <a:rPr lang="en-AU" sz="1600" dirty="0">
                <a:latin typeface="Calibri" pitchFamily="34" charset="0"/>
                <a:cs typeface="Calibri" pitchFamily="34" charset="0"/>
              </a:rPr>
              <a:t>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is the very next term after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The first statement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2T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+ 3) thus tells us that every term of the sequence is obtained by multiplying the previous term by 2 and then adding 3. The second statement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2) tells us that the first term of the sequence is 2. </a:t>
            </a:r>
          </a:p>
          <a:p>
            <a:r>
              <a:rPr lang="en-AU" sz="1600" dirty="0">
                <a:latin typeface="Calibri" pitchFamily="34" charset="0"/>
                <a:cs typeface="Calibri" pitchFamily="34" charset="0"/>
              </a:rPr>
              <a:t>	Hence the sequence is 2, 7, 17, 37, 77, . . . </a:t>
            </a:r>
            <a:br>
              <a:rPr lang="en-AU" sz="1600" dirty="0">
                <a:latin typeface="Calibri" pitchFamily="34" charset="0"/>
                <a:cs typeface="Calibri" pitchFamily="34" charset="0"/>
              </a:rPr>
            </a:br>
            <a:br>
              <a:rPr lang="en-AU" sz="1600" dirty="0">
                <a:latin typeface="Calibri" pitchFamily="34" charset="0"/>
                <a:cs typeface="Calibri" pitchFamily="34" charset="0"/>
              </a:rPr>
            </a:br>
            <a:r>
              <a:rPr lang="en-AU" sz="1600" dirty="0">
                <a:latin typeface="Calibri" pitchFamily="34" charset="0"/>
                <a:cs typeface="Calibri" pitchFamily="34" charset="0"/>
              </a:rPr>
              <a:t>Ex 3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T</a:t>
            </a:r>
            <a:r>
              <a:rPr lang="en-AU" sz="1600" baseline="-25000" dirty="0">
                <a:latin typeface="Calibri" pitchFamily="34" charset="0"/>
                <a:cs typeface="Calibri" pitchFamily="34" charset="0"/>
              </a:rPr>
              <a:t>1 </a:t>
            </a:r>
            <a:r>
              <a:rPr lang="en-AU" sz="1600" dirty="0">
                <a:latin typeface="Calibri" pitchFamily="34" charset="0"/>
                <a:cs typeface="Calibri" pitchFamily="34" charset="0"/>
              </a:rPr>
              <a:t>= 1, T</a:t>
            </a:r>
            <a:r>
              <a:rPr lang="en-AU" sz="1600" baseline="-25000" dirty="0">
                <a:latin typeface="Calibri" pitchFamily="34" charset="0"/>
                <a:cs typeface="Calibri" pitchFamily="34" charset="0"/>
              </a:rPr>
              <a:t>2 </a:t>
            </a:r>
            <a:r>
              <a:rPr lang="en-AU" sz="1600" dirty="0">
                <a:latin typeface="Calibri" pitchFamily="34" charset="0"/>
                <a:cs typeface="Calibri" pitchFamily="34" charset="0"/>
              </a:rPr>
              <a:t>= 1</a:t>
            </a:r>
            <a:br>
              <a:rPr lang="en-AU" sz="1600" dirty="0">
                <a:latin typeface="Calibri" pitchFamily="34" charset="0"/>
                <a:cs typeface="Calibri" pitchFamily="34" charset="0"/>
              </a:rPr>
            </a:br>
            <a:r>
              <a:rPr lang="en-AU" sz="1600" dirty="0">
                <a:latin typeface="Calibri" pitchFamily="34" charset="0"/>
                <a:cs typeface="Calibri" pitchFamily="34" charset="0"/>
              </a:rPr>
              <a:t>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and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are the two previous terms to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The first statement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thus tells us that every term of the sequence is obtained by adding the two previous terms. The second and third statements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1, T</a:t>
            </a:r>
            <a:r>
              <a:rPr lang="en-AU" sz="1600" baseline="-25000" dirty="0">
                <a:latin typeface="Calibri" pitchFamily="34" charset="0"/>
                <a:cs typeface="Calibri" pitchFamily="34" charset="0"/>
              </a:rPr>
              <a:t>2</a:t>
            </a:r>
            <a:r>
              <a:rPr lang="en-AU" sz="1600" dirty="0">
                <a:latin typeface="Calibri" pitchFamily="34" charset="0"/>
                <a:cs typeface="Calibri" pitchFamily="34" charset="0"/>
              </a:rPr>
              <a:t> = 1) tell us that the first term of the sequence is 1 and the 	second term is also 1. </a:t>
            </a:r>
          </a:p>
          <a:p>
            <a:r>
              <a:rPr lang="en-AU" sz="1600" dirty="0">
                <a:latin typeface="Calibri" pitchFamily="34" charset="0"/>
                <a:cs typeface="Calibri" pitchFamily="34" charset="0"/>
              </a:rPr>
              <a:t>	Hence the sequence is 1, 1, 2, 3, 5, 8, 13, 21, 34, , . . . 	(i.e. the Fibonacci Sequence)</a:t>
            </a:r>
            <a:br>
              <a:rPr lang="en-AU" sz="1600" dirty="0">
                <a:latin typeface="Calibri" pitchFamily="34" charset="0"/>
                <a:cs typeface="Calibri" pitchFamily="34" charset="0"/>
              </a:rPr>
            </a:br>
            <a:endParaRPr lang="en-AU" sz="1600" dirty="0">
              <a:latin typeface="Calibri" pitchFamily="34" charset="0"/>
              <a:cs typeface="Calibri"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ChangeArrowheads="1"/>
          </p:cNvSpPr>
          <p:nvPr/>
        </p:nvSpPr>
        <p:spPr bwMode="auto">
          <a:xfrm>
            <a:off x="179388" y="433388"/>
            <a:ext cx="8785225" cy="595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dirty="0">
                <a:latin typeface="Calibri" pitchFamily="34" charset="0"/>
                <a:cs typeface="Calibri" pitchFamily="34" charset="0"/>
              </a:rPr>
              <a:t>Ex 4	If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1.5T</a:t>
            </a:r>
            <a:r>
              <a:rPr lang="en-AU" sz="1600" baseline="-25000" dirty="0">
                <a:latin typeface="Calibri" pitchFamily="34" charset="0"/>
                <a:cs typeface="Calibri" pitchFamily="34" charset="0"/>
              </a:rPr>
              <a:t>n</a:t>
            </a:r>
            <a:r>
              <a:rPr lang="en-AU" sz="1600" dirty="0">
                <a:latin typeface="Calibri" pitchFamily="34" charset="0"/>
                <a:cs typeface="Calibri" pitchFamily="34" charset="0"/>
              </a:rPr>
              <a:t>, T</a:t>
            </a:r>
            <a:r>
              <a:rPr lang="en-AU" sz="1600" baseline="-25000" dirty="0">
                <a:latin typeface="Calibri" pitchFamily="34" charset="0"/>
                <a:cs typeface="Calibri" pitchFamily="34" charset="0"/>
              </a:rPr>
              <a:t>4</a:t>
            </a:r>
            <a:r>
              <a:rPr lang="en-AU" sz="1600" dirty="0">
                <a:latin typeface="Calibri" pitchFamily="34" charset="0"/>
                <a:cs typeface="Calibri" pitchFamily="34" charset="0"/>
              </a:rPr>
              <a:t> = 216, find the first 3 terms of the sequence</a:t>
            </a:r>
            <a:br>
              <a:rPr lang="en-AU" sz="1600" dirty="0">
                <a:latin typeface="Calibri" pitchFamily="34" charset="0"/>
                <a:cs typeface="Calibri" pitchFamily="34" charset="0"/>
              </a:rPr>
            </a:br>
            <a:r>
              <a:rPr lang="en-AU" sz="1600" dirty="0">
                <a:latin typeface="Calibri" pitchFamily="34" charset="0"/>
                <a:cs typeface="Calibri" pitchFamily="34" charset="0"/>
              </a:rPr>
              <a:t>Solution:</a:t>
            </a:r>
            <a:br>
              <a:rPr lang="en-AU" sz="1600" dirty="0">
                <a:latin typeface="Calibri" pitchFamily="34" charset="0"/>
                <a:cs typeface="Calibri" pitchFamily="34" charset="0"/>
              </a:rPr>
            </a:br>
            <a:r>
              <a:rPr lang="en-AU" sz="1600" dirty="0">
                <a:latin typeface="Calibri" pitchFamily="34" charset="0"/>
                <a:cs typeface="Calibri" pitchFamily="34" charset="0"/>
              </a:rPr>
              <a:t>	The first statement (T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1.5T</a:t>
            </a:r>
            <a:r>
              <a:rPr lang="en-AU" sz="1600" baseline="-25000" dirty="0">
                <a:latin typeface="Calibri" pitchFamily="34" charset="0"/>
                <a:cs typeface="Calibri" pitchFamily="34" charset="0"/>
              </a:rPr>
              <a:t>n</a:t>
            </a:r>
            <a:r>
              <a:rPr lang="en-AU" sz="1600" dirty="0">
                <a:latin typeface="Calibri" pitchFamily="34" charset="0"/>
                <a:cs typeface="Calibri" pitchFamily="34" charset="0"/>
              </a:rPr>
              <a:t>) tells us that any term may be found by multiplying the previous term by 1.5. Hence the term prior to a term may be found by dividing by 1.5</a:t>
            </a:r>
            <a:br>
              <a:rPr lang="en-AU" sz="1600" dirty="0">
                <a:latin typeface="Calibri" pitchFamily="34" charset="0"/>
                <a:cs typeface="Calibri" pitchFamily="34" charset="0"/>
              </a:rPr>
            </a:br>
            <a:r>
              <a:rPr lang="en-AU" sz="1600" dirty="0">
                <a:latin typeface="Calibri" pitchFamily="34" charset="0"/>
                <a:cs typeface="Calibri" pitchFamily="34" charset="0"/>
              </a:rPr>
              <a:t>	Hence T</a:t>
            </a:r>
            <a:r>
              <a:rPr lang="en-AU" sz="1600" baseline="-25000" dirty="0">
                <a:latin typeface="Calibri" pitchFamily="34" charset="0"/>
                <a:cs typeface="Calibri" pitchFamily="34" charset="0"/>
              </a:rPr>
              <a:t>3</a:t>
            </a:r>
            <a:r>
              <a:rPr lang="en-AU" sz="1600" dirty="0">
                <a:latin typeface="Calibri" pitchFamily="34" charset="0"/>
                <a:cs typeface="Calibri" pitchFamily="34" charset="0"/>
              </a:rPr>
              <a:t> = T</a:t>
            </a:r>
            <a:r>
              <a:rPr lang="en-AU" sz="1600" baseline="-25000" dirty="0">
                <a:latin typeface="Calibri" pitchFamily="34" charset="0"/>
                <a:cs typeface="Calibri" pitchFamily="34" charset="0"/>
              </a:rPr>
              <a:t>4</a:t>
            </a:r>
            <a:r>
              <a:rPr lang="en-AU" sz="1600" dirty="0">
                <a:latin typeface="Calibri" pitchFamily="34" charset="0"/>
                <a:cs typeface="Calibri" pitchFamily="34" charset="0"/>
              </a:rPr>
              <a:t> ÷ 1.5 = 216 ÷ 1.5 = 144</a:t>
            </a:r>
            <a:br>
              <a:rPr lang="en-AU" sz="1600" dirty="0">
                <a:latin typeface="Calibri" pitchFamily="34" charset="0"/>
                <a:cs typeface="Calibri" pitchFamily="34" charset="0"/>
              </a:rPr>
            </a:br>
            <a:r>
              <a:rPr lang="en-AU" sz="1600" dirty="0">
                <a:latin typeface="Calibri" pitchFamily="34" charset="0"/>
                <a:cs typeface="Calibri" pitchFamily="34" charset="0"/>
              </a:rPr>
              <a:t>	Hence T</a:t>
            </a:r>
            <a:r>
              <a:rPr lang="en-AU" sz="1600" baseline="-25000" dirty="0">
                <a:latin typeface="Calibri" pitchFamily="34" charset="0"/>
                <a:cs typeface="Calibri" pitchFamily="34" charset="0"/>
              </a:rPr>
              <a:t>2 </a:t>
            </a:r>
            <a:r>
              <a:rPr lang="en-AU" sz="1600" dirty="0">
                <a:latin typeface="Calibri" pitchFamily="34" charset="0"/>
                <a:cs typeface="Calibri" pitchFamily="34" charset="0"/>
              </a:rPr>
              <a:t>= T</a:t>
            </a:r>
            <a:r>
              <a:rPr lang="en-AU" sz="1600" baseline="-25000" dirty="0">
                <a:latin typeface="Calibri" pitchFamily="34" charset="0"/>
                <a:cs typeface="Calibri" pitchFamily="34" charset="0"/>
              </a:rPr>
              <a:t>3 </a:t>
            </a:r>
            <a:r>
              <a:rPr lang="en-AU" sz="1600" dirty="0">
                <a:latin typeface="Calibri" pitchFamily="34" charset="0"/>
                <a:cs typeface="Calibri" pitchFamily="34" charset="0"/>
              </a:rPr>
              <a:t>÷ 1.5 = 144 ÷ 1.5 = 96</a:t>
            </a:r>
            <a:br>
              <a:rPr lang="en-AU" sz="1600" dirty="0">
                <a:latin typeface="Calibri" pitchFamily="34" charset="0"/>
                <a:cs typeface="Calibri" pitchFamily="34" charset="0"/>
              </a:rPr>
            </a:br>
            <a:r>
              <a:rPr lang="en-AU" sz="1600" dirty="0">
                <a:latin typeface="Calibri" pitchFamily="34" charset="0"/>
                <a:cs typeface="Calibri" pitchFamily="34" charset="0"/>
              </a:rPr>
              <a:t>	Hence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T</a:t>
            </a:r>
            <a:r>
              <a:rPr lang="en-AU" sz="1600" baseline="-25000" dirty="0">
                <a:latin typeface="Calibri" pitchFamily="34" charset="0"/>
                <a:cs typeface="Calibri" pitchFamily="34" charset="0"/>
              </a:rPr>
              <a:t>2</a:t>
            </a:r>
            <a:r>
              <a:rPr lang="en-AU" sz="1600" dirty="0">
                <a:latin typeface="Calibri" pitchFamily="34" charset="0"/>
                <a:cs typeface="Calibri" pitchFamily="34" charset="0"/>
              </a:rPr>
              <a:t> ÷ 1.5 = 96 ÷ 1.5 = 64</a:t>
            </a:r>
            <a:br>
              <a:rPr lang="en-AU" sz="1600" dirty="0">
                <a:latin typeface="Calibri" pitchFamily="34" charset="0"/>
                <a:cs typeface="Calibri" pitchFamily="34" charset="0"/>
              </a:rPr>
            </a:br>
            <a:r>
              <a:rPr lang="en-AU" sz="1600" dirty="0">
                <a:latin typeface="Calibri" pitchFamily="34" charset="0"/>
                <a:cs typeface="Calibri" pitchFamily="34" charset="0"/>
              </a:rPr>
              <a:t>	Thus the first three terms are 64, 96, 144</a:t>
            </a:r>
            <a:br>
              <a:rPr lang="en-AU" sz="1600" dirty="0">
                <a:latin typeface="Calibri" pitchFamily="34" charset="0"/>
                <a:cs typeface="Calibri" pitchFamily="34" charset="0"/>
              </a:rPr>
            </a:br>
            <a:br>
              <a:rPr lang="en-AU" sz="1600" dirty="0">
                <a:latin typeface="Calibri" pitchFamily="34" charset="0"/>
                <a:cs typeface="Calibri" pitchFamily="34" charset="0"/>
              </a:rPr>
            </a:br>
            <a:endParaRPr lang="en-AU" sz="1600" dirty="0">
              <a:latin typeface="Calibri" pitchFamily="34" charset="0"/>
              <a:cs typeface="Calibri" pitchFamily="34" charset="0"/>
            </a:endParaRPr>
          </a:p>
          <a:p>
            <a:r>
              <a:rPr lang="en-AU" sz="1600" dirty="0">
                <a:latin typeface="Calibri" pitchFamily="34" charset="0"/>
                <a:cs typeface="Calibri" pitchFamily="34" charset="0"/>
              </a:rPr>
              <a:t>Ex 5	The recursive formula for the sequence 4, 11, 25, 53, 109, . .  is </a:t>
            </a:r>
            <a:r>
              <a:rPr lang="en-AU" sz="1600" dirty="0" err="1">
                <a:latin typeface="Calibri" pitchFamily="34" charset="0"/>
                <a:cs typeface="Calibri" pitchFamily="34" charset="0"/>
              </a:rPr>
              <a:t>T</a:t>
            </a:r>
            <a:r>
              <a:rPr lang="en-AU" sz="1600" baseline="-25000" dirty="0" err="1">
                <a:latin typeface="Calibri" pitchFamily="34" charset="0"/>
                <a:cs typeface="Calibri" pitchFamily="34" charset="0"/>
              </a:rPr>
              <a:t>n</a:t>
            </a:r>
            <a:r>
              <a:rPr lang="en-AU" sz="1600" dirty="0">
                <a:latin typeface="Calibri" pitchFamily="34" charset="0"/>
                <a:cs typeface="Calibri" pitchFamily="34" charset="0"/>
              </a:rPr>
              <a:t> = aT</a:t>
            </a:r>
            <a:r>
              <a:rPr lang="en-AU" sz="1600" baseline="-25000" dirty="0">
                <a:latin typeface="Calibri" pitchFamily="34" charset="0"/>
                <a:cs typeface="Calibri" pitchFamily="34" charset="0"/>
              </a:rPr>
              <a:t>n-1</a:t>
            </a:r>
            <a:r>
              <a:rPr lang="en-AU" sz="1600" dirty="0">
                <a:latin typeface="Calibri" pitchFamily="34" charset="0"/>
                <a:cs typeface="Calibri" pitchFamily="34" charset="0"/>
              </a:rPr>
              <a:t> + b</a:t>
            </a:r>
            <a:br>
              <a:rPr lang="en-AU" sz="1600" dirty="0">
                <a:latin typeface="Calibri" pitchFamily="34" charset="0"/>
                <a:cs typeface="Calibri" pitchFamily="34" charset="0"/>
              </a:rPr>
            </a:br>
            <a:r>
              <a:rPr lang="en-AU" sz="1600" dirty="0">
                <a:latin typeface="Calibri" pitchFamily="34" charset="0"/>
                <a:cs typeface="Calibri" pitchFamily="34" charset="0"/>
              </a:rPr>
              <a:t>	Find a and b</a:t>
            </a:r>
            <a:br>
              <a:rPr lang="en-AU" sz="1600" dirty="0">
                <a:latin typeface="Calibri" pitchFamily="34" charset="0"/>
                <a:cs typeface="Calibri" pitchFamily="34" charset="0"/>
              </a:rPr>
            </a:br>
            <a:r>
              <a:rPr lang="en-AU" sz="1600" dirty="0">
                <a:latin typeface="Calibri" pitchFamily="34" charset="0"/>
                <a:cs typeface="Calibri" pitchFamily="34" charset="0"/>
              </a:rPr>
              <a:t>Solution:	</a:t>
            </a:r>
            <a:br>
              <a:rPr lang="en-AU" sz="1600" dirty="0">
                <a:latin typeface="Calibri" pitchFamily="34" charset="0"/>
                <a:cs typeface="Calibri" pitchFamily="34" charset="0"/>
              </a:rPr>
            </a:br>
            <a:r>
              <a:rPr lang="en-AU" sz="1600" dirty="0">
                <a:latin typeface="Calibri" pitchFamily="34" charset="0"/>
                <a:cs typeface="Calibri" pitchFamily="34" charset="0"/>
              </a:rPr>
              <a:t>	We know that T</a:t>
            </a:r>
            <a:r>
              <a:rPr lang="en-AU" sz="1600" baseline="-25000" dirty="0">
                <a:latin typeface="Calibri" pitchFamily="34" charset="0"/>
                <a:cs typeface="Calibri" pitchFamily="34" charset="0"/>
              </a:rPr>
              <a:t>1</a:t>
            </a:r>
            <a:r>
              <a:rPr lang="en-AU" sz="1600" dirty="0">
                <a:latin typeface="Calibri" pitchFamily="34" charset="0"/>
                <a:cs typeface="Calibri" pitchFamily="34" charset="0"/>
              </a:rPr>
              <a:t> = 4 and T</a:t>
            </a:r>
            <a:r>
              <a:rPr lang="en-AU" sz="1600" baseline="-25000" dirty="0">
                <a:latin typeface="Calibri" pitchFamily="34" charset="0"/>
                <a:cs typeface="Calibri" pitchFamily="34" charset="0"/>
              </a:rPr>
              <a:t>2</a:t>
            </a:r>
            <a:r>
              <a:rPr lang="en-AU" sz="1600" dirty="0">
                <a:latin typeface="Calibri" pitchFamily="34" charset="0"/>
                <a:cs typeface="Calibri" pitchFamily="34" charset="0"/>
              </a:rPr>
              <a:t> = 11</a:t>
            </a:r>
            <a:br>
              <a:rPr lang="en-AU" sz="1600" dirty="0">
                <a:latin typeface="Calibri" pitchFamily="34" charset="0"/>
                <a:cs typeface="Calibri" pitchFamily="34" charset="0"/>
              </a:rPr>
            </a:br>
            <a:r>
              <a:rPr lang="en-AU" sz="1600" dirty="0">
                <a:latin typeface="Calibri" pitchFamily="34" charset="0"/>
                <a:cs typeface="Calibri" pitchFamily="34" charset="0"/>
              </a:rPr>
              <a:t>	Hence 11 = 4a + b	(equation 1)</a:t>
            </a:r>
            <a:br>
              <a:rPr lang="en-AU" sz="1600" dirty="0">
                <a:latin typeface="Calibri" pitchFamily="34" charset="0"/>
                <a:cs typeface="Calibri" pitchFamily="34" charset="0"/>
              </a:rPr>
            </a:br>
            <a:r>
              <a:rPr lang="en-AU" sz="1600" dirty="0">
                <a:latin typeface="Calibri" pitchFamily="34" charset="0"/>
                <a:cs typeface="Calibri" pitchFamily="34" charset="0"/>
              </a:rPr>
              <a:t>	We know that T</a:t>
            </a:r>
            <a:r>
              <a:rPr lang="en-AU" sz="1600" baseline="-25000" dirty="0">
                <a:latin typeface="Calibri" pitchFamily="34" charset="0"/>
                <a:cs typeface="Calibri" pitchFamily="34" charset="0"/>
              </a:rPr>
              <a:t>2</a:t>
            </a:r>
            <a:r>
              <a:rPr lang="en-AU" sz="1600" dirty="0">
                <a:latin typeface="Calibri" pitchFamily="34" charset="0"/>
                <a:cs typeface="Calibri" pitchFamily="34" charset="0"/>
              </a:rPr>
              <a:t> = 11 and T</a:t>
            </a:r>
            <a:r>
              <a:rPr lang="en-AU" sz="1600" baseline="-25000" dirty="0">
                <a:latin typeface="Calibri" pitchFamily="34" charset="0"/>
                <a:cs typeface="Calibri" pitchFamily="34" charset="0"/>
              </a:rPr>
              <a:t>3</a:t>
            </a:r>
            <a:r>
              <a:rPr lang="en-AU" sz="1600" dirty="0">
                <a:latin typeface="Calibri" pitchFamily="34" charset="0"/>
                <a:cs typeface="Calibri" pitchFamily="34" charset="0"/>
              </a:rPr>
              <a:t> = 25</a:t>
            </a:r>
            <a:br>
              <a:rPr lang="en-AU" sz="1600" dirty="0">
                <a:latin typeface="Calibri" pitchFamily="34" charset="0"/>
                <a:cs typeface="Calibri" pitchFamily="34" charset="0"/>
              </a:rPr>
            </a:br>
            <a:r>
              <a:rPr lang="en-AU" sz="1600" dirty="0">
                <a:latin typeface="Calibri" pitchFamily="34" charset="0"/>
                <a:cs typeface="Calibri" pitchFamily="34" charset="0"/>
              </a:rPr>
              <a:t>	Hence 25 = 11a + b	(equation 2)</a:t>
            </a:r>
            <a:br>
              <a:rPr lang="en-AU" sz="1600" dirty="0">
                <a:latin typeface="Calibri" pitchFamily="34" charset="0"/>
                <a:cs typeface="Calibri" pitchFamily="34" charset="0"/>
              </a:rPr>
            </a:br>
            <a:r>
              <a:rPr lang="en-AU" sz="1600" dirty="0">
                <a:latin typeface="Calibri" pitchFamily="34" charset="0"/>
                <a:cs typeface="Calibri" pitchFamily="34" charset="0"/>
              </a:rPr>
              <a:t>	By subtracting equation 1 from equation 2 (we have two simultaneous equations) we have</a:t>
            </a:r>
            <a:br>
              <a:rPr lang="en-AU" sz="1600" dirty="0">
                <a:latin typeface="Calibri" pitchFamily="34" charset="0"/>
                <a:cs typeface="Calibri" pitchFamily="34" charset="0"/>
              </a:rPr>
            </a:br>
            <a:r>
              <a:rPr lang="en-AU" sz="1600" dirty="0">
                <a:latin typeface="Calibri" pitchFamily="34" charset="0"/>
                <a:cs typeface="Calibri" pitchFamily="34" charset="0"/>
              </a:rPr>
              <a:t>	14 = 7a</a:t>
            </a:r>
            <a:br>
              <a:rPr lang="en-AU" sz="1600" dirty="0">
                <a:latin typeface="Calibri" pitchFamily="34" charset="0"/>
                <a:cs typeface="Calibri" pitchFamily="34" charset="0"/>
              </a:rPr>
            </a:br>
            <a:r>
              <a:rPr lang="en-AU" sz="1600" dirty="0">
                <a:latin typeface="Calibri" pitchFamily="34" charset="0"/>
                <a:cs typeface="Calibri" pitchFamily="34" charset="0"/>
              </a:rPr>
              <a:t>	Hence a = 2</a:t>
            </a:r>
            <a:br>
              <a:rPr lang="en-AU" sz="1600" dirty="0">
                <a:latin typeface="Calibri" pitchFamily="34" charset="0"/>
                <a:cs typeface="Calibri" pitchFamily="34" charset="0"/>
              </a:rPr>
            </a:br>
            <a:r>
              <a:rPr lang="en-AU" sz="1600" dirty="0">
                <a:latin typeface="Calibri" pitchFamily="34" charset="0"/>
                <a:cs typeface="Calibri" pitchFamily="34" charset="0"/>
              </a:rPr>
              <a:t>Substitute in equation 1</a:t>
            </a:r>
            <a:br>
              <a:rPr lang="en-AU" sz="1600" dirty="0">
                <a:latin typeface="Calibri" pitchFamily="34" charset="0"/>
                <a:cs typeface="Calibri" pitchFamily="34" charset="0"/>
              </a:rPr>
            </a:br>
            <a:r>
              <a:rPr lang="en-AU" sz="1600" dirty="0">
                <a:latin typeface="Calibri" pitchFamily="34" charset="0"/>
                <a:cs typeface="Calibri" pitchFamily="34" charset="0"/>
              </a:rPr>
              <a:t>	11 = 8 + b</a:t>
            </a:r>
            <a:br>
              <a:rPr lang="en-AU" sz="1600" dirty="0">
                <a:latin typeface="Calibri" pitchFamily="34" charset="0"/>
                <a:cs typeface="Calibri" pitchFamily="34" charset="0"/>
              </a:rPr>
            </a:br>
            <a:r>
              <a:rPr lang="en-AU" sz="1600" dirty="0">
                <a:latin typeface="Calibri" pitchFamily="34" charset="0"/>
                <a:cs typeface="Calibri" pitchFamily="34" charset="0"/>
              </a:rPr>
              <a:t>	Hence b = 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Rectangle 8"/>
          <p:cNvSpPr>
            <a:spLocks noChangeArrowheads="1"/>
          </p:cNvSpPr>
          <p:nvPr/>
        </p:nvSpPr>
        <p:spPr bwMode="auto">
          <a:xfrm>
            <a:off x="159520" y="86722"/>
            <a:ext cx="864235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AU" sz="1600" i="1" dirty="0">
                <a:latin typeface="Calibri" pitchFamily="34" charset="0"/>
                <a:ea typeface="Times New Roman" pitchFamily="18" charset="0"/>
                <a:cs typeface="Calibri" pitchFamily="34" charset="0"/>
              </a:rPr>
              <a:t>[OR, once you have the two equations, use your CAS calculator to SOLVE the simultaneous equations.]</a:t>
            </a:r>
            <a:endParaRPr lang="en-AU" sz="1600" dirty="0">
              <a:latin typeface="Calibri" pitchFamily="34" charset="0"/>
              <a:ea typeface="Times New Roman" pitchFamily="18" charset="0"/>
              <a:cs typeface="Calibri" pitchFamily="34" charset="0"/>
            </a:endParaRPr>
          </a:p>
          <a:p>
            <a:pPr eaLnBrk="0" hangingPunct="0"/>
            <a:r>
              <a:rPr lang="en-AU" sz="1600" dirty="0">
                <a:latin typeface="Calibri" pitchFamily="34" charset="0"/>
                <a:ea typeface="Times New Roman" pitchFamily="18" charset="0"/>
                <a:cs typeface="Calibri" pitchFamily="34" charset="0"/>
              </a:rPr>
              <a:t>You may use your CAS calculator when given recursive definitions</a:t>
            </a:r>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Use Sequence Recursive mode</a:t>
            </a:r>
            <a:br>
              <a:rPr lang="en-AU" sz="1600" dirty="0">
                <a:latin typeface="Calibri" pitchFamily="34" charset="0"/>
                <a:cs typeface="Calibri" pitchFamily="34" charset="0"/>
              </a:rPr>
            </a:br>
            <a:endParaRPr lang="en-AU" sz="1600" dirty="0">
              <a:latin typeface="Calibri" pitchFamily="34" charset="0"/>
              <a:cs typeface="Calibri" pitchFamily="34" charset="0"/>
            </a:endParaRPr>
          </a:p>
          <a:p>
            <a:pPr eaLnBrk="0" hangingPunct="0"/>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For Ex 1, use Type :	a</a:t>
            </a:r>
            <a:r>
              <a:rPr lang="en-AU" sz="1600" baseline="-30000" dirty="0">
                <a:latin typeface="Calibri" pitchFamily="34" charset="0"/>
                <a:cs typeface="Calibri" pitchFamily="34" charset="0"/>
              </a:rPr>
              <a:t>n+1 </a:t>
            </a:r>
            <a:r>
              <a:rPr lang="en-AU" sz="1600" dirty="0">
                <a:latin typeface="Calibri" pitchFamily="34" charset="0"/>
                <a:cs typeface="Calibri" pitchFamily="34" charset="0"/>
              </a:rPr>
              <a:t>Type a</a:t>
            </a:r>
            <a:r>
              <a:rPr lang="en-AU" sz="1600" baseline="-30000" dirty="0">
                <a:latin typeface="Calibri" pitchFamily="34" charset="0"/>
                <a:cs typeface="Calibri" pitchFamily="34" charset="0"/>
              </a:rPr>
              <a:t>1</a:t>
            </a:r>
            <a:br>
              <a:rPr lang="en-AU" sz="1600" dirty="0">
                <a:latin typeface="Calibri" pitchFamily="34" charset="0"/>
                <a:cs typeface="Calibri" pitchFamily="34" charset="0"/>
              </a:rPr>
            </a:br>
            <a:r>
              <a:rPr lang="en-AU" sz="1600" dirty="0">
                <a:latin typeface="Calibri" pitchFamily="34" charset="0"/>
                <a:cs typeface="Calibri" pitchFamily="34" charset="0"/>
              </a:rPr>
              <a:t>Key in a</a:t>
            </a:r>
            <a:r>
              <a:rPr lang="en-AU" sz="1600" baseline="-30000" dirty="0">
                <a:latin typeface="Calibri" pitchFamily="34" charset="0"/>
                <a:cs typeface="Calibri" pitchFamily="34" charset="0"/>
              </a:rPr>
              <a:t>n+1</a:t>
            </a:r>
            <a:r>
              <a:rPr lang="en-AU" sz="1600" dirty="0">
                <a:latin typeface="Calibri" pitchFamily="34" charset="0"/>
                <a:cs typeface="Calibri" pitchFamily="34" charset="0"/>
              </a:rPr>
              <a:t> = a</a:t>
            </a:r>
            <a:r>
              <a:rPr lang="en-AU" sz="1600" baseline="-30000" dirty="0">
                <a:latin typeface="Calibri" pitchFamily="34" charset="0"/>
                <a:cs typeface="Calibri" pitchFamily="34" charset="0"/>
              </a:rPr>
              <a:t>n</a:t>
            </a:r>
            <a:r>
              <a:rPr lang="en-AU" sz="1600" dirty="0">
                <a:latin typeface="Calibri" pitchFamily="34" charset="0"/>
                <a:cs typeface="Calibri" pitchFamily="34" charset="0"/>
              </a:rPr>
              <a:t> + 3</a:t>
            </a:r>
          </a:p>
          <a:p>
            <a:pPr eaLnBrk="0" hangingPunct="0"/>
            <a:r>
              <a:rPr lang="en-AU" sz="1600" dirty="0">
                <a:latin typeface="Calibri" pitchFamily="34" charset="0"/>
                <a:cs typeface="Calibri" pitchFamily="34" charset="0"/>
              </a:rPr>
              <a:t>	  a</a:t>
            </a:r>
            <a:r>
              <a:rPr lang="en-AU" sz="1600" baseline="-30000" dirty="0">
                <a:latin typeface="Calibri" pitchFamily="34" charset="0"/>
                <a:cs typeface="Calibri" pitchFamily="34" charset="0"/>
              </a:rPr>
              <a:t>1</a:t>
            </a:r>
            <a:r>
              <a:rPr lang="en-AU" sz="1600" dirty="0">
                <a:latin typeface="Calibri" pitchFamily="34" charset="0"/>
                <a:cs typeface="Calibri" pitchFamily="34" charset="0"/>
              </a:rPr>
              <a:t> = 4</a:t>
            </a:r>
          </a:p>
          <a:p>
            <a:pPr eaLnBrk="0" hangingPunct="0"/>
            <a:r>
              <a:rPr lang="en-AU" sz="1600" dirty="0">
                <a:latin typeface="Calibri" pitchFamily="34" charset="0"/>
                <a:cs typeface="Calibri" pitchFamily="34" charset="0"/>
              </a:rPr>
              <a:t>(to get a</a:t>
            </a:r>
            <a:r>
              <a:rPr lang="en-AU" sz="1600" baseline="-30000" dirty="0">
                <a:latin typeface="Calibri" pitchFamily="34" charset="0"/>
                <a:cs typeface="Calibri" pitchFamily="34" charset="0"/>
              </a:rPr>
              <a:t>n, </a:t>
            </a:r>
            <a:r>
              <a:rPr lang="en-AU" sz="1600" dirty="0">
                <a:latin typeface="Calibri" pitchFamily="34" charset="0"/>
                <a:cs typeface="Calibri" pitchFamily="34" charset="0"/>
              </a:rPr>
              <a:t>use the </a:t>
            </a:r>
            <a:r>
              <a:rPr lang="en-AU" sz="1600" b="1" dirty="0" err="1">
                <a:latin typeface="Calibri" pitchFamily="34" charset="0"/>
                <a:cs typeface="Calibri" pitchFamily="34" charset="0"/>
              </a:rPr>
              <a:t>n,a</a:t>
            </a:r>
            <a:r>
              <a:rPr lang="en-AU" sz="1600" b="1" baseline="-30000" dirty="0" err="1">
                <a:latin typeface="Calibri" pitchFamily="34" charset="0"/>
                <a:cs typeface="Calibri" pitchFamily="34" charset="0"/>
              </a:rPr>
              <a:t>n</a:t>
            </a:r>
            <a:r>
              <a:rPr lang="en-AU" sz="1600" dirty="0">
                <a:latin typeface="Calibri" pitchFamily="34" charset="0"/>
                <a:cs typeface="Calibri" pitchFamily="34" charset="0"/>
              </a:rPr>
              <a:t> drop-down menu at top of screen)</a:t>
            </a:r>
            <a:br>
              <a:rPr lang="en-AU" sz="1600" dirty="0">
                <a:latin typeface="Calibri" pitchFamily="34" charset="0"/>
                <a:cs typeface="Calibri" pitchFamily="34" charset="0"/>
              </a:rPr>
            </a:br>
            <a:r>
              <a:rPr lang="en-AU" sz="1600" dirty="0">
                <a:latin typeface="Calibri" pitchFamily="34" charset="0"/>
                <a:cs typeface="Calibri" pitchFamily="34" charset="0"/>
              </a:rPr>
              <a:t>Set the Range:</a:t>
            </a:r>
            <a:br>
              <a:rPr lang="en-AU" sz="1600" dirty="0">
                <a:latin typeface="Calibri" pitchFamily="34" charset="0"/>
                <a:cs typeface="Calibri" pitchFamily="34" charset="0"/>
              </a:rPr>
            </a:br>
            <a:r>
              <a:rPr lang="en-AU" sz="1600" dirty="0">
                <a:latin typeface="Calibri" pitchFamily="34" charset="0"/>
                <a:cs typeface="Calibri" pitchFamily="34" charset="0"/>
              </a:rPr>
              <a:t>Use the icon         to set the range</a:t>
            </a:r>
            <a:br>
              <a:rPr lang="en-AU" sz="1600" dirty="0">
                <a:latin typeface="Calibri" pitchFamily="34" charset="0"/>
                <a:cs typeface="Calibri" pitchFamily="34" charset="0"/>
              </a:rPr>
            </a:br>
            <a:endParaRPr lang="en-AU" sz="1600" dirty="0">
              <a:latin typeface="Calibri" pitchFamily="34" charset="0"/>
              <a:cs typeface="Calibri" pitchFamily="34" charset="0"/>
            </a:endParaRPr>
          </a:p>
          <a:p>
            <a:pPr eaLnBrk="0" hangingPunct="0"/>
            <a:r>
              <a:rPr lang="en-AU" sz="1600" dirty="0">
                <a:latin typeface="Calibri" pitchFamily="34" charset="0"/>
                <a:cs typeface="Calibri" pitchFamily="34" charset="0"/>
              </a:rPr>
              <a:t> to Start 1, End 10 (or sufficiently large)</a:t>
            </a:r>
            <a:br>
              <a:rPr lang="en-AU" sz="1600" dirty="0">
                <a:latin typeface="Calibri" pitchFamily="34" charset="0"/>
                <a:cs typeface="Calibri" pitchFamily="34" charset="0"/>
              </a:rPr>
            </a:br>
            <a:r>
              <a:rPr lang="en-AU" sz="1600" dirty="0">
                <a:latin typeface="Calibri" pitchFamily="34" charset="0"/>
                <a:cs typeface="Calibri" pitchFamily="34" charset="0"/>
              </a:rPr>
              <a:t>Tick or select the box alongside the equation</a:t>
            </a:r>
          </a:p>
          <a:p>
            <a:pPr eaLnBrk="0" hangingPunct="0"/>
            <a:r>
              <a:rPr lang="en-AU" sz="1600" dirty="0">
                <a:latin typeface="Calibri" pitchFamily="34" charset="0"/>
                <a:cs typeface="Calibri" pitchFamily="34" charset="0"/>
              </a:rPr>
              <a:t>Press the Table icon               and scroll down.</a:t>
            </a:r>
          </a:p>
          <a:p>
            <a:pPr eaLnBrk="0" hangingPunct="0"/>
            <a:endParaRPr lang="en-AU" sz="1600" dirty="0">
              <a:latin typeface="Calibri" pitchFamily="34" charset="0"/>
              <a:cs typeface="Calibri" pitchFamily="34" charset="0"/>
            </a:endParaRPr>
          </a:p>
          <a:p>
            <a:br>
              <a:rPr lang="en-AU" sz="1600" dirty="0">
                <a:latin typeface="Calibri" pitchFamily="34" charset="0"/>
                <a:cs typeface="Calibri" pitchFamily="34" charset="0"/>
              </a:rPr>
            </a:br>
            <a:endParaRPr lang="en-AU" sz="1600" dirty="0">
              <a:latin typeface="Calibri" pitchFamily="34" charset="0"/>
              <a:cs typeface="Calibri" pitchFamily="34" charset="0"/>
            </a:endParaRPr>
          </a:p>
        </p:txBody>
      </p:sp>
      <p:graphicFrame>
        <p:nvGraphicFramePr>
          <p:cNvPr id="5127" name="Object 7"/>
          <p:cNvGraphicFramePr>
            <a:graphicFrameLocks noChangeAspect="1"/>
          </p:cNvGraphicFramePr>
          <p:nvPr>
            <p:extLst>
              <p:ext uri="{D42A27DB-BD31-4B8C-83A1-F6EECF244321}">
                <p14:modId xmlns:p14="http://schemas.microsoft.com/office/powerpoint/2010/main" val="3186692703"/>
              </p:ext>
            </p:extLst>
          </p:nvPr>
        </p:nvGraphicFramePr>
        <p:xfrm>
          <a:off x="1331640" y="2636912"/>
          <a:ext cx="323850" cy="304800"/>
        </p:xfrm>
        <a:graphic>
          <a:graphicData uri="http://schemas.openxmlformats.org/presentationml/2006/ole">
            <mc:AlternateContent xmlns:mc="http://schemas.openxmlformats.org/markup-compatibility/2006">
              <mc:Choice xmlns:v="urn:schemas-microsoft-com:vml" Requires="v">
                <p:oleObj spid="_x0000_s5154" name="Microsoft Equation 3.0" r:id="rId3" imgW="774364" imgH="736280" progId="Equation.3">
                  <p:embed/>
                </p:oleObj>
              </mc:Choice>
              <mc:Fallback>
                <p:oleObj name="Microsoft Equation 3.0" r:id="rId3" imgW="774364" imgH="73628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2636912"/>
                        <a:ext cx="323850" cy="304800"/>
                      </a:xfrm>
                      <a:prstGeom prst="rect">
                        <a:avLst/>
                      </a:prstGeom>
                      <a:noFill/>
                    </p:spPr>
                  </p:pic>
                </p:oleObj>
              </mc:Fallback>
            </mc:AlternateContent>
          </a:graphicData>
        </a:graphic>
      </p:graphicFrame>
      <p:graphicFrame>
        <p:nvGraphicFramePr>
          <p:cNvPr id="5124" name="Object 4"/>
          <p:cNvGraphicFramePr>
            <a:graphicFrameLocks noChangeAspect="1"/>
          </p:cNvGraphicFramePr>
          <p:nvPr>
            <p:extLst>
              <p:ext uri="{D42A27DB-BD31-4B8C-83A1-F6EECF244321}">
                <p14:modId xmlns:p14="http://schemas.microsoft.com/office/powerpoint/2010/main" val="1149626731"/>
              </p:ext>
            </p:extLst>
          </p:nvPr>
        </p:nvGraphicFramePr>
        <p:xfrm>
          <a:off x="1979712" y="3632115"/>
          <a:ext cx="581025" cy="476250"/>
        </p:xfrm>
        <a:graphic>
          <a:graphicData uri="http://schemas.openxmlformats.org/presentationml/2006/ole">
            <mc:AlternateContent xmlns:mc="http://schemas.openxmlformats.org/markup-compatibility/2006">
              <mc:Choice xmlns:v="urn:schemas-microsoft-com:vml" Requires="v">
                <p:oleObj spid="_x0000_s5155" name="Microsoft Equation 3.0" r:id="rId5" imgW="774364" imgH="710891" progId="Equation.3">
                  <p:embed/>
                </p:oleObj>
              </mc:Choice>
              <mc:Fallback>
                <p:oleObj name="Microsoft Equation 3.0" r:id="rId5" imgW="774364" imgH="710891"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3632115"/>
                        <a:ext cx="581025"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 name="Picture 12"/>
          <p:cNvPicPr/>
          <p:nvPr/>
        </p:nvPicPr>
        <p:blipFill rotWithShape="1">
          <a:blip r:embed="rId7"/>
          <a:srcRect l="11741" t="35085" r="76262" b="36271"/>
          <a:stretch/>
        </p:blipFill>
        <p:spPr bwMode="auto">
          <a:xfrm>
            <a:off x="6436338" y="692696"/>
            <a:ext cx="1440160" cy="1080120"/>
          </a:xfrm>
          <a:prstGeom prst="rect">
            <a:avLst/>
          </a:prstGeom>
          <a:ln>
            <a:noFill/>
          </a:ln>
          <a:extLst>
            <a:ext uri="{53640926-AAD7-44D8-BBD7-CCE9431645EC}">
              <a14:shadowObscured xmlns:a14="http://schemas.microsoft.com/office/drawing/2010/main"/>
            </a:ext>
          </a:extLst>
        </p:spPr>
      </p:pic>
      <p:cxnSp>
        <p:nvCxnSpPr>
          <p:cNvPr id="6" name="Straight Arrow Connector 5"/>
          <p:cNvCxnSpPr/>
          <p:nvPr/>
        </p:nvCxnSpPr>
        <p:spPr>
          <a:xfrm>
            <a:off x="2843808" y="836712"/>
            <a:ext cx="3592530" cy="64807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8" name="Picture 17"/>
          <p:cNvPicPr/>
          <p:nvPr/>
        </p:nvPicPr>
        <p:blipFill rotWithShape="1">
          <a:blip r:embed="rId8"/>
          <a:srcRect l="11231" t="4746" r="75879" b="67797"/>
          <a:stretch/>
        </p:blipFill>
        <p:spPr bwMode="auto">
          <a:xfrm>
            <a:off x="5004048" y="1571466"/>
            <a:ext cx="1432290" cy="1209462"/>
          </a:xfrm>
          <a:prstGeom prst="rect">
            <a:avLst/>
          </a:prstGeom>
          <a:ln>
            <a:noFill/>
          </a:ln>
          <a:extLst>
            <a:ext uri="{53640926-AAD7-44D8-BBD7-CCE9431645EC}">
              <a14:shadowObscured xmlns:a14="http://schemas.microsoft.com/office/drawing/2010/main"/>
            </a:ext>
          </a:extLst>
        </p:spPr>
      </p:pic>
      <p:cxnSp>
        <p:nvCxnSpPr>
          <p:cNvPr id="12" name="Straight Arrow Connector 11"/>
          <p:cNvCxnSpPr/>
          <p:nvPr/>
        </p:nvCxnSpPr>
        <p:spPr>
          <a:xfrm>
            <a:off x="3131840" y="1571466"/>
            <a:ext cx="2160240" cy="2013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1" name="Picture 20"/>
          <p:cNvPicPr/>
          <p:nvPr/>
        </p:nvPicPr>
        <p:blipFill rotWithShape="1">
          <a:blip r:embed="rId9"/>
          <a:srcRect l="11614" t="4746" r="76517" b="68136"/>
          <a:stretch/>
        </p:blipFill>
        <p:spPr bwMode="auto">
          <a:xfrm>
            <a:off x="6997726" y="2348880"/>
            <a:ext cx="1757543" cy="1527702"/>
          </a:xfrm>
          <a:prstGeom prst="rect">
            <a:avLst/>
          </a:prstGeom>
          <a:ln>
            <a:noFill/>
          </a:ln>
          <a:extLst>
            <a:ext uri="{53640926-AAD7-44D8-BBD7-CCE9431645EC}">
              <a14:shadowObscured xmlns:a14="http://schemas.microsoft.com/office/drawing/2010/main"/>
            </a:ext>
          </a:extLst>
        </p:spPr>
      </p:pic>
      <p:cxnSp>
        <p:nvCxnSpPr>
          <p:cNvPr id="15" name="Straight Arrow Connector 14"/>
          <p:cNvCxnSpPr/>
          <p:nvPr/>
        </p:nvCxnSpPr>
        <p:spPr>
          <a:xfrm>
            <a:off x="3203848" y="2348880"/>
            <a:ext cx="4248472" cy="43204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24" name="Picture 23"/>
          <p:cNvPicPr/>
          <p:nvPr/>
        </p:nvPicPr>
        <p:blipFill rotWithShape="1">
          <a:blip r:embed="rId10"/>
          <a:srcRect l="11487" t="5425" r="76006" b="60677"/>
          <a:stretch/>
        </p:blipFill>
        <p:spPr bwMode="auto">
          <a:xfrm>
            <a:off x="5012928" y="2940601"/>
            <a:ext cx="1724195" cy="1871961"/>
          </a:xfrm>
          <a:prstGeom prst="rect">
            <a:avLst/>
          </a:prstGeom>
          <a:ln>
            <a:noFill/>
          </a:ln>
          <a:extLst>
            <a:ext uri="{53640926-AAD7-44D8-BBD7-CCE9431645EC}">
              <a14:shadowObscured xmlns:a14="http://schemas.microsoft.com/office/drawing/2010/main"/>
            </a:ext>
          </a:extLst>
        </p:spPr>
      </p:pic>
      <p:cxnSp>
        <p:nvCxnSpPr>
          <p:cNvPr id="28" name="Straight Arrow Connector 27"/>
          <p:cNvCxnSpPr/>
          <p:nvPr/>
        </p:nvCxnSpPr>
        <p:spPr>
          <a:xfrm>
            <a:off x="3059832" y="2780928"/>
            <a:ext cx="2448272" cy="57606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35" name="Picture 34"/>
          <p:cNvPicPr/>
          <p:nvPr/>
        </p:nvPicPr>
        <p:blipFill rotWithShape="1">
          <a:blip r:embed="rId11"/>
          <a:srcRect l="11487" t="10509" r="76006" b="47118"/>
          <a:stretch/>
        </p:blipFill>
        <p:spPr bwMode="auto">
          <a:xfrm>
            <a:off x="2843808" y="4086542"/>
            <a:ext cx="2088232" cy="2366794"/>
          </a:xfrm>
          <a:prstGeom prst="rect">
            <a:avLst/>
          </a:prstGeom>
          <a:ln>
            <a:noFill/>
          </a:ln>
          <a:extLst>
            <a:ext uri="{53640926-AAD7-44D8-BBD7-CCE9431645EC}">
              <a14:shadowObscured xmlns:a14="http://schemas.microsoft.com/office/drawing/2010/main"/>
            </a:ext>
          </a:extLst>
        </p:spPr>
      </p:pic>
      <p:cxnSp>
        <p:nvCxnSpPr>
          <p:cNvPr id="30" name="Straight Arrow Connector 29"/>
          <p:cNvCxnSpPr/>
          <p:nvPr/>
        </p:nvCxnSpPr>
        <p:spPr>
          <a:xfrm>
            <a:off x="1475656" y="3876581"/>
            <a:ext cx="1512168" cy="41651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908720"/>
            <a:ext cx="7632848" cy="4524315"/>
          </a:xfrm>
          <a:prstGeom prst="rect">
            <a:avLst/>
          </a:prstGeom>
        </p:spPr>
        <p:txBody>
          <a:bodyPr wrap="square">
            <a:spAutoFit/>
          </a:bodyPr>
          <a:lstStyle/>
          <a:p>
            <a:r>
              <a:rPr lang="en-AU" dirty="0">
                <a:latin typeface="Calibri" pitchFamily="34" charset="0"/>
                <a:cs typeface="Calibri" pitchFamily="34" charset="0"/>
              </a:rPr>
              <a:t>For Ex 3, use Type :	a</a:t>
            </a:r>
            <a:r>
              <a:rPr lang="en-AU" baseline="-25000" dirty="0">
                <a:latin typeface="Calibri" pitchFamily="34" charset="0"/>
                <a:cs typeface="Calibri" pitchFamily="34" charset="0"/>
              </a:rPr>
              <a:t>n+2</a:t>
            </a:r>
            <a:r>
              <a:rPr lang="en-AU" dirty="0">
                <a:latin typeface="Calibri" pitchFamily="34" charset="0"/>
                <a:cs typeface="Calibri" pitchFamily="34" charset="0"/>
              </a:rPr>
              <a:t> Type a</a:t>
            </a:r>
            <a:r>
              <a:rPr lang="en-AU" baseline="-25000" dirty="0">
                <a:latin typeface="Calibri" pitchFamily="34" charset="0"/>
                <a:cs typeface="Calibri" pitchFamily="34" charset="0"/>
              </a:rPr>
              <a:t>1</a:t>
            </a:r>
            <a:r>
              <a:rPr lang="en-AU" dirty="0">
                <a:latin typeface="Calibri" pitchFamily="34" charset="0"/>
                <a:cs typeface="Calibri" pitchFamily="34" charset="0"/>
              </a:rPr>
              <a:t> a</a:t>
            </a:r>
            <a:r>
              <a:rPr lang="en-AU" baseline="-25000" dirty="0">
                <a:latin typeface="Calibri" pitchFamily="34" charset="0"/>
                <a:cs typeface="Calibri" pitchFamily="34" charset="0"/>
              </a:rPr>
              <a:t>2</a:t>
            </a:r>
            <a:br>
              <a:rPr lang="en-AU" dirty="0">
                <a:latin typeface="Calibri" pitchFamily="34" charset="0"/>
                <a:cs typeface="Calibri" pitchFamily="34" charset="0"/>
              </a:rPr>
            </a:br>
            <a:endParaRPr lang="en-AU" dirty="0">
              <a:latin typeface="Calibri" pitchFamily="34" charset="0"/>
              <a:cs typeface="Calibri" pitchFamily="34" charset="0"/>
            </a:endParaRPr>
          </a:p>
          <a:p>
            <a:endParaRPr lang="en-AU" dirty="0">
              <a:latin typeface="Calibri" pitchFamily="34" charset="0"/>
              <a:cs typeface="Calibri" pitchFamily="34" charset="0"/>
            </a:endParaRPr>
          </a:p>
          <a:p>
            <a:endParaRPr lang="en-AU" dirty="0">
              <a:latin typeface="Calibri" pitchFamily="34" charset="0"/>
              <a:cs typeface="Calibri" pitchFamily="34" charset="0"/>
            </a:endParaRPr>
          </a:p>
          <a:p>
            <a:r>
              <a:rPr lang="en-AU" dirty="0">
                <a:latin typeface="Calibri" pitchFamily="34" charset="0"/>
                <a:cs typeface="Calibri" pitchFamily="34" charset="0"/>
              </a:rPr>
              <a:t>Key in a</a:t>
            </a:r>
            <a:r>
              <a:rPr lang="en-AU" baseline="-25000" dirty="0">
                <a:latin typeface="Calibri" pitchFamily="34" charset="0"/>
                <a:cs typeface="Calibri" pitchFamily="34" charset="0"/>
              </a:rPr>
              <a:t>n+2</a:t>
            </a:r>
            <a:r>
              <a:rPr lang="en-AU" dirty="0">
                <a:latin typeface="Calibri" pitchFamily="34" charset="0"/>
                <a:cs typeface="Calibri" pitchFamily="34" charset="0"/>
              </a:rPr>
              <a:t>  = a</a:t>
            </a:r>
            <a:r>
              <a:rPr lang="en-AU" baseline="-25000" dirty="0">
                <a:latin typeface="Calibri" pitchFamily="34" charset="0"/>
                <a:cs typeface="Calibri" pitchFamily="34" charset="0"/>
              </a:rPr>
              <a:t>n+1</a:t>
            </a:r>
            <a:r>
              <a:rPr lang="en-AU" dirty="0">
                <a:latin typeface="Calibri" pitchFamily="34" charset="0"/>
                <a:cs typeface="Calibri" pitchFamily="34" charset="0"/>
              </a:rPr>
              <a:t> + a</a:t>
            </a:r>
            <a:r>
              <a:rPr lang="en-AU" baseline="-25000" dirty="0">
                <a:latin typeface="Calibri" pitchFamily="34" charset="0"/>
                <a:cs typeface="Calibri" pitchFamily="34" charset="0"/>
              </a:rPr>
              <a:t>n</a:t>
            </a:r>
            <a:r>
              <a:rPr lang="en-AU" dirty="0">
                <a:latin typeface="Calibri" pitchFamily="34" charset="0"/>
                <a:cs typeface="Calibri" pitchFamily="34" charset="0"/>
              </a:rPr>
              <a:t> </a:t>
            </a:r>
          </a:p>
          <a:p>
            <a:r>
              <a:rPr lang="en-AU" dirty="0">
                <a:latin typeface="Calibri" pitchFamily="34" charset="0"/>
                <a:cs typeface="Calibri" pitchFamily="34" charset="0"/>
              </a:rPr>
              <a:t>	  a</a:t>
            </a:r>
            <a:r>
              <a:rPr lang="en-AU" baseline="-25000" dirty="0">
                <a:latin typeface="Calibri" pitchFamily="34" charset="0"/>
                <a:cs typeface="Calibri" pitchFamily="34" charset="0"/>
              </a:rPr>
              <a:t>1</a:t>
            </a:r>
            <a:r>
              <a:rPr lang="en-AU" dirty="0">
                <a:latin typeface="Calibri" pitchFamily="34" charset="0"/>
                <a:cs typeface="Calibri" pitchFamily="34" charset="0"/>
              </a:rPr>
              <a:t> = 1, a</a:t>
            </a:r>
            <a:r>
              <a:rPr lang="en-AU" baseline="-25000" dirty="0">
                <a:latin typeface="Calibri" pitchFamily="34" charset="0"/>
                <a:cs typeface="Calibri" pitchFamily="34" charset="0"/>
              </a:rPr>
              <a:t>2</a:t>
            </a:r>
            <a:r>
              <a:rPr lang="en-AU" dirty="0">
                <a:latin typeface="Calibri" pitchFamily="34" charset="0"/>
                <a:cs typeface="Calibri" pitchFamily="34" charset="0"/>
              </a:rPr>
              <a:t> = 1</a:t>
            </a:r>
          </a:p>
          <a:p>
            <a:r>
              <a:rPr lang="en-AU" dirty="0">
                <a:latin typeface="Calibri" pitchFamily="34" charset="0"/>
                <a:cs typeface="Calibri" pitchFamily="34" charset="0"/>
              </a:rPr>
              <a:t>(to get an and a</a:t>
            </a:r>
            <a:r>
              <a:rPr lang="en-AU" baseline="-25000" dirty="0">
                <a:latin typeface="Calibri" pitchFamily="34" charset="0"/>
                <a:cs typeface="Calibri" pitchFamily="34" charset="0"/>
              </a:rPr>
              <a:t>n+1</a:t>
            </a:r>
            <a:r>
              <a:rPr lang="en-AU" dirty="0">
                <a:latin typeface="Calibri" pitchFamily="34" charset="0"/>
                <a:cs typeface="Calibri" pitchFamily="34" charset="0"/>
              </a:rPr>
              <a:t>, use the </a:t>
            </a:r>
            <a:r>
              <a:rPr lang="en-AU" b="1" dirty="0" err="1">
                <a:latin typeface="Calibri" pitchFamily="34" charset="0"/>
                <a:cs typeface="Calibri" pitchFamily="34" charset="0"/>
              </a:rPr>
              <a:t>n,a</a:t>
            </a:r>
            <a:r>
              <a:rPr lang="en-AU" b="1" baseline="-25000" dirty="0" err="1">
                <a:latin typeface="Calibri" pitchFamily="34" charset="0"/>
                <a:cs typeface="Calibri" pitchFamily="34" charset="0"/>
              </a:rPr>
              <a:t>n</a:t>
            </a:r>
            <a:r>
              <a:rPr lang="en-AU" dirty="0">
                <a:latin typeface="Calibri" pitchFamily="34" charset="0"/>
                <a:cs typeface="Calibri" pitchFamily="34" charset="0"/>
              </a:rPr>
              <a:t> drop-down </a:t>
            </a:r>
          </a:p>
          <a:p>
            <a:r>
              <a:rPr lang="en-AU" dirty="0">
                <a:latin typeface="Calibri" pitchFamily="34" charset="0"/>
                <a:cs typeface="Calibri" pitchFamily="34" charset="0"/>
              </a:rPr>
              <a:t>menu at top of screen)</a:t>
            </a:r>
            <a:br>
              <a:rPr lang="en-AU" dirty="0">
                <a:latin typeface="Calibri" pitchFamily="34" charset="0"/>
                <a:cs typeface="Calibri" pitchFamily="34" charset="0"/>
              </a:rPr>
            </a:br>
            <a:r>
              <a:rPr lang="en-AU" dirty="0">
                <a:latin typeface="Calibri" pitchFamily="34" charset="0"/>
                <a:cs typeface="Calibri" pitchFamily="34" charset="0"/>
              </a:rPr>
              <a:t>Set the Range:</a:t>
            </a:r>
            <a:br>
              <a:rPr lang="en-AU" dirty="0">
                <a:latin typeface="Calibri" pitchFamily="34" charset="0"/>
                <a:cs typeface="Calibri" pitchFamily="34" charset="0"/>
              </a:rPr>
            </a:br>
            <a:r>
              <a:rPr lang="en-AU" dirty="0">
                <a:latin typeface="Calibri" pitchFamily="34" charset="0"/>
                <a:cs typeface="Calibri" pitchFamily="34" charset="0"/>
              </a:rPr>
              <a:t>Use the icon           to set the range</a:t>
            </a:r>
            <a:br>
              <a:rPr lang="en-AU" dirty="0">
                <a:latin typeface="Calibri" pitchFamily="34" charset="0"/>
                <a:cs typeface="Calibri" pitchFamily="34" charset="0"/>
              </a:rPr>
            </a:br>
            <a:endParaRPr lang="en-AU" dirty="0">
              <a:latin typeface="Calibri" pitchFamily="34" charset="0"/>
              <a:cs typeface="Calibri" pitchFamily="34" charset="0"/>
            </a:endParaRPr>
          </a:p>
          <a:p>
            <a:r>
              <a:rPr lang="en-AU" dirty="0">
                <a:latin typeface="Calibri" pitchFamily="34" charset="0"/>
                <a:cs typeface="Calibri" pitchFamily="34" charset="0"/>
              </a:rPr>
              <a:t> to Start 1, End 10 (or sufficiently large)</a:t>
            </a:r>
            <a:br>
              <a:rPr lang="en-AU" dirty="0">
                <a:latin typeface="Calibri" pitchFamily="34" charset="0"/>
                <a:cs typeface="Calibri" pitchFamily="34" charset="0"/>
              </a:rPr>
            </a:br>
            <a:r>
              <a:rPr lang="en-AU" dirty="0">
                <a:latin typeface="Calibri" pitchFamily="34" charset="0"/>
                <a:cs typeface="Calibri" pitchFamily="34" charset="0"/>
              </a:rPr>
              <a:t>Tick or select the box alongside the equation</a:t>
            </a:r>
          </a:p>
          <a:p>
            <a:r>
              <a:rPr lang="en-AU" dirty="0">
                <a:latin typeface="Calibri" pitchFamily="34" charset="0"/>
                <a:cs typeface="Calibri" pitchFamily="34" charset="0"/>
              </a:rPr>
              <a:t>Press the Table icon                 and scroll down.</a:t>
            </a:r>
          </a:p>
          <a:p>
            <a:endParaRPr lang="en-AU" dirty="0">
              <a:latin typeface="Calibri" pitchFamily="34" charset="0"/>
              <a:cs typeface="Calibri" pitchFamily="34" charset="0"/>
            </a:endParaRPr>
          </a:p>
          <a:p>
            <a:r>
              <a:rPr lang="en-AU" dirty="0">
                <a:latin typeface="Calibri" pitchFamily="34" charset="0"/>
                <a:cs typeface="Calibri" pitchFamily="34" charset="0"/>
              </a:rPr>
              <a:t>Now do Ex 3C – Pages 81 - 83</a:t>
            </a:r>
          </a:p>
        </p:txBody>
      </p:sp>
      <p:graphicFrame>
        <p:nvGraphicFramePr>
          <p:cNvPr id="3" name="Object 2"/>
          <p:cNvGraphicFramePr>
            <a:graphicFrameLocks noChangeAspect="1"/>
          </p:cNvGraphicFramePr>
          <p:nvPr>
            <p:extLst>
              <p:ext uri="{D42A27DB-BD31-4B8C-83A1-F6EECF244321}">
                <p14:modId xmlns:p14="http://schemas.microsoft.com/office/powerpoint/2010/main" val="1415890642"/>
              </p:ext>
            </p:extLst>
          </p:nvPr>
        </p:nvGraphicFramePr>
        <p:xfrm>
          <a:off x="2915816" y="4581128"/>
          <a:ext cx="581025" cy="476250"/>
        </p:xfrm>
        <a:graphic>
          <a:graphicData uri="http://schemas.openxmlformats.org/presentationml/2006/ole">
            <mc:AlternateContent xmlns:mc="http://schemas.openxmlformats.org/markup-compatibility/2006">
              <mc:Choice xmlns:v="urn:schemas-microsoft-com:vml" Requires="v">
                <p:oleObj spid="_x0000_s6153" name="Microsoft Equation 3.0" r:id="rId3" imgW="774364" imgH="710891" progId="Equation.3">
                  <p:embed/>
                </p:oleObj>
              </mc:Choice>
              <mc:Fallback>
                <p:oleObj name="Microsoft Equation 3.0" r:id="rId3" imgW="774364" imgH="710891"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4581128"/>
                        <a:ext cx="581025" cy="476250"/>
                      </a:xfrm>
                      <a:prstGeom prst="rect">
                        <a:avLst/>
                      </a:prstGeom>
                      <a:noFill/>
                      <a:ln>
                        <a:noFill/>
                      </a:ln>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796670808"/>
              </p:ext>
            </p:extLst>
          </p:nvPr>
        </p:nvGraphicFramePr>
        <p:xfrm>
          <a:off x="2123728" y="3501008"/>
          <a:ext cx="323850" cy="304800"/>
        </p:xfrm>
        <a:graphic>
          <a:graphicData uri="http://schemas.openxmlformats.org/presentationml/2006/ole">
            <mc:AlternateContent xmlns:mc="http://schemas.openxmlformats.org/markup-compatibility/2006">
              <mc:Choice xmlns:v="urn:schemas-microsoft-com:vml" Requires="v">
                <p:oleObj spid="_x0000_s6154" name="Microsoft Equation 3.0" r:id="rId5" imgW="774364" imgH="736280" progId="Equation.3">
                  <p:embed/>
                </p:oleObj>
              </mc:Choice>
              <mc:Fallback>
                <p:oleObj name="Microsoft Equation 3.0" r:id="rId5" imgW="774364" imgH="73628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3728" y="3501008"/>
                        <a:ext cx="323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 name="Picture 4"/>
          <p:cNvPicPr/>
          <p:nvPr/>
        </p:nvPicPr>
        <p:blipFill rotWithShape="1">
          <a:blip r:embed="rId7"/>
          <a:srcRect l="11996" t="6780" r="75879" b="66441"/>
          <a:stretch/>
        </p:blipFill>
        <p:spPr bwMode="auto">
          <a:xfrm>
            <a:off x="5220072" y="188640"/>
            <a:ext cx="2664296" cy="2016224"/>
          </a:xfrm>
          <a:prstGeom prst="rect">
            <a:avLst/>
          </a:prstGeom>
          <a:ln>
            <a:noFill/>
          </a:ln>
          <a:extLst>
            <a:ext uri="{53640926-AAD7-44D8-BBD7-CCE9431645EC}">
              <a14:shadowObscured xmlns:a14="http://schemas.microsoft.com/office/drawing/2010/main"/>
            </a:ext>
          </a:extLst>
        </p:spPr>
      </p:pic>
      <p:cxnSp>
        <p:nvCxnSpPr>
          <p:cNvPr id="7" name="Straight Arrow Connector 6"/>
          <p:cNvCxnSpPr/>
          <p:nvPr/>
        </p:nvCxnSpPr>
        <p:spPr>
          <a:xfrm>
            <a:off x="4139952" y="1196752"/>
            <a:ext cx="1728192"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9" name="Picture 8"/>
          <p:cNvPicPr/>
          <p:nvPr/>
        </p:nvPicPr>
        <p:blipFill rotWithShape="1">
          <a:blip r:embed="rId8"/>
          <a:srcRect l="11741" t="7119" r="75879" b="67797"/>
          <a:stretch/>
        </p:blipFill>
        <p:spPr bwMode="auto">
          <a:xfrm>
            <a:off x="5521615" y="2384747"/>
            <a:ext cx="2061210" cy="1572260"/>
          </a:xfrm>
          <a:prstGeom prst="rect">
            <a:avLst/>
          </a:prstGeom>
          <a:ln>
            <a:noFill/>
          </a:ln>
          <a:extLst>
            <a:ext uri="{53640926-AAD7-44D8-BBD7-CCE9431645EC}">
              <a14:shadowObscured xmlns:a14="http://schemas.microsoft.com/office/drawing/2010/main"/>
            </a:ext>
          </a:extLst>
        </p:spPr>
      </p:pic>
      <p:cxnSp>
        <p:nvCxnSpPr>
          <p:cNvPr id="11" name="Straight Arrow Connector 10"/>
          <p:cNvCxnSpPr/>
          <p:nvPr/>
        </p:nvCxnSpPr>
        <p:spPr>
          <a:xfrm flipV="1">
            <a:off x="4860032" y="2708920"/>
            <a:ext cx="1368152" cy="14401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2" name="Picture 11"/>
          <p:cNvPicPr/>
          <p:nvPr/>
        </p:nvPicPr>
        <p:blipFill rotWithShape="1">
          <a:blip r:embed="rId9"/>
          <a:srcRect l="11869" t="7796" r="77666" b="46441"/>
          <a:stretch/>
        </p:blipFill>
        <p:spPr bwMode="auto">
          <a:xfrm>
            <a:off x="6034447" y="4210660"/>
            <a:ext cx="1484630" cy="2444750"/>
          </a:xfrm>
          <a:prstGeom prst="rect">
            <a:avLst/>
          </a:prstGeom>
          <a:ln>
            <a:noFill/>
          </a:ln>
          <a:extLst>
            <a:ext uri="{53640926-AAD7-44D8-BBD7-CCE9431645EC}">
              <a14:shadowObscured xmlns:a14="http://schemas.microsoft.com/office/drawing/2010/main"/>
            </a:ext>
          </a:extLst>
        </p:spPr>
      </p:pic>
      <p:cxnSp>
        <p:nvCxnSpPr>
          <p:cNvPr id="14" name="Straight Arrow Connector 13"/>
          <p:cNvCxnSpPr/>
          <p:nvPr/>
        </p:nvCxnSpPr>
        <p:spPr>
          <a:xfrm>
            <a:off x="5220072" y="4725144"/>
            <a:ext cx="814375" cy="28803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264343"/>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TotalTime>
  <Words>562</Words>
  <Application>Microsoft Office PowerPoint</Application>
  <PresentationFormat>On-screen Show (4:3)</PresentationFormat>
  <Paragraphs>73</Paragraphs>
  <Slides>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4" baseType="lpstr">
      <vt:lpstr>Arial</vt:lpstr>
      <vt:lpstr>Calibri</vt:lpstr>
      <vt:lpstr>MS Mincho</vt:lpstr>
      <vt:lpstr>Times New Roman</vt:lpstr>
      <vt:lpstr>Default Design</vt:lpstr>
      <vt:lpstr>Microsoft Equation 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Rob Mac</dc:creator>
  <cp:lastModifiedBy>KEEN Stephanie</cp:lastModifiedBy>
  <cp:revision>9</cp:revision>
  <cp:lastPrinted>2017-03-06T09:25:00Z</cp:lastPrinted>
  <dcterms:created xsi:type="dcterms:W3CDTF">2011-07-05T01:51:24Z</dcterms:created>
  <dcterms:modified xsi:type="dcterms:W3CDTF">2017-03-06T22:59:16Z</dcterms:modified>
</cp:coreProperties>
</file>
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797675" cy="987425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A1FC3-2697-4D0D-8E93-77629184B531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774B5-C3A4-4D6A-B76C-8C90DE104D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851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81B58-84DD-439A-B68D-A7D1F13E922A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40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594E9-7E61-46EA-A130-023EE5F4296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56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41034-D8E8-4E73-883F-E8A7772BBB8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11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D0208-FFE4-4F0B-B75B-4368D8277F9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30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BBE30-EDBF-4DEB-9171-42ACB8C0B64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39521-7114-4CA3-A6B9-D5CFE4D18D6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36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906B3-D92C-4091-A337-DE05423859B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36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FE9C9D-490C-412A-A445-570FFD8C274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69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A2648-D745-494C-84F8-8B0888056665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286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13128-20C1-4B08-8DE1-CFC6AA9CF32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50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AF93F8-641D-46D0-B7D3-592699D6282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82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A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4FDE56-ACD1-4B98-BCD7-0A2D0A30DE72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50825" y="476250"/>
            <a:ext cx="8732838" cy="58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AU" b="1" u="sng"/>
              <a:t>ARITHMETIC PROGRESSIONS</a:t>
            </a:r>
            <a:r>
              <a:rPr lang="en-AU"/>
              <a:t/>
            </a:r>
            <a:br>
              <a:rPr lang="en-AU"/>
            </a:br>
            <a:r>
              <a:rPr lang="en-AU"/>
              <a:t>An arithmetic progression (AP) is a sequence in which there is a constant difference between successive terms (i.e. </a:t>
            </a:r>
            <a:r>
              <a:rPr lang="en-AU" dirty="0"/>
              <a:t>any term subtract the previous term will always give the same result). This common difference is denoted by </a:t>
            </a:r>
            <a:r>
              <a:rPr lang="en-AU" i="1" dirty="0"/>
              <a:t>d</a:t>
            </a:r>
            <a:r>
              <a:rPr lang="en-AU" dirty="0"/>
              <a:t>, and the first term (T</a:t>
            </a:r>
            <a:r>
              <a:rPr lang="en-AU" baseline="-25000" dirty="0"/>
              <a:t>1</a:t>
            </a:r>
            <a:r>
              <a:rPr lang="en-AU" dirty="0"/>
              <a:t>) is denoted by </a:t>
            </a:r>
            <a:r>
              <a:rPr lang="en-AU" i="1" dirty="0"/>
              <a:t>a</a:t>
            </a:r>
            <a:r>
              <a:rPr lang="en-AU" dirty="0"/>
              <a:t/>
            </a:r>
            <a:br>
              <a:rPr lang="en-AU" dirty="0"/>
            </a:br>
            <a:r>
              <a:rPr lang="en-AU" dirty="0"/>
              <a:t>e.g.	1, 5, 9, 13, 17, . . 	[d = 4, a = 1]125</a:t>
            </a:r>
          </a:p>
          <a:p>
            <a:pPr algn="ctr"/>
            <a:r>
              <a:rPr lang="en-AU" dirty="0"/>
              <a:t/>
            </a:r>
            <a:br>
              <a:rPr lang="en-AU" dirty="0"/>
            </a:br>
            <a:r>
              <a:rPr lang="en-AU" dirty="0"/>
              <a:t>	16, 13, 10, 7, . . . 	[d = -3, a = 16]</a:t>
            </a:r>
            <a:br>
              <a:rPr lang="en-AU" dirty="0"/>
            </a:br>
            <a:r>
              <a:rPr lang="en-AU" dirty="0"/>
              <a:t>	8, 11, 14, 17, . . 	[d = 3, a = 8]</a:t>
            </a:r>
          </a:p>
          <a:p>
            <a:pPr algn="ctr"/>
            <a:r>
              <a:rPr lang="en-AU" dirty="0"/>
              <a:t>An AP is of the form</a:t>
            </a:r>
            <a:br>
              <a:rPr lang="en-AU" dirty="0"/>
            </a:br>
            <a:r>
              <a:rPr lang="en-AU" dirty="0"/>
              <a:t>	a, a + d, a + 2d, a + 3d, a + 4d, . . </a:t>
            </a:r>
            <a:br>
              <a:rPr lang="en-AU" dirty="0"/>
            </a:br>
            <a:r>
              <a:rPr lang="en-AU" dirty="0"/>
              <a:t>If you look at the sequence, you should notice that the coefficient of d is always 1 less than the number of the term	</a:t>
            </a:r>
            <a:r>
              <a:rPr lang="en-AU" dirty="0" err="1"/>
              <a:t>e.g</a:t>
            </a:r>
            <a:r>
              <a:rPr lang="en-AU" dirty="0"/>
              <a:t> T</a:t>
            </a:r>
            <a:r>
              <a:rPr lang="en-AU" baseline="-25000" dirty="0"/>
              <a:t>4</a:t>
            </a:r>
            <a:r>
              <a:rPr lang="en-AU" dirty="0"/>
              <a:t> = a + 3d</a:t>
            </a:r>
            <a:br>
              <a:rPr lang="en-AU" dirty="0"/>
            </a:br>
            <a:r>
              <a:rPr lang="en-AU" dirty="0"/>
              <a:t>Thus the nth term is given by 		</a:t>
            </a:r>
            <a:r>
              <a:rPr lang="en-AU" b="1" dirty="0" err="1"/>
              <a:t>Tn</a:t>
            </a:r>
            <a:r>
              <a:rPr lang="en-AU" b="1" dirty="0"/>
              <a:t> = a + (n – 1)d</a:t>
            </a:r>
            <a:endParaRPr lang="en-AU" dirty="0"/>
          </a:p>
          <a:p>
            <a:pPr algn="ctr"/>
            <a:r>
              <a:rPr lang="en-AU" dirty="0"/>
              <a:t>Ex 1	If a = 4 and d = 5, find the first three terms and the nth term.</a:t>
            </a:r>
          </a:p>
          <a:p>
            <a:pPr algn="ctr"/>
            <a:r>
              <a:rPr lang="en-AU" dirty="0"/>
              <a:t>Solution	T</a:t>
            </a:r>
            <a:r>
              <a:rPr lang="en-AU" baseline="-25000" dirty="0"/>
              <a:t>2</a:t>
            </a:r>
            <a:r>
              <a:rPr lang="en-AU" dirty="0"/>
              <a:t> = 4 + 5 = 9</a:t>
            </a:r>
            <a:br>
              <a:rPr lang="en-AU" dirty="0"/>
            </a:br>
            <a:r>
              <a:rPr lang="en-AU" dirty="0"/>
              <a:t>		T</a:t>
            </a:r>
            <a:r>
              <a:rPr lang="en-AU" baseline="-25000" dirty="0"/>
              <a:t>3</a:t>
            </a:r>
            <a:r>
              <a:rPr lang="en-AU" dirty="0"/>
              <a:t> = 9 + 5 = 14</a:t>
            </a:r>
            <a:br>
              <a:rPr lang="en-AU" dirty="0"/>
            </a:br>
            <a:r>
              <a:rPr lang="en-AU" dirty="0"/>
              <a:t>	Hence the sequence is 	4, 9, 14, . . . .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/>
              <a:t>T</a:t>
            </a:r>
            <a:r>
              <a:rPr lang="en-AU" baseline="-25000" dirty="0" err="1"/>
              <a:t>n</a:t>
            </a:r>
            <a:r>
              <a:rPr lang="en-AU" dirty="0"/>
              <a:t> = 	a + (n -1)d</a:t>
            </a:r>
            <a:br>
              <a:rPr lang="en-AU" dirty="0"/>
            </a:br>
            <a:r>
              <a:rPr lang="en-AU" dirty="0"/>
              <a:t>	      =  4 + (n – 1)5</a:t>
            </a:r>
          </a:p>
          <a:p>
            <a:pPr algn="ctr"/>
            <a:r>
              <a:rPr lang="en-AU" dirty="0"/>
              <a:t>                   = 5n - 1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593725" y="1187450"/>
            <a:ext cx="7956550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AU"/>
              <a:t>Ex 2	What term of the sequence 17, 23, 29, . .  is 143?</a:t>
            </a:r>
            <a:br>
              <a:rPr lang="en-AU"/>
            </a:br>
            <a:r>
              <a:rPr lang="en-AU"/>
              <a:t>Solution	  T</a:t>
            </a:r>
            <a:r>
              <a:rPr lang="en-AU" baseline="-25000"/>
              <a:t>n</a:t>
            </a:r>
            <a:r>
              <a:rPr lang="en-AU"/>
              <a:t> = a + (n -1)d</a:t>
            </a:r>
          </a:p>
          <a:p>
            <a:r>
              <a:rPr lang="en-AU"/>
              <a:t>		143 = 17 + (n – 1)6</a:t>
            </a:r>
          </a:p>
          <a:p>
            <a:r>
              <a:rPr lang="en-AU"/>
              <a:t>                         126 = (n – 1)6</a:t>
            </a:r>
            <a:br>
              <a:rPr lang="en-AU"/>
            </a:br>
            <a:r>
              <a:rPr lang="en-AU"/>
              <a:t>                            n = 22</a:t>
            </a:r>
            <a:br>
              <a:rPr lang="en-AU"/>
            </a:br>
            <a:r>
              <a:rPr lang="en-AU"/>
              <a:t>                   hence 143 is the 22nd term</a:t>
            </a:r>
          </a:p>
          <a:p>
            <a:r>
              <a:rPr lang="en-AU"/>
              <a:t>[OR	Use Sequence Recursive (or explicit) mode and scroll down screen]</a:t>
            </a:r>
          </a:p>
          <a:p>
            <a:endParaRPr lang="en-AU"/>
          </a:p>
          <a:p>
            <a:r>
              <a:rPr lang="en-AU"/>
              <a:t>Ex 3	Find the first three terms of an AP for which T</a:t>
            </a:r>
            <a:r>
              <a:rPr lang="en-AU" baseline="-25000"/>
              <a:t>7</a:t>
            </a:r>
            <a:r>
              <a:rPr lang="en-AU"/>
              <a:t> = 37 and T</a:t>
            </a:r>
            <a:r>
              <a:rPr lang="en-AU" baseline="-25000"/>
              <a:t>10</a:t>
            </a:r>
            <a:r>
              <a:rPr lang="en-AU"/>
              <a:t> = 16</a:t>
            </a:r>
          </a:p>
          <a:p>
            <a:r>
              <a:rPr lang="en-AU"/>
              <a:t>Solution		T</a:t>
            </a:r>
            <a:r>
              <a:rPr lang="en-AU" baseline="-25000"/>
              <a:t>10</a:t>
            </a:r>
            <a:r>
              <a:rPr lang="en-AU"/>
              <a:t> = a + 9d = 16	èqn (1)</a:t>
            </a:r>
            <a:br>
              <a:rPr lang="en-AU"/>
            </a:br>
            <a:r>
              <a:rPr lang="en-AU"/>
              <a:t>			T</a:t>
            </a:r>
            <a:r>
              <a:rPr lang="en-AU" baseline="-25000"/>
              <a:t>7</a:t>
            </a:r>
            <a:r>
              <a:rPr lang="en-AU"/>
              <a:t> =   a + 6d = 37	eqn (2)</a:t>
            </a:r>
            <a:br>
              <a:rPr lang="en-AU"/>
            </a:br>
            <a:r>
              <a:rPr lang="en-AU"/>
              <a:t>By subtraction                             3d = -21</a:t>
            </a:r>
          </a:p>
          <a:p>
            <a:r>
              <a:rPr lang="en-AU"/>
              <a:t>				       d = -7</a:t>
            </a:r>
            <a:br>
              <a:rPr lang="en-AU"/>
            </a:br>
            <a:r>
              <a:rPr lang="en-AU"/>
              <a:t>By substitution in eqn (2)	a + 6(-7) = 37</a:t>
            </a:r>
            <a:br>
              <a:rPr lang="en-AU"/>
            </a:br>
            <a:r>
              <a:rPr lang="en-AU"/>
              <a:t>					a = 79</a:t>
            </a:r>
          </a:p>
          <a:p>
            <a:r>
              <a:rPr lang="en-AU"/>
              <a:t>So the first 3 terms are 	79, 72, 65,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79388" y="188913"/>
            <a:ext cx="8964612" cy="522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 sz="1600">
                <a:ea typeface="MS Mincho" pitchFamily="49" charset="-128"/>
                <a:cs typeface="Arial" pitchFamily="34" charset="0"/>
              </a:rPr>
              <a:t>GEOMETRIC PROGRESSIONS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A geometric progression (GP) is a sequence in which there is a constant ratio between successive terms (i.e. any term divided by the previous term will always give the same result). This common ration is denoted by</a:t>
            </a:r>
            <a:r>
              <a:rPr lang="en-AU" sz="1600" i="1">
                <a:ea typeface="MS Mincho" pitchFamily="49" charset="-128"/>
                <a:cs typeface="Arial" pitchFamily="34" charset="0"/>
              </a:rPr>
              <a:t> r</a:t>
            </a:r>
            <a:r>
              <a:rPr lang="en-AU" sz="1600">
                <a:ea typeface="MS Mincho" pitchFamily="49" charset="-128"/>
                <a:cs typeface="Arial" pitchFamily="34" charset="0"/>
              </a:rPr>
              <a:t>, and the first term (T</a:t>
            </a:r>
            <a:r>
              <a:rPr lang="en-AU" sz="1600" baseline="-30000">
                <a:ea typeface="MS Mincho" pitchFamily="49" charset="-128"/>
                <a:cs typeface="Arial" pitchFamily="34" charset="0"/>
              </a:rPr>
              <a:t>1</a:t>
            </a:r>
            <a:r>
              <a:rPr lang="en-AU" sz="1600">
                <a:ea typeface="MS Mincho" pitchFamily="49" charset="-128"/>
                <a:cs typeface="Arial" pitchFamily="34" charset="0"/>
              </a:rPr>
              <a:t>) is denoted by </a:t>
            </a:r>
            <a:r>
              <a:rPr lang="en-AU" sz="1600" i="1">
                <a:ea typeface="MS Mincho" pitchFamily="49" charset="-128"/>
                <a:cs typeface="Arial" pitchFamily="34" charset="0"/>
              </a:rPr>
              <a:t>a</a:t>
            </a:r>
            <a:r>
              <a:rPr lang="en-AU" sz="1600">
                <a:ea typeface="MS Mincho" pitchFamily="49" charset="-128"/>
                <a:cs typeface="Arial" pitchFamily="34" charset="0"/>
              </a:rPr>
              <a:t/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e.g.	1, 2, 4, 8, 16, . . 	[r = 2, a = 1]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16, 24, 36, 54, . . . 	[r = 1.5, a = 16]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64, -48, 36, -27, . . 	[r = -3/4, a = 64]</a:t>
            </a:r>
          </a:p>
          <a:p>
            <a:pPr eaLnBrk="0" hangingPunct="0"/>
            <a:r>
              <a:rPr lang="en-AU" sz="1600">
                <a:ea typeface="MS Mincho" pitchFamily="49" charset="-128"/>
                <a:cs typeface="Arial" pitchFamily="34" charset="0"/>
              </a:rPr>
              <a:t>A GP is of the form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a, ar, ar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2</a:t>
            </a:r>
            <a:r>
              <a:rPr lang="en-AU" sz="1600">
                <a:ea typeface="MS Mincho" pitchFamily="49" charset="-128"/>
                <a:cs typeface="Arial" pitchFamily="34" charset="0"/>
              </a:rPr>
              <a:t>, ar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3</a:t>
            </a:r>
            <a:r>
              <a:rPr lang="en-AU" sz="1600">
                <a:ea typeface="MS Mincho" pitchFamily="49" charset="-128"/>
                <a:cs typeface="Arial" pitchFamily="34" charset="0"/>
              </a:rPr>
              <a:t>, . . . , ar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n-1</a:t>
            </a:r>
            <a:r>
              <a:rPr lang="en-AU" sz="1600">
                <a:ea typeface="MS Mincho" pitchFamily="49" charset="-128"/>
                <a:cs typeface="Arial" pitchFamily="34" charset="0"/>
              </a:rPr>
              <a:t>, . . . 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If you look at the sequence, you should notice that the power of r is always 1 less than the number of the term	e.g T</a:t>
            </a:r>
            <a:r>
              <a:rPr lang="en-AU" sz="1600" baseline="-30000">
                <a:ea typeface="MS Mincho" pitchFamily="49" charset="-128"/>
                <a:cs typeface="Arial" pitchFamily="34" charset="0"/>
              </a:rPr>
              <a:t>4</a:t>
            </a:r>
            <a:r>
              <a:rPr lang="en-AU" sz="1600">
                <a:ea typeface="MS Mincho" pitchFamily="49" charset="-128"/>
                <a:cs typeface="Arial" pitchFamily="34" charset="0"/>
              </a:rPr>
              <a:t> = ar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3</a:t>
            </a:r>
            <a:r>
              <a:rPr lang="en-AU" sz="1600">
                <a:ea typeface="MS Mincho" pitchFamily="49" charset="-128"/>
                <a:cs typeface="Arial" pitchFamily="34" charset="0"/>
              </a:rPr>
              <a:t/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Thus the n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th</a:t>
            </a:r>
            <a:r>
              <a:rPr lang="en-AU" sz="1600">
                <a:ea typeface="MS Mincho" pitchFamily="49" charset="-128"/>
                <a:cs typeface="Arial" pitchFamily="34" charset="0"/>
              </a:rPr>
              <a:t> term is given by 		</a:t>
            </a:r>
            <a:r>
              <a:rPr lang="en-AU" sz="1600" b="1">
                <a:ea typeface="MS Mincho" pitchFamily="49" charset="-128"/>
                <a:cs typeface="Arial" pitchFamily="34" charset="0"/>
              </a:rPr>
              <a:t>T</a:t>
            </a:r>
            <a:r>
              <a:rPr lang="en-AU" sz="1600" b="1" baseline="-30000">
                <a:ea typeface="MS Mincho" pitchFamily="49" charset="-128"/>
                <a:cs typeface="Arial" pitchFamily="34" charset="0"/>
              </a:rPr>
              <a:t>n</a:t>
            </a:r>
            <a:r>
              <a:rPr lang="en-AU" sz="1600" b="1">
                <a:ea typeface="MS Mincho" pitchFamily="49" charset="-128"/>
                <a:cs typeface="Arial" pitchFamily="34" charset="0"/>
              </a:rPr>
              <a:t> = ar</a:t>
            </a:r>
            <a:r>
              <a:rPr lang="en-AU" sz="1600" b="1" baseline="30000">
                <a:ea typeface="MS Mincho" pitchFamily="49" charset="-128"/>
                <a:cs typeface="Arial" pitchFamily="34" charset="0"/>
              </a:rPr>
              <a:t>n-1</a:t>
            </a:r>
            <a:endParaRPr lang="en-AU" sz="1600">
              <a:ea typeface="MS Mincho" pitchFamily="49" charset="-128"/>
              <a:cs typeface="Arial" pitchFamily="34" charset="0"/>
            </a:endParaRPr>
          </a:p>
          <a:p>
            <a:pPr eaLnBrk="0" hangingPunct="0"/>
            <a:r>
              <a:rPr lang="en-AU" sz="1600">
                <a:ea typeface="MS Mincho" pitchFamily="49" charset="-128"/>
                <a:cs typeface="Arial" pitchFamily="34" charset="0"/>
              </a:rPr>
              <a:t>Ex 1	If a = 48 and r = ½, find the first three terms and the n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th</a:t>
            </a:r>
            <a:r>
              <a:rPr lang="en-AU" sz="1600">
                <a:ea typeface="MS Mincho" pitchFamily="49" charset="-128"/>
                <a:cs typeface="Arial" pitchFamily="34" charset="0"/>
              </a:rPr>
              <a:t> term.</a:t>
            </a:r>
          </a:p>
          <a:p>
            <a:pPr eaLnBrk="0" hangingPunct="0"/>
            <a:r>
              <a:rPr lang="en-AU" sz="1600">
                <a:ea typeface="MS Mincho" pitchFamily="49" charset="-128"/>
                <a:cs typeface="Arial" pitchFamily="34" charset="0"/>
              </a:rPr>
              <a:t>Solution	T</a:t>
            </a:r>
            <a:r>
              <a:rPr lang="en-AU" sz="1600" baseline="-30000">
                <a:ea typeface="MS Mincho" pitchFamily="49" charset="-128"/>
                <a:cs typeface="Arial" pitchFamily="34" charset="0"/>
              </a:rPr>
              <a:t>2</a:t>
            </a:r>
            <a:r>
              <a:rPr lang="en-AU" sz="1600">
                <a:ea typeface="MS Mincho" pitchFamily="49" charset="-128"/>
                <a:cs typeface="Arial" pitchFamily="34" charset="0"/>
              </a:rPr>
              <a:t> = ½ of 48 = 24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	T</a:t>
            </a:r>
            <a:r>
              <a:rPr lang="en-AU" sz="1600" baseline="-30000">
                <a:ea typeface="MS Mincho" pitchFamily="49" charset="-128"/>
                <a:cs typeface="Arial" pitchFamily="34" charset="0"/>
              </a:rPr>
              <a:t>3</a:t>
            </a:r>
            <a:r>
              <a:rPr lang="en-AU" sz="1600">
                <a:ea typeface="MS Mincho" pitchFamily="49" charset="-128"/>
                <a:cs typeface="Arial" pitchFamily="34" charset="0"/>
              </a:rPr>
              <a:t> = ½ of 24 = 12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Hence the sequence is 	48, 24, 12, . . 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	T</a:t>
            </a:r>
            <a:r>
              <a:rPr lang="en-AU" sz="1600" baseline="-30000">
                <a:ea typeface="MS Mincho" pitchFamily="49" charset="-128"/>
                <a:cs typeface="Arial" pitchFamily="34" charset="0"/>
              </a:rPr>
              <a:t>n</a:t>
            </a:r>
            <a:r>
              <a:rPr lang="en-AU" sz="1600">
                <a:ea typeface="MS Mincho" pitchFamily="49" charset="-128"/>
                <a:cs typeface="Arial" pitchFamily="34" charset="0"/>
              </a:rPr>
              <a:t> = 	ar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n-1</a:t>
            </a:r>
            <a:r>
              <a:rPr lang="en-AU" sz="1600">
                <a:ea typeface="MS Mincho" pitchFamily="49" charset="-128"/>
                <a:cs typeface="Arial" pitchFamily="34" charset="0"/>
              </a:rPr>
              <a:t> 	= 48( 1/2 )</a:t>
            </a:r>
            <a:r>
              <a:rPr lang="en-AU" sz="1600" baseline="30000">
                <a:ea typeface="MS Mincho" pitchFamily="49" charset="-128"/>
                <a:cs typeface="Arial" pitchFamily="34" charset="0"/>
              </a:rPr>
              <a:t>n-1</a:t>
            </a:r>
            <a:r>
              <a:rPr lang="en-AU" sz="1600">
                <a:ea typeface="MS Mincho" pitchFamily="49" charset="-128"/>
                <a:cs typeface="Arial" pitchFamily="34" charset="0"/>
              </a:rPr>
              <a:t/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endParaRPr lang="en-AU" sz="1600">
              <a:ea typeface="MS Mincho" pitchFamily="49" charset="-128"/>
              <a:cs typeface="Arial" pitchFamily="34" charset="0"/>
            </a:endParaRPr>
          </a:p>
          <a:p>
            <a:pPr eaLnBrk="0" hangingPunct="0"/>
            <a:r>
              <a:rPr lang="en-AU" sz="1600">
                <a:ea typeface="MS Mincho" pitchFamily="49" charset="-128"/>
                <a:cs typeface="Arial" pitchFamily="34" charset="0"/>
              </a:rPr>
              <a:t>			=                   [=           ]</a:t>
            </a:r>
          </a:p>
          <a:p>
            <a:pPr eaLnBrk="0" hangingPunct="0"/>
            <a:endParaRPr lang="en-AU" sz="1600">
              <a:ea typeface="MS Mincho" pitchFamily="49" charset="-128"/>
              <a:cs typeface="Arial" pitchFamily="34" charset="0"/>
            </a:endParaRPr>
          </a:p>
          <a:p>
            <a:pPr eaLnBrk="0" hangingPunct="0"/>
            <a:endParaRPr lang="en-AU" sz="1600">
              <a:ea typeface="MS Mincho" pitchFamily="49" charset="-128"/>
              <a:cs typeface="Arial" pitchFamily="34" charset="0"/>
            </a:endParaRP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203575" y="4508500"/>
          <a:ext cx="4635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Microsoft Equation 3.0" r:id="rId3" imgW="317225" imgH="393359" progId="Equation.3">
                  <p:embed/>
                </p:oleObj>
              </mc:Choice>
              <mc:Fallback>
                <p:oleObj name="Microsoft Equation 3.0" r:id="rId3" imgW="317225" imgH="39335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508500"/>
                        <a:ext cx="46355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4427538" y="4508500"/>
          <a:ext cx="4302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Microsoft Equation 3.0" r:id="rId5" imgW="330057" imgH="393529" progId="Equation.3">
                  <p:embed/>
                </p:oleObj>
              </mc:Choice>
              <mc:Fallback>
                <p:oleObj name="Microsoft Equation 3.0" r:id="rId5" imgW="330057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8500"/>
                        <a:ext cx="43021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900113" y="198438"/>
            <a:ext cx="67675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 sz="1600">
                <a:ea typeface="MS Mincho" pitchFamily="49" charset="-128"/>
                <a:cs typeface="Arial" pitchFamily="34" charset="0"/>
              </a:rPr>
              <a:t>Ex 2	What term of the sequence 4, 6, 9, . . is 102.515625?</a:t>
            </a:r>
            <a:br>
              <a:rPr lang="en-AU" sz="1600">
                <a:ea typeface="MS Mincho" pitchFamily="49" charset="-128"/>
                <a:cs typeface="Arial" pitchFamily="34" charset="0"/>
              </a:rPr>
            </a:br>
            <a:r>
              <a:rPr lang="en-AU" sz="1600">
                <a:ea typeface="MS Mincho" pitchFamily="49" charset="-128"/>
                <a:cs typeface="Arial" pitchFamily="34" charset="0"/>
              </a:rPr>
              <a:t>Solution	</a:t>
            </a:r>
          </a:p>
        </p:txBody>
      </p:sp>
      <p:graphicFrame>
        <p:nvGraphicFramePr>
          <p:cNvPr id="5143" name="Group 23"/>
          <p:cNvGraphicFramePr>
            <a:graphicFrameLocks noGrp="1"/>
          </p:cNvGraphicFramePr>
          <p:nvPr/>
        </p:nvGraphicFramePr>
        <p:xfrm>
          <a:off x="827088" y="908050"/>
          <a:ext cx="7705725" cy="3261360"/>
        </p:xfrm>
        <a:graphic>
          <a:graphicData uri="http://schemas.openxmlformats.org/drawingml/2006/table">
            <a:tbl>
              <a:tblPr/>
              <a:tblGrid>
                <a:gridCol w="3852862"/>
                <a:gridCol w="3852863"/>
              </a:tblGrid>
              <a:tr h="1735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Method A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Guess and refine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Set up a table and refine your solution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                n              T</a:t>
                      </a:r>
                      <a:r>
                        <a:rPr kumimoji="0" lang="en-AU" sz="16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        	5	 20.25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10	153.773…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/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9	102.515625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Hence it is the ninth term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Method B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Repeated Multiplication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Set up the constant multiplier function on your calculator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4 × 1.5 EXE  [this gives T</a:t>
                      </a:r>
                      <a:r>
                        <a:rPr kumimoji="0" lang="en-AU" sz="16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2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× 1.5 EXE  [this gives T</a:t>
                      </a:r>
                      <a:r>
                        <a:rPr kumimoji="0" lang="en-AU" sz="16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3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then press EXE . . . until 102.515625 appears, keeping count as you press the EXE button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/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75" name="Group 31"/>
          <p:cNvGraphicFramePr>
            <a:graphicFrameLocks noGrp="1"/>
          </p:cNvGraphicFramePr>
          <p:nvPr/>
        </p:nvGraphicFramePr>
        <p:xfrm>
          <a:off x="900113" y="549275"/>
          <a:ext cx="7632700" cy="3901440"/>
        </p:xfrm>
        <a:graphic>
          <a:graphicData uri="http://schemas.openxmlformats.org/drawingml/2006/table">
            <a:tbl>
              <a:tblPr/>
              <a:tblGrid>
                <a:gridCol w="3817937"/>
                <a:gridCol w="3814763"/>
              </a:tblGrid>
              <a:tr h="1735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Method 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Use Sequence Recursive mode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Use Type :	a</a:t>
                      </a:r>
                      <a:r>
                        <a:rPr kumimoji="0" lang="en-A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n+1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Type a</a:t>
                      </a:r>
                      <a:r>
                        <a:rPr kumimoji="0" lang="en-A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/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Key in a</a:t>
                      </a:r>
                      <a:r>
                        <a:rPr kumimoji="0" lang="en-A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n+1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= a</a:t>
                      </a:r>
                      <a:r>
                        <a:rPr kumimoji="0" lang="en-A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× 1.5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	  a</a:t>
                      </a:r>
                      <a:r>
                        <a:rPr kumimoji="0" lang="en-AU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=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(to get an, use the </a:t>
                      </a:r>
                      <a:r>
                        <a:rPr kumimoji="0" lang="en-A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n,an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drop-down menu at top of screen)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Set the Range: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Use the </a:t>
                      </a: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icon         to set the range</a:t>
                      </a:r>
                      <a:b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to Start 1, End 20 (or sufficiently large)</a:t>
                      </a:r>
                      <a:b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Press the Table icon            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and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scroll down until you find the term.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Method D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Using Logarithms (those of you who have used logarithms previously)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4(1.5)</a:t>
                      </a:r>
                      <a:r>
                        <a:rPr kumimoji="0" lang="en-AU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n-1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= 102.515625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Divide both sides by 4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1.5</a:t>
                      </a:r>
                      <a:r>
                        <a:rPr kumimoji="0" lang="en-AU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n-1</a:t>
                      </a: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 = 25.62890625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Take logs of both sides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(n-1)log1.5 = log(25.62890625)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So n-1 = log(25.62890625) ÷ log1.5 = 8</a:t>
                      </a:r>
                      <a:b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</a:b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Arial" pitchFamily="34" charset="0"/>
                        </a:rPr>
                        <a:t>Hence n = 9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2268538" y="2565400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Microsoft Equation 3.0" r:id="rId3" imgW="774364" imgH="736280" progId="Equation.3">
                  <p:embed/>
                </p:oleObj>
              </mc:Choice>
              <mc:Fallback>
                <p:oleObj name="Microsoft Equation 3.0" r:id="rId3" imgW="774364" imgH="736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565400"/>
                        <a:ext cx="431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132138" y="3573463"/>
          <a:ext cx="5810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Microsoft Equation 3.0" r:id="rId5" imgW="774364" imgH="710891" progId="Equation.3">
                  <p:embed/>
                </p:oleObj>
              </mc:Choice>
              <mc:Fallback>
                <p:oleObj name="Microsoft Equation 3.0" r:id="rId5" imgW="774364" imgH="7108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3463"/>
                        <a:ext cx="58102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07950" y="534988"/>
            <a:ext cx="9036050" cy="558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 dirty="0"/>
              <a:t>Ex 3	If T</a:t>
            </a:r>
            <a:r>
              <a:rPr lang="en-AU" baseline="-25000" dirty="0"/>
              <a:t>7</a:t>
            </a:r>
            <a:r>
              <a:rPr lang="en-AU" dirty="0"/>
              <a:t> = 192 and T</a:t>
            </a:r>
            <a:r>
              <a:rPr lang="en-AU" baseline="-25000" dirty="0"/>
              <a:t>4</a:t>
            </a:r>
            <a:r>
              <a:rPr lang="en-AU" dirty="0"/>
              <a:t> = 24, find the sequence</a:t>
            </a:r>
            <a:br>
              <a:rPr lang="en-AU" dirty="0"/>
            </a:br>
            <a:r>
              <a:rPr lang="en-AU" dirty="0"/>
              <a:t>Solution	T</a:t>
            </a:r>
            <a:r>
              <a:rPr lang="en-AU" baseline="-25000" dirty="0"/>
              <a:t>7</a:t>
            </a:r>
            <a:r>
              <a:rPr lang="en-AU" dirty="0"/>
              <a:t> = ar</a:t>
            </a:r>
            <a:r>
              <a:rPr lang="en-AU" baseline="30000" dirty="0"/>
              <a:t>6</a:t>
            </a:r>
            <a:r>
              <a:rPr lang="en-AU" dirty="0"/>
              <a:t>  = 192   (</a:t>
            </a:r>
            <a:r>
              <a:rPr lang="en-AU" dirty="0" err="1"/>
              <a:t>eqn</a:t>
            </a:r>
            <a:r>
              <a:rPr lang="en-AU" dirty="0"/>
              <a:t> 1)</a:t>
            </a:r>
          </a:p>
          <a:p>
            <a:r>
              <a:rPr lang="en-AU" dirty="0"/>
              <a:t>		T</a:t>
            </a:r>
            <a:r>
              <a:rPr lang="en-AU" baseline="-25000" dirty="0"/>
              <a:t>4</a:t>
            </a:r>
            <a:r>
              <a:rPr lang="en-AU" dirty="0"/>
              <a:t> = ar</a:t>
            </a:r>
            <a:r>
              <a:rPr lang="en-AU" baseline="30000" dirty="0"/>
              <a:t>3</a:t>
            </a:r>
            <a:r>
              <a:rPr lang="en-AU" dirty="0"/>
              <a:t>  = 24     (</a:t>
            </a:r>
            <a:r>
              <a:rPr lang="en-AU" dirty="0" err="1"/>
              <a:t>eqn</a:t>
            </a:r>
            <a:r>
              <a:rPr lang="en-AU" dirty="0"/>
              <a:t> 2)</a:t>
            </a:r>
          </a:p>
          <a:p>
            <a:r>
              <a:rPr lang="en-AU" dirty="0"/>
              <a:t>Dividing </a:t>
            </a:r>
            <a:r>
              <a:rPr lang="en-AU" dirty="0" err="1"/>
              <a:t>eqn</a:t>
            </a:r>
            <a:r>
              <a:rPr lang="en-AU" dirty="0"/>
              <a:t> 1 by </a:t>
            </a:r>
            <a:r>
              <a:rPr lang="en-AU" dirty="0" err="1"/>
              <a:t>eqn</a:t>
            </a:r>
            <a:r>
              <a:rPr lang="en-AU" dirty="0"/>
              <a:t> 2, we obtain</a:t>
            </a:r>
            <a:br>
              <a:rPr lang="en-AU" dirty="0"/>
            </a:br>
            <a:r>
              <a:rPr lang="en-AU" dirty="0"/>
              <a:t>		         r</a:t>
            </a:r>
            <a:r>
              <a:rPr lang="en-AU" baseline="-25000" dirty="0"/>
              <a:t>3</a:t>
            </a:r>
            <a:r>
              <a:rPr lang="en-AU" dirty="0"/>
              <a:t> = 8    </a:t>
            </a:r>
            <a:r>
              <a:rPr lang="en-AU" sz="1400" dirty="0"/>
              <a:t>[intuitively, T</a:t>
            </a:r>
            <a:r>
              <a:rPr lang="en-AU" sz="1400" baseline="-25000" dirty="0"/>
              <a:t>7</a:t>
            </a:r>
            <a:r>
              <a:rPr lang="en-AU" sz="1400" dirty="0"/>
              <a:t> is 3 factors of r more than T</a:t>
            </a:r>
            <a:r>
              <a:rPr lang="en-AU" sz="1400" baseline="-25000" dirty="0"/>
              <a:t>4</a:t>
            </a:r>
            <a:r>
              <a:rPr lang="en-AU" sz="1400" dirty="0"/>
              <a:t>. Hence r</a:t>
            </a:r>
            <a:r>
              <a:rPr lang="en-AU" sz="1400" baseline="30000" dirty="0"/>
              <a:t>3</a:t>
            </a:r>
            <a:r>
              <a:rPr lang="en-AU" sz="1400" dirty="0"/>
              <a:t> = 192 ÷24 = 8]</a:t>
            </a:r>
          </a:p>
          <a:p>
            <a:r>
              <a:rPr lang="en-AU" dirty="0"/>
              <a:t>		Hence r = 2</a:t>
            </a:r>
          </a:p>
          <a:p>
            <a:r>
              <a:rPr lang="en-AU" dirty="0"/>
              <a:t>Substitute in </a:t>
            </a:r>
            <a:r>
              <a:rPr lang="en-AU" dirty="0" err="1"/>
              <a:t>eqn</a:t>
            </a:r>
            <a:r>
              <a:rPr lang="en-AU" dirty="0"/>
              <a:t> 2</a:t>
            </a:r>
            <a:br>
              <a:rPr lang="en-AU" dirty="0"/>
            </a:br>
            <a:r>
              <a:rPr lang="en-AU" dirty="0"/>
              <a:t>		a(8) = 24</a:t>
            </a:r>
            <a:br>
              <a:rPr lang="en-AU" dirty="0"/>
            </a:br>
            <a:r>
              <a:rPr lang="en-AU" dirty="0"/>
              <a:t>		   a = 3</a:t>
            </a:r>
          </a:p>
          <a:p>
            <a:r>
              <a:rPr lang="en-AU" dirty="0"/>
              <a:t>So sequence is 3, 6, 12, 24, . .</a:t>
            </a:r>
          </a:p>
          <a:p>
            <a:r>
              <a:rPr lang="en-AU" dirty="0"/>
              <a:t> </a:t>
            </a:r>
            <a:br>
              <a:rPr lang="en-AU" dirty="0"/>
            </a:br>
            <a:r>
              <a:rPr lang="en-AU" dirty="0"/>
              <a:t>Ex 4	If T</a:t>
            </a:r>
            <a:r>
              <a:rPr lang="en-AU" baseline="-25000" dirty="0"/>
              <a:t>7</a:t>
            </a:r>
            <a:r>
              <a:rPr lang="en-AU" dirty="0"/>
              <a:t> = 128 and T</a:t>
            </a:r>
            <a:r>
              <a:rPr lang="en-AU" baseline="-25000" dirty="0"/>
              <a:t>3</a:t>
            </a:r>
            <a:r>
              <a:rPr lang="en-AU" dirty="0"/>
              <a:t> = 648, find the sequence</a:t>
            </a:r>
            <a:br>
              <a:rPr lang="en-AU" dirty="0"/>
            </a:br>
            <a:r>
              <a:rPr lang="en-AU" dirty="0"/>
              <a:t>Solution	Using the same approach as in Ex 3, we obtain</a:t>
            </a:r>
            <a:br>
              <a:rPr lang="en-AU" dirty="0"/>
            </a:br>
            <a:r>
              <a:rPr lang="en-AU" dirty="0"/>
              <a:t>	r</a:t>
            </a:r>
            <a:r>
              <a:rPr lang="en-AU" baseline="-25000" dirty="0"/>
              <a:t>4</a:t>
            </a:r>
            <a:r>
              <a:rPr lang="en-AU" dirty="0"/>
              <a:t> = 128/648 = 16/81 	[use the </a:t>
            </a:r>
            <a:r>
              <a:rPr lang="en-AU" dirty="0" err="1"/>
              <a:t>ab</a:t>
            </a:r>
            <a:r>
              <a:rPr lang="en-AU" dirty="0"/>
              <a:t>/c button on your calculator]</a:t>
            </a:r>
            <a:br>
              <a:rPr lang="en-AU" dirty="0"/>
            </a:br>
            <a:r>
              <a:rPr lang="en-AU" dirty="0"/>
              <a:t>Hence r = ± </a:t>
            </a:r>
            <a:r>
              <a:rPr lang="en-AU" baseline="30000" dirty="0"/>
              <a:t>4</a:t>
            </a:r>
            <a:r>
              <a:rPr lang="en-AU" altLang="ja-JP" dirty="0">
                <a:ea typeface="MS PGothic" pitchFamily="34" charset="-128"/>
              </a:rPr>
              <a:t>√(16/81)		[if an even power, have to consider both ± values]</a:t>
            </a:r>
          </a:p>
          <a:p>
            <a:r>
              <a:rPr lang="en-AU" altLang="ja-JP" dirty="0">
                <a:ea typeface="MS PGothic" pitchFamily="34" charset="-128"/>
              </a:rPr>
              <a:t>	  = ± 2/3</a:t>
            </a:r>
            <a:br>
              <a:rPr lang="en-AU" altLang="ja-JP" dirty="0">
                <a:ea typeface="MS PGothic" pitchFamily="34" charset="-128"/>
              </a:rPr>
            </a:br>
            <a:r>
              <a:rPr lang="en-AU" altLang="ja-JP" dirty="0">
                <a:ea typeface="MS PGothic" pitchFamily="34" charset="-128"/>
              </a:rPr>
              <a:t>	If r = 2/3, then a = 1458 and the sequence is 1458, 972, 648, 432, . . </a:t>
            </a:r>
            <a:br>
              <a:rPr lang="en-AU" altLang="ja-JP" dirty="0">
                <a:ea typeface="MS PGothic" pitchFamily="34" charset="-128"/>
              </a:rPr>
            </a:br>
            <a:r>
              <a:rPr lang="en-AU" altLang="ja-JP" dirty="0">
                <a:ea typeface="MS PGothic" pitchFamily="34" charset="-128"/>
              </a:rPr>
              <a:t>	If r = - 2/3, then a = 1458 and the sequence is 1458, -972, 648, -432, . .</a:t>
            </a:r>
          </a:p>
          <a:p>
            <a:endParaRPr lang="en-AU" altLang="ja-JP" dirty="0">
              <a:ea typeface="MS PGothic" pitchFamily="34" charset="-128"/>
            </a:endParaRPr>
          </a:p>
          <a:p>
            <a:r>
              <a:rPr lang="en-AU" altLang="ja-JP" dirty="0">
                <a:ea typeface="MS PGothic" pitchFamily="34" charset="-128"/>
              </a:rPr>
              <a:t>	Exercise </a:t>
            </a:r>
            <a:r>
              <a:rPr lang="en-AU" altLang="ja-JP" dirty="0" smtClean="0">
                <a:ea typeface="MS PGothic" pitchFamily="34" charset="-128"/>
              </a:rPr>
              <a:t>4A  </a:t>
            </a:r>
            <a:r>
              <a:rPr lang="en-AU" altLang="ja-JP" dirty="0">
                <a:ea typeface="MS PGothic" pitchFamily="34" charset="-128"/>
              </a:rPr>
              <a:t>Q 1 to 33.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03200" y="749300"/>
            <a:ext cx="8689975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 u="sng"/>
              <a:t>APPLICATIONS OF ARITHMETIC AND GEOMETRIC PROGRESSIONS</a:t>
            </a:r>
            <a:endParaRPr lang="en-AU"/>
          </a:p>
          <a:p>
            <a:r>
              <a:rPr lang="en-AU"/>
              <a:t>Ex 1	Kylie’s New Year resolution is to improve her fitness.  On January 1st, she jogs 2 km.  Each day thereafter during January, she increases the distance she jogs by 400 m (1 lap of the oval) per day.  How far will she run on January 31st if she keeps her resolution?</a:t>
            </a:r>
          </a:p>
          <a:p>
            <a:r>
              <a:rPr lang="en-AU"/>
              <a:t>Solution	This is an AP with a = 2000 (metres) and d = 400 (metres)</a:t>
            </a:r>
          </a:p>
          <a:p>
            <a:r>
              <a:rPr lang="en-AU"/>
              <a:t>		January 31st is T</a:t>
            </a:r>
            <a:r>
              <a:rPr lang="en-AU" baseline="-25000"/>
              <a:t>31</a:t>
            </a:r>
            <a:r>
              <a:rPr lang="en-AU"/>
              <a:t> or this sequence</a:t>
            </a:r>
          </a:p>
          <a:p>
            <a:r>
              <a:rPr lang="en-AU"/>
              <a:t>		T</a:t>
            </a:r>
            <a:r>
              <a:rPr lang="en-AU" baseline="-25000"/>
              <a:t>31</a:t>
            </a:r>
            <a:r>
              <a:rPr lang="en-AU"/>
              <a:t> = a + 30d</a:t>
            </a:r>
            <a:br>
              <a:rPr lang="en-AU"/>
            </a:br>
            <a:r>
              <a:rPr lang="en-AU"/>
              <a:t>		       = 2000 + 30 × 400</a:t>
            </a:r>
          </a:p>
          <a:p>
            <a:r>
              <a:rPr lang="en-AU"/>
              <a:t>		       = 14 000 </a:t>
            </a:r>
          </a:p>
          <a:p>
            <a:r>
              <a:rPr lang="en-AU"/>
              <a:t>	Hence she will jog 14 000 m or 14 km on this day.</a:t>
            </a:r>
          </a:p>
          <a:p>
            <a:r>
              <a:rPr lang="en-AU"/>
              <a:t>	[</a:t>
            </a:r>
            <a:r>
              <a:rPr lang="en-AU" i="1"/>
              <a:t>Note: this problem could be done using Sequence, Recursive (or Explicit) mode, but is 	obviously much quicker done without using them i.e. use Main menu or mental calculation</a:t>
            </a:r>
            <a:r>
              <a:rPr lang="en-AU"/>
              <a:t>]</a:t>
            </a:r>
          </a:p>
          <a:p>
            <a:r>
              <a:rPr lang="en-AU" i="1"/>
              <a:t>Explicit:	an=2000+(n-1)400</a:t>
            </a:r>
          </a:p>
          <a:p>
            <a:r>
              <a:rPr lang="en-AU" i="1"/>
              <a:t>	</a:t>
            </a:r>
          </a:p>
          <a:p>
            <a:r>
              <a:rPr lang="en-AU" i="1"/>
              <a:t>Recursive:	Type:	a</a:t>
            </a:r>
            <a:r>
              <a:rPr lang="en-AU" i="1" baseline="-25000"/>
              <a:t>n+1</a:t>
            </a:r>
            <a:r>
              <a:rPr lang="en-AU" i="1"/>
              <a:t>  Type a</a:t>
            </a:r>
            <a:r>
              <a:rPr lang="en-AU" i="1" baseline="-25000"/>
              <a:t>1</a:t>
            </a:r>
            <a:r>
              <a:rPr lang="en-AU" i="1"/>
              <a:t>							a</a:t>
            </a:r>
            <a:r>
              <a:rPr lang="en-AU" i="1" baseline="-25000"/>
              <a:t>n+1</a:t>
            </a:r>
            <a:r>
              <a:rPr lang="en-AU" i="1"/>
              <a:t>=a</a:t>
            </a:r>
            <a:r>
              <a:rPr lang="en-AU" i="1" baseline="-25000"/>
              <a:t>n</a:t>
            </a:r>
            <a:r>
              <a:rPr lang="en-AU" i="1"/>
              <a:t>+400, a</a:t>
            </a:r>
            <a:r>
              <a:rPr lang="en-AU" i="1" baseline="-25000"/>
              <a:t>1</a:t>
            </a:r>
            <a:r>
              <a:rPr lang="en-AU" i="1"/>
              <a:t>=2000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182563" y="836613"/>
            <a:ext cx="8782050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/>
              <a:t>Ex 2	Bruce invests $6 000 at 7.5% p.a. compound interest, compounded yearly.  How much will be in his account after 10 years?</a:t>
            </a:r>
            <a:br>
              <a:rPr lang="en-AU"/>
            </a:br>
            <a:r>
              <a:rPr lang="en-AU"/>
              <a:t>Solution	This is a GP with a ratio of 1.075 [ 100% + 7.5% = 107.5% = 1.075]</a:t>
            </a:r>
          </a:p>
          <a:p>
            <a:r>
              <a:rPr lang="en-AU"/>
              <a:t>	and a first term of $6 000   i.e.  a = 6000 and r = 1.075</a:t>
            </a:r>
          </a:p>
          <a:p>
            <a:r>
              <a:rPr lang="en-AU"/>
              <a:t>	Amount after 1 year  = $6 000 × 1.075</a:t>
            </a:r>
          </a:p>
          <a:p>
            <a:r>
              <a:rPr lang="en-AU"/>
              <a:t>	Amount after 2 years = $6 000 × 1.075</a:t>
            </a:r>
            <a:r>
              <a:rPr lang="en-AU" baseline="30000"/>
              <a:t>2</a:t>
            </a:r>
            <a:r>
              <a:rPr lang="en-AU"/>
              <a:t>      </a:t>
            </a:r>
            <a:r>
              <a:rPr lang="en-AU" i="1"/>
              <a:t>note how the number</a:t>
            </a:r>
            <a:endParaRPr lang="en-AU"/>
          </a:p>
          <a:p>
            <a:r>
              <a:rPr lang="en-AU"/>
              <a:t>	Amount after 3 years = $6 000 × 1.075</a:t>
            </a:r>
            <a:r>
              <a:rPr lang="en-AU" baseline="30000"/>
              <a:t>3</a:t>
            </a:r>
            <a:r>
              <a:rPr lang="en-AU"/>
              <a:t>       </a:t>
            </a:r>
            <a:r>
              <a:rPr lang="en-AU" i="1"/>
              <a:t>of years and the</a:t>
            </a:r>
            <a:endParaRPr lang="en-AU"/>
          </a:p>
          <a:p>
            <a:r>
              <a:rPr lang="en-AU"/>
              <a:t>	Amount after 4 years = $6 000 × 1.075</a:t>
            </a:r>
            <a:r>
              <a:rPr lang="en-AU" baseline="30000"/>
              <a:t>4</a:t>
            </a:r>
            <a:r>
              <a:rPr lang="en-AU"/>
              <a:t>      </a:t>
            </a:r>
            <a:r>
              <a:rPr lang="en-AU" i="1"/>
              <a:t>power of 1.075 are the same</a:t>
            </a:r>
          </a:p>
          <a:p>
            <a:endParaRPr lang="en-AU"/>
          </a:p>
          <a:p>
            <a:r>
              <a:rPr lang="en-AU"/>
              <a:t>	Hence	amount after 10 years = $6 000 × 1.07510</a:t>
            </a:r>
          </a:p>
          <a:p>
            <a:r>
              <a:rPr lang="en-AU"/>
              <a:t>					= $12 366.19</a:t>
            </a:r>
          </a:p>
          <a:p>
            <a:r>
              <a:rPr lang="en-AU"/>
              <a:t>[</a:t>
            </a:r>
            <a:r>
              <a:rPr lang="en-AU" i="1"/>
              <a:t>NOTE: The amount after 10 years is actually the </a:t>
            </a:r>
            <a:r>
              <a:rPr lang="en-AU" b="1" i="1"/>
              <a:t>11th</a:t>
            </a:r>
            <a:r>
              <a:rPr lang="en-AU" i="1"/>
              <a:t> term of the sequence, since the initial value of $6 000 at time zero is the first term.      </a:t>
            </a:r>
          </a:p>
          <a:p>
            <a:r>
              <a:rPr lang="en-AU" i="1"/>
              <a:t>Hence T</a:t>
            </a:r>
            <a:r>
              <a:rPr lang="en-AU" b="1" i="1" baseline="-25000"/>
              <a:t>11</a:t>
            </a:r>
            <a:r>
              <a:rPr lang="en-AU" i="1"/>
              <a:t> = ar</a:t>
            </a:r>
            <a:r>
              <a:rPr lang="en-AU" b="1" i="1" baseline="30000"/>
              <a:t>10</a:t>
            </a:r>
            <a:r>
              <a:rPr lang="en-AU" i="1"/>
              <a:t> = 6000 × 1.075</a:t>
            </a:r>
            <a:r>
              <a:rPr lang="en-AU" i="1" baseline="30000"/>
              <a:t>10</a:t>
            </a:r>
            <a:r>
              <a:rPr lang="en-AU" i="1"/>
              <a:t>  </a:t>
            </a:r>
            <a:endParaRPr lang="en-AU"/>
          </a:p>
          <a:p>
            <a:r>
              <a:rPr lang="en-AU" i="1"/>
              <a:t>If you do this problem in Sequence Recursive mode, set </a:t>
            </a:r>
            <a:r>
              <a:rPr lang="en-AU" b="1" i="1"/>
              <a:t>a</a:t>
            </a:r>
            <a:r>
              <a:rPr lang="en-AU" b="1" i="1" baseline="-25000"/>
              <a:t>0</a:t>
            </a:r>
            <a:r>
              <a:rPr lang="en-AU" i="1"/>
              <a:t> = 6000, not </a:t>
            </a:r>
            <a:r>
              <a:rPr lang="en-AU" b="1" i="1"/>
              <a:t>a</a:t>
            </a:r>
            <a:r>
              <a:rPr lang="en-AU" b="1" i="1" baseline="-25000"/>
              <a:t>1</a:t>
            </a:r>
            <a:r>
              <a:rPr lang="en-AU" i="1"/>
              <a:t> = 6000</a:t>
            </a:r>
            <a:br>
              <a:rPr lang="en-AU" i="1"/>
            </a:br>
            <a:r>
              <a:rPr lang="en-AU" i="1"/>
              <a:t>Need	Type:	a</a:t>
            </a:r>
            <a:r>
              <a:rPr lang="en-AU" i="1" baseline="-25000"/>
              <a:t>n+1</a:t>
            </a:r>
            <a:r>
              <a:rPr lang="en-AU" i="1"/>
              <a:t> Type  a</a:t>
            </a:r>
            <a:r>
              <a:rPr lang="en-AU" i="1" baseline="-25000"/>
              <a:t>0</a:t>
            </a:r>
            <a:r>
              <a:rPr lang="en-AU" i="1"/>
              <a:t>  	a</a:t>
            </a:r>
            <a:r>
              <a:rPr lang="en-AU" i="1" baseline="-25000"/>
              <a:t>n+1</a:t>
            </a:r>
            <a:r>
              <a:rPr lang="en-AU" i="1"/>
              <a:t>=a</a:t>
            </a:r>
            <a:r>
              <a:rPr lang="en-AU" i="1" baseline="-25000"/>
              <a:t>n</a:t>
            </a:r>
            <a:r>
              <a:rPr lang="en-AU" i="1"/>
              <a:t>×1.075, a</a:t>
            </a:r>
            <a:r>
              <a:rPr lang="en-AU" i="1" baseline="-25000"/>
              <a:t>1</a:t>
            </a:r>
            <a:r>
              <a:rPr lang="en-AU" i="1"/>
              <a:t>=6000</a:t>
            </a:r>
            <a:endParaRPr lang="en-AU"/>
          </a:p>
          <a:p>
            <a:r>
              <a:rPr lang="en-AU" i="1"/>
              <a:t>As in Ex 1 above, this is much quicker done in Main menu</a:t>
            </a:r>
            <a:r>
              <a:rPr lang="en-AU"/>
              <a:t>]</a:t>
            </a:r>
          </a:p>
          <a:p>
            <a:pPr eaLnBrk="0" hangingPunct="0"/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50825" y="771525"/>
            <a:ext cx="8683625" cy="409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AU" sz="1600" dirty="0">
                <a:ea typeface="MS Mincho" pitchFamily="49" charset="-128"/>
                <a:cs typeface="Arial" pitchFamily="34" charset="0"/>
              </a:rPr>
              <a:t>Ex 3	In a twelve year period, the cost of living doubled.  What was the average annual rate of inflation for that period?</a:t>
            </a:r>
            <a:br>
              <a:rPr lang="en-AU" sz="1600" dirty="0">
                <a:ea typeface="MS Mincho" pitchFamily="49" charset="-128"/>
                <a:cs typeface="Arial" pitchFamily="34" charset="0"/>
              </a:rPr>
            </a:br>
            <a:r>
              <a:rPr lang="en-AU" sz="1600" dirty="0">
                <a:ea typeface="MS Mincho" pitchFamily="49" charset="-128"/>
                <a:cs typeface="Arial" pitchFamily="34" charset="0"/>
              </a:rPr>
              <a:t>Solution. This is a GP problem since we assume an average percentage growth rate (i.e. a ratio)</a:t>
            </a:r>
            <a:br>
              <a:rPr lang="en-AU" sz="1600" dirty="0">
                <a:ea typeface="MS Mincho" pitchFamily="49" charset="-128"/>
                <a:cs typeface="Arial" pitchFamily="34" charset="0"/>
              </a:rPr>
            </a:br>
            <a:r>
              <a:rPr lang="en-AU" sz="1600" dirty="0">
                <a:ea typeface="MS Mincho" pitchFamily="49" charset="-128"/>
                <a:cs typeface="Arial" pitchFamily="34" charset="0"/>
              </a:rPr>
              <a:t>	   Suppose something which initially cost $1 000 now costs $2 000</a:t>
            </a: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	[</a:t>
            </a:r>
            <a:r>
              <a:rPr lang="en-AU" sz="1600" i="1" dirty="0">
                <a:ea typeface="MS Mincho" pitchFamily="49" charset="-128"/>
                <a:cs typeface="Arial" pitchFamily="34" charset="0"/>
              </a:rPr>
              <a:t>You could also use something going from $100 to $200 or even $1 to $2 (easiest)</a:t>
            </a:r>
            <a:r>
              <a:rPr lang="en-AU" sz="1600" dirty="0">
                <a:ea typeface="MS Mincho" pitchFamily="49" charset="-128"/>
                <a:cs typeface="Arial" pitchFamily="34" charset="0"/>
              </a:rPr>
              <a:t>]</a:t>
            </a: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	   a (=T</a:t>
            </a:r>
            <a:r>
              <a:rPr lang="en-AU" sz="1600" baseline="-30000" dirty="0">
                <a:ea typeface="MS Mincho" pitchFamily="49" charset="-128"/>
                <a:cs typeface="Arial" pitchFamily="34" charset="0"/>
              </a:rPr>
              <a:t>1</a:t>
            </a:r>
            <a:r>
              <a:rPr lang="en-AU" sz="1600" dirty="0">
                <a:ea typeface="MS Mincho" pitchFamily="49" charset="-128"/>
                <a:cs typeface="Arial" pitchFamily="34" charset="0"/>
              </a:rPr>
              <a:t>) = 1 000, and T</a:t>
            </a:r>
            <a:r>
              <a:rPr lang="en-AU" sz="1600" baseline="-30000" dirty="0">
                <a:ea typeface="MS Mincho" pitchFamily="49" charset="-128"/>
                <a:cs typeface="Arial" pitchFamily="34" charset="0"/>
              </a:rPr>
              <a:t>13</a:t>
            </a:r>
            <a:r>
              <a:rPr lang="en-AU" sz="1600" dirty="0">
                <a:ea typeface="MS Mincho" pitchFamily="49" charset="-128"/>
                <a:cs typeface="Arial" pitchFamily="34" charset="0"/>
              </a:rPr>
              <a:t> = 2 000       [the value after 12 years is the </a:t>
            </a:r>
            <a:r>
              <a:rPr lang="en-AU" sz="1600" b="1" dirty="0">
                <a:ea typeface="MS Mincho" pitchFamily="49" charset="-128"/>
                <a:cs typeface="Arial" pitchFamily="34" charset="0"/>
              </a:rPr>
              <a:t>13</a:t>
            </a:r>
            <a:r>
              <a:rPr lang="en-AU" sz="1600" b="1" baseline="30000" dirty="0">
                <a:ea typeface="MS Mincho" pitchFamily="49" charset="-128"/>
                <a:cs typeface="Arial" pitchFamily="34" charset="0"/>
              </a:rPr>
              <a:t>th</a:t>
            </a:r>
            <a:r>
              <a:rPr lang="en-AU" sz="1600" dirty="0">
                <a:ea typeface="MS Mincho" pitchFamily="49" charset="-128"/>
                <a:cs typeface="Arial" pitchFamily="34" charset="0"/>
              </a:rPr>
              <a:t> term]</a:t>
            </a: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		2 000 = 1 000 × r</a:t>
            </a:r>
            <a:r>
              <a:rPr lang="en-AU" sz="1600" baseline="30000" dirty="0">
                <a:ea typeface="MS Mincho" pitchFamily="49" charset="-128"/>
                <a:cs typeface="Arial" pitchFamily="34" charset="0"/>
              </a:rPr>
              <a:t>12</a:t>
            </a:r>
            <a:endParaRPr lang="en-AU" sz="1600" dirty="0">
              <a:ea typeface="MS Mincho" pitchFamily="49" charset="-128"/>
              <a:cs typeface="Arial" pitchFamily="34" charset="0"/>
            </a:endParaRP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 	Divide both sides by 1 000</a:t>
            </a: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 	                 2 = r</a:t>
            </a:r>
            <a:r>
              <a:rPr lang="en-AU" sz="1600" baseline="30000" dirty="0">
                <a:ea typeface="MS Mincho" pitchFamily="49" charset="-128"/>
                <a:cs typeface="Arial" pitchFamily="34" charset="0"/>
              </a:rPr>
              <a:t>12</a:t>
            </a:r>
            <a:endParaRPr lang="en-AU" sz="1600" dirty="0">
              <a:ea typeface="MS Mincho" pitchFamily="49" charset="-128"/>
              <a:cs typeface="Arial" pitchFamily="34" charset="0"/>
            </a:endParaRPr>
          </a:p>
          <a:p>
            <a:pPr eaLnBrk="0" hangingPunct="0"/>
            <a:r>
              <a:rPr lang="en-AU" sz="1600" dirty="0">
                <a:ea typeface="MS Mincho" pitchFamily="49" charset="-128"/>
                <a:cs typeface="Arial" pitchFamily="34" charset="0"/>
              </a:rPr>
              <a:t> 	Hence       r =                [</a:t>
            </a:r>
            <a:r>
              <a:rPr lang="en-AU" sz="1600" i="1" dirty="0">
                <a:ea typeface="MS Mincho" pitchFamily="49" charset="-128"/>
                <a:cs typeface="Arial" pitchFamily="34" charset="0"/>
              </a:rPr>
              <a:t>on CAS </a:t>
            </a:r>
            <a:r>
              <a:rPr lang="en-AU" sz="1600" i="1" dirty="0" err="1">
                <a:ea typeface="MS Mincho" pitchFamily="49" charset="-128"/>
                <a:cs typeface="Arial" pitchFamily="34" charset="0"/>
              </a:rPr>
              <a:t>Calc</a:t>
            </a:r>
            <a:r>
              <a:rPr lang="en-AU" sz="1600" i="1" dirty="0">
                <a:ea typeface="MS Mincho" pitchFamily="49" charset="-128"/>
                <a:cs typeface="Arial" pitchFamily="34" charset="0"/>
              </a:rPr>
              <a:t>, use Main menu, Keyboard, 2D,</a:t>
            </a:r>
            <a:r>
              <a:rPr lang="en-AU" sz="1600" dirty="0">
                <a:ea typeface="MS Mincho" pitchFamily="49" charset="-128"/>
                <a:cs typeface="Arial" pitchFamily="34" charset="0"/>
              </a:rPr>
              <a:t>         ]</a:t>
            </a:r>
          </a:p>
          <a:p>
            <a:pPr eaLnBrk="0" hangingPunct="0"/>
            <a:endParaRPr lang="en-AU" sz="1600" dirty="0">
              <a:ea typeface="MS Mincho" pitchFamily="49" charset="-128"/>
              <a:cs typeface="Arial" pitchFamily="34" charset="0"/>
            </a:endParaRPr>
          </a:p>
          <a:p>
            <a:r>
              <a:rPr lang="en-AU" dirty="0">
                <a:ea typeface="MS Mincho" pitchFamily="49" charset="-128"/>
                <a:cs typeface="Arial" pitchFamily="34" charset="0"/>
              </a:rPr>
              <a:t>                                    1.059	</a:t>
            </a:r>
            <a:br>
              <a:rPr lang="en-AU" dirty="0">
                <a:ea typeface="MS Mincho" pitchFamily="49" charset="-128"/>
                <a:cs typeface="Arial" pitchFamily="34" charset="0"/>
              </a:rPr>
            </a:br>
            <a:r>
              <a:rPr lang="en-AU" dirty="0">
                <a:ea typeface="MS Mincho" pitchFamily="49" charset="-128"/>
                <a:cs typeface="Arial" pitchFamily="34" charset="0"/>
              </a:rPr>
              <a:t>	So the average annual rate of inflation is 5.9%</a:t>
            </a:r>
          </a:p>
          <a:p>
            <a:pPr eaLnBrk="0" hangingPunct="0"/>
            <a:endParaRPr lang="en-AU" sz="1600" dirty="0">
              <a:ea typeface="MS Mincho" pitchFamily="49" charset="-128"/>
              <a:cs typeface="Arial" pitchFamily="34" charset="0"/>
            </a:endParaRPr>
          </a:p>
          <a:p>
            <a:pPr eaLnBrk="0" hangingPunct="0"/>
            <a:r>
              <a:rPr lang="en-AU" altLang="ja-JP" dirty="0">
                <a:ea typeface="MS PGothic" pitchFamily="34" charset="-128"/>
                <a:cs typeface="Arial" pitchFamily="34" charset="0"/>
              </a:rPr>
              <a:t>              Exercise </a:t>
            </a:r>
            <a:r>
              <a:rPr lang="en-AU" altLang="ja-JP" dirty="0" smtClean="0">
                <a:ea typeface="MS PGothic" pitchFamily="34" charset="-128"/>
                <a:cs typeface="Arial" pitchFamily="34" charset="0"/>
              </a:rPr>
              <a:t>4A  </a:t>
            </a:r>
            <a:r>
              <a:rPr lang="en-AU" altLang="ja-JP" dirty="0">
                <a:ea typeface="MS PGothic" pitchFamily="34" charset="-128"/>
                <a:cs typeface="Arial" pitchFamily="34" charset="0"/>
              </a:rPr>
              <a:t>Q 34 to </a:t>
            </a:r>
            <a:r>
              <a:rPr lang="en-AU" altLang="ja-JP" dirty="0" smtClean="0">
                <a:ea typeface="MS PGothic" pitchFamily="34" charset="-128"/>
                <a:cs typeface="Arial" pitchFamily="34" charset="0"/>
              </a:rPr>
              <a:t>41.</a:t>
            </a:r>
            <a:endParaRPr lang="en-AU" dirty="0">
              <a:ea typeface="MS PGothic" pitchFamily="34" charset="-128"/>
              <a:cs typeface="Arial" pitchFamily="34" charset="0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2700338" y="3213100"/>
          <a:ext cx="360362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Microsoft Equation 3.0" r:id="rId3" imgW="253780" imgH="215713" progId="Equation.3">
                  <p:embed/>
                </p:oleObj>
              </mc:Choice>
              <mc:Fallback>
                <p:oleObj name="Microsoft Equation 3.0" r:id="rId3" imgW="253780" imgH="2157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213100"/>
                        <a:ext cx="360362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7596188" y="3213100"/>
          <a:ext cx="3603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Microsoft Equation 3.0" r:id="rId5" imgW="253780" imgH="215713" progId="Equation.3">
                  <p:embed/>
                </p:oleObj>
              </mc:Choice>
              <mc:Fallback>
                <p:oleObj name="Microsoft Equation 3.0" r:id="rId5" imgW="253780" imgH="2157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3213100"/>
                        <a:ext cx="360362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339975" y="3789363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Microsoft Equation 3.0" r:id="rId7" imgW="126725" imgH="126725" progId="Equation.3">
                  <p:embed/>
                </p:oleObj>
              </mc:Choice>
              <mc:Fallback>
                <p:oleObj name="Microsoft Equation 3.0" r:id="rId7" imgW="126725" imgH="1267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789363"/>
                        <a:ext cx="2159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PresentationFormat>On-screen Show (4:3)</PresentationFormat>
  <Paragraphs>88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MS Mincho</vt:lpstr>
      <vt:lpstr>Times New Roman</vt:lpstr>
      <vt:lpstr>MS PGothic</vt:lpstr>
      <vt:lpstr>Default Design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 Mac</dc:creator>
  <cp:lastModifiedBy>MCALLISTER Robert</cp:lastModifiedBy>
  <cp:revision>13</cp:revision>
  <dcterms:created xsi:type="dcterms:W3CDTF">2011-07-27T00:28:31Z</dcterms:created>
  <dcterms:modified xsi:type="dcterms:W3CDTF">2017-03-16T08:30:11Z</dcterms:modified>
</cp:coreProperties>
</file>
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6" r:id="rId6"/>
    <p:sldId id="267" r:id="rId7"/>
    <p:sldId id="268" r:id="rId8"/>
    <p:sldId id="269" r:id="rId9"/>
    <p:sldId id="270" r:id="rId10"/>
    <p:sldId id="277" r:id="rId11"/>
    <p:sldId id="278" r:id="rId12"/>
    <p:sldId id="279" r:id="rId13"/>
    <p:sldId id="271" r:id="rId14"/>
    <p:sldId id="272" r:id="rId15"/>
    <p:sldId id="280" r:id="rId16"/>
    <p:sldId id="281" r:id="rId17"/>
    <p:sldId id="273" r:id="rId18"/>
    <p:sldId id="282" r:id="rId19"/>
    <p:sldId id="283" r:id="rId20"/>
    <p:sldId id="284" r:id="rId21"/>
    <p:sldId id="275" r:id="rId22"/>
    <p:sldId id="293" r:id="rId23"/>
    <p:sldId id="295" r:id="rId24"/>
    <p:sldId id="276" r:id="rId25"/>
    <p:sldId id="294" r:id="rId26"/>
    <p:sldId id="285" r:id="rId27"/>
    <p:sldId id="287" r:id="rId28"/>
    <p:sldId id="286" r:id="rId29"/>
    <p:sldId id="289" r:id="rId30"/>
    <p:sldId id="290" r:id="rId31"/>
    <p:sldId id="291" r:id="rId32"/>
    <p:sldId id="288"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67" y="8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8E57F-0B1A-4683-B616-2ECC8A922CA1}" type="datetimeFigureOut">
              <a:rPr lang="en-AU" smtClean="0"/>
              <a:t>10/11/2021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49EA9D-9B24-4A90-9E06-0B09309938D2}" type="slidenum">
              <a:rPr lang="en-AU" smtClean="0"/>
              <a:t>‹#›</a:t>
            </a:fld>
            <a:endParaRPr lang="en-AU"/>
          </a:p>
        </p:txBody>
      </p:sp>
    </p:spTree>
    <p:extLst>
      <p:ext uri="{BB962C8B-B14F-4D97-AF65-F5344CB8AC3E}">
        <p14:creationId xmlns:p14="http://schemas.microsoft.com/office/powerpoint/2010/main" val="3464277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702C0-5EA8-48CA-A414-29C7C2D389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6164701-39F0-4D2E-85BE-93516F2D8F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796AAF6-4D6B-4BF5-85E5-FCC193AB3697}"/>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5" name="Footer Placeholder 4">
            <a:extLst>
              <a:ext uri="{FF2B5EF4-FFF2-40B4-BE49-F238E27FC236}">
                <a16:creationId xmlns:a16="http://schemas.microsoft.com/office/drawing/2014/main" id="{4AC7C4E8-70C8-4AA8-8F05-4261DCBC93C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98CA3C6-ED3D-4735-AB66-C4E8F7F6AD04}"/>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2770158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210C2-1A33-4F56-BD7B-247DDCF3295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DE72B4C-C0AA-431B-91A8-156037CB2E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8CDD1D-BADD-4110-93A7-819AC25706EF}"/>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5" name="Footer Placeholder 4">
            <a:extLst>
              <a:ext uri="{FF2B5EF4-FFF2-40B4-BE49-F238E27FC236}">
                <a16:creationId xmlns:a16="http://schemas.microsoft.com/office/drawing/2014/main" id="{6119DE6D-2AE7-41A1-A7FC-5AB1641934A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906877-777B-44E7-8FF8-BAA9C0F4FC44}"/>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3840788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B589-25A2-406D-A627-FFEAB1AC2A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48260E9B-23FA-43CB-B48F-02BC6ECF67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141156-5BB1-4441-8827-56A175CD879A}"/>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5" name="Footer Placeholder 4">
            <a:extLst>
              <a:ext uri="{FF2B5EF4-FFF2-40B4-BE49-F238E27FC236}">
                <a16:creationId xmlns:a16="http://schemas.microsoft.com/office/drawing/2014/main" id="{9BCAE48A-B213-470E-BEF1-33AF495658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8961D81-96FC-41D5-BDCF-EC2C2E66325F}"/>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2647815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8BC0E-A2B8-436B-B7F6-029237B3764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1D1EDDE-3E27-4938-88E1-965A96DC75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1D6002B-446D-462D-A8FA-D950C6DF12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731C929-6784-4DC7-80E0-F3A788F8A4E1}"/>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6" name="Footer Placeholder 5">
            <a:extLst>
              <a:ext uri="{FF2B5EF4-FFF2-40B4-BE49-F238E27FC236}">
                <a16:creationId xmlns:a16="http://schemas.microsoft.com/office/drawing/2014/main" id="{373CA9E1-E96F-40CE-850F-FDB88194B0E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55EF80C-0EB9-46D1-9CDE-2ABEC613FE24}"/>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2708135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5FAE5-6FE6-461F-9C16-7E8D9D9E739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D18E083-7432-4266-8076-589DB9008A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43C749-20EF-47B7-83E7-FCB86F1D31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CAAC876-58CB-4A48-BF09-397573FFE4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6EA759-5960-4460-8827-CCA5194D0E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9AE3EE3-82FF-4E33-AFB2-DFD3CC8780BF}"/>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8" name="Footer Placeholder 7">
            <a:extLst>
              <a:ext uri="{FF2B5EF4-FFF2-40B4-BE49-F238E27FC236}">
                <a16:creationId xmlns:a16="http://schemas.microsoft.com/office/drawing/2014/main" id="{16769817-0CDB-4C4F-8F42-DBF53B4D41C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B80B867-B3C6-417D-B370-558DB873970A}"/>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1055770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FBC7-C47A-47AC-92D7-42B8E105540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AC7BF8C-33E1-4235-A996-607AB76BD87E}"/>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4" name="Footer Placeholder 3">
            <a:extLst>
              <a:ext uri="{FF2B5EF4-FFF2-40B4-BE49-F238E27FC236}">
                <a16:creationId xmlns:a16="http://schemas.microsoft.com/office/drawing/2014/main" id="{FCFA19C1-2111-4AB1-831A-274BB880A13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2B42250-8F2C-41A3-ACC3-39188EFBA605}"/>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253031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1C125C-81C5-464B-9E7F-8405EF1BC1C4}"/>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3" name="Footer Placeholder 2">
            <a:extLst>
              <a:ext uri="{FF2B5EF4-FFF2-40B4-BE49-F238E27FC236}">
                <a16:creationId xmlns:a16="http://schemas.microsoft.com/office/drawing/2014/main" id="{03D6AE41-2D05-44E9-9371-86B8BB8F2D8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7810CA7E-BA5D-4D98-9E77-FCDAC267429B}"/>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3852646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02A36-2A70-49C9-AFE5-962A088029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0410BEF-C293-4906-9C0B-03B9FF6A5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D46BE87-B9E4-4E49-ADAA-BD94ED6F6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EB64B-F703-4B3E-B160-C472875420CB}"/>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6" name="Footer Placeholder 5">
            <a:extLst>
              <a:ext uri="{FF2B5EF4-FFF2-40B4-BE49-F238E27FC236}">
                <a16:creationId xmlns:a16="http://schemas.microsoft.com/office/drawing/2014/main" id="{16E14EF4-7974-43CA-A162-4D844D861D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3AC51B7-7343-4509-A30E-FE0F9B8E1DE8}"/>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4164053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539B1-6D94-4098-8195-50694BF3A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1193F10-05B5-4547-BBED-0ABBCDD7BC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29E3FE-A341-4537-BE35-CBD9828BAF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F3C89-E7A9-4CAA-80BB-1F24F900F5E1}"/>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6" name="Footer Placeholder 5">
            <a:extLst>
              <a:ext uri="{FF2B5EF4-FFF2-40B4-BE49-F238E27FC236}">
                <a16:creationId xmlns:a16="http://schemas.microsoft.com/office/drawing/2014/main" id="{C946EA97-2586-430E-92E8-3B5C5F3E086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8DD5AAA-19EF-41F5-B1DD-79D4DE9739EF}"/>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4086182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EC600-A76D-459B-B2E3-1AC9717DFC3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DEE78A5-2B3F-4296-A3A1-36A2839E77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B0D10E2-3A7F-4224-BEAF-A9AFE57A0F49}"/>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5" name="Footer Placeholder 4">
            <a:extLst>
              <a:ext uri="{FF2B5EF4-FFF2-40B4-BE49-F238E27FC236}">
                <a16:creationId xmlns:a16="http://schemas.microsoft.com/office/drawing/2014/main" id="{5EEBA9EE-B332-4D88-818D-4BB91EF042C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A7BF6AE-FD31-493C-8C2D-1004EC812230}"/>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2582423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8AFF5B-6D9E-4DA4-8C1D-51A9D93241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DB1473C-B573-482D-A256-630462730C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D6CA09B-2005-4BD6-84FF-BFF1924FFB3C}"/>
              </a:ext>
            </a:extLst>
          </p:cNvPr>
          <p:cNvSpPr>
            <a:spLocks noGrp="1"/>
          </p:cNvSpPr>
          <p:nvPr>
            <p:ph type="dt" sz="half" idx="10"/>
          </p:nvPr>
        </p:nvSpPr>
        <p:spPr/>
        <p:txBody>
          <a:bodyPr/>
          <a:lstStyle/>
          <a:p>
            <a:fld id="{B1F0D7BC-214B-4043-8C0E-575D74B3F1B2}" type="datetimeFigureOut">
              <a:rPr lang="en-AU" smtClean="0"/>
              <a:t>10/11/2021</a:t>
            </a:fld>
            <a:endParaRPr lang="en-AU"/>
          </a:p>
        </p:txBody>
      </p:sp>
      <p:sp>
        <p:nvSpPr>
          <p:cNvPr id="5" name="Footer Placeholder 4">
            <a:extLst>
              <a:ext uri="{FF2B5EF4-FFF2-40B4-BE49-F238E27FC236}">
                <a16:creationId xmlns:a16="http://schemas.microsoft.com/office/drawing/2014/main" id="{412ED714-E30D-4688-B90A-A43BA4D0335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EF57D41-2F86-4E3F-B164-18EF6F18EB0C}"/>
              </a:ext>
            </a:extLst>
          </p:cNvPr>
          <p:cNvSpPr>
            <a:spLocks noGrp="1"/>
          </p:cNvSpPr>
          <p:nvPr>
            <p:ph type="sldNum" sz="quarter" idx="12"/>
          </p:nvPr>
        </p:nvSpPr>
        <p:spPr/>
        <p:txBody>
          <a:bodyPr/>
          <a:lstStyle/>
          <a:p>
            <a:fld id="{25DBFB5A-7D56-46EA-8F2F-B8DC9752B24C}" type="slidenum">
              <a:rPr lang="en-AU" smtClean="0"/>
              <a:t>‹#›</a:t>
            </a:fld>
            <a:endParaRPr lang="en-AU"/>
          </a:p>
        </p:txBody>
      </p:sp>
    </p:spTree>
    <p:extLst>
      <p:ext uri="{BB962C8B-B14F-4D97-AF65-F5344CB8AC3E}">
        <p14:creationId xmlns:p14="http://schemas.microsoft.com/office/powerpoint/2010/main" val="2591460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9D2B85-B13E-4830-AC2F-BBC098FA06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3DAF4DD-D0D1-4099-88C5-3F12B44E1B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67D2BAA-617C-4536-8E39-C7EADC98C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F0D7BC-214B-4043-8C0E-575D74B3F1B2}" type="datetimeFigureOut">
              <a:rPr lang="en-AU" smtClean="0"/>
              <a:t>10/11/2021</a:t>
            </a:fld>
            <a:endParaRPr lang="en-AU"/>
          </a:p>
        </p:txBody>
      </p:sp>
      <p:sp>
        <p:nvSpPr>
          <p:cNvPr id="5" name="Footer Placeholder 4">
            <a:extLst>
              <a:ext uri="{FF2B5EF4-FFF2-40B4-BE49-F238E27FC236}">
                <a16:creationId xmlns:a16="http://schemas.microsoft.com/office/drawing/2014/main" id="{74B8049F-D7A1-4242-9AE3-4672342652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64384694-15D6-4B80-BF77-C5B1315458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BFB5A-7D56-46EA-8F2F-B8DC9752B24C}" type="slidenum">
              <a:rPr lang="en-AU" smtClean="0"/>
              <a:t>‹#›</a:t>
            </a:fld>
            <a:endParaRPr lang="en-AU"/>
          </a:p>
        </p:txBody>
      </p:sp>
    </p:spTree>
    <p:extLst>
      <p:ext uri="{BB962C8B-B14F-4D97-AF65-F5344CB8AC3E}">
        <p14:creationId xmlns:p14="http://schemas.microsoft.com/office/powerpoint/2010/main" val="1708845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6.xml"/><Relationship Id="rId7" Type="http://schemas.openxmlformats.org/officeDocument/2006/relationships/slide" Target="slide2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92319-06C8-45E4-A858-A8A70AC41751}"/>
              </a:ext>
            </a:extLst>
          </p:cNvPr>
          <p:cNvSpPr>
            <a:spLocks noGrp="1"/>
          </p:cNvSpPr>
          <p:nvPr>
            <p:ph type="ctrTitle"/>
          </p:nvPr>
        </p:nvSpPr>
        <p:spPr/>
        <p:txBody>
          <a:bodyPr>
            <a:normAutofit/>
          </a:bodyPr>
          <a:lstStyle/>
          <a:p>
            <a:r>
              <a:rPr lang="en-AU" sz="8000" b="1" dirty="0"/>
              <a:t>Sequences</a:t>
            </a:r>
          </a:p>
        </p:txBody>
      </p:sp>
      <p:sp>
        <p:nvSpPr>
          <p:cNvPr id="3" name="Subtitle 2">
            <a:extLst>
              <a:ext uri="{FF2B5EF4-FFF2-40B4-BE49-F238E27FC236}">
                <a16:creationId xmlns:a16="http://schemas.microsoft.com/office/drawing/2014/main" id="{F0F38CB9-DCEF-4965-A6D9-28FEA7103B56}"/>
              </a:ext>
            </a:extLst>
          </p:cNvPr>
          <p:cNvSpPr>
            <a:spLocks noGrp="1"/>
          </p:cNvSpPr>
          <p:nvPr>
            <p:ph type="subTitle" idx="1"/>
          </p:nvPr>
        </p:nvSpPr>
        <p:spPr/>
        <p:txBody>
          <a:bodyPr/>
          <a:lstStyle/>
          <a:p>
            <a:r>
              <a:rPr lang="en-AU" dirty="0"/>
              <a:t>Yr12 apps </a:t>
            </a:r>
          </a:p>
          <a:p>
            <a:r>
              <a:rPr lang="en-AU" dirty="0"/>
              <a:t>Sadler ch3 and 4</a:t>
            </a:r>
          </a:p>
        </p:txBody>
      </p:sp>
    </p:spTree>
    <p:extLst>
      <p:ext uri="{BB962C8B-B14F-4D97-AF65-F5344CB8AC3E}">
        <p14:creationId xmlns:p14="http://schemas.microsoft.com/office/powerpoint/2010/main" val="2135195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42E5D-7B87-4E78-8A97-3D7651634222}"/>
              </a:ext>
            </a:extLst>
          </p:cNvPr>
          <p:cNvSpPr>
            <a:spLocks noGrp="1"/>
          </p:cNvSpPr>
          <p:nvPr>
            <p:ph type="title"/>
          </p:nvPr>
        </p:nvSpPr>
        <p:spPr/>
        <p:txBody>
          <a:bodyPr/>
          <a:lstStyle/>
          <a:p>
            <a:r>
              <a:rPr lang="en-AU" b="1" dirty="0"/>
              <a:t>Contents</a:t>
            </a:r>
          </a:p>
        </p:txBody>
      </p:sp>
      <p:sp>
        <p:nvSpPr>
          <p:cNvPr id="3" name="Content Placeholder 2">
            <a:extLst>
              <a:ext uri="{FF2B5EF4-FFF2-40B4-BE49-F238E27FC236}">
                <a16:creationId xmlns:a16="http://schemas.microsoft.com/office/drawing/2014/main" id="{C61F8FD0-1D26-442B-B4A4-10C0EED45BAA}"/>
              </a:ext>
            </a:extLst>
          </p:cNvPr>
          <p:cNvSpPr>
            <a:spLocks noGrp="1"/>
          </p:cNvSpPr>
          <p:nvPr>
            <p:ph idx="1"/>
          </p:nvPr>
        </p:nvSpPr>
        <p:spPr/>
        <p:txBody>
          <a:bodyPr/>
          <a:lstStyle/>
          <a:p>
            <a:pPr marL="0" indent="0">
              <a:buNone/>
            </a:pPr>
            <a:r>
              <a:rPr lang="en-AU" dirty="0">
                <a:hlinkClick r:id="rId2" action="ppaction://hlinksldjump"/>
              </a:rPr>
              <a:t>Lesson 1: Sequences</a:t>
            </a:r>
            <a:endParaRPr lang="en-AU" dirty="0"/>
          </a:p>
          <a:p>
            <a:pPr marL="0" indent="0">
              <a:buNone/>
            </a:pPr>
            <a:r>
              <a:rPr lang="en-AU" dirty="0">
                <a:hlinkClick r:id="rId3" action="ppaction://hlinksldjump"/>
              </a:rPr>
              <a:t>Lesson 2: Terms of a sequence</a:t>
            </a:r>
            <a:endParaRPr lang="en-AU" dirty="0"/>
          </a:p>
          <a:p>
            <a:pPr marL="0" indent="0">
              <a:buNone/>
            </a:pPr>
            <a:r>
              <a:rPr lang="en-AU" dirty="0">
                <a:hlinkClick r:id="rId4" action="ppaction://hlinksldjump"/>
              </a:rPr>
              <a:t>Lesson 3: Recursive rules</a:t>
            </a:r>
            <a:endParaRPr lang="en-AU" dirty="0"/>
          </a:p>
          <a:p>
            <a:pPr marL="0" indent="0">
              <a:buNone/>
            </a:pPr>
            <a:r>
              <a:rPr lang="en-AU" dirty="0">
                <a:hlinkClick r:id="rId5" action="ppaction://hlinksldjump"/>
              </a:rPr>
              <a:t>Lesson 4: Arithmetic Sequences</a:t>
            </a:r>
            <a:endParaRPr lang="en-AU" dirty="0"/>
          </a:p>
          <a:p>
            <a:pPr marL="0" indent="0">
              <a:buNone/>
            </a:pPr>
            <a:r>
              <a:rPr lang="en-AU" dirty="0">
                <a:hlinkClick r:id="rId6" action="ppaction://hlinksldjump"/>
              </a:rPr>
              <a:t>Lesson 5: Geometric Sequences</a:t>
            </a:r>
            <a:endParaRPr lang="en-AU" dirty="0"/>
          </a:p>
          <a:p>
            <a:pPr marL="0" indent="0">
              <a:buNone/>
            </a:pPr>
            <a:r>
              <a:rPr lang="en-AU" dirty="0">
                <a:hlinkClick r:id="rId7" action="ppaction://hlinksldjump"/>
              </a:rPr>
              <a:t>Lesson 6: Growth and decay</a:t>
            </a:r>
            <a:endParaRPr lang="en-AU" dirty="0"/>
          </a:p>
          <a:p>
            <a:pPr marL="0" indent="0">
              <a:buNone/>
            </a:pPr>
            <a:r>
              <a:rPr lang="en-AU" dirty="0">
                <a:hlinkClick r:id="rId8" action="ppaction://hlinksldjump"/>
              </a:rPr>
              <a:t>Lesson 7: Steady state</a:t>
            </a:r>
            <a:endParaRPr lang="en-AU" dirty="0"/>
          </a:p>
          <a:p>
            <a:pPr marL="0" indent="0">
              <a:buNone/>
            </a:pPr>
            <a:endParaRPr lang="en-AU" dirty="0"/>
          </a:p>
        </p:txBody>
      </p:sp>
    </p:spTree>
    <p:extLst>
      <p:ext uri="{BB962C8B-B14F-4D97-AF65-F5344CB8AC3E}">
        <p14:creationId xmlns:p14="http://schemas.microsoft.com/office/powerpoint/2010/main" val="1885693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3E7F-EE87-462B-BDBD-0B5008B1EEB8}"/>
              </a:ext>
            </a:extLst>
          </p:cNvPr>
          <p:cNvSpPr>
            <a:spLocks noGrp="1"/>
          </p:cNvSpPr>
          <p:nvPr>
            <p:ph type="title"/>
          </p:nvPr>
        </p:nvSpPr>
        <p:spPr/>
        <p:txBody>
          <a:bodyPr/>
          <a:lstStyle/>
          <a:p>
            <a:r>
              <a:rPr lang="en-AU" b="1" dirty="0"/>
              <a:t>Syllabus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EDF275-60AB-470B-B838-6BE740DDE86A}"/>
                  </a:ext>
                </a:extLst>
              </p:cNvPr>
              <p:cNvSpPr>
                <a:spLocks noGrp="1"/>
              </p:cNvSpPr>
              <p:nvPr>
                <p:ph idx="1"/>
              </p:nvPr>
            </p:nvSpPr>
            <p:spPr/>
            <p:txBody>
              <a:bodyPr>
                <a:normAutofit fontScale="47500" lnSpcReduction="20000"/>
              </a:bodyPr>
              <a:lstStyle/>
              <a:p>
                <a:pPr marL="0" indent="0">
                  <a:buNone/>
                </a:pPr>
                <a:r>
                  <a:rPr lang="en-AU" b="1" dirty="0"/>
                  <a:t>Sequences</a:t>
                </a:r>
              </a:p>
              <a:p>
                <a:r>
                  <a:rPr lang="en-AU" dirty="0"/>
                  <a:t>3.2.1 	use recursion to generate an arithmetic sequence  </a:t>
                </a:r>
              </a:p>
              <a:p>
                <a:r>
                  <a:rPr lang="en-AU" dirty="0"/>
                  <a:t>3.2.2	display the terms of an arithmetic sequence in both tabular and graphical form and demonstrate that arithmetic sequences can be used to model linear growth and decay in discrete situations </a:t>
                </a:r>
              </a:p>
              <a:p>
                <a:r>
                  <a:rPr lang="en-AU" dirty="0"/>
                  <a:t>3.2.3	deduce a rule for the </a:t>
                </a:r>
                <a14:m>
                  <m:oMath xmlns:m="http://schemas.openxmlformats.org/officeDocument/2006/math">
                    <m:sSup>
                      <m:sSupPr>
                        <m:ctrlPr>
                          <a:rPr lang="en-AU" sz="2000" i="1">
                            <a:latin typeface="Cambria Math" panose="02040503050406030204" pitchFamily="18" charset="0"/>
                          </a:rPr>
                        </m:ctrlPr>
                      </m:sSupPr>
                      <m:e>
                        <m:r>
                          <a:rPr lang="en-AU" sz="2000" i="1">
                            <a:latin typeface="Cambria Math" panose="02040503050406030204" pitchFamily="18" charset="0"/>
                          </a:rPr>
                          <m:t>𝑛</m:t>
                        </m:r>
                      </m:e>
                      <m:sup>
                        <m:r>
                          <a:rPr lang="en-AU" sz="2000" i="1">
                            <a:latin typeface="Cambria Math" panose="02040503050406030204" pitchFamily="18" charset="0"/>
                          </a:rPr>
                          <m:t>𝑡h</m:t>
                        </m:r>
                      </m:sup>
                    </m:sSup>
                  </m:oMath>
                </a14:m>
                <a:r>
                  <a:rPr lang="en-AU" dirty="0"/>
                  <a:t> term of a particular arithmetic sequence from the pattern of the terms in an arithmetic sequence, and use this rule to make predictions 	</a:t>
                </a:r>
              </a:p>
              <a:p>
                <a:r>
                  <a:rPr lang="en-AU" dirty="0"/>
                  <a:t>3.2.4	use arithmetic sequences to model and analyse practical situations involving linear growth or decay</a:t>
                </a:r>
              </a:p>
              <a:p>
                <a:r>
                  <a:rPr lang="en-AU" dirty="0"/>
                  <a:t>3.2.5 	use recursion to generate a geometric sequence 	</a:t>
                </a:r>
              </a:p>
              <a:p>
                <a:r>
                  <a:rPr lang="en-AU" dirty="0"/>
                  <a:t>3.2.6	display the terms of a geometric sequence in both tabular and graphical form and demonstrate that geometric sequences can be used to model exponential growth and decay in discrete situations 	</a:t>
                </a:r>
              </a:p>
              <a:p>
                <a:r>
                  <a:rPr lang="en-AU" dirty="0"/>
                  <a:t>3.2.7	deduce a rule for the </a:t>
                </a:r>
                <a14:m>
                  <m:oMath xmlns:m="http://schemas.openxmlformats.org/officeDocument/2006/math">
                    <m:sSup>
                      <m:sSupPr>
                        <m:ctrlPr>
                          <a:rPr lang="en-AU" sz="2000" i="1">
                            <a:latin typeface="Cambria Math" panose="02040503050406030204" pitchFamily="18" charset="0"/>
                          </a:rPr>
                        </m:ctrlPr>
                      </m:sSupPr>
                      <m:e>
                        <m:r>
                          <a:rPr lang="en-AU" sz="2000" i="1">
                            <a:latin typeface="Cambria Math" panose="02040503050406030204" pitchFamily="18" charset="0"/>
                          </a:rPr>
                          <m:t>𝑛</m:t>
                        </m:r>
                      </m:e>
                      <m:sup>
                        <m:r>
                          <a:rPr lang="en-AU" sz="2000" i="1">
                            <a:latin typeface="Cambria Math" panose="02040503050406030204" pitchFamily="18" charset="0"/>
                          </a:rPr>
                          <m:t>𝑡h</m:t>
                        </m:r>
                      </m:sup>
                    </m:sSup>
                  </m:oMath>
                </a14:m>
                <a:r>
                  <a:rPr lang="en-AU" dirty="0"/>
                  <a:t> term of a particular geometric sequence from the pattern of the terms in the sequence, and use this rule to make predictions 	</a:t>
                </a:r>
              </a:p>
              <a:p>
                <a:r>
                  <a:rPr lang="en-AU" dirty="0"/>
                  <a:t>3.2.8	use geometric sequences to model and analyse (numerically, or graphically only) practical problems involving geometric growth and decay</a:t>
                </a:r>
              </a:p>
              <a:p>
                <a:r>
                  <a:rPr lang="en-AU" dirty="0"/>
                  <a:t>3.2.9	use a general first-order linear recurrence relation to generate the terms of a sequence and to display it in both tabular and graphical form 	</a:t>
                </a:r>
              </a:p>
              <a:p>
                <a:r>
                  <a:rPr lang="en-AU" dirty="0"/>
                  <a:t>3.2.10	generate a sequence defined by a first-order linear recurrence relation that gives long term increasing, decreasing or steady-state solutions </a:t>
                </a:r>
              </a:p>
              <a:p>
                <a:r>
                  <a:rPr lang="en-AU" dirty="0"/>
                  <a:t>3.2.11	use first-order linear recurrence relations to model and analyse (numerically or graphically only) practical problems</a:t>
                </a:r>
              </a:p>
              <a:p>
                <a:pPr marL="0" indent="0">
                  <a:buNone/>
                </a:pPr>
                <a:endParaRPr lang="en-AU" dirty="0"/>
              </a:p>
            </p:txBody>
          </p:sp>
        </mc:Choice>
        <mc:Fallback xmlns="">
          <p:sp>
            <p:nvSpPr>
              <p:cNvPr id="3" name="Content Placeholder 2">
                <a:extLst>
                  <a:ext uri="{FF2B5EF4-FFF2-40B4-BE49-F238E27FC236}">
                    <a16:creationId xmlns:a16="http://schemas.microsoft.com/office/drawing/2014/main" id="{16EDF275-60AB-470B-B838-6BE740DDE86A}"/>
                  </a:ext>
                </a:extLst>
              </p:cNvPr>
              <p:cNvSpPr>
                <a:spLocks noGrp="1" noRot="1" noChangeAspect="1" noMove="1" noResize="1" noEditPoints="1" noAdjustHandles="1" noChangeArrowheads="1" noChangeShapeType="1" noTextEdit="1"/>
              </p:cNvSpPr>
              <p:nvPr>
                <p:ph idx="1"/>
              </p:nvPr>
            </p:nvSpPr>
            <p:spPr>
              <a:blipFill>
                <a:blip r:embed="rId2"/>
                <a:stretch>
                  <a:fillRect l="-116" t="-1261" r="-116"/>
                </a:stretch>
              </a:blipFill>
            </p:spPr>
            <p:txBody>
              <a:bodyPr/>
              <a:lstStyle/>
              <a:p>
                <a:r>
                  <a:rPr lang="en-AU">
                    <a:noFill/>
                  </a:rPr>
                  <a:t> </a:t>
                </a:r>
              </a:p>
            </p:txBody>
          </p:sp>
        </mc:Fallback>
      </mc:AlternateContent>
    </p:spTree>
    <p:extLst>
      <p:ext uri="{BB962C8B-B14F-4D97-AF65-F5344CB8AC3E}">
        <p14:creationId xmlns:p14="http://schemas.microsoft.com/office/powerpoint/2010/main" val="1187442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b="1" dirty="0"/>
              <a:t>Lesson 1 </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p:txBody>
          <a:bodyPr/>
          <a:lstStyle/>
          <a:p>
            <a:pPr marL="0" indent="0">
              <a:buNone/>
            </a:pPr>
            <a:r>
              <a:rPr lang="en-AU" dirty="0"/>
              <a:t>Topic: Sequences</a:t>
            </a:r>
          </a:p>
          <a:p>
            <a:pPr marL="0" indent="0">
              <a:buNone/>
            </a:pPr>
            <a:r>
              <a:rPr lang="en-AU" dirty="0"/>
              <a:t>EQ: What are sequences?</a:t>
            </a:r>
          </a:p>
          <a:p>
            <a:pPr marL="0" indent="0">
              <a:buNone/>
            </a:pPr>
            <a:endParaRPr lang="en-AU" dirty="0"/>
          </a:p>
          <a:p>
            <a:pPr marL="0" indent="0">
              <a:buNone/>
            </a:pPr>
            <a:endParaRPr lang="en-AU" dirty="0"/>
          </a:p>
        </p:txBody>
      </p:sp>
      <p:sp>
        <p:nvSpPr>
          <p:cNvPr id="4" name="Oval 3">
            <a:hlinkClick r:id="rId2" action="ppaction://hlinksldjump"/>
            <a:extLst>
              <a:ext uri="{FF2B5EF4-FFF2-40B4-BE49-F238E27FC236}">
                <a16:creationId xmlns:a16="http://schemas.microsoft.com/office/drawing/2014/main" id="{366AEC3A-0A85-401E-A7C3-1CF1814DD8EB}"/>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2872132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628600" y="230819"/>
            <a:ext cx="11242995" cy="1477328"/>
          </a:xfrm>
          <a:prstGeom prst="rect">
            <a:avLst/>
          </a:prstGeom>
          <a:noFill/>
        </p:spPr>
        <p:txBody>
          <a:bodyPr wrap="square" rtlCol="0">
            <a:spAutoFit/>
          </a:bodyPr>
          <a:lstStyle/>
          <a:p>
            <a:r>
              <a:rPr lang="en-AU" sz="2400" dirty="0"/>
              <a:t>Topic: Sequences| </a:t>
            </a:r>
          </a:p>
          <a:p>
            <a:r>
              <a:rPr lang="en-AU" sz="2400" dirty="0"/>
              <a:t>EQ: What are sequences? </a:t>
            </a:r>
          </a:p>
          <a:p>
            <a:endParaRPr lang="en-AU" sz="2400" dirty="0"/>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9AF0EEC-1BD8-4F1C-A5B1-D18820B35B0D}"/>
                  </a:ext>
                </a:extLst>
              </p:cNvPr>
              <p:cNvSpPr txBox="1"/>
              <p:nvPr/>
            </p:nvSpPr>
            <p:spPr>
              <a:xfrm>
                <a:off x="838201" y="1708146"/>
                <a:ext cx="7696199" cy="5078313"/>
              </a:xfrm>
              <a:prstGeom prst="rect">
                <a:avLst/>
              </a:prstGeom>
              <a:noFill/>
            </p:spPr>
            <p:txBody>
              <a:bodyPr wrap="square" rtlCol="0">
                <a:spAutoFit/>
              </a:bodyPr>
              <a:lstStyle/>
              <a:p>
                <a:r>
                  <a:rPr lang="en-AU" dirty="0"/>
                  <a:t>Sequences in mathematics are lists of numbers in a particular order that relate to each other.</a:t>
                </a:r>
              </a:p>
              <a:p>
                <a:endParaRPr lang="en-AU" dirty="0"/>
              </a:p>
              <a:p>
                <a:r>
                  <a:rPr lang="en-AU" dirty="0"/>
                  <a:t>A famous sequence is the Fibonacci sequence where each term is equal to the sum of the previous two terms.</a:t>
                </a:r>
              </a:p>
              <a:p>
                <a:endParaRPr lang="en-AU" dirty="0"/>
              </a:p>
              <a:p>
                <a:r>
                  <a:rPr lang="en-AU" dirty="0"/>
                  <a:t>In English:</a:t>
                </a:r>
              </a:p>
              <a:p>
                <a:r>
                  <a:rPr lang="en-AU" dirty="0"/>
                  <a:t> The next number in the sequence is found by adding the previous two numbers in the sequence together.</a:t>
                </a:r>
              </a:p>
              <a:p>
                <a:endParaRPr lang="en-AU" dirty="0"/>
              </a:p>
              <a:p>
                <a:r>
                  <a:rPr lang="en-AU" dirty="0"/>
                  <a:t>The Fibonacci sequence: 1, 1, 2, 3, 5, 8, 13, 21……. And so on.</a:t>
                </a:r>
              </a:p>
              <a:p>
                <a:endParaRPr lang="en-AU" dirty="0"/>
              </a:p>
              <a:p>
                <a:endParaRPr lang="en-AU" dirty="0"/>
              </a:p>
              <a:p>
                <a:r>
                  <a:rPr lang="en-AU" dirty="0"/>
                  <a:t>We can write the rule for this sequence like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𝑛</m:t>
                        </m:r>
                        <m:r>
                          <a:rPr lang="en-AU" b="0" i="1" smtClean="0">
                            <a:latin typeface="Cambria Math" panose="02040503050406030204" pitchFamily="18" charset="0"/>
                          </a:rPr>
                          <m:t>+1</m:t>
                        </m:r>
                      </m:sub>
                    </m:sSub>
                    <m:r>
                      <a:rPr lang="en-AU" b="0" i="1" smtClean="0">
                        <a:latin typeface="Cambria Math" panose="02040503050406030204" pitchFamily="18" charset="0"/>
                      </a:rPr>
                      <m:t>=</m:t>
                    </m:r>
                  </m:oMath>
                </a14:m>
                <a:r>
                  <a:rPr lang="en-AU" b="0" dirty="0"/>
                  <a:t>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𝑛</m:t>
                        </m:r>
                      </m:sub>
                    </m:sSub>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𝑛</m:t>
                        </m:r>
                        <m:r>
                          <a:rPr lang="en-AU" b="0" i="1" smtClean="0">
                            <a:latin typeface="Cambria Math" panose="02040503050406030204" pitchFamily="18" charset="0"/>
                          </a:rPr>
                          <m:t>−1</m:t>
                        </m:r>
                      </m:sub>
                    </m:sSub>
                  </m:oMath>
                </a14:m>
                <a:r>
                  <a:rPr lang="en-AU" dirty="0"/>
                  <a:t>, where</a:t>
                </a:r>
                <a:r>
                  <a:rPr lang="en-AU" b="0" dirty="0"/>
                  <a:t>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1</m:t>
                        </m:r>
                      </m:sub>
                    </m:sSub>
                    <m:r>
                      <a:rPr lang="en-AU" b="0" i="1" smtClean="0">
                        <a:latin typeface="Cambria Math" panose="02040503050406030204" pitchFamily="18" charset="0"/>
                      </a:rPr>
                      <m:t>=1.</m:t>
                    </m:r>
                  </m:oMath>
                </a14:m>
                <a:endParaRPr lang="en-AU" dirty="0"/>
              </a:p>
              <a:p>
                <a:endParaRPr lang="en-AU" dirty="0"/>
              </a:p>
              <a:p>
                <a:endParaRPr lang="en-AU" dirty="0"/>
              </a:p>
              <a:p>
                <a:r>
                  <a:rPr lang="en-AU" b="1" dirty="0"/>
                  <a:t>Have a go at exercise 3A</a:t>
                </a:r>
              </a:p>
              <a:p>
                <a:endParaRPr lang="en-AU" dirty="0"/>
              </a:p>
            </p:txBody>
          </p:sp>
        </mc:Choice>
        <mc:Fallback xmlns="">
          <p:sp>
            <p:nvSpPr>
              <p:cNvPr id="3" name="TextBox 2">
                <a:extLst>
                  <a:ext uri="{FF2B5EF4-FFF2-40B4-BE49-F238E27FC236}">
                    <a16:creationId xmlns:a16="http://schemas.microsoft.com/office/drawing/2014/main" id="{69AF0EEC-1BD8-4F1C-A5B1-D18820B35B0D}"/>
                  </a:ext>
                </a:extLst>
              </p:cNvPr>
              <p:cNvSpPr txBox="1">
                <a:spLocks noRot="1" noChangeAspect="1" noMove="1" noResize="1" noEditPoints="1" noAdjustHandles="1" noChangeArrowheads="1" noChangeShapeType="1" noTextEdit="1"/>
              </p:cNvSpPr>
              <p:nvPr/>
            </p:nvSpPr>
            <p:spPr>
              <a:xfrm>
                <a:off x="838201" y="1708146"/>
                <a:ext cx="7696199" cy="5078313"/>
              </a:xfrm>
              <a:prstGeom prst="rect">
                <a:avLst/>
              </a:prstGeom>
              <a:blipFill>
                <a:blip r:embed="rId2"/>
                <a:stretch>
                  <a:fillRect l="-713" t="-600" r="-317"/>
                </a:stretch>
              </a:blipFill>
            </p:spPr>
            <p:txBody>
              <a:bodyPr/>
              <a:lstStyle/>
              <a:p>
                <a:r>
                  <a:rPr lang="en-AU">
                    <a:noFill/>
                  </a:rPr>
                  <a:t> </a:t>
                </a:r>
              </a:p>
            </p:txBody>
          </p:sp>
        </mc:Fallback>
      </mc:AlternateContent>
      <p:pic>
        <p:nvPicPr>
          <p:cNvPr id="1026" name="Picture 2" descr="Dr Robin Kelly. Author.">
            <a:extLst>
              <a:ext uri="{FF2B5EF4-FFF2-40B4-BE49-F238E27FC236}">
                <a16:creationId xmlns:a16="http://schemas.microsoft.com/office/drawing/2014/main" id="{D4050695-0084-45C7-8D9E-6169DF5A6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3597278"/>
            <a:ext cx="1638300" cy="1943100"/>
          </a:xfrm>
          <a:prstGeom prst="rect">
            <a:avLst/>
          </a:prstGeom>
          <a:noFill/>
          <a:extLst>
            <a:ext uri="{909E8E84-426E-40DD-AFC4-6F175D3DCCD1}">
              <a14:hiddenFill xmlns:a14="http://schemas.microsoft.com/office/drawing/2010/main">
                <a:solidFill>
                  <a:srgbClr val="FFFFFF"/>
                </a:solidFill>
              </a14:hiddenFill>
            </a:ext>
          </a:extLst>
        </p:spPr>
      </p:pic>
      <p:sp>
        <p:nvSpPr>
          <p:cNvPr id="5" name="Speech Bubble: Rectangle with Corners Rounded 4">
            <a:extLst>
              <a:ext uri="{FF2B5EF4-FFF2-40B4-BE49-F238E27FC236}">
                <a16:creationId xmlns:a16="http://schemas.microsoft.com/office/drawing/2014/main" id="{C6C9E848-01CF-4431-B1BB-F4495F641E2D}"/>
              </a:ext>
            </a:extLst>
          </p:cNvPr>
          <p:cNvSpPr/>
          <p:nvPr/>
        </p:nvSpPr>
        <p:spPr>
          <a:xfrm>
            <a:off x="9753600" y="1876425"/>
            <a:ext cx="2190750" cy="1552575"/>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latin typeface="Felix Titling" panose="04060505060202020A04" pitchFamily="82" charset="0"/>
              </a:rPr>
              <a:t>If you get bored, google image search Fibonacci in nature.</a:t>
            </a:r>
          </a:p>
        </p:txBody>
      </p:sp>
      <p:sp>
        <p:nvSpPr>
          <p:cNvPr id="7" name="TextBox 6">
            <a:extLst>
              <a:ext uri="{FF2B5EF4-FFF2-40B4-BE49-F238E27FC236}">
                <a16:creationId xmlns:a16="http://schemas.microsoft.com/office/drawing/2014/main" id="{D8D44875-9760-4FE2-8AAA-2BB78AB39067}"/>
              </a:ext>
            </a:extLst>
          </p:cNvPr>
          <p:cNvSpPr txBox="1"/>
          <p:nvPr/>
        </p:nvSpPr>
        <p:spPr>
          <a:xfrm>
            <a:off x="9532398" y="5703903"/>
            <a:ext cx="2476500" cy="646331"/>
          </a:xfrm>
          <a:prstGeom prst="rect">
            <a:avLst/>
          </a:prstGeom>
          <a:noFill/>
        </p:spPr>
        <p:txBody>
          <a:bodyPr wrap="square" rtlCol="0">
            <a:spAutoFit/>
          </a:bodyPr>
          <a:lstStyle/>
          <a:p>
            <a:r>
              <a:rPr lang="en-AU" dirty="0"/>
              <a:t>Fibonacci: also known as Leonardo Bonacci</a:t>
            </a:r>
          </a:p>
        </p:txBody>
      </p:sp>
    </p:spTree>
    <p:extLst>
      <p:ext uri="{BB962C8B-B14F-4D97-AF65-F5344CB8AC3E}">
        <p14:creationId xmlns:p14="http://schemas.microsoft.com/office/powerpoint/2010/main" val="3023730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dirty="0"/>
              <a:t>Lesson 2 </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p:txBody>
          <a:bodyPr/>
          <a:lstStyle/>
          <a:p>
            <a:pPr marL="0" indent="0">
              <a:buNone/>
            </a:pPr>
            <a:r>
              <a:rPr lang="en-AU" dirty="0"/>
              <a:t>Topic: Terms of a Sequence</a:t>
            </a:r>
          </a:p>
          <a:p>
            <a:pPr marL="0" indent="0">
              <a:buNone/>
            </a:pPr>
            <a:r>
              <a:rPr lang="en-AU" dirty="0"/>
              <a:t>EQ: How do you know what a term in a sequence is?</a:t>
            </a:r>
          </a:p>
          <a:p>
            <a:pPr marL="0" indent="0">
              <a:buNone/>
            </a:pPr>
            <a:endParaRPr lang="en-AU" dirty="0"/>
          </a:p>
          <a:p>
            <a:pPr marL="0" indent="0">
              <a:buNone/>
            </a:pPr>
            <a:endParaRPr lang="en-AU" dirty="0"/>
          </a:p>
        </p:txBody>
      </p:sp>
      <p:sp>
        <p:nvSpPr>
          <p:cNvPr id="4" name="Oval 3">
            <a:hlinkClick r:id="rId2" action="ppaction://hlinksldjump"/>
            <a:extLst>
              <a:ext uri="{FF2B5EF4-FFF2-40B4-BE49-F238E27FC236}">
                <a16:creationId xmlns:a16="http://schemas.microsoft.com/office/drawing/2014/main" id="{A7516F49-79B4-44A4-9EF4-FA13AAC277D5}"/>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1203383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C581F70E-D076-4CDF-A936-7B0C9A64DA84}"/>
              </a:ext>
            </a:extLst>
          </p:cNvPr>
          <p:cNvSpPr/>
          <p:nvPr/>
        </p:nvSpPr>
        <p:spPr>
          <a:xfrm>
            <a:off x="733424" y="257174"/>
            <a:ext cx="7839075" cy="830997"/>
          </a:xfrm>
          <a:prstGeom prst="rect">
            <a:avLst/>
          </a:prstGeom>
        </p:spPr>
        <p:txBody>
          <a:bodyPr wrap="square">
            <a:spAutoFit/>
          </a:bodyPr>
          <a:lstStyle/>
          <a:p>
            <a:r>
              <a:rPr lang="en-AU" sz="2400" dirty="0"/>
              <a:t>Topic: Terms of a Sequence</a:t>
            </a:r>
          </a:p>
          <a:p>
            <a:r>
              <a:rPr lang="en-AU" sz="2400" dirty="0"/>
              <a:t>EQ: How do you know what a term in a sequence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0D902F0-4F31-4E46-93F6-BB33F3CBF853}"/>
                  </a:ext>
                </a:extLst>
              </p:cNvPr>
              <p:cNvSpPr txBox="1"/>
              <p:nvPr/>
            </p:nvSpPr>
            <p:spPr>
              <a:xfrm>
                <a:off x="896645" y="1553592"/>
                <a:ext cx="9658905" cy="2031325"/>
              </a:xfrm>
              <a:prstGeom prst="rect">
                <a:avLst/>
              </a:prstGeom>
              <a:noFill/>
            </p:spPr>
            <p:txBody>
              <a:bodyPr wrap="square" rtlCol="0">
                <a:spAutoFit/>
              </a:bodyPr>
              <a:lstStyle/>
              <a:p>
                <a:r>
                  <a:rPr lang="en-AU" dirty="0"/>
                  <a:t>Each number in a sequence is called a term.</a:t>
                </a:r>
              </a:p>
              <a:p>
                <a:endParaRPr lang="en-AU" dirty="0"/>
              </a:p>
              <a:p>
                <a:r>
                  <a:rPr lang="en-AU" dirty="0"/>
                  <a:t>Consider the sequence 4, 7, 10, 13, 16, 19, 21.</a:t>
                </a:r>
              </a:p>
              <a:p>
                <a:endParaRPr lang="en-AU" dirty="0"/>
              </a:p>
              <a:p>
                <a:r>
                  <a:rPr lang="en-AU" dirty="0"/>
                  <a:t>The first term (</a:t>
                </a:r>
                <a14:m>
                  <m:oMath xmlns:m="http://schemas.openxmlformats.org/officeDocument/2006/math">
                    <m:sSub>
                      <m:sSubPr>
                        <m:ctrlPr>
                          <a:rPr lang="en-AU"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𝟏</m:t>
                        </m:r>
                      </m:sub>
                    </m:sSub>
                  </m:oMath>
                </a14:m>
                <a:r>
                  <a:rPr lang="en-AU" dirty="0"/>
                  <a:t>) is 4, the second term (</a:t>
                </a:r>
                <a14:m>
                  <m:oMath xmlns:m="http://schemas.openxmlformats.org/officeDocument/2006/math">
                    <m:sSub>
                      <m:sSubPr>
                        <m:ctrlPr>
                          <a:rPr lang="en-AU" i="1">
                            <a:latin typeface="Cambria Math" panose="02040503050406030204" pitchFamily="18" charset="0"/>
                          </a:rPr>
                        </m:ctrlPr>
                      </m:sSubPr>
                      <m:e>
                        <m:r>
                          <a:rPr lang="en-AU" b="1" i="1">
                            <a:latin typeface="Cambria Math" panose="02040503050406030204" pitchFamily="18" charset="0"/>
                          </a:rPr>
                          <m:t>𝑻</m:t>
                        </m:r>
                      </m:e>
                      <m:sub>
                        <m:r>
                          <a:rPr lang="en-AU" b="1" i="1" smtClean="0">
                            <a:latin typeface="Cambria Math" panose="02040503050406030204" pitchFamily="18" charset="0"/>
                          </a:rPr>
                          <m:t>𝟐</m:t>
                        </m:r>
                      </m:sub>
                    </m:sSub>
                  </m:oMath>
                </a14:m>
                <a:r>
                  <a:rPr lang="en-AU" dirty="0"/>
                  <a:t>) is 7 and so on…</a:t>
                </a:r>
              </a:p>
              <a:p>
                <a:endParaRPr lang="en-AU" dirty="0"/>
              </a:p>
              <a:p>
                <a:endParaRPr lang="en-AU" dirty="0"/>
              </a:p>
            </p:txBody>
          </p:sp>
        </mc:Choice>
        <mc:Fallback xmlns="">
          <p:sp>
            <p:nvSpPr>
              <p:cNvPr id="3" name="TextBox 2">
                <a:extLst>
                  <a:ext uri="{FF2B5EF4-FFF2-40B4-BE49-F238E27FC236}">
                    <a16:creationId xmlns:a16="http://schemas.microsoft.com/office/drawing/2014/main" id="{90D902F0-4F31-4E46-93F6-BB33F3CBF853}"/>
                  </a:ext>
                </a:extLst>
              </p:cNvPr>
              <p:cNvSpPr txBox="1">
                <a:spLocks noRot="1" noChangeAspect="1" noMove="1" noResize="1" noEditPoints="1" noAdjustHandles="1" noChangeArrowheads="1" noChangeShapeType="1" noTextEdit="1"/>
              </p:cNvSpPr>
              <p:nvPr/>
            </p:nvSpPr>
            <p:spPr>
              <a:xfrm>
                <a:off x="896645" y="1553592"/>
                <a:ext cx="9658905" cy="2031325"/>
              </a:xfrm>
              <a:prstGeom prst="rect">
                <a:avLst/>
              </a:prstGeom>
              <a:blipFill>
                <a:blip r:embed="rId2"/>
                <a:stretch>
                  <a:fillRect l="-505" t="-1802"/>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A70123A0-0E50-417D-8A32-2B019D64C5DD}"/>
                  </a:ext>
                </a:extLst>
              </p:cNvPr>
              <p:cNvGraphicFramePr>
                <a:graphicFrameLocks noGrp="1"/>
              </p:cNvGraphicFramePr>
              <p:nvPr>
                <p:extLst>
                  <p:ext uri="{D42A27DB-BD31-4B8C-83A1-F6EECF244321}">
                    <p14:modId xmlns:p14="http://schemas.microsoft.com/office/powerpoint/2010/main" val="1866348628"/>
                  </p:ext>
                </p:extLst>
              </p:nvPr>
            </p:nvGraphicFramePr>
            <p:xfrm>
              <a:off x="1636450" y="3242731"/>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137061097"/>
                        </a:ext>
                      </a:extLst>
                    </a:gridCol>
                    <a:gridCol w="1016000">
                      <a:extLst>
                        <a:ext uri="{9D8B030D-6E8A-4147-A177-3AD203B41FA5}">
                          <a16:colId xmlns:a16="http://schemas.microsoft.com/office/drawing/2014/main" val="2755883273"/>
                        </a:ext>
                      </a:extLst>
                    </a:gridCol>
                    <a:gridCol w="1016000">
                      <a:extLst>
                        <a:ext uri="{9D8B030D-6E8A-4147-A177-3AD203B41FA5}">
                          <a16:colId xmlns:a16="http://schemas.microsoft.com/office/drawing/2014/main" val="2232057009"/>
                        </a:ext>
                      </a:extLst>
                    </a:gridCol>
                    <a:gridCol w="1016000">
                      <a:extLst>
                        <a:ext uri="{9D8B030D-6E8A-4147-A177-3AD203B41FA5}">
                          <a16:colId xmlns:a16="http://schemas.microsoft.com/office/drawing/2014/main" val="357766100"/>
                        </a:ext>
                      </a:extLst>
                    </a:gridCol>
                    <a:gridCol w="1016000">
                      <a:extLst>
                        <a:ext uri="{9D8B030D-6E8A-4147-A177-3AD203B41FA5}">
                          <a16:colId xmlns:a16="http://schemas.microsoft.com/office/drawing/2014/main" val="266747762"/>
                        </a:ext>
                      </a:extLst>
                    </a:gridCol>
                    <a:gridCol w="1016000">
                      <a:extLst>
                        <a:ext uri="{9D8B030D-6E8A-4147-A177-3AD203B41FA5}">
                          <a16:colId xmlns:a16="http://schemas.microsoft.com/office/drawing/2014/main" val="1523188699"/>
                        </a:ext>
                      </a:extLst>
                    </a:gridCol>
                    <a:gridCol w="1016000">
                      <a:extLst>
                        <a:ext uri="{9D8B030D-6E8A-4147-A177-3AD203B41FA5}">
                          <a16:colId xmlns:a16="http://schemas.microsoft.com/office/drawing/2014/main" val="2482715478"/>
                        </a:ext>
                      </a:extLst>
                    </a:gridCol>
                    <a:gridCol w="1016000">
                      <a:extLst>
                        <a:ext uri="{9D8B030D-6E8A-4147-A177-3AD203B41FA5}">
                          <a16:colId xmlns:a16="http://schemas.microsoft.com/office/drawing/2014/main" val="1551801651"/>
                        </a:ext>
                      </a:extLst>
                    </a:gridCol>
                  </a:tblGrid>
                  <a:tr h="370840">
                    <a:tc>
                      <a:txBody>
                        <a:bodyPr/>
                        <a:lstStyle/>
                        <a:p>
                          <a:pPr algn="ctr"/>
                          <a:r>
                            <a:rPr lang="en-AU" dirty="0"/>
                            <a:t>Term</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𝟏</m:t>
                                    </m:r>
                                  </m:sub>
                                </m:sSub>
                              </m:oMath>
                            </m:oMathPara>
                          </a14:m>
                          <a:endParaRPr lang="en-AU"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𝟐</m:t>
                                    </m:r>
                                  </m:sub>
                                </m:sSub>
                              </m:oMath>
                            </m:oMathPara>
                          </a14:m>
                          <a:endParaRPr lang="en-AU"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𝟑</m:t>
                                    </m:r>
                                  </m:sub>
                                </m:sSub>
                              </m:oMath>
                            </m:oMathPara>
                          </a14:m>
                          <a:endParaRPr lang="en-AU"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𝟒</m:t>
                                    </m:r>
                                  </m:sub>
                                </m:sSub>
                              </m:oMath>
                            </m:oMathPara>
                          </a14:m>
                          <a:endParaRPr lang="en-AU"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𝟓</m:t>
                                    </m:r>
                                  </m:sub>
                                </m:sSub>
                              </m:oMath>
                            </m:oMathPara>
                          </a14:m>
                          <a:endParaRPr lang="en-AU"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𝟔</m:t>
                                    </m:r>
                                  </m:sub>
                                </m:sSub>
                              </m:oMath>
                            </m:oMathPara>
                          </a14:m>
                          <a:endParaRPr lang="en-AU"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𝟕</m:t>
                                    </m:r>
                                  </m:sub>
                                </m:sSub>
                              </m:oMath>
                            </m:oMathPara>
                          </a14:m>
                          <a:endParaRPr lang="en-AU" dirty="0"/>
                        </a:p>
                      </a:txBody>
                      <a:tcPr/>
                    </a:tc>
                    <a:extLst>
                      <a:ext uri="{0D108BD9-81ED-4DB2-BD59-A6C34878D82A}">
                        <a16:rowId xmlns:a16="http://schemas.microsoft.com/office/drawing/2014/main" val="4174864240"/>
                      </a:ext>
                    </a:extLst>
                  </a:tr>
                  <a:tr h="370840">
                    <a:tc>
                      <a:txBody>
                        <a:bodyPr/>
                        <a:lstStyle/>
                        <a:p>
                          <a:pPr algn="ctr"/>
                          <a:r>
                            <a:rPr lang="en-AU" dirty="0"/>
                            <a:t>Number</a:t>
                          </a:r>
                        </a:p>
                      </a:txBody>
                      <a:tcPr/>
                    </a:tc>
                    <a:tc>
                      <a:txBody>
                        <a:bodyPr/>
                        <a:lstStyle/>
                        <a:p>
                          <a:pPr algn="ctr"/>
                          <a:r>
                            <a:rPr lang="en-AU" dirty="0"/>
                            <a:t>4</a:t>
                          </a:r>
                        </a:p>
                      </a:txBody>
                      <a:tcPr/>
                    </a:tc>
                    <a:tc>
                      <a:txBody>
                        <a:bodyPr/>
                        <a:lstStyle/>
                        <a:p>
                          <a:pPr algn="ctr"/>
                          <a:r>
                            <a:rPr lang="en-AU" dirty="0"/>
                            <a:t>7</a:t>
                          </a:r>
                        </a:p>
                      </a:txBody>
                      <a:tcPr/>
                    </a:tc>
                    <a:tc>
                      <a:txBody>
                        <a:bodyPr/>
                        <a:lstStyle/>
                        <a:p>
                          <a:pPr algn="ctr"/>
                          <a:r>
                            <a:rPr lang="en-AU" dirty="0"/>
                            <a:t>10</a:t>
                          </a:r>
                        </a:p>
                      </a:txBody>
                      <a:tcPr/>
                    </a:tc>
                    <a:tc>
                      <a:txBody>
                        <a:bodyPr/>
                        <a:lstStyle/>
                        <a:p>
                          <a:pPr algn="ctr"/>
                          <a:r>
                            <a:rPr lang="en-AU" dirty="0"/>
                            <a:t>13</a:t>
                          </a:r>
                        </a:p>
                      </a:txBody>
                      <a:tcPr/>
                    </a:tc>
                    <a:tc>
                      <a:txBody>
                        <a:bodyPr/>
                        <a:lstStyle/>
                        <a:p>
                          <a:pPr algn="ctr"/>
                          <a:r>
                            <a:rPr lang="en-AU" dirty="0"/>
                            <a:t>16</a:t>
                          </a:r>
                        </a:p>
                      </a:txBody>
                      <a:tcPr/>
                    </a:tc>
                    <a:tc>
                      <a:txBody>
                        <a:bodyPr/>
                        <a:lstStyle/>
                        <a:p>
                          <a:pPr algn="ctr"/>
                          <a:r>
                            <a:rPr lang="en-AU" dirty="0"/>
                            <a:t>19</a:t>
                          </a:r>
                        </a:p>
                      </a:txBody>
                      <a:tcPr/>
                    </a:tc>
                    <a:tc>
                      <a:txBody>
                        <a:bodyPr/>
                        <a:lstStyle/>
                        <a:p>
                          <a:pPr algn="ctr"/>
                          <a:r>
                            <a:rPr lang="en-AU" dirty="0"/>
                            <a:t>21</a:t>
                          </a:r>
                        </a:p>
                      </a:txBody>
                      <a:tcPr/>
                    </a:tc>
                    <a:extLst>
                      <a:ext uri="{0D108BD9-81ED-4DB2-BD59-A6C34878D82A}">
                        <a16:rowId xmlns:a16="http://schemas.microsoft.com/office/drawing/2014/main" val="2951035962"/>
                      </a:ext>
                    </a:extLst>
                  </a:tr>
                </a:tbl>
              </a:graphicData>
            </a:graphic>
          </p:graphicFrame>
        </mc:Choice>
        <mc:Fallback xmlns="">
          <p:graphicFrame>
            <p:nvGraphicFramePr>
              <p:cNvPr id="4" name="Table 4">
                <a:extLst>
                  <a:ext uri="{FF2B5EF4-FFF2-40B4-BE49-F238E27FC236}">
                    <a16:creationId xmlns:a16="http://schemas.microsoft.com/office/drawing/2014/main" id="{A70123A0-0E50-417D-8A32-2B019D64C5DD}"/>
                  </a:ext>
                </a:extLst>
              </p:cNvPr>
              <p:cNvGraphicFramePr>
                <a:graphicFrameLocks noGrp="1"/>
              </p:cNvGraphicFramePr>
              <p:nvPr>
                <p:extLst>
                  <p:ext uri="{D42A27DB-BD31-4B8C-83A1-F6EECF244321}">
                    <p14:modId xmlns:p14="http://schemas.microsoft.com/office/powerpoint/2010/main" val="1866348628"/>
                  </p:ext>
                </p:extLst>
              </p:nvPr>
            </p:nvGraphicFramePr>
            <p:xfrm>
              <a:off x="1636450" y="3242731"/>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137061097"/>
                        </a:ext>
                      </a:extLst>
                    </a:gridCol>
                    <a:gridCol w="1016000">
                      <a:extLst>
                        <a:ext uri="{9D8B030D-6E8A-4147-A177-3AD203B41FA5}">
                          <a16:colId xmlns:a16="http://schemas.microsoft.com/office/drawing/2014/main" val="2755883273"/>
                        </a:ext>
                      </a:extLst>
                    </a:gridCol>
                    <a:gridCol w="1016000">
                      <a:extLst>
                        <a:ext uri="{9D8B030D-6E8A-4147-A177-3AD203B41FA5}">
                          <a16:colId xmlns:a16="http://schemas.microsoft.com/office/drawing/2014/main" val="2232057009"/>
                        </a:ext>
                      </a:extLst>
                    </a:gridCol>
                    <a:gridCol w="1016000">
                      <a:extLst>
                        <a:ext uri="{9D8B030D-6E8A-4147-A177-3AD203B41FA5}">
                          <a16:colId xmlns:a16="http://schemas.microsoft.com/office/drawing/2014/main" val="357766100"/>
                        </a:ext>
                      </a:extLst>
                    </a:gridCol>
                    <a:gridCol w="1016000">
                      <a:extLst>
                        <a:ext uri="{9D8B030D-6E8A-4147-A177-3AD203B41FA5}">
                          <a16:colId xmlns:a16="http://schemas.microsoft.com/office/drawing/2014/main" val="266747762"/>
                        </a:ext>
                      </a:extLst>
                    </a:gridCol>
                    <a:gridCol w="1016000">
                      <a:extLst>
                        <a:ext uri="{9D8B030D-6E8A-4147-A177-3AD203B41FA5}">
                          <a16:colId xmlns:a16="http://schemas.microsoft.com/office/drawing/2014/main" val="1523188699"/>
                        </a:ext>
                      </a:extLst>
                    </a:gridCol>
                    <a:gridCol w="1016000">
                      <a:extLst>
                        <a:ext uri="{9D8B030D-6E8A-4147-A177-3AD203B41FA5}">
                          <a16:colId xmlns:a16="http://schemas.microsoft.com/office/drawing/2014/main" val="2482715478"/>
                        </a:ext>
                      </a:extLst>
                    </a:gridCol>
                    <a:gridCol w="1016000">
                      <a:extLst>
                        <a:ext uri="{9D8B030D-6E8A-4147-A177-3AD203B41FA5}">
                          <a16:colId xmlns:a16="http://schemas.microsoft.com/office/drawing/2014/main" val="1551801651"/>
                        </a:ext>
                      </a:extLst>
                    </a:gridCol>
                  </a:tblGrid>
                  <a:tr h="370840">
                    <a:tc>
                      <a:txBody>
                        <a:bodyPr/>
                        <a:lstStyle/>
                        <a:p>
                          <a:pPr algn="ctr"/>
                          <a:r>
                            <a:rPr lang="en-AU" dirty="0"/>
                            <a:t>Term</a:t>
                          </a:r>
                        </a:p>
                      </a:txBody>
                      <a:tcPr/>
                    </a:tc>
                    <a:tc>
                      <a:txBody>
                        <a:bodyPr/>
                        <a:lstStyle/>
                        <a:p>
                          <a:endParaRPr lang="en-US"/>
                        </a:p>
                      </a:txBody>
                      <a:tcPr>
                        <a:blipFill>
                          <a:blip r:embed="rId3"/>
                          <a:stretch>
                            <a:fillRect l="-100599" t="-8065" r="-601198" b="-122581"/>
                          </a:stretch>
                        </a:blipFill>
                      </a:tcPr>
                    </a:tc>
                    <a:tc>
                      <a:txBody>
                        <a:bodyPr/>
                        <a:lstStyle/>
                        <a:p>
                          <a:endParaRPr lang="en-US"/>
                        </a:p>
                      </a:txBody>
                      <a:tcPr>
                        <a:blipFill>
                          <a:blip r:embed="rId3"/>
                          <a:stretch>
                            <a:fillRect l="-201807" t="-8065" r="-504819" b="-122581"/>
                          </a:stretch>
                        </a:blipFill>
                      </a:tcPr>
                    </a:tc>
                    <a:tc>
                      <a:txBody>
                        <a:bodyPr/>
                        <a:lstStyle/>
                        <a:p>
                          <a:endParaRPr lang="en-US"/>
                        </a:p>
                      </a:txBody>
                      <a:tcPr>
                        <a:blipFill>
                          <a:blip r:embed="rId3"/>
                          <a:stretch>
                            <a:fillRect l="-300000" t="-8065" r="-401796" b="-122581"/>
                          </a:stretch>
                        </a:blipFill>
                      </a:tcPr>
                    </a:tc>
                    <a:tc>
                      <a:txBody>
                        <a:bodyPr/>
                        <a:lstStyle/>
                        <a:p>
                          <a:endParaRPr lang="en-US"/>
                        </a:p>
                      </a:txBody>
                      <a:tcPr>
                        <a:blipFill>
                          <a:blip r:embed="rId3"/>
                          <a:stretch>
                            <a:fillRect l="-400000" t="-8065" r="-301796" b="-122581"/>
                          </a:stretch>
                        </a:blipFill>
                      </a:tcPr>
                    </a:tc>
                    <a:tc>
                      <a:txBody>
                        <a:bodyPr/>
                        <a:lstStyle/>
                        <a:p>
                          <a:endParaRPr lang="en-US"/>
                        </a:p>
                      </a:txBody>
                      <a:tcPr>
                        <a:blipFill>
                          <a:blip r:embed="rId3"/>
                          <a:stretch>
                            <a:fillRect l="-500000" t="-8065" r="-201796" b="-122581"/>
                          </a:stretch>
                        </a:blipFill>
                      </a:tcPr>
                    </a:tc>
                    <a:tc>
                      <a:txBody>
                        <a:bodyPr/>
                        <a:lstStyle/>
                        <a:p>
                          <a:endParaRPr lang="en-US"/>
                        </a:p>
                      </a:txBody>
                      <a:tcPr>
                        <a:blipFill>
                          <a:blip r:embed="rId3"/>
                          <a:stretch>
                            <a:fillRect l="-603614" t="-8065" r="-103012" b="-122581"/>
                          </a:stretch>
                        </a:blipFill>
                      </a:tcPr>
                    </a:tc>
                    <a:tc>
                      <a:txBody>
                        <a:bodyPr/>
                        <a:lstStyle/>
                        <a:p>
                          <a:endParaRPr lang="en-US"/>
                        </a:p>
                      </a:txBody>
                      <a:tcPr>
                        <a:blipFill>
                          <a:blip r:embed="rId3"/>
                          <a:stretch>
                            <a:fillRect l="-699401" t="-8065" r="-2395" b="-122581"/>
                          </a:stretch>
                        </a:blipFill>
                      </a:tcPr>
                    </a:tc>
                    <a:extLst>
                      <a:ext uri="{0D108BD9-81ED-4DB2-BD59-A6C34878D82A}">
                        <a16:rowId xmlns:a16="http://schemas.microsoft.com/office/drawing/2014/main" val="4174864240"/>
                      </a:ext>
                    </a:extLst>
                  </a:tr>
                  <a:tr h="370840">
                    <a:tc>
                      <a:txBody>
                        <a:bodyPr/>
                        <a:lstStyle/>
                        <a:p>
                          <a:pPr algn="ctr"/>
                          <a:r>
                            <a:rPr lang="en-AU" dirty="0"/>
                            <a:t>Number</a:t>
                          </a:r>
                        </a:p>
                      </a:txBody>
                      <a:tcPr/>
                    </a:tc>
                    <a:tc>
                      <a:txBody>
                        <a:bodyPr/>
                        <a:lstStyle/>
                        <a:p>
                          <a:pPr algn="ctr"/>
                          <a:r>
                            <a:rPr lang="en-AU" dirty="0"/>
                            <a:t>4</a:t>
                          </a:r>
                        </a:p>
                      </a:txBody>
                      <a:tcPr/>
                    </a:tc>
                    <a:tc>
                      <a:txBody>
                        <a:bodyPr/>
                        <a:lstStyle/>
                        <a:p>
                          <a:pPr algn="ctr"/>
                          <a:r>
                            <a:rPr lang="en-AU" dirty="0"/>
                            <a:t>7</a:t>
                          </a:r>
                        </a:p>
                      </a:txBody>
                      <a:tcPr/>
                    </a:tc>
                    <a:tc>
                      <a:txBody>
                        <a:bodyPr/>
                        <a:lstStyle/>
                        <a:p>
                          <a:pPr algn="ctr"/>
                          <a:r>
                            <a:rPr lang="en-AU" dirty="0"/>
                            <a:t>10</a:t>
                          </a:r>
                        </a:p>
                      </a:txBody>
                      <a:tcPr/>
                    </a:tc>
                    <a:tc>
                      <a:txBody>
                        <a:bodyPr/>
                        <a:lstStyle/>
                        <a:p>
                          <a:pPr algn="ctr"/>
                          <a:r>
                            <a:rPr lang="en-AU" dirty="0"/>
                            <a:t>13</a:t>
                          </a:r>
                        </a:p>
                      </a:txBody>
                      <a:tcPr/>
                    </a:tc>
                    <a:tc>
                      <a:txBody>
                        <a:bodyPr/>
                        <a:lstStyle/>
                        <a:p>
                          <a:pPr algn="ctr"/>
                          <a:r>
                            <a:rPr lang="en-AU" dirty="0"/>
                            <a:t>16</a:t>
                          </a:r>
                        </a:p>
                      </a:txBody>
                      <a:tcPr/>
                    </a:tc>
                    <a:tc>
                      <a:txBody>
                        <a:bodyPr/>
                        <a:lstStyle/>
                        <a:p>
                          <a:pPr algn="ctr"/>
                          <a:r>
                            <a:rPr lang="en-AU" dirty="0"/>
                            <a:t>19</a:t>
                          </a:r>
                        </a:p>
                      </a:txBody>
                      <a:tcPr/>
                    </a:tc>
                    <a:tc>
                      <a:txBody>
                        <a:bodyPr/>
                        <a:lstStyle/>
                        <a:p>
                          <a:pPr algn="ctr"/>
                          <a:r>
                            <a:rPr lang="en-AU" dirty="0"/>
                            <a:t>21</a:t>
                          </a:r>
                        </a:p>
                      </a:txBody>
                      <a:tcPr/>
                    </a:tc>
                    <a:extLst>
                      <a:ext uri="{0D108BD9-81ED-4DB2-BD59-A6C34878D82A}">
                        <a16:rowId xmlns:a16="http://schemas.microsoft.com/office/drawing/2014/main" val="2951035962"/>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278292-A4DE-4EA2-8D91-E5C10F76A014}"/>
                  </a:ext>
                </a:extLst>
              </p:cNvPr>
              <p:cNvSpPr txBox="1"/>
              <p:nvPr/>
            </p:nvSpPr>
            <p:spPr>
              <a:xfrm>
                <a:off x="1260629" y="4395380"/>
                <a:ext cx="1482571" cy="1200329"/>
              </a:xfrm>
              <a:prstGeom prst="rect">
                <a:avLst/>
              </a:prstGeom>
              <a:noFill/>
            </p:spPr>
            <p:txBody>
              <a:bodyPr wrap="square" rtlCol="0">
                <a:spAutoFit/>
              </a:bodyPr>
              <a:lstStyle/>
              <a:p>
                <a:r>
                  <a:rPr lang="en-AU" dirty="0"/>
                  <a:t>Example:</a:t>
                </a:r>
              </a:p>
              <a:p>
                <a:pPr marL="342900" indent="-342900">
                  <a:buAutoNum type="alphaLcParenR"/>
                </a:pPr>
                <a14:m>
                  <m:oMath xmlns:m="http://schemas.openxmlformats.org/officeDocument/2006/math">
                    <m:sSub>
                      <m:sSubPr>
                        <m:ctrlPr>
                          <a:rPr lang="en-AU" i="1">
                            <a:latin typeface="Cambria Math" panose="02040503050406030204" pitchFamily="18" charset="0"/>
                          </a:rPr>
                        </m:ctrlPr>
                      </m:sSubPr>
                      <m:e>
                        <m:r>
                          <a:rPr lang="en-AU" b="1" i="1">
                            <a:latin typeface="Cambria Math" panose="02040503050406030204" pitchFamily="18" charset="0"/>
                          </a:rPr>
                          <m:t>𝑻</m:t>
                        </m:r>
                      </m:e>
                      <m:sub>
                        <m:r>
                          <a:rPr lang="en-AU" b="1" i="1" smtClean="0">
                            <a:latin typeface="Cambria Math" panose="02040503050406030204" pitchFamily="18" charset="0"/>
                          </a:rPr>
                          <m:t>𝟓</m:t>
                        </m:r>
                      </m:sub>
                    </m:sSub>
                  </m:oMath>
                </a14:m>
                <a:endParaRPr lang="en-AU" b="1" dirty="0"/>
              </a:p>
              <a:p>
                <a:pPr marL="342900" indent="-342900">
                  <a:buAutoNum type="alphaLcParenR"/>
                </a:pPr>
                <a14:m>
                  <m:oMath xmlns:m="http://schemas.openxmlformats.org/officeDocument/2006/math">
                    <m:sSub>
                      <m:sSubPr>
                        <m:ctrlPr>
                          <a:rPr lang="en-AU"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𝟏</m:t>
                        </m:r>
                      </m:sub>
                    </m:sSub>
                  </m:oMath>
                </a14:m>
                <a:r>
                  <a:rPr lang="en-AU" dirty="0"/>
                  <a:t>+</a:t>
                </a:r>
                <a14:m>
                  <m:oMath xmlns:m="http://schemas.openxmlformats.org/officeDocument/2006/math">
                    <m:sSub>
                      <m:sSubPr>
                        <m:ctrlPr>
                          <a:rPr lang="en-AU" i="1">
                            <a:latin typeface="Cambria Math" panose="02040503050406030204" pitchFamily="18" charset="0"/>
                          </a:rPr>
                        </m:ctrlPr>
                      </m:sSubPr>
                      <m:e>
                        <m:r>
                          <a:rPr lang="en-AU" b="1" i="1">
                            <a:latin typeface="Cambria Math" panose="02040503050406030204" pitchFamily="18" charset="0"/>
                          </a:rPr>
                          <m:t>𝑻</m:t>
                        </m:r>
                      </m:e>
                      <m:sub>
                        <m:r>
                          <a:rPr lang="en-AU" b="1" i="1" smtClean="0">
                            <a:latin typeface="Cambria Math" panose="02040503050406030204" pitchFamily="18" charset="0"/>
                          </a:rPr>
                          <m:t>𝟒</m:t>
                        </m:r>
                      </m:sub>
                    </m:sSub>
                  </m:oMath>
                </a14:m>
                <a:endParaRPr lang="en-AU" b="1" dirty="0"/>
              </a:p>
              <a:p>
                <a:pPr marL="342900" indent="-342900">
                  <a:buAutoNum type="alphaLcParenR"/>
                </a:pPr>
                <a:r>
                  <a:rPr lang="en-AU" dirty="0"/>
                  <a:t>5</a:t>
                </a:r>
                <a14:m>
                  <m:oMath xmlns:m="http://schemas.openxmlformats.org/officeDocument/2006/math">
                    <m:sSub>
                      <m:sSubPr>
                        <m:ctrlPr>
                          <a:rPr lang="en-AU" i="1">
                            <a:latin typeface="Cambria Math" panose="02040503050406030204" pitchFamily="18" charset="0"/>
                          </a:rPr>
                        </m:ctrlPr>
                      </m:sSubPr>
                      <m:e>
                        <m:r>
                          <a:rPr lang="en-AU" b="1" i="1">
                            <a:latin typeface="Cambria Math" panose="02040503050406030204" pitchFamily="18" charset="0"/>
                          </a:rPr>
                          <m:t>𝑻</m:t>
                        </m:r>
                      </m:e>
                      <m:sub>
                        <m:r>
                          <a:rPr lang="en-AU" b="1" i="1" smtClean="0">
                            <a:latin typeface="Cambria Math" panose="02040503050406030204" pitchFamily="18" charset="0"/>
                          </a:rPr>
                          <m:t>𝟑</m:t>
                        </m:r>
                      </m:sub>
                    </m:sSub>
                  </m:oMath>
                </a14:m>
                <a:endParaRPr lang="en-AU" dirty="0"/>
              </a:p>
            </p:txBody>
          </p:sp>
        </mc:Choice>
        <mc:Fallback xmlns="">
          <p:sp>
            <p:nvSpPr>
              <p:cNvPr id="7" name="TextBox 6">
                <a:extLst>
                  <a:ext uri="{FF2B5EF4-FFF2-40B4-BE49-F238E27FC236}">
                    <a16:creationId xmlns:a16="http://schemas.microsoft.com/office/drawing/2014/main" id="{7B278292-A4DE-4EA2-8D91-E5C10F76A014}"/>
                  </a:ext>
                </a:extLst>
              </p:cNvPr>
              <p:cNvSpPr txBox="1">
                <a:spLocks noRot="1" noChangeAspect="1" noMove="1" noResize="1" noEditPoints="1" noAdjustHandles="1" noChangeArrowheads="1" noChangeShapeType="1" noTextEdit="1"/>
              </p:cNvSpPr>
              <p:nvPr/>
            </p:nvSpPr>
            <p:spPr>
              <a:xfrm>
                <a:off x="1260629" y="4395380"/>
                <a:ext cx="1482571" cy="1200329"/>
              </a:xfrm>
              <a:prstGeom prst="rect">
                <a:avLst/>
              </a:prstGeom>
              <a:blipFill>
                <a:blip r:embed="rId4"/>
                <a:stretch>
                  <a:fillRect l="-3704" t="-2538" b="-7107"/>
                </a:stretch>
              </a:blipFill>
            </p:spPr>
            <p:txBody>
              <a:bodyPr/>
              <a:lstStyle/>
              <a:p>
                <a:r>
                  <a:rPr lang="en-AU">
                    <a:noFill/>
                  </a:rPr>
                  <a:t> </a:t>
                </a:r>
              </a:p>
            </p:txBody>
          </p:sp>
        </mc:Fallback>
      </mc:AlternateContent>
      <p:sp>
        <p:nvSpPr>
          <p:cNvPr id="8" name="TextBox 7">
            <a:extLst>
              <a:ext uri="{FF2B5EF4-FFF2-40B4-BE49-F238E27FC236}">
                <a16:creationId xmlns:a16="http://schemas.microsoft.com/office/drawing/2014/main" id="{7A610FAF-F69A-4BE2-9836-71CC15329BA7}"/>
              </a:ext>
            </a:extLst>
          </p:cNvPr>
          <p:cNvSpPr txBox="1"/>
          <p:nvPr/>
        </p:nvSpPr>
        <p:spPr>
          <a:xfrm>
            <a:off x="3977196" y="4394447"/>
            <a:ext cx="1489510" cy="1200329"/>
          </a:xfrm>
          <a:prstGeom prst="rect">
            <a:avLst/>
          </a:prstGeom>
          <a:noFill/>
        </p:spPr>
        <p:txBody>
          <a:bodyPr wrap="none" rtlCol="0">
            <a:spAutoFit/>
          </a:bodyPr>
          <a:lstStyle/>
          <a:p>
            <a:r>
              <a:rPr lang="en-AU" b="1" dirty="0">
                <a:solidFill>
                  <a:srgbClr val="FF0000"/>
                </a:solidFill>
              </a:rPr>
              <a:t>Answers</a:t>
            </a:r>
          </a:p>
          <a:p>
            <a:pPr marL="342900" indent="-342900">
              <a:buAutoNum type="alphaLcParenR"/>
            </a:pPr>
            <a:r>
              <a:rPr lang="en-AU" b="1" dirty="0">
                <a:solidFill>
                  <a:srgbClr val="FF0000"/>
                </a:solidFill>
              </a:rPr>
              <a:t>16</a:t>
            </a:r>
          </a:p>
          <a:p>
            <a:pPr marL="342900" indent="-342900">
              <a:buAutoNum type="alphaLcParenR"/>
            </a:pPr>
            <a:r>
              <a:rPr lang="en-AU" b="1" dirty="0">
                <a:solidFill>
                  <a:srgbClr val="FF0000"/>
                </a:solidFill>
              </a:rPr>
              <a:t>4+13=17</a:t>
            </a:r>
          </a:p>
          <a:p>
            <a:pPr marL="342900" indent="-342900">
              <a:buAutoNum type="alphaLcParenR"/>
            </a:pPr>
            <a:r>
              <a:rPr lang="en-AU" b="1" dirty="0">
                <a:solidFill>
                  <a:srgbClr val="FF0000"/>
                </a:solidFill>
              </a:rPr>
              <a:t>5 x 10= 50</a:t>
            </a:r>
          </a:p>
        </p:txBody>
      </p:sp>
      <p:sp>
        <p:nvSpPr>
          <p:cNvPr id="9" name="TextBox 8">
            <a:extLst>
              <a:ext uri="{FF2B5EF4-FFF2-40B4-BE49-F238E27FC236}">
                <a16:creationId xmlns:a16="http://schemas.microsoft.com/office/drawing/2014/main" id="{B922D78C-E518-46C1-A4A9-E6DB23EAB2F9}"/>
              </a:ext>
            </a:extLst>
          </p:cNvPr>
          <p:cNvSpPr txBox="1"/>
          <p:nvPr/>
        </p:nvSpPr>
        <p:spPr>
          <a:xfrm>
            <a:off x="6249880" y="5157926"/>
            <a:ext cx="4305670" cy="830997"/>
          </a:xfrm>
          <a:prstGeom prst="rect">
            <a:avLst/>
          </a:prstGeom>
          <a:noFill/>
        </p:spPr>
        <p:txBody>
          <a:bodyPr wrap="square" rtlCol="0">
            <a:spAutoFit/>
          </a:bodyPr>
          <a:lstStyle/>
          <a:p>
            <a:r>
              <a:rPr lang="en-AU" sz="4800" b="1" dirty="0"/>
              <a:t>Complete Ex 3B</a:t>
            </a:r>
          </a:p>
        </p:txBody>
      </p:sp>
    </p:spTree>
    <p:extLst>
      <p:ext uri="{BB962C8B-B14F-4D97-AF65-F5344CB8AC3E}">
        <p14:creationId xmlns:p14="http://schemas.microsoft.com/office/powerpoint/2010/main" val="168445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dirty="0"/>
              <a:t>Lesson 3 </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p:txBody>
          <a:bodyPr/>
          <a:lstStyle/>
          <a:p>
            <a:pPr marL="0" indent="0">
              <a:buNone/>
            </a:pPr>
            <a:r>
              <a:rPr lang="en-AU" dirty="0"/>
              <a:t>Topic: Recursive rules</a:t>
            </a:r>
          </a:p>
          <a:p>
            <a:pPr marL="0" indent="0">
              <a:buNone/>
            </a:pPr>
            <a:r>
              <a:rPr lang="en-AU" dirty="0"/>
              <a:t>EQ: How can we write and use recursive rules?</a:t>
            </a:r>
          </a:p>
          <a:p>
            <a:pPr marL="0" indent="0">
              <a:buNone/>
            </a:pPr>
            <a:endParaRPr lang="en-AU" dirty="0"/>
          </a:p>
          <a:p>
            <a:pPr marL="0" indent="0">
              <a:buNone/>
            </a:pPr>
            <a:endParaRPr lang="en-AU" dirty="0"/>
          </a:p>
        </p:txBody>
      </p:sp>
      <p:sp>
        <p:nvSpPr>
          <p:cNvPr id="4" name="Oval 3">
            <a:hlinkClick r:id="rId2" action="ppaction://hlinksldjump"/>
            <a:extLst>
              <a:ext uri="{FF2B5EF4-FFF2-40B4-BE49-F238E27FC236}">
                <a16:creationId xmlns:a16="http://schemas.microsoft.com/office/drawing/2014/main" id="{13E42509-E5C1-46F7-8E09-76103918C1AA}"/>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1237320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628600" y="230819"/>
            <a:ext cx="11242995" cy="1477328"/>
          </a:xfrm>
          <a:prstGeom prst="rect">
            <a:avLst/>
          </a:prstGeom>
          <a:noFill/>
        </p:spPr>
        <p:txBody>
          <a:bodyPr wrap="square" rtlCol="0">
            <a:spAutoFit/>
          </a:bodyPr>
          <a:lstStyle/>
          <a:p>
            <a:r>
              <a:rPr lang="en-AU" sz="2400" dirty="0"/>
              <a:t>Topic: Recursive rules</a:t>
            </a:r>
          </a:p>
          <a:p>
            <a:r>
              <a:rPr lang="en-AU" sz="2400" dirty="0"/>
              <a:t>EQ: How can we write and use recursive rules?</a:t>
            </a:r>
          </a:p>
          <a:p>
            <a:endParaRPr lang="en-AU" sz="2400" dirty="0"/>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44A5AB5-FBC1-4A80-835D-188DE0DE0812}"/>
              </a:ext>
            </a:extLst>
          </p:cNvPr>
          <p:cNvSpPr txBox="1"/>
          <p:nvPr/>
        </p:nvSpPr>
        <p:spPr>
          <a:xfrm>
            <a:off x="628600" y="1338840"/>
            <a:ext cx="9882561" cy="2585323"/>
          </a:xfrm>
          <a:prstGeom prst="rect">
            <a:avLst/>
          </a:prstGeom>
          <a:noFill/>
        </p:spPr>
        <p:txBody>
          <a:bodyPr wrap="square" rtlCol="0">
            <a:spAutoFit/>
          </a:bodyPr>
          <a:lstStyle/>
          <a:p>
            <a:r>
              <a:rPr lang="en-AU" dirty="0">
                <a:latin typeface="Calibri" pitchFamily="34" charset="0"/>
                <a:cs typeface="Calibri" pitchFamily="34" charset="0"/>
              </a:rPr>
              <a:t>A recursive definition of a sequence states how to obtain the next term of a sequence given the previous term (or terms). You also need a marker, usually the first term (or terms).</a:t>
            </a:r>
          </a:p>
          <a:p>
            <a:endParaRPr lang="en-AU" dirty="0">
              <a:latin typeface="Calibri" pitchFamily="34" charset="0"/>
              <a:cs typeface="Calibri" pitchFamily="34" charset="0"/>
            </a:endParaRPr>
          </a:p>
          <a:p>
            <a:r>
              <a:rPr lang="en-AU" dirty="0">
                <a:latin typeface="Calibri" pitchFamily="34" charset="0"/>
                <a:cs typeface="Calibri" pitchFamily="34" charset="0"/>
              </a:rPr>
              <a:t>Consider the sequence: 5, 8, 11, 14, 17, 20, 23,…</a:t>
            </a:r>
          </a:p>
          <a:p>
            <a:endParaRPr lang="en-AU" dirty="0">
              <a:latin typeface="Calibri" pitchFamily="34" charset="0"/>
              <a:cs typeface="Calibri" pitchFamily="34" charset="0"/>
            </a:endParaRPr>
          </a:p>
          <a:p>
            <a:r>
              <a:rPr lang="en-AU" dirty="0">
                <a:latin typeface="Calibri" pitchFamily="34" charset="0"/>
                <a:cs typeface="Calibri" pitchFamily="34" charset="0"/>
              </a:rPr>
              <a:t>What is the pattern?</a:t>
            </a:r>
          </a:p>
          <a:p>
            <a:endParaRPr lang="en-AU" dirty="0">
              <a:latin typeface="Calibri" pitchFamily="34" charset="0"/>
              <a:cs typeface="Calibri" pitchFamily="34" charset="0"/>
            </a:endParaRPr>
          </a:p>
          <a:p>
            <a:endParaRPr lang="en-AU" dirty="0">
              <a:latin typeface="Calibri" pitchFamily="34" charset="0"/>
              <a:cs typeface="Calibri" pitchFamily="34" charset="0"/>
            </a:endParaRPr>
          </a:p>
          <a:p>
            <a:r>
              <a:rPr lang="en-AU" dirty="0">
                <a:latin typeface="Calibri" pitchFamily="34" charset="0"/>
                <a:cs typeface="Calibri" pitchFamily="34" charset="0"/>
              </a:rPr>
              <a:t>What is the first term?</a:t>
            </a:r>
          </a:p>
        </p:txBody>
      </p:sp>
      <p:sp>
        <p:nvSpPr>
          <p:cNvPr id="3" name="TextBox 2">
            <a:extLst>
              <a:ext uri="{FF2B5EF4-FFF2-40B4-BE49-F238E27FC236}">
                <a16:creationId xmlns:a16="http://schemas.microsoft.com/office/drawing/2014/main" id="{AEB7B54C-D02B-4EFD-B743-AF9085090A47}"/>
              </a:ext>
            </a:extLst>
          </p:cNvPr>
          <p:cNvSpPr txBox="1"/>
          <p:nvPr/>
        </p:nvSpPr>
        <p:spPr>
          <a:xfrm>
            <a:off x="1766656" y="3024860"/>
            <a:ext cx="1824987" cy="1200329"/>
          </a:xfrm>
          <a:prstGeom prst="rect">
            <a:avLst/>
          </a:prstGeom>
          <a:noFill/>
        </p:spPr>
        <p:txBody>
          <a:bodyPr wrap="none" rtlCol="0">
            <a:spAutoFit/>
          </a:bodyPr>
          <a:lstStyle/>
          <a:p>
            <a:r>
              <a:rPr lang="en-AU" dirty="0"/>
              <a:t>It is going up by 3</a:t>
            </a:r>
          </a:p>
          <a:p>
            <a:endParaRPr lang="en-AU" dirty="0"/>
          </a:p>
          <a:p>
            <a:endParaRPr lang="en-AU" dirty="0"/>
          </a:p>
          <a:p>
            <a:r>
              <a:rPr lang="en-AU" dirty="0"/>
              <a:t>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B276A43-F9D5-4309-8DF8-9F98798F932C}"/>
                  </a:ext>
                </a:extLst>
              </p:cNvPr>
              <p:cNvSpPr txBox="1"/>
              <p:nvPr/>
            </p:nvSpPr>
            <p:spPr>
              <a:xfrm>
                <a:off x="5433133" y="3027518"/>
                <a:ext cx="2981714" cy="923330"/>
              </a:xfrm>
              <a:prstGeom prst="rect">
                <a:avLst/>
              </a:prstGeom>
              <a:noFill/>
            </p:spPr>
            <p:txBody>
              <a:bodyPr wrap="none" rtlCol="0">
                <a:spAutoFit/>
              </a:bodyPr>
              <a:lstStyle/>
              <a:p>
                <a:r>
                  <a:rPr lang="en-AU" b="1" dirty="0"/>
                  <a:t>The recursive rule is </a:t>
                </a:r>
              </a:p>
              <a:p>
                <a:endParaRPr lang="en-AU" b="1" dirty="0"/>
              </a:p>
              <a:p>
                <a:pPr/>
                <a14:m>
                  <m:oMathPara xmlns:m="http://schemas.openxmlformats.org/officeDocument/2006/math">
                    <m:oMathParaPr>
                      <m:jc m:val="centerGroup"/>
                    </m:oMathParaPr>
                    <m:oMath xmlns:m="http://schemas.openxmlformats.org/officeDocument/2006/math">
                      <m:sSub>
                        <m:sSubPr>
                          <m:ctrlPr>
                            <a:rPr lang="en-AU" b="1"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𝒏</m:t>
                          </m:r>
                          <m:r>
                            <a:rPr lang="en-AU" b="1" i="1" smtClean="0">
                              <a:latin typeface="Cambria Math" panose="02040503050406030204" pitchFamily="18" charset="0"/>
                            </a:rPr>
                            <m:t>+</m:t>
                          </m:r>
                          <m:r>
                            <a:rPr lang="en-AU" b="1" i="1" smtClean="0">
                              <a:latin typeface="Cambria Math" panose="02040503050406030204" pitchFamily="18" charset="0"/>
                            </a:rPr>
                            <m:t>𝟏</m:t>
                          </m:r>
                        </m:sub>
                      </m:sSub>
                      <m:r>
                        <a:rPr lang="en-AU" b="1" i="1" smtClean="0">
                          <a:latin typeface="Cambria Math" panose="02040503050406030204" pitchFamily="18" charset="0"/>
                        </a:rPr>
                        <m:t>= </m:t>
                      </m:r>
                      <m:sSub>
                        <m:sSubPr>
                          <m:ctrlPr>
                            <a:rPr lang="en-AU" b="1" i="1" smtClean="0">
                              <a:latin typeface="Cambria Math" panose="02040503050406030204" pitchFamily="18" charset="0"/>
                            </a:rPr>
                          </m:ctrlPr>
                        </m:sSubPr>
                        <m:e>
                          <m:r>
                            <a:rPr lang="en-AU" b="1" i="1" smtClean="0">
                              <a:latin typeface="Cambria Math" panose="02040503050406030204" pitchFamily="18" charset="0"/>
                            </a:rPr>
                            <m:t>𝑻</m:t>
                          </m:r>
                        </m:e>
                        <m:sub>
                          <m:r>
                            <a:rPr lang="en-AU" b="1" i="1" smtClean="0">
                              <a:latin typeface="Cambria Math" panose="02040503050406030204" pitchFamily="18" charset="0"/>
                            </a:rPr>
                            <m:t>𝒏</m:t>
                          </m:r>
                        </m:sub>
                      </m:sSub>
                      <m:r>
                        <a:rPr lang="en-AU" b="1" i="0" smtClean="0">
                          <a:latin typeface="Cambria Math" panose="02040503050406030204" pitchFamily="18" charset="0"/>
                        </a:rPr>
                        <m:t>+</m:t>
                      </m:r>
                      <m:r>
                        <a:rPr lang="en-AU" b="1" i="0" smtClean="0">
                          <a:latin typeface="Cambria Math" panose="02040503050406030204" pitchFamily="18" charset="0"/>
                        </a:rPr>
                        <m:t>𝟑</m:t>
                      </m:r>
                      <m:r>
                        <a:rPr lang="en-AU" b="1" i="0" smtClean="0">
                          <a:latin typeface="Cambria Math" panose="02040503050406030204" pitchFamily="18" charset="0"/>
                        </a:rPr>
                        <m:t> , </m:t>
                      </m:r>
                      <m:sSub>
                        <m:sSubPr>
                          <m:ctrlPr>
                            <a:rPr lang="en-AU" b="1" i="1" smtClean="0">
                              <a:latin typeface="Cambria Math" panose="02040503050406030204" pitchFamily="18" charset="0"/>
                            </a:rPr>
                          </m:ctrlPr>
                        </m:sSubPr>
                        <m:e>
                          <m:r>
                            <a:rPr lang="en-AU" b="1" i="1" smtClean="0">
                              <a:latin typeface="Cambria Math" panose="02040503050406030204" pitchFamily="18" charset="0"/>
                            </a:rPr>
                            <m:t>         </m:t>
                          </m:r>
                          <m:r>
                            <a:rPr lang="en-AU" b="1" i="1" smtClean="0">
                              <a:latin typeface="Cambria Math" panose="02040503050406030204" pitchFamily="18" charset="0"/>
                            </a:rPr>
                            <m:t>𝑻</m:t>
                          </m:r>
                        </m:e>
                        <m:sub>
                          <m:r>
                            <a:rPr lang="en-AU" b="1" i="1" smtClean="0">
                              <a:latin typeface="Cambria Math" panose="02040503050406030204" pitchFamily="18" charset="0"/>
                            </a:rPr>
                            <m:t>𝟏</m:t>
                          </m:r>
                        </m:sub>
                      </m:sSub>
                      <m:r>
                        <a:rPr lang="en-AU" b="1" i="1" smtClean="0">
                          <a:latin typeface="Cambria Math" panose="02040503050406030204" pitchFamily="18" charset="0"/>
                        </a:rPr>
                        <m:t>=</m:t>
                      </m:r>
                      <m:r>
                        <a:rPr lang="en-AU" b="1" i="1" smtClean="0">
                          <a:latin typeface="Cambria Math" panose="02040503050406030204" pitchFamily="18" charset="0"/>
                        </a:rPr>
                        <m:t>𝟓</m:t>
                      </m:r>
                    </m:oMath>
                  </m:oMathPara>
                </a14:m>
                <a:endParaRPr lang="en-AU" b="1" dirty="0"/>
              </a:p>
            </p:txBody>
          </p:sp>
        </mc:Choice>
        <mc:Fallback xmlns="">
          <p:sp>
            <p:nvSpPr>
              <p:cNvPr id="5" name="TextBox 4">
                <a:extLst>
                  <a:ext uri="{FF2B5EF4-FFF2-40B4-BE49-F238E27FC236}">
                    <a16:creationId xmlns:a16="http://schemas.microsoft.com/office/drawing/2014/main" id="{8B276A43-F9D5-4309-8DF8-9F98798F932C}"/>
                  </a:ext>
                </a:extLst>
              </p:cNvPr>
              <p:cNvSpPr txBox="1">
                <a:spLocks noRot="1" noChangeAspect="1" noMove="1" noResize="1" noEditPoints="1" noAdjustHandles="1" noChangeArrowheads="1" noChangeShapeType="1" noTextEdit="1"/>
              </p:cNvSpPr>
              <p:nvPr/>
            </p:nvSpPr>
            <p:spPr>
              <a:xfrm>
                <a:off x="5433133" y="3027518"/>
                <a:ext cx="2981714" cy="923330"/>
              </a:xfrm>
              <a:prstGeom prst="rect">
                <a:avLst/>
              </a:prstGeom>
              <a:blipFill>
                <a:blip r:embed="rId2"/>
                <a:stretch>
                  <a:fillRect l="-1636" t="-3974"/>
                </a:stretch>
              </a:blipFill>
            </p:spPr>
            <p:txBody>
              <a:bodyPr/>
              <a:lstStyle/>
              <a:p>
                <a:r>
                  <a:rPr lang="en-AU">
                    <a:noFill/>
                  </a:rPr>
                  <a:t> </a:t>
                </a:r>
              </a:p>
            </p:txBody>
          </p:sp>
        </mc:Fallback>
      </mc:AlternateContent>
      <p:sp>
        <p:nvSpPr>
          <p:cNvPr id="7" name="TextBox 6">
            <a:extLst>
              <a:ext uri="{FF2B5EF4-FFF2-40B4-BE49-F238E27FC236}">
                <a16:creationId xmlns:a16="http://schemas.microsoft.com/office/drawing/2014/main" id="{C7F599DB-F14F-46A5-80D6-535512DB546C}"/>
              </a:ext>
            </a:extLst>
          </p:cNvPr>
          <p:cNvSpPr txBox="1"/>
          <p:nvPr/>
        </p:nvSpPr>
        <p:spPr>
          <a:xfrm>
            <a:off x="4133181" y="4874202"/>
            <a:ext cx="6987041" cy="369332"/>
          </a:xfrm>
          <a:prstGeom prst="rect">
            <a:avLst/>
          </a:prstGeom>
          <a:noFill/>
        </p:spPr>
        <p:txBody>
          <a:bodyPr wrap="none" rtlCol="0">
            <a:spAutoFit/>
          </a:bodyPr>
          <a:lstStyle/>
          <a:p>
            <a:r>
              <a:rPr lang="en-AU" dirty="0"/>
              <a:t>The next term is equal to the previous term plus 3, and the first term is 5</a:t>
            </a:r>
          </a:p>
        </p:txBody>
      </p:sp>
      <p:sp>
        <p:nvSpPr>
          <p:cNvPr id="8" name="Cloud 7">
            <a:extLst>
              <a:ext uri="{FF2B5EF4-FFF2-40B4-BE49-F238E27FC236}">
                <a16:creationId xmlns:a16="http://schemas.microsoft.com/office/drawing/2014/main" id="{83646F37-00FF-41AA-9A52-79464EBB8EF0}"/>
              </a:ext>
            </a:extLst>
          </p:cNvPr>
          <p:cNvSpPr/>
          <p:nvPr/>
        </p:nvSpPr>
        <p:spPr>
          <a:xfrm>
            <a:off x="8650127" y="1893122"/>
            <a:ext cx="3506680" cy="214120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In an exam this is worth 2 marks, 1 for the rule and 1 for stating the first term</a:t>
            </a:r>
          </a:p>
        </p:txBody>
      </p:sp>
    </p:spTree>
    <p:extLst>
      <p:ext uri="{BB962C8B-B14F-4D97-AF65-F5344CB8AC3E}">
        <p14:creationId xmlns:p14="http://schemas.microsoft.com/office/powerpoint/2010/main" val="364623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E21A2-5751-45A6-B523-9DDB03CF518E}"/>
              </a:ext>
            </a:extLst>
          </p:cNvPr>
          <p:cNvSpPr>
            <a:spLocks noGrp="1"/>
          </p:cNvSpPr>
          <p:nvPr>
            <p:ph type="title"/>
          </p:nvPr>
        </p:nvSpPr>
        <p:spPr/>
        <p:txBody>
          <a:bodyPr/>
          <a:lstStyle/>
          <a:p>
            <a:r>
              <a:rPr lang="en-AU" b="1" dirty="0"/>
              <a:t>Try these please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1CF660-DF13-4D9A-BE83-89E15B7675C5}"/>
                  </a:ext>
                </a:extLst>
              </p:cNvPr>
              <p:cNvSpPr>
                <a:spLocks noGrp="1"/>
              </p:cNvSpPr>
              <p:nvPr>
                <p:ph idx="1"/>
              </p:nvPr>
            </p:nvSpPr>
            <p:spPr/>
            <p:txBody>
              <a:bodyPr/>
              <a:lstStyle/>
              <a:p>
                <a:pPr marL="0" indent="0">
                  <a:buNone/>
                </a:pPr>
                <a:r>
                  <a:rPr lang="en-AU" dirty="0"/>
                  <a:t>Find the recursive rules for the following;</a:t>
                </a:r>
              </a:p>
              <a:p>
                <a:pPr marL="0" indent="0">
                  <a:buNone/>
                </a:pPr>
                <a:endParaRPr lang="en-AU" dirty="0"/>
              </a:p>
              <a:p>
                <a:pPr marL="514350" indent="-514350">
                  <a:buAutoNum type="alphaLcParenR"/>
                </a:pPr>
                <a:r>
                  <a:rPr lang="en-AU" dirty="0"/>
                  <a:t>73, 68, 63, 58, 53, 48,….</a:t>
                </a:r>
              </a:p>
              <a:p>
                <a:pPr marL="514350" indent="-514350">
                  <a:buAutoNum type="alphaLcParenR"/>
                </a:pPr>
                <a:r>
                  <a:rPr lang="en-AU" dirty="0"/>
                  <a:t>6, 12, 24, 48, 96,…</a:t>
                </a:r>
              </a:p>
              <a:p>
                <a:pPr marL="514350" indent="-514350">
                  <a:buAutoNum type="alphaLcParenR"/>
                </a:pPr>
                <a:endParaRPr lang="en-AU" dirty="0"/>
              </a:p>
              <a:p>
                <a:pPr marL="0" indent="0">
                  <a:buNone/>
                </a:pPr>
                <a:r>
                  <a:rPr lang="en-AU" dirty="0"/>
                  <a:t>Write the first 5 terms for the following sequence: </a:t>
                </a:r>
              </a:p>
              <a:p>
                <a:pPr marL="0" indent="0">
                  <a:buNone/>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r>
                            <a:rPr lang="en-AU" b="1" i="1">
                              <a:latin typeface="Cambria Math" panose="02040503050406030204" pitchFamily="18" charset="0"/>
                            </a:rPr>
                            <m:t>+</m:t>
                          </m:r>
                          <m:r>
                            <a:rPr lang="en-AU" b="1" i="1">
                              <a:latin typeface="Cambria Math" panose="02040503050406030204" pitchFamily="18" charset="0"/>
                            </a:rPr>
                            <m:t>𝟏</m:t>
                          </m:r>
                        </m:sub>
                      </m:sSub>
                      <m:r>
                        <a:rPr lang="en-AU" b="1" i="1">
                          <a:latin typeface="Cambria Math" panose="02040503050406030204" pitchFamily="18" charset="0"/>
                        </a:rPr>
                        <m:t>= </m:t>
                      </m:r>
                      <m:sSub>
                        <m:sSubPr>
                          <m:ctrlPr>
                            <a:rPr lang="en-AU" b="1" i="1">
                              <a:latin typeface="Cambria Math" panose="02040503050406030204" pitchFamily="18" charset="0"/>
                            </a:rPr>
                          </m:ctrlPr>
                        </m:sSubPr>
                        <m:e>
                          <m:r>
                            <a:rPr lang="en-AU" b="1" i="1" smtClean="0">
                              <a:latin typeface="Cambria Math" panose="02040503050406030204" pitchFamily="18" charset="0"/>
                            </a:rPr>
                            <m:t>𝟐</m:t>
                          </m:r>
                          <m:r>
                            <a:rPr lang="en-AU" b="1" i="1">
                              <a:latin typeface="Cambria Math" panose="02040503050406030204" pitchFamily="18" charset="0"/>
                            </a:rPr>
                            <m:t>𝑻</m:t>
                          </m:r>
                        </m:e>
                        <m:sub>
                          <m:r>
                            <a:rPr lang="en-AU" b="1" i="1">
                              <a:latin typeface="Cambria Math" panose="02040503050406030204" pitchFamily="18" charset="0"/>
                            </a:rPr>
                            <m:t>𝒏</m:t>
                          </m:r>
                        </m:sub>
                      </m:sSub>
                      <m:r>
                        <a:rPr lang="en-AU" b="1">
                          <a:latin typeface="Cambria Math" panose="02040503050406030204" pitchFamily="18" charset="0"/>
                        </a:rPr>
                        <m:t>+</m:t>
                      </m:r>
                      <m:r>
                        <a:rPr lang="en-AU" b="1">
                          <a:latin typeface="Cambria Math" panose="02040503050406030204" pitchFamily="18" charset="0"/>
                        </a:rPr>
                        <m:t>𝟑</m:t>
                      </m:r>
                      <m:r>
                        <a:rPr lang="en-AU" b="1">
                          <a:latin typeface="Cambria Math" panose="02040503050406030204" pitchFamily="18" charset="0"/>
                        </a:rPr>
                        <m:t> , </m:t>
                      </m:r>
                      <m:sSub>
                        <m:sSubPr>
                          <m:ctrlPr>
                            <a:rPr lang="en-AU" b="1" i="1">
                              <a:latin typeface="Cambria Math" panose="02040503050406030204" pitchFamily="18" charset="0"/>
                            </a:rPr>
                          </m:ctrlPr>
                        </m:sSubPr>
                        <m:e>
                          <m:r>
                            <a:rPr lang="en-AU" b="1" i="1">
                              <a:latin typeface="Cambria Math" panose="02040503050406030204" pitchFamily="18" charset="0"/>
                            </a:rPr>
                            <m:t>         </m:t>
                          </m:r>
                          <m:r>
                            <a:rPr lang="en-AU" b="1" i="1">
                              <a:latin typeface="Cambria Math" panose="02040503050406030204" pitchFamily="18" charset="0"/>
                            </a:rPr>
                            <m:t>𝑻</m:t>
                          </m:r>
                        </m:e>
                        <m:sub>
                          <m:r>
                            <a:rPr lang="en-AU" b="1" i="1">
                              <a:latin typeface="Cambria Math" panose="02040503050406030204" pitchFamily="18" charset="0"/>
                            </a:rPr>
                            <m:t>𝟏</m:t>
                          </m:r>
                        </m:sub>
                      </m:sSub>
                      <m:r>
                        <a:rPr lang="en-AU" b="1" i="1">
                          <a:latin typeface="Cambria Math" panose="02040503050406030204" pitchFamily="18" charset="0"/>
                        </a:rPr>
                        <m:t>=</m:t>
                      </m:r>
                      <m:r>
                        <a:rPr lang="en-AU" b="1" i="1" smtClean="0">
                          <a:latin typeface="Cambria Math" panose="02040503050406030204" pitchFamily="18" charset="0"/>
                        </a:rPr>
                        <m:t>𝟔</m:t>
                      </m:r>
                    </m:oMath>
                  </m:oMathPara>
                </a14:m>
                <a:endParaRPr lang="en-AU" dirty="0"/>
              </a:p>
            </p:txBody>
          </p:sp>
        </mc:Choice>
        <mc:Fallback xmlns="">
          <p:sp>
            <p:nvSpPr>
              <p:cNvPr id="3" name="Content Placeholder 2">
                <a:extLst>
                  <a:ext uri="{FF2B5EF4-FFF2-40B4-BE49-F238E27FC236}">
                    <a16:creationId xmlns:a16="http://schemas.microsoft.com/office/drawing/2014/main" id="{221CF660-DF13-4D9A-BE83-89E15B7675C5}"/>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2BC9FD9-9EA0-4D70-83EF-D8866E8AAD65}"/>
                  </a:ext>
                </a:extLst>
              </p:cNvPr>
              <p:cNvSpPr txBox="1"/>
              <p:nvPr/>
            </p:nvSpPr>
            <p:spPr>
              <a:xfrm>
                <a:off x="8602462" y="2290439"/>
                <a:ext cx="3416203" cy="1477328"/>
              </a:xfrm>
              <a:prstGeom prst="rect">
                <a:avLst/>
              </a:prstGeom>
              <a:noFill/>
            </p:spPr>
            <p:txBody>
              <a:bodyPr wrap="square" rtlCol="0">
                <a:spAutoFit/>
              </a:bodyPr>
              <a:lstStyle/>
              <a:p>
                <a:r>
                  <a:rPr lang="en-AU" b="1" dirty="0">
                    <a:solidFill>
                      <a:srgbClr val="FF0000"/>
                    </a:solidFill>
                  </a:rPr>
                  <a:t>Answers:</a:t>
                </a:r>
              </a:p>
              <a:p>
                <a:pPr marL="342900" indent="-342900">
                  <a:buAutoNum type="alphaLcParenR"/>
                </a:pPr>
                <a14:m>
                  <m:oMath xmlns:m="http://schemas.openxmlformats.org/officeDocument/2006/math">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𝑻</m:t>
                        </m:r>
                      </m:e>
                      <m:sub>
                        <m:r>
                          <a:rPr lang="en-AU" b="1" i="1">
                            <a:solidFill>
                              <a:srgbClr val="FF0000"/>
                            </a:solidFill>
                            <a:latin typeface="Cambria Math" panose="02040503050406030204" pitchFamily="18" charset="0"/>
                          </a:rPr>
                          <m:t>𝒏</m:t>
                        </m:r>
                        <m:r>
                          <a:rPr lang="en-AU" b="1" i="1">
                            <a:solidFill>
                              <a:srgbClr val="FF0000"/>
                            </a:solidFill>
                            <a:latin typeface="Cambria Math" panose="02040503050406030204" pitchFamily="18" charset="0"/>
                          </a:rPr>
                          <m:t>+</m:t>
                        </m:r>
                        <m:r>
                          <a:rPr lang="en-AU" b="1" i="1">
                            <a:solidFill>
                              <a:srgbClr val="FF0000"/>
                            </a:solidFill>
                            <a:latin typeface="Cambria Math" panose="02040503050406030204" pitchFamily="18" charset="0"/>
                          </a:rPr>
                          <m:t>𝟏</m:t>
                        </m:r>
                      </m:sub>
                    </m:sSub>
                    <m:r>
                      <a:rPr lang="en-AU" b="1" i="1">
                        <a:solidFill>
                          <a:srgbClr val="FF0000"/>
                        </a:solidFill>
                        <a:latin typeface="Cambria Math" panose="02040503050406030204" pitchFamily="18" charset="0"/>
                      </a:rPr>
                      <m:t>= </m:t>
                    </m:r>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𝑻</m:t>
                        </m:r>
                      </m:e>
                      <m:sub>
                        <m:r>
                          <a:rPr lang="en-AU" b="1" i="1">
                            <a:solidFill>
                              <a:srgbClr val="FF0000"/>
                            </a:solidFill>
                            <a:latin typeface="Cambria Math" panose="02040503050406030204" pitchFamily="18" charset="0"/>
                          </a:rPr>
                          <m:t>𝒏</m:t>
                        </m:r>
                      </m:sub>
                    </m:sSub>
                    <m:r>
                      <a:rPr lang="en-AU" b="1" i="0" smtClean="0">
                        <a:solidFill>
                          <a:srgbClr val="FF0000"/>
                        </a:solidFill>
                        <a:latin typeface="Cambria Math" panose="02040503050406030204" pitchFamily="18" charset="0"/>
                      </a:rPr>
                      <m:t>−</m:t>
                    </m:r>
                    <m:r>
                      <a:rPr lang="en-AU" b="1" i="0" smtClean="0">
                        <a:solidFill>
                          <a:srgbClr val="FF0000"/>
                        </a:solidFill>
                        <a:latin typeface="Cambria Math" panose="02040503050406030204" pitchFamily="18" charset="0"/>
                      </a:rPr>
                      <m:t>𝟓</m:t>
                    </m:r>
                    <m:r>
                      <a:rPr lang="en-AU" b="1">
                        <a:solidFill>
                          <a:srgbClr val="FF0000"/>
                        </a:solidFill>
                        <a:latin typeface="Cambria Math" panose="02040503050406030204" pitchFamily="18" charset="0"/>
                      </a:rPr>
                      <m:t> , </m:t>
                    </m:r>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         </m:t>
                        </m:r>
                        <m:r>
                          <a:rPr lang="en-AU" b="1" i="1">
                            <a:solidFill>
                              <a:srgbClr val="FF0000"/>
                            </a:solidFill>
                            <a:latin typeface="Cambria Math" panose="02040503050406030204" pitchFamily="18" charset="0"/>
                          </a:rPr>
                          <m:t>𝑻</m:t>
                        </m:r>
                      </m:e>
                      <m:sub>
                        <m:r>
                          <a:rPr lang="en-AU" b="1" i="1">
                            <a:solidFill>
                              <a:srgbClr val="FF0000"/>
                            </a:solidFill>
                            <a:latin typeface="Cambria Math" panose="02040503050406030204" pitchFamily="18" charset="0"/>
                          </a:rPr>
                          <m:t>𝟏</m:t>
                        </m:r>
                      </m:sub>
                    </m:sSub>
                    <m:r>
                      <a:rPr lang="en-AU" b="1" i="1">
                        <a:solidFill>
                          <a:srgbClr val="FF0000"/>
                        </a:solidFill>
                        <a:latin typeface="Cambria Math" panose="02040503050406030204" pitchFamily="18" charset="0"/>
                      </a:rPr>
                      <m:t>=</m:t>
                    </m:r>
                    <m:r>
                      <a:rPr lang="en-AU" b="1" i="1" smtClean="0">
                        <a:solidFill>
                          <a:srgbClr val="FF0000"/>
                        </a:solidFill>
                        <a:latin typeface="Cambria Math" panose="02040503050406030204" pitchFamily="18" charset="0"/>
                      </a:rPr>
                      <m:t>𝟕𝟑</m:t>
                    </m:r>
                  </m:oMath>
                </a14:m>
                <a:endParaRPr lang="en-AU" b="1" dirty="0">
                  <a:solidFill>
                    <a:srgbClr val="FF0000"/>
                  </a:solidFill>
                </a:endParaRPr>
              </a:p>
              <a:p>
                <a:pPr marL="342900" indent="-342900">
                  <a:buAutoNum type="alphaLcParenR"/>
                </a:pPr>
                <a14:m>
                  <m:oMath xmlns:m="http://schemas.openxmlformats.org/officeDocument/2006/math">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𝑻</m:t>
                        </m:r>
                      </m:e>
                      <m:sub>
                        <m:r>
                          <a:rPr lang="en-AU" b="1" i="1">
                            <a:solidFill>
                              <a:srgbClr val="FF0000"/>
                            </a:solidFill>
                            <a:latin typeface="Cambria Math" panose="02040503050406030204" pitchFamily="18" charset="0"/>
                          </a:rPr>
                          <m:t>𝒏</m:t>
                        </m:r>
                        <m:r>
                          <a:rPr lang="en-AU" b="1" i="1">
                            <a:solidFill>
                              <a:srgbClr val="FF0000"/>
                            </a:solidFill>
                            <a:latin typeface="Cambria Math" panose="02040503050406030204" pitchFamily="18" charset="0"/>
                          </a:rPr>
                          <m:t>+</m:t>
                        </m:r>
                        <m:r>
                          <a:rPr lang="en-AU" b="1" i="1">
                            <a:solidFill>
                              <a:srgbClr val="FF0000"/>
                            </a:solidFill>
                            <a:latin typeface="Cambria Math" panose="02040503050406030204" pitchFamily="18" charset="0"/>
                          </a:rPr>
                          <m:t>𝟏</m:t>
                        </m:r>
                      </m:sub>
                    </m:sSub>
                    <m:r>
                      <a:rPr lang="en-AU" b="1" i="1">
                        <a:solidFill>
                          <a:srgbClr val="FF0000"/>
                        </a:solidFill>
                        <a:latin typeface="Cambria Math" panose="02040503050406030204" pitchFamily="18" charset="0"/>
                      </a:rPr>
                      <m:t>=</m:t>
                    </m:r>
                    <m:r>
                      <a:rPr lang="en-AU" b="1" i="1" smtClean="0">
                        <a:solidFill>
                          <a:srgbClr val="FF0000"/>
                        </a:solidFill>
                        <a:latin typeface="Cambria Math" panose="02040503050406030204" pitchFamily="18" charset="0"/>
                      </a:rPr>
                      <m:t>𝟐</m:t>
                    </m:r>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𝑻</m:t>
                        </m:r>
                      </m:e>
                      <m:sub>
                        <m:r>
                          <a:rPr lang="en-AU" b="1" i="1">
                            <a:solidFill>
                              <a:srgbClr val="FF0000"/>
                            </a:solidFill>
                            <a:latin typeface="Cambria Math" panose="02040503050406030204" pitchFamily="18" charset="0"/>
                          </a:rPr>
                          <m:t>𝒏</m:t>
                        </m:r>
                      </m:sub>
                    </m:sSub>
                    <m:r>
                      <a:rPr lang="en-AU" b="1">
                        <a:solidFill>
                          <a:srgbClr val="FF0000"/>
                        </a:solidFill>
                        <a:latin typeface="Cambria Math" panose="02040503050406030204" pitchFamily="18" charset="0"/>
                      </a:rPr>
                      <m:t> , </m:t>
                    </m:r>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         </m:t>
                        </m:r>
                        <m:r>
                          <a:rPr lang="en-AU" b="1" i="1">
                            <a:solidFill>
                              <a:srgbClr val="FF0000"/>
                            </a:solidFill>
                            <a:latin typeface="Cambria Math" panose="02040503050406030204" pitchFamily="18" charset="0"/>
                          </a:rPr>
                          <m:t>𝑻</m:t>
                        </m:r>
                      </m:e>
                      <m:sub>
                        <m:r>
                          <a:rPr lang="en-AU" b="1" i="1">
                            <a:solidFill>
                              <a:srgbClr val="FF0000"/>
                            </a:solidFill>
                            <a:latin typeface="Cambria Math" panose="02040503050406030204" pitchFamily="18" charset="0"/>
                          </a:rPr>
                          <m:t>𝟏</m:t>
                        </m:r>
                      </m:sub>
                    </m:sSub>
                    <m:r>
                      <a:rPr lang="en-AU" b="1" i="1">
                        <a:solidFill>
                          <a:srgbClr val="FF0000"/>
                        </a:solidFill>
                        <a:latin typeface="Cambria Math" panose="02040503050406030204" pitchFamily="18" charset="0"/>
                      </a:rPr>
                      <m:t>=</m:t>
                    </m:r>
                    <m:r>
                      <a:rPr lang="en-AU" b="1" i="1" smtClean="0">
                        <a:solidFill>
                          <a:srgbClr val="FF0000"/>
                        </a:solidFill>
                        <a:latin typeface="Cambria Math" panose="02040503050406030204" pitchFamily="18" charset="0"/>
                      </a:rPr>
                      <m:t>𝟔</m:t>
                    </m:r>
                  </m:oMath>
                </a14:m>
                <a:endParaRPr lang="en-AU" dirty="0">
                  <a:solidFill>
                    <a:srgbClr val="FF0000"/>
                  </a:solidFill>
                </a:endParaRPr>
              </a:p>
              <a:p>
                <a:pPr marL="342900" indent="-342900">
                  <a:buAutoNum type="alphaLcParenR"/>
                </a:pPr>
                <a:endParaRPr lang="en-AU" b="1" dirty="0">
                  <a:solidFill>
                    <a:srgbClr val="FF0000"/>
                  </a:solidFill>
                </a:endParaRPr>
              </a:p>
              <a:p>
                <a:r>
                  <a:rPr lang="en-AU" b="1" dirty="0">
                    <a:solidFill>
                      <a:srgbClr val="FF0000"/>
                    </a:solidFill>
                  </a:rPr>
                  <a:t>6, 15, 33, 69, 141</a:t>
                </a:r>
              </a:p>
            </p:txBody>
          </p:sp>
        </mc:Choice>
        <mc:Fallback xmlns="">
          <p:sp>
            <p:nvSpPr>
              <p:cNvPr id="4" name="TextBox 3">
                <a:extLst>
                  <a:ext uri="{FF2B5EF4-FFF2-40B4-BE49-F238E27FC236}">
                    <a16:creationId xmlns:a16="http://schemas.microsoft.com/office/drawing/2014/main" id="{E2BC9FD9-9EA0-4D70-83EF-D8866E8AAD65}"/>
                  </a:ext>
                </a:extLst>
              </p:cNvPr>
              <p:cNvSpPr txBox="1">
                <a:spLocks noRot="1" noChangeAspect="1" noMove="1" noResize="1" noEditPoints="1" noAdjustHandles="1" noChangeArrowheads="1" noChangeShapeType="1" noTextEdit="1"/>
              </p:cNvSpPr>
              <p:nvPr/>
            </p:nvSpPr>
            <p:spPr>
              <a:xfrm>
                <a:off x="8602462" y="2290439"/>
                <a:ext cx="3416203" cy="1477328"/>
              </a:xfrm>
              <a:prstGeom prst="rect">
                <a:avLst/>
              </a:prstGeom>
              <a:blipFill>
                <a:blip r:embed="rId3"/>
                <a:stretch>
                  <a:fillRect l="-1426" t="-2479" b="-5785"/>
                </a:stretch>
              </a:blipFill>
            </p:spPr>
            <p:txBody>
              <a:bodyPr/>
              <a:lstStyle/>
              <a:p>
                <a:r>
                  <a:rPr lang="en-AU">
                    <a:noFill/>
                  </a:rPr>
                  <a:t> </a:t>
                </a:r>
              </a:p>
            </p:txBody>
          </p:sp>
        </mc:Fallback>
      </mc:AlternateContent>
    </p:spTree>
    <p:extLst>
      <p:ext uri="{BB962C8B-B14F-4D97-AF65-F5344CB8AC3E}">
        <p14:creationId xmlns:p14="http://schemas.microsoft.com/office/powerpoint/2010/main" val="246139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E196-C786-4090-ABB8-9B9FBDBE2A8E}"/>
              </a:ext>
            </a:extLst>
          </p:cNvPr>
          <p:cNvSpPr>
            <a:spLocks noGrp="1"/>
          </p:cNvSpPr>
          <p:nvPr>
            <p:ph type="title"/>
          </p:nvPr>
        </p:nvSpPr>
        <p:spPr>
          <a:xfrm>
            <a:off x="255907" y="-147741"/>
            <a:ext cx="10515600" cy="1325563"/>
          </a:xfrm>
        </p:spPr>
        <p:txBody>
          <a:bodyPr/>
          <a:lstStyle/>
          <a:p>
            <a:r>
              <a:rPr lang="en-AU" b="1" dirty="0"/>
              <a:t>How to do this in your </a:t>
            </a:r>
            <a:r>
              <a:rPr lang="en-AU" b="1" dirty="0" err="1"/>
              <a:t>classpad</a:t>
            </a:r>
            <a:endParaRPr lang="en-AU" b="1" dirty="0"/>
          </a:p>
        </p:txBody>
      </p:sp>
      <p:pic>
        <p:nvPicPr>
          <p:cNvPr id="4" name="Picture 3">
            <a:extLst>
              <a:ext uri="{FF2B5EF4-FFF2-40B4-BE49-F238E27FC236}">
                <a16:creationId xmlns:a16="http://schemas.microsoft.com/office/drawing/2014/main" id="{7D7505C3-6FA3-40E0-B0F8-5A4F12BA1B13}"/>
              </a:ext>
            </a:extLst>
          </p:cNvPr>
          <p:cNvPicPr/>
          <p:nvPr/>
        </p:nvPicPr>
        <p:blipFill rotWithShape="1">
          <a:blip r:embed="rId2"/>
          <a:srcRect l="11741" t="35085" r="76262" b="36271"/>
          <a:stretch/>
        </p:blipFill>
        <p:spPr bwMode="auto">
          <a:xfrm>
            <a:off x="133557" y="1027905"/>
            <a:ext cx="2515867" cy="2115514"/>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5985D5F9-5ECD-4F80-9DAB-68A9190DE494}"/>
              </a:ext>
            </a:extLst>
          </p:cNvPr>
          <p:cNvPicPr/>
          <p:nvPr/>
        </p:nvPicPr>
        <p:blipFill rotWithShape="1">
          <a:blip r:embed="rId3"/>
          <a:srcRect l="11231" t="4746" r="75879" b="67797"/>
          <a:stretch/>
        </p:blipFill>
        <p:spPr bwMode="auto">
          <a:xfrm>
            <a:off x="2900870" y="1027905"/>
            <a:ext cx="2515866" cy="2115513"/>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6B6FAD57-B0F1-4E6E-BE01-CBF25C0F482D}"/>
              </a:ext>
            </a:extLst>
          </p:cNvPr>
          <p:cNvPicPr/>
          <p:nvPr/>
        </p:nvPicPr>
        <p:blipFill rotWithShape="1">
          <a:blip r:embed="rId4"/>
          <a:srcRect l="11614" t="4746" r="76517" b="68136"/>
          <a:stretch/>
        </p:blipFill>
        <p:spPr bwMode="auto">
          <a:xfrm>
            <a:off x="5818939" y="1062941"/>
            <a:ext cx="2424186" cy="2115513"/>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74B297CA-DD60-4468-9362-E9C82C2E33DC}"/>
              </a:ext>
            </a:extLst>
          </p:cNvPr>
          <p:cNvPicPr/>
          <p:nvPr/>
        </p:nvPicPr>
        <p:blipFill rotWithShape="1">
          <a:blip r:embed="rId5"/>
          <a:srcRect l="11487" t="5425" r="76006" b="60677"/>
          <a:stretch/>
        </p:blipFill>
        <p:spPr bwMode="auto">
          <a:xfrm>
            <a:off x="8984853" y="1027906"/>
            <a:ext cx="2216547" cy="2115513"/>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6FA5F662-71FF-4904-BE58-A40A7A3A0D5E}"/>
              </a:ext>
            </a:extLst>
          </p:cNvPr>
          <p:cNvPicPr/>
          <p:nvPr/>
        </p:nvPicPr>
        <p:blipFill rotWithShape="1">
          <a:blip r:embed="rId6"/>
          <a:srcRect l="11487" t="10509" r="76006" b="47118"/>
          <a:stretch/>
        </p:blipFill>
        <p:spPr bwMode="auto">
          <a:xfrm>
            <a:off x="1499673" y="4037872"/>
            <a:ext cx="2088232" cy="2366794"/>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BA91DA3D-9D49-4D09-8DD4-E672FAE3B25C}"/>
              </a:ext>
            </a:extLst>
          </p:cNvPr>
          <p:cNvSpPr txBox="1"/>
          <p:nvPr/>
        </p:nvSpPr>
        <p:spPr>
          <a:xfrm>
            <a:off x="371475" y="3376089"/>
            <a:ext cx="2084225" cy="369332"/>
          </a:xfrm>
          <a:prstGeom prst="rect">
            <a:avLst/>
          </a:prstGeom>
          <a:noFill/>
        </p:spPr>
        <p:txBody>
          <a:bodyPr wrap="none" rtlCol="0">
            <a:spAutoFit/>
          </a:bodyPr>
          <a:lstStyle/>
          <a:p>
            <a:r>
              <a:rPr lang="en-AU" dirty="0"/>
              <a:t>1. Open “Sequence”</a:t>
            </a:r>
          </a:p>
        </p:txBody>
      </p:sp>
      <p:sp>
        <p:nvSpPr>
          <p:cNvPr id="10" name="TextBox 9">
            <a:extLst>
              <a:ext uri="{FF2B5EF4-FFF2-40B4-BE49-F238E27FC236}">
                <a16:creationId xmlns:a16="http://schemas.microsoft.com/office/drawing/2014/main" id="{DC431860-E250-46CF-8AB8-540B331A2D9A}"/>
              </a:ext>
            </a:extLst>
          </p:cNvPr>
          <p:cNvSpPr txBox="1"/>
          <p:nvPr/>
        </p:nvSpPr>
        <p:spPr>
          <a:xfrm>
            <a:off x="3276189" y="3376089"/>
            <a:ext cx="1547603" cy="369332"/>
          </a:xfrm>
          <a:prstGeom prst="rect">
            <a:avLst/>
          </a:prstGeom>
          <a:noFill/>
        </p:spPr>
        <p:txBody>
          <a:bodyPr wrap="none" rtlCol="0">
            <a:spAutoFit/>
          </a:bodyPr>
          <a:lstStyle/>
          <a:p>
            <a:r>
              <a:rPr lang="en-AU" dirty="0"/>
              <a:t>2. Set the type</a:t>
            </a:r>
          </a:p>
        </p:txBody>
      </p:sp>
      <p:sp>
        <p:nvSpPr>
          <p:cNvPr id="11" name="TextBox 10">
            <a:extLst>
              <a:ext uri="{FF2B5EF4-FFF2-40B4-BE49-F238E27FC236}">
                <a16:creationId xmlns:a16="http://schemas.microsoft.com/office/drawing/2014/main" id="{26AD5A7B-3804-4AEF-B7BD-3C2980E9AD1D}"/>
              </a:ext>
            </a:extLst>
          </p:cNvPr>
          <p:cNvSpPr txBox="1"/>
          <p:nvPr/>
        </p:nvSpPr>
        <p:spPr>
          <a:xfrm>
            <a:off x="5904663" y="3329285"/>
            <a:ext cx="2245038" cy="646331"/>
          </a:xfrm>
          <a:prstGeom prst="rect">
            <a:avLst/>
          </a:prstGeom>
          <a:noFill/>
        </p:spPr>
        <p:txBody>
          <a:bodyPr wrap="square" rtlCol="0">
            <a:spAutoFit/>
          </a:bodyPr>
          <a:lstStyle/>
          <a:p>
            <a:r>
              <a:rPr lang="en-AU" dirty="0"/>
              <a:t>3. Use to type in the rule for the variables</a:t>
            </a:r>
          </a:p>
        </p:txBody>
      </p:sp>
      <p:sp>
        <p:nvSpPr>
          <p:cNvPr id="12" name="TextBox 11">
            <a:extLst>
              <a:ext uri="{FF2B5EF4-FFF2-40B4-BE49-F238E27FC236}">
                <a16:creationId xmlns:a16="http://schemas.microsoft.com/office/drawing/2014/main" id="{AA1B4A8F-0A34-4DB4-8037-C94316BBCFD0}"/>
              </a:ext>
            </a:extLst>
          </p:cNvPr>
          <p:cNvSpPr txBox="1"/>
          <p:nvPr/>
        </p:nvSpPr>
        <p:spPr>
          <a:xfrm>
            <a:off x="8734549" y="3380148"/>
            <a:ext cx="2944781" cy="369332"/>
          </a:xfrm>
          <a:prstGeom prst="rect">
            <a:avLst/>
          </a:prstGeom>
          <a:noFill/>
        </p:spPr>
        <p:txBody>
          <a:bodyPr wrap="none" rtlCol="0">
            <a:spAutoFit/>
          </a:bodyPr>
          <a:lstStyle/>
          <a:p>
            <a:r>
              <a:rPr lang="en-AU" dirty="0"/>
              <a:t>4. Number of terms in the list</a:t>
            </a:r>
          </a:p>
        </p:txBody>
      </p:sp>
      <p:sp>
        <p:nvSpPr>
          <p:cNvPr id="13" name="Oval 12">
            <a:extLst>
              <a:ext uri="{FF2B5EF4-FFF2-40B4-BE49-F238E27FC236}">
                <a16:creationId xmlns:a16="http://schemas.microsoft.com/office/drawing/2014/main" id="{1E96ADB9-2B04-4C0D-8545-11C6DC3CC8BB}"/>
              </a:ext>
            </a:extLst>
          </p:cNvPr>
          <p:cNvSpPr/>
          <p:nvPr/>
        </p:nvSpPr>
        <p:spPr>
          <a:xfrm>
            <a:off x="9402105" y="1414551"/>
            <a:ext cx="407722" cy="302045"/>
          </a:xfrm>
          <a:prstGeom prst="ellipse">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cxnSp>
        <p:nvCxnSpPr>
          <p:cNvPr id="15" name="Straight Arrow Connector 14">
            <a:extLst>
              <a:ext uri="{FF2B5EF4-FFF2-40B4-BE49-F238E27FC236}">
                <a16:creationId xmlns:a16="http://schemas.microsoft.com/office/drawing/2014/main" id="{D053C3B1-6365-4E22-97F6-20354353A778}"/>
              </a:ext>
            </a:extLst>
          </p:cNvPr>
          <p:cNvCxnSpPr>
            <a:cxnSpLocks/>
          </p:cNvCxnSpPr>
          <p:nvPr/>
        </p:nvCxnSpPr>
        <p:spPr>
          <a:xfrm flipH="1" flipV="1">
            <a:off x="9588210" y="1733550"/>
            <a:ext cx="106533" cy="164253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38A18C2-704C-44B5-B68F-269F284C3D4E}"/>
              </a:ext>
            </a:extLst>
          </p:cNvPr>
          <p:cNvSpPr txBox="1"/>
          <p:nvPr/>
        </p:nvSpPr>
        <p:spPr>
          <a:xfrm>
            <a:off x="3936177" y="4918229"/>
            <a:ext cx="6319230" cy="369332"/>
          </a:xfrm>
          <a:prstGeom prst="rect">
            <a:avLst/>
          </a:prstGeom>
          <a:noFill/>
        </p:spPr>
        <p:txBody>
          <a:bodyPr wrap="none" rtlCol="0">
            <a:spAutoFit/>
          </a:bodyPr>
          <a:lstStyle/>
          <a:p>
            <a:r>
              <a:rPr lang="en-AU" dirty="0"/>
              <a:t>5. Type in your rule and click the table button to bring up your list</a:t>
            </a:r>
          </a:p>
        </p:txBody>
      </p:sp>
      <p:sp>
        <p:nvSpPr>
          <p:cNvPr id="18" name="Oval 17">
            <a:extLst>
              <a:ext uri="{FF2B5EF4-FFF2-40B4-BE49-F238E27FC236}">
                <a16:creationId xmlns:a16="http://schemas.microsoft.com/office/drawing/2014/main" id="{54F48E6F-052E-4CCC-867C-AC259E71BFC2}"/>
              </a:ext>
            </a:extLst>
          </p:cNvPr>
          <p:cNvSpPr/>
          <p:nvPr/>
        </p:nvSpPr>
        <p:spPr>
          <a:xfrm>
            <a:off x="1473283" y="4069021"/>
            <a:ext cx="407722" cy="302045"/>
          </a:xfrm>
          <a:prstGeom prst="ellipse">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cxnSp>
        <p:nvCxnSpPr>
          <p:cNvPr id="19" name="Straight Arrow Connector 18">
            <a:extLst>
              <a:ext uri="{FF2B5EF4-FFF2-40B4-BE49-F238E27FC236}">
                <a16:creationId xmlns:a16="http://schemas.microsoft.com/office/drawing/2014/main" id="{B0206339-62A9-4764-9E70-DFF2D847BA5C}"/>
              </a:ext>
            </a:extLst>
          </p:cNvPr>
          <p:cNvCxnSpPr>
            <a:cxnSpLocks/>
            <a:stCxn id="17" idx="1"/>
          </p:cNvCxnSpPr>
          <p:nvPr/>
        </p:nvCxnSpPr>
        <p:spPr>
          <a:xfrm flipH="1" flipV="1">
            <a:off x="1863009" y="4319065"/>
            <a:ext cx="2073168" cy="78383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76838B68-8A81-4ED1-AE8F-31FA7E37B0E7}"/>
                  </a:ext>
                </a:extLst>
              </p:cNvPr>
              <p:cNvSpPr/>
              <p:nvPr/>
            </p:nvSpPr>
            <p:spPr>
              <a:xfrm>
                <a:off x="5450319" y="5489255"/>
                <a:ext cx="5430982" cy="1477328"/>
              </a:xfrm>
              <a:prstGeom prst="rect">
                <a:avLst/>
              </a:prstGeom>
            </p:spPr>
            <p:txBody>
              <a:bodyPr wrap="square">
                <a:spAutoFit/>
              </a:bodyPr>
              <a:lstStyle/>
              <a:p>
                <a:r>
                  <a:rPr lang="en-AU" b="1" dirty="0"/>
                  <a:t>Example:</a:t>
                </a:r>
                <a14:m>
                  <m:oMath xmlns:m="http://schemas.openxmlformats.org/officeDocument/2006/math">
                    <m:sSub>
                      <m:sSubPr>
                        <m:ctrlPr>
                          <a:rPr lang="en-AU" b="1" i="1" smtClean="0">
                            <a:latin typeface="Cambria Math" panose="02040503050406030204" pitchFamily="18" charset="0"/>
                          </a:rPr>
                        </m:ctrlPr>
                      </m:sSubPr>
                      <m:e>
                        <m:r>
                          <a:rPr lang="en-AU" b="1" i="1">
                            <a:latin typeface="Cambria Math" panose="02040503050406030204" pitchFamily="18" charset="0"/>
                          </a:rPr>
                          <m:t> </m:t>
                        </m:r>
                        <m:r>
                          <a:rPr lang="en-AU" b="1" i="1" smtClean="0">
                            <a:latin typeface="Cambria Math" panose="02040503050406030204" pitchFamily="18" charset="0"/>
                          </a:rPr>
                          <m:t>𝑭</m:t>
                        </m:r>
                        <m:r>
                          <a:rPr lang="en-AU" b="1" i="1">
                            <a:latin typeface="Cambria Math" panose="02040503050406030204" pitchFamily="18" charset="0"/>
                          </a:rPr>
                          <m:t>𝒊𝒏𝒅</m:t>
                        </m:r>
                        <m:r>
                          <a:rPr lang="en-AU" b="1" i="1">
                            <a:latin typeface="Cambria Math" panose="02040503050406030204" pitchFamily="18" charset="0"/>
                          </a:rPr>
                          <m:t> </m:t>
                        </m:r>
                        <m:r>
                          <a:rPr lang="en-AU" b="1" i="1">
                            <a:latin typeface="Cambria Math" panose="02040503050406030204" pitchFamily="18" charset="0"/>
                          </a:rPr>
                          <m:t>𝒕𝒉𝒆</m:t>
                        </m:r>
                        <m:r>
                          <a:rPr lang="en-AU" b="1" i="1">
                            <a:latin typeface="Cambria Math" panose="02040503050406030204" pitchFamily="18" charset="0"/>
                          </a:rPr>
                          <m:t> </m:t>
                        </m:r>
                        <m:r>
                          <a:rPr lang="en-AU" b="1" i="1">
                            <a:latin typeface="Cambria Math" panose="02040503050406030204" pitchFamily="18" charset="0"/>
                          </a:rPr>
                          <m:t>𝒇𝒊𝒓𝒔𝒕</m:t>
                        </m:r>
                        <m:r>
                          <a:rPr lang="en-AU" b="1" i="1">
                            <a:latin typeface="Cambria Math" panose="02040503050406030204" pitchFamily="18" charset="0"/>
                          </a:rPr>
                          <m:t> </m:t>
                        </m:r>
                        <m:r>
                          <a:rPr lang="en-AU" b="1" i="1">
                            <a:latin typeface="Cambria Math" panose="02040503050406030204" pitchFamily="18" charset="0"/>
                          </a:rPr>
                          <m:t>𝟓</m:t>
                        </m:r>
                        <m:r>
                          <a:rPr lang="en-AU" b="1" i="1">
                            <a:latin typeface="Cambria Math" panose="02040503050406030204" pitchFamily="18" charset="0"/>
                          </a:rPr>
                          <m:t> </m:t>
                        </m:r>
                        <m:r>
                          <a:rPr lang="en-AU" b="1" i="1">
                            <a:latin typeface="Cambria Math" panose="02040503050406030204" pitchFamily="18" charset="0"/>
                          </a:rPr>
                          <m:t>𝒕𝒆𝒓𝒎𝒔</m:t>
                        </m:r>
                        <m:r>
                          <a:rPr lang="en-AU" b="1" i="1">
                            <a:latin typeface="Cambria Math" panose="02040503050406030204" pitchFamily="18" charset="0"/>
                          </a:rPr>
                          <m:t> </m:t>
                        </m:r>
                      </m:e>
                      <m:sub/>
                    </m:sSub>
                  </m:oMath>
                </a14:m>
                <a:endParaRPr lang="en-AU"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r>
                            <a:rPr lang="en-AU" b="1" i="1" smtClean="0">
                              <a:latin typeface="Cambria Math" panose="02040503050406030204" pitchFamily="18" charset="0"/>
                            </a:rPr>
                            <m:t>+</m:t>
                          </m:r>
                          <m:r>
                            <a:rPr lang="en-AU" b="1" i="1" smtClean="0">
                              <a:latin typeface="Cambria Math" panose="02040503050406030204" pitchFamily="18" charset="0"/>
                            </a:rPr>
                            <m:t>𝟏</m:t>
                          </m:r>
                        </m:sub>
                      </m:sSub>
                      <m:r>
                        <a:rPr lang="en-AU" b="1" i="1">
                          <a:latin typeface="Cambria Math" panose="02040503050406030204" pitchFamily="18" charset="0"/>
                        </a:rPr>
                        <m:t> = </m:t>
                      </m:r>
                      <m:sSub>
                        <m:sSubPr>
                          <m:ctrlPr>
                            <a:rPr lang="en-AU" b="1" i="1">
                              <a:latin typeface="Cambria Math" panose="02040503050406030204" pitchFamily="18" charset="0"/>
                            </a:rPr>
                          </m:ctrlPr>
                        </m:sSubPr>
                        <m:e>
                          <m:r>
                            <a:rPr lang="en-AU" b="1" i="1">
                              <a:latin typeface="Cambria Math" panose="02040503050406030204" pitchFamily="18" charset="0"/>
                            </a:rPr>
                            <m:t>𝟐</m:t>
                          </m:r>
                          <m:r>
                            <a:rPr lang="en-AU" b="1" i="1">
                              <a:latin typeface="Cambria Math" panose="02040503050406030204" pitchFamily="18" charset="0"/>
                            </a:rPr>
                            <m:t>𝑻</m:t>
                          </m:r>
                        </m:e>
                        <m:sub>
                          <m:r>
                            <a:rPr lang="en-AU" b="1" i="1">
                              <a:latin typeface="Cambria Math" panose="02040503050406030204" pitchFamily="18" charset="0"/>
                            </a:rPr>
                            <m:t>𝒏</m:t>
                          </m:r>
                        </m:sub>
                      </m:sSub>
                      <m:r>
                        <a:rPr lang="en-AU" b="1">
                          <a:latin typeface="Cambria Math" panose="02040503050406030204" pitchFamily="18" charset="0"/>
                        </a:rPr>
                        <m:t>+</m:t>
                      </m:r>
                      <m:r>
                        <a:rPr lang="en-AU" b="1">
                          <a:latin typeface="Cambria Math" panose="02040503050406030204" pitchFamily="18" charset="0"/>
                        </a:rPr>
                        <m:t>𝟑</m:t>
                      </m:r>
                      <m:r>
                        <a:rPr lang="en-AU" b="1">
                          <a:latin typeface="Cambria Math" panose="02040503050406030204" pitchFamily="18" charset="0"/>
                        </a:rPr>
                        <m:t> , </m:t>
                      </m:r>
                      <m:sSub>
                        <m:sSubPr>
                          <m:ctrlPr>
                            <a:rPr lang="en-AU" b="1" i="1">
                              <a:latin typeface="Cambria Math" panose="02040503050406030204" pitchFamily="18" charset="0"/>
                            </a:rPr>
                          </m:ctrlPr>
                        </m:sSubPr>
                        <m:e>
                          <m:r>
                            <a:rPr lang="en-AU" b="1" i="1">
                              <a:latin typeface="Cambria Math" panose="02040503050406030204" pitchFamily="18" charset="0"/>
                            </a:rPr>
                            <m:t>         </m:t>
                          </m:r>
                          <m:r>
                            <a:rPr lang="en-AU" b="1" i="1">
                              <a:latin typeface="Cambria Math" panose="02040503050406030204" pitchFamily="18" charset="0"/>
                            </a:rPr>
                            <m:t>𝑻</m:t>
                          </m:r>
                        </m:e>
                        <m:sub>
                          <m:r>
                            <a:rPr lang="en-AU" b="1" i="1">
                              <a:latin typeface="Cambria Math" panose="02040503050406030204" pitchFamily="18" charset="0"/>
                            </a:rPr>
                            <m:t>𝟏</m:t>
                          </m:r>
                        </m:sub>
                      </m:sSub>
                      <m:r>
                        <a:rPr lang="en-AU" b="1" i="1">
                          <a:latin typeface="Cambria Math" panose="02040503050406030204" pitchFamily="18" charset="0"/>
                        </a:rPr>
                        <m:t>=</m:t>
                      </m:r>
                      <m:r>
                        <a:rPr lang="en-AU" b="1" i="1">
                          <a:latin typeface="Cambria Math" panose="02040503050406030204" pitchFamily="18" charset="0"/>
                        </a:rPr>
                        <m:t>𝟔</m:t>
                      </m:r>
                    </m:oMath>
                  </m:oMathPara>
                </a14:m>
                <a:endParaRPr lang="en-AU" dirty="0"/>
              </a:p>
              <a:p>
                <a:endParaRPr lang="en-AU" dirty="0"/>
              </a:p>
              <a:p>
                <a:r>
                  <a:rPr lang="en-AU" dirty="0"/>
                  <a:t>You should get </a:t>
                </a:r>
                <a:r>
                  <a:rPr lang="en-AU" b="1" dirty="0"/>
                  <a:t>6, 15, 33, 69, 141</a:t>
                </a:r>
              </a:p>
              <a:p>
                <a:endParaRPr lang="en-AU" dirty="0"/>
              </a:p>
            </p:txBody>
          </p:sp>
        </mc:Choice>
        <mc:Fallback xmlns="">
          <p:sp>
            <p:nvSpPr>
              <p:cNvPr id="22" name="Rectangle 21">
                <a:extLst>
                  <a:ext uri="{FF2B5EF4-FFF2-40B4-BE49-F238E27FC236}">
                    <a16:creationId xmlns:a16="http://schemas.microsoft.com/office/drawing/2014/main" id="{76838B68-8A81-4ED1-AE8F-31FA7E37B0E7}"/>
                  </a:ext>
                </a:extLst>
              </p:cNvPr>
              <p:cNvSpPr>
                <a:spLocks noRot="1" noChangeAspect="1" noMove="1" noResize="1" noEditPoints="1" noAdjustHandles="1" noChangeArrowheads="1" noChangeShapeType="1" noTextEdit="1"/>
              </p:cNvSpPr>
              <p:nvPr/>
            </p:nvSpPr>
            <p:spPr>
              <a:xfrm>
                <a:off x="5450319" y="5489255"/>
                <a:ext cx="5430982" cy="1477328"/>
              </a:xfrm>
              <a:prstGeom prst="rect">
                <a:avLst/>
              </a:prstGeom>
              <a:blipFill>
                <a:blip r:embed="rId7"/>
                <a:stretch>
                  <a:fillRect l="-898" t="-2058"/>
                </a:stretch>
              </a:blipFill>
            </p:spPr>
            <p:txBody>
              <a:bodyPr/>
              <a:lstStyle/>
              <a:p>
                <a:r>
                  <a:rPr lang="en-AU">
                    <a:noFill/>
                  </a:rPr>
                  <a:t> </a:t>
                </a:r>
              </a:p>
            </p:txBody>
          </p:sp>
        </mc:Fallback>
      </mc:AlternateContent>
      <p:sp>
        <p:nvSpPr>
          <p:cNvPr id="23" name="Rectangle 22">
            <a:extLst>
              <a:ext uri="{FF2B5EF4-FFF2-40B4-BE49-F238E27FC236}">
                <a16:creationId xmlns:a16="http://schemas.microsoft.com/office/drawing/2014/main" id="{6CB9D6A8-EC76-4E3E-8E3E-D2617D76429B}"/>
              </a:ext>
            </a:extLst>
          </p:cNvPr>
          <p:cNvSpPr/>
          <p:nvPr/>
        </p:nvSpPr>
        <p:spPr>
          <a:xfrm>
            <a:off x="5135418" y="5489255"/>
            <a:ext cx="5430982" cy="122936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317011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FA2DFD-A92D-46A0-9C31-BC7C5956789F}"/>
              </a:ext>
            </a:extLst>
          </p:cNvPr>
          <p:cNvPicPr/>
          <p:nvPr/>
        </p:nvPicPr>
        <p:blipFill rotWithShape="1">
          <a:blip r:embed="rId2"/>
          <a:srcRect l="11741" t="35085" r="76262" b="36271"/>
          <a:stretch/>
        </p:blipFill>
        <p:spPr bwMode="auto">
          <a:xfrm>
            <a:off x="186823" y="1295711"/>
            <a:ext cx="2515867" cy="2115514"/>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2CCB5FCF-4528-4176-AE48-7AFA160CD77C}"/>
              </a:ext>
            </a:extLst>
          </p:cNvPr>
          <p:cNvPicPr/>
          <p:nvPr/>
        </p:nvPicPr>
        <p:blipFill rotWithShape="1">
          <a:blip r:embed="rId3"/>
          <a:srcRect l="11231" t="4746" r="75879" b="67797"/>
          <a:stretch/>
        </p:blipFill>
        <p:spPr bwMode="auto">
          <a:xfrm>
            <a:off x="2954136" y="1295711"/>
            <a:ext cx="2515866" cy="2115513"/>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695099E9-B6A8-414A-A595-34D1EAEC1D13}"/>
              </a:ext>
            </a:extLst>
          </p:cNvPr>
          <p:cNvPicPr/>
          <p:nvPr/>
        </p:nvPicPr>
        <p:blipFill rotWithShape="1">
          <a:blip r:embed="rId4"/>
          <a:srcRect l="11614" t="4746" r="76517" b="68136"/>
          <a:stretch/>
        </p:blipFill>
        <p:spPr bwMode="auto">
          <a:xfrm>
            <a:off x="5872205" y="1330747"/>
            <a:ext cx="2424186" cy="2115513"/>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C73941FF-F15D-481D-9EF6-E31528F0A5F5}"/>
              </a:ext>
            </a:extLst>
          </p:cNvPr>
          <p:cNvPicPr/>
          <p:nvPr/>
        </p:nvPicPr>
        <p:blipFill rotWithShape="1">
          <a:blip r:embed="rId5"/>
          <a:srcRect l="11487" t="5425" r="76006" b="60677"/>
          <a:stretch/>
        </p:blipFill>
        <p:spPr bwMode="auto">
          <a:xfrm>
            <a:off x="9038119" y="1295712"/>
            <a:ext cx="2216547" cy="2115513"/>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A8CE6A14-7390-49A2-B690-0C44B73D57AB}"/>
              </a:ext>
            </a:extLst>
          </p:cNvPr>
          <p:cNvPicPr/>
          <p:nvPr/>
        </p:nvPicPr>
        <p:blipFill rotWithShape="1">
          <a:blip r:embed="rId6"/>
          <a:srcRect l="11487" t="10509" r="76006" b="47118"/>
          <a:stretch/>
        </p:blipFill>
        <p:spPr bwMode="auto">
          <a:xfrm>
            <a:off x="1552939" y="4305678"/>
            <a:ext cx="2088232" cy="2366794"/>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74A3175C-C32F-470C-9FCE-1A25F8F2F235}"/>
              </a:ext>
            </a:extLst>
          </p:cNvPr>
          <p:cNvSpPr txBox="1"/>
          <p:nvPr/>
        </p:nvSpPr>
        <p:spPr>
          <a:xfrm>
            <a:off x="424741" y="3643895"/>
            <a:ext cx="2084225" cy="369332"/>
          </a:xfrm>
          <a:prstGeom prst="rect">
            <a:avLst/>
          </a:prstGeom>
          <a:noFill/>
        </p:spPr>
        <p:txBody>
          <a:bodyPr wrap="square" rtlCol="0">
            <a:spAutoFit/>
          </a:bodyPr>
          <a:lstStyle/>
          <a:p>
            <a:r>
              <a:rPr lang="en-AU" dirty="0"/>
              <a:t>1. Open “Sequence”</a:t>
            </a:r>
          </a:p>
        </p:txBody>
      </p:sp>
      <p:sp>
        <p:nvSpPr>
          <p:cNvPr id="10" name="TextBox 9">
            <a:extLst>
              <a:ext uri="{FF2B5EF4-FFF2-40B4-BE49-F238E27FC236}">
                <a16:creationId xmlns:a16="http://schemas.microsoft.com/office/drawing/2014/main" id="{0BD13A77-6608-4EBD-B37E-F44838E41965}"/>
              </a:ext>
            </a:extLst>
          </p:cNvPr>
          <p:cNvSpPr txBox="1"/>
          <p:nvPr/>
        </p:nvSpPr>
        <p:spPr>
          <a:xfrm>
            <a:off x="3329455" y="3643895"/>
            <a:ext cx="1547603" cy="369332"/>
          </a:xfrm>
          <a:prstGeom prst="rect">
            <a:avLst/>
          </a:prstGeom>
          <a:noFill/>
        </p:spPr>
        <p:txBody>
          <a:bodyPr wrap="square" rtlCol="0">
            <a:spAutoFit/>
          </a:bodyPr>
          <a:lstStyle/>
          <a:p>
            <a:r>
              <a:rPr lang="en-AU" dirty="0"/>
              <a:t>2. Set the type</a:t>
            </a:r>
          </a:p>
        </p:txBody>
      </p:sp>
      <p:sp>
        <p:nvSpPr>
          <p:cNvPr id="11" name="TextBox 10">
            <a:extLst>
              <a:ext uri="{FF2B5EF4-FFF2-40B4-BE49-F238E27FC236}">
                <a16:creationId xmlns:a16="http://schemas.microsoft.com/office/drawing/2014/main" id="{8E7F952F-1E07-43F8-92BD-3F046548E4EE}"/>
              </a:ext>
            </a:extLst>
          </p:cNvPr>
          <p:cNvSpPr txBox="1"/>
          <p:nvPr/>
        </p:nvSpPr>
        <p:spPr>
          <a:xfrm>
            <a:off x="5957929" y="3597091"/>
            <a:ext cx="2245038" cy="646331"/>
          </a:xfrm>
          <a:prstGeom prst="rect">
            <a:avLst/>
          </a:prstGeom>
          <a:noFill/>
        </p:spPr>
        <p:txBody>
          <a:bodyPr wrap="square" rtlCol="0">
            <a:spAutoFit/>
          </a:bodyPr>
          <a:lstStyle/>
          <a:p>
            <a:r>
              <a:rPr lang="en-AU" dirty="0"/>
              <a:t>3. Use to type in the rule for the variables</a:t>
            </a:r>
          </a:p>
        </p:txBody>
      </p:sp>
      <p:sp>
        <p:nvSpPr>
          <p:cNvPr id="12" name="TextBox 11">
            <a:extLst>
              <a:ext uri="{FF2B5EF4-FFF2-40B4-BE49-F238E27FC236}">
                <a16:creationId xmlns:a16="http://schemas.microsoft.com/office/drawing/2014/main" id="{27C247F7-827C-42E1-AA89-4ADC3C01239B}"/>
              </a:ext>
            </a:extLst>
          </p:cNvPr>
          <p:cNvSpPr txBox="1"/>
          <p:nvPr/>
        </p:nvSpPr>
        <p:spPr>
          <a:xfrm>
            <a:off x="8787815" y="3647954"/>
            <a:ext cx="2944781" cy="369332"/>
          </a:xfrm>
          <a:prstGeom prst="rect">
            <a:avLst/>
          </a:prstGeom>
          <a:noFill/>
        </p:spPr>
        <p:txBody>
          <a:bodyPr wrap="square" rtlCol="0">
            <a:spAutoFit/>
          </a:bodyPr>
          <a:lstStyle/>
          <a:p>
            <a:r>
              <a:rPr lang="en-AU" dirty="0"/>
              <a:t>4. Number of terms in the list</a:t>
            </a:r>
          </a:p>
        </p:txBody>
      </p:sp>
      <p:sp>
        <p:nvSpPr>
          <p:cNvPr id="13" name="Oval 12">
            <a:extLst>
              <a:ext uri="{FF2B5EF4-FFF2-40B4-BE49-F238E27FC236}">
                <a16:creationId xmlns:a16="http://schemas.microsoft.com/office/drawing/2014/main" id="{459078D8-7A87-469A-8FBB-55252B8240BE}"/>
              </a:ext>
            </a:extLst>
          </p:cNvPr>
          <p:cNvSpPr/>
          <p:nvPr/>
        </p:nvSpPr>
        <p:spPr>
          <a:xfrm>
            <a:off x="9455371" y="1682357"/>
            <a:ext cx="407722" cy="302045"/>
          </a:xfrm>
          <a:prstGeom prst="ellipse">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cxnSp>
        <p:nvCxnSpPr>
          <p:cNvPr id="14" name="Straight Arrow Connector 13">
            <a:extLst>
              <a:ext uri="{FF2B5EF4-FFF2-40B4-BE49-F238E27FC236}">
                <a16:creationId xmlns:a16="http://schemas.microsoft.com/office/drawing/2014/main" id="{2ECF32EB-810C-4D1F-967C-41116B7BE9D3}"/>
              </a:ext>
            </a:extLst>
          </p:cNvPr>
          <p:cNvCxnSpPr>
            <a:cxnSpLocks/>
          </p:cNvCxnSpPr>
          <p:nvPr/>
        </p:nvCxnSpPr>
        <p:spPr>
          <a:xfrm flipH="1" flipV="1">
            <a:off x="9641476" y="2001356"/>
            <a:ext cx="106533" cy="164253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DABB07C-A3A0-4507-9DF5-56755A8EAB8D}"/>
              </a:ext>
            </a:extLst>
          </p:cNvPr>
          <p:cNvSpPr txBox="1"/>
          <p:nvPr/>
        </p:nvSpPr>
        <p:spPr>
          <a:xfrm>
            <a:off x="4694686" y="5297184"/>
            <a:ext cx="6319230" cy="369332"/>
          </a:xfrm>
          <a:prstGeom prst="rect">
            <a:avLst/>
          </a:prstGeom>
          <a:noFill/>
        </p:spPr>
        <p:txBody>
          <a:bodyPr wrap="square" rtlCol="0">
            <a:spAutoFit/>
          </a:bodyPr>
          <a:lstStyle/>
          <a:p>
            <a:r>
              <a:rPr lang="en-AU" dirty="0"/>
              <a:t>5. Type in your rule and click the table button to bring up your list</a:t>
            </a:r>
          </a:p>
        </p:txBody>
      </p:sp>
      <p:sp>
        <p:nvSpPr>
          <p:cNvPr id="16" name="Oval 15">
            <a:extLst>
              <a:ext uri="{FF2B5EF4-FFF2-40B4-BE49-F238E27FC236}">
                <a16:creationId xmlns:a16="http://schemas.microsoft.com/office/drawing/2014/main" id="{4E7C9B55-2D2B-4484-9F1B-AC23CAB4C768}"/>
              </a:ext>
            </a:extLst>
          </p:cNvPr>
          <p:cNvSpPr/>
          <p:nvPr/>
        </p:nvSpPr>
        <p:spPr>
          <a:xfrm>
            <a:off x="1526549" y="4336827"/>
            <a:ext cx="407722" cy="302045"/>
          </a:xfrm>
          <a:prstGeom prst="ellipse">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AU"/>
          </a:p>
        </p:txBody>
      </p:sp>
      <p:cxnSp>
        <p:nvCxnSpPr>
          <p:cNvPr id="17" name="Straight Arrow Connector 16">
            <a:extLst>
              <a:ext uri="{FF2B5EF4-FFF2-40B4-BE49-F238E27FC236}">
                <a16:creationId xmlns:a16="http://schemas.microsoft.com/office/drawing/2014/main" id="{F317DE1D-6520-4A6C-A21F-75183082CEA1}"/>
              </a:ext>
            </a:extLst>
          </p:cNvPr>
          <p:cNvCxnSpPr>
            <a:cxnSpLocks/>
          </p:cNvCxnSpPr>
          <p:nvPr/>
        </p:nvCxnSpPr>
        <p:spPr>
          <a:xfrm flipH="1" flipV="1">
            <a:off x="1934271" y="4537335"/>
            <a:ext cx="2760415" cy="94451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2E2E222-E98F-412D-9F1F-F474AA8F87B0}"/>
              </a:ext>
            </a:extLst>
          </p:cNvPr>
          <p:cNvSpPr/>
          <p:nvPr/>
        </p:nvSpPr>
        <p:spPr>
          <a:xfrm>
            <a:off x="670069" y="140125"/>
            <a:ext cx="6498454" cy="922915"/>
          </a:xfrm>
          <a:prstGeom prst="rect">
            <a:avLst/>
          </a:prstGeom>
          <a:solidFill>
            <a:srgbClr val="FFC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AU" sz="4000" b="1" dirty="0">
                <a:solidFill>
                  <a:schemeClr val="tx1"/>
                </a:solidFill>
              </a:rPr>
              <a:t>Complete exercise 3C please </a:t>
            </a:r>
            <a:endParaRPr lang="en-AU" sz="4000" dirty="0">
              <a:solidFill>
                <a:schemeClr val="tx1"/>
              </a:solidFill>
            </a:endParaRPr>
          </a:p>
        </p:txBody>
      </p:sp>
    </p:spTree>
    <p:extLst>
      <p:ext uri="{BB962C8B-B14F-4D97-AF65-F5344CB8AC3E}">
        <p14:creationId xmlns:p14="http://schemas.microsoft.com/office/powerpoint/2010/main" val="3932316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dirty="0"/>
              <a:t>Lesson 4 </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p:txBody>
          <a:bodyPr/>
          <a:lstStyle/>
          <a:p>
            <a:pPr marL="0" indent="0">
              <a:buNone/>
            </a:pPr>
            <a:r>
              <a:rPr lang="en-AU" dirty="0"/>
              <a:t>Topic: Arithmetic Sequences</a:t>
            </a:r>
          </a:p>
          <a:p>
            <a:pPr marL="0" indent="0">
              <a:buNone/>
            </a:pPr>
            <a:r>
              <a:rPr lang="en-AU" dirty="0"/>
              <a:t>EQ: What are Arithmetic sequences and how can we use them?</a:t>
            </a:r>
          </a:p>
        </p:txBody>
      </p:sp>
      <p:sp>
        <p:nvSpPr>
          <p:cNvPr id="4" name="Oval 3">
            <a:hlinkClick r:id="rId2" action="ppaction://hlinksldjump"/>
            <a:extLst>
              <a:ext uri="{FF2B5EF4-FFF2-40B4-BE49-F238E27FC236}">
                <a16:creationId xmlns:a16="http://schemas.microsoft.com/office/drawing/2014/main" id="{352DA93A-E35E-4FA2-9017-F46CE5DCC460}"/>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3883175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474502" y="157981"/>
            <a:ext cx="11242995" cy="1477328"/>
          </a:xfrm>
          <a:prstGeom prst="rect">
            <a:avLst/>
          </a:prstGeom>
          <a:noFill/>
        </p:spPr>
        <p:txBody>
          <a:bodyPr wrap="square" rtlCol="0">
            <a:spAutoFit/>
          </a:bodyPr>
          <a:lstStyle/>
          <a:p>
            <a:r>
              <a:rPr lang="en-AU" sz="2400" dirty="0"/>
              <a:t>Topic: Arithmetic Sequences</a:t>
            </a:r>
          </a:p>
          <a:p>
            <a:r>
              <a:rPr lang="en-AU" sz="2400" dirty="0"/>
              <a:t>EQ: What are Arithmetic sequences and how can we use them?</a:t>
            </a:r>
          </a:p>
          <a:p>
            <a:endParaRPr lang="en-AU" sz="2400" dirty="0"/>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0" y="1180730"/>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9DC9ED6-D58B-4AFF-A6EB-F2EF91A8CEE9}"/>
              </a:ext>
            </a:extLst>
          </p:cNvPr>
          <p:cNvSpPr txBox="1"/>
          <p:nvPr/>
        </p:nvSpPr>
        <p:spPr>
          <a:xfrm>
            <a:off x="711218" y="1400933"/>
            <a:ext cx="11129800" cy="1754326"/>
          </a:xfrm>
          <a:prstGeom prst="rect">
            <a:avLst/>
          </a:prstGeom>
          <a:noFill/>
        </p:spPr>
        <p:txBody>
          <a:bodyPr wrap="square" rtlCol="0">
            <a:spAutoFit/>
          </a:bodyPr>
          <a:lstStyle/>
          <a:p>
            <a:r>
              <a:rPr lang="en-AU" dirty="0"/>
              <a:t>Arithmetic Sequences are formed by after the first term adding a constant amount to the previous term. This forms straight line when graphing them. They increase or decrease by the same amount.</a:t>
            </a:r>
          </a:p>
          <a:p>
            <a:endParaRPr lang="en-AU" dirty="0"/>
          </a:p>
          <a:p>
            <a:r>
              <a:rPr lang="en-AU" dirty="0"/>
              <a:t>Consider the sequence: 13, 18, 23, 28, 33, 38, …</a:t>
            </a:r>
          </a:p>
          <a:p>
            <a:endParaRPr lang="en-AU" dirty="0"/>
          </a:p>
          <a:p>
            <a:endParaRPr lang="en-AU" dirty="0"/>
          </a:p>
        </p:txBody>
      </p:sp>
      <p:cxnSp>
        <p:nvCxnSpPr>
          <p:cNvPr id="5" name="Straight Connector 4">
            <a:extLst>
              <a:ext uri="{FF2B5EF4-FFF2-40B4-BE49-F238E27FC236}">
                <a16:creationId xmlns:a16="http://schemas.microsoft.com/office/drawing/2014/main" id="{C8F8F03E-36A8-48D0-846C-50767CC390C2}"/>
              </a:ext>
            </a:extLst>
          </p:cNvPr>
          <p:cNvCxnSpPr>
            <a:cxnSpLocks/>
          </p:cNvCxnSpPr>
          <p:nvPr/>
        </p:nvCxnSpPr>
        <p:spPr>
          <a:xfrm>
            <a:off x="5903651" y="2485617"/>
            <a:ext cx="0" cy="43723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D26FD14-491E-4AB9-B44C-4C2F98D339A0}"/>
                  </a:ext>
                </a:extLst>
              </p:cNvPr>
              <p:cNvSpPr txBox="1"/>
              <p:nvPr/>
            </p:nvSpPr>
            <p:spPr>
              <a:xfrm>
                <a:off x="1091953" y="2814221"/>
                <a:ext cx="4083725" cy="3693319"/>
              </a:xfrm>
              <a:prstGeom prst="rect">
                <a:avLst/>
              </a:prstGeom>
              <a:noFill/>
            </p:spPr>
            <p:txBody>
              <a:bodyPr wrap="square" rtlCol="0">
                <a:spAutoFit/>
              </a:bodyPr>
              <a:lstStyle/>
              <a:p>
                <a:r>
                  <a:rPr lang="en-AU" b="1" dirty="0"/>
                  <a:t>Recursive rule: </a:t>
                </a:r>
                <a:r>
                  <a:rPr lang="en-AU" dirty="0"/>
                  <a:t>The rule that uses the previous term to find the next term.</a:t>
                </a:r>
              </a:p>
              <a:p>
                <a:endParaRPr lang="en-AU" dirty="0"/>
              </a:p>
              <a:p>
                <a:endParaRPr lang="en-AU" b="1" dirty="0"/>
              </a:p>
              <a:p>
                <a:r>
                  <a:rPr lang="en-AU" dirty="0"/>
                  <a:t>For the above sequence our recursive rule will be </a:t>
                </a:r>
              </a:p>
              <a:p>
                <a:endParaRPr lang="en-AU" dirty="0"/>
              </a:p>
              <a:p>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r>
                            <a:rPr lang="en-AU" b="1" i="1">
                              <a:latin typeface="Cambria Math" panose="02040503050406030204" pitchFamily="18" charset="0"/>
                            </a:rPr>
                            <m:t>+</m:t>
                          </m:r>
                          <m:r>
                            <a:rPr lang="en-AU" b="1" i="1">
                              <a:latin typeface="Cambria Math" panose="02040503050406030204" pitchFamily="18" charset="0"/>
                            </a:rPr>
                            <m:t>𝟏</m:t>
                          </m:r>
                        </m:sub>
                      </m:sSub>
                      <m:r>
                        <a:rPr lang="en-AU" b="1" i="1">
                          <a:latin typeface="Cambria Math" panose="02040503050406030204" pitchFamily="18" charset="0"/>
                        </a:rPr>
                        <m:t> = </m:t>
                      </m:r>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sub>
                      </m:sSub>
                      <m:r>
                        <a:rPr lang="en-AU" b="1">
                          <a:latin typeface="Cambria Math" panose="02040503050406030204" pitchFamily="18" charset="0"/>
                        </a:rPr>
                        <m:t>+</m:t>
                      </m:r>
                      <m:r>
                        <a:rPr lang="en-AU" b="1" i="0" smtClean="0">
                          <a:latin typeface="Cambria Math" panose="02040503050406030204" pitchFamily="18" charset="0"/>
                        </a:rPr>
                        <m:t>𝟓</m:t>
                      </m:r>
                      <m:r>
                        <a:rPr lang="en-AU" b="1">
                          <a:latin typeface="Cambria Math" panose="02040503050406030204" pitchFamily="18" charset="0"/>
                        </a:rPr>
                        <m:t> , </m:t>
                      </m:r>
                      <m:sSub>
                        <m:sSubPr>
                          <m:ctrlPr>
                            <a:rPr lang="en-AU" b="1" i="1">
                              <a:latin typeface="Cambria Math" panose="02040503050406030204" pitchFamily="18" charset="0"/>
                            </a:rPr>
                          </m:ctrlPr>
                        </m:sSubPr>
                        <m:e>
                          <m:r>
                            <a:rPr lang="en-AU" b="1" i="1">
                              <a:latin typeface="Cambria Math" panose="02040503050406030204" pitchFamily="18" charset="0"/>
                            </a:rPr>
                            <m:t>         </m:t>
                          </m:r>
                          <m:r>
                            <a:rPr lang="en-AU" b="1" i="1">
                              <a:latin typeface="Cambria Math" panose="02040503050406030204" pitchFamily="18" charset="0"/>
                            </a:rPr>
                            <m:t>𝑻</m:t>
                          </m:r>
                        </m:e>
                        <m:sub>
                          <m:r>
                            <a:rPr lang="en-AU" b="1" i="1">
                              <a:latin typeface="Cambria Math" panose="02040503050406030204" pitchFamily="18" charset="0"/>
                            </a:rPr>
                            <m:t>𝟏</m:t>
                          </m:r>
                        </m:sub>
                      </m:sSub>
                      <m:r>
                        <a:rPr lang="en-AU" b="1" i="1">
                          <a:latin typeface="Cambria Math" panose="02040503050406030204" pitchFamily="18" charset="0"/>
                        </a:rPr>
                        <m:t>=</m:t>
                      </m:r>
                      <m:r>
                        <a:rPr lang="en-AU" b="1" i="1" smtClean="0">
                          <a:latin typeface="Cambria Math" panose="02040503050406030204" pitchFamily="18" charset="0"/>
                        </a:rPr>
                        <m:t>𝟏𝟑</m:t>
                      </m:r>
                    </m:oMath>
                  </m:oMathPara>
                </a14:m>
                <a:endParaRPr lang="en-AU" dirty="0"/>
              </a:p>
              <a:p>
                <a:endParaRPr lang="en-AU" dirty="0"/>
              </a:p>
              <a:p>
                <a:r>
                  <a:rPr lang="en-AU" dirty="0"/>
                  <a:t>Each term has 5 added to it.</a:t>
                </a:r>
              </a:p>
              <a:p>
                <a:endParaRPr lang="en-AU" dirty="0"/>
              </a:p>
              <a:p>
                <a:endParaRPr lang="en-AU" dirty="0"/>
              </a:p>
              <a:p>
                <a:endParaRPr lang="en-AU" dirty="0"/>
              </a:p>
            </p:txBody>
          </p:sp>
        </mc:Choice>
        <mc:Fallback xmlns="">
          <p:sp>
            <p:nvSpPr>
              <p:cNvPr id="8" name="TextBox 7">
                <a:extLst>
                  <a:ext uri="{FF2B5EF4-FFF2-40B4-BE49-F238E27FC236}">
                    <a16:creationId xmlns:a16="http://schemas.microsoft.com/office/drawing/2014/main" id="{0D26FD14-491E-4AB9-B44C-4C2F98D339A0}"/>
                  </a:ext>
                </a:extLst>
              </p:cNvPr>
              <p:cNvSpPr txBox="1">
                <a:spLocks noRot="1" noChangeAspect="1" noMove="1" noResize="1" noEditPoints="1" noAdjustHandles="1" noChangeArrowheads="1" noChangeShapeType="1" noTextEdit="1"/>
              </p:cNvSpPr>
              <p:nvPr/>
            </p:nvSpPr>
            <p:spPr>
              <a:xfrm>
                <a:off x="1091953" y="2814221"/>
                <a:ext cx="4083725" cy="3693319"/>
              </a:xfrm>
              <a:prstGeom prst="rect">
                <a:avLst/>
              </a:prstGeom>
              <a:blipFill>
                <a:blip r:embed="rId2"/>
                <a:stretch>
                  <a:fillRect l="-1194" t="-99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ADFCAF-02AD-4298-B027-2DA0D8E2AB62}"/>
                  </a:ext>
                </a:extLst>
              </p:cNvPr>
              <p:cNvSpPr txBox="1"/>
              <p:nvPr/>
            </p:nvSpPr>
            <p:spPr>
              <a:xfrm>
                <a:off x="6095999" y="2787584"/>
                <a:ext cx="4820570" cy="3693319"/>
              </a:xfrm>
              <a:prstGeom prst="rect">
                <a:avLst/>
              </a:prstGeom>
              <a:noFill/>
            </p:spPr>
            <p:txBody>
              <a:bodyPr wrap="square" rtlCol="0">
                <a:spAutoFit/>
              </a:bodyPr>
              <a:lstStyle/>
              <a:p>
                <a:r>
                  <a:rPr lang="en-AU" b="1" dirty="0"/>
                  <a:t>Explicit rule: </a:t>
                </a:r>
                <a:r>
                  <a:rPr lang="en-AU" dirty="0"/>
                  <a:t>Used to find any term without knowing the previous term. This appears in exams asking for the rule for the nth term.</a:t>
                </a:r>
              </a:p>
              <a:p>
                <a:endParaRPr lang="en-AU" dirty="0"/>
              </a:p>
              <a:p>
                <a:r>
                  <a:rPr lang="en-AU" dirty="0"/>
                  <a:t>For the above sequence the explicit rule is</a:t>
                </a:r>
              </a:p>
              <a:p>
                <a:endParaRPr lang="en-AU" dirty="0"/>
              </a:p>
              <a:p>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sub>
                      </m:sSub>
                      <m:r>
                        <a:rPr lang="en-AU" b="1" i="1">
                          <a:latin typeface="Cambria Math" panose="02040503050406030204" pitchFamily="18" charset="0"/>
                        </a:rPr>
                        <m:t> =</m:t>
                      </m:r>
                      <m:r>
                        <a:rPr lang="en-AU" b="1" i="1" smtClean="0">
                          <a:latin typeface="Cambria Math" panose="02040503050406030204" pitchFamily="18" charset="0"/>
                        </a:rPr>
                        <m:t>𝟓</m:t>
                      </m:r>
                      <m:r>
                        <a:rPr lang="en-AU" b="1" i="1" smtClean="0">
                          <a:latin typeface="Cambria Math" panose="02040503050406030204" pitchFamily="18" charset="0"/>
                        </a:rPr>
                        <m:t>(</m:t>
                      </m:r>
                      <m:r>
                        <a:rPr lang="en-AU" b="1" i="1" smtClean="0">
                          <a:latin typeface="Cambria Math" panose="02040503050406030204" pitchFamily="18" charset="0"/>
                        </a:rPr>
                        <m:t>𝒏</m:t>
                      </m:r>
                      <m:r>
                        <a:rPr lang="en-AU" b="1" i="1" smtClean="0">
                          <a:latin typeface="Cambria Math" panose="02040503050406030204" pitchFamily="18" charset="0"/>
                        </a:rPr>
                        <m:t>−</m:t>
                      </m:r>
                      <m:r>
                        <a:rPr lang="en-AU" b="1" i="1" smtClean="0">
                          <a:latin typeface="Cambria Math" panose="02040503050406030204" pitchFamily="18" charset="0"/>
                        </a:rPr>
                        <m:t>𝟏</m:t>
                      </m:r>
                      <m:r>
                        <a:rPr lang="en-AU" b="1" i="1" smtClean="0">
                          <a:latin typeface="Cambria Math" panose="02040503050406030204" pitchFamily="18" charset="0"/>
                        </a:rPr>
                        <m:t>)+</m:t>
                      </m:r>
                      <m:r>
                        <a:rPr lang="en-AU" b="1" i="1" smtClean="0">
                          <a:latin typeface="Cambria Math" panose="02040503050406030204" pitchFamily="18" charset="0"/>
                        </a:rPr>
                        <m:t>𝟏𝟑</m:t>
                      </m:r>
                    </m:oMath>
                  </m:oMathPara>
                </a14:m>
                <a:endParaRPr lang="en-AU" dirty="0"/>
              </a:p>
              <a:p>
                <a:endParaRPr lang="en-AU" dirty="0"/>
              </a:p>
              <a:p>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sub>
                      </m:sSub>
                      <m:r>
                        <a:rPr lang="en-AU" b="1" i="1">
                          <a:latin typeface="Cambria Math" panose="02040503050406030204" pitchFamily="18" charset="0"/>
                        </a:rPr>
                        <m:t> =</m:t>
                      </m:r>
                      <m:r>
                        <a:rPr lang="en-AU" b="1" i="1">
                          <a:latin typeface="Cambria Math" panose="02040503050406030204" pitchFamily="18" charset="0"/>
                        </a:rPr>
                        <m:t>𝟓</m:t>
                      </m:r>
                      <m:r>
                        <a:rPr lang="en-AU" b="1" i="1">
                          <a:latin typeface="Cambria Math" panose="02040503050406030204" pitchFamily="18" charset="0"/>
                        </a:rPr>
                        <m:t>𝒏</m:t>
                      </m:r>
                      <m:r>
                        <a:rPr lang="en-AU" b="1" i="1" smtClean="0">
                          <a:latin typeface="Cambria Math" panose="02040503050406030204" pitchFamily="18" charset="0"/>
                        </a:rPr>
                        <m:t>+</m:t>
                      </m:r>
                      <m:r>
                        <a:rPr lang="en-AU" b="1" i="1" smtClean="0">
                          <a:latin typeface="Cambria Math" panose="02040503050406030204" pitchFamily="18" charset="0"/>
                        </a:rPr>
                        <m:t>𝟖</m:t>
                      </m:r>
                      <m:r>
                        <a:rPr lang="en-AU" b="0" i="0" smtClean="0">
                          <a:latin typeface="Cambria Math" panose="02040503050406030204" pitchFamily="18" charset="0"/>
                        </a:rPr>
                        <m:t> </m:t>
                      </m:r>
                      <m:r>
                        <m:rPr>
                          <m:sty m:val="p"/>
                        </m:rPr>
                        <a:rPr lang="en-AU" b="0" i="0" smtClean="0">
                          <a:latin typeface="Cambria Math" panose="02040503050406030204" pitchFamily="18" charset="0"/>
                        </a:rPr>
                        <m:t>where</m:t>
                      </m:r>
                      <m:r>
                        <a:rPr lang="en-AU" b="0" i="0" smtClean="0">
                          <a:latin typeface="Cambria Math" panose="02040503050406030204" pitchFamily="18" charset="0"/>
                        </a:rPr>
                        <m:t> </m:t>
                      </m:r>
                      <m:r>
                        <m:rPr>
                          <m:sty m:val="p"/>
                        </m:rPr>
                        <a:rPr lang="en-AU" b="0" i="0" smtClean="0">
                          <a:latin typeface="Cambria Math" panose="02040503050406030204" pitchFamily="18" charset="0"/>
                        </a:rPr>
                        <m:t>n</m:t>
                      </m:r>
                      <m:r>
                        <a:rPr lang="en-AU" b="0" i="0" smtClean="0">
                          <a:latin typeface="Cambria Math" panose="02040503050406030204" pitchFamily="18" charset="0"/>
                        </a:rPr>
                        <m:t>=1,2,3…</m:t>
                      </m:r>
                    </m:oMath>
                  </m:oMathPara>
                </a14:m>
                <a:endParaRPr lang="en-AU" dirty="0"/>
              </a:p>
              <a:p>
                <a:endParaRPr lang="en-AU" dirty="0"/>
              </a:p>
              <a:p>
                <a:r>
                  <a:rPr lang="en-AU" dirty="0"/>
                  <a:t>Where 5 is the common differences and 13 is the first term. </a:t>
                </a:r>
              </a:p>
              <a:p>
                <a:endParaRPr lang="en-AU" dirty="0"/>
              </a:p>
            </p:txBody>
          </p:sp>
        </mc:Choice>
        <mc:Fallback xmlns="">
          <p:sp>
            <p:nvSpPr>
              <p:cNvPr id="9" name="TextBox 8">
                <a:extLst>
                  <a:ext uri="{FF2B5EF4-FFF2-40B4-BE49-F238E27FC236}">
                    <a16:creationId xmlns:a16="http://schemas.microsoft.com/office/drawing/2014/main" id="{1AADFCAF-02AD-4298-B027-2DA0D8E2AB62}"/>
                  </a:ext>
                </a:extLst>
              </p:cNvPr>
              <p:cNvSpPr txBox="1">
                <a:spLocks noRot="1" noChangeAspect="1" noMove="1" noResize="1" noEditPoints="1" noAdjustHandles="1" noChangeArrowheads="1" noChangeShapeType="1" noTextEdit="1"/>
              </p:cNvSpPr>
              <p:nvPr/>
            </p:nvSpPr>
            <p:spPr>
              <a:xfrm>
                <a:off x="6095999" y="2787584"/>
                <a:ext cx="4820570" cy="3693319"/>
              </a:xfrm>
              <a:prstGeom prst="rect">
                <a:avLst/>
              </a:prstGeom>
              <a:blipFill>
                <a:blip r:embed="rId3"/>
                <a:stretch>
                  <a:fillRect l="-1011" t="-825" r="-379"/>
                </a:stretch>
              </a:blipFill>
            </p:spPr>
            <p:txBody>
              <a:bodyPr/>
              <a:lstStyle/>
              <a:p>
                <a:r>
                  <a:rPr lang="en-AU">
                    <a:noFill/>
                  </a:rPr>
                  <a:t> </a:t>
                </a:r>
              </a:p>
            </p:txBody>
          </p:sp>
        </mc:Fallback>
      </mc:AlternateContent>
      <p:sp>
        <p:nvSpPr>
          <p:cNvPr id="10" name="Rectangle 9">
            <a:extLst>
              <a:ext uri="{FF2B5EF4-FFF2-40B4-BE49-F238E27FC236}">
                <a16:creationId xmlns:a16="http://schemas.microsoft.com/office/drawing/2014/main" id="{31A1BCF0-7A89-4B44-B556-BED5CA1168F4}"/>
              </a:ext>
            </a:extLst>
          </p:cNvPr>
          <p:cNvSpPr/>
          <p:nvPr/>
        </p:nvSpPr>
        <p:spPr>
          <a:xfrm>
            <a:off x="923278" y="5850384"/>
            <a:ext cx="4145871" cy="93215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AU" dirty="0"/>
              <a:t>Recursive rule must have the rule and the first term to get full marks</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F877B2C-D209-4745-BD9A-F7921EED651B}"/>
                  </a:ext>
                </a:extLst>
              </p:cNvPr>
              <p:cNvSpPr/>
              <p:nvPr/>
            </p:nvSpPr>
            <p:spPr>
              <a:xfrm>
                <a:off x="10223069" y="3000278"/>
                <a:ext cx="1953088" cy="20063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If you have </a:t>
                </a:r>
                <a14:m>
                  <m:oMath xmlns:m="http://schemas.openxmlformats.org/officeDocument/2006/math">
                    <m:sSub>
                      <m:sSubPr>
                        <m:ctrlPr>
                          <a:rPr lang="en-AU" b="1" i="1" smtClean="0">
                            <a:latin typeface="Cambria Math" panose="02040503050406030204" pitchFamily="18" charset="0"/>
                          </a:rPr>
                        </m:ctrlPr>
                      </m:sSubPr>
                      <m:e>
                        <m:r>
                          <a:rPr lang="en-AU" b="1" i="1">
                            <a:latin typeface="Cambria Math" panose="02040503050406030204" pitchFamily="18" charset="0"/>
                          </a:rPr>
                          <m:t>𝑻</m:t>
                        </m:r>
                      </m:e>
                      <m:sub>
                        <m:r>
                          <a:rPr lang="en-AU" b="1" i="1" smtClean="0">
                            <a:latin typeface="Cambria Math" panose="02040503050406030204" pitchFamily="18" charset="0"/>
                          </a:rPr>
                          <m:t>𝟎</m:t>
                        </m:r>
                        <m:r>
                          <a:rPr lang="en-AU" b="1" i="1" smtClean="0">
                            <a:latin typeface="Cambria Math" panose="02040503050406030204" pitchFamily="18" charset="0"/>
                          </a:rPr>
                          <m:t> </m:t>
                        </m:r>
                      </m:sub>
                    </m:sSub>
                  </m:oMath>
                </a14:m>
                <a:r>
                  <a:rPr lang="en-AU" dirty="0"/>
                  <a:t>In your recursive rule you can go straight to the rule without (n-1) </a:t>
                </a:r>
              </a:p>
            </p:txBody>
          </p:sp>
        </mc:Choice>
        <mc:Fallback xmlns="">
          <p:sp>
            <p:nvSpPr>
              <p:cNvPr id="13" name="Rectangle 12">
                <a:extLst>
                  <a:ext uri="{FF2B5EF4-FFF2-40B4-BE49-F238E27FC236}">
                    <a16:creationId xmlns:a16="http://schemas.microsoft.com/office/drawing/2014/main" id="{CF877B2C-D209-4745-BD9A-F7921EED651B}"/>
                  </a:ext>
                </a:extLst>
              </p:cNvPr>
              <p:cNvSpPr>
                <a:spLocks noRot="1" noChangeAspect="1" noMove="1" noResize="1" noEditPoints="1" noAdjustHandles="1" noChangeArrowheads="1" noChangeShapeType="1" noTextEdit="1"/>
              </p:cNvSpPr>
              <p:nvPr/>
            </p:nvSpPr>
            <p:spPr>
              <a:xfrm>
                <a:off x="10223069" y="3000278"/>
                <a:ext cx="1953088" cy="2006351"/>
              </a:xfrm>
              <a:prstGeom prst="rect">
                <a:avLst/>
              </a:prstGeom>
              <a:blipFill>
                <a:blip r:embed="rId4"/>
                <a:stretch>
                  <a:fillRect l="-2174" r="-4348"/>
                </a:stretch>
              </a:blipFill>
            </p:spPr>
            <p:txBody>
              <a:bodyPr/>
              <a:lstStyle/>
              <a:p>
                <a:r>
                  <a:rPr lang="en-AU">
                    <a:noFill/>
                  </a:rPr>
                  <a:t> </a:t>
                </a:r>
              </a:p>
            </p:txBody>
          </p:sp>
        </mc:Fallback>
      </mc:AlternateContent>
    </p:spTree>
    <p:extLst>
      <p:ext uri="{BB962C8B-B14F-4D97-AF65-F5344CB8AC3E}">
        <p14:creationId xmlns:p14="http://schemas.microsoft.com/office/powerpoint/2010/main" val="51688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02F72-D582-4378-8378-E53AC23B486B}"/>
              </a:ext>
            </a:extLst>
          </p:cNvPr>
          <p:cNvSpPr>
            <a:spLocks noGrp="1"/>
          </p:cNvSpPr>
          <p:nvPr>
            <p:ph type="title"/>
          </p:nvPr>
        </p:nvSpPr>
        <p:spPr/>
        <p:txBody>
          <a:bodyPr>
            <a:normAutofit/>
          </a:bodyPr>
          <a:lstStyle/>
          <a:p>
            <a:r>
              <a:rPr lang="en-AU" b="1" dirty="0"/>
              <a:t>Exam Question: Calculator free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B5DBA6-1BEA-4C94-B70D-351C7FF16805}"/>
                  </a:ext>
                </a:extLst>
              </p:cNvPr>
              <p:cNvSpPr txBox="1"/>
              <p:nvPr/>
            </p:nvSpPr>
            <p:spPr>
              <a:xfrm>
                <a:off x="727970" y="2024109"/>
                <a:ext cx="6338656" cy="4161524"/>
              </a:xfrm>
              <a:prstGeom prst="rect">
                <a:avLst/>
              </a:prstGeom>
              <a:noFill/>
            </p:spPr>
            <p:txBody>
              <a:bodyPr wrap="square" rtlCol="0">
                <a:spAutoFit/>
              </a:bodyPr>
              <a:lstStyle/>
              <a:p>
                <a:pPr marL="342900" indent="-342900">
                  <a:buAutoNum type="arabicPeriod"/>
                </a:pPr>
                <a:r>
                  <a:rPr lang="en-AU" sz="2400" dirty="0"/>
                  <a:t>[5 marks: 2, 2, 1]</a:t>
                </a:r>
              </a:p>
              <a:p>
                <a:endParaRPr lang="en-AU" sz="2400" dirty="0"/>
              </a:p>
              <a:p>
                <a:r>
                  <a:rPr lang="en-AU" sz="2400" dirty="0"/>
                  <a:t>Consider the sequence:   12, 15, 18, 21, 24</a:t>
                </a:r>
              </a:p>
              <a:p>
                <a:endParaRPr lang="en-AU" sz="2400" dirty="0"/>
              </a:p>
              <a:p>
                <a:pPr marL="342900" indent="-342900">
                  <a:buAutoNum type="alphaLcParenR"/>
                </a:pPr>
                <a:r>
                  <a:rPr lang="en-AU" sz="2400" dirty="0"/>
                  <a:t>Find the recursive rule for this sequence</a:t>
                </a:r>
              </a:p>
              <a:p>
                <a:pPr marL="342900" indent="-342900">
                  <a:buAutoNum type="alphaLcParenR"/>
                </a:pPr>
                <a:endParaRPr lang="en-AU" sz="2400" dirty="0"/>
              </a:p>
              <a:p>
                <a:pPr marL="342900" indent="-342900">
                  <a:buAutoNum type="alphaLcParenR"/>
                </a:pPr>
                <a:endParaRPr lang="en-AU" sz="2400" dirty="0"/>
              </a:p>
              <a:p>
                <a:pPr marL="342900" indent="-342900">
                  <a:buAutoNum type="alphaLcParenR"/>
                </a:pPr>
                <a:r>
                  <a:rPr lang="en-AU" sz="2400" dirty="0"/>
                  <a:t>Find the rule for the </a:t>
                </a:r>
                <a14:m>
                  <m:oMath xmlns:m="http://schemas.openxmlformats.org/officeDocument/2006/math">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𝑛</m:t>
                        </m:r>
                      </m:e>
                      <m:sup>
                        <m:r>
                          <a:rPr lang="en-AU" sz="2400" b="0" i="1" smtClean="0">
                            <a:latin typeface="Cambria Math" panose="02040503050406030204" pitchFamily="18" charset="0"/>
                          </a:rPr>
                          <m:t>𝑡h</m:t>
                        </m:r>
                      </m:sup>
                    </m:sSup>
                  </m:oMath>
                </a14:m>
                <a:r>
                  <a:rPr lang="en-AU" sz="2400" dirty="0"/>
                  <a:t> term of this sequence</a:t>
                </a:r>
              </a:p>
              <a:p>
                <a:endParaRPr lang="en-AU" sz="2400" dirty="0"/>
              </a:p>
              <a:p>
                <a:pPr marL="342900" indent="-342900">
                  <a:buAutoNum type="alphaLcParenR"/>
                </a:pPr>
                <a:endParaRPr lang="en-AU" sz="2400" dirty="0"/>
              </a:p>
              <a:p>
                <a:r>
                  <a:rPr lang="en-AU" sz="2400" dirty="0"/>
                  <a:t>c)  Find the 50</a:t>
                </a:r>
                <a:r>
                  <a:rPr lang="en-AU" sz="2400" baseline="30000" dirty="0"/>
                  <a:t>th</a:t>
                </a:r>
                <a:r>
                  <a:rPr lang="en-AU" sz="2400" dirty="0"/>
                  <a:t> term of this sequence</a:t>
                </a:r>
              </a:p>
            </p:txBody>
          </p:sp>
        </mc:Choice>
        <mc:Fallback xmlns="">
          <p:sp>
            <p:nvSpPr>
              <p:cNvPr id="4" name="TextBox 3">
                <a:extLst>
                  <a:ext uri="{FF2B5EF4-FFF2-40B4-BE49-F238E27FC236}">
                    <a16:creationId xmlns:a16="http://schemas.microsoft.com/office/drawing/2014/main" id="{D8B5DBA6-1BEA-4C94-B70D-351C7FF16805}"/>
                  </a:ext>
                </a:extLst>
              </p:cNvPr>
              <p:cNvSpPr txBox="1">
                <a:spLocks noRot="1" noChangeAspect="1" noMove="1" noResize="1" noEditPoints="1" noAdjustHandles="1" noChangeArrowheads="1" noChangeShapeType="1" noTextEdit="1"/>
              </p:cNvSpPr>
              <p:nvPr/>
            </p:nvSpPr>
            <p:spPr>
              <a:xfrm>
                <a:off x="727970" y="2024109"/>
                <a:ext cx="6338656" cy="4161524"/>
              </a:xfrm>
              <a:prstGeom prst="rect">
                <a:avLst/>
              </a:prstGeom>
              <a:blipFill>
                <a:blip r:embed="rId2"/>
                <a:stretch>
                  <a:fillRect l="-1538" t="-1318" r="-288" b="-234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D35D717-A838-455D-82C8-9214F35D3D98}"/>
                  </a:ext>
                </a:extLst>
              </p:cNvPr>
              <p:cNvSpPr/>
              <p:nvPr/>
            </p:nvSpPr>
            <p:spPr>
              <a:xfrm>
                <a:off x="7279688" y="2183400"/>
                <a:ext cx="4802819" cy="4519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t>Answers:</a:t>
                </a:r>
              </a:p>
              <a:p>
                <a:pPr algn="ctr"/>
                <a:endParaRPr lang="en-AU" sz="2400" b="1" dirty="0"/>
              </a:p>
              <a:p>
                <a:pPr marL="457200" indent="-457200">
                  <a:buAutoNum type="alphaLcParenR"/>
                </a:pPr>
                <a14:m>
                  <m:oMath xmlns:m="http://schemas.openxmlformats.org/officeDocument/2006/math">
                    <m:sSub>
                      <m:sSubPr>
                        <m:ctrlPr>
                          <a:rPr lang="en-AU" sz="2400" b="1" i="1">
                            <a:latin typeface="Cambria Math" panose="02040503050406030204" pitchFamily="18" charset="0"/>
                          </a:rPr>
                        </m:ctrlPr>
                      </m:sSubPr>
                      <m:e>
                        <m:r>
                          <a:rPr lang="en-AU" sz="2400" b="1" i="1">
                            <a:latin typeface="Cambria Math" panose="02040503050406030204" pitchFamily="18" charset="0"/>
                          </a:rPr>
                          <m:t>𝑻</m:t>
                        </m:r>
                      </m:e>
                      <m:sub>
                        <m:r>
                          <a:rPr lang="en-AU" sz="2400" b="1" i="1">
                            <a:latin typeface="Cambria Math" panose="02040503050406030204" pitchFamily="18" charset="0"/>
                          </a:rPr>
                          <m:t>𝒏</m:t>
                        </m:r>
                        <m:r>
                          <a:rPr lang="en-AU" sz="2400" b="1" i="1">
                            <a:latin typeface="Cambria Math" panose="02040503050406030204" pitchFamily="18" charset="0"/>
                          </a:rPr>
                          <m:t>+</m:t>
                        </m:r>
                        <m:r>
                          <a:rPr lang="en-AU" sz="2400" b="1" i="1">
                            <a:latin typeface="Cambria Math" panose="02040503050406030204" pitchFamily="18" charset="0"/>
                          </a:rPr>
                          <m:t>𝟏</m:t>
                        </m:r>
                      </m:sub>
                    </m:sSub>
                    <m:r>
                      <a:rPr lang="en-AU" sz="2400" b="1" i="1">
                        <a:latin typeface="Cambria Math" panose="02040503050406030204" pitchFamily="18" charset="0"/>
                      </a:rPr>
                      <m:t>=</m:t>
                    </m:r>
                    <m:sSub>
                      <m:sSubPr>
                        <m:ctrlPr>
                          <a:rPr lang="en-AU" sz="2400" b="1" i="1">
                            <a:latin typeface="Cambria Math" panose="02040503050406030204" pitchFamily="18" charset="0"/>
                          </a:rPr>
                        </m:ctrlPr>
                      </m:sSubPr>
                      <m:e>
                        <m:r>
                          <a:rPr lang="en-AU" sz="2400" b="1" i="1">
                            <a:latin typeface="Cambria Math" panose="02040503050406030204" pitchFamily="18" charset="0"/>
                          </a:rPr>
                          <m:t>𝑻</m:t>
                        </m:r>
                      </m:e>
                      <m:sub>
                        <m:r>
                          <a:rPr lang="en-AU" sz="2400" b="1" i="1">
                            <a:latin typeface="Cambria Math" panose="02040503050406030204" pitchFamily="18" charset="0"/>
                          </a:rPr>
                          <m:t>𝒏</m:t>
                        </m:r>
                      </m:sub>
                    </m:sSub>
                    <m:r>
                      <a:rPr lang="en-AU" sz="2400" b="1" i="1">
                        <a:latin typeface="Cambria Math" panose="02040503050406030204" pitchFamily="18" charset="0"/>
                      </a:rPr>
                      <m:t>+</m:t>
                    </m:r>
                    <m:r>
                      <a:rPr lang="en-AU" sz="2400" b="1" i="1">
                        <a:latin typeface="Cambria Math" panose="02040503050406030204" pitchFamily="18" charset="0"/>
                      </a:rPr>
                      <m:t>𝟑</m:t>
                    </m:r>
                    <m:r>
                      <a:rPr lang="en-AU" sz="2400" b="1" i="1">
                        <a:latin typeface="Cambria Math" panose="02040503050406030204" pitchFamily="18" charset="0"/>
                      </a:rPr>
                      <m:t>,      </m:t>
                    </m:r>
                    <m:sSub>
                      <m:sSubPr>
                        <m:ctrlPr>
                          <a:rPr lang="en-AU" sz="2400" b="1" i="1">
                            <a:latin typeface="Cambria Math" panose="02040503050406030204" pitchFamily="18" charset="0"/>
                          </a:rPr>
                        </m:ctrlPr>
                      </m:sSubPr>
                      <m:e>
                        <m:r>
                          <a:rPr lang="en-AU" sz="2400" b="1" i="1">
                            <a:latin typeface="Cambria Math" panose="02040503050406030204" pitchFamily="18" charset="0"/>
                          </a:rPr>
                          <m:t>𝑻</m:t>
                        </m:r>
                      </m:e>
                      <m:sub>
                        <m:r>
                          <a:rPr lang="en-AU" sz="2400" b="1" i="1">
                            <a:latin typeface="Cambria Math" panose="02040503050406030204" pitchFamily="18" charset="0"/>
                          </a:rPr>
                          <m:t>𝟏</m:t>
                        </m:r>
                      </m:sub>
                    </m:sSub>
                  </m:oMath>
                </a14:m>
                <a:r>
                  <a:rPr lang="en-AU" sz="2400" dirty="0"/>
                  <a:t>=12</a:t>
                </a:r>
              </a:p>
              <a:p>
                <a:endParaRPr lang="en-AU" sz="2400" dirty="0"/>
              </a:p>
              <a:p>
                <a:endParaRPr lang="en-AU" sz="2400" dirty="0"/>
              </a:p>
              <a:p>
                <a:pPr/>
                <a:r>
                  <a:rPr lang="en-AU" sz="2400" dirty="0"/>
                  <a:t>b) </a:t>
                </a:r>
                <a14:m>
                  <m:oMath xmlns:m="http://schemas.openxmlformats.org/officeDocument/2006/math">
                    <m:sSub>
                      <m:sSubPr>
                        <m:ctrlPr>
                          <a:rPr lang="en-AU" sz="2400" b="1" i="1">
                            <a:latin typeface="Cambria Math" panose="02040503050406030204" pitchFamily="18" charset="0"/>
                          </a:rPr>
                        </m:ctrlPr>
                      </m:sSubPr>
                      <m:e>
                        <m:r>
                          <a:rPr lang="en-AU" sz="2400" b="1" i="1">
                            <a:latin typeface="Cambria Math" panose="02040503050406030204" pitchFamily="18" charset="0"/>
                          </a:rPr>
                          <m:t>𝑻</m:t>
                        </m:r>
                      </m:e>
                      <m:sub>
                        <m:r>
                          <a:rPr lang="en-AU" sz="2400" b="1" i="1">
                            <a:latin typeface="Cambria Math" panose="02040503050406030204" pitchFamily="18" charset="0"/>
                          </a:rPr>
                          <m:t>𝒏</m:t>
                        </m:r>
                      </m:sub>
                    </m:sSub>
                    <m:r>
                      <a:rPr lang="en-AU" sz="2400" b="1" i="1">
                        <a:latin typeface="Cambria Math" panose="02040503050406030204" pitchFamily="18" charset="0"/>
                      </a:rPr>
                      <m:t>=</m:t>
                    </m:r>
                    <m:r>
                      <a:rPr lang="en-AU" sz="2400" b="1" i="1">
                        <a:latin typeface="Cambria Math" panose="02040503050406030204" pitchFamily="18" charset="0"/>
                      </a:rPr>
                      <m:t>𝟑</m:t>
                    </m:r>
                    <m:d>
                      <m:dPr>
                        <m:ctrlPr>
                          <a:rPr lang="en-AU" sz="2400" b="1" i="1">
                            <a:latin typeface="Cambria Math" panose="02040503050406030204" pitchFamily="18" charset="0"/>
                          </a:rPr>
                        </m:ctrlPr>
                      </m:dPr>
                      <m:e>
                        <m:r>
                          <a:rPr lang="en-AU" sz="2400" b="1" i="1">
                            <a:latin typeface="Cambria Math" panose="02040503050406030204" pitchFamily="18" charset="0"/>
                          </a:rPr>
                          <m:t>𝒏</m:t>
                        </m:r>
                        <m:r>
                          <a:rPr lang="en-AU" sz="2400" b="1" i="1">
                            <a:latin typeface="Cambria Math" panose="02040503050406030204" pitchFamily="18" charset="0"/>
                          </a:rPr>
                          <m:t>−</m:t>
                        </m:r>
                        <m:r>
                          <a:rPr lang="en-AU" sz="2400" b="1" i="1">
                            <a:latin typeface="Cambria Math" panose="02040503050406030204" pitchFamily="18" charset="0"/>
                          </a:rPr>
                          <m:t>𝟏</m:t>
                        </m:r>
                      </m:e>
                    </m:d>
                    <m:r>
                      <a:rPr lang="en-AU" sz="2400" b="1" i="1">
                        <a:latin typeface="Cambria Math" panose="02040503050406030204" pitchFamily="18" charset="0"/>
                      </a:rPr>
                      <m:t>+</m:t>
                    </m:r>
                    <m:r>
                      <a:rPr lang="en-AU" sz="2400" b="1" i="1">
                        <a:latin typeface="Cambria Math" panose="02040503050406030204" pitchFamily="18" charset="0"/>
                      </a:rPr>
                      <m:t>𝟏𝟐</m:t>
                    </m:r>
                  </m:oMath>
                </a14:m>
                <a:br>
                  <a:rPr lang="en-AU" sz="2400" b="1" dirty="0"/>
                </a:br>
                <a14:m>
                  <m:oMathPara xmlns:m="http://schemas.openxmlformats.org/officeDocument/2006/math">
                    <m:oMathParaPr>
                      <m:jc m:val="centerGroup"/>
                    </m:oMathParaPr>
                    <m:oMath xmlns:m="http://schemas.openxmlformats.org/officeDocument/2006/math">
                      <m:sSub>
                        <m:sSubPr>
                          <m:ctrlPr>
                            <a:rPr lang="en-AU" sz="2400" b="1" i="1">
                              <a:latin typeface="Cambria Math" panose="02040503050406030204" pitchFamily="18" charset="0"/>
                            </a:rPr>
                          </m:ctrlPr>
                        </m:sSubPr>
                        <m:e>
                          <m:r>
                            <a:rPr lang="en-AU" sz="2400" b="1" i="1">
                              <a:latin typeface="Cambria Math" panose="02040503050406030204" pitchFamily="18" charset="0"/>
                            </a:rPr>
                            <m:t>𝑻</m:t>
                          </m:r>
                        </m:e>
                        <m:sub>
                          <m:r>
                            <a:rPr lang="en-AU" sz="2400" b="1" i="1">
                              <a:latin typeface="Cambria Math" panose="02040503050406030204" pitchFamily="18" charset="0"/>
                            </a:rPr>
                            <m:t>𝒏</m:t>
                          </m:r>
                        </m:sub>
                      </m:sSub>
                      <m:r>
                        <a:rPr lang="en-AU" sz="2400" b="1" i="1">
                          <a:latin typeface="Cambria Math" panose="02040503050406030204" pitchFamily="18" charset="0"/>
                        </a:rPr>
                        <m:t>=</m:t>
                      </m:r>
                      <m:r>
                        <a:rPr lang="en-AU" sz="2400" b="1" i="1">
                          <a:latin typeface="Cambria Math" panose="02040503050406030204" pitchFamily="18" charset="0"/>
                        </a:rPr>
                        <m:t>𝟑</m:t>
                      </m:r>
                      <m:r>
                        <a:rPr lang="en-AU" sz="2400" b="1" i="1">
                          <a:latin typeface="Cambria Math" panose="02040503050406030204" pitchFamily="18" charset="0"/>
                        </a:rPr>
                        <m:t>𝒏</m:t>
                      </m:r>
                      <m:r>
                        <a:rPr lang="en-AU" sz="2400" b="1" i="1">
                          <a:latin typeface="Cambria Math" panose="02040503050406030204" pitchFamily="18" charset="0"/>
                        </a:rPr>
                        <m:t>+</m:t>
                      </m:r>
                      <m:r>
                        <a:rPr lang="en-AU" sz="2400" b="1" i="1">
                          <a:latin typeface="Cambria Math" panose="02040503050406030204" pitchFamily="18" charset="0"/>
                        </a:rPr>
                        <m:t>𝟗</m:t>
                      </m:r>
                      <m:r>
                        <a:rPr lang="en-AU" sz="2400" b="1" i="1">
                          <a:latin typeface="Cambria Math" panose="02040503050406030204" pitchFamily="18" charset="0"/>
                        </a:rPr>
                        <m:t> </m:t>
                      </m:r>
                      <m:r>
                        <a:rPr lang="en-AU" sz="2400" b="1" i="1">
                          <a:latin typeface="Cambria Math" panose="02040503050406030204" pitchFamily="18" charset="0"/>
                        </a:rPr>
                        <m:t>𝒘𝒉𝒆𝒓𝒆</m:t>
                      </m:r>
                      <m:r>
                        <a:rPr lang="en-AU" sz="2400" b="1" i="1">
                          <a:latin typeface="Cambria Math" panose="02040503050406030204" pitchFamily="18" charset="0"/>
                        </a:rPr>
                        <m:t> </m:t>
                      </m:r>
                      <m:r>
                        <a:rPr lang="en-AU" sz="2400" b="1" i="1">
                          <a:latin typeface="Cambria Math" panose="02040503050406030204" pitchFamily="18" charset="0"/>
                        </a:rPr>
                        <m:t>𝒏</m:t>
                      </m:r>
                      <m:r>
                        <a:rPr lang="en-AU" sz="2400" b="1" i="1">
                          <a:latin typeface="Cambria Math" panose="02040503050406030204" pitchFamily="18" charset="0"/>
                        </a:rPr>
                        <m:t>=</m:t>
                      </m:r>
                      <m:r>
                        <a:rPr lang="en-AU" sz="2400" b="1" i="1">
                          <a:latin typeface="Cambria Math" panose="02040503050406030204" pitchFamily="18" charset="0"/>
                        </a:rPr>
                        <m:t>𝟏</m:t>
                      </m:r>
                      <m:r>
                        <a:rPr lang="en-AU" sz="2400" b="1" i="1">
                          <a:latin typeface="Cambria Math" panose="02040503050406030204" pitchFamily="18" charset="0"/>
                        </a:rPr>
                        <m:t>,</m:t>
                      </m:r>
                      <m:r>
                        <a:rPr lang="en-AU" sz="2400" b="1" i="1">
                          <a:latin typeface="Cambria Math" panose="02040503050406030204" pitchFamily="18" charset="0"/>
                        </a:rPr>
                        <m:t>𝟐</m:t>
                      </m:r>
                      <m:r>
                        <a:rPr lang="en-AU" sz="2400" b="1" i="1">
                          <a:latin typeface="Cambria Math" panose="02040503050406030204" pitchFamily="18" charset="0"/>
                        </a:rPr>
                        <m:t>,</m:t>
                      </m:r>
                      <m:r>
                        <a:rPr lang="en-AU" sz="2400" b="1" i="1">
                          <a:latin typeface="Cambria Math" panose="02040503050406030204" pitchFamily="18" charset="0"/>
                        </a:rPr>
                        <m:t>𝟑</m:t>
                      </m:r>
                      <m:r>
                        <a:rPr lang="en-AU" sz="2400" b="1" i="1">
                          <a:latin typeface="Cambria Math" panose="02040503050406030204" pitchFamily="18" charset="0"/>
                        </a:rPr>
                        <m:t>,…</m:t>
                      </m:r>
                    </m:oMath>
                  </m:oMathPara>
                </a14:m>
                <a:endParaRPr lang="en-AU" sz="2400" dirty="0"/>
              </a:p>
              <a:p>
                <a:endParaRPr lang="en-AU" sz="2400" dirty="0"/>
              </a:p>
              <a:p>
                <a:endParaRPr lang="en-AU" sz="2400" dirty="0"/>
              </a:p>
              <a:p>
                <a:pPr/>
                <a:r>
                  <a:rPr lang="en-AU" sz="2400" dirty="0"/>
                  <a:t>c) </a:t>
                </a:r>
                <a14:m>
                  <m:oMath xmlns:m="http://schemas.openxmlformats.org/officeDocument/2006/math">
                    <m:sSub>
                      <m:sSubPr>
                        <m:ctrlPr>
                          <a:rPr lang="en-AU" sz="2400" b="1" i="1">
                            <a:latin typeface="Cambria Math" panose="02040503050406030204" pitchFamily="18" charset="0"/>
                          </a:rPr>
                        </m:ctrlPr>
                      </m:sSubPr>
                      <m:e>
                        <m:r>
                          <a:rPr lang="en-AU" sz="2400" b="1" i="1">
                            <a:latin typeface="Cambria Math" panose="02040503050406030204" pitchFamily="18" charset="0"/>
                          </a:rPr>
                          <m:t>𝑻</m:t>
                        </m:r>
                      </m:e>
                      <m:sub>
                        <m:r>
                          <a:rPr lang="en-AU" sz="2400" b="1" i="1">
                            <a:latin typeface="Cambria Math" panose="02040503050406030204" pitchFamily="18" charset="0"/>
                          </a:rPr>
                          <m:t>𝟓𝟎</m:t>
                        </m:r>
                      </m:sub>
                    </m:sSub>
                    <m:r>
                      <a:rPr lang="en-AU" sz="2400" b="1" i="1">
                        <a:latin typeface="Cambria Math" panose="02040503050406030204" pitchFamily="18" charset="0"/>
                      </a:rPr>
                      <m:t> =</m:t>
                    </m:r>
                    <m:r>
                      <a:rPr lang="en-AU" sz="2400" b="1" i="1">
                        <a:latin typeface="Cambria Math" panose="02040503050406030204" pitchFamily="18" charset="0"/>
                      </a:rPr>
                      <m:t>𝟑</m:t>
                    </m:r>
                    <m:r>
                      <a:rPr lang="en-AU" sz="2400" b="1" i="1">
                        <a:latin typeface="Cambria Math" panose="02040503050406030204" pitchFamily="18" charset="0"/>
                        <a:ea typeface="Cambria Math" panose="02040503050406030204" pitchFamily="18" charset="0"/>
                      </a:rPr>
                      <m:t>×</m:t>
                    </m:r>
                    <m:r>
                      <a:rPr lang="en-AU" sz="2400" b="1" i="1">
                        <a:latin typeface="Cambria Math" panose="02040503050406030204" pitchFamily="18" charset="0"/>
                        <a:ea typeface="Cambria Math" panose="02040503050406030204" pitchFamily="18" charset="0"/>
                      </a:rPr>
                      <m:t>𝟓𝟎</m:t>
                    </m:r>
                    <m:r>
                      <a:rPr lang="en-AU" sz="2400" b="1" i="1">
                        <a:latin typeface="Cambria Math" panose="02040503050406030204" pitchFamily="18" charset="0"/>
                        <a:ea typeface="Cambria Math" panose="02040503050406030204" pitchFamily="18" charset="0"/>
                      </a:rPr>
                      <m:t>+</m:t>
                    </m:r>
                    <m:r>
                      <a:rPr lang="en-AU" sz="2400" b="1" i="1">
                        <a:latin typeface="Cambria Math" panose="02040503050406030204" pitchFamily="18" charset="0"/>
                        <a:ea typeface="Cambria Math" panose="02040503050406030204" pitchFamily="18" charset="0"/>
                      </a:rPr>
                      <m:t>𝟗</m:t>
                    </m:r>
                  </m:oMath>
                </a14:m>
                <a:br>
                  <a:rPr lang="en-AU" sz="2400" b="1" dirty="0">
                    <a:ea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AU" sz="2400" b="1" i="1">
                              <a:latin typeface="Cambria Math" panose="02040503050406030204" pitchFamily="18" charset="0"/>
                              <a:ea typeface="Cambria Math" panose="02040503050406030204" pitchFamily="18" charset="0"/>
                            </a:rPr>
                          </m:ctrlPr>
                        </m:sSubPr>
                        <m:e>
                          <m:r>
                            <a:rPr lang="en-AU" sz="2400" b="1" i="1">
                              <a:latin typeface="Cambria Math" panose="02040503050406030204" pitchFamily="18" charset="0"/>
                              <a:ea typeface="Cambria Math" panose="02040503050406030204" pitchFamily="18" charset="0"/>
                            </a:rPr>
                            <m:t>𝑻</m:t>
                          </m:r>
                        </m:e>
                        <m:sub>
                          <m:r>
                            <a:rPr lang="en-AU" sz="2400" b="1" i="1">
                              <a:latin typeface="Cambria Math" panose="02040503050406030204" pitchFamily="18" charset="0"/>
                              <a:ea typeface="Cambria Math" panose="02040503050406030204" pitchFamily="18" charset="0"/>
                            </a:rPr>
                            <m:t>𝟓𝟎</m:t>
                          </m:r>
                        </m:sub>
                      </m:sSub>
                      <m:r>
                        <a:rPr lang="en-AU" sz="2400" b="1" i="1">
                          <a:latin typeface="Cambria Math" panose="02040503050406030204" pitchFamily="18" charset="0"/>
                          <a:ea typeface="Cambria Math" panose="02040503050406030204" pitchFamily="18" charset="0"/>
                        </a:rPr>
                        <m:t>=</m:t>
                      </m:r>
                      <m:r>
                        <a:rPr lang="en-AU" sz="2400" b="1" i="1">
                          <a:latin typeface="Cambria Math" panose="02040503050406030204" pitchFamily="18" charset="0"/>
                          <a:ea typeface="Cambria Math" panose="02040503050406030204" pitchFamily="18" charset="0"/>
                        </a:rPr>
                        <m:t>𝟏𝟓𝟗</m:t>
                      </m:r>
                    </m:oMath>
                  </m:oMathPara>
                </a14:m>
                <a:endParaRPr lang="en-AU" sz="2400" dirty="0"/>
              </a:p>
            </p:txBody>
          </p:sp>
        </mc:Choice>
        <mc:Fallback xmlns="">
          <p:sp>
            <p:nvSpPr>
              <p:cNvPr id="6" name="Rectangle 5">
                <a:extLst>
                  <a:ext uri="{FF2B5EF4-FFF2-40B4-BE49-F238E27FC236}">
                    <a16:creationId xmlns:a16="http://schemas.microsoft.com/office/drawing/2014/main" id="{1D35D717-A838-455D-82C8-9214F35D3D98}"/>
                  </a:ext>
                </a:extLst>
              </p:cNvPr>
              <p:cNvSpPr>
                <a:spLocks noRot="1" noChangeAspect="1" noMove="1" noResize="1" noEditPoints="1" noAdjustHandles="1" noChangeArrowheads="1" noChangeShapeType="1" noTextEdit="1"/>
              </p:cNvSpPr>
              <p:nvPr/>
            </p:nvSpPr>
            <p:spPr>
              <a:xfrm>
                <a:off x="7279688" y="2183400"/>
                <a:ext cx="4802819" cy="4519242"/>
              </a:xfrm>
              <a:prstGeom prst="rect">
                <a:avLst/>
              </a:prstGeom>
              <a:blipFill>
                <a:blip r:embed="rId3"/>
                <a:stretch>
                  <a:fillRect l="-1772"/>
                </a:stretch>
              </a:blipFill>
            </p:spPr>
            <p:txBody>
              <a:bodyPr/>
              <a:lstStyle/>
              <a:p>
                <a:r>
                  <a:rPr lang="en-AU">
                    <a:noFill/>
                  </a:rPr>
                  <a:t> </a:t>
                </a:r>
              </a:p>
            </p:txBody>
          </p:sp>
        </mc:Fallback>
      </mc:AlternateContent>
      <p:pic>
        <p:nvPicPr>
          <p:cNvPr id="8" name="Picture 7">
            <a:extLst>
              <a:ext uri="{FF2B5EF4-FFF2-40B4-BE49-F238E27FC236}">
                <a16:creationId xmlns:a16="http://schemas.microsoft.com/office/drawing/2014/main" id="{26DBF405-20B9-4271-878B-2E52DD6B8FBF}"/>
              </a:ext>
            </a:extLst>
          </p:cNvPr>
          <p:cNvPicPr>
            <a:picLocks noChangeAspect="1"/>
          </p:cNvPicPr>
          <p:nvPr/>
        </p:nvPicPr>
        <p:blipFill>
          <a:blip r:embed="rId4"/>
          <a:stretch>
            <a:fillRect/>
          </a:stretch>
        </p:blipFill>
        <p:spPr>
          <a:xfrm>
            <a:off x="8617583" y="3598646"/>
            <a:ext cx="452438" cy="442913"/>
          </a:xfrm>
          <a:prstGeom prst="rect">
            <a:avLst/>
          </a:prstGeom>
        </p:spPr>
      </p:pic>
      <p:pic>
        <p:nvPicPr>
          <p:cNvPr id="9" name="Picture 8">
            <a:extLst>
              <a:ext uri="{FF2B5EF4-FFF2-40B4-BE49-F238E27FC236}">
                <a16:creationId xmlns:a16="http://schemas.microsoft.com/office/drawing/2014/main" id="{AEFBD895-7B19-4788-A70A-959AABABBB67}"/>
              </a:ext>
            </a:extLst>
          </p:cNvPr>
          <p:cNvPicPr>
            <a:picLocks noChangeAspect="1"/>
          </p:cNvPicPr>
          <p:nvPr/>
        </p:nvPicPr>
        <p:blipFill>
          <a:blip r:embed="rId4"/>
          <a:stretch>
            <a:fillRect/>
          </a:stretch>
        </p:blipFill>
        <p:spPr>
          <a:xfrm>
            <a:off x="10483374" y="3598646"/>
            <a:ext cx="452438" cy="442913"/>
          </a:xfrm>
          <a:prstGeom prst="rect">
            <a:avLst/>
          </a:prstGeom>
        </p:spPr>
      </p:pic>
      <p:pic>
        <p:nvPicPr>
          <p:cNvPr id="11" name="Picture 10">
            <a:extLst>
              <a:ext uri="{FF2B5EF4-FFF2-40B4-BE49-F238E27FC236}">
                <a16:creationId xmlns:a16="http://schemas.microsoft.com/office/drawing/2014/main" id="{91027404-6B14-48A5-9508-AD062C6FF5F5}"/>
              </a:ext>
            </a:extLst>
          </p:cNvPr>
          <p:cNvPicPr>
            <a:picLocks noChangeAspect="1"/>
          </p:cNvPicPr>
          <p:nvPr/>
        </p:nvPicPr>
        <p:blipFill>
          <a:blip r:embed="rId4"/>
          <a:stretch>
            <a:fillRect/>
          </a:stretch>
        </p:blipFill>
        <p:spPr>
          <a:xfrm>
            <a:off x="8843802" y="5013892"/>
            <a:ext cx="452438" cy="442913"/>
          </a:xfrm>
          <a:prstGeom prst="rect">
            <a:avLst/>
          </a:prstGeom>
        </p:spPr>
      </p:pic>
      <p:pic>
        <p:nvPicPr>
          <p:cNvPr id="12" name="Picture 11">
            <a:extLst>
              <a:ext uri="{FF2B5EF4-FFF2-40B4-BE49-F238E27FC236}">
                <a16:creationId xmlns:a16="http://schemas.microsoft.com/office/drawing/2014/main" id="{85933E38-9AFA-473C-ACE5-DD883CCACEA3}"/>
              </a:ext>
            </a:extLst>
          </p:cNvPr>
          <p:cNvPicPr>
            <a:picLocks noChangeAspect="1"/>
          </p:cNvPicPr>
          <p:nvPr/>
        </p:nvPicPr>
        <p:blipFill>
          <a:blip r:embed="rId4"/>
          <a:stretch>
            <a:fillRect/>
          </a:stretch>
        </p:blipFill>
        <p:spPr>
          <a:xfrm>
            <a:off x="9296240" y="5013892"/>
            <a:ext cx="452438" cy="442913"/>
          </a:xfrm>
          <a:prstGeom prst="rect">
            <a:avLst/>
          </a:prstGeom>
        </p:spPr>
      </p:pic>
      <p:pic>
        <p:nvPicPr>
          <p:cNvPr id="13" name="Picture 12">
            <a:extLst>
              <a:ext uri="{FF2B5EF4-FFF2-40B4-BE49-F238E27FC236}">
                <a16:creationId xmlns:a16="http://schemas.microsoft.com/office/drawing/2014/main" id="{900F8B1B-C90A-473C-96B8-F67A1E514CD4}"/>
              </a:ext>
            </a:extLst>
          </p:cNvPr>
          <p:cNvPicPr>
            <a:picLocks noChangeAspect="1"/>
          </p:cNvPicPr>
          <p:nvPr/>
        </p:nvPicPr>
        <p:blipFill>
          <a:blip r:embed="rId4"/>
          <a:stretch>
            <a:fillRect/>
          </a:stretch>
        </p:blipFill>
        <p:spPr>
          <a:xfrm>
            <a:off x="10483374" y="6049962"/>
            <a:ext cx="452438" cy="442913"/>
          </a:xfrm>
          <a:prstGeom prst="rect">
            <a:avLst/>
          </a:prstGeom>
        </p:spPr>
      </p:pic>
    </p:spTree>
    <p:extLst>
      <p:ext uri="{BB962C8B-B14F-4D97-AF65-F5344CB8AC3E}">
        <p14:creationId xmlns:p14="http://schemas.microsoft.com/office/powerpoint/2010/main" val="194713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FA2F-0B60-469B-80DE-729743BB1848}"/>
              </a:ext>
            </a:extLst>
          </p:cNvPr>
          <p:cNvSpPr>
            <a:spLocks noGrp="1"/>
          </p:cNvSpPr>
          <p:nvPr>
            <p:ph type="title"/>
          </p:nvPr>
        </p:nvSpPr>
        <p:spPr/>
        <p:txBody>
          <a:bodyPr/>
          <a:lstStyle/>
          <a:p>
            <a:r>
              <a:rPr lang="en-AU" dirty="0"/>
              <a:t>Complete ch5 in the ATP exam revision book</a:t>
            </a:r>
          </a:p>
        </p:txBody>
      </p:sp>
      <p:sp>
        <p:nvSpPr>
          <p:cNvPr id="3" name="Content Placeholder 2">
            <a:extLst>
              <a:ext uri="{FF2B5EF4-FFF2-40B4-BE49-F238E27FC236}">
                <a16:creationId xmlns:a16="http://schemas.microsoft.com/office/drawing/2014/main" id="{3392BB43-BC65-47DD-9E9F-C9DE697D41A2}"/>
              </a:ext>
            </a:extLst>
          </p:cNvPr>
          <p:cNvSpPr>
            <a:spLocks noGrp="1"/>
          </p:cNvSpPr>
          <p:nvPr>
            <p:ph idx="1"/>
          </p:nvPr>
        </p:nvSpPr>
        <p:spPr/>
        <p:txBody>
          <a:bodyPr/>
          <a:lstStyle/>
          <a:p>
            <a:pPr marL="0" indent="0">
              <a:buNone/>
            </a:pPr>
            <a:r>
              <a:rPr lang="en-AU" dirty="0"/>
              <a:t>If you do not have this book with you work on Ch4A from the Sadler text</a:t>
            </a:r>
          </a:p>
        </p:txBody>
      </p:sp>
    </p:spTree>
    <p:extLst>
      <p:ext uri="{BB962C8B-B14F-4D97-AF65-F5344CB8AC3E}">
        <p14:creationId xmlns:p14="http://schemas.microsoft.com/office/powerpoint/2010/main" val="2428740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dirty="0"/>
              <a:t>Lesson 5</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a:xfrm>
            <a:off x="749424" y="1923280"/>
            <a:ext cx="10515600" cy="4351338"/>
          </a:xfrm>
        </p:spPr>
        <p:txBody>
          <a:bodyPr/>
          <a:lstStyle/>
          <a:p>
            <a:pPr marL="0" indent="0">
              <a:buNone/>
            </a:pPr>
            <a:r>
              <a:rPr lang="en-AU" dirty="0"/>
              <a:t>Topic: Geometric Sequences</a:t>
            </a:r>
          </a:p>
          <a:p>
            <a:pPr marL="0" indent="0">
              <a:buNone/>
            </a:pPr>
            <a:r>
              <a:rPr lang="en-AU" dirty="0"/>
              <a:t>EQ: What are Geometric Sequences and how can we use them?</a:t>
            </a:r>
          </a:p>
        </p:txBody>
      </p:sp>
      <p:sp>
        <p:nvSpPr>
          <p:cNvPr id="4" name="Oval 3">
            <a:hlinkClick r:id="rId2" action="ppaction://hlinksldjump"/>
            <a:extLst>
              <a:ext uri="{FF2B5EF4-FFF2-40B4-BE49-F238E27FC236}">
                <a16:creationId xmlns:a16="http://schemas.microsoft.com/office/drawing/2014/main" id="{654C0395-CC5E-485F-A858-F8846DB584E0}"/>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2295855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474502" y="157981"/>
            <a:ext cx="11242995" cy="1477328"/>
          </a:xfrm>
          <a:prstGeom prst="rect">
            <a:avLst/>
          </a:prstGeom>
          <a:noFill/>
        </p:spPr>
        <p:txBody>
          <a:bodyPr wrap="square" rtlCol="0">
            <a:spAutoFit/>
          </a:bodyPr>
          <a:lstStyle/>
          <a:p>
            <a:r>
              <a:rPr lang="en-AU" sz="2400" dirty="0"/>
              <a:t>Topic: Geometric Sequences</a:t>
            </a:r>
          </a:p>
          <a:p>
            <a:r>
              <a:rPr lang="en-AU" sz="2400" dirty="0"/>
              <a:t>EQ: What are Geometric sequences and how can we use them?</a:t>
            </a:r>
          </a:p>
          <a:p>
            <a:endParaRPr lang="en-AU" sz="2400" dirty="0"/>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0" y="1180730"/>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9DC9ED6-D58B-4AFF-A6EB-F2EF91A8CEE9}"/>
              </a:ext>
            </a:extLst>
          </p:cNvPr>
          <p:cNvSpPr txBox="1"/>
          <p:nvPr/>
        </p:nvSpPr>
        <p:spPr>
          <a:xfrm>
            <a:off x="711218" y="1400933"/>
            <a:ext cx="11129800" cy="1477328"/>
          </a:xfrm>
          <a:prstGeom prst="rect">
            <a:avLst/>
          </a:prstGeom>
          <a:noFill/>
        </p:spPr>
        <p:txBody>
          <a:bodyPr wrap="square" rtlCol="0">
            <a:spAutoFit/>
          </a:bodyPr>
          <a:lstStyle/>
          <a:p>
            <a:r>
              <a:rPr lang="en-AU" dirty="0"/>
              <a:t>Geometric Sequences are found when we multiply the previous term by the same scale to find the next term.</a:t>
            </a:r>
          </a:p>
          <a:p>
            <a:r>
              <a:rPr lang="en-AU" dirty="0"/>
              <a:t>This will for an exponential graph.</a:t>
            </a:r>
          </a:p>
          <a:p>
            <a:endParaRPr lang="en-AU" dirty="0"/>
          </a:p>
          <a:p>
            <a:r>
              <a:rPr lang="en-AU" dirty="0"/>
              <a:t>Consider the sequence: 5, 15, 45, 135…</a:t>
            </a:r>
          </a:p>
          <a:p>
            <a:endParaRPr lang="en-AU" dirty="0"/>
          </a:p>
        </p:txBody>
      </p:sp>
      <p:cxnSp>
        <p:nvCxnSpPr>
          <p:cNvPr id="5" name="Straight Connector 4">
            <a:extLst>
              <a:ext uri="{FF2B5EF4-FFF2-40B4-BE49-F238E27FC236}">
                <a16:creationId xmlns:a16="http://schemas.microsoft.com/office/drawing/2014/main" id="{C8F8F03E-36A8-48D0-846C-50767CC390C2}"/>
              </a:ext>
            </a:extLst>
          </p:cNvPr>
          <p:cNvCxnSpPr>
            <a:cxnSpLocks/>
          </p:cNvCxnSpPr>
          <p:nvPr/>
        </p:nvCxnSpPr>
        <p:spPr>
          <a:xfrm>
            <a:off x="5592933" y="2485617"/>
            <a:ext cx="0" cy="43723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D26FD14-491E-4AB9-B44C-4C2F98D339A0}"/>
                  </a:ext>
                </a:extLst>
              </p:cNvPr>
              <p:cNvSpPr txBox="1"/>
              <p:nvPr/>
            </p:nvSpPr>
            <p:spPr>
              <a:xfrm>
                <a:off x="1091953" y="2814221"/>
                <a:ext cx="4083725" cy="3139321"/>
              </a:xfrm>
              <a:prstGeom prst="rect">
                <a:avLst/>
              </a:prstGeom>
              <a:noFill/>
            </p:spPr>
            <p:txBody>
              <a:bodyPr wrap="square" rtlCol="0">
                <a:spAutoFit/>
              </a:bodyPr>
              <a:lstStyle/>
              <a:p>
                <a:r>
                  <a:rPr lang="en-AU" b="1" dirty="0"/>
                  <a:t>Recursive rule: </a:t>
                </a:r>
                <a:r>
                  <a:rPr lang="en-AU" dirty="0"/>
                  <a:t>The rule that uses the previous term to find the next term.</a:t>
                </a:r>
              </a:p>
              <a:p>
                <a:endParaRPr lang="en-AU" dirty="0"/>
              </a:p>
              <a:p>
                <a:endParaRPr lang="en-AU" b="1" dirty="0"/>
              </a:p>
              <a:p>
                <a:r>
                  <a:rPr lang="en-AU" dirty="0"/>
                  <a:t>For the above sequence our recursive rule will be </a:t>
                </a:r>
              </a:p>
              <a:p>
                <a:endParaRPr lang="en-AU" dirty="0"/>
              </a:p>
              <a:p>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r>
                            <a:rPr lang="en-AU" b="1" i="1">
                              <a:latin typeface="Cambria Math" panose="02040503050406030204" pitchFamily="18" charset="0"/>
                            </a:rPr>
                            <m:t>+</m:t>
                          </m:r>
                          <m:r>
                            <a:rPr lang="en-AU" b="1" i="1">
                              <a:latin typeface="Cambria Math" panose="02040503050406030204" pitchFamily="18" charset="0"/>
                            </a:rPr>
                            <m:t>𝟏</m:t>
                          </m:r>
                        </m:sub>
                      </m:sSub>
                      <m:r>
                        <a:rPr lang="en-AU" b="1" i="1">
                          <a:latin typeface="Cambria Math" panose="02040503050406030204" pitchFamily="18" charset="0"/>
                        </a:rPr>
                        <m:t> = </m:t>
                      </m:r>
                      <m:sSub>
                        <m:sSubPr>
                          <m:ctrlPr>
                            <a:rPr lang="en-AU" b="1" i="1">
                              <a:latin typeface="Cambria Math" panose="02040503050406030204" pitchFamily="18" charset="0"/>
                            </a:rPr>
                          </m:ctrlPr>
                        </m:sSubPr>
                        <m:e>
                          <m:r>
                            <a:rPr lang="en-AU" b="1" i="1" smtClean="0">
                              <a:latin typeface="Cambria Math" panose="02040503050406030204" pitchFamily="18" charset="0"/>
                            </a:rPr>
                            <m:t>𝟑</m:t>
                          </m:r>
                          <m:r>
                            <a:rPr lang="en-AU" b="1" i="1">
                              <a:latin typeface="Cambria Math" panose="02040503050406030204" pitchFamily="18" charset="0"/>
                            </a:rPr>
                            <m:t>𝑻</m:t>
                          </m:r>
                        </m:e>
                        <m:sub>
                          <m:r>
                            <a:rPr lang="en-AU" b="1" i="1">
                              <a:latin typeface="Cambria Math" panose="02040503050406030204" pitchFamily="18" charset="0"/>
                            </a:rPr>
                            <m:t>𝒏</m:t>
                          </m:r>
                        </m:sub>
                      </m:sSub>
                      <m:r>
                        <a:rPr lang="en-AU" b="1">
                          <a:latin typeface="Cambria Math" panose="02040503050406030204" pitchFamily="18" charset="0"/>
                        </a:rPr>
                        <m:t> , </m:t>
                      </m:r>
                      <m:sSub>
                        <m:sSubPr>
                          <m:ctrlPr>
                            <a:rPr lang="en-AU" b="1" i="1">
                              <a:latin typeface="Cambria Math" panose="02040503050406030204" pitchFamily="18" charset="0"/>
                            </a:rPr>
                          </m:ctrlPr>
                        </m:sSubPr>
                        <m:e>
                          <m:r>
                            <a:rPr lang="en-AU" b="1" i="1">
                              <a:latin typeface="Cambria Math" panose="02040503050406030204" pitchFamily="18" charset="0"/>
                            </a:rPr>
                            <m:t>         </m:t>
                          </m:r>
                          <m:r>
                            <a:rPr lang="en-AU" b="1" i="1">
                              <a:latin typeface="Cambria Math" panose="02040503050406030204" pitchFamily="18" charset="0"/>
                            </a:rPr>
                            <m:t>𝑻</m:t>
                          </m:r>
                        </m:e>
                        <m:sub>
                          <m:r>
                            <a:rPr lang="en-AU" b="1" i="1">
                              <a:latin typeface="Cambria Math" panose="02040503050406030204" pitchFamily="18" charset="0"/>
                            </a:rPr>
                            <m:t>𝟏</m:t>
                          </m:r>
                        </m:sub>
                      </m:sSub>
                      <m:r>
                        <a:rPr lang="en-AU" b="1" i="1">
                          <a:latin typeface="Cambria Math" panose="02040503050406030204" pitchFamily="18" charset="0"/>
                        </a:rPr>
                        <m:t>=</m:t>
                      </m:r>
                      <m:r>
                        <a:rPr lang="en-AU" b="1" i="1" smtClean="0">
                          <a:latin typeface="Cambria Math" panose="02040503050406030204" pitchFamily="18" charset="0"/>
                        </a:rPr>
                        <m:t>𝟓</m:t>
                      </m:r>
                    </m:oMath>
                  </m:oMathPara>
                </a14:m>
                <a:endParaRPr lang="en-AU" dirty="0"/>
              </a:p>
              <a:p>
                <a:endParaRPr lang="en-AU" dirty="0"/>
              </a:p>
              <a:p>
                <a:r>
                  <a:rPr lang="en-AU" dirty="0"/>
                  <a:t>Each term is 3 times the previous term</a:t>
                </a:r>
              </a:p>
              <a:p>
                <a:endParaRPr lang="en-AU" dirty="0"/>
              </a:p>
            </p:txBody>
          </p:sp>
        </mc:Choice>
        <mc:Fallback xmlns="">
          <p:sp>
            <p:nvSpPr>
              <p:cNvPr id="8" name="TextBox 7">
                <a:extLst>
                  <a:ext uri="{FF2B5EF4-FFF2-40B4-BE49-F238E27FC236}">
                    <a16:creationId xmlns:a16="http://schemas.microsoft.com/office/drawing/2014/main" id="{0D26FD14-491E-4AB9-B44C-4C2F98D339A0}"/>
                  </a:ext>
                </a:extLst>
              </p:cNvPr>
              <p:cNvSpPr txBox="1">
                <a:spLocks noRot="1" noChangeAspect="1" noMove="1" noResize="1" noEditPoints="1" noAdjustHandles="1" noChangeArrowheads="1" noChangeShapeType="1" noTextEdit="1"/>
              </p:cNvSpPr>
              <p:nvPr/>
            </p:nvSpPr>
            <p:spPr>
              <a:xfrm>
                <a:off x="1091953" y="2814221"/>
                <a:ext cx="4083725" cy="3139321"/>
              </a:xfrm>
              <a:prstGeom prst="rect">
                <a:avLst/>
              </a:prstGeom>
              <a:blipFill>
                <a:blip r:embed="rId2"/>
                <a:stretch>
                  <a:fillRect l="-1194" t="-1165"/>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ADFCAF-02AD-4298-B027-2DA0D8E2AB62}"/>
                  </a:ext>
                </a:extLst>
              </p:cNvPr>
              <p:cNvSpPr txBox="1"/>
              <p:nvPr/>
            </p:nvSpPr>
            <p:spPr>
              <a:xfrm>
                <a:off x="6095999" y="2787584"/>
                <a:ext cx="4820570" cy="3699539"/>
              </a:xfrm>
              <a:prstGeom prst="rect">
                <a:avLst/>
              </a:prstGeom>
              <a:noFill/>
            </p:spPr>
            <p:txBody>
              <a:bodyPr wrap="square" rtlCol="0">
                <a:spAutoFit/>
              </a:bodyPr>
              <a:lstStyle/>
              <a:p>
                <a:r>
                  <a:rPr lang="en-AU" b="1" dirty="0"/>
                  <a:t>Explicit rule: </a:t>
                </a:r>
                <a:r>
                  <a:rPr lang="en-AU" dirty="0"/>
                  <a:t>Used to find any term without knowing the previous term. This appears in exams asking for the rule for the nth term.</a:t>
                </a:r>
              </a:p>
              <a:p>
                <a:endParaRPr lang="en-AU" dirty="0"/>
              </a:p>
              <a:p>
                <a:r>
                  <a:rPr lang="en-AU" dirty="0"/>
                  <a:t>For the above sequence the explicit rule is</a:t>
                </a:r>
              </a:p>
              <a:p>
                <a:endParaRPr lang="en-AU" dirty="0"/>
              </a:p>
              <a:p>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𝑻</m:t>
                          </m:r>
                        </m:e>
                        <m:sub>
                          <m:r>
                            <a:rPr lang="en-AU" b="1" i="1">
                              <a:latin typeface="Cambria Math" panose="02040503050406030204" pitchFamily="18" charset="0"/>
                            </a:rPr>
                            <m:t>𝒏</m:t>
                          </m:r>
                        </m:sub>
                      </m:sSub>
                      <m:r>
                        <a:rPr lang="en-AU" b="1" i="1" smtClean="0">
                          <a:latin typeface="Cambria Math" panose="02040503050406030204" pitchFamily="18" charset="0"/>
                        </a:rPr>
                        <m:t>=</m:t>
                      </m:r>
                      <m:r>
                        <a:rPr lang="en-AU" b="1" i="1" smtClean="0">
                          <a:latin typeface="Cambria Math" panose="02040503050406030204" pitchFamily="18" charset="0"/>
                        </a:rPr>
                        <m:t>𝟓</m:t>
                      </m:r>
                      <m:r>
                        <a:rPr lang="en-AU" b="1" i="1" smtClean="0">
                          <a:latin typeface="Cambria Math" panose="02040503050406030204" pitchFamily="18" charset="0"/>
                          <a:ea typeface="Cambria Math" panose="02040503050406030204" pitchFamily="18" charset="0"/>
                        </a:rPr>
                        <m:t>×</m:t>
                      </m:r>
                      <m:sSup>
                        <m:sSupPr>
                          <m:ctrlPr>
                            <a:rPr lang="en-AU" b="1" i="1" smtClean="0">
                              <a:latin typeface="Cambria Math" panose="02040503050406030204" pitchFamily="18" charset="0"/>
                              <a:ea typeface="Cambria Math" panose="02040503050406030204" pitchFamily="18" charset="0"/>
                            </a:rPr>
                          </m:ctrlPr>
                        </m:sSupPr>
                        <m:e>
                          <m:r>
                            <a:rPr lang="en-AU" b="1" i="1" smtClean="0">
                              <a:latin typeface="Cambria Math" panose="02040503050406030204" pitchFamily="18" charset="0"/>
                              <a:ea typeface="Cambria Math" panose="02040503050406030204" pitchFamily="18" charset="0"/>
                            </a:rPr>
                            <m:t>𝟑</m:t>
                          </m:r>
                        </m:e>
                        <m:sup>
                          <m:r>
                            <a:rPr lang="en-AU" b="1" i="1" smtClean="0">
                              <a:latin typeface="Cambria Math" panose="02040503050406030204" pitchFamily="18" charset="0"/>
                              <a:ea typeface="Cambria Math" panose="02040503050406030204" pitchFamily="18" charset="0"/>
                            </a:rPr>
                            <m:t>𝒏</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𝟏</m:t>
                          </m:r>
                        </m:sup>
                      </m:sSup>
                      <m:r>
                        <a:rPr lang="en-AU" b="0" i="0" smtClean="0">
                          <a:latin typeface="Cambria Math" panose="02040503050406030204" pitchFamily="18" charset="0"/>
                          <a:ea typeface="Cambria Math" panose="02040503050406030204" pitchFamily="18" charset="0"/>
                        </a:rPr>
                        <m:t>,  </m:t>
                      </m:r>
                      <m:r>
                        <m:rPr>
                          <m:sty m:val="p"/>
                        </m:rPr>
                        <a:rPr lang="en-AU">
                          <a:latin typeface="Cambria Math" panose="02040503050406030204" pitchFamily="18" charset="0"/>
                        </a:rPr>
                        <m:t>where</m:t>
                      </m:r>
                      <m:r>
                        <a:rPr lang="en-AU">
                          <a:latin typeface="Cambria Math" panose="02040503050406030204" pitchFamily="18" charset="0"/>
                        </a:rPr>
                        <m:t> </m:t>
                      </m:r>
                      <m:r>
                        <m:rPr>
                          <m:sty m:val="p"/>
                        </m:rPr>
                        <a:rPr lang="en-AU">
                          <a:latin typeface="Cambria Math" panose="02040503050406030204" pitchFamily="18" charset="0"/>
                        </a:rPr>
                        <m:t>n</m:t>
                      </m:r>
                      <m:r>
                        <a:rPr lang="en-AU">
                          <a:latin typeface="Cambria Math" panose="02040503050406030204" pitchFamily="18" charset="0"/>
                        </a:rPr>
                        <m:t>=1,2,3…</m:t>
                      </m:r>
                    </m:oMath>
                  </m:oMathPara>
                </a14:m>
                <a:endParaRPr lang="en-AU" dirty="0"/>
              </a:p>
              <a:p>
                <a:endParaRPr lang="en-AU" dirty="0"/>
              </a:p>
              <a:p>
                <a:r>
                  <a:rPr lang="en-AU" dirty="0"/>
                  <a:t>Where 5 is the scale factor and 3 is the first term.</a:t>
                </a:r>
              </a:p>
              <a:p>
                <a:endParaRPr lang="en-AU" dirty="0"/>
              </a:p>
              <a:p>
                <a:endParaRPr lang="en-AU" dirty="0"/>
              </a:p>
              <a:p>
                <a:endParaRPr lang="en-AU" dirty="0"/>
              </a:p>
              <a:p>
                <a:endParaRPr lang="en-AU" dirty="0"/>
              </a:p>
            </p:txBody>
          </p:sp>
        </mc:Choice>
        <mc:Fallback xmlns="">
          <p:sp>
            <p:nvSpPr>
              <p:cNvPr id="9" name="TextBox 8">
                <a:extLst>
                  <a:ext uri="{FF2B5EF4-FFF2-40B4-BE49-F238E27FC236}">
                    <a16:creationId xmlns:a16="http://schemas.microsoft.com/office/drawing/2014/main" id="{1AADFCAF-02AD-4298-B027-2DA0D8E2AB62}"/>
                  </a:ext>
                </a:extLst>
              </p:cNvPr>
              <p:cNvSpPr txBox="1">
                <a:spLocks noRot="1" noChangeAspect="1" noMove="1" noResize="1" noEditPoints="1" noAdjustHandles="1" noChangeArrowheads="1" noChangeShapeType="1" noTextEdit="1"/>
              </p:cNvSpPr>
              <p:nvPr/>
            </p:nvSpPr>
            <p:spPr>
              <a:xfrm>
                <a:off x="6095999" y="2787584"/>
                <a:ext cx="4820570" cy="3699539"/>
              </a:xfrm>
              <a:prstGeom prst="rect">
                <a:avLst/>
              </a:prstGeom>
              <a:blipFill>
                <a:blip r:embed="rId3"/>
                <a:stretch>
                  <a:fillRect l="-1011" t="-824"/>
                </a:stretch>
              </a:blipFill>
            </p:spPr>
            <p:txBody>
              <a:bodyPr/>
              <a:lstStyle/>
              <a:p>
                <a:r>
                  <a:rPr lang="en-AU">
                    <a:noFill/>
                  </a:rPr>
                  <a:t> </a:t>
                </a:r>
              </a:p>
            </p:txBody>
          </p:sp>
        </mc:Fallback>
      </mc:AlternateContent>
      <p:sp>
        <p:nvSpPr>
          <p:cNvPr id="10" name="Rectangle 9">
            <a:extLst>
              <a:ext uri="{FF2B5EF4-FFF2-40B4-BE49-F238E27FC236}">
                <a16:creationId xmlns:a16="http://schemas.microsoft.com/office/drawing/2014/main" id="{31A1BCF0-7A89-4B44-B556-BED5CA1168F4}"/>
              </a:ext>
            </a:extLst>
          </p:cNvPr>
          <p:cNvSpPr/>
          <p:nvPr/>
        </p:nvSpPr>
        <p:spPr>
          <a:xfrm>
            <a:off x="923278" y="5850384"/>
            <a:ext cx="4145871" cy="93215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AU" dirty="0"/>
              <a:t>Recursive rule must have the rule and the first term to get full marks</a:t>
            </a:r>
          </a:p>
        </p:txBody>
      </p:sp>
    </p:spTree>
    <p:extLst>
      <p:ext uri="{BB962C8B-B14F-4D97-AF65-F5344CB8AC3E}">
        <p14:creationId xmlns:p14="http://schemas.microsoft.com/office/powerpoint/2010/main" val="35172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EE61D-B99B-47A9-866C-A65F0745A036}"/>
              </a:ext>
            </a:extLst>
          </p:cNvPr>
          <p:cNvSpPr>
            <a:spLocks noGrp="1"/>
          </p:cNvSpPr>
          <p:nvPr>
            <p:ph type="title"/>
          </p:nvPr>
        </p:nvSpPr>
        <p:spPr>
          <a:xfrm>
            <a:off x="838200" y="365125"/>
            <a:ext cx="4310849" cy="1325563"/>
          </a:xfrm>
        </p:spPr>
        <p:txBody>
          <a:bodyPr/>
          <a:lstStyle/>
          <a:p>
            <a:r>
              <a:rPr lang="en-AU" b="1" dirty="0"/>
              <a:t>Example question: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380371-FAED-4BD8-954C-0CA0E33C613E}"/>
                  </a:ext>
                </a:extLst>
              </p:cNvPr>
              <p:cNvSpPr>
                <a:spLocks noGrp="1"/>
              </p:cNvSpPr>
              <p:nvPr>
                <p:ph idx="1"/>
              </p:nvPr>
            </p:nvSpPr>
            <p:spPr>
              <a:xfrm>
                <a:off x="838200" y="1825625"/>
                <a:ext cx="8402053" cy="4351338"/>
              </a:xfrm>
            </p:spPr>
            <p:txBody>
              <a:bodyPr/>
              <a:lstStyle/>
              <a:p>
                <a:pPr marL="0" indent="0">
                  <a:buNone/>
                </a:pPr>
                <a:r>
                  <a:rPr lang="en-AU" dirty="0"/>
                  <a:t>Consider the sequence:    4, 8, 16, 32, 64,…</a:t>
                </a:r>
              </a:p>
              <a:p>
                <a:pPr marL="514350" indent="-514350">
                  <a:buAutoNum type="alphaLcParenR"/>
                </a:pPr>
                <a:r>
                  <a:rPr lang="en-AU" dirty="0"/>
                  <a:t>Find the recursive rule for this sequence.</a:t>
                </a:r>
              </a:p>
              <a:p>
                <a:pPr marL="514350" indent="-514350">
                  <a:buAutoNum type="alphaLcParenR"/>
                </a:pPr>
                <a:endParaRPr lang="en-AU" dirty="0"/>
              </a:p>
              <a:p>
                <a:pPr marL="514350" indent="-514350">
                  <a:buAutoNum type="alphaLcParenR"/>
                </a:pPr>
                <a:endParaRPr lang="en-AU" dirty="0"/>
              </a:p>
              <a:p>
                <a:pPr marL="514350" indent="-514350">
                  <a:buAutoNum type="alphaLcParenR"/>
                </a:pPr>
                <a:endParaRPr lang="en-AU" dirty="0"/>
              </a:p>
              <a:p>
                <a:pPr marL="514350" indent="-514350">
                  <a:buAutoNum type="alphaLcParenR"/>
                </a:pPr>
                <a:r>
                  <a:rPr lang="en-AU" dirty="0"/>
                  <a:t>Given the nth term is </a:t>
                </a:r>
                <a14:m>
                  <m:oMath xmlns:m="http://schemas.openxmlformats.org/officeDocument/2006/math">
                    <m:r>
                      <a:rPr lang="en-AU" b="0" i="1" smtClean="0">
                        <a:latin typeface="Cambria Math" panose="02040503050406030204" pitchFamily="18" charset="0"/>
                      </a:rPr>
                      <m:t>𝑇</m:t>
                    </m:r>
                    <m:d>
                      <m:dPr>
                        <m:ctrlPr>
                          <a:rPr lang="en-AU" b="0" i="1" smtClean="0">
                            <a:latin typeface="Cambria Math" panose="02040503050406030204" pitchFamily="18" charset="0"/>
                          </a:rPr>
                        </m:ctrlPr>
                      </m:dPr>
                      <m:e>
                        <m:r>
                          <a:rPr lang="en-AU" b="0" i="1" smtClean="0">
                            <a:latin typeface="Cambria Math" panose="02040503050406030204" pitchFamily="18" charset="0"/>
                          </a:rPr>
                          <m:t>𝑛</m:t>
                        </m:r>
                      </m:e>
                    </m:d>
                    <m:r>
                      <a:rPr lang="en-AU" b="0" i="1" smtClean="0">
                        <a:latin typeface="Cambria Math" panose="02040503050406030204" pitchFamily="18" charset="0"/>
                      </a:rPr>
                      <m:t>=</m:t>
                    </m:r>
                    <m:r>
                      <a:rPr lang="en-AU" b="0" i="1" smtClean="0">
                        <a:latin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𝑛</m:t>
                        </m:r>
                        <m:r>
                          <a:rPr lang="en-AU" b="0" i="1" smtClean="0">
                            <a:latin typeface="Cambria Math" panose="02040503050406030204" pitchFamily="18" charset="0"/>
                            <a:ea typeface="Cambria Math" panose="02040503050406030204" pitchFamily="18" charset="0"/>
                          </a:rPr>
                          <m:t>−1</m:t>
                        </m:r>
                      </m:sup>
                    </m:sSup>
                  </m:oMath>
                </a14:m>
                <a:r>
                  <a:rPr lang="en-AU" dirty="0"/>
                  <a:t>, find a and b.</a:t>
                </a:r>
              </a:p>
              <a:p>
                <a:pPr marL="0" indent="0">
                  <a:buNone/>
                </a:pPr>
                <a:endParaRPr lang="en-AU" dirty="0"/>
              </a:p>
            </p:txBody>
          </p:sp>
        </mc:Choice>
        <mc:Fallback xmlns="">
          <p:sp>
            <p:nvSpPr>
              <p:cNvPr id="3" name="Content Placeholder 2">
                <a:extLst>
                  <a:ext uri="{FF2B5EF4-FFF2-40B4-BE49-F238E27FC236}">
                    <a16:creationId xmlns:a16="http://schemas.microsoft.com/office/drawing/2014/main" id="{D9380371-FAED-4BD8-954C-0CA0E33C613E}"/>
                  </a:ext>
                </a:extLst>
              </p:cNvPr>
              <p:cNvSpPr>
                <a:spLocks noGrp="1" noRot="1" noChangeAspect="1" noMove="1" noResize="1" noEditPoints="1" noAdjustHandles="1" noChangeArrowheads="1" noChangeShapeType="1" noTextEdit="1"/>
              </p:cNvSpPr>
              <p:nvPr>
                <p:ph idx="1"/>
              </p:nvPr>
            </p:nvSpPr>
            <p:spPr>
              <a:xfrm>
                <a:off x="838200" y="1825625"/>
                <a:ext cx="8402053" cy="4351338"/>
              </a:xfrm>
              <a:blipFill>
                <a:blip r:embed="rId2"/>
                <a:stretch>
                  <a:fillRect l="-1524" t="-2241" r="-50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8A0703B-1DBF-4C63-A30F-3F232E5CE01F}"/>
                  </a:ext>
                </a:extLst>
              </p:cNvPr>
              <p:cNvSpPr txBox="1"/>
              <p:nvPr/>
            </p:nvSpPr>
            <p:spPr>
              <a:xfrm>
                <a:off x="2858610" y="3142695"/>
                <a:ext cx="2721001" cy="28623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𝑛</m:t>
                          </m:r>
                          <m:r>
                            <a:rPr lang="en-AU" b="0" i="1" smtClean="0">
                              <a:latin typeface="Cambria Math" panose="02040503050406030204" pitchFamily="18" charset="0"/>
                            </a:rPr>
                            <m:t>+1</m:t>
                          </m:r>
                        </m:sub>
                      </m:sSub>
                      <m:r>
                        <a:rPr lang="en-AU" b="0" i="1" smtClean="0">
                          <a:latin typeface="Cambria Math" panose="02040503050406030204" pitchFamily="18" charset="0"/>
                        </a:rPr>
                        <m:t>=2</m:t>
                      </m:r>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𝑇</m:t>
                          </m:r>
                        </m:e>
                        <m:sub>
                          <m:r>
                            <a:rPr lang="en-AU" b="0" i="1" smtClean="0">
                              <a:latin typeface="Cambria Math" panose="02040503050406030204" pitchFamily="18" charset="0"/>
                              <a:ea typeface="Cambria Math" panose="02040503050406030204" pitchFamily="18" charset="0"/>
                            </a:rPr>
                            <m:t>𝑛</m:t>
                          </m:r>
                        </m:sub>
                      </m:sSub>
                      <m:r>
                        <a:rPr lang="en-AU" b="0" i="1" smtClean="0">
                          <a:latin typeface="Cambria Math" panose="02040503050406030204" pitchFamily="18" charset="0"/>
                          <a:ea typeface="Cambria Math" panose="02040503050406030204" pitchFamily="18" charset="0"/>
                        </a:rPr>
                        <m:t>, </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       </m:t>
                          </m:r>
                          <m:r>
                            <a:rPr lang="en-AU" b="0" i="1" smtClean="0">
                              <a:latin typeface="Cambria Math" panose="02040503050406030204" pitchFamily="18" charset="0"/>
                              <a:ea typeface="Cambria Math" panose="02040503050406030204" pitchFamily="18" charset="0"/>
                            </a:rPr>
                            <m:t>𝑇</m:t>
                          </m:r>
                        </m:e>
                        <m:sub>
                          <m:r>
                            <a:rPr lang="en-AU" b="0" i="1" smtClean="0">
                              <a:latin typeface="Cambria Math" panose="02040503050406030204" pitchFamily="18" charset="0"/>
                              <a:ea typeface="Cambria Math" panose="02040503050406030204" pitchFamily="18" charset="0"/>
                            </a:rPr>
                            <m:t>1</m:t>
                          </m:r>
                        </m:sub>
                      </m:sSub>
                      <m:r>
                        <a:rPr lang="en-AU" b="0" i="1" smtClean="0">
                          <a:latin typeface="Cambria Math" panose="02040503050406030204" pitchFamily="18" charset="0"/>
                          <a:ea typeface="Cambria Math" panose="02040503050406030204" pitchFamily="18" charset="0"/>
                        </a:rPr>
                        <m:t>=4</m:t>
                      </m:r>
                    </m:oMath>
                  </m:oMathPara>
                </a14:m>
                <a:endParaRPr lang="en-AU" dirty="0"/>
              </a:p>
              <a:p>
                <a:endParaRPr lang="en-AU" dirty="0"/>
              </a:p>
              <a:p>
                <a:endParaRPr lang="en-AU" dirty="0"/>
              </a:p>
              <a:p>
                <a:endParaRPr lang="en-AU" dirty="0"/>
              </a:p>
              <a:p>
                <a:endParaRPr lang="en-AU" dirty="0"/>
              </a:p>
              <a:p>
                <a:endParaRPr lang="en-AU" dirty="0"/>
              </a:p>
              <a:p>
                <a:endParaRPr lang="en-AU" dirty="0"/>
              </a:p>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𝑛</m:t>
                          </m:r>
                        </m:sub>
                      </m:sSub>
                      <m:r>
                        <a:rPr lang="en-AU" b="0" i="1" smtClean="0">
                          <a:latin typeface="Cambria Math" panose="02040503050406030204" pitchFamily="18" charset="0"/>
                        </a:rPr>
                        <m:t>=4</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2</m:t>
                          </m:r>
                        </m:e>
                        <m:sup>
                          <m:r>
                            <a:rPr lang="en-AU" b="0" i="1" smtClean="0">
                              <a:latin typeface="Cambria Math" panose="02040503050406030204" pitchFamily="18" charset="0"/>
                              <a:ea typeface="Cambria Math" panose="02040503050406030204" pitchFamily="18" charset="0"/>
                            </a:rPr>
                            <m:t>𝑛</m:t>
                          </m:r>
                          <m:r>
                            <a:rPr lang="en-AU" b="0" i="1" smtClean="0">
                              <a:latin typeface="Cambria Math" panose="02040503050406030204" pitchFamily="18" charset="0"/>
                              <a:ea typeface="Cambria Math" panose="02040503050406030204" pitchFamily="18" charset="0"/>
                            </a:rPr>
                            <m:t>−1</m:t>
                          </m:r>
                        </m:sup>
                      </m:sSup>
                    </m:oMath>
                  </m:oMathPara>
                </a14:m>
                <a:endParaRPr lang="en-AU" b="0" dirty="0">
                  <a:ea typeface="Cambria Math" panose="02040503050406030204" pitchFamily="18" charset="0"/>
                </a:endParaRPr>
              </a:p>
              <a:p>
                <a:pPr/>
                <a:br>
                  <a:rPr lang="en-AU" b="0" dirty="0">
                    <a:ea typeface="Cambria Math" panose="02040503050406030204" pitchFamily="18" charset="0"/>
                  </a:rPr>
                </a:b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=4 </m:t>
                      </m:r>
                      <m:r>
                        <a:rPr lang="en-AU" b="0" i="1" smtClean="0">
                          <a:latin typeface="Cambria Math" panose="02040503050406030204" pitchFamily="18" charset="0"/>
                          <a:ea typeface="Cambria Math" panose="02040503050406030204" pitchFamily="18" charset="0"/>
                        </a:rPr>
                        <m:t>𝑎𝑛𝑑</m:t>
                      </m:r>
                      <m:r>
                        <a:rPr lang="en-AU" b="0" i="1" smtClean="0">
                          <a:latin typeface="Cambria Math" panose="02040503050406030204" pitchFamily="18" charset="0"/>
                          <a:ea typeface="Cambria Math" panose="02040503050406030204" pitchFamily="18" charset="0"/>
                        </a:rPr>
                        <m:t> </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=2</m:t>
                      </m:r>
                    </m:oMath>
                  </m:oMathPara>
                </a14:m>
                <a:endParaRPr lang="en-AU" dirty="0"/>
              </a:p>
            </p:txBody>
          </p:sp>
        </mc:Choice>
        <mc:Fallback xmlns="">
          <p:sp>
            <p:nvSpPr>
              <p:cNvPr id="4" name="TextBox 3">
                <a:extLst>
                  <a:ext uri="{FF2B5EF4-FFF2-40B4-BE49-F238E27FC236}">
                    <a16:creationId xmlns:a16="http://schemas.microsoft.com/office/drawing/2014/main" id="{58A0703B-1DBF-4C63-A30F-3F232E5CE01F}"/>
                  </a:ext>
                </a:extLst>
              </p:cNvPr>
              <p:cNvSpPr txBox="1">
                <a:spLocks noRot="1" noChangeAspect="1" noMove="1" noResize="1" noEditPoints="1" noAdjustHandles="1" noChangeArrowheads="1" noChangeShapeType="1" noTextEdit="1"/>
              </p:cNvSpPr>
              <p:nvPr/>
            </p:nvSpPr>
            <p:spPr>
              <a:xfrm>
                <a:off x="2858610" y="3142695"/>
                <a:ext cx="2721001" cy="2862322"/>
              </a:xfrm>
              <a:prstGeom prst="rect">
                <a:avLst/>
              </a:prstGeom>
              <a:blipFill>
                <a:blip r:embed="rId3"/>
                <a:stretch>
                  <a:fillRect/>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AF74E15D-CA90-46BB-94E6-C0EF3B29A6B8}"/>
              </a:ext>
            </a:extLst>
          </p:cNvPr>
          <p:cNvPicPr>
            <a:picLocks noChangeAspect="1"/>
          </p:cNvPicPr>
          <p:nvPr/>
        </p:nvPicPr>
        <p:blipFill>
          <a:blip r:embed="rId4"/>
          <a:stretch>
            <a:fillRect/>
          </a:stretch>
        </p:blipFill>
        <p:spPr>
          <a:xfrm>
            <a:off x="3148938" y="3660790"/>
            <a:ext cx="452438" cy="442913"/>
          </a:xfrm>
          <a:prstGeom prst="rect">
            <a:avLst/>
          </a:prstGeom>
        </p:spPr>
      </p:pic>
      <p:pic>
        <p:nvPicPr>
          <p:cNvPr id="6" name="Picture 5">
            <a:extLst>
              <a:ext uri="{FF2B5EF4-FFF2-40B4-BE49-F238E27FC236}">
                <a16:creationId xmlns:a16="http://schemas.microsoft.com/office/drawing/2014/main" id="{AE759F43-2889-4350-8332-B349DD07A897}"/>
              </a:ext>
            </a:extLst>
          </p:cNvPr>
          <p:cNvPicPr>
            <a:picLocks noChangeAspect="1"/>
          </p:cNvPicPr>
          <p:nvPr/>
        </p:nvPicPr>
        <p:blipFill>
          <a:blip r:embed="rId4"/>
          <a:stretch>
            <a:fillRect/>
          </a:stretch>
        </p:blipFill>
        <p:spPr>
          <a:xfrm>
            <a:off x="5014729" y="3660790"/>
            <a:ext cx="452438" cy="442913"/>
          </a:xfrm>
          <a:prstGeom prst="rect">
            <a:avLst/>
          </a:prstGeom>
        </p:spPr>
      </p:pic>
      <p:pic>
        <p:nvPicPr>
          <p:cNvPr id="7" name="Picture 6">
            <a:extLst>
              <a:ext uri="{FF2B5EF4-FFF2-40B4-BE49-F238E27FC236}">
                <a16:creationId xmlns:a16="http://schemas.microsoft.com/office/drawing/2014/main" id="{7FDECBBB-3D5A-4282-B626-B76F0D428F3B}"/>
              </a:ext>
            </a:extLst>
          </p:cNvPr>
          <p:cNvPicPr>
            <a:picLocks noChangeAspect="1"/>
          </p:cNvPicPr>
          <p:nvPr/>
        </p:nvPicPr>
        <p:blipFill>
          <a:blip r:embed="rId4"/>
          <a:stretch>
            <a:fillRect/>
          </a:stretch>
        </p:blipFill>
        <p:spPr>
          <a:xfrm>
            <a:off x="3616173" y="5955505"/>
            <a:ext cx="452438" cy="442913"/>
          </a:xfrm>
          <a:prstGeom prst="rect">
            <a:avLst/>
          </a:prstGeom>
        </p:spPr>
      </p:pic>
      <p:pic>
        <p:nvPicPr>
          <p:cNvPr id="8" name="Picture 7">
            <a:extLst>
              <a:ext uri="{FF2B5EF4-FFF2-40B4-BE49-F238E27FC236}">
                <a16:creationId xmlns:a16="http://schemas.microsoft.com/office/drawing/2014/main" id="{69BF1892-FD48-48EF-B561-E250CC777DB1}"/>
              </a:ext>
            </a:extLst>
          </p:cNvPr>
          <p:cNvPicPr>
            <a:picLocks noChangeAspect="1"/>
          </p:cNvPicPr>
          <p:nvPr/>
        </p:nvPicPr>
        <p:blipFill>
          <a:blip r:embed="rId4"/>
          <a:stretch>
            <a:fillRect/>
          </a:stretch>
        </p:blipFill>
        <p:spPr>
          <a:xfrm>
            <a:off x="4586788" y="5955506"/>
            <a:ext cx="452438" cy="442913"/>
          </a:xfrm>
          <a:prstGeom prst="rect">
            <a:avLst/>
          </a:prstGeom>
        </p:spPr>
      </p:pic>
    </p:spTree>
    <p:extLst>
      <p:ext uri="{BB962C8B-B14F-4D97-AF65-F5344CB8AC3E}">
        <p14:creationId xmlns:p14="http://schemas.microsoft.com/office/powerpoint/2010/main" val="86052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7" end="7"/>
                                            </p:txEl>
                                          </p:spTgt>
                                        </p:tgtEl>
                                        <p:attrNameLst>
                                          <p:attrName>style.visibility</p:attrName>
                                        </p:attrNameLst>
                                      </p:cBhvr>
                                      <p:to>
                                        <p:strVal val="visible"/>
                                      </p:to>
                                    </p:set>
                                    <p:animEffect transition="in" filter="fade">
                                      <p:cBhvr>
                                        <p:cTn id="10" dur="500"/>
                                        <p:tgtEl>
                                          <p:spTgt spid="4">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animEffect transition="in" filter="fade">
                                      <p:cBhvr>
                                        <p:cTn id="13" dur="500"/>
                                        <p:tgtEl>
                                          <p:spTgt spid="4">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0BD26-ACB1-4820-A484-7D6FC1B247D5}"/>
              </a:ext>
            </a:extLst>
          </p:cNvPr>
          <p:cNvSpPr>
            <a:spLocks noGrp="1"/>
          </p:cNvSpPr>
          <p:nvPr>
            <p:ph type="title"/>
          </p:nvPr>
        </p:nvSpPr>
        <p:spPr/>
        <p:txBody>
          <a:bodyPr/>
          <a:lstStyle/>
          <a:p>
            <a:r>
              <a:rPr lang="en-AU" dirty="0"/>
              <a:t>Complete this work.</a:t>
            </a:r>
          </a:p>
        </p:txBody>
      </p:sp>
      <p:sp>
        <p:nvSpPr>
          <p:cNvPr id="3" name="Content Placeholder 2">
            <a:extLst>
              <a:ext uri="{FF2B5EF4-FFF2-40B4-BE49-F238E27FC236}">
                <a16:creationId xmlns:a16="http://schemas.microsoft.com/office/drawing/2014/main" id="{AC046F78-01B1-4EF9-B994-C8318C82D421}"/>
              </a:ext>
            </a:extLst>
          </p:cNvPr>
          <p:cNvSpPr>
            <a:spLocks noGrp="1"/>
          </p:cNvSpPr>
          <p:nvPr>
            <p:ph idx="1"/>
          </p:nvPr>
        </p:nvSpPr>
        <p:spPr/>
        <p:txBody>
          <a:bodyPr/>
          <a:lstStyle/>
          <a:p>
            <a:pPr marL="0" indent="0">
              <a:buNone/>
            </a:pPr>
            <a:r>
              <a:rPr lang="en-AU" dirty="0"/>
              <a:t>ATF chapter 6</a:t>
            </a:r>
          </a:p>
          <a:p>
            <a:pPr marL="0" indent="0">
              <a:buNone/>
            </a:pPr>
            <a:endParaRPr lang="en-AU" dirty="0"/>
          </a:p>
          <a:p>
            <a:pPr marL="0" indent="0">
              <a:buNone/>
            </a:pPr>
            <a:r>
              <a:rPr lang="en-AU" dirty="0"/>
              <a:t>If you do not have this book with you finish off Ch4A from the Sadler text</a:t>
            </a:r>
          </a:p>
          <a:p>
            <a:pPr marL="0" indent="0">
              <a:buNone/>
            </a:pPr>
            <a:endParaRPr lang="en-AU" dirty="0"/>
          </a:p>
        </p:txBody>
      </p:sp>
    </p:spTree>
    <p:extLst>
      <p:ext uri="{BB962C8B-B14F-4D97-AF65-F5344CB8AC3E}">
        <p14:creationId xmlns:p14="http://schemas.microsoft.com/office/powerpoint/2010/main" val="3203044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dirty="0"/>
              <a:t>Lesson 6 </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p:txBody>
          <a:bodyPr/>
          <a:lstStyle/>
          <a:p>
            <a:pPr marL="0" indent="0">
              <a:buNone/>
            </a:pPr>
            <a:r>
              <a:rPr lang="en-AU" dirty="0"/>
              <a:t>Topic: Growth and Decay</a:t>
            </a:r>
          </a:p>
          <a:p>
            <a:pPr marL="0" indent="0">
              <a:buNone/>
            </a:pPr>
            <a:r>
              <a:rPr lang="en-AU" dirty="0"/>
              <a:t>EQ: How can we represents growth and decay with sequences?</a:t>
            </a:r>
          </a:p>
          <a:p>
            <a:pPr marL="0" indent="0">
              <a:buNone/>
            </a:pPr>
            <a:endParaRPr lang="en-AU" dirty="0"/>
          </a:p>
          <a:p>
            <a:pPr marL="0" indent="0">
              <a:buNone/>
            </a:pPr>
            <a:endParaRPr lang="en-AU" dirty="0"/>
          </a:p>
        </p:txBody>
      </p:sp>
      <p:sp>
        <p:nvSpPr>
          <p:cNvPr id="4" name="Oval 3">
            <a:hlinkClick r:id="rId2" action="ppaction://hlinksldjump"/>
            <a:extLst>
              <a:ext uri="{FF2B5EF4-FFF2-40B4-BE49-F238E27FC236}">
                <a16:creationId xmlns:a16="http://schemas.microsoft.com/office/drawing/2014/main" id="{F2077700-2411-4477-91EA-49B2F7CD61C2}"/>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292225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38C2-91B1-42DD-A800-8B24E9DCB811}"/>
              </a:ext>
            </a:extLst>
          </p:cNvPr>
          <p:cNvSpPr>
            <a:spLocks noGrp="1"/>
          </p:cNvSpPr>
          <p:nvPr>
            <p:ph type="title"/>
          </p:nvPr>
        </p:nvSpPr>
        <p:spPr/>
        <p:txBody>
          <a:bodyPr/>
          <a:lstStyle/>
          <a:p>
            <a:r>
              <a:rPr lang="en-AU" b="1" dirty="0"/>
              <a:t>Starting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B5A2FB-13F2-4B20-808A-5A62E44E04F6}"/>
                  </a:ext>
                </a:extLst>
              </p:cNvPr>
              <p:cNvSpPr>
                <a:spLocks noGrp="1"/>
              </p:cNvSpPr>
              <p:nvPr>
                <p:ph idx="1"/>
              </p:nvPr>
            </p:nvSpPr>
            <p:spPr/>
            <p:txBody>
              <a:bodyPr/>
              <a:lstStyle/>
              <a:p>
                <a:pPr marL="0" indent="0">
                  <a:buNone/>
                </a:pPr>
                <a:r>
                  <a:rPr lang="en-AU" dirty="0"/>
                  <a:t>Tabitha starts with $200 in her piggy back, the following week she adds $25 and then adds $25 at the start of each successive week.</a:t>
                </a:r>
              </a:p>
              <a:p>
                <a:pPr marL="0" indent="0">
                  <a:buNone/>
                </a:pPr>
                <a:endParaRPr lang="en-AU" dirty="0"/>
              </a:p>
              <a:p>
                <a:pPr marL="514350" indent="-514350">
                  <a:buAutoNum type="alphaLcParenR"/>
                </a:pPr>
                <a:r>
                  <a:rPr lang="en-AU" dirty="0"/>
                  <a:t>Find a rule to describe </a:t>
                </a:r>
                <a14:m>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𝑛</m:t>
                        </m:r>
                      </m:sub>
                    </m:sSub>
                  </m:oMath>
                </a14:m>
                <a:r>
                  <a:rPr lang="en-AU" dirty="0"/>
                  <a:t> the balance of her savings at the start of each week.</a:t>
                </a:r>
              </a:p>
              <a:p>
                <a:pPr marL="514350" indent="-514350">
                  <a:buAutoNum type="alphaLcParenR"/>
                </a:pPr>
                <a:r>
                  <a:rPr lang="en-AU" dirty="0"/>
                  <a:t>Find when her savings reach $450</a:t>
                </a:r>
              </a:p>
            </p:txBody>
          </p:sp>
        </mc:Choice>
        <mc:Fallback>
          <p:sp>
            <p:nvSpPr>
              <p:cNvPr id="3" name="Content Placeholder 2">
                <a:extLst>
                  <a:ext uri="{FF2B5EF4-FFF2-40B4-BE49-F238E27FC236}">
                    <a16:creationId xmlns:a16="http://schemas.microsoft.com/office/drawing/2014/main" id="{45B5A2FB-13F2-4B20-808A-5A62E44E04F6}"/>
                  </a:ext>
                </a:extLst>
              </p:cNvPr>
              <p:cNvSpPr>
                <a:spLocks noGrp="1" noRot="1" noChangeAspect="1" noMove="1" noResize="1" noEditPoints="1" noAdjustHandles="1" noChangeArrowheads="1" noChangeShapeType="1" noTextEdit="1"/>
              </p:cNvSpPr>
              <p:nvPr>
                <p:ph idx="1"/>
              </p:nvPr>
            </p:nvSpPr>
            <p:spPr>
              <a:blipFill>
                <a:blip r:embed="rId2"/>
                <a:stretch>
                  <a:fillRect l="-1217" t="-2241" r="-1043"/>
                </a:stretch>
              </a:blipFill>
            </p:spPr>
            <p:txBody>
              <a:bodyPr/>
              <a:lstStyle/>
              <a:p>
                <a:r>
                  <a:rPr lang="en-AU">
                    <a:noFill/>
                  </a:rPr>
                  <a:t> </a:t>
                </a:r>
              </a:p>
            </p:txBody>
          </p:sp>
        </mc:Fallback>
      </mc:AlternateContent>
    </p:spTree>
    <p:extLst>
      <p:ext uri="{BB962C8B-B14F-4D97-AF65-F5344CB8AC3E}">
        <p14:creationId xmlns:p14="http://schemas.microsoft.com/office/powerpoint/2010/main" val="1784108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779BC-C19C-4059-8E52-57D90CA075D0}"/>
              </a:ext>
            </a:extLst>
          </p:cNvPr>
          <p:cNvSpPr>
            <a:spLocks noGrp="1"/>
          </p:cNvSpPr>
          <p:nvPr>
            <p:ph type="title"/>
          </p:nvPr>
        </p:nvSpPr>
        <p:spPr/>
        <p:txBody>
          <a:bodyPr/>
          <a:lstStyle/>
          <a:p>
            <a:r>
              <a:rPr lang="en-AU" dirty="0"/>
              <a:t>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4C3972C-52B8-4332-BEE0-E05A2445A377}"/>
                  </a:ext>
                </a:extLst>
              </p:cNvPr>
              <p:cNvSpPr>
                <a:spLocks noGrp="1"/>
              </p:cNvSpPr>
              <p:nvPr>
                <p:ph idx="1"/>
              </p:nvPr>
            </p:nvSpPr>
            <p:spPr/>
            <p:txBody>
              <a:bodyPr/>
              <a:lstStyle/>
              <a:p>
                <a:pPr marL="514350" indent="-514350">
                  <a:buAutoNum type="alphaLcParenR"/>
                </a:pPr>
                <a:r>
                  <a:rPr lang="en-AU" dirty="0"/>
                  <a:t>The sequence generated is, $200, $225, $250…</a:t>
                </a:r>
                <a:br>
                  <a:rPr lang="en-AU" dirty="0"/>
                </a:br>
                <a14:m>
                  <m:oMath xmlns:m="http://schemas.openxmlformats.org/officeDocument/2006/math">
                    <m:sSub>
                      <m:sSubPr>
                        <m:ctrlPr>
                          <a:rPr lang="en-AU" i="1">
                            <a:latin typeface="Cambria Math" panose="02040503050406030204" pitchFamily="18" charset="0"/>
                          </a:rPr>
                        </m:ctrlPr>
                      </m:sSubPr>
                      <m:e>
                        <m:r>
                          <a:rPr lang="en-AU" b="0" i="1" smtClean="0">
                            <a:latin typeface="Cambria Math" panose="02040503050406030204" pitchFamily="18" charset="0"/>
                          </a:rPr>
                          <m:t>𝐵</m:t>
                        </m:r>
                      </m:e>
                      <m:sub>
                        <m:r>
                          <a:rPr lang="en-AU" i="1">
                            <a:latin typeface="Cambria Math" panose="02040503050406030204" pitchFamily="18" charset="0"/>
                          </a:rPr>
                          <m:t>𝑛</m:t>
                        </m:r>
                      </m:sub>
                    </m:sSub>
                    <m:r>
                      <a:rPr lang="en-AU" i="1">
                        <a:latin typeface="Cambria Math" panose="02040503050406030204" pitchFamily="18" charset="0"/>
                      </a:rPr>
                      <m:t>=</m:t>
                    </m:r>
                    <m:r>
                      <a:rPr lang="en-AU" b="0" i="1" smtClean="0">
                        <a:latin typeface="Cambria Math" panose="02040503050406030204" pitchFamily="18" charset="0"/>
                      </a:rPr>
                      <m:t>200</m:t>
                    </m:r>
                    <m:r>
                      <a:rPr lang="en-AU" i="1">
                        <a:latin typeface="Cambria Math" panose="02040503050406030204" pitchFamily="18" charset="0"/>
                      </a:rPr>
                      <m:t>+</m:t>
                    </m:r>
                    <m:r>
                      <a:rPr lang="en-AU" b="0" i="1" smtClean="0">
                        <a:latin typeface="Cambria Math" panose="02040503050406030204" pitchFamily="18" charset="0"/>
                      </a:rPr>
                      <m:t>25</m:t>
                    </m:r>
                    <m:d>
                      <m:dPr>
                        <m:ctrlPr>
                          <a:rPr lang="en-AU" b="0" i="1" smtClean="0">
                            <a:latin typeface="Cambria Math" panose="02040503050406030204" pitchFamily="18" charset="0"/>
                          </a:rPr>
                        </m:ctrlPr>
                      </m:dPr>
                      <m:e>
                        <m:r>
                          <a:rPr lang="en-AU" b="0" i="1" smtClean="0">
                            <a:latin typeface="Cambria Math" panose="02040503050406030204" pitchFamily="18" charset="0"/>
                          </a:rPr>
                          <m:t>𝑛</m:t>
                        </m:r>
                        <m:r>
                          <a:rPr lang="en-AU" b="0" i="1" smtClean="0">
                            <a:latin typeface="Cambria Math" panose="02040503050406030204" pitchFamily="18" charset="0"/>
                          </a:rPr>
                          <m:t>−1</m:t>
                        </m:r>
                      </m:e>
                    </m:d>
                  </m:oMath>
                </a14:m>
                <a:br>
                  <a:rPr lang="en-AU" b="0" dirty="0"/>
                </a:b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𝑛</m:t>
                        </m:r>
                      </m:sub>
                    </m:sSub>
                    <m:r>
                      <a:rPr lang="en-AU" i="1">
                        <a:latin typeface="Cambria Math" panose="02040503050406030204" pitchFamily="18" charset="0"/>
                      </a:rPr>
                      <m:t>=</m:t>
                    </m:r>
                    <m:r>
                      <a:rPr lang="en-AU" b="0" i="1" smtClean="0">
                        <a:latin typeface="Cambria Math" panose="02040503050406030204" pitchFamily="18" charset="0"/>
                      </a:rPr>
                      <m:t>175</m:t>
                    </m:r>
                    <m:r>
                      <a:rPr lang="en-AU" i="1">
                        <a:latin typeface="Cambria Math" panose="02040503050406030204" pitchFamily="18" charset="0"/>
                      </a:rPr>
                      <m:t>+</m:t>
                    </m:r>
                    <m:r>
                      <a:rPr lang="en-AU" i="1">
                        <a:latin typeface="Cambria Math" panose="02040503050406030204" pitchFamily="18" charset="0"/>
                      </a:rPr>
                      <m:t>25</m:t>
                    </m:r>
                    <m:r>
                      <a:rPr lang="en-AU" b="0" i="1" smtClean="0">
                        <a:latin typeface="Cambria Math" panose="02040503050406030204" pitchFamily="18" charset="0"/>
                      </a:rPr>
                      <m:t>𝑛</m:t>
                    </m:r>
                  </m:oMath>
                </a14:m>
                <a:endParaRPr lang="en-AU" dirty="0"/>
              </a:p>
              <a:p>
                <a:pPr marL="514350" indent="-514350">
                  <a:buFont typeface="Arial" panose="020B0604020202020204" pitchFamily="34" charset="0"/>
                  <a:buAutoNum type="alphaLcParenR"/>
                </a:pP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𝑛</m:t>
                        </m:r>
                      </m:sub>
                    </m:sSub>
                    <m:r>
                      <a:rPr lang="en-AU" i="1">
                        <a:latin typeface="Cambria Math" panose="02040503050406030204" pitchFamily="18" charset="0"/>
                      </a:rPr>
                      <m:t>=</m:t>
                    </m:r>
                    <m:r>
                      <a:rPr lang="en-AU" i="1">
                        <a:latin typeface="Cambria Math" panose="02040503050406030204" pitchFamily="18" charset="0"/>
                      </a:rPr>
                      <m:t>175</m:t>
                    </m:r>
                    <m:r>
                      <a:rPr lang="en-AU" i="1">
                        <a:latin typeface="Cambria Math" panose="02040503050406030204" pitchFamily="18" charset="0"/>
                      </a:rPr>
                      <m:t>+25</m:t>
                    </m:r>
                    <m:r>
                      <a:rPr lang="en-AU" i="1">
                        <a:latin typeface="Cambria Math" panose="02040503050406030204" pitchFamily="18" charset="0"/>
                      </a:rPr>
                      <m:t>𝑛</m:t>
                    </m:r>
                  </m:oMath>
                </a14:m>
                <a:br>
                  <a:rPr lang="en-AU" dirty="0"/>
                </a:br>
                <a:r>
                  <a:rPr lang="en-AU" dirty="0"/>
                  <a:t>450</a:t>
                </a:r>
                <a14:m>
                  <m:oMath xmlns:m="http://schemas.openxmlformats.org/officeDocument/2006/math">
                    <m:r>
                      <a:rPr lang="en-AU" i="1">
                        <a:latin typeface="Cambria Math" panose="02040503050406030204" pitchFamily="18" charset="0"/>
                      </a:rPr>
                      <m:t>=</m:t>
                    </m:r>
                    <m:r>
                      <a:rPr lang="en-AU" i="1">
                        <a:latin typeface="Cambria Math" panose="02040503050406030204" pitchFamily="18" charset="0"/>
                      </a:rPr>
                      <m:t>175</m:t>
                    </m:r>
                    <m:r>
                      <a:rPr lang="en-AU" i="1">
                        <a:latin typeface="Cambria Math" panose="02040503050406030204" pitchFamily="18" charset="0"/>
                      </a:rPr>
                      <m:t>+25</m:t>
                    </m:r>
                    <m:r>
                      <a:rPr lang="en-AU" i="1">
                        <a:latin typeface="Cambria Math" panose="02040503050406030204" pitchFamily="18" charset="0"/>
                      </a:rPr>
                      <m:t>𝑛</m:t>
                    </m:r>
                  </m:oMath>
                </a14:m>
                <a:endParaRPr lang="en-AU" dirty="0"/>
              </a:p>
              <a:p>
                <a:pPr marL="0" indent="0">
                  <a:buNone/>
                </a:pPr>
                <a:r>
                  <a:rPr lang="en-AU" dirty="0"/>
                  <a:t>n=11, so at the start of the 11</a:t>
                </a:r>
                <a:r>
                  <a:rPr lang="en-AU" baseline="30000" dirty="0"/>
                  <a:t>th</a:t>
                </a:r>
                <a:r>
                  <a:rPr lang="en-AU" dirty="0"/>
                  <a:t> week her savings will reach $450</a:t>
                </a:r>
              </a:p>
              <a:p>
                <a:pPr marL="514350" indent="-514350">
                  <a:buFont typeface="Arial" panose="020B0604020202020204" pitchFamily="34" charset="0"/>
                  <a:buAutoNum type="alphaLcParenR"/>
                </a:pPr>
                <a:endParaRPr lang="en-AU" dirty="0"/>
              </a:p>
              <a:p>
                <a:pPr marL="514350" indent="-514350">
                  <a:buAutoNum type="alphaLcParenR"/>
                </a:pPr>
                <a:endParaRPr lang="en-AU" dirty="0"/>
              </a:p>
            </p:txBody>
          </p:sp>
        </mc:Choice>
        <mc:Fallback>
          <p:sp>
            <p:nvSpPr>
              <p:cNvPr id="3" name="Content Placeholder 2">
                <a:extLst>
                  <a:ext uri="{FF2B5EF4-FFF2-40B4-BE49-F238E27FC236}">
                    <a16:creationId xmlns:a16="http://schemas.microsoft.com/office/drawing/2014/main" id="{84C3972C-52B8-4332-BEE0-E05A2445A377}"/>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AU">
                    <a:noFill/>
                  </a:rPr>
                  <a:t> </a:t>
                </a:r>
              </a:p>
            </p:txBody>
          </p:sp>
        </mc:Fallback>
      </mc:AlternateContent>
    </p:spTree>
    <p:extLst>
      <p:ext uri="{BB962C8B-B14F-4D97-AF65-F5344CB8AC3E}">
        <p14:creationId xmlns:p14="http://schemas.microsoft.com/office/powerpoint/2010/main" val="2212914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628600" y="230819"/>
            <a:ext cx="11242995" cy="830997"/>
          </a:xfrm>
          <a:prstGeom prst="rect">
            <a:avLst/>
          </a:prstGeom>
          <a:noFill/>
        </p:spPr>
        <p:txBody>
          <a:bodyPr wrap="square" rtlCol="0">
            <a:spAutoFit/>
          </a:bodyPr>
          <a:lstStyle/>
          <a:p>
            <a:r>
              <a:rPr lang="en-AU" sz="2400" dirty="0"/>
              <a:t>Topic: Growth and Decay</a:t>
            </a:r>
          </a:p>
          <a:p>
            <a:r>
              <a:rPr lang="en-AU" sz="2400" dirty="0"/>
              <a:t>EQ: How can we represents growth and decay with sequences?</a:t>
            </a:r>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A9F6396-09E0-4891-99FE-B8165C94A71D}"/>
              </a:ext>
            </a:extLst>
          </p:cNvPr>
          <p:cNvSpPr txBox="1"/>
          <p:nvPr/>
        </p:nvSpPr>
        <p:spPr>
          <a:xfrm>
            <a:off x="628601" y="1562470"/>
            <a:ext cx="11066094" cy="4031873"/>
          </a:xfrm>
          <a:prstGeom prst="rect">
            <a:avLst/>
          </a:prstGeom>
          <a:noFill/>
        </p:spPr>
        <p:txBody>
          <a:bodyPr wrap="square" rtlCol="0">
            <a:spAutoFit/>
          </a:bodyPr>
          <a:lstStyle/>
          <a:p>
            <a:r>
              <a:rPr lang="en-AU" sz="2000" dirty="0"/>
              <a:t>All sequences can be seen as growth or decay. If they are increasing it is growth, if it is decreasing it is decay.</a:t>
            </a:r>
          </a:p>
          <a:p>
            <a:endParaRPr lang="en-AU" sz="2000" dirty="0"/>
          </a:p>
          <a:p>
            <a:endParaRPr lang="en-AU" sz="2000" dirty="0"/>
          </a:p>
          <a:p>
            <a:r>
              <a:rPr lang="en-AU" sz="2000" dirty="0"/>
              <a:t>Arithmetic sequence = linear growth or decay</a:t>
            </a:r>
          </a:p>
          <a:p>
            <a:r>
              <a:rPr lang="en-AU" sz="2000" dirty="0"/>
              <a:t>Geometric sequences = exponential growth or decay.</a:t>
            </a:r>
          </a:p>
          <a:p>
            <a:endParaRPr lang="en-AU" sz="2000" dirty="0"/>
          </a:p>
          <a:p>
            <a:r>
              <a:rPr lang="en-AU" sz="2000" dirty="0"/>
              <a:t>You can use spreadsheets, graphs or tables to show growth and decay.</a:t>
            </a:r>
          </a:p>
          <a:p>
            <a:endParaRPr lang="en-AU" sz="2000" dirty="0"/>
          </a:p>
          <a:p>
            <a:endParaRPr lang="en-AU" sz="2000" dirty="0"/>
          </a:p>
          <a:p>
            <a:r>
              <a:rPr lang="en-AU" sz="2000" dirty="0"/>
              <a:t>This lesson is more about applying what you have already learnt into practical situations.</a:t>
            </a:r>
          </a:p>
          <a:p>
            <a:endParaRPr lang="en-AU" dirty="0"/>
          </a:p>
          <a:p>
            <a:endParaRPr lang="en-AU" dirty="0"/>
          </a:p>
        </p:txBody>
      </p:sp>
    </p:spTree>
    <p:extLst>
      <p:ext uri="{BB962C8B-B14F-4D97-AF65-F5344CB8AC3E}">
        <p14:creationId xmlns:p14="http://schemas.microsoft.com/office/powerpoint/2010/main" val="394733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C7057-9D2D-4C56-83DB-E398AAD632C1}"/>
              </a:ext>
            </a:extLst>
          </p:cNvPr>
          <p:cNvSpPr>
            <a:spLocks noGrp="1"/>
          </p:cNvSpPr>
          <p:nvPr>
            <p:ph type="title"/>
          </p:nvPr>
        </p:nvSpPr>
        <p:spPr/>
        <p:txBody>
          <a:bodyPr/>
          <a:lstStyle/>
          <a:p>
            <a:r>
              <a:rPr lang="en-AU" dirty="0"/>
              <a:t>Complete Exercise 4B</a:t>
            </a:r>
          </a:p>
        </p:txBody>
      </p:sp>
    </p:spTree>
    <p:extLst>
      <p:ext uri="{BB962C8B-B14F-4D97-AF65-F5344CB8AC3E}">
        <p14:creationId xmlns:p14="http://schemas.microsoft.com/office/powerpoint/2010/main" val="4073428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0678-B330-4983-8B8F-D9556B6BC1B9}"/>
              </a:ext>
            </a:extLst>
          </p:cNvPr>
          <p:cNvSpPr>
            <a:spLocks noGrp="1"/>
          </p:cNvSpPr>
          <p:nvPr>
            <p:ph type="title"/>
          </p:nvPr>
        </p:nvSpPr>
        <p:spPr/>
        <p:txBody>
          <a:bodyPr/>
          <a:lstStyle/>
          <a:p>
            <a:r>
              <a:rPr lang="en-AU" dirty="0"/>
              <a:t>Lesson 7 </a:t>
            </a:r>
          </a:p>
        </p:txBody>
      </p:sp>
      <p:sp>
        <p:nvSpPr>
          <p:cNvPr id="3" name="Content Placeholder 2">
            <a:extLst>
              <a:ext uri="{FF2B5EF4-FFF2-40B4-BE49-F238E27FC236}">
                <a16:creationId xmlns:a16="http://schemas.microsoft.com/office/drawing/2014/main" id="{3E59F5F4-DE4D-4FE1-874D-461306AFFE6D}"/>
              </a:ext>
            </a:extLst>
          </p:cNvPr>
          <p:cNvSpPr>
            <a:spLocks noGrp="1"/>
          </p:cNvSpPr>
          <p:nvPr>
            <p:ph idx="1"/>
          </p:nvPr>
        </p:nvSpPr>
        <p:spPr/>
        <p:txBody>
          <a:bodyPr/>
          <a:lstStyle/>
          <a:p>
            <a:pPr marL="0" indent="0">
              <a:buNone/>
            </a:pPr>
            <a:r>
              <a:rPr lang="en-AU" dirty="0"/>
              <a:t>Topic: Steady State</a:t>
            </a:r>
          </a:p>
          <a:p>
            <a:pPr marL="0" indent="0">
              <a:buNone/>
            </a:pPr>
            <a:r>
              <a:rPr lang="en-AU" dirty="0"/>
              <a:t>EQ: How do we calculate and interpret long term steady state?</a:t>
            </a:r>
          </a:p>
        </p:txBody>
      </p:sp>
      <p:sp>
        <p:nvSpPr>
          <p:cNvPr id="4" name="Oval 3">
            <a:hlinkClick r:id="rId2" action="ppaction://hlinksldjump"/>
            <a:extLst>
              <a:ext uri="{FF2B5EF4-FFF2-40B4-BE49-F238E27FC236}">
                <a16:creationId xmlns:a16="http://schemas.microsoft.com/office/drawing/2014/main" id="{F2077700-2411-4477-91EA-49B2F7CD61C2}"/>
              </a:ext>
            </a:extLst>
          </p:cNvPr>
          <p:cNvSpPr/>
          <p:nvPr/>
        </p:nvSpPr>
        <p:spPr>
          <a:xfrm>
            <a:off x="9029700" y="285750"/>
            <a:ext cx="1533525"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Contents</a:t>
            </a:r>
          </a:p>
        </p:txBody>
      </p:sp>
    </p:spTree>
    <p:extLst>
      <p:ext uri="{BB962C8B-B14F-4D97-AF65-F5344CB8AC3E}">
        <p14:creationId xmlns:p14="http://schemas.microsoft.com/office/powerpoint/2010/main" val="1831242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40723-3D31-4063-B998-B876FAFDEAE8}"/>
              </a:ext>
            </a:extLst>
          </p:cNvPr>
          <p:cNvSpPr>
            <a:spLocks noGrp="1"/>
          </p:cNvSpPr>
          <p:nvPr>
            <p:ph type="title"/>
          </p:nvPr>
        </p:nvSpPr>
        <p:spPr/>
        <p:txBody>
          <a:bodyPr/>
          <a:lstStyle/>
          <a:p>
            <a:r>
              <a:rPr lang="en-AU" dirty="0"/>
              <a:t>Introduction problem</a:t>
            </a:r>
          </a:p>
        </p:txBody>
      </p:sp>
      <p:sp>
        <p:nvSpPr>
          <p:cNvPr id="3" name="Content Placeholder 2">
            <a:extLst>
              <a:ext uri="{FF2B5EF4-FFF2-40B4-BE49-F238E27FC236}">
                <a16:creationId xmlns:a16="http://schemas.microsoft.com/office/drawing/2014/main" id="{3D1B0069-B62A-47BD-B111-40BACCEDD4E4}"/>
              </a:ext>
            </a:extLst>
          </p:cNvPr>
          <p:cNvSpPr>
            <a:spLocks noGrp="1"/>
          </p:cNvSpPr>
          <p:nvPr>
            <p:ph idx="1"/>
          </p:nvPr>
        </p:nvSpPr>
        <p:spPr>
          <a:xfrm>
            <a:off x="838200" y="1825625"/>
            <a:ext cx="10515600" cy="1603375"/>
          </a:xfrm>
        </p:spPr>
        <p:txBody>
          <a:bodyPr>
            <a:normAutofit lnSpcReduction="10000"/>
          </a:bodyPr>
          <a:lstStyle/>
          <a:p>
            <a:pPr marL="0" indent="0">
              <a:buNone/>
            </a:pPr>
            <a:r>
              <a:rPr lang="en-AU" dirty="0"/>
              <a:t>A breeder of sheep has a breeding program produces a 20% increase in sheep each year. If the Breeder wants to sell 50 sheep at the end of each year, how many sheep will he need to have in his herd to maintain the same amount of sheep?</a:t>
            </a:r>
          </a:p>
          <a:p>
            <a:pPr marL="0" indent="0">
              <a:buNone/>
            </a:pPr>
            <a:endParaRPr lang="en-AU" dirty="0"/>
          </a:p>
          <a:p>
            <a:pPr marL="0" indent="0">
              <a:buNone/>
            </a:pPr>
            <a:endParaRPr lang="en-AU" dirty="0"/>
          </a:p>
        </p:txBody>
      </p:sp>
      <p:sp>
        <p:nvSpPr>
          <p:cNvPr id="4" name="TextBox 3">
            <a:extLst>
              <a:ext uri="{FF2B5EF4-FFF2-40B4-BE49-F238E27FC236}">
                <a16:creationId xmlns:a16="http://schemas.microsoft.com/office/drawing/2014/main" id="{18D4D2B7-9E51-437A-AD0D-EFB6CFEC45E6}"/>
              </a:ext>
            </a:extLst>
          </p:cNvPr>
          <p:cNvSpPr txBox="1"/>
          <p:nvPr/>
        </p:nvSpPr>
        <p:spPr>
          <a:xfrm>
            <a:off x="1299411" y="4251158"/>
            <a:ext cx="4652210" cy="923330"/>
          </a:xfrm>
          <a:prstGeom prst="rect">
            <a:avLst/>
          </a:prstGeom>
          <a:noFill/>
        </p:spPr>
        <p:txBody>
          <a:bodyPr wrap="square" rtlCol="0">
            <a:spAutoFit/>
          </a:bodyPr>
          <a:lstStyle/>
          <a:p>
            <a:r>
              <a:rPr lang="en-AU" dirty="0">
                <a:solidFill>
                  <a:srgbClr val="FF0000"/>
                </a:solidFill>
              </a:rPr>
              <a:t>Answer: 250 sheep, because 20% of 250 is equal to 50, so the amount increases is equal to the amount taken away.</a:t>
            </a:r>
          </a:p>
        </p:txBody>
      </p:sp>
    </p:spTree>
    <p:extLst>
      <p:ext uri="{BB962C8B-B14F-4D97-AF65-F5344CB8AC3E}">
        <p14:creationId xmlns:p14="http://schemas.microsoft.com/office/powerpoint/2010/main" val="15045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F409BC-FF01-423F-8BE6-F21618A2853C}"/>
              </a:ext>
            </a:extLst>
          </p:cNvPr>
          <p:cNvSpPr txBox="1"/>
          <p:nvPr/>
        </p:nvSpPr>
        <p:spPr>
          <a:xfrm>
            <a:off x="628600" y="230819"/>
            <a:ext cx="11242995" cy="1107996"/>
          </a:xfrm>
          <a:prstGeom prst="rect">
            <a:avLst/>
          </a:prstGeom>
          <a:noFill/>
        </p:spPr>
        <p:txBody>
          <a:bodyPr wrap="square" rtlCol="0">
            <a:spAutoFit/>
          </a:bodyPr>
          <a:lstStyle/>
          <a:p>
            <a:r>
              <a:rPr lang="en-AU" sz="2400" dirty="0"/>
              <a:t>Topic: Steady State</a:t>
            </a:r>
          </a:p>
          <a:p>
            <a:r>
              <a:rPr lang="en-AU" sz="2400" dirty="0"/>
              <a:t>EQ: How do we calculate and interpret long term steady state?</a:t>
            </a:r>
          </a:p>
          <a:p>
            <a:endParaRPr lang="en-AU" dirty="0"/>
          </a:p>
        </p:txBody>
      </p:sp>
      <p:cxnSp>
        <p:nvCxnSpPr>
          <p:cNvPr id="6" name="Straight Connector 5">
            <a:extLst>
              <a:ext uri="{FF2B5EF4-FFF2-40B4-BE49-F238E27FC236}">
                <a16:creationId xmlns:a16="http://schemas.microsoft.com/office/drawing/2014/main" id="{709D902D-CAA0-4C74-991D-D3FB3C5CCD11}"/>
              </a:ext>
            </a:extLst>
          </p:cNvPr>
          <p:cNvCxnSpPr/>
          <p:nvPr/>
        </p:nvCxnSpPr>
        <p:spPr>
          <a:xfrm>
            <a:off x="133165" y="1154097"/>
            <a:ext cx="119138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924B71D-4928-472A-A0F3-B93D25ABCF2B}"/>
                  </a:ext>
                </a:extLst>
              </p:cNvPr>
              <p:cNvSpPr txBox="1"/>
              <p:nvPr/>
            </p:nvSpPr>
            <p:spPr>
              <a:xfrm>
                <a:off x="1083075" y="1695635"/>
                <a:ext cx="9800947" cy="4801314"/>
              </a:xfrm>
              <a:prstGeom prst="rect">
                <a:avLst/>
              </a:prstGeom>
              <a:noFill/>
            </p:spPr>
            <p:txBody>
              <a:bodyPr wrap="square" rtlCol="0">
                <a:spAutoFit/>
              </a:bodyPr>
              <a:lstStyle/>
              <a:p>
                <a:r>
                  <a:rPr lang="en-AU" dirty="0"/>
                  <a:t>A recurrence relation can reach a long term steady-state, if it gets to a point where all the terms are the same and repeat themselves</a:t>
                </a:r>
              </a:p>
              <a:p>
                <a:endParaRPr lang="en-AU" dirty="0"/>
              </a:p>
              <a:p>
                <a:endParaRPr lang="en-AU" dirty="0"/>
              </a:p>
              <a:p>
                <a:r>
                  <a:rPr lang="en-AU" dirty="0"/>
                  <a:t>Steady state is when  </a:t>
                </a:r>
                <a14:m>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𝑛</m:t>
                        </m:r>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sub>
                    </m:sSub>
                  </m:oMath>
                </a14:m>
                <a:endParaRPr lang="en-AU" dirty="0"/>
              </a:p>
              <a:p>
                <a:endParaRPr lang="en-AU" dirty="0"/>
              </a:p>
              <a:p>
                <a:r>
                  <a:rPr lang="en-AU" dirty="0"/>
                  <a:t>A sequence can approach a steady state when;</a:t>
                </a:r>
              </a:p>
              <a:p>
                <a:endParaRPr lang="en-AU" dirty="0"/>
              </a:p>
              <a:p>
                <a:r>
                  <a:rPr lang="en-AU" dirty="0"/>
                  <a:t> </a:t>
                </a: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r>
                          <a:rPr lang="en-AU" i="1">
                            <a:latin typeface="Cambria Math" panose="02040503050406030204" pitchFamily="18" charset="0"/>
                          </a:rPr>
                          <m:t>+1</m:t>
                        </m:r>
                      </m:sub>
                    </m:sSub>
                    <m:r>
                      <a:rPr lang="en-AU" i="1">
                        <a:latin typeface="Cambria Math" panose="02040503050406030204" pitchFamily="18" charset="0"/>
                      </a:rPr>
                      <m:t>=</m:t>
                    </m:r>
                    <m:r>
                      <a:rPr lang="en-AU" b="0" i="1" smtClean="0">
                        <a:latin typeface="Cambria Math" panose="02040503050406030204" pitchFamily="18" charset="0"/>
                      </a:rPr>
                      <m:t>𝑘</m:t>
                    </m:r>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sub>
                    </m:sSub>
                    <m:r>
                      <a:rPr lang="en-AU" b="0" i="1" smtClean="0">
                        <a:latin typeface="Cambria Math" panose="02040503050406030204" pitchFamily="18" charset="0"/>
                      </a:rPr>
                      <m:t>+</m:t>
                    </m:r>
                    <m:r>
                      <a:rPr lang="en-AU" b="0" i="1" smtClean="0">
                        <a:latin typeface="Cambria Math" panose="02040503050406030204" pitchFamily="18" charset="0"/>
                      </a:rPr>
                      <m:t>𝑑</m:t>
                    </m:r>
                    <m:r>
                      <a:rPr lang="en-AU" b="0" i="1" smtClean="0">
                        <a:latin typeface="Cambria Math" panose="02040503050406030204" pitchFamily="18" charset="0"/>
                      </a:rPr>
                      <m:t>, </m:t>
                    </m:r>
                    <m:r>
                      <a:rPr lang="en-AU" b="0" i="1" smtClean="0">
                        <a:latin typeface="Cambria Math" panose="02040503050406030204" pitchFamily="18" charset="0"/>
                      </a:rPr>
                      <m:t>𝑤h𝑒𝑟𝑒</m:t>
                    </m:r>
                    <m:r>
                      <a:rPr lang="en-AU" b="0" i="1" smtClean="0">
                        <a:latin typeface="Cambria Math" panose="02040503050406030204" pitchFamily="18" charset="0"/>
                      </a:rPr>
                      <m:t> </m:t>
                    </m:r>
                    <m:r>
                      <a:rPr lang="en-AU" b="0" i="1" smtClean="0">
                        <a:latin typeface="Cambria Math" panose="02040503050406030204" pitchFamily="18" charset="0"/>
                      </a:rPr>
                      <m:t>𝑘</m:t>
                    </m:r>
                    <m:r>
                      <a:rPr lang="en-AU" b="0" i="1" smtClean="0">
                        <a:latin typeface="Cambria Math" panose="02040503050406030204" pitchFamily="18" charset="0"/>
                      </a:rPr>
                      <m:t> </m:t>
                    </m:r>
                    <m:r>
                      <a:rPr lang="en-AU" b="0" i="1" smtClean="0">
                        <a:latin typeface="Cambria Math" panose="02040503050406030204" pitchFamily="18" charset="0"/>
                      </a:rPr>
                      <m:t>𝑖𝑠</m:t>
                    </m:r>
                    <m:r>
                      <a:rPr lang="en-AU" b="0" i="1" smtClean="0">
                        <a:latin typeface="Cambria Math" panose="02040503050406030204" pitchFamily="18" charset="0"/>
                      </a:rPr>
                      <m:t> </m:t>
                    </m:r>
                    <m:r>
                      <a:rPr lang="en-AU" b="0" i="1" smtClean="0">
                        <a:latin typeface="Cambria Math" panose="02040503050406030204" pitchFamily="18" charset="0"/>
                      </a:rPr>
                      <m:t>𝑏𝑒𝑡𝑤𝑒𝑒𝑛</m:t>
                    </m:r>
                    <m:r>
                      <a:rPr lang="en-AU" b="0" i="1" smtClean="0">
                        <a:latin typeface="Cambria Math" panose="02040503050406030204" pitchFamily="18" charset="0"/>
                      </a:rPr>
                      <m:t> −1 </m:t>
                    </m:r>
                    <m:r>
                      <a:rPr lang="en-AU" b="0" i="1" smtClean="0">
                        <a:latin typeface="Cambria Math" panose="02040503050406030204" pitchFamily="18" charset="0"/>
                      </a:rPr>
                      <m:t>𝑎𝑛𝑑</m:t>
                    </m:r>
                    <m:r>
                      <a:rPr lang="en-AU" b="0" i="1" smtClean="0">
                        <a:latin typeface="Cambria Math" panose="02040503050406030204" pitchFamily="18" charset="0"/>
                      </a:rPr>
                      <m:t> 1.</m:t>
                    </m:r>
                  </m:oMath>
                </a14:m>
                <a:endParaRPr lang="en-AU" b="0" dirty="0"/>
              </a:p>
              <a:p>
                <a:endParaRPr lang="en-AU" dirty="0"/>
              </a:p>
              <a:p>
                <a:r>
                  <a:rPr lang="en-AU" dirty="0"/>
                  <a:t> If k is between -1 and 1 the sequence will converge on a number where eventually each successive term will be the same value (</a:t>
                </a: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r>
                          <a:rPr lang="en-AU" i="1">
                            <a:latin typeface="Cambria Math" panose="02040503050406030204" pitchFamily="18" charset="0"/>
                          </a:rPr>
                          <m:t>+1</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sub>
                    </m:sSub>
                  </m:oMath>
                </a14:m>
                <a:r>
                  <a:rPr lang="en-AU" dirty="0"/>
                  <a:t>) </a:t>
                </a:r>
              </a:p>
              <a:p>
                <a:endParaRPr lang="en-AU" dirty="0"/>
              </a:p>
              <a:p>
                <a:endParaRPr lang="en-AU" dirty="0"/>
              </a:p>
              <a:p>
                <a:endParaRPr lang="en-AU" dirty="0"/>
              </a:p>
              <a:p>
                <a:endParaRPr lang="en-AU" dirty="0"/>
              </a:p>
              <a:p>
                <a:pPr/>
                <a:endParaRPr lang="en-AU" b="0" dirty="0">
                  <a:solidFill>
                    <a:srgbClr val="FF0000"/>
                  </a:solidFill>
                </a:endParaRPr>
              </a:p>
            </p:txBody>
          </p:sp>
        </mc:Choice>
        <mc:Fallback>
          <p:sp>
            <p:nvSpPr>
              <p:cNvPr id="3" name="TextBox 2">
                <a:extLst>
                  <a:ext uri="{FF2B5EF4-FFF2-40B4-BE49-F238E27FC236}">
                    <a16:creationId xmlns:a16="http://schemas.microsoft.com/office/drawing/2014/main" id="{C924B71D-4928-472A-A0F3-B93D25ABCF2B}"/>
                  </a:ext>
                </a:extLst>
              </p:cNvPr>
              <p:cNvSpPr txBox="1">
                <a:spLocks noRot="1" noChangeAspect="1" noMove="1" noResize="1" noEditPoints="1" noAdjustHandles="1" noChangeArrowheads="1" noChangeShapeType="1" noTextEdit="1"/>
              </p:cNvSpPr>
              <p:nvPr/>
            </p:nvSpPr>
            <p:spPr>
              <a:xfrm>
                <a:off x="1083075" y="1695635"/>
                <a:ext cx="9800947" cy="4801314"/>
              </a:xfrm>
              <a:prstGeom prst="rect">
                <a:avLst/>
              </a:prstGeom>
              <a:blipFill>
                <a:blip r:embed="rId2"/>
                <a:stretch>
                  <a:fillRect l="-560" t="-635" r="-871"/>
                </a:stretch>
              </a:blipFill>
            </p:spPr>
            <p:txBody>
              <a:bodyPr/>
              <a:lstStyle/>
              <a:p>
                <a:r>
                  <a:rPr lang="en-AU">
                    <a:noFill/>
                  </a:rPr>
                  <a:t> </a:t>
                </a:r>
              </a:p>
            </p:txBody>
          </p:sp>
        </mc:Fallback>
      </mc:AlternateContent>
    </p:spTree>
    <p:extLst>
      <p:ext uri="{BB962C8B-B14F-4D97-AF65-F5344CB8AC3E}">
        <p14:creationId xmlns:p14="http://schemas.microsoft.com/office/powerpoint/2010/main" val="3778298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D3F3-8882-4A82-B653-4D111AFAAB62}"/>
              </a:ext>
            </a:extLst>
          </p:cNvPr>
          <p:cNvSpPr>
            <a:spLocks noGrp="1"/>
          </p:cNvSpPr>
          <p:nvPr>
            <p:ph type="title"/>
          </p:nvPr>
        </p:nvSpPr>
        <p:spPr/>
        <p:txBody>
          <a:bodyPr/>
          <a:lstStyle/>
          <a:p>
            <a:r>
              <a:rPr lang="en-AU" b="1" dirty="0"/>
              <a:t>Example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0A16E30-FFCF-4397-B993-33470743E5D8}"/>
                  </a:ext>
                </a:extLst>
              </p:cNvPr>
              <p:cNvSpPr>
                <a:spLocks noGrp="1"/>
              </p:cNvSpPr>
              <p:nvPr>
                <p:ph idx="1"/>
              </p:nvPr>
            </p:nvSpPr>
            <p:spPr/>
            <p:txBody>
              <a:bodyPr/>
              <a:lstStyle/>
              <a:p>
                <a:pPr marL="514350" indent="-514350">
                  <a:buAutoNum type="alphaLcParenR"/>
                </a:pPr>
                <a:r>
                  <a:rPr lang="en-AU" dirty="0"/>
                  <a:t>Generate the terms of the sequence </a:t>
                </a:r>
                <a14:m>
                  <m:oMath xmlns:m="http://schemas.openxmlformats.org/officeDocument/2006/math">
                    <m:sSub>
                      <m:sSubPr>
                        <m:ctrlPr>
                          <a:rPr lang="en-AU" i="1">
                            <a:latin typeface="Cambria Math" panose="02040503050406030204" pitchFamily="18" charset="0"/>
                          </a:rPr>
                        </m:ctrlPr>
                      </m:sSubPr>
                      <m:e>
                        <m:r>
                          <a:rPr lang="en-AU" b="0" i="1" smtClean="0">
                            <a:latin typeface="Cambria Math" panose="02040503050406030204" pitchFamily="18" charset="0"/>
                          </a:rPr>
                          <m:t>𝑇</m:t>
                        </m:r>
                      </m:e>
                      <m:sub>
                        <m:r>
                          <a:rPr lang="en-AU" i="1">
                            <a:latin typeface="Cambria Math" panose="02040503050406030204" pitchFamily="18" charset="0"/>
                          </a:rPr>
                          <m:t>𝑛</m:t>
                        </m:r>
                      </m:sub>
                    </m:sSub>
                    <m:r>
                      <a:rPr lang="en-AU" i="1">
                        <a:latin typeface="Cambria Math" panose="02040503050406030204" pitchFamily="18" charset="0"/>
                      </a:rPr>
                      <m:t>=</m:t>
                    </m:r>
                    <m:r>
                      <a:rPr lang="en-AU" b="0" i="1" smtClean="0">
                        <a:latin typeface="Cambria Math" panose="02040503050406030204" pitchFamily="18" charset="0"/>
                      </a:rPr>
                      <m:t>0.5</m:t>
                    </m:r>
                    <m:sSub>
                      <m:sSubPr>
                        <m:ctrlPr>
                          <a:rPr lang="en-AU" i="1">
                            <a:latin typeface="Cambria Math" panose="02040503050406030204" pitchFamily="18" charset="0"/>
                          </a:rPr>
                        </m:ctrlPr>
                      </m:sSubPr>
                      <m:e>
                        <m:r>
                          <a:rPr lang="en-AU" b="0" i="1" smtClean="0">
                            <a:latin typeface="Cambria Math" panose="02040503050406030204" pitchFamily="18" charset="0"/>
                          </a:rPr>
                          <m:t>𝑇</m:t>
                        </m:r>
                      </m:e>
                      <m:sub>
                        <m:r>
                          <a:rPr lang="en-AU" i="1">
                            <a:latin typeface="Cambria Math" panose="02040503050406030204" pitchFamily="18" charset="0"/>
                          </a:rPr>
                          <m:t>𝑛</m:t>
                        </m:r>
                        <m:r>
                          <a:rPr lang="en-AU" b="0" i="1" smtClean="0">
                            <a:latin typeface="Cambria Math" panose="02040503050406030204" pitchFamily="18" charset="0"/>
                          </a:rPr>
                          <m:t>−1</m:t>
                        </m:r>
                      </m:sub>
                    </m:sSub>
                    <m:r>
                      <a:rPr lang="en-AU" i="1">
                        <a:latin typeface="Cambria Math" panose="02040503050406030204" pitchFamily="18" charset="0"/>
                      </a:rPr>
                      <m:t>−</m:t>
                    </m:r>
                    <m:r>
                      <a:rPr lang="en-AU" b="0" i="1" smtClean="0">
                        <a:latin typeface="Cambria Math" panose="02040503050406030204" pitchFamily="18" charset="0"/>
                      </a:rPr>
                      <m:t>2</m:t>
                    </m:r>
                    <m:r>
                      <a:rPr lang="en-AU" i="1">
                        <a:latin typeface="Cambria Math" panose="02040503050406030204" pitchFamily="18" charset="0"/>
                      </a:rPr>
                      <m:t>,  </m:t>
                    </m:r>
                    <m:r>
                      <a:rPr lang="en-AU" i="1">
                        <a:latin typeface="Cambria Math" panose="02040503050406030204" pitchFamily="18" charset="0"/>
                      </a:rPr>
                      <m:t>𝑤h𝑒𝑟𝑒</m:t>
                    </m:r>
                    <m:r>
                      <a:rPr lang="en-AU" i="1">
                        <a:latin typeface="Cambria Math" panose="02040503050406030204" pitchFamily="18" charset="0"/>
                      </a:rPr>
                      <m:t> </m:t>
                    </m:r>
                    <m:sSub>
                      <m:sSubPr>
                        <m:ctrlPr>
                          <a:rPr lang="en-AU" i="1">
                            <a:latin typeface="Cambria Math" panose="02040503050406030204" pitchFamily="18" charset="0"/>
                          </a:rPr>
                        </m:ctrlPr>
                      </m:sSubPr>
                      <m:e>
                        <m:r>
                          <a:rPr lang="en-AU" b="0" i="1" smtClean="0">
                            <a:latin typeface="Cambria Math" panose="02040503050406030204" pitchFamily="18" charset="0"/>
                          </a:rPr>
                          <m:t>𝑇</m:t>
                        </m:r>
                      </m:e>
                      <m:sub>
                        <m:r>
                          <a:rPr lang="en-AU" i="1">
                            <a:latin typeface="Cambria Math" panose="02040503050406030204" pitchFamily="18" charset="0"/>
                          </a:rPr>
                          <m:t>1</m:t>
                        </m:r>
                      </m:sub>
                    </m:sSub>
                    <m:r>
                      <a:rPr lang="en-AU" i="1">
                        <a:latin typeface="Cambria Math" panose="02040503050406030204" pitchFamily="18" charset="0"/>
                      </a:rPr>
                      <m:t>=</m:t>
                    </m:r>
                    <m:r>
                      <a:rPr lang="en-AU" b="0" i="1" smtClean="0">
                        <a:latin typeface="Cambria Math" panose="02040503050406030204" pitchFamily="18" charset="0"/>
                      </a:rPr>
                      <m:t>12</m:t>
                    </m:r>
                  </m:oMath>
                </a14:m>
                <a:r>
                  <a:rPr lang="en-AU" dirty="0"/>
                  <a:t> using a table to observe the long term behaviour. (put it into your class pad)</a:t>
                </a:r>
              </a:p>
              <a:p>
                <a:pPr marL="514350" indent="-514350">
                  <a:buAutoNum type="alphaLcParenR"/>
                </a:pPr>
                <a:endParaRPr lang="en-AU" dirty="0"/>
              </a:p>
              <a:p>
                <a:pPr marL="514350" indent="-514350">
                  <a:buAutoNum type="alphaLcParenR"/>
                </a:pPr>
                <a:endParaRPr lang="en-AU" dirty="0"/>
              </a:p>
              <a:p>
                <a:pPr marL="514350" indent="-514350">
                  <a:buAutoNum type="alphaLcParenR"/>
                </a:pPr>
                <a:r>
                  <a:rPr lang="en-AU" dirty="0"/>
                  <a:t>Generate the graph of the sequence and describe the long term behaviour</a:t>
                </a:r>
              </a:p>
              <a:p>
                <a:pPr marL="0" indent="0">
                  <a:buNone/>
                </a:pPr>
                <a:endParaRPr lang="en-AU" dirty="0"/>
              </a:p>
              <a:p>
                <a:pPr marL="514350" indent="-514350">
                  <a:buAutoNum type="alphaLcParenR"/>
                </a:pPr>
                <a:endParaRPr lang="en-AU" dirty="0"/>
              </a:p>
            </p:txBody>
          </p:sp>
        </mc:Choice>
        <mc:Fallback>
          <p:sp>
            <p:nvSpPr>
              <p:cNvPr id="3" name="Content Placeholder 2">
                <a:extLst>
                  <a:ext uri="{FF2B5EF4-FFF2-40B4-BE49-F238E27FC236}">
                    <a16:creationId xmlns:a16="http://schemas.microsoft.com/office/drawing/2014/main" id="{10A16E30-FFCF-4397-B993-33470743E5D8}"/>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AU">
                    <a:noFill/>
                  </a:rPr>
                  <a:t> </a:t>
                </a:r>
              </a:p>
            </p:txBody>
          </p:sp>
        </mc:Fallback>
      </mc:AlternateContent>
    </p:spTree>
    <p:extLst>
      <p:ext uri="{BB962C8B-B14F-4D97-AF65-F5344CB8AC3E}">
        <p14:creationId xmlns:p14="http://schemas.microsoft.com/office/powerpoint/2010/main" val="1406841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37A555-CE7C-4BD2-B961-5ABAC07B774C}"/>
                  </a:ext>
                </a:extLst>
              </p:cNvPr>
              <p:cNvSpPr>
                <a:spLocks noGrp="1"/>
              </p:cNvSpPr>
              <p:nvPr>
                <p:ph idx="1"/>
              </p:nvPr>
            </p:nvSpPr>
            <p:spPr>
              <a:xfrm>
                <a:off x="372979" y="157246"/>
                <a:ext cx="10515600" cy="1302586"/>
              </a:xfrm>
            </p:spPr>
            <p:txBody>
              <a:bodyPr/>
              <a:lstStyle/>
              <a:p>
                <a:r>
                  <a:rPr lang="en-AU" dirty="0"/>
                  <a:t>Generate the terms of the sequence </a:t>
                </a: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sub>
                    </m:sSub>
                    <m:r>
                      <a:rPr lang="en-AU" i="1">
                        <a:latin typeface="Cambria Math" panose="02040503050406030204" pitchFamily="18" charset="0"/>
                      </a:rPr>
                      <m:t>=</m:t>
                    </m:r>
                    <m:r>
                      <a:rPr lang="en-AU" i="1">
                        <a:latin typeface="Cambria Math" panose="02040503050406030204" pitchFamily="18" charset="0"/>
                      </a:rPr>
                      <m:t>0.5</m:t>
                    </m:r>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𝑛</m:t>
                        </m:r>
                        <m:r>
                          <a:rPr lang="en-AU" i="1">
                            <a:latin typeface="Cambria Math" panose="02040503050406030204" pitchFamily="18" charset="0"/>
                          </a:rPr>
                          <m:t>−1</m:t>
                        </m:r>
                      </m:sub>
                    </m:sSub>
                    <m:r>
                      <a:rPr lang="en-AU" i="1">
                        <a:latin typeface="Cambria Math" panose="02040503050406030204" pitchFamily="18" charset="0"/>
                      </a:rPr>
                      <m:t>−</m:t>
                    </m:r>
                    <m:r>
                      <a:rPr lang="en-AU" i="1">
                        <a:latin typeface="Cambria Math" panose="02040503050406030204" pitchFamily="18" charset="0"/>
                      </a:rPr>
                      <m:t>2</m:t>
                    </m:r>
                    <m:r>
                      <a:rPr lang="en-AU" i="1">
                        <a:latin typeface="Cambria Math" panose="02040503050406030204" pitchFamily="18" charset="0"/>
                      </a:rPr>
                      <m:t>,  </m:t>
                    </m:r>
                    <m:r>
                      <a:rPr lang="en-AU" i="1">
                        <a:latin typeface="Cambria Math" panose="02040503050406030204" pitchFamily="18" charset="0"/>
                      </a:rPr>
                      <m:t>𝑤h𝑒𝑟𝑒</m:t>
                    </m:r>
                    <m:r>
                      <a:rPr lang="en-AU" i="1">
                        <a:latin typeface="Cambria Math" panose="02040503050406030204" pitchFamily="18" charset="0"/>
                      </a:rPr>
                      <m:t> </m:t>
                    </m:r>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1</m:t>
                        </m:r>
                      </m:sub>
                    </m:sSub>
                    <m:r>
                      <a:rPr lang="en-AU" i="1">
                        <a:latin typeface="Cambria Math" panose="02040503050406030204" pitchFamily="18" charset="0"/>
                      </a:rPr>
                      <m:t>=</m:t>
                    </m:r>
                    <m:r>
                      <a:rPr lang="en-AU" i="1">
                        <a:latin typeface="Cambria Math" panose="02040503050406030204" pitchFamily="18" charset="0"/>
                      </a:rPr>
                      <m:t>12</m:t>
                    </m:r>
                  </m:oMath>
                </a14:m>
                <a:r>
                  <a:rPr lang="en-AU" dirty="0"/>
                  <a:t> using a table to observe the long term behaviour. (put it into your class pad)</a:t>
                </a:r>
              </a:p>
              <a:p>
                <a:endParaRPr lang="en-AU" dirty="0"/>
              </a:p>
            </p:txBody>
          </p:sp>
        </mc:Choice>
        <mc:Fallback>
          <p:sp>
            <p:nvSpPr>
              <p:cNvPr id="3" name="Content Placeholder 2">
                <a:extLst>
                  <a:ext uri="{FF2B5EF4-FFF2-40B4-BE49-F238E27FC236}">
                    <a16:creationId xmlns:a16="http://schemas.microsoft.com/office/drawing/2014/main" id="{B937A555-CE7C-4BD2-B961-5ABAC07B774C}"/>
                  </a:ext>
                </a:extLst>
              </p:cNvPr>
              <p:cNvSpPr>
                <a:spLocks noGrp="1" noRot="1" noChangeAspect="1" noMove="1" noResize="1" noEditPoints="1" noAdjustHandles="1" noChangeArrowheads="1" noChangeShapeType="1" noTextEdit="1"/>
              </p:cNvSpPr>
              <p:nvPr>
                <p:ph idx="1"/>
              </p:nvPr>
            </p:nvSpPr>
            <p:spPr>
              <a:xfrm>
                <a:off x="372979" y="157246"/>
                <a:ext cx="10515600" cy="1302586"/>
              </a:xfrm>
              <a:blipFill>
                <a:blip r:embed="rId2"/>
                <a:stretch>
                  <a:fillRect l="-1043" t="-7981" r="-58" b="-9390"/>
                </a:stretch>
              </a:blipFill>
            </p:spPr>
            <p:txBody>
              <a:bodyPr/>
              <a:lstStyle/>
              <a:p>
                <a:r>
                  <a:rPr lang="en-AU">
                    <a:noFill/>
                  </a:rPr>
                  <a:t> </a:t>
                </a:r>
              </a:p>
            </p:txBody>
          </p:sp>
        </mc:Fallback>
      </mc:AlternateContent>
      <p:pic>
        <p:nvPicPr>
          <p:cNvPr id="1026" name="Picture 2">
            <a:extLst>
              <a:ext uri="{FF2B5EF4-FFF2-40B4-BE49-F238E27FC236}">
                <a16:creationId xmlns:a16="http://schemas.microsoft.com/office/drawing/2014/main" id="{581EDAD4-6CE9-48C8-96C7-FB93A1CDC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79" y="1969472"/>
            <a:ext cx="2981325" cy="12096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48F5DCC-CB11-4920-9446-94B045F0FA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950" y="1459832"/>
            <a:ext cx="3086100" cy="50673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4C787E9-CECD-4B27-8A16-BA2E4144CC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1802" y="1459832"/>
            <a:ext cx="3086100" cy="50673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AA5A4DC-1C00-42EF-87FD-6540CFC93DF3}"/>
              </a:ext>
            </a:extLst>
          </p:cNvPr>
          <p:cNvSpPr txBox="1"/>
          <p:nvPr/>
        </p:nvSpPr>
        <p:spPr>
          <a:xfrm>
            <a:off x="705853" y="4219073"/>
            <a:ext cx="3513221" cy="923330"/>
          </a:xfrm>
          <a:prstGeom prst="rect">
            <a:avLst/>
          </a:prstGeom>
          <a:noFill/>
        </p:spPr>
        <p:txBody>
          <a:bodyPr wrap="square" rtlCol="0">
            <a:spAutoFit/>
          </a:bodyPr>
          <a:lstStyle/>
          <a:p>
            <a:endParaRPr lang="en-AU" dirty="0"/>
          </a:p>
          <a:p>
            <a:r>
              <a:rPr lang="en-AU" b="1" dirty="0">
                <a:solidFill>
                  <a:schemeClr val="accent1"/>
                </a:solidFill>
              </a:rPr>
              <a:t>The sequence appears to approach a steady-state value of -4</a:t>
            </a:r>
          </a:p>
        </p:txBody>
      </p:sp>
    </p:spTree>
    <p:extLst>
      <p:ext uri="{BB962C8B-B14F-4D97-AF65-F5344CB8AC3E}">
        <p14:creationId xmlns:p14="http://schemas.microsoft.com/office/powerpoint/2010/main" val="76108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C78AC6-AAFE-4A0B-A9F2-BC042F99CC50}"/>
              </a:ext>
            </a:extLst>
          </p:cNvPr>
          <p:cNvSpPr>
            <a:spLocks noGrp="1"/>
          </p:cNvSpPr>
          <p:nvPr>
            <p:ph idx="1"/>
          </p:nvPr>
        </p:nvSpPr>
        <p:spPr>
          <a:xfrm>
            <a:off x="709863" y="349751"/>
            <a:ext cx="10515600" cy="1286544"/>
          </a:xfrm>
        </p:spPr>
        <p:txBody>
          <a:bodyPr/>
          <a:lstStyle/>
          <a:p>
            <a:r>
              <a:rPr lang="en-AU" dirty="0"/>
              <a:t>Generate the graph of the sequence and describe the long term behaviour</a:t>
            </a:r>
          </a:p>
          <a:p>
            <a:pPr marL="0" indent="0">
              <a:buNone/>
            </a:pPr>
            <a:endParaRPr lang="en-AU" dirty="0"/>
          </a:p>
        </p:txBody>
      </p:sp>
      <p:pic>
        <p:nvPicPr>
          <p:cNvPr id="2050" name="Picture 2">
            <a:extLst>
              <a:ext uri="{FF2B5EF4-FFF2-40B4-BE49-F238E27FC236}">
                <a16:creationId xmlns:a16="http://schemas.microsoft.com/office/drawing/2014/main" id="{2F29F702-3E80-40DD-8D5D-E8FD433237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87" y="1141329"/>
            <a:ext cx="3067078" cy="50131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95F7BE7-78B0-41F6-9E1D-3AF9A091C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61" y="1170238"/>
            <a:ext cx="3086100" cy="50673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840407E2-8D56-4CC4-8F3D-9BA462881A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9857" y="1141329"/>
            <a:ext cx="3086100" cy="50673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6A3B7EF-DB24-49AA-AFFA-11DBAE7F75F2}"/>
              </a:ext>
            </a:extLst>
          </p:cNvPr>
          <p:cNvSpPr txBox="1"/>
          <p:nvPr/>
        </p:nvSpPr>
        <p:spPr>
          <a:xfrm>
            <a:off x="8261684" y="3064042"/>
            <a:ext cx="944426" cy="369332"/>
          </a:xfrm>
          <a:prstGeom prst="rect">
            <a:avLst/>
          </a:prstGeom>
          <a:noFill/>
        </p:spPr>
        <p:txBody>
          <a:bodyPr wrap="none" rtlCol="0">
            <a:spAutoFit/>
          </a:bodyPr>
          <a:lstStyle/>
          <a:p>
            <a:r>
              <a:rPr lang="en-AU" dirty="0"/>
              <a:t>Zoom in</a:t>
            </a:r>
          </a:p>
        </p:txBody>
      </p:sp>
      <p:sp>
        <p:nvSpPr>
          <p:cNvPr id="8" name="TextBox 7">
            <a:extLst>
              <a:ext uri="{FF2B5EF4-FFF2-40B4-BE49-F238E27FC236}">
                <a16:creationId xmlns:a16="http://schemas.microsoft.com/office/drawing/2014/main" id="{80D0585F-A9F5-45F6-BA41-7823E04629F6}"/>
              </a:ext>
            </a:extLst>
          </p:cNvPr>
          <p:cNvSpPr txBox="1"/>
          <p:nvPr/>
        </p:nvSpPr>
        <p:spPr>
          <a:xfrm>
            <a:off x="8373492" y="5934670"/>
            <a:ext cx="3513221" cy="923330"/>
          </a:xfrm>
          <a:prstGeom prst="rect">
            <a:avLst/>
          </a:prstGeom>
          <a:noFill/>
        </p:spPr>
        <p:txBody>
          <a:bodyPr wrap="square" rtlCol="0">
            <a:spAutoFit/>
          </a:bodyPr>
          <a:lstStyle/>
          <a:p>
            <a:endParaRPr lang="en-AU" dirty="0"/>
          </a:p>
          <a:p>
            <a:r>
              <a:rPr lang="en-AU" b="1" dirty="0">
                <a:solidFill>
                  <a:schemeClr val="accent1"/>
                </a:solidFill>
              </a:rPr>
              <a:t>The sequence appears to approach a steady-state value of -4</a:t>
            </a:r>
          </a:p>
        </p:txBody>
      </p:sp>
    </p:spTree>
    <p:extLst>
      <p:ext uri="{BB962C8B-B14F-4D97-AF65-F5344CB8AC3E}">
        <p14:creationId xmlns:p14="http://schemas.microsoft.com/office/powerpoint/2010/main" val="245499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1523F-0C0E-4222-AA32-DDCBC9349850}"/>
              </a:ext>
            </a:extLst>
          </p:cNvPr>
          <p:cNvSpPr>
            <a:spLocks noGrp="1"/>
          </p:cNvSpPr>
          <p:nvPr>
            <p:ph type="title"/>
          </p:nvPr>
        </p:nvSpPr>
        <p:spPr/>
        <p:txBody>
          <a:bodyPr/>
          <a:lstStyle/>
          <a:p>
            <a:r>
              <a:rPr lang="en-AU" b="1" dirty="0"/>
              <a:t>Example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99126F-B99F-45C0-A1C8-AC1B077BDC8E}"/>
                  </a:ext>
                </a:extLst>
              </p:cNvPr>
              <p:cNvSpPr>
                <a:spLocks noGrp="1"/>
              </p:cNvSpPr>
              <p:nvPr>
                <p:ph idx="1"/>
              </p:nvPr>
            </p:nvSpPr>
            <p:spPr>
              <a:xfrm>
                <a:off x="236738" y="1435008"/>
                <a:ext cx="11718524" cy="1325563"/>
              </a:xfrm>
            </p:spPr>
            <p:txBody>
              <a:bodyPr/>
              <a:lstStyle/>
              <a:p>
                <a:pPr marL="0" indent="0">
                  <a:buNone/>
                </a:pPr>
                <a:r>
                  <a:rPr lang="en-AU" dirty="0"/>
                  <a:t>The Sequence defined by the recurrence relation </a:t>
                </a:r>
                <a14:m>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𝑢</m:t>
                        </m:r>
                      </m:e>
                      <m:sub>
                        <m:r>
                          <a:rPr lang="en-AU" b="0" i="1" smtClean="0">
                            <a:latin typeface="Cambria Math" panose="02040503050406030204" pitchFamily="18" charset="0"/>
                          </a:rPr>
                          <m:t>𝑛</m:t>
                        </m:r>
                        <m:r>
                          <a:rPr lang="en-AU" b="0" i="1" smtClean="0">
                            <a:latin typeface="Cambria Math" panose="02040503050406030204" pitchFamily="18" charset="0"/>
                          </a:rPr>
                          <m:t>+1</m:t>
                        </m:r>
                      </m:sub>
                    </m:sSub>
                    <m:r>
                      <a:rPr lang="en-AU" b="0" i="1" smtClean="0">
                        <a:latin typeface="Cambria Math" panose="02040503050406030204" pitchFamily="18" charset="0"/>
                      </a:rPr>
                      <m:t>=</m:t>
                    </m:r>
                    <m:r>
                      <a:rPr lang="en-AU" b="0" i="1" smtClean="0">
                        <a:latin typeface="Cambria Math" panose="02040503050406030204" pitchFamily="18" charset="0"/>
                      </a:rPr>
                      <m:t>𝑘</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𝑢</m:t>
                        </m:r>
                      </m:e>
                      <m:sub>
                        <m:r>
                          <a:rPr lang="en-AU" b="0" i="1" smtClean="0">
                            <a:latin typeface="Cambria Math" panose="02040503050406030204" pitchFamily="18" charset="0"/>
                          </a:rPr>
                          <m:t>𝑛</m:t>
                        </m:r>
                      </m:sub>
                    </m:sSub>
                    <m:r>
                      <a:rPr lang="en-AU" b="0" i="1" smtClean="0">
                        <a:latin typeface="Cambria Math" panose="02040503050406030204" pitchFamily="18" charset="0"/>
                      </a:rPr>
                      <m:t>−16,  </m:t>
                    </m:r>
                    <m:r>
                      <a:rPr lang="en-AU" b="0" i="1" smtClean="0">
                        <a:latin typeface="Cambria Math" panose="02040503050406030204" pitchFamily="18" charset="0"/>
                      </a:rPr>
                      <m:t>𝑤h𝑒𝑟𝑒</m:t>
                    </m:r>
                    <m:r>
                      <a:rPr lang="en-AU" b="0" i="1" smtClean="0">
                        <a:latin typeface="Cambria Math" panose="02040503050406030204" pitchFamily="18" charset="0"/>
                      </a:rPr>
                      <m:t> </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𝑢</m:t>
                        </m:r>
                      </m:e>
                      <m:sub>
                        <m:r>
                          <a:rPr lang="en-AU" b="0" i="1" smtClean="0">
                            <a:latin typeface="Cambria Math" panose="02040503050406030204" pitchFamily="18" charset="0"/>
                          </a:rPr>
                          <m:t>1</m:t>
                        </m:r>
                      </m:sub>
                    </m:sSub>
                    <m:r>
                      <a:rPr lang="en-AU" b="0" i="1" smtClean="0">
                        <a:latin typeface="Cambria Math" panose="02040503050406030204" pitchFamily="18" charset="0"/>
                      </a:rPr>
                      <m:t>=3</m:t>
                    </m:r>
                  </m:oMath>
                </a14:m>
                <a:r>
                  <a:rPr lang="en-AU" dirty="0"/>
                  <a:t>, approaches a long term steady-state value of -40. Find the value of k.</a:t>
                </a:r>
              </a:p>
              <a:p>
                <a:pPr marL="0" indent="0">
                  <a:buNone/>
                </a:pPr>
                <a:endParaRPr lang="en-AU" dirty="0"/>
              </a:p>
            </p:txBody>
          </p:sp>
        </mc:Choice>
        <mc:Fallback>
          <p:sp>
            <p:nvSpPr>
              <p:cNvPr id="3" name="Content Placeholder 2">
                <a:extLst>
                  <a:ext uri="{FF2B5EF4-FFF2-40B4-BE49-F238E27FC236}">
                    <a16:creationId xmlns:a16="http://schemas.microsoft.com/office/drawing/2014/main" id="{9A99126F-B99F-45C0-A1C8-AC1B077BDC8E}"/>
                  </a:ext>
                </a:extLst>
              </p:cNvPr>
              <p:cNvSpPr>
                <a:spLocks noGrp="1" noRot="1" noChangeAspect="1" noMove="1" noResize="1" noEditPoints="1" noAdjustHandles="1" noChangeArrowheads="1" noChangeShapeType="1" noTextEdit="1"/>
              </p:cNvSpPr>
              <p:nvPr>
                <p:ph idx="1"/>
              </p:nvPr>
            </p:nvSpPr>
            <p:spPr>
              <a:xfrm>
                <a:off x="236738" y="1435008"/>
                <a:ext cx="11718524" cy="1325563"/>
              </a:xfrm>
              <a:blipFill>
                <a:blip r:embed="rId2"/>
                <a:stretch>
                  <a:fillRect l="-1093" t="-7339" r="-1405" b="-688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82337F4-6387-4E92-92DB-EF59D7D6D1A5}"/>
                  </a:ext>
                </a:extLst>
              </p:cNvPr>
              <p:cNvSpPr txBox="1"/>
              <p:nvPr/>
            </p:nvSpPr>
            <p:spPr>
              <a:xfrm>
                <a:off x="1341521" y="2991308"/>
                <a:ext cx="4553252" cy="2811924"/>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AU" b="1" i="1" smtClean="0">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𝒖</m:t>
                          </m:r>
                        </m:e>
                        <m:sub>
                          <m:r>
                            <a:rPr lang="en-AU" b="1" i="1">
                              <a:solidFill>
                                <a:srgbClr val="FF0000"/>
                              </a:solidFill>
                              <a:latin typeface="Cambria Math" panose="02040503050406030204" pitchFamily="18" charset="0"/>
                            </a:rPr>
                            <m:t>𝒏</m:t>
                          </m:r>
                          <m:r>
                            <a:rPr lang="en-AU" b="1" i="1">
                              <a:solidFill>
                                <a:srgbClr val="FF0000"/>
                              </a:solidFill>
                              <a:latin typeface="Cambria Math" panose="02040503050406030204" pitchFamily="18" charset="0"/>
                            </a:rPr>
                            <m:t>+</m:t>
                          </m:r>
                          <m:r>
                            <a:rPr lang="en-AU" b="1" i="1">
                              <a:solidFill>
                                <a:srgbClr val="FF0000"/>
                              </a:solidFill>
                              <a:latin typeface="Cambria Math" panose="02040503050406030204" pitchFamily="18" charset="0"/>
                            </a:rPr>
                            <m:t>𝟏</m:t>
                          </m:r>
                        </m:sub>
                      </m:sSub>
                      <m:r>
                        <a:rPr lang="en-AU" b="1" i="1">
                          <a:solidFill>
                            <a:srgbClr val="FF0000"/>
                          </a:solidFill>
                          <a:latin typeface="Cambria Math" panose="02040503050406030204" pitchFamily="18" charset="0"/>
                        </a:rPr>
                        <m:t>=</m:t>
                      </m:r>
                      <m:r>
                        <a:rPr lang="en-AU" b="1" i="1">
                          <a:solidFill>
                            <a:srgbClr val="FF0000"/>
                          </a:solidFill>
                          <a:latin typeface="Cambria Math" panose="02040503050406030204" pitchFamily="18" charset="0"/>
                        </a:rPr>
                        <m:t>𝒌</m:t>
                      </m:r>
                      <m:sSub>
                        <m:sSubPr>
                          <m:ctrlPr>
                            <a:rPr lang="en-AU" b="1" i="1">
                              <a:solidFill>
                                <a:srgbClr val="FF0000"/>
                              </a:solidFill>
                              <a:latin typeface="Cambria Math" panose="02040503050406030204" pitchFamily="18" charset="0"/>
                            </a:rPr>
                          </m:ctrlPr>
                        </m:sSubPr>
                        <m:e>
                          <m:r>
                            <a:rPr lang="en-AU" b="1" i="1">
                              <a:solidFill>
                                <a:srgbClr val="FF0000"/>
                              </a:solidFill>
                              <a:latin typeface="Cambria Math" panose="02040503050406030204" pitchFamily="18" charset="0"/>
                            </a:rPr>
                            <m:t>𝒖</m:t>
                          </m:r>
                        </m:e>
                        <m:sub>
                          <m:r>
                            <a:rPr lang="en-AU" b="1" i="1">
                              <a:solidFill>
                                <a:srgbClr val="FF0000"/>
                              </a:solidFill>
                              <a:latin typeface="Cambria Math" panose="02040503050406030204" pitchFamily="18" charset="0"/>
                            </a:rPr>
                            <m:t>𝒏</m:t>
                          </m:r>
                        </m:sub>
                      </m:sSub>
                      <m:r>
                        <a:rPr lang="en-AU" b="1" i="1">
                          <a:solidFill>
                            <a:srgbClr val="FF0000"/>
                          </a:solidFill>
                          <a:latin typeface="Cambria Math" panose="02040503050406030204" pitchFamily="18" charset="0"/>
                        </a:rPr>
                        <m:t>−</m:t>
                      </m:r>
                      <m:r>
                        <a:rPr lang="en-AU" b="1" i="1">
                          <a:solidFill>
                            <a:srgbClr val="FF0000"/>
                          </a:solidFill>
                          <a:latin typeface="Cambria Math" panose="02040503050406030204" pitchFamily="18" charset="0"/>
                        </a:rPr>
                        <m:t>𝟏𝟔</m:t>
                      </m:r>
                    </m:oMath>
                    <m:oMath xmlns:m="http://schemas.openxmlformats.org/officeDocument/2006/math">
                      <m:r>
                        <a:rPr lang="en-AU" b="1" i="1" smtClean="0">
                          <a:solidFill>
                            <a:srgbClr val="FF0000"/>
                          </a:solidFill>
                          <a:latin typeface="Cambria Math" panose="02040503050406030204" pitchFamily="18" charset="0"/>
                        </a:rPr>
                        <m:t>−</m:t>
                      </m:r>
                      <m:r>
                        <a:rPr lang="en-AU" b="1" i="1" smtClean="0">
                          <a:solidFill>
                            <a:srgbClr val="FF0000"/>
                          </a:solidFill>
                          <a:latin typeface="Cambria Math" panose="02040503050406030204" pitchFamily="18" charset="0"/>
                        </a:rPr>
                        <m:t>𝟒𝟎</m:t>
                      </m:r>
                      <m:r>
                        <a:rPr lang="en-AU" b="1" i="1" smtClean="0">
                          <a:solidFill>
                            <a:srgbClr val="FF0000"/>
                          </a:solidFill>
                          <a:latin typeface="Cambria Math" panose="02040503050406030204" pitchFamily="18" charset="0"/>
                        </a:rPr>
                        <m:t>=</m:t>
                      </m:r>
                      <m:r>
                        <a:rPr lang="en-AU" b="1" i="1" smtClean="0">
                          <a:solidFill>
                            <a:srgbClr val="FF0000"/>
                          </a:solidFill>
                          <a:latin typeface="Cambria Math" panose="02040503050406030204" pitchFamily="18" charset="0"/>
                        </a:rPr>
                        <m:t>𝒌</m:t>
                      </m:r>
                      <m:r>
                        <a:rPr lang="en-AU" b="1" i="1" smtClean="0">
                          <a:solidFill>
                            <a:srgbClr val="FF0000"/>
                          </a:solidFill>
                          <a:latin typeface="Cambria Math" panose="02040503050406030204" pitchFamily="18" charset="0"/>
                          <a:ea typeface="Cambria Math" panose="02040503050406030204" pitchFamily="18" charset="0"/>
                        </a:rPr>
                        <m:t>×−</m:t>
                      </m:r>
                      <m:r>
                        <a:rPr lang="en-AU" b="1" i="1" smtClean="0">
                          <a:solidFill>
                            <a:srgbClr val="FF0000"/>
                          </a:solidFill>
                          <a:latin typeface="Cambria Math" panose="02040503050406030204" pitchFamily="18" charset="0"/>
                          <a:ea typeface="Cambria Math" panose="02040503050406030204" pitchFamily="18" charset="0"/>
                        </a:rPr>
                        <m:t>𝟒𝟎</m:t>
                      </m:r>
                      <m:r>
                        <a:rPr lang="en-AU" b="1" i="1" smtClean="0">
                          <a:solidFill>
                            <a:srgbClr val="FF0000"/>
                          </a:solidFill>
                          <a:latin typeface="Cambria Math" panose="02040503050406030204" pitchFamily="18" charset="0"/>
                          <a:ea typeface="Cambria Math" panose="02040503050406030204" pitchFamily="18" charset="0"/>
                        </a:rPr>
                        <m:t> −</m:t>
                      </m:r>
                      <m:r>
                        <a:rPr lang="en-AU" b="1" i="1" smtClean="0">
                          <a:solidFill>
                            <a:srgbClr val="FF0000"/>
                          </a:solidFill>
                          <a:latin typeface="Cambria Math" panose="02040503050406030204" pitchFamily="18" charset="0"/>
                          <a:ea typeface="Cambria Math" panose="02040503050406030204" pitchFamily="18" charset="0"/>
                        </a:rPr>
                        <m:t>𝟏𝟔</m:t>
                      </m:r>
                    </m:oMath>
                    <m:oMath xmlns:m="http://schemas.openxmlformats.org/officeDocument/2006/math">
                      <m:r>
                        <a:rPr lang="en-AU" b="1" i="1" smtClean="0">
                          <a:solidFill>
                            <a:srgbClr val="FF0000"/>
                          </a:solidFill>
                          <a:latin typeface="Cambria Math" panose="02040503050406030204" pitchFamily="18" charset="0"/>
                          <a:ea typeface="Cambria Math" panose="02040503050406030204" pitchFamily="18" charset="0"/>
                        </a:rPr>
                        <m:t>−</m:t>
                      </m:r>
                      <m:r>
                        <a:rPr lang="en-AU" b="1" i="1" smtClean="0">
                          <a:solidFill>
                            <a:srgbClr val="FF0000"/>
                          </a:solidFill>
                          <a:latin typeface="Cambria Math" panose="02040503050406030204" pitchFamily="18" charset="0"/>
                          <a:ea typeface="Cambria Math" panose="02040503050406030204" pitchFamily="18" charset="0"/>
                        </a:rPr>
                        <m:t>𝟐𝟒</m:t>
                      </m:r>
                      <m:r>
                        <a:rPr lang="en-AU" b="1" i="1" smtClean="0">
                          <a:solidFill>
                            <a:srgbClr val="FF0000"/>
                          </a:solidFill>
                          <a:latin typeface="Cambria Math" panose="02040503050406030204" pitchFamily="18" charset="0"/>
                          <a:ea typeface="Cambria Math" panose="02040503050406030204" pitchFamily="18" charset="0"/>
                        </a:rPr>
                        <m:t>=−</m:t>
                      </m:r>
                      <m:r>
                        <a:rPr lang="en-AU" b="1" i="1" smtClean="0">
                          <a:solidFill>
                            <a:srgbClr val="FF0000"/>
                          </a:solidFill>
                          <a:latin typeface="Cambria Math" panose="02040503050406030204" pitchFamily="18" charset="0"/>
                          <a:ea typeface="Cambria Math" panose="02040503050406030204" pitchFamily="18" charset="0"/>
                        </a:rPr>
                        <m:t>𝟒𝟎</m:t>
                      </m:r>
                      <m:r>
                        <a:rPr lang="en-AU" b="1" i="1" smtClean="0">
                          <a:solidFill>
                            <a:srgbClr val="FF0000"/>
                          </a:solidFill>
                          <a:latin typeface="Cambria Math" panose="02040503050406030204" pitchFamily="18" charset="0"/>
                          <a:ea typeface="Cambria Math" panose="02040503050406030204" pitchFamily="18" charset="0"/>
                        </a:rPr>
                        <m:t>𝒌</m:t>
                      </m:r>
                    </m:oMath>
                    <m:oMath xmlns:m="http://schemas.openxmlformats.org/officeDocument/2006/math">
                      <m:r>
                        <a:rPr lang="en-AU" b="1" i="1" smtClean="0">
                          <a:solidFill>
                            <a:srgbClr val="FF0000"/>
                          </a:solidFill>
                          <a:latin typeface="Cambria Math" panose="02040503050406030204" pitchFamily="18" charset="0"/>
                          <a:ea typeface="Cambria Math" panose="02040503050406030204" pitchFamily="18" charset="0"/>
                        </a:rPr>
                        <m:t>𝒌</m:t>
                      </m:r>
                      <m:r>
                        <a:rPr lang="en-AU" b="1" i="1" smtClean="0">
                          <a:solidFill>
                            <a:srgbClr val="FF0000"/>
                          </a:solidFill>
                          <a:latin typeface="Cambria Math" panose="02040503050406030204" pitchFamily="18" charset="0"/>
                          <a:ea typeface="Cambria Math" panose="02040503050406030204" pitchFamily="18" charset="0"/>
                        </a:rPr>
                        <m:t>=−</m:t>
                      </m:r>
                      <m:f>
                        <m:fPr>
                          <m:ctrlPr>
                            <a:rPr lang="en-AU" b="1" i="1" smtClean="0">
                              <a:solidFill>
                                <a:srgbClr val="FF0000"/>
                              </a:solidFill>
                              <a:latin typeface="Cambria Math" panose="02040503050406030204" pitchFamily="18" charset="0"/>
                              <a:ea typeface="Cambria Math" panose="02040503050406030204" pitchFamily="18" charset="0"/>
                            </a:rPr>
                          </m:ctrlPr>
                        </m:fPr>
                        <m:num>
                          <m:r>
                            <a:rPr lang="en-AU" b="1" i="1" smtClean="0">
                              <a:solidFill>
                                <a:srgbClr val="FF0000"/>
                              </a:solidFill>
                              <a:latin typeface="Cambria Math" panose="02040503050406030204" pitchFamily="18" charset="0"/>
                              <a:ea typeface="Cambria Math" panose="02040503050406030204" pitchFamily="18" charset="0"/>
                            </a:rPr>
                            <m:t>𝟐𝟒</m:t>
                          </m:r>
                        </m:num>
                        <m:den>
                          <m:r>
                            <a:rPr lang="en-AU" b="1" i="1" smtClean="0">
                              <a:solidFill>
                                <a:srgbClr val="FF0000"/>
                              </a:solidFill>
                              <a:latin typeface="Cambria Math" panose="02040503050406030204" pitchFamily="18" charset="0"/>
                              <a:ea typeface="Cambria Math" panose="02040503050406030204" pitchFamily="18" charset="0"/>
                            </a:rPr>
                            <m:t>−</m:t>
                          </m:r>
                          <m:r>
                            <a:rPr lang="en-AU" b="1" i="1" smtClean="0">
                              <a:solidFill>
                                <a:srgbClr val="FF0000"/>
                              </a:solidFill>
                              <a:latin typeface="Cambria Math" panose="02040503050406030204" pitchFamily="18" charset="0"/>
                              <a:ea typeface="Cambria Math" panose="02040503050406030204" pitchFamily="18" charset="0"/>
                            </a:rPr>
                            <m:t>𝟒𝟎</m:t>
                          </m:r>
                        </m:den>
                      </m:f>
                    </m:oMath>
                    <m:oMath xmlns:m="http://schemas.openxmlformats.org/officeDocument/2006/math">
                      <m:r>
                        <a:rPr lang="en-AU" b="1" i="1" smtClean="0">
                          <a:solidFill>
                            <a:srgbClr val="FF0000"/>
                          </a:solidFill>
                          <a:latin typeface="Cambria Math" panose="02040503050406030204" pitchFamily="18" charset="0"/>
                          <a:ea typeface="Cambria Math" panose="02040503050406030204" pitchFamily="18" charset="0"/>
                        </a:rPr>
                        <m:t>𝒌</m:t>
                      </m:r>
                      <m:r>
                        <a:rPr lang="en-AU" b="1" i="1" smtClean="0">
                          <a:solidFill>
                            <a:srgbClr val="FF0000"/>
                          </a:solidFill>
                          <a:latin typeface="Cambria Math" panose="02040503050406030204" pitchFamily="18" charset="0"/>
                          <a:ea typeface="Cambria Math" panose="02040503050406030204" pitchFamily="18" charset="0"/>
                        </a:rPr>
                        <m:t>=</m:t>
                      </m:r>
                      <m:r>
                        <a:rPr lang="en-AU" b="1" i="1" smtClean="0">
                          <a:solidFill>
                            <a:srgbClr val="FF0000"/>
                          </a:solidFill>
                          <a:latin typeface="Cambria Math" panose="02040503050406030204" pitchFamily="18" charset="0"/>
                          <a:ea typeface="Cambria Math" panose="02040503050406030204" pitchFamily="18" charset="0"/>
                        </a:rPr>
                        <m:t>𝟎</m:t>
                      </m:r>
                      <m:r>
                        <a:rPr lang="en-AU" b="1" i="1" smtClean="0">
                          <a:solidFill>
                            <a:srgbClr val="FF0000"/>
                          </a:solidFill>
                          <a:latin typeface="Cambria Math" panose="02040503050406030204" pitchFamily="18" charset="0"/>
                          <a:ea typeface="Cambria Math" panose="02040503050406030204" pitchFamily="18" charset="0"/>
                        </a:rPr>
                        <m:t>.</m:t>
                      </m:r>
                      <m:r>
                        <a:rPr lang="en-AU" b="1" i="1" smtClean="0">
                          <a:solidFill>
                            <a:srgbClr val="FF0000"/>
                          </a:solidFill>
                          <a:latin typeface="Cambria Math" panose="02040503050406030204" pitchFamily="18" charset="0"/>
                          <a:ea typeface="Cambria Math" panose="02040503050406030204" pitchFamily="18" charset="0"/>
                        </a:rPr>
                        <m:t>𝟔</m:t>
                      </m:r>
                    </m:oMath>
                  </m:oMathPara>
                </a14:m>
                <a:endParaRPr lang="en-AU" b="1" dirty="0">
                  <a:solidFill>
                    <a:srgbClr val="FF0000"/>
                  </a:solidFill>
                  <a:ea typeface="Cambria Math" panose="02040503050406030204" pitchFamily="18" charset="0"/>
                </a:endParaRPr>
              </a:p>
              <a:p>
                <a:endParaRPr lang="en-AU" dirty="0"/>
              </a:p>
            </p:txBody>
          </p:sp>
        </mc:Choice>
        <mc:Fallback>
          <p:sp>
            <p:nvSpPr>
              <p:cNvPr id="4" name="TextBox 3">
                <a:extLst>
                  <a:ext uri="{FF2B5EF4-FFF2-40B4-BE49-F238E27FC236}">
                    <a16:creationId xmlns:a16="http://schemas.microsoft.com/office/drawing/2014/main" id="{D82337F4-6387-4E92-92DB-EF59D7D6D1A5}"/>
                  </a:ext>
                </a:extLst>
              </p:cNvPr>
              <p:cNvSpPr txBox="1">
                <a:spLocks noRot="1" noChangeAspect="1" noMove="1" noResize="1" noEditPoints="1" noAdjustHandles="1" noChangeArrowheads="1" noChangeShapeType="1" noTextEdit="1"/>
              </p:cNvSpPr>
              <p:nvPr/>
            </p:nvSpPr>
            <p:spPr>
              <a:xfrm>
                <a:off x="1341521" y="2991308"/>
                <a:ext cx="4553252" cy="2811924"/>
              </a:xfrm>
              <a:prstGeom prst="rect">
                <a:avLst/>
              </a:prstGeom>
              <a:blipFill>
                <a:blip r:embed="rId3"/>
                <a:stretch>
                  <a:fillRect/>
                </a:stretch>
              </a:blipFill>
            </p:spPr>
            <p:txBody>
              <a:bodyPr/>
              <a:lstStyle/>
              <a:p>
                <a:r>
                  <a:rPr lang="en-AU">
                    <a:noFill/>
                  </a:rPr>
                  <a:t> </a:t>
                </a:r>
              </a:p>
            </p:txBody>
          </p:sp>
        </mc:Fallback>
      </mc:AlternateContent>
      <p:sp>
        <p:nvSpPr>
          <p:cNvPr id="5" name="TextBox 4">
            <a:extLst>
              <a:ext uri="{FF2B5EF4-FFF2-40B4-BE49-F238E27FC236}">
                <a16:creationId xmlns:a16="http://schemas.microsoft.com/office/drawing/2014/main" id="{A5C52114-DDB8-4882-A296-AD13735C9451}"/>
              </a:ext>
            </a:extLst>
          </p:cNvPr>
          <p:cNvSpPr txBox="1"/>
          <p:nvPr/>
        </p:nvSpPr>
        <p:spPr>
          <a:xfrm>
            <a:off x="6622741" y="3151188"/>
            <a:ext cx="3728621" cy="923330"/>
          </a:xfrm>
          <a:prstGeom prst="rect">
            <a:avLst/>
          </a:prstGeom>
          <a:noFill/>
        </p:spPr>
        <p:txBody>
          <a:bodyPr wrap="square" rtlCol="0">
            <a:spAutoFit/>
          </a:bodyPr>
          <a:lstStyle/>
          <a:p>
            <a:r>
              <a:rPr lang="en-AU" b="1" dirty="0">
                <a:solidFill>
                  <a:schemeClr val="accent1"/>
                </a:solidFill>
              </a:rPr>
              <a:t>Substitute into recurrence relation</a:t>
            </a:r>
          </a:p>
          <a:p>
            <a:endParaRPr lang="en-AU" b="1" dirty="0">
              <a:solidFill>
                <a:schemeClr val="accent1"/>
              </a:solidFill>
            </a:endParaRPr>
          </a:p>
          <a:p>
            <a:r>
              <a:rPr lang="en-AU" b="1" dirty="0">
                <a:solidFill>
                  <a:schemeClr val="accent1"/>
                </a:solidFill>
              </a:rPr>
              <a:t>Solve for k </a:t>
            </a:r>
          </a:p>
        </p:txBody>
      </p:sp>
    </p:spTree>
    <p:extLst>
      <p:ext uri="{BB962C8B-B14F-4D97-AF65-F5344CB8AC3E}">
        <p14:creationId xmlns:p14="http://schemas.microsoft.com/office/powerpoint/2010/main" val="2070445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B62EA-A9E3-4FF8-B862-817ECBDD9158}"/>
              </a:ext>
            </a:extLst>
          </p:cNvPr>
          <p:cNvSpPr>
            <a:spLocks noGrp="1"/>
          </p:cNvSpPr>
          <p:nvPr>
            <p:ph type="title"/>
          </p:nvPr>
        </p:nvSpPr>
        <p:spPr/>
        <p:txBody>
          <a:bodyPr/>
          <a:lstStyle/>
          <a:p>
            <a:r>
              <a:rPr lang="en-AU" dirty="0"/>
              <a:t>Complete the following</a:t>
            </a:r>
          </a:p>
        </p:txBody>
      </p:sp>
      <p:sp>
        <p:nvSpPr>
          <p:cNvPr id="3" name="Content Placeholder 2">
            <a:extLst>
              <a:ext uri="{FF2B5EF4-FFF2-40B4-BE49-F238E27FC236}">
                <a16:creationId xmlns:a16="http://schemas.microsoft.com/office/drawing/2014/main" id="{BC66A2EE-BFCE-43C4-9372-DCB3C1C82B84}"/>
              </a:ext>
            </a:extLst>
          </p:cNvPr>
          <p:cNvSpPr>
            <a:spLocks noGrp="1"/>
          </p:cNvSpPr>
          <p:nvPr>
            <p:ph idx="1"/>
          </p:nvPr>
        </p:nvSpPr>
        <p:spPr/>
        <p:txBody>
          <a:bodyPr/>
          <a:lstStyle/>
          <a:p>
            <a:r>
              <a:rPr lang="en-AU" dirty="0"/>
              <a:t>4C</a:t>
            </a:r>
          </a:p>
          <a:p>
            <a:r>
              <a:rPr lang="en-AU" dirty="0" err="1"/>
              <a:t>Misc</a:t>
            </a:r>
            <a:r>
              <a:rPr lang="en-AU"/>
              <a:t> 4</a:t>
            </a:r>
            <a:endParaRPr lang="en-AU" dirty="0"/>
          </a:p>
        </p:txBody>
      </p:sp>
    </p:spTree>
    <p:extLst>
      <p:ext uri="{BB962C8B-B14F-4D97-AF65-F5344CB8AC3E}">
        <p14:creationId xmlns:p14="http://schemas.microsoft.com/office/powerpoint/2010/main" val="3077698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4825</TotalTime>
  <Words>2215</Words>
  <Application>Microsoft Office PowerPoint</Application>
  <PresentationFormat>Widescreen</PresentationFormat>
  <Paragraphs>303</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Cambria Math</vt:lpstr>
      <vt:lpstr>Felix Titling</vt:lpstr>
      <vt:lpstr>Office Theme</vt:lpstr>
      <vt:lpstr>Sequences</vt:lpstr>
      <vt:lpstr>Contents</vt:lpstr>
      <vt:lpstr>Syllabus</vt:lpstr>
      <vt:lpstr>Lesson 1 </vt:lpstr>
      <vt:lpstr>PowerPoint Presentation</vt:lpstr>
      <vt:lpstr>Lesson 2 </vt:lpstr>
      <vt:lpstr>PowerPoint Presentation</vt:lpstr>
      <vt:lpstr>Lesson 3 </vt:lpstr>
      <vt:lpstr>PowerPoint Presentation</vt:lpstr>
      <vt:lpstr>Try these please</vt:lpstr>
      <vt:lpstr>How to do this in your classpad</vt:lpstr>
      <vt:lpstr>PowerPoint Presentation</vt:lpstr>
      <vt:lpstr>Lesson 4 </vt:lpstr>
      <vt:lpstr>PowerPoint Presentation</vt:lpstr>
      <vt:lpstr>Exam Question: Calculator free</vt:lpstr>
      <vt:lpstr>Complete ch5 in the ATP exam revision book</vt:lpstr>
      <vt:lpstr>Lesson 5</vt:lpstr>
      <vt:lpstr>PowerPoint Presentation</vt:lpstr>
      <vt:lpstr>Example question:</vt:lpstr>
      <vt:lpstr>Complete this work.</vt:lpstr>
      <vt:lpstr>Lesson 6 </vt:lpstr>
      <vt:lpstr>Starting problem</vt:lpstr>
      <vt:lpstr>Solution</vt:lpstr>
      <vt:lpstr>PowerPoint Presentation</vt:lpstr>
      <vt:lpstr>Complete Exercise 4B</vt:lpstr>
      <vt:lpstr>Lesson 7 </vt:lpstr>
      <vt:lpstr>Introduction problem</vt:lpstr>
      <vt:lpstr>PowerPoint Presentation</vt:lpstr>
      <vt:lpstr>Example 1</vt:lpstr>
      <vt:lpstr>PowerPoint Presentation</vt:lpstr>
      <vt:lpstr>PowerPoint Presentation</vt:lpstr>
      <vt:lpstr>Example 2</vt:lpstr>
      <vt:lpstr>Complete the following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dc:title>
  <dc:creator>MORGAN Adam [Baldivis Secondary College]</dc:creator>
  <cp:lastModifiedBy>MORGAN Adam [Baldivis Secondary College]</cp:lastModifiedBy>
  <cp:revision>68</cp:revision>
  <dcterms:created xsi:type="dcterms:W3CDTF">2021-10-27T03:41:35Z</dcterms:created>
  <dcterms:modified xsi:type="dcterms:W3CDTF">2021-11-10T05:10:18Z</dcterms:modified>
</cp:coreProperties>
</file>
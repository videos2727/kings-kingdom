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383" r:id="rId4"/>
    <p:sldId id="257" r:id="rId5"/>
    <p:sldId id="266" r:id="rId6"/>
    <p:sldId id="275" r:id="rId7"/>
    <p:sldId id="276" r:id="rId8"/>
    <p:sldId id="273" r:id="rId9"/>
    <p:sldId id="277" r:id="rId10"/>
    <p:sldId id="268" r:id="rId11"/>
    <p:sldId id="258" r:id="rId12"/>
    <p:sldId id="269" r:id="rId13"/>
    <p:sldId id="278" r:id="rId14"/>
    <p:sldId id="279" r:id="rId15"/>
    <p:sldId id="274" r:id="rId16"/>
    <p:sldId id="280" r:id="rId17"/>
    <p:sldId id="270" r:id="rId18"/>
    <p:sldId id="281" r:id="rId19"/>
    <p:sldId id="327" r:id="rId20"/>
    <p:sldId id="348" r:id="rId21"/>
    <p:sldId id="349" r:id="rId22"/>
    <p:sldId id="350" r:id="rId23"/>
    <p:sldId id="351" r:id="rId24"/>
    <p:sldId id="352" r:id="rId25"/>
    <p:sldId id="353" r:id="rId26"/>
    <p:sldId id="287" r:id="rId27"/>
    <p:sldId id="282" r:id="rId28"/>
    <p:sldId id="355" r:id="rId29"/>
    <p:sldId id="354" r:id="rId30"/>
    <p:sldId id="357" r:id="rId31"/>
    <p:sldId id="366" r:id="rId32"/>
    <p:sldId id="384" r:id="rId33"/>
    <p:sldId id="385" r:id="rId34"/>
    <p:sldId id="358" r:id="rId35"/>
    <p:sldId id="283" r:id="rId36"/>
    <p:sldId id="356" r:id="rId37"/>
    <p:sldId id="359" r:id="rId38"/>
    <p:sldId id="360" r:id="rId39"/>
    <p:sldId id="361" r:id="rId40"/>
    <p:sldId id="362" r:id="rId41"/>
    <p:sldId id="284" r:id="rId42"/>
    <p:sldId id="363" r:id="rId43"/>
    <p:sldId id="364" r:id="rId44"/>
    <p:sldId id="368" r:id="rId45"/>
    <p:sldId id="367" r:id="rId46"/>
    <p:sldId id="369" r:id="rId47"/>
    <p:sldId id="371" r:id="rId48"/>
    <p:sldId id="372" r:id="rId49"/>
    <p:sldId id="285" r:id="rId50"/>
    <p:sldId id="365" r:id="rId51"/>
    <p:sldId id="373" r:id="rId52"/>
    <p:sldId id="370" r:id="rId53"/>
    <p:sldId id="374" r:id="rId54"/>
    <p:sldId id="375" r:id="rId55"/>
    <p:sldId id="376" r:id="rId56"/>
    <p:sldId id="286" r:id="rId57"/>
    <p:sldId id="377" r:id="rId58"/>
    <p:sldId id="378" r:id="rId59"/>
    <p:sldId id="379" r:id="rId60"/>
    <p:sldId id="380" r:id="rId61"/>
    <p:sldId id="381" r:id="rId62"/>
    <p:sldId id="38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8"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2-09T03:41:04.136"/>
    </inkml:context>
    <inkml:brush xml:id="br0">
      <inkml:brushProperty name="width" value="0.1" units="cm"/>
      <inkml:brushProperty name="height" value="0.6" units="cm"/>
      <inkml:brushProperty name="inkEffects" value="pencil"/>
    </inkml:brush>
  </inkml:definitions>
  <inkml:trace contextRef="#ctx0" brushRef="#br0">1 1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2-09T03:41:04.136"/>
    </inkml:context>
    <inkml:brush xml:id="br0">
      <inkml:brushProperty name="width" value="0.1" units="cm"/>
      <inkml:brushProperty name="height" value="0.6" units="cm"/>
      <inkml:brushProperty name="inkEffects" value="pencil"/>
    </inkml:brush>
  </inkml:definitions>
  <inkml:trace contextRef="#ctx0" brushRef="#br0">1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2-09T03:41:04.136"/>
    </inkml:context>
    <inkml:brush xml:id="br0">
      <inkml:brushProperty name="width" value="0.1" units="cm"/>
      <inkml:brushProperty name="height" value="0.6" units="cm"/>
      <inkml:brushProperty name="inkEffects" value="pencil"/>
    </inkml:brush>
  </inkml:definitions>
  <inkml:trace contextRef="#ctx0" brushRef="#br0">1 1 16383,'0'0'0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D731F-1463-47FC-A646-84C18AFF50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2137BCB-027C-4E49-9644-BE6B8AA5FC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EA92488-64F9-4ADF-A228-6D3D1C1F978E}"/>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5" name="Footer Placeholder 4">
            <a:extLst>
              <a:ext uri="{FF2B5EF4-FFF2-40B4-BE49-F238E27FC236}">
                <a16:creationId xmlns:a16="http://schemas.microsoft.com/office/drawing/2014/main" id="{1DD39735-5AD3-4599-97F4-099049770C5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996E361-F302-4BAD-961A-53949610D6FC}"/>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1308804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15A91-D495-4DE5-99BD-9C8A274EF17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A58FA2-D0CC-40C3-91F9-C30ECEF244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319206F-8B38-437F-88E4-BF109EF063BA}"/>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5" name="Footer Placeholder 4">
            <a:extLst>
              <a:ext uri="{FF2B5EF4-FFF2-40B4-BE49-F238E27FC236}">
                <a16:creationId xmlns:a16="http://schemas.microsoft.com/office/drawing/2014/main" id="{5CF54CFD-3909-459F-832C-FA530511AE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60381B-A9CB-452E-A556-A9056FF8D2B1}"/>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1790849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6403B-390D-417B-A2F9-455F2E5D4F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5487A53-6C82-4310-8D98-0A659D6908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D90A5A-6907-407F-99FA-C99BDC625C3F}"/>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5" name="Footer Placeholder 4">
            <a:extLst>
              <a:ext uri="{FF2B5EF4-FFF2-40B4-BE49-F238E27FC236}">
                <a16:creationId xmlns:a16="http://schemas.microsoft.com/office/drawing/2014/main" id="{6806F78D-EEEB-47CE-835A-AD9B64D7F80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34EBA79-8DA9-496E-916B-088BBC78CF45}"/>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187789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32CD-A611-4409-9213-E68FCF907EF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5542525-7358-456B-A9A5-AB0FFB97BB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C91AE5-C260-4B84-9B2F-697DB98AA7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B1791CB-B043-440B-9AC4-496940F680A3}"/>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6" name="Footer Placeholder 5">
            <a:extLst>
              <a:ext uri="{FF2B5EF4-FFF2-40B4-BE49-F238E27FC236}">
                <a16:creationId xmlns:a16="http://schemas.microsoft.com/office/drawing/2014/main" id="{E5F4E87F-8F90-4E17-8137-1B9FDD6E14C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149E232-6DC1-43EB-91FA-A5B4D8D39710}"/>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1439221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47AD8-7EEC-48FD-9423-B1C16DB70BF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7D967A9-1032-4477-BB1D-C90D08886D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145568-F164-434A-BBBB-9B968DCFA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FC7EA89-778A-4D38-BFB2-7C85A34BAA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A12CA2-842C-428C-8EB0-DB079F18F7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55DE120-736A-4A67-AC0D-AE25D21E6DFB}"/>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8" name="Footer Placeholder 7">
            <a:extLst>
              <a:ext uri="{FF2B5EF4-FFF2-40B4-BE49-F238E27FC236}">
                <a16:creationId xmlns:a16="http://schemas.microsoft.com/office/drawing/2014/main" id="{222F136C-BBE2-4CEA-BF57-A83BAF46BE7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E722C75-3AB2-4543-8CBF-1C8F4DD31833}"/>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3095729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F2A7-C10D-4385-AD52-442F6C77D43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BAB5D20-8679-4A84-9973-DBEB3B64DFF0}"/>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4" name="Footer Placeholder 3">
            <a:extLst>
              <a:ext uri="{FF2B5EF4-FFF2-40B4-BE49-F238E27FC236}">
                <a16:creationId xmlns:a16="http://schemas.microsoft.com/office/drawing/2014/main" id="{80ABB3B7-A30F-4236-9970-9489041D812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9CA34C2-C175-4E0B-A5ED-040458EDCE50}"/>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345877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01BE9-FA37-4453-ACAC-680532713F31}"/>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3" name="Footer Placeholder 2">
            <a:extLst>
              <a:ext uri="{FF2B5EF4-FFF2-40B4-BE49-F238E27FC236}">
                <a16:creationId xmlns:a16="http://schemas.microsoft.com/office/drawing/2014/main" id="{07126219-28CC-46F2-9CB5-5E6879B57A4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936B25E-787E-4B16-A8F7-2B8771A80E94}"/>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558672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196F-D629-49E4-BE8E-D2C4AA0B65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DE2BBD5-DBA2-46B9-BC67-AD460E4EDA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126F26D-DAF2-4127-B072-05804C62A0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D13B6D-C52E-4951-8EC9-1908DAC0016A}"/>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6" name="Footer Placeholder 5">
            <a:extLst>
              <a:ext uri="{FF2B5EF4-FFF2-40B4-BE49-F238E27FC236}">
                <a16:creationId xmlns:a16="http://schemas.microsoft.com/office/drawing/2014/main" id="{937CE3C4-9638-4AA4-863E-78D55D16FC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EA413CD-7C56-4BE9-8B80-AD09C74B63E9}"/>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2724391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2CD3-E01A-49A9-BF50-8855B65EA1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66455A2-2D79-4CDA-A6F5-441981059A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3655102-6E07-4702-8E48-126BDBB77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014F4E-CBC5-4C58-B6A2-E98AE5C01ABE}"/>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6" name="Footer Placeholder 5">
            <a:extLst>
              <a:ext uri="{FF2B5EF4-FFF2-40B4-BE49-F238E27FC236}">
                <a16:creationId xmlns:a16="http://schemas.microsoft.com/office/drawing/2014/main" id="{9CD2991D-0BFB-416D-98E1-24B4B2E5612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A4302E-8140-420D-9E12-7F77836635C8}"/>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2091827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75D95-A5AC-4018-ADAD-1B1B4FF8875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61B481F-E95C-4180-8F4D-67784630BE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0AFC45F-75F9-4643-BE4E-A679A9D21B76}"/>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5" name="Footer Placeholder 4">
            <a:extLst>
              <a:ext uri="{FF2B5EF4-FFF2-40B4-BE49-F238E27FC236}">
                <a16:creationId xmlns:a16="http://schemas.microsoft.com/office/drawing/2014/main" id="{DA811A04-FEB7-4659-A826-BB520916AE8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67E5C89-06A7-45C8-B4A0-F0A6477056E5}"/>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2036198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91B6FB-91A3-4102-9D9E-C0988BE7A3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4A6F2CC-7094-42C9-96A7-58B72FFA75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41766E2-4548-4A7C-AEDA-5ECA82B685F6}"/>
              </a:ext>
            </a:extLst>
          </p:cNvPr>
          <p:cNvSpPr>
            <a:spLocks noGrp="1"/>
          </p:cNvSpPr>
          <p:nvPr>
            <p:ph type="dt" sz="half" idx="10"/>
          </p:nvPr>
        </p:nvSpPr>
        <p:spPr/>
        <p:txBody>
          <a:bodyPr/>
          <a:lstStyle/>
          <a:p>
            <a:fld id="{6E15FDDA-013A-4A51-A273-E632C1F85920}" type="datetimeFigureOut">
              <a:rPr lang="en-AU" smtClean="0"/>
              <a:t>27/10/2021</a:t>
            </a:fld>
            <a:endParaRPr lang="en-AU"/>
          </a:p>
        </p:txBody>
      </p:sp>
      <p:sp>
        <p:nvSpPr>
          <p:cNvPr id="5" name="Footer Placeholder 4">
            <a:extLst>
              <a:ext uri="{FF2B5EF4-FFF2-40B4-BE49-F238E27FC236}">
                <a16:creationId xmlns:a16="http://schemas.microsoft.com/office/drawing/2014/main" id="{45543408-2647-4DAB-916A-0B4EFE14E7B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9173051-C23E-4DB7-85EF-CB3A22EFCFB3}"/>
              </a:ext>
            </a:extLst>
          </p:cNvPr>
          <p:cNvSpPr>
            <a:spLocks noGrp="1"/>
          </p:cNvSpPr>
          <p:nvPr>
            <p:ph type="sldNum" sz="quarter" idx="12"/>
          </p:nvPr>
        </p:nvSpPr>
        <p:spPr/>
        <p:txBody>
          <a:bodyPr/>
          <a:lstStyle/>
          <a:p>
            <a:fld id="{26F514A1-4206-4653-8B9F-36573589B60D}" type="slidenum">
              <a:rPr lang="en-AU" smtClean="0"/>
              <a:t>‹#›</a:t>
            </a:fld>
            <a:endParaRPr lang="en-AU"/>
          </a:p>
        </p:txBody>
      </p:sp>
    </p:spTree>
    <p:extLst>
      <p:ext uri="{BB962C8B-B14F-4D97-AF65-F5344CB8AC3E}">
        <p14:creationId xmlns:p14="http://schemas.microsoft.com/office/powerpoint/2010/main" val="3356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6A34A8-A028-403E-80B6-93C3CB2C2C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8A1FE6A-A16A-4265-9C40-C98AE6BB09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5D053C-520C-4BF7-B34E-D6A460363E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5FDDA-013A-4A51-A273-E632C1F85920}" type="datetimeFigureOut">
              <a:rPr lang="en-AU" smtClean="0"/>
              <a:t>27/10/2021</a:t>
            </a:fld>
            <a:endParaRPr lang="en-AU"/>
          </a:p>
        </p:txBody>
      </p:sp>
      <p:sp>
        <p:nvSpPr>
          <p:cNvPr id="5" name="Footer Placeholder 4">
            <a:extLst>
              <a:ext uri="{FF2B5EF4-FFF2-40B4-BE49-F238E27FC236}">
                <a16:creationId xmlns:a16="http://schemas.microsoft.com/office/drawing/2014/main" id="{217249EB-1E8F-4711-A42E-F97C085A59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D837C099-30B4-4FDA-BE20-CDF9059746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F514A1-4206-4653-8B9F-36573589B60D}" type="slidenum">
              <a:rPr lang="en-AU" smtClean="0"/>
              <a:t>‹#›</a:t>
            </a:fld>
            <a:endParaRPr lang="en-AU"/>
          </a:p>
        </p:txBody>
      </p:sp>
    </p:spTree>
    <p:extLst>
      <p:ext uri="{BB962C8B-B14F-4D97-AF65-F5344CB8AC3E}">
        <p14:creationId xmlns:p14="http://schemas.microsoft.com/office/powerpoint/2010/main" val="2394214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11.xml"/><Relationship Id="rId7" Type="http://schemas.openxmlformats.org/officeDocument/2006/relationships/slide" Target="slide4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27.xml"/><Relationship Id="rId4" Type="http://schemas.openxmlformats.org/officeDocument/2006/relationships/slide" Target="slide18.xml"/><Relationship Id="rId9" Type="http://schemas.openxmlformats.org/officeDocument/2006/relationships/slide" Target="slide5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0304B-7B1D-4DC4-BB15-6255F1400620}"/>
              </a:ext>
            </a:extLst>
          </p:cNvPr>
          <p:cNvSpPr>
            <a:spLocks noGrp="1"/>
          </p:cNvSpPr>
          <p:nvPr>
            <p:ph type="ctrTitle"/>
          </p:nvPr>
        </p:nvSpPr>
        <p:spPr>
          <a:xfrm>
            <a:off x="1524000" y="2505075"/>
            <a:ext cx="9144000" cy="1004888"/>
          </a:xfrm>
        </p:spPr>
        <p:txBody>
          <a:bodyPr/>
          <a:lstStyle/>
          <a:p>
            <a:r>
              <a:rPr lang="en-AU" b="1" dirty="0"/>
              <a:t>Bivariate Data</a:t>
            </a:r>
          </a:p>
        </p:txBody>
      </p:sp>
      <p:sp>
        <p:nvSpPr>
          <p:cNvPr id="3" name="Subtitle 2">
            <a:extLst>
              <a:ext uri="{FF2B5EF4-FFF2-40B4-BE49-F238E27FC236}">
                <a16:creationId xmlns:a16="http://schemas.microsoft.com/office/drawing/2014/main" id="{87D23CAB-4EB1-4BF5-BA81-8146167C099D}"/>
              </a:ext>
            </a:extLst>
          </p:cNvPr>
          <p:cNvSpPr>
            <a:spLocks noGrp="1"/>
          </p:cNvSpPr>
          <p:nvPr>
            <p:ph type="subTitle" idx="1"/>
          </p:nvPr>
        </p:nvSpPr>
        <p:spPr/>
        <p:txBody>
          <a:bodyPr/>
          <a:lstStyle/>
          <a:p>
            <a:r>
              <a:rPr lang="en-AU" b="1" dirty="0"/>
              <a:t>Yr12 Applications unit 3</a:t>
            </a:r>
          </a:p>
          <a:p>
            <a:endParaRPr lang="en-AU" dirty="0"/>
          </a:p>
        </p:txBody>
      </p:sp>
    </p:spTree>
    <p:extLst>
      <p:ext uri="{BB962C8B-B14F-4D97-AF65-F5344CB8AC3E}">
        <p14:creationId xmlns:p14="http://schemas.microsoft.com/office/powerpoint/2010/main" val="3517877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8E59-44AA-4E8E-BB24-E512E1A83CBE}"/>
              </a:ext>
            </a:extLst>
          </p:cNvPr>
          <p:cNvSpPr>
            <a:spLocks noGrp="1"/>
          </p:cNvSpPr>
          <p:nvPr>
            <p:ph type="title"/>
          </p:nvPr>
        </p:nvSpPr>
        <p:spPr/>
        <p:txBody>
          <a:bodyPr/>
          <a:lstStyle/>
          <a:p>
            <a:r>
              <a:rPr lang="en-AU" b="1" dirty="0"/>
              <a:t>Contents</a:t>
            </a:r>
            <a:r>
              <a:rPr lang="en-AU" dirty="0"/>
              <a:t> </a:t>
            </a:r>
            <a:r>
              <a:rPr lang="en-AU" sz="1600" dirty="0"/>
              <a:t>(Mr Morgan added hyperlinks for your convenience)</a:t>
            </a:r>
            <a:endParaRPr lang="en-AU" dirty="0"/>
          </a:p>
        </p:txBody>
      </p:sp>
      <p:sp>
        <p:nvSpPr>
          <p:cNvPr id="3" name="Content Placeholder 2">
            <a:extLst>
              <a:ext uri="{FF2B5EF4-FFF2-40B4-BE49-F238E27FC236}">
                <a16:creationId xmlns:a16="http://schemas.microsoft.com/office/drawing/2014/main" id="{8B3DD9BA-9A36-4D1A-942B-73DD78BC6505}"/>
              </a:ext>
            </a:extLst>
          </p:cNvPr>
          <p:cNvSpPr>
            <a:spLocks noGrp="1"/>
          </p:cNvSpPr>
          <p:nvPr>
            <p:ph idx="1"/>
          </p:nvPr>
        </p:nvSpPr>
        <p:spPr>
          <a:xfrm>
            <a:off x="838200" y="1482571"/>
            <a:ext cx="10515600" cy="4694392"/>
          </a:xfrm>
        </p:spPr>
        <p:txBody>
          <a:bodyPr/>
          <a:lstStyle/>
          <a:p>
            <a:pPr marL="0" indent="0">
              <a:buNone/>
            </a:pPr>
            <a:r>
              <a:rPr lang="en-AU" dirty="0">
                <a:hlinkClick r:id="rId2" action="ppaction://hlinksldjump"/>
              </a:rPr>
              <a:t>Lesson 1: 2-way frequency tables</a:t>
            </a:r>
            <a:endParaRPr lang="en-AU" dirty="0"/>
          </a:p>
          <a:p>
            <a:pPr marL="0" indent="0">
              <a:buNone/>
            </a:pPr>
            <a:r>
              <a:rPr lang="en-AU" dirty="0">
                <a:hlinkClick r:id="rId3" action="ppaction://hlinksldjump"/>
              </a:rPr>
              <a:t>Lesson 2: types of variables</a:t>
            </a:r>
            <a:endParaRPr lang="en-AU" dirty="0"/>
          </a:p>
          <a:p>
            <a:pPr marL="0" indent="0">
              <a:buNone/>
            </a:pPr>
            <a:r>
              <a:rPr lang="en-AU" dirty="0">
                <a:hlinkClick r:id="rId4" action="ppaction://hlinksldjump"/>
              </a:rPr>
              <a:t>Lesson 3: Scatter graphs</a:t>
            </a:r>
            <a:endParaRPr lang="en-AU" dirty="0"/>
          </a:p>
          <a:p>
            <a:pPr marL="0" indent="0">
              <a:buNone/>
            </a:pPr>
            <a:r>
              <a:rPr lang="en-AU" dirty="0">
                <a:hlinkClick r:id="rId5" action="ppaction://hlinksldjump"/>
              </a:rPr>
              <a:t>Lesson 4: line of best fit</a:t>
            </a:r>
            <a:endParaRPr lang="en-AU" dirty="0"/>
          </a:p>
          <a:p>
            <a:pPr marL="0" indent="0">
              <a:buNone/>
            </a:pPr>
            <a:r>
              <a:rPr lang="en-AU" dirty="0">
                <a:hlinkClick r:id="rId6" action="ppaction://hlinksldjump"/>
              </a:rPr>
              <a:t>Lesson 5: Correlation Coefficient </a:t>
            </a:r>
            <a:endParaRPr lang="en-AU" dirty="0"/>
          </a:p>
          <a:p>
            <a:pPr marL="0" indent="0">
              <a:buNone/>
            </a:pPr>
            <a:r>
              <a:rPr lang="en-AU" dirty="0">
                <a:hlinkClick r:id="rId7" action="ppaction://hlinksldjump"/>
              </a:rPr>
              <a:t>Lesson 6: Causation vs Correlation</a:t>
            </a:r>
            <a:endParaRPr lang="en-AU" dirty="0"/>
          </a:p>
          <a:p>
            <a:pPr marL="0" indent="0">
              <a:buNone/>
            </a:pPr>
            <a:r>
              <a:rPr lang="en-AU" dirty="0">
                <a:hlinkClick r:id="rId8" action="ppaction://hlinksldjump"/>
              </a:rPr>
              <a:t>Lesson 7: Residuals and Residual plots </a:t>
            </a:r>
            <a:endParaRPr lang="en-AU" dirty="0"/>
          </a:p>
          <a:p>
            <a:pPr marL="0" indent="0">
              <a:buNone/>
            </a:pPr>
            <a:r>
              <a:rPr lang="en-AU" dirty="0">
                <a:hlinkClick r:id="rId9" action="ppaction://hlinksldjump"/>
              </a:rPr>
              <a:t>Lesson 8:Coefficient of determination</a:t>
            </a:r>
            <a:endParaRPr lang="en-AU" dirty="0"/>
          </a:p>
          <a:p>
            <a:pPr marL="0" indent="0">
              <a:buNone/>
            </a:pPr>
            <a:endParaRPr lang="en-AU" dirty="0"/>
          </a:p>
        </p:txBody>
      </p:sp>
    </p:spTree>
    <p:extLst>
      <p:ext uri="{BB962C8B-B14F-4D97-AF65-F5344CB8AC3E}">
        <p14:creationId xmlns:p14="http://schemas.microsoft.com/office/powerpoint/2010/main" val="613316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3750B-C314-4F6A-82C3-1B7B8F08032C}"/>
              </a:ext>
            </a:extLst>
          </p:cNvPr>
          <p:cNvSpPr>
            <a:spLocks noGrp="1"/>
          </p:cNvSpPr>
          <p:nvPr>
            <p:ph type="title"/>
          </p:nvPr>
        </p:nvSpPr>
        <p:spPr/>
        <p:txBody>
          <a:bodyPr/>
          <a:lstStyle/>
          <a:p>
            <a:r>
              <a:rPr lang="en-AU" dirty="0"/>
              <a:t>Overarching Syllabus points</a:t>
            </a:r>
          </a:p>
        </p:txBody>
      </p:sp>
      <p:sp>
        <p:nvSpPr>
          <p:cNvPr id="3" name="Content Placeholder 2">
            <a:extLst>
              <a:ext uri="{FF2B5EF4-FFF2-40B4-BE49-F238E27FC236}">
                <a16:creationId xmlns:a16="http://schemas.microsoft.com/office/drawing/2014/main" id="{8BB6024B-EABD-4593-A4EF-A3A743BB2880}"/>
              </a:ext>
            </a:extLst>
          </p:cNvPr>
          <p:cNvSpPr>
            <a:spLocks noGrp="1"/>
          </p:cNvSpPr>
          <p:nvPr>
            <p:ph idx="1"/>
          </p:nvPr>
        </p:nvSpPr>
        <p:spPr/>
        <p:txBody>
          <a:bodyPr>
            <a:normAutofit lnSpcReduction="10000"/>
          </a:bodyPr>
          <a:lstStyle/>
          <a:p>
            <a:pPr marL="0" indent="0">
              <a:buNone/>
            </a:pPr>
            <a:r>
              <a:rPr lang="en-AU" dirty="0"/>
              <a:t>3.1.1    	review the statistical investigation process: identify a problem; pose a statistical question; collect or obtain data; analyse data; interpret and communicate results</a:t>
            </a:r>
          </a:p>
          <a:p>
            <a:pPr marL="0" indent="0">
              <a:buNone/>
            </a:pPr>
            <a:r>
              <a:rPr lang="en-AU" dirty="0"/>
              <a:t>3.1.16	          write up the results of the above analysis in a systematic and concise manner</a:t>
            </a:r>
          </a:p>
          <a:p>
            <a:pPr marL="0" indent="0">
              <a:buNone/>
            </a:pPr>
            <a:r>
              <a:rPr lang="en-AU" dirty="0"/>
              <a:t>3.1.19 	implement the statistical investigation process to answer questions that involve identifying, analysing and describing associations between two categorical variables or between two numerical variables</a:t>
            </a:r>
          </a:p>
          <a:p>
            <a:pPr marL="0" indent="0">
              <a:buNone/>
            </a:pPr>
            <a:endParaRPr lang="en-AU" dirty="0"/>
          </a:p>
          <a:p>
            <a:pPr marL="0" indent="0">
              <a:buNone/>
            </a:pPr>
            <a:r>
              <a:rPr lang="en-AU" dirty="0"/>
              <a:t>These points are covered in learning activities throughout lessons.</a:t>
            </a:r>
          </a:p>
          <a:p>
            <a:pPr marL="0" indent="0">
              <a:buNone/>
            </a:pPr>
            <a:endParaRPr lang="en-AU" dirty="0"/>
          </a:p>
        </p:txBody>
      </p:sp>
    </p:spTree>
    <p:extLst>
      <p:ext uri="{BB962C8B-B14F-4D97-AF65-F5344CB8AC3E}">
        <p14:creationId xmlns:p14="http://schemas.microsoft.com/office/powerpoint/2010/main" val="81800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b="1" dirty="0"/>
              <a:t>Lesson 1</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p:txBody>
          <a:bodyPr>
            <a:normAutofit/>
          </a:bodyPr>
          <a:lstStyle/>
          <a:p>
            <a:pPr marL="0" indent="0">
              <a:buNone/>
            </a:pPr>
            <a:r>
              <a:rPr lang="en-AU" dirty="0"/>
              <a:t>Topic: Frequency Tables</a:t>
            </a:r>
          </a:p>
          <a:p>
            <a:pPr marL="0" indent="0">
              <a:buNone/>
            </a:pPr>
            <a:r>
              <a:rPr lang="en-AU" dirty="0"/>
              <a:t>EQ: How do we use two-way frequency tables?</a:t>
            </a:r>
          </a:p>
          <a:p>
            <a:pPr marL="0" indent="0">
              <a:buNone/>
            </a:pPr>
            <a:endParaRPr lang="en-AU" dirty="0"/>
          </a:p>
          <a:p>
            <a:pPr marL="0" indent="0">
              <a:buNone/>
            </a:pPr>
            <a:r>
              <a:rPr lang="en-AU" dirty="0"/>
              <a:t>Syllabus points:</a:t>
            </a:r>
          </a:p>
          <a:p>
            <a:pPr marL="0" indent="0">
              <a:buNone/>
            </a:pPr>
            <a:r>
              <a:rPr lang="en-AU" sz="2200" dirty="0"/>
              <a:t>3.1.2	construct two-way frequency tables and determine the associated row and column sums and percentages </a:t>
            </a:r>
          </a:p>
          <a:p>
            <a:pPr marL="0" indent="0">
              <a:buNone/>
            </a:pPr>
            <a:r>
              <a:rPr lang="en-AU" sz="2200" dirty="0"/>
              <a:t>3.1.3	use an appropriately </a:t>
            </a:r>
            <a:r>
              <a:rPr lang="en-AU" sz="2200" dirty="0" err="1"/>
              <a:t>percentaged</a:t>
            </a:r>
            <a:r>
              <a:rPr lang="en-AU" sz="2200" dirty="0"/>
              <a:t> two-way frequency table to identify patterns that suggest the presence of an association 	</a:t>
            </a:r>
          </a:p>
          <a:p>
            <a:pPr marL="0" indent="0">
              <a:buNone/>
            </a:pPr>
            <a:r>
              <a:rPr lang="en-AU" sz="2200" dirty="0"/>
              <a:t>3.1.4	describe an association in terms of differences observed in percentages across categories in a systematic and concise manner, and interpret this in the context of the data</a:t>
            </a:r>
          </a:p>
          <a:p>
            <a:pPr marL="0" indent="0">
              <a:buNone/>
            </a:pPr>
            <a:endParaRPr lang="en-AU" dirty="0"/>
          </a:p>
        </p:txBody>
      </p:sp>
      <p:sp>
        <p:nvSpPr>
          <p:cNvPr id="5" name="Rectangle 4">
            <a:hlinkClick r:id="rId2" action="ppaction://hlinksldjump"/>
            <a:extLst>
              <a:ext uri="{FF2B5EF4-FFF2-40B4-BE49-F238E27FC236}">
                <a16:creationId xmlns:a16="http://schemas.microsoft.com/office/drawing/2014/main" id="{BB41AF74-7611-4E28-A15B-2CAA475576C3}"/>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3136666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628600" y="230819"/>
            <a:ext cx="11242995" cy="1477328"/>
          </a:xfrm>
          <a:prstGeom prst="rect">
            <a:avLst/>
          </a:prstGeom>
          <a:noFill/>
        </p:spPr>
        <p:txBody>
          <a:bodyPr wrap="square" rtlCol="0">
            <a:spAutoFit/>
          </a:bodyPr>
          <a:lstStyle/>
          <a:p>
            <a:r>
              <a:rPr lang="en-AU" sz="2400" dirty="0"/>
              <a:t>Topic: Frequency Tables</a:t>
            </a:r>
          </a:p>
          <a:p>
            <a:r>
              <a:rPr lang="en-AU" sz="2400" dirty="0"/>
              <a:t>| EQ: How do we use two-way frequency tables?</a:t>
            </a:r>
          </a:p>
          <a:p>
            <a:endParaRPr lang="en-AU" sz="2400" dirty="0"/>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13C95A2D-1889-4E6A-82FE-427ADADF94F5}"/>
              </a:ext>
            </a:extLst>
          </p:cNvPr>
          <p:cNvSpPr/>
          <p:nvPr/>
        </p:nvSpPr>
        <p:spPr>
          <a:xfrm>
            <a:off x="628600" y="1287664"/>
            <a:ext cx="11242995" cy="923330"/>
          </a:xfrm>
          <a:prstGeom prst="rect">
            <a:avLst/>
          </a:prstGeom>
        </p:spPr>
        <p:txBody>
          <a:bodyPr wrap="square">
            <a:spAutoFit/>
          </a:bodyPr>
          <a:lstStyle/>
          <a:p>
            <a:pPr lvl="0" fontAlgn="base">
              <a:spcBef>
                <a:spcPct val="0"/>
              </a:spcBef>
              <a:spcAft>
                <a:spcPct val="0"/>
              </a:spcAft>
            </a:pPr>
            <a:r>
              <a:rPr lang="en-US" b="1" dirty="0">
                <a:latin typeface="Calibri" pitchFamily="34" charset="0"/>
                <a:ea typeface="Times New Roman" pitchFamily="18" charset="0"/>
                <a:cs typeface="Helvetica" charset="0"/>
              </a:rPr>
              <a:t>Two Way Tables</a:t>
            </a:r>
          </a:p>
          <a:p>
            <a:pPr lvl="0" fontAlgn="base">
              <a:spcBef>
                <a:spcPct val="0"/>
              </a:spcBef>
              <a:spcAft>
                <a:spcPct val="0"/>
              </a:spcAft>
            </a:pPr>
            <a:r>
              <a:rPr lang="en-US" dirty="0">
                <a:latin typeface="Calibri" pitchFamily="34" charset="0"/>
                <a:ea typeface="Times New Roman" pitchFamily="18" charset="0"/>
                <a:cs typeface="Helvetica" charset="0"/>
              </a:rPr>
              <a:t>Like Venn Diagrams (from year 10), two-way tables are a visual way of representing information. The below two-way table displays information about members of two political parties and their gender</a:t>
            </a:r>
            <a:endParaRPr lang="en-AU" dirty="0">
              <a:latin typeface="Arial" pitchFamily="34" charset="0"/>
              <a:cs typeface="Arial" pitchFamily="34" charset="0"/>
            </a:endParaRPr>
          </a:p>
        </p:txBody>
      </p:sp>
      <p:sp>
        <p:nvSpPr>
          <p:cNvPr id="14" name="Down Arrow 12">
            <a:extLst>
              <a:ext uri="{FF2B5EF4-FFF2-40B4-BE49-F238E27FC236}">
                <a16:creationId xmlns:a16="http://schemas.microsoft.com/office/drawing/2014/main" id="{0C76B10F-9698-4B3D-9E63-9E84B5A2AB94}"/>
              </a:ext>
            </a:extLst>
          </p:cNvPr>
          <p:cNvSpPr/>
          <p:nvPr/>
        </p:nvSpPr>
        <p:spPr>
          <a:xfrm>
            <a:off x="1833735" y="3198023"/>
            <a:ext cx="174644" cy="2589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9">
            <a:extLst>
              <a:ext uri="{FF2B5EF4-FFF2-40B4-BE49-F238E27FC236}">
                <a16:creationId xmlns:a16="http://schemas.microsoft.com/office/drawing/2014/main" id="{7AE8A957-B846-4F26-8873-76C7B55C9E76}"/>
              </a:ext>
            </a:extLst>
          </p:cNvPr>
          <p:cNvSpPr/>
          <p:nvPr/>
        </p:nvSpPr>
        <p:spPr>
          <a:xfrm>
            <a:off x="1820382" y="4700068"/>
            <a:ext cx="174644" cy="2589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screenshot of a cell phone&#10;&#10;Description automatically generated">
            <a:extLst>
              <a:ext uri="{FF2B5EF4-FFF2-40B4-BE49-F238E27FC236}">
                <a16:creationId xmlns:a16="http://schemas.microsoft.com/office/drawing/2014/main" id="{045403EA-3562-48C2-AC5D-BE9727C614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851" y="2343419"/>
            <a:ext cx="2768724" cy="902246"/>
          </a:xfrm>
          <a:prstGeom prst="rect">
            <a:avLst/>
          </a:prstGeom>
        </p:spPr>
      </p:pic>
      <p:sp>
        <p:nvSpPr>
          <p:cNvPr id="17" name="TextBox 16">
            <a:extLst>
              <a:ext uri="{FF2B5EF4-FFF2-40B4-BE49-F238E27FC236}">
                <a16:creationId xmlns:a16="http://schemas.microsoft.com/office/drawing/2014/main" id="{75FE0AF8-E48A-4265-A2D7-F1C2EDD3A727}"/>
              </a:ext>
            </a:extLst>
          </p:cNvPr>
          <p:cNvSpPr txBox="1"/>
          <p:nvPr/>
        </p:nvSpPr>
        <p:spPr>
          <a:xfrm>
            <a:off x="4165659" y="2280286"/>
            <a:ext cx="4861973" cy="1200329"/>
          </a:xfrm>
          <a:prstGeom prst="rect">
            <a:avLst/>
          </a:prstGeom>
          <a:noFill/>
        </p:spPr>
        <p:txBody>
          <a:bodyPr wrap="square" rtlCol="0">
            <a:spAutoFit/>
          </a:bodyPr>
          <a:lstStyle/>
          <a:p>
            <a:r>
              <a:rPr lang="en-US" dirty="0"/>
              <a:t>On its own, we can only draw simple conclusions. We are going to explore how more nuanced displays will allow us to see if there is an </a:t>
            </a:r>
            <a:r>
              <a:rPr lang="en-US" b="1" i="1" dirty="0"/>
              <a:t>association</a:t>
            </a:r>
            <a:r>
              <a:rPr lang="en-US" dirty="0"/>
              <a:t> between the two variables</a:t>
            </a:r>
          </a:p>
        </p:txBody>
      </p:sp>
      <p:pic>
        <p:nvPicPr>
          <p:cNvPr id="18" name="Picture 17" descr="A picture containing keyboard&#10;&#10;Description automatically generated">
            <a:extLst>
              <a:ext uri="{FF2B5EF4-FFF2-40B4-BE49-F238E27FC236}">
                <a16:creationId xmlns:a16="http://schemas.microsoft.com/office/drawing/2014/main" id="{409F060F-BD01-458D-8E78-A24955587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350" y="3469487"/>
            <a:ext cx="3712840" cy="1230581"/>
          </a:xfrm>
          <a:prstGeom prst="rect">
            <a:avLst/>
          </a:prstGeom>
        </p:spPr>
      </p:pic>
      <p:sp>
        <p:nvSpPr>
          <p:cNvPr id="19" name="TextBox 18">
            <a:extLst>
              <a:ext uri="{FF2B5EF4-FFF2-40B4-BE49-F238E27FC236}">
                <a16:creationId xmlns:a16="http://schemas.microsoft.com/office/drawing/2014/main" id="{AF3C31D5-364E-4450-82D1-177075FB3749}"/>
              </a:ext>
            </a:extLst>
          </p:cNvPr>
          <p:cNvSpPr txBox="1"/>
          <p:nvPr/>
        </p:nvSpPr>
        <p:spPr>
          <a:xfrm>
            <a:off x="4165659" y="3623112"/>
            <a:ext cx="4861973" cy="923330"/>
          </a:xfrm>
          <a:prstGeom prst="rect">
            <a:avLst/>
          </a:prstGeom>
          <a:noFill/>
        </p:spPr>
        <p:txBody>
          <a:bodyPr wrap="square" rtlCol="0">
            <a:spAutoFit/>
          </a:bodyPr>
          <a:lstStyle/>
          <a:p>
            <a:r>
              <a:rPr lang="en-US" dirty="0"/>
              <a:t>Adding totals allows us to see that Party A and B have more male MPs, and that Party A has more male MPs than Party B </a:t>
            </a:r>
          </a:p>
        </p:txBody>
      </p:sp>
      <p:pic>
        <p:nvPicPr>
          <p:cNvPr id="20" name="Picture 19" descr="A screenshot of a cell phone&#10;&#10;Description automatically generated">
            <a:extLst>
              <a:ext uri="{FF2B5EF4-FFF2-40B4-BE49-F238E27FC236}">
                <a16:creationId xmlns:a16="http://schemas.microsoft.com/office/drawing/2014/main" id="{0DD11A90-9E18-40B6-97A8-9CDD2EED29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736" y="4987411"/>
            <a:ext cx="4157400" cy="1317039"/>
          </a:xfrm>
          <a:prstGeom prst="rect">
            <a:avLst/>
          </a:prstGeom>
        </p:spPr>
      </p:pic>
      <p:sp>
        <p:nvSpPr>
          <p:cNvPr id="21" name="TextBox 20">
            <a:extLst>
              <a:ext uri="{FF2B5EF4-FFF2-40B4-BE49-F238E27FC236}">
                <a16:creationId xmlns:a16="http://schemas.microsoft.com/office/drawing/2014/main" id="{F3BEBF28-2FA5-4EC4-82B5-61E62DE3CF6A}"/>
              </a:ext>
            </a:extLst>
          </p:cNvPr>
          <p:cNvSpPr txBox="1"/>
          <p:nvPr/>
        </p:nvSpPr>
        <p:spPr>
          <a:xfrm>
            <a:off x="4527773" y="4839489"/>
            <a:ext cx="4499859" cy="2031325"/>
          </a:xfrm>
          <a:prstGeom prst="rect">
            <a:avLst/>
          </a:prstGeom>
          <a:noFill/>
        </p:spPr>
        <p:txBody>
          <a:bodyPr wrap="square" rtlCol="0">
            <a:spAutoFit/>
          </a:bodyPr>
          <a:lstStyle/>
          <a:p>
            <a:r>
              <a:rPr lang="en-US" dirty="0"/>
              <a:t>Converting into proportions or percentages allows for more nuance. Now we can see:</a:t>
            </a:r>
          </a:p>
          <a:p>
            <a:pPr marL="285750" indent="-285750">
              <a:buFont typeface="Arial" panose="020B0604020202020204" pitchFamily="34" charset="0"/>
              <a:buChar char="•"/>
            </a:pPr>
            <a:r>
              <a:rPr lang="en-US" dirty="0"/>
              <a:t>51% of all the MPs from the two parties are males from party A</a:t>
            </a:r>
          </a:p>
          <a:p>
            <a:pPr marL="285750" indent="-285750">
              <a:buFont typeface="Arial" panose="020B0604020202020204" pitchFamily="34" charset="0"/>
              <a:buChar char="•"/>
            </a:pPr>
            <a:r>
              <a:rPr lang="en-US" dirty="0"/>
              <a:t>76% of all the MPs from these two parties are male</a:t>
            </a:r>
          </a:p>
          <a:p>
            <a:endParaRPr lang="en-US" dirty="0"/>
          </a:p>
        </p:txBody>
      </p:sp>
    </p:spTree>
    <p:extLst>
      <p:ext uri="{BB962C8B-B14F-4D97-AF65-F5344CB8AC3E}">
        <p14:creationId xmlns:p14="http://schemas.microsoft.com/office/powerpoint/2010/main" val="302373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1"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linds(horizontal)">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P spid="17" grpId="0"/>
      <p:bldP spid="19"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knife&#10;&#10;Description automatically generated">
            <a:extLst>
              <a:ext uri="{FF2B5EF4-FFF2-40B4-BE49-F238E27FC236}">
                <a16:creationId xmlns:a16="http://schemas.microsoft.com/office/drawing/2014/main" id="{0001DBA3-3FF8-4A13-9FD7-DB31C0040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043" y="471088"/>
            <a:ext cx="10005309" cy="1424081"/>
          </a:xfrm>
          <a:prstGeom prst="rect">
            <a:avLst/>
          </a:prstGeom>
        </p:spPr>
      </p:pic>
      <p:pic>
        <p:nvPicPr>
          <p:cNvPr id="5" name="Picture 4" descr="A picture containing clock&#10;&#10;Description automatically generated">
            <a:extLst>
              <a:ext uri="{FF2B5EF4-FFF2-40B4-BE49-F238E27FC236}">
                <a16:creationId xmlns:a16="http://schemas.microsoft.com/office/drawing/2014/main" id="{0E7002FC-EB0A-499F-8D6F-121F67C02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02" y="2170205"/>
            <a:ext cx="5952195" cy="1664790"/>
          </a:xfrm>
          <a:prstGeom prst="rect">
            <a:avLst/>
          </a:prstGeom>
        </p:spPr>
      </p:pic>
      <p:pic>
        <p:nvPicPr>
          <p:cNvPr id="6" name="Picture 5" descr="A screenshot of a cell phone&#10;&#10;Description automatically generated">
            <a:extLst>
              <a:ext uri="{FF2B5EF4-FFF2-40B4-BE49-F238E27FC236}">
                <a16:creationId xmlns:a16="http://schemas.microsoft.com/office/drawing/2014/main" id="{B3FF96CE-D01C-46EA-A64D-BF598E7656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8104" y="1856248"/>
            <a:ext cx="4785853" cy="2178547"/>
          </a:xfrm>
          <a:prstGeom prst="rect">
            <a:avLst/>
          </a:prstGeom>
        </p:spPr>
      </p:pic>
      <p:pic>
        <p:nvPicPr>
          <p:cNvPr id="7" name="Picture 6" descr="A picture containing bird&#10;&#10;Description automatically generated">
            <a:extLst>
              <a:ext uri="{FF2B5EF4-FFF2-40B4-BE49-F238E27FC236}">
                <a16:creationId xmlns:a16="http://schemas.microsoft.com/office/drawing/2014/main" id="{1F11A829-DA33-43B9-9B2B-4D38342867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15651" y="4309831"/>
            <a:ext cx="8763535" cy="1779741"/>
          </a:xfrm>
          <a:prstGeom prst="rect">
            <a:avLst/>
          </a:prstGeom>
        </p:spPr>
      </p:pic>
    </p:spTree>
    <p:extLst>
      <p:ext uri="{BB962C8B-B14F-4D97-AF65-F5344CB8AC3E}">
        <p14:creationId xmlns:p14="http://schemas.microsoft.com/office/powerpoint/2010/main" val="59239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E147AA22-E2C5-49EE-905F-8522E8E01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332" y="1787649"/>
            <a:ext cx="4712815" cy="2145300"/>
          </a:xfrm>
          <a:prstGeom prst="rect">
            <a:avLst/>
          </a:prstGeom>
        </p:spPr>
      </p:pic>
      <p:sp>
        <p:nvSpPr>
          <p:cNvPr id="5" name="Right Arrow 2">
            <a:extLst>
              <a:ext uri="{FF2B5EF4-FFF2-40B4-BE49-F238E27FC236}">
                <a16:creationId xmlns:a16="http://schemas.microsoft.com/office/drawing/2014/main" id="{175AC186-9BA2-49B8-A818-5D42B56F5F69}"/>
              </a:ext>
            </a:extLst>
          </p:cNvPr>
          <p:cNvSpPr/>
          <p:nvPr/>
        </p:nvSpPr>
        <p:spPr>
          <a:xfrm>
            <a:off x="5250167" y="2622489"/>
            <a:ext cx="559813" cy="237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ell phone&#10;&#10;Description automatically generated">
            <a:extLst>
              <a:ext uri="{FF2B5EF4-FFF2-40B4-BE49-F238E27FC236}">
                <a16:creationId xmlns:a16="http://schemas.microsoft.com/office/drawing/2014/main" id="{E9DC4E17-8E86-48F1-9753-5CCC47065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268260"/>
            <a:ext cx="4977299" cy="3482986"/>
          </a:xfrm>
          <a:prstGeom prst="rect">
            <a:avLst/>
          </a:prstGeom>
        </p:spPr>
      </p:pic>
      <p:sp>
        <p:nvSpPr>
          <p:cNvPr id="7" name="TextBox 6">
            <a:extLst>
              <a:ext uri="{FF2B5EF4-FFF2-40B4-BE49-F238E27FC236}">
                <a16:creationId xmlns:a16="http://schemas.microsoft.com/office/drawing/2014/main" id="{A3A95D42-BE3C-4713-88D0-F46060FE965A}"/>
              </a:ext>
            </a:extLst>
          </p:cNvPr>
          <p:cNvSpPr txBox="1"/>
          <p:nvPr/>
        </p:nvSpPr>
        <p:spPr>
          <a:xfrm>
            <a:off x="80412" y="4575874"/>
            <a:ext cx="11459136" cy="1200329"/>
          </a:xfrm>
          <a:prstGeom prst="rect">
            <a:avLst/>
          </a:prstGeom>
          <a:noFill/>
        </p:spPr>
        <p:txBody>
          <a:bodyPr wrap="square" rtlCol="0">
            <a:spAutoFit/>
          </a:bodyPr>
          <a:lstStyle/>
          <a:p>
            <a:pPr algn="ctr"/>
            <a:r>
              <a:rPr lang="en-US" sz="2400" dirty="0"/>
              <a:t>Using these techniques, we can make deeper observations at every stage of the investigative process. From this proportional column graph we can say </a:t>
            </a:r>
            <a:r>
              <a:rPr lang="en-US" sz="2400" b="1" i="1" dirty="0"/>
              <a:t>yes </a:t>
            </a:r>
            <a:r>
              <a:rPr lang="en-US" sz="2400" dirty="0"/>
              <a:t>there is an association between these two variables</a:t>
            </a:r>
          </a:p>
        </p:txBody>
      </p:sp>
      <p:sp>
        <p:nvSpPr>
          <p:cNvPr id="8" name="TextBox 7">
            <a:extLst>
              <a:ext uri="{FF2B5EF4-FFF2-40B4-BE49-F238E27FC236}">
                <a16:creationId xmlns:a16="http://schemas.microsoft.com/office/drawing/2014/main" id="{120094B3-E912-41D7-9D66-D8907C0AE2A6}"/>
              </a:ext>
            </a:extLst>
          </p:cNvPr>
          <p:cNvSpPr txBox="1"/>
          <p:nvPr/>
        </p:nvSpPr>
        <p:spPr>
          <a:xfrm>
            <a:off x="542228" y="313727"/>
            <a:ext cx="8843838" cy="830997"/>
          </a:xfrm>
          <a:prstGeom prst="rect">
            <a:avLst/>
          </a:prstGeom>
          <a:noFill/>
        </p:spPr>
        <p:txBody>
          <a:bodyPr wrap="square" rtlCol="0">
            <a:spAutoFit/>
          </a:bodyPr>
          <a:lstStyle/>
          <a:p>
            <a:r>
              <a:rPr lang="en-US" sz="2400" dirty="0"/>
              <a:t>Finally, we can turn our two-way table into a proportional column graph (also referred to as a stacked 100% column graph) </a:t>
            </a:r>
          </a:p>
        </p:txBody>
      </p:sp>
    </p:spTree>
    <p:extLst>
      <p:ext uri="{BB962C8B-B14F-4D97-AF65-F5344CB8AC3E}">
        <p14:creationId xmlns:p14="http://schemas.microsoft.com/office/powerpoint/2010/main" val="303438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checkerboard(across)">
                                      <p:cBhvr>
                                        <p:cTn id="2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FBD2677C-2A15-485F-9D82-9C8B927E7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018" y="310175"/>
            <a:ext cx="6418038" cy="2603077"/>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EE0BB3BB-7788-4450-BCE7-384948BBC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421" y="3123515"/>
            <a:ext cx="10025701" cy="1642468"/>
          </a:xfrm>
          <a:prstGeom prst="rect">
            <a:avLst/>
          </a:prstGeom>
        </p:spPr>
      </p:pic>
    </p:spTree>
    <p:extLst>
      <p:ext uri="{BB962C8B-B14F-4D97-AF65-F5344CB8AC3E}">
        <p14:creationId xmlns:p14="http://schemas.microsoft.com/office/powerpoint/2010/main" val="100746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0D24A74C-3858-4CC6-A4D7-3A9821E28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2354" y="46681"/>
            <a:ext cx="6644213" cy="1926074"/>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2ABB110D-98D8-466E-B156-D999E0831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596" y="1968349"/>
            <a:ext cx="6644213" cy="2494730"/>
          </a:xfrm>
          <a:prstGeom prst="rect">
            <a:avLst/>
          </a:prstGeom>
        </p:spPr>
      </p:pic>
      <p:pic>
        <p:nvPicPr>
          <p:cNvPr id="6" name="Picture 5" descr="A screenshot of a cell phone&#10;&#10;Description automatically generated">
            <a:extLst>
              <a:ext uri="{FF2B5EF4-FFF2-40B4-BE49-F238E27FC236}">
                <a16:creationId xmlns:a16="http://schemas.microsoft.com/office/drawing/2014/main" id="{A5D2B8ED-90A8-45FD-B94B-B1679479BC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8975" y="4463079"/>
            <a:ext cx="7457868" cy="2394921"/>
          </a:xfrm>
          <a:prstGeom prst="rect">
            <a:avLst/>
          </a:prstGeom>
        </p:spPr>
      </p:pic>
    </p:spTree>
    <p:extLst>
      <p:ext uri="{BB962C8B-B14F-4D97-AF65-F5344CB8AC3E}">
        <p14:creationId xmlns:p14="http://schemas.microsoft.com/office/powerpoint/2010/main" val="376136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70E76-9313-4296-B23F-D70F0E7A4E11}"/>
              </a:ext>
            </a:extLst>
          </p:cNvPr>
          <p:cNvSpPr>
            <a:spLocks noGrp="1"/>
          </p:cNvSpPr>
          <p:nvPr>
            <p:ph type="title"/>
          </p:nvPr>
        </p:nvSpPr>
        <p:spPr/>
        <p:txBody>
          <a:bodyPr/>
          <a:lstStyle/>
          <a:p>
            <a:r>
              <a:rPr lang="en-AU" dirty="0"/>
              <a:t>Complete Exercise 1A</a:t>
            </a:r>
          </a:p>
        </p:txBody>
      </p:sp>
      <p:sp>
        <p:nvSpPr>
          <p:cNvPr id="3" name="Rectangle 2">
            <a:hlinkClick r:id="rId2" action="ppaction://hlinksldjump"/>
            <a:extLst>
              <a:ext uri="{FF2B5EF4-FFF2-40B4-BE49-F238E27FC236}">
                <a16:creationId xmlns:a16="http://schemas.microsoft.com/office/drawing/2014/main" id="{F4A43821-22F4-4F28-9BA5-3CA377D35E89}"/>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3078799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2</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a:xfrm>
            <a:off x="838200" y="1267326"/>
            <a:ext cx="10515600" cy="5590674"/>
          </a:xfrm>
        </p:spPr>
        <p:txBody>
          <a:bodyPr>
            <a:normAutofit/>
          </a:bodyPr>
          <a:lstStyle/>
          <a:p>
            <a:pPr marL="0" indent="0">
              <a:buNone/>
            </a:pPr>
            <a:r>
              <a:rPr lang="en-AU" dirty="0"/>
              <a:t>Topic: Variables</a:t>
            </a:r>
          </a:p>
          <a:p>
            <a:pPr marL="0" indent="0">
              <a:buNone/>
            </a:pPr>
            <a:r>
              <a:rPr lang="en-AU" dirty="0"/>
              <a:t>EQ: What is the difference between the response and explanatory variables?</a:t>
            </a:r>
          </a:p>
          <a:p>
            <a:pPr marL="0" indent="0">
              <a:buNone/>
            </a:pPr>
            <a:endParaRPr lang="en-AU" dirty="0"/>
          </a:p>
          <a:p>
            <a:pPr marL="0" indent="0">
              <a:buNone/>
            </a:pPr>
            <a:r>
              <a:rPr lang="en-AU" dirty="0"/>
              <a:t>Syllabus points:</a:t>
            </a:r>
          </a:p>
          <a:p>
            <a:pPr marL="0" indent="0">
              <a:buNone/>
            </a:pPr>
            <a:r>
              <a:rPr lang="en-AU" dirty="0"/>
              <a:t>3.1.3	use an appropriately </a:t>
            </a:r>
            <a:r>
              <a:rPr lang="en-AU" dirty="0" err="1"/>
              <a:t>percentaged</a:t>
            </a:r>
            <a:r>
              <a:rPr lang="en-AU" dirty="0"/>
              <a:t> two-way frequency table to identify patterns that suggest the presence of an association 	</a:t>
            </a:r>
          </a:p>
          <a:p>
            <a:pPr marL="0" indent="0">
              <a:buNone/>
            </a:pPr>
            <a:r>
              <a:rPr lang="en-AU" dirty="0"/>
              <a:t>3.1.4	describe an association in terms of differences observed in percentages across categories in a systematic and concise manner, and interpret this in the context of the data</a:t>
            </a:r>
          </a:p>
          <a:p>
            <a:pPr marL="0" indent="0">
              <a:buNone/>
            </a:pPr>
            <a:r>
              <a:rPr lang="en-AU" dirty="0"/>
              <a:t>3.1.8 identify the response variable and the explanatory variable for primary and secondary data</a:t>
            </a:r>
          </a:p>
          <a:p>
            <a:pPr marL="0" indent="0">
              <a:buNone/>
            </a:pPr>
            <a:endParaRPr lang="en-AU" dirty="0"/>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8AA0D5C3-8722-4BFA-BE91-95E09487ABBD}"/>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2186593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628601" y="230819"/>
            <a:ext cx="11688521" cy="738664"/>
          </a:xfrm>
          <a:prstGeom prst="rect">
            <a:avLst/>
          </a:prstGeom>
          <a:noFill/>
        </p:spPr>
        <p:txBody>
          <a:bodyPr wrap="none" rtlCol="0">
            <a:spAutoFit/>
          </a:bodyPr>
          <a:lstStyle/>
          <a:p>
            <a:r>
              <a:rPr lang="en-AU" sz="2400" dirty="0"/>
              <a:t>Topic: Variables| EQ: What’s the difference between the explanatory and response variable?</a:t>
            </a:r>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0F304CF-7AA8-4520-9F3F-54EFBACB4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5" y="1338712"/>
            <a:ext cx="12192666" cy="1118714"/>
          </a:xfrm>
          <a:prstGeom prst="rect">
            <a:avLst/>
          </a:prstGeom>
        </p:spPr>
      </p:pic>
      <p:sp>
        <p:nvSpPr>
          <p:cNvPr id="2" name="TextBox 1">
            <a:extLst>
              <a:ext uri="{FF2B5EF4-FFF2-40B4-BE49-F238E27FC236}">
                <a16:creationId xmlns:a16="http://schemas.microsoft.com/office/drawing/2014/main" id="{998A38CF-9823-4A47-967F-A3ECED2264CA}"/>
              </a:ext>
            </a:extLst>
          </p:cNvPr>
          <p:cNvSpPr txBox="1"/>
          <p:nvPr/>
        </p:nvSpPr>
        <p:spPr>
          <a:xfrm>
            <a:off x="3288321" y="2642040"/>
            <a:ext cx="5134932" cy="646331"/>
          </a:xfrm>
          <a:prstGeom prst="rect">
            <a:avLst/>
          </a:prstGeom>
          <a:noFill/>
        </p:spPr>
        <p:txBody>
          <a:bodyPr wrap="none" rtlCol="0">
            <a:spAutoFit/>
          </a:bodyPr>
          <a:lstStyle/>
          <a:p>
            <a:r>
              <a:rPr lang="en-AU" dirty="0"/>
              <a:t>Explanatory variable = independent variable = X axis </a:t>
            </a:r>
          </a:p>
          <a:p>
            <a:r>
              <a:rPr lang="en-AU" dirty="0"/>
              <a:t>Response variable = dependent variable = Y axis</a:t>
            </a:r>
          </a:p>
        </p:txBody>
      </p:sp>
      <p:pic>
        <p:nvPicPr>
          <p:cNvPr id="7" name="Picture 6" descr="A screenshot of a cell phone&#10;&#10;Description automatically generated">
            <a:extLst>
              <a:ext uri="{FF2B5EF4-FFF2-40B4-BE49-F238E27FC236}">
                <a16:creationId xmlns:a16="http://schemas.microsoft.com/office/drawing/2014/main" id="{ACA9EB33-0B97-4F63-86DB-37B36C4685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554" y="4015956"/>
            <a:ext cx="10799192" cy="1692181"/>
          </a:xfrm>
          <a:prstGeom prst="rect">
            <a:avLst/>
          </a:prstGeom>
        </p:spPr>
      </p:pic>
    </p:spTree>
    <p:extLst>
      <p:ext uri="{BB962C8B-B14F-4D97-AF65-F5344CB8AC3E}">
        <p14:creationId xmlns:p14="http://schemas.microsoft.com/office/powerpoint/2010/main" val="3049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7F76C-2A8F-4A73-8C8C-009FF6B60E8B}"/>
              </a:ext>
            </a:extLst>
          </p:cNvPr>
          <p:cNvSpPr>
            <a:spLocks noGrp="1"/>
          </p:cNvSpPr>
          <p:nvPr>
            <p:ph type="title"/>
          </p:nvPr>
        </p:nvSpPr>
        <p:spPr>
          <a:xfrm>
            <a:off x="838200" y="365125"/>
            <a:ext cx="10295021" cy="1142833"/>
          </a:xfrm>
        </p:spPr>
        <p:txBody>
          <a:bodyPr/>
          <a:lstStyle/>
          <a:p>
            <a:r>
              <a:rPr lang="en-AU" dirty="0"/>
              <a:t>Examples</a:t>
            </a:r>
          </a:p>
        </p:txBody>
      </p:sp>
      <p:pic>
        <p:nvPicPr>
          <p:cNvPr id="4" name="Picture 3" descr="A screenshot of a cell phone&#10;&#10;Description automatically generated">
            <a:extLst>
              <a:ext uri="{FF2B5EF4-FFF2-40B4-BE49-F238E27FC236}">
                <a16:creationId xmlns:a16="http://schemas.microsoft.com/office/drawing/2014/main" id="{0B11B2E1-1E54-4FC7-857D-142C56B37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674" y="1716505"/>
            <a:ext cx="10551095" cy="4360353"/>
          </a:xfrm>
          <a:prstGeom prst="rect">
            <a:avLst/>
          </a:prstGeom>
        </p:spPr>
      </p:pic>
    </p:spTree>
    <p:extLst>
      <p:ext uri="{BB962C8B-B14F-4D97-AF65-F5344CB8AC3E}">
        <p14:creationId xmlns:p14="http://schemas.microsoft.com/office/powerpoint/2010/main" val="148436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2D7C6-FC03-4161-AB1B-7DEEEC82216B}"/>
              </a:ext>
            </a:extLst>
          </p:cNvPr>
          <p:cNvSpPr>
            <a:spLocks noGrp="1"/>
          </p:cNvSpPr>
          <p:nvPr>
            <p:ph type="title"/>
          </p:nvPr>
        </p:nvSpPr>
        <p:spPr/>
        <p:txBody>
          <a:bodyPr/>
          <a:lstStyle/>
          <a:p>
            <a:r>
              <a:rPr lang="en-AU" dirty="0"/>
              <a:t>When to use row or column percentages</a:t>
            </a:r>
          </a:p>
        </p:txBody>
      </p:sp>
      <p:sp>
        <p:nvSpPr>
          <p:cNvPr id="4" name="TextBox 3">
            <a:extLst>
              <a:ext uri="{FF2B5EF4-FFF2-40B4-BE49-F238E27FC236}">
                <a16:creationId xmlns:a16="http://schemas.microsoft.com/office/drawing/2014/main" id="{DAC37357-B6ED-4BEC-B558-84253C5CA07A}"/>
              </a:ext>
            </a:extLst>
          </p:cNvPr>
          <p:cNvSpPr txBox="1"/>
          <p:nvPr/>
        </p:nvSpPr>
        <p:spPr>
          <a:xfrm>
            <a:off x="542650" y="1876927"/>
            <a:ext cx="10811149" cy="369332"/>
          </a:xfrm>
          <a:prstGeom prst="rect">
            <a:avLst/>
          </a:prstGeom>
          <a:noFill/>
        </p:spPr>
        <p:txBody>
          <a:bodyPr wrap="square" rtlCol="0">
            <a:spAutoFit/>
          </a:bodyPr>
          <a:lstStyle/>
          <a:p>
            <a:r>
              <a:rPr lang="en-US" dirty="0"/>
              <a:t>Deciding whether to use row percentages or column percentages depends on the </a:t>
            </a:r>
            <a:r>
              <a:rPr lang="en-US" b="1" i="1" dirty="0"/>
              <a:t>explanatory</a:t>
            </a:r>
            <a:r>
              <a:rPr lang="en-US" dirty="0"/>
              <a:t> variable. </a:t>
            </a:r>
          </a:p>
        </p:txBody>
      </p:sp>
      <p:pic>
        <p:nvPicPr>
          <p:cNvPr id="5" name="Picture 4" descr="A picture containing bird&#10;&#10;Description automatically generated">
            <a:extLst>
              <a:ext uri="{FF2B5EF4-FFF2-40B4-BE49-F238E27FC236}">
                <a16:creationId xmlns:a16="http://schemas.microsoft.com/office/drawing/2014/main" id="{06AEC038-910A-429A-8676-F662EEDDB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270" y="2667102"/>
            <a:ext cx="11157459" cy="1523796"/>
          </a:xfrm>
          <a:prstGeom prst="rect">
            <a:avLst/>
          </a:prstGeom>
        </p:spPr>
      </p:pic>
    </p:spTree>
    <p:extLst>
      <p:ext uri="{BB962C8B-B14F-4D97-AF65-F5344CB8AC3E}">
        <p14:creationId xmlns:p14="http://schemas.microsoft.com/office/powerpoint/2010/main" val="186033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heckerboard(across)">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8147D-3811-4138-981A-FD48A0B722F3}"/>
              </a:ext>
            </a:extLst>
          </p:cNvPr>
          <p:cNvSpPr>
            <a:spLocks noGrp="1"/>
          </p:cNvSpPr>
          <p:nvPr>
            <p:ph type="title"/>
          </p:nvPr>
        </p:nvSpPr>
        <p:spPr/>
        <p:txBody>
          <a:bodyPr/>
          <a:lstStyle/>
          <a:p>
            <a:r>
              <a:rPr lang="en-AU" dirty="0"/>
              <a:t>Example:</a:t>
            </a:r>
          </a:p>
        </p:txBody>
      </p:sp>
      <p:pic>
        <p:nvPicPr>
          <p:cNvPr id="4" name="Picture 3" descr="A screenshot of a cell phone&#10;&#10;Description automatically generated">
            <a:extLst>
              <a:ext uri="{FF2B5EF4-FFF2-40B4-BE49-F238E27FC236}">
                <a16:creationId xmlns:a16="http://schemas.microsoft.com/office/drawing/2014/main" id="{B397FAEF-6D78-4270-B6C8-18A1F7454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792" y="12822"/>
            <a:ext cx="9937942" cy="4528102"/>
          </a:xfrm>
          <a:prstGeom prst="rect">
            <a:avLst/>
          </a:prstGeom>
        </p:spPr>
      </p:pic>
      <p:pic>
        <p:nvPicPr>
          <p:cNvPr id="5" name="Picture 4" descr="A picture containing bird&#10;&#10;Description automatically generated">
            <a:extLst>
              <a:ext uri="{FF2B5EF4-FFF2-40B4-BE49-F238E27FC236}">
                <a16:creationId xmlns:a16="http://schemas.microsoft.com/office/drawing/2014/main" id="{A48CBA20-F32B-4B1F-BE63-51CC2AEA3F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212" y="4581128"/>
            <a:ext cx="10445629" cy="1911747"/>
          </a:xfrm>
          <a:prstGeom prst="rect">
            <a:avLst/>
          </a:prstGeom>
        </p:spPr>
      </p:pic>
    </p:spTree>
    <p:extLst>
      <p:ext uri="{BB962C8B-B14F-4D97-AF65-F5344CB8AC3E}">
        <p14:creationId xmlns:p14="http://schemas.microsoft.com/office/powerpoint/2010/main" val="105256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EC5E3-62CF-4F94-A18B-07371192AB1B}"/>
              </a:ext>
            </a:extLst>
          </p:cNvPr>
          <p:cNvSpPr>
            <a:spLocks noGrp="1"/>
          </p:cNvSpPr>
          <p:nvPr>
            <p:ph type="title"/>
          </p:nvPr>
        </p:nvSpPr>
        <p:spPr/>
        <p:txBody>
          <a:bodyPr/>
          <a:lstStyle/>
          <a:p>
            <a:endParaRPr lang="en-AU" dirty="0"/>
          </a:p>
        </p:txBody>
      </p:sp>
      <p:pic>
        <p:nvPicPr>
          <p:cNvPr id="4" name="Picture 3" descr="A screenshot of a cell phone&#10;&#10;Description automatically generated">
            <a:extLst>
              <a:ext uri="{FF2B5EF4-FFF2-40B4-BE49-F238E27FC236}">
                <a16:creationId xmlns:a16="http://schemas.microsoft.com/office/drawing/2014/main" id="{A08F89FF-AD28-4B3F-801D-6B25CFB766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031" y="0"/>
            <a:ext cx="6851319" cy="3288632"/>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9AF57868-8DF6-4515-A2F3-42240075C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067" y="3288632"/>
            <a:ext cx="6241353" cy="3573173"/>
          </a:xfrm>
          <a:prstGeom prst="rect">
            <a:avLst/>
          </a:prstGeom>
        </p:spPr>
      </p:pic>
    </p:spTree>
    <p:extLst>
      <p:ext uri="{BB962C8B-B14F-4D97-AF65-F5344CB8AC3E}">
        <p14:creationId xmlns:p14="http://schemas.microsoft.com/office/powerpoint/2010/main" val="252040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70E76-9313-4296-B23F-D70F0E7A4E11}"/>
              </a:ext>
            </a:extLst>
          </p:cNvPr>
          <p:cNvSpPr>
            <a:spLocks noGrp="1"/>
          </p:cNvSpPr>
          <p:nvPr>
            <p:ph type="title"/>
          </p:nvPr>
        </p:nvSpPr>
        <p:spPr/>
        <p:txBody>
          <a:bodyPr/>
          <a:lstStyle/>
          <a:p>
            <a:r>
              <a:rPr lang="en-AU" dirty="0"/>
              <a:t>Complete Exercise 1B</a:t>
            </a:r>
          </a:p>
        </p:txBody>
      </p:sp>
      <p:sp>
        <p:nvSpPr>
          <p:cNvPr id="3" name="Rectangle 2">
            <a:hlinkClick r:id="rId2" action="ppaction://hlinksldjump"/>
            <a:extLst>
              <a:ext uri="{FF2B5EF4-FFF2-40B4-BE49-F238E27FC236}">
                <a16:creationId xmlns:a16="http://schemas.microsoft.com/office/drawing/2014/main" id="{E594ABD0-C009-492B-A2FB-AFD4E942E75C}"/>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3626254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3 </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p:txBody>
          <a:bodyPr>
            <a:normAutofit fontScale="92500" lnSpcReduction="10000"/>
          </a:bodyPr>
          <a:lstStyle/>
          <a:p>
            <a:pPr marL="0" indent="0">
              <a:buNone/>
            </a:pPr>
            <a:r>
              <a:rPr lang="en-AU" dirty="0"/>
              <a:t>Topic: Scatter graphs</a:t>
            </a:r>
          </a:p>
          <a:p>
            <a:pPr marL="0" indent="0">
              <a:buNone/>
            </a:pPr>
            <a:r>
              <a:rPr lang="en-AU" dirty="0"/>
              <a:t>EQ: How can I display numerical data more suitably? </a:t>
            </a:r>
          </a:p>
          <a:p>
            <a:pPr marL="0" indent="0">
              <a:buNone/>
            </a:pPr>
            <a:endParaRPr lang="en-AU" dirty="0"/>
          </a:p>
          <a:p>
            <a:pPr marL="0" indent="0">
              <a:buNone/>
            </a:pPr>
            <a:r>
              <a:rPr lang="en-AU" dirty="0"/>
              <a:t>Syllabus points:</a:t>
            </a:r>
          </a:p>
          <a:p>
            <a:pPr marL="0" indent="0">
              <a:buNone/>
            </a:pPr>
            <a:r>
              <a:rPr lang="en-AU" dirty="0"/>
              <a:t>3.1.5	construct a scatterplot to identify patterns in the data suggesting the presence of an association </a:t>
            </a:r>
          </a:p>
          <a:p>
            <a:pPr marL="0" indent="0">
              <a:buNone/>
            </a:pPr>
            <a:r>
              <a:rPr lang="en-AU" dirty="0"/>
              <a:t>3.1.6	describe an association between two numerical variables in terms of direction (positive/negative), form (linear/non-linear) and strength (strong/moderate/weak) </a:t>
            </a:r>
          </a:p>
          <a:p>
            <a:pPr marL="0" indent="0">
              <a:buNone/>
            </a:pPr>
            <a:r>
              <a:rPr lang="en-AU" dirty="0"/>
              <a:t>3.1.9 use a scatterplot to identify the nature of the relationship between variables</a:t>
            </a:r>
          </a:p>
          <a:p>
            <a:pPr marL="0" indent="0">
              <a:buNone/>
            </a:pPr>
            <a:endParaRPr lang="en-AU" dirty="0"/>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40903CBD-A1A2-45CE-B33E-8D83A05D8ED0}"/>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3417450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1524001" y="2606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pic>
        <p:nvPicPr>
          <p:cNvPr id="14" name="Picture 13" descr="A screenshot of a cell phone&#10;&#10;Description automatically generated">
            <a:extLst>
              <a:ext uri="{FF2B5EF4-FFF2-40B4-BE49-F238E27FC236}">
                <a16:creationId xmlns:a16="http://schemas.microsoft.com/office/drawing/2014/main" id="{148BBF08-A920-3146-9184-D3A55F970F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82" y="1527014"/>
            <a:ext cx="5568918" cy="4965241"/>
          </a:xfrm>
          <a:prstGeom prst="rect">
            <a:avLst/>
          </a:prstGeom>
        </p:spPr>
      </p:pic>
      <p:pic>
        <p:nvPicPr>
          <p:cNvPr id="13" name="Picture 12" descr="A screenshot of a cell phone&#10;&#10;Description automatically generated">
            <a:extLst>
              <a:ext uri="{FF2B5EF4-FFF2-40B4-BE49-F238E27FC236}">
                <a16:creationId xmlns:a16="http://schemas.microsoft.com/office/drawing/2014/main" id="{C55B80AC-14D0-493F-846B-0418D3A361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210" y="2790825"/>
            <a:ext cx="3994141" cy="3926316"/>
          </a:xfrm>
          <a:prstGeom prst="rect">
            <a:avLst/>
          </a:prstGeom>
        </p:spPr>
      </p:pic>
      <p:sp>
        <p:nvSpPr>
          <p:cNvPr id="3" name="TextBox 2">
            <a:extLst>
              <a:ext uri="{FF2B5EF4-FFF2-40B4-BE49-F238E27FC236}">
                <a16:creationId xmlns:a16="http://schemas.microsoft.com/office/drawing/2014/main" id="{2B956B46-165D-439C-9A43-35A80200C935}"/>
              </a:ext>
            </a:extLst>
          </p:cNvPr>
          <p:cNvSpPr txBox="1"/>
          <p:nvPr/>
        </p:nvSpPr>
        <p:spPr>
          <a:xfrm>
            <a:off x="6553210" y="1714617"/>
            <a:ext cx="4899881" cy="646331"/>
          </a:xfrm>
          <a:prstGeom prst="rect">
            <a:avLst/>
          </a:prstGeom>
          <a:solidFill>
            <a:schemeClr val="bg2"/>
          </a:solidFill>
        </p:spPr>
        <p:txBody>
          <a:bodyPr wrap="square" rtlCol="0">
            <a:spAutoFit/>
          </a:bodyPr>
          <a:lstStyle/>
          <a:p>
            <a:r>
              <a:rPr lang="en-AU" dirty="0"/>
              <a:t>This data can be displayed in a scatter graph. You can manually draw them or use your class pad</a:t>
            </a:r>
          </a:p>
        </p:txBody>
      </p:sp>
    </p:spTree>
    <p:extLst>
      <p:ext uri="{BB962C8B-B14F-4D97-AF65-F5344CB8AC3E}">
        <p14:creationId xmlns:p14="http://schemas.microsoft.com/office/powerpoint/2010/main" val="345721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1621921" y="1412776"/>
            <a:ext cx="8925430" cy="646331"/>
          </a:xfrm>
          <a:prstGeom prst="rect">
            <a:avLst/>
          </a:prstGeom>
        </p:spPr>
        <p:txBody>
          <a:bodyPr wrap="square">
            <a:spAutoFit/>
          </a:bodyPr>
          <a:lstStyle/>
          <a:p>
            <a:r>
              <a:rPr lang="en-AU" dirty="0"/>
              <a:t>Because both of these variables involve </a:t>
            </a:r>
            <a:r>
              <a:rPr lang="en-AU" i="1" dirty="0"/>
              <a:t>numerical</a:t>
            </a:r>
            <a:r>
              <a:rPr lang="en-AU" dirty="0"/>
              <a:t> data, a </a:t>
            </a:r>
            <a:r>
              <a:rPr lang="en-AU" b="1" dirty="0" err="1"/>
              <a:t>scattergraph</a:t>
            </a:r>
            <a:r>
              <a:rPr lang="en-AU" dirty="0"/>
              <a:t>, with one variable (explanatory) on the x-axis and the other variable (response) on the y-axis, is a more suitable.</a:t>
            </a:r>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1524001" y="2606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pic>
        <p:nvPicPr>
          <p:cNvPr id="9" name="Picture 8" descr="A screenshot of a cell phone&#10;&#10;Description automatically generated">
            <a:extLst>
              <a:ext uri="{FF2B5EF4-FFF2-40B4-BE49-F238E27FC236}">
                <a16:creationId xmlns:a16="http://schemas.microsoft.com/office/drawing/2014/main" id="{DA087795-F4D4-BB48-BAE5-3E3137DF28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1637" y="2558737"/>
            <a:ext cx="3994141" cy="3926316"/>
          </a:xfrm>
          <a:prstGeom prst="rect">
            <a:avLst/>
          </a:prstGeom>
        </p:spPr>
      </p:pic>
      <p:sp>
        <p:nvSpPr>
          <p:cNvPr id="13" name="TextBox 12">
            <a:extLst>
              <a:ext uri="{FF2B5EF4-FFF2-40B4-BE49-F238E27FC236}">
                <a16:creationId xmlns:a16="http://schemas.microsoft.com/office/drawing/2014/main" id="{87746014-EBC8-264C-B492-4CBE455E7BF6}"/>
              </a:ext>
            </a:extLst>
          </p:cNvPr>
          <p:cNvSpPr txBox="1"/>
          <p:nvPr/>
        </p:nvSpPr>
        <p:spPr>
          <a:xfrm>
            <a:off x="6198844" y="2258469"/>
            <a:ext cx="4307335" cy="4801314"/>
          </a:xfrm>
          <a:prstGeom prst="rect">
            <a:avLst/>
          </a:prstGeom>
          <a:noFill/>
        </p:spPr>
        <p:txBody>
          <a:bodyPr wrap="square" rtlCol="0">
            <a:spAutoFit/>
          </a:bodyPr>
          <a:lstStyle/>
          <a:p>
            <a:pPr marL="285750" indent="-285750">
              <a:buFont typeface="Arial" panose="020B0604020202020204" pitchFamily="34" charset="0"/>
              <a:buChar char="•"/>
            </a:pPr>
            <a:r>
              <a:rPr lang="en-US" dirty="0"/>
              <a:t>Notice that the points tend to form an oval shape, from lower left to upper right</a:t>
            </a:r>
          </a:p>
          <a:p>
            <a:pPr marL="285750" indent="-285750">
              <a:buFont typeface="Arial" panose="020B0604020202020204" pitchFamily="34" charset="0"/>
              <a:buChar char="•"/>
            </a:pPr>
            <a:r>
              <a:rPr lang="en-US" dirty="0"/>
              <a:t>This indicates that </a:t>
            </a:r>
            <a:r>
              <a:rPr lang="en-US" b="1" i="1" dirty="0"/>
              <a:t>in general</a:t>
            </a:r>
            <a:r>
              <a:rPr lang="en-US" dirty="0"/>
              <a:t>, countries with a lower consumption of a particular food have lower deaths due to heart disease.</a:t>
            </a:r>
          </a:p>
          <a:p>
            <a:pPr marL="285750" indent="-285750">
              <a:buFont typeface="Arial" panose="020B0604020202020204" pitchFamily="34" charset="0"/>
              <a:buChar char="•"/>
            </a:pPr>
            <a:r>
              <a:rPr lang="en-US" dirty="0"/>
              <a:t>We can say that there seems to be and </a:t>
            </a:r>
            <a:r>
              <a:rPr lang="en-US" b="1" dirty="0"/>
              <a:t>association</a:t>
            </a:r>
            <a:r>
              <a:rPr lang="en-US" dirty="0"/>
              <a:t> or </a:t>
            </a:r>
            <a:r>
              <a:rPr lang="en-US" b="1" dirty="0"/>
              <a:t>correlation</a:t>
            </a:r>
            <a:r>
              <a:rPr lang="en-US" dirty="0"/>
              <a:t> between the foodstuff consumption and the death rate due to heart disease.</a:t>
            </a:r>
          </a:p>
          <a:p>
            <a:pPr marL="285750" indent="-285750">
              <a:buFont typeface="Arial" panose="020B0604020202020204" pitchFamily="34" charset="0"/>
              <a:buChar char="•"/>
            </a:pPr>
            <a:r>
              <a:rPr lang="en-US" dirty="0"/>
              <a:t>Using proper mathematical language, we can attempt to </a:t>
            </a:r>
            <a:r>
              <a:rPr lang="en-US" dirty="0" err="1"/>
              <a:t>summarise</a:t>
            </a:r>
            <a:r>
              <a:rPr lang="en-US" dirty="0"/>
              <a:t> and underlying pattern or </a:t>
            </a:r>
            <a:r>
              <a:rPr lang="en-US" i="1" dirty="0"/>
              <a:t>trend</a:t>
            </a:r>
            <a:r>
              <a:rPr lang="en-US" dirty="0"/>
              <a:t> suggested by the points. Not every point will fit the trend, but we can comment on the general behavior.</a:t>
            </a:r>
          </a:p>
          <a:p>
            <a:pPr marL="285750" indent="-285750">
              <a:buFont typeface="Arial" panose="020B0604020202020204" pitchFamily="34" charset="0"/>
              <a:buChar char="•"/>
            </a:pPr>
            <a:endParaRPr lang="en-US"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7" name="Ink 16">
                <a:extLst>
                  <a:ext uri="{FF2B5EF4-FFF2-40B4-BE49-F238E27FC236}">
                    <a16:creationId xmlns:a16="http://schemas.microsoft.com/office/drawing/2014/main" id="{EDEA5908-5D2B-124B-8EDC-8504FEE250BB}"/>
                  </a:ext>
                </a:extLst>
              </p14:cNvPr>
              <p14:cNvContentPartPr/>
              <p14:nvPr/>
            </p14:nvContentPartPr>
            <p14:xfrm>
              <a:off x="5237006" y="2258469"/>
              <a:ext cx="360" cy="360"/>
            </p14:xfrm>
          </p:contentPart>
        </mc:Choice>
        <mc:Fallback xmlns="">
          <p:pic>
            <p:nvPicPr>
              <p:cNvPr id="17" name="Ink 16">
                <a:extLst>
                  <a:ext uri="{FF2B5EF4-FFF2-40B4-BE49-F238E27FC236}">
                    <a16:creationId xmlns:a16="http://schemas.microsoft.com/office/drawing/2014/main" id="{EDEA5908-5D2B-124B-8EDC-8504FEE250BB}"/>
                  </a:ext>
                </a:extLst>
              </p:cNvPr>
              <p:cNvPicPr/>
              <p:nvPr/>
            </p:nvPicPr>
            <p:blipFill>
              <a:blip r:embed="rId4"/>
              <a:stretch>
                <a:fillRect/>
              </a:stretch>
            </p:blipFill>
            <p:spPr>
              <a:xfrm>
                <a:off x="5219006" y="2150469"/>
                <a:ext cx="36000" cy="216000"/>
              </a:xfrm>
              <a:prstGeom prst="rect">
                <a:avLst/>
              </a:prstGeom>
            </p:spPr>
          </p:pic>
        </mc:Fallback>
      </mc:AlternateContent>
      <p:sp>
        <p:nvSpPr>
          <p:cNvPr id="26" name="Oval 25">
            <a:extLst>
              <a:ext uri="{FF2B5EF4-FFF2-40B4-BE49-F238E27FC236}">
                <a16:creationId xmlns:a16="http://schemas.microsoft.com/office/drawing/2014/main" id="{6AA5990C-29F0-48E4-97D3-8F97AB0D505F}"/>
              </a:ext>
            </a:extLst>
          </p:cNvPr>
          <p:cNvSpPr/>
          <p:nvPr/>
        </p:nvSpPr>
        <p:spPr>
          <a:xfrm rot="18672462">
            <a:off x="2462802" y="3163250"/>
            <a:ext cx="3349813" cy="1474682"/>
          </a:xfrm>
          <a:prstGeom prst="ellipse">
            <a:avLst/>
          </a:prstGeom>
          <a:solidFill>
            <a:srgbClr val="000000">
              <a:alpha val="5000"/>
            </a:srgbClr>
          </a:solidFill>
          <a:ln w="360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chemeClr val="tx2"/>
              </a:solidFill>
            </a:endParaRPr>
          </a:p>
        </p:txBody>
      </p:sp>
    </p:spTree>
    <p:extLst>
      <p:ext uri="{BB962C8B-B14F-4D97-AF65-F5344CB8AC3E}">
        <p14:creationId xmlns:p14="http://schemas.microsoft.com/office/powerpoint/2010/main" val="11027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 calcmode="lin" valueType="num">
                                      <p:cBhvr additive="base">
                                        <p:cTn id="11"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 calcmode="lin" valueType="num">
                                      <p:cBhvr additive="base">
                                        <p:cTn id="2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3">
                                            <p:txEl>
                                              <p:pRg st="2" end="2"/>
                                            </p:txEl>
                                          </p:spTgt>
                                        </p:tgtEl>
                                        <p:attrNameLst>
                                          <p:attrName>style.visibility</p:attrName>
                                        </p:attrNameLst>
                                      </p:cBhvr>
                                      <p:to>
                                        <p:strVal val="visible"/>
                                      </p:to>
                                    </p:set>
                                    <p:anim calcmode="lin" valueType="num">
                                      <p:cBhvr additive="base">
                                        <p:cTn id="2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xEl>
                                              <p:pRg st="3" end="3"/>
                                            </p:txEl>
                                          </p:spTgt>
                                        </p:tgtEl>
                                        <p:attrNameLst>
                                          <p:attrName>style.visibility</p:attrName>
                                        </p:attrNameLst>
                                      </p:cBhvr>
                                      <p:to>
                                        <p:strVal val="visible"/>
                                      </p:to>
                                    </p:set>
                                    <p:anim calcmode="lin" valueType="num">
                                      <p:cBhvr additive="base">
                                        <p:cTn id="3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1524001" y="2606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13" name="TextBox 12">
            <a:extLst>
              <a:ext uri="{FF2B5EF4-FFF2-40B4-BE49-F238E27FC236}">
                <a16:creationId xmlns:a16="http://schemas.microsoft.com/office/drawing/2014/main" id="{87746014-EBC8-264C-B492-4CBE455E7BF6}"/>
              </a:ext>
            </a:extLst>
          </p:cNvPr>
          <p:cNvSpPr txBox="1"/>
          <p:nvPr/>
        </p:nvSpPr>
        <p:spPr>
          <a:xfrm>
            <a:off x="6131022" y="1506949"/>
            <a:ext cx="4307335" cy="2308324"/>
          </a:xfrm>
          <a:prstGeom prst="rect">
            <a:avLst/>
          </a:prstGeom>
          <a:noFill/>
        </p:spPr>
        <p:txBody>
          <a:bodyPr wrap="square" rtlCol="0">
            <a:spAutoFit/>
          </a:bodyPr>
          <a:lstStyle/>
          <a:p>
            <a:pPr marL="285750" indent="-285750">
              <a:buFont typeface="Arial" panose="020B0604020202020204" pitchFamily="34" charset="0"/>
              <a:buChar char="•"/>
            </a:pPr>
            <a:r>
              <a:rPr lang="en-US" dirty="0"/>
              <a:t>Additionally, we could attempt to draw a straight line that seems to ‘best fit’ this data</a:t>
            </a:r>
          </a:p>
          <a:p>
            <a:pPr marL="285750" indent="-285750">
              <a:buFont typeface="Arial" panose="020B0604020202020204" pitchFamily="34" charset="0"/>
              <a:buChar char="•"/>
            </a:pPr>
            <a:r>
              <a:rPr lang="en-US" dirty="0"/>
              <a:t>In this way we could fit a </a:t>
            </a:r>
            <a:r>
              <a:rPr lang="en-US" b="1" dirty="0"/>
              <a:t>linear model</a:t>
            </a:r>
            <a:r>
              <a:rPr lang="en-US" dirty="0"/>
              <a:t> to the situation.</a:t>
            </a:r>
          </a:p>
          <a:p>
            <a:pPr marL="285750" indent="-285750">
              <a:buFont typeface="Arial" panose="020B0604020202020204" pitchFamily="34" charset="0"/>
              <a:buChar char="•"/>
            </a:pPr>
            <a:r>
              <a:rPr lang="en-US" dirty="0"/>
              <a:t>We can then use the model to make predictions.</a:t>
            </a:r>
          </a:p>
          <a:p>
            <a:pPr marL="285750" indent="-285750">
              <a:buFont typeface="Arial" panose="020B0604020202020204" pitchFamily="34" charset="0"/>
              <a:buChar char="•"/>
            </a:pPr>
            <a:endParaRPr lang="en-US"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7" name="Ink 16">
                <a:extLst>
                  <a:ext uri="{FF2B5EF4-FFF2-40B4-BE49-F238E27FC236}">
                    <a16:creationId xmlns:a16="http://schemas.microsoft.com/office/drawing/2014/main" id="{EDEA5908-5D2B-124B-8EDC-8504FEE250BB}"/>
                  </a:ext>
                </a:extLst>
              </p14:cNvPr>
              <p14:cNvContentPartPr/>
              <p14:nvPr/>
            </p14:nvContentPartPr>
            <p14:xfrm>
              <a:off x="5237006" y="2258469"/>
              <a:ext cx="360" cy="360"/>
            </p14:xfrm>
          </p:contentPart>
        </mc:Choice>
        <mc:Fallback xmlns="">
          <p:pic>
            <p:nvPicPr>
              <p:cNvPr id="17" name="Ink 16">
                <a:extLst>
                  <a:ext uri="{FF2B5EF4-FFF2-40B4-BE49-F238E27FC236}">
                    <a16:creationId xmlns:a16="http://schemas.microsoft.com/office/drawing/2014/main" id="{EDEA5908-5D2B-124B-8EDC-8504FEE250BB}"/>
                  </a:ext>
                </a:extLst>
              </p:cNvPr>
              <p:cNvPicPr/>
              <p:nvPr/>
            </p:nvPicPr>
            <p:blipFill>
              <a:blip r:embed="rId3"/>
              <a:stretch>
                <a:fillRect/>
              </a:stretch>
            </p:blipFill>
            <p:spPr>
              <a:xfrm>
                <a:off x="5219006" y="2150469"/>
                <a:ext cx="36000" cy="216000"/>
              </a:xfrm>
              <a:prstGeom prst="rect">
                <a:avLst/>
              </a:prstGeom>
            </p:spPr>
          </p:pic>
        </mc:Fallback>
      </mc:AlternateContent>
      <p:sp>
        <p:nvSpPr>
          <p:cNvPr id="28" name="TextBox 27">
            <a:extLst>
              <a:ext uri="{FF2B5EF4-FFF2-40B4-BE49-F238E27FC236}">
                <a16:creationId xmlns:a16="http://schemas.microsoft.com/office/drawing/2014/main" id="{76AAB4F9-4638-1C4F-BE54-4FDEC0828A4C}"/>
              </a:ext>
            </a:extLst>
          </p:cNvPr>
          <p:cNvSpPr txBox="1"/>
          <p:nvPr/>
        </p:nvSpPr>
        <p:spPr>
          <a:xfrm>
            <a:off x="6146709" y="3798815"/>
            <a:ext cx="430733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For example, using our </a:t>
            </a:r>
            <a:r>
              <a:rPr lang="en-US" b="1" dirty="0"/>
              <a:t>line of best fit</a:t>
            </a:r>
            <a:r>
              <a:rPr lang="en-US" dirty="0"/>
              <a:t>, we could suggest that a country with an intake of 45kgs per person/</a:t>
            </a:r>
            <a:r>
              <a:rPr lang="en-US" dirty="0" err="1"/>
              <a:t>yr</a:t>
            </a:r>
            <a:r>
              <a:rPr lang="en-US" dirty="0"/>
              <a:t> of the particular food might have a heart disease death rate of approx. 230 persons per year per 100,000</a:t>
            </a:r>
            <a:endParaRPr lang="en-US" b="1" dirty="0"/>
          </a:p>
          <a:p>
            <a:pPr marL="285750" indent="-285750">
              <a:buFont typeface="Arial" panose="020B0604020202020204" pitchFamily="34" charset="0"/>
              <a:buChar char="•"/>
            </a:pPr>
            <a:endParaRPr lang="en-US" dirty="0"/>
          </a:p>
        </p:txBody>
      </p:sp>
      <p:pic>
        <p:nvPicPr>
          <p:cNvPr id="30" name="Picture 29" descr="A screenshot of a cell phone&#10;&#10;Description automatically generated">
            <a:extLst>
              <a:ext uri="{FF2B5EF4-FFF2-40B4-BE49-F238E27FC236}">
                <a16:creationId xmlns:a16="http://schemas.microsoft.com/office/drawing/2014/main" id="{D79725B9-C66A-0D44-B8DC-0B980C5DBE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503" y="1412777"/>
            <a:ext cx="3686441" cy="3658193"/>
          </a:xfrm>
          <a:prstGeom prst="rect">
            <a:avLst/>
          </a:prstGeom>
        </p:spPr>
      </p:pic>
      <p:pic>
        <p:nvPicPr>
          <p:cNvPr id="27" name="Picture 26" descr="A close up of a map&#10;&#10;Description automatically generated">
            <a:extLst>
              <a:ext uri="{FF2B5EF4-FFF2-40B4-BE49-F238E27FC236}">
                <a16:creationId xmlns:a16="http://schemas.microsoft.com/office/drawing/2014/main" id="{F98F475B-24DB-E747-8BEE-5127457942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0950" y="3075576"/>
            <a:ext cx="3895310" cy="3763514"/>
          </a:xfrm>
          <a:prstGeom prst="rect">
            <a:avLst/>
          </a:prstGeom>
        </p:spPr>
      </p:pic>
      <p:sp>
        <p:nvSpPr>
          <p:cNvPr id="31" name="TextBox 30">
            <a:extLst>
              <a:ext uri="{FF2B5EF4-FFF2-40B4-BE49-F238E27FC236}">
                <a16:creationId xmlns:a16="http://schemas.microsoft.com/office/drawing/2014/main" id="{4F56128B-B97C-C94C-8857-17EAFBA0E43C}"/>
              </a:ext>
            </a:extLst>
          </p:cNvPr>
          <p:cNvSpPr txBox="1"/>
          <p:nvPr/>
        </p:nvSpPr>
        <p:spPr>
          <a:xfrm>
            <a:off x="6045294" y="5621627"/>
            <a:ext cx="4307335" cy="1200329"/>
          </a:xfrm>
          <a:prstGeom prst="rect">
            <a:avLst/>
          </a:prstGeom>
          <a:solidFill>
            <a:schemeClr val="accent4">
              <a:lumMod val="40000"/>
              <a:lumOff val="60000"/>
            </a:schemeClr>
          </a:solidFill>
        </p:spPr>
        <p:txBody>
          <a:bodyPr wrap="square" rtlCol="0">
            <a:spAutoFit/>
          </a:bodyPr>
          <a:lstStyle/>
          <a:p>
            <a:r>
              <a:rPr lang="en-US" b="1" dirty="0"/>
              <a:t>Note:</a:t>
            </a:r>
            <a:r>
              <a:rPr lang="en-US" dirty="0"/>
              <a:t> We tend to plot the explanatory (independent) variable on the horizontal axis and response (dependent) variable on the vertical axis</a:t>
            </a:r>
            <a:endParaRPr lang="en-US" b="1" dirty="0"/>
          </a:p>
        </p:txBody>
      </p:sp>
    </p:spTree>
    <p:extLst>
      <p:ext uri="{BB962C8B-B14F-4D97-AF65-F5344CB8AC3E}">
        <p14:creationId xmlns:p14="http://schemas.microsoft.com/office/powerpoint/2010/main" val="151760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blinds(horizontal)">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
                                            <p:txEl>
                                              <p:pRg st="1" end="1"/>
                                            </p:txEl>
                                          </p:spTgt>
                                        </p:tgtEl>
                                        <p:attrNameLst>
                                          <p:attrName>style.visibility</p:attrName>
                                        </p:attrNameLst>
                                      </p:cBhvr>
                                      <p:to>
                                        <p:strVal val="visible"/>
                                      </p:to>
                                    </p:set>
                                    <p:anim calcmode="lin" valueType="num">
                                      <p:cBhvr additive="base">
                                        <p:cTn id="18"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xEl>
                                              <p:pRg st="2" end="2"/>
                                            </p:txEl>
                                          </p:spTgt>
                                        </p:tgtEl>
                                        <p:attrNameLst>
                                          <p:attrName>style.visibility</p:attrName>
                                        </p:attrNameLst>
                                      </p:cBhvr>
                                      <p:to>
                                        <p:strVal val="visible"/>
                                      </p:to>
                                    </p:set>
                                    <p:anim calcmode="lin" valueType="num">
                                      <p:cBhvr additive="base">
                                        <p:cTn id="24"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ppt_x"/>
                                          </p:val>
                                        </p:tav>
                                        <p:tav tm="100000">
                                          <p:val>
                                            <p:strVal val="#ppt_x"/>
                                          </p:val>
                                        </p:tav>
                                      </p:tavLst>
                                    </p:anim>
                                    <p:anim calcmode="lin" valueType="num">
                                      <p:cBhvr additive="base">
                                        <p:cTn id="3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8">
                                            <p:txEl>
                                              <p:pRg st="0" end="0"/>
                                            </p:txEl>
                                          </p:spTgt>
                                        </p:tgtEl>
                                        <p:attrNameLst>
                                          <p:attrName>style.visibility</p:attrName>
                                        </p:attrNameLst>
                                      </p:cBhvr>
                                      <p:to>
                                        <p:strVal val="visible"/>
                                      </p:to>
                                    </p:set>
                                    <p:anim calcmode="lin" valueType="num">
                                      <p:cBhvr additive="base">
                                        <p:cTn id="36"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1">
                                            <p:txEl>
                                              <p:pRg st="0" end="0"/>
                                            </p:txEl>
                                          </p:spTgt>
                                        </p:tgtEl>
                                        <p:attrNameLst>
                                          <p:attrName>style.visibility</p:attrName>
                                        </p:attrNameLst>
                                      </p:cBhvr>
                                      <p:to>
                                        <p:strVal val="visible"/>
                                      </p:to>
                                    </p:set>
                                    <p:anim calcmode="lin" valueType="num">
                                      <p:cBhvr additive="base">
                                        <p:cTn id="42"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1572961" y="1404096"/>
            <a:ext cx="9046079" cy="1569660"/>
          </a:xfrm>
          <a:prstGeom prst="rect">
            <a:avLst/>
          </a:prstGeom>
        </p:spPr>
        <p:txBody>
          <a:bodyPr wrap="square">
            <a:spAutoFit/>
          </a:bodyPr>
          <a:lstStyle/>
          <a:p>
            <a:r>
              <a:rPr lang="en-AU" sz="2400" dirty="0"/>
              <a:t>How reliable are our predictions? Some things we need to consider are:</a:t>
            </a:r>
          </a:p>
          <a:p>
            <a:pPr marL="342900" indent="-342900">
              <a:buFont typeface="Arial" panose="020B0604020202020204" pitchFamily="34" charset="0"/>
              <a:buChar char="•"/>
            </a:pPr>
            <a:r>
              <a:rPr lang="en-AU" sz="2400" dirty="0"/>
              <a:t>Does the distribution of points on the scatter graph suggest that using a linear model is a good idea, or should we perhaps use another model (which we’ll learn later)? Consider the following:</a:t>
            </a:r>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1524001" y="2606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pic>
        <p:nvPicPr>
          <p:cNvPr id="14" name="Picture 13" descr="A picture containing clock&#10;&#10;Description automatically generated">
            <a:extLst>
              <a:ext uri="{FF2B5EF4-FFF2-40B4-BE49-F238E27FC236}">
                <a16:creationId xmlns:a16="http://schemas.microsoft.com/office/drawing/2014/main" id="{90A279CE-D9E7-234C-A76A-635896B2F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1777" y="3077166"/>
            <a:ext cx="7308304" cy="1737157"/>
          </a:xfrm>
          <a:prstGeom prst="rect">
            <a:avLst/>
          </a:prstGeom>
        </p:spPr>
      </p:pic>
      <p:sp>
        <p:nvSpPr>
          <p:cNvPr id="15" name="TextBox 14">
            <a:extLst>
              <a:ext uri="{FF2B5EF4-FFF2-40B4-BE49-F238E27FC236}">
                <a16:creationId xmlns:a16="http://schemas.microsoft.com/office/drawing/2014/main" id="{F6B61319-EC26-1844-8AB3-7BDE94319A62}"/>
              </a:ext>
            </a:extLst>
          </p:cNvPr>
          <p:cNvSpPr txBox="1"/>
          <p:nvPr/>
        </p:nvSpPr>
        <p:spPr>
          <a:xfrm>
            <a:off x="1617472" y="4863416"/>
            <a:ext cx="8929879" cy="646331"/>
          </a:xfrm>
          <a:prstGeom prst="rect">
            <a:avLst/>
          </a:prstGeom>
          <a:noFill/>
        </p:spPr>
        <p:txBody>
          <a:bodyPr wrap="square" rtlCol="0">
            <a:spAutoFit/>
          </a:bodyPr>
          <a:lstStyle/>
          <a:p>
            <a:pPr algn="ctr"/>
            <a:r>
              <a:rPr lang="en-US" dirty="0"/>
              <a:t>One of these graphs suggest using a linear model is appropriate, another suggest using a curve, while another shows no particular pattern.</a:t>
            </a:r>
          </a:p>
        </p:txBody>
      </p:sp>
      <p:sp>
        <p:nvSpPr>
          <p:cNvPr id="16" name="TextBox 15">
            <a:extLst>
              <a:ext uri="{FF2B5EF4-FFF2-40B4-BE49-F238E27FC236}">
                <a16:creationId xmlns:a16="http://schemas.microsoft.com/office/drawing/2014/main" id="{15317771-6958-1C44-8567-B7ED85C226E1}"/>
              </a:ext>
            </a:extLst>
          </p:cNvPr>
          <p:cNvSpPr txBox="1"/>
          <p:nvPr/>
        </p:nvSpPr>
        <p:spPr>
          <a:xfrm>
            <a:off x="1617471" y="5564063"/>
            <a:ext cx="892988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How many points does the scatter graph involve. The more we have, the more confidence we have in our predictions.</a:t>
            </a:r>
          </a:p>
          <a:p>
            <a:pPr marL="285750" indent="-285750">
              <a:buFont typeface="Arial" panose="020B0604020202020204" pitchFamily="34" charset="0"/>
              <a:buChar char="•"/>
            </a:pPr>
            <a:r>
              <a:rPr lang="en-US" dirty="0"/>
              <a:t>How closely do the points fit a straight line? The closer the points are to a straight line, the better the linear model will be and the more confidence we can have in our predictions.</a:t>
            </a:r>
          </a:p>
        </p:txBody>
      </p:sp>
    </p:spTree>
    <p:extLst>
      <p:ext uri="{BB962C8B-B14F-4D97-AF65-F5344CB8AC3E}">
        <p14:creationId xmlns:p14="http://schemas.microsoft.com/office/powerpoint/2010/main" val="123443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anim calcmode="lin" valueType="num">
                                      <p:cBhvr additive="base">
                                        <p:cTn id="24"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xEl>
                                              <p:pRg st="1" end="1"/>
                                            </p:txEl>
                                          </p:spTgt>
                                        </p:tgtEl>
                                        <p:attrNameLst>
                                          <p:attrName>style.visibility</p:attrName>
                                        </p:attrNameLst>
                                      </p:cBhvr>
                                      <p:to>
                                        <p:strVal val="visible"/>
                                      </p:to>
                                    </p:set>
                                    <p:anim calcmode="lin" valueType="num">
                                      <p:cBhvr additive="base">
                                        <p:cTn id="30"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1572961" y="1404096"/>
            <a:ext cx="9046079" cy="1938992"/>
          </a:xfrm>
          <a:prstGeom prst="rect">
            <a:avLst/>
          </a:prstGeom>
        </p:spPr>
        <p:txBody>
          <a:bodyPr wrap="square">
            <a:spAutoFit/>
          </a:bodyPr>
          <a:lstStyle/>
          <a:p>
            <a:pPr marL="342900" indent="-342900">
              <a:buFont typeface="Arial" panose="020B0604020202020204" pitchFamily="34" charset="0"/>
              <a:buChar char="•"/>
            </a:pPr>
            <a:r>
              <a:rPr lang="en-AU" sz="2400" dirty="0"/>
              <a:t>Finally, we need to consider: Are we making a prediction for a value that lies within or without the spread of our known values? </a:t>
            </a:r>
            <a:r>
              <a:rPr lang="en-AU" sz="2400" dirty="0" err="1"/>
              <a:t>I.e</a:t>
            </a:r>
            <a:r>
              <a:rPr lang="en-AU" sz="2400" dirty="0"/>
              <a:t> – does our prediction involve </a:t>
            </a:r>
            <a:r>
              <a:rPr lang="en-AU" sz="2400" b="1" i="1" dirty="0"/>
              <a:t>interpolation</a:t>
            </a:r>
            <a:r>
              <a:rPr lang="en-AU" sz="2400" b="1" dirty="0"/>
              <a:t> </a:t>
            </a:r>
            <a:r>
              <a:rPr lang="en-AU" sz="2400" dirty="0"/>
              <a:t>(between the given points) or </a:t>
            </a:r>
            <a:r>
              <a:rPr lang="en-AU" sz="2400" b="1" i="1" dirty="0"/>
              <a:t>extrapolation</a:t>
            </a:r>
            <a:r>
              <a:rPr lang="en-AU" sz="2400" dirty="0"/>
              <a:t> (beyond the given points)? Predictions involving extrapolation are </a:t>
            </a:r>
            <a:r>
              <a:rPr lang="en-AU" sz="2400" b="1" dirty="0"/>
              <a:t>likely to be less reliable.</a:t>
            </a:r>
            <a:endParaRPr lang="en-AU" sz="2400" dirty="0"/>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1524001" y="2606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pic>
        <p:nvPicPr>
          <p:cNvPr id="9" name="Picture 8" descr="A close up of a map&#10;&#10;Description automatically generated">
            <a:extLst>
              <a:ext uri="{FF2B5EF4-FFF2-40B4-BE49-F238E27FC236}">
                <a16:creationId xmlns:a16="http://schemas.microsoft.com/office/drawing/2014/main" id="{042CFE0E-BBFD-7E4D-9707-BD2590EDD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8589" y="3429000"/>
            <a:ext cx="6804248" cy="3337760"/>
          </a:xfrm>
          <a:prstGeom prst="rect">
            <a:avLst/>
          </a:prstGeom>
        </p:spPr>
      </p:pic>
      <p:sp>
        <p:nvSpPr>
          <p:cNvPr id="3" name="Rectangle 2">
            <a:extLst>
              <a:ext uri="{FF2B5EF4-FFF2-40B4-BE49-F238E27FC236}">
                <a16:creationId xmlns:a16="http://schemas.microsoft.com/office/drawing/2014/main" id="{B02AA645-8F26-438C-8884-8F2710DFEC16}"/>
              </a:ext>
            </a:extLst>
          </p:cNvPr>
          <p:cNvSpPr/>
          <p:nvPr/>
        </p:nvSpPr>
        <p:spPr>
          <a:xfrm>
            <a:off x="2530136" y="3595456"/>
            <a:ext cx="2965142" cy="63031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sp>
        <p:nvSpPr>
          <p:cNvPr id="13" name="Rectangle 12">
            <a:extLst>
              <a:ext uri="{FF2B5EF4-FFF2-40B4-BE49-F238E27FC236}">
                <a16:creationId xmlns:a16="http://schemas.microsoft.com/office/drawing/2014/main" id="{B5C02988-A26B-4699-925B-350C4BDE5FD6}"/>
              </a:ext>
            </a:extLst>
          </p:cNvPr>
          <p:cNvSpPr/>
          <p:nvPr/>
        </p:nvSpPr>
        <p:spPr>
          <a:xfrm>
            <a:off x="2530136" y="4305670"/>
            <a:ext cx="3497802" cy="53266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spTree>
    <p:extLst>
      <p:ext uri="{BB962C8B-B14F-4D97-AF65-F5344CB8AC3E}">
        <p14:creationId xmlns:p14="http://schemas.microsoft.com/office/powerpoint/2010/main" val="362908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1621921" y="1412776"/>
            <a:ext cx="8925430" cy="923330"/>
          </a:xfrm>
          <a:prstGeom prst="rect">
            <a:avLst/>
          </a:prstGeom>
        </p:spPr>
        <p:txBody>
          <a:bodyPr wrap="square">
            <a:spAutoFit/>
          </a:bodyPr>
          <a:lstStyle/>
          <a:p>
            <a:r>
              <a:rPr lang="en-AU" dirty="0"/>
              <a:t>Let’s apply all of this to our earlier prediction that a country with a consumption of 45kg of a particular foodstuff will have a death rate due to heart disease of approx. 230 deaths per year per 100,000 people:</a:t>
            </a:r>
          </a:p>
        </p:txBody>
      </p:sp>
      <p:sp>
        <p:nvSpPr>
          <p:cNvPr id="5"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1524001" y="2606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13" name="TextBox 12">
            <a:extLst>
              <a:ext uri="{FF2B5EF4-FFF2-40B4-BE49-F238E27FC236}">
                <a16:creationId xmlns:a16="http://schemas.microsoft.com/office/drawing/2014/main" id="{87746014-EBC8-264C-B492-4CBE455E7BF6}"/>
              </a:ext>
            </a:extLst>
          </p:cNvPr>
          <p:cNvSpPr txBox="1"/>
          <p:nvPr/>
        </p:nvSpPr>
        <p:spPr>
          <a:xfrm>
            <a:off x="6124597" y="2636014"/>
            <a:ext cx="4307335" cy="2862322"/>
          </a:xfrm>
          <a:prstGeom prst="rect">
            <a:avLst/>
          </a:prstGeom>
          <a:noFill/>
        </p:spPr>
        <p:txBody>
          <a:bodyPr wrap="square" rtlCol="0">
            <a:spAutoFit/>
          </a:bodyPr>
          <a:lstStyle/>
          <a:p>
            <a:r>
              <a:rPr lang="en-US" dirty="0"/>
              <a:t>We can be reasonably confident in this prediction because:</a:t>
            </a:r>
          </a:p>
          <a:p>
            <a:endParaRPr lang="en-US" dirty="0"/>
          </a:p>
          <a:p>
            <a:pPr marL="285750" indent="-285750">
              <a:buFont typeface="Arial" panose="020B0604020202020204" pitchFamily="34" charset="0"/>
              <a:buChar char="•"/>
            </a:pPr>
            <a:r>
              <a:rPr lang="en-US" dirty="0"/>
              <a:t>The graph </a:t>
            </a:r>
            <a:r>
              <a:rPr lang="en-US" i="1" dirty="0"/>
              <a:t>does</a:t>
            </a:r>
            <a:r>
              <a:rPr lang="en-US" dirty="0"/>
              <a:t> suggest a linear model could be appropriate</a:t>
            </a:r>
          </a:p>
          <a:p>
            <a:pPr marL="285750" indent="-285750">
              <a:buFont typeface="Arial" panose="020B0604020202020204" pitchFamily="34" charset="0"/>
              <a:buChar char="•"/>
            </a:pPr>
            <a:r>
              <a:rPr lang="en-US" dirty="0"/>
              <a:t>The graph involves a reasonable number of data points</a:t>
            </a:r>
          </a:p>
          <a:p>
            <a:pPr marL="285750" indent="-285750">
              <a:buFont typeface="Arial" panose="020B0604020202020204" pitchFamily="34" charset="0"/>
              <a:buChar char="•"/>
            </a:pPr>
            <a:r>
              <a:rPr lang="en-US" dirty="0"/>
              <a:t>The figure of 45kg/person per year is </a:t>
            </a:r>
            <a:r>
              <a:rPr lang="en-US" i="1" dirty="0"/>
              <a:t>within</a:t>
            </a:r>
            <a:r>
              <a:rPr lang="en-US" dirty="0"/>
              <a:t> the values covered by the given data, therefore interpolation is involved</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7" name="Ink 16">
                <a:extLst>
                  <a:ext uri="{FF2B5EF4-FFF2-40B4-BE49-F238E27FC236}">
                    <a16:creationId xmlns:a16="http://schemas.microsoft.com/office/drawing/2014/main" id="{EDEA5908-5D2B-124B-8EDC-8504FEE250BB}"/>
                  </a:ext>
                </a:extLst>
              </p14:cNvPr>
              <p14:cNvContentPartPr/>
              <p14:nvPr/>
            </p14:nvContentPartPr>
            <p14:xfrm>
              <a:off x="5237006" y="2258469"/>
              <a:ext cx="360" cy="360"/>
            </p14:xfrm>
          </p:contentPart>
        </mc:Choice>
        <mc:Fallback xmlns="">
          <p:pic>
            <p:nvPicPr>
              <p:cNvPr id="17" name="Ink 16">
                <a:extLst>
                  <a:ext uri="{FF2B5EF4-FFF2-40B4-BE49-F238E27FC236}">
                    <a16:creationId xmlns:a16="http://schemas.microsoft.com/office/drawing/2014/main" id="{EDEA5908-5D2B-124B-8EDC-8504FEE250BB}"/>
                  </a:ext>
                </a:extLst>
              </p:cNvPr>
              <p:cNvPicPr/>
              <p:nvPr/>
            </p:nvPicPr>
            <p:blipFill>
              <a:blip r:embed="rId3"/>
              <a:stretch>
                <a:fillRect/>
              </a:stretch>
            </p:blipFill>
            <p:spPr>
              <a:xfrm>
                <a:off x="5219006" y="2150469"/>
                <a:ext cx="36000" cy="216000"/>
              </a:xfrm>
              <a:prstGeom prst="rect">
                <a:avLst/>
              </a:prstGeom>
            </p:spPr>
          </p:pic>
        </mc:Fallback>
      </mc:AlternateContent>
      <p:pic>
        <p:nvPicPr>
          <p:cNvPr id="16" name="Picture 15" descr="A close up of a map&#10;&#10;Description automatically generated">
            <a:extLst>
              <a:ext uri="{FF2B5EF4-FFF2-40B4-BE49-F238E27FC236}">
                <a16:creationId xmlns:a16="http://schemas.microsoft.com/office/drawing/2014/main" id="{A8FCF702-FAE7-FF47-8281-4649B9B56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312" y="2437310"/>
            <a:ext cx="4423860" cy="4274181"/>
          </a:xfrm>
          <a:prstGeom prst="rect">
            <a:avLst/>
          </a:prstGeom>
        </p:spPr>
      </p:pic>
    </p:spTree>
    <p:extLst>
      <p:ext uri="{BB962C8B-B14F-4D97-AF65-F5344CB8AC3E}">
        <p14:creationId xmlns:p14="http://schemas.microsoft.com/office/powerpoint/2010/main" val="314932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 calcmode="lin" valueType="num">
                                      <p:cBhvr additive="base">
                                        <p:cTn id="1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 calcmode="lin" valueType="num">
                                      <p:cBhvr additive="base">
                                        <p:cTn id="31"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TextBox 4">
            <a:extLst>
              <a:ext uri="{FF2B5EF4-FFF2-40B4-BE49-F238E27FC236}">
                <a16:creationId xmlns:a16="http://schemas.microsoft.com/office/drawing/2014/main" id="{4BCFA7F2-F390-1A4A-83E9-9E2CE6A89D14}"/>
              </a:ext>
            </a:extLst>
          </p:cNvPr>
          <p:cNvSpPr txBox="1"/>
          <p:nvPr/>
        </p:nvSpPr>
        <p:spPr>
          <a:xfrm>
            <a:off x="2193536" y="1844825"/>
            <a:ext cx="7920881" cy="1384995"/>
          </a:xfrm>
          <a:prstGeom prst="rect">
            <a:avLst/>
          </a:prstGeom>
          <a:noFill/>
        </p:spPr>
        <p:txBody>
          <a:bodyPr wrap="square" rtlCol="0">
            <a:spAutoFit/>
          </a:bodyPr>
          <a:lstStyle/>
          <a:p>
            <a:pPr algn="ctr"/>
            <a:r>
              <a:rPr lang="en-US" sz="2800" dirty="0"/>
              <a:t>Please complete Sadler Unit 3 Exercise 1C </a:t>
            </a:r>
            <a:r>
              <a:rPr lang="en-US" sz="2800" b="1" dirty="0"/>
              <a:t>(odd numbers only)</a:t>
            </a:r>
            <a:r>
              <a:rPr lang="en-US" sz="2800" dirty="0"/>
              <a:t> in class and Miscellaneous Exercise 1 for homework</a:t>
            </a:r>
          </a:p>
        </p:txBody>
      </p:sp>
      <p:sp>
        <p:nvSpPr>
          <p:cNvPr id="12" name="TextBox 11">
            <a:extLst>
              <a:ext uri="{FF2B5EF4-FFF2-40B4-BE49-F238E27FC236}">
                <a16:creationId xmlns:a16="http://schemas.microsoft.com/office/drawing/2014/main" id="{C6F76413-13E8-BA4F-B794-B5D62F7DD99F}"/>
              </a:ext>
            </a:extLst>
          </p:cNvPr>
          <p:cNvSpPr txBox="1"/>
          <p:nvPr/>
        </p:nvSpPr>
        <p:spPr>
          <a:xfrm>
            <a:off x="1617471" y="849908"/>
            <a:ext cx="8620422" cy="461665"/>
          </a:xfrm>
          <a:prstGeom prst="rect">
            <a:avLst/>
          </a:prstGeom>
          <a:noFill/>
        </p:spPr>
        <p:txBody>
          <a:bodyPr wrap="square" rtlCol="0">
            <a:spAutoFit/>
          </a:bodyPr>
          <a:lstStyle/>
          <a:p>
            <a:r>
              <a:rPr lang="en-AU" sz="2400" dirty="0"/>
              <a:t>EQ – How can I display numerical data more suitably? </a:t>
            </a:r>
          </a:p>
        </p:txBody>
      </p:sp>
    </p:spTree>
    <p:extLst>
      <p:ext uri="{BB962C8B-B14F-4D97-AF65-F5344CB8AC3E}">
        <p14:creationId xmlns:p14="http://schemas.microsoft.com/office/powerpoint/2010/main" val="207838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B6B7-27FC-4FDA-AF26-CCF610CD1846}"/>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400"/>
              <a:t>Well done on completing chapter 1</a:t>
            </a:r>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a:extLst>
              <a:ext uri="{FF2B5EF4-FFF2-40B4-BE49-F238E27FC236}">
                <a16:creationId xmlns:a16="http://schemas.microsoft.com/office/drawing/2014/main" id="{6502414F-6155-45A3-9DDD-28A00AEC3D3B}"/>
              </a:ext>
            </a:extLst>
          </p:cNvPr>
          <p:cNvPicPr>
            <a:picLocks noGrp="1" noChangeAspect="1"/>
          </p:cNvPicPr>
          <p:nvPr>
            <p:ph idx="1"/>
          </p:nvPr>
        </p:nvPicPr>
        <p:blipFill rotWithShape="1">
          <a:blip r:embed="rId2"/>
          <a:srcRect r="1" b="2427"/>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6" name="Rectangle 5">
            <a:hlinkClick r:id="rId3" action="ppaction://hlinksldjump"/>
            <a:extLst>
              <a:ext uri="{FF2B5EF4-FFF2-40B4-BE49-F238E27FC236}">
                <a16:creationId xmlns:a16="http://schemas.microsoft.com/office/drawing/2014/main" id="{5EBFC4B0-F71E-4ED5-9246-F192DB0DA7CD}"/>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3208722328"/>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4 </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a:xfrm>
            <a:off x="838200" y="1267326"/>
            <a:ext cx="10515600" cy="6336631"/>
          </a:xfrm>
        </p:spPr>
        <p:txBody>
          <a:bodyPr>
            <a:normAutofit/>
          </a:bodyPr>
          <a:lstStyle/>
          <a:p>
            <a:pPr marL="0" indent="0">
              <a:buNone/>
            </a:pPr>
            <a:r>
              <a:rPr lang="en-AU" dirty="0"/>
              <a:t>Topic: Lines of best fit</a:t>
            </a:r>
          </a:p>
          <a:p>
            <a:pPr marL="0" indent="0">
              <a:buNone/>
            </a:pPr>
            <a:r>
              <a:rPr lang="en-AU" dirty="0"/>
              <a:t>EQ: How can we interpret the values in a line of best fit?</a:t>
            </a:r>
          </a:p>
          <a:p>
            <a:pPr marL="0" indent="0">
              <a:buNone/>
            </a:pPr>
            <a:endParaRPr lang="en-AU" dirty="0"/>
          </a:p>
          <a:p>
            <a:pPr marL="0" indent="0">
              <a:buNone/>
            </a:pPr>
            <a:r>
              <a:rPr lang="en-AU" dirty="0"/>
              <a:t>Syllabus points:</a:t>
            </a:r>
          </a:p>
          <a:p>
            <a:pPr marL="0" indent="0">
              <a:buNone/>
            </a:pPr>
            <a:r>
              <a:rPr lang="en-AU" sz="2000" dirty="0"/>
              <a:t>3.1.5	construct a scatterplot to identify patterns in the data suggesting the presence of an association </a:t>
            </a:r>
          </a:p>
          <a:p>
            <a:pPr marL="0" indent="0">
              <a:buNone/>
            </a:pPr>
            <a:r>
              <a:rPr lang="en-AU" sz="2000" dirty="0"/>
              <a:t>3.1.6	describe an association between two numerical variables in terms of direction (positive/negative), form (linear/non-linear) and strength (strong/moderate/weak) </a:t>
            </a:r>
          </a:p>
          <a:p>
            <a:pPr marL="0" indent="0">
              <a:buNone/>
            </a:pPr>
            <a:r>
              <a:rPr lang="en-AU" sz="2000" dirty="0"/>
              <a:t>3.1.10 model a linear relationship by fitting a least-squares line to the data</a:t>
            </a:r>
          </a:p>
          <a:p>
            <a:pPr marL="0" indent="0">
              <a:buNone/>
            </a:pPr>
            <a:r>
              <a:rPr lang="en-AU" sz="2000" dirty="0"/>
              <a:t>3.1.12 interpret the intercept and slope of the fitted line </a:t>
            </a:r>
          </a:p>
          <a:p>
            <a:pPr marL="0" indent="0">
              <a:buNone/>
            </a:pPr>
            <a:r>
              <a:rPr lang="en-AU" sz="2000" dirty="0"/>
              <a:t>3.1.14 use the equation of a fitted line to make predictions </a:t>
            </a:r>
          </a:p>
          <a:p>
            <a:pPr marL="0" indent="0">
              <a:buNone/>
            </a:pPr>
            <a:r>
              <a:rPr lang="en-AU" sz="2000" dirty="0"/>
              <a:t>3.1.15	distinguish between interpolation and extrapolation when using the fitted line to make predictions, recognising the potential dangers of extrapolation </a:t>
            </a:r>
          </a:p>
          <a:p>
            <a:pPr marL="0" indent="0">
              <a:buNone/>
            </a:pPr>
            <a:endParaRPr lang="en-AU" dirty="0"/>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2E49DFCF-BE37-40B6-B60F-A375387C1390}"/>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3428922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39617" y="172798"/>
            <a:ext cx="2262927" cy="523220"/>
          </a:xfrm>
          <a:prstGeom prst="rect">
            <a:avLst/>
          </a:prstGeom>
          <a:noFill/>
        </p:spPr>
        <p:txBody>
          <a:bodyPr wrap="none" rtlCol="0">
            <a:spAutoFit/>
          </a:bodyPr>
          <a:lstStyle/>
          <a:p>
            <a:r>
              <a:rPr lang="en-AU" sz="2800" dirty="0"/>
              <a:t>Line of best fit</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12" name="TextBox 11">
            <a:extLst>
              <a:ext uri="{FF2B5EF4-FFF2-40B4-BE49-F238E27FC236}">
                <a16:creationId xmlns:a16="http://schemas.microsoft.com/office/drawing/2014/main" id="{C6F76413-13E8-BA4F-B794-B5D62F7DD99F}"/>
              </a:ext>
            </a:extLst>
          </p:cNvPr>
          <p:cNvSpPr txBox="1"/>
          <p:nvPr/>
        </p:nvSpPr>
        <p:spPr>
          <a:xfrm>
            <a:off x="1617471" y="849908"/>
            <a:ext cx="8620422" cy="461665"/>
          </a:xfrm>
          <a:prstGeom prst="rect">
            <a:avLst/>
          </a:prstGeom>
          <a:noFill/>
        </p:spPr>
        <p:txBody>
          <a:bodyPr wrap="square" rtlCol="0">
            <a:spAutoFit/>
          </a:bodyPr>
          <a:lstStyle/>
          <a:p>
            <a:r>
              <a:rPr lang="en-AU" sz="2400" dirty="0"/>
              <a:t>EQ –How can we interpret the values in a line of best fit?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366252-CEF6-4F96-8E31-382162795F1F}"/>
                  </a:ext>
                </a:extLst>
              </p:cNvPr>
              <p:cNvSpPr txBox="1"/>
              <p:nvPr/>
            </p:nvSpPr>
            <p:spPr>
              <a:xfrm>
                <a:off x="2190872" y="1642403"/>
                <a:ext cx="7667503" cy="1754326"/>
              </a:xfrm>
              <a:prstGeom prst="rect">
                <a:avLst/>
              </a:prstGeom>
              <a:noFill/>
            </p:spPr>
            <p:txBody>
              <a:bodyPr wrap="square" rtlCol="0">
                <a:spAutoFit/>
              </a:bodyPr>
              <a:lstStyle/>
              <a:p>
                <a:r>
                  <a:rPr lang="en-AU" dirty="0"/>
                  <a:t>Line of best fit for linear models use the general formula </a:t>
                </a:r>
                <a14:m>
                  <m:oMath xmlns:m="http://schemas.openxmlformats.org/officeDocument/2006/math">
                    <m:acc>
                      <m:accPr>
                        <m:chr m:val="̂"/>
                        <m:ctrlPr>
                          <a:rPr lang="en-AU" i="1" smtClean="0">
                            <a:latin typeface="Cambria Math" panose="02040503050406030204" pitchFamily="18" charset="0"/>
                          </a:rPr>
                        </m:ctrlPr>
                      </m:accPr>
                      <m:e>
                        <m:r>
                          <a:rPr lang="en-AU" b="0" i="1" smtClean="0">
                            <a:latin typeface="Cambria Math" panose="02040503050406030204" pitchFamily="18" charset="0"/>
                          </a:rPr>
                          <m:t>𝑦</m:t>
                        </m:r>
                      </m:e>
                    </m:acc>
                    <m:r>
                      <a:rPr lang="en-AU" b="0" i="1" smtClean="0">
                        <a:latin typeface="Cambria Math" panose="02040503050406030204" pitchFamily="18" charset="0"/>
                      </a:rPr>
                      <m:t>=</m:t>
                    </m:r>
                    <m:r>
                      <a:rPr lang="en-AU" b="0" i="1" smtClean="0">
                        <a:latin typeface="Cambria Math" panose="02040503050406030204" pitchFamily="18" charset="0"/>
                      </a:rPr>
                      <m:t>𝑚𝑥</m:t>
                    </m:r>
                    <m:r>
                      <a:rPr lang="en-AU" b="0" i="1" smtClean="0">
                        <a:latin typeface="Cambria Math" panose="02040503050406030204" pitchFamily="18" charset="0"/>
                      </a:rPr>
                      <m:t>+</m:t>
                    </m:r>
                    <m:r>
                      <a:rPr lang="en-AU" b="0" i="1" smtClean="0">
                        <a:latin typeface="Cambria Math" panose="02040503050406030204" pitchFamily="18" charset="0"/>
                      </a:rPr>
                      <m:t>𝑐</m:t>
                    </m:r>
                  </m:oMath>
                </a14:m>
                <a:endParaRPr lang="en-AU" dirty="0"/>
              </a:p>
              <a:p>
                <a:endParaRPr lang="en-AU" dirty="0"/>
              </a:p>
              <a:p>
                <a:endParaRPr lang="en-AU" dirty="0"/>
              </a:p>
              <a:p>
                <a:r>
                  <a:rPr lang="en-AU" dirty="0"/>
                  <a:t>You can describe the correlation based on direction (positive/negative), strength (Strong, moderate, weak), type of relationship (linear/nonlinear), or no relationship. (examples on the next slide)</a:t>
                </a:r>
              </a:p>
            </p:txBody>
          </p:sp>
        </mc:Choice>
        <mc:Fallback xmlns="">
          <p:sp>
            <p:nvSpPr>
              <p:cNvPr id="2" name="TextBox 1">
                <a:extLst>
                  <a:ext uri="{FF2B5EF4-FFF2-40B4-BE49-F238E27FC236}">
                    <a16:creationId xmlns:a16="http://schemas.microsoft.com/office/drawing/2014/main" id="{AA366252-CEF6-4F96-8E31-382162795F1F}"/>
                  </a:ext>
                </a:extLst>
              </p:cNvPr>
              <p:cNvSpPr txBox="1">
                <a:spLocks noRot="1" noChangeAspect="1" noMove="1" noResize="1" noEditPoints="1" noAdjustHandles="1" noChangeArrowheads="1" noChangeShapeType="1" noTextEdit="1"/>
              </p:cNvSpPr>
              <p:nvPr/>
            </p:nvSpPr>
            <p:spPr>
              <a:xfrm>
                <a:off x="2190872" y="1642403"/>
                <a:ext cx="7667503" cy="1754326"/>
              </a:xfrm>
              <a:prstGeom prst="rect">
                <a:avLst/>
              </a:prstGeom>
              <a:blipFill>
                <a:blip r:embed="rId2"/>
                <a:stretch>
                  <a:fillRect l="-636" t="-1736" r="-954" b="-4514"/>
                </a:stretch>
              </a:blipFill>
            </p:spPr>
            <p:txBody>
              <a:bodyPr/>
              <a:lstStyle/>
              <a:p>
                <a:r>
                  <a:rPr lang="en-AU">
                    <a:noFill/>
                  </a:rPr>
                  <a:t> </a:t>
                </a:r>
              </a:p>
            </p:txBody>
          </p:sp>
        </mc:Fallback>
      </mc:AlternateContent>
    </p:spTree>
    <p:extLst>
      <p:ext uri="{BB962C8B-B14F-4D97-AF65-F5344CB8AC3E}">
        <p14:creationId xmlns:p14="http://schemas.microsoft.com/office/powerpoint/2010/main" val="3005804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59685BE-5138-479F-BAD9-7DD06D5971A4}"/>
              </a:ext>
            </a:extLst>
          </p:cNvPr>
          <p:cNvPicPr>
            <a:picLocks noGrp="1" noChangeAspect="1"/>
          </p:cNvPicPr>
          <p:nvPr>
            <p:ph idx="1"/>
          </p:nvPr>
        </p:nvPicPr>
        <p:blipFill>
          <a:blip r:embed="rId2"/>
          <a:stretch>
            <a:fillRect/>
          </a:stretch>
        </p:blipFill>
        <p:spPr>
          <a:xfrm>
            <a:off x="1780229" y="473896"/>
            <a:ext cx="8631541" cy="5550667"/>
          </a:xfrm>
          <a:prstGeom prst="rect">
            <a:avLst/>
          </a:prstGeom>
        </p:spPr>
      </p:pic>
    </p:spTree>
    <p:extLst>
      <p:ext uri="{BB962C8B-B14F-4D97-AF65-F5344CB8AC3E}">
        <p14:creationId xmlns:p14="http://schemas.microsoft.com/office/powerpoint/2010/main" val="687332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598CE8-B6DF-4E95-9D1C-EC20001EB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19C379-8DAE-4742-AAD2-F744F2E25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228C900-F618-4D03-8CBB-48706F092E12}"/>
              </a:ext>
            </a:extLst>
          </p:cNvPr>
          <p:cNvSpPr>
            <a:spLocks noGrp="1"/>
          </p:cNvSpPr>
          <p:nvPr>
            <p:ph type="title"/>
          </p:nvPr>
        </p:nvSpPr>
        <p:spPr>
          <a:xfrm>
            <a:off x="838199" y="1040400"/>
            <a:ext cx="10518775" cy="707886"/>
          </a:xfrm>
        </p:spPr>
        <p:txBody>
          <a:bodyPr anchor="b">
            <a:normAutofit/>
          </a:bodyPr>
          <a:lstStyle/>
          <a:p>
            <a:r>
              <a:rPr lang="en-AU" sz="4000">
                <a:solidFill>
                  <a:schemeClr val="bg1"/>
                </a:solidFill>
              </a:rPr>
              <a:t>Example</a:t>
            </a:r>
          </a:p>
        </p:txBody>
      </p:sp>
      <p:grpSp>
        <p:nvGrpSpPr>
          <p:cNvPr id="13" name="Group 12">
            <a:extLst>
              <a:ext uri="{FF2B5EF4-FFF2-40B4-BE49-F238E27FC236}">
                <a16:creationId xmlns:a16="http://schemas.microsoft.com/office/drawing/2014/main" id="{EA20C30D-2B42-4BE9-802E-1B5C3DE17E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0" y="2027156"/>
            <a:ext cx="12192000" cy="757168"/>
            <a:chOff x="0" y="2959818"/>
            <a:chExt cx="12192000" cy="757168"/>
          </a:xfrm>
        </p:grpSpPr>
        <p:sp>
          <p:nvSpPr>
            <p:cNvPr id="14" name="Freeform: Shape 13">
              <a:extLst>
                <a:ext uri="{FF2B5EF4-FFF2-40B4-BE49-F238E27FC236}">
                  <a16:creationId xmlns:a16="http://schemas.microsoft.com/office/drawing/2014/main" id="{BB4622B8-D880-45F9-B01D-9CC7F29A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7F82728-9FC7-477A-AB1B-F202E55124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4" name="Content Placeholder 3">
            <a:extLst>
              <a:ext uri="{FF2B5EF4-FFF2-40B4-BE49-F238E27FC236}">
                <a16:creationId xmlns:a16="http://schemas.microsoft.com/office/drawing/2014/main" id="{5DA7CC71-809E-4D25-9BD9-18FB251A3F93}"/>
              </a:ext>
            </a:extLst>
          </p:cNvPr>
          <p:cNvGraphicFramePr>
            <a:graphicFrameLocks noGrp="1"/>
          </p:cNvGraphicFramePr>
          <p:nvPr>
            <p:ph idx="1"/>
            <p:extLst>
              <p:ext uri="{D42A27DB-BD31-4B8C-83A1-F6EECF244321}">
                <p14:modId xmlns:p14="http://schemas.microsoft.com/office/powerpoint/2010/main" val="1286928089"/>
              </p:ext>
            </p:extLst>
          </p:nvPr>
        </p:nvGraphicFramePr>
        <p:xfrm>
          <a:off x="1095651" y="2533834"/>
          <a:ext cx="10125722" cy="892324"/>
        </p:xfrm>
        <a:graphic>
          <a:graphicData uri="http://schemas.openxmlformats.org/drawingml/2006/table">
            <a:tbl>
              <a:tblPr firstRow="1" firstCol="1" bandRow="1"/>
              <a:tblGrid>
                <a:gridCol w="1457512">
                  <a:extLst>
                    <a:ext uri="{9D8B030D-6E8A-4147-A177-3AD203B41FA5}">
                      <a16:colId xmlns:a16="http://schemas.microsoft.com/office/drawing/2014/main" val="3695625101"/>
                    </a:ext>
                  </a:extLst>
                </a:gridCol>
                <a:gridCol w="866821">
                  <a:extLst>
                    <a:ext uri="{9D8B030D-6E8A-4147-A177-3AD203B41FA5}">
                      <a16:colId xmlns:a16="http://schemas.microsoft.com/office/drawing/2014/main" val="1202627862"/>
                    </a:ext>
                  </a:extLst>
                </a:gridCol>
                <a:gridCol w="866821">
                  <a:extLst>
                    <a:ext uri="{9D8B030D-6E8A-4147-A177-3AD203B41FA5}">
                      <a16:colId xmlns:a16="http://schemas.microsoft.com/office/drawing/2014/main" val="2754217883"/>
                    </a:ext>
                  </a:extLst>
                </a:gridCol>
                <a:gridCol w="866821">
                  <a:extLst>
                    <a:ext uri="{9D8B030D-6E8A-4147-A177-3AD203B41FA5}">
                      <a16:colId xmlns:a16="http://schemas.microsoft.com/office/drawing/2014/main" val="2236070648"/>
                    </a:ext>
                  </a:extLst>
                </a:gridCol>
                <a:gridCol w="866821">
                  <a:extLst>
                    <a:ext uri="{9D8B030D-6E8A-4147-A177-3AD203B41FA5}">
                      <a16:colId xmlns:a16="http://schemas.microsoft.com/office/drawing/2014/main" val="1130626589"/>
                    </a:ext>
                  </a:extLst>
                </a:gridCol>
                <a:gridCol w="866821">
                  <a:extLst>
                    <a:ext uri="{9D8B030D-6E8A-4147-A177-3AD203B41FA5}">
                      <a16:colId xmlns:a16="http://schemas.microsoft.com/office/drawing/2014/main" val="421014371"/>
                    </a:ext>
                  </a:extLst>
                </a:gridCol>
                <a:gridCol w="866821">
                  <a:extLst>
                    <a:ext uri="{9D8B030D-6E8A-4147-A177-3AD203B41FA5}">
                      <a16:colId xmlns:a16="http://schemas.microsoft.com/office/drawing/2014/main" val="3599305878"/>
                    </a:ext>
                  </a:extLst>
                </a:gridCol>
                <a:gridCol w="866821">
                  <a:extLst>
                    <a:ext uri="{9D8B030D-6E8A-4147-A177-3AD203B41FA5}">
                      <a16:colId xmlns:a16="http://schemas.microsoft.com/office/drawing/2014/main" val="3742587230"/>
                    </a:ext>
                  </a:extLst>
                </a:gridCol>
                <a:gridCol w="866821">
                  <a:extLst>
                    <a:ext uri="{9D8B030D-6E8A-4147-A177-3AD203B41FA5}">
                      <a16:colId xmlns:a16="http://schemas.microsoft.com/office/drawing/2014/main" val="151099633"/>
                    </a:ext>
                  </a:extLst>
                </a:gridCol>
                <a:gridCol w="866821">
                  <a:extLst>
                    <a:ext uri="{9D8B030D-6E8A-4147-A177-3AD203B41FA5}">
                      <a16:colId xmlns:a16="http://schemas.microsoft.com/office/drawing/2014/main" val="838769892"/>
                    </a:ext>
                  </a:extLst>
                </a:gridCol>
                <a:gridCol w="866821">
                  <a:extLst>
                    <a:ext uri="{9D8B030D-6E8A-4147-A177-3AD203B41FA5}">
                      <a16:colId xmlns:a16="http://schemas.microsoft.com/office/drawing/2014/main" val="2367474157"/>
                    </a:ext>
                  </a:extLst>
                </a:gridCol>
              </a:tblGrid>
              <a:tr h="378585">
                <a:tc>
                  <a:txBody>
                    <a:bodyPr/>
                    <a:lstStyle/>
                    <a:p>
                      <a:pPr algn="l" fontAlgn="t">
                        <a:lnSpc>
                          <a:spcPct val="107000"/>
                        </a:lnSpc>
                        <a:spcBef>
                          <a:spcPts val="0"/>
                        </a:spcBef>
                        <a:spcAft>
                          <a:spcPts val="0"/>
                        </a:spcAft>
                      </a:pPr>
                      <a:r>
                        <a:rPr lang="en-AU" sz="2600" b="0" i="0" u="none" strike="noStrike" dirty="0">
                          <a:effectLst/>
                          <a:latin typeface="Calibri" panose="020F0502020204030204" pitchFamily="34" charset="0"/>
                          <a:ea typeface="Calibri" panose="020F0502020204030204" pitchFamily="34" charset="0"/>
                          <a:cs typeface="Times New Roman" panose="02020603050405020304" pitchFamily="18" charset="0"/>
                        </a:rPr>
                        <a:t>Physics</a:t>
                      </a:r>
                      <a:endParaRPr lang="en-AU" sz="4200" b="0" i="0" u="none" strike="noStrike" dirty="0">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6</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9</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11</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12</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14</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14</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16</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16</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17</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19</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0981003"/>
                  </a:ext>
                </a:extLst>
              </a:tr>
              <a:tr h="378585">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Maths</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19</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12</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dirty="0">
                          <a:effectLst/>
                          <a:latin typeface="Calibri" panose="020F0502020204030204" pitchFamily="34" charset="0"/>
                          <a:ea typeface="Calibri" panose="020F0502020204030204" pitchFamily="34" charset="0"/>
                          <a:cs typeface="Times New Roman" panose="02020603050405020304" pitchFamily="18" charset="0"/>
                        </a:rPr>
                        <a:t>27</a:t>
                      </a:r>
                      <a:endParaRPr lang="en-AU" sz="4200" b="0" i="0" u="none" strike="noStrike" dirty="0">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36</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42</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34</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32</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dirty="0">
                          <a:effectLst/>
                          <a:latin typeface="Calibri" panose="020F0502020204030204" pitchFamily="34" charset="0"/>
                          <a:ea typeface="Calibri" panose="020F0502020204030204" pitchFamily="34" charset="0"/>
                          <a:cs typeface="Times New Roman" panose="02020603050405020304" pitchFamily="18" charset="0"/>
                        </a:rPr>
                        <a:t>27</a:t>
                      </a:r>
                      <a:endParaRPr lang="en-AU" sz="4200" b="0" i="0" u="none" strike="noStrike" dirty="0">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a:effectLst/>
                          <a:latin typeface="Calibri" panose="020F0502020204030204" pitchFamily="34" charset="0"/>
                          <a:ea typeface="Calibri" panose="020F0502020204030204" pitchFamily="34" charset="0"/>
                          <a:cs typeface="Times New Roman" panose="02020603050405020304" pitchFamily="18" charset="0"/>
                        </a:rPr>
                        <a:t>44</a:t>
                      </a:r>
                      <a:endParaRPr lang="en-AU" sz="4200" b="0" i="0" u="none" strike="noStrike">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0"/>
                        </a:spcAft>
                      </a:pPr>
                      <a:r>
                        <a:rPr lang="en-AU" sz="2600" b="0" i="0" u="none" strike="noStrike" dirty="0">
                          <a:effectLst/>
                          <a:latin typeface="Calibri" panose="020F0502020204030204" pitchFamily="34" charset="0"/>
                          <a:ea typeface="Calibri" panose="020F0502020204030204" pitchFamily="34" charset="0"/>
                          <a:cs typeface="Times New Roman" panose="02020603050405020304" pitchFamily="18" charset="0"/>
                        </a:rPr>
                        <a:t>41</a:t>
                      </a:r>
                      <a:endParaRPr lang="en-AU" sz="4200" b="0" i="0" u="none" strike="noStrike" dirty="0">
                        <a:effectLst/>
                        <a:latin typeface="Arial" panose="020B0604020202020204" pitchFamily="34" charset="0"/>
                      </a:endParaRPr>
                    </a:p>
                  </a:txBody>
                  <a:tcPr marL="159641" marR="159641" marT="221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644581"/>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210085-42C6-4E32-9C71-07331299B277}"/>
                  </a:ext>
                </a:extLst>
              </p:cNvPr>
              <p:cNvSpPr txBox="1"/>
              <p:nvPr/>
            </p:nvSpPr>
            <p:spPr>
              <a:xfrm>
                <a:off x="1580226" y="3431842"/>
                <a:ext cx="8332448" cy="3693319"/>
              </a:xfrm>
              <a:prstGeom prst="rect">
                <a:avLst/>
              </a:prstGeom>
              <a:noFill/>
            </p:spPr>
            <p:txBody>
              <a:bodyPr wrap="square" rtlCol="0">
                <a:spAutoFit/>
              </a:bodyPr>
              <a:lstStyle/>
              <a:p>
                <a:r>
                  <a:rPr lang="en-AU" dirty="0"/>
                  <a:t>Steps</a:t>
                </a:r>
              </a:p>
              <a:p>
                <a:pPr marL="342900" indent="-342900">
                  <a:buAutoNum type="arabicPeriod"/>
                </a:pPr>
                <a:r>
                  <a:rPr lang="en-AU" dirty="0"/>
                  <a:t>Enter data into </a:t>
                </a:r>
                <a:r>
                  <a:rPr lang="en-AU" dirty="0" err="1"/>
                  <a:t>classpad</a:t>
                </a:r>
                <a:r>
                  <a:rPr lang="en-AU" dirty="0"/>
                  <a:t> in statistics (list 1 is physics, list 2 is maths)</a:t>
                </a:r>
              </a:p>
              <a:p>
                <a:pPr marL="342900" indent="-342900">
                  <a:buAutoNum type="arabicPeriod"/>
                </a:pPr>
                <a:r>
                  <a:rPr lang="en-AU" dirty="0"/>
                  <a:t> Calc -&gt; regression -&gt; Linear reg </a:t>
                </a:r>
              </a:p>
              <a:p>
                <a:pPr marL="342900" indent="-342900">
                  <a:buAutoNum type="arabicPeriod"/>
                </a:pPr>
                <a:r>
                  <a:rPr lang="en-AU" dirty="0"/>
                  <a:t>Write out equation </a:t>
                </a:r>
                <a14:m>
                  <m:oMath xmlns:m="http://schemas.openxmlformats.org/officeDocument/2006/math">
                    <m:acc>
                      <m:accPr>
                        <m:chr m:val="̂"/>
                        <m:ctrlPr>
                          <a:rPr lang="en-AU" i="1">
                            <a:latin typeface="Cambria Math" panose="02040503050406030204" pitchFamily="18" charset="0"/>
                          </a:rPr>
                        </m:ctrlPr>
                      </m:accPr>
                      <m:e>
                        <m:r>
                          <a:rPr lang="en-AU" i="1">
                            <a:latin typeface="Cambria Math" panose="02040503050406030204" pitchFamily="18" charset="0"/>
                          </a:rPr>
                          <m:t>𝑦</m:t>
                        </m:r>
                      </m:e>
                    </m:acc>
                    <m:r>
                      <a:rPr lang="en-AU" i="1">
                        <a:latin typeface="Cambria Math" panose="02040503050406030204" pitchFamily="18" charset="0"/>
                      </a:rPr>
                      <m:t>=</m:t>
                    </m:r>
                    <m:r>
                      <a:rPr lang="en-AU" b="0" i="1" smtClean="0">
                        <a:latin typeface="Cambria Math" panose="02040503050406030204" pitchFamily="18" charset="0"/>
                      </a:rPr>
                      <m:t>𝑎</m:t>
                    </m:r>
                    <m:r>
                      <a:rPr lang="en-AU" i="1">
                        <a:latin typeface="Cambria Math" panose="02040503050406030204" pitchFamily="18" charset="0"/>
                      </a:rPr>
                      <m:t>𝑥</m:t>
                    </m:r>
                    <m:r>
                      <a:rPr lang="en-AU" i="1">
                        <a:latin typeface="Cambria Math" panose="02040503050406030204" pitchFamily="18" charset="0"/>
                      </a:rPr>
                      <m:t>+</m:t>
                    </m:r>
                    <m:r>
                      <a:rPr lang="en-AU" b="0" i="1" smtClean="0">
                        <a:latin typeface="Cambria Math" panose="02040503050406030204" pitchFamily="18" charset="0"/>
                      </a:rPr>
                      <m:t>𝑏</m:t>
                    </m:r>
                  </m:oMath>
                </a14:m>
                <a:endParaRPr lang="en-AU" b="0" dirty="0"/>
              </a:p>
              <a:p>
                <a:pPr marL="342900" indent="-342900">
                  <a:buAutoNum type="arabicPeriod"/>
                </a:pPr>
                <a:endParaRPr lang="en-AU" dirty="0"/>
              </a:p>
              <a:p>
                <a:pPr/>
                <a14:m>
                  <m:oMathPara xmlns:m="http://schemas.openxmlformats.org/officeDocument/2006/math">
                    <m:oMathParaPr>
                      <m:jc m:val="centerGroup"/>
                    </m:oMathParaPr>
                    <m:oMath xmlns:m="http://schemas.openxmlformats.org/officeDocument/2006/math">
                      <m:acc>
                        <m:accPr>
                          <m:chr m:val="̂"/>
                          <m:ctrlPr>
                            <a:rPr lang="en-AU" i="1">
                              <a:latin typeface="Cambria Math" panose="02040503050406030204" pitchFamily="18" charset="0"/>
                            </a:rPr>
                          </m:ctrlPr>
                        </m:accPr>
                        <m:e>
                          <m:r>
                            <a:rPr lang="en-AU" i="1">
                              <a:latin typeface="Cambria Math" panose="02040503050406030204" pitchFamily="18" charset="0"/>
                            </a:rPr>
                            <m:t>𝑦</m:t>
                          </m:r>
                        </m:e>
                      </m:acc>
                      <m:r>
                        <a:rPr lang="en-AU" i="1">
                          <a:latin typeface="Cambria Math" panose="02040503050406030204" pitchFamily="18" charset="0"/>
                        </a:rPr>
                        <m:t>=</m:t>
                      </m:r>
                      <m:r>
                        <a:rPr lang="en-AU" b="0" i="1" smtClean="0">
                          <a:latin typeface="Cambria Math" panose="02040503050406030204" pitchFamily="18" charset="0"/>
                        </a:rPr>
                        <m:t>1.98</m:t>
                      </m:r>
                      <m:r>
                        <a:rPr lang="en-AU" i="1">
                          <a:latin typeface="Cambria Math" panose="02040503050406030204" pitchFamily="18" charset="0"/>
                        </a:rPr>
                        <m:t>𝑥</m:t>
                      </m:r>
                      <m:r>
                        <a:rPr lang="en-AU" i="1">
                          <a:latin typeface="Cambria Math" panose="02040503050406030204" pitchFamily="18" charset="0"/>
                        </a:rPr>
                        <m:t>+4.83</m:t>
                      </m:r>
                    </m:oMath>
                  </m:oMathPara>
                </a14:m>
                <a:endParaRPr lang="en-AU" dirty="0"/>
              </a:p>
              <a:p>
                <a:r>
                  <a:rPr lang="en-AU" dirty="0"/>
                  <a:t>You can use this equation to make predictions.</a:t>
                </a:r>
              </a:p>
              <a:p>
                <a:r>
                  <a:rPr lang="en-AU" dirty="0"/>
                  <a:t>You can also describe what is happening in the context of the question </a:t>
                </a:r>
              </a:p>
              <a:p>
                <a:endParaRPr lang="en-AU" dirty="0"/>
              </a:p>
              <a:p>
                <a:r>
                  <a:rPr lang="en-AU" i="1" dirty="0"/>
                  <a:t>The 1.98 shows it is a positive correlation, so for every mark increase in physics the maths score goes up by 1.98. the +4.83 suggests that a student who got zero on the physics test would be predicted to get 4.83 on the math test.</a:t>
                </a:r>
              </a:p>
              <a:p>
                <a:pPr marL="342900" indent="-342900">
                  <a:buAutoNum type="arabicPeriod"/>
                </a:pPr>
                <a:endParaRPr lang="en-AU" dirty="0"/>
              </a:p>
            </p:txBody>
          </p:sp>
        </mc:Choice>
        <mc:Fallback xmlns="">
          <p:sp>
            <p:nvSpPr>
              <p:cNvPr id="5" name="TextBox 4">
                <a:extLst>
                  <a:ext uri="{FF2B5EF4-FFF2-40B4-BE49-F238E27FC236}">
                    <a16:creationId xmlns:a16="http://schemas.microsoft.com/office/drawing/2014/main" id="{8F210085-42C6-4E32-9C71-07331299B277}"/>
                  </a:ext>
                </a:extLst>
              </p:cNvPr>
              <p:cNvSpPr txBox="1">
                <a:spLocks noRot="1" noChangeAspect="1" noMove="1" noResize="1" noEditPoints="1" noAdjustHandles="1" noChangeArrowheads="1" noChangeShapeType="1" noTextEdit="1"/>
              </p:cNvSpPr>
              <p:nvPr/>
            </p:nvSpPr>
            <p:spPr>
              <a:xfrm>
                <a:off x="1580226" y="3431842"/>
                <a:ext cx="8332448" cy="3693319"/>
              </a:xfrm>
              <a:prstGeom prst="rect">
                <a:avLst/>
              </a:prstGeom>
              <a:blipFill>
                <a:blip r:embed="rId3"/>
                <a:stretch>
                  <a:fillRect l="-585" t="-990"/>
                </a:stretch>
              </a:blipFill>
            </p:spPr>
            <p:txBody>
              <a:bodyPr/>
              <a:lstStyle/>
              <a:p>
                <a:r>
                  <a:rPr lang="en-AU">
                    <a:noFill/>
                  </a:rPr>
                  <a:t> </a:t>
                </a:r>
              </a:p>
            </p:txBody>
          </p:sp>
        </mc:Fallback>
      </mc:AlternateContent>
      <p:pic>
        <p:nvPicPr>
          <p:cNvPr id="12" name="Picture 11" descr="A screenshot of a cell phone&#10;&#10;Description automatically generated">
            <a:extLst>
              <a:ext uri="{FF2B5EF4-FFF2-40B4-BE49-F238E27FC236}">
                <a16:creationId xmlns:a16="http://schemas.microsoft.com/office/drawing/2014/main" id="{4FF286D7-7776-46E4-87C1-57152AEF57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0328" y="3601658"/>
            <a:ext cx="2819400" cy="1993900"/>
          </a:xfrm>
          <a:prstGeom prst="rect">
            <a:avLst/>
          </a:prstGeom>
        </p:spPr>
      </p:pic>
    </p:spTree>
    <p:extLst>
      <p:ext uri="{BB962C8B-B14F-4D97-AF65-F5344CB8AC3E}">
        <p14:creationId xmlns:p14="http://schemas.microsoft.com/office/powerpoint/2010/main" val="77267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animEffect transition="in" filter="circle(in)">
                                      <p:cBhvr>
                                        <p:cTn id="11" dur="2000"/>
                                        <p:tgtEl>
                                          <p:spTgt spid="5">
                                            <p:txEl>
                                              <p:pRg st="5" end="5"/>
                                            </p:txEl>
                                          </p:spTgt>
                                        </p:tgtEl>
                                      </p:cBhvr>
                                    </p:animEffect>
                                  </p:childTnLst>
                                </p:cTn>
                              </p:par>
                              <p:par>
                                <p:cTn id="12" presetID="6" presetClass="entr" presetSubtype="16" fill="hold" nodeType="withEffect">
                                  <p:stCondLst>
                                    <p:cond delay="0"/>
                                  </p:stCondLst>
                                  <p:childTnLst>
                                    <p:set>
                                      <p:cBhvr>
                                        <p:cTn id="13" dur="1" fill="hold">
                                          <p:stCondLst>
                                            <p:cond delay="0"/>
                                          </p:stCondLst>
                                        </p:cTn>
                                        <p:tgtEl>
                                          <p:spTgt spid="5">
                                            <p:txEl>
                                              <p:pRg st="6" end="6"/>
                                            </p:txEl>
                                          </p:spTgt>
                                        </p:tgtEl>
                                        <p:attrNameLst>
                                          <p:attrName>style.visibility</p:attrName>
                                        </p:attrNameLst>
                                      </p:cBhvr>
                                      <p:to>
                                        <p:strVal val="visible"/>
                                      </p:to>
                                    </p:set>
                                    <p:animEffect transition="in" filter="circle(in)">
                                      <p:cBhvr>
                                        <p:cTn id="14" dur="2000"/>
                                        <p:tgtEl>
                                          <p:spTgt spid="5">
                                            <p:txEl>
                                              <p:pRg st="6" end="6"/>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Effect transition="in" filter="circle(in)">
                                      <p:cBhvr>
                                        <p:cTn id="17" dur="2000"/>
                                        <p:tgtEl>
                                          <p:spTgt spid="5">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5">
                                            <p:txEl>
                                              <p:pRg st="9" end="9"/>
                                            </p:txEl>
                                          </p:spTgt>
                                        </p:tgtEl>
                                        <p:attrNameLst>
                                          <p:attrName>style.visibility</p:attrName>
                                        </p:attrNameLst>
                                      </p:cBhvr>
                                      <p:to>
                                        <p:strVal val="visible"/>
                                      </p:to>
                                    </p:set>
                                    <p:animEffect transition="in" filter="fade">
                                      <p:cBhvr>
                                        <p:cTn id="22" dur="1000"/>
                                        <p:tgtEl>
                                          <p:spTgt spid="5">
                                            <p:txEl>
                                              <p:pRg st="9" end="9"/>
                                            </p:txEl>
                                          </p:spTgt>
                                        </p:tgtEl>
                                      </p:cBhvr>
                                    </p:animEffect>
                                    <p:anim calcmode="lin" valueType="num">
                                      <p:cBhvr>
                                        <p:cTn id="2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B3264-E937-47A2-964B-840CCE49D6A6}"/>
              </a:ext>
            </a:extLst>
          </p:cNvPr>
          <p:cNvSpPr>
            <a:spLocks noGrp="1"/>
          </p:cNvSpPr>
          <p:nvPr>
            <p:ph type="title"/>
          </p:nvPr>
        </p:nvSpPr>
        <p:spPr/>
        <p:txBody>
          <a:bodyPr/>
          <a:lstStyle/>
          <a:p>
            <a:r>
              <a:rPr lang="en-AU" dirty="0"/>
              <a:t>Outliers and “trimming” or “cropping” Data</a:t>
            </a:r>
          </a:p>
        </p:txBody>
      </p:sp>
      <p:sp>
        <p:nvSpPr>
          <p:cNvPr id="3" name="Content Placeholder 2">
            <a:extLst>
              <a:ext uri="{FF2B5EF4-FFF2-40B4-BE49-F238E27FC236}">
                <a16:creationId xmlns:a16="http://schemas.microsoft.com/office/drawing/2014/main" id="{7F3E3FA6-775B-4D25-937B-1BFB17B11FB4}"/>
              </a:ext>
            </a:extLst>
          </p:cNvPr>
          <p:cNvSpPr>
            <a:spLocks noGrp="1"/>
          </p:cNvSpPr>
          <p:nvPr>
            <p:ph idx="1"/>
          </p:nvPr>
        </p:nvSpPr>
        <p:spPr/>
        <p:txBody>
          <a:bodyPr/>
          <a:lstStyle/>
          <a:p>
            <a:pPr marL="0" indent="0">
              <a:buNone/>
            </a:pPr>
            <a:r>
              <a:rPr lang="en-AU" dirty="0"/>
              <a:t>Outliers can dramatically affect the line of best fit in your calculator.</a:t>
            </a:r>
          </a:p>
          <a:p>
            <a:pPr marL="0" indent="0">
              <a:buNone/>
            </a:pPr>
            <a:endParaRPr lang="en-AU" dirty="0"/>
          </a:p>
          <a:p>
            <a:pPr marL="0" indent="0">
              <a:buNone/>
            </a:pPr>
            <a:endParaRPr lang="en-AU" dirty="0"/>
          </a:p>
        </p:txBody>
      </p:sp>
      <p:pic>
        <p:nvPicPr>
          <p:cNvPr id="4" name="Picture 3" descr="A close up of a piece of paper&#10;&#10;Description automatically generated">
            <a:extLst>
              <a:ext uri="{FF2B5EF4-FFF2-40B4-BE49-F238E27FC236}">
                <a16:creationId xmlns:a16="http://schemas.microsoft.com/office/drawing/2014/main" id="{2ABFA305-1F2E-42EE-8291-591C2484E8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995" y="2714963"/>
            <a:ext cx="3794125" cy="3087566"/>
          </a:xfrm>
          <a:prstGeom prst="rect">
            <a:avLst/>
          </a:prstGeom>
        </p:spPr>
      </p:pic>
      <p:pic>
        <p:nvPicPr>
          <p:cNvPr id="5" name="Picture 4" descr="A close up of a map&#10;&#10;Description automatically generated">
            <a:extLst>
              <a:ext uri="{FF2B5EF4-FFF2-40B4-BE49-F238E27FC236}">
                <a16:creationId xmlns:a16="http://schemas.microsoft.com/office/drawing/2014/main" id="{E9222291-7206-40CF-B07B-6A0FF0B570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4904" y="2714963"/>
            <a:ext cx="7065595" cy="3110174"/>
          </a:xfrm>
          <a:prstGeom prst="rect">
            <a:avLst/>
          </a:prstGeom>
        </p:spPr>
      </p:pic>
    </p:spTree>
    <p:extLst>
      <p:ext uri="{BB962C8B-B14F-4D97-AF65-F5344CB8AC3E}">
        <p14:creationId xmlns:p14="http://schemas.microsoft.com/office/powerpoint/2010/main" val="361502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E5E2B-0DC1-4FD8-83E1-C2E9D8B7C4CC}"/>
              </a:ext>
            </a:extLst>
          </p:cNvPr>
          <p:cNvSpPr>
            <a:spLocks noGrp="1"/>
          </p:cNvSpPr>
          <p:nvPr>
            <p:ph type="title"/>
          </p:nvPr>
        </p:nvSpPr>
        <p:spPr/>
        <p:txBody>
          <a:bodyPr/>
          <a:lstStyle/>
          <a:p>
            <a:r>
              <a:rPr lang="en-AU" dirty="0"/>
              <a:t>Can we remove outliers?</a:t>
            </a:r>
          </a:p>
        </p:txBody>
      </p:sp>
      <p:sp>
        <p:nvSpPr>
          <p:cNvPr id="3" name="Content Placeholder 2">
            <a:extLst>
              <a:ext uri="{FF2B5EF4-FFF2-40B4-BE49-F238E27FC236}">
                <a16:creationId xmlns:a16="http://schemas.microsoft.com/office/drawing/2014/main" id="{005462C9-4228-4A31-AA55-A17D38444C55}"/>
              </a:ext>
            </a:extLst>
          </p:cNvPr>
          <p:cNvSpPr>
            <a:spLocks noGrp="1"/>
          </p:cNvSpPr>
          <p:nvPr>
            <p:ph idx="1"/>
          </p:nvPr>
        </p:nvSpPr>
        <p:spPr>
          <a:xfrm>
            <a:off x="838200" y="1825625"/>
            <a:ext cx="10515600" cy="1325563"/>
          </a:xfrm>
        </p:spPr>
        <p:txBody>
          <a:bodyPr/>
          <a:lstStyle/>
          <a:p>
            <a:pPr marL="0" indent="0">
              <a:buNone/>
            </a:pPr>
            <a:r>
              <a:rPr lang="en-AU" dirty="0"/>
              <a:t>You can remove outliers, but it is important to give reasons as to why you have removed them. An outlier may have been a mistake in data collection, but it could also be a valid data point.</a:t>
            </a:r>
          </a:p>
          <a:p>
            <a:pPr marL="0" indent="0">
              <a:buNone/>
            </a:pPr>
            <a:endParaRPr lang="en-AU" dirty="0"/>
          </a:p>
          <a:p>
            <a:pPr marL="0" indent="0">
              <a:buNone/>
            </a:pPr>
            <a:endParaRPr lang="en-AU" dirty="0"/>
          </a:p>
        </p:txBody>
      </p:sp>
    </p:spTree>
    <p:extLst>
      <p:ext uri="{BB962C8B-B14F-4D97-AF65-F5344CB8AC3E}">
        <p14:creationId xmlns:p14="http://schemas.microsoft.com/office/powerpoint/2010/main" val="2014132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3F327-5956-4F08-92A4-75CB04D6BFC0}"/>
              </a:ext>
            </a:extLst>
          </p:cNvPr>
          <p:cNvSpPr>
            <a:spLocks noGrp="1"/>
          </p:cNvSpPr>
          <p:nvPr>
            <p:ph type="title"/>
          </p:nvPr>
        </p:nvSpPr>
        <p:spPr/>
        <p:txBody>
          <a:bodyPr/>
          <a:lstStyle/>
          <a:p>
            <a:r>
              <a:rPr lang="en-AU" dirty="0"/>
              <a:t>Cropping or trimming data</a:t>
            </a:r>
          </a:p>
        </p:txBody>
      </p:sp>
      <p:sp>
        <p:nvSpPr>
          <p:cNvPr id="3" name="Content Placeholder 2">
            <a:extLst>
              <a:ext uri="{FF2B5EF4-FFF2-40B4-BE49-F238E27FC236}">
                <a16:creationId xmlns:a16="http://schemas.microsoft.com/office/drawing/2014/main" id="{1E35D8F7-8629-4862-8D41-594C56FE6E4B}"/>
              </a:ext>
            </a:extLst>
          </p:cNvPr>
          <p:cNvSpPr>
            <a:spLocks noGrp="1"/>
          </p:cNvSpPr>
          <p:nvPr>
            <p:ph idx="1"/>
          </p:nvPr>
        </p:nvSpPr>
        <p:spPr>
          <a:xfrm>
            <a:off x="838200" y="1825625"/>
            <a:ext cx="10515600" cy="1325563"/>
          </a:xfrm>
        </p:spPr>
        <p:txBody>
          <a:bodyPr>
            <a:normAutofit fontScale="62500" lnSpcReduction="20000"/>
          </a:bodyPr>
          <a:lstStyle/>
          <a:p>
            <a:pPr marL="0" indent="0">
              <a:buNone/>
            </a:pPr>
            <a:r>
              <a:rPr lang="en-AU" dirty="0"/>
              <a:t>This is done when a strong relationship is present for part of the data, but not after or before a certain data range.</a:t>
            </a:r>
          </a:p>
          <a:p>
            <a:pPr marL="0" indent="0">
              <a:buNone/>
            </a:pPr>
            <a:endParaRPr lang="en-AU" dirty="0"/>
          </a:p>
          <a:p>
            <a:pPr marL="0" indent="0">
              <a:buNone/>
            </a:pPr>
            <a:r>
              <a:rPr lang="en-AU" dirty="0"/>
              <a:t>The purpose is to make a stronger relationship, making predictions in that data range more accurate.</a:t>
            </a:r>
          </a:p>
        </p:txBody>
      </p:sp>
      <p:pic>
        <p:nvPicPr>
          <p:cNvPr id="4" name="Picture 3">
            <a:extLst>
              <a:ext uri="{FF2B5EF4-FFF2-40B4-BE49-F238E27FC236}">
                <a16:creationId xmlns:a16="http://schemas.microsoft.com/office/drawing/2014/main" id="{F8E7C96C-DD87-4B04-89A0-B988AE41A64B}"/>
              </a:ext>
            </a:extLst>
          </p:cNvPr>
          <p:cNvPicPr>
            <a:picLocks noChangeAspect="1"/>
          </p:cNvPicPr>
          <p:nvPr/>
        </p:nvPicPr>
        <p:blipFill>
          <a:blip r:embed="rId2"/>
          <a:stretch>
            <a:fillRect/>
          </a:stretch>
        </p:blipFill>
        <p:spPr>
          <a:xfrm>
            <a:off x="2152650" y="3035300"/>
            <a:ext cx="7429500" cy="3457575"/>
          </a:xfrm>
          <a:prstGeom prst="rect">
            <a:avLst/>
          </a:prstGeom>
        </p:spPr>
      </p:pic>
    </p:spTree>
    <p:extLst>
      <p:ext uri="{BB962C8B-B14F-4D97-AF65-F5344CB8AC3E}">
        <p14:creationId xmlns:p14="http://schemas.microsoft.com/office/powerpoint/2010/main" val="4065573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9630-A4E8-49C7-8A39-1A01FB0576B5}"/>
              </a:ext>
            </a:extLst>
          </p:cNvPr>
          <p:cNvSpPr>
            <a:spLocks noGrp="1"/>
          </p:cNvSpPr>
          <p:nvPr>
            <p:ph type="title"/>
          </p:nvPr>
        </p:nvSpPr>
        <p:spPr/>
        <p:txBody>
          <a:bodyPr/>
          <a:lstStyle/>
          <a:p>
            <a:r>
              <a:rPr lang="en-AU" dirty="0"/>
              <a:t>Complete exercise 2A please</a:t>
            </a:r>
          </a:p>
        </p:txBody>
      </p:sp>
      <p:sp>
        <p:nvSpPr>
          <p:cNvPr id="4" name="Rectangle 3">
            <a:hlinkClick r:id="rId2" action="ppaction://hlinksldjump"/>
            <a:extLst>
              <a:ext uri="{FF2B5EF4-FFF2-40B4-BE49-F238E27FC236}">
                <a16:creationId xmlns:a16="http://schemas.microsoft.com/office/drawing/2014/main" id="{4C44CFBC-F38C-463F-95D0-5362337F3DBE}"/>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703100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5 </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p:txBody>
          <a:bodyPr/>
          <a:lstStyle/>
          <a:p>
            <a:pPr marL="0" indent="0">
              <a:buNone/>
            </a:pPr>
            <a:r>
              <a:rPr lang="en-AU" dirty="0"/>
              <a:t>Topic: correlation coefficient</a:t>
            </a:r>
          </a:p>
          <a:p>
            <a:pPr marL="0" indent="0">
              <a:buNone/>
            </a:pPr>
            <a:r>
              <a:rPr lang="en-AU" dirty="0"/>
              <a:t>EQ: What is correlation coefficient and what does it do?</a:t>
            </a:r>
          </a:p>
          <a:p>
            <a:pPr marL="0" indent="0">
              <a:buNone/>
            </a:pPr>
            <a:endParaRPr lang="en-AU" dirty="0"/>
          </a:p>
          <a:p>
            <a:pPr marL="0" indent="0">
              <a:buNone/>
            </a:pPr>
            <a:r>
              <a:rPr lang="en-AU" dirty="0"/>
              <a:t>Syllabus points:</a:t>
            </a:r>
          </a:p>
          <a:p>
            <a:pPr marL="0" indent="0">
              <a:buNone/>
            </a:pPr>
            <a:r>
              <a:rPr lang="en-AU" dirty="0"/>
              <a:t>3.1.7	calculate, using technology, and interpret the correlation coefficient (</a:t>
            </a:r>
            <a:r>
              <a:rPr lang="en-AU" i="1" dirty="0"/>
              <a:t>r</a:t>
            </a:r>
            <a:r>
              <a:rPr lang="en-AU" dirty="0"/>
              <a:t>) to quantify the strength of a linear association</a:t>
            </a:r>
          </a:p>
          <a:p>
            <a:pPr marL="0" indent="0">
              <a:buNone/>
            </a:pPr>
            <a:endParaRPr lang="en-AU" dirty="0"/>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E1731521-65C4-44D7-8B72-759A535BBE0F}"/>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1876618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04106" y="228600"/>
            <a:ext cx="3509102" cy="523220"/>
          </a:xfrm>
          <a:prstGeom prst="rect">
            <a:avLst/>
          </a:prstGeom>
          <a:noFill/>
        </p:spPr>
        <p:txBody>
          <a:bodyPr wrap="none" rtlCol="0">
            <a:spAutoFit/>
          </a:bodyPr>
          <a:lstStyle/>
          <a:p>
            <a:r>
              <a:rPr lang="en-AU" sz="2800" dirty="0"/>
              <a:t>Correlation coefficient </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12" name="TextBox 11">
            <a:extLst>
              <a:ext uri="{FF2B5EF4-FFF2-40B4-BE49-F238E27FC236}">
                <a16:creationId xmlns:a16="http://schemas.microsoft.com/office/drawing/2014/main" id="{C6F76413-13E8-BA4F-B794-B5D62F7DD99F}"/>
              </a:ext>
            </a:extLst>
          </p:cNvPr>
          <p:cNvSpPr txBox="1"/>
          <p:nvPr/>
        </p:nvSpPr>
        <p:spPr>
          <a:xfrm>
            <a:off x="1617471" y="849908"/>
            <a:ext cx="8620422" cy="830997"/>
          </a:xfrm>
          <a:prstGeom prst="rect">
            <a:avLst/>
          </a:prstGeom>
          <a:noFill/>
        </p:spPr>
        <p:txBody>
          <a:bodyPr wrap="square" rtlCol="0">
            <a:spAutoFit/>
          </a:bodyPr>
          <a:lstStyle/>
          <a:p>
            <a:r>
              <a:rPr lang="en-AU" sz="2400" dirty="0"/>
              <a:t>EQ –What is correlation coefficient and what does it do?</a:t>
            </a:r>
          </a:p>
          <a:p>
            <a:endParaRPr lang="en-AU" sz="2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976284-C54B-42A7-916F-44B5DA2A6FDE}"/>
                  </a:ext>
                </a:extLst>
              </p:cNvPr>
              <p:cNvSpPr txBox="1"/>
              <p:nvPr/>
            </p:nvSpPr>
            <p:spPr>
              <a:xfrm>
                <a:off x="248575" y="1964217"/>
                <a:ext cx="11414036" cy="3139321"/>
              </a:xfrm>
              <a:prstGeom prst="rect">
                <a:avLst/>
              </a:prstGeom>
              <a:noFill/>
            </p:spPr>
            <p:txBody>
              <a:bodyPr wrap="square" rtlCol="0">
                <a:spAutoFit/>
              </a:bodyPr>
              <a:lstStyle/>
              <a:p>
                <a:r>
                  <a:rPr lang="en-AU" dirty="0"/>
                  <a:t>Correlation coefficient (r) is a measure of linearity for the 2 sets of data (how close it is to a perfect linear relationship)</a:t>
                </a:r>
              </a:p>
              <a:p>
                <a:endParaRPr lang="en-AU" dirty="0"/>
              </a:p>
              <a:p>
                <a:r>
                  <a:rPr lang="en-AU" dirty="0"/>
                  <a:t>The correlation coefficient is always between -1 and 1. </a:t>
                </a:r>
              </a:p>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r>
                        <a:rPr lang="en-AU" i="1">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𝑟</m:t>
                      </m:r>
                      <m:r>
                        <a:rPr lang="en-AU" b="0" i="1" smtClean="0">
                          <a:latin typeface="Cambria Math" panose="02040503050406030204" pitchFamily="18" charset="0"/>
                          <a:ea typeface="Cambria Math" panose="02040503050406030204" pitchFamily="18" charset="0"/>
                        </a:rPr>
                        <m:t>≤1</m:t>
                      </m:r>
                    </m:oMath>
                  </m:oMathPara>
                </a14:m>
                <a:endParaRPr lang="en-AU" dirty="0"/>
              </a:p>
              <a:p>
                <a:r>
                  <a:rPr lang="en-AU" dirty="0"/>
                  <a:t> 1 is a perfect positive linear relationship and -1 is a perfect negative linear relationship. </a:t>
                </a:r>
              </a:p>
              <a:p>
                <a:r>
                  <a:rPr lang="en-AU" dirty="0"/>
                  <a:t>The closer to zero r is, the weaker the relationship (r=0 is no relationship)</a:t>
                </a:r>
              </a:p>
              <a:p>
                <a:endParaRPr lang="en-AU" dirty="0"/>
              </a:p>
              <a:p>
                <a:endParaRPr lang="en-AU" dirty="0"/>
              </a:p>
              <a:p>
                <a:r>
                  <a:rPr lang="en-AU" dirty="0"/>
                  <a:t>You can calculate the correlation coefficient using your class pad. Do the same steps as you do to get the linear regression line (line of best fit), where the value of a and b for the equation are, there is an r value, this is your correlation coefficient.</a:t>
                </a:r>
              </a:p>
            </p:txBody>
          </p:sp>
        </mc:Choice>
        <mc:Fallback xmlns="">
          <p:sp>
            <p:nvSpPr>
              <p:cNvPr id="3" name="TextBox 2">
                <a:extLst>
                  <a:ext uri="{FF2B5EF4-FFF2-40B4-BE49-F238E27FC236}">
                    <a16:creationId xmlns:a16="http://schemas.microsoft.com/office/drawing/2014/main" id="{63976284-C54B-42A7-916F-44B5DA2A6FDE}"/>
                  </a:ext>
                </a:extLst>
              </p:cNvPr>
              <p:cNvSpPr txBox="1">
                <a:spLocks noRot="1" noChangeAspect="1" noMove="1" noResize="1" noEditPoints="1" noAdjustHandles="1" noChangeArrowheads="1" noChangeShapeType="1" noTextEdit="1"/>
              </p:cNvSpPr>
              <p:nvPr/>
            </p:nvSpPr>
            <p:spPr>
              <a:xfrm>
                <a:off x="248575" y="1964217"/>
                <a:ext cx="11414036" cy="3139321"/>
              </a:xfrm>
              <a:prstGeom prst="rect">
                <a:avLst/>
              </a:prstGeom>
              <a:blipFill>
                <a:blip r:embed="rId2"/>
                <a:stretch>
                  <a:fillRect l="-481" t="-971" b="-2136"/>
                </a:stretch>
              </a:blipFill>
            </p:spPr>
            <p:txBody>
              <a:bodyPr/>
              <a:lstStyle/>
              <a:p>
                <a:r>
                  <a:rPr lang="en-AU">
                    <a:noFill/>
                  </a:rPr>
                  <a:t> </a:t>
                </a:r>
              </a:p>
            </p:txBody>
          </p:sp>
        </mc:Fallback>
      </mc:AlternateContent>
      <p:sp>
        <p:nvSpPr>
          <p:cNvPr id="5" name="Rectangle 4">
            <a:extLst>
              <a:ext uri="{FF2B5EF4-FFF2-40B4-BE49-F238E27FC236}">
                <a16:creationId xmlns:a16="http://schemas.microsoft.com/office/drawing/2014/main" id="{51602D2A-C9B5-4D27-B342-959420191141}"/>
              </a:ext>
            </a:extLst>
          </p:cNvPr>
          <p:cNvSpPr/>
          <p:nvPr/>
        </p:nvSpPr>
        <p:spPr>
          <a:xfrm>
            <a:off x="7918881" y="4833787"/>
            <a:ext cx="3897298" cy="1660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dirty="0"/>
              <a:t>Steps</a:t>
            </a:r>
          </a:p>
          <a:p>
            <a:pPr marL="342900" indent="-342900">
              <a:buAutoNum type="arabicPeriod"/>
            </a:pPr>
            <a:r>
              <a:rPr lang="en-AU" dirty="0"/>
              <a:t>Enter data into class pad in statistics (list 1 is physics, list 2 is maths)</a:t>
            </a:r>
          </a:p>
          <a:p>
            <a:pPr marL="342900" indent="-342900">
              <a:buAutoNum type="arabicPeriod"/>
            </a:pPr>
            <a:r>
              <a:rPr lang="en-AU" dirty="0"/>
              <a:t> Calc -&gt; regression -&gt; Linear reg </a:t>
            </a:r>
          </a:p>
          <a:p>
            <a:pPr marL="342900" indent="-342900">
              <a:buAutoNum type="arabicPeriod"/>
            </a:pPr>
            <a:r>
              <a:rPr lang="en-AU" dirty="0"/>
              <a:t>Write out r value</a:t>
            </a:r>
          </a:p>
        </p:txBody>
      </p:sp>
    </p:spTree>
    <p:extLst>
      <p:ext uri="{BB962C8B-B14F-4D97-AF65-F5344CB8AC3E}">
        <p14:creationId xmlns:p14="http://schemas.microsoft.com/office/powerpoint/2010/main" val="23372887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12FEF9-781B-4E54-936A-188E5883EED4}"/>
              </a:ext>
            </a:extLst>
          </p:cNvPr>
          <p:cNvPicPr>
            <a:picLocks noChangeAspect="1"/>
          </p:cNvPicPr>
          <p:nvPr/>
        </p:nvPicPr>
        <p:blipFill>
          <a:blip r:embed="rId2"/>
          <a:stretch>
            <a:fillRect/>
          </a:stretch>
        </p:blipFill>
        <p:spPr>
          <a:xfrm>
            <a:off x="6594259" y="1130330"/>
            <a:ext cx="3886200" cy="1809750"/>
          </a:xfrm>
          <a:prstGeom prst="rect">
            <a:avLst/>
          </a:prstGeom>
        </p:spPr>
      </p:pic>
      <p:sp>
        <p:nvSpPr>
          <p:cNvPr id="3" name="TextBox 2">
            <a:extLst>
              <a:ext uri="{FF2B5EF4-FFF2-40B4-BE49-F238E27FC236}">
                <a16:creationId xmlns:a16="http://schemas.microsoft.com/office/drawing/2014/main" id="{0923F46A-36C3-43A4-8002-4C8445619961}"/>
              </a:ext>
            </a:extLst>
          </p:cNvPr>
          <p:cNvSpPr txBox="1"/>
          <p:nvPr/>
        </p:nvSpPr>
        <p:spPr>
          <a:xfrm>
            <a:off x="933451" y="1181098"/>
            <a:ext cx="4664291" cy="1754326"/>
          </a:xfrm>
          <a:prstGeom prst="rect">
            <a:avLst/>
          </a:prstGeom>
          <a:noFill/>
        </p:spPr>
        <p:txBody>
          <a:bodyPr wrap="square" rtlCol="0">
            <a:spAutoFit/>
          </a:bodyPr>
          <a:lstStyle/>
          <a:p>
            <a:r>
              <a:rPr lang="en-AU" b="1" dirty="0"/>
              <a:t>Fun fact 1: </a:t>
            </a:r>
            <a:r>
              <a:rPr lang="en-AU" dirty="0"/>
              <a:t>the graphs to the side correlation coefficient is irrelevant even though they are straight lines. If lines are vertical or horizontal they are not bivariate data. It is saying x= a(vertical line) specific value and same with y (horizontal line)</a:t>
            </a:r>
          </a:p>
        </p:txBody>
      </p:sp>
      <p:pic>
        <p:nvPicPr>
          <p:cNvPr id="1026" name="Picture 2" descr="Pearson Correlation Coefficient Formula | Examples &amp;amp; Calculator">
            <a:extLst>
              <a:ext uri="{FF2B5EF4-FFF2-40B4-BE49-F238E27FC236}">
                <a16:creationId xmlns:a16="http://schemas.microsoft.com/office/drawing/2014/main" id="{7E325BA1-BAA4-41FB-8B01-A36DDE2AC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8350" y="3839078"/>
            <a:ext cx="3676650" cy="18885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BD9B0E9-9DDC-4E78-ABBB-E6B97AFA1CF4}"/>
              </a:ext>
            </a:extLst>
          </p:cNvPr>
          <p:cNvSpPr txBox="1"/>
          <p:nvPr/>
        </p:nvSpPr>
        <p:spPr>
          <a:xfrm>
            <a:off x="4686300" y="3917921"/>
            <a:ext cx="1204369" cy="369332"/>
          </a:xfrm>
          <a:prstGeom prst="rect">
            <a:avLst/>
          </a:prstGeom>
          <a:noFill/>
        </p:spPr>
        <p:txBody>
          <a:bodyPr wrap="none" rtlCol="0">
            <a:spAutoFit/>
          </a:bodyPr>
          <a:lstStyle/>
          <a:p>
            <a:r>
              <a:rPr lang="en-AU" b="1" dirty="0"/>
              <a:t>Fun Fact 2:</a:t>
            </a:r>
          </a:p>
        </p:txBody>
      </p:sp>
    </p:spTree>
    <p:extLst>
      <p:ext uri="{BB962C8B-B14F-4D97-AF65-F5344CB8AC3E}">
        <p14:creationId xmlns:p14="http://schemas.microsoft.com/office/powerpoint/2010/main" val="3834527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04106" y="228600"/>
            <a:ext cx="3509102" cy="523220"/>
          </a:xfrm>
          <a:prstGeom prst="rect">
            <a:avLst/>
          </a:prstGeom>
          <a:noFill/>
        </p:spPr>
        <p:txBody>
          <a:bodyPr wrap="none" rtlCol="0">
            <a:spAutoFit/>
          </a:bodyPr>
          <a:lstStyle/>
          <a:p>
            <a:r>
              <a:rPr lang="en-AU" sz="2800" dirty="0"/>
              <a:t>Correlation coefficient </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12" name="TextBox 11">
            <a:extLst>
              <a:ext uri="{FF2B5EF4-FFF2-40B4-BE49-F238E27FC236}">
                <a16:creationId xmlns:a16="http://schemas.microsoft.com/office/drawing/2014/main" id="{C6F76413-13E8-BA4F-B794-B5D62F7DD99F}"/>
              </a:ext>
            </a:extLst>
          </p:cNvPr>
          <p:cNvSpPr txBox="1"/>
          <p:nvPr/>
        </p:nvSpPr>
        <p:spPr>
          <a:xfrm>
            <a:off x="1617471" y="849908"/>
            <a:ext cx="8620422" cy="830997"/>
          </a:xfrm>
          <a:prstGeom prst="rect">
            <a:avLst/>
          </a:prstGeom>
          <a:noFill/>
        </p:spPr>
        <p:txBody>
          <a:bodyPr wrap="square" rtlCol="0">
            <a:spAutoFit/>
          </a:bodyPr>
          <a:lstStyle/>
          <a:p>
            <a:r>
              <a:rPr lang="en-AU" sz="2400" dirty="0"/>
              <a:t>EQ –What is correlation coefficient and what does it do?</a:t>
            </a:r>
          </a:p>
          <a:p>
            <a:endParaRPr lang="en-AU" sz="2400" dirty="0"/>
          </a:p>
        </p:txBody>
      </p:sp>
      <p:sp>
        <p:nvSpPr>
          <p:cNvPr id="3" name="TextBox 2">
            <a:extLst>
              <a:ext uri="{FF2B5EF4-FFF2-40B4-BE49-F238E27FC236}">
                <a16:creationId xmlns:a16="http://schemas.microsoft.com/office/drawing/2014/main" id="{63976284-C54B-42A7-916F-44B5DA2A6FDE}"/>
              </a:ext>
            </a:extLst>
          </p:cNvPr>
          <p:cNvSpPr txBox="1"/>
          <p:nvPr/>
        </p:nvSpPr>
        <p:spPr>
          <a:xfrm>
            <a:off x="248575" y="1964217"/>
            <a:ext cx="11414036" cy="3139321"/>
          </a:xfrm>
          <a:prstGeom prst="rect">
            <a:avLst/>
          </a:prstGeom>
          <a:noFill/>
        </p:spPr>
        <p:txBody>
          <a:bodyPr wrap="square" rtlCol="0">
            <a:spAutoFit/>
          </a:bodyPr>
          <a:lstStyle/>
          <a:p>
            <a:r>
              <a:rPr lang="en-AU" dirty="0"/>
              <a:t>What does the correlation coefficient tell us?</a:t>
            </a:r>
          </a:p>
          <a:p>
            <a:endParaRPr lang="en-AU" dirty="0"/>
          </a:p>
          <a:p>
            <a:r>
              <a:rPr lang="en-AU" dirty="0"/>
              <a:t>It helps tell us how reliable a prediction is. The stronger the relationship (r is closer to 1 or -1) the more accurate predictions are using the line of best fit. Make sure you also mention extrapolation or interpolation if asked to comment on a prediction with the correlation coefficient.</a:t>
            </a:r>
          </a:p>
          <a:p>
            <a:endParaRPr lang="en-AU" dirty="0"/>
          </a:p>
          <a:p>
            <a:endParaRPr lang="en-AU" dirty="0"/>
          </a:p>
          <a:p>
            <a:r>
              <a:rPr lang="en-AU" dirty="0"/>
              <a:t>Key points: </a:t>
            </a:r>
          </a:p>
          <a:p>
            <a:pPr marL="285750" indent="-285750">
              <a:buFontTx/>
              <a:buChar char="-"/>
            </a:pPr>
            <a:r>
              <a:rPr lang="en-AU" dirty="0"/>
              <a:t>Closer to 1 or -1 r is the more accurate predictions are</a:t>
            </a:r>
          </a:p>
          <a:p>
            <a:pPr marL="285750" indent="-285750">
              <a:buFontTx/>
              <a:buChar char="-"/>
            </a:pPr>
            <a:r>
              <a:rPr lang="en-AU" dirty="0"/>
              <a:t>Extrapolation: prediction outside data range, not reliable</a:t>
            </a:r>
          </a:p>
          <a:p>
            <a:pPr marL="285750" indent="-285750">
              <a:buFontTx/>
              <a:buChar char="-"/>
            </a:pPr>
            <a:r>
              <a:rPr lang="en-AU" dirty="0"/>
              <a:t>Interpolation: Prediction inside data range, is reliable.</a:t>
            </a:r>
          </a:p>
        </p:txBody>
      </p:sp>
    </p:spTree>
    <p:extLst>
      <p:ext uri="{BB962C8B-B14F-4D97-AF65-F5344CB8AC3E}">
        <p14:creationId xmlns:p14="http://schemas.microsoft.com/office/powerpoint/2010/main" val="613842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BD773B-0EE4-4FDC-BDD4-D553D8B90448}"/>
              </a:ext>
            </a:extLst>
          </p:cNvPr>
          <p:cNvSpPr txBox="1"/>
          <p:nvPr/>
        </p:nvSpPr>
        <p:spPr>
          <a:xfrm>
            <a:off x="656948" y="408373"/>
            <a:ext cx="977191" cy="369332"/>
          </a:xfrm>
          <a:prstGeom prst="rect">
            <a:avLst/>
          </a:prstGeom>
          <a:noFill/>
        </p:spPr>
        <p:txBody>
          <a:bodyPr wrap="none" rtlCol="0">
            <a:spAutoFit/>
          </a:bodyPr>
          <a:lstStyle/>
          <a:p>
            <a:r>
              <a:rPr lang="en-AU" dirty="0"/>
              <a:t>Example</a:t>
            </a:r>
          </a:p>
        </p:txBody>
      </p:sp>
      <p:pic>
        <p:nvPicPr>
          <p:cNvPr id="3" name="Picture 2">
            <a:extLst>
              <a:ext uri="{FF2B5EF4-FFF2-40B4-BE49-F238E27FC236}">
                <a16:creationId xmlns:a16="http://schemas.microsoft.com/office/drawing/2014/main" id="{0426EA53-2CC4-416D-B6B4-51889FFB9FDB}"/>
              </a:ext>
            </a:extLst>
          </p:cNvPr>
          <p:cNvPicPr>
            <a:picLocks noChangeAspect="1"/>
          </p:cNvPicPr>
          <p:nvPr/>
        </p:nvPicPr>
        <p:blipFill>
          <a:blip r:embed="rId2"/>
          <a:stretch>
            <a:fillRect/>
          </a:stretch>
        </p:blipFill>
        <p:spPr>
          <a:xfrm>
            <a:off x="1634139" y="408373"/>
            <a:ext cx="6145256" cy="6471372"/>
          </a:xfrm>
          <a:prstGeom prst="rect">
            <a:avLst/>
          </a:prstGeom>
        </p:spPr>
      </p:pic>
      <p:sp>
        <p:nvSpPr>
          <p:cNvPr id="4" name="TextBox 3">
            <a:extLst>
              <a:ext uri="{FF2B5EF4-FFF2-40B4-BE49-F238E27FC236}">
                <a16:creationId xmlns:a16="http://schemas.microsoft.com/office/drawing/2014/main" id="{195B0154-E416-48CA-9BB0-5DB11F3E73D2}"/>
              </a:ext>
            </a:extLst>
          </p:cNvPr>
          <p:cNvSpPr txBox="1"/>
          <p:nvPr/>
        </p:nvSpPr>
        <p:spPr>
          <a:xfrm>
            <a:off x="8505173" y="777705"/>
            <a:ext cx="972574" cy="369332"/>
          </a:xfrm>
          <a:prstGeom prst="rect">
            <a:avLst/>
          </a:prstGeom>
          <a:noFill/>
        </p:spPr>
        <p:txBody>
          <a:bodyPr wrap="none" rtlCol="0">
            <a:spAutoFit/>
          </a:bodyPr>
          <a:lstStyle/>
          <a:p>
            <a:r>
              <a:rPr lang="en-AU" dirty="0"/>
              <a:t>Answers</a:t>
            </a:r>
          </a:p>
        </p:txBody>
      </p:sp>
      <p:pic>
        <p:nvPicPr>
          <p:cNvPr id="5" name="Picture 4">
            <a:extLst>
              <a:ext uri="{FF2B5EF4-FFF2-40B4-BE49-F238E27FC236}">
                <a16:creationId xmlns:a16="http://schemas.microsoft.com/office/drawing/2014/main" id="{5EDBCE75-DC1B-480A-994F-E285EECB685A}"/>
              </a:ext>
            </a:extLst>
          </p:cNvPr>
          <p:cNvPicPr>
            <a:picLocks noChangeAspect="1"/>
          </p:cNvPicPr>
          <p:nvPr/>
        </p:nvPicPr>
        <p:blipFill>
          <a:blip r:embed="rId3"/>
          <a:stretch>
            <a:fillRect/>
          </a:stretch>
        </p:blipFill>
        <p:spPr>
          <a:xfrm>
            <a:off x="5736835" y="1666875"/>
            <a:ext cx="6315075" cy="1762125"/>
          </a:xfrm>
          <a:prstGeom prst="rect">
            <a:avLst/>
          </a:prstGeom>
        </p:spPr>
      </p:pic>
    </p:spTree>
    <p:extLst>
      <p:ext uri="{BB962C8B-B14F-4D97-AF65-F5344CB8AC3E}">
        <p14:creationId xmlns:p14="http://schemas.microsoft.com/office/powerpoint/2010/main" val="216859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D4483D-AE6D-40AA-A5B0-FD4E82736E16}"/>
              </a:ext>
            </a:extLst>
          </p:cNvPr>
          <p:cNvSpPr txBox="1"/>
          <p:nvPr/>
        </p:nvSpPr>
        <p:spPr>
          <a:xfrm>
            <a:off x="2618913" y="878889"/>
            <a:ext cx="6097951" cy="707886"/>
          </a:xfrm>
          <a:prstGeom prst="rect">
            <a:avLst/>
          </a:prstGeom>
          <a:noFill/>
        </p:spPr>
        <p:txBody>
          <a:bodyPr wrap="none" rtlCol="0">
            <a:spAutoFit/>
          </a:bodyPr>
          <a:lstStyle/>
          <a:p>
            <a:r>
              <a:rPr lang="en-AU" sz="4000" dirty="0"/>
              <a:t>Complete exercise 2B please</a:t>
            </a:r>
          </a:p>
        </p:txBody>
      </p:sp>
    </p:spTree>
    <p:extLst>
      <p:ext uri="{BB962C8B-B14F-4D97-AF65-F5344CB8AC3E}">
        <p14:creationId xmlns:p14="http://schemas.microsoft.com/office/powerpoint/2010/main" val="2977141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6 </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p:txBody>
          <a:bodyPr>
            <a:normAutofit fontScale="92500" lnSpcReduction="10000"/>
          </a:bodyPr>
          <a:lstStyle/>
          <a:p>
            <a:pPr marL="0" indent="0">
              <a:buNone/>
            </a:pPr>
            <a:r>
              <a:rPr lang="en-AU" dirty="0"/>
              <a:t>Topic: Causation</a:t>
            </a:r>
          </a:p>
          <a:p>
            <a:pPr marL="0" indent="0">
              <a:buNone/>
            </a:pPr>
            <a:r>
              <a:rPr lang="en-AU" dirty="0"/>
              <a:t>EQ: Does correlation equal causation?</a:t>
            </a:r>
          </a:p>
          <a:p>
            <a:pPr marL="0" indent="0">
              <a:buNone/>
            </a:pPr>
            <a:endParaRPr lang="en-AU" dirty="0"/>
          </a:p>
          <a:p>
            <a:pPr marL="0" indent="0">
              <a:buNone/>
            </a:pPr>
            <a:r>
              <a:rPr lang="en-AU" dirty="0"/>
              <a:t>Syllabus points:</a:t>
            </a:r>
          </a:p>
          <a:p>
            <a:r>
              <a:rPr lang="en-AU" dirty="0"/>
              <a:t>3.1.17	recognise that an observed association between two variables does not necessarily mean that there is a causal relationship between them  </a:t>
            </a:r>
          </a:p>
          <a:p>
            <a:r>
              <a:rPr lang="en-AU" dirty="0"/>
              <a:t>3.1.18	identify possible non-causal explanations for an association, including coincidence and confounding due to a common response to another variable, and communicate these explanations in a systematic and concise manner</a:t>
            </a:r>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5B1E5305-B05D-4AD1-9F50-7F4E83E936AB}"/>
              </a:ext>
            </a:extLst>
          </p:cNvPr>
          <p:cNvSpPr/>
          <p:nvPr/>
        </p:nvSpPr>
        <p:spPr>
          <a:xfrm>
            <a:off x="8957569" y="266330"/>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206369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04106" y="228600"/>
            <a:ext cx="1625638" cy="523220"/>
          </a:xfrm>
          <a:prstGeom prst="rect">
            <a:avLst/>
          </a:prstGeom>
          <a:noFill/>
        </p:spPr>
        <p:txBody>
          <a:bodyPr wrap="none" rtlCol="0">
            <a:spAutoFit/>
          </a:bodyPr>
          <a:lstStyle/>
          <a:p>
            <a:r>
              <a:rPr lang="en-AU" sz="2800" dirty="0"/>
              <a:t>Causation</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12" name="TextBox 11">
            <a:extLst>
              <a:ext uri="{FF2B5EF4-FFF2-40B4-BE49-F238E27FC236}">
                <a16:creationId xmlns:a16="http://schemas.microsoft.com/office/drawing/2014/main" id="{C6F76413-13E8-BA4F-B794-B5D62F7DD99F}"/>
              </a:ext>
            </a:extLst>
          </p:cNvPr>
          <p:cNvSpPr txBox="1"/>
          <p:nvPr/>
        </p:nvSpPr>
        <p:spPr>
          <a:xfrm>
            <a:off x="1617471" y="849908"/>
            <a:ext cx="8620422" cy="461665"/>
          </a:xfrm>
          <a:prstGeom prst="rect">
            <a:avLst/>
          </a:prstGeom>
          <a:noFill/>
        </p:spPr>
        <p:txBody>
          <a:bodyPr wrap="square" rtlCol="0">
            <a:spAutoFit/>
          </a:bodyPr>
          <a:lstStyle/>
          <a:p>
            <a:r>
              <a:rPr lang="en-AU" sz="2400" dirty="0"/>
              <a:t>EQ –Does correlation equal causation?</a:t>
            </a:r>
          </a:p>
        </p:txBody>
      </p:sp>
      <p:sp>
        <p:nvSpPr>
          <p:cNvPr id="3" name="TextBox 2">
            <a:extLst>
              <a:ext uri="{FF2B5EF4-FFF2-40B4-BE49-F238E27FC236}">
                <a16:creationId xmlns:a16="http://schemas.microsoft.com/office/drawing/2014/main" id="{63976284-C54B-42A7-916F-44B5DA2A6FDE}"/>
              </a:ext>
            </a:extLst>
          </p:cNvPr>
          <p:cNvSpPr txBox="1"/>
          <p:nvPr/>
        </p:nvSpPr>
        <p:spPr>
          <a:xfrm>
            <a:off x="2174063" y="1911446"/>
            <a:ext cx="7507237" cy="3693319"/>
          </a:xfrm>
          <a:prstGeom prst="rect">
            <a:avLst/>
          </a:prstGeom>
          <a:noFill/>
        </p:spPr>
        <p:txBody>
          <a:bodyPr wrap="square" rtlCol="0">
            <a:spAutoFit/>
          </a:bodyPr>
          <a:lstStyle/>
          <a:p>
            <a:pPr algn="ctr"/>
            <a:r>
              <a:rPr lang="en-AU" sz="3600" dirty="0"/>
              <a:t>Correlation DOES NOT equal Causation</a:t>
            </a:r>
          </a:p>
          <a:p>
            <a:pPr algn="ctr"/>
            <a:endParaRPr lang="en-AU" sz="3600" dirty="0"/>
          </a:p>
          <a:p>
            <a:pPr algn="ctr"/>
            <a:r>
              <a:rPr lang="en-AU" sz="3600" dirty="0"/>
              <a:t>I repeat</a:t>
            </a:r>
          </a:p>
          <a:p>
            <a:pPr algn="ctr"/>
            <a:endParaRPr lang="en-AU" sz="3600" dirty="0"/>
          </a:p>
          <a:p>
            <a:pPr algn="ctr"/>
            <a:r>
              <a:rPr lang="en-AU" sz="3600" dirty="0"/>
              <a:t>Correlation </a:t>
            </a:r>
            <a:r>
              <a:rPr lang="en-AU" sz="3600" b="1" u="sng" dirty="0">
                <a:solidFill>
                  <a:srgbClr val="FF0000"/>
                </a:solidFill>
              </a:rPr>
              <a:t>DOES NOT </a:t>
            </a:r>
            <a:r>
              <a:rPr lang="en-AU" sz="3600" dirty="0"/>
              <a:t> equal Causation</a:t>
            </a:r>
          </a:p>
          <a:p>
            <a:endParaRPr lang="en-AU" dirty="0"/>
          </a:p>
        </p:txBody>
      </p:sp>
    </p:spTree>
    <p:extLst>
      <p:ext uri="{BB962C8B-B14F-4D97-AF65-F5344CB8AC3E}">
        <p14:creationId xmlns:p14="http://schemas.microsoft.com/office/powerpoint/2010/main" val="24483185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900988-CD75-4632-BA2A-FD6CFBF03BAB}"/>
              </a:ext>
            </a:extLst>
          </p:cNvPr>
          <p:cNvSpPr txBox="1"/>
          <p:nvPr/>
        </p:nvSpPr>
        <p:spPr>
          <a:xfrm>
            <a:off x="905522" y="648070"/>
            <a:ext cx="1039708" cy="369332"/>
          </a:xfrm>
          <a:prstGeom prst="rect">
            <a:avLst/>
          </a:prstGeom>
          <a:noFill/>
        </p:spPr>
        <p:txBody>
          <a:bodyPr wrap="none" rtlCol="0">
            <a:spAutoFit/>
          </a:bodyPr>
          <a:lstStyle/>
          <a:p>
            <a:r>
              <a:rPr lang="en-AU" dirty="0"/>
              <a:t>Example:</a:t>
            </a:r>
          </a:p>
        </p:txBody>
      </p:sp>
      <p:pic>
        <p:nvPicPr>
          <p:cNvPr id="2050" name="Picture 2" descr="Scatterplot correlating number of firefighters with amount of damage done to properties in US dollars">
            <a:extLst>
              <a:ext uri="{FF2B5EF4-FFF2-40B4-BE49-F238E27FC236}">
                <a16:creationId xmlns:a16="http://schemas.microsoft.com/office/drawing/2014/main" id="{725D3815-B366-400A-B443-7258E83E7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1729" y="1017402"/>
            <a:ext cx="4181475" cy="29908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881113C-BC2A-4CF8-A17C-8856F7CD8CC9}"/>
              </a:ext>
            </a:extLst>
          </p:cNvPr>
          <p:cNvSpPr txBox="1"/>
          <p:nvPr/>
        </p:nvSpPr>
        <p:spPr>
          <a:xfrm>
            <a:off x="128338" y="1428749"/>
            <a:ext cx="6673391" cy="2862322"/>
          </a:xfrm>
          <a:prstGeom prst="rect">
            <a:avLst/>
          </a:prstGeom>
          <a:noFill/>
        </p:spPr>
        <p:txBody>
          <a:bodyPr wrap="square" rtlCol="0">
            <a:spAutoFit/>
          </a:bodyPr>
          <a:lstStyle/>
          <a:p>
            <a:r>
              <a:rPr lang="en-AU" dirty="0"/>
              <a:t>The Scatter plot to the side shows the relationship between the number of firefighters sent to a fire (x) and the amount of damage caused by the fires (y) in a certain city.</a:t>
            </a:r>
          </a:p>
          <a:p>
            <a:endParaRPr lang="en-AU" dirty="0"/>
          </a:p>
          <a:p>
            <a:r>
              <a:rPr lang="en-AU" dirty="0"/>
              <a:t>The graph shows a positive association with a moderate strength. An increase in the number of fire fighters is associated with an increase in fire damage.</a:t>
            </a:r>
          </a:p>
          <a:p>
            <a:endParaRPr lang="en-AU" dirty="0"/>
          </a:p>
          <a:p>
            <a:r>
              <a:rPr lang="en-AU" b="1" dirty="0"/>
              <a:t>Can we conclude that the increase in firefighters causes the increase in damage?</a:t>
            </a:r>
          </a:p>
        </p:txBody>
      </p:sp>
    </p:spTree>
    <p:extLst>
      <p:ext uri="{BB962C8B-B14F-4D97-AF65-F5344CB8AC3E}">
        <p14:creationId xmlns:p14="http://schemas.microsoft.com/office/powerpoint/2010/main" val="3170185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900988-CD75-4632-BA2A-FD6CFBF03BAB}"/>
              </a:ext>
            </a:extLst>
          </p:cNvPr>
          <p:cNvSpPr txBox="1"/>
          <p:nvPr/>
        </p:nvSpPr>
        <p:spPr>
          <a:xfrm>
            <a:off x="905522" y="648070"/>
            <a:ext cx="1039708" cy="369332"/>
          </a:xfrm>
          <a:prstGeom prst="rect">
            <a:avLst/>
          </a:prstGeom>
          <a:noFill/>
        </p:spPr>
        <p:txBody>
          <a:bodyPr wrap="none" rtlCol="0">
            <a:spAutoFit/>
          </a:bodyPr>
          <a:lstStyle/>
          <a:p>
            <a:r>
              <a:rPr lang="en-AU" dirty="0"/>
              <a:t>Example:</a:t>
            </a:r>
          </a:p>
        </p:txBody>
      </p:sp>
      <p:sp>
        <p:nvSpPr>
          <p:cNvPr id="3" name="TextBox 2">
            <a:extLst>
              <a:ext uri="{FF2B5EF4-FFF2-40B4-BE49-F238E27FC236}">
                <a16:creationId xmlns:a16="http://schemas.microsoft.com/office/drawing/2014/main" id="{8881113C-BC2A-4CF8-A17C-8856F7CD8CC9}"/>
              </a:ext>
            </a:extLst>
          </p:cNvPr>
          <p:cNvSpPr txBox="1"/>
          <p:nvPr/>
        </p:nvSpPr>
        <p:spPr>
          <a:xfrm>
            <a:off x="128338" y="1428749"/>
            <a:ext cx="6673391" cy="4893647"/>
          </a:xfrm>
          <a:prstGeom prst="rect">
            <a:avLst/>
          </a:prstGeom>
          <a:noFill/>
        </p:spPr>
        <p:txBody>
          <a:bodyPr wrap="square" rtlCol="0">
            <a:spAutoFit/>
          </a:bodyPr>
          <a:lstStyle/>
          <a:p>
            <a:r>
              <a:rPr lang="en-AU" dirty="0"/>
              <a:t>The Scatter plot to the side shows the relationship between the number of firefighters sent to a fire (x) and the amount of damage caused by the fires (y) in a certain city.</a:t>
            </a:r>
          </a:p>
          <a:p>
            <a:endParaRPr lang="en-AU" dirty="0"/>
          </a:p>
          <a:p>
            <a:r>
              <a:rPr lang="en-AU" dirty="0"/>
              <a:t>The graph shows a positive association with a moderate strength. An increase in the number of fire fighters is associated with an increase in fire damage.</a:t>
            </a:r>
          </a:p>
          <a:p>
            <a:endParaRPr lang="en-AU" dirty="0"/>
          </a:p>
          <a:p>
            <a:r>
              <a:rPr lang="en-AU" b="1" dirty="0"/>
              <a:t>Can we conclude that the increase in firefighters causes the increase in damage?</a:t>
            </a:r>
          </a:p>
          <a:p>
            <a:endParaRPr lang="en-AU" b="1" dirty="0"/>
          </a:p>
          <a:p>
            <a:endParaRPr lang="en-AU" b="1" dirty="0"/>
          </a:p>
          <a:p>
            <a:r>
              <a:rPr lang="en-AU" sz="2400" b="1" dirty="0"/>
              <a:t>No you cannot</a:t>
            </a:r>
          </a:p>
          <a:p>
            <a:r>
              <a:rPr lang="en-AU" sz="2400" b="1" dirty="0"/>
              <a:t>The number of firefighters sent to a fire is based on the seriousness of the fire. This also would be  a reason for the damage to be higher.</a:t>
            </a:r>
          </a:p>
        </p:txBody>
      </p:sp>
      <p:pic>
        <p:nvPicPr>
          <p:cNvPr id="4098" name="Picture 2" descr="Illustration of a lurking variable. In this case the lurking variable is the seriousness of the fire, where the X variable (the number of firefighters, and the Y variable (the amount of damage done) has an impact on the outcome, though the seriousness of the fire isn't studied as a factor.">
            <a:extLst>
              <a:ext uri="{FF2B5EF4-FFF2-40B4-BE49-F238E27FC236}">
                <a16:creationId xmlns:a16="http://schemas.microsoft.com/office/drawing/2014/main" id="{FDC79290-3F71-4FD7-8FF7-A083B6195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7474" y="1017402"/>
            <a:ext cx="5406188" cy="5016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87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891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2604106" y="228600"/>
            <a:ext cx="1625638" cy="523220"/>
          </a:xfrm>
          <a:prstGeom prst="rect">
            <a:avLst/>
          </a:prstGeom>
          <a:noFill/>
        </p:spPr>
        <p:txBody>
          <a:bodyPr wrap="none" rtlCol="0">
            <a:spAutoFit/>
          </a:bodyPr>
          <a:lstStyle/>
          <a:p>
            <a:r>
              <a:rPr lang="en-AU" sz="2800" dirty="0"/>
              <a:t>Causation</a:t>
            </a:r>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1524000" y="-832938"/>
            <a:ext cx="1740378" cy="21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12" name="TextBox 11">
            <a:extLst>
              <a:ext uri="{FF2B5EF4-FFF2-40B4-BE49-F238E27FC236}">
                <a16:creationId xmlns:a16="http://schemas.microsoft.com/office/drawing/2014/main" id="{C6F76413-13E8-BA4F-B794-B5D62F7DD99F}"/>
              </a:ext>
            </a:extLst>
          </p:cNvPr>
          <p:cNvSpPr txBox="1"/>
          <p:nvPr/>
        </p:nvSpPr>
        <p:spPr>
          <a:xfrm>
            <a:off x="1617471" y="849908"/>
            <a:ext cx="8620422" cy="461665"/>
          </a:xfrm>
          <a:prstGeom prst="rect">
            <a:avLst/>
          </a:prstGeom>
          <a:noFill/>
        </p:spPr>
        <p:txBody>
          <a:bodyPr wrap="square" rtlCol="0">
            <a:spAutoFit/>
          </a:bodyPr>
          <a:lstStyle/>
          <a:p>
            <a:r>
              <a:rPr lang="en-AU" sz="2400" dirty="0"/>
              <a:t>EQ –Does correlation equal causation?</a:t>
            </a:r>
          </a:p>
        </p:txBody>
      </p:sp>
      <p:sp>
        <p:nvSpPr>
          <p:cNvPr id="3" name="TextBox 2">
            <a:extLst>
              <a:ext uri="{FF2B5EF4-FFF2-40B4-BE49-F238E27FC236}">
                <a16:creationId xmlns:a16="http://schemas.microsoft.com/office/drawing/2014/main" id="{63976284-C54B-42A7-916F-44B5DA2A6FDE}"/>
              </a:ext>
            </a:extLst>
          </p:cNvPr>
          <p:cNvSpPr txBox="1"/>
          <p:nvPr/>
        </p:nvSpPr>
        <p:spPr>
          <a:xfrm>
            <a:off x="866275" y="1911446"/>
            <a:ext cx="10138610" cy="3416320"/>
          </a:xfrm>
          <a:prstGeom prst="rect">
            <a:avLst/>
          </a:prstGeom>
          <a:noFill/>
        </p:spPr>
        <p:txBody>
          <a:bodyPr wrap="square" rtlCol="0">
            <a:spAutoFit/>
          </a:bodyPr>
          <a:lstStyle/>
          <a:p>
            <a:pPr algn="ctr"/>
            <a:r>
              <a:rPr lang="en-AU" sz="3600" dirty="0"/>
              <a:t>Correlation DOES NOT equal Causation</a:t>
            </a:r>
          </a:p>
          <a:p>
            <a:pPr algn="ctr"/>
            <a:endParaRPr lang="en-AU" sz="3600" dirty="0"/>
          </a:p>
          <a:p>
            <a:r>
              <a:rPr lang="en-AU" sz="2400" dirty="0"/>
              <a:t>Lurking variables: variables that are in the background.</a:t>
            </a:r>
          </a:p>
          <a:p>
            <a:endParaRPr lang="en-AU" sz="2400" dirty="0"/>
          </a:p>
          <a:p>
            <a:r>
              <a:rPr lang="en-AU" sz="2400" dirty="0"/>
              <a:t>You cannot state a causation relationship from a scatterplot alone, because there can be underlying variables that could be the actual cause.</a:t>
            </a:r>
          </a:p>
          <a:p>
            <a:endParaRPr lang="en-AU" sz="2400" dirty="0"/>
          </a:p>
          <a:p>
            <a:endParaRPr lang="en-AU" sz="2400" dirty="0"/>
          </a:p>
        </p:txBody>
      </p:sp>
    </p:spTree>
    <p:extLst>
      <p:ext uri="{BB962C8B-B14F-4D97-AF65-F5344CB8AC3E}">
        <p14:creationId xmlns:p14="http://schemas.microsoft.com/office/powerpoint/2010/main" val="9858604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284190-1549-4EC7-A27E-0A8178564AAC}"/>
              </a:ext>
            </a:extLst>
          </p:cNvPr>
          <p:cNvPicPr>
            <a:picLocks noChangeAspect="1"/>
          </p:cNvPicPr>
          <p:nvPr/>
        </p:nvPicPr>
        <p:blipFill>
          <a:blip r:embed="rId2"/>
          <a:stretch>
            <a:fillRect/>
          </a:stretch>
        </p:blipFill>
        <p:spPr>
          <a:xfrm>
            <a:off x="4294000" y="2723571"/>
            <a:ext cx="7512238" cy="3241459"/>
          </a:xfrm>
          <a:prstGeom prst="rect">
            <a:avLst/>
          </a:prstGeom>
        </p:spPr>
      </p:pic>
      <p:pic>
        <p:nvPicPr>
          <p:cNvPr id="5" name="Picture 4">
            <a:extLst>
              <a:ext uri="{FF2B5EF4-FFF2-40B4-BE49-F238E27FC236}">
                <a16:creationId xmlns:a16="http://schemas.microsoft.com/office/drawing/2014/main" id="{7608DCD8-4D9D-4A7D-BAC2-BCB654E41DA5}"/>
              </a:ext>
            </a:extLst>
          </p:cNvPr>
          <p:cNvPicPr>
            <a:picLocks noChangeAspect="1"/>
          </p:cNvPicPr>
          <p:nvPr/>
        </p:nvPicPr>
        <p:blipFill>
          <a:blip r:embed="rId3"/>
          <a:stretch>
            <a:fillRect/>
          </a:stretch>
        </p:blipFill>
        <p:spPr>
          <a:xfrm>
            <a:off x="385762" y="1143000"/>
            <a:ext cx="3724275" cy="3343275"/>
          </a:xfrm>
          <a:prstGeom prst="rect">
            <a:avLst/>
          </a:prstGeom>
        </p:spPr>
      </p:pic>
      <p:pic>
        <p:nvPicPr>
          <p:cNvPr id="6" name="Picture 5">
            <a:extLst>
              <a:ext uri="{FF2B5EF4-FFF2-40B4-BE49-F238E27FC236}">
                <a16:creationId xmlns:a16="http://schemas.microsoft.com/office/drawing/2014/main" id="{5141F676-635D-4796-B173-8ABCFA91CD18}"/>
              </a:ext>
            </a:extLst>
          </p:cNvPr>
          <p:cNvPicPr>
            <a:picLocks noChangeAspect="1"/>
          </p:cNvPicPr>
          <p:nvPr/>
        </p:nvPicPr>
        <p:blipFill>
          <a:blip r:embed="rId4"/>
          <a:stretch>
            <a:fillRect/>
          </a:stretch>
        </p:blipFill>
        <p:spPr>
          <a:xfrm>
            <a:off x="180975" y="408996"/>
            <a:ext cx="5705475" cy="361950"/>
          </a:xfrm>
          <a:prstGeom prst="rect">
            <a:avLst/>
          </a:prstGeom>
        </p:spPr>
      </p:pic>
    </p:spTree>
    <p:extLst>
      <p:ext uri="{BB962C8B-B14F-4D97-AF65-F5344CB8AC3E}">
        <p14:creationId xmlns:p14="http://schemas.microsoft.com/office/powerpoint/2010/main" val="19586878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4C01F0-BC49-4718-92D8-C33330CD8E18}"/>
              </a:ext>
            </a:extLst>
          </p:cNvPr>
          <p:cNvPicPr>
            <a:picLocks noChangeAspect="1"/>
          </p:cNvPicPr>
          <p:nvPr/>
        </p:nvPicPr>
        <p:blipFill>
          <a:blip r:embed="rId2"/>
          <a:stretch>
            <a:fillRect/>
          </a:stretch>
        </p:blipFill>
        <p:spPr>
          <a:xfrm>
            <a:off x="2209800" y="209550"/>
            <a:ext cx="7772400" cy="6438900"/>
          </a:xfrm>
          <a:prstGeom prst="rect">
            <a:avLst/>
          </a:prstGeom>
        </p:spPr>
      </p:pic>
    </p:spTree>
    <p:extLst>
      <p:ext uri="{BB962C8B-B14F-4D97-AF65-F5344CB8AC3E}">
        <p14:creationId xmlns:p14="http://schemas.microsoft.com/office/powerpoint/2010/main" val="26296432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8F4FF0-68BE-4707-8C2D-317FF5AFAB4C}"/>
              </a:ext>
            </a:extLst>
          </p:cNvPr>
          <p:cNvSpPr txBox="1"/>
          <p:nvPr/>
        </p:nvSpPr>
        <p:spPr>
          <a:xfrm>
            <a:off x="680059" y="696760"/>
            <a:ext cx="3171509" cy="923330"/>
          </a:xfrm>
          <a:prstGeom prst="rect">
            <a:avLst/>
          </a:prstGeom>
          <a:noFill/>
        </p:spPr>
        <p:txBody>
          <a:bodyPr wrap="none" rtlCol="0">
            <a:spAutoFit/>
          </a:bodyPr>
          <a:lstStyle/>
          <a:p>
            <a:r>
              <a:rPr lang="en-AU" dirty="0"/>
              <a:t>Complete the following work</a:t>
            </a:r>
          </a:p>
          <a:p>
            <a:endParaRPr lang="en-AU" dirty="0"/>
          </a:p>
          <a:p>
            <a:r>
              <a:rPr lang="en-AU" dirty="0"/>
              <a:t>KLUP Association and Causation</a:t>
            </a:r>
          </a:p>
        </p:txBody>
      </p:sp>
    </p:spTree>
    <p:extLst>
      <p:ext uri="{BB962C8B-B14F-4D97-AF65-F5344CB8AC3E}">
        <p14:creationId xmlns:p14="http://schemas.microsoft.com/office/powerpoint/2010/main" val="31184422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7 </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p:txBody>
          <a:bodyPr/>
          <a:lstStyle/>
          <a:p>
            <a:pPr marL="0" indent="0">
              <a:buNone/>
            </a:pPr>
            <a:r>
              <a:rPr lang="en-AU" dirty="0"/>
              <a:t>Topic: Residuals</a:t>
            </a:r>
          </a:p>
          <a:p>
            <a:pPr marL="0" indent="0">
              <a:buNone/>
            </a:pPr>
            <a:r>
              <a:rPr lang="en-AU" dirty="0"/>
              <a:t>EQ: What is the purpose of residuals and residual plots?</a:t>
            </a:r>
          </a:p>
          <a:p>
            <a:pPr marL="0" indent="0">
              <a:buNone/>
            </a:pPr>
            <a:endParaRPr lang="en-AU" dirty="0"/>
          </a:p>
          <a:p>
            <a:pPr marL="0" indent="0">
              <a:buNone/>
            </a:pPr>
            <a:r>
              <a:rPr lang="en-AU" dirty="0"/>
              <a:t>Syllabus points:</a:t>
            </a:r>
          </a:p>
          <a:p>
            <a:pPr marL="0" indent="0">
              <a:buNone/>
            </a:pPr>
            <a:r>
              <a:rPr lang="en-AU" dirty="0"/>
              <a:t>3.1.11 use a residual plot to assess the appropriateness of fitting a linear model to the data</a:t>
            </a:r>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5FB724AB-2B00-45EA-A769-7312FE5954DB}"/>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20957435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text, table, computer, man&#10;&#10;Description automatically generated">
            <a:extLst>
              <a:ext uri="{FF2B5EF4-FFF2-40B4-BE49-F238E27FC236}">
                <a16:creationId xmlns:a16="http://schemas.microsoft.com/office/drawing/2014/main" id="{F4BC4C79-F65B-4CD7-A420-00A669DF2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550" y="2585066"/>
            <a:ext cx="6362700" cy="4212156"/>
          </a:xfrm>
          <a:prstGeom prst="rect">
            <a:avLst/>
          </a:prstGeom>
        </p:spPr>
      </p:pic>
      <p:sp>
        <p:nvSpPr>
          <p:cNvPr id="2" name="Title 1">
            <a:extLst>
              <a:ext uri="{FF2B5EF4-FFF2-40B4-BE49-F238E27FC236}">
                <a16:creationId xmlns:a16="http://schemas.microsoft.com/office/drawing/2014/main" id="{B4B6E44C-F149-430B-A1D1-3019631F0D91}"/>
              </a:ext>
            </a:extLst>
          </p:cNvPr>
          <p:cNvSpPr>
            <a:spLocks noGrp="1"/>
          </p:cNvSpPr>
          <p:nvPr>
            <p:ph type="ctrTitle"/>
          </p:nvPr>
        </p:nvSpPr>
        <p:spPr>
          <a:xfrm>
            <a:off x="-2933700" y="-1304925"/>
            <a:ext cx="9144000" cy="2387600"/>
          </a:xfrm>
        </p:spPr>
        <p:txBody>
          <a:bodyPr/>
          <a:lstStyle/>
          <a:p>
            <a:r>
              <a:rPr lang="en-AU" dirty="0"/>
              <a:t>Residuals</a:t>
            </a:r>
          </a:p>
        </p:txBody>
      </p:sp>
      <p:sp>
        <p:nvSpPr>
          <p:cNvPr id="3" name="Subtitle 2">
            <a:extLst>
              <a:ext uri="{FF2B5EF4-FFF2-40B4-BE49-F238E27FC236}">
                <a16:creationId xmlns:a16="http://schemas.microsoft.com/office/drawing/2014/main" id="{C90EFE1D-2CEC-4700-B737-F8B98082D6F5}"/>
              </a:ext>
            </a:extLst>
          </p:cNvPr>
          <p:cNvSpPr>
            <a:spLocks noGrp="1"/>
          </p:cNvSpPr>
          <p:nvPr>
            <p:ph type="subTitle" idx="1"/>
          </p:nvPr>
        </p:nvSpPr>
        <p:spPr>
          <a:xfrm>
            <a:off x="2819400" y="387351"/>
            <a:ext cx="9144000" cy="512762"/>
          </a:xfrm>
        </p:spPr>
        <p:txBody>
          <a:bodyPr/>
          <a:lstStyle/>
          <a:p>
            <a:r>
              <a:rPr lang="en-AU" dirty="0"/>
              <a:t>How is the line of best fit calculated?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7B2D982-2E65-4331-B83E-0246E7B21C17}"/>
                  </a:ext>
                </a:extLst>
              </p:cNvPr>
              <p:cNvSpPr txBox="1"/>
              <p:nvPr/>
            </p:nvSpPr>
            <p:spPr>
              <a:xfrm>
                <a:off x="3068349" y="860908"/>
                <a:ext cx="8646102" cy="2031325"/>
              </a:xfrm>
              <a:prstGeom prst="rect">
                <a:avLst/>
              </a:prstGeom>
              <a:noFill/>
            </p:spPr>
            <p:txBody>
              <a:bodyPr wrap="square" rtlCol="0">
                <a:spAutoFit/>
              </a:bodyPr>
              <a:lstStyle/>
              <a:p>
                <a:r>
                  <a:rPr lang="en-AU" dirty="0"/>
                  <a:t>Residuals are the difference between the predicted value and the actual value.</a:t>
                </a:r>
              </a:p>
              <a:p>
                <a:endParaRPr lang="en-AU" dirty="0"/>
              </a:p>
              <a:p>
                <a:r>
                  <a:rPr lang="en-AU" dirty="0"/>
                  <a:t>Residual = Observed value – Predicted value</a:t>
                </a:r>
              </a:p>
              <a:p>
                <a:r>
                  <a:rPr lang="en-AU" dirty="0"/>
                  <a:t>                =</a:t>
                </a:r>
                <a14:m>
                  <m:oMath xmlns:m="http://schemas.openxmlformats.org/officeDocument/2006/math">
                    <m:r>
                      <a:rPr lang="en-AU" b="0" i="1" smtClean="0">
                        <a:latin typeface="Cambria Math" panose="02040503050406030204" pitchFamily="18" charset="0"/>
                      </a:rPr>
                      <m:t>𝑦</m:t>
                    </m:r>
                    <m:r>
                      <a:rPr lang="en-AU" b="0" i="1" smtClean="0">
                        <a:latin typeface="Cambria Math" panose="02040503050406030204" pitchFamily="18" charset="0"/>
                      </a:rPr>
                      <m:t>−</m:t>
                    </m:r>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𝑦</m:t>
                        </m:r>
                      </m:e>
                    </m:acc>
                  </m:oMath>
                </a14:m>
                <a:endParaRPr lang="en-AU" dirty="0"/>
              </a:p>
              <a:p>
                <a:endParaRPr lang="en-AU" dirty="0"/>
              </a:p>
              <a:p>
                <a:r>
                  <a:rPr lang="en-AU" dirty="0"/>
                  <a:t>When a calculator finds the line of best fit, it uses residuals. It finds the line that minimises the sum of the squares of the residual values for each data point.</a:t>
                </a:r>
              </a:p>
            </p:txBody>
          </p:sp>
        </mc:Choice>
        <mc:Fallback xmlns="">
          <p:sp>
            <p:nvSpPr>
              <p:cNvPr id="4" name="TextBox 3">
                <a:extLst>
                  <a:ext uri="{FF2B5EF4-FFF2-40B4-BE49-F238E27FC236}">
                    <a16:creationId xmlns:a16="http://schemas.microsoft.com/office/drawing/2014/main" id="{D7B2D982-2E65-4331-B83E-0246E7B21C17}"/>
                  </a:ext>
                </a:extLst>
              </p:cNvPr>
              <p:cNvSpPr txBox="1">
                <a:spLocks noRot="1" noChangeAspect="1" noMove="1" noResize="1" noEditPoints="1" noAdjustHandles="1" noChangeArrowheads="1" noChangeShapeType="1" noTextEdit="1"/>
              </p:cNvSpPr>
              <p:nvPr/>
            </p:nvSpPr>
            <p:spPr>
              <a:xfrm>
                <a:off x="3068349" y="860908"/>
                <a:ext cx="8646102" cy="2031325"/>
              </a:xfrm>
              <a:prstGeom prst="rect">
                <a:avLst/>
              </a:prstGeom>
              <a:blipFill>
                <a:blip r:embed="rId3"/>
                <a:stretch>
                  <a:fillRect l="-564" t="-1502" r="-352" b="-3904"/>
                </a:stretch>
              </a:blipFill>
            </p:spPr>
            <p:txBody>
              <a:bodyPr/>
              <a:lstStyle/>
              <a:p>
                <a:r>
                  <a:rPr lang="en-AU">
                    <a:noFill/>
                  </a:rPr>
                  <a:t> </a:t>
                </a:r>
              </a:p>
            </p:txBody>
          </p:sp>
        </mc:Fallback>
      </mc:AlternateContent>
      <p:sp>
        <p:nvSpPr>
          <p:cNvPr id="5" name="TextBox 4">
            <a:extLst>
              <a:ext uri="{FF2B5EF4-FFF2-40B4-BE49-F238E27FC236}">
                <a16:creationId xmlns:a16="http://schemas.microsoft.com/office/drawing/2014/main" id="{F501AD87-386E-417D-A9BE-5C6FF3B29803}"/>
              </a:ext>
            </a:extLst>
          </p:cNvPr>
          <p:cNvSpPr txBox="1"/>
          <p:nvPr/>
        </p:nvSpPr>
        <p:spPr>
          <a:xfrm>
            <a:off x="646545" y="4941455"/>
            <a:ext cx="237566" cy="369332"/>
          </a:xfrm>
          <a:prstGeom prst="rect">
            <a:avLst/>
          </a:prstGeom>
          <a:noFill/>
        </p:spPr>
        <p:txBody>
          <a:bodyPr wrap="none" rtlCol="0">
            <a:spAutoFit/>
          </a:bodyPr>
          <a:lstStyle/>
          <a:p>
            <a:r>
              <a:rPr lang="en-AU" dirty="0"/>
              <a:t> </a:t>
            </a:r>
          </a:p>
        </p:txBody>
      </p:sp>
      <p:sp>
        <p:nvSpPr>
          <p:cNvPr id="8" name="TextBox 7">
            <a:extLst>
              <a:ext uri="{FF2B5EF4-FFF2-40B4-BE49-F238E27FC236}">
                <a16:creationId xmlns:a16="http://schemas.microsoft.com/office/drawing/2014/main" id="{03133E4A-EE49-4A36-B954-973FA353B874}"/>
              </a:ext>
            </a:extLst>
          </p:cNvPr>
          <p:cNvSpPr txBox="1"/>
          <p:nvPr/>
        </p:nvSpPr>
        <p:spPr>
          <a:xfrm>
            <a:off x="7009245" y="3039870"/>
            <a:ext cx="4077452" cy="3724096"/>
          </a:xfrm>
          <a:prstGeom prst="rect">
            <a:avLst/>
          </a:prstGeom>
          <a:noFill/>
        </p:spPr>
        <p:txBody>
          <a:bodyPr wrap="square" rtlCol="0">
            <a:spAutoFit/>
          </a:bodyPr>
          <a:lstStyle/>
          <a:p>
            <a:r>
              <a:rPr lang="en-US" sz="2000" b="1" dirty="0"/>
              <a:t>Important</a:t>
            </a:r>
            <a:endParaRPr lang="en-US" sz="2000" dirty="0"/>
          </a:p>
          <a:p>
            <a:endParaRPr lang="en-US" sz="1600" b="1" dirty="0"/>
          </a:p>
          <a:p>
            <a:pPr marL="285750" indent="-285750">
              <a:buFont typeface="Arial" panose="020B0604020202020204" pitchFamily="34" charset="0"/>
              <a:buChar char="•"/>
            </a:pPr>
            <a:r>
              <a:rPr lang="en-US" sz="2000" dirty="0"/>
              <a:t>Residual = actual </a:t>
            </a:r>
            <a:r>
              <a:rPr lang="en-US" sz="2000" i="1" dirty="0"/>
              <a:t>y </a:t>
            </a:r>
            <a:r>
              <a:rPr lang="en-US" sz="2000" dirty="0"/>
              <a:t>value – predicted </a:t>
            </a:r>
            <a:r>
              <a:rPr lang="en-US" sz="2000" i="1" dirty="0"/>
              <a:t>y</a:t>
            </a:r>
            <a:r>
              <a:rPr lang="en-US" sz="2000" dirty="0"/>
              <a:t> value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actual </a:t>
            </a:r>
            <a:r>
              <a:rPr lang="en-US" sz="2000" i="1" dirty="0"/>
              <a:t>y</a:t>
            </a:r>
            <a:r>
              <a:rPr lang="en-US" sz="2000" dirty="0"/>
              <a:t> value can either be stated, be found in the data table or read from a scatter plot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predicted </a:t>
            </a:r>
            <a:r>
              <a:rPr lang="en-US" sz="2000" i="1" dirty="0"/>
              <a:t>y </a:t>
            </a:r>
            <a:r>
              <a:rPr lang="en-US" sz="2000" dirty="0"/>
              <a:t>value needs to be calculated using the linear regression model for the data</a:t>
            </a:r>
          </a:p>
        </p:txBody>
      </p:sp>
    </p:spTree>
    <p:extLst>
      <p:ext uri="{BB962C8B-B14F-4D97-AF65-F5344CB8AC3E}">
        <p14:creationId xmlns:p14="http://schemas.microsoft.com/office/powerpoint/2010/main" val="332204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 calcmode="lin" valueType="num">
                                      <p:cBhvr additive="base">
                                        <p:cTn id="1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anim calcmode="lin" valueType="num">
                                      <p:cBhvr additive="base">
                                        <p:cTn id="2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2E509-6C04-4522-A31F-87F4EF476855}"/>
              </a:ext>
            </a:extLst>
          </p:cNvPr>
          <p:cNvSpPr>
            <a:spLocks noGrp="1"/>
          </p:cNvSpPr>
          <p:nvPr>
            <p:ph type="title"/>
          </p:nvPr>
        </p:nvSpPr>
        <p:spPr>
          <a:xfrm>
            <a:off x="230999" y="-120650"/>
            <a:ext cx="10515600" cy="1325563"/>
          </a:xfrm>
        </p:spPr>
        <p:txBody>
          <a:bodyPr/>
          <a:lstStyle/>
          <a:p>
            <a:r>
              <a:rPr lang="en-AU" b="1" dirty="0"/>
              <a:t>Example:</a:t>
            </a:r>
          </a:p>
        </p:txBody>
      </p:sp>
      <p:pic>
        <p:nvPicPr>
          <p:cNvPr id="4" name="Content Placeholder 3" descr="A picture containing bird, table, knife&#10;&#10;Description automatically generated">
            <a:extLst>
              <a:ext uri="{FF2B5EF4-FFF2-40B4-BE49-F238E27FC236}">
                <a16:creationId xmlns:a16="http://schemas.microsoft.com/office/drawing/2014/main" id="{F9BC9969-6371-4D34-9CEC-E19273C7EF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6458" y="214313"/>
            <a:ext cx="8811666" cy="2212564"/>
          </a:xfrm>
          <a:prstGeom prst="rect">
            <a:avLst/>
          </a:prstGeom>
        </p:spPr>
      </p:pic>
      <p:pic>
        <p:nvPicPr>
          <p:cNvPr id="5" name="Picture 4" descr="A picture containing knife&#10;&#10;Description automatically generated">
            <a:extLst>
              <a:ext uri="{FF2B5EF4-FFF2-40B4-BE49-F238E27FC236}">
                <a16:creationId xmlns:a16="http://schemas.microsoft.com/office/drawing/2014/main" id="{B84FE1E8-6141-401D-9E95-A12ABEC77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3933205"/>
            <a:ext cx="4844716" cy="630379"/>
          </a:xfrm>
          <a:prstGeom prst="rect">
            <a:avLst/>
          </a:prstGeom>
        </p:spPr>
      </p:pic>
      <p:pic>
        <p:nvPicPr>
          <p:cNvPr id="6" name="Picture 5">
            <a:extLst>
              <a:ext uri="{FF2B5EF4-FFF2-40B4-BE49-F238E27FC236}">
                <a16:creationId xmlns:a16="http://schemas.microsoft.com/office/drawing/2014/main" id="{38EAC7B6-73F4-4BE3-A97C-4172DD1A40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5460291"/>
            <a:ext cx="5346331" cy="584160"/>
          </a:xfrm>
          <a:prstGeom prst="rect">
            <a:avLst/>
          </a:prstGeom>
        </p:spPr>
      </p:pic>
      <p:pic>
        <p:nvPicPr>
          <p:cNvPr id="7" name="Picture 6">
            <a:extLst>
              <a:ext uri="{FF2B5EF4-FFF2-40B4-BE49-F238E27FC236}">
                <a16:creationId xmlns:a16="http://schemas.microsoft.com/office/drawing/2014/main" id="{89A13C4B-858F-46F4-A489-613E0645D0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999" y="3614591"/>
            <a:ext cx="5725305" cy="698208"/>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B17EC572-837A-4654-8ADD-4A1F4B3B15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0999" y="4800885"/>
            <a:ext cx="5865483" cy="1561815"/>
          </a:xfrm>
          <a:prstGeom prst="rect">
            <a:avLst/>
          </a:prstGeom>
        </p:spPr>
      </p:pic>
    </p:spTree>
    <p:extLst>
      <p:ext uri="{BB962C8B-B14F-4D97-AF65-F5344CB8AC3E}">
        <p14:creationId xmlns:p14="http://schemas.microsoft.com/office/powerpoint/2010/main" val="410276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6E44C-F149-430B-A1D1-3019631F0D91}"/>
              </a:ext>
            </a:extLst>
          </p:cNvPr>
          <p:cNvSpPr>
            <a:spLocks noGrp="1"/>
          </p:cNvSpPr>
          <p:nvPr>
            <p:ph type="ctrTitle"/>
          </p:nvPr>
        </p:nvSpPr>
        <p:spPr>
          <a:xfrm>
            <a:off x="-2105025" y="-1526927"/>
            <a:ext cx="9144000" cy="2387600"/>
          </a:xfrm>
        </p:spPr>
        <p:txBody>
          <a:bodyPr>
            <a:normAutofit/>
          </a:bodyPr>
          <a:lstStyle/>
          <a:p>
            <a:r>
              <a:rPr lang="en-AU" sz="4800" b="1" dirty="0"/>
              <a:t>Residual Plots</a:t>
            </a:r>
          </a:p>
        </p:txBody>
      </p:sp>
      <p:sp>
        <p:nvSpPr>
          <p:cNvPr id="6" name="TextBox 5">
            <a:extLst>
              <a:ext uri="{FF2B5EF4-FFF2-40B4-BE49-F238E27FC236}">
                <a16:creationId xmlns:a16="http://schemas.microsoft.com/office/drawing/2014/main" id="{69154190-475A-4A5B-8C5C-A2048B4F8BEA}"/>
              </a:ext>
            </a:extLst>
          </p:cNvPr>
          <p:cNvSpPr txBox="1"/>
          <p:nvPr/>
        </p:nvSpPr>
        <p:spPr>
          <a:xfrm>
            <a:off x="430849" y="1173046"/>
            <a:ext cx="9579425" cy="1892826"/>
          </a:xfrm>
          <a:prstGeom prst="rect">
            <a:avLst/>
          </a:prstGeom>
          <a:noFill/>
        </p:spPr>
        <p:txBody>
          <a:bodyPr wrap="square" rtlCol="0">
            <a:spAutoFit/>
          </a:bodyPr>
          <a:lstStyle/>
          <a:p>
            <a:pPr>
              <a:lnSpc>
                <a:spcPct val="90000"/>
              </a:lnSpc>
            </a:pPr>
            <a:r>
              <a:rPr lang="en-US" altLang="en-US" dirty="0"/>
              <a:t>A Residual Plot is a scatterplot of </a:t>
            </a:r>
            <a:r>
              <a:rPr lang="en-US" altLang="en-US" dirty="0">
                <a:solidFill>
                  <a:schemeClr val="hlink"/>
                </a:solidFill>
              </a:rPr>
              <a:t>the regression residuals against</a:t>
            </a:r>
            <a:r>
              <a:rPr lang="en-US" altLang="en-US" dirty="0"/>
              <a:t> </a:t>
            </a:r>
            <a:r>
              <a:rPr lang="en-US" altLang="en-US" dirty="0">
                <a:solidFill>
                  <a:srgbClr val="CC0099"/>
                </a:solidFill>
              </a:rPr>
              <a:t>the explanatory variable</a:t>
            </a:r>
            <a:r>
              <a:rPr lang="en-US" altLang="en-US" dirty="0"/>
              <a:t>. </a:t>
            </a:r>
          </a:p>
          <a:p>
            <a:pPr>
              <a:lnSpc>
                <a:spcPct val="90000"/>
              </a:lnSpc>
            </a:pPr>
            <a:r>
              <a:rPr lang="en-US" altLang="en-US" dirty="0"/>
              <a:t>They help us assess the fit of a regression line.</a:t>
            </a:r>
            <a:br>
              <a:rPr lang="en-US" altLang="en-US" dirty="0"/>
            </a:br>
            <a:endParaRPr lang="en-US" altLang="en-US" dirty="0"/>
          </a:p>
          <a:p>
            <a:pPr>
              <a:lnSpc>
                <a:spcPct val="90000"/>
              </a:lnSpc>
            </a:pPr>
            <a:r>
              <a:rPr lang="en-US" altLang="en-US" dirty="0"/>
              <a:t>If the regression line captures the overall relationship between x and y, </a:t>
            </a:r>
            <a:r>
              <a:rPr lang="en-US" altLang="en-US" dirty="0">
                <a:solidFill>
                  <a:srgbClr val="CC0099"/>
                </a:solidFill>
              </a:rPr>
              <a:t>the residuals should have no systematic pattern. </a:t>
            </a:r>
          </a:p>
          <a:p>
            <a:endParaRPr lang="en-AU" dirty="0"/>
          </a:p>
          <a:p>
            <a:endParaRPr lang="en-AU" dirty="0"/>
          </a:p>
        </p:txBody>
      </p:sp>
      <p:pic>
        <p:nvPicPr>
          <p:cNvPr id="9" name="Picture 6" descr="figure-03-19a">
            <a:extLst>
              <a:ext uri="{FF2B5EF4-FFF2-40B4-BE49-F238E27FC236}">
                <a16:creationId xmlns:a16="http://schemas.microsoft.com/office/drawing/2014/main" id="{38C65F29-AEEF-41B9-A045-3DA6212156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68705" y="2705485"/>
            <a:ext cx="5562600" cy="2173288"/>
          </a:xfrm>
          <a:prstGeom prst="rect">
            <a:avLst/>
          </a:prstGeom>
          <a:noFill/>
        </p:spPr>
      </p:pic>
      <p:sp>
        <p:nvSpPr>
          <p:cNvPr id="3" name="Rectangle 2">
            <a:extLst>
              <a:ext uri="{FF2B5EF4-FFF2-40B4-BE49-F238E27FC236}">
                <a16:creationId xmlns:a16="http://schemas.microsoft.com/office/drawing/2014/main" id="{536255DD-7DAB-4467-A29E-6CBB6A04F60B}"/>
              </a:ext>
            </a:extLst>
          </p:cNvPr>
          <p:cNvSpPr/>
          <p:nvPr/>
        </p:nvSpPr>
        <p:spPr>
          <a:xfrm>
            <a:off x="6360697" y="3065872"/>
            <a:ext cx="3048000" cy="1200329"/>
          </a:xfrm>
          <a:prstGeom prst="rect">
            <a:avLst/>
          </a:prstGeom>
        </p:spPr>
        <p:txBody>
          <a:bodyPr wrap="square">
            <a:spAutoFit/>
          </a:bodyPr>
          <a:lstStyle/>
          <a:p>
            <a:r>
              <a:rPr lang="en-US" altLang="en-US" dirty="0"/>
              <a:t>The uniform scatter of points indicates that the regression line fits the data well, so the line is a good model.</a:t>
            </a:r>
          </a:p>
        </p:txBody>
      </p:sp>
    </p:spTree>
    <p:extLst>
      <p:ext uri="{BB962C8B-B14F-4D97-AF65-F5344CB8AC3E}">
        <p14:creationId xmlns:p14="http://schemas.microsoft.com/office/powerpoint/2010/main" val="356436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1000"/>
                                        <p:tgtEl>
                                          <p:spTgt spid="9">
                                            <p:bg/>
                                          </p:spTgt>
                                        </p:tgtEl>
                                      </p:cBhvr>
                                    </p:animEffect>
                                    <p:anim calcmode="lin" valueType="num">
                                      <p:cBhvr>
                                        <p:cTn id="8" dur="1000" fill="hold"/>
                                        <p:tgtEl>
                                          <p:spTgt spid="9">
                                            <p:bg/>
                                          </p:spTgt>
                                        </p:tgtEl>
                                        <p:attrNameLst>
                                          <p:attrName>ppt_x</p:attrName>
                                        </p:attrNameLst>
                                      </p:cBhvr>
                                      <p:tavLst>
                                        <p:tav tm="0">
                                          <p:val>
                                            <p:strVal val="#ppt_x"/>
                                          </p:val>
                                        </p:tav>
                                        <p:tav tm="100000">
                                          <p:val>
                                            <p:strVal val="#ppt_x"/>
                                          </p:val>
                                        </p:tav>
                                      </p:tavLst>
                                    </p:anim>
                                    <p:anim calcmode="lin" valueType="num">
                                      <p:cBhvr>
                                        <p:cTn id="9" dur="898" decel="100000" fill="hold"/>
                                        <p:tgtEl>
                                          <p:spTgt spid="9">
                                            <p:bg/>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898"/>
                                          </p:stCondLst>
                                        </p:cTn>
                                        <p:tgtEl>
                                          <p:spTgt spid="9">
                                            <p:bg/>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figure-03-19b">
            <a:extLst>
              <a:ext uri="{FF2B5EF4-FFF2-40B4-BE49-F238E27FC236}">
                <a16:creationId xmlns:a16="http://schemas.microsoft.com/office/drawing/2014/main" id="{5862545D-F338-4560-B132-C8CC1F9CC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25582" y="416070"/>
            <a:ext cx="5562600" cy="2155825"/>
          </a:xfrm>
          <a:prstGeom prst="rect">
            <a:avLst/>
          </a:prstGeom>
          <a:noFill/>
        </p:spPr>
      </p:pic>
      <p:sp>
        <p:nvSpPr>
          <p:cNvPr id="5" name="Rectangle 4">
            <a:extLst>
              <a:ext uri="{FF2B5EF4-FFF2-40B4-BE49-F238E27FC236}">
                <a16:creationId xmlns:a16="http://schemas.microsoft.com/office/drawing/2014/main" id="{E1EFD90A-A6A1-486E-BCA9-A4368FDFA587}"/>
              </a:ext>
            </a:extLst>
          </p:cNvPr>
          <p:cNvSpPr/>
          <p:nvPr/>
        </p:nvSpPr>
        <p:spPr>
          <a:xfrm>
            <a:off x="325582" y="2571895"/>
            <a:ext cx="5559792" cy="369332"/>
          </a:xfrm>
          <a:prstGeom prst="rect">
            <a:avLst/>
          </a:prstGeom>
        </p:spPr>
        <p:txBody>
          <a:bodyPr wrap="none">
            <a:spAutoFit/>
          </a:bodyPr>
          <a:lstStyle/>
          <a:p>
            <a:r>
              <a:rPr lang="en-US" altLang="en-US" dirty="0"/>
              <a:t>A curved pattern shows that the relationship is not linear.</a:t>
            </a:r>
          </a:p>
        </p:txBody>
      </p:sp>
      <p:pic>
        <p:nvPicPr>
          <p:cNvPr id="6" name="Picture 7" descr="figure-03-19c">
            <a:extLst>
              <a:ext uri="{FF2B5EF4-FFF2-40B4-BE49-F238E27FC236}">
                <a16:creationId xmlns:a16="http://schemas.microsoft.com/office/drawing/2014/main" id="{BF6D3D3E-614F-4B0E-8346-D338C8E93F8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6431975" y="416070"/>
            <a:ext cx="5562600" cy="2103438"/>
          </a:xfrm>
          <a:noFill/>
        </p:spPr>
      </p:pic>
      <p:sp>
        <p:nvSpPr>
          <p:cNvPr id="7" name="Rectangle 6">
            <a:extLst>
              <a:ext uri="{FF2B5EF4-FFF2-40B4-BE49-F238E27FC236}">
                <a16:creationId xmlns:a16="http://schemas.microsoft.com/office/drawing/2014/main" id="{245638B5-9B60-48AD-B020-A4E1A92F0625}"/>
              </a:ext>
            </a:extLst>
          </p:cNvPr>
          <p:cNvSpPr/>
          <p:nvPr/>
        </p:nvSpPr>
        <p:spPr>
          <a:xfrm>
            <a:off x="6165275" y="2571895"/>
            <a:ext cx="6096000" cy="1200329"/>
          </a:xfrm>
          <a:prstGeom prst="rect">
            <a:avLst/>
          </a:prstGeom>
        </p:spPr>
        <p:txBody>
          <a:bodyPr>
            <a:spAutoFit/>
          </a:bodyPr>
          <a:lstStyle/>
          <a:p>
            <a:r>
              <a:rPr lang="en-US" altLang="en-US" dirty="0"/>
              <a:t>Increasing or decreasing spread about the line. The response variable y has more spread for larger values of the explanatory variable x, so the prediction will be less accurate when x is large.</a:t>
            </a:r>
          </a:p>
        </p:txBody>
      </p:sp>
    </p:spTree>
    <p:extLst>
      <p:ext uri="{BB962C8B-B14F-4D97-AF65-F5344CB8AC3E}">
        <p14:creationId xmlns:p14="http://schemas.microsoft.com/office/powerpoint/2010/main" val="756745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1F1702-E10D-4760-B8DA-A064B70BE6FF}"/>
              </a:ext>
            </a:extLst>
          </p:cNvPr>
          <p:cNvPicPr>
            <a:picLocks noChangeAspect="1"/>
          </p:cNvPicPr>
          <p:nvPr/>
        </p:nvPicPr>
        <p:blipFill>
          <a:blip r:embed="rId2"/>
          <a:stretch>
            <a:fillRect/>
          </a:stretch>
        </p:blipFill>
        <p:spPr>
          <a:xfrm>
            <a:off x="1728321" y="0"/>
            <a:ext cx="8111004" cy="6858000"/>
          </a:xfrm>
          <a:prstGeom prst="rect">
            <a:avLst/>
          </a:prstGeom>
        </p:spPr>
      </p:pic>
      <p:cxnSp>
        <p:nvCxnSpPr>
          <p:cNvPr id="6" name="Straight Connector 5">
            <a:extLst>
              <a:ext uri="{FF2B5EF4-FFF2-40B4-BE49-F238E27FC236}">
                <a16:creationId xmlns:a16="http://schemas.microsoft.com/office/drawing/2014/main" id="{73F0D761-8545-4865-AA56-7BFB1689C524}"/>
              </a:ext>
            </a:extLst>
          </p:cNvPr>
          <p:cNvCxnSpPr>
            <a:stCxn id="4" idx="0"/>
            <a:endCxn id="4" idx="2"/>
          </p:cNvCxnSpPr>
          <p:nvPr/>
        </p:nvCxnSpPr>
        <p:spPr>
          <a:xfrm>
            <a:off x="5783823" y="0"/>
            <a:ext cx="0" cy="685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4614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2410A-5687-4680-AB5A-F151694A3DB2}"/>
              </a:ext>
            </a:extLst>
          </p:cNvPr>
          <p:cNvSpPr>
            <a:spLocks noGrp="1"/>
          </p:cNvSpPr>
          <p:nvPr>
            <p:ph type="title"/>
          </p:nvPr>
        </p:nvSpPr>
        <p:spPr/>
        <p:txBody>
          <a:bodyPr/>
          <a:lstStyle/>
          <a:p>
            <a:r>
              <a:rPr lang="en-AU" dirty="0"/>
              <a:t>work</a:t>
            </a:r>
          </a:p>
        </p:txBody>
      </p:sp>
      <p:sp>
        <p:nvSpPr>
          <p:cNvPr id="3" name="Content Placeholder 2">
            <a:extLst>
              <a:ext uri="{FF2B5EF4-FFF2-40B4-BE49-F238E27FC236}">
                <a16:creationId xmlns:a16="http://schemas.microsoft.com/office/drawing/2014/main" id="{C0AF7739-DA7D-4FB6-9969-E0943FB36F2F}"/>
              </a:ext>
            </a:extLst>
          </p:cNvPr>
          <p:cNvSpPr>
            <a:spLocks noGrp="1"/>
          </p:cNvSpPr>
          <p:nvPr>
            <p:ph idx="1"/>
          </p:nvPr>
        </p:nvSpPr>
        <p:spPr/>
        <p:txBody>
          <a:bodyPr/>
          <a:lstStyle/>
          <a:p>
            <a:pPr marL="0" indent="0">
              <a:buNone/>
            </a:pPr>
            <a:r>
              <a:rPr lang="en-AU" dirty="0"/>
              <a:t>KLUP residuals  </a:t>
            </a:r>
          </a:p>
        </p:txBody>
      </p:sp>
    </p:spTree>
    <p:extLst>
      <p:ext uri="{BB962C8B-B14F-4D97-AF65-F5344CB8AC3E}">
        <p14:creationId xmlns:p14="http://schemas.microsoft.com/office/powerpoint/2010/main" val="2993058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4908-264B-4CBF-AFC3-8682551916D0}"/>
              </a:ext>
            </a:extLst>
          </p:cNvPr>
          <p:cNvSpPr>
            <a:spLocks noGrp="1"/>
          </p:cNvSpPr>
          <p:nvPr>
            <p:ph type="title"/>
          </p:nvPr>
        </p:nvSpPr>
        <p:spPr/>
        <p:txBody>
          <a:bodyPr/>
          <a:lstStyle/>
          <a:p>
            <a:r>
              <a:rPr lang="en-AU" dirty="0"/>
              <a:t>Lesson 8 </a:t>
            </a:r>
          </a:p>
        </p:txBody>
      </p:sp>
      <p:sp>
        <p:nvSpPr>
          <p:cNvPr id="3" name="Content Placeholder 2">
            <a:extLst>
              <a:ext uri="{FF2B5EF4-FFF2-40B4-BE49-F238E27FC236}">
                <a16:creationId xmlns:a16="http://schemas.microsoft.com/office/drawing/2014/main" id="{9F62BEC3-3C06-460D-9642-B3983F1AAE84}"/>
              </a:ext>
            </a:extLst>
          </p:cNvPr>
          <p:cNvSpPr>
            <a:spLocks noGrp="1"/>
          </p:cNvSpPr>
          <p:nvPr>
            <p:ph idx="1"/>
          </p:nvPr>
        </p:nvSpPr>
        <p:spPr/>
        <p:txBody>
          <a:bodyPr/>
          <a:lstStyle/>
          <a:p>
            <a:pPr marL="0" indent="0">
              <a:buNone/>
            </a:pPr>
            <a:r>
              <a:rPr lang="en-AU" dirty="0"/>
              <a:t>Topic: Coefficient of Determination</a:t>
            </a:r>
          </a:p>
          <a:p>
            <a:pPr marL="0" indent="0">
              <a:buNone/>
            </a:pPr>
            <a:r>
              <a:rPr lang="en-AU" dirty="0"/>
              <a:t>EQ:?</a:t>
            </a:r>
          </a:p>
          <a:p>
            <a:pPr marL="0" indent="0">
              <a:buNone/>
            </a:pPr>
            <a:endParaRPr lang="en-AU" dirty="0"/>
          </a:p>
          <a:p>
            <a:pPr marL="0" indent="0">
              <a:buNone/>
            </a:pPr>
            <a:r>
              <a:rPr lang="en-AU" dirty="0"/>
              <a:t>Syllabus points:</a:t>
            </a:r>
          </a:p>
          <a:p>
            <a:pPr marL="0" indent="0">
              <a:buNone/>
            </a:pPr>
            <a:r>
              <a:rPr lang="en-AU" dirty="0"/>
              <a:t>3.1.13	 use the coefficient of determination to assess the strength of a linear association in terms of the explained variation </a:t>
            </a:r>
          </a:p>
          <a:p>
            <a:pPr marL="0" indent="0">
              <a:buNone/>
            </a:pPr>
            <a:endParaRPr lang="en-AU" dirty="0"/>
          </a:p>
          <a:p>
            <a:pPr marL="0" indent="0">
              <a:buNone/>
            </a:pPr>
            <a:endParaRPr lang="en-AU" dirty="0"/>
          </a:p>
        </p:txBody>
      </p:sp>
      <p:sp>
        <p:nvSpPr>
          <p:cNvPr id="4" name="Rectangle 3">
            <a:hlinkClick r:id="rId2" action="ppaction://hlinksldjump"/>
            <a:extLst>
              <a:ext uri="{FF2B5EF4-FFF2-40B4-BE49-F238E27FC236}">
                <a16:creationId xmlns:a16="http://schemas.microsoft.com/office/drawing/2014/main" id="{E1965094-07BB-48A0-8EAD-A585D6688152}"/>
              </a:ext>
            </a:extLst>
          </p:cNvPr>
          <p:cNvSpPr/>
          <p:nvPr/>
        </p:nvSpPr>
        <p:spPr>
          <a:xfrm>
            <a:off x="8957569" y="257452"/>
            <a:ext cx="1473693" cy="621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Back to Contents</a:t>
            </a:r>
          </a:p>
        </p:txBody>
      </p:sp>
    </p:spTree>
    <p:extLst>
      <p:ext uri="{BB962C8B-B14F-4D97-AF65-F5344CB8AC3E}">
        <p14:creationId xmlns:p14="http://schemas.microsoft.com/office/powerpoint/2010/main" val="13626835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57479-5393-4191-B515-BFEC3196F546}"/>
              </a:ext>
            </a:extLst>
          </p:cNvPr>
          <p:cNvSpPr>
            <a:spLocks noGrp="1"/>
          </p:cNvSpPr>
          <p:nvPr>
            <p:ph type="title"/>
          </p:nvPr>
        </p:nvSpPr>
        <p:spPr/>
        <p:txBody>
          <a:bodyPr/>
          <a:lstStyle/>
          <a:p>
            <a:r>
              <a:rPr lang="en-AU" dirty="0"/>
              <a:t>Coefficient of Determination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5E5EB8-129A-4DFD-A8CA-D8874B16A710}"/>
                  </a:ext>
                </a:extLst>
              </p:cNvPr>
              <p:cNvSpPr>
                <a:spLocks noGrp="1"/>
              </p:cNvSpPr>
              <p:nvPr>
                <p:ph idx="1"/>
              </p:nvPr>
            </p:nvSpPr>
            <p:spPr/>
            <p:txBody>
              <a:bodyPr/>
              <a:lstStyle/>
              <a:p>
                <a:pPr marL="0" indent="0">
                  <a:buNone/>
                </a:pPr>
                <a:r>
                  <a:rPr lang="en-AU" dirty="0"/>
                  <a:t>The coefficient of determination </a:t>
                </a:r>
                <a14:m>
                  <m:oMath xmlns:m="http://schemas.openxmlformats.org/officeDocument/2006/math">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𝑟</m:t>
                        </m:r>
                      </m:e>
                      <m:sup>
                        <m:r>
                          <a:rPr lang="en-AU" b="0" i="1" smtClean="0">
                            <a:latin typeface="Cambria Math" panose="02040503050406030204" pitchFamily="18" charset="0"/>
                          </a:rPr>
                          <m:t>2</m:t>
                        </m:r>
                      </m:sup>
                    </m:sSup>
                    <m:r>
                      <a:rPr lang="en-AU" b="0" i="1" smtClean="0">
                        <a:latin typeface="Cambria Math" panose="02040503050406030204" pitchFamily="18" charset="0"/>
                      </a:rPr>
                      <m:t>)</m:t>
                    </m:r>
                  </m:oMath>
                </a14:m>
                <a:r>
                  <a:rPr lang="en-AU" dirty="0"/>
                  <a:t> is the correlation coefficient squared.</a:t>
                </a:r>
              </a:p>
              <a:p>
                <a:pPr marL="0" indent="0">
                  <a:buNone/>
                </a:pPr>
                <a:endParaRPr lang="en-AU" dirty="0"/>
              </a:p>
              <a:p>
                <a:pPr marL="0" indent="0">
                  <a:buNone/>
                </a:pPr>
                <a:r>
                  <a:rPr lang="en-AU" dirty="0"/>
                  <a:t>It tells the percentage of the variation in the response variable that is explained (determined) by the model and the explanatory variable</a:t>
                </a:r>
              </a:p>
              <a:p>
                <a:pPr marL="0" indent="0">
                  <a:buNone/>
                </a:pPr>
                <a:endParaRPr lang="en-AU" dirty="0"/>
              </a:p>
              <a:p>
                <a:pPr marL="0" indent="0">
                  <a:buNone/>
                </a:pPr>
                <a:endParaRPr lang="en-AU" dirty="0"/>
              </a:p>
              <a:p>
                <a:pPr marL="0" indent="0">
                  <a:buNone/>
                </a:pPr>
                <a:endParaRPr lang="en-AU" dirty="0"/>
              </a:p>
            </p:txBody>
          </p:sp>
        </mc:Choice>
        <mc:Fallback xmlns="">
          <p:sp>
            <p:nvSpPr>
              <p:cNvPr id="3" name="Content Placeholder 2">
                <a:extLst>
                  <a:ext uri="{FF2B5EF4-FFF2-40B4-BE49-F238E27FC236}">
                    <a16:creationId xmlns:a16="http://schemas.microsoft.com/office/drawing/2014/main" id="{295E5EB8-129A-4DFD-A8CA-D8874B16A710}"/>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AU">
                    <a:noFill/>
                  </a:rPr>
                  <a:t> </a:t>
                </a:r>
              </a:p>
            </p:txBody>
          </p:sp>
        </mc:Fallback>
      </mc:AlternateContent>
    </p:spTree>
    <p:extLst>
      <p:ext uri="{BB962C8B-B14F-4D97-AF65-F5344CB8AC3E}">
        <p14:creationId xmlns:p14="http://schemas.microsoft.com/office/powerpoint/2010/main" val="41768529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BE353-DB42-4F33-A516-D026575F2757}"/>
              </a:ext>
            </a:extLst>
          </p:cNvPr>
          <p:cNvSpPr>
            <a:spLocks noGrp="1"/>
          </p:cNvSpPr>
          <p:nvPr>
            <p:ph type="title"/>
          </p:nvPr>
        </p:nvSpPr>
        <p:spPr/>
        <p:txBody>
          <a:bodyPr/>
          <a:lstStyle/>
          <a:p>
            <a:r>
              <a:rPr lang="en-AU" dirty="0"/>
              <a:t>Example</a:t>
            </a:r>
          </a:p>
        </p:txBody>
      </p:sp>
      <p:pic>
        <p:nvPicPr>
          <p:cNvPr id="4" name="Content Placeholder 3">
            <a:extLst>
              <a:ext uri="{FF2B5EF4-FFF2-40B4-BE49-F238E27FC236}">
                <a16:creationId xmlns:a16="http://schemas.microsoft.com/office/drawing/2014/main" id="{7B41EA9E-484F-4CD6-82D9-B7AEB143A1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18017" y="148728"/>
            <a:ext cx="3731033" cy="347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F124B40-7A9E-4CF4-AACD-22ADC117DE91}"/>
              </a:ext>
            </a:extLst>
          </p:cNvPr>
          <p:cNvSpPr/>
          <p:nvPr/>
        </p:nvSpPr>
        <p:spPr>
          <a:xfrm>
            <a:off x="1134858" y="2294205"/>
            <a:ext cx="8448675" cy="3416320"/>
          </a:xfrm>
          <a:prstGeom prst="rect">
            <a:avLst/>
          </a:prstGeom>
        </p:spPr>
        <p:txBody>
          <a:bodyPr wrap="square">
            <a:spAutoFit/>
          </a:bodyPr>
          <a:lstStyle/>
          <a:p>
            <a:pPr>
              <a:lnSpc>
                <a:spcPct val="90000"/>
              </a:lnSpc>
              <a:buFont typeface="Wingdings" pitchFamily="2" charset="2"/>
              <a:buChar char="n"/>
              <a:defRPr/>
            </a:pPr>
            <a:r>
              <a:rPr lang="en-US" sz="2400" kern="0" dirty="0">
                <a:latin typeface="Calibri" charset="0"/>
                <a:ea typeface="Calibri" charset="0"/>
                <a:cs typeface="Calibri" charset="0"/>
              </a:rPr>
              <a:t>Example:    </a:t>
            </a:r>
            <a:r>
              <a:rPr lang="en-US" sz="2400" i="1" kern="0" dirty="0">
                <a:latin typeface="Calibri" charset="0"/>
                <a:ea typeface="Calibri" charset="0"/>
                <a:cs typeface="Calibri" charset="0"/>
              </a:rPr>
              <a:t>r</a:t>
            </a:r>
            <a:r>
              <a:rPr lang="en-US" sz="2400" i="1" kern="0" baseline="30000" dirty="0">
                <a:latin typeface="Calibri" charset="0"/>
                <a:ea typeface="Calibri" charset="0"/>
                <a:cs typeface="Calibri" charset="0"/>
              </a:rPr>
              <a:t>2</a:t>
            </a:r>
            <a:r>
              <a:rPr lang="en-US" sz="2400" kern="0" dirty="0">
                <a:latin typeface="Calibri" charset="0"/>
                <a:ea typeface="Calibri" charset="0"/>
                <a:cs typeface="Calibri" charset="0"/>
              </a:rPr>
              <a:t> =0.927 </a:t>
            </a:r>
          </a:p>
          <a:p>
            <a:pPr>
              <a:lnSpc>
                <a:spcPct val="90000"/>
              </a:lnSpc>
              <a:defRPr/>
            </a:pPr>
            <a:r>
              <a:rPr lang="en-US" sz="2400" kern="0" dirty="0">
                <a:latin typeface="Calibri" charset="0"/>
                <a:ea typeface="Calibri" charset="0"/>
                <a:cs typeface="Calibri" charset="0"/>
              </a:rPr>
              <a:t>                            as a percentage this is 92.7%</a:t>
            </a:r>
          </a:p>
          <a:p>
            <a:pPr>
              <a:lnSpc>
                <a:spcPct val="90000"/>
              </a:lnSpc>
              <a:defRPr/>
            </a:pPr>
            <a:endParaRPr lang="en-US" sz="2400" kern="0" dirty="0">
              <a:latin typeface="Calibri" charset="0"/>
              <a:ea typeface="Calibri" charset="0"/>
              <a:cs typeface="Calibri" charset="0"/>
            </a:endParaRPr>
          </a:p>
          <a:p>
            <a:pPr>
              <a:lnSpc>
                <a:spcPct val="90000"/>
              </a:lnSpc>
              <a:buFont typeface="Wingdings" pitchFamily="2" charset="2"/>
              <a:buChar char="n"/>
              <a:defRPr/>
            </a:pPr>
            <a:r>
              <a:rPr lang="en-US" sz="2400" b="1" kern="0" dirty="0">
                <a:latin typeface="Calibri" charset="0"/>
                <a:ea typeface="Calibri" charset="0"/>
                <a:cs typeface="Calibri" charset="0"/>
              </a:rPr>
              <a:t>Interpretation:</a:t>
            </a:r>
          </a:p>
          <a:p>
            <a:pPr lvl="1">
              <a:lnSpc>
                <a:spcPct val="90000"/>
              </a:lnSpc>
              <a:defRPr/>
            </a:pPr>
            <a:r>
              <a:rPr lang="en-US" sz="2400" kern="0" dirty="0">
                <a:latin typeface="Calibri" charset="0"/>
                <a:ea typeface="Calibri" charset="0"/>
                <a:cs typeface="Calibri" charset="0"/>
              </a:rPr>
              <a:t>Almost 93% of the variability in the amount of water consumed is explained by outside temperature using this model.</a:t>
            </a:r>
          </a:p>
          <a:p>
            <a:pPr lvl="1">
              <a:lnSpc>
                <a:spcPct val="90000"/>
              </a:lnSpc>
              <a:defRPr/>
            </a:pPr>
            <a:endParaRPr lang="en-US" sz="2400" kern="0" dirty="0">
              <a:latin typeface="Calibri" charset="0"/>
              <a:ea typeface="Calibri" charset="0"/>
              <a:cs typeface="Calibri" charset="0"/>
            </a:endParaRPr>
          </a:p>
          <a:p>
            <a:pPr lvl="1">
              <a:lnSpc>
                <a:spcPct val="90000"/>
              </a:lnSpc>
              <a:defRPr/>
            </a:pPr>
            <a:r>
              <a:rPr lang="en-US" sz="2400" kern="0" dirty="0">
                <a:latin typeface="Calibri" charset="0"/>
                <a:ea typeface="Calibri" charset="0"/>
                <a:cs typeface="Calibri" charset="0"/>
              </a:rPr>
              <a:t>Note:  Therefore 7% of the variation in the amount of water consumed is not explained by this model using temperature.</a:t>
            </a:r>
          </a:p>
        </p:txBody>
      </p:sp>
    </p:spTree>
    <p:extLst>
      <p:ext uri="{BB962C8B-B14F-4D97-AF65-F5344CB8AC3E}">
        <p14:creationId xmlns:p14="http://schemas.microsoft.com/office/powerpoint/2010/main" val="28295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201A6CEA-F628-4BD1-96B9-4CDB5FBC9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00" y="652393"/>
            <a:ext cx="3018811" cy="2584450"/>
          </a:xfrm>
          <a:prstGeom prst="rect">
            <a:avLst/>
          </a:prstGeom>
        </p:spPr>
      </p:pic>
      <p:pic>
        <p:nvPicPr>
          <p:cNvPr id="5" name="Picture 4" descr="A close up of a piece of paper&#10;&#10;Description automatically generated">
            <a:extLst>
              <a:ext uri="{FF2B5EF4-FFF2-40B4-BE49-F238E27FC236}">
                <a16:creationId xmlns:a16="http://schemas.microsoft.com/office/drawing/2014/main" id="{1F1D8D96-698E-4C97-B24B-7658C7020F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5090" y="667504"/>
            <a:ext cx="2849047" cy="2667000"/>
          </a:xfrm>
          <a:prstGeom prst="rect">
            <a:avLst/>
          </a:prstGeom>
        </p:spPr>
      </p:pic>
      <p:pic>
        <p:nvPicPr>
          <p:cNvPr id="6" name="Picture 5">
            <a:extLst>
              <a:ext uri="{FF2B5EF4-FFF2-40B4-BE49-F238E27FC236}">
                <a16:creationId xmlns:a16="http://schemas.microsoft.com/office/drawing/2014/main" id="{0C32FDD8-C30A-4DD0-86DE-EF8202F1A6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911" y="4578350"/>
            <a:ext cx="11012170" cy="1320800"/>
          </a:xfrm>
          <a:prstGeom prst="rect">
            <a:avLst/>
          </a:prstGeom>
        </p:spPr>
      </p:pic>
      <p:sp>
        <p:nvSpPr>
          <p:cNvPr id="7" name="TextBox 6">
            <a:extLst>
              <a:ext uri="{FF2B5EF4-FFF2-40B4-BE49-F238E27FC236}">
                <a16:creationId xmlns:a16="http://schemas.microsoft.com/office/drawing/2014/main" id="{953750F9-6974-4A60-8EA8-E3C4C41C45E7}"/>
              </a:ext>
            </a:extLst>
          </p:cNvPr>
          <p:cNvSpPr txBox="1"/>
          <p:nvPr/>
        </p:nvSpPr>
        <p:spPr>
          <a:xfrm>
            <a:off x="3158511" y="569843"/>
            <a:ext cx="301881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Here we have a perfect correlation, or r =1</a:t>
            </a:r>
          </a:p>
          <a:p>
            <a:pPr marL="285750" indent="-285750">
              <a:buFont typeface="Arial" panose="020B0604020202020204" pitchFamily="34" charset="0"/>
              <a:buChar char="•"/>
            </a:pPr>
            <a:r>
              <a:rPr lang="en-US" dirty="0"/>
              <a:t>R</a:t>
            </a:r>
            <a:r>
              <a:rPr lang="en-US" baseline="30000" dirty="0"/>
              <a:t>2</a:t>
            </a:r>
            <a:r>
              <a:rPr lang="en-US" dirty="0"/>
              <a:t> is also 1</a:t>
            </a:r>
          </a:p>
          <a:p>
            <a:pPr marL="285750" indent="-285750">
              <a:buFont typeface="Arial" panose="020B0604020202020204" pitchFamily="34" charset="0"/>
              <a:buChar char="•"/>
            </a:pPr>
            <a:r>
              <a:rPr lang="en-US" dirty="0"/>
              <a:t>This means that 100% of the variation in the cooking time is explained, or accounted for, by the relationship between the two variables (cooking time and weight)</a:t>
            </a:r>
          </a:p>
        </p:txBody>
      </p:sp>
      <p:sp>
        <p:nvSpPr>
          <p:cNvPr id="8" name="TextBox 7">
            <a:extLst>
              <a:ext uri="{FF2B5EF4-FFF2-40B4-BE49-F238E27FC236}">
                <a16:creationId xmlns:a16="http://schemas.microsoft.com/office/drawing/2014/main" id="{6C927909-A924-40D2-ABF3-72C0F8553E7B}"/>
              </a:ext>
            </a:extLst>
          </p:cNvPr>
          <p:cNvSpPr txBox="1"/>
          <p:nvPr/>
        </p:nvSpPr>
        <p:spPr>
          <a:xfrm>
            <a:off x="9196132" y="915154"/>
            <a:ext cx="2849047" cy="2862322"/>
          </a:xfrm>
          <a:prstGeom prst="rect">
            <a:avLst/>
          </a:prstGeom>
          <a:noFill/>
        </p:spPr>
        <p:txBody>
          <a:bodyPr wrap="square" rtlCol="0">
            <a:spAutoFit/>
          </a:bodyPr>
          <a:lstStyle/>
          <a:p>
            <a:pPr marL="285750" indent="-285750">
              <a:buFont typeface="Arial" panose="020B0604020202020204" pitchFamily="34" charset="0"/>
              <a:buChar char="•"/>
            </a:pPr>
            <a:r>
              <a:rPr lang="en-US" dirty="0"/>
              <a:t>Here we have a correlation coefficient, of r = 0.823</a:t>
            </a:r>
          </a:p>
          <a:p>
            <a:pPr marL="285750" indent="-285750">
              <a:buFont typeface="Arial" panose="020B0604020202020204" pitchFamily="34" charset="0"/>
              <a:buChar char="•"/>
            </a:pPr>
            <a:r>
              <a:rPr lang="en-US" dirty="0"/>
              <a:t>R</a:t>
            </a:r>
            <a:r>
              <a:rPr lang="en-US" baseline="30000" dirty="0"/>
              <a:t>2</a:t>
            </a:r>
            <a:r>
              <a:rPr lang="en-US" dirty="0"/>
              <a:t> = 0.677</a:t>
            </a:r>
          </a:p>
          <a:p>
            <a:pPr marL="285750" indent="-285750">
              <a:buFont typeface="Arial" panose="020B0604020202020204" pitchFamily="34" charset="0"/>
              <a:buChar char="•"/>
            </a:pPr>
            <a:r>
              <a:rPr lang="en-US" dirty="0"/>
              <a:t>This means that approx. 68% of the variation in death rates due to heart disease can be explained by the variation in foodstuff consumption</a:t>
            </a:r>
          </a:p>
        </p:txBody>
      </p:sp>
      <p:cxnSp>
        <p:nvCxnSpPr>
          <p:cNvPr id="10" name="Straight Connector 9">
            <a:extLst>
              <a:ext uri="{FF2B5EF4-FFF2-40B4-BE49-F238E27FC236}">
                <a16:creationId xmlns:a16="http://schemas.microsoft.com/office/drawing/2014/main" id="{B17066C2-696A-4AD3-8E5B-A9A06B98BA71}"/>
              </a:ext>
            </a:extLst>
          </p:cNvPr>
          <p:cNvCxnSpPr/>
          <p:nvPr/>
        </p:nvCxnSpPr>
        <p:spPr>
          <a:xfrm>
            <a:off x="6362700" y="0"/>
            <a:ext cx="0" cy="4495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434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blinds(horizontal)">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8">
                                            <p:txEl>
                                              <p:pRg st="1" end="1"/>
                                            </p:txEl>
                                          </p:spTgt>
                                        </p:tgtEl>
                                        <p:attrNameLst>
                                          <p:attrName>style.visibility</p:attrName>
                                        </p:attrNameLst>
                                      </p:cBhvr>
                                      <p:to>
                                        <p:strVal val="visible"/>
                                      </p:to>
                                    </p:set>
                                    <p:animEffect transition="in" filter="blinds(horizontal)">
                                      <p:cBhvr>
                                        <p:cTn id="30" dur="500"/>
                                        <p:tgtEl>
                                          <p:spTgt spid="8">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animEffect transition="in" filter="blinds(horizontal)">
                                      <p:cBhvr>
                                        <p:cTn id="35" dur="500"/>
                                        <p:tgtEl>
                                          <p:spTgt spid="8">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water&#10;&#10;Description automatically generated">
            <a:extLst>
              <a:ext uri="{FF2B5EF4-FFF2-40B4-BE49-F238E27FC236}">
                <a16:creationId xmlns:a16="http://schemas.microsoft.com/office/drawing/2014/main" id="{80494D20-8E21-41C0-9B9A-937ED5E6F0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2785"/>
            <a:ext cx="12192000" cy="2104030"/>
          </a:xfrm>
          <a:prstGeom prst="rect">
            <a:avLst/>
          </a:prstGeom>
        </p:spPr>
      </p:pic>
      <p:pic>
        <p:nvPicPr>
          <p:cNvPr id="5" name="Picture 4" descr="A picture containing clock&#10;&#10;Description automatically generated">
            <a:extLst>
              <a:ext uri="{FF2B5EF4-FFF2-40B4-BE49-F238E27FC236}">
                <a16:creationId xmlns:a16="http://schemas.microsoft.com/office/drawing/2014/main" id="{0880FBF9-7BA8-4FD9-BA0E-44B3E5CF8D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 y="3138705"/>
            <a:ext cx="6591300" cy="1092481"/>
          </a:xfrm>
          <a:prstGeom prst="rect">
            <a:avLst/>
          </a:prstGeom>
        </p:spPr>
      </p:pic>
      <p:pic>
        <p:nvPicPr>
          <p:cNvPr id="6" name="Picture 5" descr="A close up of a piece of paper&#10;&#10;Description automatically generated">
            <a:extLst>
              <a:ext uri="{FF2B5EF4-FFF2-40B4-BE49-F238E27FC236}">
                <a16:creationId xmlns:a16="http://schemas.microsoft.com/office/drawing/2014/main" id="{8BFFA335-51BE-4F78-9EE5-FD380B0C0A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3200" y="2789642"/>
            <a:ext cx="4000951" cy="3876628"/>
          </a:xfrm>
          <a:prstGeom prst="rect">
            <a:avLst/>
          </a:prstGeom>
        </p:spPr>
      </p:pic>
      <p:pic>
        <p:nvPicPr>
          <p:cNvPr id="7" name="Picture 6" descr="A picture containing knife, table&#10;&#10;Description automatically generated">
            <a:extLst>
              <a:ext uri="{FF2B5EF4-FFF2-40B4-BE49-F238E27FC236}">
                <a16:creationId xmlns:a16="http://schemas.microsoft.com/office/drawing/2014/main" id="{2BB36FE3-80D4-4BB6-A326-9FD7AF1C00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50" y="5021995"/>
            <a:ext cx="6400800" cy="1313220"/>
          </a:xfrm>
          <a:prstGeom prst="rect">
            <a:avLst/>
          </a:prstGeom>
        </p:spPr>
      </p:pic>
    </p:spTree>
    <p:extLst>
      <p:ext uri="{BB962C8B-B14F-4D97-AF65-F5344CB8AC3E}">
        <p14:creationId xmlns:p14="http://schemas.microsoft.com/office/powerpoint/2010/main" val="224500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heckerboard(across)">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7A4-B677-4516-9631-9025CEFEC568}"/>
              </a:ext>
            </a:extLst>
          </p:cNvPr>
          <p:cNvSpPr>
            <a:spLocks noGrp="1"/>
          </p:cNvSpPr>
          <p:nvPr>
            <p:ph type="title"/>
          </p:nvPr>
        </p:nvSpPr>
        <p:spPr/>
        <p:txBody>
          <a:bodyPr/>
          <a:lstStyle/>
          <a:p>
            <a:r>
              <a:rPr lang="en-AU" dirty="0"/>
              <a:t>Complete the following</a:t>
            </a:r>
          </a:p>
        </p:txBody>
      </p:sp>
      <p:sp>
        <p:nvSpPr>
          <p:cNvPr id="3" name="Content Placeholder 2">
            <a:extLst>
              <a:ext uri="{FF2B5EF4-FFF2-40B4-BE49-F238E27FC236}">
                <a16:creationId xmlns:a16="http://schemas.microsoft.com/office/drawing/2014/main" id="{21637BDE-7F64-40E3-8AF0-E7E333DDA409}"/>
              </a:ext>
            </a:extLst>
          </p:cNvPr>
          <p:cNvSpPr>
            <a:spLocks noGrp="1"/>
          </p:cNvSpPr>
          <p:nvPr>
            <p:ph idx="1"/>
          </p:nvPr>
        </p:nvSpPr>
        <p:spPr/>
        <p:txBody>
          <a:bodyPr/>
          <a:lstStyle/>
          <a:p>
            <a:pPr marL="0" indent="0">
              <a:buNone/>
            </a:pPr>
            <a:r>
              <a:rPr lang="en-AU" dirty="0"/>
              <a:t>KLUP coefficient of determination</a:t>
            </a:r>
          </a:p>
        </p:txBody>
      </p:sp>
    </p:spTree>
    <p:extLst>
      <p:ext uri="{BB962C8B-B14F-4D97-AF65-F5344CB8AC3E}">
        <p14:creationId xmlns:p14="http://schemas.microsoft.com/office/powerpoint/2010/main" val="38004694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CE8E9-414A-471D-90B1-CB1135CC8A72}"/>
              </a:ext>
            </a:extLst>
          </p:cNvPr>
          <p:cNvSpPr>
            <a:spLocks noGrp="1"/>
          </p:cNvSpPr>
          <p:nvPr>
            <p:ph type="title"/>
          </p:nvPr>
        </p:nvSpPr>
        <p:spPr>
          <a:xfrm>
            <a:off x="200025" y="365125"/>
            <a:ext cx="11887200" cy="1325563"/>
          </a:xfrm>
        </p:spPr>
        <p:txBody>
          <a:bodyPr/>
          <a:lstStyle/>
          <a:p>
            <a:pPr algn="ctr"/>
            <a:r>
              <a:rPr lang="en-AU" dirty="0"/>
              <a:t>Congratulations on finishing Bivariate Data notes</a:t>
            </a:r>
          </a:p>
        </p:txBody>
      </p:sp>
      <p:sp>
        <p:nvSpPr>
          <p:cNvPr id="3" name="Content Placeholder 2">
            <a:extLst>
              <a:ext uri="{FF2B5EF4-FFF2-40B4-BE49-F238E27FC236}">
                <a16:creationId xmlns:a16="http://schemas.microsoft.com/office/drawing/2014/main" id="{12F00E08-D85B-46A3-B359-AAEB43F67FF7}"/>
              </a:ext>
            </a:extLst>
          </p:cNvPr>
          <p:cNvSpPr>
            <a:spLocks noGrp="1"/>
          </p:cNvSpPr>
          <p:nvPr>
            <p:ph idx="1"/>
          </p:nvPr>
        </p:nvSpPr>
        <p:spPr>
          <a:xfrm>
            <a:off x="838200" y="1825625"/>
            <a:ext cx="10334625" cy="4351338"/>
          </a:xfrm>
        </p:spPr>
        <p:txBody>
          <a:bodyPr/>
          <a:lstStyle/>
          <a:p>
            <a:pPr marL="0" indent="0">
              <a:buNone/>
            </a:pPr>
            <a:r>
              <a:rPr lang="en-AU" dirty="0"/>
              <a:t>Make sure you are using your WACE study guide for exam style question practice.</a:t>
            </a:r>
          </a:p>
          <a:p>
            <a:pPr marL="0" indent="0">
              <a:buNone/>
            </a:pPr>
            <a:endParaRPr lang="en-AU" dirty="0"/>
          </a:p>
          <a:p>
            <a:pPr marL="0" indent="0">
              <a:buNone/>
            </a:pPr>
            <a:endParaRPr lang="en-AU" dirty="0"/>
          </a:p>
          <a:p>
            <a:pPr marL="0" indent="0">
              <a:buNone/>
            </a:pPr>
            <a:endParaRPr lang="en-AU" dirty="0"/>
          </a:p>
        </p:txBody>
      </p:sp>
    </p:spTree>
    <p:extLst>
      <p:ext uri="{BB962C8B-B14F-4D97-AF65-F5344CB8AC3E}">
        <p14:creationId xmlns:p14="http://schemas.microsoft.com/office/powerpoint/2010/main" val="668827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1188</TotalTime>
  <Words>3169</Words>
  <Application>Microsoft Office PowerPoint</Application>
  <PresentationFormat>Widescreen</PresentationFormat>
  <Paragraphs>358</Paragraphs>
  <Slides>62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Calibri</vt:lpstr>
      <vt:lpstr>Calibri Light</vt:lpstr>
      <vt:lpstr>Cambria Math</vt:lpstr>
      <vt:lpstr>Wingdings</vt:lpstr>
      <vt:lpstr>Office Theme</vt:lpstr>
      <vt:lpstr>Bivariate Data</vt:lpstr>
      <vt:lpstr>Contents (Mr Morgan added hyperlinks for your convenience)</vt:lpstr>
      <vt:lpstr>Overarching Syllabus points</vt:lpstr>
      <vt:lpstr>Lesson 1</vt:lpstr>
      <vt:lpstr>PowerPoint Presentation</vt:lpstr>
      <vt:lpstr>PowerPoint Presentation</vt:lpstr>
      <vt:lpstr>PowerPoint Presentation</vt:lpstr>
      <vt:lpstr>PowerPoint Presentation</vt:lpstr>
      <vt:lpstr>PowerPoint Presentation</vt:lpstr>
      <vt:lpstr>Complete Exercise 1A</vt:lpstr>
      <vt:lpstr>Lesson 2</vt:lpstr>
      <vt:lpstr>PowerPoint Presentation</vt:lpstr>
      <vt:lpstr>Examples</vt:lpstr>
      <vt:lpstr>When to use row or column percentages</vt:lpstr>
      <vt:lpstr>Example:</vt:lpstr>
      <vt:lpstr>PowerPoint Presentation</vt:lpstr>
      <vt:lpstr>Complete Exercise 1B</vt:lpstr>
      <vt:lpstr>Lesson 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Well done on completing chapter 1</vt:lpstr>
      <vt:lpstr>Lesson 4 </vt:lpstr>
      <vt:lpstr>PowerPoint Presentation</vt:lpstr>
      <vt:lpstr>PowerPoint Presentation</vt:lpstr>
      <vt:lpstr>Example</vt:lpstr>
      <vt:lpstr>Outliers and “trimming” or “cropping” Data</vt:lpstr>
      <vt:lpstr>Can we remove outliers?</vt:lpstr>
      <vt:lpstr>Cropping or trimming data</vt:lpstr>
      <vt:lpstr>Complete exercise 2A please</vt:lpstr>
      <vt:lpstr>Lesson 5 </vt:lpstr>
      <vt:lpstr>PowerPoint Presentation</vt:lpstr>
      <vt:lpstr>PowerPoint Presentation</vt:lpstr>
      <vt:lpstr>PowerPoint Presentation</vt:lpstr>
      <vt:lpstr>PowerPoint Presentation</vt:lpstr>
      <vt:lpstr>PowerPoint Presentation</vt:lpstr>
      <vt:lpstr>Lesson 6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Lesson 7 </vt:lpstr>
      <vt:lpstr>Residuals</vt:lpstr>
      <vt:lpstr>Example:</vt:lpstr>
      <vt:lpstr>Residual Plots</vt:lpstr>
      <vt:lpstr>PowerPoint Presentation</vt:lpstr>
      <vt:lpstr>PowerPoint Presentation</vt:lpstr>
      <vt:lpstr>work</vt:lpstr>
      <vt:lpstr>Lesson 8 </vt:lpstr>
      <vt:lpstr>Coefficient of Determination</vt:lpstr>
      <vt:lpstr>Example</vt:lpstr>
      <vt:lpstr>PowerPoint Presentation</vt:lpstr>
      <vt:lpstr>PowerPoint Presentation</vt:lpstr>
      <vt:lpstr>Complete the following</vt:lpstr>
      <vt:lpstr>Congratulations on finishing Bivariate Data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Bivariate Data</dc:title>
  <dc:creator>MORGAN Adam [Baldivis Secondary College]</dc:creator>
  <cp:lastModifiedBy>MORGAN Adam [Baldivis Secondary College]</cp:lastModifiedBy>
  <cp:revision>61</cp:revision>
  <dcterms:created xsi:type="dcterms:W3CDTF">2021-10-20T03:51:49Z</dcterms:created>
  <dcterms:modified xsi:type="dcterms:W3CDTF">2021-10-27T03:27:41Z</dcterms:modified>
</cp:coreProperties>
</file>
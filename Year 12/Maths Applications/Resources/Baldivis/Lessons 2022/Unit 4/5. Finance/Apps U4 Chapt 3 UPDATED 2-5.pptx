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 id="267" r:id="rId8"/>
    <p:sldId id="268" r:id="rId9"/>
    <p:sldId id="262" r:id="rId10"/>
    <p:sldId id="269" r:id="rId11"/>
    <p:sldId id="274" r:id="rId12"/>
    <p:sldId id="272" r:id="rId13"/>
    <p:sldId id="273" r:id="rId14"/>
    <p:sldId id="275" r:id="rId15"/>
    <p:sldId id="276" r:id="rId16"/>
    <p:sldId id="270" r:id="rId17"/>
    <p:sldId id="271" r:id="rId18"/>
    <p:sldId id="277" r:id="rId19"/>
    <p:sldId id="278"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p:cViewPr varScale="1">
        <p:scale>
          <a:sx n="120" d="100"/>
          <a:sy n="120" d="100"/>
        </p:scale>
        <p:origin x="14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BEFDBA0-8AAA-474F-B3F5-2B4AA22FB99E}" type="datetimeFigureOut">
              <a:rPr lang="en-US"/>
              <a:pPr>
                <a:defRPr/>
              </a:pPr>
              <a:t>8/14/20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1FD5BC-58B4-461E-A447-A91D4D9E3696}" type="slidenum">
              <a:rPr lang="en-US"/>
              <a:pPr>
                <a:defRPr/>
              </a:pPr>
              <a:t>‹#›</a:t>
            </a:fld>
            <a:endParaRPr lang="en-US"/>
          </a:p>
        </p:txBody>
      </p:sp>
    </p:spTree>
    <p:extLst>
      <p:ext uri="{BB962C8B-B14F-4D97-AF65-F5344CB8AC3E}">
        <p14:creationId xmlns:p14="http://schemas.microsoft.com/office/powerpoint/2010/main" val="2881688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C2523D8-3D7A-4A81-8EF4-B8D181A4392B}" type="datetimeFigureOut">
              <a:rPr lang="en-US"/>
              <a:pPr>
                <a:defRPr/>
              </a:pPr>
              <a:t>8/14/20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8B3AC13-5450-4A33-AAD7-0AD3E9C195D7}" type="slidenum">
              <a:rPr lang="en-US"/>
              <a:pPr>
                <a:defRPr/>
              </a:pPr>
              <a:t>‹#›</a:t>
            </a:fld>
            <a:endParaRPr lang="en-US"/>
          </a:p>
        </p:txBody>
      </p:sp>
    </p:spTree>
    <p:extLst>
      <p:ext uri="{BB962C8B-B14F-4D97-AF65-F5344CB8AC3E}">
        <p14:creationId xmlns:p14="http://schemas.microsoft.com/office/powerpoint/2010/main" val="3560413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C4B79F9-F579-49D0-85E7-BF7BF2EEB9DF}" type="datetimeFigureOut">
              <a:rPr lang="en-US"/>
              <a:pPr>
                <a:defRPr/>
              </a:pPr>
              <a:t>8/14/20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F5A0F7-73BE-465B-A68E-E8C94D0557CE}" type="slidenum">
              <a:rPr lang="en-US"/>
              <a:pPr>
                <a:defRPr/>
              </a:pPr>
              <a:t>‹#›</a:t>
            </a:fld>
            <a:endParaRPr lang="en-US"/>
          </a:p>
        </p:txBody>
      </p:sp>
    </p:spTree>
    <p:extLst>
      <p:ext uri="{BB962C8B-B14F-4D97-AF65-F5344CB8AC3E}">
        <p14:creationId xmlns:p14="http://schemas.microsoft.com/office/powerpoint/2010/main" val="32728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4F606F1-670C-4ABD-B821-328B6D17A7A2}" type="datetimeFigureOut">
              <a:rPr lang="en-US"/>
              <a:pPr>
                <a:defRPr/>
              </a:pPr>
              <a:t>8/14/20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C99F0A-8C6D-4BFD-9A91-6FA7AB92A409}" type="slidenum">
              <a:rPr lang="en-US"/>
              <a:pPr>
                <a:defRPr/>
              </a:pPr>
              <a:t>‹#›</a:t>
            </a:fld>
            <a:endParaRPr lang="en-US"/>
          </a:p>
        </p:txBody>
      </p:sp>
    </p:spTree>
    <p:extLst>
      <p:ext uri="{BB962C8B-B14F-4D97-AF65-F5344CB8AC3E}">
        <p14:creationId xmlns:p14="http://schemas.microsoft.com/office/powerpoint/2010/main" val="3222520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7A2419E-64D6-4162-9834-112C9A7AF0FD}" type="datetimeFigureOut">
              <a:rPr lang="en-US"/>
              <a:pPr>
                <a:defRPr/>
              </a:pPr>
              <a:t>8/14/20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2847273-D238-4396-8904-BE9D3976071C}" type="slidenum">
              <a:rPr lang="en-US"/>
              <a:pPr>
                <a:defRPr/>
              </a:pPr>
              <a:t>‹#›</a:t>
            </a:fld>
            <a:endParaRPr lang="en-US"/>
          </a:p>
        </p:txBody>
      </p:sp>
    </p:spTree>
    <p:extLst>
      <p:ext uri="{BB962C8B-B14F-4D97-AF65-F5344CB8AC3E}">
        <p14:creationId xmlns:p14="http://schemas.microsoft.com/office/powerpoint/2010/main" val="145965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F59E1AD-DF2F-42DE-BE60-2CC5E62FC0D3}" type="datetimeFigureOut">
              <a:rPr lang="en-US"/>
              <a:pPr>
                <a:defRPr/>
              </a:pPr>
              <a:t>8/14/20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E5D9DA6-BE4E-4687-ABB6-DC8F5AE950DD}" type="slidenum">
              <a:rPr lang="en-US"/>
              <a:pPr>
                <a:defRPr/>
              </a:pPr>
              <a:t>‹#›</a:t>
            </a:fld>
            <a:endParaRPr lang="en-US"/>
          </a:p>
        </p:txBody>
      </p:sp>
    </p:spTree>
    <p:extLst>
      <p:ext uri="{BB962C8B-B14F-4D97-AF65-F5344CB8AC3E}">
        <p14:creationId xmlns:p14="http://schemas.microsoft.com/office/powerpoint/2010/main" val="393516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C8E05F70-B44C-4B80-A4BB-D1CEEBDC06CA}" type="datetimeFigureOut">
              <a:rPr lang="en-US"/>
              <a:pPr>
                <a:defRPr/>
              </a:pPr>
              <a:t>8/14/20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5A30C9-6327-4BCF-A088-229E1DD69F9B}" type="slidenum">
              <a:rPr lang="en-US"/>
              <a:pPr>
                <a:defRPr/>
              </a:pPr>
              <a:t>‹#›</a:t>
            </a:fld>
            <a:endParaRPr lang="en-US"/>
          </a:p>
        </p:txBody>
      </p:sp>
    </p:spTree>
    <p:extLst>
      <p:ext uri="{BB962C8B-B14F-4D97-AF65-F5344CB8AC3E}">
        <p14:creationId xmlns:p14="http://schemas.microsoft.com/office/powerpoint/2010/main" val="831214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3731EC7-1AC3-4876-88A8-0249C440A7FC}" type="datetimeFigureOut">
              <a:rPr lang="en-US"/>
              <a:pPr>
                <a:defRPr/>
              </a:pPr>
              <a:t>8/14/20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9831101-C3F5-4580-B24E-8AC9BF7A62C5}" type="slidenum">
              <a:rPr lang="en-US"/>
              <a:pPr>
                <a:defRPr/>
              </a:pPr>
              <a:t>‹#›</a:t>
            </a:fld>
            <a:endParaRPr lang="en-US"/>
          </a:p>
        </p:txBody>
      </p:sp>
    </p:spTree>
    <p:extLst>
      <p:ext uri="{BB962C8B-B14F-4D97-AF65-F5344CB8AC3E}">
        <p14:creationId xmlns:p14="http://schemas.microsoft.com/office/powerpoint/2010/main" val="1002933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27BBBA5-9DB6-4B5D-B6F6-52A2C8260998}" type="datetimeFigureOut">
              <a:rPr lang="en-US"/>
              <a:pPr>
                <a:defRPr/>
              </a:pPr>
              <a:t>8/14/20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A6CAA12-2C53-4989-83B3-3E1D93DCD01F}" type="slidenum">
              <a:rPr lang="en-US"/>
              <a:pPr>
                <a:defRPr/>
              </a:pPr>
              <a:t>‹#›</a:t>
            </a:fld>
            <a:endParaRPr lang="en-US"/>
          </a:p>
        </p:txBody>
      </p:sp>
    </p:spTree>
    <p:extLst>
      <p:ext uri="{BB962C8B-B14F-4D97-AF65-F5344CB8AC3E}">
        <p14:creationId xmlns:p14="http://schemas.microsoft.com/office/powerpoint/2010/main" val="3934664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0C5F733-BB5D-4245-BE01-FFF881A91A7A}" type="datetimeFigureOut">
              <a:rPr lang="en-US"/>
              <a:pPr>
                <a:defRPr/>
              </a:pPr>
              <a:t>8/14/20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82C8FD-F470-4555-B9C2-F39F2078FFBD}" type="slidenum">
              <a:rPr lang="en-US"/>
              <a:pPr>
                <a:defRPr/>
              </a:pPr>
              <a:t>‹#›</a:t>
            </a:fld>
            <a:endParaRPr lang="en-US"/>
          </a:p>
        </p:txBody>
      </p:sp>
    </p:spTree>
    <p:extLst>
      <p:ext uri="{BB962C8B-B14F-4D97-AF65-F5344CB8AC3E}">
        <p14:creationId xmlns:p14="http://schemas.microsoft.com/office/powerpoint/2010/main" val="3770689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79D27CC-A445-41B7-9758-0DE5B68B3E4C}" type="datetimeFigureOut">
              <a:rPr lang="en-US"/>
              <a:pPr>
                <a:defRPr/>
              </a:pPr>
              <a:t>8/14/20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BD2DE3C-D669-4C20-A8F4-8AF337A92F93}" type="slidenum">
              <a:rPr lang="en-US"/>
              <a:pPr>
                <a:defRPr/>
              </a:pPr>
              <a:t>‹#›</a:t>
            </a:fld>
            <a:endParaRPr lang="en-US"/>
          </a:p>
        </p:txBody>
      </p:sp>
    </p:spTree>
    <p:extLst>
      <p:ext uri="{BB962C8B-B14F-4D97-AF65-F5344CB8AC3E}">
        <p14:creationId xmlns:p14="http://schemas.microsoft.com/office/powerpoint/2010/main" val="351217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6F1DDAC-9CD9-4D13-9C46-6467785D9663}" type="datetimeFigureOut">
              <a:rPr lang="en-US"/>
              <a:pPr>
                <a:defRPr/>
              </a:pPr>
              <a:t>8/14/20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225D3248-367E-46E6-B521-DE2013DBC31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biz.yahoo.com/f/g/pp.html#c0" TargetMode="External"/><Relationship Id="rId3" Type="http://schemas.openxmlformats.org/officeDocument/2006/relationships/oleObject" Target="../embeddings/oleObject3.bin"/><Relationship Id="rId7" Type="http://schemas.openxmlformats.org/officeDocument/2006/relationships/hyperlink" Target="http://biz.yahoo.com/f/g/ii.html#bu" TargetMode="Externa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wmf"/><Relationship Id="rId5" Type="http://schemas.openxmlformats.org/officeDocument/2006/relationships/oleObject" Target="../embeddings/oleObject4.bin"/><Relationship Id="rId10" Type="http://schemas.openxmlformats.org/officeDocument/2006/relationships/hyperlink" Target="http://www.bloomberg.com/invest/glossary/bfglosp.htm#principal" TargetMode="External"/><Relationship Id="rId4" Type="http://schemas.openxmlformats.org/officeDocument/2006/relationships/image" Target="../media/image3.wmf"/><Relationship Id="rId9" Type="http://schemas.openxmlformats.org/officeDocument/2006/relationships/hyperlink" Target="http://www.bloomberg.com/invest/glossary/bfglosi.htm#interes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12.png"/><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image" Target="../media/image16.png"/><Relationship Id="rId5" Type="http://schemas.openxmlformats.org/officeDocument/2006/relationships/oleObject" Target="../embeddings/oleObject5.bin"/><Relationship Id="rId10"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304800"/>
            <a:ext cx="9144000" cy="5754688"/>
          </a:xfrm>
          <a:prstGeom prst="rect">
            <a:avLst/>
          </a:prstGeom>
          <a:noFill/>
          <a:ln w="9525">
            <a:noFill/>
            <a:miter lim="800000"/>
            <a:headEnd/>
            <a:tailEnd/>
          </a:ln>
          <a:effectLst/>
        </p:spPr>
        <p:txBody>
          <a:bodyPr anchor="ctr">
            <a:spAutoFit/>
          </a:bodyPr>
          <a:lstStyle/>
          <a:p>
            <a:pPr indent="457200">
              <a:defRPr/>
            </a:pPr>
            <a:r>
              <a:rPr lang="en-AU" sz="1600" dirty="0">
                <a:latin typeface="Arial" pitchFamily="34" charset="0"/>
                <a:ea typeface="MS Mincho" pitchFamily="49" charset="-128"/>
                <a:cs typeface="Arial" pitchFamily="34" charset="0"/>
              </a:rPr>
              <a:t>SIMPLE INTEREST</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With simple interest, the amount of interest for equal time periods is the same. This is because the principal remains the same. This is the case with Interest Bearing Deposits (IBDs) – the interest at the end of each time period is paid into a different account so that the principal always remains the same. </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The formula for simple interest is given by</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		I = P × R × T		or	</a:t>
            </a:r>
            <a:r>
              <a:rPr lang="en-AU" sz="1600" b="1" dirty="0">
                <a:latin typeface="Arial" pitchFamily="34" charset="0"/>
                <a:ea typeface="MS Mincho" pitchFamily="49" charset="-128"/>
                <a:cs typeface="Arial" pitchFamily="34" charset="0"/>
              </a:rPr>
              <a:t> I = PRT</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where</a:t>
            </a:r>
            <a:r>
              <a:rPr lang="en-AU" sz="1600" b="1" dirty="0">
                <a:latin typeface="Arial" pitchFamily="34" charset="0"/>
                <a:ea typeface="MS Mincho" pitchFamily="49" charset="-128"/>
                <a:cs typeface="Arial" pitchFamily="34" charset="0"/>
              </a:rPr>
              <a:t> 	I</a:t>
            </a:r>
            <a:r>
              <a:rPr lang="en-AU" sz="1600" dirty="0">
                <a:latin typeface="Arial" pitchFamily="34" charset="0"/>
                <a:ea typeface="MS Mincho" pitchFamily="49" charset="-128"/>
                <a:cs typeface="Arial" pitchFamily="34" charset="0"/>
              </a:rPr>
              <a:t> is the simple interest, </a:t>
            </a:r>
            <a:endParaRPr lang="en-US" sz="1600" dirty="0">
              <a:latin typeface="Arial" pitchFamily="34" charset="0"/>
            </a:endParaRPr>
          </a:p>
          <a:p>
            <a:pPr indent="457200" eaLnBrk="0" hangingPunct="0">
              <a:defRPr/>
            </a:pPr>
            <a:r>
              <a:rPr lang="en-AU" sz="1600" b="1" dirty="0">
                <a:latin typeface="Arial" pitchFamily="34" charset="0"/>
                <a:ea typeface="MS Mincho" pitchFamily="49" charset="-128"/>
                <a:cs typeface="Arial" pitchFamily="34" charset="0"/>
              </a:rPr>
              <a:t>P</a:t>
            </a:r>
            <a:r>
              <a:rPr lang="en-AU" sz="1600" dirty="0">
                <a:latin typeface="Arial" pitchFamily="34" charset="0"/>
                <a:ea typeface="MS Mincho" pitchFamily="49" charset="-128"/>
                <a:cs typeface="Arial" pitchFamily="34" charset="0"/>
              </a:rPr>
              <a:t> is the principal (amount of money invested),</a:t>
            </a:r>
            <a:endParaRPr lang="en-US" sz="1600" dirty="0">
              <a:latin typeface="Arial" pitchFamily="34" charset="0"/>
            </a:endParaRPr>
          </a:p>
          <a:p>
            <a:pPr indent="457200" eaLnBrk="0" hangingPunct="0">
              <a:defRPr/>
            </a:pPr>
            <a:r>
              <a:rPr lang="en-AU" sz="1600" b="1" dirty="0">
                <a:latin typeface="Arial" pitchFamily="34" charset="0"/>
                <a:ea typeface="MS Mincho" pitchFamily="49" charset="-128"/>
                <a:cs typeface="Arial" pitchFamily="34" charset="0"/>
              </a:rPr>
              <a:t>R</a:t>
            </a:r>
            <a:r>
              <a:rPr lang="en-AU" sz="1600" dirty="0">
                <a:latin typeface="Arial" pitchFamily="34" charset="0"/>
                <a:ea typeface="MS Mincho" pitchFamily="49" charset="-128"/>
                <a:cs typeface="Arial" pitchFamily="34" charset="0"/>
              </a:rPr>
              <a:t> is the rate of interest (expressed as a decimal)</a:t>
            </a:r>
            <a:endParaRPr lang="en-US" sz="1600" dirty="0">
              <a:latin typeface="Arial" pitchFamily="34" charset="0"/>
            </a:endParaRPr>
          </a:p>
          <a:p>
            <a:pPr indent="457200" eaLnBrk="0" hangingPunct="0">
              <a:defRPr/>
            </a:pPr>
            <a:r>
              <a:rPr lang="en-AU" sz="1600" b="1" dirty="0">
                <a:latin typeface="Arial" pitchFamily="34" charset="0"/>
                <a:ea typeface="MS Mincho" pitchFamily="49" charset="-128"/>
                <a:cs typeface="Arial" pitchFamily="34" charset="0"/>
              </a:rPr>
              <a:t>T</a:t>
            </a:r>
            <a:r>
              <a:rPr lang="en-AU" sz="1600" dirty="0">
                <a:latin typeface="Arial" pitchFamily="34" charset="0"/>
                <a:ea typeface="MS Mincho" pitchFamily="49" charset="-128"/>
                <a:cs typeface="Arial" pitchFamily="34" charset="0"/>
              </a:rPr>
              <a:t> is the time of the investment</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NOTE		The time arguments for R and T </a:t>
            </a:r>
            <a:r>
              <a:rPr lang="en-AU" sz="1600" b="1" dirty="0">
                <a:latin typeface="Arial" pitchFamily="34" charset="0"/>
                <a:ea typeface="MS Mincho" pitchFamily="49" charset="-128"/>
                <a:cs typeface="Arial" pitchFamily="34" charset="0"/>
              </a:rPr>
              <a:t>must</a:t>
            </a:r>
            <a:r>
              <a:rPr lang="en-AU" sz="1600" dirty="0">
                <a:latin typeface="Arial" pitchFamily="34" charset="0"/>
                <a:ea typeface="MS Mincho" pitchFamily="49" charset="-128"/>
                <a:cs typeface="Arial" pitchFamily="34" charset="0"/>
              </a:rPr>
              <a:t> agree i.e. if the time is expressed in years, then the rate of interest should be expressed as a rate per year (annum)</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Example 1	Find the simple interest on $5 000 for 3 years at 7.6% p.a.</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Solution	</a:t>
            </a:r>
            <a:r>
              <a:rPr lang="en-AU" sz="1600" b="1" i="1" dirty="0">
                <a:latin typeface="Arial" pitchFamily="34" charset="0"/>
                <a:ea typeface="MS Mincho" pitchFamily="49" charset="-128"/>
                <a:cs typeface="Arial" pitchFamily="34" charset="0"/>
              </a:rPr>
              <a:t>I = PRT</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		   </a:t>
            </a:r>
            <a:r>
              <a:rPr lang="en-AU" sz="1600" b="1" i="1" dirty="0">
                <a:latin typeface="Arial" pitchFamily="34" charset="0"/>
                <a:ea typeface="MS Mincho" pitchFamily="49" charset="-128"/>
                <a:cs typeface="Arial" pitchFamily="34" charset="0"/>
              </a:rPr>
              <a:t>= $5 000 × 0.076 × 3</a:t>
            </a:r>
            <a:r>
              <a:rPr lang="en-AU" sz="1600" dirty="0">
                <a:latin typeface="Arial" pitchFamily="34" charset="0"/>
                <a:ea typeface="MS Mincho" pitchFamily="49" charset="-128"/>
                <a:cs typeface="Arial" pitchFamily="34" charset="0"/>
              </a:rPr>
              <a:t>		[7.6% = 0.076]</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		   = </a:t>
            </a:r>
            <a:r>
              <a:rPr lang="en-AU" sz="1600" b="1" i="1" dirty="0">
                <a:latin typeface="Arial" pitchFamily="34" charset="0"/>
                <a:ea typeface="MS Mincho" pitchFamily="49" charset="-128"/>
                <a:cs typeface="Arial" pitchFamily="34" charset="0"/>
              </a:rPr>
              <a:t>$1 140</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Example 2	Find the simple interest on $800 for 21 months at 6.8% p.a.</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Solution	</a:t>
            </a:r>
            <a:r>
              <a:rPr lang="en-AU" sz="1600" b="1" i="1" dirty="0">
                <a:latin typeface="Arial" pitchFamily="34" charset="0"/>
                <a:ea typeface="MS Mincho" pitchFamily="49" charset="-128"/>
                <a:cs typeface="Arial" pitchFamily="34" charset="0"/>
              </a:rPr>
              <a:t>I = PRT</a:t>
            </a:r>
            <a:endParaRPr lang="en-US" sz="1600" dirty="0">
              <a:latin typeface="Arial" pitchFamily="34" charset="0"/>
            </a:endParaRPr>
          </a:p>
          <a:p>
            <a:pPr>
              <a:defRPr/>
            </a:pPr>
            <a:r>
              <a:rPr lang="en-AU" sz="1600" b="1" i="1" dirty="0">
                <a:latin typeface="Arial" pitchFamily="34" charset="0"/>
                <a:ea typeface="MS Mincho" pitchFamily="49" charset="-128"/>
                <a:cs typeface="Arial" pitchFamily="34" charset="0"/>
              </a:rPr>
              <a:t>		   = $800 × 0.068 ×        </a:t>
            </a:r>
            <a:r>
              <a:rPr lang="en-AU" sz="1600" dirty="0">
                <a:latin typeface="Arial" pitchFamily="34" charset="0"/>
                <a:ea typeface="MS Mincho" pitchFamily="49" charset="-128"/>
                <a:cs typeface="Arial" pitchFamily="34" charset="0"/>
              </a:rPr>
              <a:t>[Time arguments should agree –</a:t>
            </a:r>
          </a:p>
          <a:p>
            <a:pPr>
              <a:defRPr/>
            </a:pPr>
            <a:endParaRPr lang="en-US" sz="1600" dirty="0">
              <a:latin typeface="Arial" pitchFamily="34" charset="0"/>
            </a:endParaRPr>
          </a:p>
          <a:p>
            <a:pPr eaLnBrk="0" hangingPunct="0">
              <a:defRPr/>
            </a:pPr>
            <a:r>
              <a:rPr lang="en-AU" sz="1600" b="1" i="1" dirty="0">
                <a:latin typeface="Arial" pitchFamily="34" charset="0"/>
                <a:ea typeface="MS Mincho" pitchFamily="49" charset="-128"/>
                <a:cs typeface="Arial" pitchFamily="34" charset="0"/>
              </a:rPr>
              <a:t>		   = $95.20		</a:t>
            </a:r>
            <a:r>
              <a:rPr lang="en-AU" sz="1600" dirty="0">
                <a:latin typeface="Arial" pitchFamily="34" charset="0"/>
                <a:ea typeface="MS Mincho" pitchFamily="49" charset="-128"/>
                <a:cs typeface="Arial" pitchFamily="34" charset="0"/>
              </a:rPr>
              <a:t>divide by 12 to change months to years]</a:t>
            </a:r>
            <a:endParaRPr lang="en-AU" sz="1600" dirty="0">
              <a:latin typeface="Arial" pitchFamily="34" charset="0"/>
            </a:endParaRPr>
          </a:p>
          <a:p>
            <a:pPr indent="457200" eaLnBrk="0" hangingPunct="0">
              <a:defRPr/>
            </a:pPr>
            <a:endParaRPr lang="en-AU" sz="1600" dirty="0">
              <a:latin typeface="Arial" pitchFamily="34" charset="0"/>
            </a:endParaRPr>
          </a:p>
        </p:txBody>
      </p:sp>
      <p:graphicFrame>
        <p:nvGraphicFramePr>
          <p:cNvPr id="1026" name="Object 1"/>
          <p:cNvGraphicFramePr>
            <a:graphicFrameLocks noChangeAspect="1"/>
          </p:cNvGraphicFramePr>
          <p:nvPr/>
        </p:nvGraphicFramePr>
        <p:xfrm>
          <a:off x="3886200" y="4953000"/>
          <a:ext cx="219075" cy="390525"/>
        </p:xfrm>
        <a:graphic>
          <a:graphicData uri="http://schemas.openxmlformats.org/presentationml/2006/ole">
            <mc:AlternateContent xmlns:mc="http://schemas.openxmlformats.org/markup-compatibility/2006">
              <mc:Choice xmlns:v="urn:schemas-microsoft-com:vml" Requires="v">
                <p:oleObj spid="_x0000_s1056" name="Equation" r:id="rId3" imgW="215713" imgH="393359" progId="Equation.3">
                  <p:embed/>
                </p:oleObj>
              </mc:Choice>
              <mc:Fallback>
                <p:oleObj name="Equation" r:id="rId3" imgW="215713" imgH="39335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953000"/>
                        <a:ext cx="21907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656381"/>
            <a:ext cx="9144000" cy="4770537"/>
          </a:xfrm>
          <a:prstGeom prst="rect">
            <a:avLst/>
          </a:prstGeom>
          <a:noFill/>
          <a:ln w="9525">
            <a:noFill/>
            <a:miter lim="800000"/>
            <a:headEnd/>
            <a:tailEnd/>
          </a:ln>
          <a:effectLst/>
        </p:spPr>
        <p:txBody>
          <a:bodyPr anchor="ctr">
            <a:spAutoFit/>
          </a:bodyPr>
          <a:lstStyle/>
          <a:p>
            <a:pPr indent="457200">
              <a:defRPr/>
            </a:pPr>
            <a:r>
              <a:rPr lang="en-AU" sz="1600" dirty="0">
                <a:latin typeface="Arial" pitchFamily="34" charset="0"/>
                <a:ea typeface="MS Mincho" pitchFamily="49" charset="-128"/>
                <a:cs typeface="Arial" pitchFamily="34" charset="0"/>
              </a:rPr>
              <a:t>Example 3	For how long should $640 be invested at 7.5% SI to earn $144?</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Solution	</a:t>
            </a:r>
            <a:r>
              <a:rPr lang="en-AU" sz="1600" b="1" i="1" dirty="0">
                <a:latin typeface="Arial" pitchFamily="34" charset="0"/>
                <a:ea typeface="MS Mincho" pitchFamily="49" charset="-128"/>
                <a:cs typeface="Arial" pitchFamily="34" charset="0"/>
              </a:rPr>
              <a:t>    I = PRT</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144 = 640 × 0.075 × T</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144 = 48T</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T = 144 ÷ 48 = 3</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Hence should invest for 3 years</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Example 4	At what simple interest rate should $4 000 be invested to grow to </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$5 360 in 4 years?</a:t>
            </a:r>
            <a:endParaRPr lang="en-US" sz="1600" dirty="0">
              <a:latin typeface="Arial" pitchFamily="34" charset="0"/>
            </a:endParaRPr>
          </a:p>
          <a:p>
            <a:pPr indent="457200" eaLnBrk="0" hangingPunct="0">
              <a:defRPr/>
            </a:pPr>
            <a:r>
              <a:rPr lang="en-AU" sz="1600" dirty="0">
                <a:latin typeface="Arial" pitchFamily="34" charset="0"/>
                <a:ea typeface="MS Mincho" pitchFamily="49" charset="-128"/>
                <a:cs typeface="Arial" pitchFamily="34" charset="0"/>
              </a:rPr>
              <a:t>Solution	</a:t>
            </a:r>
            <a:r>
              <a:rPr lang="en-AU" sz="1600" b="1" i="1" dirty="0">
                <a:latin typeface="Arial" pitchFamily="34" charset="0"/>
                <a:ea typeface="MS Mincho" pitchFamily="49" charset="-128"/>
                <a:cs typeface="Arial" pitchFamily="34" charset="0"/>
              </a:rPr>
              <a:t>Interest = final amount – initial amount</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 $5 360 - $4 000	</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 $1 360</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I = PRT</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1 360 = 4 000 × R × 4</a:t>
            </a:r>
            <a:endParaRPr lang="en-US" sz="1600" dirty="0">
              <a:latin typeface="Arial" pitchFamily="34" charset="0"/>
            </a:endParaRPr>
          </a:p>
          <a:p>
            <a:pPr indent="457200" eaLnBrk="0" hangingPunct="0">
              <a:defRPr/>
            </a:pPr>
            <a:r>
              <a:rPr lang="en-AU" sz="1600" b="1" i="1" dirty="0">
                <a:latin typeface="Arial" pitchFamily="34" charset="0"/>
                <a:ea typeface="MS Mincho" pitchFamily="49" charset="-128"/>
                <a:cs typeface="Arial" pitchFamily="34" charset="0"/>
              </a:rPr>
              <a:t>		1 360 = 16 000R</a:t>
            </a:r>
          </a:p>
          <a:p>
            <a:pPr indent="457200" eaLnBrk="0" hangingPunct="0">
              <a:defRPr/>
            </a:pPr>
            <a:endParaRPr lang="en-US" sz="1600" dirty="0">
              <a:latin typeface="Arial" pitchFamily="34" charset="0"/>
            </a:endParaRPr>
          </a:p>
          <a:p>
            <a:pPr>
              <a:defRPr/>
            </a:pPr>
            <a:r>
              <a:rPr lang="en-AU" sz="1600" b="1" i="1" dirty="0">
                <a:latin typeface="Arial" pitchFamily="34" charset="0"/>
                <a:ea typeface="MS Mincho" pitchFamily="49" charset="-128"/>
                <a:cs typeface="Arial" pitchFamily="34" charset="0"/>
              </a:rPr>
              <a:t>		       R =             = 0.085</a:t>
            </a:r>
          </a:p>
          <a:p>
            <a:pPr>
              <a:defRPr/>
            </a:pPr>
            <a:endParaRPr lang="en-US" sz="1600" dirty="0">
              <a:latin typeface="Arial" pitchFamily="34" charset="0"/>
            </a:endParaRPr>
          </a:p>
          <a:p>
            <a:pPr eaLnBrk="0" hangingPunct="0">
              <a:defRPr/>
            </a:pPr>
            <a:r>
              <a:rPr lang="en-AU" sz="1600" b="1" i="1" dirty="0">
                <a:latin typeface="Arial" pitchFamily="34" charset="0"/>
                <a:ea typeface="MS Mincho" pitchFamily="49" charset="-128"/>
                <a:cs typeface="Arial" pitchFamily="34" charset="0"/>
              </a:rPr>
              <a:t>		Hence the rate should be 8.5%</a:t>
            </a:r>
            <a:endParaRPr lang="en-US" sz="1600" dirty="0">
              <a:latin typeface="Arial" pitchFamily="34" charset="0"/>
            </a:endParaRPr>
          </a:p>
          <a:p>
            <a:pPr indent="457200" eaLnBrk="0" hangingPunct="0">
              <a:defRPr/>
            </a:pPr>
            <a:endParaRPr lang="en-AU" sz="1600" dirty="0">
              <a:latin typeface="Arial" pitchFamily="34" charset="0"/>
            </a:endParaRPr>
          </a:p>
        </p:txBody>
      </p:sp>
      <p:graphicFrame>
        <p:nvGraphicFramePr>
          <p:cNvPr id="2050" name="Object 1"/>
          <p:cNvGraphicFramePr>
            <a:graphicFrameLocks noChangeAspect="1"/>
          </p:cNvGraphicFramePr>
          <p:nvPr/>
        </p:nvGraphicFramePr>
        <p:xfrm>
          <a:off x="2743200" y="4191000"/>
          <a:ext cx="428625" cy="390525"/>
        </p:xfrm>
        <a:graphic>
          <a:graphicData uri="http://schemas.openxmlformats.org/presentationml/2006/ole">
            <mc:AlternateContent xmlns:mc="http://schemas.openxmlformats.org/markup-compatibility/2006">
              <mc:Choice xmlns:v="urn:schemas-microsoft-com:vml" Requires="v">
                <p:oleObj spid="_x0000_s2080" name="Equation" r:id="rId3" imgW="431613" imgH="393529" progId="Equation.3">
                  <p:embed/>
                </p:oleObj>
              </mc:Choice>
              <mc:Fallback>
                <p:oleObj name="Equation" r:id="rId3" imgW="431613" imgH="393529"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191000"/>
                        <a:ext cx="4286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ChangeArrowheads="1"/>
          </p:cNvSpPr>
          <p:nvPr/>
        </p:nvSpPr>
        <p:spPr bwMode="auto">
          <a:xfrm>
            <a:off x="0" y="0"/>
            <a:ext cx="91440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a:ea typeface="Times New Roman" pitchFamily="18" charset="0"/>
                <a:cs typeface="Arial" charset="0"/>
              </a:rPr>
              <a:t>		</a:t>
            </a:r>
            <a:r>
              <a:rPr lang="en-AU" altLang="en-US" sz="1600" b="1" u="sng">
                <a:ea typeface="Times New Roman" pitchFamily="18" charset="0"/>
                <a:cs typeface="Arial" charset="0"/>
              </a:rPr>
              <a:t>COMPOUND INTEREST</a:t>
            </a:r>
            <a:endParaRPr lang="en-US" altLang="en-US" sz="1600">
              <a:ea typeface="Times New Roman" pitchFamily="18" charset="0"/>
              <a:cs typeface="Arial" charset="0"/>
            </a:endParaRPr>
          </a:p>
          <a:p>
            <a:r>
              <a:rPr lang="en-AU" altLang="en-US" sz="1600">
                <a:ea typeface="Times New Roman" pitchFamily="18" charset="0"/>
                <a:cs typeface="Arial" charset="0"/>
              </a:rPr>
              <a:t>In compound interest, the interest from one time period is added to the principal. This means that this interest gains interest the next time period. Hence the interest will increase from one time period to the next. </a:t>
            </a:r>
            <a:br>
              <a:rPr lang="en-AU" altLang="en-US" sz="1600">
                <a:ea typeface="Times New Roman" pitchFamily="18" charset="0"/>
                <a:cs typeface="Arial" charset="0"/>
              </a:rPr>
            </a:br>
            <a:r>
              <a:rPr lang="en-AU" altLang="en-US" sz="1600">
                <a:ea typeface="Times New Roman" pitchFamily="18" charset="0"/>
                <a:cs typeface="Arial" charset="0"/>
              </a:rPr>
              <a:t>Ex 1	Consider $6000 invested ar 10% compound interest for 3 years, with the interest compounded annually.</a:t>
            </a:r>
            <a:br>
              <a:rPr lang="en-AU" altLang="en-US" sz="1600">
                <a:ea typeface="Times New Roman" pitchFamily="18" charset="0"/>
                <a:cs typeface="Arial" charset="0"/>
              </a:rPr>
            </a:br>
            <a:r>
              <a:rPr lang="en-AU" altLang="en-US" sz="1600">
                <a:ea typeface="Times New Roman" pitchFamily="18" charset="0"/>
                <a:cs typeface="Arial" charset="0"/>
              </a:rPr>
              <a:t>Interest first year = $6000 × 0.10 = $600</a:t>
            </a:r>
            <a:endParaRPr lang="en-US" altLang="en-US" sz="1600">
              <a:ea typeface="Times New Roman" pitchFamily="18" charset="0"/>
              <a:cs typeface="Arial" charset="0"/>
            </a:endParaRPr>
          </a:p>
          <a:p>
            <a:r>
              <a:rPr lang="en-AU" altLang="en-US" sz="1600">
                <a:ea typeface="Times New Roman" pitchFamily="18" charset="0"/>
                <a:cs typeface="Arial" charset="0"/>
              </a:rPr>
              <a:t>Hence amount at end of year = $6600</a:t>
            </a:r>
            <a:br>
              <a:rPr lang="en-AU" altLang="en-US" sz="1600">
                <a:ea typeface="Times New Roman" pitchFamily="18" charset="0"/>
                <a:cs typeface="Arial" charset="0"/>
              </a:rPr>
            </a:br>
            <a:r>
              <a:rPr lang="en-AU" altLang="en-US" sz="1600">
                <a:ea typeface="Times New Roman" pitchFamily="18" charset="0"/>
                <a:cs typeface="Arial" charset="0"/>
              </a:rPr>
              <a:t>This becomes the principal for the second year.</a:t>
            </a:r>
            <a:br>
              <a:rPr lang="en-AU" altLang="en-US" sz="1600">
                <a:ea typeface="Times New Roman" pitchFamily="18" charset="0"/>
                <a:cs typeface="Arial" charset="0"/>
              </a:rPr>
            </a:br>
            <a:r>
              <a:rPr lang="en-AU" altLang="en-US" sz="1600">
                <a:ea typeface="Times New Roman" pitchFamily="18" charset="0"/>
                <a:cs typeface="Arial" charset="0"/>
              </a:rPr>
              <a:t>Interest second year = $6600 × 0.10 = $660</a:t>
            </a:r>
            <a:br>
              <a:rPr lang="en-AU" altLang="en-US" sz="1600">
                <a:ea typeface="Times New Roman" pitchFamily="18" charset="0"/>
                <a:cs typeface="Arial" charset="0"/>
              </a:rPr>
            </a:br>
            <a:r>
              <a:rPr lang="en-AU" altLang="en-US" sz="1600">
                <a:ea typeface="Times New Roman" pitchFamily="18" charset="0"/>
                <a:cs typeface="Arial" charset="0"/>
              </a:rPr>
              <a:t>Hence amount at end of second year = $7260</a:t>
            </a:r>
            <a:br>
              <a:rPr lang="en-AU" altLang="en-US" sz="1600">
                <a:ea typeface="Times New Roman" pitchFamily="18" charset="0"/>
                <a:cs typeface="Arial" charset="0"/>
              </a:rPr>
            </a:br>
            <a:r>
              <a:rPr lang="en-AU" altLang="en-US" sz="1600">
                <a:ea typeface="Times New Roman" pitchFamily="18" charset="0"/>
                <a:cs typeface="Arial" charset="0"/>
              </a:rPr>
              <a:t>This becomes the principal for the third year.</a:t>
            </a:r>
            <a:endParaRPr lang="en-US" altLang="en-US" sz="1600">
              <a:ea typeface="Times New Roman" pitchFamily="18" charset="0"/>
              <a:cs typeface="Arial" charset="0"/>
            </a:endParaRPr>
          </a:p>
          <a:p>
            <a:r>
              <a:rPr lang="en-AU" altLang="en-US" sz="1600">
                <a:ea typeface="Times New Roman" pitchFamily="18" charset="0"/>
                <a:cs typeface="Arial" charset="0"/>
              </a:rPr>
              <a:t>Interest third year = $7260 × 0.10 = $726</a:t>
            </a:r>
            <a:br>
              <a:rPr lang="en-AU" altLang="en-US" sz="1600">
                <a:ea typeface="Times New Roman" pitchFamily="18" charset="0"/>
                <a:cs typeface="Arial" charset="0"/>
              </a:rPr>
            </a:br>
            <a:r>
              <a:rPr lang="en-AU" altLang="en-US" sz="1600">
                <a:ea typeface="Times New Roman" pitchFamily="18" charset="0"/>
                <a:cs typeface="Arial" charset="0"/>
              </a:rPr>
              <a:t>Hence amount at end of third year = $7986</a:t>
            </a:r>
            <a:endParaRPr lang="en-US" altLang="en-US" sz="1600">
              <a:ea typeface="Times New Roman" pitchFamily="18" charset="0"/>
              <a:cs typeface="Arial" charset="0"/>
            </a:endParaRPr>
          </a:p>
          <a:p>
            <a:r>
              <a:rPr lang="en-AU" altLang="en-US" sz="1600">
                <a:ea typeface="Times New Roman" pitchFamily="18" charset="0"/>
                <a:cs typeface="Arial" charset="0"/>
              </a:rPr>
              <a:t>So interest for the three years is $1986  (either $7986 - $6000 OR $600 + $660 + $726)</a:t>
            </a:r>
            <a:endParaRPr lang="en-US" altLang="en-US" sz="1600">
              <a:ea typeface="Times New Roman" pitchFamily="18" charset="0"/>
              <a:cs typeface="Arial" charset="0"/>
            </a:endParaRPr>
          </a:p>
          <a:p>
            <a:r>
              <a:rPr lang="en-AU" altLang="en-US" sz="1600">
                <a:ea typeface="Times New Roman" pitchFamily="18" charset="0"/>
                <a:cs typeface="Arial" charset="0"/>
              </a:rPr>
              <a:t>This can be done in one step if you use the formula</a:t>
            </a:r>
            <a:br>
              <a:rPr lang="en-AU" altLang="en-US" sz="1600">
                <a:ea typeface="Times New Roman" pitchFamily="18" charset="0"/>
                <a:cs typeface="Arial" charset="0"/>
              </a:rPr>
            </a:br>
            <a:r>
              <a:rPr lang="en-AU" altLang="en-US" sz="1600">
                <a:ea typeface="Times New Roman" pitchFamily="18" charset="0"/>
                <a:cs typeface="Arial" charset="0"/>
              </a:rPr>
              <a:t>Amount = P × (1 + r)</a:t>
            </a:r>
            <a:r>
              <a:rPr lang="en-AU" altLang="en-US" sz="1600" baseline="30000">
                <a:ea typeface="Times New Roman" pitchFamily="18" charset="0"/>
                <a:cs typeface="Arial" charset="0"/>
              </a:rPr>
              <a:t>n</a:t>
            </a:r>
            <a:endParaRPr lang="en-US" altLang="en-US" sz="1600">
              <a:ea typeface="Times New Roman" pitchFamily="18" charset="0"/>
              <a:cs typeface="Arial" charset="0"/>
            </a:endParaRPr>
          </a:p>
          <a:p>
            <a:r>
              <a:rPr lang="en-AU" altLang="en-US" sz="1600">
                <a:ea typeface="Times New Roman" pitchFamily="18" charset="0"/>
                <a:cs typeface="Arial" charset="0"/>
              </a:rPr>
              <a:t>	where P is the principal,</a:t>
            </a:r>
            <a:endParaRPr lang="en-US" altLang="en-US" sz="1600">
              <a:ea typeface="Times New Roman" pitchFamily="18" charset="0"/>
              <a:cs typeface="Arial" charset="0"/>
            </a:endParaRPr>
          </a:p>
          <a:p>
            <a:r>
              <a:rPr lang="en-AU" altLang="en-US" sz="1600">
                <a:ea typeface="Times New Roman" pitchFamily="18" charset="0"/>
                <a:cs typeface="Arial" charset="0"/>
              </a:rPr>
              <a:t>	r is the rate (as a decimal) for the time period and </a:t>
            </a:r>
            <a:br>
              <a:rPr lang="en-AU" altLang="en-US" sz="1600">
                <a:ea typeface="Times New Roman" pitchFamily="18" charset="0"/>
                <a:cs typeface="Arial" charset="0"/>
              </a:rPr>
            </a:br>
            <a:r>
              <a:rPr lang="en-AU" altLang="en-US" sz="1600">
                <a:ea typeface="Times New Roman" pitchFamily="18" charset="0"/>
                <a:cs typeface="Arial" charset="0"/>
              </a:rPr>
              <a:t>	n is the number of times the interest is compounded during the investment</a:t>
            </a:r>
            <a:br>
              <a:rPr lang="en-AU" altLang="en-US" sz="1600">
                <a:ea typeface="Times New Roman" pitchFamily="18" charset="0"/>
                <a:cs typeface="Arial" charset="0"/>
              </a:rPr>
            </a:br>
            <a:r>
              <a:rPr lang="en-AU" altLang="en-US" sz="1600">
                <a:ea typeface="Times New Roman" pitchFamily="18" charset="0"/>
                <a:cs typeface="Arial" charset="0"/>
              </a:rPr>
              <a:t>e.g. for the above example, P = $6000, r = 0.10 and t = 3</a:t>
            </a:r>
            <a:br>
              <a:rPr lang="en-AU" altLang="en-US" sz="1600">
                <a:ea typeface="Times New Roman" pitchFamily="18" charset="0"/>
                <a:cs typeface="Arial" charset="0"/>
              </a:rPr>
            </a:br>
            <a:r>
              <a:rPr lang="en-AU" altLang="en-US" sz="1600">
                <a:ea typeface="Times New Roman" pitchFamily="18" charset="0"/>
                <a:cs typeface="Arial" charset="0"/>
              </a:rPr>
              <a:t>Hence Amount = $6000 × (1.1)</a:t>
            </a:r>
            <a:r>
              <a:rPr lang="en-AU" altLang="en-US" sz="1600" baseline="30000">
                <a:ea typeface="Times New Roman" pitchFamily="18" charset="0"/>
                <a:cs typeface="Arial" charset="0"/>
              </a:rPr>
              <a:t>3</a:t>
            </a:r>
            <a:endParaRPr lang="en-AU" altLang="en-US" sz="1600">
              <a:ea typeface="Times New Roman" pitchFamily="18" charset="0"/>
              <a:cs typeface="Arial" charset="0"/>
            </a:endParaRPr>
          </a:p>
          <a:p>
            <a:r>
              <a:rPr lang="en-AU" altLang="en-US" sz="1600">
                <a:ea typeface="Times New Roman" pitchFamily="18" charset="0"/>
                <a:cs typeface="Arial" charset="0"/>
              </a:rPr>
              <a:t>		 = $7986 as above</a:t>
            </a:r>
            <a:br>
              <a:rPr lang="en-AU" altLang="en-US" sz="1600">
                <a:ea typeface="Times New Roman" pitchFamily="18" charset="0"/>
                <a:cs typeface="Arial" charset="0"/>
              </a:rPr>
            </a:br>
            <a:br>
              <a:rPr lang="en-AU" altLang="en-US" sz="1600">
                <a:ea typeface="Times New Roman" pitchFamily="18" charset="0"/>
                <a:cs typeface="Arial" charset="0"/>
              </a:rPr>
            </a:br>
            <a:endParaRPr lang="en-AU" altLang="en-US" sz="1600">
              <a:ea typeface="Times New Roman" pitchFamily="18"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ChangeArrowheads="1"/>
          </p:cNvSpPr>
          <p:nvPr/>
        </p:nvSpPr>
        <p:spPr bwMode="auto">
          <a:xfrm>
            <a:off x="0" y="762000"/>
            <a:ext cx="9144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dirty="0">
                <a:ea typeface="Times New Roman" pitchFamily="18" charset="0"/>
                <a:cs typeface="Arial" charset="0"/>
              </a:rPr>
              <a:t>Consider now the same amount of money as above, invested for 3 years as above, but compounded every 6 months instead of every year.</a:t>
            </a:r>
            <a:endParaRPr lang="en-US" altLang="en-US" sz="1600" dirty="0">
              <a:ea typeface="Times New Roman" pitchFamily="18" charset="0"/>
              <a:cs typeface="Arial" charset="0"/>
            </a:endParaRPr>
          </a:p>
          <a:p>
            <a:r>
              <a:rPr lang="en-AU" altLang="en-US" sz="1600" dirty="0">
                <a:ea typeface="Times New Roman" pitchFamily="18" charset="0"/>
                <a:cs typeface="Arial" charset="0"/>
              </a:rPr>
              <a:t>Now p = $6000, r = 0.05 (10% for one year is the same as 5% for 6 months), n = 6 (there are 6 lots of 6 months in 3 years)</a:t>
            </a:r>
            <a:br>
              <a:rPr lang="en-AU" altLang="en-US" sz="1600" dirty="0">
                <a:ea typeface="Times New Roman" pitchFamily="18" charset="0"/>
                <a:cs typeface="Arial" charset="0"/>
              </a:rPr>
            </a:br>
            <a:r>
              <a:rPr lang="en-AU" altLang="en-US" sz="1600" dirty="0">
                <a:ea typeface="Times New Roman" pitchFamily="18" charset="0"/>
                <a:cs typeface="Arial" charset="0"/>
              </a:rPr>
              <a:t>Now 	amount = P × (1 + r)</a:t>
            </a:r>
            <a:r>
              <a:rPr lang="en-AU" altLang="en-US" sz="1600" baseline="30000" dirty="0">
                <a:ea typeface="Times New Roman" pitchFamily="18" charset="0"/>
                <a:cs typeface="Arial" charset="0"/>
              </a:rPr>
              <a:t>n</a:t>
            </a:r>
            <a:br>
              <a:rPr lang="en-AU" altLang="en-US" sz="1600" baseline="30000" dirty="0">
                <a:ea typeface="Times New Roman" pitchFamily="18" charset="0"/>
                <a:cs typeface="Arial" charset="0"/>
              </a:rPr>
            </a:br>
            <a:r>
              <a:rPr lang="en-AU" altLang="en-US" sz="1600" dirty="0">
                <a:ea typeface="Times New Roman" pitchFamily="18" charset="0"/>
                <a:cs typeface="Arial" charset="0"/>
              </a:rPr>
              <a:t>	             = $6000 × (1.05)</a:t>
            </a:r>
            <a:r>
              <a:rPr lang="en-AU" altLang="en-US" sz="1600" baseline="30000" dirty="0">
                <a:ea typeface="Times New Roman" pitchFamily="18" charset="0"/>
                <a:cs typeface="Arial" charset="0"/>
              </a:rPr>
              <a:t>6</a:t>
            </a:r>
            <a:endParaRPr lang="en-US" altLang="en-US" sz="1600" dirty="0">
              <a:ea typeface="Times New Roman" pitchFamily="18" charset="0"/>
              <a:cs typeface="Arial" charset="0"/>
            </a:endParaRPr>
          </a:p>
          <a:p>
            <a:r>
              <a:rPr lang="en-AU" altLang="en-US" sz="1600" dirty="0">
                <a:ea typeface="Times New Roman" pitchFamily="18" charset="0"/>
                <a:cs typeface="Arial" charset="0"/>
              </a:rPr>
              <a:t>		 = $8040.57 </a:t>
            </a:r>
            <a:br>
              <a:rPr lang="en-AU" altLang="en-US" sz="1600" dirty="0">
                <a:ea typeface="Times New Roman" pitchFamily="18" charset="0"/>
                <a:cs typeface="Arial" charset="0"/>
              </a:rPr>
            </a:br>
            <a:r>
              <a:rPr lang="en-AU" altLang="en-US" sz="1600" dirty="0">
                <a:ea typeface="Times New Roman" pitchFamily="18" charset="0"/>
                <a:cs typeface="Arial" charset="0"/>
              </a:rPr>
              <a:t>	Note how the interest has increased by compounding more often.</a:t>
            </a:r>
            <a:br>
              <a:rPr lang="en-AU" altLang="en-US" sz="1600" dirty="0">
                <a:ea typeface="Times New Roman" pitchFamily="18" charset="0"/>
                <a:cs typeface="Arial" charset="0"/>
              </a:rPr>
            </a:br>
            <a:r>
              <a:rPr lang="en-AU" altLang="en-US" sz="1600" dirty="0">
                <a:ea typeface="Times New Roman" pitchFamily="18" charset="0"/>
                <a:cs typeface="Arial" charset="0"/>
              </a:rPr>
              <a:t>Now consider 3-monthly compounding</a:t>
            </a:r>
            <a:br>
              <a:rPr lang="en-AU" altLang="en-US" sz="1600" dirty="0">
                <a:ea typeface="Times New Roman" pitchFamily="18" charset="0"/>
                <a:cs typeface="Arial" charset="0"/>
              </a:rPr>
            </a:br>
            <a:r>
              <a:rPr lang="en-AU" altLang="en-US" sz="1600" dirty="0">
                <a:ea typeface="Times New Roman" pitchFamily="18" charset="0"/>
                <a:cs typeface="Arial" charset="0"/>
              </a:rPr>
              <a:t>	amount = P × (1 + r)</a:t>
            </a:r>
            <a:r>
              <a:rPr lang="en-AU" altLang="en-US" sz="1600" baseline="30000" dirty="0">
                <a:ea typeface="Times New Roman" pitchFamily="18" charset="0"/>
                <a:cs typeface="Arial" charset="0"/>
              </a:rPr>
              <a:t>n</a:t>
            </a:r>
            <a:br>
              <a:rPr lang="en-AU" altLang="en-US" sz="1600" baseline="30000" dirty="0">
                <a:ea typeface="Times New Roman" pitchFamily="18" charset="0"/>
                <a:cs typeface="Arial" charset="0"/>
              </a:rPr>
            </a:br>
            <a:r>
              <a:rPr lang="en-AU" altLang="en-US" sz="1600" dirty="0">
                <a:ea typeface="Times New Roman" pitchFamily="18" charset="0"/>
                <a:cs typeface="Arial" charset="0"/>
              </a:rPr>
              <a:t>	             = $6000× (1.025)</a:t>
            </a:r>
            <a:r>
              <a:rPr lang="en-AU" altLang="en-US" sz="1600" baseline="30000" dirty="0">
                <a:ea typeface="Times New Roman" pitchFamily="18" charset="0"/>
                <a:cs typeface="Arial" charset="0"/>
              </a:rPr>
              <a:t>12</a:t>
            </a:r>
            <a:br>
              <a:rPr lang="en-AU" altLang="en-US" sz="1600" dirty="0">
                <a:ea typeface="Times New Roman" pitchFamily="18" charset="0"/>
                <a:cs typeface="Arial" charset="0"/>
              </a:rPr>
            </a:br>
            <a:r>
              <a:rPr lang="en-AU" altLang="en-US" sz="1600" dirty="0">
                <a:ea typeface="Times New Roman" pitchFamily="18" charset="0"/>
                <a:cs typeface="Arial" charset="0"/>
              </a:rPr>
              <a:t>		 = $8069.33</a:t>
            </a:r>
            <a:br>
              <a:rPr lang="en-AU" altLang="en-US" sz="1600" dirty="0">
                <a:ea typeface="Times New Roman" pitchFamily="18" charset="0"/>
                <a:cs typeface="Arial" charset="0"/>
              </a:rPr>
            </a:br>
            <a:r>
              <a:rPr lang="en-AU" altLang="en-US" sz="1600" dirty="0">
                <a:ea typeface="Times New Roman" pitchFamily="18" charset="0"/>
                <a:cs typeface="Arial" charset="0"/>
              </a:rPr>
              <a:t>Note how this is even more interest.</a:t>
            </a:r>
            <a:br>
              <a:rPr lang="en-AU" altLang="en-US" sz="1600" dirty="0">
                <a:ea typeface="Times New Roman" pitchFamily="18" charset="0"/>
                <a:cs typeface="Arial" charset="0"/>
              </a:rPr>
            </a:br>
            <a:br>
              <a:rPr lang="en-AU" altLang="en-US" sz="1600" dirty="0">
                <a:ea typeface="Times New Roman" pitchFamily="18" charset="0"/>
                <a:cs typeface="Arial" charset="0"/>
              </a:rPr>
            </a:br>
            <a:endParaRPr lang="en-US" altLang="en-US" sz="1600" dirty="0">
              <a:ea typeface="Times New Roman" pitchFamily="18" charset="0"/>
              <a:cs typeface="Arial" charset="0"/>
            </a:endParaRPr>
          </a:p>
          <a:p>
            <a:r>
              <a:rPr lang="en-AU" altLang="en-US" sz="1600" dirty="0">
                <a:ea typeface="Times New Roman" pitchFamily="18" charset="0"/>
                <a:cs typeface="Arial" charset="0"/>
              </a:rPr>
              <a:t>Now finish Ex 3A questions 1 – 13 from your textbook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7"/>
          <p:cNvGraphicFramePr>
            <a:graphicFrameLocks noChangeAspect="1"/>
          </p:cNvGraphicFramePr>
          <p:nvPr/>
        </p:nvGraphicFramePr>
        <p:xfrm>
          <a:off x="4191000" y="3200400"/>
          <a:ext cx="1295400" cy="284163"/>
        </p:xfrm>
        <a:graphic>
          <a:graphicData uri="http://schemas.openxmlformats.org/presentationml/2006/ole">
            <mc:AlternateContent xmlns:mc="http://schemas.openxmlformats.org/markup-compatibility/2006">
              <mc:Choice xmlns:v="urn:schemas-microsoft-com:vml" Requires="v">
                <p:oleObj spid="_x0000_s20538" r:id="rId3" imgW="914400" imgH="203200" progId="Equation.DSMT4">
                  <p:embed/>
                </p:oleObj>
              </mc:Choice>
              <mc:Fallback>
                <p:oleObj r:id="rId3" imgW="914400" imgH="203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200400"/>
                        <a:ext cx="1295400"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6"/>
          <p:cNvGraphicFramePr>
            <a:graphicFrameLocks noChangeAspect="1"/>
          </p:cNvGraphicFramePr>
          <p:nvPr/>
        </p:nvGraphicFramePr>
        <p:xfrm>
          <a:off x="4876800" y="4191000"/>
          <a:ext cx="1219200" cy="304800"/>
        </p:xfrm>
        <a:graphic>
          <a:graphicData uri="http://schemas.openxmlformats.org/presentationml/2006/ole">
            <mc:AlternateContent xmlns:mc="http://schemas.openxmlformats.org/markup-compatibility/2006">
              <mc:Choice xmlns:v="urn:schemas-microsoft-com:vml" Requires="v">
                <p:oleObj spid="_x0000_s20539" r:id="rId5" imgW="914400" imgH="228600" progId="Equation.DSMT4">
                  <p:embed/>
                </p:oleObj>
              </mc:Choice>
              <mc:Fallback>
                <p:oleObj r:id="rId5" imgW="9144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41910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8" name="Rectangle 8"/>
          <p:cNvSpPr>
            <a:spLocks noChangeArrowheads="1"/>
          </p:cNvSpPr>
          <p:nvPr/>
        </p:nvSpPr>
        <p:spPr bwMode="auto">
          <a:xfrm>
            <a:off x="0" y="0"/>
            <a:ext cx="91440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b="1">
                <a:ea typeface="Times New Roman" pitchFamily="18" charset="0"/>
                <a:cs typeface="Arial" charset="0"/>
              </a:rPr>
              <a:t>FINANCIAL CALCULATIONS</a:t>
            </a:r>
            <a:endParaRPr lang="en-US" altLang="en-US" sz="1600">
              <a:ea typeface="Times New Roman" pitchFamily="18" charset="0"/>
              <a:cs typeface="Arial" charset="0"/>
            </a:endParaRPr>
          </a:p>
          <a:p>
            <a:r>
              <a:rPr lang="en-AU" altLang="en-US" sz="1600" b="1">
                <a:ea typeface="Times New Roman" pitchFamily="18" charset="0"/>
                <a:cs typeface="Arial" charset="0"/>
              </a:rPr>
              <a:t>Interest</a:t>
            </a:r>
            <a:endParaRPr lang="en-US" altLang="en-US" sz="1600">
              <a:ea typeface="Times New Roman" pitchFamily="18" charset="0"/>
              <a:cs typeface="Arial" charset="0"/>
            </a:endParaRPr>
          </a:p>
          <a:p>
            <a:r>
              <a:rPr lang="en-AU" altLang="en-US" sz="1600">
                <a:ea typeface="Times New Roman" pitchFamily="18" charset="0"/>
                <a:cs typeface="Arial" charset="0"/>
              </a:rPr>
              <a:t>The price paid for borrowing money. It is expressed as a percentage rate over a period of time. </a:t>
            </a:r>
            <a:endParaRPr lang="en-US" altLang="en-US" sz="1600">
              <a:ea typeface="Times New Roman" pitchFamily="18" charset="0"/>
              <a:cs typeface="Arial" charset="0"/>
            </a:endParaRPr>
          </a:p>
          <a:p>
            <a:r>
              <a:rPr lang="en-AU" altLang="en-US" sz="1600" b="1">
                <a:ea typeface="Times New Roman" pitchFamily="18" charset="0"/>
                <a:cs typeface="Arial" charset="0"/>
              </a:rPr>
              <a:t>Principal</a:t>
            </a:r>
            <a:endParaRPr lang="en-US" altLang="en-US" sz="1600">
              <a:ea typeface="Times New Roman" pitchFamily="18" charset="0"/>
              <a:cs typeface="Arial" charset="0"/>
            </a:endParaRPr>
          </a:p>
          <a:p>
            <a:r>
              <a:rPr lang="en-AU" altLang="en-US" sz="1600">
                <a:ea typeface="Times New Roman" pitchFamily="18" charset="0"/>
                <a:cs typeface="Arial" charset="0"/>
              </a:rPr>
              <a:t>The total amount of money being borrowed or lent. </a:t>
            </a:r>
            <a:endParaRPr lang="en-US" altLang="en-US" sz="1600">
              <a:ea typeface="Times New Roman" pitchFamily="18" charset="0"/>
              <a:cs typeface="Arial" charset="0"/>
            </a:endParaRPr>
          </a:p>
          <a:p>
            <a:r>
              <a:rPr lang="en-AU" altLang="en-US" sz="1600" b="1">
                <a:ea typeface="Times New Roman" pitchFamily="18" charset="0"/>
                <a:cs typeface="Arial" charset="0"/>
              </a:rPr>
              <a:t>Simple interest</a:t>
            </a:r>
            <a:endParaRPr lang="en-US" altLang="en-US" sz="1600">
              <a:ea typeface="Times New Roman" pitchFamily="18" charset="0"/>
              <a:cs typeface="Arial" charset="0"/>
            </a:endParaRPr>
          </a:p>
          <a:p>
            <a:r>
              <a:rPr lang="en-AU" altLang="en-US" sz="1600">
                <a:ea typeface="Times New Roman" pitchFamily="18" charset="0"/>
                <a:cs typeface="Arial" charset="0"/>
                <a:hlinkClick r:id="rId7"/>
              </a:rPr>
              <a:t>Interest</a:t>
            </a:r>
            <a:r>
              <a:rPr lang="en-AU" altLang="en-US" sz="1600">
                <a:ea typeface="Times New Roman" pitchFamily="18" charset="0"/>
                <a:cs typeface="Arial" charset="0"/>
              </a:rPr>
              <a:t> calculated as a simple percentage of the original </a:t>
            </a:r>
            <a:r>
              <a:rPr lang="en-AU" altLang="en-US" sz="1600">
                <a:ea typeface="Times New Roman" pitchFamily="18" charset="0"/>
                <a:cs typeface="Arial" charset="0"/>
                <a:hlinkClick r:id="rId8"/>
              </a:rPr>
              <a:t>principal</a:t>
            </a:r>
            <a:r>
              <a:rPr lang="en-AU" altLang="en-US" sz="1600">
                <a:ea typeface="Times New Roman" pitchFamily="18" charset="0"/>
                <a:cs typeface="Arial" charset="0"/>
              </a:rPr>
              <a:t> amount.</a:t>
            </a:r>
            <a:endParaRPr lang="en-US" altLang="en-US" sz="1600">
              <a:ea typeface="Times New Roman" pitchFamily="18" charset="0"/>
              <a:cs typeface="Arial" charset="0"/>
            </a:endParaRPr>
          </a:p>
          <a:p>
            <a:r>
              <a:rPr lang="en-AU" altLang="en-US" sz="1600" b="1">
                <a:ea typeface="Times New Roman" pitchFamily="18" charset="0"/>
                <a:cs typeface="Arial" charset="0"/>
              </a:rPr>
              <a:t>Compound interest</a:t>
            </a:r>
            <a:endParaRPr lang="en-US" altLang="en-US" sz="1600">
              <a:ea typeface="Times New Roman" pitchFamily="18" charset="0"/>
              <a:cs typeface="Arial" charset="0"/>
            </a:endParaRPr>
          </a:p>
          <a:p>
            <a:r>
              <a:rPr lang="en-AU" altLang="en-US" sz="1600">
                <a:ea typeface="Times New Roman" pitchFamily="18" charset="0"/>
                <a:cs typeface="Arial" charset="0"/>
                <a:hlinkClick r:id="rId9"/>
              </a:rPr>
              <a:t>Interest</a:t>
            </a:r>
            <a:r>
              <a:rPr lang="en-AU" altLang="en-US" sz="1600">
                <a:ea typeface="Times New Roman" pitchFamily="18" charset="0"/>
                <a:cs typeface="Arial" charset="0"/>
              </a:rPr>
              <a:t> paid on previously earned interest as well as on the </a:t>
            </a:r>
            <a:r>
              <a:rPr lang="en-AU" altLang="en-US" sz="1600">
                <a:ea typeface="Times New Roman" pitchFamily="18" charset="0"/>
                <a:cs typeface="Arial" charset="0"/>
                <a:hlinkClick r:id="rId10"/>
              </a:rPr>
              <a:t>principal</a:t>
            </a:r>
            <a:r>
              <a:rPr lang="en-AU" altLang="en-US" sz="1600">
                <a:ea typeface="Times New Roman" pitchFamily="18" charset="0"/>
                <a:cs typeface="Arial" charset="0"/>
              </a:rPr>
              <a:t>. </a:t>
            </a:r>
            <a:endParaRPr lang="en-US" altLang="en-US" sz="1600">
              <a:ea typeface="Times New Roman" pitchFamily="18" charset="0"/>
              <a:cs typeface="Arial" charset="0"/>
            </a:endParaRPr>
          </a:p>
          <a:p>
            <a:r>
              <a:rPr lang="en-AU" altLang="en-US" sz="1600" b="1">
                <a:solidFill>
                  <a:srgbClr val="000000"/>
                </a:solidFill>
                <a:ea typeface="Times New Roman" pitchFamily="18" charset="0"/>
                <a:cs typeface="Arial" charset="0"/>
              </a:rPr>
              <a:t>Future Value - FV</a:t>
            </a:r>
            <a:endParaRPr lang="en-AU" altLang="en-US" sz="1600" b="1">
              <a:latin typeface="Times New Roman" pitchFamily="18" charset="0"/>
              <a:ea typeface="Times New Roman" pitchFamily="18" charset="0"/>
              <a:cs typeface="Arial" charset="0"/>
            </a:endParaRPr>
          </a:p>
          <a:p>
            <a:r>
              <a:rPr lang="en-AU" altLang="en-US" sz="1600">
                <a:solidFill>
                  <a:srgbClr val="000000"/>
                </a:solidFill>
                <a:ea typeface="Times New Roman" pitchFamily="18" charset="0"/>
                <a:cs typeface="Arial" charset="0"/>
              </a:rPr>
              <a:t>The value of an asset or cash at a specified date in the future that is equivalent in value to a specified sum today. There are two ways to calculate FV: </a:t>
            </a:r>
          </a:p>
          <a:p>
            <a:endParaRPr lang="en-US" altLang="en-US" sz="1600">
              <a:ea typeface="Times New Roman" pitchFamily="18" charset="0"/>
              <a:cs typeface="Arial" charset="0"/>
            </a:endParaRPr>
          </a:p>
          <a:p>
            <a:r>
              <a:rPr lang="en-AU" altLang="en-US" sz="1600">
                <a:solidFill>
                  <a:srgbClr val="000000"/>
                </a:solidFill>
                <a:ea typeface="Times New Roman" pitchFamily="18" charset="0"/>
                <a:cs typeface="Arial" charset="0"/>
              </a:rPr>
              <a:t>a)  For an asset with simple annual interest:   </a:t>
            </a:r>
          </a:p>
          <a:p>
            <a:pPr eaLnBrk="1" hangingPunct="1"/>
            <a:r>
              <a:rPr lang="en-AU" altLang="en-US" sz="1600">
                <a:solidFill>
                  <a:srgbClr val="000000"/>
                </a:solidFill>
                <a:ea typeface="Times New Roman" pitchFamily="18" charset="0"/>
                <a:cs typeface="Arial" charset="0"/>
              </a:rPr>
              <a:t>$1000 invested for 5 years with simple annual interest of 10% would have a future value of $1,500.00. </a:t>
            </a:r>
          </a:p>
          <a:p>
            <a:pPr eaLnBrk="1" hangingPunct="1"/>
            <a:endParaRPr lang="en-US" altLang="en-US" sz="1600">
              <a:ea typeface="Times New Roman" pitchFamily="18" charset="0"/>
              <a:cs typeface="Arial" charset="0"/>
            </a:endParaRPr>
          </a:p>
          <a:p>
            <a:r>
              <a:rPr lang="en-AU" altLang="en-US" sz="1600">
                <a:solidFill>
                  <a:srgbClr val="000000"/>
                </a:solidFill>
                <a:ea typeface="Times New Roman" pitchFamily="18" charset="0"/>
                <a:cs typeface="Arial" charset="0"/>
              </a:rPr>
              <a:t>b)  For an asset with interest compounded annually:  </a:t>
            </a:r>
            <a:endParaRPr lang="en-AU" altLang="en-US" sz="1600">
              <a:ea typeface="Times New Roman" pitchFamily="18" charset="0"/>
              <a:cs typeface="Arial" charset="0"/>
            </a:endParaRPr>
          </a:p>
          <a:p>
            <a:pPr eaLnBrk="1" hangingPunct="1"/>
            <a:r>
              <a:rPr lang="en-AU" altLang="en-US" sz="1600">
                <a:solidFill>
                  <a:srgbClr val="000000"/>
                </a:solidFill>
                <a:ea typeface="Times New Roman" pitchFamily="18" charset="0"/>
                <a:cs typeface="Arial" charset="0"/>
              </a:rPr>
              <a:t>$1000 invested for 5 years at 10%, compounded annually has a future value of $1,610.51.</a:t>
            </a:r>
            <a:endParaRPr lang="en-US" altLang="en-US" sz="1000">
              <a:ea typeface="Times New Roman" pitchFamily="18" charset="0"/>
              <a:cs typeface="Arial" charset="0"/>
            </a:endParaRPr>
          </a:p>
          <a:p>
            <a:r>
              <a:rPr lang="en-AU" altLang="en-US" sz="1600" b="1">
                <a:ea typeface="Times New Roman" pitchFamily="18" charset="0"/>
                <a:cs typeface="Arial" charset="0"/>
              </a:rPr>
              <a:t>Present Value - PV</a:t>
            </a:r>
            <a:endParaRPr lang="en-US" altLang="en-US" sz="1000">
              <a:ea typeface="Times New Roman" pitchFamily="18" charset="0"/>
              <a:cs typeface="Arial" charset="0"/>
            </a:endParaRPr>
          </a:p>
          <a:p>
            <a:r>
              <a:rPr lang="en-AU" altLang="en-US" sz="1600">
                <a:ea typeface="Times New Roman" pitchFamily="18" charset="0"/>
                <a:cs typeface="Arial" charset="0"/>
              </a:rPr>
              <a:t>The amount of cash today that is equivalent in value to a payment, or to a stream of payments, to be received in the future. </a:t>
            </a:r>
            <a:endParaRPr lang="en-AU" altLang="en-US" sz="2400">
              <a:ea typeface="Times New Roman" pitchFamily="18" charset="0"/>
              <a:cs typeface="Arial" charset="0"/>
            </a:endParaRPr>
          </a:p>
          <a:p>
            <a:endParaRPr lang="en-AU" altLang="en-US" sz="1600">
              <a:ea typeface="Times New Roman" pitchFamily="18" charset="0"/>
              <a:cs typeface="Arial" charset="0"/>
            </a:endParaRPr>
          </a:p>
        </p:txBody>
      </p:sp>
    </p:spTree>
    <p:extLst>
      <p:ext uri="{BB962C8B-B14F-4D97-AF65-F5344CB8AC3E}">
        <p14:creationId xmlns:p14="http://schemas.microsoft.com/office/powerpoint/2010/main" val="3564151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l="9213" t="6540" r="8743" b="14716"/>
          <a:stretch>
            <a:fillRect/>
          </a:stretch>
        </p:blipFill>
        <p:spPr bwMode="auto">
          <a:xfrm>
            <a:off x="5257800" y="1371600"/>
            <a:ext cx="2362200"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1"/>
          <p:cNvPicPr>
            <a:picLocks noChangeAspect="1" noChangeArrowheads="1"/>
          </p:cNvPicPr>
          <p:nvPr/>
        </p:nvPicPr>
        <p:blipFill>
          <a:blip r:embed="rId3">
            <a:extLst>
              <a:ext uri="{28A0092B-C50C-407E-A947-70E740481C1C}">
                <a14:useLocalDpi xmlns:a14="http://schemas.microsoft.com/office/drawing/2010/main" val="0"/>
              </a:ext>
            </a:extLst>
          </a:blip>
          <a:srcRect l="9778" t="6854" r="32530" b="33078"/>
          <a:stretch>
            <a:fillRect/>
          </a:stretch>
        </p:blipFill>
        <p:spPr bwMode="auto">
          <a:xfrm>
            <a:off x="3200400" y="1447800"/>
            <a:ext cx="1676400"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Rectangle 3"/>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5125" name="Rectangle 5"/>
          <p:cNvSpPr>
            <a:spLocks noChangeArrowheads="1"/>
          </p:cNvSpPr>
          <p:nvPr/>
        </p:nvSpPr>
        <p:spPr bwMode="auto">
          <a:xfrm>
            <a:off x="0" y="914400"/>
            <a:ext cx="312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b="1">
                <a:ea typeface="Times New Roman" pitchFamily="18" charset="0"/>
                <a:cs typeface="Arial" charset="0"/>
              </a:rPr>
              <a:t>NOTE</a:t>
            </a:r>
          </a:p>
          <a:p>
            <a:pPr eaLnBrk="1" hangingPunct="1"/>
            <a:endParaRPr lang="en-AU" altLang="en-US" sz="1600">
              <a:ea typeface="Times New Roman" pitchFamily="18" charset="0"/>
              <a:cs typeface="Arial" charset="0"/>
            </a:endParaRPr>
          </a:p>
          <a:p>
            <a:pPr eaLnBrk="1" hangingPunct="1"/>
            <a:r>
              <a:rPr lang="en-AU" altLang="en-US" sz="1600">
                <a:ea typeface="Times New Roman" pitchFamily="18" charset="0"/>
                <a:cs typeface="Arial" charset="0"/>
              </a:rPr>
              <a:t>Set your calculator using </a:t>
            </a:r>
            <a:br>
              <a:rPr lang="en-AU" altLang="en-US" sz="1600">
                <a:ea typeface="Times New Roman" pitchFamily="18" charset="0"/>
                <a:cs typeface="Arial" charset="0"/>
              </a:rPr>
            </a:br>
            <a:r>
              <a:rPr lang="en-AU" altLang="en-US" sz="1600">
                <a:ea typeface="Times New Roman" pitchFamily="18" charset="0"/>
                <a:cs typeface="Arial" charset="0"/>
              </a:rPr>
              <a:t>“Financial Format” to correctly calculate with the data that you use.</a:t>
            </a:r>
          </a:p>
        </p:txBody>
      </p:sp>
    </p:spTree>
    <p:extLst>
      <p:ext uri="{BB962C8B-B14F-4D97-AF65-F5344CB8AC3E}">
        <p14:creationId xmlns:p14="http://schemas.microsoft.com/office/powerpoint/2010/main" val="3662580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2"/>
          <p:cNvPicPr>
            <a:picLocks noChangeAspect="1" noChangeArrowheads="1"/>
          </p:cNvPicPr>
          <p:nvPr/>
        </p:nvPicPr>
        <p:blipFill>
          <a:blip r:embed="rId2">
            <a:extLst>
              <a:ext uri="{28A0092B-C50C-407E-A947-70E740481C1C}">
                <a14:useLocalDpi xmlns:a14="http://schemas.microsoft.com/office/drawing/2010/main" val="0"/>
              </a:ext>
            </a:extLst>
          </a:blip>
          <a:srcRect l="7736" t="18175" r="9845" b="28906"/>
          <a:stretch>
            <a:fillRect/>
          </a:stretch>
        </p:blipFill>
        <p:spPr bwMode="auto">
          <a:xfrm>
            <a:off x="0" y="457200"/>
            <a:ext cx="2533650"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31"/>
          <p:cNvPicPr>
            <a:picLocks noChangeAspect="1" noChangeArrowheads="1"/>
          </p:cNvPicPr>
          <p:nvPr/>
        </p:nvPicPr>
        <p:blipFill>
          <a:blip r:embed="rId3">
            <a:extLst>
              <a:ext uri="{28A0092B-C50C-407E-A947-70E740481C1C}">
                <a14:useLocalDpi xmlns:a14="http://schemas.microsoft.com/office/drawing/2010/main" val="0"/>
              </a:ext>
            </a:extLst>
          </a:blip>
          <a:srcRect l="9065" t="18176" r="9064" b="39388"/>
          <a:stretch>
            <a:fillRect/>
          </a:stretch>
        </p:blipFill>
        <p:spPr bwMode="auto">
          <a:xfrm>
            <a:off x="0" y="3124200"/>
            <a:ext cx="250507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8" name="Group 33"/>
          <p:cNvGrpSpPr>
            <a:grpSpLocks/>
          </p:cNvGrpSpPr>
          <p:nvPr/>
        </p:nvGrpSpPr>
        <p:grpSpPr bwMode="auto">
          <a:xfrm>
            <a:off x="3048000" y="381000"/>
            <a:ext cx="2706688" cy="4445000"/>
            <a:chOff x="6575" y="1844"/>
            <a:chExt cx="4262" cy="6999"/>
          </a:xfrm>
        </p:grpSpPr>
        <p:sp>
          <p:nvSpPr>
            <p:cNvPr id="6153" name="AutoShape 44"/>
            <p:cNvSpPr>
              <a:spLocks/>
            </p:cNvSpPr>
            <p:nvPr/>
          </p:nvSpPr>
          <p:spPr bwMode="auto">
            <a:xfrm>
              <a:off x="6634" y="2335"/>
              <a:ext cx="4203" cy="346"/>
            </a:xfrm>
            <a:prstGeom prst="accentBorderCallout1">
              <a:avLst>
                <a:gd name="adj1" fmla="val 49639"/>
                <a:gd name="adj2" fmla="val 0"/>
                <a:gd name="adj3" fmla="val 155394"/>
                <a:gd name="adj4" fmla="val -27843"/>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The interest rate as a percentage</a:t>
              </a:r>
              <a:endParaRPr lang="en-AU" altLang="en-US"/>
            </a:p>
          </p:txBody>
        </p:sp>
        <p:sp>
          <p:nvSpPr>
            <p:cNvPr id="6154" name="AutoShape 43"/>
            <p:cNvSpPr>
              <a:spLocks/>
            </p:cNvSpPr>
            <p:nvPr/>
          </p:nvSpPr>
          <p:spPr bwMode="auto">
            <a:xfrm>
              <a:off x="6634" y="1844"/>
              <a:ext cx="4203" cy="347"/>
            </a:xfrm>
            <a:prstGeom prst="accentBorderCallout1">
              <a:avLst>
                <a:gd name="adj1" fmla="val 49639"/>
                <a:gd name="adj2" fmla="val 0"/>
                <a:gd name="adj3" fmla="val 182736"/>
                <a:gd name="adj4" fmla="val -27958"/>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Convert the number years to days</a:t>
              </a:r>
              <a:endParaRPr lang="en-AU" altLang="en-US"/>
            </a:p>
          </p:txBody>
        </p:sp>
        <p:sp>
          <p:nvSpPr>
            <p:cNvPr id="6155" name="AutoShape 42"/>
            <p:cNvSpPr>
              <a:spLocks/>
            </p:cNvSpPr>
            <p:nvPr/>
          </p:nvSpPr>
          <p:spPr bwMode="auto">
            <a:xfrm>
              <a:off x="6634" y="3318"/>
              <a:ext cx="4203" cy="346"/>
            </a:xfrm>
            <a:prstGeom prst="accentBorderCallout1">
              <a:avLst>
                <a:gd name="adj1" fmla="val 50000"/>
                <a:gd name="adj2" fmla="val 0"/>
                <a:gd name="adj3" fmla="val 103625"/>
                <a:gd name="adj4" fmla="val -27958"/>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SIMPLE INTEREST</a:t>
              </a:r>
              <a:endParaRPr lang="en-AU" altLang="en-US"/>
            </a:p>
          </p:txBody>
        </p:sp>
        <p:sp>
          <p:nvSpPr>
            <p:cNvPr id="6156" name="AutoShape 41"/>
            <p:cNvSpPr>
              <a:spLocks/>
            </p:cNvSpPr>
            <p:nvPr/>
          </p:nvSpPr>
          <p:spPr bwMode="auto">
            <a:xfrm>
              <a:off x="6634" y="2826"/>
              <a:ext cx="4203" cy="346"/>
            </a:xfrm>
            <a:prstGeom prst="accentBorderCallout1">
              <a:avLst>
                <a:gd name="adj1" fmla="val 50000"/>
                <a:gd name="adj2" fmla="val 0"/>
                <a:gd name="adj3" fmla="val 129708"/>
                <a:gd name="adj4" fmla="val -27602"/>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PRINCIPAL</a:t>
              </a:r>
              <a:endParaRPr lang="en-AU" altLang="en-US"/>
            </a:p>
          </p:txBody>
        </p:sp>
        <p:sp>
          <p:nvSpPr>
            <p:cNvPr id="6157" name="AutoShape 40"/>
            <p:cNvSpPr>
              <a:spLocks/>
            </p:cNvSpPr>
            <p:nvPr/>
          </p:nvSpPr>
          <p:spPr bwMode="auto">
            <a:xfrm>
              <a:off x="6634" y="3808"/>
              <a:ext cx="4203" cy="347"/>
            </a:xfrm>
            <a:prstGeom prst="accentBorderCallout1">
              <a:avLst>
                <a:gd name="adj1" fmla="val 49639"/>
                <a:gd name="adj2" fmla="val 0"/>
                <a:gd name="adj3" fmla="val 74102"/>
                <a:gd name="adj4" fmla="val -27958"/>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PRINCIPAL + INTEREST</a:t>
              </a:r>
              <a:endParaRPr lang="en-AU" altLang="en-US"/>
            </a:p>
          </p:txBody>
        </p:sp>
        <p:sp>
          <p:nvSpPr>
            <p:cNvPr id="6158" name="AutoShape 39"/>
            <p:cNvSpPr>
              <a:spLocks/>
            </p:cNvSpPr>
            <p:nvPr/>
          </p:nvSpPr>
          <p:spPr bwMode="auto">
            <a:xfrm>
              <a:off x="6634" y="4994"/>
              <a:ext cx="4203" cy="663"/>
            </a:xfrm>
            <a:prstGeom prst="accentBorderCallout1">
              <a:avLst>
                <a:gd name="adj1" fmla="val 49810"/>
                <a:gd name="adj2" fmla="val 0"/>
                <a:gd name="adj3" fmla="val 73963"/>
                <a:gd name="adj4" fmla="val -58894"/>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Make sure that the setting is </a:t>
              </a:r>
              <a:br>
                <a:rPr lang="en-AU" altLang="en-US" sz="1200">
                  <a:cs typeface="Times New Roman" pitchFamily="18" charset="0"/>
                </a:rPr>
              </a:br>
              <a:r>
                <a:rPr lang="en-AU" altLang="en-US" sz="1200">
                  <a:cs typeface="Times New Roman" pitchFamily="18" charset="0"/>
                </a:rPr>
                <a:t>1 YEAR = 365 DAYS</a:t>
              </a:r>
              <a:endParaRPr lang="en-AU" altLang="en-US"/>
            </a:p>
          </p:txBody>
        </p:sp>
        <p:sp>
          <p:nvSpPr>
            <p:cNvPr id="6159" name="AutoShape 38"/>
            <p:cNvSpPr>
              <a:spLocks/>
            </p:cNvSpPr>
            <p:nvPr/>
          </p:nvSpPr>
          <p:spPr bwMode="auto">
            <a:xfrm>
              <a:off x="6575" y="7003"/>
              <a:ext cx="4203" cy="346"/>
            </a:xfrm>
            <a:prstGeom prst="accentBorderCallout1">
              <a:avLst>
                <a:gd name="adj1" fmla="val 50000"/>
                <a:gd name="adj2" fmla="val 0"/>
                <a:gd name="adj3" fmla="val 62319"/>
                <a:gd name="adj4" fmla="val -29032"/>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The interest rate as a percentage</a:t>
              </a:r>
              <a:endParaRPr lang="en-AU" altLang="en-US"/>
            </a:p>
          </p:txBody>
        </p:sp>
        <p:sp>
          <p:nvSpPr>
            <p:cNvPr id="6160" name="AutoShape 37"/>
            <p:cNvSpPr>
              <a:spLocks/>
            </p:cNvSpPr>
            <p:nvPr/>
          </p:nvSpPr>
          <p:spPr bwMode="auto">
            <a:xfrm>
              <a:off x="6575" y="6506"/>
              <a:ext cx="4203" cy="346"/>
            </a:xfrm>
            <a:prstGeom prst="accentBorderCallout1">
              <a:avLst>
                <a:gd name="adj1" fmla="val 50000"/>
                <a:gd name="adj2" fmla="val 0"/>
                <a:gd name="adj3" fmla="val 102898"/>
                <a:gd name="adj4" fmla="val -28731"/>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Number of years</a:t>
              </a:r>
              <a:endParaRPr lang="en-AU" altLang="en-US"/>
            </a:p>
          </p:txBody>
        </p:sp>
        <p:sp>
          <p:nvSpPr>
            <p:cNvPr id="6161" name="AutoShape 36"/>
            <p:cNvSpPr>
              <a:spLocks/>
            </p:cNvSpPr>
            <p:nvPr/>
          </p:nvSpPr>
          <p:spPr bwMode="auto">
            <a:xfrm>
              <a:off x="6575" y="8018"/>
              <a:ext cx="4203" cy="346"/>
            </a:xfrm>
            <a:prstGeom prst="accentBorderCallout1">
              <a:avLst>
                <a:gd name="adj1" fmla="val 50000"/>
                <a:gd name="adj2" fmla="val 0"/>
                <a:gd name="adj3" fmla="val -41306"/>
                <a:gd name="adj4" fmla="val -28435"/>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The amount owing after n years</a:t>
              </a:r>
              <a:endParaRPr lang="en-AU" altLang="en-US"/>
            </a:p>
          </p:txBody>
        </p:sp>
        <p:sp>
          <p:nvSpPr>
            <p:cNvPr id="6162" name="AutoShape 35"/>
            <p:cNvSpPr>
              <a:spLocks/>
            </p:cNvSpPr>
            <p:nvPr/>
          </p:nvSpPr>
          <p:spPr bwMode="auto">
            <a:xfrm>
              <a:off x="6575" y="7552"/>
              <a:ext cx="4203" cy="346"/>
            </a:xfrm>
            <a:prstGeom prst="accentBorderCallout1">
              <a:avLst>
                <a:gd name="adj1" fmla="val 50000"/>
                <a:gd name="adj2" fmla="val 0"/>
                <a:gd name="adj3" fmla="val -1449"/>
                <a:gd name="adj4" fmla="val -29861"/>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PRINCIPAL</a:t>
              </a:r>
              <a:endParaRPr lang="en-AU" altLang="en-US" sz="800"/>
            </a:p>
            <a:p>
              <a:endParaRPr lang="en-AU" altLang="en-US"/>
            </a:p>
          </p:txBody>
        </p:sp>
        <p:sp>
          <p:nvSpPr>
            <p:cNvPr id="6163" name="AutoShape 34"/>
            <p:cNvSpPr>
              <a:spLocks/>
            </p:cNvSpPr>
            <p:nvPr/>
          </p:nvSpPr>
          <p:spPr bwMode="auto">
            <a:xfrm>
              <a:off x="6575" y="8496"/>
              <a:ext cx="4203" cy="347"/>
            </a:xfrm>
            <a:prstGeom prst="accentBorderCallout1">
              <a:avLst>
                <a:gd name="adj1" fmla="val 49639"/>
                <a:gd name="adj2" fmla="val 0"/>
                <a:gd name="adj3" fmla="val -84894"/>
                <a:gd name="adj4" fmla="val -27722"/>
              </a:avLst>
            </a:prstGeom>
            <a:solidFill>
              <a:srgbClr val="FFFFFF"/>
            </a:solidFill>
            <a:ln w="9525">
              <a:solidFill>
                <a:srgbClr val="000000"/>
              </a:solidFill>
              <a:miter lim="800000"/>
              <a:headEnd type="none" w="sm" len="sm"/>
              <a:tailEnd type="triangle" w="med" len="med"/>
            </a:ln>
          </p:spPr>
          <p:txBody>
            <a:bodyPr lIns="0" tIns="0" rIns="0" bIns="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a:cs typeface="Times New Roman" pitchFamily="18" charset="0"/>
                </a:rPr>
                <a:t>PRINCIPAL + INTEREST</a:t>
              </a:r>
              <a:endParaRPr lang="en-AU" altLang="en-US"/>
            </a:p>
          </p:txBody>
        </p:sp>
      </p:grpSp>
      <p:sp>
        <p:nvSpPr>
          <p:cNvPr id="6149" name="Rectangle 45"/>
          <p:cNvSpPr>
            <a:spLocks noChangeArrowheads="1"/>
          </p:cNvSpPr>
          <p:nvPr/>
        </p:nvSpPr>
        <p:spPr bwMode="auto">
          <a:xfrm>
            <a:off x="0" y="152400"/>
            <a:ext cx="156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200" b="1">
                <a:ea typeface="Times New Roman" pitchFamily="18" charset="0"/>
                <a:cs typeface="Arial" charset="0"/>
              </a:rPr>
              <a:t>SIMPLE INTEREST</a:t>
            </a:r>
            <a:endParaRPr lang="en-US" altLang="en-US" sz="800">
              <a:ea typeface="Times New Roman" pitchFamily="18" charset="0"/>
              <a:cs typeface="Arial" charset="0"/>
            </a:endParaRPr>
          </a:p>
        </p:txBody>
      </p:sp>
      <p:sp>
        <p:nvSpPr>
          <p:cNvPr id="6150" name="Rectangle 57"/>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r>
              <a:rPr lang="en-US" altLang="en-US" sz="800"/>
            </a:br>
            <a:endParaRPr lang="en-US" altLang="en-US"/>
          </a:p>
          <a:p>
            <a:endParaRPr lang="en-US" altLang="en-US"/>
          </a:p>
        </p:txBody>
      </p:sp>
      <p:sp>
        <p:nvSpPr>
          <p:cNvPr id="6151" name="Rectangle 58"/>
          <p:cNvSpPr>
            <a:spLocks noChangeArrowheads="1"/>
          </p:cNvSpPr>
          <p:nvPr/>
        </p:nvSpPr>
        <p:spPr bwMode="auto">
          <a:xfrm>
            <a:off x="0" y="2809875"/>
            <a:ext cx="9144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AU" altLang="en-US" sz="1200" b="1">
                <a:ea typeface="Times New Roman" pitchFamily="18" charset="0"/>
                <a:cs typeface="Arial" charset="0"/>
              </a:rPr>
              <a:t>COMPOUND INTEREST</a:t>
            </a:r>
            <a:endParaRPr lang="en-US" altLang="en-US" sz="800">
              <a:ea typeface="Times New Roman" pitchFamily="18" charset="0"/>
              <a:cs typeface="Arial" charset="0"/>
            </a:endParaRPr>
          </a:p>
        </p:txBody>
      </p:sp>
      <p:sp>
        <p:nvSpPr>
          <p:cNvPr id="6152" name="Rectangle 59"/>
          <p:cNvSpPr>
            <a:spLocks noChangeArrowheads="1"/>
          </p:cNvSpPr>
          <p:nvPr/>
        </p:nvSpPr>
        <p:spPr bwMode="auto">
          <a:xfrm>
            <a:off x="0" y="46005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5119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l="10060" t="18552" r="9590" b="39682"/>
          <a:stretch>
            <a:fillRect/>
          </a:stretch>
        </p:blipFill>
        <p:spPr bwMode="auto">
          <a:xfrm>
            <a:off x="5334000" y="3048000"/>
            <a:ext cx="2465388"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5"/>
          <p:cNvSpPr>
            <a:spLocks noChangeArrowheads="1"/>
          </p:cNvSpPr>
          <p:nvPr/>
        </p:nvSpPr>
        <p:spPr bwMode="auto">
          <a:xfrm>
            <a:off x="0" y="152400"/>
            <a:ext cx="9144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dirty="0">
                <a:ea typeface="Times New Roman" pitchFamily="18" charset="0"/>
                <a:cs typeface="Arial" charset="0"/>
              </a:rPr>
              <a:t>EXAMPLE</a:t>
            </a:r>
            <a:endParaRPr lang="en-US" altLang="en-US" sz="1600" dirty="0">
              <a:ea typeface="Times New Roman" pitchFamily="18" charset="0"/>
              <a:cs typeface="Arial" charset="0"/>
            </a:endParaRPr>
          </a:p>
          <a:p>
            <a:r>
              <a:rPr lang="en-AU" altLang="en-US" sz="1600" dirty="0">
                <a:ea typeface="Times New Roman" pitchFamily="18" charset="0"/>
                <a:cs typeface="Arial" charset="0"/>
              </a:rPr>
              <a:t>Find the monthly repayments if $1000 is borrowed for 3 years at 6% p.a. reducible monthly?</a:t>
            </a:r>
            <a:endParaRPr lang="en-US" altLang="en-US" sz="1600" dirty="0">
              <a:ea typeface="Times New Roman" pitchFamily="18" charset="0"/>
              <a:cs typeface="Arial" charset="0"/>
            </a:endParaRPr>
          </a:p>
          <a:p>
            <a:r>
              <a:rPr lang="en-AU" altLang="en-US" sz="1600" dirty="0">
                <a:ea typeface="Times New Roman" pitchFamily="18" charset="0"/>
                <a:cs typeface="Arial" charset="0"/>
              </a:rPr>
              <a:t>SOLUTION</a:t>
            </a:r>
            <a:endParaRPr lang="en-US" altLang="en-US" sz="1600" dirty="0">
              <a:ea typeface="Times New Roman" pitchFamily="18" charset="0"/>
              <a:cs typeface="Arial" charset="0"/>
            </a:endParaRPr>
          </a:p>
          <a:p>
            <a:pPr eaLnBrk="1" hangingPunct="1"/>
            <a:r>
              <a:rPr lang="en-AU" altLang="en-US" sz="1600" dirty="0">
                <a:ea typeface="Times New Roman" pitchFamily="18" charset="0"/>
                <a:cs typeface="Arial" charset="0"/>
              </a:rPr>
              <a:t> </a:t>
            </a:r>
          </a:p>
          <a:p>
            <a:pPr eaLnBrk="1" hangingPunct="1"/>
            <a:r>
              <a:rPr lang="en-AU" altLang="en-US" sz="1600" dirty="0">
                <a:ea typeface="Times New Roman" pitchFamily="18" charset="0"/>
                <a:cs typeface="Arial" charset="0"/>
              </a:rPr>
              <a:t>N	3 x 12 = 36 because the payments are monthly.</a:t>
            </a:r>
            <a:endParaRPr lang="en-US" altLang="en-US" sz="1600" dirty="0">
              <a:ea typeface="Times New Roman" pitchFamily="18" charset="0"/>
              <a:cs typeface="Arial" charset="0"/>
            </a:endParaRPr>
          </a:p>
          <a:p>
            <a:r>
              <a:rPr lang="en-AU" altLang="en-US" sz="1600" dirty="0">
                <a:ea typeface="Times New Roman" pitchFamily="18" charset="0"/>
                <a:cs typeface="Arial" charset="0"/>
              </a:rPr>
              <a:t>I%	6</a:t>
            </a:r>
            <a:endParaRPr lang="en-US" altLang="en-US" sz="1600" dirty="0">
              <a:ea typeface="Times New Roman" pitchFamily="18" charset="0"/>
              <a:cs typeface="Arial" charset="0"/>
            </a:endParaRPr>
          </a:p>
          <a:p>
            <a:br>
              <a:rPr lang="en-AU" altLang="en-US" sz="1600" dirty="0">
                <a:ea typeface="Times New Roman" pitchFamily="18" charset="0"/>
                <a:cs typeface="Arial" charset="0"/>
              </a:rPr>
            </a:br>
            <a:r>
              <a:rPr lang="en-AU" altLang="en-US" sz="1600" dirty="0">
                <a:ea typeface="Times New Roman" pitchFamily="18" charset="0"/>
                <a:cs typeface="Arial" charset="0"/>
              </a:rPr>
              <a:t>PV	$1000</a:t>
            </a:r>
            <a:br>
              <a:rPr lang="en-AU" altLang="en-US" sz="1600" dirty="0">
                <a:ea typeface="Times New Roman" pitchFamily="18" charset="0"/>
                <a:cs typeface="Arial" charset="0"/>
              </a:rPr>
            </a:br>
            <a:r>
              <a:rPr lang="en-AU" altLang="en-US" sz="1600" dirty="0">
                <a:ea typeface="Times New Roman" pitchFamily="18" charset="0"/>
                <a:cs typeface="Arial" charset="0"/>
              </a:rPr>
              <a:t>PMT	what is needed to be found</a:t>
            </a:r>
            <a:br>
              <a:rPr lang="en-AU" altLang="en-US" sz="1600" dirty="0">
                <a:ea typeface="Times New Roman" pitchFamily="18" charset="0"/>
                <a:cs typeface="Arial" charset="0"/>
              </a:rPr>
            </a:br>
            <a:br>
              <a:rPr lang="en-AU" altLang="en-US" sz="1600" dirty="0">
                <a:ea typeface="Times New Roman" pitchFamily="18" charset="0"/>
                <a:cs typeface="Arial" charset="0"/>
              </a:rPr>
            </a:br>
            <a:r>
              <a:rPr lang="en-AU" altLang="en-US" sz="1600" dirty="0">
                <a:ea typeface="Times New Roman" pitchFamily="18" charset="0"/>
                <a:cs typeface="Arial" charset="0"/>
              </a:rPr>
              <a:t>FV	the future value needs to be zero because the loan has been repaid.</a:t>
            </a:r>
            <a:br>
              <a:rPr lang="en-AU" altLang="en-US" sz="1600" dirty="0">
                <a:ea typeface="Times New Roman" pitchFamily="18" charset="0"/>
                <a:cs typeface="Arial" charset="0"/>
              </a:rPr>
            </a:br>
            <a:r>
              <a:rPr lang="en-AU" altLang="en-US" sz="1600" dirty="0">
                <a:ea typeface="Times New Roman" pitchFamily="18" charset="0"/>
                <a:cs typeface="Arial" charset="0"/>
              </a:rPr>
              <a:t>P/Y	12 because the payments are monthly</a:t>
            </a:r>
            <a:endParaRPr lang="en-US" altLang="en-US" sz="1600" dirty="0">
              <a:ea typeface="Times New Roman" pitchFamily="18" charset="0"/>
              <a:cs typeface="Arial" charset="0"/>
            </a:endParaRPr>
          </a:p>
          <a:p>
            <a:br>
              <a:rPr lang="en-AU" altLang="en-US" sz="1600" dirty="0">
                <a:ea typeface="Times New Roman" pitchFamily="18" charset="0"/>
                <a:cs typeface="Arial" charset="0"/>
              </a:rPr>
            </a:br>
            <a:r>
              <a:rPr lang="en-AU" altLang="en-US" sz="1600" dirty="0">
                <a:ea typeface="Times New Roman" pitchFamily="18" charset="0"/>
                <a:cs typeface="Arial" charset="0"/>
              </a:rPr>
              <a:t>C/Y	12, because the interest is added monthly.</a:t>
            </a:r>
            <a:endParaRPr lang="en-US" altLang="en-US" sz="1600" dirty="0">
              <a:ea typeface="Times New Roman" pitchFamily="18" charset="0"/>
              <a:cs typeface="Arial" charset="0"/>
            </a:endParaRPr>
          </a:p>
          <a:p>
            <a:r>
              <a:rPr lang="en-AU" altLang="en-US" sz="1600" dirty="0">
                <a:ea typeface="Times New Roman" pitchFamily="18" charset="0"/>
                <a:cs typeface="Arial" charset="0"/>
              </a:rPr>
              <a:t>ANSWER	$30.42 needs to be paid each month.</a:t>
            </a:r>
            <a:endParaRPr lang="en-US" altLang="en-US" sz="1600" dirty="0">
              <a:ea typeface="Times New Roman" pitchFamily="18" charset="0"/>
              <a:cs typeface="Arial" charset="0"/>
            </a:endParaRPr>
          </a:p>
          <a:p>
            <a:endParaRPr lang="en-US" altLang="en-US" sz="1600" dirty="0">
              <a:ea typeface="Times New Roman" pitchFamily="18" charset="0"/>
              <a:cs typeface="Arial" charset="0"/>
            </a:endParaRPr>
          </a:p>
        </p:txBody>
      </p:sp>
    </p:spTree>
    <p:extLst>
      <p:ext uri="{BB962C8B-B14F-4D97-AF65-F5344CB8AC3E}">
        <p14:creationId xmlns:p14="http://schemas.microsoft.com/office/powerpoint/2010/main" val="71413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0" y="0"/>
            <a:ext cx="9144000" cy="649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dirty="0">
                <a:ea typeface="MS Mincho" pitchFamily="49" charset="-128"/>
                <a:cs typeface="Arial" charset="0"/>
              </a:rPr>
              <a:t>Example 2.  Billy-Jo gets into trouble with her credit card and has it cancelled with a total of $800 owing on it. She agrees to pay it off at 2% per month reducible interest and payments of $75 at the end of each month. How much does she still owe after 6 months?</a:t>
            </a:r>
            <a:endParaRPr lang="en-US" altLang="en-US" sz="1600" dirty="0">
              <a:ea typeface="MS Mincho" pitchFamily="49" charset="-128"/>
              <a:cs typeface="Arial" charset="0"/>
            </a:endParaRPr>
          </a:p>
          <a:p>
            <a:r>
              <a:rPr lang="en-AU" altLang="en-US" sz="1600" dirty="0">
                <a:ea typeface="MS Mincho" pitchFamily="49" charset="-128"/>
                <a:cs typeface="Arial" charset="0"/>
              </a:rPr>
              <a:t>Solution	100% + 2% = 102% = 1.02</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1</a:t>
            </a:r>
            <a:r>
              <a:rPr lang="en-AU" altLang="en-US" sz="1600" baseline="30000" dirty="0">
                <a:ea typeface="MS Mincho" pitchFamily="49" charset="-128"/>
                <a:cs typeface="Arial" charset="0"/>
              </a:rPr>
              <a:t>st</a:t>
            </a:r>
            <a:r>
              <a:rPr lang="en-AU" altLang="en-US" sz="1600" dirty="0">
                <a:ea typeface="MS Mincho" pitchFamily="49" charset="-128"/>
                <a:cs typeface="Arial" charset="0"/>
              </a:rPr>
              <a:t> month 	= $800 × 1.02 - $75 	= $741</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2</a:t>
            </a:r>
            <a:r>
              <a:rPr lang="en-AU" altLang="en-US" sz="1600" baseline="30000" dirty="0">
                <a:ea typeface="MS Mincho" pitchFamily="49" charset="-128"/>
                <a:cs typeface="Arial" charset="0"/>
              </a:rPr>
              <a:t>nd</a:t>
            </a:r>
            <a:r>
              <a:rPr lang="en-AU" altLang="en-US" sz="1600" dirty="0">
                <a:ea typeface="MS Mincho" pitchFamily="49" charset="-128"/>
                <a:cs typeface="Arial" charset="0"/>
              </a:rPr>
              <a:t> month 	= $741 × 1.02 - $75 	= $680.82</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3</a:t>
            </a:r>
            <a:r>
              <a:rPr lang="en-AU" altLang="en-US" sz="1600" baseline="30000" dirty="0">
                <a:ea typeface="MS Mincho" pitchFamily="49" charset="-128"/>
                <a:cs typeface="Arial" charset="0"/>
              </a:rPr>
              <a:t>rd</a:t>
            </a:r>
            <a:r>
              <a:rPr lang="en-AU" altLang="en-US" sz="1600" dirty="0">
                <a:ea typeface="MS Mincho" pitchFamily="49" charset="-128"/>
                <a:cs typeface="Arial" charset="0"/>
              </a:rPr>
              <a:t> month 	= $680.82 × 1.02 - $75 	= $619.44</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4</a:t>
            </a:r>
            <a:r>
              <a:rPr lang="en-AU" altLang="en-US" sz="1600" baseline="30000" dirty="0">
                <a:ea typeface="MS Mincho" pitchFamily="49" charset="-128"/>
                <a:cs typeface="Arial" charset="0"/>
              </a:rPr>
              <a:t>th</a:t>
            </a:r>
            <a:r>
              <a:rPr lang="en-AU" altLang="en-US" sz="1600" dirty="0">
                <a:ea typeface="MS Mincho" pitchFamily="49" charset="-128"/>
                <a:cs typeface="Arial" charset="0"/>
              </a:rPr>
              <a:t> month 	= $619.44 × 1.02 - $75 	= $556.83</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5</a:t>
            </a:r>
            <a:r>
              <a:rPr lang="en-AU" altLang="en-US" sz="1600" baseline="30000" dirty="0">
                <a:ea typeface="MS Mincho" pitchFamily="49" charset="-128"/>
                <a:cs typeface="Arial" charset="0"/>
              </a:rPr>
              <a:t>th</a:t>
            </a:r>
            <a:r>
              <a:rPr lang="en-AU" altLang="en-US" sz="1600" dirty="0">
                <a:ea typeface="MS Mincho" pitchFamily="49" charset="-128"/>
                <a:cs typeface="Arial" charset="0"/>
              </a:rPr>
              <a:t> month 	= $556.83 × 1.02 - $75 	= $492.96</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6</a:t>
            </a:r>
            <a:r>
              <a:rPr lang="en-AU" altLang="en-US" sz="1600" baseline="30000" dirty="0">
                <a:ea typeface="MS Mincho" pitchFamily="49" charset="-128"/>
                <a:cs typeface="Arial" charset="0"/>
              </a:rPr>
              <a:t>th</a:t>
            </a:r>
            <a:r>
              <a:rPr lang="en-AU" altLang="en-US" sz="1600" dirty="0">
                <a:ea typeface="MS Mincho" pitchFamily="49" charset="-128"/>
                <a:cs typeface="Arial" charset="0"/>
              </a:rPr>
              <a:t> month 	= $492.96 × 1.02 - $75	 = $427.82</a:t>
            </a:r>
            <a:endParaRPr lang="en-US" altLang="en-US" sz="1600" dirty="0">
              <a:ea typeface="MS Mincho" pitchFamily="49" charset="-128"/>
              <a:cs typeface="Arial" charset="0"/>
            </a:endParaRPr>
          </a:p>
          <a:p>
            <a:r>
              <a:rPr lang="en-AU" altLang="en-US" sz="1600" dirty="0">
                <a:ea typeface="MS Mincho" pitchFamily="49" charset="-128"/>
                <a:cs typeface="Arial" charset="0"/>
              </a:rPr>
              <a:t>Hence she still owes $427.82 after 6 months.</a:t>
            </a:r>
            <a:br>
              <a:rPr lang="en-AU" altLang="en-US" sz="1600" dirty="0">
                <a:ea typeface="MS Mincho" pitchFamily="49" charset="-128"/>
                <a:cs typeface="Arial" charset="0"/>
              </a:rPr>
            </a:br>
            <a:br>
              <a:rPr lang="en-AU" altLang="en-US" sz="1600" i="1" dirty="0">
                <a:ea typeface="MS Mincho" pitchFamily="49" charset="-128"/>
                <a:cs typeface="Arial" charset="0"/>
              </a:rPr>
            </a:br>
            <a:r>
              <a:rPr lang="en-AU" altLang="en-US" sz="1600" i="1" dirty="0">
                <a:ea typeface="MS Mincho" pitchFamily="49" charset="-128"/>
                <a:cs typeface="Arial" charset="0"/>
              </a:rPr>
              <a:t>Note: 	This can be done on your CAS calculator under </a:t>
            </a:r>
            <a:endParaRPr lang="en-US" altLang="en-US" sz="1600" dirty="0">
              <a:ea typeface="MS Mincho" pitchFamily="49" charset="-128"/>
              <a:cs typeface="Arial" charset="0"/>
            </a:endParaRPr>
          </a:p>
          <a:p>
            <a:r>
              <a:rPr lang="en-AU" altLang="en-US" sz="1600" i="1" dirty="0">
                <a:ea typeface="MS Mincho" pitchFamily="49" charset="-128"/>
                <a:cs typeface="Arial" charset="0"/>
              </a:rPr>
              <a:t>              financial compound interest with </a:t>
            </a:r>
          </a:p>
          <a:p>
            <a:endParaRPr lang="en-AU" altLang="en-US" sz="1600" i="1" dirty="0">
              <a:ea typeface="MS Mincho" pitchFamily="49" charset="-128"/>
              <a:cs typeface="Arial" charset="0"/>
            </a:endParaRPr>
          </a:p>
          <a:p>
            <a:r>
              <a:rPr lang="en-AU" altLang="en-US" sz="1600" i="1" dirty="0">
                <a:ea typeface="MS Mincho" pitchFamily="49" charset="-128"/>
                <a:cs typeface="Arial" charset="0"/>
              </a:rPr>
              <a:t>		N:     	6</a:t>
            </a:r>
            <a:br>
              <a:rPr lang="en-AU" altLang="en-US" sz="1600" i="1" dirty="0">
                <a:ea typeface="MS Mincho" pitchFamily="49" charset="-128"/>
                <a:cs typeface="Arial" charset="0"/>
              </a:rPr>
            </a:br>
            <a:r>
              <a:rPr lang="en-AU" altLang="en-US" sz="1600" i="1" dirty="0">
                <a:ea typeface="MS Mincho" pitchFamily="49" charset="-128"/>
                <a:cs typeface="Arial" charset="0"/>
              </a:rPr>
              <a:t>		I%   	24</a:t>
            </a:r>
            <a:endParaRPr lang="en-US" altLang="en-US" sz="1600" dirty="0">
              <a:ea typeface="MS Mincho" pitchFamily="49" charset="-128"/>
              <a:cs typeface="Arial" charset="0"/>
            </a:endParaRPr>
          </a:p>
          <a:p>
            <a:r>
              <a:rPr lang="en-AU" altLang="en-US" sz="1600" i="1" dirty="0">
                <a:ea typeface="MS Mincho" pitchFamily="49" charset="-128"/>
                <a:cs typeface="Arial" charset="0"/>
              </a:rPr>
              <a:t>		PV:  	800</a:t>
            </a:r>
            <a:endParaRPr lang="en-US" altLang="en-US" sz="1600" dirty="0">
              <a:ea typeface="MS Mincho" pitchFamily="49" charset="-128"/>
              <a:cs typeface="Arial" charset="0"/>
            </a:endParaRPr>
          </a:p>
          <a:p>
            <a:r>
              <a:rPr lang="en-AU" altLang="en-US" sz="1600" i="1" dirty="0">
                <a:ea typeface="MS Mincho" pitchFamily="49" charset="-128"/>
                <a:cs typeface="Arial" charset="0"/>
              </a:rPr>
              <a:t>		PMT: 	-75</a:t>
            </a:r>
            <a:endParaRPr lang="en-US" altLang="en-US" sz="1600" dirty="0">
              <a:ea typeface="MS Mincho" pitchFamily="49" charset="-128"/>
              <a:cs typeface="Arial" charset="0"/>
            </a:endParaRPr>
          </a:p>
          <a:p>
            <a:r>
              <a:rPr lang="en-AU" altLang="en-US" sz="1600" i="1" dirty="0">
                <a:ea typeface="MS Mincho" pitchFamily="49" charset="-128"/>
                <a:cs typeface="Arial" charset="0"/>
              </a:rPr>
              <a:t>		FV: </a:t>
            </a:r>
            <a:endParaRPr lang="en-US" altLang="en-US" sz="1600" dirty="0">
              <a:ea typeface="MS Mincho" pitchFamily="49" charset="-128"/>
              <a:cs typeface="Arial" charset="0"/>
            </a:endParaRPr>
          </a:p>
          <a:p>
            <a:r>
              <a:rPr lang="en-AU" altLang="en-US" sz="1600" i="1" dirty="0">
                <a:ea typeface="MS Mincho" pitchFamily="49" charset="-128"/>
                <a:cs typeface="Arial" charset="0"/>
              </a:rPr>
              <a:t>		P/Y:  	12</a:t>
            </a:r>
            <a:endParaRPr lang="en-US" altLang="en-US" sz="1600" dirty="0">
              <a:ea typeface="MS Mincho" pitchFamily="49" charset="-128"/>
              <a:cs typeface="Arial" charset="0"/>
            </a:endParaRPr>
          </a:p>
          <a:p>
            <a:r>
              <a:rPr lang="en-AU" altLang="en-US" sz="1600" i="1" dirty="0">
                <a:ea typeface="MS Mincho" pitchFamily="49" charset="-128"/>
                <a:cs typeface="Arial" charset="0"/>
              </a:rPr>
              <a:t>		C/Y:  	12</a:t>
            </a:r>
          </a:p>
          <a:p>
            <a:endParaRPr lang="en-US" altLang="en-US" sz="1600" dirty="0">
              <a:ea typeface="MS Mincho" pitchFamily="49" charset="-128"/>
              <a:cs typeface="Arial" charset="0"/>
            </a:endParaRPr>
          </a:p>
          <a:p>
            <a:r>
              <a:rPr lang="en-AU" altLang="en-US" sz="1600" i="1" dirty="0">
                <a:ea typeface="MS Mincho" pitchFamily="49" charset="-128"/>
                <a:cs typeface="Arial" charset="0"/>
              </a:rPr>
              <a:t>Then tap on FV:	The answer will show -427.8208632</a:t>
            </a:r>
            <a:br>
              <a:rPr lang="en-AU" altLang="en-US" sz="1600" i="1" dirty="0">
                <a:ea typeface="MS Mincho" pitchFamily="49" charset="-128"/>
                <a:cs typeface="Arial" charset="0"/>
              </a:rPr>
            </a:br>
            <a:br>
              <a:rPr lang="en-AU" altLang="en-US" sz="1600" i="1">
                <a:ea typeface="MS Mincho" pitchFamily="49" charset="-128"/>
                <a:cs typeface="Arial" charset="0"/>
              </a:rPr>
            </a:br>
            <a:r>
              <a:rPr lang="en-AU" altLang="en-US" sz="1600">
                <a:ea typeface="MS Mincho" pitchFamily="49" charset="-128"/>
                <a:cs typeface="Arial" charset="0"/>
              </a:rPr>
              <a:t>.</a:t>
            </a:r>
            <a:endParaRPr lang="en-AU" altLang="en-US" sz="1600" dirty="0">
              <a:ea typeface="MS Mincho" pitchFamily="49" charset="-128"/>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rotWithShape="1">
          <a:blip r:embed="rId3"/>
          <a:srcRect l="11903" t="7637" r="77660" b="46158"/>
          <a:stretch/>
        </p:blipFill>
        <p:spPr bwMode="auto">
          <a:xfrm>
            <a:off x="2883189" y="3850806"/>
            <a:ext cx="1714500" cy="2857500"/>
          </a:xfrm>
          <a:prstGeom prst="rect">
            <a:avLst/>
          </a:prstGeom>
          <a:ln>
            <a:noFill/>
          </a:ln>
          <a:extLst>
            <a:ext uri="{53640926-AAD7-44D8-BBD7-CCE9431645EC}">
              <a14:shadowObscured xmlns:a14="http://schemas.microsoft.com/office/drawing/2010/main"/>
            </a:ext>
          </a:extLst>
        </p:spPr>
      </p:pic>
      <p:pic>
        <p:nvPicPr>
          <p:cNvPr id="16" name="Picture 15"/>
          <p:cNvPicPr/>
          <p:nvPr/>
        </p:nvPicPr>
        <p:blipFill rotWithShape="1">
          <a:blip r:embed="rId4"/>
          <a:srcRect l="11716" t="4532" r="78471" b="72118"/>
          <a:stretch/>
        </p:blipFill>
        <p:spPr bwMode="auto">
          <a:xfrm>
            <a:off x="4759506" y="1232756"/>
            <a:ext cx="1718940" cy="1405489"/>
          </a:xfrm>
          <a:prstGeom prst="rect">
            <a:avLst/>
          </a:prstGeom>
          <a:ln>
            <a:noFill/>
          </a:ln>
          <a:extLst>
            <a:ext uri="{53640926-AAD7-44D8-BBD7-CCE9431645EC}">
              <a14:shadowObscured xmlns:a14="http://schemas.microsoft.com/office/drawing/2010/main"/>
            </a:ext>
          </a:extLst>
        </p:spPr>
      </p:pic>
      <p:sp>
        <p:nvSpPr>
          <p:cNvPr id="5128" name="Rectangle 8"/>
          <p:cNvSpPr>
            <a:spLocks noChangeArrowheads="1"/>
          </p:cNvSpPr>
          <p:nvPr/>
        </p:nvSpPr>
        <p:spPr bwMode="auto">
          <a:xfrm>
            <a:off x="159520" y="209832"/>
            <a:ext cx="864235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ea typeface="Times New Roman" pitchFamily="18" charset="0"/>
                <a:cs typeface="Calibri" pitchFamily="34" charset="0"/>
              </a:rPr>
              <a:t>You may use your CAS calculator when given recursive definitions</a:t>
            </a:r>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Use Sequence Recursive mode</a:t>
            </a:r>
            <a:br>
              <a:rPr lang="en-AU" sz="1600" dirty="0">
                <a:latin typeface="Calibri" pitchFamily="34" charset="0"/>
                <a:cs typeface="Calibri" pitchFamily="34" charset="0"/>
              </a:rPr>
            </a:br>
            <a:endParaRPr lang="en-AU" sz="1600" dirty="0">
              <a:latin typeface="Calibri" pitchFamily="34" charset="0"/>
              <a:cs typeface="Calibri" pitchFamily="34" charset="0"/>
            </a:endParaRPr>
          </a:p>
          <a:p>
            <a:pPr eaLnBrk="0" hangingPunct="0"/>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For Ex 2 (above), use Type :      a</a:t>
            </a:r>
            <a:r>
              <a:rPr lang="en-AU" sz="1600" baseline="-30000" dirty="0">
                <a:latin typeface="Calibri" pitchFamily="34" charset="0"/>
                <a:cs typeface="Calibri" pitchFamily="34" charset="0"/>
              </a:rPr>
              <a:t>n+1 </a:t>
            </a:r>
            <a:r>
              <a:rPr lang="en-AU" sz="1600" dirty="0">
                <a:latin typeface="Calibri" pitchFamily="34" charset="0"/>
                <a:cs typeface="Calibri" pitchFamily="34" charset="0"/>
              </a:rPr>
              <a:t>Type a</a:t>
            </a:r>
            <a:r>
              <a:rPr lang="en-AU" sz="1600" baseline="-30000" dirty="0">
                <a:latin typeface="Calibri" pitchFamily="34" charset="0"/>
                <a:cs typeface="Calibri" pitchFamily="34" charset="0"/>
              </a:rPr>
              <a:t>0</a:t>
            </a:r>
            <a:br>
              <a:rPr lang="en-AU" sz="1600" dirty="0">
                <a:latin typeface="Calibri" pitchFamily="34" charset="0"/>
                <a:cs typeface="Calibri" pitchFamily="34" charset="0"/>
              </a:rPr>
            </a:br>
            <a:r>
              <a:rPr lang="en-AU" sz="1600" dirty="0">
                <a:latin typeface="Calibri" pitchFamily="34" charset="0"/>
                <a:cs typeface="Calibri" pitchFamily="34" charset="0"/>
              </a:rPr>
              <a:t>Key in a</a:t>
            </a:r>
            <a:r>
              <a:rPr lang="en-AU" sz="1600" baseline="-30000" dirty="0">
                <a:latin typeface="Calibri" pitchFamily="34" charset="0"/>
                <a:cs typeface="Calibri" pitchFamily="34" charset="0"/>
              </a:rPr>
              <a:t>n+1</a:t>
            </a:r>
            <a:r>
              <a:rPr lang="en-AU" sz="1600" dirty="0">
                <a:latin typeface="Calibri" pitchFamily="34" charset="0"/>
                <a:cs typeface="Calibri" pitchFamily="34" charset="0"/>
              </a:rPr>
              <a:t> = 1.02*a</a:t>
            </a:r>
            <a:r>
              <a:rPr lang="en-AU" sz="1600" baseline="-30000" dirty="0">
                <a:latin typeface="Calibri" pitchFamily="34" charset="0"/>
                <a:cs typeface="Calibri" pitchFamily="34" charset="0"/>
              </a:rPr>
              <a:t>n</a:t>
            </a:r>
            <a:r>
              <a:rPr lang="en-AU" sz="1600" dirty="0">
                <a:latin typeface="Calibri" pitchFamily="34" charset="0"/>
                <a:cs typeface="Calibri" pitchFamily="34" charset="0"/>
              </a:rPr>
              <a:t> - 75</a:t>
            </a:r>
          </a:p>
          <a:p>
            <a:pPr eaLnBrk="0" hangingPunct="0"/>
            <a:r>
              <a:rPr lang="en-AU" sz="1600" dirty="0">
                <a:latin typeface="Calibri" pitchFamily="34" charset="0"/>
                <a:cs typeface="Calibri" pitchFamily="34" charset="0"/>
              </a:rPr>
              <a:t>	  a</a:t>
            </a:r>
            <a:r>
              <a:rPr lang="en-AU" sz="1600" baseline="-30000" dirty="0">
                <a:latin typeface="Calibri" pitchFamily="34" charset="0"/>
                <a:cs typeface="Calibri" pitchFamily="34" charset="0"/>
              </a:rPr>
              <a:t>0</a:t>
            </a:r>
            <a:r>
              <a:rPr lang="en-AU" sz="1600" dirty="0">
                <a:latin typeface="Calibri" pitchFamily="34" charset="0"/>
                <a:cs typeface="Calibri" pitchFamily="34" charset="0"/>
              </a:rPr>
              <a:t> = 800</a:t>
            </a:r>
          </a:p>
          <a:p>
            <a:pPr eaLnBrk="0" hangingPunct="0"/>
            <a:r>
              <a:rPr lang="en-AU" sz="1600" dirty="0">
                <a:latin typeface="Calibri" pitchFamily="34" charset="0"/>
                <a:cs typeface="Calibri" pitchFamily="34" charset="0"/>
              </a:rPr>
              <a:t>(to get a</a:t>
            </a:r>
            <a:r>
              <a:rPr lang="en-AU" sz="1600" baseline="-30000" dirty="0">
                <a:latin typeface="Calibri" pitchFamily="34" charset="0"/>
                <a:cs typeface="Calibri" pitchFamily="34" charset="0"/>
              </a:rPr>
              <a:t>n, </a:t>
            </a:r>
            <a:r>
              <a:rPr lang="en-AU" sz="1600" dirty="0">
                <a:latin typeface="Calibri" pitchFamily="34" charset="0"/>
                <a:cs typeface="Calibri" pitchFamily="34" charset="0"/>
              </a:rPr>
              <a:t>use the </a:t>
            </a:r>
            <a:r>
              <a:rPr lang="en-AU" sz="1600" b="1" dirty="0" err="1">
                <a:latin typeface="Calibri" pitchFamily="34" charset="0"/>
                <a:cs typeface="Calibri" pitchFamily="34" charset="0"/>
              </a:rPr>
              <a:t>n,a</a:t>
            </a:r>
            <a:r>
              <a:rPr lang="en-AU" sz="1600" b="1" baseline="-30000" dirty="0" err="1">
                <a:latin typeface="Calibri" pitchFamily="34" charset="0"/>
                <a:cs typeface="Calibri" pitchFamily="34" charset="0"/>
              </a:rPr>
              <a:t>n</a:t>
            </a:r>
            <a:r>
              <a:rPr lang="en-AU" sz="1600" dirty="0">
                <a:latin typeface="Calibri" pitchFamily="34" charset="0"/>
                <a:cs typeface="Calibri" pitchFamily="34" charset="0"/>
              </a:rPr>
              <a:t> drop-down menu at top of screen)</a:t>
            </a:r>
            <a:br>
              <a:rPr lang="en-AU" sz="1600" dirty="0">
                <a:latin typeface="Calibri" pitchFamily="34" charset="0"/>
                <a:cs typeface="Calibri" pitchFamily="34" charset="0"/>
              </a:rPr>
            </a:br>
            <a:r>
              <a:rPr lang="en-AU" sz="1600" dirty="0">
                <a:latin typeface="Calibri" pitchFamily="34" charset="0"/>
                <a:cs typeface="Calibri" pitchFamily="34" charset="0"/>
              </a:rPr>
              <a:t>Set the Range:</a:t>
            </a:r>
            <a:br>
              <a:rPr lang="en-AU" sz="1600" dirty="0">
                <a:latin typeface="Calibri" pitchFamily="34" charset="0"/>
                <a:cs typeface="Calibri" pitchFamily="34" charset="0"/>
              </a:rPr>
            </a:br>
            <a:r>
              <a:rPr lang="en-AU" sz="1600" dirty="0">
                <a:latin typeface="Calibri" pitchFamily="34" charset="0"/>
                <a:cs typeface="Calibri" pitchFamily="34" charset="0"/>
              </a:rPr>
              <a:t>Use the icon         to set the range</a:t>
            </a:r>
            <a:br>
              <a:rPr lang="en-AU" sz="1600" dirty="0">
                <a:latin typeface="Calibri" pitchFamily="34" charset="0"/>
                <a:cs typeface="Calibri" pitchFamily="34" charset="0"/>
              </a:rPr>
            </a:br>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 to Start 1, End 10 (or sufficiently large)</a:t>
            </a:r>
            <a:br>
              <a:rPr lang="en-AU" sz="1600" dirty="0">
                <a:latin typeface="Calibri" pitchFamily="34" charset="0"/>
                <a:cs typeface="Calibri" pitchFamily="34" charset="0"/>
              </a:rPr>
            </a:br>
            <a:r>
              <a:rPr lang="en-AU" sz="1600" dirty="0">
                <a:latin typeface="Calibri" pitchFamily="34" charset="0"/>
                <a:cs typeface="Calibri" pitchFamily="34" charset="0"/>
              </a:rPr>
              <a:t>Tick or select the box alongside the equation</a:t>
            </a:r>
          </a:p>
          <a:p>
            <a:pPr eaLnBrk="0" hangingPunct="0"/>
            <a:r>
              <a:rPr lang="en-AU" sz="1600" dirty="0">
                <a:latin typeface="Calibri" pitchFamily="34" charset="0"/>
                <a:cs typeface="Calibri" pitchFamily="34" charset="0"/>
              </a:rPr>
              <a:t>Press the Table icon               and scroll down.</a:t>
            </a:r>
          </a:p>
          <a:p>
            <a:pPr eaLnBrk="0" hangingPunct="0"/>
            <a:endParaRPr lang="en-AU" sz="1600" dirty="0">
              <a:latin typeface="Calibri" pitchFamily="34" charset="0"/>
              <a:cs typeface="Calibri" pitchFamily="34" charset="0"/>
            </a:endParaRPr>
          </a:p>
          <a:p>
            <a:br>
              <a:rPr lang="en-AU" sz="1600" dirty="0">
                <a:latin typeface="Calibri" pitchFamily="34" charset="0"/>
                <a:cs typeface="Calibri" pitchFamily="34" charset="0"/>
              </a:rPr>
            </a:br>
            <a:endParaRPr lang="en-AU" sz="1600" dirty="0">
              <a:latin typeface="Calibri" pitchFamily="34" charset="0"/>
              <a:cs typeface="Calibri" pitchFamily="34" charset="0"/>
            </a:endParaRPr>
          </a:p>
        </p:txBody>
      </p:sp>
      <p:graphicFrame>
        <p:nvGraphicFramePr>
          <p:cNvPr id="5127" name="Object 7"/>
          <p:cNvGraphicFramePr>
            <a:graphicFrameLocks noChangeAspect="1"/>
          </p:cNvGraphicFramePr>
          <p:nvPr>
            <p:extLst>
              <p:ext uri="{D42A27DB-BD31-4B8C-83A1-F6EECF244321}">
                <p14:modId xmlns:p14="http://schemas.microsoft.com/office/powerpoint/2010/main" val="908593690"/>
              </p:ext>
            </p:extLst>
          </p:nvPr>
        </p:nvGraphicFramePr>
        <p:xfrm>
          <a:off x="1331640" y="2636912"/>
          <a:ext cx="323850" cy="304800"/>
        </p:xfrm>
        <a:graphic>
          <a:graphicData uri="http://schemas.openxmlformats.org/presentationml/2006/ole">
            <mc:AlternateContent xmlns:mc="http://schemas.openxmlformats.org/markup-compatibility/2006">
              <mc:Choice xmlns:v="urn:schemas-microsoft-com:vml" Requires="v">
                <p:oleObj spid="_x0000_s21560" name="Microsoft Equation 3.0" r:id="rId5" imgW="774364" imgH="736280" progId="Equation.3">
                  <p:embed/>
                </p:oleObj>
              </mc:Choice>
              <mc:Fallback>
                <p:oleObj name="Microsoft Equation 3.0" r:id="rId5" imgW="774364" imgH="7362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40" y="2636912"/>
                        <a:ext cx="323850" cy="304800"/>
                      </a:xfrm>
                      <a:prstGeom prst="rect">
                        <a:avLst/>
                      </a:prstGeom>
                      <a:noFill/>
                    </p:spPr>
                  </p:pic>
                </p:oleObj>
              </mc:Fallback>
            </mc:AlternateContent>
          </a:graphicData>
        </a:graphic>
      </p:graphicFrame>
      <p:graphicFrame>
        <p:nvGraphicFramePr>
          <p:cNvPr id="5124" name="Object 4"/>
          <p:cNvGraphicFramePr>
            <a:graphicFrameLocks noChangeAspect="1"/>
          </p:cNvGraphicFramePr>
          <p:nvPr>
            <p:extLst>
              <p:ext uri="{D42A27DB-BD31-4B8C-83A1-F6EECF244321}">
                <p14:modId xmlns:p14="http://schemas.microsoft.com/office/powerpoint/2010/main" val="2164189332"/>
              </p:ext>
            </p:extLst>
          </p:nvPr>
        </p:nvGraphicFramePr>
        <p:xfrm>
          <a:off x="1979712" y="3632115"/>
          <a:ext cx="581025" cy="476250"/>
        </p:xfrm>
        <a:graphic>
          <a:graphicData uri="http://schemas.openxmlformats.org/presentationml/2006/ole">
            <mc:AlternateContent xmlns:mc="http://schemas.openxmlformats.org/markup-compatibility/2006">
              <mc:Choice xmlns:v="urn:schemas-microsoft-com:vml" Requires="v">
                <p:oleObj spid="_x0000_s21561" name="Microsoft Equation 3.0" r:id="rId7" imgW="774364" imgH="710891" progId="Equation.3">
                  <p:embed/>
                </p:oleObj>
              </mc:Choice>
              <mc:Fallback>
                <p:oleObj name="Microsoft Equation 3.0" r:id="rId7" imgW="774364" imgH="7108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712" y="3632115"/>
                        <a:ext cx="58102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p:cNvPicPr/>
          <p:nvPr/>
        </p:nvPicPr>
        <p:blipFill rotWithShape="1">
          <a:blip r:embed="rId9"/>
          <a:srcRect l="11741" t="35085" r="76262" b="36271"/>
          <a:stretch/>
        </p:blipFill>
        <p:spPr bwMode="auto">
          <a:xfrm>
            <a:off x="6436338" y="692696"/>
            <a:ext cx="1440160" cy="1080120"/>
          </a:xfrm>
          <a:prstGeom prst="rect">
            <a:avLst/>
          </a:prstGeom>
          <a:ln>
            <a:noFill/>
          </a:ln>
          <a:extLst>
            <a:ext uri="{53640926-AAD7-44D8-BBD7-CCE9431645EC}">
              <a14:shadowObscured xmlns:a14="http://schemas.microsoft.com/office/drawing/2010/main"/>
            </a:ext>
          </a:extLst>
        </p:spPr>
      </p:pic>
      <p:cxnSp>
        <p:nvCxnSpPr>
          <p:cNvPr id="6" name="Straight Arrow Connector 5"/>
          <p:cNvCxnSpPr/>
          <p:nvPr/>
        </p:nvCxnSpPr>
        <p:spPr>
          <a:xfrm>
            <a:off x="2843808" y="836712"/>
            <a:ext cx="3592530" cy="6480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131840" y="1571466"/>
            <a:ext cx="2160240" cy="2013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1" name="Picture 20"/>
          <p:cNvPicPr/>
          <p:nvPr/>
        </p:nvPicPr>
        <p:blipFill rotWithShape="1">
          <a:blip r:embed="rId10"/>
          <a:srcRect l="11614" t="4746" r="76517" b="68136"/>
          <a:stretch/>
        </p:blipFill>
        <p:spPr bwMode="auto">
          <a:xfrm>
            <a:off x="6997726" y="2348880"/>
            <a:ext cx="1757543" cy="1527702"/>
          </a:xfrm>
          <a:prstGeom prst="rect">
            <a:avLst/>
          </a:prstGeom>
          <a:ln>
            <a:noFill/>
          </a:ln>
          <a:extLst>
            <a:ext uri="{53640926-AAD7-44D8-BBD7-CCE9431645EC}">
              <a14:shadowObscured xmlns:a14="http://schemas.microsoft.com/office/drawing/2010/main"/>
            </a:ext>
          </a:extLst>
        </p:spPr>
      </p:pic>
      <p:cxnSp>
        <p:nvCxnSpPr>
          <p:cNvPr id="15" name="Straight Arrow Connector 14"/>
          <p:cNvCxnSpPr/>
          <p:nvPr/>
        </p:nvCxnSpPr>
        <p:spPr>
          <a:xfrm>
            <a:off x="3203848" y="2348880"/>
            <a:ext cx="4248472" cy="432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23"/>
          <p:cNvPicPr/>
          <p:nvPr/>
        </p:nvPicPr>
        <p:blipFill rotWithShape="1">
          <a:blip r:embed="rId11"/>
          <a:srcRect l="11487" t="5425" r="76006" b="60677"/>
          <a:stretch/>
        </p:blipFill>
        <p:spPr bwMode="auto">
          <a:xfrm>
            <a:off x="5012928" y="2940601"/>
            <a:ext cx="1724195" cy="1871961"/>
          </a:xfrm>
          <a:prstGeom prst="rect">
            <a:avLst/>
          </a:prstGeom>
          <a:ln>
            <a:noFill/>
          </a:ln>
          <a:extLst>
            <a:ext uri="{53640926-AAD7-44D8-BBD7-CCE9431645EC}">
              <a14:shadowObscured xmlns:a14="http://schemas.microsoft.com/office/drawing/2010/main"/>
            </a:ext>
          </a:extLst>
        </p:spPr>
      </p:pic>
      <p:cxnSp>
        <p:nvCxnSpPr>
          <p:cNvPr id="28" name="Straight Arrow Connector 27"/>
          <p:cNvCxnSpPr/>
          <p:nvPr/>
        </p:nvCxnSpPr>
        <p:spPr>
          <a:xfrm>
            <a:off x="3059832" y="2780928"/>
            <a:ext cx="2448272" cy="5760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1475656" y="3876581"/>
            <a:ext cx="1512168" cy="416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854864" y="5029200"/>
            <a:ext cx="3247164" cy="1569660"/>
          </a:xfrm>
          <a:prstGeom prst="rect">
            <a:avLst/>
          </a:prstGeom>
          <a:noFill/>
        </p:spPr>
        <p:txBody>
          <a:bodyPr wrap="square" rtlCol="0">
            <a:spAutoFit/>
          </a:bodyPr>
          <a:lstStyle/>
          <a:p>
            <a:r>
              <a:rPr lang="en-AU" sz="1600" dirty="0">
                <a:latin typeface="+mn-lt"/>
              </a:rPr>
              <a:t>Note: term a</a:t>
            </a:r>
            <a:r>
              <a:rPr lang="en-AU" sz="1600" baseline="-25000" dirty="0">
                <a:latin typeface="+mn-lt"/>
              </a:rPr>
              <a:t>0</a:t>
            </a:r>
            <a:r>
              <a:rPr lang="en-AU" sz="1600" dirty="0">
                <a:latin typeface="+mn-lt"/>
              </a:rPr>
              <a:t> is for the start of time therefore term a</a:t>
            </a:r>
            <a:r>
              <a:rPr lang="en-AU" sz="1600" baseline="-25000" dirty="0">
                <a:latin typeface="+mn-lt"/>
              </a:rPr>
              <a:t>1</a:t>
            </a:r>
            <a:r>
              <a:rPr lang="en-AU" sz="1600" dirty="0">
                <a:latin typeface="+mn-lt"/>
              </a:rPr>
              <a:t> is at the end of the first month </a:t>
            </a:r>
            <a:r>
              <a:rPr lang="en-AU" sz="1600" dirty="0" err="1">
                <a:latin typeface="+mn-lt"/>
              </a:rPr>
              <a:t>etc</a:t>
            </a:r>
            <a:endParaRPr lang="en-AU" sz="1600" dirty="0">
              <a:latin typeface="+mn-lt"/>
            </a:endParaRPr>
          </a:p>
          <a:p>
            <a:endParaRPr lang="en-AU" sz="1600" dirty="0">
              <a:latin typeface="+mn-lt"/>
            </a:endParaRPr>
          </a:p>
          <a:p>
            <a:r>
              <a:rPr lang="en-AU" sz="1600" dirty="0">
                <a:latin typeface="+mn-lt"/>
              </a:rPr>
              <a:t>Now finish off exercise 3A questions 14 – 30 from your text books</a:t>
            </a:r>
          </a:p>
        </p:txBody>
      </p:sp>
    </p:spTree>
    <p:extLst>
      <p:ext uri="{BB962C8B-B14F-4D97-AF65-F5344CB8AC3E}">
        <p14:creationId xmlns:p14="http://schemas.microsoft.com/office/powerpoint/2010/main" val="3602763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16" name="Rectangle 1"/>
              <p:cNvSpPr>
                <a:spLocks noChangeArrowheads="1"/>
              </p:cNvSpPr>
              <p:nvPr/>
            </p:nvSpPr>
            <p:spPr bwMode="auto">
              <a:xfrm>
                <a:off x="0" y="0"/>
                <a:ext cx="9144000" cy="67621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dirty="0">
                    <a:ea typeface="MS Mincho" pitchFamily="49" charset="-128"/>
                    <a:cs typeface="Arial" charset="0"/>
                  </a:rPr>
                  <a:t>EFFECTIVE INTEREST RATES</a:t>
                </a:r>
              </a:p>
              <a:p>
                <a:pPr eaLnBrk="1" hangingPunct="1"/>
                <a:r>
                  <a:rPr lang="en-AU" altLang="en-US" sz="1600" dirty="0">
                    <a:ea typeface="MS Mincho" pitchFamily="49" charset="-128"/>
                    <a:cs typeface="Arial" charset="0"/>
                  </a:rPr>
                  <a:t>These are the interest rates for a given yearly rate if they are compounded over different periods over the year.  For example instead of compounding annually we could do it half yearly, quarterly, monthly or even daily.  Lets look at an example:</a:t>
                </a:r>
              </a:p>
              <a:p>
                <a:pPr eaLnBrk="1" hangingPunct="1"/>
                <a:r>
                  <a:rPr lang="en-AU" altLang="en-US" sz="1600" dirty="0" err="1">
                    <a:ea typeface="MS Mincho" pitchFamily="49" charset="-128"/>
                    <a:cs typeface="Arial" charset="0"/>
                  </a:rPr>
                  <a:t>Eg</a:t>
                </a:r>
                <a:r>
                  <a:rPr lang="en-AU" altLang="en-US" sz="1600" dirty="0">
                    <a:ea typeface="MS Mincho" pitchFamily="49" charset="-128"/>
                    <a:cs typeface="Arial" charset="0"/>
                  </a:rPr>
                  <a:t> 1: Let’s start with $100, as it will make it easier to show at the end.  For an interest rate of 9% what will be the interest amount after 1 year if compounded annually, quarterly, monthly and daily (we will use 1 year = 12 months = 4 quarters = 52 weeks = 365 days)</a:t>
                </a:r>
              </a:p>
              <a:p>
                <a:pPr eaLnBrk="1" hangingPunct="1"/>
                <a:r>
                  <a:rPr lang="en-AU" altLang="en-US" sz="1600" dirty="0">
                    <a:ea typeface="MS Mincho" pitchFamily="49" charset="-128"/>
                    <a:cs typeface="Arial" charset="0"/>
                  </a:rPr>
                  <a:t>For one year occurring</a:t>
                </a:r>
              </a:p>
              <a:p>
                <a:pPr eaLnBrk="1" hangingPunct="1"/>
                <a:r>
                  <a:rPr lang="en-AU" altLang="en-US" sz="1600" dirty="0">
                    <a:ea typeface="MS Mincho" pitchFamily="49" charset="-128"/>
                    <a:cs typeface="Arial" charset="0"/>
                  </a:rPr>
                  <a:t>    annually the account will be worth </a:t>
                </a:r>
                <a14:m>
                  <m:oMath xmlns:m="http://schemas.openxmlformats.org/officeDocument/2006/math">
                    <m:r>
                      <a:rPr lang="en-AU" altLang="en-US" sz="1600" b="0" i="1" smtClean="0">
                        <a:latin typeface="Cambria Math"/>
                        <a:ea typeface="MS Mincho" pitchFamily="49" charset="-128"/>
                        <a:cs typeface="Arial" charset="0"/>
                      </a:rPr>
                      <m:t>100∗1.09=$109</m:t>
                    </m:r>
                    <m:r>
                      <a:rPr lang="en-AU" altLang="en-US" sz="1600" b="0" i="1" smtClean="0">
                        <a:latin typeface="Cambria Math"/>
                        <a:ea typeface="Cambria Math"/>
                        <a:cs typeface="Arial" charset="0"/>
                      </a:rPr>
                      <m:t>→9%</m:t>
                    </m:r>
                  </m:oMath>
                </a14:m>
                <a:endParaRPr lang="en-AU" altLang="en-US" sz="1600" b="0" dirty="0">
                  <a:ea typeface="Cambria Math"/>
                  <a:cs typeface="Arial" charset="0"/>
                </a:endParaRPr>
              </a:p>
              <a:p>
                <a:pPr eaLnBrk="1" hangingPunct="1"/>
                <a:r>
                  <a:rPr lang="en-AU" altLang="en-US" sz="1600" dirty="0">
                    <a:ea typeface="MS Mincho" pitchFamily="49" charset="-128"/>
                    <a:cs typeface="Arial" charset="0"/>
                  </a:rPr>
                  <a:t>    Half yearly 9% = 0.09/2 	gives </a:t>
                </a:r>
                <a14:m>
                  <m:oMath xmlns:m="http://schemas.openxmlformats.org/officeDocument/2006/math">
                    <m:r>
                      <a:rPr lang="en-AU" altLang="en-US" sz="1600" i="1">
                        <a:latin typeface="Cambria Math"/>
                        <a:ea typeface="MS Mincho" pitchFamily="49" charset="-128"/>
                        <a:cs typeface="Arial" charset="0"/>
                      </a:rPr>
                      <m:t>100∗</m:t>
                    </m:r>
                    <m:sSup>
                      <m:sSupPr>
                        <m:ctrlPr>
                          <a:rPr lang="en-AU" altLang="en-US" sz="1600" i="1">
                            <a:latin typeface="Cambria Math" panose="02040503050406030204" pitchFamily="18" charset="0"/>
                            <a:ea typeface="MS Mincho" pitchFamily="49" charset="-128"/>
                            <a:cs typeface="Arial" charset="0"/>
                          </a:rPr>
                        </m:ctrlPr>
                      </m:sSupPr>
                      <m:e>
                        <m:d>
                          <m:dPr>
                            <m:ctrlPr>
                              <a:rPr lang="en-AU" altLang="en-US" sz="1600" i="1">
                                <a:latin typeface="Cambria Math" panose="02040503050406030204" pitchFamily="18" charset="0"/>
                                <a:ea typeface="MS Mincho" pitchFamily="49" charset="-128"/>
                                <a:cs typeface="Arial" charset="0"/>
                              </a:rPr>
                            </m:ctrlPr>
                          </m:dPr>
                          <m:e>
                            <m:r>
                              <a:rPr lang="en-AU" altLang="en-US" sz="1600" i="1">
                                <a:latin typeface="Cambria Math"/>
                                <a:ea typeface="MS Mincho" pitchFamily="49" charset="-128"/>
                                <a:cs typeface="Arial" charset="0"/>
                              </a:rPr>
                              <m:t>1+</m:t>
                            </m:r>
                            <m:f>
                              <m:fPr>
                                <m:ctrlPr>
                                  <a:rPr lang="en-AU" altLang="en-US" sz="1600" i="1">
                                    <a:latin typeface="Cambria Math" panose="02040503050406030204" pitchFamily="18" charset="0"/>
                                    <a:ea typeface="MS Mincho" pitchFamily="49" charset="-128"/>
                                    <a:cs typeface="Arial" charset="0"/>
                                  </a:rPr>
                                </m:ctrlPr>
                              </m:fPr>
                              <m:num>
                                <m:r>
                                  <a:rPr lang="en-AU" altLang="en-US" sz="1600" i="1">
                                    <a:latin typeface="Cambria Math"/>
                                    <a:ea typeface="MS Mincho" pitchFamily="49" charset="-128"/>
                                    <a:cs typeface="Arial" charset="0"/>
                                  </a:rPr>
                                  <m:t>0.09</m:t>
                                </m:r>
                              </m:num>
                              <m:den>
                                <m:r>
                                  <a:rPr lang="en-AU" altLang="en-US" sz="1600" b="0" i="1" smtClean="0">
                                    <a:latin typeface="Cambria Math"/>
                                    <a:ea typeface="MS Mincho" pitchFamily="49" charset="-128"/>
                                    <a:cs typeface="Arial" charset="0"/>
                                  </a:rPr>
                                  <m:t>2</m:t>
                                </m:r>
                              </m:den>
                            </m:f>
                          </m:e>
                        </m:d>
                      </m:e>
                      <m:sup>
                        <m:r>
                          <a:rPr lang="en-AU" altLang="en-US" sz="1600" b="0" i="1" smtClean="0">
                            <a:latin typeface="Cambria Math"/>
                            <a:ea typeface="MS Mincho" pitchFamily="49" charset="-128"/>
                            <a:cs typeface="Arial" charset="0"/>
                          </a:rPr>
                          <m:t>2</m:t>
                        </m:r>
                      </m:sup>
                    </m:sSup>
                    <m:r>
                      <a:rPr lang="en-AU" altLang="en-US" sz="1600" i="1">
                        <a:latin typeface="Cambria Math"/>
                        <a:ea typeface="MS Mincho" pitchFamily="49" charset="-128"/>
                        <a:cs typeface="Arial" charset="0"/>
                      </a:rPr>
                      <m:t>=$109.</m:t>
                    </m:r>
                    <m:r>
                      <a:rPr lang="en-AU" altLang="en-US" sz="1600" b="0" i="1" smtClean="0">
                        <a:latin typeface="Cambria Math"/>
                        <a:ea typeface="MS Mincho" pitchFamily="49" charset="-128"/>
                        <a:cs typeface="Arial" charset="0"/>
                      </a:rPr>
                      <m:t>2025</m:t>
                    </m:r>
                    <m:r>
                      <a:rPr lang="en-AU" altLang="en-US" sz="1600" i="1">
                        <a:latin typeface="Cambria Math"/>
                        <a:ea typeface="Cambria Math"/>
                        <a:cs typeface="Arial" charset="0"/>
                      </a:rPr>
                      <m:t>→9.</m:t>
                    </m:r>
                    <m:r>
                      <a:rPr lang="en-AU" altLang="en-US" sz="1600" b="0" i="1" smtClean="0">
                        <a:latin typeface="Cambria Math"/>
                        <a:ea typeface="Cambria Math"/>
                        <a:cs typeface="Arial" charset="0"/>
                      </a:rPr>
                      <m:t>203</m:t>
                    </m:r>
                    <m:r>
                      <a:rPr lang="en-AU" altLang="en-US" sz="1600" i="1">
                        <a:latin typeface="Cambria Math"/>
                        <a:ea typeface="Cambria Math"/>
                        <a:cs typeface="Arial" charset="0"/>
                      </a:rPr>
                      <m:t>% </m:t>
                    </m:r>
                    <m:r>
                      <a:rPr lang="en-AU" altLang="en-US" sz="1600" i="1">
                        <a:latin typeface="Cambria Math"/>
                        <a:ea typeface="Cambria Math"/>
                        <a:cs typeface="Arial" charset="0"/>
                      </a:rPr>
                      <m:t>𝑡𝑜</m:t>
                    </m:r>
                    <m:r>
                      <a:rPr lang="en-AU" altLang="en-US" sz="1600" i="1">
                        <a:latin typeface="Cambria Math"/>
                        <a:ea typeface="Cambria Math"/>
                        <a:cs typeface="Arial" charset="0"/>
                      </a:rPr>
                      <m:t> 3</m:t>
                    </m:r>
                    <m:r>
                      <a:rPr lang="en-AU" altLang="en-US" sz="1600" i="1">
                        <a:latin typeface="Cambria Math"/>
                        <a:ea typeface="Cambria Math"/>
                        <a:cs typeface="Arial" charset="0"/>
                      </a:rPr>
                      <m:t>𝑑𝑝</m:t>
                    </m:r>
                  </m:oMath>
                </a14:m>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    quarterly 9% = 0.09/4 	gives </a:t>
                </a:r>
                <a14:m>
                  <m:oMath xmlns:m="http://schemas.openxmlformats.org/officeDocument/2006/math">
                    <m:r>
                      <a:rPr lang="en-AU" altLang="en-US" sz="1600" b="0" i="1" smtClean="0">
                        <a:latin typeface="Cambria Math"/>
                        <a:ea typeface="MS Mincho" pitchFamily="49" charset="-128"/>
                        <a:cs typeface="Arial" charset="0"/>
                      </a:rPr>
                      <m:t>100∗</m:t>
                    </m:r>
                    <m:sSup>
                      <m:sSupPr>
                        <m:ctrlPr>
                          <a:rPr lang="en-AU" altLang="en-US" sz="1600" b="0" i="1" smtClean="0">
                            <a:latin typeface="Cambria Math" panose="02040503050406030204" pitchFamily="18" charset="0"/>
                            <a:ea typeface="MS Mincho" pitchFamily="49" charset="-128"/>
                            <a:cs typeface="Arial" charset="0"/>
                          </a:rPr>
                        </m:ctrlPr>
                      </m:sSupPr>
                      <m:e>
                        <m:d>
                          <m:dPr>
                            <m:ctrlPr>
                              <a:rPr lang="en-AU" altLang="en-US" sz="1600" b="0" i="1" smtClean="0">
                                <a:latin typeface="Cambria Math" panose="02040503050406030204" pitchFamily="18" charset="0"/>
                                <a:ea typeface="MS Mincho" pitchFamily="49" charset="-128"/>
                                <a:cs typeface="Arial" charset="0"/>
                              </a:rPr>
                            </m:ctrlPr>
                          </m:dPr>
                          <m:e>
                            <m:r>
                              <a:rPr lang="en-AU" altLang="en-US" sz="1600" b="0" i="1" smtClean="0">
                                <a:latin typeface="Cambria Math"/>
                                <a:ea typeface="MS Mincho" pitchFamily="49" charset="-128"/>
                                <a:cs typeface="Arial" charset="0"/>
                              </a:rPr>
                              <m:t>1+</m:t>
                            </m:r>
                            <m:f>
                              <m:fPr>
                                <m:ctrlPr>
                                  <a:rPr lang="en-AU" altLang="en-US" sz="1600" b="0" i="1" smtClean="0">
                                    <a:latin typeface="Cambria Math" panose="02040503050406030204" pitchFamily="18" charset="0"/>
                                    <a:ea typeface="MS Mincho" pitchFamily="49" charset="-128"/>
                                    <a:cs typeface="Arial" charset="0"/>
                                  </a:rPr>
                                </m:ctrlPr>
                              </m:fPr>
                              <m:num>
                                <m:r>
                                  <a:rPr lang="en-AU" altLang="en-US" sz="1600" b="0" i="1" smtClean="0">
                                    <a:latin typeface="Cambria Math"/>
                                    <a:ea typeface="MS Mincho" pitchFamily="49" charset="-128"/>
                                    <a:cs typeface="Arial" charset="0"/>
                                  </a:rPr>
                                  <m:t>0.09</m:t>
                                </m:r>
                              </m:num>
                              <m:den>
                                <m:r>
                                  <a:rPr lang="en-AU" altLang="en-US" sz="1600" b="0" i="1" smtClean="0">
                                    <a:latin typeface="Cambria Math"/>
                                    <a:ea typeface="MS Mincho" pitchFamily="49" charset="-128"/>
                                    <a:cs typeface="Arial" charset="0"/>
                                  </a:rPr>
                                  <m:t>4</m:t>
                                </m:r>
                              </m:den>
                            </m:f>
                          </m:e>
                        </m:d>
                      </m:e>
                      <m:sup>
                        <m:r>
                          <a:rPr lang="en-AU" altLang="en-US" sz="1600" b="0" i="1" smtClean="0">
                            <a:latin typeface="Cambria Math"/>
                            <a:ea typeface="MS Mincho" pitchFamily="49" charset="-128"/>
                            <a:cs typeface="Arial" charset="0"/>
                          </a:rPr>
                          <m:t>4</m:t>
                        </m:r>
                      </m:sup>
                    </m:sSup>
                    <m:r>
                      <a:rPr lang="en-AU" altLang="en-US" sz="1600" b="0" i="1" smtClean="0">
                        <a:latin typeface="Cambria Math"/>
                        <a:ea typeface="MS Mincho" pitchFamily="49" charset="-128"/>
                        <a:cs typeface="Arial" charset="0"/>
                      </a:rPr>
                      <m:t>=$109.30833</m:t>
                    </m:r>
                    <m:r>
                      <a:rPr lang="en-AU" altLang="en-US" sz="1600" b="0" i="1" smtClean="0">
                        <a:latin typeface="Cambria Math"/>
                        <a:ea typeface="Cambria Math"/>
                        <a:cs typeface="Arial" charset="0"/>
                      </a:rPr>
                      <m:t>→9.308% </m:t>
                    </m:r>
                    <m:r>
                      <a:rPr lang="en-AU" altLang="en-US" sz="1600" b="0" i="1" smtClean="0">
                        <a:latin typeface="Cambria Math"/>
                        <a:ea typeface="Cambria Math"/>
                        <a:cs typeface="Arial" charset="0"/>
                      </a:rPr>
                      <m:t>𝑡𝑜</m:t>
                    </m:r>
                    <m:r>
                      <a:rPr lang="en-AU" altLang="en-US" sz="1600" b="0" i="1" smtClean="0">
                        <a:latin typeface="Cambria Math"/>
                        <a:ea typeface="Cambria Math"/>
                        <a:cs typeface="Arial" charset="0"/>
                      </a:rPr>
                      <m:t> 3</m:t>
                    </m:r>
                    <m:r>
                      <a:rPr lang="en-AU" altLang="en-US" sz="1600" b="0" i="1" smtClean="0">
                        <a:latin typeface="Cambria Math"/>
                        <a:ea typeface="Cambria Math"/>
                        <a:cs typeface="Arial" charset="0"/>
                      </a:rPr>
                      <m:t>𝑑𝑝</m:t>
                    </m:r>
                  </m:oMath>
                </a14:m>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    monthly 9% = 0.09/12 	gives</a:t>
                </a:r>
                <a14:m>
                  <m:oMath xmlns:m="http://schemas.openxmlformats.org/officeDocument/2006/math">
                    <m:r>
                      <a:rPr lang="en-AU" altLang="en-US" sz="1600" i="1">
                        <a:latin typeface="Cambria Math"/>
                        <a:ea typeface="MS Mincho" pitchFamily="49" charset="-128"/>
                        <a:cs typeface="Arial" charset="0"/>
                      </a:rPr>
                      <m:t>100∗</m:t>
                    </m:r>
                    <m:sSup>
                      <m:sSupPr>
                        <m:ctrlPr>
                          <a:rPr lang="en-AU" altLang="en-US" sz="1600" i="1">
                            <a:latin typeface="Cambria Math" panose="02040503050406030204" pitchFamily="18" charset="0"/>
                            <a:ea typeface="MS Mincho" pitchFamily="49" charset="-128"/>
                            <a:cs typeface="Arial" charset="0"/>
                          </a:rPr>
                        </m:ctrlPr>
                      </m:sSupPr>
                      <m:e>
                        <m:d>
                          <m:dPr>
                            <m:ctrlPr>
                              <a:rPr lang="en-AU" altLang="en-US" sz="1600" i="1">
                                <a:latin typeface="Cambria Math" panose="02040503050406030204" pitchFamily="18" charset="0"/>
                                <a:ea typeface="MS Mincho" pitchFamily="49" charset="-128"/>
                                <a:cs typeface="Arial" charset="0"/>
                              </a:rPr>
                            </m:ctrlPr>
                          </m:dPr>
                          <m:e>
                            <m:r>
                              <a:rPr lang="en-AU" altLang="en-US" sz="1600" i="1">
                                <a:latin typeface="Cambria Math"/>
                                <a:ea typeface="MS Mincho" pitchFamily="49" charset="-128"/>
                                <a:cs typeface="Arial" charset="0"/>
                              </a:rPr>
                              <m:t>1+</m:t>
                            </m:r>
                            <m:f>
                              <m:fPr>
                                <m:ctrlPr>
                                  <a:rPr lang="en-AU" altLang="en-US" sz="1600" i="1">
                                    <a:latin typeface="Cambria Math" panose="02040503050406030204" pitchFamily="18" charset="0"/>
                                    <a:ea typeface="MS Mincho" pitchFamily="49" charset="-128"/>
                                    <a:cs typeface="Arial" charset="0"/>
                                  </a:rPr>
                                </m:ctrlPr>
                              </m:fPr>
                              <m:num>
                                <m:r>
                                  <a:rPr lang="en-AU" altLang="en-US" sz="1600" i="1">
                                    <a:latin typeface="Cambria Math"/>
                                    <a:ea typeface="MS Mincho" pitchFamily="49" charset="-128"/>
                                    <a:cs typeface="Arial" charset="0"/>
                                  </a:rPr>
                                  <m:t>0.09</m:t>
                                </m:r>
                              </m:num>
                              <m:den>
                                <m:r>
                                  <a:rPr lang="en-AU" altLang="en-US" sz="1600" b="0" i="1" smtClean="0">
                                    <a:latin typeface="Cambria Math"/>
                                    <a:ea typeface="MS Mincho" pitchFamily="49" charset="-128"/>
                                    <a:cs typeface="Arial" charset="0"/>
                                  </a:rPr>
                                  <m:t>12</m:t>
                                </m:r>
                              </m:den>
                            </m:f>
                          </m:e>
                        </m:d>
                      </m:e>
                      <m:sup>
                        <m:r>
                          <a:rPr lang="en-AU" altLang="en-US" sz="1600" b="0" i="1" smtClean="0">
                            <a:latin typeface="Cambria Math"/>
                            <a:ea typeface="MS Mincho" pitchFamily="49" charset="-128"/>
                            <a:cs typeface="Arial" charset="0"/>
                          </a:rPr>
                          <m:t>12</m:t>
                        </m:r>
                      </m:sup>
                    </m:sSup>
                    <m:r>
                      <a:rPr lang="en-AU" altLang="en-US" sz="1600" i="1">
                        <a:latin typeface="Cambria Math"/>
                        <a:ea typeface="MS Mincho" pitchFamily="49" charset="-128"/>
                        <a:cs typeface="Arial" charset="0"/>
                      </a:rPr>
                      <m:t>=$109.38</m:t>
                    </m:r>
                    <m:r>
                      <a:rPr lang="en-AU" altLang="en-US" sz="1600" b="0" i="1" smtClean="0">
                        <a:latin typeface="Cambria Math"/>
                        <a:ea typeface="MS Mincho" pitchFamily="49" charset="-128"/>
                        <a:cs typeface="Arial" charset="0"/>
                      </a:rPr>
                      <m:t>068</m:t>
                    </m:r>
                    <m:r>
                      <a:rPr lang="en-AU" altLang="en-US" sz="1600" i="1">
                        <a:latin typeface="Cambria Math"/>
                        <a:ea typeface="Cambria Math"/>
                        <a:cs typeface="Arial" charset="0"/>
                      </a:rPr>
                      <m:t>→9.38</m:t>
                    </m:r>
                    <m:r>
                      <a:rPr lang="en-AU" altLang="en-US" sz="1600" b="0" i="1" smtClean="0">
                        <a:latin typeface="Cambria Math"/>
                        <a:ea typeface="Cambria Math"/>
                        <a:cs typeface="Arial" charset="0"/>
                      </a:rPr>
                      <m:t>1</m:t>
                    </m:r>
                    <m:r>
                      <a:rPr lang="en-AU" altLang="en-US" sz="1600" i="1">
                        <a:latin typeface="Cambria Math"/>
                        <a:ea typeface="Cambria Math"/>
                        <a:cs typeface="Arial" charset="0"/>
                      </a:rPr>
                      <m:t>% </m:t>
                    </m:r>
                    <m:r>
                      <a:rPr lang="en-AU" altLang="en-US" sz="1600" i="1">
                        <a:latin typeface="Cambria Math"/>
                        <a:ea typeface="Cambria Math"/>
                        <a:cs typeface="Arial" charset="0"/>
                      </a:rPr>
                      <m:t>𝑡𝑜</m:t>
                    </m:r>
                    <m:r>
                      <a:rPr lang="en-AU" altLang="en-US" sz="1600" i="1">
                        <a:latin typeface="Cambria Math"/>
                        <a:ea typeface="Cambria Math"/>
                        <a:cs typeface="Arial" charset="0"/>
                      </a:rPr>
                      <m:t> 3</m:t>
                    </m:r>
                    <m:r>
                      <a:rPr lang="en-AU" altLang="en-US" sz="1600" i="1">
                        <a:latin typeface="Cambria Math"/>
                        <a:ea typeface="Cambria Math"/>
                        <a:cs typeface="Arial" charset="0"/>
                      </a:rPr>
                      <m:t>𝑑𝑝</m:t>
                    </m:r>
                  </m:oMath>
                </a14:m>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    daily 9% = 0.09/365 	gives</a:t>
                </a:r>
                <a14:m>
                  <m:oMath xmlns:m="http://schemas.openxmlformats.org/officeDocument/2006/math">
                    <m:r>
                      <a:rPr lang="en-AU" altLang="en-US" sz="1600" i="1">
                        <a:latin typeface="Cambria Math"/>
                        <a:ea typeface="MS Mincho" pitchFamily="49" charset="-128"/>
                        <a:cs typeface="Arial" charset="0"/>
                      </a:rPr>
                      <m:t>100∗</m:t>
                    </m:r>
                    <m:sSup>
                      <m:sSupPr>
                        <m:ctrlPr>
                          <a:rPr lang="en-AU" altLang="en-US" sz="1600" i="1">
                            <a:latin typeface="Cambria Math" panose="02040503050406030204" pitchFamily="18" charset="0"/>
                            <a:ea typeface="MS Mincho" pitchFamily="49" charset="-128"/>
                            <a:cs typeface="Arial" charset="0"/>
                          </a:rPr>
                        </m:ctrlPr>
                      </m:sSupPr>
                      <m:e>
                        <m:d>
                          <m:dPr>
                            <m:ctrlPr>
                              <a:rPr lang="en-AU" altLang="en-US" sz="1600" i="1">
                                <a:latin typeface="Cambria Math" panose="02040503050406030204" pitchFamily="18" charset="0"/>
                                <a:ea typeface="MS Mincho" pitchFamily="49" charset="-128"/>
                                <a:cs typeface="Arial" charset="0"/>
                              </a:rPr>
                            </m:ctrlPr>
                          </m:dPr>
                          <m:e>
                            <m:r>
                              <a:rPr lang="en-AU" altLang="en-US" sz="1600" i="1">
                                <a:latin typeface="Cambria Math"/>
                                <a:ea typeface="MS Mincho" pitchFamily="49" charset="-128"/>
                                <a:cs typeface="Arial" charset="0"/>
                              </a:rPr>
                              <m:t>1+</m:t>
                            </m:r>
                            <m:f>
                              <m:fPr>
                                <m:ctrlPr>
                                  <a:rPr lang="en-AU" altLang="en-US" sz="1600" i="1">
                                    <a:latin typeface="Cambria Math" panose="02040503050406030204" pitchFamily="18" charset="0"/>
                                    <a:ea typeface="MS Mincho" pitchFamily="49" charset="-128"/>
                                    <a:cs typeface="Arial" charset="0"/>
                                  </a:rPr>
                                </m:ctrlPr>
                              </m:fPr>
                              <m:num>
                                <m:r>
                                  <a:rPr lang="en-AU" altLang="en-US" sz="1600" i="1">
                                    <a:latin typeface="Cambria Math"/>
                                    <a:ea typeface="MS Mincho" pitchFamily="49" charset="-128"/>
                                    <a:cs typeface="Arial" charset="0"/>
                                  </a:rPr>
                                  <m:t>0.09</m:t>
                                </m:r>
                              </m:num>
                              <m:den>
                                <m:r>
                                  <a:rPr lang="en-AU" altLang="en-US" sz="1600" b="0" i="1" smtClean="0">
                                    <a:latin typeface="Cambria Math"/>
                                    <a:ea typeface="MS Mincho" pitchFamily="49" charset="-128"/>
                                    <a:cs typeface="Arial" charset="0"/>
                                  </a:rPr>
                                  <m:t>365</m:t>
                                </m:r>
                              </m:den>
                            </m:f>
                          </m:e>
                        </m:d>
                      </m:e>
                      <m:sup>
                        <m:r>
                          <a:rPr lang="en-AU" altLang="en-US" sz="1600" b="0" i="1" smtClean="0">
                            <a:latin typeface="Cambria Math"/>
                            <a:ea typeface="MS Mincho" pitchFamily="49" charset="-128"/>
                            <a:cs typeface="Arial" charset="0"/>
                          </a:rPr>
                          <m:t>365</m:t>
                        </m:r>
                      </m:sup>
                    </m:sSup>
                    <m:r>
                      <a:rPr lang="en-AU" altLang="en-US" sz="1600" i="1">
                        <a:latin typeface="Cambria Math"/>
                        <a:ea typeface="MS Mincho" pitchFamily="49" charset="-128"/>
                        <a:cs typeface="Arial" charset="0"/>
                      </a:rPr>
                      <m:t>=$109.</m:t>
                    </m:r>
                    <m:r>
                      <a:rPr lang="en-AU" altLang="en-US" sz="1600" b="0" i="1" smtClean="0">
                        <a:latin typeface="Cambria Math"/>
                        <a:ea typeface="MS Mincho" pitchFamily="49" charset="-128"/>
                        <a:cs typeface="Arial" charset="0"/>
                      </a:rPr>
                      <m:t>41621</m:t>
                    </m:r>
                    <m:r>
                      <a:rPr lang="en-AU" altLang="en-US" sz="1600" i="1">
                        <a:latin typeface="Cambria Math"/>
                        <a:ea typeface="Cambria Math"/>
                        <a:cs typeface="Arial" charset="0"/>
                      </a:rPr>
                      <m:t>→9.</m:t>
                    </m:r>
                    <m:r>
                      <a:rPr lang="en-AU" altLang="en-US" sz="1600" b="0" i="1" smtClean="0">
                        <a:latin typeface="Cambria Math"/>
                        <a:ea typeface="Cambria Math"/>
                        <a:cs typeface="Arial" charset="0"/>
                      </a:rPr>
                      <m:t>416</m:t>
                    </m:r>
                    <m:r>
                      <a:rPr lang="en-AU" altLang="en-US" sz="1600" i="1">
                        <a:latin typeface="Cambria Math"/>
                        <a:ea typeface="Cambria Math"/>
                        <a:cs typeface="Arial" charset="0"/>
                      </a:rPr>
                      <m:t>% </m:t>
                    </m:r>
                    <m:r>
                      <a:rPr lang="en-AU" altLang="en-US" sz="1600" i="1">
                        <a:latin typeface="Cambria Math"/>
                        <a:ea typeface="Cambria Math"/>
                        <a:cs typeface="Arial" charset="0"/>
                      </a:rPr>
                      <m:t>𝑡𝑜</m:t>
                    </m:r>
                    <m:r>
                      <a:rPr lang="en-AU" altLang="en-US" sz="1600" i="1">
                        <a:latin typeface="Cambria Math"/>
                        <a:ea typeface="Cambria Math"/>
                        <a:cs typeface="Arial" charset="0"/>
                      </a:rPr>
                      <m:t> 3</m:t>
                    </m:r>
                    <m:r>
                      <a:rPr lang="en-AU" altLang="en-US" sz="1600" i="1">
                        <a:latin typeface="Cambria Math"/>
                        <a:ea typeface="Cambria Math"/>
                        <a:cs typeface="Arial" charset="0"/>
                      </a:rPr>
                      <m:t>𝑑𝑝</m:t>
                    </m:r>
                  </m:oMath>
                </a14:m>
                <a:endParaRPr lang="en-AU" altLang="en-US" sz="1600" dirty="0">
                  <a:ea typeface="MS Mincho" pitchFamily="49" charset="-128"/>
                  <a:cs typeface="Arial" charset="0"/>
                </a:endParaRPr>
              </a:p>
              <a:p>
                <a:pPr eaLnBrk="1" hangingPunct="1"/>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This now shows that the effective “yearly” rates are </a:t>
                </a:r>
                <a:br>
                  <a:rPr lang="en-AU" altLang="en-US" sz="1600" dirty="0">
                    <a:ea typeface="MS Mincho" pitchFamily="49" charset="-128"/>
                    <a:cs typeface="Arial" charset="0"/>
                  </a:rPr>
                </a:br>
                <a:r>
                  <a:rPr lang="en-AU" altLang="en-US" sz="1600" dirty="0">
                    <a:ea typeface="MS Mincho" pitchFamily="49" charset="-128"/>
                    <a:cs typeface="Arial" charset="0"/>
                  </a:rPr>
                  <a:t>	9% yearly – done yearly,  9.203% yearly – done half yearly, 9.308% – done quarterly, 9.381% – done monthly and 9.416% – done daily.</a:t>
                </a:r>
                <a:br>
                  <a:rPr lang="en-AU" altLang="en-US" sz="1600" dirty="0">
                    <a:ea typeface="MS Mincho" pitchFamily="49" charset="-128"/>
                    <a:cs typeface="Arial" charset="0"/>
                  </a:rPr>
                </a:br>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This also can be done using the formula – effective annual interest rate = </a:t>
                </a:r>
                <a14:m>
                  <m:oMath xmlns:m="http://schemas.openxmlformats.org/officeDocument/2006/math">
                    <m:sSup>
                      <m:sSupPr>
                        <m:ctrlPr>
                          <a:rPr lang="en-AU" altLang="en-US" sz="1600" i="1" smtClean="0">
                            <a:latin typeface="Cambria Math" panose="02040503050406030204" pitchFamily="18" charset="0"/>
                            <a:ea typeface="MS Mincho" pitchFamily="49" charset="-128"/>
                            <a:cs typeface="Arial" charset="0"/>
                          </a:rPr>
                        </m:ctrlPr>
                      </m:sSupPr>
                      <m:e>
                        <m:d>
                          <m:dPr>
                            <m:ctrlPr>
                              <a:rPr lang="en-AU" altLang="en-US" sz="1600" i="1" smtClean="0">
                                <a:latin typeface="Cambria Math" panose="02040503050406030204" pitchFamily="18" charset="0"/>
                                <a:ea typeface="MS Mincho" pitchFamily="49" charset="-128"/>
                                <a:cs typeface="Arial" charset="0"/>
                              </a:rPr>
                            </m:ctrlPr>
                          </m:dPr>
                          <m:e>
                            <m:r>
                              <a:rPr lang="en-AU" altLang="en-US" sz="1600" b="0" i="1" smtClean="0">
                                <a:latin typeface="Cambria Math"/>
                                <a:ea typeface="MS Mincho" pitchFamily="49" charset="-128"/>
                                <a:cs typeface="Arial" charset="0"/>
                              </a:rPr>
                              <m:t>1+</m:t>
                            </m:r>
                            <m:f>
                              <m:fPr>
                                <m:ctrlPr>
                                  <a:rPr lang="en-AU" altLang="en-US" sz="1600" b="0" i="1" smtClean="0">
                                    <a:latin typeface="Cambria Math" panose="02040503050406030204" pitchFamily="18" charset="0"/>
                                    <a:ea typeface="MS Mincho" pitchFamily="49" charset="-128"/>
                                    <a:cs typeface="Arial" charset="0"/>
                                  </a:rPr>
                                </m:ctrlPr>
                              </m:fPr>
                              <m:num>
                                <m:r>
                                  <a:rPr lang="en-AU" altLang="en-US" sz="1600" b="0" i="1" smtClean="0">
                                    <a:latin typeface="Cambria Math"/>
                                    <a:ea typeface="MS Mincho" pitchFamily="49" charset="-128"/>
                                    <a:cs typeface="Arial" charset="0"/>
                                  </a:rPr>
                                  <m:t>𝑖</m:t>
                                </m:r>
                              </m:num>
                              <m:den>
                                <m:r>
                                  <a:rPr lang="en-AU" altLang="en-US" sz="1600" b="0" i="1" smtClean="0">
                                    <a:latin typeface="Cambria Math"/>
                                    <a:ea typeface="MS Mincho" pitchFamily="49" charset="-128"/>
                                    <a:cs typeface="Arial" charset="0"/>
                                  </a:rPr>
                                  <m:t>𝑛</m:t>
                                </m:r>
                              </m:den>
                            </m:f>
                          </m:e>
                        </m:d>
                      </m:e>
                      <m:sup>
                        <m:r>
                          <a:rPr lang="en-AU" altLang="en-US" sz="1600" b="0" i="1" smtClean="0">
                            <a:latin typeface="Cambria Math"/>
                            <a:ea typeface="MS Mincho" pitchFamily="49" charset="-128"/>
                            <a:cs typeface="Arial" charset="0"/>
                          </a:rPr>
                          <m:t>𝑛</m:t>
                        </m:r>
                      </m:sup>
                    </m:sSup>
                    <m:r>
                      <a:rPr lang="en-AU" altLang="en-US" sz="1600" b="0" i="1" smtClean="0">
                        <a:latin typeface="Cambria Math"/>
                        <a:ea typeface="MS Mincho" pitchFamily="49" charset="-128"/>
                        <a:cs typeface="Arial" charset="0"/>
                      </a:rPr>
                      <m:t>−1</m:t>
                    </m:r>
                  </m:oMath>
                </a14:m>
                <a:endParaRPr lang="en-AU" altLang="en-US" sz="1600" b="0" dirty="0">
                  <a:ea typeface="MS Mincho" pitchFamily="49" charset="-128"/>
                  <a:cs typeface="Arial" charset="0"/>
                </a:endParaRPr>
              </a:p>
              <a:p>
                <a:pPr eaLnBrk="1" hangingPunct="1"/>
                <a:r>
                  <a:rPr lang="en-AU" altLang="en-US" sz="1600" dirty="0">
                    <a:ea typeface="MS Mincho" pitchFamily="49" charset="-128"/>
                    <a:cs typeface="Arial" charset="0"/>
                  </a:rPr>
                  <a:t>      where </a:t>
                </a:r>
                <a:r>
                  <a:rPr lang="en-AU" altLang="en-US" sz="1600" dirty="0" err="1">
                    <a:ea typeface="MS Mincho" pitchFamily="49" charset="-128"/>
                    <a:cs typeface="Arial" charset="0"/>
                  </a:rPr>
                  <a:t>i</a:t>
                </a:r>
                <a:r>
                  <a:rPr lang="en-AU" altLang="en-US" sz="1600" dirty="0">
                    <a:ea typeface="MS Mincho" pitchFamily="49" charset="-128"/>
                    <a:cs typeface="Arial" charset="0"/>
                  </a:rPr>
                  <a:t> = interest rate as a decimal and n = the number of compounding periods per year</a:t>
                </a:r>
              </a:p>
              <a:p>
                <a:pPr eaLnBrk="1" hangingPunct="1"/>
                <a:r>
                  <a:rPr lang="en-AU" altLang="en-US" sz="1600" dirty="0">
                    <a:ea typeface="MS Mincho" pitchFamily="49" charset="-128"/>
                    <a:cs typeface="Arial" charset="0"/>
                  </a:rPr>
                  <a:t>	</a:t>
                </a:r>
                <a:r>
                  <a:rPr lang="en-AU" altLang="en-US" sz="1600" dirty="0" err="1">
                    <a:ea typeface="MS Mincho" pitchFamily="49" charset="-128"/>
                    <a:cs typeface="Arial" charset="0"/>
                  </a:rPr>
                  <a:t>eg</a:t>
                </a:r>
                <a:r>
                  <a:rPr lang="en-AU" altLang="en-US" sz="1600" dirty="0">
                    <a:ea typeface="MS Mincho" pitchFamily="49" charset="-128"/>
                    <a:cs typeface="Arial" charset="0"/>
                  </a:rPr>
                  <a:t> for quarterly above </a:t>
                </a:r>
                <a14:m>
                  <m:oMath xmlns:m="http://schemas.openxmlformats.org/officeDocument/2006/math">
                    <m:sSup>
                      <m:sSupPr>
                        <m:ctrlPr>
                          <a:rPr lang="en-AU" altLang="en-US" sz="1600" i="1">
                            <a:latin typeface="Cambria Math" panose="02040503050406030204" pitchFamily="18" charset="0"/>
                            <a:ea typeface="MS Mincho" pitchFamily="49" charset="-128"/>
                            <a:cs typeface="Arial" charset="0"/>
                          </a:rPr>
                        </m:ctrlPr>
                      </m:sSupPr>
                      <m:e>
                        <m:d>
                          <m:dPr>
                            <m:ctrlPr>
                              <a:rPr lang="en-AU" altLang="en-US" sz="1600" i="1">
                                <a:latin typeface="Cambria Math" panose="02040503050406030204" pitchFamily="18" charset="0"/>
                                <a:ea typeface="MS Mincho" pitchFamily="49" charset="-128"/>
                                <a:cs typeface="Arial" charset="0"/>
                              </a:rPr>
                            </m:ctrlPr>
                          </m:dPr>
                          <m:e>
                            <m:r>
                              <a:rPr lang="en-AU" altLang="en-US" sz="1600" i="1">
                                <a:latin typeface="Cambria Math"/>
                                <a:ea typeface="MS Mincho" pitchFamily="49" charset="-128"/>
                                <a:cs typeface="Arial" charset="0"/>
                              </a:rPr>
                              <m:t>1+</m:t>
                            </m:r>
                            <m:f>
                              <m:fPr>
                                <m:ctrlPr>
                                  <a:rPr lang="en-AU" altLang="en-US" sz="1600" i="1">
                                    <a:latin typeface="Cambria Math" panose="02040503050406030204" pitchFamily="18" charset="0"/>
                                    <a:ea typeface="MS Mincho" pitchFamily="49" charset="-128"/>
                                    <a:cs typeface="Arial" charset="0"/>
                                  </a:rPr>
                                </m:ctrlPr>
                              </m:fPr>
                              <m:num>
                                <m:r>
                                  <a:rPr lang="en-AU" altLang="en-US" sz="1600" i="1">
                                    <a:latin typeface="Cambria Math"/>
                                    <a:ea typeface="MS Mincho" pitchFamily="49" charset="-128"/>
                                    <a:cs typeface="Arial" charset="0"/>
                                  </a:rPr>
                                  <m:t>0.09</m:t>
                                </m:r>
                              </m:num>
                              <m:den>
                                <m:r>
                                  <a:rPr lang="en-AU" altLang="en-US" sz="1600" b="0" i="1" smtClean="0">
                                    <a:latin typeface="Cambria Math"/>
                                    <a:ea typeface="MS Mincho" pitchFamily="49" charset="-128"/>
                                    <a:cs typeface="Arial" charset="0"/>
                                  </a:rPr>
                                  <m:t>4</m:t>
                                </m:r>
                              </m:den>
                            </m:f>
                          </m:e>
                        </m:d>
                      </m:e>
                      <m:sup>
                        <m:r>
                          <a:rPr lang="en-AU" altLang="en-US" sz="1600" b="0" i="1" smtClean="0">
                            <a:latin typeface="Cambria Math"/>
                            <a:ea typeface="MS Mincho" pitchFamily="49" charset="-128"/>
                            <a:cs typeface="Arial" charset="0"/>
                          </a:rPr>
                          <m:t>4</m:t>
                        </m:r>
                      </m:sup>
                    </m:sSup>
                    <m:r>
                      <a:rPr lang="en-AU" altLang="en-US" sz="1600" b="0" i="1" smtClean="0">
                        <a:latin typeface="Cambria Math"/>
                        <a:ea typeface="MS Mincho" pitchFamily="49" charset="-128"/>
                        <a:cs typeface="Arial" charset="0"/>
                      </a:rPr>
                      <m:t>−1=0.0930833</m:t>
                    </m:r>
                    <m:r>
                      <a:rPr lang="en-AU" altLang="en-US" sz="1600" b="0" i="1" smtClean="0">
                        <a:latin typeface="Cambria Math"/>
                        <a:ea typeface="Cambria Math"/>
                        <a:cs typeface="Arial" charset="0"/>
                      </a:rPr>
                      <m:t>→9.308% </m:t>
                    </m:r>
                    <m:r>
                      <a:rPr lang="en-AU" altLang="en-US" sz="1600" b="0" i="1" smtClean="0">
                        <a:latin typeface="Cambria Math"/>
                        <a:ea typeface="Cambria Math"/>
                        <a:cs typeface="Arial" charset="0"/>
                      </a:rPr>
                      <m:t>𝑡𝑜</m:t>
                    </m:r>
                    <m:r>
                      <a:rPr lang="en-AU" altLang="en-US" sz="1600" b="0" i="1" smtClean="0">
                        <a:latin typeface="Cambria Math"/>
                        <a:ea typeface="Cambria Math"/>
                        <a:cs typeface="Arial" charset="0"/>
                      </a:rPr>
                      <m:t> 3 </m:t>
                    </m:r>
                    <m:r>
                      <a:rPr lang="en-AU" altLang="en-US" sz="1600" b="0" i="1" smtClean="0">
                        <a:latin typeface="Cambria Math"/>
                        <a:ea typeface="Cambria Math"/>
                        <a:cs typeface="Arial" charset="0"/>
                      </a:rPr>
                      <m:t>𝑑𝑝</m:t>
                    </m:r>
                    <m:r>
                      <a:rPr lang="en-AU" altLang="en-US" sz="1600" b="0" i="1" smtClean="0">
                        <a:latin typeface="Cambria Math"/>
                        <a:ea typeface="Cambria Math"/>
                        <a:cs typeface="Arial" charset="0"/>
                      </a:rPr>
                      <m:t> </m:t>
                    </m:r>
                    <m:r>
                      <a:rPr lang="en-AU" altLang="en-US" sz="1600" b="0" i="1" smtClean="0">
                        <a:latin typeface="Cambria Math"/>
                        <a:ea typeface="Cambria Math"/>
                        <a:cs typeface="Arial" charset="0"/>
                      </a:rPr>
                      <m:t>𝑎𝑠</m:t>
                    </m:r>
                    <m:r>
                      <a:rPr lang="en-AU" altLang="en-US" sz="1600" b="0" i="1" smtClean="0">
                        <a:latin typeface="Cambria Math"/>
                        <a:ea typeface="Cambria Math"/>
                        <a:cs typeface="Arial" charset="0"/>
                      </a:rPr>
                      <m:t> </m:t>
                    </m:r>
                    <m:r>
                      <a:rPr lang="en-AU" altLang="en-US" sz="1600" b="0" i="1" smtClean="0">
                        <a:latin typeface="Cambria Math"/>
                        <a:ea typeface="Cambria Math"/>
                        <a:cs typeface="Arial" charset="0"/>
                      </a:rPr>
                      <m:t>𝑎𝑏𝑜𝑣𝑒</m:t>
                    </m:r>
                    <m:r>
                      <a:rPr lang="en-AU" altLang="en-US" sz="1600" b="0" i="1" smtClean="0">
                        <a:latin typeface="Cambria Math"/>
                        <a:ea typeface="Cambria Math"/>
                        <a:cs typeface="Arial" charset="0"/>
                      </a:rPr>
                      <m:t>.</m:t>
                    </m:r>
                  </m:oMath>
                </a14:m>
                <a:endParaRPr lang="en-AU" altLang="en-US" sz="1600" b="0" dirty="0">
                  <a:ea typeface="Cambria Math"/>
                  <a:cs typeface="Arial" charset="0"/>
                </a:endParaRPr>
              </a:p>
              <a:p>
                <a:pPr eaLnBrk="1" hangingPunct="1"/>
                <a:endParaRPr lang="en-AU" altLang="en-US" sz="1600" dirty="0">
                  <a:ea typeface="MS Mincho" pitchFamily="49" charset="-128"/>
                  <a:cs typeface="Arial" charset="0"/>
                </a:endParaRPr>
              </a:p>
              <a:p>
                <a:pPr eaLnBrk="1" hangingPunct="1"/>
                <a:r>
                  <a:rPr lang="en-AU" altLang="en-US" sz="1600" dirty="0">
                    <a:ea typeface="MS Mincho" pitchFamily="49" charset="-128"/>
                    <a:cs typeface="Arial" charset="0"/>
                  </a:rPr>
                  <a:t>		Now do exercise 3B page 71.</a:t>
                </a:r>
              </a:p>
            </p:txBody>
          </p:sp>
        </mc:Choice>
        <mc:Fallback xmlns="">
          <p:sp>
            <p:nvSpPr>
              <p:cNvPr id="3116" name="Rectangle 1"/>
              <p:cNvSpPr>
                <a:spLocks noRot="1" noChangeAspect="1" noMove="1" noResize="1" noEditPoints="1" noAdjustHandles="1" noChangeArrowheads="1" noChangeShapeType="1" noTextEdit="1"/>
              </p:cNvSpPr>
              <p:nvPr/>
            </p:nvSpPr>
            <p:spPr bwMode="auto">
              <a:xfrm>
                <a:off x="0" y="0"/>
                <a:ext cx="9144000" cy="6762172"/>
              </a:xfrm>
              <a:prstGeom prst="rect">
                <a:avLst/>
              </a:prstGeom>
              <a:blipFill rotWithShape="1">
                <a:blip r:embed="rId2"/>
                <a:stretch>
                  <a:fillRect l="-333" b="-7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noFill/>
                  </a:rPr>
                  <a:t> </a:t>
                </a:r>
              </a:p>
            </p:txBody>
          </p:sp>
        </mc:Fallback>
      </mc:AlternateContent>
    </p:spTree>
    <p:extLst>
      <p:ext uri="{BB962C8B-B14F-4D97-AF65-F5344CB8AC3E}">
        <p14:creationId xmlns:p14="http://schemas.microsoft.com/office/powerpoint/2010/main" val="3817214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67034866"/>
              </p:ext>
            </p:extLst>
          </p:nvPr>
        </p:nvGraphicFramePr>
        <p:xfrm>
          <a:off x="2286000" y="3886200"/>
          <a:ext cx="6096001" cy="1706880"/>
        </p:xfrm>
        <a:graphic>
          <a:graphicData uri="http://schemas.openxmlformats.org/drawingml/2006/table">
            <a:tbl>
              <a:tblPr/>
              <a:tblGrid>
                <a:gridCol w="784584">
                  <a:extLst>
                    <a:ext uri="{9D8B030D-6E8A-4147-A177-3AD203B41FA5}">
                      <a16:colId xmlns:a16="http://schemas.microsoft.com/office/drawing/2014/main" val="20000"/>
                    </a:ext>
                  </a:extLst>
                </a:gridCol>
                <a:gridCol w="1070748">
                  <a:extLst>
                    <a:ext uri="{9D8B030D-6E8A-4147-A177-3AD203B41FA5}">
                      <a16:colId xmlns:a16="http://schemas.microsoft.com/office/drawing/2014/main" val="20001"/>
                    </a:ext>
                  </a:extLst>
                </a:gridCol>
                <a:gridCol w="2861646">
                  <a:extLst>
                    <a:ext uri="{9D8B030D-6E8A-4147-A177-3AD203B41FA5}">
                      <a16:colId xmlns:a16="http://schemas.microsoft.com/office/drawing/2014/main" val="20002"/>
                    </a:ext>
                  </a:extLst>
                </a:gridCol>
                <a:gridCol w="1379023">
                  <a:extLst>
                    <a:ext uri="{9D8B030D-6E8A-4147-A177-3AD203B41FA5}">
                      <a16:colId xmlns:a16="http://schemas.microsoft.com/office/drawing/2014/main" val="20003"/>
                    </a:ext>
                  </a:extLst>
                </a:gridCol>
              </a:tblGrid>
              <a:tr h="426641">
                <a:tc>
                  <a:txBody>
                    <a:bodyPr/>
                    <a:lstStyle/>
                    <a:p>
                      <a:pPr>
                        <a:spcAft>
                          <a:spcPts val="0"/>
                        </a:spcAft>
                      </a:pPr>
                      <a:r>
                        <a:rPr lang="en-AU" sz="1400" dirty="0">
                          <a:latin typeface="Arial"/>
                          <a:ea typeface="MS Mincho"/>
                        </a:rPr>
                        <a:t>Month</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Principal at beginning</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Calculation of amount at end</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Amount at end</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3320">
                <a:tc>
                  <a:txBody>
                    <a:bodyPr/>
                    <a:lstStyle/>
                    <a:p>
                      <a:pPr>
                        <a:spcAft>
                          <a:spcPts val="0"/>
                        </a:spcAft>
                      </a:pPr>
                      <a:r>
                        <a:rPr lang="en-AU" sz="1400" dirty="0">
                          <a:latin typeface="Arial"/>
                          <a:ea typeface="MS Mincho"/>
                        </a:rPr>
                        <a:t>1</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$10 000</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$10 000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$10 550</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3320">
                <a:tc>
                  <a:txBody>
                    <a:bodyPr/>
                    <a:lstStyle/>
                    <a:p>
                      <a:pPr>
                        <a:spcAft>
                          <a:spcPts val="0"/>
                        </a:spcAft>
                      </a:pPr>
                      <a:r>
                        <a:rPr lang="en-AU" sz="1400" dirty="0">
                          <a:latin typeface="Arial"/>
                          <a:ea typeface="MS Mincho"/>
                        </a:rPr>
                        <a:t>2</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$10 550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$10 550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$11 102.75</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3320">
                <a:tc>
                  <a:txBody>
                    <a:bodyPr/>
                    <a:lstStyle/>
                    <a:p>
                      <a:pPr>
                        <a:spcAft>
                          <a:spcPts val="0"/>
                        </a:spcAft>
                      </a:pPr>
                      <a:r>
                        <a:rPr lang="en-AU" sz="1400">
                          <a:latin typeface="Arial"/>
                          <a:ea typeface="MS Mincho"/>
                        </a:rPr>
                        <a:t>3</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$11 102.75</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$11 102.75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$11 658.26</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3320">
                <a:tc>
                  <a:txBody>
                    <a:bodyPr/>
                    <a:lstStyle/>
                    <a:p>
                      <a:pPr>
                        <a:spcAft>
                          <a:spcPts val="0"/>
                        </a:spcAft>
                      </a:pPr>
                      <a:r>
                        <a:rPr lang="en-AU" sz="1400">
                          <a:latin typeface="Arial"/>
                          <a:ea typeface="MS Mincho"/>
                        </a:rPr>
                        <a:t>4</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$11 658.26</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$11 658.26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$12 216.55</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3320">
                <a:tc>
                  <a:txBody>
                    <a:bodyPr/>
                    <a:lstStyle/>
                    <a:p>
                      <a:pPr>
                        <a:spcAft>
                          <a:spcPts val="0"/>
                        </a:spcAft>
                      </a:pPr>
                      <a:r>
                        <a:rPr lang="en-AU" sz="1400">
                          <a:latin typeface="Arial"/>
                          <a:ea typeface="MS Mincho"/>
                        </a:rPr>
                        <a:t>5</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$12 216.55</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$12 216.55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$12 777.63</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13320">
                <a:tc>
                  <a:txBody>
                    <a:bodyPr/>
                    <a:lstStyle/>
                    <a:p>
                      <a:pPr>
                        <a:spcAft>
                          <a:spcPts val="0"/>
                        </a:spcAft>
                      </a:pPr>
                      <a:r>
                        <a:rPr lang="en-AU" sz="1400" dirty="0">
                          <a:latin typeface="Arial"/>
                          <a:ea typeface="MS Mincho"/>
                        </a:rPr>
                        <a:t>6</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$12 777.63</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a:latin typeface="Arial"/>
                          <a:ea typeface="MS Mincho"/>
                        </a:rPr>
                        <a:t>$12 777.63 × 1.005 + $500</a:t>
                      </a:r>
                      <a:endParaRPr lang="en-US" sz="140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400" dirty="0">
                          <a:latin typeface="Arial"/>
                          <a:ea typeface="MS Mincho"/>
                        </a:rPr>
                        <a:t>$13 341.52</a:t>
                      </a:r>
                      <a:endParaRPr lang="en-US" sz="1400" dirty="0">
                        <a:latin typeface="Times New Roman"/>
                        <a:ea typeface="MS Mincho"/>
                      </a:endParaRPr>
                    </a:p>
                  </a:txBody>
                  <a:tcPr marL="68225" marR="682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116" name="Rectangle 1"/>
          <p:cNvSpPr>
            <a:spLocks noChangeArrowheads="1"/>
          </p:cNvSpPr>
          <p:nvPr/>
        </p:nvSpPr>
        <p:spPr bwMode="auto">
          <a:xfrm>
            <a:off x="152400" y="-38074"/>
            <a:ext cx="9073241" cy="686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2400" b="1" dirty="0">
                <a:ea typeface="MS Mincho" pitchFamily="49" charset="-128"/>
                <a:cs typeface="Arial" charset="0"/>
              </a:rPr>
              <a:t>INVESTMENT ACCOUNTS</a:t>
            </a:r>
            <a:endParaRPr lang="en-US" altLang="en-US" sz="2400" b="1" dirty="0">
              <a:ea typeface="MS Mincho" pitchFamily="49" charset="-128"/>
              <a:cs typeface="Arial" charset="0"/>
            </a:endParaRPr>
          </a:p>
          <a:p>
            <a:r>
              <a:rPr lang="en-AU" altLang="en-US" sz="2400" dirty="0">
                <a:ea typeface="MS Mincho" pitchFamily="49" charset="-128"/>
                <a:cs typeface="Arial" charset="0"/>
              </a:rPr>
              <a:t>Ex: </a:t>
            </a:r>
            <a:r>
              <a:rPr lang="en-AU" altLang="en-US" sz="2400" dirty="0" err="1">
                <a:ea typeface="MS Mincho" pitchFamily="49" charset="-128"/>
                <a:cs typeface="Arial" charset="0"/>
              </a:rPr>
              <a:t>Rheanon</a:t>
            </a:r>
            <a:r>
              <a:rPr lang="en-AU" altLang="en-US" sz="2400" dirty="0">
                <a:ea typeface="MS Mincho" pitchFamily="49" charset="-128"/>
                <a:cs typeface="Arial" charset="0"/>
              </a:rPr>
              <a:t> opens an investment account following advice from her financial manager. She initially deposits $10 000 in the account which pays 6% pa interest, with the interest accruing monthly. In addition, she agrees to deposit $500 into the account at the end of each month. How much is the investment worth on the completion of 6 months?</a:t>
            </a:r>
            <a:endParaRPr lang="en-US" altLang="en-US" sz="2400" dirty="0">
              <a:ea typeface="MS Mincho" pitchFamily="49" charset="-128"/>
              <a:cs typeface="Arial" charset="0"/>
            </a:endParaRPr>
          </a:p>
          <a:p>
            <a:endParaRPr lang="en-AU" altLang="en-US" sz="1600" dirty="0">
              <a:ea typeface="MS Mincho" pitchFamily="49" charset="-128"/>
              <a:cs typeface="Arial" charset="0"/>
            </a:endParaRPr>
          </a:p>
          <a:p>
            <a:r>
              <a:rPr lang="en-AU" altLang="en-US" sz="2400" dirty="0">
                <a:ea typeface="MS Mincho" pitchFamily="49" charset="-128"/>
                <a:cs typeface="Arial" charset="0"/>
              </a:rPr>
              <a:t>Solution: Since the rate is 6% pa, this is equivalent to 0.5% per month	[6 ÷ 12 =0.5]</a:t>
            </a:r>
            <a:r>
              <a:rPr lang="en-US" altLang="en-US" sz="2400" dirty="0">
                <a:ea typeface="MS Mincho" pitchFamily="49" charset="-128"/>
                <a:cs typeface="Arial" charset="0"/>
              </a:rPr>
              <a:t>. </a:t>
            </a:r>
            <a:r>
              <a:rPr lang="en-AU" altLang="en-US" sz="2400" dirty="0">
                <a:ea typeface="MS Mincho" pitchFamily="49" charset="-128"/>
                <a:cs typeface="Arial" charset="0"/>
              </a:rPr>
              <a:t>Hence the multiplier factor for each month is 1 + 0.5% = 1 + 0.005 = 1.005</a:t>
            </a:r>
          </a:p>
          <a:p>
            <a:endParaRPr lang="en-AU" altLang="en-US" sz="1600" dirty="0">
              <a:ea typeface="MS Mincho" pitchFamily="49" charset="-128"/>
              <a:cs typeface="Arial" charset="0"/>
            </a:endParaRPr>
          </a:p>
          <a:p>
            <a:endParaRPr lang="en-AU" altLang="en-US" sz="1600" dirty="0">
              <a:ea typeface="MS Mincho" pitchFamily="49" charset="-128"/>
              <a:cs typeface="Arial" charset="0"/>
            </a:endParaRPr>
          </a:p>
          <a:p>
            <a:endParaRPr lang="en-AU" altLang="en-US" sz="1600" dirty="0">
              <a:ea typeface="MS Mincho" pitchFamily="49" charset="-128"/>
              <a:cs typeface="Arial" charset="0"/>
            </a:endParaRPr>
          </a:p>
          <a:p>
            <a:endParaRPr lang="en-AU" altLang="en-US" sz="1600" dirty="0">
              <a:ea typeface="MS Mincho" pitchFamily="49" charset="-128"/>
              <a:cs typeface="Arial" charset="0"/>
            </a:endParaRPr>
          </a:p>
          <a:p>
            <a:endParaRPr lang="en-AU" altLang="en-US" sz="2400" dirty="0">
              <a:latin typeface="Arial" panose="020B0604020202020204" pitchFamily="34" charset="0"/>
              <a:ea typeface="MS Mincho" pitchFamily="49" charset="-128"/>
              <a:cs typeface="Arial" panose="020B0604020202020204" pitchFamily="34" charset="0"/>
            </a:endParaRPr>
          </a:p>
          <a:p>
            <a:endParaRPr lang="en-AU" altLang="en-US" sz="2400" dirty="0">
              <a:latin typeface="Arial" panose="020B0604020202020204" pitchFamily="34" charset="0"/>
              <a:ea typeface="MS Mincho" pitchFamily="49" charset="-128"/>
              <a:cs typeface="Arial" panose="020B0604020202020204" pitchFamily="34" charset="0"/>
            </a:endParaRPr>
          </a:p>
          <a:p>
            <a:r>
              <a:rPr lang="en-AU" altLang="en-US" sz="2400" dirty="0">
                <a:latin typeface="Arial" panose="020B0604020202020204" pitchFamily="34" charset="0"/>
                <a:ea typeface="MS Mincho" pitchFamily="49" charset="-128"/>
                <a:cs typeface="Arial" panose="020B0604020202020204" pitchFamily="34" charset="0"/>
              </a:rPr>
              <a:t>NOTE	Had she not been receiving interest, her account would have held $13 000</a:t>
            </a:r>
            <a:r>
              <a:rPr lang="en-US" altLang="en-US" sz="2400" dirty="0">
                <a:latin typeface="Arial" panose="020B0604020202020204" pitchFamily="34" charset="0"/>
                <a:ea typeface="MS Mincho" pitchFamily="49" charset="-128"/>
                <a:cs typeface="Arial" panose="020B0604020202020204" pitchFamily="34" charset="0"/>
              </a:rPr>
              <a:t> </a:t>
            </a:r>
            <a:r>
              <a:rPr lang="en-AU" altLang="en-US" sz="2400" dirty="0">
                <a:latin typeface="Arial" panose="020B0604020202020204" pitchFamily="34" charset="0"/>
                <a:ea typeface="MS Mincho" pitchFamily="49" charset="-128"/>
                <a:cs typeface="Arial" panose="020B0604020202020204" pitchFamily="34" charset="0"/>
              </a:rPr>
              <a:t>($10 000 initial deposit + 6 lots of $500)</a:t>
            </a:r>
            <a:endParaRPr lang="en-US" altLang="en-US" sz="2400" dirty="0">
              <a:latin typeface="Arial" panose="020B0604020202020204" pitchFamily="34" charset="0"/>
              <a:ea typeface="MS Mincho" pitchFamily="49" charset="-128"/>
              <a:cs typeface="Arial" panose="020B0604020202020204" pitchFamily="34" charset="0"/>
            </a:endParaRPr>
          </a:p>
          <a:p>
            <a:r>
              <a:rPr lang="en-AU" altLang="en-US" sz="2400" dirty="0">
                <a:latin typeface="Arial" panose="020B0604020202020204" pitchFamily="34" charset="0"/>
                <a:ea typeface="MS Mincho" pitchFamily="49" charset="-128"/>
                <a:cs typeface="Arial" panose="020B0604020202020204" pitchFamily="34" charset="0"/>
              </a:rPr>
              <a:t>Hence she has gained $341.52 in interest in these 6 months</a:t>
            </a:r>
            <a:r>
              <a:rPr lang="en-AU" altLang="en-US" sz="1600" dirty="0">
                <a:ea typeface="MS Mincho" pitchFamily="49" charset="-128"/>
                <a:cs typeface="Arial" charset="0"/>
              </a:rPr>
              <a:t>.</a:t>
            </a:r>
          </a:p>
        </p:txBody>
      </p:sp>
      <p:sp>
        <p:nvSpPr>
          <p:cNvPr id="2" name="TextBox 1">
            <a:extLst>
              <a:ext uri="{FF2B5EF4-FFF2-40B4-BE49-F238E27FC236}">
                <a16:creationId xmlns:a16="http://schemas.microsoft.com/office/drawing/2014/main" id="{9260F4D8-D9BC-3642-BA9C-B803276438EB}"/>
              </a:ext>
            </a:extLst>
          </p:cNvPr>
          <p:cNvSpPr txBox="1"/>
          <p:nvPr/>
        </p:nvSpPr>
        <p:spPr>
          <a:xfrm>
            <a:off x="3167743" y="821871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7736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16">
                                            <p:txEl>
                                              <p:pRg st="0" end="0"/>
                                            </p:txEl>
                                          </p:spTgt>
                                        </p:tgtEl>
                                        <p:attrNameLst>
                                          <p:attrName>style.visibility</p:attrName>
                                        </p:attrNameLst>
                                      </p:cBhvr>
                                      <p:to>
                                        <p:strVal val="visible"/>
                                      </p:to>
                                    </p:set>
                                    <p:anim calcmode="lin" valueType="num">
                                      <p:cBhvr additive="base">
                                        <p:cTn id="7" dur="500" fill="hold"/>
                                        <p:tgtEl>
                                          <p:spTgt spid="31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16">
                                            <p:txEl>
                                              <p:pRg st="1" end="1"/>
                                            </p:txEl>
                                          </p:spTgt>
                                        </p:tgtEl>
                                        <p:attrNameLst>
                                          <p:attrName>style.visibility</p:attrName>
                                        </p:attrNameLst>
                                      </p:cBhvr>
                                      <p:to>
                                        <p:strVal val="visible"/>
                                      </p:to>
                                    </p:set>
                                    <p:anim calcmode="lin" valueType="num">
                                      <p:cBhvr additive="base">
                                        <p:cTn id="11" dur="500" fill="hold"/>
                                        <p:tgtEl>
                                          <p:spTgt spid="31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16">
                                            <p:txEl>
                                              <p:pRg st="3" end="3"/>
                                            </p:txEl>
                                          </p:spTgt>
                                        </p:tgtEl>
                                        <p:attrNameLst>
                                          <p:attrName>style.visibility</p:attrName>
                                        </p:attrNameLst>
                                      </p:cBhvr>
                                      <p:to>
                                        <p:strVal val="visible"/>
                                      </p:to>
                                    </p:set>
                                    <p:animEffect transition="in" filter="checkerboard(across)">
                                      <p:cBhvr>
                                        <p:cTn id="17" dur="500"/>
                                        <p:tgtEl>
                                          <p:spTgt spid="311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16">
                                            <p:txEl>
                                              <p:pRg st="10" end="10"/>
                                            </p:txEl>
                                          </p:spTgt>
                                        </p:tgtEl>
                                        <p:attrNameLst>
                                          <p:attrName>style.visibility</p:attrName>
                                        </p:attrNameLst>
                                      </p:cBhvr>
                                      <p:to>
                                        <p:strVal val="visible"/>
                                      </p:to>
                                    </p:set>
                                    <p:anim calcmode="lin" valueType="num">
                                      <p:cBhvr additive="base">
                                        <p:cTn id="27" dur="500" fill="hold"/>
                                        <p:tgtEl>
                                          <p:spTgt spid="3116">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16">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116">
                                            <p:txEl>
                                              <p:pRg st="11" end="11"/>
                                            </p:txEl>
                                          </p:spTgt>
                                        </p:tgtEl>
                                        <p:attrNameLst>
                                          <p:attrName>style.visibility</p:attrName>
                                        </p:attrNameLst>
                                      </p:cBhvr>
                                      <p:to>
                                        <p:strVal val="visible"/>
                                      </p:to>
                                    </p:set>
                                    <p:anim calcmode="lin" valueType="num">
                                      <p:cBhvr additive="base">
                                        <p:cTn id="31" dur="500" fill="hold"/>
                                        <p:tgtEl>
                                          <p:spTgt spid="3116">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ChangeArrowheads="1"/>
          </p:cNvSpPr>
          <p:nvPr/>
        </p:nvSpPr>
        <p:spPr bwMode="auto">
          <a:xfrm>
            <a:off x="0" y="152400"/>
            <a:ext cx="9144000" cy="575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i="1" dirty="0">
                <a:ea typeface="MS Mincho" pitchFamily="49" charset="-128"/>
                <a:cs typeface="Arial" charset="0"/>
              </a:rPr>
              <a:t>Note: 	This can be done on your CAS calculator under </a:t>
            </a:r>
            <a:endParaRPr lang="en-US" altLang="en-US" sz="1600" dirty="0">
              <a:ea typeface="MS Mincho" pitchFamily="49" charset="-128"/>
              <a:cs typeface="Arial" charset="0"/>
            </a:endParaRPr>
          </a:p>
          <a:p>
            <a:r>
              <a:rPr lang="en-AU" altLang="en-US" sz="1600" i="1" dirty="0">
                <a:ea typeface="MS Mincho" pitchFamily="49" charset="-128"/>
                <a:cs typeface="Arial" charset="0"/>
              </a:rPr>
              <a:t>              financial</a:t>
            </a:r>
            <a:endParaRPr lang="en-US" altLang="en-US" sz="1600" dirty="0">
              <a:ea typeface="MS Mincho" pitchFamily="49" charset="-128"/>
              <a:cs typeface="Arial" charset="0"/>
            </a:endParaRPr>
          </a:p>
          <a:p>
            <a:r>
              <a:rPr lang="en-AU" altLang="en-US" sz="1600" i="1" dirty="0">
                <a:ea typeface="MS Mincho" pitchFamily="49" charset="-128"/>
                <a:cs typeface="Arial" charset="0"/>
              </a:rPr>
              <a:t>	compound interest</a:t>
            </a:r>
            <a:endParaRPr lang="en-US" altLang="en-US" sz="1600" dirty="0">
              <a:ea typeface="MS Mincho" pitchFamily="49" charset="-128"/>
              <a:cs typeface="Arial" charset="0"/>
            </a:endParaRPr>
          </a:p>
          <a:p>
            <a:r>
              <a:rPr lang="en-AU" altLang="en-US" sz="1600" i="1" dirty="0">
                <a:ea typeface="MS Mincho" pitchFamily="49" charset="-128"/>
                <a:cs typeface="Arial" charset="0"/>
              </a:rPr>
              <a:t>with 	N:    	6		</a:t>
            </a:r>
            <a:r>
              <a:rPr lang="en-AU" altLang="en-US" sz="1600" b="1" dirty="0">
                <a:ea typeface="MS Mincho" pitchFamily="49" charset="-128"/>
                <a:cs typeface="Arial" charset="0"/>
              </a:rPr>
              <a:t>N</a:t>
            </a:r>
            <a:r>
              <a:rPr lang="en-AU" altLang="en-US" sz="1600" dirty="0">
                <a:ea typeface="MS Mincho" pitchFamily="49" charset="-128"/>
                <a:cs typeface="Arial" charset="0"/>
              </a:rPr>
              <a:t>umber of interest periods</a:t>
            </a:r>
            <a:br>
              <a:rPr lang="en-AU" altLang="en-US" sz="1600" i="1" dirty="0">
                <a:ea typeface="MS Mincho" pitchFamily="49" charset="-128"/>
                <a:cs typeface="Arial" charset="0"/>
              </a:rPr>
            </a:br>
            <a:r>
              <a:rPr lang="en-AU" altLang="en-US" sz="1600" i="1" dirty="0">
                <a:ea typeface="MS Mincho" pitchFamily="49" charset="-128"/>
                <a:cs typeface="Arial" charset="0"/>
              </a:rPr>
              <a:t>		I%   	6		</a:t>
            </a:r>
            <a:r>
              <a:rPr lang="en-AU" altLang="en-US" sz="1600" b="1" dirty="0">
                <a:ea typeface="MS Mincho" pitchFamily="49" charset="-128"/>
                <a:cs typeface="Arial" charset="0"/>
              </a:rPr>
              <a:t>I</a:t>
            </a:r>
            <a:r>
              <a:rPr lang="en-AU" altLang="en-US" sz="1600" dirty="0">
                <a:ea typeface="MS Mincho" pitchFamily="49" charset="-128"/>
                <a:cs typeface="Arial" charset="0"/>
              </a:rPr>
              <a:t>nterest rate p.a.</a:t>
            </a:r>
            <a:endParaRPr lang="en-US" altLang="en-US" sz="1600" dirty="0">
              <a:ea typeface="MS Mincho" pitchFamily="49" charset="-128"/>
              <a:cs typeface="Arial" charset="0"/>
            </a:endParaRPr>
          </a:p>
          <a:p>
            <a:r>
              <a:rPr lang="en-AU" altLang="en-US" sz="1600" i="1" dirty="0">
                <a:ea typeface="MS Mincho" pitchFamily="49" charset="-128"/>
                <a:cs typeface="Arial" charset="0"/>
              </a:rPr>
              <a:t>		PV:  	10 000		</a:t>
            </a:r>
            <a:r>
              <a:rPr lang="en-AU" altLang="en-US" sz="1600" b="1" dirty="0">
                <a:ea typeface="MS Mincho" pitchFamily="49" charset="-128"/>
                <a:cs typeface="Arial" charset="0"/>
              </a:rPr>
              <a:t>P</a:t>
            </a:r>
            <a:r>
              <a:rPr lang="en-AU" altLang="en-US" sz="1600" dirty="0">
                <a:ea typeface="MS Mincho" pitchFamily="49" charset="-128"/>
                <a:cs typeface="Arial" charset="0"/>
              </a:rPr>
              <a:t>resent </a:t>
            </a:r>
            <a:r>
              <a:rPr lang="en-AU" altLang="en-US" sz="1600" b="1" dirty="0">
                <a:ea typeface="MS Mincho" pitchFamily="49" charset="-128"/>
                <a:cs typeface="Arial" charset="0"/>
              </a:rPr>
              <a:t>V</a:t>
            </a:r>
            <a:r>
              <a:rPr lang="en-AU" altLang="en-US" sz="1600" dirty="0">
                <a:ea typeface="MS Mincho" pitchFamily="49" charset="-128"/>
                <a:cs typeface="Arial" charset="0"/>
              </a:rPr>
              <a:t>alue = principal</a:t>
            </a:r>
            <a:endParaRPr lang="en-US" altLang="en-US" sz="1600" dirty="0">
              <a:ea typeface="MS Mincho" pitchFamily="49" charset="-128"/>
              <a:cs typeface="Arial" charset="0"/>
            </a:endParaRPr>
          </a:p>
          <a:p>
            <a:r>
              <a:rPr lang="en-AU" altLang="en-US" sz="1600" i="1" dirty="0">
                <a:ea typeface="MS Mincho" pitchFamily="49" charset="-128"/>
                <a:cs typeface="Arial" charset="0"/>
              </a:rPr>
              <a:t>		PMT:	500		</a:t>
            </a:r>
            <a:r>
              <a:rPr lang="en-AU" altLang="en-US" sz="1600" b="1" dirty="0" err="1">
                <a:ea typeface="MS Mincho" pitchFamily="49" charset="-128"/>
                <a:cs typeface="Arial" charset="0"/>
              </a:rPr>
              <a:t>P</a:t>
            </a:r>
            <a:r>
              <a:rPr lang="en-AU" altLang="en-US" sz="1600" dirty="0" err="1">
                <a:ea typeface="MS Mincho" pitchFamily="49" charset="-128"/>
                <a:cs typeface="Arial" charset="0"/>
              </a:rPr>
              <a:t>ay</a:t>
            </a:r>
            <a:r>
              <a:rPr lang="en-AU" altLang="en-US" sz="1600" b="1" dirty="0" err="1">
                <a:ea typeface="MS Mincho" pitchFamily="49" charset="-128"/>
                <a:cs typeface="Arial" charset="0"/>
              </a:rPr>
              <a:t>M</a:t>
            </a:r>
            <a:r>
              <a:rPr lang="en-AU" altLang="en-US" sz="1600" dirty="0" err="1">
                <a:ea typeface="MS Mincho" pitchFamily="49" charset="-128"/>
                <a:cs typeface="Arial" charset="0"/>
              </a:rPr>
              <a:t>en</a:t>
            </a:r>
            <a:r>
              <a:rPr lang="en-AU" altLang="en-US" sz="1600" b="1" dirty="0" err="1">
                <a:ea typeface="MS Mincho" pitchFamily="49" charset="-128"/>
                <a:cs typeface="Arial" charset="0"/>
              </a:rPr>
              <a:t>T</a:t>
            </a:r>
            <a:r>
              <a:rPr lang="en-AU" altLang="en-US" sz="1600" dirty="0">
                <a:ea typeface="MS Mincho" pitchFamily="49" charset="-128"/>
                <a:cs typeface="Arial" charset="0"/>
              </a:rPr>
              <a:t> = amount deposited each month</a:t>
            </a:r>
            <a:endParaRPr lang="en-US" altLang="en-US" sz="1600" dirty="0">
              <a:ea typeface="MS Mincho" pitchFamily="49" charset="-128"/>
              <a:cs typeface="Arial" charset="0"/>
            </a:endParaRPr>
          </a:p>
          <a:p>
            <a:r>
              <a:rPr lang="en-AU" altLang="en-US" sz="1600" i="1" dirty="0">
                <a:ea typeface="MS Mincho" pitchFamily="49" charset="-128"/>
                <a:cs typeface="Arial" charset="0"/>
              </a:rPr>
              <a:t>		FV:  			</a:t>
            </a:r>
            <a:r>
              <a:rPr lang="en-AU" altLang="en-US" sz="1600" b="1" dirty="0">
                <a:ea typeface="MS Mincho" pitchFamily="49" charset="-128"/>
                <a:cs typeface="Arial" charset="0"/>
              </a:rPr>
              <a:t>F</a:t>
            </a:r>
            <a:r>
              <a:rPr lang="en-AU" altLang="en-US" sz="1600" dirty="0">
                <a:ea typeface="MS Mincho" pitchFamily="49" charset="-128"/>
                <a:cs typeface="Arial" charset="0"/>
              </a:rPr>
              <a:t>uture </a:t>
            </a:r>
            <a:r>
              <a:rPr lang="en-AU" altLang="en-US" sz="1600" b="1" dirty="0">
                <a:ea typeface="MS Mincho" pitchFamily="49" charset="-128"/>
                <a:cs typeface="Arial" charset="0"/>
              </a:rPr>
              <a:t>V</a:t>
            </a:r>
            <a:r>
              <a:rPr lang="en-AU" altLang="en-US" sz="1600" dirty="0">
                <a:ea typeface="MS Mincho" pitchFamily="49" charset="-128"/>
                <a:cs typeface="Arial" charset="0"/>
              </a:rPr>
              <a:t>alue = final amount after 6 months</a:t>
            </a:r>
            <a:endParaRPr lang="en-US" altLang="en-US" sz="1600" dirty="0">
              <a:ea typeface="MS Mincho" pitchFamily="49" charset="-128"/>
              <a:cs typeface="Arial" charset="0"/>
            </a:endParaRPr>
          </a:p>
          <a:p>
            <a:r>
              <a:rPr lang="en-AU" altLang="en-US" sz="1600" i="1" dirty="0">
                <a:ea typeface="MS Mincho" pitchFamily="49" charset="-128"/>
                <a:cs typeface="Arial" charset="0"/>
              </a:rPr>
              <a:t>		P/Y: 	12		</a:t>
            </a:r>
            <a:r>
              <a:rPr lang="en-AU" altLang="en-US" sz="1600" dirty="0">
                <a:ea typeface="MS Mincho" pitchFamily="49" charset="-128"/>
                <a:cs typeface="Arial" charset="0"/>
              </a:rPr>
              <a:t>number of </a:t>
            </a:r>
            <a:r>
              <a:rPr lang="en-AU" altLang="en-US" sz="1600" b="1" dirty="0">
                <a:ea typeface="MS Mincho" pitchFamily="49" charset="-128"/>
                <a:cs typeface="Arial" charset="0"/>
              </a:rPr>
              <a:t>P</a:t>
            </a:r>
            <a:r>
              <a:rPr lang="en-AU" altLang="en-US" sz="1600" dirty="0">
                <a:ea typeface="MS Mincho" pitchFamily="49" charset="-128"/>
                <a:cs typeface="Arial" charset="0"/>
              </a:rPr>
              <a:t>ayments/</a:t>
            </a:r>
            <a:r>
              <a:rPr lang="en-AU" altLang="en-US" sz="1600" b="1" dirty="0">
                <a:ea typeface="MS Mincho" pitchFamily="49" charset="-128"/>
                <a:cs typeface="Arial" charset="0"/>
              </a:rPr>
              <a:t>Y</a:t>
            </a:r>
            <a:r>
              <a:rPr lang="en-AU" altLang="en-US" sz="1600" dirty="0">
                <a:ea typeface="MS Mincho" pitchFamily="49" charset="-128"/>
                <a:cs typeface="Arial" charset="0"/>
              </a:rPr>
              <a:t>ear</a:t>
            </a:r>
            <a:endParaRPr lang="en-US" altLang="en-US" sz="1600" dirty="0">
              <a:ea typeface="MS Mincho" pitchFamily="49" charset="-128"/>
              <a:cs typeface="Arial" charset="0"/>
            </a:endParaRPr>
          </a:p>
          <a:p>
            <a:r>
              <a:rPr lang="en-AU" altLang="en-US" sz="1600" i="1" dirty="0">
                <a:ea typeface="MS Mincho" pitchFamily="49" charset="-128"/>
                <a:cs typeface="Arial" charset="0"/>
              </a:rPr>
              <a:t>		C/Y: 	12		</a:t>
            </a:r>
            <a:r>
              <a:rPr lang="en-AU" altLang="en-US" sz="1600" dirty="0">
                <a:ea typeface="MS Mincho" pitchFamily="49" charset="-128"/>
                <a:cs typeface="Arial" charset="0"/>
              </a:rPr>
              <a:t>number of times interest is </a:t>
            </a:r>
            <a:r>
              <a:rPr lang="en-AU" altLang="en-US" sz="1600" b="1" dirty="0">
                <a:ea typeface="MS Mincho" pitchFamily="49" charset="-128"/>
                <a:cs typeface="Arial" charset="0"/>
              </a:rPr>
              <a:t>C</a:t>
            </a:r>
            <a:r>
              <a:rPr lang="en-AU" altLang="en-US" sz="1600" dirty="0">
                <a:ea typeface="MS Mincho" pitchFamily="49" charset="-128"/>
                <a:cs typeface="Arial" charset="0"/>
              </a:rPr>
              <a:t>ompounded/</a:t>
            </a:r>
            <a:r>
              <a:rPr lang="en-AU" altLang="en-US" sz="1600" b="1" dirty="0">
                <a:ea typeface="MS Mincho" pitchFamily="49" charset="-128"/>
                <a:cs typeface="Arial" charset="0"/>
              </a:rPr>
              <a:t>Y</a:t>
            </a:r>
            <a:r>
              <a:rPr lang="en-AU" altLang="en-US" sz="1600" dirty="0">
                <a:ea typeface="MS Mincho" pitchFamily="49" charset="-128"/>
                <a:cs typeface="Arial" charset="0"/>
              </a:rPr>
              <a:t>ear</a:t>
            </a:r>
          </a:p>
          <a:p>
            <a:endParaRPr lang="en-US" altLang="en-US" sz="1600" dirty="0">
              <a:ea typeface="MS Mincho" pitchFamily="49" charset="-128"/>
              <a:cs typeface="Arial" charset="0"/>
            </a:endParaRPr>
          </a:p>
          <a:p>
            <a:r>
              <a:rPr lang="en-AU" altLang="en-US" sz="1600" i="1" dirty="0">
                <a:ea typeface="MS Mincho" pitchFamily="49" charset="-128"/>
                <a:cs typeface="Arial" charset="0"/>
              </a:rPr>
              <a:t>Then tap on FV:		The calculator will show -13341.52603</a:t>
            </a:r>
            <a:br>
              <a:rPr lang="en-AU" altLang="en-US" sz="1600" dirty="0">
                <a:ea typeface="MS Mincho" pitchFamily="49" charset="-128"/>
                <a:cs typeface="Arial" charset="0"/>
              </a:rPr>
            </a:br>
            <a:r>
              <a:rPr lang="en-AU" altLang="en-US" sz="1600" dirty="0">
                <a:ea typeface="MS Mincho" pitchFamily="49" charset="-128"/>
                <a:cs typeface="Arial" charset="0"/>
              </a:rPr>
              <a:t>			This means the investment is now worth $13 341.53</a:t>
            </a:r>
          </a:p>
          <a:p>
            <a:endParaRPr lang="en-US" altLang="en-US" sz="1600" dirty="0">
              <a:ea typeface="MS Mincho" pitchFamily="49" charset="-128"/>
              <a:cs typeface="Arial" charset="0"/>
            </a:endParaRPr>
          </a:p>
          <a:p>
            <a:r>
              <a:rPr lang="en-AU" altLang="en-US" sz="1600" dirty="0">
                <a:ea typeface="MS Mincho" pitchFamily="49" charset="-128"/>
                <a:cs typeface="Arial" charset="0"/>
              </a:rPr>
              <a:t>Now find the final amount after 6 months in a similar investment account if Bruce invests $6 000 at 7.2% pa with monthly deposits of $400. Use both Sequences and Financial Apps</a:t>
            </a:r>
            <a:endParaRPr lang="en-US" altLang="en-US" sz="1600" dirty="0">
              <a:ea typeface="MS Mincho" pitchFamily="49" charset="-128"/>
              <a:cs typeface="Arial" charset="0"/>
            </a:endParaRPr>
          </a:p>
          <a:p>
            <a:r>
              <a:rPr lang="en-AU" altLang="en-US" sz="1600" dirty="0">
                <a:ea typeface="MS Mincho" pitchFamily="49" charset="-128"/>
                <a:cs typeface="Arial" charset="0"/>
              </a:rPr>
              <a:t>						[$8 655.56]</a:t>
            </a:r>
            <a:br>
              <a:rPr lang="en-AU" altLang="en-US" sz="1600" dirty="0">
                <a:ea typeface="MS Mincho" pitchFamily="49" charset="-128"/>
                <a:cs typeface="Arial" charset="0"/>
              </a:rPr>
            </a:br>
            <a:br>
              <a:rPr lang="en-AU" altLang="en-US" sz="1600" dirty="0">
                <a:ea typeface="MS Mincho" pitchFamily="49" charset="-128"/>
                <a:cs typeface="Arial" charset="0"/>
              </a:rPr>
            </a:br>
            <a:endParaRPr lang="en-US" altLang="en-US" sz="1600" dirty="0">
              <a:ea typeface="MS Mincho" pitchFamily="49" charset="-128"/>
              <a:cs typeface="Arial" charset="0"/>
            </a:endParaRPr>
          </a:p>
          <a:p>
            <a:r>
              <a:rPr lang="en-AU" altLang="en-US" sz="1600" dirty="0">
                <a:ea typeface="MS Mincho" pitchFamily="49" charset="-128"/>
                <a:cs typeface="Arial" charset="0"/>
              </a:rPr>
              <a:t>If you are doing a Reducible interest problem, put the payment in as a negative amount.</a:t>
            </a:r>
            <a:br>
              <a:rPr lang="en-AU" altLang="en-US" sz="1600" dirty="0">
                <a:ea typeface="MS Mincho" pitchFamily="49" charset="-128"/>
                <a:cs typeface="Arial" charset="0"/>
              </a:rPr>
            </a:br>
            <a:br>
              <a:rPr lang="en-AU" altLang="en-US" sz="1600" dirty="0">
                <a:ea typeface="MS Mincho" pitchFamily="49" charset="-128"/>
                <a:cs typeface="Arial" charset="0"/>
              </a:rPr>
            </a:br>
            <a:r>
              <a:rPr lang="en-AU" altLang="en-US" sz="1600" dirty="0">
                <a:ea typeface="MS Mincho" pitchFamily="49" charset="-128"/>
                <a:cs typeface="Arial" charset="0"/>
              </a:rPr>
              <a:t>If you wish to pay off a loan under reducible interest, put FV = 0 (meaning the loan is paid off)</a:t>
            </a:r>
            <a:br>
              <a:rPr lang="en-AU" altLang="en-US" sz="1600" dirty="0">
                <a:ea typeface="MS Mincho" pitchFamily="49" charset="-128"/>
                <a:cs typeface="Arial" charset="0"/>
              </a:rPr>
            </a:br>
            <a:r>
              <a:rPr lang="en-AU" altLang="en-US" sz="1600" dirty="0">
                <a:ea typeface="MS Mincho" pitchFamily="49" charset="-128"/>
                <a:cs typeface="Arial" charset="0"/>
              </a:rPr>
              <a:t>Then tap on PMT to find the amount of each payment to clear the loan in the given time.</a:t>
            </a:r>
          </a:p>
        </p:txBody>
      </p:sp>
    </p:spTree>
    <p:extLst>
      <p:ext uri="{BB962C8B-B14F-4D97-AF65-F5344CB8AC3E}">
        <p14:creationId xmlns:p14="http://schemas.microsoft.com/office/powerpoint/2010/main" val="90476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xEl>
                                              <p:pRg st="10" end="10"/>
                                            </p:txEl>
                                          </p:spTgt>
                                        </p:tgtEl>
                                        <p:attrNameLst>
                                          <p:attrName>style.visibility</p:attrName>
                                        </p:attrNameLst>
                                      </p:cBhvr>
                                      <p:to>
                                        <p:strVal val="visible"/>
                                      </p:to>
                                    </p:set>
                                    <p:anim calcmode="lin" valueType="num">
                                      <p:cBhvr additive="base">
                                        <p:cTn id="7" dur="500" fill="hold"/>
                                        <p:tgtEl>
                                          <p:spTgt spid="4098">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098">
                                            <p:txEl>
                                              <p:pRg st="12" end="12"/>
                                            </p:txEl>
                                          </p:spTgt>
                                        </p:tgtEl>
                                        <p:attrNameLst>
                                          <p:attrName>style.visibility</p:attrName>
                                        </p:attrNameLst>
                                      </p:cBhvr>
                                      <p:to>
                                        <p:strVal val="visible"/>
                                      </p:to>
                                    </p:set>
                                    <p:animEffect transition="in" filter="checkerboard(across)">
                                      <p:cBhvr>
                                        <p:cTn id="13" dur="500"/>
                                        <p:tgtEl>
                                          <p:spTgt spid="4098">
                                            <p:txEl>
                                              <p:pRg st="12" end="1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098">
                                            <p:txEl>
                                              <p:pRg st="13" end="13"/>
                                            </p:txEl>
                                          </p:spTgt>
                                        </p:tgtEl>
                                        <p:attrNameLst>
                                          <p:attrName>style.visibility</p:attrName>
                                        </p:attrNameLst>
                                      </p:cBhvr>
                                      <p:to>
                                        <p:strVal val="visible"/>
                                      </p:to>
                                    </p:set>
                                    <p:animEffect transition="in" filter="dissolve">
                                      <p:cBhvr>
                                        <p:cTn id="18" dur="500"/>
                                        <p:tgtEl>
                                          <p:spTgt spid="4098">
                                            <p:txEl>
                                              <p:pRg st="13" end="1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098">
                                            <p:txEl>
                                              <p:pRg st="14" end="14"/>
                                            </p:txEl>
                                          </p:spTgt>
                                        </p:tgtEl>
                                        <p:attrNameLst>
                                          <p:attrName>style.visibility</p:attrName>
                                        </p:attrNameLst>
                                      </p:cBhvr>
                                      <p:to>
                                        <p:strVal val="visible"/>
                                      </p:to>
                                    </p:set>
                                    <p:anim calcmode="lin" valueType="num">
                                      <p:cBhvr additive="base">
                                        <p:cTn id="23" dur="500" fill="hold"/>
                                        <p:tgtEl>
                                          <p:spTgt spid="4098">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098">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3C817DE-B0C5-4538-B186-FC2FA75AA8D6}"/>
                  </a:ext>
                </a:extLst>
              </p:cNvPr>
              <p:cNvSpPr txBox="1"/>
              <p:nvPr/>
            </p:nvSpPr>
            <p:spPr>
              <a:xfrm>
                <a:off x="35169" y="381000"/>
                <a:ext cx="8763000" cy="1592039"/>
              </a:xfrm>
              <a:prstGeom prst="rect">
                <a:avLst/>
              </a:prstGeom>
              <a:noFill/>
            </p:spPr>
            <p:txBody>
              <a:bodyPr wrap="square" rtlCol="0">
                <a:spAutoFit/>
              </a:bodyPr>
              <a:lstStyle/>
              <a:p>
                <a:r>
                  <a:rPr lang="en-AU" dirty="0"/>
                  <a:t>This can also be done using the Sequence App on your CAS calculator.</a:t>
                </a:r>
              </a:p>
              <a:p>
                <a:endParaRPr lang="en-AU" dirty="0"/>
              </a:p>
              <a:p>
                <a:r>
                  <a:rPr lang="en-AU" dirty="0"/>
                  <a:t>Using the second example from the previous page, Bruce’s 7.2% interest becomes </a:t>
                </a:r>
                <a14:m>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0.072</m:t>
                        </m:r>
                      </m:num>
                      <m:den>
                        <m:r>
                          <a:rPr lang="en-AU" b="0" i="1" smtClean="0">
                            <a:latin typeface="Cambria Math" panose="02040503050406030204" pitchFamily="18" charset="0"/>
                          </a:rPr>
                          <m:t>12</m:t>
                        </m:r>
                      </m:den>
                    </m:f>
                    <m:r>
                      <a:rPr lang="en-AU" b="0" i="1" smtClean="0">
                        <a:latin typeface="Cambria Math" panose="02040503050406030204" pitchFamily="18" charset="0"/>
                      </a:rPr>
                      <m:t>=0.006 </m:t>
                    </m:r>
                    <m:r>
                      <a:rPr lang="en-AU" b="0" i="1" smtClean="0">
                        <a:latin typeface="Cambria Math" panose="02040503050406030204" pitchFamily="18" charset="0"/>
                      </a:rPr>
                      <m:t>𝑝𝑒𝑟</m:t>
                    </m:r>
                    <m:r>
                      <a:rPr lang="en-AU" b="0" i="1" smtClean="0">
                        <a:latin typeface="Cambria Math" panose="02040503050406030204" pitchFamily="18" charset="0"/>
                      </a:rPr>
                      <m:t> </m:t>
                    </m:r>
                    <m:r>
                      <a:rPr lang="en-AU" b="0" i="1" smtClean="0">
                        <a:latin typeface="Cambria Math" panose="02040503050406030204" pitchFamily="18" charset="0"/>
                      </a:rPr>
                      <m:t>𝑚𝑜𝑛𝑡h</m:t>
                    </m:r>
                    <m:r>
                      <a:rPr lang="en-AU" b="0" i="1" smtClean="0">
                        <a:latin typeface="Cambria Math" panose="02040503050406030204" pitchFamily="18" charset="0"/>
                      </a:rPr>
                      <m:t> </m:t>
                    </m:r>
                    <m:r>
                      <a:rPr lang="en-AU" b="0" i="1" smtClean="0">
                        <a:latin typeface="Cambria Math" panose="02040503050406030204" pitchFamily="18" charset="0"/>
                      </a:rPr>
                      <m:t>𝑎𝑠</m:t>
                    </m:r>
                    <m:r>
                      <a:rPr lang="en-AU" b="0" i="1" smtClean="0">
                        <a:latin typeface="Cambria Math" panose="02040503050406030204" pitchFamily="18" charset="0"/>
                      </a:rPr>
                      <m:t> </m:t>
                    </m:r>
                    <m:r>
                      <a:rPr lang="en-AU" b="0" i="1" smtClean="0">
                        <a:latin typeface="Cambria Math" panose="02040503050406030204" pitchFamily="18" charset="0"/>
                      </a:rPr>
                      <m:t>𝑎</m:t>
                    </m:r>
                    <m:r>
                      <a:rPr lang="en-AU" b="0" i="1" smtClean="0">
                        <a:latin typeface="Cambria Math" panose="02040503050406030204" pitchFamily="18" charset="0"/>
                      </a:rPr>
                      <m:t> </m:t>
                    </m:r>
                    <m:r>
                      <a:rPr lang="en-AU" b="0" i="1" smtClean="0">
                        <a:latin typeface="Cambria Math" panose="02040503050406030204" pitchFamily="18" charset="0"/>
                      </a:rPr>
                      <m:t>𝑑𝑒𝑐𝑖𝑚𝑎𝑙</m:t>
                    </m:r>
                    <m:r>
                      <a:rPr lang="en-AU" b="0" i="1" smtClean="0">
                        <a:latin typeface="Cambria Math" panose="02040503050406030204" pitchFamily="18" charset="0"/>
                      </a:rPr>
                      <m:t>.</m:t>
                    </m:r>
                  </m:oMath>
                </a14:m>
                <a:endParaRPr lang="en-AU" b="0" dirty="0"/>
              </a:p>
              <a:p>
                <a:endParaRPr lang="en-AU" dirty="0"/>
              </a:p>
            </p:txBody>
          </p:sp>
        </mc:Choice>
        <mc:Fallback xmlns="">
          <p:sp>
            <p:nvSpPr>
              <p:cNvPr id="4" name="TextBox 3">
                <a:extLst>
                  <a:ext uri="{FF2B5EF4-FFF2-40B4-BE49-F238E27FC236}">
                    <a16:creationId xmlns:a16="http://schemas.microsoft.com/office/drawing/2014/main" id="{03C817DE-B0C5-4538-B186-FC2FA75AA8D6}"/>
                  </a:ext>
                </a:extLst>
              </p:cNvPr>
              <p:cNvSpPr txBox="1">
                <a:spLocks noRot="1" noChangeAspect="1" noMove="1" noResize="1" noEditPoints="1" noAdjustHandles="1" noChangeArrowheads="1" noChangeShapeType="1" noTextEdit="1"/>
              </p:cNvSpPr>
              <p:nvPr/>
            </p:nvSpPr>
            <p:spPr>
              <a:xfrm>
                <a:off x="35169" y="381000"/>
                <a:ext cx="8763000" cy="1592039"/>
              </a:xfrm>
              <a:prstGeom prst="rect">
                <a:avLst/>
              </a:prstGeom>
              <a:blipFill>
                <a:blip r:embed="rId2"/>
                <a:stretch>
                  <a:fillRect l="-626" t="-2299"/>
                </a:stretch>
              </a:blipFill>
            </p:spPr>
            <p:txBody>
              <a:bodyPr/>
              <a:lstStyle/>
              <a:p>
                <a:r>
                  <a:rPr lang="en-AU">
                    <a:noFill/>
                  </a:rPr>
                  <a:t> </a:t>
                </a:r>
              </a:p>
            </p:txBody>
          </p:sp>
        </mc:Fallback>
      </mc:AlternateContent>
      <p:sp>
        <p:nvSpPr>
          <p:cNvPr id="3" name="TextBox 2">
            <a:extLst>
              <a:ext uri="{FF2B5EF4-FFF2-40B4-BE49-F238E27FC236}">
                <a16:creationId xmlns:a16="http://schemas.microsoft.com/office/drawing/2014/main" id="{C7D72F2F-0EF0-40E2-BDFB-989C6A1C4B29}"/>
              </a:ext>
            </a:extLst>
          </p:cNvPr>
          <p:cNvSpPr txBox="1"/>
          <p:nvPr/>
        </p:nvSpPr>
        <p:spPr>
          <a:xfrm>
            <a:off x="35169" y="2123327"/>
            <a:ext cx="4876800" cy="3970318"/>
          </a:xfrm>
          <a:prstGeom prst="rect">
            <a:avLst/>
          </a:prstGeom>
          <a:noFill/>
        </p:spPr>
        <p:txBody>
          <a:bodyPr wrap="square" rtlCol="0">
            <a:spAutoFit/>
          </a:bodyPr>
          <a:lstStyle/>
          <a:p>
            <a:r>
              <a:rPr lang="en-AU" dirty="0"/>
              <a:t>Don’t forget to set it up to use the a</a:t>
            </a:r>
            <a:r>
              <a:rPr lang="en-AU" baseline="-25000" dirty="0"/>
              <a:t>0</a:t>
            </a:r>
            <a:r>
              <a:rPr lang="en-AU" dirty="0"/>
              <a:t> as 6000 and then you will have n=6 as the 6</a:t>
            </a:r>
            <a:r>
              <a:rPr lang="en-AU" baseline="30000" dirty="0"/>
              <a:t>th</a:t>
            </a:r>
            <a:r>
              <a:rPr lang="en-AU" dirty="0"/>
              <a:t> month</a:t>
            </a:r>
          </a:p>
          <a:p>
            <a:endParaRPr lang="en-AU" dirty="0"/>
          </a:p>
          <a:p>
            <a:r>
              <a:rPr lang="en-AU" dirty="0"/>
              <a:t>This gives the same answer as the previous page but rounded to $8655.60.</a:t>
            </a:r>
          </a:p>
          <a:p>
            <a:r>
              <a:rPr lang="en-AU" dirty="0"/>
              <a:t>If you want the more accurate answer highlight term 6 and look at the answer on the line below.</a:t>
            </a:r>
          </a:p>
          <a:p>
            <a:endParaRPr lang="en-AU" dirty="0"/>
          </a:p>
          <a:p>
            <a:r>
              <a:rPr lang="en-AU" dirty="0"/>
              <a:t>This gives $8655.56</a:t>
            </a:r>
          </a:p>
          <a:p>
            <a:r>
              <a:rPr lang="en-AU" dirty="0"/>
              <a:t>Rounded to 2dp – nearest cent.</a:t>
            </a:r>
          </a:p>
          <a:p>
            <a:endParaRPr lang="en-AU" dirty="0"/>
          </a:p>
          <a:p>
            <a:endParaRPr lang="en-AU" dirty="0"/>
          </a:p>
          <a:p>
            <a:r>
              <a:rPr lang="en-AU" altLang="en-US" dirty="0">
                <a:ea typeface="MS Mincho" pitchFamily="49" charset="-128"/>
                <a:cs typeface="Arial" charset="0"/>
              </a:rPr>
              <a:t>Now do exercise 3C page 75.</a:t>
            </a:r>
            <a:endParaRPr lang="en-AU" dirty="0"/>
          </a:p>
        </p:txBody>
      </p:sp>
      <p:pic>
        <p:nvPicPr>
          <p:cNvPr id="5" name="Picture 4">
            <a:extLst>
              <a:ext uri="{FF2B5EF4-FFF2-40B4-BE49-F238E27FC236}">
                <a16:creationId xmlns:a16="http://schemas.microsoft.com/office/drawing/2014/main" id="{B493D29D-4BAA-4682-821C-A6EC9D14692D}"/>
              </a:ext>
            </a:extLst>
          </p:cNvPr>
          <p:cNvPicPr>
            <a:picLocks noChangeAspect="1"/>
          </p:cNvPicPr>
          <p:nvPr/>
        </p:nvPicPr>
        <p:blipFill rotWithShape="1">
          <a:blip r:embed="rId3"/>
          <a:srcRect l="12499" t="1088" r="60834" b="26254"/>
          <a:stretch/>
        </p:blipFill>
        <p:spPr>
          <a:xfrm>
            <a:off x="5105400" y="1600200"/>
            <a:ext cx="3233208" cy="4953000"/>
          </a:xfrm>
          <a:prstGeom prst="rect">
            <a:avLst/>
          </a:prstGeom>
        </p:spPr>
      </p:pic>
      <p:cxnSp>
        <p:nvCxnSpPr>
          <p:cNvPr id="7" name="Straight Arrow Connector 6">
            <a:extLst>
              <a:ext uri="{FF2B5EF4-FFF2-40B4-BE49-F238E27FC236}">
                <a16:creationId xmlns:a16="http://schemas.microsoft.com/office/drawing/2014/main" id="{5F891141-C125-4C0C-84E6-1DEE4537C71A}"/>
              </a:ext>
            </a:extLst>
          </p:cNvPr>
          <p:cNvCxnSpPr>
            <a:cxnSpLocks/>
          </p:cNvCxnSpPr>
          <p:nvPr/>
        </p:nvCxnSpPr>
        <p:spPr>
          <a:xfrm>
            <a:off x="2362200" y="4191000"/>
            <a:ext cx="2743200" cy="220980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9058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3287" y="2106179"/>
            <a:ext cx="3837214" cy="1815882"/>
          </a:xfrm>
          <a:prstGeom prst="rect">
            <a:avLst/>
          </a:prstGeom>
        </p:spPr>
        <p:txBody>
          <a:bodyPr wrap="square">
            <a:spAutoFit/>
          </a:bodyPr>
          <a:lstStyle/>
          <a:p>
            <a:br>
              <a:rPr lang="en-AU" altLang="en-US" sz="1600" dirty="0">
                <a:ea typeface="Times New Roman" pitchFamily="18" charset="0"/>
                <a:cs typeface="Arial" charset="0"/>
              </a:rPr>
            </a:br>
            <a:br>
              <a:rPr lang="en-AU" altLang="en-US" sz="1600" dirty="0">
                <a:ea typeface="Times New Roman" pitchFamily="18" charset="0"/>
                <a:cs typeface="Arial" charset="0"/>
              </a:rPr>
            </a:br>
            <a:r>
              <a:rPr lang="en-AU" altLang="en-US" sz="1600" dirty="0">
                <a:ea typeface="Times New Roman" pitchFamily="18" charset="0"/>
                <a:cs typeface="Arial" charset="0"/>
              </a:rPr>
              <a:t>Solution	100% - 10% = 90% = 0.9</a:t>
            </a:r>
            <a:br>
              <a:rPr lang="en-AU" altLang="en-US" sz="1600" dirty="0">
                <a:ea typeface="Times New Roman" pitchFamily="18" charset="0"/>
                <a:cs typeface="Arial" charset="0"/>
              </a:rPr>
            </a:br>
            <a:r>
              <a:rPr lang="en-AU" altLang="en-US" sz="1600" dirty="0">
                <a:ea typeface="Times New Roman" pitchFamily="18" charset="0"/>
                <a:cs typeface="Arial" charset="0"/>
              </a:rPr>
              <a:t>(a) Value = $25 000 × 0.9 = $22 500</a:t>
            </a:r>
            <a:br>
              <a:rPr lang="en-AU" altLang="en-US" sz="1600" dirty="0">
                <a:ea typeface="Times New Roman" pitchFamily="18" charset="0"/>
                <a:cs typeface="Arial" charset="0"/>
              </a:rPr>
            </a:br>
            <a:r>
              <a:rPr lang="en-AU" altLang="en-US" sz="1600" dirty="0">
                <a:ea typeface="Times New Roman" pitchFamily="18" charset="0"/>
                <a:cs typeface="Arial" charset="0"/>
              </a:rPr>
              <a:t>(b) Value = $25 000 × 0.9</a:t>
            </a:r>
            <a:r>
              <a:rPr lang="en-AU" altLang="en-US" sz="1600" baseline="30000" dirty="0">
                <a:ea typeface="Times New Roman" pitchFamily="18" charset="0"/>
                <a:cs typeface="Arial" charset="0"/>
              </a:rPr>
              <a:t>3</a:t>
            </a:r>
            <a:r>
              <a:rPr lang="en-AU" altLang="en-US" sz="1600" dirty="0">
                <a:ea typeface="Times New Roman" pitchFamily="18" charset="0"/>
                <a:cs typeface="Arial" charset="0"/>
              </a:rPr>
              <a:t> = $18 225</a:t>
            </a:r>
            <a:br>
              <a:rPr lang="en-AU" altLang="en-US" sz="1600" dirty="0">
                <a:ea typeface="Times New Roman" pitchFamily="18" charset="0"/>
                <a:cs typeface="Arial" charset="0"/>
              </a:rPr>
            </a:br>
            <a:r>
              <a:rPr lang="en-AU" altLang="en-US" sz="1600" dirty="0">
                <a:ea typeface="Times New Roman" pitchFamily="18" charset="0"/>
                <a:cs typeface="Arial" charset="0"/>
              </a:rPr>
              <a:t>(c) Value = $25 000 × 0.9</a:t>
            </a:r>
            <a:r>
              <a:rPr lang="en-AU" altLang="en-US" sz="1600" baseline="30000" dirty="0">
                <a:ea typeface="Times New Roman" pitchFamily="18" charset="0"/>
                <a:cs typeface="Arial" charset="0"/>
              </a:rPr>
              <a:t>10</a:t>
            </a:r>
            <a:r>
              <a:rPr lang="en-AU" altLang="en-US" sz="1600" dirty="0">
                <a:ea typeface="Times New Roman" pitchFamily="18" charset="0"/>
                <a:cs typeface="Arial" charset="0"/>
              </a:rPr>
              <a:t> ≈ $8 717</a:t>
            </a:r>
            <a:endParaRPr lang="en-US" altLang="en-US" sz="1600" dirty="0">
              <a:ea typeface="Times New Roman" pitchFamily="18" charset="0"/>
              <a:cs typeface="Arial" charset="0"/>
            </a:endParaRPr>
          </a:p>
          <a:p>
            <a:r>
              <a:rPr lang="en-AU" altLang="en-US" sz="1600" dirty="0">
                <a:ea typeface="Times New Roman" pitchFamily="18" charset="0"/>
                <a:cs typeface="Arial" charset="0"/>
              </a:rPr>
              <a:t>(d) Value = $25 000 × 0.9</a:t>
            </a:r>
            <a:r>
              <a:rPr lang="en-AU" altLang="en-US" sz="1600" baseline="30000" dirty="0">
                <a:ea typeface="Times New Roman" pitchFamily="18" charset="0"/>
                <a:cs typeface="Arial" charset="0"/>
              </a:rPr>
              <a:t>n</a:t>
            </a:r>
            <a:endParaRPr lang="en-AU" altLang="en-US" sz="1600" dirty="0">
              <a:ea typeface="Times New Roman" pitchFamily="18" charset="0"/>
              <a:cs typeface="Arial" charset="0"/>
            </a:endParaRPr>
          </a:p>
        </p:txBody>
      </p:sp>
      <p:pic>
        <p:nvPicPr>
          <p:cNvPr id="6" name="Picture 5"/>
          <p:cNvPicPr/>
          <p:nvPr/>
        </p:nvPicPr>
        <p:blipFill rotWithShape="1">
          <a:blip r:embed="rId2"/>
          <a:srcRect l="11818" t="4474" r="76119" b="38305"/>
          <a:stretch/>
        </p:blipFill>
        <p:spPr bwMode="auto">
          <a:xfrm>
            <a:off x="6634933" y="1278511"/>
            <a:ext cx="2182495" cy="3898900"/>
          </a:xfrm>
          <a:prstGeom prst="rect">
            <a:avLst/>
          </a:prstGeom>
          <a:ln>
            <a:noFill/>
          </a:ln>
          <a:extLst>
            <a:ext uri="{53640926-AAD7-44D8-BBD7-CCE9431645EC}">
              <a14:shadowObscured xmlns:a14="http://schemas.microsoft.com/office/drawing/2010/main"/>
            </a:ext>
          </a:extLst>
        </p:spPr>
      </p:pic>
      <p:pic>
        <p:nvPicPr>
          <p:cNvPr id="7" name="Picture 6"/>
          <p:cNvPicPr/>
          <p:nvPr/>
        </p:nvPicPr>
        <p:blipFill rotWithShape="1">
          <a:blip r:embed="rId3"/>
          <a:srcRect l="11822" t="4618" r="76013" b="53699"/>
          <a:stretch/>
        </p:blipFill>
        <p:spPr bwMode="auto">
          <a:xfrm>
            <a:off x="3970610" y="2929353"/>
            <a:ext cx="2209800" cy="3327400"/>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521179" y="4481722"/>
            <a:ext cx="2285999" cy="1384995"/>
          </a:xfrm>
          <a:prstGeom prst="rect">
            <a:avLst/>
          </a:prstGeom>
          <a:noFill/>
          <a:ln>
            <a:solidFill>
              <a:schemeClr val="tx1">
                <a:lumMod val="50000"/>
                <a:lumOff val="50000"/>
              </a:schemeClr>
            </a:solidFill>
          </a:ln>
        </p:spPr>
        <p:txBody>
          <a:bodyPr wrap="square" rtlCol="0">
            <a:spAutoFit/>
          </a:bodyPr>
          <a:lstStyle/>
          <a:p>
            <a:r>
              <a:rPr lang="en-AU" sz="1400" dirty="0"/>
              <a:t>Using the Financial Maths App for 3 years – put the info in and press FV (Future Value).</a:t>
            </a:r>
          </a:p>
          <a:p>
            <a:r>
              <a:rPr lang="en-AU" sz="1400" dirty="0"/>
              <a:t>Note the interest is -10% as it is depreciating.</a:t>
            </a:r>
          </a:p>
        </p:txBody>
      </p:sp>
      <p:sp>
        <p:nvSpPr>
          <p:cNvPr id="8" name="TextBox 7"/>
          <p:cNvSpPr txBox="1"/>
          <p:nvPr/>
        </p:nvSpPr>
        <p:spPr>
          <a:xfrm>
            <a:off x="3932509" y="1383071"/>
            <a:ext cx="1943101" cy="1169551"/>
          </a:xfrm>
          <a:prstGeom prst="rect">
            <a:avLst/>
          </a:prstGeom>
          <a:noFill/>
          <a:ln>
            <a:solidFill>
              <a:schemeClr val="tx1">
                <a:lumMod val="50000"/>
                <a:lumOff val="50000"/>
              </a:schemeClr>
            </a:solidFill>
          </a:ln>
        </p:spPr>
        <p:txBody>
          <a:bodyPr wrap="square" rtlCol="0">
            <a:spAutoFit/>
          </a:bodyPr>
          <a:lstStyle/>
          <a:p>
            <a:r>
              <a:rPr lang="en-AU" sz="1400" dirty="0"/>
              <a:t>Using the Sequence App for 3 years – don’t forget to use the a</a:t>
            </a:r>
            <a:r>
              <a:rPr lang="en-AU" sz="1400" baseline="-25000" dirty="0"/>
              <a:t>0</a:t>
            </a:r>
            <a:r>
              <a:rPr lang="en-AU" sz="1400" dirty="0"/>
              <a:t> one so that it is n = 3 for the third year.</a:t>
            </a:r>
          </a:p>
        </p:txBody>
      </p:sp>
      <p:cxnSp>
        <p:nvCxnSpPr>
          <p:cNvPr id="10" name="Straight Arrow Connector 9"/>
          <p:cNvCxnSpPr>
            <a:cxnSpLocks/>
          </p:cNvCxnSpPr>
          <p:nvPr/>
        </p:nvCxnSpPr>
        <p:spPr>
          <a:xfrm>
            <a:off x="5897381" y="2106179"/>
            <a:ext cx="737552" cy="51846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V="1">
            <a:off x="2807178" y="5112097"/>
            <a:ext cx="1125331" cy="124246"/>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7CE05E3-EC6C-A24C-8E20-6C0D6B485656}"/>
              </a:ext>
            </a:extLst>
          </p:cNvPr>
          <p:cNvSpPr txBox="1"/>
          <p:nvPr/>
        </p:nvSpPr>
        <p:spPr>
          <a:xfrm>
            <a:off x="138748" y="214958"/>
            <a:ext cx="8382000" cy="1200329"/>
          </a:xfrm>
          <a:prstGeom prst="rect">
            <a:avLst/>
          </a:prstGeom>
          <a:noFill/>
        </p:spPr>
        <p:txBody>
          <a:bodyPr wrap="square" rtlCol="0">
            <a:spAutoFit/>
          </a:bodyPr>
          <a:lstStyle/>
          <a:p>
            <a:r>
              <a:rPr lang="en-AU" altLang="en-US" b="1" u="sng" dirty="0">
                <a:ea typeface="Times New Roman" pitchFamily="18" charset="0"/>
                <a:cs typeface="Arial" charset="0"/>
              </a:rPr>
              <a:t>DEPRECIATION</a:t>
            </a:r>
            <a:br>
              <a:rPr lang="en-AU" altLang="en-US" dirty="0">
                <a:ea typeface="Times New Roman" pitchFamily="18" charset="0"/>
                <a:cs typeface="Arial" charset="0"/>
              </a:rPr>
            </a:br>
            <a:r>
              <a:rPr lang="en-AU" altLang="en-US" dirty="0">
                <a:ea typeface="Times New Roman" pitchFamily="18" charset="0"/>
                <a:cs typeface="Arial" charset="0"/>
              </a:rPr>
              <a:t>Depreciation is where an item loses value over a period of time</a:t>
            </a:r>
            <a:br>
              <a:rPr lang="en-AU" altLang="en-US" dirty="0">
                <a:ea typeface="Times New Roman" pitchFamily="18" charset="0"/>
                <a:cs typeface="Arial" charset="0"/>
              </a:rPr>
            </a:br>
            <a:r>
              <a:rPr lang="en-AU" altLang="en-US" dirty="0">
                <a:ea typeface="Times New Roman" pitchFamily="18" charset="0"/>
                <a:cs typeface="Arial" charset="0"/>
              </a:rPr>
              <a:t>Ex. A car is bought for $25 000 and loses 10% of its value each year. </a:t>
            </a:r>
          </a:p>
          <a:p>
            <a:r>
              <a:rPr lang="en-AU" altLang="en-US" dirty="0">
                <a:ea typeface="Times New Roman" pitchFamily="18" charset="0"/>
                <a:cs typeface="Arial" charset="0"/>
              </a:rPr>
              <a:t>What is its value after</a:t>
            </a:r>
            <a:endParaRPr lang="en-US" dirty="0"/>
          </a:p>
        </p:txBody>
      </p:sp>
      <p:sp>
        <p:nvSpPr>
          <p:cNvPr id="3" name="TextBox 2">
            <a:extLst>
              <a:ext uri="{FF2B5EF4-FFF2-40B4-BE49-F238E27FC236}">
                <a16:creationId xmlns:a16="http://schemas.microsoft.com/office/drawing/2014/main" id="{8EA884AF-AF16-AF47-9FC3-8ED078DA9A31}"/>
              </a:ext>
            </a:extLst>
          </p:cNvPr>
          <p:cNvSpPr txBox="1"/>
          <p:nvPr/>
        </p:nvSpPr>
        <p:spPr>
          <a:xfrm>
            <a:off x="138748" y="1320076"/>
            <a:ext cx="3581400" cy="1200329"/>
          </a:xfrm>
          <a:prstGeom prst="rect">
            <a:avLst/>
          </a:prstGeom>
          <a:noFill/>
        </p:spPr>
        <p:txBody>
          <a:bodyPr wrap="square" rtlCol="0">
            <a:spAutoFit/>
          </a:bodyPr>
          <a:lstStyle/>
          <a:p>
            <a:r>
              <a:rPr lang="en-AU" altLang="en-US" dirty="0">
                <a:ea typeface="Times New Roman" pitchFamily="18" charset="0"/>
                <a:cs typeface="Arial" charset="0"/>
              </a:rPr>
              <a:t>(a) 1 year?</a:t>
            </a:r>
            <a:br>
              <a:rPr lang="en-AU" altLang="en-US" dirty="0">
                <a:ea typeface="Times New Roman" pitchFamily="18" charset="0"/>
                <a:cs typeface="Arial" charset="0"/>
              </a:rPr>
            </a:br>
            <a:r>
              <a:rPr lang="en-AU" altLang="en-US" dirty="0">
                <a:ea typeface="Times New Roman" pitchFamily="18" charset="0"/>
                <a:cs typeface="Arial" charset="0"/>
              </a:rPr>
              <a:t>(b) 3 years?</a:t>
            </a:r>
            <a:br>
              <a:rPr lang="en-AU" altLang="en-US" dirty="0">
                <a:ea typeface="Times New Roman" pitchFamily="18" charset="0"/>
                <a:cs typeface="Arial" charset="0"/>
              </a:rPr>
            </a:br>
            <a:r>
              <a:rPr lang="en-AU" altLang="en-US" dirty="0">
                <a:ea typeface="Times New Roman" pitchFamily="18" charset="0"/>
                <a:cs typeface="Arial" charset="0"/>
              </a:rPr>
              <a:t>(c) 10 years?</a:t>
            </a:r>
            <a:endParaRPr lang="en-US" altLang="en-US" dirty="0">
              <a:ea typeface="Times New Roman" pitchFamily="18" charset="0"/>
              <a:cs typeface="Arial" charset="0"/>
            </a:endParaRPr>
          </a:p>
          <a:p>
            <a:r>
              <a:rPr lang="en-AU" altLang="en-US" dirty="0">
                <a:ea typeface="Times New Roman" pitchFamily="18" charset="0"/>
                <a:cs typeface="Arial" charset="0"/>
              </a:rPr>
              <a:t>(d) n years?</a:t>
            </a:r>
            <a:endParaRPr lang="en-US" dirty="0"/>
          </a:p>
        </p:txBody>
      </p:sp>
    </p:spTree>
    <p:extLst>
      <p:ext uri="{BB962C8B-B14F-4D97-AF65-F5344CB8AC3E}">
        <p14:creationId xmlns:p14="http://schemas.microsoft.com/office/powerpoint/2010/main" val="79211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checkerboard(across)">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3" presetClass="entr" presetSubtype="1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8" grpId="0" animBg="1"/>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ChangeArrowheads="1"/>
          </p:cNvSpPr>
          <p:nvPr/>
        </p:nvSpPr>
        <p:spPr bwMode="auto">
          <a:xfrm>
            <a:off x="0" y="457200"/>
            <a:ext cx="9144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u="sng" dirty="0">
                <a:ea typeface="MS Mincho" pitchFamily="49" charset="-128"/>
                <a:cs typeface="Arial" charset="0"/>
              </a:rPr>
              <a:t>REDUCIBLE INTEREST or LOANS WITH REGULAR PAYMENTS</a:t>
            </a:r>
            <a:endParaRPr lang="en-US" altLang="en-US" sz="1600" u="sng" dirty="0">
              <a:ea typeface="MS Mincho" pitchFamily="49" charset="-128"/>
              <a:cs typeface="Arial" charset="0"/>
            </a:endParaRPr>
          </a:p>
          <a:p>
            <a:r>
              <a:rPr lang="en-AU" altLang="en-US" sz="1600" dirty="0">
                <a:ea typeface="MS Mincho" pitchFamily="49" charset="-128"/>
                <a:cs typeface="Arial" charset="0"/>
              </a:rPr>
              <a:t>With reducible interest, the amount of interest you pay from one time period to the next decreases (reduces) because you make payments off the loan which decreases the amount you owe. If you owe less, then you pay less interest.</a:t>
            </a:r>
            <a:endParaRPr lang="en-US" altLang="en-US" sz="1600" dirty="0">
              <a:ea typeface="MS Mincho" pitchFamily="49" charset="-128"/>
              <a:cs typeface="Arial" charset="0"/>
            </a:endParaRPr>
          </a:p>
          <a:p>
            <a:r>
              <a:rPr lang="en-AU" altLang="en-US" sz="1600" dirty="0">
                <a:ea typeface="MS Mincho" pitchFamily="49" charset="-128"/>
                <a:cs typeface="Arial" charset="0"/>
              </a:rPr>
              <a:t>Example 1.	A couple take out a personal loan of $6 000 at 10% reducible interest, calculated annually. They make repayments of $150 per month. How much will they still owe on the completion of three years?</a:t>
            </a:r>
            <a:endParaRPr lang="en-US" altLang="en-US" sz="1600" dirty="0">
              <a:ea typeface="MS Mincho" pitchFamily="49" charset="-128"/>
              <a:cs typeface="Arial" charset="0"/>
            </a:endParaRPr>
          </a:p>
          <a:p>
            <a:r>
              <a:rPr lang="en-AU" altLang="en-US" sz="1600" dirty="0">
                <a:ea typeface="MS Mincho" pitchFamily="49" charset="-128"/>
                <a:cs typeface="Arial" charset="0"/>
              </a:rPr>
              <a:t>Solution	</a:t>
            </a:r>
            <a:endParaRPr lang="en-US" altLang="en-US" sz="1600" dirty="0">
              <a:ea typeface="MS Mincho" pitchFamily="49" charset="-128"/>
              <a:cs typeface="Arial" charset="0"/>
            </a:endParaRPr>
          </a:p>
          <a:p>
            <a:r>
              <a:rPr lang="en-AU" altLang="en-US" sz="1600" dirty="0">
                <a:ea typeface="MS Mincho" pitchFamily="49" charset="-128"/>
                <a:cs typeface="Arial" charset="0"/>
              </a:rPr>
              <a:t>Principal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 	 	= $6 000	(amount borrowed)</a:t>
            </a:r>
            <a:endParaRPr lang="en-US" altLang="en-US" sz="1600" dirty="0">
              <a:ea typeface="MS Mincho" pitchFamily="49" charset="-128"/>
              <a:cs typeface="Arial" charset="0"/>
            </a:endParaRPr>
          </a:p>
          <a:p>
            <a:r>
              <a:rPr lang="en-AU" altLang="en-US" sz="1600" dirty="0">
                <a:ea typeface="MS Mincho" pitchFamily="49" charset="-128"/>
                <a:cs typeface="Arial" charset="0"/>
              </a:rPr>
              <a:t>Interest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         	= $600	(10% of $6 000 is $600)</a:t>
            </a:r>
            <a:endParaRPr lang="en-US" altLang="en-US" sz="1600" dirty="0">
              <a:ea typeface="MS Mincho" pitchFamily="49" charset="-128"/>
              <a:cs typeface="Arial" charset="0"/>
            </a:endParaRPr>
          </a:p>
          <a:p>
            <a:r>
              <a:rPr lang="en-AU" altLang="en-US" sz="1600" dirty="0">
                <a:ea typeface="MS Mincho" pitchFamily="49" charset="-128"/>
                <a:cs typeface="Arial" charset="0"/>
              </a:rPr>
              <a:t>Repayment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 	   	= $1 800	(12 payments of $150 = $1 800)</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   	= $4 800	(P + I – R = $6000 + $600 - $1800 = $4800)</a:t>
            </a:r>
            <a:endParaRPr lang="en-US" altLang="en-US" sz="1600" dirty="0">
              <a:ea typeface="MS Mincho" pitchFamily="49" charset="-128"/>
              <a:cs typeface="Arial" charset="0"/>
            </a:endParaRPr>
          </a:p>
          <a:p>
            <a:r>
              <a:rPr lang="en-AU" altLang="en-US" sz="1600" dirty="0">
                <a:ea typeface="MS Mincho" pitchFamily="49" charset="-128"/>
                <a:cs typeface="Arial" charset="0"/>
              </a:rPr>
              <a:t>Principal 2</a:t>
            </a:r>
            <a:r>
              <a:rPr lang="en-AU" altLang="en-US" sz="1600" baseline="30000" dirty="0">
                <a:ea typeface="MS Mincho" pitchFamily="49" charset="-128"/>
                <a:cs typeface="Arial" charset="0"/>
              </a:rPr>
              <a:t>nd</a:t>
            </a:r>
            <a:r>
              <a:rPr lang="en-AU" altLang="en-US" sz="1600" dirty="0">
                <a:ea typeface="MS Mincho" pitchFamily="49" charset="-128"/>
                <a:cs typeface="Arial" charset="0"/>
              </a:rPr>
              <a:t> year 	  	= $4 800	(same as what was owed at end of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a:t>
            </a:r>
            <a:endParaRPr lang="en-US" altLang="en-US" sz="1600" dirty="0">
              <a:ea typeface="MS Mincho" pitchFamily="49" charset="-128"/>
              <a:cs typeface="Arial" charset="0"/>
            </a:endParaRPr>
          </a:p>
          <a:p>
            <a:r>
              <a:rPr lang="en-AU" altLang="en-US" sz="1600" dirty="0">
                <a:ea typeface="MS Mincho" pitchFamily="49" charset="-128"/>
                <a:cs typeface="Arial" charset="0"/>
              </a:rPr>
              <a:t>Interest 2nd year 	  	= $480	(10% of $4 800 is $480)</a:t>
            </a:r>
            <a:endParaRPr lang="en-US" altLang="en-US" sz="1600" dirty="0">
              <a:ea typeface="MS Mincho" pitchFamily="49" charset="-128"/>
              <a:cs typeface="Arial" charset="0"/>
            </a:endParaRPr>
          </a:p>
          <a:p>
            <a:r>
              <a:rPr lang="en-AU" altLang="en-US" sz="1600" dirty="0">
                <a:ea typeface="MS Mincho" pitchFamily="49" charset="-128"/>
                <a:cs typeface="Arial" charset="0"/>
              </a:rPr>
              <a:t>Repayment 2nd year  	= $1 800	(12 payments of $150 = $1 800)</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2nd year  	= $3 480	(P + I – R = $4800 + $480 - $1800 = $3480)</a:t>
            </a:r>
            <a:endParaRPr lang="en-US" altLang="en-US" sz="1600" dirty="0">
              <a:ea typeface="MS Mincho" pitchFamily="49" charset="-128"/>
              <a:cs typeface="Arial" charset="0"/>
            </a:endParaRPr>
          </a:p>
          <a:p>
            <a:r>
              <a:rPr lang="en-AU" altLang="en-US" sz="1600" dirty="0">
                <a:ea typeface="MS Mincho" pitchFamily="49" charset="-128"/>
                <a:cs typeface="Arial" charset="0"/>
              </a:rPr>
              <a:t>Principal 3rd year 	  	= $3 480	(same as what was owed at end of 2nd year)</a:t>
            </a:r>
            <a:endParaRPr lang="en-US" altLang="en-US" sz="1600" dirty="0">
              <a:ea typeface="MS Mincho" pitchFamily="49" charset="-128"/>
              <a:cs typeface="Arial" charset="0"/>
            </a:endParaRPr>
          </a:p>
          <a:p>
            <a:r>
              <a:rPr lang="en-AU" altLang="en-US" sz="1600" dirty="0">
                <a:ea typeface="MS Mincho" pitchFamily="49" charset="-128"/>
                <a:cs typeface="Arial" charset="0"/>
              </a:rPr>
              <a:t>Interest 3rd year 	  	= $348	(10% of $63480 is $348)</a:t>
            </a:r>
            <a:endParaRPr lang="en-US" altLang="en-US" sz="1600" dirty="0">
              <a:ea typeface="MS Mincho" pitchFamily="49" charset="-128"/>
              <a:cs typeface="Arial" charset="0"/>
            </a:endParaRPr>
          </a:p>
          <a:p>
            <a:r>
              <a:rPr lang="en-AU" altLang="en-US" sz="1600" dirty="0">
                <a:ea typeface="MS Mincho" pitchFamily="49" charset="-128"/>
                <a:cs typeface="Arial" charset="0"/>
              </a:rPr>
              <a:t>Repayment 3rd year  	= $1 800	(12 payments of $150 = $1 800)</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3rd year  	= $2 028	(P + I – R = $3 480 + $348 - $1800 = $2 028)</a:t>
            </a:r>
            <a:endParaRPr lang="en-US" altLang="en-US" sz="1600" dirty="0">
              <a:ea typeface="MS Mincho" pitchFamily="49" charset="-128"/>
              <a:cs typeface="Arial" charset="0"/>
            </a:endParaRPr>
          </a:p>
          <a:p>
            <a:r>
              <a:rPr lang="en-AU" altLang="en-US" sz="1600" dirty="0">
                <a:ea typeface="MS Mincho" pitchFamily="49" charset="-128"/>
                <a:cs typeface="Arial" charset="0"/>
              </a:rPr>
              <a:t>Hence amount owed at end of 3</a:t>
            </a:r>
            <a:r>
              <a:rPr lang="en-AU" altLang="en-US" sz="1600" baseline="30000" dirty="0">
                <a:ea typeface="MS Mincho" pitchFamily="49" charset="-128"/>
                <a:cs typeface="Arial" charset="0"/>
              </a:rPr>
              <a:t>rd</a:t>
            </a:r>
            <a:r>
              <a:rPr lang="en-AU" altLang="en-US" sz="1600" dirty="0">
                <a:ea typeface="MS Mincho" pitchFamily="49" charset="-128"/>
                <a:cs typeface="Arial" charset="0"/>
              </a:rPr>
              <a:t> year is $2 028</a:t>
            </a:r>
          </a:p>
        </p:txBody>
      </p:sp>
    </p:spTree>
    <p:extLst>
      <p:ext uri="{BB962C8B-B14F-4D97-AF65-F5344CB8AC3E}">
        <p14:creationId xmlns:p14="http://schemas.microsoft.com/office/powerpoint/2010/main" val="2537375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371600" y="1905000"/>
          <a:ext cx="6324599" cy="1219200"/>
        </p:xfrm>
        <a:graphic>
          <a:graphicData uri="http://schemas.openxmlformats.org/drawingml/2006/table">
            <a:tbl>
              <a:tblPr/>
              <a:tblGrid>
                <a:gridCol w="1264623">
                  <a:extLst>
                    <a:ext uri="{9D8B030D-6E8A-4147-A177-3AD203B41FA5}">
                      <a16:colId xmlns:a16="http://schemas.microsoft.com/office/drawing/2014/main" val="20000"/>
                    </a:ext>
                  </a:extLst>
                </a:gridCol>
                <a:gridCol w="1264623">
                  <a:extLst>
                    <a:ext uri="{9D8B030D-6E8A-4147-A177-3AD203B41FA5}">
                      <a16:colId xmlns:a16="http://schemas.microsoft.com/office/drawing/2014/main" val="20001"/>
                    </a:ext>
                  </a:extLst>
                </a:gridCol>
                <a:gridCol w="1264623">
                  <a:extLst>
                    <a:ext uri="{9D8B030D-6E8A-4147-A177-3AD203B41FA5}">
                      <a16:colId xmlns:a16="http://schemas.microsoft.com/office/drawing/2014/main" val="20002"/>
                    </a:ext>
                  </a:extLst>
                </a:gridCol>
                <a:gridCol w="1265365">
                  <a:extLst>
                    <a:ext uri="{9D8B030D-6E8A-4147-A177-3AD203B41FA5}">
                      <a16:colId xmlns:a16="http://schemas.microsoft.com/office/drawing/2014/main" val="20003"/>
                    </a:ext>
                  </a:extLst>
                </a:gridCol>
                <a:gridCol w="1265365">
                  <a:extLst>
                    <a:ext uri="{9D8B030D-6E8A-4147-A177-3AD203B41FA5}">
                      <a16:colId xmlns:a16="http://schemas.microsoft.com/office/drawing/2014/main" val="20004"/>
                    </a:ext>
                  </a:extLst>
                </a:gridCol>
              </a:tblGrid>
              <a:tr h="0">
                <a:tc>
                  <a:txBody>
                    <a:bodyPr/>
                    <a:lstStyle/>
                    <a:p>
                      <a:pPr>
                        <a:spcAft>
                          <a:spcPts val="0"/>
                        </a:spcAft>
                      </a:pPr>
                      <a:r>
                        <a:rPr lang="en-AU" sz="1600" dirty="0">
                          <a:latin typeface="Arial"/>
                          <a:ea typeface="MS Mincho"/>
                        </a:rPr>
                        <a:t>Year</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Amt begin</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Interest</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Repayment</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Amt end</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spcAft>
                          <a:spcPts val="0"/>
                        </a:spcAft>
                      </a:pPr>
                      <a:r>
                        <a:rPr lang="en-AU" sz="1600">
                          <a:latin typeface="Arial"/>
                          <a:ea typeface="MS Mincho"/>
                        </a:rPr>
                        <a:t>1</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$6 000</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$600</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$1 800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$4 800</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spcAft>
                          <a:spcPts val="0"/>
                        </a:spcAft>
                      </a:pPr>
                      <a:r>
                        <a:rPr lang="en-AU" sz="1600">
                          <a:latin typeface="Arial"/>
                          <a:ea typeface="MS Mincho"/>
                        </a:rPr>
                        <a:t>2</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$4 800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$480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$1 800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$3 480</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spcAft>
                          <a:spcPts val="0"/>
                        </a:spcAft>
                      </a:pPr>
                      <a:r>
                        <a:rPr lang="en-AU" sz="1600">
                          <a:latin typeface="Arial"/>
                          <a:ea typeface="MS Mincho"/>
                        </a:rPr>
                        <a:t>3</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$3 480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$348</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$1 800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$2 028</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spcAft>
                          <a:spcPts val="0"/>
                        </a:spcAft>
                      </a:pPr>
                      <a:r>
                        <a:rPr lang="en-AU" sz="1600">
                          <a:latin typeface="Arial"/>
                          <a:ea typeface="MS Mincho"/>
                        </a:rPr>
                        <a:t>Totals</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$1 428</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a:latin typeface="Arial"/>
                          <a:ea typeface="MS Mincho"/>
                        </a:rPr>
                        <a:t>$5 400</a:t>
                      </a:r>
                      <a:endParaRPr lang="en-US" sz="160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AU" sz="1600" dirty="0">
                          <a:latin typeface="Arial"/>
                          <a:ea typeface="MS Mincho"/>
                        </a:rPr>
                        <a:t>########</a:t>
                      </a:r>
                      <a:endParaRPr lang="en-US" sz="1600" dirty="0">
                        <a:latin typeface="Times New Roman"/>
                        <a:ea typeface="MS Mincho"/>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208" name="Rectangle 1"/>
          <p:cNvSpPr>
            <a:spLocks noChangeArrowheads="1"/>
          </p:cNvSpPr>
          <p:nvPr/>
        </p:nvSpPr>
        <p:spPr bwMode="auto">
          <a:xfrm>
            <a:off x="33997" y="1524000"/>
            <a:ext cx="9144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AU" altLang="en-US" sz="1600" dirty="0">
                <a:ea typeface="MS Mincho" pitchFamily="49" charset="-128"/>
                <a:cs typeface="Arial" charset="0"/>
              </a:rPr>
              <a:t>This may be set out in table form or </a:t>
            </a:r>
            <a:r>
              <a:rPr lang="en-AU" altLang="en-US" sz="1600" dirty="0" err="1">
                <a:ea typeface="MS Mincho" pitchFamily="49" charset="-128"/>
                <a:cs typeface="Arial" charset="0"/>
              </a:rPr>
              <a:t>spreadsheet</a:t>
            </a:r>
            <a:r>
              <a:rPr lang="en-AU" altLang="en-US" sz="1600" dirty="0">
                <a:ea typeface="MS Mincho" pitchFamily="49" charset="-128"/>
                <a:cs typeface="Arial" charset="0"/>
              </a:rPr>
              <a:t> as follows:-</a:t>
            </a:r>
          </a:p>
          <a:p>
            <a:pPr eaLnBrk="1" hangingPunct="1"/>
            <a:endParaRPr lang="en-AU" altLang="en-US" sz="1600" dirty="0">
              <a:ea typeface="MS Mincho" pitchFamily="49" charset="-128"/>
              <a:cs typeface="Arial" charset="0"/>
            </a:endParaRPr>
          </a:p>
          <a:p>
            <a:pPr eaLnBrk="1" hangingPunct="1"/>
            <a:endParaRPr lang="en-AU" altLang="en-US" sz="1600" dirty="0">
              <a:ea typeface="MS Mincho" pitchFamily="49" charset="-128"/>
              <a:cs typeface="Arial" charset="0"/>
            </a:endParaRPr>
          </a:p>
          <a:p>
            <a:pPr eaLnBrk="1" hangingPunct="1"/>
            <a:endParaRPr lang="en-AU" altLang="en-US" sz="1600" dirty="0">
              <a:ea typeface="MS Mincho" pitchFamily="49" charset="-128"/>
              <a:cs typeface="Arial" charset="0"/>
            </a:endParaRPr>
          </a:p>
          <a:p>
            <a:pPr eaLnBrk="1" hangingPunct="1"/>
            <a:endParaRPr lang="en-AU" altLang="en-US" sz="1600" dirty="0">
              <a:ea typeface="MS Mincho" pitchFamily="49" charset="-128"/>
              <a:cs typeface="Arial" charset="0"/>
            </a:endParaRPr>
          </a:p>
          <a:p>
            <a:pPr eaLnBrk="1" hangingPunct="1"/>
            <a:endParaRPr lang="en-AU" altLang="en-US" sz="1600" dirty="0">
              <a:ea typeface="MS Mincho" pitchFamily="49" charset="-128"/>
              <a:cs typeface="Arial" charset="0"/>
            </a:endParaRPr>
          </a:p>
          <a:p>
            <a:pPr eaLnBrk="1" hangingPunct="1"/>
            <a:endParaRPr lang="en-US" altLang="en-US" sz="1600" dirty="0">
              <a:ea typeface="MS Mincho" pitchFamily="49" charset="-128"/>
              <a:cs typeface="Arial" charset="0"/>
            </a:endParaRPr>
          </a:p>
          <a:p>
            <a:r>
              <a:rPr lang="en-AU" altLang="en-US" sz="1600" dirty="0">
                <a:ea typeface="MS Mincho" pitchFamily="49" charset="-128"/>
                <a:cs typeface="Arial" charset="0"/>
              </a:rPr>
              <a:t>In table form, it is very easy to calculate the total amount of interest charged or the total amount of payments made. It may also be seen, by looking down the interest column in the table, that the interest is indeed reducing. </a:t>
            </a:r>
            <a:endParaRPr lang="en-US" altLang="en-US" sz="1600" dirty="0">
              <a:ea typeface="MS Mincho" pitchFamily="49" charset="-128"/>
              <a:cs typeface="Arial" charset="0"/>
            </a:endParaRPr>
          </a:p>
          <a:p>
            <a:r>
              <a:rPr lang="en-AU" altLang="en-US" sz="1600" dirty="0">
                <a:ea typeface="MS Mincho" pitchFamily="49" charset="-128"/>
                <a:cs typeface="Arial" charset="0"/>
              </a:rPr>
              <a:t>If you are not concerned about seeing the amount of interest charged each year, this setting out may be further abbreviated:-</a:t>
            </a:r>
            <a:endParaRPr lang="en-US" altLang="en-US" sz="1600" dirty="0">
              <a:ea typeface="MS Mincho" pitchFamily="49" charset="-128"/>
              <a:cs typeface="Arial" charset="0"/>
            </a:endParaRPr>
          </a:p>
          <a:p>
            <a:r>
              <a:rPr lang="en-AU" altLang="en-US" sz="1600" dirty="0">
                <a:ea typeface="MS Mincho" pitchFamily="49" charset="-128"/>
                <a:cs typeface="Arial" charset="0"/>
              </a:rPr>
              <a:t>Multiplier rate = 100% + 10% = 110% = 1.1</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1</a:t>
            </a:r>
            <a:r>
              <a:rPr lang="en-AU" altLang="en-US" sz="1600" baseline="30000" dirty="0">
                <a:ea typeface="MS Mincho" pitchFamily="49" charset="-128"/>
                <a:cs typeface="Arial" charset="0"/>
              </a:rPr>
              <a:t>st</a:t>
            </a:r>
            <a:r>
              <a:rPr lang="en-AU" altLang="en-US" sz="1600" dirty="0">
                <a:ea typeface="MS Mincho" pitchFamily="49" charset="-128"/>
                <a:cs typeface="Arial" charset="0"/>
              </a:rPr>
              <a:t> year 	= $6 000 × 1.1 - $1 800 = $4 800</a:t>
            </a:r>
            <a:endParaRPr lang="en-US" altLang="en-US" sz="1600" dirty="0">
              <a:ea typeface="MS Mincho" pitchFamily="49" charset="-128"/>
              <a:cs typeface="Arial" charset="0"/>
            </a:endParaRPr>
          </a:p>
          <a:p>
            <a:r>
              <a:rPr lang="en-AU" altLang="en-US" sz="1600" dirty="0">
                <a:ea typeface="MS Mincho" pitchFamily="49" charset="-128"/>
                <a:cs typeface="Arial" charset="0"/>
              </a:rPr>
              <a:t>Amount end 2</a:t>
            </a:r>
            <a:r>
              <a:rPr lang="en-AU" altLang="en-US" sz="1600" baseline="30000" dirty="0">
                <a:ea typeface="MS Mincho" pitchFamily="49" charset="-128"/>
                <a:cs typeface="Arial" charset="0"/>
              </a:rPr>
              <a:t>nd</a:t>
            </a:r>
            <a:r>
              <a:rPr lang="en-AU" altLang="en-US" sz="1600" dirty="0">
                <a:ea typeface="MS Mincho" pitchFamily="49" charset="-128"/>
                <a:cs typeface="Arial" charset="0"/>
              </a:rPr>
              <a:t> year 	= $4 800 × 1.1 - $1 800 = $3 480</a:t>
            </a:r>
          </a:p>
          <a:p>
            <a:r>
              <a:rPr lang="en-AU" altLang="en-US" sz="1600" dirty="0">
                <a:ea typeface="MS Mincho" pitchFamily="49" charset="-128"/>
                <a:cs typeface="Arial" charset="0"/>
              </a:rPr>
              <a:t>Amount end 3</a:t>
            </a:r>
            <a:r>
              <a:rPr lang="en-AU" altLang="en-US" sz="1600" baseline="30000" dirty="0">
                <a:ea typeface="MS Mincho" pitchFamily="49" charset="-128"/>
                <a:cs typeface="Arial" charset="0"/>
              </a:rPr>
              <a:t>rd</a:t>
            </a:r>
            <a:r>
              <a:rPr lang="en-AU" altLang="en-US" sz="1600" dirty="0">
                <a:ea typeface="MS Mincho" pitchFamily="49" charset="-128"/>
                <a:cs typeface="Arial" charset="0"/>
              </a:rPr>
              <a:t> year 	= $3 480 × 1.1 - $1 800 = $2 028</a:t>
            </a:r>
          </a:p>
          <a:p>
            <a:endParaRPr lang="en-AU" altLang="en-US" sz="1600" dirty="0">
              <a:ea typeface="MS Mincho" pitchFamily="49" charset="-128"/>
              <a:cs typeface="Arial" charset="0"/>
            </a:endParaRPr>
          </a:p>
          <a:p>
            <a:r>
              <a:rPr lang="en-AU" altLang="en-US" sz="1600" i="1" dirty="0">
                <a:ea typeface="MS Mincho" pitchFamily="49" charset="-128"/>
                <a:cs typeface="Arial" charset="0"/>
              </a:rPr>
              <a:t>Let’s now look at how we can work using the Financial and Sequence Apps on your CAS calculator.</a:t>
            </a:r>
          </a:p>
        </p:txBody>
      </p:sp>
    </p:spTree>
    <p:extLst>
      <p:ext uri="{BB962C8B-B14F-4D97-AF65-F5344CB8AC3E}">
        <p14:creationId xmlns:p14="http://schemas.microsoft.com/office/powerpoint/2010/main" val="2723431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28599"/>
            <a:ext cx="2362200"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33399" y="762000"/>
            <a:ext cx="3962401" cy="1323439"/>
          </a:xfrm>
          <a:prstGeom prst="rect">
            <a:avLst/>
          </a:prstGeom>
          <a:noFill/>
          <a:ln>
            <a:solidFill>
              <a:srgbClr val="FF0000"/>
            </a:solidFill>
          </a:ln>
        </p:spPr>
        <p:txBody>
          <a:bodyPr wrap="square" rtlCol="0">
            <a:spAutoFit/>
          </a:bodyPr>
          <a:lstStyle/>
          <a:p>
            <a:r>
              <a:rPr lang="en-AU" sz="1600" dirty="0"/>
              <a:t>Finance App – make sure you put the repayment as a negative (PMT), also note that the Future Value (FV) is negative because that is the amount that you still owe.</a:t>
            </a:r>
          </a:p>
        </p:txBody>
      </p:sp>
      <p:pic>
        <p:nvPicPr>
          <p:cNvPr id="6" name="Picture 5"/>
          <p:cNvPicPr/>
          <p:nvPr/>
        </p:nvPicPr>
        <p:blipFill rotWithShape="1">
          <a:blip r:embed="rId3"/>
          <a:srcRect l="11786" t="4834" r="75860" b="38022"/>
          <a:stretch/>
        </p:blipFill>
        <p:spPr bwMode="auto">
          <a:xfrm>
            <a:off x="5715000" y="3048000"/>
            <a:ext cx="2057400" cy="3352800"/>
          </a:xfrm>
          <a:prstGeom prst="rect">
            <a:avLst/>
          </a:prstGeom>
          <a:ln>
            <a:noFill/>
          </a:ln>
          <a:extLst>
            <a:ext uri="{53640926-AAD7-44D8-BBD7-CCE9431645EC}">
              <a14:shadowObscured xmlns:a14="http://schemas.microsoft.com/office/drawing/2010/main"/>
            </a:ext>
          </a:extLst>
        </p:spPr>
      </p:pic>
      <p:cxnSp>
        <p:nvCxnSpPr>
          <p:cNvPr id="7" name="Straight Arrow Connector 6"/>
          <p:cNvCxnSpPr/>
          <p:nvPr/>
        </p:nvCxnSpPr>
        <p:spPr>
          <a:xfrm>
            <a:off x="3733800" y="1423719"/>
            <a:ext cx="1828800" cy="78608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33399" y="3400961"/>
            <a:ext cx="3962401" cy="1077218"/>
          </a:xfrm>
          <a:prstGeom prst="rect">
            <a:avLst/>
          </a:prstGeom>
          <a:noFill/>
          <a:ln>
            <a:solidFill>
              <a:srgbClr val="FF0000"/>
            </a:solidFill>
          </a:ln>
        </p:spPr>
        <p:txBody>
          <a:bodyPr wrap="square" rtlCol="0">
            <a:spAutoFit/>
          </a:bodyPr>
          <a:lstStyle/>
          <a:p>
            <a:r>
              <a:rPr lang="en-AU" sz="1600" dirty="0"/>
              <a:t>Sequence App – the interest is 1.1 as in 110% and then take the $1800. </a:t>
            </a:r>
          </a:p>
          <a:p>
            <a:r>
              <a:rPr lang="en-AU" sz="1600" dirty="0"/>
              <a:t>Same as before use the a</a:t>
            </a:r>
            <a:r>
              <a:rPr lang="en-AU" sz="1600" baseline="-25000" dirty="0"/>
              <a:t>0</a:t>
            </a:r>
            <a:r>
              <a:rPr lang="en-AU" sz="1600" dirty="0"/>
              <a:t> so the n is the year with what they owe.</a:t>
            </a:r>
          </a:p>
        </p:txBody>
      </p:sp>
      <p:sp>
        <p:nvSpPr>
          <p:cNvPr id="10" name="TextBox 9"/>
          <p:cNvSpPr txBox="1"/>
          <p:nvPr/>
        </p:nvSpPr>
        <p:spPr>
          <a:xfrm>
            <a:off x="1077346" y="5838806"/>
            <a:ext cx="3275256" cy="338554"/>
          </a:xfrm>
          <a:prstGeom prst="rect">
            <a:avLst/>
          </a:prstGeom>
          <a:noFill/>
          <a:ln>
            <a:solidFill>
              <a:srgbClr val="FF0000"/>
            </a:solidFill>
          </a:ln>
        </p:spPr>
        <p:txBody>
          <a:bodyPr wrap="none" rtlCol="0">
            <a:spAutoFit/>
          </a:bodyPr>
          <a:lstStyle/>
          <a:p>
            <a:r>
              <a:rPr lang="en-AU" altLang="en-US" sz="1600" dirty="0">
                <a:ea typeface="MS Mincho" pitchFamily="49" charset="-128"/>
                <a:cs typeface="Arial" charset="0"/>
              </a:rPr>
              <a:t>Now do exercise 3E page 79 - 81.</a:t>
            </a:r>
            <a:endParaRPr lang="en-AU" sz="1600" dirty="0"/>
          </a:p>
        </p:txBody>
      </p:sp>
    </p:spTree>
    <p:extLst>
      <p:ext uri="{BB962C8B-B14F-4D97-AF65-F5344CB8AC3E}">
        <p14:creationId xmlns:p14="http://schemas.microsoft.com/office/powerpoint/2010/main" val="162157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838200"/>
            <a:ext cx="3962401" cy="1323439"/>
          </a:xfrm>
          <a:prstGeom prst="rect">
            <a:avLst/>
          </a:prstGeom>
          <a:noFill/>
          <a:ln>
            <a:solidFill>
              <a:srgbClr val="FF0000"/>
            </a:solidFill>
          </a:ln>
        </p:spPr>
        <p:txBody>
          <a:bodyPr wrap="square" rtlCol="0">
            <a:spAutoFit/>
          </a:bodyPr>
          <a:lstStyle/>
          <a:p>
            <a:r>
              <a:rPr lang="en-AU" sz="1600" dirty="0"/>
              <a:t>I would like to borrow $400 000 for a house I want to buy – can I afford to pay for it if I can afford $2000 per month ($500 per week) and want to pay it off over 20 years and interest is 5.2%pa. </a:t>
            </a:r>
          </a:p>
        </p:txBody>
      </p:sp>
      <p:sp>
        <p:nvSpPr>
          <p:cNvPr id="10" name="TextBox 9"/>
          <p:cNvSpPr txBox="1"/>
          <p:nvPr/>
        </p:nvSpPr>
        <p:spPr>
          <a:xfrm>
            <a:off x="838200" y="6096000"/>
            <a:ext cx="7276351" cy="338554"/>
          </a:xfrm>
          <a:prstGeom prst="rect">
            <a:avLst/>
          </a:prstGeom>
          <a:noFill/>
          <a:ln>
            <a:solidFill>
              <a:srgbClr val="FF0000"/>
            </a:solidFill>
          </a:ln>
        </p:spPr>
        <p:txBody>
          <a:bodyPr wrap="none" rtlCol="0">
            <a:spAutoFit/>
          </a:bodyPr>
          <a:lstStyle/>
          <a:p>
            <a:r>
              <a:rPr lang="en-AU" altLang="en-US" sz="1600" dirty="0">
                <a:ea typeface="MS Mincho" pitchFamily="49" charset="-128"/>
                <a:cs typeface="Arial" charset="0"/>
              </a:rPr>
              <a:t>Now do exercise 3F page 84 and the Miscellaneous Exercise 3 pages 84 - 86.</a:t>
            </a:r>
            <a:endParaRPr lang="en-AU" sz="1600" dirty="0"/>
          </a:p>
        </p:txBody>
      </p:sp>
      <p:sp>
        <p:nvSpPr>
          <p:cNvPr id="2" name="TextBox 1"/>
          <p:cNvSpPr txBox="1"/>
          <p:nvPr/>
        </p:nvSpPr>
        <p:spPr>
          <a:xfrm>
            <a:off x="533399" y="271046"/>
            <a:ext cx="5454698" cy="369332"/>
          </a:xfrm>
          <a:prstGeom prst="rect">
            <a:avLst/>
          </a:prstGeom>
          <a:noFill/>
        </p:spPr>
        <p:txBody>
          <a:bodyPr wrap="none" rtlCol="0">
            <a:spAutoFit/>
          </a:bodyPr>
          <a:lstStyle/>
          <a:p>
            <a:r>
              <a:rPr lang="en-AU" u="sng" dirty="0">
                <a:latin typeface="+mn-lt"/>
              </a:rPr>
              <a:t>How much can you afford to borrow for your new house</a:t>
            </a:r>
          </a:p>
        </p:txBody>
      </p:sp>
      <p:pic>
        <p:nvPicPr>
          <p:cNvPr id="11" name="Picture 10"/>
          <p:cNvPicPr/>
          <p:nvPr/>
        </p:nvPicPr>
        <p:blipFill rotWithShape="1">
          <a:blip r:embed="rId2"/>
          <a:srcRect l="11761" t="4611" r="76327" b="59138"/>
          <a:stretch/>
        </p:blipFill>
        <p:spPr bwMode="auto">
          <a:xfrm>
            <a:off x="6629400" y="640378"/>
            <a:ext cx="1895475" cy="2171700"/>
          </a:xfrm>
          <a:prstGeom prst="rect">
            <a:avLst/>
          </a:prstGeom>
          <a:ln>
            <a:noFill/>
          </a:ln>
          <a:extLst>
            <a:ext uri="{53640926-AAD7-44D8-BBD7-CCE9431645EC}">
              <a14:shadowObscured xmlns:a14="http://schemas.microsoft.com/office/drawing/2010/main"/>
            </a:ext>
          </a:extLst>
        </p:spPr>
      </p:pic>
      <p:sp>
        <p:nvSpPr>
          <p:cNvPr id="3" name="TextBox 2"/>
          <p:cNvSpPr txBox="1"/>
          <p:nvPr/>
        </p:nvSpPr>
        <p:spPr>
          <a:xfrm>
            <a:off x="4352602" y="1880919"/>
            <a:ext cx="2161361" cy="830997"/>
          </a:xfrm>
          <a:prstGeom prst="rect">
            <a:avLst/>
          </a:prstGeom>
          <a:noFill/>
        </p:spPr>
        <p:txBody>
          <a:bodyPr wrap="square" rtlCol="0">
            <a:spAutoFit/>
          </a:bodyPr>
          <a:lstStyle/>
          <a:p>
            <a:r>
              <a:rPr lang="en-AU" sz="1600" dirty="0">
                <a:latin typeface="+mn-lt"/>
              </a:rPr>
              <a:t>The answer is no as I would need to pay $2684.22 per month</a:t>
            </a:r>
          </a:p>
        </p:txBody>
      </p:sp>
      <p:cxnSp>
        <p:nvCxnSpPr>
          <p:cNvPr id="7" name="Straight Arrow Connector 6"/>
          <p:cNvCxnSpPr/>
          <p:nvPr/>
        </p:nvCxnSpPr>
        <p:spPr>
          <a:xfrm>
            <a:off x="6255058" y="1494740"/>
            <a:ext cx="914400" cy="164099"/>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352602" y="1156186"/>
            <a:ext cx="2068259" cy="338554"/>
          </a:xfrm>
          <a:prstGeom prst="rect">
            <a:avLst/>
          </a:prstGeom>
          <a:noFill/>
        </p:spPr>
        <p:txBody>
          <a:bodyPr wrap="none" rtlCol="0">
            <a:spAutoFit/>
          </a:bodyPr>
          <a:lstStyle/>
          <a:p>
            <a:r>
              <a:rPr lang="en-AU" sz="1600" dirty="0">
                <a:latin typeface="+mn-lt"/>
              </a:rPr>
              <a:t>20 years = 240 months</a:t>
            </a:r>
          </a:p>
        </p:txBody>
      </p:sp>
      <p:cxnSp>
        <p:nvCxnSpPr>
          <p:cNvPr id="14" name="Straight Arrow Connector 13"/>
          <p:cNvCxnSpPr/>
          <p:nvPr/>
        </p:nvCxnSpPr>
        <p:spPr>
          <a:xfrm flipV="1">
            <a:off x="6264675" y="2161639"/>
            <a:ext cx="914400" cy="134778"/>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737169" y="3439239"/>
            <a:ext cx="2556656" cy="584775"/>
          </a:xfrm>
          <a:prstGeom prst="rect">
            <a:avLst/>
          </a:prstGeom>
          <a:noFill/>
          <a:ln>
            <a:solidFill>
              <a:srgbClr val="FF0000"/>
            </a:solidFill>
          </a:ln>
        </p:spPr>
        <p:txBody>
          <a:bodyPr wrap="square" rtlCol="0">
            <a:spAutoFit/>
          </a:bodyPr>
          <a:lstStyle/>
          <a:p>
            <a:r>
              <a:rPr lang="en-AU" sz="1600" dirty="0"/>
              <a:t>– still no as I need $2385.21 per month.</a:t>
            </a:r>
          </a:p>
        </p:txBody>
      </p:sp>
      <p:pic>
        <p:nvPicPr>
          <p:cNvPr id="17" name="Picture 16"/>
          <p:cNvPicPr/>
          <p:nvPr/>
        </p:nvPicPr>
        <p:blipFill rotWithShape="1">
          <a:blip r:embed="rId3"/>
          <a:srcRect l="11823" t="4776" r="76188" b="58527"/>
          <a:stretch/>
        </p:blipFill>
        <p:spPr bwMode="auto">
          <a:xfrm>
            <a:off x="374609" y="2895600"/>
            <a:ext cx="2124075" cy="2447925"/>
          </a:xfrm>
          <a:prstGeom prst="rect">
            <a:avLst/>
          </a:prstGeom>
          <a:ln>
            <a:noFill/>
          </a:ln>
          <a:extLst>
            <a:ext uri="{53640926-AAD7-44D8-BBD7-CCE9431645EC}">
              <a14:shadowObscured xmlns:a14="http://schemas.microsoft.com/office/drawing/2010/main"/>
            </a:ext>
          </a:extLst>
        </p:spPr>
      </p:pic>
      <p:cxnSp>
        <p:nvCxnSpPr>
          <p:cNvPr id="18" name="Straight Arrow Connector 17"/>
          <p:cNvCxnSpPr/>
          <p:nvPr/>
        </p:nvCxnSpPr>
        <p:spPr>
          <a:xfrm flipH="1">
            <a:off x="2057400" y="3944778"/>
            <a:ext cx="679769" cy="62722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025986" y="5132515"/>
            <a:ext cx="2838374" cy="830997"/>
          </a:xfrm>
          <a:prstGeom prst="rect">
            <a:avLst/>
          </a:prstGeom>
          <a:noFill/>
          <a:ln>
            <a:solidFill>
              <a:srgbClr val="FF0000"/>
            </a:solidFill>
          </a:ln>
        </p:spPr>
        <p:txBody>
          <a:bodyPr wrap="square" rtlCol="0">
            <a:spAutoFit/>
          </a:bodyPr>
          <a:lstStyle/>
          <a:p>
            <a:r>
              <a:rPr lang="en-AU" sz="1600" dirty="0"/>
              <a:t>The PV is about $300 000 so that is all I can afford to borrow.</a:t>
            </a:r>
          </a:p>
        </p:txBody>
      </p:sp>
      <p:pic>
        <p:nvPicPr>
          <p:cNvPr id="22" name="Picture 21"/>
          <p:cNvPicPr/>
          <p:nvPr/>
        </p:nvPicPr>
        <p:blipFill rotWithShape="1">
          <a:blip r:embed="rId4"/>
          <a:srcRect l="11885" t="4623" r="76174" b="56915"/>
          <a:stretch/>
        </p:blipFill>
        <p:spPr bwMode="auto">
          <a:xfrm>
            <a:off x="6264674" y="3048000"/>
            <a:ext cx="2117325" cy="2667000"/>
          </a:xfrm>
          <a:prstGeom prst="rect">
            <a:avLst/>
          </a:prstGeom>
          <a:ln>
            <a:noFill/>
          </a:ln>
          <a:extLst>
            <a:ext uri="{53640926-AAD7-44D8-BBD7-CCE9431645EC}">
              <a14:shadowObscured xmlns:a14="http://schemas.microsoft.com/office/drawing/2010/main"/>
            </a:ext>
          </a:extLst>
        </p:spPr>
      </p:pic>
      <p:cxnSp>
        <p:nvCxnSpPr>
          <p:cNvPr id="20" name="Straight Arrow Connector 19"/>
          <p:cNvCxnSpPr>
            <a:cxnSpLocks/>
          </p:cNvCxnSpPr>
          <p:nvPr/>
        </p:nvCxnSpPr>
        <p:spPr>
          <a:xfrm flipV="1">
            <a:off x="5293825" y="4572001"/>
            <a:ext cx="1564175" cy="56051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4EB28E-D061-9940-96E0-CB545D8D6F5C}"/>
              </a:ext>
            </a:extLst>
          </p:cNvPr>
          <p:cNvSpPr txBox="1"/>
          <p:nvPr/>
        </p:nvSpPr>
        <p:spPr>
          <a:xfrm>
            <a:off x="2737169" y="2986157"/>
            <a:ext cx="2556656" cy="338554"/>
          </a:xfrm>
          <a:prstGeom prst="rect">
            <a:avLst/>
          </a:prstGeom>
          <a:noFill/>
          <a:ln>
            <a:solidFill>
              <a:srgbClr val="FF0000"/>
            </a:solidFill>
          </a:ln>
        </p:spPr>
        <p:txBody>
          <a:bodyPr wrap="square" rtlCol="0">
            <a:spAutoFit/>
          </a:bodyPr>
          <a:lstStyle/>
          <a:p>
            <a:r>
              <a:rPr lang="en-AU" sz="1600" dirty="0"/>
              <a:t>What about over 25 </a:t>
            </a:r>
            <a:r>
              <a:rPr lang="en-AU" sz="1600" dirty="0" err="1"/>
              <a:t>yrs</a:t>
            </a:r>
            <a:r>
              <a:rPr lang="en-AU" sz="1600" dirty="0"/>
              <a:t>?.</a:t>
            </a:r>
          </a:p>
        </p:txBody>
      </p:sp>
      <p:sp>
        <p:nvSpPr>
          <p:cNvPr id="24" name="TextBox 23">
            <a:extLst>
              <a:ext uri="{FF2B5EF4-FFF2-40B4-BE49-F238E27FC236}">
                <a16:creationId xmlns:a16="http://schemas.microsoft.com/office/drawing/2014/main" id="{B8409762-E877-D244-9A03-974440A10C4A}"/>
              </a:ext>
            </a:extLst>
          </p:cNvPr>
          <p:cNvSpPr txBox="1"/>
          <p:nvPr/>
        </p:nvSpPr>
        <p:spPr>
          <a:xfrm>
            <a:off x="3025986" y="4203333"/>
            <a:ext cx="2838374" cy="830997"/>
          </a:xfrm>
          <a:prstGeom prst="rect">
            <a:avLst/>
          </a:prstGeom>
          <a:noFill/>
          <a:ln>
            <a:solidFill>
              <a:srgbClr val="FF0000"/>
            </a:solidFill>
          </a:ln>
        </p:spPr>
        <p:txBody>
          <a:bodyPr wrap="square" rtlCol="0">
            <a:spAutoFit/>
          </a:bodyPr>
          <a:lstStyle/>
          <a:p>
            <a:r>
              <a:rPr lang="en-AU" sz="1600" dirty="0"/>
              <a:t>So what can I afford to borrow paying about $2000 per month over 20 years? </a:t>
            </a:r>
          </a:p>
        </p:txBody>
      </p:sp>
    </p:spTree>
    <p:extLst>
      <p:ext uri="{BB962C8B-B14F-4D97-AF65-F5344CB8AC3E}">
        <p14:creationId xmlns:p14="http://schemas.microsoft.com/office/powerpoint/2010/main" val="3554000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par>
                                <p:cTn id="14" presetID="9"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checkerboard(across)">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500" fill="hold"/>
                                        <p:tgtEl>
                                          <p:spTgt spid="10"/>
                                        </p:tgtEl>
                                        <p:attrNameLst>
                                          <p:attrName>ppt_x</p:attrName>
                                        </p:attrNameLst>
                                      </p:cBhvr>
                                      <p:tavLst>
                                        <p:tav tm="0">
                                          <p:val>
                                            <p:strVal val="#ppt_x"/>
                                          </p:val>
                                        </p:tav>
                                        <p:tav tm="100000">
                                          <p:val>
                                            <p:strVal val="#ppt_x"/>
                                          </p:val>
                                        </p:tav>
                                      </p:tavLst>
                                    </p:anim>
                                    <p:anim calcmode="lin" valueType="num">
                                      <p:cBhvr additive="base">
                                        <p:cTn id="6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3" grpId="0"/>
      <p:bldP spid="12" grpId="0"/>
      <p:bldP spid="16" grpId="0" animBg="1"/>
      <p:bldP spid="21" grpId="0" animBg="1"/>
      <p:bldP spid="19" grpId="0" animBg="1"/>
      <p:bldP spid="2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515</TotalTime>
  <Words>3637</Words>
  <Application>Microsoft Macintosh PowerPoint</Application>
  <PresentationFormat>On-screen Show (4:3)</PresentationFormat>
  <Paragraphs>289</Paragraphs>
  <Slides>19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19</vt:i4>
      </vt:variant>
    </vt:vector>
  </HeadingPairs>
  <TitlesOfParts>
    <vt:vector size="27" baseType="lpstr">
      <vt:lpstr>Arial</vt:lpstr>
      <vt:lpstr>Calibri</vt:lpstr>
      <vt:lpstr>Cambria Math</vt:lpstr>
      <vt:lpstr>Times New Roman</vt:lpstr>
      <vt:lpstr>Office Theme</vt:lpstr>
      <vt:lpstr>Equation</vt:lpstr>
      <vt:lpstr>Equation.DSMT4</vt:lpstr>
      <vt:lpstr>Microsoft Equation 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 Mac</dc:creator>
  <cp:lastModifiedBy>SUMMERS Brad [Baldivis Secondary College]</cp:lastModifiedBy>
  <cp:revision>49</cp:revision>
  <dcterms:created xsi:type="dcterms:W3CDTF">2011-05-05T04:02:22Z</dcterms:created>
  <dcterms:modified xsi:type="dcterms:W3CDTF">2020-08-14T01:13:15Z</dcterms:modified>
</cp:coreProperties>
</file>
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0"/>
  </p:handoutMasterIdLst>
  <p:sldIdLst>
    <p:sldId id="256" r:id="rId2"/>
    <p:sldId id="279" r:id="rId3"/>
    <p:sldId id="280" r:id="rId4"/>
    <p:sldId id="284" r:id="rId5"/>
    <p:sldId id="281" r:id="rId6"/>
    <p:sldId id="282" r:id="rId7"/>
    <p:sldId id="283" r:id="rId8"/>
    <p:sldId id="265" r:id="rId9"/>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E92AC0FE-238A-49DF-8C90-86C848FFBE94}" type="datetimeFigureOut">
              <a:rPr lang="en-AU" smtClean="0"/>
              <a:t>4/08/2017</a:t>
            </a:fld>
            <a:endParaRPr lang="en-AU"/>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98FFD9A-E540-4768-85A6-3861B47260FF}" type="slidenum">
              <a:rPr lang="en-AU" smtClean="0"/>
              <a:t>‹#›</a:t>
            </a:fld>
            <a:endParaRPr lang="en-AU"/>
          </a:p>
        </p:txBody>
      </p:sp>
    </p:spTree>
    <p:extLst>
      <p:ext uri="{BB962C8B-B14F-4D97-AF65-F5344CB8AC3E}">
        <p14:creationId xmlns:p14="http://schemas.microsoft.com/office/powerpoint/2010/main" val="175420437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BEFDBA0-8AAA-474F-B3F5-2B4AA22FB99E}" type="datetimeFigureOut">
              <a:rPr lang="en-US"/>
              <a:pPr>
                <a:defRPr/>
              </a:pPr>
              <a:t>8/4/2017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1FD5BC-58B4-461E-A447-A91D4D9E3696}" type="slidenum">
              <a:rPr lang="en-US"/>
              <a:pPr>
                <a:defRPr/>
              </a:pPr>
              <a:t>‹#›</a:t>
            </a:fld>
            <a:endParaRPr lang="en-US"/>
          </a:p>
        </p:txBody>
      </p:sp>
    </p:spTree>
    <p:extLst>
      <p:ext uri="{BB962C8B-B14F-4D97-AF65-F5344CB8AC3E}">
        <p14:creationId xmlns:p14="http://schemas.microsoft.com/office/powerpoint/2010/main" val="2881688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C2523D8-3D7A-4A81-8EF4-B8D181A4392B}" type="datetimeFigureOut">
              <a:rPr lang="en-US"/>
              <a:pPr>
                <a:defRPr/>
              </a:pPr>
              <a:t>8/4/2017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8B3AC13-5450-4A33-AAD7-0AD3E9C195D7}" type="slidenum">
              <a:rPr lang="en-US"/>
              <a:pPr>
                <a:defRPr/>
              </a:pPr>
              <a:t>‹#›</a:t>
            </a:fld>
            <a:endParaRPr lang="en-US"/>
          </a:p>
        </p:txBody>
      </p:sp>
    </p:spTree>
    <p:extLst>
      <p:ext uri="{BB962C8B-B14F-4D97-AF65-F5344CB8AC3E}">
        <p14:creationId xmlns:p14="http://schemas.microsoft.com/office/powerpoint/2010/main" val="3560413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C4B79F9-F579-49D0-85E7-BF7BF2EEB9DF}" type="datetimeFigureOut">
              <a:rPr lang="en-US"/>
              <a:pPr>
                <a:defRPr/>
              </a:pPr>
              <a:t>8/4/2017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F5A0F7-73BE-465B-A68E-E8C94D0557CE}" type="slidenum">
              <a:rPr lang="en-US"/>
              <a:pPr>
                <a:defRPr/>
              </a:pPr>
              <a:t>‹#›</a:t>
            </a:fld>
            <a:endParaRPr lang="en-US"/>
          </a:p>
        </p:txBody>
      </p:sp>
    </p:spTree>
    <p:extLst>
      <p:ext uri="{BB962C8B-B14F-4D97-AF65-F5344CB8AC3E}">
        <p14:creationId xmlns:p14="http://schemas.microsoft.com/office/powerpoint/2010/main" val="327284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4F606F1-670C-4ABD-B821-328B6D17A7A2}" type="datetimeFigureOut">
              <a:rPr lang="en-US"/>
              <a:pPr>
                <a:defRPr/>
              </a:pPr>
              <a:t>8/4/2017</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C99F0A-8C6D-4BFD-9A91-6FA7AB92A409}" type="slidenum">
              <a:rPr lang="en-US"/>
              <a:pPr>
                <a:defRPr/>
              </a:pPr>
              <a:t>‹#›</a:t>
            </a:fld>
            <a:endParaRPr lang="en-US"/>
          </a:p>
        </p:txBody>
      </p:sp>
    </p:spTree>
    <p:extLst>
      <p:ext uri="{BB962C8B-B14F-4D97-AF65-F5344CB8AC3E}">
        <p14:creationId xmlns:p14="http://schemas.microsoft.com/office/powerpoint/2010/main" val="3222520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7A2419E-64D6-4162-9834-112C9A7AF0FD}" type="datetimeFigureOut">
              <a:rPr lang="en-US"/>
              <a:pPr>
                <a:defRPr/>
              </a:pPr>
              <a:t>8/4/2017</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2847273-D238-4396-8904-BE9D3976071C}" type="slidenum">
              <a:rPr lang="en-US"/>
              <a:pPr>
                <a:defRPr/>
              </a:pPr>
              <a:t>‹#›</a:t>
            </a:fld>
            <a:endParaRPr lang="en-US"/>
          </a:p>
        </p:txBody>
      </p:sp>
    </p:spTree>
    <p:extLst>
      <p:ext uri="{BB962C8B-B14F-4D97-AF65-F5344CB8AC3E}">
        <p14:creationId xmlns:p14="http://schemas.microsoft.com/office/powerpoint/2010/main" val="145965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F59E1AD-DF2F-42DE-BE60-2CC5E62FC0D3}" type="datetimeFigureOut">
              <a:rPr lang="en-US"/>
              <a:pPr>
                <a:defRPr/>
              </a:pPr>
              <a:t>8/4/2017</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E5D9DA6-BE4E-4687-ABB6-DC8F5AE950DD}" type="slidenum">
              <a:rPr lang="en-US"/>
              <a:pPr>
                <a:defRPr/>
              </a:pPr>
              <a:t>‹#›</a:t>
            </a:fld>
            <a:endParaRPr lang="en-US"/>
          </a:p>
        </p:txBody>
      </p:sp>
    </p:spTree>
    <p:extLst>
      <p:ext uri="{BB962C8B-B14F-4D97-AF65-F5344CB8AC3E}">
        <p14:creationId xmlns:p14="http://schemas.microsoft.com/office/powerpoint/2010/main" val="393516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8E05F70-B44C-4B80-A4BB-D1CEEBDC06CA}" type="datetimeFigureOut">
              <a:rPr lang="en-US"/>
              <a:pPr>
                <a:defRPr/>
              </a:pPr>
              <a:t>8/4/2017</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5A30C9-6327-4BCF-A088-229E1DD69F9B}" type="slidenum">
              <a:rPr lang="en-US"/>
              <a:pPr>
                <a:defRPr/>
              </a:pPr>
              <a:t>‹#›</a:t>
            </a:fld>
            <a:endParaRPr lang="en-US"/>
          </a:p>
        </p:txBody>
      </p:sp>
    </p:spTree>
    <p:extLst>
      <p:ext uri="{BB962C8B-B14F-4D97-AF65-F5344CB8AC3E}">
        <p14:creationId xmlns:p14="http://schemas.microsoft.com/office/powerpoint/2010/main" val="831214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3731EC7-1AC3-4876-88A8-0249C440A7FC}" type="datetimeFigureOut">
              <a:rPr lang="en-US"/>
              <a:pPr>
                <a:defRPr/>
              </a:pPr>
              <a:t>8/4/2017</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831101-C3F5-4580-B24E-8AC9BF7A62C5}" type="slidenum">
              <a:rPr lang="en-US"/>
              <a:pPr>
                <a:defRPr/>
              </a:pPr>
              <a:t>‹#›</a:t>
            </a:fld>
            <a:endParaRPr lang="en-US"/>
          </a:p>
        </p:txBody>
      </p:sp>
    </p:spTree>
    <p:extLst>
      <p:ext uri="{BB962C8B-B14F-4D97-AF65-F5344CB8AC3E}">
        <p14:creationId xmlns:p14="http://schemas.microsoft.com/office/powerpoint/2010/main" val="1002933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27BBBA5-9DB6-4B5D-B6F6-52A2C8260998}" type="datetimeFigureOut">
              <a:rPr lang="en-US"/>
              <a:pPr>
                <a:defRPr/>
              </a:pPr>
              <a:t>8/4/2017</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A6CAA12-2C53-4989-83B3-3E1D93DCD01F}" type="slidenum">
              <a:rPr lang="en-US"/>
              <a:pPr>
                <a:defRPr/>
              </a:pPr>
              <a:t>‹#›</a:t>
            </a:fld>
            <a:endParaRPr lang="en-US"/>
          </a:p>
        </p:txBody>
      </p:sp>
    </p:spTree>
    <p:extLst>
      <p:ext uri="{BB962C8B-B14F-4D97-AF65-F5344CB8AC3E}">
        <p14:creationId xmlns:p14="http://schemas.microsoft.com/office/powerpoint/2010/main" val="3934664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0C5F733-BB5D-4245-BE01-FFF881A91A7A}" type="datetimeFigureOut">
              <a:rPr lang="en-US"/>
              <a:pPr>
                <a:defRPr/>
              </a:pPr>
              <a:t>8/4/2017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482C8FD-F470-4555-B9C2-F39F2078FFBD}" type="slidenum">
              <a:rPr lang="en-US"/>
              <a:pPr>
                <a:defRPr/>
              </a:pPr>
              <a:t>‹#›</a:t>
            </a:fld>
            <a:endParaRPr lang="en-US"/>
          </a:p>
        </p:txBody>
      </p:sp>
    </p:spTree>
    <p:extLst>
      <p:ext uri="{BB962C8B-B14F-4D97-AF65-F5344CB8AC3E}">
        <p14:creationId xmlns:p14="http://schemas.microsoft.com/office/powerpoint/2010/main" val="3770689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79D27CC-A445-41B7-9758-0DE5B68B3E4C}" type="datetimeFigureOut">
              <a:rPr lang="en-US"/>
              <a:pPr>
                <a:defRPr/>
              </a:pPr>
              <a:t>8/4/2017</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BD2DE3C-D669-4C20-A8F4-8AF337A92F93}" type="slidenum">
              <a:rPr lang="en-US"/>
              <a:pPr>
                <a:defRPr/>
              </a:pPr>
              <a:t>‹#›</a:t>
            </a:fld>
            <a:endParaRPr lang="en-US"/>
          </a:p>
        </p:txBody>
      </p:sp>
    </p:spTree>
    <p:extLst>
      <p:ext uri="{BB962C8B-B14F-4D97-AF65-F5344CB8AC3E}">
        <p14:creationId xmlns:p14="http://schemas.microsoft.com/office/powerpoint/2010/main" val="351217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6F1DDAC-9CD9-4D13-9C46-6467785D9663}" type="datetimeFigureOut">
              <a:rPr lang="en-US"/>
              <a:pPr>
                <a:defRPr/>
              </a:pPr>
              <a:t>8/4/2017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225D3248-367E-46E6-B521-DE2013DBC31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biz.yahoo.com/f/g/pp.html#c0" TargetMode="External"/><Relationship Id="rId2" Type="http://schemas.openxmlformats.org/officeDocument/2006/relationships/hyperlink" Target="http://biz.yahoo.com/f/g/ii.html#bu" TargetMode="External"/><Relationship Id="rId1" Type="http://schemas.openxmlformats.org/officeDocument/2006/relationships/slideLayout" Target="../slideLayouts/slideLayout2.xml"/><Relationship Id="rId5" Type="http://schemas.openxmlformats.org/officeDocument/2006/relationships/hyperlink" Target="http://www.bloomberg.com/invest/glossary/bfglosp.htm#principal" TargetMode="External"/><Relationship Id="rId4" Type="http://schemas.openxmlformats.org/officeDocument/2006/relationships/hyperlink" Target="http://www.bloomberg.com/invest/glossary/bfglosi.htm#intere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152400"/>
            <a:ext cx="9144000" cy="2308324"/>
          </a:xfrm>
          <a:prstGeom prst="rect">
            <a:avLst/>
          </a:prstGeom>
          <a:noFill/>
          <a:ln w="9525">
            <a:noFill/>
            <a:miter lim="800000"/>
            <a:headEnd/>
            <a:tailEnd/>
          </a:ln>
          <a:effectLst/>
        </p:spPr>
        <p:txBody>
          <a:bodyPr anchor="ctr">
            <a:spAutoFit/>
          </a:bodyPr>
          <a:lstStyle/>
          <a:p>
            <a:pPr indent="457200">
              <a:defRPr/>
            </a:pPr>
            <a:r>
              <a:rPr lang="en-AU" sz="1600" b="1" u="sng" dirty="0">
                <a:latin typeface="Arial" pitchFamily="34" charset="0"/>
                <a:ea typeface="MS Mincho" pitchFamily="49" charset="-128"/>
                <a:cs typeface="Arial" pitchFamily="34" charset="0"/>
              </a:rPr>
              <a:t>Superannuation and Annuities</a:t>
            </a:r>
            <a:endParaRPr lang="en-US" sz="1600" b="1" u="sng"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Mr Mac is the retiring type – well very soon he will be – he wants to know how much he can afford to take out of his superannuation so he will have money for the next 35 years (yes then he will be </a:t>
            </a:r>
            <a:r>
              <a:rPr lang="en-AU" sz="1600" u="sng" dirty="0">
                <a:latin typeface="Arial" pitchFamily="34" charset="0"/>
                <a:ea typeface="MS Mincho" pitchFamily="49" charset="-128"/>
                <a:cs typeface="Arial" pitchFamily="34" charset="0"/>
              </a:rPr>
              <a:t>rooooly</a:t>
            </a:r>
            <a:r>
              <a:rPr lang="en-AU" sz="1600" dirty="0">
                <a:latin typeface="Arial" pitchFamily="34" charset="0"/>
                <a:ea typeface="MS Mincho" pitchFamily="49" charset="-128"/>
                <a:cs typeface="Arial" pitchFamily="34" charset="0"/>
              </a:rPr>
              <a:t> old).</a:t>
            </a:r>
          </a:p>
          <a:p>
            <a:pPr indent="457200" eaLnBrk="0" hangingPunct="0">
              <a:defRPr/>
            </a:pPr>
            <a:endParaRPr lang="en-US" sz="1600" dirty="0">
              <a:latin typeface="Arial" pitchFamily="34" charset="0"/>
            </a:endParaRPr>
          </a:p>
          <a:p>
            <a:pPr indent="457200" eaLnBrk="0" hangingPunct="0">
              <a:defRPr/>
            </a:pPr>
            <a:r>
              <a:rPr lang="en-AU" sz="1600" dirty="0">
                <a:latin typeface="Arial" pitchFamily="34" charset="0"/>
              </a:rPr>
              <a:t>Firstly lets look at how he got the money in there to start with – something you will need/have to do and the earlier you start the more you will have – easier retirement.</a:t>
            </a:r>
          </a:p>
          <a:p>
            <a:pPr indent="457200" eaLnBrk="0" hangingPunct="0">
              <a:defRPr/>
            </a:pPr>
            <a:r>
              <a:rPr lang="en-AU" sz="1600" dirty="0">
                <a:latin typeface="Arial" pitchFamily="34" charset="0"/>
              </a:rPr>
              <a:t>His first wage was about $12000, at an interest rate of, lets say, 9% putting in 10% of his wage each year (this is employer and employee putting in).  10% of $12000 is $1200 invested yearly.</a:t>
            </a:r>
          </a:p>
        </p:txBody>
      </p:sp>
      <p:sp>
        <p:nvSpPr>
          <p:cNvPr id="2" name="TextBox 1"/>
          <p:cNvSpPr txBox="1"/>
          <p:nvPr/>
        </p:nvSpPr>
        <p:spPr>
          <a:xfrm>
            <a:off x="304801" y="5105400"/>
            <a:ext cx="2743200" cy="830997"/>
          </a:xfrm>
          <a:prstGeom prst="rect">
            <a:avLst/>
          </a:prstGeom>
          <a:noFill/>
        </p:spPr>
        <p:txBody>
          <a:bodyPr wrap="square" rtlCol="0">
            <a:spAutoFit/>
          </a:bodyPr>
          <a:lstStyle/>
          <a:p>
            <a:r>
              <a:rPr lang="en-AU" sz="1600" dirty="0"/>
              <a:t>So Mr Mac would have about $405000 (before tax) to invest for his retirement.</a:t>
            </a:r>
          </a:p>
        </p:txBody>
      </p:sp>
      <p:sp>
        <p:nvSpPr>
          <p:cNvPr id="3" name="TextBox 2"/>
          <p:cNvSpPr txBox="1"/>
          <p:nvPr/>
        </p:nvSpPr>
        <p:spPr>
          <a:xfrm>
            <a:off x="3429001" y="2819400"/>
            <a:ext cx="2819400" cy="1569660"/>
          </a:xfrm>
          <a:prstGeom prst="rect">
            <a:avLst/>
          </a:prstGeom>
          <a:noFill/>
        </p:spPr>
        <p:txBody>
          <a:bodyPr wrap="square" rtlCol="0">
            <a:spAutoFit/>
          </a:bodyPr>
          <a:lstStyle/>
          <a:p>
            <a:r>
              <a:rPr lang="en-AU" sz="1600" dirty="0"/>
              <a:t>Say now you are starting out on $70000 per year investing $7000 each year for 40 years of working.  You would have about $2 365 000 (before tax) to be invested.</a:t>
            </a:r>
          </a:p>
        </p:txBody>
      </p:sp>
      <p:sp>
        <p:nvSpPr>
          <p:cNvPr id="4" name="TextBox 3"/>
          <p:cNvSpPr txBox="1"/>
          <p:nvPr/>
        </p:nvSpPr>
        <p:spPr>
          <a:xfrm>
            <a:off x="3619501" y="4945059"/>
            <a:ext cx="5257800" cy="1569660"/>
          </a:xfrm>
          <a:prstGeom prst="rect">
            <a:avLst/>
          </a:prstGeom>
          <a:noFill/>
        </p:spPr>
        <p:txBody>
          <a:bodyPr wrap="square" rtlCol="0">
            <a:spAutoFit/>
          </a:bodyPr>
          <a:lstStyle/>
          <a:p>
            <a:r>
              <a:rPr lang="en-AU" sz="1600" dirty="0"/>
              <a:t>Note: we haven’t factored in CPI increases to wages in either of these and the 15% tax the Government takes at the roll over date. Don’t forget that your money at the moment isn’t as much as you will be getting when you retire.  Also the 15% tax is less than what you would pay you took it all from your earnings at 30% or 40% tax.</a:t>
            </a:r>
          </a:p>
        </p:txBody>
      </p:sp>
      <p:pic>
        <p:nvPicPr>
          <p:cNvPr id="6" name="Picture 5">
            <a:extLst>
              <a:ext uri="{FF2B5EF4-FFF2-40B4-BE49-F238E27FC236}">
                <a16:creationId xmlns:a16="http://schemas.microsoft.com/office/drawing/2014/main" id="{D5926E10-CB7B-46C0-9BD5-93183408415F}"/>
              </a:ext>
            </a:extLst>
          </p:cNvPr>
          <p:cNvPicPr>
            <a:picLocks noChangeAspect="1"/>
          </p:cNvPicPr>
          <p:nvPr/>
        </p:nvPicPr>
        <p:blipFill rotWithShape="1">
          <a:blip r:embed="rId2"/>
          <a:srcRect r="2703" b="39924"/>
          <a:stretch/>
        </p:blipFill>
        <p:spPr>
          <a:xfrm>
            <a:off x="304801" y="2509682"/>
            <a:ext cx="2743200" cy="2435377"/>
          </a:xfrm>
          <a:prstGeom prst="rect">
            <a:avLst/>
          </a:prstGeom>
        </p:spPr>
      </p:pic>
      <p:pic>
        <p:nvPicPr>
          <p:cNvPr id="7" name="Picture 6">
            <a:extLst>
              <a:ext uri="{FF2B5EF4-FFF2-40B4-BE49-F238E27FC236}">
                <a16:creationId xmlns:a16="http://schemas.microsoft.com/office/drawing/2014/main" id="{0AD7336B-CB47-4A42-9B9B-EDDCB5C8B453}"/>
              </a:ext>
            </a:extLst>
          </p:cNvPr>
          <p:cNvPicPr>
            <a:picLocks noChangeAspect="1"/>
          </p:cNvPicPr>
          <p:nvPr/>
        </p:nvPicPr>
        <p:blipFill rotWithShape="1">
          <a:blip r:embed="rId3"/>
          <a:srcRect b="37671"/>
          <a:stretch/>
        </p:blipFill>
        <p:spPr>
          <a:xfrm>
            <a:off x="6254251" y="2515544"/>
            <a:ext cx="2549779" cy="22850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533400"/>
            <a:ext cx="7924800" cy="1323439"/>
          </a:xfrm>
          <a:prstGeom prst="rect">
            <a:avLst/>
          </a:prstGeom>
          <a:noFill/>
        </p:spPr>
        <p:txBody>
          <a:bodyPr wrap="square" rtlCol="0">
            <a:spAutoFit/>
          </a:bodyPr>
          <a:lstStyle/>
          <a:p>
            <a:r>
              <a:rPr lang="en-AU" sz="1600" dirty="0"/>
              <a:t>Now Mr Mac has been very good over his working life and has $759 000 invested in superannuation.  The government takes 15% for tax so this leaves $660 000 to invest for the next 35 years taking an annuity out each year and getting 9% interest added each year.  Note: if he takes less than 9% out each year it would be an increasing investment and visa-versa. </a:t>
            </a:r>
          </a:p>
        </p:txBody>
      </p:sp>
      <p:sp>
        <p:nvSpPr>
          <p:cNvPr id="5" name="TextBox 4"/>
          <p:cNvSpPr txBox="1"/>
          <p:nvPr/>
        </p:nvSpPr>
        <p:spPr>
          <a:xfrm>
            <a:off x="4191000" y="2514600"/>
            <a:ext cx="4572000" cy="2308324"/>
          </a:xfrm>
          <a:prstGeom prst="rect">
            <a:avLst/>
          </a:prstGeom>
          <a:noFill/>
        </p:spPr>
        <p:txBody>
          <a:bodyPr wrap="square" rtlCol="0">
            <a:spAutoFit/>
          </a:bodyPr>
          <a:lstStyle/>
          <a:p>
            <a:r>
              <a:rPr lang="en-AU" sz="1600" dirty="0"/>
              <a:t>This gives me about $64 000 per year to live on for the rest of my life, if I survive through to 98 years old.  Note: this doesn’t take into account CPI increases, so I should only take out, say $59 000 in the first year and increase it slightly each year so I keep up with CPI, this is called Indexing.</a:t>
            </a:r>
          </a:p>
          <a:p>
            <a:endParaRPr lang="en-AU" sz="1600" dirty="0"/>
          </a:p>
          <a:p>
            <a:r>
              <a:rPr lang="en-AU" sz="1600" dirty="0"/>
              <a:t>Lets look at this on the next page</a:t>
            </a:r>
          </a:p>
        </p:txBody>
      </p:sp>
      <p:pic>
        <p:nvPicPr>
          <p:cNvPr id="3" name="Picture 2">
            <a:extLst>
              <a:ext uri="{FF2B5EF4-FFF2-40B4-BE49-F238E27FC236}">
                <a16:creationId xmlns:a16="http://schemas.microsoft.com/office/drawing/2014/main" id="{E76D3F85-5797-4616-8543-7B97C8162E4B}"/>
              </a:ext>
            </a:extLst>
          </p:cNvPr>
          <p:cNvPicPr>
            <a:picLocks noChangeAspect="1"/>
          </p:cNvPicPr>
          <p:nvPr/>
        </p:nvPicPr>
        <p:blipFill rotWithShape="1">
          <a:blip r:embed="rId2"/>
          <a:srcRect b="40977"/>
          <a:stretch/>
        </p:blipFill>
        <p:spPr>
          <a:xfrm>
            <a:off x="706902" y="2286000"/>
            <a:ext cx="3124200" cy="2651348"/>
          </a:xfrm>
          <a:prstGeom prst="rect">
            <a:avLst/>
          </a:prstGeom>
        </p:spPr>
      </p:pic>
    </p:spTree>
    <p:extLst>
      <p:ext uri="{BB962C8B-B14F-4D97-AF65-F5344CB8AC3E}">
        <p14:creationId xmlns:p14="http://schemas.microsoft.com/office/powerpoint/2010/main" val="3703123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533400"/>
            <a:ext cx="7924800" cy="1323439"/>
          </a:xfrm>
          <a:prstGeom prst="rect">
            <a:avLst/>
          </a:prstGeom>
          <a:noFill/>
        </p:spPr>
        <p:txBody>
          <a:bodyPr wrap="square" rtlCol="0">
            <a:spAutoFit/>
          </a:bodyPr>
          <a:lstStyle/>
          <a:p>
            <a:r>
              <a:rPr lang="en-AU" sz="1600" b="1" u="sng" dirty="0"/>
              <a:t>Indexing</a:t>
            </a:r>
          </a:p>
          <a:p>
            <a:r>
              <a:rPr lang="en-AU" sz="1600" dirty="0"/>
              <a:t>Lets look at my $750 000 invested at 9% per annum with me withdrawing $65 000 yearly and wanting this increased at 1.5% each year (to keep up with CPI), will it last through for 35 years. This one can’t be done with the Finance App and must be done with Sequences.</a:t>
            </a:r>
          </a:p>
        </p:txBody>
      </p:sp>
      <p:sp>
        <p:nvSpPr>
          <p:cNvPr id="7" name="TextBox 6">
            <a:extLst>
              <a:ext uri="{FF2B5EF4-FFF2-40B4-BE49-F238E27FC236}">
                <a16:creationId xmlns:a16="http://schemas.microsoft.com/office/drawing/2014/main" id="{94BC6E63-23CB-44F0-AC43-6E6386FD6693}"/>
              </a:ext>
            </a:extLst>
          </p:cNvPr>
          <p:cNvSpPr txBox="1"/>
          <p:nvPr/>
        </p:nvSpPr>
        <p:spPr>
          <a:xfrm>
            <a:off x="3200400" y="1981200"/>
            <a:ext cx="2895600" cy="3293209"/>
          </a:xfrm>
          <a:prstGeom prst="rect">
            <a:avLst/>
          </a:prstGeom>
          <a:noFill/>
        </p:spPr>
        <p:txBody>
          <a:bodyPr wrap="square" rtlCol="0">
            <a:spAutoFit/>
          </a:bodyPr>
          <a:lstStyle/>
          <a:p>
            <a:r>
              <a:rPr lang="en-AU" sz="1600" dirty="0"/>
              <a:t>On the left you can see that taking an annuity of $59 000 that would only last me for 26 years, using the CPI index of 1.5%.</a:t>
            </a:r>
          </a:p>
          <a:p>
            <a:endParaRPr lang="en-AU" sz="1600" dirty="0"/>
          </a:p>
          <a:p>
            <a:r>
              <a:rPr lang="en-AU" sz="1600" dirty="0"/>
              <a:t>Changing some numbers </a:t>
            </a:r>
            <a:r>
              <a:rPr lang="en-AU" sz="1600" dirty="0" err="1"/>
              <a:t>ie</a:t>
            </a:r>
            <a:r>
              <a:rPr lang="en-AU" sz="1600" dirty="0"/>
              <a:t> taking a starting annuity of $56 000 would make it last for 31 years but using a starting amount of $54 000 I would be able to go through for 37 years. See right.</a:t>
            </a:r>
          </a:p>
        </p:txBody>
      </p:sp>
      <p:pic>
        <p:nvPicPr>
          <p:cNvPr id="5" name="Picture 4">
            <a:extLst>
              <a:ext uri="{FF2B5EF4-FFF2-40B4-BE49-F238E27FC236}">
                <a16:creationId xmlns:a16="http://schemas.microsoft.com/office/drawing/2014/main" id="{DD8164F7-28A1-4FD1-A438-2EAA12241D37}"/>
              </a:ext>
            </a:extLst>
          </p:cNvPr>
          <p:cNvPicPr>
            <a:picLocks noChangeAspect="1"/>
          </p:cNvPicPr>
          <p:nvPr/>
        </p:nvPicPr>
        <p:blipFill>
          <a:blip r:embed="rId2"/>
          <a:stretch>
            <a:fillRect/>
          </a:stretch>
        </p:blipFill>
        <p:spPr>
          <a:xfrm>
            <a:off x="192455" y="1997613"/>
            <a:ext cx="2855545" cy="4105811"/>
          </a:xfrm>
          <a:prstGeom prst="rect">
            <a:avLst/>
          </a:prstGeom>
        </p:spPr>
      </p:pic>
      <p:pic>
        <p:nvPicPr>
          <p:cNvPr id="6" name="Picture 5">
            <a:extLst>
              <a:ext uri="{FF2B5EF4-FFF2-40B4-BE49-F238E27FC236}">
                <a16:creationId xmlns:a16="http://schemas.microsoft.com/office/drawing/2014/main" id="{90DA8D42-86AC-4D80-8F97-49E1182102AB}"/>
              </a:ext>
            </a:extLst>
          </p:cNvPr>
          <p:cNvPicPr>
            <a:picLocks noChangeAspect="1"/>
          </p:cNvPicPr>
          <p:nvPr/>
        </p:nvPicPr>
        <p:blipFill>
          <a:blip r:embed="rId3"/>
          <a:stretch>
            <a:fillRect/>
          </a:stretch>
        </p:blipFill>
        <p:spPr>
          <a:xfrm>
            <a:off x="6096000" y="1981200"/>
            <a:ext cx="2866961" cy="4122224"/>
          </a:xfrm>
          <a:prstGeom prst="rect">
            <a:avLst/>
          </a:prstGeom>
        </p:spPr>
      </p:pic>
    </p:spTree>
    <p:extLst>
      <p:ext uri="{BB962C8B-B14F-4D97-AF65-F5344CB8AC3E}">
        <p14:creationId xmlns:p14="http://schemas.microsoft.com/office/powerpoint/2010/main" val="1172016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80A7B0-0509-4796-85E8-CA90B993CD04}"/>
              </a:ext>
            </a:extLst>
          </p:cNvPr>
          <p:cNvPicPr>
            <a:picLocks noChangeAspect="1"/>
          </p:cNvPicPr>
          <p:nvPr/>
        </p:nvPicPr>
        <p:blipFill rotWithShape="1">
          <a:blip r:embed="rId2"/>
          <a:srcRect l="-270" t="1128" r="270" b="56391"/>
          <a:stretch/>
        </p:blipFill>
        <p:spPr>
          <a:xfrm>
            <a:off x="838200" y="2057400"/>
            <a:ext cx="3524250" cy="2152650"/>
          </a:xfrm>
          <a:prstGeom prst="rect">
            <a:avLst/>
          </a:prstGeom>
        </p:spPr>
      </p:pic>
      <p:sp>
        <p:nvSpPr>
          <p:cNvPr id="5" name="TextBox 4">
            <a:extLst>
              <a:ext uri="{FF2B5EF4-FFF2-40B4-BE49-F238E27FC236}">
                <a16:creationId xmlns:a16="http://schemas.microsoft.com/office/drawing/2014/main" id="{3AA0C559-3802-45BB-B31E-6765C81E7F9C}"/>
              </a:ext>
            </a:extLst>
          </p:cNvPr>
          <p:cNvSpPr txBox="1"/>
          <p:nvPr/>
        </p:nvSpPr>
        <p:spPr>
          <a:xfrm>
            <a:off x="1020889" y="762000"/>
            <a:ext cx="6370511" cy="923330"/>
          </a:xfrm>
          <a:prstGeom prst="rect">
            <a:avLst/>
          </a:prstGeom>
          <a:noFill/>
        </p:spPr>
        <p:txBody>
          <a:bodyPr wrap="square" rtlCol="0">
            <a:spAutoFit/>
          </a:bodyPr>
          <a:lstStyle/>
          <a:p>
            <a:pPr algn="ctr"/>
            <a:r>
              <a:rPr lang="en-AU" b="1" u="sng" dirty="0"/>
              <a:t>How much would I be getting in 35 or 36 years time</a:t>
            </a:r>
          </a:p>
          <a:p>
            <a:pPr algn="ctr"/>
            <a:r>
              <a:rPr lang="en-AU" dirty="0"/>
              <a:t>This is just as an aside bit of information so you can see what happens over time.</a:t>
            </a:r>
          </a:p>
        </p:txBody>
      </p:sp>
      <p:sp>
        <p:nvSpPr>
          <p:cNvPr id="6" name="TextBox 5">
            <a:extLst>
              <a:ext uri="{FF2B5EF4-FFF2-40B4-BE49-F238E27FC236}">
                <a16:creationId xmlns:a16="http://schemas.microsoft.com/office/drawing/2014/main" id="{4E4E9695-8D43-421D-9AF8-8A24FB9DA008}"/>
              </a:ext>
            </a:extLst>
          </p:cNvPr>
          <p:cNvSpPr txBox="1"/>
          <p:nvPr/>
        </p:nvSpPr>
        <p:spPr>
          <a:xfrm>
            <a:off x="4953000" y="2286000"/>
            <a:ext cx="3581400" cy="2062103"/>
          </a:xfrm>
          <a:prstGeom prst="rect">
            <a:avLst/>
          </a:prstGeom>
          <a:noFill/>
        </p:spPr>
        <p:txBody>
          <a:bodyPr wrap="square" rtlCol="0">
            <a:spAutoFit/>
          </a:bodyPr>
          <a:lstStyle/>
          <a:p>
            <a:r>
              <a:rPr lang="en-AU" sz="1600" dirty="0"/>
              <a:t>As you can see on the left my yearly annuity would have increased from $54 000 per year at the start to</a:t>
            </a:r>
          </a:p>
          <a:p>
            <a:r>
              <a:rPr lang="en-AU" sz="1600" dirty="0"/>
              <a:t>$90 929.60 in 35 years time</a:t>
            </a:r>
          </a:p>
          <a:p>
            <a:r>
              <a:rPr lang="en-AU" sz="1600" dirty="0"/>
              <a:t>And</a:t>
            </a:r>
          </a:p>
          <a:p>
            <a:r>
              <a:rPr lang="en-AU" sz="1600" dirty="0"/>
              <a:t>$92 293.50 in 36 years time</a:t>
            </a:r>
          </a:p>
          <a:p>
            <a:r>
              <a:rPr lang="en-AU" sz="1600" dirty="0"/>
              <a:t>This is by adding the 1.5% CPI index each year.</a:t>
            </a:r>
          </a:p>
        </p:txBody>
      </p:sp>
    </p:spTree>
    <p:extLst>
      <p:ext uri="{BB962C8B-B14F-4D97-AF65-F5344CB8AC3E}">
        <p14:creationId xmlns:p14="http://schemas.microsoft.com/office/powerpoint/2010/main" val="122323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BBB619-2EF4-4491-8163-E31CD450D7BB}"/>
              </a:ext>
            </a:extLst>
          </p:cNvPr>
          <p:cNvSpPr txBox="1"/>
          <p:nvPr/>
        </p:nvSpPr>
        <p:spPr>
          <a:xfrm>
            <a:off x="457200" y="457200"/>
            <a:ext cx="8381999" cy="2554545"/>
          </a:xfrm>
          <a:prstGeom prst="rect">
            <a:avLst/>
          </a:prstGeom>
          <a:noFill/>
        </p:spPr>
        <p:txBody>
          <a:bodyPr wrap="square" rtlCol="0">
            <a:spAutoFit/>
          </a:bodyPr>
          <a:lstStyle/>
          <a:p>
            <a:r>
              <a:rPr lang="en-AU" sz="1600" b="1" u="sng" dirty="0"/>
              <a:t>Perpetuities</a:t>
            </a:r>
          </a:p>
          <a:p>
            <a:r>
              <a:rPr lang="en-AU" sz="1600" dirty="0"/>
              <a:t>Another way money can be used to provide for others into the future is using perpetuities (meaning lasting forever).  This is where a sum of money is put into an investment organisation and the interest earned each year is given away or used in some way.  The original amount isn’t touched and stays there for the following year to gain interest again.</a:t>
            </a:r>
          </a:p>
          <a:p>
            <a:r>
              <a:rPr lang="en-AU" sz="1600" dirty="0"/>
              <a:t>An example of this might be – I set up a perpetuity for a student at BSC who is going to go on studying but has some problems being able to afford it.  I have set aside $8000, still with my 9% pa.  How much will be gifted each year.</a:t>
            </a:r>
          </a:p>
          <a:p>
            <a:r>
              <a:rPr lang="en-AU" sz="1600" dirty="0"/>
              <a:t>9% of $8000 is $720, so $720 can be gifted each year.  Lets look at this on the Sequence App below.</a:t>
            </a:r>
          </a:p>
        </p:txBody>
      </p:sp>
      <p:pic>
        <p:nvPicPr>
          <p:cNvPr id="5" name="Picture 4">
            <a:extLst>
              <a:ext uri="{FF2B5EF4-FFF2-40B4-BE49-F238E27FC236}">
                <a16:creationId xmlns:a16="http://schemas.microsoft.com/office/drawing/2014/main" id="{776D6B37-8B77-4FB2-AE01-0A163752432C}"/>
              </a:ext>
            </a:extLst>
          </p:cNvPr>
          <p:cNvPicPr>
            <a:picLocks noChangeAspect="1"/>
          </p:cNvPicPr>
          <p:nvPr/>
        </p:nvPicPr>
        <p:blipFill rotWithShape="1">
          <a:blip r:embed="rId2"/>
          <a:srcRect t="4887" b="13910"/>
          <a:stretch/>
        </p:blipFill>
        <p:spPr>
          <a:xfrm>
            <a:off x="762000" y="3011745"/>
            <a:ext cx="3067403" cy="3581400"/>
          </a:xfrm>
          <a:prstGeom prst="rect">
            <a:avLst/>
          </a:prstGeom>
        </p:spPr>
      </p:pic>
      <p:sp>
        <p:nvSpPr>
          <p:cNvPr id="6" name="TextBox 5">
            <a:extLst>
              <a:ext uri="{FF2B5EF4-FFF2-40B4-BE49-F238E27FC236}">
                <a16:creationId xmlns:a16="http://schemas.microsoft.com/office/drawing/2014/main" id="{9933F0F7-6243-443F-97CD-EE8D35E0893F}"/>
              </a:ext>
            </a:extLst>
          </p:cNvPr>
          <p:cNvSpPr txBox="1"/>
          <p:nvPr/>
        </p:nvSpPr>
        <p:spPr>
          <a:xfrm>
            <a:off x="4876800" y="3839982"/>
            <a:ext cx="2743201" cy="646331"/>
          </a:xfrm>
          <a:prstGeom prst="rect">
            <a:avLst/>
          </a:prstGeom>
          <a:noFill/>
        </p:spPr>
        <p:txBody>
          <a:bodyPr wrap="square" rtlCol="0">
            <a:spAutoFit/>
          </a:bodyPr>
          <a:lstStyle/>
          <a:p>
            <a:r>
              <a:rPr lang="en-AU" dirty="0"/>
              <a:t>As you can see there is $8000 left each year.</a:t>
            </a:r>
          </a:p>
        </p:txBody>
      </p:sp>
      <p:cxnSp>
        <p:nvCxnSpPr>
          <p:cNvPr id="8" name="Straight Arrow Connector 7">
            <a:extLst>
              <a:ext uri="{FF2B5EF4-FFF2-40B4-BE49-F238E27FC236}">
                <a16:creationId xmlns:a16="http://schemas.microsoft.com/office/drawing/2014/main" id="{ED62C67D-2B1A-4758-A1C6-0B13AE46B2EB}"/>
              </a:ext>
            </a:extLst>
          </p:cNvPr>
          <p:cNvCxnSpPr/>
          <p:nvPr/>
        </p:nvCxnSpPr>
        <p:spPr>
          <a:xfrm flipH="1">
            <a:off x="2743200" y="4486313"/>
            <a:ext cx="2133600" cy="1228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96344A1-BBE1-41C9-A252-6F2BDA49B9D6}"/>
              </a:ext>
            </a:extLst>
          </p:cNvPr>
          <p:cNvSpPr txBox="1"/>
          <p:nvPr/>
        </p:nvSpPr>
        <p:spPr>
          <a:xfrm>
            <a:off x="4648199" y="5334000"/>
            <a:ext cx="3241080" cy="369332"/>
          </a:xfrm>
          <a:prstGeom prst="rect">
            <a:avLst/>
          </a:prstGeom>
          <a:noFill/>
        </p:spPr>
        <p:txBody>
          <a:bodyPr wrap="none" rtlCol="0">
            <a:spAutoFit/>
          </a:bodyPr>
          <a:lstStyle/>
          <a:p>
            <a:r>
              <a:rPr lang="en-AU" dirty="0"/>
              <a:t>Try exercise 4A pages 91 - 94</a:t>
            </a:r>
          </a:p>
        </p:txBody>
      </p:sp>
    </p:spTree>
    <p:extLst>
      <p:ext uri="{BB962C8B-B14F-4D97-AF65-F5344CB8AC3E}">
        <p14:creationId xmlns:p14="http://schemas.microsoft.com/office/powerpoint/2010/main" val="3329954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A6F91B-D8F8-4E3C-B673-E945190217FD}"/>
              </a:ext>
            </a:extLst>
          </p:cNvPr>
          <p:cNvSpPr txBox="1"/>
          <p:nvPr/>
        </p:nvSpPr>
        <p:spPr>
          <a:xfrm>
            <a:off x="457200" y="533400"/>
            <a:ext cx="8534400" cy="1815882"/>
          </a:xfrm>
          <a:prstGeom prst="rect">
            <a:avLst/>
          </a:prstGeom>
          <a:noFill/>
        </p:spPr>
        <p:txBody>
          <a:bodyPr wrap="square" rtlCol="0">
            <a:spAutoFit/>
          </a:bodyPr>
          <a:lstStyle/>
          <a:p>
            <a:r>
              <a:rPr lang="en-AU" sz="1600" b="1" dirty="0"/>
              <a:t>What happens if the frequency of compounding doesn’t equal the frequency of payments – yes we will be using that C/Y and P/Y part of the Compound Interest App</a:t>
            </a:r>
          </a:p>
          <a:p>
            <a:endParaRPr lang="en-AU" sz="1600" dirty="0"/>
          </a:p>
          <a:p>
            <a:r>
              <a:rPr lang="en-AU" sz="1600" dirty="0"/>
              <a:t>What happens if I have invested some money, say $300 000, getting our 9% per annum compounded quarterly and I want to have $50 000 withdrawn each year (yearly).  (a) How much will I have left at the end of 6 years </a:t>
            </a:r>
            <a:r>
              <a:rPr lang="en-AU" sz="1600"/>
              <a:t>and then (</a:t>
            </a:r>
            <a:r>
              <a:rPr lang="en-AU" sz="1600" dirty="0"/>
              <a:t>b) How long will it last till the final payment is less than $50 000?</a:t>
            </a:r>
          </a:p>
        </p:txBody>
      </p:sp>
      <p:pic>
        <p:nvPicPr>
          <p:cNvPr id="2" name="Picture 1">
            <a:extLst>
              <a:ext uri="{FF2B5EF4-FFF2-40B4-BE49-F238E27FC236}">
                <a16:creationId xmlns:a16="http://schemas.microsoft.com/office/drawing/2014/main" id="{A5CAF2C4-2E51-4654-A497-4802C929D681}"/>
              </a:ext>
            </a:extLst>
          </p:cNvPr>
          <p:cNvPicPr>
            <a:picLocks noChangeAspect="1"/>
          </p:cNvPicPr>
          <p:nvPr/>
        </p:nvPicPr>
        <p:blipFill rotWithShape="1">
          <a:blip r:embed="rId2"/>
          <a:srcRect b="36466"/>
          <a:stretch/>
        </p:blipFill>
        <p:spPr>
          <a:xfrm>
            <a:off x="437271" y="2514600"/>
            <a:ext cx="2991729" cy="2732985"/>
          </a:xfrm>
          <a:prstGeom prst="rect">
            <a:avLst/>
          </a:prstGeom>
        </p:spPr>
      </p:pic>
      <p:pic>
        <p:nvPicPr>
          <p:cNvPr id="3" name="Picture 2">
            <a:extLst>
              <a:ext uri="{FF2B5EF4-FFF2-40B4-BE49-F238E27FC236}">
                <a16:creationId xmlns:a16="http://schemas.microsoft.com/office/drawing/2014/main" id="{F0E09649-181B-481A-85A3-C2006F2FE55B}"/>
              </a:ext>
            </a:extLst>
          </p:cNvPr>
          <p:cNvPicPr>
            <a:picLocks noChangeAspect="1"/>
          </p:cNvPicPr>
          <p:nvPr/>
        </p:nvPicPr>
        <p:blipFill rotWithShape="1">
          <a:blip r:embed="rId3"/>
          <a:srcRect t="14125" b="43499"/>
          <a:stretch/>
        </p:blipFill>
        <p:spPr>
          <a:xfrm>
            <a:off x="6477000" y="2133600"/>
            <a:ext cx="2397752" cy="1460917"/>
          </a:xfrm>
          <a:prstGeom prst="rect">
            <a:avLst/>
          </a:prstGeom>
        </p:spPr>
      </p:pic>
      <p:pic>
        <p:nvPicPr>
          <p:cNvPr id="6" name="Picture 5">
            <a:extLst>
              <a:ext uri="{FF2B5EF4-FFF2-40B4-BE49-F238E27FC236}">
                <a16:creationId xmlns:a16="http://schemas.microsoft.com/office/drawing/2014/main" id="{EE7DA2F5-F254-452A-8516-5C9DABAEE0FD}"/>
              </a:ext>
            </a:extLst>
          </p:cNvPr>
          <p:cNvPicPr>
            <a:picLocks noChangeAspect="1"/>
          </p:cNvPicPr>
          <p:nvPr/>
        </p:nvPicPr>
        <p:blipFill rotWithShape="1">
          <a:blip r:embed="rId4"/>
          <a:srcRect t="15413" b="43985"/>
          <a:stretch/>
        </p:blipFill>
        <p:spPr>
          <a:xfrm>
            <a:off x="6477000" y="3791693"/>
            <a:ext cx="2373206" cy="1385439"/>
          </a:xfrm>
          <a:prstGeom prst="rect">
            <a:avLst/>
          </a:prstGeom>
        </p:spPr>
      </p:pic>
      <p:pic>
        <p:nvPicPr>
          <p:cNvPr id="7" name="Picture 6">
            <a:extLst>
              <a:ext uri="{FF2B5EF4-FFF2-40B4-BE49-F238E27FC236}">
                <a16:creationId xmlns:a16="http://schemas.microsoft.com/office/drawing/2014/main" id="{2A470503-F8E8-41E7-87AD-79D23034A740}"/>
              </a:ext>
            </a:extLst>
          </p:cNvPr>
          <p:cNvPicPr>
            <a:picLocks noChangeAspect="1"/>
          </p:cNvPicPr>
          <p:nvPr/>
        </p:nvPicPr>
        <p:blipFill rotWithShape="1">
          <a:blip r:embed="rId5"/>
          <a:srcRect t="16917" b="43985"/>
          <a:stretch/>
        </p:blipFill>
        <p:spPr>
          <a:xfrm>
            <a:off x="6477000" y="5410200"/>
            <a:ext cx="2360238" cy="1326836"/>
          </a:xfrm>
          <a:prstGeom prst="rect">
            <a:avLst/>
          </a:prstGeom>
        </p:spPr>
      </p:pic>
      <p:sp>
        <p:nvSpPr>
          <p:cNvPr id="8" name="TextBox 7">
            <a:extLst>
              <a:ext uri="{FF2B5EF4-FFF2-40B4-BE49-F238E27FC236}">
                <a16:creationId xmlns:a16="http://schemas.microsoft.com/office/drawing/2014/main" id="{C34D4109-919F-4DD3-BCC6-A923CFE5B263}"/>
              </a:ext>
            </a:extLst>
          </p:cNvPr>
          <p:cNvSpPr txBox="1"/>
          <p:nvPr/>
        </p:nvSpPr>
        <p:spPr>
          <a:xfrm>
            <a:off x="76200" y="2349282"/>
            <a:ext cx="402674" cy="307777"/>
          </a:xfrm>
          <a:prstGeom prst="rect">
            <a:avLst/>
          </a:prstGeom>
          <a:noFill/>
        </p:spPr>
        <p:txBody>
          <a:bodyPr wrap="none" rtlCol="0">
            <a:spAutoFit/>
          </a:bodyPr>
          <a:lstStyle/>
          <a:p>
            <a:r>
              <a:rPr lang="en-AU" sz="1400" dirty="0"/>
              <a:t>(a)</a:t>
            </a:r>
          </a:p>
        </p:txBody>
      </p:sp>
      <p:sp>
        <p:nvSpPr>
          <p:cNvPr id="9" name="Rectangle 8">
            <a:extLst>
              <a:ext uri="{FF2B5EF4-FFF2-40B4-BE49-F238E27FC236}">
                <a16:creationId xmlns:a16="http://schemas.microsoft.com/office/drawing/2014/main" id="{7AA76817-A870-4D23-8691-276CEF679C51}"/>
              </a:ext>
            </a:extLst>
          </p:cNvPr>
          <p:cNvSpPr/>
          <p:nvPr/>
        </p:nvSpPr>
        <p:spPr>
          <a:xfrm>
            <a:off x="5893358" y="2062609"/>
            <a:ext cx="466794" cy="369332"/>
          </a:xfrm>
          <a:prstGeom prst="rect">
            <a:avLst/>
          </a:prstGeom>
        </p:spPr>
        <p:txBody>
          <a:bodyPr wrap="none">
            <a:spAutoFit/>
          </a:bodyPr>
          <a:lstStyle/>
          <a:p>
            <a:r>
              <a:rPr lang="en-AU" dirty="0"/>
              <a:t>(b)</a:t>
            </a:r>
          </a:p>
        </p:txBody>
      </p:sp>
      <p:sp>
        <p:nvSpPr>
          <p:cNvPr id="10" name="TextBox 9">
            <a:extLst>
              <a:ext uri="{FF2B5EF4-FFF2-40B4-BE49-F238E27FC236}">
                <a16:creationId xmlns:a16="http://schemas.microsoft.com/office/drawing/2014/main" id="{2363FE74-2602-4D5A-BBF6-DA857AFF036F}"/>
              </a:ext>
            </a:extLst>
          </p:cNvPr>
          <p:cNvSpPr txBox="1"/>
          <p:nvPr/>
        </p:nvSpPr>
        <p:spPr>
          <a:xfrm>
            <a:off x="609600" y="5486400"/>
            <a:ext cx="2382129" cy="830997"/>
          </a:xfrm>
          <a:prstGeom prst="rect">
            <a:avLst/>
          </a:prstGeom>
          <a:noFill/>
        </p:spPr>
        <p:txBody>
          <a:bodyPr wrap="square" rtlCol="0">
            <a:spAutoFit/>
          </a:bodyPr>
          <a:lstStyle/>
          <a:p>
            <a:r>
              <a:rPr lang="en-AU" sz="1600" dirty="0"/>
              <a:t>Note: this is 4 as it is compounding 4 times a year.</a:t>
            </a:r>
          </a:p>
        </p:txBody>
      </p:sp>
      <p:cxnSp>
        <p:nvCxnSpPr>
          <p:cNvPr id="12" name="Straight Arrow Connector 11">
            <a:extLst>
              <a:ext uri="{FF2B5EF4-FFF2-40B4-BE49-F238E27FC236}">
                <a16:creationId xmlns:a16="http://schemas.microsoft.com/office/drawing/2014/main" id="{2ACCE62D-D619-4355-836F-B147CAE7694E}"/>
              </a:ext>
            </a:extLst>
          </p:cNvPr>
          <p:cNvCxnSpPr/>
          <p:nvPr/>
        </p:nvCxnSpPr>
        <p:spPr>
          <a:xfrm flipV="1">
            <a:off x="990600" y="4953000"/>
            <a:ext cx="3048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C7EBC6B-0976-4520-BEEB-1AFDB3FE8011}"/>
              </a:ext>
            </a:extLst>
          </p:cNvPr>
          <p:cNvSpPr txBox="1"/>
          <p:nvPr/>
        </p:nvSpPr>
        <p:spPr>
          <a:xfrm>
            <a:off x="3790071" y="2430206"/>
            <a:ext cx="2570081" cy="4278094"/>
          </a:xfrm>
          <a:prstGeom prst="rect">
            <a:avLst/>
          </a:prstGeom>
          <a:noFill/>
        </p:spPr>
        <p:txBody>
          <a:bodyPr wrap="square" rtlCol="0">
            <a:spAutoFit/>
          </a:bodyPr>
          <a:lstStyle/>
          <a:p>
            <a:r>
              <a:rPr lang="en-AU" sz="1600" dirty="0"/>
              <a:t>Using the Finance App it is a bit of a guessing game.  I tried N = 8yrs first then 9 &amp; 10.</a:t>
            </a:r>
          </a:p>
          <a:p>
            <a:r>
              <a:rPr lang="en-AU" sz="1600" dirty="0"/>
              <a:t>Please note: this occurs in year 10 with a final payment of :</a:t>
            </a:r>
          </a:p>
          <a:p>
            <a:r>
              <a:rPr lang="en-AU" sz="1600" dirty="0"/>
              <a:t>50000 – 40359.62 = $9640.38</a:t>
            </a:r>
          </a:p>
          <a:p>
            <a:r>
              <a:rPr lang="en-AU" sz="1600" dirty="0"/>
              <a:t>This is the payment at the end of year 10 with the interest added – not the FV at the end of year 9.</a:t>
            </a:r>
          </a:p>
          <a:p>
            <a:endParaRPr lang="en-AU" sz="1600" dirty="0"/>
          </a:p>
          <a:p>
            <a:r>
              <a:rPr lang="en-AU" sz="1600" dirty="0"/>
              <a:t>This shows up easier using the Sequence App – next page.</a:t>
            </a:r>
          </a:p>
        </p:txBody>
      </p:sp>
    </p:spTree>
    <p:extLst>
      <p:ext uri="{BB962C8B-B14F-4D97-AF65-F5344CB8AC3E}">
        <p14:creationId xmlns:p14="http://schemas.microsoft.com/office/powerpoint/2010/main" val="980279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BA53C5-F2ED-4C91-9102-624793CD83D2}"/>
              </a:ext>
            </a:extLst>
          </p:cNvPr>
          <p:cNvSpPr txBox="1"/>
          <p:nvPr/>
        </p:nvSpPr>
        <p:spPr>
          <a:xfrm>
            <a:off x="914400" y="457200"/>
            <a:ext cx="2591159" cy="584775"/>
          </a:xfrm>
          <a:prstGeom prst="rect">
            <a:avLst/>
          </a:prstGeom>
          <a:noFill/>
        </p:spPr>
        <p:txBody>
          <a:bodyPr wrap="none" rtlCol="0">
            <a:spAutoFit/>
          </a:bodyPr>
          <a:lstStyle/>
          <a:p>
            <a:r>
              <a:rPr lang="en-AU" sz="1600" b="1" u="sng" dirty="0"/>
              <a:t>Using the Sequence App</a:t>
            </a:r>
          </a:p>
          <a:p>
            <a:endParaRPr lang="en-AU" sz="1600" dirty="0"/>
          </a:p>
        </p:txBody>
      </p:sp>
      <p:pic>
        <p:nvPicPr>
          <p:cNvPr id="5" name="Picture 4">
            <a:extLst>
              <a:ext uri="{FF2B5EF4-FFF2-40B4-BE49-F238E27FC236}">
                <a16:creationId xmlns:a16="http://schemas.microsoft.com/office/drawing/2014/main" id="{9D11BB9A-0C25-40D3-BF1A-D73289832C32}"/>
              </a:ext>
            </a:extLst>
          </p:cNvPr>
          <p:cNvPicPr>
            <a:picLocks noChangeAspect="1"/>
          </p:cNvPicPr>
          <p:nvPr/>
        </p:nvPicPr>
        <p:blipFill>
          <a:blip r:embed="rId2"/>
          <a:stretch>
            <a:fillRect/>
          </a:stretch>
        </p:blipFill>
        <p:spPr>
          <a:xfrm>
            <a:off x="188106" y="2362200"/>
            <a:ext cx="2729858" cy="3925093"/>
          </a:xfrm>
          <a:prstGeom prst="rect">
            <a:avLst/>
          </a:prstGeom>
        </p:spPr>
      </p:pic>
      <p:pic>
        <p:nvPicPr>
          <p:cNvPr id="6" name="Picture 5">
            <a:extLst>
              <a:ext uri="{FF2B5EF4-FFF2-40B4-BE49-F238E27FC236}">
                <a16:creationId xmlns:a16="http://schemas.microsoft.com/office/drawing/2014/main" id="{9A978448-4E26-4BB7-B9A0-8E8C3DE1451F}"/>
              </a:ext>
            </a:extLst>
          </p:cNvPr>
          <p:cNvPicPr>
            <a:picLocks noChangeAspect="1"/>
          </p:cNvPicPr>
          <p:nvPr/>
        </p:nvPicPr>
        <p:blipFill>
          <a:blip r:embed="rId3"/>
          <a:stretch>
            <a:fillRect/>
          </a:stretch>
        </p:blipFill>
        <p:spPr>
          <a:xfrm>
            <a:off x="6127585" y="971405"/>
            <a:ext cx="2798406" cy="4023653"/>
          </a:xfrm>
          <a:prstGeom prst="rect">
            <a:avLst/>
          </a:prstGeom>
        </p:spPr>
      </p:pic>
      <p:sp>
        <p:nvSpPr>
          <p:cNvPr id="7" name="TextBox 6">
            <a:extLst>
              <a:ext uri="{FF2B5EF4-FFF2-40B4-BE49-F238E27FC236}">
                <a16:creationId xmlns:a16="http://schemas.microsoft.com/office/drawing/2014/main" id="{44043414-859F-483B-BAA2-5EF1B6877073}"/>
              </a:ext>
            </a:extLst>
          </p:cNvPr>
          <p:cNvSpPr txBox="1"/>
          <p:nvPr/>
        </p:nvSpPr>
        <p:spPr>
          <a:xfrm>
            <a:off x="3630038" y="1233016"/>
            <a:ext cx="2406298" cy="4031873"/>
          </a:xfrm>
          <a:prstGeom prst="rect">
            <a:avLst/>
          </a:prstGeom>
          <a:noFill/>
        </p:spPr>
        <p:txBody>
          <a:bodyPr wrap="square" rtlCol="0">
            <a:spAutoFit/>
          </a:bodyPr>
          <a:lstStyle/>
          <a:p>
            <a:r>
              <a:rPr lang="en-AU" sz="1600" dirty="0"/>
              <a:t>Using the Sequence App can be easier as you look down the list till the first negative one occurs.</a:t>
            </a:r>
          </a:p>
          <a:p>
            <a:r>
              <a:rPr lang="en-AU" sz="1600" dirty="0"/>
              <a:t>Same as before this occurs in year 10 with a final payment of :</a:t>
            </a:r>
          </a:p>
          <a:p>
            <a:r>
              <a:rPr lang="en-AU" sz="1600" dirty="0"/>
              <a:t>50000 – 40359.62 = $9640.38</a:t>
            </a:r>
          </a:p>
          <a:p>
            <a:r>
              <a:rPr lang="en-AU" sz="1600" dirty="0"/>
              <a:t>This is the payment at the end of year 10 with the interest added – not the amount at the end of year 9.</a:t>
            </a:r>
          </a:p>
          <a:p>
            <a:endParaRPr lang="en-AU" sz="1600" dirty="0"/>
          </a:p>
        </p:txBody>
      </p:sp>
      <p:sp>
        <p:nvSpPr>
          <p:cNvPr id="8" name="TextBox 7">
            <a:extLst>
              <a:ext uri="{FF2B5EF4-FFF2-40B4-BE49-F238E27FC236}">
                <a16:creationId xmlns:a16="http://schemas.microsoft.com/office/drawing/2014/main" id="{C21A75ED-B002-4A7F-8C58-629B4F86A6F0}"/>
              </a:ext>
            </a:extLst>
          </p:cNvPr>
          <p:cNvSpPr txBox="1"/>
          <p:nvPr/>
        </p:nvSpPr>
        <p:spPr>
          <a:xfrm>
            <a:off x="191896" y="817517"/>
            <a:ext cx="2382129" cy="1323439"/>
          </a:xfrm>
          <a:prstGeom prst="rect">
            <a:avLst/>
          </a:prstGeom>
          <a:noFill/>
        </p:spPr>
        <p:txBody>
          <a:bodyPr wrap="square" rtlCol="0">
            <a:spAutoFit/>
          </a:bodyPr>
          <a:lstStyle/>
          <a:p>
            <a:r>
              <a:rPr lang="en-AU" sz="1600" dirty="0"/>
              <a:t>Note: this is 4 as it is compounded 4 times a year and the interest is 1.0225 as the 0.0225 is 9÷4</a:t>
            </a:r>
          </a:p>
        </p:txBody>
      </p:sp>
      <p:sp>
        <p:nvSpPr>
          <p:cNvPr id="9" name="TextBox 8">
            <a:extLst>
              <a:ext uri="{FF2B5EF4-FFF2-40B4-BE49-F238E27FC236}">
                <a16:creationId xmlns:a16="http://schemas.microsoft.com/office/drawing/2014/main" id="{4C0C4A21-8A1A-4C4C-992C-870E26E2B888}"/>
              </a:ext>
            </a:extLst>
          </p:cNvPr>
          <p:cNvSpPr txBox="1"/>
          <p:nvPr/>
        </p:nvSpPr>
        <p:spPr>
          <a:xfrm>
            <a:off x="3261903" y="5410200"/>
            <a:ext cx="2382129" cy="1323439"/>
          </a:xfrm>
          <a:prstGeom prst="rect">
            <a:avLst/>
          </a:prstGeom>
          <a:noFill/>
        </p:spPr>
        <p:txBody>
          <a:bodyPr wrap="square" rtlCol="0">
            <a:spAutoFit/>
          </a:bodyPr>
          <a:lstStyle/>
          <a:p>
            <a:r>
              <a:rPr lang="en-AU" sz="1600" dirty="0"/>
              <a:t>We look at 6 on the list to find the answer for 6 years.  If we click on it the answer to many </a:t>
            </a:r>
            <a:r>
              <a:rPr lang="en-AU" sz="1600" dirty="0" err="1"/>
              <a:t>dp’s</a:t>
            </a:r>
            <a:r>
              <a:rPr lang="en-AU" sz="1600" dirty="0"/>
              <a:t> is shown here</a:t>
            </a:r>
          </a:p>
        </p:txBody>
      </p:sp>
      <p:cxnSp>
        <p:nvCxnSpPr>
          <p:cNvPr id="3" name="Straight Arrow Connector 2">
            <a:extLst>
              <a:ext uri="{FF2B5EF4-FFF2-40B4-BE49-F238E27FC236}">
                <a16:creationId xmlns:a16="http://schemas.microsoft.com/office/drawing/2014/main" id="{59EF9A5B-6F09-462D-A6F3-DF597C94D2C0}"/>
              </a:ext>
            </a:extLst>
          </p:cNvPr>
          <p:cNvCxnSpPr/>
          <p:nvPr/>
        </p:nvCxnSpPr>
        <p:spPr>
          <a:xfrm>
            <a:off x="1553035" y="1233016"/>
            <a:ext cx="0" cy="1814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486F0BE-039C-4D29-BD8F-2F26B8E51E15}"/>
              </a:ext>
            </a:extLst>
          </p:cNvPr>
          <p:cNvCxnSpPr/>
          <p:nvPr/>
        </p:nvCxnSpPr>
        <p:spPr>
          <a:xfrm flipH="1" flipV="1">
            <a:off x="1553035" y="5943600"/>
            <a:ext cx="1708868"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7730B6E-D438-4DBB-9474-1266BE0B055B}"/>
              </a:ext>
            </a:extLst>
          </p:cNvPr>
          <p:cNvSpPr txBox="1"/>
          <p:nvPr/>
        </p:nvSpPr>
        <p:spPr>
          <a:xfrm>
            <a:off x="61497" y="2012112"/>
            <a:ext cx="402674" cy="307777"/>
          </a:xfrm>
          <a:prstGeom prst="rect">
            <a:avLst/>
          </a:prstGeom>
          <a:noFill/>
        </p:spPr>
        <p:txBody>
          <a:bodyPr wrap="none" rtlCol="0">
            <a:spAutoFit/>
          </a:bodyPr>
          <a:lstStyle/>
          <a:p>
            <a:r>
              <a:rPr lang="en-AU" sz="1400" dirty="0"/>
              <a:t>(a)</a:t>
            </a:r>
          </a:p>
        </p:txBody>
      </p:sp>
      <p:sp>
        <p:nvSpPr>
          <p:cNvPr id="13" name="TextBox 12">
            <a:extLst>
              <a:ext uri="{FF2B5EF4-FFF2-40B4-BE49-F238E27FC236}">
                <a16:creationId xmlns:a16="http://schemas.microsoft.com/office/drawing/2014/main" id="{234C32E3-2748-4084-B9C2-F9BD5AE50964}"/>
              </a:ext>
            </a:extLst>
          </p:cNvPr>
          <p:cNvSpPr txBox="1"/>
          <p:nvPr/>
        </p:nvSpPr>
        <p:spPr>
          <a:xfrm>
            <a:off x="5706391" y="817517"/>
            <a:ext cx="402674" cy="307777"/>
          </a:xfrm>
          <a:prstGeom prst="rect">
            <a:avLst/>
          </a:prstGeom>
          <a:noFill/>
        </p:spPr>
        <p:txBody>
          <a:bodyPr wrap="none" rtlCol="0">
            <a:spAutoFit/>
          </a:bodyPr>
          <a:lstStyle/>
          <a:p>
            <a:r>
              <a:rPr lang="en-AU" sz="1400" dirty="0"/>
              <a:t>(b)</a:t>
            </a:r>
          </a:p>
        </p:txBody>
      </p:sp>
      <p:sp>
        <p:nvSpPr>
          <p:cNvPr id="2" name="TextBox 1"/>
          <p:cNvSpPr txBox="1"/>
          <p:nvPr/>
        </p:nvSpPr>
        <p:spPr>
          <a:xfrm>
            <a:off x="6127585" y="5533310"/>
            <a:ext cx="2349135" cy="1077218"/>
          </a:xfrm>
          <a:prstGeom prst="rect">
            <a:avLst/>
          </a:prstGeom>
          <a:noFill/>
          <a:ln>
            <a:solidFill>
              <a:schemeClr val="tx1">
                <a:lumMod val="75000"/>
                <a:lumOff val="25000"/>
              </a:schemeClr>
            </a:solidFill>
          </a:ln>
        </p:spPr>
        <p:txBody>
          <a:bodyPr wrap="square" rtlCol="0">
            <a:spAutoFit/>
          </a:bodyPr>
          <a:lstStyle/>
          <a:p>
            <a:r>
              <a:rPr lang="en-AU" sz="1600" dirty="0"/>
              <a:t>Now do Exercises 4B and finish the Miscellaneous exercises 3 &amp; 4.</a:t>
            </a:r>
          </a:p>
        </p:txBody>
      </p:sp>
    </p:spTree>
    <p:extLst>
      <p:ext uri="{BB962C8B-B14F-4D97-AF65-F5344CB8AC3E}">
        <p14:creationId xmlns:p14="http://schemas.microsoft.com/office/powerpoint/2010/main" val="1700746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8"/>
          <p:cNvSpPr>
            <a:spLocks noChangeArrowheads="1"/>
          </p:cNvSpPr>
          <p:nvPr/>
        </p:nvSpPr>
        <p:spPr bwMode="auto">
          <a:xfrm>
            <a:off x="0" y="304800"/>
            <a:ext cx="9144000" cy="570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b="1" dirty="0">
                <a:ea typeface="Times New Roman" pitchFamily="18" charset="0"/>
                <a:cs typeface="Arial" charset="0"/>
              </a:rPr>
              <a:t>FINANCIAL CALCULATIONS – using the Financial App</a:t>
            </a:r>
            <a:endParaRPr lang="en-US" altLang="en-US" sz="1600" dirty="0">
              <a:ea typeface="Times New Roman" pitchFamily="18" charset="0"/>
              <a:cs typeface="Arial" charset="0"/>
            </a:endParaRPr>
          </a:p>
          <a:p>
            <a:r>
              <a:rPr lang="en-AU" altLang="en-US" sz="1600" b="1" dirty="0">
                <a:ea typeface="Times New Roman" pitchFamily="18" charset="0"/>
                <a:cs typeface="Arial" charset="0"/>
              </a:rPr>
              <a:t>Interest</a:t>
            </a:r>
            <a:endParaRPr lang="en-US" altLang="en-US" sz="1600" dirty="0">
              <a:ea typeface="Times New Roman" pitchFamily="18" charset="0"/>
              <a:cs typeface="Arial" charset="0"/>
            </a:endParaRPr>
          </a:p>
          <a:p>
            <a:r>
              <a:rPr lang="en-AU" altLang="en-US" sz="1600" dirty="0">
                <a:ea typeface="Times New Roman" pitchFamily="18" charset="0"/>
                <a:cs typeface="Arial" charset="0"/>
              </a:rPr>
              <a:t>The price paid for borrowing money. It is expressed as a percentage rate over a period of time. </a:t>
            </a:r>
            <a:endParaRPr lang="en-US" altLang="en-US" sz="1600" dirty="0">
              <a:ea typeface="Times New Roman" pitchFamily="18" charset="0"/>
              <a:cs typeface="Arial" charset="0"/>
            </a:endParaRPr>
          </a:p>
          <a:p>
            <a:r>
              <a:rPr lang="en-AU" altLang="en-US" sz="1600" b="1" dirty="0">
                <a:ea typeface="Times New Roman" pitchFamily="18" charset="0"/>
                <a:cs typeface="Arial" charset="0"/>
              </a:rPr>
              <a:t>Principal</a:t>
            </a:r>
            <a:endParaRPr lang="en-US" altLang="en-US" sz="1600" dirty="0">
              <a:ea typeface="Times New Roman" pitchFamily="18" charset="0"/>
              <a:cs typeface="Arial" charset="0"/>
            </a:endParaRPr>
          </a:p>
          <a:p>
            <a:r>
              <a:rPr lang="en-AU" altLang="en-US" sz="1600" dirty="0">
                <a:ea typeface="Times New Roman" pitchFamily="18" charset="0"/>
                <a:cs typeface="Arial" charset="0"/>
              </a:rPr>
              <a:t>The total amount of money being borrowed or lent. </a:t>
            </a:r>
            <a:endParaRPr lang="en-US" altLang="en-US" sz="1600" dirty="0">
              <a:ea typeface="Times New Roman" pitchFamily="18" charset="0"/>
              <a:cs typeface="Arial" charset="0"/>
            </a:endParaRPr>
          </a:p>
          <a:p>
            <a:r>
              <a:rPr lang="en-AU" altLang="en-US" sz="1600" b="1" dirty="0">
                <a:ea typeface="Times New Roman" pitchFamily="18" charset="0"/>
                <a:cs typeface="Arial" charset="0"/>
              </a:rPr>
              <a:t>Simple interest</a:t>
            </a:r>
            <a:endParaRPr lang="en-US" altLang="en-US" sz="1600" dirty="0">
              <a:ea typeface="Times New Roman" pitchFamily="18" charset="0"/>
              <a:cs typeface="Arial" charset="0"/>
            </a:endParaRPr>
          </a:p>
          <a:p>
            <a:r>
              <a:rPr lang="en-AU" altLang="en-US" sz="1600" dirty="0">
                <a:ea typeface="Times New Roman" pitchFamily="18" charset="0"/>
                <a:cs typeface="Arial" charset="0"/>
                <a:hlinkClick r:id="rId2"/>
              </a:rPr>
              <a:t>Interest</a:t>
            </a:r>
            <a:r>
              <a:rPr lang="en-AU" altLang="en-US" sz="1600" dirty="0">
                <a:ea typeface="Times New Roman" pitchFamily="18" charset="0"/>
                <a:cs typeface="Arial" charset="0"/>
              </a:rPr>
              <a:t> calculated as a simple percentage of the original </a:t>
            </a:r>
            <a:r>
              <a:rPr lang="en-AU" altLang="en-US" sz="1600" dirty="0">
                <a:ea typeface="Times New Roman" pitchFamily="18" charset="0"/>
                <a:cs typeface="Arial" charset="0"/>
                <a:hlinkClick r:id="rId3"/>
              </a:rPr>
              <a:t>principal</a:t>
            </a:r>
            <a:r>
              <a:rPr lang="en-AU" altLang="en-US" sz="1600" dirty="0">
                <a:ea typeface="Times New Roman" pitchFamily="18" charset="0"/>
                <a:cs typeface="Arial" charset="0"/>
              </a:rPr>
              <a:t> amount.</a:t>
            </a:r>
            <a:endParaRPr lang="en-US" altLang="en-US" sz="1600" dirty="0">
              <a:ea typeface="Times New Roman" pitchFamily="18" charset="0"/>
              <a:cs typeface="Arial" charset="0"/>
            </a:endParaRPr>
          </a:p>
          <a:p>
            <a:r>
              <a:rPr lang="en-AU" altLang="en-US" sz="1600" b="1" dirty="0">
                <a:ea typeface="Times New Roman" pitchFamily="18" charset="0"/>
                <a:cs typeface="Arial" charset="0"/>
              </a:rPr>
              <a:t>Compound interest</a:t>
            </a:r>
            <a:endParaRPr lang="en-US" altLang="en-US" sz="1600" dirty="0">
              <a:ea typeface="Times New Roman" pitchFamily="18" charset="0"/>
              <a:cs typeface="Arial" charset="0"/>
            </a:endParaRPr>
          </a:p>
          <a:p>
            <a:r>
              <a:rPr lang="en-AU" altLang="en-US" sz="1600" dirty="0">
                <a:ea typeface="Times New Roman" pitchFamily="18" charset="0"/>
                <a:cs typeface="Arial" charset="0"/>
                <a:hlinkClick r:id="rId4"/>
              </a:rPr>
              <a:t>Interest</a:t>
            </a:r>
            <a:r>
              <a:rPr lang="en-AU" altLang="en-US" sz="1600" dirty="0">
                <a:ea typeface="Times New Roman" pitchFamily="18" charset="0"/>
                <a:cs typeface="Arial" charset="0"/>
              </a:rPr>
              <a:t> paid on previously earned interest as well as on the </a:t>
            </a:r>
            <a:r>
              <a:rPr lang="en-AU" altLang="en-US" sz="1600" dirty="0">
                <a:ea typeface="Times New Roman" pitchFamily="18" charset="0"/>
                <a:cs typeface="Arial" charset="0"/>
                <a:hlinkClick r:id="rId5"/>
              </a:rPr>
              <a:t>principal</a:t>
            </a:r>
            <a:r>
              <a:rPr lang="en-AU" altLang="en-US" sz="1600" dirty="0">
                <a:ea typeface="Times New Roman" pitchFamily="18" charset="0"/>
                <a:cs typeface="Arial" charset="0"/>
              </a:rPr>
              <a:t>. </a:t>
            </a:r>
            <a:endParaRPr lang="en-US" altLang="en-US" sz="1600" dirty="0">
              <a:ea typeface="Times New Roman" pitchFamily="18" charset="0"/>
              <a:cs typeface="Arial" charset="0"/>
            </a:endParaRPr>
          </a:p>
          <a:p>
            <a:r>
              <a:rPr lang="en-AU" altLang="en-US" sz="1600" b="1" dirty="0">
                <a:solidFill>
                  <a:srgbClr val="000000"/>
                </a:solidFill>
                <a:ea typeface="Times New Roman" pitchFamily="18" charset="0"/>
                <a:cs typeface="Arial" charset="0"/>
              </a:rPr>
              <a:t>Future Value - FV</a:t>
            </a:r>
            <a:endParaRPr lang="en-AU" altLang="en-US" sz="1600" b="1" dirty="0">
              <a:latin typeface="Times New Roman" pitchFamily="18" charset="0"/>
              <a:ea typeface="Times New Roman" pitchFamily="18" charset="0"/>
              <a:cs typeface="Arial" charset="0"/>
            </a:endParaRPr>
          </a:p>
          <a:p>
            <a:r>
              <a:rPr lang="en-AU" altLang="en-US" sz="1600" dirty="0">
                <a:solidFill>
                  <a:srgbClr val="000000"/>
                </a:solidFill>
                <a:ea typeface="Times New Roman" pitchFamily="18" charset="0"/>
                <a:cs typeface="Arial" charset="0"/>
              </a:rPr>
              <a:t>The value of an asset or cash at a specified date in the future that is equivalent in value to a specified sum today. There are two ways to calculate FV: </a:t>
            </a:r>
          </a:p>
          <a:p>
            <a:endParaRPr lang="en-US" altLang="en-US" sz="1600" dirty="0">
              <a:ea typeface="Times New Roman" pitchFamily="18" charset="0"/>
              <a:cs typeface="Arial" charset="0"/>
            </a:endParaRPr>
          </a:p>
          <a:p>
            <a:r>
              <a:rPr lang="en-AU" altLang="en-US" sz="1600" b="1" dirty="0">
                <a:ea typeface="Times New Roman" pitchFamily="18" charset="0"/>
                <a:cs typeface="Arial" charset="0"/>
              </a:rPr>
              <a:t>Present Value - PV</a:t>
            </a:r>
            <a:endParaRPr lang="en-US" altLang="en-US" sz="1000" dirty="0">
              <a:ea typeface="Times New Roman" pitchFamily="18" charset="0"/>
              <a:cs typeface="Arial" charset="0"/>
            </a:endParaRPr>
          </a:p>
          <a:p>
            <a:r>
              <a:rPr lang="en-AU" altLang="en-US" sz="1600" dirty="0">
                <a:ea typeface="Times New Roman" pitchFamily="18" charset="0"/>
                <a:cs typeface="Arial" charset="0"/>
              </a:rPr>
              <a:t>The amount of cash today that is equivalent in value to a payment, or to a stream of payments, to be received in the future. </a:t>
            </a:r>
          </a:p>
          <a:p>
            <a:endParaRPr lang="en-AU" altLang="en-US" sz="1600" dirty="0">
              <a:ea typeface="Times New Roman" pitchFamily="18" charset="0"/>
              <a:cs typeface="Arial" charset="0"/>
            </a:endParaRPr>
          </a:p>
          <a:p>
            <a:r>
              <a:rPr lang="en-AU" altLang="en-US" sz="1600" b="1" dirty="0">
                <a:ea typeface="Times New Roman" pitchFamily="18" charset="0"/>
                <a:cs typeface="Arial" charset="0"/>
              </a:rPr>
              <a:t>Payment = PMT</a:t>
            </a:r>
          </a:p>
          <a:p>
            <a:r>
              <a:rPr lang="en-AU" altLang="en-US" sz="1600" dirty="0">
                <a:ea typeface="Times New Roman" pitchFamily="18" charset="0"/>
                <a:cs typeface="Arial" charset="0"/>
              </a:rPr>
              <a:t>The payment is how much is paid in or how much you receive as payment back</a:t>
            </a:r>
          </a:p>
          <a:p>
            <a:endParaRPr lang="en-AU" altLang="en-US" sz="1600" dirty="0">
              <a:ea typeface="Times New Roman" pitchFamily="18" charset="0"/>
              <a:cs typeface="Arial" charset="0"/>
            </a:endParaRPr>
          </a:p>
          <a:p>
            <a:r>
              <a:rPr lang="en-AU" altLang="en-US" sz="1600" dirty="0">
                <a:ea typeface="Times New Roman" pitchFamily="18" charset="0"/>
                <a:cs typeface="Arial" charset="0"/>
              </a:rPr>
              <a:t>P/Y	1 if yearly or 12 if the payments are monthly</a:t>
            </a:r>
            <a:endParaRPr lang="en-US" altLang="en-US" sz="1600" dirty="0">
              <a:ea typeface="Times New Roman" pitchFamily="18" charset="0"/>
              <a:cs typeface="Arial" charset="0"/>
            </a:endParaRPr>
          </a:p>
          <a:p>
            <a:br>
              <a:rPr lang="en-AU" altLang="en-US" sz="1600" dirty="0">
                <a:ea typeface="Times New Roman" pitchFamily="18" charset="0"/>
                <a:cs typeface="Arial" charset="0"/>
              </a:rPr>
            </a:br>
            <a:r>
              <a:rPr lang="en-AU" altLang="en-US" sz="1600" dirty="0">
                <a:ea typeface="Times New Roman" pitchFamily="18" charset="0"/>
                <a:cs typeface="Arial" charset="0"/>
              </a:rPr>
              <a:t>C/Y	1 if yearly or 12 if the interest is added monthly.</a:t>
            </a:r>
            <a:endParaRPr lang="en-US" altLang="en-US" sz="1600" dirty="0">
              <a:ea typeface="Times New Roman" pitchFamily="18" charset="0"/>
              <a:cs typeface="Arial" charset="0"/>
            </a:endParaRPr>
          </a:p>
        </p:txBody>
      </p:sp>
    </p:spTree>
    <p:extLst>
      <p:ext uri="{BB962C8B-B14F-4D97-AF65-F5344CB8AC3E}">
        <p14:creationId xmlns:p14="http://schemas.microsoft.com/office/powerpoint/2010/main" val="3564151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776</TotalTime>
  <Words>1309</Words>
  <Application>Microsoft Office PowerPoint</Application>
  <PresentationFormat>On-screen Show (4:3)</PresentationFormat>
  <Paragraphs>72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MS Mincho</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Rob Mac</dc:creator>
  <cp:lastModifiedBy>KEEN Stephanie [Baldivis Secondary College]</cp:lastModifiedBy>
  <cp:revision>74</cp:revision>
  <cp:lastPrinted>2017-08-02T02:51:30Z</cp:lastPrinted>
  <dcterms:created xsi:type="dcterms:W3CDTF">2011-05-05T04:02:22Z</dcterms:created>
  <dcterms:modified xsi:type="dcterms:W3CDTF">2017-08-04T00:28:52Z</dcterms:modified>
</cp:coreProperties>
</file>
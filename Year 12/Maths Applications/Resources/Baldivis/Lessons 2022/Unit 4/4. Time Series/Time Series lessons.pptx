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264" r:id="rId3"/>
    <p:sldId id="383" r:id="rId4"/>
    <p:sldId id="257" r:id="rId5"/>
    <p:sldId id="386" r:id="rId6"/>
    <p:sldId id="261" r:id="rId7"/>
    <p:sldId id="387" r:id="rId8"/>
    <p:sldId id="259" r:id="rId9"/>
    <p:sldId id="267" r:id="rId10"/>
    <p:sldId id="260" r:id="rId11"/>
    <p:sldId id="262" r:id="rId12"/>
    <p:sldId id="263" r:id="rId13"/>
    <p:sldId id="268" r:id="rId14"/>
    <p:sldId id="258" r:id="rId15"/>
    <p:sldId id="266" r:id="rId16"/>
    <p:sldId id="388" r:id="rId17"/>
    <p:sldId id="265" r:id="rId18"/>
    <p:sldId id="270" r:id="rId19"/>
    <p:sldId id="287" r:id="rId20"/>
    <p:sldId id="281" r:id="rId21"/>
    <p:sldId id="276" r:id="rId22"/>
    <p:sldId id="278" r:id="rId23"/>
    <p:sldId id="389" r:id="rId24"/>
    <p:sldId id="390" r:id="rId25"/>
    <p:sldId id="391" r:id="rId26"/>
    <p:sldId id="392" r:id="rId27"/>
    <p:sldId id="393" r:id="rId28"/>
    <p:sldId id="279" r:id="rId29"/>
    <p:sldId id="284" r:id="rId30"/>
    <p:sldId id="408" r:id="rId31"/>
    <p:sldId id="409" r:id="rId32"/>
    <p:sldId id="277" r:id="rId33"/>
    <p:sldId id="280" r:id="rId34"/>
    <p:sldId id="410" r:id="rId35"/>
    <p:sldId id="372" r:id="rId36"/>
    <p:sldId id="282" r:id="rId37"/>
    <p:sldId id="394" r:id="rId38"/>
    <p:sldId id="395" r:id="rId39"/>
    <p:sldId id="396" r:id="rId40"/>
    <p:sldId id="397" r:id="rId41"/>
    <p:sldId id="398" r:id="rId42"/>
    <p:sldId id="399" r:id="rId43"/>
    <p:sldId id="400" r:id="rId44"/>
    <p:sldId id="401" r:id="rId45"/>
    <p:sldId id="402" r:id="rId46"/>
    <p:sldId id="403" r:id="rId47"/>
    <p:sldId id="404" r:id="rId48"/>
    <p:sldId id="269" r:id="rId49"/>
    <p:sldId id="358" r:id="rId50"/>
    <p:sldId id="283" r:id="rId51"/>
    <p:sldId id="405" r:id="rId52"/>
    <p:sldId id="272" r:id="rId53"/>
    <p:sldId id="273" r:id="rId54"/>
    <p:sldId id="275" r:id="rId55"/>
    <p:sldId id="406" r:id="rId56"/>
    <p:sldId id="274" r:id="rId57"/>
    <p:sldId id="407" r:id="rId58"/>
    <p:sldId id="362" r:id="rId59"/>
    <p:sldId id="381" r:id="rId60"/>
    <p:sldId id="382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066" autoAdjust="0"/>
    <p:restoredTop sz="96296"/>
  </p:normalViewPr>
  <p:slideViewPr>
    <p:cSldViewPr snapToGrid="0">
      <p:cViewPr varScale="1">
        <p:scale>
          <a:sx n="95" d="100"/>
          <a:sy n="95" d="100"/>
        </p:scale>
        <p:origin x="216" y="8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68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ED0FE7-5295-C845-B442-B44A144492C2}" type="datetimeFigureOut">
              <a:rPr lang="en-US" smtClean="0"/>
              <a:t>12/8/21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6D6541-798C-4A47-B34E-739FFB1E8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093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D6541-798C-4A47-B34E-739FFB1E87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598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D731F-1463-47FC-A646-84C18AFF5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37BCB-027C-4E49-9644-BE6B8AA5F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92488-64F9-4ADF-A228-6D3D1C1F9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FDDA-013A-4A51-A273-E632C1F85920}" type="datetimeFigureOut">
              <a:rPr lang="en-AU" smtClean="0"/>
              <a:t>8/12/21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39735-5AD3-4599-97F4-099049770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6E361-F302-4BAD-961A-53949610D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14A1-4206-4653-8B9F-36573589B6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8804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15A91-D495-4DE5-99BD-9C8A274EF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58FA2-D0CC-40C3-91F9-C30ECEF24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9206F-8B38-437F-88E4-BF109EF06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FDDA-013A-4A51-A273-E632C1F85920}" type="datetimeFigureOut">
              <a:rPr lang="en-AU" smtClean="0"/>
              <a:t>8/12/21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54CFD-3909-459F-832C-FA530511A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0381B-A9CB-452E-A556-A9056FF8D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14A1-4206-4653-8B9F-36573589B6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0849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6403B-390D-417B-A2F9-455F2E5D4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87A53-6C82-4310-8D98-0A659D690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90A5A-6907-407F-99FA-C99BDC625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FDDA-013A-4A51-A273-E632C1F85920}" type="datetimeFigureOut">
              <a:rPr lang="en-AU" smtClean="0"/>
              <a:t>8/12/21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6F78D-EEEB-47CE-835A-AD9B64D7F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EBA79-8DA9-496E-916B-088BBC78C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14A1-4206-4653-8B9F-36573589B6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78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F32CD-A611-4409-9213-E68FCF907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42525-7358-456B-A9A5-AB0FFB97B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91AE5-C260-4B84-9B2F-697DB98AA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791CB-B043-440B-9AC4-496940F68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FDDA-013A-4A51-A273-E632C1F85920}" type="datetimeFigureOut">
              <a:rPr lang="en-AU" smtClean="0"/>
              <a:t>8/12/21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4E87F-8F90-4E17-8137-1B9FDD6E1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9E232-6DC1-43EB-91FA-A5B4D8D39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14A1-4206-4653-8B9F-36573589B6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9221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47AD8-7EEC-48FD-9423-B1C16DB70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967A9-1032-4477-BB1D-C90D08886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145568-F164-434A-BBBB-9B968DCFA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C7EA89-778A-4D38-BFB2-7C85A34B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A12CA2-842C-428C-8EB0-DB079F18F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5DE120-736A-4A67-AC0D-AE25D21E6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FDDA-013A-4A51-A273-E632C1F85920}" type="datetimeFigureOut">
              <a:rPr lang="en-AU" smtClean="0"/>
              <a:t>8/12/21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F136C-BBE2-4CEA-BF57-A83BAF46B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722C75-3AB2-4543-8CBF-1C8F4DD31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14A1-4206-4653-8B9F-36573589B6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5729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EF2A7-C10D-4385-AD52-442F6C77D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AB5D20-8679-4A84-9973-DBEB3B64D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FDDA-013A-4A51-A273-E632C1F85920}" type="datetimeFigureOut">
              <a:rPr lang="en-AU" smtClean="0"/>
              <a:t>8/12/21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ABB3B7-A30F-4236-9970-9489041D8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CA34C2-C175-4E0B-A5ED-040458ED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14A1-4206-4653-8B9F-36573589B6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8777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C01BE9-FA37-4453-ACAC-68053271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FDDA-013A-4A51-A273-E632C1F85920}" type="datetimeFigureOut">
              <a:rPr lang="en-AU" smtClean="0"/>
              <a:t>8/12/21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126219-28CC-46F2-9CB5-5E6879B57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6B25E-787E-4B16-A8F7-2B8771A80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14A1-4206-4653-8B9F-36573589B6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8672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F196F-D629-49E4-BE8E-D2C4AA0B6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2BBD5-DBA2-46B9-BC67-AD460E4ED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6F26D-DAF2-4127-B072-05804C62A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13B6D-C52E-4951-8EC9-1908DAC00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FDDA-013A-4A51-A273-E632C1F85920}" type="datetimeFigureOut">
              <a:rPr lang="en-AU" smtClean="0"/>
              <a:t>8/12/21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CE3C4-9638-4AA4-863E-78D55D16F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413CD-7C56-4BE9-8B80-AD09C74B6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14A1-4206-4653-8B9F-36573589B6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4391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D2CD3-E01A-49A9-BF50-8855B65EA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6455A2-2D79-4CDA-A6F5-441981059A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55102-6E07-4702-8E48-126BDBB77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14F4E-CBC5-4C58-B6A2-E98AE5C01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FDDA-013A-4A51-A273-E632C1F85920}" type="datetimeFigureOut">
              <a:rPr lang="en-AU" smtClean="0"/>
              <a:t>8/12/21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2991D-0BFB-416D-98E1-24B4B2E56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4302E-8140-420D-9E12-7F7783663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14A1-4206-4653-8B9F-36573589B6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1827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75D95-A5AC-4018-ADAD-1B1B4FF88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B481F-E95C-4180-8F4D-67784630B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FC45F-75F9-4643-BE4E-A679A9D21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FDDA-013A-4A51-A273-E632C1F85920}" type="datetimeFigureOut">
              <a:rPr lang="en-AU" smtClean="0"/>
              <a:t>8/12/21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11A04-FEB7-4659-A826-BB520916A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E5C89-06A7-45C8-B4A0-F0A64770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14A1-4206-4653-8B9F-36573589B6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619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91B6FB-91A3-4102-9D9E-C0988BE7A3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A6F2CC-7094-42C9-96A7-58B72FFA75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766E2-4548-4A7C-AEDA-5ECA82B6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FDDA-013A-4A51-A273-E632C1F85920}" type="datetimeFigureOut">
              <a:rPr lang="en-AU" smtClean="0"/>
              <a:t>8/12/21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43408-2647-4DAB-916A-0B4EFE14E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73051-C23E-4DB7-85EF-CB3A22EFC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14A1-4206-4653-8B9F-36573589B6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67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6A34A8-A028-403E-80B6-93C3CB2C2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1FE6A-A16A-4265-9C40-C98AE6BB0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D053C-520C-4BF7-B34E-D6A460363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5FDDA-013A-4A51-A273-E632C1F85920}" type="datetimeFigureOut">
              <a:rPr lang="en-AU" smtClean="0"/>
              <a:t>8/12/21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249EB-1E8F-4711-A42E-F97C085A59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7C099-30B4-4FDA-BE20-CDF9059746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514A1-4206-4653-8B9F-36573589B6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421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50.xml"/><Relationship Id="rId3" Type="http://schemas.openxmlformats.org/officeDocument/2006/relationships/slide" Target="slide4.xml"/><Relationship Id="rId7" Type="http://schemas.openxmlformats.org/officeDocument/2006/relationships/slide" Target="slide3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9.xml"/><Relationship Id="rId5" Type="http://schemas.openxmlformats.org/officeDocument/2006/relationships/slide" Target="slide20.xml"/><Relationship Id="rId4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lasspad.com.au/cp2/index.php?me=BA4&amp;mn=945" TargetMode="External"/><Relationship Id="rId2" Type="http://schemas.openxmlformats.org/officeDocument/2006/relationships/hyperlink" Target="http://www.classpad.com.au/cp2/index.php?me=BA4&amp;mn=991&amp;mt=Computer_To_ClassPad_Data_Transfer&amp;my=qkSpVaZHMlw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0304B-7B1D-4DC4-BB15-6255F14006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05075"/>
            <a:ext cx="9144000" cy="1004888"/>
          </a:xfrm>
        </p:spPr>
        <p:txBody>
          <a:bodyPr/>
          <a:lstStyle/>
          <a:p>
            <a:r>
              <a:rPr lang="en-AU" b="1" dirty="0"/>
              <a:t>Time Series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23CAB-4EB1-4BF5-BA81-8146167C09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b="1" dirty="0"/>
              <a:t>Yr12 Applications unit 4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7877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A8E59-44AA-4E8E-BB24-E512E1A83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Contents</a:t>
            </a:r>
            <a:r>
              <a:rPr lang="en-AU" dirty="0"/>
              <a:t> </a:t>
            </a:r>
            <a:r>
              <a:rPr lang="en-AU" sz="1600" dirty="0"/>
              <a:t>(Mr Morgan added hyperlinks for your convenience)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DD9BA-9A36-4D1A-942B-73DD78BC6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2571"/>
            <a:ext cx="10515600" cy="4694392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hlinkClick r:id="rId3" action="ppaction://hlinksldjump"/>
              </a:rPr>
              <a:t>Lesson 1: Time Series Data</a:t>
            </a:r>
            <a:endParaRPr lang="en-AU" dirty="0"/>
          </a:p>
          <a:p>
            <a:pPr marL="0" indent="0">
              <a:buNone/>
            </a:pPr>
            <a:r>
              <a:rPr lang="en-AU" dirty="0">
                <a:hlinkClick r:id="rId4" action="ppaction://hlinksldjump"/>
              </a:rPr>
              <a:t>Lesson 2: Describing Time Series Data</a:t>
            </a:r>
            <a:endParaRPr lang="en-AU" dirty="0"/>
          </a:p>
          <a:p>
            <a:pPr marL="0" indent="0">
              <a:buNone/>
            </a:pPr>
            <a:r>
              <a:rPr lang="en-AU" dirty="0">
                <a:hlinkClick r:id="rId5" action="ppaction://hlinksldjump"/>
              </a:rPr>
              <a:t>Lesson 3: Moving Averages</a:t>
            </a:r>
            <a:endParaRPr lang="en-AU" dirty="0"/>
          </a:p>
          <a:p>
            <a:pPr marL="0" indent="0">
              <a:buNone/>
            </a:pPr>
            <a:r>
              <a:rPr lang="en-AU" dirty="0">
                <a:hlinkClick r:id="rId6" action="ppaction://hlinksldjump"/>
              </a:rPr>
              <a:t>Lesson 4: </a:t>
            </a:r>
            <a:r>
              <a:rPr lang="en-AU" dirty="0" err="1">
                <a:hlinkClick r:id="rId6" action="ppaction://hlinksldjump"/>
              </a:rPr>
              <a:t>Centered</a:t>
            </a:r>
            <a:r>
              <a:rPr lang="en-AU" dirty="0">
                <a:hlinkClick r:id="rId6" action="ppaction://hlinksldjump"/>
              </a:rPr>
              <a:t> Moving Averages</a:t>
            </a:r>
            <a:endParaRPr lang="en-AU" dirty="0"/>
          </a:p>
          <a:p>
            <a:pPr marL="0" indent="0">
              <a:buNone/>
            </a:pPr>
            <a:r>
              <a:rPr lang="en-AU" dirty="0">
                <a:hlinkClick r:id="rId7" action="ppaction://hlinksldjump"/>
              </a:rPr>
              <a:t>Lesson 5: Seasonal Indices</a:t>
            </a:r>
            <a:endParaRPr lang="en-AU" dirty="0"/>
          </a:p>
          <a:p>
            <a:pPr marL="0" indent="0">
              <a:buNone/>
            </a:pPr>
            <a:r>
              <a:rPr lang="en-AU" dirty="0">
                <a:hlinkClick r:id="rId8" action="ppaction://hlinksldjump"/>
              </a:rPr>
              <a:t>Lesson 6: </a:t>
            </a:r>
            <a:r>
              <a:rPr lang="en-AU" dirty="0" err="1">
                <a:hlinkClick r:id="rId8" action="ppaction://hlinksldjump"/>
              </a:rPr>
              <a:t>Deseasonalising</a:t>
            </a:r>
            <a:r>
              <a:rPr lang="en-AU" dirty="0">
                <a:hlinkClick r:id="rId8" action="ppaction://hlinksldjump"/>
              </a:rPr>
              <a:t> Data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13316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750B-C314-4F6A-82C3-1B7B8F080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Overarching Syllabus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6024B-EABD-4593-A4EF-A3A743BB2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4.1.8 implement the statistical investigation process to answer questions that involve the analysis of time series data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This point is covered in learning activities throughout lessons.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008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4908-264B-4CBF-AFC3-868255191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Lesson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2BEC3-3C06-460D-9642-B3983F1AA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Topic: Time Series Data</a:t>
            </a:r>
          </a:p>
          <a:p>
            <a:pPr marL="0" indent="0">
              <a:buNone/>
            </a:pPr>
            <a:r>
              <a:rPr lang="en-AU" dirty="0"/>
              <a:t>EQ: What is time series data and how do I graph it?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Syllabus points:</a:t>
            </a:r>
          </a:p>
          <a:p>
            <a:pPr marL="0" indent="0">
              <a:buNone/>
            </a:pPr>
            <a:r>
              <a:rPr lang="en-AU" dirty="0"/>
              <a:t>4.1.1  construct time series plots </a:t>
            </a:r>
          </a:p>
          <a:p>
            <a:pPr marL="0" indent="0">
              <a:buNone/>
            </a:pPr>
            <a:r>
              <a:rPr lang="en-AU" dirty="0"/>
              <a:t>4.1.6</a:t>
            </a:r>
            <a:r>
              <a:rPr lang="en-AU" sz="2400" dirty="0"/>
              <a:t>   </a:t>
            </a:r>
            <a:r>
              <a:rPr lang="en-AU" dirty="0"/>
              <a:t>fit a least-squares line to model long-term trends in time series data </a:t>
            </a:r>
          </a:p>
          <a:p>
            <a:pPr marL="0" indent="0">
              <a:buNone/>
            </a:pPr>
            <a:r>
              <a:rPr lang="en-AU" dirty="0"/>
              <a:t>4.1.7</a:t>
            </a:r>
            <a:r>
              <a:rPr lang="en-AU" sz="2400" dirty="0"/>
              <a:t>   </a:t>
            </a:r>
            <a:r>
              <a:rPr lang="en-AU" dirty="0"/>
              <a:t>predict from regression lines, making seasonal adjustments for periodic data</a:t>
            </a:r>
            <a:r>
              <a:rPr lang="en-AU" sz="2400" dirty="0"/>
              <a:t> 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BB41AF74-7611-4E28-A15B-2CAA475576C3}"/>
              </a:ext>
            </a:extLst>
          </p:cNvPr>
          <p:cNvSpPr/>
          <p:nvPr/>
        </p:nvSpPr>
        <p:spPr>
          <a:xfrm>
            <a:off x="8957569" y="257452"/>
            <a:ext cx="1473693" cy="621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Back to Contents</a:t>
            </a:r>
          </a:p>
        </p:txBody>
      </p:sp>
    </p:spTree>
    <p:extLst>
      <p:ext uri="{BB962C8B-B14F-4D97-AF65-F5344CB8AC3E}">
        <p14:creationId xmlns:p14="http://schemas.microsoft.com/office/powerpoint/2010/main" val="3136666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51052" y="0"/>
            <a:ext cx="62565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1631039" y="79872"/>
            <a:ext cx="10431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0070C0"/>
                </a:solidFill>
              </a:rPr>
              <a:t>Topic: </a:t>
            </a:r>
            <a:r>
              <a:rPr lang="en-AU" sz="3200" i="1" dirty="0">
                <a:solidFill>
                  <a:srgbClr val="0070C0"/>
                </a:solidFill>
              </a:rPr>
              <a:t>Time series data</a:t>
            </a:r>
            <a:endParaRPr lang="en-AU" sz="3200" dirty="0">
              <a:solidFill>
                <a:srgbClr val="0070C0"/>
              </a:solidFill>
            </a:endParaRPr>
          </a:p>
          <a:p>
            <a:r>
              <a:rPr lang="en-AU" sz="3200" dirty="0">
                <a:solidFill>
                  <a:srgbClr val="0070C0"/>
                </a:solidFill>
              </a:rPr>
              <a:t>EQ: </a:t>
            </a:r>
            <a:r>
              <a:rPr lang="en-AU" sz="3200" i="1" dirty="0">
                <a:solidFill>
                  <a:srgbClr val="0070C0"/>
                </a:solidFill>
              </a:rPr>
              <a:t>What is time series data and how do I graph it?</a:t>
            </a:r>
            <a:endParaRPr lang="en-AU" sz="3200" dirty="0">
              <a:solidFill>
                <a:srgbClr val="0070C0"/>
              </a:solidFill>
            </a:endParaRPr>
          </a:p>
        </p:txBody>
      </p:sp>
      <p:sp>
        <p:nvSpPr>
          <p:cNvPr id="13" name="AutoShape 6" descr="Image result for time series plot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032" name="Picture 8" descr="Image result for time series plo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254" y="1273043"/>
            <a:ext cx="4515236" cy="2765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time series plo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0490" y="4113278"/>
            <a:ext cx="4670216" cy="2581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time series plo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254" y="4092074"/>
            <a:ext cx="4027149" cy="2689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mage result for time series plo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491" y="1251839"/>
            <a:ext cx="4514273" cy="2808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368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51052" y="0"/>
            <a:ext cx="62565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1631039" y="79872"/>
            <a:ext cx="10431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0070C0"/>
                </a:solidFill>
              </a:rPr>
              <a:t>Topic: </a:t>
            </a:r>
            <a:r>
              <a:rPr lang="en-AU" sz="3200" i="1" dirty="0">
                <a:solidFill>
                  <a:srgbClr val="0070C0"/>
                </a:solidFill>
              </a:rPr>
              <a:t>Time series data</a:t>
            </a:r>
            <a:endParaRPr lang="en-AU" sz="3200" dirty="0">
              <a:solidFill>
                <a:srgbClr val="0070C0"/>
              </a:solidFill>
            </a:endParaRPr>
          </a:p>
          <a:p>
            <a:r>
              <a:rPr lang="en-AU" sz="3200" dirty="0">
                <a:solidFill>
                  <a:srgbClr val="0070C0"/>
                </a:solidFill>
              </a:rPr>
              <a:t>EQ: </a:t>
            </a:r>
            <a:r>
              <a:rPr lang="en-AU" sz="3200" i="1" dirty="0">
                <a:solidFill>
                  <a:srgbClr val="0070C0"/>
                </a:solidFill>
              </a:rPr>
              <a:t>What is time series data and how do I graph it?</a:t>
            </a:r>
            <a:endParaRPr lang="en-AU" sz="3200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37981" y="1259613"/>
            <a:ext cx="98177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800" dirty="0"/>
              <a:t>Time series data describes how the value of a variable changes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800" dirty="0"/>
              <a:t>The data is presented in a table: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800" dirty="0" err="1"/>
              <a:t>Eg</a:t>
            </a:r>
            <a:r>
              <a:rPr lang="en-AU" sz="2800" dirty="0"/>
              <a:t>/ Number of customers in a city restaurant at hourly intervals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762770" y="3617939"/>
          <a:ext cx="10280076" cy="1198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332">
                  <a:extLst>
                    <a:ext uri="{9D8B030D-6E8A-4147-A177-3AD203B41FA5}">
                      <a16:colId xmlns:a16="http://schemas.microsoft.com/office/drawing/2014/main" val="3305453469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1391548396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1643952449"/>
                    </a:ext>
                  </a:extLst>
                </a:gridCol>
                <a:gridCol w="775854">
                  <a:extLst>
                    <a:ext uri="{9D8B030D-6E8A-4147-A177-3AD203B41FA5}">
                      <a16:colId xmlns:a16="http://schemas.microsoft.com/office/drawing/2014/main" val="3564362777"/>
                    </a:ext>
                  </a:extLst>
                </a:gridCol>
                <a:gridCol w="803564">
                  <a:extLst>
                    <a:ext uri="{9D8B030D-6E8A-4147-A177-3AD203B41FA5}">
                      <a16:colId xmlns:a16="http://schemas.microsoft.com/office/drawing/2014/main" val="256815114"/>
                    </a:ext>
                  </a:extLst>
                </a:gridCol>
                <a:gridCol w="785091">
                  <a:extLst>
                    <a:ext uri="{9D8B030D-6E8A-4147-A177-3AD203B41FA5}">
                      <a16:colId xmlns:a16="http://schemas.microsoft.com/office/drawing/2014/main" val="741322122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3901529765"/>
                    </a:ext>
                  </a:extLst>
                </a:gridCol>
                <a:gridCol w="757382">
                  <a:extLst>
                    <a:ext uri="{9D8B030D-6E8A-4147-A177-3AD203B41FA5}">
                      <a16:colId xmlns:a16="http://schemas.microsoft.com/office/drawing/2014/main" val="820778162"/>
                    </a:ext>
                  </a:extLst>
                </a:gridCol>
                <a:gridCol w="886691">
                  <a:extLst>
                    <a:ext uri="{9D8B030D-6E8A-4147-A177-3AD203B41FA5}">
                      <a16:colId xmlns:a16="http://schemas.microsoft.com/office/drawing/2014/main" val="729051361"/>
                    </a:ext>
                  </a:extLst>
                </a:gridCol>
                <a:gridCol w="877455">
                  <a:extLst>
                    <a:ext uri="{9D8B030D-6E8A-4147-A177-3AD203B41FA5}">
                      <a16:colId xmlns:a16="http://schemas.microsoft.com/office/drawing/2014/main" val="2130544639"/>
                    </a:ext>
                  </a:extLst>
                </a:gridCol>
                <a:gridCol w="794327">
                  <a:extLst>
                    <a:ext uri="{9D8B030D-6E8A-4147-A177-3AD203B41FA5}">
                      <a16:colId xmlns:a16="http://schemas.microsoft.com/office/drawing/2014/main" val="1143729088"/>
                    </a:ext>
                  </a:extLst>
                </a:gridCol>
                <a:gridCol w="886689">
                  <a:extLst>
                    <a:ext uri="{9D8B030D-6E8A-4147-A177-3AD203B41FA5}">
                      <a16:colId xmlns:a16="http://schemas.microsoft.com/office/drawing/2014/main" val="3197670514"/>
                    </a:ext>
                  </a:extLst>
                </a:gridCol>
              </a:tblGrid>
              <a:tr h="557943">
                <a:tc>
                  <a:txBody>
                    <a:bodyPr/>
                    <a:lstStyle/>
                    <a:p>
                      <a:r>
                        <a:rPr lang="en-AU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11am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12pm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7pm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9747875"/>
                  </a:ext>
                </a:extLst>
              </a:tr>
              <a:tr h="557943">
                <a:tc>
                  <a:txBody>
                    <a:bodyPr/>
                    <a:lstStyle/>
                    <a:p>
                      <a:r>
                        <a:rPr lang="en-AU" dirty="0"/>
                        <a:t>No.</a:t>
                      </a:r>
                      <a:r>
                        <a:rPr lang="en-AU" baseline="0" dirty="0"/>
                        <a:t> Customers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19231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937982" y="5197643"/>
            <a:ext cx="98177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800" dirty="0"/>
              <a:t>To graph time series data we plot each data point and then join them with straight line segments.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800" dirty="0"/>
              <a:t>Time is always plotted on the horizontal axis</a:t>
            </a:r>
          </a:p>
        </p:txBody>
      </p:sp>
    </p:spTree>
    <p:extLst>
      <p:ext uri="{BB962C8B-B14F-4D97-AF65-F5344CB8AC3E}">
        <p14:creationId xmlns:p14="http://schemas.microsoft.com/office/powerpoint/2010/main" val="361241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51052" y="0"/>
            <a:ext cx="62565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1631039" y="79872"/>
            <a:ext cx="10431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Topic: </a:t>
            </a:r>
            <a:r>
              <a:rPr lang="en-AU" sz="3200" i="1" dirty="0"/>
              <a:t>Time series data</a:t>
            </a:r>
            <a:endParaRPr lang="en-AU" sz="3200" dirty="0"/>
          </a:p>
          <a:p>
            <a:r>
              <a:rPr lang="en-AU" sz="3200" dirty="0"/>
              <a:t>EQ: </a:t>
            </a:r>
            <a:r>
              <a:rPr lang="en-AU" sz="3200" i="1" dirty="0"/>
              <a:t>What is time series data and how do I graph it?</a:t>
            </a:r>
            <a:endParaRPr lang="en-AU" sz="3200" dirty="0"/>
          </a:p>
        </p:txBody>
      </p:sp>
      <p:grpSp>
        <p:nvGrpSpPr>
          <p:cNvPr id="10" name="Group 9"/>
          <p:cNvGrpSpPr/>
          <p:nvPr/>
        </p:nvGrpSpPr>
        <p:grpSpPr>
          <a:xfrm>
            <a:off x="2932387" y="1748590"/>
            <a:ext cx="3970421" cy="3705726"/>
            <a:chOff x="2855495" y="1909011"/>
            <a:chExt cx="3970421" cy="3705726"/>
          </a:xfrm>
        </p:grpSpPr>
        <p:cxnSp>
          <p:nvCxnSpPr>
            <p:cNvPr id="3" name="Straight Arrow Connector 2"/>
            <p:cNvCxnSpPr/>
            <p:nvPr/>
          </p:nvCxnSpPr>
          <p:spPr>
            <a:xfrm flipV="1">
              <a:off x="2855495" y="1909011"/>
              <a:ext cx="0" cy="370572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V="1">
              <a:off x="2855495" y="5606716"/>
              <a:ext cx="3970421" cy="8021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Cloud 11"/>
          <p:cNvSpPr/>
          <p:nvPr/>
        </p:nvSpPr>
        <p:spPr>
          <a:xfrm>
            <a:off x="6902808" y="1677721"/>
            <a:ext cx="4716379" cy="3705726"/>
          </a:xfrm>
          <a:prstGeom prst="cloud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AU" sz="2000" b="1" dirty="0"/>
              <a:t>Make sure:</a:t>
            </a:r>
          </a:p>
          <a:p>
            <a:pPr marL="342900" indent="-342900" algn="r">
              <a:buFont typeface="Wingdings" panose="05000000000000000000" pitchFamily="2" charset="2"/>
              <a:buChar char="Ø"/>
            </a:pPr>
            <a:r>
              <a:rPr lang="en-AU" sz="2000" dirty="0"/>
              <a:t>You label the axis</a:t>
            </a:r>
          </a:p>
          <a:p>
            <a:pPr marL="342900" indent="-342900" algn="r">
              <a:buFont typeface="Wingdings" panose="05000000000000000000" pitchFamily="2" charset="2"/>
              <a:buChar char="Ø"/>
            </a:pPr>
            <a:r>
              <a:rPr lang="en-AU" sz="2000" dirty="0"/>
              <a:t>Have a consistent scale for both axis</a:t>
            </a:r>
          </a:p>
          <a:p>
            <a:pPr marL="342900" indent="-342900" algn="r">
              <a:buFont typeface="Wingdings" panose="05000000000000000000" pitchFamily="2" charset="2"/>
              <a:buChar char="Ø"/>
            </a:pPr>
            <a:r>
              <a:rPr lang="en-AU" sz="2000" dirty="0"/>
              <a:t>Join adjacent points</a:t>
            </a:r>
          </a:p>
        </p:txBody>
      </p:sp>
    </p:spTree>
    <p:extLst>
      <p:ext uri="{BB962C8B-B14F-4D97-AF65-F5344CB8AC3E}">
        <p14:creationId xmlns:p14="http://schemas.microsoft.com/office/powerpoint/2010/main" val="4286688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551052" y="0"/>
            <a:ext cx="62565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1631039" y="79872"/>
            <a:ext cx="10431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Topic: </a:t>
            </a:r>
            <a:r>
              <a:rPr lang="en-AU" sz="3200" i="1" dirty="0"/>
              <a:t>Time series data</a:t>
            </a:r>
            <a:endParaRPr lang="en-AU" sz="3200" dirty="0"/>
          </a:p>
          <a:p>
            <a:r>
              <a:rPr lang="en-AU" sz="3200" dirty="0"/>
              <a:t>EQ: </a:t>
            </a:r>
            <a:r>
              <a:rPr lang="en-AU" sz="3200" i="1" dirty="0"/>
              <a:t>What is time series data and how do I graph it?</a:t>
            </a:r>
            <a:endParaRPr lang="en-AU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1844842" y="1499741"/>
            <a:ext cx="97215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Sometimes the given data doesn’t have a consistent time scale: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129301" y="2740150"/>
              <a:ext cx="11933390" cy="16511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2948">
                      <a:extLst>
                        <a:ext uri="{9D8B030D-6E8A-4147-A177-3AD203B41FA5}">
                          <a16:colId xmlns:a16="http://schemas.microsoft.com/office/drawing/2014/main" val="1978117507"/>
                        </a:ext>
                      </a:extLst>
                    </a:gridCol>
                    <a:gridCol w="757381">
                      <a:extLst>
                        <a:ext uri="{9D8B030D-6E8A-4147-A177-3AD203B41FA5}">
                          <a16:colId xmlns:a16="http://schemas.microsoft.com/office/drawing/2014/main" val="3147432408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149072926"/>
                        </a:ext>
                      </a:extLst>
                    </a:gridCol>
                    <a:gridCol w="786411">
                      <a:extLst>
                        <a:ext uri="{9D8B030D-6E8A-4147-A177-3AD203B41FA5}">
                          <a16:colId xmlns:a16="http://schemas.microsoft.com/office/drawing/2014/main" val="175174257"/>
                        </a:ext>
                      </a:extLst>
                    </a:gridCol>
                    <a:gridCol w="852385">
                      <a:extLst>
                        <a:ext uri="{9D8B030D-6E8A-4147-A177-3AD203B41FA5}">
                          <a16:colId xmlns:a16="http://schemas.microsoft.com/office/drawing/2014/main" val="2631229737"/>
                        </a:ext>
                      </a:extLst>
                    </a:gridCol>
                    <a:gridCol w="852385">
                      <a:extLst>
                        <a:ext uri="{9D8B030D-6E8A-4147-A177-3AD203B41FA5}">
                          <a16:colId xmlns:a16="http://schemas.microsoft.com/office/drawing/2014/main" val="3153088076"/>
                        </a:ext>
                      </a:extLst>
                    </a:gridCol>
                    <a:gridCol w="852385">
                      <a:extLst>
                        <a:ext uri="{9D8B030D-6E8A-4147-A177-3AD203B41FA5}">
                          <a16:colId xmlns:a16="http://schemas.microsoft.com/office/drawing/2014/main" val="2014661745"/>
                        </a:ext>
                      </a:extLst>
                    </a:gridCol>
                    <a:gridCol w="852385">
                      <a:extLst>
                        <a:ext uri="{9D8B030D-6E8A-4147-A177-3AD203B41FA5}">
                          <a16:colId xmlns:a16="http://schemas.microsoft.com/office/drawing/2014/main" val="102753132"/>
                        </a:ext>
                      </a:extLst>
                    </a:gridCol>
                    <a:gridCol w="852385">
                      <a:extLst>
                        <a:ext uri="{9D8B030D-6E8A-4147-A177-3AD203B41FA5}">
                          <a16:colId xmlns:a16="http://schemas.microsoft.com/office/drawing/2014/main" val="268037099"/>
                        </a:ext>
                      </a:extLst>
                    </a:gridCol>
                    <a:gridCol w="852385">
                      <a:extLst>
                        <a:ext uri="{9D8B030D-6E8A-4147-A177-3AD203B41FA5}">
                          <a16:colId xmlns:a16="http://schemas.microsoft.com/office/drawing/2014/main" val="3093413456"/>
                        </a:ext>
                      </a:extLst>
                    </a:gridCol>
                    <a:gridCol w="852385">
                      <a:extLst>
                        <a:ext uri="{9D8B030D-6E8A-4147-A177-3AD203B41FA5}">
                          <a16:colId xmlns:a16="http://schemas.microsoft.com/office/drawing/2014/main" val="2657523930"/>
                        </a:ext>
                      </a:extLst>
                    </a:gridCol>
                    <a:gridCol w="852385">
                      <a:extLst>
                        <a:ext uri="{9D8B030D-6E8A-4147-A177-3AD203B41FA5}">
                          <a16:colId xmlns:a16="http://schemas.microsoft.com/office/drawing/2014/main" val="3497786034"/>
                        </a:ext>
                      </a:extLst>
                    </a:gridCol>
                    <a:gridCol w="852385">
                      <a:extLst>
                        <a:ext uri="{9D8B030D-6E8A-4147-A177-3AD203B41FA5}">
                          <a16:colId xmlns:a16="http://schemas.microsoft.com/office/drawing/2014/main" val="409892265"/>
                        </a:ext>
                      </a:extLst>
                    </a:gridCol>
                    <a:gridCol w="852385">
                      <a:extLst>
                        <a:ext uri="{9D8B030D-6E8A-4147-A177-3AD203B41FA5}">
                          <a16:colId xmlns:a16="http://schemas.microsoft.com/office/drawing/2014/main" val="2949825182"/>
                        </a:ext>
                      </a:extLst>
                    </a:gridCol>
                  </a:tblGrid>
                  <a:tr h="84669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Month &amp; Year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Jan</a:t>
                          </a:r>
                        </a:p>
                        <a:p>
                          <a:pPr algn="ctr"/>
                          <a:r>
                            <a:rPr lang="en-AU" dirty="0"/>
                            <a:t>2010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July</a:t>
                          </a:r>
                        </a:p>
                        <a:p>
                          <a:pPr algn="ctr"/>
                          <a:r>
                            <a:rPr lang="en-AU" dirty="0"/>
                            <a:t>2010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Jan</a:t>
                          </a:r>
                        </a:p>
                        <a:p>
                          <a:pPr algn="ctr"/>
                          <a:r>
                            <a:rPr lang="en-AU" dirty="0"/>
                            <a:t>2011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July</a:t>
                          </a:r>
                        </a:p>
                        <a:p>
                          <a:pPr algn="ctr"/>
                          <a:r>
                            <a:rPr lang="en-AU" dirty="0"/>
                            <a:t>2011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Jan 2012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July</a:t>
                          </a:r>
                        </a:p>
                        <a:p>
                          <a:pPr algn="ctr"/>
                          <a:r>
                            <a:rPr lang="en-AU" dirty="0"/>
                            <a:t>2012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Jan 2013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April</a:t>
                          </a:r>
                        </a:p>
                        <a:p>
                          <a:pPr algn="ctr"/>
                          <a:r>
                            <a:rPr lang="en-AU" dirty="0"/>
                            <a:t>2013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July</a:t>
                          </a:r>
                          <a:r>
                            <a:rPr lang="en-AU" baseline="0" dirty="0"/>
                            <a:t> </a:t>
                          </a:r>
                        </a:p>
                        <a:p>
                          <a:pPr algn="ctr"/>
                          <a:r>
                            <a:rPr lang="en-AU" baseline="0" dirty="0"/>
                            <a:t>2013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Oct</a:t>
                          </a:r>
                        </a:p>
                        <a:p>
                          <a:pPr algn="ctr"/>
                          <a:r>
                            <a:rPr lang="en-AU" dirty="0"/>
                            <a:t>2013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Jan</a:t>
                          </a:r>
                        </a:p>
                        <a:p>
                          <a:pPr algn="ctr"/>
                          <a:r>
                            <a:rPr lang="en-AU" dirty="0"/>
                            <a:t>2014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April</a:t>
                          </a:r>
                        </a:p>
                        <a:p>
                          <a:pPr algn="ctr"/>
                          <a:r>
                            <a:rPr lang="en-AU" dirty="0"/>
                            <a:t>2014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July</a:t>
                          </a:r>
                        </a:p>
                        <a:p>
                          <a:pPr algn="ctr"/>
                          <a:r>
                            <a:rPr lang="en-AU" dirty="0"/>
                            <a:t>2014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5455824"/>
                      </a:ext>
                    </a:extLst>
                  </a:tr>
                  <a:tr h="804499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Pollutant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2.04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2.09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2.51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2.44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2.76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2.84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2.92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3.06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3.04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3.14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3.21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3.37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9004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2645653"/>
                  </p:ext>
                </p:extLst>
              </p:nvPr>
            </p:nvGraphicFramePr>
            <p:xfrm>
              <a:off x="129301" y="2740150"/>
              <a:ext cx="11933390" cy="16511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2948">
                      <a:extLst>
                        <a:ext uri="{9D8B030D-6E8A-4147-A177-3AD203B41FA5}">
                          <a16:colId xmlns:a16="http://schemas.microsoft.com/office/drawing/2014/main" val="1978117507"/>
                        </a:ext>
                      </a:extLst>
                    </a:gridCol>
                    <a:gridCol w="757381">
                      <a:extLst>
                        <a:ext uri="{9D8B030D-6E8A-4147-A177-3AD203B41FA5}">
                          <a16:colId xmlns:a16="http://schemas.microsoft.com/office/drawing/2014/main" val="3147432408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149072926"/>
                        </a:ext>
                      </a:extLst>
                    </a:gridCol>
                    <a:gridCol w="786411">
                      <a:extLst>
                        <a:ext uri="{9D8B030D-6E8A-4147-A177-3AD203B41FA5}">
                          <a16:colId xmlns:a16="http://schemas.microsoft.com/office/drawing/2014/main" val="175174257"/>
                        </a:ext>
                      </a:extLst>
                    </a:gridCol>
                    <a:gridCol w="852385">
                      <a:extLst>
                        <a:ext uri="{9D8B030D-6E8A-4147-A177-3AD203B41FA5}">
                          <a16:colId xmlns:a16="http://schemas.microsoft.com/office/drawing/2014/main" val="2631229737"/>
                        </a:ext>
                      </a:extLst>
                    </a:gridCol>
                    <a:gridCol w="852385">
                      <a:extLst>
                        <a:ext uri="{9D8B030D-6E8A-4147-A177-3AD203B41FA5}">
                          <a16:colId xmlns:a16="http://schemas.microsoft.com/office/drawing/2014/main" val="3153088076"/>
                        </a:ext>
                      </a:extLst>
                    </a:gridCol>
                    <a:gridCol w="852385">
                      <a:extLst>
                        <a:ext uri="{9D8B030D-6E8A-4147-A177-3AD203B41FA5}">
                          <a16:colId xmlns:a16="http://schemas.microsoft.com/office/drawing/2014/main" val="2014661745"/>
                        </a:ext>
                      </a:extLst>
                    </a:gridCol>
                    <a:gridCol w="852385">
                      <a:extLst>
                        <a:ext uri="{9D8B030D-6E8A-4147-A177-3AD203B41FA5}">
                          <a16:colId xmlns:a16="http://schemas.microsoft.com/office/drawing/2014/main" val="102753132"/>
                        </a:ext>
                      </a:extLst>
                    </a:gridCol>
                    <a:gridCol w="852385">
                      <a:extLst>
                        <a:ext uri="{9D8B030D-6E8A-4147-A177-3AD203B41FA5}">
                          <a16:colId xmlns:a16="http://schemas.microsoft.com/office/drawing/2014/main" val="268037099"/>
                        </a:ext>
                      </a:extLst>
                    </a:gridCol>
                    <a:gridCol w="852385">
                      <a:extLst>
                        <a:ext uri="{9D8B030D-6E8A-4147-A177-3AD203B41FA5}">
                          <a16:colId xmlns:a16="http://schemas.microsoft.com/office/drawing/2014/main" val="3093413456"/>
                        </a:ext>
                      </a:extLst>
                    </a:gridCol>
                    <a:gridCol w="852385">
                      <a:extLst>
                        <a:ext uri="{9D8B030D-6E8A-4147-A177-3AD203B41FA5}">
                          <a16:colId xmlns:a16="http://schemas.microsoft.com/office/drawing/2014/main" val="2657523930"/>
                        </a:ext>
                      </a:extLst>
                    </a:gridCol>
                    <a:gridCol w="852385">
                      <a:extLst>
                        <a:ext uri="{9D8B030D-6E8A-4147-A177-3AD203B41FA5}">
                          <a16:colId xmlns:a16="http://schemas.microsoft.com/office/drawing/2014/main" val="3497786034"/>
                        </a:ext>
                      </a:extLst>
                    </a:gridCol>
                    <a:gridCol w="852385">
                      <a:extLst>
                        <a:ext uri="{9D8B030D-6E8A-4147-A177-3AD203B41FA5}">
                          <a16:colId xmlns:a16="http://schemas.microsoft.com/office/drawing/2014/main" val="409892265"/>
                        </a:ext>
                      </a:extLst>
                    </a:gridCol>
                    <a:gridCol w="852385">
                      <a:extLst>
                        <a:ext uri="{9D8B030D-6E8A-4147-A177-3AD203B41FA5}">
                          <a16:colId xmlns:a16="http://schemas.microsoft.com/office/drawing/2014/main" val="2949825182"/>
                        </a:ext>
                      </a:extLst>
                    </a:gridCol>
                  </a:tblGrid>
                  <a:tr h="846697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Month &amp; Year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Jan</a:t>
                          </a:r>
                        </a:p>
                        <a:p>
                          <a:pPr algn="ctr"/>
                          <a:r>
                            <a:rPr lang="en-AU" dirty="0" smtClean="0"/>
                            <a:t>2010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July</a:t>
                          </a:r>
                        </a:p>
                        <a:p>
                          <a:pPr algn="ctr"/>
                          <a:r>
                            <a:rPr lang="en-AU" dirty="0" smtClean="0"/>
                            <a:t>2010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Jan</a:t>
                          </a:r>
                        </a:p>
                        <a:p>
                          <a:pPr algn="ctr"/>
                          <a:r>
                            <a:rPr lang="en-AU" dirty="0" smtClean="0"/>
                            <a:t>2011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July</a:t>
                          </a:r>
                        </a:p>
                        <a:p>
                          <a:pPr algn="ctr"/>
                          <a:r>
                            <a:rPr lang="en-AU" dirty="0" smtClean="0"/>
                            <a:t>2011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Jan 2012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July</a:t>
                          </a:r>
                        </a:p>
                        <a:p>
                          <a:pPr algn="ctr"/>
                          <a:r>
                            <a:rPr lang="en-AU" dirty="0" smtClean="0"/>
                            <a:t>2012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Jan 2013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April</a:t>
                          </a:r>
                        </a:p>
                        <a:p>
                          <a:pPr algn="ctr"/>
                          <a:r>
                            <a:rPr lang="en-AU" dirty="0" smtClean="0"/>
                            <a:t>2013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July</a:t>
                          </a:r>
                          <a:r>
                            <a:rPr lang="en-AU" baseline="0" dirty="0" smtClean="0"/>
                            <a:t> </a:t>
                          </a:r>
                        </a:p>
                        <a:p>
                          <a:pPr algn="ctr"/>
                          <a:r>
                            <a:rPr lang="en-AU" baseline="0" dirty="0" smtClean="0"/>
                            <a:t>2013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Oct</a:t>
                          </a:r>
                        </a:p>
                        <a:p>
                          <a:pPr algn="ctr"/>
                          <a:r>
                            <a:rPr lang="en-AU" dirty="0" smtClean="0"/>
                            <a:t>2013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Jan</a:t>
                          </a:r>
                        </a:p>
                        <a:p>
                          <a:pPr algn="ctr"/>
                          <a:r>
                            <a:rPr lang="en-AU" dirty="0" smtClean="0"/>
                            <a:t>2014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April</a:t>
                          </a:r>
                        </a:p>
                        <a:p>
                          <a:pPr algn="ctr"/>
                          <a:r>
                            <a:rPr lang="en-AU" dirty="0" smtClean="0"/>
                            <a:t>2014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July</a:t>
                          </a:r>
                        </a:p>
                        <a:p>
                          <a:pPr algn="ctr"/>
                          <a:r>
                            <a:rPr lang="en-AU" dirty="0" smtClean="0"/>
                            <a:t>2014</a:t>
                          </a:r>
                          <a:endParaRPr lang="en-AU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5455824"/>
                      </a:ext>
                    </a:extLst>
                  </a:tr>
                  <a:tr h="8044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78" t="-108271" r="-1034104" b="-15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2.04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2.09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2.24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2.51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2.44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2.76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2.84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2.92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3.06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3.04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3.14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3.21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3.37</a:t>
                          </a:r>
                          <a:endParaRPr lang="en-AU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9004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/>
          <p:cNvSpPr txBox="1"/>
          <p:nvPr/>
        </p:nvSpPr>
        <p:spPr>
          <a:xfrm>
            <a:off x="2181726" y="5209758"/>
            <a:ext cx="9384632" cy="70788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The time scale still needs to be consistent</a:t>
            </a:r>
          </a:p>
        </p:txBody>
      </p:sp>
    </p:spTree>
    <p:extLst>
      <p:ext uri="{BB962C8B-B14F-4D97-AF65-F5344CB8AC3E}">
        <p14:creationId xmlns:p14="http://schemas.microsoft.com/office/powerpoint/2010/main" val="2722053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51052" y="0"/>
            <a:ext cx="62565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1631039" y="79872"/>
            <a:ext cx="10431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Topic: </a:t>
            </a:r>
            <a:r>
              <a:rPr lang="en-AU" sz="3200" i="1" dirty="0"/>
              <a:t>Time series data</a:t>
            </a:r>
            <a:endParaRPr lang="en-AU" sz="3200" dirty="0"/>
          </a:p>
          <a:p>
            <a:r>
              <a:rPr lang="en-AU" sz="3200" dirty="0"/>
              <a:t>EQ: </a:t>
            </a:r>
            <a:r>
              <a:rPr lang="en-AU" sz="3200" i="1" dirty="0"/>
              <a:t>What is time series data and how do I graph it?</a:t>
            </a:r>
            <a:endParaRPr lang="en-AU" sz="3200" dirty="0"/>
          </a:p>
        </p:txBody>
      </p:sp>
      <p:pic>
        <p:nvPicPr>
          <p:cNvPr id="7" name="Picture 6" descr="A close up of a map&#10;&#10;Description automatically generated">
            <a:extLst>
              <a:ext uri="{FF2B5EF4-FFF2-40B4-BE49-F238E27FC236}">
                <a16:creationId xmlns:a16="http://schemas.microsoft.com/office/drawing/2014/main" id="{5E997A67-08A0-004E-8D95-090F9A3E0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656" y="1637310"/>
            <a:ext cx="7168039" cy="41128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0B7FEB-FE1A-4C48-B720-D6EE9CD1034D}"/>
              </a:ext>
            </a:extLst>
          </p:cNvPr>
          <p:cNvSpPr txBox="1"/>
          <p:nvPr/>
        </p:nvSpPr>
        <p:spPr>
          <a:xfrm>
            <a:off x="2386345" y="5806998"/>
            <a:ext cx="88181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The problem is that the horizontal axis values can’t be entered in to the </a:t>
            </a:r>
            <a:r>
              <a:rPr lang="en-US" sz="2800" dirty="0" err="1"/>
              <a:t>ClassPad</a:t>
            </a:r>
            <a:r>
              <a:rPr lang="en-US" sz="2800" dirty="0"/>
              <a:t> for analysis</a:t>
            </a:r>
          </a:p>
        </p:txBody>
      </p:sp>
    </p:spTree>
    <p:extLst>
      <p:ext uri="{BB962C8B-B14F-4D97-AF65-F5344CB8AC3E}">
        <p14:creationId xmlns:p14="http://schemas.microsoft.com/office/powerpoint/2010/main" val="234366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colorful background&#10;&#10;Description automatically generated">
            <a:extLst>
              <a:ext uri="{FF2B5EF4-FFF2-40B4-BE49-F238E27FC236}">
                <a16:creationId xmlns:a16="http://schemas.microsoft.com/office/drawing/2014/main" id="{EF760CF5-79A2-C144-B990-44E4A7C017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095" y="2755900"/>
            <a:ext cx="7061200" cy="4102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D200C79-24B4-5C44-8F8E-9CC8BC814558}"/>
              </a:ext>
            </a:extLst>
          </p:cNvPr>
          <p:cNvSpPr txBox="1"/>
          <p:nvPr/>
        </p:nvSpPr>
        <p:spPr>
          <a:xfrm>
            <a:off x="147145" y="1703663"/>
            <a:ext cx="120012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a bit tricky, as in 2010- 2012, the pollutants are measured twice a year, whereas in 2013-14, they are measured 4 times a year. We need to take care that the scale reflects this. One way we could display the data is: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98FB571E-AD69-AB4D-8D66-4F0D9D21E76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3025" y="263853"/>
              <a:ext cx="11705341" cy="13799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2826">
                      <a:extLst>
                        <a:ext uri="{9D8B030D-6E8A-4147-A177-3AD203B41FA5}">
                          <a16:colId xmlns:a16="http://schemas.microsoft.com/office/drawing/2014/main" val="1978117507"/>
                        </a:ext>
                      </a:extLst>
                    </a:gridCol>
                    <a:gridCol w="742908">
                      <a:extLst>
                        <a:ext uri="{9D8B030D-6E8A-4147-A177-3AD203B41FA5}">
                          <a16:colId xmlns:a16="http://schemas.microsoft.com/office/drawing/2014/main" val="3147432408"/>
                        </a:ext>
                      </a:extLst>
                    </a:gridCol>
                    <a:gridCol w="797265">
                      <a:extLst>
                        <a:ext uri="{9D8B030D-6E8A-4147-A177-3AD203B41FA5}">
                          <a16:colId xmlns:a16="http://schemas.microsoft.com/office/drawing/2014/main" val="4149072926"/>
                        </a:ext>
                      </a:extLst>
                    </a:gridCol>
                    <a:gridCol w="771382">
                      <a:extLst>
                        <a:ext uri="{9D8B030D-6E8A-4147-A177-3AD203B41FA5}">
                          <a16:colId xmlns:a16="http://schemas.microsoft.com/office/drawing/2014/main" val="175174257"/>
                        </a:ext>
                      </a:extLst>
                    </a:gridCol>
                    <a:gridCol w="836096">
                      <a:extLst>
                        <a:ext uri="{9D8B030D-6E8A-4147-A177-3AD203B41FA5}">
                          <a16:colId xmlns:a16="http://schemas.microsoft.com/office/drawing/2014/main" val="2631229737"/>
                        </a:ext>
                      </a:extLst>
                    </a:gridCol>
                    <a:gridCol w="836096">
                      <a:extLst>
                        <a:ext uri="{9D8B030D-6E8A-4147-A177-3AD203B41FA5}">
                          <a16:colId xmlns:a16="http://schemas.microsoft.com/office/drawing/2014/main" val="3153088076"/>
                        </a:ext>
                      </a:extLst>
                    </a:gridCol>
                    <a:gridCol w="836096">
                      <a:extLst>
                        <a:ext uri="{9D8B030D-6E8A-4147-A177-3AD203B41FA5}">
                          <a16:colId xmlns:a16="http://schemas.microsoft.com/office/drawing/2014/main" val="2014661745"/>
                        </a:ext>
                      </a:extLst>
                    </a:gridCol>
                    <a:gridCol w="836096">
                      <a:extLst>
                        <a:ext uri="{9D8B030D-6E8A-4147-A177-3AD203B41FA5}">
                          <a16:colId xmlns:a16="http://schemas.microsoft.com/office/drawing/2014/main" val="102753132"/>
                        </a:ext>
                      </a:extLst>
                    </a:gridCol>
                    <a:gridCol w="836096">
                      <a:extLst>
                        <a:ext uri="{9D8B030D-6E8A-4147-A177-3AD203B41FA5}">
                          <a16:colId xmlns:a16="http://schemas.microsoft.com/office/drawing/2014/main" val="268037099"/>
                        </a:ext>
                      </a:extLst>
                    </a:gridCol>
                    <a:gridCol w="836096">
                      <a:extLst>
                        <a:ext uri="{9D8B030D-6E8A-4147-A177-3AD203B41FA5}">
                          <a16:colId xmlns:a16="http://schemas.microsoft.com/office/drawing/2014/main" val="3093413456"/>
                        </a:ext>
                      </a:extLst>
                    </a:gridCol>
                    <a:gridCol w="836096">
                      <a:extLst>
                        <a:ext uri="{9D8B030D-6E8A-4147-A177-3AD203B41FA5}">
                          <a16:colId xmlns:a16="http://schemas.microsoft.com/office/drawing/2014/main" val="2657523930"/>
                        </a:ext>
                      </a:extLst>
                    </a:gridCol>
                    <a:gridCol w="836096">
                      <a:extLst>
                        <a:ext uri="{9D8B030D-6E8A-4147-A177-3AD203B41FA5}">
                          <a16:colId xmlns:a16="http://schemas.microsoft.com/office/drawing/2014/main" val="3497786034"/>
                        </a:ext>
                      </a:extLst>
                    </a:gridCol>
                    <a:gridCol w="836096">
                      <a:extLst>
                        <a:ext uri="{9D8B030D-6E8A-4147-A177-3AD203B41FA5}">
                          <a16:colId xmlns:a16="http://schemas.microsoft.com/office/drawing/2014/main" val="409892265"/>
                        </a:ext>
                      </a:extLst>
                    </a:gridCol>
                    <a:gridCol w="836096">
                      <a:extLst>
                        <a:ext uri="{9D8B030D-6E8A-4147-A177-3AD203B41FA5}">
                          <a16:colId xmlns:a16="http://schemas.microsoft.com/office/drawing/2014/main" val="2949825182"/>
                        </a:ext>
                      </a:extLst>
                    </a:gridCol>
                  </a:tblGrid>
                  <a:tr h="72588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Month &amp; Year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Jan</a:t>
                          </a:r>
                        </a:p>
                        <a:p>
                          <a:pPr algn="ctr"/>
                          <a:r>
                            <a:rPr lang="en-AU" dirty="0"/>
                            <a:t>2010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July</a:t>
                          </a:r>
                        </a:p>
                        <a:p>
                          <a:pPr algn="ctr"/>
                          <a:r>
                            <a:rPr lang="en-AU" dirty="0"/>
                            <a:t>2010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Jan</a:t>
                          </a:r>
                        </a:p>
                        <a:p>
                          <a:pPr algn="ctr"/>
                          <a:r>
                            <a:rPr lang="en-AU" dirty="0"/>
                            <a:t>2011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July</a:t>
                          </a:r>
                        </a:p>
                        <a:p>
                          <a:pPr algn="ctr"/>
                          <a:r>
                            <a:rPr lang="en-AU" dirty="0"/>
                            <a:t>2011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Jan 2012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July</a:t>
                          </a:r>
                        </a:p>
                        <a:p>
                          <a:pPr algn="ctr"/>
                          <a:r>
                            <a:rPr lang="en-AU" dirty="0"/>
                            <a:t>2012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Jan 2013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April</a:t>
                          </a:r>
                        </a:p>
                        <a:p>
                          <a:pPr algn="ctr"/>
                          <a:r>
                            <a:rPr lang="en-AU" dirty="0"/>
                            <a:t>2013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July</a:t>
                          </a:r>
                          <a:r>
                            <a:rPr lang="en-AU" baseline="0" dirty="0"/>
                            <a:t> </a:t>
                          </a:r>
                        </a:p>
                        <a:p>
                          <a:pPr algn="ctr"/>
                          <a:r>
                            <a:rPr lang="en-AU" baseline="0" dirty="0"/>
                            <a:t>2013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Oct</a:t>
                          </a:r>
                        </a:p>
                        <a:p>
                          <a:pPr algn="ctr"/>
                          <a:r>
                            <a:rPr lang="en-AU" dirty="0"/>
                            <a:t>2013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Jan</a:t>
                          </a:r>
                        </a:p>
                        <a:p>
                          <a:pPr algn="ctr"/>
                          <a:r>
                            <a:rPr lang="en-AU" dirty="0"/>
                            <a:t>2014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April</a:t>
                          </a:r>
                        </a:p>
                        <a:p>
                          <a:pPr algn="ctr"/>
                          <a:r>
                            <a:rPr lang="en-AU" dirty="0"/>
                            <a:t>2014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July</a:t>
                          </a:r>
                        </a:p>
                        <a:p>
                          <a:pPr algn="ctr"/>
                          <a:r>
                            <a:rPr lang="en-AU" dirty="0"/>
                            <a:t>2014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5455824"/>
                      </a:ext>
                    </a:extLst>
                  </a:tr>
                  <a:tr h="65401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Pollutant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2.04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2.09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2.51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2.44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2.76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2.84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2.92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3.06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3.04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3.14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3.21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3.37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9004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98FB571E-AD69-AB4D-8D66-4F0D9D21E7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8957330"/>
                  </p:ext>
                </p:extLst>
              </p:nvPr>
            </p:nvGraphicFramePr>
            <p:xfrm>
              <a:off x="443025" y="263853"/>
              <a:ext cx="11705341" cy="13799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2826">
                      <a:extLst>
                        <a:ext uri="{9D8B030D-6E8A-4147-A177-3AD203B41FA5}">
                          <a16:colId xmlns:a16="http://schemas.microsoft.com/office/drawing/2014/main" val="1978117507"/>
                        </a:ext>
                      </a:extLst>
                    </a:gridCol>
                    <a:gridCol w="742908">
                      <a:extLst>
                        <a:ext uri="{9D8B030D-6E8A-4147-A177-3AD203B41FA5}">
                          <a16:colId xmlns:a16="http://schemas.microsoft.com/office/drawing/2014/main" val="3147432408"/>
                        </a:ext>
                      </a:extLst>
                    </a:gridCol>
                    <a:gridCol w="797265">
                      <a:extLst>
                        <a:ext uri="{9D8B030D-6E8A-4147-A177-3AD203B41FA5}">
                          <a16:colId xmlns:a16="http://schemas.microsoft.com/office/drawing/2014/main" val="4149072926"/>
                        </a:ext>
                      </a:extLst>
                    </a:gridCol>
                    <a:gridCol w="771382">
                      <a:extLst>
                        <a:ext uri="{9D8B030D-6E8A-4147-A177-3AD203B41FA5}">
                          <a16:colId xmlns:a16="http://schemas.microsoft.com/office/drawing/2014/main" val="175174257"/>
                        </a:ext>
                      </a:extLst>
                    </a:gridCol>
                    <a:gridCol w="836096">
                      <a:extLst>
                        <a:ext uri="{9D8B030D-6E8A-4147-A177-3AD203B41FA5}">
                          <a16:colId xmlns:a16="http://schemas.microsoft.com/office/drawing/2014/main" val="2631229737"/>
                        </a:ext>
                      </a:extLst>
                    </a:gridCol>
                    <a:gridCol w="836096">
                      <a:extLst>
                        <a:ext uri="{9D8B030D-6E8A-4147-A177-3AD203B41FA5}">
                          <a16:colId xmlns:a16="http://schemas.microsoft.com/office/drawing/2014/main" val="3153088076"/>
                        </a:ext>
                      </a:extLst>
                    </a:gridCol>
                    <a:gridCol w="836096">
                      <a:extLst>
                        <a:ext uri="{9D8B030D-6E8A-4147-A177-3AD203B41FA5}">
                          <a16:colId xmlns:a16="http://schemas.microsoft.com/office/drawing/2014/main" val="2014661745"/>
                        </a:ext>
                      </a:extLst>
                    </a:gridCol>
                    <a:gridCol w="836096">
                      <a:extLst>
                        <a:ext uri="{9D8B030D-6E8A-4147-A177-3AD203B41FA5}">
                          <a16:colId xmlns:a16="http://schemas.microsoft.com/office/drawing/2014/main" val="102753132"/>
                        </a:ext>
                      </a:extLst>
                    </a:gridCol>
                    <a:gridCol w="836096">
                      <a:extLst>
                        <a:ext uri="{9D8B030D-6E8A-4147-A177-3AD203B41FA5}">
                          <a16:colId xmlns:a16="http://schemas.microsoft.com/office/drawing/2014/main" val="268037099"/>
                        </a:ext>
                      </a:extLst>
                    </a:gridCol>
                    <a:gridCol w="836096">
                      <a:extLst>
                        <a:ext uri="{9D8B030D-6E8A-4147-A177-3AD203B41FA5}">
                          <a16:colId xmlns:a16="http://schemas.microsoft.com/office/drawing/2014/main" val="3093413456"/>
                        </a:ext>
                      </a:extLst>
                    </a:gridCol>
                    <a:gridCol w="836096">
                      <a:extLst>
                        <a:ext uri="{9D8B030D-6E8A-4147-A177-3AD203B41FA5}">
                          <a16:colId xmlns:a16="http://schemas.microsoft.com/office/drawing/2014/main" val="2657523930"/>
                        </a:ext>
                      </a:extLst>
                    </a:gridCol>
                    <a:gridCol w="836096">
                      <a:extLst>
                        <a:ext uri="{9D8B030D-6E8A-4147-A177-3AD203B41FA5}">
                          <a16:colId xmlns:a16="http://schemas.microsoft.com/office/drawing/2014/main" val="3497786034"/>
                        </a:ext>
                      </a:extLst>
                    </a:gridCol>
                    <a:gridCol w="836096">
                      <a:extLst>
                        <a:ext uri="{9D8B030D-6E8A-4147-A177-3AD203B41FA5}">
                          <a16:colId xmlns:a16="http://schemas.microsoft.com/office/drawing/2014/main" val="409892265"/>
                        </a:ext>
                      </a:extLst>
                    </a:gridCol>
                    <a:gridCol w="836096">
                      <a:extLst>
                        <a:ext uri="{9D8B030D-6E8A-4147-A177-3AD203B41FA5}">
                          <a16:colId xmlns:a16="http://schemas.microsoft.com/office/drawing/2014/main" val="2949825182"/>
                        </a:ext>
                      </a:extLst>
                    </a:gridCol>
                  </a:tblGrid>
                  <a:tr h="72588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Month &amp; Year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Jan</a:t>
                          </a:r>
                        </a:p>
                        <a:p>
                          <a:pPr algn="ctr"/>
                          <a:r>
                            <a:rPr lang="en-AU" dirty="0"/>
                            <a:t>2010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July</a:t>
                          </a:r>
                        </a:p>
                        <a:p>
                          <a:pPr algn="ctr"/>
                          <a:r>
                            <a:rPr lang="en-AU" dirty="0"/>
                            <a:t>2010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Jan</a:t>
                          </a:r>
                        </a:p>
                        <a:p>
                          <a:pPr algn="ctr"/>
                          <a:r>
                            <a:rPr lang="en-AU" dirty="0"/>
                            <a:t>2011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July</a:t>
                          </a:r>
                        </a:p>
                        <a:p>
                          <a:pPr algn="ctr"/>
                          <a:r>
                            <a:rPr lang="en-AU" dirty="0"/>
                            <a:t>2011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Jan 2012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July</a:t>
                          </a:r>
                        </a:p>
                        <a:p>
                          <a:pPr algn="ctr"/>
                          <a:r>
                            <a:rPr lang="en-AU" dirty="0"/>
                            <a:t>2012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Jan 2013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April</a:t>
                          </a:r>
                        </a:p>
                        <a:p>
                          <a:pPr algn="ctr"/>
                          <a:r>
                            <a:rPr lang="en-AU" dirty="0"/>
                            <a:t>2013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July</a:t>
                          </a:r>
                          <a:r>
                            <a:rPr lang="en-AU" baseline="0" dirty="0"/>
                            <a:t> </a:t>
                          </a:r>
                        </a:p>
                        <a:p>
                          <a:pPr algn="ctr"/>
                          <a:r>
                            <a:rPr lang="en-AU" baseline="0" dirty="0"/>
                            <a:t>2013</a:t>
                          </a:r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Oct</a:t>
                          </a:r>
                        </a:p>
                        <a:p>
                          <a:pPr algn="ctr"/>
                          <a:r>
                            <a:rPr lang="en-AU" dirty="0"/>
                            <a:t>2013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Jan</a:t>
                          </a:r>
                        </a:p>
                        <a:p>
                          <a:pPr algn="ctr"/>
                          <a:r>
                            <a:rPr lang="en-AU" dirty="0"/>
                            <a:t>2014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April</a:t>
                          </a:r>
                        </a:p>
                        <a:p>
                          <a:pPr algn="ctr"/>
                          <a:r>
                            <a:rPr lang="en-AU" dirty="0"/>
                            <a:t>2014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July</a:t>
                          </a:r>
                        </a:p>
                        <a:p>
                          <a:pPr algn="ctr"/>
                          <a:r>
                            <a:rPr lang="en-AU" dirty="0"/>
                            <a:t>2014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5455824"/>
                      </a:ext>
                    </a:extLst>
                  </a:tr>
                  <a:tr h="65401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115385" r="-10419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2.04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2.09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2.51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2.44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2.76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2.84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2.92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3.06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3.04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3.14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3.21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3.37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9004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49490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51052" y="0"/>
            <a:ext cx="62565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1631039" y="79872"/>
            <a:ext cx="10431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Topic: </a:t>
            </a:r>
            <a:r>
              <a:rPr lang="en-AU" sz="3200" i="1" dirty="0"/>
              <a:t>Time series data</a:t>
            </a:r>
            <a:endParaRPr lang="en-AU" sz="3200" dirty="0"/>
          </a:p>
          <a:p>
            <a:r>
              <a:rPr lang="en-AU" sz="3200" dirty="0"/>
              <a:t>EQ: </a:t>
            </a:r>
            <a:r>
              <a:rPr lang="en-AU" sz="3200" i="1" dirty="0"/>
              <a:t>What is time series data and how do I graph it?</a:t>
            </a:r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2253673" y="1904651"/>
            <a:ext cx="88114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0070C0"/>
                </a:solidFill>
              </a:rPr>
              <a:t>The table below shows Jana’s heart rate during a 60 minute gym session: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85521" y="3165266"/>
          <a:ext cx="9522688" cy="1331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5504">
                  <a:extLst>
                    <a:ext uri="{9D8B030D-6E8A-4147-A177-3AD203B41FA5}">
                      <a16:colId xmlns:a16="http://schemas.microsoft.com/office/drawing/2014/main" val="199652225"/>
                    </a:ext>
                  </a:extLst>
                </a:gridCol>
                <a:gridCol w="595168">
                  <a:extLst>
                    <a:ext uri="{9D8B030D-6E8A-4147-A177-3AD203B41FA5}">
                      <a16:colId xmlns:a16="http://schemas.microsoft.com/office/drawing/2014/main" val="1136604648"/>
                    </a:ext>
                  </a:extLst>
                </a:gridCol>
                <a:gridCol w="595168">
                  <a:extLst>
                    <a:ext uri="{9D8B030D-6E8A-4147-A177-3AD203B41FA5}">
                      <a16:colId xmlns:a16="http://schemas.microsoft.com/office/drawing/2014/main" val="38965455"/>
                    </a:ext>
                  </a:extLst>
                </a:gridCol>
                <a:gridCol w="595168">
                  <a:extLst>
                    <a:ext uri="{9D8B030D-6E8A-4147-A177-3AD203B41FA5}">
                      <a16:colId xmlns:a16="http://schemas.microsoft.com/office/drawing/2014/main" val="747448992"/>
                    </a:ext>
                  </a:extLst>
                </a:gridCol>
                <a:gridCol w="595168">
                  <a:extLst>
                    <a:ext uri="{9D8B030D-6E8A-4147-A177-3AD203B41FA5}">
                      <a16:colId xmlns:a16="http://schemas.microsoft.com/office/drawing/2014/main" val="3559598809"/>
                    </a:ext>
                  </a:extLst>
                </a:gridCol>
                <a:gridCol w="595168">
                  <a:extLst>
                    <a:ext uri="{9D8B030D-6E8A-4147-A177-3AD203B41FA5}">
                      <a16:colId xmlns:a16="http://schemas.microsoft.com/office/drawing/2014/main" val="911267664"/>
                    </a:ext>
                  </a:extLst>
                </a:gridCol>
                <a:gridCol w="595168">
                  <a:extLst>
                    <a:ext uri="{9D8B030D-6E8A-4147-A177-3AD203B41FA5}">
                      <a16:colId xmlns:a16="http://schemas.microsoft.com/office/drawing/2014/main" val="1550563315"/>
                    </a:ext>
                  </a:extLst>
                </a:gridCol>
                <a:gridCol w="595168">
                  <a:extLst>
                    <a:ext uri="{9D8B030D-6E8A-4147-A177-3AD203B41FA5}">
                      <a16:colId xmlns:a16="http://schemas.microsoft.com/office/drawing/2014/main" val="2860755391"/>
                    </a:ext>
                  </a:extLst>
                </a:gridCol>
                <a:gridCol w="595168">
                  <a:extLst>
                    <a:ext uri="{9D8B030D-6E8A-4147-A177-3AD203B41FA5}">
                      <a16:colId xmlns:a16="http://schemas.microsoft.com/office/drawing/2014/main" val="2494570679"/>
                    </a:ext>
                  </a:extLst>
                </a:gridCol>
                <a:gridCol w="595168">
                  <a:extLst>
                    <a:ext uri="{9D8B030D-6E8A-4147-A177-3AD203B41FA5}">
                      <a16:colId xmlns:a16="http://schemas.microsoft.com/office/drawing/2014/main" val="1401943136"/>
                    </a:ext>
                  </a:extLst>
                </a:gridCol>
                <a:gridCol w="595168">
                  <a:extLst>
                    <a:ext uri="{9D8B030D-6E8A-4147-A177-3AD203B41FA5}">
                      <a16:colId xmlns:a16="http://schemas.microsoft.com/office/drawing/2014/main" val="1731916246"/>
                    </a:ext>
                  </a:extLst>
                </a:gridCol>
                <a:gridCol w="595168">
                  <a:extLst>
                    <a:ext uri="{9D8B030D-6E8A-4147-A177-3AD203B41FA5}">
                      <a16:colId xmlns:a16="http://schemas.microsoft.com/office/drawing/2014/main" val="1409311418"/>
                    </a:ext>
                  </a:extLst>
                </a:gridCol>
                <a:gridCol w="595168">
                  <a:extLst>
                    <a:ext uri="{9D8B030D-6E8A-4147-A177-3AD203B41FA5}">
                      <a16:colId xmlns:a16="http://schemas.microsoft.com/office/drawing/2014/main" val="1220792489"/>
                    </a:ext>
                  </a:extLst>
                </a:gridCol>
                <a:gridCol w="595168">
                  <a:extLst>
                    <a:ext uri="{9D8B030D-6E8A-4147-A177-3AD203B41FA5}">
                      <a16:colId xmlns:a16="http://schemas.microsoft.com/office/drawing/2014/main" val="4165962410"/>
                    </a:ext>
                  </a:extLst>
                </a:gridCol>
              </a:tblGrid>
              <a:tr h="548271">
                <a:tc>
                  <a:txBody>
                    <a:bodyPr/>
                    <a:lstStyle/>
                    <a:p>
                      <a:r>
                        <a:rPr lang="en-AU" dirty="0"/>
                        <a:t>Time (minutes)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714963"/>
                  </a:ext>
                </a:extLst>
              </a:tr>
              <a:tr h="783244">
                <a:tc>
                  <a:txBody>
                    <a:bodyPr/>
                    <a:lstStyle/>
                    <a:p>
                      <a:r>
                        <a:rPr lang="en-AU" dirty="0"/>
                        <a:t>Heart Rate</a:t>
                      </a:r>
                    </a:p>
                    <a:p>
                      <a:r>
                        <a:rPr lang="en-AU" dirty="0"/>
                        <a:t>(Beats per 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70049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53672" y="4915302"/>
            <a:ext cx="8811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solidFill>
                  <a:srgbClr val="0070C0"/>
                </a:solidFill>
              </a:rPr>
              <a:t>Draw the time series plot for this data.</a:t>
            </a:r>
          </a:p>
        </p:txBody>
      </p:sp>
    </p:spTree>
    <p:extLst>
      <p:ext uri="{BB962C8B-B14F-4D97-AF65-F5344CB8AC3E}">
        <p14:creationId xmlns:p14="http://schemas.microsoft.com/office/powerpoint/2010/main" val="430363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51052" y="0"/>
            <a:ext cx="62565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1631039" y="79872"/>
            <a:ext cx="10431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Topic: </a:t>
            </a:r>
            <a:r>
              <a:rPr lang="en-AU" sz="3200" i="1" dirty="0"/>
              <a:t>Time series data</a:t>
            </a:r>
            <a:endParaRPr lang="en-AU" sz="3200" dirty="0"/>
          </a:p>
          <a:p>
            <a:r>
              <a:rPr lang="en-AU" sz="3200" dirty="0"/>
              <a:t>EQ: </a:t>
            </a:r>
            <a:r>
              <a:rPr lang="en-AU" sz="3200" i="1" dirty="0"/>
              <a:t>What is time series data and how do I graph it?</a:t>
            </a:r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2447638" y="1713963"/>
            <a:ext cx="33620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0070C0"/>
                </a:solidFill>
              </a:rPr>
              <a:t>The table on the right shows the value of AUD$ in US cents at various times over a day.</a:t>
            </a:r>
          </a:p>
          <a:p>
            <a:endParaRPr lang="en-AU" sz="3200" dirty="0">
              <a:solidFill>
                <a:srgbClr val="0070C0"/>
              </a:solidFill>
            </a:endParaRPr>
          </a:p>
          <a:p>
            <a:pPr algn="r"/>
            <a:r>
              <a:rPr lang="en-AU" sz="3200" dirty="0">
                <a:solidFill>
                  <a:srgbClr val="0070C0"/>
                </a:solidFill>
              </a:rPr>
              <a:t>Draw the time series plot for this data.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176655" y="1356783"/>
          <a:ext cx="2863272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636">
                  <a:extLst>
                    <a:ext uri="{9D8B030D-6E8A-4147-A177-3AD203B41FA5}">
                      <a16:colId xmlns:a16="http://schemas.microsoft.com/office/drawing/2014/main" val="2350482494"/>
                    </a:ext>
                  </a:extLst>
                </a:gridCol>
                <a:gridCol w="1431636">
                  <a:extLst>
                    <a:ext uri="{9D8B030D-6E8A-4147-A177-3AD203B41FA5}">
                      <a16:colId xmlns:a16="http://schemas.microsoft.com/office/drawing/2014/main" val="3329833153"/>
                    </a:ext>
                  </a:extLst>
                </a:gridCol>
              </a:tblGrid>
              <a:tr h="629073">
                <a:tc>
                  <a:txBody>
                    <a:bodyPr/>
                    <a:lstStyle/>
                    <a:p>
                      <a:r>
                        <a:rPr lang="en-AU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Value</a:t>
                      </a:r>
                      <a:r>
                        <a:rPr lang="en-AU" baseline="0" dirty="0"/>
                        <a:t> (US cents)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599351"/>
                  </a:ext>
                </a:extLst>
              </a:tr>
              <a:tr h="629073">
                <a:tc>
                  <a:txBody>
                    <a:bodyPr/>
                    <a:lstStyle/>
                    <a:p>
                      <a:r>
                        <a:rPr lang="en-AU" dirty="0"/>
                        <a:t>9:00</a:t>
                      </a:r>
                    </a:p>
                    <a:p>
                      <a:r>
                        <a:rPr lang="en-AU" dirty="0"/>
                        <a:t>9:30</a:t>
                      </a:r>
                    </a:p>
                    <a:p>
                      <a:r>
                        <a:rPr lang="en-AU" dirty="0"/>
                        <a:t>10:00</a:t>
                      </a:r>
                    </a:p>
                    <a:p>
                      <a:r>
                        <a:rPr lang="en-AU" dirty="0"/>
                        <a:t>10:30</a:t>
                      </a:r>
                    </a:p>
                    <a:p>
                      <a:r>
                        <a:rPr lang="en-AU" dirty="0"/>
                        <a:t>11:00</a:t>
                      </a:r>
                    </a:p>
                    <a:p>
                      <a:r>
                        <a:rPr lang="en-AU" dirty="0"/>
                        <a:t>11:30</a:t>
                      </a:r>
                    </a:p>
                    <a:p>
                      <a:r>
                        <a:rPr lang="en-AU" dirty="0"/>
                        <a:t>12:00</a:t>
                      </a:r>
                    </a:p>
                    <a:p>
                      <a:r>
                        <a:rPr lang="en-AU" dirty="0"/>
                        <a:t>12:30</a:t>
                      </a:r>
                    </a:p>
                    <a:p>
                      <a:r>
                        <a:rPr lang="en-AU" dirty="0"/>
                        <a:t>13:00</a:t>
                      </a:r>
                    </a:p>
                    <a:p>
                      <a:r>
                        <a:rPr lang="en-AU" dirty="0"/>
                        <a:t>13:30</a:t>
                      </a:r>
                    </a:p>
                    <a:p>
                      <a:r>
                        <a:rPr lang="en-AU" dirty="0"/>
                        <a:t>14:00</a:t>
                      </a:r>
                    </a:p>
                    <a:p>
                      <a:r>
                        <a:rPr lang="en-AU" dirty="0"/>
                        <a:t>14:30</a:t>
                      </a:r>
                    </a:p>
                    <a:p>
                      <a:r>
                        <a:rPr lang="en-AU" dirty="0"/>
                        <a:t>15:00</a:t>
                      </a:r>
                    </a:p>
                    <a:p>
                      <a:r>
                        <a:rPr lang="en-AU" dirty="0"/>
                        <a:t>15:30</a:t>
                      </a:r>
                    </a:p>
                    <a:p>
                      <a:r>
                        <a:rPr lang="en-AU" dirty="0"/>
                        <a:t>16:00</a:t>
                      </a:r>
                    </a:p>
                    <a:p>
                      <a:r>
                        <a:rPr lang="en-AU" dirty="0"/>
                        <a:t>16:30</a:t>
                      </a:r>
                    </a:p>
                    <a:p>
                      <a:r>
                        <a:rPr lang="en-AU" dirty="0"/>
                        <a:t>17:00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76.8</a:t>
                      </a:r>
                    </a:p>
                    <a:p>
                      <a:r>
                        <a:rPr lang="en-AU" dirty="0"/>
                        <a:t>76.5</a:t>
                      </a:r>
                    </a:p>
                    <a:p>
                      <a:r>
                        <a:rPr lang="en-AU" dirty="0"/>
                        <a:t>76.1</a:t>
                      </a:r>
                    </a:p>
                    <a:p>
                      <a:r>
                        <a:rPr lang="en-AU" dirty="0"/>
                        <a:t>76.6</a:t>
                      </a:r>
                    </a:p>
                    <a:p>
                      <a:r>
                        <a:rPr lang="en-AU" dirty="0"/>
                        <a:t>76.2</a:t>
                      </a:r>
                    </a:p>
                    <a:p>
                      <a:r>
                        <a:rPr lang="en-AU" dirty="0"/>
                        <a:t>76.0</a:t>
                      </a:r>
                    </a:p>
                    <a:p>
                      <a:r>
                        <a:rPr lang="en-AU" dirty="0"/>
                        <a:t>75.5</a:t>
                      </a:r>
                    </a:p>
                    <a:p>
                      <a:r>
                        <a:rPr lang="en-AU" dirty="0"/>
                        <a:t>75.9</a:t>
                      </a:r>
                    </a:p>
                    <a:p>
                      <a:r>
                        <a:rPr lang="en-AU" dirty="0"/>
                        <a:t>76.2</a:t>
                      </a:r>
                    </a:p>
                    <a:p>
                      <a:r>
                        <a:rPr lang="en-AU" dirty="0"/>
                        <a:t>75.8</a:t>
                      </a:r>
                    </a:p>
                    <a:p>
                      <a:r>
                        <a:rPr lang="en-AU" dirty="0"/>
                        <a:t>76.4</a:t>
                      </a:r>
                    </a:p>
                    <a:p>
                      <a:r>
                        <a:rPr lang="en-AU" dirty="0"/>
                        <a:t>75.7</a:t>
                      </a:r>
                    </a:p>
                    <a:p>
                      <a:r>
                        <a:rPr lang="en-AU" dirty="0"/>
                        <a:t>75.4</a:t>
                      </a:r>
                    </a:p>
                    <a:p>
                      <a:r>
                        <a:rPr lang="en-AU" dirty="0"/>
                        <a:t>76.1</a:t>
                      </a:r>
                    </a:p>
                    <a:p>
                      <a:r>
                        <a:rPr lang="en-AU" dirty="0"/>
                        <a:t>76.5</a:t>
                      </a:r>
                    </a:p>
                    <a:p>
                      <a:r>
                        <a:rPr lang="en-AU" dirty="0"/>
                        <a:t>75.8</a:t>
                      </a:r>
                    </a:p>
                    <a:p>
                      <a:r>
                        <a:rPr lang="en-AU" dirty="0"/>
                        <a:t>76.0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802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1774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70E76-9313-4296-B23F-D70F0E7A4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Complete Exercise 1A</a:t>
            </a:r>
          </a:p>
        </p:txBody>
      </p:sp>
      <p:sp>
        <p:nvSpPr>
          <p:cNvPr id="3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F4A43821-22F4-4F28-9BA5-3CA377D35E89}"/>
              </a:ext>
            </a:extLst>
          </p:cNvPr>
          <p:cNvSpPr/>
          <p:nvPr/>
        </p:nvSpPr>
        <p:spPr>
          <a:xfrm>
            <a:off x="8957569" y="257452"/>
            <a:ext cx="1473693" cy="621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Back to Contents</a:t>
            </a:r>
          </a:p>
        </p:txBody>
      </p:sp>
    </p:spTree>
    <p:extLst>
      <p:ext uri="{BB962C8B-B14F-4D97-AF65-F5344CB8AC3E}">
        <p14:creationId xmlns:p14="http://schemas.microsoft.com/office/powerpoint/2010/main" val="3078799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4908-264B-4CBF-AFC3-868255191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2BEC3-3C06-460D-9642-B3983F1AA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55906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Topic: Time Series Data</a:t>
            </a:r>
          </a:p>
          <a:p>
            <a:pPr marL="0" indent="0">
              <a:buNone/>
            </a:pPr>
            <a:r>
              <a:rPr lang="en-AU" dirty="0"/>
              <a:t>EQ: How do I describe time series graphs and data?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Syllabus points:</a:t>
            </a:r>
          </a:p>
          <a:p>
            <a:pPr marL="0" indent="0">
              <a:buNone/>
            </a:pPr>
            <a:r>
              <a:rPr lang="en-AU" dirty="0"/>
              <a:t>4.1.2	describe time series plots by identifying features such as trend (long term direction), seasonality (systematic, calendar-related movements), and irregular fluctuations (unsystematic, short term fluctuations), and recognise when there are outliers </a:t>
            </a:r>
          </a:p>
          <a:p>
            <a:pPr marL="0" indent="0">
              <a:buNone/>
            </a:pPr>
            <a:r>
              <a:rPr lang="en-AU" dirty="0"/>
              <a:t>4.1.6</a:t>
            </a:r>
            <a:r>
              <a:rPr lang="en-AU" sz="2400" dirty="0"/>
              <a:t>   </a:t>
            </a:r>
            <a:r>
              <a:rPr lang="en-AU" dirty="0"/>
              <a:t>fit a least-squares line to model long-term trends in time series data </a:t>
            </a:r>
          </a:p>
          <a:p>
            <a:pPr marL="0" indent="0">
              <a:buNone/>
            </a:pPr>
            <a:r>
              <a:rPr lang="en-AU" dirty="0"/>
              <a:t>4.1.7</a:t>
            </a:r>
            <a:r>
              <a:rPr lang="en-AU" sz="2400" dirty="0"/>
              <a:t>   </a:t>
            </a:r>
            <a:r>
              <a:rPr lang="en-AU" dirty="0"/>
              <a:t>predict from regression lines, making seasonal adjustments for periodic data</a:t>
            </a:r>
            <a:r>
              <a:rPr lang="en-AU" sz="2400" dirty="0"/>
              <a:t>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8AA0D5C3-8722-4BFA-BE91-95E09487ABBD}"/>
              </a:ext>
            </a:extLst>
          </p:cNvPr>
          <p:cNvSpPr/>
          <p:nvPr/>
        </p:nvSpPr>
        <p:spPr>
          <a:xfrm>
            <a:off x="8957569" y="257452"/>
            <a:ext cx="1473693" cy="621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Back to Contents</a:t>
            </a:r>
          </a:p>
        </p:txBody>
      </p:sp>
    </p:spTree>
    <p:extLst>
      <p:ext uri="{BB962C8B-B14F-4D97-AF65-F5344CB8AC3E}">
        <p14:creationId xmlns:p14="http://schemas.microsoft.com/office/powerpoint/2010/main" val="2186593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51052" y="0"/>
            <a:ext cx="62565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1631039" y="79872"/>
            <a:ext cx="10431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Topic: </a:t>
            </a:r>
            <a:r>
              <a:rPr lang="en-AU" sz="3200" i="1" dirty="0"/>
              <a:t>Time series data</a:t>
            </a:r>
            <a:endParaRPr lang="en-AU" sz="3200" dirty="0"/>
          </a:p>
          <a:p>
            <a:r>
              <a:rPr lang="en-AU" sz="3200" dirty="0"/>
              <a:t>EQ: H</a:t>
            </a:r>
            <a:r>
              <a:rPr lang="en-AU" sz="3200" i="1" dirty="0"/>
              <a:t>ow do I describe time series graphs/data?</a:t>
            </a:r>
            <a:endParaRPr lang="en-A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2338816" y="1366043"/>
            <a:ext cx="86247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0070C0"/>
                </a:solidFill>
              </a:rPr>
              <a:t>Random Variation</a:t>
            </a:r>
          </a:p>
          <a:p>
            <a:r>
              <a:rPr lang="en-AU" sz="2400" dirty="0">
                <a:solidFill>
                  <a:srgbClr val="0070C0"/>
                </a:solidFill>
              </a:rPr>
              <a:t>Short term, unsystematic fluctuations in data, but overall the data is subject to random variation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816" y="2689482"/>
            <a:ext cx="6161809" cy="404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09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51052" y="0"/>
            <a:ext cx="62565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1631039" y="79872"/>
            <a:ext cx="10431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Topic: </a:t>
            </a:r>
            <a:r>
              <a:rPr lang="en-AU" sz="3200" i="1" dirty="0"/>
              <a:t>Time series data</a:t>
            </a:r>
            <a:endParaRPr lang="en-AU" sz="3200" dirty="0"/>
          </a:p>
          <a:p>
            <a:r>
              <a:rPr lang="en-AU" sz="3200" dirty="0"/>
              <a:t>EQ: H</a:t>
            </a:r>
            <a:r>
              <a:rPr lang="en-AU" sz="3200" i="1" dirty="0"/>
              <a:t>ow do I describe time series graphs/data?</a:t>
            </a:r>
            <a:endParaRPr lang="en-AU" sz="3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2424"/>
          <a:stretch/>
        </p:blipFill>
        <p:spPr>
          <a:xfrm>
            <a:off x="1967345" y="2632363"/>
            <a:ext cx="8983085" cy="31957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56781" y="1798223"/>
            <a:ext cx="81352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0070C0"/>
                </a:solidFill>
              </a:rPr>
              <a:t>Upward	&amp;	Downward Trends</a:t>
            </a:r>
            <a:endParaRPr lang="en-AU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88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51052" y="0"/>
            <a:ext cx="62565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1631039" y="79872"/>
            <a:ext cx="10431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Topic: </a:t>
            </a:r>
            <a:r>
              <a:rPr lang="en-AU" sz="3200" i="1" dirty="0"/>
              <a:t>Time series data</a:t>
            </a:r>
            <a:endParaRPr lang="en-AU" sz="3200" dirty="0"/>
          </a:p>
          <a:p>
            <a:r>
              <a:rPr lang="en-AU" sz="3200" dirty="0"/>
              <a:t>EQ: H</a:t>
            </a:r>
            <a:r>
              <a:rPr lang="en-AU" sz="3200" i="1" dirty="0"/>
              <a:t>ow do I describe time series graphs/data?</a:t>
            </a:r>
            <a:endParaRPr lang="en-AU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562" y="2211965"/>
            <a:ext cx="6238875" cy="4429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38817" y="1366043"/>
            <a:ext cx="68766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0070C0"/>
                </a:solidFill>
              </a:rPr>
              <a:t>Seasonal trends</a:t>
            </a:r>
          </a:p>
          <a:p>
            <a:r>
              <a:rPr lang="en-AU" sz="2400" dirty="0">
                <a:solidFill>
                  <a:srgbClr val="0070C0"/>
                </a:solidFill>
              </a:rPr>
              <a:t>Where a pattern is repeated a certain intervals</a:t>
            </a:r>
          </a:p>
        </p:txBody>
      </p:sp>
    </p:spTree>
    <p:extLst>
      <p:ext uri="{BB962C8B-B14F-4D97-AF65-F5344CB8AC3E}">
        <p14:creationId xmlns:p14="http://schemas.microsoft.com/office/powerpoint/2010/main" val="3954396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70E76-9313-4296-B23F-D70F0E7A4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8889"/>
            <a:ext cx="10515600" cy="1325563"/>
          </a:xfrm>
        </p:spPr>
        <p:txBody>
          <a:bodyPr/>
          <a:lstStyle/>
          <a:p>
            <a:r>
              <a:rPr lang="en-AU" dirty="0"/>
              <a:t>Complete </a:t>
            </a:r>
            <a:r>
              <a:rPr lang="en-AU" dirty="0" err="1"/>
              <a:t>Klup</a:t>
            </a:r>
            <a:r>
              <a:rPr lang="en-AU"/>
              <a:t> Exercise 1A</a:t>
            </a:r>
            <a:endParaRPr lang="en-AU" dirty="0"/>
          </a:p>
        </p:txBody>
      </p:sp>
      <p:sp>
        <p:nvSpPr>
          <p:cNvPr id="3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E594ABD0-C009-492B-A2FB-AFD4E942E75C}"/>
              </a:ext>
            </a:extLst>
          </p:cNvPr>
          <p:cNvSpPr/>
          <p:nvPr/>
        </p:nvSpPr>
        <p:spPr>
          <a:xfrm>
            <a:off x="8957569" y="257452"/>
            <a:ext cx="1473693" cy="621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Back to Contents</a:t>
            </a:r>
          </a:p>
        </p:txBody>
      </p:sp>
    </p:spTree>
    <p:extLst>
      <p:ext uri="{BB962C8B-B14F-4D97-AF65-F5344CB8AC3E}">
        <p14:creationId xmlns:p14="http://schemas.microsoft.com/office/powerpoint/2010/main" val="3626254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2B6B7-27FC-4FDA-AF26-CCF610CD1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4614" y="1783959"/>
            <a:ext cx="4087306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Well done on completing chapter 1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02414F-6155-45A3-9DDD-28A00AEC3D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" b="2427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5EBFC4B0-F71E-4ED5-9246-F192DB0DA7CD}"/>
              </a:ext>
            </a:extLst>
          </p:cNvPr>
          <p:cNvSpPr/>
          <p:nvPr/>
        </p:nvSpPr>
        <p:spPr>
          <a:xfrm>
            <a:off x="8957569" y="257452"/>
            <a:ext cx="1473693" cy="621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Back to Contents</a:t>
            </a:r>
          </a:p>
        </p:txBody>
      </p:sp>
    </p:spTree>
    <p:extLst>
      <p:ext uri="{BB962C8B-B14F-4D97-AF65-F5344CB8AC3E}">
        <p14:creationId xmlns:p14="http://schemas.microsoft.com/office/powerpoint/2010/main" val="32087223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4908-264B-4CBF-AFC3-868255191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2BEC3-3C06-460D-9642-B3983F1AA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Topic: Moving Averages</a:t>
            </a:r>
          </a:p>
          <a:p>
            <a:pPr marL="0" indent="0">
              <a:buNone/>
            </a:pPr>
            <a:r>
              <a:rPr lang="en-AU" dirty="0"/>
              <a:t>EQ: What is a moving average and why do we use them?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Syllabus points:</a:t>
            </a:r>
          </a:p>
          <a:p>
            <a:pPr marL="0" indent="0">
              <a:buNone/>
            </a:pPr>
            <a:r>
              <a:rPr lang="en-AU" dirty="0"/>
              <a:t>4.1.3	smooth time series data by using a simple moving average, including the use of spreadsheets to implement this process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40903CBD-A1A2-45CE-B33E-8D83A05D8ED0}"/>
              </a:ext>
            </a:extLst>
          </p:cNvPr>
          <p:cNvSpPr/>
          <p:nvPr/>
        </p:nvSpPr>
        <p:spPr>
          <a:xfrm>
            <a:off x="8957569" y="257452"/>
            <a:ext cx="1473693" cy="621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Back to Contents</a:t>
            </a:r>
          </a:p>
        </p:txBody>
      </p:sp>
    </p:spTree>
    <p:extLst>
      <p:ext uri="{BB962C8B-B14F-4D97-AF65-F5344CB8AC3E}">
        <p14:creationId xmlns:p14="http://schemas.microsoft.com/office/powerpoint/2010/main" val="3417450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4818" y="0"/>
            <a:ext cx="62565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AutoShape 6" descr="Image result for time series plot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/>
          <p:cNvSpPr txBox="1"/>
          <p:nvPr/>
        </p:nvSpPr>
        <p:spPr>
          <a:xfrm>
            <a:off x="1173118" y="150643"/>
            <a:ext cx="104316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500" dirty="0">
                <a:solidFill>
                  <a:srgbClr val="0070C0"/>
                </a:solidFill>
              </a:rPr>
              <a:t>Topic: </a:t>
            </a:r>
            <a:r>
              <a:rPr lang="en-AU" sz="2500" i="1" dirty="0">
                <a:solidFill>
                  <a:srgbClr val="0070C0"/>
                </a:solidFill>
              </a:rPr>
              <a:t>Moving Averages</a:t>
            </a:r>
            <a:endParaRPr lang="en-AU" sz="2500" dirty="0">
              <a:solidFill>
                <a:srgbClr val="0070C0"/>
              </a:solidFill>
            </a:endParaRPr>
          </a:p>
          <a:p>
            <a:r>
              <a:rPr lang="en-AU" sz="2500" dirty="0">
                <a:solidFill>
                  <a:srgbClr val="0070C0"/>
                </a:solidFill>
              </a:rPr>
              <a:t>EQ: </a:t>
            </a:r>
            <a:r>
              <a:rPr lang="en-AU" sz="2500" i="1" dirty="0">
                <a:solidFill>
                  <a:srgbClr val="0070C0"/>
                </a:solidFill>
              </a:rPr>
              <a:t>What is a moving average and why do we use them?</a:t>
            </a:r>
            <a:endParaRPr lang="en-AU" sz="2500" dirty="0">
              <a:solidFill>
                <a:srgbClr val="0070C0"/>
              </a:solidFill>
            </a:endParaRPr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356C50E8-EB8C-5B42-82EE-CFDCE9891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033" y="2799997"/>
            <a:ext cx="4707579" cy="34316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C21A86-5B96-0249-B5F1-BD04289B6793}"/>
              </a:ext>
            </a:extLst>
          </p:cNvPr>
          <p:cNvSpPr txBox="1"/>
          <p:nvPr/>
        </p:nvSpPr>
        <p:spPr>
          <a:xfrm>
            <a:off x="929950" y="1216459"/>
            <a:ext cx="11262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Situation: The owners of a tourist attraction have asked you to analyze the below data to see if there are any trends they can exploit for the future. </a:t>
            </a:r>
          </a:p>
          <a:p>
            <a:r>
              <a:rPr lang="en-US" sz="2800" dirty="0"/>
              <a:t>Looking at the data as displayed, are there any trends that jump out at you?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24119C-D016-2444-B60D-87E44A9537C0}"/>
              </a:ext>
            </a:extLst>
          </p:cNvPr>
          <p:cNvSpPr txBox="1"/>
          <p:nvPr/>
        </p:nvSpPr>
        <p:spPr>
          <a:xfrm>
            <a:off x="6560975" y="2961571"/>
            <a:ext cx="541304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this chapter, you will learn tools that will help you better analyze this sort of fluctuating date, with the goal of: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making underlying trends more apparent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making predictions</a:t>
            </a:r>
          </a:p>
        </p:txBody>
      </p:sp>
    </p:spTree>
    <p:extLst>
      <p:ext uri="{BB962C8B-B14F-4D97-AF65-F5344CB8AC3E}">
        <p14:creationId xmlns:p14="http://schemas.microsoft.com/office/powerpoint/2010/main" val="2897959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9909" y="0"/>
            <a:ext cx="62565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AutoShape 6" descr="Image result for time series plot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A8FC5-6080-8445-9ADE-F5267DA28FF0}"/>
              </a:ext>
            </a:extLst>
          </p:cNvPr>
          <p:cNvSpPr txBox="1"/>
          <p:nvPr/>
        </p:nvSpPr>
        <p:spPr>
          <a:xfrm>
            <a:off x="935993" y="171773"/>
            <a:ext cx="104316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500" dirty="0">
                <a:solidFill>
                  <a:srgbClr val="0070C0"/>
                </a:solidFill>
              </a:rPr>
              <a:t>Topic: </a:t>
            </a:r>
            <a:r>
              <a:rPr lang="en-AU" sz="2500" i="1" dirty="0">
                <a:solidFill>
                  <a:srgbClr val="0070C0"/>
                </a:solidFill>
              </a:rPr>
              <a:t>Moving Averages</a:t>
            </a:r>
            <a:endParaRPr lang="en-AU" sz="2500" dirty="0">
              <a:solidFill>
                <a:srgbClr val="0070C0"/>
              </a:solidFill>
            </a:endParaRPr>
          </a:p>
          <a:p>
            <a:r>
              <a:rPr lang="en-AU" sz="2500" dirty="0">
                <a:solidFill>
                  <a:srgbClr val="0070C0"/>
                </a:solidFill>
              </a:rPr>
              <a:t>EQ: </a:t>
            </a:r>
            <a:r>
              <a:rPr lang="en-AU" sz="2500" i="1" dirty="0">
                <a:solidFill>
                  <a:srgbClr val="0070C0"/>
                </a:solidFill>
              </a:rPr>
              <a:t>What is a moving average and why do we use them?</a:t>
            </a:r>
            <a:endParaRPr lang="en-AU" sz="2500" dirty="0">
              <a:solidFill>
                <a:srgbClr val="0070C0"/>
              </a:solidFill>
            </a:endParaRPr>
          </a:p>
        </p:txBody>
      </p:sp>
      <p:pic>
        <p:nvPicPr>
          <p:cNvPr id="8" name="Picture 7" descr="A close up of a piece of paper&#10;&#10;Description automatically generated">
            <a:extLst>
              <a:ext uri="{FF2B5EF4-FFF2-40B4-BE49-F238E27FC236}">
                <a16:creationId xmlns:a16="http://schemas.microsoft.com/office/drawing/2014/main" id="{191F7E30-AC34-5940-B268-1022C6D96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706" y="1517650"/>
            <a:ext cx="7162800" cy="3822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72A5B9-90FF-4B45-8D55-CE8D807E28ED}"/>
              </a:ext>
            </a:extLst>
          </p:cNvPr>
          <p:cNvSpPr txBox="1"/>
          <p:nvPr/>
        </p:nvSpPr>
        <p:spPr>
          <a:xfrm>
            <a:off x="8681545" y="1429407"/>
            <a:ext cx="334228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graph shows that the data is seasonal in nature, with three ‘seasons’ making up the cycle.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Seasonal variation has a constant time period/regular frequency. A repeating pattern without regular frequency is considered cyclical rather than seasonal.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peaks occur at the 1</a:t>
            </a:r>
            <a:r>
              <a:rPr lang="en-US" baseline="30000" dirty="0"/>
              <a:t>st</a:t>
            </a:r>
            <a:r>
              <a:rPr lang="en-US" dirty="0"/>
              <a:t>, 4</a:t>
            </a:r>
            <a:r>
              <a:rPr lang="en-US" baseline="30000" dirty="0"/>
              <a:t>th</a:t>
            </a:r>
            <a:r>
              <a:rPr lang="en-US" dirty="0"/>
              <a:t>, 7</a:t>
            </a:r>
            <a:r>
              <a:rPr lang="en-US" baseline="30000" dirty="0"/>
              <a:t>th</a:t>
            </a:r>
            <a:r>
              <a:rPr lang="en-US" dirty="0"/>
              <a:t> and 10</a:t>
            </a:r>
            <a:r>
              <a:rPr lang="en-US" baseline="30000" dirty="0"/>
              <a:t>th</a:t>
            </a:r>
            <a:r>
              <a:rPr lang="en-US" dirty="0"/>
              <a:t> points, with troughs at the 2</a:t>
            </a:r>
            <a:r>
              <a:rPr lang="en-US" baseline="30000" dirty="0"/>
              <a:t>nd</a:t>
            </a:r>
            <a:r>
              <a:rPr lang="en-US" dirty="0"/>
              <a:t>, 5</a:t>
            </a:r>
            <a:r>
              <a:rPr lang="en-US" baseline="30000" dirty="0"/>
              <a:t>th</a:t>
            </a:r>
            <a:r>
              <a:rPr lang="en-US" dirty="0"/>
              <a:t> and 8</a:t>
            </a:r>
            <a:r>
              <a:rPr lang="en-US" baseline="30000" dirty="0"/>
              <a:t>th</a:t>
            </a:r>
            <a:r>
              <a:rPr lang="en-US" dirty="0"/>
              <a:t> plotted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pas we have used a line of best fit (linear regression) to help us analyze the date, which would look like this:</a:t>
            </a:r>
          </a:p>
        </p:txBody>
      </p:sp>
      <p:pic>
        <p:nvPicPr>
          <p:cNvPr id="14" name="Picture 13" descr="A close up of a map&#10;&#10;Description automatically generated">
            <a:extLst>
              <a:ext uri="{FF2B5EF4-FFF2-40B4-BE49-F238E27FC236}">
                <a16:creationId xmlns:a16="http://schemas.microsoft.com/office/drawing/2014/main" id="{C4CFE4FB-11A7-4E4A-9993-3C55F495D5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84" y="1604047"/>
            <a:ext cx="7952444" cy="36499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0099E32-4236-764B-8BF7-63C03F9B4EC9}"/>
              </a:ext>
            </a:extLst>
          </p:cNvPr>
          <p:cNvSpPr txBox="1"/>
          <p:nvPr/>
        </p:nvSpPr>
        <p:spPr>
          <a:xfrm>
            <a:off x="869846" y="5584389"/>
            <a:ext cx="78273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data is seasonal in nature, and spread out, it is better to first </a:t>
            </a:r>
            <a:r>
              <a:rPr lang="en-US" i="1" dirty="0"/>
              <a:t>smooth</a:t>
            </a:r>
            <a:r>
              <a:rPr lang="en-US" dirty="0"/>
              <a:t> the graph by attempting to remove the seasonal variation. to do this, we use a technique called the </a:t>
            </a:r>
            <a:r>
              <a:rPr lang="en-US" b="1" i="1" dirty="0"/>
              <a:t>moving average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82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AutoShape 6" descr="Image result for time series plot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A8FC5-6080-8445-9ADE-F5267DA28FF0}"/>
              </a:ext>
            </a:extLst>
          </p:cNvPr>
          <p:cNvSpPr txBox="1"/>
          <p:nvPr/>
        </p:nvSpPr>
        <p:spPr>
          <a:xfrm>
            <a:off x="935993" y="171773"/>
            <a:ext cx="104316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500" dirty="0">
                <a:solidFill>
                  <a:srgbClr val="0070C0"/>
                </a:solidFill>
              </a:rPr>
              <a:t>Topic: </a:t>
            </a:r>
            <a:r>
              <a:rPr lang="en-AU" sz="2500" i="1" dirty="0">
                <a:solidFill>
                  <a:srgbClr val="0070C0"/>
                </a:solidFill>
              </a:rPr>
              <a:t>Moving Averages</a:t>
            </a:r>
            <a:endParaRPr lang="en-AU" sz="2500" dirty="0">
              <a:solidFill>
                <a:srgbClr val="0070C0"/>
              </a:solidFill>
            </a:endParaRPr>
          </a:p>
          <a:p>
            <a:r>
              <a:rPr lang="en-AU" sz="2500" dirty="0">
                <a:solidFill>
                  <a:srgbClr val="0070C0"/>
                </a:solidFill>
              </a:rPr>
              <a:t>EQ: </a:t>
            </a:r>
            <a:r>
              <a:rPr lang="en-AU" sz="2500" i="1" dirty="0">
                <a:solidFill>
                  <a:srgbClr val="0070C0"/>
                </a:solidFill>
              </a:rPr>
              <a:t>What is a moving average and why do we use them?</a:t>
            </a:r>
            <a:endParaRPr lang="en-AU" sz="2500" dirty="0">
              <a:solidFill>
                <a:srgbClr val="0070C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72A5B9-90FF-4B45-8D55-CE8D807E28ED}"/>
              </a:ext>
            </a:extLst>
          </p:cNvPr>
          <p:cNvSpPr txBox="1"/>
          <p:nvPr/>
        </p:nvSpPr>
        <p:spPr>
          <a:xfrm>
            <a:off x="9413436" y="1349451"/>
            <a:ext cx="274070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this data, we are going to use a </a:t>
            </a:r>
            <a:r>
              <a:rPr lang="en-US" i="1" dirty="0"/>
              <a:t>three-point moving average</a:t>
            </a:r>
            <a:r>
              <a:rPr lang="en-US" dirty="0"/>
              <a:t>, as there are 3 seasons. If the original data had a four-point pattern, we’d use a </a:t>
            </a:r>
            <a:r>
              <a:rPr lang="en-US" i="1" dirty="0"/>
              <a:t>four-point</a:t>
            </a:r>
            <a:r>
              <a:rPr lang="en-US" dirty="0"/>
              <a:t> </a:t>
            </a:r>
            <a:r>
              <a:rPr lang="en-US" i="1" dirty="0"/>
              <a:t>moving average</a:t>
            </a:r>
            <a:r>
              <a:rPr lang="en-US" dirty="0"/>
              <a:t>. </a:t>
            </a:r>
            <a:r>
              <a:rPr lang="en-US" b="1" dirty="0"/>
              <a:t>What moving average you use depends on the number of seasons in the cycle</a:t>
            </a:r>
            <a:r>
              <a:rPr lang="en-US" dirty="0"/>
              <a:t>.</a:t>
            </a:r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2974627A-AD04-1B4D-B6EC-71726EF82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00" y="1349451"/>
            <a:ext cx="8942987" cy="2372630"/>
          </a:xfrm>
          <a:prstGeom prst="rect">
            <a:avLst/>
          </a:prstGeom>
        </p:spPr>
      </p:pic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FE3A17F4-F1FD-0849-9D79-BEC29DDB1F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10" y="4362127"/>
            <a:ext cx="2921000" cy="2324100"/>
          </a:xfrm>
          <a:prstGeom prst="rect">
            <a:avLst/>
          </a:prstGeom>
        </p:spPr>
      </p:pic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7DE40D02-4721-FC44-88CB-89AEE8E3E3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159" y="4362127"/>
            <a:ext cx="2908300" cy="2324100"/>
          </a:xfrm>
          <a:prstGeom prst="rect">
            <a:avLst/>
          </a:prstGeom>
        </p:spPr>
      </p:pic>
      <p:pic>
        <p:nvPicPr>
          <p:cNvPr id="17" name="Picture 16" descr="A screenshot of a cell phone&#10;&#10;Description automatically generated">
            <a:extLst>
              <a:ext uri="{FF2B5EF4-FFF2-40B4-BE49-F238E27FC236}">
                <a16:creationId xmlns:a16="http://schemas.microsoft.com/office/drawing/2014/main" id="{20AE35AA-E56F-2846-80B4-1FBBAE1F40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872" y="4362127"/>
            <a:ext cx="2908300" cy="229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59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allAtOnce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AutoShape 6" descr="Image result for time series plot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A8FC5-6080-8445-9ADE-F5267DA28FF0}"/>
              </a:ext>
            </a:extLst>
          </p:cNvPr>
          <p:cNvSpPr txBox="1"/>
          <p:nvPr/>
        </p:nvSpPr>
        <p:spPr>
          <a:xfrm>
            <a:off x="935993" y="171773"/>
            <a:ext cx="104316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500" dirty="0">
                <a:solidFill>
                  <a:srgbClr val="0070C0"/>
                </a:solidFill>
              </a:rPr>
              <a:t>Topic: </a:t>
            </a:r>
            <a:r>
              <a:rPr lang="en-AU" sz="2500" i="1" dirty="0">
                <a:solidFill>
                  <a:srgbClr val="0070C0"/>
                </a:solidFill>
              </a:rPr>
              <a:t>Moving Averages</a:t>
            </a:r>
            <a:endParaRPr lang="en-AU" sz="2500" dirty="0">
              <a:solidFill>
                <a:srgbClr val="0070C0"/>
              </a:solidFill>
            </a:endParaRPr>
          </a:p>
          <a:p>
            <a:r>
              <a:rPr lang="en-AU" sz="2500" dirty="0">
                <a:solidFill>
                  <a:srgbClr val="0070C0"/>
                </a:solidFill>
              </a:rPr>
              <a:t>EQ: </a:t>
            </a:r>
            <a:r>
              <a:rPr lang="en-AU" sz="2500" i="1" dirty="0">
                <a:solidFill>
                  <a:srgbClr val="0070C0"/>
                </a:solidFill>
              </a:rPr>
              <a:t>What is a moving average and why do we use them?</a:t>
            </a:r>
            <a:endParaRPr lang="en-AU" sz="2500" dirty="0">
              <a:solidFill>
                <a:srgbClr val="0070C0"/>
              </a:solidFill>
            </a:endParaRP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E87DCCC1-7730-1946-9BE9-2221A217B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" y="1386982"/>
            <a:ext cx="5346700" cy="1282700"/>
          </a:xfrm>
          <a:prstGeom prst="rect">
            <a:avLst/>
          </a:prstGeom>
        </p:spPr>
      </p:pic>
      <p:pic>
        <p:nvPicPr>
          <p:cNvPr id="8" name="Picture 7" descr="A close up of a device&#10;&#10;Description automatically generated">
            <a:extLst>
              <a:ext uri="{FF2B5EF4-FFF2-40B4-BE49-F238E27FC236}">
                <a16:creationId xmlns:a16="http://schemas.microsoft.com/office/drawing/2014/main" id="{31C70408-13DF-B146-AE6A-6C4EEE872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9870" y="1386982"/>
            <a:ext cx="4126230" cy="4097274"/>
          </a:xfrm>
          <a:prstGeom prst="rect">
            <a:avLst/>
          </a:prstGeom>
        </p:spPr>
      </p:pic>
      <p:pic>
        <p:nvPicPr>
          <p:cNvPr id="14" name="Picture 13" descr="A screenshot of a cell phone&#10;&#10;Description automatically generated">
            <a:extLst>
              <a:ext uri="{FF2B5EF4-FFF2-40B4-BE49-F238E27FC236}">
                <a16:creationId xmlns:a16="http://schemas.microsoft.com/office/drawing/2014/main" id="{F5F7CAAF-85F0-4647-864F-01CF04B9E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38" y="3024163"/>
            <a:ext cx="5118100" cy="3454400"/>
          </a:xfrm>
          <a:prstGeom prst="rect">
            <a:avLst/>
          </a:prstGeom>
        </p:spPr>
      </p:pic>
      <p:pic>
        <p:nvPicPr>
          <p:cNvPr id="16" name="Picture 15" descr="A screenshot of a cell phone&#10;&#10;Description automatically generated">
            <a:extLst>
              <a:ext uri="{FF2B5EF4-FFF2-40B4-BE49-F238E27FC236}">
                <a16:creationId xmlns:a16="http://schemas.microsoft.com/office/drawing/2014/main" id="{0067678B-0FE1-1243-A714-5CB7F45A67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464" y="2669682"/>
            <a:ext cx="26670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0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AutoShape 6" descr="Image result for time series plot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A8FC5-6080-8445-9ADE-F5267DA28FF0}"/>
              </a:ext>
            </a:extLst>
          </p:cNvPr>
          <p:cNvSpPr txBox="1"/>
          <p:nvPr/>
        </p:nvSpPr>
        <p:spPr>
          <a:xfrm>
            <a:off x="935993" y="171773"/>
            <a:ext cx="104316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500" dirty="0">
                <a:solidFill>
                  <a:srgbClr val="0070C0"/>
                </a:solidFill>
              </a:rPr>
              <a:t>Topic: </a:t>
            </a:r>
            <a:r>
              <a:rPr lang="en-AU" sz="2500" i="1" dirty="0">
                <a:solidFill>
                  <a:srgbClr val="0070C0"/>
                </a:solidFill>
              </a:rPr>
              <a:t>Moving Averages</a:t>
            </a:r>
            <a:endParaRPr lang="en-AU" sz="2500" dirty="0">
              <a:solidFill>
                <a:srgbClr val="0070C0"/>
              </a:solidFill>
            </a:endParaRPr>
          </a:p>
          <a:p>
            <a:r>
              <a:rPr lang="en-AU" sz="2500" dirty="0">
                <a:solidFill>
                  <a:srgbClr val="0070C0"/>
                </a:solidFill>
              </a:rPr>
              <a:t>EQ: </a:t>
            </a:r>
            <a:r>
              <a:rPr lang="en-AU" sz="2500" i="1" dirty="0">
                <a:solidFill>
                  <a:srgbClr val="0070C0"/>
                </a:solidFill>
              </a:rPr>
              <a:t>What is a moving average and why do we use them?</a:t>
            </a:r>
            <a:endParaRPr lang="en-AU" sz="2500" dirty="0">
              <a:solidFill>
                <a:srgbClr val="0070C0"/>
              </a:solidFill>
            </a:endParaRPr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46237D51-68C9-344C-9E36-BCD5AF125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40" y="1349451"/>
            <a:ext cx="4330700" cy="3594100"/>
          </a:xfrm>
          <a:prstGeom prst="rect">
            <a:avLst/>
          </a:prstGeom>
        </p:spPr>
      </p:pic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FA61628E-C72F-A34A-97D0-D6A5A9E47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161" y="1349451"/>
            <a:ext cx="4279900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2243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AutoShape 6" descr="Image result for time series plot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A8FC5-6080-8445-9ADE-F5267DA28FF0}"/>
              </a:ext>
            </a:extLst>
          </p:cNvPr>
          <p:cNvSpPr txBox="1"/>
          <p:nvPr/>
        </p:nvSpPr>
        <p:spPr>
          <a:xfrm>
            <a:off x="935993" y="171773"/>
            <a:ext cx="104316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500" dirty="0">
                <a:solidFill>
                  <a:srgbClr val="0070C0"/>
                </a:solidFill>
              </a:rPr>
              <a:t>Topic: </a:t>
            </a:r>
            <a:r>
              <a:rPr lang="en-AU" sz="2500" i="1" dirty="0">
                <a:solidFill>
                  <a:srgbClr val="0070C0"/>
                </a:solidFill>
              </a:rPr>
              <a:t>Moving Averages</a:t>
            </a:r>
            <a:endParaRPr lang="en-AU" sz="2500" dirty="0">
              <a:solidFill>
                <a:srgbClr val="0070C0"/>
              </a:solidFill>
            </a:endParaRPr>
          </a:p>
          <a:p>
            <a:r>
              <a:rPr lang="en-AU" sz="2500" dirty="0">
                <a:solidFill>
                  <a:srgbClr val="0070C0"/>
                </a:solidFill>
              </a:rPr>
              <a:t>EQ: </a:t>
            </a:r>
            <a:r>
              <a:rPr lang="en-AU" sz="2500" i="1" dirty="0">
                <a:solidFill>
                  <a:srgbClr val="0070C0"/>
                </a:solidFill>
              </a:rPr>
              <a:t>What is a moving average and why do we use them?</a:t>
            </a:r>
            <a:endParaRPr lang="en-AU" sz="2500" dirty="0">
              <a:solidFill>
                <a:srgbClr val="0070C0"/>
              </a:solidFill>
            </a:endParaRP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FA61628E-C72F-A34A-97D0-D6A5A9E47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" y="1295815"/>
            <a:ext cx="4279900" cy="4051300"/>
          </a:xfrm>
          <a:prstGeom prst="rect">
            <a:avLst/>
          </a:prstGeom>
        </p:spPr>
      </p:pic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69F8E7FC-3A30-4444-9C75-79372E00F9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57" y="0"/>
            <a:ext cx="3552345" cy="6858000"/>
          </a:xfrm>
          <a:prstGeom prst="rect">
            <a:avLst/>
          </a:prstGeom>
        </p:spPr>
      </p:pic>
      <p:pic>
        <p:nvPicPr>
          <p:cNvPr id="8" name="Picture 7" descr="A close up of a map&#10;&#10;Description automatically generated">
            <a:extLst>
              <a:ext uri="{FF2B5EF4-FFF2-40B4-BE49-F238E27FC236}">
                <a16:creationId xmlns:a16="http://schemas.microsoft.com/office/drawing/2014/main" id="{4E3AF5C4-1A7E-DA47-B6E8-DB8E8C8ACF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2" y="15875"/>
            <a:ext cx="4368800" cy="6362700"/>
          </a:xfrm>
          <a:prstGeom prst="rect">
            <a:avLst/>
          </a:prstGeom>
        </p:spPr>
      </p:pic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C1D91DA8-C054-584E-B5BC-21DB0A09B7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743" y="5600871"/>
            <a:ext cx="41656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395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181" y="40123"/>
            <a:ext cx="10323946" cy="1126837"/>
          </a:xfrm>
        </p:spPr>
        <p:txBody>
          <a:bodyPr>
            <a:noAutofit/>
          </a:bodyPr>
          <a:lstStyle/>
          <a:p>
            <a:r>
              <a:rPr lang="en-AU" sz="3200" b="1" dirty="0"/>
              <a:t>Topic: Moving Averages</a:t>
            </a:r>
            <a:br>
              <a:rPr lang="en-AU" sz="3200" b="1" dirty="0"/>
            </a:br>
            <a:r>
              <a:rPr lang="en-AU" sz="3200" b="1" dirty="0"/>
              <a:t>EQ: How do I use the classpad to calculate moving averages?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0183" y="1523999"/>
            <a:ext cx="10492508" cy="5255491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dirty="0"/>
              <a:t>On the menu open </a:t>
            </a:r>
            <a:r>
              <a:rPr lang="en-AU" i="1" u="sng" dirty="0">
                <a:solidFill>
                  <a:srgbClr val="7030A0"/>
                </a:solidFill>
              </a:rPr>
              <a:t>Statistics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In </a:t>
            </a:r>
            <a:r>
              <a:rPr lang="en-AU" b="1" dirty="0"/>
              <a:t>List 1 </a:t>
            </a:r>
            <a:r>
              <a:rPr lang="en-AU" dirty="0"/>
              <a:t>input the time (or number each data point starting at 1)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In </a:t>
            </a:r>
            <a:r>
              <a:rPr lang="en-AU" b="1" dirty="0"/>
              <a:t>List 2 </a:t>
            </a:r>
            <a:r>
              <a:rPr lang="en-AU" dirty="0"/>
              <a:t>input your data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Go back to the menu, swipe across onto the second page and open </a:t>
            </a:r>
            <a:r>
              <a:rPr lang="en-AU" i="1" u="sng" dirty="0">
                <a:solidFill>
                  <a:srgbClr val="7030A0"/>
                </a:solidFill>
              </a:rPr>
              <a:t>Program </a:t>
            </a: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In the “Name:” drop box select </a:t>
            </a:r>
            <a:r>
              <a:rPr lang="en-AU" b="1" dirty="0" err="1">
                <a:solidFill>
                  <a:srgbClr val="0070C0"/>
                </a:solidFill>
              </a:rPr>
              <a:t>TimeSII</a:t>
            </a:r>
            <a:endParaRPr lang="en-AU" b="1" dirty="0">
              <a:solidFill>
                <a:srgbClr val="0070C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On the tool bar at the top press the play button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Press okay, press 1 for moving averages and okay, enter the number of data points per season and okay, leave blank and okay 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Press the green play button in the bottom right corner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Forecast: if you want to make a prediction you would type in the time you want a prediction for and then press okay. If you do not want to make a prediction leave it blank and press okay.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Go back to the menu and reopen </a:t>
            </a:r>
            <a:r>
              <a:rPr lang="en-AU" i="1" u="sng" dirty="0">
                <a:solidFill>
                  <a:srgbClr val="7030A0"/>
                </a:solidFill>
              </a:rPr>
              <a:t>Statistics </a:t>
            </a: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In </a:t>
            </a:r>
            <a:r>
              <a:rPr lang="en-AU" b="1" dirty="0"/>
              <a:t>List 3</a:t>
            </a:r>
            <a:r>
              <a:rPr lang="en-AU" dirty="0"/>
              <a:t> you will now be able to see your calculated moving averages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1559" y="0"/>
            <a:ext cx="83127" cy="6858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91497"/>
            <a:ext cx="12192000" cy="101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Isosceles Triangle 5"/>
          <p:cNvSpPr/>
          <p:nvPr/>
        </p:nvSpPr>
        <p:spPr>
          <a:xfrm rot="5400000">
            <a:off x="8144164" y="3538393"/>
            <a:ext cx="254002" cy="267855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Isosceles Triangle 6"/>
          <p:cNvSpPr/>
          <p:nvPr/>
        </p:nvSpPr>
        <p:spPr>
          <a:xfrm rot="5400000">
            <a:off x="8924631" y="4549766"/>
            <a:ext cx="254002" cy="267855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72822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51052" y="0"/>
            <a:ext cx="62565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AutoShape 6" descr="Image result for time series plot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005B70-E172-7E44-8C9E-EABB071C438B}"/>
              </a:ext>
            </a:extLst>
          </p:cNvPr>
          <p:cNvSpPr txBox="1"/>
          <p:nvPr/>
        </p:nvSpPr>
        <p:spPr>
          <a:xfrm>
            <a:off x="1613617" y="150643"/>
            <a:ext cx="104316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500" dirty="0">
                <a:solidFill>
                  <a:srgbClr val="0070C0"/>
                </a:solidFill>
              </a:rPr>
              <a:t>Topic: </a:t>
            </a:r>
            <a:r>
              <a:rPr lang="en-AU" sz="2500" i="1" dirty="0">
                <a:solidFill>
                  <a:srgbClr val="0070C0"/>
                </a:solidFill>
              </a:rPr>
              <a:t>Moving Averages</a:t>
            </a:r>
            <a:endParaRPr lang="en-AU" sz="2500" dirty="0">
              <a:solidFill>
                <a:srgbClr val="0070C0"/>
              </a:solidFill>
            </a:endParaRPr>
          </a:p>
          <a:p>
            <a:r>
              <a:rPr lang="en-AU" sz="2500" dirty="0">
                <a:solidFill>
                  <a:srgbClr val="0070C0"/>
                </a:solidFill>
              </a:rPr>
              <a:t>EQ: </a:t>
            </a:r>
            <a:r>
              <a:rPr lang="en-AU" sz="2500" i="1" dirty="0">
                <a:solidFill>
                  <a:srgbClr val="0070C0"/>
                </a:solidFill>
              </a:rPr>
              <a:t>What is a moving average and why do we use them?</a:t>
            </a:r>
            <a:endParaRPr lang="en-AU" sz="2500" dirty="0">
              <a:solidFill>
                <a:srgbClr val="0070C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7C9A52-B82C-0B4F-975B-34B5E3BE7B00}"/>
              </a:ext>
            </a:extLst>
          </p:cNvPr>
          <p:cNvSpPr txBox="1"/>
          <p:nvPr/>
        </p:nvSpPr>
        <p:spPr>
          <a:xfrm>
            <a:off x="3164669" y="2214723"/>
            <a:ext cx="9711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Complete Exercise 2A</a:t>
            </a:r>
          </a:p>
        </p:txBody>
      </p:sp>
    </p:spTree>
    <p:extLst>
      <p:ext uri="{BB962C8B-B14F-4D97-AF65-F5344CB8AC3E}">
        <p14:creationId xmlns:p14="http://schemas.microsoft.com/office/powerpoint/2010/main" val="1430626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4908-264B-4CBF-AFC3-868255191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2BEC3-3C06-460D-9642-B3983F1AA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Topic: </a:t>
            </a:r>
            <a:r>
              <a:rPr lang="en-AU" dirty="0" err="1"/>
              <a:t>Centered</a:t>
            </a:r>
            <a:r>
              <a:rPr lang="en-AU" dirty="0"/>
              <a:t> Moving Averages</a:t>
            </a:r>
          </a:p>
          <a:p>
            <a:pPr marL="0" indent="0">
              <a:buNone/>
            </a:pPr>
            <a:r>
              <a:rPr lang="en-AU" dirty="0"/>
              <a:t>EQ: What are </a:t>
            </a:r>
            <a:r>
              <a:rPr lang="en-AU" dirty="0" err="1"/>
              <a:t>centered</a:t>
            </a:r>
            <a:r>
              <a:rPr lang="en-AU" dirty="0"/>
              <a:t> moving averages and when do I need to calculate them?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Syllabus points:</a:t>
            </a:r>
          </a:p>
          <a:p>
            <a:pPr marL="0" indent="0">
              <a:buNone/>
            </a:pPr>
            <a:r>
              <a:rPr lang="en-AU" dirty="0"/>
              <a:t>4.1.3	     smooth time series data by using a simple moving average, including the use of spreadsheets to implement this process </a:t>
            </a:r>
            <a:endParaRPr lang="en-AU" sz="2400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5B1E5305-B05D-4AD1-9F50-7F4E83E936AB}"/>
              </a:ext>
            </a:extLst>
          </p:cNvPr>
          <p:cNvSpPr/>
          <p:nvPr/>
        </p:nvSpPr>
        <p:spPr>
          <a:xfrm>
            <a:off x="8957569" y="266330"/>
            <a:ext cx="1473693" cy="621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Back to Contents</a:t>
            </a:r>
          </a:p>
        </p:txBody>
      </p:sp>
    </p:spTree>
    <p:extLst>
      <p:ext uri="{BB962C8B-B14F-4D97-AF65-F5344CB8AC3E}">
        <p14:creationId xmlns:p14="http://schemas.microsoft.com/office/powerpoint/2010/main" val="206369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51052" y="0"/>
            <a:ext cx="62565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AutoShape 6" descr="Image result for time series plot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/>
          <p:cNvSpPr txBox="1"/>
          <p:nvPr/>
        </p:nvSpPr>
        <p:spPr>
          <a:xfrm>
            <a:off x="1613617" y="150643"/>
            <a:ext cx="104316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500" dirty="0">
                <a:solidFill>
                  <a:srgbClr val="0070C0"/>
                </a:solidFill>
              </a:rPr>
              <a:t>Topic: </a:t>
            </a:r>
            <a:r>
              <a:rPr lang="en-AU" sz="2500" i="1" dirty="0">
                <a:solidFill>
                  <a:srgbClr val="0070C0"/>
                </a:solidFill>
              </a:rPr>
              <a:t>Centred Moving Averages</a:t>
            </a:r>
            <a:endParaRPr lang="en-AU" sz="2500" dirty="0">
              <a:solidFill>
                <a:srgbClr val="0070C0"/>
              </a:solidFill>
            </a:endParaRPr>
          </a:p>
          <a:p>
            <a:r>
              <a:rPr lang="en-AU" sz="2500" dirty="0">
                <a:solidFill>
                  <a:srgbClr val="0070C0"/>
                </a:solidFill>
              </a:rPr>
              <a:t>EQ: </a:t>
            </a:r>
            <a:r>
              <a:rPr lang="en-AU" sz="2500" i="1" dirty="0">
                <a:solidFill>
                  <a:srgbClr val="0070C0"/>
                </a:solidFill>
              </a:rPr>
              <a:t>What are centred moving averages and when do I need to calculate them?</a:t>
            </a:r>
            <a:endParaRPr lang="en-AU" sz="2500" dirty="0">
              <a:solidFill>
                <a:srgbClr val="0070C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47272" y="1348794"/>
          <a:ext cx="4248728" cy="538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182">
                  <a:extLst>
                    <a:ext uri="{9D8B030D-6E8A-4147-A177-3AD203B41FA5}">
                      <a16:colId xmlns:a16="http://schemas.microsoft.com/office/drawing/2014/main" val="4095614668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2833990432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816689115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3048840056"/>
                    </a:ext>
                  </a:extLst>
                </a:gridCol>
              </a:tblGrid>
              <a:tr h="633195">
                <a:tc>
                  <a:txBody>
                    <a:bodyPr/>
                    <a:lstStyle/>
                    <a:p>
                      <a:r>
                        <a:rPr lang="en-AU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Period of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Number of Pigs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 pt. 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207461"/>
                  </a:ext>
                </a:extLst>
              </a:tr>
              <a:tr h="633195">
                <a:tc rowSpan="8"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83517"/>
                  </a:ext>
                </a:extLst>
              </a:tr>
              <a:tr h="39137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741063"/>
                  </a:ext>
                </a:extLst>
              </a:tr>
              <a:tr h="633195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843329"/>
                  </a:ext>
                </a:extLst>
              </a:tr>
              <a:tr h="39137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26.5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068814"/>
                  </a:ext>
                </a:extLst>
              </a:tr>
              <a:tr h="633195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8785336"/>
                  </a:ext>
                </a:extLst>
              </a:tr>
              <a:tr h="39137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26.25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947804"/>
                  </a:ext>
                </a:extLst>
              </a:tr>
              <a:tr h="633195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  <a:r>
                        <a:rPr lang="en-AU" baseline="30000" dirty="0"/>
                        <a:t>th</a:t>
                      </a:r>
                      <a:r>
                        <a:rPr lang="en-AU" dirty="0"/>
                        <a:t>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4388706"/>
                  </a:ext>
                </a:extLst>
              </a:tr>
              <a:tr h="361826">
                <a:tc vMerge="1"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24.5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303330"/>
                  </a:ext>
                </a:extLst>
              </a:tr>
              <a:tr h="63319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</a:t>
                      </a:r>
                    </a:p>
                    <a:p>
                      <a:pPr algn="ctr"/>
                      <a:r>
                        <a:rPr lang="en-AU" dirty="0"/>
                        <a:t>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0897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46982" y="1440873"/>
            <a:ext cx="524625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When moving averages are calculated using an even number of data points the new data points don’t </a:t>
            </a:r>
            <a:r>
              <a:rPr lang="en-AU" sz="2800" dirty="0"/>
              <a:t>sit directly onto the given table </a:t>
            </a:r>
            <a:r>
              <a:rPr lang="en-AU" sz="2800" dirty="0">
                <a:sym typeface="Wingdings" panose="05000000000000000000" pitchFamily="2" charset="2"/>
              </a:rPr>
              <a:t> as seen on the table</a:t>
            </a:r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To make graphing and analysing the data easier we need to re-align the data such that it sits in the table. We achieve this through centred moving averages.</a:t>
            </a:r>
          </a:p>
        </p:txBody>
      </p:sp>
    </p:spTree>
    <p:extLst>
      <p:ext uri="{BB962C8B-B14F-4D97-AF65-F5344CB8AC3E}">
        <p14:creationId xmlns:p14="http://schemas.microsoft.com/office/powerpoint/2010/main" val="1280179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51052" y="0"/>
            <a:ext cx="62565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AutoShape 6" descr="Image result for time series plot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487" y="1592673"/>
            <a:ext cx="4550860" cy="489259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56217" y="1342786"/>
          <a:ext cx="4248728" cy="538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182">
                  <a:extLst>
                    <a:ext uri="{9D8B030D-6E8A-4147-A177-3AD203B41FA5}">
                      <a16:colId xmlns:a16="http://schemas.microsoft.com/office/drawing/2014/main" val="4095614668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2833990432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816689115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3048840056"/>
                    </a:ext>
                  </a:extLst>
                </a:gridCol>
              </a:tblGrid>
              <a:tr h="633195">
                <a:tc>
                  <a:txBody>
                    <a:bodyPr/>
                    <a:lstStyle/>
                    <a:p>
                      <a:r>
                        <a:rPr lang="en-AU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Period of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Number of Pigs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 pt. 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207461"/>
                  </a:ext>
                </a:extLst>
              </a:tr>
              <a:tr h="633195">
                <a:tc rowSpan="8"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83517"/>
                  </a:ext>
                </a:extLst>
              </a:tr>
              <a:tr h="39137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741063"/>
                  </a:ext>
                </a:extLst>
              </a:tr>
              <a:tr h="633195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843329"/>
                  </a:ext>
                </a:extLst>
              </a:tr>
              <a:tr h="39137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26.5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068814"/>
                  </a:ext>
                </a:extLst>
              </a:tr>
              <a:tr h="633195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8785336"/>
                  </a:ext>
                </a:extLst>
              </a:tr>
              <a:tr h="39137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26.25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947804"/>
                  </a:ext>
                </a:extLst>
              </a:tr>
              <a:tr h="633195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  <a:r>
                        <a:rPr lang="en-AU" baseline="30000" dirty="0"/>
                        <a:t>th</a:t>
                      </a:r>
                      <a:r>
                        <a:rPr lang="en-AU" dirty="0"/>
                        <a:t>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4388706"/>
                  </a:ext>
                </a:extLst>
              </a:tr>
              <a:tr h="361826">
                <a:tc vMerge="1"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24.5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303330"/>
                  </a:ext>
                </a:extLst>
              </a:tr>
              <a:tr h="63319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</a:t>
                      </a:r>
                    </a:p>
                    <a:p>
                      <a:pPr algn="ctr"/>
                      <a:r>
                        <a:rPr lang="en-AU" dirty="0"/>
                        <a:t>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0897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613617" y="150643"/>
            <a:ext cx="104316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500" dirty="0">
                <a:solidFill>
                  <a:srgbClr val="0070C0"/>
                </a:solidFill>
              </a:rPr>
              <a:t>Topic: </a:t>
            </a:r>
            <a:r>
              <a:rPr lang="en-AU" sz="2500" i="1" dirty="0">
                <a:solidFill>
                  <a:srgbClr val="0070C0"/>
                </a:solidFill>
              </a:rPr>
              <a:t>Centred Moving Averages</a:t>
            </a:r>
            <a:endParaRPr lang="en-AU" sz="2500" dirty="0">
              <a:solidFill>
                <a:srgbClr val="0070C0"/>
              </a:solidFill>
            </a:endParaRPr>
          </a:p>
          <a:p>
            <a:r>
              <a:rPr lang="en-AU" sz="2500" dirty="0">
                <a:solidFill>
                  <a:srgbClr val="0070C0"/>
                </a:solidFill>
              </a:rPr>
              <a:t>EQ: </a:t>
            </a:r>
            <a:r>
              <a:rPr lang="en-AU" sz="2500" i="1" dirty="0">
                <a:solidFill>
                  <a:srgbClr val="0070C0"/>
                </a:solidFill>
              </a:rPr>
              <a:t>What are centred moving averages and when do I need to calculate them?</a:t>
            </a:r>
            <a:endParaRPr lang="en-AU" sz="25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480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51052" y="0"/>
            <a:ext cx="62565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AutoShape 6" descr="Image result for time series plot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487" y="1592673"/>
            <a:ext cx="4550860" cy="489259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56217" y="1342786"/>
          <a:ext cx="5310910" cy="538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182">
                  <a:extLst>
                    <a:ext uri="{9D8B030D-6E8A-4147-A177-3AD203B41FA5}">
                      <a16:colId xmlns:a16="http://schemas.microsoft.com/office/drawing/2014/main" val="4095614668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2833990432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816689115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3048840056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1370025292"/>
                    </a:ext>
                  </a:extLst>
                </a:gridCol>
              </a:tblGrid>
              <a:tr h="633195">
                <a:tc>
                  <a:txBody>
                    <a:bodyPr/>
                    <a:lstStyle/>
                    <a:p>
                      <a:r>
                        <a:rPr lang="en-AU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Period of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Number of Pigs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 pt. 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Centred 4 pt. 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207461"/>
                  </a:ext>
                </a:extLst>
              </a:tr>
              <a:tr h="633195">
                <a:tc rowSpan="8"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83517"/>
                  </a:ext>
                </a:extLst>
              </a:tr>
              <a:tr h="39137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741063"/>
                  </a:ext>
                </a:extLst>
              </a:tr>
              <a:tr h="633195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843329"/>
                  </a:ext>
                </a:extLst>
              </a:tr>
              <a:tr h="39137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26.5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068814"/>
                  </a:ext>
                </a:extLst>
              </a:tr>
              <a:tr h="633195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785336"/>
                  </a:ext>
                </a:extLst>
              </a:tr>
              <a:tr h="39137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26.25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947804"/>
                  </a:ext>
                </a:extLst>
              </a:tr>
              <a:tr h="633195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  <a:r>
                        <a:rPr lang="en-AU" baseline="30000" dirty="0"/>
                        <a:t>th</a:t>
                      </a:r>
                      <a:r>
                        <a:rPr lang="en-AU" dirty="0"/>
                        <a:t>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4388706"/>
                  </a:ext>
                </a:extLst>
              </a:tr>
              <a:tr h="361826">
                <a:tc vMerge="1"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24.5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303330"/>
                  </a:ext>
                </a:extLst>
              </a:tr>
              <a:tr h="63319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</a:t>
                      </a:r>
                    </a:p>
                    <a:p>
                      <a:pPr algn="ctr"/>
                      <a:r>
                        <a:rPr lang="en-AU" dirty="0"/>
                        <a:t>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0897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613617" y="150643"/>
            <a:ext cx="104316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500" dirty="0">
                <a:solidFill>
                  <a:srgbClr val="0070C0"/>
                </a:solidFill>
              </a:rPr>
              <a:t>Topic: </a:t>
            </a:r>
            <a:r>
              <a:rPr lang="en-AU" sz="2500" i="1" dirty="0">
                <a:solidFill>
                  <a:srgbClr val="0070C0"/>
                </a:solidFill>
              </a:rPr>
              <a:t>Centred Moving Averages</a:t>
            </a:r>
            <a:endParaRPr lang="en-AU" sz="2500" dirty="0">
              <a:solidFill>
                <a:srgbClr val="0070C0"/>
              </a:solidFill>
            </a:endParaRPr>
          </a:p>
          <a:p>
            <a:r>
              <a:rPr lang="en-AU" sz="2500" dirty="0">
                <a:solidFill>
                  <a:srgbClr val="0070C0"/>
                </a:solidFill>
              </a:rPr>
              <a:t>EQ: </a:t>
            </a:r>
            <a:r>
              <a:rPr lang="en-AU" sz="2500" i="1" dirty="0">
                <a:solidFill>
                  <a:srgbClr val="0070C0"/>
                </a:solidFill>
              </a:rPr>
              <a:t>What are centred moving averages and when do I need to calculate them?</a:t>
            </a:r>
            <a:endParaRPr lang="en-AU" sz="25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094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51052" y="0"/>
            <a:ext cx="62565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AutoShape 6" descr="Image result for time series plot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487" y="1592673"/>
            <a:ext cx="4550860" cy="489259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56217" y="1342786"/>
          <a:ext cx="5310910" cy="538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182">
                  <a:extLst>
                    <a:ext uri="{9D8B030D-6E8A-4147-A177-3AD203B41FA5}">
                      <a16:colId xmlns:a16="http://schemas.microsoft.com/office/drawing/2014/main" val="4095614668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2833990432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816689115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3048840056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1370025292"/>
                    </a:ext>
                  </a:extLst>
                </a:gridCol>
              </a:tblGrid>
              <a:tr h="633195">
                <a:tc>
                  <a:txBody>
                    <a:bodyPr/>
                    <a:lstStyle/>
                    <a:p>
                      <a:r>
                        <a:rPr lang="en-AU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Period of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Number of Pigs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 pt. 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Centred 4 pt. 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207461"/>
                  </a:ext>
                </a:extLst>
              </a:tr>
              <a:tr h="633195">
                <a:tc rowSpan="8"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83517"/>
                  </a:ext>
                </a:extLst>
              </a:tr>
              <a:tr h="39137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741063"/>
                  </a:ext>
                </a:extLst>
              </a:tr>
              <a:tr h="633195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843329"/>
                  </a:ext>
                </a:extLst>
              </a:tr>
              <a:tr h="39137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26.5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068814"/>
                  </a:ext>
                </a:extLst>
              </a:tr>
              <a:tr h="633195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26.375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785336"/>
                  </a:ext>
                </a:extLst>
              </a:tr>
              <a:tr h="39137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26.25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947804"/>
                  </a:ext>
                </a:extLst>
              </a:tr>
              <a:tr h="633195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  <a:r>
                        <a:rPr lang="en-AU" baseline="30000" dirty="0"/>
                        <a:t>th</a:t>
                      </a:r>
                      <a:r>
                        <a:rPr lang="en-AU" dirty="0"/>
                        <a:t>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4388706"/>
                  </a:ext>
                </a:extLst>
              </a:tr>
              <a:tr h="361826">
                <a:tc vMerge="1"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24.5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303330"/>
                  </a:ext>
                </a:extLst>
              </a:tr>
              <a:tr h="63319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</a:t>
                      </a:r>
                    </a:p>
                    <a:p>
                      <a:pPr algn="ctr"/>
                      <a:r>
                        <a:rPr lang="en-AU" dirty="0"/>
                        <a:t>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0897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613617" y="150643"/>
            <a:ext cx="104316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500" dirty="0">
                <a:solidFill>
                  <a:srgbClr val="0070C0"/>
                </a:solidFill>
              </a:rPr>
              <a:t>Topic: </a:t>
            </a:r>
            <a:r>
              <a:rPr lang="en-AU" sz="2500" i="1" dirty="0">
                <a:solidFill>
                  <a:srgbClr val="0070C0"/>
                </a:solidFill>
              </a:rPr>
              <a:t>Centred Moving Averages</a:t>
            </a:r>
            <a:endParaRPr lang="en-AU" sz="2500" dirty="0">
              <a:solidFill>
                <a:srgbClr val="0070C0"/>
              </a:solidFill>
            </a:endParaRPr>
          </a:p>
          <a:p>
            <a:r>
              <a:rPr lang="en-AU" sz="2500" dirty="0">
                <a:solidFill>
                  <a:srgbClr val="0070C0"/>
                </a:solidFill>
              </a:rPr>
              <a:t>EQ: </a:t>
            </a:r>
            <a:r>
              <a:rPr lang="en-AU" sz="2500" i="1" dirty="0">
                <a:solidFill>
                  <a:srgbClr val="0070C0"/>
                </a:solidFill>
              </a:rPr>
              <a:t>What are centred moving averages and when do I need to calculate them?</a:t>
            </a:r>
            <a:endParaRPr lang="en-AU" sz="25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170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51052" y="0"/>
            <a:ext cx="62565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63060"/>
            <a:ext cx="12192000" cy="568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AutoShape 6" descr="Image result for time series plot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487" y="1592673"/>
            <a:ext cx="4550860" cy="489259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56217" y="1342786"/>
          <a:ext cx="5310910" cy="538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182">
                  <a:extLst>
                    <a:ext uri="{9D8B030D-6E8A-4147-A177-3AD203B41FA5}">
                      <a16:colId xmlns:a16="http://schemas.microsoft.com/office/drawing/2014/main" val="4095614668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2833990432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816689115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3048840056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1370025292"/>
                    </a:ext>
                  </a:extLst>
                </a:gridCol>
              </a:tblGrid>
              <a:tr h="633195">
                <a:tc>
                  <a:txBody>
                    <a:bodyPr/>
                    <a:lstStyle/>
                    <a:p>
                      <a:r>
                        <a:rPr lang="en-AU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Period of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Number of Pigs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 pt. 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Centred 4 pt. 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207461"/>
                  </a:ext>
                </a:extLst>
              </a:tr>
              <a:tr h="633195">
                <a:tc rowSpan="8"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83517"/>
                  </a:ext>
                </a:extLst>
              </a:tr>
              <a:tr h="39137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741063"/>
                  </a:ext>
                </a:extLst>
              </a:tr>
              <a:tr h="633195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843329"/>
                  </a:ext>
                </a:extLst>
              </a:tr>
              <a:tr h="39137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26.5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068814"/>
                  </a:ext>
                </a:extLst>
              </a:tr>
              <a:tr h="633195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26.375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8785336"/>
                  </a:ext>
                </a:extLst>
              </a:tr>
              <a:tr h="39137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26.25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947804"/>
                  </a:ext>
                </a:extLst>
              </a:tr>
              <a:tr h="633195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  <a:r>
                        <a:rPr lang="en-AU" baseline="30000" dirty="0"/>
                        <a:t>th</a:t>
                      </a:r>
                      <a:r>
                        <a:rPr lang="en-AU" dirty="0"/>
                        <a:t>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25.375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388706"/>
                  </a:ext>
                </a:extLst>
              </a:tr>
              <a:tr h="361826">
                <a:tc vMerge="1"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24.5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303330"/>
                  </a:ext>
                </a:extLst>
              </a:tr>
              <a:tr h="63319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</a:t>
                      </a:r>
                    </a:p>
                    <a:p>
                      <a:pPr algn="ctr"/>
                      <a:r>
                        <a:rPr lang="en-AU" dirty="0"/>
                        <a:t>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0897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613617" y="150643"/>
            <a:ext cx="104316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500" dirty="0">
                <a:solidFill>
                  <a:srgbClr val="0070C0"/>
                </a:solidFill>
              </a:rPr>
              <a:t>Topic: </a:t>
            </a:r>
            <a:r>
              <a:rPr lang="en-AU" sz="2500" i="1" dirty="0">
                <a:solidFill>
                  <a:srgbClr val="0070C0"/>
                </a:solidFill>
              </a:rPr>
              <a:t>Centred Moving Averages</a:t>
            </a:r>
            <a:endParaRPr lang="en-AU" sz="2500" dirty="0">
              <a:solidFill>
                <a:srgbClr val="0070C0"/>
              </a:solidFill>
            </a:endParaRPr>
          </a:p>
          <a:p>
            <a:r>
              <a:rPr lang="en-AU" sz="2500" dirty="0">
                <a:solidFill>
                  <a:srgbClr val="0070C0"/>
                </a:solidFill>
              </a:rPr>
              <a:t>EQ: </a:t>
            </a:r>
            <a:r>
              <a:rPr lang="en-AU" sz="2500" i="1" dirty="0">
                <a:solidFill>
                  <a:srgbClr val="0070C0"/>
                </a:solidFill>
              </a:rPr>
              <a:t>What are centred moving averages and when do I need to calculate them?</a:t>
            </a:r>
            <a:endParaRPr lang="en-AU" sz="25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98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8F4FF0-68BE-4707-8C2D-317FF5AFAB4C}"/>
              </a:ext>
            </a:extLst>
          </p:cNvPr>
          <p:cNvSpPr txBox="1"/>
          <p:nvPr/>
        </p:nvSpPr>
        <p:spPr>
          <a:xfrm>
            <a:off x="3467156" y="2721114"/>
            <a:ext cx="46437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Complete Exercise 2B</a:t>
            </a:r>
          </a:p>
        </p:txBody>
      </p:sp>
    </p:spTree>
    <p:extLst>
      <p:ext uri="{BB962C8B-B14F-4D97-AF65-F5344CB8AC3E}">
        <p14:creationId xmlns:p14="http://schemas.microsoft.com/office/powerpoint/2010/main" val="31184422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4908-264B-4CBF-AFC3-868255191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5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2BEC3-3C06-460D-9642-B3983F1AA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8361"/>
            <a:ext cx="10515600" cy="6336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Topic: Quantifying the seasonal effect</a:t>
            </a:r>
          </a:p>
          <a:p>
            <a:pPr marL="0" indent="0">
              <a:buNone/>
            </a:pPr>
            <a:r>
              <a:rPr lang="en-AU" dirty="0"/>
              <a:t>EQ: How do I calculate seasonal indices?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Syllabus points:</a:t>
            </a:r>
          </a:p>
          <a:p>
            <a:pPr marL="0" indent="0">
              <a:buNone/>
            </a:pPr>
            <a:r>
              <a:rPr lang="en-AU" dirty="0"/>
              <a:t>4.1.4</a:t>
            </a:r>
            <a:r>
              <a:rPr lang="en-AU" sz="2000" dirty="0"/>
              <a:t>	</a:t>
            </a:r>
            <a:r>
              <a:rPr lang="en-AU" dirty="0"/>
              <a:t>calculate seasonal indices by using the average percentage method concise manner</a:t>
            </a:r>
          </a:p>
          <a:p>
            <a:pPr marL="0" indent="0">
              <a:buNone/>
            </a:pPr>
            <a:endParaRPr lang="en-AU" sz="2000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2E49DFCF-BE37-40B6-B60F-A375387C1390}"/>
              </a:ext>
            </a:extLst>
          </p:cNvPr>
          <p:cNvSpPr/>
          <p:nvPr/>
        </p:nvSpPr>
        <p:spPr>
          <a:xfrm>
            <a:off x="8957569" y="257452"/>
            <a:ext cx="1473693" cy="621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Back to Contents</a:t>
            </a:r>
          </a:p>
        </p:txBody>
      </p:sp>
    </p:spTree>
    <p:extLst>
      <p:ext uri="{BB962C8B-B14F-4D97-AF65-F5344CB8AC3E}">
        <p14:creationId xmlns:p14="http://schemas.microsoft.com/office/powerpoint/2010/main" val="34289224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181" y="40123"/>
            <a:ext cx="10323946" cy="1126837"/>
          </a:xfrm>
        </p:spPr>
        <p:txBody>
          <a:bodyPr>
            <a:noAutofit/>
          </a:bodyPr>
          <a:lstStyle/>
          <a:p>
            <a:r>
              <a:rPr lang="en-AU" sz="3200" b="1" dirty="0"/>
              <a:t>Topic: Quantifying the Seasonal Effect</a:t>
            </a:r>
            <a:br>
              <a:rPr lang="en-AU" sz="3200" b="1" dirty="0"/>
            </a:br>
            <a:r>
              <a:rPr lang="en-AU" sz="3200" b="1" dirty="0"/>
              <a:t>EQ: How do I calculate seasonal indices?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1559" y="0"/>
            <a:ext cx="83127" cy="6858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91497"/>
            <a:ext cx="12192000" cy="101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759526" y="1773742"/>
            <a:ext cx="9691255" cy="4351338"/>
          </a:xfrm>
        </p:spPr>
        <p:txBody>
          <a:bodyPr/>
          <a:lstStyle/>
          <a:p>
            <a:r>
              <a:rPr lang="en-AU" dirty="0"/>
              <a:t>Seasonal index can also be referred to as the </a:t>
            </a:r>
            <a:r>
              <a:rPr lang="en-AU" b="1" dirty="0"/>
              <a:t>seasonal effect </a:t>
            </a:r>
            <a:r>
              <a:rPr lang="en-AU" dirty="0"/>
              <a:t>or the </a:t>
            </a:r>
            <a:r>
              <a:rPr lang="en-AU" b="1" dirty="0"/>
              <a:t>seasonal component</a:t>
            </a:r>
            <a:r>
              <a:rPr lang="en-AU" dirty="0"/>
              <a:t>.</a:t>
            </a:r>
          </a:p>
          <a:p>
            <a:endParaRPr lang="en-AU" dirty="0"/>
          </a:p>
          <a:p>
            <a:r>
              <a:rPr lang="en-AU" dirty="0"/>
              <a:t>The seasonal index is calculated so that we can clearly see what </a:t>
            </a:r>
            <a:r>
              <a:rPr lang="en-AU" i="1" dirty="0"/>
              <a:t>effect </a:t>
            </a:r>
            <a:r>
              <a:rPr lang="en-AU" dirty="0"/>
              <a:t>the </a:t>
            </a:r>
            <a:r>
              <a:rPr lang="en-AU" i="1" dirty="0"/>
              <a:t>season </a:t>
            </a:r>
            <a:r>
              <a:rPr lang="en-AU" dirty="0"/>
              <a:t>has on the data</a:t>
            </a:r>
          </a:p>
        </p:txBody>
      </p:sp>
    </p:spTree>
    <p:extLst>
      <p:ext uri="{BB962C8B-B14F-4D97-AF65-F5344CB8AC3E}">
        <p14:creationId xmlns:p14="http://schemas.microsoft.com/office/powerpoint/2010/main" val="2150889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181" y="40123"/>
            <a:ext cx="10323946" cy="1126837"/>
          </a:xfrm>
        </p:spPr>
        <p:txBody>
          <a:bodyPr>
            <a:noAutofit/>
          </a:bodyPr>
          <a:lstStyle/>
          <a:p>
            <a:r>
              <a:rPr lang="en-AU" sz="3200" b="1" dirty="0"/>
              <a:t>Topic: Quantifying the Seasonal Effect</a:t>
            </a:r>
            <a:br>
              <a:rPr lang="en-AU" sz="3200" b="1" dirty="0"/>
            </a:br>
            <a:r>
              <a:rPr lang="en-AU" sz="3200" b="1" dirty="0"/>
              <a:t>EQ: How do I calculate seasonal indices?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1559" y="0"/>
            <a:ext cx="83127" cy="6858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91497"/>
            <a:ext cx="12192000" cy="101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112815" y="1539616"/>
            <a:ext cx="7557658" cy="1637682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Step 1:</a:t>
            </a:r>
          </a:p>
          <a:p>
            <a:pPr marL="0" indent="0">
              <a:buNone/>
            </a:pPr>
            <a:r>
              <a:rPr lang="en-AU" dirty="0"/>
              <a:t>Find the average for each season.</a:t>
            </a:r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60602" y="2650849"/>
          <a:ext cx="609600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62690901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203135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750369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Time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Visitors</a:t>
                      </a:r>
                      <a:r>
                        <a:rPr lang="en-AU" baseline="0" dirty="0"/>
                        <a:t> (thousands)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72799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88277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11708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293530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98392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58845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64420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5773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8862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069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774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181" y="40123"/>
            <a:ext cx="10323946" cy="1126837"/>
          </a:xfrm>
        </p:spPr>
        <p:txBody>
          <a:bodyPr>
            <a:noAutofit/>
          </a:bodyPr>
          <a:lstStyle/>
          <a:p>
            <a:r>
              <a:rPr lang="en-AU" sz="3200" b="1" dirty="0"/>
              <a:t>Topic: Quantifying the Seasonal Effect</a:t>
            </a:r>
            <a:br>
              <a:rPr lang="en-AU" sz="3200" b="1" dirty="0"/>
            </a:br>
            <a:r>
              <a:rPr lang="en-AU" sz="3200" b="1" dirty="0"/>
              <a:t>EQ: How do I calculate seasonal indices?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1559" y="0"/>
            <a:ext cx="83127" cy="6858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91497"/>
            <a:ext cx="12192000" cy="101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112815" y="1539616"/>
            <a:ext cx="7557658" cy="1637682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Step 1:</a:t>
            </a:r>
          </a:p>
          <a:p>
            <a:pPr marL="0" indent="0">
              <a:buNone/>
            </a:pPr>
            <a:r>
              <a:rPr lang="en-AU" dirty="0"/>
              <a:t>Find the average for each season.</a:t>
            </a:r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60602" y="2650849"/>
          <a:ext cx="812800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62690901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203135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7503693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80906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Time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Visitors</a:t>
                      </a:r>
                      <a:r>
                        <a:rPr lang="en-AU" baseline="0" dirty="0"/>
                        <a:t> (thousands)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Mean</a:t>
                      </a:r>
                      <a:r>
                        <a:rPr lang="en-AU" baseline="0" dirty="0"/>
                        <a:t> for the year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72799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45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88277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11708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93530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52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98392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8845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64420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64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5773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8862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069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06947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181" y="40123"/>
            <a:ext cx="10323946" cy="1126837"/>
          </a:xfrm>
        </p:spPr>
        <p:txBody>
          <a:bodyPr>
            <a:noAutofit/>
          </a:bodyPr>
          <a:lstStyle/>
          <a:p>
            <a:r>
              <a:rPr lang="en-AU" sz="3200" b="1" dirty="0"/>
              <a:t>Topic: Quantifying the Seasonal Effect</a:t>
            </a:r>
            <a:br>
              <a:rPr lang="en-AU" sz="3200" b="1" dirty="0"/>
            </a:br>
            <a:r>
              <a:rPr lang="en-AU" sz="3200" b="1" dirty="0"/>
              <a:t>EQ: How do I calculate seasonal indices?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1559" y="0"/>
            <a:ext cx="83127" cy="6858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91497"/>
            <a:ext cx="12192000" cy="101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112815" y="1539616"/>
            <a:ext cx="7557658" cy="1637682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Step 1:</a:t>
            </a:r>
          </a:p>
          <a:p>
            <a:pPr marL="0" indent="0">
              <a:buNone/>
            </a:pPr>
            <a:r>
              <a:rPr lang="en-AU" dirty="0"/>
              <a:t>Find the average for each season.</a:t>
            </a:r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60602" y="2650849"/>
          <a:ext cx="812800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62690901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203135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7503693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80906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Time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Visitors</a:t>
                      </a:r>
                      <a:r>
                        <a:rPr lang="en-AU" baseline="0" dirty="0"/>
                        <a:t> (thousands)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Mean</a:t>
                      </a:r>
                      <a:r>
                        <a:rPr lang="en-AU" baseline="0" dirty="0"/>
                        <a:t> for the year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72799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45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88277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11708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93530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52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43.667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98392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8845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64420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64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51.667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5773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8862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069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8626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181" y="40123"/>
            <a:ext cx="10323946" cy="1126837"/>
          </a:xfrm>
        </p:spPr>
        <p:txBody>
          <a:bodyPr>
            <a:noAutofit/>
          </a:bodyPr>
          <a:lstStyle/>
          <a:p>
            <a:r>
              <a:rPr lang="en-AU" sz="3200" b="1" dirty="0"/>
              <a:t>Topic: Quantifying the Seasonal Effect</a:t>
            </a:r>
            <a:br>
              <a:rPr lang="en-AU" sz="3200" b="1" dirty="0"/>
            </a:br>
            <a:r>
              <a:rPr lang="en-AU" sz="3200" b="1" dirty="0"/>
              <a:t>EQ: How do I calculate seasonal indices?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1559" y="0"/>
            <a:ext cx="83127" cy="6858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91497"/>
            <a:ext cx="12192000" cy="101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112814" y="1539616"/>
            <a:ext cx="8656785" cy="1637682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Step 2:</a:t>
            </a:r>
          </a:p>
          <a:p>
            <a:pPr marL="0" indent="0">
              <a:buNone/>
            </a:pPr>
            <a:r>
              <a:rPr lang="en-AU" dirty="0"/>
              <a:t>Find what percentage of the average each data point is.</a:t>
            </a:r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60602" y="2650849"/>
          <a:ext cx="812800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62690901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203135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7503693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80906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Time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Visitors</a:t>
                      </a:r>
                      <a:r>
                        <a:rPr lang="en-AU" baseline="0" dirty="0"/>
                        <a:t> (thousands)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Mean</a:t>
                      </a:r>
                      <a:r>
                        <a:rPr lang="en-AU" baseline="0" dirty="0"/>
                        <a:t> for the year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72799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45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88277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11708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93530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52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43.667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98392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8845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64420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64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51.667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5773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8862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069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0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181" y="40123"/>
            <a:ext cx="10323946" cy="1126837"/>
          </a:xfrm>
        </p:spPr>
        <p:txBody>
          <a:bodyPr>
            <a:noAutofit/>
          </a:bodyPr>
          <a:lstStyle/>
          <a:p>
            <a:r>
              <a:rPr lang="en-AU" sz="3200" b="1" dirty="0"/>
              <a:t>Topic: Quantifying the Seasonal Effect</a:t>
            </a:r>
            <a:br>
              <a:rPr lang="en-AU" sz="3200" b="1" dirty="0"/>
            </a:br>
            <a:r>
              <a:rPr lang="en-AU" sz="3200" b="1" dirty="0"/>
              <a:t>EQ: How do I calculate seasonal indices?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1559" y="0"/>
            <a:ext cx="83127" cy="6858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91497"/>
            <a:ext cx="12192000" cy="101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112814" y="1539616"/>
            <a:ext cx="8656785" cy="1637682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Step 2:</a:t>
            </a:r>
          </a:p>
          <a:p>
            <a:pPr marL="0" indent="0">
              <a:buNone/>
            </a:pPr>
            <a:r>
              <a:rPr lang="en-AU" dirty="0"/>
              <a:t>Find what percentage of the average each data point is.</a:t>
            </a:r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60602" y="2650849"/>
          <a:ext cx="812800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62690901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031350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7503693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8090693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100317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Time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Visitors</a:t>
                      </a:r>
                      <a:r>
                        <a:rPr lang="en-AU" baseline="0" dirty="0"/>
                        <a:t> (thousands)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Mean</a:t>
                      </a:r>
                      <a:r>
                        <a:rPr lang="en-AU" baseline="0" dirty="0"/>
                        <a:t> for the year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% of 4 month average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72799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45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88277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11708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293530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52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43.667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98392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58845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64420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64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51.667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5773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8862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069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88791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181" y="40123"/>
            <a:ext cx="10323946" cy="1126837"/>
          </a:xfrm>
        </p:spPr>
        <p:txBody>
          <a:bodyPr>
            <a:noAutofit/>
          </a:bodyPr>
          <a:lstStyle/>
          <a:p>
            <a:r>
              <a:rPr lang="en-AU" sz="3200" b="1" dirty="0"/>
              <a:t>Topic: Quantifying the Seasonal Effect</a:t>
            </a:r>
            <a:br>
              <a:rPr lang="en-AU" sz="3200" b="1" dirty="0"/>
            </a:br>
            <a:r>
              <a:rPr lang="en-AU" sz="3200" b="1" dirty="0"/>
              <a:t>EQ: How do I calculate seasonal indices?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1559" y="0"/>
            <a:ext cx="83127" cy="6858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91497"/>
            <a:ext cx="12192000" cy="101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112814" y="1539616"/>
            <a:ext cx="8656785" cy="1637682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Step 2:</a:t>
            </a:r>
          </a:p>
          <a:p>
            <a:pPr marL="0" indent="0">
              <a:buNone/>
            </a:pPr>
            <a:r>
              <a:rPr lang="en-AU" dirty="0"/>
              <a:t>Find what percentage of the average each data point is.</a:t>
            </a:r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60602" y="2650849"/>
          <a:ext cx="812800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62690901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031350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7503693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8090693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100317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Time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Visitors</a:t>
                      </a:r>
                      <a:r>
                        <a:rPr lang="en-AU" baseline="0" dirty="0"/>
                        <a:t> (thousands)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Mean</a:t>
                      </a:r>
                      <a:r>
                        <a:rPr lang="en-AU" baseline="0" dirty="0"/>
                        <a:t> for the year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% of 4 month average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72799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45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45/35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88277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26/35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11708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34/35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293530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52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43.667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52/43.667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98392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37/43.667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58845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42/43.667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64420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64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51.667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64/51.667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5773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41/51.667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8862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50/51.667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069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92116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181" y="40123"/>
            <a:ext cx="10323946" cy="1126837"/>
          </a:xfrm>
        </p:spPr>
        <p:txBody>
          <a:bodyPr>
            <a:noAutofit/>
          </a:bodyPr>
          <a:lstStyle/>
          <a:p>
            <a:r>
              <a:rPr lang="en-AU" sz="3200" b="1" dirty="0"/>
              <a:t>Topic: Quantifying the Seasonal Effect</a:t>
            </a:r>
            <a:br>
              <a:rPr lang="en-AU" sz="3200" b="1" dirty="0"/>
            </a:br>
            <a:r>
              <a:rPr lang="en-AU" sz="3200" b="1" dirty="0"/>
              <a:t>EQ: How do I calculate seasonal indices?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1559" y="0"/>
            <a:ext cx="83127" cy="6858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91497"/>
            <a:ext cx="12192000" cy="101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112814" y="1539616"/>
            <a:ext cx="8656785" cy="1637682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Step 2:</a:t>
            </a:r>
          </a:p>
          <a:p>
            <a:pPr marL="0" indent="0">
              <a:buNone/>
            </a:pPr>
            <a:r>
              <a:rPr lang="en-AU" dirty="0"/>
              <a:t>Find what percentage of the average each data point is.</a:t>
            </a:r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60602" y="2650849"/>
          <a:ext cx="812800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62690901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031350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7503693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8090693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100317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Time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Visitors</a:t>
                      </a:r>
                      <a:r>
                        <a:rPr lang="en-AU" baseline="0" dirty="0"/>
                        <a:t> (thousands)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Mean</a:t>
                      </a:r>
                      <a:r>
                        <a:rPr lang="en-AU" baseline="0" dirty="0"/>
                        <a:t> for the year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% of 4 month average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72799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45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128.57%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88277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74.29%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11708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97.14%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293530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52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43.667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119.08%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98392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84.73%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58845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96.18%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64420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64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51.667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123.87%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5773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79.35%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8862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96.77%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069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0570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181" y="40123"/>
            <a:ext cx="10323946" cy="1126837"/>
          </a:xfrm>
        </p:spPr>
        <p:txBody>
          <a:bodyPr>
            <a:noAutofit/>
          </a:bodyPr>
          <a:lstStyle/>
          <a:p>
            <a:r>
              <a:rPr lang="en-AU" sz="3200" b="1" dirty="0"/>
              <a:t>Topic: Quantifying the Seasonal Effect</a:t>
            </a:r>
            <a:br>
              <a:rPr lang="en-AU" sz="3200" b="1" dirty="0"/>
            </a:br>
            <a:r>
              <a:rPr lang="en-AU" sz="3200" b="1" dirty="0"/>
              <a:t>EQ: How do I calculate seasonal indices?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1559" y="0"/>
            <a:ext cx="83127" cy="6858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91497"/>
            <a:ext cx="12192000" cy="101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112814" y="1539616"/>
            <a:ext cx="8656785" cy="1637682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Step 3:</a:t>
            </a:r>
          </a:p>
          <a:p>
            <a:pPr marL="0" indent="0">
              <a:buNone/>
            </a:pPr>
            <a:r>
              <a:rPr lang="en-AU" dirty="0"/>
              <a:t>Present the seasonal indices data in a two-way-table.</a:t>
            </a:r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112814" y="2885332"/>
          <a:ext cx="8370460" cy="311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2615">
                  <a:extLst>
                    <a:ext uri="{9D8B030D-6E8A-4147-A177-3AD203B41FA5}">
                      <a16:colId xmlns:a16="http://schemas.microsoft.com/office/drawing/2014/main" val="1132337606"/>
                    </a:ext>
                  </a:extLst>
                </a:gridCol>
                <a:gridCol w="2092615">
                  <a:extLst>
                    <a:ext uri="{9D8B030D-6E8A-4147-A177-3AD203B41FA5}">
                      <a16:colId xmlns:a16="http://schemas.microsoft.com/office/drawing/2014/main" val="2907816777"/>
                    </a:ext>
                  </a:extLst>
                </a:gridCol>
                <a:gridCol w="2092615">
                  <a:extLst>
                    <a:ext uri="{9D8B030D-6E8A-4147-A177-3AD203B41FA5}">
                      <a16:colId xmlns:a16="http://schemas.microsoft.com/office/drawing/2014/main" val="3985989419"/>
                    </a:ext>
                  </a:extLst>
                </a:gridCol>
                <a:gridCol w="2092615">
                  <a:extLst>
                    <a:ext uri="{9D8B030D-6E8A-4147-A177-3AD203B41FA5}">
                      <a16:colId xmlns:a16="http://schemas.microsoft.com/office/drawing/2014/main" val="2068477194"/>
                    </a:ext>
                  </a:extLst>
                </a:gridCol>
              </a:tblGrid>
              <a:tr h="779575"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908870"/>
                  </a:ext>
                </a:extLst>
              </a:tr>
              <a:tr h="77957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128.57%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74.29%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97.14%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475522"/>
                  </a:ext>
                </a:extLst>
              </a:tr>
              <a:tr h="77957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119.08%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84.73%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96.18%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9517150"/>
                  </a:ext>
                </a:extLst>
              </a:tr>
              <a:tr h="77957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123.87%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79.35%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96.77%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7968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47360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181" y="40123"/>
            <a:ext cx="10323946" cy="1126837"/>
          </a:xfrm>
        </p:spPr>
        <p:txBody>
          <a:bodyPr>
            <a:noAutofit/>
          </a:bodyPr>
          <a:lstStyle/>
          <a:p>
            <a:r>
              <a:rPr lang="en-AU" sz="3200" b="1" dirty="0"/>
              <a:t>Topic: Quantifying the Seasonal Effect</a:t>
            </a:r>
            <a:br>
              <a:rPr lang="en-AU" sz="3200" b="1" dirty="0"/>
            </a:br>
            <a:r>
              <a:rPr lang="en-AU" sz="3200" b="1" dirty="0"/>
              <a:t>EQ: How do I calculate seasonal indices?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1559" y="0"/>
            <a:ext cx="83127" cy="6858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91497"/>
            <a:ext cx="12192000" cy="101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112814" y="1539616"/>
            <a:ext cx="8656785" cy="1637682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Step 4:</a:t>
            </a:r>
          </a:p>
          <a:p>
            <a:pPr marL="0" indent="0">
              <a:buNone/>
            </a:pPr>
            <a:r>
              <a:rPr lang="en-AU" dirty="0"/>
              <a:t>Determine the seasonal index by averaging all the % of within each season ↓</a:t>
            </a:r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112814" y="2876096"/>
          <a:ext cx="8370460" cy="3897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2615">
                  <a:extLst>
                    <a:ext uri="{9D8B030D-6E8A-4147-A177-3AD203B41FA5}">
                      <a16:colId xmlns:a16="http://schemas.microsoft.com/office/drawing/2014/main" val="1132337606"/>
                    </a:ext>
                  </a:extLst>
                </a:gridCol>
                <a:gridCol w="2092615">
                  <a:extLst>
                    <a:ext uri="{9D8B030D-6E8A-4147-A177-3AD203B41FA5}">
                      <a16:colId xmlns:a16="http://schemas.microsoft.com/office/drawing/2014/main" val="2907816777"/>
                    </a:ext>
                  </a:extLst>
                </a:gridCol>
                <a:gridCol w="2092615">
                  <a:extLst>
                    <a:ext uri="{9D8B030D-6E8A-4147-A177-3AD203B41FA5}">
                      <a16:colId xmlns:a16="http://schemas.microsoft.com/office/drawing/2014/main" val="3985989419"/>
                    </a:ext>
                  </a:extLst>
                </a:gridCol>
                <a:gridCol w="2092615">
                  <a:extLst>
                    <a:ext uri="{9D8B030D-6E8A-4147-A177-3AD203B41FA5}">
                      <a16:colId xmlns:a16="http://schemas.microsoft.com/office/drawing/2014/main" val="2068477194"/>
                    </a:ext>
                  </a:extLst>
                </a:gridCol>
              </a:tblGrid>
              <a:tr h="779575"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908870"/>
                  </a:ext>
                </a:extLst>
              </a:tr>
              <a:tr h="77957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128.57%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74.29%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97.14%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475522"/>
                  </a:ext>
                </a:extLst>
              </a:tr>
              <a:tr h="77957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119.08%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84.73%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96.18%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9517150"/>
                  </a:ext>
                </a:extLst>
              </a:tr>
              <a:tr h="77957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123.87%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79.35%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96.77%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7968365"/>
                  </a:ext>
                </a:extLst>
              </a:tr>
              <a:tr h="77957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Seasonal</a:t>
                      </a:r>
                      <a:r>
                        <a:rPr lang="en-AU" baseline="0" dirty="0"/>
                        <a:t> Index</a:t>
                      </a:r>
                      <a:endParaRPr lang="en-AU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79%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6073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60954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181" y="40123"/>
            <a:ext cx="10323946" cy="1126837"/>
          </a:xfrm>
        </p:spPr>
        <p:txBody>
          <a:bodyPr>
            <a:noAutofit/>
          </a:bodyPr>
          <a:lstStyle/>
          <a:p>
            <a:r>
              <a:rPr lang="en-AU" sz="3200" b="1" dirty="0"/>
              <a:t>Topic: Seasonal Indices</a:t>
            </a:r>
            <a:br>
              <a:rPr lang="en-AU" sz="3200" b="1" dirty="0"/>
            </a:br>
            <a:r>
              <a:rPr lang="en-AU" sz="3200" b="1" dirty="0"/>
              <a:t>EQ: How do I use the classpad to calculate Seasonal Indices?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0183" y="1440873"/>
            <a:ext cx="10492508" cy="5338618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dirty="0"/>
              <a:t>On the menu open </a:t>
            </a:r>
            <a:r>
              <a:rPr lang="en-AU" i="1" u="sng" dirty="0">
                <a:solidFill>
                  <a:srgbClr val="7030A0"/>
                </a:solidFill>
              </a:rPr>
              <a:t>Statistics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In </a:t>
            </a:r>
            <a:r>
              <a:rPr lang="en-AU" b="1" dirty="0"/>
              <a:t>List 1 </a:t>
            </a:r>
            <a:r>
              <a:rPr lang="en-AU" dirty="0"/>
              <a:t>input the time (or number each data point starting at 1)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In </a:t>
            </a:r>
            <a:r>
              <a:rPr lang="en-AU" b="1" dirty="0"/>
              <a:t>List 2 </a:t>
            </a:r>
            <a:r>
              <a:rPr lang="en-AU" dirty="0"/>
              <a:t>input your data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Go back to the menu, swipe across onto the second page and open </a:t>
            </a:r>
            <a:r>
              <a:rPr lang="en-AU" i="1" u="sng" dirty="0">
                <a:solidFill>
                  <a:srgbClr val="7030A0"/>
                </a:solidFill>
              </a:rPr>
              <a:t>Program </a:t>
            </a: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In the “Name:” drop box select </a:t>
            </a:r>
            <a:r>
              <a:rPr lang="en-AU" b="1" dirty="0" err="1">
                <a:solidFill>
                  <a:srgbClr val="0070C0"/>
                </a:solidFill>
              </a:rPr>
              <a:t>TimeSII</a:t>
            </a:r>
            <a:endParaRPr lang="en-AU" b="1" dirty="0">
              <a:solidFill>
                <a:srgbClr val="0070C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On the tool bar at the top press the play button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Press okay, press 3 for </a:t>
            </a:r>
            <a:r>
              <a:rPr lang="en-AU" dirty="0" err="1"/>
              <a:t>SeasInd</a:t>
            </a:r>
            <a:r>
              <a:rPr lang="en-AU" dirty="0"/>
              <a:t> and okay, press 1 for mean and okay, enter the number of data points per season and okay, leave blank and okay 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Press the green play button in the bottom right corner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Forecast: if you want to make a prediction you would type in the time you want a prediction for and then press okay. If you do not want to make a prediction leave it blank and press okay.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Go back to the menu and reopen </a:t>
            </a:r>
            <a:r>
              <a:rPr lang="en-AU" i="1" u="sng" dirty="0">
                <a:solidFill>
                  <a:srgbClr val="7030A0"/>
                </a:solidFill>
              </a:rPr>
              <a:t>Statistics </a:t>
            </a: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In </a:t>
            </a:r>
            <a:r>
              <a:rPr lang="en-AU" b="1" dirty="0"/>
              <a:t>List 4</a:t>
            </a:r>
            <a:r>
              <a:rPr lang="en-AU" dirty="0"/>
              <a:t> you will now be able to see your calculated Seasonal Index for each data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1559" y="0"/>
            <a:ext cx="83127" cy="6858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91499"/>
            <a:ext cx="12192000" cy="101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Isosceles Triangle 5"/>
          <p:cNvSpPr/>
          <p:nvPr/>
        </p:nvSpPr>
        <p:spPr>
          <a:xfrm rot="5400000">
            <a:off x="8144164" y="3362903"/>
            <a:ext cx="254002" cy="267855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Isosceles Triangle 6"/>
          <p:cNvSpPr/>
          <p:nvPr/>
        </p:nvSpPr>
        <p:spPr>
          <a:xfrm rot="5400000">
            <a:off x="8961575" y="4374276"/>
            <a:ext cx="254002" cy="267855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46656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For more classpad help use the following URLs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http://www.classpad.com.au/cp2/index.php?me=BA4&amp;mn=991&amp;mt=Computer_To_ClassPad_Data_Transfer&amp;my=qkSpVaZHMlw</a:t>
            </a:r>
            <a:r>
              <a:rPr lang="en-AU" dirty="0"/>
              <a:t> </a:t>
            </a:r>
          </a:p>
          <a:p>
            <a:r>
              <a:rPr lang="en-AU" dirty="0">
                <a:hlinkClick r:id="rId3"/>
              </a:rPr>
              <a:t>http://www.classpad.com.au/cp2/index.php?me=BA4&amp;mn=945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52147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29630-A4E8-49C7-8A39-1A01FB057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Complete exercise 2C please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4C44CFBC-F38C-463F-95D0-5362337F3DBE}"/>
              </a:ext>
            </a:extLst>
          </p:cNvPr>
          <p:cNvSpPr/>
          <p:nvPr/>
        </p:nvSpPr>
        <p:spPr>
          <a:xfrm>
            <a:off x="8957569" y="257452"/>
            <a:ext cx="1473693" cy="621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Back to Contents</a:t>
            </a:r>
          </a:p>
        </p:txBody>
      </p:sp>
    </p:spTree>
    <p:extLst>
      <p:ext uri="{BB962C8B-B14F-4D97-AF65-F5344CB8AC3E}">
        <p14:creationId xmlns:p14="http://schemas.microsoft.com/office/powerpoint/2010/main" val="7031003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4908-264B-4CBF-AFC3-868255191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6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2BEC3-3C06-460D-9642-B3983F1AA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Topic: </a:t>
            </a:r>
            <a:r>
              <a:rPr lang="en-AU" dirty="0" err="1"/>
              <a:t>Deseasonalising</a:t>
            </a:r>
            <a:r>
              <a:rPr lang="en-AU" dirty="0"/>
              <a:t> Data</a:t>
            </a:r>
          </a:p>
          <a:p>
            <a:pPr marL="0" indent="0">
              <a:buNone/>
            </a:pPr>
            <a:r>
              <a:rPr lang="en-AU" dirty="0"/>
              <a:t>EQ: How do I </a:t>
            </a:r>
            <a:r>
              <a:rPr lang="en-AU" dirty="0" err="1"/>
              <a:t>deseasonalise</a:t>
            </a:r>
            <a:r>
              <a:rPr lang="en-AU" dirty="0"/>
              <a:t> data?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Syllabus points:</a:t>
            </a:r>
          </a:p>
          <a:p>
            <a:pPr marL="0" indent="0">
              <a:buNone/>
            </a:pPr>
            <a:r>
              <a:rPr lang="en-AU" dirty="0"/>
              <a:t>4.1.5	</a:t>
            </a:r>
            <a:r>
              <a:rPr lang="en-AU" dirty="0" err="1"/>
              <a:t>deseasonalise</a:t>
            </a:r>
            <a:r>
              <a:rPr lang="en-AU" dirty="0"/>
              <a:t> a time series by using a seasonal index, including the use of spreadsheets to implement this process </a:t>
            </a:r>
            <a:endParaRPr lang="en-AU" sz="2400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E1731521-65C4-44D7-8B72-759A535BBE0F}"/>
              </a:ext>
            </a:extLst>
          </p:cNvPr>
          <p:cNvSpPr/>
          <p:nvPr/>
        </p:nvSpPr>
        <p:spPr>
          <a:xfrm>
            <a:off x="8957569" y="257452"/>
            <a:ext cx="1473693" cy="621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Back to Contents</a:t>
            </a:r>
          </a:p>
        </p:txBody>
      </p:sp>
    </p:spTree>
    <p:extLst>
      <p:ext uri="{BB962C8B-B14F-4D97-AF65-F5344CB8AC3E}">
        <p14:creationId xmlns:p14="http://schemas.microsoft.com/office/powerpoint/2010/main" val="18766181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181" y="40123"/>
            <a:ext cx="10323946" cy="1126837"/>
          </a:xfrm>
        </p:spPr>
        <p:txBody>
          <a:bodyPr>
            <a:noAutofit/>
          </a:bodyPr>
          <a:lstStyle/>
          <a:p>
            <a:r>
              <a:rPr lang="en-AU" sz="3200" b="1" dirty="0"/>
              <a:t>Topic: Deseasonalising Data</a:t>
            </a:r>
            <a:br>
              <a:rPr lang="en-AU" sz="3200" b="1" dirty="0"/>
            </a:br>
            <a:r>
              <a:rPr lang="en-AU" sz="3200" b="1" dirty="0"/>
              <a:t>EQ: How do I deseasonalise data?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1559" y="0"/>
            <a:ext cx="83127" cy="6858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91497"/>
            <a:ext cx="12192000" cy="101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759526" y="1773742"/>
            <a:ext cx="9691255" cy="4351338"/>
          </a:xfrm>
        </p:spPr>
        <p:txBody>
          <a:bodyPr/>
          <a:lstStyle/>
          <a:p>
            <a:endParaRPr lang="en-AU" dirty="0"/>
          </a:p>
          <a:p>
            <a:r>
              <a:rPr lang="en-AU" dirty="0"/>
              <a:t>By calculating the seasonal indices we can clearly see what </a:t>
            </a:r>
            <a:r>
              <a:rPr lang="en-AU" i="1" dirty="0"/>
              <a:t>effect </a:t>
            </a:r>
            <a:r>
              <a:rPr lang="en-AU" dirty="0"/>
              <a:t>the </a:t>
            </a:r>
            <a:r>
              <a:rPr lang="en-AU" i="1" dirty="0"/>
              <a:t>season </a:t>
            </a:r>
            <a:r>
              <a:rPr lang="en-AU" dirty="0"/>
              <a:t>has on the data. The next step is to use this information to remove the seasonal effect.</a:t>
            </a:r>
          </a:p>
        </p:txBody>
      </p:sp>
    </p:spTree>
    <p:extLst>
      <p:ext uri="{BB962C8B-B14F-4D97-AF65-F5344CB8AC3E}">
        <p14:creationId xmlns:p14="http://schemas.microsoft.com/office/powerpoint/2010/main" val="3094589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11559" y="0"/>
            <a:ext cx="83127" cy="6858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91497"/>
            <a:ext cx="12192000" cy="101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112814" y="1539616"/>
            <a:ext cx="8656785" cy="1637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b="1" dirty="0"/>
              <a:t>Step 1:</a:t>
            </a:r>
          </a:p>
          <a:p>
            <a:pPr marL="0" indent="0">
              <a:buNone/>
            </a:pPr>
            <a:r>
              <a:rPr lang="en-AU" sz="2400" dirty="0"/>
              <a:t>Determine the seasonal index for each season.</a:t>
            </a:r>
          </a:p>
          <a:p>
            <a:pPr marL="0" indent="0">
              <a:buNone/>
            </a:pPr>
            <a:endParaRPr lang="en-AU" sz="2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112812" y="2829911"/>
          <a:ext cx="8370460" cy="311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2615">
                  <a:extLst>
                    <a:ext uri="{9D8B030D-6E8A-4147-A177-3AD203B41FA5}">
                      <a16:colId xmlns:a16="http://schemas.microsoft.com/office/drawing/2014/main" val="1132337606"/>
                    </a:ext>
                  </a:extLst>
                </a:gridCol>
                <a:gridCol w="2092615">
                  <a:extLst>
                    <a:ext uri="{9D8B030D-6E8A-4147-A177-3AD203B41FA5}">
                      <a16:colId xmlns:a16="http://schemas.microsoft.com/office/drawing/2014/main" val="2907816777"/>
                    </a:ext>
                  </a:extLst>
                </a:gridCol>
                <a:gridCol w="2092615">
                  <a:extLst>
                    <a:ext uri="{9D8B030D-6E8A-4147-A177-3AD203B41FA5}">
                      <a16:colId xmlns:a16="http://schemas.microsoft.com/office/drawing/2014/main" val="3985989419"/>
                    </a:ext>
                  </a:extLst>
                </a:gridCol>
                <a:gridCol w="2092615">
                  <a:extLst>
                    <a:ext uri="{9D8B030D-6E8A-4147-A177-3AD203B41FA5}">
                      <a16:colId xmlns:a16="http://schemas.microsoft.com/office/drawing/2014/main" val="2068477194"/>
                    </a:ext>
                  </a:extLst>
                </a:gridCol>
              </a:tblGrid>
              <a:tr h="779575"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908870"/>
                  </a:ext>
                </a:extLst>
              </a:tr>
              <a:tr h="77957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128.57%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74.29%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97.14%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475522"/>
                  </a:ext>
                </a:extLst>
              </a:tr>
              <a:tr h="77957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119.08%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84.73%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96.18%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9517150"/>
                  </a:ext>
                </a:extLst>
              </a:tr>
              <a:tr h="77957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123.87%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79.35%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96.77%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7968365"/>
                  </a:ext>
                </a:extLst>
              </a:tr>
            </a:tbl>
          </a:graphicData>
        </a:graphic>
      </p:graphicFrame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443181" y="40123"/>
            <a:ext cx="10323946" cy="1126837"/>
          </a:xfrm>
        </p:spPr>
        <p:txBody>
          <a:bodyPr>
            <a:noAutofit/>
          </a:bodyPr>
          <a:lstStyle/>
          <a:p>
            <a:r>
              <a:rPr lang="en-AU" sz="3200" b="1" dirty="0"/>
              <a:t>Topic: Deseasonalising Data</a:t>
            </a:r>
            <a:br>
              <a:rPr lang="en-AU" sz="3200" b="1" dirty="0"/>
            </a:br>
            <a:r>
              <a:rPr lang="en-AU" sz="3200" b="1" dirty="0"/>
              <a:t>EQ: How do I deseasonalise data?</a:t>
            </a:r>
          </a:p>
        </p:txBody>
      </p:sp>
    </p:spTree>
    <p:extLst>
      <p:ext uri="{BB962C8B-B14F-4D97-AF65-F5344CB8AC3E}">
        <p14:creationId xmlns:p14="http://schemas.microsoft.com/office/powerpoint/2010/main" val="9090156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11559" y="0"/>
            <a:ext cx="83127" cy="6858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91497"/>
            <a:ext cx="12192000" cy="101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112814" y="1539616"/>
            <a:ext cx="8656785" cy="1637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b="1" dirty="0"/>
              <a:t>Step 1:</a:t>
            </a:r>
          </a:p>
          <a:p>
            <a:pPr marL="0" indent="0">
              <a:buNone/>
            </a:pPr>
            <a:r>
              <a:rPr lang="en-AU" sz="2400" dirty="0"/>
              <a:t>Determine the seasonal index by averaging all the % of within each season ↓</a:t>
            </a:r>
          </a:p>
          <a:p>
            <a:pPr marL="0" indent="0">
              <a:buNone/>
            </a:pPr>
            <a:endParaRPr lang="en-AU" sz="2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112812" y="2792972"/>
          <a:ext cx="8370460" cy="3897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2615">
                  <a:extLst>
                    <a:ext uri="{9D8B030D-6E8A-4147-A177-3AD203B41FA5}">
                      <a16:colId xmlns:a16="http://schemas.microsoft.com/office/drawing/2014/main" val="1132337606"/>
                    </a:ext>
                  </a:extLst>
                </a:gridCol>
                <a:gridCol w="2092615">
                  <a:extLst>
                    <a:ext uri="{9D8B030D-6E8A-4147-A177-3AD203B41FA5}">
                      <a16:colId xmlns:a16="http://schemas.microsoft.com/office/drawing/2014/main" val="2907816777"/>
                    </a:ext>
                  </a:extLst>
                </a:gridCol>
                <a:gridCol w="2092615">
                  <a:extLst>
                    <a:ext uri="{9D8B030D-6E8A-4147-A177-3AD203B41FA5}">
                      <a16:colId xmlns:a16="http://schemas.microsoft.com/office/drawing/2014/main" val="3985989419"/>
                    </a:ext>
                  </a:extLst>
                </a:gridCol>
                <a:gridCol w="2092615">
                  <a:extLst>
                    <a:ext uri="{9D8B030D-6E8A-4147-A177-3AD203B41FA5}">
                      <a16:colId xmlns:a16="http://schemas.microsoft.com/office/drawing/2014/main" val="2068477194"/>
                    </a:ext>
                  </a:extLst>
                </a:gridCol>
              </a:tblGrid>
              <a:tr h="779575"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908870"/>
                  </a:ext>
                </a:extLst>
              </a:tr>
              <a:tr h="77957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2011</a:t>
                      </a:r>
                    </a:p>
                  </a:txBody>
                  <a:tcPr anchor="ctr">
                    <a:lnT w="38100" cmpd="sng">
                      <a:noFill/>
                    </a:lnT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128.57%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74.29%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97.14%</a:t>
                      </a:r>
                    </a:p>
                  </a:txBody>
                  <a:tcPr anchor="ctr">
                    <a:solidFill>
                      <a:srgbClr val="F9E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475522"/>
                  </a:ext>
                </a:extLst>
              </a:tr>
              <a:tr h="77957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119.08%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84.73%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96.18%</a:t>
                      </a:r>
                    </a:p>
                  </a:txBody>
                  <a:tcPr anchor="ctr">
                    <a:solidFill>
                      <a:srgbClr val="F9E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517150"/>
                  </a:ext>
                </a:extLst>
              </a:tr>
              <a:tr h="77957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123.87%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79.35%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96.77%</a:t>
                      </a:r>
                    </a:p>
                  </a:txBody>
                  <a:tcPr anchor="ctr">
                    <a:solidFill>
                      <a:srgbClr val="F9E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968365"/>
                  </a:ext>
                </a:extLst>
              </a:tr>
              <a:tr h="779575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Seasonal Index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124%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79%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97%</a:t>
                      </a:r>
                    </a:p>
                  </a:txBody>
                  <a:tcPr anchor="ctr">
                    <a:solidFill>
                      <a:srgbClr val="F1C5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613768"/>
                  </a:ext>
                </a:extLst>
              </a:tr>
            </a:tbl>
          </a:graphicData>
        </a:graphic>
      </p:graphicFrame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443181" y="40123"/>
            <a:ext cx="10323946" cy="1126837"/>
          </a:xfrm>
        </p:spPr>
        <p:txBody>
          <a:bodyPr>
            <a:noAutofit/>
          </a:bodyPr>
          <a:lstStyle/>
          <a:p>
            <a:r>
              <a:rPr lang="en-AU" sz="3200" b="1" dirty="0"/>
              <a:t>Topic: Deseasonalising Data</a:t>
            </a:r>
            <a:br>
              <a:rPr lang="en-AU" sz="3200" b="1" dirty="0"/>
            </a:br>
            <a:r>
              <a:rPr lang="en-AU" sz="3200" b="1" dirty="0"/>
              <a:t>EQ: How do I deseasonalise data?</a:t>
            </a:r>
          </a:p>
        </p:txBody>
      </p:sp>
    </p:spTree>
    <p:extLst>
      <p:ext uri="{BB962C8B-B14F-4D97-AF65-F5344CB8AC3E}">
        <p14:creationId xmlns:p14="http://schemas.microsoft.com/office/powerpoint/2010/main" val="17136462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11559" y="0"/>
            <a:ext cx="83127" cy="6858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91497"/>
            <a:ext cx="12192000" cy="101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122049" y="1317634"/>
            <a:ext cx="9164787" cy="1637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b="1" dirty="0"/>
              <a:t>Step 2:</a:t>
            </a:r>
          </a:p>
          <a:p>
            <a:pPr marL="0" indent="0">
              <a:buNone/>
            </a:pPr>
            <a:r>
              <a:rPr lang="en-AU" sz="2400" dirty="0"/>
              <a:t>In the first four months of 2011 the data shows that the seasonal effect is a 24% increase. In order to deseasonalise the data we need to divide the raw data by the seasonal index: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44963" y="2835563"/>
          <a:ext cx="9922164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694">
                  <a:extLst>
                    <a:ext uri="{9D8B030D-6E8A-4147-A177-3AD203B41FA5}">
                      <a16:colId xmlns:a16="http://schemas.microsoft.com/office/drawing/2014/main" val="1626909018"/>
                    </a:ext>
                  </a:extLst>
                </a:gridCol>
                <a:gridCol w="1653694">
                  <a:extLst>
                    <a:ext uri="{9D8B030D-6E8A-4147-A177-3AD203B41FA5}">
                      <a16:colId xmlns:a16="http://schemas.microsoft.com/office/drawing/2014/main" val="2220313509"/>
                    </a:ext>
                  </a:extLst>
                </a:gridCol>
                <a:gridCol w="1653694">
                  <a:extLst>
                    <a:ext uri="{9D8B030D-6E8A-4147-A177-3AD203B41FA5}">
                      <a16:colId xmlns:a16="http://schemas.microsoft.com/office/drawing/2014/main" val="3175036937"/>
                    </a:ext>
                  </a:extLst>
                </a:gridCol>
                <a:gridCol w="1653694">
                  <a:extLst>
                    <a:ext uri="{9D8B030D-6E8A-4147-A177-3AD203B41FA5}">
                      <a16:colId xmlns:a16="http://schemas.microsoft.com/office/drawing/2014/main" val="2280906936"/>
                    </a:ext>
                  </a:extLst>
                </a:gridCol>
                <a:gridCol w="1653694">
                  <a:extLst>
                    <a:ext uri="{9D8B030D-6E8A-4147-A177-3AD203B41FA5}">
                      <a16:colId xmlns:a16="http://schemas.microsoft.com/office/drawing/2014/main" val="1510031728"/>
                    </a:ext>
                  </a:extLst>
                </a:gridCol>
                <a:gridCol w="1653694">
                  <a:extLst>
                    <a:ext uri="{9D8B030D-6E8A-4147-A177-3AD203B41FA5}">
                      <a16:colId xmlns:a16="http://schemas.microsoft.com/office/drawing/2014/main" val="1310323266"/>
                    </a:ext>
                  </a:extLst>
                </a:gridCol>
              </a:tblGrid>
              <a:tr h="632489">
                <a:tc>
                  <a:txBody>
                    <a:bodyPr/>
                    <a:lstStyle/>
                    <a:p>
                      <a:r>
                        <a:rPr lang="en-AU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Time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Visitors</a:t>
                      </a:r>
                      <a:r>
                        <a:rPr lang="en-AU" baseline="0" dirty="0"/>
                        <a:t> (thousands)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Mean</a:t>
                      </a:r>
                      <a:r>
                        <a:rPr lang="en-AU" baseline="0" dirty="0"/>
                        <a:t> for the year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% of 4 month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Deseasonalised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727991"/>
                  </a:ext>
                </a:extLst>
              </a:tr>
              <a:tr h="361422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45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128.57%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882779"/>
                  </a:ext>
                </a:extLst>
              </a:tr>
              <a:tr h="361422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74.29%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117089"/>
                  </a:ext>
                </a:extLst>
              </a:tr>
              <a:tr h="361422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97.14%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rgbClr val="F9E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935309"/>
                  </a:ext>
                </a:extLst>
              </a:tr>
              <a:tr h="361422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52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43.667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119.08%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839297"/>
                  </a:ext>
                </a:extLst>
              </a:tr>
              <a:tr h="361422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84.73%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884505"/>
                  </a:ext>
                </a:extLst>
              </a:tr>
              <a:tr h="361422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96.18%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rgbClr val="F9E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644202"/>
                  </a:ext>
                </a:extLst>
              </a:tr>
              <a:tr h="361422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64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51.667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123.87%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577358"/>
                  </a:ext>
                </a:extLst>
              </a:tr>
              <a:tr h="361422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79.35%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886207"/>
                  </a:ext>
                </a:extLst>
              </a:tr>
              <a:tr h="361422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96.77%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solidFill>
                      <a:srgbClr val="F9E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069720"/>
                  </a:ext>
                </a:extLst>
              </a:tr>
            </a:tbl>
          </a:graphicData>
        </a:graphic>
      </p:graphicFrame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443181" y="40123"/>
            <a:ext cx="10323946" cy="1126837"/>
          </a:xfrm>
        </p:spPr>
        <p:txBody>
          <a:bodyPr>
            <a:noAutofit/>
          </a:bodyPr>
          <a:lstStyle/>
          <a:p>
            <a:r>
              <a:rPr lang="en-AU" sz="3200" b="1" dirty="0"/>
              <a:t>Topic: Deseasonalising Data</a:t>
            </a:r>
            <a:br>
              <a:rPr lang="en-AU" sz="3200" b="1" dirty="0"/>
            </a:br>
            <a:r>
              <a:rPr lang="en-AU" sz="3200" b="1" dirty="0"/>
              <a:t>EQ: How do I deseasonalise data?</a:t>
            </a:r>
          </a:p>
        </p:txBody>
      </p:sp>
    </p:spTree>
    <p:extLst>
      <p:ext uri="{BB962C8B-B14F-4D97-AF65-F5344CB8AC3E}">
        <p14:creationId xmlns:p14="http://schemas.microsoft.com/office/powerpoint/2010/main" val="12268279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11559" y="0"/>
            <a:ext cx="83127" cy="6858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91497"/>
            <a:ext cx="12192000" cy="101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122049" y="1317634"/>
            <a:ext cx="9164787" cy="1637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b="1" dirty="0"/>
              <a:t>Step 2:</a:t>
            </a:r>
          </a:p>
          <a:p>
            <a:pPr marL="0" indent="0">
              <a:buNone/>
            </a:pPr>
            <a:r>
              <a:rPr lang="en-AU" sz="2400" dirty="0"/>
              <a:t>In the first four months of 2011 the data shows that the seasonal effect is a 24% increase. In order to deseasonalise the data we need to divide by the seasonal index for that point: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44963" y="2835563"/>
          <a:ext cx="9922164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694">
                  <a:extLst>
                    <a:ext uri="{9D8B030D-6E8A-4147-A177-3AD203B41FA5}">
                      <a16:colId xmlns:a16="http://schemas.microsoft.com/office/drawing/2014/main" val="1626909018"/>
                    </a:ext>
                  </a:extLst>
                </a:gridCol>
                <a:gridCol w="1653694">
                  <a:extLst>
                    <a:ext uri="{9D8B030D-6E8A-4147-A177-3AD203B41FA5}">
                      <a16:colId xmlns:a16="http://schemas.microsoft.com/office/drawing/2014/main" val="2220313509"/>
                    </a:ext>
                  </a:extLst>
                </a:gridCol>
                <a:gridCol w="1653694">
                  <a:extLst>
                    <a:ext uri="{9D8B030D-6E8A-4147-A177-3AD203B41FA5}">
                      <a16:colId xmlns:a16="http://schemas.microsoft.com/office/drawing/2014/main" val="3175036937"/>
                    </a:ext>
                  </a:extLst>
                </a:gridCol>
                <a:gridCol w="1653694">
                  <a:extLst>
                    <a:ext uri="{9D8B030D-6E8A-4147-A177-3AD203B41FA5}">
                      <a16:colId xmlns:a16="http://schemas.microsoft.com/office/drawing/2014/main" val="2280906936"/>
                    </a:ext>
                  </a:extLst>
                </a:gridCol>
                <a:gridCol w="1653694">
                  <a:extLst>
                    <a:ext uri="{9D8B030D-6E8A-4147-A177-3AD203B41FA5}">
                      <a16:colId xmlns:a16="http://schemas.microsoft.com/office/drawing/2014/main" val="1510031728"/>
                    </a:ext>
                  </a:extLst>
                </a:gridCol>
                <a:gridCol w="1653694">
                  <a:extLst>
                    <a:ext uri="{9D8B030D-6E8A-4147-A177-3AD203B41FA5}">
                      <a16:colId xmlns:a16="http://schemas.microsoft.com/office/drawing/2014/main" val="1310323266"/>
                    </a:ext>
                  </a:extLst>
                </a:gridCol>
              </a:tblGrid>
              <a:tr h="632489">
                <a:tc>
                  <a:txBody>
                    <a:bodyPr/>
                    <a:lstStyle/>
                    <a:p>
                      <a:r>
                        <a:rPr lang="en-AU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Time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Visitors</a:t>
                      </a:r>
                      <a:r>
                        <a:rPr lang="en-AU" baseline="0" dirty="0"/>
                        <a:t> (thousands)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Mean</a:t>
                      </a:r>
                      <a:r>
                        <a:rPr lang="en-AU" baseline="0" dirty="0"/>
                        <a:t> for the year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% of 4 month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Deseasonalised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727991"/>
                  </a:ext>
                </a:extLst>
              </a:tr>
              <a:tr h="361422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45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128.57%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45 ÷ 1.24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882779"/>
                  </a:ext>
                </a:extLst>
              </a:tr>
              <a:tr h="361422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74.29%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 ÷ 0.79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117089"/>
                  </a:ext>
                </a:extLst>
              </a:tr>
              <a:tr h="361422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97.14%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34 ÷ 0.97</a:t>
                      </a:r>
                    </a:p>
                  </a:txBody>
                  <a:tcPr anchor="ctr">
                    <a:solidFill>
                      <a:srgbClr val="F9E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935309"/>
                  </a:ext>
                </a:extLst>
              </a:tr>
              <a:tr h="361422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52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43.667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119.08%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52 ÷ 1.24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839297"/>
                  </a:ext>
                </a:extLst>
              </a:tr>
              <a:tr h="361422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84.73%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37 ÷ 0.79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884505"/>
                  </a:ext>
                </a:extLst>
              </a:tr>
              <a:tr h="361422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96.18%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42 ÷ 0.97</a:t>
                      </a:r>
                    </a:p>
                  </a:txBody>
                  <a:tcPr anchor="ctr">
                    <a:solidFill>
                      <a:srgbClr val="F9E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644202"/>
                  </a:ext>
                </a:extLst>
              </a:tr>
              <a:tr h="361422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64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51.667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123.87%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64 ÷ 1.24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577358"/>
                  </a:ext>
                </a:extLst>
              </a:tr>
              <a:tr h="361422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79.35%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41 ÷ 0.79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886207"/>
                  </a:ext>
                </a:extLst>
              </a:tr>
              <a:tr h="361422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96.77%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50 ÷ 0.97</a:t>
                      </a:r>
                    </a:p>
                  </a:txBody>
                  <a:tcPr anchor="ctr">
                    <a:solidFill>
                      <a:srgbClr val="F9E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069720"/>
                  </a:ext>
                </a:extLst>
              </a:tr>
            </a:tbl>
          </a:graphicData>
        </a:graphic>
      </p:graphicFrame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443181" y="40123"/>
            <a:ext cx="10323946" cy="1126837"/>
          </a:xfrm>
        </p:spPr>
        <p:txBody>
          <a:bodyPr>
            <a:noAutofit/>
          </a:bodyPr>
          <a:lstStyle/>
          <a:p>
            <a:r>
              <a:rPr lang="en-AU" sz="3200" b="1" dirty="0"/>
              <a:t>Topic: Deseasonalising Data</a:t>
            </a:r>
            <a:br>
              <a:rPr lang="en-AU" sz="3200" b="1" dirty="0"/>
            </a:br>
            <a:r>
              <a:rPr lang="en-AU" sz="3200" b="1" dirty="0"/>
              <a:t>EQ: How do I deseasonalise data?</a:t>
            </a:r>
          </a:p>
        </p:txBody>
      </p:sp>
    </p:spTree>
    <p:extLst>
      <p:ext uri="{BB962C8B-B14F-4D97-AF65-F5344CB8AC3E}">
        <p14:creationId xmlns:p14="http://schemas.microsoft.com/office/powerpoint/2010/main" val="17928437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11559" y="0"/>
            <a:ext cx="83127" cy="6858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91497"/>
            <a:ext cx="12192000" cy="101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131286" y="1539616"/>
            <a:ext cx="8656785" cy="1637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In the first four months of 2011 the data shows a seasonal effect of 28.57% increase. In order to deseasonalise the data we need to divide by the seasonal index for that season: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44962" y="2669322"/>
          <a:ext cx="992216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694">
                  <a:extLst>
                    <a:ext uri="{9D8B030D-6E8A-4147-A177-3AD203B41FA5}">
                      <a16:colId xmlns:a16="http://schemas.microsoft.com/office/drawing/2014/main" val="1626909018"/>
                    </a:ext>
                  </a:extLst>
                </a:gridCol>
                <a:gridCol w="1653694">
                  <a:extLst>
                    <a:ext uri="{9D8B030D-6E8A-4147-A177-3AD203B41FA5}">
                      <a16:colId xmlns:a16="http://schemas.microsoft.com/office/drawing/2014/main" val="2220313509"/>
                    </a:ext>
                  </a:extLst>
                </a:gridCol>
                <a:gridCol w="1653694">
                  <a:extLst>
                    <a:ext uri="{9D8B030D-6E8A-4147-A177-3AD203B41FA5}">
                      <a16:colId xmlns:a16="http://schemas.microsoft.com/office/drawing/2014/main" val="3175036937"/>
                    </a:ext>
                  </a:extLst>
                </a:gridCol>
                <a:gridCol w="1653694">
                  <a:extLst>
                    <a:ext uri="{9D8B030D-6E8A-4147-A177-3AD203B41FA5}">
                      <a16:colId xmlns:a16="http://schemas.microsoft.com/office/drawing/2014/main" val="2280906936"/>
                    </a:ext>
                  </a:extLst>
                </a:gridCol>
                <a:gridCol w="1653694">
                  <a:extLst>
                    <a:ext uri="{9D8B030D-6E8A-4147-A177-3AD203B41FA5}">
                      <a16:colId xmlns:a16="http://schemas.microsoft.com/office/drawing/2014/main" val="1510031728"/>
                    </a:ext>
                  </a:extLst>
                </a:gridCol>
                <a:gridCol w="1653694">
                  <a:extLst>
                    <a:ext uri="{9D8B030D-6E8A-4147-A177-3AD203B41FA5}">
                      <a16:colId xmlns:a16="http://schemas.microsoft.com/office/drawing/2014/main" val="1310323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Time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Visitors</a:t>
                      </a:r>
                      <a:r>
                        <a:rPr lang="en-AU" baseline="0" dirty="0"/>
                        <a:t> (thousands)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Mean</a:t>
                      </a:r>
                      <a:r>
                        <a:rPr lang="en-AU" baseline="0" dirty="0"/>
                        <a:t> for the year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% of 4 month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Deseasonalised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72799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45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128.57%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88277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26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74.29%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11708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97.14%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293530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52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43.667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119.08%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98392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84.73%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58845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96.18%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64420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  <a:r>
                        <a:rPr lang="en-AU" baseline="30000" dirty="0"/>
                        <a:t>st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64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AU" dirty="0"/>
                        <a:t>51.667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123.87%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5773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79.35%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8862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  <a:r>
                        <a:rPr lang="en-AU" baseline="30000" dirty="0"/>
                        <a:t>rd</a:t>
                      </a:r>
                      <a:r>
                        <a:rPr lang="en-AU" dirty="0"/>
                        <a:t> 4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96.77%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069720"/>
                  </a:ext>
                </a:extLst>
              </a:tr>
            </a:tbl>
          </a:graphicData>
        </a:graphic>
      </p:graphicFrame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443181" y="40123"/>
            <a:ext cx="10323946" cy="1126837"/>
          </a:xfrm>
        </p:spPr>
        <p:txBody>
          <a:bodyPr>
            <a:noAutofit/>
          </a:bodyPr>
          <a:lstStyle/>
          <a:p>
            <a:r>
              <a:rPr lang="en-AU" sz="3200" b="1" dirty="0"/>
              <a:t>Topic: Deseasonalising Data</a:t>
            </a:r>
            <a:br>
              <a:rPr lang="en-AU" sz="3200" b="1" dirty="0"/>
            </a:br>
            <a:r>
              <a:rPr lang="en-AU" sz="3200" b="1" dirty="0"/>
              <a:t>EQ: How do I deseasonalise data?</a:t>
            </a:r>
          </a:p>
        </p:txBody>
      </p:sp>
    </p:spTree>
    <p:extLst>
      <p:ext uri="{BB962C8B-B14F-4D97-AF65-F5344CB8AC3E}">
        <p14:creationId xmlns:p14="http://schemas.microsoft.com/office/powerpoint/2010/main" val="22941221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11559" y="0"/>
            <a:ext cx="83127" cy="6858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0" y="1191497"/>
            <a:ext cx="12192000" cy="101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923529" y="1440873"/>
            <a:ext cx="8129926" cy="5273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AU" sz="2400" b="1" dirty="0"/>
              <a:t>Making predictions:</a:t>
            </a:r>
          </a:p>
          <a:p>
            <a:pPr marL="0" indent="0">
              <a:buNone/>
            </a:pPr>
            <a:r>
              <a:rPr lang="en-AU" sz="2400" dirty="0"/>
              <a:t>Now that we have the deseasonalised data we can use </a:t>
            </a:r>
            <a:r>
              <a:rPr lang="en-AU" sz="2400" dirty="0">
                <a:solidFill>
                  <a:srgbClr val="FF0000"/>
                </a:solidFill>
              </a:rPr>
              <a:t>linear regression</a:t>
            </a:r>
            <a:r>
              <a:rPr lang="en-AU" sz="2400" dirty="0"/>
              <a:t> to determine a line of best fit.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U" sz="2400" dirty="0"/>
              <a:t> However any prediction made using the equation for the line of best fit we be a deseasonalised value. For these predictions to be “real-life values” we need to factor back in the seasonal effect.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 err="1"/>
              <a:t>Eg</a:t>
            </a:r>
            <a:r>
              <a:rPr lang="en-AU" sz="2400" dirty="0"/>
              <a:t>:</a:t>
            </a:r>
          </a:p>
          <a:p>
            <a:pPr marL="0" indent="0">
              <a:buNone/>
            </a:pPr>
            <a:r>
              <a:rPr lang="en-AU" sz="2400" dirty="0"/>
              <a:t>The predicted value for the 10</a:t>
            </a:r>
            <a:r>
              <a:rPr lang="en-AU" sz="2400" baseline="30000" dirty="0"/>
              <a:t>th</a:t>
            </a:r>
            <a:r>
              <a:rPr lang="en-AU" sz="2400" dirty="0"/>
              <a:t> data point = </a:t>
            </a:r>
            <a:r>
              <a:rPr lang="en-AU" sz="2400" dirty="0">
                <a:solidFill>
                  <a:srgbClr val="0070C0"/>
                </a:solidFill>
              </a:rPr>
              <a:t>2.167(10) + 35.5 = 57.17</a:t>
            </a:r>
          </a:p>
          <a:p>
            <a:pPr marL="0" indent="0">
              <a:buNone/>
            </a:pPr>
            <a:r>
              <a:rPr lang="en-AU" sz="2400" dirty="0"/>
              <a:t>The 10</a:t>
            </a:r>
            <a:r>
              <a:rPr lang="en-AU" sz="2400" baseline="30000" dirty="0"/>
              <a:t>th</a:t>
            </a:r>
            <a:r>
              <a:rPr lang="en-AU" sz="2400" dirty="0"/>
              <a:t> point would be in the 1</a:t>
            </a:r>
            <a:r>
              <a:rPr lang="en-AU" sz="2400" baseline="30000" dirty="0"/>
              <a:t>st</a:t>
            </a:r>
            <a:r>
              <a:rPr lang="en-AU" sz="2400" dirty="0"/>
              <a:t> season with a seasonal index of 124%</a:t>
            </a:r>
          </a:p>
          <a:p>
            <a:pPr marL="0" indent="0">
              <a:buNone/>
            </a:pPr>
            <a:r>
              <a:rPr lang="en-AU" sz="2400" dirty="0">
                <a:solidFill>
                  <a:srgbClr val="0070C0"/>
                </a:solidFill>
              </a:rPr>
              <a:t>57.17 x 1.24 = 70.89</a:t>
            </a:r>
          </a:p>
          <a:p>
            <a:pPr marL="0" indent="0">
              <a:buNone/>
            </a:pPr>
            <a:r>
              <a:rPr lang="en-AU" sz="2400" dirty="0">
                <a:solidFill>
                  <a:srgbClr val="7030A0"/>
                </a:solidFill>
              </a:rPr>
              <a:t>Predicted value x seasonal index = Real prediction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443181" y="1775171"/>
          <a:ext cx="2408766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124">
                  <a:extLst>
                    <a:ext uri="{9D8B030D-6E8A-4147-A177-3AD203B41FA5}">
                      <a16:colId xmlns:a16="http://schemas.microsoft.com/office/drawing/2014/main" val="1162154702"/>
                    </a:ext>
                  </a:extLst>
                </a:gridCol>
                <a:gridCol w="1651642">
                  <a:extLst>
                    <a:ext uri="{9D8B030D-6E8A-4147-A177-3AD203B41FA5}">
                      <a16:colId xmlns:a16="http://schemas.microsoft.com/office/drawing/2014/main" val="1310323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Deseasonalised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727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882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117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2935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9839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5884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644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577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886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069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277038"/>
                  </a:ext>
                </a:extLst>
              </a:tr>
            </a:tbl>
          </a:graphicData>
        </a:graphic>
      </p:graphicFrame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443181" y="40123"/>
            <a:ext cx="10323946" cy="1126837"/>
          </a:xfrm>
        </p:spPr>
        <p:txBody>
          <a:bodyPr>
            <a:noAutofit/>
          </a:bodyPr>
          <a:lstStyle/>
          <a:p>
            <a:r>
              <a:rPr lang="en-AU" sz="3200" b="1" dirty="0"/>
              <a:t>Topic: Deseasonalising Data</a:t>
            </a:r>
            <a:br>
              <a:rPr lang="en-AU" sz="3200" b="1" dirty="0"/>
            </a:br>
            <a:r>
              <a:rPr lang="en-AU" sz="3200" b="1" dirty="0"/>
              <a:t>EQ: How do I deseasonalise data?</a:t>
            </a:r>
          </a:p>
        </p:txBody>
      </p:sp>
    </p:spTree>
    <p:extLst>
      <p:ext uri="{BB962C8B-B14F-4D97-AF65-F5344CB8AC3E}">
        <p14:creationId xmlns:p14="http://schemas.microsoft.com/office/powerpoint/2010/main" val="33030048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D4483D-AE6D-40AA-A5B0-FD4E82736E16}"/>
              </a:ext>
            </a:extLst>
          </p:cNvPr>
          <p:cNvSpPr txBox="1"/>
          <p:nvPr/>
        </p:nvSpPr>
        <p:spPr>
          <a:xfrm>
            <a:off x="2618913" y="878889"/>
            <a:ext cx="61348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/>
              <a:t>Complete exercise 2D please</a:t>
            </a:r>
          </a:p>
        </p:txBody>
      </p:sp>
    </p:spTree>
    <p:extLst>
      <p:ext uri="{BB962C8B-B14F-4D97-AF65-F5344CB8AC3E}">
        <p14:creationId xmlns:p14="http://schemas.microsoft.com/office/powerpoint/2010/main" val="29771413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7A4-B677-4516-9631-9025CEFEC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Extra Work: Please complete the following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37BDE-7F64-40E3-8AF0-E7E333DDA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dirty="0"/>
              <a:t>KLUP Unit 4 Chapter 1 Review Exercise</a:t>
            </a:r>
          </a:p>
        </p:txBody>
      </p:sp>
    </p:spTree>
    <p:extLst>
      <p:ext uri="{BB962C8B-B14F-4D97-AF65-F5344CB8AC3E}">
        <p14:creationId xmlns:p14="http://schemas.microsoft.com/office/powerpoint/2010/main" val="380046941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CE8E9-414A-471D-90B1-CB1135CC8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" y="365125"/>
            <a:ext cx="11887200" cy="1325563"/>
          </a:xfrm>
        </p:spPr>
        <p:txBody>
          <a:bodyPr/>
          <a:lstStyle/>
          <a:p>
            <a:pPr algn="ctr"/>
            <a:r>
              <a:rPr lang="en-AU" dirty="0"/>
              <a:t>Congratulations on finishing </a:t>
            </a:r>
            <a:r>
              <a:rPr lang="en-AU"/>
              <a:t>Time Series notes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00E08-D85B-46A3-B359-AAEB43F67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34625" cy="435133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Make sure you are using your WACE study guide for exam style question practice.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68827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2293</TotalTime>
  <Words>3796</Words>
  <Application>Microsoft Macintosh PowerPoint</Application>
  <PresentationFormat>Widescreen</PresentationFormat>
  <Paragraphs>953</Paragraphs>
  <Slides>60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Arial</vt:lpstr>
      <vt:lpstr>Calibri</vt:lpstr>
      <vt:lpstr>Calibri Light</vt:lpstr>
      <vt:lpstr>Cambria Math</vt:lpstr>
      <vt:lpstr>Wingdings</vt:lpstr>
      <vt:lpstr>Office Theme</vt:lpstr>
      <vt:lpstr>Time Series</vt:lpstr>
      <vt:lpstr>Contents (Mr Morgan added hyperlinks for your convenience)</vt:lpstr>
      <vt:lpstr>Overarching Syllabus points</vt:lpstr>
      <vt:lpstr>Lesson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Complete Exercise 1A</vt:lpstr>
      <vt:lpstr>Lesson 2</vt:lpstr>
      <vt:lpstr>PowerPoint Presentation</vt:lpstr>
      <vt:lpstr>PowerPoint Presentation</vt:lpstr>
      <vt:lpstr>PowerPoint Presentation</vt:lpstr>
      <vt:lpstr>Complete Klup Exercise 1A</vt:lpstr>
      <vt:lpstr>Well done on completing chapter 1</vt:lpstr>
      <vt:lpstr>Lesson 3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Topic: Moving Averages EQ: How do I use the classpad to calculate moving averages?</vt:lpstr>
      <vt:lpstr>PowerPoint Presentation</vt:lpstr>
      <vt:lpstr>Lesson 4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Lesson 5 </vt:lpstr>
      <vt:lpstr>Topic: Quantifying the Seasonal Effect EQ: How do I calculate seasonal indices?</vt:lpstr>
      <vt:lpstr>Topic: Quantifying the Seasonal Effect EQ: How do I calculate seasonal indices?</vt:lpstr>
      <vt:lpstr>Topic: Quantifying the Seasonal Effect EQ: How do I calculate seasonal indices?</vt:lpstr>
      <vt:lpstr>Topic: Quantifying the Seasonal Effect EQ: How do I calculate seasonal indices?</vt:lpstr>
      <vt:lpstr>Topic: Quantifying the Seasonal Effect EQ: How do I calculate seasonal indices?</vt:lpstr>
      <vt:lpstr>Topic: Quantifying the Seasonal Effect EQ: How do I calculate seasonal indices?</vt:lpstr>
      <vt:lpstr>Topic: Quantifying the Seasonal Effect EQ: How do I calculate seasonal indices?</vt:lpstr>
      <vt:lpstr>Topic: Quantifying the Seasonal Effect EQ: How do I calculate seasonal indices?</vt:lpstr>
      <vt:lpstr>Topic: Quantifying the Seasonal Effect EQ: How do I calculate seasonal indices?</vt:lpstr>
      <vt:lpstr>Topic: Quantifying the Seasonal Effect EQ: How do I calculate seasonal indices?</vt:lpstr>
      <vt:lpstr>Topic: Seasonal Indices EQ: How do I use the classpad to calculate Seasonal Indices?</vt:lpstr>
      <vt:lpstr>For more classpad help use the following URLs</vt:lpstr>
      <vt:lpstr>Complete exercise 2C please</vt:lpstr>
      <vt:lpstr>Lesson 6 </vt:lpstr>
      <vt:lpstr>Topic: Deseasonalising Data EQ: How do I deseasonalise data?</vt:lpstr>
      <vt:lpstr>Topic: Deseasonalising Data EQ: How do I deseasonalise data?</vt:lpstr>
      <vt:lpstr>Topic: Deseasonalising Data EQ: How do I deseasonalise data?</vt:lpstr>
      <vt:lpstr>Topic: Deseasonalising Data EQ: How do I deseasonalise data?</vt:lpstr>
      <vt:lpstr>Topic: Deseasonalising Data EQ: How do I deseasonalise data?</vt:lpstr>
      <vt:lpstr>Topic: Deseasonalising Data EQ: How do I deseasonalise data?</vt:lpstr>
      <vt:lpstr>Topic: Deseasonalising Data EQ: How do I deseasonalise data?</vt:lpstr>
      <vt:lpstr>PowerPoint Presentation</vt:lpstr>
      <vt:lpstr>Extra Work: Please complete the following</vt:lpstr>
      <vt:lpstr>Congratulations on finishing Time Series 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Bivariate Data</dc:title>
  <dc:creator>MORGAN Adam [Baldivis Secondary College]</dc:creator>
  <cp:lastModifiedBy>SUMMERS Brad [Baldivis Secondary College]</cp:lastModifiedBy>
  <cp:revision>87</cp:revision>
  <dcterms:created xsi:type="dcterms:W3CDTF">2021-10-20T03:51:49Z</dcterms:created>
  <dcterms:modified xsi:type="dcterms:W3CDTF">2021-12-08T07:27:11Z</dcterms:modified>
</cp:coreProperties>
</file>
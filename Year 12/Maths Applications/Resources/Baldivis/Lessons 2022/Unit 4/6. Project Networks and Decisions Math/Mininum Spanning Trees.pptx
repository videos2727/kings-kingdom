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8" r:id="rId5"/>
    <p:sldId id="295" r:id="rId6"/>
    <p:sldId id="345" r:id="rId7"/>
    <p:sldId id="341" r:id="rId8"/>
    <p:sldId id="342" r:id="rId9"/>
    <p:sldId id="263" r:id="rId10"/>
    <p:sldId id="257" r:id="rId11"/>
    <p:sldId id="343" r:id="rId12"/>
    <p:sldId id="322" r:id="rId13"/>
    <p:sldId id="319" r:id="rId14"/>
    <p:sldId id="346" r:id="rId15"/>
    <p:sldId id="347" r:id="rId16"/>
    <p:sldId id="349" r:id="rId17"/>
    <p:sldId id="35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8" autoAdjust="0"/>
    <p:restoredTop sz="94745"/>
  </p:normalViewPr>
  <p:slideViewPr>
    <p:cSldViewPr snapToGrid="0">
      <p:cViewPr varScale="1">
        <p:scale>
          <a:sx n="106" d="100"/>
          <a:sy n="106" d="100"/>
        </p:scale>
        <p:origin x="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8/31/20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8/31/20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8/31/20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Minimum Spanning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I find a Minimum Spanning Tree from a network already drawn?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network already drawn?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41882C6-C985-DC47-9813-272181D4C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network already drawn?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03268875-C151-8F4A-887C-CBD5AAA9E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29" y="1988425"/>
            <a:ext cx="6017655" cy="2346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1B48F5-816E-4942-A18B-D589C95A6421}"/>
              </a:ext>
            </a:extLst>
          </p:cNvPr>
          <p:cNvSpPr txBox="1"/>
          <p:nvPr/>
        </p:nvSpPr>
        <p:spPr>
          <a:xfrm>
            <a:off x="6415735" y="1988425"/>
            <a:ext cx="5550343" cy="2346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network on the left shows the roads that exist between 9 towns, A to I, with the numbers indicating the distances between them, in kms. The water authority would like to connect these towns to the water main, using the existing roads.</a:t>
            </a:r>
          </a:p>
        </p:txBody>
      </p:sp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4C429F56-11E9-2443-84A0-54CB328E6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340" y="4579374"/>
            <a:ext cx="6017655" cy="214066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E4BDEA2-9202-CD4F-8C7B-23FB7565C850}"/>
              </a:ext>
            </a:extLst>
          </p:cNvPr>
          <p:cNvSpPr txBox="1"/>
          <p:nvPr/>
        </p:nvSpPr>
        <p:spPr>
          <a:xfrm>
            <a:off x="252248" y="4675665"/>
            <a:ext cx="4954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not the same as finding the shortest route from A to I, shown on the right, because it doesn’t connect up all of the towns.</a:t>
            </a:r>
          </a:p>
        </p:txBody>
      </p:sp>
    </p:spTree>
    <p:extLst>
      <p:ext uri="{BB962C8B-B14F-4D97-AF65-F5344CB8AC3E}">
        <p14:creationId xmlns:p14="http://schemas.microsoft.com/office/powerpoint/2010/main" val="20070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41882C6-C985-DC47-9813-272181D4C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network already drawn?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B48F5-816E-4942-A18B-D589C95A6421}"/>
              </a:ext>
            </a:extLst>
          </p:cNvPr>
          <p:cNvSpPr txBox="1"/>
          <p:nvPr/>
        </p:nvSpPr>
        <p:spPr>
          <a:xfrm>
            <a:off x="6415735" y="1988425"/>
            <a:ext cx="5550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Instead we need to find a system that includes all the farms but which has no </a:t>
            </a:r>
            <a:r>
              <a:rPr lang="en-US" sz="2400" dirty="0" err="1"/>
              <a:t>unneccesary</a:t>
            </a:r>
            <a:r>
              <a:rPr lang="en-US" sz="2400" dirty="0"/>
              <a:t> connections. What we need is a </a:t>
            </a:r>
            <a:r>
              <a:rPr lang="en-US" sz="2400" b="1" dirty="0"/>
              <a:t>minimum spanning tree </a:t>
            </a:r>
            <a:r>
              <a:rPr lang="en-US" sz="2400" dirty="0"/>
              <a:t>for this network.</a:t>
            </a: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8058C5A9-9B23-FB4D-9A34-33C00C13C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82" y="2042846"/>
            <a:ext cx="5527894" cy="2040056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3603BF5D-6121-3044-B819-2DEAC24A5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58" y="4313949"/>
            <a:ext cx="9805045" cy="2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1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41882C6-C985-DC47-9813-272181D4C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network already drawn?</a:t>
            </a:r>
          </a:p>
        </p:txBody>
      </p:sp>
      <p:pic>
        <p:nvPicPr>
          <p:cNvPr id="4" name="Picture 3" descr="A picture containing map, text&#10;&#10;Description automatically generated">
            <a:extLst>
              <a:ext uri="{FF2B5EF4-FFF2-40B4-BE49-F238E27FC236}">
                <a16:creationId xmlns:a16="http://schemas.microsoft.com/office/drawing/2014/main" id="{3C4483C7-8522-E94B-9595-39DD3C2EF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01" y="2063578"/>
            <a:ext cx="11347598" cy="424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3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43DD098-915C-BF4A-A09C-5411F94AB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0927" y="407620"/>
            <a:ext cx="9628632" cy="1362113"/>
          </a:xfrm>
        </p:spPr>
        <p:txBody>
          <a:bodyPr>
            <a:normAutofit/>
          </a:bodyPr>
          <a:lstStyle/>
          <a:p>
            <a:r>
              <a:rPr lang="en-GB" altLang="en-US" sz="4400" b="1" dirty="0">
                <a:solidFill>
                  <a:schemeClr val="bg2"/>
                </a:solidFill>
              </a:rPr>
              <a:t>Prim’s Algorithm</a:t>
            </a:r>
            <a:endParaRPr lang="en-US" altLang="en-US" sz="4400" b="1" dirty="0">
              <a:solidFill>
                <a:schemeClr val="bg2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C6160F0-BA9C-7141-A357-4A0BBFA98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0927" y="2105637"/>
            <a:ext cx="11454328" cy="407704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altLang="en-US" sz="2400" dirty="0"/>
              <a:t>Thankfully, there are two set of steps we can follow so we don’t have to use trial and error. One is called Prim’s Algorithm. The steps are: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dirty="0"/>
          </a:p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chemeClr val="accent2"/>
                </a:solidFill>
              </a:rPr>
              <a:t>You can start at any vertex, but will usually be told a starting vertex</a:t>
            </a:r>
          </a:p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chemeClr val="hlink"/>
                </a:solidFill>
              </a:rPr>
              <a:t>Add in the shortest edge connected to this</a:t>
            </a:r>
          </a:p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rgbClr val="990033"/>
                </a:solidFill>
              </a:rPr>
              <a:t>Now add in the shortest edge connected to </a:t>
            </a:r>
            <a:r>
              <a:rPr lang="en-GB" altLang="en-US" sz="2400" b="1" dirty="0">
                <a:solidFill>
                  <a:srgbClr val="990033"/>
                </a:solidFill>
              </a:rPr>
              <a:t>either node </a:t>
            </a:r>
            <a:r>
              <a:rPr lang="en-GB" altLang="en-US" sz="2400" dirty="0">
                <a:solidFill>
                  <a:srgbClr val="990033"/>
                </a:solidFill>
              </a:rPr>
              <a:t>as long as it connects to a </a:t>
            </a:r>
            <a:r>
              <a:rPr lang="en-GB" altLang="en-US" sz="2400" b="1" u="sng" dirty="0">
                <a:solidFill>
                  <a:srgbClr val="990033"/>
                </a:solidFill>
              </a:rPr>
              <a:t>new</a:t>
            </a:r>
            <a:r>
              <a:rPr lang="en-GB" altLang="en-US" sz="2400" dirty="0">
                <a:solidFill>
                  <a:srgbClr val="990033"/>
                </a:solidFill>
              </a:rPr>
              <a:t> vertex</a:t>
            </a:r>
          </a:p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rgbClr val="660066"/>
                </a:solidFill>
              </a:rPr>
              <a:t>Continue until you have visited </a:t>
            </a:r>
            <a:r>
              <a:rPr lang="en-GB" altLang="en-US" sz="2400">
                <a:solidFill>
                  <a:srgbClr val="660066"/>
                </a:solidFill>
              </a:rPr>
              <a:t>all vertices</a:t>
            </a:r>
            <a:endParaRPr lang="en-US" altLang="en-US" sz="2400" dirty="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13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Line 5">
            <a:extLst>
              <a:ext uri="{FF2B5EF4-FFF2-40B4-BE49-F238E27FC236}">
                <a16:creationId xmlns:a16="http://schemas.microsoft.com/office/drawing/2014/main" id="{2243D5D4-0932-4D45-A352-C4D24D5146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45788" y="2760262"/>
            <a:ext cx="1439862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Line 6">
            <a:extLst>
              <a:ext uri="{FF2B5EF4-FFF2-40B4-BE49-F238E27FC236}">
                <a16:creationId xmlns:a16="http://schemas.microsoft.com/office/drawing/2014/main" id="{E23B8039-F29C-2045-B0B6-913B3A69A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5788" y="4560486"/>
            <a:ext cx="23034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" name="Line 7">
            <a:extLst>
              <a:ext uri="{FF2B5EF4-FFF2-40B4-BE49-F238E27FC236}">
                <a16:creationId xmlns:a16="http://schemas.microsoft.com/office/drawing/2014/main" id="{AE342F99-30BD-9B4D-812F-B02875546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5788" y="4560486"/>
            <a:ext cx="1223962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" name="Line 8">
            <a:extLst>
              <a:ext uri="{FF2B5EF4-FFF2-40B4-BE49-F238E27FC236}">
                <a16:creationId xmlns:a16="http://schemas.microsoft.com/office/drawing/2014/main" id="{1EA3B605-03A1-1543-AA81-DDC6CAAB33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9750" y="4776386"/>
            <a:ext cx="10795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" name="Line 9">
            <a:extLst>
              <a:ext uri="{FF2B5EF4-FFF2-40B4-BE49-F238E27FC236}">
                <a16:creationId xmlns:a16="http://schemas.microsoft.com/office/drawing/2014/main" id="{3F26ACEA-0C65-DE4F-89BD-6B9C57C33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5650" y="2760262"/>
            <a:ext cx="86360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" name="Line 10">
            <a:extLst>
              <a:ext uri="{FF2B5EF4-FFF2-40B4-BE49-F238E27FC236}">
                <a16:creationId xmlns:a16="http://schemas.microsoft.com/office/drawing/2014/main" id="{A72B3966-338A-734C-9E86-A9FBFB8F6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5650" y="2760261"/>
            <a:ext cx="2592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" name="Line 11">
            <a:extLst>
              <a:ext uri="{FF2B5EF4-FFF2-40B4-BE49-F238E27FC236}">
                <a16:creationId xmlns:a16="http://schemas.microsoft.com/office/drawing/2014/main" id="{6311C04C-F817-E34F-8588-20BEB46908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49250" y="2760262"/>
            <a:ext cx="1728788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26A22F87-D70D-144C-B1CF-0C2A1015FA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9751" y="5063724"/>
            <a:ext cx="3313113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" name="Line 13">
            <a:extLst>
              <a:ext uri="{FF2B5EF4-FFF2-40B4-BE49-F238E27FC236}">
                <a16:creationId xmlns:a16="http://schemas.microsoft.com/office/drawing/2014/main" id="{456F4350-D036-0846-B0FF-5E60CC109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8039" y="2760262"/>
            <a:ext cx="504825" cy="2303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" name="Line 14">
            <a:extLst>
              <a:ext uri="{FF2B5EF4-FFF2-40B4-BE49-F238E27FC236}">
                <a16:creationId xmlns:a16="http://schemas.microsoft.com/office/drawing/2014/main" id="{58D0E54C-E67E-544E-B6CD-71F53DC9E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8039" y="2760261"/>
            <a:ext cx="1800225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Line 15">
            <a:extLst>
              <a:ext uri="{FF2B5EF4-FFF2-40B4-BE49-F238E27FC236}">
                <a16:creationId xmlns:a16="http://schemas.microsoft.com/office/drawing/2014/main" id="{71C12C32-DF9F-E84B-9864-7C223A3D0C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2863" y="3263500"/>
            <a:ext cx="1295400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" name="Text Box 17">
            <a:extLst>
              <a:ext uri="{FF2B5EF4-FFF2-40B4-BE49-F238E27FC236}">
                <a16:creationId xmlns:a16="http://schemas.microsoft.com/office/drawing/2014/main" id="{F8AE79BC-CD09-7A44-8B10-854BAEAA5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788" y="4362050"/>
            <a:ext cx="3706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A</a:t>
            </a:r>
          </a:p>
        </p:txBody>
      </p:sp>
      <p:sp>
        <p:nvSpPr>
          <p:cNvPr id="3090" name="Text Box 18">
            <a:extLst>
              <a:ext uri="{FF2B5EF4-FFF2-40B4-BE49-F238E27FC236}">
                <a16:creationId xmlns:a16="http://schemas.microsoft.com/office/drawing/2014/main" id="{E197496A-D799-2245-8F66-8ED3A98BC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313" y="2328462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B</a:t>
            </a:r>
          </a:p>
        </p:txBody>
      </p:sp>
      <p:sp>
        <p:nvSpPr>
          <p:cNvPr id="3091" name="Text Box 19">
            <a:extLst>
              <a:ext uri="{FF2B5EF4-FFF2-40B4-BE49-F238E27FC236}">
                <a16:creationId xmlns:a16="http://schemas.microsoft.com/office/drawing/2014/main" id="{31598694-A694-814D-BD33-0AADA3775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850" y="6144812"/>
            <a:ext cx="3481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C</a:t>
            </a:r>
          </a:p>
        </p:txBody>
      </p:sp>
      <p:sp>
        <p:nvSpPr>
          <p:cNvPr id="3092" name="Text Box 20">
            <a:extLst>
              <a:ext uri="{FF2B5EF4-FFF2-40B4-BE49-F238E27FC236}">
                <a16:creationId xmlns:a16="http://schemas.microsoft.com/office/drawing/2014/main" id="{85758D4A-7C46-0E44-A629-2DD27404A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7813" y="4631925"/>
            <a:ext cx="3786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D</a:t>
            </a:r>
          </a:p>
        </p:txBody>
      </p:sp>
      <p:sp>
        <p:nvSpPr>
          <p:cNvPr id="3093" name="Text Box 21">
            <a:extLst>
              <a:ext uri="{FF2B5EF4-FFF2-40B4-BE49-F238E27FC236}">
                <a16:creationId xmlns:a16="http://schemas.microsoft.com/office/drawing/2014/main" id="{F723AD3E-8259-4B4E-9B2A-A21A2E868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364" y="2345925"/>
            <a:ext cx="3353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 sz="2400" b="1"/>
              <a:t>E</a:t>
            </a:r>
          </a:p>
        </p:txBody>
      </p:sp>
      <p:sp>
        <p:nvSpPr>
          <p:cNvPr id="3094" name="Text Box 22">
            <a:extLst>
              <a:ext uri="{FF2B5EF4-FFF2-40B4-BE49-F238E27FC236}">
                <a16:creationId xmlns:a16="http://schemas.microsoft.com/office/drawing/2014/main" id="{5F9C9401-D321-364D-9953-1115842D4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0788" y="5082775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F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6E644135-5A15-AC42-82D3-A81CC5333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7625" y="3066650"/>
            <a:ext cx="3802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G</a:t>
            </a:r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C413FFC1-9062-F142-8AFD-DEE069627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025" y="3401611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12</a:t>
            </a:r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7086D4CD-56E8-9244-B38E-AA293DDAE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263" y="4265211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15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187B320E-F967-E84C-8B8A-6EFB55504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025" y="5273274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8</a:t>
            </a:r>
          </a:p>
        </p:txBody>
      </p:sp>
      <p:sp>
        <p:nvSpPr>
          <p:cNvPr id="3099" name="Text Box 27">
            <a:extLst>
              <a:ext uri="{FF2B5EF4-FFF2-40B4-BE49-F238E27FC236}">
                <a16:creationId xmlns:a16="http://schemas.microsoft.com/office/drawing/2014/main" id="{6F6C3019-5672-6249-9F5B-24B1897C2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025" y="2393549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7</a:t>
            </a:r>
          </a:p>
        </p:txBody>
      </p:sp>
      <p:sp>
        <p:nvSpPr>
          <p:cNvPr id="3101" name="Text Box 29">
            <a:extLst>
              <a:ext uri="{FF2B5EF4-FFF2-40B4-BE49-F238E27FC236}">
                <a16:creationId xmlns:a16="http://schemas.microsoft.com/office/drawing/2014/main" id="{76791060-B4FB-6042-9DFA-6B0C0DEEC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0288" y="3904849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11</a:t>
            </a:r>
          </a:p>
        </p:txBody>
      </p:sp>
      <p:sp>
        <p:nvSpPr>
          <p:cNvPr id="3102" name="Text Box 30">
            <a:extLst>
              <a:ext uri="{FF2B5EF4-FFF2-40B4-BE49-F238E27FC236}">
                <a16:creationId xmlns:a16="http://schemas.microsoft.com/office/drawing/2014/main" id="{54A83106-A68B-3B42-8267-03EC52F61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8988" y="5201836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19</a:t>
            </a:r>
          </a:p>
        </p:txBody>
      </p:sp>
      <p:sp>
        <p:nvSpPr>
          <p:cNvPr id="3103" name="Text Box 31">
            <a:extLst>
              <a:ext uri="{FF2B5EF4-FFF2-40B4-BE49-F238E27FC236}">
                <a16:creationId xmlns:a16="http://schemas.microsoft.com/office/drawing/2014/main" id="{85319B3A-26B8-354A-801C-C489C0D36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925" y="5705074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10</a:t>
            </a:r>
          </a:p>
        </p:txBody>
      </p:sp>
      <p:sp>
        <p:nvSpPr>
          <p:cNvPr id="3104" name="Text Box 32">
            <a:extLst>
              <a:ext uri="{FF2B5EF4-FFF2-40B4-BE49-F238E27FC236}">
                <a16:creationId xmlns:a16="http://schemas.microsoft.com/office/drawing/2014/main" id="{49027AF3-2BCD-4C45-9377-3310CD2A3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275" y="361751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9</a:t>
            </a:r>
          </a:p>
        </p:txBody>
      </p:sp>
      <p:sp>
        <p:nvSpPr>
          <p:cNvPr id="3105" name="Text Box 33">
            <a:extLst>
              <a:ext uri="{FF2B5EF4-FFF2-40B4-BE49-F238E27FC236}">
                <a16:creationId xmlns:a16="http://schemas.microsoft.com/office/drawing/2014/main" id="{AFD0281B-9189-3D4E-BA76-134F4F2A2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075" y="2609449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18</a:t>
            </a:r>
          </a:p>
        </p:txBody>
      </p:sp>
      <p:sp>
        <p:nvSpPr>
          <p:cNvPr id="3106" name="Text Box 34">
            <a:extLst>
              <a:ext uri="{FF2B5EF4-FFF2-40B4-BE49-F238E27FC236}">
                <a16:creationId xmlns:a16="http://schemas.microsoft.com/office/drawing/2014/main" id="{A230A0D5-3ACB-2B47-A3B9-556025A8E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438" y="4265211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13</a:t>
            </a:r>
          </a:p>
        </p:txBody>
      </p:sp>
      <p:sp>
        <p:nvSpPr>
          <p:cNvPr id="3107" name="Rectangle 35">
            <a:extLst>
              <a:ext uri="{FF2B5EF4-FFF2-40B4-BE49-F238E27FC236}">
                <a16:creationId xmlns:a16="http://schemas.microsoft.com/office/drawing/2014/main" id="{8DC190DD-C034-2F48-8420-73D428A7E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3798" y="44989"/>
            <a:ext cx="8229600" cy="1800225"/>
          </a:xfrm>
        </p:spPr>
        <p:txBody>
          <a:bodyPr>
            <a:normAutofit fontScale="90000"/>
          </a:bodyPr>
          <a:lstStyle/>
          <a:p>
            <a:br>
              <a:rPr lang="en-GB" altLang="en-US" sz="4000" b="1" i="1" dirty="0">
                <a:solidFill>
                  <a:schemeClr val="bg2"/>
                </a:solidFill>
              </a:rPr>
            </a:br>
            <a:r>
              <a:rPr lang="en-GB" altLang="en-US" sz="4000" b="1" i="1" dirty="0">
                <a:solidFill>
                  <a:schemeClr val="bg2"/>
                </a:solidFill>
              </a:rPr>
              <a:t>Use Prim’s Algorithm to find a minimum spanning tree, starting from A.</a:t>
            </a:r>
          </a:p>
        </p:txBody>
      </p:sp>
      <p:sp>
        <p:nvSpPr>
          <p:cNvPr id="3109" name="Text Box 37">
            <a:extLst>
              <a:ext uri="{FF2B5EF4-FFF2-40B4-BE49-F238E27FC236}">
                <a16:creationId xmlns:a16="http://schemas.microsoft.com/office/drawing/2014/main" id="{D2321437-5962-F948-ACA3-7726F070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350" y="3473049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24091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Line 5">
            <a:extLst>
              <a:ext uri="{FF2B5EF4-FFF2-40B4-BE49-F238E27FC236}">
                <a16:creationId xmlns:a16="http://schemas.microsoft.com/office/drawing/2014/main" id="{D7549B04-E59F-9E4D-8E7F-9E7AF9B9D2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0504" y="2294157"/>
            <a:ext cx="1439862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6" name="Line 6">
            <a:extLst>
              <a:ext uri="{FF2B5EF4-FFF2-40B4-BE49-F238E27FC236}">
                <a16:creationId xmlns:a16="http://schemas.microsoft.com/office/drawing/2014/main" id="{9F1E0671-423D-E243-9C74-6FC89AB41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0504" y="4094381"/>
            <a:ext cx="23034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7" name="Line 7">
            <a:extLst>
              <a:ext uri="{FF2B5EF4-FFF2-40B4-BE49-F238E27FC236}">
                <a16:creationId xmlns:a16="http://schemas.microsoft.com/office/drawing/2014/main" id="{79BFC4B1-42B2-D146-9500-AB612C67D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0504" y="4094381"/>
            <a:ext cx="1223962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" name="Line 8">
            <a:extLst>
              <a:ext uri="{FF2B5EF4-FFF2-40B4-BE49-F238E27FC236}">
                <a16:creationId xmlns:a16="http://schemas.microsoft.com/office/drawing/2014/main" id="{83013EAF-6EF9-024C-B5F3-412F5CB731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4466" y="4310281"/>
            <a:ext cx="10795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" name="Line 9">
            <a:extLst>
              <a:ext uri="{FF2B5EF4-FFF2-40B4-BE49-F238E27FC236}">
                <a16:creationId xmlns:a16="http://schemas.microsoft.com/office/drawing/2014/main" id="{E2679C0A-B72B-C347-A650-74951DE89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366" y="2294157"/>
            <a:ext cx="86360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Line 10">
            <a:extLst>
              <a:ext uri="{FF2B5EF4-FFF2-40B4-BE49-F238E27FC236}">
                <a16:creationId xmlns:a16="http://schemas.microsoft.com/office/drawing/2014/main" id="{9CCC1A54-DF02-EA47-AFDE-963C33C96E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366" y="2294156"/>
            <a:ext cx="2592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" name="Line 11">
            <a:extLst>
              <a:ext uri="{FF2B5EF4-FFF2-40B4-BE49-F238E27FC236}">
                <a16:creationId xmlns:a16="http://schemas.microsoft.com/office/drawing/2014/main" id="{6D1EFFC5-015E-F848-8E51-4FF524A461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3966" y="2294157"/>
            <a:ext cx="1728788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" name="Line 12">
            <a:extLst>
              <a:ext uri="{FF2B5EF4-FFF2-40B4-BE49-F238E27FC236}">
                <a16:creationId xmlns:a16="http://schemas.microsoft.com/office/drawing/2014/main" id="{C4ACDD5B-E253-1D40-858F-534D0CCFB4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4467" y="4597619"/>
            <a:ext cx="3313113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3" name="Line 13">
            <a:extLst>
              <a:ext uri="{FF2B5EF4-FFF2-40B4-BE49-F238E27FC236}">
                <a16:creationId xmlns:a16="http://schemas.microsoft.com/office/drawing/2014/main" id="{4FE00D5F-5F17-AA4B-92C9-E1042BC69E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2755" y="2294157"/>
            <a:ext cx="504825" cy="2303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4" name="Line 14">
            <a:extLst>
              <a:ext uri="{FF2B5EF4-FFF2-40B4-BE49-F238E27FC236}">
                <a16:creationId xmlns:a16="http://schemas.microsoft.com/office/drawing/2014/main" id="{B67863AA-2080-7240-A1C6-250908032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2755" y="2294156"/>
            <a:ext cx="1800225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5" name="Line 15">
            <a:extLst>
              <a:ext uri="{FF2B5EF4-FFF2-40B4-BE49-F238E27FC236}">
                <a16:creationId xmlns:a16="http://schemas.microsoft.com/office/drawing/2014/main" id="{BB59A93F-C4AB-2D4B-8E54-F07DFA57F1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7579" y="2797395"/>
            <a:ext cx="1295400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6" name="Text Box 16">
            <a:extLst>
              <a:ext uri="{FF2B5EF4-FFF2-40B4-BE49-F238E27FC236}">
                <a16:creationId xmlns:a16="http://schemas.microsoft.com/office/drawing/2014/main" id="{CD844137-9BB9-1341-B6DA-D070A4098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504" y="3895945"/>
            <a:ext cx="3706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A</a:t>
            </a:r>
          </a:p>
        </p:txBody>
      </p:sp>
      <p:sp>
        <p:nvSpPr>
          <p:cNvPr id="5137" name="Text Box 17">
            <a:extLst>
              <a:ext uri="{FF2B5EF4-FFF2-40B4-BE49-F238E27FC236}">
                <a16:creationId xmlns:a16="http://schemas.microsoft.com/office/drawing/2014/main" id="{A313989C-30AF-F149-83D1-CD8B9B40C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029" y="1862357"/>
            <a:ext cx="357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B</a:t>
            </a:r>
          </a:p>
        </p:txBody>
      </p:sp>
      <p:sp>
        <p:nvSpPr>
          <p:cNvPr id="5138" name="Text Box 18">
            <a:extLst>
              <a:ext uri="{FF2B5EF4-FFF2-40B4-BE49-F238E27FC236}">
                <a16:creationId xmlns:a16="http://schemas.microsoft.com/office/drawing/2014/main" id="{F6E04600-1EAB-9144-BA08-824F1BD13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071" y="5513263"/>
            <a:ext cx="4758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400" b="1"/>
              <a:t>C</a:t>
            </a:r>
          </a:p>
        </p:txBody>
      </p:sp>
      <p:sp>
        <p:nvSpPr>
          <p:cNvPr id="5139" name="Text Box 19">
            <a:extLst>
              <a:ext uri="{FF2B5EF4-FFF2-40B4-BE49-F238E27FC236}">
                <a16:creationId xmlns:a16="http://schemas.microsoft.com/office/drawing/2014/main" id="{D24144DE-9151-614B-AC21-A77F8EA6F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529" y="4165820"/>
            <a:ext cx="3786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D</a:t>
            </a:r>
          </a:p>
        </p:txBody>
      </p:sp>
      <p:sp>
        <p:nvSpPr>
          <p:cNvPr id="5140" name="Text Box 20">
            <a:extLst>
              <a:ext uri="{FF2B5EF4-FFF2-40B4-BE49-F238E27FC236}">
                <a16:creationId xmlns:a16="http://schemas.microsoft.com/office/drawing/2014/main" id="{8F1F7297-92A2-1940-851B-A2505DD8D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080" y="1879820"/>
            <a:ext cx="3353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 sz="2400" b="1"/>
              <a:t>E</a:t>
            </a:r>
          </a:p>
        </p:txBody>
      </p:sp>
      <p:sp>
        <p:nvSpPr>
          <p:cNvPr id="5141" name="Text Box 21">
            <a:extLst>
              <a:ext uri="{FF2B5EF4-FFF2-40B4-BE49-F238E27FC236}">
                <a16:creationId xmlns:a16="http://schemas.microsoft.com/office/drawing/2014/main" id="{CE28B31E-EFBE-7341-BF6F-3D9285270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504" y="4616670"/>
            <a:ext cx="325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F</a:t>
            </a:r>
          </a:p>
        </p:txBody>
      </p:sp>
      <p:sp>
        <p:nvSpPr>
          <p:cNvPr id="5142" name="Text Box 22">
            <a:extLst>
              <a:ext uri="{FF2B5EF4-FFF2-40B4-BE49-F238E27FC236}">
                <a16:creationId xmlns:a16="http://schemas.microsoft.com/office/drawing/2014/main" id="{791A09CB-1E6C-CC4A-A336-EEACDB44A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341" y="2600545"/>
            <a:ext cx="3802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b="1"/>
              <a:t>G</a:t>
            </a:r>
          </a:p>
        </p:txBody>
      </p:sp>
      <p:sp>
        <p:nvSpPr>
          <p:cNvPr id="5143" name="Text Box 23">
            <a:extLst>
              <a:ext uri="{FF2B5EF4-FFF2-40B4-BE49-F238E27FC236}">
                <a16:creationId xmlns:a16="http://schemas.microsoft.com/office/drawing/2014/main" id="{F3DEC224-C24E-A042-BAAE-2BB6B9A36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741" y="2935506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12</a:t>
            </a:r>
          </a:p>
        </p:txBody>
      </p:sp>
      <p:sp>
        <p:nvSpPr>
          <p:cNvPr id="5144" name="Text Box 24">
            <a:extLst>
              <a:ext uri="{FF2B5EF4-FFF2-40B4-BE49-F238E27FC236}">
                <a16:creationId xmlns:a16="http://schemas.microsoft.com/office/drawing/2014/main" id="{E32E2A67-9279-F042-9C9D-3790DECD6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979" y="3799106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15</a:t>
            </a:r>
          </a:p>
        </p:txBody>
      </p:sp>
      <p:sp>
        <p:nvSpPr>
          <p:cNvPr id="5145" name="Text Box 25">
            <a:extLst>
              <a:ext uri="{FF2B5EF4-FFF2-40B4-BE49-F238E27FC236}">
                <a16:creationId xmlns:a16="http://schemas.microsoft.com/office/drawing/2014/main" id="{7CAE83A1-DE63-5E4F-9A48-E4AD6AE83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741" y="4807169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8</a:t>
            </a:r>
          </a:p>
        </p:txBody>
      </p:sp>
      <p:sp>
        <p:nvSpPr>
          <p:cNvPr id="5146" name="Text Box 26">
            <a:extLst>
              <a:ext uri="{FF2B5EF4-FFF2-40B4-BE49-F238E27FC236}">
                <a16:creationId xmlns:a16="http://schemas.microsoft.com/office/drawing/2014/main" id="{85DE0379-763D-6344-A125-18E859C66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741" y="1927444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7</a:t>
            </a:r>
          </a:p>
        </p:txBody>
      </p:sp>
      <p:sp>
        <p:nvSpPr>
          <p:cNvPr id="5147" name="Text Box 27">
            <a:extLst>
              <a:ext uri="{FF2B5EF4-FFF2-40B4-BE49-F238E27FC236}">
                <a16:creationId xmlns:a16="http://schemas.microsoft.com/office/drawing/2014/main" id="{054738AA-3AA1-D048-A574-0787E0F21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5004" y="3438744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11</a:t>
            </a:r>
          </a:p>
        </p:txBody>
      </p:sp>
      <p:sp>
        <p:nvSpPr>
          <p:cNvPr id="5148" name="Text Box 28">
            <a:extLst>
              <a:ext uri="{FF2B5EF4-FFF2-40B4-BE49-F238E27FC236}">
                <a16:creationId xmlns:a16="http://schemas.microsoft.com/office/drawing/2014/main" id="{1804061C-6E50-0345-90E5-AB0D8FBEB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3704" y="4735731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19</a:t>
            </a:r>
          </a:p>
        </p:txBody>
      </p:sp>
      <p:sp>
        <p:nvSpPr>
          <p:cNvPr id="5149" name="Text Box 29">
            <a:extLst>
              <a:ext uri="{FF2B5EF4-FFF2-40B4-BE49-F238E27FC236}">
                <a16:creationId xmlns:a16="http://schemas.microsoft.com/office/drawing/2014/main" id="{C373A533-3365-A04B-8226-F258080E2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641" y="5238969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10</a:t>
            </a:r>
          </a:p>
        </p:txBody>
      </p:sp>
      <p:sp>
        <p:nvSpPr>
          <p:cNvPr id="5150" name="Text Box 30">
            <a:extLst>
              <a:ext uri="{FF2B5EF4-FFF2-40B4-BE49-F238E27FC236}">
                <a16:creationId xmlns:a16="http://schemas.microsoft.com/office/drawing/2014/main" id="{796A9B75-237A-EE40-96C7-8EA999737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991" y="315140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9</a:t>
            </a:r>
          </a:p>
        </p:txBody>
      </p:sp>
      <p:sp>
        <p:nvSpPr>
          <p:cNvPr id="5151" name="Text Box 31">
            <a:extLst>
              <a:ext uri="{FF2B5EF4-FFF2-40B4-BE49-F238E27FC236}">
                <a16:creationId xmlns:a16="http://schemas.microsoft.com/office/drawing/2014/main" id="{F9DCE434-8C7B-474A-BC4D-62BB03DE2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791" y="2143344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18</a:t>
            </a:r>
          </a:p>
        </p:txBody>
      </p:sp>
      <p:sp>
        <p:nvSpPr>
          <p:cNvPr id="5152" name="Text Box 32">
            <a:extLst>
              <a:ext uri="{FF2B5EF4-FFF2-40B4-BE49-F238E27FC236}">
                <a16:creationId xmlns:a16="http://schemas.microsoft.com/office/drawing/2014/main" id="{F9F9EB88-6A20-2245-8020-76CFF7275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4154" y="3799106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13</a:t>
            </a:r>
          </a:p>
        </p:txBody>
      </p:sp>
      <p:sp>
        <p:nvSpPr>
          <p:cNvPr id="5155" name="Line 35">
            <a:extLst>
              <a:ext uri="{FF2B5EF4-FFF2-40B4-BE49-F238E27FC236}">
                <a16:creationId xmlns:a16="http://schemas.microsoft.com/office/drawing/2014/main" id="{464B1D85-BF2C-4C4A-93B1-68DCB8D53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1454" y="4067394"/>
            <a:ext cx="1223962" cy="15113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8" name="Line 38">
            <a:extLst>
              <a:ext uri="{FF2B5EF4-FFF2-40B4-BE49-F238E27FC236}">
                <a16:creationId xmlns:a16="http://schemas.microsoft.com/office/drawing/2014/main" id="{4C36367D-0C82-F349-8EB9-2F5091F84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1316" y="2267169"/>
            <a:ext cx="2592388" cy="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9" name="Line 39">
            <a:extLst>
              <a:ext uri="{FF2B5EF4-FFF2-40B4-BE49-F238E27FC236}">
                <a16:creationId xmlns:a16="http://schemas.microsoft.com/office/drawing/2014/main" id="{8BDD6C5E-5A87-EF43-84CB-97A31D3FB3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84916" y="2267170"/>
            <a:ext cx="1728788" cy="2016125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0" name="Line 40">
            <a:extLst>
              <a:ext uri="{FF2B5EF4-FFF2-40B4-BE49-F238E27FC236}">
                <a16:creationId xmlns:a16="http://schemas.microsoft.com/office/drawing/2014/main" id="{AFCA29F9-0475-F34B-BC22-D2385523B5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5417" y="4570632"/>
            <a:ext cx="3313113" cy="1008063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1" name="Line 41">
            <a:extLst>
              <a:ext uri="{FF2B5EF4-FFF2-40B4-BE49-F238E27FC236}">
                <a16:creationId xmlns:a16="http://schemas.microsoft.com/office/drawing/2014/main" id="{597F7DB6-5BE4-0540-8D2A-B491CA0D1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3705" y="2267169"/>
            <a:ext cx="504825" cy="230346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3" name="Line 43">
            <a:extLst>
              <a:ext uri="{FF2B5EF4-FFF2-40B4-BE49-F238E27FC236}">
                <a16:creationId xmlns:a16="http://schemas.microsoft.com/office/drawing/2014/main" id="{E3723B9F-39F3-7245-9233-3DF61B2535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6941" y="2770407"/>
            <a:ext cx="1295400" cy="1800225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81" name="Text Box 61">
            <a:extLst>
              <a:ext uri="{FF2B5EF4-FFF2-40B4-BE49-F238E27FC236}">
                <a16:creationId xmlns:a16="http://schemas.microsoft.com/office/drawing/2014/main" id="{6F3A4E96-EDCE-1B4A-ABAC-ACC36E8C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4066" y="3006944"/>
            <a:ext cx="418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21</a:t>
            </a:r>
          </a:p>
        </p:txBody>
      </p:sp>
      <p:sp>
        <p:nvSpPr>
          <p:cNvPr id="5182" name="Rectangle 62">
            <a:extLst>
              <a:ext uri="{FF2B5EF4-FFF2-40B4-BE49-F238E27FC236}">
                <a16:creationId xmlns:a16="http://schemas.microsoft.com/office/drawing/2014/main" id="{F5742B64-34D6-694E-BF61-8BD9CB3AA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745" y="5399308"/>
            <a:ext cx="11247366" cy="1511300"/>
          </a:xfrm>
          <a:noFill/>
          <a:ln/>
        </p:spPr>
        <p:txBody>
          <a:bodyPr>
            <a:normAutofit/>
          </a:bodyPr>
          <a:lstStyle/>
          <a:p>
            <a:r>
              <a:rPr lang="en-GB" altLang="en-US" sz="4000" dirty="0">
                <a:solidFill>
                  <a:srgbClr val="FF0000"/>
                </a:solidFill>
              </a:rPr>
              <a:t>Write down the lines in the order you choose them.</a:t>
            </a:r>
          </a:p>
        </p:txBody>
      </p:sp>
      <p:sp>
        <p:nvSpPr>
          <p:cNvPr id="5183" name="Text Box 63">
            <a:extLst>
              <a:ext uri="{FF2B5EF4-FFF2-40B4-BE49-F238E27FC236}">
                <a16:creationId xmlns:a16="http://schemas.microsoft.com/office/drawing/2014/main" id="{31FF3211-2509-5941-A9DB-52CC6EF9A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134" y="6314479"/>
            <a:ext cx="8052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800" b="1">
                <a:solidFill>
                  <a:schemeClr val="accent2"/>
                </a:solidFill>
              </a:rPr>
              <a:t>AC</a:t>
            </a:r>
          </a:p>
        </p:txBody>
      </p:sp>
      <p:sp>
        <p:nvSpPr>
          <p:cNvPr id="5184" name="Text Box 64">
            <a:extLst>
              <a:ext uri="{FF2B5EF4-FFF2-40B4-BE49-F238E27FC236}">
                <a16:creationId xmlns:a16="http://schemas.microsoft.com/office/drawing/2014/main" id="{09BAF701-C815-5540-AB07-ACAC155E0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9661" y="6314479"/>
            <a:ext cx="7387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800" b="1">
                <a:solidFill>
                  <a:schemeClr val="accent2"/>
                </a:solidFill>
              </a:rPr>
              <a:t>CF</a:t>
            </a:r>
          </a:p>
        </p:txBody>
      </p:sp>
      <p:sp>
        <p:nvSpPr>
          <p:cNvPr id="5185" name="Text Box 65">
            <a:extLst>
              <a:ext uri="{FF2B5EF4-FFF2-40B4-BE49-F238E27FC236}">
                <a16:creationId xmlns:a16="http://schemas.microsoft.com/office/drawing/2014/main" id="{83D9F7F2-F78B-5E4A-BD2D-67A4F5C79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161" y="6314479"/>
            <a:ext cx="7168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800" b="1">
                <a:solidFill>
                  <a:schemeClr val="accent2"/>
                </a:solidFill>
              </a:rPr>
              <a:t>FE</a:t>
            </a:r>
          </a:p>
        </p:txBody>
      </p:sp>
      <p:sp>
        <p:nvSpPr>
          <p:cNvPr id="5186" name="Text Box 66">
            <a:extLst>
              <a:ext uri="{FF2B5EF4-FFF2-40B4-BE49-F238E27FC236}">
                <a16:creationId xmlns:a16="http://schemas.microsoft.com/office/drawing/2014/main" id="{D6B0164B-B36F-2241-8FD0-ABA081C50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246" y="6314479"/>
            <a:ext cx="767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800" b="1">
                <a:solidFill>
                  <a:schemeClr val="accent2"/>
                </a:solidFill>
              </a:rPr>
              <a:t>EB</a:t>
            </a:r>
          </a:p>
        </p:txBody>
      </p:sp>
      <p:sp>
        <p:nvSpPr>
          <p:cNvPr id="5187" name="Text Box 67">
            <a:extLst>
              <a:ext uri="{FF2B5EF4-FFF2-40B4-BE49-F238E27FC236}">
                <a16:creationId xmlns:a16="http://schemas.microsoft.com/office/drawing/2014/main" id="{EDBE5773-E8A1-594C-A911-FFBDA93D7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748" y="6314479"/>
            <a:ext cx="8000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800" b="1">
                <a:solidFill>
                  <a:schemeClr val="accent2"/>
                </a:solidFill>
              </a:rPr>
              <a:t>ED</a:t>
            </a:r>
          </a:p>
        </p:txBody>
      </p:sp>
      <p:sp>
        <p:nvSpPr>
          <p:cNvPr id="5188" name="Text Box 68">
            <a:extLst>
              <a:ext uri="{FF2B5EF4-FFF2-40B4-BE49-F238E27FC236}">
                <a16:creationId xmlns:a16="http://schemas.microsoft.com/office/drawing/2014/main" id="{3AD17958-8E8C-3C44-96CE-985EAF827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246" y="6314479"/>
            <a:ext cx="787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800" b="1">
                <a:solidFill>
                  <a:schemeClr val="accent2"/>
                </a:solidFill>
              </a:rPr>
              <a:t>FG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54735-76D6-F843-90F2-C1B3F5239F38}"/>
              </a:ext>
            </a:extLst>
          </p:cNvPr>
          <p:cNvSpPr txBox="1"/>
          <p:nvPr/>
        </p:nvSpPr>
        <p:spPr>
          <a:xfrm>
            <a:off x="6832495" y="4597619"/>
            <a:ext cx="2234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Why did we not choose AB instead of FG?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E7E0B-17EE-EF47-9077-2ED16660F896}"/>
              </a:ext>
            </a:extLst>
          </p:cNvPr>
          <p:cNvSpPr txBox="1"/>
          <p:nvPr/>
        </p:nvSpPr>
        <p:spPr>
          <a:xfrm>
            <a:off x="9261446" y="2143344"/>
            <a:ext cx="27683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Our MST has a total weight of: 8 + 10+ 9 + 11 + 7 + 13 = 58 units</a:t>
            </a:r>
          </a:p>
        </p:txBody>
      </p:sp>
    </p:spTree>
    <p:extLst>
      <p:ext uri="{BB962C8B-B14F-4D97-AF65-F5344CB8AC3E}">
        <p14:creationId xmlns:p14="http://schemas.microsoft.com/office/powerpoint/2010/main" val="307855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autoRev="1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autoRev="1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autoRev="1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autoRev="1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autoRev="1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autoRev="1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1" dur="500" autoRev="1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autoRev="1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autoRev="1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autoRev="1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autoRev="1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autoRev="1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71" dur="500" autoRev="1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500" autoRev="1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500" autoRev="1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86" dur="500" autoRev="1" fill="hold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7" dur="500" autoRev="1" fill="hold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8" dur="500" autoRev="1" fill="hold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5" grpId="0"/>
      <p:bldP spid="5146" grpId="0"/>
      <p:bldP spid="5147" grpId="0"/>
      <p:bldP spid="5149" grpId="0"/>
      <p:bldP spid="5150" grpId="0"/>
      <p:bldP spid="5152" grpId="0"/>
      <p:bldP spid="5182" grpId="0" animBg="1"/>
      <p:bldP spid="5183" grpId="0"/>
      <p:bldP spid="5184" grpId="0"/>
      <p:bldP spid="5185" grpId="0"/>
      <p:bldP spid="5186" grpId="0"/>
      <p:bldP spid="5187" grpId="0"/>
      <p:bldP spid="5188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3946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Sadler Chapter 5A</a:t>
            </a:r>
          </a:p>
          <a:p>
            <a:endParaRPr lang="en-US" sz="3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8C3D60-1117-344E-914F-97AFB589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B48F5-816E-4942-A18B-D589C95A6421}"/>
              </a:ext>
            </a:extLst>
          </p:cNvPr>
          <p:cNvSpPr txBox="1"/>
          <p:nvPr/>
        </p:nvSpPr>
        <p:spPr>
          <a:xfrm>
            <a:off x="5580520" y="2105039"/>
            <a:ext cx="5550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the table of distances on the right, which is the one from the last question.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BDEA2-9202-CD4F-8C7B-23FB7565C850}"/>
              </a:ext>
            </a:extLst>
          </p:cNvPr>
          <p:cNvSpPr txBox="1"/>
          <p:nvPr/>
        </p:nvSpPr>
        <p:spPr>
          <a:xfrm>
            <a:off x="252248" y="4675665"/>
            <a:ext cx="65455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While we can start from any vertex, we choose to start at A.</a:t>
            </a:r>
          </a:p>
          <a:p>
            <a:r>
              <a:rPr lang="en-US" sz="2400" dirty="0"/>
              <a:t>With A </a:t>
            </a:r>
            <a:r>
              <a:rPr lang="en-US" sz="2400" i="1" dirty="0"/>
              <a:t>on line</a:t>
            </a:r>
            <a:r>
              <a:rPr lang="en-US" sz="2400" dirty="0"/>
              <a:t>, we look down column A to see which is the shortest connection that can be made from A. in this case it is the 300km connection from town E.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D1A3840-EE29-9F4F-93F7-1337AC99CF70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table?</a:t>
            </a:r>
          </a:p>
        </p:txBody>
      </p:sp>
      <p:pic>
        <p:nvPicPr>
          <p:cNvPr id="7" name="Picture 6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358CC6BA-9B1E-264E-931A-096C6E578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38" y="1967714"/>
            <a:ext cx="4019615" cy="2707951"/>
          </a:xfrm>
          <a:prstGeom prst="rect">
            <a:avLst/>
          </a:prstGeom>
        </p:spPr>
      </p:pic>
      <p:pic>
        <p:nvPicPr>
          <p:cNvPr id="10" name="Picture 9" descr="A close up of a device&#10;&#10;Description automatically generated">
            <a:extLst>
              <a:ext uri="{FF2B5EF4-FFF2-40B4-BE49-F238E27FC236}">
                <a16:creationId xmlns:a16="http://schemas.microsoft.com/office/drawing/2014/main" id="{0A34329C-103F-FA42-A4EE-8BCD61F39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528" y="3618952"/>
            <a:ext cx="4233445" cy="306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B48F5-816E-4942-A18B-D589C95A6421}"/>
              </a:ext>
            </a:extLst>
          </p:cNvPr>
          <p:cNvSpPr txBox="1"/>
          <p:nvPr/>
        </p:nvSpPr>
        <p:spPr>
          <a:xfrm>
            <a:off x="5207170" y="1988425"/>
            <a:ext cx="67209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Having chosen to look down the </a:t>
            </a:r>
            <a:r>
              <a:rPr lang="en-US" sz="2400" b="1" i="1" dirty="0"/>
              <a:t>A column</a:t>
            </a:r>
            <a:r>
              <a:rPr lang="en-US" sz="2400" b="1" dirty="0"/>
              <a:t> </a:t>
            </a:r>
            <a:r>
              <a:rPr lang="en-US" sz="2400" dirty="0"/>
              <a:t>for a connection from A, we then rule a line through the </a:t>
            </a:r>
            <a:r>
              <a:rPr lang="en-US" sz="2400" b="1" i="1" dirty="0"/>
              <a:t>A row</a:t>
            </a:r>
            <a:r>
              <a:rPr lang="en-US" sz="2400" dirty="0"/>
              <a:t>. We do this to ensure that we do not later make an unnecessary connection back to A.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BDEA2-9202-CD4F-8C7B-23FB7565C850}"/>
              </a:ext>
            </a:extLst>
          </p:cNvPr>
          <p:cNvSpPr txBox="1"/>
          <p:nvPr/>
        </p:nvSpPr>
        <p:spPr>
          <a:xfrm>
            <a:off x="252248" y="5018263"/>
            <a:ext cx="6780319" cy="158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Having selected the 300km connection to vertex E, we now have both A and E </a:t>
            </a:r>
            <a:r>
              <a:rPr lang="en-US" sz="2400" i="1" dirty="0"/>
              <a:t>on line</a:t>
            </a:r>
            <a:r>
              <a:rPr lang="en-US" sz="2400" dirty="0"/>
              <a:t> and indicate this by the arrows at the tops of these columns. Again, we now rule a line through the </a:t>
            </a:r>
            <a:r>
              <a:rPr lang="en-US" sz="2400" b="1" i="1" dirty="0"/>
              <a:t>E row</a:t>
            </a:r>
            <a:r>
              <a:rPr lang="en-US" sz="2400" dirty="0"/>
              <a:t>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D1A3840-EE29-9F4F-93F7-1337AC99CF70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table?</a:t>
            </a: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5B19AAF-259F-FA43-848C-A189BC626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39" y="1965482"/>
            <a:ext cx="4159471" cy="2927035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D7670A6B-A9F2-0541-8DF0-A2C2A7D01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071" y="3618952"/>
            <a:ext cx="4626230" cy="323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6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B48F5-816E-4942-A18B-D589C95A6421}"/>
              </a:ext>
            </a:extLst>
          </p:cNvPr>
          <p:cNvSpPr txBox="1"/>
          <p:nvPr/>
        </p:nvSpPr>
        <p:spPr>
          <a:xfrm>
            <a:off x="5207169" y="1988426"/>
            <a:ext cx="6758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now look down the two on line columns, A and E, and choose the minimum connection that can be made form these two vertices.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BDEA2-9202-CD4F-8C7B-23FB7565C850}"/>
              </a:ext>
            </a:extLst>
          </p:cNvPr>
          <p:cNvSpPr txBox="1"/>
          <p:nvPr/>
        </p:nvSpPr>
        <p:spPr>
          <a:xfrm>
            <a:off x="273743" y="5280170"/>
            <a:ext cx="4954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gives us the 310km road from A to C. This brings vertex C on line and we rule a line through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D1A3840-EE29-9F4F-93F7-1337AC99CF70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table?</a:t>
            </a: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2CDA148E-4448-8842-830F-6F089055F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928" y="3274213"/>
            <a:ext cx="5279279" cy="3565586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932D3A41-EB82-FB4A-A0AC-5FED2D812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10" y="1978083"/>
            <a:ext cx="4338286" cy="302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7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B48F5-816E-4942-A18B-D589C95A6421}"/>
              </a:ext>
            </a:extLst>
          </p:cNvPr>
          <p:cNvSpPr txBox="1"/>
          <p:nvPr/>
        </p:nvSpPr>
        <p:spPr>
          <a:xfrm>
            <a:off x="5207169" y="1988426"/>
            <a:ext cx="6758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now look down our 3 online columns, A, C and E and choose the minimum connection that can be made from one of these three vertices.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BDEA2-9202-CD4F-8C7B-23FB7565C850}"/>
              </a:ext>
            </a:extLst>
          </p:cNvPr>
          <p:cNvSpPr txBox="1"/>
          <p:nvPr/>
        </p:nvSpPr>
        <p:spPr>
          <a:xfrm>
            <a:off x="273743" y="5280170"/>
            <a:ext cx="4954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gives us the 360km road from E to G as our next </a:t>
            </a:r>
            <a:r>
              <a:rPr lang="en-US" sz="2400" dirty="0" err="1"/>
              <a:t>conection</a:t>
            </a:r>
            <a:r>
              <a:rPr lang="en-US" sz="2400" dirty="0"/>
              <a:t>. This brings row G on line and we rule a line through the G row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D1A3840-EE29-9F4F-93F7-1337AC99CF70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table?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16F8506D-2521-2B42-B4CA-196B6B9F2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22" y="1961927"/>
            <a:ext cx="4589738" cy="3140347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974036F8-1AA0-BA41-86B0-6743FE15F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960" y="3181039"/>
            <a:ext cx="5144236" cy="350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1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B48F5-816E-4942-A18B-D589C95A6421}"/>
              </a:ext>
            </a:extLst>
          </p:cNvPr>
          <p:cNvSpPr txBox="1"/>
          <p:nvPr/>
        </p:nvSpPr>
        <p:spPr>
          <a:xfrm>
            <a:off x="5207169" y="1988426"/>
            <a:ext cx="67589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continue this process until all towns are online. The circled items in the table indicate the direct connections that together form the minimum spanning tree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BDEA2-9202-CD4F-8C7B-23FB7565C850}"/>
              </a:ext>
            </a:extLst>
          </p:cNvPr>
          <p:cNvSpPr txBox="1"/>
          <p:nvPr/>
        </p:nvSpPr>
        <p:spPr>
          <a:xfrm>
            <a:off x="273743" y="5280170"/>
            <a:ext cx="4954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From the completed table on the right we see that the roads AC, AE, EF, EG, FB and FD form the MST with a distance of 1890km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D1A3840-EE29-9F4F-93F7-1337AC99CF70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Minimum Spanning Tree</a:t>
            </a:r>
            <a:br>
              <a:rPr lang="en-US" dirty="0"/>
            </a:br>
            <a:r>
              <a:rPr lang="en-US" dirty="0"/>
              <a:t>EQ: How do I find one from a table?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974036F8-1AA0-BA41-86B0-6743FE15F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85" y="1867723"/>
            <a:ext cx="4797790" cy="3266580"/>
          </a:xfrm>
          <a:prstGeom prst="rect">
            <a:avLst/>
          </a:prstGeom>
        </p:spPr>
      </p:pic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75432ACD-6579-4741-94DC-0E2278E4B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636" y="3495538"/>
            <a:ext cx="4797790" cy="341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8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</p:bldLst>
  </p:timing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821</Words>
  <Application>Microsoft Macintosh PowerPoint</Application>
  <PresentationFormat>Widescreen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Education 16x9</vt:lpstr>
      <vt:lpstr>Topic: Minimum Spanning Trees</vt:lpstr>
      <vt:lpstr>Topic: Minimum Spanning Tree EQ: How do I find one from a network already drawn?</vt:lpstr>
      <vt:lpstr>Topic: Minimum Spanning Tree EQ: How do I find one from a network already drawn?</vt:lpstr>
      <vt:lpstr>Topic: Minimum Spanning Tree EQ: How do I find one from a network already drawn?</vt:lpstr>
      <vt:lpstr>Topic: Minimum Spanning Tree EQ: How do I find one from a network already drawn?</vt:lpstr>
      <vt:lpstr>Prim’s Algorithm</vt:lpstr>
      <vt:lpstr> Use Prim’s Algorithm to find a minimum spanning tree, starting from A.</vt:lpstr>
      <vt:lpstr>Write down the lines in the order you choose them.</vt:lpstr>
      <vt:lpstr>Topic: Trigonometry EQ: What are the key trigonometric ratios I need to know?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>2020-08-26T00:25:58Z</cp:lastPrinted>
  <dcterms:created xsi:type="dcterms:W3CDTF">2012-09-21T18:31:34Z</dcterms:created>
  <dcterms:modified xsi:type="dcterms:W3CDTF">2020-08-31T00:42:55Z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

<file path=[Content_Types].xml><?xml version="1.0" encoding="utf-8"?>
<Types xmlns="http://schemas.openxmlformats.org/package/2006/content-types">
  <Default Extension="xml" ContentType="application/xml"/>
  <Default Extension="jpeg" ContentType="image/jpeg"/>
  <Default Extension="rels" ContentType="application/vnd.openxmlformats-package.relationships+xml"/>
  <Default Extension="jpg" ContentType="image/jpeg"/>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61" r:id="rId4"/>
    <p:sldId id="262" r:id="rId5"/>
    <p:sldId id="263" r:id="rId6"/>
    <p:sldId id="264" r:id="rId7"/>
    <p:sldId id="265" r:id="rId8"/>
    <p:sldId id="258" r:id="rId9"/>
    <p:sldId id="266" r:id="rId10"/>
    <p:sldId id="259" r:id="rId11"/>
    <p:sldId id="260"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73" autoAdjust="0"/>
    <p:restoredTop sz="94660"/>
  </p:normalViewPr>
  <p:slideViewPr>
    <p:cSldViewPr snapToGrid="0">
      <p:cViewPr varScale="1">
        <p:scale>
          <a:sx n="100" d="100"/>
          <a:sy n="100" d="100"/>
        </p:scale>
        <p:origin x="440"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4542AD0-4923-441B-9C77-95904B1A5EEA}" type="doc">
      <dgm:prSet loTypeId="urn:microsoft.com/office/officeart/2009/3/layout/HorizontalOrganizationChart" loCatId="hierarchy" qsTypeId="urn:microsoft.com/office/officeart/2005/8/quickstyle/simple2" qsCatId="simple" csTypeId="urn:microsoft.com/office/officeart/2005/8/colors/colorful2" csCatId="colorful"/>
      <dgm:spPr/>
      <dgm:t>
        <a:bodyPr/>
        <a:lstStyle/>
        <a:p>
          <a:endParaRPr lang="en-US"/>
        </a:p>
      </dgm:t>
    </dgm:pt>
    <dgm:pt modelId="{D3A3F76F-3C37-4FBB-9AA3-7065C0BEB00E}">
      <dgm:prSet/>
      <dgm:spPr/>
      <dgm:t>
        <a:bodyPr/>
        <a:lstStyle/>
        <a:p>
          <a:r>
            <a:rPr lang="en-US"/>
            <a:t>From federation Australia’s foreign policy was controlled by the colonial office in London. </a:t>
          </a:r>
        </a:p>
      </dgm:t>
    </dgm:pt>
    <dgm:pt modelId="{8B77049F-C3F0-4F3B-9F13-CE84D43B5298}" type="parTrans" cxnId="{CF85D239-DF56-427B-89F4-9B667A7BD8A3}">
      <dgm:prSet/>
      <dgm:spPr/>
      <dgm:t>
        <a:bodyPr/>
        <a:lstStyle/>
        <a:p>
          <a:endParaRPr lang="en-US"/>
        </a:p>
      </dgm:t>
    </dgm:pt>
    <dgm:pt modelId="{B2FC43E6-B624-4198-9513-E20B77B8BF6A}" type="sibTrans" cxnId="{CF85D239-DF56-427B-89F4-9B667A7BD8A3}">
      <dgm:prSet/>
      <dgm:spPr/>
      <dgm:t>
        <a:bodyPr/>
        <a:lstStyle/>
        <a:p>
          <a:endParaRPr lang="en-US"/>
        </a:p>
      </dgm:t>
    </dgm:pt>
    <dgm:pt modelId="{6926A037-9A00-48E3-B183-D095A039B57C}">
      <dgm:prSet/>
      <dgm:spPr/>
      <dgm:t>
        <a:bodyPr/>
        <a:lstStyle/>
        <a:p>
          <a:r>
            <a:rPr lang="en-US"/>
            <a:t>During the 1920’s and 1930’s Great Britain and Japan were significant to Australia’s foreign relations. </a:t>
          </a:r>
        </a:p>
      </dgm:t>
    </dgm:pt>
    <dgm:pt modelId="{3A0D6265-FFA6-4FA4-B283-77658B2C2508}" type="parTrans" cxnId="{7C54DA30-7D8F-45FD-9A2F-B4E80BE8D0FF}">
      <dgm:prSet/>
      <dgm:spPr/>
      <dgm:t>
        <a:bodyPr/>
        <a:lstStyle/>
        <a:p>
          <a:endParaRPr lang="en-US"/>
        </a:p>
      </dgm:t>
    </dgm:pt>
    <dgm:pt modelId="{539BB9A4-55F9-4A9A-86E6-1BD45E4D2BD0}" type="sibTrans" cxnId="{7C54DA30-7D8F-45FD-9A2F-B4E80BE8D0FF}">
      <dgm:prSet/>
      <dgm:spPr/>
      <dgm:t>
        <a:bodyPr/>
        <a:lstStyle/>
        <a:p>
          <a:endParaRPr lang="en-US"/>
        </a:p>
      </dgm:t>
    </dgm:pt>
    <dgm:pt modelId="{0AE363F7-87C2-2741-99C2-C004077BBF31}" type="pres">
      <dgm:prSet presAssocID="{04542AD0-4923-441B-9C77-95904B1A5EEA}" presName="hierChild1" presStyleCnt="0">
        <dgm:presLayoutVars>
          <dgm:orgChart val="1"/>
          <dgm:chPref val="1"/>
          <dgm:dir/>
          <dgm:animOne val="branch"/>
          <dgm:animLvl val="lvl"/>
          <dgm:resizeHandles/>
        </dgm:presLayoutVars>
      </dgm:prSet>
      <dgm:spPr/>
      <dgm:t>
        <a:bodyPr/>
        <a:lstStyle/>
        <a:p>
          <a:endParaRPr lang="en-US"/>
        </a:p>
      </dgm:t>
    </dgm:pt>
    <dgm:pt modelId="{E1DC584D-5C1A-4C4A-94B7-3BC78B49174F}" type="pres">
      <dgm:prSet presAssocID="{D3A3F76F-3C37-4FBB-9AA3-7065C0BEB00E}" presName="hierRoot1" presStyleCnt="0">
        <dgm:presLayoutVars>
          <dgm:hierBranch val="init"/>
        </dgm:presLayoutVars>
      </dgm:prSet>
      <dgm:spPr/>
    </dgm:pt>
    <dgm:pt modelId="{CEF4D1E0-7518-9444-98B6-897DB1A36BE8}" type="pres">
      <dgm:prSet presAssocID="{D3A3F76F-3C37-4FBB-9AA3-7065C0BEB00E}" presName="rootComposite1" presStyleCnt="0"/>
      <dgm:spPr/>
    </dgm:pt>
    <dgm:pt modelId="{C11E7D4F-684F-E346-9117-2D12C27B57B4}" type="pres">
      <dgm:prSet presAssocID="{D3A3F76F-3C37-4FBB-9AA3-7065C0BEB00E}" presName="rootText1" presStyleLbl="node0" presStyleIdx="0" presStyleCnt="2">
        <dgm:presLayoutVars>
          <dgm:chPref val="3"/>
        </dgm:presLayoutVars>
      </dgm:prSet>
      <dgm:spPr/>
      <dgm:t>
        <a:bodyPr/>
        <a:lstStyle/>
        <a:p>
          <a:endParaRPr lang="en-US"/>
        </a:p>
      </dgm:t>
    </dgm:pt>
    <dgm:pt modelId="{30CD1803-0F81-9440-82BC-3C7DF63774F7}" type="pres">
      <dgm:prSet presAssocID="{D3A3F76F-3C37-4FBB-9AA3-7065C0BEB00E}" presName="rootConnector1" presStyleLbl="node1" presStyleIdx="0" presStyleCnt="0"/>
      <dgm:spPr/>
      <dgm:t>
        <a:bodyPr/>
        <a:lstStyle/>
        <a:p>
          <a:endParaRPr lang="en-US"/>
        </a:p>
      </dgm:t>
    </dgm:pt>
    <dgm:pt modelId="{5690E86E-E5C8-ED4F-AB07-BDE9A99E3B5B}" type="pres">
      <dgm:prSet presAssocID="{D3A3F76F-3C37-4FBB-9AA3-7065C0BEB00E}" presName="hierChild2" presStyleCnt="0"/>
      <dgm:spPr/>
    </dgm:pt>
    <dgm:pt modelId="{3A5B3222-F16F-AB41-B0B7-3F1E925422FF}" type="pres">
      <dgm:prSet presAssocID="{D3A3F76F-3C37-4FBB-9AA3-7065C0BEB00E}" presName="hierChild3" presStyleCnt="0"/>
      <dgm:spPr/>
    </dgm:pt>
    <dgm:pt modelId="{4DE34C91-3F73-AC4B-ABCF-802139BD2AFF}" type="pres">
      <dgm:prSet presAssocID="{6926A037-9A00-48E3-B183-D095A039B57C}" presName="hierRoot1" presStyleCnt="0">
        <dgm:presLayoutVars>
          <dgm:hierBranch val="init"/>
        </dgm:presLayoutVars>
      </dgm:prSet>
      <dgm:spPr/>
    </dgm:pt>
    <dgm:pt modelId="{0189DBDC-B0E0-ED4F-AD9C-F514AA26E05C}" type="pres">
      <dgm:prSet presAssocID="{6926A037-9A00-48E3-B183-D095A039B57C}" presName="rootComposite1" presStyleCnt="0"/>
      <dgm:spPr/>
    </dgm:pt>
    <dgm:pt modelId="{254701B0-C833-F348-81A2-868271234002}" type="pres">
      <dgm:prSet presAssocID="{6926A037-9A00-48E3-B183-D095A039B57C}" presName="rootText1" presStyleLbl="node0" presStyleIdx="1" presStyleCnt="2">
        <dgm:presLayoutVars>
          <dgm:chPref val="3"/>
        </dgm:presLayoutVars>
      </dgm:prSet>
      <dgm:spPr/>
      <dgm:t>
        <a:bodyPr/>
        <a:lstStyle/>
        <a:p>
          <a:endParaRPr lang="en-US"/>
        </a:p>
      </dgm:t>
    </dgm:pt>
    <dgm:pt modelId="{A8B4694C-DEF7-654A-B80E-882B9088B5B1}" type="pres">
      <dgm:prSet presAssocID="{6926A037-9A00-48E3-B183-D095A039B57C}" presName="rootConnector1" presStyleLbl="node1" presStyleIdx="0" presStyleCnt="0"/>
      <dgm:spPr/>
      <dgm:t>
        <a:bodyPr/>
        <a:lstStyle/>
        <a:p>
          <a:endParaRPr lang="en-US"/>
        </a:p>
      </dgm:t>
    </dgm:pt>
    <dgm:pt modelId="{24F62580-49E9-384E-B626-6ACA8BFEFAD4}" type="pres">
      <dgm:prSet presAssocID="{6926A037-9A00-48E3-B183-D095A039B57C}" presName="hierChild2" presStyleCnt="0"/>
      <dgm:spPr/>
    </dgm:pt>
    <dgm:pt modelId="{3DC8838A-A1C4-A648-A5FC-32311C19FB6C}" type="pres">
      <dgm:prSet presAssocID="{6926A037-9A00-48E3-B183-D095A039B57C}" presName="hierChild3" presStyleCnt="0"/>
      <dgm:spPr/>
    </dgm:pt>
  </dgm:ptLst>
  <dgm:cxnLst>
    <dgm:cxn modelId="{7C54DA30-7D8F-45FD-9A2F-B4E80BE8D0FF}" srcId="{04542AD0-4923-441B-9C77-95904B1A5EEA}" destId="{6926A037-9A00-48E3-B183-D095A039B57C}" srcOrd="1" destOrd="0" parTransId="{3A0D6265-FFA6-4FA4-B283-77658B2C2508}" sibTransId="{539BB9A4-55F9-4A9A-86E6-1BD45E4D2BD0}"/>
    <dgm:cxn modelId="{6DFE6D89-224B-1E4F-9550-FDC84E4B58E4}" type="presOf" srcId="{D3A3F76F-3C37-4FBB-9AA3-7065C0BEB00E}" destId="{C11E7D4F-684F-E346-9117-2D12C27B57B4}" srcOrd="0" destOrd="0" presId="urn:microsoft.com/office/officeart/2009/3/layout/HorizontalOrganizationChart"/>
    <dgm:cxn modelId="{14A55D3D-F13E-694C-BCFD-3C36553DE631}" type="presOf" srcId="{D3A3F76F-3C37-4FBB-9AA3-7065C0BEB00E}" destId="{30CD1803-0F81-9440-82BC-3C7DF63774F7}" srcOrd="1" destOrd="0" presId="urn:microsoft.com/office/officeart/2009/3/layout/HorizontalOrganizationChart"/>
    <dgm:cxn modelId="{9629D3C2-4AD7-7E45-AD7C-08260D22722A}" type="presOf" srcId="{6926A037-9A00-48E3-B183-D095A039B57C}" destId="{A8B4694C-DEF7-654A-B80E-882B9088B5B1}" srcOrd="1" destOrd="0" presId="urn:microsoft.com/office/officeart/2009/3/layout/HorizontalOrganizationChart"/>
    <dgm:cxn modelId="{CF85D239-DF56-427B-89F4-9B667A7BD8A3}" srcId="{04542AD0-4923-441B-9C77-95904B1A5EEA}" destId="{D3A3F76F-3C37-4FBB-9AA3-7065C0BEB00E}" srcOrd="0" destOrd="0" parTransId="{8B77049F-C3F0-4F3B-9F13-CE84D43B5298}" sibTransId="{B2FC43E6-B624-4198-9513-E20B77B8BF6A}"/>
    <dgm:cxn modelId="{DD1B429C-2F4F-024B-BA78-7D6AB2E0CD84}" type="presOf" srcId="{04542AD0-4923-441B-9C77-95904B1A5EEA}" destId="{0AE363F7-87C2-2741-99C2-C004077BBF31}" srcOrd="0" destOrd="0" presId="urn:microsoft.com/office/officeart/2009/3/layout/HorizontalOrganizationChart"/>
    <dgm:cxn modelId="{A5357909-19E3-5049-B226-4297F7CB7AFE}" type="presOf" srcId="{6926A037-9A00-48E3-B183-D095A039B57C}" destId="{254701B0-C833-F348-81A2-868271234002}" srcOrd="0" destOrd="0" presId="urn:microsoft.com/office/officeart/2009/3/layout/HorizontalOrganizationChart"/>
    <dgm:cxn modelId="{E341CACE-8799-1A47-95F3-E74CC330EDAE}" type="presParOf" srcId="{0AE363F7-87C2-2741-99C2-C004077BBF31}" destId="{E1DC584D-5C1A-4C4A-94B7-3BC78B49174F}" srcOrd="0" destOrd="0" presId="urn:microsoft.com/office/officeart/2009/3/layout/HorizontalOrganizationChart"/>
    <dgm:cxn modelId="{2DBB3FC0-CC1B-5545-B682-FB164175561E}" type="presParOf" srcId="{E1DC584D-5C1A-4C4A-94B7-3BC78B49174F}" destId="{CEF4D1E0-7518-9444-98B6-897DB1A36BE8}" srcOrd="0" destOrd="0" presId="urn:microsoft.com/office/officeart/2009/3/layout/HorizontalOrganizationChart"/>
    <dgm:cxn modelId="{2CEC302D-7A65-3A49-ADA5-90CE85A0BACF}" type="presParOf" srcId="{CEF4D1E0-7518-9444-98B6-897DB1A36BE8}" destId="{C11E7D4F-684F-E346-9117-2D12C27B57B4}" srcOrd="0" destOrd="0" presId="urn:microsoft.com/office/officeart/2009/3/layout/HorizontalOrganizationChart"/>
    <dgm:cxn modelId="{28DB43F0-216B-A54A-AE08-E163A083166C}" type="presParOf" srcId="{CEF4D1E0-7518-9444-98B6-897DB1A36BE8}" destId="{30CD1803-0F81-9440-82BC-3C7DF63774F7}" srcOrd="1" destOrd="0" presId="urn:microsoft.com/office/officeart/2009/3/layout/HorizontalOrganizationChart"/>
    <dgm:cxn modelId="{33D56EBB-4BE8-7D46-9F53-64969A6B86C9}" type="presParOf" srcId="{E1DC584D-5C1A-4C4A-94B7-3BC78B49174F}" destId="{5690E86E-E5C8-ED4F-AB07-BDE9A99E3B5B}" srcOrd="1" destOrd="0" presId="urn:microsoft.com/office/officeart/2009/3/layout/HorizontalOrganizationChart"/>
    <dgm:cxn modelId="{A3301471-21A4-9945-997B-F12C68C501C0}" type="presParOf" srcId="{E1DC584D-5C1A-4C4A-94B7-3BC78B49174F}" destId="{3A5B3222-F16F-AB41-B0B7-3F1E925422FF}" srcOrd="2" destOrd="0" presId="urn:microsoft.com/office/officeart/2009/3/layout/HorizontalOrganizationChart"/>
    <dgm:cxn modelId="{7CCC2C73-985E-BF41-87BA-72AED681D2D5}" type="presParOf" srcId="{0AE363F7-87C2-2741-99C2-C004077BBF31}" destId="{4DE34C91-3F73-AC4B-ABCF-802139BD2AFF}" srcOrd="1" destOrd="0" presId="urn:microsoft.com/office/officeart/2009/3/layout/HorizontalOrganizationChart"/>
    <dgm:cxn modelId="{392906C7-72CE-6543-BF0C-28DAAB3155C0}" type="presParOf" srcId="{4DE34C91-3F73-AC4B-ABCF-802139BD2AFF}" destId="{0189DBDC-B0E0-ED4F-AD9C-F514AA26E05C}" srcOrd="0" destOrd="0" presId="urn:microsoft.com/office/officeart/2009/3/layout/HorizontalOrganizationChart"/>
    <dgm:cxn modelId="{7140341E-08EB-9E47-961F-C7912A423B9A}" type="presParOf" srcId="{0189DBDC-B0E0-ED4F-AD9C-F514AA26E05C}" destId="{254701B0-C833-F348-81A2-868271234002}" srcOrd="0" destOrd="0" presId="urn:microsoft.com/office/officeart/2009/3/layout/HorizontalOrganizationChart"/>
    <dgm:cxn modelId="{ED3D4B1F-B12E-444F-9115-66E0B073DD03}" type="presParOf" srcId="{0189DBDC-B0E0-ED4F-AD9C-F514AA26E05C}" destId="{A8B4694C-DEF7-654A-B80E-882B9088B5B1}" srcOrd="1" destOrd="0" presId="urn:microsoft.com/office/officeart/2009/3/layout/HorizontalOrganizationChart"/>
    <dgm:cxn modelId="{5E76C176-5051-EF4C-89BC-AE521BE0F4BC}" type="presParOf" srcId="{4DE34C91-3F73-AC4B-ABCF-802139BD2AFF}" destId="{24F62580-49E9-384E-B626-6ACA8BFEFAD4}" srcOrd="1" destOrd="0" presId="urn:microsoft.com/office/officeart/2009/3/layout/HorizontalOrganizationChart"/>
    <dgm:cxn modelId="{004735E8-CF10-D74F-9E68-6C5D2FE07564}" type="presParOf" srcId="{4DE34C91-3F73-AC4B-ABCF-802139BD2AFF}" destId="{3DC8838A-A1C4-A648-A5FC-32311C19FB6C}" srcOrd="2" destOrd="0" presId="urn:microsoft.com/office/officeart/2009/3/layout/HorizontalOrganizationChar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B004524-63DD-4AE6-9C10-1C7C47049B4E}" type="doc">
      <dgm:prSet loTypeId="urn:microsoft.com/office/officeart/2009/3/layout/HorizontalOrganizationChart" loCatId="hierarchy" qsTypeId="urn:microsoft.com/office/officeart/2005/8/quickstyle/simple2" qsCatId="simple" csTypeId="urn:microsoft.com/office/officeart/2005/8/colors/colorful2" csCatId="colorful"/>
      <dgm:spPr/>
      <dgm:t>
        <a:bodyPr/>
        <a:lstStyle/>
        <a:p>
          <a:endParaRPr lang="en-US"/>
        </a:p>
      </dgm:t>
    </dgm:pt>
    <dgm:pt modelId="{2BE99FB5-02A0-493A-B860-DDF0E2B639A1}">
      <dgm:prSet/>
      <dgm:spPr/>
      <dgm:t>
        <a:bodyPr/>
        <a:lstStyle/>
        <a:p>
          <a:r>
            <a:rPr lang="en-US"/>
            <a:t>Hughes was suspicious of  President Woodrow Wilson’s “Fourteen points”. </a:t>
          </a:r>
        </a:p>
      </dgm:t>
    </dgm:pt>
    <dgm:pt modelId="{B221F93F-1367-4933-9623-064872E19210}" type="parTrans" cxnId="{4A5C1C74-5945-456F-A249-4416E7010423}">
      <dgm:prSet/>
      <dgm:spPr/>
      <dgm:t>
        <a:bodyPr/>
        <a:lstStyle/>
        <a:p>
          <a:endParaRPr lang="en-US"/>
        </a:p>
      </dgm:t>
    </dgm:pt>
    <dgm:pt modelId="{431D59E3-01E8-45D0-8F00-2D8854FFD2E6}" type="sibTrans" cxnId="{4A5C1C74-5945-456F-A249-4416E7010423}">
      <dgm:prSet/>
      <dgm:spPr/>
      <dgm:t>
        <a:bodyPr/>
        <a:lstStyle/>
        <a:p>
          <a:endParaRPr lang="en-US"/>
        </a:p>
      </dgm:t>
    </dgm:pt>
    <dgm:pt modelId="{D3F7EE2F-98ED-4B9E-8669-5539E92E73A1}">
      <dgm:prSet/>
      <dgm:spPr/>
      <dgm:t>
        <a:bodyPr/>
        <a:lstStyle/>
        <a:p>
          <a:r>
            <a:rPr lang="en-US"/>
            <a:t>Hughes saw the points as “idealistic” and a threat to Australia’s white Australia policy and post war aims. </a:t>
          </a:r>
        </a:p>
      </dgm:t>
    </dgm:pt>
    <dgm:pt modelId="{5F96BC80-61B4-49A4-971C-FC6CF2B131F4}" type="parTrans" cxnId="{858EB8AD-C9C1-437B-BA4F-A7AB13C44E1F}">
      <dgm:prSet/>
      <dgm:spPr/>
      <dgm:t>
        <a:bodyPr/>
        <a:lstStyle/>
        <a:p>
          <a:endParaRPr lang="en-US"/>
        </a:p>
      </dgm:t>
    </dgm:pt>
    <dgm:pt modelId="{8641DDF7-275B-4F8F-AE17-02E76B34FD50}" type="sibTrans" cxnId="{858EB8AD-C9C1-437B-BA4F-A7AB13C44E1F}">
      <dgm:prSet/>
      <dgm:spPr/>
      <dgm:t>
        <a:bodyPr/>
        <a:lstStyle/>
        <a:p>
          <a:endParaRPr lang="en-US"/>
        </a:p>
      </dgm:t>
    </dgm:pt>
    <dgm:pt modelId="{EB6207C6-4199-EB4D-BC3C-0B83791627A8}" type="pres">
      <dgm:prSet presAssocID="{CB004524-63DD-4AE6-9C10-1C7C47049B4E}" presName="hierChild1" presStyleCnt="0">
        <dgm:presLayoutVars>
          <dgm:orgChart val="1"/>
          <dgm:chPref val="1"/>
          <dgm:dir/>
          <dgm:animOne val="branch"/>
          <dgm:animLvl val="lvl"/>
          <dgm:resizeHandles/>
        </dgm:presLayoutVars>
      </dgm:prSet>
      <dgm:spPr/>
      <dgm:t>
        <a:bodyPr/>
        <a:lstStyle/>
        <a:p>
          <a:endParaRPr lang="en-US"/>
        </a:p>
      </dgm:t>
    </dgm:pt>
    <dgm:pt modelId="{30936DFA-72EB-7E4D-A318-C8442D4DE0FD}" type="pres">
      <dgm:prSet presAssocID="{2BE99FB5-02A0-493A-B860-DDF0E2B639A1}" presName="hierRoot1" presStyleCnt="0">
        <dgm:presLayoutVars>
          <dgm:hierBranch val="init"/>
        </dgm:presLayoutVars>
      </dgm:prSet>
      <dgm:spPr/>
    </dgm:pt>
    <dgm:pt modelId="{FC918EB2-B172-354F-92A9-D8B6BCE48B55}" type="pres">
      <dgm:prSet presAssocID="{2BE99FB5-02A0-493A-B860-DDF0E2B639A1}" presName="rootComposite1" presStyleCnt="0"/>
      <dgm:spPr/>
    </dgm:pt>
    <dgm:pt modelId="{9DD37378-4943-D14D-878F-3C03C7436C2A}" type="pres">
      <dgm:prSet presAssocID="{2BE99FB5-02A0-493A-B860-DDF0E2B639A1}" presName="rootText1" presStyleLbl="node0" presStyleIdx="0" presStyleCnt="2">
        <dgm:presLayoutVars>
          <dgm:chPref val="3"/>
        </dgm:presLayoutVars>
      </dgm:prSet>
      <dgm:spPr/>
      <dgm:t>
        <a:bodyPr/>
        <a:lstStyle/>
        <a:p>
          <a:endParaRPr lang="en-US"/>
        </a:p>
      </dgm:t>
    </dgm:pt>
    <dgm:pt modelId="{4B45C68D-4531-CE44-8B50-B447D8968270}" type="pres">
      <dgm:prSet presAssocID="{2BE99FB5-02A0-493A-B860-DDF0E2B639A1}" presName="rootConnector1" presStyleLbl="node1" presStyleIdx="0" presStyleCnt="0"/>
      <dgm:spPr/>
      <dgm:t>
        <a:bodyPr/>
        <a:lstStyle/>
        <a:p>
          <a:endParaRPr lang="en-US"/>
        </a:p>
      </dgm:t>
    </dgm:pt>
    <dgm:pt modelId="{58F8FABD-9418-0B4E-A7B6-17349C2DF232}" type="pres">
      <dgm:prSet presAssocID="{2BE99FB5-02A0-493A-B860-DDF0E2B639A1}" presName="hierChild2" presStyleCnt="0"/>
      <dgm:spPr/>
    </dgm:pt>
    <dgm:pt modelId="{86C8FA4E-9AD7-B841-BCE3-3FA2ED5975A9}" type="pres">
      <dgm:prSet presAssocID="{2BE99FB5-02A0-493A-B860-DDF0E2B639A1}" presName="hierChild3" presStyleCnt="0"/>
      <dgm:spPr/>
    </dgm:pt>
    <dgm:pt modelId="{991CB573-8C24-BE48-9210-EF630920F3AF}" type="pres">
      <dgm:prSet presAssocID="{D3F7EE2F-98ED-4B9E-8669-5539E92E73A1}" presName="hierRoot1" presStyleCnt="0">
        <dgm:presLayoutVars>
          <dgm:hierBranch val="init"/>
        </dgm:presLayoutVars>
      </dgm:prSet>
      <dgm:spPr/>
    </dgm:pt>
    <dgm:pt modelId="{E2478F56-B608-2A4E-878C-BDB4731500D8}" type="pres">
      <dgm:prSet presAssocID="{D3F7EE2F-98ED-4B9E-8669-5539E92E73A1}" presName="rootComposite1" presStyleCnt="0"/>
      <dgm:spPr/>
    </dgm:pt>
    <dgm:pt modelId="{7689D2C0-0A53-CD45-A137-734FC8AB84AA}" type="pres">
      <dgm:prSet presAssocID="{D3F7EE2F-98ED-4B9E-8669-5539E92E73A1}" presName="rootText1" presStyleLbl="node0" presStyleIdx="1" presStyleCnt="2">
        <dgm:presLayoutVars>
          <dgm:chPref val="3"/>
        </dgm:presLayoutVars>
      </dgm:prSet>
      <dgm:spPr/>
      <dgm:t>
        <a:bodyPr/>
        <a:lstStyle/>
        <a:p>
          <a:endParaRPr lang="en-US"/>
        </a:p>
      </dgm:t>
    </dgm:pt>
    <dgm:pt modelId="{28FA09E4-CF2E-764A-A48D-F26115FEDA5A}" type="pres">
      <dgm:prSet presAssocID="{D3F7EE2F-98ED-4B9E-8669-5539E92E73A1}" presName="rootConnector1" presStyleLbl="node1" presStyleIdx="0" presStyleCnt="0"/>
      <dgm:spPr/>
      <dgm:t>
        <a:bodyPr/>
        <a:lstStyle/>
        <a:p>
          <a:endParaRPr lang="en-US"/>
        </a:p>
      </dgm:t>
    </dgm:pt>
    <dgm:pt modelId="{2BF269BD-13DF-8349-8BCE-0102A8913696}" type="pres">
      <dgm:prSet presAssocID="{D3F7EE2F-98ED-4B9E-8669-5539E92E73A1}" presName="hierChild2" presStyleCnt="0"/>
      <dgm:spPr/>
    </dgm:pt>
    <dgm:pt modelId="{65C271D6-F09A-FF4E-BCE1-EE7C0200DC72}" type="pres">
      <dgm:prSet presAssocID="{D3F7EE2F-98ED-4B9E-8669-5539E92E73A1}" presName="hierChild3" presStyleCnt="0"/>
      <dgm:spPr/>
    </dgm:pt>
  </dgm:ptLst>
  <dgm:cxnLst>
    <dgm:cxn modelId="{26640FED-5AAE-954A-8BB5-B70779C9748A}" type="presOf" srcId="{2BE99FB5-02A0-493A-B860-DDF0E2B639A1}" destId="{9DD37378-4943-D14D-878F-3C03C7436C2A}" srcOrd="0" destOrd="0" presId="urn:microsoft.com/office/officeart/2009/3/layout/HorizontalOrganizationChart"/>
    <dgm:cxn modelId="{4A5C1C74-5945-456F-A249-4416E7010423}" srcId="{CB004524-63DD-4AE6-9C10-1C7C47049B4E}" destId="{2BE99FB5-02A0-493A-B860-DDF0E2B639A1}" srcOrd="0" destOrd="0" parTransId="{B221F93F-1367-4933-9623-064872E19210}" sibTransId="{431D59E3-01E8-45D0-8F00-2D8854FFD2E6}"/>
    <dgm:cxn modelId="{BFC879DF-57E8-374C-866F-799C95850E52}" type="presOf" srcId="{2BE99FB5-02A0-493A-B860-DDF0E2B639A1}" destId="{4B45C68D-4531-CE44-8B50-B447D8968270}" srcOrd="1" destOrd="0" presId="urn:microsoft.com/office/officeart/2009/3/layout/HorizontalOrganizationChart"/>
    <dgm:cxn modelId="{DA2DA64F-3F3F-B14B-89E8-BF762845C7E0}" type="presOf" srcId="{D3F7EE2F-98ED-4B9E-8669-5539E92E73A1}" destId="{28FA09E4-CF2E-764A-A48D-F26115FEDA5A}" srcOrd="1" destOrd="0" presId="urn:microsoft.com/office/officeart/2009/3/layout/HorizontalOrganizationChart"/>
    <dgm:cxn modelId="{858EB8AD-C9C1-437B-BA4F-A7AB13C44E1F}" srcId="{CB004524-63DD-4AE6-9C10-1C7C47049B4E}" destId="{D3F7EE2F-98ED-4B9E-8669-5539E92E73A1}" srcOrd="1" destOrd="0" parTransId="{5F96BC80-61B4-49A4-971C-FC6CF2B131F4}" sibTransId="{8641DDF7-275B-4F8F-AE17-02E76B34FD50}"/>
    <dgm:cxn modelId="{04769BA9-A43C-5144-99B6-1FC95606D5FD}" type="presOf" srcId="{D3F7EE2F-98ED-4B9E-8669-5539E92E73A1}" destId="{7689D2C0-0A53-CD45-A137-734FC8AB84AA}" srcOrd="0" destOrd="0" presId="urn:microsoft.com/office/officeart/2009/3/layout/HorizontalOrganizationChart"/>
    <dgm:cxn modelId="{3CE46F5A-0C4E-5748-9A04-9B1ABD232473}" type="presOf" srcId="{CB004524-63DD-4AE6-9C10-1C7C47049B4E}" destId="{EB6207C6-4199-EB4D-BC3C-0B83791627A8}" srcOrd="0" destOrd="0" presId="urn:microsoft.com/office/officeart/2009/3/layout/HorizontalOrganizationChart"/>
    <dgm:cxn modelId="{CAA9ECC3-88D4-2642-8F40-29F8EFE431E2}" type="presParOf" srcId="{EB6207C6-4199-EB4D-BC3C-0B83791627A8}" destId="{30936DFA-72EB-7E4D-A318-C8442D4DE0FD}" srcOrd="0" destOrd="0" presId="urn:microsoft.com/office/officeart/2009/3/layout/HorizontalOrganizationChart"/>
    <dgm:cxn modelId="{940986C6-A31D-FF41-82B3-F7DDBA6B7706}" type="presParOf" srcId="{30936DFA-72EB-7E4D-A318-C8442D4DE0FD}" destId="{FC918EB2-B172-354F-92A9-D8B6BCE48B55}" srcOrd="0" destOrd="0" presId="urn:microsoft.com/office/officeart/2009/3/layout/HorizontalOrganizationChart"/>
    <dgm:cxn modelId="{8108F399-4043-4344-9D61-F42B0A224A7F}" type="presParOf" srcId="{FC918EB2-B172-354F-92A9-D8B6BCE48B55}" destId="{9DD37378-4943-D14D-878F-3C03C7436C2A}" srcOrd="0" destOrd="0" presId="urn:microsoft.com/office/officeart/2009/3/layout/HorizontalOrganizationChart"/>
    <dgm:cxn modelId="{1E9892C5-502E-0D46-B225-C97A78F876E9}" type="presParOf" srcId="{FC918EB2-B172-354F-92A9-D8B6BCE48B55}" destId="{4B45C68D-4531-CE44-8B50-B447D8968270}" srcOrd="1" destOrd="0" presId="urn:microsoft.com/office/officeart/2009/3/layout/HorizontalOrganizationChart"/>
    <dgm:cxn modelId="{D48358BE-DCA8-8941-92B5-426E54985933}" type="presParOf" srcId="{30936DFA-72EB-7E4D-A318-C8442D4DE0FD}" destId="{58F8FABD-9418-0B4E-A7B6-17349C2DF232}" srcOrd="1" destOrd="0" presId="urn:microsoft.com/office/officeart/2009/3/layout/HorizontalOrganizationChart"/>
    <dgm:cxn modelId="{75C13174-7A8A-C047-992A-6E701874F51C}" type="presParOf" srcId="{30936DFA-72EB-7E4D-A318-C8442D4DE0FD}" destId="{86C8FA4E-9AD7-B841-BCE3-3FA2ED5975A9}" srcOrd="2" destOrd="0" presId="urn:microsoft.com/office/officeart/2009/3/layout/HorizontalOrganizationChart"/>
    <dgm:cxn modelId="{5DF301A7-6DCF-AA47-9D26-BD64D9162F51}" type="presParOf" srcId="{EB6207C6-4199-EB4D-BC3C-0B83791627A8}" destId="{991CB573-8C24-BE48-9210-EF630920F3AF}" srcOrd="1" destOrd="0" presId="urn:microsoft.com/office/officeart/2009/3/layout/HorizontalOrganizationChart"/>
    <dgm:cxn modelId="{37B23BF4-62B8-284F-9E5D-5BE0E0A09282}" type="presParOf" srcId="{991CB573-8C24-BE48-9210-EF630920F3AF}" destId="{E2478F56-B608-2A4E-878C-BDB4731500D8}" srcOrd="0" destOrd="0" presId="urn:microsoft.com/office/officeart/2009/3/layout/HorizontalOrganizationChart"/>
    <dgm:cxn modelId="{7FD5979C-CECF-8146-A467-714AA31C3C85}" type="presParOf" srcId="{E2478F56-B608-2A4E-878C-BDB4731500D8}" destId="{7689D2C0-0A53-CD45-A137-734FC8AB84AA}" srcOrd="0" destOrd="0" presId="urn:microsoft.com/office/officeart/2009/3/layout/HorizontalOrganizationChart"/>
    <dgm:cxn modelId="{314DB789-D724-D041-949D-CFB8AF812EC0}" type="presParOf" srcId="{E2478F56-B608-2A4E-878C-BDB4731500D8}" destId="{28FA09E4-CF2E-764A-A48D-F26115FEDA5A}" srcOrd="1" destOrd="0" presId="urn:microsoft.com/office/officeart/2009/3/layout/HorizontalOrganizationChart"/>
    <dgm:cxn modelId="{D31ADD78-5566-9C4C-BA03-144E2D9CC576}" type="presParOf" srcId="{991CB573-8C24-BE48-9210-EF630920F3AF}" destId="{2BF269BD-13DF-8349-8BCE-0102A8913696}" srcOrd="1" destOrd="0" presId="urn:microsoft.com/office/officeart/2009/3/layout/HorizontalOrganizationChart"/>
    <dgm:cxn modelId="{2B84BA51-30ED-A046-9289-7D9C54062F2D}" type="presParOf" srcId="{991CB573-8C24-BE48-9210-EF630920F3AF}" destId="{65C271D6-F09A-FF4E-BCE1-EE7C0200DC72}" srcOrd="2" destOrd="0" presId="urn:microsoft.com/office/officeart/2009/3/layout/HorizontalOrganizationChar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1E7D4F-684F-E346-9117-2D12C27B57B4}">
      <dsp:nvSpPr>
        <dsp:cNvPr id="0" name=""/>
        <dsp:cNvSpPr/>
      </dsp:nvSpPr>
      <dsp:spPr>
        <a:xfrm>
          <a:off x="721" y="145886"/>
          <a:ext cx="5911993" cy="1803157"/>
        </a:xfrm>
        <a:prstGeom prst="rect">
          <a:avLst/>
        </a:prstGeom>
        <a:solidFill>
          <a:schemeClr val="accent1">
            <a:hueOff val="0"/>
            <a:satOff val="0"/>
            <a:lumOff val="0"/>
            <a:alphaOff val="0"/>
          </a:schemeClr>
        </a:solidFill>
        <a:ln w="2222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20955" tIns="20955" rIns="20955" bIns="20955" numCol="1" spcCol="1270" anchor="ctr" anchorCtr="0">
          <a:noAutofit/>
        </a:bodyPr>
        <a:lstStyle/>
        <a:p>
          <a:pPr lvl="0" algn="ctr" defTabSz="1466850">
            <a:lnSpc>
              <a:spcPct val="90000"/>
            </a:lnSpc>
            <a:spcBef>
              <a:spcPct val="0"/>
            </a:spcBef>
            <a:spcAft>
              <a:spcPct val="35000"/>
            </a:spcAft>
          </a:pPr>
          <a:r>
            <a:rPr lang="en-US" sz="3300" kern="1200"/>
            <a:t>From federation Australia’s foreign policy was controlled by the colonial office in London. </a:t>
          </a:r>
        </a:p>
      </dsp:txBody>
      <dsp:txXfrm>
        <a:off x="721" y="145886"/>
        <a:ext cx="5911993" cy="1803157"/>
      </dsp:txXfrm>
    </dsp:sp>
    <dsp:sp modelId="{254701B0-C833-F348-81A2-868271234002}">
      <dsp:nvSpPr>
        <dsp:cNvPr id="0" name=""/>
        <dsp:cNvSpPr/>
      </dsp:nvSpPr>
      <dsp:spPr>
        <a:xfrm>
          <a:off x="721" y="2688043"/>
          <a:ext cx="5911993" cy="1803157"/>
        </a:xfrm>
        <a:prstGeom prst="rect">
          <a:avLst/>
        </a:prstGeom>
        <a:solidFill>
          <a:schemeClr val="accent1">
            <a:hueOff val="0"/>
            <a:satOff val="0"/>
            <a:lumOff val="0"/>
            <a:alphaOff val="0"/>
          </a:schemeClr>
        </a:solidFill>
        <a:ln w="2222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20955" tIns="20955" rIns="20955" bIns="20955" numCol="1" spcCol="1270" anchor="ctr" anchorCtr="0">
          <a:noAutofit/>
        </a:bodyPr>
        <a:lstStyle/>
        <a:p>
          <a:pPr lvl="0" algn="ctr" defTabSz="1466850">
            <a:lnSpc>
              <a:spcPct val="90000"/>
            </a:lnSpc>
            <a:spcBef>
              <a:spcPct val="0"/>
            </a:spcBef>
            <a:spcAft>
              <a:spcPct val="35000"/>
            </a:spcAft>
          </a:pPr>
          <a:r>
            <a:rPr lang="en-US" sz="3300" kern="1200"/>
            <a:t>During the 1920’s and 1930’s Great Britain and Japan were significant to Australia’s foreign relations. </a:t>
          </a:r>
        </a:p>
      </dsp:txBody>
      <dsp:txXfrm>
        <a:off x="721" y="2688043"/>
        <a:ext cx="5911993" cy="180315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D37378-4943-D14D-878F-3C03C7436C2A}">
      <dsp:nvSpPr>
        <dsp:cNvPr id="0" name=""/>
        <dsp:cNvSpPr/>
      </dsp:nvSpPr>
      <dsp:spPr>
        <a:xfrm>
          <a:off x="721" y="145886"/>
          <a:ext cx="5911993" cy="1803157"/>
        </a:xfrm>
        <a:prstGeom prst="rect">
          <a:avLst/>
        </a:prstGeom>
        <a:solidFill>
          <a:schemeClr val="accent1">
            <a:hueOff val="0"/>
            <a:satOff val="0"/>
            <a:lumOff val="0"/>
            <a:alphaOff val="0"/>
          </a:schemeClr>
        </a:solidFill>
        <a:ln w="2222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20955" tIns="20955" rIns="20955" bIns="20955" numCol="1" spcCol="1270" anchor="ctr" anchorCtr="0">
          <a:noAutofit/>
        </a:bodyPr>
        <a:lstStyle/>
        <a:p>
          <a:pPr lvl="0" algn="ctr" defTabSz="1466850">
            <a:lnSpc>
              <a:spcPct val="90000"/>
            </a:lnSpc>
            <a:spcBef>
              <a:spcPct val="0"/>
            </a:spcBef>
            <a:spcAft>
              <a:spcPct val="35000"/>
            </a:spcAft>
          </a:pPr>
          <a:r>
            <a:rPr lang="en-US" sz="3300" kern="1200"/>
            <a:t>Hughes was suspicious of  President Woodrow Wilson’s “Fourteen points”. </a:t>
          </a:r>
        </a:p>
      </dsp:txBody>
      <dsp:txXfrm>
        <a:off x="721" y="145886"/>
        <a:ext cx="5911993" cy="1803157"/>
      </dsp:txXfrm>
    </dsp:sp>
    <dsp:sp modelId="{7689D2C0-0A53-CD45-A137-734FC8AB84AA}">
      <dsp:nvSpPr>
        <dsp:cNvPr id="0" name=""/>
        <dsp:cNvSpPr/>
      </dsp:nvSpPr>
      <dsp:spPr>
        <a:xfrm>
          <a:off x="721" y="2688043"/>
          <a:ext cx="5911993" cy="1803157"/>
        </a:xfrm>
        <a:prstGeom prst="rect">
          <a:avLst/>
        </a:prstGeom>
        <a:solidFill>
          <a:schemeClr val="accent1">
            <a:hueOff val="0"/>
            <a:satOff val="0"/>
            <a:lumOff val="0"/>
            <a:alphaOff val="0"/>
          </a:schemeClr>
        </a:solidFill>
        <a:ln w="2222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20955" tIns="20955" rIns="20955" bIns="20955" numCol="1" spcCol="1270" anchor="ctr" anchorCtr="0">
          <a:noAutofit/>
        </a:bodyPr>
        <a:lstStyle/>
        <a:p>
          <a:pPr lvl="0" algn="ctr" defTabSz="1466850">
            <a:lnSpc>
              <a:spcPct val="90000"/>
            </a:lnSpc>
            <a:spcBef>
              <a:spcPct val="0"/>
            </a:spcBef>
            <a:spcAft>
              <a:spcPct val="35000"/>
            </a:spcAft>
          </a:pPr>
          <a:r>
            <a:rPr lang="en-US" sz="3300" kern="1200"/>
            <a:t>Hughes saw the points as “idealistic” and a threat to Australia’s white Australia policy and post war aims. </a:t>
          </a:r>
        </a:p>
      </dsp:txBody>
      <dsp:txXfrm>
        <a:off x="721" y="2688043"/>
        <a:ext cx="5911993" cy="1803157"/>
      </dsp:txXfrm>
    </dsp:sp>
  </dsp:spTree>
</dsp:drawing>
</file>

<file path=ppt/diagrams/layout1.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4F07A2-679B-7644-A09B-DF128C52E9BB}" type="datetimeFigureOut">
              <a:rPr lang="en-US" smtClean="0"/>
              <a:t>2/10/19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B4A28-57C1-5E4E-A7AD-5E3479B177F5}" type="slidenum">
              <a:rPr lang="en-US" smtClean="0"/>
              <a:t>‹#›</a:t>
            </a:fld>
            <a:endParaRPr lang="en-US"/>
          </a:p>
        </p:txBody>
      </p:sp>
    </p:spTree>
    <p:extLst>
      <p:ext uri="{BB962C8B-B14F-4D97-AF65-F5344CB8AC3E}">
        <p14:creationId xmlns:p14="http://schemas.microsoft.com/office/powerpoint/2010/main" val="20739901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smtClean="0"/>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2/10/19</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2/10/19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2/10/19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2/10/19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2/10/19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2/10/19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2/10/19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smtClean="0"/>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2/10/19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pPr/>
              <a:t>2/10/19</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2/10/19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2/10/19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2/10/19</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tiff"/><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tiff"/></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 Id="rId1" Type="http://schemas.openxmlformats.org/officeDocument/2006/relationships/slideLayout" Target="../slideLayouts/slideLayout2.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tif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tiff"/><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4" Type="http://schemas.openxmlformats.org/officeDocument/2006/relationships/diagramLayout" Target="../diagrams/layout2.xml"/><Relationship Id="rId5" Type="http://schemas.openxmlformats.org/officeDocument/2006/relationships/diagramQuickStyle" Target="../diagrams/quickStyle2.xml"/><Relationship Id="rId6" Type="http://schemas.openxmlformats.org/officeDocument/2006/relationships/diagramColors" Target="../diagrams/colors2.xml"/><Relationship Id="rId7" Type="http://schemas.microsoft.com/office/2007/relationships/diagramDrawing" Target="../diagrams/drawing2.xml"/><Relationship Id="rId1" Type="http://schemas.openxmlformats.org/officeDocument/2006/relationships/slideLayout" Target="../slideLayouts/slideLayout2.xml"/><Relationship Id="rId2"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tiff"/><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tif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tiff"/><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conferences following ww1</a:t>
            </a:r>
            <a:endParaRPr lang="en-AU" dirty="0"/>
          </a:p>
        </p:txBody>
      </p:sp>
      <p:sp>
        <p:nvSpPr>
          <p:cNvPr id="3" name="Subtitle 2"/>
          <p:cNvSpPr>
            <a:spLocks noGrp="1"/>
          </p:cNvSpPr>
          <p:nvPr>
            <p:ph type="subTitle" idx="1"/>
          </p:nvPr>
        </p:nvSpPr>
        <p:spPr/>
        <p:txBody>
          <a:bodyPr/>
          <a:lstStyle/>
          <a:p>
            <a:r>
              <a:rPr lang="en-AU" dirty="0" smtClean="0"/>
              <a:t>Year 12 modern history </a:t>
            </a:r>
            <a:endParaRPr lang="en-AU" dirty="0"/>
          </a:p>
        </p:txBody>
      </p:sp>
    </p:spTree>
    <p:extLst>
      <p:ext uri="{BB962C8B-B14F-4D97-AF65-F5344CB8AC3E}">
        <p14:creationId xmlns:p14="http://schemas.microsoft.com/office/powerpoint/2010/main" val="33467560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xmlns="" id="{10419CA0-BFB4-4390-AB8F-5DBFCA45D4D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xmlns="" id="{5CF4C623-16D7-4722-8EFB-A5B0E3BC077D}"/>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7" y="1847088"/>
            <a:ext cx="5548039"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a:xfrm>
            <a:off x="1451580" y="804520"/>
            <a:ext cx="5550355" cy="1049235"/>
          </a:xfrm>
        </p:spPr>
        <p:txBody>
          <a:bodyPr>
            <a:normAutofit/>
          </a:bodyPr>
          <a:lstStyle/>
          <a:p>
            <a:r>
              <a:rPr lang="en-AU" dirty="0"/>
              <a:t>Australia’s involvement in international affairs </a:t>
            </a:r>
          </a:p>
        </p:txBody>
      </p:sp>
      <p:sp>
        <p:nvSpPr>
          <p:cNvPr id="14" name="Rectangle 13">
            <a:extLst>
              <a:ext uri="{FF2B5EF4-FFF2-40B4-BE49-F238E27FC236}">
                <a16:creationId xmlns:a16="http://schemas.microsoft.com/office/drawing/2014/main" xmlns="" id="{596E9C81-ACBE-459E-A7D5-2BB824B68FD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3" name="Content Placeholder 2"/>
          <p:cNvSpPr>
            <a:spLocks noGrp="1"/>
          </p:cNvSpPr>
          <p:nvPr>
            <p:ph idx="1"/>
          </p:nvPr>
        </p:nvSpPr>
        <p:spPr>
          <a:xfrm>
            <a:off x="1451580" y="2015732"/>
            <a:ext cx="5550355" cy="3450613"/>
          </a:xfrm>
        </p:spPr>
        <p:txBody>
          <a:bodyPr>
            <a:normAutofit/>
          </a:bodyPr>
          <a:lstStyle/>
          <a:p>
            <a:pPr>
              <a:lnSpc>
                <a:spcPct val="110000"/>
              </a:lnSpc>
            </a:pPr>
            <a:r>
              <a:rPr lang="en-AU" sz="1500" dirty="0"/>
              <a:t>Following the end of World War 1, Prime Minister William Hughes fought for Australian interests and demanded the right for representation with other dominions at the Paris Peace conference. </a:t>
            </a:r>
          </a:p>
          <a:p>
            <a:pPr>
              <a:lnSpc>
                <a:spcPct val="110000"/>
              </a:lnSpc>
            </a:pPr>
            <a:r>
              <a:rPr lang="en-AU" sz="1500" dirty="0"/>
              <a:t>Participation at the Treaty of  Versailles seen as an expression of imperial loyalty. </a:t>
            </a:r>
          </a:p>
          <a:p>
            <a:pPr>
              <a:lnSpc>
                <a:spcPct val="110000"/>
              </a:lnSpc>
            </a:pPr>
            <a:r>
              <a:rPr lang="en-AU" sz="1500" dirty="0"/>
              <a:t>Hughes had three concerns; </a:t>
            </a:r>
          </a:p>
          <a:p>
            <a:pPr lvl="1">
              <a:lnSpc>
                <a:spcPct val="110000"/>
              </a:lnSpc>
            </a:pPr>
            <a:r>
              <a:rPr lang="en-AU" sz="1500" dirty="0"/>
              <a:t>Reparations </a:t>
            </a:r>
          </a:p>
          <a:p>
            <a:pPr lvl="1">
              <a:lnSpc>
                <a:spcPct val="110000"/>
              </a:lnSpc>
            </a:pPr>
            <a:r>
              <a:rPr lang="en-AU" sz="1500" dirty="0"/>
              <a:t>German New Guinea </a:t>
            </a:r>
          </a:p>
          <a:p>
            <a:pPr lvl="1">
              <a:lnSpc>
                <a:spcPct val="110000"/>
              </a:lnSpc>
            </a:pPr>
            <a:r>
              <a:rPr lang="en-AU" sz="1500" dirty="0"/>
              <a:t>White Australia (particularly aimed at Japan) </a:t>
            </a:r>
          </a:p>
        </p:txBody>
      </p:sp>
      <p:grpSp>
        <p:nvGrpSpPr>
          <p:cNvPr id="16" name="Group 15">
            <a:extLst>
              <a:ext uri="{FF2B5EF4-FFF2-40B4-BE49-F238E27FC236}">
                <a16:creationId xmlns:a16="http://schemas.microsoft.com/office/drawing/2014/main" xmlns="" id="{CEBDCB18-ABE5-43B0-8B68-89FEDAECB8B0}"/>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477388" y="482171"/>
            <a:ext cx="4074533" cy="5149101"/>
            <a:chOff x="7463259" y="583365"/>
            <a:chExt cx="4074533" cy="5181928"/>
          </a:xfrm>
        </p:grpSpPr>
        <p:sp>
          <p:nvSpPr>
            <p:cNvPr id="17" name="Rectangle 16">
              <a:extLst>
                <a:ext uri="{FF2B5EF4-FFF2-40B4-BE49-F238E27FC236}">
                  <a16:creationId xmlns:a16="http://schemas.microsoft.com/office/drawing/2014/main" xmlns="" id="{483C65C6-7268-490D-B4A8-927D45FAB623}"/>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7463259" y="583365"/>
              <a:ext cx="4074533"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xmlns="" id="{6133D4A5-82E5-43A0-9FF0-81B7AC16CDF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7776318" y="915807"/>
              <a:ext cx="3450289" cy="4494927"/>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5" name="Picture 4"/>
          <p:cNvPicPr>
            <a:picLocks noChangeAspect="1"/>
          </p:cNvPicPr>
          <p:nvPr/>
        </p:nvPicPr>
        <p:blipFill rotWithShape="1">
          <a:blip r:embed="rId2"/>
          <a:srcRect l="18706" r="10703" b="-3"/>
          <a:stretch/>
        </p:blipFill>
        <p:spPr>
          <a:xfrm>
            <a:off x="8116373" y="1116345"/>
            <a:ext cx="2799103" cy="3866172"/>
          </a:xfrm>
          <a:prstGeom prst="rect">
            <a:avLst/>
          </a:prstGeom>
        </p:spPr>
      </p:pic>
      <p:pic>
        <p:nvPicPr>
          <p:cNvPr id="20" name="Picture 19">
            <a:extLst>
              <a:ext uri="{FF2B5EF4-FFF2-40B4-BE49-F238E27FC236}">
                <a16:creationId xmlns:a16="http://schemas.microsoft.com/office/drawing/2014/main" xmlns="" id="{08EC5C75-E28F-4899-9C2E-39431B82B740}"/>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22" name="Straight Connector 21">
            <a:extLst>
              <a:ext uri="{FF2B5EF4-FFF2-40B4-BE49-F238E27FC236}">
                <a16:creationId xmlns:a16="http://schemas.microsoft.com/office/drawing/2014/main" xmlns="" id="{46AAE0A1-60AD-4190-B85D-2DD8148369C7}"/>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5527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t="6845" r="23638" b="2245"/>
          <a:stretch/>
        </p:blipFill>
        <p:spPr>
          <a:xfrm>
            <a:off x="2" y="10"/>
            <a:ext cx="12191695" cy="6857990"/>
          </a:xfrm>
          <a:prstGeom prst="rect">
            <a:avLst/>
          </a:prstGeom>
        </p:spPr>
      </p:pic>
      <p:sp>
        <p:nvSpPr>
          <p:cNvPr id="9" name="Rectangle 8">
            <a:extLst>
              <a:ext uri="{FF2B5EF4-FFF2-40B4-BE49-F238E27FC236}">
                <a16:creationId xmlns:a16="http://schemas.microsoft.com/office/drawing/2014/main" xmlns="" id="{F2AF0D79-4A1A-4F27-B9F0-CF252C4AC91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8" y="636753"/>
            <a:ext cx="8299435" cy="5572810"/>
          </a:xfrm>
          <a:prstGeom prst="rect">
            <a:avLst/>
          </a:prstGeom>
          <a:solidFill>
            <a:srgbClr val="000001">
              <a:alpha val="7490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04017" y="804520"/>
            <a:ext cx="6815731" cy="1049235"/>
          </a:xfrm>
        </p:spPr>
        <p:txBody>
          <a:bodyPr>
            <a:normAutofit/>
          </a:bodyPr>
          <a:lstStyle/>
          <a:p>
            <a:r>
              <a:rPr lang="en-US">
                <a:solidFill>
                  <a:srgbClr val="FFFFFE"/>
                </a:solidFill>
              </a:rPr>
              <a:t>The world post ww1</a:t>
            </a:r>
          </a:p>
        </p:txBody>
      </p:sp>
      <p:cxnSp>
        <p:nvCxnSpPr>
          <p:cNvPr id="11" name="Straight Connector 10">
            <a:extLst>
              <a:ext uri="{FF2B5EF4-FFF2-40B4-BE49-F238E27FC236}">
                <a16:creationId xmlns:a16="http://schemas.microsoft.com/office/drawing/2014/main" xmlns="" id="{8E83266B-97F8-4AB9-818F-3A70E8D8580D}"/>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06385" y="1847088"/>
            <a:ext cx="6813363" cy="0"/>
          </a:xfrm>
          <a:prstGeom prst="line">
            <a:avLst/>
          </a:prstGeom>
          <a:ln w="31750">
            <a:solidFill>
              <a:srgbClr val="FC8365"/>
            </a:solidFill>
          </a:ln>
        </p:spPr>
        <p:style>
          <a:lnRef idx="3">
            <a:schemeClr val="accent1"/>
          </a:lnRef>
          <a:fillRef idx="0">
            <a:schemeClr val="accent1"/>
          </a:fillRef>
          <a:effectRef idx="2">
            <a:schemeClr val="accent1"/>
          </a:effectRef>
          <a:fontRef idx="minor">
            <a:schemeClr val="tx1"/>
          </a:fontRef>
        </p:style>
      </p:cxnSp>
      <p:sp>
        <p:nvSpPr>
          <p:cNvPr id="3" name="Content Placeholder 2"/>
          <p:cNvSpPr>
            <a:spLocks noGrp="1"/>
          </p:cNvSpPr>
          <p:nvPr>
            <p:ph idx="1"/>
          </p:nvPr>
        </p:nvSpPr>
        <p:spPr>
          <a:xfrm>
            <a:off x="1304017" y="2015733"/>
            <a:ext cx="6815731" cy="4021267"/>
          </a:xfrm>
        </p:spPr>
        <p:txBody>
          <a:bodyPr>
            <a:normAutofit/>
          </a:bodyPr>
          <a:lstStyle/>
          <a:p>
            <a:pPr>
              <a:buClr>
                <a:srgbClr val="FC8365"/>
              </a:buClr>
            </a:pPr>
            <a:r>
              <a:rPr lang="en-US">
                <a:solidFill>
                  <a:srgbClr val="FFFFFE"/>
                </a:solidFill>
              </a:rPr>
              <a:t>World War 1 had drained countries such as Great Britain and France. It had also brought about the collapse of the Austro-Hungarian, Russian, German and Turkish empires. </a:t>
            </a:r>
          </a:p>
          <a:p>
            <a:pPr>
              <a:buClr>
                <a:srgbClr val="FC8365"/>
              </a:buClr>
            </a:pPr>
            <a:r>
              <a:rPr lang="en-US">
                <a:solidFill>
                  <a:srgbClr val="FFFFFE"/>
                </a:solidFill>
              </a:rPr>
              <a:t>Japan and the U.S emerged from the war as creditor nations. </a:t>
            </a:r>
          </a:p>
        </p:txBody>
      </p:sp>
    </p:spTree>
    <p:extLst>
      <p:ext uri="{BB962C8B-B14F-4D97-AF65-F5344CB8AC3E}">
        <p14:creationId xmlns:p14="http://schemas.microsoft.com/office/powerpoint/2010/main" val="24865578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xmlns="" id="{32D32A60-013B-47A8-8833-D2424080917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AE27932B-B694-4C4C-90D7-A0333A7C587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p:cNvSpPr>
            <a:spLocks noGrp="1"/>
          </p:cNvSpPr>
          <p:nvPr>
            <p:ph type="title"/>
          </p:nvPr>
        </p:nvSpPr>
        <p:spPr>
          <a:xfrm>
            <a:off x="1451579" y="2303047"/>
            <a:ext cx="3272093" cy="2674198"/>
          </a:xfrm>
        </p:spPr>
        <p:txBody>
          <a:bodyPr anchor="t">
            <a:normAutofit/>
          </a:bodyPr>
          <a:lstStyle/>
          <a:p>
            <a:r>
              <a:rPr lang="en-US" dirty="0"/>
              <a:t>Australia post ww1</a:t>
            </a:r>
          </a:p>
        </p:txBody>
      </p:sp>
      <p:cxnSp>
        <p:nvCxnSpPr>
          <p:cNvPr id="14" name="Straight Connector 13">
            <a:extLst>
              <a:ext uri="{FF2B5EF4-FFF2-40B4-BE49-F238E27FC236}">
                <a16:creationId xmlns:a16="http://schemas.microsoft.com/office/drawing/2014/main" xmlns="" id="{9EBB0476-5CF0-4F44-8D68-5D42D7AEE43A}"/>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1579" y="2146542"/>
            <a:ext cx="3272094"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16" name="Title 1">
            <a:extLst>
              <a:ext uri="{FF2B5EF4-FFF2-40B4-BE49-F238E27FC236}">
                <a16:creationId xmlns:a16="http://schemas.microsoft.com/office/drawing/2014/main" xmlns="" id="{A9DA474E-6B91-4200-840F-0257B2358A75}"/>
              </a:ext>
              <a:ext uri="{C183D7F6-B498-43B3-948B-1728B52AA6E4}">
                <adec:decorative xmlns:adec="http://schemas.microsoft.com/office/drawing/2017/decorative" xmlns=""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51580" y="3122496"/>
            <a:ext cx="3530157" cy="104923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endParaRPr lang="en-US" dirty="0"/>
          </a:p>
        </p:txBody>
      </p:sp>
      <p:pic>
        <p:nvPicPr>
          <p:cNvPr id="18" name="Picture 17">
            <a:extLst>
              <a:ext uri="{FF2B5EF4-FFF2-40B4-BE49-F238E27FC236}">
                <a16:creationId xmlns:a16="http://schemas.microsoft.com/office/drawing/2014/main" xmlns="" id="{DF63C9AD-AE6E-4512-8171-91612E84CCFB}"/>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20" name="Straight Connector 19">
            <a:extLst>
              <a:ext uri="{FF2B5EF4-FFF2-40B4-BE49-F238E27FC236}">
                <a16:creationId xmlns:a16="http://schemas.microsoft.com/office/drawing/2014/main" xmlns="" id="{FE1A49CE-B63D-457A-A180-1C883E1A63D2}"/>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xmlns="" id="{CB3C76FD-88C4-4519-9046-2AA87E12BEFF}"/>
              </a:ext>
            </a:extLst>
          </p:cNvPr>
          <p:cNvGraphicFramePr>
            <a:graphicFrameLocks noGrp="1"/>
          </p:cNvGraphicFramePr>
          <p:nvPr>
            <p:ph idx="1"/>
            <p:extLst>
              <p:ext uri="{D42A27DB-BD31-4B8C-83A1-F6EECF244321}">
                <p14:modId xmlns:p14="http://schemas.microsoft.com/office/powerpoint/2010/main" val="1198546081"/>
              </p:ext>
            </p:extLst>
          </p:nvPr>
        </p:nvGraphicFramePr>
        <p:xfrm>
          <a:off x="5141913" y="803275"/>
          <a:ext cx="5913437" cy="46370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532267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xmlns="" id="{C6870151-9189-4C3A-8379-EF3D95827A0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a:picLocks noChangeAspect="1"/>
          </p:cNvPicPr>
          <p:nvPr/>
        </p:nvPicPr>
        <p:blipFill rotWithShape="1">
          <a:blip r:embed="rId2">
            <a:alphaModFix amt="50000"/>
          </a:blip>
          <a:srcRect r="4892" b="1"/>
          <a:stretch/>
        </p:blipFill>
        <p:spPr>
          <a:xfrm>
            <a:off x="305" y="10"/>
            <a:ext cx="12191695" cy="6857990"/>
          </a:xfrm>
          <a:prstGeom prst="rect">
            <a:avLst/>
          </a:prstGeom>
        </p:spPr>
      </p:pic>
      <p:sp>
        <p:nvSpPr>
          <p:cNvPr id="11" name="Slide Number Placeholder 7">
            <a:extLst>
              <a:ext uri="{FF2B5EF4-FFF2-40B4-BE49-F238E27FC236}">
                <a16:creationId xmlns:a16="http://schemas.microsoft.com/office/drawing/2014/main" xmlns="" id="{123EA69C-102A-4DD0-9547-05DCD271D159}"/>
              </a:ext>
              <a:ext uri="{C183D7F6-B498-43B3-948B-1728B52AA6E4}">
                <adec:decorative xmlns:adec="http://schemas.microsoft.com/office/drawing/2017/decorative" xmlns=""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12301" y="443732"/>
            <a:ext cx="811019" cy="503578"/>
          </a:xfrm>
          <a:prstGeom prst="rect">
            <a:avLst/>
          </a:prstGeom>
        </p:spPr>
        <p:txBody>
          <a:bodyPr vert="horz" lIns="91440" tIns="45720" rIns="91440" bIns="45720" rtlCol="0" anchor="t"/>
          <a:lstStyle>
            <a:defPPr>
              <a:defRPr lang="en-US"/>
            </a:defPPr>
            <a:lvl1pPr marL="0" algn="r" defTabSz="457200" rtl="0" eaLnBrk="1" latinLnBrk="0" hangingPunct="1">
              <a:defRPr sz="28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13" name="Footer Placeholder 6">
            <a:extLst>
              <a:ext uri="{FF2B5EF4-FFF2-40B4-BE49-F238E27FC236}">
                <a16:creationId xmlns:a16="http://schemas.microsoft.com/office/drawing/2014/main" xmlns="" id="{6A862265-5CA3-4C40-8582-7534C3B03C2A}"/>
              </a:ext>
              <a:ext uri="{C183D7F6-B498-43B3-948B-1728B52AA6E4}">
                <adec:decorative xmlns:adec="http://schemas.microsoft.com/office/drawing/2017/decorative" xmlns=""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76636" y="540921"/>
            <a:ext cx="4973915" cy="309201"/>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15" name="Rectangle 14">
            <a:extLst>
              <a:ext uri="{FF2B5EF4-FFF2-40B4-BE49-F238E27FC236}">
                <a16:creationId xmlns:a16="http://schemas.microsoft.com/office/drawing/2014/main" xmlns="" id="{600EF80B-0391-4082-9AF5-F15B091B4CE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93800"/>
            <a:ext cx="12192000" cy="5664199"/>
          </a:xfrm>
          <a:prstGeom prst="rect">
            <a:avLst/>
          </a:prstGeom>
          <a:gradFill flip="none" rotWithShape="1">
            <a:gsLst>
              <a:gs pos="0">
                <a:schemeClr val="bg2">
                  <a:lumMod val="87000"/>
                  <a:alpha val="4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p:cNvSpPr>
            <a:spLocks noGrp="1"/>
          </p:cNvSpPr>
          <p:nvPr>
            <p:ph type="title"/>
          </p:nvPr>
        </p:nvSpPr>
        <p:spPr>
          <a:xfrm>
            <a:off x="1130271" y="1193800"/>
            <a:ext cx="3193050" cy="4699000"/>
          </a:xfrm>
        </p:spPr>
        <p:txBody>
          <a:bodyPr anchor="ctr">
            <a:normAutofit/>
          </a:bodyPr>
          <a:lstStyle/>
          <a:p>
            <a:r>
              <a:rPr lang="en-US" dirty="0"/>
              <a:t>The Paris peace conference- an overview</a:t>
            </a:r>
          </a:p>
        </p:txBody>
      </p:sp>
      <p:cxnSp>
        <p:nvCxnSpPr>
          <p:cNvPr id="17" name="Straight Connector 16">
            <a:extLst>
              <a:ext uri="{FF2B5EF4-FFF2-40B4-BE49-F238E27FC236}">
                <a16:creationId xmlns:a16="http://schemas.microsoft.com/office/drawing/2014/main" xmlns="" id="{D33AC32D-5F44-45F7-A0BD-7C11A86BED57}"/>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600200"/>
            <a:ext cx="0" cy="3657600"/>
          </a:xfrm>
          <a:prstGeom prst="line">
            <a:avLst/>
          </a:prstGeom>
          <a:ln w="317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4976636" y="1193800"/>
            <a:ext cx="6085091" cy="4699000"/>
          </a:xfrm>
        </p:spPr>
        <p:txBody>
          <a:bodyPr anchor="ctr">
            <a:normAutofit/>
          </a:bodyPr>
          <a:lstStyle/>
          <a:p>
            <a:r>
              <a:rPr lang="en-US" dirty="0"/>
              <a:t>The conference began on the 18</a:t>
            </a:r>
            <a:r>
              <a:rPr lang="en-US" baseline="30000" dirty="0"/>
              <a:t>th</a:t>
            </a:r>
            <a:r>
              <a:rPr lang="en-US" dirty="0"/>
              <a:t> of January 1919 with representatives from 32 countries attending. </a:t>
            </a:r>
          </a:p>
          <a:p>
            <a:r>
              <a:rPr lang="en-US" dirty="0"/>
              <a:t>The map of Europe was redrawn creating the new nations of Latvia, Lithuania, Estonia, Czechoslovakia, Poland and Yugoslavia. </a:t>
            </a:r>
          </a:p>
          <a:p>
            <a:r>
              <a:rPr lang="en-US" dirty="0"/>
              <a:t>Peace treaties were signed with the defeated powers, including Austria, </a:t>
            </a:r>
            <a:r>
              <a:rPr lang="en-US" dirty="0" err="1"/>
              <a:t>Hungrary</a:t>
            </a:r>
            <a:r>
              <a:rPr lang="en-US" dirty="0"/>
              <a:t>, Turkey and Germany. </a:t>
            </a:r>
          </a:p>
          <a:p>
            <a:r>
              <a:rPr lang="en-US" dirty="0"/>
              <a:t>The most well known of the treaties was the Treaty of Versailles between the Allies and Germany. </a:t>
            </a:r>
          </a:p>
        </p:txBody>
      </p:sp>
      <p:sp>
        <p:nvSpPr>
          <p:cNvPr id="19" name="Date Placeholder 1">
            <a:extLst>
              <a:ext uri="{FF2B5EF4-FFF2-40B4-BE49-F238E27FC236}">
                <a16:creationId xmlns:a16="http://schemas.microsoft.com/office/drawing/2014/main" xmlns="" id="{3FBF03E8-C602-4192-9C52-F84B29FDCC88}"/>
              </a:ext>
              <a:ext uri="{C183D7F6-B498-43B3-948B-1728B52AA6E4}">
                <adec:decorative xmlns:adec="http://schemas.microsoft.com/office/drawing/2017/decorative" xmlns=""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23229" y="6007878"/>
            <a:ext cx="3500715" cy="309201"/>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Tree>
    <p:extLst>
      <p:ext uri="{BB962C8B-B14F-4D97-AF65-F5344CB8AC3E}">
        <p14:creationId xmlns:p14="http://schemas.microsoft.com/office/powerpoint/2010/main" val="2148947222"/>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xmlns="" id="{35C3D674-3D59-4E93-80CA-0C0A9095E81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xmlns="" id="{C884B8F8-FDC9-498B-9960-5D7260AFCB03}"/>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417737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a:xfrm>
            <a:off x="1451580" y="804520"/>
            <a:ext cx="4176511" cy="1049235"/>
          </a:xfrm>
        </p:spPr>
        <p:txBody>
          <a:bodyPr>
            <a:normAutofit/>
          </a:bodyPr>
          <a:lstStyle/>
          <a:p>
            <a:r>
              <a:rPr lang="en-US" sz="2200" dirty="0"/>
              <a:t>The Paris peace conference- an overview</a:t>
            </a:r>
          </a:p>
        </p:txBody>
      </p:sp>
      <p:sp>
        <p:nvSpPr>
          <p:cNvPr id="13" name="Rectangle 12">
            <a:extLst>
              <a:ext uri="{FF2B5EF4-FFF2-40B4-BE49-F238E27FC236}">
                <a16:creationId xmlns:a16="http://schemas.microsoft.com/office/drawing/2014/main" xmlns="" id="{EF2A81E1-BCBE-426B-8C09-33274E69409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3" name="Content Placeholder 2"/>
          <p:cNvSpPr>
            <a:spLocks noGrp="1"/>
          </p:cNvSpPr>
          <p:nvPr>
            <p:ph idx="1"/>
          </p:nvPr>
        </p:nvSpPr>
        <p:spPr>
          <a:xfrm>
            <a:off x="1451581" y="2015732"/>
            <a:ext cx="4172212" cy="3450613"/>
          </a:xfrm>
        </p:spPr>
        <p:txBody>
          <a:bodyPr>
            <a:normAutofit/>
          </a:bodyPr>
          <a:lstStyle/>
          <a:p>
            <a:pPr>
              <a:lnSpc>
                <a:spcPct val="110000"/>
              </a:lnSpc>
            </a:pPr>
            <a:r>
              <a:rPr lang="en-US" sz="1600" dirty="0"/>
              <a:t>United States President Woodrow Wilson called for a fair and just peace to be made with the vanquished nations.</a:t>
            </a:r>
          </a:p>
          <a:p>
            <a:pPr>
              <a:lnSpc>
                <a:spcPct val="110000"/>
              </a:lnSpc>
            </a:pPr>
            <a:r>
              <a:rPr lang="en-US" sz="1600" dirty="0"/>
              <a:t>Wilson outlined in a speech titled his “Fourteen Points” his plans for world peace. Many of the points were the basis of decision made at the Paris Peace conference, however the pressure on the French President Georges Clemenceau and British Prime Minister David Lloyd George meant that not all decisions were just. </a:t>
            </a:r>
          </a:p>
          <a:p>
            <a:pPr>
              <a:lnSpc>
                <a:spcPct val="110000"/>
              </a:lnSpc>
            </a:pPr>
            <a:endParaRPr lang="en-US" sz="1600" dirty="0"/>
          </a:p>
        </p:txBody>
      </p:sp>
      <p:pic>
        <p:nvPicPr>
          <p:cNvPr id="4" name="Picture 3"/>
          <p:cNvPicPr>
            <a:picLocks noChangeAspect="1"/>
          </p:cNvPicPr>
          <p:nvPr/>
        </p:nvPicPr>
        <p:blipFill>
          <a:blip r:embed="rId2"/>
          <a:stretch>
            <a:fillRect/>
          </a:stretch>
        </p:blipFill>
        <p:spPr>
          <a:xfrm>
            <a:off x="6229878" y="2008046"/>
            <a:ext cx="4960442" cy="3720331"/>
          </a:xfrm>
          <a:prstGeom prst="rect">
            <a:avLst/>
          </a:prstGeom>
        </p:spPr>
      </p:pic>
      <p:pic>
        <p:nvPicPr>
          <p:cNvPr id="15" name="Picture 14">
            <a:extLst>
              <a:ext uri="{FF2B5EF4-FFF2-40B4-BE49-F238E27FC236}">
                <a16:creationId xmlns:a16="http://schemas.microsoft.com/office/drawing/2014/main" xmlns="" id="{39D1DDD4-5BB3-45BA-B9B3-06B62299AD79}"/>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7" name="Straight Connector 16">
            <a:extLst>
              <a:ext uri="{FF2B5EF4-FFF2-40B4-BE49-F238E27FC236}">
                <a16:creationId xmlns:a16="http://schemas.microsoft.com/office/drawing/2014/main" xmlns="" id="{A24DAE64-2302-42EA-8239-F2F0775CA5AD}"/>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0679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xmlns="" id="{32D32A60-013B-47A8-8833-D2424080917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AE27932B-B694-4C4C-90D7-A0333A7C587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p:cNvSpPr>
            <a:spLocks noGrp="1"/>
          </p:cNvSpPr>
          <p:nvPr>
            <p:ph type="title"/>
          </p:nvPr>
        </p:nvSpPr>
        <p:spPr>
          <a:xfrm>
            <a:off x="1451579" y="2303047"/>
            <a:ext cx="3272093" cy="2674198"/>
          </a:xfrm>
        </p:spPr>
        <p:txBody>
          <a:bodyPr anchor="t">
            <a:normAutofit/>
          </a:bodyPr>
          <a:lstStyle/>
          <a:p>
            <a:r>
              <a:rPr lang="en-US" dirty="0"/>
              <a:t>Hughes and Woodrow Wilson</a:t>
            </a:r>
          </a:p>
        </p:txBody>
      </p:sp>
      <p:cxnSp>
        <p:nvCxnSpPr>
          <p:cNvPr id="14" name="Straight Connector 13">
            <a:extLst>
              <a:ext uri="{FF2B5EF4-FFF2-40B4-BE49-F238E27FC236}">
                <a16:creationId xmlns:a16="http://schemas.microsoft.com/office/drawing/2014/main" xmlns="" id="{9EBB0476-5CF0-4F44-8D68-5D42D7AEE43A}"/>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1579" y="2146542"/>
            <a:ext cx="3272094"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16" name="Title 1">
            <a:extLst>
              <a:ext uri="{FF2B5EF4-FFF2-40B4-BE49-F238E27FC236}">
                <a16:creationId xmlns:a16="http://schemas.microsoft.com/office/drawing/2014/main" xmlns="" id="{A9DA474E-6B91-4200-840F-0257B2358A75}"/>
              </a:ext>
              <a:ext uri="{C183D7F6-B498-43B3-948B-1728B52AA6E4}">
                <adec:decorative xmlns:adec="http://schemas.microsoft.com/office/drawing/2017/decorative" xmlns=""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51580" y="3122496"/>
            <a:ext cx="3530157" cy="104923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endParaRPr lang="en-US" dirty="0"/>
          </a:p>
        </p:txBody>
      </p:sp>
      <p:pic>
        <p:nvPicPr>
          <p:cNvPr id="18" name="Picture 17">
            <a:extLst>
              <a:ext uri="{FF2B5EF4-FFF2-40B4-BE49-F238E27FC236}">
                <a16:creationId xmlns:a16="http://schemas.microsoft.com/office/drawing/2014/main" xmlns="" id="{DF63C9AD-AE6E-4512-8171-91612E84CCFB}"/>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20" name="Straight Connector 19">
            <a:extLst>
              <a:ext uri="{FF2B5EF4-FFF2-40B4-BE49-F238E27FC236}">
                <a16:creationId xmlns:a16="http://schemas.microsoft.com/office/drawing/2014/main" xmlns="" id="{FE1A49CE-B63D-457A-A180-1C883E1A63D2}"/>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xmlns="" id="{8385F11C-A3FD-48BF-BB86-975CF30AD6DB}"/>
              </a:ext>
            </a:extLst>
          </p:cNvPr>
          <p:cNvGraphicFramePr>
            <a:graphicFrameLocks noGrp="1"/>
          </p:cNvGraphicFramePr>
          <p:nvPr>
            <p:ph idx="1"/>
            <p:extLst>
              <p:ext uri="{D42A27DB-BD31-4B8C-83A1-F6EECF244321}">
                <p14:modId xmlns:p14="http://schemas.microsoft.com/office/powerpoint/2010/main" val="3127283747"/>
              </p:ext>
            </p:extLst>
          </p:nvPr>
        </p:nvGraphicFramePr>
        <p:xfrm>
          <a:off x="5141913" y="803275"/>
          <a:ext cx="5913437" cy="46370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807829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xmlns="" id="{35C3D674-3D59-4E93-80CA-0C0A9095E81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xmlns="" id="{C884B8F8-FDC9-498B-9960-5D7260AFCB03}"/>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417737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a:xfrm>
            <a:off x="1451580" y="804520"/>
            <a:ext cx="4176511" cy="1049235"/>
          </a:xfrm>
        </p:spPr>
        <p:txBody>
          <a:bodyPr>
            <a:normAutofit/>
          </a:bodyPr>
          <a:lstStyle/>
          <a:p>
            <a:r>
              <a:rPr lang="en-AU" dirty="0"/>
              <a:t>The Paris peace conference </a:t>
            </a:r>
          </a:p>
        </p:txBody>
      </p:sp>
      <p:sp>
        <p:nvSpPr>
          <p:cNvPr id="13" name="Rectangle 12">
            <a:extLst>
              <a:ext uri="{FF2B5EF4-FFF2-40B4-BE49-F238E27FC236}">
                <a16:creationId xmlns:a16="http://schemas.microsoft.com/office/drawing/2014/main" xmlns="" id="{EF2A81E1-BCBE-426B-8C09-33274E69409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3" name="Content Placeholder 2"/>
          <p:cNvSpPr>
            <a:spLocks noGrp="1"/>
          </p:cNvSpPr>
          <p:nvPr>
            <p:ph idx="1"/>
          </p:nvPr>
        </p:nvSpPr>
        <p:spPr>
          <a:xfrm>
            <a:off x="1451581" y="2015732"/>
            <a:ext cx="4172212" cy="3450613"/>
          </a:xfrm>
        </p:spPr>
        <p:txBody>
          <a:bodyPr>
            <a:normAutofit/>
          </a:bodyPr>
          <a:lstStyle/>
          <a:p>
            <a:pPr>
              <a:lnSpc>
                <a:spcPct val="110000"/>
              </a:lnSpc>
            </a:pPr>
            <a:r>
              <a:rPr lang="en-AU" sz="1700" dirty="0"/>
              <a:t>Britain allowed it’s dominions a separate voice at the conference and were separate signatories of the Treaty of Versailles. </a:t>
            </a:r>
          </a:p>
          <a:p>
            <a:pPr>
              <a:lnSpc>
                <a:spcPct val="110000"/>
              </a:lnSpc>
            </a:pPr>
            <a:r>
              <a:rPr lang="en-AU" sz="1700" dirty="0"/>
              <a:t>Hughes travelled to France for the Paris Peace conference in 1919, representing in his words, “60 000 Australian dead”. </a:t>
            </a:r>
          </a:p>
          <a:p>
            <a:pPr>
              <a:lnSpc>
                <a:spcPct val="110000"/>
              </a:lnSpc>
            </a:pPr>
            <a:r>
              <a:rPr lang="en-AU" sz="1700" dirty="0"/>
              <a:t>Hughes sided with France and held the view that Germany should be punished for its aggression. </a:t>
            </a:r>
          </a:p>
        </p:txBody>
      </p:sp>
      <p:pic>
        <p:nvPicPr>
          <p:cNvPr id="4" name="Picture 3"/>
          <p:cNvPicPr>
            <a:picLocks noChangeAspect="1"/>
          </p:cNvPicPr>
          <p:nvPr/>
        </p:nvPicPr>
        <p:blipFill>
          <a:blip r:embed="rId2"/>
          <a:stretch>
            <a:fillRect/>
          </a:stretch>
        </p:blipFill>
        <p:spPr>
          <a:xfrm>
            <a:off x="6885106" y="805583"/>
            <a:ext cx="3379052" cy="4660762"/>
          </a:xfrm>
          <a:prstGeom prst="rect">
            <a:avLst/>
          </a:prstGeom>
        </p:spPr>
      </p:pic>
      <p:pic>
        <p:nvPicPr>
          <p:cNvPr id="15" name="Picture 14">
            <a:extLst>
              <a:ext uri="{FF2B5EF4-FFF2-40B4-BE49-F238E27FC236}">
                <a16:creationId xmlns:a16="http://schemas.microsoft.com/office/drawing/2014/main" xmlns="" id="{39D1DDD4-5BB3-45BA-B9B3-06B62299AD79}"/>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7" name="Straight Connector 16">
            <a:extLst>
              <a:ext uri="{FF2B5EF4-FFF2-40B4-BE49-F238E27FC236}">
                <a16:creationId xmlns:a16="http://schemas.microsoft.com/office/drawing/2014/main" xmlns="" id="{A24DAE64-2302-42EA-8239-F2F0775CA5AD}"/>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54479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51579" y="804519"/>
            <a:ext cx="9603275" cy="1049235"/>
          </a:xfrm>
        </p:spPr>
        <p:txBody>
          <a:bodyPr>
            <a:normAutofit/>
          </a:bodyPr>
          <a:lstStyle/>
          <a:p>
            <a:r>
              <a:rPr lang="en-US" dirty="0"/>
              <a:t>The Racial equality clause </a:t>
            </a:r>
          </a:p>
        </p:txBody>
      </p:sp>
      <p:sp>
        <p:nvSpPr>
          <p:cNvPr id="3" name="Content Placeholder 2"/>
          <p:cNvSpPr>
            <a:spLocks noGrp="1"/>
          </p:cNvSpPr>
          <p:nvPr>
            <p:ph idx="1"/>
          </p:nvPr>
        </p:nvSpPr>
        <p:spPr>
          <a:xfrm>
            <a:off x="1451579" y="2015734"/>
            <a:ext cx="6195784" cy="3450613"/>
          </a:xfrm>
        </p:spPr>
        <p:txBody>
          <a:bodyPr>
            <a:normAutofit/>
          </a:bodyPr>
          <a:lstStyle/>
          <a:p>
            <a:pPr>
              <a:lnSpc>
                <a:spcPct val="110000"/>
              </a:lnSpc>
            </a:pPr>
            <a:r>
              <a:rPr lang="en-AU" sz="1700" dirty="0"/>
              <a:t>By 1918 Japan was one of the most powerful nations. </a:t>
            </a:r>
          </a:p>
          <a:p>
            <a:pPr>
              <a:lnSpc>
                <a:spcPct val="110000"/>
              </a:lnSpc>
            </a:pPr>
            <a:r>
              <a:rPr lang="en-AU" sz="1700" dirty="0"/>
              <a:t>At the Paris Peace conference, Japan was rewarded by being included as a member of the League of Nations and was granted the mandate of the German North Pacific islands. </a:t>
            </a:r>
          </a:p>
          <a:p>
            <a:pPr>
              <a:lnSpc>
                <a:spcPct val="110000"/>
              </a:lnSpc>
            </a:pPr>
            <a:r>
              <a:rPr lang="en-AU" sz="1700" dirty="0"/>
              <a:t>Japan proposed a racial equality amendment to the League of Nations which would see racial equality among nations. </a:t>
            </a:r>
          </a:p>
          <a:p>
            <a:pPr>
              <a:lnSpc>
                <a:spcPct val="110000"/>
              </a:lnSpc>
            </a:pPr>
            <a:r>
              <a:rPr lang="en-AU" sz="1700" dirty="0"/>
              <a:t>Hughes opposed the amendment as he felt it would threaten Australia’s White Australia policy and he also saw Japan as a threat to Australia’s security. </a:t>
            </a:r>
          </a:p>
          <a:p>
            <a:pPr>
              <a:lnSpc>
                <a:spcPct val="110000"/>
              </a:lnSpc>
            </a:pPr>
            <a:endParaRPr lang="en-US" sz="1700" dirty="0"/>
          </a:p>
        </p:txBody>
      </p:sp>
      <p:pic>
        <p:nvPicPr>
          <p:cNvPr id="4" name="Picture 3"/>
          <p:cNvPicPr>
            <a:picLocks noChangeAspect="1"/>
          </p:cNvPicPr>
          <p:nvPr/>
        </p:nvPicPr>
        <p:blipFill>
          <a:blip r:embed="rId2"/>
          <a:stretch>
            <a:fillRect/>
          </a:stretch>
        </p:blipFill>
        <p:spPr>
          <a:xfrm>
            <a:off x="8128756" y="2137699"/>
            <a:ext cx="2926098" cy="3206682"/>
          </a:xfrm>
          <a:prstGeom prst="rect">
            <a:avLst/>
          </a:prstGeom>
        </p:spPr>
      </p:pic>
    </p:spTree>
    <p:extLst>
      <p:ext uri="{BB962C8B-B14F-4D97-AF65-F5344CB8AC3E}">
        <p14:creationId xmlns:p14="http://schemas.microsoft.com/office/powerpoint/2010/main" val="41100000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The Paris peace conference </a:t>
            </a:r>
          </a:p>
        </p:txBody>
      </p:sp>
      <p:sp>
        <p:nvSpPr>
          <p:cNvPr id="3" name="Content Placeholder 2"/>
          <p:cNvSpPr>
            <a:spLocks noGrp="1"/>
          </p:cNvSpPr>
          <p:nvPr>
            <p:ph idx="1"/>
          </p:nvPr>
        </p:nvSpPr>
        <p:spPr/>
        <p:txBody>
          <a:bodyPr/>
          <a:lstStyle/>
          <a:p>
            <a:r>
              <a:rPr lang="en-AU" dirty="0" smtClean="0"/>
              <a:t>Australia’s stance was reactionary based on National interests which was out of sync with Woodrow Wilsons view for the league of nations. </a:t>
            </a:r>
          </a:p>
          <a:p>
            <a:r>
              <a:rPr lang="en-AU" dirty="0" smtClean="0"/>
              <a:t>A majority of the League voted for the amendment, however it was unsuccessful as it required a unanimous vote to be passed. </a:t>
            </a:r>
          </a:p>
        </p:txBody>
      </p:sp>
    </p:spTree>
    <p:extLst>
      <p:ext uri="{BB962C8B-B14F-4D97-AF65-F5344CB8AC3E}">
        <p14:creationId xmlns:p14="http://schemas.microsoft.com/office/powerpoint/2010/main" val="598303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xmlns="" id="{35C3D674-3D59-4E93-80CA-0C0A9095E81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xmlns="" id="{C884B8F8-FDC9-498B-9960-5D7260AFCB03}"/>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417737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a:xfrm>
            <a:off x="1451580" y="804520"/>
            <a:ext cx="4176511" cy="1049235"/>
          </a:xfrm>
        </p:spPr>
        <p:txBody>
          <a:bodyPr>
            <a:normAutofit/>
          </a:bodyPr>
          <a:lstStyle/>
          <a:p>
            <a:r>
              <a:rPr lang="en-AU" dirty="0"/>
              <a:t>Imperial conference 1926 </a:t>
            </a:r>
          </a:p>
        </p:txBody>
      </p:sp>
      <p:sp>
        <p:nvSpPr>
          <p:cNvPr id="13" name="Rectangle 12">
            <a:extLst>
              <a:ext uri="{FF2B5EF4-FFF2-40B4-BE49-F238E27FC236}">
                <a16:creationId xmlns:a16="http://schemas.microsoft.com/office/drawing/2014/main" xmlns="" id="{EF2A81E1-BCBE-426B-8C09-33274E69409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3" name="Content Placeholder 2"/>
          <p:cNvSpPr>
            <a:spLocks noGrp="1"/>
          </p:cNvSpPr>
          <p:nvPr>
            <p:ph idx="1"/>
          </p:nvPr>
        </p:nvSpPr>
        <p:spPr>
          <a:xfrm>
            <a:off x="1451581" y="2015732"/>
            <a:ext cx="4172212" cy="3450613"/>
          </a:xfrm>
        </p:spPr>
        <p:txBody>
          <a:bodyPr>
            <a:normAutofit/>
          </a:bodyPr>
          <a:lstStyle/>
          <a:p>
            <a:pPr>
              <a:lnSpc>
                <a:spcPct val="110000"/>
              </a:lnSpc>
            </a:pPr>
            <a:r>
              <a:rPr lang="en-AU" sz="1700" dirty="0"/>
              <a:t>At the 1926 imperial conference the Balfour report stated that Britain and its dominions were equal to each other. </a:t>
            </a:r>
          </a:p>
          <a:p>
            <a:pPr>
              <a:lnSpc>
                <a:spcPct val="110000"/>
              </a:lnSpc>
            </a:pPr>
            <a:r>
              <a:rPr lang="en-AU" sz="1700" dirty="0"/>
              <a:t>Many countries took up its independence but Australia did not do so. </a:t>
            </a:r>
          </a:p>
          <a:p>
            <a:pPr>
              <a:lnSpc>
                <a:spcPct val="110000"/>
              </a:lnSpc>
            </a:pPr>
            <a:r>
              <a:rPr lang="en-AU" sz="1700" dirty="0"/>
              <a:t>They saw the British Empire as their safeguard. </a:t>
            </a:r>
          </a:p>
          <a:p>
            <a:pPr>
              <a:lnSpc>
                <a:spcPct val="110000"/>
              </a:lnSpc>
            </a:pPr>
            <a:r>
              <a:rPr lang="en-AU" sz="1700" dirty="0"/>
              <a:t>The conference was also a forum for discussion on defence strategies, economic cooperation, migration schemes. </a:t>
            </a:r>
          </a:p>
        </p:txBody>
      </p:sp>
      <p:pic>
        <p:nvPicPr>
          <p:cNvPr id="4" name="Picture 3"/>
          <p:cNvPicPr>
            <a:picLocks noChangeAspect="1"/>
          </p:cNvPicPr>
          <p:nvPr/>
        </p:nvPicPr>
        <p:blipFill>
          <a:blip r:embed="rId2"/>
          <a:stretch>
            <a:fillRect/>
          </a:stretch>
        </p:blipFill>
        <p:spPr>
          <a:xfrm>
            <a:off x="6095849" y="1278460"/>
            <a:ext cx="4960442" cy="3931150"/>
          </a:xfrm>
          <a:prstGeom prst="rect">
            <a:avLst/>
          </a:prstGeom>
        </p:spPr>
      </p:pic>
      <p:pic>
        <p:nvPicPr>
          <p:cNvPr id="15" name="Picture 14">
            <a:extLst>
              <a:ext uri="{FF2B5EF4-FFF2-40B4-BE49-F238E27FC236}">
                <a16:creationId xmlns:a16="http://schemas.microsoft.com/office/drawing/2014/main" xmlns="" id="{39D1DDD4-5BB3-45BA-B9B3-06B62299AD79}"/>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7" name="Straight Connector 16">
            <a:extLst>
              <a:ext uri="{FF2B5EF4-FFF2-40B4-BE49-F238E27FC236}">
                <a16:creationId xmlns:a16="http://schemas.microsoft.com/office/drawing/2014/main" xmlns="" id="{A24DAE64-2302-42EA-8239-F2F0775CA5AD}"/>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4555519"/>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TM10001114[[fn=Gallery]]</Template>
  <TotalTime>1190</TotalTime>
  <Words>624</Words>
  <Application>Microsoft Macintosh PowerPoint</Application>
  <PresentationFormat>Widescreen</PresentationFormat>
  <Paragraphs>43</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Calibri</vt:lpstr>
      <vt:lpstr>Gill Sans MT</vt:lpstr>
      <vt:lpstr>Arial</vt:lpstr>
      <vt:lpstr>Gallery</vt:lpstr>
      <vt:lpstr>conferences following ww1</vt:lpstr>
      <vt:lpstr>Australia’s involvement in international affairs </vt:lpstr>
      <vt:lpstr>The world post ww1</vt:lpstr>
      <vt:lpstr>Australia post ww1</vt:lpstr>
      <vt:lpstr>The Paris peace conference- an overview</vt:lpstr>
      <vt:lpstr>The Paris peace conference- an overview</vt:lpstr>
      <vt:lpstr>Hughes and Woodrow Wilson</vt:lpstr>
      <vt:lpstr>The Paris peace conference </vt:lpstr>
      <vt:lpstr>The Racial equality clause </vt:lpstr>
      <vt:lpstr>The Paris peace conference </vt:lpstr>
      <vt:lpstr>Imperial conference 1926 </vt:lpstr>
    </vt:vector>
  </TitlesOfParts>
  <Company>Department of Education Western Australia</Company>
  <LinksUpToDate>false</LinksUpToDate>
  <SharedDoc>false</SharedDoc>
  <HyperlinksChanged>false</HyperlinksChanged>
  <AppVersion>15.0032</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Peace conferences following ww1</dc:title>
  <dc:creator>HARRIS Adam [Narrogin Senior High School]</dc:creator>
  <cp:lastModifiedBy>HARRIS Adam [Narrogin Senior High School]</cp:lastModifiedBy>
  <cp:revision>16</cp:revision>
  <dcterms:created xsi:type="dcterms:W3CDTF">2019-02-08T00:29:13Z</dcterms:created>
  <dcterms:modified xsi:type="dcterms:W3CDTF">2019-02-10T23:39:10Z</dcterms:modified>
</cp:coreProperties>
</file>
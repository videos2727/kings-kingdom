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89" r:id="rId2"/>
    <p:sldId id="399" r:id="rId3"/>
    <p:sldId id="398" r:id="rId4"/>
    <p:sldId id="397" r:id="rId5"/>
    <p:sldId id="400" r:id="rId6"/>
    <p:sldId id="401" r:id="rId7"/>
    <p:sldId id="402" r:id="rId8"/>
    <p:sldId id="392" r:id="rId9"/>
    <p:sldId id="393" r:id="rId10"/>
    <p:sldId id="394" r:id="rId11"/>
    <p:sldId id="40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B8C97D7-26C6-4F2D-A6DC-02C189D6918E}" v="14" dt="2020-03-17T03:41:51.44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rah James" userId="e5e3e68366f0feb3" providerId="LiveId" clId="{AB8C97D7-26C6-4F2D-A6DC-02C189D6918E}"/>
    <pc:docChg chg="delSld modSld">
      <pc:chgData name="Sarah James" userId="e5e3e68366f0feb3" providerId="LiveId" clId="{AB8C97D7-26C6-4F2D-A6DC-02C189D6918E}" dt="2020-03-17T03:41:51.443" v="161"/>
      <pc:docMkLst>
        <pc:docMk/>
      </pc:docMkLst>
      <pc:sldChg chg="del">
        <pc:chgData name="Sarah James" userId="e5e3e68366f0feb3" providerId="LiveId" clId="{AB8C97D7-26C6-4F2D-A6DC-02C189D6918E}" dt="2020-03-17T03:31:30.689" v="0" actId="47"/>
        <pc:sldMkLst>
          <pc:docMk/>
          <pc:sldMk cId="2216532587" sldId="258"/>
        </pc:sldMkLst>
      </pc:sldChg>
      <pc:sldChg chg="modAnim">
        <pc:chgData name="Sarah James" userId="e5e3e68366f0feb3" providerId="LiveId" clId="{AB8C97D7-26C6-4F2D-A6DC-02C189D6918E}" dt="2020-03-17T03:41:51.443" v="161"/>
        <pc:sldMkLst>
          <pc:docMk/>
          <pc:sldMk cId="260289990" sldId="400"/>
        </pc:sldMkLst>
      </pc:sldChg>
      <pc:sldChg chg="addSp modSp mod modAnim">
        <pc:chgData name="Sarah James" userId="e5e3e68366f0feb3" providerId="LiveId" clId="{AB8C97D7-26C6-4F2D-A6DC-02C189D6918E}" dt="2020-03-17T03:41:24.737" v="154"/>
        <pc:sldMkLst>
          <pc:docMk/>
          <pc:sldMk cId="312158932" sldId="402"/>
        </pc:sldMkLst>
        <pc:spChg chg="add mod">
          <ac:chgData name="Sarah James" userId="e5e3e68366f0feb3" providerId="LiveId" clId="{AB8C97D7-26C6-4F2D-A6DC-02C189D6918E}" dt="2020-03-17T03:40:57.829" v="149" actId="14100"/>
          <ac:spMkLst>
            <pc:docMk/>
            <pc:sldMk cId="312158932" sldId="402"/>
            <ac:spMk id="3" creationId="{FCE8045B-230B-49A7-BDC5-1B33CD8A8375}"/>
          </ac:spMkLst>
        </pc:spChg>
        <pc:spChg chg="add mod">
          <ac:chgData name="Sarah James" userId="e5e3e68366f0feb3" providerId="LiveId" clId="{AB8C97D7-26C6-4F2D-A6DC-02C189D6918E}" dt="2020-03-17T03:39:59.805" v="23" actId="20577"/>
          <ac:spMkLst>
            <pc:docMk/>
            <pc:sldMk cId="312158932" sldId="402"/>
            <ac:spMk id="17" creationId="{004CE11C-C1E5-4FBB-8585-2C0188AF8A4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EEBC3D-F7C5-4268-91B3-4BDBADDA0A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E9120B-8128-44E1-9EB1-0C0AA1FD7E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9A2E1C-6064-4E4C-9F8D-A10C26A529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7A09B4-811F-4747-88A3-55D1745713E5}" type="datetimeFigureOut">
              <a:rPr lang="en-AU" smtClean="0"/>
              <a:t>17/03/2020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C0CFBE-A68C-4722-A840-3606205F36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F4EA6D-B349-41AE-9BD5-83B1255D5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9AF2D-5CF5-46D3-AFD1-D624BA6DA71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719633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622841-857A-4A2C-8320-39DEEEEC30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BE2C77-4F33-44E0-B83A-EE6BCA4936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BCFD61-C179-4FA0-916D-907B3282DA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7A09B4-811F-4747-88A3-55D1745713E5}" type="datetimeFigureOut">
              <a:rPr lang="en-AU" smtClean="0"/>
              <a:t>17/03/2020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643BB1-1195-4806-8C8D-A6D5BC1A96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E21E60-0AAD-4A57-BAC8-8C85E6578D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9AF2D-5CF5-46D3-AFD1-D624BA6DA71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0206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B52E3A-9390-4AD7-9350-EFFAD32E9D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BA236E-D80A-422F-80F2-01030F8ED9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3A8216-6A06-4E39-A528-5E7393E6B7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7A09B4-811F-4747-88A3-55D1745713E5}" type="datetimeFigureOut">
              <a:rPr lang="en-AU" smtClean="0"/>
              <a:t>17/03/2020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6454A8-678C-4F2E-BF96-211BBEA23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9179AD-8FFC-49CA-9F2A-B55D330DF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9AF2D-5CF5-46D3-AFD1-D624BA6DA71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254203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CA336B-EB9A-4C96-9D63-132B357A62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144B18-C7F3-4C3B-8D6B-7FD45D62A4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15EA04-2C9F-41E5-B152-323C111728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3F0F5C-68EA-4745-AE61-BB406C88F8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7A09B4-811F-4747-88A3-55D1745713E5}" type="datetimeFigureOut">
              <a:rPr lang="en-AU" smtClean="0"/>
              <a:t>17/03/2020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EBA637-B2A7-40CD-AA03-31575A6A64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F7245C-8DD8-4153-A292-23F9808D46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9AF2D-5CF5-46D3-AFD1-D624BA6DA71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364625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3B1B60-457D-43B1-9956-F03FE92AD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AA288D-1799-4A06-827D-F178E5C961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F7631E-35EC-48F4-8FF4-78E20E2A2A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E86B18-CA75-477C-8EA3-906F809A22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A8CCFB8-9A85-4F32-A39E-747618EBF3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DBA5F2A-31A9-40D5-81E2-9D1C82A53C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7A09B4-811F-4747-88A3-55D1745713E5}" type="datetimeFigureOut">
              <a:rPr lang="en-AU" smtClean="0"/>
              <a:t>17/03/2020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2DB3254-3629-4BF0-9934-D7F5E20AC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A1D9BD1-4416-49F9-B4D1-38C2349A4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9AF2D-5CF5-46D3-AFD1-D624BA6DA71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255613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27D664-7C2C-4CB9-B610-0CE9F0EA5B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89C5703-9EFD-4444-95FE-CCF52CCF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7A09B4-811F-4747-88A3-55D1745713E5}" type="datetimeFigureOut">
              <a:rPr lang="en-AU" smtClean="0"/>
              <a:t>17/03/2020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D92765-DACB-43F3-B393-8459E8B628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A77F33-BA3A-4C8B-80DF-4D8AA9189B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9AF2D-5CF5-46D3-AFD1-D624BA6DA71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443421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76DB097-579B-4EA0-B4C6-33250C03A2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7A09B4-811F-4747-88A3-55D1745713E5}" type="datetimeFigureOut">
              <a:rPr lang="en-AU" smtClean="0"/>
              <a:t>17/03/2020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609B011-D941-4F21-86DA-87D6B3FCB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3E1EF2-A747-47BA-81B1-C3B2B9C34D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9AF2D-5CF5-46D3-AFD1-D624BA6DA71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55237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309427-CB6B-4BB7-960D-D7A143482F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EEBF1A-80BD-43BF-8E0B-EC49FA7D78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E3A185-4761-431E-A5C1-ACAF69312E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127D16-0D63-4D8A-BD7F-AD4B4CA26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7A09B4-811F-4747-88A3-55D1745713E5}" type="datetimeFigureOut">
              <a:rPr lang="en-AU" smtClean="0"/>
              <a:t>17/03/2020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6B1886-78D9-42BD-853D-0E7AD200DF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D0D54C-8C15-419D-AB86-8E3C2957DD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9AF2D-5CF5-46D3-AFD1-D624BA6DA71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878852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F43AE8-6EEE-4C85-B4AA-D38348D6A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AAF8F25-AA80-45B7-B311-47FE4F3B12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F5FB4A-5B51-4402-968B-5602354070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6DA208-6ADD-42A3-84EB-3914ADB9F8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7A09B4-811F-4747-88A3-55D1745713E5}" type="datetimeFigureOut">
              <a:rPr lang="en-AU" smtClean="0"/>
              <a:t>17/03/2020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048705-0AA7-4105-AC1C-DAE4A30156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F12C42-85ED-415B-B427-D39EB0E74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9AF2D-5CF5-46D3-AFD1-D624BA6DA71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807320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7C58C3-B5D2-40C1-8608-C8E0338A75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9D0776-1AB8-4CDF-83B2-30701C3883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563F1F-B983-484C-870A-0E63CD17D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7A09B4-811F-4747-88A3-55D1745713E5}" type="datetimeFigureOut">
              <a:rPr lang="en-AU" smtClean="0"/>
              <a:t>17/03/2020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333172-CFCF-4669-A313-F48CFEF5D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CF02ED-200A-44EB-929F-DB9A878F9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9AF2D-5CF5-46D3-AFD1-D624BA6DA71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119443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D04C9ED-6AAC-49E5-AF81-65B64C15BBE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148A4D-0EDF-4C01-8559-770B2F4207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561D51-89E9-4F8D-8CE4-C04CA4BE4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7A09B4-811F-4747-88A3-55D1745713E5}" type="datetimeFigureOut">
              <a:rPr lang="en-AU" smtClean="0"/>
              <a:t>17/03/2020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5C45CD-372F-468B-8F48-0CF744A931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F79EDF-6EC7-4621-AA89-A8B36A7B1A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9AF2D-5CF5-46D3-AFD1-D624BA6DA71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346419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AF2D238-0D2B-49DB-86B6-DF999F8EDB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3B846B-1981-497F-954E-4B55348AD0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1B9454-B646-4986-B747-5E881E39347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7A09B4-811F-4747-88A3-55D1745713E5}" type="datetimeFigureOut">
              <a:rPr lang="en-AU" smtClean="0"/>
              <a:t>17/03/2020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E67E27-996A-4400-B447-57544CAC60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A32D59-A304-484D-9B6E-5C2B13672D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B9AF2D-5CF5-46D3-AFD1-D624BA6DA71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192768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A539F4-62A1-496D-8D5C-97AA3DBD93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15480" y="260648"/>
            <a:ext cx="9144000" cy="864096"/>
          </a:xfrm>
        </p:spPr>
        <p:txBody>
          <a:bodyPr>
            <a:normAutofit fontScale="90000"/>
          </a:bodyPr>
          <a:lstStyle/>
          <a:p>
            <a:r>
              <a:rPr lang="en-AU" sz="2000" b="1" dirty="0"/>
              <a:t>Topic: Linear Relationships</a:t>
            </a:r>
            <a:br>
              <a:rPr lang="en-AU" sz="2000" dirty="0"/>
            </a:br>
            <a:r>
              <a:rPr lang="en-AU" sz="2000" b="1" dirty="0"/>
              <a:t>EQ – How do we use the gradient and y-intercept from a graph to form a linear equation?</a:t>
            </a:r>
            <a:br>
              <a:rPr lang="en-AU" sz="2000" b="1" dirty="0"/>
            </a:b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27365681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25</a:t>
            </a:r>
          </a:p>
        </p:txBody>
      </p:sp>
      <p:cxnSp>
        <p:nvCxnSpPr>
          <p:cNvPr id="4" name="Straight Connector 3"/>
          <p:cNvCxnSpPr>
            <a:cxnSpLocks/>
          </p:cNvCxnSpPr>
          <p:nvPr/>
        </p:nvCxnSpPr>
        <p:spPr>
          <a:xfrm flipV="1">
            <a:off x="0" y="980729"/>
            <a:ext cx="12192000" cy="1066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 flipV="1">
            <a:off x="0" y="1892047"/>
            <a:ext cx="12192000" cy="24785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9336" y="9253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495600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23392" y="274156"/>
            <a:ext cx="30764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Linear Relationships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16280" y="106355"/>
            <a:ext cx="28083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Date: /9/2018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B61338C-F493-4367-BD45-C1243F79202B}"/>
              </a:ext>
            </a:extLst>
          </p:cNvPr>
          <p:cNvCxnSpPr/>
          <p:nvPr/>
        </p:nvCxnSpPr>
        <p:spPr>
          <a:xfrm>
            <a:off x="8040216" y="1892047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31056EAC-9909-49F8-AF63-CB2D7280E01D}"/>
              </a:ext>
            </a:extLst>
          </p:cNvPr>
          <p:cNvSpPr txBox="1"/>
          <p:nvPr/>
        </p:nvSpPr>
        <p:spPr>
          <a:xfrm>
            <a:off x="119514" y="1075004"/>
            <a:ext cx="1180913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/>
              <a:t>EQ – How do we use the gradient and y-intercept from a graph to form a linear equation?</a:t>
            </a:r>
          </a:p>
        </p:txBody>
      </p:sp>
    </p:spTree>
    <p:extLst>
      <p:ext uri="{BB962C8B-B14F-4D97-AF65-F5344CB8AC3E}">
        <p14:creationId xmlns:p14="http://schemas.microsoft.com/office/powerpoint/2010/main" val="24347952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25</a:t>
            </a:r>
          </a:p>
        </p:txBody>
      </p:sp>
      <p:cxnSp>
        <p:nvCxnSpPr>
          <p:cNvPr id="4" name="Straight Connector 3"/>
          <p:cNvCxnSpPr>
            <a:cxnSpLocks/>
          </p:cNvCxnSpPr>
          <p:nvPr/>
        </p:nvCxnSpPr>
        <p:spPr>
          <a:xfrm flipV="1">
            <a:off x="0" y="980729"/>
            <a:ext cx="12192000" cy="1066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 flipV="1">
            <a:off x="0" y="1892047"/>
            <a:ext cx="12192000" cy="24785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9336" y="9253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495600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23392" y="274156"/>
            <a:ext cx="30764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Linear Relationships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16280" y="106355"/>
            <a:ext cx="28083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Date: /9/2018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B61338C-F493-4367-BD45-C1243F79202B}"/>
              </a:ext>
            </a:extLst>
          </p:cNvPr>
          <p:cNvCxnSpPr/>
          <p:nvPr/>
        </p:nvCxnSpPr>
        <p:spPr>
          <a:xfrm>
            <a:off x="8493316" y="1906001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31056EAC-9909-49F8-AF63-CB2D7280E01D}"/>
              </a:ext>
            </a:extLst>
          </p:cNvPr>
          <p:cNvSpPr txBox="1"/>
          <p:nvPr/>
        </p:nvSpPr>
        <p:spPr>
          <a:xfrm>
            <a:off x="119514" y="1075004"/>
            <a:ext cx="1180913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/>
              <a:t>EQ – How do we use the gradient and y-intercept from a graph to form a linear equation?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9483173-E6F4-4A53-B00B-D7482741778F}"/>
              </a:ext>
            </a:extLst>
          </p:cNvPr>
          <p:cNvSpPr txBox="1"/>
          <p:nvPr/>
        </p:nvSpPr>
        <p:spPr>
          <a:xfrm>
            <a:off x="121639" y="2173581"/>
            <a:ext cx="18350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What is gradient?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B6D58F8-F5F8-4C14-81D9-54BF572B1443}"/>
              </a:ext>
            </a:extLst>
          </p:cNvPr>
          <p:cNvSpPr txBox="1"/>
          <p:nvPr/>
        </p:nvSpPr>
        <p:spPr>
          <a:xfrm>
            <a:off x="2495599" y="1988915"/>
            <a:ext cx="53285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gradient of a line is a measure of its slope.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37AD37B-C3E1-46BC-97F1-B518C812D525}"/>
              </a:ext>
            </a:extLst>
          </p:cNvPr>
          <p:cNvSpPr txBox="1"/>
          <p:nvPr/>
        </p:nvSpPr>
        <p:spPr>
          <a:xfrm>
            <a:off x="2495599" y="2340820"/>
            <a:ext cx="56166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It is a number that shows the steepness of a line. </a:t>
            </a:r>
          </a:p>
          <a:p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E9769A1-F0BD-454A-B1C1-9D9D91B81B61}"/>
              </a:ext>
            </a:extLst>
          </p:cNvPr>
          <p:cNvSpPr txBox="1"/>
          <p:nvPr/>
        </p:nvSpPr>
        <p:spPr>
          <a:xfrm>
            <a:off x="2495600" y="2759685"/>
            <a:ext cx="599771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It is calculated by knowing how far a line rises or falls (called the </a:t>
            </a:r>
            <a:r>
              <a:rPr lang="en-US" b="1" i="1" dirty="0">
                <a:solidFill>
                  <a:srgbClr val="FF0000"/>
                </a:solidFill>
              </a:rPr>
              <a:t>rise</a:t>
            </a:r>
            <a:r>
              <a:rPr lang="en-US" dirty="0"/>
              <a:t>) within a certain horizontal distance (called the </a:t>
            </a:r>
            <a:r>
              <a:rPr lang="en-US" b="1" i="1" dirty="0">
                <a:solidFill>
                  <a:srgbClr val="FF0000"/>
                </a:solidFill>
              </a:rPr>
              <a:t>run</a:t>
            </a:r>
            <a:r>
              <a:rPr lang="en-US" dirty="0"/>
              <a:t>). </a:t>
            </a:r>
          </a:p>
          <a:p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C2A53C1-6A8F-4577-BA86-8C57E2AD1F11}"/>
              </a:ext>
            </a:extLst>
          </p:cNvPr>
          <p:cNvSpPr txBox="1"/>
          <p:nvPr/>
        </p:nvSpPr>
        <p:spPr>
          <a:xfrm>
            <a:off x="2495599" y="3639717"/>
            <a:ext cx="5009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gradient is equal to the </a:t>
            </a:r>
            <a:r>
              <a:rPr lang="en-US" i="1" dirty="0"/>
              <a:t>rise </a:t>
            </a:r>
            <a:r>
              <a:rPr lang="en-US" dirty="0"/>
              <a:t>divided by the </a:t>
            </a:r>
            <a:r>
              <a:rPr lang="en-US" i="1" dirty="0"/>
              <a:t>run</a:t>
            </a:r>
            <a:r>
              <a:rPr lang="en-US" dirty="0"/>
              <a:t>. </a:t>
            </a:r>
          </a:p>
          <a:p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359ECB7-C542-432C-9342-7360F5134EA2}"/>
              </a:ext>
            </a:extLst>
          </p:cNvPr>
          <p:cNvSpPr txBox="1"/>
          <p:nvPr/>
        </p:nvSpPr>
        <p:spPr>
          <a:xfrm>
            <a:off x="2495600" y="3951653"/>
            <a:ext cx="41879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letter </a:t>
            </a:r>
            <a:r>
              <a:rPr lang="en-US" i="1" dirty="0"/>
              <a:t>m </a:t>
            </a:r>
            <a:r>
              <a:rPr lang="en-US" dirty="0"/>
              <a:t>is used to represent gradient. </a:t>
            </a:r>
          </a:p>
          <a:p>
            <a:endParaRPr lang="en-US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86992E50-DAC9-4A36-962F-A66B056FD3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2938" y="4565008"/>
            <a:ext cx="4724400" cy="901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77846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/>
      <p:bldP spid="20" grpId="0"/>
      <p:bldP spid="2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E59CF0-BD6A-4772-8B9A-51627AF82D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What’s the Value of Y?</a:t>
            </a:r>
            <a:endParaRPr lang="en-GB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136601FA-6859-4644-BBCC-04019DD6F8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3392" y="2852936"/>
            <a:ext cx="10820400" cy="1549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31478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25</a:t>
            </a:r>
          </a:p>
        </p:txBody>
      </p:sp>
      <p:cxnSp>
        <p:nvCxnSpPr>
          <p:cNvPr id="4" name="Straight Connector 3"/>
          <p:cNvCxnSpPr>
            <a:cxnSpLocks/>
          </p:cNvCxnSpPr>
          <p:nvPr/>
        </p:nvCxnSpPr>
        <p:spPr>
          <a:xfrm flipV="1">
            <a:off x="0" y="980729"/>
            <a:ext cx="12192000" cy="1066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 flipV="1">
            <a:off x="0" y="1892047"/>
            <a:ext cx="12192000" cy="24785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9336" y="9253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495600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23392" y="274156"/>
            <a:ext cx="30764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Linear Relationships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16280" y="106355"/>
            <a:ext cx="28083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Date: /9/2018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B61338C-F493-4367-BD45-C1243F79202B}"/>
              </a:ext>
            </a:extLst>
          </p:cNvPr>
          <p:cNvCxnSpPr/>
          <p:nvPr/>
        </p:nvCxnSpPr>
        <p:spPr>
          <a:xfrm>
            <a:off x="8832304" y="1789165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31056EAC-9909-49F8-AF63-CB2D7280E01D}"/>
              </a:ext>
            </a:extLst>
          </p:cNvPr>
          <p:cNvSpPr txBox="1"/>
          <p:nvPr/>
        </p:nvSpPr>
        <p:spPr>
          <a:xfrm>
            <a:off x="119514" y="1075004"/>
            <a:ext cx="1180913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/>
              <a:t>EQ – How do we use the gradient and y-intercept from a graph to form a linear equation?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C6ECEE7-418A-4CFD-ADF3-008E0B86FB8F}"/>
              </a:ext>
            </a:extLst>
          </p:cNvPr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65D85924-A94F-49A2-B6EE-A7C9BBF600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5640" y="2143952"/>
            <a:ext cx="2462305" cy="1766247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FD0072B0-BEEA-476B-917B-A5098FA2A3AA}"/>
              </a:ext>
            </a:extLst>
          </p:cNvPr>
          <p:cNvSpPr txBox="1"/>
          <p:nvPr/>
        </p:nvSpPr>
        <p:spPr>
          <a:xfrm>
            <a:off x="2910421" y="4217886"/>
            <a:ext cx="2352741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If the line slopes up from left to right, the rise is positive and the gradient is positive. </a:t>
            </a:r>
          </a:p>
          <a:p>
            <a:endParaRPr lang="en-US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0794784F-CADF-416C-AD44-1858AAE1D5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9075" y="5570292"/>
            <a:ext cx="2197100" cy="635000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37F68112-FCC5-44CE-BD9C-A04B79EAF384}"/>
              </a:ext>
            </a:extLst>
          </p:cNvPr>
          <p:cNvSpPr txBox="1"/>
          <p:nvPr/>
        </p:nvSpPr>
        <p:spPr>
          <a:xfrm>
            <a:off x="5908652" y="4166754"/>
            <a:ext cx="2742316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If the line slopes down from left to right, the rise is considered to be negative and the gradient is negative. </a:t>
            </a:r>
          </a:p>
          <a:p>
            <a:endParaRPr lang="en-US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D079956F-7B20-4D0A-A99E-AC0A70EE51F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6955" y="2109359"/>
            <a:ext cx="2422480" cy="193254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A101F708-6B80-45C8-95CC-C4CBDD103D9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9935" y="5468692"/>
            <a:ext cx="2349500" cy="736600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BD15D839-06E1-49BF-8614-25A07B04CB67}"/>
              </a:ext>
            </a:extLst>
          </p:cNvPr>
          <p:cNvSpPr/>
          <p:nvPr/>
        </p:nvSpPr>
        <p:spPr>
          <a:xfrm>
            <a:off x="405332" y="2060848"/>
            <a:ext cx="1818232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ACaslon" charset="0"/>
              </a:rPr>
              <a:t>Important Note:  Always move from left to right when considering the rise and the run.</a:t>
            </a:r>
          </a:p>
          <a:p>
            <a:br>
              <a:rPr lang="en-US" dirty="0">
                <a:latin typeface="ACaslon" charset="0"/>
              </a:rPr>
            </a:br>
            <a:endParaRPr lang="en-US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602899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4" grpId="0"/>
      <p:bldP spid="2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25</a:t>
            </a:r>
          </a:p>
        </p:txBody>
      </p:sp>
      <p:cxnSp>
        <p:nvCxnSpPr>
          <p:cNvPr id="4" name="Straight Connector 3"/>
          <p:cNvCxnSpPr>
            <a:cxnSpLocks/>
          </p:cNvCxnSpPr>
          <p:nvPr/>
        </p:nvCxnSpPr>
        <p:spPr>
          <a:xfrm flipV="1">
            <a:off x="0" y="980729"/>
            <a:ext cx="12192000" cy="1066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 flipV="1">
            <a:off x="0" y="1892047"/>
            <a:ext cx="12192000" cy="24785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9336" y="9253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495600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23392" y="274156"/>
            <a:ext cx="30764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Linear Relationships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16280" y="106355"/>
            <a:ext cx="28083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Date: /9/2018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B61338C-F493-4367-BD45-C1243F79202B}"/>
              </a:ext>
            </a:extLst>
          </p:cNvPr>
          <p:cNvCxnSpPr/>
          <p:nvPr/>
        </p:nvCxnSpPr>
        <p:spPr>
          <a:xfrm>
            <a:off x="8040216" y="1892047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31056EAC-9909-49F8-AF63-CB2D7280E01D}"/>
              </a:ext>
            </a:extLst>
          </p:cNvPr>
          <p:cNvSpPr txBox="1"/>
          <p:nvPr/>
        </p:nvSpPr>
        <p:spPr>
          <a:xfrm>
            <a:off x="119514" y="1075004"/>
            <a:ext cx="1180913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/>
              <a:t>EQ – How do we use the gradient and y-intercept from a graph to form a linear equation?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C4C3924-2CBD-4898-85E0-F747FA4FE3CA}"/>
              </a:ext>
            </a:extLst>
          </p:cNvPr>
          <p:cNvSpPr/>
          <p:nvPr/>
        </p:nvSpPr>
        <p:spPr>
          <a:xfrm>
            <a:off x="2531358" y="2012121"/>
            <a:ext cx="536483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charset="0"/>
              <a:buChar char="•"/>
            </a:pPr>
            <a:r>
              <a:rPr lang="en-US" dirty="0">
                <a:solidFill>
                  <a:srgbClr val="D80000"/>
                </a:solidFill>
                <a:latin typeface="ACaslon" charset="0"/>
              </a:rPr>
              <a:t>The gradient can also be zero (when a line is horizontal) and undefined (when a line is vertical). </a:t>
            </a:r>
            <a:endParaRPr lang="en-US" sz="800" dirty="0">
              <a:solidFill>
                <a:srgbClr val="D80000"/>
              </a:solidFill>
              <a:effectLst/>
              <a:latin typeface="ZapfDingbats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A8BA058-D4AD-4D6A-A560-18C1993D08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8433" y="2746605"/>
            <a:ext cx="2540000" cy="20955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CF6F1DC-519C-4608-A022-C9DC99FEBD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5374" y="2746605"/>
            <a:ext cx="2247900" cy="208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91585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25</a:t>
            </a:r>
          </a:p>
        </p:txBody>
      </p:sp>
      <p:cxnSp>
        <p:nvCxnSpPr>
          <p:cNvPr id="4" name="Straight Connector 3"/>
          <p:cNvCxnSpPr>
            <a:cxnSpLocks/>
          </p:cNvCxnSpPr>
          <p:nvPr/>
        </p:nvCxnSpPr>
        <p:spPr>
          <a:xfrm flipV="1">
            <a:off x="0" y="980729"/>
            <a:ext cx="12192000" cy="1066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 flipV="1">
            <a:off x="0" y="1892047"/>
            <a:ext cx="12192000" cy="24785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9336" y="9253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783632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23392" y="274156"/>
            <a:ext cx="30764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Linear Relationships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16280" y="106355"/>
            <a:ext cx="28083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Date: /9/2018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B61338C-F493-4367-BD45-C1243F79202B}"/>
              </a:ext>
            </a:extLst>
          </p:cNvPr>
          <p:cNvCxnSpPr/>
          <p:nvPr/>
        </p:nvCxnSpPr>
        <p:spPr>
          <a:xfrm>
            <a:off x="8040216" y="1892047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31056EAC-9909-49F8-AF63-CB2D7280E01D}"/>
              </a:ext>
            </a:extLst>
          </p:cNvPr>
          <p:cNvSpPr txBox="1"/>
          <p:nvPr/>
        </p:nvSpPr>
        <p:spPr>
          <a:xfrm>
            <a:off x="119514" y="1075004"/>
            <a:ext cx="1180913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/>
              <a:t>EQ – How do we use the gradient and y-intercept from a graph to form a linear equation?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D23B915-8B94-41D0-957D-7A9E3AA063AC}"/>
              </a:ext>
            </a:extLst>
          </p:cNvPr>
          <p:cNvSpPr txBox="1"/>
          <p:nvPr/>
        </p:nvSpPr>
        <p:spPr>
          <a:xfrm>
            <a:off x="0" y="1989609"/>
            <a:ext cx="28556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What is the y-intercept?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7A3FB68-8B31-46C5-BCD3-E6E94E9125C2}"/>
                  </a:ext>
                </a:extLst>
              </p:cNvPr>
              <p:cNvSpPr txBox="1"/>
              <p:nvPr/>
            </p:nvSpPr>
            <p:spPr>
              <a:xfrm>
                <a:off x="2960409" y="1989609"/>
                <a:ext cx="4903030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The y-intercept is where the line cross the y-axis. Both the gradient (m) and the y-intercept (c) are be used to create the linear equation using the form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𝑚𝑥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7A3FB68-8B31-46C5-BCD3-E6E94E9125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0409" y="1989609"/>
                <a:ext cx="4903030" cy="1200329"/>
              </a:xfrm>
              <a:prstGeom prst="rect">
                <a:avLst/>
              </a:prstGeom>
              <a:blipFill>
                <a:blip r:embed="rId2"/>
                <a:stretch>
                  <a:fillRect l="-1119" t="-2538" b="-710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C363964-C8C9-43DB-9487-8A3313FE416C}"/>
                  </a:ext>
                </a:extLst>
              </p:cNvPr>
              <p:cNvSpPr txBox="1"/>
              <p:nvPr/>
            </p:nvSpPr>
            <p:spPr>
              <a:xfrm>
                <a:off x="2960409" y="3189938"/>
                <a:ext cx="4791772" cy="1754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Example</a:t>
                </a:r>
              </a:p>
              <a:p>
                <a:r>
                  <a:rPr lang="en-US" dirty="0"/>
                  <a:t>gradient = 4, y-intercept = -3, </a:t>
                </a:r>
              </a:p>
              <a:p>
                <a:endParaRPr lang="en-US" dirty="0"/>
              </a:p>
              <a:p>
                <a:r>
                  <a:rPr lang="en-US" dirty="0"/>
                  <a:t>Linear equation form: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𝑚𝑥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endParaRPr lang="en-AU" b="0" dirty="0"/>
              </a:p>
              <a:p>
                <a:endParaRPr lang="en-US" dirty="0"/>
              </a:p>
              <a:p>
                <a:r>
                  <a:rPr lang="en-US" dirty="0"/>
                  <a:t>Linear equation: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=4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−3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C363964-C8C9-43DB-9487-8A3313FE41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0409" y="3189938"/>
                <a:ext cx="4791772" cy="1754326"/>
              </a:xfrm>
              <a:prstGeom prst="rect">
                <a:avLst/>
              </a:prstGeom>
              <a:blipFill>
                <a:blip r:embed="rId3"/>
                <a:stretch>
                  <a:fillRect l="-1145" t="-1736" b="-451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004CE11C-C1E5-4FBB-8585-2C0188AF8A40}"/>
              </a:ext>
            </a:extLst>
          </p:cNvPr>
          <p:cNvSpPr txBox="1"/>
          <p:nvPr/>
        </p:nvSpPr>
        <p:spPr>
          <a:xfrm>
            <a:off x="190500" y="5037609"/>
            <a:ext cx="28556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What is the point of intersection?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CE8045B-230B-49A7-BDC5-1B33CD8A8375}"/>
              </a:ext>
            </a:extLst>
          </p:cNvPr>
          <p:cNvSpPr txBox="1"/>
          <p:nvPr/>
        </p:nvSpPr>
        <p:spPr>
          <a:xfrm>
            <a:off x="3046132" y="5191125"/>
            <a:ext cx="47060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intersection of linear graphs represents the values of the variables that fit both relationships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121589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4" grpId="0"/>
      <p:bldP spid="16" grpId="0"/>
      <p:bldP spid="17" grpId="0"/>
      <p:bldP spid="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517C9-3365-446D-859C-8FFC9657C6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Task</a:t>
            </a:r>
            <a:endParaRPr lang="en-GB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DA4E920E-6D5D-422E-8C39-BFD19D82A1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67408" y="2057401"/>
            <a:ext cx="10820400" cy="2284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57380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517C9-3365-446D-859C-8FFC9657C6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Task</a:t>
            </a:r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C873999-35ED-4E00-8289-B1E880E30E0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5800" y="2054566"/>
            <a:ext cx="10820400" cy="1967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25454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B8EFD3-7B00-4225-B4A8-13595EC5B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Let’s do together:</a:t>
            </a:r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9EA1D2C-1223-4CD1-A294-E455987D1D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2150" y="2090737"/>
            <a:ext cx="8267700" cy="2676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70907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B8EFD3-7B00-4225-B4A8-13595EC5B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Let’s do together:</a:t>
            </a:r>
            <a:endParaRPr lang="en-GB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C34133F-DF17-493F-A357-45D275B69E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5512" y="1419225"/>
            <a:ext cx="7800975" cy="4019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98151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</TotalTime>
  <Words>439</Words>
  <Application>Microsoft Office PowerPoint</Application>
  <PresentationFormat>Widescreen</PresentationFormat>
  <Paragraphs>63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ACaslon</vt:lpstr>
      <vt:lpstr>Arial</vt:lpstr>
      <vt:lpstr>Calibri</vt:lpstr>
      <vt:lpstr>Calibri Light</vt:lpstr>
      <vt:lpstr>Cambria Math</vt:lpstr>
      <vt:lpstr>ZapfDingbats</vt:lpstr>
      <vt:lpstr>Office Theme</vt:lpstr>
      <vt:lpstr>Topic: Linear Relationships EQ – How do we use the gradient and y-intercept from a graph to form a linear equation? </vt:lpstr>
      <vt:lpstr>PowerPoint Presentation</vt:lpstr>
      <vt:lpstr>PowerPoint Presentation</vt:lpstr>
      <vt:lpstr>What’s the Value of Y?</vt:lpstr>
      <vt:lpstr>PowerPoint Presentation</vt:lpstr>
      <vt:lpstr>PowerPoint Presentation</vt:lpstr>
      <vt:lpstr>PowerPoint Presentation</vt:lpstr>
      <vt:lpstr>Task</vt:lpstr>
      <vt:lpstr>Task</vt:lpstr>
      <vt:lpstr>Let’s do together:</vt:lpstr>
      <vt:lpstr>Let’s do together: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Topic: Linear Relationships EQ – How do we use the gradient and y-intercept from a graph to form a linear equation? </dc:title>
  <dc:creator>Sarah James</dc:creator>
  <cp:lastModifiedBy>Sarah James</cp:lastModifiedBy>
  <cp:revision>1</cp:revision>
  <dcterms:created xsi:type="dcterms:W3CDTF">2020-03-16T06:04:34Z</dcterms:created>
  <dcterms:modified xsi:type="dcterms:W3CDTF">2020-03-17T03:41:55Z</dcterms:modified>
</cp:coreProperties>
</file>
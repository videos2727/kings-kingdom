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3" r:id="rId3"/>
    <p:sldId id="297" r:id="rId4"/>
    <p:sldId id="310" r:id="rId5"/>
    <p:sldId id="308" r:id="rId6"/>
    <p:sldId id="311" r:id="rId7"/>
    <p:sldId id="312" r:id="rId8"/>
    <p:sldId id="313" r:id="rId9"/>
    <p:sldId id="318" r:id="rId10"/>
    <p:sldId id="314" r:id="rId11"/>
    <p:sldId id="315" r:id="rId12"/>
    <p:sldId id="316" r:id="rId13"/>
    <p:sldId id="319" r:id="rId1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h James" initials="SJ" lastIdx="1" clrIdx="0">
    <p:extLst>
      <p:ext uri="{19B8F6BF-5375-455C-9EA6-DF929625EA0E}">
        <p15:presenceInfo xmlns:p15="http://schemas.microsoft.com/office/powerpoint/2012/main" userId="e5e3e68366f0feb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1B5304-CB7B-4ED2-A9C2-B10AFBAC7FD4}" v="2" dt="2020-03-24T01:48:14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881B5304-CB7B-4ED2-A9C2-B10AFBAC7FD4}"/>
    <pc:docChg chg="custSel addSld modSld">
      <pc:chgData name="Sarah James" userId="e5e3e68366f0feb3" providerId="LiveId" clId="{881B5304-CB7B-4ED2-A9C2-B10AFBAC7FD4}" dt="2020-03-24T01:48:14.568" v="4"/>
      <pc:docMkLst>
        <pc:docMk/>
      </pc:docMkLst>
      <pc:sldChg chg="delSp modSp mod">
        <pc:chgData name="Sarah James" userId="e5e3e68366f0feb3" providerId="LiveId" clId="{881B5304-CB7B-4ED2-A9C2-B10AFBAC7FD4}" dt="2020-03-20T01:45:16.273" v="3" actId="478"/>
        <pc:sldMkLst>
          <pc:docMk/>
          <pc:sldMk cId="2324522627" sldId="257"/>
        </pc:sldMkLst>
        <pc:spChg chg="del mod">
          <ac:chgData name="Sarah James" userId="e5e3e68366f0feb3" providerId="LiveId" clId="{881B5304-CB7B-4ED2-A9C2-B10AFBAC7FD4}" dt="2020-03-20T01:45:14.837" v="2" actId="478"/>
          <ac:spMkLst>
            <pc:docMk/>
            <pc:sldMk cId="2324522627" sldId="257"/>
            <ac:spMk id="9" creationId="{E6E3B1E5-E3BD-4AE8-8228-F9D81594AB30}"/>
          </ac:spMkLst>
        </pc:spChg>
        <pc:spChg chg="del">
          <ac:chgData name="Sarah James" userId="e5e3e68366f0feb3" providerId="LiveId" clId="{881B5304-CB7B-4ED2-A9C2-B10AFBAC7FD4}" dt="2020-03-20T01:45:16.273" v="3" actId="478"/>
          <ac:spMkLst>
            <pc:docMk/>
            <pc:sldMk cId="2324522627" sldId="257"/>
            <ac:spMk id="11" creationId="{79433870-FE5D-4572-9BB5-58F0C262AD1E}"/>
          </ac:spMkLst>
        </pc:spChg>
        <pc:picChg chg="del">
          <ac:chgData name="Sarah James" userId="e5e3e68366f0feb3" providerId="LiveId" clId="{881B5304-CB7B-4ED2-A9C2-B10AFBAC7FD4}" dt="2020-03-20T01:45:11.328" v="0" actId="478"/>
          <ac:picMkLst>
            <pc:docMk/>
            <pc:sldMk cId="2324522627" sldId="257"/>
            <ac:picMk id="5" creationId="{8AC793A8-EF10-49F7-A4A1-00C83D5F9400}"/>
          </ac:picMkLst>
        </pc:picChg>
      </pc:sldChg>
      <pc:sldChg chg="add">
        <pc:chgData name="Sarah James" userId="e5e3e68366f0feb3" providerId="LiveId" clId="{881B5304-CB7B-4ED2-A9C2-B10AFBAC7FD4}" dt="2020-03-24T01:48:14.568" v="4"/>
        <pc:sldMkLst>
          <pc:docMk/>
          <pc:sldMk cId="1859248956" sldId="319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20T09:12:02.833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F502-B665-44FA-B4C8-B567F068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EB06BA-9F09-4205-94AB-80966657A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69FF0-13E3-4E71-97C6-37CAE499D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AE06-B374-46E0-BF15-221ADCAA6A7C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5B48A-7E67-4B71-9CA4-E21C004F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CF6E4-30BF-42E6-9F3A-8A7CEB63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9B64-C0AA-4E17-B0E3-2CA120C4B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0811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2DA0E-8DD8-4128-BB8C-DC00771AB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A7370-3088-4404-8FEA-0620CDA05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1169F-4C87-475E-A9A2-213CABBA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AE06-B374-46E0-BF15-221ADCAA6A7C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A498E-F0D3-447D-B69C-6B749D7D3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5B576-EFDE-4101-A8AC-79F53EFF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9B64-C0AA-4E17-B0E3-2CA120C4B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9362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2AFDE-8362-427E-BF87-84EBCE81E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4406D-2CC6-476F-A624-AF56AC78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310BB-7B4A-40C7-9717-6C5C5437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AE06-B374-46E0-BF15-221ADCAA6A7C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EA8CD-6B61-4E6E-8E6A-A80B42FC3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5D82A-17FA-4893-9EBD-96C424D43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9B64-C0AA-4E17-B0E3-2CA120C4B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626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B4C8-297E-40A5-900C-6F6D78134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362B3-0BE2-4022-B945-9DE7CEE41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E12B95-AA4F-4B60-AC21-D1CD9106F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5A7F4-B02F-4D09-A467-093447FD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AE06-B374-46E0-BF15-221ADCAA6A7C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FE929-D7B1-4955-BA30-A29A2D1B5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3F989-A004-49A3-8217-C413A3D20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9B64-C0AA-4E17-B0E3-2CA120C4B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3057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5AD8-54BB-43F4-94AB-467E5EF5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C52F3-FB3E-46D5-BA9C-05142E343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090A9-E702-4325-B7AC-3D2A5210D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E90025-2DA2-4B07-950D-5B9109B8B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4FD664-94DC-415F-98AB-61E95DC3B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2DF2BA-2866-4B3E-9A5E-BE48CCFD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AE06-B374-46E0-BF15-221ADCAA6A7C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DF437-9AC5-4BE2-A799-E60018FB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A8F621-4A23-4019-9559-331A9E58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9B64-C0AA-4E17-B0E3-2CA120C4B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3425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CE17-2993-40AD-ACC6-86717EE0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2A01ED-93F1-46DB-81CF-23FAC638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AE06-B374-46E0-BF15-221ADCAA6A7C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C3DB3-CDBE-4935-94A7-A3B48BF23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D69E9-6353-4252-961F-AE8304D58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9B64-C0AA-4E17-B0E3-2CA120C4B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3021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C15A32-AE40-4F77-B7FD-00DF4E512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AE06-B374-46E0-BF15-221ADCAA6A7C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A54A0A-6FA3-4C8C-8C3F-B1373273D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316EB-598D-44B9-8D74-91F25862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9B64-C0AA-4E17-B0E3-2CA120C4B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0696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DBA34-1B91-4606-90A4-C308DFBBA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3DE80-544D-4C83-A241-6472DE9CD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3F208-661A-4887-8E6D-C85674C84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99ACA-0167-45C9-8672-341B63D2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AE06-B374-46E0-BF15-221ADCAA6A7C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5CFE0-38CD-478B-B0C8-D34BC4413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F0238-7790-41D8-9A9C-7B729C4F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9B64-C0AA-4E17-B0E3-2CA120C4B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136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106FE-818C-4414-A365-5697551B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23599F-173C-4054-B9FC-DD76158E8A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D3B25-4674-474E-88FA-6E4DD1637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AF6F1-E8D0-43CC-B0F8-320F71AFE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AE06-B374-46E0-BF15-221ADCAA6A7C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1B16C-9E1F-4C78-A7A4-A9A89FB6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3D02B-9ACD-4624-95CA-2911070D7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9B64-C0AA-4E17-B0E3-2CA120C4B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23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7741B-38C6-47BA-8C73-1BB1E325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B4DF5-7A92-4521-9808-7364EA738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5DC37-9353-448A-8037-09CE87D81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AE06-B374-46E0-BF15-221ADCAA6A7C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A180C-6015-4500-AC12-EA7C70A1C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29B46-6DEE-43D4-94FE-9E9A4F4D8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9B64-C0AA-4E17-B0E3-2CA120C4B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312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CB4CD-2A18-4E17-95AC-ECFF326227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310A2-78A2-4BF1-91A9-01DEB4317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8C0AC-77E5-4B01-B1B5-EA7D20BBF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AE06-B374-46E0-BF15-221ADCAA6A7C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0C4A8-AEB4-4E0F-B9B3-D2FDC842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67C3E-C1DE-40A9-8AF2-5D29DF602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9B64-C0AA-4E17-B0E3-2CA120C4B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7962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9E60B0-F16C-4D4D-AD71-2130B737B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9582A-16A7-47B8-997C-83CB10C27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D522E-060B-476C-BF1C-B15D78C22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6AE06-B374-46E0-BF15-221ADCAA6A7C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041E3-4E75-421D-A2D0-BFD628D14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3C673-AA26-420A-8365-05DC472A5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B9B64-C0AA-4E17-B0E3-2CA120C4B4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536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Linear Relationships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US" dirty="0"/>
              <a:t>EQ: What is the “break-</a:t>
            </a:r>
            <a:r>
              <a:rPr lang="en-US" dirty="0" err="1"/>
              <a:t>even”point</a:t>
            </a:r>
            <a:r>
              <a:rPr lang="en-US" dirty="0"/>
              <a:t> between two linear relationships?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613118"/>
            <a:ext cx="116465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highlight>
                  <a:srgbClr val="FFFF00"/>
                </a:highlight>
              </a:rPr>
              <a:t>NO PHONES OR EAR BUDS   </a:t>
            </a:r>
            <a:r>
              <a:rPr lang="en-US" dirty="0">
                <a:highlight>
                  <a:srgbClr val="FF00FF"/>
                </a:highlight>
              </a:rPr>
              <a:t>Some of you need reminders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a go:</a:t>
            </a:r>
          </a:p>
          <a:p>
            <a:pPr lvl="1"/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5023" y="117693"/>
            <a:ext cx="890813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Last week we worked on a worksheet that showed how we could use linear relationships to find the cost of </a:t>
            </a:r>
            <a:r>
              <a:rPr lang="en-AU" sz="2160" dirty="0" err="1"/>
              <a:t>of</a:t>
            </a:r>
            <a:r>
              <a:rPr lang="en-AU" sz="2160" dirty="0"/>
              <a:t> things.  Today we have 3 electrician quotes to compare.</a:t>
            </a:r>
          </a:p>
          <a:p>
            <a:endParaRPr lang="en-AU" sz="2160" dirty="0"/>
          </a:p>
          <a:p>
            <a:r>
              <a:rPr lang="en-AU" sz="2160" dirty="0"/>
              <a:t>	</a:t>
            </a:r>
            <a:r>
              <a:rPr lang="en-AU" sz="2160" b="1" dirty="0"/>
              <a:t>Quote 1= $40 per hour +  $100 call out fee</a:t>
            </a:r>
          </a:p>
          <a:p>
            <a:r>
              <a:rPr lang="en-AU" sz="2160" dirty="0"/>
              <a:t>			Starts at $100              </a:t>
            </a:r>
            <a:r>
              <a:rPr lang="en-AU" sz="2160" dirty="0">
                <a:highlight>
                  <a:srgbClr val="FFFF00"/>
                </a:highlight>
              </a:rPr>
              <a:t>this is the y-intercept (C)</a:t>
            </a:r>
          </a:p>
          <a:p>
            <a:r>
              <a:rPr lang="en-AU" sz="2160" dirty="0"/>
              <a:t>			goes up each hour $40    </a:t>
            </a:r>
            <a:r>
              <a:rPr lang="en-AU" sz="2160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sz="2160" dirty="0"/>
              <a:t>	y=Mx + C   becomes   y= ____x + _____</a:t>
            </a:r>
          </a:p>
          <a:p>
            <a:endParaRPr lang="en-AU" sz="2160" dirty="0"/>
          </a:p>
          <a:p>
            <a:r>
              <a:rPr lang="en-AU" sz="2160" dirty="0"/>
              <a:t>	</a:t>
            </a:r>
            <a:r>
              <a:rPr lang="en-AU" sz="2160" b="1" dirty="0"/>
              <a:t>Quote 2 = $150 call out fee and $35 per hour</a:t>
            </a:r>
          </a:p>
          <a:p>
            <a:r>
              <a:rPr lang="en-AU" sz="2160" dirty="0"/>
              <a:t>			Starts at $150             </a:t>
            </a:r>
            <a:r>
              <a:rPr lang="en-AU" sz="2160" dirty="0">
                <a:highlight>
                  <a:srgbClr val="FFFF00"/>
                </a:highlight>
              </a:rPr>
              <a:t>this is the y-intercept (C)</a:t>
            </a:r>
          </a:p>
          <a:p>
            <a:r>
              <a:rPr lang="en-AU" sz="2160" dirty="0"/>
              <a:t>			goes up each hour $35    </a:t>
            </a:r>
            <a:r>
              <a:rPr lang="en-AU" sz="2160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sz="2160" dirty="0"/>
              <a:t>	y=Mx + C   becomes   y= ____x + _____</a:t>
            </a:r>
          </a:p>
          <a:p>
            <a:endParaRPr lang="en-AU" sz="2160" dirty="0"/>
          </a:p>
          <a:p>
            <a:r>
              <a:rPr lang="en-AU" sz="2160" dirty="0"/>
              <a:t>	</a:t>
            </a:r>
            <a:r>
              <a:rPr lang="en-AU" sz="2160" b="1" dirty="0"/>
              <a:t>Quote 3 = $50 call out fee and $50 per hour</a:t>
            </a:r>
          </a:p>
          <a:p>
            <a:r>
              <a:rPr lang="en-AU" sz="2160" dirty="0"/>
              <a:t>			Starts at $50             </a:t>
            </a:r>
            <a:r>
              <a:rPr lang="en-AU" sz="2160" dirty="0">
                <a:highlight>
                  <a:srgbClr val="FFFF00"/>
                </a:highlight>
              </a:rPr>
              <a:t>this is the y-intercept (C)</a:t>
            </a:r>
            <a:r>
              <a:rPr lang="en-AU" sz="2160" dirty="0"/>
              <a:t>			goes up each hour $50    </a:t>
            </a:r>
            <a:r>
              <a:rPr lang="en-AU" sz="2160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sz="2160" dirty="0"/>
              <a:t>	y=Mx + C   becomes   y= ____x + _____</a:t>
            </a:r>
          </a:p>
          <a:p>
            <a:endParaRPr lang="en-AU" sz="2160" dirty="0"/>
          </a:p>
          <a:p>
            <a:r>
              <a:rPr lang="en-AU" sz="2160" dirty="0"/>
              <a:t>We need to decide which is the cheapest quote.</a:t>
            </a:r>
          </a:p>
        </p:txBody>
      </p:sp>
    </p:spTree>
    <p:extLst>
      <p:ext uri="{BB962C8B-B14F-4D97-AF65-F5344CB8AC3E}">
        <p14:creationId xmlns:p14="http://schemas.microsoft.com/office/powerpoint/2010/main" val="181703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93117" y="810863"/>
            <a:ext cx="8094550" cy="4081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Quote 1  	  cost = </a:t>
            </a:r>
            <a:r>
              <a:rPr lang="en-AU" sz="2160" b="1" dirty="0">
                <a:solidFill>
                  <a:srgbClr val="FF0000"/>
                </a:solidFill>
              </a:rPr>
              <a:t>$40 </a:t>
            </a:r>
            <a:r>
              <a:rPr lang="en-AU" sz="2160" dirty="0"/>
              <a:t>x hours </a:t>
            </a:r>
            <a:r>
              <a:rPr lang="en-AU" sz="2160" b="1" dirty="0">
                <a:solidFill>
                  <a:srgbClr val="0070C0"/>
                </a:solidFill>
              </a:rPr>
              <a:t>+$100            </a:t>
            </a:r>
            <a:r>
              <a:rPr lang="en-AU" sz="2160" dirty="0"/>
              <a:t>or </a:t>
            </a:r>
            <a:r>
              <a:rPr lang="en-AU" sz="2160" b="1" i="1" dirty="0">
                <a:latin typeface="Calisto MT" panose="02040603050505030304" pitchFamily="18" charset="0"/>
              </a:rPr>
              <a:t>     y=40x +100</a:t>
            </a:r>
            <a:endParaRPr lang="en-AU" sz="2160" i="1" dirty="0">
              <a:latin typeface="Calisto MT" panose="02040603050505030304" pitchFamily="18" charset="0"/>
            </a:endParaRPr>
          </a:p>
          <a:p>
            <a:endParaRPr lang="en-AU" sz="2160" dirty="0"/>
          </a:p>
          <a:p>
            <a:pPr marL="411480" indent="-411480">
              <a:buAutoNum type="arabicPeriod"/>
            </a:pPr>
            <a:endParaRPr lang="en-AU" sz="2160" dirty="0"/>
          </a:p>
          <a:p>
            <a:pPr marL="411480" indent="-411480">
              <a:buAutoNum type="arabicPeriod"/>
            </a:pPr>
            <a:endParaRPr lang="en-AU" sz="2160" dirty="0"/>
          </a:p>
          <a:p>
            <a:pPr marL="411480" indent="-411480">
              <a:buAutoNum type="arabicPeriod"/>
            </a:pPr>
            <a:endParaRPr lang="en-AU" sz="2160" dirty="0"/>
          </a:p>
          <a:p>
            <a:r>
              <a:rPr lang="en-AU" sz="2160" dirty="0"/>
              <a:t>Quote 2       cost = $150 + $35 per hour        or  ________________</a:t>
            </a:r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r>
              <a:rPr lang="en-AU" sz="2160" dirty="0"/>
              <a:t>Quote 3        cost = $50 + $35 per hour        or  ________________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0640" y="1227268"/>
          <a:ext cx="7315201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1015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818740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920027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962231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852502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791376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Hours (</a:t>
                      </a:r>
                      <a:r>
                        <a:rPr lang="en-AU" sz="2200" b="1" i="1" dirty="0">
                          <a:latin typeface="Calisto MT" panose="02040603050505030304" pitchFamily="18" charset="0"/>
                        </a:rPr>
                        <a:t>x</a:t>
                      </a:r>
                      <a:r>
                        <a:rPr lang="en-AU" sz="2200" b="0" i="0" dirty="0">
                          <a:latin typeface="+mn-lt"/>
                        </a:rPr>
                        <a:t>)</a:t>
                      </a:r>
                      <a:endParaRPr lang="en-AU" sz="2200" b="0" i="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4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5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6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Cost  (</a:t>
                      </a:r>
                      <a:r>
                        <a:rPr lang="en-AU" sz="2200" b="1" i="1" dirty="0">
                          <a:latin typeface="Calisto MT" panose="02040603050505030304" pitchFamily="18" charset="0"/>
                        </a:rPr>
                        <a:t>y</a:t>
                      </a:r>
                      <a:r>
                        <a:rPr lang="en-AU" sz="2200" dirty="0"/>
                        <a:t>)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100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140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180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220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260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300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340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280640" y="2920208"/>
          <a:ext cx="7315201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1015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818740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920027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962231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852502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791376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Hours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4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5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6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Cost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 dirty="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426340" y="4871056"/>
          <a:ext cx="7315201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1015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818740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920027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962231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852502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791376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Hours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4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5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6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Cost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AU" sz="2200" dirty="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4AD1BB3-B1CF-4220-BB86-0988C9AFF81C}"/>
              </a:ext>
            </a:extLst>
          </p:cNvPr>
          <p:cNvSpPr txBox="1"/>
          <p:nvPr/>
        </p:nvSpPr>
        <p:spPr>
          <a:xfrm>
            <a:off x="1087902" y="0"/>
            <a:ext cx="922840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We could look at all 3 as tables.</a:t>
            </a:r>
          </a:p>
        </p:txBody>
      </p:sp>
    </p:spTree>
    <p:extLst>
      <p:ext uri="{BB962C8B-B14F-4D97-AF65-F5344CB8AC3E}">
        <p14:creationId xmlns:p14="http://schemas.microsoft.com/office/powerpoint/2010/main" val="141255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93117" y="810863"/>
            <a:ext cx="8094550" cy="4081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Quote 1  	  cost = </a:t>
            </a:r>
            <a:r>
              <a:rPr lang="en-AU" sz="2160" b="1" dirty="0">
                <a:solidFill>
                  <a:srgbClr val="FF0000"/>
                </a:solidFill>
              </a:rPr>
              <a:t>$40 </a:t>
            </a:r>
            <a:r>
              <a:rPr lang="en-AU" sz="2160" dirty="0"/>
              <a:t>x hours </a:t>
            </a:r>
            <a:r>
              <a:rPr lang="en-AU" sz="2160" b="1" dirty="0">
                <a:solidFill>
                  <a:srgbClr val="0070C0"/>
                </a:solidFill>
              </a:rPr>
              <a:t>+$100            </a:t>
            </a:r>
            <a:r>
              <a:rPr lang="en-AU" sz="2160" dirty="0"/>
              <a:t>or </a:t>
            </a:r>
            <a:r>
              <a:rPr lang="en-AU" sz="2160" b="1" i="1" dirty="0">
                <a:latin typeface="Calisto MT" panose="02040603050505030304" pitchFamily="18" charset="0"/>
              </a:rPr>
              <a:t>     y=40x +100</a:t>
            </a:r>
            <a:endParaRPr lang="en-AU" sz="2160" i="1" dirty="0">
              <a:latin typeface="Calisto MT" panose="02040603050505030304" pitchFamily="18" charset="0"/>
            </a:endParaRPr>
          </a:p>
          <a:p>
            <a:endParaRPr lang="en-AU" sz="2160" dirty="0"/>
          </a:p>
          <a:p>
            <a:pPr marL="411480" indent="-411480">
              <a:buAutoNum type="arabicPeriod"/>
            </a:pPr>
            <a:endParaRPr lang="en-AU" sz="2160" dirty="0"/>
          </a:p>
          <a:p>
            <a:pPr marL="411480" indent="-411480">
              <a:buAutoNum type="arabicPeriod"/>
            </a:pPr>
            <a:endParaRPr lang="en-AU" sz="2160" dirty="0"/>
          </a:p>
          <a:p>
            <a:pPr marL="411480" indent="-411480">
              <a:buAutoNum type="arabicPeriod"/>
            </a:pPr>
            <a:endParaRPr lang="en-AU" sz="2160" dirty="0"/>
          </a:p>
          <a:p>
            <a:r>
              <a:rPr lang="en-AU" sz="2160" dirty="0"/>
              <a:t>Quote 2       cost = $150 + $35 per hour       or  ________________</a:t>
            </a:r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r>
              <a:rPr lang="en-AU" sz="2160" dirty="0"/>
              <a:t>Quote 3        cost = $50 per hour  + $50       or  ________________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D1BB3-B1CF-4220-BB86-0988C9AFF81C}"/>
              </a:ext>
            </a:extLst>
          </p:cNvPr>
          <p:cNvSpPr txBox="1"/>
          <p:nvPr/>
        </p:nvSpPr>
        <p:spPr>
          <a:xfrm>
            <a:off x="1087902" y="0"/>
            <a:ext cx="922840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 We can also use these tables to get the rules.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DC920A-7765-4ACA-AE3A-C9BC1F3E7E93}"/>
              </a:ext>
            </a:extLst>
          </p:cNvPr>
          <p:cNvGraphicFramePr>
            <a:graphicFrameLocks noGrp="1"/>
          </p:cNvGraphicFramePr>
          <p:nvPr/>
        </p:nvGraphicFramePr>
        <p:xfrm>
          <a:off x="2293117" y="1234301"/>
          <a:ext cx="7315201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1015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818740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920027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962231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852502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791376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Hours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4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5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6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Cost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b="1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140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180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220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260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300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340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C17586-B5F9-4759-8BEF-448B66726F72}"/>
              </a:ext>
            </a:extLst>
          </p:cNvPr>
          <p:cNvGraphicFramePr>
            <a:graphicFrameLocks noGrp="1"/>
          </p:cNvGraphicFramePr>
          <p:nvPr/>
        </p:nvGraphicFramePr>
        <p:xfrm>
          <a:off x="2293117" y="2927242"/>
          <a:ext cx="7315201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1015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818740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920027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962231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852502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791376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Hours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4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5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6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Cost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b="1" dirty="0">
                          <a:solidFill>
                            <a:srgbClr val="0070C0"/>
                          </a:solidFill>
                        </a:rPr>
                        <a:t>150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185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220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255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290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325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360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EA7DCC0-2418-40EB-BD5E-06EB9640B235}"/>
              </a:ext>
            </a:extLst>
          </p:cNvPr>
          <p:cNvGraphicFramePr>
            <a:graphicFrameLocks noGrp="1"/>
          </p:cNvGraphicFramePr>
          <p:nvPr/>
        </p:nvGraphicFramePr>
        <p:xfrm>
          <a:off x="2438818" y="4878089"/>
          <a:ext cx="7315201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1015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818740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920027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962231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852502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791376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Hours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4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5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6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Cost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b="1" dirty="0">
                          <a:solidFill>
                            <a:srgbClr val="0070C0"/>
                          </a:solidFill>
                        </a:rPr>
                        <a:t>50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100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150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200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250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300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350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493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33391" y="206092"/>
                <a:ext cx="10496609" cy="7072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160" dirty="0"/>
                  <a:t>How does all of this help?</a:t>
                </a:r>
              </a:p>
              <a:p>
                <a:r>
                  <a:rPr lang="en-AU" sz="2160" dirty="0"/>
                  <a:t>	You have now been told that there is 12 hours of work to be completed (it’s a major re-wire of several apartments).  So which is cheapest?</a:t>
                </a:r>
              </a:p>
              <a:p>
                <a:endParaRPr lang="en-AU" sz="2160" dirty="0"/>
              </a:p>
              <a:p>
                <a:r>
                  <a:rPr lang="en-AU" sz="2160" dirty="0"/>
                  <a:t>Quote 1  			cost = </a:t>
                </a:r>
                <a:r>
                  <a:rPr lang="en-AU" sz="2160" b="1" dirty="0">
                    <a:solidFill>
                      <a:srgbClr val="FF0000"/>
                    </a:solidFill>
                  </a:rPr>
                  <a:t>$40 </a:t>
                </a:r>
                <a:r>
                  <a:rPr lang="en-AU" sz="2160" dirty="0"/>
                  <a:t>x hours </a:t>
                </a:r>
                <a:r>
                  <a:rPr lang="en-AU" sz="2160" b="1" dirty="0">
                    <a:solidFill>
                      <a:srgbClr val="0070C0"/>
                    </a:solidFill>
                  </a:rPr>
                  <a:t>+$100          </a:t>
                </a:r>
                <a:r>
                  <a:rPr lang="en-AU" sz="2160" b="1" dirty="0"/>
                  <a:t>or  x = 12      </a:t>
                </a:r>
                <a14:m>
                  <m:oMath xmlns:m="http://schemas.openxmlformats.org/officeDocument/2006/math">
                    <m:r>
                      <a:rPr lang="en-AU" sz="216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𝟒𝟎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AU" sz="2160" dirty="0"/>
              </a:p>
              <a:p>
                <a:r>
                  <a:rPr lang="en-AU" sz="2160" dirty="0"/>
                  <a:t>If hours = 12 then		cost = </a:t>
                </a:r>
                <a:r>
                  <a:rPr lang="en-AU" sz="2160" b="1" dirty="0">
                    <a:solidFill>
                      <a:srgbClr val="FF0000"/>
                    </a:solidFill>
                  </a:rPr>
                  <a:t>$40 </a:t>
                </a:r>
                <a:r>
                  <a:rPr lang="en-AU" sz="2160" dirty="0"/>
                  <a:t>x 12 </a:t>
                </a:r>
                <a:r>
                  <a:rPr lang="en-AU" sz="2160" b="1" dirty="0">
                    <a:solidFill>
                      <a:srgbClr val="0070C0"/>
                    </a:solidFill>
                  </a:rPr>
                  <a:t>+$100</a:t>
                </a:r>
              </a:p>
              <a:p>
                <a:r>
                  <a:rPr lang="en-AU" sz="2160" b="1" dirty="0">
                    <a:solidFill>
                      <a:srgbClr val="0070C0"/>
                    </a:solidFill>
                  </a:rPr>
                  <a:t>			</a:t>
                </a:r>
                <a:r>
                  <a:rPr lang="en-AU" sz="2160" dirty="0"/>
                  <a:t>cost = </a:t>
                </a:r>
                <a:r>
                  <a:rPr lang="en-AU" sz="2160" b="1" dirty="0"/>
                  <a:t>$580</a:t>
                </a:r>
                <a:endParaRPr lang="en-AU" sz="2160" dirty="0"/>
              </a:p>
              <a:p>
                <a:endParaRPr lang="en-AU" sz="2160" dirty="0"/>
              </a:p>
              <a:p>
                <a:endParaRPr lang="en-AU" sz="2160" dirty="0"/>
              </a:p>
              <a:p>
                <a:r>
                  <a:rPr lang="en-AU" sz="2160" dirty="0"/>
                  <a:t>Quote 2  			cost = </a:t>
                </a:r>
                <a:r>
                  <a:rPr lang="en-AU" sz="2160" b="1" dirty="0">
                    <a:solidFill>
                      <a:srgbClr val="FF0000"/>
                    </a:solidFill>
                  </a:rPr>
                  <a:t>$35 </a:t>
                </a:r>
                <a:r>
                  <a:rPr lang="en-AU" sz="2160" dirty="0"/>
                  <a:t>x hours + </a:t>
                </a:r>
                <a:r>
                  <a:rPr lang="en-AU" sz="2160" b="1" dirty="0">
                    <a:solidFill>
                      <a:srgbClr val="0070C0"/>
                    </a:solidFill>
                  </a:rPr>
                  <a:t>$150	</a:t>
                </a:r>
                <a:r>
                  <a:rPr lang="en-AU" sz="2160" b="1" dirty="0"/>
                  <a:t> or  x = 12      </a:t>
                </a:r>
                <a14:m>
                  <m:oMath xmlns:m="http://schemas.openxmlformats.org/officeDocument/2006/math">
                    <m:r>
                      <a:rPr lang="en-AU" sz="216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𝟑𝟓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𝟏𝟓𝟎</m:t>
                    </m:r>
                  </m:oMath>
                </a14:m>
                <a:endParaRPr lang="en-AU" sz="2160" b="1" dirty="0">
                  <a:solidFill>
                    <a:srgbClr val="0070C0"/>
                  </a:solidFill>
                </a:endParaRPr>
              </a:p>
              <a:p>
                <a:r>
                  <a:rPr lang="en-AU" sz="2160" dirty="0"/>
                  <a:t>If hours = 12 then		cost = </a:t>
                </a:r>
                <a:r>
                  <a:rPr lang="en-AU" sz="2160" b="1" dirty="0">
                    <a:solidFill>
                      <a:srgbClr val="FF0000"/>
                    </a:solidFill>
                  </a:rPr>
                  <a:t>$35 </a:t>
                </a:r>
                <a:r>
                  <a:rPr lang="en-AU" sz="2160" dirty="0"/>
                  <a:t>x 12 </a:t>
                </a:r>
                <a:r>
                  <a:rPr lang="en-AU" sz="2160" b="1" dirty="0">
                    <a:solidFill>
                      <a:srgbClr val="0070C0"/>
                    </a:solidFill>
                  </a:rPr>
                  <a:t>+$150</a:t>
                </a:r>
              </a:p>
              <a:p>
                <a:r>
                  <a:rPr lang="en-AU" sz="2160" b="1" dirty="0">
                    <a:solidFill>
                      <a:srgbClr val="0070C0"/>
                    </a:solidFill>
                  </a:rPr>
                  <a:t>			</a:t>
                </a:r>
                <a:r>
                  <a:rPr lang="en-AU" sz="2160" dirty="0"/>
                  <a:t>cost = </a:t>
                </a:r>
                <a:r>
                  <a:rPr lang="en-AU" sz="2160" b="1" dirty="0"/>
                  <a:t>$570</a:t>
                </a:r>
              </a:p>
              <a:p>
                <a:endParaRPr lang="en-AU" sz="2160" dirty="0"/>
              </a:p>
              <a:p>
                <a:endParaRPr lang="en-AU" sz="2160" dirty="0"/>
              </a:p>
              <a:p>
                <a:r>
                  <a:rPr lang="en-AU" sz="2160" dirty="0"/>
                  <a:t>Quote 3			cost = </a:t>
                </a:r>
                <a:r>
                  <a:rPr lang="en-AU" sz="2160" b="1" dirty="0">
                    <a:solidFill>
                      <a:srgbClr val="FF0000"/>
                    </a:solidFill>
                  </a:rPr>
                  <a:t>$50 </a:t>
                </a:r>
                <a:r>
                  <a:rPr lang="en-AU" sz="2160" dirty="0"/>
                  <a:t>x hours + </a:t>
                </a:r>
                <a:r>
                  <a:rPr lang="en-AU" sz="2160" b="1" dirty="0">
                    <a:solidFill>
                      <a:srgbClr val="0070C0"/>
                    </a:solidFill>
                  </a:rPr>
                  <a:t>$50	</a:t>
                </a:r>
                <a:r>
                  <a:rPr lang="en-AU" sz="2160" b="1" dirty="0"/>
                  <a:t> or  x = 12      </a:t>
                </a:r>
                <a14:m>
                  <m:oMath xmlns:m="http://schemas.openxmlformats.org/officeDocument/2006/math">
                    <m:r>
                      <a:rPr lang="en-AU" sz="216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160" b="1" i="1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endParaRPr lang="en-AU" sz="2160" b="1" dirty="0">
                  <a:solidFill>
                    <a:srgbClr val="0070C0"/>
                  </a:solidFill>
                </a:endParaRPr>
              </a:p>
              <a:p>
                <a:r>
                  <a:rPr lang="en-AU" sz="2160" dirty="0"/>
                  <a:t>If hours = 12 then		cost = </a:t>
                </a:r>
                <a:r>
                  <a:rPr lang="en-AU" sz="2160" b="1" dirty="0">
                    <a:solidFill>
                      <a:srgbClr val="FF0000"/>
                    </a:solidFill>
                  </a:rPr>
                  <a:t>$50 </a:t>
                </a:r>
                <a:r>
                  <a:rPr lang="en-AU" sz="2160" dirty="0"/>
                  <a:t>x 12 </a:t>
                </a:r>
                <a:r>
                  <a:rPr lang="en-AU" sz="2160" b="1" dirty="0">
                    <a:solidFill>
                      <a:srgbClr val="0070C0"/>
                    </a:solidFill>
                  </a:rPr>
                  <a:t>+$50</a:t>
                </a:r>
              </a:p>
              <a:p>
                <a:r>
                  <a:rPr lang="en-AU" sz="2160" b="1" dirty="0">
                    <a:solidFill>
                      <a:srgbClr val="0070C0"/>
                    </a:solidFill>
                  </a:rPr>
                  <a:t>			</a:t>
                </a:r>
                <a:r>
                  <a:rPr lang="en-AU" sz="2160" dirty="0"/>
                  <a:t>cost = </a:t>
                </a:r>
                <a:r>
                  <a:rPr lang="en-AU" sz="2160" b="1" dirty="0"/>
                  <a:t>$650</a:t>
                </a:r>
              </a:p>
              <a:p>
                <a:endParaRPr lang="en-AU" sz="2160" dirty="0"/>
              </a:p>
              <a:p>
                <a:endParaRPr lang="en-AU" sz="2160" dirty="0"/>
              </a:p>
              <a:p>
                <a:endParaRPr lang="en-AU" sz="216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391" y="206092"/>
                <a:ext cx="10496609" cy="7072705"/>
              </a:xfrm>
              <a:prstGeom prst="rect">
                <a:avLst/>
              </a:prstGeom>
              <a:blipFill>
                <a:blip r:embed="rId2"/>
                <a:stretch>
                  <a:fillRect l="-697" t="-603" r="-4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F58EDC6-F330-4A90-A37F-F9F926FF6AA4}"/>
              </a:ext>
            </a:extLst>
          </p:cNvPr>
          <p:cNvSpPr/>
          <p:nvPr/>
        </p:nvSpPr>
        <p:spPr>
          <a:xfrm>
            <a:off x="4023360" y="3544111"/>
            <a:ext cx="3048000" cy="655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1F4136-EB58-41C4-8805-D17ECD78D2E4}"/>
              </a:ext>
            </a:extLst>
          </p:cNvPr>
          <p:cNvSpPr/>
          <p:nvPr/>
        </p:nvSpPr>
        <p:spPr>
          <a:xfrm>
            <a:off x="3870960" y="1893072"/>
            <a:ext cx="3048000" cy="655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B41CD-D7EB-405F-BB95-2C09EBBD4892}"/>
              </a:ext>
            </a:extLst>
          </p:cNvPr>
          <p:cNvSpPr/>
          <p:nvPr/>
        </p:nvSpPr>
        <p:spPr>
          <a:xfrm>
            <a:off x="4023360" y="5254488"/>
            <a:ext cx="3048000" cy="655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</p:spTree>
    <p:extLst>
      <p:ext uri="{BB962C8B-B14F-4D97-AF65-F5344CB8AC3E}">
        <p14:creationId xmlns:p14="http://schemas.microsoft.com/office/powerpoint/2010/main" val="210927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F3209C-0A64-43C2-8AF6-8C637C871FCD}"/>
              </a:ext>
            </a:extLst>
          </p:cNvPr>
          <p:cNvSpPr txBox="1"/>
          <p:nvPr/>
        </p:nvSpPr>
        <p:spPr>
          <a:xfrm>
            <a:off x="1584960" y="289560"/>
            <a:ext cx="87020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Finally, What happens when we graph these equations?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11E135-7592-4C08-9E38-08EDB7A24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761" y="1982318"/>
            <a:ext cx="4622160" cy="28933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0F0D23-C6B0-48BC-8193-CE33A767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6" y="714163"/>
            <a:ext cx="5964475" cy="585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96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F3209C-0A64-43C2-8AF6-8C637C871FCD}"/>
              </a:ext>
            </a:extLst>
          </p:cNvPr>
          <p:cNvSpPr txBox="1"/>
          <p:nvPr/>
        </p:nvSpPr>
        <p:spPr>
          <a:xfrm>
            <a:off x="1584960" y="289560"/>
            <a:ext cx="87020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Finally, What happens when we graph these equations?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5C08EE-430F-4337-AEB8-B1647209A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481" y="2117192"/>
            <a:ext cx="4622160" cy="28933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A39531-96F9-457E-9D2F-8DDB6B3EF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11" y="732759"/>
            <a:ext cx="5984771" cy="573738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21B3BD-9C71-4FA7-B7C3-1963BD98EEBB}"/>
              </a:ext>
            </a:extLst>
          </p:cNvPr>
          <p:cNvCxnSpPr>
            <a:cxnSpLocks/>
          </p:cNvCxnSpPr>
          <p:nvPr/>
        </p:nvCxnSpPr>
        <p:spPr>
          <a:xfrm flipH="1" flipV="1">
            <a:off x="2956563" y="4405598"/>
            <a:ext cx="4665658" cy="12027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71A22B-EA26-4067-9D6E-9259C9A8DFE0}"/>
              </a:ext>
            </a:extLst>
          </p:cNvPr>
          <p:cNvSpPr txBox="1"/>
          <p:nvPr/>
        </p:nvSpPr>
        <p:spPr>
          <a:xfrm>
            <a:off x="7622221" y="5496974"/>
            <a:ext cx="3154680" cy="10895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160" dirty="0"/>
              <a:t>Which is the cheapest option at these three sections of the graph?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9AE188-CD63-4D3F-BF06-5643DE32ACAF}"/>
              </a:ext>
            </a:extLst>
          </p:cNvPr>
          <p:cNvCxnSpPr>
            <a:cxnSpLocks/>
          </p:cNvCxnSpPr>
          <p:nvPr/>
        </p:nvCxnSpPr>
        <p:spPr>
          <a:xfrm flipH="1" flipV="1">
            <a:off x="4236721" y="3492449"/>
            <a:ext cx="3385500" cy="2127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2A310F-D3CB-4902-BF73-951B6DBDFAB4}"/>
              </a:ext>
            </a:extLst>
          </p:cNvPr>
          <p:cNvCxnSpPr>
            <a:cxnSpLocks/>
          </p:cNvCxnSpPr>
          <p:nvPr/>
        </p:nvCxnSpPr>
        <p:spPr>
          <a:xfrm flipH="1" flipV="1">
            <a:off x="5929470" y="2301240"/>
            <a:ext cx="1692751" cy="33184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04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71D6B3-C8F1-4292-BB4E-CDA815AF5107}"/>
              </a:ext>
            </a:extLst>
          </p:cNvPr>
          <p:cNvCxnSpPr/>
          <p:nvPr/>
        </p:nvCxnSpPr>
        <p:spPr>
          <a:xfrm>
            <a:off x="609600" y="441960"/>
            <a:ext cx="10972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928E2E-BA73-48A3-82A2-01970CB62556}"/>
              </a:ext>
            </a:extLst>
          </p:cNvPr>
          <p:cNvCxnSpPr/>
          <p:nvPr/>
        </p:nvCxnSpPr>
        <p:spPr>
          <a:xfrm>
            <a:off x="609600" y="1082040"/>
            <a:ext cx="10972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F76B14-9605-434F-8A95-E2C0E669A336}"/>
              </a:ext>
            </a:extLst>
          </p:cNvPr>
          <p:cNvCxnSpPr>
            <a:cxnSpLocks/>
          </p:cNvCxnSpPr>
          <p:nvPr/>
        </p:nvCxnSpPr>
        <p:spPr>
          <a:xfrm>
            <a:off x="2362200" y="1082040"/>
            <a:ext cx="0" cy="5775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B17567-01AB-481C-B1E3-38F11790579C}"/>
              </a:ext>
            </a:extLst>
          </p:cNvPr>
          <p:cNvSpPr txBox="1"/>
          <p:nvPr/>
        </p:nvSpPr>
        <p:spPr>
          <a:xfrm>
            <a:off x="729442" y="54041"/>
            <a:ext cx="4530437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Topic : Linear relationships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CA229-4386-4E10-BF7B-0684CFB99F97}"/>
              </a:ext>
            </a:extLst>
          </p:cNvPr>
          <p:cNvSpPr txBox="1"/>
          <p:nvPr/>
        </p:nvSpPr>
        <p:spPr>
          <a:xfrm>
            <a:off x="729441" y="486280"/>
            <a:ext cx="8873837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EQ : How do we use examples of real life linear relationships equations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E50F8-BDDD-453C-9B0E-A688B97D7172}"/>
              </a:ext>
            </a:extLst>
          </p:cNvPr>
          <p:cNvSpPr txBox="1"/>
          <p:nvPr/>
        </p:nvSpPr>
        <p:spPr>
          <a:xfrm>
            <a:off x="2588721" y="1134680"/>
            <a:ext cx="815546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/>
              <a:t>Linear equations can be used to describe many real situations</a:t>
            </a:r>
            <a:r>
              <a:rPr lang="en-AU" sz="2160" dirty="0"/>
              <a:t>.</a:t>
            </a:r>
          </a:p>
          <a:p>
            <a:endParaRPr lang="en-AU" sz="216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899A87-AA2C-4CDA-90DB-BABEC5163D16}"/>
              </a:ext>
            </a:extLst>
          </p:cNvPr>
          <p:cNvSpPr txBox="1"/>
          <p:nvPr/>
        </p:nvSpPr>
        <p:spPr>
          <a:xfrm>
            <a:off x="1006019" y="1574266"/>
            <a:ext cx="152606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Example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3B136D-6027-48BE-A656-34D713733C27}"/>
              </a:ext>
            </a:extLst>
          </p:cNvPr>
          <p:cNvSpPr txBox="1"/>
          <p:nvPr/>
        </p:nvSpPr>
        <p:spPr>
          <a:xfrm>
            <a:off x="2588721" y="1568775"/>
            <a:ext cx="8741173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To manufacture a new product it costs $1000 to create the equipment and then $20 per item thereafter.</a:t>
            </a:r>
          </a:p>
          <a:p>
            <a:r>
              <a:rPr lang="en-AU" sz="2160" dirty="0"/>
              <a:t>	Starts at $1000     </a:t>
            </a:r>
            <a:r>
              <a:rPr lang="en-AU" sz="2160" dirty="0">
                <a:highlight>
                  <a:srgbClr val="FFFF00"/>
                </a:highlight>
              </a:rPr>
              <a:t>this is the y-intercept (C)		</a:t>
            </a:r>
          </a:p>
          <a:p>
            <a:r>
              <a:rPr lang="en-AU" sz="2160" dirty="0"/>
              <a:t>	goes up each time $20    </a:t>
            </a:r>
            <a:r>
              <a:rPr lang="en-AU" sz="2160" dirty="0">
                <a:highlight>
                  <a:srgbClr val="00FF00"/>
                </a:highlight>
              </a:rPr>
              <a:t>This is the gradient 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90B339-F6CA-4BEF-90D8-BBEBFE6DD874}"/>
                  </a:ext>
                </a:extLst>
              </p:cNvPr>
              <p:cNvSpPr/>
              <p:nvPr/>
            </p:nvSpPr>
            <p:spPr>
              <a:xfrm>
                <a:off x="3718383" y="3124719"/>
                <a:ext cx="6508577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2160" dirty="0"/>
                  <a:t>So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160"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216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2160">
                        <a:latin typeface="Cambria Math" panose="02040503050406030204" pitchFamily="18" charset="0"/>
                      </a:rPr>
                      <m:t>M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AU" sz="2160">
                        <a:latin typeface="Cambria Math" panose="02040503050406030204" pitchFamily="18" charset="0"/>
                      </a:rPr>
                      <m:t>c</m:t>
                    </m:r>
                    <m:r>
                      <a:rPr lang="en-AU" sz="216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m:rPr>
                        <m:sty m:val="p"/>
                      </m:rPr>
                      <a:rPr lang="en-AU" sz="2160">
                        <a:latin typeface="Cambria Math" panose="02040503050406030204" pitchFamily="18" charset="0"/>
                      </a:rPr>
                      <m:t>becomes</m:t>
                    </m:r>
                    <m:r>
                      <a:rPr lang="en-AU" sz="216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sz="216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90B339-F6CA-4BEF-90D8-BBEBFE6DD8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383" y="3124719"/>
                <a:ext cx="6508577" cy="424732"/>
              </a:xfrm>
              <a:prstGeom prst="rect">
                <a:avLst/>
              </a:prstGeom>
              <a:blipFill>
                <a:blip r:embed="rId2"/>
                <a:stretch>
                  <a:fillRect l="-1217" t="-10145" b="-289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8BA0764A-00C0-4A44-B520-D28678F37965}"/>
              </a:ext>
            </a:extLst>
          </p:cNvPr>
          <p:cNvSpPr/>
          <p:nvPr/>
        </p:nvSpPr>
        <p:spPr>
          <a:xfrm>
            <a:off x="2362201" y="5062087"/>
            <a:ext cx="9163566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160" dirty="0"/>
              <a:t> </a:t>
            </a:r>
            <a:endParaRPr lang="en-AU" sz="2160" dirty="0">
              <a:highlight>
                <a:srgbClr val="00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AE44EF-04DF-451E-BBBC-E88329C19531}"/>
              </a:ext>
            </a:extLst>
          </p:cNvPr>
          <p:cNvSpPr txBox="1"/>
          <p:nvPr/>
        </p:nvSpPr>
        <p:spPr>
          <a:xfrm>
            <a:off x="2781317" y="3683466"/>
            <a:ext cx="8183844" cy="4247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2160" b="1" dirty="0"/>
              <a:t>What is the total cost to make 100 items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864929-24A9-4E6C-83F8-7E60C4B2EF96}"/>
                  </a:ext>
                </a:extLst>
              </p:cNvPr>
              <p:cNvSpPr/>
              <p:nvPr/>
            </p:nvSpPr>
            <p:spPr>
              <a:xfrm>
                <a:off x="3556160" y="4093154"/>
                <a:ext cx="5857053" cy="108952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AU" sz="2160" dirty="0"/>
                  <a:t>x=100 		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sz="2160" dirty="0"/>
              </a:p>
              <a:p>
                <a:r>
                  <a:rPr lang="en-AU" sz="2160" dirty="0"/>
                  <a:t>		y = 20x100 + 1000</a:t>
                </a:r>
              </a:p>
              <a:p>
                <a:r>
                  <a:rPr lang="en-AU" sz="2160" dirty="0"/>
                  <a:t>		y = 3000               so it costs $3000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864929-24A9-4E6C-83F8-7E60C4B2E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160" y="4093154"/>
                <a:ext cx="5857053" cy="1089529"/>
              </a:xfrm>
              <a:prstGeom prst="rect">
                <a:avLst/>
              </a:prstGeom>
              <a:blipFill>
                <a:blip r:embed="rId3"/>
                <a:stretch>
                  <a:fillRect l="-1249" t="-3352" r="-416" b="-100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C4D62AB4-18BE-444B-9D87-DAE1AC5B2373}"/>
              </a:ext>
            </a:extLst>
          </p:cNvPr>
          <p:cNvSpPr/>
          <p:nvPr/>
        </p:nvSpPr>
        <p:spPr>
          <a:xfrm>
            <a:off x="2837407" y="5145581"/>
            <a:ext cx="511915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160" b="1" dirty="0"/>
              <a:t>How many items can  you make for $10000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8C5D5C8-1C69-4F2A-B049-9A1759634D7B}"/>
                  </a:ext>
                </a:extLst>
              </p:cNvPr>
              <p:cNvSpPr/>
              <p:nvPr/>
            </p:nvSpPr>
            <p:spPr>
              <a:xfrm>
                <a:off x="3523717" y="5474535"/>
                <a:ext cx="8002045" cy="142192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AU" sz="2160" dirty="0"/>
                  <a:t>y=10000 		10000 = 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sz="2160" dirty="0"/>
              </a:p>
              <a:p>
                <a:r>
                  <a:rPr lang="en-AU" sz="2160" dirty="0"/>
                  <a:t>		10000-1000 = 20</a:t>
                </a:r>
                <a:r>
                  <a:rPr lang="en-AU" sz="2160" i="1" dirty="0"/>
                  <a:t>x</a:t>
                </a:r>
                <a:r>
                  <a:rPr lang="en-AU" sz="2160" dirty="0"/>
                  <a:t>     </a:t>
                </a:r>
              </a:p>
              <a:p>
                <a:r>
                  <a:rPr lang="en-AU" sz="2160" dirty="0"/>
                  <a:t>		9000 ÷20  = x      </a:t>
                </a:r>
              </a:p>
              <a:p>
                <a:r>
                  <a:rPr lang="en-AU" sz="2160" dirty="0"/>
                  <a:t>		450 = x                     so we can make 450 items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8C5D5C8-1C69-4F2A-B049-9A1759634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717" y="5474535"/>
                <a:ext cx="8002045" cy="1421928"/>
              </a:xfrm>
              <a:prstGeom prst="rect">
                <a:avLst/>
              </a:prstGeom>
              <a:blipFill>
                <a:blip r:embed="rId4"/>
                <a:stretch>
                  <a:fillRect l="-914" t="-2575" b="-77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287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7355D4-784A-45EC-AB9C-6EBB8BF4643B}"/>
              </a:ext>
            </a:extLst>
          </p:cNvPr>
          <p:cNvSpPr txBox="1"/>
          <p:nvPr/>
        </p:nvSpPr>
        <p:spPr>
          <a:xfrm>
            <a:off x="1344778" y="603504"/>
            <a:ext cx="9052560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So we need 2 things to make a linear rule.</a:t>
            </a:r>
          </a:p>
          <a:p>
            <a:r>
              <a:rPr lang="en-AU" sz="2160" dirty="0"/>
              <a:t>	1. How much it goes up by each time. (M, the gradient)</a:t>
            </a:r>
          </a:p>
          <a:p>
            <a:r>
              <a:rPr lang="en-AU" sz="2160" dirty="0"/>
              <a:t>	2. What is the value at the start – </a:t>
            </a:r>
            <a:r>
              <a:rPr lang="en-AU" sz="2160" dirty="0" err="1"/>
              <a:t>ie</a:t>
            </a:r>
            <a:r>
              <a:rPr lang="en-AU" sz="2160" dirty="0"/>
              <a:t>. when x = 0 (C, the y-intercept)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D729C6-DFE8-4203-9D4B-3A6BA6AF02B5}"/>
                  </a:ext>
                </a:extLst>
              </p:cNvPr>
              <p:cNvSpPr txBox="1"/>
              <p:nvPr/>
            </p:nvSpPr>
            <p:spPr>
              <a:xfrm>
                <a:off x="2068982" y="2205533"/>
                <a:ext cx="7253021" cy="683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84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384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840"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AU" sz="3840">
                          <a:latin typeface="Cambria Math" panose="02040503050406030204" pitchFamily="18" charset="0"/>
                        </a:rPr>
                        <m:t>gradient</m:t>
                      </m:r>
                      <m:r>
                        <a:rPr lang="en-AU" sz="384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AU" sz="384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AU" sz="3840" dirty="0">
                          <a:ea typeface="Cambria Math" panose="020405030504060302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AU" sz="3840" dirty="0">
                          <a:ea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AU" sz="3840" dirty="0">
                          <a:ea typeface="Cambria Math" panose="020405030504060302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AU" sz="3840" dirty="0"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AU" sz="3840" dirty="0">
                          <a:ea typeface="Cambria Math" panose="02040503050406030204" pitchFamily="18" charset="0"/>
                        </a:rPr>
                        <m:t>intercept</m:t>
                      </m:r>
                      <m:r>
                        <m:rPr>
                          <m:nor/>
                        </m:rPr>
                        <a:rPr lang="en-AU" sz="3840" dirty="0"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AU" sz="384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D729C6-DFE8-4203-9D4B-3A6BA6AF0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982" y="2205533"/>
                <a:ext cx="7253021" cy="683264"/>
              </a:xfrm>
              <a:prstGeom prst="rect">
                <a:avLst/>
              </a:prstGeom>
              <a:blipFill>
                <a:blip r:embed="rId2"/>
                <a:stretch>
                  <a:fillRect b="-705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096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D4F70D-69CE-433E-B816-475DD19C0387}"/>
              </a:ext>
            </a:extLst>
          </p:cNvPr>
          <p:cNvSpPr txBox="1"/>
          <p:nvPr/>
        </p:nvSpPr>
        <p:spPr>
          <a:xfrm>
            <a:off x="723900" y="40540"/>
            <a:ext cx="23012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/>
              <a:t>Lets try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84D05-3F74-46AA-AD01-1BDF0C7AE520}"/>
              </a:ext>
            </a:extLst>
          </p:cNvPr>
          <p:cNvSpPr/>
          <p:nvPr/>
        </p:nvSpPr>
        <p:spPr>
          <a:xfrm>
            <a:off x="1028700" y="501885"/>
            <a:ext cx="1043178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160" dirty="0"/>
              <a:t>Cohen’s motorbike is 200m ahead of Darcy’s and is increasing its lead by 10m every minute.</a:t>
            </a:r>
          </a:p>
          <a:p>
            <a:r>
              <a:rPr lang="en-AU" sz="2160" dirty="0"/>
              <a:t>	Starts at 200     </a:t>
            </a:r>
            <a:r>
              <a:rPr lang="en-AU" sz="2160" dirty="0">
                <a:highlight>
                  <a:srgbClr val="FFFF00"/>
                </a:highlight>
              </a:rPr>
              <a:t>this is the y-intercept (C) </a:t>
            </a:r>
            <a:r>
              <a:rPr lang="en-AU" sz="2160" dirty="0"/>
              <a:t>	</a:t>
            </a:r>
          </a:p>
          <a:p>
            <a:r>
              <a:rPr lang="en-AU" sz="2160" dirty="0"/>
              <a:t>	Goes up each minute by  10    </a:t>
            </a:r>
            <a:r>
              <a:rPr lang="en-AU" sz="2160" dirty="0">
                <a:highlight>
                  <a:srgbClr val="00FF00"/>
                </a:highlight>
              </a:rPr>
              <a:t>This is the gradient</a:t>
            </a:r>
          </a:p>
          <a:p>
            <a:endParaRPr lang="en-AU" sz="2160" dirty="0">
              <a:highlight>
                <a:srgbClr val="00FF00"/>
              </a:highlight>
            </a:endParaRPr>
          </a:p>
          <a:p>
            <a:r>
              <a:rPr lang="en-AU" sz="2160" dirty="0"/>
              <a:t>What is the equation?	</a:t>
            </a:r>
          </a:p>
          <a:p>
            <a:endParaRPr lang="en-AU" sz="2160" dirty="0"/>
          </a:p>
          <a:p>
            <a:endParaRPr lang="en-AU" sz="2160" dirty="0"/>
          </a:p>
          <a:p>
            <a:r>
              <a:rPr lang="en-AU" sz="2160" dirty="0"/>
              <a:t>How far in front will Cohen be in 15 minutes? </a:t>
            </a:r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r>
              <a:rPr lang="en-AU" sz="2160" dirty="0"/>
              <a:t>How far in front was Cohen 5 minutes ago? </a:t>
            </a:r>
          </a:p>
          <a:p>
            <a:endParaRPr lang="en-AU" sz="216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A97B42-E7CA-4505-8861-DE2A924CD421}"/>
                  </a:ext>
                </a:extLst>
              </p:cNvPr>
              <p:cNvSpPr txBox="1"/>
              <p:nvPr/>
            </p:nvSpPr>
            <p:spPr>
              <a:xfrm>
                <a:off x="3025141" y="2256532"/>
                <a:ext cx="7745646" cy="332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+200   </m:t>
                      </m:r>
                      <m:r>
                        <m:rPr>
                          <m:sty m:val="p"/>
                        </m:rPr>
                        <a:rPr lang="en-AU" sz="2160">
                          <a:latin typeface="Cambria Math" panose="02040503050406030204" pitchFamily="18" charset="0"/>
                        </a:rPr>
                        <m:t>which</m:t>
                      </m:r>
                      <m:r>
                        <a:rPr lang="en-AU" sz="216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160">
                          <a:latin typeface="Cambria Math" panose="02040503050406030204" pitchFamily="18" charset="0"/>
                        </a:rPr>
                        <m:t>means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=10×</m:t>
                      </m:r>
                      <m:r>
                        <a:rPr lang="en-AU" sz="216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𝑚𝑖𝑛𝑢𝑡𝑒𝑠</m:t>
                      </m:r>
                      <m:r>
                        <a:rPr lang="en-AU" sz="216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+200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A97B42-E7CA-4505-8861-DE2A924CD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141" y="2256532"/>
                <a:ext cx="7745646" cy="332399"/>
              </a:xfrm>
              <a:prstGeom prst="rect">
                <a:avLst/>
              </a:prstGeom>
              <a:blipFill>
                <a:blip r:embed="rId2"/>
                <a:stretch>
                  <a:fillRect l="-393" r="-315" b="-218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D5715C-9C5F-418F-B5D6-9C038BB07FE3}"/>
                  </a:ext>
                </a:extLst>
              </p:cNvPr>
              <p:cNvSpPr txBox="1"/>
              <p:nvPr/>
            </p:nvSpPr>
            <p:spPr>
              <a:xfrm>
                <a:off x="5757773" y="3407341"/>
                <a:ext cx="2583656" cy="997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+200 </m:t>
                      </m:r>
                    </m:oMath>
                  </m:oMathPara>
                </a14:m>
                <a:endParaRPr lang="en-AU" sz="216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=10×15+200</m:t>
                      </m:r>
                    </m:oMath>
                  </m:oMathPara>
                </a14:m>
                <a:endParaRPr lang="en-AU" sz="216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sz="2160" dirty="0">
                    <a:latin typeface="Cambria Math" panose="02040503050406030204" pitchFamily="18" charset="0"/>
                  </a:rPr>
                  <a:t> y = 350m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D5715C-9C5F-418F-B5D6-9C038BB07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773" y="3407341"/>
                <a:ext cx="2583656" cy="997196"/>
              </a:xfrm>
              <a:prstGeom prst="rect">
                <a:avLst/>
              </a:prstGeom>
              <a:blipFill>
                <a:blip r:embed="rId3"/>
                <a:stretch>
                  <a:fillRect l="-4255" b="-152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2EF998-24F1-47C2-BB2B-76F2883FD22E}"/>
                  </a:ext>
                </a:extLst>
              </p:cNvPr>
              <p:cNvSpPr txBox="1"/>
              <p:nvPr/>
            </p:nvSpPr>
            <p:spPr>
              <a:xfrm>
                <a:off x="5757773" y="5358919"/>
                <a:ext cx="2642198" cy="997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+200 </m:t>
                      </m:r>
                    </m:oMath>
                  </m:oMathPara>
                </a14:m>
                <a:endParaRPr lang="en-AU" sz="216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=10×−5+200</m:t>
                      </m:r>
                    </m:oMath>
                  </m:oMathPara>
                </a14:m>
                <a:endParaRPr lang="en-AU" sz="216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sz="2160" dirty="0">
                    <a:latin typeface="Cambria Math" panose="02040503050406030204" pitchFamily="18" charset="0"/>
                  </a:rPr>
                  <a:t> y = 150m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2EF998-24F1-47C2-BB2B-76F2883FD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773" y="5358919"/>
                <a:ext cx="2642198" cy="997196"/>
              </a:xfrm>
              <a:prstGeom prst="rect">
                <a:avLst/>
              </a:prstGeom>
              <a:blipFill>
                <a:blip r:embed="rId4"/>
                <a:stretch>
                  <a:fillRect l="-4157" b="-158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C158A4D-EE02-469A-9B92-CB7CD4E5B579}"/>
              </a:ext>
            </a:extLst>
          </p:cNvPr>
          <p:cNvSpPr txBox="1"/>
          <p:nvPr/>
        </p:nvSpPr>
        <p:spPr>
          <a:xfrm>
            <a:off x="1272540" y="5246071"/>
            <a:ext cx="35052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5 Minutes ago means x =-5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8C3436-2DA8-402A-A69A-F7BE7E2E3C53}"/>
              </a:ext>
            </a:extLst>
          </p:cNvPr>
          <p:cNvSpPr txBox="1"/>
          <p:nvPr/>
        </p:nvSpPr>
        <p:spPr>
          <a:xfrm>
            <a:off x="1394460" y="3422377"/>
            <a:ext cx="35052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15 Minutes ago means x =15 </a:t>
            </a:r>
          </a:p>
        </p:txBody>
      </p:sp>
    </p:spTree>
    <p:extLst>
      <p:ext uri="{BB962C8B-B14F-4D97-AF65-F5344CB8AC3E}">
        <p14:creationId xmlns:p14="http://schemas.microsoft.com/office/powerpoint/2010/main" val="226205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47FA32-839F-4A0B-A86F-906903DE85E3}"/>
                  </a:ext>
                </a:extLst>
              </p:cNvPr>
              <p:cNvSpPr/>
              <p:nvPr/>
            </p:nvSpPr>
            <p:spPr>
              <a:xfrm>
                <a:off x="1965960" y="258045"/>
                <a:ext cx="10134600" cy="6740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160" dirty="0"/>
                  <a:t>A cyclone is 120 km away and is moving toward us at 30km per hour</a:t>
                </a:r>
                <a:endParaRPr lang="en-AU" sz="2160" dirty="0">
                  <a:highlight>
                    <a:srgbClr val="FFFF00"/>
                  </a:highlight>
                </a:endParaRPr>
              </a:p>
              <a:p>
                <a:r>
                  <a:rPr lang="en-AU" sz="2160" dirty="0"/>
                  <a:t>	Starts at 120     </a:t>
                </a:r>
                <a:r>
                  <a:rPr lang="en-AU" sz="2160" dirty="0">
                    <a:highlight>
                      <a:srgbClr val="FFFF00"/>
                    </a:highlight>
                  </a:rPr>
                  <a:t>this is the y-intercept (C) </a:t>
                </a:r>
                <a:r>
                  <a:rPr lang="en-AU" sz="2160" dirty="0"/>
                  <a:t>	</a:t>
                </a:r>
              </a:p>
              <a:p>
                <a:r>
                  <a:rPr lang="en-AU" sz="2160" dirty="0"/>
                  <a:t>	Goes up each time by  -30    </a:t>
                </a:r>
                <a:r>
                  <a:rPr lang="en-AU" sz="2160" dirty="0">
                    <a:highlight>
                      <a:srgbClr val="00FF00"/>
                    </a:highlight>
                  </a:rPr>
                  <a:t>This is the gradient</a:t>
                </a:r>
              </a:p>
              <a:p>
                <a:endParaRPr lang="en-AU" sz="2160" dirty="0">
                  <a:highlight>
                    <a:srgbClr val="00FF00"/>
                  </a:highlight>
                </a:endParaRPr>
              </a:p>
              <a:p>
                <a:r>
                  <a:rPr lang="en-AU" sz="2160" dirty="0"/>
                  <a:t>What is the equation ? </a:t>
                </a:r>
              </a:p>
              <a:p>
                <a:endParaRPr lang="en-AU" sz="2160" dirty="0"/>
              </a:p>
              <a:p>
                <a:endParaRPr lang="en-AU" sz="2160" dirty="0"/>
              </a:p>
              <a:p>
                <a:r>
                  <a:rPr lang="en-AU" sz="2160" dirty="0"/>
                  <a:t>How close will the cyclone be in 2.5 hours?</a:t>
                </a:r>
              </a:p>
              <a:p>
                <a:endParaRPr lang="en-AU" sz="2160" dirty="0"/>
              </a:p>
              <a:p>
                <a:endParaRPr lang="en-AU" sz="2160" dirty="0"/>
              </a:p>
              <a:p>
                <a:endParaRPr lang="en-AU" sz="2160" dirty="0"/>
              </a:p>
              <a:p>
                <a:endParaRPr lang="en-AU" sz="2160" dirty="0"/>
              </a:p>
              <a:p>
                <a:endParaRPr lang="en-AU" sz="2160" dirty="0"/>
              </a:p>
              <a:p>
                <a:r>
                  <a:rPr lang="en-AU" sz="2160" dirty="0"/>
                  <a:t>When will the cyclone reach our location?  </a:t>
                </a:r>
                <a:r>
                  <a:rPr lang="en-AU" sz="2160" i="1" dirty="0"/>
                  <a:t>Extension question</a:t>
                </a:r>
              </a:p>
              <a:p>
                <a:r>
                  <a:rPr lang="en-AU" sz="2160" dirty="0"/>
                  <a:t>y = 0		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sz="2160" dirty="0"/>
              </a:p>
              <a:p>
                <a:r>
                  <a:rPr lang="en-AU" sz="2160" dirty="0"/>
                  <a:t>		0 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sz="2160" dirty="0"/>
              </a:p>
              <a:p>
                <a:r>
                  <a:rPr lang="en-AU" sz="2160" dirty="0"/>
                  <a:t>		-120 = 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</a:rPr>
                      <m:t>−30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160" dirty="0"/>
              </a:p>
              <a:p>
                <a:r>
                  <a:rPr lang="en-AU" sz="2160" dirty="0"/>
                  <a:t>		-120 ÷ -30 = x</a:t>
                </a:r>
              </a:p>
              <a:p>
                <a:r>
                  <a:rPr lang="en-AU" sz="2160" dirty="0"/>
                  <a:t>			4 = x		the cyclone will arrive in 4 hours</a:t>
                </a:r>
              </a:p>
              <a:p>
                <a:r>
                  <a:rPr lang="en-AU" sz="2160" dirty="0"/>
                  <a:t>		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47FA32-839F-4A0B-A86F-906903DE8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960" y="258045"/>
                <a:ext cx="10134600" cy="6740307"/>
              </a:xfrm>
              <a:prstGeom prst="rect">
                <a:avLst/>
              </a:prstGeom>
              <a:blipFill>
                <a:blip r:embed="rId2"/>
                <a:stretch>
                  <a:fillRect l="-782" t="-5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4E920FF-1ABA-4FC1-84C4-A1E91B3ADDA6}"/>
                  </a:ext>
                </a:extLst>
              </p:cNvPr>
              <p:cNvSpPr/>
              <p:nvPr/>
            </p:nvSpPr>
            <p:spPr>
              <a:xfrm>
                <a:off x="4280770" y="2289918"/>
                <a:ext cx="3090911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2160" dirty="0"/>
                  <a:t>So 	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sz="216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4E920FF-1ABA-4FC1-84C4-A1E91B3AD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770" y="2289918"/>
                <a:ext cx="3090911" cy="424732"/>
              </a:xfrm>
              <a:prstGeom prst="rect">
                <a:avLst/>
              </a:prstGeom>
              <a:blipFill>
                <a:blip r:embed="rId3"/>
                <a:stretch>
                  <a:fillRect l="-2367" t="-10145" b="-289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DDA419-892E-4901-8B0C-234256A47DDF}"/>
                  </a:ext>
                </a:extLst>
              </p:cNvPr>
              <p:cNvSpPr/>
              <p:nvPr/>
            </p:nvSpPr>
            <p:spPr>
              <a:xfrm>
                <a:off x="3294815" y="2917232"/>
                <a:ext cx="4605043" cy="14219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2160" dirty="0"/>
                  <a:t>x = 2.5		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sz="2160" dirty="0"/>
              </a:p>
              <a:p>
                <a:r>
                  <a:rPr lang="en-AU" sz="2160" dirty="0"/>
                  <a:t>		 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=−30×2.5+120</m:t>
                    </m:r>
                  </m:oMath>
                </a14:m>
                <a:endParaRPr lang="en-AU" sz="2160" dirty="0"/>
              </a:p>
              <a:p>
                <a:r>
                  <a:rPr lang="en-AU" sz="2160" dirty="0"/>
                  <a:t>		 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=−75+120</m:t>
                    </m:r>
                  </m:oMath>
                </a14:m>
                <a:endParaRPr lang="en-AU" sz="2160" dirty="0"/>
              </a:p>
              <a:p>
                <a:r>
                  <a:rPr lang="en-AU" sz="2160" dirty="0"/>
                  <a:t>		 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160" i="1">
                        <a:latin typeface="Cambria Math" panose="02040503050406030204" pitchFamily="18" charset="0"/>
                      </a:rPr>
                      <m:t>=  45</m:t>
                    </m:r>
                  </m:oMath>
                </a14:m>
                <a:endParaRPr lang="en-AU" sz="216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DDA419-892E-4901-8B0C-234256A47D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815" y="2917232"/>
                <a:ext cx="4605043" cy="1421928"/>
              </a:xfrm>
              <a:prstGeom prst="rect">
                <a:avLst/>
              </a:prstGeom>
              <a:blipFill>
                <a:blip r:embed="rId4"/>
                <a:stretch>
                  <a:fillRect l="-1587" t="-3004" b="-12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4E5FC53-F903-454A-8EF1-3FFF4EA80A1B}"/>
              </a:ext>
            </a:extLst>
          </p:cNvPr>
          <p:cNvSpPr txBox="1"/>
          <p:nvPr/>
        </p:nvSpPr>
        <p:spPr>
          <a:xfrm>
            <a:off x="609600" y="-16275"/>
            <a:ext cx="23012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/>
              <a:t>Lets try</a:t>
            </a:r>
          </a:p>
        </p:txBody>
      </p:sp>
    </p:spTree>
    <p:extLst>
      <p:ext uri="{BB962C8B-B14F-4D97-AF65-F5344CB8AC3E}">
        <p14:creationId xmlns:p14="http://schemas.microsoft.com/office/powerpoint/2010/main" val="77447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6EB985-5CEC-4BB5-952A-F110246BB438}"/>
              </a:ext>
            </a:extLst>
          </p:cNvPr>
          <p:cNvSpPr txBox="1"/>
          <p:nvPr/>
        </p:nvSpPr>
        <p:spPr>
          <a:xfrm>
            <a:off x="975360" y="163830"/>
            <a:ext cx="797052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/>
              <a:t>Dr Dwyer </a:t>
            </a:r>
          </a:p>
          <a:p>
            <a:r>
              <a:rPr lang="en-AU" sz="2160" b="1" dirty="0"/>
              <a:t>Exercise 16.4</a:t>
            </a:r>
          </a:p>
          <a:p>
            <a:r>
              <a:rPr lang="en-AU" sz="2160" b="1" dirty="0"/>
              <a:t>Page 217</a:t>
            </a:r>
          </a:p>
          <a:p>
            <a:endParaRPr lang="en-AU" sz="216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14B72-1744-4A8F-AC90-8E42BEFCB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1" y="937859"/>
            <a:ext cx="7238999" cy="57563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E54811-68E6-4E38-9FAA-7FDE0E8BA755}"/>
              </a:ext>
            </a:extLst>
          </p:cNvPr>
          <p:cNvSpPr/>
          <p:nvPr/>
        </p:nvSpPr>
        <p:spPr>
          <a:xfrm>
            <a:off x="5242560" y="182593"/>
            <a:ext cx="54864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160" b="1" dirty="0"/>
              <a:t>The phrase “</a:t>
            </a:r>
            <a:r>
              <a:rPr lang="en-AU" sz="2160" dirty="0"/>
              <a:t>write a mathematical model.</a:t>
            </a:r>
            <a:r>
              <a:rPr lang="en-AU" sz="2160" b="1" dirty="0"/>
              <a:t>” means write an equation</a:t>
            </a:r>
            <a:endParaRPr lang="en-AU" sz="2160" dirty="0"/>
          </a:p>
        </p:txBody>
      </p:sp>
    </p:spTree>
    <p:extLst>
      <p:ext uri="{BB962C8B-B14F-4D97-AF65-F5344CB8AC3E}">
        <p14:creationId xmlns:p14="http://schemas.microsoft.com/office/powerpoint/2010/main" val="3135414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6EB985-5CEC-4BB5-952A-F110246BB438}"/>
              </a:ext>
            </a:extLst>
          </p:cNvPr>
          <p:cNvSpPr txBox="1"/>
          <p:nvPr/>
        </p:nvSpPr>
        <p:spPr>
          <a:xfrm>
            <a:off x="975360" y="163830"/>
            <a:ext cx="797052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/>
              <a:t>Dr Dwyer </a:t>
            </a:r>
          </a:p>
          <a:p>
            <a:r>
              <a:rPr lang="en-AU" sz="2160" b="1" dirty="0"/>
              <a:t>Exercise 16.4</a:t>
            </a:r>
          </a:p>
          <a:p>
            <a:r>
              <a:rPr lang="en-AU" sz="2160" b="1" dirty="0"/>
              <a:t>Page 217</a:t>
            </a:r>
          </a:p>
          <a:p>
            <a:endParaRPr lang="en-AU" sz="216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14B72-1744-4A8F-AC90-8E42BEFCB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1" y="937859"/>
            <a:ext cx="7238999" cy="57563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E54811-68E6-4E38-9FAA-7FDE0E8BA755}"/>
              </a:ext>
            </a:extLst>
          </p:cNvPr>
          <p:cNvSpPr/>
          <p:nvPr/>
        </p:nvSpPr>
        <p:spPr>
          <a:xfrm>
            <a:off x="5242560" y="182593"/>
            <a:ext cx="54864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160" b="1" dirty="0"/>
              <a:t>The phrase “</a:t>
            </a:r>
            <a:r>
              <a:rPr lang="en-AU" sz="2160" dirty="0"/>
              <a:t>write a mathematical model.</a:t>
            </a:r>
            <a:r>
              <a:rPr lang="en-AU" sz="2160" b="1" dirty="0"/>
              <a:t>” means write an equation</a:t>
            </a:r>
            <a:endParaRPr lang="en-AU" sz="2160" dirty="0"/>
          </a:p>
        </p:txBody>
      </p:sp>
    </p:spTree>
    <p:extLst>
      <p:ext uri="{BB962C8B-B14F-4D97-AF65-F5344CB8AC3E}">
        <p14:creationId xmlns:p14="http://schemas.microsoft.com/office/powerpoint/2010/main" val="1859248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1211</Words>
  <Application>Microsoft Office PowerPoint</Application>
  <PresentationFormat>Widescreen</PresentationFormat>
  <Paragraphs>234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Calisto MT</vt:lpstr>
      <vt:lpstr>Cambria Math</vt:lpstr>
      <vt:lpstr>Times New Roman</vt:lpstr>
      <vt:lpstr>Office Theme</vt:lpstr>
      <vt:lpstr>Topic: Linear Relationships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Linear Relationships</dc:title>
  <dc:creator>Sarah James</dc:creator>
  <cp:lastModifiedBy>Sarah James</cp:lastModifiedBy>
  <cp:revision>1</cp:revision>
  <cp:lastPrinted>2020-03-20T01:42:47Z</cp:lastPrinted>
  <dcterms:created xsi:type="dcterms:W3CDTF">2020-03-20T01:37:22Z</dcterms:created>
  <dcterms:modified xsi:type="dcterms:W3CDTF">2020-03-24T01:48:26Z</dcterms:modified>
</cp:coreProperties>
</file>
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60" r:id="rId3"/>
    <p:sldId id="263" r:id="rId4"/>
    <p:sldId id="262" r:id="rId5"/>
    <p:sldId id="265" r:id="rId6"/>
    <p:sldId id="266" r:id="rId7"/>
    <p:sldId id="267" r:id="rId8"/>
    <p:sldId id="269" r:id="rId9"/>
    <p:sldId id="270" r:id="rId10"/>
    <p:sldId id="264" r:id="rId11"/>
    <p:sldId id="268" r:id="rId12"/>
    <p:sldId id="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E2EC92-79C0-48ED-979B-C6F10D1CFA97}" v="33" dt="2020-06-02T13:14:57.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James" userId="e5e3e68366f0feb3" providerId="LiveId" clId="{77E2EC92-79C0-48ED-979B-C6F10D1CFA97}"/>
    <pc:docChg chg="modSld">
      <pc:chgData name="Sarah James" userId="e5e3e68366f0feb3" providerId="LiveId" clId="{77E2EC92-79C0-48ED-979B-C6F10D1CFA97}" dt="2020-06-02T13:18:24.033" v="34" actId="13926"/>
      <pc:docMkLst>
        <pc:docMk/>
      </pc:docMkLst>
      <pc:sldChg chg="modSp mod">
        <pc:chgData name="Sarah James" userId="e5e3e68366f0feb3" providerId="LiveId" clId="{77E2EC92-79C0-48ED-979B-C6F10D1CFA97}" dt="2020-06-02T13:18:24.033" v="34" actId="13926"/>
        <pc:sldMkLst>
          <pc:docMk/>
          <pc:sldMk cId="2947367282" sldId="257"/>
        </pc:sldMkLst>
        <pc:spChg chg="mod">
          <ac:chgData name="Sarah James" userId="e5e3e68366f0feb3" providerId="LiveId" clId="{77E2EC92-79C0-48ED-979B-C6F10D1CFA97}" dt="2020-06-02T13:13:54.135" v="21" actId="20577"/>
          <ac:spMkLst>
            <pc:docMk/>
            <pc:sldMk cId="2947367282" sldId="257"/>
            <ac:spMk id="3" creationId="{16AAB92A-BB20-4C27-87BF-1FD231FF0BD0}"/>
          </ac:spMkLst>
        </pc:spChg>
        <pc:graphicFrameChg chg="modGraphic">
          <ac:chgData name="Sarah James" userId="e5e3e68366f0feb3" providerId="LiveId" clId="{77E2EC92-79C0-48ED-979B-C6F10D1CFA97}" dt="2020-06-02T13:18:24.033" v="34" actId="13926"/>
          <ac:graphicFrameMkLst>
            <pc:docMk/>
            <pc:sldMk cId="2947367282" sldId="257"/>
            <ac:graphicFrameMk id="5" creationId="{C19A9AD2-4930-4DDA-886B-2C8D9F7CA07E}"/>
          </ac:graphicFrameMkLst>
        </pc:graphicFrameChg>
      </pc:sldChg>
      <pc:sldChg chg="modSp">
        <pc:chgData name="Sarah James" userId="e5e3e68366f0feb3" providerId="LiveId" clId="{77E2EC92-79C0-48ED-979B-C6F10D1CFA97}" dt="2020-06-02T13:14:03.003" v="22"/>
        <pc:sldMkLst>
          <pc:docMk/>
          <pc:sldMk cId="1619166896" sldId="260"/>
        </pc:sldMkLst>
        <pc:spChg chg="mod">
          <ac:chgData name="Sarah James" userId="e5e3e68366f0feb3" providerId="LiveId" clId="{77E2EC92-79C0-48ED-979B-C6F10D1CFA97}" dt="2020-06-02T13:14:03.003" v="22"/>
          <ac:spMkLst>
            <pc:docMk/>
            <pc:sldMk cId="1619166896" sldId="260"/>
            <ac:spMk id="12" creationId="{00000000-0000-0000-0000-000000000000}"/>
          </ac:spMkLst>
        </pc:spChg>
      </pc:sldChg>
      <pc:sldChg chg="modSp">
        <pc:chgData name="Sarah James" userId="e5e3e68366f0feb3" providerId="LiveId" clId="{77E2EC92-79C0-48ED-979B-C6F10D1CFA97}" dt="2020-06-02T13:14:57.648" v="32"/>
        <pc:sldMkLst>
          <pc:docMk/>
          <pc:sldMk cId="3093401816" sldId="261"/>
        </pc:sldMkLst>
        <pc:spChg chg="mod">
          <ac:chgData name="Sarah James" userId="e5e3e68366f0feb3" providerId="LiveId" clId="{77E2EC92-79C0-48ED-979B-C6F10D1CFA97}" dt="2020-06-02T13:14:57.648" v="32"/>
          <ac:spMkLst>
            <pc:docMk/>
            <pc:sldMk cId="3093401816" sldId="261"/>
            <ac:spMk id="12" creationId="{00000000-0000-0000-0000-000000000000}"/>
          </ac:spMkLst>
        </pc:spChg>
      </pc:sldChg>
      <pc:sldChg chg="modSp">
        <pc:chgData name="Sarah James" userId="e5e3e68366f0feb3" providerId="LiveId" clId="{77E2EC92-79C0-48ED-979B-C6F10D1CFA97}" dt="2020-06-02T13:14:14.427" v="24"/>
        <pc:sldMkLst>
          <pc:docMk/>
          <pc:sldMk cId="1041887493" sldId="262"/>
        </pc:sldMkLst>
        <pc:spChg chg="mod">
          <ac:chgData name="Sarah James" userId="e5e3e68366f0feb3" providerId="LiveId" clId="{77E2EC92-79C0-48ED-979B-C6F10D1CFA97}" dt="2020-06-02T13:14:14.427" v="24"/>
          <ac:spMkLst>
            <pc:docMk/>
            <pc:sldMk cId="1041887493" sldId="262"/>
            <ac:spMk id="12" creationId="{00000000-0000-0000-0000-000000000000}"/>
          </ac:spMkLst>
        </pc:spChg>
      </pc:sldChg>
      <pc:sldChg chg="modSp">
        <pc:chgData name="Sarah James" userId="e5e3e68366f0feb3" providerId="LiveId" clId="{77E2EC92-79C0-48ED-979B-C6F10D1CFA97}" dt="2020-06-02T13:14:09.810" v="23"/>
        <pc:sldMkLst>
          <pc:docMk/>
          <pc:sldMk cId="1359456308" sldId="263"/>
        </pc:sldMkLst>
        <pc:spChg chg="mod">
          <ac:chgData name="Sarah James" userId="e5e3e68366f0feb3" providerId="LiveId" clId="{77E2EC92-79C0-48ED-979B-C6F10D1CFA97}" dt="2020-06-02T13:14:09.810" v="23"/>
          <ac:spMkLst>
            <pc:docMk/>
            <pc:sldMk cId="1359456308" sldId="263"/>
            <ac:spMk id="12" creationId="{00000000-0000-0000-0000-000000000000}"/>
          </ac:spMkLst>
        </pc:spChg>
      </pc:sldChg>
      <pc:sldChg chg="modSp">
        <pc:chgData name="Sarah James" userId="e5e3e68366f0feb3" providerId="LiveId" clId="{77E2EC92-79C0-48ED-979B-C6F10D1CFA97}" dt="2020-06-02T13:14:45.875" v="30"/>
        <pc:sldMkLst>
          <pc:docMk/>
          <pc:sldMk cId="1443137826" sldId="264"/>
        </pc:sldMkLst>
        <pc:spChg chg="mod">
          <ac:chgData name="Sarah James" userId="e5e3e68366f0feb3" providerId="LiveId" clId="{77E2EC92-79C0-48ED-979B-C6F10D1CFA97}" dt="2020-06-02T13:14:45.875" v="30"/>
          <ac:spMkLst>
            <pc:docMk/>
            <pc:sldMk cId="1443137826" sldId="264"/>
            <ac:spMk id="12" creationId="{00000000-0000-0000-0000-000000000000}"/>
          </ac:spMkLst>
        </pc:spChg>
      </pc:sldChg>
      <pc:sldChg chg="modSp">
        <pc:chgData name="Sarah James" userId="e5e3e68366f0feb3" providerId="LiveId" clId="{77E2EC92-79C0-48ED-979B-C6F10D1CFA97}" dt="2020-06-02T13:14:20.528" v="25"/>
        <pc:sldMkLst>
          <pc:docMk/>
          <pc:sldMk cId="3052916417" sldId="265"/>
        </pc:sldMkLst>
        <pc:spChg chg="mod">
          <ac:chgData name="Sarah James" userId="e5e3e68366f0feb3" providerId="LiveId" clId="{77E2EC92-79C0-48ED-979B-C6F10D1CFA97}" dt="2020-06-02T13:14:20.528" v="25"/>
          <ac:spMkLst>
            <pc:docMk/>
            <pc:sldMk cId="3052916417" sldId="265"/>
            <ac:spMk id="12" creationId="{00000000-0000-0000-0000-000000000000}"/>
          </ac:spMkLst>
        </pc:spChg>
      </pc:sldChg>
      <pc:sldChg chg="modSp">
        <pc:chgData name="Sarah James" userId="e5e3e68366f0feb3" providerId="LiveId" clId="{77E2EC92-79C0-48ED-979B-C6F10D1CFA97}" dt="2020-06-02T13:14:25.710" v="26"/>
        <pc:sldMkLst>
          <pc:docMk/>
          <pc:sldMk cId="2145054694" sldId="266"/>
        </pc:sldMkLst>
        <pc:spChg chg="mod">
          <ac:chgData name="Sarah James" userId="e5e3e68366f0feb3" providerId="LiveId" clId="{77E2EC92-79C0-48ED-979B-C6F10D1CFA97}" dt="2020-06-02T13:14:25.710" v="26"/>
          <ac:spMkLst>
            <pc:docMk/>
            <pc:sldMk cId="2145054694" sldId="266"/>
            <ac:spMk id="12" creationId="{00000000-0000-0000-0000-000000000000}"/>
          </ac:spMkLst>
        </pc:spChg>
      </pc:sldChg>
      <pc:sldChg chg="modSp">
        <pc:chgData name="Sarah James" userId="e5e3e68366f0feb3" providerId="LiveId" clId="{77E2EC92-79C0-48ED-979B-C6F10D1CFA97}" dt="2020-06-02T13:14:30.822" v="27"/>
        <pc:sldMkLst>
          <pc:docMk/>
          <pc:sldMk cId="2544062045" sldId="267"/>
        </pc:sldMkLst>
        <pc:spChg chg="mod">
          <ac:chgData name="Sarah James" userId="e5e3e68366f0feb3" providerId="LiveId" clId="{77E2EC92-79C0-48ED-979B-C6F10D1CFA97}" dt="2020-06-02T13:14:30.822" v="27"/>
          <ac:spMkLst>
            <pc:docMk/>
            <pc:sldMk cId="2544062045" sldId="267"/>
            <ac:spMk id="12" creationId="{00000000-0000-0000-0000-000000000000}"/>
          </ac:spMkLst>
        </pc:spChg>
      </pc:sldChg>
      <pc:sldChg chg="modSp">
        <pc:chgData name="Sarah James" userId="e5e3e68366f0feb3" providerId="LiveId" clId="{77E2EC92-79C0-48ED-979B-C6F10D1CFA97}" dt="2020-06-02T13:14:51.887" v="31"/>
        <pc:sldMkLst>
          <pc:docMk/>
          <pc:sldMk cId="1364810294" sldId="268"/>
        </pc:sldMkLst>
        <pc:spChg chg="mod">
          <ac:chgData name="Sarah James" userId="e5e3e68366f0feb3" providerId="LiveId" clId="{77E2EC92-79C0-48ED-979B-C6F10D1CFA97}" dt="2020-06-02T13:14:51.887" v="31"/>
          <ac:spMkLst>
            <pc:docMk/>
            <pc:sldMk cId="1364810294" sldId="268"/>
            <ac:spMk id="12" creationId="{00000000-0000-0000-0000-000000000000}"/>
          </ac:spMkLst>
        </pc:spChg>
      </pc:sldChg>
      <pc:sldChg chg="modSp">
        <pc:chgData name="Sarah James" userId="e5e3e68366f0feb3" providerId="LiveId" clId="{77E2EC92-79C0-48ED-979B-C6F10D1CFA97}" dt="2020-06-02T13:14:35.868" v="28"/>
        <pc:sldMkLst>
          <pc:docMk/>
          <pc:sldMk cId="2096692388" sldId="269"/>
        </pc:sldMkLst>
        <pc:spChg chg="mod">
          <ac:chgData name="Sarah James" userId="e5e3e68366f0feb3" providerId="LiveId" clId="{77E2EC92-79C0-48ED-979B-C6F10D1CFA97}" dt="2020-06-02T13:14:35.868" v="28"/>
          <ac:spMkLst>
            <pc:docMk/>
            <pc:sldMk cId="2096692388" sldId="269"/>
            <ac:spMk id="12" creationId="{00000000-0000-0000-0000-000000000000}"/>
          </ac:spMkLst>
        </pc:spChg>
      </pc:sldChg>
      <pc:sldChg chg="modSp">
        <pc:chgData name="Sarah James" userId="e5e3e68366f0feb3" providerId="LiveId" clId="{77E2EC92-79C0-48ED-979B-C6F10D1CFA97}" dt="2020-06-02T13:14:41.197" v="29"/>
        <pc:sldMkLst>
          <pc:docMk/>
          <pc:sldMk cId="2741540624" sldId="270"/>
        </pc:sldMkLst>
        <pc:spChg chg="mod">
          <ac:chgData name="Sarah James" userId="e5e3e68366f0feb3" providerId="LiveId" clId="{77E2EC92-79C0-48ED-979B-C6F10D1CFA97}" dt="2020-06-02T13:14:41.197" v="29"/>
          <ac:spMkLst>
            <pc:docMk/>
            <pc:sldMk cId="2741540624" sldId="270"/>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ECE80-C4B7-492A-8339-BFB45767CD58}" type="datetimeFigureOut">
              <a:rPr lang="en-AU" smtClean="0"/>
              <a:t>2/06/2020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DC967-B655-452E-9AFB-BCED67D22E73}" type="slidenum">
              <a:rPr lang="en-AU" smtClean="0"/>
              <a:t>‹#›</a:t>
            </a:fld>
            <a:endParaRPr lang="en-AU"/>
          </a:p>
        </p:txBody>
      </p:sp>
    </p:spTree>
    <p:extLst>
      <p:ext uri="{BB962C8B-B14F-4D97-AF65-F5344CB8AC3E}">
        <p14:creationId xmlns:p14="http://schemas.microsoft.com/office/powerpoint/2010/main" val="3142183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2</a:t>
            </a:fld>
            <a:endParaRPr lang="en-AU"/>
          </a:p>
        </p:txBody>
      </p:sp>
    </p:spTree>
    <p:extLst>
      <p:ext uri="{BB962C8B-B14F-4D97-AF65-F5344CB8AC3E}">
        <p14:creationId xmlns:p14="http://schemas.microsoft.com/office/powerpoint/2010/main" val="389531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3</a:t>
            </a:fld>
            <a:endParaRPr lang="en-AU"/>
          </a:p>
        </p:txBody>
      </p:sp>
    </p:spTree>
    <p:extLst>
      <p:ext uri="{BB962C8B-B14F-4D97-AF65-F5344CB8AC3E}">
        <p14:creationId xmlns:p14="http://schemas.microsoft.com/office/powerpoint/2010/main" val="3047980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4</a:t>
            </a:fld>
            <a:endParaRPr lang="en-AU"/>
          </a:p>
        </p:txBody>
      </p:sp>
    </p:spTree>
    <p:extLst>
      <p:ext uri="{BB962C8B-B14F-4D97-AF65-F5344CB8AC3E}">
        <p14:creationId xmlns:p14="http://schemas.microsoft.com/office/powerpoint/2010/main" val="1823066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5</a:t>
            </a:fld>
            <a:endParaRPr lang="en-AU"/>
          </a:p>
        </p:txBody>
      </p:sp>
    </p:spTree>
    <p:extLst>
      <p:ext uri="{BB962C8B-B14F-4D97-AF65-F5344CB8AC3E}">
        <p14:creationId xmlns:p14="http://schemas.microsoft.com/office/powerpoint/2010/main" val="2287889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6</a:t>
            </a:fld>
            <a:endParaRPr lang="en-AU"/>
          </a:p>
        </p:txBody>
      </p:sp>
    </p:spTree>
    <p:extLst>
      <p:ext uri="{BB962C8B-B14F-4D97-AF65-F5344CB8AC3E}">
        <p14:creationId xmlns:p14="http://schemas.microsoft.com/office/powerpoint/2010/main" val="1824479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7</a:t>
            </a:fld>
            <a:endParaRPr lang="en-AU"/>
          </a:p>
        </p:txBody>
      </p:sp>
    </p:spTree>
    <p:extLst>
      <p:ext uri="{BB962C8B-B14F-4D97-AF65-F5344CB8AC3E}">
        <p14:creationId xmlns:p14="http://schemas.microsoft.com/office/powerpoint/2010/main" val="3118426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8</a:t>
            </a:fld>
            <a:endParaRPr lang="en-AU"/>
          </a:p>
        </p:txBody>
      </p:sp>
    </p:spTree>
    <p:extLst>
      <p:ext uri="{BB962C8B-B14F-4D97-AF65-F5344CB8AC3E}">
        <p14:creationId xmlns:p14="http://schemas.microsoft.com/office/powerpoint/2010/main" val="1438008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9</a:t>
            </a:fld>
            <a:endParaRPr lang="en-AU"/>
          </a:p>
        </p:txBody>
      </p:sp>
    </p:spTree>
    <p:extLst>
      <p:ext uri="{BB962C8B-B14F-4D97-AF65-F5344CB8AC3E}">
        <p14:creationId xmlns:p14="http://schemas.microsoft.com/office/powerpoint/2010/main" val="667157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10</a:t>
            </a:fld>
            <a:endParaRPr lang="en-AU"/>
          </a:p>
        </p:txBody>
      </p:sp>
    </p:spTree>
    <p:extLst>
      <p:ext uri="{BB962C8B-B14F-4D97-AF65-F5344CB8AC3E}">
        <p14:creationId xmlns:p14="http://schemas.microsoft.com/office/powerpoint/2010/main" val="74738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11</a:t>
            </a:fld>
            <a:endParaRPr lang="en-AU"/>
          </a:p>
        </p:txBody>
      </p:sp>
    </p:spTree>
    <p:extLst>
      <p:ext uri="{BB962C8B-B14F-4D97-AF65-F5344CB8AC3E}">
        <p14:creationId xmlns:p14="http://schemas.microsoft.com/office/powerpoint/2010/main" val="847351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12</a:t>
            </a:fld>
            <a:endParaRPr lang="en-AU"/>
          </a:p>
        </p:txBody>
      </p:sp>
    </p:spTree>
    <p:extLst>
      <p:ext uri="{BB962C8B-B14F-4D97-AF65-F5344CB8AC3E}">
        <p14:creationId xmlns:p14="http://schemas.microsoft.com/office/powerpoint/2010/main" val="2138305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8192-08CF-42D4-B467-7CD6799F07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933A548-97A3-489A-A991-5FEDE90BAD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5A24404-D903-439E-8BCC-7704F75A5F0C}"/>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5" name="Footer Placeholder 4">
            <a:extLst>
              <a:ext uri="{FF2B5EF4-FFF2-40B4-BE49-F238E27FC236}">
                <a16:creationId xmlns:a16="http://schemas.microsoft.com/office/drawing/2014/main" id="{8AE53E14-1935-4FD6-84C6-33DB0BAFAD9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CEE05FA-AE91-4EB2-AFF7-5D8D369BC701}"/>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1549767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4C20-0CE8-4BD9-BC96-1CB32E35748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931013C-4194-4BBF-9610-914A6B5E0E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CFBFCF2-6255-4C86-A200-FBC03FF5844E}"/>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5" name="Footer Placeholder 4">
            <a:extLst>
              <a:ext uri="{FF2B5EF4-FFF2-40B4-BE49-F238E27FC236}">
                <a16:creationId xmlns:a16="http://schemas.microsoft.com/office/drawing/2014/main" id="{75736D4F-80A7-475F-AD61-15BDF8B2ACB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B8C1E43-7AF8-44FE-B3F1-3D2D445C9D21}"/>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2146497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7288B-6E3C-4417-9694-21320C6FF8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15823A3-6FE4-4275-B694-35AA923B6A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AC8C1B-AD95-40F4-B595-23D8196F4ED7}"/>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5" name="Footer Placeholder 4">
            <a:extLst>
              <a:ext uri="{FF2B5EF4-FFF2-40B4-BE49-F238E27FC236}">
                <a16:creationId xmlns:a16="http://schemas.microsoft.com/office/drawing/2014/main" id="{E56149F4-0AAB-44BC-99CA-ADA6F18ADE6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085B579-A91A-4608-895D-CDAF68B2A7CB}"/>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3940126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352F-732C-48A2-B92F-A72715EC90A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3150438-22D0-483C-A985-E8C5B3D953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D052E32-A589-4399-8E93-8191C74C16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890939D-42C5-4040-BEBB-043102B60DF3}"/>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6" name="Footer Placeholder 5">
            <a:extLst>
              <a:ext uri="{FF2B5EF4-FFF2-40B4-BE49-F238E27FC236}">
                <a16:creationId xmlns:a16="http://schemas.microsoft.com/office/drawing/2014/main" id="{F6EC7109-D09E-442F-85E7-7714DA2877B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5F355A-401E-4E9E-A2C7-F6906946A63F}"/>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425452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E6D0-9959-4979-B49B-B055FE0F1E4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09B7056-DBCA-4604-9FAE-68BBCC09A7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8423CB-EDD1-4228-B00B-0963EA7878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8F571CB-3CE8-4269-985E-B70DBC15D4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E57B0E-D71D-42A6-AA24-77AF03A764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5B9E6EA-8BA3-4305-B4D3-322DF2EE9DDE}"/>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8" name="Footer Placeholder 7">
            <a:extLst>
              <a:ext uri="{FF2B5EF4-FFF2-40B4-BE49-F238E27FC236}">
                <a16:creationId xmlns:a16="http://schemas.microsoft.com/office/drawing/2014/main" id="{E701F169-3ED6-4249-B62C-E927AD5E0BB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A0E8B69-3371-4C29-A5E4-934A14977522}"/>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3428858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4F329-2FFB-47DA-A041-66B99B95DD1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4493981-81C6-48B8-9E23-998935532071}"/>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4" name="Footer Placeholder 3">
            <a:extLst>
              <a:ext uri="{FF2B5EF4-FFF2-40B4-BE49-F238E27FC236}">
                <a16:creationId xmlns:a16="http://schemas.microsoft.com/office/drawing/2014/main" id="{3D4D8D61-D844-4636-BEB9-5BC2B798727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CD8BB42-985E-46F3-87D7-6F6E00CD5273}"/>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3486635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4B12FF-A51E-4E61-89AD-FD46428AF921}"/>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3" name="Footer Placeholder 2">
            <a:extLst>
              <a:ext uri="{FF2B5EF4-FFF2-40B4-BE49-F238E27FC236}">
                <a16:creationId xmlns:a16="http://schemas.microsoft.com/office/drawing/2014/main" id="{75373780-B60B-47A5-9D2B-80F5D4DBCE8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DFBA78-56DC-4A59-A2F9-5E302A159D89}"/>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1044735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30E1-D4DC-4A4A-8A40-230F3A235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00656D8-B145-457E-9761-79B7D5C356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8FB78EE-6686-4E84-B7D6-A81642465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39C72-F4F4-42A5-AF06-6D5D3AC2A2B2}"/>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6" name="Footer Placeholder 5">
            <a:extLst>
              <a:ext uri="{FF2B5EF4-FFF2-40B4-BE49-F238E27FC236}">
                <a16:creationId xmlns:a16="http://schemas.microsoft.com/office/drawing/2014/main" id="{0FB0AE0D-AC8C-44C3-BCC8-71BF6B49521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B53E116-980D-45C3-A2CF-84BD2310654C}"/>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3952613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D401B-6C24-47B5-9A36-7B18E71C1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D0EAB1D-0A18-4A56-9F87-3C9FCCE4B4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D8126105-547D-4FCA-BB7E-59E0819C39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157226-FD06-4D87-AC99-A68017A31E46}"/>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6" name="Footer Placeholder 5">
            <a:extLst>
              <a:ext uri="{FF2B5EF4-FFF2-40B4-BE49-F238E27FC236}">
                <a16:creationId xmlns:a16="http://schemas.microsoft.com/office/drawing/2014/main" id="{0D892E76-39B3-42A5-B3E1-C9F8F1089F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DC7DE26-0BBA-48F7-90B3-42F7992C68AB}"/>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58564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7E5C-27EC-47E4-B852-51CD94C0FA5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BAE0607-646D-4B10-80A8-88B00FFA18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1597E68-A5E9-44B0-9F97-1EAE706C6E71}"/>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5" name="Footer Placeholder 4">
            <a:extLst>
              <a:ext uri="{FF2B5EF4-FFF2-40B4-BE49-F238E27FC236}">
                <a16:creationId xmlns:a16="http://schemas.microsoft.com/office/drawing/2014/main" id="{95FFE42A-72B4-4A90-B9D2-1B48B5BA412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1A95C8F-1C1F-4C67-A996-42AA79ED77BB}"/>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4094097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1F1D2B-6A13-4134-8785-95288102CB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52D07C7-C62B-4D74-A1AD-A131853CE2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F51D65F-EA64-48BE-9B50-F493A5D706C7}"/>
              </a:ext>
            </a:extLst>
          </p:cNvPr>
          <p:cNvSpPr>
            <a:spLocks noGrp="1"/>
          </p:cNvSpPr>
          <p:nvPr>
            <p:ph type="dt" sz="half" idx="10"/>
          </p:nvPr>
        </p:nvSpPr>
        <p:spPr/>
        <p:txBody>
          <a:bodyPr/>
          <a:lstStyle/>
          <a:p>
            <a:fld id="{A80011B9-0752-4409-BFC3-C40635C6A363}" type="datetimeFigureOut">
              <a:rPr lang="en-AU" smtClean="0"/>
              <a:t>2/06/2020</a:t>
            </a:fld>
            <a:endParaRPr lang="en-AU"/>
          </a:p>
        </p:txBody>
      </p:sp>
      <p:sp>
        <p:nvSpPr>
          <p:cNvPr id="5" name="Footer Placeholder 4">
            <a:extLst>
              <a:ext uri="{FF2B5EF4-FFF2-40B4-BE49-F238E27FC236}">
                <a16:creationId xmlns:a16="http://schemas.microsoft.com/office/drawing/2014/main" id="{FD46D7EF-7481-4E4D-BB18-677F4591735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19140F7-1D51-4A18-A22D-6729BAB79861}"/>
              </a:ext>
            </a:extLst>
          </p:cNvPr>
          <p:cNvSpPr>
            <a:spLocks noGrp="1"/>
          </p:cNvSpPr>
          <p:nvPr>
            <p:ph type="sldNum" sz="quarter" idx="12"/>
          </p:nvPr>
        </p:nvSpPr>
        <p:spPr/>
        <p:txBody>
          <a:bodyPr/>
          <a:lstStyle/>
          <a:p>
            <a:fld id="{011FC82A-E827-4E10-99C4-F33560C1E200}" type="slidenum">
              <a:rPr lang="en-AU" smtClean="0"/>
              <a:t>‹#›</a:t>
            </a:fld>
            <a:endParaRPr lang="en-AU"/>
          </a:p>
        </p:txBody>
      </p:sp>
    </p:spTree>
    <p:extLst>
      <p:ext uri="{BB962C8B-B14F-4D97-AF65-F5344CB8AC3E}">
        <p14:creationId xmlns:p14="http://schemas.microsoft.com/office/powerpoint/2010/main" val="361796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C343-2C65-43C8-92DF-681F345323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F70945-B4F2-47D1-8494-A5B7723DF2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258A9A2-FA58-4C7F-A513-D421FE261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0011B9-0752-4409-BFC3-C40635C6A363}" type="datetimeFigureOut">
              <a:rPr lang="en-AU" smtClean="0"/>
              <a:t>2/06/2020</a:t>
            </a:fld>
            <a:endParaRPr lang="en-AU"/>
          </a:p>
        </p:txBody>
      </p:sp>
      <p:sp>
        <p:nvSpPr>
          <p:cNvPr id="5" name="Footer Placeholder 4">
            <a:extLst>
              <a:ext uri="{FF2B5EF4-FFF2-40B4-BE49-F238E27FC236}">
                <a16:creationId xmlns:a16="http://schemas.microsoft.com/office/drawing/2014/main" id="{FC5B2546-9B2C-4C2A-80D7-9CD9DF7D94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E2DE637-265B-4F67-AF1B-0BDC8A7B6B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1FC82A-E827-4E10-99C4-F33560C1E200}" type="slidenum">
              <a:rPr lang="en-AU" smtClean="0"/>
              <a:t>‹#›</a:t>
            </a:fld>
            <a:endParaRPr lang="en-AU"/>
          </a:p>
        </p:txBody>
      </p:sp>
    </p:spTree>
    <p:extLst>
      <p:ext uri="{BB962C8B-B14F-4D97-AF65-F5344CB8AC3E}">
        <p14:creationId xmlns:p14="http://schemas.microsoft.com/office/powerpoint/2010/main" val="110528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B73E-F45F-470B-B717-57F5A8A2F83C}"/>
              </a:ext>
            </a:extLst>
          </p:cNvPr>
          <p:cNvSpPr>
            <a:spLocks noGrp="1"/>
          </p:cNvSpPr>
          <p:nvPr>
            <p:ph type="ctrTitle"/>
          </p:nvPr>
        </p:nvSpPr>
        <p:spPr>
          <a:xfrm>
            <a:off x="1239520" y="126683"/>
            <a:ext cx="9144000" cy="838517"/>
          </a:xfrm>
        </p:spPr>
        <p:txBody>
          <a:bodyPr>
            <a:normAutofit fontScale="90000"/>
          </a:bodyPr>
          <a:lstStyle/>
          <a:p>
            <a:r>
              <a:rPr lang="en-US" dirty="0"/>
              <a:t>Topic: EST Preparation</a:t>
            </a:r>
            <a:endParaRPr lang="en-AU" dirty="0"/>
          </a:p>
        </p:txBody>
      </p:sp>
      <p:sp>
        <p:nvSpPr>
          <p:cNvPr id="3" name="Subtitle 2">
            <a:extLst>
              <a:ext uri="{FF2B5EF4-FFF2-40B4-BE49-F238E27FC236}">
                <a16:creationId xmlns:a16="http://schemas.microsoft.com/office/drawing/2014/main" id="{16AAB92A-BB20-4C27-87BF-1FD231FF0BD0}"/>
              </a:ext>
            </a:extLst>
          </p:cNvPr>
          <p:cNvSpPr>
            <a:spLocks noGrp="1"/>
          </p:cNvSpPr>
          <p:nvPr>
            <p:ph type="subTitle" idx="1"/>
          </p:nvPr>
        </p:nvSpPr>
        <p:spPr>
          <a:xfrm>
            <a:off x="1076960" y="965200"/>
            <a:ext cx="9144000" cy="665162"/>
          </a:xfrm>
        </p:spPr>
        <p:txBody>
          <a:bodyPr>
            <a:normAutofit/>
          </a:bodyPr>
          <a:lstStyle/>
          <a:p>
            <a:r>
              <a:rPr lang="en-US" dirty="0"/>
              <a:t>EQ: Types of samples?</a:t>
            </a:r>
            <a:endParaRPr lang="en-AU" dirty="0"/>
          </a:p>
          <a:p>
            <a:endParaRPr lang="en-AU" dirty="0"/>
          </a:p>
        </p:txBody>
      </p:sp>
      <p:graphicFrame>
        <p:nvGraphicFramePr>
          <p:cNvPr id="5" name="Table 4">
            <a:extLst>
              <a:ext uri="{FF2B5EF4-FFF2-40B4-BE49-F238E27FC236}">
                <a16:creationId xmlns:a16="http://schemas.microsoft.com/office/drawing/2014/main" id="{C19A9AD2-4930-4DDA-886B-2C8D9F7CA07E}"/>
              </a:ext>
            </a:extLst>
          </p:cNvPr>
          <p:cNvGraphicFramePr>
            <a:graphicFrameLocks noGrp="1"/>
          </p:cNvGraphicFramePr>
          <p:nvPr>
            <p:extLst>
              <p:ext uri="{D42A27DB-BD31-4B8C-83A1-F6EECF244321}">
                <p14:modId xmlns:p14="http://schemas.microsoft.com/office/powerpoint/2010/main" val="1143769958"/>
              </p:ext>
            </p:extLst>
          </p:nvPr>
        </p:nvGraphicFramePr>
        <p:xfrm>
          <a:off x="553720" y="3429000"/>
          <a:ext cx="10515600" cy="1932813"/>
        </p:xfrm>
        <a:graphic>
          <a:graphicData uri="http://schemas.openxmlformats.org/drawingml/2006/table">
            <a:tbl>
              <a:tblPr>
                <a:tableStyleId>{5C22544A-7EE6-4342-B048-85BDC9FD1C3A}</a:tableStyleId>
              </a:tblPr>
              <a:tblGrid>
                <a:gridCol w="10515600">
                  <a:extLst>
                    <a:ext uri="{9D8B030D-6E8A-4147-A177-3AD203B41FA5}">
                      <a16:colId xmlns:a16="http://schemas.microsoft.com/office/drawing/2014/main" val="616487279"/>
                    </a:ext>
                  </a:extLst>
                </a:gridCol>
              </a:tblGrid>
              <a:tr h="0">
                <a:tc>
                  <a:txBody>
                    <a:bodyPr/>
                    <a:lstStyle/>
                    <a:p>
                      <a:pPr algn="l">
                        <a:lnSpc>
                          <a:spcPct val="115000"/>
                        </a:lnSpc>
                        <a:spcBef>
                          <a:spcPts val="200"/>
                        </a:spcBef>
                        <a:spcAft>
                          <a:spcPts val="0"/>
                        </a:spcAft>
                      </a:pPr>
                      <a:r>
                        <a:rPr lang="en-AU" sz="1100" dirty="0">
                          <a:effectLst/>
                        </a:rPr>
                        <a:t>Census and Surveys</a:t>
                      </a:r>
                    </a:p>
                    <a:p>
                      <a:pPr marL="1143000" lvl="2" indent="-228600" algn="l">
                        <a:lnSpc>
                          <a:spcPct val="115000"/>
                        </a:lnSpc>
                        <a:spcBef>
                          <a:spcPts val="600"/>
                        </a:spcBef>
                        <a:spcAft>
                          <a:spcPts val="600"/>
                        </a:spcAft>
                        <a:buFont typeface="+mj-lt"/>
                        <a:buAutoNum type="arabicPeriod"/>
                      </a:pPr>
                      <a:r>
                        <a:rPr lang="en-AU" sz="1100" dirty="0">
                          <a:effectLst/>
                        </a:rPr>
                        <a:t>investigate the procedure for conducting a census</a:t>
                      </a:r>
                    </a:p>
                    <a:p>
                      <a:pPr marL="1143000" lvl="2" indent="-228600" algn="l">
                        <a:lnSpc>
                          <a:spcPct val="115000"/>
                        </a:lnSpc>
                        <a:spcBef>
                          <a:spcPts val="600"/>
                        </a:spcBef>
                        <a:spcAft>
                          <a:spcPts val="600"/>
                        </a:spcAft>
                        <a:buFont typeface="+mj-lt"/>
                        <a:buAutoNum type="arabicPeriod"/>
                      </a:pPr>
                      <a:r>
                        <a:rPr lang="en-AU" sz="1100" dirty="0">
                          <a:effectLst/>
                        </a:rPr>
                        <a:t>investigate the advantages and disadvantages of conducting a census</a:t>
                      </a:r>
                    </a:p>
                    <a:p>
                      <a:pPr marL="1143000" lvl="2" indent="-228600" algn="l">
                        <a:lnSpc>
                          <a:spcPct val="115000"/>
                        </a:lnSpc>
                        <a:spcBef>
                          <a:spcPts val="600"/>
                        </a:spcBef>
                        <a:spcAft>
                          <a:spcPts val="1000"/>
                        </a:spcAft>
                        <a:buFont typeface="+mj-lt"/>
                        <a:buAutoNum type="arabicPeriod"/>
                      </a:pPr>
                      <a:r>
                        <a:rPr lang="en-AU" sz="1100" dirty="0">
                          <a:effectLst/>
                        </a:rPr>
                        <a:t>understand the purpose of sampling to provide an estimate of population values when a census is not used</a:t>
                      </a:r>
                    </a:p>
                    <a:p>
                      <a:pPr marL="1143000" lvl="2" indent="-228600" algn="l">
                        <a:lnSpc>
                          <a:spcPct val="115000"/>
                        </a:lnSpc>
                        <a:spcBef>
                          <a:spcPts val="600"/>
                        </a:spcBef>
                        <a:spcAft>
                          <a:spcPts val="1000"/>
                        </a:spcAft>
                        <a:buFont typeface="+mj-lt"/>
                        <a:buAutoNum type="arabicPeriod"/>
                      </a:pPr>
                      <a:r>
                        <a:rPr lang="en-AU" sz="1100" dirty="0">
                          <a:effectLst/>
                          <a:highlight>
                            <a:srgbClr val="FFFF00"/>
                          </a:highlight>
                        </a:rPr>
                        <a:t>investigate the different kinds of samples, for example, systematic samples, self-selected samples, simple random samples</a:t>
                      </a:r>
                      <a:endParaRPr lang="en-AU" sz="1100" dirty="0">
                        <a:effectLst/>
                      </a:endParaRPr>
                    </a:p>
                    <a:p>
                      <a:pPr marL="1143000" lvl="2" indent="-228600" algn="l">
                        <a:lnSpc>
                          <a:spcPct val="115000"/>
                        </a:lnSpc>
                        <a:spcBef>
                          <a:spcPts val="600"/>
                        </a:spcBef>
                        <a:spcAft>
                          <a:spcPts val="1000"/>
                        </a:spcAft>
                        <a:buFont typeface="+mj-lt"/>
                        <a:buAutoNum type="arabicPeriod"/>
                      </a:pPr>
                      <a:r>
                        <a:rPr lang="en-AU" sz="1100" dirty="0">
                          <a:effectLst/>
                          <a:highlight>
                            <a:srgbClr val="FFFF00"/>
                          </a:highlight>
                        </a:rPr>
                        <a:t>recognise the advantages and disadvantages of these kinds of samples; for example, comparing simple random samples with self-selected samples</a:t>
                      </a: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14935" marR="114935" marT="0" marB="0"/>
                </a:tc>
                <a:extLst>
                  <a:ext uri="{0D108BD9-81ED-4DB2-BD59-A6C34878D82A}">
                    <a16:rowId xmlns:a16="http://schemas.microsoft.com/office/drawing/2014/main" val="3445285101"/>
                  </a:ext>
                </a:extLst>
              </a:tr>
            </a:tbl>
          </a:graphicData>
        </a:graphic>
      </p:graphicFrame>
      <p:sp>
        <p:nvSpPr>
          <p:cNvPr id="8" name="TextBox 7">
            <a:extLst>
              <a:ext uri="{FF2B5EF4-FFF2-40B4-BE49-F238E27FC236}">
                <a16:creationId xmlns:a16="http://schemas.microsoft.com/office/drawing/2014/main" id="{FC8A6488-DC17-4575-8F70-CF7DE301029D}"/>
              </a:ext>
            </a:extLst>
          </p:cNvPr>
          <p:cNvSpPr txBox="1"/>
          <p:nvPr/>
        </p:nvSpPr>
        <p:spPr>
          <a:xfrm>
            <a:off x="9763760" y="434259"/>
            <a:ext cx="1778000" cy="2585323"/>
          </a:xfrm>
          <a:prstGeom prst="rect">
            <a:avLst/>
          </a:prstGeom>
          <a:solidFill>
            <a:schemeClr val="accent5">
              <a:lumMod val="75000"/>
            </a:schemeClr>
          </a:solidFill>
        </p:spPr>
        <p:txBody>
          <a:bodyPr wrap="square" rtlCol="0">
            <a:spAutoFit/>
          </a:bodyPr>
          <a:lstStyle/>
          <a:p>
            <a:r>
              <a:rPr lang="en-US" dirty="0"/>
              <a:t>Get your EST tick list. Always have this with you . You will be responsible for filling in notes that you may need for your notes page</a:t>
            </a:r>
            <a:endParaRPr lang="en-AU" dirty="0"/>
          </a:p>
        </p:txBody>
      </p:sp>
    </p:spTree>
    <p:extLst>
      <p:ext uri="{BB962C8B-B14F-4D97-AF65-F5344CB8AC3E}">
        <p14:creationId xmlns:p14="http://schemas.microsoft.com/office/powerpoint/2010/main" val="294736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9545"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661993"/>
          </a:xfrm>
          <a:prstGeom prst="rect">
            <a:avLst/>
          </a:prstGeom>
          <a:noFill/>
        </p:spPr>
        <p:txBody>
          <a:bodyPr wrap="square" rtlCol="0">
            <a:spAutoFit/>
          </a:bodyPr>
          <a:lstStyle/>
          <a:p>
            <a:r>
              <a:rPr lang="en-AU" sz="2800" b="1" dirty="0">
                <a:solidFill>
                  <a:srgbClr val="FF0000"/>
                </a:solidFill>
              </a:rPr>
              <a:t>Crunch and Shoot. </a:t>
            </a:r>
          </a:p>
          <a:p>
            <a:r>
              <a:rPr lang="en-AU" sz="2800" b="1" dirty="0"/>
              <a:t>-</a:t>
            </a:r>
            <a:r>
              <a:rPr lang="en-AU" b="1" dirty="0"/>
              <a:t>Work in pairs</a:t>
            </a:r>
          </a:p>
          <a:p>
            <a:r>
              <a:rPr lang="en-AU" b="1" dirty="0"/>
              <a:t>- Use butcher’s paper</a:t>
            </a:r>
          </a:p>
        </p:txBody>
      </p:sp>
      <p:sp>
        <p:nvSpPr>
          <p:cNvPr id="3" name="TextBox 2">
            <a:extLst>
              <a:ext uri="{FF2B5EF4-FFF2-40B4-BE49-F238E27FC236}">
                <a16:creationId xmlns:a16="http://schemas.microsoft.com/office/drawing/2014/main" id="{3505D927-125A-4E05-BB43-2E6504871BC0}"/>
              </a:ext>
            </a:extLst>
          </p:cNvPr>
          <p:cNvSpPr txBox="1"/>
          <p:nvPr/>
        </p:nvSpPr>
        <p:spPr>
          <a:xfrm>
            <a:off x="2712720" y="1320800"/>
            <a:ext cx="5902957" cy="369332"/>
          </a:xfrm>
          <a:prstGeom prst="rect">
            <a:avLst/>
          </a:prstGeom>
          <a:noFill/>
        </p:spPr>
        <p:txBody>
          <a:bodyPr wrap="square" rtlCol="0">
            <a:spAutoFit/>
          </a:bodyPr>
          <a:lstStyle/>
          <a:p>
            <a:r>
              <a:rPr lang="en-US" dirty="0"/>
              <a:t>Warm Up/Teacher example (4 marks):</a:t>
            </a:r>
            <a:endParaRPr lang="en-AU" dirty="0"/>
          </a:p>
        </p:txBody>
      </p:sp>
      <p:pic>
        <p:nvPicPr>
          <p:cNvPr id="5" name="Picture 4">
            <a:extLst>
              <a:ext uri="{FF2B5EF4-FFF2-40B4-BE49-F238E27FC236}">
                <a16:creationId xmlns:a16="http://schemas.microsoft.com/office/drawing/2014/main" id="{46E8542D-9D4C-4182-A087-3605378C55A3}"/>
              </a:ext>
            </a:extLst>
          </p:cNvPr>
          <p:cNvPicPr>
            <a:picLocks noChangeAspect="1"/>
          </p:cNvPicPr>
          <p:nvPr/>
        </p:nvPicPr>
        <p:blipFill>
          <a:blip r:embed="rId3"/>
          <a:stretch>
            <a:fillRect/>
          </a:stretch>
        </p:blipFill>
        <p:spPr>
          <a:xfrm>
            <a:off x="2866545" y="1950372"/>
            <a:ext cx="7715250" cy="1038225"/>
          </a:xfrm>
          <a:prstGeom prst="rect">
            <a:avLst/>
          </a:prstGeom>
        </p:spPr>
      </p:pic>
      <p:pic>
        <p:nvPicPr>
          <p:cNvPr id="8" name="Picture 7">
            <a:extLst>
              <a:ext uri="{FF2B5EF4-FFF2-40B4-BE49-F238E27FC236}">
                <a16:creationId xmlns:a16="http://schemas.microsoft.com/office/drawing/2014/main" id="{DF1A462F-F69E-4D97-AE17-5EBE7327E267}"/>
              </a:ext>
            </a:extLst>
          </p:cNvPr>
          <p:cNvPicPr>
            <a:picLocks noChangeAspect="1"/>
          </p:cNvPicPr>
          <p:nvPr/>
        </p:nvPicPr>
        <p:blipFill>
          <a:blip r:embed="rId4"/>
          <a:stretch>
            <a:fillRect/>
          </a:stretch>
        </p:blipFill>
        <p:spPr>
          <a:xfrm>
            <a:off x="2939415" y="4698682"/>
            <a:ext cx="7715250" cy="1362075"/>
          </a:xfrm>
          <a:prstGeom prst="rect">
            <a:avLst/>
          </a:prstGeom>
        </p:spPr>
      </p:pic>
      <p:sp>
        <p:nvSpPr>
          <p:cNvPr id="10" name="TextBox 9">
            <a:extLst>
              <a:ext uri="{FF2B5EF4-FFF2-40B4-BE49-F238E27FC236}">
                <a16:creationId xmlns:a16="http://schemas.microsoft.com/office/drawing/2014/main" id="{EC46CC9B-3683-42AA-89E9-708EA145D949}"/>
              </a:ext>
            </a:extLst>
          </p:cNvPr>
          <p:cNvSpPr txBox="1"/>
          <p:nvPr/>
        </p:nvSpPr>
        <p:spPr>
          <a:xfrm>
            <a:off x="2939414" y="3429000"/>
            <a:ext cx="8260203" cy="1200329"/>
          </a:xfrm>
          <a:prstGeom prst="rect">
            <a:avLst/>
          </a:prstGeom>
          <a:noFill/>
        </p:spPr>
        <p:txBody>
          <a:bodyPr wrap="square" rtlCol="0">
            <a:spAutoFit/>
          </a:bodyPr>
          <a:lstStyle/>
          <a:p>
            <a:r>
              <a:rPr lang="en-US" dirty="0">
                <a:solidFill>
                  <a:schemeClr val="accent5">
                    <a:lumMod val="75000"/>
                  </a:schemeClr>
                </a:solidFill>
              </a:rPr>
              <a:t>Let’s discuss why there are 4 marks.</a:t>
            </a:r>
          </a:p>
          <a:p>
            <a:endParaRPr lang="en-US" dirty="0"/>
          </a:p>
          <a:p>
            <a:r>
              <a:rPr lang="en-US" sz="3600" dirty="0">
                <a:highlight>
                  <a:srgbClr val="FF00FF"/>
                </a:highlight>
              </a:rPr>
              <a:t>Justify/Explain your reasoning</a:t>
            </a:r>
            <a:endParaRPr lang="en-AU" sz="3600" dirty="0">
              <a:highlight>
                <a:srgbClr val="FF00FF"/>
              </a:highlight>
            </a:endParaRPr>
          </a:p>
        </p:txBody>
      </p:sp>
    </p:spTree>
    <p:extLst>
      <p:ext uri="{BB962C8B-B14F-4D97-AF65-F5344CB8AC3E}">
        <p14:creationId xmlns:p14="http://schemas.microsoft.com/office/powerpoint/2010/main" val="161916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anim calcmode="lin" valueType="num">
                                      <p:cBhvr>
                                        <p:cTn id="23" dur="10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10">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954107"/>
          </a:xfrm>
          <a:prstGeom prst="rect">
            <a:avLst/>
          </a:prstGeom>
          <a:noFill/>
        </p:spPr>
        <p:txBody>
          <a:bodyPr wrap="square" rtlCol="0">
            <a:spAutoFit/>
          </a:bodyPr>
          <a:lstStyle/>
          <a:p>
            <a:r>
              <a:rPr lang="en-AU" sz="2800" b="1" dirty="0">
                <a:solidFill>
                  <a:srgbClr val="FF0000"/>
                </a:solidFill>
              </a:rPr>
              <a:t>Crunch and Shoot. </a:t>
            </a:r>
          </a:p>
        </p:txBody>
      </p:sp>
      <p:sp>
        <p:nvSpPr>
          <p:cNvPr id="3" name="TextBox 2">
            <a:extLst>
              <a:ext uri="{FF2B5EF4-FFF2-40B4-BE49-F238E27FC236}">
                <a16:creationId xmlns:a16="http://schemas.microsoft.com/office/drawing/2014/main" id="{3505D927-125A-4E05-BB43-2E6504871BC0}"/>
              </a:ext>
            </a:extLst>
          </p:cNvPr>
          <p:cNvSpPr txBox="1"/>
          <p:nvPr/>
        </p:nvSpPr>
        <p:spPr>
          <a:xfrm>
            <a:off x="2712720" y="1320800"/>
            <a:ext cx="3210549" cy="923330"/>
          </a:xfrm>
          <a:prstGeom prst="rect">
            <a:avLst/>
          </a:prstGeom>
          <a:noFill/>
        </p:spPr>
        <p:txBody>
          <a:bodyPr wrap="square" rtlCol="0">
            <a:spAutoFit/>
          </a:bodyPr>
          <a:lstStyle/>
          <a:p>
            <a:r>
              <a:rPr lang="en-US" dirty="0"/>
              <a:t>Round 1: 4 marks</a:t>
            </a:r>
          </a:p>
          <a:p>
            <a:endParaRPr lang="en-US" dirty="0"/>
          </a:p>
          <a:p>
            <a:endParaRPr lang="en-AU" dirty="0"/>
          </a:p>
        </p:txBody>
      </p:sp>
      <p:pic>
        <p:nvPicPr>
          <p:cNvPr id="5" name="Picture 4">
            <a:extLst>
              <a:ext uri="{FF2B5EF4-FFF2-40B4-BE49-F238E27FC236}">
                <a16:creationId xmlns:a16="http://schemas.microsoft.com/office/drawing/2014/main" id="{372B0759-C83F-4CA6-9848-45955F6FC894}"/>
              </a:ext>
            </a:extLst>
          </p:cNvPr>
          <p:cNvPicPr>
            <a:picLocks noChangeAspect="1"/>
          </p:cNvPicPr>
          <p:nvPr/>
        </p:nvPicPr>
        <p:blipFill>
          <a:blip r:embed="rId3"/>
          <a:stretch>
            <a:fillRect/>
          </a:stretch>
        </p:blipFill>
        <p:spPr>
          <a:xfrm>
            <a:off x="3137987" y="1950879"/>
            <a:ext cx="6715125" cy="4876800"/>
          </a:xfrm>
          <a:prstGeom prst="rect">
            <a:avLst/>
          </a:prstGeom>
        </p:spPr>
      </p:pic>
    </p:spTree>
    <p:extLst>
      <p:ext uri="{BB962C8B-B14F-4D97-AF65-F5344CB8AC3E}">
        <p14:creationId xmlns:p14="http://schemas.microsoft.com/office/powerpoint/2010/main" val="135945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58303" y="594926"/>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954107"/>
          </a:xfrm>
          <a:prstGeom prst="rect">
            <a:avLst/>
          </a:prstGeom>
          <a:noFill/>
        </p:spPr>
        <p:txBody>
          <a:bodyPr wrap="square" rtlCol="0">
            <a:spAutoFit/>
          </a:bodyPr>
          <a:lstStyle/>
          <a:p>
            <a:r>
              <a:rPr lang="en-AU" sz="2800" b="1" dirty="0">
                <a:solidFill>
                  <a:srgbClr val="FF0000"/>
                </a:solidFill>
              </a:rPr>
              <a:t>Crunch and Shoot. </a:t>
            </a:r>
          </a:p>
        </p:txBody>
      </p:sp>
      <p:sp>
        <p:nvSpPr>
          <p:cNvPr id="2" name="Rectangle 1">
            <a:extLst>
              <a:ext uri="{FF2B5EF4-FFF2-40B4-BE49-F238E27FC236}">
                <a16:creationId xmlns:a16="http://schemas.microsoft.com/office/drawing/2014/main" id="{D399BC67-A283-4E2C-A743-C612B510E8A4}"/>
              </a:ext>
            </a:extLst>
          </p:cNvPr>
          <p:cNvSpPr/>
          <p:nvPr/>
        </p:nvSpPr>
        <p:spPr>
          <a:xfrm>
            <a:off x="2712723" y="3074546"/>
            <a:ext cx="8371830" cy="1754326"/>
          </a:xfrm>
          <a:prstGeom prst="rect">
            <a:avLst/>
          </a:prstGeom>
        </p:spPr>
        <p:txBody>
          <a:bodyPr wrap="square">
            <a:spAutoFit/>
          </a:bodyPr>
          <a:lstStyle/>
          <a:p>
            <a:pPr>
              <a:spcAft>
                <a:spcPts val="0"/>
              </a:spcAft>
            </a:pPr>
            <a:r>
              <a:rPr lang="en-US" dirty="0">
                <a:latin typeface="Times New Roman" panose="02020603050405020304" pitchFamily="18" charset="0"/>
                <a:ea typeface="Times New Roman" panose="02020603050405020304" pitchFamily="18" charset="0"/>
              </a:rPr>
              <a:t>Gilbert decides that he wants to conduct a stratified sample of 30% of the school population. </a:t>
            </a:r>
            <a:endParaRPr lang="en-AU" sz="2000" dirty="0">
              <a:effectLst/>
              <a:latin typeface="Times New Roman" panose="02020603050405020304" pitchFamily="18" charset="0"/>
              <a:ea typeface="Times New Roman" panose="02020603050405020304" pitchFamily="18" charset="0"/>
            </a:endParaRPr>
          </a:p>
          <a:p>
            <a:pPr>
              <a:spcAft>
                <a:spcPts val="0"/>
              </a:spcAft>
              <a:tabLst>
                <a:tab pos="5375275" algn="l"/>
              </a:tabLst>
            </a:pPr>
            <a:r>
              <a:rPr lang="en-US" dirty="0">
                <a:latin typeface="Times New Roman" panose="02020603050405020304" pitchFamily="18" charset="0"/>
                <a:ea typeface="Times New Roman" panose="02020603050405020304" pitchFamily="18" charset="0"/>
              </a:rPr>
              <a:t>There are 1265 students at the school, which includes 572 male students and 693 female students. </a:t>
            </a:r>
            <a:endParaRPr lang="en-AU" sz="2000" dirty="0">
              <a:effectLst/>
              <a:latin typeface="Times New Roman" panose="02020603050405020304" pitchFamily="18" charset="0"/>
              <a:ea typeface="Times New Roman" panose="02020603050405020304" pitchFamily="18" charset="0"/>
            </a:endParaRPr>
          </a:p>
          <a:p>
            <a:r>
              <a:rPr lang="en-US" dirty="0">
                <a:latin typeface="Times New Roman" panose="02020603050405020304" pitchFamily="18" charset="0"/>
                <a:ea typeface="Times New Roman" panose="02020603050405020304" pitchFamily="18" charset="0"/>
              </a:rPr>
              <a:t>Calculate how many students he should survey, and how many males and females should be surveyed</a:t>
            </a:r>
            <a:endParaRPr lang="en-AU" dirty="0"/>
          </a:p>
        </p:txBody>
      </p:sp>
      <p:sp>
        <p:nvSpPr>
          <p:cNvPr id="14" name="TextBox 13">
            <a:extLst>
              <a:ext uri="{FF2B5EF4-FFF2-40B4-BE49-F238E27FC236}">
                <a16:creationId xmlns:a16="http://schemas.microsoft.com/office/drawing/2014/main" id="{C846EFC3-CA8E-4A02-BD8C-407D303F7E05}"/>
              </a:ext>
            </a:extLst>
          </p:cNvPr>
          <p:cNvSpPr txBox="1"/>
          <p:nvPr/>
        </p:nvSpPr>
        <p:spPr>
          <a:xfrm>
            <a:off x="2712720" y="1320800"/>
            <a:ext cx="3210549" cy="923330"/>
          </a:xfrm>
          <a:prstGeom prst="rect">
            <a:avLst/>
          </a:prstGeom>
          <a:noFill/>
        </p:spPr>
        <p:txBody>
          <a:bodyPr wrap="square" rtlCol="0">
            <a:spAutoFit/>
          </a:bodyPr>
          <a:lstStyle/>
          <a:p>
            <a:r>
              <a:rPr lang="en-US" dirty="0"/>
              <a:t>Round 2: 3 marks</a:t>
            </a:r>
          </a:p>
          <a:p>
            <a:endParaRPr lang="en-US" dirty="0"/>
          </a:p>
          <a:p>
            <a:endParaRPr lang="en-AU" dirty="0"/>
          </a:p>
        </p:txBody>
      </p:sp>
      <p:sp>
        <p:nvSpPr>
          <p:cNvPr id="3" name="TextBox 2">
            <a:extLst>
              <a:ext uri="{FF2B5EF4-FFF2-40B4-BE49-F238E27FC236}">
                <a16:creationId xmlns:a16="http://schemas.microsoft.com/office/drawing/2014/main" id="{FD83296C-AB13-4139-BCAC-0D7A48EB6E56}"/>
              </a:ext>
            </a:extLst>
          </p:cNvPr>
          <p:cNvSpPr txBox="1"/>
          <p:nvPr/>
        </p:nvSpPr>
        <p:spPr>
          <a:xfrm>
            <a:off x="6756400" y="1442720"/>
            <a:ext cx="3749004" cy="646331"/>
          </a:xfrm>
          <a:prstGeom prst="rect">
            <a:avLst/>
          </a:prstGeom>
          <a:noFill/>
        </p:spPr>
        <p:txBody>
          <a:bodyPr wrap="square" rtlCol="0">
            <a:spAutoFit/>
          </a:bodyPr>
          <a:lstStyle/>
          <a:p>
            <a:r>
              <a:rPr lang="en-US" dirty="0">
                <a:highlight>
                  <a:srgbClr val="FF00FF"/>
                </a:highlight>
              </a:rPr>
              <a:t>Look at the marks to see how much info you need to provide</a:t>
            </a:r>
            <a:endParaRPr lang="en-AU" dirty="0">
              <a:highlight>
                <a:srgbClr val="FF00FF"/>
              </a:highlight>
            </a:endParaRPr>
          </a:p>
        </p:txBody>
      </p:sp>
    </p:spTree>
    <p:extLst>
      <p:ext uri="{BB962C8B-B14F-4D97-AF65-F5344CB8AC3E}">
        <p14:creationId xmlns:p14="http://schemas.microsoft.com/office/powerpoint/2010/main" val="104188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1000" fill="hold"/>
                                        <p:tgtEl>
                                          <p:spTgt spid="3"/>
                                        </p:tgtEl>
                                        <p:attrNameLst>
                                          <p:attrName>ppt_w</p:attrName>
                                        </p:attrNameLst>
                                      </p:cBhvr>
                                      <p:tavLst>
                                        <p:tav tm="0">
                                          <p:val>
                                            <p:fltVal val="0"/>
                                          </p:val>
                                        </p:tav>
                                        <p:tav tm="100000">
                                          <p:val>
                                            <p:strVal val="#ppt_w"/>
                                          </p:val>
                                        </p:tav>
                                      </p:tavLst>
                                    </p:anim>
                                    <p:anim calcmode="lin" valueType="num">
                                      <p:cBhvr>
                                        <p:cTn id="16" dur="1000" fill="hold"/>
                                        <p:tgtEl>
                                          <p:spTgt spid="3"/>
                                        </p:tgtEl>
                                        <p:attrNameLst>
                                          <p:attrName>ppt_h</p:attrName>
                                        </p:attrNameLst>
                                      </p:cBhvr>
                                      <p:tavLst>
                                        <p:tav tm="0">
                                          <p:val>
                                            <p:fltVal val="0"/>
                                          </p:val>
                                        </p:tav>
                                        <p:tav tm="100000">
                                          <p:val>
                                            <p:strVal val="#ppt_h"/>
                                          </p:val>
                                        </p:tav>
                                      </p:tavLst>
                                    </p:anim>
                                    <p:anim calcmode="lin" valueType="num">
                                      <p:cBhvr>
                                        <p:cTn id="17" dur="1000" fill="hold"/>
                                        <p:tgtEl>
                                          <p:spTgt spid="3"/>
                                        </p:tgtEl>
                                        <p:attrNameLst>
                                          <p:attrName>style.rotation</p:attrName>
                                        </p:attrNameLst>
                                      </p:cBhvr>
                                      <p:tavLst>
                                        <p:tav tm="0">
                                          <p:val>
                                            <p:fltVal val="90"/>
                                          </p:val>
                                        </p:tav>
                                        <p:tav tm="100000">
                                          <p:val>
                                            <p:fltVal val="0"/>
                                          </p:val>
                                        </p:tav>
                                      </p:tavLst>
                                    </p:anim>
                                    <p:animEffect transition="in" filter="fade">
                                      <p:cBhvr>
                                        <p:cTn id="18" dur="1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P spid="14"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384995"/>
          </a:xfrm>
          <a:prstGeom prst="rect">
            <a:avLst/>
          </a:prstGeom>
          <a:noFill/>
        </p:spPr>
        <p:txBody>
          <a:bodyPr wrap="square" rtlCol="0">
            <a:spAutoFit/>
          </a:bodyPr>
          <a:lstStyle/>
          <a:p>
            <a:r>
              <a:rPr lang="en-AU" sz="2800" b="1" dirty="0">
                <a:solidFill>
                  <a:srgbClr val="FF0000"/>
                </a:solidFill>
              </a:rPr>
              <a:t>Crunch and Shoot. </a:t>
            </a:r>
          </a:p>
          <a:p>
            <a:endParaRPr lang="en-AU" sz="2800" b="1" dirty="0"/>
          </a:p>
        </p:txBody>
      </p:sp>
      <p:sp>
        <p:nvSpPr>
          <p:cNvPr id="14" name="TextBox 13">
            <a:extLst>
              <a:ext uri="{FF2B5EF4-FFF2-40B4-BE49-F238E27FC236}">
                <a16:creationId xmlns:a16="http://schemas.microsoft.com/office/drawing/2014/main" id="{C846EFC3-CA8E-4A02-BD8C-407D303F7E05}"/>
              </a:ext>
            </a:extLst>
          </p:cNvPr>
          <p:cNvSpPr txBox="1"/>
          <p:nvPr/>
        </p:nvSpPr>
        <p:spPr>
          <a:xfrm>
            <a:off x="2712720" y="1320800"/>
            <a:ext cx="3210549" cy="923330"/>
          </a:xfrm>
          <a:prstGeom prst="rect">
            <a:avLst/>
          </a:prstGeom>
          <a:noFill/>
        </p:spPr>
        <p:txBody>
          <a:bodyPr wrap="square" rtlCol="0">
            <a:spAutoFit/>
          </a:bodyPr>
          <a:lstStyle/>
          <a:p>
            <a:r>
              <a:rPr lang="en-US" dirty="0"/>
              <a:t>Round 3: 3 marks</a:t>
            </a:r>
          </a:p>
          <a:p>
            <a:endParaRPr lang="en-US" dirty="0"/>
          </a:p>
          <a:p>
            <a:endParaRPr lang="en-AU" dirty="0"/>
          </a:p>
        </p:txBody>
      </p:sp>
      <p:sp>
        <p:nvSpPr>
          <p:cNvPr id="3" name="TextBox 2">
            <a:extLst>
              <a:ext uri="{FF2B5EF4-FFF2-40B4-BE49-F238E27FC236}">
                <a16:creationId xmlns:a16="http://schemas.microsoft.com/office/drawing/2014/main" id="{FD83296C-AB13-4139-BCAC-0D7A48EB6E56}"/>
              </a:ext>
            </a:extLst>
          </p:cNvPr>
          <p:cNvSpPr txBox="1"/>
          <p:nvPr/>
        </p:nvSpPr>
        <p:spPr>
          <a:xfrm>
            <a:off x="6756400" y="1442720"/>
            <a:ext cx="3749004" cy="646331"/>
          </a:xfrm>
          <a:prstGeom prst="rect">
            <a:avLst/>
          </a:prstGeom>
          <a:noFill/>
        </p:spPr>
        <p:txBody>
          <a:bodyPr wrap="square" rtlCol="0">
            <a:spAutoFit/>
          </a:bodyPr>
          <a:lstStyle/>
          <a:p>
            <a:r>
              <a:rPr lang="en-US" dirty="0">
                <a:highlight>
                  <a:srgbClr val="FF00FF"/>
                </a:highlight>
              </a:rPr>
              <a:t>Look at the marks to see how much info you need to provide</a:t>
            </a:r>
            <a:endParaRPr lang="en-AU" dirty="0">
              <a:highlight>
                <a:srgbClr val="FF00FF"/>
              </a:highlight>
            </a:endParaRPr>
          </a:p>
        </p:txBody>
      </p:sp>
      <p:pic>
        <p:nvPicPr>
          <p:cNvPr id="5" name="Picture 4">
            <a:extLst>
              <a:ext uri="{FF2B5EF4-FFF2-40B4-BE49-F238E27FC236}">
                <a16:creationId xmlns:a16="http://schemas.microsoft.com/office/drawing/2014/main" id="{E7EC5402-7D15-40CC-8E0F-76E8D13D36EC}"/>
              </a:ext>
            </a:extLst>
          </p:cNvPr>
          <p:cNvPicPr>
            <a:picLocks noChangeAspect="1"/>
          </p:cNvPicPr>
          <p:nvPr/>
        </p:nvPicPr>
        <p:blipFill>
          <a:blip r:embed="rId3"/>
          <a:stretch>
            <a:fillRect/>
          </a:stretch>
        </p:blipFill>
        <p:spPr>
          <a:xfrm>
            <a:off x="2963704" y="2857500"/>
            <a:ext cx="7200900" cy="1143000"/>
          </a:xfrm>
          <a:prstGeom prst="rect">
            <a:avLst/>
          </a:prstGeom>
        </p:spPr>
      </p:pic>
    </p:spTree>
    <p:extLst>
      <p:ext uri="{BB962C8B-B14F-4D97-AF65-F5344CB8AC3E}">
        <p14:creationId xmlns:p14="http://schemas.microsoft.com/office/powerpoint/2010/main" val="305291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1000" fill="hold"/>
                                        <p:tgtEl>
                                          <p:spTgt spid="3"/>
                                        </p:tgtEl>
                                        <p:attrNameLst>
                                          <p:attrName>ppt_w</p:attrName>
                                        </p:attrNameLst>
                                      </p:cBhvr>
                                      <p:tavLst>
                                        <p:tav tm="0">
                                          <p:val>
                                            <p:fltVal val="0"/>
                                          </p:val>
                                        </p:tav>
                                        <p:tav tm="100000">
                                          <p:val>
                                            <p:strVal val="#ppt_w"/>
                                          </p:val>
                                        </p:tav>
                                      </p:tavLst>
                                    </p:anim>
                                    <p:anim calcmode="lin" valueType="num">
                                      <p:cBhvr>
                                        <p:cTn id="16" dur="1000" fill="hold"/>
                                        <p:tgtEl>
                                          <p:spTgt spid="3"/>
                                        </p:tgtEl>
                                        <p:attrNameLst>
                                          <p:attrName>ppt_h</p:attrName>
                                        </p:attrNameLst>
                                      </p:cBhvr>
                                      <p:tavLst>
                                        <p:tav tm="0">
                                          <p:val>
                                            <p:fltVal val="0"/>
                                          </p:val>
                                        </p:tav>
                                        <p:tav tm="100000">
                                          <p:val>
                                            <p:strVal val="#ppt_h"/>
                                          </p:val>
                                        </p:tav>
                                      </p:tavLst>
                                    </p:anim>
                                    <p:anim calcmode="lin" valueType="num">
                                      <p:cBhvr>
                                        <p:cTn id="17" dur="1000" fill="hold"/>
                                        <p:tgtEl>
                                          <p:spTgt spid="3"/>
                                        </p:tgtEl>
                                        <p:attrNameLst>
                                          <p:attrName>style.rotation</p:attrName>
                                        </p:attrNameLst>
                                      </p:cBhvr>
                                      <p:tavLst>
                                        <p:tav tm="0">
                                          <p:val>
                                            <p:fltVal val="90"/>
                                          </p:val>
                                        </p:tav>
                                        <p:tav tm="100000">
                                          <p:val>
                                            <p:fltVal val="0"/>
                                          </p:val>
                                        </p:tav>
                                      </p:tavLst>
                                    </p:anim>
                                    <p:animEffect transition="in" filter="fade">
                                      <p:cBhvr>
                                        <p:cTn id="1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954107"/>
          </a:xfrm>
          <a:prstGeom prst="rect">
            <a:avLst/>
          </a:prstGeom>
          <a:noFill/>
        </p:spPr>
        <p:txBody>
          <a:bodyPr wrap="square" rtlCol="0">
            <a:spAutoFit/>
          </a:bodyPr>
          <a:lstStyle/>
          <a:p>
            <a:r>
              <a:rPr lang="en-AU" sz="2800" b="1" dirty="0">
                <a:solidFill>
                  <a:srgbClr val="FF0000"/>
                </a:solidFill>
              </a:rPr>
              <a:t>Crunch and Shoot. </a:t>
            </a:r>
          </a:p>
        </p:txBody>
      </p:sp>
      <p:sp>
        <p:nvSpPr>
          <p:cNvPr id="14" name="TextBox 13">
            <a:extLst>
              <a:ext uri="{FF2B5EF4-FFF2-40B4-BE49-F238E27FC236}">
                <a16:creationId xmlns:a16="http://schemas.microsoft.com/office/drawing/2014/main" id="{C846EFC3-CA8E-4A02-BD8C-407D303F7E05}"/>
              </a:ext>
            </a:extLst>
          </p:cNvPr>
          <p:cNvSpPr txBox="1"/>
          <p:nvPr/>
        </p:nvSpPr>
        <p:spPr>
          <a:xfrm>
            <a:off x="2712720" y="1320800"/>
            <a:ext cx="3210549" cy="923330"/>
          </a:xfrm>
          <a:prstGeom prst="rect">
            <a:avLst/>
          </a:prstGeom>
          <a:noFill/>
        </p:spPr>
        <p:txBody>
          <a:bodyPr wrap="square" rtlCol="0">
            <a:spAutoFit/>
          </a:bodyPr>
          <a:lstStyle/>
          <a:p>
            <a:r>
              <a:rPr lang="en-US" dirty="0"/>
              <a:t>Round 4: 3 marks</a:t>
            </a:r>
          </a:p>
          <a:p>
            <a:endParaRPr lang="en-US" dirty="0"/>
          </a:p>
          <a:p>
            <a:endParaRPr lang="en-AU" dirty="0"/>
          </a:p>
        </p:txBody>
      </p:sp>
      <p:sp>
        <p:nvSpPr>
          <p:cNvPr id="8" name="Rectangle 7">
            <a:extLst>
              <a:ext uri="{FF2B5EF4-FFF2-40B4-BE49-F238E27FC236}">
                <a16:creationId xmlns:a16="http://schemas.microsoft.com/office/drawing/2014/main" id="{DD320A55-C22E-4F4B-97AB-44ADB13C4568}"/>
              </a:ext>
            </a:extLst>
          </p:cNvPr>
          <p:cNvSpPr/>
          <p:nvPr/>
        </p:nvSpPr>
        <p:spPr>
          <a:xfrm>
            <a:off x="2621295" y="2025410"/>
            <a:ext cx="8818835" cy="1200329"/>
          </a:xfrm>
          <a:prstGeom prst="rect">
            <a:avLst/>
          </a:prstGeom>
        </p:spPr>
        <p:txBody>
          <a:bodyPr wrap="square">
            <a:spAutoFit/>
          </a:bodyPr>
          <a:lstStyle/>
          <a:p>
            <a:r>
              <a:rPr lang="en-US" dirty="0"/>
              <a:t>Discuss whether or not the following situation produces a random sample. </a:t>
            </a:r>
          </a:p>
          <a:p>
            <a:endParaRPr lang="en-US" dirty="0"/>
          </a:p>
          <a:p>
            <a:r>
              <a:rPr lang="en-US" dirty="0"/>
              <a:t>SITUATION: </a:t>
            </a:r>
            <a:r>
              <a:rPr lang="en-US" i="1" dirty="0"/>
              <a:t>Mark is conducting a survey for a magazine. He stops people at random on a Saturday morning at his local shopping </a:t>
            </a:r>
            <a:r>
              <a:rPr lang="en-US" i="1" dirty="0" err="1"/>
              <a:t>centre</a:t>
            </a:r>
            <a:r>
              <a:rPr lang="en-US" i="1" dirty="0"/>
              <a:t>.</a:t>
            </a:r>
            <a:endParaRPr lang="en-AU" i="1" dirty="0"/>
          </a:p>
        </p:txBody>
      </p:sp>
    </p:spTree>
    <p:extLst>
      <p:ext uri="{BB962C8B-B14F-4D97-AF65-F5344CB8AC3E}">
        <p14:creationId xmlns:p14="http://schemas.microsoft.com/office/powerpoint/2010/main" val="2145054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661993"/>
          </a:xfrm>
          <a:prstGeom prst="rect">
            <a:avLst/>
          </a:prstGeom>
          <a:noFill/>
        </p:spPr>
        <p:txBody>
          <a:bodyPr wrap="square" rtlCol="0">
            <a:spAutoFit/>
          </a:bodyPr>
          <a:lstStyle/>
          <a:p>
            <a:r>
              <a:rPr lang="en-AU" sz="2800" b="1" dirty="0">
                <a:solidFill>
                  <a:srgbClr val="FF0000"/>
                </a:solidFill>
              </a:rPr>
              <a:t>Crunch and Shoot. </a:t>
            </a:r>
          </a:p>
          <a:p>
            <a:r>
              <a:rPr lang="en-AU" sz="2800" b="1" dirty="0"/>
              <a:t>-</a:t>
            </a:r>
            <a:r>
              <a:rPr lang="en-AU" b="1" dirty="0"/>
              <a:t>Work in pairs</a:t>
            </a:r>
          </a:p>
          <a:p>
            <a:r>
              <a:rPr lang="en-AU" b="1" dirty="0"/>
              <a:t>- Use butcher’s paper</a:t>
            </a:r>
          </a:p>
        </p:txBody>
      </p:sp>
      <p:sp>
        <p:nvSpPr>
          <p:cNvPr id="14" name="TextBox 13">
            <a:extLst>
              <a:ext uri="{FF2B5EF4-FFF2-40B4-BE49-F238E27FC236}">
                <a16:creationId xmlns:a16="http://schemas.microsoft.com/office/drawing/2014/main" id="{C846EFC3-CA8E-4A02-BD8C-407D303F7E05}"/>
              </a:ext>
            </a:extLst>
          </p:cNvPr>
          <p:cNvSpPr txBox="1"/>
          <p:nvPr/>
        </p:nvSpPr>
        <p:spPr>
          <a:xfrm>
            <a:off x="2712720" y="1320800"/>
            <a:ext cx="3210549" cy="923330"/>
          </a:xfrm>
          <a:prstGeom prst="rect">
            <a:avLst/>
          </a:prstGeom>
          <a:noFill/>
        </p:spPr>
        <p:txBody>
          <a:bodyPr wrap="square" rtlCol="0">
            <a:spAutoFit/>
          </a:bodyPr>
          <a:lstStyle/>
          <a:p>
            <a:r>
              <a:rPr lang="en-US" dirty="0"/>
              <a:t>Round 5: 3 marks</a:t>
            </a:r>
          </a:p>
          <a:p>
            <a:endParaRPr lang="en-US" dirty="0"/>
          </a:p>
          <a:p>
            <a:endParaRPr lang="en-AU" dirty="0"/>
          </a:p>
        </p:txBody>
      </p:sp>
      <p:sp>
        <p:nvSpPr>
          <p:cNvPr id="8" name="Rectangle 7">
            <a:extLst>
              <a:ext uri="{FF2B5EF4-FFF2-40B4-BE49-F238E27FC236}">
                <a16:creationId xmlns:a16="http://schemas.microsoft.com/office/drawing/2014/main" id="{DD320A55-C22E-4F4B-97AB-44ADB13C4568}"/>
              </a:ext>
            </a:extLst>
          </p:cNvPr>
          <p:cNvSpPr/>
          <p:nvPr/>
        </p:nvSpPr>
        <p:spPr>
          <a:xfrm>
            <a:off x="2712720" y="2181204"/>
            <a:ext cx="8818835" cy="646331"/>
          </a:xfrm>
          <a:prstGeom prst="rect">
            <a:avLst/>
          </a:prstGeom>
        </p:spPr>
        <p:txBody>
          <a:bodyPr wrap="square">
            <a:spAutoFit/>
          </a:bodyPr>
          <a:lstStyle/>
          <a:p>
            <a:r>
              <a:rPr lang="en-US" dirty="0" err="1"/>
              <a:t>Mr</a:t>
            </a:r>
            <a:r>
              <a:rPr lang="en-US" dirty="0"/>
              <a:t> May wants to know the mean IQ of the pupils in his class. Would you recommend that he uses a sample or a census? State which you would use, and explain why.</a:t>
            </a:r>
            <a:endParaRPr lang="en-AU" i="1" dirty="0"/>
          </a:p>
        </p:txBody>
      </p:sp>
    </p:spTree>
    <p:extLst>
      <p:ext uri="{BB962C8B-B14F-4D97-AF65-F5344CB8AC3E}">
        <p14:creationId xmlns:p14="http://schemas.microsoft.com/office/powerpoint/2010/main" val="254406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661993"/>
          </a:xfrm>
          <a:prstGeom prst="rect">
            <a:avLst/>
          </a:prstGeom>
          <a:noFill/>
        </p:spPr>
        <p:txBody>
          <a:bodyPr wrap="square" rtlCol="0">
            <a:spAutoFit/>
          </a:bodyPr>
          <a:lstStyle/>
          <a:p>
            <a:r>
              <a:rPr lang="en-AU" sz="2800" b="1" dirty="0">
                <a:solidFill>
                  <a:srgbClr val="FF0000"/>
                </a:solidFill>
              </a:rPr>
              <a:t>Crunch and Shoot. </a:t>
            </a:r>
          </a:p>
          <a:p>
            <a:r>
              <a:rPr lang="en-AU" sz="2800" b="1" dirty="0"/>
              <a:t>-</a:t>
            </a:r>
            <a:r>
              <a:rPr lang="en-AU" b="1" dirty="0"/>
              <a:t>Work in pairs</a:t>
            </a:r>
          </a:p>
          <a:p>
            <a:r>
              <a:rPr lang="en-AU" b="1" dirty="0"/>
              <a:t>- Use butcher’s paper</a:t>
            </a:r>
          </a:p>
        </p:txBody>
      </p:sp>
      <p:sp>
        <p:nvSpPr>
          <p:cNvPr id="14" name="TextBox 13">
            <a:extLst>
              <a:ext uri="{FF2B5EF4-FFF2-40B4-BE49-F238E27FC236}">
                <a16:creationId xmlns:a16="http://schemas.microsoft.com/office/drawing/2014/main" id="{C846EFC3-CA8E-4A02-BD8C-407D303F7E05}"/>
              </a:ext>
            </a:extLst>
          </p:cNvPr>
          <p:cNvSpPr txBox="1"/>
          <p:nvPr/>
        </p:nvSpPr>
        <p:spPr>
          <a:xfrm>
            <a:off x="2712720" y="1320800"/>
            <a:ext cx="3210549" cy="923330"/>
          </a:xfrm>
          <a:prstGeom prst="rect">
            <a:avLst/>
          </a:prstGeom>
          <a:noFill/>
        </p:spPr>
        <p:txBody>
          <a:bodyPr wrap="square" rtlCol="0">
            <a:spAutoFit/>
          </a:bodyPr>
          <a:lstStyle/>
          <a:p>
            <a:r>
              <a:rPr lang="en-US" dirty="0"/>
              <a:t>Round 6: 2 marks</a:t>
            </a:r>
          </a:p>
          <a:p>
            <a:endParaRPr lang="en-US" dirty="0"/>
          </a:p>
          <a:p>
            <a:endParaRPr lang="en-AU" dirty="0"/>
          </a:p>
        </p:txBody>
      </p:sp>
      <p:sp>
        <p:nvSpPr>
          <p:cNvPr id="8" name="Rectangle 7">
            <a:extLst>
              <a:ext uri="{FF2B5EF4-FFF2-40B4-BE49-F238E27FC236}">
                <a16:creationId xmlns:a16="http://schemas.microsoft.com/office/drawing/2014/main" id="{DD320A55-C22E-4F4B-97AB-44ADB13C4568}"/>
              </a:ext>
            </a:extLst>
          </p:cNvPr>
          <p:cNvSpPr/>
          <p:nvPr/>
        </p:nvSpPr>
        <p:spPr>
          <a:xfrm>
            <a:off x="2641615" y="2828836"/>
            <a:ext cx="8818835" cy="923330"/>
          </a:xfrm>
          <a:prstGeom prst="rect">
            <a:avLst/>
          </a:prstGeom>
        </p:spPr>
        <p:txBody>
          <a:bodyPr wrap="square">
            <a:spAutoFit/>
          </a:bodyPr>
          <a:lstStyle/>
          <a:p>
            <a:r>
              <a:rPr lang="en-US" dirty="0"/>
              <a:t>A theatre group has 40 members of whom 15 are boys. A group of 8 members are to be interviewed to find out their opinion on their latest stage show. Using a stratified sampling technique, how many girls and how many boys should be included in the sample?</a:t>
            </a:r>
            <a:endParaRPr lang="en-AU" i="1" dirty="0"/>
          </a:p>
        </p:txBody>
      </p:sp>
    </p:spTree>
    <p:extLst>
      <p:ext uri="{BB962C8B-B14F-4D97-AF65-F5344CB8AC3E}">
        <p14:creationId xmlns:p14="http://schemas.microsoft.com/office/powerpoint/2010/main" val="209669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661993"/>
          </a:xfrm>
          <a:prstGeom prst="rect">
            <a:avLst/>
          </a:prstGeom>
          <a:noFill/>
        </p:spPr>
        <p:txBody>
          <a:bodyPr wrap="square" rtlCol="0">
            <a:spAutoFit/>
          </a:bodyPr>
          <a:lstStyle/>
          <a:p>
            <a:r>
              <a:rPr lang="en-AU" sz="2800" b="1" dirty="0">
                <a:solidFill>
                  <a:srgbClr val="FF0000"/>
                </a:solidFill>
              </a:rPr>
              <a:t>Crunch and Shoot. </a:t>
            </a:r>
          </a:p>
          <a:p>
            <a:r>
              <a:rPr lang="en-AU" sz="2800" b="1" dirty="0"/>
              <a:t>-</a:t>
            </a:r>
            <a:r>
              <a:rPr lang="en-AU" b="1" dirty="0"/>
              <a:t>Work in pairs</a:t>
            </a:r>
          </a:p>
          <a:p>
            <a:r>
              <a:rPr lang="en-AU" b="1" dirty="0"/>
              <a:t>- Use butcher’s paper</a:t>
            </a:r>
          </a:p>
        </p:txBody>
      </p:sp>
      <p:sp>
        <p:nvSpPr>
          <p:cNvPr id="14" name="TextBox 13">
            <a:extLst>
              <a:ext uri="{FF2B5EF4-FFF2-40B4-BE49-F238E27FC236}">
                <a16:creationId xmlns:a16="http://schemas.microsoft.com/office/drawing/2014/main" id="{C846EFC3-CA8E-4A02-BD8C-407D303F7E05}"/>
              </a:ext>
            </a:extLst>
          </p:cNvPr>
          <p:cNvSpPr txBox="1"/>
          <p:nvPr/>
        </p:nvSpPr>
        <p:spPr>
          <a:xfrm>
            <a:off x="2712720" y="1320800"/>
            <a:ext cx="3210549" cy="923330"/>
          </a:xfrm>
          <a:prstGeom prst="rect">
            <a:avLst/>
          </a:prstGeom>
          <a:noFill/>
        </p:spPr>
        <p:txBody>
          <a:bodyPr wrap="square" rtlCol="0">
            <a:spAutoFit/>
          </a:bodyPr>
          <a:lstStyle/>
          <a:p>
            <a:r>
              <a:rPr lang="en-US" dirty="0"/>
              <a:t>Round 7: 8 marks</a:t>
            </a:r>
          </a:p>
          <a:p>
            <a:endParaRPr lang="en-US" dirty="0"/>
          </a:p>
          <a:p>
            <a:endParaRPr lang="en-AU" dirty="0"/>
          </a:p>
        </p:txBody>
      </p:sp>
      <p:sp>
        <p:nvSpPr>
          <p:cNvPr id="8" name="Rectangle 7">
            <a:extLst>
              <a:ext uri="{FF2B5EF4-FFF2-40B4-BE49-F238E27FC236}">
                <a16:creationId xmlns:a16="http://schemas.microsoft.com/office/drawing/2014/main" id="{DD320A55-C22E-4F4B-97AB-44ADB13C4568}"/>
              </a:ext>
            </a:extLst>
          </p:cNvPr>
          <p:cNvSpPr/>
          <p:nvPr/>
        </p:nvSpPr>
        <p:spPr>
          <a:xfrm>
            <a:off x="2489215" y="2244130"/>
            <a:ext cx="8818835" cy="2862322"/>
          </a:xfrm>
          <a:prstGeom prst="rect">
            <a:avLst/>
          </a:prstGeom>
        </p:spPr>
        <p:txBody>
          <a:bodyPr wrap="square">
            <a:spAutoFit/>
          </a:bodyPr>
          <a:lstStyle/>
          <a:p>
            <a:r>
              <a:rPr lang="en-US" dirty="0"/>
              <a:t>There are 1500 homes in one part of a city. These homes can be divided into 3 categories:</a:t>
            </a:r>
          </a:p>
          <a:p>
            <a:r>
              <a:rPr lang="en-US" dirty="0"/>
              <a:t> - Privately owned homes (720 homes )</a:t>
            </a:r>
          </a:p>
          <a:p>
            <a:r>
              <a:rPr lang="en-US" dirty="0"/>
              <a:t>- Homes rented from council ( 592 homes) </a:t>
            </a:r>
          </a:p>
          <a:p>
            <a:r>
              <a:rPr lang="en-US" dirty="0"/>
              <a:t>-  Homes rented from private landlords (188 homes)</a:t>
            </a:r>
          </a:p>
          <a:p>
            <a:endParaRPr lang="en-US" dirty="0"/>
          </a:p>
          <a:p>
            <a:r>
              <a:rPr lang="en-US" dirty="0"/>
              <a:t> The council is to carry out a survey into the quality of homes.</a:t>
            </a:r>
          </a:p>
          <a:p>
            <a:pPr marL="342900" indent="-342900">
              <a:buAutoNum type="alphaLcParenR"/>
            </a:pPr>
            <a:r>
              <a:rPr lang="en-US" dirty="0"/>
              <a:t>What would be the advantage of using a stratified random sample? </a:t>
            </a:r>
          </a:p>
          <a:p>
            <a:endParaRPr lang="en-US" dirty="0"/>
          </a:p>
          <a:p>
            <a:r>
              <a:rPr lang="en-US" dirty="0"/>
              <a:t>b) How many homes of each type should be included in a stratified random sample of size 200 ?</a:t>
            </a:r>
            <a:endParaRPr lang="en-AU" i="1" dirty="0"/>
          </a:p>
        </p:txBody>
      </p:sp>
    </p:spTree>
    <p:extLst>
      <p:ext uri="{BB962C8B-B14F-4D97-AF65-F5344CB8AC3E}">
        <p14:creationId xmlns:p14="http://schemas.microsoft.com/office/powerpoint/2010/main" val="274154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661993"/>
          </a:xfrm>
          <a:prstGeom prst="rect">
            <a:avLst/>
          </a:prstGeom>
          <a:noFill/>
        </p:spPr>
        <p:txBody>
          <a:bodyPr wrap="square" rtlCol="0">
            <a:spAutoFit/>
          </a:bodyPr>
          <a:lstStyle/>
          <a:p>
            <a:r>
              <a:rPr lang="en-AU" sz="2800" b="1" dirty="0">
                <a:solidFill>
                  <a:srgbClr val="FF0000"/>
                </a:solidFill>
              </a:rPr>
              <a:t>Crunch and Shoot. </a:t>
            </a:r>
          </a:p>
          <a:p>
            <a:r>
              <a:rPr lang="en-AU" sz="2800" b="1" dirty="0"/>
              <a:t>-</a:t>
            </a:r>
            <a:r>
              <a:rPr lang="en-AU" b="1" dirty="0"/>
              <a:t>Work in pairs</a:t>
            </a:r>
          </a:p>
          <a:p>
            <a:r>
              <a:rPr lang="en-AU" b="1" dirty="0"/>
              <a:t>- Use butcher’s paper</a:t>
            </a:r>
          </a:p>
        </p:txBody>
      </p:sp>
      <p:sp>
        <p:nvSpPr>
          <p:cNvPr id="2" name="TextBox 1">
            <a:extLst>
              <a:ext uri="{FF2B5EF4-FFF2-40B4-BE49-F238E27FC236}">
                <a16:creationId xmlns:a16="http://schemas.microsoft.com/office/drawing/2014/main" id="{859988BC-D0C2-4D98-A4A5-F684FDAA5A14}"/>
              </a:ext>
            </a:extLst>
          </p:cNvPr>
          <p:cNvSpPr txBox="1"/>
          <p:nvPr/>
        </p:nvSpPr>
        <p:spPr>
          <a:xfrm>
            <a:off x="2682239" y="1219200"/>
            <a:ext cx="7498077" cy="5632311"/>
          </a:xfrm>
          <a:prstGeom prst="rect">
            <a:avLst/>
          </a:prstGeom>
          <a:noFill/>
        </p:spPr>
        <p:txBody>
          <a:bodyPr wrap="square" rtlCol="0">
            <a:spAutoFit/>
          </a:bodyPr>
          <a:lstStyle/>
          <a:p>
            <a:r>
              <a:rPr lang="en-US" dirty="0"/>
              <a:t>Solutions:</a:t>
            </a:r>
          </a:p>
          <a:p>
            <a:endParaRPr lang="en-US" dirty="0"/>
          </a:p>
          <a:p>
            <a:r>
              <a:rPr lang="en-US" b="1" dirty="0"/>
              <a:t>Round 1: </a:t>
            </a:r>
            <a:r>
              <a:rPr lang="en-US" dirty="0"/>
              <a:t>Stratified, systematic, random, self-selected</a:t>
            </a:r>
          </a:p>
          <a:p>
            <a:endParaRPr lang="en-US" dirty="0"/>
          </a:p>
          <a:p>
            <a:r>
              <a:rPr lang="en-US" b="1" dirty="0"/>
              <a:t>Round 2: </a:t>
            </a:r>
            <a:r>
              <a:rPr lang="en-US" dirty="0"/>
              <a:t>171-172 males,   207-208 females. So all up between 378- 380 students in total</a:t>
            </a:r>
          </a:p>
          <a:p>
            <a:endParaRPr lang="en-US" dirty="0"/>
          </a:p>
          <a:p>
            <a:r>
              <a:rPr lang="en-US" b="1" dirty="0"/>
              <a:t>Round 3:  </a:t>
            </a:r>
          </a:p>
          <a:p>
            <a:pPr marL="342900" indent="-342900">
              <a:buAutoNum type="alphaLcParenR"/>
            </a:pPr>
            <a:r>
              <a:rPr lang="en-US" dirty="0"/>
              <a:t>No. She only surveys people who work in the center of Sydney. She misses country people and people who work elsewhere</a:t>
            </a:r>
          </a:p>
          <a:p>
            <a:pPr marL="342900" indent="-342900">
              <a:buAutoNum type="alphaLcParenR"/>
            </a:pPr>
            <a:endParaRPr lang="en-US" dirty="0"/>
          </a:p>
          <a:p>
            <a:pPr marL="342900" indent="-342900">
              <a:buAutoNum type="alphaLcParenR"/>
            </a:pPr>
            <a:r>
              <a:rPr lang="en-US" dirty="0"/>
              <a:t>A range of answers are acceptable. Focus should be on detail of sampling method in the context</a:t>
            </a:r>
          </a:p>
          <a:p>
            <a:pPr marL="342900" indent="-342900">
              <a:buAutoNum type="alphaLcParenR"/>
            </a:pPr>
            <a:endParaRPr lang="en-US" dirty="0"/>
          </a:p>
          <a:p>
            <a:r>
              <a:rPr lang="en-US" b="1" dirty="0"/>
              <a:t>Round 4: </a:t>
            </a:r>
            <a:r>
              <a:rPr lang="en-US" dirty="0"/>
              <a:t>To produce a random sample, every member of the population must have an equal chance of being selected. In the case of Mark's sample, he is excluding people who are at work on that Saturday, as well as other people who haven't gone to that shopping </a:t>
            </a:r>
            <a:r>
              <a:rPr lang="en-US" dirty="0" err="1"/>
              <a:t>centre</a:t>
            </a:r>
            <a:r>
              <a:rPr lang="en-US" dirty="0"/>
              <a:t>. So although Mark is stopping people at random, he is not producing a random sample.</a:t>
            </a:r>
          </a:p>
          <a:p>
            <a:endParaRPr lang="en-US" dirty="0"/>
          </a:p>
        </p:txBody>
      </p:sp>
    </p:spTree>
    <p:extLst>
      <p:ext uri="{BB962C8B-B14F-4D97-AF65-F5344CB8AC3E}">
        <p14:creationId xmlns:p14="http://schemas.microsoft.com/office/powerpoint/2010/main" val="144313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1661993"/>
          </a:xfrm>
          <a:prstGeom prst="rect">
            <a:avLst/>
          </a:prstGeom>
          <a:noFill/>
        </p:spPr>
        <p:txBody>
          <a:bodyPr wrap="square" rtlCol="0">
            <a:spAutoFit/>
          </a:bodyPr>
          <a:lstStyle/>
          <a:p>
            <a:r>
              <a:rPr lang="en-AU" sz="2800" b="1" dirty="0">
                <a:solidFill>
                  <a:srgbClr val="FF0000"/>
                </a:solidFill>
              </a:rPr>
              <a:t>Crunch and Shoot. </a:t>
            </a:r>
          </a:p>
          <a:p>
            <a:r>
              <a:rPr lang="en-AU" sz="2800" b="1" dirty="0"/>
              <a:t>-</a:t>
            </a:r>
            <a:r>
              <a:rPr lang="en-AU" b="1" dirty="0"/>
              <a:t>Work in pairs</a:t>
            </a:r>
          </a:p>
          <a:p>
            <a:r>
              <a:rPr lang="en-AU" b="1" dirty="0"/>
              <a:t>- Use butcher’s paper</a:t>
            </a:r>
          </a:p>
        </p:txBody>
      </p:sp>
      <p:sp>
        <p:nvSpPr>
          <p:cNvPr id="2" name="TextBox 1">
            <a:extLst>
              <a:ext uri="{FF2B5EF4-FFF2-40B4-BE49-F238E27FC236}">
                <a16:creationId xmlns:a16="http://schemas.microsoft.com/office/drawing/2014/main" id="{859988BC-D0C2-4D98-A4A5-F684FDAA5A14}"/>
              </a:ext>
            </a:extLst>
          </p:cNvPr>
          <p:cNvSpPr txBox="1"/>
          <p:nvPr/>
        </p:nvSpPr>
        <p:spPr>
          <a:xfrm>
            <a:off x="2682239" y="1219200"/>
            <a:ext cx="7498077" cy="2862322"/>
          </a:xfrm>
          <a:prstGeom prst="rect">
            <a:avLst/>
          </a:prstGeom>
          <a:noFill/>
        </p:spPr>
        <p:txBody>
          <a:bodyPr wrap="square" rtlCol="0">
            <a:spAutoFit/>
          </a:bodyPr>
          <a:lstStyle/>
          <a:p>
            <a:r>
              <a:rPr lang="en-US" dirty="0"/>
              <a:t>Solutions:</a:t>
            </a:r>
          </a:p>
          <a:p>
            <a:endParaRPr lang="en-US" dirty="0"/>
          </a:p>
          <a:p>
            <a:r>
              <a:rPr lang="en-US" b="1" dirty="0"/>
              <a:t>Round 5: </a:t>
            </a:r>
            <a:r>
              <a:rPr lang="en-US" dirty="0" err="1"/>
              <a:t>Mr</a:t>
            </a:r>
            <a:r>
              <a:rPr lang="en-US" dirty="0"/>
              <a:t> May should use a census. His class is small enough for the data to be found quickly and easily for every pupil in the class. Using a smaller sample may produce a biased value that would not reflect the class as a whole.</a:t>
            </a:r>
          </a:p>
          <a:p>
            <a:endParaRPr lang="en-US" dirty="0"/>
          </a:p>
          <a:p>
            <a:r>
              <a:rPr lang="en-US" b="1" dirty="0"/>
              <a:t>Round 6: </a:t>
            </a:r>
            <a:r>
              <a:rPr lang="en-US" dirty="0"/>
              <a:t>5 girls and 3 boys</a:t>
            </a:r>
          </a:p>
          <a:p>
            <a:endParaRPr lang="en-US" dirty="0"/>
          </a:p>
          <a:p>
            <a:r>
              <a:rPr lang="en-US" b="1" dirty="0"/>
              <a:t>Round 7:  </a:t>
            </a:r>
          </a:p>
          <a:p>
            <a:endParaRPr lang="en-US" dirty="0"/>
          </a:p>
        </p:txBody>
      </p:sp>
      <p:pic>
        <p:nvPicPr>
          <p:cNvPr id="3" name="Picture 2">
            <a:extLst>
              <a:ext uri="{FF2B5EF4-FFF2-40B4-BE49-F238E27FC236}">
                <a16:creationId xmlns:a16="http://schemas.microsoft.com/office/drawing/2014/main" id="{83CE419F-27B5-404E-8865-9B158E19F76F}"/>
              </a:ext>
            </a:extLst>
          </p:cNvPr>
          <p:cNvPicPr>
            <a:picLocks noChangeAspect="1"/>
          </p:cNvPicPr>
          <p:nvPr/>
        </p:nvPicPr>
        <p:blipFill>
          <a:blip r:embed="rId3"/>
          <a:stretch>
            <a:fillRect/>
          </a:stretch>
        </p:blipFill>
        <p:spPr>
          <a:xfrm>
            <a:off x="3749039" y="3483242"/>
            <a:ext cx="5664769" cy="3152462"/>
          </a:xfrm>
          <a:prstGeom prst="rect">
            <a:avLst/>
          </a:prstGeom>
        </p:spPr>
      </p:pic>
    </p:spTree>
    <p:extLst>
      <p:ext uri="{BB962C8B-B14F-4D97-AF65-F5344CB8AC3E}">
        <p14:creationId xmlns:p14="http://schemas.microsoft.com/office/powerpoint/2010/main" val="136481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US" sz="2400" dirty="0"/>
              <a:t>EQ: Types of samples?</a:t>
            </a:r>
            <a:endParaRPr lang="en-AU" sz="2400" dirty="0"/>
          </a:p>
        </p:txBody>
      </p:sp>
      <p:sp>
        <p:nvSpPr>
          <p:cNvPr id="13" name="TextBox 12"/>
          <p:cNvSpPr txBox="1"/>
          <p:nvPr/>
        </p:nvSpPr>
        <p:spPr>
          <a:xfrm>
            <a:off x="516607" y="29706"/>
            <a:ext cx="3016339" cy="461665"/>
          </a:xfrm>
          <a:prstGeom prst="rect">
            <a:avLst/>
          </a:prstGeom>
          <a:noFill/>
        </p:spPr>
        <p:txBody>
          <a:bodyPr wrap="none" rtlCol="0">
            <a:spAutoFit/>
          </a:bodyPr>
          <a:lstStyle/>
          <a:p>
            <a:r>
              <a:rPr lang="en-AU" sz="2400" b="1" dirty="0">
                <a:latin typeface="Chalkboard"/>
                <a:cs typeface="Chalkboard"/>
              </a:rPr>
              <a:t>Topic: EST Preparation</a:t>
            </a:r>
            <a:endParaRPr lang="en-AU" sz="2400" dirty="0">
              <a:latin typeface="Chalkboard"/>
              <a:cs typeface="Chalkboard"/>
            </a:endParaRPr>
          </a:p>
        </p:txBody>
      </p:sp>
      <p:sp>
        <p:nvSpPr>
          <p:cNvPr id="15" name="TextBox 14"/>
          <p:cNvSpPr txBox="1"/>
          <p:nvPr/>
        </p:nvSpPr>
        <p:spPr>
          <a:xfrm>
            <a:off x="1434" y="1563746"/>
            <a:ext cx="2393027" cy="3046988"/>
          </a:xfrm>
          <a:prstGeom prst="rect">
            <a:avLst/>
          </a:prstGeom>
          <a:noFill/>
        </p:spPr>
        <p:txBody>
          <a:bodyPr wrap="square" rtlCol="0">
            <a:spAutoFit/>
          </a:bodyPr>
          <a:lstStyle/>
          <a:p>
            <a:r>
              <a:rPr lang="en-AU" sz="2800" b="1" dirty="0">
                <a:solidFill>
                  <a:srgbClr val="FF0000"/>
                </a:solidFill>
              </a:rPr>
              <a:t>Summary time. </a:t>
            </a:r>
          </a:p>
          <a:p>
            <a:r>
              <a:rPr lang="en-AU" sz="2800" b="1" dirty="0"/>
              <a:t>-</a:t>
            </a:r>
            <a:r>
              <a:rPr lang="en-AU" b="1" dirty="0">
                <a:highlight>
                  <a:srgbClr val="FFFF00"/>
                </a:highlight>
              </a:rPr>
              <a:t>Last 15 mins </a:t>
            </a:r>
            <a:r>
              <a:rPr lang="en-AU" b="1" dirty="0"/>
              <a:t>of lesson you will need to add in any examples/facts/hints you might need to answer similar questions</a:t>
            </a:r>
          </a:p>
        </p:txBody>
      </p:sp>
    </p:spTree>
    <p:extLst>
      <p:ext uri="{BB962C8B-B14F-4D97-AF65-F5344CB8AC3E}">
        <p14:creationId xmlns:p14="http://schemas.microsoft.com/office/powerpoint/2010/main" val="309340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963</Words>
  <Application>Microsoft Office PowerPoint</Application>
  <PresentationFormat>Widescreen</PresentationFormat>
  <Paragraphs>159</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Chalkboard</vt:lpstr>
      <vt:lpstr>Times New Roman</vt:lpstr>
      <vt:lpstr>Office Theme</vt:lpstr>
      <vt:lpstr>Topic: EST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EST Preparation</dc:title>
  <dc:creator>Sarah James</dc:creator>
  <cp:lastModifiedBy>Sarah James</cp:lastModifiedBy>
  <cp:revision>8</cp:revision>
  <dcterms:created xsi:type="dcterms:W3CDTF">2020-06-02T11:09:57Z</dcterms:created>
  <dcterms:modified xsi:type="dcterms:W3CDTF">2020-06-02T13:18:32Z</dcterms:modified>
</cp:coreProperties>
</file>
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7" r:id="rId2"/>
    <p:sldId id="260" r:id="rId3"/>
    <p:sldId id="263" r:id="rId4"/>
    <p:sldId id="269" r:id="rId5"/>
    <p:sldId id="270" r:id="rId6"/>
    <p:sldId id="271" r:id="rId7"/>
    <p:sldId id="264" r:id="rId8"/>
    <p:sldId id="26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38A3D5-044C-4B92-91C8-B4E613B63DAB}" type="datetimeFigureOut">
              <a:rPr lang="en-AU" smtClean="0"/>
              <a:t>2/06/2020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83F2F9-6C6E-4DF2-A8A4-DCB39FD3D1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921021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65FA9E-68E8-472A-837D-561854B8A56B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95311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65FA9E-68E8-472A-837D-561854B8A56B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479804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65FA9E-68E8-472A-837D-561854B8A56B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519670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65FA9E-68E8-472A-837D-561854B8A56B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966604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65FA9E-68E8-472A-837D-561854B8A56B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198695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65FA9E-68E8-472A-837D-561854B8A56B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47389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65FA9E-68E8-472A-837D-561854B8A56B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83055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11FB7-A3B6-4459-8722-194FAB6505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1C60A4-EBC1-4C98-8B21-0BCACED54C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C7AFD1-1F3E-4DEA-A704-BB3B86574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B90E4-D67C-42F3-A632-19160A521555}" type="datetimeFigureOut">
              <a:rPr lang="en-AU" smtClean="0"/>
              <a:t>2/06/2020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62FB94-0A23-4476-BBB2-971FF8EEE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CF5DCE-A5A5-400D-B1DB-11A829ADE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7AD87-9D98-4DEB-8F98-9AFD2828EF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5357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1B54D-CD0F-4C24-89ED-1EC64EA8F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B4D120-F510-4602-9254-D20706F906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4E36B5-86E7-46B4-B131-6489F19B8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B90E4-D67C-42F3-A632-19160A521555}" type="datetimeFigureOut">
              <a:rPr lang="en-AU" smtClean="0"/>
              <a:t>2/06/2020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871CDB-7BD9-4D01-8169-2D7B849B2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63E40D-4BB3-4E98-90AB-E2EFD9800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7AD87-9D98-4DEB-8F98-9AFD2828EF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392041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68358-675C-484D-BD8F-0CB060AD58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F42F0A-7A57-4907-8FDD-E429D587EF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39E7A2-0D52-488B-ABEC-E627DDA83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B90E4-D67C-42F3-A632-19160A521555}" type="datetimeFigureOut">
              <a:rPr lang="en-AU" smtClean="0"/>
              <a:t>2/06/2020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4B43B1-7BC5-4314-9878-7743F5463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1FE361-A357-4B61-B1F6-102A7770C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7AD87-9D98-4DEB-8F98-9AFD2828EF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363427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E8DB2-835B-4277-9332-2F18E039E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430CBF-A936-40F8-B37C-219EC52323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1F59D0-359A-4BDD-953C-9083AA7343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D57E31-E9DA-4923-BE2B-5838F184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B90E4-D67C-42F3-A632-19160A521555}" type="datetimeFigureOut">
              <a:rPr lang="en-AU" smtClean="0"/>
              <a:t>2/06/2020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189A09-96D9-4A3D-9CC2-550CB7856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F96F06-7BB4-4E43-B22D-423E06165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7AD87-9D98-4DEB-8F98-9AFD2828EF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17238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55B89-E500-4737-9F13-2461CC55C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A49709-89D8-47A2-80C9-7543EDE0D8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89B9FC-4593-4C0F-BBA0-E57E636574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E5E04B-90FC-41E7-89FF-87200EF102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8A1D9E-73A8-4FFE-A0A6-FC5EDD1D0F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9FA8EC-4AB5-4515-9B88-7A175B63F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B90E4-D67C-42F3-A632-19160A521555}" type="datetimeFigureOut">
              <a:rPr lang="en-AU" smtClean="0"/>
              <a:t>2/06/2020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736A9B-1B11-4DED-9CC7-1472B224A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1C18A4-3ADD-44D6-BF41-2783F2D9E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7AD87-9D98-4DEB-8F98-9AFD2828EF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41293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AB4DD-7796-4F0C-A269-767BDB01F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D5DC44-0619-4CEB-9382-90ADB801E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B90E4-D67C-42F3-A632-19160A521555}" type="datetimeFigureOut">
              <a:rPr lang="en-AU" smtClean="0"/>
              <a:t>2/06/2020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0DDAEE-A927-453E-8E49-20FC818FA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EB896E-2C07-44CF-8495-CA9D9EEBA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7AD87-9D98-4DEB-8F98-9AFD2828EF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533549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F1ABC0-1C17-43D7-9C94-0A36384ED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B90E4-D67C-42F3-A632-19160A521555}" type="datetimeFigureOut">
              <a:rPr lang="en-AU" smtClean="0"/>
              <a:t>2/06/2020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128251-7A22-41E3-93A0-9EEA32E04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138207-CBA2-4C48-8FCC-7C9E6D722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7AD87-9D98-4DEB-8F98-9AFD2828EF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6803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5C34C-CF67-49F2-8E65-87585E577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6464CA-19A1-4588-BCE0-2AA2C7D619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A7040C-4EB9-4EB2-8268-B452B5A0AA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D83A2D-E329-4CEE-8044-ED0B52FFA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B90E4-D67C-42F3-A632-19160A521555}" type="datetimeFigureOut">
              <a:rPr lang="en-AU" smtClean="0"/>
              <a:t>2/06/2020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9E81E3-9975-43EC-9861-74252DEFD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3AB164-A900-47BD-95DA-0DDBA016B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7AD87-9D98-4DEB-8F98-9AFD2828EF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514503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4BF55-CAD9-4BA8-B3F0-C9E18EBCD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8C61090-13B4-4F89-A89B-1444526ED2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684CDF-65C4-45F0-B3D2-0DDA8DAD2F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DA72EC-9530-49B0-855A-FA2F4CF6C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B90E4-D67C-42F3-A632-19160A521555}" type="datetimeFigureOut">
              <a:rPr lang="en-AU" smtClean="0"/>
              <a:t>2/06/2020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759934-CE1D-44A0-8A5E-4D0996FBF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B53A1C-4134-441A-941B-AB791A4E7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7AD87-9D98-4DEB-8F98-9AFD2828EF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449927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9F82D-53EE-4BE1-BEAE-8C23125E4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D2EC5F-A93A-41CE-9277-F8DB6F5022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9ACFB9-635F-44F1-97AA-2CE8ED14D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B90E4-D67C-42F3-A632-19160A521555}" type="datetimeFigureOut">
              <a:rPr lang="en-AU" smtClean="0"/>
              <a:t>2/06/2020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5CBDFA-C5BE-439D-B165-7166EF1A1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4B133B-2EEB-4CC3-9FF5-842C2704B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7AD87-9D98-4DEB-8F98-9AFD2828EF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348638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0678C7C-24EF-4E2D-AA06-3269555BA0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F822D2-1E8A-4E9C-9D38-E6B3D484E2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435194-EEA2-4B11-8566-26E8796C7C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B90E4-D67C-42F3-A632-19160A521555}" type="datetimeFigureOut">
              <a:rPr lang="en-AU" smtClean="0"/>
              <a:t>2/06/2020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759BA5-9A43-4819-B0DE-EE8B9314E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C46877-7150-4A26-B4CC-01715E750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7AD87-9D98-4DEB-8F98-9AFD2828EF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759044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F0D48F-F6D6-4FF8-A616-EE311FAAD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449B03-77B3-4811-B2BA-537A6DB4E4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7E467B-881D-4391-A055-70F08A750E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3B90E4-D67C-42F3-A632-19160A521555}" type="datetimeFigureOut">
              <a:rPr lang="en-AU" smtClean="0"/>
              <a:t>2/06/2020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1A5F07-42EF-457F-A56F-57ACFE9FEA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45BBB9-2CC8-4B82-8BFD-F302CFEA90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C7AD87-9D98-4DEB-8F98-9AFD2828EF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109034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4B73E-F45F-470B-B717-57F5A8A2F8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9520" y="126683"/>
            <a:ext cx="9144000" cy="838517"/>
          </a:xfrm>
        </p:spPr>
        <p:txBody>
          <a:bodyPr>
            <a:normAutofit fontScale="90000"/>
          </a:bodyPr>
          <a:lstStyle/>
          <a:p>
            <a:r>
              <a:rPr lang="en-US" dirty="0"/>
              <a:t>Topic: EST Preparation</a:t>
            </a:r>
            <a:endParaRPr lang="en-A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AAB92A-BB20-4C27-87BF-1FD231FF0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6960" y="965200"/>
            <a:ext cx="9144000" cy="665162"/>
          </a:xfrm>
        </p:spPr>
        <p:txBody>
          <a:bodyPr>
            <a:normAutofit/>
          </a:bodyPr>
          <a:lstStyle/>
          <a:p>
            <a:r>
              <a:rPr lang="en-US" dirty="0"/>
              <a:t>EQ: Review of sources of bias?</a:t>
            </a:r>
            <a:endParaRPr lang="en-AU" dirty="0"/>
          </a:p>
          <a:p>
            <a:endParaRPr lang="en-A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8A6488-DC17-4575-8F70-CF7DE301029D}"/>
              </a:ext>
            </a:extLst>
          </p:cNvPr>
          <p:cNvSpPr txBox="1"/>
          <p:nvPr/>
        </p:nvSpPr>
        <p:spPr>
          <a:xfrm>
            <a:off x="9763760" y="434259"/>
            <a:ext cx="1778000" cy="2585323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Get your EST tick list. Always have this with you . You will be responsible for filling in notes that you may need for your notes page</a:t>
            </a:r>
            <a:endParaRPr lang="en-AU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A03E794-C460-4005-B2A3-37D4F73FDB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9789820"/>
              </p:ext>
            </p:extLst>
          </p:nvPr>
        </p:nvGraphicFramePr>
        <p:xfrm>
          <a:off x="553720" y="3225514"/>
          <a:ext cx="10515600" cy="199859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515600">
                  <a:extLst>
                    <a:ext uri="{9D8B030D-6E8A-4147-A177-3AD203B41FA5}">
                      <a16:colId xmlns:a16="http://schemas.microsoft.com/office/drawing/2014/main" val="404254293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</a:pPr>
                      <a:r>
                        <a:rPr lang="en-AU" sz="1100" dirty="0">
                          <a:effectLst/>
                        </a:rPr>
                        <a:t>Sources of bias</a:t>
                      </a:r>
                    </a:p>
                    <a:p>
                      <a:pPr marL="1143000" lvl="2" indent="-22860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Font typeface="+mj-lt"/>
                        <a:buAutoNum type="arabicPeriod"/>
                      </a:pPr>
                      <a:r>
                        <a:rPr lang="en-AU" sz="1100" dirty="0">
                          <a:effectLst/>
                          <a:highlight>
                            <a:srgbClr val="FFFF00"/>
                          </a:highlight>
                        </a:rPr>
                        <a:t>describe the faults in the collection of data process</a:t>
                      </a:r>
                      <a:endParaRPr lang="en-AU" sz="1100" dirty="0">
                        <a:effectLst/>
                      </a:endParaRPr>
                    </a:p>
                    <a:p>
                      <a:pPr marL="1143000" lvl="2" indent="-22860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Font typeface="+mj-lt"/>
                        <a:buAutoNum type="arabicPeriod"/>
                      </a:pPr>
                      <a:r>
                        <a:rPr lang="en-AU" sz="1100" dirty="0">
                          <a:effectLst/>
                          <a:highlight>
                            <a:srgbClr val="FFFF00"/>
                          </a:highlight>
                        </a:rPr>
                        <a:t>describe sources of error in surveys; for example, sampling error and measurement error</a:t>
                      </a:r>
                      <a:endParaRPr lang="en-AU" sz="1100" dirty="0">
                        <a:effectLst/>
                      </a:endParaRPr>
                    </a:p>
                    <a:p>
                      <a:pPr marL="1143000" lvl="2" indent="-22860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Font typeface="+mj-lt"/>
                        <a:buAutoNum type="arabicPeriod"/>
                      </a:pPr>
                      <a:r>
                        <a:rPr lang="en-AU" sz="1100" dirty="0">
                          <a:effectLst/>
                          <a:highlight>
                            <a:srgbClr val="FFFF00"/>
                          </a:highlight>
                        </a:rPr>
                        <a:t>describe possible misrepresentation of the results of a survey due to the unreliability of generalising the survey findings to the entire population, for example, because of limited sample size or chance variation between samples</a:t>
                      </a:r>
                      <a:endParaRPr lang="en-AU" sz="1100" dirty="0">
                        <a:effectLst/>
                      </a:endParaRPr>
                    </a:p>
                    <a:p>
                      <a:pPr marL="1143000" lvl="2" indent="-22860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Font typeface="+mj-lt"/>
                        <a:buAutoNum type="arabicPeriod"/>
                      </a:pPr>
                      <a:r>
                        <a:rPr lang="en-AU" sz="1100" dirty="0">
                          <a:effectLst/>
                        </a:rPr>
                        <a:t>describe errors and misrepresentation of the results of a survey, including examples of media misrepresentations of surveys and the manipulation of data to serve different purposes</a:t>
                      </a:r>
                      <a:endParaRPr lang="en-A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935" marR="114935" marT="0" marB="0"/>
                </a:tc>
                <a:extLst>
                  <a:ext uri="{0D108BD9-81ED-4DB2-BD59-A6C34878D82A}">
                    <a16:rowId xmlns:a16="http://schemas.microsoft.com/office/drawing/2014/main" val="313583017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A01CA9C-F30C-4862-A0D2-CA7956735458}"/>
              </a:ext>
            </a:extLst>
          </p:cNvPr>
          <p:cNvSpPr txBox="1"/>
          <p:nvPr/>
        </p:nvSpPr>
        <p:spPr>
          <a:xfrm>
            <a:off x="2275840" y="1630362"/>
            <a:ext cx="487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lesson will only go for 30 mins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47367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0" y="553404"/>
            <a:ext cx="12192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0" y="1060559"/>
            <a:ext cx="12192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-42791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394461" y="1045417"/>
            <a:ext cx="0" cy="5797441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747413" y="80378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1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6216" y="583752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EQ: Review of sources of bias?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516607" y="29706"/>
            <a:ext cx="30195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Topic: EST Preparation</a:t>
            </a:r>
            <a:endParaRPr lang="en-AU" sz="2400" dirty="0">
              <a:latin typeface="Chalkboard"/>
              <a:cs typeface="Chalkboard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434" y="1563746"/>
            <a:ext cx="2393027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solidFill>
                  <a:srgbClr val="FF0000"/>
                </a:solidFill>
              </a:rPr>
              <a:t>Whiteboards. </a:t>
            </a:r>
          </a:p>
          <a:p>
            <a:r>
              <a:rPr lang="en-AU" sz="2800" b="1" dirty="0"/>
              <a:t>-</a:t>
            </a:r>
            <a:r>
              <a:rPr lang="en-AU" b="1" dirty="0"/>
              <a:t>Work individually</a:t>
            </a:r>
          </a:p>
          <a:p>
            <a:r>
              <a:rPr lang="en-AU" b="1" dirty="0"/>
              <a:t>- Use mini whiteboards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05D927-125A-4E05-BB43-2E6504871BC0}"/>
              </a:ext>
            </a:extLst>
          </p:cNvPr>
          <p:cNvSpPr txBox="1"/>
          <p:nvPr/>
        </p:nvSpPr>
        <p:spPr>
          <a:xfrm>
            <a:off x="2712720" y="1320800"/>
            <a:ext cx="59029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Warm Up/Teacher example (4 marks):</a:t>
            </a:r>
            <a:endParaRPr lang="en-A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46CC9B-3683-42AA-89E9-708EA145D949}"/>
              </a:ext>
            </a:extLst>
          </p:cNvPr>
          <p:cNvSpPr txBox="1"/>
          <p:nvPr/>
        </p:nvSpPr>
        <p:spPr>
          <a:xfrm>
            <a:off x="2939414" y="3429000"/>
            <a:ext cx="826020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Let’s discuss why there are 4 marks.</a:t>
            </a:r>
          </a:p>
          <a:p>
            <a:endParaRPr lang="en-US" dirty="0"/>
          </a:p>
          <a:p>
            <a:r>
              <a:rPr lang="en-US" sz="3600" dirty="0">
                <a:highlight>
                  <a:srgbClr val="FF00FF"/>
                </a:highlight>
              </a:rPr>
              <a:t>Justify/Explain your reasoning</a:t>
            </a:r>
            <a:endParaRPr lang="en-AU" sz="3600" dirty="0">
              <a:highlight>
                <a:srgbClr val="FF00FF"/>
              </a:highlight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ABD1D7C-E6A6-4FC9-A9B7-57E1C460A4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9414" y="1725170"/>
            <a:ext cx="7419975" cy="165735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ED860C0-6976-47F0-AF29-575558C0D9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0581" y="4821330"/>
            <a:ext cx="6456832" cy="2006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166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0" y="553404"/>
            <a:ext cx="12192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0" y="1060559"/>
            <a:ext cx="12192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-42791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394461" y="1045417"/>
            <a:ext cx="0" cy="5797441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747413" y="80378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1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6216" y="583752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EQ: Review of sources of bias?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516607" y="29706"/>
            <a:ext cx="30163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Topic: EST Preparation</a:t>
            </a:r>
            <a:endParaRPr lang="en-AU" sz="2400" dirty="0">
              <a:latin typeface="Chalkboard"/>
              <a:cs typeface="Chalkboard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434" y="1563746"/>
            <a:ext cx="23930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solidFill>
                  <a:srgbClr val="FF0000"/>
                </a:solidFill>
              </a:rPr>
              <a:t>Whiteboards.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05D927-125A-4E05-BB43-2E6504871BC0}"/>
              </a:ext>
            </a:extLst>
          </p:cNvPr>
          <p:cNvSpPr txBox="1"/>
          <p:nvPr/>
        </p:nvSpPr>
        <p:spPr>
          <a:xfrm>
            <a:off x="2712720" y="1320800"/>
            <a:ext cx="32105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Round 1: 3 marks</a:t>
            </a:r>
          </a:p>
          <a:p>
            <a:endParaRPr lang="en-US" dirty="0"/>
          </a:p>
          <a:p>
            <a:endParaRPr lang="en-AU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353A941-5AF8-45EC-AC68-5FBD593AC1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7675" y="1825356"/>
            <a:ext cx="7334250" cy="1133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456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0" y="553404"/>
            <a:ext cx="12192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0" y="1060559"/>
            <a:ext cx="12192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-42791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394461" y="1045417"/>
            <a:ext cx="0" cy="5797441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747413" y="80378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1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6216" y="583752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EQ: Review of sources of bias?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516607" y="29706"/>
            <a:ext cx="30163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Topic: EST Preparation</a:t>
            </a:r>
            <a:endParaRPr lang="en-AU" sz="2400" dirty="0">
              <a:latin typeface="Chalkboard"/>
              <a:cs typeface="Chalkboard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434" y="1563746"/>
            <a:ext cx="23930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solidFill>
                  <a:srgbClr val="FF0000"/>
                </a:solidFill>
              </a:rPr>
              <a:t>Whiteboards.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05D927-125A-4E05-BB43-2E6504871BC0}"/>
              </a:ext>
            </a:extLst>
          </p:cNvPr>
          <p:cNvSpPr txBox="1"/>
          <p:nvPr/>
        </p:nvSpPr>
        <p:spPr>
          <a:xfrm>
            <a:off x="2712720" y="1320800"/>
            <a:ext cx="32105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Round 2: 4 marks</a:t>
            </a:r>
          </a:p>
          <a:p>
            <a:endParaRPr lang="en-US" dirty="0"/>
          </a:p>
          <a:p>
            <a:endParaRPr lang="en-A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F80EE4-0693-4560-AAC2-90FDA86BCDEB}"/>
              </a:ext>
            </a:extLst>
          </p:cNvPr>
          <p:cNvSpPr txBox="1"/>
          <p:nvPr/>
        </p:nvSpPr>
        <p:spPr>
          <a:xfrm>
            <a:off x="2712720" y="2086966"/>
            <a:ext cx="874775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what way are these questions biased? Rewrite them so that they are not biased</a:t>
            </a:r>
          </a:p>
          <a:p>
            <a:endParaRPr lang="en-US" dirty="0"/>
          </a:p>
          <a:p>
            <a:pPr marL="342900" indent="-342900">
              <a:buAutoNum type="alphaLcParenR"/>
            </a:pPr>
            <a:r>
              <a:rPr lang="en-US" dirty="0"/>
              <a:t>Do you agree that we should increase tax on those disgusting cigarettes?</a:t>
            </a:r>
          </a:p>
          <a:p>
            <a:endParaRPr lang="en-US" dirty="0"/>
          </a:p>
          <a:p>
            <a:pPr marL="342900" indent="-342900">
              <a:buAutoNum type="alphaLcParenR"/>
            </a:pPr>
            <a:r>
              <a:rPr lang="en-US" dirty="0"/>
              <a:t>Rate the movie you last saw: 	OK		GOOD		FANTASTIC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6310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0" y="553404"/>
            <a:ext cx="12192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0" y="1060559"/>
            <a:ext cx="12192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-42791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394461" y="1045417"/>
            <a:ext cx="0" cy="5797441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747413" y="80378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1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6216" y="583752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EQ: Review of sources of bias?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516607" y="29706"/>
            <a:ext cx="30163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Topic: EST Preparation</a:t>
            </a:r>
            <a:endParaRPr lang="en-AU" sz="2400" dirty="0">
              <a:latin typeface="Chalkboard"/>
              <a:cs typeface="Chalkboard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434" y="1563746"/>
            <a:ext cx="23930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solidFill>
                  <a:srgbClr val="FF0000"/>
                </a:solidFill>
              </a:rPr>
              <a:t>Whiteboards.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05D927-125A-4E05-BB43-2E6504871BC0}"/>
              </a:ext>
            </a:extLst>
          </p:cNvPr>
          <p:cNvSpPr txBox="1"/>
          <p:nvPr/>
        </p:nvSpPr>
        <p:spPr>
          <a:xfrm>
            <a:off x="2712720" y="1320800"/>
            <a:ext cx="32105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Round 3: 5 marks</a:t>
            </a:r>
          </a:p>
          <a:p>
            <a:endParaRPr lang="en-US" dirty="0"/>
          </a:p>
          <a:p>
            <a:endParaRPr lang="en-A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F80EE4-0693-4560-AAC2-90FDA86BCDEB}"/>
              </a:ext>
            </a:extLst>
          </p:cNvPr>
          <p:cNvSpPr txBox="1"/>
          <p:nvPr/>
        </p:nvSpPr>
        <p:spPr>
          <a:xfrm>
            <a:off x="2712720" y="2086966"/>
            <a:ext cx="874775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Brandy wanted to know which brand of soccer shoe high school soccer players prefer. She decided to ask the girls on her team which brand they liked.</a:t>
            </a:r>
          </a:p>
          <a:p>
            <a:endParaRPr lang="en-US" dirty="0"/>
          </a:p>
          <a:p>
            <a:pPr marL="342900" indent="-342900">
              <a:buAutoNum type="alphaLcParenR"/>
            </a:pPr>
            <a:r>
              <a:rPr lang="en-US" dirty="0"/>
              <a:t>What is the population in this example?</a:t>
            </a:r>
          </a:p>
          <a:p>
            <a:endParaRPr lang="en-US" dirty="0"/>
          </a:p>
          <a:p>
            <a:r>
              <a:rPr lang="en-US" dirty="0"/>
              <a:t>b) If she asked all high school soccer players this question, what is the statistical term we would use to describe the situation?</a:t>
            </a:r>
          </a:p>
          <a:p>
            <a:endParaRPr lang="en-US" dirty="0"/>
          </a:p>
          <a:p>
            <a:r>
              <a:rPr lang="en-US" dirty="0"/>
              <a:t>c) Which group(s) from the population is/are going to be under-represented?</a:t>
            </a:r>
          </a:p>
          <a:p>
            <a:endParaRPr lang="en-US" dirty="0"/>
          </a:p>
          <a:p>
            <a:r>
              <a:rPr lang="en-US" dirty="0"/>
              <a:t>d) What type of bias best describes the error in her sample? Why?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08459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0" y="553404"/>
            <a:ext cx="12192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0" y="1060559"/>
            <a:ext cx="12192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-42791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394461" y="1045417"/>
            <a:ext cx="0" cy="5797441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747413" y="80378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1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6216" y="583752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EQ: Review of sources of bias?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516607" y="29706"/>
            <a:ext cx="30163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Topic: EST Preparation</a:t>
            </a:r>
            <a:endParaRPr lang="en-AU" sz="2400" dirty="0">
              <a:latin typeface="Chalkboard"/>
              <a:cs typeface="Chalkboard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434" y="1563746"/>
            <a:ext cx="23930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solidFill>
                  <a:srgbClr val="FF0000"/>
                </a:solidFill>
              </a:rPr>
              <a:t>Whiteboards.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05D927-125A-4E05-BB43-2E6504871BC0}"/>
              </a:ext>
            </a:extLst>
          </p:cNvPr>
          <p:cNvSpPr txBox="1"/>
          <p:nvPr/>
        </p:nvSpPr>
        <p:spPr>
          <a:xfrm>
            <a:off x="2712720" y="1320800"/>
            <a:ext cx="32105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Round 4: 2 marks</a:t>
            </a:r>
          </a:p>
          <a:p>
            <a:endParaRPr lang="en-US" dirty="0"/>
          </a:p>
          <a:p>
            <a:endParaRPr lang="en-AU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D4ED472-B5F5-49E5-AB13-F13A0E55FD18}"/>
              </a:ext>
            </a:extLst>
          </p:cNvPr>
          <p:cNvSpPr/>
          <p:nvPr/>
        </p:nvSpPr>
        <p:spPr>
          <a:xfrm>
            <a:off x="2550160" y="2238326"/>
            <a:ext cx="9144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A researcher wants to find out what brand of tomato sauce is most popular with people who work full-time. He samples shoppers at a supermarket between 10 A.M. and 2 P.M. Is this a good sample? Explain.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99411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0" y="553404"/>
            <a:ext cx="12192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0" y="1060559"/>
            <a:ext cx="12192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-42791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394461" y="1045417"/>
            <a:ext cx="0" cy="5797441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747413" y="80378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1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6216" y="583752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EQ: Review of sources of bias?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516607" y="29706"/>
            <a:ext cx="30163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Topic: EST Preparation</a:t>
            </a:r>
            <a:endParaRPr lang="en-AU" sz="2400" dirty="0">
              <a:latin typeface="Chalkboard"/>
              <a:cs typeface="Chalkboar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59988BC-D0C2-4D98-A4A5-F684FDAA5A14}"/>
              </a:ext>
            </a:extLst>
          </p:cNvPr>
          <p:cNvSpPr txBox="1"/>
          <p:nvPr/>
        </p:nvSpPr>
        <p:spPr>
          <a:xfrm>
            <a:off x="2682239" y="1219200"/>
            <a:ext cx="7498077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Solutions:</a:t>
            </a:r>
          </a:p>
          <a:p>
            <a:endParaRPr lang="en-US" dirty="0"/>
          </a:p>
          <a:p>
            <a:r>
              <a:rPr lang="en-US" b="1" dirty="0"/>
              <a:t>Round 1:</a:t>
            </a:r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dirty="0"/>
          </a:p>
          <a:p>
            <a:r>
              <a:rPr lang="en-US" b="1" dirty="0"/>
              <a:t>Round 2: </a:t>
            </a:r>
            <a:r>
              <a:rPr lang="en-US" dirty="0"/>
              <a:t>teacher to discuss</a:t>
            </a:r>
          </a:p>
          <a:p>
            <a:endParaRPr lang="en-US" dirty="0"/>
          </a:p>
          <a:p>
            <a:r>
              <a:rPr lang="en-US" b="1" dirty="0"/>
              <a:t>Round 3:  </a:t>
            </a:r>
            <a:r>
              <a:rPr lang="en-US" dirty="0"/>
              <a:t>Girl high school soccer players; census; Male soccer players; convenience biased (only asked those she would have contact with easily/ no males</a:t>
            </a:r>
          </a:p>
          <a:p>
            <a:endParaRPr lang="en-US" dirty="0"/>
          </a:p>
          <a:p>
            <a:r>
              <a:rPr lang="en-US" b="1" dirty="0"/>
              <a:t>Round 4: </a:t>
            </a:r>
            <a:r>
              <a:rPr lang="en-US" dirty="0"/>
              <a:t>teacher to discuss</a:t>
            </a:r>
          </a:p>
          <a:p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951BF56-FA6B-4AC7-BED1-3E02E1F82564}"/>
              </a:ext>
            </a:extLst>
          </p:cNvPr>
          <p:cNvSpPr txBox="1"/>
          <p:nvPr/>
        </p:nvSpPr>
        <p:spPr>
          <a:xfrm>
            <a:off x="1434" y="1563746"/>
            <a:ext cx="23930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solidFill>
                  <a:srgbClr val="FF0000"/>
                </a:solidFill>
              </a:rPr>
              <a:t>Whiteboards.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2B6C8AE-281F-4C30-B0E1-089E31865A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5133" y="2086966"/>
            <a:ext cx="6016308" cy="1459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137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0" y="553404"/>
            <a:ext cx="12192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0" y="1060559"/>
            <a:ext cx="12192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-42791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394461" y="1045417"/>
            <a:ext cx="0" cy="5797441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747413" y="80378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1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6216" y="583752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EQ: Types of samples?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516607" y="29706"/>
            <a:ext cx="30163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Topic: EST Preparation</a:t>
            </a:r>
            <a:endParaRPr lang="en-AU" sz="2400" dirty="0">
              <a:latin typeface="Chalkboard"/>
              <a:cs typeface="Chalkboard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434" y="1563746"/>
            <a:ext cx="2393027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solidFill>
                  <a:srgbClr val="FF0000"/>
                </a:solidFill>
              </a:rPr>
              <a:t>Summary time. </a:t>
            </a:r>
          </a:p>
          <a:p>
            <a:r>
              <a:rPr lang="en-AU" sz="2800" b="1" dirty="0"/>
              <a:t>-</a:t>
            </a:r>
            <a:r>
              <a:rPr lang="en-AU" b="1" dirty="0">
                <a:highlight>
                  <a:srgbClr val="FFFF00"/>
                </a:highlight>
              </a:rPr>
              <a:t>10 mins </a:t>
            </a:r>
            <a:r>
              <a:rPr lang="en-AU" b="1" dirty="0"/>
              <a:t>of lesson you will need to add in any examples/facts/hints you might need to answer similar questions</a:t>
            </a:r>
          </a:p>
        </p:txBody>
      </p:sp>
    </p:spTree>
    <p:extLst>
      <p:ext uri="{BB962C8B-B14F-4D97-AF65-F5344CB8AC3E}">
        <p14:creationId xmlns:p14="http://schemas.microsoft.com/office/powerpoint/2010/main" val="3093401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577</Words>
  <Application>Microsoft Office PowerPoint</Application>
  <PresentationFormat>Widescreen</PresentationFormat>
  <Paragraphs>105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Chalkboard</vt:lpstr>
      <vt:lpstr>Office Theme</vt:lpstr>
      <vt:lpstr>Topic: EST Preparation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EST Preparation</dc:title>
  <dc:creator>Sarah James</dc:creator>
  <cp:lastModifiedBy>Sarah James</cp:lastModifiedBy>
  <cp:revision>5</cp:revision>
  <dcterms:created xsi:type="dcterms:W3CDTF">2020-06-02T13:34:06Z</dcterms:created>
  <dcterms:modified xsi:type="dcterms:W3CDTF">2020-06-02T14:32:57Z</dcterms:modified>
</cp:coreProperties>
</file>
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5" d="100"/>
          <a:sy n="65" d="100"/>
        </p:scale>
        <p:origin x="0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9F5DAB-584B-4E62-8615-B97C9862FDE7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6AA3B-E861-48D6-A758-EC57E39518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038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531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A733-90EB-429F-9967-F87662286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F6232-A55A-4DA2-9A2A-8A462837C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B60F5-6482-4E41-B270-8459061E1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C13B-CBAA-476C-BBDF-D390D72DF9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341C2-E875-404A-B6A8-21BCC31BC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53D10-4D51-4E50-B434-AF6ACCF4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94508-3785-42B8-AF3C-247D0A81DF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6102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FA4A8-F83B-49E5-B8E5-B736F2EE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AF126-CFA4-49E1-9713-E72C82649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3054E-E31E-4472-9A20-CC074F6E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C13B-CBAA-476C-BBDF-D390D72DF9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F5359-0302-40D9-9080-AFE05255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8EC2E-8D7B-4453-92B6-6DED7CC90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94508-3785-42B8-AF3C-247D0A81DF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9366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389C-09CF-41F1-88ED-FDCA3770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907C0-7846-4008-93FC-E05DE551A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44E38-82D9-4B0F-B5D5-E666D3629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C13B-CBAA-476C-BBDF-D390D72DF9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9BB49-C5EF-487B-866F-8884D81A8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4B0D3-FA42-4875-A116-E7DD5CF2A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94508-3785-42B8-AF3C-247D0A81DF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3388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C5170-D4AA-4353-994F-502E83B2B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3CF4C-7BF9-4245-AF3A-6450790AE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64883-7E47-481D-8B3B-5DA01953C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0A179-3C9A-4F43-88DE-D5B64D61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C13B-CBAA-476C-BBDF-D390D72DF9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A63B3-BD05-4F0E-A87B-F4966A4B3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D5893-E51F-400A-819D-F0BDE8EB2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94508-3785-42B8-AF3C-247D0A81DF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7820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3E94-C7B1-4BC6-AB48-8EDF68211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320BD-5796-45CD-A63B-16F174F50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74C73-3D15-4B60-B86F-1C7D28DFB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144F46-262D-4245-AA7D-884D1291D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DB3FC7-3C19-428D-B10F-74B4F8F02F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A7C12-D753-48C3-8D46-B43F3B90C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C13B-CBAA-476C-BBDF-D390D72DF9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1E2BF-0857-4F76-B0DC-6349045E4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D64CBD-DBB8-4AAD-90CD-83B3A163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94508-3785-42B8-AF3C-247D0A81DF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817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97455-3832-4364-9B9F-27CC54CDD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F12AA0-392C-4728-B357-D6FF654EE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C13B-CBAA-476C-BBDF-D390D72DF9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D5E543-07C8-49A2-9C31-F559C773A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F0C128-A4ED-44BA-B928-AB01831DB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94508-3785-42B8-AF3C-247D0A81DF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4163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2CDF40-A3CF-40CA-8F55-EED476179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C13B-CBAA-476C-BBDF-D390D72DF9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01ABB4-13C2-4787-BB6D-E83DD00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5A60D-43B7-4111-8AF4-FD0DA1B0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94508-3785-42B8-AF3C-247D0A81DF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225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D471-04D5-4CA6-93AD-DD70EAF2D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84B2C-6F1D-4EEC-9E31-F5207B865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1D288-4E36-49B5-A1EC-7B16CC3AF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433DF-CF5C-4F6B-976D-A32D832A7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C13B-CBAA-476C-BBDF-D390D72DF9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223DA-2F5C-4A77-84DD-1CA48602B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9F6E1-69F5-44F6-8A3A-D4F5526E5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94508-3785-42B8-AF3C-247D0A81DF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3223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E679E-5A24-4398-9A49-2E0F85AC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17AA0D-2E56-4A55-9064-E88482C13C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FD77C-C2A8-4AAF-9BBC-497E97E8C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902B8-2B4E-4149-BE1E-80EA6132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C13B-CBAA-476C-BBDF-D390D72DF9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B80D5-44F1-4F10-9BF7-BFE1577B1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FD77E-E518-4B64-8A11-2B95C8C41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94508-3785-42B8-AF3C-247D0A81DF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3868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937DB-579F-4AE6-A2E4-E3384270B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12877-A11A-45CB-8562-90CF5583E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11918-665E-4899-BC50-1CEBEFA6E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C13B-CBAA-476C-BBDF-D390D72DF9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A99E6-9E56-4A91-8116-3D18E0B91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B3AA8-91A0-4956-9D86-970350A3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94508-3785-42B8-AF3C-247D0A81DF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6814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CFF17F-E0B7-4939-ABF6-3433338758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0F22D-A985-469A-A713-A8C368F12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04F2B-B774-43A5-9A0E-B4AE78437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5C13B-CBAA-476C-BBDF-D390D72DF9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50C4-024C-4F50-8C00-823FB5E5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0556B-CFBF-452E-9485-7DEF9AFAC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94508-3785-42B8-AF3C-247D0A81DF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4822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3318D-760B-4DEC-B5F1-CF8BFCAA3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DBCA5-AD05-451F-939B-3E8045BCC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87787-305B-4D1F-903D-74E2F2369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5C13B-CBAA-476C-BBDF-D390D72DF955}" type="datetimeFigureOut">
              <a:rPr lang="en-AU" smtClean="0"/>
              <a:t>2/06/2020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2B6ED-E360-433C-ACF9-34ABFD4C9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D3852-1B42-4A19-8D66-62148CE43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94508-3785-42B8-AF3C-247D0A81DF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606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B73E-F45F-470B-B717-57F5A8A2F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9520" y="126683"/>
            <a:ext cx="9144000" cy="838517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EST Preparation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AB92A-BB20-4C27-87BF-1FD231FF0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6960" y="965200"/>
            <a:ext cx="9144000" cy="665162"/>
          </a:xfrm>
        </p:spPr>
        <p:txBody>
          <a:bodyPr>
            <a:normAutofit/>
          </a:bodyPr>
          <a:lstStyle/>
          <a:p>
            <a:r>
              <a:rPr lang="en-US" dirty="0"/>
              <a:t>EQ: Census or Sample?</a:t>
            </a:r>
            <a:endParaRPr lang="en-AU" dirty="0"/>
          </a:p>
          <a:p>
            <a:endParaRPr lang="en-AU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208726-57DD-4BBC-8198-43A510F21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909593"/>
              </p:ext>
            </p:extLst>
          </p:nvPr>
        </p:nvGraphicFramePr>
        <p:xfrm>
          <a:off x="211721" y="5244597"/>
          <a:ext cx="10515600" cy="1039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17496360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AU" sz="1100" dirty="0">
                          <a:effectLst/>
                        </a:rPr>
                        <a:t>Simple survey procedure</a:t>
                      </a: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identify the target population to be surveyed</a:t>
                      </a:r>
                      <a:endParaRPr lang="en-AU" sz="1100" dirty="0">
                        <a:effectLst/>
                      </a:endParaRP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</a:rPr>
                        <a:t>investigate questionnaire design principles; for example, simple language, unambiguous questions, consideration of number of choices, issues of privacy and ethics, freedom from bias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935" marR="114935" marT="0" marB="0"/>
                </a:tc>
                <a:extLst>
                  <a:ext uri="{0D108BD9-81ED-4DB2-BD59-A6C34878D82A}">
                    <a16:rowId xmlns:a16="http://schemas.microsoft.com/office/drawing/2014/main" val="270961082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C8A6488-DC17-4575-8F70-CF7DE301029D}"/>
              </a:ext>
            </a:extLst>
          </p:cNvPr>
          <p:cNvSpPr txBox="1"/>
          <p:nvPr/>
        </p:nvSpPr>
        <p:spPr>
          <a:xfrm>
            <a:off x="9763760" y="434259"/>
            <a:ext cx="1778000" cy="258532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Get your EST tick list. Always have this with you . You will be responsible for filling in notes that you may need for your notes page</a:t>
            </a:r>
            <a:endParaRPr lang="en-AU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D87B030-9861-4294-97B5-471260B7F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753390"/>
              </p:ext>
            </p:extLst>
          </p:nvPr>
        </p:nvGraphicFramePr>
        <p:xfrm>
          <a:off x="137160" y="3161067"/>
          <a:ext cx="10515600" cy="19328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6164872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AU" sz="1100" dirty="0">
                          <a:effectLst/>
                        </a:rPr>
                        <a:t>Census and Surveys</a:t>
                      </a: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</a:rPr>
                        <a:t>investigate the procedure for conducting a census</a:t>
                      </a: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</a:rPr>
                        <a:t>investigate the advantages and disadvantages of conducting a census</a:t>
                      </a: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understand the purpose of sampling to provide an estimate of population values when a census is not used</a:t>
                      </a: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investigate the different kinds of samples, for example, systematic samples, self-selected samples, simple random samples</a:t>
                      </a:r>
                      <a:endParaRPr lang="en-AU" sz="1100" dirty="0">
                        <a:effectLst/>
                      </a:endParaRPr>
                    </a:p>
                    <a:p>
                      <a:pPr marL="1143000" lvl="2" indent="-2286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Font typeface="+mj-lt"/>
                        <a:buAutoNum type="arabicPeriod"/>
                      </a:pPr>
                      <a:r>
                        <a:rPr lang="en-AU" sz="1100" dirty="0">
                          <a:effectLst/>
                          <a:highlight>
                            <a:srgbClr val="FFFF00"/>
                          </a:highlight>
                        </a:rPr>
                        <a:t>recognise the advantages and disadvantages of these kinds of samples; for example, comparing simple random samples with self-selected samples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935" marR="114935" marT="0" marB="0"/>
                </a:tc>
                <a:extLst>
                  <a:ext uri="{0D108BD9-81ED-4DB2-BD59-A6C34878D82A}">
                    <a16:rowId xmlns:a16="http://schemas.microsoft.com/office/drawing/2014/main" val="3445285101"/>
                  </a:ext>
                </a:extLst>
              </a:tr>
            </a:tbl>
          </a:graphicData>
        </a:graphic>
      </p:graphicFrame>
      <p:sp>
        <p:nvSpPr>
          <p:cNvPr id="11" name="Arrow: Left 10">
            <a:extLst>
              <a:ext uri="{FF2B5EF4-FFF2-40B4-BE49-F238E27FC236}">
                <a16:creationId xmlns:a16="http://schemas.microsoft.com/office/drawing/2014/main" id="{358A0259-DF03-4FC1-99B6-7AB429AA6D62}"/>
              </a:ext>
            </a:extLst>
          </p:cNvPr>
          <p:cNvSpPr/>
          <p:nvPr/>
        </p:nvSpPr>
        <p:spPr>
          <a:xfrm>
            <a:off x="7531510" y="4149213"/>
            <a:ext cx="1484671" cy="7636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EA618938-B02D-4F64-8737-189F817D8289}"/>
              </a:ext>
            </a:extLst>
          </p:cNvPr>
          <p:cNvSpPr/>
          <p:nvPr/>
        </p:nvSpPr>
        <p:spPr>
          <a:xfrm>
            <a:off x="4135120" y="5546030"/>
            <a:ext cx="1484671" cy="7636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736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Census or Sample?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019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EST Preparation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34" y="1563746"/>
            <a:ext cx="239302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Gallery Walk. </a:t>
            </a:r>
          </a:p>
          <a:p>
            <a:r>
              <a:rPr lang="en-AU" sz="2800" b="1" dirty="0"/>
              <a:t>-</a:t>
            </a:r>
            <a:r>
              <a:rPr lang="en-AU" b="1" dirty="0"/>
              <a:t>Work in pairs</a:t>
            </a:r>
          </a:p>
          <a:p>
            <a:r>
              <a:rPr lang="en-AU" b="1" dirty="0"/>
              <a:t>- Be prepared to share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6CC9B-3683-42AA-89E9-708EA145D949}"/>
              </a:ext>
            </a:extLst>
          </p:cNvPr>
          <p:cNvSpPr txBox="1"/>
          <p:nvPr/>
        </p:nvSpPr>
        <p:spPr>
          <a:xfrm>
            <a:off x="2526894" y="1924664"/>
            <a:ext cx="96636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Work through the 2 x A3 worksheets on “Census or Sample?” (25 mins)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2. Hang up your worksheets for your peers to view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3. Walk through the worksheets and use your EST tick list to add notes/hints/examples  (20 mins)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61916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232</Words>
  <Application>Microsoft Office PowerPoint</Application>
  <PresentationFormat>Widescreen</PresentationFormat>
  <Paragraphs>27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Chalkboard</vt:lpstr>
      <vt:lpstr>Office Theme</vt:lpstr>
      <vt:lpstr>Topic: EST Preparation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4</cp:revision>
  <dcterms:created xsi:type="dcterms:W3CDTF">2020-06-02T12:33:47Z</dcterms:created>
  <dcterms:modified xsi:type="dcterms:W3CDTF">2020-06-02T13:31:23Z</dcterms:modified>
</cp:coreProperties>
</file>
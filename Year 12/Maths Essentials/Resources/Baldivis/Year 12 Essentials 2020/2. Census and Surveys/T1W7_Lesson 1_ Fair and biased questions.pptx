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6" r:id="rId3"/>
    <p:sldId id="264" r:id="rId4"/>
    <p:sldId id="259" r:id="rId5"/>
    <p:sldId id="265" r:id="rId6"/>
    <p:sldId id="258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1D4577D-6683-466D-9EE5-DF407805FBDE}" v="1" dt="2020-03-16T03:09:31.7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h James" userId="e5e3e68366f0feb3" providerId="LiveId" clId="{D1D4577D-6683-466D-9EE5-DF407805FBDE}"/>
    <pc:docChg chg="custSel addSld delSld modSld">
      <pc:chgData name="Sarah James" userId="e5e3e68366f0feb3" providerId="LiveId" clId="{D1D4577D-6683-466D-9EE5-DF407805FBDE}" dt="2020-03-16T03:09:38.993" v="3" actId="478"/>
      <pc:docMkLst>
        <pc:docMk/>
      </pc:docMkLst>
      <pc:sldChg chg="del">
        <pc:chgData name="Sarah James" userId="e5e3e68366f0feb3" providerId="LiveId" clId="{D1D4577D-6683-466D-9EE5-DF407805FBDE}" dt="2020-03-16T00:53:38.161" v="0" actId="47"/>
        <pc:sldMkLst>
          <pc:docMk/>
          <pc:sldMk cId="2604572079" sldId="256"/>
        </pc:sldMkLst>
      </pc:sldChg>
      <pc:sldChg chg="delSp add mod">
        <pc:chgData name="Sarah James" userId="e5e3e68366f0feb3" providerId="LiveId" clId="{D1D4577D-6683-466D-9EE5-DF407805FBDE}" dt="2020-03-16T03:09:38.993" v="3" actId="478"/>
        <pc:sldMkLst>
          <pc:docMk/>
          <pc:sldMk cId="1480907927" sldId="266"/>
        </pc:sldMkLst>
        <pc:spChg chg="del">
          <ac:chgData name="Sarah James" userId="e5e3e68366f0feb3" providerId="LiveId" clId="{D1D4577D-6683-466D-9EE5-DF407805FBDE}" dt="2020-03-16T03:09:35.990" v="2" actId="478"/>
          <ac:spMkLst>
            <pc:docMk/>
            <pc:sldMk cId="1480907927" sldId="266"/>
            <ac:spMk id="2" creationId="{8E70EA42-CA18-4751-A5A1-0BAEA1C7CFD5}"/>
          </ac:spMkLst>
        </pc:spChg>
        <pc:spChg chg="del">
          <ac:chgData name="Sarah James" userId="e5e3e68366f0feb3" providerId="LiveId" clId="{D1D4577D-6683-466D-9EE5-DF407805FBDE}" dt="2020-03-16T03:09:38.993" v="3" actId="478"/>
          <ac:spMkLst>
            <pc:docMk/>
            <pc:sldMk cId="1480907927" sldId="266"/>
            <ac:spMk id="3" creationId="{CD9B83C3-6348-4B01-8536-B1323B42DE2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382AD-7640-4A47-95CD-70E968E3B2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D3AAE4-CE5C-42CA-8FB1-3B459E1C86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36BEA6-F710-4472-A49F-4FF0EE664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9EE09-A504-4FD1-9AF6-57A28E7095E1}" type="datetimeFigureOut">
              <a:rPr lang="en-AU" smtClean="0"/>
              <a:t>16/03/2020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C2F557-45AB-46FA-ADBF-0384155B5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B697D7-62EC-4360-A8FE-6BCAEE255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731A6-D0DE-414E-BE5C-574C120879E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98191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8B03A-B1D1-4485-908A-796B76651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93660F-C4A0-4EFB-BC4C-208C805A93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B678D9-06A7-4B96-B4EF-D3B4577C2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9EE09-A504-4FD1-9AF6-57A28E7095E1}" type="datetimeFigureOut">
              <a:rPr lang="en-AU" smtClean="0"/>
              <a:t>16/03/2020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19A100-3D13-4E5E-976B-4E6D58A2E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5E6D03-EBE9-4FAB-9D5C-862CD0FBE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731A6-D0DE-414E-BE5C-574C120879E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53550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AABBB-4A9C-4912-A9AE-1A5FFA78B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C682C5-3929-4986-ABEE-26C645AF61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F866B6-122D-4B55-9AD8-78929572F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9EE09-A504-4FD1-9AF6-57A28E7095E1}" type="datetimeFigureOut">
              <a:rPr lang="en-AU" smtClean="0"/>
              <a:t>16/03/2020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4CA43D-745F-4030-AEF6-EE3D497AD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8221DE-1725-443E-ABE3-F88709DCC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731A6-D0DE-414E-BE5C-574C120879E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09197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B4110-9FF5-4D04-9AF0-52FBCE040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E576A-EDF3-42D7-84A3-6F80874618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69F591-8868-46F3-82C5-24AF344BFE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F40F7B-3107-4DBF-BE61-84B300698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9EE09-A504-4FD1-9AF6-57A28E7095E1}" type="datetimeFigureOut">
              <a:rPr lang="en-AU" smtClean="0"/>
              <a:t>16/03/2020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5B6BC4-2980-4C45-B9E2-CCE27E9AB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AD2BAB-1C14-43B2-93D0-1CBB11681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731A6-D0DE-414E-BE5C-574C120879E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93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205F6-F681-43E6-8512-845519767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A21BD6-6467-4620-8375-5A30EC107F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5E1E39-4AAF-4397-B7FA-660697FA65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59DF37-70F4-4180-BA6B-8098F1FE49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9A3FE9-CE0C-4DD1-BE30-E361A43B36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325A2E-A6E6-4D9A-9943-EC4B25855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9EE09-A504-4FD1-9AF6-57A28E7095E1}" type="datetimeFigureOut">
              <a:rPr lang="en-AU" smtClean="0"/>
              <a:t>16/03/2020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135F56-10DB-4E05-901F-D81AFF9BF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7F55CE-AABC-4EA2-81D1-558DB71C9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731A6-D0DE-414E-BE5C-574C120879E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48803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85E45-97BC-4768-96F7-F5FAFDD6A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AEB299-CE04-4C3C-83E4-DC4F995FB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9EE09-A504-4FD1-9AF6-57A28E7095E1}" type="datetimeFigureOut">
              <a:rPr lang="en-AU" smtClean="0"/>
              <a:t>16/03/2020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238432-F5D6-4F19-9127-5589215AE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73A62F-40E2-4D11-9C8D-E5C9A0FE4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731A6-D0DE-414E-BE5C-574C120879E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30877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E10316-7BE9-4157-860E-37DEBCBAF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9EE09-A504-4FD1-9AF6-57A28E7095E1}" type="datetimeFigureOut">
              <a:rPr lang="en-AU" smtClean="0"/>
              <a:t>16/03/2020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888D94-626E-4D49-8F07-13B28D12D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D6B67A-C1BE-4680-8E1F-B84117C68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731A6-D0DE-414E-BE5C-574C120879E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414775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7D2FB-2C22-4675-A64C-126616167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0931FE-973A-4A32-9BB3-4A2FD98635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69BC8C-3EF2-4836-AEEA-9C3E3B2545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268BD7-2895-46B0-A387-DD47E3B28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9EE09-A504-4FD1-9AF6-57A28E7095E1}" type="datetimeFigureOut">
              <a:rPr lang="en-AU" smtClean="0"/>
              <a:t>16/03/2020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26E7CB-909E-474D-9D32-A2F2F030C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141C03-5C47-4067-BACE-CBF75F1A4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731A6-D0DE-414E-BE5C-574C120879E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84499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6B524-406F-41B6-9C5A-EDCB19E0F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C68EB0-9518-47B2-BDB9-5F40C59E5E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25D47A-417D-4D4F-972A-0ADE1A9A1C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A7087E-F114-43B4-9023-630623894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9EE09-A504-4FD1-9AF6-57A28E7095E1}" type="datetimeFigureOut">
              <a:rPr lang="en-AU" smtClean="0"/>
              <a:t>16/03/2020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1C7430-ADE5-40FA-A01D-7E9DB069F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C66FD8-30C8-4849-869D-9CE6FADD2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731A6-D0DE-414E-BE5C-574C120879E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44481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4FA8E-1A3B-42DF-A6E3-AC4F56C1E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43D567-3CB3-4287-A826-66E9CC197B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B61EC7-AECC-4AFE-809F-44399520B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9EE09-A504-4FD1-9AF6-57A28E7095E1}" type="datetimeFigureOut">
              <a:rPr lang="en-AU" smtClean="0"/>
              <a:t>16/03/2020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FAB2C3-A2C6-45FB-B815-C4958CFF4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4B32EA-1716-4329-A825-DFA278BFC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731A6-D0DE-414E-BE5C-574C120879E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243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9518C1-7CFF-4337-9D59-D0C4DE200C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7FC1AB-C243-4C78-A71B-46BC2AD83F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9110C7-26E7-4695-8B1A-04A864A80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9EE09-A504-4FD1-9AF6-57A28E7095E1}" type="datetimeFigureOut">
              <a:rPr lang="en-AU" smtClean="0"/>
              <a:t>16/03/2020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08551A-8FC9-41E9-A099-28FB13B87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1F24CB-D235-40C3-AE52-45F3E9D38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731A6-D0DE-414E-BE5C-574C120879E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5418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428062-0BB3-4EC7-9127-322CCCAA9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54F6E7-CEA9-4A12-98C0-8E7F3D917E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4CE5D1-CBD6-413A-A33F-A5901F37B5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F9EE09-A504-4FD1-9AF6-57A28E7095E1}" type="datetimeFigureOut">
              <a:rPr lang="en-AU" smtClean="0"/>
              <a:t>16/03/2020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7CD7D5-7F84-4003-A747-FD181FAEEB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B0C63C-DA3C-45E4-AA5F-1910114467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C731A6-D0DE-414E-BE5C-574C120879E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30824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8C0CBB0-C4DD-4708-8725-012CD10D98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1044" y="336961"/>
            <a:ext cx="10223437" cy="6260100"/>
          </a:xfrm>
        </p:spPr>
        <p:txBody>
          <a:bodyPr>
            <a:normAutofit fontScale="92500" lnSpcReduction="10000"/>
          </a:bodyPr>
          <a:lstStyle/>
          <a:p>
            <a:r>
              <a:rPr lang="en-AU" b="1" dirty="0"/>
              <a:t>A recent study found that many Americans are lost when it comes to tech-related terms.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dirty="0"/>
              <a:t>27% identified "gigabyte" as an insect commonly found in South America.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dirty="0"/>
              <a:t>42% said they believed a "motherboard" was "the deck of a cruise ship."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dirty="0"/>
              <a:t>23% thought an "MP3" was a "Star Wars" robot.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dirty="0"/>
              <a:t>18% identified "Blu-ray" as a marine animal.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dirty="0"/>
              <a:t>11% thought HTML was a sexually transmitted disease.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dirty="0"/>
              <a:t>15% said they believed "software" is comfortable clothing.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dirty="0"/>
              <a:t>12% said "USB" is the acronym for a European country.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dirty="0"/>
              <a:t>Finally 61% of the respondents said it is important to have a good knowledge of technology in this day and age.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AU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AU" dirty="0"/>
          </a:p>
          <a:p>
            <a:pPr algn="l"/>
            <a:r>
              <a:rPr lang="en-AU" dirty="0"/>
              <a:t>Meanwhile  - In another survey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dirty="0"/>
              <a:t>75% Americans "believe that most polls you hear about ... are biased toward a particular point of view," while only 19 percent think they are unbiased.</a:t>
            </a:r>
          </a:p>
        </p:txBody>
      </p:sp>
    </p:spTree>
    <p:extLst>
      <p:ext uri="{BB962C8B-B14F-4D97-AF65-F5344CB8AC3E}">
        <p14:creationId xmlns:p14="http://schemas.microsoft.com/office/powerpoint/2010/main" val="1771221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09079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3170C-39E2-44E7-B971-0FEC06D95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1CBA91-9258-481E-85B0-A5019D65C3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Today’s lesson is on sample question bias and how to avoid it.</a:t>
            </a:r>
          </a:p>
        </p:txBody>
      </p:sp>
    </p:spTree>
    <p:extLst>
      <p:ext uri="{BB962C8B-B14F-4D97-AF65-F5344CB8AC3E}">
        <p14:creationId xmlns:p14="http://schemas.microsoft.com/office/powerpoint/2010/main" val="22790995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609600" y="458860"/>
            <a:ext cx="109728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609600" y="878322"/>
            <a:ext cx="109728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6021" y="-66095"/>
            <a:ext cx="6912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484357" y="866492"/>
            <a:ext cx="19448" cy="687115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178834" y="-50861"/>
            <a:ext cx="19010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89264" y="-66095"/>
            <a:ext cx="3685304" cy="5355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80" dirty="0"/>
              <a:t>Topic: Census &amp;Surveys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9978" y="451682"/>
            <a:ext cx="97653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design fair questions for a survey.</a:t>
            </a:r>
          </a:p>
        </p:txBody>
      </p:sp>
      <p:sp>
        <p:nvSpPr>
          <p:cNvPr id="8" name="Rectangle 7"/>
          <p:cNvSpPr/>
          <p:nvPr/>
        </p:nvSpPr>
        <p:spPr>
          <a:xfrm>
            <a:off x="2612243" y="866491"/>
            <a:ext cx="8782817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920" dirty="0"/>
              <a:t>A biased survey results in skewed data because of the design of the survey and its questions. There are many ways that questions can be written in a biased way.</a:t>
            </a:r>
          </a:p>
          <a:p>
            <a:endParaRPr lang="en-AU" sz="1920" dirty="0"/>
          </a:p>
          <a:p>
            <a:r>
              <a:rPr lang="en-AU" sz="1920" b="1" dirty="0"/>
              <a:t>Leading Questions </a:t>
            </a:r>
            <a:r>
              <a:rPr lang="en-AU" sz="1920" dirty="0"/>
              <a:t>will sway your reader to a particular side. </a:t>
            </a:r>
          </a:p>
          <a:p>
            <a:r>
              <a:rPr lang="en-AU" sz="1920" i="1" dirty="0"/>
              <a:t>Example:</a:t>
            </a:r>
            <a:r>
              <a:rPr lang="en-AU" sz="1920" dirty="0"/>
              <a:t> How dumb is (insert politician) when it comes to foreign policy? </a:t>
            </a:r>
          </a:p>
          <a:p>
            <a:endParaRPr lang="en-AU" sz="1920" dirty="0"/>
          </a:p>
          <a:p>
            <a:r>
              <a:rPr lang="en-AU" sz="1920" b="1" dirty="0"/>
              <a:t>Loaded Questions </a:t>
            </a:r>
            <a:r>
              <a:rPr lang="en-AU" sz="1920" dirty="0"/>
              <a:t>force people into answering the question in a particular way. </a:t>
            </a:r>
          </a:p>
          <a:p>
            <a:r>
              <a:rPr lang="en-AU" sz="1920" i="1" dirty="0"/>
              <a:t>Example:</a:t>
            </a:r>
            <a:r>
              <a:rPr lang="en-AU" sz="1920" dirty="0"/>
              <a:t> Where do you like to party? Well, what if the respondents don’t like to party?</a:t>
            </a:r>
          </a:p>
          <a:p>
            <a:endParaRPr lang="en-AU" sz="1920" dirty="0"/>
          </a:p>
          <a:p>
            <a:r>
              <a:rPr lang="en-AU" sz="1920" b="1" dirty="0"/>
              <a:t>Double-</a:t>
            </a:r>
            <a:r>
              <a:rPr lang="en-AU" sz="1920" b="1" dirty="0" err="1"/>
              <a:t>Barreled</a:t>
            </a:r>
            <a:r>
              <a:rPr lang="en-AU" sz="1920" b="1" dirty="0"/>
              <a:t> Questions </a:t>
            </a:r>
            <a:r>
              <a:rPr lang="en-AU" sz="1920" dirty="0"/>
              <a:t>forces your respondents to answer two questions at once.</a:t>
            </a:r>
          </a:p>
          <a:p>
            <a:r>
              <a:rPr lang="en-AU" sz="1920" i="1" dirty="0"/>
              <a:t>Example:</a:t>
            </a:r>
            <a:r>
              <a:rPr lang="en-AU" sz="1920" dirty="0"/>
              <a:t> How happy or unhappy are you with the rate of current school board funding and the common-core curriculum? </a:t>
            </a:r>
          </a:p>
          <a:p>
            <a:endParaRPr lang="en-AU" sz="1920" b="1" dirty="0"/>
          </a:p>
          <a:p>
            <a:r>
              <a:rPr lang="en-AU" sz="1920" b="1" dirty="0"/>
              <a:t>Absolute questions </a:t>
            </a:r>
            <a:r>
              <a:rPr lang="en-AU" sz="1920" dirty="0"/>
              <a:t>usually only have the option of a yes or no answer</a:t>
            </a:r>
          </a:p>
          <a:p>
            <a:r>
              <a:rPr lang="en-AU" sz="1920" i="1" dirty="0"/>
              <a:t>Example </a:t>
            </a:r>
            <a:r>
              <a:rPr lang="en-AU" sz="1920" dirty="0"/>
              <a:t>: Do you always shower before bed?</a:t>
            </a:r>
          </a:p>
          <a:p>
            <a:endParaRPr lang="en-AU" sz="1920" dirty="0"/>
          </a:p>
          <a:p>
            <a:r>
              <a:rPr lang="en-AU" sz="1920" b="1" dirty="0"/>
              <a:t>Unclear Questions</a:t>
            </a:r>
            <a:endParaRPr lang="en-AU" sz="1920" dirty="0"/>
          </a:p>
          <a:p>
            <a:r>
              <a:rPr lang="en-AU" sz="1920" dirty="0"/>
              <a:t>Tech jargon and acronyms create bias if people don’t understand the jargon.</a:t>
            </a:r>
          </a:p>
          <a:p>
            <a:endParaRPr lang="en-AU" sz="1920" dirty="0"/>
          </a:p>
        </p:txBody>
      </p:sp>
    </p:spTree>
    <p:extLst>
      <p:ext uri="{BB962C8B-B14F-4D97-AF65-F5344CB8AC3E}">
        <p14:creationId xmlns:p14="http://schemas.microsoft.com/office/powerpoint/2010/main" val="23423695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609600" y="458860"/>
            <a:ext cx="109728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609600" y="878322"/>
            <a:ext cx="109728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6021" y="-66095"/>
            <a:ext cx="6912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484357" y="866492"/>
            <a:ext cx="19448" cy="687115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178834" y="-50861"/>
            <a:ext cx="19010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89264" y="-66095"/>
            <a:ext cx="3685304" cy="5355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80" dirty="0"/>
              <a:t>Topic: Census &amp;Surveys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9978" y="451682"/>
            <a:ext cx="97653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design fair questions for a survey.</a:t>
            </a:r>
          </a:p>
        </p:txBody>
      </p:sp>
      <p:sp>
        <p:nvSpPr>
          <p:cNvPr id="8" name="Rectangle 7"/>
          <p:cNvSpPr/>
          <p:nvPr/>
        </p:nvSpPr>
        <p:spPr>
          <a:xfrm>
            <a:off x="2612243" y="866491"/>
            <a:ext cx="8782817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920" dirty="0"/>
              <a:t>A biased survey results in skewed data because of the design of the survey and its questions. There are many ways that questions can be written in a biased way.</a:t>
            </a:r>
          </a:p>
          <a:p>
            <a:endParaRPr lang="en-AU" sz="1920" dirty="0"/>
          </a:p>
          <a:p>
            <a:r>
              <a:rPr lang="en-AU" sz="1920" b="1" dirty="0"/>
              <a:t>Leading Questions </a:t>
            </a:r>
            <a:r>
              <a:rPr lang="en-AU" sz="1920" dirty="0"/>
              <a:t>will sway your reader to a particular side. </a:t>
            </a:r>
          </a:p>
          <a:p>
            <a:r>
              <a:rPr lang="en-AU" sz="1920" i="1" dirty="0"/>
              <a:t>Example:</a:t>
            </a:r>
            <a:r>
              <a:rPr lang="en-AU" sz="1920" dirty="0"/>
              <a:t> How dumb is (insert politician) when it comes to foreign policy? </a:t>
            </a:r>
          </a:p>
          <a:p>
            <a:endParaRPr lang="en-AU" sz="1920" dirty="0"/>
          </a:p>
          <a:p>
            <a:r>
              <a:rPr lang="en-AU" sz="1920" b="1" dirty="0"/>
              <a:t>Loaded Questions </a:t>
            </a:r>
            <a:r>
              <a:rPr lang="en-AU" sz="1920" dirty="0"/>
              <a:t>force people into answering the question in a particular way. </a:t>
            </a:r>
          </a:p>
          <a:p>
            <a:r>
              <a:rPr lang="en-AU" sz="1920" i="1" dirty="0"/>
              <a:t>Example:</a:t>
            </a:r>
            <a:r>
              <a:rPr lang="en-AU" sz="1920" dirty="0"/>
              <a:t> Where do you like to party? Well, what if the respondents don’t like to party?</a:t>
            </a:r>
          </a:p>
          <a:p>
            <a:endParaRPr lang="en-AU" sz="1920" dirty="0"/>
          </a:p>
          <a:p>
            <a:r>
              <a:rPr lang="en-AU" sz="1920" b="1" dirty="0"/>
              <a:t>Double-</a:t>
            </a:r>
            <a:r>
              <a:rPr lang="en-AU" sz="1920" b="1" dirty="0" err="1"/>
              <a:t>Barreled</a:t>
            </a:r>
            <a:r>
              <a:rPr lang="en-AU" sz="1920" b="1" dirty="0"/>
              <a:t> Questions </a:t>
            </a:r>
            <a:r>
              <a:rPr lang="en-AU" sz="1920" dirty="0"/>
              <a:t>forces your respondents to answer two questions at once.</a:t>
            </a:r>
          </a:p>
          <a:p>
            <a:r>
              <a:rPr lang="en-AU" sz="1920" i="1" dirty="0"/>
              <a:t>Example:</a:t>
            </a:r>
            <a:r>
              <a:rPr lang="en-AU" sz="1920" dirty="0"/>
              <a:t> How happy or unhappy are you with the rate of current school board funding and the common-core curriculum? </a:t>
            </a:r>
          </a:p>
          <a:p>
            <a:endParaRPr lang="en-AU" sz="1920" b="1" dirty="0"/>
          </a:p>
          <a:p>
            <a:r>
              <a:rPr lang="en-AU" sz="1920" b="1" dirty="0"/>
              <a:t>Absolute questions </a:t>
            </a:r>
            <a:r>
              <a:rPr lang="en-AU" sz="1920" dirty="0"/>
              <a:t>usually only have the option of a yes or no answer</a:t>
            </a:r>
          </a:p>
          <a:p>
            <a:r>
              <a:rPr lang="en-AU" sz="1920" i="1" dirty="0"/>
              <a:t>Example </a:t>
            </a:r>
            <a:r>
              <a:rPr lang="en-AU" sz="1920" dirty="0"/>
              <a:t>: Do you always shower before bed?</a:t>
            </a:r>
          </a:p>
          <a:p>
            <a:endParaRPr lang="en-AU" sz="1920" dirty="0"/>
          </a:p>
          <a:p>
            <a:r>
              <a:rPr lang="en-AU" sz="1920" b="1" dirty="0"/>
              <a:t>Unclear Questions</a:t>
            </a:r>
            <a:endParaRPr lang="en-AU" sz="1920" dirty="0"/>
          </a:p>
          <a:p>
            <a:r>
              <a:rPr lang="en-AU" sz="1920" dirty="0"/>
              <a:t>Tech jargon and acronyms create bias if people don’t understand the jargon.</a:t>
            </a:r>
          </a:p>
          <a:p>
            <a:endParaRPr lang="en-AU" sz="1920" dirty="0"/>
          </a:p>
        </p:txBody>
      </p:sp>
    </p:spTree>
    <p:extLst>
      <p:ext uri="{BB962C8B-B14F-4D97-AF65-F5344CB8AC3E}">
        <p14:creationId xmlns:p14="http://schemas.microsoft.com/office/powerpoint/2010/main" val="18635536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EC2E43D-059C-405C-BE70-6CF08D398CCB}"/>
              </a:ext>
            </a:extLst>
          </p:cNvPr>
          <p:cNvSpPr txBox="1"/>
          <p:nvPr/>
        </p:nvSpPr>
        <p:spPr>
          <a:xfrm>
            <a:off x="1503445" y="147195"/>
            <a:ext cx="8841851" cy="574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160" b="1" dirty="0"/>
              <a:t>What is wrong with the following survey questions?  How could they be fixed? Discuss with the person next you and be prepared to share your ideas.</a:t>
            </a:r>
          </a:p>
          <a:p>
            <a:endParaRPr lang="en-AU" sz="2160" dirty="0"/>
          </a:p>
          <a:p>
            <a:r>
              <a:rPr lang="en-AU" sz="2160" dirty="0"/>
              <a:t>When asked if people would like to earn more money and if they were vegetarian, most replied “No”.</a:t>
            </a:r>
          </a:p>
          <a:p>
            <a:endParaRPr lang="en-AU" sz="2160" dirty="0"/>
          </a:p>
          <a:p>
            <a:endParaRPr lang="en-AU" sz="2160" dirty="0"/>
          </a:p>
          <a:p>
            <a:endParaRPr lang="en-AU" sz="2160" dirty="0"/>
          </a:p>
          <a:p>
            <a:r>
              <a:rPr lang="en-AU" sz="2160" dirty="0"/>
              <a:t>A survey asked the question.  “Do you support the increasingly disliked and unrespected Prime ministers new policy on education?” </a:t>
            </a:r>
          </a:p>
          <a:p>
            <a:endParaRPr lang="en-AU" sz="2160" dirty="0"/>
          </a:p>
          <a:p>
            <a:endParaRPr lang="en-AU" sz="2160" dirty="0"/>
          </a:p>
          <a:p>
            <a:endParaRPr lang="en-AU" sz="2160" dirty="0"/>
          </a:p>
          <a:p>
            <a:r>
              <a:rPr lang="en-AU" sz="2160" dirty="0"/>
              <a:t>I feel welcomed by staff and other youth at the </a:t>
            </a:r>
            <a:r>
              <a:rPr lang="en-AU" sz="2160" dirty="0" err="1"/>
              <a:t>center</a:t>
            </a:r>
            <a:r>
              <a:rPr lang="en-AU" sz="2160" dirty="0"/>
              <a:t>.        Agree/Disagree</a:t>
            </a:r>
          </a:p>
          <a:p>
            <a:endParaRPr lang="en-AU" sz="2160" dirty="0"/>
          </a:p>
          <a:p>
            <a:endParaRPr lang="en-AU" sz="216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4D66F1-8BF9-4C29-B333-00A8F56D8541}"/>
              </a:ext>
            </a:extLst>
          </p:cNvPr>
          <p:cNvSpPr txBox="1"/>
          <p:nvPr/>
        </p:nvSpPr>
        <p:spPr>
          <a:xfrm>
            <a:off x="2456242" y="2207941"/>
            <a:ext cx="8216219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160" dirty="0">
                <a:highlight>
                  <a:srgbClr val="FFFF00"/>
                </a:highlight>
              </a:rPr>
              <a:t>This is a example of a double barrelled question and needs to be split into 2 questions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EFA412-A1AC-4460-B3B9-3E4BC9261EB1}"/>
              </a:ext>
            </a:extLst>
          </p:cNvPr>
          <p:cNvSpPr txBox="1"/>
          <p:nvPr/>
        </p:nvSpPr>
        <p:spPr>
          <a:xfrm>
            <a:off x="2456242" y="3836758"/>
            <a:ext cx="8216219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160" dirty="0">
                <a:highlight>
                  <a:srgbClr val="FFFF00"/>
                </a:highlight>
              </a:rPr>
              <a:t>This is a example of a leading question with negative adjectives guiding a response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644BCC-08F0-43FD-B765-C97172139B8B}"/>
              </a:ext>
            </a:extLst>
          </p:cNvPr>
          <p:cNvSpPr txBox="1"/>
          <p:nvPr/>
        </p:nvSpPr>
        <p:spPr>
          <a:xfrm>
            <a:off x="2581137" y="5177923"/>
            <a:ext cx="8216219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160" dirty="0">
                <a:highlight>
                  <a:srgbClr val="FFFF00"/>
                </a:highlight>
              </a:rPr>
              <a:t>This is also a double barrelled question.  It should be split into a question about staff and a second question about other youth.</a:t>
            </a:r>
          </a:p>
        </p:txBody>
      </p:sp>
    </p:spTree>
    <p:extLst>
      <p:ext uri="{BB962C8B-B14F-4D97-AF65-F5344CB8AC3E}">
        <p14:creationId xmlns:p14="http://schemas.microsoft.com/office/powerpoint/2010/main" val="4246238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2F0891-65C6-40B0-9F5B-F402D875A5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3980" y="454970"/>
            <a:ext cx="9464040" cy="5721994"/>
          </a:xfrm>
        </p:spPr>
        <p:txBody>
          <a:bodyPr/>
          <a:lstStyle/>
          <a:p>
            <a:pPr marL="0" indent="0">
              <a:buNone/>
            </a:pPr>
            <a:r>
              <a:rPr lang="en-AU" dirty="0"/>
              <a:t>How short was Napoleon?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Where do you prefer to buy </a:t>
            </a:r>
            <a:r>
              <a:rPr lang="en-AU" dirty="0" err="1"/>
              <a:t>softdrink</a:t>
            </a:r>
            <a:r>
              <a:rPr lang="en-AU" dirty="0"/>
              <a:t>?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Do you always eat breakfast? (Yes/No)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Do you own an </a:t>
            </a:r>
            <a:r>
              <a:rPr lang="en-AU" dirty="0" err="1"/>
              <a:t>Ipad</a:t>
            </a:r>
            <a:r>
              <a:rPr lang="en-AU" dirty="0"/>
              <a:t>?</a:t>
            </a:r>
          </a:p>
          <a:p>
            <a:pPr marL="0" indent="0">
              <a:buNone/>
            </a:pP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6461FA-1F1D-476C-BEEA-4C0B305516D4}"/>
              </a:ext>
            </a:extLst>
          </p:cNvPr>
          <p:cNvSpPr txBox="1"/>
          <p:nvPr/>
        </p:nvSpPr>
        <p:spPr>
          <a:xfrm>
            <a:off x="1987891" y="718877"/>
            <a:ext cx="8216219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160" dirty="0">
                <a:highlight>
                  <a:srgbClr val="FFFF00"/>
                </a:highlight>
              </a:rPr>
              <a:t>This is a example of a leading question with the adjective of short used to guide a response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A09787-7F7C-482D-A2ED-17FFCF7058E4}"/>
              </a:ext>
            </a:extLst>
          </p:cNvPr>
          <p:cNvSpPr txBox="1"/>
          <p:nvPr/>
        </p:nvSpPr>
        <p:spPr>
          <a:xfrm>
            <a:off x="2456242" y="2207941"/>
            <a:ext cx="8216219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160" dirty="0">
                <a:highlight>
                  <a:srgbClr val="FFFF00"/>
                </a:highlight>
              </a:rPr>
              <a:t>This is a example of a loaded question.  What if they don’t buy </a:t>
            </a:r>
            <a:r>
              <a:rPr lang="en-AU" sz="2160" dirty="0" err="1">
                <a:highlight>
                  <a:srgbClr val="FFFF00"/>
                </a:highlight>
              </a:rPr>
              <a:t>softdrink</a:t>
            </a:r>
            <a:r>
              <a:rPr lang="en-AU" sz="2160" dirty="0">
                <a:highlight>
                  <a:srgbClr val="FFFF00"/>
                </a:highlight>
              </a:rPr>
              <a:t> at all?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4EEA91-304F-4968-A136-C016ACE3E5C3}"/>
              </a:ext>
            </a:extLst>
          </p:cNvPr>
          <p:cNvSpPr txBox="1"/>
          <p:nvPr/>
        </p:nvSpPr>
        <p:spPr>
          <a:xfrm>
            <a:off x="2277823" y="3595153"/>
            <a:ext cx="8216219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160" dirty="0">
                <a:highlight>
                  <a:srgbClr val="FFFF00"/>
                </a:highlight>
              </a:rPr>
              <a:t>This is a example of an absolute question.  What if they skip breakfast once last month due to illness?  A better question would be “In an average week how many days (from 0 to 7) do you eat breakfast?”.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749813-2214-4928-B9F7-92AACAB7C91B}"/>
              </a:ext>
            </a:extLst>
          </p:cNvPr>
          <p:cNvSpPr txBox="1"/>
          <p:nvPr/>
        </p:nvSpPr>
        <p:spPr>
          <a:xfrm>
            <a:off x="2277823" y="5502123"/>
            <a:ext cx="8216219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160" dirty="0">
                <a:highlight>
                  <a:srgbClr val="FFFF00"/>
                </a:highlight>
              </a:rPr>
              <a:t>This is a jargon based question. “Do you own a Tablet PC (</a:t>
            </a:r>
            <a:r>
              <a:rPr lang="en-AU" sz="2160" dirty="0" err="1">
                <a:highlight>
                  <a:srgbClr val="FFFF00"/>
                </a:highlight>
              </a:rPr>
              <a:t>eg</a:t>
            </a:r>
            <a:r>
              <a:rPr lang="en-AU" sz="2160" dirty="0">
                <a:highlight>
                  <a:srgbClr val="FFFF00"/>
                </a:highlight>
              </a:rPr>
              <a:t> </a:t>
            </a:r>
            <a:r>
              <a:rPr lang="en-AU" sz="2160" dirty="0" err="1">
                <a:highlight>
                  <a:srgbClr val="FFFF00"/>
                </a:highlight>
              </a:rPr>
              <a:t>Ipad</a:t>
            </a:r>
            <a:r>
              <a:rPr lang="en-AU" sz="2160" dirty="0">
                <a:highlight>
                  <a:srgbClr val="FFFF00"/>
                </a:highlight>
              </a:rPr>
              <a:t>, Android tablet)” is better as it asks about all devices and gives examples to help the respondent recognise the terminology.</a:t>
            </a:r>
          </a:p>
        </p:txBody>
      </p:sp>
    </p:spTree>
    <p:extLst>
      <p:ext uri="{BB962C8B-B14F-4D97-AF65-F5344CB8AC3E}">
        <p14:creationId xmlns:p14="http://schemas.microsoft.com/office/powerpoint/2010/main" val="617556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B96A88-BE26-4987-AAC2-72EBC3D12B5C}"/>
              </a:ext>
            </a:extLst>
          </p:cNvPr>
          <p:cNvSpPr txBox="1"/>
          <p:nvPr/>
        </p:nvSpPr>
        <p:spPr>
          <a:xfrm>
            <a:off x="1920984" y="575402"/>
            <a:ext cx="897896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800" dirty="0"/>
              <a:t>Complete the worksheet.  Discuss the results with your neighbour and be prepared to share with the class.</a:t>
            </a:r>
          </a:p>
        </p:txBody>
      </p:sp>
    </p:spTree>
    <p:extLst>
      <p:ext uri="{BB962C8B-B14F-4D97-AF65-F5344CB8AC3E}">
        <p14:creationId xmlns:p14="http://schemas.microsoft.com/office/powerpoint/2010/main" val="3215742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861</Words>
  <Application>Microsoft Office PowerPoint</Application>
  <PresentationFormat>Widescreen</PresentationFormat>
  <Paragraphs>88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Sarah James</dc:creator>
  <cp:lastModifiedBy>Sarah James</cp:lastModifiedBy>
  <cp:revision>1</cp:revision>
  <dcterms:created xsi:type="dcterms:W3CDTF">2020-03-11T02:28:13Z</dcterms:created>
  <dcterms:modified xsi:type="dcterms:W3CDTF">2020-03-16T03:09:40Z</dcterms:modified>
</cp:coreProperties>
</file>
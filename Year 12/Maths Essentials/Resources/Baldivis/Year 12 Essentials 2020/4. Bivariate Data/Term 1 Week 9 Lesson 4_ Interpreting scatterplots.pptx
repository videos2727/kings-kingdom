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50" r:id="rId2"/>
    <p:sldId id="257" r:id="rId3"/>
    <p:sldId id="401" r:id="rId4"/>
    <p:sldId id="402" r:id="rId5"/>
    <p:sldId id="405" r:id="rId6"/>
    <p:sldId id="403" r:id="rId7"/>
    <p:sldId id="404" r:id="rId8"/>
    <p:sldId id="408" r:id="rId9"/>
    <p:sldId id="406" r:id="rId10"/>
    <p:sldId id="407" r:id="rId11"/>
    <p:sldId id="409" r:id="rId12"/>
    <p:sldId id="263" r:id="rId13"/>
    <p:sldId id="410" r:id="rId14"/>
    <p:sldId id="264" r:id="rId15"/>
    <p:sldId id="34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temperature</a:t>
            </a:r>
            <a:r>
              <a:rPr lang="en-US" baseline="0"/>
              <a:t> and Drinks sold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Drinks sold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22</c:v>
                </c:pt>
                <c:pt idx="2">
                  <c:v>24</c:v>
                </c:pt>
                <c:pt idx="3">
                  <c:v>33</c:v>
                </c:pt>
                <c:pt idx="4">
                  <c:v>30</c:v>
                </c:pt>
                <c:pt idx="5">
                  <c:v>28</c:v>
                </c:pt>
                <c:pt idx="6">
                  <c:v>29</c:v>
                </c:pt>
                <c:pt idx="7">
                  <c:v>17</c:v>
                </c:pt>
                <c:pt idx="8">
                  <c:v>23</c:v>
                </c:pt>
                <c:pt idx="9">
                  <c:v>27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160</c:v>
                </c:pt>
                <c:pt idx="1">
                  <c:v>200</c:v>
                </c:pt>
                <c:pt idx="2">
                  <c:v>250</c:v>
                </c:pt>
                <c:pt idx="3">
                  <c:v>450</c:v>
                </c:pt>
                <c:pt idx="4">
                  <c:v>430</c:v>
                </c:pt>
                <c:pt idx="5">
                  <c:v>300</c:v>
                </c:pt>
                <c:pt idx="6">
                  <c:v>360</c:v>
                </c:pt>
                <c:pt idx="7">
                  <c:v>150</c:v>
                </c:pt>
                <c:pt idx="8">
                  <c:v>230</c:v>
                </c:pt>
                <c:pt idx="9">
                  <c:v>250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BED-4537-9519-110683C64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958231872"/>
        <c:axId val="-1995757200"/>
      </c:scatterChart>
      <c:valAx>
        <c:axId val="-1958231872"/>
        <c:scaling>
          <c:orientation val="minMax"/>
          <c:min val="15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65000"/>
                  <a:lumOff val="35000"/>
                  <a:alpha val="2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Daily Temperature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95757200"/>
        <c:crosses val="autoZero"/>
        <c:crossBetween val="midCat"/>
      </c:valAx>
      <c:valAx>
        <c:axId val="-199575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Drink</a:t>
                </a:r>
                <a:r>
                  <a:rPr lang="en-US" baseline="0"/>
                  <a:t>s sold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58231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temperature</a:t>
            </a:r>
            <a:r>
              <a:rPr lang="en-US" baseline="0"/>
              <a:t> and Drinks sold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Drinks sold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22</c:v>
                </c:pt>
                <c:pt idx="2">
                  <c:v>24</c:v>
                </c:pt>
                <c:pt idx="3">
                  <c:v>33</c:v>
                </c:pt>
                <c:pt idx="4">
                  <c:v>30</c:v>
                </c:pt>
                <c:pt idx="5">
                  <c:v>28</c:v>
                </c:pt>
                <c:pt idx="6">
                  <c:v>29</c:v>
                </c:pt>
                <c:pt idx="7">
                  <c:v>17</c:v>
                </c:pt>
                <c:pt idx="8">
                  <c:v>23</c:v>
                </c:pt>
                <c:pt idx="9">
                  <c:v>27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160</c:v>
                </c:pt>
                <c:pt idx="1">
                  <c:v>200</c:v>
                </c:pt>
                <c:pt idx="2">
                  <c:v>250</c:v>
                </c:pt>
                <c:pt idx="3">
                  <c:v>450</c:v>
                </c:pt>
                <c:pt idx="4">
                  <c:v>430</c:v>
                </c:pt>
                <c:pt idx="5">
                  <c:v>300</c:v>
                </c:pt>
                <c:pt idx="6">
                  <c:v>360</c:v>
                </c:pt>
                <c:pt idx="7">
                  <c:v>150</c:v>
                </c:pt>
                <c:pt idx="8">
                  <c:v>230</c:v>
                </c:pt>
                <c:pt idx="9">
                  <c:v>250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FC0-4166-B3C4-9EF7302106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32515856"/>
        <c:axId val="2145866000"/>
      </c:scatterChart>
      <c:valAx>
        <c:axId val="-2132515856"/>
        <c:scaling>
          <c:orientation val="minMax"/>
          <c:min val="15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65000"/>
                  <a:lumOff val="35000"/>
                  <a:alpha val="2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Daily Temperature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5866000"/>
        <c:crosses val="autoZero"/>
        <c:crossBetween val="midCat"/>
      </c:valAx>
      <c:valAx>
        <c:axId val="2145866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Drink</a:t>
                </a:r>
                <a:r>
                  <a:rPr lang="en-US" baseline="0"/>
                  <a:t>s sold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5158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Scatterplot</a:t>
            </a:r>
            <a:r>
              <a:rPr lang="en-US" baseline="0"/>
              <a:t> showing the relationship between the age and cost of a "Golf"car on Gumtree.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Cost of car ($)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11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32000</c:v>
                </c:pt>
                <c:pt idx="1">
                  <c:v>29500</c:v>
                </c:pt>
                <c:pt idx="2">
                  <c:v>24500</c:v>
                </c:pt>
                <c:pt idx="3" formatCode="#,##0">
                  <c:v>20000</c:v>
                </c:pt>
                <c:pt idx="4">
                  <c:v>16500</c:v>
                </c:pt>
                <c:pt idx="5">
                  <c:v>14500</c:v>
                </c:pt>
                <c:pt idx="6">
                  <c:v>13000</c:v>
                </c:pt>
                <c:pt idx="7">
                  <c:v>10900</c:v>
                </c:pt>
                <c:pt idx="8">
                  <c:v>10500</c:v>
                </c:pt>
                <c:pt idx="9">
                  <c:v>7500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FA7-482E-824C-0301005C4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2483984"/>
        <c:axId val="712485952"/>
      </c:scatterChart>
      <c:valAx>
        <c:axId val="712483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Age</a:t>
                </a:r>
                <a:r>
                  <a:rPr lang="en-AU" baseline="0"/>
                  <a:t> of Car (years)</a:t>
                </a:r>
                <a:endParaRPr lang="en-A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2485952"/>
        <c:crosses val="autoZero"/>
        <c:crossBetween val="midCat"/>
      </c:valAx>
      <c:valAx>
        <c:axId val="712485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Cost</a:t>
                </a:r>
                <a:r>
                  <a:rPr lang="en-AU" baseline="0"/>
                  <a:t> of car ($)</a:t>
                </a:r>
                <a:endParaRPr lang="en-A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24839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5E448-9D17-4D34-ACB0-4F6995831B3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83D7F-E91A-4754-8F83-AE6245EFB8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9644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100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5076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3351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8088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6119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1E0A-A77D-41C0-86F8-3827584DF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E789E-2A0A-48A3-B5D3-07E3FEDC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730BC-DE6E-4E5C-BA39-20A25473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17020-2EC1-407C-858D-1B82A6498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46EBD-8AA8-4C06-9532-A315D60B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5540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42624-5703-40A8-BEC2-B6A3AB6C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BF20D-2734-45F2-A827-3C847966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3BD01-1047-4779-BFDF-BF159EE2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7998-55B4-4110-8D28-E9BEE82C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1C9A1-52ED-44C2-879B-39004ECD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405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A641-7E6B-4D39-ACFD-5A654019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FC421-4D88-4B7E-A6F8-96918550C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391DD-6530-480B-9056-BEBB9B48A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C6B97-D5CA-423F-A5F6-7455DB56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819AF-3D96-49A6-9327-18E96B9B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568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8D1D-BA1D-4A0E-8FEA-340B4C5BE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FBF6B-4A58-419D-B731-325415C85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6164C-457E-4A8A-B1A7-0F5945017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31EA1-5D89-4C3D-8B15-156C0825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236B0-BD1B-4CF7-9A16-09F23377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88659-E296-465C-B3E5-E174F01A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55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2322-A218-401F-84C1-49EF6E275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C785D-1E07-4D27-B672-184ADA8ED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D76D1-2D46-412F-8E75-26775A94E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E33246-580B-45A2-80CF-08DFC1F1A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29CCC-1313-4F8F-835E-D5C95428F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DFA79-56A2-4629-B8E6-21B482A27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BBB922-DD7B-4CDE-8524-6109ADDB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67ADB-54B1-43A2-8C4B-20D67BAE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3170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3FA1-437D-4B45-B4DB-8999C234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6B18-4F0F-4F27-A9EC-F57A2704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CBAD7-BF26-4A0F-A8CE-BBBA19287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40F36-4038-4A11-85FA-3FF686B2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74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296EA-029E-4075-901B-92F5694B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F5BDA-E5A9-4CFD-B227-5D66D9EB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C0FE8-BBB2-4BFC-9F01-66DF2DEF4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743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4DD6-B156-46C4-90A2-C931A276D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D0F97-62CD-4DBE-BF9A-CD09EC99F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06326-0E3B-4494-BC37-0CE366331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1990E-3406-422F-BF25-0B762E62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0C86E-05AE-489D-BFC6-486D4ED3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E1CED-DC7F-48F3-A0A7-0E3CD958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275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4FC3-A4C6-4402-A4DE-CD349DCE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BAE8F-E0F5-4457-84B7-F6A830C6D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70A47-90E8-41D4-88F6-5C94CC5EC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738F7-517A-4C8E-94B3-35A46720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BE2FA-580D-4185-8BA7-62C60310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FA938-E08B-4AC0-AA30-6D5856780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472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4C90-18B9-41D5-AAA9-324408CC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3F291-C4FF-4AD7-9077-A2893FC68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9F345-0BB8-48C0-818A-3A2D10324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5831-15D6-4B3E-A7E4-F0682ADB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B42C9-E3AB-41A2-AB1B-4D6FDBAE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2245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31373-DF5E-4D6B-ABA6-23A2C0E8D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3F247-5277-4205-B473-9FB60FF37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C06FE-53F8-4BAF-A027-8EB2E5CF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69971-8D00-4715-B7D3-040D1B41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3C23F-85EB-4DF0-8E35-360C147B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9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8CA7BF-969D-4D4E-ABBD-6A5E07BD7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1A544-B8A7-41DD-8E74-CD51F0B83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C6F60-939B-42B0-B871-9D96BE323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21C18-A551-4E49-A9F7-DA242D0DED20}" type="datetimeFigureOut">
              <a:rPr lang="en-AU" smtClean="0"/>
              <a:t>29/03/2020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25F6B-7433-47D6-B287-4CB822E7E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1E393-A382-4523-B8D9-75CFE669D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9625B-A12B-454B-8911-95E172EF01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245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E_BpXTyKCE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832" y="0"/>
            <a:ext cx="10955886" cy="1052461"/>
          </a:xfrm>
        </p:spPr>
        <p:txBody>
          <a:bodyPr/>
          <a:lstStyle/>
          <a:p>
            <a:r>
              <a:rPr lang="en-US" dirty="0"/>
              <a:t>Topic: Bivariate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159" y="909587"/>
            <a:ext cx="11089232" cy="623938"/>
          </a:xfrm>
        </p:spPr>
        <p:txBody>
          <a:bodyPr>
            <a:normAutofit/>
          </a:bodyPr>
          <a:lstStyle/>
          <a:p>
            <a:r>
              <a:rPr lang="en-AU" dirty="0"/>
              <a:t>EQ: How is bivariate data interpreted when plotted in a scatterplot?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A15DB-2199-4616-B832-E1D6AFEC576D}"/>
              </a:ext>
            </a:extLst>
          </p:cNvPr>
          <p:cNvSpPr txBox="1"/>
          <p:nvPr/>
        </p:nvSpPr>
        <p:spPr>
          <a:xfrm>
            <a:off x="609600" y="1638300"/>
            <a:ext cx="109918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Instructions: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Read the instructions on slide 1  </a:t>
            </a:r>
          </a:p>
          <a:p>
            <a:pPr marL="342900" indent="-342900">
              <a:buAutoNum type="arabicPeriod"/>
            </a:pPr>
            <a:r>
              <a:rPr lang="en-US" dirty="0"/>
              <a:t>Complete the activity on slide </a:t>
            </a:r>
            <a:r>
              <a:rPr lang="en-US" dirty="0" err="1"/>
              <a:t>slide</a:t>
            </a:r>
            <a:r>
              <a:rPr lang="en-US" dirty="0"/>
              <a:t> 3</a:t>
            </a:r>
          </a:p>
          <a:p>
            <a:pPr marL="342900" indent="-342900">
              <a:buAutoNum type="arabicPeriod"/>
            </a:pPr>
            <a:r>
              <a:rPr lang="en-US" dirty="0"/>
              <a:t>Complete the activity on slide </a:t>
            </a:r>
            <a:r>
              <a:rPr lang="en-US" dirty="0" err="1"/>
              <a:t>slide</a:t>
            </a:r>
            <a:r>
              <a:rPr lang="en-US" dirty="0"/>
              <a:t> 4 (this is your notes for this EQ)</a:t>
            </a:r>
          </a:p>
          <a:p>
            <a:pPr marL="342900" indent="-342900">
              <a:buAutoNum type="arabicPeriod"/>
            </a:pPr>
            <a:r>
              <a:rPr lang="en-US" dirty="0"/>
              <a:t>Work through the example on slides 9-11. Try not to look at the solutions until you have had a go yourself</a:t>
            </a:r>
          </a:p>
          <a:p>
            <a:pPr marL="342900" indent="-342900">
              <a:buAutoNum type="arabicPeriod"/>
            </a:pPr>
            <a:r>
              <a:rPr lang="en-US" dirty="0"/>
              <a:t>Complete the activity on slide 12-14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On slide 15 it asks you to complete the questions. Submit your work in the submission folder ,  “Term 1 Week 9 Lesson 4_ Interpreting scatterplots?”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pPr marL="342900" indent="-342900">
              <a:buAutoNum type="arabicPeriod"/>
            </a:pPr>
            <a:endParaRPr lang="en-AU" dirty="0">
              <a:highlight>
                <a:srgbClr val="FFFF00"/>
              </a:highlight>
            </a:endParaRPr>
          </a:p>
        </p:txBody>
      </p:sp>
      <p:pic>
        <p:nvPicPr>
          <p:cNvPr id="7" name="Submission folder">
            <a:hlinkClick r:id="" action="ppaction://media"/>
            <a:extLst>
              <a:ext uri="{FF2B5EF4-FFF2-40B4-BE49-F238E27FC236}">
                <a16:creationId xmlns:a16="http://schemas.microsoft.com/office/drawing/2014/main" id="{0860A3BE-5909-450C-9238-F8FE2F8AFF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51730" y="449453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7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Bivariate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is bivariate data interpreted when plotted in a scatterplot?</a:t>
            </a:r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C132AA-E562-4E36-A910-708BC4AAD359}"/>
              </a:ext>
            </a:extLst>
          </p:cNvPr>
          <p:cNvSpPr/>
          <p:nvPr/>
        </p:nvSpPr>
        <p:spPr>
          <a:xfrm>
            <a:off x="1800225" y="21711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1. Watch the YouTube video on interpreting scatterplots: </a:t>
            </a:r>
            <a:r>
              <a:rPr lang="en-AU" dirty="0">
                <a:hlinkClick r:id="rId2"/>
              </a:rPr>
              <a:t>https://www.youtube.com/watch?v=PE_BpXTyKCE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3AA54-AFE0-47DA-AE84-77021CFC2FBA}"/>
              </a:ext>
            </a:extLst>
          </p:cNvPr>
          <p:cNvSpPr/>
          <p:nvPr/>
        </p:nvSpPr>
        <p:spPr>
          <a:xfrm>
            <a:off x="1800225" y="3071803"/>
            <a:ext cx="97345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2. Answer the following sentences in full sentences:</a:t>
            </a:r>
          </a:p>
          <a:p>
            <a:pPr marL="514350" indent="-514350">
              <a:buAutoNum type="alphaLcParenR"/>
            </a:pPr>
            <a:r>
              <a:rPr lang="en-AU" dirty="0">
                <a:solidFill>
                  <a:schemeClr val="accent5">
                    <a:lumMod val="75000"/>
                  </a:schemeClr>
                </a:solidFill>
              </a:rPr>
              <a:t>When sketching two variables on a scatterplot, what axis does the independent and dependant variables go? Why?</a:t>
            </a:r>
          </a:p>
          <a:p>
            <a:pPr marL="514350" indent="-514350">
              <a:buAutoNum type="alphaLcParenR"/>
            </a:pPr>
            <a:r>
              <a:rPr lang="en-AU" dirty="0">
                <a:solidFill>
                  <a:schemeClr val="accent5">
                    <a:lumMod val="75000"/>
                  </a:schemeClr>
                </a:solidFill>
              </a:rPr>
              <a:t>What are the 4 things you can talk about when you interpret a scatterplot?</a:t>
            </a:r>
          </a:p>
        </p:txBody>
      </p:sp>
    </p:spTree>
    <p:extLst>
      <p:ext uri="{BB962C8B-B14F-4D97-AF65-F5344CB8AC3E}">
        <p14:creationId xmlns:p14="http://schemas.microsoft.com/office/powerpoint/2010/main" val="136661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B8FF6-94D0-4D6B-80BE-FA27489CC946}"/>
              </a:ext>
            </a:extLst>
          </p:cNvPr>
          <p:cNvSpPr txBox="1"/>
          <p:nvPr/>
        </p:nvSpPr>
        <p:spPr>
          <a:xfrm>
            <a:off x="1438275" y="1916832"/>
            <a:ext cx="10753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up the “ Term 1 Week 9_Lesson 4_ Interpreting Scatterplots 3 ways” worksheet. This will be used to form your notes on this topic.</a:t>
            </a:r>
          </a:p>
          <a:p>
            <a:endParaRPr lang="en-US" dirty="0"/>
          </a:p>
          <a:p>
            <a:r>
              <a:rPr lang="en-US" dirty="0"/>
              <a:t>You will need to listen to the YouTube clip again and use the notes on slides 6-8 to fill in this worksheet. </a:t>
            </a:r>
          </a:p>
          <a:p>
            <a:endParaRPr lang="en-US" dirty="0"/>
          </a:p>
          <a:p>
            <a:r>
              <a:rPr lang="en-US" dirty="0"/>
              <a:t>Please note:  On slide 5 you will see that I have completed the “direction “ notes for you. Now do the same for “form” and “strength”.</a:t>
            </a:r>
          </a:p>
          <a:p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224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C0DF2C-4955-409A-BFD6-B12A1FB04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197615"/>
              </p:ext>
            </p:extLst>
          </p:nvPr>
        </p:nvGraphicFramePr>
        <p:xfrm>
          <a:off x="2873853" y="357390"/>
          <a:ext cx="6922812" cy="5976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04">
                  <a:extLst>
                    <a:ext uri="{9D8B030D-6E8A-4147-A177-3AD203B41FA5}">
                      <a16:colId xmlns:a16="http://schemas.microsoft.com/office/drawing/2014/main" val="1060139467"/>
                    </a:ext>
                  </a:extLst>
                </a:gridCol>
                <a:gridCol w="2307604">
                  <a:extLst>
                    <a:ext uri="{9D8B030D-6E8A-4147-A177-3AD203B41FA5}">
                      <a16:colId xmlns:a16="http://schemas.microsoft.com/office/drawing/2014/main" val="2100343447"/>
                    </a:ext>
                  </a:extLst>
                </a:gridCol>
                <a:gridCol w="2307604">
                  <a:extLst>
                    <a:ext uri="{9D8B030D-6E8A-4147-A177-3AD203B41FA5}">
                      <a16:colId xmlns:a16="http://schemas.microsoft.com/office/drawing/2014/main" val="1731826521"/>
                    </a:ext>
                  </a:extLst>
                </a:gridCol>
              </a:tblGrid>
              <a:tr h="28146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Direction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Form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Strength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06342"/>
                  </a:ext>
                </a:extLst>
              </a:tr>
              <a:tr h="2099987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 RELATIONSHIP: </a:t>
                      </a:r>
                    </a:p>
                    <a:p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data show an uphill pattern as you move from left to right </a:t>
                      </a:r>
                      <a:r>
                        <a:rPr lang="en-US" sz="14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e.g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As the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X-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 increase (move right), the 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-values tend to increase (move up).</a:t>
                      </a:r>
                    </a:p>
                    <a:p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40134"/>
                  </a:ext>
                </a:extLst>
              </a:tr>
              <a:tr h="1986455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NEGATIVE RELATIONSHIP:</a:t>
                      </a:r>
                    </a:p>
                    <a:p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If the data show a downhill pattern as you move from left to right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the 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-values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(move right) the 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-values tend to decrease (move down).</a:t>
                      </a:r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393776"/>
                  </a:ext>
                </a:extLst>
              </a:tr>
              <a:tr h="15246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NO RELATIONSHIP: </a:t>
                      </a:r>
                    </a:p>
                    <a:p>
                      <a:endParaRPr lang="en-US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400" dirty="0"/>
                        <a:t>Hard to find a pattern showing a relationship between the variables.</a:t>
                      </a:r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136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83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597239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47825" y="1597239"/>
            <a:ext cx="0" cy="5432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BA3321-2DD1-4857-A0D4-50623612126A}"/>
              </a:ext>
            </a:extLst>
          </p:cNvPr>
          <p:cNvSpPr txBox="1"/>
          <p:nvPr/>
        </p:nvSpPr>
        <p:spPr>
          <a:xfrm>
            <a:off x="1327259" y="1699399"/>
            <a:ext cx="269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Direction Examples </a:t>
            </a:r>
            <a:endParaRPr lang="en-AU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5553F1-7F28-4BFC-B2C1-90D60B4BA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259" y="2068731"/>
            <a:ext cx="6407536" cy="2531013"/>
          </a:xfrm>
          <a:prstGeom prst="rect">
            <a:avLst/>
          </a:prstGeom>
        </p:spPr>
      </p:pic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19AFA69-FBC6-428F-94AC-E403490CB1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70871" y="2651560"/>
            <a:ext cx="406400" cy="406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186C5B-811C-4B51-AC23-E23B1AEE39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5422" y="4519252"/>
            <a:ext cx="6215780" cy="233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0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31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02C5F-BDDF-47A4-B159-1DD004163006}"/>
              </a:ext>
            </a:extLst>
          </p:cNvPr>
          <p:cNvSpPr txBox="1"/>
          <p:nvPr/>
        </p:nvSpPr>
        <p:spPr>
          <a:xfrm>
            <a:off x="1470134" y="1916832"/>
            <a:ext cx="269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 Examples </a:t>
            </a:r>
            <a:endParaRPr lang="en-AU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DEFEEB-B58E-49DD-9CA0-AABBA44C6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48" y="2310950"/>
            <a:ext cx="4861550" cy="181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FA344C-2C34-4F9C-8ABF-B56E9C9A3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25" y="2272210"/>
            <a:ext cx="4381499" cy="23820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5C4FF3-E704-4006-9761-E09693AFF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131" y="4252987"/>
            <a:ext cx="6089532" cy="260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1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02C5F-BDDF-47A4-B159-1DD004163006}"/>
              </a:ext>
            </a:extLst>
          </p:cNvPr>
          <p:cNvSpPr txBox="1"/>
          <p:nvPr/>
        </p:nvSpPr>
        <p:spPr>
          <a:xfrm>
            <a:off x="1470134" y="1916832"/>
            <a:ext cx="269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Strength Examples </a:t>
            </a:r>
            <a:endParaRPr lang="en-AU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366616-5332-4668-AAB8-0974D7E18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382" y="2581275"/>
            <a:ext cx="68008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6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574182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47825" y="1598967"/>
            <a:ext cx="0" cy="54304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79F3F7-2413-4F8F-B010-BE0977C67602}"/>
              </a:ext>
            </a:extLst>
          </p:cNvPr>
          <p:cNvSpPr/>
          <p:nvPr/>
        </p:nvSpPr>
        <p:spPr>
          <a:xfrm>
            <a:off x="1323975" y="2272210"/>
            <a:ext cx="10868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An example of bivariate data that you may encounter is the “number of drinks sold at the school canteen” and the “daily temperature”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0082AA-1EE9-4DDA-9EBE-D9866B68E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576937"/>
              </p:ext>
            </p:extLst>
          </p:nvPr>
        </p:nvGraphicFramePr>
        <p:xfrm>
          <a:off x="3847280" y="2817483"/>
          <a:ext cx="3752400" cy="342002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5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8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700" u="none" strike="noStrike" dirty="0">
                          <a:effectLst/>
                        </a:rPr>
                        <a:t>Daily Temperature (C</a:t>
                      </a:r>
                      <a:r>
                        <a:rPr lang="en-US" sz="1700" u="none" strike="noStrike" baseline="30000" dirty="0">
                          <a:effectLst/>
                        </a:rPr>
                        <a:t>o</a:t>
                      </a:r>
                      <a:r>
                        <a:rPr lang="en-US" sz="1700" u="none" strike="noStrike" dirty="0">
                          <a:effectLst/>
                        </a:rPr>
                        <a:t>)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Drinks sold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fi-FI" sz="1700" u="none" strike="noStrike" dirty="0">
                          <a:effectLst/>
                        </a:rPr>
                        <a:t>18</a:t>
                      </a:r>
                      <a:endParaRPr lang="fi-FI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160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22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200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24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250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33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450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30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430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28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300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29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cs-CZ" sz="1700" u="none" strike="noStrike" dirty="0">
                          <a:effectLst/>
                        </a:rPr>
                        <a:t>360</a:t>
                      </a:r>
                      <a:endParaRPr lang="cs-CZ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17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150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23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230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27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250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19250D4-9972-4CA8-A8EE-CCA1704F12B9}"/>
              </a:ext>
            </a:extLst>
          </p:cNvPr>
          <p:cNvSpPr txBox="1"/>
          <p:nvPr/>
        </p:nvSpPr>
        <p:spPr>
          <a:xfrm>
            <a:off x="1683615" y="6382313"/>
            <a:ext cx="7142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Does it look like the number of drinks sold is affected by the temperature?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67273-FD8B-42D0-B300-EB25F0B4B282}"/>
              </a:ext>
            </a:extLst>
          </p:cNvPr>
          <p:cNvSpPr txBox="1"/>
          <p:nvPr/>
        </p:nvSpPr>
        <p:spPr>
          <a:xfrm>
            <a:off x="1483360" y="179832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AU" b="1" dirty="0"/>
          </a:p>
        </p:txBody>
      </p:sp>
      <p:pic>
        <p:nvPicPr>
          <p:cNvPr id="1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44F154A-2B75-4089-8CA5-AEFDD636AA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60040" y="179340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7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457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986B69-D098-44CD-88D1-8CA97BCA15C8}"/>
              </a:ext>
            </a:extLst>
          </p:cNvPr>
          <p:cNvSpPr txBox="1"/>
          <p:nvPr/>
        </p:nvSpPr>
        <p:spPr>
          <a:xfrm>
            <a:off x="1688274" y="1977126"/>
            <a:ext cx="990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Here is the scatterplot of the data form the previous slide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A7866FE-F331-4B9C-8CB0-FA55752BF7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4798291"/>
              </p:ext>
            </p:extLst>
          </p:nvPr>
        </p:nvGraphicFramePr>
        <p:xfrm>
          <a:off x="2260600" y="2346458"/>
          <a:ext cx="5384800" cy="394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EDE09F-BE34-4694-B89F-D5A1D85FA2B6}"/>
              </a:ext>
            </a:extLst>
          </p:cNvPr>
          <p:cNvSpPr txBox="1"/>
          <p:nvPr/>
        </p:nvSpPr>
        <p:spPr>
          <a:xfrm>
            <a:off x="1587887" y="6296158"/>
            <a:ext cx="9362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 the daily temperature (x-axis) increases, does the amount of drinks sold increase (y-axis)?</a:t>
            </a:r>
          </a:p>
        </p:txBody>
      </p:sp>
    </p:spTree>
    <p:extLst>
      <p:ext uri="{BB962C8B-B14F-4D97-AF65-F5344CB8AC3E}">
        <p14:creationId xmlns:p14="http://schemas.microsoft.com/office/powerpoint/2010/main" val="3741130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D07A6C-4908-4325-BAC5-8F60BD10DBFC}"/>
              </a:ext>
            </a:extLst>
          </p:cNvPr>
          <p:cNvSpPr txBox="1"/>
          <p:nvPr/>
        </p:nvSpPr>
        <p:spPr>
          <a:xfrm>
            <a:off x="1371212" y="1929489"/>
            <a:ext cx="60049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overall pattern of a scatterplot can be described by the:</a:t>
            </a:r>
          </a:p>
          <a:p>
            <a:r>
              <a:rPr lang="en-US" dirty="0"/>
              <a:t> </a:t>
            </a:r>
            <a:r>
              <a:rPr lang="en-US" sz="2400" b="1" dirty="0"/>
              <a:t>direction</a:t>
            </a:r>
            <a:r>
              <a:rPr lang="en-US" sz="2400" dirty="0"/>
              <a:t>, </a:t>
            </a:r>
            <a:r>
              <a:rPr lang="en-US" sz="2400" b="1" dirty="0"/>
              <a:t>form</a:t>
            </a:r>
            <a:r>
              <a:rPr lang="en-US" sz="2400" dirty="0"/>
              <a:t>, and </a:t>
            </a:r>
            <a:r>
              <a:rPr lang="en-US" sz="2400" b="1" dirty="0"/>
              <a:t>strength</a:t>
            </a:r>
            <a:r>
              <a:rPr lang="en-US" sz="2400" dirty="0"/>
              <a:t> </a:t>
            </a:r>
            <a:r>
              <a:rPr lang="en-US" dirty="0"/>
              <a:t>of the relationship. 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812524-BE1F-4294-8E24-1000069F70CC}"/>
              </a:ext>
            </a:extLst>
          </p:cNvPr>
          <p:cNvSpPr txBox="1"/>
          <p:nvPr/>
        </p:nvSpPr>
        <p:spPr>
          <a:xfrm>
            <a:off x="1587887" y="2806075"/>
            <a:ext cx="6156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would you describe this scatterplot?</a:t>
            </a:r>
          </a:p>
          <a:p>
            <a:r>
              <a:rPr lang="en-AU" dirty="0"/>
              <a:t>Strong or Weak?</a:t>
            </a:r>
          </a:p>
          <a:p>
            <a:r>
              <a:rPr lang="en-AU" dirty="0"/>
              <a:t>Linear or Not?</a:t>
            </a:r>
          </a:p>
          <a:p>
            <a:r>
              <a:rPr lang="en-AU" dirty="0"/>
              <a:t>Positive or Negative?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715AB5B-15CA-4A4D-B1D6-0D3D4E1848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1601860"/>
              </p:ext>
            </p:extLst>
          </p:nvPr>
        </p:nvGraphicFramePr>
        <p:xfrm>
          <a:off x="6660605" y="2720690"/>
          <a:ext cx="5384800" cy="394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564679F-FC92-4B50-9641-70A1E8DD3615}"/>
              </a:ext>
            </a:extLst>
          </p:cNvPr>
          <p:cNvSpPr/>
          <p:nvPr/>
        </p:nvSpPr>
        <p:spPr>
          <a:xfrm>
            <a:off x="1247826" y="4510873"/>
            <a:ext cx="5213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chemeClr val="accent5">
                    <a:lumMod val="75000"/>
                  </a:schemeClr>
                </a:solidFill>
              </a:rPr>
              <a:t>Our graph is a strong, positive graph, that is  almost linear. </a:t>
            </a:r>
          </a:p>
        </p:txBody>
      </p:sp>
    </p:spTree>
    <p:extLst>
      <p:ext uri="{BB962C8B-B14F-4D97-AF65-F5344CB8AC3E}">
        <p14:creationId xmlns:p14="http://schemas.microsoft.com/office/powerpoint/2010/main" val="421124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Graphic spid="14" grpId="0">
        <p:bldAsOne/>
      </p:bldGraphic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3552"/>
            <a:ext cx="10131425" cy="120271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Sam’s Mum wants to buy a new Golf. She looks on “Gumtree” and makes a list of how many years old the car is, and the sale price.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92097" y="3112426"/>
          <a:ext cx="2642839" cy="349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4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Number of years old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cs-CZ" sz="2000" u="none" strike="noStrike" dirty="0">
                          <a:effectLst/>
                        </a:rPr>
                        <a:t>11</a:t>
                      </a:r>
                      <a:endParaRPr lang="cs-CZ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0554" y="3429000"/>
            <a:ext cx="525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Make a scatterplot of the data, and describe the trend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4F9340-1493-4E04-97BF-EB03F37B7D3A}"/>
              </a:ext>
            </a:extLst>
          </p:cNvPr>
          <p:cNvGraphicFramePr>
            <a:graphicFrameLocks noGrp="1"/>
          </p:cNvGraphicFramePr>
          <p:nvPr/>
        </p:nvGraphicFramePr>
        <p:xfrm>
          <a:off x="3534936" y="3112426"/>
          <a:ext cx="2642839" cy="349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139965797"/>
                    </a:ext>
                  </a:extLst>
                </a:gridCol>
              </a:tblGrid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Cost of car ($)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297095119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32000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23203771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29500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54799284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512158197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31940767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16500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181317270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61789109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13000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752607653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10900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7627040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18190654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7500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2069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25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3552"/>
            <a:ext cx="10131425" cy="120271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Sam’s Mum wants to buy a new Golf. She looks on “Gumtree” and makes a list of how many years old the car is, and the sale price.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92097" y="3112426"/>
          <a:ext cx="2642839" cy="349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4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Number of years old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cs-CZ" sz="2000" u="none" strike="noStrike" dirty="0">
                          <a:effectLst/>
                        </a:rPr>
                        <a:t>11</a:t>
                      </a:r>
                      <a:endParaRPr lang="cs-CZ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49737" y="3278459"/>
            <a:ext cx="2765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Which  variable is the;</a:t>
            </a:r>
          </a:p>
          <a:p>
            <a:r>
              <a:rPr lang="en-AU" dirty="0"/>
              <a:t>Independent</a:t>
            </a:r>
          </a:p>
          <a:p>
            <a:r>
              <a:rPr lang="en-AU" dirty="0"/>
              <a:t>- Number of years old</a:t>
            </a:r>
          </a:p>
          <a:p>
            <a:r>
              <a:rPr lang="en-AU" dirty="0"/>
              <a:t>Dependent</a:t>
            </a:r>
          </a:p>
          <a:p>
            <a:r>
              <a:rPr lang="en-AU" dirty="0"/>
              <a:t> - Cost of the 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2634" y="5599047"/>
            <a:ext cx="525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Make a scatterplot of the data, and describe the trend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4F9340-1493-4E04-97BF-EB03F37B7D3A}"/>
              </a:ext>
            </a:extLst>
          </p:cNvPr>
          <p:cNvGraphicFramePr>
            <a:graphicFrameLocks noGrp="1"/>
          </p:cNvGraphicFramePr>
          <p:nvPr/>
        </p:nvGraphicFramePr>
        <p:xfrm>
          <a:off x="3534936" y="3112426"/>
          <a:ext cx="2642839" cy="349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139965797"/>
                    </a:ext>
                  </a:extLst>
                </a:gridCol>
              </a:tblGrid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Cost of car ($)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297095119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32000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23203771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29500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54799284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512158197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31940767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16500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181317270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61789109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13000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752607653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10900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7627040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18190654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7500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2069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36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7961"/>
            <a:ext cx="10515600" cy="1325563"/>
          </a:xfrm>
        </p:spPr>
        <p:txBody>
          <a:bodyPr/>
          <a:lstStyle/>
          <a:p>
            <a:r>
              <a:rPr lang="en-AU" dirty="0"/>
              <a:t>Car data Scatter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34941" y="2065867"/>
            <a:ext cx="38560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see that the lower the years on the car, the more expensive it is to buy.</a:t>
            </a:r>
          </a:p>
          <a:p>
            <a:endParaRPr lang="en-AU" dirty="0"/>
          </a:p>
          <a:p>
            <a:r>
              <a:rPr lang="en-AU" dirty="0"/>
              <a:t>The trend is very linear, and negative. The dots form almost a straight line, so the correlation could be classified as strong. 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0545A81-A6A2-48AE-8C86-9D396332558D}"/>
              </a:ext>
            </a:extLst>
          </p:cNvPr>
          <p:cNvGraphicFramePr>
            <a:graphicFrameLocks/>
          </p:cNvGraphicFramePr>
          <p:nvPr/>
        </p:nvGraphicFramePr>
        <p:xfrm>
          <a:off x="1524000" y="218352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75330C-90C3-4217-826B-07E949ED5B1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639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7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turn: Submit this work in the submission folder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9F9CE4-820F-4C8A-B293-C8EF3E300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035" y="1438334"/>
            <a:ext cx="3512240" cy="532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92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972</Words>
  <Application>Microsoft Office PowerPoint</Application>
  <PresentationFormat>Widescreen</PresentationFormat>
  <Paragraphs>197</Paragraphs>
  <Slides>15</Slides>
  <Notes>6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Topic: Bivariate data</vt:lpstr>
      <vt:lpstr>Topic: Bivariate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ANSWERS</vt:lpstr>
      <vt:lpstr>Car data Scatter plot</vt:lpstr>
      <vt:lpstr>Your turn: Submit this work in the submission folder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Bivariate data</dc:title>
  <dc:creator>Sarah James</dc:creator>
  <cp:lastModifiedBy>Sarah James</cp:lastModifiedBy>
  <cp:revision>7</cp:revision>
  <dcterms:created xsi:type="dcterms:W3CDTF">2020-03-29T09:25:23Z</dcterms:created>
  <dcterms:modified xsi:type="dcterms:W3CDTF">2020-03-29T10:33:23Z</dcterms:modified>
</cp:coreProperties>
</file>
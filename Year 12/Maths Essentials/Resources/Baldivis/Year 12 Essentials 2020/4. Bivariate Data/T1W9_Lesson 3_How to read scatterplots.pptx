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65" r:id="rId2"/>
    <p:sldId id="264" r:id="rId3"/>
    <p:sldId id="401" r:id="rId4"/>
    <p:sldId id="399" r:id="rId5"/>
    <p:sldId id="40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James" userId="e5e3e68366f0feb3" providerId="LiveId" clId="{C1452892-1F0D-421F-A070-F2023E4D4CE5}"/>
    <pc:docChg chg="modSld">
      <pc:chgData name="Sarah James" userId="e5e3e68366f0feb3" providerId="LiveId" clId="{C1452892-1F0D-421F-A070-F2023E4D4CE5}" dt="2020-03-29T09:19:07.513" v="0" actId="1076"/>
      <pc:docMkLst>
        <pc:docMk/>
      </pc:docMkLst>
      <pc:sldChg chg="modSp mod">
        <pc:chgData name="Sarah James" userId="e5e3e68366f0feb3" providerId="LiveId" clId="{C1452892-1F0D-421F-A070-F2023E4D4CE5}" dt="2020-03-29T09:19:07.513" v="0" actId="1076"/>
        <pc:sldMkLst>
          <pc:docMk/>
          <pc:sldMk cId="456561043" sldId="265"/>
        </pc:sldMkLst>
        <pc:picChg chg="mod">
          <ac:chgData name="Sarah James" userId="e5e3e68366f0feb3" providerId="LiveId" clId="{C1452892-1F0D-421F-A070-F2023E4D4CE5}" dt="2020-03-29T09:19:07.513" v="0" actId="1076"/>
          <ac:picMkLst>
            <pc:docMk/>
            <pc:sldMk cId="456561043" sldId="265"/>
            <ac:picMk id="7" creationId="{0860A3BE-5909-450C-9238-F8FE2F8AFFF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4FDFB3-F6C1-4C8F-9E11-272F8D9239B4}" type="datetimeFigureOut">
              <a:rPr lang="en-AU" smtClean="0"/>
              <a:t>27/03/2020</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51F55-1B0D-4520-882C-8383E6981981}" type="slidenum">
              <a:rPr lang="en-AU" smtClean="0"/>
              <a:t>‹#›</a:t>
            </a:fld>
            <a:endParaRPr lang="en-AU"/>
          </a:p>
        </p:txBody>
      </p:sp>
    </p:spTree>
    <p:extLst>
      <p:ext uri="{BB962C8B-B14F-4D97-AF65-F5344CB8AC3E}">
        <p14:creationId xmlns:p14="http://schemas.microsoft.com/office/powerpoint/2010/main" val="1058786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3B36274-F2B9-4C45-BBB4-0EDF4CD651A7}" type="slidenum">
              <a:rPr lang="en-US"/>
              <a:t>1</a:t>
            </a:fld>
            <a:endParaRPr lang="en-US"/>
          </a:p>
        </p:txBody>
      </p:sp>
    </p:spTree>
    <p:extLst>
      <p:ext uri="{BB962C8B-B14F-4D97-AF65-F5344CB8AC3E}">
        <p14:creationId xmlns:p14="http://schemas.microsoft.com/office/powerpoint/2010/main" val="1245023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11C48-7316-462E-81D8-E4AB539D80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8C42AF2E-B3B8-4BCA-B4F8-F994E67B86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E63AE4D-547B-4E34-8D9C-E6AA5FA9D9DF}"/>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5" name="Footer Placeholder 4">
            <a:extLst>
              <a:ext uri="{FF2B5EF4-FFF2-40B4-BE49-F238E27FC236}">
                <a16:creationId xmlns:a16="http://schemas.microsoft.com/office/drawing/2014/main" id="{F55BABC0-D776-4BB5-9C9B-EB6E377D8F1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D5BC8F1-73CE-4C80-934F-25C3410F8185}"/>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4091667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6DF37-FF4F-4916-A7C7-6131CD88794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25ECF3E-6420-4F42-BB6C-F0D44F961E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4B3DA5-2F97-44CA-997B-018859785E31}"/>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5" name="Footer Placeholder 4">
            <a:extLst>
              <a:ext uri="{FF2B5EF4-FFF2-40B4-BE49-F238E27FC236}">
                <a16:creationId xmlns:a16="http://schemas.microsoft.com/office/drawing/2014/main" id="{1188C4B7-CF8E-436E-9914-4C81A3C40B7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4DFDDAC-9699-4EA1-9FDC-16A24F0EB1D3}"/>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918593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BF4E0-454F-4CD1-AEDF-E1F778CF79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AC5FEF5D-0485-49A7-BFE2-7261BDBEEC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8FA696-6179-4A6B-B7FD-E1A097C6DD43}"/>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5" name="Footer Placeholder 4">
            <a:extLst>
              <a:ext uri="{FF2B5EF4-FFF2-40B4-BE49-F238E27FC236}">
                <a16:creationId xmlns:a16="http://schemas.microsoft.com/office/drawing/2014/main" id="{1A6737E4-1FB6-4789-A0C2-8D997F80288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8EE647E-8589-40FA-A833-34A0220D959D}"/>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165765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78AE8-DA6C-4CA8-A849-865F32EF070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115C843-185C-4848-B1AC-347F5A183B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106DA30-4836-4D49-8F2B-39E7846697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11B13BA-8BD1-426F-8950-7EA7834216FA}"/>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6" name="Footer Placeholder 5">
            <a:extLst>
              <a:ext uri="{FF2B5EF4-FFF2-40B4-BE49-F238E27FC236}">
                <a16:creationId xmlns:a16="http://schemas.microsoft.com/office/drawing/2014/main" id="{29C234E5-8739-422C-A2D8-04CDF5A13E0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1FD90F2-3E02-4152-8E32-362E7DCF886E}"/>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17553061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304BA-3124-49DC-A3C6-8F340A308A66}"/>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0BAE97C-DBCC-4D75-B014-AB8F92AF0C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40A1A4-736F-4BDE-88EB-2F2911A646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D2E63BD9-D36F-46E5-9C29-CCFE921076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562445-4470-428C-9973-C8B4BCA696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EA43861A-819E-4775-805C-54702A56A435}"/>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8" name="Footer Placeholder 7">
            <a:extLst>
              <a:ext uri="{FF2B5EF4-FFF2-40B4-BE49-F238E27FC236}">
                <a16:creationId xmlns:a16="http://schemas.microsoft.com/office/drawing/2014/main" id="{28BCACD1-995E-4EC6-B442-E80BAA67376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4BAFC3A-36C9-40CC-A7C5-996DC59B93FB}"/>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384450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D554B-1CAF-4DB8-8A76-BF260B99A611}"/>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B90C660-8188-427C-8B7D-0CCA79C8F3A1}"/>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4" name="Footer Placeholder 3">
            <a:extLst>
              <a:ext uri="{FF2B5EF4-FFF2-40B4-BE49-F238E27FC236}">
                <a16:creationId xmlns:a16="http://schemas.microsoft.com/office/drawing/2014/main" id="{F7B306FD-92BF-4B8D-ABE2-FCBF77C57520}"/>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10FF9A4-5399-4B78-8107-8C614FA645E1}"/>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5247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4AB611-E406-4D8A-A5CD-1F6393F2BFBB}"/>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3" name="Footer Placeholder 2">
            <a:extLst>
              <a:ext uri="{FF2B5EF4-FFF2-40B4-BE49-F238E27FC236}">
                <a16:creationId xmlns:a16="http://schemas.microsoft.com/office/drawing/2014/main" id="{03EC47F4-FB41-4270-945B-985C6BE109A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CDF6D7A4-CA7B-4D60-8BCA-18CCC157D432}"/>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439321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B8F9-60BB-4193-AE14-C8811E981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834D9A35-B6C2-457A-82E3-399FD75B37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62E54EA-376A-4A35-A826-F83462D9B5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5BFFD1-E58D-45BE-A46B-ED4CA7A4F033}"/>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6" name="Footer Placeholder 5">
            <a:extLst>
              <a:ext uri="{FF2B5EF4-FFF2-40B4-BE49-F238E27FC236}">
                <a16:creationId xmlns:a16="http://schemas.microsoft.com/office/drawing/2014/main" id="{25F35A57-2613-457E-B972-2B3B3F2C7ED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63551A4-786B-4084-86AC-A45E82CEC882}"/>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2045030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C6BC-35D5-41DB-999E-BCF5D34756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08B6D21-284A-477D-9727-867B411E34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BC2A3C8-A294-41D9-9957-95CA1BAFE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1FE5B2-C752-4CFB-AA93-F4CE03EFFD8A}"/>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6" name="Footer Placeholder 5">
            <a:extLst>
              <a:ext uri="{FF2B5EF4-FFF2-40B4-BE49-F238E27FC236}">
                <a16:creationId xmlns:a16="http://schemas.microsoft.com/office/drawing/2014/main" id="{7BCED77B-1F01-43CF-9A80-B5B688AE1FA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462F87A-2B45-4926-8CC3-055111A463D4}"/>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3422624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174FB-71CD-4694-AA41-54D9E0688CAC}"/>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3028D7B-1BAF-409C-9FBE-97E7AD2774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064BF23-886D-49A3-87D4-0A8363E9091E}"/>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5" name="Footer Placeholder 4">
            <a:extLst>
              <a:ext uri="{FF2B5EF4-FFF2-40B4-BE49-F238E27FC236}">
                <a16:creationId xmlns:a16="http://schemas.microsoft.com/office/drawing/2014/main" id="{EEC91E90-15C2-4FBF-8955-C79A80366EF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EB2DA54-45BB-416E-8736-D1873C6998FC}"/>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1786190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78D18A-36D7-46AD-942F-0329863149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821A6F1E-77DD-4A51-8AF1-E2F6B80E7A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E2A143F-3168-41E2-BF62-DEB5B4B5DBAD}"/>
              </a:ext>
            </a:extLst>
          </p:cNvPr>
          <p:cNvSpPr>
            <a:spLocks noGrp="1"/>
          </p:cNvSpPr>
          <p:nvPr>
            <p:ph type="dt" sz="half" idx="10"/>
          </p:nvPr>
        </p:nvSpPr>
        <p:spPr/>
        <p:txBody>
          <a:bodyPr/>
          <a:lstStyle/>
          <a:p>
            <a:fld id="{1C3BAA66-0F49-47E9-82EA-A81EAB3CDC4A}" type="datetimeFigureOut">
              <a:rPr lang="en-AU" smtClean="0"/>
              <a:t>27/03/2020</a:t>
            </a:fld>
            <a:endParaRPr lang="en-AU"/>
          </a:p>
        </p:txBody>
      </p:sp>
      <p:sp>
        <p:nvSpPr>
          <p:cNvPr id="5" name="Footer Placeholder 4">
            <a:extLst>
              <a:ext uri="{FF2B5EF4-FFF2-40B4-BE49-F238E27FC236}">
                <a16:creationId xmlns:a16="http://schemas.microsoft.com/office/drawing/2014/main" id="{2B91D13E-0544-4342-AB6D-2E3E8F61BA5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20D48F8-3164-4ABE-8DF0-CA9EC9E0C1A4}"/>
              </a:ext>
            </a:extLst>
          </p:cNvPr>
          <p:cNvSpPr>
            <a:spLocks noGrp="1"/>
          </p:cNvSpPr>
          <p:nvPr>
            <p:ph type="sldNum" sz="quarter" idx="12"/>
          </p:nvPr>
        </p:nvSpPr>
        <p:spPr/>
        <p:txBody>
          <a:bodyPr/>
          <a:lstStyle/>
          <a:p>
            <a:fld id="{1B192C09-6475-407B-9EFE-259F5F23358F}" type="slidenum">
              <a:rPr lang="en-AU" smtClean="0"/>
              <a:t>‹#›</a:t>
            </a:fld>
            <a:endParaRPr lang="en-AU"/>
          </a:p>
        </p:txBody>
      </p:sp>
    </p:spTree>
    <p:extLst>
      <p:ext uri="{BB962C8B-B14F-4D97-AF65-F5344CB8AC3E}">
        <p14:creationId xmlns:p14="http://schemas.microsoft.com/office/powerpoint/2010/main" val="3567970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92F04B-2A02-4B74-80C5-C2FE5E616B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40EDC65-207A-4C31-8AE9-25081395D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4726BDC-71CF-4416-8276-C50D01EEBB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3BAA66-0F49-47E9-82EA-A81EAB3CDC4A}" type="datetimeFigureOut">
              <a:rPr lang="en-AU" smtClean="0"/>
              <a:t>27/03/2020</a:t>
            </a:fld>
            <a:endParaRPr lang="en-AU"/>
          </a:p>
        </p:txBody>
      </p:sp>
      <p:sp>
        <p:nvSpPr>
          <p:cNvPr id="5" name="Footer Placeholder 4">
            <a:extLst>
              <a:ext uri="{FF2B5EF4-FFF2-40B4-BE49-F238E27FC236}">
                <a16:creationId xmlns:a16="http://schemas.microsoft.com/office/drawing/2014/main" id="{F227E0CC-7557-4833-85D3-6F0653D2FB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7A63071-10B6-4713-AFC4-AEF55F3659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192C09-6475-407B-9EFE-259F5F23358F}" type="slidenum">
              <a:rPr lang="en-AU" smtClean="0"/>
              <a:t>‹#›</a:t>
            </a:fld>
            <a:endParaRPr lang="en-AU"/>
          </a:p>
        </p:txBody>
      </p:sp>
    </p:spTree>
    <p:extLst>
      <p:ext uri="{BB962C8B-B14F-4D97-AF65-F5344CB8AC3E}">
        <p14:creationId xmlns:p14="http://schemas.microsoft.com/office/powerpoint/2010/main" val="7035417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1832" y="0"/>
            <a:ext cx="10955886" cy="1052461"/>
          </a:xfrm>
        </p:spPr>
        <p:txBody>
          <a:bodyPr/>
          <a:lstStyle/>
          <a:p>
            <a:r>
              <a:rPr lang="en-US" dirty="0"/>
              <a:t>Topic: Bivariate data</a:t>
            </a:r>
          </a:p>
        </p:txBody>
      </p:sp>
      <p:sp>
        <p:nvSpPr>
          <p:cNvPr id="3" name="Subtitle 2"/>
          <p:cNvSpPr>
            <a:spLocks noGrp="1"/>
          </p:cNvSpPr>
          <p:nvPr>
            <p:ph type="subTitle" idx="1"/>
          </p:nvPr>
        </p:nvSpPr>
        <p:spPr>
          <a:xfrm>
            <a:off x="275159" y="909587"/>
            <a:ext cx="11089232" cy="623938"/>
          </a:xfrm>
        </p:spPr>
        <p:txBody>
          <a:bodyPr>
            <a:normAutofit/>
          </a:bodyPr>
          <a:lstStyle/>
          <a:p>
            <a:r>
              <a:rPr lang="en-US" dirty="0"/>
              <a:t>EQ: How do I read Scatterplots?</a:t>
            </a:r>
            <a:endParaRPr lang="en-AU" dirty="0"/>
          </a:p>
        </p:txBody>
      </p:sp>
      <p:sp>
        <p:nvSpPr>
          <p:cNvPr id="4" name="TextBox 3">
            <a:extLst>
              <a:ext uri="{FF2B5EF4-FFF2-40B4-BE49-F238E27FC236}">
                <a16:creationId xmlns:a16="http://schemas.microsoft.com/office/drawing/2014/main" id="{2F9A15DB-2199-4616-B832-E1D6AFEC576D}"/>
              </a:ext>
            </a:extLst>
          </p:cNvPr>
          <p:cNvSpPr txBox="1"/>
          <p:nvPr/>
        </p:nvSpPr>
        <p:spPr>
          <a:xfrm>
            <a:off x="609600" y="1638300"/>
            <a:ext cx="10991850" cy="3693319"/>
          </a:xfrm>
          <a:prstGeom prst="rect">
            <a:avLst/>
          </a:prstGeom>
          <a:noFill/>
        </p:spPr>
        <p:txBody>
          <a:bodyPr wrap="square" rtlCol="0">
            <a:spAutoFit/>
          </a:bodyPr>
          <a:lstStyle/>
          <a:p>
            <a:r>
              <a:rPr lang="en-US" dirty="0"/>
              <a:t>Instructions:</a:t>
            </a:r>
          </a:p>
          <a:p>
            <a:pPr marL="342900" indent="-342900">
              <a:buAutoNum type="arabicPeriod"/>
            </a:pPr>
            <a:endParaRPr lang="en-US" dirty="0"/>
          </a:p>
          <a:p>
            <a:pPr marL="342900" indent="-342900">
              <a:buAutoNum type="arabicPeriod"/>
            </a:pPr>
            <a:r>
              <a:rPr lang="en-US" dirty="0"/>
              <a:t>Read the instructions on slide 1  (don’t forget to listen to the audio icon)</a:t>
            </a:r>
          </a:p>
          <a:p>
            <a:pPr marL="342900" indent="-342900">
              <a:buAutoNum type="arabicPeriod"/>
            </a:pPr>
            <a:r>
              <a:rPr lang="en-US" dirty="0"/>
              <a:t>Open up or get your hard copy of the EST content tick list from Term 1 Week 5 and add in any notes from last lesson</a:t>
            </a:r>
          </a:p>
          <a:p>
            <a:pPr marL="342900" indent="-342900">
              <a:buAutoNum type="arabicPeriod"/>
            </a:pPr>
            <a:r>
              <a:rPr lang="en-US" dirty="0"/>
              <a:t>Read  slide 3</a:t>
            </a:r>
          </a:p>
          <a:p>
            <a:pPr marL="342900" indent="-342900">
              <a:buAutoNum type="arabicPeriod"/>
            </a:pPr>
            <a:r>
              <a:rPr lang="en-US" dirty="0"/>
              <a:t>Answer the questions to the example on slide 4. Try not to look at the solutions until you have had a go yourself</a:t>
            </a:r>
          </a:p>
          <a:p>
            <a:pPr marL="342900" indent="-342900">
              <a:buAutoNum type="arabicPeriod"/>
            </a:pPr>
            <a:endParaRPr lang="en-US" dirty="0"/>
          </a:p>
          <a:p>
            <a:pPr marL="342900" indent="-342900">
              <a:buAutoNum type="arabicPeriod"/>
            </a:pPr>
            <a:r>
              <a:rPr lang="en-US" dirty="0"/>
              <a:t>On slide 5 it asks your to complete Term 1 Week 9 Lesson 3_ Reading Scatterplots worksheet. Submit your work in the submission folder ,  “Term 1 Week 9 Lesson 3_ How do I read scatterplots?”</a:t>
            </a:r>
          </a:p>
          <a:p>
            <a:pPr marL="342900" indent="-342900">
              <a:buAutoNum type="arabicPeriod"/>
            </a:pPr>
            <a:r>
              <a:rPr lang="en-US" dirty="0"/>
              <a:t>Complete </a:t>
            </a:r>
            <a:r>
              <a:rPr lang="en-US" dirty="0" err="1"/>
              <a:t>Mathspace</a:t>
            </a:r>
            <a:r>
              <a:rPr lang="en-US" dirty="0"/>
              <a:t> task _Term 1 Week 9 Homework_ Comparing two variables</a:t>
            </a:r>
          </a:p>
          <a:p>
            <a:endParaRPr lang="en-US" dirty="0">
              <a:highlight>
                <a:srgbClr val="FFFF00"/>
              </a:highlight>
            </a:endParaRPr>
          </a:p>
          <a:p>
            <a:pPr marL="342900" indent="-342900">
              <a:buAutoNum type="arabicPeriod"/>
            </a:pPr>
            <a:endParaRPr lang="en-AU" dirty="0">
              <a:highlight>
                <a:srgbClr val="FFFF00"/>
              </a:highlight>
            </a:endParaRPr>
          </a:p>
        </p:txBody>
      </p:sp>
      <p:pic>
        <p:nvPicPr>
          <p:cNvPr id="7" name="Submission folder">
            <a:hlinkClick r:id="" action="ppaction://media"/>
            <a:extLst>
              <a:ext uri="{FF2B5EF4-FFF2-40B4-BE49-F238E27FC236}">
                <a16:creationId xmlns:a16="http://schemas.microsoft.com/office/drawing/2014/main" id="{0860A3BE-5909-450C-9238-F8FE2F8AFFF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782050" y="4362457"/>
            <a:ext cx="406400" cy="406400"/>
          </a:xfrm>
          <a:prstGeom prst="rect">
            <a:avLst/>
          </a:prstGeom>
        </p:spPr>
      </p:pic>
    </p:spTree>
    <p:extLst>
      <p:ext uri="{BB962C8B-B14F-4D97-AF65-F5344CB8AC3E}">
        <p14:creationId xmlns:p14="http://schemas.microsoft.com/office/powerpoint/2010/main" val="456561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67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8C1ED8-116A-44F2-B3B0-FAAE74CBA649}"/>
              </a:ext>
            </a:extLst>
          </p:cNvPr>
          <p:cNvSpPr txBox="1"/>
          <p:nvPr/>
        </p:nvSpPr>
        <p:spPr>
          <a:xfrm>
            <a:off x="3359011" y="1713989"/>
            <a:ext cx="7466771" cy="954107"/>
          </a:xfrm>
          <a:prstGeom prst="rect">
            <a:avLst/>
          </a:prstGeom>
          <a:noFill/>
        </p:spPr>
        <p:txBody>
          <a:bodyPr wrap="square" rtlCol="0">
            <a:spAutoFit/>
          </a:bodyPr>
          <a:lstStyle/>
          <a:p>
            <a:r>
              <a:rPr lang="en-US" sz="2800" dirty="0"/>
              <a:t>Topic: Bivariate Data</a:t>
            </a:r>
          </a:p>
          <a:p>
            <a:r>
              <a:rPr lang="en-US" sz="2800" dirty="0"/>
              <a:t>EQ:  How do I read Scatterplots?</a:t>
            </a:r>
            <a:endParaRPr lang="en-AU" sz="2800" dirty="0"/>
          </a:p>
        </p:txBody>
      </p:sp>
    </p:spTree>
    <p:extLst>
      <p:ext uri="{BB962C8B-B14F-4D97-AF65-F5344CB8AC3E}">
        <p14:creationId xmlns:p14="http://schemas.microsoft.com/office/powerpoint/2010/main" val="4044391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flipV="1">
            <a:off x="0" y="980729"/>
            <a:ext cx="12192000" cy="10667"/>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flipV="1">
            <a:off x="0" y="1892047"/>
            <a:ext cx="12192000" cy="24785"/>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9336" y="925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247825"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23392" y="274156"/>
            <a:ext cx="1928990" cy="461665"/>
          </a:xfrm>
          <a:prstGeom prst="rect">
            <a:avLst/>
          </a:prstGeom>
          <a:noFill/>
        </p:spPr>
        <p:txBody>
          <a:bodyPr wrap="none" rtlCol="0">
            <a:spAutoFit/>
          </a:bodyPr>
          <a:lstStyle/>
          <a:p>
            <a:r>
              <a:rPr lang="en-AU" sz="2400" dirty="0"/>
              <a:t>Bivariate Data</a:t>
            </a:r>
          </a:p>
        </p:txBody>
      </p:sp>
      <p:sp>
        <p:nvSpPr>
          <p:cNvPr id="11" name="TextBox 10"/>
          <p:cNvSpPr txBox="1"/>
          <p:nvPr/>
        </p:nvSpPr>
        <p:spPr>
          <a:xfrm>
            <a:off x="8616280" y="106355"/>
            <a:ext cx="2808311" cy="461665"/>
          </a:xfrm>
          <a:prstGeom prst="rect">
            <a:avLst/>
          </a:prstGeom>
          <a:noFill/>
        </p:spPr>
        <p:txBody>
          <a:bodyPr wrap="square" rtlCol="0">
            <a:spAutoFit/>
          </a:bodyPr>
          <a:lstStyle/>
          <a:p>
            <a:r>
              <a:rPr lang="en-AU" sz="2400" dirty="0"/>
              <a:t>Date:</a:t>
            </a:r>
          </a:p>
        </p:txBody>
      </p:sp>
      <p:sp>
        <p:nvSpPr>
          <p:cNvPr id="15" name="TextBox 14">
            <a:extLst>
              <a:ext uri="{FF2B5EF4-FFF2-40B4-BE49-F238E27FC236}">
                <a16:creationId xmlns:a16="http://schemas.microsoft.com/office/drawing/2014/main" id="{31056EAC-9909-49F8-AF63-CB2D7280E01D}"/>
              </a:ext>
            </a:extLst>
          </p:cNvPr>
          <p:cNvSpPr txBox="1"/>
          <p:nvPr/>
        </p:nvSpPr>
        <p:spPr>
          <a:xfrm>
            <a:off x="119514" y="1075004"/>
            <a:ext cx="11809134" cy="461665"/>
          </a:xfrm>
          <a:prstGeom prst="rect">
            <a:avLst/>
          </a:prstGeom>
          <a:noFill/>
        </p:spPr>
        <p:txBody>
          <a:bodyPr wrap="square" rtlCol="0">
            <a:spAutoFit/>
          </a:bodyPr>
          <a:lstStyle/>
          <a:p>
            <a:r>
              <a:rPr lang="en-US" sz="2400" b="1" dirty="0"/>
              <a:t>EQ: How do I read Scatterplots?</a:t>
            </a:r>
            <a:endParaRPr lang="en-AU" sz="2400" b="1" dirty="0"/>
          </a:p>
        </p:txBody>
      </p:sp>
      <p:sp>
        <p:nvSpPr>
          <p:cNvPr id="5" name="Rectangle 4">
            <a:extLst>
              <a:ext uri="{FF2B5EF4-FFF2-40B4-BE49-F238E27FC236}">
                <a16:creationId xmlns:a16="http://schemas.microsoft.com/office/drawing/2014/main" id="{91EF3F84-4E77-4F03-87F6-C57AF0F1A937}"/>
              </a:ext>
            </a:extLst>
          </p:cNvPr>
          <p:cNvSpPr/>
          <p:nvPr/>
        </p:nvSpPr>
        <p:spPr>
          <a:xfrm>
            <a:off x="1746252" y="2257124"/>
            <a:ext cx="8801100" cy="2585323"/>
          </a:xfrm>
          <a:prstGeom prst="rect">
            <a:avLst/>
          </a:prstGeom>
        </p:spPr>
        <p:txBody>
          <a:bodyPr wrap="square">
            <a:spAutoFit/>
          </a:bodyPr>
          <a:lstStyle/>
          <a:p>
            <a:r>
              <a:rPr lang="en-US" dirty="0"/>
              <a:t>A scatterplot is used to determine if there is a relationship between two numerical variables.</a:t>
            </a:r>
          </a:p>
          <a:p>
            <a:endParaRPr lang="en-US" dirty="0"/>
          </a:p>
          <a:p>
            <a:r>
              <a:rPr lang="en-US" dirty="0"/>
              <a:t>Once you have created a scatterplot you need to be able to use it to see if there is a relationship between the two variables plotted.</a:t>
            </a:r>
          </a:p>
          <a:p>
            <a:endParaRPr lang="en-US" dirty="0"/>
          </a:p>
          <a:p>
            <a:r>
              <a:rPr lang="en-US" dirty="0"/>
              <a:t>The next slide (slide 4) shows you how you can go about reading and interpreting basic things from the scatterplot. Use this example to answer the questions on the worksheet that is attached to this PowerPoint.</a:t>
            </a:r>
            <a:endParaRPr lang="en-AU" dirty="0"/>
          </a:p>
          <a:p>
            <a:r>
              <a:rPr lang="en-US" dirty="0"/>
              <a:t> </a:t>
            </a:r>
            <a:endParaRPr lang="en-AU" dirty="0"/>
          </a:p>
        </p:txBody>
      </p:sp>
    </p:spTree>
    <p:extLst>
      <p:ext uri="{BB962C8B-B14F-4D97-AF65-F5344CB8AC3E}">
        <p14:creationId xmlns:p14="http://schemas.microsoft.com/office/powerpoint/2010/main" val="1366615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flipV="1">
            <a:off x="0" y="980729"/>
            <a:ext cx="12192000" cy="10667"/>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flipV="1">
            <a:off x="0" y="1892047"/>
            <a:ext cx="12192000" cy="24785"/>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9336" y="925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714500" y="1892047"/>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23392" y="274156"/>
            <a:ext cx="1928990" cy="461665"/>
          </a:xfrm>
          <a:prstGeom prst="rect">
            <a:avLst/>
          </a:prstGeom>
          <a:noFill/>
        </p:spPr>
        <p:txBody>
          <a:bodyPr wrap="none" rtlCol="0">
            <a:spAutoFit/>
          </a:bodyPr>
          <a:lstStyle/>
          <a:p>
            <a:r>
              <a:rPr lang="en-AU" sz="2400" dirty="0"/>
              <a:t>Bivariate Data</a:t>
            </a:r>
          </a:p>
        </p:txBody>
      </p:sp>
      <p:sp>
        <p:nvSpPr>
          <p:cNvPr id="11" name="TextBox 10"/>
          <p:cNvSpPr txBox="1"/>
          <p:nvPr/>
        </p:nvSpPr>
        <p:spPr>
          <a:xfrm>
            <a:off x="8616280" y="106355"/>
            <a:ext cx="2808311" cy="461665"/>
          </a:xfrm>
          <a:prstGeom prst="rect">
            <a:avLst/>
          </a:prstGeom>
          <a:noFill/>
        </p:spPr>
        <p:txBody>
          <a:bodyPr wrap="square" rtlCol="0">
            <a:spAutoFit/>
          </a:bodyPr>
          <a:lstStyle/>
          <a:p>
            <a:r>
              <a:rPr lang="en-AU" sz="2400" dirty="0"/>
              <a:t>Date:</a:t>
            </a:r>
          </a:p>
        </p:txBody>
      </p:sp>
      <p:sp>
        <p:nvSpPr>
          <p:cNvPr id="15" name="TextBox 14">
            <a:extLst>
              <a:ext uri="{FF2B5EF4-FFF2-40B4-BE49-F238E27FC236}">
                <a16:creationId xmlns:a16="http://schemas.microsoft.com/office/drawing/2014/main" id="{31056EAC-9909-49F8-AF63-CB2D7280E01D}"/>
              </a:ext>
            </a:extLst>
          </p:cNvPr>
          <p:cNvSpPr txBox="1"/>
          <p:nvPr/>
        </p:nvSpPr>
        <p:spPr>
          <a:xfrm>
            <a:off x="119514" y="1075004"/>
            <a:ext cx="11809134" cy="461665"/>
          </a:xfrm>
          <a:prstGeom prst="rect">
            <a:avLst/>
          </a:prstGeom>
          <a:noFill/>
        </p:spPr>
        <p:txBody>
          <a:bodyPr wrap="square" rtlCol="0">
            <a:spAutoFit/>
          </a:bodyPr>
          <a:lstStyle/>
          <a:p>
            <a:r>
              <a:rPr lang="en-US" sz="2400" b="1" dirty="0"/>
              <a:t>EQ: How do I read Scatterplots?</a:t>
            </a:r>
            <a:endParaRPr lang="en-AU" sz="2400" b="1" dirty="0"/>
          </a:p>
        </p:txBody>
      </p:sp>
      <p:cxnSp>
        <p:nvCxnSpPr>
          <p:cNvPr id="12" name="Straight Connector 11">
            <a:extLst>
              <a:ext uri="{FF2B5EF4-FFF2-40B4-BE49-F238E27FC236}">
                <a16:creationId xmlns:a16="http://schemas.microsoft.com/office/drawing/2014/main" id="{B2921594-86BB-436B-A39E-849002A7C61E}"/>
              </a:ext>
            </a:extLst>
          </p:cNvPr>
          <p:cNvCxnSpPr/>
          <p:nvPr/>
        </p:nvCxnSpPr>
        <p:spPr>
          <a:xfrm>
            <a:off x="6896150" y="1892047"/>
            <a:ext cx="0" cy="5112568"/>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89590DC1-80A7-4B3E-AF29-40A33599164C}"/>
              </a:ext>
            </a:extLst>
          </p:cNvPr>
          <p:cNvPicPr>
            <a:picLocks noChangeAspect="1"/>
          </p:cNvPicPr>
          <p:nvPr/>
        </p:nvPicPr>
        <p:blipFill>
          <a:blip r:embed="rId2"/>
          <a:stretch>
            <a:fillRect/>
          </a:stretch>
        </p:blipFill>
        <p:spPr>
          <a:xfrm>
            <a:off x="859719" y="2400300"/>
            <a:ext cx="5891212" cy="4438650"/>
          </a:xfrm>
          <a:prstGeom prst="rect">
            <a:avLst/>
          </a:prstGeom>
        </p:spPr>
      </p:pic>
      <p:sp>
        <p:nvSpPr>
          <p:cNvPr id="5" name="TextBox 4">
            <a:extLst>
              <a:ext uri="{FF2B5EF4-FFF2-40B4-BE49-F238E27FC236}">
                <a16:creationId xmlns:a16="http://schemas.microsoft.com/office/drawing/2014/main" id="{0B653AC5-691F-474D-90C3-5A7227C0DF45}"/>
              </a:ext>
            </a:extLst>
          </p:cNvPr>
          <p:cNvSpPr txBox="1"/>
          <p:nvPr/>
        </p:nvSpPr>
        <p:spPr>
          <a:xfrm>
            <a:off x="942975" y="1983425"/>
            <a:ext cx="2800341" cy="369332"/>
          </a:xfrm>
          <a:prstGeom prst="rect">
            <a:avLst/>
          </a:prstGeom>
          <a:noFill/>
        </p:spPr>
        <p:txBody>
          <a:bodyPr wrap="square" rtlCol="0">
            <a:spAutoFit/>
          </a:bodyPr>
          <a:lstStyle/>
          <a:p>
            <a:r>
              <a:rPr lang="en-US" dirty="0"/>
              <a:t>Example</a:t>
            </a:r>
            <a:endParaRPr lang="en-AU" dirty="0"/>
          </a:p>
        </p:txBody>
      </p:sp>
      <p:pic>
        <p:nvPicPr>
          <p:cNvPr id="16" name="Picture 15">
            <a:extLst>
              <a:ext uri="{FF2B5EF4-FFF2-40B4-BE49-F238E27FC236}">
                <a16:creationId xmlns:a16="http://schemas.microsoft.com/office/drawing/2014/main" id="{649E68A3-1C8E-4BF9-A2B3-85C69A04B4AD}"/>
              </a:ext>
            </a:extLst>
          </p:cNvPr>
          <p:cNvPicPr>
            <a:picLocks noChangeAspect="1"/>
          </p:cNvPicPr>
          <p:nvPr/>
        </p:nvPicPr>
        <p:blipFill>
          <a:blip r:embed="rId3"/>
          <a:stretch>
            <a:fillRect/>
          </a:stretch>
        </p:blipFill>
        <p:spPr>
          <a:xfrm>
            <a:off x="6942069" y="2499935"/>
            <a:ext cx="4913572" cy="3004298"/>
          </a:xfrm>
          <a:prstGeom prst="rect">
            <a:avLst/>
          </a:prstGeom>
        </p:spPr>
      </p:pic>
      <p:sp>
        <p:nvSpPr>
          <p:cNvPr id="17" name="TextBox 16">
            <a:extLst>
              <a:ext uri="{FF2B5EF4-FFF2-40B4-BE49-F238E27FC236}">
                <a16:creationId xmlns:a16="http://schemas.microsoft.com/office/drawing/2014/main" id="{1AA50AB3-395F-4E58-B750-4DB28A0A0F8D}"/>
              </a:ext>
            </a:extLst>
          </p:cNvPr>
          <p:cNvSpPr txBox="1"/>
          <p:nvPr/>
        </p:nvSpPr>
        <p:spPr>
          <a:xfrm>
            <a:off x="7184137" y="2067988"/>
            <a:ext cx="2800341" cy="369332"/>
          </a:xfrm>
          <a:prstGeom prst="rect">
            <a:avLst/>
          </a:prstGeom>
          <a:noFill/>
        </p:spPr>
        <p:txBody>
          <a:bodyPr wrap="square" rtlCol="0">
            <a:spAutoFit/>
          </a:bodyPr>
          <a:lstStyle/>
          <a:p>
            <a:r>
              <a:rPr lang="en-US" dirty="0"/>
              <a:t>Solution</a:t>
            </a:r>
            <a:endParaRPr lang="en-AU" dirty="0"/>
          </a:p>
        </p:txBody>
      </p:sp>
    </p:spTree>
    <p:extLst>
      <p:ext uri="{BB962C8B-B14F-4D97-AF65-F5344CB8AC3E}">
        <p14:creationId xmlns:p14="http://schemas.microsoft.com/office/powerpoint/2010/main" val="243479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flipV="1">
            <a:off x="0" y="980729"/>
            <a:ext cx="12192000" cy="10667"/>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a:cxnSpLocks/>
          </p:cNvCxnSpPr>
          <p:nvPr/>
        </p:nvCxnSpPr>
        <p:spPr>
          <a:xfrm flipV="1">
            <a:off x="0" y="1892047"/>
            <a:ext cx="12192000" cy="24785"/>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19336" y="925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1247825"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23392" y="274156"/>
            <a:ext cx="1928990" cy="461665"/>
          </a:xfrm>
          <a:prstGeom prst="rect">
            <a:avLst/>
          </a:prstGeom>
          <a:noFill/>
        </p:spPr>
        <p:txBody>
          <a:bodyPr wrap="none" rtlCol="0">
            <a:spAutoFit/>
          </a:bodyPr>
          <a:lstStyle/>
          <a:p>
            <a:r>
              <a:rPr lang="en-AU" sz="2400" dirty="0"/>
              <a:t>Bivariate Data</a:t>
            </a:r>
          </a:p>
        </p:txBody>
      </p:sp>
      <p:sp>
        <p:nvSpPr>
          <p:cNvPr id="11" name="TextBox 10"/>
          <p:cNvSpPr txBox="1"/>
          <p:nvPr/>
        </p:nvSpPr>
        <p:spPr>
          <a:xfrm>
            <a:off x="8616280" y="106355"/>
            <a:ext cx="2808311" cy="461665"/>
          </a:xfrm>
          <a:prstGeom prst="rect">
            <a:avLst/>
          </a:prstGeom>
          <a:noFill/>
        </p:spPr>
        <p:txBody>
          <a:bodyPr wrap="square" rtlCol="0">
            <a:spAutoFit/>
          </a:bodyPr>
          <a:lstStyle/>
          <a:p>
            <a:r>
              <a:rPr lang="en-AU" sz="2400" dirty="0"/>
              <a:t>Date:</a:t>
            </a:r>
          </a:p>
        </p:txBody>
      </p:sp>
      <p:sp>
        <p:nvSpPr>
          <p:cNvPr id="15" name="TextBox 14">
            <a:extLst>
              <a:ext uri="{FF2B5EF4-FFF2-40B4-BE49-F238E27FC236}">
                <a16:creationId xmlns:a16="http://schemas.microsoft.com/office/drawing/2014/main" id="{31056EAC-9909-49F8-AF63-CB2D7280E01D}"/>
              </a:ext>
            </a:extLst>
          </p:cNvPr>
          <p:cNvSpPr txBox="1"/>
          <p:nvPr/>
        </p:nvSpPr>
        <p:spPr>
          <a:xfrm>
            <a:off x="119514" y="1075004"/>
            <a:ext cx="11809134" cy="461665"/>
          </a:xfrm>
          <a:prstGeom prst="rect">
            <a:avLst/>
          </a:prstGeom>
          <a:noFill/>
        </p:spPr>
        <p:txBody>
          <a:bodyPr wrap="square" rtlCol="0">
            <a:spAutoFit/>
          </a:bodyPr>
          <a:lstStyle/>
          <a:p>
            <a:r>
              <a:rPr lang="en-US" sz="2400" b="1" dirty="0"/>
              <a:t>EQ: How do I read Scatterplots?</a:t>
            </a:r>
            <a:endParaRPr lang="en-AU" sz="2400" b="1" dirty="0"/>
          </a:p>
        </p:txBody>
      </p:sp>
      <p:sp>
        <p:nvSpPr>
          <p:cNvPr id="3" name="Rectangle 2">
            <a:extLst>
              <a:ext uri="{FF2B5EF4-FFF2-40B4-BE49-F238E27FC236}">
                <a16:creationId xmlns:a16="http://schemas.microsoft.com/office/drawing/2014/main" id="{BD145F59-5BAF-47BE-949B-99B2B41C322E}"/>
              </a:ext>
            </a:extLst>
          </p:cNvPr>
          <p:cNvSpPr/>
          <p:nvPr/>
        </p:nvSpPr>
        <p:spPr>
          <a:xfrm>
            <a:off x="1409382" y="2385919"/>
            <a:ext cx="8534690" cy="1868781"/>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1. Complete the Term 1 Week 9 Lesson 2_ Reading Scatterplots worksheet.</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2. Submit a photo of your work or the completed word document into the submissions folder under the correct folder</a:t>
            </a:r>
          </a:p>
          <a:p>
            <a:pPr>
              <a:lnSpc>
                <a:spcPct val="107000"/>
              </a:lnSpc>
              <a:spcAft>
                <a:spcPts val="800"/>
              </a:spcAft>
            </a:pPr>
            <a:r>
              <a:rPr lang="en-US" dirty="0">
                <a:latin typeface="Calibri" panose="020F0502020204030204" pitchFamily="34" charset="0"/>
                <a:ea typeface="Calibri" panose="020F0502020204030204" pitchFamily="34" charset="0"/>
                <a:cs typeface="Times New Roman" panose="02020603050405020304" pitchFamily="18" charset="0"/>
              </a:rPr>
              <a:t>3. </a:t>
            </a:r>
            <a:r>
              <a:rPr lang="en-US" dirty="0"/>
              <a:t>Complete </a:t>
            </a:r>
            <a:r>
              <a:rPr lang="en-US" dirty="0" err="1"/>
              <a:t>Mathspace</a:t>
            </a:r>
            <a:r>
              <a:rPr lang="en-US" dirty="0"/>
              <a:t> task _Term 1 Week 9 Homework_ Comparing two variables</a:t>
            </a:r>
          </a:p>
          <a:p>
            <a:pPr>
              <a:lnSpc>
                <a:spcPct val="107000"/>
              </a:lnSpc>
              <a:spcAft>
                <a:spcPts val="800"/>
              </a:spcAft>
            </a:pPr>
            <a:endParaRPr lang="en-AU"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7680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3361</TotalTime>
  <Words>332</Words>
  <Application>Microsoft Office PowerPoint</Application>
  <PresentationFormat>Widescreen</PresentationFormat>
  <Paragraphs>43</Paragraphs>
  <Slides>5</Slides>
  <Notes>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Topic: Bivariate data</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Bivariate data</dc:title>
  <dc:creator>Sarah James</dc:creator>
  <cp:lastModifiedBy>Sarah James</cp:lastModifiedBy>
  <cp:revision>5</cp:revision>
  <dcterms:created xsi:type="dcterms:W3CDTF">2020-03-27T01:17:52Z</dcterms:created>
  <dcterms:modified xsi:type="dcterms:W3CDTF">2020-03-29T09:19:12Z</dcterms:modified>
</cp:coreProperties>
</file>
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1" r:id="rId4"/>
    <p:sldId id="257" r:id="rId5"/>
    <p:sldId id="260" r:id="rId6"/>
    <p:sldId id="273" r:id="rId7"/>
    <p:sldId id="274" r:id="rId8"/>
    <p:sldId id="275" r:id="rId9"/>
    <p:sldId id="258" r:id="rId10"/>
    <p:sldId id="259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9C6F9-3261-4CF9-AC96-995AFB308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FA60F-D3DB-4735-BF04-9EF15FB9F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B924F-6402-43D7-BFAA-E1555185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2837F-81CE-4286-BC51-1DB36486A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99766-1608-4EE9-80D1-63C9214A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576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A84E-0F9F-49EC-A032-03D6DC26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68F6-6399-4942-B643-EB9FB0C89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57B14-3C60-4439-B58C-1727F8CD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2297-C92A-44FC-ADC6-27499271D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89D0D-94CF-4E42-A188-40E5739B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2029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BB22-B2A2-4C1A-A8C8-97199A0F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6AE87-C653-4825-A187-C318B6BAC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810C9-98C5-4F41-A210-968602A8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92893-E8F5-4DA9-8558-8A7CEEF6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6EA0-291A-4B7C-AF3D-E05A283C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9103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6E647-61C2-4D16-8919-AA2158EA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7E9FB-4FE1-4511-9D62-485EDEBBF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B3AD1-BA1F-4528-AE65-B1BF2546F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50684-0264-414F-BC8B-2F8A7BFB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93254-774F-4E15-836C-44866B3D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FD2CC-4B5F-422A-B600-349EB5F53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539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07D2-D047-4760-88A0-EBFF81652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BCC98-0052-4D8E-8C6B-1754E89C4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4106C-8755-4EA4-8D23-C607AB859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C2CC5-D3E0-45FE-A7BF-6756998B5D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38AC4-3D47-40C6-8394-34BD18191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074B9-828D-4DDA-B7C4-BBE30BCD3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8CEA1-1821-4810-8C59-F8925516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E78F96-075D-48D3-8721-98CA8ABF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175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6EF0-28D9-4B3B-8AAB-2254870C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C24E0-C6D6-4B2F-99CA-81940AD14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AAD66-FCC9-4C5D-B668-3747ABDB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F4184-0E43-45BE-A7D3-D784A3BA5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63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96420D-719D-426C-8DD7-1BC00749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AAEE7-B4A7-4C3B-921A-578BF43E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8356B-BD98-49B8-922E-550B2B0CD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75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F1D7-8703-4646-BF6B-E69A1963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73A70-6055-4021-B839-E260200A4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67DED-EC2E-4336-BCE9-D72BF4997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273D-69B6-41E4-8E48-C4851BEE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992B0-83A5-4A01-AF18-54519FC1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B4526-15AB-4B11-A0E4-46407B1B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10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0A2E-702A-4A02-BB3D-2202C97BE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17789-B1C8-448B-8054-F7E3193A7D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02B06E-98D4-45D8-99E7-DD4155DDA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B3978-AD9E-420F-883F-6779BE94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3C7C8-AC53-4F9E-BAF5-BA36D47C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EF42B-E2CB-4518-BB0B-FFDE93B2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1927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FE1E6-BA45-447F-A723-C40C8593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9F8A2F-B83C-489A-86FD-41A1F3CD2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55437-05BC-498B-8D54-953C52F66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30DF6-4619-4A08-9623-62986FA8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AEA8E-F0F9-42D6-BFCB-7632EB6E6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924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166B9-47BD-4D78-B46F-D19AA055B5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70FA5-D00A-4F87-B284-11F73521D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D1F26-A8C8-437E-9229-A15B88F9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87B3A-B056-4B29-8644-B5458A4E0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08CEA-C5B8-47FD-BD0B-C197F048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50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43019-CF23-49F7-AD70-D58195DD2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4453C-9D4A-4275-AFCA-7FA6561B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F8C32-9301-40EC-810A-478DD0DC22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915A-EFEE-42A7-82E1-958A50A2741C}" type="datetimeFigureOut">
              <a:rPr lang="en-AU" smtClean="0"/>
              <a:t>20/05/2020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167CB-F9ED-404A-BD7C-FC928E80B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2C1D-0BD0-49A2-A139-CF3F05AF0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45241-9E0E-4CFE-9998-4B49FC24F8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881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6.gif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e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4.wmf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2.wmf"/><Relationship Id="rId4" Type="http://schemas.openxmlformats.org/officeDocument/2006/relationships/image" Target="../media/image15.jpeg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2.bin"/><Relationship Id="rId3" Type="http://schemas.openxmlformats.org/officeDocument/2006/relationships/image" Target="../media/image21.gif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image" Target="../media/image29.gif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1.wmf"/><Relationship Id="rId4" Type="http://schemas.openxmlformats.org/officeDocument/2006/relationships/image" Target="../media/image30.gif"/><Relationship Id="rId9" Type="http://schemas.openxmlformats.org/officeDocument/2006/relationships/image" Target="../media/image2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1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F85D-3B6F-472C-A17D-4C2F98FFE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Teacher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026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BFB2-EC16-405C-986F-857FAB92F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Topic: Right-angled triangles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4523A-CBC9-4A97-B0C2-5BEA847AE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EQ: Using trigonometry in real life scenarios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07156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Definitions</a:t>
            </a:r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u="sng">
                <a:solidFill>
                  <a:srgbClr val="FFC000"/>
                </a:solidFill>
                <a:ea typeface="ＭＳ Ｐゴシック" pitchFamily="34" charset="-128"/>
              </a:rPr>
              <a:t>Angle of Elevation </a:t>
            </a:r>
            <a:r>
              <a:rPr lang="en-US">
                <a:ea typeface="ＭＳ Ｐゴシック" pitchFamily="34" charset="-128"/>
              </a:rPr>
              <a:t>- is the angle between the horizontal and the line of sight to an object above the horizontal.</a:t>
            </a:r>
          </a:p>
          <a:p>
            <a:pPr eaLnBrk="1" hangingPunct="1"/>
            <a:endParaRPr lang="en-US">
              <a:ea typeface="ＭＳ Ｐゴシック" pitchFamily="34" charset="-128"/>
            </a:endParaRPr>
          </a:p>
          <a:p>
            <a:pPr eaLnBrk="1" hangingPunct="1"/>
            <a:r>
              <a:rPr lang="en-US" b="1" u="sng">
                <a:solidFill>
                  <a:srgbClr val="FF0000"/>
                </a:solidFill>
                <a:ea typeface="ＭＳ Ｐゴシック" pitchFamily="34" charset="-128"/>
              </a:rPr>
              <a:t>Angle of Depression </a:t>
            </a:r>
            <a:r>
              <a:rPr lang="en-US">
                <a:ea typeface="ＭＳ Ｐゴシック" pitchFamily="34" charset="-128"/>
              </a:rPr>
              <a:t>- is the angle between the horizontal and the line of sight to an object beneath the horizontal.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0" name="Picture 16" descr="MCBD19883_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1" y="5334001"/>
            <a:ext cx="1579563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Vocabulary</a:t>
            </a:r>
          </a:p>
        </p:txBody>
      </p:sp>
      <p:sp>
        <p:nvSpPr>
          <p:cNvPr id="6164" name="Rectangle 20"/>
          <p:cNvSpPr>
            <a:spLocks noGrp="1" noChangeArrowheads="1"/>
          </p:cNvSpPr>
          <p:nvPr>
            <p:ph type="body" sz="half" idx="1"/>
          </p:nvPr>
        </p:nvSpPr>
        <p:spPr>
          <a:xfrm>
            <a:off x="1828800" y="1905000"/>
            <a:ext cx="3657600" cy="4114800"/>
          </a:xfrm>
        </p:spPr>
        <p:txBody>
          <a:bodyPr/>
          <a:lstStyle/>
          <a:p>
            <a:pPr eaLnBrk="1" hangingPunct="1"/>
            <a:r>
              <a:rPr lang="en-US" sz="2600">
                <a:ea typeface="ＭＳ Ｐゴシック" pitchFamily="34" charset="-128"/>
              </a:rPr>
              <a:t>Angle of Depression and Angle of Elevation are Equal</a:t>
            </a:r>
          </a:p>
        </p:txBody>
      </p:sp>
      <p:pic>
        <p:nvPicPr>
          <p:cNvPr id="6151" name="Picture 7" descr="MCj0388678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1600201"/>
            <a:ext cx="1828800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4572000" y="5562600"/>
            <a:ext cx="42672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 flipV="1">
            <a:off x="4572000" y="2514600"/>
            <a:ext cx="4191000" cy="3048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5562600" y="2514600"/>
            <a:ext cx="3200400" cy="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5410200" y="2667001"/>
            <a:ext cx="342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latin typeface="Comic Sans MS" pitchFamily="66" charset="0"/>
              </a:rPr>
              <a:t>Angle of Depression</a:t>
            </a: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5562600" y="5029201"/>
            <a:ext cx="342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b="1">
                <a:latin typeface="Comic Sans MS" pitchFamily="66" charset="0"/>
              </a:rPr>
              <a:t>Angle of Elevation</a:t>
            </a: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5486400" y="2057401"/>
            <a:ext cx="342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FC4B14"/>
                </a:solidFill>
                <a:latin typeface="Comic Sans MS" pitchFamily="66" charset="0"/>
              </a:rPr>
              <a:t>Horizontal Line</a:t>
            </a: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5257800" y="5638801"/>
            <a:ext cx="3429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>
                <a:solidFill>
                  <a:srgbClr val="FC4B14"/>
                </a:solidFill>
                <a:latin typeface="Comic Sans MS" pitchFamily="66" charset="0"/>
              </a:rPr>
              <a:t>Horizontal 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" grpId="0" build="p"/>
      <p:bldP spid="6155" grpId="0" animBg="1"/>
      <p:bldP spid="6156" grpId="0" animBg="1"/>
      <p:bldP spid="6157" grpId="0" animBg="1"/>
      <p:bldP spid="6158" grpId="0"/>
      <p:bldP spid="6159" grpId="0"/>
      <p:bldP spid="6161" grpId="0"/>
      <p:bldP spid="61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Identifying Angles of Elevation and Depression</a:t>
            </a:r>
          </a:p>
        </p:txBody>
      </p:sp>
      <p:pic>
        <p:nvPicPr>
          <p:cNvPr id="28674" name="Picture 6" descr="MMj03369290000[1]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810000"/>
            <a:ext cx="20383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Picture 7" descr="MCj0398535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6" y="4951252"/>
            <a:ext cx="18383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Line 8"/>
          <p:cNvSpPr>
            <a:spLocks noChangeShapeType="1"/>
          </p:cNvSpPr>
          <p:nvPr/>
        </p:nvSpPr>
        <p:spPr bwMode="auto">
          <a:xfrm flipV="1">
            <a:off x="3657600" y="4191000"/>
            <a:ext cx="5943600" cy="1447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77" name="Line 9"/>
          <p:cNvSpPr>
            <a:spLocks noChangeShapeType="1"/>
          </p:cNvSpPr>
          <p:nvPr/>
        </p:nvSpPr>
        <p:spPr bwMode="auto">
          <a:xfrm flipV="1">
            <a:off x="3657600" y="5791200"/>
            <a:ext cx="57150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78" name="Line 10"/>
          <p:cNvSpPr>
            <a:spLocks noChangeShapeType="1"/>
          </p:cNvSpPr>
          <p:nvPr/>
        </p:nvSpPr>
        <p:spPr bwMode="auto">
          <a:xfrm flipV="1">
            <a:off x="3657600" y="4114800"/>
            <a:ext cx="60198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9467" name="Object 11"/>
          <p:cNvGraphicFramePr>
            <a:graphicFrameLocks noChangeAspect="1"/>
          </p:cNvGraphicFramePr>
          <p:nvPr/>
        </p:nvGraphicFramePr>
        <p:xfrm>
          <a:off x="7620001" y="4114801"/>
          <a:ext cx="2127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5" imgW="88707" imgH="164742" progId="Equation.3">
                  <p:embed/>
                </p:oleObj>
              </mc:Choice>
              <mc:Fallback>
                <p:oleObj name="Equation" r:id="rId5" imgW="88707" imgH="164742" progId="Equation.3">
                  <p:embed/>
                  <p:pic>
                    <p:nvPicPr>
                      <p:cNvPr id="194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114801"/>
                        <a:ext cx="2127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4876801" y="5334001"/>
          <a:ext cx="30321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7" imgW="126780" imgH="164814" progId="Equation.3">
                  <p:embed/>
                </p:oleObj>
              </mc:Choice>
              <mc:Fallback>
                <p:oleObj name="Equation" r:id="rId7" imgW="126780" imgH="164814" progId="Equation.3">
                  <p:embed/>
                  <p:pic>
                    <p:nvPicPr>
                      <p:cNvPr id="194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1" y="5334001"/>
                        <a:ext cx="30321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Object 13"/>
          <p:cNvGraphicFramePr>
            <a:graphicFrameLocks noChangeAspect="1"/>
          </p:cNvGraphicFramePr>
          <p:nvPr/>
        </p:nvGraphicFramePr>
        <p:xfrm>
          <a:off x="1905000" y="1676400"/>
          <a:ext cx="8243888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9" imgW="2616200" imgH="660400" progId="Equation.3">
                  <p:embed/>
                </p:oleObj>
              </mc:Choice>
              <mc:Fallback>
                <p:oleObj name="Equation" r:id="rId9" imgW="2616200" imgH="660400" progId="Equation.3">
                  <p:embed/>
                  <p:pic>
                    <p:nvPicPr>
                      <p:cNvPr id="194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676400"/>
                        <a:ext cx="8243888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524000" y="833865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6699"/>
                </a:solidFill>
                <a:latin typeface="Arial Black" pitchFamily="34" charset="0"/>
              </a:rPr>
              <a:t>Example 1: Classifying Angles of Elevation and Depression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828800" y="1974762"/>
            <a:ext cx="510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978400" algn="l"/>
              </a:tabLst>
            </a:pP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Classify each angle as an angle of elevation or an angle of depression.</a:t>
            </a: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809751"/>
            <a:ext cx="3790950" cy="171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1828801" y="327660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1 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828800" y="4260762"/>
            <a:ext cx="76342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1 is formed by a horizontal line and a line of sight to a point below the line. It is an angle of depression. </a:t>
            </a:r>
          </a:p>
        </p:txBody>
      </p:sp>
    </p:spTree>
    <p:extLst>
      <p:ext uri="{BB962C8B-B14F-4D97-AF65-F5344CB8AC3E}">
        <p14:creationId xmlns:p14="http://schemas.microsoft.com/office/powerpoint/2010/main" val="13413096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524000" y="833865"/>
            <a:ext cx="914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6699"/>
                </a:solidFill>
                <a:latin typeface="Arial Black" pitchFamily="34" charset="0"/>
              </a:rPr>
              <a:t>Example 2: Classifying Angles of Elevation and Depression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828800" y="1974762"/>
            <a:ext cx="5105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978400" algn="l"/>
              </a:tabLst>
            </a:pP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Classify each angle as an angle of elevation or an angle of depression.</a:t>
            </a: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809751"/>
            <a:ext cx="3790950" cy="171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1828801" y="3276600"/>
            <a:ext cx="741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4 </a:t>
            </a:r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1905001" y="4191001"/>
            <a:ext cx="8315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4 is formed by a horizontal line and a line of sight to a point above the line. It is an angle of elevation.</a:t>
            </a:r>
          </a:p>
        </p:txBody>
      </p:sp>
    </p:spTree>
    <p:extLst>
      <p:ext uri="{BB962C8B-B14F-4D97-AF65-F5344CB8AC3E}">
        <p14:creationId xmlns:p14="http://schemas.microsoft.com/office/powerpoint/2010/main" val="62322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1524000" y="838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rect">
                    <a:fillToRect r="100000" b="10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Arial Black" pitchFamily="34" charset="0"/>
              </a:rPr>
              <a:t>Check It Out!</a:t>
            </a:r>
            <a:r>
              <a:rPr lang="en-US" altLang="en-US" sz="2400">
                <a:solidFill>
                  <a:srgbClr val="006699"/>
                </a:solidFill>
                <a:latin typeface="Arial Black" pitchFamily="34" charset="0"/>
              </a:rPr>
              <a:t> Example 3 </a:t>
            </a:r>
            <a:endParaRPr lang="en-US" altLang="en-US" sz="2600">
              <a:solidFill>
                <a:srgbClr val="333399"/>
              </a:solidFill>
              <a:latin typeface="Arial MT Bl" charset="0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828800" y="1524000"/>
            <a:ext cx="5791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</a:rPr>
              <a:t>Use the diagram above to classify each angle as an angle of elevation or angle of depression.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1627188"/>
            <a:ext cx="3067050" cy="2106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1905001" y="3200400"/>
            <a:ext cx="124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3a. 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5</a:t>
            </a: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905000" y="5029200"/>
            <a:ext cx="1257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sz="2400" b="1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3b. 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6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1905001" y="5562601"/>
            <a:ext cx="8315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6 is formed by a horizontal line and a line of sight to a point above the line. It is an angle of elevation.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1905000" y="3803562"/>
            <a:ext cx="76342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en-US" sz="2400">
                <a:solidFill>
                  <a:srgbClr val="000000"/>
                </a:solidFill>
                <a:latin typeface="Verdana" pitchFamily="34" charset="0"/>
                <a:sym typeface="Symbol" pitchFamily="18" charset="2"/>
              </a:rPr>
              <a:t></a:t>
            </a:r>
            <a:r>
              <a:rPr lang="en-US" sz="2400">
                <a:solidFill>
                  <a:srgbClr val="000000"/>
                </a:solidFill>
                <a:latin typeface="Verdana" pitchFamily="34" charset="0"/>
              </a:rPr>
              <a:t>5 is formed by a horizontal line and a line of sight to a point below the line. It is an angle of depression. </a:t>
            </a:r>
          </a:p>
        </p:txBody>
      </p:sp>
    </p:spTree>
    <p:extLst>
      <p:ext uri="{BB962C8B-B14F-4D97-AF65-F5344CB8AC3E}">
        <p14:creationId xmlns:p14="http://schemas.microsoft.com/office/powerpoint/2010/main" val="1026105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174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11" descr="MCj0406324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1" y="3352800"/>
            <a:ext cx="1565275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A Line of Sight Example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524000"/>
            <a:ext cx="8382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pitchFamily="34" charset="-128"/>
              </a:rPr>
              <a:t>You sight a rock climber on a cliff at a 32</a:t>
            </a:r>
            <a:r>
              <a:rPr lang="en-US" baseline="30000" dirty="0">
                <a:ea typeface="ＭＳ Ｐゴシック" pitchFamily="34" charset="-128"/>
              </a:rPr>
              <a:t>o</a:t>
            </a:r>
            <a:r>
              <a:rPr lang="en-US" dirty="0">
                <a:ea typeface="ＭＳ Ｐゴシック" pitchFamily="34" charset="-128"/>
              </a:rPr>
              <a:t> angle of elevation.  The horizontal ground distance to the cliff is 305 m.  Find the line of sight distance to the rock climber.</a:t>
            </a:r>
          </a:p>
        </p:txBody>
      </p:sp>
      <p:pic>
        <p:nvPicPr>
          <p:cNvPr id="29700" name="Picture 6" descr="MPj0387540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0" y="5410200"/>
            <a:ext cx="762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Line 8"/>
          <p:cNvSpPr>
            <a:spLocks noChangeShapeType="1"/>
          </p:cNvSpPr>
          <p:nvPr/>
        </p:nvSpPr>
        <p:spPr bwMode="auto">
          <a:xfrm flipH="1">
            <a:off x="7010400" y="6324600"/>
            <a:ext cx="27432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2" name="Line 7"/>
          <p:cNvSpPr>
            <a:spLocks noChangeShapeType="1"/>
          </p:cNvSpPr>
          <p:nvPr/>
        </p:nvSpPr>
        <p:spPr bwMode="auto">
          <a:xfrm flipH="1" flipV="1">
            <a:off x="7010400" y="3429000"/>
            <a:ext cx="2743200" cy="2895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3" name="Line 12"/>
          <p:cNvSpPr>
            <a:spLocks noChangeShapeType="1"/>
          </p:cNvSpPr>
          <p:nvPr/>
        </p:nvSpPr>
        <p:spPr bwMode="auto">
          <a:xfrm>
            <a:off x="7010400" y="3429000"/>
            <a:ext cx="0" cy="2895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8839200" y="5867400"/>
          <a:ext cx="609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253670" imgH="177569" progId="Equation.3">
                  <p:embed/>
                </p:oleObj>
              </mc:Choice>
              <mc:Fallback>
                <p:oleObj name="Equation" r:id="rId5" imgW="253670" imgH="177569" progId="Equation.3">
                  <p:embed/>
                  <p:pic>
                    <p:nvPicPr>
                      <p:cNvPr id="153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5867400"/>
                        <a:ext cx="6096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848600" y="6400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305 m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8305800" y="4419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i="1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2779713" y="3200400"/>
          <a:ext cx="255746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7" imgW="914400" imgH="393480" progId="Equation.3">
                  <p:embed/>
                </p:oleObj>
              </mc:Choice>
              <mc:Fallback>
                <p:oleObj name="Equation" r:id="rId7" imgW="914400" imgH="393480" progId="Equation.3">
                  <p:embed/>
                  <p:pic>
                    <p:nvPicPr>
                      <p:cNvPr id="1537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3200400"/>
                        <a:ext cx="255746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8" name="Object 18"/>
          <p:cNvGraphicFramePr>
            <a:graphicFrameLocks noChangeAspect="1"/>
          </p:cNvGraphicFramePr>
          <p:nvPr/>
        </p:nvGraphicFramePr>
        <p:xfrm>
          <a:off x="2978150" y="4419600"/>
          <a:ext cx="216535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9" imgW="774360" imgH="393480" progId="Equation.3">
                  <p:embed/>
                </p:oleObj>
              </mc:Choice>
              <mc:Fallback>
                <p:oleObj name="Equation" r:id="rId9" imgW="774360" imgH="393480" progId="Equation.3">
                  <p:embed/>
                  <p:pic>
                    <p:nvPicPr>
                      <p:cNvPr id="1537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4419600"/>
                        <a:ext cx="216535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9" name="Object 19"/>
          <p:cNvGraphicFramePr>
            <a:graphicFrameLocks noChangeAspect="1"/>
          </p:cNvGraphicFramePr>
          <p:nvPr/>
        </p:nvGraphicFramePr>
        <p:xfrm>
          <a:off x="3101976" y="6096001"/>
          <a:ext cx="184626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1" imgW="660240" imgH="177480" progId="Equation.3">
                  <p:embed/>
                </p:oleObj>
              </mc:Choice>
              <mc:Fallback>
                <p:oleObj name="Equation" r:id="rId11" imgW="660240" imgH="177480" progId="Equation.3">
                  <p:embed/>
                  <p:pic>
                    <p:nvPicPr>
                      <p:cNvPr id="1537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6" y="6096001"/>
                        <a:ext cx="184626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3048000" y="6019800"/>
            <a:ext cx="1981200" cy="609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4" grpId="0"/>
      <p:bldP spid="15375" grpId="0"/>
      <p:bldP spid="153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 An Airplane Example</a:t>
            </a:r>
          </a:p>
        </p:txBody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05800" cy="4114800"/>
          </a:xfrm>
        </p:spPr>
        <p:txBody>
          <a:bodyPr/>
          <a:lstStyle/>
          <a:p>
            <a:pPr eaLnBrk="1" hangingPunct="1"/>
            <a:r>
              <a:rPr lang="en-US">
                <a:ea typeface="ＭＳ Ｐゴシック" pitchFamily="34" charset="-128"/>
              </a:rPr>
              <a:t>An airplane pilots sights a life raft at a 26</a:t>
            </a:r>
            <a:r>
              <a:rPr lang="en-US" baseline="30000">
                <a:ea typeface="ＭＳ Ｐゴシック" pitchFamily="34" charset="-128"/>
              </a:rPr>
              <a:t>o</a:t>
            </a:r>
            <a:r>
              <a:rPr lang="en-US">
                <a:ea typeface="ＭＳ Ｐゴシック" pitchFamily="34" charset="-128"/>
              </a:rPr>
              <a:t> angle of depression.  The airplane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>
                <a:ea typeface="ＭＳ Ｐゴシック" pitchFamily="34" charset="-128"/>
              </a:rPr>
              <a:t>s altitude is 3 km.  What is the airplane</a:t>
            </a:r>
            <a:r>
              <a:rPr lang="ja-JP" altLang="en-US">
                <a:ea typeface="ＭＳ Ｐゴシック" pitchFamily="34" charset="-128"/>
              </a:rPr>
              <a:t>’</a:t>
            </a:r>
            <a:r>
              <a:rPr lang="en-US" altLang="ja-JP">
                <a:ea typeface="ＭＳ Ｐゴシック" pitchFamily="34" charset="-128"/>
              </a:rPr>
              <a:t>s surface distance </a:t>
            </a:r>
            <a:r>
              <a:rPr lang="en-US" altLang="ja-JP" i="1">
                <a:ea typeface="ＭＳ Ｐゴシック" pitchFamily="34" charset="-128"/>
              </a:rPr>
              <a:t>d</a:t>
            </a:r>
            <a:r>
              <a:rPr lang="en-US" altLang="ja-JP">
                <a:ea typeface="ＭＳ Ｐゴシック" pitchFamily="34" charset="-128"/>
              </a:rPr>
              <a:t> from the raft?</a:t>
            </a:r>
            <a:endParaRPr lang="en-US">
              <a:ea typeface="ＭＳ Ｐゴシック" pitchFamily="34" charset="-128"/>
            </a:endParaRPr>
          </a:p>
        </p:txBody>
      </p:sp>
      <p:pic>
        <p:nvPicPr>
          <p:cNvPr id="30723" name="Picture 5" descr="MMj02835770000[1]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505201"/>
            <a:ext cx="914400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6" descr="MCj0215770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7401" y="5638800"/>
            <a:ext cx="53816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Line 7"/>
          <p:cNvSpPr>
            <a:spLocks noChangeShapeType="1"/>
          </p:cNvSpPr>
          <p:nvPr/>
        </p:nvSpPr>
        <p:spPr bwMode="auto">
          <a:xfrm>
            <a:off x="7620000" y="3962400"/>
            <a:ext cx="2133600" cy="1905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26" name="Line 8"/>
          <p:cNvSpPr>
            <a:spLocks noChangeShapeType="1"/>
          </p:cNvSpPr>
          <p:nvPr/>
        </p:nvSpPr>
        <p:spPr bwMode="auto">
          <a:xfrm>
            <a:off x="7620000" y="3962400"/>
            <a:ext cx="0" cy="1905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27" name="Line 9"/>
          <p:cNvSpPr>
            <a:spLocks noChangeShapeType="1"/>
          </p:cNvSpPr>
          <p:nvPr/>
        </p:nvSpPr>
        <p:spPr bwMode="auto">
          <a:xfrm>
            <a:off x="7620000" y="5867400"/>
            <a:ext cx="21336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8001000" y="3962400"/>
          <a:ext cx="609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5" imgW="253670" imgH="177569" progId="Equation.3">
                  <p:embed/>
                </p:oleObj>
              </mc:Choice>
              <mc:Fallback>
                <p:oleObj name="Equation" r:id="rId5" imgW="253670" imgH="177569" progId="Equation.3">
                  <p:embed/>
                  <p:pic>
                    <p:nvPicPr>
                      <p:cNvPr id="163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962400"/>
                        <a:ext cx="6096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Line 11"/>
          <p:cNvSpPr>
            <a:spLocks noChangeShapeType="1"/>
          </p:cNvSpPr>
          <p:nvPr/>
        </p:nvSpPr>
        <p:spPr bwMode="auto">
          <a:xfrm>
            <a:off x="7620000" y="3962400"/>
            <a:ext cx="2133600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8839200" y="5486400"/>
          <a:ext cx="6096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7" imgW="253670" imgH="177569" progId="Equation.3">
                  <p:embed/>
                </p:oleObj>
              </mc:Choice>
              <mc:Fallback>
                <p:oleObj name="Equation" r:id="rId7" imgW="253670" imgH="177569" progId="Equation.3">
                  <p:embed/>
                  <p:pic>
                    <p:nvPicPr>
                      <p:cNvPr id="163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0" y="5486400"/>
                        <a:ext cx="6096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6781800" y="47244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3 km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8305800" y="5943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i="1">
                <a:solidFill>
                  <a:srgbClr val="FF0000"/>
                </a:solidFill>
              </a:rPr>
              <a:t>d</a:t>
            </a:r>
          </a:p>
        </p:txBody>
      </p:sp>
      <p:graphicFrame>
        <p:nvGraphicFramePr>
          <p:cNvPr id="16399" name="Object 15"/>
          <p:cNvGraphicFramePr>
            <a:graphicFrameLocks noChangeAspect="1"/>
          </p:cNvGraphicFramePr>
          <p:nvPr/>
        </p:nvGraphicFramePr>
        <p:xfrm>
          <a:off x="2924176" y="3505200"/>
          <a:ext cx="2238375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9" imgW="799920" imgH="393480" progId="Equation.3">
                  <p:embed/>
                </p:oleObj>
              </mc:Choice>
              <mc:Fallback>
                <p:oleObj name="Equation" r:id="rId9" imgW="799920" imgH="393480" progId="Equation.3">
                  <p:embed/>
                  <p:pic>
                    <p:nvPicPr>
                      <p:cNvPr id="163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6" y="3505200"/>
                        <a:ext cx="2238375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0" name="Object 16"/>
          <p:cNvGraphicFramePr>
            <a:graphicFrameLocks noChangeAspect="1"/>
          </p:cNvGraphicFramePr>
          <p:nvPr/>
        </p:nvGraphicFramePr>
        <p:xfrm>
          <a:off x="2909888" y="4648200"/>
          <a:ext cx="2233612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11" imgW="799920" imgH="393480" progId="Equation.3">
                  <p:embed/>
                </p:oleObj>
              </mc:Choice>
              <mc:Fallback>
                <p:oleObj name="Equation" r:id="rId11" imgW="799920" imgH="393480" progId="Equation.3">
                  <p:embed/>
                  <p:pic>
                    <p:nvPicPr>
                      <p:cNvPr id="164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4648200"/>
                        <a:ext cx="2233612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17"/>
          <p:cNvGraphicFramePr>
            <a:graphicFrameLocks noChangeAspect="1"/>
          </p:cNvGraphicFramePr>
          <p:nvPr/>
        </p:nvGraphicFramePr>
        <p:xfrm>
          <a:off x="3030539" y="6096001"/>
          <a:ext cx="19907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3" imgW="710891" imgH="177723" progId="Equation.3">
                  <p:embed/>
                </p:oleObj>
              </mc:Choice>
              <mc:Fallback>
                <p:oleObj name="Equation" r:id="rId13" imgW="710891" imgH="177723" progId="Equation.3">
                  <p:embed/>
                  <p:pic>
                    <p:nvPicPr>
                      <p:cNvPr id="1640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9" y="6096001"/>
                        <a:ext cx="19907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3048000" y="6019800"/>
            <a:ext cx="1981200" cy="6096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7" grpId="0"/>
      <p:bldP spid="16398" grpId="0"/>
      <p:bldP spid="1640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2" descr="\\MCENOV2\VOL1\Installs\MSOffice\CD2\PFiles\MSOffice\Clipart\standard\stddir3\na01771_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60007"/>
            <a:ext cx="914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Text Box 2"/>
          <p:cNvSpPr txBox="1">
            <a:spLocks noChangeArrowheads="1"/>
          </p:cNvSpPr>
          <p:nvPr/>
        </p:nvSpPr>
        <p:spPr bwMode="auto">
          <a:xfrm>
            <a:off x="1593908" y="1371600"/>
            <a:ext cx="914400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400" dirty="0">
                <a:solidFill>
                  <a:schemeClr val="tx2"/>
                </a:solidFill>
              </a:rPr>
              <a:t>A surveyor is standing </a:t>
            </a:r>
            <a:r>
              <a:rPr lang="en-US" sz="3400" b="1" dirty="0">
                <a:solidFill>
                  <a:srgbClr val="00CC00"/>
                </a:solidFill>
              </a:rPr>
              <a:t>15 m</a:t>
            </a:r>
            <a:r>
              <a:rPr lang="en-US" sz="3400" dirty="0">
                <a:solidFill>
                  <a:schemeClr val="tx2"/>
                </a:solidFill>
              </a:rPr>
              <a:t> from the base of a large tree.  The surveyor measures the </a:t>
            </a:r>
            <a:r>
              <a:rPr lang="en-US" sz="3400" b="1" dirty="0">
                <a:solidFill>
                  <a:srgbClr val="00CC00"/>
                </a:solidFill>
              </a:rPr>
              <a:t>angle of elevation</a:t>
            </a:r>
            <a:r>
              <a:rPr lang="en-US" sz="3400" dirty="0">
                <a:solidFill>
                  <a:schemeClr val="tx2"/>
                </a:solidFill>
              </a:rPr>
              <a:t> to the top of the tree as </a:t>
            </a:r>
            <a:r>
              <a:rPr lang="en-US" sz="3400" b="1" dirty="0">
                <a:solidFill>
                  <a:srgbClr val="00CC00"/>
                </a:solidFill>
              </a:rPr>
              <a:t>71.5</a:t>
            </a:r>
            <a:r>
              <a:rPr lang="en-US" sz="3400" b="1" dirty="0">
                <a:solidFill>
                  <a:srgbClr val="00CC00"/>
                </a:solidFill>
                <a:cs typeface="Times New Roman" pitchFamily="18" charset="0"/>
              </a:rPr>
              <a:t>°</a:t>
            </a:r>
            <a:r>
              <a:rPr lang="en-US" sz="3400" dirty="0">
                <a:solidFill>
                  <a:srgbClr val="00CC00"/>
                </a:solidFill>
                <a:cs typeface="Times New Roman" pitchFamily="18" charset="0"/>
              </a:rPr>
              <a:t>.</a:t>
            </a:r>
            <a:r>
              <a:rPr lang="en-US" sz="3400" dirty="0">
                <a:solidFill>
                  <a:schemeClr val="tx2"/>
                </a:solidFill>
                <a:cs typeface="Times New Roman" pitchFamily="18" charset="0"/>
              </a:rPr>
              <a:t>  How tall is the tree?</a:t>
            </a:r>
            <a:endParaRPr lang="en-US" sz="3400" dirty="0">
              <a:solidFill>
                <a:schemeClr val="tx2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2514600" y="6157119"/>
            <a:ext cx="3581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3505200" y="6157119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dirty="0">
                <a:solidFill>
                  <a:schemeClr val="tx2"/>
                </a:solidFill>
              </a:rPr>
              <a:t>15 m</a:t>
            </a: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2514600" y="3947319"/>
            <a:ext cx="3505200" cy="21336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200" name="Arc 8"/>
          <p:cNvSpPr>
            <a:spLocks/>
          </p:cNvSpPr>
          <p:nvPr/>
        </p:nvSpPr>
        <p:spPr bwMode="auto">
          <a:xfrm flipH="1">
            <a:off x="4876800" y="5623719"/>
            <a:ext cx="304800" cy="53340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4038600" y="5485607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>
                <a:solidFill>
                  <a:schemeClr val="tx2"/>
                </a:solidFill>
              </a:rPr>
              <a:t>71.5°</a:t>
            </a:r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1524000" y="4785520"/>
            <a:ext cx="381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b="1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6677637" y="3947320"/>
            <a:ext cx="1981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dirty="0">
                <a:solidFill>
                  <a:schemeClr val="tx2"/>
                </a:solidFill>
              </a:rPr>
              <a:t> tan 71.5</a:t>
            </a:r>
            <a:r>
              <a:rPr lang="en-US" sz="3000" dirty="0">
                <a:solidFill>
                  <a:schemeClr val="tx2"/>
                </a:solidFill>
                <a:cs typeface="Times New Roman" pitchFamily="18" charset="0"/>
              </a:rPr>
              <a:t>°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8207" name="Text Box 15"/>
          <p:cNvSpPr txBox="1">
            <a:spLocks noChangeArrowheads="1"/>
          </p:cNvSpPr>
          <p:nvPr/>
        </p:nvSpPr>
        <p:spPr bwMode="auto">
          <a:xfrm>
            <a:off x="6705600" y="4937920"/>
            <a:ext cx="3276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000" dirty="0">
                <a:solidFill>
                  <a:schemeClr val="tx2"/>
                </a:solidFill>
              </a:rPr>
              <a:t> y = 15 (tan 71.5</a:t>
            </a:r>
            <a:r>
              <a:rPr lang="en-US" sz="3000" dirty="0">
                <a:solidFill>
                  <a:schemeClr val="tx2"/>
                </a:solidFill>
                <a:cs typeface="Times New Roman" pitchFamily="18" charset="0"/>
              </a:rPr>
              <a:t>°)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705600" y="6385719"/>
            <a:ext cx="33528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300">
                <a:solidFill>
                  <a:schemeClr val="tx2"/>
                </a:solidFill>
              </a:rPr>
              <a:t> </a:t>
            </a:r>
          </a:p>
        </p:txBody>
      </p:sp>
      <p:pic>
        <p:nvPicPr>
          <p:cNvPr id="42002" name="Picture 21" descr="\\MCENOV2\VOL1\Installs\MSOffice\CD2\PFiles\MSOffice\Clipart\smbusbas\bd09860_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422107"/>
            <a:ext cx="655638" cy="73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 txBox="1">
            <a:spLocks noChangeArrowheads="1"/>
          </p:cNvSpPr>
          <p:nvPr/>
        </p:nvSpPr>
        <p:spPr>
          <a:xfrm>
            <a:off x="3048000" y="190501"/>
            <a:ext cx="7010400" cy="15271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ＭＳ Ｐゴシック" charset="0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  <a:ea typeface="ＭＳ Ｐゴシック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>
                <a:ea typeface="ＭＳ Ｐゴシック" pitchFamily="34" charset="-128"/>
              </a:rPr>
              <a:t> An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8229600" y="3839963"/>
                <a:ext cx="991490" cy="7248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AU" sz="2400" i="1">
                              <a:latin typeface="Cambria Math"/>
                            </a:rPr>
                            <m:t>15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3839963"/>
                <a:ext cx="991490" cy="7248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6997340" y="5775204"/>
                <a:ext cx="17463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/>
                        </a:rPr>
                        <m:t>𝑦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≈44.8 </m:t>
                      </m:r>
                      <m:r>
                        <a:rPr lang="en-AU" sz="2400" i="1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7340" y="5775204"/>
                <a:ext cx="1746312" cy="46166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6397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4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8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animBg="1"/>
      <p:bldP spid="8198" grpId="0" autoUpdateAnimBg="0"/>
      <p:bldP spid="8199" grpId="0" animBg="1"/>
      <p:bldP spid="8200" grpId="0" animBg="1"/>
      <p:bldP spid="8201" grpId="0" autoUpdateAnimBg="0"/>
      <p:bldP spid="8202" grpId="0" autoUpdateAnimBg="0"/>
      <p:bldP spid="8205" grpId="0" autoUpdateAnimBg="0"/>
      <p:bldP spid="8207" grpId="0" autoUpdateAnimBg="0"/>
      <p:bldP spid="8209" grpId="0" autoUpdateAnimBg="0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solidFill>
                  <a:schemeClr val="bg2"/>
                </a:solidFill>
              </a:rPr>
              <a:t>Angle of Elevation and Depression</a:t>
            </a:r>
          </a:p>
        </p:txBody>
      </p:sp>
      <p:pic>
        <p:nvPicPr>
          <p:cNvPr id="27651" name="Picture 3" descr="MMj03034340000[1]"/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5105401"/>
            <a:ext cx="838200" cy="600075"/>
          </a:xfrm>
          <a:noFill/>
        </p:spPr>
      </p:pic>
      <p:pic>
        <p:nvPicPr>
          <p:cNvPr id="27652" name="Picture 4" descr="MMj02544630000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86651" y="2743200"/>
            <a:ext cx="2720975" cy="3200400"/>
          </a:xfrm>
          <a:noFill/>
        </p:spPr>
      </p:pic>
      <p:pic>
        <p:nvPicPr>
          <p:cNvPr id="27653" name="Picture 5" descr="MCj0318890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828800"/>
            <a:ext cx="6778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3505200" y="1600201"/>
            <a:ext cx="6477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Suppose the angle of depression from a lighthouse to a sailboat is 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  <a:r>
              <a:rPr lang="en-US">
                <a:solidFill>
                  <a:srgbClr val="FF0000"/>
                </a:solidFill>
              </a:rPr>
              <a:t>.  If the lighthouse is 150 ft tall, how far away is the sailboat?</a:t>
            </a: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H="1">
            <a:off x="2819400" y="3200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 flipH="1">
            <a:off x="2819400" y="3276600"/>
            <a:ext cx="617220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57" name="Line 10"/>
          <p:cNvSpPr>
            <a:spLocks noChangeShapeType="1"/>
          </p:cNvSpPr>
          <p:nvPr/>
        </p:nvSpPr>
        <p:spPr bwMode="auto">
          <a:xfrm>
            <a:off x="2819400" y="32004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3324" name="Object 12"/>
          <p:cNvGraphicFramePr>
            <a:graphicFrameLocks noChangeAspect="1"/>
          </p:cNvGraphicFramePr>
          <p:nvPr/>
        </p:nvGraphicFramePr>
        <p:xfrm>
          <a:off x="6858001" y="3276600"/>
          <a:ext cx="3841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6" imgW="165028" imgH="228501" progId="Equation.DSMT4">
                  <p:embed/>
                </p:oleObj>
              </mc:Choice>
              <mc:Fallback>
                <p:oleObj name="Equation" r:id="rId6" imgW="165028" imgH="228501" progId="Equation.DSMT4">
                  <p:embed/>
                  <p:pic>
                    <p:nvPicPr>
                      <p:cNvPr id="133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1" y="3276600"/>
                        <a:ext cx="3841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Line 13"/>
          <p:cNvSpPr>
            <a:spLocks noChangeShapeType="1"/>
          </p:cNvSpPr>
          <p:nvPr/>
        </p:nvSpPr>
        <p:spPr bwMode="auto">
          <a:xfrm flipH="1">
            <a:off x="2819400" y="5486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7660" name="Line 14"/>
          <p:cNvSpPr>
            <a:spLocks noChangeShapeType="1"/>
          </p:cNvSpPr>
          <p:nvPr/>
        </p:nvSpPr>
        <p:spPr bwMode="auto">
          <a:xfrm>
            <a:off x="8991600" y="32766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graphicFrame>
        <p:nvGraphicFramePr>
          <p:cNvPr id="13328" name="Object 16"/>
          <p:cNvGraphicFramePr>
            <a:graphicFrameLocks noChangeAspect="1"/>
          </p:cNvGraphicFramePr>
          <p:nvPr/>
        </p:nvGraphicFramePr>
        <p:xfrm>
          <a:off x="4495800" y="4953000"/>
          <a:ext cx="381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8" imgW="126725" imgH="177415" progId="Equation.DSMT4">
                  <p:embed/>
                </p:oleObj>
              </mc:Choice>
              <mc:Fallback>
                <p:oleObj name="Equation" r:id="rId8" imgW="126725" imgH="177415" progId="Equation.DSMT4">
                  <p:embed/>
                  <p:pic>
                    <p:nvPicPr>
                      <p:cNvPr id="133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953000"/>
                        <a:ext cx="381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1905000" y="5670551"/>
            <a:ext cx="6019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Construct a triangle and label the known parts. Use a variable for the unknown value.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7315200" y="3276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3886200" y="5029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7848600" y="4114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150 ft.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6172200" y="5410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x</a:t>
            </a:r>
            <a:endParaRPr lang="en-US" baseline="30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05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9" grpId="0"/>
      <p:bldP spid="13329" grpId="1"/>
      <p:bldP spid="13330" grpId="0"/>
      <p:bldP spid="13331" grpId="0"/>
      <p:bldP spid="13332" grpId="0"/>
      <p:bldP spid="133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solidFill>
                  <a:schemeClr val="bg2"/>
                </a:solidFill>
              </a:rPr>
              <a:t>Angle of Elevation and Depression</a:t>
            </a:r>
          </a:p>
        </p:txBody>
      </p:sp>
      <p:pic>
        <p:nvPicPr>
          <p:cNvPr id="28675" name="Picture 3" descr="MMj03034340000[1]"/>
          <p:cNvPicPr>
            <a:picLocks noGrp="1" noChangeAspect="1" noChangeArrowheads="1" noCro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09800" y="5105401"/>
            <a:ext cx="838200" cy="600075"/>
          </a:xfrm>
          <a:noFill/>
        </p:spPr>
      </p:pic>
      <p:pic>
        <p:nvPicPr>
          <p:cNvPr id="28676" name="Picture 4" descr="MMj02544630000[1]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86651" y="2743200"/>
            <a:ext cx="2720975" cy="3200400"/>
          </a:xfrm>
          <a:noFill/>
        </p:spPr>
      </p:pic>
      <p:pic>
        <p:nvPicPr>
          <p:cNvPr id="28677" name="Picture 5" descr="MCj0318890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828800"/>
            <a:ext cx="677863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3505200" y="1600201"/>
            <a:ext cx="6477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Suppose the angle of depression from a lighthouse to a sailboat is 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  <a:r>
              <a:rPr lang="en-US">
                <a:solidFill>
                  <a:srgbClr val="FF0000"/>
                </a:solidFill>
              </a:rPr>
              <a:t>.  If the lighthouse is 150 ft tall, how far away is the sailboat?</a:t>
            </a:r>
          </a:p>
        </p:txBody>
      </p:sp>
      <p:sp>
        <p:nvSpPr>
          <p:cNvPr id="28679" name="Line 7"/>
          <p:cNvSpPr>
            <a:spLocks noChangeShapeType="1"/>
          </p:cNvSpPr>
          <p:nvPr/>
        </p:nvSpPr>
        <p:spPr bwMode="auto">
          <a:xfrm flipH="1">
            <a:off x="2819400" y="3200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0" name="Line 8"/>
          <p:cNvSpPr>
            <a:spLocks noChangeShapeType="1"/>
          </p:cNvSpPr>
          <p:nvPr/>
        </p:nvSpPr>
        <p:spPr bwMode="auto">
          <a:xfrm flipH="1">
            <a:off x="2819400" y="3276600"/>
            <a:ext cx="617220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1" name="Line 9"/>
          <p:cNvSpPr>
            <a:spLocks noChangeShapeType="1"/>
          </p:cNvSpPr>
          <p:nvPr/>
        </p:nvSpPr>
        <p:spPr bwMode="auto">
          <a:xfrm>
            <a:off x="2819400" y="32004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2" name="Line 11"/>
          <p:cNvSpPr>
            <a:spLocks noChangeShapeType="1"/>
          </p:cNvSpPr>
          <p:nvPr/>
        </p:nvSpPr>
        <p:spPr bwMode="auto">
          <a:xfrm flipH="1">
            <a:off x="2819400" y="5486400"/>
            <a:ext cx="61722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3" name="Line 12"/>
          <p:cNvSpPr>
            <a:spLocks noChangeShapeType="1"/>
          </p:cNvSpPr>
          <p:nvPr/>
        </p:nvSpPr>
        <p:spPr bwMode="auto">
          <a:xfrm>
            <a:off x="8991600" y="3276600"/>
            <a:ext cx="0" cy="2209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8684" name="Text Box 15"/>
          <p:cNvSpPr txBox="1">
            <a:spLocks noChangeArrowheads="1"/>
          </p:cNvSpPr>
          <p:nvPr/>
        </p:nvSpPr>
        <p:spPr bwMode="auto">
          <a:xfrm>
            <a:off x="7315200" y="3276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8685" name="Text Box 16"/>
          <p:cNvSpPr txBox="1">
            <a:spLocks noChangeArrowheads="1"/>
          </p:cNvSpPr>
          <p:nvPr/>
        </p:nvSpPr>
        <p:spPr bwMode="auto">
          <a:xfrm>
            <a:off x="3886200" y="5029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8686" name="Text Box 17"/>
          <p:cNvSpPr txBox="1">
            <a:spLocks noChangeArrowheads="1"/>
          </p:cNvSpPr>
          <p:nvPr/>
        </p:nvSpPr>
        <p:spPr bwMode="auto">
          <a:xfrm>
            <a:off x="7848600" y="41148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150 ft.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8687" name="Text Box 18"/>
          <p:cNvSpPr txBox="1">
            <a:spLocks noChangeArrowheads="1"/>
          </p:cNvSpPr>
          <p:nvPr/>
        </p:nvSpPr>
        <p:spPr bwMode="auto">
          <a:xfrm>
            <a:off x="6172200" y="5410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x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8688" name="Text Box 19"/>
          <p:cNvSpPr txBox="1">
            <a:spLocks noChangeArrowheads="1"/>
          </p:cNvSpPr>
          <p:nvPr/>
        </p:nvSpPr>
        <p:spPr bwMode="auto">
          <a:xfrm>
            <a:off x="2514600" y="58674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Set up an equation and solve.</a:t>
            </a:r>
          </a:p>
        </p:txBody>
      </p:sp>
    </p:spTree>
    <p:extLst>
      <p:ext uri="{BB962C8B-B14F-4D97-AF65-F5344CB8AC3E}">
        <p14:creationId xmlns:p14="http://schemas.microsoft.com/office/powerpoint/2010/main" val="3036010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>
                <a:solidFill>
                  <a:schemeClr val="bg2"/>
                </a:solidFill>
              </a:rPr>
              <a:t>Angle of Elevation and Depression</a:t>
            </a:r>
          </a:p>
        </p:txBody>
      </p:sp>
      <p:sp>
        <p:nvSpPr>
          <p:cNvPr id="29699" name="Line 8"/>
          <p:cNvSpPr>
            <a:spLocks noChangeShapeType="1"/>
          </p:cNvSpPr>
          <p:nvPr/>
        </p:nvSpPr>
        <p:spPr bwMode="auto">
          <a:xfrm flipH="1">
            <a:off x="6096000" y="3276600"/>
            <a:ext cx="2895600" cy="1066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0" name="Line 10"/>
          <p:cNvSpPr>
            <a:spLocks noChangeShapeType="1"/>
          </p:cNvSpPr>
          <p:nvPr/>
        </p:nvSpPr>
        <p:spPr bwMode="auto">
          <a:xfrm flipH="1">
            <a:off x="6096000" y="4343400"/>
            <a:ext cx="28956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1" name="Line 11"/>
          <p:cNvSpPr>
            <a:spLocks noChangeShapeType="1"/>
          </p:cNvSpPr>
          <p:nvPr/>
        </p:nvSpPr>
        <p:spPr bwMode="auto">
          <a:xfrm>
            <a:off x="8991600" y="3276600"/>
            <a:ext cx="0" cy="10668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29702" name="Text Box 13"/>
          <p:cNvSpPr txBox="1">
            <a:spLocks noChangeArrowheads="1"/>
          </p:cNvSpPr>
          <p:nvPr/>
        </p:nvSpPr>
        <p:spPr bwMode="auto">
          <a:xfrm>
            <a:off x="7010400" y="3886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5.7</a:t>
            </a:r>
            <a:r>
              <a:rPr lang="en-US" baseline="3000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9703" name="Text Box 14"/>
          <p:cNvSpPr txBox="1">
            <a:spLocks noChangeArrowheads="1"/>
          </p:cNvSpPr>
          <p:nvPr/>
        </p:nvSpPr>
        <p:spPr bwMode="auto">
          <a:xfrm>
            <a:off x="9067800" y="35052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150 ft.</a:t>
            </a:r>
            <a:endParaRPr lang="en-US" baseline="30000">
              <a:solidFill>
                <a:srgbClr val="FF0000"/>
              </a:solidFill>
            </a:endParaRPr>
          </a:p>
        </p:txBody>
      </p:sp>
      <p:sp>
        <p:nvSpPr>
          <p:cNvPr id="29704" name="Text Box 15"/>
          <p:cNvSpPr txBox="1">
            <a:spLocks noChangeArrowheads="1"/>
          </p:cNvSpPr>
          <p:nvPr/>
        </p:nvSpPr>
        <p:spPr bwMode="auto">
          <a:xfrm>
            <a:off x="7543800" y="4419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x</a:t>
            </a:r>
            <a:endParaRPr lang="en-US" baseline="30000">
              <a:solidFill>
                <a:srgbClr val="FF0000"/>
              </a:solidFill>
            </a:endParaRPr>
          </a:p>
        </p:txBody>
      </p:sp>
      <p:graphicFrame>
        <p:nvGraphicFramePr>
          <p:cNvPr id="16403" name="Object 19"/>
          <p:cNvGraphicFramePr>
            <a:graphicFrameLocks noChangeAspect="1"/>
          </p:cNvGraphicFramePr>
          <p:nvPr/>
        </p:nvGraphicFramePr>
        <p:xfrm>
          <a:off x="2743200" y="2057401"/>
          <a:ext cx="1600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977476" imgH="393529" progId="Equation.DSMT4">
                  <p:embed/>
                </p:oleObj>
              </mc:Choice>
              <mc:Fallback>
                <p:oleObj name="Equation" r:id="rId3" imgW="977476" imgH="393529" progId="Equation.DSMT4">
                  <p:embed/>
                  <p:pic>
                    <p:nvPicPr>
                      <p:cNvPr id="164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057401"/>
                        <a:ext cx="16002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/>
          <p:cNvGraphicFramePr>
            <a:graphicFrameLocks noChangeAspect="1"/>
          </p:cNvGraphicFramePr>
          <p:nvPr/>
        </p:nvGraphicFramePr>
        <p:xfrm>
          <a:off x="2743200" y="2743200"/>
          <a:ext cx="19050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066800" imgH="228600" progId="Equation.DSMT4">
                  <p:embed/>
                </p:oleObj>
              </mc:Choice>
              <mc:Fallback>
                <p:oleObj name="Equation" r:id="rId5" imgW="1066800" imgH="228600" progId="Equation.DSMT4">
                  <p:embed/>
                  <p:pic>
                    <p:nvPicPr>
                      <p:cNvPr id="1640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743200"/>
                        <a:ext cx="19050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21"/>
          <p:cNvGraphicFramePr>
            <a:graphicFrameLocks noChangeAspect="1"/>
          </p:cNvGraphicFramePr>
          <p:nvPr/>
        </p:nvGraphicFramePr>
        <p:xfrm>
          <a:off x="2819400" y="3429000"/>
          <a:ext cx="167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850531" imgH="418918" progId="Equation.DSMT4">
                  <p:embed/>
                </p:oleObj>
              </mc:Choice>
              <mc:Fallback>
                <p:oleObj name="Equation" r:id="rId7" imgW="850531" imgH="418918" progId="Equation.DSMT4">
                  <p:embed/>
                  <p:pic>
                    <p:nvPicPr>
                      <p:cNvPr id="164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429000"/>
                        <a:ext cx="167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3"/>
          <p:cNvGraphicFramePr>
            <a:graphicFrameLocks noChangeAspect="1"/>
          </p:cNvGraphicFramePr>
          <p:nvPr/>
        </p:nvGraphicFramePr>
        <p:xfrm>
          <a:off x="4540250" y="19145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114102" imgH="177492" progId="Equation.DSMT4">
                  <p:embed/>
                </p:oleObj>
              </mc:Choice>
              <mc:Fallback>
                <p:oleObj name="Equation" r:id="rId9" imgW="114102" imgH="177492" progId="Equation.DSMT4">
                  <p:embed/>
                  <p:pic>
                    <p:nvPicPr>
                      <p:cNvPr id="2970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0" y="191452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Text Box 24"/>
          <p:cNvSpPr txBox="1">
            <a:spLocks noChangeArrowheads="1"/>
          </p:cNvSpPr>
          <p:nvPr/>
        </p:nvSpPr>
        <p:spPr bwMode="auto">
          <a:xfrm>
            <a:off x="2590800" y="52578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x is approximately 1,503 ft.</a:t>
            </a:r>
          </a:p>
        </p:txBody>
      </p:sp>
    </p:spTree>
    <p:extLst>
      <p:ext uri="{BB962C8B-B14F-4D97-AF65-F5344CB8AC3E}">
        <p14:creationId xmlns:p14="http://schemas.microsoft.com/office/powerpoint/2010/main" val="2093453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546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Black</vt:lpstr>
      <vt:lpstr>Arial MT Bl</vt:lpstr>
      <vt:lpstr>Calibri</vt:lpstr>
      <vt:lpstr>Calibri Light</vt:lpstr>
      <vt:lpstr>Cambria Math</vt:lpstr>
      <vt:lpstr>Comic Sans MS</vt:lpstr>
      <vt:lpstr>Times New Roman</vt:lpstr>
      <vt:lpstr>Verdana</vt:lpstr>
      <vt:lpstr>Office Theme</vt:lpstr>
      <vt:lpstr>Equation</vt:lpstr>
      <vt:lpstr>Teacher notes</vt:lpstr>
      <vt:lpstr>Topic: Right-angled triangles</vt:lpstr>
      <vt:lpstr>Definitions</vt:lpstr>
      <vt:lpstr>Vocabulary</vt:lpstr>
      <vt:lpstr>Identifying Angles of Elevation and Depression</vt:lpstr>
      <vt:lpstr>PowerPoint Presentation</vt:lpstr>
      <vt:lpstr>PowerPoint Presentation</vt:lpstr>
      <vt:lpstr>PowerPoint Presentation</vt:lpstr>
      <vt:lpstr>A Line of Sight Example</vt:lpstr>
      <vt:lpstr> An Airplane Example</vt:lpstr>
      <vt:lpstr>PowerPoint Presentation</vt:lpstr>
      <vt:lpstr>Angle of Elevation and Depression</vt:lpstr>
      <vt:lpstr>Angle of Elevation and Depression</vt:lpstr>
      <vt:lpstr>Angle of Elevation and Depression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notes</dc:title>
  <dc:creator>Sarah James</dc:creator>
  <cp:lastModifiedBy>Sarah James</cp:lastModifiedBy>
  <cp:revision>1</cp:revision>
  <dcterms:created xsi:type="dcterms:W3CDTF">2020-05-20T04:43:56Z</dcterms:created>
  <dcterms:modified xsi:type="dcterms:W3CDTF">2020-05-20T04:46:37Z</dcterms:modified>
</cp:coreProperties>
</file>
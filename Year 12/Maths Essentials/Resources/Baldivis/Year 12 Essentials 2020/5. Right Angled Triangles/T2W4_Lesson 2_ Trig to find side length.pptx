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08" r:id="rId2"/>
    <p:sldId id="347" r:id="rId3"/>
    <p:sldId id="399" r:id="rId4"/>
    <p:sldId id="400" r:id="rId5"/>
    <p:sldId id="278" r:id="rId6"/>
    <p:sldId id="279" r:id="rId7"/>
    <p:sldId id="402" r:id="rId8"/>
    <p:sldId id="403" r:id="rId9"/>
    <p:sldId id="281" r:id="rId10"/>
    <p:sldId id="404" r:id="rId11"/>
    <p:sldId id="405" r:id="rId12"/>
    <p:sldId id="280" r:id="rId13"/>
    <p:sldId id="406" r:id="rId14"/>
    <p:sldId id="407" r:id="rId15"/>
    <p:sldId id="40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00CAB-2518-41C4-A89D-8B0D502744D9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0D26D-999C-4C9C-8C3A-DA67011F57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421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FBFFD399-0DF7-4958-897A-7583E8193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412A0E-2150-4B88-90FB-90571A42FAA0}" type="slidenum">
              <a:rPr lang="en-US" altLang="en-US" b="0"/>
              <a:pPr eaLnBrk="1" hangingPunct="1"/>
              <a:t>5</a:t>
            </a:fld>
            <a:endParaRPr lang="en-US" altLang="en-US" b="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9EF3559-78BB-4C4F-ACCA-17162FF30A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250BF13-82FF-417A-9BBA-D983CF8A9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544D61B-6D89-4E72-B5FA-FC8B9F93B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065FC4-FC32-496B-A7B5-F317C25A3CD7}" type="slidenum">
              <a:rPr lang="en-US" altLang="en-US" b="0"/>
              <a:pPr eaLnBrk="1" hangingPunct="1"/>
              <a:t>6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8B11EE5-B149-4BED-B807-33435A2BF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9E54062-6949-4B85-9AF6-F666CBD23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BD949035-A540-4949-A7F7-2C0C84D7C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B34A07-0115-4FF9-B51C-96F766854BD2}" type="slidenum">
              <a:rPr lang="en-US" altLang="en-US" b="0"/>
              <a:pPr eaLnBrk="1" hangingPunct="1"/>
              <a:t>9</a:t>
            </a:fld>
            <a:endParaRPr lang="en-US" altLang="en-US" b="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F2EADF5-F01A-4EDE-9E87-F423C8CB8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F3BC43D-A7C0-425F-9D6C-DD567B0B0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544D61B-6D89-4E72-B5FA-FC8B9F93B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065FC4-FC32-496B-A7B5-F317C25A3CD7}" type="slidenum">
              <a:rPr lang="en-US" altLang="en-US" b="0"/>
              <a:pPr eaLnBrk="1" hangingPunct="1"/>
              <a:t>10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8B11EE5-B149-4BED-B807-33435A2BF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9E54062-6949-4B85-9AF6-F666CBD23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33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63E15C4D-DE14-4CD7-A80F-2B28D4B754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5A14F2D-9B7C-4C2C-9BDD-86C8E6454B42}" type="slidenum">
              <a:rPr lang="en-US" altLang="en-US" b="0"/>
              <a:pPr eaLnBrk="1" hangingPunct="1"/>
              <a:t>12</a:t>
            </a:fld>
            <a:endParaRPr lang="en-US" altLang="en-US" b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EC31139-7690-4299-996F-444983504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1E691EF-E2E2-4EFD-9E4D-2088B677B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544D61B-6D89-4E72-B5FA-FC8B9F93B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065FC4-FC32-496B-A7B5-F317C25A3CD7}" type="slidenum">
              <a:rPr lang="en-US" altLang="en-US" b="0"/>
              <a:pPr eaLnBrk="1" hangingPunct="1"/>
              <a:t>13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8B11EE5-B149-4BED-B807-33435A2BF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9E54062-6949-4B85-9AF6-F666CBD23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31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0623-5896-4DC1-BEA3-7C8AF487C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5619A-BED6-4DEE-AD99-FEFA54A4B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860CF-8CBB-45D2-AD5F-E848821EF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43F72-A37E-462D-AE7D-8D88E742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FD192-5ADB-4116-B4C0-A9A35D60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309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3060-2115-4C5D-AB93-F47C4DE8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B18E1-266F-4871-B78C-93B8C9C9B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BF911-A3B1-4EB4-8558-11FB5F80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53E2-5051-4CEC-9AAE-13F023C24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95DD-4724-43FF-82A4-7E97082C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850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C8CA-04E6-4EDD-BF24-EE42E3BA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D48F1-FB04-4F7A-ACBB-4ACC41C3A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6EDAF-1AC8-4D8B-AD29-37D42538D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5A72E-42F4-44A7-BAC8-76C07CF19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B4454-C733-42DA-AD32-8197D80E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669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C85E-4FDC-42E9-87AD-D83481DE6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336CA-874B-4669-ABC5-7AEB05136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FF2EC-D2A7-4E3F-9AE4-4101F6D56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B907A-8DA3-4C26-898E-59921CFE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DF49-EEE5-4E6C-9F66-9E37A6A2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9D448-3B6B-4FB7-8AC0-AE13C82C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01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FC1E4-50A8-492E-8070-176CF20B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E387D-586F-470B-B490-C218AD8A3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02FAE-299C-402F-9F5B-F4322CAC4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B4C33-D80C-434C-A1A0-233FB2EBB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A6ECA-0A1B-4EEB-8FF8-3E2600FE8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2F47FC-6164-4079-B8EA-D62DE8A1D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AA0D71-D7DC-42BB-A881-A3CD8C0C9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15F9B-36ED-4FD4-B038-54528AC71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4553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08EFA-6AC7-4945-92E9-25BC7F67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99CBF6-DE67-4A09-BC10-3207AA32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4CFFF-BFE5-4182-B6E4-AA44AAD3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F3161-8537-4811-8639-009A60858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8023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BCC607-9DAB-45CC-9187-5161203E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A121E-0AD1-4BCB-BE8B-DDB87674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8746-C257-4C3B-B7AA-C2678A04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459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8978-43DF-47F0-8C4E-33DD44C7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7361-C558-4C40-AA44-5694A2A34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38ED8-84CC-4005-8147-D2E1F46BE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E88DC-3C78-4884-8527-455F1C22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4321A-0990-44E9-B604-1CEBB1A3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4021D-22F2-4FBB-AEA6-45F0757C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91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C32E-56D3-4DFF-BDD6-020E54CB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669226-4283-457C-960E-9BA410AE2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7C0E1-7C17-466F-A6BE-0E8B4DC38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A2EDC-0033-4191-82B5-9080ECFA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5714C-11FD-40A1-AEA0-C3C429E4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E6F19-4331-4B4C-B603-1E355CB4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1892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0340-12AA-4C4B-9B42-51702878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64AEF-EB03-47AD-907A-AAED6B4FB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5B575-786D-4457-862C-40CC4C61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F413B-A83A-4988-AD9B-089159F5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A3C58-AE02-42AB-A1E5-72A9BDC1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091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B154D-4B3A-4C5A-8924-9AD3AA121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BD66C-FEFA-4ACC-B3BD-F32DCF6B2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6BA15-4C28-4C78-81FB-AC8D68A79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3C8D9-0710-4A8B-B254-6A7116E1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78D37-6690-44B9-B38F-2348F20B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2987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8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8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7264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B6185-189E-4750-B988-9E0317CB4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75CB0-5910-4E79-BA8F-41B4303C5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F32F2-CAA7-468D-9736-7637EFB07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ED70D-5ADB-4C8C-A4B8-E49CDD7C68F0}" type="datetimeFigureOut">
              <a:rPr lang="en-AU" smtClean="0"/>
              <a:t>13/05/2020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F03E4-24C0-4FFF-B3D4-4010CB1F0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177BF-93C0-4417-8446-05CF8551B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E4C4C-714E-488C-A2FF-47FE50B8F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798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5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5.png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Right-Angled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" y="3602038"/>
            <a:ext cx="11953875" cy="1655762"/>
          </a:xfrm>
        </p:spPr>
        <p:txBody>
          <a:bodyPr/>
          <a:lstStyle/>
          <a:p>
            <a:r>
              <a:rPr lang="en-AU" b="1" dirty="0"/>
              <a:t>EQ – </a:t>
            </a:r>
            <a:r>
              <a:rPr lang="en-US" b="1" dirty="0"/>
              <a:t>How do we find the length of a side of a right angled triangle using trigonometry ratios?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09" y="298358"/>
            <a:ext cx="6113641" cy="911318"/>
          </a:xfrm>
        </p:spPr>
        <p:txBody>
          <a:bodyPr>
            <a:normAutofit fontScale="90000"/>
          </a:bodyPr>
          <a:lstStyle/>
          <a:p>
            <a:r>
              <a:rPr lang="en-US" sz="5398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334784" y="1051884"/>
            <a:ext cx="11057116" cy="911318"/>
          </a:xfrm>
          <a:prstGeom prst="rect">
            <a:avLst/>
          </a:prstGeom>
        </p:spPr>
        <p:txBody>
          <a:bodyPr spcFirstLastPara="1" vert="horz" wrap="square" lIns="91401" tIns="91401" rIns="91401" bIns="91401" rtlCol="0" anchor="t" anchorCtr="0">
            <a:normAutofit fontScale="25000" lnSpcReduction="2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96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571500" indent="-571500">
              <a:buFontTx/>
              <a:buChar char="-"/>
            </a:pPr>
            <a:r>
              <a:rPr lang="en-AU" sz="9600" dirty="0">
                <a:latin typeface="Kiwi School Handwriting" panose="00000500000000000000" pitchFamily="2" charset="0"/>
              </a:rPr>
              <a:t>- use trigonometry to find the length of an unknown side</a:t>
            </a:r>
          </a:p>
          <a:p>
            <a:pPr marL="571500" indent="-571500">
              <a:buFontTx/>
              <a:buChar char="-"/>
            </a:pPr>
            <a:endParaRPr lang="en-AU" sz="4000" dirty="0">
              <a:latin typeface="Kiwi School Handwriting" panose="00000500000000000000" pitchFamily="2" charset="0"/>
            </a:endParaRPr>
          </a:p>
          <a:p>
            <a:pPr marL="571500" indent="-571500">
              <a:buFontTx/>
              <a:buChar char="-"/>
            </a:pPr>
            <a:endParaRPr lang="en-AU" dirty="0"/>
          </a:p>
          <a:p>
            <a:pPr marL="571500" indent="-571500">
              <a:buFontTx/>
              <a:buChar char="-"/>
            </a:pPr>
            <a:r>
              <a:rPr lang="en-AU" dirty="0"/>
              <a:t> </a:t>
            </a:r>
            <a:endParaRPr lang="en-AU" sz="4000" dirty="0">
              <a:solidFill>
                <a:srgbClr val="FF000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4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D67A9-6D75-4B45-9F01-079AA563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690" y="2550770"/>
            <a:ext cx="2783470" cy="4165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trigonometry ratios?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158BE-C36D-4C16-822D-6AE6849AE9BB}"/>
              </a:ext>
            </a:extLst>
          </p:cNvPr>
          <p:cNvSpPr txBox="1"/>
          <p:nvPr/>
        </p:nvSpPr>
        <p:spPr>
          <a:xfrm>
            <a:off x="2495600" y="1904439"/>
            <a:ext cx="5429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will be using these ratios to find an unknown side of a right angled triangle.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4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tangent ratio to find a missing side?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B6FDF-0F97-4367-8A08-F957EE70F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386" y="1989609"/>
            <a:ext cx="8362950" cy="4143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769B04-50D3-4DB2-A36D-22FD1D14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241" y="2440103"/>
            <a:ext cx="1797189" cy="58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A7E37-E2C6-4A63-9A7A-6021BFDF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03" y="3033561"/>
            <a:ext cx="1814063" cy="6160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D1DA48-AD01-4E9C-B412-A51C3BBB4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241" y="3649658"/>
            <a:ext cx="1695039" cy="62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7DDCE-B8BB-4A65-BC0B-76D70D755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1537" y="3815453"/>
            <a:ext cx="1912946" cy="4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6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363B484-08F8-40C6-838B-4AA7786A4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1 	Figure out which ratio to use.  Find x. 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  <a:endParaRPr lang="en-US" altLang="en-US" sz="2800" i="1">
              <a:latin typeface="Berlin Sans FB Demi" panose="020E0802020502020306" pitchFamily="34" charset="0"/>
            </a:endParaRPr>
          </a:p>
        </p:txBody>
      </p:sp>
      <p:grpSp>
        <p:nvGrpSpPr>
          <p:cNvPr id="17411" name="Group 8">
            <a:extLst>
              <a:ext uri="{FF2B5EF4-FFF2-40B4-BE49-F238E27FC236}">
                <a16:creationId xmlns:a16="http://schemas.microsoft.com/office/drawing/2014/main" id="{DED6DE53-03A1-42C9-908D-91881C01AA5A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838200"/>
            <a:ext cx="5715000" cy="2514600"/>
            <a:chOff x="2016" y="768"/>
            <a:chExt cx="3600" cy="1584"/>
          </a:xfrm>
        </p:grpSpPr>
        <p:sp>
          <p:nvSpPr>
            <p:cNvPr id="17430" name="AutoShape 3">
              <a:extLst>
                <a:ext uri="{FF2B5EF4-FFF2-40B4-BE49-F238E27FC236}">
                  <a16:creationId xmlns:a16="http://schemas.microsoft.com/office/drawing/2014/main" id="{E18EEA78-EC70-44B1-BCC6-F599A08C7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768"/>
              <a:ext cx="2880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7431" name="Rectangle 4">
              <a:extLst>
                <a:ext uri="{FF2B5EF4-FFF2-40B4-BE49-F238E27FC236}">
                  <a16:creationId xmlns:a16="http://schemas.microsoft.com/office/drawing/2014/main" id="{6AE6D4D9-624F-427E-80A9-8B5D20526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817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7432" name="Object 5">
              <a:extLst>
                <a:ext uri="{FF2B5EF4-FFF2-40B4-BE49-F238E27FC236}">
                  <a16:creationId xmlns:a16="http://schemas.microsoft.com/office/drawing/2014/main" id="{FA1508F7-E830-4813-94EA-014B4A9E36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960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Equation" r:id="rId4" imgW="253670" imgH="177569" progId="Equation.3">
                    <p:embed/>
                  </p:oleObj>
                </mc:Choice>
                <mc:Fallback>
                  <p:oleObj name="Equation" r:id="rId4" imgW="253670" imgH="177569" progId="Equation.3">
                    <p:embed/>
                    <p:pic>
                      <p:nvPicPr>
                        <p:cNvPr id="17432" name="Object 5">
                          <a:extLst>
                            <a:ext uri="{FF2B5EF4-FFF2-40B4-BE49-F238E27FC236}">
                              <a16:creationId xmlns:a16="http://schemas.microsoft.com/office/drawing/2014/main" id="{FA1508F7-E830-4813-94EA-014B4A9E36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960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3" name="Text Box 6">
              <a:extLst>
                <a:ext uri="{FF2B5EF4-FFF2-40B4-BE49-F238E27FC236}">
                  <a16:creationId xmlns:a16="http://schemas.microsoft.com/office/drawing/2014/main" id="{5B95F00F-20D5-4700-98DB-1CB2F9BBF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152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 dirty="0">
                  <a:solidFill>
                    <a:srgbClr val="0000FF"/>
                  </a:solidFill>
                </a:rPr>
                <a:t>20 m</a:t>
              </a:r>
            </a:p>
          </p:txBody>
        </p:sp>
        <p:sp>
          <p:nvSpPr>
            <p:cNvPr id="17434" name="Text Box 7">
              <a:extLst>
                <a:ext uri="{FF2B5EF4-FFF2-40B4-BE49-F238E27FC236}">
                  <a16:creationId xmlns:a16="http://schemas.microsoft.com/office/drawing/2014/main" id="{E1222850-F4CC-4542-8601-0C0C0A2E9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9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 dirty="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4825" name="Object 9">
            <a:extLst>
              <a:ext uri="{FF2B5EF4-FFF2-40B4-BE49-F238E27FC236}">
                <a16:creationId xmlns:a16="http://schemas.microsoft.com/office/drawing/2014/main" id="{5ECBFF16-8886-4C4C-8257-A536CA52D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1" y="1447800"/>
          <a:ext cx="294957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812447" imgH="393529" progId="Equation.3">
                  <p:embed/>
                </p:oleObj>
              </mc:Choice>
              <mc:Fallback>
                <p:oleObj name="Equation" r:id="rId6" imgW="812447" imgH="393529" progId="Equation.3">
                  <p:embed/>
                  <p:pic>
                    <p:nvPicPr>
                      <p:cNvPr id="34825" name="Object 9">
                        <a:extLst>
                          <a:ext uri="{FF2B5EF4-FFF2-40B4-BE49-F238E27FC236}">
                            <a16:creationId xmlns:a16="http://schemas.microsoft.com/office/drawing/2014/main" id="{5ECBFF16-8886-4C4C-8257-A536CA52D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1" y="1447800"/>
                        <a:ext cx="294957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>
            <a:extLst>
              <a:ext uri="{FF2B5EF4-FFF2-40B4-BE49-F238E27FC236}">
                <a16:creationId xmlns:a16="http://schemas.microsoft.com/office/drawing/2014/main" id="{B90616A6-A231-43A1-A25D-953456C097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5257801"/>
          <a:ext cx="53340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8" imgW="698197" imgH="177723" progId="Equation.3">
                  <p:embed/>
                </p:oleObj>
              </mc:Choice>
              <mc:Fallback>
                <p:oleObj name="Equation" r:id="rId8" imgW="698197" imgH="177723" progId="Equation.3">
                  <p:embed/>
                  <p:pic>
                    <p:nvPicPr>
                      <p:cNvPr id="34826" name="Object 10">
                        <a:extLst>
                          <a:ext uri="{FF2B5EF4-FFF2-40B4-BE49-F238E27FC236}">
                            <a16:creationId xmlns:a16="http://schemas.microsoft.com/office/drawing/2014/main" id="{B90616A6-A231-43A1-A25D-953456C097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257801"/>
                        <a:ext cx="5334000" cy="13557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>
            <a:extLst>
              <a:ext uri="{FF2B5EF4-FFF2-40B4-BE49-F238E27FC236}">
                <a16:creationId xmlns:a16="http://schemas.microsoft.com/office/drawing/2014/main" id="{4B5B9082-0EEA-419E-8DC1-C8DCB01BB0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1" y="2819400"/>
          <a:ext cx="43291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0" imgW="875920" imgH="215806" progId="Equation.3">
                  <p:embed/>
                </p:oleObj>
              </mc:Choice>
              <mc:Fallback>
                <p:oleObj name="Equation" r:id="rId10" imgW="875920" imgH="215806" progId="Equation.3">
                  <p:embed/>
                  <p:pic>
                    <p:nvPicPr>
                      <p:cNvPr id="34827" name="Object 11">
                        <a:extLst>
                          <a:ext uri="{FF2B5EF4-FFF2-40B4-BE49-F238E27FC236}">
                            <a16:creationId xmlns:a16="http://schemas.microsoft.com/office/drawing/2014/main" id="{4B5B9082-0EEA-419E-8DC1-C8DCB01BB0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2819400"/>
                        <a:ext cx="43291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8" name="Group 12">
            <a:extLst>
              <a:ext uri="{FF2B5EF4-FFF2-40B4-BE49-F238E27FC236}">
                <a16:creationId xmlns:a16="http://schemas.microsoft.com/office/drawing/2014/main" id="{48BBBB68-4987-447D-A10F-34939D9C40D0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886200"/>
            <a:ext cx="1219200" cy="762000"/>
            <a:chOff x="3216" y="1632"/>
            <a:chExt cx="768" cy="480"/>
          </a:xfrm>
        </p:grpSpPr>
        <p:sp>
          <p:nvSpPr>
            <p:cNvPr id="17428" name="AutoShape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94EE2B9-14F7-4774-95EC-1DFB18DB5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9" name="Text Box 14">
              <a:extLst>
                <a:ext uri="{FF2B5EF4-FFF2-40B4-BE49-F238E27FC236}">
                  <a16:creationId xmlns:a16="http://schemas.microsoft.com/office/drawing/2014/main" id="{2D10D533-849E-4DB9-BB03-ECCA95A4D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34831" name="Group 15">
            <a:extLst>
              <a:ext uri="{FF2B5EF4-FFF2-40B4-BE49-F238E27FC236}">
                <a16:creationId xmlns:a16="http://schemas.microsoft.com/office/drawing/2014/main" id="{FDF67D41-A295-4719-A2A2-7FA9DBCB0268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962400"/>
            <a:ext cx="914400" cy="685800"/>
            <a:chOff x="3840" y="1248"/>
            <a:chExt cx="768" cy="432"/>
          </a:xfrm>
        </p:grpSpPr>
        <p:sp>
          <p:nvSpPr>
            <p:cNvPr id="17426" name="AutoShape 1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393B391-833A-434C-A9EB-E971FE4F1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7" name="Text Box 17">
              <a:extLst>
                <a:ext uri="{FF2B5EF4-FFF2-40B4-BE49-F238E27FC236}">
                  <a16:creationId xmlns:a16="http://schemas.microsoft.com/office/drawing/2014/main" id="{B4FF4A1B-93B6-4CBF-A782-7A74E829D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20 </a:t>
              </a:r>
            </a:p>
          </p:txBody>
        </p:sp>
      </p:grpSp>
      <p:grpSp>
        <p:nvGrpSpPr>
          <p:cNvPr id="34837" name="Group 21">
            <a:extLst>
              <a:ext uri="{FF2B5EF4-FFF2-40B4-BE49-F238E27FC236}">
                <a16:creationId xmlns:a16="http://schemas.microsoft.com/office/drawing/2014/main" id="{CD4E82C9-BE31-4C7B-B794-A7241DC531DE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3962400"/>
            <a:ext cx="914400" cy="685800"/>
            <a:chOff x="5232" y="1248"/>
            <a:chExt cx="480" cy="432"/>
          </a:xfrm>
        </p:grpSpPr>
        <p:sp>
          <p:nvSpPr>
            <p:cNvPr id="17424" name="AutoShape 2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92C34A7-8B2D-483F-8312-43C187CF2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5" name="Text Box 23">
              <a:extLst>
                <a:ext uri="{FF2B5EF4-FFF2-40B4-BE49-F238E27FC236}">
                  <a16:creationId xmlns:a16="http://schemas.microsoft.com/office/drawing/2014/main" id="{435D40F2-AABB-4334-AE1E-C97544A95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55</a:t>
              </a:r>
            </a:p>
          </p:txBody>
        </p:sp>
      </p:grpSp>
      <p:grpSp>
        <p:nvGrpSpPr>
          <p:cNvPr id="34840" name="Group 24">
            <a:extLst>
              <a:ext uri="{FF2B5EF4-FFF2-40B4-BE49-F238E27FC236}">
                <a16:creationId xmlns:a16="http://schemas.microsoft.com/office/drawing/2014/main" id="{55375C5E-A25F-4AA0-A5FF-E928752446B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962401"/>
            <a:ext cx="914400" cy="701675"/>
            <a:chOff x="5232" y="1248"/>
            <a:chExt cx="480" cy="442"/>
          </a:xfrm>
        </p:grpSpPr>
        <p:sp>
          <p:nvSpPr>
            <p:cNvPr id="17422" name="AutoShape 2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D8572DA-0A77-43C1-96E2-51242E5B1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423" name="Text Box 26">
              <a:extLst>
                <a:ext uri="{FF2B5EF4-FFF2-40B4-BE49-F238E27FC236}">
                  <a16:creationId xmlns:a16="http://schemas.microsoft.com/office/drawing/2014/main" id="{EEF1B1A6-EE34-42FC-AEBD-4C05D2102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4845" name="Text Box 29">
            <a:extLst>
              <a:ext uri="{FF2B5EF4-FFF2-40B4-BE49-F238E27FC236}">
                <a16:creationId xmlns:a16="http://schemas.microsoft.com/office/drawing/2014/main" id="{3E7AC05C-8084-43D4-8BD6-DCF0A35BC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724401"/>
            <a:ext cx="266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70EE4C-59E3-4FF1-81B1-4DEA96DAA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2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8435" name="Group 10">
            <a:extLst>
              <a:ext uri="{FF2B5EF4-FFF2-40B4-BE49-F238E27FC236}">
                <a16:creationId xmlns:a16="http://schemas.microsoft.com/office/drawing/2014/main" id="{549F8696-F5D2-4445-A8B1-9810D478403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762000"/>
            <a:ext cx="3505200" cy="3124200"/>
            <a:chOff x="96" y="480"/>
            <a:chExt cx="2208" cy="1968"/>
          </a:xfrm>
        </p:grpSpPr>
        <p:sp>
          <p:nvSpPr>
            <p:cNvPr id="18467" name="AutoShape 3">
              <a:extLst>
                <a:ext uri="{FF2B5EF4-FFF2-40B4-BE49-F238E27FC236}">
                  <a16:creationId xmlns:a16="http://schemas.microsoft.com/office/drawing/2014/main" id="{BFC2D669-CD74-4400-BEAC-B54B671A8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68" name="Rectangle 4">
              <a:extLst>
                <a:ext uri="{FF2B5EF4-FFF2-40B4-BE49-F238E27FC236}">
                  <a16:creationId xmlns:a16="http://schemas.microsoft.com/office/drawing/2014/main" id="{F3AE1081-C4A2-4060-BC70-795E5EEE3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8469" name="Object 5">
              <a:extLst>
                <a:ext uri="{FF2B5EF4-FFF2-40B4-BE49-F238E27FC236}">
                  <a16:creationId xmlns:a16="http://schemas.microsoft.com/office/drawing/2014/main" id="{5F183E34-6E21-4E71-A295-7CF984D07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632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Equation" r:id="rId4" imgW="253670" imgH="177569" progId="Equation.3">
                    <p:embed/>
                  </p:oleObj>
                </mc:Choice>
                <mc:Fallback>
                  <p:oleObj name="Equation" r:id="rId4" imgW="253670" imgH="177569" progId="Equation.3">
                    <p:embed/>
                    <p:pic>
                      <p:nvPicPr>
                        <p:cNvPr id="18469" name="Object 5">
                          <a:extLst>
                            <a:ext uri="{FF2B5EF4-FFF2-40B4-BE49-F238E27FC236}">
                              <a16:creationId xmlns:a16="http://schemas.microsoft.com/office/drawing/2014/main" id="{5F183E34-6E21-4E71-A295-7CF984D07B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632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0" name="Text Box 6">
              <a:extLst>
                <a:ext uri="{FF2B5EF4-FFF2-40B4-BE49-F238E27FC236}">
                  <a16:creationId xmlns:a16="http://schemas.microsoft.com/office/drawing/2014/main" id="{8377F6C9-0375-4B90-9D2C-F3648B1E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18471" name="Text Box 7">
              <a:extLst>
                <a:ext uri="{FF2B5EF4-FFF2-40B4-BE49-F238E27FC236}">
                  <a16:creationId xmlns:a16="http://schemas.microsoft.com/office/drawing/2014/main" id="{4527CC33-0D9E-4FAD-8CAC-5DF2BFEA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7896" name="Object 8">
            <a:extLst>
              <a:ext uri="{FF2B5EF4-FFF2-40B4-BE49-F238E27FC236}">
                <a16:creationId xmlns:a16="http://schemas.microsoft.com/office/drawing/2014/main" id="{AC617BC6-DC81-44F0-8B72-2DB1CE4C5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8388" y="304800"/>
          <a:ext cx="295116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6" imgW="812447" imgH="393529" progId="Equation.3">
                  <p:embed/>
                </p:oleObj>
              </mc:Choice>
              <mc:Fallback>
                <p:oleObj name="Equation" r:id="rId6" imgW="812447" imgH="393529" progId="Equation.3">
                  <p:embed/>
                  <p:pic>
                    <p:nvPicPr>
                      <p:cNvPr id="37896" name="Object 8">
                        <a:extLst>
                          <a:ext uri="{FF2B5EF4-FFF2-40B4-BE49-F238E27FC236}">
                            <a16:creationId xmlns:a16="http://schemas.microsoft.com/office/drawing/2014/main" id="{AC617BC6-DC81-44F0-8B72-2DB1CE4C5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304800"/>
                        <a:ext cx="295116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95906343-B267-4C2A-AB82-216A4ED52A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0601" y="5103814"/>
          <a:ext cx="39147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8" imgW="583920" imgH="177480" progId="Equation.3">
                  <p:embed/>
                </p:oleObj>
              </mc:Choice>
              <mc:Fallback>
                <p:oleObj name="Equation" r:id="rId8" imgW="583920" imgH="177480" progId="Equation.3">
                  <p:embed/>
                  <p:pic>
                    <p:nvPicPr>
                      <p:cNvPr id="37897" name="Object 9">
                        <a:extLst>
                          <a:ext uri="{FF2B5EF4-FFF2-40B4-BE49-F238E27FC236}">
                            <a16:creationId xmlns:a16="http://schemas.microsoft.com/office/drawing/2014/main" id="{95906343-B267-4C2A-AB82-216A4ED52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1" y="5103814"/>
                        <a:ext cx="3914775" cy="11906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11">
            <a:extLst>
              <a:ext uri="{FF2B5EF4-FFF2-40B4-BE49-F238E27FC236}">
                <a16:creationId xmlns:a16="http://schemas.microsoft.com/office/drawing/2014/main" id="{6BA9CD26-667E-4DA5-BF3F-A4B9F244BC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0" y="1828801"/>
          <a:ext cx="31813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10" imgW="875920" imgH="215806" progId="Equation.3">
                  <p:embed/>
                </p:oleObj>
              </mc:Choice>
              <mc:Fallback>
                <p:oleObj name="Equation" r:id="rId10" imgW="875920" imgH="215806" progId="Equation.3">
                  <p:embed/>
                  <p:pic>
                    <p:nvPicPr>
                      <p:cNvPr id="37899" name="Object 11">
                        <a:extLst>
                          <a:ext uri="{FF2B5EF4-FFF2-40B4-BE49-F238E27FC236}">
                            <a16:creationId xmlns:a16="http://schemas.microsoft.com/office/drawing/2014/main" id="{6BA9CD26-667E-4DA5-BF3F-A4B9F244BC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1828801"/>
                        <a:ext cx="31813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>
            <a:extLst>
              <a:ext uri="{FF2B5EF4-FFF2-40B4-BE49-F238E27FC236}">
                <a16:creationId xmlns:a16="http://schemas.microsoft.com/office/drawing/2014/main" id="{354CEB1A-A4C7-42EE-B59C-67E38345C1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1" y="2433639"/>
          <a:ext cx="33178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2" imgW="825500" imgH="419100" progId="Equation.3">
                  <p:embed/>
                </p:oleObj>
              </mc:Choice>
              <mc:Fallback>
                <p:oleObj name="Equation" r:id="rId12" imgW="825500" imgH="419100" progId="Equation.3">
                  <p:embed/>
                  <p:pic>
                    <p:nvPicPr>
                      <p:cNvPr id="37900" name="Object 12">
                        <a:extLst>
                          <a:ext uri="{FF2B5EF4-FFF2-40B4-BE49-F238E27FC236}">
                            <a16:creationId xmlns:a16="http://schemas.microsoft.com/office/drawing/2014/main" id="{354CEB1A-A4C7-42EE-B59C-67E38345C1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433639"/>
                        <a:ext cx="3317875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29FE4C32-840D-419B-8D87-21B49DCFE9A1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4249738"/>
            <a:ext cx="1219200" cy="762000"/>
            <a:chOff x="3216" y="1632"/>
            <a:chExt cx="768" cy="480"/>
          </a:xfrm>
        </p:grpSpPr>
        <p:sp>
          <p:nvSpPr>
            <p:cNvPr id="1846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51372CF-E5BD-47A4-8317-94166215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6" name="Text Box 15">
              <a:extLst>
                <a:ext uri="{FF2B5EF4-FFF2-40B4-BE49-F238E27FC236}">
                  <a16:creationId xmlns:a16="http://schemas.microsoft.com/office/drawing/2014/main" id="{0BDDA5C6-E50D-40CA-A55B-BAD3C5E90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37904" name="Group 16">
            <a:extLst>
              <a:ext uri="{FF2B5EF4-FFF2-40B4-BE49-F238E27FC236}">
                <a16:creationId xmlns:a16="http://schemas.microsoft.com/office/drawing/2014/main" id="{88AA0772-B4E6-41E3-9180-EF290BE553F1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4325938"/>
            <a:ext cx="914400" cy="685800"/>
            <a:chOff x="3840" y="1248"/>
            <a:chExt cx="768" cy="432"/>
          </a:xfrm>
        </p:grpSpPr>
        <p:sp>
          <p:nvSpPr>
            <p:cNvPr id="18463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F7FE493-5FE2-46AE-AD0C-03091DE6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4" name="Text Box 18">
              <a:extLst>
                <a:ext uri="{FF2B5EF4-FFF2-40B4-BE49-F238E27FC236}">
                  <a16:creationId xmlns:a16="http://schemas.microsoft.com/office/drawing/2014/main" id="{959643AC-0E73-4127-BEE1-EABC0DE3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37907" name="Group 19">
            <a:extLst>
              <a:ext uri="{FF2B5EF4-FFF2-40B4-BE49-F238E27FC236}">
                <a16:creationId xmlns:a16="http://schemas.microsoft.com/office/drawing/2014/main" id="{50D8E5BE-DE31-415B-809E-B0F6DCFF32A1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4325938"/>
            <a:ext cx="914400" cy="685800"/>
            <a:chOff x="5232" y="1248"/>
            <a:chExt cx="480" cy="432"/>
          </a:xfrm>
        </p:grpSpPr>
        <p:sp>
          <p:nvSpPr>
            <p:cNvPr id="1846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3A7E9BF-0A76-4F02-B650-3F5AD4938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AB8A414D-A28D-4217-B24E-3789F599C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72</a:t>
              </a:r>
            </a:p>
          </p:txBody>
        </p:sp>
      </p:grpSp>
      <p:grpSp>
        <p:nvGrpSpPr>
          <p:cNvPr id="37910" name="Group 22">
            <a:extLst>
              <a:ext uri="{FF2B5EF4-FFF2-40B4-BE49-F238E27FC236}">
                <a16:creationId xmlns:a16="http://schemas.microsoft.com/office/drawing/2014/main" id="{244A75CF-66CE-47FB-936B-0366440D9CCD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4341814"/>
            <a:ext cx="914400" cy="701675"/>
            <a:chOff x="5232" y="1248"/>
            <a:chExt cx="480" cy="442"/>
          </a:xfrm>
        </p:grpSpPr>
        <p:sp>
          <p:nvSpPr>
            <p:cNvPr id="18459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AA9B48B-0177-432F-9B04-4E334E07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0" name="Text Box 24">
              <a:extLst>
                <a:ext uri="{FF2B5EF4-FFF2-40B4-BE49-F238E27FC236}">
                  <a16:creationId xmlns:a16="http://schemas.microsoft.com/office/drawing/2014/main" id="{948FC24B-EADF-4C0D-9794-29835C637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76D1721F-C658-4534-9B8B-2CED84CB3773}"/>
              </a:ext>
            </a:extLst>
          </p:cNvPr>
          <p:cNvGrpSpPr>
            <a:grpSpLocks/>
          </p:cNvGrpSpPr>
          <p:nvPr/>
        </p:nvGrpSpPr>
        <p:grpSpPr bwMode="auto">
          <a:xfrm>
            <a:off x="2573338" y="4341813"/>
            <a:ext cx="685800" cy="685800"/>
            <a:chOff x="3840" y="1248"/>
            <a:chExt cx="768" cy="432"/>
          </a:xfrm>
        </p:grpSpPr>
        <p:sp>
          <p:nvSpPr>
            <p:cNvPr id="1845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48AC48C-A0D9-4AA2-AE99-AC70B1F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8" name="Text Box 27">
              <a:extLst>
                <a:ext uri="{FF2B5EF4-FFF2-40B4-BE49-F238E27FC236}">
                  <a16:creationId xmlns:a16="http://schemas.microsoft.com/office/drawing/2014/main" id="{07E6FFB0-E684-49B3-8FE6-47BF3700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400">
                  <a:sym typeface="Symbol" panose="05050102010706020507" pitchFamily="18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7916" name="Group 28">
            <a:extLst>
              <a:ext uri="{FF2B5EF4-FFF2-40B4-BE49-F238E27FC236}">
                <a16:creationId xmlns:a16="http://schemas.microsoft.com/office/drawing/2014/main" id="{4CAC292C-667E-4BF9-B38A-C9F98671A283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4341814"/>
            <a:ext cx="685800" cy="701675"/>
            <a:chOff x="3840" y="1248"/>
            <a:chExt cx="768" cy="442"/>
          </a:xfrm>
        </p:grpSpPr>
        <p:sp>
          <p:nvSpPr>
            <p:cNvPr id="18455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83DEB0-C263-4350-8E09-811C492A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6" name="Text Box 30">
              <a:extLst>
                <a:ext uri="{FF2B5EF4-FFF2-40B4-BE49-F238E27FC236}">
                  <a16:creationId xmlns:a16="http://schemas.microsoft.com/office/drawing/2014/main" id="{D42FD759-2EB9-4884-A4D2-CB5954E3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4000">
                  <a:sym typeface="Symbol" panose="05050102010706020507" pitchFamily="18" charset="2"/>
                </a:rPr>
                <a:t>(</a:t>
              </a:r>
              <a:endParaRPr lang="en-US" altLang="en-US" sz="4000"/>
            </a:p>
          </p:txBody>
        </p:sp>
      </p:grpSp>
      <p:grpSp>
        <p:nvGrpSpPr>
          <p:cNvPr id="37919" name="Group 31">
            <a:extLst>
              <a:ext uri="{FF2B5EF4-FFF2-40B4-BE49-F238E27FC236}">
                <a16:creationId xmlns:a16="http://schemas.microsoft.com/office/drawing/2014/main" id="{01EE28CF-9C6E-434E-A044-F880288F9CB7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4341813"/>
            <a:ext cx="609600" cy="685800"/>
            <a:chOff x="5232" y="1248"/>
            <a:chExt cx="480" cy="432"/>
          </a:xfrm>
        </p:grpSpPr>
        <p:sp>
          <p:nvSpPr>
            <p:cNvPr id="18453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171F16-AE03-4EE1-A29B-BC0D6E4F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4" name="Text Box 33">
              <a:extLst>
                <a:ext uri="{FF2B5EF4-FFF2-40B4-BE49-F238E27FC236}">
                  <a16:creationId xmlns:a16="http://schemas.microsoft.com/office/drawing/2014/main" id="{9010435C-C43C-4D21-AE03-8B8127867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532FFF7-D048-4267-B914-53BBA873F9A8}"/>
              </a:ext>
            </a:extLst>
          </p:cNvPr>
          <p:cNvGrpSpPr>
            <a:grpSpLocks/>
          </p:cNvGrpSpPr>
          <p:nvPr/>
        </p:nvGrpSpPr>
        <p:grpSpPr bwMode="auto">
          <a:xfrm>
            <a:off x="7069138" y="4341814"/>
            <a:ext cx="609600" cy="701675"/>
            <a:chOff x="5232" y="1248"/>
            <a:chExt cx="480" cy="442"/>
          </a:xfrm>
        </p:grpSpPr>
        <p:sp>
          <p:nvSpPr>
            <p:cNvPr id="18451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152BF87-B288-4DF8-B778-19853610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2" name="Text Box 36">
              <a:extLst>
                <a:ext uri="{FF2B5EF4-FFF2-40B4-BE49-F238E27FC236}">
                  <a16:creationId xmlns:a16="http://schemas.microsoft.com/office/drawing/2014/main" id="{D836226A-D92A-423F-9EFF-007E2B6A9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7927" name="Text Box 39">
            <a:extLst>
              <a:ext uri="{FF2B5EF4-FFF2-40B4-BE49-F238E27FC236}">
                <a16:creationId xmlns:a16="http://schemas.microsoft.com/office/drawing/2014/main" id="{971B0195-38CC-4C20-B020-EA6863DF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6035676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4BD4-7049-4AC2-921E-C0F8438A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8CDCE-048E-4D38-A1D0-A46CD433B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9232" y="1828801"/>
            <a:ext cx="9473535" cy="481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4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9337EA-8ABD-486D-A902-59939080D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883" y="1922707"/>
            <a:ext cx="8372475" cy="4076700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4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cosine ratio to find a missing side?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69B04-50D3-4DB2-A36D-22FD1D14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241" y="2440103"/>
            <a:ext cx="1797189" cy="58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A7E37-E2C6-4A63-9A7A-6021BFDF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03" y="3033561"/>
            <a:ext cx="1814063" cy="6160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D1DA48-AD01-4E9C-B412-A51C3BBB4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241" y="3649658"/>
            <a:ext cx="1695039" cy="62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7DDCE-B8BB-4A65-BC0B-76D70D755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812" y="2995969"/>
            <a:ext cx="1981958" cy="4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0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46FE6B4-B71E-452B-B814-BDB2E2E95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latin typeface="Berlin Sans FB Demi" panose="020E0802020502020306" pitchFamily="34" charset="0"/>
              </a:rPr>
              <a:t>Ex: 3	 Find the missing side. </a:t>
            </a:r>
            <a:r>
              <a:rPr lang="en-US" altLang="en-US" sz="2800" b="1" dirty="0">
                <a:latin typeface="Berlin Sans FB Demi" panose="020E0802020502020306" pitchFamily="34" charset="0"/>
              </a:rPr>
              <a:t>Round to the nearest tenth.</a:t>
            </a:r>
          </a:p>
        </p:txBody>
      </p:sp>
      <p:sp>
        <p:nvSpPr>
          <p:cNvPr id="20483" name="AutoShape 4">
            <a:extLst>
              <a:ext uri="{FF2B5EF4-FFF2-40B4-BE49-F238E27FC236}">
                <a16:creationId xmlns:a16="http://schemas.microsoft.com/office/drawing/2014/main" id="{E16DCB2E-496B-49C6-B705-C676DAB434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6000" y="762000"/>
            <a:ext cx="2209800" cy="2438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B81EC11E-D361-4F37-A371-7BBB907940E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91000" y="2895600"/>
            <a:ext cx="304800" cy="3048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graphicFrame>
        <p:nvGraphicFramePr>
          <p:cNvPr id="20485" name="Object 6">
            <a:extLst>
              <a:ext uri="{FF2B5EF4-FFF2-40B4-BE49-F238E27FC236}">
                <a16:creationId xmlns:a16="http://schemas.microsoft.com/office/drawing/2014/main" id="{C3B9E575-9150-4A14-87C8-E26F61E0A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277939"/>
          <a:ext cx="7366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253670" imgH="177569" progId="Equation.3">
                  <p:embed/>
                </p:oleObj>
              </mc:Choice>
              <mc:Fallback>
                <p:oleObj name="Equation" r:id="rId4" imgW="253670" imgH="177569" progId="Equation.3">
                  <p:embed/>
                  <p:pic>
                    <p:nvPicPr>
                      <p:cNvPr id="20485" name="Object 6">
                        <a:extLst>
                          <a:ext uri="{FF2B5EF4-FFF2-40B4-BE49-F238E27FC236}">
                            <a16:creationId xmlns:a16="http://schemas.microsoft.com/office/drawing/2014/main" id="{C3B9E575-9150-4A14-87C8-E26F61E0A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77939"/>
                        <a:ext cx="73660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7">
            <a:extLst>
              <a:ext uri="{FF2B5EF4-FFF2-40B4-BE49-F238E27FC236}">
                <a16:creationId xmlns:a16="http://schemas.microsoft.com/office/drawing/2014/main" id="{EF835556-B207-4274-A549-F70A27AC2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010" y="1489076"/>
            <a:ext cx="2057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400" dirty="0">
                <a:solidFill>
                  <a:srgbClr val="0000FF"/>
                </a:solidFill>
              </a:rPr>
              <a:t>20 cm</a:t>
            </a:r>
          </a:p>
        </p:txBody>
      </p:sp>
      <p:sp>
        <p:nvSpPr>
          <p:cNvPr id="20487" name="Text Box 8">
            <a:extLst>
              <a:ext uri="{FF2B5EF4-FFF2-40B4-BE49-F238E27FC236}">
                <a16:creationId xmlns:a16="http://schemas.microsoft.com/office/drawing/2014/main" id="{4A8DCDC5-49B6-479E-9525-6E246F67C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6002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400">
                <a:solidFill>
                  <a:srgbClr val="0000FF"/>
                </a:solidFill>
              </a:rPr>
              <a:t>x</a:t>
            </a:r>
          </a:p>
        </p:txBody>
      </p:sp>
      <p:graphicFrame>
        <p:nvGraphicFramePr>
          <p:cNvPr id="36873" name="Object 9">
            <a:extLst>
              <a:ext uri="{FF2B5EF4-FFF2-40B4-BE49-F238E27FC236}">
                <a16:creationId xmlns:a16="http://schemas.microsoft.com/office/drawing/2014/main" id="{5D2FB35F-A924-4433-A933-554AEB1077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3951" y="990600"/>
          <a:ext cx="299561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6" imgW="825500" imgH="393700" progId="Equation.3">
                  <p:embed/>
                </p:oleObj>
              </mc:Choice>
              <mc:Fallback>
                <p:oleObj name="Equation" r:id="rId6" imgW="825500" imgH="393700" progId="Equation.3">
                  <p:embed/>
                  <p:pic>
                    <p:nvPicPr>
                      <p:cNvPr id="36873" name="Object 9">
                        <a:extLst>
                          <a:ext uri="{FF2B5EF4-FFF2-40B4-BE49-F238E27FC236}">
                            <a16:creationId xmlns:a16="http://schemas.microsoft.com/office/drawing/2014/main" id="{5D2FB35F-A924-4433-A933-554AEB1077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1" y="990600"/>
                        <a:ext cx="299561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1">
            <a:extLst>
              <a:ext uri="{FF2B5EF4-FFF2-40B4-BE49-F238E27FC236}">
                <a16:creationId xmlns:a16="http://schemas.microsoft.com/office/drawing/2014/main" id="{3573C63B-EC72-4600-AFD8-B43AFD6FE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2895601"/>
          <a:ext cx="46577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8" imgW="901309" imgH="215806" progId="Equation.3">
                  <p:embed/>
                </p:oleObj>
              </mc:Choice>
              <mc:Fallback>
                <p:oleObj name="Equation" r:id="rId8" imgW="901309" imgH="215806" progId="Equation.3">
                  <p:embed/>
                  <p:pic>
                    <p:nvPicPr>
                      <p:cNvPr id="36875" name="Object 11">
                        <a:extLst>
                          <a:ext uri="{FF2B5EF4-FFF2-40B4-BE49-F238E27FC236}">
                            <a16:creationId xmlns:a16="http://schemas.microsoft.com/office/drawing/2014/main" id="{3573C63B-EC72-4600-AFD8-B43AFD6FE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2895601"/>
                        <a:ext cx="465772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98D820-BEAD-4145-93E6-FF23B2DCDB94}"/>
                  </a:ext>
                </a:extLst>
              </p:cNvPr>
              <p:cNvSpPr txBox="1"/>
              <p:nvPr/>
            </p:nvSpPr>
            <p:spPr>
              <a:xfrm>
                <a:off x="5391510" y="4695827"/>
                <a:ext cx="4937827" cy="101566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6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𝟏𝟓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6600" b="1" dirty="0"/>
                  <a:t>cm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98D820-BEAD-4145-93E6-FF23B2DCD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510" y="4695827"/>
                <a:ext cx="4937827" cy="1015663"/>
              </a:xfrm>
              <a:prstGeom prst="rect">
                <a:avLst/>
              </a:prstGeom>
              <a:blipFill>
                <a:blip r:embed="rId11"/>
                <a:stretch>
                  <a:fillRect t="-23837" r="-9080" b="-4593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70EE4C-59E3-4FF1-81B1-4DEA96DAA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2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8435" name="Group 10">
            <a:extLst>
              <a:ext uri="{FF2B5EF4-FFF2-40B4-BE49-F238E27FC236}">
                <a16:creationId xmlns:a16="http://schemas.microsoft.com/office/drawing/2014/main" id="{549F8696-F5D2-4445-A8B1-9810D478403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762000"/>
            <a:ext cx="3505200" cy="3124200"/>
            <a:chOff x="96" y="480"/>
            <a:chExt cx="2208" cy="1968"/>
          </a:xfrm>
        </p:grpSpPr>
        <p:sp>
          <p:nvSpPr>
            <p:cNvPr id="18467" name="AutoShape 3">
              <a:extLst>
                <a:ext uri="{FF2B5EF4-FFF2-40B4-BE49-F238E27FC236}">
                  <a16:creationId xmlns:a16="http://schemas.microsoft.com/office/drawing/2014/main" id="{BFC2D669-CD74-4400-BEAC-B54B671A8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68" name="Rectangle 4">
              <a:extLst>
                <a:ext uri="{FF2B5EF4-FFF2-40B4-BE49-F238E27FC236}">
                  <a16:creationId xmlns:a16="http://schemas.microsoft.com/office/drawing/2014/main" id="{F3AE1081-C4A2-4060-BC70-795E5EEE3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8469" name="Object 5">
              <a:extLst>
                <a:ext uri="{FF2B5EF4-FFF2-40B4-BE49-F238E27FC236}">
                  <a16:creationId xmlns:a16="http://schemas.microsoft.com/office/drawing/2014/main" id="{5F183E34-6E21-4E71-A295-7CF984D07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632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4" imgW="253670" imgH="177569" progId="Equation.3">
                    <p:embed/>
                  </p:oleObj>
                </mc:Choice>
                <mc:Fallback>
                  <p:oleObj name="Equation" r:id="rId4" imgW="253670" imgH="177569" progId="Equation.3">
                    <p:embed/>
                    <p:pic>
                      <p:nvPicPr>
                        <p:cNvPr id="18469" name="Object 5">
                          <a:extLst>
                            <a:ext uri="{FF2B5EF4-FFF2-40B4-BE49-F238E27FC236}">
                              <a16:creationId xmlns:a16="http://schemas.microsoft.com/office/drawing/2014/main" id="{5F183E34-6E21-4E71-A295-7CF984D07B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632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0" name="Text Box 6">
              <a:extLst>
                <a:ext uri="{FF2B5EF4-FFF2-40B4-BE49-F238E27FC236}">
                  <a16:creationId xmlns:a16="http://schemas.microsoft.com/office/drawing/2014/main" id="{8377F6C9-0375-4B90-9D2C-F3648B1E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18471" name="Text Box 7">
              <a:extLst>
                <a:ext uri="{FF2B5EF4-FFF2-40B4-BE49-F238E27FC236}">
                  <a16:creationId xmlns:a16="http://schemas.microsoft.com/office/drawing/2014/main" id="{4527CC33-0D9E-4FAD-8CAC-5DF2BFEA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29FE4C32-840D-419B-8D87-21B49DCFE9A1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4249738"/>
            <a:ext cx="1219200" cy="762000"/>
            <a:chOff x="3216" y="1632"/>
            <a:chExt cx="768" cy="480"/>
          </a:xfrm>
        </p:grpSpPr>
        <p:sp>
          <p:nvSpPr>
            <p:cNvPr id="1846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51372CF-E5BD-47A4-8317-94166215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600"/>
            </a:p>
          </p:txBody>
        </p:sp>
        <p:sp>
          <p:nvSpPr>
            <p:cNvPr id="18466" name="Text Box 15">
              <a:extLst>
                <a:ext uri="{FF2B5EF4-FFF2-40B4-BE49-F238E27FC236}">
                  <a16:creationId xmlns:a16="http://schemas.microsoft.com/office/drawing/2014/main" id="{0BDDA5C6-E50D-40CA-A55B-BAD3C5E90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 dirty="0">
                  <a:solidFill>
                    <a:schemeClr val="bg1"/>
                  </a:solidFill>
                </a:rPr>
                <a:t>cos </a:t>
              </a:r>
            </a:p>
          </p:txBody>
        </p:sp>
      </p:grpSp>
      <p:grpSp>
        <p:nvGrpSpPr>
          <p:cNvPr id="37904" name="Group 16">
            <a:extLst>
              <a:ext uri="{FF2B5EF4-FFF2-40B4-BE49-F238E27FC236}">
                <a16:creationId xmlns:a16="http://schemas.microsoft.com/office/drawing/2014/main" id="{88AA0772-B4E6-41E3-9180-EF290BE553F1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4325938"/>
            <a:ext cx="914400" cy="685800"/>
            <a:chOff x="3840" y="1248"/>
            <a:chExt cx="768" cy="432"/>
          </a:xfrm>
        </p:grpSpPr>
        <p:sp>
          <p:nvSpPr>
            <p:cNvPr id="18463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F7FE493-5FE2-46AE-AD0C-03091DE6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4" name="Text Box 18">
              <a:extLst>
                <a:ext uri="{FF2B5EF4-FFF2-40B4-BE49-F238E27FC236}">
                  <a16:creationId xmlns:a16="http://schemas.microsoft.com/office/drawing/2014/main" id="{959643AC-0E73-4127-BEE1-EABC0DE3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37907" name="Group 19">
            <a:extLst>
              <a:ext uri="{FF2B5EF4-FFF2-40B4-BE49-F238E27FC236}">
                <a16:creationId xmlns:a16="http://schemas.microsoft.com/office/drawing/2014/main" id="{50D8E5BE-DE31-415B-809E-B0F6DCFF32A1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4325938"/>
            <a:ext cx="914400" cy="685800"/>
            <a:chOff x="5232" y="1248"/>
            <a:chExt cx="480" cy="432"/>
          </a:xfrm>
        </p:grpSpPr>
        <p:sp>
          <p:nvSpPr>
            <p:cNvPr id="1846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3A7E9BF-0A76-4F02-B650-3F5AD4938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AB8A414D-A28D-4217-B24E-3789F599C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72</a:t>
              </a:r>
            </a:p>
          </p:txBody>
        </p:sp>
      </p:grpSp>
      <p:grpSp>
        <p:nvGrpSpPr>
          <p:cNvPr id="37910" name="Group 22">
            <a:extLst>
              <a:ext uri="{FF2B5EF4-FFF2-40B4-BE49-F238E27FC236}">
                <a16:creationId xmlns:a16="http://schemas.microsoft.com/office/drawing/2014/main" id="{244A75CF-66CE-47FB-936B-0366440D9CCD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4341814"/>
            <a:ext cx="914400" cy="701675"/>
            <a:chOff x="5232" y="1248"/>
            <a:chExt cx="480" cy="442"/>
          </a:xfrm>
        </p:grpSpPr>
        <p:sp>
          <p:nvSpPr>
            <p:cNvPr id="18459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AA9B48B-0177-432F-9B04-4E334E07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0" name="Text Box 24">
              <a:extLst>
                <a:ext uri="{FF2B5EF4-FFF2-40B4-BE49-F238E27FC236}">
                  <a16:creationId xmlns:a16="http://schemas.microsoft.com/office/drawing/2014/main" id="{948FC24B-EADF-4C0D-9794-29835C637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76D1721F-C658-4534-9B8B-2CED84CB3773}"/>
              </a:ext>
            </a:extLst>
          </p:cNvPr>
          <p:cNvGrpSpPr>
            <a:grpSpLocks/>
          </p:cNvGrpSpPr>
          <p:nvPr/>
        </p:nvGrpSpPr>
        <p:grpSpPr bwMode="auto">
          <a:xfrm>
            <a:off x="2573338" y="4341813"/>
            <a:ext cx="685800" cy="685800"/>
            <a:chOff x="3840" y="1248"/>
            <a:chExt cx="768" cy="432"/>
          </a:xfrm>
        </p:grpSpPr>
        <p:sp>
          <p:nvSpPr>
            <p:cNvPr id="1845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48AC48C-A0D9-4AA2-AE99-AC70B1F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8" name="Text Box 27">
              <a:extLst>
                <a:ext uri="{FF2B5EF4-FFF2-40B4-BE49-F238E27FC236}">
                  <a16:creationId xmlns:a16="http://schemas.microsoft.com/office/drawing/2014/main" id="{07E6FFB0-E684-49B3-8FE6-47BF3700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400">
                  <a:sym typeface="Symbol" panose="05050102010706020507" pitchFamily="18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7916" name="Group 28">
            <a:extLst>
              <a:ext uri="{FF2B5EF4-FFF2-40B4-BE49-F238E27FC236}">
                <a16:creationId xmlns:a16="http://schemas.microsoft.com/office/drawing/2014/main" id="{4CAC292C-667E-4BF9-B38A-C9F98671A283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4341814"/>
            <a:ext cx="685800" cy="701675"/>
            <a:chOff x="3840" y="1248"/>
            <a:chExt cx="768" cy="442"/>
          </a:xfrm>
        </p:grpSpPr>
        <p:sp>
          <p:nvSpPr>
            <p:cNvPr id="18455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83DEB0-C263-4350-8E09-811C492A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6" name="Text Box 30">
              <a:extLst>
                <a:ext uri="{FF2B5EF4-FFF2-40B4-BE49-F238E27FC236}">
                  <a16:creationId xmlns:a16="http://schemas.microsoft.com/office/drawing/2014/main" id="{D42FD759-2EB9-4884-A4D2-CB5954E3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4000">
                  <a:sym typeface="Symbol" panose="05050102010706020507" pitchFamily="18" charset="2"/>
                </a:rPr>
                <a:t>(</a:t>
              </a:r>
              <a:endParaRPr lang="en-US" altLang="en-US" sz="4000"/>
            </a:p>
          </p:txBody>
        </p:sp>
      </p:grpSp>
      <p:grpSp>
        <p:nvGrpSpPr>
          <p:cNvPr id="37919" name="Group 31">
            <a:extLst>
              <a:ext uri="{FF2B5EF4-FFF2-40B4-BE49-F238E27FC236}">
                <a16:creationId xmlns:a16="http://schemas.microsoft.com/office/drawing/2014/main" id="{01EE28CF-9C6E-434E-A044-F880288F9CB7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4341813"/>
            <a:ext cx="609600" cy="685800"/>
            <a:chOff x="5232" y="1248"/>
            <a:chExt cx="480" cy="432"/>
          </a:xfrm>
        </p:grpSpPr>
        <p:sp>
          <p:nvSpPr>
            <p:cNvPr id="18453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171F16-AE03-4EE1-A29B-BC0D6E4F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4" name="Text Box 33">
              <a:extLst>
                <a:ext uri="{FF2B5EF4-FFF2-40B4-BE49-F238E27FC236}">
                  <a16:creationId xmlns:a16="http://schemas.microsoft.com/office/drawing/2014/main" id="{9010435C-C43C-4D21-AE03-8B8127867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532FFF7-D048-4267-B914-53BBA873F9A8}"/>
              </a:ext>
            </a:extLst>
          </p:cNvPr>
          <p:cNvGrpSpPr>
            <a:grpSpLocks/>
          </p:cNvGrpSpPr>
          <p:nvPr/>
        </p:nvGrpSpPr>
        <p:grpSpPr bwMode="auto">
          <a:xfrm>
            <a:off x="7069138" y="4341814"/>
            <a:ext cx="609600" cy="701675"/>
            <a:chOff x="5232" y="1248"/>
            <a:chExt cx="480" cy="442"/>
          </a:xfrm>
        </p:grpSpPr>
        <p:sp>
          <p:nvSpPr>
            <p:cNvPr id="18451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152BF87-B288-4DF8-B778-19853610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2" name="Text Box 36">
              <a:extLst>
                <a:ext uri="{FF2B5EF4-FFF2-40B4-BE49-F238E27FC236}">
                  <a16:creationId xmlns:a16="http://schemas.microsoft.com/office/drawing/2014/main" id="{D836226A-D92A-423F-9EFF-007E2B6A9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7925" name="Text Box 37">
            <a:extLst>
              <a:ext uri="{FF2B5EF4-FFF2-40B4-BE49-F238E27FC236}">
                <a16:creationId xmlns:a16="http://schemas.microsoft.com/office/drawing/2014/main" id="{CA3514D3-2ECE-4783-B828-D37F3BDA8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5027614"/>
            <a:ext cx="4495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sp>
        <p:nvSpPr>
          <p:cNvPr id="37927" name="Text Box 39">
            <a:extLst>
              <a:ext uri="{FF2B5EF4-FFF2-40B4-BE49-F238E27FC236}">
                <a16:creationId xmlns:a16="http://schemas.microsoft.com/office/drawing/2014/main" id="{971B0195-38CC-4C20-B020-EA6863DF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6035676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/>
              <p:nvPr/>
            </p:nvSpPr>
            <p:spPr>
              <a:xfrm>
                <a:off x="6383338" y="5253669"/>
                <a:ext cx="5444376" cy="101566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6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𝟐𝟓𝟖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6600" b="1" dirty="0"/>
                  <a:t>cm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38" y="5253669"/>
                <a:ext cx="5444376" cy="1015663"/>
              </a:xfrm>
              <a:prstGeom prst="rect">
                <a:avLst/>
              </a:prstGeom>
              <a:blipFill>
                <a:blip r:embed="rId7"/>
                <a:stretch>
                  <a:fillRect t="-23977" r="-8129" b="-4619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8EC2D7-F401-4BF1-BC13-9E962AE0B3DE}"/>
                  </a:ext>
                </a:extLst>
              </p:cNvPr>
              <p:cNvSpPr txBox="1"/>
              <p:nvPr/>
            </p:nvSpPr>
            <p:spPr>
              <a:xfrm>
                <a:off x="6931978" y="738696"/>
                <a:ext cx="2473434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e>
                      </m:func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8EC2D7-F401-4BF1-BC13-9E962AE0B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978" y="738696"/>
                <a:ext cx="2473434" cy="1040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B2D26B-E983-44E3-A958-EA9F8A491CAF}"/>
                  </a:ext>
                </a:extLst>
              </p:cNvPr>
              <p:cNvSpPr txBox="1"/>
              <p:nvPr/>
            </p:nvSpPr>
            <p:spPr>
              <a:xfrm>
                <a:off x="6655079" y="1981200"/>
                <a:ext cx="33834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e>
                      </m:fun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B2D26B-E983-44E3-A958-EA9F8A491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079" y="1981200"/>
                <a:ext cx="3383490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BB8B8-40E5-43CB-9543-64ACD0AE7AE1}"/>
                  </a:ext>
                </a:extLst>
              </p:cNvPr>
              <p:cNvSpPr txBox="1"/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=258.8854382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BB8B8-40E5-43CB-9543-64ACD0AE7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346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5" grpId="0"/>
      <p:bldP spid="37927" grpId="0"/>
      <p:bldP spid="42" grpId="0"/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74D0FA-23B6-4650-9280-6A489875B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1927663"/>
            <a:ext cx="7808233" cy="440987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4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the length of a side of a right angled triangle using trigonometry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sine ratio to find a missing side?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69B04-50D3-4DB2-A36D-22FD1D14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671" y="2341701"/>
            <a:ext cx="1797189" cy="58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A7E37-E2C6-4A63-9A7A-6021BFDF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797" y="2929244"/>
            <a:ext cx="1814063" cy="6160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D1DA48-AD01-4E9C-B412-A51C3BBB4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308" y="3509802"/>
            <a:ext cx="1695039" cy="622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7DDCE-B8BB-4A65-BC0B-76D70D755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2860" y="2408544"/>
            <a:ext cx="1702280" cy="4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BE0DFDB-B705-4387-9216-BF24F9F80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3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9459" name="Group 11">
            <a:extLst>
              <a:ext uri="{FF2B5EF4-FFF2-40B4-BE49-F238E27FC236}">
                <a16:creationId xmlns:a16="http://schemas.microsoft.com/office/drawing/2014/main" id="{FA07EABF-216A-4F08-8B84-5BEFD6B8F9DB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914400"/>
            <a:ext cx="3886200" cy="1981200"/>
            <a:chOff x="528" y="432"/>
            <a:chExt cx="2448" cy="1248"/>
          </a:xfrm>
        </p:grpSpPr>
        <p:sp>
          <p:nvSpPr>
            <p:cNvPr id="19466" name="AutoShape 4">
              <a:extLst>
                <a:ext uri="{FF2B5EF4-FFF2-40B4-BE49-F238E27FC236}">
                  <a16:creationId xmlns:a16="http://schemas.microsoft.com/office/drawing/2014/main" id="{7630C093-C389-46D0-A627-421C59A2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432"/>
              <a:ext cx="2016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9467" name="Rectangle 5">
              <a:extLst>
                <a:ext uri="{FF2B5EF4-FFF2-40B4-BE49-F238E27FC236}">
                  <a16:creationId xmlns:a16="http://schemas.microsoft.com/office/drawing/2014/main" id="{2305FACE-0907-4E98-8050-6038D25BC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81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graphicFrame>
          <p:nvGraphicFramePr>
            <p:cNvPr id="19468" name="Object 6">
              <a:extLst>
                <a:ext uri="{FF2B5EF4-FFF2-40B4-BE49-F238E27FC236}">
                  <a16:creationId xmlns:a16="http://schemas.microsoft.com/office/drawing/2014/main" id="{2E35EBBD-1E32-4607-B8D4-967D8A6092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1344"/>
            <a:ext cx="46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" name="Equation" r:id="rId4" imgW="253780" imgH="164957" progId="Equation.3">
                    <p:embed/>
                  </p:oleObj>
                </mc:Choice>
                <mc:Fallback>
                  <p:oleObj name="Equation" r:id="rId4" imgW="253780" imgH="164957" progId="Equation.3">
                    <p:embed/>
                    <p:pic>
                      <p:nvPicPr>
                        <p:cNvPr id="19468" name="Object 6">
                          <a:extLst>
                            <a:ext uri="{FF2B5EF4-FFF2-40B4-BE49-F238E27FC236}">
                              <a16:creationId xmlns:a16="http://schemas.microsoft.com/office/drawing/2014/main" id="{2E35EBBD-1E32-4607-B8D4-967D8A6092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344"/>
                          <a:ext cx="46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9" name="Text Box 7">
              <a:extLst>
                <a:ext uri="{FF2B5EF4-FFF2-40B4-BE49-F238E27FC236}">
                  <a16:creationId xmlns:a16="http://schemas.microsoft.com/office/drawing/2014/main" id="{CE03DB80-DADE-4D3D-AC5A-B9BDD4AED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624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283 m</a:t>
              </a:r>
            </a:p>
          </p:txBody>
        </p:sp>
        <p:sp>
          <p:nvSpPr>
            <p:cNvPr id="19470" name="Text Box 8">
              <a:extLst>
                <a:ext uri="{FF2B5EF4-FFF2-40B4-BE49-F238E27FC236}">
                  <a16:creationId xmlns:a16="http://schemas.microsoft.com/office/drawing/2014/main" id="{735180CB-55F9-4496-8E5A-E9CBC04C5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7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D9CC40F9-1042-4A45-A02A-71155361F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76" y="990600"/>
          <a:ext cx="317976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6" imgW="875920" imgH="393529" progId="Equation.3">
                  <p:embed/>
                </p:oleObj>
              </mc:Choice>
              <mc:Fallback>
                <p:oleObj name="Equation" r:id="rId6" imgW="875920" imgH="393529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D9CC40F9-1042-4A45-A02A-71155361F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76" y="990600"/>
                        <a:ext cx="317976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9E669637-8DD5-4FD5-9B7C-FBA299624C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4648201"/>
          <a:ext cx="50450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8" imgW="736280" imgH="177723" progId="Equation.3">
                  <p:embed/>
                </p:oleObj>
              </mc:Choice>
              <mc:Fallback>
                <p:oleObj name="Equation" r:id="rId8" imgW="736280" imgH="177723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9E669637-8DD5-4FD5-9B7C-FBA299624C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4648201"/>
                        <a:ext cx="5045075" cy="12160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12">
            <a:extLst>
              <a:ext uri="{FF2B5EF4-FFF2-40B4-BE49-F238E27FC236}">
                <a16:creationId xmlns:a16="http://schemas.microsoft.com/office/drawing/2014/main" id="{766EC193-6120-4026-A32E-6AB0D7572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3200401"/>
          <a:ext cx="48768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10" imgW="952087" imgH="215806" progId="Equation.3">
                  <p:embed/>
                </p:oleObj>
              </mc:Choice>
              <mc:Fallback>
                <p:oleObj name="Equation" r:id="rId10" imgW="952087" imgH="215806" progId="Equation.3">
                  <p:embed/>
                  <p:pic>
                    <p:nvPicPr>
                      <p:cNvPr id="35852" name="Object 12">
                        <a:extLst>
                          <a:ext uri="{FF2B5EF4-FFF2-40B4-BE49-F238E27FC236}">
                            <a16:creationId xmlns:a16="http://schemas.microsoft.com/office/drawing/2014/main" id="{766EC193-6120-4026-A32E-6AB0D7572A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200401"/>
                        <a:ext cx="48768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5" name="Text Box 15">
            <a:extLst>
              <a:ext uri="{FF2B5EF4-FFF2-40B4-BE49-F238E27FC236}">
                <a16:creationId xmlns:a16="http://schemas.microsoft.com/office/drawing/2014/main" id="{C04E7A1F-DBFE-4939-BA09-C9EA72B16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4724401"/>
            <a:ext cx="266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70EE4C-59E3-4FF1-81B1-4DEA96DAA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>
                <a:latin typeface="Berlin Sans FB Demi" panose="020E0802020502020306" pitchFamily="34" charset="0"/>
              </a:rPr>
              <a:t>Ex: 2	 Find the missing side. </a:t>
            </a:r>
            <a:r>
              <a:rPr lang="en-US" altLang="en-US" sz="2800" b="1">
                <a:latin typeface="Berlin Sans FB Demi" panose="020E0802020502020306" pitchFamily="34" charset="0"/>
              </a:rPr>
              <a:t>Round to the nearest tenth.</a:t>
            </a:r>
          </a:p>
        </p:txBody>
      </p:sp>
      <p:grpSp>
        <p:nvGrpSpPr>
          <p:cNvPr id="18435" name="Group 10">
            <a:extLst>
              <a:ext uri="{FF2B5EF4-FFF2-40B4-BE49-F238E27FC236}">
                <a16:creationId xmlns:a16="http://schemas.microsoft.com/office/drawing/2014/main" id="{549F8696-F5D2-4445-A8B1-9810D478403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762000"/>
            <a:ext cx="3505200" cy="3124200"/>
            <a:chOff x="96" y="480"/>
            <a:chExt cx="2208" cy="1968"/>
          </a:xfrm>
        </p:grpSpPr>
        <p:sp>
          <p:nvSpPr>
            <p:cNvPr id="18467" name="AutoShape 3">
              <a:extLst>
                <a:ext uri="{FF2B5EF4-FFF2-40B4-BE49-F238E27FC236}">
                  <a16:creationId xmlns:a16="http://schemas.microsoft.com/office/drawing/2014/main" id="{BFC2D669-CD74-4400-BEAC-B54B671A8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68" name="Rectangle 4">
              <a:extLst>
                <a:ext uri="{FF2B5EF4-FFF2-40B4-BE49-F238E27FC236}">
                  <a16:creationId xmlns:a16="http://schemas.microsoft.com/office/drawing/2014/main" id="{F3AE1081-C4A2-4060-BC70-795E5EEE3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8470" name="Text Box 6">
              <a:extLst>
                <a:ext uri="{FF2B5EF4-FFF2-40B4-BE49-F238E27FC236}">
                  <a16:creationId xmlns:a16="http://schemas.microsoft.com/office/drawing/2014/main" id="{8377F6C9-0375-4B90-9D2C-F3648B1E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18471" name="Text Box 7">
              <a:extLst>
                <a:ext uri="{FF2B5EF4-FFF2-40B4-BE49-F238E27FC236}">
                  <a16:creationId xmlns:a16="http://schemas.microsoft.com/office/drawing/2014/main" id="{4527CC33-0D9E-4FAD-8CAC-5DF2BFEA4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pSp>
        <p:nvGrpSpPr>
          <p:cNvPr id="37901" name="Group 13">
            <a:extLst>
              <a:ext uri="{FF2B5EF4-FFF2-40B4-BE49-F238E27FC236}">
                <a16:creationId xmlns:a16="http://schemas.microsoft.com/office/drawing/2014/main" id="{29FE4C32-840D-419B-8D87-21B49DCFE9A1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4249738"/>
            <a:ext cx="1219200" cy="762000"/>
            <a:chOff x="3216" y="1632"/>
            <a:chExt cx="768" cy="480"/>
          </a:xfrm>
        </p:grpSpPr>
        <p:sp>
          <p:nvSpPr>
            <p:cNvPr id="1846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51372CF-E5BD-47A4-8317-94166215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600"/>
            </a:p>
          </p:txBody>
        </p:sp>
        <p:sp>
          <p:nvSpPr>
            <p:cNvPr id="18466" name="Text Box 15">
              <a:extLst>
                <a:ext uri="{FF2B5EF4-FFF2-40B4-BE49-F238E27FC236}">
                  <a16:creationId xmlns:a16="http://schemas.microsoft.com/office/drawing/2014/main" id="{0BDDA5C6-E50D-40CA-A55B-BAD3C5E90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 dirty="0">
                  <a:solidFill>
                    <a:schemeClr val="bg1"/>
                  </a:solidFill>
                </a:rPr>
                <a:t>sin </a:t>
              </a:r>
            </a:p>
          </p:txBody>
        </p:sp>
      </p:grpSp>
      <p:grpSp>
        <p:nvGrpSpPr>
          <p:cNvPr id="37904" name="Group 16">
            <a:extLst>
              <a:ext uri="{FF2B5EF4-FFF2-40B4-BE49-F238E27FC236}">
                <a16:creationId xmlns:a16="http://schemas.microsoft.com/office/drawing/2014/main" id="{88AA0772-B4E6-41E3-9180-EF290BE553F1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4325938"/>
            <a:ext cx="914400" cy="685800"/>
            <a:chOff x="3840" y="1248"/>
            <a:chExt cx="768" cy="432"/>
          </a:xfrm>
        </p:grpSpPr>
        <p:sp>
          <p:nvSpPr>
            <p:cNvPr id="18463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F7FE493-5FE2-46AE-AD0C-03091DE6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4" name="Text Box 18">
              <a:extLst>
                <a:ext uri="{FF2B5EF4-FFF2-40B4-BE49-F238E27FC236}">
                  <a16:creationId xmlns:a16="http://schemas.microsoft.com/office/drawing/2014/main" id="{959643AC-0E73-4127-BEE1-EABC0DE3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37907" name="Group 19">
            <a:extLst>
              <a:ext uri="{FF2B5EF4-FFF2-40B4-BE49-F238E27FC236}">
                <a16:creationId xmlns:a16="http://schemas.microsoft.com/office/drawing/2014/main" id="{50D8E5BE-DE31-415B-809E-B0F6DCFF32A1}"/>
              </a:ext>
            </a:extLst>
          </p:cNvPr>
          <p:cNvGrpSpPr>
            <a:grpSpLocks/>
          </p:cNvGrpSpPr>
          <p:nvPr/>
        </p:nvGrpSpPr>
        <p:grpSpPr bwMode="auto">
          <a:xfrm>
            <a:off x="5392738" y="4325938"/>
            <a:ext cx="914400" cy="685800"/>
            <a:chOff x="5232" y="1248"/>
            <a:chExt cx="480" cy="432"/>
          </a:xfrm>
        </p:grpSpPr>
        <p:sp>
          <p:nvSpPr>
            <p:cNvPr id="1846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3A7E9BF-0A76-4F02-B650-3F5AD4938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AB8A414D-A28D-4217-B24E-3789F599C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 dirty="0"/>
                <a:t>58</a:t>
              </a:r>
            </a:p>
          </p:txBody>
        </p:sp>
      </p:grpSp>
      <p:grpSp>
        <p:nvGrpSpPr>
          <p:cNvPr id="37910" name="Group 22">
            <a:extLst>
              <a:ext uri="{FF2B5EF4-FFF2-40B4-BE49-F238E27FC236}">
                <a16:creationId xmlns:a16="http://schemas.microsoft.com/office/drawing/2014/main" id="{244A75CF-66CE-47FB-936B-0366440D9CCD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4341814"/>
            <a:ext cx="914400" cy="701675"/>
            <a:chOff x="5232" y="1248"/>
            <a:chExt cx="480" cy="442"/>
          </a:xfrm>
        </p:grpSpPr>
        <p:sp>
          <p:nvSpPr>
            <p:cNvPr id="18459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AA9B48B-0177-432F-9B04-4E334E07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60" name="Text Box 24">
              <a:extLst>
                <a:ext uri="{FF2B5EF4-FFF2-40B4-BE49-F238E27FC236}">
                  <a16:creationId xmlns:a16="http://schemas.microsoft.com/office/drawing/2014/main" id="{948FC24B-EADF-4C0D-9794-29835C637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76D1721F-C658-4534-9B8B-2CED84CB3773}"/>
              </a:ext>
            </a:extLst>
          </p:cNvPr>
          <p:cNvGrpSpPr>
            <a:grpSpLocks/>
          </p:cNvGrpSpPr>
          <p:nvPr/>
        </p:nvGrpSpPr>
        <p:grpSpPr bwMode="auto">
          <a:xfrm>
            <a:off x="2573338" y="4341813"/>
            <a:ext cx="685800" cy="685800"/>
            <a:chOff x="3840" y="1248"/>
            <a:chExt cx="768" cy="432"/>
          </a:xfrm>
        </p:grpSpPr>
        <p:sp>
          <p:nvSpPr>
            <p:cNvPr id="1845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48AC48C-A0D9-4AA2-AE99-AC70B1F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8" name="Text Box 27">
              <a:extLst>
                <a:ext uri="{FF2B5EF4-FFF2-40B4-BE49-F238E27FC236}">
                  <a16:creationId xmlns:a16="http://schemas.microsoft.com/office/drawing/2014/main" id="{07E6FFB0-E684-49B3-8FE6-47BF3700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400">
                  <a:sym typeface="Symbol" panose="05050102010706020507" pitchFamily="18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7916" name="Group 28">
            <a:extLst>
              <a:ext uri="{FF2B5EF4-FFF2-40B4-BE49-F238E27FC236}">
                <a16:creationId xmlns:a16="http://schemas.microsoft.com/office/drawing/2014/main" id="{4CAC292C-667E-4BF9-B38A-C9F98671A283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4341814"/>
            <a:ext cx="685800" cy="701675"/>
            <a:chOff x="3840" y="1248"/>
            <a:chExt cx="768" cy="442"/>
          </a:xfrm>
        </p:grpSpPr>
        <p:sp>
          <p:nvSpPr>
            <p:cNvPr id="18455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83DEB0-C263-4350-8E09-811C492A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6" name="Text Box 30">
              <a:extLst>
                <a:ext uri="{FF2B5EF4-FFF2-40B4-BE49-F238E27FC236}">
                  <a16:creationId xmlns:a16="http://schemas.microsoft.com/office/drawing/2014/main" id="{D42FD759-2EB9-4884-A4D2-CB5954E3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4000">
                  <a:sym typeface="Symbol" panose="05050102010706020507" pitchFamily="18" charset="2"/>
                </a:rPr>
                <a:t>(</a:t>
              </a:r>
              <a:endParaRPr lang="en-US" altLang="en-US" sz="4000"/>
            </a:p>
          </p:txBody>
        </p:sp>
      </p:grpSp>
      <p:grpSp>
        <p:nvGrpSpPr>
          <p:cNvPr id="37919" name="Group 31">
            <a:extLst>
              <a:ext uri="{FF2B5EF4-FFF2-40B4-BE49-F238E27FC236}">
                <a16:creationId xmlns:a16="http://schemas.microsoft.com/office/drawing/2014/main" id="{01EE28CF-9C6E-434E-A044-F880288F9CB7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4341813"/>
            <a:ext cx="609600" cy="685800"/>
            <a:chOff x="5232" y="1248"/>
            <a:chExt cx="480" cy="432"/>
          </a:xfrm>
        </p:grpSpPr>
        <p:sp>
          <p:nvSpPr>
            <p:cNvPr id="18453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171F16-AE03-4EE1-A29B-BC0D6E4F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4" name="Text Box 33">
              <a:extLst>
                <a:ext uri="{FF2B5EF4-FFF2-40B4-BE49-F238E27FC236}">
                  <a16:creationId xmlns:a16="http://schemas.microsoft.com/office/drawing/2014/main" id="{9010435C-C43C-4D21-AE03-8B8127867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532FFF7-D048-4267-B914-53BBA873F9A8}"/>
              </a:ext>
            </a:extLst>
          </p:cNvPr>
          <p:cNvGrpSpPr>
            <a:grpSpLocks/>
          </p:cNvGrpSpPr>
          <p:nvPr/>
        </p:nvGrpSpPr>
        <p:grpSpPr bwMode="auto">
          <a:xfrm>
            <a:off x="7069138" y="4341814"/>
            <a:ext cx="609600" cy="701675"/>
            <a:chOff x="5232" y="1248"/>
            <a:chExt cx="480" cy="442"/>
          </a:xfrm>
        </p:grpSpPr>
        <p:sp>
          <p:nvSpPr>
            <p:cNvPr id="18451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152BF87-B288-4DF8-B778-19853610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8452" name="Text Box 36">
              <a:extLst>
                <a:ext uri="{FF2B5EF4-FFF2-40B4-BE49-F238E27FC236}">
                  <a16:creationId xmlns:a16="http://schemas.microsoft.com/office/drawing/2014/main" id="{D836226A-D92A-423F-9EFF-007E2B6A9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7927" name="Text Box 39">
            <a:extLst>
              <a:ext uri="{FF2B5EF4-FFF2-40B4-BE49-F238E27FC236}">
                <a16:creationId xmlns:a16="http://schemas.microsoft.com/office/drawing/2014/main" id="{971B0195-38CC-4C20-B020-EA6863DF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6035676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/>
              <p:nvPr/>
            </p:nvSpPr>
            <p:spPr>
              <a:xfrm>
                <a:off x="6383338" y="5253669"/>
                <a:ext cx="4937827" cy="101566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6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𝟗𝟒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sz="6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6600" b="1" dirty="0"/>
                  <a:t>cm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CE9E26-6CD7-425F-87E5-F1D55C5D0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38" y="5253669"/>
                <a:ext cx="4937827" cy="1015663"/>
              </a:xfrm>
              <a:prstGeom prst="rect">
                <a:avLst/>
              </a:prstGeom>
              <a:blipFill>
                <a:blip r:embed="rId4"/>
                <a:stretch>
                  <a:fillRect t="-23977" r="-9080" b="-4619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3CFD2-A101-4CE9-A092-7A03D3597C86}"/>
                  </a:ext>
                </a:extLst>
              </p:cNvPr>
              <p:cNvSpPr txBox="1"/>
              <p:nvPr/>
            </p:nvSpPr>
            <p:spPr>
              <a:xfrm>
                <a:off x="1956926" y="2846944"/>
                <a:ext cx="5241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3CFD2-A101-4CE9-A092-7A03D3597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926" y="2846944"/>
                <a:ext cx="524182" cy="369332"/>
              </a:xfrm>
              <a:prstGeom prst="rect">
                <a:avLst/>
              </a:prstGeom>
              <a:blipFill>
                <a:blip r:embed="rId5"/>
                <a:stretch>
                  <a:fillRect l="-13953" r="-15116" b="-8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EAF0F-0907-4454-B988-7A36FB78B315}"/>
                  </a:ext>
                </a:extLst>
              </p:cNvPr>
              <p:cNvSpPr txBox="1"/>
              <p:nvPr/>
            </p:nvSpPr>
            <p:spPr>
              <a:xfrm>
                <a:off x="6931978" y="738696"/>
                <a:ext cx="2410916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58</m:t>
                          </m:r>
                        </m:e>
                      </m:func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EAF0F-0907-4454-B988-7A36FB78B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978" y="738696"/>
                <a:ext cx="2410916" cy="1040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84B20-5873-4C2D-B0A0-DB08693F6DBE}"/>
                  </a:ext>
                </a:extLst>
              </p:cNvPr>
              <p:cNvSpPr txBox="1"/>
              <p:nvPr/>
            </p:nvSpPr>
            <p:spPr>
              <a:xfrm>
                <a:off x="6655079" y="1981200"/>
                <a:ext cx="332097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3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58</m:t>
                          </m:r>
                        </m:e>
                      </m:fun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84B20-5873-4C2D-B0A0-DB08693F6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079" y="1981200"/>
                <a:ext cx="3320974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1F5AE8-4401-4347-B17F-D5F77ECAE066}"/>
                  </a:ext>
                </a:extLst>
              </p:cNvPr>
              <p:cNvSpPr txBox="1"/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=94.33427227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1F5AE8-4401-4347-B17F-D5F77ECAE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118" y="2875002"/>
                <a:ext cx="3631956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7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7" grpId="0"/>
      <p:bldP spid="40" grpId="0" animBg="1"/>
      <p:bldP spid="3" grpId="0"/>
      <p:bldP spid="4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82B0-81F3-4342-B7A1-EEC45C0F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49ABBD-8E02-4CF2-B0AB-98A564EBC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853" y="1943819"/>
            <a:ext cx="9753709" cy="464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61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EA08-5378-4C1F-98A5-282B8506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Early Finishers: </a:t>
            </a:r>
            <a:br>
              <a:rPr lang="en-US" dirty="0"/>
            </a:br>
            <a:r>
              <a:rPr lang="en-US" dirty="0"/>
              <a:t>Black MAWA textbook p 68 Q6, 7</a:t>
            </a:r>
            <a:br>
              <a:rPr lang="en-US" dirty="0"/>
            </a:br>
            <a:r>
              <a:rPr lang="en-US" dirty="0"/>
              <a:t>Black MAWA textbook p 74 Q5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556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510</Words>
  <Application>Microsoft Office PowerPoint</Application>
  <PresentationFormat>Widescreen</PresentationFormat>
  <Paragraphs>108</Paragraphs>
  <Slides>15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Berlin Sans FB Demi</vt:lpstr>
      <vt:lpstr>Calibri</vt:lpstr>
      <vt:lpstr>Calibri Light</vt:lpstr>
      <vt:lpstr>Cambria Math</vt:lpstr>
      <vt:lpstr>Century Gothic</vt:lpstr>
      <vt:lpstr>Kiwi School Handwriting</vt:lpstr>
      <vt:lpstr>Office Theme</vt:lpstr>
      <vt:lpstr>Equation</vt:lpstr>
      <vt:lpstr>Topic: Right-Angled Triangles</vt:lpstr>
      <vt:lpstr>Learning Intentions</vt:lpstr>
      <vt:lpstr>PowerPoint Presentation</vt:lpstr>
      <vt:lpstr>PowerPoint Presentation</vt:lpstr>
      <vt:lpstr>Ex: 1  Figure out which ratio to use.  Find x.  Round to the nearest tenth.</vt:lpstr>
      <vt:lpstr>Ex: 2  Find the missing side. Round to the nearest tenth.</vt:lpstr>
      <vt:lpstr>Task</vt:lpstr>
      <vt:lpstr>PowerPoint Presentation</vt:lpstr>
      <vt:lpstr>Ex: 3  Find the missing side. Round to the nearest tenth.</vt:lpstr>
      <vt:lpstr>Ex: 2  Find the missing side. Round to the nearest tenth.</vt:lpstr>
      <vt:lpstr>PowerPoint Presentation</vt:lpstr>
      <vt:lpstr>Ex: 3  Find the missing side. Round to the nearest tenth.</vt:lpstr>
      <vt:lpstr>Ex: 2  Find the missing side. Round to the nearest tenth.</vt:lpstr>
      <vt:lpstr>Task</vt:lpstr>
      <vt:lpstr>Early Finishers:  Black MAWA textbook p 68 Q6, 7 Black MAWA textbook p 74 Q5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Right-Angled Triangles</dc:title>
  <dc:creator>Sarah James</dc:creator>
  <cp:lastModifiedBy>Sarah James</cp:lastModifiedBy>
  <cp:revision>1</cp:revision>
  <dcterms:created xsi:type="dcterms:W3CDTF">2020-05-13T02:34:34Z</dcterms:created>
  <dcterms:modified xsi:type="dcterms:W3CDTF">2020-05-13T02:41:29Z</dcterms:modified>
</cp:coreProperties>
</file>
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10" r:id="rId2"/>
    <p:sldId id="399" r:id="rId3"/>
    <p:sldId id="404" r:id="rId4"/>
    <p:sldId id="285" r:id="rId5"/>
    <p:sldId id="406" r:id="rId6"/>
    <p:sldId id="405" r:id="rId7"/>
    <p:sldId id="284" r:id="rId8"/>
    <p:sldId id="407" r:id="rId9"/>
    <p:sldId id="400" r:id="rId10"/>
    <p:sldId id="283" r:id="rId11"/>
    <p:sldId id="4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13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19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3E824-2CA8-4BE9-8E60-80574ACB4016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2A5B4-F831-4F39-BE25-5C9451451A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435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83AFB89-E731-4D50-A59D-B85D02B52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1C4260-482F-467A-8248-219A1349E83A}" type="slidenum">
              <a:rPr lang="en-US" altLang="en-US" b="0"/>
              <a:pPr eaLnBrk="1" hangingPunct="1"/>
              <a:t>4</a:t>
            </a:fld>
            <a:endParaRPr lang="en-US" altLang="en-US" b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B4FD96A-24C7-49C1-9093-2DC7282194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2CA1120-04FC-42A1-BF7B-21D9876CB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AA07C29-7FE7-4B90-A246-CC00315A7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F112FF-D856-41C8-92A3-234D86FB6FEA}" type="slidenum">
              <a:rPr lang="en-US" altLang="en-US" b="0"/>
              <a:pPr eaLnBrk="1" hangingPunct="1"/>
              <a:t>7</a:t>
            </a:fld>
            <a:endParaRPr lang="en-US" altLang="en-US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2146401-0FDA-4659-99FB-0A481EB31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EA9E38F-8A9F-431D-9E9A-DEDAFA0A7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E865699-FA9C-4CE5-B146-372241769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639F2A-B377-46DC-BA99-8133FC727BBC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28BC89B-DD6A-4ADA-9529-03F5180423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25ED062-6A5A-4012-9DE8-1BB9E2139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8F75-B4BF-419D-A357-CB2FC3E27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AE2D1-E013-4520-A610-15ED5C569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ABE03-D25A-47B8-B1A9-C98688B7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72841-3890-4583-B6FE-67CE58B88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AEE4-2983-410C-90D0-3C81CD56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82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875A-D91D-4ADF-9A25-D7846E54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460F5-CA62-42E3-8F20-DF0C2470C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D53CC-C5BA-4B4D-85D9-D6948396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16B22-D47B-4BD1-97AD-4A40877C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665EC-E7CC-4142-97F2-076D7404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96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7B47-570A-4699-9611-F0759298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C5C8C-8243-40F7-8689-7266B042B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5899D-55DD-4B9A-968D-0D996805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F4E3-A029-4148-8F64-C976670A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F5367-34FA-44C1-A432-F6D8B664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657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14CC-0D9D-4417-A181-E31E1750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70F8-D581-4F7B-BC47-22EC9D644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B16CF-C607-4C84-A98D-93A0F59DF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99C2F-98A8-494E-B0A6-0F79FD77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90DAF-9124-44DE-92EB-77159F00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2C002-9B5C-44CC-A3CD-0451296A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36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D777-26DF-4C18-AF62-B26961083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4377B-BD8D-4E0A-8833-95CAF054A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9D0FA-B49E-434B-B861-61CC0A819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FD697-BDD8-4C19-A4D1-C1BD4DEBE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42838-DABA-42F5-A138-C64243698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763CB3-ED93-4205-9CCA-64028DEE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51219-8266-41D7-A876-97C0BAA2B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D85F7A-0831-434A-9D88-60E17A95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23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47AE-1C0C-40CF-88CF-0E797A8A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8777A-7C56-443E-BCC0-3C16543BD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82501-F121-4173-AAF5-610DF414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5FA9C-2777-45B2-BA6D-D6F5FE52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733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BE3B2-E526-430F-843A-1A5C5E16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6C379-4A83-4F1B-B0FB-0544FEDE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0037C-5902-4C2D-A2B1-DC9A58CE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87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E63D-9A15-4950-A89C-78494EE09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0B69-26B1-468B-ABC3-7E076F609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23F7A-99A2-4FC9-BBAE-2C0537965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3A033-A083-4890-995C-A27D618C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4EBB1-1F57-44DE-B174-00286C8A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74AB2-9D39-48E6-9DD6-87B4236B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77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3275-309E-417B-8991-B3825D7C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9E2B7-7702-407E-B8B4-FE3A4C410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8C628-9481-45E7-B9C2-303ACA61D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481CA-AB0D-4869-AD70-B4A6C4FC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82D5D-2924-4269-A9F5-0D70BDFD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2F428-F885-4896-A751-DFD36481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63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C513-6147-4C4A-A337-351E1CC5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EA8BC-D898-47A7-B95D-00636DB5B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CC51-0E8E-494B-AA6E-75D3FB2F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5F32E-A502-4285-9B91-EF36136A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8D115-E34E-482C-AEBE-5BC0BC5C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28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409F53-7B7A-4370-A735-924D7F209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B8FA1-9E7C-43F6-8A27-BEEE52228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9A41-D495-4A64-BBD9-C834DE71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67361-FBD2-45A9-A7FD-B6695748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4D24-CA51-437A-9A28-7A09B5DB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34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C13C4-E1FC-4C47-BB6A-38623C36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D0B22-B54C-4682-9149-F62F8B61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B7EF5-ED59-48B3-A190-7A01F9B3E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D54B6-D52E-4687-BFAD-B2413E78DCF0}" type="datetimeFigureOut">
              <a:rPr lang="en-AU" smtClean="0"/>
              <a:t>19/05/2020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03D44-1DA4-4843-B98B-B642D5F7B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9AA6-6F0F-472C-BD64-546DC066C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C03B5-3182-4F68-AA0A-2C44D6DD07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538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0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6.wmf"/><Relationship Id="rId1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0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6.wmf"/><Relationship Id="rId1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Right-angled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10668000" cy="1655762"/>
          </a:xfrm>
        </p:spPr>
        <p:txBody>
          <a:bodyPr/>
          <a:lstStyle/>
          <a:p>
            <a:r>
              <a:rPr lang="en-AU" b="1" dirty="0"/>
              <a:t>EQ – </a:t>
            </a:r>
            <a:r>
              <a:rPr lang="en-US" b="1" dirty="0"/>
              <a:t>How do we find an angle of a right angled triangle using trigonometry ratios?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67A9-6D75-4B45-9F01-079AA563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433" y="2378200"/>
            <a:ext cx="2783470" cy="416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trigonometry ratios?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495600" y="1904439"/>
            <a:ext cx="542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our last lesson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16989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18827" y="190600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DA782-FC5A-4D51-AB20-2E80EF505C5A}"/>
              </a:ext>
            </a:extLst>
          </p:cNvPr>
          <p:cNvSpPr txBox="1"/>
          <p:nvPr/>
        </p:nvSpPr>
        <p:spPr>
          <a:xfrm>
            <a:off x="184030" y="2058838"/>
            <a:ext cx="188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sine ratio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EDE9F-11FA-426E-B0FB-6F59DC2C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33" y="1989609"/>
            <a:ext cx="6284208" cy="2551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B44CDC-660B-44E4-BC42-45CADBDD5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33" y="4462284"/>
            <a:ext cx="6291540" cy="229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>
            <a:extLst>
              <a:ext uri="{FF2B5EF4-FFF2-40B4-BE49-F238E27FC236}">
                <a16:creationId xmlns:a16="http://schemas.microsoft.com/office/drawing/2014/main" id="{6BA0D153-3C1E-4610-912D-D775B6DE267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2133600" y="914400"/>
            <a:ext cx="4419600" cy="2438400"/>
          </a:xfrm>
          <a:prstGeom prst="rtTriangle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790D1AC-47AA-4453-8779-514BF1ABF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/>
              <a:t>Ex. 3: Find </a:t>
            </a:r>
            <a:r>
              <a:rPr lang="en-US" altLang="en-US" sz="3200" b="1">
                <a:sym typeface="Symbol" panose="05050102010706020507" pitchFamily="18" charset="2"/>
              </a:rPr>
              <a:t>.  Round to three decimal places.</a:t>
            </a:r>
            <a:endParaRPr lang="en-US" altLang="en-US" sz="3200" b="1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35D1E29D-2BAA-4C7B-AA2A-A457E8F72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914400"/>
            <a:ext cx="304800" cy="336550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90F17044-08C0-4E5F-99A6-71F6182BCB6C}"/>
              </a:ext>
            </a:extLst>
          </p:cNvPr>
          <p:cNvSpPr txBox="1">
            <a:spLocks noChangeArrowheads="1"/>
          </p:cNvSpPr>
          <p:nvPr/>
        </p:nvSpPr>
        <p:spPr bwMode="auto">
          <a:xfrm rot="19624798">
            <a:off x="3505201" y="220980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400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122ED572-5493-4DA9-A15C-C58D18916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7" y="1524001"/>
            <a:ext cx="1012826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200</a:t>
            </a:r>
          </a:p>
        </p:txBody>
      </p:sp>
      <p:graphicFrame>
        <p:nvGraphicFramePr>
          <p:cNvPr id="43017" name="Object 9">
            <a:extLst>
              <a:ext uri="{FF2B5EF4-FFF2-40B4-BE49-F238E27FC236}">
                <a16:creationId xmlns:a16="http://schemas.microsoft.com/office/drawing/2014/main" id="{C1C1534C-F368-44A1-B2DC-255D83477F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1" y="762000"/>
          <a:ext cx="21494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736280" imgH="393529" progId="Equation.3">
                  <p:embed/>
                </p:oleObj>
              </mc:Choice>
              <mc:Fallback>
                <p:oleObj name="Equation" r:id="rId4" imgW="736280" imgH="393529" progId="Equation.3">
                  <p:embed/>
                  <p:pic>
                    <p:nvPicPr>
                      <p:cNvPr id="43017" name="Object 9">
                        <a:extLst>
                          <a:ext uri="{FF2B5EF4-FFF2-40B4-BE49-F238E27FC236}">
                            <a16:creationId xmlns:a16="http://schemas.microsoft.com/office/drawing/2014/main" id="{C1C1534C-F368-44A1-B2DC-255D83477F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762000"/>
                        <a:ext cx="21494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0">
            <a:extLst>
              <a:ext uri="{FF2B5EF4-FFF2-40B4-BE49-F238E27FC236}">
                <a16:creationId xmlns:a16="http://schemas.microsoft.com/office/drawing/2014/main" id="{20EE2E82-7BDB-4DCE-9B67-F29F10FEDC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838200"/>
          <a:ext cx="436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24584" name="Object 10">
                        <a:extLst>
                          <a:ext uri="{FF2B5EF4-FFF2-40B4-BE49-F238E27FC236}">
                            <a16:creationId xmlns:a16="http://schemas.microsoft.com/office/drawing/2014/main" id="{20EE2E82-7BDB-4DCE-9B67-F29F10FED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838200"/>
                        <a:ext cx="436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9" name="Group 11">
            <a:extLst>
              <a:ext uri="{FF2B5EF4-FFF2-40B4-BE49-F238E27FC236}">
                <a16:creationId xmlns:a16="http://schemas.microsoft.com/office/drawing/2014/main" id="{EB4C9F10-6CF1-4FAD-88DC-F0AF766E8D66}"/>
              </a:ext>
            </a:extLst>
          </p:cNvPr>
          <p:cNvGrpSpPr>
            <a:grpSpLocks/>
          </p:cNvGrpSpPr>
          <p:nvPr/>
        </p:nvGrpSpPr>
        <p:grpSpPr bwMode="auto">
          <a:xfrm>
            <a:off x="4352925" y="3724275"/>
            <a:ext cx="1219200" cy="762000"/>
            <a:chOff x="2400" y="1632"/>
            <a:chExt cx="768" cy="480"/>
          </a:xfrm>
        </p:grpSpPr>
        <p:sp>
          <p:nvSpPr>
            <p:cNvPr id="24604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00F1C78-EBB8-4891-8A0A-B00393BD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605" name="Text Box 13">
              <a:extLst>
                <a:ext uri="{FF2B5EF4-FFF2-40B4-BE49-F238E27FC236}">
                  <a16:creationId xmlns:a16="http://schemas.microsoft.com/office/drawing/2014/main" id="{ED1451CA-6147-4AD9-B7A1-87C8C2DD7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3022" name="Group 14">
            <a:extLst>
              <a:ext uri="{FF2B5EF4-FFF2-40B4-BE49-F238E27FC236}">
                <a16:creationId xmlns:a16="http://schemas.microsoft.com/office/drawing/2014/main" id="{5E27737B-A9E3-44AD-9865-EEAABC6A5ED6}"/>
              </a:ext>
            </a:extLst>
          </p:cNvPr>
          <p:cNvGrpSpPr>
            <a:grpSpLocks/>
          </p:cNvGrpSpPr>
          <p:nvPr/>
        </p:nvGrpSpPr>
        <p:grpSpPr bwMode="auto">
          <a:xfrm>
            <a:off x="5648325" y="3724275"/>
            <a:ext cx="1219200" cy="762000"/>
            <a:chOff x="3216" y="1632"/>
            <a:chExt cx="768" cy="480"/>
          </a:xfrm>
        </p:grpSpPr>
        <p:sp>
          <p:nvSpPr>
            <p:cNvPr id="24602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766495A-5EC1-4936-A7F6-C931896D3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603" name="Text Box 16">
              <a:extLst>
                <a:ext uri="{FF2B5EF4-FFF2-40B4-BE49-F238E27FC236}">
                  <a16:creationId xmlns:a16="http://schemas.microsoft.com/office/drawing/2014/main" id="{76FAA8A3-9ECE-4C25-AB93-B74B5B53A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43025" name="Group 17">
            <a:extLst>
              <a:ext uri="{FF2B5EF4-FFF2-40B4-BE49-F238E27FC236}">
                <a16:creationId xmlns:a16="http://schemas.microsoft.com/office/drawing/2014/main" id="{03E91CEE-7664-4AEA-ABB7-69D4308D3261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3800475"/>
            <a:ext cx="990600" cy="685800"/>
            <a:chOff x="3840" y="1248"/>
            <a:chExt cx="768" cy="432"/>
          </a:xfrm>
        </p:grpSpPr>
        <p:sp>
          <p:nvSpPr>
            <p:cNvPr id="24600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3BB0032-1FCD-445C-93D4-6CC7B30F2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601" name="Text Box 19">
              <a:extLst>
                <a:ext uri="{FF2B5EF4-FFF2-40B4-BE49-F238E27FC236}">
                  <a16:creationId xmlns:a16="http://schemas.microsoft.com/office/drawing/2014/main" id="{3BC202DF-D12F-45E0-B8C6-DBF69E6B2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48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200 </a:t>
              </a:r>
            </a:p>
          </p:txBody>
        </p:sp>
      </p:grpSp>
      <p:grpSp>
        <p:nvGrpSpPr>
          <p:cNvPr id="43028" name="Group 20">
            <a:extLst>
              <a:ext uri="{FF2B5EF4-FFF2-40B4-BE49-F238E27FC236}">
                <a16:creationId xmlns:a16="http://schemas.microsoft.com/office/drawing/2014/main" id="{466E348B-A836-4F94-A94B-A2C5FBE956DC}"/>
              </a:ext>
            </a:extLst>
          </p:cNvPr>
          <p:cNvGrpSpPr>
            <a:grpSpLocks/>
          </p:cNvGrpSpPr>
          <p:nvPr/>
        </p:nvGrpSpPr>
        <p:grpSpPr bwMode="auto">
          <a:xfrm>
            <a:off x="8010525" y="3800475"/>
            <a:ext cx="838200" cy="609600"/>
            <a:chOff x="4656" y="1248"/>
            <a:chExt cx="528" cy="384"/>
          </a:xfrm>
        </p:grpSpPr>
        <p:sp>
          <p:nvSpPr>
            <p:cNvPr id="24598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B2EBA78-AB01-4EC8-9111-B7CDCE5D6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4599" name="Object 22">
              <a:extLst>
                <a:ext uri="{FF2B5EF4-FFF2-40B4-BE49-F238E27FC236}">
                  <a16:creationId xmlns:a16="http://schemas.microsoft.com/office/drawing/2014/main" id="{2400CBB2-E0CB-432D-889D-A276940227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Equation" r:id="rId8" imgW="126725" imgH="126725" progId="Equation.3">
                    <p:embed/>
                  </p:oleObj>
                </mc:Choice>
                <mc:Fallback>
                  <p:oleObj name="Equation" r:id="rId8" imgW="126725" imgH="126725" progId="Equation.3">
                    <p:embed/>
                    <p:pic>
                      <p:nvPicPr>
                        <p:cNvPr id="24599" name="Object 22">
                          <a:extLst>
                            <a:ext uri="{FF2B5EF4-FFF2-40B4-BE49-F238E27FC236}">
                              <a16:creationId xmlns:a16="http://schemas.microsoft.com/office/drawing/2014/main" id="{2400CBB2-E0CB-432D-889D-A276940227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31" name="Group 23">
            <a:extLst>
              <a:ext uri="{FF2B5EF4-FFF2-40B4-BE49-F238E27FC236}">
                <a16:creationId xmlns:a16="http://schemas.microsoft.com/office/drawing/2014/main" id="{7196CD35-A478-4A92-A498-615779BB9D70}"/>
              </a:ext>
            </a:extLst>
          </p:cNvPr>
          <p:cNvGrpSpPr>
            <a:grpSpLocks/>
          </p:cNvGrpSpPr>
          <p:nvPr/>
        </p:nvGrpSpPr>
        <p:grpSpPr bwMode="auto">
          <a:xfrm>
            <a:off x="8882064" y="3800475"/>
            <a:ext cx="1176337" cy="685800"/>
            <a:chOff x="5040" y="1248"/>
            <a:chExt cx="672" cy="432"/>
          </a:xfrm>
        </p:grpSpPr>
        <p:sp>
          <p:nvSpPr>
            <p:cNvPr id="24596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55FC371-30BB-4861-9E96-D31143023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597" name="Text Box 25">
              <a:extLst>
                <a:ext uri="{FF2B5EF4-FFF2-40B4-BE49-F238E27FC236}">
                  <a16:creationId xmlns:a16="http://schemas.microsoft.com/office/drawing/2014/main" id="{AB0DA2D7-ACDE-44FE-87C7-F4110E0D8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400</a:t>
              </a:r>
            </a:p>
          </p:txBody>
        </p:sp>
      </p:grpSp>
      <p:graphicFrame>
        <p:nvGraphicFramePr>
          <p:cNvPr id="43034" name="Object 26">
            <a:extLst>
              <a:ext uri="{FF2B5EF4-FFF2-40B4-BE49-F238E27FC236}">
                <a16:creationId xmlns:a16="http://schemas.microsoft.com/office/drawing/2014/main" id="{FB7B1D03-AFAE-42CB-9B58-12042F60BF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1" y="4905376"/>
          <a:ext cx="28733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0" imgW="494870" imgH="177646" progId="Equation.3">
                  <p:embed/>
                </p:oleObj>
              </mc:Choice>
              <mc:Fallback>
                <p:oleObj name="Equation" r:id="rId10" imgW="494870" imgH="177646" progId="Equation.3">
                  <p:embed/>
                  <p:pic>
                    <p:nvPicPr>
                      <p:cNvPr id="43034" name="Object 26">
                        <a:extLst>
                          <a:ext uri="{FF2B5EF4-FFF2-40B4-BE49-F238E27FC236}">
                            <a16:creationId xmlns:a16="http://schemas.microsoft.com/office/drawing/2014/main" id="{FB7B1D03-AFAE-42CB-9B58-12042F60BF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4905376"/>
                        <a:ext cx="28733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5" name="Group 27">
            <a:extLst>
              <a:ext uri="{FF2B5EF4-FFF2-40B4-BE49-F238E27FC236}">
                <a16:creationId xmlns:a16="http://schemas.microsoft.com/office/drawing/2014/main" id="{2E962EB2-06EF-4220-8ACC-B7904D582DF6}"/>
              </a:ext>
            </a:extLst>
          </p:cNvPr>
          <p:cNvGrpSpPr>
            <a:grpSpLocks/>
          </p:cNvGrpSpPr>
          <p:nvPr/>
        </p:nvGrpSpPr>
        <p:grpSpPr bwMode="auto">
          <a:xfrm>
            <a:off x="9991725" y="3800475"/>
            <a:ext cx="533400" cy="685800"/>
            <a:chOff x="5040" y="1248"/>
            <a:chExt cx="672" cy="432"/>
          </a:xfrm>
        </p:grpSpPr>
        <p:sp>
          <p:nvSpPr>
            <p:cNvPr id="24594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248359F-F0B7-4952-BB52-90BC79D2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595" name="Text Box 29">
              <a:extLst>
                <a:ext uri="{FF2B5EF4-FFF2-40B4-BE49-F238E27FC236}">
                  <a16:creationId xmlns:a16="http://schemas.microsoft.com/office/drawing/2014/main" id="{B6A9B7C8-F6EA-4C0D-8286-9F2EF9938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43038" name="Picture 30" descr="MCj00787170000[1]">
            <a:extLst>
              <a:ext uri="{FF2B5EF4-FFF2-40B4-BE49-F238E27FC236}">
                <a16:creationId xmlns:a16="http://schemas.microsoft.com/office/drawing/2014/main" id="{BB4D422B-6ADB-41CC-AF01-91EB0E2F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889000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6E512BA-5ADB-4DE0-B873-5725B69A2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3676" y="2060575"/>
          <a:ext cx="277971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3" imgW="952200" imgH="393480" progId="Equation.3">
                  <p:embed/>
                </p:oleObj>
              </mc:Choice>
              <mc:Fallback>
                <p:oleObj name="Equation" r:id="rId13" imgW="95220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6E512BA-5ADB-4DE0-B873-5725B69A2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6" y="2060575"/>
                        <a:ext cx="277971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1B8A-3C7D-4494-A30C-BB575511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Task- Use sine ratio to find the unknown angle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1F5FAD-81EF-484E-9FF7-A0D4C2FFD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96" y="1754038"/>
            <a:ext cx="9276664" cy="492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4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DA782-FC5A-4D51-AB20-2E80EF505C5A}"/>
              </a:ext>
            </a:extLst>
          </p:cNvPr>
          <p:cNvSpPr txBox="1"/>
          <p:nvPr/>
        </p:nvSpPr>
        <p:spPr>
          <a:xfrm>
            <a:off x="184030" y="2058838"/>
            <a:ext cx="1886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cosine ratio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EF5E5-74FD-4427-83A1-17D88A26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8" y="1916832"/>
            <a:ext cx="5433720" cy="2624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9AAFC5-771C-408E-AEB1-DA16E196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48" y="4604551"/>
            <a:ext cx="5433718" cy="197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8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>
            <a:extLst>
              <a:ext uri="{FF2B5EF4-FFF2-40B4-BE49-F238E27FC236}">
                <a16:creationId xmlns:a16="http://schemas.microsoft.com/office/drawing/2014/main" id="{0B2EEF81-AEBD-4BE4-BC1F-B6637BF0D2F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449513" y="1219200"/>
            <a:ext cx="1371600" cy="3429000"/>
          </a:xfrm>
          <a:prstGeom prst="rtTriangle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C08E1E7-ED26-4E48-B1CF-F8F9A2D6E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/>
              <a:t>Ex. 2: Find </a:t>
            </a:r>
            <a:r>
              <a:rPr lang="en-US" altLang="en-US" sz="3200" b="1">
                <a:sym typeface="Symbol" panose="05050102010706020507" pitchFamily="18" charset="2"/>
              </a:rPr>
              <a:t>.  Round to three decimal places.</a:t>
            </a:r>
            <a:endParaRPr lang="en-US" altLang="en-US" sz="3200" b="1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0F0AD0A8-4C30-4EF2-A560-02998D934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219200"/>
            <a:ext cx="304800" cy="336550"/>
          </a:xfrm>
          <a:prstGeom prst="rect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237D82E4-3CD0-43FF-BA0A-85FD9538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236220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23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36BEA7B7-2BE2-4427-93FD-72C5ACE0C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685801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7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DB1C1142-89C0-46D3-9DC6-FF1B63347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172201"/>
            <a:ext cx="7543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i="1"/>
              <a:t>Make sure you are in degree mode (not radians).</a:t>
            </a:r>
          </a:p>
        </p:txBody>
      </p:sp>
      <p:graphicFrame>
        <p:nvGraphicFramePr>
          <p:cNvPr id="41993" name="Object 9">
            <a:extLst>
              <a:ext uri="{FF2B5EF4-FFF2-40B4-BE49-F238E27FC236}">
                <a16:creationId xmlns:a16="http://schemas.microsoft.com/office/drawing/2014/main" id="{39533A2F-F337-4BCF-B745-DC3D92984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9275" y="774700"/>
          <a:ext cx="19637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672840" imgH="393480" progId="Equation.3">
                  <p:embed/>
                </p:oleObj>
              </mc:Choice>
              <mc:Fallback>
                <p:oleObj name="Equation" r:id="rId4" imgW="672840" imgH="393480" progId="Equation.3">
                  <p:embed/>
                  <p:pic>
                    <p:nvPicPr>
                      <p:cNvPr id="41993" name="Object 9">
                        <a:extLst>
                          <a:ext uri="{FF2B5EF4-FFF2-40B4-BE49-F238E27FC236}">
                            <a16:creationId xmlns:a16="http://schemas.microsoft.com/office/drawing/2014/main" id="{39533A2F-F337-4BCF-B745-DC3D92984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774700"/>
                        <a:ext cx="19637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10">
            <a:extLst>
              <a:ext uri="{FF2B5EF4-FFF2-40B4-BE49-F238E27FC236}">
                <a16:creationId xmlns:a16="http://schemas.microsoft.com/office/drawing/2014/main" id="{895A0BAE-EDDF-4DCB-8140-0976D45FB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7638" y="1219200"/>
          <a:ext cx="4365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23561" name="Object 10">
                        <a:extLst>
                          <a:ext uri="{FF2B5EF4-FFF2-40B4-BE49-F238E27FC236}">
                            <a16:creationId xmlns:a16="http://schemas.microsoft.com/office/drawing/2014/main" id="{895A0BAE-EDDF-4DCB-8140-0976D45FB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1219200"/>
                        <a:ext cx="4365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5" name="Group 11">
            <a:extLst>
              <a:ext uri="{FF2B5EF4-FFF2-40B4-BE49-F238E27FC236}">
                <a16:creationId xmlns:a16="http://schemas.microsoft.com/office/drawing/2014/main" id="{46621C4B-A33D-4758-8E53-0F5392723231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905000"/>
            <a:ext cx="1219200" cy="762000"/>
            <a:chOff x="2400" y="1632"/>
            <a:chExt cx="768" cy="480"/>
          </a:xfrm>
        </p:grpSpPr>
        <p:sp>
          <p:nvSpPr>
            <p:cNvPr id="23581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5F89CEB-07C4-450C-A015-2A8261EBE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82" name="Text Box 13">
              <a:extLst>
                <a:ext uri="{FF2B5EF4-FFF2-40B4-BE49-F238E27FC236}">
                  <a16:creationId xmlns:a16="http://schemas.microsoft.com/office/drawing/2014/main" id="{4FF67006-A16E-4101-B3B0-0068CDB5A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1998" name="Group 14">
            <a:extLst>
              <a:ext uri="{FF2B5EF4-FFF2-40B4-BE49-F238E27FC236}">
                <a16:creationId xmlns:a16="http://schemas.microsoft.com/office/drawing/2014/main" id="{70FFBCD0-2567-47C6-8C8F-AE2C620615D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905000"/>
            <a:ext cx="1295400" cy="769938"/>
            <a:chOff x="3216" y="1632"/>
            <a:chExt cx="816" cy="485"/>
          </a:xfrm>
        </p:grpSpPr>
        <p:sp>
          <p:nvSpPr>
            <p:cNvPr id="23579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86F1424-931D-484B-9366-E207D768F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80" name="Text Box 16">
              <a:extLst>
                <a:ext uri="{FF2B5EF4-FFF2-40B4-BE49-F238E27FC236}">
                  <a16:creationId xmlns:a16="http://schemas.microsoft.com/office/drawing/2014/main" id="{423E75F9-1BF9-4B47-85C9-4A4DB9622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816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42001" name="Group 17">
            <a:extLst>
              <a:ext uri="{FF2B5EF4-FFF2-40B4-BE49-F238E27FC236}">
                <a16:creationId xmlns:a16="http://schemas.microsoft.com/office/drawing/2014/main" id="{30671AC4-C44F-4258-8B3B-D1EA0D4541AA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981200"/>
            <a:ext cx="838200" cy="685800"/>
            <a:chOff x="3840" y="1248"/>
            <a:chExt cx="768" cy="432"/>
          </a:xfrm>
        </p:grpSpPr>
        <p:sp>
          <p:nvSpPr>
            <p:cNvPr id="23577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949C89C-8619-4DCA-ADAC-384E65667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8" name="Text Box 19">
              <a:extLst>
                <a:ext uri="{FF2B5EF4-FFF2-40B4-BE49-F238E27FC236}">
                  <a16:creationId xmlns:a16="http://schemas.microsoft.com/office/drawing/2014/main" id="{C1334EC9-EF24-4637-9FD7-3A4E0BEAA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 </a:t>
              </a:r>
            </a:p>
          </p:txBody>
        </p:sp>
      </p:grpSp>
      <p:grpSp>
        <p:nvGrpSpPr>
          <p:cNvPr id="42004" name="Group 20">
            <a:extLst>
              <a:ext uri="{FF2B5EF4-FFF2-40B4-BE49-F238E27FC236}">
                <a16:creationId xmlns:a16="http://schemas.microsoft.com/office/drawing/2014/main" id="{BB8446E0-4682-459F-8708-F8C0D5D81A8A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981200"/>
            <a:ext cx="838200" cy="609600"/>
            <a:chOff x="4656" y="1248"/>
            <a:chExt cx="528" cy="384"/>
          </a:xfrm>
        </p:grpSpPr>
        <p:sp>
          <p:nvSpPr>
            <p:cNvPr id="23575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A97E2A5-A310-4DC9-A6BD-926A26E5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3576" name="Object 22">
              <a:extLst>
                <a:ext uri="{FF2B5EF4-FFF2-40B4-BE49-F238E27FC236}">
                  <a16:creationId xmlns:a16="http://schemas.microsoft.com/office/drawing/2014/main" id="{9D8FA085-40FE-40E4-92B8-73928A4312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8" imgW="126725" imgH="126725" progId="Equation.3">
                    <p:embed/>
                  </p:oleObj>
                </mc:Choice>
                <mc:Fallback>
                  <p:oleObj name="Equation" r:id="rId8" imgW="126725" imgH="126725" progId="Equation.3">
                    <p:embed/>
                    <p:pic>
                      <p:nvPicPr>
                        <p:cNvPr id="23576" name="Object 22">
                          <a:extLst>
                            <a:ext uri="{FF2B5EF4-FFF2-40B4-BE49-F238E27FC236}">
                              <a16:creationId xmlns:a16="http://schemas.microsoft.com/office/drawing/2014/main" id="{9D8FA085-40FE-40E4-92B8-73928A4312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07" name="Group 23">
            <a:extLst>
              <a:ext uri="{FF2B5EF4-FFF2-40B4-BE49-F238E27FC236}">
                <a16:creationId xmlns:a16="http://schemas.microsoft.com/office/drawing/2014/main" id="{5FF94DDB-D732-4505-8198-B6B55BA6032F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1981200"/>
            <a:ext cx="1066800" cy="685800"/>
            <a:chOff x="5232" y="1248"/>
            <a:chExt cx="480" cy="432"/>
          </a:xfrm>
        </p:grpSpPr>
        <p:sp>
          <p:nvSpPr>
            <p:cNvPr id="23573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F055D8B-E4ED-4969-B9C7-ED91D18C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4" name="Text Box 25">
              <a:extLst>
                <a:ext uri="{FF2B5EF4-FFF2-40B4-BE49-F238E27FC236}">
                  <a16:creationId xmlns:a16="http://schemas.microsoft.com/office/drawing/2014/main" id="{7A8CBBDC-0B44-4BD9-ADAB-57591A3FE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23</a:t>
              </a:r>
            </a:p>
          </p:txBody>
        </p:sp>
      </p:grpSp>
      <p:graphicFrame>
        <p:nvGraphicFramePr>
          <p:cNvPr id="42010" name="Object 26">
            <a:extLst>
              <a:ext uri="{FF2B5EF4-FFF2-40B4-BE49-F238E27FC236}">
                <a16:creationId xmlns:a16="http://schemas.microsoft.com/office/drawing/2014/main" id="{0ABCE73E-A50E-4502-9915-D837C8ECD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7826" y="3505201"/>
          <a:ext cx="44227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0" imgW="761669" imgH="177723" progId="Equation.3">
                  <p:embed/>
                </p:oleObj>
              </mc:Choice>
              <mc:Fallback>
                <p:oleObj name="Equation" r:id="rId10" imgW="761669" imgH="177723" progId="Equation.3">
                  <p:embed/>
                  <p:pic>
                    <p:nvPicPr>
                      <p:cNvPr id="42010" name="Object 26">
                        <a:extLst>
                          <a:ext uri="{FF2B5EF4-FFF2-40B4-BE49-F238E27FC236}">
                            <a16:creationId xmlns:a16="http://schemas.microsoft.com/office/drawing/2014/main" id="{0ABCE73E-A50E-4502-9915-D837C8ECD2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6" y="3505201"/>
                        <a:ext cx="44227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11" name="Group 27">
            <a:extLst>
              <a:ext uri="{FF2B5EF4-FFF2-40B4-BE49-F238E27FC236}">
                <a16:creationId xmlns:a16="http://schemas.microsoft.com/office/drawing/2014/main" id="{D42F139A-F167-4975-AA34-7D94539FD156}"/>
              </a:ext>
            </a:extLst>
          </p:cNvPr>
          <p:cNvGrpSpPr>
            <a:grpSpLocks/>
          </p:cNvGrpSpPr>
          <p:nvPr/>
        </p:nvGrpSpPr>
        <p:grpSpPr bwMode="auto">
          <a:xfrm>
            <a:off x="9829800" y="1981200"/>
            <a:ext cx="762000" cy="685800"/>
            <a:chOff x="5232" y="1248"/>
            <a:chExt cx="480" cy="432"/>
          </a:xfrm>
        </p:grpSpPr>
        <p:sp>
          <p:nvSpPr>
            <p:cNvPr id="23571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194B599-2C9C-47ED-B91F-9D543D76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2" name="Text Box 29">
              <a:extLst>
                <a:ext uri="{FF2B5EF4-FFF2-40B4-BE49-F238E27FC236}">
                  <a16:creationId xmlns:a16="http://schemas.microsoft.com/office/drawing/2014/main" id="{ED9C5A25-FB1A-45BD-B25F-2C70C15A9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42015" name="Picture 31" descr="MCj00787170000[1]">
            <a:extLst>
              <a:ext uri="{FF2B5EF4-FFF2-40B4-BE49-F238E27FC236}">
                <a16:creationId xmlns:a16="http://schemas.microsoft.com/office/drawing/2014/main" id="{B91D899C-178D-4346-B4AD-B6997052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89214" y="119380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281C7BE-CE04-4C45-AE7F-C6052451E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1289" y="755650"/>
          <a:ext cx="26304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3" imgW="901440" imgH="393480" progId="Equation.3">
                  <p:embed/>
                </p:oleObj>
              </mc:Choice>
              <mc:Fallback>
                <p:oleObj name="Equation" r:id="rId13" imgW="90144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281C7BE-CE04-4C45-AE7F-C6052451E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289" y="755650"/>
                        <a:ext cx="263048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4ECF1A-68C5-49E6-8B1B-51BE1DFAE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5208" y="1851805"/>
            <a:ext cx="9415708" cy="48348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15383A1-13C3-4EFF-A87E-C42CF12A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/>
              <a:t>Task- Same </a:t>
            </a:r>
            <a:r>
              <a:rPr lang="en-AU" dirty="0"/>
              <a:t>set as before but this time….Use cosine ratio to find the unknown angle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55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8192" y="332620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C1D04-71B0-4F49-B26B-289C1EF7B5A5}"/>
              </a:ext>
            </a:extLst>
          </p:cNvPr>
          <p:cNvSpPr txBox="1"/>
          <p:nvPr/>
        </p:nvSpPr>
        <p:spPr>
          <a:xfrm>
            <a:off x="119336" y="2070340"/>
            <a:ext cx="220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tangent ratio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84F28F-4F25-4891-B01F-47BA9A31E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17"/>
          <a:stretch/>
        </p:blipFill>
        <p:spPr>
          <a:xfrm>
            <a:off x="2524779" y="1984274"/>
            <a:ext cx="5474007" cy="2290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A8104D-B964-4218-B1ED-FCC4C14069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17" b="1"/>
          <a:stretch/>
        </p:blipFill>
        <p:spPr>
          <a:xfrm>
            <a:off x="2530905" y="4393721"/>
            <a:ext cx="5426450" cy="17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0E49E95-6D82-4C01-AC4C-5CFFA8458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9525"/>
            <a:ext cx="91440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/>
              <a:t>Ex. 1: Find </a:t>
            </a:r>
            <a:r>
              <a:rPr lang="en-US" altLang="en-US" sz="3200" b="1">
                <a:sym typeface="Symbol" panose="05050102010706020507" pitchFamily="18" charset="2"/>
              </a:rPr>
              <a:t>.  Round to four decimal places.</a:t>
            </a:r>
            <a:endParaRPr lang="en-US" altLang="en-US" sz="3200" b="1"/>
          </a:p>
        </p:txBody>
      </p:sp>
      <p:sp>
        <p:nvSpPr>
          <p:cNvPr id="22531" name="AutoShape 3">
            <a:extLst>
              <a:ext uri="{FF2B5EF4-FFF2-40B4-BE49-F238E27FC236}">
                <a16:creationId xmlns:a16="http://schemas.microsoft.com/office/drawing/2014/main" id="{DB487FBD-E8E8-4A84-B238-973605E5D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685800"/>
            <a:ext cx="2286000" cy="3200400"/>
          </a:xfrm>
          <a:prstGeom prst="rtTriangle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958D9B2C-74D9-44C3-8DD2-2B65501C8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3549650"/>
            <a:ext cx="304800" cy="336550"/>
          </a:xfrm>
          <a:prstGeom prst="rect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C32CB6B-3224-45B6-9679-0263F86E8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00685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9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E83CC6A7-EF5E-4A7F-8FC7-2F858D684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1" y="2243139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17.2</a:t>
            </a:r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7A866E7B-5519-44EB-9CB4-F20735988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352800"/>
            <a:ext cx="152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6E86AFB2-94D0-4F7E-A15B-2A58FC0EF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7100" y="755650"/>
          <a:ext cx="2260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774364" imgH="393529" progId="Equation.3">
                  <p:embed/>
                </p:oleObj>
              </mc:Choice>
              <mc:Fallback>
                <p:oleObj name="Equation" r:id="rId4" imgW="774364" imgH="393529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6E86AFB2-94D0-4F7E-A15B-2A58FC0EF6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755650"/>
                        <a:ext cx="2260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10">
            <a:extLst>
              <a:ext uri="{FF2B5EF4-FFF2-40B4-BE49-F238E27FC236}">
                <a16:creationId xmlns:a16="http://schemas.microsoft.com/office/drawing/2014/main" id="{59F47D07-CEED-4D8E-BF3F-945840390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3189" y="3200401"/>
          <a:ext cx="554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22537" name="Object 10">
                        <a:extLst>
                          <a:ext uri="{FF2B5EF4-FFF2-40B4-BE49-F238E27FC236}">
                            <a16:creationId xmlns:a16="http://schemas.microsoft.com/office/drawing/2014/main" id="{59F47D07-CEED-4D8E-BF3F-945840390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9" y="3200401"/>
                        <a:ext cx="554037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" name="Group 11">
            <a:extLst>
              <a:ext uri="{FF2B5EF4-FFF2-40B4-BE49-F238E27FC236}">
                <a16:creationId xmlns:a16="http://schemas.microsoft.com/office/drawing/2014/main" id="{77C7CB8E-601E-4677-B047-7A0F84ED954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219200" cy="762000"/>
            <a:chOff x="2400" y="1632"/>
            <a:chExt cx="768" cy="480"/>
          </a:xfrm>
        </p:grpSpPr>
        <p:sp>
          <p:nvSpPr>
            <p:cNvPr id="22559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AC23442-A5CE-4495-9905-A511FE584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60" name="Text Box 13">
              <a:extLst>
                <a:ext uri="{FF2B5EF4-FFF2-40B4-BE49-F238E27FC236}">
                  <a16:creationId xmlns:a16="http://schemas.microsoft.com/office/drawing/2014/main" id="{1BA7746F-37E8-4C26-98E0-5971128D6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0974" name="Group 14">
            <a:extLst>
              <a:ext uri="{FF2B5EF4-FFF2-40B4-BE49-F238E27FC236}">
                <a16:creationId xmlns:a16="http://schemas.microsoft.com/office/drawing/2014/main" id="{0ECBC2AB-48D1-4AC3-ABA6-470FC54395E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905000"/>
            <a:ext cx="1219200" cy="762000"/>
            <a:chOff x="3216" y="1632"/>
            <a:chExt cx="768" cy="480"/>
          </a:xfrm>
        </p:grpSpPr>
        <p:sp>
          <p:nvSpPr>
            <p:cNvPr id="22557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E38F8077-6E1B-4B24-A98F-C3538A491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8" name="Text Box 16">
              <a:extLst>
                <a:ext uri="{FF2B5EF4-FFF2-40B4-BE49-F238E27FC236}">
                  <a16:creationId xmlns:a16="http://schemas.microsoft.com/office/drawing/2014/main" id="{A8ECC1C1-6A42-444E-B29F-5021B4567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67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0977" name="Group 17">
            <a:extLst>
              <a:ext uri="{FF2B5EF4-FFF2-40B4-BE49-F238E27FC236}">
                <a16:creationId xmlns:a16="http://schemas.microsoft.com/office/drawing/2014/main" id="{266FF05F-3342-410B-AE38-A2E1EFB732F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981200"/>
            <a:ext cx="1219200" cy="685800"/>
            <a:chOff x="3840" y="1248"/>
            <a:chExt cx="768" cy="432"/>
          </a:xfrm>
        </p:grpSpPr>
        <p:sp>
          <p:nvSpPr>
            <p:cNvPr id="22555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21F12EE-66D4-439B-9727-529AEA8B4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6" name="Text Box 19">
              <a:extLst>
                <a:ext uri="{FF2B5EF4-FFF2-40B4-BE49-F238E27FC236}">
                  <a16:creationId xmlns:a16="http://schemas.microsoft.com/office/drawing/2014/main" id="{03E503B5-8C28-43D1-A776-5623CBD99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17.2 </a:t>
              </a:r>
            </a:p>
          </p:txBody>
        </p:sp>
      </p:grpSp>
      <p:grpSp>
        <p:nvGrpSpPr>
          <p:cNvPr id="40980" name="Group 20">
            <a:extLst>
              <a:ext uri="{FF2B5EF4-FFF2-40B4-BE49-F238E27FC236}">
                <a16:creationId xmlns:a16="http://schemas.microsoft.com/office/drawing/2014/main" id="{1258EA32-C4FF-4C78-BEC0-B8D2AE99886A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1981200"/>
            <a:ext cx="838200" cy="609600"/>
            <a:chOff x="4656" y="1248"/>
            <a:chExt cx="528" cy="384"/>
          </a:xfrm>
        </p:grpSpPr>
        <p:sp>
          <p:nvSpPr>
            <p:cNvPr id="22553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3A7DDC8-2599-446D-9879-27BA27514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2554" name="Object 22">
              <a:extLst>
                <a:ext uri="{FF2B5EF4-FFF2-40B4-BE49-F238E27FC236}">
                  <a16:creationId xmlns:a16="http://schemas.microsoft.com/office/drawing/2014/main" id="{FB175ED5-6DD1-4E92-A7EE-FEEAE84CF7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8" imgW="126725" imgH="126725" progId="Equation.3">
                    <p:embed/>
                  </p:oleObj>
                </mc:Choice>
                <mc:Fallback>
                  <p:oleObj name="Equation" r:id="rId8" imgW="126725" imgH="126725" progId="Equation.3">
                    <p:embed/>
                    <p:pic>
                      <p:nvPicPr>
                        <p:cNvPr id="22554" name="Object 22">
                          <a:extLst>
                            <a:ext uri="{FF2B5EF4-FFF2-40B4-BE49-F238E27FC236}">
                              <a16:creationId xmlns:a16="http://schemas.microsoft.com/office/drawing/2014/main" id="{FB175ED5-6DD1-4E92-A7EE-FEEAE84CF7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3" name="Group 23">
            <a:extLst>
              <a:ext uri="{FF2B5EF4-FFF2-40B4-BE49-F238E27FC236}">
                <a16:creationId xmlns:a16="http://schemas.microsoft.com/office/drawing/2014/main" id="{F6EC0277-867D-439A-A1DB-4C973CE30F7B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981200"/>
            <a:ext cx="762000" cy="685800"/>
            <a:chOff x="5232" y="1248"/>
            <a:chExt cx="480" cy="432"/>
          </a:xfrm>
        </p:grpSpPr>
        <p:sp>
          <p:nvSpPr>
            <p:cNvPr id="22551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DD8CC29-96AE-47AF-88DA-A5C110637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2" name="Text Box 25">
              <a:extLst>
                <a:ext uri="{FF2B5EF4-FFF2-40B4-BE49-F238E27FC236}">
                  <a16:creationId xmlns:a16="http://schemas.microsoft.com/office/drawing/2014/main" id="{46FD4D33-294C-48C5-AE73-DF99FB946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9</a:t>
              </a:r>
            </a:p>
          </p:txBody>
        </p:sp>
      </p:grpSp>
      <p:graphicFrame>
        <p:nvGraphicFramePr>
          <p:cNvPr id="40986" name="Object 26">
            <a:extLst>
              <a:ext uri="{FF2B5EF4-FFF2-40B4-BE49-F238E27FC236}">
                <a16:creationId xmlns:a16="http://schemas.microsoft.com/office/drawing/2014/main" id="{D9DF5CD4-7CFA-498F-B4C6-92FAD4C46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0" y="3429001"/>
          <a:ext cx="48641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0" imgW="837836" imgH="177723" progId="Equation.3">
                  <p:embed/>
                </p:oleObj>
              </mc:Choice>
              <mc:Fallback>
                <p:oleObj name="Equation" r:id="rId10" imgW="837836" imgH="177723" progId="Equation.3">
                  <p:embed/>
                  <p:pic>
                    <p:nvPicPr>
                      <p:cNvPr id="40986" name="Object 26">
                        <a:extLst>
                          <a:ext uri="{FF2B5EF4-FFF2-40B4-BE49-F238E27FC236}">
                            <a16:creationId xmlns:a16="http://schemas.microsoft.com/office/drawing/2014/main" id="{D9DF5CD4-7CFA-498F-B4C6-92FAD4C46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429001"/>
                        <a:ext cx="4864100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7" name="Group 27">
            <a:extLst>
              <a:ext uri="{FF2B5EF4-FFF2-40B4-BE49-F238E27FC236}">
                <a16:creationId xmlns:a16="http://schemas.microsoft.com/office/drawing/2014/main" id="{11C69A92-6230-46C8-A1CE-185C737294CC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1981200"/>
            <a:ext cx="762000" cy="685800"/>
            <a:chOff x="5232" y="1248"/>
            <a:chExt cx="480" cy="432"/>
          </a:xfrm>
        </p:grpSpPr>
        <p:sp>
          <p:nvSpPr>
            <p:cNvPr id="22549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2DA8226-CF08-4FA9-9EFC-097D87CD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0" name="Text Box 29">
              <a:extLst>
                <a:ext uri="{FF2B5EF4-FFF2-40B4-BE49-F238E27FC236}">
                  <a16:creationId xmlns:a16="http://schemas.microsoft.com/office/drawing/2014/main" id="{2CABF3CB-D8E7-4957-B705-F09B31628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sp>
        <p:nvSpPr>
          <p:cNvPr id="40990" name="Text Box 30">
            <a:extLst>
              <a:ext uri="{FF2B5EF4-FFF2-40B4-BE49-F238E27FC236}">
                <a16:creationId xmlns:a16="http://schemas.microsoft.com/office/drawing/2014/main" id="{9917EA65-25CC-4E71-AE32-94AE15237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64075"/>
            <a:ext cx="617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40991" name="Picture 31" descr="MCj00787170000[1]">
            <a:extLst>
              <a:ext uri="{FF2B5EF4-FFF2-40B4-BE49-F238E27FC236}">
                <a16:creationId xmlns:a16="http://schemas.microsoft.com/office/drawing/2014/main" id="{FC04AD2C-BB7F-41BB-871A-AFD1B875B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714" y="342900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2" name="Text Box 32">
            <a:extLst>
              <a:ext uri="{FF2B5EF4-FFF2-40B4-BE49-F238E27FC236}">
                <a16:creationId xmlns:a16="http://schemas.microsoft.com/office/drawing/2014/main" id="{288AA737-5DA1-4417-ABC8-A7796D442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426076"/>
            <a:ext cx="640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003A18-E799-45C0-91F2-F4081FDD0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8675" y="755650"/>
          <a:ext cx="28908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3" imgW="990360" imgH="393480" progId="Equation.3">
                  <p:embed/>
                </p:oleObj>
              </mc:Choice>
              <mc:Fallback>
                <p:oleObj name="Equation" r:id="rId13" imgW="99036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4003A18-E799-45C0-91F2-F4081FDD0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75" y="755650"/>
                        <a:ext cx="28908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0" grpId="0"/>
      <p:bldP spid="409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D068-BDAC-4990-98B1-C6B00B11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0422B9-07E8-4CDA-BEE5-D54E5A549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365" y="2057401"/>
            <a:ext cx="9751622" cy="45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8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Widescreen</PresentationFormat>
  <Paragraphs>68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Office Theme</vt:lpstr>
      <vt:lpstr>Equation</vt:lpstr>
      <vt:lpstr>Topic: Right-angled triangles</vt:lpstr>
      <vt:lpstr>PowerPoint Presentation</vt:lpstr>
      <vt:lpstr>PowerPoint Presentation</vt:lpstr>
      <vt:lpstr>Ex. 3: Find .  Round to three decimal places.</vt:lpstr>
      <vt:lpstr>Task- Use sine ratio to find the unknown angle</vt:lpstr>
      <vt:lpstr>PowerPoint Presentation</vt:lpstr>
      <vt:lpstr>Ex. 2: Find .  Round to three decimal places.</vt:lpstr>
      <vt:lpstr>Task- Same set as before but this time….Use cosine ratio to find the unknown angle</vt:lpstr>
      <vt:lpstr>PowerPoint Presentation</vt:lpstr>
      <vt:lpstr>Ex. 1: Find .  Round to four decimal places.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dcterms:created xsi:type="dcterms:W3CDTF">2020-05-19T06:53:00Z</dcterms:created>
  <dcterms:modified xsi:type="dcterms:W3CDTF">2020-05-19T06:54:47Z</dcterms:modified>
</cp:coreProperties>
</file>
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57" r:id="rId2"/>
    <p:sldId id="258" r:id="rId3"/>
    <p:sldId id="259" r:id="rId4"/>
    <p:sldId id="260" r:id="rId5"/>
    <p:sldId id="261" r:id="rId6"/>
    <p:sldId id="265" r:id="rId7"/>
    <p:sldId id="266" r:id="rId8"/>
    <p:sldId id="262" r:id="rId9"/>
    <p:sldId id="263" r:id="rId10"/>
    <p:sldId id="264" r:id="rId11"/>
    <p:sldId id="267" r:id="rId12"/>
    <p:sldId id="268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7" d="100"/>
          <a:sy n="67" d="100"/>
        </p:scale>
        <p:origin x="644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D0BCAAE-ED48-4F59-9165-9A88A83EAE33}" type="datetimeFigureOut">
              <a:rPr lang="en-AU" smtClean="0"/>
              <a:t>26/08/2020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A390F4E-B06A-4F48-AF2C-4545B5080A7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274965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 machine for shaping wood, metal, or other material by means of a rotating drive w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0BC1104-4DB9-4B17-A66F-F9FCF8A69653}" type="slidenum">
              <a:rPr lang="en-AU" smtClean="0"/>
              <a:t>3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8855425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2E3198-EA76-456E-ABAD-812B942E932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E933EB7-64EF-4C49-8137-0161EA94F4C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138311-9B7C-4142-B46D-70D55869A4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8C21CE-2092-41E9-B789-927F08CFF52A}" type="datetimeFigureOut">
              <a:rPr lang="en-AU" smtClean="0"/>
              <a:t>26/08/2020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F56A4F-8BC8-4085-BCDB-4A52309C1E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D52771-D135-4DE0-A4A5-BF87C2E679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56580A-B07A-4409-A62B-0146199B7F6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241757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3C6D4D-4EE4-4686-8CEB-A2B0CA79D2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A2F18C-7BB5-4979-8638-7CB56794AE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D93A44-93A6-48FD-AFD8-395599BCE4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8C21CE-2092-41E9-B789-927F08CFF52A}" type="datetimeFigureOut">
              <a:rPr lang="en-AU" smtClean="0"/>
              <a:t>26/08/2020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04C2E1-F075-47D3-8720-F1A120915C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B36307-AEDE-4E6B-8C13-78F3BC2E0C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56580A-B07A-4409-A62B-0146199B7F6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282083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8AF47F-059F-473B-9D85-BC7CA44ABC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655ADF0-BFBC-425E-A9D4-1A7A8A4755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E5030F-57B4-4E5E-969C-9E245F4CE9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8C21CE-2092-41E9-B789-927F08CFF52A}" type="datetimeFigureOut">
              <a:rPr lang="en-AU" smtClean="0"/>
              <a:t>26/08/2020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5740E5-3005-4434-BB65-2584868922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58E986-BBE9-485F-876E-38278CC29B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56580A-B07A-4409-A62B-0146199B7F6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182395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4ABA21-2936-438E-AE69-774EF87D54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A08214-C1A6-47BB-A08E-F274579EC1C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3B40CCE-F7CD-4DDC-9536-57DAB6CC95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BDB4127-2B4C-4E6C-86AA-83ADBB1612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8C21CE-2092-41E9-B789-927F08CFF52A}" type="datetimeFigureOut">
              <a:rPr lang="en-AU" smtClean="0"/>
              <a:t>26/08/2020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BEFC304-28E2-47B9-BE85-8F1AB4CDE2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46A38F8-4506-47F9-9CD5-F5C83E0B5D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56580A-B07A-4409-A62B-0146199B7F6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176626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3E54E0-5DAC-4C74-BBE0-84E4C28BA7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F7FF882-5FB5-44F8-9F51-22B71DF548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F53228D-189D-4B4C-938A-9E0F842256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BFC5A11-8A54-4F31-82B2-BB58C20C972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A9618C9-5AC1-4867-A5E5-EB4E3EF572C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A37FD1D-4224-49D7-A147-18262D1E0B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8C21CE-2092-41E9-B789-927F08CFF52A}" type="datetimeFigureOut">
              <a:rPr lang="en-AU" smtClean="0"/>
              <a:t>26/08/2020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8877252-AA68-4224-BC08-7EB2EF4367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D267DFD-45E7-45A2-8BAB-EBC53D8312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56580A-B07A-4409-A62B-0146199B7F6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174423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2A927E-8105-4359-8136-E043B2C517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0B9C851-D80C-422C-8B89-C8B91EB5D7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8C21CE-2092-41E9-B789-927F08CFF52A}" type="datetimeFigureOut">
              <a:rPr lang="en-AU" smtClean="0"/>
              <a:t>26/08/2020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1E95726-92CC-4B1F-ABCD-3D15B7111A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B19756B-FD58-45A2-AFF7-E08BDB7F00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56580A-B07A-4409-A62B-0146199B7F6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389647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2B53503-B3A7-43FF-98EA-0B2BA1AA28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8C21CE-2092-41E9-B789-927F08CFF52A}" type="datetimeFigureOut">
              <a:rPr lang="en-AU" smtClean="0"/>
              <a:t>26/08/2020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B6FCD70-BE33-49BE-A662-A5F59FC558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B0D192E-C197-4419-967A-9D692A0B10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56580A-B07A-4409-A62B-0146199B7F6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166675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71D5A8-5675-4E92-89D4-401AA981DF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5A815B-67D2-47F2-9652-B18D925241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60CAA38-7026-4896-BA77-F3E56E2DF40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6E11A26-7594-46B0-A4D8-0CEB67EAB0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8C21CE-2092-41E9-B789-927F08CFF52A}" type="datetimeFigureOut">
              <a:rPr lang="en-AU" smtClean="0"/>
              <a:t>26/08/2020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2C3ECF1-2A69-4745-A74A-9C945AF545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B9B213F-BEC2-42F0-A4FB-A0803DACF4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56580A-B07A-4409-A62B-0146199B7F6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493498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1F2A71-7585-44FC-8427-3186EB1BA3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964DBD9-591D-4363-AF6C-BB1153CB06A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E052D57-DBD7-4719-AD1F-82CDB3176C0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A8C4C3C-7638-47EE-90D4-ED39B370FC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8C21CE-2092-41E9-B789-927F08CFF52A}" type="datetimeFigureOut">
              <a:rPr lang="en-AU" smtClean="0"/>
              <a:t>26/08/2020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F8F53C3-8602-4BA8-9826-34BCD868A4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7AD8979-BD43-48AB-AAA3-101816A42B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56580A-B07A-4409-A62B-0146199B7F6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456750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8A1D3F-DFA9-46E3-8BB9-4C0643FA94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EF1C490-696D-4EBD-A8B0-94136B46CC9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61EC3D-A676-4EA4-97C0-5B0DD8019B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8C21CE-2092-41E9-B789-927F08CFF52A}" type="datetimeFigureOut">
              <a:rPr lang="en-AU" smtClean="0"/>
              <a:t>26/08/2020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998EEB-F67A-4E98-9913-67D82F5F45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F96531-9421-4E02-9E1D-ED1E338D2F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56580A-B07A-4409-A62B-0146199B7F6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9808815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B81C564-3D52-46A3-8FE5-59722986C4A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B8E97E7-624B-468D-8B91-D231CED459D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37B06F-3FD3-4BB6-AE51-C4CBEEDDBB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8C21CE-2092-41E9-B789-927F08CFF52A}" type="datetimeFigureOut">
              <a:rPr lang="en-AU" smtClean="0"/>
              <a:t>26/08/2020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90AB41-B14D-43C7-8A54-3D6C0A3B28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EA258E-6112-4F1D-BE2F-C8E38E591D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56580A-B07A-4409-A62B-0146199B7F6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939948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576C261-3590-4BF7-A6D3-1A92A347E7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F42C27-6D32-4FF4-BA04-D7A64B8971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5DC6E3-4AC0-442A-92B5-29170A89739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68C21CE-2092-41E9-B789-927F08CFF52A}" type="datetimeFigureOut">
              <a:rPr lang="en-AU" smtClean="0"/>
              <a:t>26/08/2020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AF4AD0-24E2-4038-90BD-3E5C3F7C87B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5C548C-63C4-4843-BE9C-13AD9CE3E30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A56580A-B07A-4409-A62B-0146199B7F6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5824664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AU" sz="3200" dirty="0"/>
              <a:t>EQ: How does depreciation relate to compound interest?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19175" y="1060451"/>
            <a:ext cx="9144000" cy="1655762"/>
          </a:xfrm>
        </p:spPr>
        <p:txBody>
          <a:bodyPr/>
          <a:lstStyle/>
          <a:p>
            <a:r>
              <a:rPr lang="en-US" dirty="0"/>
              <a:t>Topic: Interest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9307284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Depreciation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/>
              <a:t>Depreciation is a practise where businesses reduce the value of a good to pay less capital gains tax. </a:t>
            </a:r>
          </a:p>
          <a:p>
            <a:r>
              <a:rPr lang="en-AU" dirty="0"/>
              <a:t>Depreciation works much he same as compound interest, but operates to reduce an items value by a percentage each year. </a:t>
            </a:r>
          </a:p>
          <a:p>
            <a:r>
              <a:rPr lang="en-AU" dirty="0"/>
              <a:t>The big question- </a:t>
            </a:r>
            <a:r>
              <a:rPr lang="en-AU" b="1" dirty="0"/>
              <a:t>“If an item is depreciated by 20% each year, will it ever become worthless?”</a:t>
            </a:r>
          </a:p>
        </p:txBody>
      </p:sp>
    </p:spTree>
    <p:extLst>
      <p:ext uri="{BB962C8B-B14F-4D97-AF65-F5344CB8AC3E}">
        <p14:creationId xmlns:p14="http://schemas.microsoft.com/office/powerpoint/2010/main" val="12174281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Depreciation in practise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/>
              </a:bodyPr>
              <a:lstStyle/>
              <a:p>
                <a:r>
                  <a:rPr lang="en-AU" dirty="0"/>
                  <a:t>Dave buys a Lathe for his wood working company, and depreciates it at 4% for 20 years. The cost of the lathe was $26,500. How much would the lathe be worth if he sold it in 20 years?</a:t>
                </a:r>
              </a:p>
              <a:p>
                <a:r>
                  <a:rPr lang="en-AU" dirty="0"/>
                  <a:t>Remember the formula for CI = P(1+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bg-BG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i="1">
                            <a:latin typeface="Cambria Math" charset="0"/>
                          </a:rPr>
                          <m:t>𝑟</m:t>
                        </m:r>
                      </m:num>
                      <m:den>
                        <m:r>
                          <a:rPr lang="en-AU" i="1">
                            <a:latin typeface="Cambria Math" charset="0"/>
                          </a:rPr>
                          <m:t>𝑛</m:t>
                        </m:r>
                      </m:den>
                    </m:f>
                    <m:sSup>
                      <m:sSupPr>
                        <m:ctrlPr>
                          <a:rPr lang="bg-BG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i="1">
                            <a:latin typeface="Cambria Math" charset="0"/>
                          </a:rPr>
                          <m:t>)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AU" i="1">
                            <a:latin typeface="Cambria Math" charset="0"/>
                          </a:rPr>
                          <m:t>𝑡</m:t>
                        </m:r>
                      </m:sup>
                    </m:sSup>
                  </m:oMath>
                </a14:m>
                <a:r>
                  <a:rPr lang="en-AU" dirty="0"/>
                  <a:t>. For compound interest we </a:t>
                </a:r>
                <a:r>
                  <a:rPr lang="en-AU" b="1" u="sng" dirty="0"/>
                  <a:t>ADD</a:t>
                </a:r>
                <a:r>
                  <a:rPr lang="en-AU" dirty="0"/>
                  <a:t>. For depreciation we </a:t>
                </a:r>
                <a:r>
                  <a:rPr lang="en-AU" b="1" u="sng" dirty="0"/>
                  <a:t>SUBTRACT. </a:t>
                </a:r>
                <a:r>
                  <a:rPr lang="en-AU" dirty="0"/>
                  <a:t>Therefore, the new formula is D = P(1 -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bg-BG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i="1">
                            <a:latin typeface="Cambria Math" charset="0"/>
                          </a:rPr>
                          <m:t>𝑟</m:t>
                        </m:r>
                      </m:num>
                      <m:den>
                        <m:r>
                          <a:rPr lang="en-AU" i="1">
                            <a:latin typeface="Cambria Math" charset="0"/>
                          </a:rPr>
                          <m:t>𝑛</m:t>
                        </m:r>
                      </m:den>
                    </m:f>
                    <m:sSup>
                      <m:sSupPr>
                        <m:ctrlPr>
                          <a:rPr lang="bg-BG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i="1">
                            <a:latin typeface="Cambria Math" charset="0"/>
                          </a:rPr>
                          <m:t>)</m:t>
                        </m:r>
                      </m:e>
                      <m:sup>
                        <m:r>
                          <a:rPr lang="en-AU" i="1">
                            <a:latin typeface="Cambria Math" charset="0"/>
                          </a:rPr>
                          <m:t>𝑡</m:t>
                        </m:r>
                      </m:sup>
                    </m:sSup>
                  </m:oMath>
                </a14:m>
                <a:r>
                  <a:rPr lang="en-AU" dirty="0"/>
                  <a:t>. </a:t>
                </a:r>
              </a:p>
              <a:p>
                <a:r>
                  <a:rPr lang="en-AU" dirty="0"/>
                  <a:t>NB; </a:t>
                </a:r>
              </a:p>
              <a:p>
                <a:pPr>
                  <a:buFont typeface="Courier New" charset="0"/>
                  <a:buChar char="o"/>
                </a:pPr>
                <a:r>
                  <a:rPr lang="en-AU" i="1" dirty="0"/>
                  <a:t>r is rate in decimal form (%/100) </a:t>
                </a:r>
              </a:p>
              <a:p>
                <a:pPr>
                  <a:buFont typeface="Courier New" charset="0"/>
                  <a:buChar char="o"/>
                </a:pPr>
                <a:r>
                  <a:rPr lang="en-AU" i="1" dirty="0"/>
                  <a:t>n is number of times per year (usually one)</a:t>
                </a:r>
              </a:p>
              <a:p>
                <a:pPr>
                  <a:buFont typeface="Courier New" charset="0"/>
                  <a:buChar char="o"/>
                </a:pPr>
                <a:r>
                  <a:rPr lang="en-AU" i="1" dirty="0"/>
                  <a:t>t is the number of years</a:t>
                </a:r>
              </a:p>
              <a:p>
                <a:endParaRPr lang="en-AU" dirty="0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928" t="-2101" r="-150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56776" y="4216400"/>
            <a:ext cx="2797024" cy="2349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82762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Depreciation in practise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AU" dirty="0"/>
                  <a:t>D = P(1 -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bg-BG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i="1">
                            <a:latin typeface="Cambria Math" charset="0"/>
                          </a:rPr>
                          <m:t>𝑟</m:t>
                        </m:r>
                      </m:num>
                      <m:den>
                        <m:r>
                          <a:rPr lang="en-AU" i="1">
                            <a:latin typeface="Cambria Math" charset="0"/>
                          </a:rPr>
                          <m:t>𝑛</m:t>
                        </m:r>
                      </m:den>
                    </m:f>
                    <m:sSup>
                      <m:sSupPr>
                        <m:ctrlPr>
                          <a:rPr lang="bg-BG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i="1">
                            <a:latin typeface="Cambria Math" charset="0"/>
                          </a:rPr>
                          <m:t>)</m:t>
                        </m:r>
                      </m:e>
                      <m:sup>
                        <m:r>
                          <a:rPr lang="en-AU" i="1">
                            <a:latin typeface="Cambria Math" charset="0"/>
                          </a:rPr>
                          <m:t>𝑡</m:t>
                        </m:r>
                      </m:sup>
                    </m:sSup>
                  </m:oMath>
                </a14:m>
                <a:r>
                  <a:rPr lang="en-AU" dirty="0"/>
                  <a:t>. </a:t>
                </a:r>
              </a:p>
              <a:p>
                <a:pPr lvl="1"/>
                <a:r>
                  <a:rPr lang="en-AU" dirty="0"/>
                  <a:t>Sub in values</a:t>
                </a:r>
              </a:p>
              <a:p>
                <a:r>
                  <a:rPr lang="en-AU" dirty="0"/>
                  <a:t>D = 26500(1 -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bg-BG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0" i="1" smtClean="0">
                            <a:latin typeface="Cambria Math" charset="0"/>
                          </a:rPr>
                          <m:t>0.04</m:t>
                        </m:r>
                      </m:num>
                      <m:den>
                        <m:r>
                          <a:rPr lang="en-AU" b="0" i="1" smtClean="0">
                            <a:latin typeface="Cambria Math" charset="0"/>
                          </a:rPr>
                          <m:t>1</m:t>
                        </m:r>
                      </m:den>
                    </m:f>
                    <m:sSup>
                      <m:sSupPr>
                        <m:ctrlPr>
                          <a:rPr lang="bg-BG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i="1">
                            <a:latin typeface="Cambria Math" charset="0"/>
                          </a:rPr>
                          <m:t>)</m:t>
                        </m:r>
                      </m:e>
                      <m:sup>
                        <m:r>
                          <a:rPr lang="en-AU" b="0" i="1" smtClean="0">
                            <a:latin typeface="Cambria Math" charset="0"/>
                          </a:rPr>
                          <m:t>20</m:t>
                        </m:r>
                      </m:sup>
                    </m:sSup>
                  </m:oMath>
                </a14:m>
                <a:r>
                  <a:rPr lang="en-AU" dirty="0"/>
                  <a:t>. </a:t>
                </a:r>
              </a:p>
              <a:p>
                <a:r>
                  <a:rPr lang="en-AU" dirty="0"/>
                  <a:t>D=11713.0645 ~$11,713.06</a:t>
                </a:r>
              </a:p>
              <a:p>
                <a:r>
                  <a:rPr lang="en-AU" dirty="0"/>
                  <a:t>The lathe would be worth the above amount after 20 year depreciating at 4%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885068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199" y="239865"/>
            <a:ext cx="10515600" cy="1325563"/>
          </a:xfrm>
        </p:spPr>
        <p:txBody>
          <a:bodyPr/>
          <a:lstStyle/>
          <a:p>
            <a:r>
              <a:rPr lang="en-AU" dirty="0"/>
              <a:t>How does it work across time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1120000" y="1312058"/>
                <a:ext cx="10233800" cy="4351338"/>
              </a:xfrm>
            </p:spPr>
            <p:txBody>
              <a:bodyPr/>
              <a:lstStyle/>
              <a:p>
                <a:r>
                  <a:rPr lang="en-AU" dirty="0"/>
                  <a:t>Using a $30,000 brand new car, which depreciates at 5% per year, lets look at these effects at 1,5,10 and 15 years. </a:t>
                </a:r>
              </a:p>
              <a:p>
                <a:r>
                  <a:rPr lang="en-AU" dirty="0"/>
                  <a:t>D = P(1 -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bg-BG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i="1">
                            <a:latin typeface="Cambria Math" charset="0"/>
                          </a:rPr>
                          <m:t>𝑟</m:t>
                        </m:r>
                      </m:num>
                      <m:den>
                        <m:r>
                          <a:rPr lang="en-AU" i="1">
                            <a:latin typeface="Cambria Math" charset="0"/>
                          </a:rPr>
                          <m:t>𝑛</m:t>
                        </m:r>
                      </m:den>
                    </m:f>
                    <m:sSup>
                      <m:sSupPr>
                        <m:ctrlPr>
                          <a:rPr lang="bg-BG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i="1">
                            <a:latin typeface="Cambria Math" charset="0"/>
                          </a:rPr>
                          <m:t>)</m:t>
                        </m:r>
                      </m:e>
                      <m:sup>
                        <m:r>
                          <a:rPr lang="en-AU" i="1">
                            <a:latin typeface="Cambria Math" charset="0"/>
                          </a:rPr>
                          <m:t>𝑡</m:t>
                        </m:r>
                      </m:sup>
                    </m:sSup>
                  </m:oMath>
                </a14:m>
                <a:r>
                  <a:rPr lang="en-AU" dirty="0"/>
                  <a:t>. </a:t>
                </a:r>
              </a:p>
              <a:p>
                <a:r>
                  <a:rPr lang="en-AU" dirty="0"/>
                  <a:t>D = 30000(1 -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bg-BG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0" i="1" smtClean="0">
                            <a:latin typeface="Cambria Math" charset="0"/>
                          </a:rPr>
                          <m:t>0.05</m:t>
                        </m:r>
                      </m:num>
                      <m:den>
                        <m:r>
                          <a:rPr lang="en-AU" b="0" i="1" smtClean="0">
                            <a:latin typeface="Cambria Math" charset="0"/>
                          </a:rPr>
                          <m:t>1</m:t>
                        </m:r>
                      </m:den>
                    </m:f>
                    <m:sSup>
                      <m:sSupPr>
                        <m:ctrlPr>
                          <a:rPr lang="bg-BG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i="1">
                            <a:latin typeface="Cambria Math" charset="0"/>
                          </a:rPr>
                          <m:t>)</m:t>
                        </m:r>
                      </m:e>
                      <m:sup>
                        <m:r>
                          <a:rPr lang="en-AU" b="0" i="1" smtClean="0">
                            <a:latin typeface="Cambria Math" charset="0"/>
                          </a:rPr>
                          <m:t>𝑌𝐸𝐴𝑅𝑆</m:t>
                        </m:r>
                      </m:sup>
                    </m:sSup>
                  </m:oMath>
                </a14:m>
                <a:r>
                  <a:rPr lang="en-AU" dirty="0"/>
                  <a:t>. </a:t>
                </a:r>
              </a:p>
              <a:p>
                <a:endParaRPr lang="en-AU" dirty="0"/>
              </a:p>
              <a:p>
                <a:endParaRPr lang="en-AU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120000" y="1312058"/>
                <a:ext cx="10233800" cy="4351338"/>
              </a:xfrm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Table 3"/>
              <p:cNvGraphicFramePr>
                <a:graphicFrameLocks noGrp="1"/>
              </p:cNvGraphicFramePr>
              <p:nvPr/>
            </p:nvGraphicFramePr>
            <p:xfrm>
              <a:off x="1049750" y="3554074"/>
              <a:ext cx="10092499" cy="2781935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01537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2226086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5487229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1677647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</a:tblGrid>
                  <a:tr h="333427"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Years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Formula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Amount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Average</a:t>
                          </a:r>
                          <a:r>
                            <a:rPr lang="en-AU" baseline="0" dirty="0"/>
                            <a:t> $ lost</a:t>
                          </a:r>
                          <a:endParaRPr lang="en-AU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AU" dirty="0"/>
                            <a:t>D = 30000(1 -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lang="bg-BG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AU" b="0" i="1" smtClean="0">
                                      <a:latin typeface="Cambria Math" charset="0"/>
                                    </a:rPr>
                                    <m:t>0.05</m:t>
                                  </m:r>
                                </m:num>
                                <m:den>
                                  <m:r>
                                    <a:rPr lang="en-AU" b="0" i="1" smtClean="0">
                                      <a:latin typeface="Cambria Math" charset="0"/>
                                    </a:rPr>
                                    <m:t>1</m:t>
                                  </m:r>
                                </m:den>
                              </m:f>
                              <m:sSup>
                                <m:sSupPr>
                                  <m:ctrlPr>
                                    <a:rPr lang="bg-BG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AU" i="1">
                                      <a:latin typeface="Cambria Math" charset="0"/>
                                    </a:rPr>
                                    <m:t>)</m:t>
                                  </m:r>
                                </m:e>
                                <m:sup>
                                  <m:r>
                                    <a:rPr lang="en-AU" b="0" i="1" smtClean="0">
                                      <a:latin typeface="Cambria Math" charset="0"/>
                                    </a:rPr>
                                    <m:t>0</m:t>
                                  </m:r>
                                </m:sup>
                              </m:sSup>
                            </m:oMath>
                          </a14:m>
                          <a:r>
                            <a:rPr lang="en-AU" dirty="0"/>
                            <a:t>.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$30000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$0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D = 30000(1 -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lang="bg-BG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AU" b="0" i="1" smtClean="0">
                                      <a:latin typeface="Cambria Math" charset="0"/>
                                    </a:rPr>
                                    <m:t>0.05</m:t>
                                  </m:r>
                                </m:num>
                                <m:den>
                                  <m:r>
                                    <a:rPr lang="en-AU" b="0" i="1" smtClean="0">
                                      <a:latin typeface="Cambria Math" charset="0"/>
                                    </a:rPr>
                                    <m:t>1</m:t>
                                  </m:r>
                                </m:den>
                              </m:f>
                              <m:sSup>
                                <m:sSupPr>
                                  <m:ctrlPr>
                                    <a:rPr lang="bg-BG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AU" i="1">
                                      <a:latin typeface="Cambria Math" charset="0"/>
                                    </a:rPr>
                                    <m:t>)</m:t>
                                  </m:r>
                                </m:e>
                                <m:sup>
                                  <m:r>
                                    <a:rPr lang="en-AU" b="0" i="1" smtClean="0">
                                      <a:latin typeface="Cambria Math" charset="0"/>
                                    </a:rPr>
                                    <m:t>1</m:t>
                                  </m:r>
                                </m:sup>
                              </m:sSup>
                            </m:oMath>
                          </a14:m>
                          <a:endParaRPr lang="en-AU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$28500 - $1500 lost</a:t>
                          </a:r>
                          <a:r>
                            <a:rPr lang="en-AU" baseline="0" dirty="0"/>
                            <a:t> after 1 year</a:t>
                          </a:r>
                          <a:endParaRPr lang="en-AU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$1500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D = 30000(1 -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lang="bg-BG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AU" b="0" i="1" smtClean="0">
                                      <a:latin typeface="Cambria Math" charset="0"/>
                                    </a:rPr>
                                    <m:t>0.05</m:t>
                                  </m:r>
                                </m:num>
                                <m:den>
                                  <m:r>
                                    <a:rPr lang="en-AU" b="0" i="1" smtClean="0">
                                      <a:latin typeface="Cambria Math" charset="0"/>
                                    </a:rPr>
                                    <m:t>1</m:t>
                                  </m:r>
                                </m:den>
                              </m:f>
                              <m:sSup>
                                <m:sSupPr>
                                  <m:ctrlPr>
                                    <a:rPr lang="bg-BG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AU" i="1">
                                      <a:latin typeface="Cambria Math" charset="0"/>
                                    </a:rPr>
                                    <m:t>)</m:t>
                                  </m:r>
                                </m:e>
                                <m:sup>
                                  <m:r>
                                    <a:rPr lang="en-AU" b="0" i="1" smtClean="0">
                                      <a:latin typeface="Cambria Math" charset="0"/>
                                    </a:rPr>
                                    <m:t>5</m:t>
                                  </m:r>
                                </m:sup>
                              </m:sSup>
                            </m:oMath>
                          </a14:m>
                          <a:endParaRPr lang="en-AU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~ $23,213.43 – $6786.57 lost in 5 years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$1357.31 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10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D = 30000(1 -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lang="bg-BG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AU" b="0" i="1" smtClean="0">
                                      <a:latin typeface="Cambria Math" charset="0"/>
                                    </a:rPr>
                                    <m:t>0.05</m:t>
                                  </m:r>
                                </m:num>
                                <m:den>
                                  <m:r>
                                    <a:rPr lang="en-AU" b="0" i="1" smtClean="0">
                                      <a:latin typeface="Cambria Math" charset="0"/>
                                    </a:rPr>
                                    <m:t>1</m:t>
                                  </m:r>
                                </m:den>
                              </m:f>
                              <m:sSup>
                                <m:sSupPr>
                                  <m:ctrlPr>
                                    <a:rPr lang="bg-BG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AU" i="1">
                                      <a:latin typeface="Cambria Math" charset="0"/>
                                    </a:rPr>
                                    <m:t>)</m:t>
                                  </m:r>
                                </m:e>
                                <m:sup>
                                  <m:r>
                                    <a:rPr lang="en-AU" b="0" i="1" smtClean="0">
                                      <a:latin typeface="Cambria Math" charset="0"/>
                                    </a:rPr>
                                    <m:t>10</m:t>
                                  </m:r>
                                </m:sup>
                              </m:sSup>
                            </m:oMath>
                          </a14:m>
                          <a:endParaRPr lang="en-AU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~ $17,962.11 - $12037.89 lost in 10 years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$1203.79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15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D = 30000(1 -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lang="bg-BG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AU" b="0" i="1" smtClean="0">
                                      <a:latin typeface="Cambria Math" charset="0"/>
                                    </a:rPr>
                                    <m:t>0.05</m:t>
                                  </m:r>
                                </m:num>
                                <m:den>
                                  <m:r>
                                    <a:rPr lang="en-AU" b="0" i="1" smtClean="0">
                                      <a:latin typeface="Cambria Math" charset="0"/>
                                    </a:rPr>
                                    <m:t>1</m:t>
                                  </m:r>
                                </m:den>
                              </m:f>
                              <m:sSup>
                                <m:sSupPr>
                                  <m:ctrlPr>
                                    <a:rPr lang="bg-BG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AU" i="1">
                                      <a:latin typeface="Cambria Math" charset="0"/>
                                    </a:rPr>
                                    <m:t>)</m:t>
                                  </m:r>
                                </m:e>
                                <m:sup>
                                  <m:r>
                                    <a:rPr lang="en-AU" b="0" i="1" smtClean="0">
                                      <a:latin typeface="Cambria Math" charset="0"/>
                                    </a:rPr>
                                    <m:t>15</m:t>
                                  </m:r>
                                </m:sup>
                              </m:sSup>
                            </m:oMath>
                          </a14:m>
                          <a:endParaRPr lang="en-AU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~ $13898.74 - $16101.26</a:t>
                          </a:r>
                          <a:r>
                            <a:rPr lang="en-AU" baseline="0" dirty="0"/>
                            <a:t> lost in 15 years.</a:t>
                          </a:r>
                          <a:endParaRPr lang="en-AU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$1073.45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Table 3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232814666"/>
                  </p:ext>
                </p:extLst>
              </p:nvPr>
            </p:nvGraphicFramePr>
            <p:xfrm>
              <a:off x="1049750" y="3554074"/>
              <a:ext cx="10092499" cy="3056255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01537"/>
                    <a:gridCol w="2226086"/>
                    <a:gridCol w="5487229"/>
                    <a:gridCol w="1677647"/>
                  </a:tblGrid>
                  <a:tr h="640080">
                    <a:tc>
                      <a:txBody>
                        <a:bodyPr/>
                        <a:lstStyle/>
                        <a:p>
                          <a:r>
                            <a:rPr lang="en-AU" dirty="0" smtClean="0"/>
                            <a:t>Years</a:t>
                          </a:r>
                          <a:endParaRPr lang="en-AU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 smtClean="0"/>
                            <a:t>Formula</a:t>
                          </a:r>
                          <a:endParaRPr lang="en-AU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 smtClean="0"/>
                            <a:t>Amount</a:t>
                          </a:r>
                          <a:endParaRPr lang="en-AU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 smtClean="0"/>
                            <a:t>Average</a:t>
                          </a:r>
                          <a:r>
                            <a:rPr lang="en-AU" baseline="0" dirty="0" smtClean="0"/>
                            <a:t> $ lost</a:t>
                          </a:r>
                          <a:endParaRPr lang="en-AU" dirty="0"/>
                        </a:p>
                      </a:txBody>
                      <a:tcPr/>
                    </a:tc>
                  </a:tr>
                  <a:tr h="483235">
                    <a:tc>
                      <a:txBody>
                        <a:bodyPr/>
                        <a:lstStyle/>
                        <a:p>
                          <a:r>
                            <a:rPr lang="en-AU" dirty="0" smtClean="0"/>
                            <a:t>0</a:t>
                          </a:r>
                          <a:endParaRPr lang="en-AU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0">
                          <a:blip r:embed="rId3"/>
                          <a:stretch>
                            <a:fillRect l="-31781" t="-137500" r="-323288" b="-40625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 smtClean="0"/>
                            <a:t>$30000</a:t>
                          </a:r>
                          <a:endParaRPr lang="en-AU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 smtClean="0"/>
                            <a:t>$0</a:t>
                          </a:r>
                          <a:endParaRPr lang="en-AU" dirty="0"/>
                        </a:p>
                      </a:txBody>
                      <a:tcPr/>
                    </a:tc>
                  </a:tr>
                  <a:tr h="483235">
                    <a:tc>
                      <a:txBody>
                        <a:bodyPr/>
                        <a:lstStyle/>
                        <a:p>
                          <a:r>
                            <a:rPr lang="en-AU" dirty="0" smtClean="0"/>
                            <a:t>1</a:t>
                          </a:r>
                          <a:endParaRPr lang="en-AU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0">
                          <a:blip r:embed="rId3"/>
                          <a:stretch>
                            <a:fillRect l="-31781" t="-240506" r="-323288" b="-31139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 smtClean="0"/>
                            <a:t>$28500 - $1500 lost</a:t>
                          </a:r>
                          <a:r>
                            <a:rPr lang="en-AU" baseline="0" dirty="0" smtClean="0"/>
                            <a:t> after 1 year</a:t>
                          </a:r>
                          <a:endParaRPr lang="en-AU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 smtClean="0"/>
                            <a:t>$1500</a:t>
                          </a:r>
                          <a:endParaRPr lang="en-AU" dirty="0"/>
                        </a:p>
                      </a:txBody>
                      <a:tcPr/>
                    </a:tc>
                  </a:tr>
                  <a:tr h="483235">
                    <a:tc>
                      <a:txBody>
                        <a:bodyPr/>
                        <a:lstStyle/>
                        <a:p>
                          <a:r>
                            <a:rPr lang="en-AU" dirty="0" smtClean="0"/>
                            <a:t>5</a:t>
                          </a:r>
                          <a:endParaRPr lang="en-AU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0">
                          <a:blip r:embed="rId3"/>
                          <a:stretch>
                            <a:fillRect l="-31781" t="-340506" r="-323288" b="-21139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 smtClean="0"/>
                            <a:t>~ $23,213.43 – $6786.57 lost in 5 years</a:t>
                          </a:r>
                          <a:endParaRPr lang="en-AU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 smtClean="0"/>
                            <a:t>$1357.31 </a:t>
                          </a:r>
                          <a:endParaRPr lang="en-AU" dirty="0"/>
                        </a:p>
                      </a:txBody>
                      <a:tcPr/>
                    </a:tc>
                  </a:tr>
                  <a:tr h="483235">
                    <a:tc>
                      <a:txBody>
                        <a:bodyPr/>
                        <a:lstStyle/>
                        <a:p>
                          <a:r>
                            <a:rPr lang="en-AU" dirty="0" smtClean="0"/>
                            <a:t>10</a:t>
                          </a:r>
                          <a:endParaRPr lang="en-AU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0">
                          <a:blip r:embed="rId3"/>
                          <a:stretch>
                            <a:fillRect l="-31781" t="-435000" r="-323288" b="-10875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 smtClean="0"/>
                            <a:t>~ $17,962.11 - $12037.89 lost in 10 years</a:t>
                          </a:r>
                          <a:endParaRPr lang="en-AU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 smtClean="0"/>
                            <a:t>$1203.79</a:t>
                          </a:r>
                          <a:endParaRPr lang="en-AU" dirty="0"/>
                        </a:p>
                      </a:txBody>
                      <a:tcPr/>
                    </a:tc>
                  </a:tr>
                  <a:tr h="483235">
                    <a:tc>
                      <a:txBody>
                        <a:bodyPr/>
                        <a:lstStyle/>
                        <a:p>
                          <a:r>
                            <a:rPr lang="en-AU" dirty="0" smtClean="0"/>
                            <a:t>15</a:t>
                          </a:r>
                          <a:endParaRPr lang="en-AU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0">
                          <a:blip r:embed="rId3"/>
                          <a:stretch>
                            <a:fillRect l="-31781" t="-541772" r="-323288" b="-1012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 smtClean="0"/>
                            <a:t>~ $13898.74 - $16101.26</a:t>
                          </a:r>
                          <a:r>
                            <a:rPr lang="en-AU" baseline="0" dirty="0" smtClean="0"/>
                            <a:t> lost in 15 years.</a:t>
                          </a:r>
                          <a:endParaRPr lang="en-AU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 smtClean="0"/>
                            <a:t>$1073.45</a:t>
                          </a:r>
                          <a:endParaRPr lang="en-AU" dirty="0"/>
                        </a:p>
                      </a:txBody>
                      <a:tcPr/>
                    </a:tc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12952473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199" y="239865"/>
            <a:ext cx="10515600" cy="1325563"/>
          </a:xfrm>
        </p:spPr>
        <p:txBody>
          <a:bodyPr/>
          <a:lstStyle/>
          <a:p>
            <a:r>
              <a:rPr lang="en-AU" dirty="0"/>
              <a:t>How does it work across time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1120000" y="1312058"/>
                <a:ext cx="10233800" cy="4351338"/>
              </a:xfrm>
            </p:spPr>
            <p:txBody>
              <a:bodyPr/>
              <a:lstStyle/>
              <a:p>
                <a:r>
                  <a:rPr lang="en-AU" dirty="0"/>
                  <a:t>Using a $30,000 brand new car, which depreciates at 5% per year, lets look at these effects at 1,5,10 and 15 years. </a:t>
                </a:r>
              </a:p>
              <a:p>
                <a:r>
                  <a:rPr lang="en-AU" dirty="0"/>
                  <a:t>D = P(1 -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bg-BG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i="1">
                            <a:latin typeface="Cambria Math" charset="0"/>
                          </a:rPr>
                          <m:t>𝑟</m:t>
                        </m:r>
                      </m:num>
                      <m:den>
                        <m:r>
                          <a:rPr lang="en-AU" i="1">
                            <a:latin typeface="Cambria Math" charset="0"/>
                          </a:rPr>
                          <m:t>𝑛</m:t>
                        </m:r>
                      </m:den>
                    </m:f>
                    <m:sSup>
                      <m:sSupPr>
                        <m:ctrlPr>
                          <a:rPr lang="bg-BG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i="1">
                            <a:latin typeface="Cambria Math" charset="0"/>
                          </a:rPr>
                          <m:t>)</m:t>
                        </m:r>
                      </m:e>
                      <m:sup>
                        <m:r>
                          <a:rPr lang="en-AU" i="1">
                            <a:latin typeface="Cambria Math" charset="0"/>
                          </a:rPr>
                          <m:t>𝑡</m:t>
                        </m:r>
                      </m:sup>
                    </m:sSup>
                  </m:oMath>
                </a14:m>
                <a:r>
                  <a:rPr lang="en-AU" dirty="0"/>
                  <a:t>. </a:t>
                </a:r>
              </a:p>
              <a:p>
                <a:r>
                  <a:rPr lang="en-AU" dirty="0"/>
                  <a:t>D = 30000(1 -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bg-BG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0" i="1" smtClean="0">
                            <a:latin typeface="Cambria Math" charset="0"/>
                          </a:rPr>
                          <m:t>0.05</m:t>
                        </m:r>
                      </m:num>
                      <m:den>
                        <m:r>
                          <a:rPr lang="en-AU" b="0" i="1" smtClean="0">
                            <a:latin typeface="Cambria Math" charset="0"/>
                          </a:rPr>
                          <m:t>1</m:t>
                        </m:r>
                      </m:den>
                    </m:f>
                    <m:sSup>
                      <m:sSupPr>
                        <m:ctrlPr>
                          <a:rPr lang="bg-BG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i="1">
                            <a:latin typeface="Cambria Math" charset="0"/>
                          </a:rPr>
                          <m:t>)</m:t>
                        </m:r>
                      </m:e>
                      <m:sup>
                        <m:r>
                          <a:rPr lang="en-AU" b="0" i="1" smtClean="0">
                            <a:latin typeface="Cambria Math" charset="0"/>
                          </a:rPr>
                          <m:t>𝑌𝐸𝐴𝑅𝑆</m:t>
                        </m:r>
                      </m:sup>
                    </m:sSup>
                  </m:oMath>
                </a14:m>
                <a:r>
                  <a:rPr lang="en-AU" dirty="0"/>
                  <a:t>. </a:t>
                </a:r>
              </a:p>
              <a:p>
                <a:endParaRPr lang="en-AU" dirty="0"/>
              </a:p>
              <a:p>
                <a:endParaRPr lang="en-AU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120000" y="1312058"/>
                <a:ext cx="10233800" cy="4351338"/>
              </a:xfrm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Table 3"/>
              <p:cNvGraphicFramePr>
                <a:graphicFrameLocks noGrp="1"/>
              </p:cNvGraphicFramePr>
              <p:nvPr/>
            </p:nvGraphicFramePr>
            <p:xfrm>
              <a:off x="1120000" y="3467328"/>
              <a:ext cx="10092499" cy="3409315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01537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2226086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5487229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1677647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</a:tblGrid>
                  <a:tr h="333427"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Years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Formula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Amount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Average</a:t>
                          </a:r>
                          <a:r>
                            <a:rPr lang="en-AU" baseline="0" dirty="0"/>
                            <a:t> $ lost</a:t>
                          </a:r>
                          <a:endParaRPr lang="en-AU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AU" dirty="0"/>
                            <a:t>D = 30000(1 -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lang="bg-BG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AU" b="0" i="1" smtClean="0">
                                      <a:latin typeface="Cambria Math" charset="0"/>
                                    </a:rPr>
                                    <m:t>0.05</m:t>
                                  </m:r>
                                </m:num>
                                <m:den>
                                  <m:r>
                                    <a:rPr lang="en-AU" b="0" i="1" smtClean="0">
                                      <a:latin typeface="Cambria Math" charset="0"/>
                                    </a:rPr>
                                    <m:t>1</m:t>
                                  </m:r>
                                </m:den>
                              </m:f>
                              <m:sSup>
                                <m:sSupPr>
                                  <m:ctrlPr>
                                    <a:rPr lang="bg-BG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AU" i="1">
                                      <a:latin typeface="Cambria Math" charset="0"/>
                                    </a:rPr>
                                    <m:t>)</m:t>
                                  </m:r>
                                </m:e>
                                <m:sup>
                                  <m:r>
                                    <a:rPr lang="en-AU" b="0" i="1" smtClean="0">
                                      <a:latin typeface="Cambria Math" charset="0"/>
                                    </a:rPr>
                                    <m:t>0</m:t>
                                  </m:r>
                                </m:sup>
                              </m:sSup>
                            </m:oMath>
                          </a14:m>
                          <a:r>
                            <a:rPr lang="en-AU" dirty="0"/>
                            <a:t>.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$30000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$0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D =</a:t>
                          </a:r>
                        </a:p>
                        <a:p>
                          <a:endParaRPr lang="en-AU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AU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AU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D =</a:t>
                          </a:r>
                        </a:p>
                        <a:p>
                          <a:endParaRPr lang="en-AU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AU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AU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10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D =</a:t>
                          </a:r>
                        </a:p>
                        <a:p>
                          <a:endParaRPr lang="en-AU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AU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AU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15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D =</a:t>
                          </a:r>
                        </a:p>
                        <a:p>
                          <a:endParaRPr lang="en-AU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AU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AU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Table 3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688885422"/>
                  </p:ext>
                </p:extLst>
              </p:nvPr>
            </p:nvGraphicFramePr>
            <p:xfrm>
              <a:off x="1120000" y="3467328"/>
              <a:ext cx="10092499" cy="3409315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01537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2226086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5487229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1677647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</a:tblGrid>
                  <a:tr h="365760"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Years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Formula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Amount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Average</a:t>
                          </a:r>
                          <a:r>
                            <a:rPr lang="en-AU" baseline="0" dirty="0"/>
                            <a:t> $ lost</a:t>
                          </a:r>
                          <a:endParaRPr lang="en-AU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483235"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31694" t="-81250" r="-322404" b="-52875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$30000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$0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640080"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D =</a:t>
                          </a:r>
                        </a:p>
                        <a:p>
                          <a:endParaRPr lang="en-AU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AU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AU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640080"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D =</a:t>
                          </a:r>
                        </a:p>
                        <a:p>
                          <a:endParaRPr lang="en-AU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AU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AU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640080"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10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D =</a:t>
                          </a:r>
                        </a:p>
                        <a:p>
                          <a:endParaRPr lang="en-AU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AU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AU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640080"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15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D =</a:t>
                          </a:r>
                        </a:p>
                        <a:p>
                          <a:endParaRPr lang="en-AU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AU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AU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8073798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Key takeaway points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20000" y="1825625"/>
            <a:ext cx="7159704" cy="4351338"/>
          </a:xfrm>
        </p:spPr>
        <p:txBody>
          <a:bodyPr/>
          <a:lstStyle/>
          <a:p>
            <a:r>
              <a:rPr lang="en-AU" dirty="0"/>
              <a:t>Depreciation is losing money across time</a:t>
            </a:r>
          </a:p>
          <a:p>
            <a:r>
              <a:rPr lang="en-AU" dirty="0"/>
              <a:t>When an item depreciates, it loses less money each year because we only depreciate the new value, not just the first one. </a:t>
            </a:r>
          </a:p>
          <a:p>
            <a:r>
              <a:rPr lang="en-AU" dirty="0"/>
              <a:t>With the car, if we kept losing $1500 every year, the $30,000 would be gone in 20 years, making the car worthless. </a:t>
            </a:r>
          </a:p>
          <a:p>
            <a:r>
              <a:rPr lang="en-AU" dirty="0"/>
              <a:t>If all cars became worthless in 10 or 20 years, we would have massive junk yards and shortages of resources. </a:t>
            </a:r>
          </a:p>
          <a:p>
            <a:endParaRPr lang="en-AU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00648" y="1027906"/>
            <a:ext cx="3230677" cy="4851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354928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Key question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/>
              <a:t>“If I depreciate something by 20% each year, will it ever become worthless?”- What do you think? </a:t>
            </a:r>
          </a:p>
          <a:p>
            <a:r>
              <a:rPr lang="en-AU" dirty="0"/>
              <a:t>Would depreciation by simple interest create a worthless good?</a:t>
            </a:r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8421353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Practise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/>
              <a:t>Depreciate the following goods by the specified percentages</a:t>
            </a:r>
          </a:p>
          <a:p>
            <a:endParaRPr lang="en-AU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656219" y="3312553"/>
          <a:ext cx="9697580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2539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2630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7890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2900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73797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AU" dirty="0"/>
                        <a:t>Principal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Times</a:t>
                      </a:r>
                      <a:r>
                        <a:rPr lang="en-AU" baseline="0" dirty="0"/>
                        <a:t> per year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Number of years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End Amount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$36,000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A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$10,000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A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$20,000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A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$100,000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365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0.5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A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0812422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Answers</a:t>
            </a: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1120775" y="1825625"/>
          <a:ext cx="9697580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2539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2630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7890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2900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73797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AU" dirty="0"/>
                        <a:t>Principal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Times</a:t>
                      </a:r>
                      <a:r>
                        <a:rPr lang="en-AU" baseline="0" dirty="0"/>
                        <a:t> per year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Number of years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End Amount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$36,000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$10,026.04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$10,000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$7350.92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$20,000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$19,180.44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$100,000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365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0.5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$99,312.71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6473275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ECAE5C-A38F-4F4E-AB1E-CA9624E83A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5072" y="198706"/>
            <a:ext cx="10515600" cy="1451964"/>
          </a:xfrm>
        </p:spPr>
        <p:txBody>
          <a:bodyPr/>
          <a:lstStyle/>
          <a:p>
            <a:r>
              <a:rPr lang="en-US" dirty="0"/>
              <a:t>Complete notes sheet for investigation and test on INTEREST</a:t>
            </a:r>
          </a:p>
          <a:p>
            <a:r>
              <a:rPr lang="en-US" dirty="0"/>
              <a:t>THESE ARE YOUR LAST 2!!!!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31721983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3718362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264</TotalTime>
  <Words>684</Words>
  <Application>Microsoft Office PowerPoint</Application>
  <PresentationFormat>Widescreen</PresentationFormat>
  <Paragraphs>128</Paragraphs>
  <Slides>12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Arial</vt:lpstr>
      <vt:lpstr>Calibri</vt:lpstr>
      <vt:lpstr>Calibri Light</vt:lpstr>
      <vt:lpstr>Cambria Math</vt:lpstr>
      <vt:lpstr>Courier New</vt:lpstr>
      <vt:lpstr>Office Theme</vt:lpstr>
      <vt:lpstr>EQ: How does depreciation relate to compound interest?</vt:lpstr>
      <vt:lpstr>Depreciation</vt:lpstr>
      <vt:lpstr>Depreciation in practise</vt:lpstr>
      <vt:lpstr>Depreciation in practise</vt:lpstr>
      <vt:lpstr>How does it work across time</vt:lpstr>
      <vt:lpstr>How does it work across time</vt:lpstr>
      <vt:lpstr>Key takeaway points</vt:lpstr>
      <vt:lpstr>Key question</vt:lpstr>
      <vt:lpstr>Practise</vt:lpstr>
      <vt:lpstr>Answers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EQ: How does depreciation relate to compound interest?</dc:title>
  <dc:creator>Sarah James</dc:creator>
  <cp:lastModifiedBy>Sarah James</cp:lastModifiedBy>
  <cp:revision>3</cp:revision>
  <dcterms:created xsi:type="dcterms:W3CDTF">2020-08-26T02:20:28Z</dcterms:created>
  <dcterms:modified xsi:type="dcterms:W3CDTF">2020-08-26T06:45:04Z</dcterms:modified>
</cp:coreProperties>
</file>
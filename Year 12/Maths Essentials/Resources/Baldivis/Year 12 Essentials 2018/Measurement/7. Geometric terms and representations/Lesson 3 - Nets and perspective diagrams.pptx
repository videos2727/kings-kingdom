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68" r:id="rId2"/>
    <p:sldId id="277" r:id="rId3"/>
    <p:sldId id="278" r:id="rId4"/>
    <p:sldId id="279" r:id="rId5"/>
    <p:sldId id="282" r:id="rId6"/>
    <p:sldId id="283" r:id="rId7"/>
    <p:sldId id="284" r:id="rId8"/>
    <p:sldId id="264" r:id="rId9"/>
    <p:sldId id="272" r:id="rId10"/>
    <p:sldId id="271" r:id="rId11"/>
    <p:sldId id="281" r:id="rId12"/>
    <p:sldId id="273" r:id="rId13"/>
    <p:sldId id="275" r:id="rId14"/>
    <p:sldId id="269" r:id="rId15"/>
    <p:sldId id="274" r:id="rId16"/>
    <p:sldId id="276" r:id="rId17"/>
    <p:sldId id="280" r:id="rId18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63" autoAdjust="0"/>
    <p:restoredTop sz="94660"/>
  </p:normalViewPr>
  <p:slideViewPr>
    <p:cSldViewPr>
      <p:cViewPr varScale="1">
        <p:scale>
          <a:sx n="65" d="100"/>
          <a:sy n="65" d="100"/>
        </p:scale>
        <p:origin x="126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D4CFE84-0D35-40F8-BDB1-FA6C00D6C29C}" type="datetimeFigureOut">
              <a:rPr lang="en-US" smtClean="0"/>
              <a:t>3/18/2018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DC427D0-9F0E-41FB-9EB0-AAA192189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310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540F084-2155-4510-8695-C83D3995D2DF}" type="datetimeFigureOut">
              <a:rPr lang="en-US" smtClean="0"/>
              <a:t>3/18/2018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3"/>
            <a:ext cx="35052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29940"/>
            <a:ext cx="7437120" cy="31546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F352B74-9B1F-4950-9CA4-89CD426D5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19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352B74-9B1F-4950-9CA4-89CD426D556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215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Başlık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17" name="16 Alt Başlık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tr-TR"/>
              <a:t>Asıl alt başlık stilini düzenlemek için tıklatın</a:t>
            </a:r>
            <a:endParaRPr lang="en-US"/>
          </a:p>
        </p:txBody>
      </p:sp>
      <p:sp>
        <p:nvSpPr>
          <p:cNvPr id="4" name="2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669E65-B407-43BB-93ED-6DD7A2EC69A7}" type="datetimeFigureOut">
              <a:rPr lang="tr-TR">
                <a:solidFill>
                  <a:srgbClr val="DBF5F9">
                    <a:shade val="90000"/>
                  </a:srgbClr>
                </a:solidFill>
              </a:rPr>
              <a:pPr>
                <a:defRPr/>
              </a:pPr>
              <a:t>18.03.2018</a:t>
            </a:fld>
            <a:endParaRPr lang="tr-TR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18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2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300FB8-2C8E-45D9-9B73-2C0DA08ADC62}" type="slidenum">
              <a:rPr lang="tr-TR">
                <a:solidFill>
                  <a:srgbClr val="DBF5F9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DBF5F9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290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40C3C0-AC59-46E7-B623-E00D403CE018}" type="datetimeFigureOut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18.03.2018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5205E0-AC13-48AD-ADE4-60AE10DBE56B}" type="slidenum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18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F982DA-ADA5-4BE1-9F49-17B1A97A75AB}" type="datetimeFigureOut">
              <a:rPr lang="tr-TR">
                <a:solidFill>
                  <a:srgbClr val="DBF5F9">
                    <a:shade val="90000"/>
                  </a:srgbClr>
                </a:solidFill>
              </a:rPr>
              <a:pPr>
                <a:defRPr/>
              </a:pPr>
              <a:t>18.03.2018</a:t>
            </a:fld>
            <a:endParaRPr lang="tr-TR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465863-8997-4A7F-8EE5-A55CBE95C462}" type="slidenum">
              <a:rPr lang="tr-TR">
                <a:solidFill>
                  <a:srgbClr val="DBF5F9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DBF5F9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5528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0A2E6B-CA01-4A5E-84B1-CBB3562DC9BF}" type="datetimeFigureOut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18.03.2018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791055-FD70-41E3-BC61-E6F212843614}" type="slidenum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0568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3"/>
          </p:nvPr>
        </p:nvSpPr>
        <p:spPr>
          <a:xfrm>
            <a:off x="4645026" y="1859759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6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BC8796-6D31-4045-8B0C-5D32B92E7509}" type="datetimeFigureOut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18.03.2018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C9CC8D-FE43-4AB0-8A38-829FE00AC59A}" type="slidenum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912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70FBA6-8816-4306-BCD5-1D9BF27B44F8}" type="datetimeFigureOut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18.03.2018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8ED4E-74BC-4AB2-8B82-5A47477C7C7D}" type="slidenum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4117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E7615D-2AFB-4E63-B55C-0762FFCF18DA}" type="datetimeFigureOut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18.03.2018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C6F88-96A1-43C2-A22B-878490112A4A}" type="slidenum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75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1"/>
          </p:nvPr>
        </p:nvSpPr>
        <p:spPr>
          <a:xfrm>
            <a:off x="3575051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0AAF6C-4840-4E79-8DDA-FB90DA18707F}" type="datetimeFigureOut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18.03.2018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C46DD-A59C-4259-85F2-08C12E4D5360}" type="slidenum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58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3 Tek Köşesi Kesik ve Yuvarlatılmış Dikdörtgen"/>
          <p:cNvSpPr/>
          <p:nvPr/>
        </p:nvSpPr>
        <p:spPr>
          <a:xfrm rot="420000" flipV="1">
            <a:off x="3165231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14 Dik Üçgen"/>
          <p:cNvSpPr/>
          <p:nvPr/>
        </p:nvSpPr>
        <p:spPr>
          <a:xfrm rot="420000" flipV="1">
            <a:off x="8003931" y="5359401"/>
            <a:ext cx="155331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15 Serbest Form"/>
          <p:cNvSpPr>
            <a:spLocks/>
          </p:cNvSpPr>
          <p:nvPr/>
        </p:nvSpPr>
        <p:spPr bwMode="auto">
          <a:xfrm flipV="1">
            <a:off x="-10258" y="5816600"/>
            <a:ext cx="9164516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8" name="16 Serbest Form"/>
          <p:cNvSpPr>
            <a:spLocks/>
          </p:cNvSpPr>
          <p:nvPr/>
        </p:nvSpPr>
        <p:spPr bwMode="auto">
          <a:xfrm flipV="1">
            <a:off x="4381500" y="6219826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09600" y="1176998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tr-TR" noProof="0"/>
              <a:t>Resim eklemek için simgeyi tıklatın</a:t>
            </a:r>
            <a:endParaRPr lang="en-US" noProof="0" dirty="0"/>
          </a:p>
        </p:txBody>
      </p:sp>
      <p:sp>
        <p:nvSpPr>
          <p:cNvPr id="9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413206-1478-4504-8287-26686E682290}" type="datetimeFigureOut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18.03.2018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0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1" name="6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8077200" y="6356351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1A84DF-D685-456F-914E-3477FD0EED01}" type="slidenum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96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9B4D9-42D3-4FD7-85EB-95ECEBDF075C}" type="datetimeFigureOut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18.03.2018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02670-D431-45E3-95EB-FC3887D6720E}" type="slidenum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123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914402"/>
            <a:ext cx="2057400" cy="5211763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914402"/>
            <a:ext cx="6019800" cy="5211763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3D55F-DB4D-4481-8BF0-F6F7E38D9D7E}" type="datetimeFigureOut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18.03.2018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E1BAE-2D38-43EF-9412-33CBFC5A1F15}" type="slidenum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81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Serbest Form"/>
          <p:cNvSpPr>
            <a:spLocks/>
          </p:cNvSpPr>
          <p:nvPr/>
        </p:nvSpPr>
        <p:spPr bwMode="auto">
          <a:xfrm>
            <a:off x="-10258" y="-7938"/>
            <a:ext cx="9164516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8" name="7 Serbest Form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2052" name="8 Başlık Yer Tutucusu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en-US"/>
              <a:t>Asıl başlık stili için tıklatın</a:t>
            </a:r>
            <a:endParaRPr lang="en-US" altLang="en-US"/>
          </a:p>
        </p:txBody>
      </p:sp>
      <p:sp>
        <p:nvSpPr>
          <p:cNvPr id="2053" name="29 Metin Yer Tutucusu"/>
          <p:cNvSpPr>
            <a:spLocks noGrp="1"/>
          </p:cNvSpPr>
          <p:nvPr>
            <p:ph type="body" idx="1"/>
          </p:nvPr>
        </p:nvSpPr>
        <p:spPr bwMode="auto">
          <a:xfrm>
            <a:off x="457200" y="1935164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en-US"/>
              <a:t>Asıl metin stillerini düzenlemek için tıklatın</a:t>
            </a:r>
          </a:p>
          <a:p>
            <a:pPr lvl="1"/>
            <a:r>
              <a:rPr lang="tr-TR" altLang="en-US"/>
              <a:t>İkinci düzey</a:t>
            </a:r>
          </a:p>
          <a:p>
            <a:pPr lvl="2"/>
            <a:r>
              <a:rPr lang="tr-TR" altLang="en-US"/>
              <a:t>Üçüncü düzey</a:t>
            </a:r>
          </a:p>
          <a:p>
            <a:pPr lvl="3"/>
            <a:r>
              <a:rPr lang="tr-TR" altLang="en-US"/>
              <a:t>Dördüncü düzey</a:t>
            </a:r>
          </a:p>
          <a:p>
            <a:pPr lvl="4"/>
            <a:r>
              <a:rPr lang="tr-TR" altLang="en-US"/>
              <a:t>Beşinci düzey</a:t>
            </a:r>
            <a:endParaRPr lang="en-US" altLang="en-US"/>
          </a:p>
        </p:txBody>
      </p:sp>
      <p:sp>
        <p:nvSpPr>
          <p:cNvPr id="10" name="9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7DC7907-BD44-4D68-BAE8-E3F4AC23A058}" type="datetimeFigureOut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18.03.2018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22" name="21 Altbilgi Yer Tutucusu"/>
          <p:cNvSpPr>
            <a:spLocks noGrp="1"/>
          </p:cNvSpPr>
          <p:nvPr>
            <p:ph type="ftr" sz="quarter" idx="3"/>
          </p:nvPr>
        </p:nvSpPr>
        <p:spPr>
          <a:xfrm>
            <a:off x="2667000" y="6356351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8" name="17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7924800" y="6356351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60B9F36-A163-4736-82B5-34A66AD2D237}" type="slidenum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grpSp>
        <p:nvGrpSpPr>
          <p:cNvPr id="2057" name="1 Grup"/>
          <p:cNvGrpSpPr>
            <a:grpSpLocks/>
          </p:cNvGrpSpPr>
          <p:nvPr/>
        </p:nvGrpSpPr>
        <p:grpSpPr bwMode="auto">
          <a:xfrm>
            <a:off x="-19050" y="203200"/>
            <a:ext cx="9180635" cy="647700"/>
            <a:chOff x="-19045" y="216550"/>
            <a:chExt cx="9180548" cy="649224"/>
          </a:xfrm>
        </p:grpSpPr>
        <p:sp>
          <p:nvSpPr>
            <p:cNvPr id="12" name="11 Serbest Form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  <a:cs typeface="Arial" charset="0"/>
              </a:endParaRPr>
            </a:p>
          </p:txBody>
        </p:sp>
        <p:sp>
          <p:nvSpPr>
            <p:cNvPr id="13" name="12 Serbest Form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416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fontAlgn="base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fontAlgn="base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fontAlgn="base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fontAlgn="base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://www.google.com/url?sa=i&amp;rct=j&amp;q=isometric+drawings&amp;source=images&amp;cd=&amp;cad=rja&amp;uact=8&amp;ved=0CAcQjRw&amp;url=http://calendariu.com/tag/isometric-drawing&amp;ei=85zLVJj8IJKQyATNhIKQDA&amp;bvm=bv.84607526,d.aWw&amp;psig=AFQjCNEPN1ARWpfdk9zZsHoaAux0lqKptQ&amp;ust=1422716501881738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hyperlink" Target="http://www.google.com/url?sa=i&amp;rct=j&amp;q=2+point+perspective+drawing+house&amp;source=images&amp;cd=&amp;cad=rja&amp;uact=8&amp;ved=0CAcQjRw&amp;url=https://www.pinterest.com/adammcghee1/perspective-drawings/&amp;ei=pZ7LVPyvDYGPyASM6YCYBw&amp;psig=AFQjCNFZbn90ZPi-PNE3WwgGZq-GpjgRvQ&amp;ust=1422716958003515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Representing 3D objects in 2D</a:t>
            </a:r>
          </a:p>
        </p:txBody>
      </p:sp>
      <p:pic>
        <p:nvPicPr>
          <p:cNvPr id="3074" name="Picture 2" descr="http://www.scotthulme.com/sketch365/wp-content/uploads/2010/03/03_22_2010-isometricbiplane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70" y="2096055"/>
            <a:ext cx="2575987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s-media-cache-ak0.pinimg.com/originals/b2/77/4d/b2774db07a86ad1a22a5ec6207451111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2057400"/>
            <a:ext cx="2743199" cy="205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2FDE93-1A82-4499-86AA-1824E73BDB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4355046"/>
            <a:ext cx="3714623" cy="209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969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669ACEFA-F844-4AA9-A734-210E88C6F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Lesson 10-2: 3-D Views of Solid Figures</a:t>
            </a:r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0920B4E6-20EF-4F62-85D9-DC9DE3502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F8184-582E-46DD-A6D0-7B68FE406D13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28091D35-007E-461B-A0DC-94E738C2D7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696200" cy="838200"/>
          </a:xfrm>
        </p:spPr>
        <p:txBody>
          <a:bodyPr/>
          <a:lstStyle/>
          <a:p>
            <a:pPr algn="ctr"/>
            <a:r>
              <a:rPr lang="en-US" altLang="en-US" sz="4000" b="1">
                <a:solidFill>
                  <a:schemeClr val="tx1"/>
                </a:solidFill>
                <a:latin typeface="Times New Roman" panose="02020603050405020304" pitchFamily="18" charset="0"/>
              </a:rPr>
              <a:t>Nets and Surface Area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9A8F6BD6-1D21-448C-9F2F-0A1B84225DB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70271" y="1385887"/>
            <a:ext cx="8305800" cy="1219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700" dirty="0">
                <a:latin typeface="Times New Roman" panose="02020603050405020304" pitchFamily="18" charset="0"/>
              </a:rPr>
              <a:t>Imagine cutting a cardboard box along its edges and laying it out flat.  The resulting figure is called a </a:t>
            </a:r>
            <a:r>
              <a:rPr lang="en-US" altLang="en-US" sz="2700" b="1" i="1" dirty="0">
                <a:latin typeface="Times New Roman" panose="02020603050405020304" pitchFamily="18" charset="0"/>
              </a:rPr>
              <a:t>net.  </a:t>
            </a:r>
            <a:r>
              <a:rPr lang="en-US" altLang="en-US" sz="2700" dirty="0">
                <a:latin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700" dirty="0">
              <a:latin typeface="Times New Roman" panose="02020603050405020304" pitchFamily="18" charset="0"/>
            </a:endParaRPr>
          </a:p>
        </p:txBody>
      </p:sp>
      <p:sp>
        <p:nvSpPr>
          <p:cNvPr id="30764" name="Text Box 44">
            <a:extLst>
              <a:ext uri="{FF2B5EF4-FFF2-40B4-BE49-F238E27FC236}">
                <a16:creationId xmlns:a16="http://schemas.microsoft.com/office/drawing/2014/main" id="{1EABD8D5-2983-45DD-9317-CCBC550A4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738055"/>
            <a:ext cx="7010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latin typeface="Times New Roman" panose="02020603050405020304" pitchFamily="18" charset="0"/>
              </a:rPr>
              <a:t>A </a:t>
            </a:r>
            <a:r>
              <a:rPr lang="en-US" altLang="en-US" sz="2800" b="1" i="1" dirty="0">
                <a:latin typeface="Times New Roman" panose="02020603050405020304" pitchFamily="18" charset="0"/>
              </a:rPr>
              <a:t>net </a:t>
            </a:r>
            <a:r>
              <a:rPr lang="en-US" altLang="en-US" sz="2800" dirty="0">
                <a:latin typeface="Times New Roman" panose="02020603050405020304" pitchFamily="18" charset="0"/>
              </a:rPr>
              <a:t>is very helpful in finding the surface area of a solid figure. </a:t>
            </a:r>
          </a:p>
        </p:txBody>
      </p:sp>
      <p:grpSp>
        <p:nvGrpSpPr>
          <p:cNvPr id="30767" name="Group 47">
            <a:extLst>
              <a:ext uri="{FF2B5EF4-FFF2-40B4-BE49-F238E27FC236}">
                <a16:creationId xmlns:a16="http://schemas.microsoft.com/office/drawing/2014/main" id="{B5B89635-8A45-4642-9B8E-F741CDACCEDD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381419"/>
            <a:ext cx="6858000" cy="1952625"/>
            <a:chOff x="576" y="1776"/>
            <a:chExt cx="4320" cy="1230"/>
          </a:xfrm>
        </p:grpSpPr>
        <p:sp>
          <p:nvSpPr>
            <p:cNvPr id="30724" name="AutoShape 4">
              <a:extLst>
                <a:ext uri="{FF2B5EF4-FFF2-40B4-BE49-F238E27FC236}">
                  <a16:creationId xmlns:a16="http://schemas.microsoft.com/office/drawing/2014/main" id="{082017EA-B5BB-440F-A66E-38503E43C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968"/>
              <a:ext cx="1104" cy="468"/>
            </a:xfrm>
            <a:prstGeom prst="cube">
              <a:avLst>
                <a:gd name="adj" fmla="val 25000"/>
              </a:avLst>
            </a:prstGeom>
            <a:solidFill>
              <a:srgbClr val="FF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grpSp>
          <p:nvGrpSpPr>
            <p:cNvPr id="30763" name="Group 43">
              <a:extLst>
                <a:ext uri="{FF2B5EF4-FFF2-40B4-BE49-F238E27FC236}">
                  <a16:creationId xmlns:a16="http://schemas.microsoft.com/office/drawing/2014/main" id="{F3B27537-7E29-4D63-9758-DA0D003818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2" y="1776"/>
              <a:ext cx="1584" cy="1230"/>
              <a:chOff x="3312" y="1776"/>
              <a:chExt cx="1584" cy="1230"/>
            </a:xfrm>
          </p:grpSpPr>
          <p:grpSp>
            <p:nvGrpSpPr>
              <p:cNvPr id="30761" name="Group 41">
                <a:extLst>
                  <a:ext uri="{FF2B5EF4-FFF2-40B4-BE49-F238E27FC236}">
                    <a16:creationId xmlns:a16="http://schemas.microsoft.com/office/drawing/2014/main" id="{91994E5D-A42F-4DE2-AC5E-ADFC520898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12" y="1776"/>
                <a:ext cx="1584" cy="1230"/>
                <a:chOff x="3312" y="1776"/>
                <a:chExt cx="1584" cy="1230"/>
              </a:xfrm>
            </p:grpSpPr>
            <p:grpSp>
              <p:nvGrpSpPr>
                <p:cNvPr id="30758" name="Group 38">
                  <a:extLst>
                    <a:ext uri="{FF2B5EF4-FFF2-40B4-BE49-F238E27FC236}">
                      <a16:creationId xmlns:a16="http://schemas.microsoft.com/office/drawing/2014/main" id="{090A473E-77E2-4A40-9FC4-24AEA3687CF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12" y="1776"/>
                  <a:ext cx="1440" cy="1230"/>
                  <a:chOff x="3312" y="1776"/>
                  <a:chExt cx="1440" cy="1230"/>
                </a:xfrm>
              </p:grpSpPr>
              <p:grpSp>
                <p:nvGrpSpPr>
                  <p:cNvPr id="30754" name="Group 34">
                    <a:extLst>
                      <a:ext uri="{FF2B5EF4-FFF2-40B4-BE49-F238E27FC236}">
                        <a16:creationId xmlns:a16="http://schemas.microsoft.com/office/drawing/2014/main" id="{83ACD262-DC1A-4848-B14A-7FC32334972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360" y="1776"/>
                    <a:ext cx="1392" cy="1230"/>
                    <a:chOff x="2640" y="1488"/>
                    <a:chExt cx="2064" cy="1824"/>
                  </a:xfrm>
                </p:grpSpPr>
                <p:grpSp>
                  <p:nvGrpSpPr>
                    <p:cNvPr id="30753" name="Group 33">
                      <a:extLst>
                        <a:ext uri="{FF2B5EF4-FFF2-40B4-BE49-F238E27FC236}">
                          <a16:creationId xmlns:a16="http://schemas.microsoft.com/office/drawing/2014/main" id="{AAC5D100-5E3C-433B-B328-080D1D14304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072" y="1488"/>
                      <a:ext cx="1632" cy="1824"/>
                      <a:chOff x="3072" y="1488"/>
                      <a:chExt cx="1632" cy="1824"/>
                    </a:xfrm>
                  </p:grpSpPr>
                  <p:grpSp>
                    <p:nvGrpSpPr>
                      <p:cNvPr id="30750" name="Group 30">
                        <a:extLst>
                          <a:ext uri="{FF2B5EF4-FFF2-40B4-BE49-F238E27FC236}">
                            <a16:creationId xmlns:a16="http://schemas.microsoft.com/office/drawing/2014/main" id="{529570AA-AFF2-4A29-8485-403D56E877C7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072" y="1488"/>
                        <a:ext cx="1200" cy="1824"/>
                        <a:chOff x="3072" y="1488"/>
                        <a:chExt cx="1200" cy="1824"/>
                      </a:xfrm>
                    </p:grpSpPr>
                    <p:grpSp>
                      <p:nvGrpSpPr>
                        <p:cNvPr id="30748" name="Group 28">
                          <a:extLst>
                            <a:ext uri="{FF2B5EF4-FFF2-40B4-BE49-F238E27FC236}">
                              <a16:creationId xmlns:a16="http://schemas.microsoft.com/office/drawing/2014/main" id="{8FB68F9F-E984-4766-8B3B-2B5EAB9EC4E7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072" y="1488"/>
                          <a:ext cx="1200" cy="1392"/>
                          <a:chOff x="3072" y="1488"/>
                          <a:chExt cx="1200" cy="1392"/>
                        </a:xfrm>
                      </p:grpSpPr>
                      <p:sp>
                        <p:nvSpPr>
                          <p:cNvPr id="30745" name="Rectangle 25">
                            <a:extLst>
                              <a:ext uri="{FF2B5EF4-FFF2-40B4-BE49-F238E27FC236}">
                                <a16:creationId xmlns:a16="http://schemas.microsoft.com/office/drawing/2014/main" id="{8EBFFDA8-9AB9-4FC1-8402-FE513E23E642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072" y="1968"/>
                            <a:ext cx="1200" cy="432"/>
                          </a:xfrm>
                          <a:prstGeom prst="rect">
                            <a:avLst/>
                          </a:prstGeom>
                          <a:solidFill>
                            <a:srgbClr val="FFCCCC"/>
                          </a:solidFill>
                          <a:ln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AU"/>
                          </a:p>
                        </p:txBody>
                      </p:sp>
                      <p:sp>
                        <p:nvSpPr>
                          <p:cNvPr id="30746" name="Rectangle 26">
                            <a:extLst>
                              <a:ext uri="{FF2B5EF4-FFF2-40B4-BE49-F238E27FC236}">
                                <a16:creationId xmlns:a16="http://schemas.microsoft.com/office/drawing/2014/main" id="{AF1493FB-3DBD-413C-BD32-4C7BDFFE623F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072" y="1488"/>
                            <a:ext cx="1200" cy="480"/>
                          </a:xfrm>
                          <a:prstGeom prst="rect">
                            <a:avLst/>
                          </a:prstGeom>
                          <a:solidFill>
                            <a:srgbClr val="FFCCCC"/>
                          </a:solidFill>
                          <a:ln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AU"/>
                          </a:p>
                        </p:txBody>
                      </p:sp>
                      <p:sp>
                        <p:nvSpPr>
                          <p:cNvPr id="30747" name="Rectangle 27">
                            <a:extLst>
                              <a:ext uri="{FF2B5EF4-FFF2-40B4-BE49-F238E27FC236}">
                                <a16:creationId xmlns:a16="http://schemas.microsoft.com/office/drawing/2014/main" id="{536CB573-4EC5-4749-BF2E-A598CFB4BEC5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072" y="2400"/>
                            <a:ext cx="1200" cy="480"/>
                          </a:xfrm>
                          <a:prstGeom prst="rect">
                            <a:avLst/>
                          </a:prstGeom>
                          <a:solidFill>
                            <a:srgbClr val="FFCCCC"/>
                          </a:solidFill>
                          <a:ln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AU"/>
                          </a:p>
                        </p:txBody>
                      </p:sp>
                    </p:grpSp>
                    <p:sp>
                      <p:nvSpPr>
                        <p:cNvPr id="30749" name="Rectangle 29">
                          <a:extLst>
                            <a:ext uri="{FF2B5EF4-FFF2-40B4-BE49-F238E27FC236}">
                              <a16:creationId xmlns:a16="http://schemas.microsoft.com/office/drawing/2014/main" id="{FA14FE73-4E54-4C6A-9F10-2F7FDBD62717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072" y="2880"/>
                          <a:ext cx="1200" cy="432"/>
                        </a:xfrm>
                        <a:prstGeom prst="rect">
                          <a:avLst/>
                        </a:prstGeom>
                        <a:solidFill>
                          <a:srgbClr val="FFCCCC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AU"/>
                        </a:p>
                      </p:txBody>
                    </p:sp>
                  </p:grpSp>
                  <p:sp>
                    <p:nvSpPr>
                      <p:cNvPr id="30751" name="Rectangle 31">
                        <a:extLst>
                          <a:ext uri="{FF2B5EF4-FFF2-40B4-BE49-F238E27FC236}">
                            <a16:creationId xmlns:a16="http://schemas.microsoft.com/office/drawing/2014/main" id="{E3B97E0A-6BA5-48D2-A255-8A1832C4A15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272" y="1968"/>
                        <a:ext cx="432" cy="432"/>
                      </a:xfrm>
                      <a:prstGeom prst="rect">
                        <a:avLst/>
                      </a:prstGeom>
                      <a:solidFill>
                        <a:srgbClr val="FFCC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AU"/>
                      </a:p>
                    </p:txBody>
                  </p:sp>
                </p:grpSp>
                <p:sp>
                  <p:nvSpPr>
                    <p:cNvPr id="30752" name="Rectangle 32">
                      <a:extLst>
                        <a:ext uri="{FF2B5EF4-FFF2-40B4-BE49-F238E27FC236}">
                          <a16:creationId xmlns:a16="http://schemas.microsoft.com/office/drawing/2014/main" id="{5CA9F94D-44B1-47A5-9186-10562688F64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40" y="1968"/>
                      <a:ext cx="432" cy="432"/>
                    </a:xfrm>
                    <a:prstGeom prst="rect">
                      <a:avLst/>
                    </a:prstGeom>
                    <a:solidFill>
                      <a:srgbClr val="FFCCCC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AU"/>
                    </a:p>
                  </p:txBody>
                </p:sp>
              </p:grpSp>
              <p:sp>
                <p:nvSpPr>
                  <p:cNvPr id="30755" name="Text Box 35">
                    <a:extLst>
                      <a:ext uri="{FF2B5EF4-FFF2-40B4-BE49-F238E27FC236}">
                        <a16:creationId xmlns:a16="http://schemas.microsoft.com/office/drawing/2014/main" id="{B37226BF-3D8A-4BA1-924E-A32A2912F89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88" y="2160"/>
                    <a:ext cx="48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CC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en-US" b="1">
                        <a:latin typeface="Times New Roman" panose="02020603050405020304" pitchFamily="18" charset="0"/>
                      </a:rPr>
                      <a:t>top</a:t>
                    </a:r>
                  </a:p>
                </p:txBody>
              </p:sp>
              <p:sp>
                <p:nvSpPr>
                  <p:cNvPr id="30756" name="Text Box 36">
                    <a:extLst>
                      <a:ext uri="{FF2B5EF4-FFF2-40B4-BE49-F238E27FC236}">
                        <a16:creationId xmlns:a16="http://schemas.microsoft.com/office/drawing/2014/main" id="{D908A238-2C80-4A09-B19B-8158311C5A5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40" y="1824"/>
                    <a:ext cx="528" cy="231"/>
                  </a:xfrm>
                  <a:prstGeom prst="rect">
                    <a:avLst/>
                  </a:prstGeom>
                  <a:solidFill>
                    <a:srgbClr val="FFCC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en-US" b="1">
                        <a:latin typeface="Times New Roman" panose="02020603050405020304" pitchFamily="18" charset="0"/>
                      </a:rPr>
                      <a:t>back</a:t>
                    </a:r>
                  </a:p>
                </p:txBody>
              </p:sp>
              <p:sp>
                <p:nvSpPr>
                  <p:cNvPr id="30757" name="Text Box 37">
                    <a:extLst>
                      <a:ext uri="{FF2B5EF4-FFF2-40B4-BE49-F238E27FC236}">
                        <a16:creationId xmlns:a16="http://schemas.microsoft.com/office/drawing/2014/main" id="{062C8D2C-D5AE-459C-8726-DDA51269178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12" y="2112"/>
                    <a:ext cx="432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CC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en-US" b="1">
                        <a:latin typeface="Times New Roman" panose="02020603050405020304" pitchFamily="18" charset="0"/>
                      </a:rPr>
                      <a:t>end</a:t>
                    </a:r>
                  </a:p>
                </p:txBody>
              </p:sp>
            </p:grpSp>
            <p:sp>
              <p:nvSpPr>
                <p:cNvPr id="30759" name="Text Box 39">
                  <a:extLst>
                    <a:ext uri="{FF2B5EF4-FFF2-40B4-BE49-F238E27FC236}">
                      <a16:creationId xmlns:a16="http://schemas.microsoft.com/office/drawing/2014/main" id="{814A44CC-8D45-4D7E-8EF2-8CCB089BF79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40" y="2448"/>
                  <a:ext cx="432" cy="231"/>
                </a:xfrm>
                <a:prstGeom prst="rect">
                  <a:avLst/>
                </a:prstGeom>
                <a:solidFill>
                  <a:srgbClr val="FF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en-US" b="1">
                      <a:latin typeface="Times New Roman" panose="02020603050405020304" pitchFamily="18" charset="0"/>
                    </a:rPr>
                    <a:t>front</a:t>
                  </a:r>
                </a:p>
              </p:txBody>
            </p:sp>
            <p:sp>
              <p:nvSpPr>
                <p:cNvPr id="30760" name="Text Box 40">
                  <a:extLst>
                    <a:ext uri="{FF2B5EF4-FFF2-40B4-BE49-F238E27FC236}">
                      <a16:creationId xmlns:a16="http://schemas.microsoft.com/office/drawing/2014/main" id="{0262EB5B-FCE0-456D-9F86-DAEC68C55A4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16" y="2112"/>
                  <a:ext cx="48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CC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en-US" b="1">
                      <a:latin typeface="Times New Roman" panose="02020603050405020304" pitchFamily="18" charset="0"/>
                    </a:rPr>
                    <a:t>end</a:t>
                  </a:r>
                </a:p>
              </p:txBody>
            </p:sp>
          </p:grpSp>
          <p:sp>
            <p:nvSpPr>
              <p:cNvPr id="30762" name="Text Box 42">
                <a:extLst>
                  <a:ext uri="{FF2B5EF4-FFF2-40B4-BE49-F238E27FC236}">
                    <a16:creationId xmlns:a16="http://schemas.microsoft.com/office/drawing/2014/main" id="{EAE68DC8-49C1-48DF-B659-5634D72867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2736"/>
                <a:ext cx="624" cy="231"/>
              </a:xfrm>
              <a:prstGeom prst="rect">
                <a:avLst/>
              </a:prstGeom>
              <a:solidFill>
                <a:srgbClr val="FF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en-US" b="1">
                    <a:latin typeface="Times New Roman" panose="02020603050405020304" pitchFamily="18" charset="0"/>
                  </a:rPr>
                  <a:t>bottom</a:t>
                </a:r>
              </a:p>
            </p:txBody>
          </p:sp>
        </p:grpSp>
        <p:pic>
          <p:nvPicPr>
            <p:cNvPr id="30765" name="Picture 45" descr="MCj03223390000[1]">
              <a:extLst>
                <a:ext uri="{FF2B5EF4-FFF2-40B4-BE49-F238E27FC236}">
                  <a16:creationId xmlns:a16="http://schemas.microsoft.com/office/drawing/2014/main" id="{5F0AE680-057C-4C80-BA2D-215578D6D7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" y="2160"/>
              <a:ext cx="621" cy="7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CCCC"/>
                  </a:solidFill>
                </a14:hiddenFill>
              </a:ext>
            </a:extLst>
          </p:spPr>
        </p:pic>
        <p:sp>
          <p:nvSpPr>
            <p:cNvPr id="30766" name="Text Box 46">
              <a:extLst>
                <a:ext uri="{FF2B5EF4-FFF2-40B4-BE49-F238E27FC236}">
                  <a16:creationId xmlns:a16="http://schemas.microsoft.com/office/drawing/2014/main" id="{A50D9EA8-D9C3-408D-9059-12520E95D7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064"/>
              <a:ext cx="5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en-US" sz="2800" b="1">
                  <a:latin typeface="Times New Roman" panose="02020603050405020304" pitchFamily="18" charset="0"/>
                </a:rPr>
                <a:t>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7826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0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0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0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  <p:bldP spid="3076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A2D058-3846-47F7-9542-46B8892DED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39" t="11258" r="8204" b="51965"/>
          <a:stretch/>
        </p:blipFill>
        <p:spPr>
          <a:xfrm>
            <a:off x="457200" y="838200"/>
            <a:ext cx="8229600" cy="516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851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280B99-33F3-486D-B6D6-EA39F68276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1" t="48164" r="7170" b="4799"/>
          <a:stretch/>
        </p:blipFill>
        <p:spPr>
          <a:xfrm>
            <a:off x="990600" y="609600"/>
            <a:ext cx="7315200" cy="5781368"/>
          </a:xfrm>
        </p:spPr>
      </p:pic>
    </p:spTree>
    <p:extLst>
      <p:ext uri="{BB962C8B-B14F-4D97-AF65-F5344CB8AC3E}">
        <p14:creationId xmlns:p14="http://schemas.microsoft.com/office/powerpoint/2010/main" val="3464654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FA5D-7022-4908-B7D6-9C6E5F027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590550"/>
          </a:xfrm>
        </p:spPr>
        <p:txBody>
          <a:bodyPr/>
          <a:lstStyle/>
          <a:p>
            <a:r>
              <a:rPr lang="en-AU" dirty="0"/>
              <a:t>Oblique Views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BD09F-8F48-4916-834F-356B814C09EA}"/>
              </a:ext>
            </a:extLst>
          </p:cNvPr>
          <p:cNvSpPr/>
          <p:nvPr/>
        </p:nvSpPr>
        <p:spPr>
          <a:xfrm>
            <a:off x="457200" y="1295400"/>
            <a:ext cx="6324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/>
              <a:t>Oblique projection</a:t>
            </a:r>
            <a:r>
              <a:rPr lang="en-AU" dirty="0"/>
              <a:t> is a simple type of </a:t>
            </a:r>
            <a:r>
              <a:rPr lang="en-AU" b="1" dirty="0"/>
              <a:t>projection</a:t>
            </a:r>
            <a:r>
              <a:rPr lang="en-AU" dirty="0"/>
              <a:t> used for producing two-dimensional images of three-dimensional objects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43751B-2D8F-4038-AB8A-64F0083E0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0958" y="1295400"/>
            <a:ext cx="1963302" cy="14674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AD1E4B-4DD2-43E2-A3A2-C163B97E557E}"/>
              </a:ext>
            </a:extLst>
          </p:cNvPr>
          <p:cNvSpPr txBox="1"/>
          <p:nvPr/>
        </p:nvSpPr>
        <p:spPr>
          <a:xfrm>
            <a:off x="464574" y="2272099"/>
            <a:ext cx="495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Oblique projections have a leading face and lines project back from this face at 45</a:t>
            </a:r>
            <a:r>
              <a:rPr lang="en-AU" baseline="30000" dirty="0"/>
              <a:t>O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4C73CD-A657-4331-B583-26A6ECACDB37}"/>
              </a:ext>
            </a:extLst>
          </p:cNvPr>
          <p:cNvSpPr txBox="1"/>
          <p:nvPr/>
        </p:nvSpPr>
        <p:spPr>
          <a:xfrm>
            <a:off x="7353684" y="1948933"/>
            <a:ext cx="11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Leading face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C772A3-CCC3-4787-B24E-A4E66BD1B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971800"/>
            <a:ext cx="7578545" cy="337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029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09EA81-1D4D-4635-B349-70EC745077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3335"/>
          <a:stretch/>
        </p:blipFill>
        <p:spPr>
          <a:xfrm>
            <a:off x="184227" y="4042568"/>
            <a:ext cx="8775545" cy="1824832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46E9BC3-9795-4462-8005-A5B0F770A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709" y="-346869"/>
            <a:ext cx="5852582" cy="4389437"/>
          </a:xfrm>
        </p:spPr>
      </p:pic>
    </p:spTree>
    <p:extLst>
      <p:ext uri="{BB962C8B-B14F-4D97-AF65-F5344CB8AC3E}">
        <p14:creationId xmlns:p14="http://schemas.microsoft.com/office/powerpoint/2010/main" val="416842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0D4833-D556-4F78-97F7-E998FD51CC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81000"/>
            <a:ext cx="5772150" cy="285318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939B2F-513F-47DC-B872-1CB99EB33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941" y="3048000"/>
            <a:ext cx="6091468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310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600" y="267238"/>
            <a:ext cx="71231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ISOMETRIC DRAWINGS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215039"/>
            <a:ext cx="777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50000"/>
              <a:buFont typeface="Arial" panose="020B0604020202020204" pitchFamily="34" charset="0"/>
              <a:buChar char="•"/>
            </a:pPr>
            <a:r>
              <a:rPr lang="en-US" b="1" dirty="0"/>
              <a:t>The object is held with one vertical edge leading, then tilted toward the viewer until the other horizontal edge are at a </a:t>
            </a:r>
            <a:r>
              <a:rPr lang="en-US" b="1" dirty="0">
                <a:solidFill>
                  <a:srgbClr val="FF0000"/>
                </a:solidFill>
              </a:rPr>
              <a:t>30 degree angles</a:t>
            </a:r>
            <a:r>
              <a:rPr lang="en-US" b="1" dirty="0"/>
              <a:t>.</a:t>
            </a:r>
          </a:p>
          <a:p>
            <a:pPr marL="285750" indent="-285750">
              <a:buSzPct val="150000"/>
              <a:buFont typeface="Arial" panose="020B0604020202020204" pitchFamily="34" charset="0"/>
              <a:buChar char="•"/>
            </a:pPr>
            <a:r>
              <a:rPr lang="en-US" b="1" dirty="0"/>
              <a:t>All three axes are </a:t>
            </a:r>
            <a:r>
              <a:rPr lang="en-US" b="1" dirty="0">
                <a:solidFill>
                  <a:srgbClr val="FF0000"/>
                </a:solidFill>
              </a:rPr>
              <a:t>scaled equally at 120 degrees</a:t>
            </a:r>
            <a:r>
              <a:rPr lang="en-US" b="1" dirty="0"/>
              <a:t>. This is why they are called isometric as “</a:t>
            </a:r>
            <a:r>
              <a:rPr lang="en-US" b="1" dirty="0" err="1"/>
              <a:t>iso</a:t>
            </a:r>
            <a:r>
              <a:rPr lang="en-US" b="1" dirty="0"/>
              <a:t>” means same and metric means “measure”.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956" y="3100592"/>
            <a:ext cx="3200400" cy="3441700"/>
          </a:xfrm>
          <a:prstGeom prst="rect">
            <a:avLst/>
          </a:prstGeom>
        </p:spPr>
      </p:pic>
      <p:sp>
        <p:nvSpPr>
          <p:cNvPr id="5" name="Arrow: Curved Down 4">
            <a:extLst>
              <a:ext uri="{FF2B5EF4-FFF2-40B4-BE49-F238E27FC236}">
                <a16:creationId xmlns:a16="http://schemas.microsoft.com/office/drawing/2014/main" id="{238DABBD-A039-4585-898A-65126880A7B8}"/>
              </a:ext>
            </a:extLst>
          </p:cNvPr>
          <p:cNvSpPr/>
          <p:nvPr/>
        </p:nvSpPr>
        <p:spPr>
          <a:xfrm>
            <a:off x="4114800" y="3424030"/>
            <a:ext cx="1371600" cy="35891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A0442B-55E5-475C-BC21-D10413DC0927}"/>
              </a:ext>
            </a:extLst>
          </p:cNvPr>
          <p:cNvSpPr txBox="1"/>
          <p:nvPr/>
        </p:nvSpPr>
        <p:spPr>
          <a:xfrm>
            <a:off x="4876800" y="3113314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120</a:t>
            </a:r>
            <a:r>
              <a:rPr lang="en-AU" baseline="300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</a:t>
            </a:r>
            <a:endParaRPr lang="en-AU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Arrow: Curved Down 6">
            <a:extLst>
              <a:ext uri="{FF2B5EF4-FFF2-40B4-BE49-F238E27FC236}">
                <a16:creationId xmlns:a16="http://schemas.microsoft.com/office/drawing/2014/main" id="{D07884D3-0BD5-4B5F-B7C3-CF5C81D9457D}"/>
              </a:ext>
            </a:extLst>
          </p:cNvPr>
          <p:cNvSpPr/>
          <p:nvPr/>
        </p:nvSpPr>
        <p:spPr>
          <a:xfrm rot="7649607">
            <a:off x="4707614" y="4364499"/>
            <a:ext cx="1371600" cy="35891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AB8D7A-80DC-45D9-9A91-31271251DC7A}"/>
              </a:ext>
            </a:extLst>
          </p:cNvPr>
          <p:cNvSpPr txBox="1"/>
          <p:nvPr/>
        </p:nvSpPr>
        <p:spPr>
          <a:xfrm>
            <a:off x="5710673" y="414448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120</a:t>
            </a:r>
            <a:r>
              <a:rPr lang="en-AU" baseline="300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</a:t>
            </a:r>
            <a:endParaRPr lang="en-AU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E8B7F6B9-98EE-42A3-84FC-2688C6046F7B}"/>
              </a:ext>
            </a:extLst>
          </p:cNvPr>
          <p:cNvSpPr/>
          <p:nvPr/>
        </p:nvSpPr>
        <p:spPr>
          <a:xfrm rot="14022468">
            <a:off x="3484399" y="4405218"/>
            <a:ext cx="1371600" cy="35891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B60ED8-1F15-4426-9E06-822595A36357}"/>
              </a:ext>
            </a:extLst>
          </p:cNvPr>
          <p:cNvSpPr txBox="1"/>
          <p:nvPr/>
        </p:nvSpPr>
        <p:spPr>
          <a:xfrm>
            <a:off x="3450718" y="451381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120</a:t>
            </a:r>
            <a:r>
              <a:rPr lang="en-AU" baseline="300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</a:t>
            </a:r>
            <a:endParaRPr lang="en-AU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1601251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11" grpId="0" animBg="1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29FF30-F647-4209-97AD-5A84E25296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41" r="50" b="28354"/>
          <a:stretch/>
        </p:blipFill>
        <p:spPr>
          <a:xfrm>
            <a:off x="665247" y="20509"/>
            <a:ext cx="7889706" cy="683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881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6DE02B6-CEDB-4449-AA50-A931B1FF1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323" y="69901"/>
            <a:ext cx="4057200" cy="33988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35F229-D82C-454C-8989-286C2553EC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4263572" cy="3581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462E97-CB49-4457-844A-2827FB0873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23" y="3276600"/>
            <a:ext cx="4419600" cy="342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28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354BC7-2FD1-4B22-920E-28AB5F4E6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743200"/>
            <a:ext cx="6969011" cy="32289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DAD86F-D4BB-4967-849F-C47A2EEF603C}"/>
              </a:ext>
            </a:extLst>
          </p:cNvPr>
          <p:cNvSpPr txBox="1"/>
          <p:nvPr/>
        </p:nvSpPr>
        <p:spPr>
          <a:xfrm>
            <a:off x="665105" y="990600"/>
            <a:ext cx="7924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Similar to an isometric diagram is a perspective diagram, in a perspective diagram however, all the lines converge on a point “in the distance”.  In Isometric, the lines are always parallel. </a:t>
            </a:r>
          </a:p>
          <a:p>
            <a:r>
              <a:rPr lang="en-AU" sz="2000" dirty="0"/>
              <a:t>We are only looking at isometric drawings for now.</a:t>
            </a:r>
          </a:p>
        </p:txBody>
      </p:sp>
    </p:spTree>
    <p:extLst>
      <p:ext uri="{BB962C8B-B14F-4D97-AF65-F5344CB8AC3E}">
        <p14:creationId xmlns:p14="http://schemas.microsoft.com/office/powerpoint/2010/main" val="3717242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B4D60EC-A3AC-41F8-8865-2702553BD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832" y="19665"/>
            <a:ext cx="7696200" cy="94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9pPr>
          </a:lstStyle>
          <a:p>
            <a:r>
              <a:rPr lang="en-US" altLang="en-US" sz="4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Orthographic views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1BAB49-5457-476A-A854-4D4F3661F7BF}"/>
              </a:ext>
            </a:extLst>
          </p:cNvPr>
          <p:cNvSpPr txBox="1"/>
          <p:nvPr/>
        </p:nvSpPr>
        <p:spPr>
          <a:xfrm>
            <a:off x="378542" y="1143000"/>
            <a:ext cx="8229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Orthographic views are two-dimensional views of three-dimensional objects. Orthographic views represent the exact shape of an object as seen from one side at a time as you are looking perpendicularly to it.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605D88-2186-4945-8A01-655AC1412C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891432"/>
            <a:ext cx="5385098" cy="32807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333A25-2857-40A8-AECD-F4F9503CF8E2}"/>
              </a:ext>
            </a:extLst>
          </p:cNvPr>
          <p:cNvSpPr txBox="1"/>
          <p:nvPr/>
        </p:nvSpPr>
        <p:spPr>
          <a:xfrm>
            <a:off x="6934200" y="4267200"/>
            <a:ext cx="19689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Lines represent breaks in the surface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675CEE2-34DE-459D-8C47-144D177D4B1F}"/>
              </a:ext>
            </a:extLst>
          </p:cNvPr>
          <p:cNvCxnSpPr/>
          <p:nvPr/>
        </p:nvCxnSpPr>
        <p:spPr>
          <a:xfrm flipH="1" flipV="1">
            <a:off x="5678129" y="4483510"/>
            <a:ext cx="1256071" cy="48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C59A496-7515-4CE3-B5BB-36DF80636794}"/>
              </a:ext>
            </a:extLst>
          </p:cNvPr>
          <p:cNvCxnSpPr>
            <a:cxnSpLocks/>
          </p:cNvCxnSpPr>
          <p:nvPr/>
        </p:nvCxnSpPr>
        <p:spPr>
          <a:xfrm flipH="1">
            <a:off x="5692877" y="4531816"/>
            <a:ext cx="1241323" cy="128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B419318-2E79-432C-A49E-25767C890C89}"/>
              </a:ext>
            </a:extLst>
          </p:cNvPr>
          <p:cNvCxnSpPr>
            <a:cxnSpLocks/>
          </p:cNvCxnSpPr>
          <p:nvPr/>
        </p:nvCxnSpPr>
        <p:spPr>
          <a:xfrm flipH="1">
            <a:off x="5707626" y="4557252"/>
            <a:ext cx="1179872" cy="368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DE5ADB4-5AB9-40CE-97CD-91A0BB14048B}"/>
              </a:ext>
            </a:extLst>
          </p:cNvPr>
          <p:cNvCxnSpPr>
            <a:cxnSpLocks/>
          </p:cNvCxnSpPr>
          <p:nvPr/>
        </p:nvCxnSpPr>
        <p:spPr>
          <a:xfrm flipH="1">
            <a:off x="5692877" y="4527755"/>
            <a:ext cx="1238865" cy="575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5637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3CFEDC-59E0-43CC-9709-60871CE0C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720" y="1935163"/>
            <a:ext cx="5568560" cy="438943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24F89C-8B4C-4234-913E-2352584CEBB8}"/>
              </a:ext>
            </a:extLst>
          </p:cNvPr>
          <p:cNvSpPr txBox="1"/>
          <p:nvPr/>
        </p:nvSpPr>
        <p:spPr>
          <a:xfrm>
            <a:off x="609600" y="838200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create an orthographic view you need to draw the 2dimensional view of a 3dimensional object from the top, the side and the front.</a:t>
            </a:r>
          </a:p>
        </p:txBody>
      </p:sp>
    </p:spTree>
    <p:extLst>
      <p:ext uri="{BB962C8B-B14F-4D97-AF65-F5344CB8AC3E}">
        <p14:creationId xmlns:p14="http://schemas.microsoft.com/office/powerpoint/2010/main" val="2496603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ooter Placeholder 4">
            <a:extLst>
              <a:ext uri="{FF2B5EF4-FFF2-40B4-BE49-F238E27FC236}">
                <a16:creationId xmlns:a16="http://schemas.microsoft.com/office/drawing/2014/main" id="{FBAB6B01-7D9F-4C6E-8EF0-854BC36C3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Lesson 10-2: 3-D Views of Solid Figures</a:t>
            </a:r>
          </a:p>
        </p:txBody>
      </p:sp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1466D784-F16F-492E-AED5-93142AF66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4834A-01E4-4B19-9982-3B98B874F493}" type="slidenum">
              <a:rPr lang="en-US" altLang="en-US"/>
              <a:pPr/>
              <a:t>14</a:t>
            </a:fld>
            <a:endParaRPr lang="en-US" altLang="en-US"/>
          </a:p>
        </p:txBody>
      </p:sp>
      <p:grpSp>
        <p:nvGrpSpPr>
          <p:cNvPr id="6160" name="Group 16">
            <a:extLst>
              <a:ext uri="{FF2B5EF4-FFF2-40B4-BE49-F238E27FC236}">
                <a16:creationId xmlns:a16="http://schemas.microsoft.com/office/drawing/2014/main" id="{6D483FB3-7608-4556-BD78-4B121CCD1BC2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618664"/>
            <a:ext cx="5075903" cy="2734597"/>
            <a:chOff x="1920" y="912"/>
            <a:chExt cx="1776" cy="961"/>
          </a:xfrm>
        </p:grpSpPr>
        <p:sp>
          <p:nvSpPr>
            <p:cNvPr id="6149" name="Rectangle 5">
              <a:extLst>
                <a:ext uri="{FF2B5EF4-FFF2-40B4-BE49-F238E27FC236}">
                  <a16:creationId xmlns:a16="http://schemas.microsoft.com/office/drawing/2014/main" id="{9C44417C-C1FE-452E-A677-EAB909994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8" y="1030"/>
              <a:ext cx="617" cy="84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152" name="AutoShape 8">
              <a:extLst>
                <a:ext uri="{FF2B5EF4-FFF2-40B4-BE49-F238E27FC236}">
                  <a16:creationId xmlns:a16="http://schemas.microsoft.com/office/drawing/2014/main" id="{E1A1B15F-A87E-4D2E-BF2A-CB3081DD99D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920" y="1344"/>
              <a:ext cx="588" cy="529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153" name="Line 9">
              <a:extLst>
                <a:ext uri="{FF2B5EF4-FFF2-40B4-BE49-F238E27FC236}">
                  <a16:creationId xmlns:a16="http://schemas.microsoft.com/office/drawing/2014/main" id="{FC53B2FE-C63E-475B-8876-1F962CB2AB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2" y="912"/>
              <a:ext cx="9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54" name="Line 10">
              <a:extLst>
                <a:ext uri="{FF2B5EF4-FFF2-40B4-BE49-F238E27FC236}">
                  <a16:creationId xmlns:a16="http://schemas.microsoft.com/office/drawing/2014/main" id="{6D392E15-B1B6-4855-BF20-81BD22F6AE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1" y="912"/>
              <a:ext cx="147" cy="1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55" name="Line 11">
              <a:extLst>
                <a:ext uri="{FF2B5EF4-FFF2-40B4-BE49-F238E27FC236}">
                  <a16:creationId xmlns:a16="http://schemas.microsoft.com/office/drawing/2014/main" id="{464091C3-F8AC-4F93-93F3-988DE54DD9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8" y="912"/>
              <a:ext cx="147" cy="1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56" name="Line 12">
              <a:extLst>
                <a:ext uri="{FF2B5EF4-FFF2-40B4-BE49-F238E27FC236}">
                  <a16:creationId xmlns:a16="http://schemas.microsoft.com/office/drawing/2014/main" id="{8F384F45-5DE4-4AA1-9959-1BAD827351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1" y="912"/>
              <a:ext cx="6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59" name="AutoShape 15">
              <a:extLst>
                <a:ext uri="{FF2B5EF4-FFF2-40B4-BE49-F238E27FC236}">
                  <a16:creationId xmlns:a16="http://schemas.microsoft.com/office/drawing/2014/main" id="{BD9A2BAB-E76B-4BE3-8F00-2159AB41D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200"/>
              <a:ext cx="576" cy="672"/>
            </a:xfrm>
            <a:prstGeom prst="rtTriangl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</p:grpSp>
      <p:grpSp>
        <p:nvGrpSpPr>
          <p:cNvPr id="6164" name="Group 20">
            <a:extLst>
              <a:ext uri="{FF2B5EF4-FFF2-40B4-BE49-F238E27FC236}">
                <a16:creationId xmlns:a16="http://schemas.microsoft.com/office/drawing/2014/main" id="{686B7649-6497-4AB6-9710-D72866A1CB54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4343400"/>
            <a:ext cx="1447800" cy="984250"/>
            <a:chOff x="240" y="2736"/>
            <a:chExt cx="1200" cy="816"/>
          </a:xfrm>
        </p:grpSpPr>
        <p:sp>
          <p:nvSpPr>
            <p:cNvPr id="6161" name="Rectangle 17">
              <a:extLst>
                <a:ext uri="{FF2B5EF4-FFF2-40B4-BE49-F238E27FC236}">
                  <a16:creationId xmlns:a16="http://schemas.microsoft.com/office/drawing/2014/main" id="{126AC905-3C1E-4522-91F0-725DE731B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264"/>
              <a:ext cx="28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162" name="Rectangle 18">
              <a:extLst>
                <a:ext uri="{FF2B5EF4-FFF2-40B4-BE49-F238E27FC236}">
                  <a16:creationId xmlns:a16="http://schemas.microsoft.com/office/drawing/2014/main" id="{16BF6CFC-6A59-47F8-9FD5-E9E0A2CE9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736"/>
              <a:ext cx="480" cy="81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163" name="AutoShape 19">
              <a:extLst>
                <a:ext uri="{FF2B5EF4-FFF2-40B4-BE49-F238E27FC236}">
                  <a16:creationId xmlns:a16="http://schemas.microsoft.com/office/drawing/2014/main" id="{79851A64-7CCE-495A-B5CE-85D862D02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928"/>
              <a:ext cx="432" cy="624"/>
            </a:xfrm>
            <a:prstGeom prst="rtTriangl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</p:grpSp>
      <p:grpSp>
        <p:nvGrpSpPr>
          <p:cNvPr id="6168" name="Group 24">
            <a:extLst>
              <a:ext uri="{FF2B5EF4-FFF2-40B4-BE49-F238E27FC236}">
                <a16:creationId xmlns:a16="http://schemas.microsoft.com/office/drawing/2014/main" id="{CE988832-B79A-4656-A61B-2123B56AF8B7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4343400"/>
            <a:ext cx="533400" cy="990600"/>
            <a:chOff x="1488" y="2736"/>
            <a:chExt cx="336" cy="624"/>
          </a:xfrm>
        </p:grpSpPr>
        <p:sp>
          <p:nvSpPr>
            <p:cNvPr id="6165" name="Rectangle 21">
              <a:extLst>
                <a:ext uri="{FF2B5EF4-FFF2-40B4-BE49-F238E27FC236}">
                  <a16:creationId xmlns:a16="http://schemas.microsoft.com/office/drawing/2014/main" id="{EEA41DCC-B747-4541-B648-83DFF7E504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736"/>
              <a:ext cx="336" cy="62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166" name="Rectangle 22">
              <a:extLst>
                <a:ext uri="{FF2B5EF4-FFF2-40B4-BE49-F238E27FC236}">
                  <a16:creationId xmlns:a16="http://schemas.microsoft.com/office/drawing/2014/main" id="{FDD1F6E6-8871-4032-B5E5-9BFFD8E1F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120"/>
              <a:ext cx="336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167" name="Line 23">
              <a:extLst>
                <a:ext uri="{FF2B5EF4-FFF2-40B4-BE49-F238E27FC236}">
                  <a16:creationId xmlns:a16="http://schemas.microsoft.com/office/drawing/2014/main" id="{FE49E040-3620-4042-83E7-0281267996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120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171" name="Group 27">
            <a:extLst>
              <a:ext uri="{FF2B5EF4-FFF2-40B4-BE49-F238E27FC236}">
                <a16:creationId xmlns:a16="http://schemas.microsoft.com/office/drawing/2014/main" id="{59FB227C-8BCF-4DBA-B8FA-CBC9349119B2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4343400"/>
            <a:ext cx="533400" cy="990600"/>
            <a:chOff x="2448" y="2736"/>
            <a:chExt cx="336" cy="624"/>
          </a:xfrm>
        </p:grpSpPr>
        <p:sp>
          <p:nvSpPr>
            <p:cNvPr id="6169" name="Rectangle 25">
              <a:extLst>
                <a:ext uri="{FF2B5EF4-FFF2-40B4-BE49-F238E27FC236}">
                  <a16:creationId xmlns:a16="http://schemas.microsoft.com/office/drawing/2014/main" id="{A90BB415-DEC4-451D-AD8E-2DD863ED6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736"/>
              <a:ext cx="336" cy="62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170" name="Line 26">
              <a:extLst>
                <a:ext uri="{FF2B5EF4-FFF2-40B4-BE49-F238E27FC236}">
                  <a16:creationId xmlns:a16="http://schemas.microsoft.com/office/drawing/2014/main" id="{5DAE3537-CBF5-4A1D-8D72-84CB07A21C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880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176" name="Group 32">
            <a:extLst>
              <a:ext uri="{FF2B5EF4-FFF2-40B4-BE49-F238E27FC236}">
                <a16:creationId xmlns:a16="http://schemas.microsoft.com/office/drawing/2014/main" id="{D88A3FD3-7374-401D-89D5-E49F37BBC11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410200" y="4267200"/>
            <a:ext cx="1447800" cy="984250"/>
            <a:chOff x="240" y="2736"/>
            <a:chExt cx="1200" cy="816"/>
          </a:xfrm>
        </p:grpSpPr>
        <p:sp>
          <p:nvSpPr>
            <p:cNvPr id="6177" name="Rectangle 33">
              <a:extLst>
                <a:ext uri="{FF2B5EF4-FFF2-40B4-BE49-F238E27FC236}">
                  <a16:creationId xmlns:a16="http://schemas.microsoft.com/office/drawing/2014/main" id="{A88E9B5A-9458-4645-B8C8-2F7CBBF80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264"/>
              <a:ext cx="28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178" name="Rectangle 34">
              <a:extLst>
                <a:ext uri="{FF2B5EF4-FFF2-40B4-BE49-F238E27FC236}">
                  <a16:creationId xmlns:a16="http://schemas.microsoft.com/office/drawing/2014/main" id="{9676CB58-B1DF-44CC-8894-DA0089252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736"/>
              <a:ext cx="480" cy="81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179" name="AutoShape 35">
              <a:extLst>
                <a:ext uri="{FF2B5EF4-FFF2-40B4-BE49-F238E27FC236}">
                  <a16:creationId xmlns:a16="http://schemas.microsoft.com/office/drawing/2014/main" id="{2FAF00A4-2E7E-476F-B2A2-2C6BEB016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928"/>
              <a:ext cx="432" cy="624"/>
            </a:xfrm>
            <a:prstGeom prst="rtTriangl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</p:grpSp>
      <p:grpSp>
        <p:nvGrpSpPr>
          <p:cNvPr id="6187" name="Group 43">
            <a:extLst>
              <a:ext uri="{FF2B5EF4-FFF2-40B4-BE49-F238E27FC236}">
                <a16:creationId xmlns:a16="http://schemas.microsoft.com/office/drawing/2014/main" id="{986FAF7F-45B9-4614-A9C5-0366C49610CB}"/>
              </a:ext>
            </a:extLst>
          </p:cNvPr>
          <p:cNvGrpSpPr>
            <a:grpSpLocks/>
          </p:cNvGrpSpPr>
          <p:nvPr/>
        </p:nvGrpSpPr>
        <p:grpSpPr bwMode="auto">
          <a:xfrm>
            <a:off x="7467600" y="4800600"/>
            <a:ext cx="1371600" cy="381000"/>
            <a:chOff x="4704" y="2928"/>
            <a:chExt cx="864" cy="240"/>
          </a:xfrm>
        </p:grpSpPr>
        <p:grpSp>
          <p:nvGrpSpPr>
            <p:cNvPr id="6185" name="Group 41">
              <a:extLst>
                <a:ext uri="{FF2B5EF4-FFF2-40B4-BE49-F238E27FC236}">
                  <a16:creationId xmlns:a16="http://schemas.microsoft.com/office/drawing/2014/main" id="{5EA9D5B5-9850-4F3F-8334-03B86B64E6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4" y="2928"/>
              <a:ext cx="864" cy="240"/>
              <a:chOff x="4704" y="2928"/>
              <a:chExt cx="864" cy="240"/>
            </a:xfrm>
          </p:grpSpPr>
          <p:sp>
            <p:nvSpPr>
              <p:cNvPr id="6180" name="Rectangle 36">
                <a:extLst>
                  <a:ext uri="{FF2B5EF4-FFF2-40B4-BE49-F238E27FC236}">
                    <a16:creationId xmlns:a16="http://schemas.microsoft.com/office/drawing/2014/main" id="{3D7FCAD0-119A-4DA1-8D1C-1FFBE86CD2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2928"/>
                <a:ext cx="240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6181" name="Rectangle 37">
                <a:extLst>
                  <a:ext uri="{FF2B5EF4-FFF2-40B4-BE49-F238E27FC236}">
                    <a16:creationId xmlns:a16="http://schemas.microsoft.com/office/drawing/2014/main" id="{4AC51B2A-E2F6-49B5-9C0C-4D0915DFCE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4" y="2928"/>
                <a:ext cx="384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6182" name="Rectangle 38">
                <a:extLst>
                  <a:ext uri="{FF2B5EF4-FFF2-40B4-BE49-F238E27FC236}">
                    <a16:creationId xmlns:a16="http://schemas.microsoft.com/office/drawing/2014/main" id="{DE844D00-FEBD-49BF-8125-7F91B2CAE6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8" y="2928"/>
                <a:ext cx="240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6184" name="Line 40">
                <a:extLst>
                  <a:ext uri="{FF2B5EF4-FFF2-40B4-BE49-F238E27FC236}">
                    <a16:creationId xmlns:a16="http://schemas.microsoft.com/office/drawing/2014/main" id="{DC08A8EA-3DFE-49AE-A7F1-EA5500FEE2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8" y="2928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sp>
          <p:nvSpPr>
            <p:cNvPr id="6186" name="Line 42">
              <a:extLst>
                <a:ext uri="{FF2B5EF4-FFF2-40B4-BE49-F238E27FC236}">
                  <a16:creationId xmlns:a16="http://schemas.microsoft.com/office/drawing/2014/main" id="{912B41C8-E73E-4733-9D52-5227C51490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92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6188" name="Text Box 44">
            <a:extLst>
              <a:ext uri="{FF2B5EF4-FFF2-40B4-BE49-F238E27FC236}">
                <a16:creationId xmlns:a16="http://schemas.microsoft.com/office/drawing/2014/main" id="{E2662DE9-D06F-46F0-8159-20F4B5CDA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7150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* Note:  The dark lines indicated a break in the surface.</a:t>
            </a:r>
          </a:p>
        </p:txBody>
      </p:sp>
      <p:sp>
        <p:nvSpPr>
          <p:cNvPr id="6190" name="Text Box 46">
            <a:extLst>
              <a:ext uri="{FF2B5EF4-FFF2-40B4-BE49-F238E27FC236}">
                <a16:creationId xmlns:a16="http://schemas.microsoft.com/office/drawing/2014/main" id="{1C04E0E7-269C-4458-9DC1-B9580C685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581400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b="1">
                <a:latin typeface="Times New Roman" panose="02020603050405020304" pitchFamily="18" charset="0"/>
              </a:rPr>
              <a:t>Front</a:t>
            </a:r>
          </a:p>
        </p:txBody>
      </p:sp>
      <p:sp>
        <p:nvSpPr>
          <p:cNvPr id="6191" name="Text Box 47">
            <a:extLst>
              <a:ext uri="{FF2B5EF4-FFF2-40B4-BE49-F238E27FC236}">
                <a16:creationId xmlns:a16="http://schemas.microsoft.com/office/drawing/2014/main" id="{9032ECDB-4097-4936-BE25-951C83DF1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58140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b="1">
                <a:latin typeface="Times New Roman" panose="02020603050405020304" pitchFamily="18" charset="0"/>
              </a:rPr>
              <a:t>Left</a:t>
            </a:r>
          </a:p>
        </p:txBody>
      </p:sp>
      <p:sp>
        <p:nvSpPr>
          <p:cNvPr id="6192" name="Text Box 48">
            <a:extLst>
              <a:ext uri="{FF2B5EF4-FFF2-40B4-BE49-F238E27FC236}">
                <a16:creationId xmlns:a16="http://schemas.microsoft.com/office/drawing/2014/main" id="{5B1AACC5-1D3F-4CAC-9F8B-A35FBE5FA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581400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b="1">
                <a:latin typeface="Times New Roman" panose="02020603050405020304" pitchFamily="18" charset="0"/>
              </a:rPr>
              <a:t>Right</a:t>
            </a:r>
          </a:p>
        </p:txBody>
      </p:sp>
      <p:sp>
        <p:nvSpPr>
          <p:cNvPr id="6193" name="Text Box 49">
            <a:extLst>
              <a:ext uri="{FF2B5EF4-FFF2-40B4-BE49-F238E27FC236}">
                <a16:creationId xmlns:a16="http://schemas.microsoft.com/office/drawing/2014/main" id="{0CD50100-97B7-4026-9C8F-6764F56E7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58140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b="1">
                <a:latin typeface="Times New Roman" panose="02020603050405020304" pitchFamily="18" charset="0"/>
              </a:rPr>
              <a:t>Back</a:t>
            </a:r>
          </a:p>
        </p:txBody>
      </p:sp>
      <p:sp>
        <p:nvSpPr>
          <p:cNvPr id="6194" name="Text Box 50">
            <a:extLst>
              <a:ext uri="{FF2B5EF4-FFF2-40B4-BE49-F238E27FC236}">
                <a16:creationId xmlns:a16="http://schemas.microsoft.com/office/drawing/2014/main" id="{399EA1C4-217D-411D-B9DE-2ED2F1045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3733800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2800" b="1">
                <a:latin typeface="Times New Roman" panose="02020603050405020304" pitchFamily="18" charset="0"/>
              </a:rPr>
              <a:t>Top</a:t>
            </a:r>
          </a:p>
        </p:txBody>
      </p:sp>
    </p:spTree>
    <p:extLst>
      <p:ext uri="{BB962C8B-B14F-4D97-AF65-F5344CB8AC3E}">
        <p14:creationId xmlns:p14="http://schemas.microsoft.com/office/powerpoint/2010/main" val="313367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6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6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6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6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6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6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6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1000"/>
                                        <p:tgtEl>
                                          <p:spTgt spid="6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88" grpId="0"/>
      <p:bldP spid="6190" grpId="0"/>
      <p:bldP spid="6191" grpId="0"/>
      <p:bldP spid="6192" grpId="0"/>
      <p:bldP spid="6193" grpId="0"/>
      <p:bldP spid="619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364F25-A22D-4E45-953B-5ED586DF32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262584"/>
            <a:ext cx="5853809" cy="529833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00BAE0-6F25-4F42-8A54-CB4DDCDB7E27}"/>
              </a:ext>
            </a:extLst>
          </p:cNvPr>
          <p:cNvSpPr txBox="1"/>
          <p:nvPr/>
        </p:nvSpPr>
        <p:spPr>
          <a:xfrm>
            <a:off x="457200" y="533400"/>
            <a:ext cx="830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Dashed lines are used to show lines that are hidden when looking at the object from a certain perspective.</a:t>
            </a:r>
          </a:p>
        </p:txBody>
      </p:sp>
    </p:spTree>
    <p:extLst>
      <p:ext uri="{BB962C8B-B14F-4D97-AF65-F5344CB8AC3E}">
        <p14:creationId xmlns:p14="http://schemas.microsoft.com/office/powerpoint/2010/main" val="4184555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C5119B-1553-4841-9D07-3E48BEEEA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1" y="1359833"/>
            <a:ext cx="7315200" cy="51431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4C9ABC-1A6A-4349-8998-2A5B9514340A}"/>
              </a:ext>
            </a:extLst>
          </p:cNvPr>
          <p:cNvSpPr txBox="1"/>
          <p:nvPr/>
        </p:nvSpPr>
        <p:spPr>
          <a:xfrm>
            <a:off x="1371600" y="762000"/>
            <a:ext cx="777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Often we use orthographic and isometric drawings together</a:t>
            </a:r>
          </a:p>
        </p:txBody>
      </p:sp>
    </p:spTree>
    <p:extLst>
      <p:ext uri="{BB962C8B-B14F-4D97-AF65-F5344CB8AC3E}">
        <p14:creationId xmlns:p14="http://schemas.microsoft.com/office/powerpoint/2010/main" val="2924168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68FEBF7-ECDB-4B88-968B-C0BC64284DDE}"/>
              </a:ext>
            </a:extLst>
          </p:cNvPr>
          <p:cNvCxnSpPr>
            <a:cxnSpLocks/>
          </p:cNvCxnSpPr>
          <p:nvPr/>
        </p:nvCxnSpPr>
        <p:spPr>
          <a:xfrm>
            <a:off x="-152400" y="43204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97FC811-DA87-44AE-A043-0A9BA88F3E84}"/>
              </a:ext>
            </a:extLst>
          </p:cNvPr>
          <p:cNvCxnSpPr>
            <a:cxnSpLocks/>
          </p:cNvCxnSpPr>
          <p:nvPr/>
        </p:nvCxnSpPr>
        <p:spPr>
          <a:xfrm>
            <a:off x="-152400" y="113412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A49DDF-68B6-468F-A9F8-E41A5EF431D8}"/>
              </a:ext>
            </a:extLst>
          </p:cNvPr>
          <p:cNvCxnSpPr>
            <a:cxnSpLocks/>
          </p:cNvCxnSpPr>
          <p:nvPr/>
        </p:nvCxnSpPr>
        <p:spPr>
          <a:xfrm>
            <a:off x="1827312" y="1134126"/>
            <a:ext cx="0" cy="542037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22F8FF8-4684-477B-BB10-182415B83C20}"/>
              </a:ext>
            </a:extLst>
          </p:cNvPr>
          <p:cNvSpPr txBox="1"/>
          <p:nvPr/>
        </p:nvSpPr>
        <p:spPr>
          <a:xfrm>
            <a:off x="963216" y="0"/>
            <a:ext cx="4311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3D shape representations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4246DE-92E7-467A-8ADA-E6EB9949CF93}"/>
              </a:ext>
            </a:extLst>
          </p:cNvPr>
          <p:cNvSpPr txBox="1"/>
          <p:nvPr/>
        </p:nvSpPr>
        <p:spPr>
          <a:xfrm>
            <a:off x="109389" y="523220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describe represent 3d objects?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F5BA41-21A4-4887-9741-68E65CE9A896}"/>
              </a:ext>
            </a:extLst>
          </p:cNvPr>
          <p:cNvSpPr txBox="1"/>
          <p:nvPr/>
        </p:nvSpPr>
        <p:spPr>
          <a:xfrm>
            <a:off x="1958560" y="1225297"/>
            <a:ext cx="64401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+mj-lt"/>
              </a:rPr>
              <a:t>A net is when you </a:t>
            </a:r>
            <a:r>
              <a:rPr lang="en-US" altLang="en-US" dirty="0">
                <a:latin typeface="+mj-lt"/>
              </a:rPr>
              <a:t>lay out the 2d pieces into a foldable shape that make the 3d object</a:t>
            </a:r>
            <a:r>
              <a:rPr lang="en-US" altLang="en-US" b="1" i="1" dirty="0">
                <a:latin typeface="+mj-lt"/>
              </a:rPr>
              <a:t>.  </a:t>
            </a:r>
            <a:r>
              <a:rPr lang="en-US" altLang="en-US" dirty="0">
                <a:latin typeface="+mj-lt"/>
              </a:rPr>
              <a:t> </a:t>
            </a:r>
          </a:p>
          <a:p>
            <a:endParaRPr lang="en-AU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D900D1-98C8-4FE3-8575-CD97A6907FBA}"/>
              </a:ext>
            </a:extLst>
          </p:cNvPr>
          <p:cNvSpPr txBox="1"/>
          <p:nvPr/>
        </p:nvSpPr>
        <p:spPr>
          <a:xfrm>
            <a:off x="2030360" y="3712037"/>
            <a:ext cx="3424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+mj-lt"/>
              </a:rPr>
              <a:t>An isometric drawing has a leading edge, the left and right edges lead back at a 30</a:t>
            </a:r>
            <a:r>
              <a:rPr lang="en-AU" baseline="30000" dirty="0">
                <a:latin typeface="+mj-lt"/>
              </a:rPr>
              <a:t>o</a:t>
            </a:r>
            <a:r>
              <a:rPr lang="en-AU" dirty="0">
                <a:latin typeface="+mj-lt"/>
              </a:rPr>
              <a:t> slant.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5A500D-4850-41EB-8D69-0BD48996F2E9}"/>
              </a:ext>
            </a:extLst>
          </p:cNvPr>
          <p:cNvSpPr/>
          <p:nvPr/>
        </p:nvSpPr>
        <p:spPr>
          <a:xfrm>
            <a:off x="2066432" y="4723938"/>
            <a:ext cx="66807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latin typeface="+mj-lt"/>
              </a:rPr>
              <a:t>Orthographic views show a 3d object using 2d images of the top side and front viewpoints</a:t>
            </a:r>
          </a:p>
        </p:txBody>
      </p:sp>
      <p:pic>
        <p:nvPicPr>
          <p:cNvPr id="14" name="Content Placeholder 4">
            <a:extLst>
              <a:ext uri="{FF2B5EF4-FFF2-40B4-BE49-F238E27FC236}">
                <a16:creationId xmlns:a16="http://schemas.microsoft.com/office/drawing/2014/main" id="{5EEF5FB6-F118-445D-9C8D-28C3300ABD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96" t="71723" r="9814" b="16498"/>
          <a:stretch/>
        </p:blipFill>
        <p:spPr>
          <a:xfrm>
            <a:off x="2604680" y="1899579"/>
            <a:ext cx="4215499" cy="1213553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028AF86-B086-4D27-8214-74949A172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384" y="5300720"/>
            <a:ext cx="4306416" cy="112318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6D61F5A-B7E6-4DF0-8BE5-3FBDDAAA69B9}"/>
              </a:ext>
            </a:extLst>
          </p:cNvPr>
          <p:cNvSpPr txBox="1"/>
          <p:nvPr/>
        </p:nvSpPr>
        <p:spPr>
          <a:xfrm>
            <a:off x="109389" y="1447800"/>
            <a:ext cx="1717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net?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ACF14C-A264-48A3-B95B-29A695FB9D96}"/>
              </a:ext>
            </a:extLst>
          </p:cNvPr>
          <p:cNvSpPr txBox="1"/>
          <p:nvPr/>
        </p:nvSpPr>
        <p:spPr>
          <a:xfrm>
            <a:off x="94640" y="3086520"/>
            <a:ext cx="17179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Isometric vs Oblique.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87215B-2DBD-43DE-A292-3BE89AAC487A}"/>
              </a:ext>
            </a:extLst>
          </p:cNvPr>
          <p:cNvSpPr txBox="1"/>
          <p:nvPr/>
        </p:nvSpPr>
        <p:spPr>
          <a:xfrm>
            <a:off x="127365" y="4818965"/>
            <a:ext cx="17179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an orthographic drawing?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FFF8BE-B489-48B4-9BE8-3AFA378A34B7}"/>
              </a:ext>
            </a:extLst>
          </p:cNvPr>
          <p:cNvSpPr txBox="1"/>
          <p:nvPr/>
        </p:nvSpPr>
        <p:spPr>
          <a:xfrm>
            <a:off x="2030360" y="3158104"/>
            <a:ext cx="3760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+mj-lt"/>
              </a:rPr>
              <a:t>An oblique drawing has a leading face, the edges lead back at a 45</a:t>
            </a:r>
            <a:r>
              <a:rPr lang="en-AU" baseline="30000" dirty="0">
                <a:latin typeface="+mj-lt"/>
              </a:rPr>
              <a:t>o</a:t>
            </a:r>
            <a:r>
              <a:rPr lang="en-AU" dirty="0">
                <a:latin typeface="+mj-lt"/>
              </a:rPr>
              <a:t> slant.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7507637-A5BA-45AC-8901-7804F0CF0A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286" y="3056723"/>
            <a:ext cx="3057525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3884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kış">
  <a:themeElements>
    <a:clrScheme name="Akış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Akış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kış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Akış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Akış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430</Words>
  <Application>Microsoft Office PowerPoint</Application>
  <PresentationFormat>On-screen Show (4:3)</PresentationFormat>
  <Paragraphs>49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Constantia</vt:lpstr>
      <vt:lpstr>Times New Roman</vt:lpstr>
      <vt:lpstr>Wingdings</vt:lpstr>
      <vt:lpstr>Wingdings 2</vt:lpstr>
      <vt:lpstr>Akış</vt:lpstr>
      <vt:lpstr>Representing 3D objects in 2D</vt:lpstr>
      <vt:lpstr>Nets and Surface Area</vt:lpstr>
      <vt:lpstr>PowerPoint Presentation</vt:lpstr>
      <vt:lpstr>PowerPoint Presentation</vt:lpstr>
      <vt:lpstr>Oblique Views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Beavercreek City Schools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pratera</dc:creator>
  <cp:lastModifiedBy>WILSON James [Baldivis Secondary College]</cp:lastModifiedBy>
  <cp:revision>49</cp:revision>
  <cp:lastPrinted>2015-01-30T18:50:58Z</cp:lastPrinted>
  <dcterms:created xsi:type="dcterms:W3CDTF">2015-01-27T18:50:50Z</dcterms:created>
  <dcterms:modified xsi:type="dcterms:W3CDTF">2018-03-18T08:42:35Z</dcterms:modified>
</cp:coreProperties>
</file>
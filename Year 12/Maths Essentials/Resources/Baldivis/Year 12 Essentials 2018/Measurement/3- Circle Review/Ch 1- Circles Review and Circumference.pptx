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0" r:id="rId2"/>
    <p:sldId id="259" r:id="rId3"/>
    <p:sldId id="258" r:id="rId4"/>
    <p:sldId id="303" r:id="rId5"/>
    <p:sldId id="319" r:id="rId6"/>
    <p:sldId id="332" r:id="rId7"/>
    <p:sldId id="331" r:id="rId8"/>
    <p:sldId id="344" r:id="rId9"/>
    <p:sldId id="343" r:id="rId10"/>
    <p:sldId id="342" r:id="rId11"/>
    <p:sldId id="341" r:id="rId12"/>
    <p:sldId id="340" r:id="rId13"/>
    <p:sldId id="339" r:id="rId14"/>
    <p:sldId id="338" r:id="rId15"/>
    <p:sldId id="337" r:id="rId16"/>
    <p:sldId id="336" r:id="rId17"/>
    <p:sldId id="335" r:id="rId18"/>
    <p:sldId id="334" r:id="rId19"/>
    <p:sldId id="329" r:id="rId20"/>
    <p:sldId id="345" r:id="rId21"/>
    <p:sldId id="357" r:id="rId22"/>
    <p:sldId id="356" r:id="rId23"/>
    <p:sldId id="355" r:id="rId24"/>
    <p:sldId id="354" r:id="rId25"/>
    <p:sldId id="353" r:id="rId26"/>
    <p:sldId id="351" r:id="rId27"/>
    <p:sldId id="350" r:id="rId28"/>
    <p:sldId id="349" r:id="rId29"/>
    <p:sldId id="348" r:id="rId30"/>
    <p:sldId id="347" r:id="rId31"/>
    <p:sldId id="346" r:id="rId32"/>
    <p:sldId id="330" r:id="rId33"/>
    <p:sldId id="358" r:id="rId34"/>
    <p:sldId id="292" r:id="rId35"/>
    <p:sldId id="359" r:id="rId36"/>
    <p:sldId id="291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32" autoAdjust="0"/>
    <p:restoredTop sz="89165" autoAdjust="0"/>
  </p:normalViewPr>
  <p:slideViewPr>
    <p:cSldViewPr>
      <p:cViewPr varScale="1">
        <p:scale>
          <a:sx n="104" d="100"/>
          <a:sy n="104" d="100"/>
        </p:scale>
        <p:origin x="488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5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3" Type="http://schemas.openxmlformats.org/officeDocument/2006/relationships/image" Target="../media/image4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emf"/><Relationship Id="rId3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Shape and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5" name="Picture 4" descr="https://encrypted-tbn3.gstatic.com/images?q=tbn:ANd9GcQalickAZJxP16UO8A0LbBxeXtkHiUS7YDCPV2AjNF2_0WMm1D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904999"/>
            <a:ext cx="2305050" cy="1981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Definition of a circle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A 2D shape</a:t>
            </a:r>
          </a:p>
          <a:p>
            <a:r>
              <a:rPr lang="en-AU" dirty="0" smtClean="0"/>
              <a:t>1 edge</a:t>
            </a:r>
          </a:p>
          <a:p>
            <a:r>
              <a:rPr lang="en-AU" dirty="0" smtClean="0"/>
              <a:t>No corners</a:t>
            </a:r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3491880" y="1844824"/>
            <a:ext cx="2160240" cy="2160240"/>
          </a:xfrm>
          <a:prstGeom prst="ellipse">
            <a:avLst/>
          </a:prstGeom>
          <a:solidFill>
            <a:srgbClr val="92D050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26966" y="1992643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77896" y="1973507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0453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28860" y="1178703"/>
            <a:ext cx="4179123" cy="460775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Circumference and Radius.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5900" y="4077072"/>
            <a:ext cx="6172200" cy="1709382"/>
          </a:xfrm>
        </p:spPr>
        <p:txBody>
          <a:bodyPr>
            <a:normAutofit fontScale="92500" lnSpcReduction="20000"/>
          </a:bodyPr>
          <a:lstStyle/>
          <a:p>
            <a:r>
              <a:rPr lang="en-AU" sz="1800" dirty="0"/>
              <a:t>The </a:t>
            </a:r>
            <a:r>
              <a:rPr lang="en-AU" sz="1800" b="1" dirty="0">
                <a:solidFill>
                  <a:srgbClr val="FF0000"/>
                </a:solidFill>
              </a:rPr>
              <a:t>circumference</a:t>
            </a:r>
            <a:r>
              <a:rPr lang="en-AU" sz="1800" dirty="0"/>
              <a:t> of a circle is the boundary of the circle.</a:t>
            </a:r>
          </a:p>
          <a:p>
            <a:r>
              <a:rPr lang="en-AU" sz="1800" dirty="0"/>
              <a:t>A line segment drawn from the centre of a circle to the circumference is the </a:t>
            </a:r>
            <a:r>
              <a:rPr lang="en-AU" sz="1800" b="1" dirty="0">
                <a:solidFill>
                  <a:srgbClr val="FF0000"/>
                </a:solidFill>
              </a:rPr>
              <a:t>radius</a:t>
            </a:r>
            <a:r>
              <a:rPr lang="en-AU" sz="1800" dirty="0">
                <a:solidFill>
                  <a:srgbClr val="FF0000"/>
                </a:solidFill>
              </a:rPr>
              <a:t>. </a:t>
            </a:r>
            <a:r>
              <a:rPr lang="en-AU" sz="1800" dirty="0">
                <a:solidFill>
                  <a:srgbClr val="002060"/>
                </a:solidFill>
              </a:rPr>
              <a:t>Every radius in a circle is equal in length.</a:t>
            </a:r>
          </a:p>
          <a:p>
            <a:r>
              <a:rPr lang="en-AU" sz="1800" dirty="0"/>
              <a:t>A line segment drawn through the centre from one side of a circle to its opposite side is called the </a:t>
            </a:r>
            <a:r>
              <a:rPr lang="en-AU" sz="1800" b="1" dirty="0">
                <a:solidFill>
                  <a:srgbClr val="FF0000"/>
                </a:solidFill>
              </a:rPr>
              <a:t>diameter.</a:t>
            </a:r>
            <a:r>
              <a:rPr lang="en-AU" sz="1800" dirty="0">
                <a:solidFill>
                  <a:srgbClr val="FF0000"/>
                </a:solidFill>
              </a:rPr>
              <a:t> </a:t>
            </a:r>
            <a:r>
              <a:rPr lang="en-AU" sz="1800" dirty="0"/>
              <a:t> </a:t>
            </a:r>
            <a:r>
              <a:rPr lang="en-AU" sz="1800" dirty="0">
                <a:solidFill>
                  <a:srgbClr val="002060"/>
                </a:solidFill>
              </a:rPr>
              <a:t>It is double the length of the radius.</a:t>
            </a:r>
          </a:p>
        </p:txBody>
      </p:sp>
      <p:cxnSp>
        <p:nvCxnSpPr>
          <p:cNvPr id="9" name="Straight Arrow Connector 8"/>
          <p:cNvCxnSpPr>
            <a:endCxn id="4" idx="7"/>
          </p:cNvCxnSpPr>
          <p:nvPr/>
        </p:nvCxnSpPr>
        <p:spPr>
          <a:xfrm rot="5400000" flipH="1" flipV="1">
            <a:off x="4389072" y="2036423"/>
            <a:ext cx="1789822" cy="142396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86512" y="2035959"/>
            <a:ext cx="11787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circumference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Shape 6"/>
          <p:cNvCxnSpPr/>
          <p:nvPr/>
        </p:nvCxnSpPr>
        <p:spPr>
          <a:xfrm rot="5400000">
            <a:off x="6558958" y="2084984"/>
            <a:ext cx="151629" cy="482207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4" idx="1"/>
          </p:cNvCxnSpPr>
          <p:nvPr/>
        </p:nvCxnSpPr>
        <p:spPr>
          <a:xfrm rot="16200000" flipH="1">
            <a:off x="2804372" y="2090001"/>
            <a:ext cx="3343598" cy="287058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107389" y="1928802"/>
            <a:ext cx="85725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diameter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Shape 13"/>
          <p:cNvCxnSpPr>
            <a:stCxn id="12" idx="2"/>
          </p:cNvCxnSpPr>
          <p:nvPr/>
        </p:nvCxnSpPr>
        <p:spPr>
          <a:xfrm rot="16200000" flipH="1">
            <a:off x="2927161" y="1837739"/>
            <a:ext cx="128546" cy="910835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47049" y="2089537"/>
            <a:ext cx="5893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radius</a:t>
            </a:r>
            <a:endParaRPr lang="en-AU" sz="135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7" name="Shape 16"/>
          <p:cNvCxnSpPr>
            <a:stCxn id="15" idx="2"/>
          </p:cNvCxnSpPr>
          <p:nvPr/>
        </p:nvCxnSpPr>
        <p:spPr>
          <a:xfrm rot="5400000" flipH="1" flipV="1">
            <a:off x="5295893" y="2410426"/>
            <a:ext cx="132780" cy="241104"/>
          </a:xfrm>
          <a:prstGeom prst="bentConnector4">
            <a:avLst>
              <a:gd name="adj1" fmla="val -172164"/>
              <a:gd name="adj2" fmla="val -21703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70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346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03282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53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42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4890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4764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6823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46989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072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573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233772" y="2006181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circle?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18770" y="1994356"/>
            <a:ext cx="5891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2D shape that has only one edge (or side) and no vertices (corners).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78650" y="2754970"/>
            <a:ext cx="23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12513" y="2754970"/>
            <a:ext cx="589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total measurement around the edge of the circle.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70655" y="3319093"/>
            <a:ext cx="2030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Diameter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12513" y="328481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one side to the other, passing through the centre of the circle.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78650" y="4103784"/>
            <a:ext cx="202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Radius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11484" y="4103784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straight line measurement from the centre of the circle to the edge.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11484" y="4760656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radius is half the length of the diameter.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78882" y="5234716"/>
            <a:ext cx="1742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pi (</a:t>
            </a:r>
            <a:r>
              <a:rPr lang="el-GR" dirty="0" smtClean="0"/>
              <a:t>π</a:t>
            </a:r>
            <a:r>
              <a:rPr lang="en-AU" dirty="0" smtClean="0"/>
              <a:t>)?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118770" y="5234716"/>
            <a:ext cx="5773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 smtClean="0"/>
              <a:t>π</a:t>
            </a:r>
            <a:r>
              <a:rPr lang="en-AU" dirty="0" smtClean="0"/>
              <a:t> is used in the formulas to find the circumference and area of circles.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18770" y="5881047"/>
            <a:ext cx="5800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Its value is 3.14 (correct to 2dp). It is an irrational number (it has no equivalent fraction) and is a non terminating decimal.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881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Let’s think about </a:t>
            </a:r>
            <a:r>
              <a:rPr lang="el-GR" dirty="0" smtClean="0"/>
              <a:t>π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12" y="1974250"/>
            <a:ext cx="8460376" cy="2909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1812" y="3356992"/>
            <a:ext cx="3942156" cy="4320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/>
          <p:cNvSpPr/>
          <p:nvPr/>
        </p:nvSpPr>
        <p:spPr>
          <a:xfrm>
            <a:off x="1043608" y="2974866"/>
            <a:ext cx="3240360" cy="3821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4572000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5940152" y="3284984"/>
            <a:ext cx="1080120" cy="2160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0101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069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2996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62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27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41266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958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20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48323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82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80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129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Circles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do I need to know about circles?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9514" y="2132856"/>
            <a:ext cx="265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circumference of a circle?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3059833" y="2132856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diameter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564904"/>
                <a:ext cx="5832649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3102336" y="3144152"/>
            <a:ext cx="5832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Since the diameter is twice the length of the radius, it can also be found as:</a:t>
            </a:r>
            <a:endParaRPr lang="en-AU" dirty="0"/>
          </a:p>
        </p:txBody>
      </p:sp>
      <p:sp>
        <p:nvSpPr>
          <p:cNvPr id="25" name="TextBox 24"/>
          <p:cNvSpPr txBox="1"/>
          <p:nvPr/>
        </p:nvSpPr>
        <p:spPr>
          <a:xfrm>
            <a:off x="3131840" y="3790483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Circumference = </a:t>
            </a:r>
            <a:r>
              <a:rPr lang="el-GR" dirty="0" smtClean="0"/>
              <a:t>π</a:t>
            </a:r>
            <a:r>
              <a:rPr lang="en-AU" dirty="0" smtClean="0"/>
              <a:t> x 2 x radius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4293096"/>
                <a:ext cx="5400600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3203848" y="4662428"/>
            <a:ext cx="573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*remember that multiplication can be done in any order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79512" y="5157192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area of a circle?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AU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AU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74" y="5766545"/>
                <a:ext cx="862774" cy="274320"/>
              </a:xfrm>
              <a:prstGeom prst="rect">
                <a:avLst/>
              </a:prstGeom>
              <a:blipFill rotWithShape="0">
                <a:blip r:embed="rId4"/>
                <a:stretch>
                  <a:fillRect l="-6338" t="-4444" r="-2817"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Area = </a:t>
                </a:r>
                <a:r>
                  <a:rPr lang="el-GR" dirty="0" smtClean="0"/>
                  <a:t>π</a:t>
                </a:r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848" y="5301208"/>
                <a:ext cx="5536088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991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3200344" y="6136870"/>
            <a:ext cx="5659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*you may need to find the radius first.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55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268760"/>
            <a:ext cx="7845076" cy="3366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725144"/>
            <a:ext cx="8042851" cy="19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1" y="1772816"/>
            <a:ext cx="6634539" cy="7920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927282"/>
            <a:ext cx="6458782" cy="4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7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Independent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Pg</a:t>
            </a:r>
            <a:r>
              <a:rPr lang="en-US" dirty="0" smtClean="0"/>
              <a:t> 13-14 MAWA Textbook</a:t>
            </a:r>
          </a:p>
          <a:p>
            <a:r>
              <a:rPr lang="en-US" smtClean="0"/>
              <a:t>Question 3-8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86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1231</TotalTime>
  <Words>1839</Words>
  <Application>Microsoft Macintosh PowerPoint</Application>
  <PresentationFormat>On-screen Show (4:3)</PresentationFormat>
  <Paragraphs>345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Calibri</vt:lpstr>
      <vt:lpstr>Cambria Math</vt:lpstr>
      <vt:lpstr>Arial</vt:lpstr>
      <vt:lpstr>Office Theme</vt:lpstr>
      <vt:lpstr>My Shape and Measurement Interactive Notebook</vt:lpstr>
      <vt:lpstr>PowerPoint Presentation</vt:lpstr>
      <vt:lpstr>PowerPoint Presentation</vt:lpstr>
      <vt:lpstr>PowerPoint Presentation</vt:lpstr>
      <vt:lpstr>Definition of a circle</vt:lpstr>
      <vt:lpstr>PowerPoint Presentation</vt:lpstr>
      <vt:lpstr>Circumference and Radius.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think about π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Notes Review</vt:lpstr>
      <vt:lpstr>Independent practice</vt:lpstr>
      <vt:lpstr>Homework</vt:lpstr>
    </vt:vector>
  </TitlesOfParts>
  <Company>The Department of Education</Company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Kath Farmer</cp:lastModifiedBy>
  <cp:revision>72</cp:revision>
  <dcterms:created xsi:type="dcterms:W3CDTF">2014-05-14T02:58:57Z</dcterms:created>
  <dcterms:modified xsi:type="dcterms:W3CDTF">2018-02-15T11:01:12Z</dcterms:modified>
</cp:coreProperties>
</file>
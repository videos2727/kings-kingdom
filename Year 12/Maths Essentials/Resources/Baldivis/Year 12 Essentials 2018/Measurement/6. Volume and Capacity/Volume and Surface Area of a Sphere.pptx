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70" r:id="rId2"/>
    <p:sldId id="259" r:id="rId3"/>
    <p:sldId id="260" r:id="rId4"/>
    <p:sldId id="261" r:id="rId5"/>
    <p:sldId id="262" r:id="rId6"/>
    <p:sldId id="269" r:id="rId7"/>
    <p:sldId id="264" r:id="rId8"/>
    <p:sldId id="265" r:id="rId9"/>
    <p:sldId id="266" r:id="rId10"/>
    <p:sldId id="267" r:id="rId11"/>
    <p:sldId id="271" r:id="rId12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FF0000"/>
    <a:srgbClr val="FFFF99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12"/>
  </p:normalViewPr>
  <p:slideViewPr>
    <p:cSldViewPr snapToGrid="0">
      <p:cViewPr varScale="1">
        <p:scale>
          <a:sx n="102" d="100"/>
          <a:sy n="102" d="100"/>
        </p:scale>
        <p:origin x="1384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76A5FF-7F15-BA40-ACD8-61E616EA604D}" type="datetimeFigureOut">
              <a:rPr lang="en-US" smtClean="0"/>
              <a:t>3/9/18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38B67-511F-1144-8318-118BC4483F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037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>
            <a:extLst>
              <a:ext uri="{FF2B5EF4-FFF2-40B4-BE49-F238E27FC236}">
                <a16:creationId xmlns:a16="http://schemas.microsoft.com/office/drawing/2014/main" id="{E6A9B110-E2B4-CB4B-87E0-B40358A4FBB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6" name="Notes Placeholder 2">
            <a:extLst>
              <a:ext uri="{FF2B5EF4-FFF2-40B4-BE49-F238E27FC236}">
                <a16:creationId xmlns:a16="http://schemas.microsoft.com/office/drawing/2014/main" id="{DA317CC4-15B2-6F4E-A719-693FFEF242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AU" altLang="en-US"/>
              <a:t>Input</a:t>
            </a:r>
          </a:p>
        </p:txBody>
      </p:sp>
      <p:sp>
        <p:nvSpPr>
          <p:cNvPr id="16387" name="Slide Number Placeholder 3">
            <a:extLst>
              <a:ext uri="{FF2B5EF4-FFF2-40B4-BE49-F238E27FC236}">
                <a16:creationId xmlns:a16="http://schemas.microsoft.com/office/drawing/2014/main" id="{F22A2CA0-9CCB-AD42-8421-4854690C3DE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7B9D1DB-867A-DA45-91C0-B2E8CA08C419}" type="slidenum">
              <a:rPr lang="en-AU" altLang="en-US" smtClean="0">
                <a:latin typeface="Calibri" panose="020F0502020204030204" pitchFamily="34" charset="0"/>
              </a:rPr>
              <a:pPr/>
              <a:t>1</a:t>
            </a:fld>
            <a:endParaRPr lang="en-AU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1527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F443B-739A-B542-A992-DE73D683BB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859D7F-E91F-C048-BCFB-8599EB0515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239E8-1127-F54E-A9F1-2BAD716A0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C78AE2-E5C3-7E4E-A4DF-F6C6DF3D3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7B13A9-4FF8-9A42-A74D-9E18FC9D0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050E4-AA14-49E4-A3B4-627B5B09CA1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6410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0CA71-BFBD-DE4A-A7E5-C61D1E7BA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16AE1-61EB-B14B-B2D6-A4C6807F29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854E3B-1F7B-234D-95E6-3B9C0A509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142829-56CF-0244-80A9-40AA8F26F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DEFAD7-F554-4C48-8C8B-AB0CF8E26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23BF8-652C-4C69-93D6-0A73B5162A3F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5240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873D9-286A-E740-8FD8-4AB2DC901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876023-7A4C-5D48-930A-D0B6EE9B8C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582D74-18A0-8040-9DD4-7F8477690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8F043C-4677-C94A-B4B2-5773A981C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6495E-FB5E-2E4F-9CD0-90E944C1C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FA5BD-8E8A-4F56-AC4D-52F8EF3948A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5897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25163-6E91-D441-93D8-52DA23806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60B417-873B-C245-8F2C-B25C18460F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53CF4B-80FD-734E-B3E2-29012AF90D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CBA8C6-5813-EA40-AC4C-CD1292E91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6BDF1C-F985-334F-AC5E-9932FF023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137C23-4CE1-394C-92E7-AB7FC77CA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3B2D-4796-404F-959E-D1D791CD86A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5304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609F3-0DAB-0740-859F-6C52ABD22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850B8E-5834-AF41-9A0E-4B91173475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336D91-7510-8040-9F95-6B2DDE3528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D0BFA0-7149-8E4A-835A-F1A9591FB4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5E9859-075A-8A45-B38B-5C1D0288AE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0DD1EF-46D6-934B-A28F-6CE6C5406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38F09B-B85B-8F48-94C0-C1F44CB79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FFED55-7163-8142-B49B-6F2A54D0C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BA584-27AA-4C64-A8C5-F1884B8918A1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66957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2D216-5BC3-C84E-AF90-BB7EFAD5C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AB650B-FF34-304E-B93F-E5E105C68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C5C0B3-F40D-2744-9879-3A257B708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58FED1-7834-C043-A386-3E5117997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DE0CF-55C3-40C1-9E4C-A7EA01BE695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06686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666507-B9A6-ED45-BA61-17A625861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E64BCC-89A8-CB4A-947E-045E40CE6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AC59FC-66D6-0341-9A6F-22A060C3C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50C71-0CC5-4FEB-BD6F-128F7CAC938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6344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5724A-6690-7343-94F6-3DF1E90B9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7BBEAE-3565-1E44-88C3-F3CDDCD6A5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FC367F-6DF5-5248-8C83-460C434F7D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F403FB-2857-C04C-80A4-A2DDB60E1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BA583A-A23D-7549-BF30-B26806FE2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C7A17B-A39E-5545-854C-9D433FDE3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3638E-F556-4EF0-A6A3-E1727AB394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1289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3088F-3678-7747-AA04-F31E7672D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A750C9-EF3C-9943-BE90-4CC82113FD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FA7A11-5534-1D4B-B1AF-04E10B53E8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1D633F-45AA-8540-A28D-D7774A7E6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9296EB-288A-404D-B545-DF309F27B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D31C1C-8EE5-5C4C-B685-27725DF1C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76364-21AB-4523-82D5-7029411A2C8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7806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6900E-EEF3-074A-8D8A-97A420BA5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12B428-35FF-D345-BCD8-32DF71917D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083829-2A20-6E40-8237-C91F0C484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7B7520-CC43-0C46-B010-447E27FFF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4EE462-A304-2642-96C8-53291F9A6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2405-E9EC-4A1B-9C7D-FB8B5D1154DF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1387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9C27D5-4F75-AA4E-85C1-55E05A461F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F8A426-9F85-A848-866E-52BA3F6E0B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179CB9-DCEB-B34F-A737-2B2561B44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4864A7-7345-A240-910A-44708F32D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F2673-7ABE-4A49-A808-5740709B0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3CEF0-F654-44E6-A187-A58095C2B72A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3898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B10E4A-679B-C94A-89C6-976797E8B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8C9A90-B888-FD43-A64A-6A9990A0CA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873458-E53B-E041-B205-394EC8EB52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1E776F-12E6-0842-9F96-E8C16805CD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3E6ADC-568D-DD4C-A68D-288D00DB77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D59C67-C69E-43DE-ADF6-3C62B81FBB3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8049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hyperlink" Target="http://www.youtube.com/watch?v=xuPl_8o_j7k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youtube.com/watch?v=6EzQEdBX_30" TargetMode="Externa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4.png"/><Relationship Id="rId7" Type="http://schemas.openxmlformats.org/officeDocument/2006/relationships/image" Target="../media/image16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0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8.png"/><Relationship Id="rId7" Type="http://schemas.openxmlformats.org/officeDocument/2006/relationships/image" Target="../media/image100.png"/><Relationship Id="rId12" Type="http://schemas.openxmlformats.org/officeDocument/2006/relationships/image" Target="../media/image25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22.png"/><Relationship Id="rId5" Type="http://schemas.openxmlformats.org/officeDocument/2006/relationships/image" Target="../media/image180.png"/><Relationship Id="rId10" Type="http://schemas.openxmlformats.org/officeDocument/2006/relationships/image" Target="../media/image23.png"/><Relationship Id="rId4" Type="http://schemas.openxmlformats.org/officeDocument/2006/relationships/image" Target="../media/image6.png"/><Relationship Id="rId9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extBox 1">
            <a:extLst>
              <a:ext uri="{FF2B5EF4-FFF2-40B4-BE49-F238E27FC236}">
                <a16:creationId xmlns:a16="http://schemas.microsoft.com/office/drawing/2014/main" id="{E2CEDD61-2F9D-C048-85EF-487588D6F9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4138" y="5724525"/>
            <a:ext cx="4127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AU" altLang="en-US" sz="1800">
                <a:latin typeface="Arial" panose="020B0604020202020204" pitchFamily="34" charset="0"/>
              </a:rPr>
              <a:t> 5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03C2DA6-9F01-7941-BD69-9E57756FC732}"/>
              </a:ext>
            </a:extLst>
          </p:cNvPr>
          <p:cNvCxnSpPr/>
          <p:nvPr/>
        </p:nvCxnSpPr>
        <p:spPr>
          <a:xfrm>
            <a:off x="1143000" y="1592263"/>
            <a:ext cx="6858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53CB483-B303-D342-849D-C50A083668FC}"/>
              </a:ext>
            </a:extLst>
          </p:cNvPr>
          <p:cNvCxnSpPr/>
          <p:nvPr/>
        </p:nvCxnSpPr>
        <p:spPr>
          <a:xfrm>
            <a:off x="1143000" y="2295525"/>
            <a:ext cx="6858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364" name="TextBox 6">
            <a:extLst>
              <a:ext uri="{FF2B5EF4-FFF2-40B4-BE49-F238E27FC236}">
                <a16:creationId xmlns:a16="http://schemas.microsoft.com/office/drawing/2014/main" id="{03A4A0D8-8BBC-624B-9311-77FDFF04D3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2850" y="969963"/>
            <a:ext cx="4318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AU" altLang="en-US" sz="1200">
                <a:latin typeface="Arial" panose="020B0604020202020204" pitchFamily="34" charset="0"/>
              </a:rPr>
              <a:t>24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AU" altLang="en-US" sz="1200">
                <a:latin typeface="Arial" panose="020B0604020202020204" pitchFamily="34" charset="0"/>
              </a:rPr>
              <a:t>7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AU" altLang="en-US" sz="1200">
                <a:latin typeface="Arial" panose="020B0604020202020204" pitchFamily="34" charset="0"/>
              </a:rPr>
              <a:t>30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C633B1E-C1D3-2841-B65A-C1103ECBF296}"/>
              </a:ext>
            </a:extLst>
          </p:cNvPr>
          <p:cNvCxnSpPr/>
          <p:nvPr/>
        </p:nvCxnSpPr>
        <p:spPr>
          <a:xfrm>
            <a:off x="3330575" y="2295525"/>
            <a:ext cx="0" cy="383381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366" name="TextBox 9">
            <a:extLst>
              <a:ext uri="{FF2B5EF4-FFF2-40B4-BE49-F238E27FC236}">
                <a16:creationId xmlns:a16="http://schemas.microsoft.com/office/drawing/2014/main" id="{2508A0A1-FA2C-F14E-9CAD-8126C6D989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9613" y="1160463"/>
            <a:ext cx="4053867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AU" altLang="en-US" sz="2100" dirty="0">
                <a:latin typeface="Arial" panose="020B0604020202020204" pitchFamily="34" charset="0"/>
              </a:rPr>
              <a:t>Volume and Capacity of spheres</a:t>
            </a:r>
          </a:p>
        </p:txBody>
      </p:sp>
      <p:sp>
        <p:nvSpPr>
          <p:cNvPr id="15367" name="TextBox 10">
            <a:extLst>
              <a:ext uri="{FF2B5EF4-FFF2-40B4-BE49-F238E27FC236}">
                <a16:creationId xmlns:a16="http://schemas.microsoft.com/office/drawing/2014/main" id="{027BFC70-1528-E84B-A139-7A11B528B0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3063" y="936625"/>
            <a:ext cx="11874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AU" altLang="en-US" sz="1800">
                <a:latin typeface="Arial" panose="020B0604020202020204" pitchFamily="34" charset="0"/>
              </a:rPr>
              <a:t>Date</a:t>
            </a:r>
          </a:p>
        </p:txBody>
      </p:sp>
      <p:sp>
        <p:nvSpPr>
          <p:cNvPr id="15368" name="TextBox 11">
            <a:extLst>
              <a:ext uri="{FF2B5EF4-FFF2-40B4-BE49-F238E27FC236}">
                <a16:creationId xmlns:a16="http://schemas.microsoft.com/office/drawing/2014/main" id="{6B4622C3-8533-994C-A0B4-A2EC226082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1900" y="1654175"/>
            <a:ext cx="646588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AU" altLang="en-US" sz="1500" dirty="0">
                <a:latin typeface="Arial" panose="020B0604020202020204" pitchFamily="34" charset="0"/>
              </a:rPr>
              <a:t>EQ – How do we find the volume and then the capacity of a sphere?</a:t>
            </a:r>
          </a:p>
        </p:txBody>
      </p:sp>
      <p:sp>
        <p:nvSpPr>
          <p:cNvPr id="15369" name="AutoShape 2" descr="angle of elevation">
            <a:extLst>
              <a:ext uri="{FF2B5EF4-FFF2-40B4-BE49-F238E27FC236}">
                <a16:creationId xmlns:a16="http://schemas.microsoft.com/office/drawing/2014/main" id="{00A3EC86-B2A3-2146-B3E4-5F367E57CAF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57700" y="3314700"/>
            <a:ext cx="2286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AU" altLang="en-US" sz="18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26212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1030268" y="288163"/>
            <a:ext cx="7886700" cy="1325563"/>
          </a:xfrm>
        </p:spPr>
        <p:txBody>
          <a:bodyPr/>
          <a:lstStyle/>
          <a:p>
            <a:pPr eaLnBrk="1" hangingPunct="1"/>
            <a:r>
              <a:rPr lang="en-GB" sz="4000" dirty="0">
                <a:latin typeface="Comic Sans MS" pitchFamily="66" charset="0"/>
              </a:rPr>
              <a:t>Volume and Surface Area of a Sphere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sz="2800" dirty="0">
                <a:latin typeface="Comic Sans MS" pitchFamily="66" charset="0"/>
              </a:rPr>
              <a:t>	The Surface Area of a Sphere is given by this formula: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GB" sz="2800" dirty="0">
              <a:latin typeface="Comic Sans MS" pitchFamily="66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GB" sz="2800" dirty="0">
              <a:latin typeface="Comic Sans MS" pitchFamily="66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GB" sz="2800" dirty="0">
              <a:latin typeface="Comic Sans MS" pitchFamily="66" charset="0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GB" sz="2800" dirty="0">
                <a:latin typeface="Comic Sans MS" pitchFamily="66" charset="0"/>
              </a:rPr>
              <a:t>	The Volume of a Sphere is given by the following formula: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GB" sz="2800" dirty="0">
              <a:latin typeface="Comic Sans MS" pitchFamily="66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GB" sz="2800" dirty="0">
              <a:latin typeface="Comic Sans MS" pitchFamily="66" charset="0"/>
            </a:endParaRPr>
          </a:p>
        </p:txBody>
      </p:sp>
      <p:sp>
        <p:nvSpPr>
          <p:cNvPr id="5124" name="Oval 4"/>
          <p:cNvSpPr>
            <a:spLocks noChangeAspect="1" noChangeArrowheads="1"/>
          </p:cNvSpPr>
          <p:nvPr/>
        </p:nvSpPr>
        <p:spPr bwMode="auto">
          <a:xfrm>
            <a:off x="7045562" y="2233328"/>
            <a:ext cx="1489075" cy="1489075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5" name="Arc 5"/>
          <p:cNvSpPr>
            <a:spLocks/>
          </p:cNvSpPr>
          <p:nvPr/>
        </p:nvSpPr>
        <p:spPr bwMode="auto">
          <a:xfrm>
            <a:off x="7045562" y="2936590"/>
            <a:ext cx="1489075" cy="246063"/>
          </a:xfrm>
          <a:custGeom>
            <a:avLst/>
            <a:gdLst>
              <a:gd name="T0" fmla="*/ 1488420 w 43200"/>
              <a:gd name="T1" fmla="*/ 8415 h 23306"/>
              <a:gd name="T2" fmla="*/ 2344 w 43200"/>
              <a:gd name="T3" fmla="*/ 0 h 23306"/>
              <a:gd name="T4" fmla="*/ 744538 w 43200"/>
              <a:gd name="T5" fmla="*/ 18012 h 2330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00" h="23306" fill="none" extrusionOk="0">
                <a:moveTo>
                  <a:pt x="43180" y="797"/>
                </a:moveTo>
                <a:cubicBezTo>
                  <a:pt x="43193" y="1099"/>
                  <a:pt x="43200" y="1402"/>
                  <a:pt x="43200" y="1706"/>
                </a:cubicBezTo>
                <a:cubicBezTo>
                  <a:pt x="43200" y="13635"/>
                  <a:pt x="33529" y="23306"/>
                  <a:pt x="21600" y="23306"/>
                </a:cubicBezTo>
                <a:cubicBezTo>
                  <a:pt x="9670" y="23306"/>
                  <a:pt x="0" y="13635"/>
                  <a:pt x="0" y="1706"/>
                </a:cubicBezTo>
                <a:cubicBezTo>
                  <a:pt x="-1" y="1136"/>
                  <a:pt x="22" y="567"/>
                  <a:pt x="67" y="-1"/>
                </a:cubicBezTo>
              </a:path>
              <a:path w="43200" h="23306" stroke="0" extrusionOk="0">
                <a:moveTo>
                  <a:pt x="43180" y="797"/>
                </a:moveTo>
                <a:cubicBezTo>
                  <a:pt x="43193" y="1099"/>
                  <a:pt x="43200" y="1402"/>
                  <a:pt x="43200" y="1706"/>
                </a:cubicBezTo>
                <a:cubicBezTo>
                  <a:pt x="43200" y="13635"/>
                  <a:pt x="33529" y="23306"/>
                  <a:pt x="21600" y="23306"/>
                </a:cubicBezTo>
                <a:cubicBezTo>
                  <a:pt x="9670" y="23306"/>
                  <a:pt x="0" y="13635"/>
                  <a:pt x="0" y="1706"/>
                </a:cubicBezTo>
                <a:cubicBezTo>
                  <a:pt x="-1" y="1136"/>
                  <a:pt x="22" y="567"/>
                  <a:pt x="67" y="-1"/>
                </a:cubicBezTo>
                <a:lnTo>
                  <a:pt x="21600" y="1706"/>
                </a:lnTo>
                <a:lnTo>
                  <a:pt x="43180" y="797"/>
                </a:lnTo>
                <a:close/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5126" name="Arc 6"/>
          <p:cNvSpPr>
            <a:spLocks/>
          </p:cNvSpPr>
          <p:nvPr/>
        </p:nvSpPr>
        <p:spPr bwMode="auto">
          <a:xfrm flipV="1">
            <a:off x="7050325" y="2728628"/>
            <a:ext cx="1487487" cy="246062"/>
          </a:xfrm>
          <a:custGeom>
            <a:avLst/>
            <a:gdLst>
              <a:gd name="T0" fmla="*/ 1487487 w 43149"/>
              <a:gd name="T1" fmla="*/ 33659 h 23306"/>
              <a:gd name="T2" fmla="*/ 2344 w 43149"/>
              <a:gd name="T3" fmla="*/ 0 h 23306"/>
              <a:gd name="T4" fmla="*/ 744623 w 43149"/>
              <a:gd name="T5" fmla="*/ 18012 h 2330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149" h="23306" fill="none" extrusionOk="0">
                <a:moveTo>
                  <a:pt x="43149" y="3188"/>
                </a:moveTo>
                <a:cubicBezTo>
                  <a:pt x="42370" y="14515"/>
                  <a:pt x="32954" y="23305"/>
                  <a:pt x="21600" y="23306"/>
                </a:cubicBezTo>
                <a:cubicBezTo>
                  <a:pt x="9670" y="23306"/>
                  <a:pt x="0" y="13635"/>
                  <a:pt x="0" y="1706"/>
                </a:cubicBezTo>
                <a:cubicBezTo>
                  <a:pt x="-1" y="1136"/>
                  <a:pt x="22" y="567"/>
                  <a:pt x="67" y="-1"/>
                </a:cubicBezTo>
              </a:path>
              <a:path w="43149" h="23306" stroke="0" extrusionOk="0">
                <a:moveTo>
                  <a:pt x="43149" y="3188"/>
                </a:moveTo>
                <a:cubicBezTo>
                  <a:pt x="42370" y="14515"/>
                  <a:pt x="32954" y="23305"/>
                  <a:pt x="21600" y="23306"/>
                </a:cubicBezTo>
                <a:cubicBezTo>
                  <a:pt x="9670" y="23306"/>
                  <a:pt x="0" y="13635"/>
                  <a:pt x="0" y="1706"/>
                </a:cubicBezTo>
                <a:cubicBezTo>
                  <a:pt x="-1" y="1136"/>
                  <a:pt x="22" y="567"/>
                  <a:pt x="67" y="-1"/>
                </a:cubicBezTo>
                <a:lnTo>
                  <a:pt x="21600" y="1706"/>
                </a:lnTo>
                <a:lnTo>
                  <a:pt x="43149" y="3188"/>
                </a:lnTo>
                <a:close/>
              </a:path>
            </a:pathLst>
          </a:cu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5127" name="Line 7"/>
          <p:cNvSpPr>
            <a:spLocks noChangeShapeType="1"/>
          </p:cNvSpPr>
          <p:nvPr/>
        </p:nvSpPr>
        <p:spPr bwMode="auto">
          <a:xfrm flipV="1">
            <a:off x="7793275" y="2944528"/>
            <a:ext cx="71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128" name="Text Box 8"/>
          <p:cNvSpPr txBox="1">
            <a:spLocks noChangeArrowheads="1"/>
          </p:cNvSpPr>
          <p:nvPr/>
        </p:nvSpPr>
        <p:spPr bwMode="auto">
          <a:xfrm>
            <a:off x="7996475" y="2665128"/>
            <a:ext cx="2936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GB">
                <a:latin typeface="Comic Sans MS" pitchFamily="66" charset="0"/>
              </a:rPr>
              <a:t>r</a:t>
            </a:r>
          </a:p>
        </p:txBody>
      </p:sp>
      <p:pic>
        <p:nvPicPr>
          <p:cNvPr id="5129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" y="120650"/>
            <a:ext cx="852488" cy="984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4973618" y="5015319"/>
                <a:ext cx="2060116" cy="6694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/>
                        </a:rPr>
                        <m:t>𝑉𝑜𝑙𝑢𝑚𝑒</m:t>
                      </m:r>
                      <m:r>
                        <a:rPr lang="en-GB" sz="20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/>
                            </a:rPr>
                            <m:t>4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/>
                            </a:rPr>
                            <m:t>3</m:t>
                          </m:r>
                        </m:den>
                      </m:f>
                      <m:r>
                        <a:rPr lang="en-GB" sz="2000" b="0" i="1" smtClean="0">
                          <a:latin typeface="Cambria Math"/>
                          <a:ea typeface="Cambria Math"/>
                        </a:rPr>
                        <m:t>𝜋</m:t>
                      </m:r>
                      <m:sSup>
                        <m:sSupPr>
                          <m:ctrlPr>
                            <a:rPr lang="en-GB" sz="2000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GB" sz="2000" b="0" i="1" smtClean="0">
                              <a:latin typeface="Cambria Math"/>
                              <a:ea typeface="Cambria Math"/>
                            </a:rPr>
                            <m:t>𝑟</m:t>
                          </m:r>
                        </m:e>
                        <m:sup>
                          <m:r>
                            <a:rPr lang="en-GB" sz="2000" b="0" i="1" smtClean="0">
                              <a:latin typeface="Cambria Math"/>
                              <a:ea typeface="Cambria Math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3618" y="5015319"/>
                <a:ext cx="2060116" cy="669479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2058363" y="5004891"/>
                <a:ext cx="2017347" cy="7099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/>
                        </a:rPr>
                        <m:t>𝑉𝑜𝑙𝑢𝑚𝑒</m:t>
                      </m:r>
                      <m:r>
                        <a:rPr lang="en-GB" sz="20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/>
                            </a:rPr>
                            <m:t>4</m:t>
                          </m:r>
                          <m:r>
                            <a:rPr lang="en-GB" sz="2000" b="0" i="1" smtClean="0">
                              <a:latin typeface="Cambria Math"/>
                              <a:ea typeface="Cambria Math"/>
                            </a:rPr>
                            <m:t>𝜋</m:t>
                          </m:r>
                          <m:sSup>
                            <m:sSupPr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GB" sz="2000" b="0" i="1" smtClean="0">
                                  <a:latin typeface="Cambria Math"/>
                                  <a:ea typeface="Cambria Math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GB" sz="2000" b="0" i="1" smtClean="0">
                                  <a:latin typeface="Cambria Math"/>
                                  <a:ea typeface="Cambria Math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en-GB" sz="2000" b="0" i="1" smtClean="0">
                              <a:latin typeface="Cambria Math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8363" y="5004891"/>
                <a:ext cx="2017347" cy="709938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2925207" y="2603921"/>
                <a:ext cx="270009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/>
                        </a:rPr>
                        <m:t>𝑆𝑢𝑟𝑓𝑎𝑐𝑒</m:t>
                      </m:r>
                      <m:r>
                        <a:rPr lang="en-GB" sz="2000" b="0" i="1" smtClean="0">
                          <a:latin typeface="Cambria Math"/>
                        </a:rPr>
                        <m:t> </m:t>
                      </m:r>
                      <m:r>
                        <a:rPr lang="en-GB" sz="2000" b="0" i="1" smtClean="0">
                          <a:latin typeface="Cambria Math"/>
                        </a:rPr>
                        <m:t>𝐴𝑟𝑒𝑎</m:t>
                      </m:r>
                      <m:r>
                        <a:rPr lang="en-GB" sz="2000" b="0" i="1" smtClean="0">
                          <a:latin typeface="Cambria Math"/>
                        </a:rPr>
                        <m:t>=4</m:t>
                      </m:r>
                      <m:r>
                        <a:rPr lang="en-GB" sz="2000" b="0" i="1" smtClean="0">
                          <a:latin typeface="Cambria Math"/>
                          <a:ea typeface="Cambria Math"/>
                        </a:rPr>
                        <m:t>𝜋</m:t>
                      </m:r>
                      <m:sSup>
                        <m:sSupPr>
                          <m:ctrlPr>
                            <a:rPr lang="en-GB" sz="2000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GB" sz="2000" b="0" i="1" smtClean="0">
                              <a:latin typeface="Cambria Math"/>
                              <a:ea typeface="Cambria Math"/>
                            </a:rPr>
                            <m:t>𝑟</m:t>
                          </m:r>
                        </m:e>
                        <m:sup>
                          <m:r>
                            <a:rPr lang="en-GB" sz="2000" b="0" i="1" smtClean="0">
                              <a:latin typeface="Cambria Math"/>
                              <a:ea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5207" y="2603921"/>
                <a:ext cx="2700098" cy="400110"/>
              </a:xfrm>
              <a:prstGeom prst="rect">
                <a:avLst/>
              </a:prstGeom>
              <a:blipFill rotWithShape="1">
                <a:blip r:embed="rId5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2745934" y="3065833"/>
            <a:ext cx="29546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Comic Sans MS" pitchFamily="66" charset="0"/>
                <a:hlinkClick r:id="rId6"/>
              </a:rPr>
              <a:t>Surface Area Demonstration</a:t>
            </a:r>
            <a:endParaRPr lang="en-GB" sz="1600" dirty="0">
              <a:latin typeface="Comic Sans MS" pitchFamily="66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717265" y="6025845"/>
            <a:ext cx="21602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latin typeface="Comic Sans MS" panose="030F0702030302020204" pitchFamily="66" charset="0"/>
                <a:hlinkClick r:id="rId7"/>
              </a:rPr>
              <a:t>Volume of a sphere demonstration</a:t>
            </a:r>
            <a:endParaRPr lang="en-GB" sz="1600" dirty="0">
              <a:latin typeface="Comic Sans MS" panose="030F0702030302020204" pitchFamily="66" charset="0"/>
            </a:endParaRPr>
          </a:p>
        </p:txBody>
      </p:sp>
      <p:sp>
        <p:nvSpPr>
          <p:cNvPr id="5" name="Oval 4"/>
          <p:cNvSpPr/>
          <p:nvPr/>
        </p:nvSpPr>
        <p:spPr>
          <a:xfrm>
            <a:off x="4913194" y="4817660"/>
            <a:ext cx="2197290" cy="99628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6878470" y="4476465"/>
            <a:ext cx="199031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solidFill>
                  <a:srgbClr val="FF0000"/>
                </a:solidFill>
                <a:latin typeface="Comic Sans MS" panose="030F0702030302020204" pitchFamily="66" charset="0"/>
              </a:rPr>
              <a:t>You will usually be given this formula on exams!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" grpId="0"/>
      <p:bldP spid="12" grpId="0"/>
      <p:bldP spid="3" grpId="0"/>
      <p:bldP spid="4" grpId="0"/>
      <p:bldP spid="5" grpId="0" animBg="1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1092113" y="260873"/>
            <a:ext cx="7886700" cy="1325563"/>
          </a:xfrm>
        </p:spPr>
        <p:txBody>
          <a:bodyPr/>
          <a:lstStyle/>
          <a:p>
            <a:pPr eaLnBrk="1" hangingPunct="1"/>
            <a:r>
              <a:rPr lang="en-GB" sz="4000" dirty="0">
                <a:latin typeface="Comic Sans MS" pitchFamily="66" charset="0"/>
              </a:rPr>
              <a:t>Volume and Surface Area of a Sphere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sz="2400" dirty="0">
                <a:latin typeface="Comic Sans MS" pitchFamily="66" charset="0"/>
              </a:rPr>
              <a:t>Find the Volume of a Sphere with a radius of 3.2m</a:t>
            </a:r>
          </a:p>
        </p:txBody>
      </p:sp>
      <p:grpSp>
        <p:nvGrpSpPr>
          <p:cNvPr id="6148" name="Group 7"/>
          <p:cNvGrpSpPr>
            <a:grpSpLocks/>
          </p:cNvGrpSpPr>
          <p:nvPr/>
        </p:nvGrpSpPr>
        <p:grpSpPr bwMode="auto">
          <a:xfrm>
            <a:off x="6479763" y="3369966"/>
            <a:ext cx="1492250" cy="1489075"/>
            <a:chOff x="4302" y="1568"/>
            <a:chExt cx="940" cy="938"/>
          </a:xfrm>
        </p:grpSpPr>
        <p:sp>
          <p:nvSpPr>
            <p:cNvPr id="6153" name="Oval 4"/>
            <p:cNvSpPr>
              <a:spLocks noChangeAspect="1" noChangeArrowheads="1"/>
            </p:cNvSpPr>
            <p:nvPr/>
          </p:nvSpPr>
          <p:spPr bwMode="auto">
            <a:xfrm>
              <a:off x="4302" y="1568"/>
              <a:ext cx="938" cy="93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" name="Arc 5"/>
            <p:cNvSpPr>
              <a:spLocks/>
            </p:cNvSpPr>
            <p:nvPr/>
          </p:nvSpPr>
          <p:spPr bwMode="auto">
            <a:xfrm>
              <a:off x="4302" y="2011"/>
              <a:ext cx="938" cy="155"/>
            </a:xfrm>
            <a:custGeom>
              <a:avLst/>
              <a:gdLst>
                <a:gd name="T0" fmla="*/ 938 w 43200"/>
                <a:gd name="T1" fmla="*/ 5 h 23306"/>
                <a:gd name="T2" fmla="*/ 1 w 43200"/>
                <a:gd name="T3" fmla="*/ 0 h 23306"/>
                <a:gd name="T4" fmla="*/ 469 w 43200"/>
                <a:gd name="T5" fmla="*/ 11 h 2330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200" h="23306" fill="none" extrusionOk="0">
                  <a:moveTo>
                    <a:pt x="43180" y="797"/>
                  </a:moveTo>
                  <a:cubicBezTo>
                    <a:pt x="43193" y="1099"/>
                    <a:pt x="43200" y="1402"/>
                    <a:pt x="43200" y="1706"/>
                  </a:cubicBezTo>
                  <a:cubicBezTo>
                    <a:pt x="43200" y="13635"/>
                    <a:pt x="33529" y="23306"/>
                    <a:pt x="21600" y="23306"/>
                  </a:cubicBezTo>
                  <a:cubicBezTo>
                    <a:pt x="9670" y="23306"/>
                    <a:pt x="0" y="13635"/>
                    <a:pt x="0" y="1706"/>
                  </a:cubicBezTo>
                  <a:cubicBezTo>
                    <a:pt x="-1" y="1136"/>
                    <a:pt x="22" y="567"/>
                    <a:pt x="67" y="-1"/>
                  </a:cubicBezTo>
                </a:path>
                <a:path w="43200" h="23306" stroke="0" extrusionOk="0">
                  <a:moveTo>
                    <a:pt x="43180" y="797"/>
                  </a:moveTo>
                  <a:cubicBezTo>
                    <a:pt x="43193" y="1099"/>
                    <a:pt x="43200" y="1402"/>
                    <a:pt x="43200" y="1706"/>
                  </a:cubicBezTo>
                  <a:cubicBezTo>
                    <a:pt x="43200" y="13635"/>
                    <a:pt x="33529" y="23306"/>
                    <a:pt x="21600" y="23306"/>
                  </a:cubicBezTo>
                  <a:cubicBezTo>
                    <a:pt x="9670" y="23306"/>
                    <a:pt x="0" y="13635"/>
                    <a:pt x="0" y="1706"/>
                  </a:cubicBezTo>
                  <a:cubicBezTo>
                    <a:pt x="-1" y="1136"/>
                    <a:pt x="22" y="567"/>
                    <a:pt x="67" y="-1"/>
                  </a:cubicBezTo>
                  <a:lnTo>
                    <a:pt x="21600" y="1706"/>
                  </a:lnTo>
                  <a:lnTo>
                    <a:pt x="43180" y="797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6155" name="Arc 6"/>
            <p:cNvSpPr>
              <a:spLocks/>
            </p:cNvSpPr>
            <p:nvPr/>
          </p:nvSpPr>
          <p:spPr bwMode="auto">
            <a:xfrm flipV="1">
              <a:off x="4305" y="1880"/>
              <a:ext cx="937" cy="155"/>
            </a:xfrm>
            <a:custGeom>
              <a:avLst/>
              <a:gdLst>
                <a:gd name="T0" fmla="*/ 937 w 43149"/>
                <a:gd name="T1" fmla="*/ 21 h 23306"/>
                <a:gd name="T2" fmla="*/ 1 w 43149"/>
                <a:gd name="T3" fmla="*/ 0 h 23306"/>
                <a:gd name="T4" fmla="*/ 469 w 43149"/>
                <a:gd name="T5" fmla="*/ 11 h 2330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149" h="23306" fill="none" extrusionOk="0">
                  <a:moveTo>
                    <a:pt x="43149" y="3188"/>
                  </a:moveTo>
                  <a:cubicBezTo>
                    <a:pt x="42370" y="14515"/>
                    <a:pt x="32954" y="23305"/>
                    <a:pt x="21600" y="23306"/>
                  </a:cubicBezTo>
                  <a:cubicBezTo>
                    <a:pt x="9670" y="23306"/>
                    <a:pt x="0" y="13635"/>
                    <a:pt x="0" y="1706"/>
                  </a:cubicBezTo>
                  <a:cubicBezTo>
                    <a:pt x="-1" y="1136"/>
                    <a:pt x="22" y="567"/>
                    <a:pt x="67" y="-1"/>
                  </a:cubicBezTo>
                </a:path>
                <a:path w="43149" h="23306" stroke="0" extrusionOk="0">
                  <a:moveTo>
                    <a:pt x="43149" y="3188"/>
                  </a:moveTo>
                  <a:cubicBezTo>
                    <a:pt x="42370" y="14515"/>
                    <a:pt x="32954" y="23305"/>
                    <a:pt x="21600" y="23306"/>
                  </a:cubicBezTo>
                  <a:cubicBezTo>
                    <a:pt x="9670" y="23306"/>
                    <a:pt x="0" y="13635"/>
                    <a:pt x="0" y="1706"/>
                  </a:cubicBezTo>
                  <a:cubicBezTo>
                    <a:pt x="-1" y="1136"/>
                    <a:pt x="22" y="567"/>
                    <a:pt x="67" y="-1"/>
                  </a:cubicBezTo>
                  <a:lnTo>
                    <a:pt x="21600" y="1706"/>
                  </a:lnTo>
                  <a:lnTo>
                    <a:pt x="43149" y="3188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6149" name="Line 8"/>
          <p:cNvSpPr>
            <a:spLocks noChangeShapeType="1"/>
          </p:cNvSpPr>
          <p:nvPr/>
        </p:nvSpPr>
        <p:spPr bwMode="auto">
          <a:xfrm flipV="1">
            <a:off x="7262400" y="4090691"/>
            <a:ext cx="71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6150" name="Text Box 9"/>
          <p:cNvSpPr txBox="1">
            <a:spLocks noChangeArrowheads="1"/>
          </p:cNvSpPr>
          <p:nvPr/>
        </p:nvSpPr>
        <p:spPr bwMode="auto">
          <a:xfrm>
            <a:off x="7981538" y="3962103"/>
            <a:ext cx="70403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GB" dirty="0">
                <a:latin typeface="Comic Sans MS" pitchFamily="66" charset="0"/>
              </a:rPr>
              <a:t>3.2m</a:t>
            </a:r>
          </a:p>
        </p:txBody>
      </p:sp>
      <p:pic>
        <p:nvPicPr>
          <p:cNvPr id="6152" name="Picture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" y="120650"/>
            <a:ext cx="852488" cy="984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2914078" y="953610"/>
                <a:ext cx="2138517" cy="586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/>
                        </a:rPr>
                        <m:t>𝑉𝑜𝑙𝑢𝑚𝑒</m:t>
                      </m:r>
                      <m:r>
                        <a:rPr lang="en-GB" sz="16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/>
                            </a:rPr>
                            <m:t>4</m:t>
                          </m:r>
                          <m:r>
                            <a:rPr lang="en-GB" sz="1600" b="0" i="1" smtClean="0">
                              <a:latin typeface="Cambria Math"/>
                              <a:ea typeface="Cambria Math"/>
                            </a:rPr>
                            <m:t>𝜋</m:t>
                          </m:r>
                          <m:sSup>
                            <m:sSup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GB" sz="1600" b="0" i="1" smtClean="0">
                                  <a:latin typeface="Cambria Math"/>
                                  <a:ea typeface="Cambria Math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GB" sz="1600" b="0" i="1" smtClean="0">
                                  <a:latin typeface="Cambria Math"/>
                                  <a:ea typeface="Cambria Math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en-GB" sz="1600" b="0" i="1" smtClean="0">
                              <a:latin typeface="Cambria Math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sz="1600" dirty="0"/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4078" y="953610"/>
                <a:ext cx="2138517" cy="586443"/>
              </a:xfrm>
              <a:prstGeom prst="rect">
                <a:avLst/>
              </a:prstGeom>
              <a:blipFill>
                <a:blip r:embed="rId3"/>
                <a:stretch>
                  <a:fillRect b="-2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5793878" y="1054240"/>
                <a:ext cx="219861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/>
                        </a:rPr>
                        <m:t>𝑆𝑢𝑟𝑓𝑎𝑐𝑒</m:t>
                      </m:r>
                      <m:r>
                        <a:rPr lang="en-GB" sz="1600" b="0" i="1" smtClean="0">
                          <a:latin typeface="Cambria Math"/>
                        </a:rPr>
                        <m:t> </m:t>
                      </m:r>
                      <m:r>
                        <a:rPr lang="en-GB" sz="1600" b="0" i="1" smtClean="0">
                          <a:latin typeface="Cambria Math"/>
                        </a:rPr>
                        <m:t>𝐴𝑟𝑒𝑎</m:t>
                      </m:r>
                      <m:r>
                        <a:rPr lang="en-GB" sz="1600" b="0" i="1" smtClean="0">
                          <a:latin typeface="Cambria Math"/>
                        </a:rPr>
                        <m:t>=4</m:t>
                      </m:r>
                      <m:r>
                        <a:rPr lang="en-GB" sz="1600" b="0" i="1" smtClean="0">
                          <a:latin typeface="Cambria Math"/>
                          <a:ea typeface="Cambria Math"/>
                        </a:rPr>
                        <m:t>𝜋</m:t>
                      </m:r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/>
                              <a:ea typeface="Cambria Math"/>
                            </a:rPr>
                            <m:t>𝑟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/>
                              <a:ea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3878" y="1054240"/>
                <a:ext cx="2198614" cy="338554"/>
              </a:xfrm>
              <a:prstGeom prst="rect">
                <a:avLst/>
              </a:prstGeom>
              <a:blipFill rotWithShape="1">
                <a:blip r:embed="rId4"/>
                <a:stretch>
                  <a:fillRect b="-1272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03099" y="3009926"/>
                <a:ext cx="2138517" cy="586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/>
                        </a:rPr>
                        <m:t>𝑉𝑜𝑙𝑢𝑚𝑒</m:t>
                      </m:r>
                      <m:r>
                        <a:rPr lang="en-GB" sz="16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/>
                            </a:rPr>
                            <m:t>4</m:t>
                          </m:r>
                          <m:r>
                            <a:rPr lang="en-GB" sz="1600" b="0" i="1" smtClean="0">
                              <a:latin typeface="Cambria Math"/>
                              <a:ea typeface="Cambria Math"/>
                            </a:rPr>
                            <m:t>𝜋</m:t>
                          </m:r>
                          <m:sSup>
                            <m:sSup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GB" sz="1600" b="0" i="1" smtClean="0">
                                  <a:latin typeface="Cambria Math"/>
                                  <a:ea typeface="Cambria Math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GB" sz="1600" b="0" i="1" smtClean="0">
                                  <a:latin typeface="Cambria Math"/>
                                  <a:ea typeface="Cambria Math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en-GB" sz="1600" b="0" i="1" smtClean="0">
                              <a:latin typeface="Cambria Math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099" y="3009926"/>
                <a:ext cx="2138517" cy="586443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719123" y="3946030"/>
                <a:ext cx="2376264" cy="586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/>
                        </a:rPr>
                        <m:t>𝑉𝑜𝑙𝑢𝑚𝑒</m:t>
                      </m:r>
                      <m:r>
                        <a:rPr lang="en-GB" sz="16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/>
                            </a:rPr>
                            <m:t>4</m:t>
                          </m:r>
                          <m:r>
                            <a:rPr lang="en-GB" sz="1600" b="0" i="1" smtClean="0">
                              <a:latin typeface="Cambria Math"/>
                              <a:ea typeface="Cambria Math"/>
                            </a:rPr>
                            <m:t>×</m:t>
                          </m:r>
                          <m:r>
                            <a:rPr lang="en-GB" sz="1600" b="0" i="1" smtClean="0">
                              <a:latin typeface="Cambria Math"/>
                              <a:ea typeface="Cambria Math"/>
                            </a:rPr>
                            <m:t>𝜋</m:t>
                          </m:r>
                          <m:r>
                            <a:rPr lang="en-GB" sz="1600" b="0" i="1" smtClean="0">
                              <a:latin typeface="Cambria Math"/>
                              <a:ea typeface="Cambria Math"/>
                            </a:rPr>
                            <m:t>×</m:t>
                          </m:r>
                          <m:sSup>
                            <m:sSup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GB" sz="1600" b="0" i="1" smtClean="0">
                                  <a:latin typeface="Cambria Math"/>
                                  <a:ea typeface="Cambria Math"/>
                                </a:rPr>
                                <m:t>3.2</m:t>
                              </m:r>
                            </m:e>
                            <m:sup>
                              <m:r>
                                <a:rPr lang="en-GB" sz="1600" b="0" i="1" smtClean="0">
                                  <a:latin typeface="Cambria Math"/>
                                  <a:ea typeface="Cambria Math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en-GB" sz="1600" b="0" i="1" smtClean="0">
                              <a:latin typeface="Cambria Math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123" y="3946030"/>
                <a:ext cx="2376264" cy="586443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647115" y="5026150"/>
                <a:ext cx="237626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/>
                        </a:rPr>
                        <m:t>𝑉𝑜𝑙𝑢𝑚𝑒</m:t>
                      </m:r>
                      <m:r>
                        <a:rPr lang="en-GB" sz="1600" b="0" i="1" smtClean="0">
                          <a:latin typeface="Cambria Math"/>
                        </a:rPr>
                        <m:t>=137.26</m:t>
                      </m:r>
                      <m:r>
                        <a:rPr lang="en-GB" sz="1600" b="0" i="1" smtClean="0">
                          <a:latin typeface="Cambria Math"/>
                        </a:rPr>
                        <m:t>𝑐</m:t>
                      </m:r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/>
                            </a:rPr>
                            <m:t>𝑚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GB" sz="1600" i="1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115" y="5026150"/>
                <a:ext cx="2376264" cy="338554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Arc 2"/>
          <p:cNvSpPr/>
          <p:nvPr/>
        </p:nvSpPr>
        <p:spPr>
          <a:xfrm>
            <a:off x="2879363" y="3297958"/>
            <a:ext cx="914400" cy="914400"/>
          </a:xfrm>
          <a:prstGeom prst="arc">
            <a:avLst>
              <a:gd name="adj1" fmla="val 16200000"/>
              <a:gd name="adj2" fmla="val 5285450"/>
            </a:avLst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Arc 17"/>
          <p:cNvSpPr/>
          <p:nvPr/>
        </p:nvSpPr>
        <p:spPr>
          <a:xfrm>
            <a:off x="2879363" y="4306070"/>
            <a:ext cx="914400" cy="914400"/>
          </a:xfrm>
          <a:prstGeom prst="arc">
            <a:avLst>
              <a:gd name="adj1" fmla="val 16200000"/>
              <a:gd name="adj2" fmla="val 5285450"/>
            </a:avLst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/>
          <p:cNvSpPr txBox="1"/>
          <p:nvPr/>
        </p:nvSpPr>
        <p:spPr>
          <a:xfrm>
            <a:off x="3779912" y="3573016"/>
            <a:ext cx="18950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solidFill>
                  <a:srgbClr val="FF0000"/>
                </a:solidFill>
                <a:latin typeface="Comic Sans MS" panose="030F0702030302020204" pitchFamily="66" charset="0"/>
              </a:rPr>
              <a:t>Sub in the value of 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3459" y="4594102"/>
            <a:ext cx="9428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solidFill>
                  <a:srgbClr val="FF0000"/>
                </a:solidFill>
                <a:latin typeface="Comic Sans MS" panose="030F0702030302020204" pitchFamily="66" charset="0"/>
              </a:rPr>
              <a:t>Calculate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3" grpId="0" animBg="1"/>
      <p:bldP spid="18" grpId="0" animBg="1"/>
      <p:bldP spid="4" grpId="0"/>
      <p:bldP spid="2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4000">
                <a:latin typeface="Comic Sans MS" pitchFamily="66" charset="0"/>
              </a:rPr>
              <a:t>Volume and Surface Area of a Sphere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sz="2400">
                <a:latin typeface="Comic Sans MS" pitchFamily="66" charset="0"/>
              </a:rPr>
              <a:t>Find the Surface Area of a Sphere with a diameter of 6.5cm</a:t>
            </a:r>
          </a:p>
        </p:txBody>
      </p:sp>
      <p:grpSp>
        <p:nvGrpSpPr>
          <p:cNvPr id="7172" name="Group 4"/>
          <p:cNvGrpSpPr>
            <a:grpSpLocks/>
          </p:cNvGrpSpPr>
          <p:nvPr/>
        </p:nvGrpSpPr>
        <p:grpSpPr bwMode="auto">
          <a:xfrm>
            <a:off x="6804248" y="3284984"/>
            <a:ext cx="1492250" cy="1489075"/>
            <a:chOff x="4302" y="1568"/>
            <a:chExt cx="940" cy="938"/>
          </a:xfrm>
        </p:grpSpPr>
        <p:sp>
          <p:nvSpPr>
            <p:cNvPr id="7177" name="Oval 5"/>
            <p:cNvSpPr>
              <a:spLocks noChangeAspect="1" noChangeArrowheads="1"/>
            </p:cNvSpPr>
            <p:nvPr/>
          </p:nvSpPr>
          <p:spPr bwMode="auto">
            <a:xfrm>
              <a:off x="4302" y="1568"/>
              <a:ext cx="938" cy="93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" name="Arc 6"/>
            <p:cNvSpPr>
              <a:spLocks/>
            </p:cNvSpPr>
            <p:nvPr/>
          </p:nvSpPr>
          <p:spPr bwMode="auto">
            <a:xfrm>
              <a:off x="4302" y="2011"/>
              <a:ext cx="938" cy="155"/>
            </a:xfrm>
            <a:custGeom>
              <a:avLst/>
              <a:gdLst>
                <a:gd name="T0" fmla="*/ 938 w 43200"/>
                <a:gd name="T1" fmla="*/ 5 h 23306"/>
                <a:gd name="T2" fmla="*/ 1 w 43200"/>
                <a:gd name="T3" fmla="*/ 0 h 23306"/>
                <a:gd name="T4" fmla="*/ 469 w 43200"/>
                <a:gd name="T5" fmla="*/ 11 h 2330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200" h="23306" fill="none" extrusionOk="0">
                  <a:moveTo>
                    <a:pt x="43180" y="797"/>
                  </a:moveTo>
                  <a:cubicBezTo>
                    <a:pt x="43193" y="1099"/>
                    <a:pt x="43200" y="1402"/>
                    <a:pt x="43200" y="1706"/>
                  </a:cubicBezTo>
                  <a:cubicBezTo>
                    <a:pt x="43200" y="13635"/>
                    <a:pt x="33529" y="23306"/>
                    <a:pt x="21600" y="23306"/>
                  </a:cubicBezTo>
                  <a:cubicBezTo>
                    <a:pt x="9670" y="23306"/>
                    <a:pt x="0" y="13635"/>
                    <a:pt x="0" y="1706"/>
                  </a:cubicBezTo>
                  <a:cubicBezTo>
                    <a:pt x="-1" y="1136"/>
                    <a:pt x="22" y="567"/>
                    <a:pt x="67" y="-1"/>
                  </a:cubicBezTo>
                </a:path>
                <a:path w="43200" h="23306" stroke="0" extrusionOk="0">
                  <a:moveTo>
                    <a:pt x="43180" y="797"/>
                  </a:moveTo>
                  <a:cubicBezTo>
                    <a:pt x="43193" y="1099"/>
                    <a:pt x="43200" y="1402"/>
                    <a:pt x="43200" y="1706"/>
                  </a:cubicBezTo>
                  <a:cubicBezTo>
                    <a:pt x="43200" y="13635"/>
                    <a:pt x="33529" y="23306"/>
                    <a:pt x="21600" y="23306"/>
                  </a:cubicBezTo>
                  <a:cubicBezTo>
                    <a:pt x="9670" y="23306"/>
                    <a:pt x="0" y="13635"/>
                    <a:pt x="0" y="1706"/>
                  </a:cubicBezTo>
                  <a:cubicBezTo>
                    <a:pt x="-1" y="1136"/>
                    <a:pt x="22" y="567"/>
                    <a:pt x="67" y="-1"/>
                  </a:cubicBezTo>
                  <a:lnTo>
                    <a:pt x="21600" y="1706"/>
                  </a:lnTo>
                  <a:lnTo>
                    <a:pt x="43180" y="797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179" name="Arc 7"/>
            <p:cNvSpPr>
              <a:spLocks/>
            </p:cNvSpPr>
            <p:nvPr/>
          </p:nvSpPr>
          <p:spPr bwMode="auto">
            <a:xfrm flipV="1">
              <a:off x="4305" y="1880"/>
              <a:ext cx="937" cy="155"/>
            </a:xfrm>
            <a:custGeom>
              <a:avLst/>
              <a:gdLst>
                <a:gd name="T0" fmla="*/ 937 w 43149"/>
                <a:gd name="T1" fmla="*/ 21 h 23306"/>
                <a:gd name="T2" fmla="*/ 1 w 43149"/>
                <a:gd name="T3" fmla="*/ 0 h 23306"/>
                <a:gd name="T4" fmla="*/ 469 w 43149"/>
                <a:gd name="T5" fmla="*/ 11 h 2330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149" h="23306" fill="none" extrusionOk="0">
                  <a:moveTo>
                    <a:pt x="43149" y="3188"/>
                  </a:moveTo>
                  <a:cubicBezTo>
                    <a:pt x="42370" y="14515"/>
                    <a:pt x="32954" y="23305"/>
                    <a:pt x="21600" y="23306"/>
                  </a:cubicBezTo>
                  <a:cubicBezTo>
                    <a:pt x="9670" y="23306"/>
                    <a:pt x="0" y="13635"/>
                    <a:pt x="0" y="1706"/>
                  </a:cubicBezTo>
                  <a:cubicBezTo>
                    <a:pt x="-1" y="1136"/>
                    <a:pt x="22" y="567"/>
                    <a:pt x="67" y="-1"/>
                  </a:cubicBezTo>
                </a:path>
                <a:path w="43149" h="23306" stroke="0" extrusionOk="0">
                  <a:moveTo>
                    <a:pt x="43149" y="3188"/>
                  </a:moveTo>
                  <a:cubicBezTo>
                    <a:pt x="42370" y="14515"/>
                    <a:pt x="32954" y="23305"/>
                    <a:pt x="21600" y="23306"/>
                  </a:cubicBezTo>
                  <a:cubicBezTo>
                    <a:pt x="9670" y="23306"/>
                    <a:pt x="0" y="13635"/>
                    <a:pt x="0" y="1706"/>
                  </a:cubicBezTo>
                  <a:cubicBezTo>
                    <a:pt x="-1" y="1136"/>
                    <a:pt x="22" y="567"/>
                    <a:pt x="67" y="-1"/>
                  </a:cubicBezTo>
                  <a:lnTo>
                    <a:pt x="21600" y="1706"/>
                  </a:lnTo>
                  <a:lnTo>
                    <a:pt x="43149" y="3188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7173" name="Line 8"/>
          <p:cNvSpPr>
            <a:spLocks noChangeShapeType="1"/>
          </p:cNvSpPr>
          <p:nvPr/>
        </p:nvSpPr>
        <p:spPr bwMode="auto">
          <a:xfrm flipV="1">
            <a:off x="6815360" y="4005709"/>
            <a:ext cx="14827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7174" name="Text Box 9"/>
          <p:cNvSpPr txBox="1">
            <a:spLocks noChangeArrowheads="1"/>
          </p:cNvSpPr>
          <p:nvPr/>
        </p:nvSpPr>
        <p:spPr bwMode="auto">
          <a:xfrm>
            <a:off x="7218995" y="3732659"/>
            <a:ext cx="82266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GB" dirty="0">
                <a:latin typeface="Comic Sans MS" pitchFamily="66" charset="0"/>
              </a:rPr>
              <a:t>6.5cm</a:t>
            </a:r>
          </a:p>
        </p:txBody>
      </p:sp>
      <p:pic>
        <p:nvPicPr>
          <p:cNvPr id="7176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1175" y="109538"/>
            <a:ext cx="896938" cy="1241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2878602" y="920591"/>
                <a:ext cx="2138517" cy="586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/>
                        </a:rPr>
                        <m:t>𝑉𝑜𝑙𝑢𝑚𝑒</m:t>
                      </m:r>
                      <m:r>
                        <a:rPr lang="en-GB" sz="16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/>
                            </a:rPr>
                            <m:t>4</m:t>
                          </m:r>
                          <m:r>
                            <a:rPr lang="en-GB" sz="1600" b="0" i="1" smtClean="0">
                              <a:latin typeface="Cambria Math"/>
                              <a:ea typeface="Cambria Math"/>
                            </a:rPr>
                            <m:t>𝜋</m:t>
                          </m:r>
                          <m:sSup>
                            <m:sSup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GB" sz="1600" b="0" i="1" smtClean="0">
                                  <a:latin typeface="Cambria Math"/>
                                  <a:ea typeface="Cambria Math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GB" sz="1600" b="0" i="1" smtClean="0">
                                  <a:latin typeface="Cambria Math"/>
                                  <a:ea typeface="Cambria Math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en-GB" sz="1600" b="0" i="1" smtClean="0">
                              <a:latin typeface="Cambria Math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sz="1600" dirty="0"/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8602" y="920591"/>
                <a:ext cx="2138517" cy="586443"/>
              </a:xfrm>
              <a:prstGeom prst="rect">
                <a:avLst/>
              </a:prstGeom>
              <a:blipFill>
                <a:blip r:embed="rId3"/>
                <a:stretch>
                  <a:fillRect b="-2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5793878" y="1054240"/>
                <a:ext cx="219861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/>
                        </a:rPr>
                        <m:t>𝑆𝑢𝑟𝑓𝑎𝑐𝑒</m:t>
                      </m:r>
                      <m:r>
                        <a:rPr lang="en-GB" sz="1600" b="0" i="1" smtClean="0">
                          <a:latin typeface="Cambria Math"/>
                        </a:rPr>
                        <m:t> </m:t>
                      </m:r>
                      <m:r>
                        <a:rPr lang="en-GB" sz="1600" b="0" i="1" smtClean="0">
                          <a:latin typeface="Cambria Math"/>
                        </a:rPr>
                        <m:t>𝐴𝑟𝑒𝑎</m:t>
                      </m:r>
                      <m:r>
                        <a:rPr lang="en-GB" sz="1600" b="0" i="1" smtClean="0">
                          <a:latin typeface="Cambria Math"/>
                        </a:rPr>
                        <m:t>=4</m:t>
                      </m:r>
                      <m:r>
                        <a:rPr lang="en-GB" sz="1600" b="0" i="1" smtClean="0">
                          <a:latin typeface="Cambria Math"/>
                          <a:ea typeface="Cambria Math"/>
                        </a:rPr>
                        <m:t>𝜋</m:t>
                      </m:r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/>
                              <a:ea typeface="Cambria Math"/>
                            </a:rPr>
                            <m:t>𝑟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/>
                              <a:ea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3878" y="1054240"/>
                <a:ext cx="2198614" cy="338554"/>
              </a:xfrm>
              <a:prstGeom prst="rect">
                <a:avLst/>
              </a:prstGeom>
              <a:blipFill rotWithShape="1">
                <a:blip r:embed="rId4"/>
                <a:stretch>
                  <a:fillRect b="-1272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Arc 16"/>
          <p:cNvSpPr/>
          <p:nvPr/>
        </p:nvSpPr>
        <p:spPr>
          <a:xfrm>
            <a:off x="2879363" y="3441974"/>
            <a:ext cx="914400" cy="914400"/>
          </a:xfrm>
          <a:prstGeom prst="arc">
            <a:avLst>
              <a:gd name="adj1" fmla="val 16200000"/>
              <a:gd name="adj2" fmla="val 5285450"/>
            </a:avLst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Arc 17"/>
          <p:cNvSpPr/>
          <p:nvPr/>
        </p:nvSpPr>
        <p:spPr>
          <a:xfrm>
            <a:off x="2879363" y="4450086"/>
            <a:ext cx="914400" cy="914400"/>
          </a:xfrm>
          <a:prstGeom prst="arc">
            <a:avLst>
              <a:gd name="adj1" fmla="val 16200000"/>
              <a:gd name="adj2" fmla="val 5285450"/>
            </a:avLst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/>
          <p:cNvSpPr txBox="1"/>
          <p:nvPr/>
        </p:nvSpPr>
        <p:spPr>
          <a:xfrm>
            <a:off x="3779912" y="3717032"/>
            <a:ext cx="18950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solidFill>
                  <a:srgbClr val="FF0000"/>
                </a:solidFill>
                <a:latin typeface="Comic Sans MS" panose="030F0702030302020204" pitchFamily="66" charset="0"/>
              </a:rPr>
              <a:t>Sub in the value of 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3459" y="4738118"/>
            <a:ext cx="9428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solidFill>
                  <a:srgbClr val="FF0000"/>
                </a:solidFill>
                <a:latin typeface="Comic Sans MS" panose="030F0702030302020204" pitchFamily="66" charset="0"/>
              </a:rPr>
              <a:t>Calculate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408" y="4877494"/>
            <a:ext cx="15311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latin typeface="Comic Sans MS" panose="030F0702030302020204" pitchFamily="66" charset="0"/>
              </a:rPr>
              <a:t>Radius = 3,25cm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431091" y="3297958"/>
                <a:ext cx="219861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/>
                        </a:rPr>
                        <m:t>𝑆𝑢𝑟𝑓𝑎𝑐𝑒</m:t>
                      </m:r>
                      <m:r>
                        <a:rPr lang="en-GB" sz="1600" b="0" i="1" smtClean="0">
                          <a:latin typeface="Cambria Math"/>
                        </a:rPr>
                        <m:t> </m:t>
                      </m:r>
                      <m:r>
                        <a:rPr lang="en-GB" sz="1600" b="0" i="1" smtClean="0">
                          <a:latin typeface="Cambria Math"/>
                        </a:rPr>
                        <m:t>𝐴𝑟𝑒𝑎</m:t>
                      </m:r>
                      <m:r>
                        <a:rPr lang="en-GB" sz="1600" b="0" i="1" smtClean="0">
                          <a:latin typeface="Cambria Math"/>
                        </a:rPr>
                        <m:t>=4</m:t>
                      </m:r>
                      <m:r>
                        <a:rPr lang="en-GB" sz="1600" b="0" i="1" smtClean="0">
                          <a:latin typeface="Cambria Math"/>
                          <a:ea typeface="Cambria Math"/>
                        </a:rPr>
                        <m:t>𝜋</m:t>
                      </m:r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/>
                              <a:ea typeface="Cambria Math"/>
                            </a:rPr>
                            <m:t>𝑟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/>
                              <a:ea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091" y="3297958"/>
                <a:ext cx="2198614" cy="338554"/>
              </a:xfrm>
              <a:prstGeom prst="rect">
                <a:avLst/>
              </a:prstGeom>
              <a:blipFill rotWithShape="1">
                <a:blip r:embed="rId5"/>
                <a:stretch>
                  <a:fillRect b="-1071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431091" y="4234062"/>
                <a:ext cx="294805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/>
                        </a:rPr>
                        <m:t>𝑆𝑢𝑟𝑓𝑎𝑐𝑒</m:t>
                      </m:r>
                      <m:r>
                        <a:rPr lang="en-GB" sz="1600" b="0" i="1" smtClean="0">
                          <a:latin typeface="Cambria Math"/>
                        </a:rPr>
                        <m:t> </m:t>
                      </m:r>
                      <m:r>
                        <a:rPr lang="en-GB" sz="1600" b="0" i="1" smtClean="0">
                          <a:latin typeface="Cambria Math"/>
                        </a:rPr>
                        <m:t>𝐴𝑟𝑒𝑎</m:t>
                      </m:r>
                      <m:r>
                        <a:rPr lang="en-GB" sz="1600" b="0" i="1" smtClean="0">
                          <a:latin typeface="Cambria Math"/>
                        </a:rPr>
                        <m:t>=4×</m:t>
                      </m:r>
                      <m:r>
                        <a:rPr lang="en-GB" sz="1600" b="0" i="1" smtClean="0">
                          <a:latin typeface="Cambria Math"/>
                          <a:ea typeface="Cambria Math"/>
                        </a:rPr>
                        <m:t>𝜋</m:t>
                      </m:r>
                      <m:r>
                        <a:rPr lang="en-GB" sz="1600" b="0" i="1" smtClean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/>
                              <a:ea typeface="Cambria Math"/>
                            </a:rPr>
                            <m:t>3.25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/>
                              <a:ea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091" y="4234062"/>
                <a:ext cx="2948051" cy="338554"/>
              </a:xfrm>
              <a:prstGeom prst="rect">
                <a:avLst/>
              </a:prstGeom>
              <a:blipFill rotWithShape="1">
                <a:blip r:embed="rId6"/>
                <a:stretch>
                  <a:fillRect b="-1272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431091" y="5170166"/>
                <a:ext cx="273767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/>
                        </a:rPr>
                        <m:t>𝑆𝑢𝑟𝑓𝑎𝑐𝑒</m:t>
                      </m:r>
                      <m:r>
                        <a:rPr lang="en-GB" sz="1600" b="0" i="1" smtClean="0">
                          <a:latin typeface="Cambria Math"/>
                        </a:rPr>
                        <m:t> </m:t>
                      </m:r>
                      <m:r>
                        <a:rPr lang="en-GB" sz="1600" b="0" i="1" smtClean="0">
                          <a:latin typeface="Cambria Math"/>
                        </a:rPr>
                        <m:t>𝐴𝑟𝑒𝑎</m:t>
                      </m:r>
                      <m:r>
                        <a:rPr lang="en-GB" sz="1600" b="0" i="1" smtClean="0">
                          <a:latin typeface="Cambria Math"/>
                        </a:rPr>
                        <m:t>=132.73</m:t>
                      </m:r>
                      <m:r>
                        <a:rPr lang="en-GB" sz="1600" b="0" i="1" smtClean="0">
                          <a:latin typeface="Cambria Math"/>
                        </a:rPr>
                        <m:t>𝑐</m:t>
                      </m:r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/>
                            </a:rPr>
                            <m:t>𝑚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091" y="5170166"/>
                <a:ext cx="2737673" cy="338554"/>
              </a:xfrm>
              <a:prstGeom prst="rect">
                <a:avLst/>
              </a:prstGeom>
              <a:blipFill rotWithShape="1">
                <a:blip r:embed="rId7"/>
                <a:stretch>
                  <a:fillRect b="-1071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/>
      <p:bldP spid="20" grpId="0"/>
      <p:bldP spid="21" grpId="0"/>
      <p:bldP spid="22" grpId="0"/>
      <p:bldP spid="23" grpId="0"/>
      <p:bldP spid="2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4000">
                <a:latin typeface="Comic Sans MS" pitchFamily="66" charset="0"/>
              </a:rPr>
              <a:t>Volume and Surface Area of a Sphere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sz="2400">
                <a:latin typeface="Comic Sans MS" pitchFamily="66" charset="0"/>
              </a:rPr>
              <a:t>What is the Volume and Surface Area of this hemisphere?</a:t>
            </a:r>
          </a:p>
        </p:txBody>
      </p:sp>
      <p:sp>
        <p:nvSpPr>
          <p:cNvPr id="8196" name="Arc 6"/>
          <p:cNvSpPr>
            <a:spLocks/>
          </p:cNvSpPr>
          <p:nvPr/>
        </p:nvSpPr>
        <p:spPr bwMode="auto">
          <a:xfrm>
            <a:off x="6882606" y="3940051"/>
            <a:ext cx="1489075" cy="246063"/>
          </a:xfrm>
          <a:custGeom>
            <a:avLst/>
            <a:gdLst>
              <a:gd name="T0" fmla="*/ 1488420 w 43200"/>
              <a:gd name="T1" fmla="*/ 8415 h 23306"/>
              <a:gd name="T2" fmla="*/ 2344 w 43200"/>
              <a:gd name="T3" fmla="*/ 0 h 23306"/>
              <a:gd name="T4" fmla="*/ 744538 w 43200"/>
              <a:gd name="T5" fmla="*/ 18012 h 2330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00" h="23306" fill="none" extrusionOk="0">
                <a:moveTo>
                  <a:pt x="43180" y="797"/>
                </a:moveTo>
                <a:cubicBezTo>
                  <a:pt x="43193" y="1099"/>
                  <a:pt x="43200" y="1402"/>
                  <a:pt x="43200" y="1706"/>
                </a:cubicBezTo>
                <a:cubicBezTo>
                  <a:pt x="43200" y="13635"/>
                  <a:pt x="33529" y="23306"/>
                  <a:pt x="21600" y="23306"/>
                </a:cubicBezTo>
                <a:cubicBezTo>
                  <a:pt x="9670" y="23306"/>
                  <a:pt x="0" y="13635"/>
                  <a:pt x="0" y="1706"/>
                </a:cubicBezTo>
                <a:cubicBezTo>
                  <a:pt x="-1" y="1136"/>
                  <a:pt x="22" y="567"/>
                  <a:pt x="67" y="-1"/>
                </a:cubicBezTo>
              </a:path>
              <a:path w="43200" h="23306" stroke="0" extrusionOk="0">
                <a:moveTo>
                  <a:pt x="43180" y="797"/>
                </a:moveTo>
                <a:cubicBezTo>
                  <a:pt x="43193" y="1099"/>
                  <a:pt x="43200" y="1402"/>
                  <a:pt x="43200" y="1706"/>
                </a:cubicBezTo>
                <a:cubicBezTo>
                  <a:pt x="43200" y="13635"/>
                  <a:pt x="33529" y="23306"/>
                  <a:pt x="21600" y="23306"/>
                </a:cubicBezTo>
                <a:cubicBezTo>
                  <a:pt x="9670" y="23306"/>
                  <a:pt x="0" y="13635"/>
                  <a:pt x="0" y="1706"/>
                </a:cubicBezTo>
                <a:cubicBezTo>
                  <a:pt x="-1" y="1136"/>
                  <a:pt x="22" y="567"/>
                  <a:pt x="67" y="-1"/>
                </a:cubicBezTo>
                <a:lnTo>
                  <a:pt x="21600" y="1706"/>
                </a:lnTo>
                <a:lnTo>
                  <a:pt x="43180" y="797"/>
                </a:lnTo>
                <a:close/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8197" name="Arc 7"/>
          <p:cNvSpPr>
            <a:spLocks/>
          </p:cNvSpPr>
          <p:nvPr/>
        </p:nvSpPr>
        <p:spPr bwMode="auto">
          <a:xfrm flipV="1">
            <a:off x="6887368" y="3732089"/>
            <a:ext cx="1487488" cy="246062"/>
          </a:xfrm>
          <a:custGeom>
            <a:avLst/>
            <a:gdLst>
              <a:gd name="T0" fmla="*/ 1487488 w 43149"/>
              <a:gd name="T1" fmla="*/ 33659 h 23306"/>
              <a:gd name="T2" fmla="*/ 2344 w 43149"/>
              <a:gd name="T3" fmla="*/ 0 h 23306"/>
              <a:gd name="T4" fmla="*/ 744623 w 43149"/>
              <a:gd name="T5" fmla="*/ 18012 h 2330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149" h="23306" fill="none" extrusionOk="0">
                <a:moveTo>
                  <a:pt x="43149" y="3188"/>
                </a:moveTo>
                <a:cubicBezTo>
                  <a:pt x="42370" y="14515"/>
                  <a:pt x="32954" y="23305"/>
                  <a:pt x="21600" y="23306"/>
                </a:cubicBezTo>
                <a:cubicBezTo>
                  <a:pt x="9670" y="23306"/>
                  <a:pt x="0" y="13635"/>
                  <a:pt x="0" y="1706"/>
                </a:cubicBezTo>
                <a:cubicBezTo>
                  <a:pt x="-1" y="1136"/>
                  <a:pt x="22" y="567"/>
                  <a:pt x="67" y="-1"/>
                </a:cubicBezTo>
              </a:path>
              <a:path w="43149" h="23306" stroke="0" extrusionOk="0">
                <a:moveTo>
                  <a:pt x="43149" y="3188"/>
                </a:moveTo>
                <a:cubicBezTo>
                  <a:pt x="42370" y="14515"/>
                  <a:pt x="32954" y="23305"/>
                  <a:pt x="21600" y="23306"/>
                </a:cubicBezTo>
                <a:cubicBezTo>
                  <a:pt x="9670" y="23306"/>
                  <a:pt x="0" y="13635"/>
                  <a:pt x="0" y="1706"/>
                </a:cubicBezTo>
                <a:cubicBezTo>
                  <a:pt x="-1" y="1136"/>
                  <a:pt x="22" y="567"/>
                  <a:pt x="67" y="-1"/>
                </a:cubicBezTo>
                <a:lnTo>
                  <a:pt x="21600" y="1706"/>
                </a:lnTo>
                <a:lnTo>
                  <a:pt x="43149" y="3188"/>
                </a:lnTo>
                <a:close/>
              </a:path>
            </a:pathLst>
          </a:cu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8198" name="Line 8"/>
          <p:cNvSpPr>
            <a:spLocks noChangeShapeType="1"/>
          </p:cNvSpPr>
          <p:nvPr/>
        </p:nvSpPr>
        <p:spPr bwMode="auto">
          <a:xfrm flipV="1">
            <a:off x="7655718" y="3957514"/>
            <a:ext cx="7207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8199" name="Text Box 9"/>
          <p:cNvSpPr txBox="1">
            <a:spLocks noChangeArrowheads="1"/>
          </p:cNvSpPr>
          <p:nvPr/>
        </p:nvSpPr>
        <p:spPr bwMode="auto">
          <a:xfrm>
            <a:off x="7750826" y="4170500"/>
            <a:ext cx="7794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GB" dirty="0">
                <a:latin typeface="Comic Sans MS" pitchFamily="66" charset="0"/>
              </a:rPr>
              <a:t>2.1cm</a:t>
            </a:r>
          </a:p>
        </p:txBody>
      </p:sp>
      <p:sp>
        <p:nvSpPr>
          <p:cNvPr id="8201" name="Arc 11"/>
          <p:cNvSpPr>
            <a:spLocks noChangeAspect="1"/>
          </p:cNvSpPr>
          <p:nvPr/>
        </p:nvSpPr>
        <p:spPr bwMode="auto">
          <a:xfrm>
            <a:off x="6876256" y="3212976"/>
            <a:ext cx="1492250" cy="754063"/>
          </a:xfrm>
          <a:custGeom>
            <a:avLst/>
            <a:gdLst>
              <a:gd name="T0" fmla="*/ 35 w 43185"/>
              <a:gd name="T1" fmla="*/ 754063 h 21846"/>
              <a:gd name="T2" fmla="*/ 1492250 w 43185"/>
              <a:gd name="T3" fmla="*/ 717371 h 21846"/>
              <a:gd name="T4" fmla="*/ 746384 w 43185"/>
              <a:gd name="T5" fmla="*/ 745572 h 2184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185" h="21846" fill="none" extrusionOk="0">
                <a:moveTo>
                  <a:pt x="1" y="21845"/>
                </a:moveTo>
                <a:cubicBezTo>
                  <a:pt x="0" y="21764"/>
                  <a:pt x="0" y="21682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211" y="-1"/>
                  <a:pt x="42745" y="9179"/>
                  <a:pt x="43184" y="20783"/>
                </a:cubicBezTo>
              </a:path>
              <a:path w="43185" h="21846" stroke="0" extrusionOk="0">
                <a:moveTo>
                  <a:pt x="1" y="21845"/>
                </a:moveTo>
                <a:cubicBezTo>
                  <a:pt x="0" y="21764"/>
                  <a:pt x="0" y="21682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211" y="-1"/>
                  <a:pt x="42745" y="9179"/>
                  <a:pt x="43184" y="20783"/>
                </a:cubicBezTo>
                <a:lnTo>
                  <a:pt x="21600" y="21600"/>
                </a:lnTo>
                <a:lnTo>
                  <a:pt x="1" y="21845"/>
                </a:lnTo>
                <a:close/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pic>
        <p:nvPicPr>
          <p:cNvPr id="2" name="Picture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1175" y="109538"/>
            <a:ext cx="896938" cy="1241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2926677" y="1028347"/>
                <a:ext cx="2138517" cy="586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/>
                        </a:rPr>
                        <m:t>𝑉𝑜𝑙𝑢𝑚𝑒</m:t>
                      </m:r>
                      <m:r>
                        <a:rPr lang="en-GB" sz="16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/>
                            </a:rPr>
                            <m:t>4</m:t>
                          </m:r>
                          <m:r>
                            <a:rPr lang="en-GB" sz="1600" b="0" i="1" smtClean="0">
                              <a:latin typeface="Cambria Math"/>
                              <a:ea typeface="Cambria Math"/>
                            </a:rPr>
                            <m:t>𝜋</m:t>
                          </m:r>
                          <m:sSup>
                            <m:sSup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GB" sz="1600" b="0" i="1" smtClean="0">
                                  <a:latin typeface="Cambria Math"/>
                                  <a:ea typeface="Cambria Math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GB" sz="1600" b="0" i="1" smtClean="0">
                                  <a:latin typeface="Cambria Math"/>
                                  <a:ea typeface="Cambria Math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en-GB" sz="1600" b="0" i="1" smtClean="0">
                              <a:latin typeface="Cambria Math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sz="1600" dirty="0"/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6677" y="1028347"/>
                <a:ext cx="2138517" cy="586443"/>
              </a:xfrm>
              <a:prstGeom prst="rect">
                <a:avLst/>
              </a:prstGeom>
              <a:blipFill>
                <a:blip r:embed="rId3"/>
                <a:stretch>
                  <a:fillRect b="-2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5793878" y="1054240"/>
                <a:ext cx="219861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/>
                        </a:rPr>
                        <m:t>𝑆𝑢𝑟𝑓𝑎𝑐𝑒</m:t>
                      </m:r>
                      <m:r>
                        <a:rPr lang="en-GB" sz="1600" b="0" i="1" smtClean="0">
                          <a:latin typeface="Cambria Math"/>
                        </a:rPr>
                        <m:t> </m:t>
                      </m:r>
                      <m:r>
                        <a:rPr lang="en-GB" sz="1600" b="0" i="1" smtClean="0">
                          <a:latin typeface="Cambria Math"/>
                        </a:rPr>
                        <m:t>𝐴𝑟𝑒𝑎</m:t>
                      </m:r>
                      <m:r>
                        <a:rPr lang="en-GB" sz="1600" b="0" i="1" smtClean="0">
                          <a:latin typeface="Cambria Math"/>
                        </a:rPr>
                        <m:t>=4</m:t>
                      </m:r>
                      <m:r>
                        <a:rPr lang="en-GB" sz="1600" b="0" i="1" smtClean="0">
                          <a:latin typeface="Cambria Math"/>
                          <a:ea typeface="Cambria Math"/>
                        </a:rPr>
                        <m:t>𝜋</m:t>
                      </m:r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/>
                              <a:ea typeface="Cambria Math"/>
                            </a:rPr>
                            <m:t>𝑟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/>
                              <a:ea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3878" y="1054240"/>
                <a:ext cx="2198614" cy="338554"/>
              </a:xfrm>
              <a:prstGeom prst="rect">
                <a:avLst/>
              </a:prstGeom>
              <a:blipFill rotWithShape="1">
                <a:blip r:embed="rId4"/>
                <a:stretch>
                  <a:fillRect b="-1272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1259632" y="2780928"/>
                <a:ext cx="2138517" cy="586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/>
                        </a:rPr>
                        <m:t>𝑉𝑜𝑙𝑢𝑚𝑒</m:t>
                      </m:r>
                      <m:r>
                        <a:rPr lang="en-GB" sz="16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/>
                            </a:rPr>
                            <m:t>4</m:t>
                          </m:r>
                          <m:r>
                            <a:rPr lang="en-GB" sz="1600" b="0" i="1" smtClean="0">
                              <a:latin typeface="Cambria Math"/>
                              <a:ea typeface="Cambria Math"/>
                            </a:rPr>
                            <m:t>𝜋</m:t>
                          </m:r>
                          <m:sSup>
                            <m:sSup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GB" sz="1600" b="0" i="1" smtClean="0">
                                  <a:latin typeface="Cambria Math"/>
                                  <a:ea typeface="Cambria Math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GB" sz="1600" b="0" i="1" smtClean="0">
                                  <a:latin typeface="Cambria Math"/>
                                  <a:ea typeface="Cambria Math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en-GB" sz="1600" b="0" i="1" smtClean="0">
                              <a:latin typeface="Cambria Math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9632" y="2780928"/>
                <a:ext cx="2138517" cy="586443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1403648" y="3501008"/>
                <a:ext cx="2520280" cy="586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/>
                        </a:rPr>
                        <m:t>𝑉𝑜𝑙𝑢𝑚𝑒</m:t>
                      </m:r>
                      <m:r>
                        <a:rPr lang="en-GB" sz="16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/>
                            </a:rPr>
                            <m:t>4</m:t>
                          </m:r>
                          <m:r>
                            <a:rPr lang="en-GB" sz="1600" b="0" i="1" smtClean="0">
                              <a:latin typeface="Cambria Math"/>
                              <a:ea typeface="Cambria Math"/>
                            </a:rPr>
                            <m:t>×</m:t>
                          </m:r>
                          <m:r>
                            <a:rPr lang="en-GB" sz="1600" b="0" i="1" smtClean="0">
                              <a:latin typeface="Cambria Math"/>
                              <a:ea typeface="Cambria Math"/>
                            </a:rPr>
                            <m:t>𝜋</m:t>
                          </m:r>
                          <m:r>
                            <a:rPr lang="en-GB" sz="1600" b="0" i="1" smtClean="0">
                              <a:latin typeface="Cambria Math"/>
                              <a:ea typeface="Cambria Math"/>
                            </a:rPr>
                            <m:t>×</m:t>
                          </m:r>
                          <m:sSup>
                            <m:sSup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GB" sz="1600" b="0" i="1" smtClean="0">
                                  <a:latin typeface="Cambria Math"/>
                                  <a:ea typeface="Cambria Math"/>
                                </a:rPr>
                                <m:t>2.1</m:t>
                              </m:r>
                            </m:e>
                            <m:sup>
                              <m:r>
                                <a:rPr lang="en-GB" sz="1600" b="0" i="1" smtClean="0">
                                  <a:latin typeface="Cambria Math"/>
                                  <a:ea typeface="Cambria Math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en-GB" sz="1600" b="0" i="1" smtClean="0">
                              <a:latin typeface="Cambria Math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3648" y="3501008"/>
                <a:ext cx="2520280" cy="586443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1403648" y="4365104"/>
                <a:ext cx="230425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/>
                        </a:rPr>
                        <m:t>𝑉𝑜𝑙𝑢𝑚𝑒</m:t>
                      </m:r>
                      <m:r>
                        <a:rPr lang="en-GB" sz="1600" b="0" i="1" smtClean="0">
                          <a:latin typeface="Cambria Math"/>
                        </a:rPr>
                        <m:t>=38.79</m:t>
                      </m:r>
                      <m:r>
                        <a:rPr lang="en-GB" sz="1600" b="0" i="1" smtClean="0">
                          <a:latin typeface="Cambria Math"/>
                        </a:rPr>
                        <m:t>𝑐</m:t>
                      </m:r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/>
                            </a:rPr>
                            <m:t>𝑚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3648" y="4365104"/>
                <a:ext cx="2304256" cy="338554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Arc 20"/>
          <p:cNvSpPr/>
          <p:nvPr/>
        </p:nvSpPr>
        <p:spPr>
          <a:xfrm>
            <a:off x="3275856" y="3140968"/>
            <a:ext cx="864096" cy="720080"/>
          </a:xfrm>
          <a:prstGeom prst="arc">
            <a:avLst>
              <a:gd name="adj1" fmla="val 16200000"/>
              <a:gd name="adj2" fmla="val 5285450"/>
            </a:avLst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TextBox 21"/>
          <p:cNvSpPr txBox="1"/>
          <p:nvPr/>
        </p:nvSpPr>
        <p:spPr>
          <a:xfrm>
            <a:off x="4067944" y="3212976"/>
            <a:ext cx="6480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solidFill>
                  <a:srgbClr val="FF0000"/>
                </a:solidFill>
                <a:latin typeface="Comic Sans MS" panose="030F0702030302020204" pitchFamily="66" charset="0"/>
              </a:rPr>
              <a:t>Sub in 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67944" y="4077072"/>
            <a:ext cx="9361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solidFill>
                  <a:srgbClr val="FF0000"/>
                </a:solidFill>
                <a:latin typeface="Comic Sans MS" panose="030F0702030302020204" pitchFamily="66" charset="0"/>
              </a:rPr>
              <a:t>Calculate</a:t>
            </a:r>
          </a:p>
        </p:txBody>
      </p:sp>
      <p:sp>
        <p:nvSpPr>
          <p:cNvPr id="24" name="Arc 23"/>
          <p:cNvSpPr/>
          <p:nvPr/>
        </p:nvSpPr>
        <p:spPr>
          <a:xfrm>
            <a:off x="3275856" y="3861048"/>
            <a:ext cx="864096" cy="720080"/>
          </a:xfrm>
          <a:prstGeom prst="arc">
            <a:avLst>
              <a:gd name="adj1" fmla="val 16200000"/>
              <a:gd name="adj2" fmla="val 5285450"/>
            </a:avLst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TextBox 24"/>
          <p:cNvSpPr txBox="1"/>
          <p:nvPr/>
        </p:nvSpPr>
        <p:spPr>
          <a:xfrm>
            <a:off x="3995936" y="4725144"/>
            <a:ext cx="9361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solidFill>
                  <a:srgbClr val="FF0000"/>
                </a:solidFill>
                <a:latin typeface="Comic Sans MS" panose="030F0702030302020204" pitchFamily="66" charset="0"/>
              </a:rPr>
              <a:t>Divide by 2</a:t>
            </a:r>
          </a:p>
        </p:txBody>
      </p:sp>
      <p:sp>
        <p:nvSpPr>
          <p:cNvPr id="26" name="Arc 25"/>
          <p:cNvSpPr/>
          <p:nvPr/>
        </p:nvSpPr>
        <p:spPr>
          <a:xfrm>
            <a:off x="3275856" y="4581128"/>
            <a:ext cx="864096" cy="720080"/>
          </a:xfrm>
          <a:prstGeom prst="arc">
            <a:avLst>
              <a:gd name="adj1" fmla="val 16200000"/>
              <a:gd name="adj2" fmla="val 5285450"/>
            </a:avLst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1403648" y="5085184"/>
                <a:ext cx="230425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/>
                        </a:rPr>
                        <m:t>𝑉𝑜𝑙𝑢𝑚𝑒</m:t>
                      </m:r>
                      <m:r>
                        <a:rPr lang="en-GB" sz="1600" b="0" i="1" smtClean="0">
                          <a:latin typeface="Cambria Math"/>
                        </a:rPr>
                        <m:t>=19.40</m:t>
                      </m:r>
                      <m:r>
                        <a:rPr lang="en-GB" sz="1600" b="0" i="1" smtClean="0">
                          <a:latin typeface="Cambria Math"/>
                        </a:rPr>
                        <m:t>𝑐</m:t>
                      </m:r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/>
                            </a:rPr>
                            <m:t>𝑚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3648" y="5085184"/>
                <a:ext cx="2304256" cy="338554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  <p:bldP spid="26" grpId="0" animBg="1"/>
      <p:bldP spid="2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6994478" y="4019266"/>
            <a:ext cx="1487606" cy="45037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4000">
                <a:latin typeface="Comic Sans MS" pitchFamily="66" charset="0"/>
              </a:rPr>
              <a:t>Volume and Surface Area of a Sphere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sz="2400" dirty="0">
                <a:latin typeface="Comic Sans MS" pitchFamily="66" charset="0"/>
              </a:rPr>
              <a:t>What is the Volume and Surface Area of this hemisphere?</a:t>
            </a:r>
          </a:p>
        </p:txBody>
      </p:sp>
      <p:sp>
        <p:nvSpPr>
          <p:cNvPr id="8196" name="Arc 6"/>
          <p:cNvSpPr>
            <a:spLocks/>
          </p:cNvSpPr>
          <p:nvPr/>
        </p:nvSpPr>
        <p:spPr bwMode="auto">
          <a:xfrm>
            <a:off x="6991350" y="4226421"/>
            <a:ext cx="1489075" cy="246063"/>
          </a:xfrm>
          <a:custGeom>
            <a:avLst/>
            <a:gdLst>
              <a:gd name="T0" fmla="*/ 1488420 w 43200"/>
              <a:gd name="T1" fmla="*/ 8415 h 23306"/>
              <a:gd name="T2" fmla="*/ 2344 w 43200"/>
              <a:gd name="T3" fmla="*/ 0 h 23306"/>
              <a:gd name="T4" fmla="*/ 744538 w 43200"/>
              <a:gd name="T5" fmla="*/ 18012 h 2330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00" h="23306" fill="none" extrusionOk="0">
                <a:moveTo>
                  <a:pt x="43180" y="797"/>
                </a:moveTo>
                <a:cubicBezTo>
                  <a:pt x="43193" y="1099"/>
                  <a:pt x="43200" y="1402"/>
                  <a:pt x="43200" y="1706"/>
                </a:cubicBezTo>
                <a:cubicBezTo>
                  <a:pt x="43200" y="13635"/>
                  <a:pt x="33529" y="23306"/>
                  <a:pt x="21600" y="23306"/>
                </a:cubicBezTo>
                <a:cubicBezTo>
                  <a:pt x="9670" y="23306"/>
                  <a:pt x="0" y="13635"/>
                  <a:pt x="0" y="1706"/>
                </a:cubicBezTo>
                <a:cubicBezTo>
                  <a:pt x="-1" y="1136"/>
                  <a:pt x="22" y="567"/>
                  <a:pt x="67" y="-1"/>
                </a:cubicBezTo>
              </a:path>
              <a:path w="43200" h="23306" stroke="0" extrusionOk="0">
                <a:moveTo>
                  <a:pt x="43180" y="797"/>
                </a:moveTo>
                <a:cubicBezTo>
                  <a:pt x="43193" y="1099"/>
                  <a:pt x="43200" y="1402"/>
                  <a:pt x="43200" y="1706"/>
                </a:cubicBezTo>
                <a:cubicBezTo>
                  <a:pt x="43200" y="13635"/>
                  <a:pt x="33529" y="23306"/>
                  <a:pt x="21600" y="23306"/>
                </a:cubicBezTo>
                <a:cubicBezTo>
                  <a:pt x="9670" y="23306"/>
                  <a:pt x="0" y="13635"/>
                  <a:pt x="0" y="1706"/>
                </a:cubicBezTo>
                <a:cubicBezTo>
                  <a:pt x="-1" y="1136"/>
                  <a:pt x="22" y="567"/>
                  <a:pt x="67" y="-1"/>
                </a:cubicBezTo>
                <a:lnTo>
                  <a:pt x="21600" y="1706"/>
                </a:lnTo>
                <a:lnTo>
                  <a:pt x="43180" y="797"/>
                </a:lnTo>
                <a:close/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8197" name="Arc 7"/>
          <p:cNvSpPr>
            <a:spLocks/>
          </p:cNvSpPr>
          <p:nvPr/>
        </p:nvSpPr>
        <p:spPr bwMode="auto">
          <a:xfrm flipV="1">
            <a:off x="6996112" y="4018459"/>
            <a:ext cx="1487488" cy="246062"/>
          </a:xfrm>
          <a:custGeom>
            <a:avLst/>
            <a:gdLst>
              <a:gd name="T0" fmla="*/ 1487488 w 43149"/>
              <a:gd name="T1" fmla="*/ 33659 h 23306"/>
              <a:gd name="T2" fmla="*/ 2344 w 43149"/>
              <a:gd name="T3" fmla="*/ 0 h 23306"/>
              <a:gd name="T4" fmla="*/ 744623 w 43149"/>
              <a:gd name="T5" fmla="*/ 18012 h 2330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149" h="23306" fill="none" extrusionOk="0">
                <a:moveTo>
                  <a:pt x="43149" y="3188"/>
                </a:moveTo>
                <a:cubicBezTo>
                  <a:pt x="42370" y="14515"/>
                  <a:pt x="32954" y="23305"/>
                  <a:pt x="21600" y="23306"/>
                </a:cubicBezTo>
                <a:cubicBezTo>
                  <a:pt x="9670" y="23306"/>
                  <a:pt x="0" y="13635"/>
                  <a:pt x="0" y="1706"/>
                </a:cubicBezTo>
                <a:cubicBezTo>
                  <a:pt x="-1" y="1136"/>
                  <a:pt x="22" y="567"/>
                  <a:pt x="67" y="-1"/>
                </a:cubicBezTo>
              </a:path>
              <a:path w="43149" h="23306" stroke="0" extrusionOk="0">
                <a:moveTo>
                  <a:pt x="43149" y="3188"/>
                </a:moveTo>
                <a:cubicBezTo>
                  <a:pt x="42370" y="14515"/>
                  <a:pt x="32954" y="23305"/>
                  <a:pt x="21600" y="23306"/>
                </a:cubicBezTo>
                <a:cubicBezTo>
                  <a:pt x="9670" y="23306"/>
                  <a:pt x="0" y="13635"/>
                  <a:pt x="0" y="1706"/>
                </a:cubicBezTo>
                <a:cubicBezTo>
                  <a:pt x="-1" y="1136"/>
                  <a:pt x="22" y="567"/>
                  <a:pt x="67" y="-1"/>
                </a:cubicBezTo>
                <a:lnTo>
                  <a:pt x="21600" y="1706"/>
                </a:lnTo>
                <a:lnTo>
                  <a:pt x="43149" y="3188"/>
                </a:lnTo>
                <a:close/>
              </a:path>
            </a:pathLst>
          </a:cu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8198" name="Line 8"/>
          <p:cNvSpPr>
            <a:spLocks noChangeShapeType="1"/>
          </p:cNvSpPr>
          <p:nvPr/>
        </p:nvSpPr>
        <p:spPr bwMode="auto">
          <a:xfrm flipV="1">
            <a:off x="7764462" y="4243884"/>
            <a:ext cx="7207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8201" name="Arc 11"/>
          <p:cNvSpPr>
            <a:spLocks noChangeAspect="1"/>
          </p:cNvSpPr>
          <p:nvPr/>
        </p:nvSpPr>
        <p:spPr bwMode="auto">
          <a:xfrm>
            <a:off x="6985000" y="3499346"/>
            <a:ext cx="1492250" cy="754063"/>
          </a:xfrm>
          <a:custGeom>
            <a:avLst/>
            <a:gdLst>
              <a:gd name="T0" fmla="*/ 35 w 43185"/>
              <a:gd name="T1" fmla="*/ 754063 h 21846"/>
              <a:gd name="T2" fmla="*/ 1492250 w 43185"/>
              <a:gd name="T3" fmla="*/ 717371 h 21846"/>
              <a:gd name="T4" fmla="*/ 746384 w 43185"/>
              <a:gd name="T5" fmla="*/ 745572 h 2184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185" h="21846" fill="none" extrusionOk="0">
                <a:moveTo>
                  <a:pt x="1" y="21845"/>
                </a:moveTo>
                <a:cubicBezTo>
                  <a:pt x="0" y="21764"/>
                  <a:pt x="0" y="21682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211" y="-1"/>
                  <a:pt x="42745" y="9179"/>
                  <a:pt x="43184" y="20783"/>
                </a:cubicBezTo>
              </a:path>
              <a:path w="43185" h="21846" stroke="0" extrusionOk="0">
                <a:moveTo>
                  <a:pt x="1" y="21845"/>
                </a:moveTo>
                <a:cubicBezTo>
                  <a:pt x="0" y="21764"/>
                  <a:pt x="0" y="21682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211" y="-1"/>
                  <a:pt x="42745" y="9179"/>
                  <a:pt x="43184" y="20783"/>
                </a:cubicBezTo>
                <a:lnTo>
                  <a:pt x="21600" y="21600"/>
                </a:lnTo>
                <a:lnTo>
                  <a:pt x="1" y="21845"/>
                </a:lnTo>
                <a:close/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pic>
        <p:nvPicPr>
          <p:cNvPr id="2" name="Picture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1175" y="109538"/>
            <a:ext cx="896938" cy="1241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3310654" y="994015"/>
                <a:ext cx="2138517" cy="586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/>
                        </a:rPr>
                        <m:t>𝑉𝑜𝑙𝑢𝑚𝑒</m:t>
                      </m:r>
                      <m:r>
                        <a:rPr lang="en-GB" sz="16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/>
                            </a:rPr>
                            <m:t>4</m:t>
                          </m:r>
                          <m:r>
                            <a:rPr lang="en-GB" sz="1600" b="0" i="1" smtClean="0">
                              <a:latin typeface="Cambria Math"/>
                              <a:ea typeface="Cambria Math"/>
                            </a:rPr>
                            <m:t>𝜋</m:t>
                          </m:r>
                          <m:sSup>
                            <m:sSup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GB" sz="1600" b="0" i="1" smtClean="0">
                                  <a:latin typeface="Cambria Math"/>
                                  <a:ea typeface="Cambria Math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GB" sz="1600" b="0" i="1" smtClean="0">
                                  <a:latin typeface="Cambria Math"/>
                                  <a:ea typeface="Cambria Math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en-GB" sz="1600" b="0" i="1" smtClean="0">
                              <a:latin typeface="Cambria Math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sz="1600" dirty="0"/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0654" y="994015"/>
                <a:ext cx="2138517" cy="586443"/>
              </a:xfrm>
              <a:prstGeom prst="rect">
                <a:avLst/>
              </a:prstGeom>
              <a:blipFill>
                <a:blip r:embed="rId3"/>
                <a:stretch>
                  <a:fillRect b="-2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5793878" y="1054240"/>
                <a:ext cx="219861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/>
                        </a:rPr>
                        <m:t>𝑆𝑢𝑟𝑓𝑎𝑐𝑒</m:t>
                      </m:r>
                      <m:r>
                        <a:rPr lang="en-GB" sz="1600" b="0" i="1" smtClean="0">
                          <a:latin typeface="Cambria Math"/>
                        </a:rPr>
                        <m:t> </m:t>
                      </m:r>
                      <m:r>
                        <a:rPr lang="en-GB" sz="1600" b="0" i="1" smtClean="0">
                          <a:latin typeface="Cambria Math"/>
                        </a:rPr>
                        <m:t>𝐴𝑟𝑒𝑎</m:t>
                      </m:r>
                      <m:r>
                        <a:rPr lang="en-GB" sz="1600" b="0" i="1" smtClean="0">
                          <a:latin typeface="Cambria Math"/>
                        </a:rPr>
                        <m:t>=4</m:t>
                      </m:r>
                      <m:r>
                        <a:rPr lang="en-GB" sz="1600" b="0" i="1" smtClean="0">
                          <a:latin typeface="Cambria Math"/>
                          <a:ea typeface="Cambria Math"/>
                        </a:rPr>
                        <m:t>𝜋</m:t>
                      </m:r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/>
                              <a:ea typeface="Cambria Math"/>
                            </a:rPr>
                            <m:t>𝑟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/>
                              <a:ea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3878" y="1054240"/>
                <a:ext cx="2198614" cy="338554"/>
              </a:xfrm>
              <a:prstGeom prst="rect">
                <a:avLst/>
              </a:prstGeom>
              <a:blipFill rotWithShape="1">
                <a:blip r:embed="rId4"/>
                <a:stretch>
                  <a:fillRect b="-1272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827584" y="2420888"/>
                <a:ext cx="219861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/>
                        </a:rPr>
                        <m:t>𝑆𝑢𝑟𝑓𝑎𝑐𝑒</m:t>
                      </m:r>
                      <m:r>
                        <a:rPr lang="en-GB" sz="1600" b="0" i="1" smtClean="0">
                          <a:latin typeface="Cambria Math"/>
                        </a:rPr>
                        <m:t> </m:t>
                      </m:r>
                      <m:r>
                        <a:rPr lang="en-GB" sz="1600" b="0" i="1" smtClean="0">
                          <a:latin typeface="Cambria Math"/>
                        </a:rPr>
                        <m:t>𝐴𝑟𝑒𝑎</m:t>
                      </m:r>
                      <m:r>
                        <a:rPr lang="en-GB" sz="1600" b="0" i="1" smtClean="0">
                          <a:latin typeface="Cambria Math"/>
                        </a:rPr>
                        <m:t>=4</m:t>
                      </m:r>
                      <m:r>
                        <a:rPr lang="en-GB" sz="1600" b="0" i="1" smtClean="0">
                          <a:latin typeface="Cambria Math"/>
                          <a:ea typeface="Cambria Math"/>
                        </a:rPr>
                        <m:t>𝜋</m:t>
                      </m:r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/>
                              <a:ea typeface="Cambria Math"/>
                            </a:rPr>
                            <m:t>𝑟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/>
                              <a:ea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2420888"/>
                <a:ext cx="2198614" cy="338554"/>
              </a:xfrm>
              <a:prstGeom prst="rect">
                <a:avLst/>
              </a:prstGeom>
              <a:blipFill rotWithShape="1">
                <a:blip r:embed="rId5"/>
                <a:stretch>
                  <a:fillRect b="-1071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Arc 20"/>
          <p:cNvSpPr/>
          <p:nvPr/>
        </p:nvSpPr>
        <p:spPr>
          <a:xfrm>
            <a:off x="3635896" y="2564904"/>
            <a:ext cx="504056" cy="576064"/>
          </a:xfrm>
          <a:prstGeom prst="arc">
            <a:avLst>
              <a:gd name="adj1" fmla="val 16200000"/>
              <a:gd name="adj2" fmla="val 5285450"/>
            </a:avLst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TextBox 21"/>
          <p:cNvSpPr txBox="1"/>
          <p:nvPr/>
        </p:nvSpPr>
        <p:spPr>
          <a:xfrm>
            <a:off x="4067944" y="2708920"/>
            <a:ext cx="10081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solidFill>
                  <a:srgbClr val="FF0000"/>
                </a:solidFill>
                <a:latin typeface="Comic Sans MS" panose="030F0702030302020204" pitchFamily="66" charset="0"/>
              </a:rPr>
              <a:t>Sub in 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99301" y="3345457"/>
            <a:ext cx="9361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solidFill>
                  <a:srgbClr val="FF0000"/>
                </a:solidFill>
                <a:latin typeface="Comic Sans MS" panose="030F0702030302020204" pitchFamily="66" charset="0"/>
              </a:rPr>
              <a:t>Calculate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82306" y="4019482"/>
            <a:ext cx="12241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solidFill>
                  <a:srgbClr val="FF0000"/>
                </a:solidFill>
                <a:latin typeface="Comic Sans MS" panose="030F0702030302020204" pitchFamily="66" charset="0"/>
              </a:rPr>
              <a:t>Divide by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827584" y="2996952"/>
                <a:ext cx="283423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/>
                        </a:rPr>
                        <m:t>𝑆𝑢𝑟𝑓𝑎𝑐𝑒</m:t>
                      </m:r>
                      <m:r>
                        <a:rPr lang="en-GB" sz="1600" b="0" i="1" smtClean="0">
                          <a:latin typeface="Cambria Math"/>
                        </a:rPr>
                        <m:t> </m:t>
                      </m:r>
                      <m:r>
                        <a:rPr lang="en-GB" sz="1600" b="0" i="1" smtClean="0">
                          <a:latin typeface="Cambria Math"/>
                        </a:rPr>
                        <m:t>𝐴𝑟𝑒𝑎</m:t>
                      </m:r>
                      <m:r>
                        <a:rPr lang="en-GB" sz="1600" b="0" i="1" smtClean="0">
                          <a:latin typeface="Cambria Math"/>
                        </a:rPr>
                        <m:t>=4×</m:t>
                      </m:r>
                      <m:r>
                        <a:rPr lang="en-GB" sz="1600" b="0" i="1" smtClean="0">
                          <a:latin typeface="Cambria Math"/>
                          <a:ea typeface="Cambria Math"/>
                        </a:rPr>
                        <m:t>𝜋</m:t>
                      </m:r>
                      <m:r>
                        <a:rPr lang="en-GB" sz="1600" b="0" i="1" smtClean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/>
                              <a:ea typeface="Cambria Math"/>
                            </a:rPr>
                            <m:t>2.1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/>
                              <a:ea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2996952"/>
                <a:ext cx="2834237" cy="338554"/>
              </a:xfrm>
              <a:prstGeom prst="rect">
                <a:avLst/>
              </a:prstGeom>
              <a:blipFill rotWithShape="1">
                <a:blip r:embed="rId6"/>
                <a:stretch>
                  <a:fillRect b="-1272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934375" y="3566252"/>
                <a:ext cx="262065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/>
                        </a:rPr>
                        <m:t>𝑆𝑢𝑟𝑓𝑎𝑐𝑒</m:t>
                      </m:r>
                      <m:r>
                        <a:rPr lang="en-GB" sz="1600" b="0" i="1" smtClean="0">
                          <a:latin typeface="Cambria Math"/>
                        </a:rPr>
                        <m:t> </m:t>
                      </m:r>
                      <m:r>
                        <a:rPr lang="en-GB" sz="1600" b="0" i="1" smtClean="0">
                          <a:latin typeface="Cambria Math"/>
                        </a:rPr>
                        <m:t>𝐴𝑟𝑒𝑎</m:t>
                      </m:r>
                      <m:r>
                        <a:rPr lang="en-GB" sz="1600" b="0" i="1" smtClean="0">
                          <a:latin typeface="Cambria Math"/>
                        </a:rPr>
                        <m:t>=55.42</m:t>
                      </m:r>
                      <m:r>
                        <a:rPr lang="en-GB" sz="1600" b="0" i="1" smtClean="0">
                          <a:latin typeface="Cambria Math"/>
                        </a:rPr>
                        <m:t>𝑐</m:t>
                      </m:r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/>
                            </a:rPr>
                            <m:t>𝑚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4375" y="3566252"/>
                <a:ext cx="2620654" cy="338554"/>
              </a:xfrm>
              <a:prstGeom prst="rect">
                <a:avLst/>
              </a:prstGeom>
              <a:blipFill>
                <a:blip r:embed="rId7"/>
                <a:stretch>
                  <a:fillRect b="-18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827584" y="5317590"/>
                <a:ext cx="237904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/>
                        </a:rPr>
                        <m:t>𝐴𝑟𝑒𝑎</m:t>
                      </m:r>
                      <m:r>
                        <a:rPr lang="en-GB" sz="1600" b="0" i="1" smtClean="0">
                          <a:latin typeface="Cambria Math"/>
                        </a:rPr>
                        <m:t> </m:t>
                      </m:r>
                      <m:r>
                        <a:rPr lang="en-GB" sz="1600" b="0" i="1" smtClean="0">
                          <a:latin typeface="Cambria Math"/>
                        </a:rPr>
                        <m:t>𝑜𝑓</m:t>
                      </m:r>
                      <m:r>
                        <a:rPr lang="en-GB" sz="1600" b="0" i="1" smtClean="0">
                          <a:latin typeface="Cambria Math"/>
                        </a:rPr>
                        <m:t> </m:t>
                      </m:r>
                      <m:r>
                        <a:rPr lang="en-GB" sz="1600" b="0" i="1" smtClean="0">
                          <a:latin typeface="Cambria Math"/>
                        </a:rPr>
                        <m:t>𝑡h𝑒</m:t>
                      </m:r>
                      <m:r>
                        <a:rPr lang="en-GB" sz="1600" b="0" i="1" smtClean="0">
                          <a:latin typeface="Cambria Math"/>
                        </a:rPr>
                        <m:t> </m:t>
                      </m:r>
                      <m:r>
                        <a:rPr lang="en-GB" sz="1600" b="0" i="1" smtClean="0">
                          <a:latin typeface="Cambria Math"/>
                        </a:rPr>
                        <m:t>𝑏𝑎𝑠𝑒</m:t>
                      </m:r>
                      <m:r>
                        <a:rPr lang="en-GB" sz="1600" b="0" i="1" smtClean="0">
                          <a:latin typeface="Cambria Math"/>
                        </a:rPr>
                        <m:t>=</m:t>
                      </m:r>
                      <m:r>
                        <a:rPr lang="en-GB" sz="1600" b="0" i="1" smtClean="0">
                          <a:latin typeface="Cambria Math"/>
                          <a:ea typeface="Cambria Math"/>
                        </a:rPr>
                        <m:t>𝜋</m:t>
                      </m:r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/>
                              <a:ea typeface="Cambria Math"/>
                            </a:rPr>
                            <m:t>𝑟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/>
                              <a:ea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5317590"/>
                <a:ext cx="2379049" cy="338554"/>
              </a:xfrm>
              <a:prstGeom prst="rect">
                <a:avLst/>
              </a:prstGeom>
              <a:blipFill rotWithShape="1">
                <a:blip r:embed="rId8"/>
                <a:stretch>
                  <a:fillRect b="-1071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827584" y="4149080"/>
                <a:ext cx="262065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/>
                        </a:rPr>
                        <m:t>𝑆𝑢𝑟𝑓𝑎𝑐𝑒</m:t>
                      </m:r>
                      <m:r>
                        <a:rPr lang="en-GB" sz="1600" b="0" i="1" smtClean="0">
                          <a:latin typeface="Cambria Math"/>
                        </a:rPr>
                        <m:t> </m:t>
                      </m:r>
                      <m:r>
                        <a:rPr lang="en-GB" sz="1600" b="0" i="1" smtClean="0">
                          <a:latin typeface="Cambria Math"/>
                        </a:rPr>
                        <m:t>𝐴𝑟𝑒𝑎</m:t>
                      </m:r>
                      <m:r>
                        <a:rPr lang="en-GB" sz="1600" b="0" i="1" smtClean="0">
                          <a:latin typeface="Cambria Math"/>
                        </a:rPr>
                        <m:t>=27.71</m:t>
                      </m:r>
                      <m:r>
                        <a:rPr lang="en-GB" sz="1600" b="0" i="1" smtClean="0">
                          <a:latin typeface="Cambria Math"/>
                        </a:rPr>
                        <m:t>𝑐</m:t>
                      </m:r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/>
                            </a:rPr>
                            <m:t>𝑚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4149080"/>
                <a:ext cx="2620654" cy="338554"/>
              </a:xfrm>
              <a:prstGeom prst="rect">
                <a:avLst/>
              </a:prstGeom>
              <a:blipFill>
                <a:blip r:embed="rId9"/>
                <a:stretch>
                  <a:fillRect b="-18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827584" y="5821646"/>
                <a:ext cx="277761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/>
                        </a:rPr>
                        <m:t>𝐴𝑟𝑒𝑎</m:t>
                      </m:r>
                      <m:r>
                        <a:rPr lang="en-GB" sz="1600" b="0" i="1" smtClean="0">
                          <a:latin typeface="Cambria Math"/>
                        </a:rPr>
                        <m:t> </m:t>
                      </m:r>
                      <m:r>
                        <a:rPr lang="en-GB" sz="1600" b="0" i="1" smtClean="0">
                          <a:latin typeface="Cambria Math"/>
                        </a:rPr>
                        <m:t>𝑜𝑓</m:t>
                      </m:r>
                      <m:r>
                        <a:rPr lang="en-GB" sz="1600" b="0" i="1" smtClean="0">
                          <a:latin typeface="Cambria Math"/>
                        </a:rPr>
                        <m:t> </m:t>
                      </m:r>
                      <m:r>
                        <a:rPr lang="en-GB" sz="1600" b="0" i="1" smtClean="0">
                          <a:latin typeface="Cambria Math"/>
                        </a:rPr>
                        <m:t>𝑡h𝑒</m:t>
                      </m:r>
                      <m:r>
                        <a:rPr lang="en-GB" sz="1600" b="0" i="1" smtClean="0">
                          <a:latin typeface="Cambria Math"/>
                        </a:rPr>
                        <m:t> </m:t>
                      </m:r>
                      <m:r>
                        <a:rPr lang="en-GB" sz="1600" b="0" i="1" smtClean="0">
                          <a:latin typeface="Cambria Math"/>
                        </a:rPr>
                        <m:t>𝑏𝑎𝑠𝑒</m:t>
                      </m:r>
                      <m:r>
                        <a:rPr lang="en-GB" sz="1600" b="0" i="1" smtClean="0">
                          <a:latin typeface="Cambria Math"/>
                        </a:rPr>
                        <m:t>=</m:t>
                      </m:r>
                      <m:r>
                        <a:rPr lang="en-GB" sz="1600" b="0" i="1" smtClean="0">
                          <a:latin typeface="Cambria Math"/>
                          <a:ea typeface="Cambria Math"/>
                        </a:rPr>
                        <m:t>𝜋</m:t>
                      </m:r>
                      <m:r>
                        <a:rPr lang="en-GB" sz="1600" b="0" i="1" smtClean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/>
                              <a:ea typeface="Cambria Math"/>
                            </a:rPr>
                            <m:t>2.1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/>
                              <a:ea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5821646"/>
                <a:ext cx="2777619" cy="338554"/>
              </a:xfrm>
              <a:prstGeom prst="rect">
                <a:avLst/>
              </a:prstGeom>
              <a:blipFill rotWithShape="1">
                <a:blip r:embed="rId10"/>
                <a:stretch>
                  <a:fillRect b="-1071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827584" y="6257502"/>
                <a:ext cx="291169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/>
                        </a:rPr>
                        <m:t>𝐴𝑟𝑒𝑎</m:t>
                      </m:r>
                      <m:r>
                        <a:rPr lang="en-GB" sz="1600" b="0" i="1" smtClean="0">
                          <a:latin typeface="Cambria Math"/>
                        </a:rPr>
                        <m:t> </m:t>
                      </m:r>
                      <m:r>
                        <a:rPr lang="en-GB" sz="1600" b="0" i="1" smtClean="0">
                          <a:latin typeface="Cambria Math"/>
                        </a:rPr>
                        <m:t>𝑜𝑓</m:t>
                      </m:r>
                      <m:r>
                        <a:rPr lang="en-GB" sz="1600" b="0" i="1" smtClean="0">
                          <a:latin typeface="Cambria Math"/>
                        </a:rPr>
                        <m:t> </m:t>
                      </m:r>
                      <m:r>
                        <a:rPr lang="en-GB" sz="1600" b="0" i="1" smtClean="0">
                          <a:latin typeface="Cambria Math"/>
                        </a:rPr>
                        <m:t>𝑡h𝑒</m:t>
                      </m:r>
                      <m:r>
                        <a:rPr lang="en-GB" sz="1600" b="0" i="1" smtClean="0">
                          <a:latin typeface="Cambria Math"/>
                        </a:rPr>
                        <m:t> </m:t>
                      </m:r>
                      <m:r>
                        <a:rPr lang="en-GB" sz="1600" b="0" i="1" smtClean="0">
                          <a:latin typeface="Cambria Math"/>
                        </a:rPr>
                        <m:t>𝑏𝑎𝑠𝑒</m:t>
                      </m:r>
                      <m:r>
                        <a:rPr lang="en-GB" sz="1600" b="0" i="1" smtClean="0">
                          <a:latin typeface="Cambria Math"/>
                        </a:rPr>
                        <m:t>=13.85</m:t>
                      </m:r>
                      <m:r>
                        <a:rPr lang="en-GB" sz="1600" b="0" i="1" smtClean="0">
                          <a:latin typeface="Cambria Math"/>
                          <a:ea typeface="Cambria Math"/>
                        </a:rPr>
                        <m:t>𝑐</m:t>
                      </m:r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/>
                              <a:ea typeface="Cambria Math"/>
                            </a:rPr>
                            <m:t>𝑚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/>
                              <a:ea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6257502"/>
                <a:ext cx="2911695" cy="338554"/>
              </a:xfrm>
              <a:prstGeom prst="rect">
                <a:avLst/>
              </a:prstGeom>
              <a:blipFill>
                <a:blip r:embed="rId11"/>
                <a:stretch>
                  <a:fillRect b="-18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Arc 33"/>
          <p:cNvSpPr/>
          <p:nvPr/>
        </p:nvSpPr>
        <p:spPr>
          <a:xfrm>
            <a:off x="3634940" y="3224171"/>
            <a:ext cx="504056" cy="576064"/>
          </a:xfrm>
          <a:prstGeom prst="arc">
            <a:avLst>
              <a:gd name="adj1" fmla="val 16200000"/>
              <a:gd name="adj2" fmla="val 5285450"/>
            </a:avLst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Arc 34"/>
          <p:cNvSpPr/>
          <p:nvPr/>
        </p:nvSpPr>
        <p:spPr>
          <a:xfrm>
            <a:off x="3671900" y="3834757"/>
            <a:ext cx="504056" cy="576064"/>
          </a:xfrm>
          <a:prstGeom prst="arc">
            <a:avLst>
              <a:gd name="adj1" fmla="val 16200000"/>
              <a:gd name="adj2" fmla="val 5285450"/>
            </a:avLst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Arc 35"/>
          <p:cNvSpPr/>
          <p:nvPr/>
        </p:nvSpPr>
        <p:spPr>
          <a:xfrm>
            <a:off x="3419872" y="5461606"/>
            <a:ext cx="504056" cy="576064"/>
          </a:xfrm>
          <a:prstGeom prst="arc">
            <a:avLst>
              <a:gd name="adj1" fmla="val 16200000"/>
              <a:gd name="adj2" fmla="val 5285450"/>
            </a:avLst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Arc 36"/>
          <p:cNvSpPr/>
          <p:nvPr/>
        </p:nvSpPr>
        <p:spPr>
          <a:xfrm>
            <a:off x="3739279" y="6045327"/>
            <a:ext cx="504056" cy="576064"/>
          </a:xfrm>
          <a:prstGeom prst="arc">
            <a:avLst>
              <a:gd name="adj1" fmla="val 16200000"/>
              <a:gd name="adj2" fmla="val 5285450"/>
            </a:avLst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TextBox 37"/>
          <p:cNvSpPr txBox="1"/>
          <p:nvPr/>
        </p:nvSpPr>
        <p:spPr>
          <a:xfrm>
            <a:off x="827584" y="4797152"/>
            <a:ext cx="56886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rgbClr val="FF0000"/>
                </a:solidFill>
                <a:latin typeface="Comic Sans MS" panose="030F0702030302020204" pitchFamily="66" charset="0"/>
              </a:rPr>
              <a:t>Remember that the </a:t>
            </a:r>
            <a:r>
              <a:rPr lang="en-GB" sz="1600" u="sng" dirty="0">
                <a:solidFill>
                  <a:srgbClr val="FF0000"/>
                </a:solidFill>
                <a:latin typeface="Comic Sans MS" panose="030F0702030302020204" pitchFamily="66" charset="0"/>
              </a:rPr>
              <a:t>base</a:t>
            </a:r>
            <a:r>
              <a:rPr lang="en-GB" sz="1600" dirty="0">
                <a:solidFill>
                  <a:srgbClr val="FF0000"/>
                </a:solidFill>
                <a:latin typeface="Comic Sans MS" panose="030F0702030302020204" pitchFamily="66" charset="0"/>
              </a:rPr>
              <a:t> is part of the surface area too!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51920" y="5589240"/>
            <a:ext cx="9361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solidFill>
                  <a:srgbClr val="FF0000"/>
                </a:solidFill>
                <a:latin typeface="Comic Sans MS" panose="030F0702030302020204" pitchFamily="66" charset="0"/>
              </a:rPr>
              <a:t>Sub in 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19972" y="6167265"/>
            <a:ext cx="9361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solidFill>
                  <a:srgbClr val="FF0000"/>
                </a:solidFill>
                <a:latin typeface="Comic Sans MS" panose="030F0702030302020204" pitchFamily="66" charset="0"/>
              </a:rPr>
              <a:t>Calculate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5796136" y="5589240"/>
                <a:ext cx="316580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/>
                        </a:rPr>
                        <m:t>𝑇𝑜𝑡𝑎𝑙</m:t>
                      </m:r>
                      <m:r>
                        <a:rPr lang="en-GB" sz="1600" b="0" i="1" smtClean="0">
                          <a:latin typeface="Cambria Math"/>
                        </a:rPr>
                        <m:t> </m:t>
                      </m:r>
                      <m:r>
                        <a:rPr lang="en-GB" sz="1600" b="0" i="1" smtClean="0">
                          <a:latin typeface="Cambria Math"/>
                        </a:rPr>
                        <m:t>𝑆𝑢𝑟𝑓𝑎𝑐𝑒</m:t>
                      </m:r>
                      <m:r>
                        <a:rPr lang="en-GB" sz="1600" b="0" i="1" smtClean="0">
                          <a:latin typeface="Cambria Math"/>
                        </a:rPr>
                        <m:t> </m:t>
                      </m:r>
                      <m:r>
                        <a:rPr lang="en-GB" sz="1600" b="0" i="1" smtClean="0">
                          <a:latin typeface="Cambria Math"/>
                        </a:rPr>
                        <m:t>𝐴𝑟𝑒𝑎</m:t>
                      </m:r>
                      <m:r>
                        <a:rPr lang="en-GB" sz="1600" b="0" i="1" smtClean="0">
                          <a:latin typeface="Cambria Math"/>
                        </a:rPr>
                        <m:t>=41.56</m:t>
                      </m:r>
                      <m:r>
                        <a:rPr lang="en-GB" sz="1600" b="0" i="1" smtClean="0">
                          <a:latin typeface="Cambria Math"/>
                        </a:rPr>
                        <m:t>𝑐</m:t>
                      </m:r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/>
                            </a:rPr>
                            <m:t>𝑚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6136" y="5589240"/>
                <a:ext cx="3165802" cy="338554"/>
              </a:xfrm>
              <a:prstGeom prst="rect">
                <a:avLst/>
              </a:prstGeom>
              <a:blipFill rotWithShape="1">
                <a:blip r:embed="rId12"/>
                <a:stretch>
                  <a:fillRect b="-1272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/>
          <p:cNvSpPr/>
          <p:nvPr/>
        </p:nvSpPr>
        <p:spPr>
          <a:xfrm>
            <a:off x="5868144" y="5517232"/>
            <a:ext cx="3024336" cy="432048"/>
          </a:xfrm>
          <a:prstGeom prst="rect">
            <a:avLst/>
          </a:prstGeom>
          <a:noFill/>
          <a:ln w="317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" name="Text Box 9"/>
          <p:cNvSpPr txBox="1">
            <a:spLocks noChangeArrowheads="1"/>
          </p:cNvSpPr>
          <p:nvPr/>
        </p:nvSpPr>
        <p:spPr bwMode="auto">
          <a:xfrm>
            <a:off x="7757650" y="4443455"/>
            <a:ext cx="7794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GB" dirty="0">
                <a:latin typeface="Comic Sans MS" pitchFamily="66" charset="0"/>
              </a:rPr>
              <a:t>2.1cm</a:t>
            </a:r>
          </a:p>
        </p:txBody>
      </p:sp>
    </p:spTree>
    <p:extLst>
      <p:ext uri="{BB962C8B-B14F-4D97-AF65-F5344CB8AC3E}">
        <p14:creationId xmlns:p14="http://schemas.microsoft.com/office/powerpoint/2010/main" val="1142525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7" grpId="0"/>
      <p:bldP spid="21" grpId="0" animBg="1"/>
      <p:bldP spid="22" grpId="0"/>
      <p:bldP spid="23" grpId="0"/>
      <p:bldP spid="25" grpId="0"/>
      <p:bldP spid="28" grpId="0"/>
      <p:bldP spid="29" grpId="0"/>
      <p:bldP spid="30" grpId="0"/>
      <p:bldP spid="31" grpId="0"/>
      <p:bldP spid="32" grpId="0"/>
      <p:bldP spid="33" grpId="0"/>
      <p:bldP spid="34" grpId="0" animBg="1"/>
      <p:bldP spid="35" grpId="0" animBg="1"/>
      <p:bldP spid="36" grpId="0" animBg="1"/>
      <p:bldP spid="37" grpId="0" animBg="1"/>
      <p:bldP spid="38" grpId="0"/>
      <p:bldP spid="39" grpId="0"/>
      <p:bldP spid="40" grpId="0"/>
      <p:bldP spid="41" grpId="0"/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4000">
                <a:latin typeface="Comic Sans MS" pitchFamily="66" charset="0"/>
              </a:rPr>
              <a:t>Volume and Surface Area of a Sphere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sz="2400">
                <a:latin typeface="Comic Sans MS" pitchFamily="66" charset="0"/>
              </a:rPr>
              <a:t>A tube of tennis balls is a cylinder with a radius of 3.8cm. It contains 3 balls which fit exactly inside it.</a:t>
            </a:r>
          </a:p>
          <a:p>
            <a:pPr eaLnBrk="1" hangingPunct="1"/>
            <a:endParaRPr lang="en-GB" sz="2400">
              <a:latin typeface="Comic Sans MS" pitchFamily="66" charset="0"/>
            </a:endParaRPr>
          </a:p>
          <a:p>
            <a:pPr eaLnBrk="1" hangingPunct="1">
              <a:buFontTx/>
              <a:buNone/>
            </a:pPr>
            <a:r>
              <a:rPr lang="en-GB" sz="2400">
                <a:latin typeface="Comic Sans MS" pitchFamily="66" charset="0"/>
              </a:rPr>
              <a:t>	a)	How high is the tube?</a:t>
            </a:r>
          </a:p>
          <a:p>
            <a:pPr eaLnBrk="1" hangingPunct="1">
              <a:buFontTx/>
              <a:buNone/>
            </a:pPr>
            <a:endParaRPr lang="en-GB" sz="2400">
              <a:latin typeface="Comic Sans MS" pitchFamily="66" charset="0"/>
            </a:endParaRPr>
          </a:p>
          <a:p>
            <a:pPr eaLnBrk="1" hangingPunct="1">
              <a:buFontTx/>
              <a:buNone/>
            </a:pPr>
            <a:r>
              <a:rPr lang="en-GB" sz="2400">
                <a:latin typeface="Comic Sans MS" pitchFamily="66" charset="0"/>
              </a:rPr>
              <a:t>	b)	What is the Volume of the empty space in the 	Tube?</a:t>
            </a:r>
          </a:p>
        </p:txBody>
      </p:sp>
      <p:pic>
        <p:nvPicPr>
          <p:cNvPr id="10244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1175" y="109538"/>
            <a:ext cx="896938" cy="1241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2731684" y="942630"/>
                <a:ext cx="2138517" cy="586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/>
                        </a:rPr>
                        <m:t>𝑉𝑜𝑙𝑢𝑚𝑒</m:t>
                      </m:r>
                      <m:r>
                        <a:rPr lang="en-GB" sz="16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/>
                            </a:rPr>
                            <m:t>4</m:t>
                          </m:r>
                          <m:r>
                            <a:rPr lang="en-GB" sz="1600" b="0" i="1" smtClean="0">
                              <a:latin typeface="Cambria Math"/>
                              <a:ea typeface="Cambria Math"/>
                            </a:rPr>
                            <m:t>𝜋</m:t>
                          </m:r>
                          <m:sSup>
                            <m:sSup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GB" sz="1600" b="0" i="1" smtClean="0">
                                  <a:latin typeface="Cambria Math"/>
                                  <a:ea typeface="Cambria Math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GB" sz="1600" b="0" i="1" smtClean="0">
                                  <a:latin typeface="Cambria Math"/>
                                  <a:ea typeface="Cambria Math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en-GB" sz="1600" b="0" i="1" smtClean="0">
                              <a:latin typeface="Cambria Math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sz="1600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1684" y="942630"/>
                <a:ext cx="2138517" cy="586443"/>
              </a:xfrm>
              <a:prstGeom prst="rect">
                <a:avLst/>
              </a:prstGeom>
              <a:blipFill>
                <a:blip r:embed="rId3"/>
                <a:stretch>
                  <a:fillRect b="-2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793878" y="1054240"/>
                <a:ext cx="219861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/>
                        </a:rPr>
                        <m:t>𝑆𝑢𝑟𝑓𝑎𝑐𝑒</m:t>
                      </m:r>
                      <m:r>
                        <a:rPr lang="en-GB" sz="1600" b="0" i="1" smtClean="0">
                          <a:latin typeface="Cambria Math"/>
                        </a:rPr>
                        <m:t> </m:t>
                      </m:r>
                      <m:r>
                        <a:rPr lang="en-GB" sz="1600" b="0" i="1" smtClean="0">
                          <a:latin typeface="Cambria Math"/>
                        </a:rPr>
                        <m:t>𝐴𝑟𝑒𝑎</m:t>
                      </m:r>
                      <m:r>
                        <a:rPr lang="en-GB" sz="1600" b="0" i="1" smtClean="0">
                          <a:latin typeface="Cambria Math"/>
                        </a:rPr>
                        <m:t>=4</m:t>
                      </m:r>
                      <m:r>
                        <a:rPr lang="en-GB" sz="1600" b="0" i="1" smtClean="0">
                          <a:latin typeface="Cambria Math"/>
                          <a:ea typeface="Cambria Math"/>
                        </a:rPr>
                        <m:t>𝜋</m:t>
                      </m:r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/>
                              <a:ea typeface="Cambria Math"/>
                            </a:rPr>
                            <m:t>𝑟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/>
                              <a:ea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3878" y="1054240"/>
                <a:ext cx="2198614" cy="338554"/>
              </a:xfrm>
              <a:prstGeom prst="rect">
                <a:avLst/>
              </a:prstGeom>
              <a:blipFill rotWithShape="1">
                <a:blip r:embed="rId4"/>
                <a:stretch>
                  <a:fillRect b="-1272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147763" y="227012"/>
            <a:ext cx="7886700" cy="1325563"/>
          </a:xfrm>
        </p:spPr>
        <p:txBody>
          <a:bodyPr/>
          <a:lstStyle/>
          <a:p>
            <a:pPr eaLnBrk="1" hangingPunct="1"/>
            <a:r>
              <a:rPr lang="en-GB" sz="4000" dirty="0">
                <a:latin typeface="Comic Sans MS" pitchFamily="66" charset="0"/>
              </a:rPr>
              <a:t>Volume and Surface Area of a Sphere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465138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GB" sz="2400">
                <a:latin typeface="Comic Sans MS" pitchFamily="66" charset="0"/>
              </a:rPr>
              <a:t>A </a:t>
            </a:r>
            <a:r>
              <a:rPr lang="en-GB" sz="2000">
                <a:latin typeface="Comic Sans MS" pitchFamily="66" charset="0"/>
              </a:rPr>
              <a:t>tube of tennis balls is a cylinder with a radius of 3.8cm. It contains 3 balls which fit exactly inside it.</a:t>
            </a:r>
          </a:p>
          <a:p>
            <a:pPr eaLnBrk="1" hangingPunct="1"/>
            <a:endParaRPr lang="en-GB" sz="2000">
              <a:latin typeface="Comic Sans MS" pitchFamily="66" charset="0"/>
            </a:endParaRPr>
          </a:p>
          <a:p>
            <a:pPr eaLnBrk="1" hangingPunct="1">
              <a:buFontTx/>
              <a:buNone/>
            </a:pPr>
            <a:r>
              <a:rPr lang="en-GB" sz="2000">
                <a:latin typeface="Comic Sans MS" pitchFamily="66" charset="0"/>
              </a:rPr>
              <a:t>	a)	How high is the tube?</a:t>
            </a:r>
          </a:p>
        </p:txBody>
      </p:sp>
      <p:sp>
        <p:nvSpPr>
          <p:cNvPr id="11269" name="Arc 5"/>
          <p:cNvSpPr>
            <a:spLocks/>
          </p:cNvSpPr>
          <p:nvPr/>
        </p:nvSpPr>
        <p:spPr bwMode="auto">
          <a:xfrm>
            <a:off x="6853238" y="6316663"/>
            <a:ext cx="1354137" cy="206375"/>
          </a:xfrm>
          <a:custGeom>
            <a:avLst/>
            <a:gdLst>
              <a:gd name="T0" fmla="*/ 1344441 w 43156"/>
              <a:gd name="T1" fmla="*/ 0 h 25242"/>
              <a:gd name="T2" fmla="*/ 0 w 43156"/>
              <a:gd name="T3" fmla="*/ 41084 h 25242"/>
              <a:gd name="T4" fmla="*/ 676378 w 43156"/>
              <a:gd name="T5" fmla="*/ 29776 h 2524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156" h="25242" fill="none" extrusionOk="0">
                <a:moveTo>
                  <a:pt x="42846" y="0"/>
                </a:moveTo>
                <a:cubicBezTo>
                  <a:pt x="43052" y="1203"/>
                  <a:pt x="43156" y="2421"/>
                  <a:pt x="43156" y="3642"/>
                </a:cubicBezTo>
                <a:cubicBezTo>
                  <a:pt x="43156" y="15571"/>
                  <a:pt x="33485" y="25242"/>
                  <a:pt x="21556" y="25242"/>
                </a:cubicBezTo>
                <a:cubicBezTo>
                  <a:pt x="10163" y="25242"/>
                  <a:pt x="729" y="16394"/>
                  <a:pt x="0" y="5024"/>
                </a:cubicBezTo>
              </a:path>
              <a:path w="43156" h="25242" stroke="0" extrusionOk="0">
                <a:moveTo>
                  <a:pt x="42846" y="0"/>
                </a:moveTo>
                <a:cubicBezTo>
                  <a:pt x="43052" y="1203"/>
                  <a:pt x="43156" y="2421"/>
                  <a:pt x="43156" y="3642"/>
                </a:cubicBezTo>
                <a:cubicBezTo>
                  <a:pt x="43156" y="15571"/>
                  <a:pt x="33485" y="25242"/>
                  <a:pt x="21556" y="25242"/>
                </a:cubicBezTo>
                <a:cubicBezTo>
                  <a:pt x="10163" y="25242"/>
                  <a:pt x="729" y="16394"/>
                  <a:pt x="0" y="5024"/>
                </a:cubicBezTo>
                <a:lnTo>
                  <a:pt x="21556" y="3642"/>
                </a:lnTo>
                <a:lnTo>
                  <a:pt x="42846" y="0"/>
                </a:lnTo>
                <a:close/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1270" name="Line 6"/>
          <p:cNvSpPr>
            <a:spLocks noChangeShapeType="1"/>
          </p:cNvSpPr>
          <p:nvPr/>
        </p:nvSpPr>
        <p:spPr bwMode="auto">
          <a:xfrm>
            <a:off x="6842125" y="2305050"/>
            <a:ext cx="7938" cy="40465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1271" name="Line 7"/>
          <p:cNvSpPr>
            <a:spLocks noChangeShapeType="1"/>
          </p:cNvSpPr>
          <p:nvPr/>
        </p:nvSpPr>
        <p:spPr bwMode="auto">
          <a:xfrm>
            <a:off x="8194675" y="2355850"/>
            <a:ext cx="14288" cy="39846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1273" name="Arc 9"/>
          <p:cNvSpPr>
            <a:spLocks/>
          </p:cNvSpPr>
          <p:nvPr/>
        </p:nvSpPr>
        <p:spPr bwMode="auto">
          <a:xfrm flipV="1">
            <a:off x="6850063" y="6186488"/>
            <a:ext cx="1354137" cy="180975"/>
          </a:xfrm>
          <a:custGeom>
            <a:avLst/>
            <a:gdLst>
              <a:gd name="T0" fmla="*/ 1353917 w 43156"/>
              <a:gd name="T1" fmla="*/ 0 h 22138"/>
              <a:gd name="T2" fmla="*/ 0 w 43156"/>
              <a:gd name="T3" fmla="*/ 15704 h 22138"/>
              <a:gd name="T4" fmla="*/ 676378 w 43156"/>
              <a:gd name="T5" fmla="*/ 4398 h 2213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156" h="22138" fill="none" extrusionOk="0">
                <a:moveTo>
                  <a:pt x="43149" y="-1"/>
                </a:moveTo>
                <a:cubicBezTo>
                  <a:pt x="43153" y="179"/>
                  <a:pt x="43156" y="358"/>
                  <a:pt x="43156" y="538"/>
                </a:cubicBezTo>
                <a:cubicBezTo>
                  <a:pt x="43156" y="12467"/>
                  <a:pt x="33485" y="22138"/>
                  <a:pt x="21556" y="22138"/>
                </a:cubicBezTo>
                <a:cubicBezTo>
                  <a:pt x="10163" y="22138"/>
                  <a:pt x="729" y="13290"/>
                  <a:pt x="0" y="1920"/>
                </a:cubicBezTo>
              </a:path>
              <a:path w="43156" h="22138" stroke="0" extrusionOk="0">
                <a:moveTo>
                  <a:pt x="43149" y="-1"/>
                </a:moveTo>
                <a:cubicBezTo>
                  <a:pt x="43153" y="179"/>
                  <a:pt x="43156" y="358"/>
                  <a:pt x="43156" y="538"/>
                </a:cubicBezTo>
                <a:cubicBezTo>
                  <a:pt x="43156" y="12467"/>
                  <a:pt x="33485" y="22138"/>
                  <a:pt x="21556" y="22138"/>
                </a:cubicBezTo>
                <a:cubicBezTo>
                  <a:pt x="10163" y="22138"/>
                  <a:pt x="729" y="13290"/>
                  <a:pt x="0" y="1920"/>
                </a:cubicBezTo>
                <a:lnTo>
                  <a:pt x="21556" y="538"/>
                </a:lnTo>
                <a:lnTo>
                  <a:pt x="43149" y="-1"/>
                </a:lnTo>
                <a:close/>
              </a:path>
            </a:pathLst>
          </a:cu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1275" name="Oval 11"/>
          <p:cNvSpPr>
            <a:spLocks noChangeAspect="1" noChangeArrowheads="1"/>
          </p:cNvSpPr>
          <p:nvPr/>
        </p:nvSpPr>
        <p:spPr bwMode="auto">
          <a:xfrm>
            <a:off x="6854825" y="2303463"/>
            <a:ext cx="1352550" cy="1354137"/>
          </a:xfrm>
          <a:prstGeom prst="ellipse">
            <a:avLst/>
          </a:prstGeom>
          <a:solidFill>
            <a:srgbClr val="FFCC00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6" name="Arc 12"/>
          <p:cNvSpPr>
            <a:spLocks noChangeAspect="1"/>
          </p:cNvSpPr>
          <p:nvPr/>
        </p:nvSpPr>
        <p:spPr bwMode="auto">
          <a:xfrm>
            <a:off x="6854825" y="2943225"/>
            <a:ext cx="1352550" cy="223838"/>
          </a:xfrm>
          <a:custGeom>
            <a:avLst/>
            <a:gdLst>
              <a:gd name="T0" fmla="*/ 1351955 w 43200"/>
              <a:gd name="T1" fmla="*/ 7655 h 23306"/>
              <a:gd name="T2" fmla="*/ 2129 w 43200"/>
              <a:gd name="T3" fmla="*/ 0 h 23306"/>
              <a:gd name="T4" fmla="*/ 676275 w 43200"/>
              <a:gd name="T5" fmla="*/ 16385 h 2330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00" h="23306" fill="none" extrusionOk="0">
                <a:moveTo>
                  <a:pt x="43180" y="797"/>
                </a:moveTo>
                <a:cubicBezTo>
                  <a:pt x="43193" y="1099"/>
                  <a:pt x="43200" y="1402"/>
                  <a:pt x="43200" y="1706"/>
                </a:cubicBezTo>
                <a:cubicBezTo>
                  <a:pt x="43200" y="13635"/>
                  <a:pt x="33529" y="23306"/>
                  <a:pt x="21600" y="23306"/>
                </a:cubicBezTo>
                <a:cubicBezTo>
                  <a:pt x="9670" y="23306"/>
                  <a:pt x="0" y="13635"/>
                  <a:pt x="0" y="1706"/>
                </a:cubicBezTo>
                <a:cubicBezTo>
                  <a:pt x="-1" y="1136"/>
                  <a:pt x="22" y="567"/>
                  <a:pt x="67" y="-1"/>
                </a:cubicBezTo>
              </a:path>
              <a:path w="43200" h="23306" stroke="0" extrusionOk="0">
                <a:moveTo>
                  <a:pt x="43180" y="797"/>
                </a:moveTo>
                <a:cubicBezTo>
                  <a:pt x="43193" y="1099"/>
                  <a:pt x="43200" y="1402"/>
                  <a:pt x="43200" y="1706"/>
                </a:cubicBezTo>
                <a:cubicBezTo>
                  <a:pt x="43200" y="13635"/>
                  <a:pt x="33529" y="23306"/>
                  <a:pt x="21600" y="23306"/>
                </a:cubicBezTo>
                <a:cubicBezTo>
                  <a:pt x="9670" y="23306"/>
                  <a:pt x="0" y="13635"/>
                  <a:pt x="0" y="1706"/>
                </a:cubicBezTo>
                <a:cubicBezTo>
                  <a:pt x="-1" y="1136"/>
                  <a:pt x="22" y="567"/>
                  <a:pt x="67" y="-1"/>
                </a:cubicBezTo>
                <a:lnTo>
                  <a:pt x="21600" y="1706"/>
                </a:lnTo>
                <a:lnTo>
                  <a:pt x="43180" y="797"/>
                </a:lnTo>
                <a:close/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1277" name="Arc 13"/>
          <p:cNvSpPr>
            <a:spLocks noChangeAspect="1"/>
          </p:cNvSpPr>
          <p:nvPr/>
        </p:nvSpPr>
        <p:spPr bwMode="auto">
          <a:xfrm flipV="1">
            <a:off x="6859588" y="2754313"/>
            <a:ext cx="1350962" cy="223837"/>
          </a:xfrm>
          <a:custGeom>
            <a:avLst/>
            <a:gdLst>
              <a:gd name="T0" fmla="*/ 1350962 w 43149"/>
              <a:gd name="T1" fmla="*/ 30618 h 23306"/>
              <a:gd name="T2" fmla="*/ 2129 w 43149"/>
              <a:gd name="T3" fmla="*/ 0 h 23306"/>
              <a:gd name="T4" fmla="*/ 676279 w 43149"/>
              <a:gd name="T5" fmla="*/ 16385 h 2330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149" h="23306" fill="none" extrusionOk="0">
                <a:moveTo>
                  <a:pt x="43149" y="3188"/>
                </a:moveTo>
                <a:cubicBezTo>
                  <a:pt x="42370" y="14515"/>
                  <a:pt x="32954" y="23305"/>
                  <a:pt x="21600" y="23306"/>
                </a:cubicBezTo>
                <a:cubicBezTo>
                  <a:pt x="9670" y="23306"/>
                  <a:pt x="0" y="13635"/>
                  <a:pt x="0" y="1706"/>
                </a:cubicBezTo>
                <a:cubicBezTo>
                  <a:pt x="-1" y="1136"/>
                  <a:pt x="22" y="567"/>
                  <a:pt x="67" y="-1"/>
                </a:cubicBezTo>
              </a:path>
              <a:path w="43149" h="23306" stroke="0" extrusionOk="0">
                <a:moveTo>
                  <a:pt x="43149" y="3188"/>
                </a:moveTo>
                <a:cubicBezTo>
                  <a:pt x="42370" y="14515"/>
                  <a:pt x="32954" y="23305"/>
                  <a:pt x="21600" y="23306"/>
                </a:cubicBezTo>
                <a:cubicBezTo>
                  <a:pt x="9670" y="23306"/>
                  <a:pt x="0" y="13635"/>
                  <a:pt x="0" y="1706"/>
                </a:cubicBezTo>
                <a:cubicBezTo>
                  <a:pt x="-1" y="1136"/>
                  <a:pt x="22" y="567"/>
                  <a:pt x="67" y="-1"/>
                </a:cubicBezTo>
                <a:lnTo>
                  <a:pt x="21600" y="1706"/>
                </a:lnTo>
                <a:lnTo>
                  <a:pt x="43149" y="3188"/>
                </a:lnTo>
                <a:close/>
              </a:path>
            </a:pathLst>
          </a:cu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1279" name="Oval 15"/>
          <p:cNvSpPr>
            <a:spLocks noChangeAspect="1" noChangeArrowheads="1"/>
          </p:cNvSpPr>
          <p:nvPr/>
        </p:nvSpPr>
        <p:spPr bwMode="auto">
          <a:xfrm>
            <a:off x="6842125" y="3662363"/>
            <a:ext cx="1352550" cy="1354137"/>
          </a:xfrm>
          <a:prstGeom prst="ellipse">
            <a:avLst/>
          </a:prstGeom>
          <a:solidFill>
            <a:srgbClr val="FFCC00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80" name="Arc 16"/>
          <p:cNvSpPr>
            <a:spLocks noChangeAspect="1"/>
          </p:cNvSpPr>
          <p:nvPr/>
        </p:nvSpPr>
        <p:spPr bwMode="auto">
          <a:xfrm>
            <a:off x="6842125" y="4302125"/>
            <a:ext cx="1352550" cy="223838"/>
          </a:xfrm>
          <a:custGeom>
            <a:avLst/>
            <a:gdLst>
              <a:gd name="T0" fmla="*/ 1351955 w 43200"/>
              <a:gd name="T1" fmla="*/ 7655 h 23306"/>
              <a:gd name="T2" fmla="*/ 2129 w 43200"/>
              <a:gd name="T3" fmla="*/ 0 h 23306"/>
              <a:gd name="T4" fmla="*/ 676275 w 43200"/>
              <a:gd name="T5" fmla="*/ 16385 h 2330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00" h="23306" fill="none" extrusionOk="0">
                <a:moveTo>
                  <a:pt x="43180" y="797"/>
                </a:moveTo>
                <a:cubicBezTo>
                  <a:pt x="43193" y="1099"/>
                  <a:pt x="43200" y="1402"/>
                  <a:pt x="43200" y="1706"/>
                </a:cubicBezTo>
                <a:cubicBezTo>
                  <a:pt x="43200" y="13635"/>
                  <a:pt x="33529" y="23306"/>
                  <a:pt x="21600" y="23306"/>
                </a:cubicBezTo>
                <a:cubicBezTo>
                  <a:pt x="9670" y="23306"/>
                  <a:pt x="0" y="13635"/>
                  <a:pt x="0" y="1706"/>
                </a:cubicBezTo>
                <a:cubicBezTo>
                  <a:pt x="-1" y="1136"/>
                  <a:pt x="22" y="567"/>
                  <a:pt x="67" y="-1"/>
                </a:cubicBezTo>
              </a:path>
              <a:path w="43200" h="23306" stroke="0" extrusionOk="0">
                <a:moveTo>
                  <a:pt x="43180" y="797"/>
                </a:moveTo>
                <a:cubicBezTo>
                  <a:pt x="43193" y="1099"/>
                  <a:pt x="43200" y="1402"/>
                  <a:pt x="43200" y="1706"/>
                </a:cubicBezTo>
                <a:cubicBezTo>
                  <a:pt x="43200" y="13635"/>
                  <a:pt x="33529" y="23306"/>
                  <a:pt x="21600" y="23306"/>
                </a:cubicBezTo>
                <a:cubicBezTo>
                  <a:pt x="9670" y="23306"/>
                  <a:pt x="0" y="13635"/>
                  <a:pt x="0" y="1706"/>
                </a:cubicBezTo>
                <a:cubicBezTo>
                  <a:pt x="-1" y="1136"/>
                  <a:pt x="22" y="567"/>
                  <a:pt x="67" y="-1"/>
                </a:cubicBezTo>
                <a:lnTo>
                  <a:pt x="21600" y="1706"/>
                </a:lnTo>
                <a:lnTo>
                  <a:pt x="43180" y="797"/>
                </a:lnTo>
                <a:close/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1281" name="Arc 17"/>
          <p:cNvSpPr>
            <a:spLocks noChangeAspect="1"/>
          </p:cNvSpPr>
          <p:nvPr/>
        </p:nvSpPr>
        <p:spPr bwMode="auto">
          <a:xfrm flipV="1">
            <a:off x="6846888" y="4113213"/>
            <a:ext cx="1350962" cy="223837"/>
          </a:xfrm>
          <a:custGeom>
            <a:avLst/>
            <a:gdLst>
              <a:gd name="T0" fmla="*/ 1350962 w 43149"/>
              <a:gd name="T1" fmla="*/ 30618 h 23306"/>
              <a:gd name="T2" fmla="*/ 2129 w 43149"/>
              <a:gd name="T3" fmla="*/ 0 h 23306"/>
              <a:gd name="T4" fmla="*/ 676279 w 43149"/>
              <a:gd name="T5" fmla="*/ 16385 h 2330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149" h="23306" fill="none" extrusionOk="0">
                <a:moveTo>
                  <a:pt x="43149" y="3188"/>
                </a:moveTo>
                <a:cubicBezTo>
                  <a:pt x="42370" y="14515"/>
                  <a:pt x="32954" y="23305"/>
                  <a:pt x="21600" y="23306"/>
                </a:cubicBezTo>
                <a:cubicBezTo>
                  <a:pt x="9670" y="23306"/>
                  <a:pt x="0" y="13635"/>
                  <a:pt x="0" y="1706"/>
                </a:cubicBezTo>
                <a:cubicBezTo>
                  <a:pt x="-1" y="1136"/>
                  <a:pt x="22" y="567"/>
                  <a:pt x="67" y="-1"/>
                </a:cubicBezTo>
              </a:path>
              <a:path w="43149" h="23306" stroke="0" extrusionOk="0">
                <a:moveTo>
                  <a:pt x="43149" y="3188"/>
                </a:moveTo>
                <a:cubicBezTo>
                  <a:pt x="42370" y="14515"/>
                  <a:pt x="32954" y="23305"/>
                  <a:pt x="21600" y="23306"/>
                </a:cubicBezTo>
                <a:cubicBezTo>
                  <a:pt x="9670" y="23306"/>
                  <a:pt x="0" y="13635"/>
                  <a:pt x="0" y="1706"/>
                </a:cubicBezTo>
                <a:cubicBezTo>
                  <a:pt x="-1" y="1136"/>
                  <a:pt x="22" y="567"/>
                  <a:pt x="67" y="-1"/>
                </a:cubicBezTo>
                <a:lnTo>
                  <a:pt x="21600" y="1706"/>
                </a:lnTo>
                <a:lnTo>
                  <a:pt x="43149" y="3188"/>
                </a:lnTo>
                <a:close/>
              </a:path>
            </a:pathLst>
          </a:cu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1283" name="Oval 19"/>
          <p:cNvSpPr>
            <a:spLocks noChangeAspect="1" noChangeArrowheads="1"/>
          </p:cNvSpPr>
          <p:nvPr/>
        </p:nvSpPr>
        <p:spPr bwMode="auto">
          <a:xfrm>
            <a:off x="6848475" y="5011738"/>
            <a:ext cx="1352550" cy="1354137"/>
          </a:xfrm>
          <a:prstGeom prst="ellipse">
            <a:avLst/>
          </a:prstGeom>
          <a:solidFill>
            <a:srgbClr val="FFCC00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84" name="Arc 20"/>
          <p:cNvSpPr>
            <a:spLocks noChangeAspect="1"/>
          </p:cNvSpPr>
          <p:nvPr/>
        </p:nvSpPr>
        <p:spPr bwMode="auto">
          <a:xfrm>
            <a:off x="6848475" y="5651500"/>
            <a:ext cx="1352550" cy="223838"/>
          </a:xfrm>
          <a:custGeom>
            <a:avLst/>
            <a:gdLst>
              <a:gd name="T0" fmla="*/ 1351955 w 43200"/>
              <a:gd name="T1" fmla="*/ 7655 h 23306"/>
              <a:gd name="T2" fmla="*/ 2129 w 43200"/>
              <a:gd name="T3" fmla="*/ 0 h 23306"/>
              <a:gd name="T4" fmla="*/ 676275 w 43200"/>
              <a:gd name="T5" fmla="*/ 16385 h 2330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00" h="23306" fill="none" extrusionOk="0">
                <a:moveTo>
                  <a:pt x="43180" y="797"/>
                </a:moveTo>
                <a:cubicBezTo>
                  <a:pt x="43193" y="1099"/>
                  <a:pt x="43200" y="1402"/>
                  <a:pt x="43200" y="1706"/>
                </a:cubicBezTo>
                <a:cubicBezTo>
                  <a:pt x="43200" y="13635"/>
                  <a:pt x="33529" y="23306"/>
                  <a:pt x="21600" y="23306"/>
                </a:cubicBezTo>
                <a:cubicBezTo>
                  <a:pt x="9670" y="23306"/>
                  <a:pt x="0" y="13635"/>
                  <a:pt x="0" y="1706"/>
                </a:cubicBezTo>
                <a:cubicBezTo>
                  <a:pt x="-1" y="1136"/>
                  <a:pt x="22" y="567"/>
                  <a:pt x="67" y="-1"/>
                </a:cubicBezTo>
              </a:path>
              <a:path w="43200" h="23306" stroke="0" extrusionOk="0">
                <a:moveTo>
                  <a:pt x="43180" y="797"/>
                </a:moveTo>
                <a:cubicBezTo>
                  <a:pt x="43193" y="1099"/>
                  <a:pt x="43200" y="1402"/>
                  <a:pt x="43200" y="1706"/>
                </a:cubicBezTo>
                <a:cubicBezTo>
                  <a:pt x="43200" y="13635"/>
                  <a:pt x="33529" y="23306"/>
                  <a:pt x="21600" y="23306"/>
                </a:cubicBezTo>
                <a:cubicBezTo>
                  <a:pt x="9670" y="23306"/>
                  <a:pt x="0" y="13635"/>
                  <a:pt x="0" y="1706"/>
                </a:cubicBezTo>
                <a:cubicBezTo>
                  <a:pt x="-1" y="1136"/>
                  <a:pt x="22" y="567"/>
                  <a:pt x="67" y="-1"/>
                </a:cubicBezTo>
                <a:lnTo>
                  <a:pt x="21600" y="1706"/>
                </a:lnTo>
                <a:lnTo>
                  <a:pt x="43180" y="797"/>
                </a:lnTo>
                <a:close/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1285" name="Arc 21"/>
          <p:cNvSpPr>
            <a:spLocks noChangeAspect="1"/>
          </p:cNvSpPr>
          <p:nvPr/>
        </p:nvSpPr>
        <p:spPr bwMode="auto">
          <a:xfrm flipV="1">
            <a:off x="6853238" y="5462588"/>
            <a:ext cx="1350962" cy="223837"/>
          </a:xfrm>
          <a:custGeom>
            <a:avLst/>
            <a:gdLst>
              <a:gd name="T0" fmla="*/ 1350962 w 43149"/>
              <a:gd name="T1" fmla="*/ 30618 h 23306"/>
              <a:gd name="T2" fmla="*/ 2129 w 43149"/>
              <a:gd name="T3" fmla="*/ 0 h 23306"/>
              <a:gd name="T4" fmla="*/ 676279 w 43149"/>
              <a:gd name="T5" fmla="*/ 16385 h 2330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149" h="23306" fill="none" extrusionOk="0">
                <a:moveTo>
                  <a:pt x="43149" y="3188"/>
                </a:moveTo>
                <a:cubicBezTo>
                  <a:pt x="42370" y="14515"/>
                  <a:pt x="32954" y="23305"/>
                  <a:pt x="21600" y="23306"/>
                </a:cubicBezTo>
                <a:cubicBezTo>
                  <a:pt x="9670" y="23306"/>
                  <a:pt x="0" y="13635"/>
                  <a:pt x="0" y="1706"/>
                </a:cubicBezTo>
                <a:cubicBezTo>
                  <a:pt x="-1" y="1136"/>
                  <a:pt x="22" y="567"/>
                  <a:pt x="67" y="-1"/>
                </a:cubicBezTo>
              </a:path>
              <a:path w="43149" h="23306" stroke="0" extrusionOk="0">
                <a:moveTo>
                  <a:pt x="43149" y="3188"/>
                </a:moveTo>
                <a:cubicBezTo>
                  <a:pt x="42370" y="14515"/>
                  <a:pt x="32954" y="23305"/>
                  <a:pt x="21600" y="23306"/>
                </a:cubicBezTo>
                <a:cubicBezTo>
                  <a:pt x="9670" y="23306"/>
                  <a:pt x="0" y="13635"/>
                  <a:pt x="0" y="1706"/>
                </a:cubicBezTo>
                <a:cubicBezTo>
                  <a:pt x="-1" y="1136"/>
                  <a:pt x="22" y="567"/>
                  <a:pt x="67" y="-1"/>
                </a:cubicBezTo>
                <a:lnTo>
                  <a:pt x="21600" y="1706"/>
                </a:lnTo>
                <a:lnTo>
                  <a:pt x="43149" y="3188"/>
                </a:lnTo>
                <a:close/>
              </a:path>
            </a:pathLst>
          </a:cu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1268" name="Oval 4"/>
          <p:cNvSpPr>
            <a:spLocks noChangeArrowheads="1"/>
          </p:cNvSpPr>
          <p:nvPr/>
        </p:nvSpPr>
        <p:spPr bwMode="auto">
          <a:xfrm>
            <a:off x="6842125" y="2162175"/>
            <a:ext cx="1354138" cy="330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86" name="Line 22"/>
          <p:cNvSpPr>
            <a:spLocks noChangeShapeType="1"/>
          </p:cNvSpPr>
          <p:nvPr/>
        </p:nvSpPr>
        <p:spPr bwMode="auto">
          <a:xfrm>
            <a:off x="7551738" y="2286000"/>
            <a:ext cx="6445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1287" name="Line 23"/>
          <p:cNvSpPr>
            <a:spLocks noChangeShapeType="1"/>
          </p:cNvSpPr>
          <p:nvPr/>
        </p:nvSpPr>
        <p:spPr bwMode="auto">
          <a:xfrm>
            <a:off x="6608763" y="3679825"/>
            <a:ext cx="0" cy="13287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1288" name="Text Box 24"/>
          <p:cNvSpPr txBox="1">
            <a:spLocks noChangeArrowheads="1"/>
          </p:cNvSpPr>
          <p:nvPr/>
        </p:nvSpPr>
        <p:spPr bwMode="auto">
          <a:xfrm>
            <a:off x="8153400" y="2184400"/>
            <a:ext cx="8810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1600">
                <a:latin typeface="Comic Sans MS" pitchFamily="66" charset="0"/>
              </a:rPr>
              <a:t>3.8cm</a:t>
            </a:r>
          </a:p>
        </p:txBody>
      </p:sp>
      <p:sp>
        <p:nvSpPr>
          <p:cNvPr id="11289" name="Text Box 25"/>
          <p:cNvSpPr txBox="1">
            <a:spLocks noChangeArrowheads="1"/>
          </p:cNvSpPr>
          <p:nvPr/>
        </p:nvSpPr>
        <p:spPr bwMode="auto">
          <a:xfrm>
            <a:off x="5854700" y="4149725"/>
            <a:ext cx="8810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1600">
                <a:latin typeface="Comic Sans MS" pitchFamily="66" charset="0"/>
              </a:rPr>
              <a:t>7.6cm</a:t>
            </a:r>
          </a:p>
        </p:txBody>
      </p:sp>
      <p:sp>
        <p:nvSpPr>
          <p:cNvPr id="11290" name="Text Box 26"/>
          <p:cNvSpPr txBox="1">
            <a:spLocks noChangeArrowheads="1"/>
          </p:cNvSpPr>
          <p:nvPr/>
        </p:nvSpPr>
        <p:spPr bwMode="auto">
          <a:xfrm>
            <a:off x="904875" y="3368675"/>
            <a:ext cx="5106988" cy="2292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itchFamily="2" charset="2"/>
              <a:buChar char="à"/>
            </a:pPr>
            <a:r>
              <a:rPr lang="en-GB">
                <a:latin typeface="Comic Sans MS" pitchFamily="66" charset="0"/>
              </a:rPr>
              <a:t>  As the balls fit exactly, the radius of a ball must be 3.8cm</a:t>
            </a:r>
          </a:p>
          <a:p>
            <a:pPr eaLnBrk="1" hangingPunct="1">
              <a:spcBef>
                <a:spcPct val="50000"/>
              </a:spcBef>
              <a:buFont typeface="Wingdings" pitchFamily="2" charset="2"/>
              <a:buChar char="à"/>
            </a:pPr>
            <a:r>
              <a:rPr lang="en-GB">
                <a:latin typeface="Comic Sans MS" pitchFamily="66" charset="0"/>
                <a:sym typeface="Wingdings" pitchFamily="2" charset="2"/>
              </a:rPr>
              <a:t>  The diameter of a ball must be 7.6cm.</a:t>
            </a:r>
          </a:p>
          <a:p>
            <a:pPr eaLnBrk="1" hangingPunct="1">
              <a:spcBef>
                <a:spcPct val="50000"/>
              </a:spcBef>
              <a:buFont typeface="Wingdings" pitchFamily="2" charset="2"/>
              <a:buChar char="à"/>
            </a:pPr>
            <a:r>
              <a:rPr lang="en-GB">
                <a:latin typeface="Comic Sans MS" pitchFamily="66" charset="0"/>
              </a:rPr>
              <a:t>  The tube is ‘3 balls’ in height</a:t>
            </a:r>
          </a:p>
          <a:p>
            <a:pPr eaLnBrk="1" hangingPunct="1">
              <a:spcBef>
                <a:spcPct val="50000"/>
              </a:spcBef>
              <a:buFont typeface="Wingdings" pitchFamily="2" charset="2"/>
              <a:buChar char="à"/>
            </a:pPr>
            <a:r>
              <a:rPr lang="en-GB">
                <a:latin typeface="Comic Sans MS" pitchFamily="66" charset="0"/>
              </a:rPr>
              <a:t>  The tube is (3 x 7.6)cm high</a:t>
            </a:r>
          </a:p>
          <a:p>
            <a:pPr eaLnBrk="1" hangingPunct="1">
              <a:spcBef>
                <a:spcPct val="50000"/>
              </a:spcBef>
              <a:buFont typeface="Wingdings" pitchFamily="2" charset="2"/>
              <a:buChar char="à"/>
            </a:pPr>
            <a:r>
              <a:rPr lang="en-GB">
                <a:latin typeface="Comic Sans MS" pitchFamily="66" charset="0"/>
              </a:rPr>
              <a:t>  22.8cm in height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10" t="848" r="11653" b="-848"/>
          <a:stretch>
            <a:fillRect/>
          </a:stretch>
        </p:blipFill>
        <p:spPr bwMode="auto">
          <a:xfrm>
            <a:off x="95250" y="95250"/>
            <a:ext cx="895350" cy="1214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/>
              <p:cNvSpPr txBox="1"/>
              <p:nvPr/>
            </p:nvSpPr>
            <p:spPr>
              <a:xfrm>
                <a:off x="2844418" y="831848"/>
                <a:ext cx="2138517" cy="586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/>
                        </a:rPr>
                        <m:t>𝑉𝑜𝑙𝑢𝑚𝑒</m:t>
                      </m:r>
                      <m:r>
                        <a:rPr lang="en-GB" sz="16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/>
                            </a:rPr>
                            <m:t>4</m:t>
                          </m:r>
                          <m:r>
                            <a:rPr lang="en-GB" sz="1600" b="0" i="1" smtClean="0">
                              <a:latin typeface="Cambria Math"/>
                              <a:ea typeface="Cambria Math"/>
                            </a:rPr>
                            <m:t>𝜋</m:t>
                          </m:r>
                          <m:sSup>
                            <m:sSup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GB" sz="1600" b="0" i="1" smtClean="0">
                                  <a:latin typeface="Cambria Math"/>
                                  <a:ea typeface="Cambria Math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GB" sz="1600" b="0" i="1" smtClean="0">
                                  <a:latin typeface="Cambria Math"/>
                                  <a:ea typeface="Cambria Math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en-GB" sz="1600" b="0" i="1" smtClean="0">
                              <a:latin typeface="Cambria Math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sz="1600" dirty="0"/>
              </a:p>
            </p:txBody>
          </p:sp>
        </mc:Choice>
        <mc:Fallback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4418" y="831848"/>
                <a:ext cx="2138517" cy="586443"/>
              </a:xfrm>
              <a:prstGeom prst="rect">
                <a:avLst/>
              </a:prstGeom>
              <a:blipFill>
                <a:blip r:embed="rId3"/>
                <a:stretch>
                  <a:fillRect b="-20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5793878" y="1054240"/>
                <a:ext cx="219861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/>
                        </a:rPr>
                        <m:t>𝑆𝑢𝑟𝑓𝑎𝑐𝑒</m:t>
                      </m:r>
                      <m:r>
                        <a:rPr lang="en-GB" sz="1600" b="0" i="1" smtClean="0">
                          <a:latin typeface="Cambria Math"/>
                        </a:rPr>
                        <m:t> </m:t>
                      </m:r>
                      <m:r>
                        <a:rPr lang="en-GB" sz="1600" b="0" i="1" smtClean="0">
                          <a:latin typeface="Cambria Math"/>
                        </a:rPr>
                        <m:t>𝐴𝑟𝑒𝑎</m:t>
                      </m:r>
                      <m:r>
                        <a:rPr lang="en-GB" sz="1600" b="0" i="1" smtClean="0">
                          <a:latin typeface="Cambria Math"/>
                        </a:rPr>
                        <m:t>=4</m:t>
                      </m:r>
                      <m:r>
                        <a:rPr lang="en-GB" sz="1600" b="0" i="1" smtClean="0">
                          <a:latin typeface="Cambria Math"/>
                          <a:ea typeface="Cambria Math"/>
                        </a:rPr>
                        <m:t>𝜋</m:t>
                      </m:r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/>
                              <a:ea typeface="Cambria Math"/>
                            </a:rPr>
                            <m:t>𝑟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/>
                              <a:ea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3878" y="1054240"/>
                <a:ext cx="2198614" cy="338554"/>
              </a:xfrm>
              <a:prstGeom prst="rect">
                <a:avLst/>
              </a:prstGeom>
              <a:blipFill rotWithShape="1">
                <a:blip r:embed="rId4"/>
                <a:stretch>
                  <a:fillRect b="-1272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1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1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1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1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1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1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1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1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1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1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1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1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1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11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112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112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11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11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112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112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112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9" grpId="0" animBg="1"/>
      <p:bldP spid="11270" grpId="0" animBg="1"/>
      <p:bldP spid="11271" grpId="0" animBg="1"/>
      <p:bldP spid="11273" grpId="0" animBg="1"/>
      <p:bldP spid="11275" grpId="0" animBg="1"/>
      <p:bldP spid="11276" grpId="0" animBg="1"/>
      <p:bldP spid="11277" grpId="0" animBg="1"/>
      <p:bldP spid="11279" grpId="0" animBg="1"/>
      <p:bldP spid="11280" grpId="0" animBg="1"/>
      <p:bldP spid="11281" grpId="0" animBg="1"/>
      <p:bldP spid="11283" grpId="0" animBg="1"/>
      <p:bldP spid="11284" grpId="0" animBg="1"/>
      <p:bldP spid="11285" grpId="0" animBg="1"/>
      <p:bldP spid="11268" grpId="0" animBg="1"/>
      <p:bldP spid="11286" grpId="0" animBg="1"/>
      <p:bldP spid="11287" grpId="0" animBg="1"/>
      <p:bldP spid="11288" grpId="0"/>
      <p:bldP spid="1128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257300" y="198437"/>
            <a:ext cx="7886700" cy="1325563"/>
          </a:xfrm>
        </p:spPr>
        <p:txBody>
          <a:bodyPr/>
          <a:lstStyle/>
          <a:p>
            <a:pPr eaLnBrk="1" hangingPunct="1"/>
            <a:r>
              <a:rPr lang="en-GB" sz="4000" dirty="0">
                <a:latin typeface="Comic Sans MS" pitchFamily="66" charset="0"/>
              </a:rPr>
              <a:t>Volume and Surface Area of a Sphere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sz="1800">
                <a:latin typeface="Comic Sans MS" pitchFamily="66" charset="0"/>
              </a:rPr>
              <a:t>A tube of tennis balls is a cylinder with a radius of 3.8cm. It contains 3 balls which fit exactly inside it.</a:t>
            </a:r>
          </a:p>
          <a:p>
            <a:pPr eaLnBrk="1" hangingPunct="1"/>
            <a:endParaRPr lang="en-GB" sz="1800">
              <a:latin typeface="Comic Sans MS" pitchFamily="66" charset="0"/>
            </a:endParaRPr>
          </a:p>
          <a:p>
            <a:pPr eaLnBrk="1" hangingPunct="1">
              <a:buFontTx/>
              <a:buNone/>
            </a:pPr>
            <a:r>
              <a:rPr lang="en-GB" sz="1800">
                <a:latin typeface="Comic Sans MS" pitchFamily="66" charset="0"/>
              </a:rPr>
              <a:t>	b)	What is the Volume of the </a:t>
            </a:r>
          </a:p>
          <a:p>
            <a:pPr eaLnBrk="1" hangingPunct="1">
              <a:buFontTx/>
              <a:buNone/>
            </a:pPr>
            <a:r>
              <a:rPr lang="en-GB" sz="1800">
                <a:latin typeface="Comic Sans MS" pitchFamily="66" charset="0"/>
              </a:rPr>
              <a:t>		empty space in the Tube?</a:t>
            </a:r>
          </a:p>
          <a:p>
            <a:pPr eaLnBrk="1" hangingPunct="1">
              <a:buFontTx/>
              <a:buNone/>
            </a:pPr>
            <a:endParaRPr lang="en-GB" sz="1800">
              <a:latin typeface="Comic Sans MS" pitchFamily="66" charset="0"/>
            </a:endParaRPr>
          </a:p>
          <a:p>
            <a:pPr eaLnBrk="1" hangingPunct="1">
              <a:buFontTx/>
              <a:buNone/>
            </a:pPr>
            <a:r>
              <a:rPr lang="en-GB" sz="1800">
                <a:latin typeface="Comic Sans MS" pitchFamily="66" charset="0"/>
              </a:rPr>
              <a:t>	</a:t>
            </a:r>
            <a:r>
              <a:rPr lang="en-GB" sz="1800">
                <a:latin typeface="Comic Sans MS" pitchFamily="66" charset="0"/>
                <a:sym typeface="Wingdings" pitchFamily="2" charset="2"/>
              </a:rPr>
              <a:t>  Volume of the Cylinder – Volume of the balls</a:t>
            </a:r>
            <a:endParaRPr lang="en-GB" sz="1800">
              <a:latin typeface="Comic Sans MS" pitchFamily="66" charset="0"/>
            </a:endParaRPr>
          </a:p>
        </p:txBody>
      </p:sp>
      <p:sp>
        <p:nvSpPr>
          <p:cNvPr id="12292" name="Arc 4"/>
          <p:cNvSpPr>
            <a:spLocks/>
          </p:cNvSpPr>
          <p:nvPr/>
        </p:nvSpPr>
        <p:spPr bwMode="auto">
          <a:xfrm>
            <a:off x="6853238" y="6316663"/>
            <a:ext cx="1354137" cy="206375"/>
          </a:xfrm>
          <a:custGeom>
            <a:avLst/>
            <a:gdLst>
              <a:gd name="T0" fmla="*/ 1344441 w 43156"/>
              <a:gd name="T1" fmla="*/ 0 h 25242"/>
              <a:gd name="T2" fmla="*/ 0 w 43156"/>
              <a:gd name="T3" fmla="*/ 41084 h 25242"/>
              <a:gd name="T4" fmla="*/ 676378 w 43156"/>
              <a:gd name="T5" fmla="*/ 29776 h 2524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156" h="25242" fill="none" extrusionOk="0">
                <a:moveTo>
                  <a:pt x="42846" y="0"/>
                </a:moveTo>
                <a:cubicBezTo>
                  <a:pt x="43052" y="1203"/>
                  <a:pt x="43156" y="2421"/>
                  <a:pt x="43156" y="3642"/>
                </a:cubicBezTo>
                <a:cubicBezTo>
                  <a:pt x="43156" y="15571"/>
                  <a:pt x="33485" y="25242"/>
                  <a:pt x="21556" y="25242"/>
                </a:cubicBezTo>
                <a:cubicBezTo>
                  <a:pt x="10163" y="25242"/>
                  <a:pt x="729" y="16394"/>
                  <a:pt x="0" y="5024"/>
                </a:cubicBezTo>
              </a:path>
              <a:path w="43156" h="25242" stroke="0" extrusionOk="0">
                <a:moveTo>
                  <a:pt x="42846" y="0"/>
                </a:moveTo>
                <a:cubicBezTo>
                  <a:pt x="43052" y="1203"/>
                  <a:pt x="43156" y="2421"/>
                  <a:pt x="43156" y="3642"/>
                </a:cubicBezTo>
                <a:cubicBezTo>
                  <a:pt x="43156" y="15571"/>
                  <a:pt x="33485" y="25242"/>
                  <a:pt x="21556" y="25242"/>
                </a:cubicBezTo>
                <a:cubicBezTo>
                  <a:pt x="10163" y="25242"/>
                  <a:pt x="729" y="16394"/>
                  <a:pt x="0" y="5024"/>
                </a:cubicBezTo>
                <a:lnTo>
                  <a:pt x="21556" y="3642"/>
                </a:lnTo>
                <a:lnTo>
                  <a:pt x="42846" y="0"/>
                </a:lnTo>
                <a:close/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293" name="Line 5"/>
          <p:cNvSpPr>
            <a:spLocks noChangeShapeType="1"/>
          </p:cNvSpPr>
          <p:nvPr/>
        </p:nvSpPr>
        <p:spPr bwMode="auto">
          <a:xfrm>
            <a:off x="6842125" y="2305050"/>
            <a:ext cx="7938" cy="40465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2294" name="Line 6"/>
          <p:cNvSpPr>
            <a:spLocks noChangeShapeType="1"/>
          </p:cNvSpPr>
          <p:nvPr/>
        </p:nvSpPr>
        <p:spPr bwMode="auto">
          <a:xfrm>
            <a:off x="8194675" y="2355850"/>
            <a:ext cx="14288" cy="39846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2295" name="Arc 7"/>
          <p:cNvSpPr>
            <a:spLocks/>
          </p:cNvSpPr>
          <p:nvPr/>
        </p:nvSpPr>
        <p:spPr bwMode="auto">
          <a:xfrm flipV="1">
            <a:off x="6850063" y="6186488"/>
            <a:ext cx="1354137" cy="180975"/>
          </a:xfrm>
          <a:custGeom>
            <a:avLst/>
            <a:gdLst>
              <a:gd name="T0" fmla="*/ 1353917 w 43156"/>
              <a:gd name="T1" fmla="*/ 0 h 22138"/>
              <a:gd name="T2" fmla="*/ 0 w 43156"/>
              <a:gd name="T3" fmla="*/ 15704 h 22138"/>
              <a:gd name="T4" fmla="*/ 676378 w 43156"/>
              <a:gd name="T5" fmla="*/ 4398 h 2213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156" h="22138" fill="none" extrusionOk="0">
                <a:moveTo>
                  <a:pt x="43149" y="-1"/>
                </a:moveTo>
                <a:cubicBezTo>
                  <a:pt x="43153" y="179"/>
                  <a:pt x="43156" y="358"/>
                  <a:pt x="43156" y="538"/>
                </a:cubicBezTo>
                <a:cubicBezTo>
                  <a:pt x="43156" y="12467"/>
                  <a:pt x="33485" y="22138"/>
                  <a:pt x="21556" y="22138"/>
                </a:cubicBezTo>
                <a:cubicBezTo>
                  <a:pt x="10163" y="22138"/>
                  <a:pt x="729" y="13290"/>
                  <a:pt x="0" y="1920"/>
                </a:cubicBezTo>
              </a:path>
              <a:path w="43156" h="22138" stroke="0" extrusionOk="0">
                <a:moveTo>
                  <a:pt x="43149" y="-1"/>
                </a:moveTo>
                <a:cubicBezTo>
                  <a:pt x="43153" y="179"/>
                  <a:pt x="43156" y="358"/>
                  <a:pt x="43156" y="538"/>
                </a:cubicBezTo>
                <a:cubicBezTo>
                  <a:pt x="43156" y="12467"/>
                  <a:pt x="33485" y="22138"/>
                  <a:pt x="21556" y="22138"/>
                </a:cubicBezTo>
                <a:cubicBezTo>
                  <a:pt x="10163" y="22138"/>
                  <a:pt x="729" y="13290"/>
                  <a:pt x="0" y="1920"/>
                </a:cubicBezTo>
                <a:lnTo>
                  <a:pt x="21556" y="538"/>
                </a:lnTo>
                <a:lnTo>
                  <a:pt x="43149" y="-1"/>
                </a:lnTo>
                <a:close/>
              </a:path>
            </a:pathLst>
          </a:cu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296" name="Oval 8"/>
          <p:cNvSpPr>
            <a:spLocks noChangeAspect="1" noChangeArrowheads="1"/>
          </p:cNvSpPr>
          <p:nvPr/>
        </p:nvSpPr>
        <p:spPr bwMode="auto">
          <a:xfrm>
            <a:off x="6854825" y="2303463"/>
            <a:ext cx="1352550" cy="1354137"/>
          </a:xfrm>
          <a:prstGeom prst="ellipse">
            <a:avLst/>
          </a:prstGeom>
          <a:solidFill>
            <a:srgbClr val="FFCC00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7" name="Arc 9"/>
          <p:cNvSpPr>
            <a:spLocks noChangeAspect="1"/>
          </p:cNvSpPr>
          <p:nvPr/>
        </p:nvSpPr>
        <p:spPr bwMode="auto">
          <a:xfrm>
            <a:off x="6854825" y="2943225"/>
            <a:ext cx="1352550" cy="223838"/>
          </a:xfrm>
          <a:custGeom>
            <a:avLst/>
            <a:gdLst>
              <a:gd name="T0" fmla="*/ 1351955 w 43200"/>
              <a:gd name="T1" fmla="*/ 7655 h 23306"/>
              <a:gd name="T2" fmla="*/ 2129 w 43200"/>
              <a:gd name="T3" fmla="*/ 0 h 23306"/>
              <a:gd name="T4" fmla="*/ 676275 w 43200"/>
              <a:gd name="T5" fmla="*/ 16385 h 2330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00" h="23306" fill="none" extrusionOk="0">
                <a:moveTo>
                  <a:pt x="43180" y="797"/>
                </a:moveTo>
                <a:cubicBezTo>
                  <a:pt x="43193" y="1099"/>
                  <a:pt x="43200" y="1402"/>
                  <a:pt x="43200" y="1706"/>
                </a:cubicBezTo>
                <a:cubicBezTo>
                  <a:pt x="43200" y="13635"/>
                  <a:pt x="33529" y="23306"/>
                  <a:pt x="21600" y="23306"/>
                </a:cubicBezTo>
                <a:cubicBezTo>
                  <a:pt x="9670" y="23306"/>
                  <a:pt x="0" y="13635"/>
                  <a:pt x="0" y="1706"/>
                </a:cubicBezTo>
                <a:cubicBezTo>
                  <a:pt x="-1" y="1136"/>
                  <a:pt x="22" y="567"/>
                  <a:pt x="67" y="-1"/>
                </a:cubicBezTo>
              </a:path>
              <a:path w="43200" h="23306" stroke="0" extrusionOk="0">
                <a:moveTo>
                  <a:pt x="43180" y="797"/>
                </a:moveTo>
                <a:cubicBezTo>
                  <a:pt x="43193" y="1099"/>
                  <a:pt x="43200" y="1402"/>
                  <a:pt x="43200" y="1706"/>
                </a:cubicBezTo>
                <a:cubicBezTo>
                  <a:pt x="43200" y="13635"/>
                  <a:pt x="33529" y="23306"/>
                  <a:pt x="21600" y="23306"/>
                </a:cubicBezTo>
                <a:cubicBezTo>
                  <a:pt x="9670" y="23306"/>
                  <a:pt x="0" y="13635"/>
                  <a:pt x="0" y="1706"/>
                </a:cubicBezTo>
                <a:cubicBezTo>
                  <a:pt x="-1" y="1136"/>
                  <a:pt x="22" y="567"/>
                  <a:pt x="67" y="-1"/>
                </a:cubicBezTo>
                <a:lnTo>
                  <a:pt x="21600" y="1706"/>
                </a:lnTo>
                <a:lnTo>
                  <a:pt x="43180" y="797"/>
                </a:lnTo>
                <a:close/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298" name="Arc 10"/>
          <p:cNvSpPr>
            <a:spLocks noChangeAspect="1"/>
          </p:cNvSpPr>
          <p:nvPr/>
        </p:nvSpPr>
        <p:spPr bwMode="auto">
          <a:xfrm flipV="1">
            <a:off x="6859588" y="2754313"/>
            <a:ext cx="1350962" cy="223837"/>
          </a:xfrm>
          <a:custGeom>
            <a:avLst/>
            <a:gdLst>
              <a:gd name="T0" fmla="*/ 1350962 w 43149"/>
              <a:gd name="T1" fmla="*/ 30618 h 23306"/>
              <a:gd name="T2" fmla="*/ 2129 w 43149"/>
              <a:gd name="T3" fmla="*/ 0 h 23306"/>
              <a:gd name="T4" fmla="*/ 676279 w 43149"/>
              <a:gd name="T5" fmla="*/ 16385 h 2330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149" h="23306" fill="none" extrusionOk="0">
                <a:moveTo>
                  <a:pt x="43149" y="3188"/>
                </a:moveTo>
                <a:cubicBezTo>
                  <a:pt x="42370" y="14515"/>
                  <a:pt x="32954" y="23305"/>
                  <a:pt x="21600" y="23306"/>
                </a:cubicBezTo>
                <a:cubicBezTo>
                  <a:pt x="9670" y="23306"/>
                  <a:pt x="0" y="13635"/>
                  <a:pt x="0" y="1706"/>
                </a:cubicBezTo>
                <a:cubicBezTo>
                  <a:pt x="-1" y="1136"/>
                  <a:pt x="22" y="567"/>
                  <a:pt x="67" y="-1"/>
                </a:cubicBezTo>
              </a:path>
              <a:path w="43149" h="23306" stroke="0" extrusionOk="0">
                <a:moveTo>
                  <a:pt x="43149" y="3188"/>
                </a:moveTo>
                <a:cubicBezTo>
                  <a:pt x="42370" y="14515"/>
                  <a:pt x="32954" y="23305"/>
                  <a:pt x="21600" y="23306"/>
                </a:cubicBezTo>
                <a:cubicBezTo>
                  <a:pt x="9670" y="23306"/>
                  <a:pt x="0" y="13635"/>
                  <a:pt x="0" y="1706"/>
                </a:cubicBezTo>
                <a:cubicBezTo>
                  <a:pt x="-1" y="1136"/>
                  <a:pt x="22" y="567"/>
                  <a:pt x="67" y="-1"/>
                </a:cubicBezTo>
                <a:lnTo>
                  <a:pt x="21600" y="1706"/>
                </a:lnTo>
                <a:lnTo>
                  <a:pt x="43149" y="3188"/>
                </a:lnTo>
                <a:close/>
              </a:path>
            </a:pathLst>
          </a:cu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299" name="Oval 11"/>
          <p:cNvSpPr>
            <a:spLocks noChangeAspect="1" noChangeArrowheads="1"/>
          </p:cNvSpPr>
          <p:nvPr/>
        </p:nvSpPr>
        <p:spPr bwMode="auto">
          <a:xfrm>
            <a:off x="6842125" y="3662363"/>
            <a:ext cx="1352550" cy="1354137"/>
          </a:xfrm>
          <a:prstGeom prst="ellipse">
            <a:avLst/>
          </a:prstGeom>
          <a:solidFill>
            <a:srgbClr val="FFCC00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00" name="Arc 12"/>
          <p:cNvSpPr>
            <a:spLocks noChangeAspect="1"/>
          </p:cNvSpPr>
          <p:nvPr/>
        </p:nvSpPr>
        <p:spPr bwMode="auto">
          <a:xfrm>
            <a:off x="6842125" y="4302125"/>
            <a:ext cx="1352550" cy="223838"/>
          </a:xfrm>
          <a:custGeom>
            <a:avLst/>
            <a:gdLst>
              <a:gd name="T0" fmla="*/ 1351955 w 43200"/>
              <a:gd name="T1" fmla="*/ 7655 h 23306"/>
              <a:gd name="T2" fmla="*/ 2129 w 43200"/>
              <a:gd name="T3" fmla="*/ 0 h 23306"/>
              <a:gd name="T4" fmla="*/ 676275 w 43200"/>
              <a:gd name="T5" fmla="*/ 16385 h 2330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00" h="23306" fill="none" extrusionOk="0">
                <a:moveTo>
                  <a:pt x="43180" y="797"/>
                </a:moveTo>
                <a:cubicBezTo>
                  <a:pt x="43193" y="1099"/>
                  <a:pt x="43200" y="1402"/>
                  <a:pt x="43200" y="1706"/>
                </a:cubicBezTo>
                <a:cubicBezTo>
                  <a:pt x="43200" y="13635"/>
                  <a:pt x="33529" y="23306"/>
                  <a:pt x="21600" y="23306"/>
                </a:cubicBezTo>
                <a:cubicBezTo>
                  <a:pt x="9670" y="23306"/>
                  <a:pt x="0" y="13635"/>
                  <a:pt x="0" y="1706"/>
                </a:cubicBezTo>
                <a:cubicBezTo>
                  <a:pt x="-1" y="1136"/>
                  <a:pt x="22" y="567"/>
                  <a:pt x="67" y="-1"/>
                </a:cubicBezTo>
              </a:path>
              <a:path w="43200" h="23306" stroke="0" extrusionOk="0">
                <a:moveTo>
                  <a:pt x="43180" y="797"/>
                </a:moveTo>
                <a:cubicBezTo>
                  <a:pt x="43193" y="1099"/>
                  <a:pt x="43200" y="1402"/>
                  <a:pt x="43200" y="1706"/>
                </a:cubicBezTo>
                <a:cubicBezTo>
                  <a:pt x="43200" y="13635"/>
                  <a:pt x="33529" y="23306"/>
                  <a:pt x="21600" y="23306"/>
                </a:cubicBezTo>
                <a:cubicBezTo>
                  <a:pt x="9670" y="23306"/>
                  <a:pt x="0" y="13635"/>
                  <a:pt x="0" y="1706"/>
                </a:cubicBezTo>
                <a:cubicBezTo>
                  <a:pt x="-1" y="1136"/>
                  <a:pt x="22" y="567"/>
                  <a:pt x="67" y="-1"/>
                </a:cubicBezTo>
                <a:lnTo>
                  <a:pt x="21600" y="1706"/>
                </a:lnTo>
                <a:lnTo>
                  <a:pt x="43180" y="797"/>
                </a:lnTo>
                <a:close/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301" name="Arc 13"/>
          <p:cNvSpPr>
            <a:spLocks noChangeAspect="1"/>
          </p:cNvSpPr>
          <p:nvPr/>
        </p:nvSpPr>
        <p:spPr bwMode="auto">
          <a:xfrm flipV="1">
            <a:off x="6846888" y="4113213"/>
            <a:ext cx="1350962" cy="223837"/>
          </a:xfrm>
          <a:custGeom>
            <a:avLst/>
            <a:gdLst>
              <a:gd name="T0" fmla="*/ 1350962 w 43149"/>
              <a:gd name="T1" fmla="*/ 30618 h 23306"/>
              <a:gd name="T2" fmla="*/ 2129 w 43149"/>
              <a:gd name="T3" fmla="*/ 0 h 23306"/>
              <a:gd name="T4" fmla="*/ 676279 w 43149"/>
              <a:gd name="T5" fmla="*/ 16385 h 2330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149" h="23306" fill="none" extrusionOk="0">
                <a:moveTo>
                  <a:pt x="43149" y="3188"/>
                </a:moveTo>
                <a:cubicBezTo>
                  <a:pt x="42370" y="14515"/>
                  <a:pt x="32954" y="23305"/>
                  <a:pt x="21600" y="23306"/>
                </a:cubicBezTo>
                <a:cubicBezTo>
                  <a:pt x="9670" y="23306"/>
                  <a:pt x="0" y="13635"/>
                  <a:pt x="0" y="1706"/>
                </a:cubicBezTo>
                <a:cubicBezTo>
                  <a:pt x="-1" y="1136"/>
                  <a:pt x="22" y="567"/>
                  <a:pt x="67" y="-1"/>
                </a:cubicBezTo>
              </a:path>
              <a:path w="43149" h="23306" stroke="0" extrusionOk="0">
                <a:moveTo>
                  <a:pt x="43149" y="3188"/>
                </a:moveTo>
                <a:cubicBezTo>
                  <a:pt x="42370" y="14515"/>
                  <a:pt x="32954" y="23305"/>
                  <a:pt x="21600" y="23306"/>
                </a:cubicBezTo>
                <a:cubicBezTo>
                  <a:pt x="9670" y="23306"/>
                  <a:pt x="0" y="13635"/>
                  <a:pt x="0" y="1706"/>
                </a:cubicBezTo>
                <a:cubicBezTo>
                  <a:pt x="-1" y="1136"/>
                  <a:pt x="22" y="567"/>
                  <a:pt x="67" y="-1"/>
                </a:cubicBezTo>
                <a:lnTo>
                  <a:pt x="21600" y="1706"/>
                </a:lnTo>
                <a:lnTo>
                  <a:pt x="43149" y="3188"/>
                </a:lnTo>
                <a:close/>
              </a:path>
            </a:pathLst>
          </a:cu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302" name="Oval 14"/>
          <p:cNvSpPr>
            <a:spLocks noChangeAspect="1" noChangeArrowheads="1"/>
          </p:cNvSpPr>
          <p:nvPr/>
        </p:nvSpPr>
        <p:spPr bwMode="auto">
          <a:xfrm>
            <a:off x="6848475" y="5011738"/>
            <a:ext cx="1352550" cy="1354137"/>
          </a:xfrm>
          <a:prstGeom prst="ellipse">
            <a:avLst/>
          </a:prstGeom>
          <a:solidFill>
            <a:srgbClr val="FFCC00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03" name="Arc 15"/>
          <p:cNvSpPr>
            <a:spLocks noChangeAspect="1"/>
          </p:cNvSpPr>
          <p:nvPr/>
        </p:nvSpPr>
        <p:spPr bwMode="auto">
          <a:xfrm>
            <a:off x="6848475" y="5651500"/>
            <a:ext cx="1352550" cy="223838"/>
          </a:xfrm>
          <a:custGeom>
            <a:avLst/>
            <a:gdLst>
              <a:gd name="T0" fmla="*/ 1351955 w 43200"/>
              <a:gd name="T1" fmla="*/ 7655 h 23306"/>
              <a:gd name="T2" fmla="*/ 2129 w 43200"/>
              <a:gd name="T3" fmla="*/ 0 h 23306"/>
              <a:gd name="T4" fmla="*/ 676275 w 43200"/>
              <a:gd name="T5" fmla="*/ 16385 h 2330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00" h="23306" fill="none" extrusionOk="0">
                <a:moveTo>
                  <a:pt x="43180" y="797"/>
                </a:moveTo>
                <a:cubicBezTo>
                  <a:pt x="43193" y="1099"/>
                  <a:pt x="43200" y="1402"/>
                  <a:pt x="43200" y="1706"/>
                </a:cubicBezTo>
                <a:cubicBezTo>
                  <a:pt x="43200" y="13635"/>
                  <a:pt x="33529" y="23306"/>
                  <a:pt x="21600" y="23306"/>
                </a:cubicBezTo>
                <a:cubicBezTo>
                  <a:pt x="9670" y="23306"/>
                  <a:pt x="0" y="13635"/>
                  <a:pt x="0" y="1706"/>
                </a:cubicBezTo>
                <a:cubicBezTo>
                  <a:pt x="-1" y="1136"/>
                  <a:pt x="22" y="567"/>
                  <a:pt x="67" y="-1"/>
                </a:cubicBezTo>
              </a:path>
              <a:path w="43200" h="23306" stroke="0" extrusionOk="0">
                <a:moveTo>
                  <a:pt x="43180" y="797"/>
                </a:moveTo>
                <a:cubicBezTo>
                  <a:pt x="43193" y="1099"/>
                  <a:pt x="43200" y="1402"/>
                  <a:pt x="43200" y="1706"/>
                </a:cubicBezTo>
                <a:cubicBezTo>
                  <a:pt x="43200" y="13635"/>
                  <a:pt x="33529" y="23306"/>
                  <a:pt x="21600" y="23306"/>
                </a:cubicBezTo>
                <a:cubicBezTo>
                  <a:pt x="9670" y="23306"/>
                  <a:pt x="0" y="13635"/>
                  <a:pt x="0" y="1706"/>
                </a:cubicBezTo>
                <a:cubicBezTo>
                  <a:pt x="-1" y="1136"/>
                  <a:pt x="22" y="567"/>
                  <a:pt x="67" y="-1"/>
                </a:cubicBezTo>
                <a:lnTo>
                  <a:pt x="21600" y="1706"/>
                </a:lnTo>
                <a:lnTo>
                  <a:pt x="43180" y="797"/>
                </a:lnTo>
                <a:close/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304" name="Arc 16"/>
          <p:cNvSpPr>
            <a:spLocks noChangeAspect="1"/>
          </p:cNvSpPr>
          <p:nvPr/>
        </p:nvSpPr>
        <p:spPr bwMode="auto">
          <a:xfrm flipV="1">
            <a:off x="6853238" y="5462588"/>
            <a:ext cx="1350962" cy="223837"/>
          </a:xfrm>
          <a:custGeom>
            <a:avLst/>
            <a:gdLst>
              <a:gd name="T0" fmla="*/ 1350962 w 43149"/>
              <a:gd name="T1" fmla="*/ 30618 h 23306"/>
              <a:gd name="T2" fmla="*/ 2129 w 43149"/>
              <a:gd name="T3" fmla="*/ 0 h 23306"/>
              <a:gd name="T4" fmla="*/ 676279 w 43149"/>
              <a:gd name="T5" fmla="*/ 16385 h 2330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149" h="23306" fill="none" extrusionOk="0">
                <a:moveTo>
                  <a:pt x="43149" y="3188"/>
                </a:moveTo>
                <a:cubicBezTo>
                  <a:pt x="42370" y="14515"/>
                  <a:pt x="32954" y="23305"/>
                  <a:pt x="21600" y="23306"/>
                </a:cubicBezTo>
                <a:cubicBezTo>
                  <a:pt x="9670" y="23306"/>
                  <a:pt x="0" y="13635"/>
                  <a:pt x="0" y="1706"/>
                </a:cubicBezTo>
                <a:cubicBezTo>
                  <a:pt x="-1" y="1136"/>
                  <a:pt x="22" y="567"/>
                  <a:pt x="67" y="-1"/>
                </a:cubicBezTo>
              </a:path>
              <a:path w="43149" h="23306" stroke="0" extrusionOk="0">
                <a:moveTo>
                  <a:pt x="43149" y="3188"/>
                </a:moveTo>
                <a:cubicBezTo>
                  <a:pt x="42370" y="14515"/>
                  <a:pt x="32954" y="23305"/>
                  <a:pt x="21600" y="23306"/>
                </a:cubicBezTo>
                <a:cubicBezTo>
                  <a:pt x="9670" y="23306"/>
                  <a:pt x="0" y="13635"/>
                  <a:pt x="0" y="1706"/>
                </a:cubicBezTo>
                <a:cubicBezTo>
                  <a:pt x="-1" y="1136"/>
                  <a:pt x="22" y="567"/>
                  <a:pt x="67" y="-1"/>
                </a:cubicBezTo>
                <a:lnTo>
                  <a:pt x="21600" y="1706"/>
                </a:lnTo>
                <a:lnTo>
                  <a:pt x="43149" y="3188"/>
                </a:lnTo>
                <a:close/>
              </a:path>
            </a:pathLst>
          </a:cu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305" name="Oval 17"/>
          <p:cNvSpPr>
            <a:spLocks noChangeArrowheads="1"/>
          </p:cNvSpPr>
          <p:nvPr/>
        </p:nvSpPr>
        <p:spPr bwMode="auto">
          <a:xfrm>
            <a:off x="6842125" y="2162175"/>
            <a:ext cx="1354138" cy="330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06" name="Line 18"/>
          <p:cNvSpPr>
            <a:spLocks noChangeShapeType="1"/>
          </p:cNvSpPr>
          <p:nvPr/>
        </p:nvSpPr>
        <p:spPr bwMode="auto">
          <a:xfrm>
            <a:off x="7551738" y="2286000"/>
            <a:ext cx="6445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2307" name="Line 19"/>
          <p:cNvSpPr>
            <a:spLocks noChangeShapeType="1"/>
          </p:cNvSpPr>
          <p:nvPr/>
        </p:nvSpPr>
        <p:spPr bwMode="auto">
          <a:xfrm>
            <a:off x="6735763" y="2300288"/>
            <a:ext cx="0" cy="40878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2308" name="Text Box 20"/>
          <p:cNvSpPr txBox="1">
            <a:spLocks noChangeArrowheads="1"/>
          </p:cNvSpPr>
          <p:nvPr/>
        </p:nvSpPr>
        <p:spPr bwMode="auto">
          <a:xfrm>
            <a:off x="8153400" y="2184400"/>
            <a:ext cx="8810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1600">
                <a:latin typeface="Comic Sans MS" pitchFamily="66" charset="0"/>
              </a:rPr>
              <a:t>3.8cm</a:t>
            </a:r>
          </a:p>
        </p:txBody>
      </p:sp>
      <p:sp>
        <p:nvSpPr>
          <p:cNvPr id="12309" name="Text Box 21"/>
          <p:cNvSpPr txBox="1">
            <a:spLocks noChangeArrowheads="1"/>
          </p:cNvSpPr>
          <p:nvPr/>
        </p:nvSpPr>
        <p:spPr bwMode="auto">
          <a:xfrm>
            <a:off x="5872163" y="4149725"/>
            <a:ext cx="88106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1600">
                <a:latin typeface="Comic Sans MS" pitchFamily="66" charset="0"/>
              </a:rPr>
              <a:t>22.8cm</a:t>
            </a:r>
          </a:p>
        </p:txBody>
      </p:sp>
      <p:sp>
        <p:nvSpPr>
          <p:cNvPr id="12310" name="Text Box 22"/>
          <p:cNvSpPr txBox="1">
            <a:spLocks noChangeArrowheads="1"/>
          </p:cNvSpPr>
          <p:nvPr/>
        </p:nvSpPr>
        <p:spPr bwMode="auto">
          <a:xfrm>
            <a:off x="303213" y="4090988"/>
            <a:ext cx="2846387" cy="2017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b="1" u="sng">
                <a:latin typeface="Comic Sans MS" pitchFamily="66" charset="0"/>
              </a:rPr>
              <a:t>Volume of the Cylinder</a:t>
            </a:r>
          </a:p>
          <a:p>
            <a:pPr algn="ctr" eaLnBrk="1" hangingPunct="1">
              <a:spcBef>
                <a:spcPct val="50000"/>
              </a:spcBef>
            </a:pPr>
            <a:r>
              <a:rPr lang="en-GB">
                <a:latin typeface="Comic Sans MS" pitchFamily="66" charset="0"/>
              </a:rPr>
              <a:t>Area of end x length</a:t>
            </a:r>
          </a:p>
          <a:p>
            <a:pPr algn="ctr" eaLnBrk="1" hangingPunct="1">
              <a:spcBef>
                <a:spcPct val="50000"/>
              </a:spcBef>
            </a:pPr>
            <a:r>
              <a:rPr lang="el-GR">
                <a:latin typeface="Comic Sans MS" pitchFamily="66" charset="0"/>
              </a:rPr>
              <a:t>πr</a:t>
            </a:r>
            <a:r>
              <a:rPr lang="el-GR" baseline="30000">
                <a:latin typeface="Comic Sans MS" pitchFamily="66" charset="0"/>
              </a:rPr>
              <a:t>2</a:t>
            </a:r>
            <a:r>
              <a:rPr lang="en-GB">
                <a:latin typeface="Comic Sans MS" pitchFamily="66" charset="0"/>
              </a:rPr>
              <a:t> x length</a:t>
            </a:r>
          </a:p>
          <a:p>
            <a:pPr algn="ctr" eaLnBrk="1" hangingPunct="1">
              <a:spcBef>
                <a:spcPct val="50000"/>
              </a:spcBef>
            </a:pPr>
            <a:r>
              <a:rPr lang="el-GR">
                <a:latin typeface="Comic Sans MS" pitchFamily="66" charset="0"/>
              </a:rPr>
              <a:t>π</a:t>
            </a:r>
            <a:r>
              <a:rPr lang="en-GB">
                <a:latin typeface="Comic Sans MS" pitchFamily="66" charset="0"/>
              </a:rPr>
              <a:t> x 3.8</a:t>
            </a:r>
            <a:r>
              <a:rPr lang="en-GB" baseline="30000">
                <a:latin typeface="Comic Sans MS" pitchFamily="66" charset="0"/>
              </a:rPr>
              <a:t>2</a:t>
            </a:r>
            <a:r>
              <a:rPr lang="en-GB">
                <a:latin typeface="Comic Sans MS" pitchFamily="66" charset="0"/>
              </a:rPr>
              <a:t> x 22.8</a:t>
            </a:r>
          </a:p>
          <a:p>
            <a:pPr algn="ctr" eaLnBrk="1" hangingPunct="1">
              <a:spcBef>
                <a:spcPct val="50000"/>
              </a:spcBef>
            </a:pPr>
            <a:r>
              <a:rPr lang="en-GB">
                <a:latin typeface="Comic Sans MS" pitchFamily="66" charset="0"/>
              </a:rPr>
              <a:t>=  1034.31cm</a:t>
            </a:r>
            <a:r>
              <a:rPr lang="en-GB" baseline="30000">
                <a:latin typeface="Comic Sans MS" pitchFamily="66" charset="0"/>
              </a:rPr>
              <a:t>3</a:t>
            </a:r>
            <a:endParaRPr lang="el-GR" baseline="30000">
              <a:latin typeface="Comic Sans MS" pitchFamily="66" charset="0"/>
            </a:endParaRPr>
          </a:p>
        </p:txBody>
      </p:sp>
      <p:sp>
        <p:nvSpPr>
          <p:cNvPr id="12311" name="Text Box 23"/>
          <p:cNvSpPr txBox="1">
            <a:spLocks noChangeArrowheads="1"/>
          </p:cNvSpPr>
          <p:nvPr/>
        </p:nvSpPr>
        <p:spPr bwMode="auto">
          <a:xfrm>
            <a:off x="3041650" y="4087813"/>
            <a:ext cx="2846388" cy="2017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b="1" u="sng">
                <a:latin typeface="Comic Sans MS" pitchFamily="66" charset="0"/>
              </a:rPr>
              <a:t>Volume of the Balls</a:t>
            </a:r>
          </a:p>
          <a:p>
            <a:pPr algn="ctr" eaLnBrk="1" hangingPunct="1">
              <a:spcBef>
                <a:spcPct val="50000"/>
              </a:spcBef>
            </a:pPr>
            <a:r>
              <a:rPr lang="en-GB">
                <a:latin typeface="Comic Sans MS" pitchFamily="66" charset="0"/>
              </a:rPr>
              <a:t>3 x Volume of 1 ball</a:t>
            </a:r>
          </a:p>
          <a:p>
            <a:pPr algn="ctr" eaLnBrk="1" hangingPunct="1">
              <a:spcBef>
                <a:spcPct val="50000"/>
              </a:spcBef>
            </a:pPr>
            <a:r>
              <a:rPr lang="en-GB">
                <a:latin typeface="Comic Sans MS" pitchFamily="66" charset="0"/>
              </a:rPr>
              <a:t>3 x (</a:t>
            </a:r>
            <a:r>
              <a:rPr lang="en-GB" baseline="30000">
                <a:latin typeface="Comic Sans MS" pitchFamily="66" charset="0"/>
              </a:rPr>
              <a:t>4</a:t>
            </a:r>
            <a:r>
              <a:rPr lang="en-GB">
                <a:latin typeface="Comic Sans MS" pitchFamily="66" charset="0"/>
              </a:rPr>
              <a:t>/</a:t>
            </a:r>
            <a:r>
              <a:rPr lang="en-GB" baseline="-25000">
                <a:latin typeface="Comic Sans MS" pitchFamily="66" charset="0"/>
              </a:rPr>
              <a:t>3</a:t>
            </a:r>
            <a:r>
              <a:rPr lang="el-GR">
                <a:latin typeface="Comic Sans MS" pitchFamily="66" charset="0"/>
              </a:rPr>
              <a:t>π</a:t>
            </a:r>
            <a:r>
              <a:rPr lang="en-GB">
                <a:latin typeface="Comic Sans MS" pitchFamily="66" charset="0"/>
              </a:rPr>
              <a:t>r</a:t>
            </a:r>
            <a:r>
              <a:rPr lang="en-GB" baseline="30000">
                <a:latin typeface="Comic Sans MS" pitchFamily="66" charset="0"/>
              </a:rPr>
              <a:t>3</a:t>
            </a:r>
            <a:r>
              <a:rPr lang="en-GB">
                <a:latin typeface="Comic Sans MS" pitchFamily="66" charset="0"/>
              </a:rPr>
              <a:t>)</a:t>
            </a:r>
            <a:endParaRPr lang="el-GR">
              <a:latin typeface="Comic Sans MS" pitchFamily="66" charset="0"/>
            </a:endParaRPr>
          </a:p>
          <a:p>
            <a:pPr algn="ctr" eaLnBrk="1" hangingPunct="1">
              <a:spcBef>
                <a:spcPct val="50000"/>
              </a:spcBef>
            </a:pPr>
            <a:r>
              <a:rPr lang="en-GB">
                <a:latin typeface="Comic Sans MS" pitchFamily="66" charset="0"/>
              </a:rPr>
              <a:t>3 x (</a:t>
            </a:r>
            <a:r>
              <a:rPr lang="en-GB" baseline="30000">
                <a:latin typeface="Comic Sans MS" pitchFamily="66" charset="0"/>
              </a:rPr>
              <a:t>4</a:t>
            </a:r>
            <a:r>
              <a:rPr lang="en-GB">
                <a:latin typeface="Comic Sans MS" pitchFamily="66" charset="0"/>
              </a:rPr>
              <a:t>/</a:t>
            </a:r>
            <a:r>
              <a:rPr lang="en-GB" baseline="-25000">
                <a:latin typeface="Comic Sans MS" pitchFamily="66" charset="0"/>
              </a:rPr>
              <a:t>3</a:t>
            </a:r>
            <a:r>
              <a:rPr lang="en-GB">
                <a:latin typeface="Comic Sans MS" pitchFamily="66" charset="0"/>
              </a:rPr>
              <a:t> x </a:t>
            </a:r>
            <a:r>
              <a:rPr lang="el-GR">
                <a:latin typeface="Comic Sans MS" pitchFamily="66" charset="0"/>
              </a:rPr>
              <a:t>π</a:t>
            </a:r>
            <a:r>
              <a:rPr lang="en-GB">
                <a:latin typeface="Comic Sans MS" pitchFamily="66" charset="0"/>
              </a:rPr>
              <a:t> x 3.8</a:t>
            </a:r>
            <a:r>
              <a:rPr lang="en-GB" baseline="30000">
                <a:latin typeface="Comic Sans MS" pitchFamily="66" charset="0"/>
              </a:rPr>
              <a:t>3</a:t>
            </a:r>
            <a:r>
              <a:rPr lang="en-GB">
                <a:latin typeface="Comic Sans MS" pitchFamily="66" charset="0"/>
              </a:rPr>
              <a:t>)</a:t>
            </a:r>
            <a:endParaRPr lang="el-GR">
              <a:latin typeface="Comic Sans MS" pitchFamily="66" charset="0"/>
            </a:endParaRPr>
          </a:p>
          <a:p>
            <a:pPr algn="ctr" eaLnBrk="1" hangingPunct="1">
              <a:spcBef>
                <a:spcPct val="50000"/>
              </a:spcBef>
            </a:pPr>
            <a:r>
              <a:rPr lang="en-GB">
                <a:latin typeface="Comic Sans MS" pitchFamily="66" charset="0"/>
              </a:rPr>
              <a:t>=  689.54cm</a:t>
            </a:r>
            <a:r>
              <a:rPr lang="en-GB" baseline="30000">
                <a:latin typeface="Comic Sans MS" pitchFamily="66" charset="0"/>
              </a:rPr>
              <a:t>3</a:t>
            </a:r>
            <a:endParaRPr lang="el-GR" baseline="30000">
              <a:latin typeface="Comic Sans MS" pitchFamily="66" charset="0"/>
            </a:endParaRPr>
          </a:p>
        </p:txBody>
      </p:sp>
      <p:sp>
        <p:nvSpPr>
          <p:cNvPr id="12312" name="Text Box 24"/>
          <p:cNvSpPr txBox="1">
            <a:spLocks noChangeArrowheads="1"/>
          </p:cNvSpPr>
          <p:nvPr/>
        </p:nvSpPr>
        <p:spPr bwMode="auto">
          <a:xfrm>
            <a:off x="263525" y="6249988"/>
            <a:ext cx="3581400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>
                <a:latin typeface="Comic Sans MS" pitchFamily="66" charset="0"/>
              </a:rPr>
              <a:t>Area of the space = 344.77cm</a:t>
            </a:r>
            <a:r>
              <a:rPr lang="en-GB" baseline="30000">
                <a:latin typeface="Comic Sans MS" pitchFamily="66" charset="0"/>
              </a:rPr>
              <a:t>3</a:t>
            </a:r>
          </a:p>
        </p:txBody>
      </p:sp>
      <p:pic>
        <p:nvPicPr>
          <p:cNvPr id="12313" name="Picture 2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10" t="848" r="11653" b="-848"/>
          <a:stretch>
            <a:fillRect/>
          </a:stretch>
        </p:blipFill>
        <p:spPr bwMode="auto">
          <a:xfrm>
            <a:off x="95250" y="95250"/>
            <a:ext cx="895350" cy="1214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/>
              <p:cNvSpPr txBox="1"/>
              <p:nvPr/>
            </p:nvSpPr>
            <p:spPr>
              <a:xfrm>
                <a:off x="3041650" y="875317"/>
                <a:ext cx="2138517" cy="586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/>
                        </a:rPr>
                        <m:t>𝑉𝑜𝑙𝑢𝑚𝑒</m:t>
                      </m:r>
                      <m:r>
                        <a:rPr lang="en-GB" sz="16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/>
                            </a:rPr>
                            <m:t>4</m:t>
                          </m:r>
                          <m:r>
                            <a:rPr lang="en-GB" sz="1600" b="0" i="1" smtClean="0">
                              <a:latin typeface="Cambria Math"/>
                              <a:ea typeface="Cambria Math"/>
                            </a:rPr>
                            <m:t>𝜋</m:t>
                          </m:r>
                          <m:sSup>
                            <m:sSup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GB" sz="1600" b="0" i="1" smtClean="0">
                                  <a:latin typeface="Cambria Math"/>
                                  <a:ea typeface="Cambria Math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GB" sz="1600" b="0" i="1" smtClean="0">
                                  <a:latin typeface="Cambria Math"/>
                                  <a:ea typeface="Cambria Math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en-GB" sz="1600" b="0" i="1" smtClean="0">
                              <a:latin typeface="Cambria Math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sz="1600" dirty="0"/>
              </a:p>
            </p:txBody>
          </p:sp>
        </mc:Choice>
        <mc:Fallback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1650" y="875317"/>
                <a:ext cx="2138517" cy="586443"/>
              </a:xfrm>
              <a:prstGeom prst="rect">
                <a:avLst/>
              </a:prstGeom>
              <a:blipFill>
                <a:blip r:embed="rId3"/>
                <a:stretch>
                  <a:fillRect b="-2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5793878" y="1054240"/>
                <a:ext cx="219861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/>
                        </a:rPr>
                        <m:t>𝑆𝑢𝑟𝑓𝑎𝑐𝑒</m:t>
                      </m:r>
                      <m:r>
                        <a:rPr lang="en-GB" sz="1600" b="0" i="1" smtClean="0">
                          <a:latin typeface="Cambria Math"/>
                        </a:rPr>
                        <m:t> </m:t>
                      </m:r>
                      <m:r>
                        <a:rPr lang="en-GB" sz="1600" b="0" i="1" smtClean="0">
                          <a:latin typeface="Cambria Math"/>
                        </a:rPr>
                        <m:t>𝐴𝑟𝑒𝑎</m:t>
                      </m:r>
                      <m:r>
                        <a:rPr lang="en-GB" sz="1600" b="0" i="1" smtClean="0">
                          <a:latin typeface="Cambria Math"/>
                        </a:rPr>
                        <m:t>=4</m:t>
                      </m:r>
                      <m:r>
                        <a:rPr lang="en-GB" sz="1600" b="0" i="1" smtClean="0">
                          <a:latin typeface="Cambria Math"/>
                          <a:ea typeface="Cambria Math"/>
                        </a:rPr>
                        <m:t>𝜋</m:t>
                      </m:r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/>
                              <a:ea typeface="Cambria Math"/>
                            </a:rPr>
                            <m:t>𝑟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/>
                              <a:ea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3878" y="1054240"/>
                <a:ext cx="2198614" cy="338554"/>
              </a:xfrm>
              <a:prstGeom prst="rect">
                <a:avLst/>
              </a:prstGeom>
              <a:blipFill rotWithShape="1">
                <a:blip r:embed="rId4"/>
                <a:stretch>
                  <a:fillRect b="-1272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3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3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3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23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23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23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23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23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23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23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2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1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1350963" y="190499"/>
            <a:ext cx="7886700" cy="1325563"/>
          </a:xfrm>
        </p:spPr>
        <p:txBody>
          <a:bodyPr/>
          <a:lstStyle/>
          <a:p>
            <a:pPr eaLnBrk="1" hangingPunct="1"/>
            <a:r>
              <a:rPr lang="en-GB" dirty="0">
                <a:latin typeface="Comic Sans MS" pitchFamily="66" charset="0"/>
              </a:rPr>
              <a:t>Plenary</a:t>
            </a:r>
          </a:p>
        </p:txBody>
      </p:sp>
      <p:pic>
        <p:nvPicPr>
          <p:cNvPr id="13315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913" y="1309688"/>
            <a:ext cx="7792588" cy="4867275"/>
          </a:xfrm>
        </p:spPr>
      </p:pic>
      <p:sp>
        <p:nvSpPr>
          <p:cNvPr id="13316" name="Text Box 4"/>
          <p:cNvSpPr txBox="1">
            <a:spLocks noChangeArrowheads="1"/>
          </p:cNvSpPr>
          <p:nvPr/>
        </p:nvSpPr>
        <p:spPr bwMode="auto">
          <a:xfrm>
            <a:off x="1354138" y="2581275"/>
            <a:ext cx="1574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>
                <a:solidFill>
                  <a:srgbClr val="FF0000"/>
                </a:solidFill>
                <a:latin typeface="Comic Sans MS" pitchFamily="66" charset="0"/>
              </a:rPr>
              <a:t>4</a:t>
            </a:r>
            <a:r>
              <a:rPr lang="el-GR">
                <a:solidFill>
                  <a:srgbClr val="FF0000"/>
                </a:solidFill>
                <a:latin typeface="Comic Sans MS" pitchFamily="66" charset="0"/>
              </a:rPr>
              <a:t>π</a:t>
            </a:r>
            <a:r>
              <a:rPr lang="en-GB">
                <a:solidFill>
                  <a:srgbClr val="FF0000"/>
                </a:solidFill>
                <a:latin typeface="Comic Sans MS" pitchFamily="66" charset="0"/>
              </a:rPr>
              <a:t>r</a:t>
            </a:r>
            <a:r>
              <a:rPr lang="en-GB" baseline="30000">
                <a:solidFill>
                  <a:srgbClr val="FF0000"/>
                </a:solidFill>
                <a:latin typeface="Comic Sans MS" pitchFamily="66" charset="0"/>
              </a:rPr>
              <a:t>2</a:t>
            </a:r>
            <a:r>
              <a:rPr lang="en-GB">
                <a:solidFill>
                  <a:srgbClr val="FF0000"/>
                </a:solidFill>
                <a:latin typeface="Comic Sans MS" pitchFamily="66" charset="0"/>
              </a:rPr>
              <a:t> = 1380</a:t>
            </a:r>
            <a:endParaRPr lang="el-GR">
              <a:solidFill>
                <a:srgbClr val="FF0000"/>
              </a:solidFill>
              <a:latin typeface="Comic Sans MS" pitchFamily="66" charset="0"/>
            </a:endParaRPr>
          </a:p>
        </p:txBody>
      </p:sp>
      <p:sp>
        <p:nvSpPr>
          <p:cNvPr id="13317" name="Text Box 5"/>
          <p:cNvSpPr txBox="1">
            <a:spLocks noChangeArrowheads="1"/>
          </p:cNvSpPr>
          <p:nvPr/>
        </p:nvSpPr>
        <p:spPr bwMode="auto">
          <a:xfrm>
            <a:off x="1350963" y="3068638"/>
            <a:ext cx="15748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>
                <a:solidFill>
                  <a:srgbClr val="FF0000"/>
                </a:solidFill>
                <a:latin typeface="Comic Sans MS" pitchFamily="66" charset="0"/>
              </a:rPr>
              <a:t>r</a:t>
            </a:r>
            <a:r>
              <a:rPr lang="en-GB" baseline="30000">
                <a:solidFill>
                  <a:srgbClr val="FF0000"/>
                </a:solidFill>
                <a:latin typeface="Comic Sans MS" pitchFamily="66" charset="0"/>
              </a:rPr>
              <a:t>2</a:t>
            </a:r>
            <a:r>
              <a:rPr lang="en-GB">
                <a:solidFill>
                  <a:srgbClr val="FF0000"/>
                </a:solidFill>
                <a:latin typeface="Comic Sans MS" pitchFamily="66" charset="0"/>
              </a:rPr>
              <a:t> = 109.82</a:t>
            </a:r>
            <a:endParaRPr lang="el-GR">
              <a:solidFill>
                <a:srgbClr val="FF0000"/>
              </a:solidFill>
              <a:latin typeface="Comic Sans MS" pitchFamily="66" charset="0"/>
            </a:endParaRPr>
          </a:p>
        </p:txBody>
      </p:sp>
      <p:sp>
        <p:nvSpPr>
          <p:cNvPr id="13318" name="Text Box 6"/>
          <p:cNvSpPr txBox="1">
            <a:spLocks noChangeArrowheads="1"/>
          </p:cNvSpPr>
          <p:nvPr/>
        </p:nvSpPr>
        <p:spPr bwMode="auto">
          <a:xfrm>
            <a:off x="1354138" y="3589338"/>
            <a:ext cx="15748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>
                <a:solidFill>
                  <a:srgbClr val="FF0000"/>
                </a:solidFill>
                <a:latin typeface="Comic Sans MS" pitchFamily="66" charset="0"/>
              </a:rPr>
              <a:t>r = 10.48</a:t>
            </a:r>
            <a:endParaRPr lang="el-GR">
              <a:solidFill>
                <a:srgbClr val="FF0000"/>
              </a:solidFill>
              <a:latin typeface="Comic Sans MS" pitchFamily="66" charset="0"/>
            </a:endParaRPr>
          </a:p>
        </p:txBody>
      </p:sp>
      <p:sp>
        <p:nvSpPr>
          <p:cNvPr id="13319" name="Text Box 7"/>
          <p:cNvSpPr txBox="1">
            <a:spLocks noChangeArrowheads="1"/>
          </p:cNvSpPr>
          <p:nvPr/>
        </p:nvSpPr>
        <p:spPr bwMode="auto">
          <a:xfrm>
            <a:off x="1162050" y="4533900"/>
            <a:ext cx="1574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>
                <a:solidFill>
                  <a:srgbClr val="FF0000"/>
                </a:solidFill>
                <a:latin typeface="Comic Sans MS" pitchFamily="66" charset="0"/>
              </a:rPr>
              <a:t>V = </a:t>
            </a:r>
            <a:r>
              <a:rPr lang="en-GB" baseline="30000">
                <a:solidFill>
                  <a:srgbClr val="FF0000"/>
                </a:solidFill>
                <a:latin typeface="Comic Sans MS" pitchFamily="66" charset="0"/>
              </a:rPr>
              <a:t>4</a:t>
            </a:r>
            <a:r>
              <a:rPr lang="en-GB">
                <a:solidFill>
                  <a:srgbClr val="FF0000"/>
                </a:solidFill>
                <a:latin typeface="Comic Sans MS" pitchFamily="66" charset="0"/>
              </a:rPr>
              <a:t>/</a:t>
            </a:r>
            <a:r>
              <a:rPr lang="en-GB" baseline="-25000">
                <a:solidFill>
                  <a:srgbClr val="FF0000"/>
                </a:solidFill>
                <a:latin typeface="Comic Sans MS" pitchFamily="66" charset="0"/>
              </a:rPr>
              <a:t>3</a:t>
            </a:r>
            <a:r>
              <a:rPr lang="el-GR">
                <a:solidFill>
                  <a:srgbClr val="FF0000"/>
                </a:solidFill>
                <a:latin typeface="Comic Sans MS" pitchFamily="66" charset="0"/>
              </a:rPr>
              <a:t>π</a:t>
            </a:r>
            <a:r>
              <a:rPr lang="en-GB">
                <a:solidFill>
                  <a:srgbClr val="FF0000"/>
                </a:solidFill>
                <a:latin typeface="Comic Sans MS" pitchFamily="66" charset="0"/>
              </a:rPr>
              <a:t>r</a:t>
            </a:r>
            <a:r>
              <a:rPr lang="en-GB" baseline="30000">
                <a:solidFill>
                  <a:srgbClr val="FF0000"/>
                </a:solidFill>
                <a:latin typeface="Comic Sans MS" pitchFamily="66" charset="0"/>
              </a:rPr>
              <a:t>3</a:t>
            </a:r>
            <a:endParaRPr lang="el-GR" baseline="30000">
              <a:solidFill>
                <a:srgbClr val="FF0000"/>
              </a:solidFill>
              <a:latin typeface="Comic Sans MS" pitchFamily="66" charset="0"/>
            </a:endParaRPr>
          </a:p>
        </p:txBody>
      </p:sp>
      <p:sp>
        <p:nvSpPr>
          <p:cNvPr id="13320" name="Text Box 8"/>
          <p:cNvSpPr txBox="1">
            <a:spLocks noChangeArrowheads="1"/>
          </p:cNvSpPr>
          <p:nvPr/>
        </p:nvSpPr>
        <p:spPr bwMode="auto">
          <a:xfrm>
            <a:off x="1158875" y="5021263"/>
            <a:ext cx="352266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>
                <a:solidFill>
                  <a:srgbClr val="FF0000"/>
                </a:solidFill>
                <a:latin typeface="Comic Sans MS" pitchFamily="66" charset="0"/>
              </a:rPr>
              <a:t>V = </a:t>
            </a:r>
            <a:r>
              <a:rPr lang="en-GB" baseline="30000">
                <a:solidFill>
                  <a:srgbClr val="FF0000"/>
                </a:solidFill>
                <a:latin typeface="Comic Sans MS" pitchFamily="66" charset="0"/>
              </a:rPr>
              <a:t>4</a:t>
            </a:r>
            <a:r>
              <a:rPr lang="en-GB">
                <a:solidFill>
                  <a:srgbClr val="FF0000"/>
                </a:solidFill>
                <a:latin typeface="Comic Sans MS" pitchFamily="66" charset="0"/>
              </a:rPr>
              <a:t>/</a:t>
            </a:r>
            <a:r>
              <a:rPr lang="en-GB" baseline="-25000">
                <a:solidFill>
                  <a:srgbClr val="FF0000"/>
                </a:solidFill>
                <a:latin typeface="Comic Sans MS" pitchFamily="66" charset="0"/>
              </a:rPr>
              <a:t>3</a:t>
            </a:r>
            <a:r>
              <a:rPr lang="en-GB">
                <a:solidFill>
                  <a:srgbClr val="FF0000"/>
                </a:solidFill>
                <a:latin typeface="Comic Sans MS" pitchFamily="66" charset="0"/>
              </a:rPr>
              <a:t>  x  </a:t>
            </a:r>
            <a:r>
              <a:rPr lang="el-GR">
                <a:solidFill>
                  <a:srgbClr val="FF0000"/>
                </a:solidFill>
                <a:latin typeface="Comic Sans MS" pitchFamily="66" charset="0"/>
              </a:rPr>
              <a:t>π</a:t>
            </a:r>
            <a:r>
              <a:rPr lang="en-GB">
                <a:solidFill>
                  <a:srgbClr val="FF0000"/>
                </a:solidFill>
                <a:latin typeface="Comic Sans MS" pitchFamily="66" charset="0"/>
              </a:rPr>
              <a:t>  x  10.48</a:t>
            </a:r>
            <a:r>
              <a:rPr lang="en-GB" baseline="30000">
                <a:solidFill>
                  <a:srgbClr val="FF0000"/>
                </a:solidFill>
                <a:latin typeface="Comic Sans MS" pitchFamily="66" charset="0"/>
              </a:rPr>
              <a:t>3</a:t>
            </a:r>
            <a:endParaRPr lang="el-GR" baseline="30000">
              <a:solidFill>
                <a:srgbClr val="FF0000"/>
              </a:solidFill>
              <a:latin typeface="Comic Sans MS" pitchFamily="66" charset="0"/>
            </a:endParaRPr>
          </a:p>
        </p:txBody>
      </p:sp>
      <p:sp>
        <p:nvSpPr>
          <p:cNvPr id="13321" name="Text Box 9"/>
          <p:cNvSpPr txBox="1">
            <a:spLocks noChangeArrowheads="1"/>
          </p:cNvSpPr>
          <p:nvPr/>
        </p:nvSpPr>
        <p:spPr bwMode="auto">
          <a:xfrm>
            <a:off x="1162050" y="5541963"/>
            <a:ext cx="27511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>
                <a:solidFill>
                  <a:srgbClr val="FF0000"/>
                </a:solidFill>
                <a:latin typeface="Comic Sans MS" pitchFamily="66" charset="0"/>
              </a:rPr>
              <a:t>V = 4820.5cm</a:t>
            </a:r>
            <a:r>
              <a:rPr lang="en-GB" baseline="30000">
                <a:solidFill>
                  <a:srgbClr val="FF0000"/>
                </a:solidFill>
                <a:latin typeface="Comic Sans MS" pitchFamily="66" charset="0"/>
              </a:rPr>
              <a:t>3</a:t>
            </a:r>
            <a:r>
              <a:rPr lang="en-GB">
                <a:solidFill>
                  <a:srgbClr val="FF0000"/>
                </a:solidFill>
                <a:latin typeface="Comic Sans MS" pitchFamily="66" charset="0"/>
              </a:rPr>
              <a:t> (2dp)</a:t>
            </a:r>
            <a:endParaRPr lang="el-GR">
              <a:solidFill>
                <a:srgbClr val="FF0000"/>
              </a:solidFill>
              <a:latin typeface="Comic Sans MS" pitchFamily="66" charset="0"/>
            </a:endParaRPr>
          </a:p>
        </p:txBody>
      </p:sp>
      <p:sp>
        <p:nvSpPr>
          <p:cNvPr id="13322" name="Arc 10"/>
          <p:cNvSpPr>
            <a:spLocks/>
          </p:cNvSpPr>
          <p:nvPr/>
        </p:nvSpPr>
        <p:spPr bwMode="auto">
          <a:xfrm rot="10800000">
            <a:off x="917575" y="2751138"/>
            <a:ext cx="303213" cy="482600"/>
          </a:xfrm>
          <a:custGeom>
            <a:avLst/>
            <a:gdLst>
              <a:gd name="T0" fmla="*/ 5093 w 21969"/>
              <a:gd name="T1" fmla="*/ 0 h 43200"/>
              <a:gd name="T2" fmla="*/ 0 w 21969"/>
              <a:gd name="T3" fmla="*/ 482566 h 43200"/>
              <a:gd name="T4" fmla="*/ 5093 w 21969"/>
              <a:gd name="T5" fmla="*/ 241300 h 432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969" h="43200" fill="none" extrusionOk="0">
                <a:moveTo>
                  <a:pt x="368" y="0"/>
                </a:moveTo>
                <a:cubicBezTo>
                  <a:pt x="12298" y="0"/>
                  <a:pt x="21969" y="9670"/>
                  <a:pt x="21969" y="21600"/>
                </a:cubicBezTo>
                <a:cubicBezTo>
                  <a:pt x="21969" y="33529"/>
                  <a:pt x="12298" y="43200"/>
                  <a:pt x="369" y="43200"/>
                </a:cubicBezTo>
                <a:cubicBezTo>
                  <a:pt x="245" y="43200"/>
                  <a:pt x="122" y="43198"/>
                  <a:pt x="0" y="43196"/>
                </a:cubicBezTo>
              </a:path>
              <a:path w="21969" h="43200" stroke="0" extrusionOk="0">
                <a:moveTo>
                  <a:pt x="368" y="0"/>
                </a:moveTo>
                <a:cubicBezTo>
                  <a:pt x="12298" y="0"/>
                  <a:pt x="21969" y="9670"/>
                  <a:pt x="21969" y="21600"/>
                </a:cubicBezTo>
                <a:cubicBezTo>
                  <a:pt x="21969" y="33529"/>
                  <a:pt x="12298" y="43200"/>
                  <a:pt x="369" y="43200"/>
                </a:cubicBezTo>
                <a:cubicBezTo>
                  <a:pt x="245" y="43200"/>
                  <a:pt x="122" y="43198"/>
                  <a:pt x="0" y="43196"/>
                </a:cubicBezTo>
                <a:lnTo>
                  <a:pt x="369" y="21600"/>
                </a:lnTo>
                <a:lnTo>
                  <a:pt x="368" y="0"/>
                </a:lnTo>
                <a:close/>
              </a:path>
            </a:pathLst>
          </a:custGeom>
          <a:noFill/>
          <a:ln w="25400">
            <a:solidFill>
              <a:srgbClr val="FF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323" name="Arc 11"/>
          <p:cNvSpPr>
            <a:spLocks/>
          </p:cNvSpPr>
          <p:nvPr/>
        </p:nvSpPr>
        <p:spPr bwMode="auto">
          <a:xfrm rot="10800000">
            <a:off x="896938" y="3281363"/>
            <a:ext cx="303212" cy="482600"/>
          </a:xfrm>
          <a:custGeom>
            <a:avLst/>
            <a:gdLst>
              <a:gd name="T0" fmla="*/ 5093 w 21969"/>
              <a:gd name="T1" fmla="*/ 0 h 43200"/>
              <a:gd name="T2" fmla="*/ 0 w 21969"/>
              <a:gd name="T3" fmla="*/ 482566 h 43200"/>
              <a:gd name="T4" fmla="*/ 5093 w 21969"/>
              <a:gd name="T5" fmla="*/ 241300 h 432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969" h="43200" fill="none" extrusionOk="0">
                <a:moveTo>
                  <a:pt x="368" y="0"/>
                </a:moveTo>
                <a:cubicBezTo>
                  <a:pt x="12298" y="0"/>
                  <a:pt x="21969" y="9670"/>
                  <a:pt x="21969" y="21600"/>
                </a:cubicBezTo>
                <a:cubicBezTo>
                  <a:pt x="21969" y="33529"/>
                  <a:pt x="12298" y="43200"/>
                  <a:pt x="369" y="43200"/>
                </a:cubicBezTo>
                <a:cubicBezTo>
                  <a:pt x="245" y="43200"/>
                  <a:pt x="122" y="43198"/>
                  <a:pt x="0" y="43196"/>
                </a:cubicBezTo>
              </a:path>
              <a:path w="21969" h="43200" stroke="0" extrusionOk="0">
                <a:moveTo>
                  <a:pt x="368" y="0"/>
                </a:moveTo>
                <a:cubicBezTo>
                  <a:pt x="12298" y="0"/>
                  <a:pt x="21969" y="9670"/>
                  <a:pt x="21969" y="21600"/>
                </a:cubicBezTo>
                <a:cubicBezTo>
                  <a:pt x="21969" y="33529"/>
                  <a:pt x="12298" y="43200"/>
                  <a:pt x="369" y="43200"/>
                </a:cubicBezTo>
                <a:cubicBezTo>
                  <a:pt x="245" y="43200"/>
                  <a:pt x="122" y="43198"/>
                  <a:pt x="0" y="43196"/>
                </a:cubicBezTo>
                <a:lnTo>
                  <a:pt x="369" y="21600"/>
                </a:lnTo>
                <a:lnTo>
                  <a:pt x="368" y="0"/>
                </a:lnTo>
                <a:close/>
              </a:path>
            </a:pathLst>
          </a:custGeom>
          <a:noFill/>
          <a:ln w="25400">
            <a:solidFill>
              <a:srgbClr val="FF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324" name="Text Box 12"/>
          <p:cNvSpPr txBox="1">
            <a:spLocks noChangeArrowheads="1"/>
          </p:cNvSpPr>
          <p:nvPr/>
        </p:nvSpPr>
        <p:spPr bwMode="auto">
          <a:xfrm>
            <a:off x="212725" y="2828925"/>
            <a:ext cx="736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>
                <a:solidFill>
                  <a:srgbClr val="FF0000"/>
                </a:solidFill>
                <a:latin typeface="Comic Sans MS" pitchFamily="66" charset="0"/>
              </a:rPr>
              <a:t>÷ 4</a:t>
            </a:r>
            <a:r>
              <a:rPr lang="el-GR">
                <a:solidFill>
                  <a:srgbClr val="FF0000"/>
                </a:solidFill>
                <a:latin typeface="Comic Sans MS" pitchFamily="66" charset="0"/>
              </a:rPr>
              <a:t>π</a:t>
            </a:r>
          </a:p>
        </p:txBody>
      </p:sp>
      <p:sp>
        <p:nvSpPr>
          <p:cNvPr id="13325" name="Text Box 13"/>
          <p:cNvSpPr txBox="1">
            <a:spLocks noChangeArrowheads="1"/>
          </p:cNvSpPr>
          <p:nvPr/>
        </p:nvSpPr>
        <p:spPr bwMode="auto">
          <a:xfrm>
            <a:off x="446088" y="3425825"/>
            <a:ext cx="32226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>
                <a:solidFill>
                  <a:srgbClr val="FF0000"/>
                </a:solidFill>
                <a:latin typeface="Comic Sans MS" pitchFamily="66" charset="0"/>
              </a:rPr>
              <a:t>√</a:t>
            </a:r>
          </a:p>
        </p:txBody>
      </p:sp>
      <p:sp>
        <p:nvSpPr>
          <p:cNvPr id="13326" name="Text Box 14"/>
          <p:cNvSpPr txBox="1">
            <a:spLocks noChangeArrowheads="1"/>
          </p:cNvSpPr>
          <p:nvPr/>
        </p:nvSpPr>
        <p:spPr bwMode="auto">
          <a:xfrm>
            <a:off x="3732213" y="6072188"/>
            <a:ext cx="27511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>
                <a:solidFill>
                  <a:srgbClr val="FF0000"/>
                </a:solidFill>
                <a:latin typeface="Comic Sans MS" pitchFamily="66" charset="0"/>
              </a:rPr>
              <a:t>4820.5cm</a:t>
            </a:r>
            <a:r>
              <a:rPr lang="en-GB" baseline="30000">
                <a:solidFill>
                  <a:srgbClr val="FF0000"/>
                </a:solidFill>
                <a:latin typeface="Comic Sans MS" pitchFamily="66" charset="0"/>
              </a:rPr>
              <a:t>3</a:t>
            </a:r>
            <a:r>
              <a:rPr lang="en-GB">
                <a:solidFill>
                  <a:srgbClr val="FF0000"/>
                </a:solidFill>
                <a:latin typeface="Comic Sans MS" pitchFamily="66" charset="0"/>
              </a:rPr>
              <a:t> (2dp)</a:t>
            </a:r>
            <a:endParaRPr lang="el-GR">
              <a:solidFill>
                <a:srgbClr val="FF0000"/>
              </a:solidFill>
              <a:latin typeface="Comic Sans MS" pitchFamily="66" charset="0"/>
            </a:endParaRPr>
          </a:p>
        </p:txBody>
      </p:sp>
      <p:pic>
        <p:nvPicPr>
          <p:cNvPr id="13327" name="Picture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10" t="848" r="11653" b="-848"/>
          <a:stretch>
            <a:fillRect/>
          </a:stretch>
        </p:blipFill>
        <p:spPr bwMode="auto">
          <a:xfrm>
            <a:off x="95250" y="95250"/>
            <a:ext cx="895350" cy="1214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3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3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3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3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3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3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3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3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6" grpId="0"/>
      <p:bldP spid="13317" grpId="0"/>
      <p:bldP spid="13318" grpId="0"/>
      <p:bldP spid="13319" grpId="0"/>
      <p:bldP spid="13320" grpId="0"/>
      <p:bldP spid="13321" grpId="0"/>
      <p:bldP spid="13322" grpId="0" animBg="1"/>
      <p:bldP spid="13323" grpId="0" animBg="1"/>
      <p:bldP spid="13324" grpId="0"/>
      <p:bldP spid="13325" grpId="0"/>
      <p:bldP spid="1332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DEE5D-ACF9-7449-AA2F-B8667B7C1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C2715-DA33-6C4B-A1B3-7A8E48F712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Now complete number 5 on Page 40 of your MAWA Essentials Mathematics book.</a:t>
            </a:r>
          </a:p>
          <a:p>
            <a:r>
              <a:rPr lang="en-US" dirty="0"/>
              <a:t>Once you have completed that, try </a:t>
            </a:r>
            <a:r>
              <a:rPr lang="en-US"/>
              <a:t>the worksheet.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57265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117</TotalTime>
  <Words>627</Words>
  <Application>Microsoft Macintosh PowerPoint</Application>
  <PresentationFormat>On-screen Show (4:3)</PresentationFormat>
  <Paragraphs>129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Comic Sans MS</vt:lpstr>
      <vt:lpstr>Wingdings</vt:lpstr>
      <vt:lpstr>Office Theme</vt:lpstr>
      <vt:lpstr>PowerPoint Presentation</vt:lpstr>
      <vt:lpstr>Volume and Surface Area of a Sphere</vt:lpstr>
      <vt:lpstr>Volume and Surface Area of a Sphere</vt:lpstr>
      <vt:lpstr>Volume and Surface Area of a Sphere</vt:lpstr>
      <vt:lpstr>Volume and Surface Area of a Sphere</vt:lpstr>
      <vt:lpstr>Volume and Surface Area of a Sphere</vt:lpstr>
      <vt:lpstr>Volume and Surface Area of a Sphere</vt:lpstr>
      <vt:lpstr>Volume and Surface Area of a Sphere</vt:lpstr>
      <vt:lpstr>Volume and Surface Area of a Sphere</vt:lpstr>
      <vt:lpstr>Plenary</vt:lpstr>
      <vt:lpstr>PowerPoint Presentation</vt:lpstr>
    </vt:vector>
  </TitlesOfParts>
  <Company>Sheldon School</Company>
  <LinksUpToDate>false</LinksUpToDate>
  <SharedDoc>false</SharedDoc>
  <HyperlinksChanged>false</HyperlinksChanged>
  <AppVersion>16.0010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 Pye</dc:creator>
  <cp:lastModifiedBy>EVANS Clem [Baldivis Secondary College]</cp:lastModifiedBy>
  <cp:revision>52</cp:revision>
  <dcterms:created xsi:type="dcterms:W3CDTF">2008-10-13T19:28:47Z</dcterms:created>
  <dcterms:modified xsi:type="dcterms:W3CDTF">2018-03-09T03:38:24Z</dcterms:modified>
</cp:coreProperties>
</file>
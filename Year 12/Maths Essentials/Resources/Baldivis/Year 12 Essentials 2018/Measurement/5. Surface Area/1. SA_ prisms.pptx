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70E7C479-B295-4B2B-8F22-1A4D6663CF3B}"/>
    <pc:docChg chg="modSld">
      <pc:chgData name="Sarah James" userId="e5e3e68366f0feb3" providerId="LiveId" clId="{70E7C479-B295-4B2B-8F22-1A4D6663CF3B}" dt="2018-02-24T10:53:51.749" v="5" actId="20577"/>
      <pc:docMkLst>
        <pc:docMk/>
      </pc:docMkLst>
      <pc:sldChg chg="modSp">
        <pc:chgData name="Sarah James" userId="e5e3e68366f0feb3" providerId="LiveId" clId="{70E7C479-B295-4B2B-8F22-1A4D6663CF3B}" dt="2018-02-24T10:53:36.663" v="0" actId="20577"/>
        <pc:sldMkLst>
          <pc:docMk/>
          <pc:sldMk cId="233300238" sldId="259"/>
        </pc:sldMkLst>
        <pc:spChg chg="mod">
          <ac:chgData name="Sarah James" userId="e5e3e68366f0feb3" providerId="LiveId" clId="{70E7C479-B295-4B2B-8F22-1A4D6663CF3B}" dt="2018-02-24T10:53:36.663" v="0" actId="20577"/>
          <ac:spMkLst>
            <pc:docMk/>
            <pc:sldMk cId="233300238" sldId="259"/>
            <ac:spMk id="12" creationId="{00000000-0000-0000-0000-000000000000}"/>
          </ac:spMkLst>
        </pc:spChg>
      </pc:sldChg>
      <pc:sldChg chg="modSp">
        <pc:chgData name="Sarah James" userId="e5e3e68366f0feb3" providerId="LiveId" clId="{70E7C479-B295-4B2B-8F22-1A4D6663CF3B}" dt="2018-02-24T10:53:43.059" v="3" actId="20577"/>
        <pc:sldMkLst>
          <pc:docMk/>
          <pc:sldMk cId="3090211624" sldId="260"/>
        </pc:sldMkLst>
        <pc:spChg chg="mod">
          <ac:chgData name="Sarah James" userId="e5e3e68366f0feb3" providerId="LiveId" clId="{70E7C479-B295-4B2B-8F22-1A4D6663CF3B}" dt="2018-02-24T10:53:43.059" v="3" actId="20577"/>
          <ac:spMkLst>
            <pc:docMk/>
            <pc:sldMk cId="3090211624" sldId="260"/>
            <ac:spMk id="12" creationId="{00000000-0000-0000-0000-000000000000}"/>
          </ac:spMkLst>
        </pc:spChg>
      </pc:sldChg>
      <pc:sldChg chg="modSp">
        <pc:chgData name="Sarah James" userId="e5e3e68366f0feb3" providerId="LiveId" clId="{70E7C479-B295-4B2B-8F22-1A4D6663CF3B}" dt="2018-02-24T10:53:47.557" v="4" actId="20577"/>
        <pc:sldMkLst>
          <pc:docMk/>
          <pc:sldMk cId="3573506841" sldId="261"/>
        </pc:sldMkLst>
        <pc:spChg chg="mod">
          <ac:chgData name="Sarah James" userId="e5e3e68366f0feb3" providerId="LiveId" clId="{70E7C479-B295-4B2B-8F22-1A4D6663CF3B}" dt="2018-02-24T10:53:47.557" v="4" actId="20577"/>
          <ac:spMkLst>
            <pc:docMk/>
            <pc:sldMk cId="3573506841" sldId="261"/>
            <ac:spMk id="12" creationId="{00000000-0000-0000-0000-000000000000}"/>
          </ac:spMkLst>
        </pc:spChg>
      </pc:sldChg>
      <pc:sldChg chg="modSp">
        <pc:chgData name="Sarah James" userId="e5e3e68366f0feb3" providerId="LiveId" clId="{70E7C479-B295-4B2B-8F22-1A4D6663CF3B}" dt="2018-02-24T10:53:51.749" v="5" actId="20577"/>
        <pc:sldMkLst>
          <pc:docMk/>
          <pc:sldMk cId="2636628506" sldId="262"/>
        </pc:sldMkLst>
        <pc:spChg chg="mod">
          <ac:chgData name="Sarah James" userId="e5e3e68366f0feb3" providerId="LiveId" clId="{70E7C479-B295-4B2B-8F22-1A4D6663CF3B}" dt="2018-02-24T10:53:51.749" v="5" actId="20577"/>
          <ac:spMkLst>
            <pc:docMk/>
            <pc:sldMk cId="2636628506" sldId="262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CC3E2-244D-404B-B353-5E05F63188C4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D76F1-A1A8-4D58-B898-6725B74375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530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048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398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3560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701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2198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3EDA5E-4F08-43FC-BCE4-4BDB62F9EED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975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F4DF-6BC0-4265-839E-77003BC78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2FA9E-F217-4219-A952-1897F027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BD752-66B0-4936-9E4D-29121422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66A22-219B-4B7A-BD3F-B4CA18C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B62A-E2A6-4D4E-B0B6-2D31A380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18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DD96-C4FE-461C-B655-BED872D2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42DBA-9CCC-4C07-8486-4ED40E85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DF5E1-34C9-45CF-9824-D0CAD2E7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940CF-5AF2-4B5D-B39E-8C4DEA39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BFCCD-4F4D-457E-8FEB-A11D17F3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213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56986-C434-4E77-8EE7-F40816F9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0FDE5-67DF-471C-A957-ACA8B7CDD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57653-8BAA-44D8-931D-32363E76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46C29-7E7F-414E-BA06-B24B88AB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BF6E0-0B3B-4FD6-A041-1CB23D1F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066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E8C9-693E-4807-AFBD-6E6C65EF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646F-6223-4BAF-8842-1D1AA7905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C0C4D-396D-48C7-ABBE-CE4DC31AB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9A7B3-A32E-4CC5-87BD-546A7D6C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F124A-A1B0-467C-84B9-B8393A1B9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2162A-53DB-4617-8E76-FFEEDDF1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882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C866-D4FE-448F-B7E1-8866DDC0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AD7D4-9DE0-45E1-A0E4-883BD9615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4C93F-7D12-4568-A9E8-BE3D7735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D1D61-A972-4879-96CD-0423676A0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555FD-6250-45F6-B122-3B047BFA1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3D8B9-CCD1-45D4-AE07-4C7E55AB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1268A-180B-4F79-8983-B3FF7C38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68CD7D-C508-411F-9BF0-716A0EA8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294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D567-747E-4679-A77C-750CC883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97453-175A-4CC3-8B1F-F647C0C0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F4509-8CFC-4179-AB57-68B8B460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EA133-E7F2-4E7E-933E-9E4681EC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094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FA363-C616-4F99-B78E-A239E003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CDF6F-8316-4345-BD6C-03F017B5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D3602-4D80-4839-A4CD-8A036FB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735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E43D-6212-47C4-B5A1-0D229D66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869B7-23A1-408F-8C78-EC38E5E28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132B4-1175-4591-96D0-B8FEF51CD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7766B-E690-4F48-866E-7A43D4EF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C126F-3738-41FF-A090-E437FB9C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EA337-4D1E-4FD4-AA48-B95D8159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9362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6F0F-CB98-4E66-BA0C-405B61C79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740A4-8263-43E1-AA70-2FC905E71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52FEC-53BF-475F-ACC8-E2D2D23EE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8BE9E-9170-4774-83C8-34C1E2D0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EAD8C-F16E-4007-B41A-0D46B384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AC92-3B86-490A-9387-887722B6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367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B17D-9F90-4130-8C93-8DA41B88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BD99A-5D2C-4D3B-8467-DC1D5F398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64975-7786-4DD6-BB19-1355C2D7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D682-75F0-406A-93EF-606DA058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2F6B-538D-479C-8831-D3CF156F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684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90C8E-5BD7-44AF-9908-B5553ABC2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DD182-59A8-41B1-B484-8E8F63038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79092-5EEA-4036-9CEA-82210736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A220-2127-4026-A18F-B8C55935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F103-9D37-4807-B588-B14D274B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49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97AFD-E1C9-4C11-B0BA-492D0838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F5D86-2B23-4642-BFC1-5E56D58AA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CA235-F976-4A79-A515-1DA6A03FE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17BB7-AE6F-42D2-B4C2-0B3A5EB3342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2033F-A6EE-4CCF-93D1-B35AF69F2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D7558-55E3-4537-A520-C509E8636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78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Starter- while I mark the roll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Calculate the area of the following shapes</a:t>
            </a:r>
            <a:endParaRPr lang="en-GB" baseline="30000" dirty="0"/>
          </a:p>
        </p:txBody>
      </p:sp>
      <p:sp>
        <p:nvSpPr>
          <p:cNvPr id="6" name="Rectangle 5"/>
          <p:cNvSpPr/>
          <p:nvPr/>
        </p:nvSpPr>
        <p:spPr>
          <a:xfrm>
            <a:off x="2423592" y="3068961"/>
            <a:ext cx="936104" cy="27363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oup 12"/>
          <p:cNvGrpSpPr/>
          <p:nvPr/>
        </p:nvGrpSpPr>
        <p:grpSpPr>
          <a:xfrm rot="7266684">
            <a:off x="4669562" y="3542909"/>
            <a:ext cx="2520280" cy="2736304"/>
            <a:chOff x="2915816" y="3068960"/>
            <a:chExt cx="2520280" cy="273630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15816" y="3068960"/>
              <a:ext cx="864096" cy="2736304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779912" y="3068960"/>
              <a:ext cx="1656184" cy="2736304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915816" y="5805264"/>
              <a:ext cx="252028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 flipV="1">
            <a:off x="7752184" y="3501010"/>
            <a:ext cx="1440160" cy="70847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9192344" y="3501009"/>
            <a:ext cx="936104" cy="69536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752184" y="4204985"/>
            <a:ext cx="1440160" cy="70847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9192344" y="4204983"/>
            <a:ext cx="936104" cy="69536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23592" y="58052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6057" y="418333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6465" y="528301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50mm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5760" y="39419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110mm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5019" y="377657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120mm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5414939" y="3136821"/>
            <a:ext cx="0" cy="214532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46465" y="41561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100mm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0272464" y="3501009"/>
            <a:ext cx="0" cy="141245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752184" y="3356993"/>
            <a:ext cx="2376264" cy="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34820" y="298766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6440" y="39714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4m</a:t>
            </a:r>
          </a:p>
        </p:txBody>
      </p:sp>
    </p:spTree>
    <p:extLst>
      <p:ext uri="{BB962C8B-B14F-4D97-AF65-F5344CB8AC3E}">
        <p14:creationId xmlns:p14="http://schemas.microsoft.com/office/powerpoint/2010/main" val="18653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- </a:t>
            </a:r>
            <a:r>
              <a:rPr lang="en-GB" dirty="0"/>
              <a:t>calculate the surface area of </a:t>
            </a:r>
          </a:p>
          <a:p>
            <a:pPr marL="0" indent="0">
              <a:buNone/>
            </a:pPr>
            <a:r>
              <a:rPr lang="en-GB" dirty="0"/>
              <a:t>   a cubes and other prisms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surface area of cubes and other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9A990-9932-44DE-B094-A133C2B7232C}"/>
              </a:ext>
            </a:extLst>
          </p:cNvPr>
          <p:cNvSpPr txBox="1"/>
          <p:nvPr/>
        </p:nvSpPr>
        <p:spPr>
          <a:xfrm>
            <a:off x="4655840" y="2276872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prism is a 3D shape that has a constant cross-section.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E30D8A-4EA7-469E-8A46-0A25827750FD}"/>
              </a:ext>
            </a:extLst>
          </p:cNvPr>
          <p:cNvSpPr txBox="1"/>
          <p:nvPr/>
        </p:nvSpPr>
        <p:spPr>
          <a:xfrm>
            <a:off x="1812270" y="2487957"/>
            <a:ext cx="2483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prism?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94F8EF-E9A7-4683-B41B-6276A6544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235" y="2672624"/>
            <a:ext cx="3878066" cy="212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surface area of cubes and other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cube?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6BC177-2251-4551-B9CB-80F9B5CD3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42" y="3933062"/>
            <a:ext cx="2169016" cy="20826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B9828E-7E32-475A-B4D0-BFCCA4107F07}"/>
              </a:ext>
            </a:extLst>
          </p:cNvPr>
          <p:cNvSpPr txBox="1"/>
          <p:nvPr/>
        </p:nvSpPr>
        <p:spPr>
          <a:xfrm>
            <a:off x="7157364" y="2308565"/>
            <a:ext cx="32591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Each face is the same – a square.</a:t>
            </a:r>
          </a:p>
          <a:p>
            <a:endParaRPr lang="en-GB" dirty="0"/>
          </a:p>
          <a:p>
            <a:r>
              <a:rPr lang="en-GB" dirty="0"/>
              <a:t>Area A 	= 5 x 5</a:t>
            </a:r>
          </a:p>
          <a:p>
            <a:r>
              <a:rPr lang="en-GB" dirty="0"/>
              <a:t>	= 25cm</a:t>
            </a:r>
            <a:r>
              <a:rPr lang="en-GB" baseline="30000" dirty="0"/>
              <a:t>2</a:t>
            </a:r>
          </a:p>
          <a:p>
            <a:endParaRPr lang="en-GB" dirty="0"/>
          </a:p>
          <a:p>
            <a:r>
              <a:rPr lang="en-GB" dirty="0"/>
              <a:t>Total Surface Area = 6 x 25</a:t>
            </a:r>
          </a:p>
          <a:p>
            <a:r>
              <a:rPr lang="en-GB" dirty="0"/>
              <a:t>		= 150cm</a:t>
            </a:r>
            <a:r>
              <a:rPr lang="en-GB" baseline="300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0CCB37-5A7F-4C0F-B994-3100B566CDA0}"/>
              </a:ext>
            </a:extLst>
          </p:cNvPr>
          <p:cNvSpPr/>
          <p:nvPr/>
        </p:nvSpPr>
        <p:spPr>
          <a:xfrm>
            <a:off x="4511824" y="6171704"/>
            <a:ext cx="57521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Surface area is the total area of the outside of a 3D object</a:t>
            </a:r>
          </a:p>
        </p:txBody>
      </p:sp>
    </p:spTree>
    <p:extLst>
      <p:ext uri="{BB962C8B-B14F-4D97-AF65-F5344CB8AC3E}">
        <p14:creationId xmlns:p14="http://schemas.microsoft.com/office/powerpoint/2010/main" val="30902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surface area of cubes and other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rectangular prism (cuboid)?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474C2-4E85-42A6-951E-77716354F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862" y="2664991"/>
            <a:ext cx="2407898" cy="13738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61D35E-2EEB-4BB5-AF06-3A002F34F55E}"/>
              </a:ext>
            </a:extLst>
          </p:cNvPr>
          <p:cNvSpPr txBox="1"/>
          <p:nvPr/>
        </p:nvSpPr>
        <p:spPr>
          <a:xfrm>
            <a:off x="6672070" y="4149112"/>
            <a:ext cx="38752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Area A = 5 x 9</a:t>
            </a:r>
          </a:p>
          <a:p>
            <a:r>
              <a:rPr lang="en-GB" sz="1400" dirty="0"/>
              <a:t>	= 45cm</a:t>
            </a:r>
            <a:r>
              <a:rPr lang="en-GB" sz="1400" baseline="30000" dirty="0"/>
              <a:t>2</a:t>
            </a:r>
          </a:p>
          <a:p>
            <a:endParaRPr lang="en-GB" sz="1400" dirty="0"/>
          </a:p>
          <a:p>
            <a:r>
              <a:rPr lang="en-GB" sz="1400" dirty="0"/>
              <a:t>Area B = 9 x 3</a:t>
            </a:r>
          </a:p>
          <a:p>
            <a:r>
              <a:rPr lang="en-GB" sz="1400" dirty="0"/>
              <a:t>	= 27cm</a:t>
            </a:r>
            <a:r>
              <a:rPr lang="en-GB" sz="1400" baseline="30000" dirty="0"/>
              <a:t>2</a:t>
            </a:r>
          </a:p>
          <a:p>
            <a:endParaRPr lang="en-GB" sz="1400" dirty="0"/>
          </a:p>
          <a:p>
            <a:r>
              <a:rPr lang="en-GB" sz="1400" dirty="0"/>
              <a:t>Area C = 3 x 5</a:t>
            </a:r>
          </a:p>
          <a:p>
            <a:r>
              <a:rPr lang="en-GB" sz="1400" dirty="0"/>
              <a:t>	= 15cm</a:t>
            </a:r>
            <a:r>
              <a:rPr lang="en-GB" sz="1400" baseline="30000" dirty="0"/>
              <a:t>2</a:t>
            </a:r>
          </a:p>
          <a:p>
            <a:endParaRPr lang="en-GB" sz="1400" dirty="0"/>
          </a:p>
          <a:p>
            <a:r>
              <a:rPr lang="en-GB" sz="1400" dirty="0"/>
              <a:t>Total Surface Area = (45 + 27 + 15) x 2 = 174cm</a:t>
            </a:r>
            <a:r>
              <a:rPr lang="en-GB" sz="14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7350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surface area of cubes and other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8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triangular prism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6D5CEE-6DBD-482A-94DF-D147C52C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24" y="1988840"/>
            <a:ext cx="2339753" cy="20082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CD2E24-16A2-4A54-9AA9-0EFBCF5C62BE}"/>
              </a:ext>
            </a:extLst>
          </p:cNvPr>
          <p:cNvSpPr txBox="1"/>
          <p:nvPr/>
        </p:nvSpPr>
        <p:spPr>
          <a:xfrm>
            <a:off x="6851578" y="2579907"/>
            <a:ext cx="381642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Area of Triangles = ½ x 5 x 6</a:t>
            </a:r>
          </a:p>
          <a:p>
            <a:r>
              <a:rPr lang="en-GB" sz="1600" dirty="0"/>
              <a:t>		     = 15m</a:t>
            </a:r>
            <a:r>
              <a:rPr lang="en-GB" sz="1600" baseline="30000" dirty="0"/>
              <a:t>2</a:t>
            </a:r>
            <a:endParaRPr lang="en-GB" sz="1600" dirty="0"/>
          </a:p>
          <a:p>
            <a:r>
              <a:rPr lang="en-GB" sz="1600" dirty="0"/>
              <a:t>		     = 15 x 2</a:t>
            </a:r>
          </a:p>
          <a:p>
            <a:r>
              <a:rPr lang="en-GB" sz="1600" dirty="0"/>
              <a:t>		     </a:t>
            </a:r>
            <a:r>
              <a:rPr lang="en-GB" sz="1600" dirty="0">
                <a:solidFill>
                  <a:srgbClr val="FF0000"/>
                </a:solidFill>
              </a:rPr>
              <a:t>= 30m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1 = 12 x 11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132m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2 = 5 x 12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60m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3 = 12 x 7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84m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b="1" dirty="0">
                <a:solidFill>
                  <a:srgbClr val="FF0000"/>
                </a:solidFill>
              </a:rPr>
              <a:t>Total Surface Area </a:t>
            </a:r>
            <a:r>
              <a:rPr lang="en-GB" sz="1600" dirty="0">
                <a:solidFill>
                  <a:srgbClr val="FF0000"/>
                </a:solidFill>
              </a:rPr>
              <a:t>= 30 + 132 + 60 + 84</a:t>
            </a:r>
          </a:p>
          <a:p>
            <a:r>
              <a:rPr lang="en-GB" sz="1600" dirty="0">
                <a:solidFill>
                  <a:srgbClr val="FF0000"/>
                </a:solidFill>
              </a:rPr>
              <a:t>		        = 306m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3662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5EAA-027F-49EE-A8E7-90E7776A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56" y="332656"/>
            <a:ext cx="6707088" cy="202034"/>
          </a:xfrm>
        </p:spPr>
        <p:txBody>
          <a:bodyPr>
            <a:normAutofit fontScale="90000"/>
          </a:bodyPr>
          <a:lstStyle/>
          <a:p>
            <a:r>
              <a:rPr lang="en-GB" sz="2000" dirty="0"/>
              <a:t>Guided practice- Find the surface area of the following 3D shapes</a:t>
            </a:r>
            <a:endParaRPr lang="en-AU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3070ED-C0AA-4F92-8AF1-82A599A9BE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53834" y="764704"/>
            <a:ext cx="2395711" cy="184679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0E27E2-7E47-4151-BE49-287E4F41EC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847529" y="620688"/>
            <a:ext cx="1557989" cy="1695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05D6F9-65B0-446E-9D7E-31DF196D6B72}"/>
              </a:ext>
            </a:extLst>
          </p:cNvPr>
          <p:cNvSpPr txBox="1"/>
          <p:nvPr/>
        </p:nvSpPr>
        <p:spPr>
          <a:xfrm>
            <a:off x="1703513" y="2401835"/>
            <a:ext cx="37402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Area A 	= 8 x 11</a:t>
            </a:r>
          </a:p>
          <a:p>
            <a:r>
              <a:rPr lang="en-GB" dirty="0"/>
              <a:t>	= 88cm</a:t>
            </a:r>
            <a:r>
              <a:rPr lang="en-GB" baseline="30000" dirty="0"/>
              <a:t>2</a:t>
            </a:r>
          </a:p>
          <a:p>
            <a:endParaRPr lang="en-GB" dirty="0"/>
          </a:p>
          <a:p>
            <a:r>
              <a:rPr lang="en-GB" dirty="0"/>
              <a:t>Area B 	= 5 x 11</a:t>
            </a:r>
          </a:p>
          <a:p>
            <a:r>
              <a:rPr lang="en-GB" dirty="0"/>
              <a:t>	= 55cm</a:t>
            </a:r>
            <a:r>
              <a:rPr lang="en-GB" baseline="30000" dirty="0"/>
              <a:t>2</a:t>
            </a:r>
          </a:p>
          <a:p>
            <a:endParaRPr lang="en-GB" dirty="0"/>
          </a:p>
          <a:p>
            <a:r>
              <a:rPr lang="en-GB" dirty="0"/>
              <a:t>Area C 	= 5 x 8</a:t>
            </a:r>
          </a:p>
          <a:p>
            <a:r>
              <a:rPr lang="en-GB" dirty="0"/>
              <a:t>	= 40cm</a:t>
            </a:r>
            <a:r>
              <a:rPr lang="en-GB" baseline="30000" dirty="0"/>
              <a:t>2</a:t>
            </a:r>
          </a:p>
          <a:p>
            <a:endParaRPr lang="en-GB" dirty="0"/>
          </a:p>
          <a:p>
            <a:r>
              <a:rPr lang="en-GB" dirty="0"/>
              <a:t>TOTAL SURFACE AREA </a:t>
            </a:r>
          </a:p>
          <a:p>
            <a:r>
              <a:rPr lang="en-GB" dirty="0"/>
              <a:t>= (88 + 55 + 40) x 2</a:t>
            </a:r>
          </a:p>
          <a:p>
            <a:r>
              <a:rPr lang="en-GB" dirty="0"/>
              <a:t>= 183 x 2</a:t>
            </a:r>
          </a:p>
          <a:p>
            <a:r>
              <a:rPr lang="en-GB" dirty="0"/>
              <a:t>= 366cm</a:t>
            </a:r>
            <a:r>
              <a:rPr lang="en-GB" baseline="300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DF7E9-6CAE-4354-8E8A-BED00932C5BE}"/>
              </a:ext>
            </a:extLst>
          </p:cNvPr>
          <p:cNvSpPr txBox="1"/>
          <p:nvPr/>
        </p:nvSpPr>
        <p:spPr>
          <a:xfrm>
            <a:off x="6744321" y="2611495"/>
            <a:ext cx="421196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Area of Triangles = ½ x 3 x 6</a:t>
            </a:r>
          </a:p>
          <a:p>
            <a:r>
              <a:rPr lang="en-GB" sz="1600" dirty="0"/>
              <a:t>		     = 9m</a:t>
            </a:r>
            <a:r>
              <a:rPr lang="en-GB" sz="1600" baseline="30000" dirty="0"/>
              <a:t>2</a:t>
            </a:r>
            <a:endParaRPr lang="en-GB" sz="1600" dirty="0"/>
          </a:p>
          <a:p>
            <a:r>
              <a:rPr lang="en-GB" sz="1600" dirty="0"/>
              <a:t>		     = 9 x 2</a:t>
            </a:r>
          </a:p>
          <a:p>
            <a:r>
              <a:rPr lang="en-GB" sz="1600" dirty="0"/>
              <a:t>		     </a:t>
            </a:r>
            <a:r>
              <a:rPr lang="en-GB" sz="1600" dirty="0">
                <a:solidFill>
                  <a:srgbClr val="FF0000"/>
                </a:solidFill>
              </a:rPr>
              <a:t>= 18m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1 = 10 x 6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60m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2 = 7 x 10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70m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3 = 3 x 10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30m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b="1" dirty="0">
                <a:solidFill>
                  <a:srgbClr val="FF0000"/>
                </a:solidFill>
              </a:rPr>
              <a:t>Total Surface Area </a:t>
            </a:r>
            <a:r>
              <a:rPr lang="en-GB" sz="1600" dirty="0">
                <a:solidFill>
                  <a:srgbClr val="FF0000"/>
                </a:solidFill>
              </a:rPr>
              <a:t>= 18+ 60 + 70 + 30</a:t>
            </a:r>
          </a:p>
          <a:p>
            <a:r>
              <a:rPr lang="en-GB" sz="1600" dirty="0">
                <a:solidFill>
                  <a:srgbClr val="FF0000"/>
                </a:solidFill>
              </a:rPr>
              <a:t>		        = 178m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8089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600" dirty="0"/>
              <a:t>Surface Area of Prisms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423592" y="4077072"/>
            <a:ext cx="1944216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746056" y="5517232"/>
            <a:ext cx="1944216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746056" y="4077072"/>
            <a:ext cx="677536" cy="14401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690272" y="4077072"/>
            <a:ext cx="677536" cy="14401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749200" y="2492896"/>
            <a:ext cx="1944216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071664" y="3933056"/>
            <a:ext cx="1944216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71664" y="2492896"/>
            <a:ext cx="677536" cy="144016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5015880" y="2492896"/>
            <a:ext cx="677536" cy="14401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2423592" y="2492896"/>
            <a:ext cx="1325608" cy="1584176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746056" y="3933056"/>
            <a:ext cx="1340340" cy="1584176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367808" y="2492896"/>
            <a:ext cx="1325608" cy="1584176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3690272" y="3933056"/>
            <a:ext cx="1325608" cy="1584176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20828" y="5487616"/>
            <a:ext cx="131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9cm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9456" y="4407496"/>
            <a:ext cx="131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8cm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7052" y="4566320"/>
            <a:ext cx="131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11cm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1944" y="2982144"/>
            <a:ext cx="131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7cm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879976" y="2492896"/>
            <a:ext cx="0" cy="1440160"/>
          </a:xfrm>
          <a:prstGeom prst="straightConnector1">
            <a:avLst/>
          </a:prstGeom>
          <a:ln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44074" y="473765"/>
            <a:ext cx="392392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Area of Parallelograms </a:t>
            </a:r>
          </a:p>
          <a:p>
            <a:r>
              <a:rPr lang="en-GB" sz="2000" dirty="0"/>
              <a:t>= 9 x 7</a:t>
            </a:r>
          </a:p>
          <a:p>
            <a:r>
              <a:rPr lang="en-GB" sz="2000" dirty="0"/>
              <a:t>= </a:t>
            </a:r>
            <a:r>
              <a:rPr lang="en-GB" sz="2000" dirty="0">
                <a:solidFill>
                  <a:srgbClr val="FF0000"/>
                </a:solidFill>
              </a:rPr>
              <a:t>63cm</a:t>
            </a:r>
            <a:r>
              <a:rPr lang="en-GB" sz="20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2000" dirty="0"/>
          </a:p>
          <a:p>
            <a:r>
              <a:rPr lang="en-GB" sz="2000" dirty="0"/>
              <a:t>Area of Rectangles 1</a:t>
            </a:r>
          </a:p>
          <a:p>
            <a:r>
              <a:rPr lang="en-GB" sz="2000" dirty="0"/>
              <a:t>= 11 x 9</a:t>
            </a:r>
          </a:p>
          <a:p>
            <a:r>
              <a:rPr lang="en-GB" sz="2000" dirty="0"/>
              <a:t>= 99cm</a:t>
            </a:r>
            <a:r>
              <a:rPr lang="en-GB" sz="2000" baseline="30000" dirty="0"/>
              <a:t>2</a:t>
            </a:r>
          </a:p>
          <a:p>
            <a:r>
              <a:rPr lang="en-GB" sz="2000" dirty="0"/>
              <a:t>99 x 2</a:t>
            </a:r>
          </a:p>
          <a:p>
            <a:r>
              <a:rPr lang="en-GB" sz="2000" dirty="0">
                <a:solidFill>
                  <a:srgbClr val="FF0000"/>
                </a:solidFill>
              </a:rPr>
              <a:t>= 198cm</a:t>
            </a:r>
            <a:r>
              <a:rPr lang="en-GB" sz="20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2000" dirty="0"/>
          </a:p>
          <a:p>
            <a:r>
              <a:rPr lang="en-GB" sz="2000" dirty="0"/>
              <a:t>Area of Rectangles 2</a:t>
            </a:r>
          </a:p>
          <a:p>
            <a:r>
              <a:rPr lang="en-GB" sz="2000" dirty="0"/>
              <a:t>= 8 x 11</a:t>
            </a:r>
          </a:p>
          <a:p>
            <a:r>
              <a:rPr lang="en-GB" sz="2000" dirty="0"/>
              <a:t>= 88cm</a:t>
            </a:r>
            <a:r>
              <a:rPr lang="en-GB" sz="2000" baseline="30000" dirty="0"/>
              <a:t>2</a:t>
            </a:r>
          </a:p>
          <a:p>
            <a:r>
              <a:rPr lang="en-GB" sz="2000" dirty="0"/>
              <a:t>88 x 2</a:t>
            </a:r>
          </a:p>
          <a:p>
            <a:r>
              <a:rPr lang="en-GB" sz="2000" dirty="0">
                <a:solidFill>
                  <a:srgbClr val="FF0000"/>
                </a:solidFill>
              </a:rPr>
              <a:t>= 176cm</a:t>
            </a:r>
            <a:r>
              <a:rPr lang="en-GB" sz="20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2000" dirty="0"/>
          </a:p>
          <a:p>
            <a:r>
              <a:rPr lang="en-GB" sz="2000" dirty="0">
                <a:solidFill>
                  <a:srgbClr val="FF0000"/>
                </a:solidFill>
              </a:rPr>
              <a:t>TOTAL SURFACE AREA</a:t>
            </a:r>
          </a:p>
          <a:p>
            <a:r>
              <a:rPr lang="en-GB" sz="2000" dirty="0">
                <a:solidFill>
                  <a:srgbClr val="FF0000"/>
                </a:solidFill>
              </a:rPr>
              <a:t>= 63 + 198 + 176</a:t>
            </a:r>
          </a:p>
          <a:p>
            <a:r>
              <a:rPr lang="en-GB" sz="2000" dirty="0">
                <a:solidFill>
                  <a:srgbClr val="FF0000"/>
                </a:solidFill>
              </a:rPr>
              <a:t>= 437cm</a:t>
            </a:r>
            <a:r>
              <a:rPr lang="en-GB" sz="20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979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of Prisms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550578" y="1412777"/>
            <a:ext cx="6777671" cy="3576041"/>
            <a:chOff x="26577" y="1403486"/>
            <a:chExt cx="8217831" cy="4105737"/>
          </a:xfrm>
        </p:grpSpPr>
        <p:sp>
          <p:nvSpPr>
            <p:cNvPr id="4" name="Trapezoid 3"/>
            <p:cNvSpPr/>
            <p:nvPr/>
          </p:nvSpPr>
          <p:spPr>
            <a:xfrm>
              <a:off x="871882" y="3501008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rapezoid 4"/>
            <p:cNvSpPr/>
            <p:nvPr/>
          </p:nvSpPr>
          <p:spPr>
            <a:xfrm>
              <a:off x="3536178" y="1781200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1259632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871882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3131840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3536178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923928" y="1781200"/>
              <a:ext cx="1872208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809991" y="1781200"/>
              <a:ext cx="404338" cy="1584176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331640" y="5085184"/>
              <a:ext cx="158417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10cm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48588" y="1403486"/>
              <a:ext cx="158417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6cm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577" y="3966383"/>
              <a:ext cx="158417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8cm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25219" y="2276872"/>
              <a:ext cx="158417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8cm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87400" y="4149080"/>
              <a:ext cx="1368775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16cm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7020272" y="1772818"/>
              <a:ext cx="0" cy="1592559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020272" y="2276872"/>
              <a:ext cx="122413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7cm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096000" y="3861049"/>
            <a:ext cx="4509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Trapeziums = ½ (10 + 6) x 7</a:t>
            </a:r>
          </a:p>
          <a:p>
            <a:r>
              <a:rPr lang="en-GB" sz="2400" dirty="0"/>
              <a:t>= ½ x 16 x 7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56cm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9496" y="5118284"/>
            <a:ext cx="4509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Rectangle 1 = 16 x 8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128cm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3604" y="5151673"/>
            <a:ext cx="4509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Rectangle 2 = 10 x 16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160cm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9496" y="5948991"/>
            <a:ext cx="4509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Rectangle 3 = 16 x 8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128cm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3604" y="5982380"/>
            <a:ext cx="4509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Rectangle 4 = 6 x 16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96cm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6240" y="1412776"/>
            <a:ext cx="23490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TOTAL SURFACE AREA = 56 + 128 + 160 + 128 + 96</a:t>
            </a:r>
          </a:p>
          <a:p>
            <a:endParaRPr lang="en-GB" sz="2400" dirty="0">
              <a:solidFill>
                <a:srgbClr val="FF0000"/>
              </a:solidFill>
            </a:endParaRPr>
          </a:p>
          <a:p>
            <a:r>
              <a:rPr lang="en-GB" sz="2400" dirty="0">
                <a:solidFill>
                  <a:srgbClr val="FF0000"/>
                </a:solidFill>
              </a:rPr>
              <a:t>= 568cm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372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30" grpId="0"/>
      <p:bldP spid="31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052736"/>
          </a:xfrm>
        </p:spPr>
        <p:txBody>
          <a:bodyPr/>
          <a:lstStyle/>
          <a:p>
            <a:r>
              <a:rPr lang="en-GB" dirty="0"/>
              <a:t>Activity 1 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80729"/>
            <a:ext cx="8229600" cy="5145436"/>
          </a:xfrm>
        </p:spPr>
        <p:txBody>
          <a:bodyPr/>
          <a:lstStyle/>
          <a:p>
            <a:r>
              <a:rPr lang="en-GB" dirty="0"/>
              <a:t>Calculate the Surface Area of the cube and cuboids shown below:</a:t>
            </a:r>
          </a:p>
        </p:txBody>
      </p:sp>
      <p:sp>
        <p:nvSpPr>
          <p:cNvPr id="4" name="Cube 3"/>
          <p:cNvSpPr/>
          <p:nvPr/>
        </p:nvSpPr>
        <p:spPr>
          <a:xfrm rot="16200000">
            <a:off x="2423592" y="2132856"/>
            <a:ext cx="2088232" cy="2088232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467708" y="4221088"/>
            <a:ext cx="90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6" name="Cube 5"/>
          <p:cNvSpPr/>
          <p:nvPr/>
        </p:nvSpPr>
        <p:spPr>
          <a:xfrm rot="16200000">
            <a:off x="6168008" y="2312877"/>
            <a:ext cx="3024336" cy="2232248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7536160" y="494116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8008" y="4545125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6280" y="351596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15cm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3220126" y="5445224"/>
            <a:ext cx="1152128" cy="114283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Triangle 10"/>
          <p:cNvSpPr/>
          <p:nvPr/>
        </p:nvSpPr>
        <p:spPr>
          <a:xfrm>
            <a:off x="4799856" y="4869161"/>
            <a:ext cx="1152128" cy="114283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>
            <a:stCxn id="10" idx="0"/>
            <a:endCxn id="11" idx="0"/>
          </p:cNvCxnSpPr>
          <p:nvPr/>
        </p:nvCxnSpPr>
        <p:spPr>
          <a:xfrm flipV="1">
            <a:off x="3220126" y="4869161"/>
            <a:ext cx="1579730" cy="5760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4"/>
            <a:endCxn id="11" idx="4"/>
          </p:cNvCxnSpPr>
          <p:nvPr/>
        </p:nvCxnSpPr>
        <p:spPr>
          <a:xfrm flipV="1">
            <a:off x="4372254" y="6011996"/>
            <a:ext cx="1579730" cy="5760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0" idx="2"/>
          </p:cNvCxnSpPr>
          <p:nvPr/>
        </p:nvCxnSpPr>
        <p:spPr>
          <a:xfrm flipV="1">
            <a:off x="3220126" y="6016640"/>
            <a:ext cx="1579730" cy="5714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87688" y="652534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8068" y="5930694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9876" y="6283127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9916" y="5085184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9cm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9536" y="486916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rgbClr val="FF0000"/>
                </a:solidFill>
              </a:rPr>
              <a:t>EXTENSION: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2104" y="2931189"/>
            <a:ext cx="1440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FF0000"/>
                </a:solidFill>
              </a:rPr>
              <a:t>SA = 294cm</a:t>
            </a:r>
            <a:r>
              <a:rPr lang="en-GB" sz="28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6121" y="3083589"/>
            <a:ext cx="1440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FF0000"/>
                </a:solidFill>
              </a:rPr>
              <a:t>SA = 378cm</a:t>
            </a:r>
            <a:r>
              <a:rPr lang="en-GB" sz="28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3713" y="5085185"/>
            <a:ext cx="1440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FF0000"/>
                </a:solidFill>
              </a:rPr>
              <a:t>SA = 270cm</a:t>
            </a:r>
            <a:r>
              <a:rPr lang="en-GB" sz="28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0401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2 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1039" y="1535975"/>
            <a:ext cx="8229600" cy="4525963"/>
          </a:xfrm>
        </p:spPr>
        <p:txBody>
          <a:bodyPr/>
          <a:lstStyle/>
          <a:p>
            <a:r>
              <a:rPr lang="en-GB" dirty="0"/>
              <a:t>Calculate the surface area of the following shapes.</a:t>
            </a:r>
          </a:p>
        </p:txBody>
      </p:sp>
      <p:sp>
        <p:nvSpPr>
          <p:cNvPr id="4" name="Cube 3"/>
          <p:cNvSpPr/>
          <p:nvPr/>
        </p:nvSpPr>
        <p:spPr>
          <a:xfrm>
            <a:off x="4657328" y="2780928"/>
            <a:ext cx="936104" cy="3096344"/>
          </a:xfrm>
          <a:prstGeom prst="cub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729336" y="587727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7928" y="566033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1m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4081264" y="414443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14m</a:t>
            </a:r>
          </a:p>
        </p:txBody>
      </p:sp>
      <p:sp>
        <p:nvSpPr>
          <p:cNvPr id="8" name="Right Triangle 7"/>
          <p:cNvSpPr/>
          <p:nvPr/>
        </p:nvSpPr>
        <p:spPr>
          <a:xfrm>
            <a:off x="7285289" y="4227057"/>
            <a:ext cx="1656184" cy="1284209"/>
          </a:xfrm>
          <a:prstGeom prst="rtTriangle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>
            <a:stCxn id="8" idx="4"/>
          </p:cNvCxnSpPr>
          <p:nvPr/>
        </p:nvCxnSpPr>
        <p:spPr>
          <a:xfrm flipV="1">
            <a:off x="8941474" y="3783072"/>
            <a:ext cx="1114967" cy="1728192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8" idx="0"/>
          </p:cNvCxnSpPr>
          <p:nvPr/>
        </p:nvCxnSpPr>
        <p:spPr>
          <a:xfrm flipV="1">
            <a:off x="7285291" y="2543251"/>
            <a:ext cx="1265165" cy="168380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550456" y="2543253"/>
            <a:ext cx="1505985" cy="123982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52183" y="551126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4071" y="4719177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7739" y="29784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9cm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8917" y="281701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9" name="Cube 8"/>
          <p:cNvSpPr/>
          <p:nvPr/>
        </p:nvSpPr>
        <p:spPr>
          <a:xfrm>
            <a:off x="1775520" y="3434967"/>
            <a:ext cx="1584176" cy="1584176"/>
          </a:xfrm>
          <a:prstGeom prst="cube">
            <a:avLst/>
          </a:prstGeom>
          <a:solidFill>
            <a:srgbClr val="CCCC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1775520" y="501317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3554662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5641" y="274638"/>
            <a:ext cx="7355159" cy="491800"/>
          </a:xfrm>
        </p:spPr>
        <p:txBody>
          <a:bodyPr>
            <a:normAutofit/>
          </a:bodyPr>
          <a:lstStyle/>
          <a:p>
            <a:r>
              <a:rPr lang="en-GB" sz="2000" dirty="0"/>
              <a:t>Find the surface area of the following shapes</a:t>
            </a:r>
          </a:p>
        </p:txBody>
      </p:sp>
      <p:sp>
        <p:nvSpPr>
          <p:cNvPr id="4" name="Cube 3"/>
          <p:cNvSpPr/>
          <p:nvPr/>
        </p:nvSpPr>
        <p:spPr>
          <a:xfrm>
            <a:off x="1991544" y="1484784"/>
            <a:ext cx="2376264" cy="1368152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351584" y="285293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7cm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3752" y="256490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7768" y="183553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4cm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6312024" y="1697070"/>
            <a:ext cx="1656184" cy="1593468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Isosceles Triangle 9"/>
          <p:cNvSpPr/>
          <p:nvPr/>
        </p:nvSpPr>
        <p:spPr>
          <a:xfrm>
            <a:off x="7968208" y="1052736"/>
            <a:ext cx="1656184" cy="1593468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/>
          <p:cNvCxnSpPr>
            <a:stCxn id="9" idx="0"/>
            <a:endCxn id="10" idx="0"/>
          </p:cNvCxnSpPr>
          <p:nvPr/>
        </p:nvCxnSpPr>
        <p:spPr>
          <a:xfrm flipV="1">
            <a:off x="6849174" y="1052736"/>
            <a:ext cx="1656184" cy="644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2"/>
            <a:endCxn id="10" idx="2"/>
          </p:cNvCxnSpPr>
          <p:nvPr/>
        </p:nvCxnSpPr>
        <p:spPr>
          <a:xfrm flipV="1">
            <a:off x="6312024" y="2646204"/>
            <a:ext cx="1656184" cy="64433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4"/>
            <a:endCxn id="10" idx="4"/>
          </p:cNvCxnSpPr>
          <p:nvPr/>
        </p:nvCxnSpPr>
        <p:spPr>
          <a:xfrm flipV="1">
            <a:off x="7968208" y="2646204"/>
            <a:ext cx="1656184" cy="644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0"/>
            <a:endCxn id="10" idx="4"/>
          </p:cNvCxnSpPr>
          <p:nvPr/>
        </p:nvCxnSpPr>
        <p:spPr>
          <a:xfrm>
            <a:off x="8505358" y="1052736"/>
            <a:ext cx="1119034" cy="15934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28048" y="327357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2264" y="2974563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6280" y="151240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5960" y="2252441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5m</a:t>
            </a:r>
          </a:p>
        </p:txBody>
      </p:sp>
      <p:cxnSp>
        <p:nvCxnSpPr>
          <p:cNvPr id="25" name="Straight Arrow Connector 24"/>
          <p:cNvCxnSpPr>
            <a:stCxn id="9" idx="0"/>
            <a:endCxn id="9" idx="3"/>
          </p:cNvCxnSpPr>
          <p:nvPr/>
        </p:nvCxnSpPr>
        <p:spPr>
          <a:xfrm>
            <a:off x="6849174" y="1697070"/>
            <a:ext cx="0" cy="1593468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80076" y="2348880"/>
            <a:ext cx="8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4m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1557981" y="3642911"/>
            <a:ext cx="5047926" cy="2964147"/>
            <a:chOff x="33981" y="3193687"/>
            <a:chExt cx="5703364" cy="3420971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258117" y="477786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80581" y="621802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580581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2524797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583725" y="319368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906189" y="463384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1906189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850405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1258117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580581" y="4633847"/>
              <a:ext cx="1340340" cy="1584176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3202333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2524797" y="463384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955353" y="6188406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9cm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3981" y="5108286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8cm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71577" y="5267110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11cm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6469" y="3682934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7cm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4714501" y="3193687"/>
              <a:ext cx="0" cy="1440160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/>
          <p:cNvSpPr/>
          <p:nvPr/>
        </p:nvSpPr>
        <p:spPr>
          <a:xfrm>
            <a:off x="1631505" y="1052737"/>
            <a:ext cx="410261" cy="41026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/>
          <p:cNvSpPr/>
          <p:nvPr/>
        </p:nvSpPr>
        <p:spPr>
          <a:xfrm>
            <a:off x="6312025" y="1205136"/>
            <a:ext cx="410261" cy="410261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1971042" y="3656565"/>
            <a:ext cx="410261" cy="41026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885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5" t="36941" r="11796" b="50361"/>
          <a:stretch/>
        </p:blipFill>
        <p:spPr bwMode="auto">
          <a:xfrm>
            <a:off x="1841966" y="332657"/>
            <a:ext cx="8826035" cy="1196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8" t="62879" r="9740" b="17929"/>
          <a:stretch/>
        </p:blipFill>
        <p:spPr bwMode="auto">
          <a:xfrm>
            <a:off x="1598241" y="1844824"/>
            <a:ext cx="9069761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98242" y="3573018"/>
            <a:ext cx="89622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9. Katy wants to wrap a present that is 15cm wide, 18cm deep and 4cm high. How much wrapping paper will she need to use?</a:t>
            </a:r>
          </a:p>
          <a:p>
            <a:endParaRPr lang="en-GB" sz="2200" dirty="0"/>
          </a:p>
          <a:p>
            <a:r>
              <a:rPr lang="en-GB" sz="2200" dirty="0"/>
              <a:t>10. A length of copper piping is in the shape of a triangular prism. The triangle on it’s end is 9mm tall, 4mm wide. The piece of pipe is 18cm long. What is the surface area of the pipe?</a:t>
            </a:r>
          </a:p>
          <a:p>
            <a:endParaRPr lang="en-GB" sz="2200" dirty="0"/>
          </a:p>
          <a:p>
            <a:r>
              <a:rPr lang="en-GB" sz="2200" dirty="0"/>
              <a:t>11. A box has </a:t>
            </a:r>
            <a:r>
              <a:rPr lang="en-GB" sz="2200" b="1" dirty="0">
                <a:solidFill>
                  <a:srgbClr val="FF0000"/>
                </a:solidFill>
              </a:rPr>
              <a:t>no lid</a:t>
            </a:r>
            <a:r>
              <a:rPr lang="en-GB" sz="2200" dirty="0"/>
              <a:t>. The box measures 1.2m by 30cm by 45cm. What is the surface area of the </a:t>
            </a:r>
            <a:r>
              <a:rPr lang="en-GB" sz="2200" b="1" dirty="0">
                <a:solidFill>
                  <a:srgbClr val="FF0000"/>
                </a:solidFill>
              </a:rPr>
              <a:t>outside</a:t>
            </a:r>
            <a:r>
              <a:rPr lang="en-GB" sz="2200" dirty="0"/>
              <a:t> of the box?</a:t>
            </a:r>
          </a:p>
        </p:txBody>
      </p:sp>
      <p:sp>
        <p:nvSpPr>
          <p:cNvPr id="5" name="Rectangle 4"/>
          <p:cNvSpPr/>
          <p:nvPr/>
        </p:nvSpPr>
        <p:spPr>
          <a:xfrm>
            <a:off x="1598242" y="1844825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9738" y="1855674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18721" y="1855674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0970" y="1855674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9847" y="0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9738" y="135651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985" y="180021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4274" y="61028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184011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601</Words>
  <Application>Microsoft Office PowerPoint</Application>
  <PresentationFormat>Widescreen</PresentationFormat>
  <Paragraphs>218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Starter- while I mark the roll</vt:lpstr>
      <vt:lpstr>Lesson objective</vt:lpstr>
      <vt:lpstr>PowerPoint Presentation</vt:lpstr>
      <vt:lpstr>PowerPoint Presentation</vt:lpstr>
      <vt:lpstr>PowerPoint Presentation</vt:lpstr>
      <vt:lpstr>PowerPoint Presentation</vt:lpstr>
      <vt:lpstr>Guided practice- Find the surface area of the following 3D shapes</vt:lpstr>
      <vt:lpstr>Surface Area of Prisms</vt:lpstr>
      <vt:lpstr>Surface Area of Prisms</vt:lpstr>
      <vt:lpstr>Activity 1 Surface Area</vt:lpstr>
      <vt:lpstr>Activity 2 Surface Area</vt:lpstr>
      <vt:lpstr>Find the surface area of the following shapes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Starter- while I mark the roll</dc:title>
  <dc:creator>Sarah James</dc:creator>
  <cp:lastModifiedBy>Sarah James</cp:lastModifiedBy>
  <cp:revision>1</cp:revision>
  <dcterms:created xsi:type="dcterms:W3CDTF">2018-02-24T10:25:44Z</dcterms:created>
  <dcterms:modified xsi:type="dcterms:W3CDTF">2018-02-24T10:53:55Z</dcterms:modified>
</cp:coreProperties>
</file>
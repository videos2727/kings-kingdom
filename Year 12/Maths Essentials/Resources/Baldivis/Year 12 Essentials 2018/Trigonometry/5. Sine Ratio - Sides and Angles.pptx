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4" r:id="rId4"/>
    <p:sldId id="265" r:id="rId5"/>
    <p:sldId id="266" r:id="rId6"/>
    <p:sldId id="260" r:id="rId7"/>
    <p:sldId id="262" r:id="rId8"/>
    <p:sldId id="261" r:id="rId9"/>
    <p:sldId id="267" r:id="rId10"/>
    <p:sldId id="268" r:id="rId11"/>
    <p:sldId id="263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FEDA0-AD5D-411E-B29A-6C277B513C6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2CEEBA-F462-453E-8215-EC1B4C8DA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66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921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589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0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0055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378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5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3184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14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5227-AA4E-451B-9B71-459E9C0BB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5850C-B494-44CE-AB4A-7ECC3B28C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79ED-13D6-4399-B96F-C348D980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B609D-F987-4BE1-9A2D-A1DB7A08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EA17-1EBC-4F72-9D62-74D961D8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549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8B69-39CD-467A-9502-369D71F1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44BD7-1781-405A-9086-4638D2D72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9109B-7F8A-4CC4-B052-0BF0BACC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B333-D763-4169-892B-7F351C48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2019F-29D4-4999-9110-09AB75B7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29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487F-4B74-4E94-A55F-D1CA80804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EDDA9-90E7-4995-B827-A2B47C89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A1BCB-EAB7-4A4F-B144-6608CC4E4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C3BE0-73DE-4071-AD48-B2B4663A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A10CC-F3CA-4C37-87DC-724372BF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042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6964-0820-43CD-BE11-60582DB1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61FF-5C92-4202-8682-71FB0E392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C86E2-915E-45F2-B808-EDE70E41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643FF-A8E6-41B4-AABC-EFB9E4EA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CF398-4F3E-4287-9E18-351D7A07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DF2F8-B087-45BA-8C28-B51B1AEB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76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373D-2380-4D73-8E87-08036CFC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9543F-0EFB-4E1D-AB68-29652232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B2B9B-DB3D-40C0-9334-93B3067FC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C2E74-436F-42D9-B599-90FD616EB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C6068-F855-4A34-B2EB-16590371F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48FEC-4F3B-4EAA-9DB7-D62E44EB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F6442-26EA-47C7-9813-F7348D8A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CADD7-DBED-4FED-A58A-DAA991EC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733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4319-BA19-4B26-92DD-8301D63E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48440-AAF4-4734-9575-A81F7494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925F32-FA54-47BA-B598-BF0F689D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C02B6-E6EC-417A-AE1C-44B3261C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152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853F1-1A28-45DF-ACA3-7F39861B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026BC-BA28-46B2-9A0C-449A50AA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54B33-0191-4B27-9B41-40517E33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385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4413-9D6A-4727-97AE-B178CE8D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9371-979F-4C91-8174-63DDB85F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51160-D1B9-4645-97D9-C0FC94DDD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3A2E-6017-4F53-AC48-787B7C30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67EF5-107D-4699-A726-AAED15FA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1554A-7706-45BA-B833-BA915F04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48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465B-B117-429A-8F41-8B8B9F33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5C02D-CD00-474B-9CC4-673EE517F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67B96-7FC2-4F48-962D-1ADA03CE0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2F831-84A8-4CA0-908B-06C3A417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01E46-9071-4292-9BB0-93353595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FD628-EE6F-4AAD-8AC1-DC67312E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410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A28F-814C-4752-9FAD-00FE4E48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C4C78-AF02-48D0-B5CA-83B9D7D6E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2E47D-3EB6-405A-8993-7C973897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85BC3-3782-454A-AA94-3B243332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D6930-52C8-40B2-A937-C9B46EE2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651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5FE29-5830-45F2-863B-B042A934C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1F7DC-C8A8-4A8B-8BFA-13AA3BEF1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8146-6FEB-4ECE-AB5B-465107EA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72745-AA19-4284-B869-37280CB7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31C9D-375A-4DDC-986A-9852557A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1444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76527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57187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88269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89257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0708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0FD7C-D621-4952-81A4-73C5400D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A4994-8A44-447C-9AF5-08BB9E39A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42D1A-33CC-4DF2-A277-369DCAD8C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46973-0216-4CEF-A932-4B87563A68A5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11338-A24F-462B-A263-E3D52D1AF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5747E-6EE2-4117-8B99-F207D28C9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E77C4-90BB-4B1B-B3AE-8162D8E873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164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Sine Ratio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4000" dirty="0"/>
              <a:t>Find the unknown sides and angles using the Sine Ratio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553C56-BB75-4B78-8D2B-9FB065B35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21" y="455233"/>
            <a:ext cx="8632757" cy="594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6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D3FAD1-BDBD-40E8-9B4D-3169D7EAE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158" y="453176"/>
            <a:ext cx="7819683" cy="595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49EB8F-8F11-4F9B-9D5C-7A82D005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7" y="731101"/>
            <a:ext cx="5560203" cy="5746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79FA6-DC4C-4366-903F-CF90ADD88748}"/>
              </a:ext>
            </a:extLst>
          </p:cNvPr>
          <p:cNvSpPr/>
          <p:nvPr/>
        </p:nvSpPr>
        <p:spPr>
          <a:xfrm>
            <a:off x="3737113" y="3747186"/>
            <a:ext cx="3286539" cy="2822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5791D-61BF-4B85-A41F-E7375B038E9E}"/>
              </a:ext>
            </a:extLst>
          </p:cNvPr>
          <p:cNvSpPr/>
          <p:nvPr/>
        </p:nvSpPr>
        <p:spPr>
          <a:xfrm>
            <a:off x="450574" y="4724669"/>
            <a:ext cx="3286539" cy="867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E58C6A-F646-4631-933B-AD24DFE9A86B}"/>
              </a:ext>
            </a:extLst>
          </p:cNvPr>
          <p:cNvSpPr txBox="1">
            <a:spLocks/>
          </p:cNvSpPr>
          <p:nvPr/>
        </p:nvSpPr>
        <p:spPr>
          <a:xfrm>
            <a:off x="3436978" y="228304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Functions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78F6BD-7EE5-4887-929D-B2335C7BF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17" y="1693654"/>
            <a:ext cx="4728629" cy="3470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04A64-7237-497C-831C-99D12A3F73D8}"/>
              </a:ext>
            </a:extLst>
          </p:cNvPr>
          <p:cNvSpPr txBox="1"/>
          <p:nvPr/>
        </p:nvSpPr>
        <p:spPr>
          <a:xfrm>
            <a:off x="5856064" y="5223871"/>
            <a:ext cx="58001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If we are given the hypotenuse and the opposite side we use </a:t>
            </a:r>
            <a:r>
              <a:rPr lang="en-AU" sz="2800" dirty="0">
                <a:latin typeface="Calibri" panose="020F0502020204030204"/>
              </a:rPr>
              <a:t>the</a:t>
            </a:r>
            <a:r>
              <a:rPr lang="en-AU" sz="2800" dirty="0">
                <a:solidFill>
                  <a:srgbClr val="0066FF"/>
                </a:solidFill>
                <a:latin typeface="Calibri" panose="020F0502020204030204"/>
              </a:rPr>
              <a:t> </a:t>
            </a:r>
            <a:r>
              <a:rPr lang="en-AU" sz="2800" b="1" dirty="0">
                <a:solidFill>
                  <a:srgbClr val="0066FF"/>
                </a:solidFill>
                <a:latin typeface="Calibri" panose="020F0502020204030204"/>
              </a:rPr>
              <a:t>Sine Ratio</a:t>
            </a:r>
            <a:endParaRPr lang="en-US" sz="2800" dirty="0">
              <a:solidFill>
                <a:srgbClr val="0066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920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the Sine Ratio to find sides and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FE9620A-E4E9-469F-8CAF-E47983D98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74" y="1298662"/>
            <a:ext cx="9808108" cy="56078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FF7DE2-A9AB-4C3B-BCF1-7178C84371AC}"/>
              </a:ext>
            </a:extLst>
          </p:cNvPr>
          <p:cNvSpPr/>
          <p:nvPr/>
        </p:nvSpPr>
        <p:spPr>
          <a:xfrm>
            <a:off x="1414074" y="3546764"/>
            <a:ext cx="9363852" cy="1496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79FCD6-E7E4-4732-92BB-422F3D79B73D}"/>
              </a:ext>
            </a:extLst>
          </p:cNvPr>
          <p:cNvSpPr/>
          <p:nvPr/>
        </p:nvSpPr>
        <p:spPr>
          <a:xfrm>
            <a:off x="1435118" y="5043056"/>
            <a:ext cx="9363852" cy="775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CF87E0-F0C1-4549-AB07-6360DB3031E0}"/>
              </a:ext>
            </a:extLst>
          </p:cNvPr>
          <p:cNvSpPr/>
          <p:nvPr/>
        </p:nvSpPr>
        <p:spPr>
          <a:xfrm>
            <a:off x="1435118" y="5842282"/>
            <a:ext cx="9619844" cy="8925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D340F-A271-454D-AC1D-D02ACA3C1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46" y="1572491"/>
            <a:ext cx="11668125" cy="30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CF17E6-9D13-4DCC-88B1-E3BD83DA5A9C}"/>
              </a:ext>
            </a:extLst>
          </p:cNvPr>
          <p:cNvSpPr txBox="1"/>
          <p:nvPr/>
        </p:nvSpPr>
        <p:spPr>
          <a:xfrm>
            <a:off x="219865" y="5991671"/>
            <a:ext cx="11502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0070C0"/>
                </a:solidFill>
              </a:rPr>
              <a:t>Get the person next to you to mark your work, be prepared to share your answers</a:t>
            </a:r>
            <a:endParaRPr lang="en-GB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the Sine Ratio to find sides and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922F625-0252-41C9-BD86-399E9A035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32" y="1387627"/>
            <a:ext cx="4183663" cy="44585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F1ED41-3230-49F4-A66F-F129DC32A58F}"/>
              </a:ext>
            </a:extLst>
          </p:cNvPr>
          <p:cNvSpPr txBox="1"/>
          <p:nvPr/>
        </p:nvSpPr>
        <p:spPr>
          <a:xfrm>
            <a:off x="6615307" y="1527137"/>
            <a:ext cx="418366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Sin</a:t>
            </a:r>
            <a:r>
              <a:rPr lang="el-GR" sz="2800" b="1" dirty="0">
                <a:solidFill>
                  <a:srgbClr val="0070C0"/>
                </a:solidFill>
              </a:rPr>
              <a:t>ϴ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GB" sz="2800" b="1" dirty="0">
                <a:solidFill>
                  <a:srgbClr val="0070C0"/>
                </a:solidFill>
              </a:rPr>
              <a:t>=  </a:t>
            </a:r>
            <a:r>
              <a:rPr lang="en-GB" sz="3200" b="1" u="sng" dirty="0">
                <a:solidFill>
                  <a:srgbClr val="0070C0"/>
                </a:solidFill>
              </a:rPr>
              <a:t>Opposite</a:t>
            </a:r>
          </a:p>
          <a:p>
            <a:r>
              <a:rPr lang="en-GB" sz="3200" b="1" dirty="0">
                <a:solidFill>
                  <a:srgbClr val="0070C0"/>
                </a:solidFill>
              </a:rPr>
              <a:t>             Hypotenuse</a:t>
            </a:r>
          </a:p>
          <a:p>
            <a:endParaRPr lang="en-GB" sz="2800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Sin</a:t>
            </a:r>
            <a:r>
              <a:rPr lang="el-GR" sz="2800" b="1" dirty="0">
                <a:solidFill>
                  <a:srgbClr val="0070C0"/>
                </a:solidFill>
              </a:rPr>
              <a:t>ϴ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GB" sz="2800" b="1" dirty="0">
                <a:solidFill>
                  <a:srgbClr val="0070C0"/>
                </a:solidFill>
              </a:rPr>
              <a:t>=    </a:t>
            </a:r>
            <a:r>
              <a:rPr lang="en-GB" sz="2800" b="1" u="sng" dirty="0">
                <a:solidFill>
                  <a:srgbClr val="0070C0"/>
                </a:solidFill>
              </a:rPr>
              <a:t>7</a:t>
            </a:r>
          </a:p>
          <a:p>
            <a:r>
              <a:rPr lang="en-GB" sz="2800" b="1" dirty="0">
                <a:solidFill>
                  <a:srgbClr val="0070C0"/>
                </a:solidFill>
              </a:rPr>
              <a:t>               11</a:t>
            </a:r>
          </a:p>
          <a:p>
            <a:endParaRPr lang="en-GB" sz="2800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Sin</a:t>
            </a:r>
            <a:r>
              <a:rPr lang="el-GR" sz="2800" b="1" dirty="0">
                <a:solidFill>
                  <a:srgbClr val="0070C0"/>
                </a:solidFill>
              </a:rPr>
              <a:t>ϴ</a:t>
            </a:r>
            <a:r>
              <a:rPr lang="en-US" sz="2800" b="1" dirty="0">
                <a:solidFill>
                  <a:srgbClr val="0070C0"/>
                </a:solidFill>
              </a:rPr>
              <a:t> = </a:t>
            </a:r>
            <a:r>
              <a:rPr lang="en-GB" sz="2800" b="1" dirty="0">
                <a:solidFill>
                  <a:srgbClr val="0070C0"/>
                </a:solidFill>
              </a:rPr>
              <a:t>0.636</a:t>
            </a:r>
          </a:p>
          <a:p>
            <a:endParaRPr lang="en-GB" sz="2800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     </a:t>
            </a:r>
            <a:r>
              <a:rPr lang="en-GB" sz="2800" dirty="0">
                <a:solidFill>
                  <a:srgbClr val="0070C0"/>
                </a:solidFill>
              </a:rPr>
              <a:t> </a:t>
            </a:r>
            <a:r>
              <a:rPr lang="el-GR" sz="2800" dirty="0">
                <a:solidFill>
                  <a:srgbClr val="0070C0"/>
                </a:solidFill>
              </a:rPr>
              <a:t>ϴ</a:t>
            </a:r>
            <a:r>
              <a:rPr lang="en-GB" sz="2800" dirty="0">
                <a:solidFill>
                  <a:srgbClr val="0070C0"/>
                </a:solidFill>
              </a:rPr>
              <a:t> </a:t>
            </a:r>
            <a:r>
              <a:rPr lang="en-GB" sz="2800" b="1" dirty="0">
                <a:solidFill>
                  <a:srgbClr val="0070C0"/>
                </a:solidFill>
              </a:rPr>
              <a:t>= Sin </a:t>
            </a:r>
            <a:r>
              <a:rPr lang="en-GB" sz="2800" b="1" baseline="30000" dirty="0">
                <a:solidFill>
                  <a:srgbClr val="0070C0"/>
                </a:solidFill>
              </a:rPr>
              <a:t>-1</a:t>
            </a:r>
            <a:r>
              <a:rPr lang="en-GB" sz="2800" b="1" dirty="0">
                <a:solidFill>
                  <a:srgbClr val="0070C0"/>
                </a:solidFill>
              </a:rPr>
              <a:t> (0.636)</a:t>
            </a:r>
          </a:p>
          <a:p>
            <a:endParaRPr lang="en-AU" sz="2800" dirty="0">
              <a:solidFill>
                <a:srgbClr val="0070C0"/>
              </a:solidFill>
            </a:endParaRPr>
          </a:p>
          <a:p>
            <a:r>
              <a:rPr lang="en-AU" sz="2800" dirty="0">
                <a:solidFill>
                  <a:srgbClr val="00B050"/>
                </a:solidFill>
              </a:rPr>
              <a:t>      </a:t>
            </a:r>
            <a:r>
              <a:rPr lang="el-GR" sz="2800" dirty="0">
                <a:solidFill>
                  <a:srgbClr val="00B050"/>
                </a:solidFill>
              </a:rPr>
              <a:t>ϴ</a:t>
            </a:r>
            <a:r>
              <a:rPr lang="en-GB" sz="2800" dirty="0">
                <a:solidFill>
                  <a:srgbClr val="00B050"/>
                </a:solidFill>
              </a:rPr>
              <a:t> </a:t>
            </a:r>
            <a:r>
              <a:rPr lang="en-GB" sz="2800" b="1" dirty="0">
                <a:solidFill>
                  <a:srgbClr val="00B050"/>
                </a:solidFill>
              </a:rPr>
              <a:t>= 39.49° (degrees)</a:t>
            </a:r>
          </a:p>
        </p:txBody>
      </p:sp>
    </p:spTree>
    <p:extLst>
      <p:ext uri="{BB962C8B-B14F-4D97-AF65-F5344CB8AC3E}">
        <p14:creationId xmlns:p14="http://schemas.microsoft.com/office/powerpoint/2010/main" val="115338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588DDE-1645-45AD-9230-5CE5F54A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567898"/>
            <a:ext cx="11182350" cy="3086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FE4B84A-3653-4F01-9F9A-6C6ABC4FDC9E}"/>
              </a:ext>
            </a:extLst>
          </p:cNvPr>
          <p:cNvSpPr/>
          <p:nvPr/>
        </p:nvSpPr>
        <p:spPr>
          <a:xfrm>
            <a:off x="689113" y="1934817"/>
            <a:ext cx="3140765" cy="2703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F3475-DE9B-4EC5-8D70-616AF88F63C1}"/>
              </a:ext>
            </a:extLst>
          </p:cNvPr>
          <p:cNvSpPr txBox="1"/>
          <p:nvPr/>
        </p:nvSpPr>
        <p:spPr>
          <a:xfrm>
            <a:off x="219865" y="5991671"/>
            <a:ext cx="11502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0070C0"/>
                </a:solidFill>
              </a:rPr>
              <a:t>Get the person next to you to mark your work, be prepared to share your answers</a:t>
            </a:r>
            <a:endParaRPr lang="en-GB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75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3E8D6-DA87-463A-82C7-597B16990565}"/>
              </a:ext>
            </a:extLst>
          </p:cNvPr>
          <p:cNvSpPr txBox="1"/>
          <p:nvPr/>
        </p:nvSpPr>
        <p:spPr>
          <a:xfrm>
            <a:off x="583986" y="693577"/>
            <a:ext cx="108324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00B050"/>
                </a:solidFill>
              </a:rPr>
              <a:t>Complete the worksheet</a:t>
            </a:r>
          </a:p>
          <a:p>
            <a:pPr algn="ctr"/>
            <a:endParaRPr lang="en-AU" sz="2800" b="1" dirty="0">
              <a:solidFill>
                <a:srgbClr val="00B050"/>
              </a:solidFill>
            </a:endParaRPr>
          </a:p>
          <a:p>
            <a:pPr algn="ctr"/>
            <a:r>
              <a:rPr lang="en-AU" sz="2800" b="1" dirty="0">
                <a:solidFill>
                  <a:srgbClr val="00B050"/>
                </a:solidFill>
              </a:rPr>
              <a:t>We will go through the answers together after</a:t>
            </a:r>
          </a:p>
          <a:p>
            <a:pPr algn="ctr"/>
            <a:endParaRPr lang="en-AU" sz="2800" b="1" dirty="0">
              <a:solidFill>
                <a:srgbClr val="00B050"/>
              </a:solidFill>
            </a:endParaRPr>
          </a:p>
          <a:p>
            <a:pPr algn="ctr"/>
            <a:r>
              <a:rPr lang="en-AU" sz="2800" b="1" dirty="0">
                <a:solidFill>
                  <a:srgbClr val="00B050"/>
                </a:solidFill>
              </a:rPr>
              <a:t>Complete Exit Pass – Fill in the Sine Section of your foldable</a:t>
            </a:r>
            <a:endParaRPr lang="en-GB" sz="2800" b="1" dirty="0">
              <a:solidFill>
                <a:srgbClr val="00B05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902976-9256-4DD0-A64D-1621EEC2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57" y="3429000"/>
            <a:ext cx="10743457" cy="23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7ECDB8-7689-4042-9047-9B24E0EA9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67" y="1757569"/>
            <a:ext cx="11392065" cy="292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8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176</Words>
  <Application>Microsoft Office PowerPoint</Application>
  <PresentationFormat>Widescreen</PresentationFormat>
  <Paragraphs>43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Kiwi School Handwriting</vt:lpstr>
      <vt:lpstr>Office Theme</vt:lpstr>
      <vt:lpstr>Sine Ratio 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graphics</dc:title>
  <dc:creator>Nine Labuschagne</dc:creator>
  <cp:lastModifiedBy>Nine Labuschagne</cp:lastModifiedBy>
  <cp:revision>17</cp:revision>
  <dcterms:created xsi:type="dcterms:W3CDTF">2018-02-04T03:32:35Z</dcterms:created>
  <dcterms:modified xsi:type="dcterms:W3CDTF">2018-02-04T05:09:52Z</dcterms:modified>
</cp:coreProperties>
</file>
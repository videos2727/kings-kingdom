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7" r:id="rId3"/>
    <p:sldId id="260" r:id="rId4"/>
    <p:sldId id="268" r:id="rId5"/>
    <p:sldId id="269" r:id="rId6"/>
    <p:sldId id="270" r:id="rId7"/>
    <p:sldId id="267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717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432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8973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728FCA-2C11-4F1C-B2BB-2D306FAFED1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8940" t="21492" r="29542" b="38867"/>
          <a:stretch/>
        </p:blipFill>
        <p:spPr bwMode="auto">
          <a:xfrm>
            <a:off x="1259633" y="1628800"/>
            <a:ext cx="6696744" cy="3684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You will be able to use angles of elevation and depression to the distance of an object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292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Angles of Elevation and 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Angles of Elevation and Depression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3131840" y="2276872"/>
            <a:ext cx="5760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</a:t>
            </a:r>
            <a:r>
              <a:rPr lang="en-AU" b="1" dirty="0"/>
              <a:t>angle of elevation </a:t>
            </a:r>
            <a:r>
              <a:rPr lang="en-AU" dirty="0"/>
              <a:t>is the angle between a horizontal line from the observer and the line of sight to an object that is above the horizontal line. </a:t>
            </a:r>
          </a:p>
          <a:p>
            <a:endParaRPr lang="en-AU" dirty="0"/>
          </a:p>
          <a:p>
            <a:r>
              <a:rPr lang="en-AU" dirty="0"/>
              <a:t>In the diagram below, </a:t>
            </a:r>
            <a:r>
              <a:rPr lang="en-AU" i="1" dirty="0"/>
              <a:t>AB</a:t>
            </a:r>
            <a:r>
              <a:rPr lang="en-AU" dirty="0"/>
              <a:t> is the horizontal line. </a:t>
            </a:r>
            <a:r>
              <a:rPr lang="en-AU" i="1" dirty="0"/>
              <a:t>θ</a:t>
            </a:r>
            <a:r>
              <a:rPr lang="en-AU" dirty="0"/>
              <a:t> is the angle of elevation from the observer at </a:t>
            </a:r>
            <a:r>
              <a:rPr lang="en-AU" i="1" dirty="0"/>
              <a:t>A</a:t>
            </a:r>
            <a:r>
              <a:rPr lang="en-AU" dirty="0"/>
              <a:t> to the object at </a:t>
            </a:r>
            <a:r>
              <a:rPr lang="en-AU" i="1" dirty="0"/>
              <a:t>C</a:t>
            </a:r>
            <a:r>
              <a:rPr lang="en-AU" dirty="0"/>
              <a:t>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8F3668-A034-43D5-9398-529A74A12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360" y="4262031"/>
            <a:ext cx="2590800" cy="1676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288269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Angle of Elevation</a:t>
            </a:r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292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Angles of Elevation and 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Angles of Elevation and Depression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251520" y="242088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Angle of Depression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F714B-C9E5-46F2-BEEC-849FB82D5AA1}"/>
              </a:ext>
            </a:extLst>
          </p:cNvPr>
          <p:cNvSpPr txBox="1"/>
          <p:nvPr/>
        </p:nvSpPr>
        <p:spPr>
          <a:xfrm>
            <a:off x="3131840" y="2420888"/>
            <a:ext cx="57606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</a:t>
            </a:r>
            <a:r>
              <a:rPr lang="en-AU" b="1" dirty="0"/>
              <a:t>angle of depression </a:t>
            </a:r>
            <a:r>
              <a:rPr lang="en-AU" dirty="0"/>
              <a:t>is the angle between a horizontal line from the observer and the line of sight to an object that is below the horizontal line. </a:t>
            </a:r>
          </a:p>
          <a:p>
            <a:endParaRPr lang="en-AU" dirty="0"/>
          </a:p>
          <a:p>
            <a:r>
              <a:rPr lang="en-AU" dirty="0"/>
              <a:t>In the diagram below, </a:t>
            </a:r>
            <a:r>
              <a:rPr lang="en-AU" i="1" dirty="0"/>
              <a:t>PQ</a:t>
            </a:r>
            <a:r>
              <a:rPr lang="en-AU" dirty="0"/>
              <a:t> is the horizontal line. </a:t>
            </a:r>
            <a:r>
              <a:rPr lang="en-AU" i="1" dirty="0"/>
              <a:t>θ</a:t>
            </a:r>
            <a:r>
              <a:rPr lang="en-AU" dirty="0"/>
              <a:t> is the angle of depression from the observer at </a:t>
            </a:r>
            <a:r>
              <a:rPr lang="en-AU" i="1" dirty="0"/>
              <a:t>P</a:t>
            </a:r>
            <a:r>
              <a:rPr lang="en-AU" dirty="0"/>
              <a:t> to the object at </a:t>
            </a:r>
            <a:r>
              <a:rPr lang="en-AU" i="1" dirty="0"/>
              <a:t>R</a:t>
            </a:r>
            <a:r>
              <a:rPr lang="en-AU" dirty="0"/>
              <a:t>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6C5B9C-6A2D-47A1-A5AB-5C7D5491E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324" y="4653136"/>
            <a:ext cx="29718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292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Angles of Elevation and 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Angles of Elevation and Depression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E9259B-6C6D-4DAF-B643-B0C1877B932D}"/>
                  </a:ext>
                </a:extLst>
              </p:cNvPr>
              <p:cNvSpPr txBox="1"/>
              <p:nvPr/>
            </p:nvSpPr>
            <p:spPr>
              <a:xfrm>
                <a:off x="3059832" y="2276872"/>
                <a:ext cx="5904656" cy="4539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/>
                  <a:t>Example: </a:t>
                </a:r>
                <a:endParaRPr lang="en-AU" dirty="0"/>
              </a:p>
              <a:p>
                <a:r>
                  <a:rPr lang="en-AU" dirty="0"/>
                  <a:t>A man who is 2 m tall stands on horizontal ground 30 m from a tree. The angle of elevation of the top of the tree from his eyes is 28˚. Estimate the height of the tree. </a:t>
                </a:r>
              </a:p>
              <a:p>
                <a:endParaRPr lang="en-AU" dirty="0"/>
              </a:p>
              <a:p>
                <a:r>
                  <a:rPr lang="en-AU" dirty="0"/>
                  <a:t>Step 1 – sketch a diagram.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 – Select the Trig ratio, in this case the Tan Ratio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𝑇𝑎𝑛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𝑂𝑝𝑝𝑜𝑠𝑖𝑡𝑒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𝐴𝑑𝑗𝑎𝑐𝑒𝑛𝑡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E9259B-6C6D-4DAF-B643-B0C1877B9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76872"/>
                <a:ext cx="5904656" cy="4539256"/>
              </a:xfrm>
              <a:prstGeom prst="rect">
                <a:avLst/>
              </a:prstGeom>
              <a:blipFill>
                <a:blip r:embed="rId3"/>
                <a:stretch>
                  <a:fillRect l="-929" t="-806" r="-6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31BABAE-7297-4E02-903C-7C9213A1E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4077072"/>
            <a:ext cx="22669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292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Angles of Elevation and Depression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Angles of Elevation and Depression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41C7D4-8BC4-4DAD-8792-FC09C2E9FD4A}"/>
                  </a:ext>
                </a:extLst>
              </p:cNvPr>
              <p:cNvSpPr txBox="1"/>
              <p:nvPr/>
            </p:nvSpPr>
            <p:spPr>
              <a:xfrm>
                <a:off x="3203848" y="2348880"/>
                <a:ext cx="568863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3 – Calculate the length of the opposite side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𝑂𝑝𝑝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The length of the opposite side is approx. 15.95m</a:t>
                </a:r>
              </a:p>
              <a:p>
                <a:endParaRPr lang="en-AU" dirty="0"/>
              </a:p>
              <a:p>
                <a:r>
                  <a:rPr lang="en-AU" dirty="0"/>
                  <a:t>Step 4 – add the height of the man (2m) to the length of the opposite side.</a:t>
                </a:r>
              </a:p>
              <a:p>
                <a:endParaRPr lang="en-AU" dirty="0"/>
              </a:p>
              <a:p>
                <a:r>
                  <a:rPr lang="en-AU" dirty="0"/>
                  <a:t>15.95 + 2 = 17.95m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41C7D4-8BC4-4DAD-8792-FC09C2E9F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348880"/>
                <a:ext cx="5688632" cy="2862322"/>
              </a:xfrm>
              <a:prstGeom prst="rect">
                <a:avLst/>
              </a:prstGeom>
              <a:blipFill>
                <a:blip r:embed="rId3"/>
                <a:stretch>
                  <a:fillRect l="-965" t="-1064" b="-23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73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740BC-30AB-4CE6-8B1A-FA25D5DD09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9" t="40920" r="30269" b="23368"/>
          <a:stretch/>
        </p:blipFill>
        <p:spPr>
          <a:xfrm>
            <a:off x="1763687" y="1916832"/>
            <a:ext cx="6369625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641925-8E26-4255-B9E0-3AD5F6E9EDA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7754" t="40197" r="28872" b="16355"/>
          <a:stretch/>
        </p:blipFill>
        <p:spPr bwMode="auto">
          <a:xfrm>
            <a:off x="827584" y="1417638"/>
            <a:ext cx="7344816" cy="4603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Success Criteria</a:t>
            </a:r>
          </a:p>
          <a:p>
            <a:pPr marL="0" indent="0">
              <a:buNone/>
            </a:pPr>
            <a:r>
              <a:rPr lang="en-AU" dirty="0"/>
              <a:t>Thumbs up </a:t>
            </a:r>
            <a:r>
              <a:rPr lang="en-AU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396</Words>
  <Application>Microsoft Office PowerPoint</Application>
  <PresentationFormat>On-screen Show (4:3)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Mental set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 DHUE</cp:lastModifiedBy>
  <cp:revision>11</cp:revision>
  <dcterms:created xsi:type="dcterms:W3CDTF">2016-10-20T03:14:06Z</dcterms:created>
  <dcterms:modified xsi:type="dcterms:W3CDTF">2018-02-08T06:29:18Z</dcterms:modified>
</cp:coreProperties>
</file>
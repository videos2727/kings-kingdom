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60" r:id="rId17"/>
    <p:sldId id="277" r:id="rId18"/>
    <p:sldId id="278" r:id="rId19"/>
    <p:sldId id="261" r:id="rId20"/>
    <p:sldId id="279" r:id="rId21"/>
    <p:sldId id="280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EF250-83DB-4BDB-857B-AD4A235AFEE7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DF450-21E6-413F-AC08-AEF5418ACA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5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413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59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5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88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83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564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563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092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8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791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037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7456-CFFB-4C31-A719-49FA95E3D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7C0CF-B1FD-4A15-9405-6B27590AD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E2E9-3220-4408-AB68-138EDB15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F5063-482A-4C90-BAA0-7FCF8467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5C2C-E90B-4767-A9A0-DFE11F4B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74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147C-A26C-4701-A8AA-DA0BCB10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507E-9326-4007-B6AD-E5ECEF61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A9F8-CD23-474F-8AAD-3511BF30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FBE2-747E-4707-A541-148063D3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D86CE-80E4-42DB-878E-DA7B8CD3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5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4E82-21AE-40B4-AC08-5C2CB944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A155B-9183-4652-A4C3-2A86533C3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FFD3D-86D1-4ECC-8D74-EA30B277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6622-ACFA-4328-9A73-6D491545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9057B-2CFC-49EE-913B-123F34C9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79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4B57-2B96-40B1-96FE-ADF2A10C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E0B9-4384-40E0-93C4-64FA9C065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EEF9A-0D2C-454D-8845-EAE976CDE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2E8D9-39D4-48E9-A775-E2762697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8D19E-2C0C-4139-A552-789F1509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F378C-86C3-486B-AA53-5B0A69C1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67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5767-0C53-4C83-8DE2-048A9391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51D40-31C4-4C57-B8F6-14C2ADE4A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54102-5CD4-491C-B178-F316D23BF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334FE-56D5-4C0E-91D1-9A538C482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E16E4-05A9-49F4-96D0-871A894F4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282CF-FD0F-4D20-92D1-6B6BD786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B9358-3FF2-4499-BDE6-11B66C5A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1B006-782B-4EE2-B476-B89BF921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05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4ECF-47A4-4442-981C-AE5076EC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A166A-A7A4-447F-9D8E-C86C2D26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4AAF7-EC98-4437-8839-F5E5FDB3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650CC-F74B-48AC-BECD-DA99DA58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03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9EC84-8AAC-42D2-AC0F-75D5C41E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05861-107E-437D-AB69-086D2159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C931D-6ED8-4D0F-8E0F-609FCE43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536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B5CA-C7E6-44F9-8967-B1D7DBFD7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534CE-AE78-4F13-9D8E-291394AE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C549E-B71F-4011-88F6-B9D3315C0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F2E9F-3013-4CF4-A330-70CF3869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E77B8-C5EE-48AE-82E4-1DE7607F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0E20-77DC-43B2-A409-6BD6CD59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83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6D37-6F21-4CFA-B75D-BFDD1D8C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630E9-E12C-4FE9-8D24-DF555072A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4007-DEE9-46E1-882B-37266952F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900B-91D4-4DD9-A806-552AB83E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3FDE-3606-416C-9826-E6D29BAC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9264D-3660-4745-8339-312667C2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17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118F-C0E9-4F64-A3C1-9D43AA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05A63-B772-45B8-B4DE-85496576D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03730-A050-4C92-902C-CEED6253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4403-5A54-4327-9962-76800512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02B96-7425-4046-9BD0-18AFFA52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12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2DBC9-D0E8-4C9B-8FBF-A5D93C830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0CA01-E3B3-4C02-B703-029AC4511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3C885-F0F9-494F-9928-87872081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1A85B-41E4-4C26-BDCE-B6A5C5BB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6659-9E8B-414D-9B61-335E0569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51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821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7251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51465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75535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747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593EE-BC2D-4394-A750-374B7FD8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8679F-DFD7-429E-8144-36C6C7587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A0BA-3D07-48E9-8236-E6FD8E63B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1BC03-DAC5-4FF7-B440-2B79226B1FC2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3C2A5-7206-4032-8E03-4E8E98EAC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2F49A-4779-48EC-8C6F-1855BDDFC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D9DD5-143D-4505-A3DE-D30C20E2ED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97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Tan Ratio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Find the missing side using Tan Ratio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find missing sides and angles?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using the Tangent ratio?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62A523-CB7D-4A84-A8EC-D0162CB346C6}"/>
              </a:ext>
            </a:extLst>
          </p:cNvPr>
          <p:cNvSpPr txBox="1">
            <a:spLocks/>
          </p:cNvSpPr>
          <p:nvPr/>
        </p:nvSpPr>
        <p:spPr>
          <a:xfrm>
            <a:off x="2026066" y="1738377"/>
            <a:ext cx="9998108" cy="33263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We can use trigonometry to find missing angles and lengths of triangles.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Trigonometry uses three functions, these are called:</a:t>
            </a:r>
          </a:p>
          <a:p>
            <a:pPr lvl="1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Sine (shortened to Sin and pronounced “sign”)</a:t>
            </a:r>
          </a:p>
          <a:p>
            <a:pPr lvl="1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Cosine (shortened to Cos)</a:t>
            </a:r>
          </a:p>
          <a:p>
            <a:pPr lvl="1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Tangent (shortened to Tan)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using the Tangent ratio?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 rot="16200000">
            <a:off x="-104703" y="32031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693575" y="2520934"/>
            <a:ext cx="5330743" cy="2314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latin typeface="Garamond" pitchFamily="18" charset="0"/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505EE4-1AE3-49CA-9C5C-F1B059B0EBD2}"/>
              </a:ext>
            </a:extLst>
          </p:cNvPr>
          <p:cNvSpPr txBox="1"/>
          <p:nvPr/>
        </p:nvSpPr>
        <p:spPr>
          <a:xfrm>
            <a:off x="2987823" y="5661248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768917" y="4962638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7330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using the Tangent ratio?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2980857" y="55968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693575" y="2520934"/>
            <a:ext cx="5330743" cy="2314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latin typeface="Garamond" pitchFamily="18" charset="0"/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505EE4-1AE3-49CA-9C5C-F1B059B0EBD2}"/>
              </a:ext>
            </a:extLst>
          </p:cNvPr>
          <p:cNvSpPr txBox="1"/>
          <p:nvPr/>
        </p:nvSpPr>
        <p:spPr>
          <a:xfrm rot="16200000">
            <a:off x="-89046" y="3468002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1338402" y="1970904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27271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78071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412777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409939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240016" y="1340768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5178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99856" y="1196752"/>
            <a:ext cx="2880320" cy="1080120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19675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663952" y="2276872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376885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20150453">
            <a:off x="5199821" y="766589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015880" y="1484785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2024" y="836712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347267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5519066" y="1267889"/>
            <a:ext cx="1585917" cy="230425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528048" y="1486526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9976" y="849486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34616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2"/>
            <a:ext cx="3240360" cy="1438419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340769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8107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18919960">
            <a:off x="5090449" y="698212"/>
            <a:ext cx="1224136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170569" y="170458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 rot="18942414">
            <a:off x="4699151" y="1776591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97889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908720"/>
            <a:ext cx="3240360" cy="1656184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124745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98554" y="2440049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309531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023992" y="1340768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91679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E2CDE4-6BC1-462B-9316-BA082B1CE7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00" r="21251"/>
          <a:stretch/>
        </p:blipFill>
        <p:spPr>
          <a:xfrm>
            <a:off x="1900672" y="0"/>
            <a:ext cx="396044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E0B7A7-F4C6-4971-8C92-368D65FB636B}"/>
              </a:ext>
            </a:extLst>
          </p:cNvPr>
          <p:cNvSpPr txBox="1"/>
          <p:nvPr/>
        </p:nvSpPr>
        <p:spPr>
          <a:xfrm>
            <a:off x="6933238" y="1109427"/>
            <a:ext cx="4119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Your calculator must be set to </a:t>
            </a:r>
            <a:r>
              <a:rPr lang="en-GB" sz="3200" b="1" dirty="0" err="1">
                <a:solidFill>
                  <a:srgbClr val="7030A0"/>
                </a:solidFill>
              </a:rPr>
              <a:t>Deg</a:t>
            </a:r>
            <a:r>
              <a:rPr lang="en-GB" sz="3200" dirty="0"/>
              <a:t> </a:t>
            </a:r>
          </a:p>
          <a:p>
            <a:pPr marL="514350" indent="-514350">
              <a:buAutoNum type="arabicParenR"/>
            </a:pPr>
            <a:r>
              <a:rPr lang="en-GB" sz="3200" dirty="0"/>
              <a:t>Shift – mode</a:t>
            </a:r>
          </a:p>
          <a:p>
            <a:pPr marL="514350" indent="-514350">
              <a:buAutoNum type="arabicParenR"/>
            </a:pPr>
            <a:endParaRPr lang="en-GB" sz="3200" dirty="0"/>
          </a:p>
          <a:p>
            <a:pPr marL="514350" indent="-514350">
              <a:buAutoNum type="arabicParenR"/>
            </a:pPr>
            <a:r>
              <a:rPr lang="en-GB" sz="3200" dirty="0"/>
              <a:t>Select </a:t>
            </a:r>
            <a:r>
              <a:rPr lang="en-GB" sz="3200" i="1" dirty="0"/>
              <a:t>3:Deg </a:t>
            </a:r>
            <a:r>
              <a:rPr lang="en-GB" sz="3200" dirty="0"/>
              <a:t>so press 3 on the calculator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53632-F1EB-428B-84D4-9B9FDC21144F}"/>
              </a:ext>
            </a:extLst>
          </p:cNvPr>
          <p:cNvSpPr/>
          <p:nvPr/>
        </p:nvSpPr>
        <p:spPr>
          <a:xfrm>
            <a:off x="3880892" y="3730284"/>
            <a:ext cx="134703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765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using the Tangent ratio?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" name="Group 6">
            <a:extLst>
              <a:ext uri="{FF2B5EF4-FFF2-40B4-BE49-F238E27FC236}">
                <a16:creationId xmlns:a16="http://schemas.microsoft.com/office/drawing/2014/main" id="{A2753556-AF22-4400-B420-71C019804F80}"/>
              </a:ext>
            </a:extLst>
          </p:cNvPr>
          <p:cNvGrpSpPr/>
          <p:nvPr/>
        </p:nvGrpSpPr>
        <p:grpSpPr>
          <a:xfrm>
            <a:off x="1325562" y="2822542"/>
            <a:ext cx="3183941" cy="2204267"/>
            <a:chOff x="971599" y="1700808"/>
            <a:chExt cx="5616625" cy="3888432"/>
          </a:xfrm>
        </p:grpSpPr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80042330-F8C6-4F1B-BCBC-2633592079A6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A1450-5578-4F56-93DC-B7F9FAACE66C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B84808-8E2C-49E9-9C06-EFF7EE4561B3}"/>
                </a:ext>
              </a:extLst>
            </p:cNvPr>
            <p:cNvSpPr txBox="1"/>
            <p:nvPr/>
          </p:nvSpPr>
          <p:spPr>
            <a:xfrm>
              <a:off x="4606575" y="4715614"/>
              <a:ext cx="1049670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50˚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08EA17E-9A8E-4D87-AFA7-BA0E46464C0B}"/>
              </a:ext>
            </a:extLst>
          </p:cNvPr>
          <p:cNvSpPr txBox="1"/>
          <p:nvPr/>
        </p:nvSpPr>
        <p:spPr>
          <a:xfrm>
            <a:off x="1613594" y="5054790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70C0"/>
                </a:solidFill>
              </a:rPr>
              <a:t>6.4cm (1dp)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CBAED0-E66B-4AA2-BA95-56123DB745C0}"/>
              </a:ext>
            </a:extLst>
          </p:cNvPr>
          <p:cNvSpPr txBox="1"/>
          <p:nvPr/>
        </p:nvSpPr>
        <p:spPr>
          <a:xfrm rot="16200000">
            <a:off x="157492" y="3365902"/>
            <a:ext cx="160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10cm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E4C1E8-F3B2-44BE-96B0-67D4381DEC4C}"/>
              </a:ext>
            </a:extLst>
          </p:cNvPr>
          <p:cNvSpPr txBox="1"/>
          <p:nvPr/>
        </p:nvSpPr>
        <p:spPr>
          <a:xfrm>
            <a:off x="5495157" y="1738377"/>
            <a:ext cx="59017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We use Tangent when we have the </a:t>
            </a:r>
            <a:r>
              <a:rPr lang="en-GB" sz="3600" b="1" u="sng" dirty="0">
                <a:solidFill>
                  <a:srgbClr val="FF0000"/>
                </a:solidFill>
              </a:rPr>
              <a:t>Opposite </a:t>
            </a:r>
            <a:r>
              <a:rPr lang="en-GB" sz="3600" dirty="0"/>
              <a:t>and </a:t>
            </a:r>
            <a:r>
              <a:rPr lang="en-GB" sz="3600" b="1" u="sng" dirty="0">
                <a:solidFill>
                  <a:srgbClr val="FF0000"/>
                </a:solidFill>
              </a:rPr>
              <a:t>Adjacent</a:t>
            </a:r>
            <a:r>
              <a:rPr lang="en-GB" sz="3600" dirty="0"/>
              <a:t> lengths.</a:t>
            </a:r>
            <a:endParaRPr lang="en-GB" sz="3600" b="1" u="sng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09F2AC-6082-40E4-879C-985E1C12B285}"/>
              </a:ext>
            </a:extLst>
          </p:cNvPr>
          <p:cNvSpPr txBox="1"/>
          <p:nvPr/>
        </p:nvSpPr>
        <p:spPr>
          <a:xfrm>
            <a:off x="6972123" y="3960148"/>
            <a:ext cx="238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Tan 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78F8D-02C3-4F1D-9F22-9ED3B6AF6D67}"/>
              </a:ext>
            </a:extLst>
          </p:cNvPr>
          <p:cNvSpPr txBox="1"/>
          <p:nvPr/>
        </p:nvSpPr>
        <p:spPr>
          <a:xfrm>
            <a:off x="8278690" y="3683148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Adjacent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3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8E5F2FF4-70B1-401B-B58D-1D583EFE0722}"/>
              </a:ext>
            </a:extLst>
          </p:cNvPr>
          <p:cNvGrpSpPr/>
          <p:nvPr/>
        </p:nvGrpSpPr>
        <p:grpSpPr>
          <a:xfrm>
            <a:off x="1280572" y="747936"/>
            <a:ext cx="3183941" cy="2257734"/>
            <a:chOff x="971599" y="1700808"/>
            <a:chExt cx="5616625" cy="3982751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79275EF7-4BD9-4CF7-A938-F6313E382F84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0FF994-4DD1-43E4-9B79-6636774B510F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D371A0-CE3D-4BF4-8C28-A8D2A6DB622F}"/>
                </a:ext>
              </a:extLst>
            </p:cNvPr>
            <p:cNvSpPr txBox="1"/>
            <p:nvPr/>
          </p:nvSpPr>
          <p:spPr>
            <a:xfrm>
              <a:off x="4782366" y="4869160"/>
              <a:ext cx="1106226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53˚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01F14C3-2340-4927-9647-A05147D8F5BF}"/>
              </a:ext>
            </a:extLst>
          </p:cNvPr>
          <p:cNvSpPr txBox="1"/>
          <p:nvPr/>
        </p:nvSpPr>
        <p:spPr>
          <a:xfrm>
            <a:off x="583986" y="1493852"/>
            <a:ext cx="405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B7C55-79B1-42CE-8288-2EB5B0C9C292}"/>
              </a:ext>
            </a:extLst>
          </p:cNvPr>
          <p:cNvSpPr txBox="1"/>
          <p:nvPr/>
        </p:nvSpPr>
        <p:spPr>
          <a:xfrm>
            <a:off x="2325763" y="3062348"/>
            <a:ext cx="1428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21BE9-2642-4CCC-AC6D-FFD300100F7C}"/>
              </a:ext>
            </a:extLst>
          </p:cNvPr>
          <p:cNvSpPr txBox="1"/>
          <p:nvPr/>
        </p:nvSpPr>
        <p:spPr>
          <a:xfrm>
            <a:off x="5269420" y="1933147"/>
            <a:ext cx="55977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We can use Tan as the question involves the </a:t>
            </a:r>
            <a:r>
              <a:rPr lang="en-GB" sz="2800" b="1" u="sng" dirty="0">
                <a:solidFill>
                  <a:srgbClr val="FF0000"/>
                </a:solidFill>
              </a:rPr>
              <a:t>Adjacent </a:t>
            </a:r>
            <a:r>
              <a:rPr lang="en-GB" sz="2800" dirty="0"/>
              <a:t>and </a:t>
            </a:r>
            <a:r>
              <a:rPr lang="en-GB" sz="2800" b="1" u="sng" dirty="0">
                <a:solidFill>
                  <a:srgbClr val="FF0000"/>
                </a:solidFill>
              </a:rPr>
              <a:t>Opposite</a:t>
            </a:r>
            <a:r>
              <a:rPr lang="en-GB" sz="2800" dirty="0"/>
              <a:t> lengths</a:t>
            </a:r>
            <a:endParaRPr lang="en-GB" sz="2800" b="1" u="sng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F4002-8D5F-4B9E-B338-3102B46A2A86}"/>
              </a:ext>
            </a:extLst>
          </p:cNvPr>
          <p:cNvSpPr txBox="1"/>
          <p:nvPr/>
        </p:nvSpPr>
        <p:spPr>
          <a:xfrm>
            <a:off x="1020542" y="4105834"/>
            <a:ext cx="2080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Tan53=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D8A77-50B0-4628-BF65-B99DAE3521B4}"/>
              </a:ext>
            </a:extLst>
          </p:cNvPr>
          <p:cNvSpPr txBox="1"/>
          <p:nvPr/>
        </p:nvSpPr>
        <p:spPr>
          <a:xfrm>
            <a:off x="2648723" y="3772272"/>
            <a:ext cx="1253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/>
              <a:t>X</a:t>
            </a:r>
          </a:p>
          <a:p>
            <a:pPr algn="ctr"/>
            <a:r>
              <a:rPr lang="en-GB" sz="3600" b="1" dirty="0"/>
              <a:t>11</a:t>
            </a:r>
            <a:endParaRPr lang="en-GB" sz="3600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DDF65-ACB5-45A6-89A1-49627066E776}"/>
              </a:ext>
            </a:extLst>
          </p:cNvPr>
          <p:cNvSpPr txBox="1"/>
          <p:nvPr/>
        </p:nvSpPr>
        <p:spPr>
          <a:xfrm>
            <a:off x="6201109" y="3772272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rule we use is: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3CA39-0CC9-4AB4-A11B-3FA8155AA5BB}"/>
              </a:ext>
            </a:extLst>
          </p:cNvPr>
          <p:cNvSpPr txBox="1"/>
          <p:nvPr/>
        </p:nvSpPr>
        <p:spPr>
          <a:xfrm>
            <a:off x="6587248" y="4691743"/>
            <a:ext cx="223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Tan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35B86-1C8A-4E14-82C4-2FA0DE8D45E0}"/>
              </a:ext>
            </a:extLst>
          </p:cNvPr>
          <p:cNvSpPr txBox="1"/>
          <p:nvPr/>
        </p:nvSpPr>
        <p:spPr>
          <a:xfrm>
            <a:off x="8099416" y="4414452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Adjacent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70ED7-1769-4327-82A4-B2BA9C264F74}"/>
              </a:ext>
            </a:extLst>
          </p:cNvPr>
          <p:cNvSpPr txBox="1"/>
          <p:nvPr/>
        </p:nvSpPr>
        <p:spPr>
          <a:xfrm>
            <a:off x="856050" y="4999576"/>
            <a:ext cx="401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11 x Tan 53  =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957AEC-A207-4E77-9D1C-2BDD721A2B6B}"/>
              </a:ext>
            </a:extLst>
          </p:cNvPr>
          <p:cNvSpPr txBox="1"/>
          <p:nvPr/>
        </p:nvSpPr>
        <p:spPr>
          <a:xfrm>
            <a:off x="856050" y="5670722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14.6 cm (1dp)= X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>
            <a:extLst>
              <a:ext uri="{FF2B5EF4-FFF2-40B4-BE49-F238E27FC236}">
                <a16:creationId xmlns:a16="http://schemas.microsoft.com/office/drawing/2014/main" id="{F9021C3A-0ECE-4312-8487-9AA4CE08C2FA}"/>
              </a:ext>
            </a:extLst>
          </p:cNvPr>
          <p:cNvGrpSpPr/>
          <p:nvPr/>
        </p:nvGrpSpPr>
        <p:grpSpPr>
          <a:xfrm>
            <a:off x="2351585" y="836713"/>
            <a:ext cx="3183941" cy="2261865"/>
            <a:chOff x="971599" y="1700808"/>
            <a:chExt cx="5616625" cy="3990038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7E47D05-F17D-46F1-B7CE-27C8A4B9E403}"/>
                </a:ext>
              </a:extLst>
            </p:cNvPr>
            <p:cNvSpPr/>
            <p:nvPr/>
          </p:nvSpPr>
          <p:spPr>
            <a:xfrm>
              <a:off x="971600" y="1700808"/>
              <a:ext cx="5616624" cy="3888432"/>
            </a:xfrm>
            <a:prstGeom prst="rt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F8ACB1-BE16-4C12-906C-4BAEE4F2E0EC}"/>
                </a:ext>
              </a:extLst>
            </p:cNvPr>
            <p:cNvSpPr/>
            <p:nvPr/>
          </p:nvSpPr>
          <p:spPr>
            <a:xfrm>
              <a:off x="971599" y="5013176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1492DB-C09C-4CAB-99CB-C5620BDFC869}"/>
                </a:ext>
              </a:extLst>
            </p:cNvPr>
            <p:cNvSpPr txBox="1"/>
            <p:nvPr/>
          </p:nvSpPr>
          <p:spPr>
            <a:xfrm>
              <a:off x="4782366" y="4876447"/>
              <a:ext cx="1106226" cy="8143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35˚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A1C7A2-9423-47F0-8EFD-44AFDFCE0FFD}"/>
              </a:ext>
            </a:extLst>
          </p:cNvPr>
          <p:cNvSpPr txBox="1"/>
          <p:nvPr/>
        </p:nvSpPr>
        <p:spPr>
          <a:xfrm>
            <a:off x="3610110" y="3134682"/>
            <a:ext cx="526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1DA3A-BBF6-4BBA-8923-45520EFABC54}"/>
              </a:ext>
            </a:extLst>
          </p:cNvPr>
          <p:cNvSpPr txBox="1"/>
          <p:nvPr/>
        </p:nvSpPr>
        <p:spPr>
          <a:xfrm rot="16200000">
            <a:off x="1292564" y="1656291"/>
            <a:ext cx="1428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80AA1-19CB-49E0-A7E2-F74DC88EDA08}"/>
              </a:ext>
            </a:extLst>
          </p:cNvPr>
          <p:cNvSpPr txBox="1"/>
          <p:nvPr/>
        </p:nvSpPr>
        <p:spPr>
          <a:xfrm>
            <a:off x="6948531" y="1595865"/>
            <a:ext cx="46805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We can use Tan as the question involves the </a:t>
            </a:r>
            <a:r>
              <a:rPr lang="en-GB" sz="2800" b="1" u="sng" dirty="0">
                <a:solidFill>
                  <a:srgbClr val="FF0000"/>
                </a:solidFill>
              </a:rPr>
              <a:t>Adjacent </a:t>
            </a:r>
            <a:r>
              <a:rPr lang="en-GB" sz="2800" dirty="0"/>
              <a:t>and </a:t>
            </a:r>
            <a:r>
              <a:rPr lang="en-GB" sz="2800" b="1" u="sng" dirty="0">
                <a:solidFill>
                  <a:srgbClr val="FF0000"/>
                </a:solidFill>
              </a:rPr>
              <a:t>Opposite</a:t>
            </a:r>
            <a:r>
              <a:rPr lang="en-GB" sz="2800" dirty="0"/>
              <a:t> lengths</a:t>
            </a:r>
            <a:endParaRPr lang="en-GB" sz="2800" b="1" u="sng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53059-68BC-4C9C-88AF-911B4EF995F9}"/>
              </a:ext>
            </a:extLst>
          </p:cNvPr>
          <p:cNvSpPr txBox="1"/>
          <p:nvPr/>
        </p:nvSpPr>
        <p:spPr>
          <a:xfrm>
            <a:off x="591169" y="3543813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Tan35=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0BB4A-D677-4381-8851-2C9F835C73EB}"/>
              </a:ext>
            </a:extLst>
          </p:cNvPr>
          <p:cNvSpPr txBox="1"/>
          <p:nvPr/>
        </p:nvSpPr>
        <p:spPr>
          <a:xfrm>
            <a:off x="2081666" y="3214635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/>
              <a:t>21</a:t>
            </a:r>
          </a:p>
          <a:p>
            <a:pPr algn="ctr"/>
            <a:r>
              <a:rPr lang="en-GB" sz="3600" b="1" dirty="0"/>
              <a:t>A</a:t>
            </a:r>
            <a:endParaRPr lang="en-GB" sz="36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FBC104-A382-4EA3-8A56-616B4F95AF45}"/>
              </a:ext>
            </a:extLst>
          </p:cNvPr>
          <p:cNvSpPr txBox="1"/>
          <p:nvPr/>
        </p:nvSpPr>
        <p:spPr>
          <a:xfrm>
            <a:off x="7140116" y="3705486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rule we use is: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A9F573-0D3A-4212-B1C5-09ED06748FBC}"/>
              </a:ext>
            </a:extLst>
          </p:cNvPr>
          <p:cNvSpPr txBox="1"/>
          <p:nvPr/>
        </p:nvSpPr>
        <p:spPr>
          <a:xfrm>
            <a:off x="562949" y="4456300"/>
            <a:ext cx="417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A x Tan35 = 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62FE3-6E41-4EBC-AC77-B2896758E1AF}"/>
              </a:ext>
            </a:extLst>
          </p:cNvPr>
          <p:cNvSpPr txBox="1"/>
          <p:nvPr/>
        </p:nvSpPr>
        <p:spPr>
          <a:xfrm>
            <a:off x="562949" y="5283228"/>
            <a:ext cx="3357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A =    </a:t>
            </a:r>
            <a:r>
              <a:rPr lang="en-GB" sz="3600" b="1" u="sng" dirty="0"/>
              <a:t>21</a:t>
            </a:r>
          </a:p>
          <a:p>
            <a:r>
              <a:rPr lang="en-GB" sz="3600" b="1" dirty="0"/>
              <a:t>       Tan35</a:t>
            </a:r>
            <a:endParaRPr lang="en-GB" sz="3600" b="1" u="s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CB094-7A18-4F27-BDF0-AB17AB6CCB32}"/>
              </a:ext>
            </a:extLst>
          </p:cNvPr>
          <p:cNvSpPr txBox="1"/>
          <p:nvPr/>
        </p:nvSpPr>
        <p:spPr>
          <a:xfrm>
            <a:off x="3832582" y="5586428"/>
            <a:ext cx="5267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A=   29.99 cm (2dp)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67CD204-7A13-4267-AAB0-6A229916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529D6-57AB-4616-BCF5-858FF8F984EB}"/>
              </a:ext>
            </a:extLst>
          </p:cNvPr>
          <p:cNvSpPr txBox="1"/>
          <p:nvPr/>
        </p:nvSpPr>
        <p:spPr>
          <a:xfrm>
            <a:off x="7455565" y="4601934"/>
            <a:ext cx="223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7030A0"/>
                </a:solidFill>
              </a:rPr>
              <a:t>Tan</a:t>
            </a:r>
            <a:r>
              <a:rPr lang="el-GR" sz="3600" b="1" dirty="0">
                <a:solidFill>
                  <a:srgbClr val="7030A0"/>
                </a:solidFill>
              </a:rPr>
              <a:t>ϴ</a:t>
            </a:r>
            <a:r>
              <a:rPr lang="en-GB" sz="3600" b="1" dirty="0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8B533-4E9E-440C-8672-B2DDCA0180DE}"/>
              </a:ext>
            </a:extLst>
          </p:cNvPr>
          <p:cNvSpPr txBox="1"/>
          <p:nvPr/>
        </p:nvSpPr>
        <p:spPr>
          <a:xfrm>
            <a:off x="8967733" y="4324643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u="sng" dirty="0">
                <a:solidFill>
                  <a:srgbClr val="7030A0"/>
                </a:solidFill>
              </a:rPr>
              <a:t>Opposite</a:t>
            </a:r>
          </a:p>
          <a:p>
            <a:pPr algn="ctr"/>
            <a:r>
              <a:rPr lang="en-GB" sz="3600" b="1" dirty="0">
                <a:solidFill>
                  <a:srgbClr val="7030A0"/>
                </a:solidFill>
              </a:rPr>
              <a:t>Adjacent</a:t>
            </a:r>
            <a:endParaRPr lang="en-GB" sz="3600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01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69A76-F8ED-44B4-BA1F-B831CB13E323}"/>
              </a:ext>
            </a:extLst>
          </p:cNvPr>
          <p:cNvSpPr txBox="1">
            <a:spLocks/>
          </p:cNvSpPr>
          <p:nvPr/>
        </p:nvSpPr>
        <p:spPr>
          <a:xfrm>
            <a:off x="890275" y="475117"/>
            <a:ext cx="8229600" cy="45259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None/>
            </a:pPr>
            <a:r>
              <a:rPr lang="en-GB"/>
              <a:t>Use Tangent to find the missing lengths on these triangles:</a:t>
            </a:r>
            <a:endParaRPr lang="en-GB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1F014A58-CAB5-4459-ACBA-EA4C4CDECB01}"/>
              </a:ext>
            </a:extLst>
          </p:cNvPr>
          <p:cNvSpPr/>
          <p:nvPr/>
        </p:nvSpPr>
        <p:spPr>
          <a:xfrm>
            <a:off x="2068147" y="1533499"/>
            <a:ext cx="1866400" cy="1516688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0326B-8AF4-432D-B716-0C609D17DB85}"/>
              </a:ext>
            </a:extLst>
          </p:cNvPr>
          <p:cNvSpPr txBox="1"/>
          <p:nvPr/>
        </p:nvSpPr>
        <p:spPr>
          <a:xfrm flipH="1">
            <a:off x="1629851" y="2033022"/>
            <a:ext cx="345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270BC-77A4-4375-A676-75440ABCB7D5}"/>
              </a:ext>
            </a:extLst>
          </p:cNvPr>
          <p:cNvSpPr txBox="1"/>
          <p:nvPr/>
        </p:nvSpPr>
        <p:spPr>
          <a:xfrm>
            <a:off x="2385202" y="3100100"/>
            <a:ext cx="123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15cm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251EA-FA4E-4C54-9106-AA142FCBA7DF}"/>
              </a:ext>
            </a:extLst>
          </p:cNvPr>
          <p:cNvSpPr txBox="1"/>
          <p:nvPr/>
        </p:nvSpPr>
        <p:spPr>
          <a:xfrm>
            <a:off x="2906186" y="2588522"/>
            <a:ext cx="804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42˚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FFE0A75-D580-405F-AABE-4B7B00883551}"/>
              </a:ext>
            </a:extLst>
          </p:cNvPr>
          <p:cNvSpPr/>
          <p:nvPr/>
        </p:nvSpPr>
        <p:spPr>
          <a:xfrm>
            <a:off x="6014981" y="1624077"/>
            <a:ext cx="2744706" cy="1516688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0C6BE-DE8A-474D-96B5-20EFABB4661D}"/>
              </a:ext>
            </a:extLst>
          </p:cNvPr>
          <p:cNvSpPr txBox="1"/>
          <p:nvPr/>
        </p:nvSpPr>
        <p:spPr>
          <a:xfrm>
            <a:off x="6771189" y="3166361"/>
            <a:ext cx="123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11cm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D029B7-1E1C-434A-B4AD-B7EBAEE08158}"/>
              </a:ext>
            </a:extLst>
          </p:cNvPr>
          <p:cNvSpPr txBox="1"/>
          <p:nvPr/>
        </p:nvSpPr>
        <p:spPr>
          <a:xfrm>
            <a:off x="5591617" y="2405465"/>
            <a:ext cx="38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295B8-B08F-4F4E-8EC8-8CC1A48FF77F}"/>
              </a:ext>
            </a:extLst>
          </p:cNvPr>
          <p:cNvSpPr txBox="1"/>
          <p:nvPr/>
        </p:nvSpPr>
        <p:spPr>
          <a:xfrm>
            <a:off x="5976016" y="1820739"/>
            <a:ext cx="804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60˚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923089-8C90-4D2C-80B3-72F7D5C46F99}"/>
              </a:ext>
            </a:extLst>
          </p:cNvPr>
          <p:cNvGrpSpPr/>
          <p:nvPr/>
        </p:nvGrpSpPr>
        <p:grpSpPr>
          <a:xfrm>
            <a:off x="8154034" y="1056445"/>
            <a:ext cx="3420380" cy="954107"/>
            <a:chOff x="5782095" y="3016983"/>
            <a:chExt cx="3420380" cy="95410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D8715A-35E8-4C76-AAA3-98F8FF89DD5C}"/>
                </a:ext>
              </a:extLst>
            </p:cNvPr>
            <p:cNvSpPr txBox="1"/>
            <p:nvPr/>
          </p:nvSpPr>
          <p:spPr>
            <a:xfrm>
              <a:off x="5782095" y="3158806"/>
              <a:ext cx="14401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800" b="1" dirty="0">
                  <a:solidFill>
                    <a:srgbClr val="7030A0"/>
                  </a:solidFill>
                </a:rPr>
                <a:t>Tan</a:t>
              </a:r>
              <a:r>
                <a:rPr lang="el-GR" sz="2800" b="1" dirty="0">
                  <a:solidFill>
                    <a:srgbClr val="7030A0"/>
                  </a:solidFill>
                </a:rPr>
                <a:t>ϴ</a:t>
              </a:r>
              <a:r>
                <a:rPr lang="en-GB" sz="2800" b="1" dirty="0">
                  <a:solidFill>
                    <a:srgbClr val="7030A0"/>
                  </a:solidFill>
                </a:rPr>
                <a:t>=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3051F1-B8FB-4DD6-88DC-7C731961372C}"/>
                </a:ext>
              </a:extLst>
            </p:cNvPr>
            <p:cNvSpPr txBox="1"/>
            <p:nvPr/>
          </p:nvSpPr>
          <p:spPr>
            <a:xfrm>
              <a:off x="6682195" y="3016983"/>
              <a:ext cx="252028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u="sng" dirty="0">
                  <a:solidFill>
                    <a:srgbClr val="7030A0"/>
                  </a:solidFill>
                </a:rPr>
                <a:t>Opposite</a:t>
              </a:r>
            </a:p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Adjacent</a:t>
              </a:r>
              <a:endParaRPr lang="en-GB" sz="2800" b="1" u="sng" dirty="0">
                <a:solidFill>
                  <a:srgbClr val="7030A0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43918-625D-4BF8-BE12-1E4B0D4446A8}"/>
              </a:ext>
            </a:extLst>
          </p:cNvPr>
          <p:cNvSpPr/>
          <p:nvPr/>
        </p:nvSpPr>
        <p:spPr>
          <a:xfrm>
            <a:off x="2068147" y="2702052"/>
            <a:ext cx="276317" cy="345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86E29-9468-4351-ACEA-5E5F292EF649}"/>
              </a:ext>
            </a:extLst>
          </p:cNvPr>
          <p:cNvSpPr/>
          <p:nvPr/>
        </p:nvSpPr>
        <p:spPr>
          <a:xfrm>
            <a:off x="6004702" y="2794982"/>
            <a:ext cx="276317" cy="345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9733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54E0BC-53BE-436B-9B5E-D8D05B81010E}"/>
              </a:ext>
            </a:extLst>
          </p:cNvPr>
          <p:cNvSpPr txBox="1">
            <a:spLocks/>
          </p:cNvSpPr>
          <p:nvPr/>
        </p:nvSpPr>
        <p:spPr>
          <a:xfrm>
            <a:off x="1429274" y="2637655"/>
            <a:ext cx="8608358" cy="12930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 sz="4400" kern="1200">
                <a:solidFill>
                  <a:srgbClr val="C9E4B4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r>
              <a:rPr lang="en-AU" dirty="0">
                <a:solidFill>
                  <a:srgbClr val="7030A0"/>
                </a:solidFill>
                <a:latin typeface="+mn-lt"/>
              </a:rPr>
              <a:t>Complete the work sheet </a:t>
            </a:r>
            <a:r>
              <a:rPr lang="en-AU" dirty="0">
                <a:solidFill>
                  <a:srgbClr val="7030A0"/>
                </a:solidFill>
                <a:latin typeface="+mn-lt"/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7030A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588</Words>
  <Application>Microsoft Office PowerPoint</Application>
  <PresentationFormat>Widescreen</PresentationFormat>
  <Paragraphs>198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Aharoni</vt:lpstr>
      <vt:lpstr>Arial</vt:lpstr>
      <vt:lpstr>Arial Black</vt:lpstr>
      <vt:lpstr>Calibri</vt:lpstr>
      <vt:lpstr>Calibri Light</vt:lpstr>
      <vt:lpstr>Century Gothic</vt:lpstr>
      <vt:lpstr>Garamond</vt:lpstr>
      <vt:lpstr>Kiwi School Handwriting</vt:lpstr>
      <vt:lpstr>Wingdings</vt:lpstr>
      <vt:lpstr>Office Theme</vt:lpstr>
      <vt:lpstr>Tan Ratio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 Ratio</dc:title>
  <dc:creator>Nine Labuschagne</dc:creator>
  <cp:lastModifiedBy>Nine Labuschagne</cp:lastModifiedBy>
  <cp:revision>10</cp:revision>
  <dcterms:created xsi:type="dcterms:W3CDTF">2018-02-01T07:36:21Z</dcterms:created>
  <dcterms:modified xsi:type="dcterms:W3CDTF">2018-02-01T08:09:07Z</dcterms:modified>
</cp:coreProperties>
</file>
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0" r:id="rId3"/>
    <p:sldId id="289" r:id="rId4"/>
    <p:sldId id="290" r:id="rId5"/>
    <p:sldId id="291" r:id="rId6"/>
    <p:sldId id="259" r:id="rId7"/>
    <p:sldId id="260" r:id="rId8"/>
    <p:sldId id="261" r:id="rId9"/>
    <p:sldId id="262" r:id="rId10"/>
    <p:sldId id="263" r:id="rId11"/>
    <p:sldId id="264" r:id="rId12"/>
    <p:sldId id="280" r:id="rId13"/>
    <p:sldId id="285" r:id="rId14"/>
    <p:sldId id="266" r:id="rId15"/>
    <p:sldId id="265" r:id="rId16"/>
    <p:sldId id="281" r:id="rId17"/>
    <p:sldId id="284" r:id="rId18"/>
    <p:sldId id="267" r:id="rId19"/>
    <p:sldId id="268" r:id="rId20"/>
    <p:sldId id="269" r:id="rId21"/>
    <p:sldId id="282" r:id="rId22"/>
    <p:sldId id="283" r:id="rId23"/>
    <p:sldId id="272" r:id="rId24"/>
    <p:sldId id="273" r:id="rId25"/>
    <p:sldId id="271" r:id="rId26"/>
    <p:sldId id="274" r:id="rId27"/>
    <p:sldId id="275" r:id="rId28"/>
    <p:sldId id="276" r:id="rId29"/>
    <p:sldId id="277" r:id="rId30"/>
    <p:sldId id="287" r:id="rId31"/>
    <p:sldId id="288" r:id="rId32"/>
    <p:sldId id="292" r:id="rId33"/>
    <p:sldId id="257" r:id="rId34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7" d="100"/>
          <a:sy n="87" d="100"/>
        </p:scale>
        <p:origin x="8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20/05/2018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20/05/2018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20/05/2018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20/05/2018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20/05/2018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20/05/2018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8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4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6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6.png"/><Relationship Id="rId7" Type="http://schemas.openxmlformats.org/officeDocument/2006/relationships/image" Target="../media/image79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microsoft.com/office/2007/relationships/hdphoto" Target="../media/hdphoto1.wdp"/><Relationship Id="rId4" Type="http://schemas.openxmlformats.org/officeDocument/2006/relationships/image" Target="../media/image7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Linear Relationships </a:t>
            </a:r>
          </a:p>
          <a:p>
            <a:r>
              <a:rPr lang="en-AU" dirty="0"/>
              <a:t>Summary /revision lesson</a:t>
            </a:r>
          </a:p>
          <a:p>
            <a:r>
              <a:rPr lang="en-AU" dirty="0"/>
              <a:t>James Wilson</a:t>
            </a:r>
          </a:p>
        </p:txBody>
      </p:sp>
    </p:spTree>
    <p:extLst>
      <p:ext uri="{BB962C8B-B14F-4D97-AF65-F5344CB8AC3E}">
        <p14:creationId xmlns:p14="http://schemas.microsoft.com/office/powerpoint/2010/main" val="30195953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Linear relationships – What have we learned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/>
                  <a:t>Linear Relationships form straight lines when graphed</a:t>
                </a:r>
              </a:p>
              <a:p>
                <a:r>
                  <a:rPr lang="en-AU" dirty="0"/>
                  <a:t>They have equations in the form of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AU" dirty="0"/>
                  <a:t> where m is the gradient and c is the y intercept</a:t>
                </a:r>
              </a:p>
              <a:p>
                <a:r>
                  <a:rPr lang="en-AU" dirty="0"/>
                  <a:t>We use tables, equations and graphs to show linear relationships.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20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304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316524"/>
            <a:ext cx="7886700" cy="4830946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So lets practice a few things…</a:t>
            </a:r>
          </a:p>
          <a:p>
            <a:pPr marL="0" indent="0">
              <a:buNone/>
            </a:pPr>
            <a:r>
              <a:rPr lang="en-AU" dirty="0"/>
              <a:t>The gradient of a line is how steep it is.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228" y="1202788"/>
            <a:ext cx="3711233" cy="258142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1" y="1202788"/>
            <a:ext cx="4311748" cy="25814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9151" y="1540412"/>
            <a:ext cx="1033976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Going up gives a positive gradient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6578" y="1715275"/>
            <a:ext cx="1230924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Going down gives a negative gradient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3876" y="1202788"/>
            <a:ext cx="1160585" cy="1537953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7373231" y="1202787"/>
            <a:ext cx="1383907" cy="1885071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789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065" y="170856"/>
            <a:ext cx="7938574" cy="3626115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Use rise ÷ run to find the gradient for each of the following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80" y="809626"/>
            <a:ext cx="2644167" cy="45921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49379" y="1033976"/>
            <a:ext cx="14489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Rise = </a:t>
            </a:r>
          </a:p>
          <a:p>
            <a:r>
              <a:rPr lang="en-AU" dirty="0"/>
              <a:t>Run = </a:t>
            </a:r>
          </a:p>
          <a:p>
            <a:endParaRPr lang="en-AU" dirty="0"/>
          </a:p>
          <a:p>
            <a:r>
              <a:rPr lang="en-AU" dirty="0"/>
              <a:t>rise ÷ run =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62742" y="3377974"/>
            <a:ext cx="14489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Rise = </a:t>
            </a:r>
          </a:p>
          <a:p>
            <a:r>
              <a:rPr lang="en-AU" dirty="0"/>
              <a:t>Run = </a:t>
            </a:r>
          </a:p>
          <a:p>
            <a:endParaRPr lang="en-AU" dirty="0"/>
          </a:p>
          <a:p>
            <a:r>
              <a:rPr lang="en-AU" dirty="0"/>
              <a:t>rise ÷ run =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297" y="809626"/>
            <a:ext cx="2455610" cy="45921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97262" y="1201077"/>
            <a:ext cx="14489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Rise = </a:t>
            </a:r>
          </a:p>
          <a:p>
            <a:r>
              <a:rPr lang="en-AU" dirty="0"/>
              <a:t>Run = </a:t>
            </a:r>
          </a:p>
          <a:p>
            <a:endParaRPr lang="en-AU" dirty="0"/>
          </a:p>
          <a:p>
            <a:r>
              <a:rPr lang="en-AU" dirty="0"/>
              <a:t>rise ÷ run =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97261" y="3491767"/>
            <a:ext cx="14489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Rise = </a:t>
            </a:r>
          </a:p>
          <a:p>
            <a:r>
              <a:rPr lang="en-AU" dirty="0"/>
              <a:t>Run = </a:t>
            </a:r>
          </a:p>
          <a:p>
            <a:endParaRPr lang="en-AU" dirty="0"/>
          </a:p>
          <a:p>
            <a:r>
              <a:rPr lang="en-AU" dirty="0"/>
              <a:t>rise ÷ run = 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406" y="105508"/>
            <a:ext cx="8799342" cy="5493434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Box 1"/>
          <p:cNvSpPr txBox="1"/>
          <p:nvPr/>
        </p:nvSpPr>
        <p:spPr>
          <a:xfrm>
            <a:off x="1422780" y="2054535"/>
            <a:ext cx="53992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000" dirty="0">
                <a:latin typeface="Bernard MT Condensed" panose="02050806060905020404" pitchFamily="18" charset="0"/>
              </a:rPr>
              <a:t>Practice time</a:t>
            </a:r>
          </a:p>
        </p:txBody>
      </p:sp>
    </p:spTree>
    <p:extLst>
      <p:ext uri="{BB962C8B-B14F-4D97-AF65-F5344CB8AC3E}">
        <p14:creationId xmlns:p14="http://schemas.microsoft.com/office/powerpoint/2010/main" val="1335414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065" y="170856"/>
            <a:ext cx="7938574" cy="3626115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Use rise ÷ run to find the gradient for each of the following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80" y="809626"/>
            <a:ext cx="2644167" cy="45921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49379" y="1033976"/>
            <a:ext cx="14489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Rise =  </a:t>
            </a:r>
            <a:r>
              <a:rPr lang="en-AU" dirty="0">
                <a:solidFill>
                  <a:srgbClr val="0070C0"/>
                </a:solidFill>
              </a:rPr>
              <a:t>2</a:t>
            </a:r>
          </a:p>
          <a:p>
            <a:r>
              <a:rPr lang="en-AU" dirty="0"/>
              <a:t>Run = </a:t>
            </a:r>
            <a:r>
              <a:rPr lang="en-AU" dirty="0">
                <a:solidFill>
                  <a:srgbClr val="0070C0"/>
                </a:solidFill>
              </a:rPr>
              <a:t>1</a:t>
            </a:r>
          </a:p>
          <a:p>
            <a:endParaRPr lang="en-AU" dirty="0"/>
          </a:p>
          <a:p>
            <a:r>
              <a:rPr lang="en-AU" dirty="0"/>
              <a:t>rise ÷ run = </a:t>
            </a:r>
            <a:r>
              <a:rPr lang="en-AU" dirty="0">
                <a:solidFill>
                  <a:srgbClr val="0070C0"/>
                </a:solidFill>
              </a:rPr>
              <a:t>2</a:t>
            </a:r>
            <a:r>
              <a:rPr lang="en-AU" dirty="0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46729" y="3370940"/>
            <a:ext cx="16760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Rise =  </a:t>
            </a:r>
            <a:r>
              <a:rPr lang="en-AU" dirty="0">
                <a:solidFill>
                  <a:srgbClr val="0070C0"/>
                </a:solidFill>
              </a:rPr>
              <a:t>3</a:t>
            </a:r>
          </a:p>
          <a:p>
            <a:r>
              <a:rPr lang="en-AU" dirty="0"/>
              <a:t>Run =  </a:t>
            </a:r>
            <a:r>
              <a:rPr lang="en-AU" dirty="0">
                <a:solidFill>
                  <a:srgbClr val="0070C0"/>
                </a:solidFill>
              </a:rPr>
              <a:t>2</a:t>
            </a:r>
          </a:p>
          <a:p>
            <a:endParaRPr lang="en-AU" dirty="0"/>
          </a:p>
          <a:p>
            <a:r>
              <a:rPr lang="en-AU" dirty="0"/>
              <a:t>rise ÷ run = </a:t>
            </a:r>
            <a:r>
              <a:rPr lang="en-AU" dirty="0">
                <a:solidFill>
                  <a:srgbClr val="0070C0"/>
                </a:solidFill>
              </a:rPr>
              <a:t>1.5</a:t>
            </a:r>
            <a:r>
              <a:rPr lang="en-AU" dirty="0"/>
              <a:t>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466" y="809626"/>
            <a:ext cx="2455610" cy="45921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08877" y="1187009"/>
            <a:ext cx="19297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Rise = </a:t>
            </a:r>
            <a:r>
              <a:rPr lang="en-AU" dirty="0">
                <a:solidFill>
                  <a:srgbClr val="0070C0"/>
                </a:solidFill>
              </a:rPr>
              <a:t>-1 (because it goes down)</a:t>
            </a:r>
          </a:p>
          <a:p>
            <a:r>
              <a:rPr lang="en-AU" dirty="0"/>
              <a:t>Run =  </a:t>
            </a:r>
            <a:r>
              <a:rPr lang="en-AU" dirty="0">
                <a:solidFill>
                  <a:srgbClr val="0070C0"/>
                </a:solidFill>
              </a:rPr>
              <a:t>1</a:t>
            </a:r>
          </a:p>
          <a:p>
            <a:endParaRPr lang="en-AU" dirty="0"/>
          </a:p>
          <a:p>
            <a:r>
              <a:rPr lang="en-AU" dirty="0"/>
              <a:t>rise ÷ run = </a:t>
            </a:r>
            <a:r>
              <a:rPr lang="en-AU" dirty="0">
                <a:solidFill>
                  <a:srgbClr val="0070C0"/>
                </a:solidFill>
              </a:rPr>
              <a:t>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2430" y="3491767"/>
            <a:ext cx="15497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Rise = </a:t>
            </a:r>
            <a:r>
              <a:rPr lang="en-AU" dirty="0">
                <a:solidFill>
                  <a:srgbClr val="0070C0"/>
                </a:solidFill>
              </a:rPr>
              <a:t>-3</a:t>
            </a:r>
          </a:p>
          <a:p>
            <a:r>
              <a:rPr lang="en-AU" dirty="0"/>
              <a:t>Run =  </a:t>
            </a:r>
            <a:r>
              <a:rPr lang="en-AU" dirty="0">
                <a:solidFill>
                  <a:srgbClr val="0070C0"/>
                </a:solidFill>
              </a:rPr>
              <a:t>1</a:t>
            </a:r>
          </a:p>
          <a:p>
            <a:endParaRPr lang="en-AU" dirty="0"/>
          </a:p>
          <a:p>
            <a:r>
              <a:rPr lang="en-AU" dirty="0"/>
              <a:t>rise ÷ run = </a:t>
            </a:r>
            <a:r>
              <a:rPr lang="en-AU" dirty="0">
                <a:solidFill>
                  <a:srgbClr val="0070C0"/>
                </a:solidFill>
              </a:rPr>
              <a:t>-3</a:t>
            </a:r>
            <a:r>
              <a:rPr lang="en-AU" dirty="0"/>
              <a:t> 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406" y="105508"/>
            <a:ext cx="8897816" cy="5493434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/>
          <p:cNvSpPr txBox="1"/>
          <p:nvPr/>
        </p:nvSpPr>
        <p:spPr>
          <a:xfrm>
            <a:off x="2611780" y="2086422"/>
            <a:ext cx="334739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000" dirty="0">
                <a:latin typeface="Bernard MT Condensed" panose="02050806060905020404" pitchFamily="18" charset="0"/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2900850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9403" y="302455"/>
            <a:ext cx="7835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540304" y="275723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2757239"/>
                <a:ext cx="1335366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1371242"/>
                  </p:ext>
                </p:extLst>
              </p:nvPr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1371242"/>
                  </p:ext>
                </p:extLst>
              </p:nvPr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2041" r="-602353" b="-1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2593" r="-602353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/>
          <p:cNvSpPr txBox="1"/>
          <p:nvPr/>
        </p:nvSpPr>
        <p:spPr>
          <a:xfrm>
            <a:off x="4536830" y="2061538"/>
            <a:ext cx="1976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can use a rule to fill the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540304" y="3126571"/>
                <a:ext cx="16986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=2(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126571"/>
                <a:ext cx="1698670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/>
          <p:cNvSpPr/>
          <p:nvPr/>
        </p:nvSpPr>
        <p:spPr>
          <a:xfrm>
            <a:off x="1160586" y="1048043"/>
            <a:ext cx="253218" cy="28863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/>
          <p:cNvCxnSpPr>
            <a:cxnSpLocks/>
          </p:cNvCxnSpPr>
          <p:nvPr/>
        </p:nvCxnSpPr>
        <p:spPr>
          <a:xfrm>
            <a:off x="1343465" y="1336674"/>
            <a:ext cx="921433" cy="154720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540304" y="3478374"/>
                <a:ext cx="13780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=−4+1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478374"/>
                <a:ext cx="1378070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1540304" y="3837403"/>
                <a:ext cx="9741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=−3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837403"/>
                <a:ext cx="974113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>
          <a:xfrm>
            <a:off x="2039706" y="3829290"/>
            <a:ext cx="415105" cy="370219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Straight Arrow Connector 19"/>
          <p:cNvCxnSpPr>
            <a:cxnSpLocks/>
          </p:cNvCxnSpPr>
          <p:nvPr/>
        </p:nvCxnSpPr>
        <p:spPr>
          <a:xfrm flipH="1" flipV="1">
            <a:off x="1343465" y="1623439"/>
            <a:ext cx="813776" cy="2199438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53606" y="1357776"/>
            <a:ext cx="379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-3</a:t>
            </a:r>
          </a:p>
        </p:txBody>
      </p:sp>
    </p:spTree>
    <p:extLst>
      <p:ext uri="{BB962C8B-B14F-4D97-AF65-F5344CB8AC3E}">
        <p14:creationId xmlns:p14="http://schemas.microsoft.com/office/powerpoint/2010/main" val="2615681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 animBg="1"/>
      <p:bldP spid="17" grpId="0"/>
      <p:bldP spid="18" grpId="0"/>
      <p:bldP spid="19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9403" y="302455"/>
            <a:ext cx="7835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540304" y="275723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2757239"/>
                <a:ext cx="1335366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2437095"/>
                  </p:ext>
                </p:extLst>
              </p:nvPr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2437095"/>
                  </p:ext>
                </p:extLst>
              </p:nvPr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2041" r="-602353" b="-122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2593" r="-602353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/>
          <p:cNvSpPr txBox="1"/>
          <p:nvPr/>
        </p:nvSpPr>
        <p:spPr>
          <a:xfrm>
            <a:off x="4536830" y="2061538"/>
            <a:ext cx="1976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can use a rule to fill the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540304" y="3126571"/>
                <a:ext cx="16986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=2(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126571"/>
                <a:ext cx="1698670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/>
          <p:cNvSpPr/>
          <p:nvPr/>
        </p:nvSpPr>
        <p:spPr>
          <a:xfrm>
            <a:off x="1676470" y="1078031"/>
            <a:ext cx="253218" cy="28863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/>
          <p:cNvCxnSpPr>
            <a:cxnSpLocks/>
            <a:stCxn id="12" idx="5"/>
          </p:cNvCxnSpPr>
          <p:nvPr/>
        </p:nvCxnSpPr>
        <p:spPr>
          <a:xfrm>
            <a:off x="1892605" y="1324393"/>
            <a:ext cx="372293" cy="155948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540304" y="3478374"/>
                <a:ext cx="13780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=−2+1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478374"/>
                <a:ext cx="1378070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1540304" y="3837403"/>
                <a:ext cx="90999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=−</m:t>
                    </m:r>
                  </m:oMath>
                </a14:m>
                <a:r>
                  <a:rPr lang="en-AU" dirty="0"/>
                  <a:t>1</a:t>
                </a: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837403"/>
                <a:ext cx="909993" cy="369332"/>
              </a:xfrm>
              <a:prstGeom prst="rect">
                <a:avLst/>
              </a:prstGeom>
              <a:blipFill>
                <a:blip r:embed="rId6"/>
                <a:stretch>
                  <a:fillRect t="-8197" r="-4698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>
          <a:xfrm>
            <a:off x="2039706" y="3829290"/>
            <a:ext cx="415105" cy="370219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Straight Arrow Connector 19"/>
          <p:cNvCxnSpPr>
            <a:cxnSpLocks/>
          </p:cNvCxnSpPr>
          <p:nvPr/>
        </p:nvCxnSpPr>
        <p:spPr>
          <a:xfrm flipH="1" flipV="1">
            <a:off x="1892605" y="1613024"/>
            <a:ext cx="264636" cy="2209853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613220" y="1349133"/>
            <a:ext cx="379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872341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nimBg="1"/>
      <p:bldP spid="17" grpId="0"/>
      <p:bldP spid="18" grpId="0"/>
      <p:bldP spid="19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9403" y="302455"/>
            <a:ext cx="7835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540304" y="275723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2757239"/>
                <a:ext cx="1335366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5226586"/>
                  </p:ext>
                </p:extLst>
              </p:nvPr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5226586"/>
                  </p:ext>
                </p:extLst>
              </p:nvPr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2041" r="-602353" b="-122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2593" r="-602353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/>
          <p:cNvSpPr txBox="1"/>
          <p:nvPr/>
        </p:nvSpPr>
        <p:spPr>
          <a:xfrm>
            <a:off x="4536830" y="2061538"/>
            <a:ext cx="1976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can use a rule to fill the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540304" y="3126571"/>
                <a:ext cx="15255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=2(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126571"/>
                <a:ext cx="1525546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/>
          <p:cNvSpPr/>
          <p:nvPr/>
        </p:nvSpPr>
        <p:spPr>
          <a:xfrm>
            <a:off x="2197079" y="1060502"/>
            <a:ext cx="253218" cy="28863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/>
          <p:cNvCxnSpPr>
            <a:cxnSpLocks/>
          </p:cNvCxnSpPr>
          <p:nvPr/>
        </p:nvCxnSpPr>
        <p:spPr>
          <a:xfrm>
            <a:off x="2301500" y="1349133"/>
            <a:ext cx="0" cy="15261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540304" y="3478374"/>
                <a:ext cx="12562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=0 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478374"/>
                <a:ext cx="1256241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1540304" y="3837403"/>
                <a:ext cx="82663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   </m:t>
                    </m:r>
                  </m:oMath>
                </a14:m>
                <a:r>
                  <a:rPr lang="en-AU" dirty="0"/>
                  <a:t>1</a:t>
                </a: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837403"/>
                <a:ext cx="826637" cy="369332"/>
              </a:xfrm>
              <a:prstGeom prst="rect">
                <a:avLst/>
              </a:prstGeom>
              <a:blipFill>
                <a:blip r:embed="rId6"/>
                <a:stretch>
                  <a:fillRect t="-8197" r="-5185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>
          <a:xfrm>
            <a:off x="2039706" y="3829290"/>
            <a:ext cx="415105" cy="370219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Straight Arrow Connector 19"/>
          <p:cNvCxnSpPr>
            <a:cxnSpLocks/>
            <a:stCxn id="17" idx="2"/>
          </p:cNvCxnSpPr>
          <p:nvPr/>
        </p:nvCxnSpPr>
        <p:spPr>
          <a:xfrm flipV="1">
            <a:off x="2168425" y="1602944"/>
            <a:ext cx="319401" cy="224476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250029" y="1306535"/>
            <a:ext cx="379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64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nimBg="1"/>
      <p:bldP spid="17" grpId="0"/>
      <p:bldP spid="18" grpId="0"/>
      <p:bldP spid="19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9403" y="302455"/>
            <a:ext cx="7835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540304" y="275723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2757239"/>
                <a:ext cx="1335366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1838722"/>
                  </p:ext>
                </p:extLst>
              </p:nvPr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1838722"/>
                  </p:ext>
                </p:extLst>
              </p:nvPr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2041" r="-602353" b="-122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2593" r="-602353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/>
          <p:cNvSpPr txBox="1"/>
          <p:nvPr/>
        </p:nvSpPr>
        <p:spPr>
          <a:xfrm>
            <a:off x="4536830" y="2061538"/>
            <a:ext cx="1976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can use a rule to fill the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540304" y="3126571"/>
                <a:ext cx="15255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=2(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126571"/>
                <a:ext cx="1525546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/>
          <p:cNvSpPr/>
          <p:nvPr/>
        </p:nvSpPr>
        <p:spPr>
          <a:xfrm>
            <a:off x="2669936" y="1048043"/>
            <a:ext cx="253218" cy="28863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/>
          <p:cNvCxnSpPr>
            <a:cxnSpLocks/>
            <a:stCxn id="12" idx="3"/>
          </p:cNvCxnSpPr>
          <p:nvPr/>
        </p:nvCxnSpPr>
        <p:spPr>
          <a:xfrm flipH="1">
            <a:off x="2301501" y="1294405"/>
            <a:ext cx="405518" cy="15808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540304" y="3478374"/>
                <a:ext cx="12562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 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478374"/>
                <a:ext cx="1256241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1540304" y="3837403"/>
                <a:ext cx="82663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   </m:t>
                    </m:r>
                  </m:oMath>
                </a14:m>
                <a:r>
                  <a:rPr lang="en-AU" dirty="0"/>
                  <a:t>3</a:t>
                </a: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837403"/>
                <a:ext cx="826637" cy="369332"/>
              </a:xfrm>
              <a:prstGeom prst="rect">
                <a:avLst/>
              </a:prstGeom>
              <a:blipFill>
                <a:blip r:embed="rId6"/>
                <a:stretch>
                  <a:fillRect t="-8197" r="-5185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>
          <a:xfrm>
            <a:off x="2039706" y="3829290"/>
            <a:ext cx="415105" cy="370219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Straight Arrow Connector 19"/>
          <p:cNvCxnSpPr>
            <a:cxnSpLocks/>
          </p:cNvCxnSpPr>
          <p:nvPr/>
        </p:nvCxnSpPr>
        <p:spPr>
          <a:xfrm flipV="1">
            <a:off x="2414523" y="1667510"/>
            <a:ext cx="433494" cy="222206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733295" y="1315723"/>
            <a:ext cx="379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0648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nimBg="1"/>
      <p:bldP spid="17" grpId="0"/>
      <p:bldP spid="18" grpId="0"/>
      <p:bldP spid="19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9403" y="302455"/>
            <a:ext cx="7835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540304" y="275723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2757239"/>
                <a:ext cx="1335366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452002"/>
                  </p:ext>
                </p:extLst>
              </p:nvPr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452002"/>
                  </p:ext>
                </p:extLst>
              </p:nvPr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2041" r="-602353" b="-122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2593" r="-602353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/>
          <p:cNvSpPr txBox="1"/>
          <p:nvPr/>
        </p:nvSpPr>
        <p:spPr>
          <a:xfrm>
            <a:off x="4536830" y="2061538"/>
            <a:ext cx="1976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can use a rule to fill the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540304" y="3126571"/>
                <a:ext cx="15255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=2(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126571"/>
                <a:ext cx="1525546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/>
          <p:cNvSpPr/>
          <p:nvPr/>
        </p:nvSpPr>
        <p:spPr>
          <a:xfrm>
            <a:off x="3194708" y="1027092"/>
            <a:ext cx="253218" cy="28863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/>
          <p:cNvCxnSpPr>
            <a:cxnSpLocks/>
            <a:stCxn id="12" idx="3"/>
          </p:cNvCxnSpPr>
          <p:nvPr/>
        </p:nvCxnSpPr>
        <p:spPr>
          <a:xfrm flipH="1">
            <a:off x="2333895" y="1273454"/>
            <a:ext cx="897896" cy="16153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540304" y="3478374"/>
                <a:ext cx="12562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=4 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478374"/>
                <a:ext cx="1256241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1540304" y="3837403"/>
                <a:ext cx="95487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   </m:t>
                      </m:r>
                      <m:r>
                        <a:rPr lang="en-AU" b="0" i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837403"/>
                <a:ext cx="954877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>
          <a:xfrm>
            <a:off x="2039706" y="3829290"/>
            <a:ext cx="415105" cy="370219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Straight Arrow Connector 19"/>
          <p:cNvCxnSpPr>
            <a:cxnSpLocks/>
          </p:cNvCxnSpPr>
          <p:nvPr/>
        </p:nvCxnSpPr>
        <p:spPr>
          <a:xfrm flipV="1">
            <a:off x="2414523" y="1603717"/>
            <a:ext cx="975791" cy="2285855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297084" y="1315723"/>
            <a:ext cx="379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66305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nimBg="1"/>
      <p:bldP spid="17" grpId="0"/>
      <p:bldP spid="18" grpId="0"/>
      <p:bldP spid="19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9403" y="302455"/>
            <a:ext cx="7835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540304" y="275723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2757239"/>
                <a:ext cx="1335366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193843"/>
                  </p:ext>
                </p:extLst>
              </p:nvPr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193843"/>
                  </p:ext>
                </p:extLst>
              </p:nvPr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2041" r="-602353" b="-122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2593" r="-602353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/>
          <p:cNvSpPr txBox="1"/>
          <p:nvPr/>
        </p:nvSpPr>
        <p:spPr>
          <a:xfrm>
            <a:off x="4536830" y="2061538"/>
            <a:ext cx="1976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can use a rule to fill the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1540304" y="3126571"/>
                <a:ext cx="15255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=2(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126571"/>
                <a:ext cx="1525546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/>
          <p:cNvSpPr/>
          <p:nvPr/>
        </p:nvSpPr>
        <p:spPr>
          <a:xfrm>
            <a:off x="3701314" y="1048043"/>
            <a:ext cx="253218" cy="28863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/>
          <p:cNvCxnSpPr>
            <a:cxnSpLocks/>
            <a:stCxn id="12" idx="3"/>
          </p:cNvCxnSpPr>
          <p:nvPr/>
        </p:nvCxnSpPr>
        <p:spPr>
          <a:xfrm flipH="1">
            <a:off x="2335237" y="1294405"/>
            <a:ext cx="1403160" cy="15605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540304" y="3478374"/>
                <a:ext cx="12562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=6 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478374"/>
                <a:ext cx="1256241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1540304" y="3837403"/>
                <a:ext cx="82663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   </m:t>
                    </m:r>
                  </m:oMath>
                </a14:m>
                <a:r>
                  <a:rPr lang="en-AU" dirty="0"/>
                  <a:t>7</a:t>
                </a: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837403"/>
                <a:ext cx="826637" cy="369332"/>
              </a:xfrm>
              <a:prstGeom prst="rect">
                <a:avLst/>
              </a:prstGeom>
              <a:blipFill>
                <a:blip r:embed="rId6"/>
                <a:stretch>
                  <a:fillRect t="-8197" r="-5185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>
          <a:xfrm>
            <a:off x="2039706" y="3829290"/>
            <a:ext cx="415105" cy="370219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Straight Arrow Connector 19"/>
          <p:cNvCxnSpPr>
            <a:cxnSpLocks/>
          </p:cNvCxnSpPr>
          <p:nvPr/>
        </p:nvCxnSpPr>
        <p:spPr>
          <a:xfrm flipV="1">
            <a:off x="2414523" y="1526345"/>
            <a:ext cx="1488756" cy="2363228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846308" y="1317426"/>
            <a:ext cx="379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48893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nimBg="1"/>
      <p:bldP spid="17" grpId="0"/>
      <p:bldP spid="18" grpId="0"/>
      <p:bldP spid="19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77" y="170628"/>
            <a:ext cx="7886700" cy="638264"/>
          </a:xfrm>
        </p:spPr>
        <p:txBody>
          <a:bodyPr/>
          <a:lstStyle/>
          <a:p>
            <a:r>
              <a:rPr lang="en-AU" dirty="0"/>
              <a:t>So lets practice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6431" y="808892"/>
            <a:ext cx="535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Fill in the tables from using the rules given.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5100103"/>
                  </p:ext>
                </p:extLst>
              </p:nvPr>
            </p:nvGraphicFramePr>
            <p:xfrm>
              <a:off x="1073834" y="1578121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5100103"/>
                  </p:ext>
                </p:extLst>
              </p:nvPr>
            </p:nvGraphicFramePr>
            <p:xfrm>
              <a:off x="1073834" y="1578121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99" t="-3226" r="-500599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99" t="-104918" r="-50059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13582" y="1208789"/>
                <a:ext cx="168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82" y="1208789"/>
                <a:ext cx="1683434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13582" y="2553704"/>
                <a:ext cx="168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82" y="2553704"/>
                <a:ext cx="1683434" cy="369332"/>
              </a:xfrm>
              <a:prstGeom prst="rect">
                <a:avLst/>
              </a:prstGeom>
              <a:blipFill>
                <a:blip r:embed="rId4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5921301"/>
                  </p:ext>
                </p:extLst>
              </p:nvPr>
            </p:nvGraphicFramePr>
            <p:xfrm>
              <a:off x="1073834" y="2952093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5921301"/>
                  </p:ext>
                </p:extLst>
              </p:nvPr>
            </p:nvGraphicFramePr>
            <p:xfrm>
              <a:off x="1073834" y="2952093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599" t="-4918" r="-500599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599" t="-104918" r="-500599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13582" y="3898619"/>
                <a:ext cx="168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82" y="3898619"/>
                <a:ext cx="1683434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1205255"/>
                  </p:ext>
                </p:extLst>
              </p:nvPr>
            </p:nvGraphicFramePr>
            <p:xfrm>
              <a:off x="1073834" y="4269598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1205255"/>
                  </p:ext>
                </p:extLst>
              </p:nvPr>
            </p:nvGraphicFramePr>
            <p:xfrm>
              <a:off x="1073834" y="4269598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599" t="-4839" r="-500599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599" t="-106557" r="-50059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 12"/>
          <p:cNvSpPr/>
          <p:nvPr/>
        </p:nvSpPr>
        <p:spPr>
          <a:xfrm>
            <a:off x="84406" y="105508"/>
            <a:ext cx="8799342" cy="5493434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1422780" y="2054535"/>
            <a:ext cx="53992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000" dirty="0">
                <a:latin typeface="Bernard MT Condensed" panose="02050806060905020404" pitchFamily="18" charset="0"/>
              </a:rPr>
              <a:t>Practice time</a:t>
            </a:r>
          </a:p>
        </p:txBody>
      </p:sp>
    </p:spTree>
    <p:extLst>
      <p:ext uri="{BB962C8B-B14F-4D97-AF65-F5344CB8AC3E}">
        <p14:creationId xmlns:p14="http://schemas.microsoft.com/office/powerpoint/2010/main" val="115928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77" y="170628"/>
            <a:ext cx="7886700" cy="638264"/>
          </a:xfrm>
        </p:spPr>
        <p:txBody>
          <a:bodyPr/>
          <a:lstStyle/>
          <a:p>
            <a:r>
              <a:rPr lang="en-AU" dirty="0"/>
              <a:t>So lets practice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6431" y="808892"/>
            <a:ext cx="535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Fill in the tables from using the rules given.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5970827"/>
                  </p:ext>
                </p:extLst>
              </p:nvPr>
            </p:nvGraphicFramePr>
            <p:xfrm>
              <a:off x="1073834" y="1578121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5970827"/>
                  </p:ext>
                </p:extLst>
              </p:nvPr>
            </p:nvGraphicFramePr>
            <p:xfrm>
              <a:off x="1073834" y="1578121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99" t="-3226" r="-500599" b="-1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99" t="-104918" r="-500599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813582" y="1208789"/>
                <a:ext cx="168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82" y="1208789"/>
                <a:ext cx="1683434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813582" y="2553704"/>
                <a:ext cx="168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82" y="2553704"/>
                <a:ext cx="1683434" cy="369332"/>
              </a:xfrm>
              <a:prstGeom prst="rect">
                <a:avLst/>
              </a:prstGeom>
              <a:blipFill>
                <a:blip r:embed="rId4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0528184"/>
                  </p:ext>
                </p:extLst>
              </p:nvPr>
            </p:nvGraphicFramePr>
            <p:xfrm>
              <a:off x="1073834" y="2952093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-7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0528184"/>
                  </p:ext>
                </p:extLst>
              </p:nvPr>
            </p:nvGraphicFramePr>
            <p:xfrm>
              <a:off x="1073834" y="2952093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599" t="-4918" r="-500599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599" t="-104918" r="-500599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-7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813582" y="3898619"/>
                <a:ext cx="168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82" y="3898619"/>
                <a:ext cx="1683434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7175487"/>
                  </p:ext>
                </p:extLst>
              </p:nvPr>
            </p:nvGraphicFramePr>
            <p:xfrm>
              <a:off x="1073834" y="4269598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7175487"/>
                  </p:ext>
                </p:extLst>
              </p:nvPr>
            </p:nvGraphicFramePr>
            <p:xfrm>
              <a:off x="1073834" y="4269598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599" t="-4839" r="-500599" b="-10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599" t="-106557" r="-500599" b="-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Rectangle 9"/>
          <p:cNvSpPr/>
          <p:nvPr/>
        </p:nvSpPr>
        <p:spPr>
          <a:xfrm>
            <a:off x="84406" y="105508"/>
            <a:ext cx="8799342" cy="5493434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TextBox 11"/>
          <p:cNvSpPr txBox="1"/>
          <p:nvPr/>
        </p:nvSpPr>
        <p:spPr>
          <a:xfrm>
            <a:off x="2611780" y="2086422"/>
            <a:ext cx="334739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000" dirty="0">
                <a:latin typeface="Bernard MT Condensed" panose="02050806060905020404" pitchFamily="18" charset="0"/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440062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Arrow Connector 40"/>
          <p:cNvCxnSpPr>
            <a:cxnSpLocks/>
          </p:cNvCxnSpPr>
          <p:nvPr/>
        </p:nvCxnSpPr>
        <p:spPr>
          <a:xfrm flipH="1">
            <a:off x="2254382" y="2078639"/>
            <a:ext cx="6249539" cy="81930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0164" y="228439"/>
            <a:ext cx="7835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540304" y="2757239"/>
                <a:ext cx="13859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2757239"/>
                <a:ext cx="1385957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2041" r="-602353" b="-122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2593" r="-602353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/>
          <p:cNvSpPr txBox="1"/>
          <p:nvPr/>
        </p:nvSpPr>
        <p:spPr>
          <a:xfrm>
            <a:off x="4969576" y="194443"/>
            <a:ext cx="2612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We can also get the equation from the table</a:t>
            </a:r>
          </a:p>
        </p:txBody>
      </p:sp>
      <p:sp>
        <p:nvSpPr>
          <p:cNvPr id="3" name="Arrow: Curved Up 2"/>
          <p:cNvSpPr/>
          <p:nvPr/>
        </p:nvSpPr>
        <p:spPr>
          <a:xfrm>
            <a:off x="1392702" y="1737360"/>
            <a:ext cx="464233" cy="140677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6" name="Arrow: Curved Up 15"/>
          <p:cNvSpPr/>
          <p:nvPr/>
        </p:nvSpPr>
        <p:spPr>
          <a:xfrm flipV="1">
            <a:off x="1392701" y="858157"/>
            <a:ext cx="464233" cy="120036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1" name="Arrow: Curved Up 20"/>
          <p:cNvSpPr/>
          <p:nvPr/>
        </p:nvSpPr>
        <p:spPr>
          <a:xfrm flipV="1">
            <a:off x="1972993" y="858157"/>
            <a:ext cx="464233" cy="120036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3" name="Arrow: Curved Up 22"/>
          <p:cNvSpPr/>
          <p:nvPr/>
        </p:nvSpPr>
        <p:spPr>
          <a:xfrm flipV="1">
            <a:off x="2519325" y="858157"/>
            <a:ext cx="464233" cy="120036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4" name="Arrow: Curved Up 23"/>
          <p:cNvSpPr/>
          <p:nvPr/>
        </p:nvSpPr>
        <p:spPr>
          <a:xfrm flipV="1">
            <a:off x="3051660" y="858157"/>
            <a:ext cx="464233" cy="120036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5" name="Arrow: Curved Up 24"/>
          <p:cNvSpPr/>
          <p:nvPr/>
        </p:nvSpPr>
        <p:spPr>
          <a:xfrm flipV="1">
            <a:off x="3556853" y="858157"/>
            <a:ext cx="464233" cy="120036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6" name="Arrow: Curved Up 25"/>
          <p:cNvSpPr/>
          <p:nvPr/>
        </p:nvSpPr>
        <p:spPr>
          <a:xfrm>
            <a:off x="1947204" y="1737360"/>
            <a:ext cx="464233" cy="140677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7" name="Arrow: Curved Up 26"/>
          <p:cNvSpPr/>
          <p:nvPr/>
        </p:nvSpPr>
        <p:spPr>
          <a:xfrm>
            <a:off x="2484338" y="1739926"/>
            <a:ext cx="464233" cy="140677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8" name="Arrow: Curved Up 27"/>
          <p:cNvSpPr/>
          <p:nvPr/>
        </p:nvSpPr>
        <p:spPr>
          <a:xfrm>
            <a:off x="3575974" y="1737359"/>
            <a:ext cx="464233" cy="140677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9" name="Arrow: Curved Up 28"/>
          <p:cNvSpPr/>
          <p:nvPr/>
        </p:nvSpPr>
        <p:spPr>
          <a:xfrm>
            <a:off x="3021472" y="1749083"/>
            <a:ext cx="464233" cy="140677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08758" y="545381"/>
            <a:ext cx="232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22265" y="532826"/>
            <a:ext cx="232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3356" y="539685"/>
            <a:ext cx="232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67717" y="545381"/>
            <a:ext cx="232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1950" y="529364"/>
            <a:ext cx="232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53952" y="1819776"/>
            <a:ext cx="232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01165" y="1833909"/>
            <a:ext cx="232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55667" y="1843042"/>
            <a:ext cx="232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4288" y="1847731"/>
            <a:ext cx="232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92587" y="1819950"/>
            <a:ext cx="232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4470007" y="977295"/>
                <a:ext cx="29989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i="1" dirty="0"/>
                  <a:t>Each time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i="1" dirty="0"/>
                  <a:t> is increased by 1</a:t>
                </a: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0007" y="977295"/>
                <a:ext cx="2998903" cy="369332"/>
              </a:xfrm>
              <a:prstGeom prst="rect">
                <a:avLst/>
              </a:prstGeom>
              <a:blipFill>
                <a:blip r:embed="rId4"/>
                <a:stretch>
                  <a:fillRect l="-162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TextBox 38"/>
              <p:cNvSpPr txBox="1"/>
              <p:nvPr/>
            </p:nvSpPr>
            <p:spPr>
              <a:xfrm>
                <a:off x="4583523" y="1384045"/>
                <a:ext cx="29989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i="1" dirty="0"/>
                  <a:t> is increased by 2</a:t>
                </a:r>
              </a:p>
            </p:txBody>
          </p:sp>
        </mc:Choice>
        <mc:Fallback xmlns=""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523" y="1384045"/>
                <a:ext cx="2998903" cy="369332"/>
              </a:xfrm>
              <a:prstGeom prst="rect">
                <a:avLst/>
              </a:prstGeom>
              <a:blipFill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/>
          <p:cNvSpPr txBox="1"/>
          <p:nvPr/>
        </p:nvSpPr>
        <p:spPr>
          <a:xfrm>
            <a:off x="4368016" y="1805598"/>
            <a:ext cx="446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This “difference pattern” is the </a:t>
            </a:r>
            <a:r>
              <a:rPr lang="en-AU" b="1" dirty="0">
                <a:highlight>
                  <a:srgbClr val="FFFF00"/>
                </a:highlight>
              </a:rPr>
              <a:t>Gradient</a:t>
            </a:r>
            <a:r>
              <a:rPr lang="en-AU" dirty="0">
                <a:highlight>
                  <a:srgbClr val="FFFF00"/>
                </a:highlight>
              </a:rPr>
              <a:t> or </a:t>
            </a:r>
            <a:r>
              <a:rPr lang="en-AU" b="1" dirty="0">
                <a:highlight>
                  <a:srgbClr val="FFFF00"/>
                </a:highlight>
              </a:rPr>
              <a:t>m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2" name="Rectangle 41"/>
              <p:cNvSpPr/>
              <p:nvPr/>
            </p:nvSpPr>
            <p:spPr>
              <a:xfrm>
                <a:off x="1552424" y="3061510"/>
                <a:ext cx="132023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2424" y="3061510"/>
                <a:ext cx="1320233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541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animBg="1"/>
      <p:bldP spid="16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5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8" grpId="0"/>
      <p:bldP spid="39" grpId="0"/>
      <p:bldP spid="40" grpId="0"/>
      <p:bldP spid="4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/>
              <p:cNvSpPr txBox="1"/>
              <p:nvPr/>
            </p:nvSpPr>
            <p:spPr>
              <a:xfrm>
                <a:off x="3305906" y="2013564"/>
                <a:ext cx="44594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highlight>
                      <a:srgbClr val="FFFF00"/>
                    </a:highlight>
                  </a:rPr>
                  <a:t>The </a:t>
                </a:r>
                <a14:m>
                  <m:oMath xmlns:m="http://schemas.openxmlformats.org/officeDocument/2006/math">
                    <m:r>
                      <a:rPr lang="en-AU" i="1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dirty="0">
                    <a:highlight>
                      <a:srgbClr val="FFFF00"/>
                    </a:highlight>
                  </a:rPr>
                  <a:t> value gives us the “</a:t>
                </a:r>
                <a14:m>
                  <m:oMath xmlns:m="http://schemas.openxmlformats.org/officeDocument/2006/math">
                    <m:r>
                      <a:rPr lang="en-AU" i="1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dirty="0">
                    <a:highlight>
                      <a:srgbClr val="FFFF00"/>
                    </a:highlight>
                  </a:rPr>
                  <a:t> intercept” or “c”</a:t>
                </a:r>
              </a:p>
            </p:txBody>
          </p:sp>
        </mc:Choice>
        <mc:Fallback xmlns=""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906" y="2013564"/>
                <a:ext cx="4459459" cy="369332"/>
              </a:xfrm>
              <a:prstGeom prst="rect">
                <a:avLst/>
              </a:prstGeom>
              <a:blipFill>
                <a:blip r:embed="rId2"/>
                <a:stretch>
                  <a:fillRect l="-1093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/>
              <p:cNvSpPr txBox="1"/>
              <p:nvPr/>
            </p:nvSpPr>
            <p:spPr>
              <a:xfrm>
                <a:off x="3249636" y="1747958"/>
                <a:ext cx="19272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highlight>
                      <a:srgbClr val="FFFF00"/>
                    </a:highlight>
                  </a:rPr>
                  <a:t>When </a:t>
                </a:r>
                <a14:m>
                  <m:oMath xmlns:m="http://schemas.openxmlformats.org/officeDocument/2006/math">
                    <m:r>
                      <a:rPr lang="en-AU" i="1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>
                    <a:highlight>
                      <a:srgbClr val="FFFF00"/>
                    </a:highlight>
                  </a:rPr>
                  <a:t> = 0</a:t>
                </a:r>
              </a:p>
            </p:txBody>
          </p:sp>
        </mc:Choice>
        <mc:Fallback xmlns=""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636" y="1747958"/>
                <a:ext cx="1927274" cy="369332"/>
              </a:xfrm>
              <a:prstGeom prst="rect">
                <a:avLst/>
              </a:prstGeom>
              <a:blipFill>
                <a:blip r:embed="rId3"/>
                <a:stretch>
                  <a:fillRect l="-2532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>
            <a:cxnSpLocks/>
          </p:cNvCxnSpPr>
          <p:nvPr/>
        </p:nvCxnSpPr>
        <p:spPr>
          <a:xfrm flipH="1" flipV="1">
            <a:off x="2455799" y="1213460"/>
            <a:ext cx="1504256" cy="74194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cxnSpLocks/>
          </p:cNvCxnSpPr>
          <p:nvPr/>
        </p:nvCxnSpPr>
        <p:spPr>
          <a:xfrm flipH="1" flipV="1">
            <a:off x="2439879" y="1522858"/>
            <a:ext cx="1344330" cy="698157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0164" y="228439"/>
            <a:ext cx="7835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1540304" y="2757239"/>
                <a:ext cx="13859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2757239"/>
                <a:ext cx="1385957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2595519"/>
                  </p:ext>
                </p:extLst>
              </p:nvPr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2595519"/>
                  </p:ext>
                </p:extLst>
              </p:nvPr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176" t="-2041" r="-602353" b="-122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176" t="-92593" r="-602353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5" name="TextBox 44"/>
          <p:cNvSpPr txBox="1"/>
          <p:nvPr/>
        </p:nvSpPr>
        <p:spPr>
          <a:xfrm>
            <a:off x="4969576" y="194443"/>
            <a:ext cx="2612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can also get the equation from the table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Rectangle 45"/>
              <p:cNvSpPr/>
              <p:nvPr/>
            </p:nvSpPr>
            <p:spPr>
              <a:xfrm>
                <a:off x="1552424" y="3061510"/>
                <a:ext cx="132023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2424" y="3061510"/>
                <a:ext cx="1320233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Oval 49"/>
          <p:cNvSpPr/>
          <p:nvPr/>
        </p:nvSpPr>
        <p:spPr>
          <a:xfrm>
            <a:off x="2202581" y="1069145"/>
            <a:ext cx="253218" cy="28863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6" name="Oval 55"/>
          <p:cNvSpPr/>
          <p:nvPr/>
        </p:nvSpPr>
        <p:spPr>
          <a:xfrm>
            <a:off x="2202581" y="1357410"/>
            <a:ext cx="253218" cy="288631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7" name="Straight Arrow Connector 56"/>
          <p:cNvCxnSpPr>
            <a:cxnSpLocks/>
            <a:stCxn id="56" idx="4"/>
          </p:cNvCxnSpPr>
          <p:nvPr/>
        </p:nvCxnSpPr>
        <p:spPr>
          <a:xfrm>
            <a:off x="2329190" y="1646041"/>
            <a:ext cx="386861" cy="1539178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1573165" y="3357634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165" y="3357634"/>
                <a:ext cx="1335366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5664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6" grpId="0" animBg="1"/>
      <p:bldP spid="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60252"/>
            <a:ext cx="7886700" cy="4887217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Find the equations that were used to make these tables.</a:t>
            </a:r>
          </a:p>
          <a:p>
            <a:pPr marL="0" indent="0">
              <a:buNone/>
            </a:pP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3999560"/>
                  </p:ext>
                </p:extLst>
              </p:nvPr>
            </p:nvGraphicFramePr>
            <p:xfrm>
              <a:off x="1186376" y="94507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3999560"/>
                  </p:ext>
                </p:extLst>
              </p:nvPr>
            </p:nvGraphicFramePr>
            <p:xfrm>
              <a:off x="1186376" y="94507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99" t="-4918" r="-500599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99" t="-104918" r="-500599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4334371"/>
                  </p:ext>
                </p:extLst>
              </p:nvPr>
            </p:nvGraphicFramePr>
            <p:xfrm>
              <a:off x="1186376" y="3470550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4334371"/>
                  </p:ext>
                </p:extLst>
              </p:nvPr>
            </p:nvGraphicFramePr>
            <p:xfrm>
              <a:off x="1186376" y="3470550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" t="-4918" r="-500599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" t="-104918" r="-500599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/>
          <p:cNvSpPr txBox="1"/>
          <p:nvPr/>
        </p:nvSpPr>
        <p:spPr>
          <a:xfrm>
            <a:off x="2011680" y="1849902"/>
            <a:ext cx="50503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(also called gradient or Difference pattern ) = </a:t>
            </a:r>
          </a:p>
          <a:p>
            <a:r>
              <a:rPr lang="en-AU" dirty="0"/>
              <a:t> c (also called y intercept (at x = 0)) = </a:t>
            </a:r>
          </a:p>
          <a:p>
            <a:endParaRPr lang="en-AU" dirty="0"/>
          </a:p>
          <a:p>
            <a:r>
              <a:rPr lang="en-AU" dirty="0"/>
              <a:t>Therefore 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081889" y="2703860"/>
                <a:ext cx="177619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=____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AU" dirty="0"/>
                  <a:t>____</a:t>
                </a:r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889" y="2703860"/>
                <a:ext cx="1776192" cy="369332"/>
              </a:xfrm>
              <a:prstGeom prst="rect">
                <a:avLst/>
              </a:prstGeom>
              <a:blipFill>
                <a:blip r:embed="rId4"/>
                <a:stretch>
                  <a:fillRect t="-10000" r="-2405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2150013" y="4237672"/>
            <a:ext cx="50503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(also called gradient or Difference pattern ) = </a:t>
            </a:r>
          </a:p>
          <a:p>
            <a:r>
              <a:rPr lang="en-AU" dirty="0"/>
              <a:t>c (also called y intercept (at x = 0)) = </a:t>
            </a:r>
          </a:p>
          <a:p>
            <a:endParaRPr lang="en-AU" dirty="0"/>
          </a:p>
          <a:p>
            <a:r>
              <a:rPr lang="en-AU" dirty="0"/>
              <a:t>Therefore 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3346280" y="5061902"/>
                <a:ext cx="177619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=____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AU" dirty="0"/>
                  <a:t>____</a:t>
                </a:r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280" y="5061902"/>
                <a:ext cx="1776192" cy="369332"/>
              </a:xfrm>
              <a:prstGeom prst="rect">
                <a:avLst/>
              </a:prstGeom>
              <a:blipFill>
                <a:blip r:embed="rId5"/>
                <a:stretch>
                  <a:fillRect t="-8197" r="-2405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84406" y="105508"/>
            <a:ext cx="8799342" cy="5493434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1422780" y="2054535"/>
            <a:ext cx="53992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000" dirty="0">
                <a:latin typeface="Bernard MT Condensed" panose="02050806060905020404" pitchFamily="18" charset="0"/>
              </a:rPr>
              <a:t>Practice time</a:t>
            </a:r>
          </a:p>
        </p:txBody>
      </p:sp>
    </p:spTree>
    <p:extLst>
      <p:ext uri="{BB962C8B-B14F-4D97-AF65-F5344CB8AC3E}">
        <p14:creationId xmlns:p14="http://schemas.microsoft.com/office/powerpoint/2010/main" val="3929455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60252"/>
            <a:ext cx="7886700" cy="4887217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Find the equations that were used to make these tables.</a:t>
            </a:r>
          </a:p>
          <a:p>
            <a:pPr marL="0" indent="0">
              <a:buNone/>
            </a:pP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/>
            </p:nvGraphicFramePr>
            <p:xfrm>
              <a:off x="1186376" y="94507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/>
            </p:nvGraphicFramePr>
            <p:xfrm>
              <a:off x="1186376" y="94507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99" t="-4918" r="-500599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99" t="-104918" r="-500599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1186376" y="3470550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1186376" y="3470550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" t="-4918" r="-500599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" t="-104918" r="-500599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/>
          <p:cNvSpPr txBox="1"/>
          <p:nvPr/>
        </p:nvSpPr>
        <p:spPr>
          <a:xfrm>
            <a:off x="2011680" y="1849902"/>
            <a:ext cx="50503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(also called gradient or Difference pattern ) = </a:t>
            </a:r>
            <a:r>
              <a:rPr lang="en-AU" dirty="0">
                <a:solidFill>
                  <a:srgbClr val="0070C0"/>
                </a:solidFill>
              </a:rPr>
              <a:t>4</a:t>
            </a:r>
            <a:r>
              <a:rPr lang="en-AU" dirty="0"/>
              <a:t> </a:t>
            </a:r>
          </a:p>
          <a:p>
            <a:r>
              <a:rPr lang="en-AU" dirty="0"/>
              <a:t> c (also called y intercept (at x = 0)) =  </a:t>
            </a:r>
            <a:r>
              <a:rPr lang="en-AU" dirty="0">
                <a:solidFill>
                  <a:srgbClr val="0070C0"/>
                </a:solidFill>
              </a:rPr>
              <a:t>-7</a:t>
            </a:r>
            <a:endParaRPr lang="en-AU" dirty="0"/>
          </a:p>
          <a:p>
            <a:endParaRPr lang="en-AU" dirty="0"/>
          </a:p>
          <a:p>
            <a:r>
              <a:rPr lang="en-AU" dirty="0"/>
              <a:t>Therefore  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Rectangle 8"/>
              <p:cNvSpPr/>
              <p:nvPr/>
            </p:nvSpPr>
            <p:spPr>
              <a:xfrm>
                <a:off x="3081888" y="2703860"/>
                <a:ext cx="342442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AU" dirty="0">
                        <a:solidFill>
                          <a:srgbClr val="0070C0"/>
                        </a:solidFill>
                      </a:rPr>
                      <m:t>4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AU" dirty="0">
                    <a:solidFill>
                      <a:srgbClr val="0070C0"/>
                    </a:solidFill>
                  </a:rPr>
                  <a:t>-7 </a:t>
                </a:r>
                <a:r>
                  <a:rPr lang="en-AU" dirty="0"/>
                  <a:t> or   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AU" dirty="0">
                        <a:solidFill>
                          <a:srgbClr val="0070C0"/>
                        </a:solidFill>
                      </a:rPr>
                      <m:t>4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>
                    <a:solidFill>
                      <a:srgbClr val="0070C0"/>
                    </a:solidFill>
                  </a:rPr>
                  <a:t>-7 </a:t>
                </a:r>
                <a:endParaRPr lang="en-AU" dirty="0"/>
              </a:p>
              <a:p>
                <a:r>
                  <a:rPr lang="en-AU" dirty="0">
                    <a:solidFill>
                      <a:srgbClr val="0070C0"/>
                    </a:solidFill>
                  </a:rPr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888" y="2703860"/>
                <a:ext cx="3424420" cy="646331"/>
              </a:xfrm>
              <a:prstGeom prst="rect">
                <a:avLst/>
              </a:prstGeom>
              <a:blipFill>
                <a:blip r:embed="rId4"/>
                <a:stretch>
                  <a:fillRect t="-5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2150013" y="4237672"/>
            <a:ext cx="50503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(also called gradient or Difference pattern ) = </a:t>
            </a:r>
            <a:r>
              <a:rPr lang="en-AU" dirty="0">
                <a:solidFill>
                  <a:srgbClr val="0070C0"/>
                </a:solidFill>
              </a:rPr>
              <a:t>2</a:t>
            </a:r>
            <a:r>
              <a:rPr lang="en-AU" dirty="0"/>
              <a:t>  </a:t>
            </a:r>
          </a:p>
          <a:p>
            <a:r>
              <a:rPr lang="en-AU" dirty="0"/>
              <a:t>c (also called y intercept (at x = 0)) = </a:t>
            </a:r>
            <a:r>
              <a:rPr lang="en-AU" dirty="0">
                <a:solidFill>
                  <a:srgbClr val="0070C0"/>
                </a:solidFill>
              </a:rPr>
              <a:t>1</a:t>
            </a:r>
            <a:endParaRPr lang="en-AU" dirty="0"/>
          </a:p>
          <a:p>
            <a:endParaRPr lang="en-AU" dirty="0"/>
          </a:p>
          <a:p>
            <a:r>
              <a:rPr lang="en-AU" dirty="0"/>
              <a:t>Therefore 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3346280" y="5061902"/>
                <a:ext cx="12616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AU" b="0" i="0" dirty="0" smtClean="0">
                        <a:solidFill>
                          <a:srgbClr val="0070C0"/>
                        </a:solidFill>
                      </a:rPr>
                      <m:t>2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AU" dirty="0">
                    <a:solidFill>
                      <a:srgbClr val="0070C0"/>
                    </a:solidFill>
                  </a:rPr>
                  <a:t> 1</a:t>
                </a:r>
                <a:endParaRPr lang="en-AU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280" y="5061902"/>
                <a:ext cx="1261627" cy="369332"/>
              </a:xfrm>
              <a:prstGeom prst="rect">
                <a:avLst/>
              </a:prstGeom>
              <a:blipFill>
                <a:blip r:embed="rId5"/>
                <a:stretch>
                  <a:fillRect t="-8197" r="-2899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84406" y="105508"/>
            <a:ext cx="8799342" cy="5493434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9414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4696521" y="110300"/>
            <a:ext cx="3906645" cy="56036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0165" y="228439"/>
            <a:ext cx="403262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1533843"/>
                  </p:ext>
                </p:extLst>
              </p:nvPr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1533843"/>
                  </p:ext>
                </p:extLst>
              </p:nvPr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4082" r="-602353" b="-120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6226" r="-602353" b="-113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583980" y="379180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80" y="3791809"/>
                <a:ext cx="133536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688058" y="654772"/>
            <a:ext cx="388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From a table we can plot the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297" y="2239002"/>
            <a:ext cx="388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(-2,-3) (-1,-1) (0,1) (1,3) (2,5) (3,7)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561" y="4282068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1795" y="363158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1465" y="3013289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8124" y="2374493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0358" y="1735697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4453" y="109101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4973444" y="747132"/>
            <a:ext cx="2129883" cy="43155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>
            <a:cxnSpLocks/>
          </p:cNvCxnSpPr>
          <p:nvPr/>
        </p:nvCxnSpPr>
        <p:spPr>
          <a:xfrm>
            <a:off x="1287194" y="2525151"/>
            <a:ext cx="4009292" cy="1948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/>
          </p:cNvCxnSpPr>
          <p:nvPr/>
        </p:nvCxnSpPr>
        <p:spPr>
          <a:xfrm>
            <a:off x="2064189" y="2525345"/>
            <a:ext cx="3539956" cy="1297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cxnSpLocks/>
          </p:cNvCxnSpPr>
          <p:nvPr/>
        </p:nvCxnSpPr>
        <p:spPr>
          <a:xfrm>
            <a:off x="2466478" y="2497779"/>
            <a:ext cx="3425540" cy="706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cxnSpLocks/>
          </p:cNvCxnSpPr>
          <p:nvPr/>
        </p:nvCxnSpPr>
        <p:spPr>
          <a:xfrm>
            <a:off x="3050230" y="2491912"/>
            <a:ext cx="3118711" cy="62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cxnSpLocks/>
          </p:cNvCxnSpPr>
          <p:nvPr/>
        </p:nvCxnSpPr>
        <p:spPr>
          <a:xfrm flipV="1">
            <a:off x="3291840" y="1902784"/>
            <a:ext cx="3239059" cy="410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</p:cNvCxnSpPr>
          <p:nvPr/>
        </p:nvCxnSpPr>
        <p:spPr>
          <a:xfrm flipV="1">
            <a:off x="3865352" y="1283365"/>
            <a:ext cx="2979642" cy="1034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cxnSpLocks/>
          </p:cNvCxnSpPr>
          <p:nvPr/>
        </p:nvCxnSpPr>
        <p:spPr>
          <a:xfrm flipH="1">
            <a:off x="1201083" y="1920363"/>
            <a:ext cx="100430" cy="42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cxnSpLocks/>
          </p:cNvCxnSpPr>
          <p:nvPr/>
        </p:nvCxnSpPr>
        <p:spPr>
          <a:xfrm flipH="1">
            <a:off x="1808791" y="1931911"/>
            <a:ext cx="100430" cy="42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cxnSpLocks/>
          </p:cNvCxnSpPr>
          <p:nvPr/>
        </p:nvCxnSpPr>
        <p:spPr>
          <a:xfrm flipH="1">
            <a:off x="2339318" y="1929672"/>
            <a:ext cx="100430" cy="42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cxnSpLocks/>
          </p:cNvCxnSpPr>
          <p:nvPr/>
        </p:nvCxnSpPr>
        <p:spPr>
          <a:xfrm flipH="1">
            <a:off x="2875250" y="1936284"/>
            <a:ext cx="100430" cy="42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cxnSpLocks/>
          </p:cNvCxnSpPr>
          <p:nvPr/>
        </p:nvCxnSpPr>
        <p:spPr>
          <a:xfrm flipH="1">
            <a:off x="3308761" y="1913131"/>
            <a:ext cx="100430" cy="42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cxnSpLocks/>
          </p:cNvCxnSpPr>
          <p:nvPr/>
        </p:nvCxnSpPr>
        <p:spPr>
          <a:xfrm flipH="1">
            <a:off x="3806153" y="1927791"/>
            <a:ext cx="100430" cy="42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639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8" grpId="0"/>
      <p:bldP spid="5" grpId="0"/>
      <p:bldP spid="20" grpId="0"/>
      <p:bldP spid="21" grpId="0"/>
      <p:bldP spid="22" grpId="0"/>
      <p:bldP spid="24" grpId="0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4696521" y="110300"/>
            <a:ext cx="3906645" cy="56036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0165" y="228439"/>
            <a:ext cx="403262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4082" r="-602353" b="-120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6226" r="-602353" b="-113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578403" y="379180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403" y="3791809"/>
                <a:ext cx="133536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688058" y="654772"/>
            <a:ext cx="388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From a table we can plot the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297" y="2239002"/>
            <a:ext cx="388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(-2,-3) (-1,-1) (0,1) (1,3) (2,5) (3,7)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561" y="4282068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1795" y="363158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1465" y="3013289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8124" y="2374493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0358" y="1735697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4453" y="109101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4973444" y="747132"/>
            <a:ext cx="2129883" cy="43155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577458" y="3059455"/>
            <a:ext cx="3078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We can also draw the line directly from the equation</a:t>
            </a:r>
          </a:p>
        </p:txBody>
      </p:sp>
      <p:sp>
        <p:nvSpPr>
          <p:cNvPr id="6" name="Oval 5"/>
          <p:cNvSpPr/>
          <p:nvPr/>
        </p:nvSpPr>
        <p:spPr>
          <a:xfrm>
            <a:off x="1393902" y="3705786"/>
            <a:ext cx="519866" cy="54282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Arrow Connector 9"/>
          <p:cNvCxnSpPr>
            <a:stCxn id="6" idx="6"/>
          </p:cNvCxnSpPr>
          <p:nvPr/>
        </p:nvCxnSpPr>
        <p:spPr>
          <a:xfrm flipV="1">
            <a:off x="1913768" y="3151331"/>
            <a:ext cx="3963088" cy="8258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366432" y="4063949"/>
            <a:ext cx="2392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By using the y intercept</a:t>
            </a:r>
          </a:p>
        </p:txBody>
      </p:sp>
      <p:cxnSp>
        <p:nvCxnSpPr>
          <p:cNvPr id="23" name="Straight Arrow Connector 22"/>
          <p:cNvCxnSpPr>
            <a:cxnSpLocks/>
            <a:endCxn id="6" idx="6"/>
          </p:cNvCxnSpPr>
          <p:nvPr/>
        </p:nvCxnSpPr>
        <p:spPr>
          <a:xfrm flipH="1" flipV="1">
            <a:off x="1913768" y="3977201"/>
            <a:ext cx="1422304" cy="23895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302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4696521" y="110300"/>
            <a:ext cx="3906645" cy="56036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0165" y="228439"/>
            <a:ext cx="403262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4082" r="-602353" b="-120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6226" r="-602353" b="-113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578403" y="379180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403" y="3791809"/>
                <a:ext cx="133536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688058" y="654772"/>
            <a:ext cx="388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From a table we can plot the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297" y="2239002"/>
            <a:ext cx="388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(-2,-3) (-1,-1) (0,1) (1,3) (2,5) (3,7)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561" y="4282068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1795" y="363158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1465" y="3013289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8124" y="2374493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0358" y="1735697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4453" y="109101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4973444" y="747132"/>
            <a:ext cx="2129883" cy="43155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/>
          <p:cNvSpPr/>
          <p:nvPr/>
        </p:nvSpPr>
        <p:spPr>
          <a:xfrm>
            <a:off x="1050585" y="3705786"/>
            <a:ext cx="231805" cy="451121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2366432" y="4063949"/>
            <a:ext cx="2392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By using the y intercept</a:t>
            </a:r>
          </a:p>
        </p:txBody>
      </p:sp>
      <p:cxnSp>
        <p:nvCxnSpPr>
          <p:cNvPr id="23" name="Straight Arrow Connector 22"/>
          <p:cNvCxnSpPr>
            <a:cxnSpLocks/>
            <a:endCxn id="6" idx="6"/>
          </p:cNvCxnSpPr>
          <p:nvPr/>
        </p:nvCxnSpPr>
        <p:spPr>
          <a:xfrm flipH="1" flipV="1">
            <a:off x="1282390" y="3931347"/>
            <a:ext cx="2053682" cy="7200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442953" y="4514712"/>
            <a:ext cx="2392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and the gradient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5876856" y="3178098"/>
            <a:ext cx="371384" cy="0"/>
          </a:xfrm>
          <a:prstGeom prst="line">
            <a:avLst/>
          </a:prstGeom>
          <a:ln w="762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964952" y="3197955"/>
            <a:ext cx="285380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1400" dirty="0"/>
              <a:t>Each time we go across by 1</a:t>
            </a:r>
          </a:p>
        </p:txBody>
      </p:sp>
      <p:cxnSp>
        <p:nvCxnSpPr>
          <p:cNvPr id="35" name="Straight Connector 34"/>
          <p:cNvCxnSpPr>
            <a:cxnSpLocks/>
          </p:cNvCxnSpPr>
          <p:nvPr/>
        </p:nvCxnSpPr>
        <p:spPr>
          <a:xfrm>
            <a:off x="6248240" y="2608334"/>
            <a:ext cx="0" cy="552870"/>
          </a:xfrm>
          <a:prstGeom prst="line">
            <a:avLst/>
          </a:prstGeom>
          <a:ln w="762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33934" y="2540001"/>
            <a:ext cx="108910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1400" dirty="0"/>
              <a:t>we go up by     	</a:t>
            </a:r>
            <a:endParaRPr lang="en-AU" sz="1400" b="1" dirty="0">
              <a:solidFill>
                <a:srgbClr val="0070C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850049" y="27834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7458" y="3059455"/>
            <a:ext cx="3078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We can also draw the line directly from the equation</a:t>
            </a:r>
          </a:p>
        </p:txBody>
      </p:sp>
      <p:cxnSp>
        <p:nvCxnSpPr>
          <p:cNvPr id="10" name="Straight Arrow Connector 9"/>
          <p:cNvCxnSpPr>
            <a:cxnSpLocks/>
            <a:stCxn id="6" idx="6"/>
          </p:cNvCxnSpPr>
          <p:nvPr/>
        </p:nvCxnSpPr>
        <p:spPr>
          <a:xfrm flipV="1">
            <a:off x="1282390" y="3013289"/>
            <a:ext cx="5595107" cy="91805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446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3" grpId="0" animBg="1"/>
      <p:bldP spid="38" grpId="0" animBg="1"/>
      <p:bldP spid="4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6270" t="2307" r="16012"/>
          <a:stretch/>
        </p:blipFill>
        <p:spPr>
          <a:xfrm>
            <a:off x="5015132" y="281352"/>
            <a:ext cx="3559125" cy="50796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5846" y="211015"/>
            <a:ext cx="424140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Draw the graphs from the following tables and equations</a:t>
            </a:r>
          </a:p>
          <a:p>
            <a:endParaRPr lang="en-AU" dirty="0"/>
          </a:p>
          <a:p>
            <a:r>
              <a:rPr lang="en-AU" dirty="0"/>
              <a:t>1.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2.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3.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4.    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5556794"/>
                  </p:ext>
                </p:extLst>
              </p:nvPr>
            </p:nvGraphicFramePr>
            <p:xfrm>
              <a:off x="574430" y="963636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5556794"/>
                  </p:ext>
                </p:extLst>
              </p:nvPr>
            </p:nvGraphicFramePr>
            <p:xfrm>
              <a:off x="574430" y="963636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62" t="-1724" r="-500000" b="-1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62" t="-101724" r="-50000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74430" y="2124787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430" y="2124787"/>
                <a:ext cx="133536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9774622"/>
                  </p:ext>
                </p:extLst>
              </p:nvPr>
            </p:nvGraphicFramePr>
            <p:xfrm>
              <a:off x="493538" y="3010671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9774622"/>
                  </p:ext>
                </p:extLst>
              </p:nvPr>
            </p:nvGraphicFramePr>
            <p:xfrm>
              <a:off x="493538" y="3010671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862" t="-1695" r="-500000" b="-1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862" t="-103448" r="-50000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74430" y="4280644"/>
                <a:ext cx="151169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=0.5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430" y="4280644"/>
                <a:ext cx="1511696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84406" y="105508"/>
            <a:ext cx="8799342" cy="5493434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1422780" y="2054535"/>
            <a:ext cx="53992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000" dirty="0">
                <a:latin typeface="Bernard MT Condensed" panose="02050806060905020404" pitchFamily="18" charset="0"/>
              </a:rPr>
              <a:t>Practice time</a:t>
            </a:r>
          </a:p>
        </p:txBody>
      </p:sp>
    </p:spTree>
    <p:extLst>
      <p:ext uri="{BB962C8B-B14F-4D97-AF65-F5344CB8AC3E}">
        <p14:creationId xmlns:p14="http://schemas.microsoft.com/office/powerpoint/2010/main" val="30275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6270" t="2307" r="16012"/>
          <a:stretch/>
        </p:blipFill>
        <p:spPr>
          <a:xfrm>
            <a:off x="5015132" y="281352"/>
            <a:ext cx="3559125" cy="50796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5846" y="211015"/>
            <a:ext cx="424140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Draw the graphs from the following tables and equations</a:t>
            </a:r>
          </a:p>
          <a:p>
            <a:endParaRPr lang="en-AU" dirty="0"/>
          </a:p>
          <a:p>
            <a:r>
              <a:rPr lang="en-AU" dirty="0"/>
              <a:t>1.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2.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3.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4.    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5618495"/>
                  </p:ext>
                </p:extLst>
              </p:nvPr>
            </p:nvGraphicFramePr>
            <p:xfrm>
              <a:off x="574430" y="963636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5618495"/>
                  </p:ext>
                </p:extLst>
              </p:nvPr>
            </p:nvGraphicFramePr>
            <p:xfrm>
              <a:off x="574430" y="963636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62" t="-1724" r="-500000" b="-1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62" t="-101724" r="-50000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574430" y="2124787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430" y="2124787"/>
                <a:ext cx="133536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493538" y="3010671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493538" y="3010671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862" t="-1695" r="-500000" b="-1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862" t="-103448" r="-50000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ectangle 6"/>
              <p:cNvSpPr/>
              <p:nvPr/>
            </p:nvSpPr>
            <p:spPr>
              <a:xfrm>
                <a:off x="574430" y="4280644"/>
                <a:ext cx="151169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=0.5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430" y="4280644"/>
                <a:ext cx="1511696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cxnSpLocks/>
          </p:cNvCxnSpPr>
          <p:nvPr/>
        </p:nvCxnSpPr>
        <p:spPr>
          <a:xfrm flipV="1">
            <a:off x="6210886" y="126609"/>
            <a:ext cx="1167619" cy="23675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25080" y="85688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2.</a:t>
            </a:r>
          </a:p>
        </p:txBody>
      </p:sp>
      <p:cxnSp>
        <p:nvCxnSpPr>
          <p:cNvPr id="13" name="Straight Arrow Connector 12"/>
          <p:cNvCxnSpPr>
            <a:cxnSpLocks/>
          </p:cNvCxnSpPr>
          <p:nvPr/>
        </p:nvCxnSpPr>
        <p:spPr>
          <a:xfrm flipV="1">
            <a:off x="6105378" y="963636"/>
            <a:ext cx="1273127" cy="42906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296611" y="15122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1.</a:t>
            </a:r>
          </a:p>
        </p:txBody>
      </p:sp>
      <p:cxnSp>
        <p:nvCxnSpPr>
          <p:cNvPr id="22" name="Straight Arrow Connector 21"/>
          <p:cNvCxnSpPr>
            <a:cxnSpLocks/>
          </p:cNvCxnSpPr>
          <p:nvPr/>
        </p:nvCxnSpPr>
        <p:spPr>
          <a:xfrm>
            <a:off x="5394963" y="1561514"/>
            <a:ext cx="2904443" cy="295284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158058" y="419562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3.</a:t>
            </a:r>
          </a:p>
        </p:txBody>
      </p:sp>
      <p:cxnSp>
        <p:nvCxnSpPr>
          <p:cNvPr id="28" name="Straight Arrow Connector 27"/>
          <p:cNvCxnSpPr>
            <a:cxnSpLocks/>
          </p:cNvCxnSpPr>
          <p:nvPr/>
        </p:nvCxnSpPr>
        <p:spPr>
          <a:xfrm flipV="1">
            <a:off x="5331655" y="1310364"/>
            <a:ext cx="2967751" cy="15108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109357" y="1326252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406" y="105508"/>
            <a:ext cx="8799342" cy="5493434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TextBox 34"/>
          <p:cNvSpPr txBox="1"/>
          <p:nvPr/>
        </p:nvSpPr>
        <p:spPr>
          <a:xfrm>
            <a:off x="2611780" y="2086422"/>
            <a:ext cx="334739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000" dirty="0">
                <a:latin typeface="Bernard MT Condensed" panose="02050806060905020404" pitchFamily="18" charset="0"/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1109364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7" grpId="0"/>
      <p:bldP spid="33" grpId="0"/>
      <p:bldP spid="3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4696521" y="53205"/>
            <a:ext cx="3906645" cy="560364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4696521" y="110300"/>
            <a:ext cx="3906645" cy="56036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0165" y="228439"/>
            <a:ext cx="403262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4082" r="-602353" b="-120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6226" r="-602353" b="-113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583980" y="379180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80" y="3791809"/>
                <a:ext cx="133536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816297" y="2239002"/>
            <a:ext cx="388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(-2,-3) (-1,-1) (0,1) (1,3) (2,5) (3,7)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561" y="4282068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1795" y="363158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1465" y="3013289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8124" y="2374493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0358" y="1735697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4453" y="109101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4973444" y="747132"/>
            <a:ext cx="2129883" cy="43155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6962171" y="1543028"/>
            <a:ext cx="1733923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We can also get the points from the graph to make a table</a:t>
            </a:r>
          </a:p>
        </p:txBody>
      </p:sp>
      <p:cxnSp>
        <p:nvCxnSpPr>
          <p:cNvPr id="6" name="Straight Connector 5"/>
          <p:cNvCxnSpPr>
            <a:cxnSpLocks/>
            <a:stCxn id="8" idx="4"/>
          </p:cNvCxnSpPr>
          <p:nvPr/>
        </p:nvCxnSpPr>
        <p:spPr>
          <a:xfrm flipH="1">
            <a:off x="5280102" y="3791809"/>
            <a:ext cx="5576" cy="674925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129561" y="3382621"/>
            <a:ext cx="312234" cy="4091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/>
          <p:cNvCxnSpPr>
            <a:stCxn id="8" idx="1"/>
          </p:cNvCxnSpPr>
          <p:nvPr/>
        </p:nvCxnSpPr>
        <p:spPr>
          <a:xfrm flipH="1" flipV="1">
            <a:off x="1505415" y="1543028"/>
            <a:ext cx="3669872" cy="18995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cxnSpLocks/>
          </p:cNvCxnSpPr>
          <p:nvPr/>
        </p:nvCxnSpPr>
        <p:spPr>
          <a:xfrm>
            <a:off x="5291256" y="4466734"/>
            <a:ext cx="470209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649949" y="4327189"/>
            <a:ext cx="312234" cy="4091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1" name="Straight Arrow Connector 30"/>
          <p:cNvCxnSpPr>
            <a:cxnSpLocks/>
            <a:stCxn id="30" idx="1"/>
          </p:cNvCxnSpPr>
          <p:nvPr/>
        </p:nvCxnSpPr>
        <p:spPr>
          <a:xfrm flipH="1" flipV="1">
            <a:off x="1505415" y="1735697"/>
            <a:ext cx="4190260" cy="2651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24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4696521" y="53205"/>
            <a:ext cx="3906645" cy="560364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4696521" y="110300"/>
            <a:ext cx="3906645" cy="56036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0165" y="228439"/>
            <a:ext cx="403262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4082" r="-602353" b="-120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6226" r="-602353" b="-113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583980" y="379180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80" y="3791809"/>
                <a:ext cx="133536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816297" y="2239002"/>
            <a:ext cx="388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(-2,-3) (-1,-1) (0,1) (1,3) (2,5) (3,7)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561" y="4282068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1795" y="363158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1465" y="3013289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8124" y="2374493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0358" y="1735697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4453" y="109101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4973444" y="747132"/>
            <a:ext cx="2129883" cy="43155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6962171" y="1543028"/>
            <a:ext cx="1733923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We can also get the points from the graph to make a table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5586761" y="3516923"/>
            <a:ext cx="0" cy="339627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430644" y="3342897"/>
            <a:ext cx="312234" cy="4091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/>
          <p:cNvCxnSpPr>
            <a:cxnSpLocks/>
          </p:cNvCxnSpPr>
          <p:nvPr/>
        </p:nvCxnSpPr>
        <p:spPr>
          <a:xfrm flipH="1" flipV="1">
            <a:off x="1962295" y="1735697"/>
            <a:ext cx="3669872" cy="18995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cxnSpLocks/>
          </p:cNvCxnSpPr>
          <p:nvPr/>
        </p:nvCxnSpPr>
        <p:spPr>
          <a:xfrm>
            <a:off x="5592339" y="3816488"/>
            <a:ext cx="284517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702276" y="3686149"/>
            <a:ext cx="312234" cy="4091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1" name="Straight Arrow Connector 30"/>
          <p:cNvCxnSpPr>
            <a:cxnSpLocks/>
          </p:cNvCxnSpPr>
          <p:nvPr/>
        </p:nvCxnSpPr>
        <p:spPr>
          <a:xfrm flipH="1" flipV="1">
            <a:off x="1938422" y="1460342"/>
            <a:ext cx="3804456" cy="24104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8828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4696521" y="110300"/>
            <a:ext cx="3906645" cy="56036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0165" y="228439"/>
            <a:ext cx="403262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4082" r="-602353" b="-120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6226" r="-602353" b="-113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583980" y="379180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80" y="3791809"/>
                <a:ext cx="133536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816297" y="2239002"/>
            <a:ext cx="388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(-2,-3) (-1,-1) (0,1) (1,3) (2,5) (3,7)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561" y="4282068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1795" y="363158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1465" y="3013289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8124" y="2374493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0358" y="1735697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4453" y="109101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4973444" y="747132"/>
            <a:ext cx="2129883" cy="43155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6962171" y="1543028"/>
            <a:ext cx="1733923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We can also get the points from the graph to make a table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5913471" y="3223593"/>
            <a:ext cx="0" cy="299685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750477" y="3426179"/>
            <a:ext cx="312234" cy="21866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/>
          <p:cNvCxnSpPr>
            <a:cxnSpLocks/>
            <a:stCxn id="8" idx="1"/>
          </p:cNvCxnSpPr>
          <p:nvPr/>
        </p:nvCxnSpPr>
        <p:spPr>
          <a:xfrm flipH="1" flipV="1">
            <a:off x="2504527" y="1553974"/>
            <a:ext cx="3291676" cy="19042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796778" y="2989740"/>
            <a:ext cx="312234" cy="4091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1" name="Straight Arrow Connector 30"/>
          <p:cNvCxnSpPr>
            <a:cxnSpLocks/>
            <a:stCxn id="21" idx="1"/>
          </p:cNvCxnSpPr>
          <p:nvPr/>
        </p:nvCxnSpPr>
        <p:spPr>
          <a:xfrm flipH="1" flipV="1">
            <a:off x="2512311" y="1884171"/>
            <a:ext cx="3249154" cy="13137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7251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4696521" y="53205"/>
            <a:ext cx="3906645" cy="560364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4696521" y="110300"/>
            <a:ext cx="3906645" cy="56036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0165" y="228439"/>
            <a:ext cx="403262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4082" r="-602353" b="-120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6226" r="-602353" b="-113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583980" y="379180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80" y="3791809"/>
                <a:ext cx="133536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816297" y="2239002"/>
            <a:ext cx="388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(-2,-3) (-1,-1) (0,1) (1,3) (2,5) (3,7)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561" y="4282068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1795" y="363158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1465" y="3013289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8124" y="2374493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0358" y="1735697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4453" y="109101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4973444" y="747132"/>
            <a:ext cx="2129883" cy="43155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6962171" y="1543028"/>
            <a:ext cx="1733923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We can also get the points from the graph to make a table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6230379" y="2645155"/>
            <a:ext cx="0" cy="879519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031884" y="3404637"/>
            <a:ext cx="312234" cy="4091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/>
          <p:cNvCxnSpPr>
            <a:cxnSpLocks/>
          </p:cNvCxnSpPr>
          <p:nvPr/>
        </p:nvCxnSpPr>
        <p:spPr>
          <a:xfrm flipH="1" flipV="1">
            <a:off x="3028689" y="1466714"/>
            <a:ext cx="3061080" cy="19994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cxnSpLocks/>
          </p:cNvCxnSpPr>
          <p:nvPr/>
        </p:nvCxnSpPr>
        <p:spPr>
          <a:xfrm>
            <a:off x="5897472" y="2559159"/>
            <a:ext cx="350768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653320" y="2363329"/>
            <a:ext cx="312234" cy="4091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1" name="Straight Arrow Connector 30"/>
          <p:cNvCxnSpPr>
            <a:cxnSpLocks/>
            <a:stCxn id="30" idx="2"/>
          </p:cNvCxnSpPr>
          <p:nvPr/>
        </p:nvCxnSpPr>
        <p:spPr>
          <a:xfrm flipH="1" flipV="1">
            <a:off x="3028690" y="1780253"/>
            <a:ext cx="2624630" cy="7876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5665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4693106" y="111351"/>
            <a:ext cx="3906645" cy="56036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0165" y="228439"/>
            <a:ext cx="403262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4082" r="-602353" b="-120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6226" r="-602353" b="-113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583980" y="379180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80" y="3791809"/>
                <a:ext cx="133536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816297" y="2239002"/>
            <a:ext cx="388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(-2,-3) (-1,-1) (0,1) (1,3) (2,5) (3,7)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561" y="4282068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1795" y="363158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1465" y="3013289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8124" y="2374493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0358" y="1735697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4453" y="109101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4973444" y="747132"/>
            <a:ext cx="2129883" cy="43155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6962171" y="1543028"/>
            <a:ext cx="1733923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We can also get the points from the graph to make a table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 flipH="1">
            <a:off x="6516160" y="1936433"/>
            <a:ext cx="14739" cy="1551420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347514" y="3466183"/>
            <a:ext cx="312234" cy="4091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/>
          <p:cNvCxnSpPr>
            <a:cxnSpLocks/>
          </p:cNvCxnSpPr>
          <p:nvPr/>
        </p:nvCxnSpPr>
        <p:spPr>
          <a:xfrm flipH="1" flipV="1">
            <a:off x="3488864" y="1496228"/>
            <a:ext cx="2840491" cy="20996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cxnSpLocks/>
          </p:cNvCxnSpPr>
          <p:nvPr/>
        </p:nvCxnSpPr>
        <p:spPr>
          <a:xfrm>
            <a:off x="5978710" y="1917456"/>
            <a:ext cx="539059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676116" y="1714022"/>
            <a:ext cx="312234" cy="4091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1" name="Straight Arrow Connector 30"/>
          <p:cNvCxnSpPr>
            <a:cxnSpLocks/>
          </p:cNvCxnSpPr>
          <p:nvPr/>
        </p:nvCxnSpPr>
        <p:spPr>
          <a:xfrm flipH="1" flipV="1">
            <a:off x="3460258" y="1759427"/>
            <a:ext cx="2254557" cy="1443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8324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4693106" y="111351"/>
            <a:ext cx="3906645" cy="56036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0165" y="228439"/>
            <a:ext cx="403262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4082" r="-602353" b="-120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6226" r="-602353" b="-113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583980" y="379180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80" y="3791809"/>
                <a:ext cx="133536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816297" y="2239002"/>
            <a:ext cx="388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(-2,-3) (-1,-1) (0,1) (1,3) (2,5) (3,7)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561" y="4282068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1795" y="363158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1465" y="3013289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8124" y="2374493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0358" y="1735697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4453" y="109101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4973444" y="747132"/>
            <a:ext cx="2129883" cy="43155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6962171" y="1543028"/>
            <a:ext cx="1733923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We can also get the points from the graph to make a table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6832728" y="1316966"/>
            <a:ext cx="1" cy="2170887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649937" y="3487853"/>
            <a:ext cx="312234" cy="4091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/>
          <p:cNvCxnSpPr>
            <a:cxnSpLocks/>
            <a:stCxn id="8" idx="1"/>
          </p:cNvCxnSpPr>
          <p:nvPr/>
        </p:nvCxnSpPr>
        <p:spPr>
          <a:xfrm flipH="1" flipV="1">
            <a:off x="3981260" y="1493466"/>
            <a:ext cx="2714403" cy="20543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cxnSpLocks/>
            <a:stCxn id="30" idx="6"/>
          </p:cNvCxnSpPr>
          <p:nvPr/>
        </p:nvCxnSpPr>
        <p:spPr>
          <a:xfrm flipV="1">
            <a:off x="5958533" y="1275676"/>
            <a:ext cx="874195" cy="3709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646299" y="1074791"/>
            <a:ext cx="312234" cy="4091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1" name="Straight Arrow Connector 30"/>
          <p:cNvCxnSpPr>
            <a:cxnSpLocks/>
            <a:stCxn id="30" idx="3"/>
          </p:cNvCxnSpPr>
          <p:nvPr/>
        </p:nvCxnSpPr>
        <p:spPr>
          <a:xfrm flipH="1">
            <a:off x="3981260" y="1424055"/>
            <a:ext cx="1710765" cy="3116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437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2260227" y="3404666"/>
            <a:ext cx="1974926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1400" dirty="0"/>
              <a:t>Gradient = Rise ÷ run  	      =  4 ÷ 2</a:t>
            </a:r>
          </a:p>
          <a:p>
            <a:r>
              <a:rPr lang="en-AU" sz="1400" b="1" dirty="0"/>
              <a:t>	       =  2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4714596" y="103068"/>
            <a:ext cx="3906645" cy="56036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0165" y="228439"/>
            <a:ext cx="403262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8900471"/>
                  </p:ext>
                </p:extLst>
              </p:nvPr>
            </p:nvGraphicFramePr>
            <p:xfrm>
              <a:off x="816297" y="626967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8900471"/>
                  </p:ext>
                </p:extLst>
              </p:nvPr>
            </p:nvGraphicFramePr>
            <p:xfrm>
              <a:off x="816297" y="626967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2041" r="-602353" b="-122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2593" r="-602353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" name="TextBox 17"/>
          <p:cNvSpPr txBox="1"/>
          <p:nvPr/>
        </p:nvSpPr>
        <p:spPr>
          <a:xfrm>
            <a:off x="1022264" y="1302218"/>
            <a:ext cx="388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(-2,-3) (-1,-1) (0,1) (1,3) (2,5) (3,7)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561" y="4282068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1795" y="363158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1465" y="3013289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8124" y="2374493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0358" y="1735697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4453" y="109101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Rectangle 28"/>
              <p:cNvSpPr/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4973444" y="747132"/>
            <a:ext cx="2129883" cy="43155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Rectangle 10"/>
              <p:cNvSpPr/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/>
          <p:cNvSpPr/>
          <p:nvPr/>
        </p:nvSpPr>
        <p:spPr>
          <a:xfrm>
            <a:off x="3195603" y="3866253"/>
            <a:ext cx="231805" cy="277077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601188" y="4836937"/>
            <a:ext cx="2392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By using the y intercept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030" y="5196454"/>
            <a:ext cx="2392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and the gradient</a:t>
            </a:r>
          </a:p>
        </p:txBody>
      </p:sp>
      <p:cxnSp>
        <p:nvCxnSpPr>
          <p:cNvPr id="32" name="Straight Connector 31"/>
          <p:cNvCxnSpPr>
            <a:cxnSpLocks/>
          </p:cNvCxnSpPr>
          <p:nvPr/>
        </p:nvCxnSpPr>
        <p:spPr>
          <a:xfrm>
            <a:off x="5876856" y="3178098"/>
            <a:ext cx="687907" cy="0"/>
          </a:xfrm>
          <a:prstGeom prst="line">
            <a:avLst/>
          </a:prstGeom>
          <a:ln w="762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964952" y="3197955"/>
            <a:ext cx="285380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1400" dirty="0"/>
              <a:t>Run = 2</a:t>
            </a:r>
          </a:p>
        </p:txBody>
      </p:sp>
      <p:cxnSp>
        <p:nvCxnSpPr>
          <p:cNvPr id="35" name="Straight Connector 34"/>
          <p:cNvCxnSpPr>
            <a:cxnSpLocks/>
          </p:cNvCxnSpPr>
          <p:nvPr/>
        </p:nvCxnSpPr>
        <p:spPr>
          <a:xfrm flipH="1">
            <a:off x="6530899" y="1886087"/>
            <a:ext cx="33864" cy="1200135"/>
          </a:xfrm>
          <a:prstGeom prst="line">
            <a:avLst/>
          </a:prstGeom>
          <a:ln w="762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799231" y="2403197"/>
            <a:ext cx="108910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1400" dirty="0"/>
              <a:t>Rise = 4 	</a:t>
            </a:r>
            <a:endParaRPr lang="en-AU" sz="1400" b="1" dirty="0">
              <a:solidFill>
                <a:srgbClr val="0070C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17199" y="2609134"/>
            <a:ext cx="3264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Or we can get the equation directly from the graph</a:t>
            </a:r>
          </a:p>
        </p:txBody>
      </p:sp>
      <p:cxnSp>
        <p:nvCxnSpPr>
          <p:cNvPr id="10" name="Straight Arrow Connector 9"/>
          <p:cNvCxnSpPr>
            <a:cxnSpLocks/>
          </p:cNvCxnSpPr>
          <p:nvPr/>
        </p:nvCxnSpPr>
        <p:spPr>
          <a:xfrm flipH="1">
            <a:off x="3408459" y="2659575"/>
            <a:ext cx="3935324" cy="835039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/>
          </p:cNvCxnSpPr>
          <p:nvPr/>
        </p:nvCxnSpPr>
        <p:spPr>
          <a:xfrm flipH="1">
            <a:off x="3898054" y="3433862"/>
            <a:ext cx="2570937" cy="15875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cxnSpLocks/>
          </p:cNvCxnSpPr>
          <p:nvPr/>
        </p:nvCxnSpPr>
        <p:spPr>
          <a:xfrm flipH="1">
            <a:off x="1268871" y="4063950"/>
            <a:ext cx="1975779" cy="30605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Rectangle 61"/>
              <p:cNvSpPr/>
              <p:nvPr/>
            </p:nvSpPr>
            <p:spPr>
              <a:xfrm>
                <a:off x="601188" y="4266584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188" y="4266584"/>
                <a:ext cx="1335366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Oval 42"/>
          <p:cNvSpPr/>
          <p:nvPr/>
        </p:nvSpPr>
        <p:spPr>
          <a:xfrm>
            <a:off x="5760953" y="3062223"/>
            <a:ext cx="231805" cy="277077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5" name="TextBox 44"/>
          <p:cNvSpPr txBox="1"/>
          <p:nvPr/>
        </p:nvSpPr>
        <p:spPr>
          <a:xfrm>
            <a:off x="2842097" y="4580644"/>
            <a:ext cx="197492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1400" dirty="0"/>
              <a:t>Crosses y line at </a:t>
            </a:r>
            <a:r>
              <a:rPr lang="en-AU" sz="1400" b="1" dirty="0"/>
              <a:t>1</a:t>
            </a:r>
            <a:r>
              <a:rPr lang="en-AU" sz="1400" dirty="0"/>
              <a:t>	</a:t>
            </a:r>
            <a:endParaRPr lang="en-AU" sz="1400" b="1" dirty="0"/>
          </a:p>
        </p:txBody>
      </p:sp>
      <p:cxnSp>
        <p:nvCxnSpPr>
          <p:cNvPr id="44" name="Straight Arrow Connector 43"/>
          <p:cNvCxnSpPr>
            <a:cxnSpLocks/>
          </p:cNvCxnSpPr>
          <p:nvPr/>
        </p:nvCxnSpPr>
        <p:spPr>
          <a:xfrm flipH="1">
            <a:off x="4188436" y="3276955"/>
            <a:ext cx="1591034" cy="138198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cxnSpLocks/>
          </p:cNvCxnSpPr>
          <p:nvPr/>
        </p:nvCxnSpPr>
        <p:spPr>
          <a:xfrm flipH="1" flipV="1">
            <a:off x="1767916" y="4459075"/>
            <a:ext cx="2388921" cy="19232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8838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6" grpId="0" animBg="1"/>
      <p:bldP spid="33" grpId="0" animBg="1"/>
      <p:bldP spid="38" grpId="0" animBg="1"/>
      <p:bldP spid="43" grpId="0" animBg="1"/>
      <p:bldP spid="4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6270" t="2307" r="16012"/>
          <a:stretch/>
        </p:blipFill>
        <p:spPr>
          <a:xfrm>
            <a:off x="415333" y="71469"/>
            <a:ext cx="3559125" cy="50796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24476" y="210651"/>
            <a:ext cx="424140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From the graph, fill in the tables or work out the equation</a:t>
            </a:r>
          </a:p>
          <a:p>
            <a:endParaRPr lang="en-AU" dirty="0"/>
          </a:p>
          <a:p>
            <a:r>
              <a:rPr lang="en-AU" dirty="0"/>
              <a:t>1.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2.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3.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4.    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3779068"/>
                  </p:ext>
                </p:extLst>
              </p:nvPr>
            </p:nvGraphicFramePr>
            <p:xfrm>
              <a:off x="4522067" y="1104539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3779068"/>
                  </p:ext>
                </p:extLst>
              </p:nvPr>
            </p:nvGraphicFramePr>
            <p:xfrm>
              <a:off x="4522067" y="1104539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62" t="-1724" r="-500000" b="-1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62" t="-101724" r="-50000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685097" y="2168468"/>
                <a:ext cx="16671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=____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+____</a:t>
                </a:r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5097" y="2168468"/>
                <a:ext cx="1667188" cy="369332"/>
              </a:xfrm>
              <a:prstGeom prst="rect">
                <a:avLst/>
              </a:prstGeom>
              <a:blipFill>
                <a:blip r:embed="rId4"/>
                <a:stretch>
                  <a:fillRect t="-10000" r="-2564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5271647"/>
                  </p:ext>
                </p:extLst>
              </p:nvPr>
            </p:nvGraphicFramePr>
            <p:xfrm>
              <a:off x="4640079" y="3040818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5271647"/>
                  </p:ext>
                </p:extLst>
              </p:nvPr>
            </p:nvGraphicFramePr>
            <p:xfrm>
              <a:off x="4640079" y="3040818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862" t="-1724" r="-499138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862" t="-101724" r="-499138" b="-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" name="Straight Arrow Connector 8"/>
          <p:cNvCxnSpPr>
            <a:cxnSpLocks/>
          </p:cNvCxnSpPr>
          <p:nvPr/>
        </p:nvCxnSpPr>
        <p:spPr>
          <a:xfrm flipV="1">
            <a:off x="1005840" y="98474"/>
            <a:ext cx="2411241" cy="494501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178213" y="91987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2.</a:t>
            </a:r>
          </a:p>
        </p:txBody>
      </p:sp>
      <p:cxnSp>
        <p:nvCxnSpPr>
          <p:cNvPr id="13" name="Straight Arrow Connector 12"/>
          <p:cNvCxnSpPr>
            <a:cxnSpLocks/>
          </p:cNvCxnSpPr>
          <p:nvPr/>
        </p:nvCxnSpPr>
        <p:spPr>
          <a:xfrm flipV="1">
            <a:off x="724930" y="849744"/>
            <a:ext cx="2692151" cy="274911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8438" y="5084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1.</a:t>
            </a:r>
          </a:p>
        </p:txBody>
      </p:sp>
      <p:cxnSp>
        <p:nvCxnSpPr>
          <p:cNvPr id="22" name="Straight Arrow Connector 21"/>
          <p:cNvCxnSpPr>
            <a:cxnSpLocks/>
          </p:cNvCxnSpPr>
          <p:nvPr/>
        </p:nvCxnSpPr>
        <p:spPr>
          <a:xfrm>
            <a:off x="1793084" y="350044"/>
            <a:ext cx="1242708" cy="39576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96924" y="355817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3.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406" y="98474"/>
            <a:ext cx="8799342" cy="5493434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685097" y="4301557"/>
                <a:ext cx="16671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=____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+____</a:t>
                </a: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5097" y="4301557"/>
                <a:ext cx="1667188" cy="369332"/>
              </a:xfrm>
              <a:prstGeom prst="rect">
                <a:avLst/>
              </a:prstGeom>
              <a:blipFill>
                <a:blip r:embed="rId6"/>
                <a:stretch>
                  <a:fillRect t="-10000" r="-2564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499828" y="2129717"/>
            <a:ext cx="53992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000" dirty="0">
                <a:latin typeface="Bernard MT Condensed" panose="02050806060905020404" pitchFamily="18" charset="0"/>
              </a:rPr>
              <a:t>Practice time</a:t>
            </a:r>
          </a:p>
        </p:txBody>
      </p:sp>
      <p:cxnSp>
        <p:nvCxnSpPr>
          <p:cNvPr id="35" name="Straight Arrow Connector 34"/>
          <p:cNvCxnSpPr>
            <a:cxnSpLocks/>
          </p:cNvCxnSpPr>
          <p:nvPr/>
        </p:nvCxnSpPr>
        <p:spPr>
          <a:xfrm flipV="1">
            <a:off x="757238" y="98474"/>
            <a:ext cx="2420975" cy="49450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582863" y="742085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204803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6270" t="2307" r="16012"/>
          <a:stretch/>
        </p:blipFill>
        <p:spPr>
          <a:xfrm>
            <a:off x="415333" y="71469"/>
            <a:ext cx="3559125" cy="50796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23217" y="235507"/>
            <a:ext cx="424140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From the graph, fill in the tables or work out the equation</a:t>
            </a:r>
          </a:p>
          <a:p>
            <a:endParaRPr lang="en-AU" dirty="0"/>
          </a:p>
          <a:p>
            <a:r>
              <a:rPr lang="en-AU" dirty="0"/>
              <a:t>1.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2.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3.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4.    </a:t>
            </a:r>
          </a:p>
          <a:p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8808826"/>
                  </p:ext>
                </p:extLst>
              </p:nvPr>
            </p:nvGraphicFramePr>
            <p:xfrm>
              <a:off x="4522067" y="1104539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8808826"/>
                  </p:ext>
                </p:extLst>
              </p:nvPr>
            </p:nvGraphicFramePr>
            <p:xfrm>
              <a:off x="4522067" y="1104539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62" t="-1724" r="-500000" b="-1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62" t="-101724" r="-50000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685097" y="2168468"/>
                <a:ext cx="12071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5097" y="2168468"/>
                <a:ext cx="1207125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2194028"/>
                  </p:ext>
                </p:extLst>
              </p:nvPr>
            </p:nvGraphicFramePr>
            <p:xfrm>
              <a:off x="4640079" y="3040818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2194028"/>
                  </p:ext>
                </p:extLst>
              </p:nvPr>
            </p:nvGraphicFramePr>
            <p:xfrm>
              <a:off x="4640079" y="3040818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862" t="-1724" r="-499138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862" t="-101724" r="-499138" b="-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" name="Straight Arrow Connector 8"/>
          <p:cNvCxnSpPr>
            <a:cxnSpLocks/>
          </p:cNvCxnSpPr>
          <p:nvPr/>
        </p:nvCxnSpPr>
        <p:spPr>
          <a:xfrm flipV="1">
            <a:off x="1012874" y="98474"/>
            <a:ext cx="2404207" cy="49450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178213" y="91987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2.</a:t>
            </a:r>
          </a:p>
        </p:txBody>
      </p:sp>
      <p:cxnSp>
        <p:nvCxnSpPr>
          <p:cNvPr id="13" name="Straight Arrow Connector 12"/>
          <p:cNvCxnSpPr>
            <a:cxnSpLocks/>
          </p:cNvCxnSpPr>
          <p:nvPr/>
        </p:nvCxnSpPr>
        <p:spPr>
          <a:xfrm flipV="1">
            <a:off x="724930" y="849744"/>
            <a:ext cx="2692151" cy="274911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8438" y="5084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1.</a:t>
            </a:r>
          </a:p>
        </p:txBody>
      </p:sp>
      <p:cxnSp>
        <p:nvCxnSpPr>
          <p:cNvPr id="22" name="Straight Arrow Connector 21"/>
          <p:cNvCxnSpPr>
            <a:cxnSpLocks/>
          </p:cNvCxnSpPr>
          <p:nvPr/>
        </p:nvCxnSpPr>
        <p:spPr>
          <a:xfrm>
            <a:off x="1702191" y="98474"/>
            <a:ext cx="1402052" cy="42030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96924" y="355817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3.</a:t>
            </a:r>
          </a:p>
        </p:txBody>
      </p:sp>
      <p:cxnSp>
        <p:nvCxnSpPr>
          <p:cNvPr id="28" name="Straight Arrow Connector 27"/>
          <p:cNvCxnSpPr>
            <a:cxnSpLocks/>
          </p:cNvCxnSpPr>
          <p:nvPr/>
        </p:nvCxnSpPr>
        <p:spPr>
          <a:xfrm flipV="1">
            <a:off x="757238" y="98474"/>
            <a:ext cx="2420975" cy="49450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582863" y="742085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406" y="98474"/>
            <a:ext cx="8799342" cy="5493434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4685097" y="4301557"/>
                <a:ext cx="11109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+</a:t>
                </a:r>
                <a:r>
                  <a:rPr lang="en-AU" dirty="0">
                    <a:solidFill>
                      <a:srgbClr val="0070C0"/>
                    </a:solidFill>
                  </a:rPr>
                  <a:t>2</a:t>
                </a: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5097" y="4301557"/>
                <a:ext cx="1110945" cy="369332"/>
              </a:xfrm>
              <a:prstGeom prst="rect">
                <a:avLst/>
              </a:prstGeom>
              <a:blipFill>
                <a:blip r:embed="rId6"/>
                <a:stretch>
                  <a:fillRect t="-10000" r="-3846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2611780" y="2086422"/>
            <a:ext cx="334739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000" dirty="0">
                <a:latin typeface="Bernard MT Condensed" panose="02050806060905020404" pitchFamily="18" charset="0"/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1398013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20968" y="274121"/>
            <a:ext cx="6858000" cy="830193"/>
          </a:xfrm>
        </p:spPr>
        <p:txBody>
          <a:bodyPr>
            <a:normAutofit/>
          </a:bodyPr>
          <a:lstStyle/>
          <a:p>
            <a:pPr algn="l"/>
            <a:r>
              <a:rPr lang="en-AU" dirty="0"/>
              <a:t>Finally …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01990" y="1621867"/>
            <a:ext cx="4493578" cy="3640448"/>
            <a:chOff x="2439083" y="1934275"/>
            <a:chExt cx="4493578" cy="3640448"/>
          </a:xfrm>
        </p:grpSpPr>
        <p:grpSp>
          <p:nvGrpSpPr>
            <p:cNvPr id="4" name="Group 3"/>
            <p:cNvGrpSpPr/>
            <p:nvPr/>
          </p:nvGrpSpPr>
          <p:grpSpPr>
            <a:xfrm>
              <a:off x="2439083" y="2158403"/>
              <a:ext cx="4493578" cy="3416320"/>
              <a:chOff x="2688457" y="2152071"/>
              <a:chExt cx="4493578" cy="3416320"/>
            </a:xfrm>
          </p:grpSpPr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9" name="TextBox 8"/>
              <p:cNvSpPr txBox="1"/>
              <p:nvPr/>
            </p:nvSpPr>
            <p:spPr>
              <a:xfrm>
                <a:off x="2688457" y="4646926"/>
                <a:ext cx="449357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10" name="Straight Connector 9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12" name="TextBox 11"/>
              <p:cNvSpPr txBox="1"/>
              <p:nvPr/>
            </p:nvSpPr>
            <p:spPr>
              <a:xfrm>
                <a:off x="4705165" y="2152071"/>
                <a:ext cx="365525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5" name="TextBox 4"/>
            <p:cNvSpPr txBox="1"/>
            <p:nvPr/>
          </p:nvSpPr>
          <p:spPr>
            <a:xfrm>
              <a:off x="4725159" y="1934275"/>
              <a:ext cx="15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594015" y="4684036"/>
              <a:ext cx="15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535606" y="1120723"/>
                <a:ext cx="3132524" cy="9203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135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1350" b="1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AU" sz="135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35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135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1350" b="1" dirty="0"/>
                  <a:t> creates a shape called a parabola</a:t>
                </a:r>
                <a:endParaRPr lang="en-AU" sz="2000" dirty="0"/>
              </a:p>
              <a:p>
                <a:endParaRPr lang="en-AU" sz="2000" dirty="0"/>
              </a:p>
              <a:p>
                <a:endParaRPr lang="en-AU" sz="2000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06" y="1120723"/>
                <a:ext cx="3132524" cy="920380"/>
              </a:xfrm>
              <a:prstGeom prst="rect">
                <a:avLst/>
              </a:prstGeom>
              <a:blipFill>
                <a:blip r:embed="rId3"/>
                <a:stretch>
                  <a:fillRect t="-6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2388721" y="1582582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5" name="Oval 14"/>
          <p:cNvSpPr/>
          <p:nvPr/>
        </p:nvSpPr>
        <p:spPr>
          <a:xfrm>
            <a:off x="1622082" y="2211117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16" name="Oval 15"/>
          <p:cNvSpPr/>
          <p:nvPr/>
        </p:nvSpPr>
        <p:spPr>
          <a:xfrm>
            <a:off x="1892202" y="3414978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17" name="Oval 16"/>
          <p:cNvSpPr/>
          <p:nvPr/>
        </p:nvSpPr>
        <p:spPr>
          <a:xfrm>
            <a:off x="2117329" y="4080197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18" name="Oval 17"/>
          <p:cNvSpPr/>
          <p:nvPr/>
        </p:nvSpPr>
        <p:spPr>
          <a:xfrm>
            <a:off x="2338309" y="4301177"/>
            <a:ext cx="128094" cy="153596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19" name="Oval 18"/>
          <p:cNvSpPr/>
          <p:nvPr/>
        </p:nvSpPr>
        <p:spPr>
          <a:xfrm flipV="1">
            <a:off x="2821676" y="3403664"/>
            <a:ext cx="92346" cy="90189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20" name="Oval 19"/>
          <p:cNvSpPr/>
          <p:nvPr/>
        </p:nvSpPr>
        <p:spPr>
          <a:xfrm>
            <a:off x="2556879" y="4098962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21" name="Oval 20"/>
          <p:cNvSpPr/>
          <p:nvPr/>
        </p:nvSpPr>
        <p:spPr>
          <a:xfrm flipV="1">
            <a:off x="3049152" y="2211117"/>
            <a:ext cx="92346" cy="90189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58" b="79124" l="26445" r="68467">
                        <a14:backgroundMark x1="47802" y1="19124" x2="47802" y2="19124"/>
                        <a14:backgroundMark x1="34673" y1="56255" x2="34673" y2="56255"/>
                        <a14:backgroundMark x1="62123" y1="62470" x2="62123" y2="62470"/>
                      </a14:backgroundRemoval>
                    </a14:imgEffect>
                  </a14:imgLayer>
                </a14:imgProps>
              </a:ext>
            </a:extLst>
          </a:blip>
          <a:srcRect l="27689" r="31060" b="18540"/>
          <a:stretch/>
        </p:blipFill>
        <p:spPr>
          <a:xfrm>
            <a:off x="1507969" y="1500613"/>
            <a:ext cx="1845193" cy="3055682"/>
          </a:xfrm>
          <a:prstGeom prst="rect">
            <a:avLst/>
          </a:prstGeom>
        </p:spPr>
      </p:pic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3839" y="1860253"/>
            <a:ext cx="3245860" cy="2949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6046177" y="1161677"/>
                <a:ext cx="2180277" cy="9203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135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35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135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1350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AU" sz="135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35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AU" sz="135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135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135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135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1350" b="1" dirty="0"/>
                  <a:t>creates a circle</a:t>
                </a:r>
                <a:endParaRPr lang="en-AU" sz="2000" dirty="0"/>
              </a:p>
              <a:p>
                <a:endParaRPr lang="en-AU" sz="2000" dirty="0"/>
              </a:p>
              <a:p>
                <a:endParaRPr lang="en-AU" sz="2000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177" y="1161677"/>
                <a:ext cx="2180277" cy="920380"/>
              </a:xfrm>
              <a:prstGeom prst="rect">
                <a:avLst/>
              </a:prstGeom>
              <a:blipFill>
                <a:blip r:embed="rId7"/>
                <a:stretch>
                  <a:fillRect t="-6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4387609" y="1143987"/>
                <a:ext cx="691984" cy="9156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350" b="1" i="1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AU" sz="135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000" dirty="0"/>
              </a:p>
              <a:p>
                <a:endParaRPr lang="en-AU" sz="2000" dirty="0"/>
              </a:p>
              <a:p>
                <a:endParaRPr lang="en-AU" sz="2000" dirty="0"/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609" y="1143987"/>
                <a:ext cx="691984" cy="91563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5387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5" grpId="0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171135" y="1870804"/>
            <a:ext cx="6858000" cy="830193"/>
          </a:xfrm>
        </p:spPr>
        <p:txBody>
          <a:bodyPr>
            <a:normAutofit fontScale="90000"/>
          </a:bodyPr>
          <a:lstStyle/>
          <a:p>
            <a:r>
              <a:rPr lang="en-AU" dirty="0"/>
              <a:t>Now complete exercise 4.14 on page 63 </a:t>
            </a:r>
          </a:p>
        </p:txBody>
      </p:sp>
    </p:spTree>
    <p:extLst>
      <p:ext uri="{BB962C8B-B14F-4D97-AF65-F5344CB8AC3E}">
        <p14:creationId xmlns:p14="http://schemas.microsoft.com/office/powerpoint/2010/main" val="1590379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1497</TotalTime>
  <Words>2208</Words>
  <Application>Microsoft Office PowerPoint</Application>
  <PresentationFormat>On-screen Show (16:10)</PresentationFormat>
  <Paragraphs>833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Bernard MT Condensed</vt:lpstr>
      <vt:lpstr>Calibri</vt:lpstr>
      <vt:lpstr>Calibri Light</vt:lpstr>
      <vt:lpstr>Cambria Math</vt:lpstr>
      <vt:lpstr>Office Theme</vt:lpstr>
      <vt:lpstr>PowerPoint Presentation</vt:lpstr>
      <vt:lpstr>Linear relationships – What have we learned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 lets practice …</vt:lpstr>
      <vt:lpstr>So lets practice 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Finally …</vt:lpstr>
      <vt:lpstr>Now complete exercise 4.14 on page 63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CRAIG Mason [Baldivis Secondary College]</cp:lastModifiedBy>
  <cp:revision>29</cp:revision>
  <dcterms:created xsi:type="dcterms:W3CDTF">2017-03-25T07:23:18Z</dcterms:created>
  <dcterms:modified xsi:type="dcterms:W3CDTF">2018-05-20T13:13:40Z</dcterms:modified>
</cp:coreProperties>
</file>
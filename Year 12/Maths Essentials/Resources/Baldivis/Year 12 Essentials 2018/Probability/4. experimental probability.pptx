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</p:sldMasterIdLst>
  <p:notesMasterIdLst>
    <p:notesMasterId r:id="rId9"/>
  </p:notesMasterIdLst>
  <p:sldIdLst>
    <p:sldId id="256" r:id="rId2"/>
    <p:sldId id="267" r:id="rId3"/>
    <p:sldId id="270" r:id="rId4"/>
    <p:sldId id="269" r:id="rId5"/>
    <p:sldId id="272" r:id="rId6"/>
    <p:sldId id="273" r:id="rId7"/>
    <p:sldId id="274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7052" autoAdjust="0"/>
    <p:restoredTop sz="94660"/>
  </p:normalViewPr>
  <p:slideViewPr>
    <p:cSldViewPr snapToGrid="0">
      <p:cViewPr>
        <p:scale>
          <a:sx n="66" d="100"/>
          <a:sy n="66" d="100"/>
        </p:scale>
        <p:origin x="20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172B6C-C9C7-48D2-88B5-33E638F800ED}" type="datetimeFigureOut">
              <a:rPr lang="en-AU" smtClean="0"/>
              <a:t>31/07/2018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70B68E-FF73-442A-A333-C57C0096B23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84094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3776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133350" ty="330200" sx="85000" sy="85000" flip="xy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2">
                    <a:lumMod val="7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4956CA6D-9A9D-48B0-96BA-AF3598EB9253}" type="datetimeFigureOut">
              <a:rPr lang="en-AU" smtClean="0"/>
              <a:t>31/07/2018</a:t>
            </a:fld>
            <a:endParaRPr lang="en-AU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ACEE2D17-372E-44C9-94EE-7061C6280C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34285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6CA6D-9A9D-48B0-96BA-AF3598EB9253}" type="datetimeFigureOut">
              <a:rPr lang="en-AU" smtClean="0"/>
              <a:t>31/07/2018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E2D17-372E-44C9-94EE-7061C6280C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37812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1784" y="0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133350" ty="330200" sx="85000" sy="85000" flip="xy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2">
                  <a:lumMod val="5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2">
                  <a:lumMod val="5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2">
                  <a:lumMod val="5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600">
                <a:solidFill>
                  <a:schemeClr val="tx2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4956CA6D-9A9D-48B0-96BA-AF3598EB9253}" type="datetimeFigureOut">
              <a:rPr lang="en-AU" smtClean="0"/>
              <a:t>31/07/2018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2080"/>
            <a:ext cx="2112264" cy="228600"/>
          </a:xfrm>
        </p:spPr>
        <p:txBody>
          <a:bodyPr/>
          <a:lstStyle/>
          <a:p>
            <a:fld id="{ACEE2D17-372E-44C9-94EE-7061C6280C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573279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6CA6D-9A9D-48B0-96BA-AF3598EB9253}" type="datetimeFigureOut">
              <a:rPr lang="en-AU" smtClean="0"/>
              <a:t>31/07/2018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E2D17-372E-44C9-94EE-7061C6280C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175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6CA6D-9A9D-48B0-96BA-AF3598EB9253}" type="datetimeFigureOut">
              <a:rPr lang="en-AU" smtClean="0"/>
              <a:t>31/07/2018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E2D17-372E-44C9-94EE-7061C6280C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47236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6CA6D-9A9D-48B0-96BA-AF3598EB9253}" type="datetimeFigureOut">
              <a:rPr lang="en-AU" smtClean="0"/>
              <a:t>31/07/2018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E2D17-372E-44C9-94EE-7061C6280C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9560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6CA6D-9A9D-48B0-96BA-AF3598EB9253}" type="datetimeFigureOut">
              <a:rPr lang="en-AU" smtClean="0"/>
              <a:t>31/07/2018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E2D17-372E-44C9-94EE-7061C6280C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75602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6CA6D-9A9D-48B0-96BA-AF3598EB9253}" type="datetimeFigureOut">
              <a:rPr lang="en-AU" smtClean="0"/>
              <a:t>31/07/2018</a:t>
            </a:fld>
            <a:endParaRPr lang="en-A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AU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56032"/>
          </a:xfrm>
        </p:spPr>
        <p:txBody>
          <a:bodyPr/>
          <a:lstStyle/>
          <a:p>
            <a:fld id="{ACEE2D17-372E-44C9-94EE-7061C6280C00}" type="slidenum">
              <a:rPr lang="en-AU" smtClean="0"/>
              <a:t>‹#›</a:t>
            </a:fld>
            <a:endParaRPr lang="en-AU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973474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4956CA6D-9A9D-48B0-96BA-AF3598EB9253}" type="datetimeFigureOut">
              <a:rPr lang="en-AU" smtClean="0"/>
              <a:t>31/07/2018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56032"/>
          </a:xfrm>
        </p:spPr>
        <p:txBody>
          <a:bodyPr/>
          <a:lstStyle/>
          <a:p>
            <a:fld id="{ACEE2D17-372E-44C9-94EE-7061C6280C00}" type="slidenum">
              <a:rPr lang="en-AU" smtClean="0"/>
              <a:t>‹#›</a:t>
            </a:fld>
            <a:endParaRPr lang="en-AU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790993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6CA6D-9A9D-48B0-96BA-AF3598EB9253}" type="datetimeFigureOut">
              <a:rPr lang="en-AU" smtClean="0"/>
              <a:t>31/07/2018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E2D17-372E-44C9-94EE-7061C6280C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13413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6CA6D-9A9D-48B0-96BA-AF3598EB9253}" type="datetimeFigureOut">
              <a:rPr lang="en-AU" smtClean="0"/>
              <a:t>31/07/2018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E2D17-372E-44C9-94EE-7061C6280C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95720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9464" y="6214535"/>
            <a:ext cx="274320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956CA6D-9A9D-48B0-96BA-AF3598EB9253}" type="datetimeFigureOut">
              <a:rPr lang="en-AU" smtClean="0"/>
              <a:t>31/07/2018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214535"/>
            <a:ext cx="521208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48535" y="6214535"/>
            <a:ext cx="146304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ACEE2D17-372E-44C9-94EE-7061C6280C00}" type="slidenum">
              <a:rPr lang="en-AU" smtClean="0"/>
              <a:t>‹#›</a:t>
            </a:fld>
            <a:endParaRPr lang="en-AU"/>
          </a:p>
        </p:txBody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</p:spTree>
    <p:extLst>
      <p:ext uri="{BB962C8B-B14F-4D97-AF65-F5344CB8AC3E}">
        <p14:creationId xmlns:p14="http://schemas.microsoft.com/office/powerpoint/2010/main" val="1653039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F7880-2D9E-4601-9C7F-CC168F0C4C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61707" y="1921581"/>
            <a:ext cx="9068586" cy="25908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AU" dirty="0"/>
              <a:t>EXPERIMENTAL PROBABILITY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B94CB1-F5F5-4BEC-AF59-9A67C728C8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18924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1039158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31788" y="20837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74816" y="15871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23021" y="378169"/>
            <a:ext cx="89721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</a:t>
            </a:r>
            <a:r>
              <a:rPr lang="en-AU" sz="3200" dirty="0"/>
              <a:t>Two step Probability with replacement </a:t>
            </a:r>
            <a:endParaRPr lang="en-AU" sz="3200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666560" y="459442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2364" y="1827818"/>
            <a:ext cx="2186873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Experimental vs. </a:t>
            </a:r>
          </a:p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Theoretical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9745" y="1062477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400" dirty="0"/>
              <a:t>What is experimental probability with replacement?</a:t>
            </a:r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-1" y="1524014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C9F4D63-FC33-473C-940F-C262E50F8D13}"/>
                  </a:ext>
                </a:extLst>
              </p:cNvPr>
              <p:cNvSpPr txBox="1"/>
              <p:nvPr/>
            </p:nvSpPr>
            <p:spPr>
              <a:xfrm>
                <a:off x="1679838" y="1739897"/>
                <a:ext cx="10607624" cy="356443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AU" sz="2000" b="0" dirty="0">
                    <a:ea typeface="Cambria Math" panose="02040503050406030204" pitchFamily="18" charset="0"/>
                  </a:rPr>
                  <a:t>Probabilty can have two approaches: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AU" sz="2000" b="1" dirty="0">
                    <a:ea typeface="Cambria Math" panose="02040503050406030204" pitchFamily="18" charset="0"/>
                  </a:rPr>
                  <a:t>Experimental Probability</a:t>
                </a:r>
                <a:r>
                  <a:rPr lang="en-AU" sz="2000" dirty="0">
                    <a:ea typeface="Cambria Math" panose="02040503050406030204" pitchFamily="18" charset="0"/>
                  </a:rPr>
                  <a:t> and </a:t>
                </a:r>
                <a:r>
                  <a:rPr lang="en-AU" sz="2000" b="1" dirty="0">
                    <a:ea typeface="Cambria Math" panose="02040503050406030204" pitchFamily="18" charset="0"/>
                  </a:rPr>
                  <a:t>Theoretical Probability</a:t>
                </a:r>
              </a:p>
              <a:p>
                <a:pPr algn="ctr">
                  <a:lnSpc>
                    <a:spcPct val="150000"/>
                  </a:lnSpc>
                </a:pPr>
                <a:endParaRPr lang="en-AU" sz="2000" b="1" dirty="0">
                  <a:ea typeface="Cambria Math" panose="02040503050406030204" pitchFamily="18" charset="0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en-AU" sz="2000" b="0" dirty="0">
                    <a:ea typeface="Cambria Math" panose="02040503050406030204" pitchFamily="18" charset="0"/>
                  </a:rPr>
                  <a:t>What actually happens    	   vs.		 What we think will happen</a:t>
                </a:r>
              </a:p>
              <a:p>
                <a:pPr algn="ctr"/>
                <a:endParaRPr lang="en-AU" sz="2000" dirty="0"/>
              </a:p>
              <a:p>
                <a:pPr algn="ctr"/>
                <a:r>
                  <a:rPr lang="en-AU" dirty="0"/>
                  <a:t>P (event)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𝑡𝑖𝑚𝑒𝑠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𝑒𝑣𝑒𝑛𝑡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𝑜𝑐𝑐𝑢𝑟𝑠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𝑡𝑜𝑡𝑎𝑙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𝑡𝑟𝑖𝑎𝑙𝑠</m:t>
                        </m:r>
                      </m:den>
                    </m:f>
                  </m:oMath>
                </a14:m>
                <a:r>
                  <a:rPr lang="en-AU" sz="2400" dirty="0"/>
                  <a:t>      </a:t>
                </a:r>
                <a:r>
                  <a:rPr lang="en-AU" dirty="0"/>
                  <a:t>P (event)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𝑓𝑎𝑣𝑜𝑟𝑎𝑏𝑙𝑒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𝑜𝑢𝑡𝑐𝑜𝑚𝑒𝑠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𝑝𝑜𝑠𝑠𝑖𝑏𝑙𝑒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𝑜𝑢𝑡𝑐𝑜𝑚𝑒𝑠</m:t>
                        </m:r>
                      </m:den>
                    </m:f>
                  </m:oMath>
                </a14:m>
                <a:endParaRPr lang="en-AU" dirty="0"/>
              </a:p>
              <a:p>
                <a:pPr algn="ctr"/>
                <a:endParaRPr lang="en-AU" dirty="0"/>
              </a:p>
              <a:p>
                <a:pPr algn="ctr"/>
                <a:endParaRPr lang="en-AU" dirty="0"/>
              </a:p>
              <a:p>
                <a:pPr algn="ctr"/>
                <a:endParaRPr lang="en-AU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C9F4D63-FC33-473C-940F-C262E50F8D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9838" y="1739897"/>
                <a:ext cx="10607624" cy="35644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8319839-30B6-4CB4-8594-17883E90D5F2}"/>
              </a:ext>
            </a:extLst>
          </p:cNvPr>
          <p:cNvCxnSpPr/>
          <p:nvPr/>
        </p:nvCxnSpPr>
        <p:spPr>
          <a:xfrm>
            <a:off x="5067300" y="2671424"/>
            <a:ext cx="0" cy="41537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7227D47-957E-4F37-9926-B6EFD46500F1}"/>
              </a:ext>
            </a:extLst>
          </p:cNvPr>
          <p:cNvCxnSpPr/>
          <p:nvPr/>
        </p:nvCxnSpPr>
        <p:spPr>
          <a:xfrm>
            <a:off x="8864161" y="2671424"/>
            <a:ext cx="0" cy="41537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39D7078-3C37-40DA-A496-ED0F5A8F0288}"/>
                  </a:ext>
                </a:extLst>
              </p:cNvPr>
              <p:cNvSpPr txBox="1"/>
              <p:nvPr/>
            </p:nvSpPr>
            <p:spPr>
              <a:xfrm>
                <a:off x="2262763" y="4690196"/>
                <a:ext cx="4790306" cy="2170722"/>
              </a:xfrm>
              <a:prstGeom prst="rect">
                <a:avLst/>
              </a:prstGeom>
              <a:noFill/>
              <a:ln w="12700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AU" sz="1600" dirty="0"/>
                  <a:t>Example: </a:t>
                </a:r>
                <a:r>
                  <a:rPr lang="en-US" altLang="en-US" sz="1600" dirty="0"/>
                  <a:t>You tossed  a coin 10 times and recorded a head 3 times, a tail 7 times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altLang="en-US" sz="1600" dirty="0"/>
                  <a:t>P(head)=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altLang="en-US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altLang="en-US" sz="20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endParaRPr lang="en-US" altLang="en-US" sz="1600" dirty="0"/>
              </a:p>
              <a:p>
                <a:pPr algn="ctr">
                  <a:lnSpc>
                    <a:spcPct val="150000"/>
                  </a:lnSpc>
                </a:pPr>
                <a:r>
                  <a:rPr lang="en-US" altLang="en-US" sz="1600" dirty="0"/>
                  <a:t>P(tail)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altLang="en-US" sz="20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AU" altLang="en-US" sz="2000" i="1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endParaRPr lang="en-US" altLang="en-US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39D7078-3C37-40DA-A496-ED0F5A8F02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2763" y="4690196"/>
                <a:ext cx="4790306" cy="2170722"/>
              </a:xfrm>
              <a:prstGeom prst="rect">
                <a:avLst/>
              </a:prstGeom>
              <a:blipFill>
                <a:blip r:embed="rId4"/>
                <a:stretch>
                  <a:fillRect l="-508" t="-279" r="-1269"/>
                </a:stretch>
              </a:blipFill>
              <a:ln w="1270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50AD406-1CAA-45A2-80B8-80BF8245C460}"/>
                  </a:ext>
                </a:extLst>
              </p:cNvPr>
              <p:cNvSpPr txBox="1"/>
              <p:nvPr/>
            </p:nvSpPr>
            <p:spPr>
              <a:xfrm>
                <a:off x="7142515" y="4690196"/>
                <a:ext cx="4790306" cy="1919372"/>
              </a:xfrm>
              <a:prstGeom prst="rect">
                <a:avLst/>
              </a:prstGeom>
              <a:noFill/>
              <a:ln w="12700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AU" sz="1600" dirty="0"/>
                  <a:t>Example: </a:t>
                </a:r>
                <a:r>
                  <a:rPr lang="en-US" altLang="en-US" sz="1600" dirty="0"/>
                  <a:t>Toss a coin and getting a head or a tail.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altLang="en-US" sz="1600" dirty="0"/>
                  <a:t>P(head)=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alt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alt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altLang="en-US" sz="1600" dirty="0"/>
              </a:p>
              <a:p>
                <a:pPr algn="ctr">
                  <a:lnSpc>
                    <a:spcPct val="150000"/>
                  </a:lnSpc>
                </a:pPr>
                <a:r>
                  <a:rPr lang="en-US" altLang="en-US" sz="1600" dirty="0"/>
                  <a:t>P(tail)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alt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alt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altLang="en-US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50AD406-1CAA-45A2-80B8-80BF8245C4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2515" y="4690196"/>
                <a:ext cx="4790306" cy="1919372"/>
              </a:xfrm>
              <a:prstGeom prst="rect">
                <a:avLst/>
              </a:prstGeom>
              <a:blipFill>
                <a:blip r:embed="rId5"/>
                <a:stretch>
                  <a:fillRect l="-635" t="-315"/>
                </a:stretch>
              </a:blipFill>
              <a:ln w="1270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0835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1" grpId="0" animBg="1"/>
      <p:bldP spid="2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D7D571D-DD02-4F16-B689-602AC25B96AA}"/>
                  </a:ext>
                </a:extLst>
              </p:cNvPr>
              <p:cNvSpPr txBox="1"/>
              <p:nvPr/>
            </p:nvSpPr>
            <p:spPr>
              <a:xfrm>
                <a:off x="647700" y="1066800"/>
                <a:ext cx="10160000" cy="42032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3600" dirty="0"/>
                  <a:t>Example:</a:t>
                </a:r>
              </a:p>
              <a:p>
                <a:r>
                  <a:rPr lang="en-AU" sz="3600" dirty="0"/>
                  <a:t>A dice is rolled 1000 times and it lands on the number 2 176 times.</a:t>
                </a:r>
              </a:p>
              <a:p>
                <a:endParaRPr lang="en-AU" sz="3600" dirty="0"/>
              </a:p>
              <a:p>
                <a:r>
                  <a:rPr lang="en-AU" sz="3600" b="1" u="sng" dirty="0"/>
                  <a:t>Experimental Probability </a:t>
                </a:r>
                <a:r>
                  <a:rPr lang="en-AU" sz="3600" dirty="0"/>
                  <a:t>of rolling a 2 is</a:t>
                </a:r>
              </a:p>
              <a:p>
                <a:endParaRPr lang="en-AU" sz="3600" dirty="0"/>
              </a:p>
              <a:p>
                <a:r>
                  <a:rPr lang="en-AU" sz="3600" dirty="0"/>
                  <a:t>						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3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600" b="0" i="1" smtClean="0">
                            <a:latin typeface="Cambria Math" panose="02040503050406030204" pitchFamily="18" charset="0"/>
                          </a:rPr>
                          <m:t>176</m:t>
                        </m:r>
                      </m:num>
                      <m:den>
                        <m:r>
                          <a:rPr lang="en-AU" sz="3600" b="0" i="1" smtClean="0">
                            <a:latin typeface="Cambria Math" panose="02040503050406030204" pitchFamily="18" charset="0"/>
                          </a:rPr>
                          <m:t>1000</m:t>
                        </m:r>
                      </m:den>
                    </m:f>
                  </m:oMath>
                </a14:m>
                <a:r>
                  <a:rPr lang="en-AU" sz="3600" dirty="0"/>
                  <a:t> = 0.176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D7D571D-DD02-4F16-B689-602AC25B96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700" y="1066800"/>
                <a:ext cx="10160000" cy="4203202"/>
              </a:xfrm>
              <a:prstGeom prst="rect">
                <a:avLst/>
              </a:prstGeom>
              <a:blipFill>
                <a:blip r:embed="rId2"/>
                <a:stretch>
                  <a:fillRect l="-1800" t="-2174" r="-2280" b="-202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6658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C5A96B-CC7A-4EA7-9BEC-1B49DD5FBC44}"/>
              </a:ext>
            </a:extLst>
          </p:cNvPr>
          <p:cNvSpPr txBox="1"/>
          <p:nvPr/>
        </p:nvSpPr>
        <p:spPr>
          <a:xfrm>
            <a:off x="1225550" y="514940"/>
            <a:ext cx="9740900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/>
              <a:t>Essentials book page 126</a:t>
            </a:r>
          </a:p>
          <a:p>
            <a:pPr algn="ctr"/>
            <a:r>
              <a:rPr lang="en-AU" sz="2800" b="1" u="sng" dirty="0"/>
              <a:t>DESIGN a SPINNER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6FF65C-1B6A-47B3-8851-5D48B5BD8337}"/>
              </a:ext>
            </a:extLst>
          </p:cNvPr>
          <p:cNvSpPr txBox="1"/>
          <p:nvPr/>
        </p:nvSpPr>
        <p:spPr>
          <a:xfrm>
            <a:off x="1225550" y="2138326"/>
            <a:ext cx="9643555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en-AU" sz="2000" dirty="0"/>
              <a:t>Hold a paper clip 20cm above the centre of the rectangle. </a:t>
            </a:r>
          </a:p>
          <a:p>
            <a:pPr marL="342900" indent="-342900">
              <a:buAutoNum type="arabicParenR"/>
            </a:pPr>
            <a:endParaRPr lang="en-AU" sz="2000" dirty="0"/>
          </a:p>
          <a:p>
            <a:pPr marL="342900" indent="-342900">
              <a:buAutoNum type="arabicParenR"/>
            </a:pPr>
            <a:r>
              <a:rPr lang="en-AU" sz="2000" dirty="0"/>
              <a:t>Drop the paperclip and record where it lands (inside rectangle, on the edge, outside the rectangle)</a:t>
            </a:r>
          </a:p>
          <a:p>
            <a:pPr marL="342900" indent="-342900">
              <a:buAutoNum type="arabicParenR"/>
            </a:pPr>
            <a:endParaRPr lang="en-AU" sz="2000" dirty="0"/>
          </a:p>
          <a:p>
            <a:pPr marL="342900" indent="-342900">
              <a:buAutoNum type="arabicParenR"/>
            </a:pPr>
            <a:r>
              <a:rPr lang="en-AU" sz="2000" dirty="0"/>
              <a:t>Repeat 50 times</a:t>
            </a:r>
          </a:p>
          <a:p>
            <a:pPr marL="342900" indent="-342900">
              <a:buAutoNum type="arabicParenR"/>
            </a:pPr>
            <a:endParaRPr lang="en-AU" sz="2000" dirty="0"/>
          </a:p>
          <a:p>
            <a:pPr marL="342900" indent="-342900">
              <a:buAutoNum type="arabicParenR"/>
            </a:pPr>
            <a:endParaRPr lang="en-AU" sz="2000" dirty="0"/>
          </a:p>
          <a:p>
            <a:pPr marL="342900" indent="-342900">
              <a:buAutoNum type="arabicParenR"/>
            </a:pPr>
            <a:endParaRPr lang="en-AU" sz="2000" dirty="0"/>
          </a:p>
          <a:p>
            <a:pPr marL="342900" indent="-342900">
              <a:buAutoNum type="arabicParenR"/>
            </a:pPr>
            <a:endParaRPr lang="en-AU" sz="2000" dirty="0"/>
          </a:p>
          <a:p>
            <a:pPr marL="342900" indent="-342900">
              <a:buAutoNum type="arabicParenR"/>
            </a:pPr>
            <a:endParaRPr lang="en-AU" sz="2000" dirty="0"/>
          </a:p>
          <a:p>
            <a:pPr marL="342900" indent="-342900">
              <a:buAutoNum type="arabicParenR"/>
            </a:pPr>
            <a:r>
              <a:rPr lang="en-AU" sz="2000" dirty="0"/>
              <a:t>Use the percentages in your table to represent the probabilities as a fraction of each.</a:t>
            </a:r>
          </a:p>
          <a:p>
            <a:pPr marL="342900" indent="-342900">
              <a:buAutoNum type="arabicParenR"/>
            </a:pPr>
            <a:endParaRPr lang="en-AU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ADFAF9D-A8D0-4B78-8AF1-61890BF858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4255572"/>
              </p:ext>
            </p:extLst>
          </p:nvPr>
        </p:nvGraphicFramePr>
        <p:xfrm>
          <a:off x="3587423" y="3335850"/>
          <a:ext cx="8128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80143177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43717974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410059728"/>
                    </a:ext>
                  </a:extLst>
                </a:gridCol>
                <a:gridCol w="1952396">
                  <a:extLst>
                    <a:ext uri="{9D8B030D-6E8A-4147-A177-3AD203B41FA5}">
                      <a16:colId xmlns:a16="http://schemas.microsoft.com/office/drawing/2014/main" val="2286691862"/>
                    </a:ext>
                  </a:extLst>
                </a:gridCol>
                <a:gridCol w="1298804">
                  <a:extLst>
                    <a:ext uri="{9D8B030D-6E8A-4147-A177-3AD203B41FA5}">
                      <a16:colId xmlns:a16="http://schemas.microsoft.com/office/drawing/2014/main" val="23369259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In rectangle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On the edge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Outside rectangle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5125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Tally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75084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Frequency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996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Percentage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1106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9387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C5A96B-CC7A-4EA7-9BEC-1B49DD5FBC44}"/>
              </a:ext>
            </a:extLst>
          </p:cNvPr>
          <p:cNvSpPr txBox="1"/>
          <p:nvPr/>
        </p:nvSpPr>
        <p:spPr>
          <a:xfrm>
            <a:off x="1225550" y="514940"/>
            <a:ext cx="9740900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/>
              <a:t>Essentials book page 127</a:t>
            </a:r>
          </a:p>
          <a:p>
            <a:pPr algn="ctr"/>
            <a:r>
              <a:rPr lang="en-AU" sz="2800" b="1" u="sng" dirty="0"/>
              <a:t>COUNTERS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32A3FE-B176-40A8-9273-C499CE7E384C}"/>
              </a:ext>
            </a:extLst>
          </p:cNvPr>
          <p:cNvSpPr txBox="1"/>
          <p:nvPr/>
        </p:nvSpPr>
        <p:spPr>
          <a:xfrm>
            <a:off x="952107" y="2036190"/>
            <a:ext cx="1025636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Two red and one blue counters are placed in a bag.</a:t>
            </a:r>
          </a:p>
          <a:p>
            <a:r>
              <a:rPr lang="en-AU" sz="2400" dirty="0"/>
              <a:t>Without looking, two counters are taken out together.</a:t>
            </a:r>
          </a:p>
          <a:p>
            <a:endParaRPr lang="en-AU" dirty="0"/>
          </a:p>
          <a:p>
            <a:r>
              <a:rPr lang="en-AU" sz="2400" dirty="0"/>
              <a:t>Is it more likely that the two counters are both red or that one is red and one is blue?</a:t>
            </a:r>
          </a:p>
          <a:p>
            <a:endParaRPr lang="en-AU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AU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dirty="0"/>
              <a:t>Complete   a)    b)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2A70ECD-AE3F-4601-8523-4F48B16976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8145579"/>
              </p:ext>
            </p:extLst>
          </p:nvPr>
        </p:nvGraphicFramePr>
        <p:xfrm>
          <a:off x="3997069" y="4406052"/>
          <a:ext cx="6812102" cy="15820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6051">
                  <a:extLst>
                    <a:ext uri="{9D8B030D-6E8A-4147-A177-3AD203B41FA5}">
                      <a16:colId xmlns:a16="http://schemas.microsoft.com/office/drawing/2014/main" val="1777817369"/>
                    </a:ext>
                  </a:extLst>
                </a:gridCol>
                <a:gridCol w="3406051">
                  <a:extLst>
                    <a:ext uri="{9D8B030D-6E8A-4147-A177-3AD203B41FA5}">
                      <a16:colId xmlns:a16="http://schemas.microsoft.com/office/drawing/2014/main" val="1826906628"/>
                    </a:ext>
                  </a:extLst>
                </a:gridCol>
              </a:tblGrid>
              <a:tr h="560584">
                <a:tc>
                  <a:txBody>
                    <a:bodyPr/>
                    <a:lstStyle/>
                    <a:p>
                      <a:r>
                        <a:rPr lang="en-AU" dirty="0"/>
                        <a:t>Same colour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Different colours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8760967"/>
                  </a:ext>
                </a:extLst>
              </a:tr>
              <a:tr h="1021437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06306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5856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C6BCD9D-18E9-4FFC-9C6A-C44A5D76130A}"/>
              </a:ext>
            </a:extLst>
          </p:cNvPr>
          <p:cNvSpPr/>
          <p:nvPr/>
        </p:nvSpPr>
        <p:spPr>
          <a:xfrm>
            <a:off x="1123951" y="827451"/>
            <a:ext cx="964244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The law of LARGE NUMBERS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E8E023-68B0-487E-B5FE-89F220C32AD8}"/>
              </a:ext>
            </a:extLst>
          </p:cNvPr>
          <p:cNvSpPr txBox="1"/>
          <p:nvPr/>
        </p:nvSpPr>
        <p:spPr>
          <a:xfrm>
            <a:off x="1753386" y="1998482"/>
            <a:ext cx="839928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dirty="0"/>
              <a:t>The more experiments/trials we do, the closer the results will be to the TRUE probability.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AU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dirty="0"/>
              <a:t>Complete Part c) as a class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C59D091-690D-4AB8-BC23-7F7157E517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3904758"/>
              </p:ext>
            </p:extLst>
          </p:nvPr>
        </p:nvGraphicFramePr>
        <p:xfrm>
          <a:off x="1263494" y="4316209"/>
          <a:ext cx="10103942" cy="16603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51971">
                  <a:extLst>
                    <a:ext uri="{9D8B030D-6E8A-4147-A177-3AD203B41FA5}">
                      <a16:colId xmlns:a16="http://schemas.microsoft.com/office/drawing/2014/main" val="1777817369"/>
                    </a:ext>
                  </a:extLst>
                </a:gridCol>
                <a:gridCol w="5051971">
                  <a:extLst>
                    <a:ext uri="{9D8B030D-6E8A-4147-A177-3AD203B41FA5}">
                      <a16:colId xmlns:a16="http://schemas.microsoft.com/office/drawing/2014/main" val="1826906628"/>
                    </a:ext>
                  </a:extLst>
                </a:gridCol>
              </a:tblGrid>
              <a:tr h="438671">
                <a:tc>
                  <a:txBody>
                    <a:bodyPr/>
                    <a:lstStyle/>
                    <a:p>
                      <a:r>
                        <a:rPr lang="en-AU" dirty="0"/>
                        <a:t>Same colour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Different colours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8760967"/>
                  </a:ext>
                </a:extLst>
              </a:tr>
              <a:tr h="1221631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06306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2877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9AA036-1E5A-4633-842C-F718DDAEB6DB}"/>
              </a:ext>
            </a:extLst>
          </p:cNvPr>
          <p:cNvSpPr txBox="1"/>
          <p:nvPr/>
        </p:nvSpPr>
        <p:spPr>
          <a:xfrm>
            <a:off x="2079057" y="914400"/>
            <a:ext cx="856648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Text book – page 128 – 129</a:t>
            </a:r>
          </a:p>
          <a:p>
            <a:endParaRPr lang="en-AU" sz="2800" dirty="0"/>
          </a:p>
          <a:p>
            <a:r>
              <a:rPr lang="en-AU" sz="2800" dirty="0"/>
              <a:t>Complete questions 3 and 4</a:t>
            </a:r>
          </a:p>
        </p:txBody>
      </p:sp>
    </p:spTree>
    <p:extLst>
      <p:ext uri="{BB962C8B-B14F-4D97-AF65-F5344CB8AC3E}">
        <p14:creationId xmlns:p14="http://schemas.microsoft.com/office/powerpoint/2010/main" val="73474991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736059"/>
      </a:dk2>
      <a:lt2>
        <a:srgbClr val="E7E0C7"/>
      </a:lt2>
      <a:accent1>
        <a:srgbClr val="92B0C8"/>
      </a:accent1>
      <a:accent2>
        <a:srgbClr val="E37C3D"/>
      </a:accent2>
      <a:accent3>
        <a:srgbClr val="A5AB81"/>
      </a:accent3>
      <a:accent4>
        <a:srgbClr val="E9B635"/>
      </a:accent4>
      <a:accent5>
        <a:srgbClr val="7BA79D"/>
      </a:accent5>
      <a:accent6>
        <a:srgbClr val="968C8C"/>
      </a:accent6>
      <a:hlink>
        <a:srgbClr val="F7A115"/>
      </a:hlink>
      <a:folHlink>
        <a:srgbClr val="969696"/>
      </a:folHlink>
    </a:clrScheme>
    <a:fontScheme name="Savon">
      <a:majorFont>
        <a:latin typeface="Garamond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3F20CFC1-E34F-405B-AA49-5BE0E194F1B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42</TotalTime>
  <Words>299</Words>
  <Application>Microsoft Office PowerPoint</Application>
  <PresentationFormat>Widescreen</PresentationFormat>
  <Paragraphs>73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Cambria Math</vt:lpstr>
      <vt:lpstr>Garamond</vt:lpstr>
      <vt:lpstr>Kiwi School Handwriting</vt:lpstr>
      <vt:lpstr>Savon</vt:lpstr>
      <vt:lpstr>EXPERIMENTAL PROBABILITY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EXPERIMENTAL PROBABILITY </dc:title>
  <dc:creator>D'SOUZA Jillian [Baldivis Secondary College]</dc:creator>
  <cp:lastModifiedBy>Jillian D'SOUZA</cp:lastModifiedBy>
  <cp:revision>11</cp:revision>
  <dcterms:created xsi:type="dcterms:W3CDTF">2018-07-31T04:54:10Z</dcterms:created>
  <dcterms:modified xsi:type="dcterms:W3CDTF">2018-07-31T14:31:32Z</dcterms:modified>
</cp:coreProperties>
</file>
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89" r:id="rId2"/>
    <p:sldId id="306" r:id="rId3"/>
    <p:sldId id="317" r:id="rId4"/>
    <p:sldId id="318" r:id="rId5"/>
    <p:sldId id="257" r:id="rId6"/>
    <p:sldId id="319" r:id="rId7"/>
    <p:sldId id="321" r:id="rId8"/>
    <p:sldId id="290" r:id="rId9"/>
    <p:sldId id="267" r:id="rId10"/>
    <p:sldId id="307" r:id="rId11"/>
    <p:sldId id="309" r:id="rId12"/>
    <p:sldId id="310" r:id="rId13"/>
    <p:sldId id="311" r:id="rId14"/>
    <p:sldId id="312" r:id="rId15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1EA4256-36EA-4BD8-8BF1-F6C58A3FE9CC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4C57590-DA5C-4AF8-A7C0-DC8A02D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166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6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163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8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408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6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9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2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1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4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3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5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0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50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9126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19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3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2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7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70FF1-38DD-4865-8030-05F1F44AB006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21D3C-5095-430A-A9EB-DD5506DA6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8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KTjh-6PFj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two-way tables?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Use 2-way tables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dirty="0"/>
              <a:t>Use 2-way tables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B grade and above: </a:t>
            </a:r>
            <a:r>
              <a:rPr lang="en-AU" dirty="0"/>
              <a:t>you will be able to construct and use 2-way tables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66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68869" y="151479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two-way tables?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074823" y="1320485"/>
            <a:ext cx="9570330" cy="5355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000" dirty="0">
                <a:ea typeface="Cambria Math" panose="02040503050406030204" pitchFamily="18" charset="0"/>
              </a:rPr>
              <a:t>A two – way table is one way to display the outcome of a 2 step experiment. We use the results to calculate probability. </a:t>
            </a:r>
            <a:br>
              <a:rPr lang="en-AU" sz="2000" dirty="0">
                <a:ea typeface="Cambria Math" panose="02040503050406030204" pitchFamily="18" charset="0"/>
              </a:rPr>
            </a:br>
            <a:endParaRPr lang="en-AU" sz="2000" dirty="0">
              <a:ea typeface="Cambria Math" panose="02040503050406030204" pitchFamily="18" charset="0"/>
            </a:endParaRPr>
          </a:p>
          <a:p>
            <a:r>
              <a:rPr lang="en-US" sz="2000" dirty="0">
                <a:cs typeface="Calibri" panose="020F0502020204030204" pitchFamily="34" charset="0"/>
              </a:rPr>
              <a:t>When an experiment involves 2 or more components, such as flipping a coin twice, we are dealing with </a:t>
            </a:r>
            <a:r>
              <a:rPr lang="en-US" sz="2000" b="1" dirty="0">
                <a:cs typeface="Calibri" panose="020F0502020204030204" pitchFamily="34" charset="0"/>
              </a:rPr>
              <a:t>combined events.</a:t>
            </a:r>
          </a:p>
          <a:p>
            <a:endParaRPr lang="en-US" sz="2000" dirty="0">
              <a:cs typeface="Calibri" panose="020F0502020204030204" pitchFamily="34" charset="0"/>
            </a:endParaRPr>
          </a:p>
          <a:p>
            <a:r>
              <a:rPr lang="en-US" sz="2000" dirty="0">
                <a:cs typeface="Calibri" panose="020F0502020204030204" pitchFamily="34" charset="0"/>
              </a:rPr>
              <a:t>The outcome for such an event depends on whether or not they are conducted with or without replacement.</a:t>
            </a:r>
          </a:p>
          <a:p>
            <a:endParaRPr lang="en-US" sz="2000" dirty="0">
              <a:cs typeface="Calibri" panose="020F0502020204030204" pitchFamily="34" charset="0"/>
            </a:endParaRPr>
          </a:p>
          <a:p>
            <a:r>
              <a:rPr lang="en-US" sz="2000" dirty="0">
                <a:cs typeface="Calibri" panose="020F0502020204030204" pitchFamily="34" charset="0"/>
              </a:rPr>
              <a:t>What this means: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If replacement is allowed, then the outcomes from each selection can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If selections are made without replacement, then the outcomes from each selection cannot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It makes a big difference whether selections are replaced or not.</a:t>
            </a:r>
            <a:endParaRPr lang="en-AU" sz="2000" dirty="0">
              <a:ea typeface="Cambria Math" panose="02040503050406030204" pitchFamily="18" charset="0"/>
            </a:endParaRPr>
          </a:p>
          <a:p>
            <a:pPr algn="ctr"/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27BCF-C61B-4D22-A8FB-C8A81198671A}"/>
              </a:ext>
            </a:extLst>
          </p:cNvPr>
          <p:cNvSpPr txBox="1"/>
          <p:nvPr/>
        </p:nvSpPr>
        <p:spPr>
          <a:xfrm>
            <a:off x="36532" y="147428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4359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044F-E538-4BC0-9101-E1D8CA8B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Probability with and without Replacement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D686-5E19-4D57-BC11-2CE10289B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hlinkClick r:id="rId2"/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https://www.youtube.com/watch?v=uKTjh-6PFjo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028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54" y="830680"/>
            <a:ext cx="8764840" cy="9210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Example 1:With Replacement</a:t>
            </a:r>
            <a:endParaRPr lang="en-AU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3258"/>
            <a:ext cx="10820400" cy="4395427"/>
          </a:xfrm>
        </p:spPr>
        <p:txBody>
          <a:bodyPr/>
          <a:lstStyle/>
          <a:p>
            <a:r>
              <a:rPr lang="en-US" dirty="0"/>
              <a:t>You have 3 sets of cards labelled: 1, 2 and 3. Two selections are made each time. </a:t>
            </a:r>
          </a:p>
          <a:p>
            <a:r>
              <a:rPr lang="en-US" dirty="0"/>
              <a:t>Here is a two-way table showing the outcomes when the card is replaced each time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B3342-F663-4931-90BB-24F2B32E9D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313"/>
          <a:stretch/>
        </p:blipFill>
        <p:spPr>
          <a:xfrm>
            <a:off x="2978911" y="3221966"/>
            <a:ext cx="5647504" cy="33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54" y="830680"/>
            <a:ext cx="8764840" cy="9210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Example 2: Without replacement</a:t>
            </a:r>
            <a:endParaRPr lang="en-AU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3258"/>
            <a:ext cx="10820400" cy="4395427"/>
          </a:xfrm>
        </p:spPr>
        <p:txBody>
          <a:bodyPr/>
          <a:lstStyle/>
          <a:p>
            <a:r>
              <a:rPr lang="en-US" dirty="0"/>
              <a:t>You have 3 sets of cards labelled: 1, 2 and 3. Two selections are made each time. </a:t>
            </a:r>
          </a:p>
          <a:p>
            <a:r>
              <a:rPr lang="en-US" dirty="0"/>
              <a:t>Here are two-way tables showing the outcomes when the first card chosen is not replaced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B3342-F663-4931-90BB-24F2B32E9D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61"/>
          <a:stretch/>
        </p:blipFill>
        <p:spPr>
          <a:xfrm>
            <a:off x="3169989" y="3032184"/>
            <a:ext cx="5467928" cy="368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5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057639" y="530372"/>
            <a:ext cx="1056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Completing Data in Two-Way Tables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16BB19-ECC8-47BA-BE7A-7B1C2C371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25" y="1222658"/>
            <a:ext cx="11143568" cy="512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1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6CB1C7-B3B1-430C-B66D-8C4DF02FAB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604"/>
          <a:stretch/>
        </p:blipFill>
        <p:spPr>
          <a:xfrm>
            <a:off x="115245" y="1515392"/>
            <a:ext cx="11961510" cy="3223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893555" y="528645"/>
            <a:ext cx="10745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Using two-way tables to calculate probabilities in situations that involve replacement and no replacement</a:t>
            </a:r>
          </a:p>
        </p:txBody>
      </p:sp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522" y="1175925"/>
            <a:ext cx="10823810" cy="474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057639" y="530372"/>
            <a:ext cx="1056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Using two-way tables to calculate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13411B25-5542-4BE1-BE7C-32494F55C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176" y="348651"/>
            <a:ext cx="11859647" cy="2549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 3: Constructing a table with replacement 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B-Grade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CBDBD-B913-4BCE-A0B7-32BAAB83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36" y="1175009"/>
            <a:ext cx="7936434" cy="1662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A0AED2-2C09-4328-AA18-F864977C7B5C}"/>
              </a:ext>
            </a:extLst>
          </p:cNvPr>
          <p:cNvSpPr txBox="1"/>
          <p:nvPr/>
        </p:nvSpPr>
        <p:spPr>
          <a:xfrm>
            <a:off x="8191642" y="1175009"/>
            <a:ext cx="1847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Not: </a:t>
            </a:r>
            <a:r>
              <a:rPr lang="en-US" sz="1600" dirty="0" err="1"/>
              <a:t>Pr</a:t>
            </a:r>
            <a:r>
              <a:rPr lang="en-US" sz="1600" dirty="0"/>
              <a:t> in this case is the same as P. Both are shorthand for “probability”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8E56AE-7ED8-4AA7-878F-04CA78247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190" y="2252227"/>
            <a:ext cx="4754418" cy="41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Constructing two-way tables to calculate probabilities in situations that involves replacement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F5B00-C2F5-4D1D-A1ED-461E21C0B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4" y="2026938"/>
            <a:ext cx="5078632" cy="3037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CB95A-2C51-4829-8E8B-79D1F72691D7}"/>
              </a:ext>
            </a:extLst>
          </p:cNvPr>
          <p:cNvSpPr txBox="1"/>
          <p:nvPr/>
        </p:nvSpPr>
        <p:spPr>
          <a:xfrm>
            <a:off x="535458" y="166584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1.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6DB09B-C979-40E3-8654-5729420FC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785" y="1871140"/>
            <a:ext cx="6433215" cy="1839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98B6E4-5D2E-48FB-99BF-96C718D76AA2}"/>
              </a:ext>
            </a:extLst>
          </p:cNvPr>
          <p:cNvSpPr txBox="1"/>
          <p:nvPr/>
        </p:nvSpPr>
        <p:spPr>
          <a:xfrm>
            <a:off x="6082132" y="166584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1808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Example 3: Constructing a table without replacement 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B-Grade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0AED2-2C09-4328-AA18-F864977C7B5C}"/>
              </a:ext>
            </a:extLst>
          </p:cNvPr>
          <p:cNvSpPr txBox="1"/>
          <p:nvPr/>
        </p:nvSpPr>
        <p:spPr>
          <a:xfrm>
            <a:off x="8780087" y="843822"/>
            <a:ext cx="1847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Not: </a:t>
            </a:r>
            <a:r>
              <a:rPr lang="en-US" sz="1600" dirty="0" err="1"/>
              <a:t>Pr</a:t>
            </a:r>
            <a:r>
              <a:rPr lang="en-US" sz="1600" dirty="0"/>
              <a:t> in this case is the same as P. Both are shorthand for “probability”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8D982B-86D7-4726-93D8-DF4CA8ED99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8458"/>
          <a:stretch/>
        </p:blipFill>
        <p:spPr>
          <a:xfrm>
            <a:off x="223691" y="1117571"/>
            <a:ext cx="7999607" cy="160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015999" y="804368"/>
            <a:ext cx="1088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Constructing two-way tables to calculate probabilities in situations that involves no replacement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CB95A-2C51-4829-8E8B-79D1F72691D7}"/>
              </a:ext>
            </a:extLst>
          </p:cNvPr>
          <p:cNvSpPr txBox="1"/>
          <p:nvPr/>
        </p:nvSpPr>
        <p:spPr>
          <a:xfrm>
            <a:off x="1176481" y="1526081"/>
            <a:ext cx="400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8B6E4-5D2E-48FB-99BF-96C718D76AA2}"/>
              </a:ext>
            </a:extLst>
          </p:cNvPr>
          <p:cNvSpPr txBox="1"/>
          <p:nvPr/>
        </p:nvSpPr>
        <p:spPr>
          <a:xfrm>
            <a:off x="1106866" y="4101006"/>
            <a:ext cx="388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8CF05-1C83-48D6-B941-3FD4D1FA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69" y="1211218"/>
            <a:ext cx="9203489" cy="248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2E84F-B4A6-45CF-BEA5-64695E107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07" y="3737936"/>
            <a:ext cx="8766550" cy="27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165</TotalTime>
  <Words>380</Words>
  <Application>Microsoft Office PowerPoint</Application>
  <PresentationFormat>Widescreen</PresentationFormat>
  <Paragraphs>64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Probability</vt:lpstr>
      <vt:lpstr>Lesson objective</vt:lpstr>
      <vt:lpstr>PowerPoint Presentation</vt:lpstr>
      <vt:lpstr>Probability with and without Replacement</vt:lpstr>
      <vt:lpstr>Example 1:With Replacement</vt:lpstr>
      <vt:lpstr>Example 2: Without replacement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turn: Complete this in your Interactive notebook</vt:lpstr>
      <vt:lpstr>PowerPoint Presentation</vt:lpstr>
      <vt:lpstr>Your turn: Complete this in your Interactive 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D'SOUZA Jillian [Baldivis Secondary College]</cp:lastModifiedBy>
  <cp:revision>16</cp:revision>
  <cp:lastPrinted>2018-06-08T01:36:42Z</cp:lastPrinted>
  <dcterms:created xsi:type="dcterms:W3CDTF">2018-06-02T08:22:36Z</dcterms:created>
  <dcterms:modified xsi:type="dcterms:W3CDTF">2018-08-06T02:45:18Z</dcterms:modified>
</cp:coreProperties>
</file>
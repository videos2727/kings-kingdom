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tiff" ContentType="image/tiff"/>
  <Default Extension="rels" ContentType="application/vnd.openxmlformats-package.relationships+xml"/>
  <Default Extension="bin" ContentType="audio/unknown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6"/>
  </p:notesMasterIdLst>
  <p:sldIdLst>
    <p:sldId id="295" r:id="rId2"/>
    <p:sldId id="296" r:id="rId3"/>
    <p:sldId id="282" r:id="rId4"/>
    <p:sldId id="256" r:id="rId5"/>
    <p:sldId id="292" r:id="rId6"/>
    <p:sldId id="286" r:id="rId7"/>
    <p:sldId id="287" r:id="rId8"/>
    <p:sldId id="289" r:id="rId9"/>
    <p:sldId id="290" r:id="rId10"/>
    <p:sldId id="294" r:id="rId11"/>
    <p:sldId id="277" r:id="rId12"/>
    <p:sldId id="278" r:id="rId13"/>
    <p:sldId id="261" r:id="rId14"/>
    <p:sldId id="291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0"/>
    <p:restoredTop sz="94674"/>
  </p:normalViewPr>
  <p:slideViewPr>
    <p:cSldViewPr>
      <p:cViewPr varScale="1">
        <p:scale>
          <a:sx n="98" d="100"/>
          <a:sy n="98" d="100"/>
        </p:scale>
        <p:origin x="42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A34B5-1EA9-4A8C-A2CE-2492229555B8}" type="datetimeFigureOut">
              <a:rPr lang="en-AU" smtClean="0"/>
              <a:t>31/1/18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49DD-92C5-4D60-A9F9-F4A4F99CC8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7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643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example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363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Can be used for more guided practice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945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067EA60-7754-40F1-B21D-667D466A6CEB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10DDD9D-198C-4961-A126-0606D866C5F6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B506F-61F7-4E6A-AFED-3FDD78AB6D9F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4D51D-F453-4BB3-BEC9-669EFF8F9AA9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40CABCC-A959-4430-AF69-A54F277CD7B2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C4CF1BF-C3A2-4BCC-A34D-52BA756CE4E2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E5349-9E49-4D9E-A454-CB64F03658B4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F3449-6B72-4A08-8DB9-4348085964C2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04DD9-048A-4507-88AD-898F1165FA68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36AB-0D89-4382-BFE9-6099808E424F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6FD1-D260-4EDC-AB8E-6B9CFFC69074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CB986-EF9B-43FE-8909-341F2DC27E04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E49E3-181C-455D-9E55-342350B067C9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38F83-9ACF-4ABA-A3EE-3C9A6E06F4C8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FAE9D918-7C5C-43D5-BFEC-429EE676E9FB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0AFA853C-1ADD-4AE1-BC0E-3A35F7DBBDCF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A709FD0E-FCA6-4A02-8EBD-52B264D6F3D0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D8269B8D-4B74-4888-825B-7888E0310781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48E-7B21-4FF8-BFBC-94667804ED47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2CA7-9B9B-4127-A902-3B2E89DD7E71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69A1E-05CF-45DB-8066-7F6D9F245FD4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8DE1-82D8-4C90-804A-20F32DDBD861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23ABA6D-7F81-40F1-A085-5A0847307188}" type="datetimeFigureOut">
              <a:rPr lang="en-GB" altLang="en-US" smtClean="0"/>
              <a:pPr/>
              <a:t>31/01/2018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B92E21D-4C63-495F-BA9C-BE15CABAFAC7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0759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0" pos="594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4" Type="http://schemas.openxmlformats.org/officeDocument/2006/relationships/image" Target="../media/image5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CAkMUdeB06o" TargetMode="External"/><Relationship Id="rId3" Type="http://schemas.openxmlformats.org/officeDocument/2006/relationships/hyperlink" Target="https://www.youtube.com/watch?v=uaj0XcLtN5c&amp;t=1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4" Type="http://schemas.openxmlformats.org/officeDocument/2006/relationships/image" Target="../media/image6.png"/><Relationship Id="rId5" Type="http://schemas.openxmlformats.org/officeDocument/2006/relationships/image" Target="../media/image7.wmf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>
              <a:buNone/>
            </a:pPr>
            <a:r>
              <a:rPr lang="en-US" dirty="0" err="1"/>
              <a:t>Pythagous</a:t>
            </a:r>
            <a:r>
              <a:rPr lang="en-US" dirty="0"/>
              <a:t> </a:t>
            </a:r>
            <a:r>
              <a:rPr lang="en-US" dirty="0" err="1"/>
              <a:t>Theorum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Chapter 17</a:t>
            </a:r>
          </a:p>
          <a:p>
            <a:pPr marL="0" indent="0" algn="ctr">
              <a:buNone/>
            </a:pPr>
            <a:r>
              <a:rPr lang="en-US" dirty="0"/>
              <a:t>Year 12 Essentials Mathematics</a:t>
            </a:r>
          </a:p>
        </p:txBody>
      </p:sp>
    </p:spTree>
    <p:extLst>
      <p:ext uri="{BB962C8B-B14F-4D97-AF65-F5344CB8AC3E}">
        <p14:creationId xmlns:p14="http://schemas.microsoft.com/office/powerpoint/2010/main" val="193849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x-none" u="sng">
                <a:solidFill>
                  <a:schemeClr val="bg1"/>
                </a:solidFill>
                <a:latin typeface="Arial" charset="0"/>
                <a:ea typeface="ＭＳ Ｐゴシック" charset="-128"/>
              </a:rPr>
              <a:t>Pythagoras</a:t>
            </a:r>
            <a:r>
              <a:rPr lang="en-GB" altLang="en-US" u="sng">
                <a:solidFill>
                  <a:schemeClr val="bg1"/>
                </a:solidFill>
                <a:latin typeface="Arial" charset="0"/>
                <a:ea typeface="ＭＳ Ｐゴシック" charset="-128"/>
              </a:rPr>
              <a:t>’</a:t>
            </a:r>
            <a:r>
              <a:rPr lang="en-GB" altLang="x-none" u="sng">
                <a:solidFill>
                  <a:schemeClr val="bg1"/>
                </a:solidFill>
                <a:latin typeface="Arial" charset="0"/>
                <a:ea typeface="ＭＳ Ｐゴシック" charset="-128"/>
              </a:rPr>
              <a:t> Theorem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GB" altLang="x-none">
                <a:solidFill>
                  <a:schemeClr val="bg1"/>
                </a:solidFill>
                <a:latin typeface="Arial" charset="0"/>
                <a:ea typeface="ＭＳ Ｐゴシック" charset="-128"/>
              </a:rPr>
              <a:t>Learning Objectives:</a:t>
            </a:r>
          </a:p>
          <a:p>
            <a:pPr eaLnBrk="1" hangingPunct="1">
              <a:buFont typeface="Arial" charset="0"/>
              <a:buNone/>
            </a:pPr>
            <a:endParaRPr lang="en-GB" altLang="x-none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>
              <a:buFont typeface="Arial" charset="0"/>
              <a:buNone/>
            </a:pPr>
            <a:r>
              <a:rPr lang="en-GB" altLang="x-none">
                <a:solidFill>
                  <a:schemeClr val="bg1"/>
                </a:solidFill>
                <a:latin typeface="Arial" charset="0"/>
                <a:ea typeface="ＭＳ Ｐゴシック" charset="-128"/>
              </a:rPr>
              <a:t>	Be able to label a right angled triangle</a:t>
            </a:r>
          </a:p>
          <a:p>
            <a:pPr eaLnBrk="1" hangingPunct="1">
              <a:buFont typeface="Arial" charset="0"/>
              <a:buNone/>
            </a:pPr>
            <a:r>
              <a:rPr lang="en-GB" altLang="x-none">
                <a:solidFill>
                  <a:schemeClr val="bg1"/>
                </a:solidFill>
                <a:latin typeface="Arial" charset="0"/>
                <a:ea typeface="ＭＳ Ｐゴシック" charset="-128"/>
              </a:rPr>
              <a:t>	Be able to use Pythagoras to find the</a:t>
            </a:r>
          </a:p>
          <a:p>
            <a:pPr eaLnBrk="1" hangingPunct="1">
              <a:buFont typeface="Arial" charset="0"/>
              <a:buNone/>
            </a:pPr>
            <a:r>
              <a:rPr lang="en-GB" altLang="x-none">
                <a:solidFill>
                  <a:schemeClr val="bg1"/>
                </a:solidFill>
                <a:latin typeface="Arial" charset="0"/>
                <a:ea typeface="ＭＳ Ｐゴシック" charset="-128"/>
              </a:rPr>
              <a:t>	hypotenuse</a:t>
            </a:r>
          </a:p>
          <a:p>
            <a:pPr eaLnBrk="1" hangingPunct="1">
              <a:buFont typeface="Arial" charset="0"/>
              <a:buNone/>
            </a:pPr>
            <a:r>
              <a:rPr lang="en-GB" altLang="x-none">
                <a:solidFill>
                  <a:schemeClr val="bg1"/>
                </a:solidFill>
                <a:latin typeface="Arial" charset="0"/>
                <a:ea typeface="ＭＳ Ｐゴシック" charset="-128"/>
              </a:rPr>
              <a:t>	Able to apply to worded problems</a:t>
            </a:r>
          </a:p>
          <a:p>
            <a:pPr eaLnBrk="1" hangingPunct="1">
              <a:buFont typeface="Arial" charset="0"/>
              <a:buNone/>
            </a:pPr>
            <a:r>
              <a:rPr lang="en-GB" altLang="x-none">
                <a:solidFill>
                  <a:schemeClr val="bg1"/>
                </a:solidFill>
                <a:latin typeface="Arial" charset="0"/>
                <a:ea typeface="ＭＳ Ｐゴシック" charset="-128"/>
              </a:rPr>
              <a:t>	</a:t>
            </a:r>
          </a:p>
        </p:txBody>
      </p:sp>
      <p:sp>
        <p:nvSpPr>
          <p:cNvPr id="4" name="Oval 3"/>
          <p:cNvSpPr/>
          <p:nvPr/>
        </p:nvSpPr>
        <p:spPr>
          <a:xfrm>
            <a:off x="323850" y="2852738"/>
            <a:ext cx="431800" cy="431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23850" y="3429000"/>
            <a:ext cx="431800" cy="431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850" y="4652963"/>
            <a:ext cx="431800" cy="431800"/>
          </a:xfrm>
          <a:prstGeom prst="ellipse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343" name="TextBox 7"/>
          <p:cNvSpPr txBox="1">
            <a:spLocks noChangeArrowheads="1"/>
          </p:cNvSpPr>
          <p:nvPr/>
        </p:nvSpPr>
        <p:spPr bwMode="auto">
          <a:xfrm>
            <a:off x="7235825" y="549275"/>
            <a:ext cx="1512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4A2FF3FD-E67A-CA41-A473-16E742480D6C}" type="datetime1">
              <a:rPr lang="en-GB" altLang="x-none" sz="1800" u="sng">
                <a:solidFill>
                  <a:schemeClr val="bg1"/>
                </a:solidFill>
                <a:latin typeface="Arial" charset="0"/>
              </a:rPr>
              <a:pPr algn="r" eaLnBrk="1" hangingPunct="1"/>
              <a:t>31/01/2018</a:t>
            </a:fld>
            <a:endParaRPr lang="en-GB" altLang="x-none" sz="1800" u="sng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9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pPr eaLnBrk="1" hangingPunct="1"/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1385391" y="5733256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1727200" y="6021388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817688" y="3429000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650" y="4508500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44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44675" y="3429000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465388" y="2997200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1380812" y="2992619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30416" y="371511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967764" y="1412776"/>
                <a:ext cx="8579296" cy="4525963"/>
              </a:xfrm>
            </p:spPr>
            <p:txBody>
              <a:bodyPr/>
              <a:lstStyle/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 smtClean="0"/>
                  <a:t>Write down a definition of the hypotenuse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12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 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6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 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9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Which number when squared = 121? (</a:t>
                </a:r>
                <a:r>
                  <a:rPr lang="en-GB" altLang="en-US" dirty="0" err="1"/>
                  <a:t>ie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121</m:t>
                        </m:r>
                      </m:e>
                    </m:rad>
                  </m:oMath>
                </a14:m>
                <a:r>
                  <a:rPr lang="en-GB" altLang="en-US" dirty="0"/>
                  <a:t>)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endParaRPr lang="en-GB" altLang="en-US" dirty="0" smtClean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altLang="en-US" b="0" i="1" smtClean="0">
                            <a:latin typeface="Cambria Math" charset="0"/>
                          </a:rPr>
                          <m:t>2500</m:t>
                        </m:r>
                      </m:e>
                    </m:rad>
                  </m:oMath>
                </a14:m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</p:txBody>
          </p:sp>
        </mc:Choice>
        <mc:Fallback xmlns="">
          <p:sp>
            <p:nvSpPr>
              <p:cNvPr id="13314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7764" y="1412776"/>
                <a:ext cx="8579296" cy="4525963"/>
              </a:xfrm>
              <a:blipFill rotWithShape="0">
                <a:blip r:embed="rId2"/>
                <a:stretch>
                  <a:fillRect l="-7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Pythagorus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263614"/>
            <a:ext cx="7633742" cy="3593591"/>
          </a:xfrm>
        </p:spPr>
        <p:txBody>
          <a:bodyPr/>
          <a:lstStyle/>
          <a:p>
            <a:r>
              <a:rPr lang="en-US" dirty="0" smtClean="0"/>
              <a:t>Read through Discussion </a:t>
            </a:r>
            <a:r>
              <a:rPr lang="en-US" dirty="0" err="1" smtClean="0"/>
              <a:t>Pg</a:t>
            </a:r>
            <a:r>
              <a:rPr lang="en-US" dirty="0" smtClean="0"/>
              <a:t> 62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5" y="2244739"/>
            <a:ext cx="2913112" cy="16313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505" y="2244739"/>
            <a:ext cx="3272490" cy="16362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550" y="3645024"/>
            <a:ext cx="26543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8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1295673" y="341579"/>
            <a:ext cx="7633742" cy="1492132"/>
          </a:xfrm>
        </p:spPr>
        <p:txBody>
          <a:bodyPr/>
          <a:lstStyle/>
          <a:p>
            <a:pPr eaLnBrk="1" hangingPunct="1"/>
            <a:r>
              <a:rPr lang="en-GB" altLang="x-none">
                <a:ea typeface="ＭＳ Ｐゴシック" charset="-128"/>
              </a:rPr>
              <a:t>Pythagoras</a:t>
            </a:r>
            <a:r>
              <a:rPr lang="en-GB" altLang="en-US">
                <a:ea typeface="ＭＳ Ｐゴシック" charset="-128"/>
              </a:rPr>
              <a:t>’</a:t>
            </a:r>
            <a:r>
              <a:rPr lang="en-GB" altLang="x-none">
                <a:ea typeface="ＭＳ Ｐゴシック" charset="-128"/>
              </a:rPr>
              <a:t> Theorem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827088" y="1628775"/>
            <a:ext cx="1657350" cy="165576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539750" y="260350"/>
            <a:ext cx="647700" cy="6477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476375" y="3213100"/>
            <a:ext cx="719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a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750" y="234950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b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619250" y="2205038"/>
            <a:ext cx="649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c</a:t>
            </a:r>
          </a:p>
        </p:txBody>
      </p:sp>
      <p:sp>
        <p:nvSpPr>
          <p:cNvPr id="9" name="Right Triangle 8"/>
          <p:cNvSpPr/>
          <p:nvPr/>
        </p:nvSpPr>
        <p:spPr>
          <a:xfrm rot="16200000">
            <a:off x="3599656" y="1880394"/>
            <a:ext cx="1800225" cy="86518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356100" y="3141663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a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932363" y="2133600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b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211638" y="2060575"/>
            <a:ext cx="360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c</a:t>
            </a:r>
          </a:p>
        </p:txBody>
      </p:sp>
      <p:sp>
        <p:nvSpPr>
          <p:cNvPr id="13" name="Right Triangle 12"/>
          <p:cNvSpPr/>
          <p:nvPr/>
        </p:nvSpPr>
        <p:spPr>
          <a:xfrm rot="2510793">
            <a:off x="6691313" y="2163763"/>
            <a:ext cx="2016125" cy="10795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732588" y="1700213"/>
            <a:ext cx="43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c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667625" y="2339975"/>
            <a:ext cx="43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a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875463" y="2924175"/>
            <a:ext cx="433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b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557338" y="1916113"/>
            <a:ext cx="158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hypotenuse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559675" y="2276475"/>
            <a:ext cx="158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hypotenuse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276600" y="1844675"/>
            <a:ext cx="158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hypotenuse</a:t>
            </a:r>
          </a:p>
        </p:txBody>
      </p:sp>
      <p:sp>
        <p:nvSpPr>
          <p:cNvPr id="16402" name="TextBox 19"/>
          <p:cNvSpPr txBox="1">
            <a:spLocks noChangeArrowheads="1"/>
          </p:cNvSpPr>
          <p:nvPr/>
        </p:nvSpPr>
        <p:spPr bwMode="auto">
          <a:xfrm>
            <a:off x="684213" y="4005263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3200"/>
              <a:t>Which of these sides is the hypotenuse?</a:t>
            </a:r>
          </a:p>
        </p:txBody>
      </p:sp>
    </p:spTree>
    <p:extLst>
      <p:ext uri="{BB962C8B-B14F-4D97-AF65-F5344CB8AC3E}">
        <p14:creationId xmlns:p14="http://schemas.microsoft.com/office/powerpoint/2010/main" val="168477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8" grpId="1"/>
      <p:bldP spid="9" grpId="0" animBg="1"/>
      <p:bldP spid="10" grpId="0"/>
      <p:bldP spid="11" grpId="0"/>
      <p:bldP spid="12" grpId="0"/>
      <p:bldP spid="12" grpId="1"/>
      <p:bldP spid="13" grpId="0" animBg="1"/>
      <p:bldP spid="14" grpId="0"/>
      <p:bldP spid="15" grpId="0"/>
      <p:bldP spid="15" grpId="1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x-none">
                <a:ea typeface="ＭＳ Ｐゴシック" charset="-128"/>
              </a:rPr>
              <a:t>Pythagoras</a:t>
            </a:r>
            <a:r>
              <a:rPr lang="en-GB" altLang="en-US">
                <a:ea typeface="ＭＳ Ｐゴシック" charset="-128"/>
              </a:rPr>
              <a:t>’</a:t>
            </a:r>
            <a:r>
              <a:rPr lang="en-GB" altLang="x-none">
                <a:ea typeface="ＭＳ Ｐゴシック" charset="-128"/>
              </a:rPr>
              <a:t>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65" y="1556792"/>
            <a:ext cx="7633742" cy="3593591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GB" altLang="x-none" dirty="0">
                <a:ea typeface="ＭＳ Ｐゴシック" charset="-128"/>
              </a:rPr>
              <a:t>KEY WORD:</a:t>
            </a:r>
          </a:p>
          <a:p>
            <a:pPr eaLnBrk="1" hangingPunct="1">
              <a:buFont typeface="Arial" charset="0"/>
              <a:buNone/>
            </a:pPr>
            <a:endParaRPr lang="en-GB" altLang="x-none" dirty="0">
              <a:ea typeface="ＭＳ Ｐゴシック" charset="-128"/>
            </a:endParaRPr>
          </a:p>
          <a:p>
            <a:pPr eaLnBrk="1" hangingPunct="1">
              <a:buFont typeface="Arial" charset="0"/>
              <a:buNone/>
            </a:pPr>
            <a:r>
              <a:rPr lang="en-GB" altLang="x-none" b="1" u="sng" dirty="0">
                <a:ea typeface="ＭＳ Ｐゴシック" charset="-128"/>
              </a:rPr>
              <a:t>Hypotenuse: </a:t>
            </a:r>
            <a:r>
              <a:rPr lang="en-GB" altLang="x-none" dirty="0">
                <a:ea typeface="ＭＳ Ｐゴシック" charset="-128"/>
              </a:rPr>
              <a:t>The longest side on a right angled triangle</a:t>
            </a:r>
          </a:p>
          <a:p>
            <a:pPr eaLnBrk="1" hangingPunct="1">
              <a:buFont typeface="Arial" charset="0"/>
              <a:buNone/>
            </a:pPr>
            <a:endParaRPr lang="en-GB" altLang="x-none" dirty="0">
              <a:ea typeface="ＭＳ Ｐゴシック" charset="-128"/>
            </a:endParaRPr>
          </a:p>
          <a:p>
            <a:pPr eaLnBrk="1" hangingPunct="1"/>
            <a:r>
              <a:rPr lang="en-GB" altLang="x-none" dirty="0">
                <a:ea typeface="ＭＳ Ｐゴシック" charset="-128"/>
              </a:rPr>
              <a:t>Found opposite the right angle.</a:t>
            </a:r>
          </a:p>
        </p:txBody>
      </p:sp>
    </p:spTree>
    <p:extLst>
      <p:ext uri="{BB962C8B-B14F-4D97-AF65-F5344CB8AC3E}">
        <p14:creationId xmlns:p14="http://schemas.microsoft.com/office/powerpoint/2010/main" val="151629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x-none">
                <a:ea typeface="ＭＳ Ｐゴシック" charset="-128"/>
              </a:rPr>
              <a:t>Pythagoras</a:t>
            </a:r>
            <a:r>
              <a:rPr lang="en-GB" altLang="en-US">
                <a:ea typeface="ＭＳ Ｐゴシック" charset="-128"/>
              </a:rPr>
              <a:t>’</a:t>
            </a:r>
            <a:r>
              <a:rPr lang="en-GB" altLang="x-none">
                <a:ea typeface="ＭＳ Ｐゴシック" charset="-128"/>
              </a:rPr>
              <a:t>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endParaRPr lang="en-GB" dirty="0">
              <a:cs typeface="+mn-cs"/>
            </a:endParaRPr>
          </a:p>
          <a:p>
            <a:pPr eaLnBrk="1" hangingPunct="1">
              <a:defRPr/>
            </a:pPr>
            <a:r>
              <a:rPr lang="en-GB" dirty="0" smtClean="0">
                <a:cs typeface="+mn-cs"/>
                <a:hlinkClick r:id="rId2"/>
              </a:rPr>
              <a:t>https://www.youtube.com/watch?v=CAkMUdeB06o</a:t>
            </a:r>
            <a:endParaRPr lang="en-GB" dirty="0">
              <a:cs typeface="+mn-cs"/>
            </a:endParaRPr>
          </a:p>
          <a:p>
            <a:pPr eaLnBrk="1" hangingPunct="1">
              <a:defRPr/>
            </a:pPr>
            <a:r>
              <a:rPr lang="en-GB" dirty="0" smtClean="0">
                <a:cs typeface="+mn-cs"/>
                <a:hlinkClick r:id="rId3"/>
              </a:rPr>
              <a:t>https://www.youtube.com/watch?v=uaj0XcLtN5c&amp;t=1s</a:t>
            </a:r>
            <a:endParaRPr lang="en-GB" dirty="0" smtClean="0">
              <a:cs typeface="+mn-cs"/>
            </a:endParaRPr>
          </a:p>
          <a:p>
            <a:pPr marL="0" indent="0" eaLnBrk="1" hangingPunct="1">
              <a:buFont typeface="Arial" charset="0"/>
              <a:buNone/>
              <a:defRPr/>
            </a:pPr>
            <a:endParaRPr lang="en-GB" dirty="0">
              <a:cs typeface="+mn-cs"/>
            </a:endParaRPr>
          </a:p>
          <a:p>
            <a:pPr eaLnBrk="1" hangingPunct="1">
              <a:defRPr/>
            </a:pPr>
            <a:r>
              <a:rPr lang="en-GB" dirty="0">
                <a:cs typeface="+mn-cs"/>
              </a:rPr>
              <a:t>c</a:t>
            </a:r>
            <a:r>
              <a:rPr lang="en-GB" baseline="30000" dirty="0">
                <a:cs typeface="+mn-cs"/>
              </a:rPr>
              <a:t>2</a:t>
            </a:r>
            <a:r>
              <a:rPr lang="en-GB" dirty="0">
                <a:cs typeface="+mn-cs"/>
              </a:rPr>
              <a:t> = a</a:t>
            </a:r>
            <a:r>
              <a:rPr lang="en-GB" baseline="30000" dirty="0">
                <a:cs typeface="+mn-cs"/>
              </a:rPr>
              <a:t>2</a:t>
            </a:r>
            <a:r>
              <a:rPr lang="en-GB" dirty="0">
                <a:cs typeface="+mn-cs"/>
              </a:rPr>
              <a:t> + b</a:t>
            </a:r>
            <a:r>
              <a:rPr lang="en-GB" baseline="30000" dirty="0"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066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527941" y="837222"/>
            <a:ext cx="2447925" cy="1728788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458" name="TextBox 4"/>
          <p:cNvSpPr txBox="1">
            <a:spLocks noChangeArrowheads="1"/>
          </p:cNvSpPr>
          <p:nvPr/>
        </p:nvSpPr>
        <p:spPr bwMode="auto">
          <a:xfrm>
            <a:off x="2319310" y="2588236"/>
            <a:ext cx="865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 sz="1800"/>
              <a:t>b</a:t>
            </a:r>
          </a:p>
        </p:txBody>
      </p: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950885" y="1538898"/>
            <a:ext cx="865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 sz="1800"/>
              <a:t>c</a:t>
            </a:r>
          </a:p>
        </p:txBody>
      </p:sp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2392335" y="1354748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 sz="1800"/>
              <a:t>a</a:t>
            </a:r>
          </a:p>
        </p:txBody>
      </p:sp>
      <p:sp>
        <p:nvSpPr>
          <p:cNvPr id="8" name="Right Triangle 7"/>
          <p:cNvSpPr/>
          <p:nvPr/>
        </p:nvSpPr>
        <p:spPr>
          <a:xfrm rot="7156401">
            <a:off x="6221413" y="400050"/>
            <a:ext cx="1735138" cy="3284537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6588125" y="2041525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 sz="1800"/>
              <a:t>b</a:t>
            </a:r>
          </a:p>
        </p:txBody>
      </p:sp>
      <p:sp>
        <p:nvSpPr>
          <p:cNvPr id="19463" name="TextBox 9"/>
          <p:cNvSpPr txBox="1">
            <a:spLocks noChangeArrowheads="1"/>
          </p:cNvSpPr>
          <p:nvPr/>
        </p:nvSpPr>
        <p:spPr bwMode="auto">
          <a:xfrm>
            <a:off x="5148263" y="971550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 sz="1800"/>
              <a:t>c</a:t>
            </a:r>
          </a:p>
        </p:txBody>
      </p:sp>
      <p:sp>
        <p:nvSpPr>
          <p:cNvPr id="19464" name="TextBox 10"/>
          <p:cNvSpPr txBox="1">
            <a:spLocks noChangeArrowheads="1"/>
          </p:cNvSpPr>
          <p:nvPr/>
        </p:nvSpPr>
        <p:spPr bwMode="auto">
          <a:xfrm>
            <a:off x="7102475" y="839788"/>
            <a:ext cx="86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 sz="1800"/>
              <a:t>a</a:t>
            </a:r>
          </a:p>
        </p:txBody>
      </p:sp>
      <p:sp>
        <p:nvSpPr>
          <p:cNvPr id="19465" name="TextBox 12"/>
          <p:cNvSpPr txBox="1">
            <a:spLocks noChangeArrowheads="1"/>
          </p:cNvSpPr>
          <p:nvPr/>
        </p:nvSpPr>
        <p:spPr bwMode="auto">
          <a:xfrm>
            <a:off x="2555875" y="115888"/>
            <a:ext cx="2592388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GB" altLang="x-none"/>
              <a:t>Which of the sides in these triangles is the hypotenuse?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2268538" y="3141663"/>
            <a:ext cx="4967287" cy="2879725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467" name="TextBox 14"/>
          <p:cNvSpPr txBox="1">
            <a:spLocks noChangeArrowheads="1"/>
          </p:cNvSpPr>
          <p:nvPr/>
        </p:nvSpPr>
        <p:spPr bwMode="auto">
          <a:xfrm>
            <a:off x="1692275" y="4365625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5cm</a:t>
            </a:r>
          </a:p>
        </p:txBody>
      </p:sp>
      <p:sp>
        <p:nvSpPr>
          <p:cNvPr id="19468" name="TextBox 15"/>
          <p:cNvSpPr txBox="1">
            <a:spLocks noChangeArrowheads="1"/>
          </p:cNvSpPr>
          <p:nvPr/>
        </p:nvSpPr>
        <p:spPr bwMode="auto">
          <a:xfrm>
            <a:off x="4152900" y="6021388"/>
            <a:ext cx="1079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12cm</a:t>
            </a:r>
          </a:p>
        </p:txBody>
      </p:sp>
      <p:sp>
        <p:nvSpPr>
          <p:cNvPr id="19469" name="TextBox 16"/>
          <p:cNvSpPr txBox="1">
            <a:spLocks noChangeArrowheads="1"/>
          </p:cNvSpPr>
          <p:nvPr/>
        </p:nvSpPr>
        <p:spPr bwMode="auto">
          <a:xfrm>
            <a:off x="4478338" y="4140200"/>
            <a:ext cx="10810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1800"/>
              <a:t>c</a:t>
            </a:r>
          </a:p>
        </p:txBody>
      </p:sp>
      <p:sp>
        <p:nvSpPr>
          <p:cNvPr id="19470" name="TextBox 17"/>
          <p:cNvSpPr txBox="1">
            <a:spLocks noChangeArrowheads="1"/>
          </p:cNvSpPr>
          <p:nvPr/>
        </p:nvSpPr>
        <p:spPr bwMode="auto">
          <a:xfrm>
            <a:off x="5580063" y="3602038"/>
            <a:ext cx="30956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GB" altLang="x-none" sz="2800"/>
              <a:t>Calculate the length of c.</a:t>
            </a:r>
          </a:p>
        </p:txBody>
      </p:sp>
      <p:sp>
        <p:nvSpPr>
          <p:cNvPr id="19" name="Oval 18"/>
          <p:cNvSpPr/>
          <p:nvPr/>
        </p:nvSpPr>
        <p:spPr>
          <a:xfrm>
            <a:off x="1025498" y="557823"/>
            <a:ext cx="360362" cy="35877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5557838" y="180975"/>
            <a:ext cx="360362" cy="36036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1547813" y="3141663"/>
            <a:ext cx="360362" cy="3587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8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86522" y="67183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AU" sz="3200" dirty="0" smtClean="0"/>
              <a:t>Topic : Pythagoras</a:t>
            </a:r>
            <a:endParaRPr lang="en-AU" sz="3200" dirty="0"/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1884556" y="1749813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886522" y="1247646"/>
            <a:ext cx="835779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dirty="0"/>
              <a:t>EQ : How do you find the length of the hypotenuse?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159" y="86113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83" y="695653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123728" y="1908470"/>
            <a:ext cx="6563072" cy="3919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c</a:t>
            </a:r>
            <a:r>
              <a:rPr lang="en-GB" baseline="30000" dirty="0">
                <a:solidFill>
                  <a:schemeClr val="tx1"/>
                </a:solidFill>
                <a:ea typeface="+mn-ea"/>
              </a:rPr>
              <a:t>2</a:t>
            </a:r>
            <a:r>
              <a:rPr lang="en-GB" dirty="0">
                <a:solidFill>
                  <a:schemeClr val="tx1"/>
                </a:solidFill>
                <a:ea typeface="+mn-ea"/>
              </a:rPr>
              <a:t> = a</a:t>
            </a:r>
            <a:r>
              <a:rPr lang="en-GB" baseline="30000" dirty="0">
                <a:solidFill>
                  <a:schemeClr val="tx1"/>
                </a:solidFill>
                <a:ea typeface="+mn-ea"/>
              </a:rPr>
              <a:t>2</a:t>
            </a:r>
            <a:r>
              <a:rPr lang="en-GB" dirty="0">
                <a:solidFill>
                  <a:schemeClr val="tx1"/>
                </a:solidFill>
                <a:ea typeface="+mn-ea"/>
              </a:rPr>
              <a:t> + b</a:t>
            </a:r>
            <a:r>
              <a:rPr lang="en-GB" baseline="30000" dirty="0">
                <a:solidFill>
                  <a:schemeClr val="tx1"/>
                </a:solidFill>
                <a:ea typeface="+mn-ea"/>
              </a:rPr>
              <a:t>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  <a:ea typeface="+mn-ea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Square both the non-hypotenuse sides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Add the results together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dirty="0">
                <a:solidFill>
                  <a:schemeClr val="tx1"/>
                </a:solidFill>
                <a:ea typeface="+mn-ea"/>
              </a:rPr>
              <a:t>Square root your answer to find the length of the hypotenuse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184818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738662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49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783674" y="1128451"/>
            <a:ext cx="8229600" cy="500141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Example</a:t>
            </a:r>
          </a:p>
          <a:p>
            <a:pPr eaLnBrk="1" hangingPunct="1"/>
            <a:r>
              <a:rPr lang="en-GB" altLang="en-US" dirty="0"/>
              <a:t>Find the length of the hypotenuse.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900113" y="2708275"/>
            <a:ext cx="5184775" cy="266541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388" name="TextBox 4"/>
          <p:cNvSpPr txBox="1">
            <a:spLocks noChangeArrowheads="1"/>
          </p:cNvSpPr>
          <p:nvPr/>
        </p:nvSpPr>
        <p:spPr bwMode="auto">
          <a:xfrm>
            <a:off x="2987675" y="3429000"/>
            <a:ext cx="1223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16389" name="TextBox 5"/>
          <p:cNvSpPr txBox="1">
            <a:spLocks noChangeArrowheads="1"/>
          </p:cNvSpPr>
          <p:nvPr/>
        </p:nvSpPr>
        <p:spPr bwMode="auto">
          <a:xfrm>
            <a:off x="573881" y="3810000"/>
            <a:ext cx="1081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15cm</a:t>
            </a:r>
          </a:p>
        </p:txBody>
      </p:sp>
      <p:sp>
        <p:nvSpPr>
          <p:cNvPr id="16390" name="TextBox 6"/>
          <p:cNvSpPr txBox="1">
            <a:spLocks noChangeArrowheads="1"/>
          </p:cNvSpPr>
          <p:nvPr/>
        </p:nvSpPr>
        <p:spPr bwMode="auto">
          <a:xfrm>
            <a:off x="2700338" y="5414963"/>
            <a:ext cx="107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23cm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227763" y="2349500"/>
            <a:ext cx="266541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a</a:t>
            </a:r>
            <a:r>
              <a:rPr lang="en-GB" altLang="en-US" baseline="30000"/>
              <a:t>2</a:t>
            </a:r>
            <a:r>
              <a:rPr lang="en-GB" altLang="en-US"/>
              <a:t> + b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15</a:t>
            </a:r>
            <a:r>
              <a:rPr lang="en-GB" altLang="en-US" baseline="30000"/>
              <a:t>2</a:t>
            </a:r>
            <a:r>
              <a:rPr lang="en-GB" altLang="en-US"/>
              <a:t> + 23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225 + 529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754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√754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27.46cm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Find the hypotenuse of the following triangle. Round your answer to 2dp.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900112" y="3624263"/>
            <a:ext cx="3311525" cy="208756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7412" name="TextBox 4"/>
          <p:cNvSpPr txBox="1">
            <a:spLocks noChangeArrowheads="1"/>
          </p:cNvSpPr>
          <p:nvPr/>
        </p:nvSpPr>
        <p:spPr bwMode="auto">
          <a:xfrm>
            <a:off x="4335800" y="4319242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8cm</a:t>
            </a:r>
          </a:p>
        </p:txBody>
      </p:sp>
      <p:sp>
        <p:nvSpPr>
          <p:cNvPr id="17413" name="TextBox 5"/>
          <p:cNvSpPr txBox="1">
            <a:spLocks noChangeArrowheads="1"/>
          </p:cNvSpPr>
          <p:nvPr/>
        </p:nvSpPr>
        <p:spPr bwMode="auto">
          <a:xfrm>
            <a:off x="1979613" y="3141663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11cm</a:t>
            </a:r>
          </a:p>
        </p:txBody>
      </p:sp>
      <p:sp>
        <p:nvSpPr>
          <p:cNvPr id="17414" name="TextBox 6"/>
          <p:cNvSpPr txBox="1">
            <a:spLocks noChangeArrowheads="1"/>
          </p:cNvSpPr>
          <p:nvPr/>
        </p:nvSpPr>
        <p:spPr bwMode="auto">
          <a:xfrm>
            <a:off x="1692275" y="4437063"/>
            <a:ext cx="1150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227763" y="2349500"/>
            <a:ext cx="266541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a</a:t>
            </a:r>
            <a:r>
              <a:rPr lang="en-GB" altLang="en-US" baseline="30000"/>
              <a:t>2</a:t>
            </a:r>
            <a:r>
              <a:rPr lang="en-GB" altLang="en-US"/>
              <a:t> + b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8</a:t>
            </a:r>
            <a:r>
              <a:rPr lang="en-GB" altLang="en-US" baseline="30000"/>
              <a:t>2</a:t>
            </a:r>
            <a:r>
              <a:rPr lang="en-GB" altLang="en-US"/>
              <a:t> + 11</a:t>
            </a:r>
            <a:r>
              <a:rPr lang="en-GB" altLang="en-US" baseline="30000"/>
              <a:t>2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64 + 121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</a:t>
            </a:r>
            <a:r>
              <a:rPr lang="en-GB" altLang="en-US" baseline="30000"/>
              <a:t>2</a:t>
            </a:r>
            <a:r>
              <a:rPr lang="en-GB" altLang="en-US"/>
              <a:t> = 185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√185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 = 13.60cm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Who Wants To Be A Millionaire - Explain the Rules.mp3">
            <a:hlinkClick r:id="" action="ppaction://media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6353175"/>
            <a:ext cx="3460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Rectangle 103"/>
          <p:cNvSpPr/>
          <p:nvPr/>
        </p:nvSpPr>
        <p:spPr>
          <a:xfrm>
            <a:off x="-2125" y="22160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14.76cm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82043" y="2259138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8.06cm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55635" y="2262432"/>
            <a:ext cx="3026408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7.21m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-2125" y="2257395"/>
            <a:ext cx="3057759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21.10m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82043" y="18866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8.60cm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57707" y="22160"/>
            <a:ext cx="3024336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20cm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88545" y="4499410"/>
            <a:ext cx="3053330" cy="2379966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15.65cm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55635" y="4502704"/>
            <a:ext cx="3026408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8.49m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-2126" y="4502704"/>
            <a:ext cx="3057759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8.54cm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84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</a:rPr>
              <a:t>Calculate the length of the diagonal BC.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4168" y="2237762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57760" y="2241056"/>
            <a:ext cx="3026408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chemeClr val="tx1"/>
                </a:solidFill>
              </a:rPr>
              <a:t>A ladder leans against a wall 4m tall with one end on the ground 6m from the wall. The other end just reaches a windowsill. Calculate the length of the ladder.</a:t>
            </a:r>
            <a:endParaRPr lang="en-GB" sz="14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2236019"/>
            <a:ext cx="3057759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84168" y="-2510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The diagram shows a trapezium ABCD . Calculate the length of CD.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59832" y="784"/>
            <a:ext cx="3024336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0670" y="4478034"/>
            <a:ext cx="3053330" cy="2379966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57760" y="4481328"/>
            <a:ext cx="3026408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" y="4481328"/>
            <a:ext cx="3057759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ight Triangle 21"/>
          <p:cNvSpPr/>
          <p:nvPr/>
        </p:nvSpPr>
        <p:spPr>
          <a:xfrm>
            <a:off x="650875" y="4606925"/>
            <a:ext cx="2303463" cy="12954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403350" y="5876925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8cm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8100" y="5038725"/>
            <a:ext cx="612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3cm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1658938" y="489426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44" name="Right Triangle 43"/>
          <p:cNvSpPr/>
          <p:nvPr/>
        </p:nvSpPr>
        <p:spPr>
          <a:xfrm rot="10800000">
            <a:off x="3132138" y="476250"/>
            <a:ext cx="2160587" cy="122396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3995738" y="1042988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5292725" y="908050"/>
            <a:ext cx="719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12cm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995738" y="115888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16cm</a:t>
            </a:r>
          </a:p>
        </p:txBody>
      </p:sp>
      <p:sp>
        <p:nvSpPr>
          <p:cNvPr id="52" name="Right Triangle 51"/>
          <p:cNvSpPr/>
          <p:nvPr/>
        </p:nvSpPr>
        <p:spPr>
          <a:xfrm>
            <a:off x="971550" y="2492375"/>
            <a:ext cx="1152525" cy="158432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1258888" y="4076700"/>
            <a:ext cx="649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11m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395288" y="313213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18m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1619250" y="3141663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56" name="Right Triangle 55"/>
          <p:cNvSpPr/>
          <p:nvPr/>
        </p:nvSpPr>
        <p:spPr>
          <a:xfrm>
            <a:off x="3995738" y="4652963"/>
            <a:ext cx="1439862" cy="1439862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427538" y="6092825"/>
            <a:ext cx="720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3538538" y="5229225"/>
            <a:ext cx="719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59" name="Right Triangle 58"/>
          <p:cNvSpPr/>
          <p:nvPr/>
        </p:nvSpPr>
        <p:spPr>
          <a:xfrm rot="10800000">
            <a:off x="6804025" y="2708275"/>
            <a:ext cx="1439863" cy="165735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08850" y="2339975"/>
            <a:ext cx="935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4cm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8243888" y="3203575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7164388" y="3357563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716463" y="515778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5205413" y="3230563"/>
            <a:ext cx="0" cy="88265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3779838" y="3213100"/>
            <a:ext cx="1425575" cy="882650"/>
          </a:xfrm>
          <a:prstGeom prst="line">
            <a:avLst/>
          </a:prstGeom>
          <a:noFill/>
          <a:ln w="76200" cmpd="tri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3670300" y="4113213"/>
            <a:ext cx="2027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pic>
        <p:nvPicPr>
          <p:cNvPr id="1032" name="Picture 8" descr="NA01441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3500438"/>
            <a:ext cx="576262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 descr="NA01441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3644900"/>
            <a:ext cx="4318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5183188" y="342900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4m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4284663" y="407670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66" name="Right Triangle 65"/>
          <p:cNvSpPr/>
          <p:nvPr/>
        </p:nvSpPr>
        <p:spPr>
          <a:xfrm>
            <a:off x="7308850" y="4581525"/>
            <a:ext cx="1008063" cy="177165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7524750" y="635317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6659563" y="5273675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14cm</a:t>
            </a:r>
          </a:p>
        </p:txBody>
      </p: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7812088" y="527367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70" name="Flowchart: Manual Input 69"/>
          <p:cNvSpPr/>
          <p:nvPr/>
        </p:nvSpPr>
        <p:spPr>
          <a:xfrm rot="5400000">
            <a:off x="7307263" y="414338"/>
            <a:ext cx="936625" cy="1800225"/>
          </a:xfrm>
          <a:prstGeom prst="flowChartManualInp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380288" y="170973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15cm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300788" y="1133475"/>
            <a:ext cx="792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7308850" y="549275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10cm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6588125" y="549275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A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8604250" y="162877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D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8243888" y="539750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C</a:t>
            </a: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6588125" y="162877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1188" y="908050"/>
            <a:ext cx="1873250" cy="936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1258888" y="1835150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13cm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71438" y="1196975"/>
            <a:ext cx="755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323850" y="692150"/>
            <a:ext cx="503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A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2411413" y="170021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D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323850" y="1700213"/>
            <a:ext cx="503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C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2411413" y="62071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B</a:t>
            </a:r>
          </a:p>
        </p:txBody>
      </p:sp>
      <p:pic>
        <p:nvPicPr>
          <p:cNvPr id="23654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33375"/>
            <a:ext cx="3413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5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60350"/>
            <a:ext cx="34131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6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325" y="908050"/>
            <a:ext cx="3397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7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2439988"/>
            <a:ext cx="3413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8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376613"/>
            <a:ext cx="3413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9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636838"/>
            <a:ext cx="34131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0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672013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1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775" y="4652963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2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652963"/>
            <a:ext cx="3413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Rectangle 112"/>
          <p:cNvSpPr/>
          <p:nvPr/>
        </p:nvSpPr>
        <p:spPr>
          <a:xfrm>
            <a:off x="28299" y="438158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12467" y="2257600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86059" y="2247246"/>
            <a:ext cx="3026408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299" y="2255857"/>
            <a:ext cx="3057759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12467" y="17328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088131" y="6974"/>
            <a:ext cx="3024336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18969" y="4484224"/>
            <a:ext cx="3053330" cy="2373776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86059" y="4487518"/>
            <a:ext cx="3026408" cy="237048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746" y="4487606"/>
            <a:ext cx="3057759" cy="237048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 nodeType="clickPar">
                      <p:stCondLst>
                        <p:cond delay="0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 nodeType="clickPar">
                      <p:stCondLst>
                        <p:cond delay="0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 nodeType="clickPar">
                      <p:stCondLst>
                        <p:cond delay="0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 nodeType="clickPar">
                      <p:stCondLst>
                        <p:cond delay="0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 nodeType="clickPar">
                      <p:stCondLst>
                        <p:cond delay="0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 nodeType="clickPar">
                      <p:stCondLst>
                        <p:cond delay="0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 nodeType="clickPar">
                      <p:stCondLst>
                        <p:cond delay="0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 nodeType="clickPar">
                      <p:stCondLst>
                        <p:cond delay="0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 nodeType="clickPar">
                      <p:stCondLst>
                        <p:cond delay="0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 nodeType="clickPar">
                      <p:stCondLst>
                        <p:cond delay="0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 nodeType="clickPar">
                      <p:stCondLst>
                        <p:cond delay="0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 nodeType="clickPar">
                      <p:stCondLst>
                        <p:cond delay="0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43" grpId="0"/>
      <p:bldP spid="44" grpId="0" animBg="1"/>
      <p:bldP spid="45" grpId="0"/>
      <p:bldP spid="46" grpId="0"/>
      <p:bldP spid="47" grpId="0"/>
      <p:bldP spid="52" grpId="0" animBg="1"/>
      <p:bldP spid="53" grpId="0"/>
      <p:bldP spid="54" grpId="0"/>
      <p:bldP spid="55" grpId="0"/>
      <p:bldP spid="56" grpId="0" animBg="1"/>
      <p:bldP spid="57" grpId="0"/>
      <p:bldP spid="58" grpId="0"/>
      <p:bldP spid="59" grpId="0" animBg="1"/>
      <p:bldP spid="60" grpId="0"/>
      <p:bldP spid="61" grpId="0"/>
      <p:bldP spid="62" grpId="0"/>
      <p:bldP spid="63" grpId="0"/>
      <p:bldP spid="64" grpId="0"/>
      <p:bldP spid="65" grpId="0"/>
      <p:bldP spid="66" grpId="0" animBg="1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9" grpId="0" animBg="1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980728"/>
            <a:ext cx="59126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/>
              <a:t>Task:</a:t>
            </a:r>
          </a:p>
          <a:p>
            <a:endParaRPr lang="en-US" dirty="0"/>
          </a:p>
          <a:p>
            <a:r>
              <a:rPr lang="en-US" sz="2800" dirty="0" smtClean="0"/>
              <a:t>Chapter 17 </a:t>
            </a:r>
            <a:r>
              <a:rPr lang="en-US" sz="2800" dirty="0" err="1" smtClean="0"/>
              <a:t>pg</a:t>
            </a:r>
            <a:r>
              <a:rPr lang="en-US" sz="2800" dirty="0" smtClean="0"/>
              <a:t> 63</a:t>
            </a:r>
          </a:p>
          <a:p>
            <a:r>
              <a:rPr lang="en-US" sz="2800" dirty="0" smtClean="0"/>
              <a:t>Question 1 &amp;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35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423</TotalTime>
  <Words>438</Words>
  <Application>Microsoft Macintosh PowerPoint</Application>
  <PresentationFormat>On-screen Show (4:3)</PresentationFormat>
  <Paragraphs>174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Cambria Math</vt:lpstr>
      <vt:lpstr>Gill Sans MT</vt:lpstr>
      <vt:lpstr>Impact</vt:lpstr>
      <vt:lpstr>MS PGothic</vt:lpstr>
      <vt:lpstr>ＭＳ Ｐゴシック</vt:lpstr>
      <vt:lpstr>Arial</vt:lpstr>
      <vt:lpstr>Calibri</vt:lpstr>
      <vt:lpstr>Badge</vt:lpstr>
      <vt:lpstr>PowerPoint Presentation</vt:lpstr>
      <vt:lpstr>Pythagoras’ Theorem</vt:lpstr>
      <vt:lpstr>Pythagoras’ Theorem</vt:lpstr>
      <vt:lpstr>Starter</vt:lpstr>
      <vt:lpstr>Pythagorus</vt:lpstr>
      <vt:lpstr>Pythagoras’ Theorem</vt:lpstr>
      <vt:lpstr>Pythagoras’ Theorem</vt:lpstr>
      <vt:lpstr>Pythagoras’ Theorem</vt:lpstr>
      <vt:lpstr>PowerPoint Presentation</vt:lpstr>
      <vt:lpstr>PowerPoint Presentation</vt:lpstr>
      <vt:lpstr>Pythagoras’ Theorem</vt:lpstr>
      <vt:lpstr>Pythagoras’ Theorem</vt:lpstr>
      <vt:lpstr>PowerPoint Presentation</vt:lpstr>
      <vt:lpstr>PowerPoint Presentation</vt:lpstr>
    </vt:vector>
  </TitlesOfParts>
  <Company>Seven Kings High School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</dc:title>
  <dc:creator>Daniel Burke</dc:creator>
  <cp:lastModifiedBy>Kath Farmer</cp:lastModifiedBy>
  <cp:revision>28</cp:revision>
  <dcterms:created xsi:type="dcterms:W3CDTF">2010-11-25T12:10:37Z</dcterms:created>
  <dcterms:modified xsi:type="dcterms:W3CDTF">2018-01-31T13:05:57Z</dcterms:modified>
</cp:coreProperties>
</file>
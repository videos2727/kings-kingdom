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3" r:id="rId3"/>
    <p:sldId id="319" r:id="rId4"/>
    <p:sldId id="332" r:id="rId5"/>
    <p:sldId id="331" r:id="rId6"/>
    <p:sldId id="344" r:id="rId7"/>
    <p:sldId id="343" r:id="rId8"/>
    <p:sldId id="342" r:id="rId9"/>
    <p:sldId id="341" r:id="rId10"/>
    <p:sldId id="340" r:id="rId11"/>
    <p:sldId id="339" r:id="rId12"/>
    <p:sldId id="338" r:id="rId13"/>
    <p:sldId id="337" r:id="rId14"/>
    <p:sldId id="336" r:id="rId15"/>
    <p:sldId id="335" r:id="rId16"/>
    <p:sldId id="334" r:id="rId17"/>
    <p:sldId id="329" r:id="rId18"/>
    <p:sldId id="345" r:id="rId19"/>
    <p:sldId id="357" r:id="rId20"/>
    <p:sldId id="356" r:id="rId21"/>
    <p:sldId id="355" r:id="rId22"/>
    <p:sldId id="354" r:id="rId23"/>
    <p:sldId id="353" r:id="rId24"/>
    <p:sldId id="351" r:id="rId25"/>
    <p:sldId id="350" r:id="rId26"/>
    <p:sldId id="349" r:id="rId27"/>
    <p:sldId id="348" r:id="rId28"/>
    <p:sldId id="347" r:id="rId29"/>
    <p:sldId id="346" r:id="rId30"/>
    <p:sldId id="330" r:id="rId31"/>
    <p:sldId id="358" r:id="rId32"/>
    <p:sldId id="359" r:id="rId33"/>
    <p:sldId id="291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739EA-A927-4787-9B72-B9E78E118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EBDC2-0A87-4B25-B71D-8593FCBC76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4F328-83C8-4A71-B93F-0EF8A4847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22FB3-5A18-4DAF-A359-A9EC0FBAEE29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0EA7C-0BDF-442A-A17E-8C70B30DC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3AC08-36FE-47F8-8509-753BAAA17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6271-9460-4F7C-BFB2-FA8694CE76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7195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67270-8DE1-493F-BC9F-46BED6DC9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91BBA-0CDE-4326-A8C2-E47339AD3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74FCD-29BA-47B6-A672-97F6B3D9A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22FB3-5A18-4DAF-A359-A9EC0FBAEE29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CD61C-36AA-4AB6-8F0C-066325805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EE522-D409-49AB-A3FD-38F706D67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6271-9460-4F7C-BFB2-FA8694CE76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8571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60DE8-9CF5-4966-B743-847585AC4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ACB7F-3BCD-4C3D-8387-C68DD81A5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C4B88-7713-43FE-9AEC-E3D08B6FC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22FB3-5A18-4DAF-A359-A9EC0FBAEE29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E9492-8199-4088-ACE0-CBF96C07C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DB7D8-9CD1-45AE-B1C4-62F06C690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6271-9460-4F7C-BFB2-FA8694CE76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821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E31B5-CD18-4532-8E99-B423EB6F8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15FD4-F034-417D-8920-A4B7C0EC31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79DABB-701B-478A-A209-186D3D2C4F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CF0CD5-7581-4DDB-874F-C9FC8A042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22FB3-5A18-4DAF-A359-A9EC0FBAEE29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172252-3516-48A0-8150-D1030C511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052DCF-FD40-4E4A-BCF7-6A60D3939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6271-9460-4F7C-BFB2-FA8694CE76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2035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05612-7BC5-41A8-B3E2-E92B166C6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5D59B4-8CCC-4A51-86A8-D9939EFA2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AFE43-3AB8-4AEC-ADB2-363F9DAB21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BAFCFA-E4BA-4631-B0FF-85160B630D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9AEB41-FBE7-41B9-AE86-0EAE471605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88F1C5-199B-4B1E-AF5C-8378969E0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22FB3-5A18-4DAF-A359-A9EC0FBAEE29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9B4511-0869-47D6-B142-9A1A1E5FB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A0BF9C-BF8A-41A9-A85F-E448C2DDA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6271-9460-4F7C-BFB2-FA8694CE76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585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0DA9B-DA1F-45B3-A8C4-EA299284F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E2AB03-14A8-4AEF-9E65-EA5C6865B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22FB3-5A18-4DAF-A359-A9EC0FBAEE29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7E03C7-067F-4FD5-A254-E1E9F4D62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6B63DE-3BBB-4F2D-93EF-C67DD9A84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6271-9460-4F7C-BFB2-FA8694CE76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7010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716E7F-1D8A-4FC8-9FE3-BE2A1D4B4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22FB3-5A18-4DAF-A359-A9EC0FBAEE29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D15E45-F6F6-4BDE-93F0-703B3E24B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A6030-DEB9-4E84-83D6-A9490C0F7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6271-9460-4F7C-BFB2-FA8694CE76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6297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B21D9-E9B4-4DB2-9284-790421623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02A52-9558-4373-A573-8E9DAED2F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C1DBF1-F66C-4E92-8052-44690B794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2C0245-36B8-416E-B14D-365BF2A19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22FB3-5A18-4DAF-A359-A9EC0FBAEE29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AEB59-844B-496B-8346-DE325B866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F2DF2D-7238-4E37-B048-C43C06467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6271-9460-4F7C-BFB2-FA8694CE76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7157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0D1C1-5F04-4AB2-BCC8-750CB8111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109DB6-7CA3-4617-87FF-F276105A94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188CF-8BE1-4379-AE42-D822A51F13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83089-4987-4116-848C-285DEDB9A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22FB3-5A18-4DAF-A359-A9EC0FBAEE29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C9809-D15B-4612-8F55-FAB9B14AD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8F5D2B-1536-43D3-859C-A321A9E80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6271-9460-4F7C-BFB2-FA8694CE76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6434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F0A08-2BF7-4354-82F0-84CBAECA4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6B7594-357E-4AB0-89F3-2B028B4F4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38CDB-F94B-458F-9D7F-A35CD07A7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22FB3-5A18-4DAF-A359-A9EC0FBAEE29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E93FC-FB79-4901-8F17-A75CC62B1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1DFAE-7467-4B39-91DE-51A0DD604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6271-9460-4F7C-BFB2-FA8694CE76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9113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538D7D-EA62-4EBB-B684-9451BDF16D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BEE62-7D3F-4CCA-802C-3677D3213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426B4-B320-4F8F-B948-99160A6BC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22FB3-5A18-4DAF-A359-A9EC0FBAEE29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C31A9-D103-4B99-8D4E-0A1B60D0A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D5251-581D-451F-B7E2-6B729EF78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6271-9460-4F7C-BFB2-FA8694CE76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8746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923763-7E48-49F8-BC49-06006C52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C431B2-E782-49F9-AF36-CBF9C0B59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AB0F8-1174-46E0-910B-B55E2F95DA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22FB3-5A18-4DAF-A359-A9EC0FBAEE29}" type="datetimeFigureOut">
              <a:rPr lang="en-AU" smtClean="0"/>
              <a:t>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60977-6ACB-43AB-8423-ABA79D5DDF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C790A-32CD-4997-8818-5872DDFEF8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D66271-9460-4F7C-BFB2-FA8694CE76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6614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B711-EC04-4328-BA3C-D312B35E0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499"/>
            <a:ext cx="9144000" cy="841191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Measurement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656DC-C7F4-4C74-A9D1-FED7285DB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35716"/>
            <a:ext cx="9144000" cy="642703"/>
          </a:xfrm>
        </p:spPr>
        <p:txBody>
          <a:bodyPr/>
          <a:lstStyle/>
          <a:p>
            <a:r>
              <a:rPr lang="en-US" dirty="0"/>
              <a:t>EQ: How do we calculate the perimeter of </a:t>
            </a:r>
            <a:r>
              <a:rPr lang="en-US" b="1" u="sng" dirty="0"/>
              <a:t>all</a:t>
            </a:r>
            <a:r>
              <a:rPr lang="en-US" dirty="0"/>
              <a:t> 2D shapes- CIRCLES?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288F43-77B5-4149-8386-E7F5734F6EBC}"/>
              </a:ext>
            </a:extLst>
          </p:cNvPr>
          <p:cNvSpPr txBox="1"/>
          <p:nvPr/>
        </p:nvSpPr>
        <p:spPr>
          <a:xfrm>
            <a:off x="272716" y="1613118"/>
            <a:ext cx="11646568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Get your VIVO’s</a:t>
            </a:r>
          </a:p>
          <a:p>
            <a:pPr marL="285750" indent="-285750">
              <a:buFontTx/>
              <a:buChar char="-"/>
            </a:pPr>
            <a:r>
              <a:rPr lang="en-US" dirty="0"/>
              <a:t>Topic and EQ in Interactive Notebook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NO PHONES OR EAR BUDS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Have a go: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Question 1: </a:t>
            </a:r>
            <a:r>
              <a:rPr lang="en-US" alt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Find the perimeter of each of the following shapes.</a:t>
            </a:r>
            <a:endParaRPr kumimoji="0" lang="en-AU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/>
            <a:endParaRPr lang="en-US" dirty="0"/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fontAlgn="ctr"/>
            <a:endParaRPr lang="en-US" dirty="0"/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lvl="1"/>
            <a:endParaRPr lang="en-US" dirty="0"/>
          </a:p>
          <a:p>
            <a:pPr marL="742950" lvl="1" indent="-285750">
              <a:buFontTx/>
              <a:buChar char="-"/>
            </a:pPr>
            <a:r>
              <a:rPr lang="en-AU" dirty="0"/>
              <a:t>Question 2: </a:t>
            </a:r>
            <a:r>
              <a:rPr lang="en-US" dirty="0"/>
              <a:t>Jennifer needs to fence her country house block to keep her dog in. The block is a rectangle with length 50 m and width 42 m. Fencing costs $13 per </a:t>
            </a:r>
            <a:r>
              <a:rPr lang="en-US" dirty="0" err="1"/>
              <a:t>metre</a:t>
            </a:r>
            <a:r>
              <a:rPr lang="en-US" dirty="0"/>
              <a:t>. What will be the total cost of fencing?</a:t>
            </a:r>
            <a:endParaRPr lang="en-AU" dirty="0"/>
          </a:p>
        </p:txBody>
      </p:sp>
      <p:pic>
        <p:nvPicPr>
          <p:cNvPr id="1025" name="Picture 2" descr="Description: Worksheet A Q1(b).bmp">
            <a:extLst>
              <a:ext uri="{FF2B5EF4-FFF2-40B4-BE49-F238E27FC236}">
                <a16:creationId xmlns:a16="http://schemas.microsoft.com/office/drawing/2014/main" id="{18D06F78-DC5E-4C71-9ED3-4CF7F9312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7343" y="4110054"/>
            <a:ext cx="1581150" cy="100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317DF51D-0D32-49F8-9913-D887FA694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43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015A4BA-22D2-4AEF-8F90-54ABC8656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46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pic>
        <p:nvPicPr>
          <p:cNvPr id="10" name="Picture 1" descr="Description: Worksheet A Q1(a).bmp">
            <a:extLst>
              <a:ext uri="{FF2B5EF4-FFF2-40B4-BE49-F238E27FC236}">
                <a16:creationId xmlns:a16="http://schemas.microsoft.com/office/drawing/2014/main" id="{9E7593B5-0F7A-4949-A045-6B35B0062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529" y="4268804"/>
            <a:ext cx="12319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4522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</a:t>
            </a:r>
            <a:r>
              <a:rPr lang="en-AU" sz="2800" dirty="0" err="1"/>
              <a:t>easurement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7500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calculate the perimeter of </a:t>
            </a:r>
            <a:r>
              <a:rPr lang="en-US" sz="2400" b="1" u="sng" dirty="0"/>
              <a:t>all</a:t>
            </a:r>
            <a:r>
              <a:rPr lang="en-US" sz="2400" dirty="0"/>
              <a:t> 2D shapes- CIRCLES?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7" y="365125"/>
            <a:ext cx="11267173" cy="1325563"/>
          </a:xfrm>
        </p:spPr>
        <p:txBody>
          <a:bodyPr/>
          <a:lstStyle/>
          <a:p>
            <a:r>
              <a:rPr lang="en-AU" dirty="0"/>
              <a:t>Definition of a circle- </a:t>
            </a:r>
            <a:r>
              <a:rPr lang="en-AU" sz="2400" dirty="0"/>
              <a:t>Just listen Cornell notes next slide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A 2D shape</a:t>
            </a:r>
          </a:p>
          <a:p>
            <a:r>
              <a:rPr lang="en-AU" dirty="0"/>
              <a:t>1 edge</a:t>
            </a:r>
          </a:p>
          <a:p>
            <a:r>
              <a:rPr lang="en-AU" dirty="0"/>
              <a:t>No corners</a:t>
            </a:r>
          </a:p>
        </p:txBody>
      </p:sp>
      <p:sp>
        <p:nvSpPr>
          <p:cNvPr id="5" name="Oval 4"/>
          <p:cNvSpPr/>
          <p:nvPr/>
        </p:nvSpPr>
        <p:spPr>
          <a:xfrm>
            <a:off x="5015880" y="1844824"/>
            <a:ext cx="2160240" cy="2160240"/>
          </a:xfrm>
          <a:prstGeom prst="ellipse">
            <a:avLst/>
          </a:prstGeom>
          <a:solidFill>
            <a:srgbClr val="92D050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788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7500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calculate the perimeter of </a:t>
            </a:r>
            <a:r>
              <a:rPr lang="en-US" sz="2400" b="1" u="sng" dirty="0"/>
              <a:t>all</a:t>
            </a:r>
            <a:r>
              <a:rPr lang="en-US" sz="2400" dirty="0"/>
              <a:t> 2D shapes-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650966" y="1992643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 circle?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01897" y="1973508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2D shape that has only one edge (or side) and no vertices (corners).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A4E00A-5559-48DB-8E83-45DBE2CD9A2A}"/>
              </a:ext>
            </a:extLst>
          </p:cNvPr>
          <p:cNvSpPr txBox="1"/>
          <p:nvPr/>
        </p:nvSpPr>
        <p:spPr>
          <a:xfrm>
            <a:off x="2639617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</a:t>
            </a:r>
            <a:r>
              <a:rPr lang="en-AU" sz="2800" dirty="0" err="1"/>
              <a:t>easurement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4004535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952861" y="1178704"/>
            <a:ext cx="4179123" cy="460775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3703" y="240541"/>
            <a:ext cx="10515600" cy="938164"/>
          </a:xfrm>
        </p:spPr>
        <p:txBody>
          <a:bodyPr/>
          <a:lstStyle/>
          <a:p>
            <a:r>
              <a:rPr lang="en-AU" dirty="0"/>
              <a:t>Circumference and Radius</a:t>
            </a:r>
            <a:r>
              <a:rPr lang="en-AU" sz="2000" dirty="0"/>
              <a:t>- Just listen Cornell notes next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03" y="5089645"/>
            <a:ext cx="6172200" cy="1709382"/>
          </a:xfrm>
        </p:spPr>
        <p:txBody>
          <a:bodyPr>
            <a:normAutofit fontScale="92500" lnSpcReduction="20000"/>
          </a:bodyPr>
          <a:lstStyle/>
          <a:p>
            <a:r>
              <a:rPr lang="en-AU" sz="1800" dirty="0"/>
              <a:t>The </a:t>
            </a:r>
            <a:r>
              <a:rPr lang="en-AU" sz="1800" b="1" dirty="0">
                <a:solidFill>
                  <a:srgbClr val="FF0000"/>
                </a:solidFill>
              </a:rPr>
              <a:t>circumference</a:t>
            </a:r>
            <a:r>
              <a:rPr lang="en-AU" sz="1800" dirty="0"/>
              <a:t> of a circle is the boundary of the circle.</a:t>
            </a:r>
          </a:p>
          <a:p>
            <a:r>
              <a:rPr lang="en-AU" sz="1800" dirty="0"/>
              <a:t>A line segment drawn from the centre of a circle to the circumference is the </a:t>
            </a:r>
            <a:r>
              <a:rPr lang="en-AU" sz="1800" b="1" dirty="0">
                <a:solidFill>
                  <a:srgbClr val="FF0000"/>
                </a:solidFill>
              </a:rPr>
              <a:t>radius</a:t>
            </a:r>
            <a:r>
              <a:rPr lang="en-AU" sz="1800" dirty="0">
                <a:solidFill>
                  <a:srgbClr val="FF0000"/>
                </a:solidFill>
              </a:rPr>
              <a:t>. </a:t>
            </a:r>
            <a:r>
              <a:rPr lang="en-AU" sz="1800" dirty="0">
                <a:solidFill>
                  <a:srgbClr val="002060"/>
                </a:solidFill>
              </a:rPr>
              <a:t>Every radius in a circle is equal in length.</a:t>
            </a:r>
          </a:p>
          <a:p>
            <a:r>
              <a:rPr lang="en-AU" sz="1800" dirty="0"/>
              <a:t>A line segment drawn through the centre from one side of a circle to its opposite side is called the </a:t>
            </a:r>
            <a:r>
              <a:rPr lang="en-AU" sz="1800" b="1" dirty="0">
                <a:solidFill>
                  <a:srgbClr val="FF0000"/>
                </a:solidFill>
              </a:rPr>
              <a:t>diameter.</a:t>
            </a:r>
            <a:r>
              <a:rPr lang="en-AU" sz="1800" dirty="0">
                <a:solidFill>
                  <a:srgbClr val="FF0000"/>
                </a:solidFill>
              </a:rPr>
              <a:t> </a:t>
            </a:r>
            <a:r>
              <a:rPr lang="en-AU" sz="1800" dirty="0"/>
              <a:t> </a:t>
            </a:r>
            <a:r>
              <a:rPr lang="en-AU" sz="1800" dirty="0">
                <a:solidFill>
                  <a:srgbClr val="002060"/>
                </a:solidFill>
              </a:rPr>
              <a:t>It is double the length of the radius.</a:t>
            </a:r>
          </a:p>
        </p:txBody>
      </p:sp>
      <p:cxnSp>
        <p:nvCxnSpPr>
          <p:cNvPr id="9" name="Straight Arrow Connector 8"/>
          <p:cNvCxnSpPr>
            <a:endCxn id="4" idx="7"/>
          </p:cNvCxnSpPr>
          <p:nvPr/>
        </p:nvCxnSpPr>
        <p:spPr>
          <a:xfrm rot="5400000" flipH="1" flipV="1">
            <a:off x="5913072" y="2036423"/>
            <a:ext cx="1789822" cy="142396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810513" y="2035960"/>
            <a:ext cx="117872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circumference</a:t>
            </a:r>
            <a:endParaRPr lang="en-AU" sz="135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7" name="Shape 6"/>
          <p:cNvCxnSpPr/>
          <p:nvPr/>
        </p:nvCxnSpPr>
        <p:spPr>
          <a:xfrm rot="5400000">
            <a:off x="8082959" y="2084985"/>
            <a:ext cx="151629" cy="48220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4" idx="1"/>
          </p:cNvCxnSpPr>
          <p:nvPr/>
        </p:nvCxnSpPr>
        <p:spPr>
          <a:xfrm rot="16200000" flipH="1">
            <a:off x="4328372" y="2090001"/>
            <a:ext cx="3343598" cy="287058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31389" y="1928802"/>
            <a:ext cx="85725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diameter</a:t>
            </a:r>
            <a:endParaRPr lang="en-AU" sz="135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4" name="Shape 13"/>
          <p:cNvCxnSpPr>
            <a:stCxn id="12" idx="2"/>
          </p:cNvCxnSpPr>
          <p:nvPr/>
        </p:nvCxnSpPr>
        <p:spPr>
          <a:xfrm rot="16200000" flipH="1">
            <a:off x="4451161" y="1837740"/>
            <a:ext cx="128546" cy="91083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71049" y="2089538"/>
            <a:ext cx="58936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radius</a:t>
            </a:r>
            <a:endParaRPr lang="en-AU" sz="135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7" name="Shape 16"/>
          <p:cNvCxnSpPr>
            <a:stCxn id="15" idx="2"/>
          </p:cNvCxnSpPr>
          <p:nvPr/>
        </p:nvCxnSpPr>
        <p:spPr>
          <a:xfrm rot="5400000" flipH="1" flipV="1">
            <a:off x="6819893" y="2410426"/>
            <a:ext cx="132780" cy="241104"/>
          </a:xfrm>
          <a:prstGeom prst="bentConnector4">
            <a:avLst>
              <a:gd name="adj1" fmla="val -172164"/>
              <a:gd name="adj2" fmla="val -21703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2706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7500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calculate the perimeter of </a:t>
            </a:r>
            <a:r>
              <a:rPr lang="en-US" sz="2400" b="1" u="sng" dirty="0"/>
              <a:t>all</a:t>
            </a:r>
            <a:r>
              <a:rPr lang="en-US" sz="2400" dirty="0"/>
              <a:t> 2D shapes-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757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 circle?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2771" y="1994357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2D shape that has only one edge (or side) and no vertices (corners).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52F691-AD04-44C1-BCB8-F0D9C89E4EE8}"/>
              </a:ext>
            </a:extLst>
          </p:cNvPr>
          <p:cNvSpPr txBox="1"/>
          <p:nvPr/>
        </p:nvSpPr>
        <p:spPr>
          <a:xfrm>
            <a:off x="2639617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</a:t>
            </a:r>
            <a:r>
              <a:rPr lang="en-AU" sz="2800" dirty="0" err="1"/>
              <a:t>easurement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743465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7500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calculate the perimeter of </a:t>
            </a:r>
            <a:r>
              <a:rPr lang="en-US" sz="2400" b="1" u="sng" dirty="0"/>
              <a:t>all</a:t>
            </a:r>
            <a:r>
              <a:rPr lang="en-US" sz="2400" dirty="0"/>
              <a:t> 2D shapes-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757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 circle?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2771" y="1994357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2D shape that has only one edge (or side) and no vertices (corners).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2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Circumference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F2A920-2EB4-4413-843F-F74EB6CCE391}"/>
              </a:ext>
            </a:extLst>
          </p:cNvPr>
          <p:cNvSpPr txBox="1"/>
          <p:nvPr/>
        </p:nvSpPr>
        <p:spPr>
          <a:xfrm>
            <a:off x="2639617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</a:t>
            </a:r>
            <a:r>
              <a:rPr lang="en-AU" sz="2800" dirty="0" err="1"/>
              <a:t>easurement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103282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7500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calculate the perimeter of </a:t>
            </a:r>
            <a:r>
              <a:rPr lang="en-US" sz="2400" b="1" u="sng" dirty="0"/>
              <a:t>all</a:t>
            </a:r>
            <a:r>
              <a:rPr lang="en-US" sz="2400" dirty="0"/>
              <a:t> 2D shapes-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757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 circle?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2771" y="1994357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2D shape that has only one edge (or side) and no vertices (corners).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2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Circumference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36514" y="2754970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total measurement around the edge of the circle. “THE BOUNDARY”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F5B472-F595-4BD7-896F-D7D9D8F2813D}"/>
              </a:ext>
            </a:extLst>
          </p:cNvPr>
          <p:cNvSpPr txBox="1"/>
          <p:nvPr/>
        </p:nvSpPr>
        <p:spPr>
          <a:xfrm>
            <a:off x="2639617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</a:t>
            </a:r>
            <a:r>
              <a:rPr lang="en-AU" sz="2800" dirty="0" err="1"/>
              <a:t>easurement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645365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7500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calculate the perimeter of </a:t>
            </a:r>
            <a:r>
              <a:rPr lang="en-US" sz="2400" b="1" u="sng" dirty="0"/>
              <a:t>all</a:t>
            </a:r>
            <a:r>
              <a:rPr lang="en-US" sz="2400" dirty="0"/>
              <a:t> 2D shapes-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757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 circle?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2771" y="1994357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2D shape that has only one edge (or side) and no vertices (corners).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2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Circumference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36514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total measurement around the edge of the circle.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4656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Diameter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62DFE5-A7E8-45EB-9DDE-ED828D5E197D}"/>
              </a:ext>
            </a:extLst>
          </p:cNvPr>
          <p:cNvSpPr txBox="1"/>
          <p:nvPr/>
        </p:nvSpPr>
        <p:spPr>
          <a:xfrm>
            <a:off x="2639617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</a:t>
            </a:r>
            <a:r>
              <a:rPr lang="en-AU" sz="2800" dirty="0" err="1"/>
              <a:t>easurement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52420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7500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calculate the perimeter of </a:t>
            </a:r>
            <a:r>
              <a:rPr lang="en-US" sz="2400" b="1" u="sng" dirty="0"/>
              <a:t>all</a:t>
            </a:r>
            <a:r>
              <a:rPr lang="en-US" sz="2400" dirty="0"/>
              <a:t> 2D shapes-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757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 circle?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2771" y="1994357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2D shape that has only one edge (or side) and no vertices (corners).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2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Circumference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36514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total measurement around the edge of the circle.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4656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Diameter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513" y="3284815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straight line measurement from one side to the other, passing through the centre of the circle.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6F9A22-8A86-4F62-9D08-615E0C6C7F4C}"/>
              </a:ext>
            </a:extLst>
          </p:cNvPr>
          <p:cNvSpPr txBox="1"/>
          <p:nvPr/>
        </p:nvSpPr>
        <p:spPr>
          <a:xfrm>
            <a:off x="2639617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</a:t>
            </a:r>
            <a:r>
              <a:rPr lang="en-AU" sz="2800" dirty="0" err="1"/>
              <a:t>easurement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504890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7500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calculate the perimeter of </a:t>
            </a:r>
            <a:r>
              <a:rPr lang="en-US" sz="2400" b="1" u="sng" dirty="0"/>
              <a:t>all</a:t>
            </a:r>
            <a:r>
              <a:rPr lang="en-US" sz="2400" dirty="0"/>
              <a:t> 2D shapes-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757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 circle?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2771" y="1994357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2D shape that has only one edge (or side) and no vertices (corners).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2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Circumference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36514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total measurement around the edge of the circle.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4656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Diameter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513" y="3284815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straight line measurement from one side to the other, passing through the centre of the circle.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2650" y="4103784"/>
            <a:ext cx="2022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Radius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DA6A43-3324-4BEA-B48E-A77126FC21AD}"/>
              </a:ext>
            </a:extLst>
          </p:cNvPr>
          <p:cNvSpPr txBox="1"/>
          <p:nvPr/>
        </p:nvSpPr>
        <p:spPr>
          <a:xfrm>
            <a:off x="2639617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</a:t>
            </a:r>
            <a:r>
              <a:rPr lang="en-AU" sz="2800" dirty="0" err="1"/>
              <a:t>easurement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247647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7500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calculate the perimeter of </a:t>
            </a:r>
            <a:r>
              <a:rPr lang="en-US" sz="2400" b="1" u="sng" dirty="0"/>
              <a:t>all</a:t>
            </a:r>
            <a:r>
              <a:rPr lang="en-US" sz="2400" dirty="0"/>
              <a:t> 2D shapes-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757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 circle?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2771" y="1994357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2D shape that has only one edge (or side) and no vertices (corners).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2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Circumference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36514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total measurement around the edge of the circle.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4656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Diameter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513" y="3284815"/>
            <a:ext cx="56886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straight line measurement from one side to the other, passing through the centre of the circle. </a:t>
            </a:r>
            <a:r>
              <a:rPr lang="en-AU" dirty="0">
                <a:highlight>
                  <a:srgbClr val="FFFF00"/>
                </a:highlight>
              </a:rPr>
              <a:t>“How is it related to the radius”?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2650" y="4103784"/>
            <a:ext cx="2022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Radius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5484" y="4103785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straight line measurement from the centre of the circle to the edge.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15D534-F031-48D7-B79C-AA813EAF8E31}"/>
              </a:ext>
            </a:extLst>
          </p:cNvPr>
          <p:cNvSpPr txBox="1"/>
          <p:nvPr/>
        </p:nvSpPr>
        <p:spPr>
          <a:xfrm>
            <a:off x="2639617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</a:t>
            </a:r>
            <a:r>
              <a:rPr lang="en-AU" sz="2800" dirty="0" err="1"/>
              <a:t>easurement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456823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7500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calculate the perimeter of </a:t>
            </a:r>
            <a:r>
              <a:rPr lang="en-US" sz="2400" b="1" u="sng" dirty="0"/>
              <a:t>all</a:t>
            </a:r>
            <a:r>
              <a:rPr lang="en-US" sz="2400" dirty="0"/>
              <a:t> 2D shapes-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757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 circle?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2771" y="1994357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2D shape that has only one edge (or side) and no vertices (corners).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2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Circumference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36514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total measurement around the edge of the circle.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4656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Diameter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513" y="3284815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straight line measurement from one side to the other, passing through the centre of the circle.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2650" y="4103784"/>
            <a:ext cx="2022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Radius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5484" y="4103785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straight line measurement from the centre of the circle to the edge.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5484" y="4760656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radius is half the length of the diameter.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CE6AA4-F812-4F54-A0CD-CDE7BE8F729F}"/>
              </a:ext>
            </a:extLst>
          </p:cNvPr>
          <p:cNvSpPr txBox="1"/>
          <p:nvPr/>
        </p:nvSpPr>
        <p:spPr>
          <a:xfrm>
            <a:off x="2639617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</a:t>
            </a:r>
            <a:r>
              <a:rPr lang="en-AU" sz="2800" dirty="0" err="1"/>
              <a:t>easurement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646989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7500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calculate the perimeter of </a:t>
            </a:r>
            <a:r>
              <a:rPr lang="en-US" sz="2400" b="1" u="sng" dirty="0"/>
              <a:t>all</a:t>
            </a:r>
            <a:r>
              <a:rPr lang="en-US" sz="2400" dirty="0"/>
              <a:t> 2D shapes-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757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 circle?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2771" y="1994357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2D shape that has only one edge (or side) and no vertices (corners).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2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Circumference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36514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total measurement around the edge of the circle.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4656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Diameter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513" y="3284815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straight line measurement from one side to the other, passing through the centre of the circle.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2650" y="4103784"/>
            <a:ext cx="2022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Radius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5484" y="4103785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straight line measurement from the centre of the circle to the edge.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5484" y="4760656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radius is half the length of the diameter.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2883" y="5234716"/>
            <a:ext cx="1742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pi (</a:t>
            </a:r>
            <a:r>
              <a:rPr lang="el-GR" dirty="0"/>
              <a:t>π</a:t>
            </a:r>
            <a:r>
              <a:rPr lang="en-AU" dirty="0"/>
              <a:t>)?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878615-0E9A-4973-AB5C-AFB8FC58E8F4}"/>
              </a:ext>
            </a:extLst>
          </p:cNvPr>
          <p:cNvSpPr txBox="1"/>
          <p:nvPr/>
        </p:nvSpPr>
        <p:spPr>
          <a:xfrm>
            <a:off x="2639617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</a:t>
            </a:r>
            <a:r>
              <a:rPr lang="en-AU" sz="2800" dirty="0" err="1"/>
              <a:t>easurement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020723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7500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calculate the perimeter of </a:t>
            </a:r>
            <a:r>
              <a:rPr lang="en-US" sz="2400" b="1" u="sng" dirty="0"/>
              <a:t>all</a:t>
            </a:r>
            <a:r>
              <a:rPr lang="en-US" sz="2400" dirty="0"/>
              <a:t> 2D shapes-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757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 circle?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2771" y="1994357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2D shape that has only one edge (or side) and no vertices (corners).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2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Circumference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36514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total measurement around the edge of the circle.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4656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Diameter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513" y="3284815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straight line measurement from one side to the other, passing through the centre of the circle.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2650" y="4103784"/>
            <a:ext cx="2022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Radius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5484" y="4103785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straight line measurement from the centre of the circle to the edge.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5484" y="4760656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radius is half the length of the diameter.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2883" y="5234716"/>
            <a:ext cx="1742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pi (</a:t>
            </a:r>
            <a:r>
              <a:rPr lang="el-GR" dirty="0"/>
              <a:t>π</a:t>
            </a:r>
            <a:r>
              <a:rPr lang="en-AU" dirty="0"/>
              <a:t>)?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2770" y="5234717"/>
            <a:ext cx="5773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π</a:t>
            </a:r>
            <a:r>
              <a:rPr lang="en-AU" dirty="0"/>
              <a:t> is used in the formulas to find the circumference and area of circles.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EDA233-8864-4701-B177-AE48465E1A38}"/>
              </a:ext>
            </a:extLst>
          </p:cNvPr>
          <p:cNvSpPr txBox="1"/>
          <p:nvPr/>
        </p:nvSpPr>
        <p:spPr>
          <a:xfrm>
            <a:off x="2639617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</a:t>
            </a:r>
            <a:r>
              <a:rPr lang="en-AU" sz="2800" dirty="0" err="1"/>
              <a:t>easurement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585731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7500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calculate the perimeter of </a:t>
            </a:r>
            <a:r>
              <a:rPr lang="en-US" sz="2400" b="1" u="sng" dirty="0"/>
              <a:t>all</a:t>
            </a:r>
            <a:r>
              <a:rPr lang="en-US" sz="2400" dirty="0"/>
              <a:t> 2D shapes-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757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 circle?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2771" y="1994357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2D shape that has only one edge (or side) and no vertices (corners).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2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Circumference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36514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total measurement around the edge of the circle.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4656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Diameter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513" y="3284815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straight line measurement from one side to the other, passing through the centre of the circle.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2650" y="4103784"/>
            <a:ext cx="2022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Radius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5484" y="4103785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straight line measurement from the centre of the circle to the edge.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5484" y="4760656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radius is half the length of the diameter.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2883" y="5234716"/>
            <a:ext cx="1742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pi (</a:t>
            </a:r>
            <a:r>
              <a:rPr lang="el-GR" dirty="0"/>
              <a:t>π</a:t>
            </a:r>
            <a:r>
              <a:rPr lang="en-AU" dirty="0"/>
              <a:t>)?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2770" y="5234717"/>
            <a:ext cx="5773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π</a:t>
            </a:r>
            <a:r>
              <a:rPr lang="en-AU" dirty="0"/>
              <a:t> is used in the formulas to find the circumference and area of circles.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2770" y="5881047"/>
            <a:ext cx="5800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Its value is 3.14 (correct to 2dp). It is an irrational number (it has no equivalent fraction) and is a non terminating decimal.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3C825E-DD34-45FF-A645-872B9DC401E7}"/>
              </a:ext>
            </a:extLst>
          </p:cNvPr>
          <p:cNvSpPr txBox="1"/>
          <p:nvPr/>
        </p:nvSpPr>
        <p:spPr>
          <a:xfrm>
            <a:off x="2639617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</a:t>
            </a:r>
            <a:r>
              <a:rPr lang="en-AU" sz="2800" dirty="0" err="1"/>
              <a:t>easurement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718812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Let’s think about </a:t>
            </a:r>
            <a:r>
              <a:rPr lang="el-GR" dirty="0"/>
              <a:t>π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812" y="1974250"/>
            <a:ext cx="8460376" cy="2909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65812" y="3356992"/>
            <a:ext cx="3942156" cy="4320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/>
          <p:cNvSpPr/>
          <p:nvPr/>
        </p:nvSpPr>
        <p:spPr>
          <a:xfrm>
            <a:off x="2567608" y="2974866"/>
            <a:ext cx="3240360" cy="38212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6096000" y="3284984"/>
            <a:ext cx="1080120" cy="2160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7464152" y="3284984"/>
            <a:ext cx="1080120" cy="2160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7636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7500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calculate the perimeter of </a:t>
            </a:r>
            <a:r>
              <a:rPr lang="en-US" sz="2400" b="1" u="sng" dirty="0"/>
              <a:t>all</a:t>
            </a:r>
            <a:r>
              <a:rPr lang="en-US" sz="2400" dirty="0"/>
              <a:t> 2D shapes- CIRCLES?</a:t>
            </a:r>
            <a:endParaRPr lang="en-AU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F2D573-600A-4C61-9383-CE804332654F}"/>
              </a:ext>
            </a:extLst>
          </p:cNvPr>
          <p:cNvSpPr txBox="1"/>
          <p:nvPr/>
        </p:nvSpPr>
        <p:spPr>
          <a:xfrm>
            <a:off x="2639617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</a:t>
            </a:r>
            <a:r>
              <a:rPr lang="en-AU" sz="2800" dirty="0" err="1"/>
              <a:t>easurement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601016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7500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calculate the perimeter of </a:t>
            </a:r>
            <a:r>
              <a:rPr lang="en-US" sz="2400" b="1" u="sng" dirty="0"/>
              <a:t>all</a:t>
            </a:r>
            <a:r>
              <a:rPr lang="en-US" sz="2400" dirty="0"/>
              <a:t> 2D shapes- CIRCLES?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643514" y="2132857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circumference of a circle?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718CEE-07EA-44BC-A2D8-211908A586A2}"/>
              </a:ext>
            </a:extLst>
          </p:cNvPr>
          <p:cNvSpPr txBox="1"/>
          <p:nvPr/>
        </p:nvSpPr>
        <p:spPr>
          <a:xfrm>
            <a:off x="2639617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</a:t>
            </a:r>
            <a:r>
              <a:rPr lang="en-AU" sz="2800" dirty="0" err="1"/>
              <a:t>easurement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3806970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7500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calculate the perimeter of </a:t>
            </a:r>
            <a:r>
              <a:rPr lang="en-US" sz="2400" b="1" u="sng" dirty="0"/>
              <a:t>all</a:t>
            </a:r>
            <a:r>
              <a:rPr lang="en-US" sz="2400" dirty="0"/>
              <a:t> 2D shapes- CIRCLES?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643514" y="2132857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circumference of a circle?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3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Circumference = </a:t>
            </a:r>
            <a:r>
              <a:rPr lang="el-GR" dirty="0"/>
              <a:t>π</a:t>
            </a:r>
            <a:r>
              <a:rPr lang="en-AU" dirty="0"/>
              <a:t> x diameter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9B8DF5-BE5F-421E-B5B9-1DBFA47651DF}"/>
              </a:ext>
            </a:extLst>
          </p:cNvPr>
          <p:cNvSpPr txBox="1"/>
          <p:nvPr/>
        </p:nvSpPr>
        <p:spPr>
          <a:xfrm>
            <a:off x="2639617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</a:t>
            </a:r>
            <a:r>
              <a:rPr lang="en-AU" sz="2800" dirty="0" err="1"/>
              <a:t>easurement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6299656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7500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calculate the perimeter of </a:t>
            </a:r>
            <a:r>
              <a:rPr lang="en-US" sz="2400" b="1" u="sng" dirty="0"/>
              <a:t>all</a:t>
            </a:r>
            <a:r>
              <a:rPr lang="en-US" sz="2400" dirty="0"/>
              <a:t> 2D shapes- CIRCLES?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643514" y="2132857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circumference of a circle?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3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Circumference = </a:t>
            </a:r>
            <a:r>
              <a:rPr lang="el-GR" dirty="0"/>
              <a:t>π</a:t>
            </a:r>
            <a:r>
              <a:rPr lang="en-AU" dirty="0"/>
              <a:t> x diameter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655841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841" y="2564904"/>
                <a:ext cx="583264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A58F54B-4E97-475E-9E41-E2B7C76CEB28}"/>
              </a:ext>
            </a:extLst>
          </p:cNvPr>
          <p:cNvSpPr txBox="1"/>
          <p:nvPr/>
        </p:nvSpPr>
        <p:spPr>
          <a:xfrm>
            <a:off x="2639617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</a:t>
            </a:r>
            <a:r>
              <a:rPr lang="en-AU" sz="2800" dirty="0" err="1"/>
              <a:t>easurement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675622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7500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calculate the perimeter of </a:t>
            </a:r>
            <a:r>
              <a:rPr lang="en-US" sz="2400" b="1" u="sng" dirty="0"/>
              <a:t>all</a:t>
            </a:r>
            <a:r>
              <a:rPr lang="en-US" sz="2400" dirty="0"/>
              <a:t> 2D shapes- CIRCLES?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643514" y="2132857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circumference of a circle?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3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Circumference = </a:t>
            </a:r>
            <a:r>
              <a:rPr lang="el-GR" dirty="0"/>
              <a:t>π</a:t>
            </a:r>
            <a:r>
              <a:rPr lang="en-AU" dirty="0"/>
              <a:t> x diameter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655841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841" y="2564904"/>
                <a:ext cx="583264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4626337" y="3144153"/>
            <a:ext cx="583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Since the diameter is twice the length of the radius, it can also be found as: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73B671-8CB6-459A-B60B-413E727227F5}"/>
              </a:ext>
            </a:extLst>
          </p:cNvPr>
          <p:cNvSpPr txBox="1"/>
          <p:nvPr/>
        </p:nvSpPr>
        <p:spPr>
          <a:xfrm>
            <a:off x="2639617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</a:t>
            </a:r>
            <a:r>
              <a:rPr lang="en-AU" sz="2800" dirty="0" err="1"/>
              <a:t>easurement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4427554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7500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calculate the perimeter of </a:t>
            </a:r>
            <a:r>
              <a:rPr lang="en-US" sz="2400" b="1" u="sng" dirty="0"/>
              <a:t>all</a:t>
            </a:r>
            <a:r>
              <a:rPr lang="en-US" sz="2400" dirty="0"/>
              <a:t> 2D shapes- CIRCLES?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643514" y="2132857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circumference of a circle?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3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Circumference = </a:t>
            </a:r>
            <a:r>
              <a:rPr lang="el-GR" dirty="0"/>
              <a:t>π</a:t>
            </a:r>
            <a:r>
              <a:rPr lang="en-AU" dirty="0"/>
              <a:t> x diameter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655841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841" y="2564904"/>
                <a:ext cx="583264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4626337" y="3144153"/>
            <a:ext cx="583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Since the diameter is twice the length of the radius, it can also be found as: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5840" y="3790483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Circumference = </a:t>
            </a:r>
            <a:r>
              <a:rPr lang="el-GR" dirty="0"/>
              <a:t>π</a:t>
            </a:r>
            <a:r>
              <a:rPr lang="en-AU" dirty="0"/>
              <a:t> x 2 x radius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A006CC-7355-437A-8E72-8E2AC1E814CB}"/>
              </a:ext>
            </a:extLst>
          </p:cNvPr>
          <p:cNvSpPr txBox="1"/>
          <p:nvPr/>
        </p:nvSpPr>
        <p:spPr>
          <a:xfrm>
            <a:off x="2639617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</a:t>
            </a:r>
            <a:r>
              <a:rPr lang="en-AU" sz="2800" dirty="0" err="1"/>
              <a:t>easurement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9412667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7500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EQ: How do we calculate the perimeter of </a:t>
            </a:r>
            <a:r>
              <a:rPr lang="en-US" sz="2400" b="1" u="sng"/>
              <a:t>all</a:t>
            </a:r>
            <a:r>
              <a:rPr lang="en-US" sz="2400"/>
              <a:t> 2D shapes- CIRCLES?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643514" y="2132857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circumference of a circle?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3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Circumference = </a:t>
            </a:r>
            <a:r>
              <a:rPr lang="el-GR" dirty="0"/>
              <a:t>π</a:t>
            </a:r>
            <a:r>
              <a:rPr lang="en-AU" dirty="0"/>
              <a:t> x diameter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655841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841" y="2564904"/>
                <a:ext cx="583264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4626337" y="3144153"/>
            <a:ext cx="583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Since the diameter is twice the length of the radius, it can also be found as: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5840" y="3790483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Circumference = </a:t>
            </a:r>
            <a:r>
              <a:rPr lang="el-GR" dirty="0"/>
              <a:t>π</a:t>
            </a:r>
            <a:r>
              <a:rPr lang="en-AU" dirty="0"/>
              <a:t> x 2 x radius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727848" y="4293096"/>
                <a:ext cx="540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848" y="4293096"/>
                <a:ext cx="54006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4CCB601B-3D78-463B-ABB0-16B8A39805C2}"/>
              </a:ext>
            </a:extLst>
          </p:cNvPr>
          <p:cNvSpPr txBox="1"/>
          <p:nvPr/>
        </p:nvSpPr>
        <p:spPr>
          <a:xfrm>
            <a:off x="2639617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</a:t>
            </a:r>
            <a:r>
              <a:rPr lang="en-AU" sz="2800" dirty="0" err="1"/>
              <a:t>easurement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8195856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7500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calculate the perimeter of </a:t>
            </a:r>
            <a:r>
              <a:rPr lang="en-US" sz="2400" b="1" u="sng" dirty="0"/>
              <a:t>all</a:t>
            </a:r>
            <a:r>
              <a:rPr lang="en-US" sz="2400" dirty="0"/>
              <a:t> 2D shapes- CIRCLES?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643514" y="2132857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circumference of a circle?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3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Circumference = </a:t>
            </a:r>
            <a:r>
              <a:rPr lang="el-GR" dirty="0"/>
              <a:t>π</a:t>
            </a:r>
            <a:r>
              <a:rPr lang="en-AU" dirty="0"/>
              <a:t> x diameter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655841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841" y="2564904"/>
                <a:ext cx="583264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4626337" y="3144153"/>
            <a:ext cx="583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Since the diameter is twice the length of the radius, it can also be found as: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5840" y="3790483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Circumference = </a:t>
            </a:r>
            <a:r>
              <a:rPr lang="el-GR" dirty="0"/>
              <a:t>π</a:t>
            </a:r>
            <a:r>
              <a:rPr lang="en-AU" dirty="0"/>
              <a:t> x 2 x radius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727848" y="4293096"/>
                <a:ext cx="540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848" y="4293096"/>
                <a:ext cx="54006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4727849" y="4662428"/>
            <a:ext cx="573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*remember that multiplication can be done in any order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7923A3-10F0-4568-B65D-823D063E9542}"/>
              </a:ext>
            </a:extLst>
          </p:cNvPr>
          <p:cNvSpPr txBox="1"/>
          <p:nvPr/>
        </p:nvSpPr>
        <p:spPr>
          <a:xfrm>
            <a:off x="2639617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</a:t>
            </a:r>
            <a:r>
              <a:rPr lang="en-AU" sz="2800" dirty="0" err="1"/>
              <a:t>easurement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9212014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7500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EQ: How do we calculate the perimeter of </a:t>
            </a:r>
            <a:r>
              <a:rPr lang="en-US" sz="2400" b="1" u="sng"/>
              <a:t>all</a:t>
            </a:r>
            <a:r>
              <a:rPr lang="en-US" sz="2400"/>
              <a:t> 2D shapes- CIRCLES?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643514" y="2132857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circumference of a circle?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3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Circumference = </a:t>
            </a:r>
            <a:r>
              <a:rPr lang="el-GR" dirty="0"/>
              <a:t>π</a:t>
            </a:r>
            <a:r>
              <a:rPr lang="en-AU" dirty="0"/>
              <a:t> x diameter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655841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841" y="2564904"/>
                <a:ext cx="583264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4626337" y="3144153"/>
            <a:ext cx="583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Since the diameter is twice the length of the radius, it can also be found as: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5840" y="3790483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Circumference = </a:t>
            </a:r>
            <a:r>
              <a:rPr lang="el-GR" dirty="0"/>
              <a:t>π</a:t>
            </a:r>
            <a:r>
              <a:rPr lang="en-AU" dirty="0"/>
              <a:t> x 2 x radius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727848" y="4293096"/>
                <a:ext cx="540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848" y="4293096"/>
                <a:ext cx="54006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4727849" y="4662428"/>
            <a:ext cx="573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*remember that multiplication can be done in any 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3512" y="5157193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area of a circle?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21D7CF-758F-438F-BD4D-9DE7A02F00DE}"/>
              </a:ext>
            </a:extLst>
          </p:cNvPr>
          <p:cNvSpPr txBox="1"/>
          <p:nvPr/>
        </p:nvSpPr>
        <p:spPr>
          <a:xfrm>
            <a:off x="2639617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</a:t>
            </a:r>
            <a:r>
              <a:rPr lang="en-AU" sz="2800" dirty="0" err="1"/>
              <a:t>easurement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6483236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7500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calculate the perimeter of </a:t>
            </a:r>
            <a:r>
              <a:rPr lang="en-US" sz="2400" b="1" u="sng" dirty="0"/>
              <a:t>all</a:t>
            </a:r>
            <a:r>
              <a:rPr lang="en-US" sz="2400" dirty="0"/>
              <a:t> 2D shapes- CIRCLES?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643514" y="2132857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circumference of a circle?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3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Circumference = </a:t>
            </a:r>
            <a:r>
              <a:rPr lang="el-GR" dirty="0"/>
              <a:t>π</a:t>
            </a:r>
            <a:r>
              <a:rPr lang="en-AU" dirty="0"/>
              <a:t> x diameter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655841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841" y="2564904"/>
                <a:ext cx="583264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4626337" y="3144153"/>
            <a:ext cx="583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Since the diameter is twice the length of the radius, it can also be found as: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5840" y="3790483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Circumference = </a:t>
            </a:r>
            <a:r>
              <a:rPr lang="el-GR" dirty="0"/>
              <a:t>π</a:t>
            </a:r>
            <a:r>
              <a:rPr lang="en-AU" dirty="0"/>
              <a:t> x 2 x radius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727848" y="4293096"/>
                <a:ext cx="540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848" y="4293096"/>
                <a:ext cx="54006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4727849" y="4662428"/>
            <a:ext cx="573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*remember that multiplication can be done in any 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3512" y="5157193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area of a circle?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4727848" y="5301208"/>
                <a:ext cx="55360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Area = </a:t>
                </a:r>
                <a:r>
                  <a:rPr lang="el-GR" dirty="0"/>
                  <a:t>π</a:t>
                </a:r>
                <a:r>
                  <a:rPr lang="en-AU" dirty="0"/>
                  <a:t>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𝑟𝑎𝑑𝑖𝑢𝑠</m:t>
                        </m:r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848" y="5301208"/>
                <a:ext cx="5536088" cy="369332"/>
              </a:xfrm>
              <a:prstGeom prst="rect">
                <a:avLst/>
              </a:prstGeom>
              <a:blipFill>
                <a:blip r:embed="rId4"/>
                <a:stretch>
                  <a:fillRect l="-991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702F578C-2D58-4A39-AF23-22A772AC2395}"/>
              </a:ext>
            </a:extLst>
          </p:cNvPr>
          <p:cNvSpPr txBox="1"/>
          <p:nvPr/>
        </p:nvSpPr>
        <p:spPr>
          <a:xfrm>
            <a:off x="2639617" y="457508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</a:t>
            </a:r>
            <a:r>
              <a:rPr lang="en-AU" sz="2800" dirty="0" err="1"/>
              <a:t>easurement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3368201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7500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calculate the perimeter of </a:t>
            </a:r>
            <a:r>
              <a:rPr lang="en-US" sz="2400" b="1" u="sng" dirty="0"/>
              <a:t>all</a:t>
            </a:r>
            <a:r>
              <a:rPr lang="en-US" sz="2400" dirty="0"/>
              <a:t> 2D shapes- CIRCLES?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643514" y="2132857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circumference of a circle?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3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Circumference = </a:t>
            </a:r>
            <a:r>
              <a:rPr lang="el-GR" dirty="0"/>
              <a:t>π</a:t>
            </a:r>
            <a:r>
              <a:rPr lang="en-AU" dirty="0"/>
              <a:t> x diameter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655841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841" y="2564904"/>
                <a:ext cx="583264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4626337" y="3144153"/>
            <a:ext cx="583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Since the diameter is twice the length of the radius, it can also be found as: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5840" y="3790483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Circumference = </a:t>
            </a:r>
            <a:r>
              <a:rPr lang="el-GR" dirty="0"/>
              <a:t>π</a:t>
            </a:r>
            <a:r>
              <a:rPr lang="en-AU" dirty="0"/>
              <a:t> x 2 x radius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727848" y="4293096"/>
                <a:ext cx="540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848" y="4293096"/>
                <a:ext cx="54006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4727849" y="4662428"/>
            <a:ext cx="573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*remember that multiplication can be done in any 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3512" y="5157193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area of a circle?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104775" y="5766546"/>
                <a:ext cx="8712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4775" y="5766546"/>
                <a:ext cx="871201" cy="276999"/>
              </a:xfrm>
              <a:prstGeom prst="rect">
                <a:avLst/>
              </a:prstGeom>
              <a:blipFill>
                <a:blip r:embed="rId4"/>
                <a:stretch>
                  <a:fillRect l="-5594" t="-4444" r="-2797"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4727848" y="5301208"/>
                <a:ext cx="55360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Area = </a:t>
                </a:r>
                <a:r>
                  <a:rPr lang="el-GR" dirty="0"/>
                  <a:t>π</a:t>
                </a:r>
                <a:r>
                  <a:rPr lang="en-AU" dirty="0"/>
                  <a:t>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𝑟𝑎𝑑𝑖𝑢𝑠</m:t>
                        </m:r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848" y="5301208"/>
                <a:ext cx="5536088" cy="369332"/>
              </a:xfrm>
              <a:prstGeom prst="rect">
                <a:avLst/>
              </a:prstGeom>
              <a:blipFill>
                <a:blip r:embed="rId5"/>
                <a:stretch>
                  <a:fillRect l="-991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FF4F2959-27EC-49F3-AB87-94B38D491058}"/>
              </a:ext>
            </a:extLst>
          </p:cNvPr>
          <p:cNvSpPr txBox="1"/>
          <p:nvPr/>
        </p:nvSpPr>
        <p:spPr>
          <a:xfrm>
            <a:off x="2639617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</a:t>
            </a:r>
            <a:r>
              <a:rPr lang="en-AU" sz="2800" dirty="0" err="1"/>
              <a:t>easurement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9398002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7500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calculate the perimeter of </a:t>
            </a:r>
            <a:r>
              <a:rPr lang="en-US" sz="2400" b="1" u="sng" dirty="0"/>
              <a:t>all</a:t>
            </a:r>
            <a:r>
              <a:rPr lang="en-US" sz="2400" dirty="0"/>
              <a:t> 2D shapes- CIRCLES?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643514" y="2132857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circumference of a circle?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3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Circumference = </a:t>
            </a:r>
            <a:r>
              <a:rPr lang="el-GR" dirty="0"/>
              <a:t>π</a:t>
            </a:r>
            <a:r>
              <a:rPr lang="en-AU" dirty="0"/>
              <a:t> x diameter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655841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841" y="2564904"/>
                <a:ext cx="583264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4626337" y="3144153"/>
            <a:ext cx="583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Since the diameter is twice the length of the radius, it can also be found as: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5840" y="3790483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Circumference = </a:t>
            </a:r>
            <a:r>
              <a:rPr lang="el-GR" dirty="0"/>
              <a:t>π</a:t>
            </a:r>
            <a:r>
              <a:rPr lang="en-AU" dirty="0"/>
              <a:t> x 2 x radius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727848" y="4293096"/>
                <a:ext cx="540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848" y="4293096"/>
                <a:ext cx="54006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4727849" y="4662428"/>
            <a:ext cx="573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*remember that multiplication can be done in any 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3512" y="5157193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area of a circle?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104775" y="5766546"/>
                <a:ext cx="8712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4775" y="5766546"/>
                <a:ext cx="871201" cy="276999"/>
              </a:xfrm>
              <a:prstGeom prst="rect">
                <a:avLst/>
              </a:prstGeom>
              <a:blipFill>
                <a:blip r:embed="rId4"/>
                <a:stretch>
                  <a:fillRect l="-5594" t="-4444" r="-2797"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4727848" y="5301208"/>
                <a:ext cx="55360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Area = </a:t>
                </a:r>
                <a:r>
                  <a:rPr lang="el-GR" dirty="0"/>
                  <a:t>π</a:t>
                </a:r>
                <a:r>
                  <a:rPr lang="en-AU" dirty="0"/>
                  <a:t>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𝑟𝑎𝑑𝑖𝑢𝑠</m:t>
                        </m:r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848" y="5301208"/>
                <a:ext cx="5536088" cy="369332"/>
              </a:xfrm>
              <a:prstGeom prst="rect">
                <a:avLst/>
              </a:prstGeom>
              <a:blipFill>
                <a:blip r:embed="rId5"/>
                <a:stretch>
                  <a:fillRect l="-991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4724345" y="6136870"/>
            <a:ext cx="5659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*you may need to find the radius first.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86E73C-0543-400D-AB4C-37808BBF602A}"/>
              </a:ext>
            </a:extLst>
          </p:cNvPr>
          <p:cNvSpPr txBox="1"/>
          <p:nvPr/>
        </p:nvSpPr>
        <p:spPr>
          <a:xfrm>
            <a:off x="2639617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</a:t>
            </a:r>
            <a:r>
              <a:rPr lang="en-AU" sz="2800" dirty="0" err="1"/>
              <a:t>easurement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6385574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576" y="1268760"/>
            <a:ext cx="7845076" cy="3366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577" y="4725144"/>
            <a:ext cx="8042851" cy="19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9731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Answers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632" y="1772816"/>
            <a:ext cx="6634539" cy="79208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616" y="2927283"/>
            <a:ext cx="6458782" cy="40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6740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Independent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Task 1: Circumference of a circle Maze</a:t>
            </a:r>
          </a:p>
          <a:p>
            <a:endParaRPr lang="en-US" dirty="0"/>
          </a:p>
          <a:p>
            <a:r>
              <a:rPr lang="en-US" dirty="0"/>
              <a:t>Task 2: </a:t>
            </a:r>
          </a:p>
          <a:p>
            <a:pPr marL="0" indent="0">
              <a:buNone/>
            </a:pPr>
            <a:r>
              <a:rPr lang="en-US" dirty="0" err="1"/>
              <a:t>Pg</a:t>
            </a:r>
            <a:r>
              <a:rPr lang="en-US" dirty="0"/>
              <a:t> 13-14 MAWA Textbook</a:t>
            </a:r>
          </a:p>
          <a:p>
            <a:pPr marL="0" indent="0">
              <a:buNone/>
            </a:pPr>
            <a:r>
              <a:rPr lang="en-US" dirty="0"/>
              <a:t>Question 3-8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586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1998</Words>
  <Application>Microsoft Office PowerPoint</Application>
  <PresentationFormat>Widescreen</PresentationFormat>
  <Paragraphs>337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Calibri Light</vt:lpstr>
      <vt:lpstr>Cambria Math</vt:lpstr>
      <vt:lpstr>Times New Roman</vt:lpstr>
      <vt:lpstr>Office Theme</vt:lpstr>
      <vt:lpstr>Topic: Measurement</vt:lpstr>
      <vt:lpstr>PowerPoint Presentation</vt:lpstr>
      <vt:lpstr>Definition of a circle- Just listen Cornell notes next slide</vt:lpstr>
      <vt:lpstr>PowerPoint Presentation</vt:lpstr>
      <vt:lpstr>Circumference and Radius- Just listen Cornell notes next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think about π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Answers</vt:lpstr>
      <vt:lpstr>Independent practice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Measurement</dc:title>
  <dc:creator>Sarah James</dc:creator>
  <cp:lastModifiedBy>JAMES Sarah [Baldivis Secondary College]</cp:lastModifiedBy>
  <cp:revision>3</cp:revision>
  <dcterms:created xsi:type="dcterms:W3CDTF">2019-12-04T03:21:25Z</dcterms:created>
  <dcterms:modified xsi:type="dcterms:W3CDTF">2021-02-01T10:41:08Z</dcterms:modified>
</cp:coreProperties>
</file>
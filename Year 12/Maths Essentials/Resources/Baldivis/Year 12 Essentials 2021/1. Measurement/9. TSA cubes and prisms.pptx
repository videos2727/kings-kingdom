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EB823-0063-436D-8D61-C5D32A6E93BE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A4BC4-69C9-466A-A01E-FBC55D3D50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4662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9048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9398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3560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3701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2198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3EDA5E-4F08-43FC-BCE4-4BDB62F9EED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975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8C5CC-A688-44FD-92BC-CD23E50E6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74DF5-C3BE-4BF1-BE0F-927E6C006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5C65B-E94D-4F0F-83A8-0A4EBD2D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EB9E-3ADC-4521-8B17-A3FDE85D04B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7298F-D548-4654-BF43-E37572DD6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2950A-B811-422C-A11F-2DDBE13FB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980C-1D3A-4CBD-B7B5-9D4D82A545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6125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84F8A-75AD-4E53-8142-B427522A8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DF958-F596-46CA-A64B-0FA63FC50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57EFB-AE2F-4187-B9B7-04C3EE05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EB9E-3ADC-4521-8B17-A3FDE85D04B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6A319-13C5-42D1-BDFC-4E8D33B5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F4CBB-0104-47EC-8AF8-C9E3BEDE4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980C-1D3A-4CBD-B7B5-9D4D82A545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754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057D1-BBE3-41BB-8FC2-8789C8F90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52D74-04D0-4635-BD8C-F55290749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71882-F8CC-4CCE-8616-E2EB9C1B3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EB9E-3ADC-4521-8B17-A3FDE85D04B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77112-0202-4042-9106-16C4B6E3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8E26A-1272-4FFA-8AFB-F544BE34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980C-1D3A-4CBD-B7B5-9D4D82A545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972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ECFB-78A7-4387-85EA-2A1135C6E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857C7-1A57-47E5-8891-F1F58BE0A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24930-9147-4EBA-B236-5772B552F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71A54-EF50-402F-A79C-E0ABCFC6E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EB9E-3ADC-4521-8B17-A3FDE85D04B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BA56F-1AAC-4042-98A5-4AB26F662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B5AFF-F418-4714-A8B6-7C2C8087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980C-1D3A-4CBD-B7B5-9D4D82A545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757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A6DF3-C933-4371-93D2-AE3663DE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FB86C-C88E-4770-8CF0-D26C80FB7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C2C60-DDA7-42ED-BB58-6BBC054B5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2F147C-D62C-4984-B012-3318B04DE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C60BC-EA06-496B-8075-2560D4DEE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A463BB-3D31-49E9-8321-7F8AA9DCB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EB9E-3ADC-4521-8B17-A3FDE85D04B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985BCE-86C2-4D7E-9B20-5602547C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072196-AB23-4D74-A77E-E354DE03F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980C-1D3A-4CBD-B7B5-9D4D82A545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982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A59A3-38E0-4B95-9330-F6A24FAE3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0934B-2DF2-4FD5-9C9D-2661A5622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EB9E-3ADC-4521-8B17-A3FDE85D04B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F403B-347C-4017-B909-90FD9561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7EF5A-DD9F-486B-89E4-E4AE86A2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980C-1D3A-4CBD-B7B5-9D4D82A545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6036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48B6C3-26B6-46C1-B1BB-E045AF02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EB9E-3ADC-4521-8B17-A3FDE85D04B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E31F58-1C5F-47D1-A482-469A506B2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A08E4-0FFF-409F-B068-87C23976E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980C-1D3A-4CBD-B7B5-9D4D82A545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337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35953-AFF9-4C18-B628-371D08D5F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9451B-C3A6-4408-9D5D-457710E48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04DDC-BF8F-4819-AA7A-C2D8F9B2E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686D7-F953-4590-A82A-3EDB7D53F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EB9E-3ADC-4521-8B17-A3FDE85D04B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64C7E-2089-4A7E-B3FE-F8C87E873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43685-854A-46DE-97A5-8F90B93C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980C-1D3A-4CBD-B7B5-9D4D82A545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63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3231-D0A3-420A-966F-C2ECAAB2A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3CFEF5-EC33-4FA0-8237-1B1DE5773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291E12-AD01-4839-8ECD-A6CEE2281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E88D7-2C05-4ECA-96EB-3665DA42B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EB9E-3ADC-4521-8B17-A3FDE85D04B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D35AB-40FA-4B3C-9C89-4D953814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BECB7-6FBC-49F4-8675-27FDF99A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980C-1D3A-4CBD-B7B5-9D4D82A545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752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08698-A4BD-4DE4-AEA2-6D52113D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A163C9-5617-4184-AD57-DE93622D3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6D003-7BFD-41A3-8B8B-A70A68F2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EB9E-3ADC-4521-8B17-A3FDE85D04B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A1E49-1C61-4DDF-AD0A-F99925070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BD0DA-E068-4E0C-A68B-068C5CE61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980C-1D3A-4CBD-B7B5-9D4D82A545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3420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27BEED-75E3-4B43-88DE-C7F76F91B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C1C18-5EFC-4CB4-BCB9-2A4D62CEB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FC9DC-96F7-474B-81F7-C7ED5CBA0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EB9E-3ADC-4521-8B17-A3FDE85D04B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DE34B-2AD3-41D9-AE56-3E2D0DBC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2BFFD-9BB2-4245-A2B0-0292FB39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980C-1D3A-4CBD-B7B5-9D4D82A545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698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AC3D6D-6A54-4CCC-B72F-422C38D9A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D8EF6-3A18-4DFC-84CE-9AF30B12E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2D54A-0C22-46D4-AFCD-BAFEC2F29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5EB9E-3ADC-4521-8B17-A3FDE85D04BB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1E18A-2CBD-479A-911D-FBB97B8D2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93899-08E7-45BE-81EA-0592298AC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A980C-1D3A-4CBD-B7B5-9D4D82A545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3819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aJFLVAQrR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423592" y="3068961"/>
            <a:ext cx="936104" cy="273630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3" name="Group 12"/>
          <p:cNvGrpSpPr/>
          <p:nvPr/>
        </p:nvGrpSpPr>
        <p:grpSpPr>
          <a:xfrm rot="7266684">
            <a:off x="4669562" y="3542909"/>
            <a:ext cx="2520280" cy="2736304"/>
            <a:chOff x="2915816" y="3068960"/>
            <a:chExt cx="2520280" cy="2736304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2915816" y="3068960"/>
              <a:ext cx="864096" cy="2736304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779912" y="3068960"/>
              <a:ext cx="1656184" cy="2736304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915816" y="5805264"/>
              <a:ext cx="2520280" cy="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 flipV="1">
            <a:off x="7752184" y="3501010"/>
            <a:ext cx="1440160" cy="70847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9192344" y="3501009"/>
            <a:ext cx="936104" cy="69536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752184" y="4204985"/>
            <a:ext cx="1440160" cy="70847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9192344" y="4204983"/>
            <a:ext cx="936104" cy="69536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423592" y="580526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6057" y="418333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6465" y="5283019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50mm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5760" y="394199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110mm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5019" y="3776571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120mm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5414939" y="3136821"/>
            <a:ext cx="0" cy="214532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46465" y="415613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100mm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0272464" y="3501009"/>
            <a:ext cx="0" cy="141245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7752184" y="3356993"/>
            <a:ext cx="2376264" cy="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534820" y="298766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6m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6440" y="397146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4m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404C9B77-28BC-4CBA-9D8B-FBDB77B0C5DD}"/>
              </a:ext>
            </a:extLst>
          </p:cNvPr>
          <p:cNvSpPr txBox="1">
            <a:spLocks/>
          </p:cNvSpPr>
          <p:nvPr/>
        </p:nvSpPr>
        <p:spPr>
          <a:xfrm>
            <a:off x="1563019" y="-70378"/>
            <a:ext cx="9144000" cy="841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FF06AE-A7DA-4016-B153-9C8BA00F9872}"/>
              </a:ext>
            </a:extLst>
          </p:cNvPr>
          <p:cNvSpPr/>
          <p:nvPr/>
        </p:nvSpPr>
        <p:spPr>
          <a:xfrm>
            <a:off x="1057083" y="590254"/>
            <a:ext cx="85787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EQ – How do I calculate the surface area of cubes and other prisms?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475049-C96D-4401-92B7-65FC2609E659}"/>
              </a:ext>
            </a:extLst>
          </p:cNvPr>
          <p:cNvSpPr txBox="1"/>
          <p:nvPr/>
        </p:nvSpPr>
        <p:spPr>
          <a:xfrm>
            <a:off x="192057" y="1023485"/>
            <a:ext cx="1164656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Don’t forget your </a:t>
            </a:r>
            <a:r>
              <a:rPr lang="en-US" dirty="0" err="1"/>
              <a:t>mathspace</a:t>
            </a:r>
            <a:r>
              <a:rPr lang="en-US" dirty="0"/>
              <a:t> homework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Have a go: Find the area of the following</a:t>
            </a:r>
          </a:p>
        </p:txBody>
      </p:sp>
    </p:spTree>
    <p:extLst>
      <p:ext uri="{BB962C8B-B14F-4D97-AF65-F5344CB8AC3E}">
        <p14:creationId xmlns:p14="http://schemas.microsoft.com/office/powerpoint/2010/main" val="186535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By the end of this lesson you will be able to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- </a:t>
            </a:r>
            <a:r>
              <a:rPr lang="en-GB" dirty="0"/>
              <a:t>calculate the surface area of a cubes and other prisms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1. Handout a copy of this PPT presentation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2. YOU CHOOSE TO use this POWERPOINT and/or WATCH:</a:t>
            </a:r>
          </a:p>
          <a:p>
            <a:pPr marL="0" indent="0">
              <a:buNone/>
            </a:pPr>
            <a:r>
              <a:rPr lang="en-AU" dirty="0">
                <a:hlinkClick r:id="rId3"/>
              </a:rPr>
              <a:t>https://www.youtube.com/watch?v=daJFLVAQrRA</a:t>
            </a:r>
            <a:endParaRPr lang="en-AU" dirty="0"/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3. Work through </a:t>
            </a:r>
            <a:r>
              <a:rPr lang="en-AU" dirty="0" err="1">
                <a:solidFill>
                  <a:srgbClr val="FF0000"/>
                </a:solidFill>
              </a:rPr>
              <a:t>Mathspace</a:t>
            </a:r>
            <a:r>
              <a:rPr lang="en-AU" dirty="0">
                <a:solidFill>
                  <a:srgbClr val="FF0000"/>
                </a:solidFill>
              </a:rPr>
              <a:t> task: </a:t>
            </a:r>
            <a:r>
              <a:rPr lang="en-AU" dirty="0"/>
              <a:t>Classwork T1 W3_ Lesson 1 Surface Area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surface area of cubes and other prisms?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9A990-9932-44DE-B094-A133C2B7232C}"/>
              </a:ext>
            </a:extLst>
          </p:cNvPr>
          <p:cNvSpPr txBox="1"/>
          <p:nvPr/>
        </p:nvSpPr>
        <p:spPr>
          <a:xfrm>
            <a:off x="4655840" y="2276872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prism is a 3D shape that has a constant cross-section.</a:t>
            </a:r>
          </a:p>
        </p:txBody>
      </p:sp>
      <p:sp>
        <p:nvSpPr>
          <p:cNvPr id="5" name="AutoShape 2" descr="angle of elevation">
            <a:extLst>
              <a:ext uri="{FF2B5EF4-FFF2-40B4-BE49-F238E27FC236}">
                <a16:creationId xmlns:a16="http://schemas.microsoft.com/office/drawing/2014/main" id="{6930FAF4-87A9-4F3A-B1C2-7171BDC12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E30D8A-4EA7-469E-8A46-0A25827750FD}"/>
              </a:ext>
            </a:extLst>
          </p:cNvPr>
          <p:cNvSpPr txBox="1"/>
          <p:nvPr/>
        </p:nvSpPr>
        <p:spPr>
          <a:xfrm>
            <a:off x="1812270" y="2487957"/>
            <a:ext cx="2483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prism?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94F8EF-E9A7-4683-B41B-6276A6544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235" y="2672624"/>
            <a:ext cx="3878066" cy="212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surface area of cubes and other prisms?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9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cube?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6BC177-2251-4551-B9CB-80F9B5CD3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342" y="3933062"/>
            <a:ext cx="2169016" cy="20826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B9828E-7E32-475A-B4D0-BFCCA4107F07}"/>
              </a:ext>
            </a:extLst>
          </p:cNvPr>
          <p:cNvSpPr txBox="1"/>
          <p:nvPr/>
        </p:nvSpPr>
        <p:spPr>
          <a:xfrm>
            <a:off x="7157364" y="2308565"/>
            <a:ext cx="32591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Each face is the same – a square.</a:t>
            </a:r>
          </a:p>
          <a:p>
            <a:endParaRPr lang="en-GB" dirty="0"/>
          </a:p>
          <a:p>
            <a:r>
              <a:rPr lang="en-GB" dirty="0"/>
              <a:t>Area A 	= 5 x 5</a:t>
            </a:r>
          </a:p>
          <a:p>
            <a:r>
              <a:rPr lang="en-GB" dirty="0"/>
              <a:t>	= 25cm</a:t>
            </a:r>
            <a:r>
              <a:rPr lang="en-GB" baseline="30000" dirty="0"/>
              <a:t>2</a:t>
            </a:r>
          </a:p>
          <a:p>
            <a:endParaRPr lang="en-GB" dirty="0"/>
          </a:p>
          <a:p>
            <a:r>
              <a:rPr lang="en-GB" dirty="0"/>
              <a:t>Total Surface Area = 6 x 25</a:t>
            </a:r>
          </a:p>
          <a:p>
            <a:r>
              <a:rPr lang="en-GB" dirty="0"/>
              <a:t>		= 150cm</a:t>
            </a:r>
            <a:r>
              <a:rPr lang="en-GB" baseline="300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0CCB37-5A7F-4C0F-B994-3100B566CDA0}"/>
              </a:ext>
            </a:extLst>
          </p:cNvPr>
          <p:cNvSpPr/>
          <p:nvPr/>
        </p:nvSpPr>
        <p:spPr>
          <a:xfrm>
            <a:off x="4511824" y="6171704"/>
            <a:ext cx="57521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Surface area is the total area of the outside of a 3D object</a:t>
            </a:r>
          </a:p>
        </p:txBody>
      </p:sp>
    </p:spTree>
    <p:extLst>
      <p:ext uri="{BB962C8B-B14F-4D97-AF65-F5344CB8AC3E}">
        <p14:creationId xmlns:p14="http://schemas.microsoft.com/office/powerpoint/2010/main" val="309021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surface area of cubes and other prisms?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9"/>
            <a:ext cx="2376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rectangular prism (cuboid)?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474C2-4E85-42A6-951E-77716354F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862" y="2664991"/>
            <a:ext cx="2407898" cy="13738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61D35E-2EEB-4BB5-AF06-3A002F34F55E}"/>
              </a:ext>
            </a:extLst>
          </p:cNvPr>
          <p:cNvSpPr txBox="1"/>
          <p:nvPr/>
        </p:nvSpPr>
        <p:spPr>
          <a:xfrm>
            <a:off x="6672070" y="4149112"/>
            <a:ext cx="38752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Area A = 5 x 9</a:t>
            </a:r>
          </a:p>
          <a:p>
            <a:r>
              <a:rPr lang="en-GB" sz="1400" dirty="0"/>
              <a:t>	= 45cm</a:t>
            </a:r>
            <a:r>
              <a:rPr lang="en-GB" sz="1400" baseline="30000" dirty="0"/>
              <a:t>2</a:t>
            </a:r>
          </a:p>
          <a:p>
            <a:endParaRPr lang="en-GB" sz="1400" dirty="0"/>
          </a:p>
          <a:p>
            <a:r>
              <a:rPr lang="en-GB" sz="1400" dirty="0"/>
              <a:t>Area B = 9 x 3</a:t>
            </a:r>
          </a:p>
          <a:p>
            <a:r>
              <a:rPr lang="en-GB" sz="1400" dirty="0"/>
              <a:t>	= 27cm</a:t>
            </a:r>
            <a:r>
              <a:rPr lang="en-GB" sz="1400" baseline="30000" dirty="0"/>
              <a:t>2</a:t>
            </a:r>
          </a:p>
          <a:p>
            <a:endParaRPr lang="en-GB" sz="1400" dirty="0"/>
          </a:p>
          <a:p>
            <a:r>
              <a:rPr lang="en-GB" sz="1400" dirty="0"/>
              <a:t>Area C = 3 x 5</a:t>
            </a:r>
          </a:p>
          <a:p>
            <a:r>
              <a:rPr lang="en-GB" sz="1400" dirty="0"/>
              <a:t>	= 15cm</a:t>
            </a:r>
            <a:r>
              <a:rPr lang="en-GB" sz="1400" baseline="30000" dirty="0"/>
              <a:t>2</a:t>
            </a:r>
          </a:p>
          <a:p>
            <a:endParaRPr lang="en-GB" sz="1400" dirty="0"/>
          </a:p>
          <a:p>
            <a:r>
              <a:rPr lang="en-GB" sz="1400" dirty="0"/>
              <a:t>Total Surface Area = (45 + 27 + 15) x 2 = 174cm</a:t>
            </a:r>
            <a:r>
              <a:rPr lang="en-GB" sz="14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7350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surface area of cubes and other prisms?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8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triangular prism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6D5CEE-6DBD-482A-94DF-D147C52C3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824" y="1988840"/>
            <a:ext cx="2339753" cy="20082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CD2E24-16A2-4A54-9AA9-0EFBCF5C62BE}"/>
              </a:ext>
            </a:extLst>
          </p:cNvPr>
          <p:cNvSpPr txBox="1"/>
          <p:nvPr/>
        </p:nvSpPr>
        <p:spPr>
          <a:xfrm>
            <a:off x="6851578" y="2579907"/>
            <a:ext cx="381642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Area of Triangles = ½ x 5 x 6</a:t>
            </a:r>
          </a:p>
          <a:p>
            <a:r>
              <a:rPr lang="en-GB" sz="1600" dirty="0"/>
              <a:t>		     = 15m</a:t>
            </a:r>
            <a:r>
              <a:rPr lang="en-GB" sz="1600" baseline="30000" dirty="0"/>
              <a:t>2</a:t>
            </a:r>
            <a:endParaRPr lang="en-GB" sz="1600" dirty="0"/>
          </a:p>
          <a:p>
            <a:r>
              <a:rPr lang="en-GB" sz="1600" dirty="0"/>
              <a:t>		     = 15 x 2</a:t>
            </a:r>
          </a:p>
          <a:p>
            <a:r>
              <a:rPr lang="en-GB" sz="1600" dirty="0"/>
              <a:t>		     </a:t>
            </a:r>
            <a:r>
              <a:rPr lang="en-GB" sz="1600" dirty="0">
                <a:solidFill>
                  <a:srgbClr val="FF0000"/>
                </a:solidFill>
              </a:rPr>
              <a:t>= 30m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dirty="0"/>
              <a:t>Area of Rectangle 1 = 12 x 11</a:t>
            </a:r>
          </a:p>
          <a:p>
            <a:r>
              <a:rPr lang="en-GB" sz="1600" dirty="0"/>
              <a:t>		         </a:t>
            </a:r>
            <a:r>
              <a:rPr lang="en-GB" sz="1600" dirty="0">
                <a:solidFill>
                  <a:srgbClr val="FF0000"/>
                </a:solidFill>
              </a:rPr>
              <a:t>= 132m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dirty="0"/>
              <a:t>Area of Rectangle 2 = 5 x 12</a:t>
            </a:r>
          </a:p>
          <a:p>
            <a:r>
              <a:rPr lang="en-GB" sz="1600" dirty="0"/>
              <a:t>		         </a:t>
            </a:r>
            <a:r>
              <a:rPr lang="en-GB" sz="1600" dirty="0">
                <a:solidFill>
                  <a:srgbClr val="FF0000"/>
                </a:solidFill>
              </a:rPr>
              <a:t>= 60m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dirty="0"/>
              <a:t>Area of Rectangle 3 = 12 x 7</a:t>
            </a:r>
          </a:p>
          <a:p>
            <a:r>
              <a:rPr lang="en-GB" sz="1600" dirty="0"/>
              <a:t>		         </a:t>
            </a:r>
            <a:r>
              <a:rPr lang="en-GB" sz="1600" dirty="0">
                <a:solidFill>
                  <a:srgbClr val="FF0000"/>
                </a:solidFill>
              </a:rPr>
              <a:t>= 84m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b="1" dirty="0">
                <a:solidFill>
                  <a:srgbClr val="FF0000"/>
                </a:solidFill>
              </a:rPr>
              <a:t>Total Surface Area </a:t>
            </a:r>
            <a:r>
              <a:rPr lang="en-GB" sz="1600" dirty="0">
                <a:solidFill>
                  <a:srgbClr val="FF0000"/>
                </a:solidFill>
              </a:rPr>
              <a:t>= 30 + 132 + 60 + 84</a:t>
            </a:r>
          </a:p>
          <a:p>
            <a:r>
              <a:rPr lang="en-GB" sz="1600" dirty="0">
                <a:solidFill>
                  <a:srgbClr val="FF0000"/>
                </a:solidFill>
              </a:rPr>
              <a:t>		        = 306m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3662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5EAA-027F-49EE-A8E7-90E7776A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456" y="332656"/>
            <a:ext cx="6707088" cy="202034"/>
          </a:xfrm>
        </p:spPr>
        <p:txBody>
          <a:bodyPr>
            <a:normAutofit fontScale="90000"/>
          </a:bodyPr>
          <a:lstStyle/>
          <a:p>
            <a:r>
              <a:rPr lang="en-GB" sz="2000" dirty="0"/>
              <a:t>Guided practice- Find the surface area of the following 3D shapes</a:t>
            </a:r>
            <a:endParaRPr lang="en-AU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3070ED-C0AA-4F92-8AF1-82A599A9BE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53834" y="764704"/>
            <a:ext cx="2395711" cy="184679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0E27E2-7E47-4151-BE49-287E4F41EC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847529" y="620688"/>
            <a:ext cx="1557989" cy="1695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05D6F9-65B0-446E-9D7E-31DF196D6B72}"/>
              </a:ext>
            </a:extLst>
          </p:cNvPr>
          <p:cNvSpPr txBox="1"/>
          <p:nvPr/>
        </p:nvSpPr>
        <p:spPr>
          <a:xfrm>
            <a:off x="1703513" y="2401835"/>
            <a:ext cx="37402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Area A 	= 8 x 11</a:t>
            </a:r>
          </a:p>
          <a:p>
            <a:r>
              <a:rPr lang="en-GB" dirty="0"/>
              <a:t>	= 88cm</a:t>
            </a:r>
            <a:r>
              <a:rPr lang="en-GB" baseline="30000" dirty="0"/>
              <a:t>2</a:t>
            </a:r>
          </a:p>
          <a:p>
            <a:endParaRPr lang="en-GB" dirty="0"/>
          </a:p>
          <a:p>
            <a:r>
              <a:rPr lang="en-GB" dirty="0"/>
              <a:t>Area B 	= 5 x 11</a:t>
            </a:r>
          </a:p>
          <a:p>
            <a:r>
              <a:rPr lang="en-GB" dirty="0"/>
              <a:t>	= 55cm</a:t>
            </a:r>
            <a:r>
              <a:rPr lang="en-GB" baseline="30000" dirty="0"/>
              <a:t>2</a:t>
            </a:r>
          </a:p>
          <a:p>
            <a:endParaRPr lang="en-GB" dirty="0"/>
          </a:p>
          <a:p>
            <a:r>
              <a:rPr lang="en-GB" dirty="0"/>
              <a:t>Area C 	= 5 x 8</a:t>
            </a:r>
          </a:p>
          <a:p>
            <a:r>
              <a:rPr lang="en-GB" dirty="0"/>
              <a:t>	= 40cm</a:t>
            </a:r>
            <a:r>
              <a:rPr lang="en-GB" baseline="30000" dirty="0"/>
              <a:t>2</a:t>
            </a:r>
          </a:p>
          <a:p>
            <a:endParaRPr lang="en-GB" dirty="0"/>
          </a:p>
          <a:p>
            <a:r>
              <a:rPr lang="en-GB" dirty="0"/>
              <a:t>TOTAL SURFACE AREA </a:t>
            </a:r>
          </a:p>
          <a:p>
            <a:r>
              <a:rPr lang="en-GB" dirty="0"/>
              <a:t>= (88 + 55 + 40) x 2</a:t>
            </a:r>
          </a:p>
          <a:p>
            <a:r>
              <a:rPr lang="en-GB" dirty="0"/>
              <a:t>= 183 x 2</a:t>
            </a:r>
          </a:p>
          <a:p>
            <a:r>
              <a:rPr lang="en-GB" dirty="0"/>
              <a:t>= 366cm</a:t>
            </a:r>
            <a:r>
              <a:rPr lang="en-GB" baseline="300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DF7E9-6CAE-4354-8E8A-BED00932C5BE}"/>
              </a:ext>
            </a:extLst>
          </p:cNvPr>
          <p:cNvSpPr txBox="1"/>
          <p:nvPr/>
        </p:nvSpPr>
        <p:spPr>
          <a:xfrm>
            <a:off x="6744321" y="2611495"/>
            <a:ext cx="421196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Area of Triangles = ½ x 3 x 6</a:t>
            </a:r>
          </a:p>
          <a:p>
            <a:r>
              <a:rPr lang="en-GB" sz="1600" dirty="0"/>
              <a:t>		     = 9m</a:t>
            </a:r>
            <a:r>
              <a:rPr lang="en-GB" sz="1600" baseline="30000" dirty="0"/>
              <a:t>2</a:t>
            </a:r>
            <a:endParaRPr lang="en-GB" sz="1600" dirty="0"/>
          </a:p>
          <a:p>
            <a:r>
              <a:rPr lang="en-GB" sz="1600" dirty="0"/>
              <a:t>		     = 9 x 2</a:t>
            </a:r>
          </a:p>
          <a:p>
            <a:r>
              <a:rPr lang="en-GB" sz="1600" dirty="0"/>
              <a:t>		     </a:t>
            </a:r>
            <a:r>
              <a:rPr lang="en-GB" sz="1600" dirty="0">
                <a:solidFill>
                  <a:srgbClr val="FF0000"/>
                </a:solidFill>
              </a:rPr>
              <a:t>= 18m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dirty="0"/>
              <a:t>Area of Rectangle 1 = 10 x 6</a:t>
            </a:r>
          </a:p>
          <a:p>
            <a:r>
              <a:rPr lang="en-GB" sz="1600" dirty="0"/>
              <a:t>		         </a:t>
            </a:r>
            <a:r>
              <a:rPr lang="en-GB" sz="1600" dirty="0">
                <a:solidFill>
                  <a:srgbClr val="FF0000"/>
                </a:solidFill>
              </a:rPr>
              <a:t>= 60m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dirty="0"/>
              <a:t>Area of Rectangle 2 = 7 x 10</a:t>
            </a:r>
          </a:p>
          <a:p>
            <a:r>
              <a:rPr lang="en-GB" sz="1600" dirty="0"/>
              <a:t>		         </a:t>
            </a:r>
            <a:r>
              <a:rPr lang="en-GB" sz="1600" dirty="0">
                <a:solidFill>
                  <a:srgbClr val="FF0000"/>
                </a:solidFill>
              </a:rPr>
              <a:t>= 70m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dirty="0"/>
              <a:t>Area of Rectangle 3 = 3 x 10</a:t>
            </a:r>
          </a:p>
          <a:p>
            <a:r>
              <a:rPr lang="en-GB" sz="1600" dirty="0"/>
              <a:t>		         </a:t>
            </a:r>
            <a:r>
              <a:rPr lang="en-GB" sz="1600" dirty="0">
                <a:solidFill>
                  <a:srgbClr val="FF0000"/>
                </a:solidFill>
              </a:rPr>
              <a:t>= 30m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1600" dirty="0"/>
          </a:p>
          <a:p>
            <a:r>
              <a:rPr lang="en-GB" sz="1600" b="1" dirty="0">
                <a:solidFill>
                  <a:srgbClr val="FF0000"/>
                </a:solidFill>
              </a:rPr>
              <a:t>Total Surface Area </a:t>
            </a:r>
            <a:r>
              <a:rPr lang="en-GB" sz="1600" dirty="0">
                <a:solidFill>
                  <a:srgbClr val="FF0000"/>
                </a:solidFill>
              </a:rPr>
              <a:t>= 18+ 60 + 70 + 30</a:t>
            </a:r>
          </a:p>
          <a:p>
            <a:r>
              <a:rPr lang="en-GB" sz="1600" dirty="0">
                <a:solidFill>
                  <a:srgbClr val="FF0000"/>
                </a:solidFill>
              </a:rPr>
              <a:t>		        = 178m</a:t>
            </a:r>
            <a:r>
              <a:rPr lang="en-GB" sz="1600" baseline="30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8089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3600" dirty="0"/>
              <a:t>Surface Area of Prisms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423592" y="4077072"/>
            <a:ext cx="1944216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746056" y="5517232"/>
            <a:ext cx="1944216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746056" y="4077072"/>
            <a:ext cx="677536" cy="14401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690272" y="4077072"/>
            <a:ext cx="677536" cy="14401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749200" y="2492896"/>
            <a:ext cx="1944216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071664" y="3933056"/>
            <a:ext cx="1944216" cy="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071664" y="2492896"/>
            <a:ext cx="677536" cy="144016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5015880" y="2492896"/>
            <a:ext cx="677536" cy="14401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2423592" y="2492896"/>
            <a:ext cx="1325608" cy="1584176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1746056" y="3933056"/>
            <a:ext cx="1340340" cy="1584176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4367808" y="2492896"/>
            <a:ext cx="1325608" cy="1584176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3690272" y="3933056"/>
            <a:ext cx="1325608" cy="1584176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120828" y="5487616"/>
            <a:ext cx="1310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9cm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9456" y="4407496"/>
            <a:ext cx="1310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8cm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7052" y="4566320"/>
            <a:ext cx="1310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11cm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1944" y="2982144"/>
            <a:ext cx="1310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7cm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879976" y="2492896"/>
            <a:ext cx="0" cy="1440160"/>
          </a:xfrm>
          <a:prstGeom prst="straightConnector1">
            <a:avLst/>
          </a:prstGeom>
          <a:ln>
            <a:solidFill>
              <a:srgbClr val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44074" y="473765"/>
            <a:ext cx="392392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Area of Parallelograms </a:t>
            </a:r>
          </a:p>
          <a:p>
            <a:r>
              <a:rPr lang="en-GB" sz="2000" dirty="0"/>
              <a:t>= 9 x 7</a:t>
            </a:r>
          </a:p>
          <a:p>
            <a:r>
              <a:rPr lang="en-GB" sz="2000" dirty="0"/>
              <a:t>= </a:t>
            </a:r>
            <a:r>
              <a:rPr lang="en-GB" sz="2000" dirty="0">
                <a:solidFill>
                  <a:srgbClr val="FF0000"/>
                </a:solidFill>
              </a:rPr>
              <a:t>63cm</a:t>
            </a:r>
            <a:r>
              <a:rPr lang="en-GB" sz="20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2000" dirty="0"/>
          </a:p>
          <a:p>
            <a:r>
              <a:rPr lang="en-GB" sz="2000" dirty="0"/>
              <a:t>Area of Rectangles 1</a:t>
            </a:r>
          </a:p>
          <a:p>
            <a:r>
              <a:rPr lang="en-GB" sz="2000" dirty="0"/>
              <a:t>= 11 x 9</a:t>
            </a:r>
          </a:p>
          <a:p>
            <a:r>
              <a:rPr lang="en-GB" sz="2000" dirty="0"/>
              <a:t>= 99cm</a:t>
            </a:r>
            <a:r>
              <a:rPr lang="en-GB" sz="2000" baseline="30000" dirty="0"/>
              <a:t>2</a:t>
            </a:r>
          </a:p>
          <a:p>
            <a:r>
              <a:rPr lang="en-GB" sz="2000" dirty="0"/>
              <a:t>99 x 2</a:t>
            </a:r>
          </a:p>
          <a:p>
            <a:r>
              <a:rPr lang="en-GB" sz="2000" dirty="0">
                <a:solidFill>
                  <a:srgbClr val="FF0000"/>
                </a:solidFill>
              </a:rPr>
              <a:t>= 198cm</a:t>
            </a:r>
            <a:r>
              <a:rPr lang="en-GB" sz="20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2000" dirty="0"/>
          </a:p>
          <a:p>
            <a:r>
              <a:rPr lang="en-GB" sz="2000" dirty="0"/>
              <a:t>Area of Rectangles 2</a:t>
            </a:r>
          </a:p>
          <a:p>
            <a:r>
              <a:rPr lang="en-GB" sz="2000" dirty="0"/>
              <a:t>= 8 x 11</a:t>
            </a:r>
          </a:p>
          <a:p>
            <a:r>
              <a:rPr lang="en-GB" sz="2000" dirty="0"/>
              <a:t>= 88cm</a:t>
            </a:r>
            <a:r>
              <a:rPr lang="en-GB" sz="2000" baseline="30000" dirty="0"/>
              <a:t>2</a:t>
            </a:r>
          </a:p>
          <a:p>
            <a:r>
              <a:rPr lang="en-GB" sz="2000" dirty="0"/>
              <a:t>88 x 2</a:t>
            </a:r>
          </a:p>
          <a:p>
            <a:r>
              <a:rPr lang="en-GB" sz="2000" dirty="0">
                <a:solidFill>
                  <a:srgbClr val="FF0000"/>
                </a:solidFill>
              </a:rPr>
              <a:t>= 176cm</a:t>
            </a:r>
            <a:r>
              <a:rPr lang="en-GB" sz="2000" baseline="30000" dirty="0">
                <a:solidFill>
                  <a:srgbClr val="FF0000"/>
                </a:solidFill>
              </a:rPr>
              <a:t>2</a:t>
            </a:r>
          </a:p>
          <a:p>
            <a:endParaRPr lang="en-GB" sz="2000" dirty="0"/>
          </a:p>
          <a:p>
            <a:r>
              <a:rPr lang="en-GB" sz="2000" dirty="0">
                <a:solidFill>
                  <a:srgbClr val="FF0000"/>
                </a:solidFill>
              </a:rPr>
              <a:t>TOTAL SURFACE AREA</a:t>
            </a:r>
          </a:p>
          <a:p>
            <a:r>
              <a:rPr lang="en-GB" sz="2000" dirty="0">
                <a:solidFill>
                  <a:srgbClr val="FF0000"/>
                </a:solidFill>
              </a:rPr>
              <a:t>= 63 + 198 + 176</a:t>
            </a:r>
          </a:p>
          <a:p>
            <a:r>
              <a:rPr lang="en-GB" sz="2000" dirty="0">
                <a:solidFill>
                  <a:srgbClr val="FF0000"/>
                </a:solidFill>
              </a:rPr>
              <a:t>= 437cm</a:t>
            </a:r>
            <a:r>
              <a:rPr lang="en-GB" sz="2000" baseline="30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9979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of Prisms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550578" y="1412777"/>
            <a:ext cx="6777671" cy="3576041"/>
            <a:chOff x="26577" y="1403486"/>
            <a:chExt cx="8217831" cy="4105737"/>
          </a:xfrm>
        </p:grpSpPr>
        <p:sp>
          <p:nvSpPr>
            <p:cNvPr id="4" name="Trapezoid 3"/>
            <p:cNvSpPr/>
            <p:nvPr/>
          </p:nvSpPr>
          <p:spPr>
            <a:xfrm>
              <a:off x="871882" y="3501008"/>
              <a:ext cx="2664296" cy="1584176"/>
            </a:xfrm>
            <a:prstGeom prst="trapezoid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rapezoid 4"/>
            <p:cNvSpPr/>
            <p:nvPr/>
          </p:nvSpPr>
          <p:spPr>
            <a:xfrm>
              <a:off x="3536178" y="1781200"/>
              <a:ext cx="2664296" cy="1584176"/>
            </a:xfrm>
            <a:prstGeom prst="trapezoid">
              <a:avLst/>
            </a:prstGeom>
            <a:noFill/>
            <a:ln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" name="Straight Connector 6"/>
            <p:cNvCxnSpPr/>
            <p:nvPr/>
          </p:nvCxnSpPr>
          <p:spPr>
            <a:xfrm flipV="1">
              <a:off x="1259632" y="1781200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871882" y="3365376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3131840" y="1781200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3536178" y="3365376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923928" y="1781200"/>
              <a:ext cx="1872208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809991" y="1781200"/>
              <a:ext cx="404338" cy="1584176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331640" y="5085184"/>
              <a:ext cx="1584176" cy="424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10cm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48588" y="1403486"/>
              <a:ext cx="1584176" cy="424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6cm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6577" y="3966383"/>
              <a:ext cx="1584176" cy="424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8cm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525219" y="2276872"/>
              <a:ext cx="1584176" cy="424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8cm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87400" y="4149080"/>
              <a:ext cx="1368775" cy="424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16cm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7020272" y="1772818"/>
              <a:ext cx="0" cy="1592559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020272" y="2276872"/>
              <a:ext cx="1224136" cy="424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7cm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096000" y="3861049"/>
            <a:ext cx="4509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Area of Trapeziums = ½ (10 + 6) x 7</a:t>
            </a:r>
          </a:p>
          <a:p>
            <a:r>
              <a:rPr lang="en-GB" sz="2400" dirty="0"/>
              <a:t>= ½ x 16 x 7</a:t>
            </a:r>
          </a:p>
          <a:p>
            <a:r>
              <a:rPr lang="en-GB" sz="2400" dirty="0">
                <a:solidFill>
                  <a:srgbClr val="FF0000"/>
                </a:solidFill>
              </a:rPr>
              <a:t>= 56cm</a:t>
            </a:r>
            <a:r>
              <a:rPr lang="en-GB" sz="24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9496" y="5118284"/>
            <a:ext cx="4509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Area of Rectangle 1 = 16 x 8</a:t>
            </a:r>
          </a:p>
          <a:p>
            <a:r>
              <a:rPr lang="en-GB" sz="2400" dirty="0">
                <a:solidFill>
                  <a:srgbClr val="FF0000"/>
                </a:solidFill>
              </a:rPr>
              <a:t>= 128cm</a:t>
            </a:r>
            <a:r>
              <a:rPr lang="en-GB" sz="24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3604" y="5151673"/>
            <a:ext cx="4509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Area of Rectangle 2 = 10 x 16</a:t>
            </a:r>
          </a:p>
          <a:p>
            <a:r>
              <a:rPr lang="en-GB" sz="2400" dirty="0">
                <a:solidFill>
                  <a:srgbClr val="FF0000"/>
                </a:solidFill>
              </a:rPr>
              <a:t>= 160cm</a:t>
            </a:r>
            <a:r>
              <a:rPr lang="en-GB" sz="24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9496" y="5948991"/>
            <a:ext cx="4509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Area of Rectangle 3 = 16 x 8</a:t>
            </a:r>
          </a:p>
          <a:p>
            <a:r>
              <a:rPr lang="en-GB" sz="2400" dirty="0">
                <a:solidFill>
                  <a:srgbClr val="FF0000"/>
                </a:solidFill>
              </a:rPr>
              <a:t>= 128cm</a:t>
            </a:r>
            <a:r>
              <a:rPr lang="en-GB" sz="24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3604" y="5982380"/>
            <a:ext cx="4509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Area of Rectangle 4 = 6 x 16</a:t>
            </a:r>
          </a:p>
          <a:p>
            <a:r>
              <a:rPr lang="en-GB" sz="2400" dirty="0">
                <a:solidFill>
                  <a:srgbClr val="FF0000"/>
                </a:solidFill>
              </a:rPr>
              <a:t>= 96cm</a:t>
            </a:r>
            <a:r>
              <a:rPr lang="en-GB" sz="24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6240" y="1412776"/>
            <a:ext cx="23490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TOTAL SURFACE AREA = 56 + 128 + 160 + 128 + 96</a:t>
            </a:r>
          </a:p>
          <a:p>
            <a:endParaRPr lang="en-GB" sz="2400" dirty="0">
              <a:solidFill>
                <a:srgbClr val="FF0000"/>
              </a:solidFill>
            </a:endParaRPr>
          </a:p>
          <a:p>
            <a:r>
              <a:rPr lang="en-GB" sz="2400" dirty="0">
                <a:solidFill>
                  <a:srgbClr val="FF0000"/>
                </a:solidFill>
              </a:rPr>
              <a:t>= 568cm</a:t>
            </a:r>
            <a:r>
              <a:rPr lang="en-GB" sz="2400" baseline="30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4372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  <p:bldP spid="30" grpId="0"/>
      <p:bldP spid="31" grpId="0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052736"/>
          </a:xfrm>
        </p:spPr>
        <p:txBody>
          <a:bodyPr/>
          <a:lstStyle/>
          <a:p>
            <a:r>
              <a:rPr lang="en-GB" dirty="0"/>
              <a:t>Activity 1 Surface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80729"/>
            <a:ext cx="8229600" cy="5145436"/>
          </a:xfrm>
        </p:spPr>
        <p:txBody>
          <a:bodyPr/>
          <a:lstStyle/>
          <a:p>
            <a:r>
              <a:rPr lang="en-GB" dirty="0"/>
              <a:t>Calculate the Surface Area of the cube and cuboids shown below:</a:t>
            </a:r>
          </a:p>
        </p:txBody>
      </p:sp>
      <p:sp>
        <p:nvSpPr>
          <p:cNvPr id="4" name="Cube 3"/>
          <p:cNvSpPr/>
          <p:nvPr/>
        </p:nvSpPr>
        <p:spPr>
          <a:xfrm rot="16200000">
            <a:off x="2423592" y="2132856"/>
            <a:ext cx="2088232" cy="2088232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3467708" y="4221088"/>
            <a:ext cx="90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7cm</a:t>
            </a:r>
          </a:p>
        </p:txBody>
      </p:sp>
      <p:sp>
        <p:nvSpPr>
          <p:cNvPr id="6" name="Cube 5"/>
          <p:cNvSpPr/>
          <p:nvPr/>
        </p:nvSpPr>
        <p:spPr>
          <a:xfrm rot="16200000">
            <a:off x="6168008" y="2312877"/>
            <a:ext cx="3024336" cy="2232248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7536160" y="4941169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8cm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8008" y="4545125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6280" y="3515963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15cm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3220126" y="5445224"/>
            <a:ext cx="1152128" cy="114283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Triangle 10"/>
          <p:cNvSpPr/>
          <p:nvPr/>
        </p:nvSpPr>
        <p:spPr>
          <a:xfrm>
            <a:off x="4799856" y="4869161"/>
            <a:ext cx="1152128" cy="114283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/>
          <p:cNvCxnSpPr>
            <a:stCxn id="10" idx="0"/>
            <a:endCxn id="11" idx="0"/>
          </p:cNvCxnSpPr>
          <p:nvPr/>
        </p:nvCxnSpPr>
        <p:spPr>
          <a:xfrm flipV="1">
            <a:off x="3220126" y="4869161"/>
            <a:ext cx="1579730" cy="5760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4"/>
            <a:endCxn id="11" idx="4"/>
          </p:cNvCxnSpPr>
          <p:nvPr/>
        </p:nvCxnSpPr>
        <p:spPr>
          <a:xfrm flipV="1">
            <a:off x="4372254" y="6011996"/>
            <a:ext cx="1579730" cy="5760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0" idx="2"/>
          </p:cNvCxnSpPr>
          <p:nvPr/>
        </p:nvCxnSpPr>
        <p:spPr>
          <a:xfrm flipV="1">
            <a:off x="3220126" y="6016640"/>
            <a:ext cx="1579730" cy="57141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87688" y="652534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8068" y="5930694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9876" y="6283127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9916" y="5085184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9cm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9536" y="4869160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rgbClr val="FF0000"/>
                </a:solidFill>
              </a:rPr>
              <a:t>EXTENSION: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2104" y="2931189"/>
            <a:ext cx="14401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FF0000"/>
                </a:solidFill>
              </a:rPr>
              <a:t>SA = 294cm</a:t>
            </a:r>
            <a:r>
              <a:rPr lang="en-GB" sz="28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6121" y="3083589"/>
            <a:ext cx="14401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FF0000"/>
                </a:solidFill>
              </a:rPr>
              <a:t>SA = 378cm</a:t>
            </a:r>
            <a:r>
              <a:rPr lang="en-GB" sz="28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3713" y="5085185"/>
            <a:ext cx="14401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FF0000"/>
                </a:solidFill>
              </a:rPr>
              <a:t>SA = 270cm</a:t>
            </a:r>
            <a:r>
              <a:rPr lang="en-GB" sz="2800" baseline="30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0401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2 Surface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1039" y="1535975"/>
            <a:ext cx="8229600" cy="4525963"/>
          </a:xfrm>
        </p:spPr>
        <p:txBody>
          <a:bodyPr/>
          <a:lstStyle/>
          <a:p>
            <a:r>
              <a:rPr lang="en-GB" dirty="0"/>
              <a:t>Calculate the surface area of the following shapes.</a:t>
            </a:r>
          </a:p>
        </p:txBody>
      </p:sp>
      <p:sp>
        <p:nvSpPr>
          <p:cNvPr id="4" name="Cube 3"/>
          <p:cNvSpPr/>
          <p:nvPr/>
        </p:nvSpPr>
        <p:spPr>
          <a:xfrm>
            <a:off x="4657328" y="2780928"/>
            <a:ext cx="936104" cy="3096344"/>
          </a:xfrm>
          <a:prstGeom prst="cub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4729336" y="587727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7928" y="566033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1m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4081264" y="414443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14m</a:t>
            </a:r>
          </a:p>
        </p:txBody>
      </p:sp>
      <p:sp>
        <p:nvSpPr>
          <p:cNvPr id="8" name="Right Triangle 7"/>
          <p:cNvSpPr/>
          <p:nvPr/>
        </p:nvSpPr>
        <p:spPr>
          <a:xfrm>
            <a:off x="7285289" y="4227057"/>
            <a:ext cx="1656184" cy="1284209"/>
          </a:xfrm>
          <a:prstGeom prst="rtTriangle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>
            <a:stCxn id="8" idx="4"/>
          </p:cNvCxnSpPr>
          <p:nvPr/>
        </p:nvCxnSpPr>
        <p:spPr>
          <a:xfrm flipV="1">
            <a:off x="8941474" y="3783072"/>
            <a:ext cx="1114967" cy="1728192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8" idx="0"/>
          </p:cNvCxnSpPr>
          <p:nvPr/>
        </p:nvCxnSpPr>
        <p:spPr>
          <a:xfrm flipV="1">
            <a:off x="7285291" y="2543251"/>
            <a:ext cx="1265165" cy="1683804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550456" y="2543253"/>
            <a:ext cx="1505985" cy="1239821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52183" y="551126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4071" y="4719177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7739" y="29784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9cm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8917" y="281701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9" name="Cube 8"/>
          <p:cNvSpPr/>
          <p:nvPr/>
        </p:nvSpPr>
        <p:spPr>
          <a:xfrm>
            <a:off x="1775520" y="3434967"/>
            <a:ext cx="1584176" cy="1584176"/>
          </a:xfrm>
          <a:prstGeom prst="cube">
            <a:avLst/>
          </a:prstGeom>
          <a:solidFill>
            <a:srgbClr val="CCCC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1775520" y="501317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6cm</a:t>
            </a:r>
          </a:p>
        </p:txBody>
      </p:sp>
    </p:spTree>
    <p:extLst>
      <p:ext uri="{BB962C8B-B14F-4D97-AF65-F5344CB8AC3E}">
        <p14:creationId xmlns:p14="http://schemas.microsoft.com/office/powerpoint/2010/main" val="3554662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5641" y="274638"/>
            <a:ext cx="7355159" cy="491800"/>
          </a:xfrm>
        </p:spPr>
        <p:txBody>
          <a:bodyPr>
            <a:normAutofit/>
          </a:bodyPr>
          <a:lstStyle/>
          <a:p>
            <a:r>
              <a:rPr lang="en-GB" sz="2000" dirty="0"/>
              <a:t>Find the surface area of the following shapes</a:t>
            </a:r>
          </a:p>
        </p:txBody>
      </p:sp>
      <p:sp>
        <p:nvSpPr>
          <p:cNvPr id="4" name="Cube 3"/>
          <p:cNvSpPr/>
          <p:nvPr/>
        </p:nvSpPr>
        <p:spPr>
          <a:xfrm>
            <a:off x="1991544" y="1484784"/>
            <a:ext cx="2376264" cy="1368152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351584" y="285293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7cm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3752" y="256490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7768" y="183553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4cm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6312024" y="1697070"/>
            <a:ext cx="1656184" cy="1593468"/>
          </a:xfrm>
          <a:prstGeom prst="triangle">
            <a:avLst>
              <a:gd name="adj" fmla="val 32433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Isosceles Triangle 9"/>
          <p:cNvSpPr/>
          <p:nvPr/>
        </p:nvSpPr>
        <p:spPr>
          <a:xfrm>
            <a:off x="7968208" y="1052736"/>
            <a:ext cx="1656184" cy="1593468"/>
          </a:xfrm>
          <a:prstGeom prst="triangle">
            <a:avLst>
              <a:gd name="adj" fmla="val 32433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/>
          <p:cNvCxnSpPr>
            <a:stCxn id="9" idx="0"/>
            <a:endCxn id="10" idx="0"/>
          </p:cNvCxnSpPr>
          <p:nvPr/>
        </p:nvCxnSpPr>
        <p:spPr>
          <a:xfrm flipV="1">
            <a:off x="6849174" y="1052736"/>
            <a:ext cx="1656184" cy="6443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2"/>
            <a:endCxn id="10" idx="2"/>
          </p:cNvCxnSpPr>
          <p:nvPr/>
        </p:nvCxnSpPr>
        <p:spPr>
          <a:xfrm flipV="1">
            <a:off x="6312024" y="2646204"/>
            <a:ext cx="1656184" cy="64433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9" idx="4"/>
            <a:endCxn id="10" idx="4"/>
          </p:cNvCxnSpPr>
          <p:nvPr/>
        </p:nvCxnSpPr>
        <p:spPr>
          <a:xfrm flipV="1">
            <a:off x="7968208" y="2646204"/>
            <a:ext cx="1656184" cy="6443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0"/>
            <a:endCxn id="10" idx="4"/>
          </p:cNvCxnSpPr>
          <p:nvPr/>
        </p:nvCxnSpPr>
        <p:spPr>
          <a:xfrm>
            <a:off x="8505358" y="1052736"/>
            <a:ext cx="1119034" cy="15934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28048" y="327357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2264" y="2974563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6280" y="151240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5960" y="2252441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5m</a:t>
            </a:r>
          </a:p>
        </p:txBody>
      </p:sp>
      <p:cxnSp>
        <p:nvCxnSpPr>
          <p:cNvPr id="25" name="Straight Arrow Connector 24"/>
          <p:cNvCxnSpPr>
            <a:stCxn id="9" idx="0"/>
            <a:endCxn id="9" idx="3"/>
          </p:cNvCxnSpPr>
          <p:nvPr/>
        </p:nvCxnSpPr>
        <p:spPr>
          <a:xfrm>
            <a:off x="6849174" y="1697070"/>
            <a:ext cx="0" cy="1593468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80076" y="2348880"/>
            <a:ext cx="82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4m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1557981" y="3642911"/>
            <a:ext cx="5047926" cy="2964147"/>
            <a:chOff x="33981" y="3193687"/>
            <a:chExt cx="5703364" cy="3420971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258117" y="4777863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80581" y="6218023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580581" y="4777863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2524797" y="4777863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583725" y="3193687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906189" y="4633847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1906189" y="3193687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3850405" y="3193687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V="1">
              <a:off x="1258117" y="319368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580581" y="4633847"/>
              <a:ext cx="1340340" cy="1584176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3202333" y="319368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2524797" y="463384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955353" y="6188406"/>
              <a:ext cx="1310876" cy="426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9cm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3981" y="5108286"/>
              <a:ext cx="1310876" cy="426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8cm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71577" y="5267110"/>
              <a:ext cx="1310876" cy="426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11cm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26469" y="3682934"/>
              <a:ext cx="1310876" cy="426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7cm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>
              <a:off x="4714501" y="3193687"/>
              <a:ext cx="0" cy="1440160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/>
          <p:cNvSpPr/>
          <p:nvPr/>
        </p:nvSpPr>
        <p:spPr>
          <a:xfrm>
            <a:off x="1631505" y="1052737"/>
            <a:ext cx="410261" cy="41026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/>
          <p:cNvSpPr/>
          <p:nvPr/>
        </p:nvSpPr>
        <p:spPr>
          <a:xfrm>
            <a:off x="6312025" y="1205136"/>
            <a:ext cx="410261" cy="410261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/>
          <p:cNvSpPr/>
          <p:nvPr/>
        </p:nvSpPr>
        <p:spPr>
          <a:xfrm>
            <a:off x="1971042" y="3656565"/>
            <a:ext cx="410261" cy="410261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885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5" t="36941" r="11796" b="50361"/>
          <a:stretch/>
        </p:blipFill>
        <p:spPr bwMode="auto">
          <a:xfrm>
            <a:off x="1841966" y="332657"/>
            <a:ext cx="8826035" cy="1196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8" t="62879" r="9740" b="17929"/>
          <a:stretch/>
        </p:blipFill>
        <p:spPr bwMode="auto">
          <a:xfrm>
            <a:off x="1598241" y="1844824"/>
            <a:ext cx="9069761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98242" y="3573018"/>
            <a:ext cx="89622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9. Katy wants to wrap a present that is 15cm wide, 18cm deep and 4cm high. How much wrapping paper will she need to use?</a:t>
            </a:r>
          </a:p>
          <a:p>
            <a:endParaRPr lang="en-GB" sz="2200" dirty="0"/>
          </a:p>
          <a:p>
            <a:r>
              <a:rPr lang="en-GB" sz="2200" dirty="0"/>
              <a:t>10. A length of copper piping is in the shape of a triangular prism. The triangle on it’s end is 9mm tall, 4mm wide. The piece of pipe is 18cm long. What is the surface area of the pipe?</a:t>
            </a:r>
          </a:p>
          <a:p>
            <a:endParaRPr lang="en-GB" sz="2200" dirty="0"/>
          </a:p>
          <a:p>
            <a:r>
              <a:rPr lang="en-GB" sz="2200" dirty="0"/>
              <a:t>11. A box has </a:t>
            </a:r>
            <a:r>
              <a:rPr lang="en-GB" sz="2200" b="1" dirty="0">
                <a:solidFill>
                  <a:srgbClr val="FF0000"/>
                </a:solidFill>
              </a:rPr>
              <a:t>no lid</a:t>
            </a:r>
            <a:r>
              <a:rPr lang="en-GB" sz="2200" dirty="0"/>
              <a:t>. The box measures 1.2m by 30cm by 45cm. What is the surface area of the </a:t>
            </a:r>
            <a:r>
              <a:rPr lang="en-GB" sz="2200" b="1" dirty="0">
                <a:solidFill>
                  <a:srgbClr val="FF0000"/>
                </a:solidFill>
              </a:rPr>
              <a:t>outside</a:t>
            </a:r>
            <a:r>
              <a:rPr lang="en-GB" sz="2200" dirty="0"/>
              <a:t> of the box?</a:t>
            </a:r>
          </a:p>
        </p:txBody>
      </p:sp>
      <p:sp>
        <p:nvSpPr>
          <p:cNvPr id="5" name="Rectangle 4"/>
          <p:cNvSpPr/>
          <p:nvPr/>
        </p:nvSpPr>
        <p:spPr>
          <a:xfrm>
            <a:off x="1598242" y="1844825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5.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9738" y="1855674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6.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18721" y="1855674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50970" y="1855674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8.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9847" y="0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19738" y="135651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985" y="180021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4274" y="61028"/>
            <a:ext cx="537321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184011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921</Words>
  <Application>Microsoft Office PowerPoint</Application>
  <PresentationFormat>Widescreen</PresentationFormat>
  <Paragraphs>229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Lesson objective</vt:lpstr>
      <vt:lpstr>PowerPoint Presentation</vt:lpstr>
      <vt:lpstr>PowerPoint Presentation</vt:lpstr>
      <vt:lpstr>PowerPoint Presentation</vt:lpstr>
      <vt:lpstr>PowerPoint Presentation</vt:lpstr>
      <vt:lpstr>Guided practice- Find the surface area of the following 3D shapes</vt:lpstr>
      <vt:lpstr>Surface Area of Prisms</vt:lpstr>
      <vt:lpstr>Surface Area of Prisms</vt:lpstr>
      <vt:lpstr>Activity 1 Surface Area</vt:lpstr>
      <vt:lpstr>Activity 2 Surface Area</vt:lpstr>
      <vt:lpstr>Find the surface area of the following shapes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2</cp:revision>
  <dcterms:created xsi:type="dcterms:W3CDTF">2021-02-11T12:13:19Z</dcterms:created>
  <dcterms:modified xsi:type="dcterms:W3CDTF">2021-02-11T12:24:19Z</dcterms:modified>
</cp:coreProperties>
</file>
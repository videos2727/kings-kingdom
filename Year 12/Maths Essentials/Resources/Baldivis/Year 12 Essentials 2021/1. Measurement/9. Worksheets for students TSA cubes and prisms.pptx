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0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B8542-2270-4A00-966E-601242EA97D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63796-9FDE-4B93-828C-3F235911B6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397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EDA5E-4F08-43FC-BCE4-4BDB62F9EED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75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1818-3366-4702-9631-933655C2D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EB795-B224-4B1D-B6AC-8C2063A5B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5E840-2313-4FB6-AC10-2D05722B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1A2C3-270E-42BC-9199-7880F94A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F3042-D248-4590-AF87-48FE3CF1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519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7C50-62B1-4381-B729-D563DC57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B62B-6C83-4C58-9E04-4681BF70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075B3-A4FE-4B24-A07F-389F414B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FA53A-20ED-4CD3-BE03-940F04609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C13F7-56F5-42A3-AD2E-E03FE61F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45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3A56-13BB-4AEE-AD51-5DE9A1095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8698F-B6E0-4BF0-8061-6E6789361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B3679-05CE-4B31-A4D9-1B99FF4D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62CA2-43D7-4A2B-86F9-FAD48B0E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C2BAB-9A8B-40C9-A034-5EDB943D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47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015D-B90B-488F-931E-7BDBAC74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1746-C99A-4BE9-B6B1-D1621D0B0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98B23-8839-4F9A-936B-7502064DA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2DD21-4737-4FA0-A561-3F3DE582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D2AE5-B3A8-4C55-9277-961F215A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F6B86-7E84-4C0B-9D92-B94D1485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6198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0DE7-AC57-40F0-9579-A97BCF5E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E8A49-BB10-48F6-A729-193AE66C3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A61DB-C74C-414D-AC3B-46D22994C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78CB3-C392-4AB2-BB15-465EFC56D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0D81D-B4EA-4D46-A59E-F617496FA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6C69F-A6D0-4E3C-8FAE-8FE015D0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EFE4D8-71CC-4CF9-AFF9-334FA84B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52AA1-BC25-44DC-9F9A-CCA735F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2987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684E-09AA-417D-86E8-93538594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65C53-98CB-4967-B48A-1973CED3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23728-0B92-449B-9888-E3468265F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6345B-5513-4503-801F-01E6BB47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86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0A372-EFD3-4B0B-BDE2-6B7655F5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2DDC24-EDEC-42BE-8E32-3605D5D3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6E6B8-AB12-44EE-84A4-920DF33F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88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A56C-13E4-4863-9D28-D26F2BE8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29D1-9E32-4831-929D-BBBCD069C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9D767-EA4F-4C08-9892-4D537633B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B1DDD-4138-453E-BA01-3805FF79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CA0D3-06E5-45D4-936C-C3E95150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0FA34-5CA1-471C-B7D9-44101814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99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FD71-B726-412C-A771-3F8FD7E0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C2B8E-00B7-4860-8069-70049BA1A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C9642-81DE-48FF-B056-69360F4E7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C709E-6EF7-4E4D-9892-012EF941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E76AC-E288-44EE-9726-A1228656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4704E-75F3-4A6B-BB52-5CE1C4FB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906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8E29A-CB0B-4B91-A90E-CEAAE9C7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32811-5B14-44F4-B71C-72411F8D2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BBAA-78EC-4C72-9592-580F291E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96A1E-FD54-4233-96DF-F50E8441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BBB3A-DED2-4E86-92C3-90B28923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8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5B608-4334-48F4-B03C-56D41F202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188A4-7964-426C-B3A1-870F77CF9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00C1-B61F-491D-A818-03A09DFE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BA0CC-0969-4617-AB7B-70477C5D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F1C53-1F26-417C-8627-26255AE6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57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AC15E-E061-47AF-9A17-7089A85A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EE0C1-AE7A-49AB-80CF-4F5479E44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7C5B5-2E54-47CF-BD0A-6217D57A7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6D3B3-772D-4024-A01D-64E8CBB538F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17C19-8BB4-45D5-82D4-62F17AFEB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8C768-4E2E-48E7-B351-2CBA54C83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4F76F-6302-4CB1-95D8-F135DEE7A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384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0823-4524-4640-94A6-0DC5D7AF4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Worksheets for students 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83AA1-E1AF-4E4C-BD07-3F08390C4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8. TSA of cubes and prisms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26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52736"/>
          </a:xfrm>
        </p:spPr>
        <p:txBody>
          <a:bodyPr/>
          <a:lstStyle/>
          <a:p>
            <a:r>
              <a:rPr lang="en-GB" dirty="0"/>
              <a:t>Activity 1 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80729"/>
            <a:ext cx="8229600" cy="5145436"/>
          </a:xfrm>
        </p:spPr>
        <p:txBody>
          <a:bodyPr/>
          <a:lstStyle/>
          <a:p>
            <a:r>
              <a:rPr lang="en-GB" dirty="0"/>
              <a:t>Calculate the Surface Area of the cube and cuboids shown below:</a:t>
            </a:r>
          </a:p>
        </p:txBody>
      </p:sp>
      <p:sp>
        <p:nvSpPr>
          <p:cNvPr id="4" name="Cube 3"/>
          <p:cNvSpPr/>
          <p:nvPr/>
        </p:nvSpPr>
        <p:spPr>
          <a:xfrm rot="16200000">
            <a:off x="2423592" y="2132856"/>
            <a:ext cx="2088232" cy="2088232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467708" y="4221088"/>
            <a:ext cx="90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6" name="Cube 5"/>
          <p:cNvSpPr/>
          <p:nvPr/>
        </p:nvSpPr>
        <p:spPr>
          <a:xfrm rot="16200000">
            <a:off x="6168008" y="2312877"/>
            <a:ext cx="3024336" cy="2232248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7536160" y="494116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008" y="4545125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6280" y="35159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15cm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3220126" y="5445224"/>
            <a:ext cx="1152128" cy="11428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Triangle 10"/>
          <p:cNvSpPr/>
          <p:nvPr/>
        </p:nvSpPr>
        <p:spPr>
          <a:xfrm>
            <a:off x="4799856" y="4869161"/>
            <a:ext cx="1152128" cy="11428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>
            <a:stCxn id="10" idx="0"/>
            <a:endCxn id="11" idx="0"/>
          </p:cNvCxnSpPr>
          <p:nvPr/>
        </p:nvCxnSpPr>
        <p:spPr>
          <a:xfrm flipV="1">
            <a:off x="3220126" y="4869161"/>
            <a:ext cx="1579730" cy="576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4"/>
            <a:endCxn id="11" idx="4"/>
          </p:cNvCxnSpPr>
          <p:nvPr/>
        </p:nvCxnSpPr>
        <p:spPr>
          <a:xfrm flipV="1">
            <a:off x="4372254" y="6011996"/>
            <a:ext cx="1579730" cy="576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0" idx="2"/>
          </p:cNvCxnSpPr>
          <p:nvPr/>
        </p:nvCxnSpPr>
        <p:spPr>
          <a:xfrm flipV="1">
            <a:off x="3220126" y="6016640"/>
            <a:ext cx="1579730" cy="5714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87688" y="652534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8068" y="5930694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9876" y="6283127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9916" y="5085184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9536" y="486916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rgbClr val="FF0000"/>
                </a:solidFill>
              </a:rPr>
              <a:t>EXTENSION:</a:t>
            </a:r>
          </a:p>
        </p:txBody>
      </p:sp>
    </p:spTree>
    <p:extLst>
      <p:ext uri="{BB962C8B-B14F-4D97-AF65-F5344CB8AC3E}">
        <p14:creationId xmlns:p14="http://schemas.microsoft.com/office/powerpoint/2010/main" val="250401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2 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039" y="1535975"/>
            <a:ext cx="8229600" cy="4525963"/>
          </a:xfrm>
        </p:spPr>
        <p:txBody>
          <a:bodyPr/>
          <a:lstStyle/>
          <a:p>
            <a:r>
              <a:rPr lang="en-GB" dirty="0"/>
              <a:t>Calculate the surface area of the following shapes.</a:t>
            </a:r>
          </a:p>
        </p:txBody>
      </p:sp>
      <p:sp>
        <p:nvSpPr>
          <p:cNvPr id="4" name="Cube 3"/>
          <p:cNvSpPr/>
          <p:nvPr/>
        </p:nvSpPr>
        <p:spPr>
          <a:xfrm>
            <a:off x="4657328" y="2780928"/>
            <a:ext cx="936104" cy="3096344"/>
          </a:xfrm>
          <a:prstGeom prst="cub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729336" y="587727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7928" y="566033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1m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4081264" y="414443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14m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7285289" y="4227057"/>
            <a:ext cx="1656184" cy="1284209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>
            <a:stCxn id="8" idx="4"/>
          </p:cNvCxnSpPr>
          <p:nvPr/>
        </p:nvCxnSpPr>
        <p:spPr>
          <a:xfrm flipV="1">
            <a:off x="8941474" y="3783072"/>
            <a:ext cx="1114967" cy="1728192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0"/>
          </p:cNvCxnSpPr>
          <p:nvPr/>
        </p:nvCxnSpPr>
        <p:spPr>
          <a:xfrm flipV="1">
            <a:off x="7285291" y="2543251"/>
            <a:ext cx="1265165" cy="168380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50456" y="2543253"/>
            <a:ext cx="1505985" cy="123982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52183" y="551126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4071" y="471917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7739" y="29784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8917" y="281701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9" name="Cube 8"/>
          <p:cNvSpPr/>
          <p:nvPr/>
        </p:nvSpPr>
        <p:spPr>
          <a:xfrm>
            <a:off x="1775520" y="3434967"/>
            <a:ext cx="1584176" cy="1584176"/>
          </a:xfrm>
          <a:prstGeom prst="cube">
            <a:avLst/>
          </a:prstGeom>
          <a:solidFill>
            <a:srgbClr val="CCCC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775520" y="501317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355466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641" y="274638"/>
            <a:ext cx="7355159" cy="491800"/>
          </a:xfrm>
        </p:spPr>
        <p:txBody>
          <a:bodyPr>
            <a:normAutofit/>
          </a:bodyPr>
          <a:lstStyle/>
          <a:p>
            <a:r>
              <a:rPr lang="en-GB" sz="2000" dirty="0"/>
              <a:t>Find the surface area of the following shapes</a:t>
            </a:r>
          </a:p>
        </p:txBody>
      </p:sp>
      <p:sp>
        <p:nvSpPr>
          <p:cNvPr id="4" name="Cube 3"/>
          <p:cNvSpPr/>
          <p:nvPr/>
        </p:nvSpPr>
        <p:spPr>
          <a:xfrm>
            <a:off x="1991544" y="1484784"/>
            <a:ext cx="2376264" cy="1368152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351584" y="285293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7cm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3752" y="256490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7768" y="183553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4cm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6312024" y="1697070"/>
            <a:ext cx="1656184" cy="1593468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Isosceles Triangle 9"/>
          <p:cNvSpPr/>
          <p:nvPr/>
        </p:nvSpPr>
        <p:spPr>
          <a:xfrm>
            <a:off x="7968208" y="1052736"/>
            <a:ext cx="1656184" cy="1593468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/>
          <p:cNvCxnSpPr>
            <a:stCxn id="9" idx="0"/>
            <a:endCxn id="10" idx="0"/>
          </p:cNvCxnSpPr>
          <p:nvPr/>
        </p:nvCxnSpPr>
        <p:spPr>
          <a:xfrm flipV="1">
            <a:off x="6849174" y="1052736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2"/>
            <a:endCxn id="10" idx="2"/>
          </p:cNvCxnSpPr>
          <p:nvPr/>
        </p:nvCxnSpPr>
        <p:spPr>
          <a:xfrm flipV="1">
            <a:off x="6312024" y="2646204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4"/>
            <a:endCxn id="10" idx="4"/>
          </p:cNvCxnSpPr>
          <p:nvPr/>
        </p:nvCxnSpPr>
        <p:spPr>
          <a:xfrm flipV="1">
            <a:off x="7968208" y="2646204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0"/>
            <a:endCxn id="10" idx="4"/>
          </p:cNvCxnSpPr>
          <p:nvPr/>
        </p:nvCxnSpPr>
        <p:spPr>
          <a:xfrm>
            <a:off x="8505358" y="1052736"/>
            <a:ext cx="1119034" cy="15934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28048" y="327357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2264" y="2974563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6280" y="151240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5960" y="2252441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5m</a:t>
            </a:r>
          </a:p>
        </p:txBody>
      </p:sp>
      <p:cxnSp>
        <p:nvCxnSpPr>
          <p:cNvPr id="25" name="Straight Arrow Connector 24"/>
          <p:cNvCxnSpPr>
            <a:stCxn id="9" idx="0"/>
            <a:endCxn id="9" idx="3"/>
          </p:cNvCxnSpPr>
          <p:nvPr/>
        </p:nvCxnSpPr>
        <p:spPr>
          <a:xfrm>
            <a:off x="6849174" y="1697070"/>
            <a:ext cx="0" cy="159346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80076" y="2348880"/>
            <a:ext cx="8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4m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557981" y="3642911"/>
            <a:ext cx="5047926" cy="2964147"/>
            <a:chOff x="33981" y="3193687"/>
            <a:chExt cx="5703364" cy="3420971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258117" y="477786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80581" y="621802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80581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524797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583725" y="319368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906189" y="463384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906189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50405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258117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80581" y="4633847"/>
              <a:ext cx="1340340" cy="1584176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202333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524797" y="463384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55353" y="6188406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9cm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81" y="5108286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8cm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577" y="5267110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11cm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6469" y="3682934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7cm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4714501" y="3193687"/>
              <a:ext cx="0" cy="1440160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1631505" y="1052737"/>
            <a:ext cx="410261" cy="41026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/>
          <p:cNvSpPr/>
          <p:nvPr/>
        </p:nvSpPr>
        <p:spPr>
          <a:xfrm>
            <a:off x="6312025" y="1205136"/>
            <a:ext cx="410261" cy="410261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1971042" y="3656565"/>
            <a:ext cx="410261" cy="41026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885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6941" r="11796" b="50361"/>
          <a:stretch/>
        </p:blipFill>
        <p:spPr bwMode="auto">
          <a:xfrm>
            <a:off x="1841966" y="332657"/>
            <a:ext cx="8826035" cy="119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8" t="62879" r="9740" b="17929"/>
          <a:stretch/>
        </p:blipFill>
        <p:spPr bwMode="auto">
          <a:xfrm>
            <a:off x="1598241" y="1844824"/>
            <a:ext cx="9069761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98242" y="3573018"/>
            <a:ext cx="89622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9. Katy wants to wrap a present that is 15cm wide, 18cm deep and 4cm high. How much wrapping paper will she need to use?</a:t>
            </a:r>
          </a:p>
          <a:p>
            <a:endParaRPr lang="en-GB" sz="2200" dirty="0"/>
          </a:p>
          <a:p>
            <a:r>
              <a:rPr lang="en-GB" sz="2200" dirty="0"/>
              <a:t>10. A length of copper piping is in the shape of a triangular prism. The triangle on it’s end is 9mm tall, 4mm wide. The piece of pipe is 18cm long. What is the surface area of the pipe?</a:t>
            </a:r>
          </a:p>
          <a:p>
            <a:endParaRPr lang="en-GB" sz="2200" dirty="0"/>
          </a:p>
          <a:p>
            <a:r>
              <a:rPr lang="en-GB" sz="2200" dirty="0"/>
              <a:t>11. A box has </a:t>
            </a:r>
            <a:r>
              <a:rPr lang="en-GB" sz="2200" b="1" dirty="0">
                <a:solidFill>
                  <a:srgbClr val="FF0000"/>
                </a:solidFill>
              </a:rPr>
              <a:t>no lid</a:t>
            </a:r>
            <a:r>
              <a:rPr lang="en-GB" sz="2200" dirty="0"/>
              <a:t>. The box measures 1.2m by 30cm by 45cm. What is the surface area of the </a:t>
            </a:r>
            <a:r>
              <a:rPr lang="en-GB" sz="2200" b="1" dirty="0">
                <a:solidFill>
                  <a:srgbClr val="FF0000"/>
                </a:solidFill>
              </a:rPr>
              <a:t>outside</a:t>
            </a:r>
            <a:r>
              <a:rPr lang="en-GB" sz="2200" dirty="0"/>
              <a:t> of the 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1598242" y="1844825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9738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8721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0970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9847" y="0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9738" y="135651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985" y="180021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4274" y="61028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18401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197</Words>
  <Application>Microsoft Office PowerPoint</Application>
  <PresentationFormat>Widescreen</PresentationFormat>
  <Paragraphs>50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Worksheets for students </vt:lpstr>
      <vt:lpstr>Activity 1 Surface Area</vt:lpstr>
      <vt:lpstr>Activity 2 Surface Area</vt:lpstr>
      <vt:lpstr>Find the surface area of the following shapes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Worksheets for students </dc:title>
  <dc:creator>Sarah JAMES</dc:creator>
  <cp:lastModifiedBy>Sarah JAMES</cp:lastModifiedBy>
  <cp:revision>1</cp:revision>
  <dcterms:created xsi:type="dcterms:W3CDTF">2021-02-11T12:19:08Z</dcterms:created>
  <dcterms:modified xsi:type="dcterms:W3CDTF">2021-02-11T12:21:14Z</dcterms:modified>
</cp:coreProperties>
</file>
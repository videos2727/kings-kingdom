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337" r:id="rId4"/>
    <p:sldId id="338" r:id="rId5"/>
    <p:sldId id="339" r:id="rId6"/>
    <p:sldId id="290" r:id="rId7"/>
    <p:sldId id="293" r:id="rId8"/>
    <p:sldId id="34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A823B-2456-4077-81DB-051CCCA13A1F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10046-9595-4DFA-AC69-208AD9560D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56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this slide: Demonstrate the “</a:t>
            </a:r>
            <a:r>
              <a:rPr lang="en-US" b="1" dirty="0"/>
              <a:t>type of response</a:t>
            </a:r>
            <a:r>
              <a:rPr lang="en-US" dirty="0"/>
              <a:t>”: In 2 minutes (timed), you are going to share with your shoulder partner all of the formulas and examples you have written. You will get 2 mins (timed) to write down any formula/examples that your partners has that you haven’t and vice-versa. You and your partner then need to be prepared to share one formula and example on the board ( only choose 3 )</a:t>
            </a:r>
          </a:p>
          <a:p>
            <a:endParaRPr lang="en-US" dirty="0"/>
          </a:p>
          <a:p>
            <a:r>
              <a:rPr lang="en-US" dirty="0"/>
              <a:t>After marking the roll:</a:t>
            </a:r>
          </a:p>
          <a:p>
            <a:r>
              <a:rPr lang="en-US" dirty="0"/>
              <a:t>- Use </a:t>
            </a:r>
            <a:r>
              <a:rPr lang="en-US" b="1" dirty="0"/>
              <a:t>active scanning </a:t>
            </a:r>
            <a:r>
              <a:rPr lang="en-US" dirty="0"/>
              <a:t>and intervene if they are not. Use </a:t>
            </a:r>
            <a:r>
              <a:rPr lang="en-US" b="1" dirty="0"/>
              <a:t>Private dialogue </a:t>
            </a:r>
            <a:r>
              <a:rPr lang="en-US" dirty="0"/>
              <a:t>if needed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42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16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376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0723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bring a rectangular and triangular prism to show identical cross section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66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31CA-01E9-4541-A3AB-50CAF51FE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C1BFF-0DAE-40EA-A11D-16E4E83A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BBB8-389C-4CF2-A6D4-CB62BF50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4B9AD-E83C-4242-B933-191B3390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7D2D6-CF9A-458E-AE71-62C88EAA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59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B8AF-D88C-4EF5-BFF3-369FFE1C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89772-D51A-4520-9BA8-455630E1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991D1-6150-416C-A16A-88DBAF50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25CA4-9B11-409E-B56F-7EF8D9EC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71659-BE3B-4A66-AF3B-20ED496D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47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97CE-83A4-4819-B749-B548F464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75895-46B6-48C3-94D6-EE25336CA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5D9E8-DECC-4C1A-A1BC-1E86C705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DF6B-954F-461D-A9AA-A6F8B3F8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8BAE7-C708-4A81-9289-3A358215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0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A5EF-4612-4B07-94A7-7F17FDA4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6F8C-7554-44C3-A69C-D803D479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9DD8F-836C-4A6F-B0F5-2E317EC8C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F16D1-A9DB-4C68-B15B-F71F315B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C520F-DFCE-4C79-B71C-246E1F7C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7B73C-418C-4A06-9222-53FC7674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62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1E1A-FFBE-4698-81B4-C2A9E16C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5FBC4-3A9C-4DFB-98E3-81F482AB3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9F2C2-A30F-45E2-A161-91BD35D69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0AD2F-571D-4FA6-ACA0-BEDB539B2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26F13-F591-4F85-AA9A-7F6E8FA3D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30E12-B96B-46F8-A3C3-D50088626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AD07D-0F4C-44CF-8648-79D0728D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C4FD9-DA7C-4D2A-8ECA-4A95F394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35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5EE9-D94F-4F15-908F-CB236592B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CDFE8-AA0B-49B8-9EB2-85A1613B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D524C-B447-4DAC-BC4A-CE1986FE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4B022-068D-4CBE-A767-85BCDAF4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38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EEEE4-D622-407D-A793-DE226E1D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3265-3A79-4C0C-94A4-15D50D57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63602-C226-48C8-9D97-1683DB88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0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858A-34FC-4C4D-B44A-31B0A6580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71DB0-3213-4FF1-B9D3-E13BC55C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F6D76-8555-4006-A8C4-E575FB111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D07CC-A801-4286-A73B-237489C2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2C440-99EB-489E-BFDD-E8BD86FD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1D9DF-4294-4E8C-B0E5-80ECCFD1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91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BD2F-C4DC-479B-AC9C-65129E26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00BA9-D5A9-46CA-8CD1-B42EDF7D1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EA2B8-0CC9-4B74-8863-154AB19FB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6F8A4-2B01-4DB8-B725-0A141684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5384E-AEB8-47B5-93D3-65330E1E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9609-25A9-43B6-9211-F463DD1A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15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FFE7-8931-4FB9-B68E-B6045B08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EDF14-A725-4747-B441-D1BA2D8F4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2B7D5-8FE3-437C-B72C-E5C8AA4B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D0A13-44D9-4414-ABB0-0C63D538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B2DE8-810E-4100-A572-EEB95ED5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81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9EE2D-7F11-4818-B7ED-C90E58E0E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B44A2-7A2E-47F0-BBC8-BFA7BCA9F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51976-1F2A-4451-AB1F-7B15872F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711A9-B6EC-4C93-A760-7BCD7267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EA217-EEB9-43D4-8166-04511E56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66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5735F-FC1E-488D-875D-BAF90C583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9D765-4BE9-417A-9026-03D15C21F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C06F-BF8D-439C-9D21-D3178EDA6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1467B-C3F7-4C2A-8D51-F46FFF50DEBE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4EBF6-318C-44F8-8366-B5DC3FEB6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93CD2-67D3-4E3A-8511-8B13634CF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155A2-DA62-4818-A116-CCBAAF3B6E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74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3533-25D0-4E54-A0A2-F9204983D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BEAE1-5F6F-4D01-9D07-E8CE1C995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41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>
            <a:normAutofit fontScale="92500"/>
          </a:bodyPr>
          <a:lstStyle/>
          <a:p>
            <a:r>
              <a:rPr lang="en-US" dirty="0"/>
              <a:t>EQ: How do we calculate the volume of cylinders, spheres and pyramids?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2 topic and EQ’s today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59" y="742447"/>
            <a:ext cx="969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volume of cylinders, spheres and pyramids?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546711" y="1467349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cylinder?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2B089B-500E-4A25-89CB-12870D98D8CF}"/>
              </a:ext>
            </a:extLst>
          </p:cNvPr>
          <p:cNvGrpSpPr>
            <a:grpSpLocks/>
          </p:cNvGrpSpPr>
          <p:nvPr/>
        </p:nvGrpSpPr>
        <p:grpSpPr bwMode="auto">
          <a:xfrm>
            <a:off x="6199188" y="1254588"/>
            <a:ext cx="1147762" cy="1306513"/>
            <a:chOff x="6376988" y="2667000"/>
            <a:chExt cx="1147762" cy="1306513"/>
          </a:xfrm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AA5CF356-EA66-4233-BB0C-97E712097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6988" y="2667000"/>
              <a:ext cx="1143000" cy="1216025"/>
            </a:xfrm>
            <a:prstGeom prst="can">
              <a:avLst>
                <a:gd name="adj" fmla="val 36765"/>
              </a:avLst>
            </a:prstGeom>
            <a:noFill/>
            <a:ln w="25400">
              <a:solidFill>
                <a:schemeClr val="accent3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BD62DD3E-6CAA-4BD6-8528-632EC9ECB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6988" y="3573463"/>
              <a:ext cx="1143000" cy="292100"/>
            </a:xfrm>
            <a:prstGeom prst="ellipse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EAC13E64-F798-4835-81C3-20A72C64E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6588" y="3719513"/>
              <a:ext cx="538162" cy="0"/>
            </a:xfrm>
            <a:prstGeom prst="line">
              <a:avLst/>
            </a:prstGeom>
            <a:noFill/>
            <a:ln w="19050">
              <a:solidFill>
                <a:schemeClr val="accent3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en-US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9" name="Line 7">
              <a:extLst>
                <a:ext uri="{FF2B5EF4-FFF2-40B4-BE49-F238E27FC236}">
                  <a16:creationId xmlns:a16="http://schemas.microsoft.com/office/drawing/2014/main" id="{FF86624E-0E0A-42A0-AF13-65E63B9A1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8488" y="2895600"/>
              <a:ext cx="0" cy="823913"/>
            </a:xfrm>
            <a:prstGeom prst="line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  <a:round/>
              <a:headEnd type="oval" w="med" len="med"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en-US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DE15AB58-C85B-4111-B4F3-85FC133A2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575" y="3074988"/>
              <a:ext cx="35401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EF609EDF-F930-48F2-BB57-B176D3647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8650" y="3573463"/>
              <a:ext cx="3365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E53C77A4-F570-4ABC-BF79-902B082CC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8488" y="3622675"/>
              <a:ext cx="134937" cy="96838"/>
            </a:xfrm>
            <a:prstGeom prst="rect">
              <a:avLst/>
            </a:prstGeom>
            <a:noFill/>
            <a:ln w="9525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chemeClr val="accent3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AEDCA47-6B41-416A-8AD1-7423C141DD09}"/>
              </a:ext>
            </a:extLst>
          </p:cNvPr>
          <p:cNvSpPr txBox="1"/>
          <p:nvPr/>
        </p:nvSpPr>
        <p:spPr>
          <a:xfrm>
            <a:off x="4160838" y="1453368"/>
            <a:ext cx="1524000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 = </a:t>
            </a:r>
            <a:r>
              <a:rPr lang="en-US" sz="2800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r</a:t>
            </a:r>
            <a:r>
              <a:rPr lang="en-US" sz="2800" i="1" baseline="30000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800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h</a:t>
            </a:r>
            <a:endParaRPr lang="en-US" sz="2800" i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Box 12">
            <a:extLst>
              <a:ext uri="{FF2B5EF4-FFF2-40B4-BE49-F238E27FC236}">
                <a16:creationId xmlns:a16="http://schemas.microsoft.com/office/drawing/2014/main" id="{528A32D1-1CBD-41AF-8F5B-97D2E4211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5" y="2886215"/>
            <a:ext cx="9169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Find the volume and surface area of the cylinder below.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644730-11D4-4F7E-BBC4-561125BCAF48}"/>
              </a:ext>
            </a:extLst>
          </p:cNvPr>
          <p:cNvGrpSpPr>
            <a:grpSpLocks/>
          </p:cNvGrpSpPr>
          <p:nvPr/>
        </p:nvGrpSpPr>
        <p:grpSpPr bwMode="auto">
          <a:xfrm>
            <a:off x="4060825" y="3394502"/>
            <a:ext cx="1509713" cy="1216025"/>
            <a:chOff x="158750" y="4800600"/>
            <a:chExt cx="1509713" cy="1216025"/>
          </a:xfrm>
        </p:grpSpPr>
        <p:sp>
          <p:nvSpPr>
            <p:cNvPr id="26" name="AutoShape 4">
              <a:extLst>
                <a:ext uri="{FF2B5EF4-FFF2-40B4-BE49-F238E27FC236}">
                  <a16:creationId xmlns:a16="http://schemas.microsoft.com/office/drawing/2014/main" id="{DCC55D77-06C6-4A9D-B19D-0C0B6E2F6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4800600"/>
              <a:ext cx="1143000" cy="1216025"/>
            </a:xfrm>
            <a:prstGeom prst="can">
              <a:avLst>
                <a:gd name="adj" fmla="val 36748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B210028-317C-4084-8B24-3C7A7B65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5707063"/>
              <a:ext cx="1143000" cy="2921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9" name="Line 6">
              <a:extLst>
                <a:ext uri="{FF2B5EF4-FFF2-40B4-BE49-F238E27FC236}">
                  <a16:creationId xmlns:a16="http://schemas.microsoft.com/office/drawing/2014/main" id="{3CCDA4A8-2765-468F-A254-16DD348C1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5853113"/>
              <a:ext cx="538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Line 7">
              <a:extLst>
                <a:ext uri="{FF2B5EF4-FFF2-40B4-BE49-F238E27FC236}">
                  <a16:creationId xmlns:a16="http://schemas.microsoft.com/office/drawing/2014/main" id="{C18D7291-EC4D-4BF2-B16A-B1AD01AA0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100" y="5029200"/>
              <a:ext cx="0" cy="823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lg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D4C3DC4D-A959-4A30-A2E9-157DC4D14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50" y="5240338"/>
              <a:ext cx="7080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10 m</a:t>
              </a:r>
            </a:p>
          </p:txBody>
        </p:sp>
        <p:sp>
          <p:nvSpPr>
            <p:cNvPr id="32" name="Text Box 10">
              <a:extLst>
                <a:ext uri="{FF2B5EF4-FFF2-40B4-BE49-F238E27FC236}">
                  <a16:creationId xmlns:a16="http://schemas.microsoft.com/office/drawing/2014/main" id="{79E9B4CD-1A00-4DEF-9C1B-76DFDC366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675" y="5507038"/>
              <a:ext cx="8397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2 m</a:t>
              </a:r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49B022E2-979D-4751-BC73-AEBCB32DA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" y="5756275"/>
              <a:ext cx="134938" cy="968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81805EC-2824-4A19-A129-C172D1EA2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405" y="6166030"/>
            <a:ext cx="30222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S.A = 150.72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25A662-4B0A-4E21-9C1C-5ACB61C13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9638" y="6138387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5C287B-D60C-47D0-8B04-7E5740034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559" y="6220089"/>
            <a:ext cx="1682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125.6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BF52C0-8C5F-4E64-B24A-53FBF637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514" y="6220088"/>
            <a:ext cx="60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4" grpId="0"/>
      <p:bldP spid="38" grpId="0"/>
      <p:bldP spid="39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59" y="742447"/>
            <a:ext cx="969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volume of cylinders, spheres and pyramids?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546711" y="1467349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sphere?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3DFDA6-07B0-4933-91CB-7FE1FDDAB5D4}"/>
              </a:ext>
            </a:extLst>
          </p:cNvPr>
          <p:cNvGrpSpPr>
            <a:grpSpLocks/>
          </p:cNvGrpSpPr>
          <p:nvPr/>
        </p:nvGrpSpPr>
        <p:grpSpPr bwMode="auto">
          <a:xfrm>
            <a:off x="4073525" y="1467349"/>
            <a:ext cx="1524000" cy="1524000"/>
            <a:chOff x="5513388" y="2209800"/>
            <a:chExt cx="1524000" cy="1524000"/>
          </a:xfrm>
        </p:grpSpPr>
        <p:sp>
          <p:nvSpPr>
            <p:cNvPr id="14" name="Oval 4">
              <a:extLst>
                <a:ext uri="{FF2B5EF4-FFF2-40B4-BE49-F238E27FC236}">
                  <a16:creationId xmlns:a16="http://schemas.microsoft.com/office/drawing/2014/main" id="{D6E813EB-6E18-4EDF-A896-924B3BFDB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388" y="2209800"/>
              <a:ext cx="1524000" cy="1524000"/>
            </a:xfrm>
            <a:prstGeom prst="ellipse">
              <a:avLst/>
            </a:prstGeom>
            <a:noFill/>
            <a:ln w="25400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" name="Arc 5">
              <a:extLst>
                <a:ext uri="{FF2B5EF4-FFF2-40B4-BE49-F238E27FC236}">
                  <a16:creationId xmlns:a16="http://schemas.microsoft.com/office/drawing/2014/main" id="{6F498F16-09CC-41ED-9CC6-F3625B948C0F}"/>
                </a:ext>
              </a:extLst>
            </p:cNvPr>
            <p:cNvSpPr>
              <a:spLocks/>
            </p:cNvSpPr>
            <p:nvPr/>
          </p:nvSpPr>
          <p:spPr bwMode="auto">
            <a:xfrm rot="9129893">
              <a:off x="5688013" y="2473325"/>
              <a:ext cx="1241425" cy="914400"/>
            </a:xfrm>
            <a:custGeom>
              <a:avLst/>
              <a:gdLst>
                <a:gd name="T0" fmla="*/ 0 w 29321"/>
                <a:gd name="T1" fmla="*/ 60410 h 21600"/>
                <a:gd name="T2" fmla="*/ 1241425 w 29321"/>
                <a:gd name="T3" fmla="*/ 914400 h 21600"/>
                <a:gd name="T4" fmla="*/ 326900 w 29321"/>
                <a:gd name="T5" fmla="*/ 914400 h 21600"/>
                <a:gd name="T6" fmla="*/ 0 60000 65536"/>
                <a:gd name="T7" fmla="*/ 0 60000 65536"/>
                <a:gd name="T8" fmla="*/ 0 60000 65536"/>
                <a:gd name="T9" fmla="*/ 0 w 29321"/>
                <a:gd name="T10" fmla="*/ 0 h 21600"/>
                <a:gd name="T11" fmla="*/ 29321 w 2932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21" h="21600" fill="none" extrusionOk="0">
                  <a:moveTo>
                    <a:pt x="0" y="1427"/>
                  </a:moveTo>
                  <a:cubicBezTo>
                    <a:pt x="2464" y="483"/>
                    <a:pt x="5081" y="-1"/>
                    <a:pt x="7721" y="0"/>
                  </a:cubicBezTo>
                  <a:cubicBezTo>
                    <a:pt x="19650" y="0"/>
                    <a:pt x="29321" y="9670"/>
                    <a:pt x="29321" y="21600"/>
                  </a:cubicBezTo>
                </a:path>
                <a:path w="29321" h="21600" stroke="0" extrusionOk="0">
                  <a:moveTo>
                    <a:pt x="0" y="1427"/>
                  </a:moveTo>
                  <a:cubicBezTo>
                    <a:pt x="2464" y="483"/>
                    <a:pt x="5081" y="-1"/>
                    <a:pt x="7721" y="0"/>
                  </a:cubicBezTo>
                  <a:cubicBezTo>
                    <a:pt x="19650" y="0"/>
                    <a:pt x="29321" y="9670"/>
                    <a:pt x="29321" y="21600"/>
                  </a:cubicBezTo>
                  <a:lnTo>
                    <a:pt x="7721" y="21600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50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83D0F24F-A0B3-4EAD-ADAE-D4E36430F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388" y="2895600"/>
              <a:ext cx="762000" cy="0"/>
            </a:xfrm>
            <a:prstGeom prst="line">
              <a:avLst/>
            </a:prstGeom>
            <a:noFill/>
            <a:ln w="952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en-US">
                <a:solidFill>
                  <a:schemeClr val="accent6">
                    <a:lumMod val="50000"/>
                  </a:schemeClr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13E63A83-DE57-4626-A20C-802E8B49A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3988" y="2438400"/>
              <a:ext cx="457200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i="1">
                  <a:solidFill>
                    <a:schemeClr val="accent6">
                      <a:lumMod val="50000"/>
                    </a:schemeClr>
                  </a:solidFill>
                  <a:cs typeface="Arial" charset="0"/>
                </a:rPr>
                <a:t>r</a:t>
              </a:r>
            </a:p>
          </p:txBody>
        </p:sp>
      </p:grpSp>
      <p:sp>
        <p:nvSpPr>
          <p:cNvPr id="18" name="Text Box 9">
            <a:extLst>
              <a:ext uri="{FF2B5EF4-FFF2-40B4-BE49-F238E27FC236}">
                <a16:creationId xmlns:a16="http://schemas.microsoft.com/office/drawing/2014/main" id="{6E2EEC93-15FE-40BE-8F3E-57795D540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826" y="1612992"/>
            <a:ext cx="2055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V = (4/3)</a:t>
            </a:r>
            <a:r>
              <a:rPr lang="en-US" i="1" dirty="0">
                <a:solidFill>
                  <a:schemeClr val="accent6">
                    <a:lumMod val="50000"/>
                  </a:schemeClr>
                </a:solidFill>
                <a:cs typeface="Arial" charset="0"/>
                <a:sym typeface="Symbol"/>
              </a:rPr>
              <a:t> r</a:t>
            </a:r>
            <a:r>
              <a:rPr lang="en-US" i="1" baseline="30000" dirty="0">
                <a:solidFill>
                  <a:schemeClr val="accent6">
                    <a:lumMod val="50000"/>
                  </a:schemeClr>
                </a:solidFill>
                <a:cs typeface="Arial" charset="0"/>
                <a:sym typeface="Symbol"/>
              </a:rPr>
              <a:t>3</a:t>
            </a:r>
            <a:endParaRPr lang="en-US" i="1" baseline="30000" dirty="0">
              <a:solidFill>
                <a:schemeClr val="accent6">
                  <a:lumMod val="50000"/>
                </a:schemeClr>
              </a:solidFill>
              <a:cs typeface="Arial" charset="0"/>
            </a:endParaRP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4B6D9BE5-FEF1-4CD1-A5BD-B6620235D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5" y="3186611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Find the volume and surface area of the sphere below.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B57A3C4-4FB9-470C-B1AB-B0582C9293EB}"/>
              </a:ext>
            </a:extLst>
          </p:cNvPr>
          <p:cNvGrpSpPr>
            <a:grpSpLocks/>
          </p:cNvGrpSpPr>
          <p:nvPr/>
        </p:nvGrpSpPr>
        <p:grpSpPr bwMode="auto">
          <a:xfrm>
            <a:off x="4071143" y="4014894"/>
            <a:ext cx="1595438" cy="1524000"/>
            <a:chOff x="279400" y="5105400"/>
            <a:chExt cx="1595438" cy="1524000"/>
          </a:xfrm>
        </p:grpSpPr>
        <p:sp>
          <p:nvSpPr>
            <p:cNvPr id="21" name="Text Box 8">
              <a:extLst>
                <a:ext uri="{FF2B5EF4-FFF2-40B4-BE49-F238E27FC236}">
                  <a16:creationId xmlns:a16="http://schemas.microsoft.com/office/drawing/2014/main" id="{7AE44004-F8A4-4ACB-AF40-2ED512558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913" y="5434013"/>
              <a:ext cx="7969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9 in.</a:t>
              </a:r>
            </a:p>
          </p:txBody>
        </p:sp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A796C828-4C29-4AEB-A1CB-96BDB01D1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00" y="5105400"/>
              <a:ext cx="1524000" cy="1524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" name="Arc 5">
              <a:extLst>
                <a:ext uri="{FF2B5EF4-FFF2-40B4-BE49-F238E27FC236}">
                  <a16:creationId xmlns:a16="http://schemas.microsoft.com/office/drawing/2014/main" id="{B3002457-906E-49F7-9371-687A3293F743}"/>
                </a:ext>
              </a:extLst>
            </p:cNvPr>
            <p:cNvSpPr>
              <a:spLocks/>
            </p:cNvSpPr>
            <p:nvPr/>
          </p:nvSpPr>
          <p:spPr bwMode="auto">
            <a:xfrm rot="8596372">
              <a:off x="431800" y="5410200"/>
              <a:ext cx="1241425" cy="914400"/>
            </a:xfrm>
            <a:custGeom>
              <a:avLst/>
              <a:gdLst>
                <a:gd name="T0" fmla="*/ 0 w 29321"/>
                <a:gd name="T1" fmla="*/ 2147483646 h 21600"/>
                <a:gd name="T2" fmla="*/ 2147483646 w 29321"/>
                <a:gd name="T3" fmla="*/ 2147483646 h 21600"/>
                <a:gd name="T4" fmla="*/ 2147483646 w 29321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9321"/>
                <a:gd name="T10" fmla="*/ 0 h 21600"/>
                <a:gd name="T11" fmla="*/ 29321 w 2932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21" h="21600" fill="none" extrusionOk="0">
                  <a:moveTo>
                    <a:pt x="0" y="1427"/>
                  </a:moveTo>
                  <a:cubicBezTo>
                    <a:pt x="2464" y="483"/>
                    <a:pt x="5081" y="-1"/>
                    <a:pt x="7721" y="0"/>
                  </a:cubicBezTo>
                  <a:cubicBezTo>
                    <a:pt x="19650" y="0"/>
                    <a:pt x="29321" y="9670"/>
                    <a:pt x="29321" y="21600"/>
                  </a:cubicBezTo>
                </a:path>
                <a:path w="29321" h="21600" stroke="0" extrusionOk="0">
                  <a:moveTo>
                    <a:pt x="0" y="1427"/>
                  </a:moveTo>
                  <a:cubicBezTo>
                    <a:pt x="2464" y="483"/>
                    <a:pt x="5081" y="-1"/>
                    <a:pt x="7721" y="0"/>
                  </a:cubicBezTo>
                  <a:cubicBezTo>
                    <a:pt x="19650" y="0"/>
                    <a:pt x="29321" y="9670"/>
                    <a:pt x="29321" y="21600"/>
                  </a:cubicBezTo>
                  <a:lnTo>
                    <a:pt x="7721" y="21600"/>
                  </a:lnTo>
                  <a:lnTo>
                    <a:pt x="0" y="142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C4EA7290-A6CB-434B-96EB-FB043406B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1400" y="57912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5" name="Text Box 9">
            <a:extLst>
              <a:ext uri="{FF2B5EF4-FFF2-40B4-BE49-F238E27FC236}">
                <a16:creationId xmlns:a16="http://schemas.microsoft.com/office/drawing/2014/main" id="{65E91232-DDBB-434F-BE09-F2DA70825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688" y="5563262"/>
            <a:ext cx="2327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</a:rPr>
              <a:t>V = (4/3)</a:t>
            </a:r>
            <a:r>
              <a:rPr lang="en-US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(9)</a:t>
            </a:r>
            <a:r>
              <a:rPr lang="en-US" altLang="en-US" sz="2800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en-US" altLang="en-US" sz="2800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6FCB110E-33D5-48D2-AE1E-C3FBAC0F2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526" y="6049964"/>
            <a:ext cx="2003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</a:rPr>
              <a:t>V = 3052.08</a:t>
            </a:r>
            <a:endParaRPr lang="en-US" altLang="en-US" sz="2800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3B6D3BA5-521F-4A69-8EC5-27B28F250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6049964"/>
            <a:ext cx="712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</a:rPr>
              <a:t>in.</a:t>
            </a:r>
            <a:r>
              <a:rPr lang="en-US" altLang="en-US" sz="2800" i="1" baseline="30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" name="Text Box 9">
            <a:extLst>
              <a:ext uri="{FF2B5EF4-FFF2-40B4-BE49-F238E27FC236}">
                <a16:creationId xmlns:a16="http://schemas.microsoft.com/office/drawing/2014/main" id="{3DF1D20C-AF13-4602-A2B1-A52C9E2E8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799" y="5006975"/>
            <a:ext cx="26003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S.A = 4 (9)</a:t>
            </a:r>
            <a:r>
              <a:rPr lang="en-US" altLang="en-US" sz="2800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800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9B6F0393-4052-4D39-9999-66E3BBDA3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5263" y="5474351"/>
            <a:ext cx="712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</a:rPr>
              <a:t>in.</a:t>
            </a:r>
            <a:r>
              <a:rPr lang="en-US" altLang="en-US" sz="2800" i="1" baseline="30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1BFCE26F-4E28-4A49-9C85-C31294EB9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4" y="5419162"/>
            <a:ext cx="2327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S.A = 1017.36</a:t>
            </a:r>
            <a:endParaRPr lang="en-US" altLang="en-US" sz="2800" i="1" baseline="30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3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5" grpId="0"/>
      <p:bldP spid="26" grpId="0"/>
      <p:bldP spid="27" grpId="0"/>
      <p:bldP spid="28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59" y="742447"/>
            <a:ext cx="969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volume of cylinders, spheres and pyramids?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546711" y="1467349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pyramid?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D02A7-BB15-4531-8FB7-BD292DF7CCD2}"/>
              </a:ext>
            </a:extLst>
          </p:cNvPr>
          <p:cNvSpPr/>
          <p:nvPr/>
        </p:nvSpPr>
        <p:spPr>
          <a:xfrm>
            <a:off x="4194308" y="142144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The volume </a:t>
            </a:r>
            <a:r>
              <a:rPr lang="en-US" altLang="en-US" i="1" dirty="0">
                <a:latin typeface="Times New Roman" panose="02020603050405020304" pitchFamily="18" charset="0"/>
              </a:rPr>
              <a:t>V</a:t>
            </a:r>
            <a:r>
              <a:rPr lang="en-US" altLang="en-US" dirty="0">
                <a:latin typeface="Times New Roman" panose="02020603050405020304" pitchFamily="18" charset="0"/>
              </a:rPr>
              <a:t> of a pyramid with height </a:t>
            </a:r>
            <a:r>
              <a:rPr lang="en-US" altLang="en-US" i="1" dirty="0">
                <a:latin typeface="Times New Roman" panose="02020603050405020304" pitchFamily="18" charset="0"/>
              </a:rPr>
              <a:t>h</a:t>
            </a:r>
            <a:r>
              <a:rPr lang="en-US" altLang="en-US" dirty="0">
                <a:latin typeface="Times New Roman" panose="02020603050405020304" pitchFamily="18" charset="0"/>
              </a:rPr>
              <a:t> and base of area </a:t>
            </a:r>
            <a:r>
              <a:rPr lang="en-US" altLang="en-US" i="1" dirty="0">
                <a:latin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</a:rPr>
              <a:t>  is given by the formula: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7D91E-45FE-4255-A23D-DCF54DCA4E5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827772" y="2362706"/>
            <a:ext cx="1828800" cy="7861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5D862-3D6B-4ABB-AD73-E71792A34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585" y="2285113"/>
            <a:ext cx="37926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251B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B represents the area of the base (</a:t>
            </a:r>
            <a:r>
              <a:rPr lang="en-US" altLang="en-US" sz="2400" i="1" dirty="0">
                <a:solidFill>
                  <a:srgbClr val="251B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w</a:t>
            </a:r>
            <a:r>
              <a:rPr lang="en-US" altLang="en-US" sz="2400" dirty="0">
                <a:solidFill>
                  <a:srgbClr val="251B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D71659B4-C88E-4BF0-9886-1093DAED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510909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Find the volume of the pyramid (rectangular base) below.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2F144B-8CC5-464C-B89A-54D0F8D5395F}"/>
              </a:ext>
            </a:extLst>
          </p:cNvPr>
          <p:cNvGrpSpPr>
            <a:grpSpLocks/>
          </p:cNvGrpSpPr>
          <p:nvPr/>
        </p:nvGrpSpPr>
        <p:grpSpPr bwMode="auto">
          <a:xfrm>
            <a:off x="8963175" y="3972872"/>
            <a:ext cx="2795587" cy="2092325"/>
            <a:chOff x="1852612" y="4721225"/>
            <a:chExt cx="2795588" cy="2092325"/>
          </a:xfrm>
        </p:grpSpPr>
        <p:grpSp>
          <p:nvGrpSpPr>
            <p:cNvPr id="18" name="Group 2">
              <a:extLst>
                <a:ext uri="{FF2B5EF4-FFF2-40B4-BE49-F238E27FC236}">
                  <a16:creationId xmlns:a16="http://schemas.microsoft.com/office/drawing/2014/main" id="{632512D9-98AA-49DA-B0D1-B64F667939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612" y="4721225"/>
              <a:ext cx="2795588" cy="2092325"/>
              <a:chOff x="133350" y="4721551"/>
              <a:chExt cx="2795013" cy="2092771"/>
            </a:xfrm>
          </p:grpSpPr>
          <p:sp>
            <p:nvSpPr>
              <p:cNvPr id="20" name="AutoShape 4">
                <a:extLst>
                  <a:ext uri="{FF2B5EF4-FFF2-40B4-BE49-F238E27FC236}">
                    <a16:creationId xmlns:a16="http://schemas.microsoft.com/office/drawing/2014/main" id="{BA8F6A1A-9F4E-49E6-8C85-5EABACACE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" y="6016951"/>
                <a:ext cx="2209800" cy="457200"/>
              </a:xfrm>
              <a:prstGeom prst="parallelogram">
                <a:avLst>
                  <a:gd name="adj" fmla="val 120833"/>
                </a:avLst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Line 5">
                <a:extLst>
                  <a:ext uri="{FF2B5EF4-FFF2-40B4-BE49-F238E27FC236}">
                    <a16:creationId xmlns:a16="http://schemas.microsoft.com/office/drawing/2014/main" id="{17449526-1299-46BD-AB2C-89194FC3C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800" y="4721551"/>
                <a:ext cx="1143000" cy="1752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2" name="Line 6">
                <a:extLst>
                  <a:ext uri="{FF2B5EF4-FFF2-40B4-BE49-F238E27FC236}">
                    <a16:creationId xmlns:a16="http://schemas.microsoft.com/office/drawing/2014/main" id="{93387FE0-FE94-4091-A80B-CA15F1D5F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800" y="4721551"/>
                <a:ext cx="533400" cy="1752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3" name="Line 7">
                <a:extLst>
                  <a:ext uri="{FF2B5EF4-FFF2-40B4-BE49-F238E27FC236}">
                    <a16:creationId xmlns:a16="http://schemas.microsoft.com/office/drawing/2014/main" id="{E063635F-A9E2-46CB-807E-41BE6E208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447800" y="4721551"/>
                <a:ext cx="1066800" cy="12954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4" name="Line 8">
                <a:extLst>
                  <a:ext uri="{FF2B5EF4-FFF2-40B4-BE49-F238E27FC236}">
                    <a16:creationId xmlns:a16="http://schemas.microsoft.com/office/drawing/2014/main" id="{382DD8A0-660C-41B8-91A2-174DF6AEA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8200" y="4721551"/>
                <a:ext cx="609600" cy="12954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5" name="Line 9">
                <a:extLst>
                  <a:ext uri="{FF2B5EF4-FFF2-40B4-BE49-F238E27FC236}">
                    <a16:creationId xmlns:a16="http://schemas.microsoft.com/office/drawing/2014/main" id="{5BAAFE6A-A47B-4AD0-B37C-65EAAF3A6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800" y="4721551"/>
                <a:ext cx="0" cy="152400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6" name="Text Box 11">
                <a:extLst>
                  <a:ext uri="{FF2B5EF4-FFF2-40B4-BE49-F238E27FC236}">
                    <a16:creationId xmlns:a16="http://schemas.microsoft.com/office/drawing/2014/main" id="{B0AD02C3-E7E9-4A24-8A3C-52EED3B45F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350" y="4956094"/>
                <a:ext cx="7239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7 cm</a:t>
                </a:r>
              </a:p>
            </p:txBody>
          </p:sp>
          <p:sp>
            <p:nvSpPr>
              <p:cNvPr id="27" name="Line 15">
                <a:extLst>
                  <a:ext uri="{FF2B5EF4-FFF2-40B4-BE49-F238E27FC236}">
                    <a16:creationId xmlns:a16="http://schemas.microsoft.com/office/drawing/2014/main" id="{C479B029-32A0-4215-BE5E-07A9E6B0E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0100" y="5184694"/>
                <a:ext cx="647700" cy="3810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8" name="Line 18">
                <a:extLst>
                  <a:ext uri="{FF2B5EF4-FFF2-40B4-BE49-F238E27FC236}">
                    <a16:creationId xmlns:a16="http://schemas.microsoft.com/office/drawing/2014/main" id="{853AC9C2-F733-4A79-986A-27100C827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7200" y="6397951"/>
                <a:ext cx="15240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9" name="Line 19">
                <a:extLst>
                  <a:ext uri="{FF2B5EF4-FFF2-40B4-BE49-F238E27FC236}">
                    <a16:creationId xmlns:a16="http://schemas.microsoft.com/office/drawing/2014/main" id="{F74A2E24-288C-4444-8E97-221F75C0B1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000" y="6397951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30" name="Text Box 21">
                <a:extLst>
                  <a:ext uri="{FF2B5EF4-FFF2-40B4-BE49-F238E27FC236}">
                    <a16:creationId xmlns:a16="http://schemas.microsoft.com/office/drawing/2014/main" id="{E5EBDBE7-74CE-4B8D-B67C-47F48CCCF3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300" y="6414212"/>
                <a:ext cx="7239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6 cm</a:t>
                </a:r>
              </a:p>
            </p:txBody>
          </p:sp>
          <p:sp>
            <p:nvSpPr>
              <p:cNvPr id="31" name="Text Box 22">
                <a:extLst>
                  <a:ext uri="{FF2B5EF4-FFF2-40B4-BE49-F238E27FC236}">
                    <a16:creationId xmlns:a16="http://schemas.microsoft.com/office/drawing/2014/main" id="{8777DE6D-C67F-4DCB-96B2-29D178B50F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4463" y="6093233"/>
                <a:ext cx="7239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 cm</a:t>
                </a:r>
              </a:p>
            </p:txBody>
          </p:sp>
        </p:grpSp>
        <p:cxnSp>
          <p:nvCxnSpPr>
            <p:cNvPr id="19" name="Elbow Connector 10">
              <a:extLst>
                <a:ext uri="{FF2B5EF4-FFF2-40B4-BE49-F238E27FC236}">
                  <a16:creationId xmlns:a16="http://schemas.microsoft.com/office/drawing/2014/main" id="{903AF338-FB07-4387-986F-E685AE12F291}"/>
                </a:ext>
              </a:extLst>
            </p:cNvPr>
            <p:cNvCxnSpPr/>
            <p:nvPr/>
          </p:nvCxnSpPr>
          <p:spPr>
            <a:xfrm rot="16200000" flipH="1">
              <a:off x="3128962" y="6054725"/>
              <a:ext cx="228600" cy="152400"/>
            </a:xfrm>
            <a:prstGeom prst="bentConnector3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66D7092-9B47-497E-8764-B0E27C59892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982064" y="4422149"/>
            <a:ext cx="2369098" cy="786177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3ED44E-526B-4C64-B5EE-F9AE14648BF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973518" y="6135658"/>
            <a:ext cx="1502034" cy="461665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E7EA39-74C1-4423-ACC8-98253A340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0" y="6135688"/>
            <a:ext cx="738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en-US" alt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123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3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4">
            <a:extLst>
              <a:ext uri="{FF2B5EF4-FFF2-40B4-BE49-F238E27FC236}">
                <a16:creationId xmlns:a16="http://schemas.microsoft.com/office/drawing/2014/main" id="{527D7130-30BE-42B3-BEF5-34DE3B3133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0" y="1066800"/>
            <a:ext cx="6667500" cy="4267200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B7091891-8E85-4552-AB0F-9E498570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Independent work</a:t>
            </a:r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125E54D3-E4B9-472A-BE96-58E47BF1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Now complete exercise 11 on pages 37-39 in MAWA Essentials Units 3&amp;4</a:t>
            </a:r>
          </a:p>
          <a:p>
            <a:r>
              <a:rPr lang="en-US" altLang="en-US" dirty="0"/>
              <a:t>Keep working on your formula card and examples card in preparation for the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1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42349" y="1213260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59" y="742447"/>
            <a:ext cx="969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calculate the volume of cylinders, spheres and pyramids?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3766" y="276208"/>
            <a:ext cx="2937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Measurement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5E5B0-36AE-6840-8D5F-96F91C3B245A}"/>
              </a:ext>
            </a:extLst>
          </p:cNvPr>
          <p:cNvSpPr txBox="1"/>
          <p:nvPr/>
        </p:nvSpPr>
        <p:spPr>
          <a:xfrm>
            <a:off x="1546711" y="1467349"/>
            <a:ext cx="2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calculate the volume of a cylinder?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1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Widescreen</PresentationFormat>
  <Paragraphs>83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Topic: Measurement</vt:lpstr>
      <vt:lpstr>PowerPoint Presentation</vt:lpstr>
      <vt:lpstr>PowerPoint Presentation</vt:lpstr>
      <vt:lpstr>PowerPoint Presentation</vt:lpstr>
      <vt:lpstr>PowerPoint Presentation</vt:lpstr>
      <vt:lpstr>Independent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JAMES Sarah [Baldivis Secondary College]</cp:lastModifiedBy>
  <cp:revision>1</cp:revision>
  <dcterms:created xsi:type="dcterms:W3CDTF">2021-02-17T11:43:22Z</dcterms:created>
  <dcterms:modified xsi:type="dcterms:W3CDTF">2021-02-17T11:44:35Z</dcterms:modified>
</cp:coreProperties>
</file>
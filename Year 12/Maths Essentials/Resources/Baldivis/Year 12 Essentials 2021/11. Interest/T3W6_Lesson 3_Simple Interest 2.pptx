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0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5D671-2EEC-4318-8D61-B304E855F158}" type="datetimeFigureOut">
              <a:rPr lang="en-AU" smtClean="0"/>
              <a:t>18/08/2020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1AFBB0-BFBB-4EAA-B4B1-1619C247AE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6681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24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08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75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78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4A297-F51A-458B-8E2A-3CBE46E1B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F2C5B-F3C1-4D44-9173-49D3F9F25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F50E6-298C-47CB-9CFA-85A052BBC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F5A1-F23E-4D58-B01A-8E1EE05A6C04}" type="datetimeFigureOut">
              <a:rPr lang="en-AU" smtClean="0"/>
              <a:t>18/08/2020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25B82-3526-4A06-8968-CCCEB5377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476F0-5F1D-4455-81A0-27A7C3020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6844-5FB6-4681-869A-4B44D4B35B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1923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D418E-CF91-43DF-B5CC-6BAB00689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11446-125D-44C1-886C-79F9FF675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5F88D-B80B-4330-9168-38B7EF332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F5A1-F23E-4D58-B01A-8E1EE05A6C04}" type="datetimeFigureOut">
              <a:rPr lang="en-AU" smtClean="0"/>
              <a:t>18/08/2020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3976F-4F6A-4041-805C-BDBB0B03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A770A-1DB7-44BE-BE69-77B3C4D3A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6844-5FB6-4681-869A-4B44D4B35B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0621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7DA62-EBD8-45D8-8FBA-55F5FC005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8C38C-FA2E-4837-B7F2-B9B40A450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AF0D1-443E-48D4-9A68-1C833A3FE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F5A1-F23E-4D58-B01A-8E1EE05A6C04}" type="datetimeFigureOut">
              <a:rPr lang="en-AU" smtClean="0"/>
              <a:t>18/08/2020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00AE8-70D6-43D6-BF27-FBB80DD8A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F62DC-4C8D-459A-92FE-BF73B0B50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6844-5FB6-4681-869A-4B44D4B35B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629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E6D-1684-421F-B7EB-F4A19A900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537EB-3F5C-49E1-B948-3E01CA7CA6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179016-840D-4314-AB60-2DED090D7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DC66B-319A-420C-AFE1-16DC5AF9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F5A1-F23E-4D58-B01A-8E1EE05A6C04}" type="datetimeFigureOut">
              <a:rPr lang="en-AU" smtClean="0"/>
              <a:t>18/08/2020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029EE-7E1F-4696-99D4-1FD847623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09BD9-F073-481F-8904-C4D952CC0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6844-5FB6-4681-869A-4B44D4B35B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015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4F778-4674-4129-BEAB-E8983778A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169C5-1494-4844-B317-C03935D47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64DD9-DA87-48BF-828C-3C41878AA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763092-5FFD-4BBB-867A-18A901187D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107D1E-460D-4C9D-B9C4-7B1BFDA8EE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350385-E41F-4722-AD68-57C95FB8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F5A1-F23E-4D58-B01A-8E1EE05A6C04}" type="datetimeFigureOut">
              <a:rPr lang="en-AU" smtClean="0"/>
              <a:t>18/08/2020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D1BE4A-5266-4F23-914C-F8BD44184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167EED-6A34-4278-863F-A85FACB5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6844-5FB6-4681-869A-4B44D4B35B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0976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B983-710C-4448-B330-B1366E0DA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1A2E66-2CDA-482E-AC4C-A0D8DBC7C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F5A1-F23E-4D58-B01A-8E1EE05A6C04}" type="datetimeFigureOut">
              <a:rPr lang="en-AU" smtClean="0"/>
              <a:t>18/08/2020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4E439-0735-4D33-B4D4-05C13D8CE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81CC64-95F6-4563-9746-BD72A9439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6844-5FB6-4681-869A-4B44D4B35B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291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5C5D41-D65D-45E0-96FB-A85ABE3EE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F5A1-F23E-4D58-B01A-8E1EE05A6C04}" type="datetimeFigureOut">
              <a:rPr lang="en-AU" smtClean="0"/>
              <a:t>18/08/2020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096920-6D4F-4437-AF90-00617DCA9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AA1CB-1DCC-416A-A50D-9F324936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6844-5FB6-4681-869A-4B44D4B35B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7971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D829A-887C-409C-8A05-397B6DAC4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3CE8A-BF1D-42E0-AFAD-893920FA2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B8666-21A2-4F84-AD16-82B7D654D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B1518-028D-481F-BE98-9C8859775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F5A1-F23E-4D58-B01A-8E1EE05A6C04}" type="datetimeFigureOut">
              <a:rPr lang="en-AU" smtClean="0"/>
              <a:t>18/08/2020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89EA6-33D2-4F9C-AD3C-AA543369E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7616D-C360-4F4D-A7F1-E8FD9D492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6844-5FB6-4681-869A-4B44D4B35B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3390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7B690-4149-4A55-A3C0-DECBF5D3C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57C521-D653-4EC8-9184-A64F01A0DF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1FD0F-6DA9-41F6-9734-BAE7ACCF5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54775-5AB3-4E62-9DFD-879D2E72E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F5A1-F23E-4D58-B01A-8E1EE05A6C04}" type="datetimeFigureOut">
              <a:rPr lang="en-AU" smtClean="0"/>
              <a:t>18/08/2020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C7CF3-31EE-4B89-8CF8-47D486683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28242-D099-4C6B-B311-FE7913929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6844-5FB6-4681-869A-4B44D4B35B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0356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AB46F-5D55-4158-B647-8E2D48C96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B6F72-108F-4C61-AFFC-39DE4F3BB5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A0BA6-5465-4BE6-88D4-73DC0290E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F5A1-F23E-4D58-B01A-8E1EE05A6C04}" type="datetimeFigureOut">
              <a:rPr lang="en-AU" smtClean="0"/>
              <a:t>18/08/2020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26512-20A3-4E8F-A541-5EB085318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9ABDA-4A61-4617-AF1A-9607F421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6844-5FB6-4681-869A-4B44D4B35B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8227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AB86B5-9144-4B1C-95DD-8B8F214767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5BEE0-5C92-4543-9417-5C870F26B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C8A7E-BF56-4E25-9A34-4E62E6AF6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F5A1-F23E-4D58-B01A-8E1EE05A6C04}" type="datetimeFigureOut">
              <a:rPr lang="en-AU" smtClean="0"/>
              <a:t>18/08/2020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2DE32-39ED-4438-BD06-B4F5E6F80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3C9FD-3FD6-416C-BFE1-5A1734BF9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6844-5FB6-4681-869A-4B44D4B35B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7352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69324-35AC-4799-84EA-E1403F3A0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518B3-7138-4605-9748-D6B75F31C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0EE0C-FF86-4938-9912-BD37E39AE1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7F5A1-F23E-4D58-B01A-8E1EE05A6C04}" type="datetimeFigureOut">
              <a:rPr lang="en-AU" smtClean="0"/>
              <a:t>18/08/2020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14FD6-A293-45F1-9E5A-D5913E083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EBBCA-356B-4526-B01E-6834E828D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66844-5FB6-4681-869A-4B44D4B35B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723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95639"/>
            <a:ext cx="9144000" cy="798904"/>
          </a:xfrm>
        </p:spPr>
        <p:txBody>
          <a:bodyPr>
            <a:normAutofit fontScale="90000"/>
          </a:bodyPr>
          <a:lstStyle/>
          <a:p>
            <a:r>
              <a:rPr lang="en-AU" dirty="0"/>
              <a:t>Topic: Interest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7968" y="1403368"/>
            <a:ext cx="9144000" cy="343238"/>
          </a:xfrm>
        </p:spPr>
        <p:txBody>
          <a:bodyPr>
            <a:normAutofit fontScale="92500" lnSpcReduction="20000"/>
          </a:bodyPr>
          <a:lstStyle/>
          <a:p>
            <a:r>
              <a:rPr lang="en-AU" dirty="0"/>
              <a:t>EQ: How do I rearrange the simple interest formula?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9446EA-D8F6-4527-BF51-2A0102E8FE8A}"/>
              </a:ext>
            </a:extLst>
          </p:cNvPr>
          <p:cNvSpPr txBox="1"/>
          <p:nvPr/>
        </p:nvSpPr>
        <p:spPr>
          <a:xfrm>
            <a:off x="1797978" y="2157573"/>
            <a:ext cx="71097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your </a:t>
            </a:r>
            <a:r>
              <a:rPr lang="en-US" sz="2800" dirty="0"/>
              <a:t>VIVOS:</a:t>
            </a:r>
          </a:p>
          <a:p>
            <a:r>
              <a:rPr lang="en-US" sz="2800" dirty="0"/>
              <a:t>- Complete Finding Simple Interest worksheet. 20 mins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4005549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5241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/>
              </a:rPr>
              <a:t>EQ – </a:t>
            </a:r>
            <a:r>
              <a:rPr lang="en-AU" sz="2400" b="1" dirty="0">
                <a:latin typeface="Kiwi School Handwriting" panose="00000500000000000000"/>
              </a:rPr>
              <a:t>How do I rearrange the simple interest formula?</a:t>
            </a:r>
            <a:endParaRPr lang="en-AU" sz="2400" b="1" dirty="0">
              <a:solidFill>
                <a:prstClr val="black"/>
              </a:solidFill>
              <a:latin typeface="Kiwi School Handwriting" panose="0000050000000000000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479376" y="112677"/>
            <a:ext cx="4858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Interest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EAB3B-4CB6-4986-A80F-00E216A57C79}"/>
              </a:ext>
            </a:extLst>
          </p:cNvPr>
          <p:cNvSpPr txBox="1"/>
          <p:nvPr/>
        </p:nvSpPr>
        <p:spPr>
          <a:xfrm>
            <a:off x="-20850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96C1EC8C-B600-4E28-A450-0AEBEE1A53FF}"/>
              </a:ext>
            </a:extLst>
          </p:cNvPr>
          <p:cNvSpPr txBox="1">
            <a:spLocks noChangeArrowheads="1"/>
          </p:cNvSpPr>
          <p:nvPr/>
        </p:nvSpPr>
        <p:spPr>
          <a:xfrm>
            <a:off x="1937447" y="1399537"/>
            <a:ext cx="9559152" cy="45865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AU" dirty="0"/>
              <a:t>Joe wants to borrow $2000 from a bank to buy a new car. He will take 2 years to pay the money back, and the bank’s interest rate is 8% per annum (per year). 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How much simple interest does he pay?</a:t>
            </a:r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r>
              <a:rPr lang="en-AU" dirty="0"/>
              <a:t>How much does he pay altogether?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B1A726-4D4F-4766-835E-8E0FB864D062}"/>
              </a:ext>
            </a:extLst>
          </p:cNvPr>
          <p:cNvSpPr txBox="1"/>
          <p:nvPr/>
        </p:nvSpPr>
        <p:spPr>
          <a:xfrm>
            <a:off x="8039295" y="2519803"/>
            <a:ext cx="3906174" cy="286232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When solving word problems you need to list all your information systematically. </a:t>
            </a:r>
          </a:p>
          <a:p>
            <a:endParaRPr lang="en-AU" dirty="0"/>
          </a:p>
          <a:p>
            <a:r>
              <a:rPr lang="en-AU" dirty="0"/>
              <a:t>P = </a:t>
            </a:r>
          </a:p>
          <a:p>
            <a:endParaRPr lang="en-AU" dirty="0"/>
          </a:p>
          <a:p>
            <a:r>
              <a:rPr lang="en-AU" dirty="0"/>
              <a:t>R = </a:t>
            </a:r>
          </a:p>
          <a:p>
            <a:endParaRPr lang="en-AU" dirty="0"/>
          </a:p>
          <a:p>
            <a:r>
              <a:rPr lang="en-AU" dirty="0"/>
              <a:t>T =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099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5241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/>
              </a:rPr>
              <a:t>EQ – </a:t>
            </a:r>
            <a:r>
              <a:rPr lang="en-AU" sz="2400" b="1" dirty="0">
                <a:latin typeface="Kiwi School Handwriting" panose="00000500000000000000"/>
              </a:rPr>
              <a:t>How do I rearrange the simple interest formula?</a:t>
            </a:r>
            <a:endParaRPr lang="en-AU" sz="2400" b="1" dirty="0">
              <a:solidFill>
                <a:prstClr val="black"/>
              </a:solidFill>
              <a:latin typeface="Kiwi School Handwriting" panose="0000050000000000000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479376" y="112677"/>
            <a:ext cx="4858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Interest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EAB3B-4CB6-4986-A80F-00E216A57C79}"/>
              </a:ext>
            </a:extLst>
          </p:cNvPr>
          <p:cNvSpPr txBox="1"/>
          <p:nvPr/>
        </p:nvSpPr>
        <p:spPr>
          <a:xfrm>
            <a:off x="-20850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B1A726-4D4F-4766-835E-8E0FB864D062}"/>
              </a:ext>
            </a:extLst>
          </p:cNvPr>
          <p:cNvSpPr txBox="1"/>
          <p:nvPr/>
        </p:nvSpPr>
        <p:spPr>
          <a:xfrm>
            <a:off x="8039295" y="2519803"/>
            <a:ext cx="3906174" cy="286232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When solving word problems you need to list all your information systematically. </a:t>
            </a:r>
          </a:p>
          <a:p>
            <a:endParaRPr lang="en-AU" dirty="0"/>
          </a:p>
          <a:p>
            <a:r>
              <a:rPr lang="en-AU" dirty="0"/>
              <a:t>P = </a:t>
            </a:r>
          </a:p>
          <a:p>
            <a:endParaRPr lang="en-AU" dirty="0"/>
          </a:p>
          <a:p>
            <a:r>
              <a:rPr lang="en-AU" dirty="0"/>
              <a:t>R = </a:t>
            </a:r>
          </a:p>
          <a:p>
            <a:endParaRPr lang="en-AU" dirty="0"/>
          </a:p>
          <a:p>
            <a:r>
              <a:rPr lang="en-AU" dirty="0"/>
              <a:t>T = </a:t>
            </a:r>
          </a:p>
          <a:p>
            <a:endParaRPr lang="en-AU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3B3B472-7933-4362-8914-489E1CFF7322}"/>
              </a:ext>
            </a:extLst>
          </p:cNvPr>
          <p:cNvSpPr txBox="1">
            <a:spLocks noChangeArrowheads="1"/>
          </p:cNvSpPr>
          <p:nvPr/>
        </p:nvSpPr>
        <p:spPr>
          <a:xfrm>
            <a:off x="2032000" y="1560286"/>
            <a:ext cx="9913461" cy="468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AU" dirty="0"/>
              <a:t>Susie borrows $4500 for a holiday. She expects to pay it off after 18 months. The bank charges 9% </a:t>
            </a:r>
            <a:r>
              <a:rPr lang="en-AU" i="1" dirty="0"/>
              <a:t>per annum </a:t>
            </a:r>
            <a:r>
              <a:rPr lang="en-AU" dirty="0"/>
              <a:t>interest.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How much interest does Susie pay? </a:t>
            </a:r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r>
              <a:rPr lang="en-AU" dirty="0"/>
              <a:t>How much does she pay altogether?</a:t>
            </a:r>
          </a:p>
        </p:txBody>
      </p:sp>
    </p:spTree>
    <p:extLst>
      <p:ext uri="{BB962C8B-B14F-4D97-AF65-F5344CB8AC3E}">
        <p14:creationId xmlns:p14="http://schemas.microsoft.com/office/powerpoint/2010/main" val="3220476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5241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/>
              </a:rPr>
              <a:t>EQ – </a:t>
            </a:r>
            <a:r>
              <a:rPr lang="en-AU" sz="2400" b="1" dirty="0">
                <a:latin typeface="Kiwi School Handwriting" panose="00000500000000000000"/>
              </a:rPr>
              <a:t>How do I rearrange the simple interest formula?</a:t>
            </a:r>
            <a:endParaRPr lang="en-AU" sz="2400" b="1" dirty="0">
              <a:solidFill>
                <a:prstClr val="black"/>
              </a:solidFill>
              <a:latin typeface="Kiwi School Handwriting" panose="0000050000000000000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479376" y="112677"/>
            <a:ext cx="4858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Interest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EAB3B-4CB6-4986-A80F-00E216A57C79}"/>
              </a:ext>
            </a:extLst>
          </p:cNvPr>
          <p:cNvSpPr txBox="1"/>
          <p:nvPr/>
        </p:nvSpPr>
        <p:spPr>
          <a:xfrm>
            <a:off x="-20850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A03056-4FD6-4A80-A4A0-6F0AF5D7C346}"/>
              </a:ext>
            </a:extLst>
          </p:cNvPr>
          <p:cNvSpPr txBox="1"/>
          <p:nvPr/>
        </p:nvSpPr>
        <p:spPr>
          <a:xfrm>
            <a:off x="1958710" y="1377944"/>
            <a:ext cx="5923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Whatever is being solved for in the equation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3136A7-0248-4965-8976-EB5A893E4484}"/>
              </a:ext>
            </a:extLst>
          </p:cNvPr>
          <p:cNvSpPr txBox="1"/>
          <p:nvPr/>
        </p:nvSpPr>
        <p:spPr>
          <a:xfrm>
            <a:off x="1958710" y="1783802"/>
            <a:ext cx="78013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chemeClr val="accent1">
                    <a:lumMod val="75000"/>
                  </a:schemeClr>
                </a:solidFill>
              </a:rPr>
              <a:t>In this equation simple interest is the subject but what if we wanted to find the rate? (or principal amount or time)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5B8829-3DB0-463E-B4BF-AECE9D046602}"/>
              </a:ext>
            </a:extLst>
          </p:cNvPr>
          <p:cNvSpPr txBox="1"/>
          <p:nvPr/>
        </p:nvSpPr>
        <p:spPr>
          <a:xfrm>
            <a:off x="1958710" y="2491688"/>
            <a:ext cx="64087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 need to re-arrange the equation using back-tracking</a:t>
            </a:r>
          </a:p>
          <a:p>
            <a:endParaRPr lang="en-AU" sz="1000" dirty="0"/>
          </a:p>
          <a:p>
            <a:r>
              <a:rPr lang="en-AU" sz="2400" dirty="0"/>
              <a:t>Backtracking uses opposite operations to find the unknown.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C5CAA2-35C2-4A17-8EDF-E489BAC73D4B}"/>
              </a:ext>
            </a:extLst>
          </p:cNvPr>
          <p:cNvSpPr txBox="1"/>
          <p:nvPr/>
        </p:nvSpPr>
        <p:spPr>
          <a:xfrm>
            <a:off x="8678223" y="2491688"/>
            <a:ext cx="3110133" cy="150810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Opposite Operations</a:t>
            </a:r>
          </a:p>
          <a:p>
            <a:endParaRPr lang="en-AU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 Addition and Subtraction</a:t>
            </a:r>
          </a:p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Multiplication and Division</a:t>
            </a:r>
            <a:r>
              <a:rPr lang="en-AU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endParaRPr lang="en-A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DF7D2C-A5FF-4B26-BE55-9D4E35F2FF95}"/>
              </a:ext>
            </a:extLst>
          </p:cNvPr>
          <p:cNvSpPr txBox="1"/>
          <p:nvPr/>
        </p:nvSpPr>
        <p:spPr>
          <a:xfrm>
            <a:off x="2443273" y="4339379"/>
            <a:ext cx="335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I =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  <a:r>
              <a:rPr lang="en-AU" sz="4000" dirty="0">
                <a:solidFill>
                  <a:srgbClr val="FF0000"/>
                </a:solidFill>
              </a:rPr>
              <a:t>P</a:t>
            </a:r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RT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D7E86C-6C10-47D8-8EA7-9CA6BD5C6C5B}"/>
              </a:ext>
            </a:extLst>
          </p:cNvPr>
          <p:cNvSpPr txBox="1"/>
          <p:nvPr/>
        </p:nvSpPr>
        <p:spPr>
          <a:xfrm>
            <a:off x="5859259" y="4272551"/>
            <a:ext cx="5438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want to get P by itself.  What operation is happening to P?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2E4DE3-FE9D-446B-B49A-7C794EE38161}"/>
              </a:ext>
            </a:extLst>
          </p:cNvPr>
          <p:cNvSpPr txBox="1"/>
          <p:nvPr/>
        </p:nvSpPr>
        <p:spPr>
          <a:xfrm>
            <a:off x="5859261" y="4937438"/>
            <a:ext cx="543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undo multiplication? </a:t>
            </a:r>
            <a:r>
              <a:rPr lang="en-AU" dirty="0">
                <a:solidFill>
                  <a:schemeClr val="accent1">
                    <a:lumMod val="75000"/>
                  </a:schemeClr>
                </a:solidFill>
              </a:rPr>
              <a:t>Division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70AC92-1A84-476B-A847-772324C29CFB}"/>
              </a:ext>
            </a:extLst>
          </p:cNvPr>
          <p:cNvSpPr txBox="1"/>
          <p:nvPr/>
        </p:nvSpPr>
        <p:spPr>
          <a:xfrm>
            <a:off x="5954108" y="5466048"/>
            <a:ext cx="5438741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We have to do the EXACT same thing to both sides to keep the equation BALANCED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C3B449-3412-49D0-94D6-AB0288AAC8C3}"/>
                  </a:ext>
                </a:extLst>
              </p:cNvPr>
              <p:cNvSpPr txBox="1"/>
              <p:nvPr/>
            </p:nvSpPr>
            <p:spPr>
              <a:xfrm>
                <a:off x="2677887" y="5005830"/>
                <a:ext cx="586438" cy="2773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C3B449-3412-49D0-94D6-AB0288AAC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887" y="5005830"/>
                <a:ext cx="586438" cy="277370"/>
              </a:xfrm>
              <a:prstGeom prst="rect">
                <a:avLst/>
              </a:prstGeom>
              <a:blipFill>
                <a:blip r:embed="rId3"/>
                <a:stretch>
                  <a:fillRect l="-4167" r="-8333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0E28A1-1726-48CE-99D6-CF3558661E25}"/>
                  </a:ext>
                </a:extLst>
              </p:cNvPr>
              <p:cNvSpPr txBox="1"/>
              <p:nvPr/>
            </p:nvSpPr>
            <p:spPr>
              <a:xfrm>
                <a:off x="5046147" y="5035341"/>
                <a:ext cx="5789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0E28A1-1726-48CE-99D6-CF3558661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6147" y="5035341"/>
                <a:ext cx="578941" cy="276999"/>
              </a:xfrm>
              <a:prstGeom prst="rect">
                <a:avLst/>
              </a:prstGeom>
              <a:blipFill>
                <a:blip r:embed="rId4"/>
                <a:stretch>
                  <a:fillRect l="-4211" r="-7368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ABAE858-5F22-4870-834D-7167DD2F14DF}"/>
                  </a:ext>
                </a:extLst>
              </p:cNvPr>
              <p:cNvSpPr txBox="1"/>
              <p:nvPr/>
            </p:nvSpPr>
            <p:spPr>
              <a:xfrm>
                <a:off x="2493693" y="5397864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AU" sz="4000" dirty="0">
                    <a:solidFill>
                      <a:srgbClr val="FFFF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ABAE858-5F22-4870-834D-7167DD2F1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693" y="5397864"/>
                <a:ext cx="3355755" cy="9631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839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 animBg="1"/>
      <p:bldP spid="18" grpId="0"/>
      <p:bldP spid="21" grpId="0"/>
      <p:bldP spid="22" grpId="0"/>
      <p:bldP spid="23" grpId="0" animBg="1"/>
      <p:bldP spid="24" grpId="0"/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5241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/>
              </a:rPr>
              <a:t>EQ – </a:t>
            </a:r>
            <a:r>
              <a:rPr lang="en-AU" sz="2400" b="1" dirty="0">
                <a:latin typeface="Kiwi School Handwriting" panose="00000500000000000000"/>
              </a:rPr>
              <a:t>How do I rearrange the simple interest formula?</a:t>
            </a:r>
            <a:endParaRPr lang="en-AU" sz="2400" b="1" dirty="0">
              <a:solidFill>
                <a:prstClr val="black"/>
              </a:solidFill>
              <a:latin typeface="Kiwi School Handwriting" panose="0000050000000000000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479376" y="112677"/>
            <a:ext cx="4858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Interest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EAB3B-4CB6-4986-A80F-00E216A57C79}"/>
              </a:ext>
            </a:extLst>
          </p:cNvPr>
          <p:cNvSpPr txBox="1"/>
          <p:nvPr/>
        </p:nvSpPr>
        <p:spPr>
          <a:xfrm>
            <a:off x="-20850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E5108D-17E5-41AC-877F-17DDCDBA65A6}"/>
              </a:ext>
            </a:extLst>
          </p:cNvPr>
          <p:cNvSpPr txBox="1"/>
          <p:nvPr/>
        </p:nvSpPr>
        <p:spPr>
          <a:xfrm>
            <a:off x="2220686" y="1473398"/>
            <a:ext cx="3397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I =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  <a:r>
              <a:rPr lang="en-AU" sz="4000" dirty="0">
                <a:solidFill>
                  <a:srgbClr val="FF0000"/>
                </a:solidFill>
              </a:rPr>
              <a:t>P</a:t>
            </a:r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RT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E534DD-C380-47DF-BE30-1D24B8605E8E}"/>
                  </a:ext>
                </a:extLst>
              </p:cNvPr>
              <p:cNvSpPr txBox="1"/>
              <p:nvPr/>
            </p:nvSpPr>
            <p:spPr>
              <a:xfrm>
                <a:off x="2333895" y="2121578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 </a:t>
                </a:r>
                <a:endParaRPr lang="en-AU" sz="40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E534DD-C380-47DF-BE30-1D24B8605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895" y="2121578"/>
                <a:ext cx="3355755" cy="9631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204477-39B7-49C4-81BA-E87DDBA8282E}"/>
                  </a:ext>
                </a:extLst>
              </p:cNvPr>
              <p:cNvSpPr txBox="1"/>
              <p:nvPr/>
            </p:nvSpPr>
            <p:spPr>
              <a:xfrm>
                <a:off x="2624472" y="2031229"/>
                <a:ext cx="57894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204477-39B7-49C4-81BA-E87DDBA82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472" y="2031229"/>
                <a:ext cx="578941" cy="276999"/>
              </a:xfrm>
              <a:prstGeom prst="rect">
                <a:avLst/>
              </a:prstGeom>
              <a:blipFill>
                <a:blip r:embed="rId4"/>
                <a:stretch>
                  <a:fillRect l="-4255" r="-8511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7FD618-F1D9-4640-982A-1D8EE193EBF4}"/>
                  </a:ext>
                </a:extLst>
              </p:cNvPr>
              <p:cNvSpPr txBox="1"/>
              <p:nvPr/>
            </p:nvSpPr>
            <p:spPr>
              <a:xfrm>
                <a:off x="4724551" y="1946712"/>
                <a:ext cx="57894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7FD618-F1D9-4640-982A-1D8EE193E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551" y="1946712"/>
                <a:ext cx="578941" cy="276999"/>
              </a:xfrm>
              <a:prstGeom prst="rect">
                <a:avLst/>
              </a:prstGeom>
              <a:blipFill>
                <a:blip r:embed="rId5"/>
                <a:stretch>
                  <a:fillRect l="-4211" r="-8421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D0D1A8E-CCA0-45F5-AEB7-153FD563607B}"/>
              </a:ext>
            </a:extLst>
          </p:cNvPr>
          <p:cNvSpPr txBox="1"/>
          <p:nvPr/>
        </p:nvSpPr>
        <p:spPr>
          <a:xfrm>
            <a:off x="6012464" y="1623546"/>
            <a:ext cx="5438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want to get P by itself.  What operation is happening to P?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69A297-E8D5-4583-8512-343F6D8848A2}"/>
              </a:ext>
            </a:extLst>
          </p:cNvPr>
          <p:cNvSpPr txBox="1"/>
          <p:nvPr/>
        </p:nvSpPr>
        <p:spPr>
          <a:xfrm>
            <a:off x="6012464" y="2269877"/>
            <a:ext cx="543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undo multiplication? </a:t>
            </a:r>
            <a:r>
              <a:rPr lang="en-AU" dirty="0">
                <a:solidFill>
                  <a:srgbClr val="FF0000"/>
                </a:solidFill>
              </a:rPr>
              <a:t>Division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647600-D72B-42BE-A8AD-629F345D0452}"/>
              </a:ext>
            </a:extLst>
          </p:cNvPr>
          <p:cNvSpPr txBox="1"/>
          <p:nvPr/>
        </p:nvSpPr>
        <p:spPr>
          <a:xfrm>
            <a:off x="6237653" y="2629366"/>
            <a:ext cx="5438741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F0"/>
                </a:solidFill>
              </a:rPr>
              <a:t>We have to do the EXACT same thing to both sides to keep the equation BALANCED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5B9DEB-16CA-4B72-AC5B-F65D1DEE3F40}"/>
              </a:ext>
            </a:extLst>
          </p:cNvPr>
          <p:cNvSpPr txBox="1"/>
          <p:nvPr/>
        </p:nvSpPr>
        <p:spPr>
          <a:xfrm>
            <a:off x="2269331" y="3185039"/>
            <a:ext cx="335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I = P</a:t>
            </a:r>
            <a:r>
              <a:rPr lang="en-AU" sz="4000" dirty="0">
                <a:solidFill>
                  <a:srgbClr val="FF0000"/>
                </a:solidFill>
              </a:rPr>
              <a:t>R</a:t>
            </a:r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8B134B-98D4-4EFF-AD47-7C5598092ED1}"/>
                  </a:ext>
                </a:extLst>
              </p:cNvPr>
              <p:cNvSpPr txBox="1"/>
              <p:nvPr/>
            </p:nvSpPr>
            <p:spPr>
              <a:xfrm>
                <a:off x="2621154" y="3779202"/>
                <a:ext cx="5741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8B134B-98D4-4EFF-AD47-7C5598092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154" y="3779202"/>
                <a:ext cx="574132" cy="276999"/>
              </a:xfrm>
              <a:prstGeom prst="rect">
                <a:avLst/>
              </a:prstGeom>
              <a:blipFill>
                <a:blip r:embed="rId6"/>
                <a:stretch>
                  <a:fillRect l="-4255" r="-8511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7EFBB0C-4BA7-4A03-9B55-7977533CD7AA}"/>
                  </a:ext>
                </a:extLst>
              </p:cNvPr>
              <p:cNvSpPr txBox="1"/>
              <p:nvPr/>
            </p:nvSpPr>
            <p:spPr>
              <a:xfrm>
                <a:off x="4724551" y="3723457"/>
                <a:ext cx="5741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7EFBB0C-4BA7-4A03-9B55-7977533CD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551" y="3723457"/>
                <a:ext cx="574132" cy="276999"/>
              </a:xfrm>
              <a:prstGeom prst="rect">
                <a:avLst/>
              </a:prstGeom>
              <a:blipFill>
                <a:blip r:embed="rId7"/>
                <a:stretch>
                  <a:fillRect l="-4255" r="-9574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A088164-467A-45C1-B12A-1E6B01949EC2}"/>
                  </a:ext>
                </a:extLst>
              </p:cNvPr>
              <p:cNvSpPr txBox="1"/>
              <p:nvPr/>
            </p:nvSpPr>
            <p:spPr>
              <a:xfrm>
                <a:off x="2269330" y="4045762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𝑃𝑇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R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A088164-467A-45C1-B12A-1E6B01949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330" y="4045762"/>
                <a:ext cx="3355755" cy="963149"/>
              </a:xfrm>
              <a:prstGeom prst="rect">
                <a:avLst/>
              </a:prstGeom>
              <a:blipFill>
                <a:blip r:embed="rId8"/>
                <a:stretch>
                  <a:fillRect b="-113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AB27F5D1-F62E-4190-A5B9-F91B73F57706}"/>
              </a:ext>
            </a:extLst>
          </p:cNvPr>
          <p:cNvSpPr txBox="1"/>
          <p:nvPr/>
        </p:nvSpPr>
        <p:spPr>
          <a:xfrm>
            <a:off x="2084379" y="4939679"/>
            <a:ext cx="335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I = PR</a:t>
            </a:r>
            <a:r>
              <a:rPr lang="en-AU" sz="4000" dirty="0">
                <a:solidFill>
                  <a:srgbClr val="FF0000"/>
                </a:solidFill>
              </a:rPr>
              <a:t>T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7D40E5-8BBE-4A54-9600-700E408757B5}"/>
                  </a:ext>
                </a:extLst>
              </p:cNvPr>
              <p:cNvSpPr txBox="1"/>
              <p:nvPr/>
            </p:nvSpPr>
            <p:spPr>
              <a:xfrm>
                <a:off x="2609869" y="5532288"/>
                <a:ext cx="58541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𝑃𝑅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7D40E5-8BBE-4A54-9600-700E40875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869" y="5532288"/>
                <a:ext cx="585417" cy="276999"/>
              </a:xfrm>
              <a:prstGeom prst="rect">
                <a:avLst/>
              </a:prstGeom>
              <a:blipFill>
                <a:blip r:embed="rId9"/>
                <a:stretch>
                  <a:fillRect l="-4167" r="-8333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E8CFB7-E241-44E1-979F-20510B4C457A}"/>
                  </a:ext>
                </a:extLst>
              </p:cNvPr>
              <p:cNvSpPr txBox="1"/>
              <p:nvPr/>
            </p:nvSpPr>
            <p:spPr>
              <a:xfrm>
                <a:off x="4609972" y="5478738"/>
                <a:ext cx="5854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𝑃𝑅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E8CFB7-E241-44E1-979F-20510B4C4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9972" y="5478738"/>
                <a:ext cx="585417" cy="276999"/>
              </a:xfrm>
              <a:prstGeom prst="rect">
                <a:avLst/>
              </a:prstGeom>
              <a:blipFill>
                <a:blip r:embed="rId10"/>
                <a:stretch>
                  <a:fillRect l="-4167" r="-8333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543C0-401A-4A92-8DB6-24C014FD15A2}"/>
                  </a:ext>
                </a:extLst>
              </p:cNvPr>
              <p:cNvSpPr txBox="1"/>
              <p:nvPr/>
            </p:nvSpPr>
            <p:spPr>
              <a:xfrm>
                <a:off x="2307771" y="5769429"/>
                <a:ext cx="3317314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𝑃𝑅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543C0-401A-4A92-8DB6-24C014FD1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771" y="5769429"/>
                <a:ext cx="3317314" cy="96314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2AE20D84-07BE-4CD9-8CE6-8705C37FE848}"/>
              </a:ext>
            </a:extLst>
          </p:cNvPr>
          <p:cNvSpPr txBox="1"/>
          <p:nvPr/>
        </p:nvSpPr>
        <p:spPr>
          <a:xfrm>
            <a:off x="103866" y="1554459"/>
            <a:ext cx="16718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P the subject of the equation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164689-57C3-42C8-B86C-2A5DE1AAE4C2}"/>
              </a:ext>
            </a:extLst>
          </p:cNvPr>
          <p:cNvSpPr txBox="1"/>
          <p:nvPr/>
        </p:nvSpPr>
        <p:spPr>
          <a:xfrm>
            <a:off x="79900" y="3237053"/>
            <a:ext cx="2264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R the subject of the equation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20EE97-56F0-452A-A90E-2EF9A7D1C335}"/>
              </a:ext>
            </a:extLst>
          </p:cNvPr>
          <p:cNvSpPr txBox="1"/>
          <p:nvPr/>
        </p:nvSpPr>
        <p:spPr>
          <a:xfrm>
            <a:off x="79900" y="4877174"/>
            <a:ext cx="1695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T the subject of the equation</a:t>
            </a:r>
          </a:p>
        </p:txBody>
      </p:sp>
    </p:spTree>
    <p:extLst>
      <p:ext uri="{BB962C8B-B14F-4D97-AF65-F5344CB8AC3E}">
        <p14:creationId xmlns:p14="http://schemas.microsoft.com/office/powerpoint/2010/main" val="322054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5E1126-DFAD-4F88-A695-25C39C21EF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26" t="37410" r="40656" b="27024"/>
          <a:stretch/>
        </p:blipFill>
        <p:spPr>
          <a:xfrm>
            <a:off x="1352203" y="2200103"/>
            <a:ext cx="9155063" cy="347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506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B31BBF-A53B-499D-BD68-41FE65521D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792" t="34952" r="3883" b="29709"/>
          <a:stretch/>
        </p:blipFill>
        <p:spPr>
          <a:xfrm>
            <a:off x="1587614" y="2399607"/>
            <a:ext cx="8928268" cy="304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971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64D9EF-F222-4796-94D7-06E17BD78E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82" t="42977" r="40437" b="12492"/>
          <a:stretch/>
        </p:blipFill>
        <p:spPr>
          <a:xfrm>
            <a:off x="2051213" y="2151676"/>
            <a:ext cx="7656015" cy="346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12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916FE7-0D1F-4926-9B27-8595C78110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611" t="24078" r="5299" b="33204"/>
          <a:stretch/>
        </p:blipFill>
        <p:spPr>
          <a:xfrm>
            <a:off x="2214591" y="2532611"/>
            <a:ext cx="7762818" cy="338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51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441</Words>
  <Application>Microsoft Office PowerPoint</Application>
  <PresentationFormat>Widescreen</PresentationFormat>
  <Paragraphs>105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Kiwi School Handwriting</vt:lpstr>
      <vt:lpstr>Wingdings</vt:lpstr>
      <vt:lpstr>Office Theme</vt:lpstr>
      <vt:lpstr>Topic: Interest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Interest</dc:title>
  <dc:creator>Sarah James</dc:creator>
  <cp:lastModifiedBy>Sarah James</cp:lastModifiedBy>
  <cp:revision>1</cp:revision>
  <dcterms:created xsi:type="dcterms:W3CDTF">2020-08-18T12:22:51Z</dcterms:created>
  <dcterms:modified xsi:type="dcterms:W3CDTF">2020-08-18T12:28:22Z</dcterms:modified>
</cp:coreProperties>
</file>
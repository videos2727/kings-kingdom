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7" r:id="rId2"/>
    <p:sldId id="259" r:id="rId3"/>
    <p:sldId id="260" r:id="rId4"/>
    <p:sldId id="303" r:id="rId5"/>
    <p:sldId id="322" r:id="rId6"/>
    <p:sldId id="324" r:id="rId7"/>
    <p:sldId id="325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A98689-1ED2-436F-998C-4B5D13BDA1AE}" type="datetimeFigureOut">
              <a:rPr lang="en-AU" smtClean="0"/>
              <a:t>26/08/2020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6908B8-288C-40BB-A4E8-1ADF7980BA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102997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base"/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is the account value,</a:t>
            </a:r>
          </a:p>
          <a:p>
            <a:pPr fontAlgn="base"/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is measured in years,</a:t>
            </a:r>
          </a:p>
          <a:p>
            <a:pPr fontAlgn="base"/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is the starting amount of the account, often called the principal, or more generally present value,</a:t>
            </a:r>
          </a:p>
          <a:p>
            <a:pPr fontAlgn="base"/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is the annual percentage rate (APR) expressed as a decimal, and</a:t>
            </a:r>
          </a:p>
          <a:p>
            <a:pPr fontAlgn="base"/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is the number of compounding periods in one year.</a:t>
            </a:r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77B280-46B3-4EF4-9081-1F375428F582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081594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4A254-D777-4D36-ABF5-CB1C6E2EE3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37A96F-D675-4C45-AC58-414AF80A69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E658FD-A4D7-46DF-B250-2C0BD4B2C3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78E1E-B301-40C4-BF73-16213724FFC6}" type="datetimeFigureOut">
              <a:rPr lang="en-AU" smtClean="0"/>
              <a:t>26/08/2020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8D261B-6AC7-43F0-B418-9702E985F6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7BE266-C233-4295-8413-F0A060C04A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1FFD9-52AF-4C48-8824-FF87CBA8C3C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85121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E2727B-74DC-4D5C-B7AD-FB109F0411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108DC6-4CF9-42E2-83DD-480447E94B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1660CC-816A-4971-A7A9-A5B5579F52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78E1E-B301-40C4-BF73-16213724FFC6}" type="datetimeFigureOut">
              <a:rPr lang="en-AU" smtClean="0"/>
              <a:t>26/08/2020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6290BB-848C-4D82-B7D0-3C19B5B7B9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D3015F-A75C-4B22-A455-EDF779B3C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1FFD9-52AF-4C48-8824-FF87CBA8C3C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457284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D82B0E-C76C-499C-9424-8A35FEF981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DD0E7F-3814-46CA-AEFE-A7F9989322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FEF8F4-F758-425A-BB10-94A145BA82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78E1E-B301-40C4-BF73-16213724FFC6}" type="datetimeFigureOut">
              <a:rPr lang="en-AU" smtClean="0"/>
              <a:t>26/08/2020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BBA930-9592-4331-A321-1C08932BE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0691A8-F3AA-4C18-B965-D48D117F2E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1FFD9-52AF-4C48-8824-FF87CBA8C3C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010315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666F0-E0B7-4407-AE98-0DC5795EB0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FA475E-9C1C-451D-9FF7-9AC0C62DC6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066DC6-2561-424C-8938-441781E8DD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7205C3-20F9-4834-9148-00D3541BEB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78E1E-B301-40C4-BF73-16213724FFC6}" type="datetimeFigureOut">
              <a:rPr lang="en-AU" smtClean="0"/>
              <a:t>26/08/2020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F011D6-3229-4B23-B680-607F5E0097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BF4D9-18CC-4414-BCA2-E0B9F35D4C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1FFD9-52AF-4C48-8824-FF87CBA8C3C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210166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1E6CED-B5B3-4FED-AFCB-2F9B717ED5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F681ED-0B3A-4E2D-A44C-9BD014A9E4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8B33C4-E8DD-4EF8-A0F3-DAC32D4168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56FA987-23F2-46F7-B51B-20A09B6210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0BA239-6B8F-4BEB-BCC9-77EC4F796C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A8BDF90-8A41-41B5-8F9C-D5034C2B0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78E1E-B301-40C4-BF73-16213724FFC6}" type="datetimeFigureOut">
              <a:rPr lang="en-AU" smtClean="0"/>
              <a:t>26/08/2020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D2C8834-2AE9-4BB8-85F8-BFD68A99E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6ADBE77-9D4F-49CE-80E6-1EC3D8D2D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1FFD9-52AF-4C48-8824-FF87CBA8C3C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554547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BF7BBC-E1B1-4494-B731-FC65B47AE4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B6A866-EE60-46B2-A76A-9081111DBA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78E1E-B301-40C4-BF73-16213724FFC6}" type="datetimeFigureOut">
              <a:rPr lang="en-AU" smtClean="0"/>
              <a:t>26/08/2020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BAD997-AD54-45C4-9241-0164737217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50A5E6-0D20-4344-B142-7C5548D73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1FFD9-52AF-4C48-8824-FF87CBA8C3C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689262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36D367-14D1-4BB5-9676-3A0C395101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78E1E-B301-40C4-BF73-16213724FFC6}" type="datetimeFigureOut">
              <a:rPr lang="en-AU" smtClean="0"/>
              <a:t>26/08/2020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A466AA-B979-41C0-A298-7A56736CC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B345CA-F0E5-449F-BB26-58C9921E9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1FFD9-52AF-4C48-8824-FF87CBA8C3C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142919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624A4-528D-459C-92EB-C44CE1DF17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87DB76-EC94-4DE4-8D2B-52A6FD7D24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6E9509-1093-4AC6-832A-B12724CD2E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1F328C-587B-4A65-82A4-13A2D15DCA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78E1E-B301-40C4-BF73-16213724FFC6}" type="datetimeFigureOut">
              <a:rPr lang="en-AU" smtClean="0"/>
              <a:t>26/08/2020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8743BC-3DF0-48AB-8373-4FD43C58B6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910835-238A-417D-A819-E2A15CFBAE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1FFD9-52AF-4C48-8824-FF87CBA8C3C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916137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CF1FC-6DD0-4488-84EC-37F7951C73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43163B6-EC7A-4511-AAC2-C15E684A4A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3EE0F1-4D4A-4010-ADB8-0BD4BB0593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CDC84A-08E8-41D3-A4F7-FB8E99DEA1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78E1E-B301-40C4-BF73-16213724FFC6}" type="datetimeFigureOut">
              <a:rPr lang="en-AU" smtClean="0"/>
              <a:t>26/08/2020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3A3CEA-CF92-485B-A113-54C8902B9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2602C3-6C03-496B-A07D-9CF7743B8D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1FFD9-52AF-4C48-8824-FF87CBA8C3C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942891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E14B04-DC52-4DE4-8289-85EAE3013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4BF3A7-C7C5-48DF-8478-460849FC0D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BF86DE-8501-4B6A-B2AC-6F7A1E3677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78E1E-B301-40C4-BF73-16213724FFC6}" type="datetimeFigureOut">
              <a:rPr lang="en-AU" smtClean="0"/>
              <a:t>26/08/2020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EEA875-8F9C-49E1-BC45-857CEC76F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38FD09-3947-40BC-A1D5-2239B625A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1FFD9-52AF-4C48-8824-FF87CBA8C3C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955298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A753213-B0DD-45A6-8A76-35BD38D29B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58D099-AA0B-4872-B037-3881A9E59B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F6F0A8-19DD-46C0-99DB-1740FD23D2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78E1E-B301-40C4-BF73-16213724FFC6}" type="datetimeFigureOut">
              <a:rPr lang="en-AU" smtClean="0"/>
              <a:t>26/08/2020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68ED61-9249-4F89-8800-CBA42CFCE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BC0F3F-4923-4070-91FD-9D51E261C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1FFD9-52AF-4C48-8824-FF87CBA8C3C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236603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78B10A9-1E3D-420A-8430-F169265D57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883E25-9F95-4EC6-8EAB-A44D95FA8C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470D92-5032-49FD-9E07-5557CAAE16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178E1E-B301-40C4-BF73-16213724FFC6}" type="datetimeFigureOut">
              <a:rPr lang="en-AU" smtClean="0"/>
              <a:t>26/08/2020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7A8BC0-31E4-40D3-B9D6-39C8BFCDF2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887873-9A04-471E-A5DC-0948320FBB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71FFD9-52AF-4C48-8824-FF87CBA8C3C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536361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21254" y="157512"/>
            <a:ext cx="7766936" cy="783761"/>
          </a:xfrm>
        </p:spPr>
        <p:txBody>
          <a:bodyPr/>
          <a:lstStyle/>
          <a:p>
            <a:pPr algn="l"/>
            <a:r>
              <a:rPr lang="en-US" sz="3200" dirty="0"/>
              <a:t>Topic: Interest</a:t>
            </a:r>
            <a:endParaRPr lang="en-AU" sz="32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22070" y="941273"/>
            <a:ext cx="8077200" cy="783762"/>
          </a:xfrm>
        </p:spPr>
        <p:txBody>
          <a:bodyPr>
            <a:normAutofit/>
          </a:bodyPr>
          <a:lstStyle/>
          <a:p>
            <a:r>
              <a:rPr lang="en-AU" sz="2000" dirty="0"/>
              <a:t>EQ – How is Compound Interest different from Simple Interest?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2FF9DF1-F8C5-4534-9891-E5DE8B9AFEEB}"/>
              </a:ext>
            </a:extLst>
          </p:cNvPr>
          <p:cNvSpPr txBox="1"/>
          <p:nvPr/>
        </p:nvSpPr>
        <p:spPr>
          <a:xfrm>
            <a:off x="897104" y="1540368"/>
            <a:ext cx="98202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Get your VIVOS</a:t>
            </a:r>
            <a:endParaRPr lang="en-AU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E1FB1A7-E8B5-4022-9156-37ABACFD68FC}"/>
              </a:ext>
            </a:extLst>
          </p:cNvPr>
          <p:cNvSpPr/>
          <p:nvPr/>
        </p:nvSpPr>
        <p:spPr>
          <a:xfrm>
            <a:off x="897104" y="2508795"/>
            <a:ext cx="10992051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/>
              <a:t>Sam invests 15000 at 7.5% for 5 years. </a:t>
            </a:r>
          </a:p>
          <a:p>
            <a:pPr marL="342900" indent="-342900">
              <a:buAutoNum type="alphaLcParenR"/>
            </a:pPr>
            <a:r>
              <a:rPr lang="en-AU" dirty="0"/>
              <a:t>How much simple interest will he get back on his investment</a:t>
            </a:r>
          </a:p>
          <a:p>
            <a:pPr marL="342900" indent="-342900">
              <a:buAutoNum type="alphaLcParenR"/>
            </a:pPr>
            <a:r>
              <a:rPr lang="en-AU" dirty="0"/>
              <a:t>What is the gross amount of his investment after 5 years</a:t>
            </a:r>
          </a:p>
          <a:p>
            <a:endParaRPr lang="en-AU" dirty="0"/>
          </a:p>
          <a:p>
            <a:r>
              <a:rPr lang="en-AU" dirty="0"/>
              <a:t>SI = P (15000) x R(7.5%) x T(5)</a:t>
            </a:r>
          </a:p>
          <a:p>
            <a:r>
              <a:rPr lang="en-AU" dirty="0"/>
              <a:t>SI = 15000x(7.5/100)x5</a:t>
            </a:r>
          </a:p>
          <a:p>
            <a:r>
              <a:rPr lang="en-AU" dirty="0"/>
              <a:t>SI = 15000 x 0.075 x 5</a:t>
            </a:r>
          </a:p>
          <a:p>
            <a:r>
              <a:rPr lang="en-AU" dirty="0"/>
              <a:t>SI = 5625</a:t>
            </a:r>
          </a:p>
          <a:p>
            <a:r>
              <a:rPr lang="en-AU" dirty="0"/>
              <a:t>This means that at the end of 5 years, she would have earned $5625 on top of the $15,000 so the total gross amount would $20,625 at the end of 5 years. </a:t>
            </a:r>
          </a:p>
        </p:txBody>
      </p:sp>
    </p:spTree>
    <p:extLst>
      <p:ext uri="{BB962C8B-B14F-4D97-AF65-F5344CB8AC3E}">
        <p14:creationId xmlns:p14="http://schemas.microsoft.com/office/powerpoint/2010/main" val="1207638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Compounding the problem.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0000" y="1417638"/>
            <a:ext cx="10554574" cy="3636511"/>
          </a:xfrm>
        </p:spPr>
        <p:txBody>
          <a:bodyPr/>
          <a:lstStyle/>
          <a:p>
            <a:r>
              <a:rPr lang="en-AU" dirty="0"/>
              <a:t>Compound interest is when you earn interest each time, based upon on previous amount. </a:t>
            </a:r>
          </a:p>
          <a:p>
            <a:r>
              <a:rPr lang="en-AU" dirty="0"/>
              <a:t>If we look at the same problem from before, but apply compound interest we see it grow a lot quicker-</a:t>
            </a:r>
          </a:p>
          <a:p>
            <a:endParaRPr lang="en-AU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023288" y="3588127"/>
          <a:ext cx="7675884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86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86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586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Initial Amount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Simple interest </a:t>
                      </a:r>
                      <a:r>
                        <a:rPr lang="en-AU" dirty="0" err="1"/>
                        <a:t>PxRxT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New amount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15000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15000x0.075x1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dirty="0"/>
                        <a:t>16125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26094" y="6225436"/>
            <a:ext cx="92160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From the SI, we earned only $5625, but compounded we earn $6534.44, a difference of </a:t>
            </a:r>
            <a:r>
              <a:rPr lang="en-AU" b="1" dirty="0"/>
              <a:t>$909.44</a:t>
            </a:r>
          </a:p>
        </p:txBody>
      </p:sp>
    </p:spTree>
    <p:extLst>
      <p:ext uri="{BB962C8B-B14F-4D97-AF65-F5344CB8AC3E}">
        <p14:creationId xmlns:p14="http://schemas.microsoft.com/office/powerpoint/2010/main" val="10901267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ANSWERS: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0000" y="1417638"/>
            <a:ext cx="10554574" cy="3636511"/>
          </a:xfrm>
        </p:spPr>
        <p:txBody>
          <a:bodyPr/>
          <a:lstStyle/>
          <a:p>
            <a:r>
              <a:rPr lang="en-AU" dirty="0"/>
              <a:t>Compound interest is when you earn interest each time, based upon on previous amount. </a:t>
            </a:r>
          </a:p>
          <a:p>
            <a:r>
              <a:rPr lang="en-AU" dirty="0"/>
              <a:t>If we look at the same problem from before, but apply compound interest we see it grow a lot quicker-</a:t>
            </a:r>
          </a:p>
          <a:p>
            <a:endParaRPr lang="en-AU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023288" y="3588127"/>
          <a:ext cx="7675884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86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86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586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Initial Amount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Simple interest </a:t>
                      </a:r>
                      <a:r>
                        <a:rPr lang="en-AU" dirty="0" err="1"/>
                        <a:t>PxRxT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New amount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15000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15000x0.075x1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16125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16125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16125x0.075x1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17334.38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dirty="0"/>
                        <a:t>17334.38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17334.38x0.075x1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18634.45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18634.45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18634.45x0.075x1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20032.04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20032.04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20032.04x0.07x1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21534.44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26094" y="6225436"/>
            <a:ext cx="107179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From the SI, we earned only 5625, but compounded we earn $6534.44, a difference of </a:t>
            </a:r>
            <a:r>
              <a:rPr lang="en-AU" b="1" dirty="0"/>
              <a:t>$909.44</a:t>
            </a:r>
          </a:p>
        </p:txBody>
      </p:sp>
    </p:spTree>
    <p:extLst>
      <p:ext uri="{BB962C8B-B14F-4D97-AF65-F5344CB8AC3E}">
        <p14:creationId xmlns:p14="http://schemas.microsoft.com/office/powerpoint/2010/main" val="28996336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152400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52400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617471" y="1497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439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639617" y="404664"/>
            <a:ext cx="302007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Compound Interest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3175" y="106355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3514" y="1075005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is Compound Interest different from Simple Interest?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47528" y="2204864"/>
            <a:ext cx="223224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What is the formula used to calculate Compound Interest?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532630" y="4297173"/>
            <a:ext cx="3556000" cy="9779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62267" y="5275074"/>
            <a:ext cx="1695016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a) Annually?</a:t>
            </a:r>
          </a:p>
          <a:p>
            <a:endParaRPr lang="en-AU" dirty="0"/>
          </a:p>
          <a:p>
            <a:r>
              <a:rPr lang="en-AU" dirty="0"/>
              <a:t>b) Twice a year?</a:t>
            </a:r>
          </a:p>
          <a:p>
            <a:endParaRPr lang="en-AU" dirty="0"/>
          </a:p>
          <a:p>
            <a:r>
              <a:rPr lang="en-AU" dirty="0"/>
              <a:t>c) Quarterly?</a:t>
            </a:r>
          </a:p>
          <a:p>
            <a:pPr marL="342900" indent="-342900">
              <a:buAutoNum type="alphaLcParenR"/>
            </a:pP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08E26C8-0B67-492E-9A5C-33C440BF2C31}"/>
                  </a:ext>
                </a:extLst>
              </p:cNvPr>
              <p:cNvSpPr txBox="1"/>
              <p:nvPr/>
            </p:nvSpPr>
            <p:spPr>
              <a:xfrm>
                <a:off x="4705229" y="2204864"/>
                <a:ext cx="6093912" cy="66883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AU" sz="2800" dirty="0"/>
                  <a:t>CI = P(1+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bg-BG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800" i="1">
                            <a:latin typeface="Cambria Math" charset="0"/>
                          </a:rPr>
                          <m:t>𝑟</m:t>
                        </m:r>
                      </m:num>
                      <m:den>
                        <m:r>
                          <a:rPr lang="en-AU" sz="2800" i="1">
                            <a:latin typeface="Cambria Math" charset="0"/>
                          </a:rPr>
                          <m:t>𝑛</m:t>
                        </m:r>
                      </m:den>
                    </m:f>
                    <m:sSup>
                      <m:sSupPr>
                        <m:ctrlPr>
                          <a:rPr lang="bg-BG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800" i="1">
                            <a:latin typeface="Cambria Math" charset="0"/>
                          </a:rPr>
                          <m:t>)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AU" sz="2800" i="1">
                            <a:latin typeface="Cambria Math" charset="0"/>
                          </a:rPr>
                          <m:t>𝑡</m:t>
                        </m:r>
                      </m:sup>
                    </m:sSup>
                  </m:oMath>
                </a14:m>
                <a:endParaRPr lang="en-AU" sz="2800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08E26C8-0B67-492E-9A5C-33C440BF2C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5229" y="2204864"/>
                <a:ext cx="6093912" cy="668837"/>
              </a:xfrm>
              <a:prstGeom prst="rect">
                <a:avLst/>
              </a:prstGeom>
              <a:blipFill>
                <a:blip r:embed="rId4"/>
                <a:stretch>
                  <a:fillRect l="-2100" t="-917" b="-1284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Picture 15">
            <a:extLst>
              <a:ext uri="{FF2B5EF4-FFF2-40B4-BE49-F238E27FC236}">
                <a16:creationId xmlns:a16="http://schemas.microsoft.com/office/drawing/2014/main" id="{4FE39730-8E58-4D6D-A18C-DD7613B4F54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0630" y="3137762"/>
            <a:ext cx="3028950" cy="89535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0E84A068-DCC0-4F25-AD29-BBB76C3D8195}"/>
              </a:ext>
            </a:extLst>
          </p:cNvPr>
          <p:cNvSpPr txBox="1"/>
          <p:nvPr/>
        </p:nvSpPr>
        <p:spPr>
          <a:xfrm>
            <a:off x="4799857" y="3340305"/>
            <a:ext cx="19266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Accumulated amount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70902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5" grpId="0"/>
      <p:bldP spid="1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152400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52400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617471" y="1497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3791744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639617" y="404664"/>
            <a:ext cx="302007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Compound Interest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3175" y="106355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3514" y="1075005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is Compound Interest different from Simple Interest?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31504" y="2060848"/>
            <a:ext cx="223224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What is the formula used to calculate Compound Interest?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079776" y="1988841"/>
            <a:ext cx="5904656" cy="296291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040849" y="2276872"/>
            <a:ext cx="6626820" cy="1370292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4026496" y="3717032"/>
            <a:ext cx="6624736" cy="1452482"/>
          </a:xfrm>
          <a:prstGeom prst="rect">
            <a:avLst/>
          </a:prstGeom>
        </p:spPr>
      </p:pic>
      <p:cxnSp>
        <p:nvCxnSpPr>
          <p:cNvPr id="18" name="Straight Connector 17"/>
          <p:cNvCxnSpPr/>
          <p:nvPr/>
        </p:nvCxnSpPr>
        <p:spPr>
          <a:xfrm>
            <a:off x="3935760" y="3717032"/>
            <a:ext cx="673224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3863752" y="5157192"/>
            <a:ext cx="680424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2" name="Picture 21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3935760" y="5345832"/>
            <a:ext cx="6503552" cy="1512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25120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19536" y="-171400"/>
            <a:ext cx="8229600" cy="1143000"/>
          </a:xfrm>
        </p:spPr>
        <p:txBody>
          <a:bodyPr/>
          <a:lstStyle/>
          <a:p>
            <a:r>
              <a:rPr lang="en-AU" dirty="0"/>
              <a:t>Task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 cstate="print"/>
          <a:srcRect t="23583"/>
          <a:stretch/>
        </p:blipFill>
        <p:spPr>
          <a:xfrm>
            <a:off x="2639616" y="957077"/>
            <a:ext cx="5760640" cy="4585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03437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19536" y="-171400"/>
            <a:ext cx="8229600" cy="1143000"/>
          </a:xfrm>
        </p:spPr>
        <p:txBody>
          <a:bodyPr/>
          <a:lstStyle/>
          <a:p>
            <a:r>
              <a:rPr lang="en-AU" dirty="0"/>
              <a:t>Answers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 rotWithShape="1">
          <a:blip r:embed="rId2" cstate="print"/>
          <a:srcRect t="44608"/>
          <a:stretch/>
        </p:blipFill>
        <p:spPr bwMode="auto">
          <a:xfrm>
            <a:off x="2495601" y="1196752"/>
            <a:ext cx="4048125" cy="16988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8860342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415</Words>
  <Application>Microsoft Office PowerPoint</Application>
  <PresentationFormat>Widescreen</PresentationFormat>
  <Paragraphs>75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Cambria Math</vt:lpstr>
      <vt:lpstr>Office Theme</vt:lpstr>
      <vt:lpstr>Topic: Interest</vt:lpstr>
      <vt:lpstr>Compounding the problem. </vt:lpstr>
      <vt:lpstr>ANSWERS:</vt:lpstr>
      <vt:lpstr>PowerPoint Presentation</vt:lpstr>
      <vt:lpstr>PowerPoint Presentation</vt:lpstr>
      <vt:lpstr>Task</vt:lpstr>
      <vt:lpstr>Answers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Topic: Interest</dc:title>
  <dc:creator>Sarah James</dc:creator>
  <cp:lastModifiedBy>Sarah James</cp:lastModifiedBy>
  <cp:revision>1</cp:revision>
  <dcterms:created xsi:type="dcterms:W3CDTF">2020-08-26T02:16:37Z</dcterms:created>
  <dcterms:modified xsi:type="dcterms:W3CDTF">2020-08-26T02:17:28Z</dcterms:modified>
</cp:coreProperties>
</file>
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5" r:id="rId2"/>
    <p:sldId id="264" r:id="rId3"/>
    <p:sldId id="272" r:id="rId4"/>
    <p:sldId id="273" r:id="rId5"/>
    <p:sldId id="274" r:id="rId6"/>
    <p:sldId id="259" r:id="rId7"/>
    <p:sldId id="270" r:id="rId8"/>
    <p:sldId id="269" r:id="rId9"/>
    <p:sldId id="277" r:id="rId10"/>
    <p:sldId id="261" r:id="rId11"/>
    <p:sldId id="262" r:id="rId12"/>
    <p:sldId id="263" r:id="rId13"/>
    <p:sldId id="281" r:id="rId14"/>
    <p:sldId id="265" r:id="rId15"/>
    <p:sldId id="278" r:id="rId16"/>
    <p:sldId id="279" r:id="rId1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29B97-61C2-4DD5-BB1F-FAC2ABC8C1CD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E7BCE-11D4-4204-962A-2137DA1A7E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40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-560388" y="877888"/>
            <a:ext cx="7797801" cy="43862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67862" y="5556838"/>
            <a:ext cx="5342890" cy="5264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54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E973ADC9-3285-4B33-A382-0AAAE1E11C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FC677F-0F1C-456A-A09C-AB3A61131767}" type="slidenum">
              <a:rPr lang="en-GB" altLang="en-US"/>
              <a:pPr eaLnBrk="1" hangingPunct="1"/>
              <a:t>6</a:t>
            </a:fld>
            <a:endParaRPr lang="en-GB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111C45D-8650-4F3C-A521-5F14BED59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9F5F73B-2A10-4AA3-B1CD-6DA40AFC7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6357" y="4715153"/>
            <a:ext cx="4984962" cy="44669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559D7E5-37B7-470A-BA85-74DCF65B5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42E805-14F4-40B0-87C6-EF69400D2D12}" type="slidenum">
              <a:rPr lang="en-GB" altLang="en-US"/>
              <a:pPr eaLnBrk="1" hangingPunct="1"/>
              <a:t>8</a:t>
            </a:fld>
            <a:endParaRPr lang="en-GB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1B5C581-1AE6-48CC-B4D5-8BF078B2E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CC9E583-F3BC-496C-9647-2319E1EFE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6357" y="4715153"/>
            <a:ext cx="4984962" cy="44669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873D-3571-4EB4-9FB7-DA4C0940C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45449-76FF-4ED9-87A4-27912D0C5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B8799-7553-42AE-B5E6-B99DF47A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8B676-06CC-4B85-9AEF-DBCE1EDD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DCC0-A90A-4C7B-A7D5-DD3AD3C1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52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3F35-CC88-48DB-BA2A-A283BC2E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34731-3C5F-4F72-B53B-5C86DA476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72FAF-BD59-4DB7-9F70-2D849BBA3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22EE0-F8A6-44D9-ADFE-30DB2DC8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A108C-EED9-4AD1-AB97-FFE2B051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06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C1EF-F2DE-486C-BFE7-990369B4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CB3C6-B0D8-4260-9548-A0168C92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547D-01FA-4ABD-8D23-6DF82236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E862E-6621-4560-B654-B6A8DE5A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B6F51-AC42-4E54-9A3B-B3406ECC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614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5D21-4086-4248-BB12-CB5CBF0D9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2223-4C2D-453D-B1E2-257E828D0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50727-70E9-46E9-B151-1A5A1607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A4DEB-B4C8-49BF-9804-8B3CFC67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8A42E-9ABC-4FDB-B72E-0C78DE61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AA6B4-4930-4ED9-B026-8BE90220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7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9DE4-8854-45F1-B6CD-1D288A69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CD8F3-CE15-41A7-BAC4-797EA8342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41334-EA8C-400E-A5EF-EF7DBB12C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BC27A-72C7-4A14-AC0F-80A200B6C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77B99A-5461-4725-A2AE-ACA882298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F82A4-AC90-45D0-8778-B7280787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1A962-E7F6-498C-A74C-8C17947C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5DA78-1B2A-42B3-9046-A36A034B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1096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D64B-46F8-4D1F-8494-92ED7E1F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06899-DBA7-419D-B44A-56F9C135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C3CF0-B420-4035-B454-17C75112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46574-4085-43F4-9967-F323CD4D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596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D5425-C44F-4C55-A229-D773F670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1BCA0-46E9-4409-B73A-2F379880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F57CD-CE30-4B3E-98AD-2EA10993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1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74E3-EF1C-4883-8C17-08BDE0CE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8BE9C-4260-4261-A618-464CC0146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EDFA8-908C-4EBE-BB94-DD4901E78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BDB99-214F-4268-ABAA-AFD1A058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3D5D6-1963-4CE6-BA51-8CEE4AF1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E9B46-46CF-4AAC-8C1F-26F09FA4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99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2EC5-39C6-4D86-9C53-4E0A834E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A92647-607A-4583-91B7-C5724E4A7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F47D0-3FA7-40BB-B668-80BB4A4ED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2D8DE-0135-4DF0-8F4E-486CD2AF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C50D1-4555-42C3-914A-D82252AF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5834B-A72F-4852-8FE0-B7DF6C63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74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1C9C-EE96-4B67-AB05-5BE6896B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3AA70-6F1F-42F7-A98A-495F5AD45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D026B-98B2-459C-91B8-09441951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3C62B-D7EC-4155-A1E9-AC274133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0FDFD-4D7C-4479-968A-03636378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26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81DC3-3FC3-447E-8E16-CEA2CD6E4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87073-943B-4182-934F-2F0794F08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ED4C2-DA13-4274-8812-995D9973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71C06-756C-4CA0-B1C1-4952CA51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6A8BF-C58E-43CD-83B5-4EBFDBB9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736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680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6383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E5F96-8541-407B-A34E-08C58C39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65DA-77F9-4269-A0AF-5DE410E43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B4A4-B1AE-428B-8716-C7659A68B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97FCD-78AF-45EE-906D-E971AA5B723A}" type="datetimeFigureOut">
              <a:rPr lang="en-AU" smtClean="0"/>
              <a:t>25/08/2020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AFA99-1D87-4919-BAE1-EBA7B84E3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E5BEB-B1DD-4C15-BBBB-630313746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65ABD-FD58-47C9-BA0F-FC591E36DE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7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775169"/>
            <a:ext cx="9446339" cy="936929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Topic: Interest</a:t>
            </a:r>
            <a:br>
              <a:rPr lang="en-AU" b="1" dirty="0">
                <a:latin typeface="Fragment Core" panose="02000504040000020003" pitchFamily="50" charset="0"/>
              </a:rPr>
            </a:br>
            <a:endParaRPr lang="en-AU" b="1" dirty="0">
              <a:latin typeface="Fragment Core" panose="02000504040000020003" pitchFamily="50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C29804D-CA8E-4324-B353-4A9309A65ABE}"/>
              </a:ext>
            </a:extLst>
          </p:cNvPr>
          <p:cNvSpPr txBox="1">
            <a:spLocks/>
          </p:cNvSpPr>
          <p:nvPr/>
        </p:nvSpPr>
        <p:spPr>
          <a:xfrm>
            <a:off x="1134705" y="1019760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</a:t>
            </a: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Fragment Core" panose="02000504040000020003" pitchFamily="50" charset="0"/>
              </a:rPr>
              <a:t>: </a:t>
            </a:r>
            <a:r>
              <a:rPr lang="en-US" sz="3200" b="0" baseline="0" dirty="0">
                <a:solidFill>
                  <a:schemeClr val="tx1"/>
                </a:solidFill>
              </a:rPr>
              <a:t>What is the concept of simple interest?</a:t>
            </a:r>
            <a:endParaRPr 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Fragment Core" panose="02000504040000020003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2EC9F-4EB4-45EF-8320-41AD8D932CE6}"/>
              </a:ext>
            </a:extLst>
          </p:cNvPr>
          <p:cNvSpPr txBox="1"/>
          <p:nvPr/>
        </p:nvSpPr>
        <p:spPr>
          <a:xfrm>
            <a:off x="480155" y="1822076"/>
            <a:ext cx="1123168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ighlight>
                  <a:srgbClr val="FFFF00"/>
                </a:highlight>
              </a:rPr>
              <a:t>Get your VIVO’s</a:t>
            </a:r>
          </a:p>
          <a:p>
            <a:pPr marL="685800" indent="-685800">
              <a:buFontTx/>
              <a:buChar char="-"/>
            </a:pPr>
            <a:r>
              <a:rPr lang="en-US" sz="4800" dirty="0"/>
              <a:t>Caleb, Connor, Nathan, Alex, Harvey, Caleb – for 100% on test</a:t>
            </a:r>
          </a:p>
          <a:p>
            <a:pPr marL="685800" indent="-685800">
              <a:buFontTx/>
              <a:buChar char="-"/>
            </a:pPr>
            <a:endParaRPr lang="en-US" sz="4800" dirty="0"/>
          </a:p>
          <a:p>
            <a:pPr marL="685800" indent="-685800">
              <a:buFontTx/>
              <a:buChar char="-"/>
            </a:pPr>
            <a:r>
              <a:rPr lang="en-US" sz="4800" dirty="0"/>
              <a:t>More to give today if you want- Do your 100%, don’t distract </a:t>
            </a:r>
          </a:p>
          <a:p>
            <a:pPr marL="685800" indent="-685800">
              <a:buFontTx/>
              <a:buChar char="-"/>
            </a:pP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  <a:p>
            <a:pPr marL="685800" indent="-685800">
              <a:buFontTx/>
              <a:buChar char="-"/>
            </a:pPr>
            <a:endParaRPr lang="en-AU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26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00018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Topic: Interest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What is the concept of simple interest?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2DCFB-3A3E-413C-9ECC-ACF609E1E3F8}"/>
              </a:ext>
            </a:extLst>
          </p:cNvPr>
          <p:cNvSpPr txBox="1">
            <a:spLocks/>
          </p:cNvSpPr>
          <p:nvPr/>
        </p:nvSpPr>
        <p:spPr>
          <a:xfrm>
            <a:off x="3442970" y="2042478"/>
            <a:ext cx="749935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GB" dirty="0"/>
              <a:t>If you put money into a bank or building society </a:t>
            </a:r>
            <a:r>
              <a:rPr lang="en-GB" b="1" dirty="0"/>
              <a:t>they will pay you interest</a:t>
            </a:r>
            <a:r>
              <a:rPr lang="en-GB" dirty="0"/>
              <a:t> on this money.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GB" dirty="0"/>
              <a:t>If you have borrowed money, from a bank or building society for a mortgage or other loan, </a:t>
            </a:r>
            <a:r>
              <a:rPr lang="en-GB" b="1" dirty="0"/>
              <a:t>you have to pay them interest.</a:t>
            </a:r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GB" dirty="0"/>
              <a:t>Simple interest is calculated on a yearly basis (annually) and depends on the interest rate. The rate is often given per annum (p.a.) which means per year.</a:t>
            </a:r>
          </a:p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327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71352-5692-4BFC-ABD3-91C2C069E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1196975"/>
            <a:ext cx="75612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Alex wants to borrow $1,000. The local bank says "</a:t>
            </a:r>
            <a:r>
              <a:rPr lang="en-GB" altLang="en-US" b="1" i="1" dirty="0">
                <a:latin typeface="Comic Sans MS" panose="030F0702030302020204" pitchFamily="66" charset="0"/>
              </a:rPr>
              <a:t>10% Interest</a:t>
            </a:r>
            <a:r>
              <a:rPr lang="en-GB" altLang="en-US" dirty="0">
                <a:latin typeface="Comic Sans MS" panose="030F0702030302020204" pitchFamily="66" charset="0"/>
              </a:rPr>
              <a:t>". So to borrow the $1,000 for 1 year will cost:</a:t>
            </a:r>
          </a:p>
          <a:p>
            <a:pPr eaLnBrk="1" hangingPunct="1"/>
            <a:endParaRPr lang="en-GB" altLang="en-US" dirty="0">
              <a:latin typeface="Comic Sans MS" panose="030F0702030302020204" pitchFamily="66" charset="0"/>
            </a:endParaRPr>
          </a:p>
          <a:p>
            <a:pPr eaLnBrk="1" hangingPunct="1"/>
            <a:r>
              <a:rPr lang="en-GB" altLang="en-US" b="1" dirty="0">
                <a:latin typeface="Comic Sans MS" panose="030F0702030302020204" pitchFamily="66" charset="0"/>
              </a:rPr>
              <a:t>$1,000 × 10% = $100</a:t>
            </a:r>
            <a:endParaRPr lang="en-GB" altLang="en-US" dirty="0">
              <a:latin typeface="Comic Sans MS" panose="030F0702030302020204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C979D-D0EF-4279-8FFF-2BE5F71C3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2506664"/>
            <a:ext cx="7561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In this case the "Interest" is $100, and the "Interest Rate" is 10%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85F7BE-0490-4B2C-8A94-871F8B79D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2967038"/>
            <a:ext cx="756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Of course, Alex will have to pay back the original $1,000 after one year, so this is what happens:</a:t>
            </a:r>
          </a:p>
        </p:txBody>
      </p:sp>
      <p:pic>
        <p:nvPicPr>
          <p:cNvPr id="51202" name="Picture 2">
            <a:extLst>
              <a:ext uri="{FF2B5EF4-FFF2-40B4-BE49-F238E27FC236}">
                <a16:creationId xmlns:a16="http://schemas.microsoft.com/office/drawing/2014/main" id="{ED766652-106C-4AFD-8005-B83CC483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75" t="46452" r="41872" b="31281"/>
          <a:stretch>
            <a:fillRect/>
          </a:stretch>
        </p:blipFill>
        <p:spPr bwMode="auto">
          <a:xfrm>
            <a:off x="3432176" y="3613151"/>
            <a:ext cx="5616575" cy="226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BFC905-9714-42F4-9AD1-F116A9B46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6134100"/>
            <a:ext cx="7561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 dirty="0">
                <a:latin typeface="Comic Sans MS" panose="030F0702030302020204" pitchFamily="66" charset="0"/>
              </a:rPr>
              <a:t>This is the idea of Interest ... paying for the use of the money.</a:t>
            </a:r>
            <a:endParaRPr lang="en-GB" altLang="en-US" dirty="0">
              <a:latin typeface="Comic Sans MS" panose="030F0702030302020204" pitchFamily="66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CE9F24-52FC-4691-8AEC-0D4E17E49702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1CB4F4-CD3A-49E9-A599-1C5F317147FB}"/>
              </a:ext>
            </a:extLst>
          </p:cNvPr>
          <p:cNvCxnSpPr/>
          <p:nvPr/>
        </p:nvCxnSpPr>
        <p:spPr>
          <a:xfrm>
            <a:off x="0" y="1196975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1A11FA-B5A9-4F4A-A937-707C94A84D5D}"/>
              </a:ext>
            </a:extLst>
          </p:cNvPr>
          <p:cNvCxnSpPr/>
          <p:nvPr/>
        </p:nvCxnSpPr>
        <p:spPr>
          <a:xfrm>
            <a:off x="1798320" y="1196975"/>
            <a:ext cx="0" cy="56610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20ACBC-C68F-4739-BBE3-EEBA684A28AD}"/>
              </a:ext>
            </a:extLst>
          </p:cNvPr>
          <p:cNvSpPr txBox="1"/>
          <p:nvPr/>
        </p:nvSpPr>
        <p:spPr>
          <a:xfrm>
            <a:off x="379888" y="144702"/>
            <a:ext cx="610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Topic: Interest</a:t>
            </a:r>
            <a:endParaRPr lang="en-AU" sz="2400" b="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15A0B2-8D08-45CB-926A-EDA054E7A50A}"/>
              </a:ext>
            </a:extLst>
          </p:cNvPr>
          <p:cNvSpPr txBox="1"/>
          <p:nvPr/>
        </p:nvSpPr>
        <p:spPr>
          <a:xfrm>
            <a:off x="139383" y="693224"/>
            <a:ext cx="610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EQ:</a:t>
            </a:r>
            <a:r>
              <a:rPr lang="en-US" sz="2400" b="0" baseline="0" dirty="0">
                <a:solidFill>
                  <a:schemeClr val="tx1"/>
                </a:solidFill>
              </a:rPr>
              <a:t> What is the concept of simple interest?</a:t>
            </a:r>
            <a:endParaRPr lang="en-AU" sz="2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11">
            <a:extLst>
              <a:ext uri="{FF2B5EF4-FFF2-40B4-BE49-F238E27FC236}">
                <a16:creationId xmlns:a16="http://schemas.microsoft.com/office/drawing/2014/main" id="{2C76C177-0AFF-44AA-BB6D-80F260901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44464"/>
            <a:ext cx="9144000" cy="981075"/>
          </a:xfrm>
          <a:prstGeom prst="roundRect">
            <a:avLst>
              <a:gd name="adj" fmla="val 43579"/>
            </a:avLst>
          </a:prstGeom>
          <a:solidFill>
            <a:srgbClr val="FFFF00"/>
          </a:solidFill>
          <a:ln w="63500">
            <a:solidFill>
              <a:srgbClr val="5B0091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4000" b="1"/>
              <a:t>Simple Interest-More than a year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E06A9-55C8-411B-85AA-1AA7A84DB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1268413"/>
            <a:ext cx="77771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If the bank charges "Simple Interest" then Alex just pays another 10% for the extra year.</a:t>
            </a:r>
          </a:p>
        </p:txBody>
      </p:sp>
      <p:pic>
        <p:nvPicPr>
          <p:cNvPr id="52226" name="Picture 2">
            <a:extLst>
              <a:ext uri="{FF2B5EF4-FFF2-40B4-BE49-F238E27FC236}">
                <a16:creationId xmlns:a16="http://schemas.microsoft.com/office/drawing/2014/main" id="{406149D4-8779-451E-A52D-35F133949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4" t="33301" r="34473" b="50439"/>
          <a:stretch>
            <a:fillRect/>
          </a:stretch>
        </p:blipFill>
        <p:spPr bwMode="auto">
          <a:xfrm>
            <a:off x="2927351" y="1914525"/>
            <a:ext cx="6913563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6C6D27-35A7-4B7E-B92A-080175DDE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3933825"/>
            <a:ext cx="71294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Alex pays Interest of ($1,000 × 10%) x 2 Years = $200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ED4AB-FE63-48BD-B825-C3456DA3D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4581526"/>
            <a:ext cx="7200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dirty="0">
                <a:latin typeface="Comic Sans MS" panose="030F0702030302020204" pitchFamily="66" charset="0"/>
              </a:rPr>
              <a:t>That is how simple interest works ... pay the same amount of interest every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1">
            <a:extLst>
              <a:ext uri="{FF2B5EF4-FFF2-40B4-BE49-F238E27FC236}">
                <a16:creationId xmlns:a16="http://schemas.microsoft.com/office/drawing/2014/main" id="{E3738853-B0F4-436A-ABF4-E5A9F2C0C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144464"/>
            <a:ext cx="7956550" cy="981075"/>
          </a:xfrm>
          <a:prstGeom prst="roundRect">
            <a:avLst>
              <a:gd name="adj" fmla="val 43579"/>
            </a:avLst>
          </a:prstGeom>
          <a:solidFill>
            <a:srgbClr val="FFFF00"/>
          </a:solidFill>
          <a:ln w="63500">
            <a:solidFill>
              <a:srgbClr val="5B0091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4000" b="1"/>
              <a:t>Example</a:t>
            </a:r>
          </a:p>
        </p:txBody>
      </p:sp>
      <p:sp>
        <p:nvSpPr>
          <p:cNvPr id="14339" name="Rectangle 1">
            <a:extLst>
              <a:ext uri="{FF2B5EF4-FFF2-40B4-BE49-F238E27FC236}">
                <a16:creationId xmlns:a16="http://schemas.microsoft.com/office/drawing/2014/main" id="{31250B26-CF63-4714-A261-C4729D441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6" y="1144589"/>
            <a:ext cx="7199313" cy="501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>
                <a:latin typeface="Comic Sans MS" panose="030F0702030302020204" pitchFamily="66" charset="0"/>
              </a:rPr>
              <a:t>Sally deposits $600 into an account with an interest rate of 5% per annum.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Calculate the interest that Sally receives in one year and find how much money she has in the account after one year.</a:t>
            </a: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Interest = 5% of $600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100% + 5% = ?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$600 +5% = ?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5% = 5/100	(Multiplier)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5/100 of $600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= $30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New balance = $600 + $30</a:t>
            </a:r>
          </a:p>
          <a:p>
            <a:endParaRPr lang="en-US" altLang="en-US" sz="1600" b="1" dirty="0">
              <a:latin typeface="Comic Sans MS" panose="030F0702030302020204" pitchFamily="66" charset="0"/>
            </a:endParaRPr>
          </a:p>
          <a:p>
            <a:r>
              <a:rPr lang="en-US" altLang="en-US" sz="1600" b="1" dirty="0">
                <a:latin typeface="Comic Sans MS" panose="030F0702030302020204" pitchFamily="66" charset="0"/>
              </a:rPr>
              <a:t>= $630</a:t>
            </a:r>
            <a:endParaRPr lang="en-US" altLang="en-US" sz="4800" b="1" dirty="0">
              <a:latin typeface="Comic Sans MS" panose="030F0702030302020204" pitchFamily="66" charset="0"/>
            </a:endParaRPr>
          </a:p>
        </p:txBody>
      </p:sp>
      <p:pic>
        <p:nvPicPr>
          <p:cNvPr id="16388" name="Picture 2" descr="Teenage girl looking over the tabletop at some piles of pound coins.">
            <a:extLst>
              <a:ext uri="{FF2B5EF4-FFF2-40B4-BE49-F238E27FC236}">
                <a16:creationId xmlns:a16="http://schemas.microsoft.com/office/drawing/2014/main" id="{29D21F96-214A-45F8-BDD0-A96DF7C1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800" y="2424113"/>
            <a:ext cx="2497138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B5FB8C-FC81-4B70-8DDD-8EAAEAEC46FF}"/>
              </a:ext>
            </a:extLst>
          </p:cNvPr>
          <p:cNvSpPr/>
          <p:nvPr/>
        </p:nvSpPr>
        <p:spPr>
          <a:xfrm>
            <a:off x="5402965" y="4512798"/>
            <a:ext cx="5256585" cy="144655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Is there a quicker way?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1">
            <a:extLst>
              <a:ext uri="{FF2B5EF4-FFF2-40B4-BE49-F238E27FC236}">
                <a16:creationId xmlns:a16="http://schemas.microsoft.com/office/drawing/2014/main" id="{781BBB18-A325-46B1-9114-45FF854D1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0"/>
            <a:ext cx="76327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4400" u="sng">
                <a:latin typeface="Comic Sans MS" panose="030F0702030302020204" pitchFamily="66" charset="0"/>
              </a:rPr>
              <a:t>Phrase</a:t>
            </a:r>
            <a:r>
              <a:rPr lang="en-GB" altLang="en-US" sz="4400">
                <a:latin typeface="Comic Sans MS" panose="030F0702030302020204" pitchFamily="66" charset="0"/>
              </a:rPr>
              <a:t>             </a:t>
            </a:r>
            <a:r>
              <a:rPr lang="en-GB" altLang="en-US" sz="4400" u="sng">
                <a:latin typeface="Comic Sans MS" panose="030F0702030302020204" pitchFamily="66" charset="0"/>
              </a:rPr>
              <a:t>% Multiplier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5B48EE-653F-4B99-AFD2-5C3E924DE532}"/>
              </a:ext>
            </a:extLst>
          </p:cNvPr>
          <p:cNvGrpSpPr>
            <a:grpSpLocks/>
          </p:cNvGrpSpPr>
          <p:nvPr/>
        </p:nvGrpSpPr>
        <p:grpSpPr bwMode="auto">
          <a:xfrm>
            <a:off x="3000376" y="1052513"/>
            <a:ext cx="6048375" cy="4760912"/>
            <a:chOff x="683568" y="2132856"/>
            <a:chExt cx="6048672" cy="5544616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008C7171-81A2-4167-ADE3-F538F67949A5}"/>
                </a:ext>
              </a:extLst>
            </p:cNvPr>
            <p:cNvSpPr/>
            <p:nvPr/>
          </p:nvSpPr>
          <p:spPr>
            <a:xfrm>
              <a:off x="683568" y="2132856"/>
              <a:ext cx="2087666" cy="432624"/>
            </a:xfrm>
            <a:prstGeom prst="round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706783A2-B399-4384-98E1-C1CF4420A8AF}"/>
                </a:ext>
              </a:extLst>
            </p:cNvPr>
            <p:cNvSpPr/>
            <p:nvPr/>
          </p:nvSpPr>
          <p:spPr>
            <a:xfrm>
              <a:off x="5795569" y="7244848"/>
              <a:ext cx="936671" cy="432624"/>
            </a:xfrm>
            <a:prstGeom prst="round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A9B16D3-D72F-4C3D-8267-1CED88C8A356}"/>
                </a:ext>
              </a:extLst>
            </p:cNvPr>
            <p:cNvCxnSpPr>
              <a:stCxn id="46" idx="3"/>
              <a:endCxn id="48" idx="1"/>
            </p:cNvCxnSpPr>
            <p:nvPr/>
          </p:nvCxnSpPr>
          <p:spPr>
            <a:xfrm>
              <a:off x="2771234" y="2349168"/>
              <a:ext cx="3024335" cy="5111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12" name="TextBox 2">
            <a:extLst>
              <a:ext uri="{FF2B5EF4-FFF2-40B4-BE49-F238E27FC236}">
                <a16:creationId xmlns:a16="http://schemas.microsoft.com/office/drawing/2014/main" id="{66B69AD2-5272-451C-A03D-7693AB887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0" y="1052513"/>
            <a:ext cx="2520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5 % increase</a:t>
            </a:r>
          </a:p>
        </p:txBody>
      </p:sp>
      <p:sp>
        <p:nvSpPr>
          <p:cNvPr id="17413" name="TextBox 42">
            <a:extLst>
              <a:ext uri="{FF2B5EF4-FFF2-40B4-BE49-F238E27FC236}">
                <a16:creationId xmlns:a16="http://schemas.microsoft.com/office/drawing/2014/main" id="{416606E4-B6DE-436B-ADFE-81681F857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851" y="5381626"/>
            <a:ext cx="2519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1.05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17B914-D354-480B-90A4-3272A96DA38F}"/>
              </a:ext>
            </a:extLst>
          </p:cNvPr>
          <p:cNvGrpSpPr>
            <a:grpSpLocks/>
          </p:cNvGrpSpPr>
          <p:nvPr/>
        </p:nvGrpSpPr>
        <p:grpSpPr bwMode="auto">
          <a:xfrm>
            <a:off x="3000376" y="1958975"/>
            <a:ext cx="6011863" cy="3024188"/>
            <a:chOff x="683568" y="2708920"/>
            <a:chExt cx="5976664" cy="3024336"/>
          </a:xfrm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9F3CB527-C5CA-4623-8AD5-4A3520A6D70D}"/>
                </a:ext>
              </a:extLst>
            </p:cNvPr>
            <p:cNvSpPr/>
            <p:nvPr/>
          </p:nvSpPr>
          <p:spPr>
            <a:xfrm>
              <a:off x="683568" y="2708920"/>
              <a:ext cx="2087966" cy="431821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5A1BD60D-8746-4592-8BB1-A1C2E8A25BCF}"/>
                </a:ext>
              </a:extLst>
            </p:cNvPr>
            <p:cNvSpPr/>
            <p:nvPr/>
          </p:nvSpPr>
          <p:spPr>
            <a:xfrm>
              <a:off x="5724356" y="5301435"/>
              <a:ext cx="935876" cy="431821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4E5D7E9-59B9-4FE2-984C-3D40F17E426F}"/>
                </a:ext>
              </a:extLst>
            </p:cNvPr>
            <p:cNvCxnSpPr>
              <a:stCxn id="59" idx="3"/>
              <a:endCxn id="60" idx="1"/>
            </p:cNvCxnSpPr>
            <p:nvPr/>
          </p:nvCxnSpPr>
          <p:spPr>
            <a:xfrm>
              <a:off x="2771534" y="2924831"/>
              <a:ext cx="2952822" cy="25925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15" name="TextBox 5">
            <a:extLst>
              <a:ext uri="{FF2B5EF4-FFF2-40B4-BE49-F238E27FC236}">
                <a16:creationId xmlns:a16="http://schemas.microsoft.com/office/drawing/2014/main" id="{10F7ED2B-DBE6-42C7-A247-2C6160551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038" y="1960563"/>
            <a:ext cx="2519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10 % increase</a:t>
            </a:r>
          </a:p>
        </p:txBody>
      </p:sp>
      <p:sp>
        <p:nvSpPr>
          <p:cNvPr id="17416" name="TextBox 18">
            <a:extLst>
              <a:ext uri="{FF2B5EF4-FFF2-40B4-BE49-F238E27FC236}">
                <a16:creationId xmlns:a16="http://schemas.microsoft.com/office/drawing/2014/main" id="{EE594E27-F1F0-4B58-975F-C4D7968C9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175" y="4551363"/>
            <a:ext cx="2520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1.1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9EF0AB8-59EB-4477-BC86-BB157C35E6E8}"/>
              </a:ext>
            </a:extLst>
          </p:cNvPr>
          <p:cNvGrpSpPr/>
          <p:nvPr/>
        </p:nvGrpSpPr>
        <p:grpSpPr>
          <a:xfrm>
            <a:off x="2999656" y="3264095"/>
            <a:ext cx="5976664" cy="1080120"/>
            <a:chOff x="683568" y="2132856"/>
            <a:chExt cx="5976664" cy="1080120"/>
          </a:xfrm>
          <a:solidFill>
            <a:srgbClr val="FF66CC"/>
          </a:solidFill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61F195EF-D9AE-47F4-A9CE-05E08311E193}"/>
                </a:ext>
              </a:extLst>
            </p:cNvPr>
            <p:cNvSpPr/>
            <p:nvPr/>
          </p:nvSpPr>
          <p:spPr>
            <a:xfrm>
              <a:off x="683568" y="2132856"/>
              <a:ext cx="2088232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1CC7E78D-B14F-41E2-A34F-7CAFEF8C1DE9}"/>
                </a:ext>
              </a:extLst>
            </p:cNvPr>
            <p:cNvSpPr/>
            <p:nvPr/>
          </p:nvSpPr>
          <p:spPr>
            <a:xfrm>
              <a:off x="5724128" y="2780928"/>
              <a:ext cx="936104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8066879-06F0-4B3F-AD1F-8447A9DA5187}"/>
                </a:ext>
              </a:extLst>
            </p:cNvPr>
            <p:cNvCxnSpPr>
              <a:stCxn id="75" idx="3"/>
              <a:endCxn id="76" idx="1"/>
            </p:cNvCxnSpPr>
            <p:nvPr/>
          </p:nvCxnSpPr>
          <p:spPr>
            <a:xfrm>
              <a:off x="2771800" y="2348880"/>
              <a:ext cx="2952328" cy="6480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18" name="TextBox 7">
            <a:extLst>
              <a:ext uri="{FF2B5EF4-FFF2-40B4-BE49-F238E27FC236}">
                <a16:creationId xmlns:a16="http://schemas.microsoft.com/office/drawing/2014/main" id="{273A29CA-323E-4F28-AD58-A0F320806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3249613"/>
            <a:ext cx="2519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15 % increase</a:t>
            </a:r>
          </a:p>
        </p:txBody>
      </p:sp>
      <p:sp>
        <p:nvSpPr>
          <p:cNvPr id="17419" name="TextBox 17">
            <a:extLst>
              <a:ext uri="{FF2B5EF4-FFF2-40B4-BE49-F238E27FC236}">
                <a16:creationId xmlns:a16="http://schemas.microsoft.com/office/drawing/2014/main" id="{179F57A5-EA03-430B-B88B-DB8D85E29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1" y="3900488"/>
            <a:ext cx="25193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1.15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E6F848F-94E5-4D0D-AD05-1AEA7FE53230}"/>
              </a:ext>
            </a:extLst>
          </p:cNvPr>
          <p:cNvGrpSpPr/>
          <p:nvPr/>
        </p:nvGrpSpPr>
        <p:grpSpPr>
          <a:xfrm>
            <a:off x="2999656" y="1528935"/>
            <a:ext cx="6048672" cy="3096344"/>
            <a:chOff x="683568" y="-531440"/>
            <a:chExt cx="6048672" cy="3096344"/>
          </a:xfrm>
          <a:solidFill>
            <a:srgbClr val="FF0000"/>
          </a:solidFill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8B194B0B-6282-4ECC-9395-7BE754478BE6}"/>
                </a:ext>
              </a:extLst>
            </p:cNvPr>
            <p:cNvSpPr/>
            <p:nvPr/>
          </p:nvSpPr>
          <p:spPr>
            <a:xfrm>
              <a:off x="683568" y="2132856"/>
              <a:ext cx="2088232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87F5C0C5-37D0-4D4A-8FFE-E1F0610078B4}"/>
                </a:ext>
              </a:extLst>
            </p:cNvPr>
            <p:cNvSpPr/>
            <p:nvPr/>
          </p:nvSpPr>
          <p:spPr>
            <a:xfrm>
              <a:off x="5796136" y="-531440"/>
              <a:ext cx="936104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98E786B-FC53-4F90-9134-6EBC0F0ADD5F}"/>
                </a:ext>
              </a:extLst>
            </p:cNvPr>
            <p:cNvCxnSpPr>
              <a:stCxn id="87" idx="3"/>
            </p:cNvCxnSpPr>
            <p:nvPr/>
          </p:nvCxnSpPr>
          <p:spPr>
            <a:xfrm flipV="1">
              <a:off x="2771800" y="-306626"/>
              <a:ext cx="2994255" cy="265550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21" name="TextBox 9">
            <a:extLst>
              <a:ext uri="{FF2B5EF4-FFF2-40B4-BE49-F238E27FC236}">
                <a16:creationId xmlns:a16="http://schemas.microsoft.com/office/drawing/2014/main" id="{A6FC10D8-B05C-445F-B3D8-D24ED1FBD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7838" y="4192588"/>
            <a:ext cx="23034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½  % increase</a:t>
            </a:r>
          </a:p>
        </p:txBody>
      </p:sp>
      <p:sp>
        <p:nvSpPr>
          <p:cNvPr id="17422" name="TextBox 14">
            <a:extLst>
              <a:ext uri="{FF2B5EF4-FFF2-40B4-BE49-F238E27FC236}">
                <a16:creationId xmlns:a16="http://schemas.microsoft.com/office/drawing/2014/main" id="{B6994B24-541F-468C-8B7B-F898FA97C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963" y="1522413"/>
            <a:ext cx="2520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1.005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5D25E88-689D-4833-83A2-80F84E4FBA3E}"/>
              </a:ext>
            </a:extLst>
          </p:cNvPr>
          <p:cNvGrpSpPr/>
          <p:nvPr/>
        </p:nvGrpSpPr>
        <p:grpSpPr>
          <a:xfrm>
            <a:off x="2999656" y="2788571"/>
            <a:ext cx="6048672" cy="3024336"/>
            <a:chOff x="683568" y="-459432"/>
            <a:chExt cx="6048672" cy="3024336"/>
          </a:xfrm>
          <a:solidFill>
            <a:srgbClr val="CCCC00"/>
          </a:solidFill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452F5428-60F2-41A3-8A63-4045568F06D8}"/>
                </a:ext>
              </a:extLst>
            </p:cNvPr>
            <p:cNvSpPr/>
            <p:nvPr/>
          </p:nvSpPr>
          <p:spPr>
            <a:xfrm>
              <a:off x="683568" y="2132856"/>
              <a:ext cx="2088232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A0A071D2-CA1D-4F93-91D6-F1A2D48E9765}"/>
                </a:ext>
              </a:extLst>
            </p:cNvPr>
            <p:cNvSpPr/>
            <p:nvPr/>
          </p:nvSpPr>
          <p:spPr>
            <a:xfrm>
              <a:off x="5796136" y="-459432"/>
              <a:ext cx="936104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CFCFB04-9EEB-4D03-8796-1F585727E024}"/>
                </a:ext>
              </a:extLst>
            </p:cNvPr>
            <p:cNvCxnSpPr>
              <a:stCxn id="97" idx="3"/>
              <a:endCxn id="98" idx="1"/>
            </p:cNvCxnSpPr>
            <p:nvPr/>
          </p:nvCxnSpPr>
          <p:spPr>
            <a:xfrm flipV="1">
              <a:off x="2771800" y="-243408"/>
              <a:ext cx="3024336" cy="259228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24" name="TextBox 41">
            <a:extLst>
              <a:ext uri="{FF2B5EF4-FFF2-40B4-BE49-F238E27FC236}">
                <a16:creationId xmlns:a16="http://schemas.microsoft.com/office/drawing/2014/main" id="{F72906EA-3127-46B2-98C4-6559005EA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7838" y="5365751"/>
            <a:ext cx="2519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No change</a:t>
            </a:r>
          </a:p>
        </p:txBody>
      </p:sp>
      <p:sp>
        <p:nvSpPr>
          <p:cNvPr id="17425" name="TextBox 16">
            <a:extLst>
              <a:ext uri="{FF2B5EF4-FFF2-40B4-BE49-F238E27FC236}">
                <a16:creationId xmlns:a16="http://schemas.microsoft.com/office/drawing/2014/main" id="{E737601B-4AE5-4B49-B6FA-8C755BE3F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963" y="2773363"/>
            <a:ext cx="2520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11">
            <a:extLst>
              <a:ext uri="{FF2B5EF4-FFF2-40B4-BE49-F238E27FC236}">
                <a16:creationId xmlns:a16="http://schemas.microsoft.com/office/drawing/2014/main" id="{3BE3798A-C5F6-4DCD-B97A-4D10A7AC9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144464"/>
            <a:ext cx="7956550" cy="981075"/>
          </a:xfrm>
          <a:prstGeom prst="roundRect">
            <a:avLst>
              <a:gd name="adj" fmla="val 43579"/>
            </a:avLst>
          </a:prstGeom>
          <a:solidFill>
            <a:srgbClr val="FFFF00"/>
          </a:solidFill>
          <a:ln w="63500">
            <a:solidFill>
              <a:srgbClr val="5B0091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4000" b="1"/>
              <a:t>Example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BADED92D-1A07-4752-BDFD-545C917FD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1236664"/>
            <a:ext cx="76327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576" tIns="36576" rIns="36576" bIns="36576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	A car depreciates at rate of 30%. Initially it cost $25,000. </a:t>
            </a:r>
          </a:p>
          <a:p>
            <a:pPr eaLnBrk="1" hangingPunct="1"/>
            <a:r>
              <a:rPr lang="en-GB" altLang="en-US" sz="2800" dirty="0">
                <a:solidFill>
                  <a:srgbClr val="000000"/>
                </a:solidFill>
                <a:latin typeface="Comic Sans MS" panose="030F0702030302020204" pitchFamily="66" charset="0"/>
              </a:rPr>
              <a:t>	How much will it be worth after a year?</a:t>
            </a:r>
            <a:endParaRPr lang="en-US" altLang="en-US" sz="3600" dirty="0"/>
          </a:p>
          <a:p>
            <a:pPr eaLnBrk="1" hangingPunct="1">
              <a:buFontTx/>
              <a:buAutoNum type="alphaLcParenR"/>
            </a:pPr>
            <a:endParaRPr lang="en-US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0321C-8ADA-4686-AFA9-81E2C06EB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3394075"/>
            <a:ext cx="40322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i="1" dirty="0">
                <a:latin typeface="Kristen ITC" panose="03050502040202030202" pitchFamily="66" charset="0"/>
              </a:rPr>
              <a:t>70% of $25,000</a:t>
            </a:r>
          </a:p>
          <a:p>
            <a:pPr eaLnBrk="1" hangingPunct="1"/>
            <a:endParaRPr lang="en-GB" altLang="en-US" sz="2400" i="1" dirty="0">
              <a:latin typeface="Kristen ITC" panose="03050502040202030202" pitchFamily="66" charset="0"/>
            </a:endParaRPr>
          </a:p>
          <a:p>
            <a:pPr eaLnBrk="1" hangingPunct="1"/>
            <a:r>
              <a:rPr lang="en-GB" altLang="en-US" sz="2400" i="1" dirty="0">
                <a:latin typeface="Kristen ITC" panose="03050502040202030202" pitchFamily="66" charset="0"/>
              </a:rPr>
              <a:t>10%= $2500</a:t>
            </a:r>
          </a:p>
          <a:p>
            <a:pPr eaLnBrk="1" hangingPunct="1"/>
            <a:endParaRPr lang="en-GB" altLang="en-US" sz="2400" i="1" dirty="0">
              <a:latin typeface="Kristen ITC" panose="03050502040202030202" pitchFamily="66" charset="0"/>
            </a:endParaRPr>
          </a:p>
          <a:p>
            <a:pPr eaLnBrk="1" hangingPunct="1"/>
            <a:r>
              <a:rPr lang="en-GB" altLang="en-US" sz="2400" i="1" dirty="0">
                <a:latin typeface="Kristen ITC" panose="03050502040202030202" pitchFamily="66" charset="0"/>
              </a:rPr>
              <a:t>70% = </a:t>
            </a:r>
            <a:r>
              <a:rPr lang="en-GB" altLang="en-US" sz="2400" i="1" u="sng" dirty="0">
                <a:latin typeface="Kristen ITC" panose="03050502040202030202" pitchFamily="66" charset="0"/>
              </a:rPr>
              <a:t>$17,500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859A9-B676-40FA-9CA8-30CF351F9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4" y="2924176"/>
            <a:ext cx="428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 b="1" i="1">
                <a:latin typeface="Kristen ITC" panose="03050502040202030202" pitchFamily="66" charset="0"/>
              </a:rPr>
              <a:t>Decrease: </a:t>
            </a:r>
            <a:r>
              <a:rPr lang="en-GB" altLang="en-US" sz="2400" i="1">
                <a:latin typeface="Kristen ITC" panose="03050502040202030202" pitchFamily="66" charset="0"/>
              </a:rPr>
              <a:t>100 - 30 = 70%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F04157-6C5D-4DE3-951E-45B76DE7645C}"/>
              </a:ext>
            </a:extLst>
          </p:cNvPr>
          <p:cNvSpPr/>
          <p:nvPr/>
        </p:nvSpPr>
        <p:spPr>
          <a:xfrm>
            <a:off x="5402965" y="4512798"/>
            <a:ext cx="5256585" cy="144655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4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Is there a quicker way?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1">
            <a:extLst>
              <a:ext uri="{FF2B5EF4-FFF2-40B4-BE49-F238E27FC236}">
                <a16:creationId xmlns:a16="http://schemas.microsoft.com/office/drawing/2014/main" id="{B6A95ADB-AD68-4CF2-B575-84F0130AB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0"/>
            <a:ext cx="76327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4400" u="sng">
                <a:latin typeface="Comic Sans MS" panose="030F0702030302020204" pitchFamily="66" charset="0"/>
              </a:rPr>
              <a:t>Phrase</a:t>
            </a:r>
            <a:r>
              <a:rPr lang="en-GB" altLang="en-US" sz="4400">
                <a:latin typeface="Comic Sans MS" panose="030F0702030302020204" pitchFamily="66" charset="0"/>
              </a:rPr>
              <a:t>             </a:t>
            </a:r>
            <a:r>
              <a:rPr lang="en-GB" altLang="en-US" sz="4400" u="sng">
                <a:latin typeface="Comic Sans MS" panose="030F0702030302020204" pitchFamily="66" charset="0"/>
              </a:rPr>
              <a:t>% Multiplier</a:t>
            </a:r>
          </a:p>
        </p:txBody>
      </p:sp>
      <p:sp>
        <p:nvSpPr>
          <p:cNvPr id="19459" name="TextBox 8">
            <a:extLst>
              <a:ext uri="{FF2B5EF4-FFF2-40B4-BE49-F238E27FC236}">
                <a16:creationId xmlns:a16="http://schemas.microsoft.com/office/drawing/2014/main" id="{B23E3D49-2EB0-44A4-BC2B-E2D899117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638" y="3843338"/>
            <a:ext cx="2520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15 % decrease</a:t>
            </a:r>
          </a:p>
        </p:txBody>
      </p:sp>
      <p:sp>
        <p:nvSpPr>
          <p:cNvPr id="19460" name="TextBox 15">
            <a:extLst>
              <a:ext uri="{FF2B5EF4-FFF2-40B4-BE49-F238E27FC236}">
                <a16:creationId xmlns:a16="http://schemas.microsoft.com/office/drawing/2014/main" id="{3CAD415A-EC49-4ADD-8194-6C6AD94DB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013" y="2582863"/>
            <a:ext cx="2519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0.85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EBF5324-159B-4699-BC76-1A3A749C6EC4}"/>
              </a:ext>
            </a:extLst>
          </p:cNvPr>
          <p:cNvGrpSpPr>
            <a:grpSpLocks/>
          </p:cNvGrpSpPr>
          <p:nvPr/>
        </p:nvGrpSpPr>
        <p:grpSpPr bwMode="auto">
          <a:xfrm>
            <a:off x="3241676" y="1295401"/>
            <a:ext cx="6048375" cy="4321175"/>
            <a:chOff x="683568" y="2780928"/>
            <a:chExt cx="6048672" cy="4320480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DBD8AD48-C3AD-422E-B40B-993733BF54AE}"/>
                </a:ext>
              </a:extLst>
            </p:cNvPr>
            <p:cNvSpPr/>
            <p:nvPr/>
          </p:nvSpPr>
          <p:spPr>
            <a:xfrm>
              <a:off x="683568" y="2780928"/>
              <a:ext cx="2087666" cy="431731"/>
            </a:xfrm>
            <a:prstGeom prst="round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7A127868-5411-4443-8B9D-A0468555DB94}"/>
                </a:ext>
              </a:extLst>
            </p:cNvPr>
            <p:cNvSpPr/>
            <p:nvPr/>
          </p:nvSpPr>
          <p:spPr>
            <a:xfrm>
              <a:off x="5795569" y="6669677"/>
              <a:ext cx="936671" cy="431731"/>
            </a:xfrm>
            <a:prstGeom prst="roundRect">
              <a:avLst/>
            </a:prstGeom>
            <a:solidFill>
              <a:srgbClr val="00B0F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9F55B8E-E140-41C5-8A61-017741F8B085}"/>
                </a:ext>
              </a:extLst>
            </p:cNvPr>
            <p:cNvCxnSpPr>
              <a:stCxn id="52" idx="3"/>
              <a:endCxn id="53" idx="1"/>
            </p:cNvCxnSpPr>
            <p:nvPr/>
          </p:nvCxnSpPr>
          <p:spPr>
            <a:xfrm>
              <a:off x="2771234" y="2996793"/>
              <a:ext cx="3024335" cy="388874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2" name="TextBox 4">
            <a:extLst>
              <a:ext uri="{FF2B5EF4-FFF2-40B4-BE49-F238E27FC236}">
                <a16:creationId xmlns:a16="http://schemas.microsoft.com/office/drawing/2014/main" id="{486595E8-8B84-4381-A8FA-2A994E862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1295401"/>
            <a:ext cx="2519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1 % decrease</a:t>
            </a:r>
          </a:p>
        </p:txBody>
      </p:sp>
      <p:sp>
        <p:nvSpPr>
          <p:cNvPr id="19463" name="TextBox 19">
            <a:extLst>
              <a:ext uri="{FF2B5EF4-FFF2-40B4-BE49-F238E27FC236}">
                <a16:creationId xmlns:a16="http://schemas.microsoft.com/office/drawing/2014/main" id="{4333C698-8E7B-446A-8805-7EB6DCCE8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5013" y="5160963"/>
            <a:ext cx="2519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0.99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64A7D9E-548D-4129-9543-C679A3E2D811}"/>
              </a:ext>
            </a:extLst>
          </p:cNvPr>
          <p:cNvGrpSpPr>
            <a:grpSpLocks/>
          </p:cNvGrpSpPr>
          <p:nvPr/>
        </p:nvGrpSpPr>
        <p:grpSpPr bwMode="auto">
          <a:xfrm>
            <a:off x="3136901" y="1409701"/>
            <a:ext cx="6119813" cy="2303463"/>
            <a:chOff x="683568" y="188640"/>
            <a:chExt cx="6120680" cy="2304256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21D1CDA7-97F2-446A-8E4B-391EC0B587D5}"/>
                </a:ext>
              </a:extLst>
            </p:cNvPr>
            <p:cNvSpPr/>
            <p:nvPr/>
          </p:nvSpPr>
          <p:spPr>
            <a:xfrm>
              <a:off x="683568" y="2060947"/>
              <a:ext cx="2160894" cy="431949"/>
            </a:xfrm>
            <a:prstGeom prst="round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52302CE3-A85E-4474-9664-C467A1BDFF3E}"/>
                </a:ext>
              </a:extLst>
            </p:cNvPr>
            <p:cNvSpPr/>
            <p:nvPr/>
          </p:nvSpPr>
          <p:spPr>
            <a:xfrm>
              <a:off x="5867490" y="188640"/>
              <a:ext cx="936758" cy="431949"/>
            </a:xfrm>
            <a:prstGeom prst="round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957C5A2-763F-4633-98A4-12306DB768FD}"/>
                </a:ext>
              </a:extLst>
            </p:cNvPr>
            <p:cNvCxnSpPr>
              <a:stCxn id="64" idx="3"/>
            </p:cNvCxnSpPr>
            <p:nvPr/>
          </p:nvCxnSpPr>
          <p:spPr>
            <a:xfrm flipV="1">
              <a:off x="2844462" y="476077"/>
              <a:ext cx="3023028" cy="18008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5" name="TextBox 6">
            <a:extLst>
              <a:ext uri="{FF2B5EF4-FFF2-40B4-BE49-F238E27FC236}">
                <a16:creationId xmlns:a16="http://schemas.microsoft.com/office/drawing/2014/main" id="{4134B270-EB5B-4F6E-924D-51C8C0923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9" y="3228976"/>
            <a:ext cx="241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3.5 % decrease</a:t>
            </a:r>
          </a:p>
        </p:txBody>
      </p:sp>
      <p:sp>
        <p:nvSpPr>
          <p:cNvPr id="19466" name="TextBox 12">
            <a:extLst>
              <a:ext uri="{FF2B5EF4-FFF2-40B4-BE49-F238E27FC236}">
                <a16:creationId xmlns:a16="http://schemas.microsoft.com/office/drawing/2014/main" id="{54A10C61-92DC-40D1-95F6-D6D5C048B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1988" y="1393826"/>
            <a:ext cx="2520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0.965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0442D64-1683-460D-AA2B-FCA67821D4B8}"/>
              </a:ext>
            </a:extLst>
          </p:cNvPr>
          <p:cNvGrpSpPr>
            <a:grpSpLocks/>
          </p:cNvGrpSpPr>
          <p:nvPr/>
        </p:nvGrpSpPr>
        <p:grpSpPr bwMode="auto">
          <a:xfrm>
            <a:off x="3136901" y="2562225"/>
            <a:ext cx="6119813" cy="1727200"/>
            <a:chOff x="2987824" y="-99392"/>
            <a:chExt cx="6120680" cy="1728192"/>
          </a:xfrm>
        </p:grpSpPr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69AF680C-2563-4BEB-A791-60121276172C}"/>
                </a:ext>
              </a:extLst>
            </p:cNvPr>
            <p:cNvSpPr/>
            <p:nvPr/>
          </p:nvSpPr>
          <p:spPr>
            <a:xfrm>
              <a:off x="2987824" y="1196752"/>
              <a:ext cx="2160894" cy="432048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D13750FB-8A51-4CDA-976E-4CA565B1089C}"/>
                </a:ext>
              </a:extLst>
            </p:cNvPr>
            <p:cNvSpPr/>
            <p:nvPr/>
          </p:nvSpPr>
          <p:spPr>
            <a:xfrm>
              <a:off x="8171746" y="-99392"/>
              <a:ext cx="936758" cy="432048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D82FBF-E9D2-4329-AB54-EECD05A8B234}"/>
                </a:ext>
              </a:extLst>
            </p:cNvPr>
            <p:cNvCxnSpPr>
              <a:stCxn id="80" idx="3"/>
              <a:endCxn id="81" idx="1"/>
            </p:cNvCxnSpPr>
            <p:nvPr/>
          </p:nvCxnSpPr>
          <p:spPr>
            <a:xfrm flipV="1">
              <a:off x="5148718" y="116632"/>
              <a:ext cx="3023028" cy="12961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D97FF30-EE7E-4DC8-B9A3-C6C123ABF449}"/>
              </a:ext>
            </a:extLst>
          </p:cNvPr>
          <p:cNvGrpSpPr/>
          <p:nvPr/>
        </p:nvGrpSpPr>
        <p:grpSpPr>
          <a:xfrm>
            <a:off x="3264970" y="796145"/>
            <a:ext cx="6048672" cy="4365104"/>
            <a:chOff x="683568" y="-1800200"/>
            <a:chExt cx="6048672" cy="4365104"/>
          </a:xfrm>
          <a:solidFill>
            <a:srgbClr val="D5E1EF"/>
          </a:solidFill>
        </p:grpSpPr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9BF7F927-78B1-4F97-9B0C-5BD6076AA874}"/>
                </a:ext>
              </a:extLst>
            </p:cNvPr>
            <p:cNvSpPr/>
            <p:nvPr/>
          </p:nvSpPr>
          <p:spPr>
            <a:xfrm>
              <a:off x="683568" y="2132856"/>
              <a:ext cx="2088232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511760C6-36A3-4D20-832B-D544F47B23FA}"/>
                </a:ext>
              </a:extLst>
            </p:cNvPr>
            <p:cNvSpPr/>
            <p:nvPr/>
          </p:nvSpPr>
          <p:spPr>
            <a:xfrm>
              <a:off x="5796136" y="-1800200"/>
              <a:ext cx="936104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066658A-E6F9-43AA-820C-11969692C3F5}"/>
                </a:ext>
              </a:extLst>
            </p:cNvPr>
            <p:cNvCxnSpPr>
              <a:stCxn id="92" idx="3"/>
            </p:cNvCxnSpPr>
            <p:nvPr/>
          </p:nvCxnSpPr>
          <p:spPr>
            <a:xfrm flipV="1">
              <a:off x="2771800" y="-1584176"/>
              <a:ext cx="3018858" cy="393305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9" name="TextBox 10">
            <a:extLst>
              <a:ext uri="{FF2B5EF4-FFF2-40B4-BE49-F238E27FC236}">
                <a16:creationId xmlns:a16="http://schemas.microsoft.com/office/drawing/2014/main" id="{5B5C3845-CE5C-4ADF-B781-FF8003CE5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4699001"/>
            <a:ext cx="2559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50 % decrease</a:t>
            </a:r>
          </a:p>
        </p:txBody>
      </p:sp>
      <p:sp>
        <p:nvSpPr>
          <p:cNvPr id="19470" name="TextBox 13">
            <a:extLst>
              <a:ext uri="{FF2B5EF4-FFF2-40B4-BE49-F238E27FC236}">
                <a16:creationId xmlns:a16="http://schemas.microsoft.com/office/drawing/2014/main" id="{029DEA66-AC1C-4D74-BFC3-A101314C1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476" y="781051"/>
            <a:ext cx="2519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0.5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A987AEA-9818-466F-97AF-8A7F4AB578AE}"/>
              </a:ext>
            </a:extLst>
          </p:cNvPr>
          <p:cNvGrpSpPr/>
          <p:nvPr/>
        </p:nvGrpSpPr>
        <p:grpSpPr>
          <a:xfrm>
            <a:off x="3208377" y="3242593"/>
            <a:ext cx="6048672" cy="3024336"/>
            <a:chOff x="683568" y="-459432"/>
            <a:chExt cx="6048672" cy="3024336"/>
          </a:xfrm>
          <a:solidFill>
            <a:srgbClr val="CCCC00"/>
          </a:solidFill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868795AE-8668-423D-8DC8-AB7EAF3B7B92}"/>
                </a:ext>
              </a:extLst>
            </p:cNvPr>
            <p:cNvSpPr/>
            <p:nvPr/>
          </p:nvSpPr>
          <p:spPr>
            <a:xfrm>
              <a:off x="683568" y="2132856"/>
              <a:ext cx="2088232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4B1DC1F8-A3B2-40B2-A3A3-16EB348195E0}"/>
                </a:ext>
              </a:extLst>
            </p:cNvPr>
            <p:cNvSpPr/>
            <p:nvPr/>
          </p:nvSpPr>
          <p:spPr>
            <a:xfrm>
              <a:off x="5796136" y="-459432"/>
              <a:ext cx="936104" cy="43204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9493C28-D9DB-484D-9185-76C341B17A6A}"/>
                </a:ext>
              </a:extLst>
            </p:cNvPr>
            <p:cNvCxnSpPr>
              <a:stCxn id="97" idx="3"/>
              <a:endCxn id="98" idx="1"/>
            </p:cNvCxnSpPr>
            <p:nvPr/>
          </p:nvCxnSpPr>
          <p:spPr>
            <a:xfrm flipV="1">
              <a:off x="2771800" y="-243408"/>
              <a:ext cx="3024336" cy="259228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72" name="TextBox 41">
            <a:extLst>
              <a:ext uri="{FF2B5EF4-FFF2-40B4-BE49-F238E27FC236}">
                <a16:creationId xmlns:a16="http://schemas.microsoft.com/office/drawing/2014/main" id="{85FEE3B0-CEB8-4407-8C7D-A8D910A66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5819776"/>
            <a:ext cx="2519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No change</a:t>
            </a:r>
          </a:p>
        </p:txBody>
      </p:sp>
      <p:sp>
        <p:nvSpPr>
          <p:cNvPr id="19473" name="TextBox 16">
            <a:extLst>
              <a:ext uri="{FF2B5EF4-FFF2-40B4-BE49-F238E27FC236}">
                <a16:creationId xmlns:a16="http://schemas.microsoft.com/office/drawing/2014/main" id="{BA959EE6-1578-4452-AF60-134D77B34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3259138"/>
            <a:ext cx="25193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400">
                <a:latin typeface="Comic Sans MS" panose="030F0702030302020204" pitchFamily="66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019343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Topic: Interest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What is the concept of simple interest?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Simple interest is an amount of money that you earn as a flat amount</a:t>
                      </a:r>
                    </a:p>
                    <a:p>
                      <a:endParaRPr lang="en-AU" dirty="0"/>
                    </a:p>
                    <a:p>
                      <a:r>
                        <a:rPr lang="en-AU" dirty="0"/>
                        <a:t>Simple interest has 3 parts:</a:t>
                      </a:r>
                    </a:p>
                    <a:p>
                      <a:pPr lvl="1"/>
                      <a:r>
                        <a:rPr lang="en-AU" dirty="0"/>
                        <a:t>Principle (p)</a:t>
                      </a:r>
                    </a:p>
                    <a:p>
                      <a:pPr lvl="1"/>
                      <a:r>
                        <a:rPr lang="en-AU" dirty="0"/>
                        <a:t>Interest rate – as a decimal (r)</a:t>
                      </a:r>
                    </a:p>
                    <a:p>
                      <a:pPr lvl="1"/>
                      <a:r>
                        <a:rPr lang="en-AU" dirty="0"/>
                        <a:t>Time (t)</a:t>
                      </a:r>
                    </a:p>
                    <a:p>
                      <a:endParaRPr lang="en-AU" dirty="0"/>
                    </a:p>
                    <a:p>
                      <a:r>
                        <a:rPr lang="en-AU" dirty="0"/>
                        <a:t>Simple interest is calculated as </a:t>
                      </a:r>
                      <a:r>
                        <a:rPr lang="en-AU" b="1" dirty="0"/>
                        <a:t>SI=</a:t>
                      </a:r>
                      <a:r>
                        <a:rPr lang="en-AU" b="1" i="1" u="sng" dirty="0"/>
                        <a:t>P x R x T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01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Have a go at finding the Simple interest on the following amounts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272" y="2723831"/>
          <a:ext cx="966730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Interest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Years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ysClr val="windowText" lastClr="000000"/>
                          </a:solidFill>
                        </a:rPr>
                        <a:t>Interest 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19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Have a go at finding the Simple interest on the following amounts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272" y="2723831"/>
          <a:ext cx="966730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Interest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Years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ysClr val="windowText" lastClr="000000"/>
                          </a:solidFill>
                        </a:rPr>
                        <a:t>Interest 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$1, 875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$40, 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$126, 750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$93, 750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15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Find the Gross amount of the following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276562"/>
          <a:ext cx="102330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Gross (SI+P)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470,500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66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>
                <a:gradFill>
                  <a:gsLst>
                    <a:gs pos="44920">
                      <a:srgbClr val="3C3C3C"/>
                    </a:gs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Find the Gross amount of the following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838200" y="2276562"/>
          <a:ext cx="102330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Gross (SI+P)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470,500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783,382.5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753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endParaRPr lang="en-US" dirty="0"/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296229"/>
          <a:ext cx="102330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Gross (SI+P)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585,000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468,000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470,500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783,382.5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1,253,882.5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Find the Gross amount of the following</a:t>
            </a:r>
          </a:p>
        </p:txBody>
      </p:sp>
    </p:spTree>
    <p:extLst>
      <p:ext uri="{BB962C8B-B14F-4D97-AF65-F5344CB8AC3E}">
        <p14:creationId xmlns:p14="http://schemas.microsoft.com/office/powerpoint/2010/main" val="1621280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504612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Topic: Interest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What is the concept of simple interest?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Change in time periods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EAC9A82-44DF-476C-AC18-B927AFF63475}"/>
              </a:ext>
            </a:extLst>
          </p:cNvPr>
          <p:cNvSpPr/>
          <p:nvPr/>
        </p:nvSpPr>
        <p:spPr>
          <a:xfrm>
            <a:off x="2631439" y="2052935"/>
            <a:ext cx="94161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" panose="020B0604020202020204" pitchFamily="34" charset="0"/>
              </a:rPr>
              <a:t>The ticketed price of a mobile phone is $600. Andrew decides to purchase the phone using his credit card. After 1 month the credit card company charges interest at a rate of 15% p.a. Calculate the amount of interest that Andrew must pay on his credit card after 1 month.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00678-61D0-4205-AA59-6F01EA046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021" y="3733733"/>
            <a:ext cx="1809843" cy="129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3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45626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891">
                  <a:extLst>
                    <a:ext uri="{9D8B030D-6E8A-4147-A177-3AD203B41FA5}">
                      <a16:colId xmlns:a16="http://schemas.microsoft.com/office/drawing/2014/main" val="1708051528"/>
                    </a:ext>
                  </a:extLst>
                </a:gridCol>
                <a:gridCol w="9578109">
                  <a:extLst>
                    <a:ext uri="{9D8B030D-6E8A-4147-A177-3AD203B41FA5}">
                      <a16:colId xmlns:a16="http://schemas.microsoft.com/office/drawing/2014/main" val="1245153065"/>
                    </a:ext>
                  </a:extLst>
                </a:gridCol>
              </a:tblGrid>
              <a:tr h="680559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Topic: Interest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57781"/>
                  </a:ext>
                </a:extLst>
              </a:tr>
              <a:tr h="621380">
                <a:tc grid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EQ:</a:t>
                      </a:r>
                      <a:r>
                        <a:rPr lang="en-US" sz="2800" b="0" baseline="0" dirty="0">
                          <a:solidFill>
                            <a:schemeClr val="tx1"/>
                          </a:solidFill>
                        </a:rPr>
                        <a:t> What is the concept of simple interest?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950"/>
                  </a:ext>
                </a:extLst>
              </a:tr>
              <a:tr h="5556062">
                <a:tc>
                  <a:txBody>
                    <a:bodyPr/>
                    <a:lstStyle/>
                    <a:p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Complete Quick 5 simple interest worksheet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7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74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829</Words>
  <Application>Microsoft Office PowerPoint</Application>
  <PresentationFormat>Widescreen</PresentationFormat>
  <Paragraphs>189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Fragment Core</vt:lpstr>
      <vt:lpstr>Helvetica</vt:lpstr>
      <vt:lpstr>Kristen ITC</vt:lpstr>
      <vt:lpstr>Office Theme</vt:lpstr>
      <vt:lpstr>Topic: Interest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Practise</vt:lpstr>
      <vt:lpstr>Practise</vt:lpstr>
      <vt:lpstr>Find the Gross amount of the following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Interest</dc:title>
  <dc:creator>Sarah James</dc:creator>
  <cp:lastModifiedBy>Sarah James</cp:lastModifiedBy>
  <cp:revision>7</cp:revision>
  <cp:lastPrinted>2020-08-26T02:27:36Z</cp:lastPrinted>
  <dcterms:created xsi:type="dcterms:W3CDTF">2020-08-18T05:27:08Z</dcterms:created>
  <dcterms:modified xsi:type="dcterms:W3CDTF">2020-08-26T06:42:34Z</dcterms:modified>
</cp:coreProperties>
</file>
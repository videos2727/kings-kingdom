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50" r:id="rId2"/>
    <p:sldId id="257" r:id="rId3"/>
    <p:sldId id="401" r:id="rId4"/>
    <p:sldId id="402" r:id="rId5"/>
    <p:sldId id="405" r:id="rId6"/>
    <p:sldId id="403" r:id="rId7"/>
    <p:sldId id="404" r:id="rId8"/>
    <p:sldId id="408" r:id="rId9"/>
    <p:sldId id="406" r:id="rId10"/>
    <p:sldId id="407" r:id="rId11"/>
    <p:sldId id="409" r:id="rId12"/>
    <p:sldId id="263" r:id="rId13"/>
    <p:sldId id="410" r:id="rId14"/>
    <p:sldId id="264" r:id="rId15"/>
    <p:sldId id="34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24</c:v>
                </c:pt>
                <c:pt idx="3">
                  <c:v>33</c:v>
                </c:pt>
                <c:pt idx="4">
                  <c:v>30</c:v>
                </c:pt>
                <c:pt idx="5">
                  <c:v>28</c:v>
                </c:pt>
                <c:pt idx="6">
                  <c:v>29</c:v>
                </c:pt>
                <c:pt idx="7">
                  <c:v>17</c:v>
                </c:pt>
                <c:pt idx="8">
                  <c:v>23</c:v>
                </c:pt>
                <c:pt idx="9">
                  <c:v>27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</c:v>
                </c:pt>
                <c:pt idx="1">
                  <c:v>200</c:v>
                </c:pt>
                <c:pt idx="2">
                  <c:v>250</c:v>
                </c:pt>
                <c:pt idx="3">
                  <c:v>450</c:v>
                </c:pt>
                <c:pt idx="4">
                  <c:v>430</c:v>
                </c:pt>
                <c:pt idx="5">
                  <c:v>300</c:v>
                </c:pt>
                <c:pt idx="6">
                  <c:v>360</c:v>
                </c:pt>
                <c:pt idx="7">
                  <c:v>150</c:v>
                </c:pt>
                <c:pt idx="8">
                  <c:v>230</c:v>
                </c:pt>
                <c:pt idx="9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ED-4537-9519-110683C64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958231872"/>
        <c:axId val="-1995757200"/>
      </c:scatterChart>
      <c:valAx>
        <c:axId val="-1958231872"/>
        <c:scaling>
          <c:orientation val="minMax"/>
          <c:min val="15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95757200"/>
        <c:crosses val="autoZero"/>
        <c:crossBetween val="midCat"/>
      </c:valAx>
      <c:valAx>
        <c:axId val="-199575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58231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temperature</a:t>
            </a:r>
            <a:r>
              <a:rPr lang="en-US" baseline="0"/>
              <a:t> and Drinks sold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24</c:v>
                </c:pt>
                <c:pt idx="3">
                  <c:v>33</c:v>
                </c:pt>
                <c:pt idx="4">
                  <c:v>30</c:v>
                </c:pt>
                <c:pt idx="5">
                  <c:v>28</c:v>
                </c:pt>
                <c:pt idx="6">
                  <c:v>29</c:v>
                </c:pt>
                <c:pt idx="7">
                  <c:v>17</c:v>
                </c:pt>
                <c:pt idx="8">
                  <c:v>23</c:v>
                </c:pt>
                <c:pt idx="9">
                  <c:v>27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160</c:v>
                </c:pt>
                <c:pt idx="1">
                  <c:v>200</c:v>
                </c:pt>
                <c:pt idx="2">
                  <c:v>250</c:v>
                </c:pt>
                <c:pt idx="3">
                  <c:v>450</c:v>
                </c:pt>
                <c:pt idx="4">
                  <c:v>430</c:v>
                </c:pt>
                <c:pt idx="5">
                  <c:v>300</c:v>
                </c:pt>
                <c:pt idx="6">
                  <c:v>360</c:v>
                </c:pt>
                <c:pt idx="7">
                  <c:v>150</c:v>
                </c:pt>
                <c:pt idx="8">
                  <c:v>230</c:v>
                </c:pt>
                <c:pt idx="9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FC0-4166-B3C4-9EF730210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32515856"/>
        <c:axId val="2145866000"/>
      </c:scatterChart>
      <c:valAx>
        <c:axId val="-2132515856"/>
        <c:scaling>
          <c:orientation val="minMax"/>
          <c:min val="15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Daily Temperature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5866000"/>
        <c:crosses val="autoZero"/>
        <c:crossBetween val="midCat"/>
      </c:valAx>
      <c:valAx>
        <c:axId val="214586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Drink</a:t>
                </a:r>
                <a:r>
                  <a:rPr lang="en-US" baseline="0"/>
                  <a:t>s sold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515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Scatterplot</a:t>
            </a:r>
            <a:r>
              <a:rPr lang="en-US" baseline="0"/>
              <a:t> showing the relationship between the age and cost of a "Golf"car on Gumtree.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Cost of car ($)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11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32000</c:v>
                </c:pt>
                <c:pt idx="1">
                  <c:v>29500</c:v>
                </c:pt>
                <c:pt idx="2">
                  <c:v>24500</c:v>
                </c:pt>
                <c:pt idx="3" formatCode="#,##0">
                  <c:v>20000</c:v>
                </c:pt>
                <c:pt idx="4">
                  <c:v>16500</c:v>
                </c:pt>
                <c:pt idx="5">
                  <c:v>14500</c:v>
                </c:pt>
                <c:pt idx="6">
                  <c:v>13000</c:v>
                </c:pt>
                <c:pt idx="7">
                  <c:v>10900</c:v>
                </c:pt>
                <c:pt idx="8">
                  <c:v>10500</c:v>
                </c:pt>
                <c:pt idx="9">
                  <c:v>7500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FA7-482E-824C-0301005C4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2483984"/>
        <c:axId val="712485952"/>
      </c:scatterChart>
      <c:valAx>
        <c:axId val="712483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Age</a:t>
                </a:r>
                <a:r>
                  <a:rPr lang="en-AU" baseline="0"/>
                  <a:t> of Car (years)</a:t>
                </a:r>
                <a:endParaRPr lang="en-A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2485952"/>
        <c:crosses val="autoZero"/>
        <c:crossBetween val="midCat"/>
      </c:valAx>
      <c:valAx>
        <c:axId val="712485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Cost</a:t>
                </a:r>
                <a:r>
                  <a:rPr lang="en-AU" baseline="0"/>
                  <a:t> of car ($)</a:t>
                </a:r>
                <a:endParaRPr lang="en-A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2483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9715C-57BA-4636-8E24-C368D15D72C5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9F2E4-2E03-4996-A6B4-A12D391A32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81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10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5076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3351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088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08AFA-48C2-46E5-80AF-C39E9C5C7B4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611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8430-E639-4978-8E69-33737F8A5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E3FD6-14A0-4C88-8930-7659E66BB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89942-B017-400F-A13F-EB872DF5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02590-1FA7-4681-B753-E54E9E6B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1851-66CA-4A63-B142-FC2E09FF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3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8D1F3-3E51-4846-9696-B1222EC7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6198C-98EC-4B8B-982D-6904E9DF1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D911-EBC1-4626-A71C-A132C043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E2D0E-6151-4826-8CBA-FB60DD2C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150D0-230E-4126-BB95-D4944BDF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82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7E32-2F8A-4498-8B2D-F05AE78B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93B8A-A72B-4E2F-A48E-9FBE679F5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0EA36-8A67-42BE-BCE0-50A312EA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C2FF-53D8-414E-B9B8-2AEF5184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0B4D5-8464-4148-A1AD-02FAC328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55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65C7-E1A3-44D1-B0AE-0BC3E785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CDD0E-40D3-4DEF-837C-5E567D9AE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F9B97-BE1D-4736-9392-131DF3857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FAFA9-9961-495A-A3B9-B079C157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2095D-ADCF-4E33-AA7F-001198AC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5F850-95BF-4B3E-9CCE-B559463C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29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52A9-7928-4386-B5A9-D79A917B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9E857-A2AB-4B27-BC90-C5E000F4C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D726B-593E-45D3-BAE6-7CFE208C3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4C4D8-A156-451A-B57E-F80E24178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54AF7-1568-4AFD-9F4A-2C62BD83E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EF5EB-B429-4059-8630-FC4D4268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1AE2D-A63F-4504-93D3-94F1BFF3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F7CB0-D8AF-4E3A-8BC1-700D9DFC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50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CE67-4B31-4FE7-BC0F-78851B43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B99E2B-DAA0-4C96-ADB5-548B092E9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67B18-8AF8-4CC8-8CE5-26EB643B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DC1E4-498A-46B1-B955-F284E5FA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27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8B640-6DDE-42EB-AF4C-1279BFC32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EB698-7C94-4782-9680-4BD8DAD3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A630-0DFB-4E2C-9F91-EC8641EF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270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D31D7-FDFF-4F12-99A4-EAEFDAA0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92E68-36FB-44F9-AF46-601FF3A84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207EE-195C-4FD9-9D15-CBA10BB2D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7B29B-3139-401E-B039-6A0ADAE1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D1E00-CCC2-4562-8AA5-52D9D47B6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135D2-25EC-4746-9E67-7C3B170C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263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0BC2-ECE2-4547-9D32-59310623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F5D9DF-DB2E-4B3B-95BF-9F1972BB6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0FBEF-CFB6-4AF5-AD09-B6929BCDB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F28F5-6F5A-4F6B-BA7D-DBF3AE52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3F3AF-46FC-4006-BEEF-4BE8CBF0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51E4E-315D-483B-B0BF-F380A87C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02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FBC7-F055-485B-B2C6-0AF9E580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5D088-D567-4E40-BE0D-59C2F9F94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ED3EA-9D2C-4350-9076-795FCEE0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56DB8-8ABD-4BC2-A790-344C3133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C8B9C-F633-43BA-A0B4-EC5E01F5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414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B2E84-514B-46D6-8637-3434786C2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B367A-69B6-4A06-8E1D-91920E1A1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D69B-315B-445E-996C-0788E9433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4893-EE04-449E-903D-3239C48C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819D9-A025-4D80-8820-065EA3B4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443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0EDA3-3B49-4006-AA60-E6AF66D3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1574B-CF48-4362-ADFF-113CD3BB2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5B199-8DA3-47E9-9CA1-E76262E6D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872C9-4D5C-4F33-A945-980561F82CC0}" type="datetimeFigureOut">
              <a:rPr lang="en-AU" smtClean="0"/>
              <a:t>20/05/2021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A47A5-F8A1-4C60-AB47-D2D9A1CA4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A50DF-7ED0-42CA-8E38-DC63727BC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ACCB4-1308-408E-9844-DD721C8F0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60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E_BpXTyKCE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832" y="0"/>
            <a:ext cx="10955886" cy="1052461"/>
          </a:xfrm>
        </p:spPr>
        <p:txBody>
          <a:bodyPr/>
          <a:lstStyle/>
          <a:p>
            <a:r>
              <a:rPr lang="en-US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159" y="909587"/>
            <a:ext cx="11089232" cy="623938"/>
          </a:xfrm>
        </p:spPr>
        <p:txBody>
          <a:bodyPr>
            <a:normAutofit/>
          </a:bodyPr>
          <a:lstStyle/>
          <a:p>
            <a:r>
              <a:rPr lang="en-AU" dirty="0"/>
              <a:t>EQ: How is bivariate data interpreted when plotted in a scatterplot?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A15DB-2199-4616-B832-E1D6AFEC576D}"/>
              </a:ext>
            </a:extLst>
          </p:cNvPr>
          <p:cNvSpPr txBox="1"/>
          <p:nvPr/>
        </p:nvSpPr>
        <p:spPr>
          <a:xfrm>
            <a:off x="609600" y="1638300"/>
            <a:ext cx="109918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Instructions: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Read the instructions on slide 1  </a:t>
            </a:r>
          </a:p>
          <a:p>
            <a:pPr marL="342900" indent="-342900">
              <a:buAutoNum type="arabicPeriod"/>
            </a:pPr>
            <a:r>
              <a:rPr lang="en-US" dirty="0"/>
              <a:t>Complete the activity on slide </a:t>
            </a:r>
            <a:r>
              <a:rPr lang="en-US" dirty="0" err="1"/>
              <a:t>slide</a:t>
            </a:r>
            <a:r>
              <a:rPr lang="en-US" dirty="0"/>
              <a:t> 3</a:t>
            </a:r>
          </a:p>
          <a:p>
            <a:pPr marL="342900" indent="-342900">
              <a:buAutoNum type="arabicPeriod"/>
            </a:pPr>
            <a:r>
              <a:rPr lang="en-US" dirty="0"/>
              <a:t>Complete the activity on slide </a:t>
            </a:r>
            <a:r>
              <a:rPr lang="en-US" dirty="0" err="1"/>
              <a:t>slide</a:t>
            </a:r>
            <a:r>
              <a:rPr lang="en-US" dirty="0"/>
              <a:t> 4 (this is your notes for this EQ)</a:t>
            </a:r>
          </a:p>
          <a:p>
            <a:pPr marL="342900" indent="-342900">
              <a:buAutoNum type="arabicPeriod"/>
            </a:pPr>
            <a:r>
              <a:rPr lang="en-US" dirty="0"/>
              <a:t>Work through the example on slides 9-11. Try not to look at the solutions until you have had a go yourself</a:t>
            </a:r>
          </a:p>
          <a:p>
            <a:pPr marL="342900" indent="-342900">
              <a:buAutoNum type="arabicPeriod"/>
            </a:pPr>
            <a:r>
              <a:rPr lang="en-US" dirty="0"/>
              <a:t>Complete the activity on slide 12-14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On slide 15 it asks you to complete the questions. Submit your work in the submission folder ,  “Term 1 Week 9 Lesson 4_ Interpreting scatterplots?”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endParaRPr lang="en-AU" dirty="0">
              <a:highlight>
                <a:srgbClr val="FFFF00"/>
              </a:highlight>
            </a:endParaRPr>
          </a:p>
        </p:txBody>
      </p:sp>
      <p:pic>
        <p:nvPicPr>
          <p:cNvPr id="7" name="Submission folder">
            <a:hlinkClick r:id="" action="ppaction://media"/>
            <a:extLst>
              <a:ext uri="{FF2B5EF4-FFF2-40B4-BE49-F238E27FC236}">
                <a16:creationId xmlns:a16="http://schemas.microsoft.com/office/drawing/2014/main" id="{0860A3BE-5909-450C-9238-F8FE2F8AFF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51730" y="449453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7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is bivariate data interpreted when plotted in a scatterplot?</a:t>
            </a:r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132AA-E562-4E36-A910-708BC4AAD359}"/>
              </a:ext>
            </a:extLst>
          </p:cNvPr>
          <p:cNvSpPr/>
          <p:nvPr/>
        </p:nvSpPr>
        <p:spPr>
          <a:xfrm>
            <a:off x="1800225" y="21711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1. Watch the YouTube video on interpreting scatterplots: </a:t>
            </a:r>
            <a:r>
              <a:rPr lang="en-AU" dirty="0">
                <a:hlinkClick r:id="rId2"/>
              </a:rPr>
              <a:t>https://www.youtube.com/watch?v=PE_BpXTyKCE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3AA54-AFE0-47DA-AE84-77021CFC2FBA}"/>
              </a:ext>
            </a:extLst>
          </p:cNvPr>
          <p:cNvSpPr/>
          <p:nvPr/>
        </p:nvSpPr>
        <p:spPr>
          <a:xfrm>
            <a:off x="1800225" y="3071803"/>
            <a:ext cx="97345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2. Answer the following sentences in full sentences:</a:t>
            </a:r>
          </a:p>
          <a:p>
            <a:pPr marL="514350" indent="-514350">
              <a:buAutoNum type="alphaLcParenR"/>
            </a:pPr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When sketching two variables on a scatterplot, what axis does the independent and dependant variables go? Why?</a:t>
            </a:r>
          </a:p>
          <a:p>
            <a:pPr marL="514350" indent="-514350">
              <a:buAutoNum type="alphaLcParenR"/>
            </a:pPr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What are the 4 things you can talk about when you interpret a scatterplot?</a:t>
            </a:r>
          </a:p>
        </p:txBody>
      </p:sp>
    </p:spTree>
    <p:extLst>
      <p:ext uri="{BB962C8B-B14F-4D97-AF65-F5344CB8AC3E}">
        <p14:creationId xmlns:p14="http://schemas.microsoft.com/office/powerpoint/2010/main" val="136661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B8FF6-94D0-4D6B-80BE-FA27489CC946}"/>
              </a:ext>
            </a:extLst>
          </p:cNvPr>
          <p:cNvSpPr txBox="1"/>
          <p:nvPr/>
        </p:nvSpPr>
        <p:spPr>
          <a:xfrm>
            <a:off x="1438275" y="1916832"/>
            <a:ext cx="10753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up the “ Term 1 Week 9_Lesson 4_ Interpreting Scatterplots 3 ways” worksheet. This will be used to form your notes on this topic.</a:t>
            </a:r>
          </a:p>
          <a:p>
            <a:endParaRPr lang="en-US" dirty="0"/>
          </a:p>
          <a:p>
            <a:r>
              <a:rPr lang="en-US" dirty="0"/>
              <a:t>You will need to listen to the YouTube clip again and use the notes on slides 6-8 to fill in this worksheet. </a:t>
            </a:r>
          </a:p>
          <a:p>
            <a:endParaRPr lang="en-US" dirty="0"/>
          </a:p>
          <a:p>
            <a:r>
              <a:rPr lang="en-US" dirty="0"/>
              <a:t>Please note:  On slide 5 you will see that I have completed the “direction “ notes for you. Now do the same for “form” and “strength”.</a:t>
            </a:r>
          </a:p>
          <a:p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224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C0DF2C-4955-409A-BFD6-B12A1FB0441F}"/>
              </a:ext>
            </a:extLst>
          </p:cNvPr>
          <p:cNvGraphicFramePr>
            <a:graphicFrameLocks noGrp="1"/>
          </p:cNvGraphicFramePr>
          <p:nvPr/>
        </p:nvGraphicFramePr>
        <p:xfrm>
          <a:off x="2873853" y="357390"/>
          <a:ext cx="6922812" cy="5976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04">
                  <a:extLst>
                    <a:ext uri="{9D8B030D-6E8A-4147-A177-3AD203B41FA5}">
                      <a16:colId xmlns:a16="http://schemas.microsoft.com/office/drawing/2014/main" val="1060139467"/>
                    </a:ext>
                  </a:extLst>
                </a:gridCol>
                <a:gridCol w="2307604">
                  <a:extLst>
                    <a:ext uri="{9D8B030D-6E8A-4147-A177-3AD203B41FA5}">
                      <a16:colId xmlns:a16="http://schemas.microsoft.com/office/drawing/2014/main" val="2100343447"/>
                    </a:ext>
                  </a:extLst>
                </a:gridCol>
                <a:gridCol w="2307604">
                  <a:extLst>
                    <a:ext uri="{9D8B030D-6E8A-4147-A177-3AD203B41FA5}">
                      <a16:colId xmlns:a16="http://schemas.microsoft.com/office/drawing/2014/main" val="1731826521"/>
                    </a:ext>
                  </a:extLst>
                </a:gridCol>
              </a:tblGrid>
              <a:tr h="28146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Direction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Form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Strength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06342"/>
                  </a:ext>
                </a:extLst>
              </a:tr>
              <a:tr h="2099987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RELATIONSHIP: 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data show an uphill pattern as you move from left to right </a:t>
                      </a:r>
                      <a:r>
                        <a:rPr lang="en-US" sz="1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e.g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As the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X-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values increase (move right), the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-values tend to increase (move up).</a:t>
                      </a:r>
                    </a:p>
                    <a:p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240134"/>
                  </a:ext>
                </a:extLst>
              </a:tr>
              <a:tr h="1986455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NEGATIVE RELATIONSHIP: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the data show a downhill pattern as you move from left to right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the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-values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(move right) the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-values tend to decrease (move down).</a:t>
                      </a:r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393776"/>
                  </a:ext>
                </a:extLst>
              </a:tr>
              <a:tr h="15246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NO RELATIONSHIP: </a:t>
                      </a:r>
                    </a:p>
                    <a:p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400" dirty="0"/>
                        <a:t>Hard to find a pattern showing a relationship between the variables.</a:t>
                      </a:r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136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83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597239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47825" y="1597239"/>
            <a:ext cx="0" cy="5432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BA3321-2DD1-4857-A0D4-50623612126A}"/>
              </a:ext>
            </a:extLst>
          </p:cNvPr>
          <p:cNvSpPr txBox="1"/>
          <p:nvPr/>
        </p:nvSpPr>
        <p:spPr>
          <a:xfrm>
            <a:off x="1327259" y="1699399"/>
            <a:ext cx="269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Direction Examples </a:t>
            </a:r>
            <a:endParaRPr lang="en-AU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5553F1-7F28-4BFC-B2C1-90D60B4BA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259" y="2068731"/>
            <a:ext cx="6407536" cy="2531013"/>
          </a:xfrm>
          <a:prstGeom prst="rect">
            <a:avLst/>
          </a:prstGeom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19AFA69-FBC6-428F-94AC-E403490CB1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70871" y="2651560"/>
            <a:ext cx="406400" cy="40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186C5B-811C-4B51-AC23-E23B1AEE3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5422" y="4519252"/>
            <a:ext cx="6215780" cy="233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0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31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02C5F-BDDF-47A4-B159-1DD004163006}"/>
              </a:ext>
            </a:extLst>
          </p:cNvPr>
          <p:cNvSpPr txBox="1"/>
          <p:nvPr/>
        </p:nvSpPr>
        <p:spPr>
          <a:xfrm>
            <a:off x="1470134" y="1916832"/>
            <a:ext cx="269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 Examples </a:t>
            </a:r>
            <a:endParaRPr lang="en-AU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DEFEEB-B58E-49DD-9CA0-AABBA44C6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8" y="2310950"/>
            <a:ext cx="4861550" cy="181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FA344C-2C34-4F9C-8ABF-B56E9C9A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2272210"/>
            <a:ext cx="4381499" cy="23820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5C4FF3-E704-4006-9761-E09693AFF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131" y="4252987"/>
            <a:ext cx="6089532" cy="260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1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02C5F-BDDF-47A4-B159-1DD004163006}"/>
              </a:ext>
            </a:extLst>
          </p:cNvPr>
          <p:cNvSpPr txBox="1"/>
          <p:nvPr/>
        </p:nvSpPr>
        <p:spPr>
          <a:xfrm>
            <a:off x="1470134" y="1916832"/>
            <a:ext cx="2690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Strength Examples </a:t>
            </a:r>
            <a:endParaRPr lang="en-AU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366616-5332-4668-AAB8-0974D7E1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382" y="2581275"/>
            <a:ext cx="68008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6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574182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47825" y="1598967"/>
            <a:ext cx="0" cy="54304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9F3F7-2413-4F8F-B010-BE0977C67602}"/>
              </a:ext>
            </a:extLst>
          </p:cNvPr>
          <p:cNvSpPr/>
          <p:nvPr/>
        </p:nvSpPr>
        <p:spPr>
          <a:xfrm>
            <a:off x="1323975" y="2272210"/>
            <a:ext cx="10868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An example of bivariate data that you may encounter is the “number of drinks sold at the school canteen” and the “daily temperature”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0082AA-1EE9-4DDA-9EBE-D9866B68EBE9}"/>
              </a:ext>
            </a:extLst>
          </p:cNvPr>
          <p:cNvGraphicFramePr>
            <a:graphicFrameLocks noGrp="1"/>
          </p:cNvGraphicFramePr>
          <p:nvPr/>
        </p:nvGraphicFramePr>
        <p:xfrm>
          <a:off x="3847280" y="2817483"/>
          <a:ext cx="3752400" cy="34200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4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700" u="none" strike="noStrike" dirty="0">
                          <a:effectLst/>
                        </a:rPr>
                        <a:t>Daily Temperature (C</a:t>
                      </a:r>
                      <a:r>
                        <a:rPr lang="en-US" sz="1700" u="none" strike="noStrike" baseline="30000" dirty="0">
                          <a:effectLst/>
                        </a:rPr>
                        <a:t>o</a:t>
                      </a:r>
                      <a:r>
                        <a:rPr lang="en-US" sz="1700" u="none" strike="noStrike" dirty="0">
                          <a:effectLst/>
                        </a:rPr>
                        <a:t>)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Drinks sold</a:t>
                      </a:r>
                      <a:endParaRPr lang="en-US" sz="1700" b="1" i="0" u="none" strike="noStrike" dirty="0">
                        <a:solidFill>
                          <a:srgbClr val="FFFFFF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fi-FI" sz="1700" u="none" strike="noStrike" dirty="0">
                          <a:effectLst/>
                        </a:rPr>
                        <a:t>18</a:t>
                      </a:r>
                      <a:endParaRPr lang="fi-FI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160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22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200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24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250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33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450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30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430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28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300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29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cs-CZ" sz="1700" u="none" strike="noStrike" dirty="0">
                          <a:effectLst/>
                        </a:rPr>
                        <a:t>360</a:t>
                      </a:r>
                      <a:endParaRPr lang="cs-CZ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>
                          <a:effectLst/>
                        </a:rPr>
                        <a:t>17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700" u="none" strike="noStrike" dirty="0">
                          <a:effectLst/>
                        </a:rPr>
                        <a:t>150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23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230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082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>
                          <a:effectLst/>
                        </a:rPr>
                        <a:t>27</a:t>
                      </a:r>
                      <a:endParaRPr lang="is-IS" sz="1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700" u="none" strike="noStrike" dirty="0">
                          <a:effectLst/>
                        </a:rPr>
                        <a:t>250</a:t>
                      </a:r>
                      <a:endParaRPr lang="is-I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045" marR="12045" marT="1204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19250D4-9972-4CA8-A8EE-CCA1704F12B9}"/>
              </a:ext>
            </a:extLst>
          </p:cNvPr>
          <p:cNvSpPr txBox="1"/>
          <p:nvPr/>
        </p:nvSpPr>
        <p:spPr>
          <a:xfrm>
            <a:off x="1683615" y="6382313"/>
            <a:ext cx="714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Does it look like the number of drinks sold is affected by the temperature?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67273-FD8B-42D0-B300-EB25F0B4B282}"/>
              </a:ext>
            </a:extLst>
          </p:cNvPr>
          <p:cNvSpPr txBox="1"/>
          <p:nvPr/>
        </p:nvSpPr>
        <p:spPr>
          <a:xfrm>
            <a:off x="1483360" y="179832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endParaRPr lang="en-AU" b="1" dirty="0"/>
          </a:p>
        </p:txBody>
      </p:sp>
      <p:pic>
        <p:nvPicPr>
          <p:cNvPr id="1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44F154A-2B75-4089-8CA5-AEFDD636AA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0040" y="1793407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7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457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86B69-D098-44CD-88D1-8CA97BCA15C8}"/>
              </a:ext>
            </a:extLst>
          </p:cNvPr>
          <p:cNvSpPr txBox="1"/>
          <p:nvPr/>
        </p:nvSpPr>
        <p:spPr>
          <a:xfrm>
            <a:off x="1688274" y="1977126"/>
            <a:ext cx="990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Here is the scatterplot of the data form the previous slide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A7866FE-F331-4B9C-8CB0-FA55752BF728}"/>
              </a:ext>
            </a:extLst>
          </p:cNvPr>
          <p:cNvGraphicFramePr>
            <a:graphicFrameLocks/>
          </p:cNvGraphicFramePr>
          <p:nvPr/>
        </p:nvGraphicFramePr>
        <p:xfrm>
          <a:off x="2260600" y="2346458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EDE09F-BE34-4694-B89F-D5A1D85FA2B6}"/>
              </a:ext>
            </a:extLst>
          </p:cNvPr>
          <p:cNvSpPr txBox="1"/>
          <p:nvPr/>
        </p:nvSpPr>
        <p:spPr>
          <a:xfrm>
            <a:off x="1587887" y="6296158"/>
            <a:ext cx="936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the daily temperature (x-axis) increases, does the amount of drinks sold increase (y-axis)?</a:t>
            </a:r>
          </a:p>
        </p:txBody>
      </p:sp>
    </p:spTree>
    <p:extLst>
      <p:ext uri="{BB962C8B-B14F-4D97-AF65-F5344CB8AC3E}">
        <p14:creationId xmlns:p14="http://schemas.microsoft.com/office/powerpoint/2010/main" val="374113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478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928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Bivariate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EQ: How is bivariate data interpreted when plotted in a scatterplot?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D07A6C-4908-4325-BAC5-8F60BD10DBFC}"/>
              </a:ext>
            </a:extLst>
          </p:cNvPr>
          <p:cNvSpPr txBox="1"/>
          <p:nvPr/>
        </p:nvSpPr>
        <p:spPr>
          <a:xfrm>
            <a:off x="1371212" y="1929489"/>
            <a:ext cx="60049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overall pattern of a scatterplot can be described by the:</a:t>
            </a:r>
          </a:p>
          <a:p>
            <a:r>
              <a:rPr lang="en-US" dirty="0"/>
              <a:t> </a:t>
            </a:r>
            <a:r>
              <a:rPr lang="en-US" sz="2400" b="1" dirty="0"/>
              <a:t>direction</a:t>
            </a:r>
            <a:r>
              <a:rPr lang="en-US" sz="2400" dirty="0"/>
              <a:t>, </a:t>
            </a:r>
            <a:r>
              <a:rPr lang="en-US" sz="2400" b="1" dirty="0"/>
              <a:t>form</a:t>
            </a:r>
            <a:r>
              <a:rPr lang="en-US" sz="2400" dirty="0"/>
              <a:t>, and </a:t>
            </a:r>
            <a:r>
              <a:rPr lang="en-US" sz="2400" b="1" dirty="0"/>
              <a:t>strength</a:t>
            </a:r>
            <a:r>
              <a:rPr lang="en-US" sz="2400" dirty="0"/>
              <a:t> </a:t>
            </a:r>
            <a:r>
              <a:rPr lang="en-US" dirty="0"/>
              <a:t>of the relationship. 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812524-BE1F-4294-8E24-1000069F70CC}"/>
              </a:ext>
            </a:extLst>
          </p:cNvPr>
          <p:cNvSpPr txBox="1"/>
          <p:nvPr/>
        </p:nvSpPr>
        <p:spPr>
          <a:xfrm>
            <a:off x="1587887" y="2806075"/>
            <a:ext cx="6156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would you describe this scatterplot?</a:t>
            </a:r>
          </a:p>
          <a:p>
            <a:r>
              <a:rPr lang="en-AU" dirty="0"/>
              <a:t>Strong or Weak?</a:t>
            </a:r>
          </a:p>
          <a:p>
            <a:r>
              <a:rPr lang="en-AU" dirty="0"/>
              <a:t>Linear or Not?</a:t>
            </a:r>
          </a:p>
          <a:p>
            <a:r>
              <a:rPr lang="en-AU" dirty="0"/>
              <a:t>Positive or Negative?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715AB5B-15CA-4A4D-B1D6-0D3D4E1848F2}"/>
              </a:ext>
            </a:extLst>
          </p:cNvPr>
          <p:cNvGraphicFramePr>
            <a:graphicFrameLocks/>
          </p:cNvGraphicFramePr>
          <p:nvPr/>
        </p:nvGraphicFramePr>
        <p:xfrm>
          <a:off x="6660605" y="2720690"/>
          <a:ext cx="5384800" cy="394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564679F-FC92-4B50-9641-70A1E8DD3615}"/>
              </a:ext>
            </a:extLst>
          </p:cNvPr>
          <p:cNvSpPr/>
          <p:nvPr/>
        </p:nvSpPr>
        <p:spPr>
          <a:xfrm>
            <a:off x="1247826" y="4510873"/>
            <a:ext cx="5213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Our graph is a strong, positive graph, that is  almost linear. </a:t>
            </a:r>
          </a:p>
        </p:txBody>
      </p:sp>
    </p:spTree>
    <p:extLst>
      <p:ext uri="{BB962C8B-B14F-4D97-AF65-F5344CB8AC3E}">
        <p14:creationId xmlns:p14="http://schemas.microsoft.com/office/powerpoint/2010/main" val="421124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Graphic spid="14" grpId="0">
        <p:bldAsOne/>
      </p:bldGraphic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3552"/>
            <a:ext cx="10131425" cy="120271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Sam’s Mum wants to buy a new Golf. She looks on “Gumtree” and makes a list of how many years old the car is, and the sale price.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2097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Number of years old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cs-CZ" sz="2000" u="none" strike="noStrike" dirty="0">
                          <a:effectLst/>
                        </a:rPr>
                        <a:t>11</a:t>
                      </a:r>
                      <a:endParaRPr lang="cs-CZ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70554" y="3429000"/>
            <a:ext cx="525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Make a scatterplot of the data, and describe the trend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4F9340-1493-4E04-97BF-EB03F37B7D3A}"/>
              </a:ext>
            </a:extLst>
          </p:cNvPr>
          <p:cNvGraphicFramePr>
            <a:graphicFrameLocks noGrp="1"/>
          </p:cNvGraphicFramePr>
          <p:nvPr/>
        </p:nvGraphicFramePr>
        <p:xfrm>
          <a:off x="3534936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139965797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Cost of car ($)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9709511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32000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2320377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29500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54799284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51215819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31940767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16500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18131727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61789109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13000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75260765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10900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762704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1819065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7500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2069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25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3552"/>
            <a:ext cx="10131425" cy="120271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Sam’s Mum wants to buy a new Golf. She looks on “Gumtree” and makes a list of how many years old the car is, and the sale price.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2097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Number of years old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cs-CZ" sz="2000" u="none" strike="noStrike" dirty="0">
                          <a:effectLst/>
                        </a:rPr>
                        <a:t>11</a:t>
                      </a:r>
                      <a:endParaRPr lang="cs-CZ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49737" y="3278459"/>
            <a:ext cx="2765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Which  variable is the;</a:t>
            </a:r>
          </a:p>
          <a:p>
            <a:r>
              <a:rPr lang="en-AU" dirty="0"/>
              <a:t>Independent</a:t>
            </a:r>
          </a:p>
          <a:p>
            <a:r>
              <a:rPr lang="en-AU" dirty="0"/>
              <a:t>- Number of years old</a:t>
            </a:r>
          </a:p>
          <a:p>
            <a:r>
              <a:rPr lang="en-AU" dirty="0"/>
              <a:t>Dependent</a:t>
            </a:r>
          </a:p>
          <a:p>
            <a:r>
              <a:rPr lang="en-AU" dirty="0"/>
              <a:t> - Cost of the 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2634" y="5599047"/>
            <a:ext cx="525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Make a scatterplot of the data, and describe the trend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4F9340-1493-4E04-97BF-EB03F37B7D3A}"/>
              </a:ext>
            </a:extLst>
          </p:cNvPr>
          <p:cNvGraphicFramePr>
            <a:graphicFrameLocks noGrp="1"/>
          </p:cNvGraphicFramePr>
          <p:nvPr/>
        </p:nvGraphicFramePr>
        <p:xfrm>
          <a:off x="3534936" y="3112426"/>
          <a:ext cx="2642839" cy="349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139965797"/>
                    </a:ext>
                  </a:extLst>
                </a:gridCol>
              </a:tblGrid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Cost of car ($)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297095119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32000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23203771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29500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54799284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24500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3512158197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20,000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31940767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16500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181317270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14500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2617891095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13000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752607653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10900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76270408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10500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618190654"/>
                  </a:ext>
                </a:extLst>
              </a:tr>
              <a:tr h="298943">
                <a:tc>
                  <a:txBody>
                    <a:bodyPr/>
                    <a:lstStyle/>
                    <a:p>
                      <a:pPr algn="ctr" fontAlgn="b"/>
                      <a:r>
                        <a:rPr lang="is-IS" sz="2000" u="none" strike="noStrike" dirty="0">
                          <a:effectLst/>
                        </a:rPr>
                        <a:t>7500</a:t>
                      </a:r>
                      <a:endParaRPr lang="is-I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42069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36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7961"/>
            <a:ext cx="10515600" cy="1325563"/>
          </a:xfrm>
        </p:spPr>
        <p:txBody>
          <a:bodyPr/>
          <a:lstStyle/>
          <a:p>
            <a:r>
              <a:rPr lang="en-AU" dirty="0"/>
              <a:t>Car data Scatter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34941" y="2065867"/>
            <a:ext cx="3856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see that the lower the years on the car, the more expensive it is to buy.</a:t>
            </a:r>
          </a:p>
          <a:p>
            <a:endParaRPr lang="en-AU" dirty="0"/>
          </a:p>
          <a:p>
            <a:r>
              <a:rPr lang="en-AU" dirty="0"/>
              <a:t>The trend is very linear, and negative. The dots form almost a straight line, so the correlation could be classified as strong. 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0545A81-A6A2-48AE-8C86-9D396332558D}"/>
              </a:ext>
            </a:extLst>
          </p:cNvPr>
          <p:cNvGraphicFramePr>
            <a:graphicFrameLocks/>
          </p:cNvGraphicFramePr>
          <p:nvPr/>
        </p:nvGraphicFramePr>
        <p:xfrm>
          <a:off x="1524000" y="218352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E75330C-90C3-4217-826B-07E949ED5B1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639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7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turn: Submit this work in the submission folder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F9CE4-820F-4C8A-B293-C8EF3E300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35" y="1438334"/>
            <a:ext cx="3512240" cy="532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9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972</Words>
  <Application>Microsoft Office PowerPoint</Application>
  <PresentationFormat>Widescreen</PresentationFormat>
  <Paragraphs>197</Paragraphs>
  <Slides>15</Slides>
  <Notes>6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Topic: Bivariate data</vt:lpstr>
      <vt:lpstr>Topic: Bivariate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ANSWERS</vt:lpstr>
      <vt:lpstr>Car data Scatter plot</vt:lpstr>
      <vt:lpstr>Your turn: Submit this work in the submission folder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Bivariate data</dc:title>
  <dc:creator>JAMES Sarah [Baldivis Secondary College]</dc:creator>
  <cp:lastModifiedBy>JAMES Sarah [Baldivis Secondary College]</cp:lastModifiedBy>
  <cp:revision>1</cp:revision>
  <dcterms:created xsi:type="dcterms:W3CDTF">2021-05-20T14:11:13Z</dcterms:created>
  <dcterms:modified xsi:type="dcterms:W3CDTF">2021-05-20T14:12:20Z</dcterms:modified>
</cp:coreProperties>
</file>
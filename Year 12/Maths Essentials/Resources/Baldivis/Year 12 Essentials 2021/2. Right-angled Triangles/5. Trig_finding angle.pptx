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410" r:id="rId2"/>
    <p:sldId id="399" r:id="rId3"/>
    <p:sldId id="404" r:id="rId4"/>
    <p:sldId id="285" r:id="rId5"/>
    <p:sldId id="406" r:id="rId6"/>
    <p:sldId id="405" r:id="rId7"/>
    <p:sldId id="284" r:id="rId8"/>
    <p:sldId id="407" r:id="rId9"/>
    <p:sldId id="400" r:id="rId10"/>
    <p:sldId id="283" r:id="rId11"/>
    <p:sldId id="40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1D3C7C-22A3-4DA6-A4B1-FEA48474135B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CA65BF-C7A3-463D-9E0D-28E98076FE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8487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D83AFB89-E731-4D50-A59D-B85D02B52B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11C4260-482F-467A-8248-219A1349E83A}" type="slidenum">
              <a:rPr lang="en-US" altLang="en-US" b="0"/>
              <a:pPr eaLnBrk="1" hangingPunct="1"/>
              <a:t>4</a:t>
            </a:fld>
            <a:endParaRPr lang="en-US" altLang="en-US" b="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BB4FD96A-24C7-49C1-9093-2DC7282194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92CA1120-04FC-42A1-BF7B-21D9876CB4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EAA07C29-7FE7-4B90-A246-CC00315A77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2F112FF-D856-41C8-92A3-234D86FB6FEA}" type="slidenum">
              <a:rPr lang="en-US" altLang="en-US" b="0"/>
              <a:pPr eaLnBrk="1" hangingPunct="1"/>
              <a:t>7</a:t>
            </a:fld>
            <a:endParaRPr lang="en-US" altLang="en-US" b="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A2146401-0FDA-4659-99FB-0A481EB31A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DEA9E38F-8A9F-431D-9E9A-DEDAFA0A70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4E865699-FA9C-4CE5-B146-3722417697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6639F2A-B377-46DC-BA99-8133FC727BBC}" type="slidenum">
              <a:rPr lang="en-US" altLang="en-US" b="0"/>
              <a:pPr eaLnBrk="1" hangingPunct="1"/>
              <a:t>10</a:t>
            </a:fld>
            <a:endParaRPr lang="en-US" altLang="en-US" b="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E28BC89B-DD6A-4ADA-9529-03F5180423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425ED062-6A5A-4012-9DE8-1BB9E21398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2478-BE5C-41BA-B158-9FDE04F66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1D03D-85A5-4D05-B23D-75BEA9C3A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2A4E9-EDE2-4FF2-ACF4-A6D8AF0B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6F66-0DA9-43A9-AD40-3BC6CD11BBB9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7A318-2A92-4C5E-A9BF-CA7A15E3F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999A6-070D-409E-B205-AA88F4353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6C89-02C3-4861-84B7-3B4BBA73D3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237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F6A47-F640-4E65-93DC-EBD990B98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23117-B051-4D7D-8071-A8AC0BDAD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095BB-7C1E-4834-9657-F7E7E8F68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6F66-0DA9-43A9-AD40-3BC6CD11BBB9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6B4F8-747A-400B-83F7-AB3FE425D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95490-0D65-4A07-83AE-5CF5876B0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6C89-02C3-4861-84B7-3B4BBA73D3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3798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4472-CC45-4F17-9AEB-075D49AE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AB15B-4F8E-414D-B10E-458F6D8CD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FBD01-14D9-4F0B-9B89-84DC3E1A8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6F66-0DA9-43A9-AD40-3BC6CD11BBB9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0C2BD-DA86-4035-A193-2CE5DFFBE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7B895-775A-4739-81A0-B7E44CDBE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6C89-02C3-4861-84B7-3B4BBA73D3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5641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715CF-4100-4325-B9B0-1CB62B536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E9B0F-A99B-4FA7-A88E-30DF5C63F8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EEF85-6B18-4944-A0A1-646921CFD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0C98A4-DE9C-4527-B351-78CA8C604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6F66-0DA9-43A9-AD40-3BC6CD11BBB9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95A45-6B80-40C6-B27D-001A3C84A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3787C-4C8F-44CB-8D35-CB150184B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6C89-02C3-4861-84B7-3B4BBA73D3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7630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FEB6-0CFD-47D3-B69C-6D7B2E636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4836A-0471-4612-93A2-1E7BEDB5A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C45AC-5FBA-4EFF-98A8-650382CC5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4381E6-514B-4928-B204-C5C88C15CC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7D4F4E-06EA-4BE1-8B9F-FC8CC37CA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DDE31C-AE0D-4253-905E-307E9A954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6F66-0DA9-43A9-AD40-3BC6CD11BBB9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FF1A0E-85D2-4C21-8CA3-53F9862D5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09577F-DBAD-4945-A06E-C4209FE43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6C89-02C3-4861-84B7-3B4BBA73D3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9325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7F1B8-7F4A-4C94-8BD6-5D2BF19EB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008AA5-2399-42F4-9E7C-FEFF19008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6F66-0DA9-43A9-AD40-3BC6CD11BBB9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5503E-DD8B-4521-958E-36F1FA072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69E82E-9DE2-4066-B3A1-7794E918C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6C89-02C3-4861-84B7-3B4BBA73D3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7130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33B583-405B-4854-895A-2B1C4E42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6F66-0DA9-43A9-AD40-3BC6CD11BBB9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1F4D66-22E2-43D7-A41D-8784E340B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6F9D5-3A02-4ABE-90DB-93FD9DECC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6C89-02C3-4861-84B7-3B4BBA73D3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599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315FA-281F-4223-A184-308730D71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A0994-935A-4B4A-8C49-0F2F54266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E82531-2299-463D-8BA2-BA0B9A988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9B18F-0868-4B37-ABC6-3B0C15EC9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6F66-0DA9-43A9-AD40-3BC6CD11BBB9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1A8DB-5D63-4E6D-A9E0-5F20F31C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4798A-A2BF-470B-B06C-F5AD7F16C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6C89-02C3-4861-84B7-3B4BBA73D3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3526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72846-A49E-4149-8DE9-288B72DE7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AEABFA-75EF-4B98-ADD9-C41450C290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A4530-7AEB-4CA1-9C8F-029BF1A48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3BE2A-3BD0-41BB-BE2E-10F975CEC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6F66-0DA9-43A9-AD40-3BC6CD11BBB9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47700-8804-47E3-BF2A-8178ABA76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DDDF0-7ADD-4633-AFC7-B6561C96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6C89-02C3-4861-84B7-3B4BBA73D3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7899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36363-474E-44FF-8131-92A4FD27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4DF106-FD70-4EAF-A68F-E6A4BC85C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74CCB-6655-4239-838B-9BB9B5996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6F66-0DA9-43A9-AD40-3BC6CD11BBB9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75504-054D-427B-B05A-1EC5B76A9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7D6B4-3AF8-4FCE-8DA0-2ABBA5A9A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6C89-02C3-4861-84B7-3B4BBA73D3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6217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172581-3F5E-49BE-9A70-2E1491561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BD9038-020C-4E50-AF41-ABEC9C1EA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FC36A-B657-4AB6-9186-FB9B0D97B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6F66-0DA9-43A9-AD40-3BC6CD11BBB9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B082A-8E50-4FA5-8384-5B40DCF54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12CF7-EBA5-4E59-808D-9146CD0FC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6C89-02C3-4861-84B7-3B4BBA73D3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051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4C7011-5EC0-44DA-864F-E31B75528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C91D1-6B1F-4ABE-850F-03CF7C91F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A3A72-EA4E-4993-9095-3ECAD50BCA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36F66-0DA9-43A9-AD40-3BC6CD11BBB9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E4899-6870-40B2-AA47-29A130FBCE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575B6-4793-47F3-9FBD-C3BE0C009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C6C89-02C3-4861-84B7-3B4BBA73D3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2552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5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wmf"/><Relationship Id="rId11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image" Target="../media/image15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oleObject" Target="../embeddings/oleObject10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wmf"/><Relationship Id="rId11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4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image" Target="../media/image21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oleObject" Target="../embeddings/oleObject15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wmf"/><Relationship Id="rId11" Type="http://schemas.openxmlformats.org/officeDocument/2006/relationships/image" Target="../media/image8.w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20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4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Topic: Right-angled triangles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429000"/>
            <a:ext cx="10668000" cy="1655762"/>
          </a:xfrm>
        </p:spPr>
        <p:txBody>
          <a:bodyPr/>
          <a:lstStyle/>
          <a:p>
            <a:r>
              <a:rPr lang="en-AU" b="1" dirty="0"/>
              <a:t>EQ – </a:t>
            </a:r>
            <a:r>
              <a:rPr lang="en-US" b="1" dirty="0"/>
              <a:t>How do we find an angle of a right angled triangle using trigonometry ratios?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46534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980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an angle of a right angled triangle using trigonometry ratios?</a:t>
            </a:r>
            <a:endParaRPr lang="en-AU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6D67A9-6D75-4B45-9F01-079AA563C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433" y="2378200"/>
            <a:ext cx="2783470" cy="41650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trigonometry ratios?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C158BE-C36D-4C16-822D-6AE6849AE9BB}"/>
              </a:ext>
            </a:extLst>
          </p:cNvPr>
          <p:cNvSpPr txBox="1"/>
          <p:nvPr/>
        </p:nvSpPr>
        <p:spPr>
          <a:xfrm>
            <a:off x="2495600" y="1904439"/>
            <a:ext cx="542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From our last lesson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479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16989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980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718827" y="1906001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an angle of a right angled triangle using trigonometry ratios?</a:t>
            </a:r>
            <a:endParaRPr lang="en-AU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DDA782-FC5A-4D51-AB20-2E80EF505C5A}"/>
              </a:ext>
            </a:extLst>
          </p:cNvPr>
          <p:cNvSpPr txBox="1"/>
          <p:nvPr/>
        </p:nvSpPr>
        <p:spPr>
          <a:xfrm>
            <a:off x="184030" y="2058838"/>
            <a:ext cx="1886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sine ratio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0EDE9F-11FA-426E-B0FB-6F59DC2C1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333" y="1989609"/>
            <a:ext cx="6284208" cy="25518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B44CDC-660B-44E4-BC42-45CADBDD5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333" y="4462284"/>
            <a:ext cx="6291540" cy="2295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60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AutoShape 2">
            <a:extLst>
              <a:ext uri="{FF2B5EF4-FFF2-40B4-BE49-F238E27FC236}">
                <a16:creationId xmlns:a16="http://schemas.microsoft.com/office/drawing/2014/main" id="{6BA0D153-3C1E-4610-912D-D775B6DE2679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2133600" y="914400"/>
            <a:ext cx="4419600" cy="2438400"/>
          </a:xfrm>
          <a:prstGeom prst="rtTriangle">
            <a:avLst/>
          </a:prstGeom>
          <a:solidFill>
            <a:srgbClr val="FFCC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790D1AC-47AA-4453-8779-514BF1ABF1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762000"/>
          </a:xfrm>
        </p:spPr>
        <p:txBody>
          <a:bodyPr>
            <a:normAutofit/>
          </a:bodyPr>
          <a:lstStyle/>
          <a:p>
            <a:pPr algn="l"/>
            <a:r>
              <a:rPr lang="en-US" altLang="en-US" sz="3200" b="1"/>
              <a:t>Ex. 3: Find </a:t>
            </a:r>
            <a:r>
              <a:rPr lang="en-US" altLang="en-US" sz="3200" b="1">
                <a:sym typeface="Symbol" panose="05050102010706020507" pitchFamily="18" charset="2"/>
              </a:rPr>
              <a:t>.  Round to three decimal places.</a:t>
            </a:r>
            <a:endParaRPr lang="en-US" altLang="en-US" sz="3200" b="1"/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35D1E29D-2BAA-4C7B-AA2A-A457E8F72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914400"/>
            <a:ext cx="304800" cy="336550"/>
          </a:xfrm>
          <a:prstGeom prst="rect">
            <a:avLst/>
          </a:prstGeom>
          <a:solidFill>
            <a:srgbClr val="FFCC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4581" name="Text Box 5">
            <a:extLst>
              <a:ext uri="{FF2B5EF4-FFF2-40B4-BE49-F238E27FC236}">
                <a16:creationId xmlns:a16="http://schemas.microsoft.com/office/drawing/2014/main" id="{90F17044-08C0-4E5F-99A6-71F6182BCB6C}"/>
              </a:ext>
            </a:extLst>
          </p:cNvPr>
          <p:cNvSpPr txBox="1">
            <a:spLocks noChangeArrowheads="1"/>
          </p:cNvSpPr>
          <p:nvPr/>
        </p:nvSpPr>
        <p:spPr bwMode="auto">
          <a:xfrm rot="19624798">
            <a:off x="3505201" y="2209801"/>
            <a:ext cx="12239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400</a:t>
            </a:r>
          </a:p>
        </p:txBody>
      </p:sp>
      <p:sp>
        <p:nvSpPr>
          <p:cNvPr id="24582" name="Text Box 6">
            <a:extLst>
              <a:ext uri="{FF2B5EF4-FFF2-40B4-BE49-F238E27FC236}">
                <a16:creationId xmlns:a16="http://schemas.microsoft.com/office/drawing/2014/main" id="{122ED572-5493-4DA9-A15C-C58D18916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8437" y="1524001"/>
            <a:ext cx="1012826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200</a:t>
            </a:r>
          </a:p>
        </p:txBody>
      </p:sp>
      <p:graphicFrame>
        <p:nvGraphicFramePr>
          <p:cNvPr id="43017" name="Object 9">
            <a:extLst>
              <a:ext uri="{FF2B5EF4-FFF2-40B4-BE49-F238E27FC236}">
                <a16:creationId xmlns:a16="http://schemas.microsoft.com/office/drawing/2014/main" id="{C1C1534C-F368-44A1-B2DC-255D83477F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1" y="762000"/>
          <a:ext cx="2149475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36280" imgH="393529" progId="Equation.3">
                  <p:embed/>
                </p:oleObj>
              </mc:Choice>
              <mc:Fallback>
                <p:oleObj name="Equation" r:id="rId3" imgW="736280" imgH="393529" progId="Equation.3">
                  <p:embed/>
                  <p:pic>
                    <p:nvPicPr>
                      <p:cNvPr id="43017" name="Object 9">
                        <a:extLst>
                          <a:ext uri="{FF2B5EF4-FFF2-40B4-BE49-F238E27FC236}">
                            <a16:creationId xmlns:a16="http://schemas.microsoft.com/office/drawing/2014/main" id="{C1C1534C-F368-44A1-B2DC-255D83477F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1" y="762000"/>
                        <a:ext cx="2149475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10">
            <a:extLst>
              <a:ext uri="{FF2B5EF4-FFF2-40B4-BE49-F238E27FC236}">
                <a16:creationId xmlns:a16="http://schemas.microsoft.com/office/drawing/2014/main" id="{20EE2E82-7BDB-4DCE-9B67-F29F10FEDC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1" y="838200"/>
          <a:ext cx="4365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6725" imgH="177415" progId="Equation.3">
                  <p:embed/>
                </p:oleObj>
              </mc:Choice>
              <mc:Fallback>
                <p:oleObj name="Equation" r:id="rId5" imgW="126725" imgH="177415" progId="Equation.3">
                  <p:embed/>
                  <p:pic>
                    <p:nvPicPr>
                      <p:cNvPr id="24584" name="Object 10">
                        <a:extLst>
                          <a:ext uri="{FF2B5EF4-FFF2-40B4-BE49-F238E27FC236}">
                            <a16:creationId xmlns:a16="http://schemas.microsoft.com/office/drawing/2014/main" id="{20EE2E82-7BDB-4DCE-9B67-F29F10FEDC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1" y="838200"/>
                        <a:ext cx="4365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19" name="Group 11">
            <a:extLst>
              <a:ext uri="{FF2B5EF4-FFF2-40B4-BE49-F238E27FC236}">
                <a16:creationId xmlns:a16="http://schemas.microsoft.com/office/drawing/2014/main" id="{EB4C9F10-6CF1-4FAD-88DC-F0AF766E8D66}"/>
              </a:ext>
            </a:extLst>
          </p:cNvPr>
          <p:cNvGrpSpPr>
            <a:grpSpLocks/>
          </p:cNvGrpSpPr>
          <p:nvPr/>
        </p:nvGrpSpPr>
        <p:grpSpPr bwMode="auto">
          <a:xfrm>
            <a:off x="4352925" y="3724275"/>
            <a:ext cx="1219200" cy="762000"/>
            <a:chOff x="2400" y="1632"/>
            <a:chExt cx="768" cy="480"/>
          </a:xfrm>
        </p:grpSpPr>
        <p:sp>
          <p:nvSpPr>
            <p:cNvPr id="24604" name="AutoShape 1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300F1C78-EBB8-4891-8A0A-B00393BD5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680"/>
              <a:ext cx="768" cy="432"/>
            </a:xfrm>
            <a:prstGeom prst="actionButtonBlank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4605" name="Text Box 13">
              <a:extLst>
                <a:ext uri="{FF2B5EF4-FFF2-40B4-BE49-F238E27FC236}">
                  <a16:creationId xmlns:a16="http://schemas.microsoft.com/office/drawing/2014/main" id="{ED1451CA-6147-4AD9-B7A1-87C8C2DD79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632"/>
              <a:ext cx="62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/>
                <a:t>2</a:t>
              </a:r>
              <a:r>
                <a:rPr lang="en-US" altLang="en-US" sz="4400" baseline="30000"/>
                <a:t>nd</a:t>
              </a:r>
              <a:r>
                <a:rPr lang="en-US" altLang="en-US" sz="4400"/>
                <a:t> </a:t>
              </a:r>
            </a:p>
          </p:txBody>
        </p:sp>
      </p:grpSp>
      <p:grpSp>
        <p:nvGrpSpPr>
          <p:cNvPr id="43022" name="Group 14">
            <a:extLst>
              <a:ext uri="{FF2B5EF4-FFF2-40B4-BE49-F238E27FC236}">
                <a16:creationId xmlns:a16="http://schemas.microsoft.com/office/drawing/2014/main" id="{5E27737B-A9E3-44AD-9865-EEAABC6A5ED6}"/>
              </a:ext>
            </a:extLst>
          </p:cNvPr>
          <p:cNvGrpSpPr>
            <a:grpSpLocks/>
          </p:cNvGrpSpPr>
          <p:nvPr/>
        </p:nvGrpSpPr>
        <p:grpSpPr bwMode="auto">
          <a:xfrm>
            <a:off x="5648325" y="3724275"/>
            <a:ext cx="1219200" cy="762000"/>
            <a:chOff x="3216" y="1632"/>
            <a:chExt cx="768" cy="480"/>
          </a:xfrm>
        </p:grpSpPr>
        <p:sp>
          <p:nvSpPr>
            <p:cNvPr id="24602" name="AutoShape 1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766495A-5EC1-4936-A7F6-C931896D3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4603" name="Text Box 16">
              <a:extLst>
                <a:ext uri="{FF2B5EF4-FFF2-40B4-BE49-F238E27FC236}">
                  <a16:creationId xmlns:a16="http://schemas.microsoft.com/office/drawing/2014/main" id="{76FAA8A3-9ECE-4C25-AB93-B74B5B53A3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632"/>
              <a:ext cx="720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>
                  <a:solidFill>
                    <a:schemeClr val="bg1"/>
                  </a:solidFill>
                </a:rPr>
                <a:t>sin </a:t>
              </a:r>
            </a:p>
          </p:txBody>
        </p:sp>
      </p:grpSp>
      <p:grpSp>
        <p:nvGrpSpPr>
          <p:cNvPr id="43025" name="Group 17">
            <a:extLst>
              <a:ext uri="{FF2B5EF4-FFF2-40B4-BE49-F238E27FC236}">
                <a16:creationId xmlns:a16="http://schemas.microsoft.com/office/drawing/2014/main" id="{03E91CEE-7664-4AEA-ABB7-69D4308D3261}"/>
              </a:ext>
            </a:extLst>
          </p:cNvPr>
          <p:cNvGrpSpPr>
            <a:grpSpLocks/>
          </p:cNvGrpSpPr>
          <p:nvPr/>
        </p:nvGrpSpPr>
        <p:grpSpPr bwMode="auto">
          <a:xfrm>
            <a:off x="6943725" y="3800475"/>
            <a:ext cx="990600" cy="685800"/>
            <a:chOff x="3840" y="1248"/>
            <a:chExt cx="768" cy="432"/>
          </a:xfrm>
        </p:grpSpPr>
        <p:sp>
          <p:nvSpPr>
            <p:cNvPr id="24600" name="AutoShape 1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3BB0032-1FCD-445C-93D4-6CC7B30F2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4601" name="Text Box 19">
              <a:extLst>
                <a:ext uri="{FF2B5EF4-FFF2-40B4-BE49-F238E27FC236}">
                  <a16:creationId xmlns:a16="http://schemas.microsoft.com/office/drawing/2014/main" id="{3BC202DF-D12F-45E0-B8C6-DBF69E6B2C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248"/>
              <a:ext cx="76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200 </a:t>
              </a:r>
            </a:p>
          </p:txBody>
        </p:sp>
      </p:grpSp>
      <p:grpSp>
        <p:nvGrpSpPr>
          <p:cNvPr id="43028" name="Group 20">
            <a:extLst>
              <a:ext uri="{FF2B5EF4-FFF2-40B4-BE49-F238E27FC236}">
                <a16:creationId xmlns:a16="http://schemas.microsoft.com/office/drawing/2014/main" id="{466E348B-A836-4F94-A94B-A2C5FBE956DC}"/>
              </a:ext>
            </a:extLst>
          </p:cNvPr>
          <p:cNvGrpSpPr>
            <a:grpSpLocks/>
          </p:cNvGrpSpPr>
          <p:nvPr/>
        </p:nvGrpSpPr>
        <p:grpSpPr bwMode="auto">
          <a:xfrm>
            <a:off x="8010525" y="3800475"/>
            <a:ext cx="838200" cy="609600"/>
            <a:chOff x="4656" y="1248"/>
            <a:chExt cx="528" cy="384"/>
          </a:xfrm>
        </p:grpSpPr>
        <p:sp>
          <p:nvSpPr>
            <p:cNvPr id="24598" name="AutoShape 21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B2EBA78-AB01-4EC8-9111-B7CDCE5D6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248"/>
              <a:ext cx="528" cy="384"/>
            </a:xfrm>
            <a:prstGeom prst="actionButtonBlank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graphicFrame>
          <p:nvGraphicFramePr>
            <p:cNvPr id="24599" name="Object 22">
              <a:extLst>
                <a:ext uri="{FF2B5EF4-FFF2-40B4-BE49-F238E27FC236}">
                  <a16:creationId xmlns:a16="http://schemas.microsoft.com/office/drawing/2014/main" id="{2400CBB2-E0CB-432D-889D-A276940227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0" y="1248"/>
            <a:ext cx="37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26725" imgH="126725" progId="Equation.3">
                    <p:embed/>
                  </p:oleObj>
                </mc:Choice>
                <mc:Fallback>
                  <p:oleObj name="Equation" r:id="rId7" imgW="126725" imgH="126725" progId="Equation.3">
                    <p:embed/>
                    <p:pic>
                      <p:nvPicPr>
                        <p:cNvPr id="24599" name="Object 22">
                          <a:extLst>
                            <a:ext uri="{FF2B5EF4-FFF2-40B4-BE49-F238E27FC236}">
                              <a16:creationId xmlns:a16="http://schemas.microsoft.com/office/drawing/2014/main" id="{2400CBB2-E0CB-432D-889D-A276940227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0" y="1248"/>
                          <a:ext cx="376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31" name="Group 23">
            <a:extLst>
              <a:ext uri="{FF2B5EF4-FFF2-40B4-BE49-F238E27FC236}">
                <a16:creationId xmlns:a16="http://schemas.microsoft.com/office/drawing/2014/main" id="{7196CD35-A478-4A92-A498-615779BB9D70}"/>
              </a:ext>
            </a:extLst>
          </p:cNvPr>
          <p:cNvGrpSpPr>
            <a:grpSpLocks/>
          </p:cNvGrpSpPr>
          <p:nvPr/>
        </p:nvGrpSpPr>
        <p:grpSpPr bwMode="auto">
          <a:xfrm>
            <a:off x="8882064" y="3800475"/>
            <a:ext cx="1176337" cy="685800"/>
            <a:chOff x="5040" y="1248"/>
            <a:chExt cx="672" cy="432"/>
          </a:xfrm>
        </p:grpSpPr>
        <p:sp>
          <p:nvSpPr>
            <p:cNvPr id="24596" name="AutoShape 2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255FC371-30BB-4861-9E96-D31143023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248"/>
              <a:ext cx="672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4597" name="Text Box 25">
              <a:extLst>
                <a:ext uri="{FF2B5EF4-FFF2-40B4-BE49-F238E27FC236}">
                  <a16:creationId xmlns:a16="http://schemas.microsoft.com/office/drawing/2014/main" id="{AB0DA2D7-ACDE-44FE-87C7-F4110E0D85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248"/>
              <a:ext cx="55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400</a:t>
              </a:r>
            </a:p>
          </p:txBody>
        </p:sp>
      </p:grpSp>
      <p:graphicFrame>
        <p:nvGraphicFramePr>
          <p:cNvPr id="43034" name="Object 26">
            <a:extLst>
              <a:ext uri="{FF2B5EF4-FFF2-40B4-BE49-F238E27FC236}">
                <a16:creationId xmlns:a16="http://schemas.microsoft.com/office/drawing/2014/main" id="{FB7B1D03-AFAE-42CB-9B58-12042F60BF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1" y="4905376"/>
          <a:ext cx="287337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94870" imgH="177646" progId="Equation.3">
                  <p:embed/>
                </p:oleObj>
              </mc:Choice>
              <mc:Fallback>
                <p:oleObj name="Equation" r:id="rId9" imgW="494870" imgH="177646" progId="Equation.3">
                  <p:embed/>
                  <p:pic>
                    <p:nvPicPr>
                      <p:cNvPr id="43034" name="Object 26">
                        <a:extLst>
                          <a:ext uri="{FF2B5EF4-FFF2-40B4-BE49-F238E27FC236}">
                            <a16:creationId xmlns:a16="http://schemas.microsoft.com/office/drawing/2014/main" id="{FB7B1D03-AFAE-42CB-9B58-12042F60BF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1" y="4905376"/>
                        <a:ext cx="2873375" cy="103346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35" name="Group 27">
            <a:extLst>
              <a:ext uri="{FF2B5EF4-FFF2-40B4-BE49-F238E27FC236}">
                <a16:creationId xmlns:a16="http://schemas.microsoft.com/office/drawing/2014/main" id="{2E962EB2-06EF-4220-8ACC-B7904D582DF6}"/>
              </a:ext>
            </a:extLst>
          </p:cNvPr>
          <p:cNvGrpSpPr>
            <a:grpSpLocks/>
          </p:cNvGrpSpPr>
          <p:nvPr/>
        </p:nvGrpSpPr>
        <p:grpSpPr bwMode="auto">
          <a:xfrm>
            <a:off x="9991725" y="3800475"/>
            <a:ext cx="533400" cy="685800"/>
            <a:chOff x="5040" y="1248"/>
            <a:chExt cx="672" cy="432"/>
          </a:xfrm>
        </p:grpSpPr>
        <p:sp>
          <p:nvSpPr>
            <p:cNvPr id="24594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248359F-F0B7-4952-BB52-90BC79D26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248"/>
              <a:ext cx="672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4595" name="Text Box 29">
              <a:extLst>
                <a:ext uri="{FF2B5EF4-FFF2-40B4-BE49-F238E27FC236}">
                  <a16:creationId xmlns:a16="http://schemas.microsoft.com/office/drawing/2014/main" id="{B6A9B7C8-F6EA-4C0D-8286-9F2EF99388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248"/>
              <a:ext cx="55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)</a:t>
              </a:r>
            </a:p>
          </p:txBody>
        </p:sp>
      </p:grpSp>
      <p:pic>
        <p:nvPicPr>
          <p:cNvPr id="43038" name="Picture 30" descr="MCj00787170000[1]">
            <a:extLst>
              <a:ext uri="{FF2B5EF4-FFF2-40B4-BE49-F238E27FC236}">
                <a16:creationId xmlns:a16="http://schemas.microsoft.com/office/drawing/2014/main" id="{BB4D422B-6ADB-41CC-AF01-91EB0E2F8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300" y="889000"/>
            <a:ext cx="23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6E512BA-5ADB-4DE0-B873-5725B69A21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43676" y="2060575"/>
          <a:ext cx="2779713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52200" imgH="393480" progId="Equation.3">
                  <p:embed/>
                </p:oleObj>
              </mc:Choice>
              <mc:Fallback>
                <p:oleObj name="Equation" r:id="rId12" imgW="952200" imgH="39348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76E512BA-5ADB-4DE0-B873-5725B69A21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3676" y="2060575"/>
                        <a:ext cx="2779713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51B8A-3C7D-4494-A30C-BB5755114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Task- Use sine ratio to find the unknown angle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1F5FAD-81EF-484E-9FF7-A0D4C2FFDD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4596" y="1754038"/>
            <a:ext cx="9276664" cy="492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740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980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an angle of a right angled triangle using trigonometry ratios?</a:t>
            </a:r>
            <a:endParaRPr lang="en-AU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DDA782-FC5A-4D51-AB20-2E80EF505C5A}"/>
              </a:ext>
            </a:extLst>
          </p:cNvPr>
          <p:cNvSpPr txBox="1"/>
          <p:nvPr/>
        </p:nvSpPr>
        <p:spPr>
          <a:xfrm>
            <a:off x="184030" y="2058838"/>
            <a:ext cx="1886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cosine ratio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6EF5E5-74FD-4427-83A1-17D88A266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048" y="1916832"/>
            <a:ext cx="5433720" cy="2624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9AAFC5-771C-408E-AEB1-DA16E196A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048" y="4604551"/>
            <a:ext cx="5433718" cy="197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08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AutoShape 2">
            <a:extLst>
              <a:ext uri="{FF2B5EF4-FFF2-40B4-BE49-F238E27FC236}">
                <a16:creationId xmlns:a16="http://schemas.microsoft.com/office/drawing/2014/main" id="{0B2EEF81-AEBD-4BE4-BC1F-B6637BF0D2F0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449513" y="1219200"/>
            <a:ext cx="1371600" cy="3429000"/>
          </a:xfrm>
          <a:prstGeom prst="rtTriangle">
            <a:avLst/>
          </a:prstGeom>
          <a:solidFill>
            <a:srgbClr val="FF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C08E1E7-ED26-4E48-B1CF-F8F9A2D6E3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762000"/>
          </a:xfrm>
        </p:spPr>
        <p:txBody>
          <a:bodyPr>
            <a:normAutofit/>
          </a:bodyPr>
          <a:lstStyle/>
          <a:p>
            <a:pPr algn="l"/>
            <a:r>
              <a:rPr lang="en-US" altLang="en-US" sz="3200" b="1"/>
              <a:t>Ex. 2: Find </a:t>
            </a:r>
            <a:r>
              <a:rPr lang="en-US" altLang="en-US" sz="3200" b="1">
                <a:sym typeface="Symbol" panose="05050102010706020507" pitchFamily="18" charset="2"/>
              </a:rPr>
              <a:t>.  Round to three decimal places.</a:t>
            </a:r>
            <a:endParaRPr lang="en-US" altLang="en-US" sz="3200" b="1"/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0F0AD0A8-4C30-4EF2-A560-02998D934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1219200"/>
            <a:ext cx="304800" cy="336550"/>
          </a:xfrm>
          <a:prstGeom prst="rect">
            <a:avLst/>
          </a:prstGeom>
          <a:solidFill>
            <a:srgbClr val="FF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3557" name="Text Box 5">
            <a:extLst>
              <a:ext uri="{FF2B5EF4-FFF2-40B4-BE49-F238E27FC236}">
                <a16:creationId xmlns:a16="http://schemas.microsoft.com/office/drawing/2014/main" id="{237D82E4-3CD0-43FF-BA0A-85FD95385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1" y="2362201"/>
            <a:ext cx="12239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23</a:t>
            </a: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36BEA7B7-2BE2-4427-93FD-72C5ACE0C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1" y="685801"/>
            <a:ext cx="10128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7</a:t>
            </a:r>
          </a:p>
        </p:txBody>
      </p:sp>
      <p:sp>
        <p:nvSpPr>
          <p:cNvPr id="23559" name="Text Box 7">
            <a:extLst>
              <a:ext uri="{FF2B5EF4-FFF2-40B4-BE49-F238E27FC236}">
                <a16:creationId xmlns:a16="http://schemas.microsoft.com/office/drawing/2014/main" id="{DB1C1142-89C0-46D3-9DC6-FF1B63347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6172201"/>
            <a:ext cx="75438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i="1"/>
              <a:t>Make sure you are in degree mode (not radians).</a:t>
            </a:r>
          </a:p>
        </p:txBody>
      </p:sp>
      <p:graphicFrame>
        <p:nvGraphicFramePr>
          <p:cNvPr id="41993" name="Object 9">
            <a:extLst>
              <a:ext uri="{FF2B5EF4-FFF2-40B4-BE49-F238E27FC236}">
                <a16:creationId xmlns:a16="http://schemas.microsoft.com/office/drawing/2014/main" id="{39533A2F-F337-4BCF-B745-DC3D92984B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29275" y="774700"/>
          <a:ext cx="1963738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72840" imgH="393480" progId="Equation.3">
                  <p:embed/>
                </p:oleObj>
              </mc:Choice>
              <mc:Fallback>
                <p:oleObj name="Equation" r:id="rId3" imgW="672840" imgH="393480" progId="Equation.3">
                  <p:embed/>
                  <p:pic>
                    <p:nvPicPr>
                      <p:cNvPr id="41993" name="Object 9">
                        <a:extLst>
                          <a:ext uri="{FF2B5EF4-FFF2-40B4-BE49-F238E27FC236}">
                            <a16:creationId xmlns:a16="http://schemas.microsoft.com/office/drawing/2014/main" id="{39533A2F-F337-4BCF-B745-DC3D92984B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275" y="774700"/>
                        <a:ext cx="1963738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10">
            <a:extLst>
              <a:ext uri="{FF2B5EF4-FFF2-40B4-BE49-F238E27FC236}">
                <a16:creationId xmlns:a16="http://schemas.microsoft.com/office/drawing/2014/main" id="{895A0BAE-EDDF-4DCB-8140-0976D45FBB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87638" y="1219200"/>
          <a:ext cx="43656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6725" imgH="177415" progId="Equation.3">
                  <p:embed/>
                </p:oleObj>
              </mc:Choice>
              <mc:Fallback>
                <p:oleObj name="Equation" r:id="rId5" imgW="126725" imgH="177415" progId="Equation.3">
                  <p:embed/>
                  <p:pic>
                    <p:nvPicPr>
                      <p:cNvPr id="23561" name="Object 10">
                        <a:extLst>
                          <a:ext uri="{FF2B5EF4-FFF2-40B4-BE49-F238E27FC236}">
                            <a16:creationId xmlns:a16="http://schemas.microsoft.com/office/drawing/2014/main" id="{895A0BAE-EDDF-4DCB-8140-0976D45FBB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8" y="1219200"/>
                        <a:ext cx="43656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95" name="Group 11">
            <a:extLst>
              <a:ext uri="{FF2B5EF4-FFF2-40B4-BE49-F238E27FC236}">
                <a16:creationId xmlns:a16="http://schemas.microsoft.com/office/drawing/2014/main" id="{46621C4B-A33D-4758-8E53-0F5392723231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1905000"/>
            <a:ext cx="1219200" cy="762000"/>
            <a:chOff x="2400" y="1632"/>
            <a:chExt cx="768" cy="480"/>
          </a:xfrm>
        </p:grpSpPr>
        <p:sp>
          <p:nvSpPr>
            <p:cNvPr id="23581" name="AutoShape 1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5F89CEB-07C4-450C-A015-2A8261EBE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680"/>
              <a:ext cx="768" cy="432"/>
            </a:xfrm>
            <a:prstGeom prst="actionButtonBlank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3582" name="Text Box 13">
              <a:extLst>
                <a:ext uri="{FF2B5EF4-FFF2-40B4-BE49-F238E27FC236}">
                  <a16:creationId xmlns:a16="http://schemas.microsoft.com/office/drawing/2014/main" id="{4FF67006-A16E-4101-B3B0-0068CDB5AA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632"/>
              <a:ext cx="62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/>
                <a:t>2</a:t>
              </a:r>
              <a:r>
                <a:rPr lang="en-US" altLang="en-US" sz="4400" baseline="30000"/>
                <a:t>nd</a:t>
              </a:r>
              <a:r>
                <a:rPr lang="en-US" altLang="en-US" sz="4400"/>
                <a:t> </a:t>
              </a:r>
            </a:p>
          </p:txBody>
        </p:sp>
      </p:grpSp>
      <p:grpSp>
        <p:nvGrpSpPr>
          <p:cNvPr id="41998" name="Group 14">
            <a:extLst>
              <a:ext uri="{FF2B5EF4-FFF2-40B4-BE49-F238E27FC236}">
                <a16:creationId xmlns:a16="http://schemas.microsoft.com/office/drawing/2014/main" id="{70FFBCD0-2567-47C6-8C8F-AE2C620615D0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1905000"/>
            <a:ext cx="1295400" cy="769938"/>
            <a:chOff x="3216" y="1632"/>
            <a:chExt cx="816" cy="485"/>
          </a:xfrm>
        </p:grpSpPr>
        <p:sp>
          <p:nvSpPr>
            <p:cNvPr id="23579" name="AutoShape 1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F86F1424-931D-484B-9366-E207D768F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3580" name="Text Box 16">
              <a:extLst>
                <a:ext uri="{FF2B5EF4-FFF2-40B4-BE49-F238E27FC236}">
                  <a16:creationId xmlns:a16="http://schemas.microsoft.com/office/drawing/2014/main" id="{423E75F9-1BF9-4B47-85C9-4A4DB96222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632"/>
              <a:ext cx="816" cy="4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>
                  <a:solidFill>
                    <a:schemeClr val="bg1"/>
                  </a:solidFill>
                </a:rPr>
                <a:t>cos </a:t>
              </a:r>
            </a:p>
          </p:txBody>
        </p:sp>
      </p:grpSp>
      <p:grpSp>
        <p:nvGrpSpPr>
          <p:cNvPr id="42001" name="Group 17">
            <a:extLst>
              <a:ext uri="{FF2B5EF4-FFF2-40B4-BE49-F238E27FC236}">
                <a16:creationId xmlns:a16="http://schemas.microsoft.com/office/drawing/2014/main" id="{30671AC4-C44F-4258-8B3B-D1EA0D4541AA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1981200"/>
            <a:ext cx="838200" cy="685800"/>
            <a:chOff x="3840" y="1248"/>
            <a:chExt cx="768" cy="432"/>
          </a:xfrm>
        </p:grpSpPr>
        <p:sp>
          <p:nvSpPr>
            <p:cNvPr id="23577" name="AutoShape 1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4949C89C-8619-4DCA-ADAC-384E65667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3578" name="Text Box 19">
              <a:extLst>
                <a:ext uri="{FF2B5EF4-FFF2-40B4-BE49-F238E27FC236}">
                  <a16:creationId xmlns:a16="http://schemas.microsoft.com/office/drawing/2014/main" id="{C1334EC9-EF24-4637-9FD7-3A4E0BEAA9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7 </a:t>
              </a:r>
            </a:p>
          </p:txBody>
        </p:sp>
      </p:grpSp>
      <p:grpSp>
        <p:nvGrpSpPr>
          <p:cNvPr id="42004" name="Group 20">
            <a:extLst>
              <a:ext uri="{FF2B5EF4-FFF2-40B4-BE49-F238E27FC236}">
                <a16:creationId xmlns:a16="http://schemas.microsoft.com/office/drawing/2014/main" id="{BB8446E0-4682-459F-8708-F8C0D5D81A8A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1981200"/>
            <a:ext cx="838200" cy="609600"/>
            <a:chOff x="4656" y="1248"/>
            <a:chExt cx="528" cy="384"/>
          </a:xfrm>
        </p:grpSpPr>
        <p:sp>
          <p:nvSpPr>
            <p:cNvPr id="23575" name="AutoShape 21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A97E2A5-A310-4DC9-A6BD-926A26E5A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248"/>
              <a:ext cx="528" cy="384"/>
            </a:xfrm>
            <a:prstGeom prst="actionButtonBlank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graphicFrame>
          <p:nvGraphicFramePr>
            <p:cNvPr id="23576" name="Object 22">
              <a:extLst>
                <a:ext uri="{FF2B5EF4-FFF2-40B4-BE49-F238E27FC236}">
                  <a16:creationId xmlns:a16="http://schemas.microsoft.com/office/drawing/2014/main" id="{9D8FA085-40FE-40E4-92B8-73928A4312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0" y="1248"/>
            <a:ext cx="37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26725" imgH="126725" progId="Equation.3">
                    <p:embed/>
                  </p:oleObj>
                </mc:Choice>
                <mc:Fallback>
                  <p:oleObj name="Equation" r:id="rId7" imgW="126725" imgH="126725" progId="Equation.3">
                    <p:embed/>
                    <p:pic>
                      <p:nvPicPr>
                        <p:cNvPr id="23576" name="Object 22">
                          <a:extLst>
                            <a:ext uri="{FF2B5EF4-FFF2-40B4-BE49-F238E27FC236}">
                              <a16:creationId xmlns:a16="http://schemas.microsoft.com/office/drawing/2014/main" id="{9D8FA085-40FE-40E4-92B8-73928A4312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0" y="1248"/>
                          <a:ext cx="376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007" name="Group 23">
            <a:extLst>
              <a:ext uri="{FF2B5EF4-FFF2-40B4-BE49-F238E27FC236}">
                <a16:creationId xmlns:a16="http://schemas.microsoft.com/office/drawing/2014/main" id="{5FF94DDB-D732-4505-8198-B6B55BA6032F}"/>
              </a:ext>
            </a:extLst>
          </p:cNvPr>
          <p:cNvGrpSpPr>
            <a:grpSpLocks/>
          </p:cNvGrpSpPr>
          <p:nvPr/>
        </p:nvGrpSpPr>
        <p:grpSpPr bwMode="auto">
          <a:xfrm>
            <a:off x="8686800" y="1981200"/>
            <a:ext cx="1066800" cy="685800"/>
            <a:chOff x="5232" y="1248"/>
            <a:chExt cx="480" cy="432"/>
          </a:xfrm>
        </p:grpSpPr>
        <p:sp>
          <p:nvSpPr>
            <p:cNvPr id="23573" name="AutoShape 2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1F055D8B-E4ED-4969-B9C7-ED91D18C9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3574" name="Text Box 25">
              <a:extLst>
                <a:ext uri="{FF2B5EF4-FFF2-40B4-BE49-F238E27FC236}">
                  <a16:creationId xmlns:a16="http://schemas.microsoft.com/office/drawing/2014/main" id="{7A8CBBDC-0B44-4BD9-ADAB-57591A3FED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23</a:t>
              </a:r>
            </a:p>
          </p:txBody>
        </p:sp>
      </p:grpSp>
      <p:graphicFrame>
        <p:nvGraphicFramePr>
          <p:cNvPr id="42010" name="Object 26">
            <a:extLst>
              <a:ext uri="{FF2B5EF4-FFF2-40B4-BE49-F238E27FC236}">
                <a16:creationId xmlns:a16="http://schemas.microsoft.com/office/drawing/2014/main" id="{0ABCE73E-A50E-4502-9915-D837C8ECD2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7826" y="3505201"/>
          <a:ext cx="442277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61669" imgH="177723" progId="Equation.3">
                  <p:embed/>
                </p:oleObj>
              </mc:Choice>
              <mc:Fallback>
                <p:oleObj name="Equation" r:id="rId9" imgW="761669" imgH="177723" progId="Equation.3">
                  <p:embed/>
                  <p:pic>
                    <p:nvPicPr>
                      <p:cNvPr id="42010" name="Object 26">
                        <a:extLst>
                          <a:ext uri="{FF2B5EF4-FFF2-40B4-BE49-F238E27FC236}">
                            <a16:creationId xmlns:a16="http://schemas.microsoft.com/office/drawing/2014/main" id="{0ABCE73E-A50E-4502-9915-D837C8ECD2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7826" y="3505201"/>
                        <a:ext cx="4422775" cy="103346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011" name="Group 27">
            <a:extLst>
              <a:ext uri="{FF2B5EF4-FFF2-40B4-BE49-F238E27FC236}">
                <a16:creationId xmlns:a16="http://schemas.microsoft.com/office/drawing/2014/main" id="{D42F139A-F167-4975-AA34-7D94539FD156}"/>
              </a:ext>
            </a:extLst>
          </p:cNvPr>
          <p:cNvGrpSpPr>
            <a:grpSpLocks/>
          </p:cNvGrpSpPr>
          <p:nvPr/>
        </p:nvGrpSpPr>
        <p:grpSpPr bwMode="auto">
          <a:xfrm>
            <a:off x="9829800" y="1981200"/>
            <a:ext cx="762000" cy="685800"/>
            <a:chOff x="5232" y="1248"/>
            <a:chExt cx="480" cy="432"/>
          </a:xfrm>
        </p:grpSpPr>
        <p:sp>
          <p:nvSpPr>
            <p:cNvPr id="23571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194B599-2C9C-47ED-B91F-9D543D76E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3572" name="Text Box 29">
              <a:extLst>
                <a:ext uri="{FF2B5EF4-FFF2-40B4-BE49-F238E27FC236}">
                  <a16:creationId xmlns:a16="http://schemas.microsoft.com/office/drawing/2014/main" id="{ED9C5A25-FB1A-45BD-B25F-2C70C15A9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)</a:t>
              </a:r>
            </a:p>
          </p:txBody>
        </p:sp>
      </p:grpSp>
      <p:pic>
        <p:nvPicPr>
          <p:cNvPr id="42015" name="Picture 31" descr="MCj00787170000[1]">
            <a:extLst>
              <a:ext uri="{FF2B5EF4-FFF2-40B4-BE49-F238E27FC236}">
                <a16:creationId xmlns:a16="http://schemas.microsoft.com/office/drawing/2014/main" id="{B91D899C-178D-4346-B4AD-B69970521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589214" y="1193800"/>
            <a:ext cx="230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281C7BE-CE04-4C45-AE7F-C6052451EB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61289" y="755650"/>
          <a:ext cx="2630487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01440" imgH="393480" progId="Equation.3">
                  <p:embed/>
                </p:oleObj>
              </mc:Choice>
              <mc:Fallback>
                <p:oleObj name="Equation" r:id="rId12" imgW="901440" imgH="39348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F281C7BE-CE04-4C45-AE7F-C6052451EB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1289" y="755650"/>
                        <a:ext cx="2630487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2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84ECF1A-68C5-49E6-8B1B-51BE1DFAE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5208" y="1851805"/>
            <a:ext cx="9415708" cy="48348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15383A1-13C3-4EFF-A87E-C42CF12AF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AU"/>
              <a:t>Task- Same </a:t>
            </a:r>
            <a:r>
              <a:rPr lang="en-AU" dirty="0"/>
              <a:t>set as before but this time….Use cosine ratio to find the unknown angle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5587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28192" y="332620"/>
            <a:ext cx="2980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an angle of a right angled triangle using trigonometry ratios?</a:t>
            </a:r>
            <a:endParaRPr lang="en-AU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0C1D04-71B0-4F49-B26B-289C1EF7B5A5}"/>
              </a:ext>
            </a:extLst>
          </p:cNvPr>
          <p:cNvSpPr txBox="1"/>
          <p:nvPr/>
        </p:nvSpPr>
        <p:spPr>
          <a:xfrm>
            <a:off x="119336" y="2070340"/>
            <a:ext cx="2209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tangent ratio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84F28F-4F25-4891-B01F-47BA9A31EB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17"/>
          <a:stretch/>
        </p:blipFill>
        <p:spPr>
          <a:xfrm>
            <a:off x="2524779" y="1984274"/>
            <a:ext cx="5474007" cy="22905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A8104D-B964-4218-B1ED-FCC4C14069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17" b="1"/>
          <a:stretch/>
        </p:blipFill>
        <p:spPr>
          <a:xfrm>
            <a:off x="2530905" y="4393721"/>
            <a:ext cx="5426450" cy="171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9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0E49E95-6D82-4C01-AC4C-5CFFA8458E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-9525"/>
            <a:ext cx="9144000" cy="762000"/>
          </a:xfrm>
        </p:spPr>
        <p:txBody>
          <a:bodyPr>
            <a:normAutofit/>
          </a:bodyPr>
          <a:lstStyle/>
          <a:p>
            <a:pPr algn="l"/>
            <a:r>
              <a:rPr lang="en-US" altLang="en-US" sz="3200" b="1"/>
              <a:t>Ex. 1: Find </a:t>
            </a:r>
            <a:r>
              <a:rPr lang="en-US" altLang="en-US" sz="3200" b="1">
                <a:sym typeface="Symbol" panose="05050102010706020507" pitchFamily="18" charset="2"/>
              </a:rPr>
              <a:t>.  Round to four decimal places.</a:t>
            </a:r>
            <a:endParaRPr lang="en-US" altLang="en-US" sz="3200" b="1"/>
          </a:p>
        </p:txBody>
      </p:sp>
      <p:sp>
        <p:nvSpPr>
          <p:cNvPr id="22531" name="AutoShape 3">
            <a:extLst>
              <a:ext uri="{FF2B5EF4-FFF2-40B4-BE49-F238E27FC236}">
                <a16:creationId xmlns:a16="http://schemas.microsoft.com/office/drawing/2014/main" id="{DB487FBD-E8E8-4A84-B238-973605E5D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685800"/>
            <a:ext cx="2286000" cy="3200400"/>
          </a:xfrm>
          <a:prstGeom prst="rtTriangle">
            <a:avLst/>
          </a:prstGeom>
          <a:solidFill>
            <a:srgbClr val="99FF33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958D9B2C-74D9-44C3-8DD2-2B65501C8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6975" y="3549650"/>
            <a:ext cx="304800" cy="336550"/>
          </a:xfrm>
          <a:prstGeom prst="rect">
            <a:avLst/>
          </a:prstGeom>
          <a:solidFill>
            <a:srgbClr val="99FF33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6C32CB6B-3224-45B6-9679-0263F86E8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1" y="4006851"/>
            <a:ext cx="12239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9</a:t>
            </a:r>
          </a:p>
        </p:txBody>
      </p:sp>
      <p:sp>
        <p:nvSpPr>
          <p:cNvPr id="22534" name="Text Box 6">
            <a:extLst>
              <a:ext uri="{FF2B5EF4-FFF2-40B4-BE49-F238E27FC236}">
                <a16:creationId xmlns:a16="http://schemas.microsoft.com/office/drawing/2014/main" id="{E83CC6A7-EF5E-4A7F-8FC7-2F858D684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6551" y="2243139"/>
            <a:ext cx="10128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17.2</a:t>
            </a:r>
          </a:p>
        </p:txBody>
      </p:sp>
      <p:sp>
        <p:nvSpPr>
          <p:cNvPr id="22535" name="Rectangle 8">
            <a:extLst>
              <a:ext uri="{FF2B5EF4-FFF2-40B4-BE49-F238E27FC236}">
                <a16:creationId xmlns:a16="http://schemas.microsoft.com/office/drawing/2014/main" id="{7A866E7B-5519-44EB-9CB4-F20735988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352800"/>
            <a:ext cx="1524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graphicFrame>
        <p:nvGraphicFramePr>
          <p:cNvPr id="40969" name="Object 9">
            <a:extLst>
              <a:ext uri="{FF2B5EF4-FFF2-40B4-BE49-F238E27FC236}">
                <a16:creationId xmlns:a16="http://schemas.microsoft.com/office/drawing/2014/main" id="{6E86AFB2-94D0-4F7E-A15B-2A58FC0EF6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37100" y="755650"/>
          <a:ext cx="2260600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74364" imgH="393529" progId="Equation.3">
                  <p:embed/>
                </p:oleObj>
              </mc:Choice>
              <mc:Fallback>
                <p:oleObj name="Equation" r:id="rId3" imgW="774364" imgH="393529" progId="Equation.3">
                  <p:embed/>
                  <p:pic>
                    <p:nvPicPr>
                      <p:cNvPr id="40969" name="Object 9">
                        <a:extLst>
                          <a:ext uri="{FF2B5EF4-FFF2-40B4-BE49-F238E27FC236}">
                            <a16:creationId xmlns:a16="http://schemas.microsoft.com/office/drawing/2014/main" id="{6E86AFB2-94D0-4F7E-A15B-2A58FC0EF6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755650"/>
                        <a:ext cx="2260600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10">
            <a:extLst>
              <a:ext uri="{FF2B5EF4-FFF2-40B4-BE49-F238E27FC236}">
                <a16:creationId xmlns:a16="http://schemas.microsoft.com/office/drawing/2014/main" id="{59F47D07-CEED-4D8E-BF3F-9458403904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13189" y="3200401"/>
          <a:ext cx="554037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6725" imgH="177415" progId="Equation.3">
                  <p:embed/>
                </p:oleObj>
              </mc:Choice>
              <mc:Fallback>
                <p:oleObj name="Equation" r:id="rId5" imgW="126725" imgH="177415" progId="Equation.3">
                  <p:embed/>
                  <p:pic>
                    <p:nvPicPr>
                      <p:cNvPr id="22537" name="Object 10">
                        <a:extLst>
                          <a:ext uri="{FF2B5EF4-FFF2-40B4-BE49-F238E27FC236}">
                            <a16:creationId xmlns:a16="http://schemas.microsoft.com/office/drawing/2014/main" id="{59F47D07-CEED-4D8E-BF3F-9458403904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3189" y="3200401"/>
                        <a:ext cx="554037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71" name="Group 11">
            <a:extLst>
              <a:ext uri="{FF2B5EF4-FFF2-40B4-BE49-F238E27FC236}">
                <a16:creationId xmlns:a16="http://schemas.microsoft.com/office/drawing/2014/main" id="{77C7CB8E-601E-4677-B047-7A0F84ED9549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905000"/>
            <a:ext cx="1219200" cy="762000"/>
            <a:chOff x="2400" y="1632"/>
            <a:chExt cx="768" cy="480"/>
          </a:xfrm>
        </p:grpSpPr>
        <p:sp>
          <p:nvSpPr>
            <p:cNvPr id="22559" name="AutoShape 1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5AC23442-A5CE-4495-9905-A511FE584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680"/>
              <a:ext cx="768" cy="432"/>
            </a:xfrm>
            <a:prstGeom prst="actionButtonBlank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2560" name="Text Box 13">
              <a:extLst>
                <a:ext uri="{FF2B5EF4-FFF2-40B4-BE49-F238E27FC236}">
                  <a16:creationId xmlns:a16="http://schemas.microsoft.com/office/drawing/2014/main" id="{1BA7746F-37E8-4C26-98E0-5971128D6B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632"/>
              <a:ext cx="62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/>
                <a:t>2</a:t>
              </a:r>
              <a:r>
                <a:rPr lang="en-US" altLang="en-US" sz="4400" baseline="30000"/>
                <a:t>nd</a:t>
              </a:r>
              <a:r>
                <a:rPr lang="en-US" altLang="en-US" sz="4400"/>
                <a:t> </a:t>
              </a:r>
            </a:p>
          </p:txBody>
        </p:sp>
      </p:grpSp>
      <p:grpSp>
        <p:nvGrpSpPr>
          <p:cNvPr id="40974" name="Group 14">
            <a:extLst>
              <a:ext uri="{FF2B5EF4-FFF2-40B4-BE49-F238E27FC236}">
                <a16:creationId xmlns:a16="http://schemas.microsoft.com/office/drawing/2014/main" id="{0ECBC2AB-48D1-4AC3-ABA6-470FC54395E1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905000"/>
            <a:ext cx="1219200" cy="762000"/>
            <a:chOff x="3216" y="1632"/>
            <a:chExt cx="768" cy="480"/>
          </a:xfrm>
        </p:grpSpPr>
        <p:sp>
          <p:nvSpPr>
            <p:cNvPr id="22557" name="AutoShape 1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E38F8077-6E1B-4B24-A98F-C3538A491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2558" name="Text Box 16">
              <a:extLst>
                <a:ext uri="{FF2B5EF4-FFF2-40B4-BE49-F238E27FC236}">
                  <a16:creationId xmlns:a16="http://schemas.microsoft.com/office/drawing/2014/main" id="{A8ECC1C1-6A42-444E-B29F-5021B4567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632"/>
              <a:ext cx="67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>
                  <a:solidFill>
                    <a:schemeClr val="bg1"/>
                  </a:solidFill>
                </a:rPr>
                <a:t>tan </a:t>
              </a:r>
            </a:p>
          </p:txBody>
        </p:sp>
      </p:grpSp>
      <p:grpSp>
        <p:nvGrpSpPr>
          <p:cNvPr id="40977" name="Group 17">
            <a:extLst>
              <a:ext uri="{FF2B5EF4-FFF2-40B4-BE49-F238E27FC236}">
                <a16:creationId xmlns:a16="http://schemas.microsoft.com/office/drawing/2014/main" id="{266FF05F-3342-410B-AE38-A2E1EFB732F5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1981200"/>
            <a:ext cx="1219200" cy="685800"/>
            <a:chOff x="3840" y="1248"/>
            <a:chExt cx="768" cy="432"/>
          </a:xfrm>
        </p:grpSpPr>
        <p:sp>
          <p:nvSpPr>
            <p:cNvPr id="22555" name="AutoShape 1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21F12EE-66D4-439B-9727-529AEA8B4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2556" name="Text Box 19">
              <a:extLst>
                <a:ext uri="{FF2B5EF4-FFF2-40B4-BE49-F238E27FC236}">
                  <a16:creationId xmlns:a16="http://schemas.microsoft.com/office/drawing/2014/main" id="{03E503B5-8C28-43D1-A776-5623CBD992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17.2 </a:t>
              </a:r>
            </a:p>
          </p:txBody>
        </p:sp>
      </p:grpSp>
      <p:grpSp>
        <p:nvGrpSpPr>
          <p:cNvPr id="40980" name="Group 20">
            <a:extLst>
              <a:ext uri="{FF2B5EF4-FFF2-40B4-BE49-F238E27FC236}">
                <a16:creationId xmlns:a16="http://schemas.microsoft.com/office/drawing/2014/main" id="{1258EA32-C4FF-4C78-BEC0-B8D2AE99886A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1981200"/>
            <a:ext cx="838200" cy="609600"/>
            <a:chOff x="4656" y="1248"/>
            <a:chExt cx="528" cy="384"/>
          </a:xfrm>
        </p:grpSpPr>
        <p:sp>
          <p:nvSpPr>
            <p:cNvPr id="22553" name="AutoShape 21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B3A7DDC8-2599-446D-9879-27BA27514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248"/>
              <a:ext cx="528" cy="384"/>
            </a:xfrm>
            <a:prstGeom prst="actionButtonBlank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graphicFrame>
          <p:nvGraphicFramePr>
            <p:cNvPr id="22554" name="Object 22">
              <a:extLst>
                <a:ext uri="{FF2B5EF4-FFF2-40B4-BE49-F238E27FC236}">
                  <a16:creationId xmlns:a16="http://schemas.microsoft.com/office/drawing/2014/main" id="{FB175ED5-6DD1-4E92-A7EE-FEEAE84CF7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0" y="1248"/>
            <a:ext cx="37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26725" imgH="126725" progId="Equation.3">
                    <p:embed/>
                  </p:oleObj>
                </mc:Choice>
                <mc:Fallback>
                  <p:oleObj name="Equation" r:id="rId7" imgW="126725" imgH="126725" progId="Equation.3">
                    <p:embed/>
                    <p:pic>
                      <p:nvPicPr>
                        <p:cNvPr id="22554" name="Object 22">
                          <a:extLst>
                            <a:ext uri="{FF2B5EF4-FFF2-40B4-BE49-F238E27FC236}">
                              <a16:creationId xmlns:a16="http://schemas.microsoft.com/office/drawing/2014/main" id="{FB175ED5-6DD1-4E92-A7EE-FEEAE84CF7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0" y="1248"/>
                          <a:ext cx="376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983" name="Group 23">
            <a:extLst>
              <a:ext uri="{FF2B5EF4-FFF2-40B4-BE49-F238E27FC236}">
                <a16:creationId xmlns:a16="http://schemas.microsoft.com/office/drawing/2014/main" id="{F6EC0277-867D-439A-A1DB-4C973CE30F7B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1981200"/>
            <a:ext cx="762000" cy="685800"/>
            <a:chOff x="5232" y="1248"/>
            <a:chExt cx="480" cy="432"/>
          </a:xfrm>
        </p:grpSpPr>
        <p:sp>
          <p:nvSpPr>
            <p:cNvPr id="22551" name="AutoShape 2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BDD8CC29-96AE-47AF-88DA-A5C110637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2552" name="Text Box 25">
              <a:extLst>
                <a:ext uri="{FF2B5EF4-FFF2-40B4-BE49-F238E27FC236}">
                  <a16:creationId xmlns:a16="http://schemas.microsoft.com/office/drawing/2014/main" id="{46FD4D33-294C-48C5-AE73-DF99FB9468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9</a:t>
              </a:r>
            </a:p>
          </p:txBody>
        </p:sp>
      </p:grpSp>
      <p:graphicFrame>
        <p:nvGraphicFramePr>
          <p:cNvPr id="40986" name="Object 26">
            <a:extLst>
              <a:ext uri="{FF2B5EF4-FFF2-40B4-BE49-F238E27FC236}">
                <a16:creationId xmlns:a16="http://schemas.microsoft.com/office/drawing/2014/main" id="{D9DF5CD4-7CFA-498F-B4C6-92FAD4C464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2250" y="3429001"/>
          <a:ext cx="4864100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37836" imgH="177723" progId="Equation.3">
                  <p:embed/>
                </p:oleObj>
              </mc:Choice>
              <mc:Fallback>
                <p:oleObj name="Equation" r:id="rId9" imgW="837836" imgH="177723" progId="Equation.3">
                  <p:embed/>
                  <p:pic>
                    <p:nvPicPr>
                      <p:cNvPr id="40986" name="Object 26">
                        <a:extLst>
                          <a:ext uri="{FF2B5EF4-FFF2-40B4-BE49-F238E27FC236}">
                            <a16:creationId xmlns:a16="http://schemas.microsoft.com/office/drawing/2014/main" id="{D9DF5CD4-7CFA-498F-B4C6-92FAD4C464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0" y="3429001"/>
                        <a:ext cx="4864100" cy="103346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87" name="Group 27">
            <a:extLst>
              <a:ext uri="{FF2B5EF4-FFF2-40B4-BE49-F238E27FC236}">
                <a16:creationId xmlns:a16="http://schemas.microsoft.com/office/drawing/2014/main" id="{11C69A92-6230-46C8-A1CE-185C737294CC}"/>
              </a:ext>
            </a:extLst>
          </p:cNvPr>
          <p:cNvGrpSpPr>
            <a:grpSpLocks/>
          </p:cNvGrpSpPr>
          <p:nvPr/>
        </p:nvGrpSpPr>
        <p:grpSpPr bwMode="auto">
          <a:xfrm>
            <a:off x="9601200" y="1981200"/>
            <a:ext cx="762000" cy="685800"/>
            <a:chOff x="5232" y="1248"/>
            <a:chExt cx="480" cy="432"/>
          </a:xfrm>
        </p:grpSpPr>
        <p:sp>
          <p:nvSpPr>
            <p:cNvPr id="22549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72DA8226-CF08-4FA9-9EFC-097D87CD3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2550" name="Text Box 29">
              <a:extLst>
                <a:ext uri="{FF2B5EF4-FFF2-40B4-BE49-F238E27FC236}">
                  <a16:creationId xmlns:a16="http://schemas.microsoft.com/office/drawing/2014/main" id="{2CABF3CB-D8E7-4957-B705-F09B31628D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)</a:t>
              </a:r>
            </a:p>
          </p:txBody>
        </p:sp>
      </p:grpSp>
      <p:sp>
        <p:nvSpPr>
          <p:cNvPr id="40990" name="Text Box 30">
            <a:extLst>
              <a:ext uri="{FF2B5EF4-FFF2-40B4-BE49-F238E27FC236}">
                <a16:creationId xmlns:a16="http://schemas.microsoft.com/office/drawing/2014/main" id="{9917EA65-25CC-4E71-AE32-94AE15237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664075"/>
            <a:ext cx="6172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40991" name="Picture 31" descr="MCj00787170000[1]">
            <a:extLst>
              <a:ext uri="{FF2B5EF4-FFF2-40B4-BE49-F238E27FC236}">
                <a16:creationId xmlns:a16="http://schemas.microsoft.com/office/drawing/2014/main" id="{FC04AD2C-BB7F-41BB-871A-AFD1B875B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714" y="3429000"/>
            <a:ext cx="230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2" name="Text Box 32">
            <a:extLst>
              <a:ext uri="{FF2B5EF4-FFF2-40B4-BE49-F238E27FC236}">
                <a16:creationId xmlns:a16="http://schemas.microsoft.com/office/drawing/2014/main" id="{288AA737-5DA1-4417-ABC8-A7796D442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426076"/>
            <a:ext cx="6400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4003A18-E799-45C0-91F2-F4081FDD0B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8675" y="755650"/>
          <a:ext cx="2890838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90360" imgH="393480" progId="Equation.3">
                  <p:embed/>
                </p:oleObj>
              </mc:Choice>
              <mc:Fallback>
                <p:oleObj name="Equation" r:id="rId12" imgW="990360" imgH="39348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D4003A18-E799-45C0-91F2-F4081FDD0B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8675" y="755650"/>
                        <a:ext cx="2890838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40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0" grpId="0"/>
      <p:bldP spid="4099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CD068-BDAC-4990-98B1-C6B00B112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C0422B9-07E8-4CDA-BEE5-D54E5A549B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3365" y="2057401"/>
            <a:ext cx="9751622" cy="457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82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</Words>
  <Application>Microsoft Office PowerPoint</Application>
  <PresentationFormat>Widescreen</PresentationFormat>
  <Paragraphs>68</Paragraphs>
  <Slides>11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Century Gothic</vt:lpstr>
      <vt:lpstr>Office Theme</vt:lpstr>
      <vt:lpstr>Equation</vt:lpstr>
      <vt:lpstr>Topic: Right-angled triangles</vt:lpstr>
      <vt:lpstr>PowerPoint Presentation</vt:lpstr>
      <vt:lpstr>PowerPoint Presentation</vt:lpstr>
      <vt:lpstr>Ex. 3: Find .  Round to three decimal places.</vt:lpstr>
      <vt:lpstr>Task- Use sine ratio to find the unknown angle</vt:lpstr>
      <vt:lpstr>PowerPoint Presentation</vt:lpstr>
      <vt:lpstr>Ex. 2: Find .  Round to three decimal places.</vt:lpstr>
      <vt:lpstr>Task- Same set as before but this time….Use cosine ratio to find the unknown angle</vt:lpstr>
      <vt:lpstr>PowerPoint Presentation</vt:lpstr>
      <vt:lpstr>Ex. 1: Find .  Round to four decimal places.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Right-angled triangles</dc:title>
  <dc:creator>Sarah JAMES</dc:creator>
  <cp:lastModifiedBy>Sarah JAMES</cp:lastModifiedBy>
  <cp:revision>1</cp:revision>
  <dcterms:created xsi:type="dcterms:W3CDTF">2021-03-02T12:38:35Z</dcterms:created>
  <dcterms:modified xsi:type="dcterms:W3CDTF">2021-03-02T12:39:25Z</dcterms:modified>
</cp:coreProperties>
</file>
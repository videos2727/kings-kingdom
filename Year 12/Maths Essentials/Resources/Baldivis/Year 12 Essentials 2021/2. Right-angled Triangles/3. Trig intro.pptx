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07" r:id="rId2"/>
    <p:sldId id="412" r:id="rId3"/>
    <p:sldId id="279" r:id="rId4"/>
    <p:sldId id="280" r:id="rId5"/>
    <p:sldId id="281" r:id="rId6"/>
    <p:sldId id="348" r:id="rId7"/>
    <p:sldId id="282" r:id="rId8"/>
    <p:sldId id="283" r:id="rId9"/>
    <p:sldId id="284" r:id="rId10"/>
    <p:sldId id="285" r:id="rId11"/>
    <p:sldId id="286" r:id="rId12"/>
    <p:sldId id="287" r:id="rId13"/>
    <p:sldId id="338" r:id="rId14"/>
    <p:sldId id="288" r:id="rId15"/>
    <p:sldId id="289" r:id="rId16"/>
    <p:sldId id="339" r:id="rId17"/>
    <p:sldId id="290" r:id="rId18"/>
    <p:sldId id="291" r:id="rId19"/>
    <p:sldId id="292" r:id="rId20"/>
    <p:sldId id="340" r:id="rId21"/>
    <p:sldId id="350" r:id="rId22"/>
    <p:sldId id="294" r:id="rId23"/>
    <p:sldId id="295" r:id="rId24"/>
    <p:sldId id="297" r:id="rId25"/>
    <p:sldId id="298" r:id="rId26"/>
    <p:sldId id="341" r:id="rId27"/>
    <p:sldId id="342" r:id="rId28"/>
    <p:sldId id="299" r:id="rId29"/>
    <p:sldId id="300" r:id="rId30"/>
    <p:sldId id="301" r:id="rId31"/>
    <p:sldId id="302" r:id="rId32"/>
    <p:sldId id="400" r:id="rId33"/>
    <p:sldId id="405" r:id="rId34"/>
    <p:sldId id="408" r:id="rId35"/>
    <p:sldId id="271" r:id="rId36"/>
    <p:sldId id="406" r:id="rId37"/>
    <p:sldId id="402" r:id="rId38"/>
    <p:sldId id="275" r:id="rId39"/>
    <p:sldId id="276" r:id="rId40"/>
    <p:sldId id="409" r:id="rId41"/>
    <p:sldId id="410" r:id="rId42"/>
    <p:sldId id="41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D028E-31B4-4ADF-B8B3-BE05CE17796D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19B84-E8F6-4A35-86D5-FA817A3595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30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5DEB6B8-1D87-430C-885F-5024209150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7877FB-F64F-4075-9B17-BE5F4459D09C}" type="slidenum">
              <a:rPr lang="en-US" altLang="en-US" b="0"/>
              <a:pPr eaLnBrk="1" hangingPunct="1"/>
              <a:t>35</a:t>
            </a:fld>
            <a:endParaRPr lang="en-US" altLang="en-US" b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7EBBE39-6002-418B-B154-C2594A393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92384BE-2C1C-4D9C-AFF9-B44EB3BDB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0158C16-AC64-430F-A177-F0A137410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BD15FC-C374-4831-9DA3-ECDEA579F9BE}" type="slidenum">
              <a:rPr lang="en-US" altLang="en-US" b="0"/>
              <a:pPr eaLnBrk="1" hangingPunct="1"/>
              <a:t>38</a:t>
            </a:fld>
            <a:endParaRPr lang="en-US" altLang="en-US" b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2C702EA-49E2-4CC5-9DFA-98C8141F03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2A6B2D0-243D-47AC-80F8-CFA812338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5EF8C6D-978C-4A95-9D8A-DC351B6084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DF0119-6803-4D57-9B8F-114829657308}" type="slidenum">
              <a:rPr lang="en-US" altLang="en-US" b="0"/>
              <a:pPr eaLnBrk="1" hangingPunct="1"/>
              <a:t>39</a:t>
            </a:fld>
            <a:endParaRPr lang="en-US" altLang="en-US" b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687380E-226A-46EA-9B17-EB59BE5DA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82FEA80-8885-4EA4-81B2-AE61E2BA8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D592E-DDBC-46AC-96A5-85A311D64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5E48F-9BC7-4A6B-97A6-B004EFCF6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74F0B-6623-4234-B443-97FE170C4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F0764-E31B-435C-87D2-60386603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A34AF-B3EF-4F04-828A-31E19A5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43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F260-6B90-4747-A2D3-C7ECCE4C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DA0C0-44FB-4EF4-9413-07976D4D4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1E1F-771F-46AC-9334-D9A09E1B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E98BA-A125-4B6A-B59E-462B2EB8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A5B37-1028-4009-B21A-B11978D4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62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9D427-EBAD-4BEB-8ED2-4663DE19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CD4AA-9CB1-4440-BC14-0DDBE2776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65788-1024-43E7-96AB-F7F0EB3A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4ECF7-8B35-4AA5-A5E2-DFE0D944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BDE04-54C6-4FF4-B698-EA30CBAD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950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4C4-951F-4183-B923-012046F9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A36E6-8945-4679-A064-A71DBD4A7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6E101-6A28-45FB-B36B-9547DCE9A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09ABB-849F-4FA4-8447-6046BA98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F29FE-37C0-4306-B66F-9D5D4C48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D048F-34E1-4ABD-878E-3F66E413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506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4B8A-EC09-4CEE-9258-EA8451E8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BA8A7-C440-430F-9040-BEACC88CB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ADB8D-7389-49FB-8483-B975FD752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45D2F-9217-408A-839C-D31DE8C2B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926BA-7001-4C6A-971E-96AB37A1C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1AB39-A34A-4A81-AB06-4A27D9F2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1377E-72FC-4099-96A7-F051CE08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ABAA3-DA73-4A3A-8F60-901A7C63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63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205C-F97E-4C35-8075-D5561529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103C11-4F32-4CE2-99CB-41233C94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1EC01-F6EA-4FAC-B6B6-9D6644C0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DD7AE-DF1A-48D1-AEF0-E6060928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56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DAC3E-D4BA-4001-A57E-05979E13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64BD4-0100-47C2-BBB3-236C6928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10CBA-1077-4A9B-9507-0ED618B1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644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E4B3-91FC-42C7-BAE2-74F498EC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4D68-158B-4B4E-9CA0-AF2708834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C09FC-FF3B-4476-860A-2B525B0C8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F3470-9501-41F8-99AE-7061AD54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6F7D9-E082-46FA-8102-8C48F503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99D92-4265-4503-91B2-4D2DC39C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87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9497-9201-4665-AA14-6413B643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8BCCCE-D07D-43E8-8DC8-BBB48FDBE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C80E4-3DBB-48A1-A6E2-CA0AADB48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88DC0-498F-4B22-BB0E-F28FFF07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F805-DD91-4A67-BD76-7DEFD713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E2037-3EAF-4995-BF21-B29443BC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6799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6684-B31A-4C19-8374-733BA677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2952D-3F35-49B6-854B-A8DADC119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A02AC-77B2-4448-91FA-921C8A64F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E11E-09B0-4D8F-A3E0-472E36A5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7BC36-472C-4321-B385-E405F55D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969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37959B-34E3-48DA-81C2-A040030DF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5D6D5-E591-44FD-B681-349B4F2B3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2BE10-B2EF-456B-8321-8C133E68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B4260-CA46-4755-954D-AF2BCED7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3FF79-12CF-4CF1-9E5B-A25BA565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3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39568-2261-4822-A76F-FE0EE596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F68A7-53FF-40A8-9700-1317A9E97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99E34-A96F-431C-B471-0E31672BA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4D729-3278-40D9-B0F4-4BEA6C38103F}" type="datetimeFigureOut">
              <a:rPr lang="en-AU" smtClean="0"/>
              <a:t>2/03/2021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2BF13-A95F-4D66-ABA2-F00853AA6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5ED84-311F-467C-A2DE-95493574E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2666C-D826-4570-9C92-64111C39E6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66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6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1.wmf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0.bin"/><Relationship Id="rId2" Type="http://schemas.openxmlformats.org/officeDocument/2006/relationships/oleObject" Target="../embeddings/oleObject22.bin"/><Relationship Id="rId16" Type="http://schemas.openxmlformats.org/officeDocument/2006/relationships/image" Target="../media/image30.wmf"/><Relationship Id="rId20" Type="http://schemas.openxmlformats.org/officeDocument/2006/relationships/image" Target="../media/image2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oleObject" Target="../embeddings/oleObject27.bin"/><Relationship Id="rId5" Type="http://schemas.openxmlformats.org/officeDocument/2006/relationships/image" Target="../media/image25.wmf"/><Relationship Id="rId15" Type="http://schemas.openxmlformats.org/officeDocument/2006/relationships/oleObject" Target="../embeddings/oleObject29.bin"/><Relationship Id="rId10" Type="http://schemas.openxmlformats.org/officeDocument/2006/relationships/oleObject" Target="../embeddings/oleObject26.bin"/><Relationship Id="rId19" Type="http://schemas.openxmlformats.org/officeDocument/2006/relationships/oleObject" Target="../embeddings/oleObject31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7.wmf"/><Relationship Id="rId14" Type="http://schemas.openxmlformats.org/officeDocument/2006/relationships/image" Target="../media/image29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9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41.bin"/><Relationship Id="rId21" Type="http://schemas.openxmlformats.org/officeDocument/2006/relationships/image" Target="../media/image50.wmf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8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6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Right-Angled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EQ – </a:t>
            </a:r>
            <a:r>
              <a:rPr lang="en-US" b="1" dirty="0"/>
              <a:t>What are the trigonometry ratios of a right angled triangle?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3804F-DC02-4130-A9E9-133AA07687D0}"/>
              </a:ext>
            </a:extLst>
          </p:cNvPr>
          <p:cNvSpPr/>
          <p:nvPr/>
        </p:nvSpPr>
        <p:spPr>
          <a:xfrm>
            <a:off x="2230039" y="2828836"/>
            <a:ext cx="91945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Trigonometry is all about comparing the lengths of two sides of a triangle.  </a:t>
            </a:r>
          </a:p>
          <a:p>
            <a:r>
              <a:rPr lang="en-US" altLang="en-US" dirty="0"/>
              <a:t>When you compare two numbers, that is a </a:t>
            </a:r>
            <a:r>
              <a:rPr lang="en-US" altLang="en-US" i="1" dirty="0"/>
              <a:t>ratio</a:t>
            </a:r>
            <a:r>
              <a:rPr lang="en-US" altLang="en-US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654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A2B1983D-D4AA-442F-8396-ECCD6C160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hlink"/>
          </a:solidFill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</a:sp3d>
        </p:spPr>
        <p:txBody>
          <a:bodyPr rtlCol="0">
            <a:normAutofit/>
            <a:flatTx/>
          </a:bodyPr>
          <a:lstStyle/>
          <a:p>
            <a:pPr>
              <a:defRPr/>
            </a:pP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Trig Ratios</a:t>
            </a:r>
          </a:p>
        </p:txBody>
      </p:sp>
      <p:sp>
        <p:nvSpPr>
          <p:cNvPr id="5123" name="Rectangle 1027">
            <a:extLst>
              <a:ext uri="{FF2B5EF4-FFF2-40B4-BE49-F238E27FC236}">
                <a16:creationId xmlns:a16="http://schemas.microsoft.com/office/drawing/2014/main" id="{95843348-C4B2-472B-BFAF-57873E491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Given this triangle, you can make a ratio of the </a:t>
            </a:r>
            <a:r>
              <a:rPr lang="en-US" altLang="en-US" u="sng"/>
              <a:t>opposite side</a:t>
            </a:r>
            <a:r>
              <a:rPr lang="en-US" altLang="en-US"/>
              <a:t> and the </a:t>
            </a:r>
            <a:r>
              <a:rPr lang="en-US" altLang="en-US" u="sng"/>
              <a:t>hypotenuse</a:t>
            </a:r>
            <a:r>
              <a:rPr lang="en-US" altLang="en-US"/>
              <a:t>.  (Angle </a:t>
            </a:r>
            <a:r>
              <a:rPr lang="en-US" altLang="en-US" i="1"/>
              <a:t>x</a:t>
            </a:r>
            <a:r>
              <a:rPr lang="en-US" altLang="en-US"/>
              <a:t> is the reference angle.)</a:t>
            </a:r>
          </a:p>
        </p:txBody>
      </p:sp>
      <p:grpSp>
        <p:nvGrpSpPr>
          <p:cNvPr id="5124" name="Group 1035">
            <a:extLst>
              <a:ext uri="{FF2B5EF4-FFF2-40B4-BE49-F238E27FC236}">
                <a16:creationId xmlns:a16="http://schemas.microsoft.com/office/drawing/2014/main" id="{3639A5E3-E582-47B3-B4AB-F7B7C9F783E2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91000"/>
            <a:ext cx="3886200" cy="2209800"/>
            <a:chOff x="1968" y="2640"/>
            <a:chExt cx="2448" cy="1392"/>
          </a:xfrm>
        </p:grpSpPr>
        <p:sp>
          <p:nvSpPr>
            <p:cNvPr id="5125" name="AutoShape 1028">
              <a:extLst>
                <a:ext uri="{FF2B5EF4-FFF2-40B4-BE49-F238E27FC236}">
                  <a16:creationId xmlns:a16="http://schemas.microsoft.com/office/drawing/2014/main" id="{19A8C42E-D347-4013-A9CB-3E577BDDC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40"/>
              <a:ext cx="2160" cy="115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5126" name="Rectangle 1030">
              <a:extLst>
                <a:ext uri="{FF2B5EF4-FFF2-40B4-BE49-F238E27FC236}">
                  <a16:creationId xmlns:a16="http://schemas.microsoft.com/office/drawing/2014/main" id="{F6857F3F-1823-4488-BBA7-CD2997D7D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5127" name="Text Box 1031">
              <a:extLst>
                <a:ext uri="{FF2B5EF4-FFF2-40B4-BE49-F238E27FC236}">
                  <a16:creationId xmlns:a16="http://schemas.microsoft.com/office/drawing/2014/main" id="{F7144E26-DAA0-417A-85BB-A6E4D54EB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10cm</a:t>
              </a:r>
            </a:p>
          </p:txBody>
        </p:sp>
        <p:sp>
          <p:nvSpPr>
            <p:cNvPr id="5128" name="Text Box 1032">
              <a:extLst>
                <a:ext uri="{FF2B5EF4-FFF2-40B4-BE49-F238E27FC236}">
                  <a16:creationId xmlns:a16="http://schemas.microsoft.com/office/drawing/2014/main" id="{5D737463-DC2D-46B1-B76F-0AFFA9705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6cm</a:t>
              </a:r>
            </a:p>
          </p:txBody>
        </p:sp>
        <p:sp>
          <p:nvSpPr>
            <p:cNvPr id="5129" name="Text Box 1033">
              <a:extLst>
                <a:ext uri="{FF2B5EF4-FFF2-40B4-BE49-F238E27FC236}">
                  <a16:creationId xmlns:a16="http://schemas.microsoft.com/office/drawing/2014/main" id="{1ABEA53C-0AB3-4A45-AF5C-10E0DD37B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4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8cm</a:t>
              </a:r>
            </a:p>
          </p:txBody>
        </p:sp>
        <p:sp>
          <p:nvSpPr>
            <p:cNvPr id="5130" name="Text Box 1034">
              <a:extLst>
                <a:ext uri="{FF2B5EF4-FFF2-40B4-BE49-F238E27FC236}">
                  <a16:creationId xmlns:a16="http://schemas.microsoft.com/office/drawing/2014/main" id="{CFF50FE8-2D13-40E4-BC4E-27147F084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50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>
                  <a:latin typeface="Times New Roman" panose="02020603050405020304" pitchFamily="18" charset="0"/>
                </a:rPr>
                <a:t>x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C7C7EC2-BA88-4971-93DD-4C4288DD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AD9DB32-BD7C-4F51-8239-0FD87F2D3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The </a:t>
            </a:r>
            <a:r>
              <a:rPr lang="en-US" altLang="en-US" sz="3200" i="1">
                <a:latin typeface="Arial" panose="020B0604020202020204" pitchFamily="34" charset="0"/>
              </a:rPr>
              <a:t>ratio</a:t>
            </a:r>
            <a:r>
              <a:rPr lang="en-US" altLang="en-US" sz="3200">
                <a:latin typeface="Arial" panose="020B0604020202020204" pitchFamily="34" charset="0"/>
              </a:rPr>
              <a:t> of opposite side to hypotenuse is: 6/10   or 0.6.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Knowing the ratio of two specific sides can tell you how big angle </a:t>
            </a:r>
            <a:r>
              <a:rPr lang="en-US" altLang="en-US" sz="3200" i="1">
                <a:latin typeface="Arial" panose="020B0604020202020204" pitchFamily="34" charset="0"/>
              </a:rPr>
              <a:t>x</a:t>
            </a:r>
            <a:r>
              <a:rPr lang="en-US" altLang="en-US" sz="3200">
                <a:latin typeface="Arial" panose="020B0604020202020204" pitchFamily="34" charset="0"/>
              </a:rPr>
              <a:t> is...</a:t>
            </a:r>
          </a:p>
        </p:txBody>
      </p:sp>
      <p:grpSp>
        <p:nvGrpSpPr>
          <p:cNvPr id="6148" name="Group 4">
            <a:extLst>
              <a:ext uri="{FF2B5EF4-FFF2-40B4-BE49-F238E27FC236}">
                <a16:creationId xmlns:a16="http://schemas.microsoft.com/office/drawing/2014/main" id="{CE4AA8E2-FD56-4D83-88C6-CDC3763E0E10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91000"/>
            <a:ext cx="3886200" cy="2209800"/>
            <a:chOff x="1968" y="2640"/>
            <a:chExt cx="2448" cy="1392"/>
          </a:xfrm>
        </p:grpSpPr>
        <p:sp>
          <p:nvSpPr>
            <p:cNvPr id="6149" name="AutoShape 5">
              <a:extLst>
                <a:ext uri="{FF2B5EF4-FFF2-40B4-BE49-F238E27FC236}">
                  <a16:creationId xmlns:a16="http://schemas.microsoft.com/office/drawing/2014/main" id="{8DE9F2A9-ABE6-4F39-817C-F2412E370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40"/>
              <a:ext cx="2160" cy="115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6150" name="Rectangle 6">
              <a:extLst>
                <a:ext uri="{FF2B5EF4-FFF2-40B4-BE49-F238E27FC236}">
                  <a16:creationId xmlns:a16="http://schemas.microsoft.com/office/drawing/2014/main" id="{41034449-F123-43CE-8E8B-B2D936E46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6151" name="Text Box 7">
              <a:extLst>
                <a:ext uri="{FF2B5EF4-FFF2-40B4-BE49-F238E27FC236}">
                  <a16:creationId xmlns:a16="http://schemas.microsoft.com/office/drawing/2014/main" id="{F654F364-9808-4C79-BF10-6598E4B80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10cm</a:t>
              </a:r>
            </a:p>
          </p:txBody>
        </p:sp>
        <p:sp>
          <p:nvSpPr>
            <p:cNvPr id="6152" name="Text Box 8">
              <a:extLst>
                <a:ext uri="{FF2B5EF4-FFF2-40B4-BE49-F238E27FC236}">
                  <a16:creationId xmlns:a16="http://schemas.microsoft.com/office/drawing/2014/main" id="{ADE5CCDC-8E52-4533-9C46-CCA8AC80F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6cm</a:t>
              </a:r>
            </a:p>
          </p:txBody>
        </p:sp>
        <p:sp>
          <p:nvSpPr>
            <p:cNvPr id="6153" name="Text Box 9">
              <a:extLst>
                <a:ext uri="{FF2B5EF4-FFF2-40B4-BE49-F238E27FC236}">
                  <a16:creationId xmlns:a16="http://schemas.microsoft.com/office/drawing/2014/main" id="{3B252C95-5798-4512-9030-ED11AB78E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4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8cm</a:t>
              </a:r>
            </a:p>
          </p:txBody>
        </p:sp>
        <p:sp>
          <p:nvSpPr>
            <p:cNvPr id="6154" name="Text Box 10">
              <a:extLst>
                <a:ext uri="{FF2B5EF4-FFF2-40B4-BE49-F238E27FC236}">
                  <a16:creationId xmlns:a16="http://schemas.microsoft.com/office/drawing/2014/main" id="{69CCB85C-FE5B-4837-92C0-D78C1E616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50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>
                  <a:latin typeface="Times New Roman" panose="02020603050405020304" pitchFamily="18" charset="0"/>
                </a:rPr>
                <a:t>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2EC7221-FAFE-47B6-8EAE-CD0BBE12E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6CBA9CE-E86C-4ED1-A3E7-D4689736F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In this case, an </a:t>
            </a:r>
            <a:r>
              <a:rPr lang="en-US" altLang="en-US" sz="3200" i="1">
                <a:solidFill>
                  <a:schemeClr val="accent2"/>
                </a:solidFill>
                <a:latin typeface="Arial" panose="020B0604020202020204" pitchFamily="34" charset="0"/>
              </a:rPr>
              <a:t>opposite</a:t>
            </a:r>
            <a:r>
              <a:rPr lang="en-US" altLang="en-US" sz="3200" i="1">
                <a:latin typeface="Arial" panose="020B0604020202020204" pitchFamily="34" charset="0"/>
              </a:rPr>
              <a:t>/</a:t>
            </a:r>
            <a:r>
              <a:rPr lang="en-US" altLang="en-US" sz="3200" i="1">
                <a:solidFill>
                  <a:schemeClr val="hlink"/>
                </a:solidFill>
                <a:latin typeface="Arial" panose="020B0604020202020204" pitchFamily="34" charset="0"/>
              </a:rPr>
              <a:t>hypotenuse</a:t>
            </a:r>
            <a:r>
              <a:rPr lang="en-US" altLang="en-US" sz="3200">
                <a:latin typeface="Arial" panose="020B0604020202020204" pitchFamily="34" charset="0"/>
              </a:rPr>
              <a:t> ratio of 0.6 means that the ref. angle is 36.9 degrees.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Don’t worry how you get that answer yet!</a:t>
            </a:r>
          </a:p>
        </p:txBody>
      </p:sp>
      <p:grpSp>
        <p:nvGrpSpPr>
          <p:cNvPr id="7172" name="Group 4">
            <a:extLst>
              <a:ext uri="{FF2B5EF4-FFF2-40B4-BE49-F238E27FC236}">
                <a16:creationId xmlns:a16="http://schemas.microsoft.com/office/drawing/2014/main" id="{A19A85AA-7736-4CEF-94C1-FEBCB494B95B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91000"/>
            <a:ext cx="3886200" cy="2209800"/>
            <a:chOff x="1968" y="2640"/>
            <a:chExt cx="2448" cy="1392"/>
          </a:xfrm>
        </p:grpSpPr>
        <p:sp>
          <p:nvSpPr>
            <p:cNvPr id="7174" name="AutoShape 5">
              <a:extLst>
                <a:ext uri="{FF2B5EF4-FFF2-40B4-BE49-F238E27FC236}">
                  <a16:creationId xmlns:a16="http://schemas.microsoft.com/office/drawing/2014/main" id="{2CBC33BB-1CA0-4B98-8BE0-EC141EF40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40"/>
              <a:ext cx="2160" cy="115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7175" name="Rectangle 6">
              <a:extLst>
                <a:ext uri="{FF2B5EF4-FFF2-40B4-BE49-F238E27FC236}">
                  <a16:creationId xmlns:a16="http://schemas.microsoft.com/office/drawing/2014/main" id="{DA803FE9-CC50-4419-8356-4978B027F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96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7176" name="Text Box 7">
              <a:extLst>
                <a:ext uri="{FF2B5EF4-FFF2-40B4-BE49-F238E27FC236}">
                  <a16:creationId xmlns:a16="http://schemas.microsoft.com/office/drawing/2014/main" id="{CB9E6DDD-56A1-4A52-8062-C426D25E9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10”</a:t>
              </a:r>
            </a:p>
          </p:txBody>
        </p:sp>
        <p:sp>
          <p:nvSpPr>
            <p:cNvPr id="7177" name="Text Box 8">
              <a:extLst>
                <a:ext uri="{FF2B5EF4-FFF2-40B4-BE49-F238E27FC236}">
                  <a16:creationId xmlns:a16="http://schemas.microsoft.com/office/drawing/2014/main" id="{D6D6F66D-4235-4CDF-B805-BE7F70185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07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6”</a:t>
              </a:r>
            </a:p>
          </p:txBody>
        </p:sp>
        <p:sp>
          <p:nvSpPr>
            <p:cNvPr id="7178" name="Text Box 9">
              <a:extLst>
                <a:ext uri="{FF2B5EF4-FFF2-40B4-BE49-F238E27FC236}">
                  <a16:creationId xmlns:a16="http://schemas.microsoft.com/office/drawing/2014/main" id="{F889B5FB-974B-4B94-98B5-A72BE3793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74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8”</a:t>
              </a:r>
            </a:p>
          </p:txBody>
        </p:sp>
        <p:sp>
          <p:nvSpPr>
            <p:cNvPr id="7179" name="Text Box 10">
              <a:extLst>
                <a:ext uri="{FF2B5EF4-FFF2-40B4-BE49-F238E27FC236}">
                  <a16:creationId xmlns:a16="http://schemas.microsoft.com/office/drawing/2014/main" id="{A427E5E7-BD69-47D7-BAEF-BB47ACE8A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504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>
                  <a:latin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30731" name="Text Box 11">
            <a:extLst>
              <a:ext uri="{FF2B5EF4-FFF2-40B4-BE49-F238E27FC236}">
                <a16:creationId xmlns:a16="http://schemas.microsoft.com/office/drawing/2014/main" id="{A77CB674-6D9A-4718-95FC-61C6B3469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6311901"/>
            <a:ext cx="6115050" cy="366713"/>
          </a:xfrm>
          <a:prstGeom prst="rect">
            <a:avLst/>
          </a:prstGeom>
          <a:solidFill>
            <a:srgbClr val="00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i.e.  You would not have that ratio if the angle was different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  <p:bldP spid="307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D2DAD2A-C719-43F4-B8DB-F6907C3C8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Student Activity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F9A467E1-1703-48F5-9F9F-1A69ECA350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In order to participate with the activities discussed in the next several slides you will need a </a:t>
            </a:r>
            <a:r>
              <a:rPr lang="en-US" altLang="en-US" u="sng"/>
              <a:t>protractor</a:t>
            </a:r>
            <a:r>
              <a:rPr lang="en-US" altLang="en-US"/>
              <a:t> and a </a:t>
            </a:r>
            <a:r>
              <a:rPr lang="en-US" altLang="en-US" u="sng"/>
              <a:t>ruler</a:t>
            </a:r>
            <a:r>
              <a:rPr lang="en-US" altLang="en-US"/>
              <a:t> with a metric scale (millimeters).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AD66336-B2F0-45F4-A336-A97C63C9F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733425"/>
            <a:ext cx="8229600" cy="749300"/>
          </a:xfrm>
          <a:solidFill>
            <a:schemeClr val="folHlink"/>
          </a:solidFill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rtlCol="0">
            <a:normAutofit/>
            <a:flatTx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FFFFFF"/>
                  </a:outerShdw>
                </a:effectLst>
              </a:rPr>
              <a:t>Trig Ratios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A095DF2-85E5-4002-895C-421AB977E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8188" y="1690688"/>
            <a:ext cx="8229600" cy="38862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To practice writing trig ratios, make a small table like this:</a:t>
            </a:r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3212B917-48F1-4D16-B9C5-BC91B1B1A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2805113"/>
          <a:ext cx="6226175" cy="405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30112" imgH="4056888" progId="Word.Document.8">
                  <p:embed/>
                </p:oleObj>
              </mc:Choice>
              <mc:Fallback>
                <p:oleObj name="Document" r:id="rId2" imgW="6230112" imgH="4056888" progId="Word.Document.8">
                  <p:embed/>
                  <p:pic>
                    <p:nvPicPr>
                      <p:cNvPr id="9220" name="Object 4">
                        <a:extLst>
                          <a:ext uri="{FF2B5EF4-FFF2-40B4-BE49-F238E27FC236}">
                            <a16:creationId xmlns:a16="http://schemas.microsoft.com/office/drawing/2014/main" id="{3212B917-48F1-4D16-B9C5-BC91B1B1A2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805113"/>
                        <a:ext cx="6226175" cy="405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07233E-5C68-410F-88F6-A0785A918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37D3412-7961-4F56-9ABB-5082F9CD7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On a blank piece of paper, make a 15cm long line.  At the left end of this line, draw a 35 degree angle.  </a:t>
            </a:r>
            <a:r>
              <a:rPr lang="en-US" altLang="en-US" b="1" i="1"/>
              <a:t>Be as precise as possible!</a:t>
            </a:r>
            <a:endParaRPr lang="en-US" altLang="en-US"/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2660DDA1-04E0-441B-BD7C-BE5BD9BDA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B95D58E1-591E-4C6D-BDB3-70CE37127D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D15ED9C6-13C6-4B81-9259-36B6DFDD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31F3D89-6046-45D7-9A22-27ABE1E22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D783ADB-4384-4B49-A303-1A87BEE42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Now measure across 30 mm from the vertex, then draw a line straight up.  This will form a right triangle.</a:t>
            </a:r>
          </a:p>
        </p:txBody>
      </p:sp>
      <p:sp>
        <p:nvSpPr>
          <p:cNvPr id="11268" name="Line 4">
            <a:extLst>
              <a:ext uri="{FF2B5EF4-FFF2-40B4-BE49-F238E27FC236}">
                <a16:creationId xmlns:a16="http://schemas.microsoft.com/office/drawing/2014/main" id="{08461B68-C7CF-4230-9870-73673075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F5521624-4EB0-4178-9E8D-39A6E1A540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270" name="Text Box 6">
            <a:extLst>
              <a:ext uri="{FF2B5EF4-FFF2-40B4-BE49-F238E27FC236}">
                <a16:creationId xmlns:a16="http://schemas.microsoft.com/office/drawing/2014/main" id="{8ED6F632-426D-49D2-8D71-E4C77506C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E3A1A918-C230-4DB8-AE16-73083CF70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800" name="Line 8">
            <a:extLst>
              <a:ext uri="{FF2B5EF4-FFF2-40B4-BE49-F238E27FC236}">
                <a16:creationId xmlns:a16="http://schemas.microsoft.com/office/drawing/2014/main" id="{AE6B4225-3B4D-4DBE-9FD3-2BC1A05758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876800"/>
            <a:ext cx="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FA5C7788-BB76-4868-A996-82E213AE4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09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30 mm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D69D0DA8-78A6-4BB3-9DD8-F533C65B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12291" name="Rectangle 8">
            <a:extLst>
              <a:ext uri="{FF2B5EF4-FFF2-40B4-BE49-F238E27FC236}">
                <a16:creationId xmlns:a16="http://schemas.microsoft.com/office/drawing/2014/main" id="{3523957A-B3B6-43BE-9667-34BC2DB1B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>
                <a:latin typeface="Arial" panose="020B0604020202020204" pitchFamily="34" charset="0"/>
              </a:rPr>
              <a:t>Now measure the vertical line and the hypotenuse in millimeters.</a:t>
            </a:r>
          </a:p>
        </p:txBody>
      </p:sp>
      <p:sp>
        <p:nvSpPr>
          <p:cNvPr id="12292" name="Line 9">
            <a:extLst>
              <a:ext uri="{FF2B5EF4-FFF2-40B4-BE49-F238E27FC236}">
                <a16:creationId xmlns:a16="http://schemas.microsoft.com/office/drawing/2014/main" id="{0DC36D95-7913-48DF-B6CD-74F367D7F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3" name="Line 10">
            <a:extLst>
              <a:ext uri="{FF2B5EF4-FFF2-40B4-BE49-F238E27FC236}">
                <a16:creationId xmlns:a16="http://schemas.microsoft.com/office/drawing/2014/main" id="{06B48EAA-EF51-41DA-B8FA-BB9A3A9B67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4" name="Text Box 11">
            <a:extLst>
              <a:ext uri="{FF2B5EF4-FFF2-40B4-BE49-F238E27FC236}">
                <a16:creationId xmlns:a16="http://schemas.microsoft.com/office/drawing/2014/main" id="{FBAFE2C1-9055-461C-ACB5-64BCB09FD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12295" name="Line 12">
            <a:extLst>
              <a:ext uri="{FF2B5EF4-FFF2-40B4-BE49-F238E27FC236}">
                <a16:creationId xmlns:a16="http://schemas.microsoft.com/office/drawing/2014/main" id="{C41D0D10-3D70-4CB1-8A84-5EBB19032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6" name="Line 13">
            <a:extLst>
              <a:ext uri="{FF2B5EF4-FFF2-40B4-BE49-F238E27FC236}">
                <a16:creationId xmlns:a16="http://schemas.microsoft.com/office/drawing/2014/main" id="{7047E2CA-D54D-4086-8ABC-7B26329106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4876800"/>
            <a:ext cx="0" cy="1219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7" name="Text Box 14">
            <a:extLst>
              <a:ext uri="{FF2B5EF4-FFF2-40B4-BE49-F238E27FC236}">
                <a16:creationId xmlns:a16="http://schemas.microsoft.com/office/drawing/2014/main" id="{8BF037FD-0BD7-4D67-A772-67919C722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09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30 mm</a:t>
            </a:r>
          </a:p>
        </p:txBody>
      </p:sp>
      <p:sp>
        <p:nvSpPr>
          <p:cNvPr id="34831" name="AutoShape 15">
            <a:extLst>
              <a:ext uri="{FF2B5EF4-FFF2-40B4-BE49-F238E27FC236}">
                <a16:creationId xmlns:a16="http://schemas.microsoft.com/office/drawing/2014/main" id="{51C5BEFE-B549-487D-8C1B-8B38FF79C801}"/>
              </a:ext>
            </a:extLst>
          </p:cNvPr>
          <p:cNvSpPr>
            <a:spLocks/>
          </p:cNvSpPr>
          <p:nvPr/>
        </p:nvSpPr>
        <p:spPr bwMode="auto">
          <a:xfrm>
            <a:off x="6553201" y="4572000"/>
            <a:ext cx="1490663" cy="590550"/>
          </a:xfrm>
          <a:prstGeom prst="borderCallout1">
            <a:avLst>
              <a:gd name="adj1" fmla="val 13690"/>
              <a:gd name="adj2" fmla="val -5111"/>
              <a:gd name="adj3" fmla="val 151903"/>
              <a:gd name="adj4" fmla="val -7731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Measure this length...</a:t>
            </a:r>
          </a:p>
        </p:txBody>
      </p:sp>
      <p:sp>
        <p:nvSpPr>
          <p:cNvPr id="34832" name="AutoShape 16">
            <a:extLst>
              <a:ext uri="{FF2B5EF4-FFF2-40B4-BE49-F238E27FC236}">
                <a16:creationId xmlns:a16="http://schemas.microsoft.com/office/drawing/2014/main" id="{12E31352-93AA-4981-A849-A27805FDADBC}"/>
              </a:ext>
            </a:extLst>
          </p:cNvPr>
          <p:cNvSpPr>
            <a:spLocks/>
          </p:cNvSpPr>
          <p:nvPr/>
        </p:nvSpPr>
        <p:spPr bwMode="auto">
          <a:xfrm>
            <a:off x="2590800" y="4495800"/>
            <a:ext cx="1371600" cy="590550"/>
          </a:xfrm>
          <a:prstGeom prst="borderCallout1">
            <a:avLst>
              <a:gd name="adj1" fmla="val 19356"/>
              <a:gd name="adj2" fmla="val 105556"/>
              <a:gd name="adj3" fmla="val 130106"/>
              <a:gd name="adj4" fmla="val 14213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…and the hypotenuse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3" presetClass="entr" presetSubtype="52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1" grpId="0" animBg="1" autoUpdateAnimBg="0"/>
      <p:bldP spid="3483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3E201D6-2B9C-4F49-9A07-D17B6AD92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2AD3DB2-B692-480F-8D0E-6F42805E0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With these measurements, fill in the column under the heading: </a:t>
            </a:r>
            <a:r>
              <a:rPr lang="en-US" altLang="en-US" b="1"/>
              <a:t>1st Triangle</a:t>
            </a:r>
            <a:r>
              <a:rPr lang="en-US" altLang="en-US"/>
              <a:t>. </a:t>
            </a:r>
          </a:p>
          <a:p>
            <a:pPr lvl="1"/>
            <a:r>
              <a:rPr lang="en-US" altLang="en-US"/>
              <a:t>Click to see how this is done…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5204C5-4CD6-445B-8247-F4B68CB6B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6F8C581-41DF-4C3D-BDA6-369B080296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0" y="1219200"/>
            <a:ext cx="7772400" cy="1600200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 first box has been filled-in and computed for you.  Finish the two below it...</a:t>
            </a:r>
          </a:p>
        </p:txBody>
      </p:sp>
      <p:graphicFrame>
        <p:nvGraphicFramePr>
          <p:cNvPr id="14340" name="Object 5">
            <a:extLst>
              <a:ext uri="{FF2B5EF4-FFF2-40B4-BE49-F238E27FC236}">
                <a16:creationId xmlns:a16="http://schemas.microsoft.com/office/drawing/2014/main" id="{8DEE01D0-7642-4176-8132-DB6B7BF7E7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943600" cy="382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79236" imgH="3912108" progId="Word.Document.8">
                  <p:embed/>
                </p:oleObj>
              </mc:Choice>
              <mc:Fallback>
                <p:oleObj name="Document" r:id="rId2" imgW="6079236" imgH="3912108" progId="Word.Document.8">
                  <p:embed/>
                  <p:pic>
                    <p:nvPicPr>
                      <p:cNvPr id="14340" name="Object 5">
                        <a:extLst>
                          <a:ext uri="{FF2B5EF4-FFF2-40B4-BE49-F238E27FC236}">
                            <a16:creationId xmlns:a16="http://schemas.microsoft.com/office/drawing/2014/main" id="{8DEE01D0-7642-4176-8132-DB6B7BF7E7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943600" cy="382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6">
            <a:extLst>
              <a:ext uri="{FF2B5EF4-FFF2-40B4-BE49-F238E27FC236}">
                <a16:creationId xmlns:a16="http://schemas.microsoft.com/office/drawing/2014/main" id="{C44C676A-1648-4A65-A7EF-A1FC193AF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48200"/>
            <a:ext cx="1524000" cy="1828800"/>
          </a:xfrm>
          <a:prstGeom prst="rect">
            <a:avLst/>
          </a:prstGeom>
          <a:solidFill>
            <a:schemeClr val="accent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EE9A0E3F-6EFC-4D09-AF46-9B74627B7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D9C8CA6F-A720-449C-9040-3084B57F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219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Hopefully your answers are similar to these:</a:t>
            </a:r>
          </a:p>
        </p:txBody>
      </p:sp>
      <p:graphicFrame>
        <p:nvGraphicFramePr>
          <p:cNvPr id="15364" name="Object 1028">
            <a:extLst>
              <a:ext uri="{FF2B5EF4-FFF2-40B4-BE49-F238E27FC236}">
                <a16:creationId xmlns:a16="http://schemas.microsoft.com/office/drawing/2014/main" id="{27812A3A-4E82-4B7E-B27A-4E76F0330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943600" cy="382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79236" imgH="3912108" progId="Word.Document.8">
                  <p:embed/>
                </p:oleObj>
              </mc:Choice>
              <mc:Fallback>
                <p:oleObj name="Document" r:id="rId2" imgW="6079236" imgH="3912108" progId="Word.Document.8">
                  <p:embed/>
                  <p:pic>
                    <p:nvPicPr>
                      <p:cNvPr id="15364" name="Object 1028">
                        <a:extLst>
                          <a:ext uri="{FF2B5EF4-FFF2-40B4-BE49-F238E27FC236}">
                            <a16:creationId xmlns:a16="http://schemas.microsoft.com/office/drawing/2014/main" id="{27812A3A-4E82-4B7E-B27A-4E76F0330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943600" cy="382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9F480B0-9DF5-4410-867B-78E724A26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E75D1AD-251E-401D-9BEC-73C6B7E31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Now measure 50 mm from the vertex, and make a vertical line.  As before, measure the vertical line and hypotenuse.</a:t>
            </a:r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39F3F3E5-A016-4250-A056-4A6D1487F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236B5725-2DCA-4229-B42F-9E7FB1BF72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E4E1718B-0BB6-40F4-B41B-207FC3CB6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37895" name="Line 7">
            <a:extLst>
              <a:ext uri="{FF2B5EF4-FFF2-40B4-BE49-F238E27FC236}">
                <a16:creationId xmlns:a16="http://schemas.microsoft.com/office/drawing/2014/main" id="{19E30E6F-E350-46E9-9013-6A9C6218C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2895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7896" name="Line 8">
            <a:extLst>
              <a:ext uri="{FF2B5EF4-FFF2-40B4-BE49-F238E27FC236}">
                <a16:creationId xmlns:a16="http://schemas.microsoft.com/office/drawing/2014/main" id="{E298CEB6-88F2-4BEA-AE34-880A3EA29F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4114800"/>
            <a:ext cx="0" cy="1981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93" name="Text Box 9">
            <a:extLst>
              <a:ext uri="{FF2B5EF4-FFF2-40B4-BE49-F238E27FC236}">
                <a16:creationId xmlns:a16="http://schemas.microsoft.com/office/drawing/2014/main" id="{117459F2-0D87-49C2-9452-8E3D1442F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172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333FF3EC-A048-4CB7-971B-37DD989AC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0960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50 mm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136E1EB6-6F84-45AE-9370-47A50F882F30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14800"/>
            <a:ext cx="1295400" cy="1981200"/>
            <a:chOff x="3168" y="2592"/>
            <a:chExt cx="816" cy="1248"/>
          </a:xfrm>
        </p:grpSpPr>
        <p:sp>
          <p:nvSpPr>
            <p:cNvPr id="16399" name="Line 11">
              <a:extLst>
                <a:ext uri="{FF2B5EF4-FFF2-40B4-BE49-F238E27FC236}">
                  <a16:creationId xmlns:a16="http://schemas.microsoft.com/office/drawing/2014/main" id="{1B77CE3A-A831-43F2-9696-D413F74C0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592"/>
              <a:ext cx="0" cy="124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00" name="Text Box 13">
              <a:extLst>
                <a:ext uri="{FF2B5EF4-FFF2-40B4-BE49-F238E27FC236}">
                  <a16:creationId xmlns:a16="http://schemas.microsoft.com/office/drawing/2014/main" id="{8AC045CE-8FD0-45CC-AA6C-0E869CB64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20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? mm</a:t>
              </a: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3B1E0FB2-F3F6-458F-969B-D19E86305027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038600"/>
            <a:ext cx="2971800" cy="1981200"/>
            <a:chOff x="1152" y="2544"/>
            <a:chExt cx="1872" cy="1248"/>
          </a:xfrm>
        </p:grpSpPr>
        <p:sp>
          <p:nvSpPr>
            <p:cNvPr id="16397" name="Line 12">
              <a:extLst>
                <a:ext uri="{FF2B5EF4-FFF2-40B4-BE49-F238E27FC236}">
                  <a16:creationId xmlns:a16="http://schemas.microsoft.com/office/drawing/2014/main" id="{B90D8A68-7E48-4CEE-91DE-5AE6F1CB6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544"/>
              <a:ext cx="1872" cy="124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398" name="Text Box 14">
              <a:extLst>
                <a:ext uri="{FF2B5EF4-FFF2-40B4-BE49-F238E27FC236}">
                  <a16:creationId xmlns:a16="http://schemas.microsoft.com/office/drawing/2014/main" id="{51CE50DA-21A6-438E-A6DA-DABFA486A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950543">
              <a:off x="1728" y="2832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? mm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E7C863C-0DA4-432E-A576-4CC20848D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CE6541A-1823-4C30-B6C8-8579023C8E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Then fill-in the column headed 2nd Triangle.</a:t>
            </a:r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7A6262FC-52FD-400D-9390-52DAF079F0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06668" imgH="3971544" progId="Word.Document.8">
                  <p:embed/>
                </p:oleObj>
              </mc:Choice>
              <mc:Fallback>
                <p:oleObj name="Document" r:id="rId2" imgW="6106668" imgH="3971544" progId="Word.Document.8">
                  <p:embed/>
                  <p:pic>
                    <p:nvPicPr>
                      <p:cNvPr id="17412" name="Object 4">
                        <a:extLst>
                          <a:ext uri="{FF2B5EF4-FFF2-40B4-BE49-F238E27FC236}">
                            <a16:creationId xmlns:a16="http://schemas.microsoft.com/office/drawing/2014/main" id="{7A6262FC-52FD-400D-9390-52DAF079F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5">
            <a:extLst>
              <a:ext uri="{FF2B5EF4-FFF2-40B4-BE49-F238E27FC236}">
                <a16:creationId xmlns:a16="http://schemas.microsoft.com/office/drawing/2014/main" id="{CB5532BD-4A10-430B-B2DC-EBC36E0DC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657600"/>
            <a:ext cx="1524000" cy="2743200"/>
          </a:xfrm>
          <a:prstGeom prst="rect">
            <a:avLst/>
          </a:prstGeom>
          <a:solidFill>
            <a:schemeClr val="accent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AFF9888-448C-4065-9BA2-872458546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0DC7689-47D3-4B9D-AC1B-6333A3D65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Your answers should be close to these:</a:t>
            </a:r>
          </a:p>
        </p:txBody>
      </p:sp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7875BE80-6D4A-4B74-AA9E-A9444F508D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06668" imgH="3971544" progId="Word.Document.8">
                  <p:embed/>
                </p:oleObj>
              </mc:Choice>
              <mc:Fallback>
                <p:oleObj name="Document" r:id="rId2" imgW="6106668" imgH="3971544" progId="Word.Document.8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7875BE80-6D4A-4B74-AA9E-A9444F508D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65C3B0C-ED3B-443C-88BF-AD981D230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661E1A4-C08F-451A-8E27-7AE5C5ED2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Lastly, measure </a:t>
            </a:r>
            <a:r>
              <a:rPr lang="en-US" altLang="en-US" i="1"/>
              <a:t>any</a:t>
            </a:r>
            <a:r>
              <a:rPr lang="en-US" altLang="en-US"/>
              <a:t> distance from the vertex.  Create a right triangle, and measure the vertical line and the hypotenuse.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419BAFB7-02AF-47C7-AEDE-D53CB9D75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7D7A4332-6338-4F0F-8FB7-66852B939E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352800"/>
            <a:ext cx="40386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58B66D02-CEC6-4E13-B10D-EEF4712CB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63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35°</a:t>
            </a:r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7A896A52-2A38-4A03-A5D8-5056E9ED9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6096000"/>
            <a:ext cx="3657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44" name="Line 8">
            <a:extLst>
              <a:ext uri="{FF2B5EF4-FFF2-40B4-BE49-F238E27FC236}">
                <a16:creationId xmlns:a16="http://schemas.microsoft.com/office/drawing/2014/main" id="{55F1C708-56EF-46B3-BE85-60B8DE130B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3581400"/>
            <a:ext cx="0" cy="2514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4008F39-805C-42DC-A047-E3E251B7F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FD61433-44C0-42D8-9C08-DD0C20DCC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Fill-in the column 3rd Triangle with your data: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2F592C7A-854A-4227-B60A-E2CCAA3ED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06668" imgH="3971544" progId="Word.Document.8">
                  <p:embed/>
                </p:oleObj>
              </mc:Choice>
              <mc:Fallback>
                <p:oleObj name="Document" r:id="rId2" imgW="6106668" imgH="3971544" progId="Word.Document.8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2F592C7A-854A-4227-B60A-E2CCAA3ED4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>
            <a:extLst>
              <a:ext uri="{FF2B5EF4-FFF2-40B4-BE49-F238E27FC236}">
                <a16:creationId xmlns:a16="http://schemas.microsoft.com/office/drawing/2014/main" id="{F13C436B-EDCD-4682-BDF4-64504E1B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657600"/>
            <a:ext cx="1295400" cy="27432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CA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66E0267-0F34-4A94-9676-3D8387C67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EE3B5A2-5F0D-4395-A658-5575B776A0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Now compare your data.</a:t>
            </a:r>
          </a:p>
          <a:p>
            <a:r>
              <a:rPr lang="en-US" altLang="en-US"/>
              <a:t>Due to measurement error, there might be a few discrepancies when comparing one column to the next, but not much.</a:t>
            </a:r>
          </a:p>
          <a:p>
            <a:r>
              <a:rPr lang="en-US" altLang="en-US"/>
              <a:t>Your ratios going across a given row should end up being about the same.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F6C60B8-56FC-4E76-BDB0-1FFAC4979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822AAA0B-51E9-4B7F-99AA-B79773A34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800350"/>
          <a:ext cx="584835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106668" imgH="3971544" progId="Word.Document.8">
                  <p:embed/>
                </p:oleObj>
              </mc:Choice>
              <mc:Fallback>
                <p:oleObj name="Document" r:id="rId2" imgW="6106668" imgH="3971544" progId="Word.Document.8">
                  <p:embed/>
                  <p:pic>
                    <p:nvPicPr>
                      <p:cNvPr id="22531" name="Object 4">
                        <a:extLst>
                          <a:ext uri="{FF2B5EF4-FFF2-40B4-BE49-F238E27FC236}">
                            <a16:creationId xmlns:a16="http://schemas.microsoft.com/office/drawing/2014/main" id="{822AAA0B-51E9-4B7F-99AA-B79773A34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800350"/>
                        <a:ext cx="584835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FF893843-993A-464A-8E58-1FDF72DF78C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371600"/>
            <a:ext cx="5867400" cy="3276600"/>
            <a:chOff x="864" y="864"/>
            <a:chExt cx="3696" cy="2064"/>
          </a:xfrm>
        </p:grpSpPr>
        <p:sp>
          <p:nvSpPr>
            <p:cNvPr id="22539" name="Oval 5">
              <a:extLst>
                <a:ext uri="{FF2B5EF4-FFF2-40B4-BE49-F238E27FC236}">
                  <a16:creationId xmlns:a16="http://schemas.microsoft.com/office/drawing/2014/main" id="{D3FAAA02-C0A2-46AA-8856-8C837CCC2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208"/>
              <a:ext cx="2736" cy="72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22540" name="AutoShape 6">
              <a:extLst>
                <a:ext uri="{FF2B5EF4-FFF2-40B4-BE49-F238E27FC236}">
                  <a16:creationId xmlns:a16="http://schemas.microsoft.com/office/drawing/2014/main" id="{88E5815D-4CB9-43B6-B913-EF6D6B0CF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4"/>
              <a:ext cx="1812" cy="720"/>
            </a:xfrm>
            <a:prstGeom prst="callout2">
              <a:avLst>
                <a:gd name="adj1" fmla="val 10000"/>
                <a:gd name="adj2" fmla="val 102648"/>
                <a:gd name="adj3" fmla="val 10000"/>
                <a:gd name="adj4" fmla="val 115287"/>
                <a:gd name="adj5" fmla="val 186667"/>
                <a:gd name="adj6" fmla="val 128477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Note how all of the opp/hyp ratios are essentially the same.</a:t>
              </a: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EA5BFC75-EECC-4618-A1AF-B2F65D0C8022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371600"/>
            <a:ext cx="5715000" cy="4191000"/>
            <a:chOff x="912" y="864"/>
            <a:chExt cx="3600" cy="2640"/>
          </a:xfrm>
        </p:grpSpPr>
        <p:sp>
          <p:nvSpPr>
            <p:cNvPr id="22537" name="Oval 9">
              <a:extLst>
                <a:ext uri="{FF2B5EF4-FFF2-40B4-BE49-F238E27FC236}">
                  <a16:creationId xmlns:a16="http://schemas.microsoft.com/office/drawing/2014/main" id="{71B31CA0-6B8D-4FB9-8E06-6F1061B30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784"/>
              <a:ext cx="2736" cy="720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22538" name="AutoShape 10">
              <a:extLst>
                <a:ext uri="{FF2B5EF4-FFF2-40B4-BE49-F238E27FC236}">
                  <a16:creationId xmlns:a16="http://schemas.microsoft.com/office/drawing/2014/main" id="{A834AA9C-8330-41D1-8125-202A860D2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864"/>
              <a:ext cx="1812" cy="720"/>
            </a:xfrm>
            <a:prstGeom prst="callout2">
              <a:avLst>
                <a:gd name="adj1" fmla="val 10000"/>
                <a:gd name="adj2" fmla="val 102648"/>
                <a:gd name="adj3" fmla="val 10000"/>
                <a:gd name="adj4" fmla="val 112694"/>
                <a:gd name="adj5" fmla="val 266667"/>
                <a:gd name="adj6" fmla="val 123181"/>
              </a:avLst>
            </a:prstGeom>
            <a:noFill/>
            <a:ln w="9525">
              <a:solidFill>
                <a:srgbClr val="0000F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Note how all of the adj/hyp ratios are essentially the same.</a:t>
              </a: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CC70E576-BE5F-4333-BE63-67157FCB4ED9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371600"/>
            <a:ext cx="5943600" cy="5029200"/>
            <a:chOff x="864" y="864"/>
            <a:chExt cx="3744" cy="3168"/>
          </a:xfrm>
        </p:grpSpPr>
        <p:sp>
          <p:nvSpPr>
            <p:cNvPr id="22535" name="Oval 13">
              <a:extLst>
                <a:ext uri="{FF2B5EF4-FFF2-40B4-BE49-F238E27FC236}">
                  <a16:creationId xmlns:a16="http://schemas.microsoft.com/office/drawing/2014/main" id="{7F6F63FB-A93D-4702-9058-E4D416EAB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312"/>
              <a:ext cx="2736" cy="720"/>
            </a:xfrm>
            <a:prstGeom prst="ellipse">
              <a:avLst/>
            </a:prstGeom>
            <a:noFill/>
            <a:ln w="95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endParaRPr lang="en-CA" altLang="en-US">
                <a:latin typeface="Arial" panose="020B0604020202020204" pitchFamily="34" charset="0"/>
              </a:endParaRPr>
            </a:p>
          </p:txBody>
        </p:sp>
        <p:sp>
          <p:nvSpPr>
            <p:cNvPr id="22536" name="AutoShape 14">
              <a:extLst>
                <a:ext uri="{FF2B5EF4-FFF2-40B4-BE49-F238E27FC236}">
                  <a16:creationId xmlns:a16="http://schemas.microsoft.com/office/drawing/2014/main" id="{D347D283-6795-4CCF-A106-B93FC81E2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864"/>
              <a:ext cx="1812" cy="720"/>
            </a:xfrm>
            <a:prstGeom prst="callout2">
              <a:avLst>
                <a:gd name="adj1" fmla="val 10000"/>
                <a:gd name="adj2" fmla="val 102648"/>
                <a:gd name="adj3" fmla="val 10000"/>
                <a:gd name="adj4" fmla="val 116556"/>
                <a:gd name="adj5" fmla="val 340000"/>
                <a:gd name="adj6" fmla="val 131125"/>
              </a:avLst>
            </a:prstGeom>
            <a:noFill/>
            <a:ln w="9525">
              <a:solidFill>
                <a:srgbClr val="00CC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2400">
                  <a:solidFill>
                    <a:srgbClr val="00CC00"/>
                  </a:solidFill>
                  <a:latin typeface="Times New Roman" panose="02020603050405020304" pitchFamily="18" charset="0"/>
                </a:rPr>
                <a:t>Note how all of the opp/adj ratios are essentially the same.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724F6-7457-4ECD-B6F5-263B65C4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1" y="2640013"/>
            <a:ext cx="80041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/>
              <a:t>Similar right-angle triangles have the same shape  BUT ARE DIFFERENT SIZE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For similar right angled triangles the </a:t>
            </a:r>
            <a:r>
              <a:rPr lang="en-US" altLang="en-US" b="1"/>
              <a:t>3 ratios are the same</a:t>
            </a:r>
          </a:p>
          <a:p>
            <a:pPr eaLnBrk="1" hangingPunct="1"/>
            <a:endParaRPr lang="en-US" altLang="en-US" b="1"/>
          </a:p>
          <a:p>
            <a:pPr eaLnBrk="1" hangingPunct="1"/>
            <a:r>
              <a:rPr lang="en-US" altLang="en-US" b="1"/>
              <a:t>WHY?</a:t>
            </a:r>
          </a:p>
          <a:p>
            <a:pPr eaLnBrk="1" hangingPunct="1"/>
            <a:endParaRPr lang="en-US" altLang="en-US" b="1"/>
          </a:p>
          <a:p>
            <a:pPr eaLnBrk="1" hangingPunct="1"/>
            <a:r>
              <a:rPr lang="en-US" altLang="en-US" b="1"/>
              <a:t>These similar triangles are the same shape so they must have the same angles</a:t>
            </a:r>
            <a:endParaRPr lang="en-AU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BBC5488-FC43-408D-88F8-8F3F245D2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5EFDB97-33AE-4FFB-9821-F598534E9E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These ratios are </a:t>
            </a:r>
            <a:r>
              <a:rPr lang="en-US" altLang="en-US" b="1"/>
              <a:t>unique</a:t>
            </a:r>
            <a:r>
              <a:rPr lang="en-US" altLang="en-US"/>
              <a:t> to a certain angle.</a:t>
            </a:r>
          </a:p>
          <a:p>
            <a:r>
              <a:rPr lang="en-US" altLang="en-US"/>
              <a:t>If you had created a 70° angle, and filled-in the three columns as before, your ratios (such as </a:t>
            </a:r>
            <a:r>
              <a:rPr lang="en-US" altLang="en-US">
                <a:solidFill>
                  <a:schemeClr val="accent2"/>
                </a:solidFill>
              </a:rPr>
              <a:t>opp/hyp</a:t>
            </a:r>
            <a:r>
              <a:rPr lang="en-US" altLang="en-US"/>
              <a:t>) would all be the same but the value would be different.  It would be unique to a 70° degree angle.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83ECC55-3709-4AE3-96D8-A2B55B4A8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Student Activity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1F5A1D4-303B-4B87-9EF8-D55B169F4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 lvl="1"/>
            <a:r>
              <a:rPr lang="en-US" altLang="en-US"/>
              <a:t>Draw a 75° angle.</a:t>
            </a:r>
          </a:p>
          <a:p>
            <a:pPr lvl="1"/>
            <a:r>
              <a:rPr lang="en-US" altLang="en-US"/>
              <a:t>Create any three right triangles you want from it.  (Just like you did with the 35° angle.)</a:t>
            </a:r>
          </a:p>
          <a:p>
            <a:pPr lvl="1"/>
            <a:r>
              <a:rPr lang="en-US" altLang="en-US"/>
              <a:t>Fill in a chart just like you did for the last problem and compute the ratios.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3170148-25A3-40AF-A586-76286203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More on trig ratios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B6DBD98-DCF7-4CFF-B492-853CB16C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800">
                <a:latin typeface="Arial" panose="020B0604020202020204" pitchFamily="34" charset="0"/>
              </a:rPr>
              <a:t>In a perfect world the results for your second table, </a:t>
            </a:r>
            <a:r>
              <a:rPr lang="en-US" altLang="en-US" sz="2800" i="1">
                <a:latin typeface="Arial" panose="020B0604020202020204" pitchFamily="34" charset="0"/>
              </a:rPr>
              <a:t>the 75° angle</a:t>
            </a:r>
            <a:r>
              <a:rPr lang="en-US" altLang="en-US" sz="2800">
                <a:latin typeface="Arial" panose="020B0604020202020204" pitchFamily="34" charset="0"/>
              </a:rPr>
              <a:t>, should look like this:</a:t>
            </a:r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113997A0-0A1C-466E-8870-8D86FB4F7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1" y="2663826"/>
          <a:ext cx="6367463" cy="421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371844" imgH="4219956" progId="Word.Document.8">
                  <p:embed/>
                </p:oleObj>
              </mc:Choice>
              <mc:Fallback>
                <p:oleObj name="Document" r:id="rId2" imgW="6371844" imgH="4219956" progId="Word.Document.8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113997A0-0A1C-466E-8870-8D86FB4F7D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663826"/>
                        <a:ext cx="6367463" cy="421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7A28951-2B2A-4A83-BCE0-23529186B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CA0819F-CCAC-4F79-84C5-406AF0458F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So what do these results tell you?</a:t>
            </a:r>
          </a:p>
          <a:p>
            <a:r>
              <a:rPr lang="en-US" altLang="en-US"/>
              <a:t>First, every angle has a </a:t>
            </a:r>
            <a:r>
              <a:rPr lang="en-US" altLang="en-US" i="1"/>
              <a:t>unique result</a:t>
            </a:r>
            <a:r>
              <a:rPr lang="en-US" altLang="en-US"/>
              <a:t> for each of these ratios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solidFill>
                <a:schemeClr val="hlink"/>
              </a:solidFill>
            </a:endParaRPr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E302279F-0D21-4381-9F9B-A0E0213C4E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657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207" imgH="362019" progId="Equation.3">
                  <p:embed/>
                </p:oleObj>
              </mc:Choice>
              <mc:Fallback>
                <p:oleObj name="Equation" r:id="rId2" imgW="254207" imgH="362019" progId="Equation.3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E302279F-0D21-4381-9F9B-A0E0213C4E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57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>
            <a:extLst>
              <a:ext uri="{FF2B5EF4-FFF2-40B4-BE49-F238E27FC236}">
                <a16:creationId xmlns:a16="http://schemas.microsoft.com/office/drawing/2014/main" id="{CA806854-05E9-4B7B-9224-AA1E83F067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101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4207" imgH="362019" progId="Equation.3">
                  <p:embed/>
                </p:oleObj>
              </mc:Choice>
              <mc:Fallback>
                <p:oleObj name="Equation" r:id="rId4" imgW="254207" imgH="362019" progId="Equation.3">
                  <p:embed/>
                  <p:pic>
                    <p:nvPicPr>
                      <p:cNvPr id="48133" name="Object 5">
                        <a:extLst>
                          <a:ext uri="{FF2B5EF4-FFF2-40B4-BE49-F238E27FC236}">
                            <a16:creationId xmlns:a16="http://schemas.microsoft.com/office/drawing/2014/main" id="{CA806854-05E9-4B7B-9224-AA1E83F067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101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>
            <a:extLst>
              <a:ext uri="{FF2B5EF4-FFF2-40B4-BE49-F238E27FC236}">
                <a16:creationId xmlns:a16="http://schemas.microsoft.com/office/drawing/2014/main" id="{96BD1089-C4B5-4FF9-8155-810E6B424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5562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207" imgH="362019" progId="Equation.3">
                  <p:embed/>
                </p:oleObj>
              </mc:Choice>
              <mc:Fallback>
                <p:oleObj name="Equation" r:id="rId6" imgW="254207" imgH="362019" progId="Equation.3">
                  <p:embed/>
                  <p:pic>
                    <p:nvPicPr>
                      <p:cNvPr id="48134" name="Object 6">
                        <a:extLst>
                          <a:ext uri="{FF2B5EF4-FFF2-40B4-BE49-F238E27FC236}">
                            <a16:creationId xmlns:a16="http://schemas.microsoft.com/office/drawing/2014/main" id="{96BD1089-C4B5-4FF9-8155-810E6B424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562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3" presetClass="entr" presetSubtype="52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69A44C1-3B4E-41D1-8BA7-A719F78F5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F956C81-BE4F-4BED-8CC7-41519FE2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For example, here are the ratios for a 20</a:t>
            </a:r>
            <a:r>
              <a:rPr kumimoji="1"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° angle:</a:t>
            </a:r>
            <a:endParaRPr kumimoji="1" lang="en-US" altLang="en-US" sz="32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endParaRPr kumimoji="1" lang="en-US" altLang="en-US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365C4DC0-3EE4-4510-A54A-6FD5614CB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657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207" imgH="362019" progId="Equation.3">
                  <p:embed/>
                </p:oleObj>
              </mc:Choice>
              <mc:Fallback>
                <p:oleObj name="Equation" r:id="rId2" imgW="254207" imgH="362019" progId="Equation.3">
                  <p:embed/>
                  <p:pic>
                    <p:nvPicPr>
                      <p:cNvPr id="28676" name="Object 4">
                        <a:extLst>
                          <a:ext uri="{FF2B5EF4-FFF2-40B4-BE49-F238E27FC236}">
                            <a16:creationId xmlns:a16="http://schemas.microsoft.com/office/drawing/2014/main" id="{365C4DC0-3EE4-4510-A54A-6FD5614CB9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57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9C62063E-DA49-471B-A696-249B13C31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101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4207" imgH="362019" progId="Equation.3">
                  <p:embed/>
                </p:oleObj>
              </mc:Choice>
              <mc:Fallback>
                <p:oleObj name="Equation" r:id="rId4" imgW="254207" imgH="362019" progId="Equation.3">
                  <p:embed/>
                  <p:pic>
                    <p:nvPicPr>
                      <p:cNvPr id="28677" name="Object 5">
                        <a:extLst>
                          <a:ext uri="{FF2B5EF4-FFF2-40B4-BE49-F238E27FC236}">
                            <a16:creationId xmlns:a16="http://schemas.microsoft.com/office/drawing/2014/main" id="{9C62063E-DA49-471B-A696-249B13C31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101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A5B37F72-2D74-4DCC-853B-67ABE8BE6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5562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207" imgH="362019" progId="Equation.3">
                  <p:embed/>
                </p:oleObj>
              </mc:Choice>
              <mc:Fallback>
                <p:oleObj name="Equation" r:id="rId6" imgW="254207" imgH="362019" progId="Equation.3">
                  <p:embed/>
                  <p:pic>
                    <p:nvPicPr>
                      <p:cNvPr id="28678" name="Object 6">
                        <a:extLst>
                          <a:ext uri="{FF2B5EF4-FFF2-40B4-BE49-F238E27FC236}">
                            <a16:creationId xmlns:a16="http://schemas.microsoft.com/office/drawing/2014/main" id="{A5B37F72-2D74-4DCC-853B-67ABE8BE6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562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Text Box 7">
            <a:extLst>
              <a:ext uri="{FF2B5EF4-FFF2-40B4-BE49-F238E27FC236}">
                <a16:creationId xmlns:a16="http://schemas.microsoft.com/office/drawing/2014/main" id="{217B8776-F39E-41A3-801A-178088E00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20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endParaRPr kumimoji="1"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192" name="Text Box 8">
            <a:extLst>
              <a:ext uri="{FF2B5EF4-FFF2-40B4-BE49-F238E27FC236}">
                <a16:creationId xmlns:a16="http://schemas.microsoft.com/office/drawing/2014/main" id="{B27090FF-175E-4009-A94B-42B319118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0.342</a:t>
            </a:r>
          </a:p>
        </p:txBody>
      </p:sp>
      <p:sp>
        <p:nvSpPr>
          <p:cNvPr id="93193" name="Text Box 9">
            <a:extLst>
              <a:ext uri="{FF2B5EF4-FFF2-40B4-BE49-F238E27FC236}">
                <a16:creationId xmlns:a16="http://schemas.microsoft.com/office/drawing/2014/main" id="{8493F6B9-01D1-4826-BE1B-F78CFE498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724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0.940</a:t>
            </a:r>
          </a:p>
        </p:txBody>
      </p:sp>
      <p:sp>
        <p:nvSpPr>
          <p:cNvPr id="93194" name="Text Box 10">
            <a:extLst>
              <a:ext uri="{FF2B5EF4-FFF2-40B4-BE49-F238E27FC236}">
                <a16:creationId xmlns:a16="http://schemas.microsoft.com/office/drawing/2014/main" id="{17DDBE77-E889-4F1E-8322-E8903097A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638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CC00"/>
                </a:solidFill>
                <a:latin typeface="Times New Roman" panose="02020603050405020304" pitchFamily="18" charset="0"/>
              </a:rPr>
              <a:t>0.364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/>
      <p:bldP spid="93191" grpId="0" autoUpdateAnimBg="0"/>
      <p:bldP spid="93192" grpId="0" autoUpdateAnimBg="0"/>
      <p:bldP spid="93193" grpId="0" autoUpdateAnimBg="0"/>
      <p:bldP spid="9319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59FC8EB-AE64-4461-BEFD-676B7384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en-US" sz="4400">
                <a:solidFill>
                  <a:schemeClr val="tx2"/>
                </a:solidFill>
                <a:latin typeface="Times New Roman" panose="02020603050405020304" pitchFamily="18" charset="0"/>
              </a:rPr>
              <a:t>Trig Ratios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3159E10B-825A-4995-B983-918810E5A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en-US" sz="3200">
                <a:latin typeface="Times New Roman" panose="02020603050405020304" pitchFamily="18" charset="0"/>
              </a:rPr>
              <a:t>A different angle, say 40</a:t>
            </a:r>
            <a:r>
              <a:rPr kumimoji="1"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°, will have different ratios:</a:t>
            </a:r>
            <a:endParaRPr kumimoji="1" lang="en-US" altLang="en-US" sz="320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</a:pPr>
            <a:endParaRPr kumimoji="1" lang="en-US" altLang="en-US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B45AA3EC-8720-41C7-BD33-254D9BC60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3657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4207" imgH="362019" progId="Equation.3">
                  <p:embed/>
                </p:oleObj>
              </mc:Choice>
              <mc:Fallback>
                <p:oleObj name="Equation" r:id="rId2" imgW="254207" imgH="362019" progId="Equation.3">
                  <p:embed/>
                  <p:pic>
                    <p:nvPicPr>
                      <p:cNvPr id="29700" name="Object 4">
                        <a:extLst>
                          <a:ext uri="{FF2B5EF4-FFF2-40B4-BE49-F238E27FC236}">
                            <a16:creationId xmlns:a16="http://schemas.microsoft.com/office/drawing/2014/main" id="{B45AA3EC-8720-41C7-BD33-254D9BC60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657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7E211C7C-AB97-4198-B18C-D6E9605EF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46101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4207" imgH="362019" progId="Equation.3">
                  <p:embed/>
                </p:oleObj>
              </mc:Choice>
              <mc:Fallback>
                <p:oleObj name="Equation" r:id="rId4" imgW="254207" imgH="362019" progId="Equation.3">
                  <p:embed/>
                  <p:pic>
                    <p:nvPicPr>
                      <p:cNvPr id="29701" name="Object 5">
                        <a:extLst>
                          <a:ext uri="{FF2B5EF4-FFF2-40B4-BE49-F238E27FC236}">
                            <a16:creationId xmlns:a16="http://schemas.microsoft.com/office/drawing/2014/main" id="{7E211C7C-AB97-4198-B18C-D6E9605EFF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46101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>
            <a:extLst>
              <a:ext uri="{FF2B5EF4-FFF2-40B4-BE49-F238E27FC236}">
                <a16:creationId xmlns:a16="http://schemas.microsoft.com/office/drawing/2014/main" id="{BB3E3B89-281B-4E3A-9CC6-38E78F649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1" y="5562600"/>
          <a:ext cx="6143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207" imgH="362019" progId="Equation.3">
                  <p:embed/>
                </p:oleObj>
              </mc:Choice>
              <mc:Fallback>
                <p:oleObj name="Equation" r:id="rId6" imgW="254207" imgH="362019" progId="Equation.3">
                  <p:embed/>
                  <p:pic>
                    <p:nvPicPr>
                      <p:cNvPr id="29702" name="Object 6">
                        <a:extLst>
                          <a:ext uri="{FF2B5EF4-FFF2-40B4-BE49-F238E27FC236}">
                            <a16:creationId xmlns:a16="http://schemas.microsoft.com/office/drawing/2014/main" id="{BB3E3B89-281B-4E3A-9CC6-38E78F649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562600"/>
                        <a:ext cx="6143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7">
            <a:extLst>
              <a:ext uri="{FF2B5EF4-FFF2-40B4-BE49-F238E27FC236}">
                <a16:creationId xmlns:a16="http://schemas.microsoft.com/office/drawing/2014/main" id="{2A3E8015-B610-4DD5-A382-A720B8297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76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20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endParaRPr kumimoji="1"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27B455B6-2AA2-4154-AFFE-5EADBE8A8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0.342</a:t>
            </a: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0EEAAE10-52ED-4E48-A426-C6620080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724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0.940</a:t>
            </a: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A0A7F1D8-C2E1-4BB8-A309-8CA1320D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638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CC00"/>
                </a:solidFill>
                <a:latin typeface="Times New Roman" panose="02020603050405020304" pitchFamily="18" charset="0"/>
              </a:rPr>
              <a:t>0.364</a:t>
            </a:r>
          </a:p>
        </p:txBody>
      </p:sp>
      <p:sp>
        <p:nvSpPr>
          <p:cNvPr id="94219" name="Text Box 11">
            <a:extLst>
              <a:ext uri="{FF2B5EF4-FFF2-40B4-BE49-F238E27FC236}">
                <a16:creationId xmlns:a16="http://schemas.microsoft.com/office/drawing/2014/main" id="{C29C70E9-BD35-40A1-BED1-4B0E8B855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2766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40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endParaRPr kumimoji="1"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0" name="Text Box 12">
            <a:extLst>
              <a:ext uri="{FF2B5EF4-FFF2-40B4-BE49-F238E27FC236}">
                <a16:creationId xmlns:a16="http://schemas.microsoft.com/office/drawing/2014/main" id="{701F8DCB-DBCD-4587-8372-DA25BD3E1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810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0.643</a:t>
            </a:r>
          </a:p>
        </p:txBody>
      </p:sp>
      <p:sp>
        <p:nvSpPr>
          <p:cNvPr id="94221" name="Text Box 13">
            <a:extLst>
              <a:ext uri="{FF2B5EF4-FFF2-40B4-BE49-F238E27FC236}">
                <a16:creationId xmlns:a16="http://schemas.microsoft.com/office/drawing/2014/main" id="{CEF26721-E8E5-414C-9B05-01F510AEB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0.766</a:t>
            </a:r>
          </a:p>
        </p:txBody>
      </p:sp>
      <p:sp>
        <p:nvSpPr>
          <p:cNvPr id="94222" name="Text Box 14">
            <a:extLst>
              <a:ext uri="{FF2B5EF4-FFF2-40B4-BE49-F238E27FC236}">
                <a16:creationId xmlns:a16="http://schemas.microsoft.com/office/drawing/2014/main" id="{2901AF37-DA28-412C-9685-3582AC3DF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38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CC00"/>
                </a:solidFill>
                <a:latin typeface="Times New Roman" panose="02020603050405020304" pitchFamily="18" charset="0"/>
              </a:rPr>
              <a:t>0.839</a:t>
            </a:r>
          </a:p>
        </p:txBody>
      </p:sp>
      <p:sp>
        <p:nvSpPr>
          <p:cNvPr id="94223" name="WordArt 15">
            <a:extLst>
              <a:ext uri="{FF2B5EF4-FFF2-40B4-BE49-F238E27FC236}">
                <a16:creationId xmlns:a16="http://schemas.microsoft.com/office/drawing/2014/main" id="{30B3178C-84C8-4013-9680-3346607CE4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16200000">
            <a:off x="7508876" y="4016376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108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9" grpId="0" autoUpdateAnimBg="0"/>
      <p:bldP spid="94220" grpId="0" autoUpdateAnimBg="0"/>
      <p:bldP spid="94221" grpId="0" autoUpdateAnimBg="0"/>
      <p:bldP spid="9422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19A5E4A-7E84-455F-804A-F95BDA058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41380E5-04A6-4338-B782-E800CEBFA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3200">
                <a:latin typeface="Arial" panose="020B0604020202020204" pitchFamily="34" charset="0"/>
              </a:rPr>
              <a:t>The other thing to remember is that for a given angle, the </a:t>
            </a:r>
            <a:r>
              <a:rPr lang="en-US" altLang="en-US" sz="3200" i="1">
                <a:latin typeface="Arial" panose="020B0604020202020204" pitchFamily="34" charset="0"/>
              </a:rPr>
              <a:t>size</a:t>
            </a:r>
            <a:r>
              <a:rPr lang="en-US" altLang="en-US" sz="3200">
                <a:latin typeface="Arial" panose="020B0604020202020204" pitchFamily="34" charset="0"/>
              </a:rPr>
              <a:t> of the triangle you are working with is irrelevant to how the ratios turn out.</a:t>
            </a:r>
            <a:endParaRPr lang="en-US" altLang="en-US" sz="32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9156" name="WordArt 4">
            <a:extLst>
              <a:ext uri="{FF2B5EF4-FFF2-40B4-BE49-F238E27FC236}">
                <a16:creationId xmlns:a16="http://schemas.microsoft.com/office/drawing/2014/main" id="{00F47A43-1E95-4D40-AD18-63A0A26FD8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E6AC367-5040-4537-9ADE-E3D24C769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 Ratios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024C0FB-0A2E-4155-BA11-C5F0CAF7BA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/>
              <a:t>To illustrate this, the angle below (20°) is drawn, then several right triangles are formed.  In each triangle the ratio of </a:t>
            </a:r>
            <a:r>
              <a:rPr lang="en-US" altLang="en-US" sz="2400" i="1">
                <a:solidFill>
                  <a:schemeClr val="accent2"/>
                </a:solidFill>
              </a:rPr>
              <a:t>opp/hyp</a:t>
            </a:r>
            <a:r>
              <a:rPr lang="en-US" altLang="en-US" sz="2400"/>
              <a:t> is the same no matter the size of the triangle.</a:t>
            </a:r>
          </a:p>
        </p:txBody>
      </p:sp>
      <p:sp>
        <p:nvSpPr>
          <p:cNvPr id="31748" name="Line 4">
            <a:extLst>
              <a:ext uri="{FF2B5EF4-FFF2-40B4-BE49-F238E27FC236}">
                <a16:creationId xmlns:a16="http://schemas.microsoft.com/office/drawing/2014/main" id="{95F570C2-FA94-44D6-A71D-77CDEFEED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109E6A70-36F5-4C87-9E7A-D1B45C3D51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114800"/>
            <a:ext cx="472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B0D39B2-AA16-489E-9100-A45FC6FCF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20°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3" name="Line 7">
            <a:extLst>
              <a:ext uri="{FF2B5EF4-FFF2-40B4-BE49-F238E27FC236}">
                <a16:creationId xmlns:a16="http://schemas.microsoft.com/office/drawing/2014/main" id="{87FDB979-0892-4874-BD68-0CF483CCF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5257800"/>
            <a:ext cx="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0184" name="Line 8">
            <a:extLst>
              <a:ext uri="{FF2B5EF4-FFF2-40B4-BE49-F238E27FC236}">
                <a16:creationId xmlns:a16="http://schemas.microsoft.com/office/drawing/2014/main" id="{66ACD86D-3B02-40CF-9C53-E9D93A89A5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5257800"/>
            <a:ext cx="1600200" cy="609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0185" name="Text Box 9">
            <a:extLst>
              <a:ext uri="{FF2B5EF4-FFF2-40B4-BE49-F238E27FC236}">
                <a16:creationId xmlns:a16="http://schemas.microsoft.com/office/drawing/2014/main" id="{E8DDFC83-C14A-4145-8AE5-5B2571E33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340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1.82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6" name="Text Box 10">
            <a:extLst>
              <a:ext uri="{FF2B5EF4-FFF2-40B4-BE49-F238E27FC236}">
                <a16:creationId xmlns:a16="http://schemas.microsoft.com/office/drawing/2014/main" id="{51DC9E9E-9BAE-4155-AFF5-C5E9F4162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1816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5.32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1755" name="Text Box 11">
            <a:extLst>
              <a:ext uri="{FF2B5EF4-FFF2-40B4-BE49-F238E27FC236}">
                <a16:creationId xmlns:a16="http://schemas.microsoft.com/office/drawing/2014/main" id="{0BEAF5C4-59DC-44D0-92BD-1FD7989FC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opp/hyp=</a:t>
            </a:r>
          </a:p>
        </p:txBody>
      </p:sp>
      <p:sp>
        <p:nvSpPr>
          <p:cNvPr id="50188" name="Text Box 12">
            <a:extLst>
              <a:ext uri="{FF2B5EF4-FFF2-40B4-BE49-F238E27FC236}">
                <a16:creationId xmlns:a16="http://schemas.microsoft.com/office/drawing/2014/main" id="{7FC333CD-29F9-4841-8AB4-0BF9D4F55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89" name="Text Box 13">
            <a:extLst>
              <a:ext uri="{FF2B5EF4-FFF2-40B4-BE49-F238E27FC236}">
                <a16:creationId xmlns:a16="http://schemas.microsoft.com/office/drawing/2014/main" id="{3F5F9ED0-5BDF-47C9-AB74-9A8AA5196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= .342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0190" name="Text Box 14">
            <a:extLst>
              <a:ext uri="{FF2B5EF4-FFF2-40B4-BE49-F238E27FC236}">
                <a16:creationId xmlns:a16="http://schemas.microsoft.com/office/drawing/2014/main" id="{8CC3DCE0-5212-4169-8484-2A8B73F00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1.82/5.32</a:t>
            </a:r>
          </a:p>
        </p:txBody>
      </p:sp>
      <p:sp>
        <p:nvSpPr>
          <p:cNvPr id="50191" name="WordArt 15">
            <a:extLst>
              <a:ext uri="{FF2B5EF4-FFF2-40B4-BE49-F238E27FC236}">
                <a16:creationId xmlns:a16="http://schemas.microsoft.com/office/drawing/2014/main" id="{F06CA73C-306C-453F-A355-4AC8AC96E37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6" grpId="0" autoUpdateAnimBg="0"/>
      <p:bldP spid="50188" grpId="0" autoUpdateAnimBg="0"/>
      <p:bldP spid="50189" grpId="0" autoUpdateAnimBg="0"/>
      <p:bldP spid="5019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AF1FC19-F3AB-4667-9B1F-21EB1809E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14EDC32-04B6-469A-8FF9-B8086485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Arial" panose="020B0604020202020204" pitchFamily="34" charset="0"/>
              </a:rPr>
              <a:t>To illustrate this, the angle below (20°) is drawn, then several right triangles are formed.  In each triangle the ratio of </a:t>
            </a:r>
            <a:r>
              <a:rPr lang="en-US" altLang="en-US" sz="2400" i="1">
                <a:solidFill>
                  <a:schemeClr val="accent2"/>
                </a:solidFill>
                <a:latin typeface="Arial" panose="020B0604020202020204" pitchFamily="34" charset="0"/>
              </a:rPr>
              <a:t>opp/hyp</a:t>
            </a:r>
            <a:r>
              <a:rPr lang="en-US" altLang="en-US" sz="2400">
                <a:latin typeface="Arial" panose="020B0604020202020204" pitchFamily="34" charset="0"/>
              </a:rPr>
              <a:t> is the same no matter the size of the triangle.</a:t>
            </a:r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CF465505-2436-4D3B-B126-D63FB7861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AC224B5F-2F3D-4B66-8A0C-49E8A82ED5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114800"/>
            <a:ext cx="472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867B3575-C4FB-49D4-BB5C-2CACC2A80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20°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07" name="Line 7">
            <a:extLst>
              <a:ext uri="{FF2B5EF4-FFF2-40B4-BE49-F238E27FC236}">
                <a16:creationId xmlns:a16="http://schemas.microsoft.com/office/drawing/2014/main" id="{F5584750-DC2B-481B-AB13-C2D400CAA3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724400"/>
            <a:ext cx="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208" name="Line 8">
            <a:extLst>
              <a:ext uri="{FF2B5EF4-FFF2-40B4-BE49-F238E27FC236}">
                <a16:creationId xmlns:a16="http://schemas.microsoft.com/office/drawing/2014/main" id="{9B9A35A6-13C5-4AE8-8691-0F6B7BC804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724400"/>
            <a:ext cx="3048000" cy="1143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D3EE912F-DD48-4421-B12A-3C76398BB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1054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4.37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4417AAE8-E137-4EF7-BC50-BEFEB598E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8768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12.77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2779" name="Text Box 11">
            <a:extLst>
              <a:ext uri="{FF2B5EF4-FFF2-40B4-BE49-F238E27FC236}">
                <a16:creationId xmlns:a16="http://schemas.microsoft.com/office/drawing/2014/main" id="{442F7BB0-8AC6-4534-A647-0C25058CA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opp/hyp=</a:t>
            </a:r>
          </a:p>
        </p:txBody>
      </p:sp>
      <p:sp>
        <p:nvSpPr>
          <p:cNvPr id="51212" name="Text Box 12">
            <a:extLst>
              <a:ext uri="{FF2B5EF4-FFF2-40B4-BE49-F238E27FC236}">
                <a16:creationId xmlns:a16="http://schemas.microsoft.com/office/drawing/2014/main" id="{B3BA4F1D-CC87-430E-BE6E-C5B29D6AC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13" name="Text Box 13">
            <a:extLst>
              <a:ext uri="{FF2B5EF4-FFF2-40B4-BE49-F238E27FC236}">
                <a16:creationId xmlns:a16="http://schemas.microsoft.com/office/drawing/2014/main" id="{345C15C3-7AA8-4A93-AD6A-85438B955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= .342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1214" name="Text Box 14">
            <a:extLst>
              <a:ext uri="{FF2B5EF4-FFF2-40B4-BE49-F238E27FC236}">
                <a16:creationId xmlns:a16="http://schemas.microsoft.com/office/drawing/2014/main" id="{85D4489B-48CA-444B-8ECC-7D4CF85D3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4.37/12.77</a:t>
            </a:r>
          </a:p>
        </p:txBody>
      </p:sp>
      <p:sp>
        <p:nvSpPr>
          <p:cNvPr id="51215" name="WordArt 15">
            <a:extLst>
              <a:ext uri="{FF2B5EF4-FFF2-40B4-BE49-F238E27FC236}">
                <a16:creationId xmlns:a16="http://schemas.microsoft.com/office/drawing/2014/main" id="{042CA143-667B-4EE3-B2F4-A20AC53CD2C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9" grpId="0" autoUpdateAnimBg="0"/>
      <p:bldP spid="51210" grpId="0" autoUpdateAnimBg="0"/>
      <p:bldP spid="51212" grpId="0" autoUpdateAnimBg="0"/>
      <p:bldP spid="51213" grpId="0" autoUpdateAnimBg="0"/>
      <p:bldP spid="5121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EAA64A3-1A27-4ADC-84FC-C7B8BEA80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00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400">
                <a:latin typeface="Arial" panose="020B0604020202020204" pitchFamily="34" charset="0"/>
              </a:rPr>
              <a:t>Trig Ratios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F348C1A-432B-4DA9-ADC5-02901FBDA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771650"/>
            <a:ext cx="7772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Arial" panose="020B0604020202020204" pitchFamily="34" charset="0"/>
              </a:rPr>
              <a:t>To illustrate this, the angle below (20°) is drawn, then several right triangles are formed.  In each triangle the ratio of </a:t>
            </a:r>
            <a:r>
              <a:rPr lang="en-US" altLang="en-US" sz="2400" i="1">
                <a:solidFill>
                  <a:schemeClr val="accent2"/>
                </a:solidFill>
                <a:latin typeface="Arial" panose="020B0604020202020204" pitchFamily="34" charset="0"/>
              </a:rPr>
              <a:t>opp/hyp</a:t>
            </a:r>
            <a:r>
              <a:rPr lang="en-US" altLang="en-US" sz="2400">
                <a:latin typeface="Arial" panose="020B0604020202020204" pitchFamily="34" charset="0"/>
              </a:rPr>
              <a:t> is the same no matter the size of the triangle.</a:t>
            </a:r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163039D7-AB31-458B-BC01-0B2AE1BFF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867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200C6EFA-DD07-48D2-8944-0B1D1BBB32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114800"/>
            <a:ext cx="47244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3798" name="Text Box 6">
            <a:extLst>
              <a:ext uri="{FF2B5EF4-FFF2-40B4-BE49-F238E27FC236}">
                <a16:creationId xmlns:a16="http://schemas.microsoft.com/office/drawing/2014/main" id="{A677C709-9C52-49D5-9A03-F1B20A506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20°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31" name="Line 7">
            <a:extLst>
              <a:ext uri="{FF2B5EF4-FFF2-40B4-BE49-F238E27FC236}">
                <a16:creationId xmlns:a16="http://schemas.microsoft.com/office/drawing/2014/main" id="{98CDD32D-3E38-4C6A-B99F-4D77E7B4B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4419600"/>
            <a:ext cx="0" cy="144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2232" name="Line 8">
            <a:extLst>
              <a:ext uri="{FF2B5EF4-FFF2-40B4-BE49-F238E27FC236}">
                <a16:creationId xmlns:a16="http://schemas.microsoft.com/office/drawing/2014/main" id="{839883E8-498B-42DA-9EDE-25E0121394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4419600"/>
            <a:ext cx="3886200" cy="1447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2233" name="Text Box 9">
            <a:extLst>
              <a:ext uri="{FF2B5EF4-FFF2-40B4-BE49-F238E27FC236}">
                <a16:creationId xmlns:a16="http://schemas.microsoft.com/office/drawing/2014/main" id="{AA4AAC82-9CDD-4351-BFAC-21CEADD9F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0292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6.55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4" name="Text Box 10">
            <a:extLst>
              <a:ext uri="{FF2B5EF4-FFF2-40B4-BE49-F238E27FC236}">
                <a16:creationId xmlns:a16="http://schemas.microsoft.com/office/drawing/2014/main" id="{E0608B3B-18E1-413A-85AD-4B8C62D8F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5720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19.16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5D0FCA34-6DC8-469D-8786-77392761C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opp/hyp=</a:t>
            </a:r>
          </a:p>
        </p:txBody>
      </p:sp>
      <p:sp>
        <p:nvSpPr>
          <p:cNvPr id="52236" name="Text Box 12">
            <a:extLst>
              <a:ext uri="{FF2B5EF4-FFF2-40B4-BE49-F238E27FC236}">
                <a16:creationId xmlns:a16="http://schemas.microsoft.com/office/drawing/2014/main" id="{1E6D3DA2-A042-4831-9945-38BBDDF67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37" name="Text Box 13">
            <a:extLst>
              <a:ext uri="{FF2B5EF4-FFF2-40B4-BE49-F238E27FC236}">
                <a16:creationId xmlns:a16="http://schemas.microsoft.com/office/drawing/2014/main" id="{7863D8CF-924A-4D49-B5B2-6D2D93D0A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581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</a:rPr>
              <a:t>= .342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38" name="Text Box 14">
            <a:extLst>
              <a:ext uri="{FF2B5EF4-FFF2-40B4-BE49-F238E27FC236}">
                <a16:creationId xmlns:a16="http://schemas.microsoft.com/office/drawing/2014/main" id="{08C2599B-9E3B-4340-9A3D-16DF163A2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6.55/19.16</a:t>
            </a:r>
          </a:p>
        </p:txBody>
      </p:sp>
      <p:sp>
        <p:nvSpPr>
          <p:cNvPr id="52239" name="WordArt 15">
            <a:extLst>
              <a:ext uri="{FF2B5EF4-FFF2-40B4-BE49-F238E27FC236}">
                <a16:creationId xmlns:a16="http://schemas.microsoft.com/office/drawing/2014/main" id="{52B8A430-9FC1-43B0-BBD8-348E28B2261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79851" y="6234113"/>
            <a:ext cx="4238625" cy="647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spc="72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Similar Triangles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3" grpId="0" autoUpdateAnimBg="0"/>
      <p:bldP spid="52234" grpId="0" autoUpdateAnimBg="0"/>
      <p:bldP spid="52236" grpId="0" autoUpdateAnimBg="0"/>
      <p:bldP spid="52237" grpId="0" autoUpdateAnimBg="0"/>
      <p:bldP spid="5223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01454-5BB0-48FF-9E4C-93F6A11DFE63}"/>
              </a:ext>
            </a:extLst>
          </p:cNvPr>
          <p:cNvSpPr txBox="1"/>
          <p:nvPr/>
        </p:nvSpPr>
        <p:spPr>
          <a:xfrm>
            <a:off x="57509" y="2202611"/>
            <a:ext cx="17489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a right angled triangle labelled for trigonometry ratios?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3804F-DC02-4130-A9E9-133AA07687D0}"/>
              </a:ext>
            </a:extLst>
          </p:cNvPr>
          <p:cNvSpPr/>
          <p:nvPr/>
        </p:nvSpPr>
        <p:spPr>
          <a:xfrm>
            <a:off x="2230039" y="2828836"/>
            <a:ext cx="91945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We are able to find a side length in a right-angled triangle if we are given one other side length and the size of one of the acute angles. T</a:t>
            </a:r>
          </a:p>
          <a:p>
            <a:endParaRPr lang="en-US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These sides and angle are related using one of the three trigonometric ratios.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4285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5984" y="694008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F80B6-DAD0-4CBC-A9D7-495325A2F66C}"/>
              </a:ext>
            </a:extLst>
          </p:cNvPr>
          <p:cNvSpPr/>
          <p:nvPr/>
        </p:nvSpPr>
        <p:spPr>
          <a:xfrm>
            <a:off x="2606465" y="5671952"/>
            <a:ext cx="5322887" cy="996950"/>
          </a:xfrm>
          <a:prstGeom prst="rect">
            <a:avLst/>
          </a:prstGeom>
          <a:solidFill>
            <a:schemeClr val="tx2">
              <a:lumMod val="10000"/>
            </a:scheme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FF5ED41-78EF-49BB-B374-3B787210264A}"/>
              </a:ext>
            </a:extLst>
          </p:cNvPr>
          <p:cNvGrpSpPr>
            <a:grpSpLocks/>
          </p:cNvGrpSpPr>
          <p:nvPr/>
        </p:nvGrpSpPr>
        <p:grpSpPr bwMode="auto">
          <a:xfrm>
            <a:off x="3750020" y="1841469"/>
            <a:ext cx="2819400" cy="1265238"/>
            <a:chOff x="192" y="816"/>
            <a:chExt cx="1776" cy="797"/>
          </a:xfrm>
        </p:grpSpPr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5FD2A204-BD21-4BD9-B88C-11B9B5A3E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Sin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 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886E80F7-E7FA-41FC-8B61-21747A9DC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0E16406A-3475-40F6-8064-BDFF9AE9C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pp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D3D2F077-30A7-462E-8CCA-C4EF88ABD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FF00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yp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20" name="Group 9">
            <a:extLst>
              <a:ext uri="{FF2B5EF4-FFF2-40B4-BE49-F238E27FC236}">
                <a16:creationId xmlns:a16="http://schemas.microsoft.com/office/drawing/2014/main" id="{644E661D-55C3-4834-9E51-E8711B8476EA}"/>
              </a:ext>
            </a:extLst>
          </p:cNvPr>
          <p:cNvGrpSpPr>
            <a:grpSpLocks/>
          </p:cNvGrpSpPr>
          <p:nvPr/>
        </p:nvGrpSpPr>
        <p:grpSpPr bwMode="auto">
          <a:xfrm>
            <a:off x="3714615" y="3092157"/>
            <a:ext cx="2819400" cy="1265238"/>
            <a:chOff x="192" y="816"/>
            <a:chExt cx="1776" cy="797"/>
          </a:xfrm>
        </p:grpSpPr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787F5BAA-7C6F-4BA1-A715-A611230D5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00CC00"/>
                  </a:solidFill>
                  <a:latin typeface="Comic Sans MS" panose="030F0702030302020204" pitchFamily="66" charset="0"/>
                </a:rPr>
                <a:t>Cos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 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AC17DEC8-8E40-4A4D-AC59-F2A60A02D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 Box 12">
              <a:extLst>
                <a:ext uri="{FF2B5EF4-FFF2-40B4-BE49-F238E27FC236}">
                  <a16:creationId xmlns:a16="http://schemas.microsoft.com/office/drawing/2014/main" id="{4C919150-5D91-4604-B902-4EF5FBEC8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 err="1">
                  <a:solidFill>
                    <a:srgbClr val="00CC00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 sz="3200" dirty="0" err="1">
                  <a:latin typeface="Comic Sans MS" panose="030F0702030302020204" pitchFamily="66" charset="0"/>
                </a:rPr>
                <a:t>dj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4" name="Text Box 13">
              <a:extLst>
                <a:ext uri="{FF2B5EF4-FFF2-40B4-BE49-F238E27FC236}">
                  <a16:creationId xmlns:a16="http://schemas.microsoft.com/office/drawing/2014/main" id="{B2B34B90-FFE9-4B3F-81CA-7B9449388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00CC00"/>
                  </a:solidFill>
                  <a:latin typeface="Comic Sans MS" panose="030F0702030302020204" pitchFamily="66" charset="0"/>
                </a:rPr>
                <a:t>H</a:t>
              </a:r>
              <a:r>
                <a:rPr lang="en-GB" altLang="en-US" sz="3200">
                  <a:latin typeface="Comic Sans MS" panose="030F0702030302020204" pitchFamily="66" charset="0"/>
                </a:rPr>
                <a:t>yp</a:t>
              </a:r>
            </a:p>
          </p:txBody>
        </p:sp>
      </p:grpSp>
      <p:grpSp>
        <p:nvGrpSpPr>
          <p:cNvPr id="25" name="Group 14">
            <a:extLst>
              <a:ext uri="{FF2B5EF4-FFF2-40B4-BE49-F238E27FC236}">
                <a16:creationId xmlns:a16="http://schemas.microsoft.com/office/drawing/2014/main" id="{BE4A2DE9-64A5-4CA3-92F2-CD9168124DE3}"/>
              </a:ext>
            </a:extLst>
          </p:cNvPr>
          <p:cNvGrpSpPr>
            <a:grpSpLocks/>
          </p:cNvGrpSpPr>
          <p:nvPr/>
        </p:nvGrpSpPr>
        <p:grpSpPr bwMode="auto">
          <a:xfrm>
            <a:off x="3675437" y="4269550"/>
            <a:ext cx="2893983" cy="1397030"/>
            <a:chOff x="192" y="816"/>
            <a:chExt cx="1776" cy="797"/>
          </a:xfrm>
        </p:grpSpPr>
        <p:sp>
          <p:nvSpPr>
            <p:cNvPr id="26" name="Text Box 15">
              <a:extLst>
                <a:ext uri="{FF2B5EF4-FFF2-40B4-BE49-F238E27FC236}">
                  <a16:creationId xmlns:a16="http://schemas.microsoft.com/office/drawing/2014/main" id="{E3D29B77-61DA-4844-B910-803C1FD95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008"/>
              <a:ext cx="13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 dirty="0">
                  <a:solidFill>
                    <a:srgbClr val="CC00CC"/>
                  </a:solidFill>
                  <a:latin typeface="Comic Sans MS" panose="030F0702030302020204" pitchFamily="66" charset="0"/>
                </a:rPr>
                <a:t>Tan</a:t>
              </a:r>
              <a:r>
                <a:rPr lang="en-GB" altLang="en-US" sz="3200" dirty="0">
                  <a:latin typeface="Comic Sans MS" panose="030F0702030302020204" pitchFamily="66" charset="0"/>
                </a:rPr>
                <a:t> </a:t>
              </a:r>
              <a:r>
                <a:rPr lang="el-GR" altLang="en-US" sz="3200" dirty="0">
                  <a:latin typeface="Calibri" panose="020F0502020204030204" pitchFamily="34" charset="0"/>
                </a:rPr>
                <a:t>θ</a:t>
              </a:r>
              <a:r>
                <a:rPr lang="en-GB" altLang="en-US" sz="32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°=</a:t>
              </a:r>
              <a:endParaRPr lang="en-GB" altLang="en-US" sz="3200" dirty="0">
                <a:latin typeface="Comic Sans MS" panose="030F0702030302020204" pitchFamily="66" charset="0"/>
              </a:endParaRPr>
            </a:p>
          </p:txBody>
        </p:sp>
        <p:sp>
          <p:nvSpPr>
            <p:cNvPr id="27" name="Line 16">
              <a:extLst>
                <a:ext uri="{FF2B5EF4-FFF2-40B4-BE49-F238E27FC236}">
                  <a16:creationId xmlns:a16="http://schemas.microsoft.com/office/drawing/2014/main" id="{B169D430-96DF-4F4F-8B27-82BACB1AA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248"/>
              <a:ext cx="52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E8DED53E-0428-44B4-829A-29A033082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816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CC00CC"/>
                  </a:solidFill>
                  <a:latin typeface="Comic Sans MS" panose="030F0702030302020204" pitchFamily="66" charset="0"/>
                </a:rPr>
                <a:t>O</a:t>
              </a:r>
              <a:r>
                <a:rPr lang="en-GB" altLang="en-US" sz="3200">
                  <a:latin typeface="Comic Sans MS" panose="030F0702030302020204" pitchFamily="66" charset="0"/>
                </a:rPr>
                <a:t>pp</a:t>
              </a: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B161FD69-C54B-4434-AB30-B9A306924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48"/>
              <a:ext cx="72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3200">
                  <a:solidFill>
                    <a:srgbClr val="CC00CC"/>
                  </a:solidFill>
                  <a:latin typeface="Comic Sans MS" panose="030F0702030302020204" pitchFamily="66" charset="0"/>
                </a:rPr>
                <a:t>A</a:t>
              </a:r>
              <a:r>
                <a:rPr lang="en-GB" altLang="en-US" sz="3200">
                  <a:latin typeface="Comic Sans MS" panose="030F0702030302020204" pitchFamily="66" charset="0"/>
                </a:rPr>
                <a:t>dj</a:t>
              </a:r>
            </a:p>
          </p:txBody>
        </p:sp>
      </p:grpSp>
      <p:sp>
        <p:nvSpPr>
          <p:cNvPr id="30" name="Text Box 20">
            <a:extLst>
              <a:ext uri="{FF2B5EF4-FFF2-40B4-BE49-F238E27FC236}">
                <a16:creationId xmlns:a16="http://schemas.microsoft.com/office/drawing/2014/main" id="{EDD0B7B8-3072-4A60-9EC2-FB0BF9751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340" y="5665603"/>
            <a:ext cx="162736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 dirty="0">
                <a:solidFill>
                  <a:srgbClr val="00CC00"/>
                </a:solidFill>
                <a:latin typeface="Comic Sans MS" panose="030F0702030302020204" pitchFamily="66" charset="0"/>
              </a:rPr>
              <a:t>C</a:t>
            </a:r>
            <a:r>
              <a:rPr lang="en-GB" altLang="en-US" sz="6000" baseline="30000" dirty="0">
                <a:solidFill>
                  <a:srgbClr val="00CC00"/>
                </a:solidFill>
                <a:latin typeface="Comic Sans MS" panose="030F0702030302020204" pitchFamily="66" charset="0"/>
              </a:rPr>
              <a:t>A</a:t>
            </a:r>
            <a:r>
              <a:rPr lang="en-GB" altLang="en-US" sz="6000" dirty="0">
                <a:solidFill>
                  <a:srgbClr val="00CC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1" name="Text Box 21">
            <a:extLst>
              <a:ext uri="{FF2B5EF4-FFF2-40B4-BE49-F238E27FC236}">
                <a16:creationId xmlns:a16="http://schemas.microsoft.com/office/drawing/2014/main" id="{65B94436-CAF1-4E1D-884C-E4C267D2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38" y="5665603"/>
            <a:ext cx="169148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T</a:t>
            </a:r>
            <a:r>
              <a:rPr lang="en-GB" altLang="en-US" sz="6000" baseline="30000">
                <a:solidFill>
                  <a:srgbClr val="CC00CC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>
                <a:solidFill>
                  <a:srgbClr val="CC00CC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id="{EDB13D8B-3A7E-4A05-B467-67DB098FA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990" y="5665603"/>
            <a:ext cx="17033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GB" altLang="en-US" sz="6000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O</a:t>
            </a:r>
            <a:r>
              <a:rPr lang="en-GB" altLang="en-US" sz="6000" dirty="0">
                <a:solidFill>
                  <a:srgbClr val="FF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7CFC5-93BC-4F95-AD6B-BC75CD2D7FA7}"/>
              </a:ext>
            </a:extLst>
          </p:cNvPr>
          <p:cNvSpPr/>
          <p:nvPr/>
        </p:nvSpPr>
        <p:spPr>
          <a:xfrm>
            <a:off x="6534015" y="1902878"/>
            <a:ext cx="5229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three trigonometric ratios are defined as follows: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843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18271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  <a:p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  <a:p>
            <a:endParaRPr lang="en-AU" sz="2400" b="1" dirty="0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D7B55376-BD91-44A3-B912-4F8AF35B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8848" y="3496098"/>
            <a:ext cx="381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00" b="0"/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10039F37-9B4D-4834-934B-59F4A045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5865" y="4472459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01454-5BB0-48FF-9E4C-93F6A11DFE63}"/>
              </a:ext>
            </a:extLst>
          </p:cNvPr>
          <p:cNvSpPr txBox="1"/>
          <p:nvPr/>
        </p:nvSpPr>
        <p:spPr>
          <a:xfrm>
            <a:off x="57509" y="2202611"/>
            <a:ext cx="17489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is a right angled triangle labelled for trigonometry ratios?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129A2-B296-4ABA-B009-7D2A5D1AAEA4}"/>
              </a:ext>
            </a:extLst>
          </p:cNvPr>
          <p:cNvSpPr/>
          <p:nvPr/>
        </p:nvSpPr>
        <p:spPr>
          <a:xfrm>
            <a:off x="3047999" y="2274838"/>
            <a:ext cx="79914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solving trigonometry problems, the choice of the ratio depends on the given information. </a:t>
            </a:r>
          </a:p>
          <a:p>
            <a:endParaRPr lang="en-US" dirty="0"/>
          </a:p>
          <a:p>
            <a:r>
              <a:rPr lang="en-US" dirty="0"/>
              <a:t>To choose an appropriate ratio: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consider the sides that are either given or need to be found </a:t>
            </a:r>
          </a:p>
          <a:p>
            <a:pPr marL="285750" indent="-285750">
              <a:buFontTx/>
              <a:buChar char="-"/>
            </a:pPr>
            <a:r>
              <a:rPr lang="en-US" dirty="0"/>
              <a:t>select the ratio containing both of these sides.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609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 descr="ohajerryimage">
            <a:extLst>
              <a:ext uri="{FF2B5EF4-FFF2-40B4-BE49-F238E27FC236}">
                <a16:creationId xmlns:a16="http://schemas.microsoft.com/office/drawing/2014/main" id="{97FC2AE3-6D1D-4F4D-ACD2-1B98B715D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442436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4CC2191C-6440-4383-B828-60A94D7C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2" y="5486400"/>
            <a:ext cx="4433888" cy="1371600"/>
          </a:xfrm>
          <a:prstGeom prst="rect">
            <a:avLst/>
          </a:prstGeom>
          <a:gradFill rotWithShape="0">
            <a:gsLst>
              <a:gs pos="0">
                <a:srgbClr val="4D4D4D"/>
              </a:gs>
              <a:gs pos="100000">
                <a:srgbClr val="054B37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C1392A1C-0C97-4D3B-BA9F-1660AA4A2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62601"/>
            <a:ext cx="4495800" cy="10064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6000">
                <a:solidFill>
                  <a:srgbClr val="FFFFCC"/>
                </a:solidFill>
                <a:latin typeface="Curlz MT" panose="04040404050702020202" pitchFamily="82" charset="0"/>
              </a:rPr>
              <a:t>Old Hippie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37B97253-FDEF-4D57-B9AD-35E10AA50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7100" y="-1270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Some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B2ECFBC4-EAAC-4F7E-A8EE-25EE65153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096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Old</a:t>
            </a:r>
          </a:p>
        </p:txBody>
      </p:sp>
      <p:sp>
        <p:nvSpPr>
          <p:cNvPr id="13320" name="Text Box 8">
            <a:extLst>
              <a:ext uri="{FF2B5EF4-FFF2-40B4-BE49-F238E27FC236}">
                <a16:creationId xmlns:a16="http://schemas.microsoft.com/office/drawing/2014/main" id="{9F78ACFC-A38C-4398-82EF-DE5B498F1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3208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FF0000"/>
                </a:solidFill>
                <a:latin typeface="Kristen ITC" panose="03050502040202030202" pitchFamily="66" charset="0"/>
              </a:rPr>
              <a:t>Hippie</a:t>
            </a:r>
          </a:p>
        </p:txBody>
      </p:sp>
      <p:sp>
        <p:nvSpPr>
          <p:cNvPr id="13321" name="Text Box 9">
            <a:extLst>
              <a:ext uri="{FF2B5EF4-FFF2-40B4-BE49-F238E27FC236}">
                <a16:creationId xmlns:a16="http://schemas.microsoft.com/office/drawing/2014/main" id="{D3D80342-38E1-4513-8386-01F2FAC05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00" y="21209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Came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5CD881B7-6758-4E07-9706-A9CC8D37D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1" y="2882900"/>
            <a:ext cx="3209925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A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F18C4268-77FB-415D-AA68-35B770EB9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433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rgbClr val="66FF33"/>
                </a:solidFill>
                <a:latin typeface="Kristen ITC" panose="03050502040202030202" pitchFamily="66" charset="0"/>
              </a:rPr>
              <a:t>Hoppin’</a:t>
            </a:r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D8301E58-6E8A-42AD-BA4C-ED7098FF6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3400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Through</a:t>
            </a:r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2E73CA8B-BFC0-442B-8013-61BCE4AC9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114925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Our</a:t>
            </a: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8846194D-1DE9-4E54-A299-882BC3BCC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927725"/>
            <a:ext cx="4648200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200">
                <a:solidFill>
                  <a:schemeClr val="accent2"/>
                </a:solidFill>
                <a:latin typeface="Kristen ITC" panose="03050502040202030202" pitchFamily="66" charset="0"/>
              </a:rPr>
              <a:t>Apartment</a:t>
            </a:r>
          </a:p>
        </p:txBody>
      </p:sp>
      <p:pic>
        <p:nvPicPr>
          <p:cNvPr id="13334" name="Picture 22" descr="bd08771_">
            <a:extLst>
              <a:ext uri="{FF2B5EF4-FFF2-40B4-BE49-F238E27FC236}">
                <a16:creationId xmlns:a16="http://schemas.microsoft.com/office/drawing/2014/main" id="{9F9F8E86-BFA2-4163-B04B-3C494C41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088" y="1143000"/>
            <a:ext cx="15240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37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775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850"/>
                            </p:stCondLst>
                            <p:childTnLst>
                              <p:par>
                                <p:cTn id="5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375"/>
                            </p:stCondLst>
                            <p:childTnLst>
                              <p:par>
                                <p:cTn id="58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6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125"/>
                            </p:stCondLst>
                            <p:childTnLst>
                              <p:par>
                                <p:cTn id="7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  <p:bldP spid="13317" grpId="0" autoUpdateAnimBg="0"/>
      <p:bldP spid="13318" grpId="0" autoUpdateAnimBg="0"/>
      <p:bldP spid="13319" grpId="0" autoUpdateAnimBg="0"/>
      <p:bldP spid="13320" grpId="0" autoUpdateAnimBg="0"/>
      <p:bldP spid="13321" grpId="0" autoUpdateAnimBg="0"/>
      <p:bldP spid="13322" grpId="0" autoUpdateAnimBg="0"/>
      <p:bldP spid="13323" grpId="0" autoUpdateAnimBg="0"/>
      <p:bldP spid="13324" grpId="0" autoUpdateAnimBg="0"/>
      <p:bldP spid="13325" grpId="0" autoUpdateAnimBg="0"/>
      <p:bldP spid="1332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973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  <a:p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901787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the trigonometry ratios of a right angled triangle?</a:t>
            </a:r>
            <a:endParaRPr lang="en-AU" sz="2400" b="1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820D8D8-0C67-4FFA-BC7A-D2CC017FE38F}"/>
              </a:ext>
            </a:extLst>
          </p:cNvPr>
          <p:cNvSpPr txBox="1">
            <a:spLocks noChangeArrowheads="1"/>
          </p:cNvSpPr>
          <p:nvPr/>
        </p:nvSpPr>
        <p:spPr>
          <a:xfrm>
            <a:off x="1726550" y="2075640"/>
            <a:ext cx="4800600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Each of the 3 ratios has a name</a:t>
            </a:r>
          </a:p>
          <a:p>
            <a:r>
              <a:rPr lang="en-US" altLang="en-US" sz="2000" dirty="0"/>
              <a:t>The names also refer to an angle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755CB64-C45D-406A-A497-952A489B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151" y="3461917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16A571E9-A2AF-4404-821A-A63C3C8F81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2923" y="3280762"/>
          <a:ext cx="37338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700" imgH="419100" progId="Equation.DSMT4">
                  <p:embed/>
                </p:oleObj>
              </mc:Choice>
              <mc:Fallback>
                <p:oleObj name="Equation" r:id="rId2" imgW="1917700" imgH="419100" progId="Equation.DSMT4">
                  <p:embed/>
                  <p:pic>
                    <p:nvPicPr>
                      <p:cNvPr id="16" name="Object 5">
                        <a:extLst>
                          <a:ext uri="{FF2B5EF4-FFF2-40B4-BE49-F238E27FC236}">
                            <a16:creationId xmlns:a16="http://schemas.microsoft.com/office/drawing/2014/main" id="{16A571E9-A2AF-4404-821A-A63C3C8F8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3280762"/>
                        <a:ext cx="373380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70D160DA-C769-4C82-B552-59A0CB534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2923" y="4448331"/>
          <a:ext cx="37338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800" imgH="419100" progId="Equation.DSMT4">
                  <p:embed/>
                </p:oleObj>
              </mc:Choice>
              <mc:Fallback>
                <p:oleObj name="Equation" r:id="rId4" imgW="2082800" imgH="419100" progId="Equation.DSMT4">
                  <p:embed/>
                  <p:pic>
                    <p:nvPicPr>
                      <p:cNvPr id="17" name="Object 7">
                        <a:extLst>
                          <a:ext uri="{FF2B5EF4-FFF2-40B4-BE49-F238E27FC236}">
                            <a16:creationId xmlns:a16="http://schemas.microsoft.com/office/drawing/2014/main" id="{70D160DA-C769-4C82-B552-59A0CB5348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4448331"/>
                        <a:ext cx="37338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BC04B4AC-92F1-4F49-8835-D0CC04D60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2923" y="5481983"/>
          <a:ext cx="37338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419100" progId="Equation.DSMT4">
                  <p:embed/>
                </p:oleObj>
              </mc:Choice>
              <mc:Fallback>
                <p:oleObj name="Equation" r:id="rId6" imgW="1981200" imgH="419100" progId="Equation.DSMT4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BC04B4AC-92F1-4F49-8835-D0CC04D60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923" y="5481983"/>
                        <a:ext cx="37338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4B5CAD08-8113-4BBF-B162-FFDE4EAA8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0219" y="1966672"/>
          <a:ext cx="1685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8" imgW="1677971" imgH="801278" progId="Presentations.Drawing.10">
                  <p:embed/>
                </p:oleObj>
              </mc:Choice>
              <mc:Fallback>
                <p:oleObj name="Drawing" r:id="rId8" imgW="1677971" imgH="801278" progId="Presentations.Drawing.10">
                  <p:embed/>
                  <p:pic>
                    <p:nvPicPr>
                      <p:cNvPr id="19" name="Object 17">
                        <a:extLst>
                          <a:ext uri="{FF2B5EF4-FFF2-40B4-BE49-F238E27FC236}">
                            <a16:creationId xmlns:a16="http://schemas.microsoft.com/office/drawing/2014/main" id="{4B5CAD08-8113-4BBF-B162-FFDE4EAA8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0219" y="1966672"/>
                        <a:ext cx="1685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>
            <a:extLst>
              <a:ext uri="{FF2B5EF4-FFF2-40B4-BE49-F238E27FC236}">
                <a16:creationId xmlns:a16="http://schemas.microsoft.com/office/drawing/2014/main" id="{2F58A0A6-0784-4CD1-B7E8-A59A0871A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819" y="1966672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Hypotenuse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33A2A9BB-55C2-4C41-8893-26BBD48D3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819" y="2728672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/>
              <a:t>Adjacent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754869C7-8F11-49AC-BAD1-94AF42E7C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081" y="2150028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Opposite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B2F6D85E-1CDC-4C58-8C3E-75EA26E03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6619" y="2500072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863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3958" y="645534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4669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Right-Angled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90408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How is a right angled triangle labelled?</a:t>
            </a:r>
            <a:endParaRPr lang="en-AU" sz="2400" b="1" dirty="0"/>
          </a:p>
        </p:txBody>
      </p:sp>
      <p:graphicFrame>
        <p:nvGraphicFramePr>
          <p:cNvPr id="33" name="Object 83">
            <a:extLst>
              <a:ext uri="{FF2B5EF4-FFF2-40B4-BE49-F238E27FC236}">
                <a16:creationId xmlns:a16="http://schemas.microsoft.com/office/drawing/2014/main" id="{C0F013BB-C869-43F6-9A63-5E71C216D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894" y="4783645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501" imgH="165028" progId="Equation.DSMT4">
                  <p:embed/>
                </p:oleObj>
              </mc:Choice>
              <mc:Fallback>
                <p:oleObj name="Equation" r:id="rId2" imgW="228501" imgH="165028" progId="Equation.DSMT4">
                  <p:embed/>
                  <p:pic>
                    <p:nvPicPr>
                      <p:cNvPr id="33" name="Object 83">
                        <a:extLst>
                          <a:ext uri="{FF2B5EF4-FFF2-40B4-BE49-F238E27FC236}">
                            <a16:creationId xmlns:a16="http://schemas.microsoft.com/office/drawing/2014/main" id="{C0F013BB-C869-43F6-9A63-5E71C216D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894" y="4783645"/>
                        <a:ext cx="457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0">
            <a:extLst>
              <a:ext uri="{FF2B5EF4-FFF2-40B4-BE49-F238E27FC236}">
                <a16:creationId xmlns:a16="http://schemas.microsoft.com/office/drawing/2014/main" id="{3E8BCEA0-AB68-42C5-956D-9852143E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6294" y="3488245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b="0"/>
          </a:p>
        </p:txBody>
      </p:sp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23339005-2A59-449A-96D1-50791F59A1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2694" y="3535870"/>
          <a:ext cx="17557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309" imgH="418918" progId="Equation.DSMT4">
                  <p:embed/>
                </p:oleObj>
              </mc:Choice>
              <mc:Fallback>
                <p:oleObj name="Equation" r:id="rId4" imgW="901309" imgH="418918" progId="Equation.DSMT4">
                  <p:embed/>
                  <p:pic>
                    <p:nvPicPr>
                      <p:cNvPr id="35" name="Object 11">
                        <a:extLst>
                          <a:ext uri="{FF2B5EF4-FFF2-40B4-BE49-F238E27FC236}">
                            <a16:creationId xmlns:a16="http://schemas.microsoft.com/office/drawing/2014/main" id="{23339005-2A59-449A-96D1-50791F59A1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94" y="3535870"/>
                        <a:ext cx="17557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2">
            <a:extLst>
              <a:ext uri="{FF2B5EF4-FFF2-40B4-BE49-F238E27FC236}">
                <a16:creationId xmlns:a16="http://schemas.microsoft.com/office/drawing/2014/main" id="{41189C4D-50BD-49DF-9369-9F56D3AFA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2694" y="4631245"/>
          <a:ext cx="16859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800" imgH="419100" progId="Equation.DSMT4">
                  <p:embed/>
                </p:oleObj>
              </mc:Choice>
              <mc:Fallback>
                <p:oleObj name="Equation" r:id="rId6" imgW="939800" imgH="419100" progId="Equation.DSMT4">
                  <p:embed/>
                  <p:pic>
                    <p:nvPicPr>
                      <p:cNvPr id="36" name="Object 12">
                        <a:extLst>
                          <a:ext uri="{FF2B5EF4-FFF2-40B4-BE49-F238E27FC236}">
                            <a16:creationId xmlns:a16="http://schemas.microsoft.com/office/drawing/2014/main" id="{41189C4D-50BD-49DF-9369-9F56D3AFAE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694" y="4631245"/>
                        <a:ext cx="1685925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3">
            <a:extLst>
              <a:ext uri="{FF2B5EF4-FFF2-40B4-BE49-F238E27FC236}">
                <a16:creationId xmlns:a16="http://schemas.microsoft.com/office/drawing/2014/main" id="{B34817A3-2657-48CA-A2C7-5AD4E7026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8894" y="5850445"/>
          <a:ext cx="14605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4" imgH="418918" progId="Equation.DSMT4">
                  <p:embed/>
                </p:oleObj>
              </mc:Choice>
              <mc:Fallback>
                <p:oleObj name="Equation" r:id="rId8" imgW="774364" imgH="418918" progId="Equation.DSMT4">
                  <p:embed/>
                  <p:pic>
                    <p:nvPicPr>
                      <p:cNvPr id="37" name="Object 13">
                        <a:extLst>
                          <a:ext uri="{FF2B5EF4-FFF2-40B4-BE49-F238E27FC236}">
                            <a16:creationId xmlns:a16="http://schemas.microsoft.com/office/drawing/2014/main" id="{B34817A3-2657-48CA-A2C7-5AD4E70264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94" y="5850445"/>
                        <a:ext cx="14605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2">
            <a:extLst>
              <a:ext uri="{FF2B5EF4-FFF2-40B4-BE49-F238E27FC236}">
                <a16:creationId xmlns:a16="http://schemas.microsoft.com/office/drawing/2014/main" id="{D8A71AC6-E131-4CE8-AB94-E773D2A26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694" y="2040445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0" dirty="0"/>
              <a:t>If the angle changes from A to B</a:t>
            </a:r>
          </a:p>
        </p:txBody>
      </p:sp>
      <p:sp>
        <p:nvSpPr>
          <p:cNvPr id="44" name="Text Box 23">
            <a:extLst>
              <a:ext uri="{FF2B5EF4-FFF2-40B4-BE49-F238E27FC236}">
                <a16:creationId xmlns:a16="http://schemas.microsoft.com/office/drawing/2014/main" id="{24DD0E83-637C-41F0-B1EC-A0275ACEE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694" y="2746945"/>
            <a:ext cx="449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0" dirty="0"/>
              <a:t>The way the ratios are made is the same</a:t>
            </a:r>
          </a:p>
        </p:txBody>
      </p:sp>
      <p:graphicFrame>
        <p:nvGraphicFramePr>
          <p:cNvPr id="45" name="Object 31">
            <a:extLst>
              <a:ext uri="{FF2B5EF4-FFF2-40B4-BE49-F238E27FC236}">
                <a16:creationId xmlns:a16="http://schemas.microsoft.com/office/drawing/2014/main" id="{4CE3F0B7-35CD-43ED-B3AF-C8DB1EF181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1694" y="3777170"/>
          <a:ext cx="4730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501" imgH="165028" progId="Equation.DSMT4">
                  <p:embed/>
                </p:oleObj>
              </mc:Choice>
              <mc:Fallback>
                <p:oleObj name="Equation" r:id="rId10" imgW="228501" imgH="165028" progId="Equation.DSMT4">
                  <p:embed/>
                  <p:pic>
                    <p:nvPicPr>
                      <p:cNvPr id="45" name="Object 31">
                        <a:extLst>
                          <a:ext uri="{FF2B5EF4-FFF2-40B4-BE49-F238E27FC236}">
                            <a16:creationId xmlns:a16="http://schemas.microsoft.com/office/drawing/2014/main" id="{4CE3F0B7-35CD-43ED-B3AF-C8DB1EF181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694" y="3777170"/>
                        <a:ext cx="4730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5">
            <a:extLst>
              <a:ext uri="{FF2B5EF4-FFF2-40B4-BE49-F238E27FC236}">
                <a16:creationId xmlns:a16="http://schemas.microsoft.com/office/drawing/2014/main" id="{FAC4B010-A7C5-47FE-A92C-F346C7937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0294" y="6079045"/>
          <a:ext cx="347663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335" imgH="164957" progId="Equation.DSMT4">
                  <p:embed/>
                </p:oleObj>
              </mc:Choice>
              <mc:Fallback>
                <p:oleObj name="Equation" r:id="rId11" imgW="190335" imgH="164957" progId="Equation.DSMT4">
                  <p:embed/>
                  <p:pic>
                    <p:nvPicPr>
                      <p:cNvPr id="46" name="Object 35">
                        <a:extLst>
                          <a:ext uri="{FF2B5EF4-FFF2-40B4-BE49-F238E27FC236}">
                            <a16:creationId xmlns:a16="http://schemas.microsoft.com/office/drawing/2014/main" id="{FAC4B010-A7C5-47FE-A92C-F346C7937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294" y="6079045"/>
                        <a:ext cx="347663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5">
            <a:extLst>
              <a:ext uri="{FF2B5EF4-FFF2-40B4-BE49-F238E27FC236}">
                <a16:creationId xmlns:a16="http://schemas.microsoft.com/office/drawing/2014/main" id="{16F1A496-8C3E-4D43-9318-4A0DA6E61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6694" y="4783645"/>
          <a:ext cx="19954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948" imgH="203112" progId="Equation.DSMT4">
                  <p:embed/>
                </p:oleObj>
              </mc:Choice>
              <mc:Fallback>
                <p:oleObj name="Equation" r:id="rId13" imgW="1040948" imgH="203112" progId="Equation.DSMT4">
                  <p:embed/>
                  <p:pic>
                    <p:nvPicPr>
                      <p:cNvPr id="47" name="Object 45">
                        <a:extLst>
                          <a:ext uri="{FF2B5EF4-FFF2-40B4-BE49-F238E27FC236}">
                            <a16:creationId xmlns:a16="http://schemas.microsoft.com/office/drawing/2014/main" id="{16F1A496-8C3E-4D43-9318-4A0DA6E61C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694" y="4783645"/>
                        <a:ext cx="199548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E14892BD-0F47-4E36-9E52-0335FA2C5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9094" y="3745420"/>
          <a:ext cx="1854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26698" imgH="203112" progId="Equation.DSMT4">
                  <p:embed/>
                </p:oleObj>
              </mc:Choice>
              <mc:Fallback>
                <p:oleObj name="Equation" r:id="rId15" imgW="926698" imgH="203112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E14892BD-0F47-4E36-9E52-0335FA2C5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094" y="3745420"/>
                        <a:ext cx="18542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>
            <a:extLst>
              <a:ext uri="{FF2B5EF4-FFF2-40B4-BE49-F238E27FC236}">
                <a16:creationId xmlns:a16="http://schemas.microsoft.com/office/drawing/2014/main" id="{2C24D58D-AB82-4A94-BDB0-9024ADD7B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2894" y="6079045"/>
          <a:ext cx="20780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17115" imgH="203112" progId="Equation.DSMT4">
                  <p:embed/>
                </p:oleObj>
              </mc:Choice>
              <mc:Fallback>
                <p:oleObj name="Equation" r:id="rId17" imgW="1117115" imgH="203112" progId="Equation.DSMT4">
                  <p:embed/>
                  <p:pic>
                    <p:nvPicPr>
                      <p:cNvPr id="49" name="Object 49">
                        <a:extLst>
                          <a:ext uri="{FF2B5EF4-FFF2-40B4-BE49-F238E27FC236}">
                            <a16:creationId xmlns:a16="http://schemas.microsoft.com/office/drawing/2014/main" id="{2C24D58D-AB82-4A94-BDB0-9024ADD7B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894" y="6079045"/>
                        <a:ext cx="2078038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>
            <a:extLst>
              <a:ext uri="{FF2B5EF4-FFF2-40B4-BE49-F238E27FC236}">
                <a16:creationId xmlns:a16="http://schemas.microsoft.com/office/drawing/2014/main" id="{E93099B9-D775-4D6E-A88A-D08769561E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7287" y="2091307"/>
          <a:ext cx="16859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19" imgW="1677971" imgH="801278" progId="Presentations.Drawing.10">
                  <p:embed/>
                </p:oleObj>
              </mc:Choice>
              <mc:Fallback>
                <p:oleObj name="Drawing" r:id="rId19" imgW="1677971" imgH="801278" progId="Presentations.Drawing.10">
                  <p:embed/>
                  <p:pic>
                    <p:nvPicPr>
                      <p:cNvPr id="50" name="Object 17">
                        <a:extLst>
                          <a:ext uri="{FF2B5EF4-FFF2-40B4-BE49-F238E27FC236}">
                            <a16:creationId xmlns:a16="http://schemas.microsoft.com/office/drawing/2014/main" id="{E93099B9-D775-4D6E-A88A-D08769561E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287" y="2091307"/>
                        <a:ext cx="16859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19">
            <a:extLst>
              <a:ext uri="{FF2B5EF4-FFF2-40B4-BE49-F238E27FC236}">
                <a16:creationId xmlns:a16="http://schemas.microsoft.com/office/drawing/2014/main" id="{55807D80-34D1-4B64-9169-E47204450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887" y="2853307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Adjacent</a:t>
            </a:r>
          </a:p>
        </p:txBody>
      </p:sp>
      <p:sp>
        <p:nvSpPr>
          <p:cNvPr id="52" name="Text Box 20">
            <a:extLst>
              <a:ext uri="{FF2B5EF4-FFF2-40B4-BE49-F238E27FC236}">
                <a16:creationId xmlns:a16="http://schemas.microsoft.com/office/drawing/2014/main" id="{FADB18B2-9AF4-42AA-9CC5-AB6B873F7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619" y="2393795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0" dirty="0"/>
              <a:t>Opposite</a:t>
            </a:r>
          </a:p>
        </p:txBody>
      </p:sp>
      <p:sp>
        <p:nvSpPr>
          <p:cNvPr id="53" name="Text Box 21">
            <a:extLst>
              <a:ext uri="{FF2B5EF4-FFF2-40B4-BE49-F238E27FC236}">
                <a16:creationId xmlns:a16="http://schemas.microsoft.com/office/drawing/2014/main" id="{8876E8DA-58AB-42F0-93D6-077C26BC0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3687" y="2624707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54" name="Text Box 24">
            <a:extLst>
              <a:ext uri="{FF2B5EF4-FFF2-40B4-BE49-F238E27FC236}">
                <a16:creationId xmlns:a16="http://schemas.microsoft.com/office/drawing/2014/main" id="{F5ECF9FD-2893-4261-9857-3213107EB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487" y="1786507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9897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46 C -0.00703 0.05185 -0.01341 0.10371 0.00352 0.11482 C 0.02045 0.1257 0.06107 0.0963 0.10157 0.066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583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C -0.04401 0.03356 -0.08763 0.0669 -0.10611 0.05602 C -0.1246 0.04491 -0.11744 -0.01088 -0.11028 -0.06644 " pathEditMode="relative" rAng="0" ptsTypes="AAA">
                                      <p:cBhvr>
                                        <p:cTn id="2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98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51" grpId="0"/>
      <p:bldP spid="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028">
            <a:extLst>
              <a:ext uri="{FF2B5EF4-FFF2-40B4-BE49-F238E27FC236}">
                <a16:creationId xmlns:a16="http://schemas.microsoft.com/office/drawing/2014/main" id="{63FF151C-8F58-465F-9E38-15EBE6A07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34938"/>
            <a:ext cx="815340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Find the sine, the cosine, and the tangent of angle A.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Give your answer correct to 4 decimal places.</a:t>
            </a:r>
          </a:p>
        </p:txBody>
      </p:sp>
      <p:graphicFrame>
        <p:nvGraphicFramePr>
          <p:cNvPr id="10249" name="Object 1033">
            <a:extLst>
              <a:ext uri="{FF2B5EF4-FFF2-40B4-BE49-F238E27FC236}">
                <a16:creationId xmlns:a16="http://schemas.microsoft.com/office/drawing/2014/main" id="{97461B19-9027-439C-83EF-305BEA0983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5776" y="990600"/>
          <a:ext cx="1928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669" imgH="418918" progId="Equation.3">
                  <p:embed/>
                </p:oleObj>
              </mc:Choice>
              <mc:Fallback>
                <p:oleObj name="Equation" r:id="rId3" imgW="761669" imgH="418918" progId="Equation.3">
                  <p:embed/>
                  <p:pic>
                    <p:nvPicPr>
                      <p:cNvPr id="10249" name="Object 1033">
                        <a:extLst>
                          <a:ext uri="{FF2B5EF4-FFF2-40B4-BE49-F238E27FC236}">
                            <a16:creationId xmlns:a16="http://schemas.microsoft.com/office/drawing/2014/main" id="{97461B19-9027-439C-83EF-305BEA098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776" y="990600"/>
                        <a:ext cx="1928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34">
            <a:extLst>
              <a:ext uri="{FF2B5EF4-FFF2-40B4-BE49-F238E27FC236}">
                <a16:creationId xmlns:a16="http://schemas.microsoft.com/office/drawing/2014/main" id="{98B5781E-F0C8-492D-BD46-1804BADB6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990600"/>
          <a:ext cx="11255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307" imgH="393529" progId="Equation.3">
                  <p:embed/>
                </p:oleObj>
              </mc:Choice>
              <mc:Fallback>
                <p:oleObj name="Equation" r:id="rId5" imgW="444307" imgH="393529" progId="Equation.3">
                  <p:embed/>
                  <p:pic>
                    <p:nvPicPr>
                      <p:cNvPr id="10250" name="Object 1034">
                        <a:extLst>
                          <a:ext uri="{FF2B5EF4-FFF2-40B4-BE49-F238E27FC236}">
                            <a16:creationId xmlns:a16="http://schemas.microsoft.com/office/drawing/2014/main" id="{98B5781E-F0C8-492D-BD46-1804BADB63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990600"/>
                        <a:ext cx="11255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035">
            <a:extLst>
              <a:ext uri="{FF2B5EF4-FFF2-40B4-BE49-F238E27FC236}">
                <a16:creationId xmlns:a16="http://schemas.microsoft.com/office/drawing/2014/main" id="{8D08ECFB-458E-43FF-920D-0163BEF7E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13716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4870" imgH="177646" progId="Equation.3">
                  <p:embed/>
                </p:oleObj>
              </mc:Choice>
              <mc:Fallback>
                <p:oleObj name="Equation" r:id="rId7" imgW="494870" imgH="177646" progId="Equation.3">
                  <p:embed/>
                  <p:pic>
                    <p:nvPicPr>
                      <p:cNvPr id="10251" name="Object 1035">
                        <a:extLst>
                          <a:ext uri="{FF2B5EF4-FFF2-40B4-BE49-F238E27FC236}">
                            <a16:creationId xmlns:a16="http://schemas.microsoft.com/office/drawing/2014/main" id="{8D08ECFB-458E-43FF-920D-0163BEF7E0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13716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036">
            <a:extLst>
              <a:ext uri="{FF2B5EF4-FFF2-40B4-BE49-F238E27FC236}">
                <a16:creationId xmlns:a16="http://schemas.microsoft.com/office/drawing/2014/main" id="{113C5D3A-1D4F-475F-9E70-7BA6809CE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7038" y="2667000"/>
          <a:ext cx="196056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4" imgH="418918" progId="Equation.3">
                  <p:embed/>
                </p:oleObj>
              </mc:Choice>
              <mc:Fallback>
                <p:oleObj name="Equation" r:id="rId9" imgW="774364" imgH="418918" progId="Equation.3">
                  <p:embed/>
                  <p:pic>
                    <p:nvPicPr>
                      <p:cNvPr id="10252" name="Object 1036">
                        <a:extLst>
                          <a:ext uri="{FF2B5EF4-FFF2-40B4-BE49-F238E27FC236}">
                            <a16:creationId xmlns:a16="http://schemas.microsoft.com/office/drawing/2014/main" id="{113C5D3A-1D4F-475F-9E70-7BA6809CE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38" y="2667000"/>
                        <a:ext cx="196056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037">
            <a:extLst>
              <a:ext uri="{FF2B5EF4-FFF2-40B4-BE49-F238E27FC236}">
                <a16:creationId xmlns:a16="http://schemas.microsoft.com/office/drawing/2014/main" id="{6ED0EF28-4F6D-4A24-8B16-8143D412B3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743200"/>
          <a:ext cx="11239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4307" imgH="393529" progId="Equation.3">
                  <p:embed/>
                </p:oleObj>
              </mc:Choice>
              <mc:Fallback>
                <p:oleObj name="Equation" r:id="rId11" imgW="444307" imgH="393529" progId="Equation.3">
                  <p:embed/>
                  <p:pic>
                    <p:nvPicPr>
                      <p:cNvPr id="10253" name="Object 1037">
                        <a:extLst>
                          <a:ext uri="{FF2B5EF4-FFF2-40B4-BE49-F238E27FC236}">
                            <a16:creationId xmlns:a16="http://schemas.microsoft.com/office/drawing/2014/main" id="{6ED0EF28-4F6D-4A24-8B16-8143D412B3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743200"/>
                        <a:ext cx="11239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038">
            <a:extLst>
              <a:ext uri="{FF2B5EF4-FFF2-40B4-BE49-F238E27FC236}">
                <a16:creationId xmlns:a16="http://schemas.microsoft.com/office/drawing/2014/main" id="{526D2B6A-DDC6-4A41-9B91-9BE129CB5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1" y="31242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4870" imgH="177646" progId="Equation.3">
                  <p:embed/>
                </p:oleObj>
              </mc:Choice>
              <mc:Fallback>
                <p:oleObj name="Equation" r:id="rId13" imgW="494870" imgH="177646" progId="Equation.3">
                  <p:embed/>
                  <p:pic>
                    <p:nvPicPr>
                      <p:cNvPr id="10254" name="Object 1038">
                        <a:extLst>
                          <a:ext uri="{FF2B5EF4-FFF2-40B4-BE49-F238E27FC236}">
                            <a16:creationId xmlns:a16="http://schemas.microsoft.com/office/drawing/2014/main" id="{526D2B6A-DDC6-4A41-9B91-9BE129CB5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1" y="31242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039">
            <a:extLst>
              <a:ext uri="{FF2B5EF4-FFF2-40B4-BE49-F238E27FC236}">
                <a16:creationId xmlns:a16="http://schemas.microsoft.com/office/drawing/2014/main" id="{6F4A3D55-F109-42F2-BA0D-798F9463E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2438" y="434975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74364" imgH="418918" progId="Equation.3">
                  <p:embed/>
                </p:oleObj>
              </mc:Choice>
              <mc:Fallback>
                <p:oleObj name="Equation" r:id="rId15" imgW="774364" imgH="418918" progId="Equation.3">
                  <p:embed/>
                  <p:pic>
                    <p:nvPicPr>
                      <p:cNvPr id="10255" name="Object 1039">
                        <a:extLst>
                          <a:ext uri="{FF2B5EF4-FFF2-40B4-BE49-F238E27FC236}">
                            <a16:creationId xmlns:a16="http://schemas.microsoft.com/office/drawing/2014/main" id="{6F4A3D55-F109-42F2-BA0D-798F9463E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434975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040">
            <a:extLst>
              <a:ext uri="{FF2B5EF4-FFF2-40B4-BE49-F238E27FC236}">
                <a16:creationId xmlns:a16="http://schemas.microsoft.com/office/drawing/2014/main" id="{76593CD5-3F3B-4446-AFC1-721DB5DAF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8439" y="4343400"/>
          <a:ext cx="67468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69" imgH="393359" progId="Equation.3">
                  <p:embed/>
                </p:oleObj>
              </mc:Choice>
              <mc:Fallback>
                <p:oleObj name="Equation" r:id="rId17" imgW="266469" imgH="393359" progId="Equation.3">
                  <p:embed/>
                  <p:pic>
                    <p:nvPicPr>
                      <p:cNvPr id="10256" name="Object 1040">
                        <a:extLst>
                          <a:ext uri="{FF2B5EF4-FFF2-40B4-BE49-F238E27FC236}">
                            <a16:creationId xmlns:a16="http://schemas.microsoft.com/office/drawing/2014/main" id="{76593CD5-3F3B-4446-AFC1-721DB5DAF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9" y="4343400"/>
                        <a:ext cx="674687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041">
            <a:extLst>
              <a:ext uri="{FF2B5EF4-FFF2-40B4-BE49-F238E27FC236}">
                <a16:creationId xmlns:a16="http://schemas.microsoft.com/office/drawing/2014/main" id="{CAB1F12D-DBB7-47C8-B9B3-9773536D3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3838" y="4654551"/>
          <a:ext cx="8683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42603" imgH="177646" progId="Equation.3">
                  <p:embed/>
                </p:oleObj>
              </mc:Choice>
              <mc:Fallback>
                <p:oleObj name="Equation" r:id="rId19" imgW="342603" imgH="177646" progId="Equation.3">
                  <p:embed/>
                  <p:pic>
                    <p:nvPicPr>
                      <p:cNvPr id="10257" name="Object 1041">
                        <a:extLst>
                          <a:ext uri="{FF2B5EF4-FFF2-40B4-BE49-F238E27FC236}">
                            <a16:creationId xmlns:a16="http://schemas.microsoft.com/office/drawing/2014/main" id="{CAB1F12D-DBB7-47C8-B9B3-9773536D3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838" y="4654551"/>
                        <a:ext cx="8683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AutoShape 1044">
            <a:extLst>
              <a:ext uri="{FF2B5EF4-FFF2-40B4-BE49-F238E27FC236}">
                <a16:creationId xmlns:a16="http://schemas.microsoft.com/office/drawing/2014/main" id="{64EEECE8-3279-403E-9F38-41D61C31A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66800"/>
            <a:ext cx="2133600" cy="2362200"/>
          </a:xfrm>
          <a:prstGeom prst="rtTriangle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4349" name="Rectangle 1045">
            <a:extLst>
              <a:ext uri="{FF2B5EF4-FFF2-40B4-BE49-F238E27FC236}">
                <a16:creationId xmlns:a16="http://schemas.microsoft.com/office/drawing/2014/main" id="{493BA139-3E83-4D1C-AB0E-0C32A1EBE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124200"/>
            <a:ext cx="304800" cy="30480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4350" name="Text Box 1046">
            <a:extLst>
              <a:ext uri="{FF2B5EF4-FFF2-40B4-BE49-F238E27FC236}">
                <a16:creationId xmlns:a16="http://schemas.microsoft.com/office/drawing/2014/main" id="{9C7CA6E6-D9AF-48F1-9951-3097F7E26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5740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9</a:t>
            </a:r>
          </a:p>
        </p:txBody>
      </p:sp>
      <p:sp>
        <p:nvSpPr>
          <p:cNvPr id="14351" name="Text Box 1047">
            <a:extLst>
              <a:ext uri="{FF2B5EF4-FFF2-40B4-BE49-F238E27FC236}">
                <a16:creationId xmlns:a16="http://schemas.microsoft.com/office/drawing/2014/main" id="{5688FBBA-616A-4EBB-B6E6-F6DE63000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81401"/>
            <a:ext cx="68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6</a:t>
            </a:r>
          </a:p>
        </p:txBody>
      </p:sp>
      <p:sp>
        <p:nvSpPr>
          <p:cNvPr id="14352" name="Text Box 1048">
            <a:extLst>
              <a:ext uri="{FF2B5EF4-FFF2-40B4-BE49-F238E27FC236}">
                <a16:creationId xmlns:a16="http://schemas.microsoft.com/office/drawing/2014/main" id="{4F4FE5E7-40E3-440C-AC17-ED6C97B20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828801"/>
            <a:ext cx="99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10.8</a:t>
            </a:r>
          </a:p>
        </p:txBody>
      </p:sp>
      <p:sp>
        <p:nvSpPr>
          <p:cNvPr id="14353" name="Text Box 1049">
            <a:extLst>
              <a:ext uri="{FF2B5EF4-FFF2-40B4-BE49-F238E27FC236}">
                <a16:creationId xmlns:a16="http://schemas.microsoft.com/office/drawing/2014/main" id="{85DF1C9E-A1DC-437F-9EA2-E2E5A865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184526"/>
            <a:ext cx="381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3">
            <a:extLst>
              <a:ext uri="{FF2B5EF4-FFF2-40B4-BE49-F238E27FC236}">
                <a16:creationId xmlns:a16="http://schemas.microsoft.com/office/drawing/2014/main" id="{E5A2FFCA-CD5D-48C9-AD06-41FBB009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4" y="959826"/>
            <a:ext cx="3276600" cy="1676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24592851-B046-45DD-99FA-96FF495EE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4" y="2255226"/>
            <a:ext cx="381000" cy="3810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B40FF011-834E-4A1D-A31A-A4CE8F11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Find the sine, the cosine, and the tangent of  angle A.</a:t>
            </a:r>
          </a:p>
        </p:txBody>
      </p:sp>
      <p:sp>
        <p:nvSpPr>
          <p:cNvPr id="15365" name="Text Box 6">
            <a:extLst>
              <a:ext uri="{FF2B5EF4-FFF2-40B4-BE49-F238E27FC236}">
                <a16:creationId xmlns:a16="http://schemas.microsoft.com/office/drawing/2014/main" id="{903C80C6-FBE5-4E99-B713-6900AA29B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2405469"/>
            <a:ext cx="533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15366" name="Text Box 7">
            <a:extLst>
              <a:ext uri="{FF2B5EF4-FFF2-40B4-BE49-F238E27FC236}">
                <a16:creationId xmlns:a16="http://schemas.microsoft.com/office/drawing/2014/main" id="{FB65D158-6BB7-4EF8-A674-C5757F378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4" y="11122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24.5</a:t>
            </a:r>
          </a:p>
        </p:txBody>
      </p:sp>
      <p:sp>
        <p:nvSpPr>
          <p:cNvPr id="15367" name="Text Box 8">
            <a:extLst>
              <a:ext uri="{FF2B5EF4-FFF2-40B4-BE49-F238E27FC236}">
                <a16:creationId xmlns:a16="http://schemas.microsoft.com/office/drawing/2014/main" id="{F9327619-0851-4C31-AF37-069C6501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4" y="27886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23.1</a:t>
            </a:r>
          </a:p>
        </p:txBody>
      </p:sp>
      <p:sp>
        <p:nvSpPr>
          <p:cNvPr id="15368" name="Text Box 9">
            <a:extLst>
              <a:ext uri="{FF2B5EF4-FFF2-40B4-BE49-F238E27FC236}">
                <a16:creationId xmlns:a16="http://schemas.microsoft.com/office/drawing/2014/main" id="{C16C4457-346C-47BC-92DD-4C466BE50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924" y="1569427"/>
            <a:ext cx="114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000"/>
              <a:t>8.2</a:t>
            </a:r>
          </a:p>
        </p:txBody>
      </p:sp>
      <p:graphicFrame>
        <p:nvGraphicFramePr>
          <p:cNvPr id="2058" name="Object 10">
            <a:extLst>
              <a:ext uri="{FF2B5EF4-FFF2-40B4-BE49-F238E27FC236}">
                <a16:creationId xmlns:a16="http://schemas.microsoft.com/office/drawing/2014/main" id="{A23149C4-0557-4315-A002-DD54F7652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6" y="2362200"/>
          <a:ext cx="192881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669" imgH="418918" progId="Equation.3">
                  <p:embed/>
                </p:oleObj>
              </mc:Choice>
              <mc:Fallback>
                <p:oleObj name="Equation" r:id="rId3" imgW="761669" imgH="418918" progId="Equation.3">
                  <p:embed/>
                  <p:pic>
                    <p:nvPicPr>
                      <p:cNvPr id="2058" name="Object 10">
                        <a:extLst>
                          <a:ext uri="{FF2B5EF4-FFF2-40B4-BE49-F238E27FC236}">
                            <a16:creationId xmlns:a16="http://schemas.microsoft.com/office/drawing/2014/main" id="{A23149C4-0557-4315-A002-DD54F7652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6" y="2362200"/>
                        <a:ext cx="192881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" name="Object 11">
            <a:extLst>
              <a:ext uri="{FF2B5EF4-FFF2-40B4-BE49-F238E27FC236}">
                <a16:creationId xmlns:a16="http://schemas.microsoft.com/office/drawing/2014/main" id="{CD0C7B6B-00BF-4378-A177-2ED5A565D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2355850"/>
          <a:ext cx="11572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002" imgH="393529" progId="Equation.3">
                  <p:embed/>
                </p:oleObj>
              </mc:Choice>
              <mc:Fallback>
                <p:oleObj name="Equation" r:id="rId5" imgW="457002" imgH="393529" progId="Equation.3">
                  <p:embed/>
                  <p:pic>
                    <p:nvPicPr>
                      <p:cNvPr id="2059" name="Object 11">
                        <a:extLst>
                          <a:ext uri="{FF2B5EF4-FFF2-40B4-BE49-F238E27FC236}">
                            <a16:creationId xmlns:a16="http://schemas.microsoft.com/office/drawing/2014/main" id="{CD0C7B6B-00BF-4378-A177-2ED5A565D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355850"/>
                        <a:ext cx="115728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0" name="Object 12">
            <a:extLst>
              <a:ext uri="{FF2B5EF4-FFF2-40B4-BE49-F238E27FC236}">
                <a16:creationId xmlns:a16="http://schemas.microsoft.com/office/drawing/2014/main" id="{F7F28AD2-CB8F-4C83-8658-EA7F9418E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2736851"/>
          <a:ext cx="1285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780" imgH="177723" progId="Equation.3">
                  <p:embed/>
                </p:oleObj>
              </mc:Choice>
              <mc:Fallback>
                <p:oleObj name="Equation" r:id="rId7" imgW="507780" imgH="177723" progId="Equation.3">
                  <p:embed/>
                  <p:pic>
                    <p:nvPicPr>
                      <p:cNvPr id="2060" name="Object 12">
                        <a:extLst>
                          <a:ext uri="{FF2B5EF4-FFF2-40B4-BE49-F238E27FC236}">
                            <a16:creationId xmlns:a16="http://schemas.microsoft.com/office/drawing/2014/main" id="{F7F28AD2-CB8F-4C83-8658-EA7F9418E5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2736851"/>
                        <a:ext cx="12858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>
            <a:extLst>
              <a:ext uri="{FF2B5EF4-FFF2-40B4-BE49-F238E27FC236}">
                <a16:creationId xmlns:a16="http://schemas.microsoft.com/office/drawing/2014/main" id="{E4BBA6AF-72D4-44E1-AF9A-7EC293EF4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1650" y="358140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4" imgH="418918" progId="Equation.3">
                  <p:embed/>
                </p:oleObj>
              </mc:Choice>
              <mc:Fallback>
                <p:oleObj name="Equation" r:id="rId9" imgW="774364" imgH="418918" progId="Equation.3">
                  <p:embed/>
                  <p:pic>
                    <p:nvPicPr>
                      <p:cNvPr id="2061" name="Object 13">
                        <a:extLst>
                          <a:ext uri="{FF2B5EF4-FFF2-40B4-BE49-F238E27FC236}">
                            <a16:creationId xmlns:a16="http://schemas.microsoft.com/office/drawing/2014/main" id="{E4BBA6AF-72D4-44E1-AF9A-7EC293EF4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358140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2" name="Object 14">
            <a:extLst>
              <a:ext uri="{FF2B5EF4-FFF2-40B4-BE49-F238E27FC236}">
                <a16:creationId xmlns:a16="http://schemas.microsoft.com/office/drawing/2014/main" id="{F52A4848-EB38-43A5-9FFE-053A5B02D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581400"/>
          <a:ext cx="115728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393529" progId="Equation.3">
                  <p:embed/>
                </p:oleObj>
              </mc:Choice>
              <mc:Fallback>
                <p:oleObj name="Equation" r:id="rId11" imgW="457002" imgH="393529" progId="Equation.3">
                  <p:embed/>
                  <p:pic>
                    <p:nvPicPr>
                      <p:cNvPr id="2062" name="Object 14">
                        <a:extLst>
                          <a:ext uri="{FF2B5EF4-FFF2-40B4-BE49-F238E27FC236}">
                            <a16:creationId xmlns:a16="http://schemas.microsoft.com/office/drawing/2014/main" id="{F52A4848-EB38-43A5-9FFE-053A5B02D0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581400"/>
                        <a:ext cx="115728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Object 15">
            <a:extLst>
              <a:ext uri="{FF2B5EF4-FFF2-40B4-BE49-F238E27FC236}">
                <a16:creationId xmlns:a16="http://schemas.microsoft.com/office/drawing/2014/main" id="{1BE7C29E-545C-463A-BA0A-EA82F0EBB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1" y="4038601"/>
          <a:ext cx="12541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4870" imgH="177646" progId="Equation.3">
                  <p:embed/>
                </p:oleObj>
              </mc:Choice>
              <mc:Fallback>
                <p:oleObj name="Equation" r:id="rId13" imgW="494870" imgH="177646" progId="Equation.3">
                  <p:embed/>
                  <p:pic>
                    <p:nvPicPr>
                      <p:cNvPr id="2063" name="Object 15">
                        <a:extLst>
                          <a:ext uri="{FF2B5EF4-FFF2-40B4-BE49-F238E27FC236}">
                            <a16:creationId xmlns:a16="http://schemas.microsoft.com/office/drawing/2014/main" id="{1BE7C29E-545C-463A-BA0A-EA82F0EBB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4038601"/>
                        <a:ext cx="12541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Object 16">
            <a:extLst>
              <a:ext uri="{FF2B5EF4-FFF2-40B4-BE49-F238E27FC236}">
                <a16:creationId xmlns:a16="http://schemas.microsoft.com/office/drawing/2014/main" id="{C5B935E7-AC8C-4450-8586-2749FB519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953000"/>
          <a:ext cx="19621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74364" imgH="418918" progId="Equation.3">
                  <p:embed/>
                </p:oleObj>
              </mc:Choice>
              <mc:Fallback>
                <p:oleObj name="Equation" r:id="rId15" imgW="774364" imgH="418918" progId="Equation.3">
                  <p:embed/>
                  <p:pic>
                    <p:nvPicPr>
                      <p:cNvPr id="2064" name="Object 16">
                        <a:extLst>
                          <a:ext uri="{FF2B5EF4-FFF2-40B4-BE49-F238E27FC236}">
                            <a16:creationId xmlns:a16="http://schemas.microsoft.com/office/drawing/2014/main" id="{C5B935E7-AC8C-4450-8586-2749FB519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953000"/>
                        <a:ext cx="19621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5" name="Object 17">
            <a:extLst>
              <a:ext uri="{FF2B5EF4-FFF2-40B4-BE49-F238E27FC236}">
                <a16:creationId xmlns:a16="http://schemas.microsoft.com/office/drawing/2014/main" id="{6567AB59-0B8F-4CC7-97B9-4F67EA459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5029200"/>
          <a:ext cx="11255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393529" progId="Equation.3">
                  <p:embed/>
                </p:oleObj>
              </mc:Choice>
              <mc:Fallback>
                <p:oleObj name="Equation" r:id="rId17" imgW="444307" imgH="393529" progId="Equation.3">
                  <p:embed/>
                  <p:pic>
                    <p:nvPicPr>
                      <p:cNvPr id="2065" name="Object 17">
                        <a:extLst>
                          <a:ext uri="{FF2B5EF4-FFF2-40B4-BE49-F238E27FC236}">
                            <a16:creationId xmlns:a16="http://schemas.microsoft.com/office/drawing/2014/main" id="{6567AB59-0B8F-4CC7-97B9-4F67EA459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029200"/>
                        <a:ext cx="11255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6" name="Object 18">
            <a:extLst>
              <a:ext uri="{FF2B5EF4-FFF2-40B4-BE49-F238E27FC236}">
                <a16:creationId xmlns:a16="http://schemas.microsoft.com/office/drawing/2014/main" id="{29AA9BAA-30C8-4AA6-835F-CD14A990B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5410201"/>
          <a:ext cx="12858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07960" imgH="177480" progId="Equation.3">
                  <p:embed/>
                </p:oleObj>
              </mc:Choice>
              <mc:Fallback>
                <p:oleObj name="Equation" r:id="rId19" imgW="507960" imgH="177480" progId="Equation.3">
                  <p:embed/>
                  <p:pic>
                    <p:nvPicPr>
                      <p:cNvPr id="2066" name="Object 18">
                        <a:extLst>
                          <a:ext uri="{FF2B5EF4-FFF2-40B4-BE49-F238E27FC236}">
                            <a16:creationId xmlns:a16="http://schemas.microsoft.com/office/drawing/2014/main" id="{29AA9BAA-30C8-4AA6-835F-CD14A990B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5410201"/>
                        <a:ext cx="12858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Text Box 21">
            <a:extLst>
              <a:ext uri="{FF2B5EF4-FFF2-40B4-BE49-F238E27FC236}">
                <a16:creationId xmlns:a16="http://schemas.microsoft.com/office/drawing/2014/main" id="{BC7DDA1D-7140-4781-9618-81279F718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762001"/>
            <a:ext cx="3962400" cy="1292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dirty="0">
                <a:latin typeface="Comic Sans MS" panose="030F0702030302020204" pitchFamily="66" charset="0"/>
              </a:rPr>
              <a:t>Give your answer correct to 4 decimal places.</a:t>
            </a:r>
          </a:p>
        </p:txBody>
      </p:sp>
      <p:sp>
        <p:nvSpPr>
          <p:cNvPr id="2071" name="Text Box 23">
            <a:extLst>
              <a:ext uri="{FF2B5EF4-FFF2-40B4-BE49-F238E27FC236}">
                <a16:creationId xmlns:a16="http://schemas.microsoft.com/office/drawing/2014/main" id="{35F21707-BC94-4E81-8FC6-AED0C3C1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226" y="3715435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2072" name="Picture 24" descr="MCj00787170000[1]">
            <a:extLst>
              <a:ext uri="{FF2B5EF4-FFF2-40B4-BE49-F238E27FC236}">
                <a16:creationId xmlns:a16="http://schemas.microsoft.com/office/drawing/2014/main" id="{2989318C-1C6C-49A5-833C-E5FB2386E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8" y="2255226"/>
            <a:ext cx="1920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" name="Text Box 25">
            <a:extLst>
              <a:ext uri="{FF2B5EF4-FFF2-40B4-BE49-F238E27FC236}">
                <a16:creationId xmlns:a16="http://schemas.microsoft.com/office/drawing/2014/main" id="{1E9B36ED-A654-47F2-B363-4339025F3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694957"/>
            <a:ext cx="457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i="1" dirty="0">
                <a:latin typeface="Century Gothic" panose="020B0502020202020204" pitchFamily="34" charset="0"/>
              </a:rPr>
              <a:t>Now, figure out your ratios.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" grpId="0"/>
      <p:bldP spid="207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52D22D-3E5B-4D20-8B35-4215E79A1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171450"/>
            <a:ext cx="1016317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97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CACC7-8DCD-44CB-B9A5-EBDBD3E94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747712"/>
            <a:ext cx="86582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28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7C4BF-08A7-48C1-AB0F-618322977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2105025"/>
            <a:ext cx="95345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1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Microsoft Office PowerPoint</Application>
  <PresentationFormat>Widescreen</PresentationFormat>
  <Paragraphs>243</Paragraphs>
  <Slides>42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7" baseType="lpstr">
      <vt:lpstr>Arial</vt:lpstr>
      <vt:lpstr>Arial Black</vt:lpstr>
      <vt:lpstr>Calibri</vt:lpstr>
      <vt:lpstr>Calibri Light</vt:lpstr>
      <vt:lpstr>Century Gothic</vt:lpstr>
      <vt:lpstr>Comic Sans MS</vt:lpstr>
      <vt:lpstr>Curlz MT</vt:lpstr>
      <vt:lpstr>Helvetica</vt:lpstr>
      <vt:lpstr>Kristen ITC</vt:lpstr>
      <vt:lpstr>Times New Roman</vt:lpstr>
      <vt:lpstr>Wingdings</vt:lpstr>
      <vt:lpstr>Office Theme</vt:lpstr>
      <vt:lpstr>Document</vt:lpstr>
      <vt:lpstr>Equation</vt:lpstr>
      <vt:lpstr>Drawing</vt:lpstr>
      <vt:lpstr>Topic: Right-Angled Triangles</vt:lpstr>
      <vt:lpstr>PowerPoint Presentation</vt:lpstr>
      <vt:lpstr>Trig Ratios</vt:lpstr>
      <vt:lpstr>PowerPoint Presentation</vt:lpstr>
      <vt:lpstr>PowerPoint Presentation</vt:lpstr>
      <vt:lpstr>Student Activity</vt:lpstr>
      <vt:lpstr>Trig Ratios</vt:lpstr>
      <vt:lpstr>Trig Ratios</vt:lpstr>
      <vt:lpstr>PowerPoint Presentation</vt:lpstr>
      <vt:lpstr>PowerPoint Presentation</vt:lpstr>
      <vt:lpstr>Trig Ratios</vt:lpstr>
      <vt:lpstr>Trig Ratios</vt:lpstr>
      <vt:lpstr>PowerPoint Presentation</vt:lpstr>
      <vt:lpstr>Trig Ratios</vt:lpstr>
      <vt:lpstr>Trig Ratios</vt:lpstr>
      <vt:lpstr>PowerPoint Presentation</vt:lpstr>
      <vt:lpstr>Trig Ratios</vt:lpstr>
      <vt:lpstr>Trig Ratios</vt:lpstr>
      <vt:lpstr>Trig Ratios</vt:lpstr>
      <vt:lpstr>PowerPoint Presentation</vt:lpstr>
      <vt:lpstr>PowerPoint Presentation</vt:lpstr>
      <vt:lpstr>Trig Ratios</vt:lpstr>
      <vt:lpstr>Student Activity</vt:lpstr>
      <vt:lpstr>PowerPoint Presentation</vt:lpstr>
      <vt:lpstr>Trig Ratios</vt:lpstr>
      <vt:lpstr>PowerPoint Presentation</vt:lpstr>
      <vt:lpstr>PowerPoint Presentation</vt:lpstr>
      <vt:lpstr>PowerPoint Presentation</vt:lpstr>
      <vt:lpstr>Trig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Right-Angled Triangles</dc:title>
  <dc:creator>Sarah JAMES</dc:creator>
  <cp:lastModifiedBy>Sarah JAMES</cp:lastModifiedBy>
  <cp:revision>1</cp:revision>
  <dcterms:created xsi:type="dcterms:W3CDTF">2021-03-02T12:36:41Z</dcterms:created>
  <dcterms:modified xsi:type="dcterms:W3CDTF">2021-03-02T12:37:14Z</dcterms:modified>
</cp:coreProperties>
</file>
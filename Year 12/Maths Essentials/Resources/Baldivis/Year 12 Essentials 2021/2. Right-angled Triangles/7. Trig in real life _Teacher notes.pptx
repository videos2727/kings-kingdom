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61" r:id="rId4"/>
    <p:sldId id="277" r:id="rId5"/>
    <p:sldId id="260" r:id="rId6"/>
    <p:sldId id="273" r:id="rId7"/>
    <p:sldId id="274" r:id="rId8"/>
    <p:sldId id="275" r:id="rId9"/>
    <p:sldId id="258" r:id="rId10"/>
    <p:sldId id="259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A81F-4AAC-4408-99FA-5B38B43A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30EB2-1C81-43EE-82B0-3DA7BAEB0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9761-DE03-4CCC-9EC5-0E454827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B83B7-F5A8-4669-BE1D-167D904B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C53FB-BCEE-4BA8-9218-264B18C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638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365A-165B-4A64-AD9D-3FCE22DB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D0EE9-C82A-4DA9-939E-61B46581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D50C-08CE-47FF-AD09-969D945F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9D484-3AB4-407B-8DE9-E7C64999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BA307-CE03-4138-960C-748B5607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81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4C6A-570C-4F50-9806-E922F84F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D135-ED8D-4528-9BD9-52B321F05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017DF-F290-4C1C-8573-A9AAE8D2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B7407-C211-47FD-9BD0-67459184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60F8-BF41-4265-B66A-75FD9381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25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A3F4-9E12-4C37-88FB-3B13FC3E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1F138-8B07-43BE-BB77-AA2BC8253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FA498-ACCE-45FA-90F4-14C74E060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CCE4E-8E2A-4BCF-B76C-6DDDCBEE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C1859-B217-45C3-B842-6CA7B1C0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6B70C-5779-4397-A8BD-F2AB4AA0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81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3948-4470-429B-85FE-4EEB3ED6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CA748-3318-49CF-A70F-34A6FC245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6E2F-FF6A-454E-8C3D-2D40D916A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408DA-CCDC-41EC-87E1-6B366A109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09B36-E353-4D9E-B5D5-14A5C2A8A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7851B-804C-44F6-B1DA-56379314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39AAE-C1C6-4FCE-9C22-4385ACB1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DCAC5-6C5E-4AE7-9BF9-FDB6DAFB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58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4595-F76F-4398-A902-F2540ED5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0CA20-8A4C-4BC1-9EF0-5C247A50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EE52F-6BEC-4488-99DF-4247D7E3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12206-CF58-4888-814E-6CEC7C9E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4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B365B-E72F-4016-A7CD-DAB048C3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F7431-5266-4B09-A20B-59786B43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1C622-9716-487E-A6CB-53186FA2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2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88B5-23FE-4D6A-A108-6FD769FC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8DBC-64C1-4ED7-98E3-B527096DF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7A18A-BBF4-42F9-837C-0A409CFD4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4404C-917B-4CB3-9870-2C9893A6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03C6E-5C14-4594-87B4-59DBA3E8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CB579-6A24-4161-BECD-1AE01670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98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4205-B29C-40D7-B318-5AF58D38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2479B-76A9-42F1-9082-077ACA7F9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CFF39-D34C-4D45-AD4F-DCAE49552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C1209-139E-40EC-A992-708FC2C0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5CC4D-0D95-46A7-AAAE-5F1A1285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8846D-C68F-4B9D-B3F8-7D3C705A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25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D811-CFAC-481E-BF02-714FB42A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74479-2F93-4784-9FC1-0CE9DA1D5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7EEF6-D53E-4D58-AED6-D0C27B1F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F401-EFF5-4B2C-97C4-C8CB40C8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E615-73E1-4197-B0CE-9964D567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39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F200B-9A40-45E1-85A3-4ED471342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8979F-C2F0-4788-9EAD-5B97F9E00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15510-7F11-4A79-8379-68C95889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3F3B6-BC1D-4E24-9187-37F965D8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36F7-5B03-46FB-9DEB-A671C018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72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E749A-56A0-480F-B21E-A085786C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ECB11-BF74-4263-8786-DC1162661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11343-21B5-4A44-BB06-F04AF5DC8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577F9-11B3-480B-9DDB-A33AB4B4CF7E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3FD43-DF95-495F-8E01-6D3E9EB62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24D44-571E-4921-813E-9237A2515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B93BB-8D9A-49AB-90E1-1B7F9A4E8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10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1.jpeg"/><Relationship Id="rId7" Type="http://schemas.openxmlformats.org/officeDocument/2006/relationships/image" Target="../media/image13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2.bin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6.gif"/><Relationship Id="rId7" Type="http://schemas.openxmlformats.org/officeDocument/2006/relationships/oleObject" Target="../embeddings/oleObject14.bin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F85D-3B6F-472C-A17D-4C2F98FFE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Teacher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026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BFB2-EC16-405C-986F-857FAB92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Topic: Right-angled triangles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523A-CBC9-4A97-B0C2-5BEA847A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EQ: Using trigonometry in real life scenarios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7156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Definitions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u="sng">
                <a:solidFill>
                  <a:srgbClr val="FFC000"/>
                </a:solidFill>
                <a:ea typeface="ＭＳ Ｐゴシック" pitchFamily="34" charset="-128"/>
              </a:rPr>
              <a:t>Angle of Elevation </a:t>
            </a:r>
            <a:r>
              <a:rPr lang="en-US">
                <a:ea typeface="ＭＳ Ｐゴシック" pitchFamily="34" charset="-128"/>
              </a:rPr>
              <a:t>- is the angle between the horizontal and the line of sight to an object above the horizontal.</a:t>
            </a:r>
          </a:p>
          <a:p>
            <a:pPr eaLnBrk="1" hangingPunct="1"/>
            <a:endParaRPr lang="en-US">
              <a:ea typeface="ＭＳ Ｐゴシック" pitchFamily="34" charset="-128"/>
            </a:endParaRPr>
          </a:p>
          <a:p>
            <a:pPr eaLnBrk="1" hangingPunct="1"/>
            <a:r>
              <a:rPr lang="en-US" b="1" u="sng">
                <a:solidFill>
                  <a:srgbClr val="FF0000"/>
                </a:solidFill>
                <a:ea typeface="ＭＳ Ｐゴシック" pitchFamily="34" charset="-128"/>
              </a:rPr>
              <a:t>Angle of Depression </a:t>
            </a:r>
            <a:r>
              <a:rPr lang="en-US">
                <a:ea typeface="ＭＳ Ｐゴシック" pitchFamily="34" charset="-128"/>
              </a:rPr>
              <a:t>- is the angle between the horizontal and the line of sight to an object beneath the horizontal.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16" descr="MCBD19883_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5334001"/>
            <a:ext cx="1579563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Vocabulary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905000"/>
            <a:ext cx="3657600" cy="4114800"/>
          </a:xfrm>
        </p:spPr>
        <p:txBody>
          <a:bodyPr/>
          <a:lstStyle/>
          <a:p>
            <a:pPr eaLnBrk="1" hangingPunct="1"/>
            <a:r>
              <a:rPr lang="en-US" sz="2600">
                <a:ea typeface="ＭＳ Ｐゴシック" pitchFamily="34" charset="-128"/>
              </a:rPr>
              <a:t>Angle of Depression and Angle of Elevation are Equal</a:t>
            </a:r>
          </a:p>
        </p:txBody>
      </p:sp>
      <p:pic>
        <p:nvPicPr>
          <p:cNvPr id="6151" name="Picture 7" descr="MCj0388678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600201"/>
            <a:ext cx="18288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4572000" y="5562600"/>
            <a:ext cx="4267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V="1">
            <a:off x="4572000" y="2514600"/>
            <a:ext cx="4191000" cy="3048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5562600" y="2514600"/>
            <a:ext cx="32004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5410200" y="2667001"/>
            <a:ext cx="342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latin typeface="Comic Sans MS" pitchFamily="66" charset="0"/>
              </a:rPr>
              <a:t>Angle of Depression</a:t>
            </a: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5562600" y="5029201"/>
            <a:ext cx="342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latin typeface="Comic Sans MS" pitchFamily="66" charset="0"/>
              </a:rPr>
              <a:t>Angle of Elevation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5486400" y="2057401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C4B14"/>
                </a:solidFill>
                <a:latin typeface="Comic Sans MS" pitchFamily="66" charset="0"/>
              </a:rPr>
              <a:t>Horizontal Line</a:t>
            </a: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5257800" y="5638801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C4B14"/>
                </a:solidFill>
                <a:latin typeface="Comic Sans MS" pitchFamily="66" charset="0"/>
              </a:rPr>
              <a:t>Horizontal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" grpId="0" build="p"/>
      <p:bldP spid="6155" grpId="0" animBg="1"/>
      <p:bldP spid="6156" grpId="0" animBg="1"/>
      <p:bldP spid="6157" grpId="0" animBg="1"/>
      <p:bldP spid="6158" grpId="0"/>
      <p:bldP spid="6159" grpId="0"/>
      <p:bldP spid="6161" grpId="0"/>
      <p:bldP spid="61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Identifying Angles of Elevation and Depression</a:t>
            </a:r>
          </a:p>
        </p:txBody>
      </p:sp>
      <p:pic>
        <p:nvPicPr>
          <p:cNvPr id="28674" name="Picture 6" descr="MMj0336929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810000"/>
            <a:ext cx="20383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7" descr="MCj0398535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6" y="4951252"/>
            <a:ext cx="18383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Line 8"/>
          <p:cNvSpPr>
            <a:spLocks noChangeShapeType="1"/>
          </p:cNvSpPr>
          <p:nvPr/>
        </p:nvSpPr>
        <p:spPr bwMode="auto">
          <a:xfrm flipV="1">
            <a:off x="3657600" y="4191000"/>
            <a:ext cx="59436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77" name="Line 9"/>
          <p:cNvSpPr>
            <a:spLocks noChangeShapeType="1"/>
          </p:cNvSpPr>
          <p:nvPr/>
        </p:nvSpPr>
        <p:spPr bwMode="auto">
          <a:xfrm flipV="1">
            <a:off x="3657600" y="5791200"/>
            <a:ext cx="5715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78" name="Line 10"/>
          <p:cNvSpPr>
            <a:spLocks noChangeShapeType="1"/>
          </p:cNvSpPr>
          <p:nvPr/>
        </p:nvSpPr>
        <p:spPr bwMode="auto">
          <a:xfrm flipV="1">
            <a:off x="3657600" y="4114800"/>
            <a:ext cx="6019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7620001" y="4114801"/>
          <a:ext cx="2127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707" imgH="164742" progId="Equation.3">
                  <p:embed/>
                </p:oleObj>
              </mc:Choice>
              <mc:Fallback>
                <p:oleObj name="Equation" r:id="rId4" imgW="88707" imgH="164742" progId="Equation.3">
                  <p:embed/>
                  <p:pic>
                    <p:nvPicPr>
                      <p:cNvPr id="194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114801"/>
                        <a:ext cx="2127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4876801" y="5334001"/>
          <a:ext cx="3032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80" imgH="164814" progId="Equation.3">
                  <p:embed/>
                </p:oleObj>
              </mc:Choice>
              <mc:Fallback>
                <p:oleObj name="Equation" r:id="rId6" imgW="126780" imgH="164814" progId="Equation.3">
                  <p:embed/>
                  <p:pic>
                    <p:nvPicPr>
                      <p:cNvPr id="194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5334001"/>
                        <a:ext cx="3032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1905000" y="1676400"/>
          <a:ext cx="8243888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200" imgH="660400" progId="Equation.3">
                  <p:embed/>
                </p:oleObj>
              </mc:Choice>
              <mc:Fallback>
                <p:oleObj name="Equation" r:id="rId8" imgW="2616200" imgH="660400" progId="Equation.3">
                  <p:embed/>
                  <p:pic>
                    <p:nvPicPr>
                      <p:cNvPr id="194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76400"/>
                        <a:ext cx="8243888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524000" y="833865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Example 1: Classifying Angles of Elevation and Depression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828800" y="1974762"/>
            <a:ext cx="510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978400" algn="l"/>
              </a:tabLst>
            </a:pP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Classify each angle as an angle of elevation or an angle of depression.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09751"/>
            <a:ext cx="3790950" cy="171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828801" y="32766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1 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828800" y="4260762"/>
            <a:ext cx="76342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1 is formed by a horizontal line and a line of sight to a point below the line. It is an angle of depression. </a:t>
            </a:r>
          </a:p>
        </p:txBody>
      </p:sp>
    </p:spTree>
    <p:extLst>
      <p:ext uri="{BB962C8B-B14F-4D97-AF65-F5344CB8AC3E}">
        <p14:creationId xmlns:p14="http://schemas.microsoft.com/office/powerpoint/2010/main" val="1341309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833865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Example 2: Classifying Angles of Elevation and Depression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828800" y="1974762"/>
            <a:ext cx="510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978400" algn="l"/>
              </a:tabLst>
            </a:pP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Classify each angle as an angle of elevation or an angle of depression.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09751"/>
            <a:ext cx="3790950" cy="171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828801" y="32766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4 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1905001" y="4191001"/>
            <a:ext cx="8315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4 is formed by a horizontal line and a line of sight to a point above the line. It is an angle of elevation.</a:t>
            </a:r>
          </a:p>
        </p:txBody>
      </p:sp>
    </p:spTree>
    <p:extLst>
      <p:ext uri="{BB962C8B-B14F-4D97-AF65-F5344CB8AC3E}">
        <p14:creationId xmlns:p14="http://schemas.microsoft.com/office/powerpoint/2010/main" val="62322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524000" y="838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 Black" pitchFamily="34" charset="0"/>
              </a:rPr>
              <a:t>Check It Out!</a:t>
            </a: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 Example 3 </a:t>
            </a:r>
            <a:endParaRPr lang="en-US" altLang="en-US" sz="2600">
              <a:solidFill>
                <a:srgbClr val="333399"/>
              </a:solidFill>
              <a:latin typeface="Arial MT Bl" charset="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828800" y="1524000"/>
            <a:ext cx="579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Use the diagram above to classify each angle as an angle of elevation or angle of depression.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1627188"/>
            <a:ext cx="3067050" cy="210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905001" y="3200400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3a. 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5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905000" y="5029200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3b. 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6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905001" y="5562601"/>
            <a:ext cx="8315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6 is formed by a horizontal line and a line of sight to a point above the line. It is an angle of elevation.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1905000" y="3803562"/>
            <a:ext cx="76342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5 is formed by a horizontal line and a line of sight to a point below the line. It is an angle of depression. </a:t>
            </a:r>
          </a:p>
        </p:txBody>
      </p:sp>
    </p:spTree>
    <p:extLst>
      <p:ext uri="{BB962C8B-B14F-4D97-AF65-F5344CB8AC3E}">
        <p14:creationId xmlns:p14="http://schemas.microsoft.com/office/powerpoint/2010/main" val="1026105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174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11" descr="MCj0406324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3352800"/>
            <a:ext cx="15652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A Line of Sight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82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pitchFamily="34" charset="-128"/>
              </a:rPr>
              <a:t>You sight a rock climber on a cliff at a 32</a:t>
            </a:r>
            <a:r>
              <a:rPr lang="en-US" baseline="30000" dirty="0">
                <a:ea typeface="ＭＳ Ｐゴシック" pitchFamily="34" charset="-128"/>
              </a:rPr>
              <a:t>o</a:t>
            </a:r>
            <a:r>
              <a:rPr lang="en-US" dirty="0">
                <a:ea typeface="ＭＳ Ｐゴシック" pitchFamily="34" charset="-128"/>
              </a:rPr>
              <a:t> angle of elevation.  The horizontal ground distance to the cliff is 305 m.  Find the line of sight distance to the rock climber.</a:t>
            </a:r>
          </a:p>
        </p:txBody>
      </p:sp>
      <p:pic>
        <p:nvPicPr>
          <p:cNvPr id="29700" name="Picture 6" descr="MPj0387540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5410200"/>
            <a:ext cx="76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Line 8"/>
          <p:cNvSpPr>
            <a:spLocks noChangeShapeType="1"/>
          </p:cNvSpPr>
          <p:nvPr/>
        </p:nvSpPr>
        <p:spPr bwMode="auto">
          <a:xfrm flipH="1">
            <a:off x="7010400" y="6324600"/>
            <a:ext cx="2743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2" name="Line 7"/>
          <p:cNvSpPr>
            <a:spLocks noChangeShapeType="1"/>
          </p:cNvSpPr>
          <p:nvPr/>
        </p:nvSpPr>
        <p:spPr bwMode="auto">
          <a:xfrm flipH="1" flipV="1">
            <a:off x="7010400" y="3429000"/>
            <a:ext cx="2743200" cy="2895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3" name="Line 12"/>
          <p:cNvSpPr>
            <a:spLocks noChangeShapeType="1"/>
          </p:cNvSpPr>
          <p:nvPr/>
        </p:nvSpPr>
        <p:spPr bwMode="auto">
          <a:xfrm>
            <a:off x="7010400" y="3429000"/>
            <a:ext cx="0" cy="2895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8839200" y="5867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670" imgH="177569" progId="Equation.3">
                  <p:embed/>
                </p:oleObj>
              </mc:Choice>
              <mc:Fallback>
                <p:oleObj name="Equation" r:id="rId4" imgW="253670" imgH="177569" progId="Equation.3">
                  <p:embed/>
                  <p:pic>
                    <p:nvPicPr>
                      <p:cNvPr id="15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867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848600" y="6400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305 m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8305800" y="441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i="1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2779713" y="3200400"/>
          <a:ext cx="25574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393480" progId="Equation.3">
                  <p:embed/>
                </p:oleObj>
              </mc:Choice>
              <mc:Fallback>
                <p:oleObj name="Equation" r:id="rId6" imgW="914400" imgH="393480" progId="Equation.3">
                  <p:embed/>
                  <p:pic>
                    <p:nvPicPr>
                      <p:cNvPr id="1537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3200400"/>
                        <a:ext cx="25574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/>
          <p:cNvGraphicFramePr>
            <a:graphicFrameLocks noChangeAspect="1"/>
          </p:cNvGraphicFramePr>
          <p:nvPr/>
        </p:nvGraphicFramePr>
        <p:xfrm>
          <a:off x="2978150" y="4419600"/>
          <a:ext cx="2165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393480" progId="Equation.3">
                  <p:embed/>
                </p:oleObj>
              </mc:Choice>
              <mc:Fallback>
                <p:oleObj name="Equation" r:id="rId8" imgW="774360" imgH="393480" progId="Equation.3">
                  <p:embed/>
                  <p:pic>
                    <p:nvPicPr>
                      <p:cNvPr id="1537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4419600"/>
                        <a:ext cx="21653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19"/>
          <p:cNvGraphicFramePr>
            <a:graphicFrameLocks noChangeAspect="1"/>
          </p:cNvGraphicFramePr>
          <p:nvPr/>
        </p:nvGraphicFramePr>
        <p:xfrm>
          <a:off x="3101976" y="6096001"/>
          <a:ext cx="18462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240" imgH="177480" progId="Equation.3">
                  <p:embed/>
                </p:oleObj>
              </mc:Choice>
              <mc:Fallback>
                <p:oleObj name="Equation" r:id="rId10" imgW="660240" imgH="177480" progId="Equation.3">
                  <p:embed/>
                  <p:pic>
                    <p:nvPicPr>
                      <p:cNvPr id="1537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6" y="6096001"/>
                        <a:ext cx="184626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3048000" y="6019800"/>
            <a:ext cx="1981200" cy="609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/>
      <p:bldP spid="15375" grpId="0"/>
      <p:bldP spid="153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 An Airplane Example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05800" cy="4114800"/>
          </a:xfrm>
        </p:spPr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An airplane pilots sights a life raft at a 26</a:t>
            </a:r>
            <a:r>
              <a:rPr lang="en-US" baseline="30000">
                <a:ea typeface="ＭＳ Ｐゴシック" pitchFamily="34" charset="-128"/>
              </a:rPr>
              <a:t>o</a:t>
            </a:r>
            <a:r>
              <a:rPr lang="en-US">
                <a:ea typeface="ＭＳ Ｐゴシック" pitchFamily="34" charset="-128"/>
              </a:rPr>
              <a:t> angle of depression.  The airplane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>
                <a:ea typeface="ＭＳ Ｐゴシック" pitchFamily="34" charset="-128"/>
              </a:rPr>
              <a:t>s altitude is 3 km.  What is the airplane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>
                <a:ea typeface="ＭＳ Ｐゴシック" pitchFamily="34" charset="-128"/>
              </a:rPr>
              <a:t>s surface distance </a:t>
            </a:r>
            <a:r>
              <a:rPr lang="en-US" altLang="ja-JP" i="1">
                <a:ea typeface="ＭＳ Ｐゴシック" pitchFamily="34" charset="-128"/>
              </a:rPr>
              <a:t>d</a:t>
            </a:r>
            <a:r>
              <a:rPr lang="en-US" altLang="ja-JP">
                <a:ea typeface="ＭＳ Ｐゴシック" pitchFamily="34" charset="-128"/>
              </a:rPr>
              <a:t> from the raft?</a:t>
            </a:r>
            <a:endParaRPr lang="en-US">
              <a:ea typeface="ＭＳ Ｐゴシック" pitchFamily="34" charset="-128"/>
            </a:endParaRPr>
          </a:p>
        </p:txBody>
      </p:sp>
      <p:pic>
        <p:nvPicPr>
          <p:cNvPr id="30723" name="Picture 5" descr="MMj0283577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05201"/>
            <a:ext cx="91440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6" descr="MCj0215770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1" y="5638800"/>
            <a:ext cx="5381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Line 7"/>
          <p:cNvSpPr>
            <a:spLocks noChangeShapeType="1"/>
          </p:cNvSpPr>
          <p:nvPr/>
        </p:nvSpPr>
        <p:spPr bwMode="auto">
          <a:xfrm>
            <a:off x="7620000" y="3962400"/>
            <a:ext cx="2133600" cy="1905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26" name="Line 8"/>
          <p:cNvSpPr>
            <a:spLocks noChangeShapeType="1"/>
          </p:cNvSpPr>
          <p:nvPr/>
        </p:nvSpPr>
        <p:spPr bwMode="auto">
          <a:xfrm>
            <a:off x="7620000" y="3962400"/>
            <a:ext cx="0" cy="1905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27" name="Line 9"/>
          <p:cNvSpPr>
            <a:spLocks noChangeShapeType="1"/>
          </p:cNvSpPr>
          <p:nvPr/>
        </p:nvSpPr>
        <p:spPr bwMode="auto">
          <a:xfrm>
            <a:off x="7620000" y="5867400"/>
            <a:ext cx="2133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8001000" y="3962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670" imgH="177569" progId="Equation.3">
                  <p:embed/>
                </p:oleObj>
              </mc:Choice>
              <mc:Fallback>
                <p:oleObj name="Equation" r:id="rId4" imgW="253670" imgH="177569" progId="Equation.3">
                  <p:embed/>
                  <p:pic>
                    <p:nvPicPr>
                      <p:cNvPr id="163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62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Line 11"/>
          <p:cNvSpPr>
            <a:spLocks noChangeShapeType="1"/>
          </p:cNvSpPr>
          <p:nvPr/>
        </p:nvSpPr>
        <p:spPr bwMode="auto">
          <a:xfrm>
            <a:off x="7620000" y="3962400"/>
            <a:ext cx="21336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8839200" y="5486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670" imgH="177569" progId="Equation.3">
                  <p:embed/>
                </p:oleObj>
              </mc:Choice>
              <mc:Fallback>
                <p:oleObj name="Equation" r:id="rId6" imgW="253670" imgH="177569" progId="Equation.3">
                  <p:embed/>
                  <p:pic>
                    <p:nvPicPr>
                      <p:cNvPr id="163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486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6781800" y="47244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 km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8305800" y="5943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i="1">
                <a:solidFill>
                  <a:srgbClr val="FF0000"/>
                </a:solidFill>
              </a:rPr>
              <a:t>d</a:t>
            </a:r>
          </a:p>
        </p:txBody>
      </p:sp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2924176" y="3505200"/>
          <a:ext cx="223837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393480" progId="Equation.3">
                  <p:embed/>
                </p:oleObj>
              </mc:Choice>
              <mc:Fallback>
                <p:oleObj name="Equation" r:id="rId8" imgW="799920" imgH="393480" progId="Equation.3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6" y="3505200"/>
                        <a:ext cx="223837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2909888" y="4648200"/>
          <a:ext cx="223361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393480" progId="Equation.3">
                  <p:embed/>
                </p:oleObj>
              </mc:Choice>
              <mc:Fallback>
                <p:oleObj name="Equation" r:id="rId10" imgW="799920" imgH="393480" progId="Equation.3">
                  <p:embed/>
                  <p:pic>
                    <p:nvPicPr>
                      <p:cNvPr id="164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4648200"/>
                        <a:ext cx="223361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/>
        </p:nvGraphicFramePr>
        <p:xfrm>
          <a:off x="3030539" y="6096001"/>
          <a:ext cx="1990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177723" progId="Equation.3">
                  <p:embed/>
                </p:oleObj>
              </mc:Choice>
              <mc:Fallback>
                <p:oleObj name="Equation" r:id="rId12" imgW="710891" imgH="177723" progId="Equation.3">
                  <p:embed/>
                  <p:pic>
                    <p:nvPicPr>
                      <p:cNvPr id="164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9" y="6096001"/>
                        <a:ext cx="1990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3048000" y="6019800"/>
            <a:ext cx="1981200" cy="609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7" grpId="0"/>
      <p:bldP spid="16398" grpId="0"/>
      <p:bldP spid="1640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2" descr="\\MCENOV2\VOL1\Installs\MSOffice\CD2\PFiles\MSOffice\Clipart\standard\stddir3\na01771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60007"/>
            <a:ext cx="91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593908" y="1371600"/>
            <a:ext cx="91440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400" dirty="0">
                <a:solidFill>
                  <a:schemeClr val="tx2"/>
                </a:solidFill>
              </a:rPr>
              <a:t>A surveyor is standing </a:t>
            </a:r>
            <a:r>
              <a:rPr lang="en-US" sz="3400" b="1" dirty="0">
                <a:solidFill>
                  <a:srgbClr val="00CC00"/>
                </a:solidFill>
              </a:rPr>
              <a:t>15 m</a:t>
            </a:r>
            <a:r>
              <a:rPr lang="en-US" sz="3400" dirty="0">
                <a:solidFill>
                  <a:schemeClr val="tx2"/>
                </a:solidFill>
              </a:rPr>
              <a:t> from the base of a large tree.  The surveyor measures the </a:t>
            </a:r>
            <a:r>
              <a:rPr lang="en-US" sz="3400" b="1" dirty="0">
                <a:solidFill>
                  <a:srgbClr val="00CC00"/>
                </a:solidFill>
              </a:rPr>
              <a:t>angle of elevation</a:t>
            </a:r>
            <a:r>
              <a:rPr lang="en-US" sz="3400" dirty="0">
                <a:solidFill>
                  <a:schemeClr val="tx2"/>
                </a:solidFill>
              </a:rPr>
              <a:t> to the top of the tree as </a:t>
            </a:r>
            <a:r>
              <a:rPr lang="en-US" sz="3400" b="1" dirty="0">
                <a:solidFill>
                  <a:srgbClr val="00CC00"/>
                </a:solidFill>
              </a:rPr>
              <a:t>71.5</a:t>
            </a:r>
            <a:r>
              <a:rPr lang="en-US" sz="3400" b="1" dirty="0">
                <a:solidFill>
                  <a:srgbClr val="00CC00"/>
                </a:solidFill>
                <a:cs typeface="Times New Roman" pitchFamily="18" charset="0"/>
              </a:rPr>
              <a:t>°</a:t>
            </a:r>
            <a:r>
              <a:rPr lang="en-US" sz="3400" dirty="0">
                <a:solidFill>
                  <a:srgbClr val="00CC00"/>
                </a:solidFill>
                <a:cs typeface="Times New Roman" pitchFamily="18" charset="0"/>
              </a:rPr>
              <a:t>.</a:t>
            </a:r>
            <a:r>
              <a:rPr lang="en-US" sz="3400" dirty="0">
                <a:solidFill>
                  <a:schemeClr val="tx2"/>
                </a:solidFill>
                <a:cs typeface="Times New Roman" pitchFamily="18" charset="0"/>
              </a:rPr>
              <a:t>  How tall is the tree?</a:t>
            </a:r>
            <a:endParaRPr lang="en-US" sz="3400" dirty="0">
              <a:solidFill>
                <a:schemeClr val="tx2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2514600" y="6157119"/>
            <a:ext cx="3581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505200" y="6157119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dirty="0">
                <a:solidFill>
                  <a:schemeClr val="tx2"/>
                </a:solidFill>
              </a:rPr>
              <a:t>15 m</a:t>
            </a: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2514600" y="3947319"/>
            <a:ext cx="3505200" cy="2133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0" name="Arc 8"/>
          <p:cNvSpPr>
            <a:spLocks/>
          </p:cNvSpPr>
          <p:nvPr/>
        </p:nvSpPr>
        <p:spPr bwMode="auto">
          <a:xfrm flipH="1">
            <a:off x="4876800" y="5623719"/>
            <a:ext cx="304800" cy="533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4038600" y="548560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>
                <a:solidFill>
                  <a:schemeClr val="tx2"/>
                </a:solidFill>
              </a:rPr>
              <a:t>71.5°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524000" y="4785520"/>
            <a:ext cx="381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b="1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6677637" y="3947320"/>
            <a:ext cx="1981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solidFill>
                  <a:schemeClr val="tx2"/>
                </a:solidFill>
              </a:rPr>
              <a:t> tan 71.5</a:t>
            </a:r>
            <a:r>
              <a:rPr lang="en-US" sz="3000" dirty="0">
                <a:solidFill>
                  <a:schemeClr val="tx2"/>
                </a:solidFill>
                <a:cs typeface="Times New Roman" pitchFamily="18" charset="0"/>
              </a:rPr>
              <a:t>°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6705600" y="4937920"/>
            <a:ext cx="3276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solidFill>
                  <a:schemeClr val="tx2"/>
                </a:solidFill>
              </a:rPr>
              <a:t> y = 15 (tan 71.5</a:t>
            </a:r>
            <a:r>
              <a:rPr lang="en-US" sz="3000" dirty="0">
                <a:solidFill>
                  <a:schemeClr val="tx2"/>
                </a:solidFill>
                <a:cs typeface="Times New Roman" pitchFamily="18" charset="0"/>
              </a:rPr>
              <a:t>°)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705600" y="6385719"/>
            <a:ext cx="33528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30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42002" name="Picture 21" descr="\\MCENOV2\VOL1\Installs\MSOffice\CD2\PFiles\MSOffice\Clipart\smbusbas\bd09860_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422107"/>
            <a:ext cx="65563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3048000" y="190501"/>
            <a:ext cx="7010400" cy="1527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ea typeface="ＭＳ Ｐゴシック" pitchFamily="34" charset="-128"/>
              </a:rPr>
              <a:t>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229600" y="3839963"/>
                <a:ext cx="991490" cy="724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sz="2400" i="1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839963"/>
                <a:ext cx="991490" cy="724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997340" y="5775204"/>
                <a:ext cx="17463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/>
                        </a:rPr>
                        <m:t>𝑦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≈44.8 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340" y="5775204"/>
                <a:ext cx="1746312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6397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198" grpId="0" autoUpdateAnimBg="0"/>
      <p:bldP spid="8199" grpId="0" animBg="1"/>
      <p:bldP spid="8200" grpId="0" animBg="1"/>
      <p:bldP spid="8201" grpId="0" autoUpdateAnimBg="0"/>
      <p:bldP spid="8202" grpId="0" autoUpdateAnimBg="0"/>
      <p:bldP spid="8205" grpId="0" autoUpdateAnimBg="0"/>
      <p:bldP spid="8207" grpId="0" autoUpdateAnimBg="0"/>
      <p:bldP spid="8209" grpId="0" autoUpdateAnimBg="0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pic>
        <p:nvPicPr>
          <p:cNvPr id="27651" name="Picture 3" descr="MMj03034340000[1]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5105401"/>
            <a:ext cx="838200" cy="600075"/>
          </a:xfrm>
          <a:noFill/>
        </p:spPr>
      </p:pic>
      <p:pic>
        <p:nvPicPr>
          <p:cNvPr id="27652" name="Picture 4" descr="MMj02544630000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86651" y="2743200"/>
            <a:ext cx="2720975" cy="3200400"/>
          </a:xfrm>
          <a:noFill/>
        </p:spPr>
      </p:pic>
      <p:pic>
        <p:nvPicPr>
          <p:cNvPr id="27653" name="Picture 5" descr="MCj0318890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828800"/>
            <a:ext cx="6778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505200" y="1600201"/>
            <a:ext cx="647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Suppose the angle of depression from a lighthouse to a sailboat is 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  <a:r>
              <a:rPr lang="en-US">
                <a:solidFill>
                  <a:srgbClr val="FF0000"/>
                </a:solidFill>
              </a:rPr>
              <a:t>.  If the lighthouse is 150 ft tall, how far away is the sailboat?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H="1">
            <a:off x="2819400" y="3200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H="1">
            <a:off x="2819400" y="3276600"/>
            <a:ext cx="617220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2819400" y="32004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6858001" y="3276600"/>
          <a:ext cx="384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133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3276600"/>
                        <a:ext cx="384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Line 13"/>
          <p:cNvSpPr>
            <a:spLocks noChangeShapeType="1"/>
          </p:cNvSpPr>
          <p:nvPr/>
        </p:nvSpPr>
        <p:spPr bwMode="auto">
          <a:xfrm flipH="1">
            <a:off x="2819400" y="5486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60" name="Line 14"/>
          <p:cNvSpPr>
            <a:spLocks noChangeShapeType="1"/>
          </p:cNvSpPr>
          <p:nvPr/>
        </p:nvSpPr>
        <p:spPr bwMode="auto">
          <a:xfrm>
            <a:off x="8991600" y="32766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3328" name="Object 16"/>
          <p:cNvGraphicFramePr>
            <a:graphicFrameLocks noChangeAspect="1"/>
          </p:cNvGraphicFramePr>
          <p:nvPr/>
        </p:nvGraphicFramePr>
        <p:xfrm>
          <a:off x="4495800" y="4953000"/>
          <a:ext cx="38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5" imgH="177415" progId="Equation.DSMT4">
                  <p:embed/>
                </p:oleObj>
              </mc:Choice>
              <mc:Fallback>
                <p:oleObj name="Equation" r:id="rId7" imgW="126725" imgH="177415" progId="Equation.DSMT4">
                  <p:embed/>
                  <p:pic>
                    <p:nvPicPr>
                      <p:cNvPr id="133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953000"/>
                        <a:ext cx="38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905000" y="5670551"/>
            <a:ext cx="6019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Construct a triangle and label the known parts. Use a variable for the unknown value.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7315200" y="3276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3886200" y="5029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7848600" y="4114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6172200" y="5410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05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9" grpId="0"/>
      <p:bldP spid="13329" grpId="1"/>
      <p:bldP spid="13330" grpId="0"/>
      <p:bldP spid="13331" grpId="0"/>
      <p:bldP spid="13332" grpId="0"/>
      <p:bldP spid="133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pic>
        <p:nvPicPr>
          <p:cNvPr id="28675" name="Picture 3" descr="MMj03034340000[1]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5105401"/>
            <a:ext cx="838200" cy="600075"/>
          </a:xfrm>
          <a:noFill/>
        </p:spPr>
      </p:pic>
      <p:pic>
        <p:nvPicPr>
          <p:cNvPr id="28676" name="Picture 4" descr="MMj02544630000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86651" y="2743200"/>
            <a:ext cx="2720975" cy="3200400"/>
          </a:xfrm>
          <a:noFill/>
        </p:spPr>
      </p:pic>
      <p:pic>
        <p:nvPicPr>
          <p:cNvPr id="28677" name="Picture 5" descr="MCj0318890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828800"/>
            <a:ext cx="6778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505200" y="1600201"/>
            <a:ext cx="647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Suppose the angle of depression from a lighthouse to a sailboat is 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  <a:r>
              <a:rPr lang="en-US">
                <a:solidFill>
                  <a:srgbClr val="FF0000"/>
                </a:solidFill>
              </a:rPr>
              <a:t>.  If the lighthouse is 150 ft tall, how far away is the sailboat?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H="1">
            <a:off x="2819400" y="3200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2819400" y="3276600"/>
            <a:ext cx="617220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819400" y="32004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 flipH="1">
            <a:off x="2819400" y="5486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3" name="Line 12"/>
          <p:cNvSpPr>
            <a:spLocks noChangeShapeType="1"/>
          </p:cNvSpPr>
          <p:nvPr/>
        </p:nvSpPr>
        <p:spPr bwMode="auto">
          <a:xfrm>
            <a:off x="8991600" y="32766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4" name="Text Box 15"/>
          <p:cNvSpPr txBox="1">
            <a:spLocks noChangeArrowheads="1"/>
          </p:cNvSpPr>
          <p:nvPr/>
        </p:nvSpPr>
        <p:spPr bwMode="auto">
          <a:xfrm>
            <a:off x="7315200" y="3276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8685" name="Text Box 16"/>
          <p:cNvSpPr txBox="1">
            <a:spLocks noChangeArrowheads="1"/>
          </p:cNvSpPr>
          <p:nvPr/>
        </p:nvSpPr>
        <p:spPr bwMode="auto">
          <a:xfrm>
            <a:off x="3886200" y="5029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8686" name="Text Box 17"/>
          <p:cNvSpPr txBox="1">
            <a:spLocks noChangeArrowheads="1"/>
          </p:cNvSpPr>
          <p:nvPr/>
        </p:nvSpPr>
        <p:spPr bwMode="auto">
          <a:xfrm>
            <a:off x="7848600" y="4114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8687" name="Text Box 18"/>
          <p:cNvSpPr txBox="1">
            <a:spLocks noChangeArrowheads="1"/>
          </p:cNvSpPr>
          <p:nvPr/>
        </p:nvSpPr>
        <p:spPr bwMode="auto">
          <a:xfrm>
            <a:off x="6172200" y="5410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8688" name="Text Box 19"/>
          <p:cNvSpPr txBox="1">
            <a:spLocks noChangeArrowheads="1"/>
          </p:cNvSpPr>
          <p:nvPr/>
        </p:nvSpPr>
        <p:spPr bwMode="auto">
          <a:xfrm>
            <a:off x="2514600" y="58674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Set up an equation and solve.</a:t>
            </a:r>
          </a:p>
        </p:txBody>
      </p:sp>
    </p:spTree>
    <p:extLst>
      <p:ext uri="{BB962C8B-B14F-4D97-AF65-F5344CB8AC3E}">
        <p14:creationId xmlns:p14="http://schemas.microsoft.com/office/powerpoint/2010/main" val="303601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sp>
        <p:nvSpPr>
          <p:cNvPr id="29699" name="Line 8"/>
          <p:cNvSpPr>
            <a:spLocks noChangeShapeType="1"/>
          </p:cNvSpPr>
          <p:nvPr/>
        </p:nvSpPr>
        <p:spPr bwMode="auto">
          <a:xfrm flipH="1">
            <a:off x="6096000" y="3276600"/>
            <a:ext cx="2895600" cy="1066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0" name="Line 10"/>
          <p:cNvSpPr>
            <a:spLocks noChangeShapeType="1"/>
          </p:cNvSpPr>
          <p:nvPr/>
        </p:nvSpPr>
        <p:spPr bwMode="auto">
          <a:xfrm flipH="1">
            <a:off x="6096000" y="4343400"/>
            <a:ext cx="28956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1" name="Line 11"/>
          <p:cNvSpPr>
            <a:spLocks noChangeShapeType="1"/>
          </p:cNvSpPr>
          <p:nvPr/>
        </p:nvSpPr>
        <p:spPr bwMode="auto">
          <a:xfrm>
            <a:off x="8991600" y="3276600"/>
            <a:ext cx="0" cy="1066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2" name="Text Box 13"/>
          <p:cNvSpPr txBox="1">
            <a:spLocks noChangeArrowheads="1"/>
          </p:cNvSpPr>
          <p:nvPr/>
        </p:nvSpPr>
        <p:spPr bwMode="auto">
          <a:xfrm>
            <a:off x="70104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9703" name="Text Box 14"/>
          <p:cNvSpPr txBox="1">
            <a:spLocks noChangeArrowheads="1"/>
          </p:cNvSpPr>
          <p:nvPr/>
        </p:nvSpPr>
        <p:spPr bwMode="auto">
          <a:xfrm>
            <a:off x="9067800" y="3505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9704" name="Text Box 15"/>
          <p:cNvSpPr txBox="1">
            <a:spLocks noChangeArrowheads="1"/>
          </p:cNvSpPr>
          <p:nvPr/>
        </p:nvSpPr>
        <p:spPr bwMode="auto">
          <a:xfrm>
            <a:off x="7543800" y="4419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2743200" y="2057401"/>
          <a:ext cx="1600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393529" progId="Equation.DSMT4">
                  <p:embed/>
                </p:oleObj>
              </mc:Choice>
              <mc:Fallback>
                <p:oleObj name="Equation" r:id="rId2" imgW="977476" imgH="393529" progId="Equation.DSMT4">
                  <p:embed/>
                  <p:pic>
                    <p:nvPicPr>
                      <p:cNvPr id="164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1"/>
                        <a:ext cx="16002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/>
          <p:cNvGraphicFramePr>
            <a:graphicFrameLocks noChangeAspect="1"/>
          </p:cNvGraphicFramePr>
          <p:nvPr/>
        </p:nvGraphicFramePr>
        <p:xfrm>
          <a:off x="2743200" y="2743200"/>
          <a:ext cx="1905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228600" progId="Equation.DSMT4">
                  <p:embed/>
                </p:oleObj>
              </mc:Choice>
              <mc:Fallback>
                <p:oleObj name="Equation" r:id="rId4" imgW="1066800" imgH="228600" progId="Equation.DSMT4">
                  <p:embed/>
                  <p:pic>
                    <p:nvPicPr>
                      <p:cNvPr id="164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43200"/>
                        <a:ext cx="19050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1"/>
          <p:cNvGraphicFramePr>
            <a:graphicFrameLocks noChangeAspect="1"/>
          </p:cNvGraphicFramePr>
          <p:nvPr/>
        </p:nvGraphicFramePr>
        <p:xfrm>
          <a:off x="2819400" y="3429000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531" imgH="418918" progId="Equation.DSMT4">
                  <p:embed/>
                </p:oleObj>
              </mc:Choice>
              <mc:Fallback>
                <p:oleObj name="Equation" r:id="rId6" imgW="850531" imgH="418918" progId="Equation.DSMT4">
                  <p:embed/>
                  <p:pic>
                    <p:nvPicPr>
                      <p:cNvPr id="16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9000"/>
                        <a:ext cx="167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3"/>
          <p:cNvGraphicFramePr>
            <a:graphicFrameLocks noChangeAspect="1"/>
          </p:cNvGraphicFramePr>
          <p:nvPr/>
        </p:nvGraphicFramePr>
        <p:xfrm>
          <a:off x="4540250" y="1914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02" imgH="177492" progId="Equation.DSMT4">
                  <p:embed/>
                </p:oleObj>
              </mc:Choice>
              <mc:Fallback>
                <p:oleObj name="Equation" r:id="rId8" imgW="114102" imgH="177492" progId="Equation.DSMT4">
                  <p:embed/>
                  <p:pic>
                    <p:nvPicPr>
                      <p:cNvPr id="2970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1914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2590800" y="52578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x is approximately 1,503 ft.</a:t>
            </a:r>
          </a:p>
        </p:txBody>
      </p:sp>
    </p:spTree>
    <p:extLst>
      <p:ext uri="{BB962C8B-B14F-4D97-AF65-F5344CB8AC3E}">
        <p14:creationId xmlns:p14="http://schemas.microsoft.com/office/powerpoint/2010/main" val="20934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Arial MT Bl</vt:lpstr>
      <vt:lpstr>Calibri</vt:lpstr>
      <vt:lpstr>Calibri Light</vt:lpstr>
      <vt:lpstr>Cambria Math</vt:lpstr>
      <vt:lpstr>Comic Sans MS</vt:lpstr>
      <vt:lpstr>Times New Roman</vt:lpstr>
      <vt:lpstr>Verdana</vt:lpstr>
      <vt:lpstr>Office Theme</vt:lpstr>
      <vt:lpstr>Equation</vt:lpstr>
      <vt:lpstr>Teacher notes</vt:lpstr>
      <vt:lpstr>Topic: Right-angled triangles</vt:lpstr>
      <vt:lpstr>Definitions</vt:lpstr>
      <vt:lpstr>Vocabulary</vt:lpstr>
      <vt:lpstr>Identifying Angles of Elevation and Depression</vt:lpstr>
      <vt:lpstr>PowerPoint Presentation</vt:lpstr>
      <vt:lpstr>PowerPoint Presentation</vt:lpstr>
      <vt:lpstr>PowerPoint Presentation</vt:lpstr>
      <vt:lpstr>A Line of Sight Example</vt:lpstr>
      <vt:lpstr> An Airplane Example</vt:lpstr>
      <vt:lpstr>PowerPoint Presentation</vt:lpstr>
      <vt:lpstr>Angle of Elevation and Depression</vt:lpstr>
      <vt:lpstr>Angle of Elevation and Depression</vt:lpstr>
      <vt:lpstr>Angle of Elevation and Depression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notes</dc:title>
  <dc:creator>Sarah JAMES</dc:creator>
  <cp:lastModifiedBy>Sarah JAMES</cp:lastModifiedBy>
  <cp:revision>1</cp:revision>
  <dcterms:created xsi:type="dcterms:W3CDTF">2021-03-02T12:42:19Z</dcterms:created>
  <dcterms:modified xsi:type="dcterms:W3CDTF">2021-03-02T12:42:57Z</dcterms:modified>
</cp:coreProperties>
</file>
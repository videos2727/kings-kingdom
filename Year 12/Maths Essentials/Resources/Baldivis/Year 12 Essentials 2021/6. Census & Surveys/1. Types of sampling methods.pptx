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0" r:id="rId2"/>
    <p:sldId id="261" r:id="rId3"/>
    <p:sldId id="262" r:id="rId4"/>
    <p:sldId id="266" r:id="rId5"/>
    <p:sldId id="264" r:id="rId6"/>
    <p:sldId id="263" r:id="rId7"/>
    <p:sldId id="267" r:id="rId8"/>
    <p:sldId id="269" r:id="rId9"/>
    <p:sldId id="268" r:id="rId10"/>
    <p:sldId id="265" r:id="rId11"/>
    <p:sldId id="270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C4A097-CCB4-4842-BF84-4C90CC8C2B93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4D881-34F9-4E51-B265-CA3AF1B487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914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270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1043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573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156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9230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2960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79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751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09833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241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77167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531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7980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0661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65FA9E-68E8-472A-837D-561854B8A56B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7389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C357-9FAB-4172-821A-8503F2A34B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5F693-45FF-4081-8110-A7F096167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8AB2B-7117-45B5-9C28-E2C533A0C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B15EE-A926-4373-A8F2-D52651BF3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B9E861-CB66-4046-89A6-F35797B5E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7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1A66-76DE-4084-A312-6A20FF76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E2CD0-6080-461B-ADB3-36F3EEB90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4842E-A513-4538-9CCC-B24F8809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58F66-B5D3-4AD4-BE06-D1E96492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58CFC4-8126-4C3B-A322-D637B925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0165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C0C1-6ABB-4012-9D6E-428B93D18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5079B-B8A7-4B7C-973F-C192A92C9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67D21-B521-4EAE-850B-FF92DB954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6F513-48B6-453C-A801-85566CFF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2CCE2-6612-4852-904A-26671F457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40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E3164-E16D-4231-BF7B-9A06BA05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C8B5-70FA-4340-953F-1BA3AC4FD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0D016-BEF4-4091-816F-F99C0A9E0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72BB8-4642-4597-B274-1FEB27338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A4C14F-5C16-4DC8-82FD-9D4112513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CD9E5-59A4-412A-8030-3CF047F6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614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A77B-8E51-43FF-A7E2-01DE3AF4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63222-06FA-4CDF-8A72-1AA0EFEE0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73C15-176B-4CDA-BA1B-2B39F453B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B851D-E52F-434C-B44C-5DF8FCE03A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8983F-9FC1-40F1-96BD-76DF9CADF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82A118-CD44-41FE-8AC8-EF699B5C6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C01E57-7042-495B-B1C4-73201CABE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06A7F-E715-4AC3-B7E2-F20320970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9752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A372B-8F5D-4F4B-9A0C-2A17F5D7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A3389C-7870-425C-B89C-A25B6439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4DB567-8D0F-4558-8D1C-A4527DCF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DC8DCE-7204-4873-91D4-50A20426A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1137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492C46-6A30-41BC-9B61-B58BD7298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EF812-54BA-4845-B1E1-43B458880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EF15-535F-4608-A1D3-555FE89C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0566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233B7-D333-4308-991B-3CFF81E6B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BDA3D-4D0E-46F0-A9D6-60B1F6EC7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1CE81-9310-420F-A046-6EA7CF6FF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8DDC7-50E7-4766-B32B-01D6090DA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66708-C067-4046-B920-CD1B21869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B9CE07-62C6-424A-A9BA-93299A8E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9687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EF29-4F15-4454-A058-C816F91CF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44EC73-C0F8-4676-B4E5-23C4F47F9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2E324-F5C7-407E-925D-008403CC8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3AED8-327A-49FE-BDE6-136C9AF02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508E4-7F00-4DD1-9083-46271DC5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33A20-8CB4-4570-8ECF-36787A81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982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EB5C8-DE30-49FC-A1C1-101AF7E7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659029-8D6B-425A-9D60-6A51271710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CF69DB-7812-4684-9819-F238C5BD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74467-6660-43DE-8BD2-0A57B055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9BFA2-E459-4B1C-933C-F4FA87E2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781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668467-DA55-4E72-B637-E0FE300C2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EEC96-CD9D-474A-A3DD-EDFB35968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9FF7D-1DAA-43C7-93B5-E56A0C51D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A8C5C-2FC0-4872-9525-18E115E24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E3800-8838-4BD8-83CB-BAF1EA6D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990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48831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948525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742083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62277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7583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75F08-B32E-49E9-949F-BC6D156F5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000EB-C94E-45CB-A516-4F244422C7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560AF-C9CC-485A-84B2-5D88627A1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CA5C1D-015F-4D53-83C9-2E055905EEE4}" type="datetimeFigureOut">
              <a:rPr lang="en-AU" smtClean="0"/>
              <a:t>20/04/2021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B050D-BBA0-4DE2-A547-6CB0A66AA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BF09-560A-41DC-9221-A63EA7402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A6C78-DF32-4836-91ED-D01CC27DAC4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022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956269" y="138251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29" y="282272"/>
            <a:ext cx="9446339" cy="692338"/>
          </a:xfrm>
        </p:spPr>
        <p:txBody>
          <a:bodyPr>
            <a:normAutofit fontScale="90000"/>
          </a:bodyPr>
          <a:lstStyle/>
          <a:p>
            <a:pPr algn="l"/>
            <a:br>
              <a:rPr lang="en-AU" b="1" dirty="0">
                <a:latin typeface="Fragment Core" panose="02000504040000020003" pitchFamily="50" charset="0"/>
              </a:rPr>
            </a:br>
            <a:br>
              <a:rPr lang="en-AU" b="1" dirty="0"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Topic: Census and Surveys</a:t>
            </a:r>
            <a:b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</a:br>
            <a:r>
              <a:rPr lang="en-AU" sz="2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Fragment Core" panose="02000504040000020003" pitchFamily="50" charset="0"/>
              </a:rPr>
              <a:t>EQ: What are the different types of Sampling Methods?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E448A-9916-452F-BE86-5B860BB87F6B}"/>
              </a:ext>
            </a:extLst>
          </p:cNvPr>
          <p:cNvSpPr txBox="1"/>
          <p:nvPr/>
        </p:nvSpPr>
        <p:spPr>
          <a:xfrm>
            <a:off x="1914525" y="1714500"/>
            <a:ext cx="7458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Put new topic in contents page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7596" y="7432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591410" y="1367348"/>
            <a:ext cx="10820400" cy="502755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2400" b="1" dirty="0"/>
              <a:t>Census</a:t>
            </a:r>
          </a:p>
          <a:p>
            <a:r>
              <a:rPr lang="en-GB" sz="2400" dirty="0"/>
              <a:t>3.4.1 investigate the procedure for conducting a census</a:t>
            </a:r>
          </a:p>
          <a:p>
            <a:r>
              <a:rPr lang="en-GB" sz="2400" dirty="0"/>
              <a:t>3.4.2 investigate the advantages and disadvantages of conducting a census</a:t>
            </a:r>
          </a:p>
          <a:p>
            <a:pPr marL="135464" indent="0">
              <a:buNone/>
            </a:pPr>
            <a:endParaRPr lang="en-GB" sz="2400" dirty="0"/>
          </a:p>
          <a:p>
            <a:r>
              <a:rPr lang="en-AU" sz="2400" b="1" dirty="0"/>
              <a:t>Surveys</a:t>
            </a:r>
          </a:p>
          <a:p>
            <a:r>
              <a:rPr lang="en-GB" sz="2400" dirty="0"/>
              <a:t>3.4.3 understand the purpose of sampling to provide an estimate of population values when a census is </a:t>
            </a:r>
            <a:r>
              <a:rPr lang="en-AU" sz="2400" dirty="0"/>
              <a:t>not used</a:t>
            </a:r>
          </a:p>
          <a:p>
            <a:r>
              <a:rPr lang="en-GB" sz="2400" dirty="0"/>
              <a:t>3.4.4 investigate the different kinds of samples, for example, systematic samples, self‐selected samples, </a:t>
            </a:r>
            <a:r>
              <a:rPr lang="en-AU" sz="2400" dirty="0"/>
              <a:t>simple random samples</a:t>
            </a:r>
          </a:p>
          <a:p>
            <a:r>
              <a:rPr lang="en-GB" sz="2400" dirty="0"/>
              <a:t>3.4.5 recognise the advantages and disadvantages of these kinds of samples; for example, comparing simple random samples with self‐selected samples</a:t>
            </a:r>
            <a:endParaRPr lang="en-AU" sz="24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Collecting Information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4" y="1493244"/>
            <a:ext cx="9544926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collect information, a group of people are surveyed. This process is called taking a </a:t>
            </a:r>
            <a:r>
              <a:rPr lang="en-AU" sz="2399" i="1" dirty="0">
                <a:solidFill>
                  <a:prstClr val="black"/>
                </a:solidFill>
                <a:latin typeface="Calibri" panose="020F0502020204030204"/>
              </a:rPr>
              <a:t>sample.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To collect information about a whole population, all people are surveyed. This is called a census.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Every 5 years the Australian Bureau of Statistics conducts a census. It occurs in each year ending with a 1 or a 6.</a:t>
            </a: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Baldivis</a:t>
            </a:r>
            <a:r>
              <a:rPr lang="en-US" sz="2399" dirty="0">
                <a:solidFill>
                  <a:prstClr val="black"/>
                </a:solidFill>
              </a:rPr>
              <a:t>: https://quickstats.censusdata.abs.gov.au/census_services/getproduct/census/2016/quickstat/SSC50054?opendocument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50544" y="1602135"/>
            <a:ext cx="52209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Sample Vs Census</a:t>
            </a:r>
          </a:p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Pros and cons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DA48BDA-9758-4E24-BD14-42F880120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722910"/>
            <a:ext cx="12192000" cy="30329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74B9D3-A6AE-475A-9126-A894C4CA0201}"/>
              </a:ext>
            </a:extLst>
          </p:cNvPr>
          <p:cNvSpPr txBox="1"/>
          <p:nvPr/>
        </p:nvSpPr>
        <p:spPr>
          <a:xfrm>
            <a:off x="9072880" y="1676400"/>
            <a:ext cx="2428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need to write but glue in “extra notes”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7130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127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B490E3-8D72-4362-9E73-445B09EE9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3" y="1142357"/>
            <a:ext cx="11331816" cy="5330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06702F-6812-450A-95B8-E707F7FDF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753" y="1675417"/>
            <a:ext cx="9372957" cy="287191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6A95F4-142F-40DE-9C62-4C51134A23C1}"/>
              </a:ext>
            </a:extLst>
          </p:cNvPr>
          <p:cNvSpPr txBox="1"/>
          <p:nvPr/>
        </p:nvSpPr>
        <p:spPr>
          <a:xfrm>
            <a:off x="9927496" y="4176744"/>
            <a:ext cx="2075775" cy="2307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a.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b. Census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c.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d.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e. Sample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f. Census</a:t>
            </a:r>
            <a:endParaRPr lang="en-US" sz="2399" dirty="0">
              <a:solidFill>
                <a:srgbClr val="FF000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2320" y="62217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3" y="190610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Random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E8F22A2-13F1-4D9C-AFD9-2B2ACABDE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114" y="1793532"/>
            <a:ext cx="10268810" cy="105587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5A05283-C908-4031-BFB5-E76FB8477161}"/>
              </a:ext>
            </a:extLst>
          </p:cNvPr>
          <p:cNvSpPr txBox="1"/>
          <p:nvPr/>
        </p:nvSpPr>
        <p:spPr>
          <a:xfrm>
            <a:off x="-16133" y="4175020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Stratified Sample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7006D9-D93D-4BB3-BAEA-44A64B7A0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4996" y="4128068"/>
            <a:ext cx="10144767" cy="187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844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2320" y="62217"/>
            <a:ext cx="43522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Census and Surveys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3" y="1906101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Systematic Sample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A05283-C908-4031-BFB5-E76FB8477161}"/>
              </a:ext>
            </a:extLst>
          </p:cNvPr>
          <p:cNvSpPr txBox="1"/>
          <p:nvPr/>
        </p:nvSpPr>
        <p:spPr>
          <a:xfrm>
            <a:off x="-16133" y="4175020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Self Selected Sample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7D58DC-E009-4137-8F59-D3E9596DF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063" y="2006391"/>
            <a:ext cx="10209817" cy="7304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2FEEA9-367F-4011-841E-DEA973012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063" y="4263671"/>
            <a:ext cx="10277937" cy="74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438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E9D489-0BFB-4B0D-A6F9-E5EE45CB8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0320"/>
            <a:ext cx="12192000" cy="457691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28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1FA1CD-017A-4C1D-B7DA-71DAFAAEADC1}"/>
              </a:ext>
            </a:extLst>
          </p:cNvPr>
          <p:cNvSpPr txBox="1"/>
          <p:nvPr/>
        </p:nvSpPr>
        <p:spPr>
          <a:xfrm>
            <a:off x="568305" y="5477551"/>
            <a:ext cx="1105538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a. Systematic  b. random  c. self-selected  d. stratified  e. random  f. systematic</a:t>
            </a:r>
          </a:p>
          <a:p>
            <a:pPr defTabSz="914126"/>
            <a:r>
              <a:rPr lang="en-AU" sz="2399" dirty="0">
                <a:solidFill>
                  <a:srgbClr val="FF0000"/>
                </a:solidFill>
                <a:latin typeface="Calibri" panose="020F0502020204030204"/>
              </a:rPr>
              <a:t>g. self-selected  h. systematic </a:t>
            </a:r>
          </a:p>
        </p:txBody>
      </p:sp>
    </p:spTree>
    <p:extLst>
      <p:ext uri="{BB962C8B-B14F-4D97-AF65-F5344CB8AC3E}">
        <p14:creationId xmlns:p14="http://schemas.microsoft.com/office/powerpoint/2010/main" val="199516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02266B-517A-42E3-A349-A3A539F72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97692"/>
            <a:ext cx="12192000" cy="430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998" y="176064"/>
            <a:ext cx="8608358" cy="424011"/>
          </a:xfrm>
        </p:spPr>
        <p:txBody>
          <a:bodyPr>
            <a:normAutofit fontScale="90000"/>
          </a:bodyPr>
          <a:lstStyle/>
          <a:p>
            <a:pPr algn="ctr"/>
            <a:r>
              <a:rPr lang="en-AU" sz="2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EXIT PASS- in pairs with butcher’s paper</a:t>
            </a:r>
            <a:endParaRPr lang="en-US" sz="2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54F14-30E8-45A3-89F8-8D10EBF89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327" y="771673"/>
            <a:ext cx="75057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419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5F05-A70D-4D57-96BB-80567FB7F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6187" y="2946713"/>
            <a:ext cx="9818000" cy="1143200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Crunch and shoot- Practice time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293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00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Census and Surveys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Crunch and Shoot. </a:t>
            </a:r>
          </a:p>
          <a:p>
            <a:r>
              <a:rPr lang="en-AU" sz="2800" b="1" dirty="0"/>
              <a:t>-</a:t>
            </a:r>
            <a:r>
              <a:rPr lang="en-AU" b="1" dirty="0"/>
              <a:t>Work in pairs</a:t>
            </a:r>
          </a:p>
          <a:p>
            <a:r>
              <a:rPr lang="en-AU" b="1" dirty="0"/>
              <a:t>- Use butcher’s paper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5D927-125A-4E05-BB43-2E6504871BC0}"/>
              </a:ext>
            </a:extLst>
          </p:cNvPr>
          <p:cNvSpPr txBox="1"/>
          <p:nvPr/>
        </p:nvSpPr>
        <p:spPr>
          <a:xfrm>
            <a:off x="2712720" y="1320800"/>
            <a:ext cx="5902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Warm Up/Teacher example (4 marks):</a:t>
            </a:r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8542D-9D4C-4182-A087-3605378C5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6545" y="1950372"/>
            <a:ext cx="7715250" cy="10382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F1A462F-F69E-4D97-AE17-5EBE7327E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9415" y="4698682"/>
            <a:ext cx="7715250" cy="13620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C46CC9B-3683-42AA-89E9-708EA145D949}"/>
              </a:ext>
            </a:extLst>
          </p:cNvPr>
          <p:cNvSpPr txBox="1"/>
          <p:nvPr/>
        </p:nvSpPr>
        <p:spPr>
          <a:xfrm>
            <a:off x="2939414" y="3429000"/>
            <a:ext cx="8260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Let’s discuss why there are 4 marks.</a:t>
            </a:r>
          </a:p>
          <a:p>
            <a:endParaRPr lang="en-US" dirty="0"/>
          </a:p>
          <a:p>
            <a:r>
              <a:rPr lang="en-US" sz="3600" dirty="0">
                <a:highlight>
                  <a:srgbClr val="FF00FF"/>
                </a:highlight>
              </a:rPr>
              <a:t>Justify/Explain your reasoning</a:t>
            </a:r>
            <a:endParaRPr lang="en-AU" sz="3600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1916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00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Census and Surveys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Crunch and Shoot.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05D927-125A-4E05-BB43-2E6504871BC0}"/>
              </a:ext>
            </a:extLst>
          </p:cNvPr>
          <p:cNvSpPr txBox="1"/>
          <p:nvPr/>
        </p:nvSpPr>
        <p:spPr>
          <a:xfrm>
            <a:off x="2712720" y="1320800"/>
            <a:ext cx="321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1: 4 marks</a:t>
            </a:r>
          </a:p>
          <a:p>
            <a:endParaRPr lang="en-US" dirty="0"/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2B0759-C83F-4CA6-9848-45955F6FC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7987" y="1950879"/>
            <a:ext cx="6715125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5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303" y="594926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are the different types of Sampling Methods?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500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Topic: Census and Surveys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Crunch and Shoot.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99BC67-A283-4E2C-A743-C612B510E8A4}"/>
              </a:ext>
            </a:extLst>
          </p:cNvPr>
          <p:cNvSpPr/>
          <p:nvPr/>
        </p:nvSpPr>
        <p:spPr>
          <a:xfrm>
            <a:off x="2712723" y="3074546"/>
            <a:ext cx="83718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Gilbert decides that he wants to conduct a stratified sample of 30% of the school population. </a:t>
            </a:r>
            <a:endParaRPr lang="en-A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  <a:tabLst>
                <a:tab pos="5375275" algn="l"/>
              </a:tabLst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There are 1265 students at the school, which includes 572 male students and 693 female students. </a:t>
            </a:r>
            <a:endParaRPr lang="en-A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Calculate how many students he should survey, and how many males and females should be surveyed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46EFC3-CA8E-4A02-BD8C-407D303F7E05}"/>
              </a:ext>
            </a:extLst>
          </p:cNvPr>
          <p:cNvSpPr txBox="1"/>
          <p:nvPr/>
        </p:nvSpPr>
        <p:spPr>
          <a:xfrm>
            <a:off x="2712720" y="1320800"/>
            <a:ext cx="32105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Round 2: 3 marks</a:t>
            </a:r>
          </a:p>
          <a:p>
            <a:endParaRPr lang="en-US" dirty="0"/>
          </a:p>
          <a:p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3296C-AB13-4139-BCAC-0D7A48EB6E56}"/>
              </a:ext>
            </a:extLst>
          </p:cNvPr>
          <p:cNvSpPr txBox="1"/>
          <p:nvPr/>
        </p:nvSpPr>
        <p:spPr>
          <a:xfrm>
            <a:off x="6756400" y="1442720"/>
            <a:ext cx="37490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FF"/>
                </a:highlight>
              </a:rPr>
              <a:t>Look at the marks to see how much info you need to provide</a:t>
            </a:r>
            <a:endParaRPr lang="en-AU" dirty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4188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" grpId="0"/>
      <p:bldP spid="14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553404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060559"/>
            <a:ext cx="12192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-42791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94461" y="1045417"/>
            <a:ext cx="0" cy="579744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216" y="583752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EQ: Types of samples?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16607" y="29706"/>
            <a:ext cx="30163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EST Preparation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34" y="1563746"/>
            <a:ext cx="239302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FF0000"/>
                </a:solidFill>
              </a:rPr>
              <a:t>Crunch and Shoot. </a:t>
            </a:r>
          </a:p>
          <a:p>
            <a:r>
              <a:rPr lang="en-AU" sz="2800" b="1" dirty="0"/>
              <a:t>-</a:t>
            </a:r>
            <a:r>
              <a:rPr lang="en-AU" b="1" dirty="0"/>
              <a:t>Work in pairs</a:t>
            </a:r>
          </a:p>
          <a:p>
            <a:r>
              <a:rPr lang="en-AU" b="1" dirty="0"/>
              <a:t>- Use butcher’s paper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9988BC-D0C2-4D98-A4A5-F684FDAA5A14}"/>
              </a:ext>
            </a:extLst>
          </p:cNvPr>
          <p:cNvSpPr txBox="1"/>
          <p:nvPr/>
        </p:nvSpPr>
        <p:spPr>
          <a:xfrm>
            <a:off x="2682239" y="1219200"/>
            <a:ext cx="74980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Solutions:</a:t>
            </a:r>
          </a:p>
          <a:p>
            <a:endParaRPr lang="en-US" dirty="0"/>
          </a:p>
          <a:p>
            <a:r>
              <a:rPr lang="en-US" b="1" dirty="0"/>
              <a:t>Round 1: </a:t>
            </a:r>
            <a:r>
              <a:rPr lang="en-US" dirty="0"/>
              <a:t>Stratified, systematic, random, self-selected</a:t>
            </a:r>
          </a:p>
          <a:p>
            <a:endParaRPr lang="en-US" dirty="0"/>
          </a:p>
          <a:p>
            <a:r>
              <a:rPr lang="en-US" b="1" dirty="0"/>
              <a:t>Round 2: </a:t>
            </a:r>
            <a:r>
              <a:rPr lang="en-US" dirty="0"/>
              <a:t>171-172 males,   207-208 females. So all up between 378- 380 students in total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137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609</Words>
  <Application>Microsoft Office PowerPoint</Application>
  <PresentationFormat>Widescreen</PresentationFormat>
  <Paragraphs>120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Chalkboard</vt:lpstr>
      <vt:lpstr>Fragment Core</vt:lpstr>
      <vt:lpstr>Kiwi School Handwriting</vt:lpstr>
      <vt:lpstr>Times New Roman</vt:lpstr>
      <vt:lpstr>Office Theme</vt:lpstr>
      <vt:lpstr>  Topic: Census and Surveys EQ: What are the different types of Sampling Methods? </vt:lpstr>
      <vt:lpstr>Learning Intentions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Practice</vt:lpstr>
      <vt:lpstr>Task</vt:lpstr>
      <vt:lpstr>EXIT PASS- in pairs with butcher’s paper</vt:lpstr>
      <vt:lpstr>Crunch and shoot- Practice time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Census and Surveys EQ: What are the different types of Sampling Methods?</dc:title>
  <dc:creator>JAMES Sarah [Baldivis Secondary College]</dc:creator>
  <cp:lastModifiedBy>JAMES Sarah [Baldivis Secondary College]</cp:lastModifiedBy>
  <cp:revision>4</cp:revision>
  <dcterms:created xsi:type="dcterms:W3CDTF">2021-04-20T12:24:32Z</dcterms:created>
  <dcterms:modified xsi:type="dcterms:W3CDTF">2021-04-20T12:53:48Z</dcterms:modified>
</cp:coreProperties>
</file>
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4" r:id="rId3"/>
    <p:sldId id="259" r:id="rId4"/>
    <p:sldId id="265" r:id="rId5"/>
    <p:sldId id="258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6BC32-33E4-47ED-80E0-5AEC55781407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97204-D2CE-471B-A2EB-A2ED2A9A74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2150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26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A731-B7E8-4265-B3DA-EFE2263F8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542B5-8E6E-40D3-ADEA-E5F78B2CC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13137-479F-4269-AC93-3A29A2E0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640A-AC7D-4C4F-BDB2-2D46B8FA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5E232-595B-456E-AB53-B078612E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30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8549-0381-4386-9EF7-D5D2BC9C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8BFD-75A2-4D09-A349-FFADCA1C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FFAD5-1D61-4EF9-8DB2-72E3FBAB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74E44-725C-4605-A5E4-A64D3928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7941-131E-4BEC-8693-00EB5F1C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15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811C-EEDA-427A-89C6-3F048200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1CFF2-C7D2-4595-A612-BCBB85144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B13E-EC41-4380-91F6-6B5AA917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9B028-AEDF-4C59-8C80-EA43B093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E7572-FE52-418E-8DB4-A87FF3F9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15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EAC3-3814-47C5-B565-CBE9753B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14C5-9596-4FC7-8679-FBE14B259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F9882-B636-42B5-8641-287AE68D0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F999F-FAFA-4B08-94B3-8D84A880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CDB6F-6E9E-48DD-8162-E50AA21F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57D8-173C-4112-A3D9-667E796B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382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B334-28E0-41F3-86F6-BB232F5A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446C2-0A5B-4ABB-9E8E-8604BBEA9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D4CF4-9D9E-4888-8AD3-CBBB6A733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243A8-9AB4-4344-8752-87AFE2E16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10582-D4DB-4AC3-95B4-3A5819865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C4BF1-3146-4C03-BABF-F111A5CD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89043-91CB-4051-A738-F92E7E80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3898B5-4472-4956-A482-EAFA877F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544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DFD0-B435-4238-AD4A-D04FFD13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1F234-6E13-4ED6-85B5-D24A6FED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0DEF9-12C6-42CC-8B9C-6D06A4FF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85499-71C6-474F-8E6A-4E2031F8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447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2F393-7DC2-48C0-93E0-0E8A35EA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CD921-0BF7-404F-9E7D-2A8E8577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8040D-025A-448A-B79C-59B0A7BA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844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BA3E-B806-4CEC-B37B-68BED544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46074-2B6D-4E00-8662-1617D98A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90E52-35E7-4547-9806-2AAB980F6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D05A8-6929-4CD4-951C-F12D9961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443F2-EC6F-4170-B449-88876492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EA84E-9168-4B9B-9990-9BCAEB0A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1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817B-049B-4850-897D-DA061841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83226-6013-4A29-9F5B-A841DB019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33120-A892-4B52-942E-9E81D9D2E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69738-226F-496A-B0F5-5569BC17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8BB54-D57A-49D8-8D01-2B9C87E9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52C9D-7CFA-4B1E-9AF5-41807320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41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7FD9-43A8-4554-AF59-1E67208F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1459C-F48A-43F1-B7D4-F01BEFBA0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99DD5-6E39-43FF-BC4B-30CD7776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B3692-4A2F-447E-8088-29988B2E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6C109-A656-41BB-922F-53185132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96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FE009-FAD3-4119-9A8A-E12B446CB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6D7CF-1C94-439E-85E5-EDE35F216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765CB-2A84-4B12-A934-AE69B42F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D74A-5CC9-4F37-90B8-02F9BE17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CC06F-784F-460C-B982-1303B385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254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8776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90CF-8927-4EB8-A73F-83EFBD35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C5ADF-0164-45F6-A6AB-A22D7460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D93B4-8B9D-4AE8-97CB-E8D2F7924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01AC8-59AD-46D4-B91B-F52D2FD28F61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2EBD-B024-42F6-9F28-7071B291B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3D0D5-6B6F-475C-ADB2-073A58D84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70625-9AA4-43DA-8E84-F0A30BDA8C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34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0ZZJXw4MT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2806866"/>
            <a:ext cx="9446339" cy="2884942"/>
          </a:xfrm>
        </p:spPr>
        <p:txBody>
          <a:bodyPr>
            <a:normAutofit fontScale="90000"/>
          </a:bodyPr>
          <a:lstStyle/>
          <a:p>
            <a:pPr defTabSz="914126"/>
            <a:r>
              <a:rPr lang="en-AU" sz="6600" dirty="0">
                <a:solidFill>
                  <a:srgbClr val="FF0000"/>
                </a:solidFill>
                <a:latin typeface="Fragment Core" panose="02000504040000020003"/>
              </a:rPr>
              <a:t>Topic: Census &amp; Surveys</a:t>
            </a:r>
            <a:br>
              <a:rPr lang="en-AU" sz="6600" dirty="0">
                <a:solidFill>
                  <a:srgbClr val="FF0000"/>
                </a:solidFill>
                <a:latin typeface="Fragment Core" panose="02000504040000020003"/>
              </a:rPr>
            </a:br>
            <a:br>
              <a:rPr lang="en-AU" sz="6600" dirty="0">
                <a:solidFill>
                  <a:srgbClr val="FF0000"/>
                </a:solidFill>
                <a:latin typeface="Fragment Core" panose="02000504040000020003"/>
              </a:rPr>
            </a:br>
            <a:r>
              <a:rPr lang="en-AU" sz="6600" dirty="0">
                <a:solidFill>
                  <a:srgbClr val="FF0000"/>
                </a:solidFill>
                <a:latin typeface="Fragment Core" panose="02000504040000020003"/>
              </a:rPr>
              <a:t>EQ – How do you design fair questions for a survey?</a:t>
            </a:r>
            <a:br>
              <a:rPr lang="en-AU" sz="6600" dirty="0">
                <a:solidFill>
                  <a:srgbClr val="FF0000"/>
                </a:solidFill>
                <a:latin typeface="Fragment Core" panose="02000504040000020003"/>
              </a:rPr>
            </a:b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endParaRPr lang="en-AU" sz="66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BA91-9258-481E-85B0-A5019D65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2480"/>
            <a:ext cx="10515600" cy="5384483"/>
          </a:xfrm>
        </p:spPr>
        <p:txBody>
          <a:bodyPr/>
          <a:lstStyle/>
          <a:p>
            <a:r>
              <a:rPr lang="en-AU" dirty="0"/>
              <a:t>Today’s lesson is on sample question bias and how to avoid it.</a:t>
            </a:r>
          </a:p>
          <a:p>
            <a:endParaRPr lang="en-AU" dirty="0"/>
          </a:p>
          <a:p>
            <a:r>
              <a:rPr lang="en-AU" dirty="0"/>
              <a:t>Yes Prime Minister:</a:t>
            </a:r>
          </a:p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https://www.youtube.com/watch?v=G0ZZJXw4MTA</a:t>
            </a:r>
            <a:endParaRPr lang="en-AU" dirty="0"/>
          </a:p>
          <a:p>
            <a:r>
              <a:rPr lang="en-US" b="0" i="0" dirty="0">
                <a:solidFill>
                  <a:srgbClr val="030303"/>
                </a:solidFill>
                <a:effectLst/>
                <a:latin typeface="Roboto"/>
              </a:rPr>
              <a:t>Yes Prime Minister is a British political satire/ comedy that was aired in the 1980s</a:t>
            </a:r>
          </a:p>
          <a:p>
            <a:r>
              <a:rPr lang="en-US" b="0" i="0" dirty="0">
                <a:solidFill>
                  <a:srgbClr val="030303"/>
                </a:solidFill>
                <a:effectLst/>
                <a:latin typeface="Roboto"/>
              </a:rPr>
              <a:t>This clip demonstrates the use of leading questions to skew an opinion survey to support or oppose National Service (Military Conscription).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909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458860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878322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6021" y="-66095"/>
            <a:ext cx="69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4357" y="866492"/>
            <a:ext cx="19448" cy="68711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78834" y="-50861"/>
            <a:ext cx="190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9264" y="-66095"/>
            <a:ext cx="3685304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dirty="0"/>
              <a:t>Topic: Census &amp;Surveys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978" y="451682"/>
            <a:ext cx="976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design fair questions for a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2243" y="866491"/>
            <a:ext cx="878281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920" dirty="0"/>
              <a:t>A biased survey results in skewed data because of the design of the survey and its questions. There are many ways that questions can be written in a biased way.</a:t>
            </a:r>
          </a:p>
          <a:p>
            <a:endParaRPr lang="en-AU" sz="1920" dirty="0"/>
          </a:p>
          <a:p>
            <a:r>
              <a:rPr lang="en-AU" sz="1920" b="1" dirty="0"/>
              <a:t>Leading Questions </a:t>
            </a:r>
            <a:r>
              <a:rPr lang="en-AU" sz="1920" dirty="0"/>
              <a:t>will sway your reader to a particular side.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dumb is (insert politician) when it comes to foreign policy? </a:t>
            </a:r>
          </a:p>
          <a:p>
            <a:endParaRPr lang="en-AU" sz="1920" dirty="0"/>
          </a:p>
          <a:p>
            <a:r>
              <a:rPr lang="en-AU" sz="1920" b="1" dirty="0"/>
              <a:t>Loaded Questions </a:t>
            </a:r>
            <a:r>
              <a:rPr lang="en-AU" sz="1920" dirty="0"/>
              <a:t>force people into answering the question in a particular way.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Where do you like to party? Well, what if the respondents don’t like to party?</a:t>
            </a:r>
          </a:p>
          <a:p>
            <a:endParaRPr lang="en-AU" sz="1920" dirty="0"/>
          </a:p>
          <a:p>
            <a:r>
              <a:rPr lang="en-AU" sz="1920" b="1" dirty="0"/>
              <a:t>Double-</a:t>
            </a:r>
            <a:r>
              <a:rPr lang="en-AU" sz="1920" b="1" dirty="0" err="1"/>
              <a:t>Barreled</a:t>
            </a:r>
            <a:r>
              <a:rPr lang="en-AU" sz="1920" b="1" dirty="0"/>
              <a:t> Questions </a:t>
            </a:r>
            <a:r>
              <a:rPr lang="en-AU" sz="1920" dirty="0"/>
              <a:t>forces your respondents to answer two questions at once.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happy or unhappy are you with the rate of current school board funding and the common-core curriculum? </a:t>
            </a:r>
          </a:p>
          <a:p>
            <a:endParaRPr lang="en-AU" sz="1920" b="1" dirty="0"/>
          </a:p>
          <a:p>
            <a:r>
              <a:rPr lang="en-AU" sz="1920" b="1" dirty="0"/>
              <a:t>Absolute questions </a:t>
            </a:r>
            <a:r>
              <a:rPr lang="en-AU" sz="1920" dirty="0"/>
              <a:t>usually only have the option of a yes or no answer</a:t>
            </a:r>
          </a:p>
          <a:p>
            <a:r>
              <a:rPr lang="en-AU" sz="1920" i="1" dirty="0"/>
              <a:t>Example </a:t>
            </a:r>
            <a:r>
              <a:rPr lang="en-AU" sz="1920" dirty="0"/>
              <a:t>: Do you always shower before bed?</a:t>
            </a:r>
          </a:p>
          <a:p>
            <a:endParaRPr lang="en-AU" sz="1920" dirty="0"/>
          </a:p>
          <a:p>
            <a:r>
              <a:rPr lang="en-AU" sz="1920" b="1" dirty="0"/>
              <a:t>Unclear Questions</a:t>
            </a:r>
            <a:endParaRPr lang="en-AU" sz="1920" dirty="0"/>
          </a:p>
          <a:p>
            <a:r>
              <a:rPr lang="en-AU" sz="1920" dirty="0"/>
              <a:t>Tech jargon and acronyms create bias if people don’t understand the jargon.</a:t>
            </a:r>
          </a:p>
          <a:p>
            <a:endParaRPr lang="en-AU" sz="1920" dirty="0"/>
          </a:p>
        </p:txBody>
      </p:sp>
    </p:spTree>
    <p:extLst>
      <p:ext uri="{BB962C8B-B14F-4D97-AF65-F5344CB8AC3E}">
        <p14:creationId xmlns:p14="http://schemas.microsoft.com/office/powerpoint/2010/main" val="234236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458860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878322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6021" y="-66095"/>
            <a:ext cx="69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4357" y="866492"/>
            <a:ext cx="19448" cy="68711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78834" y="-50861"/>
            <a:ext cx="190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9264" y="-66095"/>
            <a:ext cx="3685304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80" dirty="0"/>
              <a:t>Topic: Census &amp;Surveys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978" y="451682"/>
            <a:ext cx="976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design fair questions for a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2243" y="866491"/>
            <a:ext cx="878281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920" dirty="0"/>
              <a:t>A biased survey results in skewed data because of the design of the survey and its questions. There are many ways that questions can be written in a biased way.</a:t>
            </a:r>
          </a:p>
          <a:p>
            <a:endParaRPr lang="en-AU" sz="1920" dirty="0"/>
          </a:p>
          <a:p>
            <a:r>
              <a:rPr lang="en-AU" sz="1920" b="1" dirty="0"/>
              <a:t>Leading Questions </a:t>
            </a:r>
            <a:r>
              <a:rPr lang="en-AU" sz="1920" dirty="0"/>
              <a:t>will sway your reader to a particular side.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dumb is (insert politician) when it comes to foreign policy? </a:t>
            </a:r>
          </a:p>
          <a:p>
            <a:endParaRPr lang="en-AU" sz="1920" dirty="0"/>
          </a:p>
          <a:p>
            <a:r>
              <a:rPr lang="en-AU" sz="1920" b="1" dirty="0"/>
              <a:t>Loaded Questions </a:t>
            </a:r>
            <a:r>
              <a:rPr lang="en-AU" sz="1920" dirty="0"/>
              <a:t>force people into answering the question in a particular way. 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Where do you like to party? Well, what if the respondents don’t like to party?</a:t>
            </a:r>
          </a:p>
          <a:p>
            <a:endParaRPr lang="en-AU" sz="1920" dirty="0"/>
          </a:p>
          <a:p>
            <a:r>
              <a:rPr lang="en-AU" sz="1920" b="1" dirty="0"/>
              <a:t>Double-</a:t>
            </a:r>
            <a:r>
              <a:rPr lang="en-AU" sz="1920" b="1" dirty="0" err="1"/>
              <a:t>Barreled</a:t>
            </a:r>
            <a:r>
              <a:rPr lang="en-AU" sz="1920" b="1" dirty="0"/>
              <a:t> Questions </a:t>
            </a:r>
            <a:r>
              <a:rPr lang="en-AU" sz="1920" dirty="0"/>
              <a:t>forces your respondents to answer two questions at once.</a:t>
            </a:r>
          </a:p>
          <a:p>
            <a:r>
              <a:rPr lang="en-AU" sz="1920" i="1" dirty="0"/>
              <a:t>Example:</a:t>
            </a:r>
            <a:r>
              <a:rPr lang="en-AU" sz="1920" dirty="0"/>
              <a:t> How happy or unhappy are you with the rate of current school board funding and the common-core curriculum? </a:t>
            </a:r>
          </a:p>
          <a:p>
            <a:endParaRPr lang="en-AU" sz="1920" b="1" dirty="0"/>
          </a:p>
          <a:p>
            <a:r>
              <a:rPr lang="en-AU" sz="1920" b="1" dirty="0"/>
              <a:t>Absolute questions </a:t>
            </a:r>
            <a:r>
              <a:rPr lang="en-AU" sz="1920" dirty="0"/>
              <a:t>usually only have the option of a yes or no answer</a:t>
            </a:r>
          </a:p>
          <a:p>
            <a:r>
              <a:rPr lang="en-AU" sz="1920" i="1" dirty="0"/>
              <a:t>Example </a:t>
            </a:r>
            <a:r>
              <a:rPr lang="en-AU" sz="1920" dirty="0"/>
              <a:t>: Do you always shower before bed?</a:t>
            </a:r>
          </a:p>
          <a:p>
            <a:endParaRPr lang="en-AU" sz="1920" dirty="0"/>
          </a:p>
          <a:p>
            <a:r>
              <a:rPr lang="en-AU" sz="1920" b="1" dirty="0"/>
              <a:t>Unclear Questions</a:t>
            </a:r>
            <a:endParaRPr lang="en-AU" sz="1920" dirty="0"/>
          </a:p>
          <a:p>
            <a:r>
              <a:rPr lang="en-AU" sz="1920" dirty="0"/>
              <a:t>Tech jargon and acronyms create bias if people don’t understand the jargon.</a:t>
            </a:r>
          </a:p>
          <a:p>
            <a:endParaRPr lang="en-AU" sz="1920" dirty="0"/>
          </a:p>
        </p:txBody>
      </p:sp>
    </p:spTree>
    <p:extLst>
      <p:ext uri="{BB962C8B-B14F-4D97-AF65-F5344CB8AC3E}">
        <p14:creationId xmlns:p14="http://schemas.microsoft.com/office/powerpoint/2010/main" val="186355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2E43D-059C-405C-BE70-6CF08D398CCB}"/>
              </a:ext>
            </a:extLst>
          </p:cNvPr>
          <p:cNvSpPr txBox="1"/>
          <p:nvPr/>
        </p:nvSpPr>
        <p:spPr>
          <a:xfrm>
            <a:off x="1503445" y="147195"/>
            <a:ext cx="8841851" cy="574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What is wrong with the following survey questions?  How could they be fixed? Discuss with the person next you and be prepared to share your ideas.</a:t>
            </a:r>
          </a:p>
          <a:p>
            <a:endParaRPr lang="en-AU" sz="2160" dirty="0"/>
          </a:p>
          <a:p>
            <a:r>
              <a:rPr lang="en-AU" sz="2160" dirty="0"/>
              <a:t>When asked if people would like to earn more money and if they were vegetarian, most replied “No”.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A survey asked the question.  “Do you support the increasingly disliked and unrespected Prime ministers new policy on education?” </a:t>
            </a:r>
          </a:p>
          <a:p>
            <a:endParaRPr lang="en-AU" sz="2160" dirty="0"/>
          </a:p>
          <a:p>
            <a:endParaRPr lang="en-AU" sz="2160" dirty="0"/>
          </a:p>
          <a:p>
            <a:endParaRPr lang="en-AU" sz="2160" dirty="0"/>
          </a:p>
          <a:p>
            <a:r>
              <a:rPr lang="en-AU" sz="2160" dirty="0"/>
              <a:t>I feel welcomed by staff and other youth at the </a:t>
            </a:r>
            <a:r>
              <a:rPr lang="en-AU" sz="2160" dirty="0" err="1"/>
              <a:t>center</a:t>
            </a:r>
            <a:r>
              <a:rPr lang="en-AU" sz="2160" dirty="0"/>
              <a:t>.        Agree/Disagree</a:t>
            </a:r>
          </a:p>
          <a:p>
            <a:endParaRPr lang="en-AU" sz="2160" dirty="0"/>
          </a:p>
          <a:p>
            <a:endParaRPr lang="en-AU" sz="216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D66F1-8BF9-4C29-B333-00A8F56D8541}"/>
              </a:ext>
            </a:extLst>
          </p:cNvPr>
          <p:cNvSpPr txBox="1"/>
          <p:nvPr/>
        </p:nvSpPr>
        <p:spPr>
          <a:xfrm>
            <a:off x="2456242" y="2207941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double barrelled question and needs to be split into 2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FA412-A1AC-4460-B3B9-3E4BC9261EB1}"/>
              </a:ext>
            </a:extLst>
          </p:cNvPr>
          <p:cNvSpPr txBox="1"/>
          <p:nvPr/>
        </p:nvSpPr>
        <p:spPr>
          <a:xfrm>
            <a:off x="2456242" y="3836758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leading question with negative adjectives guiding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44BCC-08F0-43FD-B765-C97172139B8B}"/>
              </a:ext>
            </a:extLst>
          </p:cNvPr>
          <p:cNvSpPr txBox="1"/>
          <p:nvPr/>
        </p:nvSpPr>
        <p:spPr>
          <a:xfrm>
            <a:off x="2581137" y="5177923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also a double barrelled question.  It should be split into a question about staff and a second question about other youth.</a:t>
            </a:r>
          </a:p>
        </p:txBody>
      </p:sp>
    </p:spTree>
    <p:extLst>
      <p:ext uri="{BB962C8B-B14F-4D97-AF65-F5344CB8AC3E}">
        <p14:creationId xmlns:p14="http://schemas.microsoft.com/office/powerpoint/2010/main" val="42462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0891-65C6-40B0-9F5B-F402D875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980" y="454970"/>
            <a:ext cx="9464040" cy="5721994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How short was Napoleon?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Where do you prefer to buy </a:t>
            </a:r>
            <a:r>
              <a:rPr lang="en-AU" dirty="0" err="1"/>
              <a:t>softdrink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always eat breakfast? (Yes/No)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own an </a:t>
            </a:r>
            <a:r>
              <a:rPr lang="en-AU" dirty="0" err="1"/>
              <a:t>Ipad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461FA-1F1D-476C-BEEA-4C0B305516D4}"/>
              </a:ext>
            </a:extLst>
          </p:cNvPr>
          <p:cNvSpPr txBox="1"/>
          <p:nvPr/>
        </p:nvSpPr>
        <p:spPr>
          <a:xfrm>
            <a:off x="1987891" y="718877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leading question with the adjective of short used to guide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09787-7F7C-482D-A2ED-17FFCF7058E4}"/>
              </a:ext>
            </a:extLst>
          </p:cNvPr>
          <p:cNvSpPr txBox="1"/>
          <p:nvPr/>
        </p:nvSpPr>
        <p:spPr>
          <a:xfrm>
            <a:off x="2456242" y="2207941"/>
            <a:ext cx="821621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 loaded question.  What if they don’t buy </a:t>
            </a:r>
            <a:r>
              <a:rPr lang="en-AU" sz="2160" dirty="0" err="1">
                <a:highlight>
                  <a:srgbClr val="FFFF00"/>
                </a:highlight>
              </a:rPr>
              <a:t>softdrink</a:t>
            </a:r>
            <a:r>
              <a:rPr lang="en-AU" sz="2160" dirty="0">
                <a:highlight>
                  <a:srgbClr val="FFFF00"/>
                </a:highlight>
              </a:rPr>
              <a:t> at all?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EEA91-304F-4968-A136-C016ACE3E5C3}"/>
              </a:ext>
            </a:extLst>
          </p:cNvPr>
          <p:cNvSpPr txBox="1"/>
          <p:nvPr/>
        </p:nvSpPr>
        <p:spPr>
          <a:xfrm>
            <a:off x="2277823" y="3595153"/>
            <a:ext cx="8216219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example of an absolute question.  What if they skip breakfast once last month due to illness?  A better question would be “In an average week how many days (from 0 to 7) do you eat breakfast?”.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49813-2214-4928-B9F7-92AACAB7C91B}"/>
              </a:ext>
            </a:extLst>
          </p:cNvPr>
          <p:cNvSpPr txBox="1"/>
          <p:nvPr/>
        </p:nvSpPr>
        <p:spPr>
          <a:xfrm>
            <a:off x="2277823" y="5502123"/>
            <a:ext cx="8216219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>
                <a:highlight>
                  <a:srgbClr val="FFFF00"/>
                </a:highlight>
              </a:rPr>
              <a:t>This is a jargon based question. “Do you own a Tablet PC (</a:t>
            </a:r>
            <a:r>
              <a:rPr lang="en-AU" sz="2160" dirty="0" err="1">
                <a:highlight>
                  <a:srgbClr val="FFFF00"/>
                </a:highlight>
              </a:rPr>
              <a:t>eg</a:t>
            </a:r>
            <a:r>
              <a:rPr lang="en-AU" sz="2160" dirty="0">
                <a:highlight>
                  <a:srgbClr val="FFFF00"/>
                </a:highlight>
              </a:rPr>
              <a:t> </a:t>
            </a:r>
            <a:r>
              <a:rPr lang="en-AU" sz="2160" dirty="0" err="1">
                <a:highlight>
                  <a:srgbClr val="FFFF00"/>
                </a:highlight>
              </a:rPr>
              <a:t>Ipad</a:t>
            </a:r>
            <a:r>
              <a:rPr lang="en-AU" sz="2160" dirty="0">
                <a:highlight>
                  <a:srgbClr val="FFFF00"/>
                </a:highlight>
              </a:rPr>
              <a:t>, Android tablet)” is better as it asks about all devices and gives examples to help the respondent recognise the terminology.</a:t>
            </a:r>
          </a:p>
        </p:txBody>
      </p:sp>
    </p:spTree>
    <p:extLst>
      <p:ext uri="{BB962C8B-B14F-4D97-AF65-F5344CB8AC3E}">
        <p14:creationId xmlns:p14="http://schemas.microsoft.com/office/powerpoint/2010/main" val="61755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96A88-BE26-4987-AAC2-72EBC3D12B5C}"/>
              </a:ext>
            </a:extLst>
          </p:cNvPr>
          <p:cNvSpPr txBox="1"/>
          <p:nvPr/>
        </p:nvSpPr>
        <p:spPr>
          <a:xfrm>
            <a:off x="1920984" y="575402"/>
            <a:ext cx="89789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Complete the worksheet.  Discuss the results with your neighbour and be prepared to share with the class.</a:t>
            </a:r>
          </a:p>
        </p:txBody>
      </p:sp>
    </p:spTree>
    <p:extLst>
      <p:ext uri="{BB962C8B-B14F-4D97-AF65-F5344CB8AC3E}">
        <p14:creationId xmlns:p14="http://schemas.microsoft.com/office/powerpoint/2010/main" val="321574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775</Words>
  <Application>Microsoft Office PowerPoint</Application>
  <PresentationFormat>Widescreen</PresentationFormat>
  <Paragraphs>83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Roboto</vt:lpstr>
      <vt:lpstr>Office Theme</vt:lpstr>
      <vt:lpstr>Topic: Census &amp; Surveys  EQ – How do you design fair questions for a survey?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Census &amp; Surveys  EQ – How do you design fair questions for a survey.</dc:title>
  <dc:creator>JAMES Sarah [Baldivis Secondary College]</dc:creator>
  <cp:lastModifiedBy>JAMES Sarah [Baldivis Secondary College]</cp:lastModifiedBy>
  <cp:revision>4</cp:revision>
  <dcterms:created xsi:type="dcterms:W3CDTF">2021-04-20T12:58:41Z</dcterms:created>
  <dcterms:modified xsi:type="dcterms:W3CDTF">2021-04-20T13:58:44Z</dcterms:modified>
</cp:coreProperties>
</file>
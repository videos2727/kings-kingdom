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61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5034" autoAdjust="0"/>
  </p:normalViewPr>
  <p:slideViewPr>
    <p:cSldViewPr snapToGrid="0">
      <p:cViewPr varScale="1">
        <p:scale>
          <a:sx n="50" d="100"/>
          <a:sy n="50" d="100"/>
        </p:scale>
        <p:origin x="12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6E5C04-52F3-4F24-9621-54E02A45B4AE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B635E-8FC0-4070-BBDE-A450A8049F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987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22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45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students how to use calculator- alpha- . – 0- shift- ) 3 need to press = 9 times (because 90 sec) record in data table. Then do this again 5 times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63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CF423-AF4C-4AA3-B7C7-E14C8DE34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C1C412-3A35-485D-AEB3-72B989F353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9170F-2DCE-4D3C-92C5-505EB5844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F2E0-FED2-4321-9DF5-0948192F7315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CD08C-0B05-492C-8FBF-F64EAB37E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9707E-01D1-44BE-9003-697A48AD6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8290-97AD-4929-B617-1CA72C2D7F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9161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DAD51-9A5E-4939-8082-8A1E64834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ED2C4-433C-4D31-A1CE-09A307959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FC284-9C29-4AEB-9D6C-F6D62D47F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F2E0-FED2-4321-9DF5-0948192F7315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391FB-C2E9-477B-B872-95F695A77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50EAA-2D25-4D29-95E4-A7BE74ACC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8290-97AD-4929-B617-1CA72C2D7F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4452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8B12-6317-4BF7-8E01-F6FE51D22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4CF76-42E6-414C-B3C7-79973834E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DF146-A092-4520-8426-D15724F52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F2E0-FED2-4321-9DF5-0948192F7315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CF105-4F05-4789-92E6-2811316DF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C5DE-62EC-4CD4-889B-6A5865DC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8290-97AD-4929-B617-1CA72C2D7F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5900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C1D53-1A52-41BE-B2AA-6A1050A1C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05EED-6FBC-4128-8DE4-3449C8CDC5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C0E52-4655-427B-AC41-A5D90A657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ECE71-F9EE-4B57-A597-C84EAD806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F2E0-FED2-4321-9DF5-0948192F7315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41ED1-EAF3-434A-886C-B16A593CE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7C4CA-AE45-4E48-B79F-0BFAE97C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8290-97AD-4929-B617-1CA72C2D7F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227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85A2-040F-46FA-92E9-8F927C272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EC6CF-F640-4EB6-AF02-9401FE8C9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F65BB-5BA6-493E-953F-2540F7E41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2E51E-0345-46BB-A81D-0FD71A28E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1EC46B-0A9D-4EA1-91F1-2EF20E21DA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1AE974-F50C-43AB-AA8B-80102574B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F2E0-FED2-4321-9DF5-0948192F7315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796010-A76B-4E83-B3F8-A0048FF69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B96EF9-7571-4FAB-B776-9943EE664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8290-97AD-4929-B617-1CA72C2D7F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5160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D6ADC-527D-4AB9-B384-69CC69FC3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2EC1B0-BBB7-4384-9E4B-308D6828E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F2E0-FED2-4321-9DF5-0948192F7315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9C38AE-161F-4119-B775-F6D044676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676D9-EFDF-41B5-AAC9-2C7C67FD7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8290-97AD-4929-B617-1CA72C2D7F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84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D99B1A-73DA-459B-9574-5F92AA44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F2E0-FED2-4321-9DF5-0948192F7315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0D2E07-7673-4C9A-9A05-1B0BF265F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A6300-A883-4268-BB9B-02929874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8290-97AD-4929-B617-1CA72C2D7F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7630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0894E-8C74-4C21-BE93-F5A04532B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481A8-042C-41E1-BE1C-CAD1886D4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DA7225-92D8-4F3C-AC14-053552B59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DABDA-5961-4D89-91FB-20C300C05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F2E0-FED2-4321-9DF5-0948192F7315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FAE70-3295-4C00-BCFD-3D5D0A94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921DF-ECC3-4E63-B95A-0504B4B58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8290-97AD-4929-B617-1CA72C2D7F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7236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923ED-7013-47FA-82B3-B15343571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1962C2-7DA7-4A3C-A934-5ACAC357D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0B85A0-CC2A-47D7-BC4D-2EAD04A4A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E2BCF-0D4D-4BDA-8EE3-73811F05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F2E0-FED2-4321-9DF5-0948192F7315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E5BAA-FD4A-4E36-983E-90C885ECA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3E807-4B35-4E95-95B4-13FCB51B9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8290-97AD-4929-B617-1CA72C2D7F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99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4B13-B972-49FF-807F-1953E9A7C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01466-DD5D-4D85-880F-D7ECB9CDD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CA703-DE63-4B85-8DF6-3634DCAB0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F2E0-FED2-4321-9DF5-0948192F7315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65AFC-DD2E-4BA2-AEC6-92426540F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FDFA0-40B1-439C-9556-1FC6609C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8290-97AD-4929-B617-1CA72C2D7F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6245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906D0E-01AA-4561-B44F-CAD47761E2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BD2EFB-B0BF-4C7C-A3E6-FA77440F5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C1313-6FEC-43C4-804C-CC1E3D8C0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0F2E0-FED2-4321-9DF5-0948192F7315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88395-9B14-4EFF-B4E3-1C83ED0D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33B29-D9B1-49F5-89A8-9BABAEE2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B8290-97AD-4929-B617-1CA72C2D7F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807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7E5EDE-E264-49CB-8A30-3618C7D36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7BB35-D241-45CA-AABF-4D2D8BBC8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53D1D-9F13-4877-92F2-A750FDD7DF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0F2E0-FED2-4321-9DF5-0948192F7315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52FA3-61B8-4284-81D3-1EAF682051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912C2-70CC-429D-B522-936B90F0D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8B8290-97AD-4929-B617-1CA72C2D7F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941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12532" y="228216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Simulations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827241" y="1465107"/>
            <a:ext cx="103209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run a simulation and communicate my findings using the statistical thinking process? </a:t>
            </a:r>
            <a:endParaRPr lang="en-AU" sz="24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CDAC19-271D-4C17-B4E2-F95F364573AB}"/>
              </a:ext>
            </a:extLst>
          </p:cNvPr>
          <p:cNvSpPr txBox="1"/>
          <p:nvPr/>
        </p:nvSpPr>
        <p:spPr>
          <a:xfrm>
            <a:off x="1333500" y="2478167"/>
            <a:ext cx="95250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There are a few of you that need to remember: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rgbClr val="FF0000"/>
                </a:solidFill>
                <a:latin typeface="Baskerville Old Face" panose="02020602080505020303" pitchFamily="18" charset="0"/>
              </a:rPr>
              <a:t>PEOPLE MATTER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rgbClr val="FF0000"/>
                </a:solidFill>
                <a:latin typeface="Baskerville Old Face" panose="02020602080505020303" pitchFamily="18" charset="0"/>
              </a:rPr>
              <a:t>100% RULE</a:t>
            </a:r>
            <a:endParaRPr lang="en-AU" sz="2800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3113" y="69868"/>
            <a:ext cx="27305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run a simulation and communicate my findings?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38E98D6-5465-4F7B-AF40-9127A818638F}"/>
                  </a:ext>
                </a:extLst>
              </p:cNvPr>
              <p:cNvSpPr/>
              <p:nvPr/>
            </p:nvSpPr>
            <p:spPr>
              <a:xfrm>
                <a:off x="1847528" y="1352514"/>
                <a:ext cx="10344472" cy="12686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A doctor’s surgery studied the ages of patients visiting the surgery one week. It found that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</m:oMath>
                </a14:m>
                <a:r>
                  <a:rPr lang="en-GB" dirty="0"/>
                  <a:t> of its patients were under the age of 40, and 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box>
                  </m:oMath>
                </a14:m>
                <a:r>
                  <a:rPr lang="en-GB" dirty="0"/>
                  <a:t> were between the ages of 40 and 65. The rest were all over 65. Describe how you could use a dice to simulate the ages of the next 10 people visiting the surgery.</a:t>
                </a:r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38E98D6-5465-4F7B-AF40-9127A81863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28" y="1352514"/>
                <a:ext cx="10344472" cy="1268681"/>
              </a:xfrm>
              <a:prstGeom prst="rect">
                <a:avLst/>
              </a:prstGeom>
              <a:blipFill>
                <a:blip r:embed="rId3"/>
                <a:stretch>
                  <a:fillRect l="-471" t="-192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9799CFA1-64BF-4836-8747-8976B5335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669" y="2306616"/>
            <a:ext cx="6702733" cy="439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0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3113" y="69868"/>
            <a:ext cx="27305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</a:t>
            </a:r>
            <a:r>
              <a:rPr lang="en-AU" sz="2800" b="1">
                <a:solidFill>
                  <a:srgbClr val="FF5050"/>
                </a:solidFill>
                <a:latin typeface="Fragment Core" panose="02000504040000020003" pitchFamily="50" charset="0"/>
              </a:rPr>
              <a:t>– How do I run a simulation and communicate my findings? </a:t>
            </a:r>
            <a:endParaRPr lang="en-AU" sz="28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38E98D6-5465-4F7B-AF40-9127A818638F}"/>
              </a:ext>
            </a:extLst>
          </p:cNvPr>
          <p:cNvSpPr/>
          <p:nvPr/>
        </p:nvSpPr>
        <p:spPr>
          <a:xfrm>
            <a:off x="2390779" y="1720840"/>
            <a:ext cx="925829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A local authority is collecting data about traffic leaving town on a main road. It is going to carry out some long-term road works and plans to put up traffic lights for safety. It found that in any period of 10 seconds it is possible that 0, 1, 2 or 3 cars may pass the place where workers are going to dig. The results of a survey from data collection is shown in the table.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br>
              <a:rPr lang="en-AU" dirty="0"/>
            </a:br>
            <a:r>
              <a:rPr lang="en-AU" dirty="0"/>
              <a:t>a) </a:t>
            </a:r>
            <a:r>
              <a:rPr lang="en-GB" dirty="0"/>
              <a:t>The local authority sets the traffic lights to red for 90 seconds. Set up and run a simulation to find how many cars are likely to be in the queue at the end of the 90 seconds.</a:t>
            </a:r>
          </a:p>
          <a:p>
            <a:br>
              <a:rPr lang="en-AU" dirty="0"/>
            </a:br>
            <a:r>
              <a:rPr lang="en-AU" dirty="0"/>
              <a:t>b) </a:t>
            </a:r>
            <a:r>
              <a:rPr lang="en-GB" dirty="0"/>
              <a:t>Run your simulation 5 times. From your data, what is the mean number of cars that are likely to be in the queue at the end of the 90 seconds.</a:t>
            </a:r>
            <a:endParaRPr lang="en-A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D4CA73-B52C-4353-8732-27A66349C1E9}"/>
              </a:ext>
            </a:extLst>
          </p:cNvPr>
          <p:cNvGraphicFramePr>
            <a:graphicFrameLocks noGrp="1"/>
          </p:cNvGraphicFramePr>
          <p:nvPr/>
        </p:nvGraphicFramePr>
        <p:xfrm>
          <a:off x="3133730" y="3054731"/>
          <a:ext cx="5544498" cy="4527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1620">
                  <a:extLst>
                    <a:ext uri="{9D8B030D-6E8A-4147-A177-3AD203B41FA5}">
                      <a16:colId xmlns:a16="http://schemas.microsoft.com/office/drawing/2014/main" val="2387718293"/>
                    </a:ext>
                  </a:extLst>
                </a:gridCol>
                <a:gridCol w="706856">
                  <a:extLst>
                    <a:ext uri="{9D8B030D-6E8A-4147-A177-3AD203B41FA5}">
                      <a16:colId xmlns:a16="http://schemas.microsoft.com/office/drawing/2014/main" val="2042755733"/>
                    </a:ext>
                  </a:extLst>
                </a:gridCol>
                <a:gridCol w="1088674">
                  <a:extLst>
                    <a:ext uri="{9D8B030D-6E8A-4147-A177-3AD203B41FA5}">
                      <a16:colId xmlns:a16="http://schemas.microsoft.com/office/drawing/2014/main" val="125472194"/>
                    </a:ext>
                  </a:extLst>
                </a:gridCol>
                <a:gridCol w="1088674">
                  <a:extLst>
                    <a:ext uri="{9D8B030D-6E8A-4147-A177-3AD203B41FA5}">
                      <a16:colId xmlns:a16="http://schemas.microsoft.com/office/drawing/2014/main" val="3070742148"/>
                    </a:ext>
                  </a:extLst>
                </a:gridCol>
                <a:gridCol w="1088674">
                  <a:extLst>
                    <a:ext uri="{9D8B030D-6E8A-4147-A177-3AD203B41FA5}">
                      <a16:colId xmlns:a16="http://schemas.microsoft.com/office/drawing/2014/main" val="1799806594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ysClr val="windowText" lastClr="000000"/>
                          </a:solidFill>
                          <a:effectLst/>
                        </a:rPr>
                        <a:t>Number of cars</a:t>
                      </a:r>
                      <a:endParaRPr lang="en-AU" sz="1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AU" sz="1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AU" sz="1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ysClr val="windowText" lastClr="000000"/>
                          </a:solidFill>
                          <a:effectLst/>
                        </a:rPr>
                        <a:t>2</a:t>
                      </a:r>
                      <a:endParaRPr lang="en-AU" sz="1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ysClr val="windowText" lastClr="000000"/>
                          </a:solidFill>
                          <a:effectLst/>
                        </a:rPr>
                        <a:t>3</a:t>
                      </a:r>
                      <a:endParaRPr lang="en-AU" sz="1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971602"/>
                  </a:ext>
                </a:extLst>
              </a:tr>
              <a:tr h="230505"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ysClr val="windowText" lastClr="000000"/>
                          </a:solidFill>
                          <a:effectLst/>
                        </a:rPr>
                        <a:t>Frequency</a:t>
                      </a:r>
                      <a:endParaRPr lang="en-AU" sz="1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ysClr val="windowText" lastClr="000000"/>
                          </a:solidFill>
                          <a:effectLst/>
                        </a:rPr>
                        <a:t>2</a:t>
                      </a:r>
                      <a:endParaRPr lang="en-AU" sz="1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ysClr val="windowText" lastClr="000000"/>
                          </a:solidFill>
                          <a:effectLst/>
                        </a:rPr>
                        <a:t>4</a:t>
                      </a:r>
                      <a:endParaRPr lang="en-AU" sz="1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ysClr val="windowText" lastClr="000000"/>
                          </a:solidFill>
                          <a:effectLst/>
                        </a:rPr>
                        <a:t>3</a:t>
                      </a:r>
                      <a:endParaRPr lang="en-AU" sz="1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AU" sz="1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211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346</Words>
  <Application>Microsoft Office PowerPoint</Application>
  <PresentationFormat>Widescreen</PresentationFormat>
  <Paragraphs>40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Arial</vt:lpstr>
      <vt:lpstr>Baskerville Old Face</vt:lpstr>
      <vt:lpstr>Calibri</vt:lpstr>
      <vt:lpstr>Calibri Light</vt:lpstr>
      <vt:lpstr>Cambria Math</vt:lpstr>
      <vt:lpstr>DJB Fancy Nancy</vt:lpstr>
      <vt:lpstr>Fragment Core</vt:lpstr>
      <vt:lpstr>Kiwi School Handwriting</vt:lpstr>
      <vt:lpstr>Office Theme</vt:lpstr>
      <vt:lpstr>Simulations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Simulations</dc:title>
  <dc:creator>JAMES Sarah [Baldivis Secondary College]</dc:creator>
  <cp:lastModifiedBy>JAMES Sarah [Baldivis Secondary College]</cp:lastModifiedBy>
  <cp:revision>1</cp:revision>
  <dcterms:created xsi:type="dcterms:W3CDTF">2021-06-22T12:12:29Z</dcterms:created>
  <dcterms:modified xsi:type="dcterms:W3CDTF">2021-06-22T12:14:09Z</dcterms:modified>
</cp:coreProperties>
</file>
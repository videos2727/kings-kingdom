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2" r:id="rId2"/>
    <p:sldId id="294" r:id="rId3"/>
    <p:sldId id="295" r:id="rId4"/>
    <p:sldId id="296" r:id="rId5"/>
    <p:sldId id="297" r:id="rId6"/>
    <p:sldId id="298" r:id="rId7"/>
    <p:sldId id="29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300" r:id="rId23"/>
    <p:sldId id="278" r:id="rId24"/>
    <p:sldId id="303" r:id="rId25"/>
    <p:sldId id="30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123DA-E123-4216-A526-0A30A00890C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58E3F-3473-42A5-A08A-3FC027C192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01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0488" y="754063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558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73E08E36-B65D-4807-8784-59621E455D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0BFCFB5A-A29E-4FC2-990A-1B7ED763A5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/>
              <a:t>Presentation to be given, demonstrating with 3D shape in teacher’s hand.  Pupils are allowed to bring 1 shape from their box – as teacher goes through presentation slides, ask pupils to hold hands up if they have a prism / non prism in their hands – this puts them into teams for the disappearing shape game.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C7E2-47EB-4FCE-AB7F-A9DF657AB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57251DD-6DDC-4603-9FDD-C2850234051D}" type="slidenum">
              <a:rPr lang="en-GB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6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0488" y="754063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348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0488" y="754063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677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7F91-6736-496E-BF1C-0675357E0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16307-2BA5-4952-985F-7A65FCA17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2182-0D9E-4331-B81E-DF180F5A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3B198-BFF4-4504-92F8-7148B3F7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2EFDE-ABC2-469A-9500-28BA7FFF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57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2016-D007-4F98-943F-F8C89DEF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0A39-2C7E-4734-85BD-A7646F03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F36D4-2B0B-4C8D-9F4F-BA9CF86D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D7B0E-05F8-46CD-9C8E-1E17369E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A373-D101-48F3-9B98-FFA37DB9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38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46B5-DD2C-4622-BBA3-E06FC90E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C1518-9156-4E89-81DE-CA7F2DF22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C952D-3D18-4474-A6CE-B988503B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061C3-E409-421A-9472-6CD8A63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719C0-C90B-4641-ACE8-2CA88F8B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60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DC16-BE2F-4358-93FB-80E5C4F9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E2B9-EFB3-4885-8C9B-83BA6FE71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7A785-9F94-46B9-A967-00F37245E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C887A-6EB7-48B2-86C4-C52900EC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9EC07-F7BE-44A1-BFE9-19CAD785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C352E-2BFC-4E06-9648-6E4C355B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897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3B1C-4D68-4C0D-BCD6-EEA4637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3C1CD-41DC-4B65-8EBB-131479B10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07749-EFE7-4F83-95F8-FF4578D1E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38F7D-226C-4C7E-B1B6-01D4180A9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4E62D-485C-4A00-A0F7-55ADD6DE9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84F349-58C5-4E39-8747-FDB82694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9BF9A-2E51-4390-8686-55E765B1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0A543-72A6-4681-B95C-47601E6E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790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21B9-96D8-4CE6-873B-3441EF90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15560-C8CB-43A8-BE47-32BE3CBB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F1A83-3645-43DA-AB27-1A9329B9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4917C-5F49-4081-9FF4-ED490BA9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08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60622A-E8AC-43FE-B55E-79F84FEF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820A9-7C35-4015-AF41-03C0560C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44ED-AA16-4738-8CAA-545D17D1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68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BBFF-D90A-451C-A8FB-78B63C55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51BE-6CEF-4D93-AC17-A2B583BB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61548-6C9E-4E9C-A69B-D965243E7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2EDE4-3084-4B69-B5B4-C527FF77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C50AC-B657-4557-BF1D-AFB69725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F91C-A7D7-4BB9-A60E-340ECC47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85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9245-CBDB-40B7-AE28-580A543F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3FF13-770F-4E7F-B6AD-B68F685FB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D6CBE-E8B5-49F8-AFEC-3316C26A7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1D59C-E09F-4CE6-9B4C-6EFF3F92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97E8E-6AF7-4D93-8463-CEB60F3F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B0A38-F64B-4783-8866-7008D9A0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501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1E9D-A0BC-45EA-B887-E4F6DED4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0B5EE-FA23-4D54-947D-501DA049B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52E22-1F28-4B8C-9DDD-A309F830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F0F15-54F1-4308-96A1-4257D764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82EE0-232C-409E-902F-D15FF5F4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802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493D7-F4BE-4138-93FF-66322055F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32F78-20D0-4CE9-BCF3-EFA70F98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BEE0-17CF-4DF3-8A22-FC0003E3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CD6C9-F110-420D-A3B5-147F93E9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03FF7-2329-4295-B1F9-D7339EC2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430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4BE33-9D72-4411-B409-350DDE84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E2CF-4707-435A-8DF9-FCA4A14B7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1C343-DE7D-426F-9EA6-A6E691C90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F1017-ABB6-4BB4-AEDA-AD6BD8BAB5DD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73AAD-A438-4B64-AB12-1B7341B36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443D5-0C20-488F-A84C-4B3E51431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EA14E-F713-4C40-AF05-D3FFA9BB87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16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699023"/>
            <a:ext cx="6858000" cy="628888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9840" y="2327910"/>
            <a:ext cx="6858000" cy="49887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EQ: What are the different terms used to describe solid shapes?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4E92F-165A-427F-BD26-89F7C94BC707}"/>
              </a:ext>
            </a:extLst>
          </p:cNvPr>
          <p:cNvSpPr txBox="1"/>
          <p:nvPr/>
        </p:nvSpPr>
        <p:spPr>
          <a:xfrm>
            <a:off x="436880" y="3341371"/>
            <a:ext cx="1148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 may seem very basic, but if you don’t know the terminology, you have no hope in understanding the questions.</a:t>
            </a:r>
          </a:p>
          <a:p>
            <a:endParaRPr lang="en-AU" dirty="0"/>
          </a:p>
          <a:p>
            <a:r>
              <a:rPr lang="en-AU" dirty="0"/>
              <a:t>Engage with the lesson by listening and answering questions. DON’T TALK TO YOUR NEIGBOUR ABOUT RANDOM THINGS</a:t>
            </a:r>
          </a:p>
          <a:p>
            <a:endParaRPr lang="en-AU" dirty="0"/>
          </a:p>
          <a:p>
            <a:r>
              <a:rPr lang="en-AU" dirty="0"/>
              <a:t>Write the notes down on the last slide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213F4-43C2-40FA-902A-4A70AAAE02C4}"/>
              </a:ext>
            </a:extLst>
          </p:cNvPr>
          <p:cNvSpPr txBox="1"/>
          <p:nvPr/>
        </p:nvSpPr>
        <p:spPr>
          <a:xfrm>
            <a:off x="1543050" y="5062718"/>
            <a:ext cx="950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EST content</a:t>
            </a:r>
            <a:endParaRPr lang="en-A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5BA8326D-4C8C-4A01-A2BF-3E2B50D829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1625"/>
            <a:ext cx="7772400" cy="1462088"/>
          </a:xfrm>
          <a:ln/>
        </p:spPr>
        <p:txBody>
          <a:bodyPr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3D shapes</a:t>
            </a:r>
            <a:br>
              <a:rPr lang="en-GB" altLang="en-US" dirty="0"/>
            </a:br>
            <a:r>
              <a:rPr lang="en-GB" altLang="en-US" dirty="0"/>
              <a:t>Face, edges and vertices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3473F2B-6297-48C6-B43A-B6D193F92F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1763714"/>
            <a:ext cx="7772400" cy="4340225"/>
          </a:xfrm>
          <a:ln w="936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 </a:t>
            </a:r>
            <a:r>
              <a:rPr lang="en-GB" altLang="en-US" u="sng" dirty="0"/>
              <a:t>face</a:t>
            </a:r>
            <a:r>
              <a:rPr lang="en-GB" altLang="en-US" dirty="0"/>
              <a:t> is the flat surface of a solid figure.</a:t>
            </a:r>
          </a:p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An </a:t>
            </a:r>
            <a:r>
              <a:rPr lang="en-GB" altLang="en-US" u="sng" dirty="0"/>
              <a:t>edge</a:t>
            </a:r>
            <a:r>
              <a:rPr lang="en-GB" altLang="en-US" dirty="0"/>
              <a:t> is formed when two faces meet.  An </a:t>
            </a:r>
            <a:r>
              <a:rPr lang="en-GB" altLang="en-US" u="sng" dirty="0"/>
              <a:t>edge</a:t>
            </a:r>
            <a:r>
              <a:rPr lang="en-GB" altLang="en-US" dirty="0"/>
              <a:t> is a straight line segment. </a:t>
            </a:r>
          </a:p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 </a:t>
            </a:r>
            <a:r>
              <a:rPr lang="en-GB" altLang="en-US" u="sng" dirty="0"/>
              <a:t>vertex</a:t>
            </a:r>
            <a:r>
              <a:rPr lang="en-GB" altLang="en-US" dirty="0"/>
              <a:t> is a </a:t>
            </a:r>
            <a:r>
              <a:rPr lang="en-GB" altLang="en-US" u="sng" dirty="0"/>
              <a:t>point</a:t>
            </a:r>
            <a:r>
              <a:rPr lang="en-GB" altLang="en-US" dirty="0"/>
              <a:t> where edges meet</a:t>
            </a:r>
          </a:p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>
              <a:solidFill>
                <a:srgbClr val="FE1F0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0D69B-065D-4F11-8589-BEFDEC3F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87" y="3639127"/>
            <a:ext cx="4119716" cy="28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38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648075" y="333376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919289" y="981076"/>
            <a:ext cx="8569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>
                <a:latin typeface="Comic Sans MS" pitchFamily="66" charset="0"/>
              </a:rPr>
              <a:t>Three dimensional (3D) shapes are defined by the number of </a:t>
            </a:r>
            <a:r>
              <a:rPr lang="en-GB" sz="2000" dirty="0">
                <a:solidFill>
                  <a:srgbClr val="3333FF"/>
                </a:solidFill>
                <a:latin typeface="Comic Sans MS" pitchFamily="66" charset="0"/>
              </a:rPr>
              <a:t>faces, edges</a:t>
            </a:r>
            <a:r>
              <a:rPr lang="en-GB" sz="2000" dirty="0">
                <a:latin typeface="Comic Sans MS" pitchFamily="66" charset="0"/>
              </a:rPr>
              <a:t> and </a:t>
            </a:r>
            <a:r>
              <a:rPr lang="en-GB" sz="2000" dirty="0">
                <a:solidFill>
                  <a:srgbClr val="3333FF"/>
                </a:solidFill>
                <a:latin typeface="Comic Sans MS" pitchFamily="66" charset="0"/>
              </a:rPr>
              <a:t>vertices</a:t>
            </a:r>
            <a:r>
              <a:rPr lang="en-GB" sz="2000" dirty="0">
                <a:latin typeface="Comic Sans MS" pitchFamily="66" charset="0"/>
              </a:rPr>
              <a:t> (corners) that they have.</a:t>
            </a:r>
            <a:endParaRPr lang="en-US" sz="2000" dirty="0">
              <a:latin typeface="Comic Sans MS" pitchFamily="66" charset="0"/>
            </a:endParaRPr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2720976" y="1717675"/>
            <a:ext cx="6613525" cy="4064000"/>
            <a:chOff x="610" y="1042"/>
            <a:chExt cx="4166" cy="2560"/>
          </a:xfrm>
        </p:grpSpPr>
        <p:sp>
          <p:nvSpPr>
            <p:cNvPr id="4104" name="Line 8"/>
            <p:cNvSpPr>
              <a:spLocks noChangeShapeType="1"/>
            </p:cNvSpPr>
            <p:nvPr/>
          </p:nvSpPr>
          <p:spPr bwMode="auto">
            <a:xfrm rot="21149013" flipV="1">
              <a:off x="2132" y="3048"/>
              <a:ext cx="2644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 rot="-450987" flipH="1" flipV="1">
              <a:off x="761" y="2775"/>
              <a:ext cx="1353" cy="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 rot="-450987">
              <a:off x="737" y="2602"/>
              <a:ext cx="39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11"/>
            <p:cNvSpPr>
              <a:spLocks noChangeShapeType="1"/>
            </p:cNvSpPr>
            <p:nvPr/>
          </p:nvSpPr>
          <p:spPr bwMode="auto">
            <a:xfrm rot="21149013" flipV="1">
              <a:off x="2011" y="1214"/>
              <a:ext cx="902" cy="2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12"/>
            <p:cNvSpPr>
              <a:spLocks noChangeShapeType="1"/>
            </p:cNvSpPr>
            <p:nvPr/>
          </p:nvSpPr>
          <p:spPr bwMode="auto">
            <a:xfrm rot="-450987" flipH="1" flipV="1">
              <a:off x="2883" y="1042"/>
              <a:ext cx="1742" cy="1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 rot="21149013" flipV="1">
              <a:off x="610" y="1306"/>
              <a:ext cx="2255" cy="1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8" name="Group 32"/>
          <p:cNvGrpSpPr>
            <a:grpSpLocks/>
          </p:cNvGrpSpPr>
          <p:nvPr/>
        </p:nvGrpSpPr>
        <p:grpSpPr bwMode="auto">
          <a:xfrm>
            <a:off x="6197600" y="1574800"/>
            <a:ext cx="4038600" cy="641350"/>
            <a:chOff x="2944" y="992"/>
            <a:chExt cx="2544" cy="404"/>
          </a:xfrm>
        </p:grpSpPr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 flipH="1">
              <a:off x="2944" y="1112"/>
              <a:ext cx="800" cy="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Text Box 17"/>
            <p:cNvSpPr txBox="1">
              <a:spLocks noChangeArrowheads="1"/>
            </p:cNvSpPr>
            <p:nvPr/>
          </p:nvSpPr>
          <p:spPr bwMode="auto">
            <a:xfrm>
              <a:off x="3528" y="992"/>
              <a:ext cx="196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       VERTEX                        (plural is vertices)</a:t>
              </a:r>
              <a:endParaRPr lang="en-US"/>
            </a:p>
          </p:txBody>
        </p:sp>
      </p:grpSp>
      <p:grpSp>
        <p:nvGrpSpPr>
          <p:cNvPr id="4126" name="Group 30"/>
          <p:cNvGrpSpPr>
            <a:grpSpLocks/>
          </p:cNvGrpSpPr>
          <p:nvPr/>
        </p:nvGrpSpPr>
        <p:grpSpPr bwMode="auto">
          <a:xfrm>
            <a:off x="2438400" y="2400300"/>
            <a:ext cx="2146300" cy="647700"/>
            <a:chOff x="648" y="1544"/>
            <a:chExt cx="1352" cy="408"/>
          </a:xfrm>
        </p:grpSpPr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1192" y="1704"/>
              <a:ext cx="808" cy="2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Text Box 19"/>
            <p:cNvSpPr txBox="1">
              <a:spLocks noChangeArrowheads="1"/>
            </p:cNvSpPr>
            <p:nvPr/>
          </p:nvSpPr>
          <p:spPr bwMode="auto">
            <a:xfrm>
              <a:off x="648" y="1544"/>
              <a:ext cx="7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EDGE</a:t>
              </a:r>
              <a:endParaRPr lang="en-US"/>
            </a:p>
          </p:txBody>
        </p:sp>
      </p:grpSp>
      <p:sp>
        <p:nvSpPr>
          <p:cNvPr id="4119" name="Text Box 23"/>
          <p:cNvSpPr txBox="1">
            <a:spLocks noChangeArrowheads="1"/>
          </p:cNvSpPr>
          <p:nvPr/>
        </p:nvSpPr>
        <p:spPr bwMode="auto">
          <a:xfrm>
            <a:off x="4711700" y="5753101"/>
            <a:ext cx="238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 TETRAHEDRON</a:t>
            </a:r>
            <a:endParaRPr lang="en-US"/>
          </a:p>
        </p:txBody>
      </p:sp>
      <p:sp>
        <p:nvSpPr>
          <p:cNvPr id="4125" name="Freeform 29"/>
          <p:cNvSpPr>
            <a:spLocks/>
          </p:cNvSpPr>
          <p:nvPr/>
        </p:nvSpPr>
        <p:spPr bwMode="auto">
          <a:xfrm>
            <a:off x="5194300" y="1905000"/>
            <a:ext cx="4076700" cy="3721100"/>
          </a:xfrm>
          <a:custGeom>
            <a:avLst/>
            <a:gdLst/>
            <a:ahLst/>
            <a:cxnLst>
              <a:cxn ang="0">
                <a:pos x="0" y="2344"/>
              </a:cxn>
              <a:cxn ang="0">
                <a:pos x="592" y="0"/>
              </a:cxn>
              <a:cxn ang="0">
                <a:pos x="2568" y="1712"/>
              </a:cxn>
              <a:cxn ang="0">
                <a:pos x="0" y="2344"/>
              </a:cxn>
            </a:cxnLst>
            <a:rect l="0" t="0" r="r" b="b"/>
            <a:pathLst>
              <a:path w="2568" h="2344">
                <a:moveTo>
                  <a:pt x="0" y="2344"/>
                </a:moveTo>
                <a:lnTo>
                  <a:pt x="592" y="0"/>
                </a:lnTo>
                <a:lnTo>
                  <a:pt x="2568" y="1712"/>
                </a:lnTo>
                <a:lnTo>
                  <a:pt x="0" y="2344"/>
                </a:lnTo>
                <a:close/>
              </a:path>
            </a:pathLst>
          </a:custGeom>
          <a:gradFill rotWithShape="1">
            <a:gsLst>
              <a:gs pos="0">
                <a:srgbClr val="FBA3EC">
                  <a:gamma/>
                  <a:shade val="89020"/>
                  <a:invGamma/>
                  <a:alpha val="46001"/>
                </a:srgbClr>
              </a:gs>
              <a:gs pos="50000">
                <a:srgbClr val="FBA3EC">
                  <a:alpha val="46001"/>
                </a:srgbClr>
              </a:gs>
              <a:gs pos="100000">
                <a:srgbClr val="FBA3EC">
                  <a:gamma/>
                  <a:shade val="89020"/>
                  <a:invGamma/>
                  <a:alpha val="46001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120" name="Group 24"/>
          <p:cNvGrpSpPr>
            <a:grpSpLocks/>
          </p:cNvGrpSpPr>
          <p:nvPr/>
        </p:nvGrpSpPr>
        <p:grpSpPr bwMode="auto">
          <a:xfrm>
            <a:off x="7086600" y="3149601"/>
            <a:ext cx="2540000" cy="366713"/>
            <a:chOff x="3504" y="1984"/>
            <a:chExt cx="1600" cy="231"/>
          </a:xfrm>
        </p:grpSpPr>
        <p:sp>
          <p:nvSpPr>
            <p:cNvPr id="4116" name="Line 20"/>
            <p:cNvSpPr>
              <a:spLocks noChangeShapeType="1"/>
            </p:cNvSpPr>
            <p:nvPr/>
          </p:nvSpPr>
          <p:spPr bwMode="auto">
            <a:xfrm flipH="1">
              <a:off x="3504" y="2120"/>
              <a:ext cx="800" cy="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Text Box 21"/>
            <p:cNvSpPr txBox="1">
              <a:spLocks noChangeArrowheads="1"/>
            </p:cNvSpPr>
            <p:nvPr/>
          </p:nvSpPr>
          <p:spPr bwMode="auto">
            <a:xfrm>
              <a:off x="4352" y="1984"/>
              <a:ext cx="7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FACE</a:t>
              </a:r>
              <a:endParaRPr lang="en-US"/>
            </a:p>
          </p:txBody>
        </p:sp>
      </p:grpSp>
      <p:sp>
        <p:nvSpPr>
          <p:cNvPr id="4127" name="Line 31"/>
          <p:cNvSpPr>
            <a:spLocks noChangeShapeType="1"/>
          </p:cNvSpPr>
          <p:nvPr/>
        </p:nvSpPr>
        <p:spPr bwMode="auto">
          <a:xfrm flipV="1">
            <a:off x="2889251" y="1898650"/>
            <a:ext cx="3260725" cy="27178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9" name="Oval 33"/>
          <p:cNvSpPr>
            <a:spLocks noChangeArrowheads="1"/>
          </p:cNvSpPr>
          <p:nvPr/>
        </p:nvSpPr>
        <p:spPr bwMode="auto">
          <a:xfrm>
            <a:off x="6076951" y="1847851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0" name="Rectangle 34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1" name="Rectangle 35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2" name="Rectangle 36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3" name="Rectangle 37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213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0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5" grpId="0" animBg="1"/>
      <p:bldP spid="4127" grpId="0" animBg="1"/>
      <p:bldP spid="41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Freeform 36"/>
          <p:cNvSpPr>
            <a:spLocks/>
          </p:cNvSpPr>
          <p:nvPr/>
        </p:nvSpPr>
        <p:spPr bwMode="auto">
          <a:xfrm>
            <a:off x="2890838" y="4614864"/>
            <a:ext cx="6386512" cy="1017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8" y="641"/>
              </a:cxn>
              <a:cxn ang="0">
                <a:pos x="4023" y="10"/>
              </a:cxn>
              <a:cxn ang="0">
                <a:pos x="0" y="0"/>
              </a:cxn>
            </a:cxnLst>
            <a:rect l="0" t="0" r="r" b="b"/>
            <a:pathLst>
              <a:path w="4023" h="641">
                <a:moveTo>
                  <a:pt x="0" y="0"/>
                </a:moveTo>
                <a:lnTo>
                  <a:pt x="1448" y="641"/>
                </a:lnTo>
                <a:lnTo>
                  <a:pt x="4023" y="10"/>
                </a:lnTo>
                <a:lnTo>
                  <a:pt x="0" y="0"/>
                </a:lnTo>
                <a:close/>
              </a:path>
            </a:pathLst>
          </a:custGeom>
          <a:solidFill>
            <a:srgbClr val="FBA3EC">
              <a:alpha val="52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4" name="Freeform 34"/>
          <p:cNvSpPr>
            <a:spLocks/>
          </p:cNvSpPr>
          <p:nvPr/>
        </p:nvSpPr>
        <p:spPr bwMode="auto">
          <a:xfrm>
            <a:off x="2892426" y="1914526"/>
            <a:ext cx="6391275" cy="2708275"/>
          </a:xfrm>
          <a:custGeom>
            <a:avLst/>
            <a:gdLst/>
            <a:ahLst/>
            <a:cxnLst>
              <a:cxn ang="0">
                <a:pos x="2036" y="0"/>
              </a:cxn>
              <a:cxn ang="0">
                <a:pos x="0" y="1698"/>
              </a:cxn>
              <a:cxn ang="0">
                <a:pos x="4026" y="1706"/>
              </a:cxn>
              <a:cxn ang="0">
                <a:pos x="2036" y="0"/>
              </a:cxn>
            </a:cxnLst>
            <a:rect l="0" t="0" r="r" b="b"/>
            <a:pathLst>
              <a:path w="4026" h="1706">
                <a:moveTo>
                  <a:pt x="2036" y="0"/>
                </a:moveTo>
                <a:lnTo>
                  <a:pt x="0" y="1698"/>
                </a:lnTo>
                <a:lnTo>
                  <a:pt x="4026" y="1706"/>
                </a:lnTo>
                <a:lnTo>
                  <a:pt x="2036" y="0"/>
                </a:lnTo>
                <a:close/>
              </a:path>
            </a:pathLst>
          </a:custGeom>
          <a:solidFill>
            <a:srgbClr val="3399FF">
              <a:alpha val="52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2720976" y="1717675"/>
            <a:ext cx="6613525" cy="4064000"/>
            <a:chOff x="610" y="1042"/>
            <a:chExt cx="4166" cy="2560"/>
          </a:xfrm>
        </p:grpSpPr>
        <p:sp>
          <p:nvSpPr>
            <p:cNvPr id="5125" name="Line 5"/>
            <p:cNvSpPr>
              <a:spLocks noChangeShapeType="1"/>
            </p:cNvSpPr>
            <p:nvPr/>
          </p:nvSpPr>
          <p:spPr bwMode="auto">
            <a:xfrm rot="21149013" flipV="1">
              <a:off x="2132" y="3048"/>
              <a:ext cx="2644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6" name="Line 6"/>
            <p:cNvSpPr>
              <a:spLocks noChangeShapeType="1"/>
            </p:cNvSpPr>
            <p:nvPr/>
          </p:nvSpPr>
          <p:spPr bwMode="auto">
            <a:xfrm rot="-450987" flipH="1" flipV="1">
              <a:off x="761" y="2775"/>
              <a:ext cx="1353" cy="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 rot="-450987">
              <a:off x="737" y="2602"/>
              <a:ext cx="39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 rot="21149013" flipV="1">
              <a:off x="2011" y="1214"/>
              <a:ext cx="902" cy="2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 rot="-450987" flipH="1" flipV="1">
              <a:off x="2883" y="1042"/>
              <a:ext cx="1742" cy="1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 rot="21149013" flipV="1">
              <a:off x="610" y="1306"/>
              <a:ext cx="2255" cy="1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4711700" y="5753101"/>
            <a:ext cx="238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 TETRAHEDRON</a:t>
            </a:r>
            <a:endParaRPr lang="en-US"/>
          </a:p>
        </p:txBody>
      </p:sp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2082801" y="1944688"/>
            <a:ext cx="2416175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/>
              <a:t>A tetrahedron is a pyramid with </a:t>
            </a:r>
            <a:r>
              <a:rPr lang="en-GB" sz="2000">
                <a:solidFill>
                  <a:srgbClr val="3333FF"/>
                </a:solidFill>
              </a:rPr>
              <a:t>triangular </a:t>
            </a:r>
            <a:r>
              <a:rPr lang="en-GB" sz="2000"/>
              <a:t>faces. </a:t>
            </a:r>
            <a:endParaRPr lang="en-US" sz="2000"/>
          </a:p>
        </p:txBody>
      </p:sp>
      <p:grpSp>
        <p:nvGrpSpPr>
          <p:cNvPr id="5167" name="Group 47"/>
          <p:cNvGrpSpPr>
            <a:grpSpLocks/>
          </p:cNvGrpSpPr>
          <p:nvPr/>
        </p:nvGrpSpPr>
        <p:grpSpPr bwMode="auto">
          <a:xfrm>
            <a:off x="7878764" y="1560514"/>
            <a:ext cx="1462087" cy="1400175"/>
            <a:chOff x="4003" y="983"/>
            <a:chExt cx="921" cy="882"/>
          </a:xfrm>
        </p:grpSpPr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4003" y="983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Faces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5146" name="Text Box 26"/>
            <p:cNvSpPr txBox="1">
              <a:spLocks noChangeArrowheads="1"/>
            </p:cNvSpPr>
            <p:nvPr/>
          </p:nvSpPr>
          <p:spPr bwMode="auto">
            <a:xfrm>
              <a:off x="4003" y="1277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Edges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5147" name="Text Box 27"/>
            <p:cNvSpPr txBox="1">
              <a:spLocks noChangeArrowheads="1"/>
            </p:cNvSpPr>
            <p:nvPr/>
          </p:nvSpPr>
          <p:spPr bwMode="auto">
            <a:xfrm>
              <a:off x="4003" y="1571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Vertices</a:t>
              </a:r>
              <a:endParaRPr lang="en-US" sz="2400">
                <a:latin typeface="Comic Sans MS" pitchFamily="66" charset="0"/>
              </a:endParaRPr>
            </a:p>
          </p:txBody>
        </p:sp>
      </p:grpSp>
      <p:sp>
        <p:nvSpPr>
          <p:cNvPr id="5157" name="Freeform 37"/>
          <p:cNvSpPr>
            <a:spLocks/>
          </p:cNvSpPr>
          <p:nvPr/>
        </p:nvSpPr>
        <p:spPr bwMode="auto">
          <a:xfrm>
            <a:off x="2889251" y="1917701"/>
            <a:ext cx="3235325" cy="3717925"/>
          </a:xfrm>
          <a:custGeom>
            <a:avLst/>
            <a:gdLst/>
            <a:ahLst/>
            <a:cxnLst>
              <a:cxn ang="0">
                <a:pos x="2038" y="0"/>
              </a:cxn>
              <a:cxn ang="0">
                <a:pos x="0" y="1696"/>
              </a:cxn>
              <a:cxn ang="0">
                <a:pos x="1440" y="2342"/>
              </a:cxn>
              <a:cxn ang="0">
                <a:pos x="2038" y="0"/>
              </a:cxn>
            </a:cxnLst>
            <a:rect l="0" t="0" r="r" b="b"/>
            <a:pathLst>
              <a:path w="2038" h="2342">
                <a:moveTo>
                  <a:pt x="2038" y="0"/>
                </a:moveTo>
                <a:lnTo>
                  <a:pt x="0" y="1696"/>
                </a:lnTo>
                <a:lnTo>
                  <a:pt x="1440" y="2342"/>
                </a:lnTo>
                <a:lnTo>
                  <a:pt x="2038" y="0"/>
                </a:lnTo>
                <a:close/>
              </a:path>
            </a:pathLst>
          </a:custGeom>
          <a:gradFill rotWithShape="1">
            <a:gsLst>
              <a:gs pos="0">
                <a:srgbClr val="FFFF00">
                  <a:gamma/>
                  <a:shade val="66667"/>
                  <a:invGamma/>
                  <a:alpha val="50999"/>
                </a:srgbClr>
              </a:gs>
              <a:gs pos="50000">
                <a:srgbClr val="FFFF00">
                  <a:alpha val="53999"/>
                </a:srgbClr>
              </a:gs>
              <a:gs pos="100000">
                <a:srgbClr val="FFFF00">
                  <a:gamma/>
                  <a:shade val="66667"/>
                  <a:invGamma/>
                  <a:alpha val="50999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8" name="Freeform 38"/>
          <p:cNvSpPr>
            <a:spLocks/>
          </p:cNvSpPr>
          <p:nvPr/>
        </p:nvSpPr>
        <p:spPr bwMode="auto">
          <a:xfrm>
            <a:off x="5181600" y="1924050"/>
            <a:ext cx="4095750" cy="3714750"/>
          </a:xfrm>
          <a:custGeom>
            <a:avLst/>
            <a:gdLst/>
            <a:ahLst/>
            <a:cxnLst>
              <a:cxn ang="0">
                <a:pos x="600" y="0"/>
              </a:cxn>
              <a:cxn ang="0">
                <a:pos x="0" y="2340"/>
              </a:cxn>
              <a:cxn ang="0">
                <a:pos x="2580" y="1704"/>
              </a:cxn>
              <a:cxn ang="0">
                <a:pos x="600" y="0"/>
              </a:cxn>
            </a:cxnLst>
            <a:rect l="0" t="0" r="r" b="b"/>
            <a:pathLst>
              <a:path w="2580" h="2340">
                <a:moveTo>
                  <a:pt x="600" y="0"/>
                </a:moveTo>
                <a:lnTo>
                  <a:pt x="0" y="2340"/>
                </a:lnTo>
                <a:lnTo>
                  <a:pt x="2580" y="1704"/>
                </a:lnTo>
                <a:lnTo>
                  <a:pt x="600" y="0"/>
                </a:lnTo>
                <a:close/>
              </a:path>
            </a:pathLst>
          </a:custGeom>
          <a:solidFill>
            <a:srgbClr val="FFFFFF">
              <a:alpha val="5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64" name="Text Box 44"/>
          <p:cNvSpPr txBox="1">
            <a:spLocks noChangeArrowheads="1"/>
          </p:cNvSpPr>
          <p:nvPr/>
        </p:nvSpPr>
        <p:spPr bwMode="auto">
          <a:xfrm>
            <a:off x="9342439" y="156051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4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5" name="Text Box 45"/>
          <p:cNvSpPr txBox="1">
            <a:spLocks noChangeArrowheads="1"/>
          </p:cNvSpPr>
          <p:nvPr/>
        </p:nvSpPr>
        <p:spPr bwMode="auto">
          <a:xfrm>
            <a:off x="9344025" y="2027239"/>
            <a:ext cx="776288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6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6" name="Text Box 46"/>
          <p:cNvSpPr txBox="1">
            <a:spLocks noChangeArrowheads="1"/>
          </p:cNvSpPr>
          <p:nvPr/>
        </p:nvSpPr>
        <p:spPr bwMode="auto">
          <a:xfrm>
            <a:off x="9342439" y="249396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4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9" name="Line 49"/>
          <p:cNvSpPr>
            <a:spLocks noChangeShapeType="1"/>
          </p:cNvSpPr>
          <p:nvPr/>
        </p:nvSpPr>
        <p:spPr bwMode="auto">
          <a:xfrm flipH="1" flipV="1">
            <a:off x="6124575" y="1914526"/>
            <a:ext cx="3143250" cy="2708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0" name="Line 50"/>
          <p:cNvSpPr>
            <a:spLocks noChangeShapeType="1"/>
          </p:cNvSpPr>
          <p:nvPr/>
        </p:nvSpPr>
        <p:spPr bwMode="auto">
          <a:xfrm flipH="1">
            <a:off x="2892425" y="1914526"/>
            <a:ext cx="3232150" cy="2708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3" name="Line 53"/>
          <p:cNvSpPr>
            <a:spLocks noChangeShapeType="1"/>
          </p:cNvSpPr>
          <p:nvPr/>
        </p:nvSpPr>
        <p:spPr bwMode="auto">
          <a:xfrm flipH="1">
            <a:off x="5181601" y="1914526"/>
            <a:ext cx="942975" cy="3724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4" name="Line 54"/>
          <p:cNvSpPr>
            <a:spLocks noChangeShapeType="1"/>
          </p:cNvSpPr>
          <p:nvPr/>
        </p:nvSpPr>
        <p:spPr bwMode="auto">
          <a:xfrm>
            <a:off x="2892426" y="4614864"/>
            <a:ext cx="2289175" cy="101758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5" name="Line 55"/>
          <p:cNvSpPr>
            <a:spLocks noChangeShapeType="1"/>
          </p:cNvSpPr>
          <p:nvPr/>
        </p:nvSpPr>
        <p:spPr bwMode="auto">
          <a:xfrm flipH="1">
            <a:off x="5181601" y="4622800"/>
            <a:ext cx="4086225" cy="10160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6" name="Line 56"/>
          <p:cNvSpPr>
            <a:spLocks noChangeShapeType="1"/>
          </p:cNvSpPr>
          <p:nvPr/>
        </p:nvSpPr>
        <p:spPr bwMode="auto">
          <a:xfrm>
            <a:off x="2922589" y="4622800"/>
            <a:ext cx="6345237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7" name="Oval 57"/>
          <p:cNvSpPr>
            <a:spLocks noChangeArrowheads="1"/>
          </p:cNvSpPr>
          <p:nvPr/>
        </p:nvSpPr>
        <p:spPr bwMode="auto">
          <a:xfrm>
            <a:off x="6053139" y="1847851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8" name="Oval 58"/>
          <p:cNvSpPr>
            <a:spLocks noChangeArrowheads="1"/>
          </p:cNvSpPr>
          <p:nvPr/>
        </p:nvSpPr>
        <p:spPr bwMode="auto">
          <a:xfrm>
            <a:off x="2851151" y="4551364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9" name="Oval 59"/>
          <p:cNvSpPr>
            <a:spLocks noChangeArrowheads="1"/>
          </p:cNvSpPr>
          <p:nvPr/>
        </p:nvSpPr>
        <p:spPr bwMode="auto">
          <a:xfrm>
            <a:off x="9191626" y="4543426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0" name="Oval 60"/>
          <p:cNvSpPr>
            <a:spLocks noChangeArrowheads="1"/>
          </p:cNvSpPr>
          <p:nvPr/>
        </p:nvSpPr>
        <p:spPr bwMode="auto">
          <a:xfrm>
            <a:off x="5108576" y="5557839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2" name="Text Box 62"/>
          <p:cNvSpPr txBox="1">
            <a:spLocks noChangeArrowheads="1"/>
          </p:cNvSpPr>
          <p:nvPr/>
        </p:nvSpPr>
        <p:spPr bwMode="auto">
          <a:xfrm>
            <a:off x="7886701" y="5130800"/>
            <a:ext cx="2416175" cy="1016000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/>
              <a:t>A tetrahedron is the </a:t>
            </a:r>
            <a:r>
              <a:rPr lang="en-GB" sz="2000">
                <a:solidFill>
                  <a:srgbClr val="3333FF"/>
                </a:solidFill>
              </a:rPr>
              <a:t>simplest</a:t>
            </a:r>
            <a:r>
              <a:rPr lang="en-GB" sz="2000"/>
              <a:t> of all the 3D shapes.</a:t>
            </a:r>
            <a:endParaRPr lang="en-US" sz="2000"/>
          </a:p>
        </p:txBody>
      </p:sp>
      <p:sp>
        <p:nvSpPr>
          <p:cNvPr id="5183" name="Text Box 63"/>
          <p:cNvSpPr txBox="1">
            <a:spLocks noChangeArrowheads="1"/>
          </p:cNvSpPr>
          <p:nvPr/>
        </p:nvSpPr>
        <p:spPr bwMode="auto">
          <a:xfrm>
            <a:off x="3648075" y="333376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5184" name="Rectangle 64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5" name="Rectangle 65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6" name="Rectangle 66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7" name="Rectangle 67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8" name="Text Box 68"/>
          <p:cNvSpPr txBox="1">
            <a:spLocks noChangeArrowheads="1"/>
          </p:cNvSpPr>
          <p:nvPr/>
        </p:nvSpPr>
        <p:spPr bwMode="auto">
          <a:xfrm>
            <a:off x="1919289" y="981076"/>
            <a:ext cx="8569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>
                <a:latin typeface="Comic Sans MS" pitchFamily="66" charset="0"/>
              </a:rPr>
              <a:t>Three dimensional (3D) shapes are defined by the number of </a:t>
            </a:r>
            <a:r>
              <a:rPr lang="en-GB" sz="2000">
                <a:solidFill>
                  <a:srgbClr val="3333FF"/>
                </a:solidFill>
                <a:latin typeface="Comic Sans MS" pitchFamily="66" charset="0"/>
              </a:rPr>
              <a:t>faces, edges</a:t>
            </a:r>
            <a:r>
              <a:rPr lang="en-GB" sz="2000">
                <a:latin typeface="Comic Sans MS" pitchFamily="66" charset="0"/>
              </a:rPr>
              <a:t> and </a:t>
            </a:r>
            <a:r>
              <a:rPr lang="en-GB" sz="2000">
                <a:solidFill>
                  <a:srgbClr val="3333FF"/>
                </a:solidFill>
                <a:latin typeface="Comic Sans MS" pitchFamily="66" charset="0"/>
              </a:rPr>
              <a:t>vertices</a:t>
            </a:r>
            <a:r>
              <a:rPr lang="en-GB" sz="2000">
                <a:latin typeface="Comic Sans MS" pitchFamily="66" charset="0"/>
              </a:rPr>
              <a:t> (corners) that they have.</a:t>
            </a:r>
            <a:endParaRPr lang="en-US" sz="200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9159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000"/>
                                        <p:tgtEl>
                                          <p:spTgt spid="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6" grpId="0" animBg="1"/>
      <p:bldP spid="5154" grpId="0" animBg="1"/>
      <p:bldP spid="5144" grpId="0" animBg="1"/>
      <p:bldP spid="5157" grpId="0" animBg="1"/>
      <p:bldP spid="5158" grpId="0" animBg="1"/>
      <p:bldP spid="5164" grpId="0" animBg="1"/>
      <p:bldP spid="5165" grpId="0" animBg="1"/>
      <p:bldP spid="5166" grpId="0" animBg="1"/>
      <p:bldP spid="5169" grpId="0" animBg="1"/>
      <p:bldP spid="5170" grpId="0" animBg="1"/>
      <p:bldP spid="5173" grpId="0" animBg="1"/>
      <p:bldP spid="5174" grpId="0" animBg="1"/>
      <p:bldP spid="5175" grpId="0" animBg="1"/>
      <p:bldP spid="5176" grpId="0" animBg="1"/>
      <p:bldP spid="5177" grpId="0" animBg="1"/>
      <p:bldP spid="5178" grpId="0" animBg="1"/>
      <p:bldP spid="5179" grpId="0" animBg="1"/>
      <p:bldP spid="5180" grpId="0" animBg="1"/>
      <p:bldP spid="5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 7"/>
          <p:cNvSpPr>
            <a:spLocks/>
          </p:cNvSpPr>
          <p:nvPr/>
        </p:nvSpPr>
        <p:spPr bwMode="auto">
          <a:xfrm>
            <a:off x="2773363" y="1797050"/>
            <a:ext cx="3459162" cy="3187700"/>
          </a:xfrm>
          <a:custGeom>
            <a:avLst/>
            <a:gdLst/>
            <a:ahLst/>
            <a:cxnLst>
              <a:cxn ang="0">
                <a:pos x="675" y="0"/>
              </a:cxn>
              <a:cxn ang="0">
                <a:pos x="0" y="924"/>
              </a:cxn>
              <a:cxn ang="0">
                <a:pos x="999" y="579"/>
              </a:cxn>
              <a:cxn ang="0">
                <a:pos x="675" y="0"/>
              </a:cxn>
            </a:cxnLst>
            <a:rect l="0" t="0" r="r" b="b"/>
            <a:pathLst>
              <a:path w="999" h="924">
                <a:moveTo>
                  <a:pt x="675" y="0"/>
                </a:moveTo>
                <a:lnTo>
                  <a:pt x="0" y="924"/>
                </a:lnTo>
                <a:lnTo>
                  <a:pt x="999" y="579"/>
                </a:lnTo>
                <a:lnTo>
                  <a:pt x="675" y="0"/>
                </a:lnTo>
                <a:close/>
              </a:path>
            </a:pathLst>
          </a:custGeom>
          <a:solidFill>
            <a:srgbClr val="FF0000">
              <a:alpha val="48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0" name="Freeform 8"/>
          <p:cNvSpPr>
            <a:spLocks/>
          </p:cNvSpPr>
          <p:nvPr/>
        </p:nvSpPr>
        <p:spPr bwMode="auto">
          <a:xfrm>
            <a:off x="2778126" y="4984751"/>
            <a:ext cx="3387725" cy="638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3" y="198"/>
              </a:cxn>
            </a:cxnLst>
            <a:rect l="0" t="0" r="r" b="b"/>
            <a:pathLst>
              <a:path w="753" h="198">
                <a:moveTo>
                  <a:pt x="0" y="0"/>
                </a:moveTo>
                <a:lnTo>
                  <a:pt x="753" y="198"/>
                </a:lnTo>
              </a:path>
            </a:pathLst>
          </a:custGeom>
          <a:solidFill>
            <a:srgbClr val="FFFFCC"/>
          </a:solidFill>
          <a:ln w="95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1" name="Freeform 9"/>
          <p:cNvSpPr>
            <a:spLocks/>
          </p:cNvSpPr>
          <p:nvPr/>
        </p:nvSpPr>
        <p:spPr bwMode="auto">
          <a:xfrm>
            <a:off x="6232526" y="3790950"/>
            <a:ext cx="3427413" cy="622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7" y="201"/>
              </a:cxn>
            </a:cxnLst>
            <a:rect l="0" t="0" r="r" b="b"/>
            <a:pathLst>
              <a:path w="767" h="201">
                <a:moveTo>
                  <a:pt x="0" y="0"/>
                </a:moveTo>
                <a:lnTo>
                  <a:pt x="767" y="201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2795589" y="3790950"/>
            <a:ext cx="3436937" cy="1193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 flipV="1">
            <a:off x="6183314" y="4413250"/>
            <a:ext cx="3513137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 flipH="1">
            <a:off x="2773363" y="1781176"/>
            <a:ext cx="2343150" cy="3203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5" name="Freeform 13"/>
          <p:cNvSpPr>
            <a:spLocks/>
          </p:cNvSpPr>
          <p:nvPr/>
        </p:nvSpPr>
        <p:spPr bwMode="auto">
          <a:xfrm>
            <a:off x="5113339" y="1793875"/>
            <a:ext cx="1074737" cy="3829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9" y="1187"/>
              </a:cxn>
            </a:cxnLst>
            <a:rect l="0" t="0" r="r" b="b"/>
            <a:pathLst>
              <a:path w="239" h="1187">
                <a:moveTo>
                  <a:pt x="0" y="0"/>
                </a:moveTo>
                <a:lnTo>
                  <a:pt x="239" y="1187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5113339" y="1790700"/>
            <a:ext cx="1119187" cy="2000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9" y="620"/>
              </a:cxn>
            </a:cxnLst>
            <a:rect l="0" t="0" r="r" b="b"/>
            <a:pathLst>
              <a:path w="249" h="620">
                <a:moveTo>
                  <a:pt x="0" y="0"/>
                </a:moveTo>
                <a:lnTo>
                  <a:pt x="249" y="620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7" name="Freeform 15"/>
          <p:cNvSpPr>
            <a:spLocks/>
          </p:cNvSpPr>
          <p:nvPr/>
        </p:nvSpPr>
        <p:spPr bwMode="auto">
          <a:xfrm>
            <a:off x="5126039" y="1790700"/>
            <a:ext cx="4556125" cy="261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13" y="811"/>
              </a:cxn>
            </a:cxnLst>
            <a:rect l="0" t="0" r="r" b="b"/>
            <a:pathLst>
              <a:path w="1013" h="811">
                <a:moveTo>
                  <a:pt x="0" y="0"/>
                </a:moveTo>
                <a:lnTo>
                  <a:pt x="1013" y="81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8" name="Freeform 16"/>
          <p:cNvSpPr>
            <a:spLocks/>
          </p:cNvSpPr>
          <p:nvPr/>
        </p:nvSpPr>
        <p:spPr bwMode="auto">
          <a:xfrm>
            <a:off x="5105400" y="1781175"/>
            <a:ext cx="4554538" cy="2628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" y="579"/>
              </a:cxn>
              <a:cxn ang="0">
                <a:pos x="1320" y="762"/>
              </a:cxn>
              <a:cxn ang="0">
                <a:pos x="0" y="0"/>
              </a:cxn>
            </a:cxnLst>
            <a:rect l="0" t="0" r="r" b="b"/>
            <a:pathLst>
              <a:path w="1320" h="762">
                <a:moveTo>
                  <a:pt x="0" y="0"/>
                </a:moveTo>
                <a:lnTo>
                  <a:pt x="324" y="579"/>
                </a:lnTo>
                <a:lnTo>
                  <a:pt x="1320" y="762"/>
                </a:lnTo>
                <a:lnTo>
                  <a:pt x="0" y="0"/>
                </a:lnTo>
                <a:close/>
              </a:path>
            </a:pathLst>
          </a:custGeom>
          <a:solidFill>
            <a:srgbClr val="0066FF">
              <a:alpha val="4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9" name="Freeform 17"/>
          <p:cNvSpPr>
            <a:spLocks/>
          </p:cNvSpPr>
          <p:nvPr/>
        </p:nvSpPr>
        <p:spPr bwMode="auto">
          <a:xfrm>
            <a:off x="2795588" y="3790950"/>
            <a:ext cx="6864350" cy="1822450"/>
          </a:xfrm>
          <a:custGeom>
            <a:avLst/>
            <a:gdLst/>
            <a:ahLst/>
            <a:cxnLst>
              <a:cxn ang="0">
                <a:pos x="0" y="345"/>
              </a:cxn>
              <a:cxn ang="0">
                <a:pos x="999" y="0"/>
              </a:cxn>
              <a:cxn ang="0">
                <a:pos x="1989" y="180"/>
              </a:cxn>
              <a:cxn ang="0">
                <a:pos x="984" y="528"/>
              </a:cxn>
              <a:cxn ang="0">
                <a:pos x="0" y="345"/>
              </a:cxn>
            </a:cxnLst>
            <a:rect l="0" t="0" r="r" b="b"/>
            <a:pathLst>
              <a:path w="1989" h="528">
                <a:moveTo>
                  <a:pt x="0" y="345"/>
                </a:moveTo>
                <a:lnTo>
                  <a:pt x="999" y="0"/>
                </a:lnTo>
                <a:lnTo>
                  <a:pt x="1989" y="180"/>
                </a:lnTo>
                <a:lnTo>
                  <a:pt x="984" y="528"/>
                </a:lnTo>
                <a:lnTo>
                  <a:pt x="0" y="345"/>
                </a:lnTo>
                <a:close/>
              </a:path>
            </a:pathLst>
          </a:custGeom>
          <a:solidFill>
            <a:srgbClr val="FAF772">
              <a:alpha val="4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0" name="Freeform 18"/>
          <p:cNvSpPr>
            <a:spLocks/>
          </p:cNvSpPr>
          <p:nvPr/>
        </p:nvSpPr>
        <p:spPr bwMode="auto">
          <a:xfrm>
            <a:off x="2787651" y="1803400"/>
            <a:ext cx="3395663" cy="3829050"/>
          </a:xfrm>
          <a:custGeom>
            <a:avLst/>
            <a:gdLst/>
            <a:ahLst/>
            <a:cxnLst>
              <a:cxn ang="0">
                <a:pos x="672" y="0"/>
              </a:cxn>
              <a:cxn ang="0">
                <a:pos x="0" y="924"/>
              </a:cxn>
              <a:cxn ang="0">
                <a:pos x="984" y="1110"/>
              </a:cxn>
              <a:cxn ang="0">
                <a:pos x="672" y="0"/>
              </a:cxn>
            </a:cxnLst>
            <a:rect l="0" t="0" r="r" b="b"/>
            <a:pathLst>
              <a:path w="984" h="1110">
                <a:moveTo>
                  <a:pt x="672" y="0"/>
                </a:moveTo>
                <a:lnTo>
                  <a:pt x="0" y="924"/>
                </a:lnTo>
                <a:lnTo>
                  <a:pt x="984" y="1110"/>
                </a:lnTo>
                <a:lnTo>
                  <a:pt x="672" y="0"/>
                </a:lnTo>
                <a:close/>
              </a:path>
            </a:pathLst>
          </a:custGeom>
          <a:solidFill>
            <a:srgbClr val="99FFCC">
              <a:alpha val="44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1" name="Freeform 19"/>
          <p:cNvSpPr>
            <a:spLocks/>
          </p:cNvSpPr>
          <p:nvPr/>
        </p:nvSpPr>
        <p:spPr bwMode="auto">
          <a:xfrm>
            <a:off x="5126039" y="1797051"/>
            <a:ext cx="4575175" cy="3819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26" y="759"/>
              </a:cxn>
              <a:cxn ang="0">
                <a:pos x="309" y="1107"/>
              </a:cxn>
              <a:cxn ang="0">
                <a:pos x="0" y="0"/>
              </a:cxn>
            </a:cxnLst>
            <a:rect l="0" t="0" r="r" b="b"/>
            <a:pathLst>
              <a:path w="1326" h="1107">
                <a:moveTo>
                  <a:pt x="0" y="0"/>
                </a:moveTo>
                <a:lnTo>
                  <a:pt x="1326" y="759"/>
                </a:lnTo>
                <a:lnTo>
                  <a:pt x="309" y="11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001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1881189" y="1497014"/>
            <a:ext cx="25606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A square based pyramid has: 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098" name="Line 26"/>
          <p:cNvSpPr>
            <a:spLocks noChangeShapeType="1"/>
          </p:cNvSpPr>
          <p:nvPr/>
        </p:nvSpPr>
        <p:spPr bwMode="auto">
          <a:xfrm>
            <a:off x="5116513" y="1793876"/>
            <a:ext cx="1116012" cy="19970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9" name="Line 27"/>
          <p:cNvSpPr>
            <a:spLocks noChangeShapeType="1"/>
          </p:cNvSpPr>
          <p:nvPr/>
        </p:nvSpPr>
        <p:spPr bwMode="auto">
          <a:xfrm flipH="1">
            <a:off x="2787651" y="3790950"/>
            <a:ext cx="3444875" cy="1193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0" name="Line 28"/>
          <p:cNvSpPr>
            <a:spLocks noChangeShapeType="1"/>
          </p:cNvSpPr>
          <p:nvPr/>
        </p:nvSpPr>
        <p:spPr bwMode="auto">
          <a:xfrm>
            <a:off x="6232525" y="3790951"/>
            <a:ext cx="3449638" cy="6191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1" name="Line 29"/>
          <p:cNvSpPr>
            <a:spLocks noChangeShapeType="1"/>
          </p:cNvSpPr>
          <p:nvPr/>
        </p:nvSpPr>
        <p:spPr bwMode="auto">
          <a:xfrm flipH="1">
            <a:off x="2787650" y="1781176"/>
            <a:ext cx="2325688" cy="32035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2" name="Line 30"/>
          <p:cNvSpPr>
            <a:spLocks noChangeShapeType="1"/>
          </p:cNvSpPr>
          <p:nvPr/>
        </p:nvSpPr>
        <p:spPr bwMode="auto">
          <a:xfrm>
            <a:off x="5113338" y="1790700"/>
            <a:ext cx="4546600" cy="2616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3" name="Line 31"/>
          <p:cNvSpPr>
            <a:spLocks noChangeShapeType="1"/>
          </p:cNvSpPr>
          <p:nvPr/>
        </p:nvSpPr>
        <p:spPr bwMode="auto">
          <a:xfrm>
            <a:off x="5113338" y="1790700"/>
            <a:ext cx="1052512" cy="3822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4" name="Line 32"/>
          <p:cNvSpPr>
            <a:spLocks noChangeShapeType="1"/>
          </p:cNvSpPr>
          <p:nvPr/>
        </p:nvSpPr>
        <p:spPr bwMode="auto">
          <a:xfrm>
            <a:off x="2787651" y="4984750"/>
            <a:ext cx="3400425" cy="647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5" name="Line 33"/>
          <p:cNvSpPr>
            <a:spLocks noChangeShapeType="1"/>
          </p:cNvSpPr>
          <p:nvPr/>
        </p:nvSpPr>
        <p:spPr bwMode="auto">
          <a:xfrm flipV="1">
            <a:off x="6188075" y="4413250"/>
            <a:ext cx="3513138" cy="1219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7" name="Oval 35"/>
          <p:cNvSpPr>
            <a:spLocks noChangeArrowheads="1"/>
          </p:cNvSpPr>
          <p:nvPr/>
        </p:nvSpPr>
        <p:spPr bwMode="auto">
          <a:xfrm>
            <a:off x="5054600" y="1722439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8" name="Oval 36"/>
          <p:cNvSpPr>
            <a:spLocks noChangeArrowheads="1"/>
          </p:cNvSpPr>
          <p:nvPr/>
        </p:nvSpPr>
        <p:spPr bwMode="auto">
          <a:xfrm>
            <a:off x="6161089" y="3719514"/>
            <a:ext cx="141287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9" name="Oval 37"/>
          <p:cNvSpPr>
            <a:spLocks noChangeArrowheads="1"/>
          </p:cNvSpPr>
          <p:nvPr/>
        </p:nvSpPr>
        <p:spPr bwMode="auto">
          <a:xfrm>
            <a:off x="2773364" y="4913314"/>
            <a:ext cx="141287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0" name="Oval 38"/>
          <p:cNvSpPr>
            <a:spLocks noChangeArrowheads="1"/>
          </p:cNvSpPr>
          <p:nvPr/>
        </p:nvSpPr>
        <p:spPr bwMode="auto">
          <a:xfrm>
            <a:off x="6089650" y="5541964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1" name="Oval 39"/>
          <p:cNvSpPr>
            <a:spLocks noChangeArrowheads="1"/>
          </p:cNvSpPr>
          <p:nvPr/>
        </p:nvSpPr>
        <p:spPr bwMode="auto">
          <a:xfrm>
            <a:off x="9559925" y="4335464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auto">
          <a:xfrm>
            <a:off x="4441826" y="5683250"/>
            <a:ext cx="3730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A square based pyramid</a:t>
            </a:r>
            <a:endParaRPr lang="en-US" sz="2400">
              <a:latin typeface="Comic Sans MS" pitchFamily="66" charset="0"/>
            </a:endParaRPr>
          </a:p>
        </p:txBody>
      </p:sp>
      <p:grpSp>
        <p:nvGrpSpPr>
          <p:cNvPr id="3121" name="Group 49"/>
          <p:cNvGrpSpPr>
            <a:grpSpLocks/>
          </p:cNvGrpSpPr>
          <p:nvPr/>
        </p:nvGrpSpPr>
        <p:grpSpPr bwMode="auto">
          <a:xfrm>
            <a:off x="8094664" y="1776414"/>
            <a:ext cx="1462087" cy="1400175"/>
            <a:chOff x="4003" y="983"/>
            <a:chExt cx="921" cy="882"/>
          </a:xfrm>
        </p:grpSpPr>
        <p:sp>
          <p:nvSpPr>
            <p:cNvPr id="3122" name="Text Box 50"/>
            <p:cNvSpPr txBox="1">
              <a:spLocks noChangeArrowheads="1"/>
            </p:cNvSpPr>
            <p:nvPr/>
          </p:nvSpPr>
          <p:spPr bwMode="auto">
            <a:xfrm>
              <a:off x="4003" y="983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Faces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3123" name="Text Box 51"/>
            <p:cNvSpPr txBox="1">
              <a:spLocks noChangeArrowheads="1"/>
            </p:cNvSpPr>
            <p:nvPr/>
          </p:nvSpPr>
          <p:spPr bwMode="auto">
            <a:xfrm>
              <a:off x="4003" y="1277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Edges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3124" name="Text Box 52"/>
            <p:cNvSpPr txBox="1">
              <a:spLocks noChangeArrowheads="1"/>
            </p:cNvSpPr>
            <p:nvPr/>
          </p:nvSpPr>
          <p:spPr bwMode="auto">
            <a:xfrm>
              <a:off x="4003" y="1571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Vertices</a:t>
              </a:r>
              <a:endParaRPr lang="en-US" sz="2400">
                <a:latin typeface="Comic Sans MS" pitchFamily="66" charset="0"/>
              </a:endParaRPr>
            </a:p>
          </p:txBody>
        </p:sp>
      </p:grpSp>
      <p:sp>
        <p:nvSpPr>
          <p:cNvPr id="3125" name="Text Box 53"/>
          <p:cNvSpPr txBox="1">
            <a:spLocks noChangeArrowheads="1"/>
          </p:cNvSpPr>
          <p:nvPr/>
        </p:nvSpPr>
        <p:spPr bwMode="auto">
          <a:xfrm>
            <a:off x="9558339" y="177641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5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6" name="Text Box 54"/>
          <p:cNvSpPr txBox="1">
            <a:spLocks noChangeArrowheads="1"/>
          </p:cNvSpPr>
          <p:nvPr/>
        </p:nvSpPr>
        <p:spPr bwMode="auto">
          <a:xfrm>
            <a:off x="9559925" y="2243139"/>
            <a:ext cx="776288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8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7" name="Text Box 55"/>
          <p:cNvSpPr txBox="1">
            <a:spLocks noChangeArrowheads="1"/>
          </p:cNvSpPr>
          <p:nvPr/>
        </p:nvSpPr>
        <p:spPr bwMode="auto">
          <a:xfrm>
            <a:off x="9558339" y="270986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5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8" name="Text Box 56"/>
          <p:cNvSpPr txBox="1">
            <a:spLocks noChangeArrowheads="1"/>
          </p:cNvSpPr>
          <p:nvPr/>
        </p:nvSpPr>
        <p:spPr bwMode="auto">
          <a:xfrm>
            <a:off x="3648075" y="333376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3129" name="Rectangle 57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0" name="Rectangle 58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1" name="Rectangle 59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2" name="Rectangle 60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1080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nimBg="1"/>
      <p:bldP spid="3088" grpId="0" animBg="1"/>
      <p:bldP spid="3089" grpId="0" animBg="1"/>
      <p:bldP spid="3090" grpId="0" animBg="1"/>
      <p:bldP spid="3091" grpId="0" animBg="1"/>
      <p:bldP spid="3098" grpId="0" animBg="1"/>
      <p:bldP spid="3099" grpId="0" animBg="1"/>
      <p:bldP spid="3100" grpId="0" animBg="1"/>
      <p:bldP spid="3101" grpId="0" animBg="1"/>
      <p:bldP spid="3102" grpId="0" animBg="1"/>
      <p:bldP spid="3103" grpId="0" animBg="1"/>
      <p:bldP spid="3104" grpId="0" animBg="1"/>
      <p:bldP spid="3105" grpId="0" animBg="1"/>
      <p:bldP spid="3107" grpId="0" animBg="1"/>
      <p:bldP spid="3108" grpId="0" animBg="1"/>
      <p:bldP spid="3109" grpId="0" animBg="1"/>
      <p:bldP spid="3110" grpId="0" animBg="1"/>
      <p:bldP spid="3111" grpId="0" animBg="1"/>
      <p:bldP spid="3125" grpId="0" animBg="1"/>
      <p:bldP spid="3126" grpId="0" animBg="1"/>
      <p:bldP spid="3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098675" y="1195388"/>
            <a:ext cx="419100" cy="3667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1</a:t>
            </a:r>
          </a:p>
        </p:txBody>
      </p:sp>
      <p:grpSp>
        <p:nvGrpSpPr>
          <p:cNvPr id="7235" name="Group 67"/>
          <p:cNvGrpSpPr>
            <a:grpSpLocks/>
          </p:cNvGrpSpPr>
          <p:nvPr/>
        </p:nvGrpSpPr>
        <p:grpSpPr bwMode="auto">
          <a:xfrm>
            <a:off x="3825875" y="4329113"/>
            <a:ext cx="4287838" cy="1662112"/>
            <a:chOff x="874" y="1275"/>
            <a:chExt cx="849" cy="1129"/>
          </a:xfrm>
        </p:grpSpPr>
        <p:sp>
          <p:nvSpPr>
            <p:cNvPr id="7214" name="Line 46"/>
            <p:cNvSpPr>
              <a:spLocks noChangeShapeType="1"/>
            </p:cNvSpPr>
            <p:nvPr/>
          </p:nvSpPr>
          <p:spPr bwMode="auto">
            <a:xfrm flipV="1">
              <a:off x="87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Line 47"/>
            <p:cNvSpPr>
              <a:spLocks noChangeShapeType="1"/>
            </p:cNvSpPr>
            <p:nvPr/>
          </p:nvSpPr>
          <p:spPr bwMode="auto">
            <a:xfrm>
              <a:off x="1083" y="2134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Line 48"/>
            <p:cNvSpPr>
              <a:spLocks noChangeShapeType="1"/>
            </p:cNvSpPr>
            <p:nvPr/>
          </p:nvSpPr>
          <p:spPr bwMode="auto">
            <a:xfrm>
              <a:off x="108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6" name="Line 58"/>
            <p:cNvSpPr>
              <a:spLocks noChangeShapeType="1"/>
            </p:cNvSpPr>
            <p:nvPr/>
          </p:nvSpPr>
          <p:spPr bwMode="auto">
            <a:xfrm>
              <a:off x="874" y="2403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7" name="Line 59"/>
            <p:cNvSpPr>
              <a:spLocks noChangeShapeType="1"/>
            </p:cNvSpPr>
            <p:nvPr/>
          </p:nvSpPr>
          <p:spPr bwMode="auto">
            <a:xfrm flipV="1">
              <a:off x="151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8" name="Line 60"/>
            <p:cNvSpPr>
              <a:spLocks noChangeShapeType="1"/>
            </p:cNvSpPr>
            <p:nvPr/>
          </p:nvSpPr>
          <p:spPr bwMode="auto">
            <a:xfrm>
              <a:off x="172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61"/>
            <p:cNvSpPr>
              <a:spLocks noChangeShapeType="1"/>
            </p:cNvSpPr>
            <p:nvPr/>
          </p:nvSpPr>
          <p:spPr bwMode="auto">
            <a:xfrm>
              <a:off x="876" y="1545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Line 62"/>
            <p:cNvSpPr>
              <a:spLocks noChangeShapeType="1"/>
            </p:cNvSpPr>
            <p:nvPr/>
          </p:nvSpPr>
          <p:spPr bwMode="auto">
            <a:xfrm>
              <a:off x="1514" y="154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1" name="Line 63"/>
            <p:cNvSpPr>
              <a:spLocks noChangeShapeType="1"/>
            </p:cNvSpPr>
            <p:nvPr/>
          </p:nvSpPr>
          <p:spPr bwMode="auto">
            <a:xfrm>
              <a:off x="876" y="154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2" name="Line 64"/>
            <p:cNvSpPr>
              <a:spLocks noChangeShapeType="1"/>
            </p:cNvSpPr>
            <p:nvPr/>
          </p:nvSpPr>
          <p:spPr bwMode="auto">
            <a:xfrm>
              <a:off x="1083" y="127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3" name="Line 65"/>
            <p:cNvSpPr>
              <a:spLocks noChangeShapeType="1"/>
            </p:cNvSpPr>
            <p:nvPr/>
          </p:nvSpPr>
          <p:spPr bwMode="auto">
            <a:xfrm flipV="1">
              <a:off x="876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4" name="Line 66"/>
            <p:cNvSpPr>
              <a:spLocks noChangeShapeType="1"/>
            </p:cNvSpPr>
            <p:nvPr/>
          </p:nvSpPr>
          <p:spPr bwMode="auto">
            <a:xfrm flipV="1">
              <a:off x="1514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64" name="Group 96"/>
          <p:cNvGrpSpPr>
            <a:grpSpLocks/>
          </p:cNvGrpSpPr>
          <p:nvPr/>
        </p:nvGrpSpPr>
        <p:grpSpPr bwMode="auto">
          <a:xfrm>
            <a:off x="5975351" y="1444625"/>
            <a:ext cx="2627313" cy="2019300"/>
            <a:chOff x="1852" y="3068"/>
            <a:chExt cx="1187" cy="913"/>
          </a:xfrm>
        </p:grpSpPr>
        <p:sp>
          <p:nvSpPr>
            <p:cNvPr id="7251" name="Freeform 83"/>
            <p:cNvSpPr>
              <a:spLocks/>
            </p:cNvSpPr>
            <p:nvPr/>
          </p:nvSpPr>
          <p:spPr bwMode="auto">
            <a:xfrm>
              <a:off x="1852" y="3681"/>
              <a:ext cx="1182" cy="300"/>
            </a:xfrm>
            <a:custGeom>
              <a:avLst/>
              <a:gdLst/>
              <a:ahLst/>
              <a:cxnLst>
                <a:cxn ang="0">
                  <a:pos x="450" y="472"/>
                </a:cxn>
                <a:cxn ang="0">
                  <a:pos x="1342" y="472"/>
                </a:cxn>
                <a:cxn ang="0">
                  <a:pos x="1858" y="212"/>
                </a:cxn>
                <a:cxn ang="0">
                  <a:pos x="874" y="0"/>
                </a:cxn>
                <a:cxn ang="0">
                  <a:pos x="0" y="186"/>
                </a:cxn>
                <a:cxn ang="0">
                  <a:pos x="450" y="472"/>
                </a:cxn>
              </a:cxnLst>
              <a:rect l="0" t="0" r="r" b="b"/>
              <a:pathLst>
                <a:path w="1858" h="472">
                  <a:moveTo>
                    <a:pt x="450" y="472"/>
                  </a:moveTo>
                  <a:lnTo>
                    <a:pt x="1342" y="472"/>
                  </a:lnTo>
                  <a:lnTo>
                    <a:pt x="1858" y="212"/>
                  </a:lnTo>
                  <a:lnTo>
                    <a:pt x="874" y="0"/>
                  </a:lnTo>
                  <a:lnTo>
                    <a:pt x="0" y="186"/>
                  </a:lnTo>
                  <a:lnTo>
                    <a:pt x="450" y="472"/>
                  </a:lnTo>
                  <a:close/>
                </a:path>
              </a:pathLst>
            </a:custGeom>
            <a:noFill/>
            <a:ln w="3175" cmpd="sng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2" name="Freeform 84"/>
            <p:cNvSpPr>
              <a:spLocks/>
            </p:cNvSpPr>
            <p:nvPr/>
          </p:nvSpPr>
          <p:spPr bwMode="auto">
            <a:xfrm>
              <a:off x="1853" y="3069"/>
              <a:ext cx="1184" cy="300"/>
            </a:xfrm>
            <a:custGeom>
              <a:avLst/>
              <a:gdLst/>
              <a:ahLst/>
              <a:cxnLst>
                <a:cxn ang="0">
                  <a:pos x="452" y="472"/>
                </a:cxn>
                <a:cxn ang="0">
                  <a:pos x="1344" y="472"/>
                </a:cxn>
                <a:cxn ang="0">
                  <a:pos x="1860" y="212"/>
                </a:cxn>
                <a:cxn ang="0">
                  <a:pos x="876" y="0"/>
                </a:cxn>
                <a:cxn ang="0">
                  <a:pos x="0" y="180"/>
                </a:cxn>
                <a:cxn ang="0">
                  <a:pos x="452" y="472"/>
                </a:cxn>
              </a:cxnLst>
              <a:rect l="0" t="0" r="r" b="b"/>
              <a:pathLst>
                <a:path w="1860" h="472">
                  <a:moveTo>
                    <a:pt x="452" y="472"/>
                  </a:moveTo>
                  <a:lnTo>
                    <a:pt x="1344" y="472"/>
                  </a:lnTo>
                  <a:lnTo>
                    <a:pt x="1860" y="212"/>
                  </a:lnTo>
                  <a:lnTo>
                    <a:pt x="876" y="0"/>
                  </a:lnTo>
                  <a:lnTo>
                    <a:pt x="0" y="180"/>
                  </a:lnTo>
                  <a:lnTo>
                    <a:pt x="452" y="472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3" name="Line 85"/>
            <p:cNvSpPr>
              <a:spLocks noChangeShapeType="1"/>
            </p:cNvSpPr>
            <p:nvPr/>
          </p:nvSpPr>
          <p:spPr bwMode="auto">
            <a:xfrm flipV="1">
              <a:off x="1853" y="3182"/>
              <a:ext cx="0" cy="622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4" name="Line 86"/>
            <p:cNvSpPr>
              <a:spLocks noChangeShapeType="1"/>
            </p:cNvSpPr>
            <p:nvPr/>
          </p:nvSpPr>
          <p:spPr bwMode="auto">
            <a:xfrm flipV="1">
              <a:off x="3035" y="3202"/>
              <a:ext cx="0" cy="611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Line 87"/>
            <p:cNvSpPr>
              <a:spLocks noChangeShapeType="1"/>
            </p:cNvSpPr>
            <p:nvPr/>
          </p:nvSpPr>
          <p:spPr bwMode="auto">
            <a:xfrm flipV="1">
              <a:off x="2712" y="3366"/>
              <a:ext cx="0" cy="61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7" name="Line 89"/>
            <p:cNvSpPr>
              <a:spLocks noChangeShapeType="1"/>
            </p:cNvSpPr>
            <p:nvPr/>
          </p:nvSpPr>
          <p:spPr bwMode="auto">
            <a:xfrm flipV="1">
              <a:off x="2142" y="3366"/>
              <a:ext cx="0" cy="61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8" name="Line 90"/>
            <p:cNvSpPr>
              <a:spLocks noChangeShapeType="1"/>
            </p:cNvSpPr>
            <p:nvPr/>
          </p:nvSpPr>
          <p:spPr bwMode="auto">
            <a:xfrm>
              <a:off x="2408" y="3068"/>
              <a:ext cx="0" cy="6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9" name="Line 91"/>
            <p:cNvSpPr>
              <a:spLocks noChangeShapeType="1"/>
            </p:cNvSpPr>
            <p:nvPr/>
          </p:nvSpPr>
          <p:spPr bwMode="auto">
            <a:xfrm flipV="1">
              <a:off x="1856" y="3680"/>
              <a:ext cx="556" cy="11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0" name="Line 92"/>
            <p:cNvSpPr>
              <a:spLocks noChangeShapeType="1"/>
            </p:cNvSpPr>
            <p:nvPr/>
          </p:nvSpPr>
          <p:spPr bwMode="auto">
            <a:xfrm>
              <a:off x="2409" y="3680"/>
              <a:ext cx="624" cy="13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1" name="Line 93"/>
            <p:cNvSpPr>
              <a:spLocks noChangeShapeType="1"/>
            </p:cNvSpPr>
            <p:nvPr/>
          </p:nvSpPr>
          <p:spPr bwMode="auto">
            <a:xfrm>
              <a:off x="1854" y="3800"/>
              <a:ext cx="288" cy="17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2" name="Line 94"/>
            <p:cNvSpPr>
              <a:spLocks noChangeShapeType="1"/>
            </p:cNvSpPr>
            <p:nvPr/>
          </p:nvSpPr>
          <p:spPr bwMode="auto">
            <a:xfrm>
              <a:off x="2142" y="3978"/>
              <a:ext cx="57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3" name="Line 95"/>
            <p:cNvSpPr>
              <a:spLocks noChangeShapeType="1"/>
            </p:cNvSpPr>
            <p:nvPr/>
          </p:nvSpPr>
          <p:spPr bwMode="auto">
            <a:xfrm flipV="1">
              <a:off x="2714" y="3812"/>
              <a:ext cx="325" cy="16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66" name="Text Box 98"/>
          <p:cNvSpPr txBox="1">
            <a:spLocks noChangeArrowheads="1"/>
          </p:cNvSpPr>
          <p:nvPr/>
        </p:nvSpPr>
        <p:spPr bwMode="auto">
          <a:xfrm>
            <a:off x="3260725" y="4502151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3</a:t>
            </a:r>
          </a:p>
        </p:txBody>
      </p:sp>
      <p:grpSp>
        <p:nvGrpSpPr>
          <p:cNvPr id="7268" name="Group 100"/>
          <p:cNvGrpSpPr>
            <a:grpSpLocks/>
          </p:cNvGrpSpPr>
          <p:nvPr/>
        </p:nvGrpSpPr>
        <p:grpSpPr bwMode="auto">
          <a:xfrm>
            <a:off x="1822450" y="1328739"/>
            <a:ext cx="3113088" cy="2103437"/>
            <a:chOff x="624" y="2415"/>
            <a:chExt cx="2187" cy="1479"/>
          </a:xfrm>
        </p:grpSpPr>
        <p:sp>
          <p:nvSpPr>
            <p:cNvPr id="7269" name="Line 101"/>
            <p:cNvSpPr>
              <a:spLocks noChangeShapeType="1"/>
            </p:cNvSpPr>
            <p:nvPr/>
          </p:nvSpPr>
          <p:spPr bwMode="auto">
            <a:xfrm>
              <a:off x="1164" y="3893"/>
              <a:ext cx="1043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" name="Line 102"/>
            <p:cNvSpPr>
              <a:spLocks noChangeShapeType="1"/>
            </p:cNvSpPr>
            <p:nvPr/>
          </p:nvSpPr>
          <p:spPr bwMode="auto">
            <a:xfrm flipV="1">
              <a:off x="2213" y="3588"/>
              <a:ext cx="595" cy="305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103"/>
            <p:cNvSpPr>
              <a:spLocks/>
            </p:cNvSpPr>
            <p:nvPr/>
          </p:nvSpPr>
          <p:spPr bwMode="auto">
            <a:xfrm>
              <a:off x="627" y="3561"/>
              <a:ext cx="531" cy="333"/>
            </a:xfrm>
            <a:custGeom>
              <a:avLst/>
              <a:gdLst/>
              <a:ahLst/>
              <a:cxnLst>
                <a:cxn ang="0">
                  <a:pos x="531" y="333"/>
                </a:cxn>
                <a:cxn ang="0">
                  <a:pos x="0" y="0"/>
                </a:cxn>
              </a:cxnLst>
              <a:rect l="0" t="0" r="r" b="b"/>
              <a:pathLst>
                <a:path w="531" h="333">
                  <a:moveTo>
                    <a:pt x="531" y="333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2" name="Line 104"/>
            <p:cNvSpPr>
              <a:spLocks noChangeShapeType="1"/>
            </p:cNvSpPr>
            <p:nvPr/>
          </p:nvSpPr>
          <p:spPr bwMode="auto">
            <a:xfrm flipV="1">
              <a:off x="624" y="3335"/>
              <a:ext cx="1043" cy="22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3" name="Line 105"/>
            <p:cNvSpPr>
              <a:spLocks noChangeShapeType="1"/>
            </p:cNvSpPr>
            <p:nvPr/>
          </p:nvSpPr>
          <p:spPr bwMode="auto">
            <a:xfrm>
              <a:off x="1655" y="3335"/>
              <a:ext cx="1153" cy="247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4" name="Freeform 106"/>
            <p:cNvSpPr>
              <a:spLocks/>
            </p:cNvSpPr>
            <p:nvPr/>
          </p:nvSpPr>
          <p:spPr bwMode="auto">
            <a:xfrm>
              <a:off x="1164" y="2417"/>
              <a:ext cx="342" cy="1471"/>
            </a:xfrm>
            <a:custGeom>
              <a:avLst/>
              <a:gdLst/>
              <a:ahLst/>
              <a:cxnLst>
                <a:cxn ang="0">
                  <a:pos x="0" y="1471"/>
                </a:cxn>
                <a:cxn ang="0">
                  <a:pos x="342" y="0"/>
                </a:cxn>
              </a:cxnLst>
              <a:rect l="0" t="0" r="r" b="b"/>
              <a:pathLst>
                <a:path w="342" h="1471">
                  <a:moveTo>
                    <a:pt x="0" y="1471"/>
                  </a:moveTo>
                  <a:lnTo>
                    <a:pt x="342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5" name="Freeform 107"/>
            <p:cNvSpPr>
              <a:spLocks/>
            </p:cNvSpPr>
            <p:nvPr/>
          </p:nvSpPr>
          <p:spPr bwMode="auto">
            <a:xfrm>
              <a:off x="1508" y="2417"/>
              <a:ext cx="706" cy="14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6" y="1471"/>
                </a:cxn>
              </a:cxnLst>
              <a:rect l="0" t="0" r="r" b="b"/>
              <a:pathLst>
                <a:path w="706" h="1471">
                  <a:moveTo>
                    <a:pt x="0" y="0"/>
                  </a:moveTo>
                  <a:lnTo>
                    <a:pt x="706" y="1471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108"/>
            <p:cNvSpPr>
              <a:spLocks/>
            </p:cNvSpPr>
            <p:nvPr/>
          </p:nvSpPr>
          <p:spPr bwMode="auto">
            <a:xfrm>
              <a:off x="1510" y="2419"/>
              <a:ext cx="1301" cy="1166"/>
            </a:xfrm>
            <a:custGeom>
              <a:avLst/>
              <a:gdLst/>
              <a:ahLst/>
              <a:cxnLst>
                <a:cxn ang="0">
                  <a:pos x="1301" y="1166"/>
                </a:cxn>
                <a:cxn ang="0">
                  <a:pos x="0" y="0"/>
                </a:cxn>
              </a:cxnLst>
              <a:rect l="0" t="0" r="r" b="b"/>
              <a:pathLst>
                <a:path w="1301" h="1166">
                  <a:moveTo>
                    <a:pt x="1301" y="1166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7" name="Freeform 109"/>
            <p:cNvSpPr>
              <a:spLocks/>
            </p:cNvSpPr>
            <p:nvPr/>
          </p:nvSpPr>
          <p:spPr bwMode="auto">
            <a:xfrm>
              <a:off x="624" y="2415"/>
              <a:ext cx="881" cy="1140"/>
            </a:xfrm>
            <a:custGeom>
              <a:avLst/>
              <a:gdLst/>
              <a:ahLst/>
              <a:cxnLst>
                <a:cxn ang="0">
                  <a:pos x="0" y="1140"/>
                </a:cxn>
                <a:cxn ang="0">
                  <a:pos x="881" y="0"/>
                </a:cxn>
              </a:cxnLst>
              <a:rect l="0" t="0" r="r" b="b"/>
              <a:pathLst>
                <a:path w="881" h="1140">
                  <a:moveTo>
                    <a:pt x="0" y="1140"/>
                  </a:moveTo>
                  <a:lnTo>
                    <a:pt x="881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8" name="Freeform 110"/>
            <p:cNvSpPr>
              <a:spLocks/>
            </p:cNvSpPr>
            <p:nvPr/>
          </p:nvSpPr>
          <p:spPr bwMode="auto">
            <a:xfrm>
              <a:off x="1506" y="2421"/>
              <a:ext cx="147" cy="904"/>
            </a:xfrm>
            <a:custGeom>
              <a:avLst/>
              <a:gdLst/>
              <a:ahLst/>
              <a:cxnLst>
                <a:cxn ang="0">
                  <a:pos x="147" y="904"/>
                </a:cxn>
                <a:cxn ang="0">
                  <a:pos x="0" y="0"/>
                </a:cxn>
              </a:cxnLst>
              <a:rect l="0" t="0" r="r" b="b"/>
              <a:pathLst>
                <a:path w="147" h="904">
                  <a:moveTo>
                    <a:pt x="147" y="904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80" name="Text Box 112"/>
          <p:cNvSpPr txBox="1">
            <a:spLocks noChangeArrowheads="1"/>
          </p:cNvSpPr>
          <p:nvPr/>
        </p:nvSpPr>
        <p:spPr bwMode="auto">
          <a:xfrm>
            <a:off x="5959475" y="1171576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2</a:t>
            </a:r>
          </a:p>
        </p:txBody>
      </p:sp>
      <p:sp>
        <p:nvSpPr>
          <p:cNvPr id="7288" name="Text Box 120"/>
          <p:cNvSpPr txBox="1">
            <a:spLocks noChangeArrowheads="1"/>
          </p:cNvSpPr>
          <p:nvPr/>
        </p:nvSpPr>
        <p:spPr bwMode="auto">
          <a:xfrm>
            <a:off x="1962150" y="190501"/>
            <a:ext cx="87058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Find the number of faces, edges and vertices for each of the 3D shapes shown below.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7289" name="Text Box 121"/>
          <p:cNvSpPr txBox="1">
            <a:spLocks noChangeArrowheads="1"/>
          </p:cNvSpPr>
          <p:nvPr/>
        </p:nvSpPr>
        <p:spPr bwMode="auto">
          <a:xfrm>
            <a:off x="1871663" y="3513138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Pentagonal based pyramid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0" name="Text Box 122"/>
          <p:cNvSpPr txBox="1">
            <a:spLocks noChangeArrowheads="1"/>
          </p:cNvSpPr>
          <p:nvPr/>
        </p:nvSpPr>
        <p:spPr bwMode="auto">
          <a:xfrm>
            <a:off x="5776913" y="3548063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Pentagonal based prism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1" name="Text Box 123"/>
          <p:cNvSpPr txBox="1">
            <a:spLocks noChangeArrowheads="1"/>
          </p:cNvSpPr>
          <p:nvPr/>
        </p:nvSpPr>
        <p:spPr bwMode="auto">
          <a:xfrm>
            <a:off x="5122864" y="6115051"/>
            <a:ext cx="973137" cy="366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Cuboid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9" name="Text Box 131"/>
          <p:cNvSpPr txBox="1">
            <a:spLocks noChangeArrowheads="1"/>
          </p:cNvSpPr>
          <p:nvPr/>
        </p:nvSpPr>
        <p:spPr bwMode="auto">
          <a:xfrm>
            <a:off x="4160838" y="12573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00" name="Text Box 132"/>
          <p:cNvSpPr txBox="1">
            <a:spLocks noChangeArrowheads="1"/>
          </p:cNvSpPr>
          <p:nvPr/>
        </p:nvSpPr>
        <p:spPr bwMode="auto">
          <a:xfrm>
            <a:off x="4171950" y="16637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01" name="Text Box 133"/>
          <p:cNvSpPr txBox="1">
            <a:spLocks noChangeArrowheads="1"/>
          </p:cNvSpPr>
          <p:nvPr/>
        </p:nvSpPr>
        <p:spPr bwMode="auto">
          <a:xfrm>
            <a:off x="4170363" y="20447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09" name="Text Box 141"/>
          <p:cNvSpPr txBox="1">
            <a:spLocks noChangeArrowheads="1"/>
          </p:cNvSpPr>
          <p:nvPr/>
        </p:nvSpPr>
        <p:spPr bwMode="auto">
          <a:xfrm>
            <a:off x="5156200" y="12827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0" name="Text Box 142"/>
          <p:cNvSpPr txBox="1">
            <a:spLocks noChangeArrowheads="1"/>
          </p:cNvSpPr>
          <p:nvPr/>
        </p:nvSpPr>
        <p:spPr bwMode="auto">
          <a:xfrm>
            <a:off x="5156200" y="16573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3" name="Text Box 145"/>
          <p:cNvSpPr txBox="1">
            <a:spLocks noChangeArrowheads="1"/>
          </p:cNvSpPr>
          <p:nvPr/>
        </p:nvSpPr>
        <p:spPr bwMode="auto">
          <a:xfrm>
            <a:off x="5157789" y="20304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4" name="Text Box 146"/>
          <p:cNvSpPr txBox="1">
            <a:spLocks noChangeArrowheads="1"/>
          </p:cNvSpPr>
          <p:nvPr/>
        </p:nvSpPr>
        <p:spPr bwMode="auto">
          <a:xfrm>
            <a:off x="8732838" y="1244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15" name="Text Box 147"/>
          <p:cNvSpPr txBox="1">
            <a:spLocks noChangeArrowheads="1"/>
          </p:cNvSpPr>
          <p:nvPr/>
        </p:nvSpPr>
        <p:spPr bwMode="auto">
          <a:xfrm>
            <a:off x="8743950" y="16510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16" name="Text Box 148"/>
          <p:cNvSpPr txBox="1">
            <a:spLocks noChangeArrowheads="1"/>
          </p:cNvSpPr>
          <p:nvPr/>
        </p:nvSpPr>
        <p:spPr bwMode="auto">
          <a:xfrm>
            <a:off x="8742363" y="20320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21" name="Text Box 153"/>
          <p:cNvSpPr txBox="1">
            <a:spLocks noChangeArrowheads="1"/>
          </p:cNvSpPr>
          <p:nvPr/>
        </p:nvSpPr>
        <p:spPr bwMode="auto">
          <a:xfrm>
            <a:off x="8453438" y="43942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22" name="Text Box 154"/>
          <p:cNvSpPr txBox="1">
            <a:spLocks noChangeArrowheads="1"/>
          </p:cNvSpPr>
          <p:nvPr/>
        </p:nvSpPr>
        <p:spPr bwMode="auto">
          <a:xfrm>
            <a:off x="8464550" y="4800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23" name="Text Box 155"/>
          <p:cNvSpPr txBox="1">
            <a:spLocks noChangeArrowheads="1"/>
          </p:cNvSpPr>
          <p:nvPr/>
        </p:nvSpPr>
        <p:spPr bwMode="auto">
          <a:xfrm>
            <a:off x="8462963" y="51816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27" name="Text Box 159"/>
          <p:cNvSpPr txBox="1">
            <a:spLocks noChangeArrowheads="1"/>
          </p:cNvSpPr>
          <p:nvPr/>
        </p:nvSpPr>
        <p:spPr bwMode="auto">
          <a:xfrm>
            <a:off x="9715500" y="12319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28" name="Text Box 160"/>
          <p:cNvSpPr txBox="1">
            <a:spLocks noChangeArrowheads="1"/>
          </p:cNvSpPr>
          <p:nvPr/>
        </p:nvSpPr>
        <p:spPr bwMode="auto">
          <a:xfrm>
            <a:off x="9715500" y="16065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15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29" name="Text Box 161"/>
          <p:cNvSpPr txBox="1">
            <a:spLocks noChangeArrowheads="1"/>
          </p:cNvSpPr>
          <p:nvPr/>
        </p:nvSpPr>
        <p:spPr bwMode="auto">
          <a:xfrm>
            <a:off x="9717089" y="19796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0" name="Text Box 162"/>
          <p:cNvSpPr txBox="1">
            <a:spLocks noChangeArrowheads="1"/>
          </p:cNvSpPr>
          <p:nvPr/>
        </p:nvSpPr>
        <p:spPr bwMode="auto">
          <a:xfrm>
            <a:off x="9486900" y="43942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1" name="Text Box 163"/>
          <p:cNvSpPr txBox="1">
            <a:spLocks noChangeArrowheads="1"/>
          </p:cNvSpPr>
          <p:nvPr/>
        </p:nvSpPr>
        <p:spPr bwMode="auto">
          <a:xfrm>
            <a:off x="9486900" y="47688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2" name="Text Box 164"/>
          <p:cNvSpPr txBox="1">
            <a:spLocks noChangeArrowheads="1"/>
          </p:cNvSpPr>
          <p:nvPr/>
        </p:nvSpPr>
        <p:spPr bwMode="auto">
          <a:xfrm>
            <a:off x="9488489" y="51419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45" name="Rectangle 177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6" name="Rectangle 178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7" name="Rectangle 179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8" name="Rectangle 180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9852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9" grpId="0" animBg="1"/>
      <p:bldP spid="7310" grpId="0" animBg="1"/>
      <p:bldP spid="7313" grpId="0" animBg="1"/>
      <p:bldP spid="7327" grpId="0" animBg="1"/>
      <p:bldP spid="7328" grpId="0" animBg="1"/>
      <p:bldP spid="7329" grpId="0" animBg="1"/>
      <p:bldP spid="7330" grpId="0" animBg="1"/>
      <p:bldP spid="7331" grpId="0" animBg="1"/>
      <p:bldP spid="73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965325" y="1119188"/>
            <a:ext cx="419100" cy="3667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4</a:t>
            </a:r>
          </a:p>
        </p:txBody>
      </p: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2108200" y="1611313"/>
            <a:ext cx="1963738" cy="1860550"/>
            <a:chOff x="874" y="1275"/>
            <a:chExt cx="849" cy="1129"/>
          </a:xfrm>
        </p:grpSpPr>
        <p:sp>
          <p:nvSpPr>
            <p:cNvPr id="9224" name="Line 8"/>
            <p:cNvSpPr>
              <a:spLocks noChangeShapeType="1"/>
            </p:cNvSpPr>
            <p:nvPr/>
          </p:nvSpPr>
          <p:spPr bwMode="auto">
            <a:xfrm flipV="1">
              <a:off x="87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9"/>
            <p:cNvSpPr>
              <a:spLocks noChangeShapeType="1"/>
            </p:cNvSpPr>
            <p:nvPr/>
          </p:nvSpPr>
          <p:spPr bwMode="auto">
            <a:xfrm>
              <a:off x="1083" y="2134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108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Line 11"/>
            <p:cNvSpPr>
              <a:spLocks noChangeShapeType="1"/>
            </p:cNvSpPr>
            <p:nvPr/>
          </p:nvSpPr>
          <p:spPr bwMode="auto">
            <a:xfrm>
              <a:off x="874" y="2403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 flipV="1">
              <a:off x="151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Line 13"/>
            <p:cNvSpPr>
              <a:spLocks noChangeShapeType="1"/>
            </p:cNvSpPr>
            <p:nvPr/>
          </p:nvSpPr>
          <p:spPr bwMode="auto">
            <a:xfrm>
              <a:off x="172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>
              <a:off x="876" y="1545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15"/>
            <p:cNvSpPr>
              <a:spLocks noChangeShapeType="1"/>
            </p:cNvSpPr>
            <p:nvPr/>
          </p:nvSpPr>
          <p:spPr bwMode="auto">
            <a:xfrm>
              <a:off x="1514" y="154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16"/>
            <p:cNvSpPr>
              <a:spLocks noChangeShapeType="1"/>
            </p:cNvSpPr>
            <p:nvPr/>
          </p:nvSpPr>
          <p:spPr bwMode="auto">
            <a:xfrm>
              <a:off x="876" y="154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Line 17"/>
            <p:cNvSpPr>
              <a:spLocks noChangeShapeType="1"/>
            </p:cNvSpPr>
            <p:nvPr/>
          </p:nvSpPr>
          <p:spPr bwMode="auto">
            <a:xfrm>
              <a:off x="1083" y="127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 flipV="1">
              <a:off x="876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Line 19"/>
            <p:cNvSpPr>
              <a:spLocks noChangeShapeType="1"/>
            </p:cNvSpPr>
            <p:nvPr/>
          </p:nvSpPr>
          <p:spPr bwMode="auto">
            <a:xfrm flipV="1">
              <a:off x="1514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3546475" y="4254501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6</a:t>
            </a:r>
          </a:p>
        </p:txBody>
      </p:sp>
      <p:sp>
        <p:nvSpPr>
          <p:cNvPr id="9261" name="Text Box 45"/>
          <p:cNvSpPr txBox="1">
            <a:spLocks noChangeArrowheads="1"/>
          </p:cNvSpPr>
          <p:nvPr/>
        </p:nvSpPr>
        <p:spPr bwMode="auto">
          <a:xfrm>
            <a:off x="6340475" y="1114426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5</a:t>
            </a:r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1962150" y="190501"/>
            <a:ext cx="87058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Find the number of faces, edges and vertices for each of the 3D shapes shown below.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2500313" y="3532188"/>
            <a:ext cx="91916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Cube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4" name="Text Box 48"/>
          <p:cNvSpPr txBox="1">
            <a:spLocks noChangeArrowheads="1"/>
          </p:cNvSpPr>
          <p:nvPr/>
        </p:nvSpPr>
        <p:spPr bwMode="auto">
          <a:xfrm>
            <a:off x="6215063" y="3471863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Hexagonal based pyramid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5" name="Text Box 49"/>
          <p:cNvSpPr txBox="1">
            <a:spLocks noChangeArrowheads="1"/>
          </p:cNvSpPr>
          <p:nvPr/>
        </p:nvSpPr>
        <p:spPr bwMode="auto">
          <a:xfrm>
            <a:off x="4284664" y="6229351"/>
            <a:ext cx="3297237" cy="366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Hexagonal based prism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6" name="Text Box 50"/>
          <p:cNvSpPr txBox="1">
            <a:spLocks noChangeArrowheads="1"/>
          </p:cNvSpPr>
          <p:nvPr/>
        </p:nvSpPr>
        <p:spPr bwMode="auto">
          <a:xfrm>
            <a:off x="4160838" y="12573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4171950" y="16637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68" name="Text Box 52"/>
          <p:cNvSpPr txBox="1">
            <a:spLocks noChangeArrowheads="1"/>
          </p:cNvSpPr>
          <p:nvPr/>
        </p:nvSpPr>
        <p:spPr bwMode="auto">
          <a:xfrm>
            <a:off x="4170363" y="20447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5156200" y="12827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5156200" y="16573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5157789" y="20304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2" name="Text Box 56"/>
          <p:cNvSpPr txBox="1">
            <a:spLocks noChangeArrowheads="1"/>
          </p:cNvSpPr>
          <p:nvPr/>
        </p:nvSpPr>
        <p:spPr bwMode="auto">
          <a:xfrm>
            <a:off x="8732838" y="1244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73" name="Text Box 57"/>
          <p:cNvSpPr txBox="1">
            <a:spLocks noChangeArrowheads="1"/>
          </p:cNvSpPr>
          <p:nvPr/>
        </p:nvSpPr>
        <p:spPr bwMode="auto">
          <a:xfrm>
            <a:off x="8743950" y="16510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74" name="Text Box 58"/>
          <p:cNvSpPr txBox="1">
            <a:spLocks noChangeArrowheads="1"/>
          </p:cNvSpPr>
          <p:nvPr/>
        </p:nvSpPr>
        <p:spPr bwMode="auto">
          <a:xfrm>
            <a:off x="8742363" y="20320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75" name="Text Box 59"/>
          <p:cNvSpPr txBox="1">
            <a:spLocks noChangeArrowheads="1"/>
          </p:cNvSpPr>
          <p:nvPr/>
        </p:nvSpPr>
        <p:spPr bwMode="auto">
          <a:xfrm>
            <a:off x="7786688" y="43942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76" name="Text Box 60"/>
          <p:cNvSpPr txBox="1">
            <a:spLocks noChangeArrowheads="1"/>
          </p:cNvSpPr>
          <p:nvPr/>
        </p:nvSpPr>
        <p:spPr bwMode="auto">
          <a:xfrm>
            <a:off x="7797800" y="4800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7796213" y="51816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78" name="Text Box 62"/>
          <p:cNvSpPr txBox="1">
            <a:spLocks noChangeArrowheads="1"/>
          </p:cNvSpPr>
          <p:nvPr/>
        </p:nvSpPr>
        <p:spPr bwMode="auto">
          <a:xfrm>
            <a:off x="9715500" y="12319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9" name="Text Box 63"/>
          <p:cNvSpPr txBox="1">
            <a:spLocks noChangeArrowheads="1"/>
          </p:cNvSpPr>
          <p:nvPr/>
        </p:nvSpPr>
        <p:spPr bwMode="auto">
          <a:xfrm>
            <a:off x="9715500" y="16065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0" name="Text Box 64"/>
          <p:cNvSpPr txBox="1">
            <a:spLocks noChangeArrowheads="1"/>
          </p:cNvSpPr>
          <p:nvPr/>
        </p:nvSpPr>
        <p:spPr bwMode="auto">
          <a:xfrm>
            <a:off x="9717089" y="19796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8820150" y="43942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2" name="Text Box 66"/>
          <p:cNvSpPr txBox="1">
            <a:spLocks noChangeArrowheads="1"/>
          </p:cNvSpPr>
          <p:nvPr/>
        </p:nvSpPr>
        <p:spPr bwMode="auto">
          <a:xfrm>
            <a:off x="8820150" y="47688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3" name="Text Box 67"/>
          <p:cNvSpPr txBox="1">
            <a:spLocks noChangeArrowheads="1"/>
          </p:cNvSpPr>
          <p:nvPr/>
        </p:nvSpPr>
        <p:spPr bwMode="auto">
          <a:xfrm>
            <a:off x="8821739" y="51419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9322" name="Group 106"/>
          <p:cNvGrpSpPr>
            <a:grpSpLocks/>
          </p:cNvGrpSpPr>
          <p:nvPr/>
        </p:nvGrpSpPr>
        <p:grpSpPr bwMode="auto">
          <a:xfrm>
            <a:off x="6365876" y="1150939"/>
            <a:ext cx="2816225" cy="2211387"/>
            <a:chOff x="3050" y="725"/>
            <a:chExt cx="1774" cy="1393"/>
          </a:xfrm>
        </p:grpSpPr>
        <p:sp>
          <p:nvSpPr>
            <p:cNvPr id="9286" name="Line 70"/>
            <p:cNvSpPr>
              <a:spLocks noChangeShapeType="1"/>
            </p:cNvSpPr>
            <p:nvPr/>
          </p:nvSpPr>
          <p:spPr bwMode="auto">
            <a:xfrm flipH="1">
              <a:off x="3465" y="2116"/>
              <a:ext cx="86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Line 71"/>
            <p:cNvSpPr>
              <a:spLocks noChangeShapeType="1"/>
            </p:cNvSpPr>
            <p:nvPr/>
          </p:nvSpPr>
          <p:spPr bwMode="auto">
            <a:xfrm flipH="1" flipV="1">
              <a:off x="3050" y="1889"/>
              <a:ext cx="425" cy="22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Line 72"/>
            <p:cNvSpPr>
              <a:spLocks noChangeShapeType="1"/>
            </p:cNvSpPr>
            <p:nvPr/>
          </p:nvSpPr>
          <p:spPr bwMode="auto">
            <a:xfrm flipV="1">
              <a:off x="4325" y="1826"/>
              <a:ext cx="499" cy="29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Freeform 73"/>
            <p:cNvSpPr>
              <a:spLocks/>
            </p:cNvSpPr>
            <p:nvPr/>
          </p:nvSpPr>
          <p:spPr bwMode="auto">
            <a:xfrm>
              <a:off x="4221" y="1658"/>
              <a:ext cx="596" cy="171"/>
            </a:xfrm>
            <a:custGeom>
              <a:avLst/>
              <a:gdLst/>
              <a:ahLst/>
              <a:cxnLst>
                <a:cxn ang="0">
                  <a:pos x="572" y="160"/>
                </a:cxn>
                <a:cxn ang="0">
                  <a:pos x="0" y="0"/>
                </a:cxn>
              </a:cxnLst>
              <a:rect l="0" t="0" r="r" b="b"/>
              <a:pathLst>
                <a:path w="572" h="160">
                  <a:moveTo>
                    <a:pt x="572" y="160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Freeform 74"/>
            <p:cNvSpPr>
              <a:spLocks/>
            </p:cNvSpPr>
            <p:nvPr/>
          </p:nvSpPr>
          <p:spPr bwMode="auto">
            <a:xfrm>
              <a:off x="3055" y="1651"/>
              <a:ext cx="486" cy="234"/>
            </a:xfrm>
            <a:custGeom>
              <a:avLst/>
              <a:gdLst/>
              <a:ahLst/>
              <a:cxnLst>
                <a:cxn ang="0">
                  <a:pos x="0" y="222"/>
                </a:cxn>
                <a:cxn ang="0">
                  <a:pos x="461" y="0"/>
                </a:cxn>
              </a:cxnLst>
              <a:rect l="0" t="0" r="r" b="b"/>
              <a:pathLst>
                <a:path w="461" h="222">
                  <a:moveTo>
                    <a:pt x="0" y="222"/>
                  </a:moveTo>
                  <a:lnTo>
                    <a:pt x="461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Freeform 75"/>
            <p:cNvSpPr>
              <a:spLocks/>
            </p:cNvSpPr>
            <p:nvPr/>
          </p:nvSpPr>
          <p:spPr bwMode="auto">
            <a:xfrm>
              <a:off x="3528" y="1651"/>
              <a:ext cx="697" cy="8"/>
            </a:xfrm>
            <a:custGeom>
              <a:avLst/>
              <a:gdLst/>
              <a:ahLst/>
              <a:cxnLst>
                <a:cxn ang="0">
                  <a:pos x="662" y="7"/>
                </a:cxn>
                <a:cxn ang="0">
                  <a:pos x="0" y="0"/>
                </a:cxn>
              </a:cxnLst>
              <a:rect l="0" t="0" r="r" b="b"/>
              <a:pathLst>
                <a:path w="662" h="7">
                  <a:moveTo>
                    <a:pt x="662" y="7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Freeform 76"/>
            <p:cNvSpPr>
              <a:spLocks/>
            </p:cNvSpPr>
            <p:nvPr/>
          </p:nvSpPr>
          <p:spPr bwMode="auto">
            <a:xfrm>
              <a:off x="3471" y="728"/>
              <a:ext cx="32" cy="1385"/>
            </a:xfrm>
            <a:custGeom>
              <a:avLst/>
              <a:gdLst/>
              <a:ahLst/>
              <a:cxnLst>
                <a:cxn ang="0">
                  <a:pos x="0" y="1314"/>
                </a:cxn>
                <a:cxn ang="0">
                  <a:pos x="30" y="0"/>
                </a:cxn>
              </a:cxnLst>
              <a:rect l="0" t="0" r="r" b="b"/>
              <a:pathLst>
                <a:path w="30" h="1314">
                  <a:moveTo>
                    <a:pt x="0" y="1314"/>
                  </a:moveTo>
                  <a:lnTo>
                    <a:pt x="3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Freeform 77"/>
            <p:cNvSpPr>
              <a:spLocks/>
            </p:cNvSpPr>
            <p:nvPr/>
          </p:nvSpPr>
          <p:spPr bwMode="auto">
            <a:xfrm>
              <a:off x="3052" y="734"/>
              <a:ext cx="451" cy="1153"/>
            </a:xfrm>
            <a:custGeom>
              <a:avLst/>
              <a:gdLst/>
              <a:ahLst/>
              <a:cxnLst>
                <a:cxn ang="0">
                  <a:pos x="0" y="1094"/>
                </a:cxn>
                <a:cxn ang="0">
                  <a:pos x="428" y="0"/>
                </a:cxn>
              </a:cxnLst>
              <a:rect l="0" t="0" r="r" b="b"/>
              <a:pathLst>
                <a:path w="428" h="1094">
                  <a:moveTo>
                    <a:pt x="0" y="1094"/>
                  </a:moveTo>
                  <a:lnTo>
                    <a:pt x="428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Freeform 78"/>
            <p:cNvSpPr>
              <a:spLocks/>
            </p:cNvSpPr>
            <p:nvPr/>
          </p:nvSpPr>
          <p:spPr bwMode="auto">
            <a:xfrm>
              <a:off x="3508" y="725"/>
              <a:ext cx="711" cy="933"/>
            </a:xfrm>
            <a:custGeom>
              <a:avLst/>
              <a:gdLst/>
              <a:ahLst/>
              <a:cxnLst>
                <a:cxn ang="0">
                  <a:pos x="675" y="885"/>
                </a:cxn>
                <a:cxn ang="0">
                  <a:pos x="0" y="0"/>
                </a:cxn>
              </a:cxnLst>
              <a:rect l="0" t="0" r="r" b="b"/>
              <a:pathLst>
                <a:path w="675" h="885">
                  <a:moveTo>
                    <a:pt x="675" y="885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Freeform 79"/>
            <p:cNvSpPr>
              <a:spLocks/>
            </p:cNvSpPr>
            <p:nvPr/>
          </p:nvSpPr>
          <p:spPr bwMode="auto">
            <a:xfrm>
              <a:off x="3506" y="727"/>
              <a:ext cx="1313" cy="1099"/>
            </a:xfrm>
            <a:custGeom>
              <a:avLst/>
              <a:gdLst/>
              <a:ahLst/>
              <a:cxnLst>
                <a:cxn ang="0">
                  <a:pos x="1247" y="1043"/>
                </a:cxn>
                <a:cxn ang="0">
                  <a:pos x="0" y="0"/>
                </a:cxn>
              </a:cxnLst>
              <a:rect l="0" t="0" r="r" b="b"/>
              <a:pathLst>
                <a:path w="1247" h="1043">
                  <a:moveTo>
                    <a:pt x="1247" y="1043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Freeform 80"/>
            <p:cNvSpPr>
              <a:spLocks/>
            </p:cNvSpPr>
            <p:nvPr/>
          </p:nvSpPr>
          <p:spPr bwMode="auto">
            <a:xfrm>
              <a:off x="3506" y="730"/>
              <a:ext cx="822" cy="1381"/>
            </a:xfrm>
            <a:custGeom>
              <a:avLst/>
              <a:gdLst/>
              <a:ahLst/>
              <a:cxnLst>
                <a:cxn ang="0">
                  <a:pos x="781" y="1310"/>
                </a:cxn>
                <a:cxn ang="0">
                  <a:pos x="0" y="0"/>
                </a:cxn>
              </a:cxnLst>
              <a:rect l="0" t="0" r="r" b="b"/>
              <a:pathLst>
                <a:path w="781" h="1310">
                  <a:moveTo>
                    <a:pt x="781" y="1310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Line 81"/>
            <p:cNvSpPr>
              <a:spLocks noChangeShapeType="1"/>
            </p:cNvSpPr>
            <p:nvPr/>
          </p:nvSpPr>
          <p:spPr bwMode="auto">
            <a:xfrm>
              <a:off x="3504" y="736"/>
              <a:ext cx="36" cy="916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10" name="Group 94"/>
          <p:cNvGrpSpPr>
            <a:grpSpLocks/>
          </p:cNvGrpSpPr>
          <p:nvPr/>
        </p:nvGrpSpPr>
        <p:grpSpPr bwMode="auto">
          <a:xfrm>
            <a:off x="4303714" y="4141788"/>
            <a:ext cx="3140075" cy="1992312"/>
            <a:chOff x="3690" y="854"/>
            <a:chExt cx="1683" cy="1528"/>
          </a:xfrm>
        </p:grpSpPr>
        <p:sp>
          <p:nvSpPr>
            <p:cNvPr id="9311" name="Line 95"/>
            <p:cNvSpPr>
              <a:spLocks noChangeShapeType="1"/>
            </p:cNvSpPr>
            <p:nvPr/>
          </p:nvSpPr>
          <p:spPr bwMode="auto">
            <a:xfrm>
              <a:off x="4150" y="854"/>
              <a:ext cx="6" cy="1082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Line 96"/>
            <p:cNvSpPr>
              <a:spLocks noChangeShapeType="1"/>
            </p:cNvSpPr>
            <p:nvPr/>
          </p:nvSpPr>
          <p:spPr bwMode="auto">
            <a:xfrm>
              <a:off x="4800" y="854"/>
              <a:ext cx="6" cy="1074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97"/>
            <p:cNvSpPr>
              <a:spLocks/>
            </p:cNvSpPr>
            <p:nvPr/>
          </p:nvSpPr>
          <p:spPr bwMode="auto">
            <a:xfrm>
              <a:off x="3694" y="854"/>
              <a:ext cx="1672" cy="436"/>
            </a:xfrm>
            <a:custGeom>
              <a:avLst/>
              <a:gdLst/>
              <a:ahLst/>
              <a:cxnLst>
                <a:cxn ang="0">
                  <a:pos x="0" y="220"/>
                </a:cxn>
                <a:cxn ang="0">
                  <a:pos x="392" y="436"/>
                </a:cxn>
                <a:cxn ang="0">
                  <a:pos x="1200" y="436"/>
                </a:cxn>
                <a:cxn ang="0">
                  <a:pos x="1672" y="160"/>
                </a:cxn>
                <a:cxn ang="0">
                  <a:pos x="1104" y="0"/>
                </a:cxn>
                <a:cxn ang="0">
                  <a:pos x="456" y="0"/>
                </a:cxn>
                <a:cxn ang="0">
                  <a:pos x="0" y="220"/>
                </a:cxn>
              </a:cxnLst>
              <a:rect l="0" t="0" r="r" b="b"/>
              <a:pathLst>
                <a:path w="1672" h="436">
                  <a:moveTo>
                    <a:pt x="0" y="220"/>
                  </a:moveTo>
                  <a:lnTo>
                    <a:pt x="392" y="436"/>
                  </a:lnTo>
                  <a:lnTo>
                    <a:pt x="1200" y="436"/>
                  </a:lnTo>
                  <a:lnTo>
                    <a:pt x="1672" y="160"/>
                  </a:lnTo>
                  <a:lnTo>
                    <a:pt x="1104" y="0"/>
                  </a:lnTo>
                  <a:lnTo>
                    <a:pt x="456" y="0"/>
                  </a:lnTo>
                  <a:lnTo>
                    <a:pt x="0" y="220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98"/>
            <p:cNvSpPr>
              <a:spLocks/>
            </p:cNvSpPr>
            <p:nvPr/>
          </p:nvSpPr>
          <p:spPr bwMode="auto">
            <a:xfrm>
              <a:off x="4897" y="1017"/>
              <a:ext cx="476" cy="1365"/>
            </a:xfrm>
            <a:custGeom>
              <a:avLst/>
              <a:gdLst/>
              <a:ahLst/>
              <a:cxnLst>
                <a:cxn ang="0">
                  <a:pos x="6" y="1365"/>
                </a:cxn>
                <a:cxn ang="0">
                  <a:pos x="0" y="1338"/>
                </a:cxn>
                <a:cxn ang="0">
                  <a:pos x="0" y="270"/>
                </a:cxn>
                <a:cxn ang="0">
                  <a:pos x="467" y="0"/>
                </a:cxn>
                <a:cxn ang="0">
                  <a:pos x="476" y="1092"/>
                </a:cxn>
              </a:cxnLst>
              <a:rect l="0" t="0" r="r" b="b"/>
              <a:pathLst>
                <a:path w="476" h="1365">
                  <a:moveTo>
                    <a:pt x="6" y="1365"/>
                  </a:moveTo>
                  <a:cubicBezTo>
                    <a:pt x="6" y="1354"/>
                    <a:pt x="0" y="1349"/>
                    <a:pt x="0" y="1338"/>
                  </a:cubicBezTo>
                  <a:lnTo>
                    <a:pt x="0" y="270"/>
                  </a:lnTo>
                  <a:lnTo>
                    <a:pt x="467" y="0"/>
                  </a:lnTo>
                  <a:lnTo>
                    <a:pt x="476" y="1092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Freeform 99"/>
            <p:cNvSpPr>
              <a:spLocks/>
            </p:cNvSpPr>
            <p:nvPr/>
          </p:nvSpPr>
          <p:spPr bwMode="auto">
            <a:xfrm>
              <a:off x="3690" y="1073"/>
              <a:ext cx="400" cy="13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93"/>
                </a:cxn>
                <a:cxn ang="0">
                  <a:pos x="400" y="1308"/>
                </a:cxn>
                <a:cxn ang="0">
                  <a:pos x="399" y="217"/>
                </a:cxn>
                <a:cxn ang="0">
                  <a:pos x="0" y="0"/>
                </a:cxn>
              </a:cxnLst>
              <a:rect l="0" t="0" r="r" b="b"/>
              <a:pathLst>
                <a:path w="400" h="1308">
                  <a:moveTo>
                    <a:pt x="0" y="0"/>
                  </a:moveTo>
                  <a:lnTo>
                    <a:pt x="0" y="1093"/>
                  </a:lnTo>
                  <a:lnTo>
                    <a:pt x="400" y="1308"/>
                  </a:lnTo>
                  <a:lnTo>
                    <a:pt x="399" y="21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6" name="Line 100"/>
            <p:cNvSpPr>
              <a:spLocks noChangeShapeType="1"/>
            </p:cNvSpPr>
            <p:nvPr/>
          </p:nvSpPr>
          <p:spPr bwMode="auto">
            <a:xfrm flipV="1">
              <a:off x="3692" y="1928"/>
              <a:ext cx="464" cy="22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Line 101"/>
            <p:cNvSpPr>
              <a:spLocks noChangeShapeType="1"/>
            </p:cNvSpPr>
            <p:nvPr/>
          </p:nvSpPr>
          <p:spPr bwMode="auto">
            <a:xfrm>
              <a:off x="4152" y="1928"/>
              <a:ext cx="652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Line 102"/>
            <p:cNvSpPr>
              <a:spLocks noChangeShapeType="1"/>
            </p:cNvSpPr>
            <p:nvPr/>
          </p:nvSpPr>
          <p:spPr bwMode="auto">
            <a:xfrm>
              <a:off x="4804" y="1928"/>
              <a:ext cx="568" cy="176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Line 103"/>
            <p:cNvSpPr>
              <a:spLocks noChangeShapeType="1"/>
            </p:cNvSpPr>
            <p:nvPr/>
          </p:nvSpPr>
          <p:spPr bwMode="auto">
            <a:xfrm>
              <a:off x="4084" y="2380"/>
              <a:ext cx="82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Line 104"/>
            <p:cNvSpPr>
              <a:spLocks noChangeShapeType="1"/>
            </p:cNvSpPr>
            <p:nvPr/>
          </p:nvSpPr>
          <p:spPr bwMode="auto">
            <a:xfrm flipV="1">
              <a:off x="4900" y="2100"/>
              <a:ext cx="472" cy="28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23" name="Rectangle 107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4" name="Rectangle 108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5" name="Rectangle 109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6" name="Rectangle 110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9690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9" grpId="0" animBg="1"/>
      <p:bldP spid="9270" grpId="0" animBg="1"/>
      <p:bldP spid="9271" grpId="0" animBg="1"/>
      <p:bldP spid="9278" grpId="0" animBg="1"/>
      <p:bldP spid="9279" grpId="0" animBg="1"/>
      <p:bldP spid="9280" grpId="0" animBg="1"/>
      <p:bldP spid="9281" grpId="0" animBg="1"/>
      <p:bldP spid="9282" grpId="0" animBg="1"/>
      <p:bldP spid="928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A0AB82-DE9C-4CD9-8D71-F38BC8E0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" y="338137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am a Prism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3E401F26-A71B-4B81-8618-8C5BE863E9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45225" y="762794"/>
            <a:ext cx="5633884" cy="1260475"/>
          </a:xfrm>
        </p:spPr>
        <p:txBody>
          <a:bodyPr>
            <a:normAutofit fontScale="25000" lnSpcReduction="20000"/>
          </a:bodyPr>
          <a:lstStyle/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have two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identical</a:t>
            </a:r>
            <a:r>
              <a:rPr lang="en-GB" altLang="en-US" dirty="0">
                <a:latin typeface="Comic Sans MS" panose="030F0702030302020204" pitchFamily="66" charset="0"/>
              </a:rPr>
              <a:t> faces.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All my other faces are  	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quadrilateral 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dirty="0">
                <a:solidFill>
                  <a:srgbClr val="C00000"/>
                </a:solidFill>
                <a:latin typeface="Comic Sans MS" panose="030F0702030302020204" pitchFamily="66" charset="0"/>
              </a:rPr>
              <a:t>   (Rectangle or square)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id="{962B15D6-40FB-4644-9AAE-AC9F4F527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6" y="549276"/>
            <a:ext cx="259556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C356E55-5BC2-4E1E-AD20-3FC3C25AE78A}"/>
              </a:ext>
            </a:extLst>
          </p:cNvPr>
          <p:cNvSpPr/>
          <p:nvPr/>
        </p:nvSpPr>
        <p:spPr>
          <a:xfrm>
            <a:off x="2711451" y="2565401"/>
            <a:ext cx="1368425" cy="1152525"/>
          </a:xfrm>
          <a:prstGeom prst="triangl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C65EF-5B97-42C3-957E-12D57B8C7EDA}"/>
              </a:ext>
            </a:extLst>
          </p:cNvPr>
          <p:cNvSpPr/>
          <p:nvPr/>
        </p:nvSpPr>
        <p:spPr>
          <a:xfrm>
            <a:off x="6959601" y="3429001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8226D-7797-4609-958F-736CEBA90A3D}"/>
              </a:ext>
            </a:extLst>
          </p:cNvPr>
          <p:cNvSpPr/>
          <p:nvPr/>
        </p:nvSpPr>
        <p:spPr>
          <a:xfrm>
            <a:off x="6959601" y="4437064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CC066B-7DF7-4722-935E-794C34B74F7F}"/>
              </a:ext>
            </a:extLst>
          </p:cNvPr>
          <p:cNvSpPr/>
          <p:nvPr/>
        </p:nvSpPr>
        <p:spPr>
          <a:xfrm>
            <a:off x="6959601" y="5445126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E44A9D9-F35C-4672-8FF5-EA055207662D}"/>
              </a:ext>
            </a:extLst>
          </p:cNvPr>
          <p:cNvSpPr/>
          <p:nvPr/>
        </p:nvSpPr>
        <p:spPr>
          <a:xfrm>
            <a:off x="4367214" y="2565401"/>
            <a:ext cx="1368425" cy="1152525"/>
          </a:xfrm>
          <a:prstGeom prst="triangl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2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1" grpI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61690365-F0DA-4033-9C75-64B4B225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Prism</a:t>
            </a:r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17E7F9B4-FABE-4131-9558-415CA849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2060575"/>
            <a:ext cx="3086100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3">
            <a:extLst>
              <a:ext uri="{FF2B5EF4-FFF2-40B4-BE49-F238E27FC236}">
                <a16:creationId xmlns:a16="http://schemas.microsoft.com/office/drawing/2014/main" id="{54EF0179-1F73-4304-9A5C-532582EC8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349500"/>
            <a:ext cx="3014662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EAC18-C9ED-4484-8D34-505763F30FA6}"/>
              </a:ext>
            </a:extLst>
          </p:cNvPr>
          <p:cNvSpPr txBox="1"/>
          <p:nvPr/>
        </p:nvSpPr>
        <p:spPr>
          <a:xfrm>
            <a:off x="2341562" y="5288340"/>
            <a:ext cx="7869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end.</a:t>
            </a:r>
          </a:p>
        </p:txBody>
      </p:sp>
    </p:spTree>
    <p:extLst>
      <p:ext uri="{BB962C8B-B14F-4D97-AF65-F5344CB8AC3E}">
        <p14:creationId xmlns:p14="http://schemas.microsoft.com/office/powerpoint/2010/main" val="181970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134A7EF4-2B75-4A73-9485-BDB46AB8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2349501"/>
            <a:ext cx="358140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itle 1">
            <a:extLst>
              <a:ext uri="{FF2B5EF4-FFF2-40B4-BE49-F238E27FC236}">
                <a16:creationId xmlns:a16="http://schemas.microsoft.com/office/drawing/2014/main" id="{09F189CD-94C8-4808-BE99-E273AE6C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Prism</a:t>
            </a:r>
          </a:p>
        </p:txBody>
      </p:sp>
      <p:pic>
        <p:nvPicPr>
          <p:cNvPr id="8196" name="Picture 3">
            <a:extLst>
              <a:ext uri="{FF2B5EF4-FFF2-40B4-BE49-F238E27FC236}">
                <a16:creationId xmlns:a16="http://schemas.microsoft.com/office/drawing/2014/main" id="{14CF128C-73B8-464E-839E-8579804F0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349500"/>
            <a:ext cx="27368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54C23-B451-414F-9FE0-28A4EC578146}"/>
              </a:ext>
            </a:extLst>
          </p:cNvPr>
          <p:cNvSpPr txBox="1"/>
          <p:nvPr/>
        </p:nvSpPr>
        <p:spPr>
          <a:xfrm>
            <a:off x="2341562" y="5288340"/>
            <a:ext cx="7869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end.</a:t>
            </a:r>
          </a:p>
        </p:txBody>
      </p:sp>
    </p:spTree>
    <p:extLst>
      <p:ext uri="{BB962C8B-B14F-4D97-AF65-F5344CB8AC3E}">
        <p14:creationId xmlns:p14="http://schemas.microsoft.com/office/powerpoint/2010/main" val="156268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D1E5AE3-7EF5-41D9-BDEA-77AC365C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</a:t>
            </a:r>
            <a:r>
              <a:rPr lang="en-GB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GB" altLang="en-US">
                <a:latin typeface="Comic Sans MS" panose="030F0702030302020204" pitchFamily="66" charset="0"/>
              </a:rPr>
              <a:t> a Prism</a:t>
            </a:r>
          </a:p>
        </p:txBody>
      </p:sp>
      <p:pic>
        <p:nvPicPr>
          <p:cNvPr id="5" name="Picture 2" descr="http://www.powerframeworks.com/series/RE/035/re035_graphics_gradient.jpg">
            <a:extLst>
              <a:ext uri="{FF2B5EF4-FFF2-40B4-BE49-F238E27FC236}">
                <a16:creationId xmlns:a16="http://schemas.microsoft.com/office/drawing/2014/main" id="{894BE884-736A-49A3-9B78-C5377A9C3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98955">
            <a:off x="7259638" y="1782763"/>
            <a:ext cx="24955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2" descr="http://mjv.50webs.com/solids/images/ellipsoid.png">
            <a:extLst>
              <a:ext uri="{FF2B5EF4-FFF2-40B4-BE49-F238E27FC236}">
                <a16:creationId xmlns:a16="http://schemas.microsoft.com/office/drawing/2014/main" id="{9878C226-FF30-4B77-8277-9072A13F1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0441">
            <a:off x="2061453" y="2208782"/>
            <a:ext cx="360997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C1B17C-0039-48A7-BD70-CFA6E9B700CF}"/>
              </a:ext>
            </a:extLst>
          </p:cNvPr>
          <p:cNvSpPr txBox="1"/>
          <p:nvPr/>
        </p:nvSpPr>
        <p:spPr>
          <a:xfrm>
            <a:off x="2126435" y="4559562"/>
            <a:ext cx="81441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 – this shapes slices are not identical</a:t>
            </a:r>
          </a:p>
        </p:txBody>
      </p:sp>
    </p:spTree>
    <p:extLst>
      <p:ext uri="{BB962C8B-B14F-4D97-AF65-F5344CB8AC3E}">
        <p14:creationId xmlns:p14="http://schemas.microsoft.com/office/powerpoint/2010/main" val="229872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467BEA2-AD3D-4E60-8C1E-1F81D0EE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</a:t>
            </a:r>
            <a:r>
              <a:rPr lang="en-GB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 </a:t>
            </a:r>
            <a:r>
              <a:rPr lang="en-GB" altLang="en-US">
                <a:latin typeface="Comic Sans MS" panose="030F0702030302020204" pitchFamily="66" charset="0"/>
              </a:rPr>
              <a:t>a Prism</a:t>
            </a:r>
          </a:p>
        </p:txBody>
      </p:sp>
      <p:pic>
        <p:nvPicPr>
          <p:cNvPr id="5" name="Picture 4" descr="http://us.cdn2.123rf.com/168nwm/koya79/koya791202/koya79120200113/12330684-abstract-pyramid.jpg">
            <a:extLst>
              <a:ext uri="{FF2B5EF4-FFF2-40B4-BE49-F238E27FC236}">
                <a16:creationId xmlns:a16="http://schemas.microsoft.com/office/drawing/2014/main" id="{F6499A05-0DD7-4E84-B85A-8F3B2DA7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1316039"/>
            <a:ext cx="4176712" cy="417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85B2FA43-4960-4557-B1F7-7290C7E9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531938"/>
            <a:ext cx="33274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5E68F-E626-486D-B217-3FB571E9FC53}"/>
              </a:ext>
            </a:extLst>
          </p:cNvPr>
          <p:cNvSpPr txBox="1"/>
          <p:nvPr/>
        </p:nvSpPr>
        <p:spPr>
          <a:xfrm>
            <a:off x="2066622" y="4795897"/>
            <a:ext cx="81441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 –  this shapes slices are not identical</a:t>
            </a:r>
          </a:p>
        </p:txBody>
      </p:sp>
    </p:spTree>
    <p:extLst>
      <p:ext uri="{BB962C8B-B14F-4D97-AF65-F5344CB8AC3E}">
        <p14:creationId xmlns:p14="http://schemas.microsoft.com/office/powerpoint/2010/main" val="303663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C27F270-150F-44EF-806E-1246EFDCB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620713"/>
            <a:ext cx="22320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5000">
                <a:latin typeface="Comic Sans MS" panose="030F0702030302020204" pitchFamily="66" charset="0"/>
              </a:rPr>
              <a:t>Prism?</a:t>
            </a:r>
            <a:endParaRPr lang="en-GB" altLang="en-US" sz="5000"/>
          </a:p>
        </p:txBody>
      </p:sp>
      <p:pic>
        <p:nvPicPr>
          <p:cNvPr id="69634" name="Picture 2">
            <a:extLst>
              <a:ext uri="{FF2B5EF4-FFF2-40B4-BE49-F238E27FC236}">
                <a16:creationId xmlns:a16="http://schemas.microsoft.com/office/drawing/2014/main" id="{ACCBC643-7A0C-446A-8978-4C1D614AB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1" y="1557338"/>
            <a:ext cx="3635375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 descr="http://bodyshapestyle.com/wp-content/plugins/single-brick.jpg">
            <a:extLst>
              <a:ext uri="{FF2B5EF4-FFF2-40B4-BE49-F238E27FC236}">
                <a16:creationId xmlns:a16="http://schemas.microsoft.com/office/drawing/2014/main" id="{12FDEFDD-15A2-4F3B-B3F3-C52788A47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196975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894588EF-6B99-4B5D-8321-1D3224F74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4652964"/>
            <a:ext cx="3421063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8" name="Picture 6">
            <a:extLst>
              <a:ext uri="{FF2B5EF4-FFF2-40B4-BE49-F238E27FC236}">
                <a16:creationId xmlns:a16="http://schemas.microsoft.com/office/drawing/2014/main" id="{F0E6DD90-65D4-4ADA-9CEA-5F3D32BF4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1" y="5373689"/>
            <a:ext cx="2690813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7">
            <a:extLst>
              <a:ext uri="{FF2B5EF4-FFF2-40B4-BE49-F238E27FC236}">
                <a16:creationId xmlns:a16="http://schemas.microsoft.com/office/drawing/2014/main" id="{9C3A4559-FD1A-458B-B6D3-5F6DFA1C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8" y="5013325"/>
            <a:ext cx="137001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Picture 8">
            <a:extLst>
              <a:ext uri="{FF2B5EF4-FFF2-40B4-BE49-F238E27FC236}">
                <a16:creationId xmlns:a16="http://schemas.microsoft.com/office/drawing/2014/main" id="{DA2595BD-61E5-42C2-AC14-7FFD13ECE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4652964"/>
            <a:ext cx="1370012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713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0" name="Picture 10" descr="http://img2.timeinc.net/health/images/slides/sliced-apples-secret-400x400.jpg">
            <a:extLst>
              <a:ext uri="{FF2B5EF4-FFF2-40B4-BE49-F238E27FC236}">
                <a16:creationId xmlns:a16="http://schemas.microsoft.com/office/drawing/2014/main" id="{4C7CB0D0-D76E-465B-B534-7B3DED2C9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1025525"/>
            <a:ext cx="29908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FD9116A0-39F4-4C87-B425-4B6CB877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620713"/>
            <a:ext cx="22320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5000">
                <a:latin typeface="Comic Sans MS" panose="030F0702030302020204" pitchFamily="66" charset="0"/>
              </a:rPr>
              <a:t>Prism?</a:t>
            </a:r>
            <a:endParaRPr lang="en-GB" altLang="en-US" sz="5000"/>
          </a:p>
        </p:txBody>
      </p:sp>
      <p:pic>
        <p:nvPicPr>
          <p:cNvPr id="71684" name="Picture 4" descr="https://www.omlet.co.uk/images/cache/150/672/egg_sliced.gif">
            <a:extLst>
              <a:ext uri="{FF2B5EF4-FFF2-40B4-BE49-F238E27FC236}">
                <a16:creationId xmlns:a16="http://schemas.microsoft.com/office/drawing/2014/main" id="{7C401CE3-52EA-4975-AAB3-91E9C0197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88" y="4724400"/>
            <a:ext cx="48387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12" descr="http://mccutcheonsblog.files.wordpress.com/2011/09/red_delicious_apple.jpg">
            <a:extLst>
              <a:ext uri="{FF2B5EF4-FFF2-40B4-BE49-F238E27FC236}">
                <a16:creationId xmlns:a16="http://schemas.microsoft.com/office/drawing/2014/main" id="{419CA745-A6C0-4C54-BF1F-9E14C6AD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484313"/>
            <a:ext cx="23050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3">
            <a:extLst>
              <a:ext uri="{FF2B5EF4-FFF2-40B4-BE49-F238E27FC236}">
                <a16:creationId xmlns:a16="http://schemas.microsoft.com/office/drawing/2014/main" id="{5155652A-D440-4096-873A-C0AEFC61E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4437063"/>
            <a:ext cx="197167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34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959C63F-7B9B-4A38-9B06-05E96DDA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Prisms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D5151C2-D42B-4F1C-B53C-2C6608276919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D225930C-8F77-4E30-8DD5-629BE0261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4" y="1125538"/>
            <a:ext cx="214312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>
            <a:extLst>
              <a:ext uri="{FF2B5EF4-FFF2-40B4-BE49-F238E27FC236}">
                <a16:creationId xmlns:a16="http://schemas.microsoft.com/office/drawing/2014/main" id="{EEC802A1-36CF-4719-9A9D-46C5007A6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53435">
            <a:off x="2351882" y="1701007"/>
            <a:ext cx="2519362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C44C3E7D-E7D2-4FA7-B77D-740A77FFE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4076701"/>
            <a:ext cx="2500312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>
            <a:extLst>
              <a:ext uri="{FF2B5EF4-FFF2-40B4-BE49-F238E27FC236}">
                <a16:creationId xmlns:a16="http://schemas.microsoft.com/office/drawing/2014/main" id="{23B334E0-F0E3-46AC-A7D8-CE77269E9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3429000"/>
            <a:ext cx="23034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4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extLst>
              <a:ext uri="{FF2B5EF4-FFF2-40B4-BE49-F238E27FC236}">
                <a16:creationId xmlns:a16="http://schemas.microsoft.com/office/drawing/2014/main" id="{4A648DE4-B379-4539-A670-85A0DC7B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6873875" y="3681413"/>
            <a:ext cx="2946400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itle 1">
            <a:extLst>
              <a:ext uri="{FF2B5EF4-FFF2-40B4-BE49-F238E27FC236}">
                <a16:creationId xmlns:a16="http://schemas.microsoft.com/office/drawing/2014/main" id="{736AC208-F9AD-4F1D-8FC6-358F8BBE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Pyramid</a:t>
            </a:r>
          </a:p>
        </p:txBody>
      </p:sp>
      <p:sp>
        <p:nvSpPr>
          <p:cNvPr id="15364" name="Content Placeholder 2">
            <a:extLst>
              <a:ext uri="{FF2B5EF4-FFF2-40B4-BE49-F238E27FC236}">
                <a16:creationId xmlns:a16="http://schemas.microsoft.com/office/drawing/2014/main" id="{83662D44-8E29-42D7-823B-967244F922D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9288" y="1011648"/>
            <a:ext cx="8291512" cy="4572000"/>
          </a:xfrm>
        </p:spPr>
        <p:txBody>
          <a:bodyPr/>
          <a:lstStyle/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have one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base</a:t>
            </a:r>
            <a:r>
              <a:rPr lang="en-GB" altLang="en-US" dirty="0">
                <a:latin typeface="Comic Sans MS" panose="030F0702030302020204" pitchFamily="66" charset="0"/>
              </a:rPr>
              <a:t> (also called a face).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All my other faces slope and meet at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one vertex.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b="1" dirty="0">
                <a:latin typeface="Comic Sans MS" panose="030F0702030302020204" pitchFamily="66" charset="0"/>
              </a:rPr>
              <a:t>I am a </a:t>
            </a:r>
            <a:r>
              <a:rPr lang="en-GB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Non-Prism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9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11C8D751-9986-45ED-82DE-951E13FA7B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11451" y="981076"/>
            <a:ext cx="2505075" cy="1368425"/>
          </a:xfrm>
        </p:spPr>
        <p:txBody>
          <a:bodyPr/>
          <a:lstStyle/>
          <a:p>
            <a:pPr eaLnBrk="1" hangingPunct="1"/>
            <a:endParaRPr lang="en-GB" altLang="en-US">
              <a:latin typeface="Comic Sans MS" panose="030F0702030302020204" pitchFamily="66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Non-Prisms</a:t>
            </a:r>
            <a:endParaRPr lang="en-GB" altLang="en-US">
              <a:latin typeface="Comic Sans MS" panose="030F0702030302020204" pitchFamily="66" charset="0"/>
            </a:endParaRPr>
          </a:p>
        </p:txBody>
      </p:sp>
      <p:sp>
        <p:nvSpPr>
          <p:cNvPr id="16387" name="Title 1">
            <a:extLst>
              <a:ext uri="{FF2B5EF4-FFF2-40B4-BE49-F238E27FC236}">
                <a16:creationId xmlns:a16="http://schemas.microsoft.com/office/drawing/2014/main" id="{C8ED1DF0-C0C7-4977-AF49-CA8BE52E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Pyramids</a:t>
            </a: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35EF1997-B5A5-4890-A367-334825FF3B1C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389" name="Picture 28">
            <a:extLst>
              <a:ext uri="{FF2B5EF4-FFF2-40B4-BE49-F238E27FC236}">
                <a16:creationId xmlns:a16="http://schemas.microsoft.com/office/drawing/2014/main" id="{77CBACC5-6360-494C-8E21-EE3FE879D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5632338" y="1320351"/>
            <a:ext cx="252253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>
            <a:extLst>
              <a:ext uri="{FF2B5EF4-FFF2-40B4-BE49-F238E27FC236}">
                <a16:creationId xmlns:a16="http://schemas.microsoft.com/office/drawing/2014/main" id="{2BAEA057-B782-4441-A4C9-B91DF2E60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3228975" y="3232150"/>
            <a:ext cx="2103438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4">
            <a:extLst>
              <a:ext uri="{FF2B5EF4-FFF2-40B4-BE49-F238E27FC236}">
                <a16:creationId xmlns:a16="http://schemas.microsoft.com/office/drawing/2014/main" id="{296CC82C-2119-4C1D-A831-22087327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2756">
            <a:off x="7486651" y="3517900"/>
            <a:ext cx="1858963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086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19A2ECC-482D-4C97-B454-F3D2F415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Other Non-Prisms</a:t>
            </a: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DBEBB9D2-56E3-4175-B219-2EB7B927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2728913" y="1998664"/>
            <a:ext cx="2519362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207FD6A8-CEAF-4743-9F6D-712962A5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7350126" y="1582739"/>
            <a:ext cx="165417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>
            <a:extLst>
              <a:ext uri="{FF2B5EF4-FFF2-40B4-BE49-F238E27FC236}">
                <a16:creationId xmlns:a16="http://schemas.microsoft.com/office/drawing/2014/main" id="{300B357A-EDAD-48A6-B13C-15FE417EF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4076700"/>
            <a:ext cx="2303462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079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417446B-7BC0-4719-99F1-B5A2D334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8" y="0"/>
            <a:ext cx="2146300" cy="1143000"/>
          </a:xfrm>
        </p:spPr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Prisms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6D09010D-91F7-4D89-B2B3-2179F0010E4A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8436" name="Picture 13">
            <a:extLst>
              <a:ext uri="{FF2B5EF4-FFF2-40B4-BE49-F238E27FC236}">
                <a16:creationId xmlns:a16="http://schemas.microsoft.com/office/drawing/2014/main" id="{D7A15BFA-A89B-4CA2-AC35-8065C36C9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9" y="3789363"/>
            <a:ext cx="22320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4">
            <a:extLst>
              <a:ext uri="{FF2B5EF4-FFF2-40B4-BE49-F238E27FC236}">
                <a16:creationId xmlns:a16="http://schemas.microsoft.com/office/drawing/2014/main" id="{5A28F374-F096-4EAA-92A1-6E24FF314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864983">
            <a:off x="7531894" y="626269"/>
            <a:ext cx="1709738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15">
            <a:extLst>
              <a:ext uri="{FF2B5EF4-FFF2-40B4-BE49-F238E27FC236}">
                <a16:creationId xmlns:a16="http://schemas.microsoft.com/office/drawing/2014/main" id="{F3C51883-D15E-418A-BAF6-F4318136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716338"/>
            <a:ext cx="17907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16">
            <a:extLst>
              <a:ext uri="{FF2B5EF4-FFF2-40B4-BE49-F238E27FC236}">
                <a16:creationId xmlns:a16="http://schemas.microsoft.com/office/drawing/2014/main" id="{1FC16BE5-AA7B-44E9-BBBA-CD9006E22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765175"/>
            <a:ext cx="18002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E0352CD-148D-496D-91FB-C11876EBAC0A}"/>
              </a:ext>
            </a:extLst>
          </p:cNvPr>
          <p:cNvSpPr txBox="1">
            <a:spLocks/>
          </p:cNvSpPr>
          <p:nvPr/>
        </p:nvSpPr>
        <p:spPr>
          <a:xfrm>
            <a:off x="4943475" y="2636838"/>
            <a:ext cx="1944688" cy="863600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18A7B15-17CD-4E8A-853A-8FC82A888962}"/>
              </a:ext>
            </a:extLst>
          </p:cNvPr>
          <p:cNvSpPr txBox="1">
            <a:spLocks/>
          </p:cNvSpPr>
          <p:nvPr/>
        </p:nvSpPr>
        <p:spPr>
          <a:xfrm>
            <a:off x="2063751" y="5445126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Triangle-based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73B90A2-8D7B-471A-BC2F-81E51D1A3B14}"/>
              </a:ext>
            </a:extLst>
          </p:cNvPr>
          <p:cNvSpPr txBox="1">
            <a:spLocks/>
          </p:cNvSpPr>
          <p:nvPr/>
        </p:nvSpPr>
        <p:spPr>
          <a:xfrm>
            <a:off x="7824789" y="5300663"/>
            <a:ext cx="2447925" cy="792162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Hexagon-based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A1E2928-6438-4E15-B8B8-F2ABB4AA4218}"/>
              </a:ext>
            </a:extLst>
          </p:cNvPr>
          <p:cNvSpPr txBox="1">
            <a:spLocks/>
          </p:cNvSpPr>
          <p:nvPr/>
        </p:nvSpPr>
        <p:spPr>
          <a:xfrm>
            <a:off x="7391400" y="2492375"/>
            <a:ext cx="1944688" cy="8651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r>
              <a:rPr lang="en-GB" sz="4000" dirty="0" err="1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Cuboid</a:t>
            </a: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18444" name="Picture 2">
            <a:extLst>
              <a:ext uri="{FF2B5EF4-FFF2-40B4-BE49-F238E27FC236}">
                <a16:creationId xmlns:a16="http://schemas.microsoft.com/office/drawing/2014/main" id="{E633010D-8A60-4045-B250-7AB99EF5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3357564"/>
            <a:ext cx="2387600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380D581-062E-4FB7-B5D6-5961F11D0008}"/>
              </a:ext>
            </a:extLst>
          </p:cNvPr>
          <p:cNvSpPr txBox="1">
            <a:spLocks/>
          </p:cNvSpPr>
          <p:nvPr/>
        </p:nvSpPr>
        <p:spPr>
          <a:xfrm>
            <a:off x="5159376" y="5589588"/>
            <a:ext cx="2449513" cy="792162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Pentagon-based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pic>
        <p:nvPicPr>
          <p:cNvPr id="18446" name="Picture 3">
            <a:extLst>
              <a:ext uri="{FF2B5EF4-FFF2-40B4-BE49-F238E27FC236}">
                <a16:creationId xmlns:a16="http://schemas.microsoft.com/office/drawing/2014/main" id="{1718CED6-FE86-4B44-9791-E1DD8B9A4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350963"/>
            <a:ext cx="1854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B81D659B-41A8-4DA4-86CF-9DE21EC954BA}"/>
              </a:ext>
            </a:extLst>
          </p:cNvPr>
          <p:cNvSpPr txBox="1">
            <a:spLocks/>
          </p:cNvSpPr>
          <p:nvPr/>
        </p:nvSpPr>
        <p:spPr>
          <a:xfrm>
            <a:off x="2279650" y="2492375"/>
            <a:ext cx="1944688" cy="865188"/>
          </a:xfrm>
          <a:prstGeom prst="rect">
            <a:avLst/>
          </a:prstGeom>
        </p:spPr>
        <p:txBody>
          <a:bodyPr bIns="91440" anchor="b">
            <a:normAutofit fontScale="85000" lnSpcReduction="1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Cylinder</a:t>
            </a:r>
          </a:p>
        </p:txBody>
      </p:sp>
    </p:spTree>
    <p:extLst>
      <p:ext uri="{BB962C8B-B14F-4D97-AF65-F5344CB8AC3E}">
        <p14:creationId xmlns:p14="http://schemas.microsoft.com/office/powerpoint/2010/main" val="6361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4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>
            <a:extLst>
              <a:ext uri="{FF2B5EF4-FFF2-40B4-BE49-F238E27FC236}">
                <a16:creationId xmlns:a16="http://schemas.microsoft.com/office/drawing/2014/main" id="{D7E5B151-B5E4-4BC7-A71A-08F03440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8675689" y="4187826"/>
            <a:ext cx="1246187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4">
            <a:extLst>
              <a:ext uri="{FF2B5EF4-FFF2-40B4-BE49-F238E27FC236}">
                <a16:creationId xmlns:a16="http://schemas.microsoft.com/office/drawing/2014/main" id="{8F6D5F32-3CB9-4D96-8359-8512798A0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9208">
            <a:off x="2609850" y="993776"/>
            <a:ext cx="15748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itle 1">
            <a:extLst>
              <a:ext uri="{FF2B5EF4-FFF2-40B4-BE49-F238E27FC236}">
                <a16:creationId xmlns:a16="http://schemas.microsoft.com/office/drawing/2014/main" id="{44934D42-D1AD-4A7C-88A9-259C4796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Pyramids &amp; Non-Prisms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C0B760C-1CDA-482D-BBB3-6EBD4F3D47A6}"/>
              </a:ext>
            </a:extLst>
          </p:cNvPr>
          <p:cNvSpPr txBox="1">
            <a:spLocks/>
          </p:cNvSpPr>
          <p:nvPr/>
        </p:nvSpPr>
        <p:spPr>
          <a:xfrm>
            <a:off x="2640014" y="3213100"/>
            <a:ext cx="1368425" cy="863600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Cone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92043B5-CD45-44D6-8138-3398E279726F}"/>
              </a:ext>
            </a:extLst>
          </p:cNvPr>
          <p:cNvSpPr txBox="1">
            <a:spLocks/>
          </p:cNvSpPr>
          <p:nvPr/>
        </p:nvSpPr>
        <p:spPr>
          <a:xfrm>
            <a:off x="4727576" y="3429001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Triangle-based Pyramid</a:t>
            </a:r>
          </a:p>
        </p:txBody>
      </p:sp>
      <p:pic>
        <p:nvPicPr>
          <p:cNvPr id="19463" name="Picture 3">
            <a:extLst>
              <a:ext uri="{FF2B5EF4-FFF2-40B4-BE49-F238E27FC236}">
                <a16:creationId xmlns:a16="http://schemas.microsoft.com/office/drawing/2014/main" id="{060FBF99-1EAE-4FA5-AD12-D5AED464F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5054600" y="1528764"/>
            <a:ext cx="1682750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D5FF160-B03F-4E38-A2EC-20B2ABA57B31}"/>
              </a:ext>
            </a:extLst>
          </p:cNvPr>
          <p:cNvSpPr txBox="1">
            <a:spLocks/>
          </p:cNvSpPr>
          <p:nvPr/>
        </p:nvSpPr>
        <p:spPr>
          <a:xfrm>
            <a:off x="5519739" y="3284539"/>
            <a:ext cx="1368425" cy="865187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19465" name="Picture 30">
            <a:extLst>
              <a:ext uri="{FF2B5EF4-FFF2-40B4-BE49-F238E27FC236}">
                <a16:creationId xmlns:a16="http://schemas.microsoft.com/office/drawing/2014/main" id="{49EA7332-222C-4BEF-8950-B1E583860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7847013" y="1743076"/>
            <a:ext cx="187166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F061B49E-0286-4929-B43B-6BA16E1C78B0}"/>
              </a:ext>
            </a:extLst>
          </p:cNvPr>
          <p:cNvSpPr txBox="1">
            <a:spLocks/>
          </p:cNvSpPr>
          <p:nvPr/>
        </p:nvSpPr>
        <p:spPr>
          <a:xfrm>
            <a:off x="7608889" y="3429001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Square-based Pyramid</a:t>
            </a:r>
          </a:p>
        </p:txBody>
      </p:sp>
      <p:pic>
        <p:nvPicPr>
          <p:cNvPr id="19467" name="Picture 3">
            <a:extLst>
              <a:ext uri="{FF2B5EF4-FFF2-40B4-BE49-F238E27FC236}">
                <a16:creationId xmlns:a16="http://schemas.microsoft.com/office/drawing/2014/main" id="{D54BB682-0478-4542-A0B2-3A8CEA21E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5135563" y="4497389"/>
            <a:ext cx="2074862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948A1591-7B00-4B32-B88A-3E3D64084ADA}"/>
              </a:ext>
            </a:extLst>
          </p:cNvPr>
          <p:cNvSpPr txBox="1">
            <a:spLocks/>
          </p:cNvSpPr>
          <p:nvPr/>
        </p:nvSpPr>
        <p:spPr>
          <a:xfrm>
            <a:off x="2279651" y="5661025"/>
            <a:ext cx="1584325" cy="863600"/>
          </a:xfrm>
          <a:prstGeom prst="rect">
            <a:avLst/>
          </a:prstGeom>
        </p:spPr>
        <p:txBody>
          <a:bodyPr bIns="91440" anchor="b">
            <a:normAutofit fontScale="77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Sphere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7312F24-9B83-495A-9D01-55798050CAA8}"/>
              </a:ext>
            </a:extLst>
          </p:cNvPr>
          <p:cNvSpPr txBox="1">
            <a:spLocks/>
          </p:cNvSpPr>
          <p:nvPr/>
        </p:nvSpPr>
        <p:spPr bwMode="auto">
          <a:xfrm>
            <a:off x="7896226" y="5876926"/>
            <a:ext cx="24479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000">
                <a:solidFill>
                  <a:schemeClr val="tx2"/>
                </a:solidFill>
                <a:latin typeface="Comic Sans MS" panose="030F0702030302020204" pitchFamily="66" charset="0"/>
              </a:rPr>
              <a:t>Ellipsoid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6DD3287-0523-4E9E-A31E-7D0ABE9EB783}"/>
              </a:ext>
            </a:extLst>
          </p:cNvPr>
          <p:cNvSpPr txBox="1">
            <a:spLocks/>
          </p:cNvSpPr>
          <p:nvPr/>
        </p:nvSpPr>
        <p:spPr>
          <a:xfrm>
            <a:off x="5016501" y="5994401"/>
            <a:ext cx="2447925" cy="792163"/>
          </a:xfrm>
          <a:prstGeom prst="rect">
            <a:avLst/>
          </a:prstGeom>
        </p:spPr>
        <p:txBody>
          <a:bodyPr bIns="91440" anchor="b">
            <a:normAutofit fontScale="7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Hemisphere</a:t>
            </a:r>
          </a:p>
        </p:txBody>
      </p:sp>
      <p:pic>
        <p:nvPicPr>
          <p:cNvPr id="19471" name="Picture 16">
            <a:extLst>
              <a:ext uri="{FF2B5EF4-FFF2-40B4-BE49-F238E27FC236}">
                <a16:creationId xmlns:a16="http://schemas.microsoft.com/office/drawing/2014/main" id="{A9DBAADF-76E2-428B-A0CD-C215A780E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4151313"/>
            <a:ext cx="18732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81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2" grpId="0"/>
      <p:bldP spid="36" grpId="0"/>
      <p:bldP spid="37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65F26A84-175B-4FFE-A4D2-F42438A5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15888"/>
            <a:ext cx="3168650" cy="811212"/>
          </a:xfrm>
        </p:spPr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3D Shapes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D0B6B63-F34C-41BA-9EEC-B8E3FB1BE99C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1508" name="Picture 13">
            <a:extLst>
              <a:ext uri="{FF2B5EF4-FFF2-40B4-BE49-F238E27FC236}">
                <a16:creationId xmlns:a16="http://schemas.microsoft.com/office/drawing/2014/main" id="{7E32D6E5-4129-4491-A880-CD8CC2C89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850" y="981075"/>
            <a:ext cx="1366838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4">
            <a:extLst>
              <a:ext uri="{FF2B5EF4-FFF2-40B4-BE49-F238E27FC236}">
                <a16:creationId xmlns:a16="http://schemas.microsoft.com/office/drawing/2014/main" id="{14CBFF1E-1AB1-4D4F-A83B-7D860A562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864983">
            <a:off x="4017169" y="780257"/>
            <a:ext cx="901700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15">
            <a:extLst>
              <a:ext uri="{FF2B5EF4-FFF2-40B4-BE49-F238E27FC236}">
                <a16:creationId xmlns:a16="http://schemas.microsoft.com/office/drawing/2014/main" id="{82A76179-225A-40B5-AB21-0E12B52D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7" y="2492375"/>
            <a:ext cx="1296988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16">
            <a:extLst>
              <a:ext uri="{FF2B5EF4-FFF2-40B4-BE49-F238E27FC236}">
                <a16:creationId xmlns:a16="http://schemas.microsoft.com/office/drawing/2014/main" id="{09D1E8F1-9337-4FA0-A0A9-8A48E5851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4" y="2551114"/>
            <a:ext cx="108108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DE9CFEC-2726-489B-B0CF-F34392CA6A0E}"/>
              </a:ext>
            </a:extLst>
          </p:cNvPr>
          <p:cNvSpPr txBox="1">
            <a:spLocks/>
          </p:cNvSpPr>
          <p:nvPr/>
        </p:nvSpPr>
        <p:spPr>
          <a:xfrm>
            <a:off x="3935414" y="3716339"/>
            <a:ext cx="936625" cy="504825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BF2A8CB-4BC9-4088-8E4F-641D199F6AC7}"/>
              </a:ext>
            </a:extLst>
          </p:cNvPr>
          <p:cNvSpPr txBox="1">
            <a:spLocks/>
          </p:cNvSpPr>
          <p:nvPr/>
        </p:nvSpPr>
        <p:spPr>
          <a:xfrm>
            <a:off x="1761326" y="3386182"/>
            <a:ext cx="1944687" cy="865188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Triangle-based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4290FF7-09E4-4915-8DE0-F1FA1B987BFA}"/>
              </a:ext>
            </a:extLst>
          </p:cNvPr>
          <p:cNvSpPr txBox="1">
            <a:spLocks/>
          </p:cNvSpPr>
          <p:nvPr/>
        </p:nvSpPr>
        <p:spPr>
          <a:xfrm>
            <a:off x="8543925" y="1844676"/>
            <a:ext cx="1873250" cy="576263"/>
          </a:xfrm>
          <a:prstGeom prst="rect">
            <a:avLst/>
          </a:prstGeom>
        </p:spPr>
        <p:txBody>
          <a:bodyPr bIns="91440" anchor="b">
            <a:normAutofit fontScale="400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Hexagon-based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F797755-C756-439A-9C3F-0FFE7F73EDD4}"/>
              </a:ext>
            </a:extLst>
          </p:cNvPr>
          <p:cNvSpPr txBox="1">
            <a:spLocks/>
          </p:cNvSpPr>
          <p:nvPr/>
        </p:nvSpPr>
        <p:spPr>
          <a:xfrm>
            <a:off x="3935414" y="1773239"/>
            <a:ext cx="1081087" cy="503237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>
              <a:defRPr/>
            </a:pPr>
            <a:r>
              <a:rPr lang="en-GB" sz="4000" dirty="0" err="1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Cuboid</a:t>
            </a: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21516" name="Picture 2">
            <a:extLst>
              <a:ext uri="{FF2B5EF4-FFF2-40B4-BE49-F238E27FC236}">
                <a16:creationId xmlns:a16="http://schemas.microsoft.com/office/drawing/2014/main" id="{3F6CFD71-513D-4FD1-8B8A-6E4E124E7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836614"/>
            <a:ext cx="12255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E9D19D8E-EA5A-4F23-B5E2-40E0E7693521}"/>
              </a:ext>
            </a:extLst>
          </p:cNvPr>
          <p:cNvSpPr txBox="1">
            <a:spLocks/>
          </p:cNvSpPr>
          <p:nvPr/>
        </p:nvSpPr>
        <p:spPr>
          <a:xfrm>
            <a:off x="5951538" y="1628775"/>
            <a:ext cx="2089150" cy="863600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Pentagon-based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pic>
        <p:nvPicPr>
          <p:cNvPr id="21518" name="Picture 3">
            <a:extLst>
              <a:ext uri="{FF2B5EF4-FFF2-40B4-BE49-F238E27FC236}">
                <a16:creationId xmlns:a16="http://schemas.microsoft.com/office/drawing/2014/main" id="{746E4AEA-3BC8-4BB0-B92C-FE636F53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079500"/>
            <a:ext cx="10795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6E324393-1A88-4F80-9F28-36B959363526}"/>
              </a:ext>
            </a:extLst>
          </p:cNvPr>
          <p:cNvSpPr txBox="1">
            <a:spLocks/>
          </p:cNvSpPr>
          <p:nvPr/>
        </p:nvSpPr>
        <p:spPr>
          <a:xfrm>
            <a:off x="1847851" y="1844676"/>
            <a:ext cx="1152525" cy="504825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Cylinder</a:t>
            </a:r>
          </a:p>
        </p:txBody>
      </p:sp>
      <p:pic>
        <p:nvPicPr>
          <p:cNvPr id="21520" name="Picture 4">
            <a:extLst>
              <a:ext uri="{FF2B5EF4-FFF2-40B4-BE49-F238E27FC236}">
                <a16:creationId xmlns:a16="http://schemas.microsoft.com/office/drawing/2014/main" id="{5247A441-99D7-4178-AD8A-98029F3EF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8509001" y="4881564"/>
            <a:ext cx="6508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1" name="Picture 4">
            <a:extLst>
              <a:ext uri="{FF2B5EF4-FFF2-40B4-BE49-F238E27FC236}">
                <a16:creationId xmlns:a16="http://schemas.microsoft.com/office/drawing/2014/main" id="{C89FD28C-C6CD-4DEC-825D-DB50AAA4D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9208">
            <a:off x="6259459" y="4558552"/>
            <a:ext cx="10287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5B2011E-CC5B-4FAE-8998-07E51EE68798}"/>
              </a:ext>
            </a:extLst>
          </p:cNvPr>
          <p:cNvSpPr txBox="1">
            <a:spLocks/>
          </p:cNvSpPr>
          <p:nvPr/>
        </p:nvSpPr>
        <p:spPr>
          <a:xfrm>
            <a:off x="6285460" y="5949950"/>
            <a:ext cx="935037" cy="647700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Cone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4241B0A-6B01-4BA8-B98F-CE4E06E5FB09}"/>
              </a:ext>
            </a:extLst>
          </p:cNvPr>
          <p:cNvSpPr txBox="1">
            <a:spLocks/>
          </p:cNvSpPr>
          <p:nvPr/>
        </p:nvSpPr>
        <p:spPr>
          <a:xfrm>
            <a:off x="5519738" y="3716339"/>
            <a:ext cx="1873250" cy="649287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Triangle-based Pyramid</a:t>
            </a:r>
          </a:p>
        </p:txBody>
      </p:sp>
      <p:pic>
        <p:nvPicPr>
          <p:cNvPr id="21524" name="Picture 3">
            <a:extLst>
              <a:ext uri="{FF2B5EF4-FFF2-40B4-BE49-F238E27FC236}">
                <a16:creationId xmlns:a16="http://schemas.microsoft.com/office/drawing/2014/main" id="{7B03D2E8-7FB7-4810-859C-F60595ED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5880101" y="2547938"/>
            <a:ext cx="1071563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5" name="Picture 30">
            <a:extLst>
              <a:ext uri="{FF2B5EF4-FFF2-40B4-BE49-F238E27FC236}">
                <a16:creationId xmlns:a16="http://schemas.microsoft.com/office/drawing/2014/main" id="{83FFC017-08D9-4B84-8050-84C3B0465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8458201" y="2706688"/>
            <a:ext cx="1139825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038CB458-E8A5-4B78-92C1-7A6737005C1F}"/>
              </a:ext>
            </a:extLst>
          </p:cNvPr>
          <p:cNvSpPr txBox="1">
            <a:spLocks/>
          </p:cNvSpPr>
          <p:nvPr/>
        </p:nvSpPr>
        <p:spPr>
          <a:xfrm>
            <a:off x="8183564" y="3716339"/>
            <a:ext cx="1800225" cy="649287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Square-based Pyramid</a:t>
            </a:r>
          </a:p>
        </p:txBody>
      </p:sp>
      <p:pic>
        <p:nvPicPr>
          <p:cNvPr id="21527" name="Picture 3">
            <a:extLst>
              <a:ext uri="{FF2B5EF4-FFF2-40B4-BE49-F238E27FC236}">
                <a16:creationId xmlns:a16="http://schemas.microsoft.com/office/drawing/2014/main" id="{8684905A-4A5B-4675-BFE8-A00F57565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4398963" y="5105401"/>
            <a:ext cx="11176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388EE9D-3DD6-4097-9B89-3A61DC78F33F}"/>
              </a:ext>
            </a:extLst>
          </p:cNvPr>
          <p:cNvSpPr txBox="1">
            <a:spLocks/>
          </p:cNvSpPr>
          <p:nvPr/>
        </p:nvSpPr>
        <p:spPr>
          <a:xfrm>
            <a:off x="1919289" y="5732463"/>
            <a:ext cx="1296987" cy="792162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Sphere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55F1C893-738C-4115-843D-917D2B0E155F}"/>
              </a:ext>
            </a:extLst>
          </p:cNvPr>
          <p:cNvSpPr txBox="1">
            <a:spLocks/>
          </p:cNvSpPr>
          <p:nvPr/>
        </p:nvSpPr>
        <p:spPr bwMode="auto">
          <a:xfrm>
            <a:off x="8112126" y="5949950"/>
            <a:ext cx="1584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000">
                <a:solidFill>
                  <a:schemeClr val="tx2"/>
                </a:solidFill>
                <a:latin typeface="Comic Sans MS" panose="030F0702030302020204" pitchFamily="66" charset="0"/>
              </a:rPr>
              <a:t>Ellipsoid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0A70412A-9B05-4924-AFD8-028E3A1CFD10}"/>
              </a:ext>
            </a:extLst>
          </p:cNvPr>
          <p:cNvSpPr txBox="1">
            <a:spLocks/>
          </p:cNvSpPr>
          <p:nvPr/>
        </p:nvSpPr>
        <p:spPr>
          <a:xfrm>
            <a:off x="4008438" y="5876925"/>
            <a:ext cx="1727200" cy="622300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Hemisphere</a:t>
            </a:r>
          </a:p>
        </p:txBody>
      </p:sp>
      <p:pic>
        <p:nvPicPr>
          <p:cNvPr id="21531" name="Picture 16">
            <a:extLst>
              <a:ext uri="{FF2B5EF4-FFF2-40B4-BE49-F238E27FC236}">
                <a16:creationId xmlns:a16="http://schemas.microsoft.com/office/drawing/2014/main" id="{793860E9-1CC5-4CBE-AF7E-9BE5AA34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4941889"/>
            <a:ext cx="1033463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-Shape 1">
            <a:extLst>
              <a:ext uri="{FF2B5EF4-FFF2-40B4-BE49-F238E27FC236}">
                <a16:creationId xmlns:a16="http://schemas.microsoft.com/office/drawing/2014/main" id="{C92036C7-29BF-4E43-B0EC-ADB0D330CCCA}"/>
              </a:ext>
            </a:extLst>
          </p:cNvPr>
          <p:cNvSpPr/>
          <p:nvPr/>
        </p:nvSpPr>
        <p:spPr>
          <a:xfrm flipV="1">
            <a:off x="1631505" y="836613"/>
            <a:ext cx="8785671" cy="3442538"/>
          </a:xfrm>
          <a:prstGeom prst="corner">
            <a:avLst>
              <a:gd name="adj1" fmla="val 45716"/>
              <a:gd name="adj2" fmla="val 1067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67A46-6304-4F7E-8F78-83319C7F14B0}"/>
              </a:ext>
            </a:extLst>
          </p:cNvPr>
          <p:cNvSpPr txBox="1"/>
          <p:nvPr/>
        </p:nvSpPr>
        <p:spPr>
          <a:xfrm>
            <a:off x="5322948" y="781372"/>
            <a:ext cx="96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Prisms</a:t>
            </a:r>
          </a:p>
        </p:txBody>
      </p:sp>
    </p:spTree>
    <p:extLst>
      <p:ext uri="{BB962C8B-B14F-4D97-AF65-F5344CB8AC3E}">
        <p14:creationId xmlns:p14="http://schemas.microsoft.com/office/powerpoint/2010/main" val="229435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79DED-A974-4C15-8285-3E723A11C9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" t="11690" r="5046" b="69964"/>
          <a:stretch/>
        </p:blipFill>
        <p:spPr>
          <a:xfrm>
            <a:off x="1706882" y="1055077"/>
            <a:ext cx="6322967" cy="16724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ECD082-C381-465E-9C66-F93226DD2B06}"/>
              </a:ext>
            </a:extLst>
          </p:cNvPr>
          <p:cNvSpPr txBox="1"/>
          <p:nvPr/>
        </p:nvSpPr>
        <p:spPr>
          <a:xfrm>
            <a:off x="2171114" y="3449150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Prisms . </a:t>
            </a:r>
          </a:p>
          <a:p>
            <a:r>
              <a:rPr lang="en-AU" dirty="0"/>
              <a:t>Prisms are named according to shape on the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58FC4-3FBB-4F86-8F2E-BA2E3B5497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2" t="76440" r="37075" b="9351"/>
          <a:stretch/>
        </p:blipFill>
        <p:spPr>
          <a:xfrm>
            <a:off x="7846970" y="1055078"/>
            <a:ext cx="2187985" cy="1615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EF27F-C125-4ECF-84FF-0B154F48B876}"/>
              </a:ext>
            </a:extLst>
          </p:cNvPr>
          <p:cNvSpPr txBox="1"/>
          <p:nvPr/>
        </p:nvSpPr>
        <p:spPr>
          <a:xfrm>
            <a:off x="7846970" y="2783829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Could also be called a circle based pyramid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46233-EABA-42E0-9C65-89DCAE70F4A1}"/>
              </a:ext>
            </a:extLst>
          </p:cNvPr>
          <p:cNvSpPr txBox="1"/>
          <p:nvPr/>
        </p:nvSpPr>
        <p:spPr>
          <a:xfrm>
            <a:off x="2323514" y="447823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pyramids. </a:t>
            </a:r>
          </a:p>
          <a:p>
            <a:r>
              <a:rPr lang="en-AU" dirty="0"/>
              <a:t>Pyramids are named according to the shape of their 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054BB-79F5-4746-8696-0C85D92CE8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92" t="46043" r="8416" b="39208"/>
          <a:stretch/>
        </p:blipFill>
        <p:spPr>
          <a:xfrm>
            <a:off x="1706881" y="4303138"/>
            <a:ext cx="4135901" cy="14249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96A2F2-E494-4DC3-A44E-BFECC8EF6A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7" t="29676" r="6354" b="54676"/>
          <a:stretch/>
        </p:blipFill>
        <p:spPr>
          <a:xfrm>
            <a:off x="5842782" y="4189814"/>
            <a:ext cx="4385035" cy="1538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B624BD-7AD6-43F6-A976-5A749CD143C6}"/>
              </a:ext>
            </a:extLst>
          </p:cNvPr>
          <p:cNvSpPr txBox="1"/>
          <p:nvPr/>
        </p:nvSpPr>
        <p:spPr>
          <a:xfrm>
            <a:off x="5706336" y="5728115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Could also be called a rectangular prism</a:t>
            </a:r>
          </a:p>
        </p:txBody>
      </p:sp>
    </p:spTree>
    <p:extLst>
      <p:ext uri="{BB962C8B-B14F-4D97-AF65-F5344CB8AC3E}">
        <p14:creationId xmlns:p14="http://schemas.microsoft.com/office/powerpoint/2010/main" val="1323927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3473F2B-6297-48C6-B43A-B6D193F92F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69037" y="1586867"/>
            <a:ext cx="6833638" cy="4340225"/>
          </a:xfrm>
          <a:ln w="936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 </a:t>
            </a:r>
            <a:r>
              <a:rPr lang="en-GB" altLang="en-US" sz="2000" u="sng" dirty="0"/>
              <a:t>face</a:t>
            </a:r>
            <a:r>
              <a:rPr lang="en-GB" altLang="en-US" sz="2000" dirty="0"/>
              <a:t> is the flat surface of a solid figure.</a:t>
            </a:r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An </a:t>
            </a:r>
            <a:r>
              <a:rPr lang="en-GB" altLang="en-US" sz="2000" u="sng" dirty="0"/>
              <a:t>edge</a:t>
            </a:r>
            <a:r>
              <a:rPr lang="en-GB" altLang="en-US" sz="2000" dirty="0"/>
              <a:t> is formed when two faces meet.  </a:t>
            </a:r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 </a:t>
            </a:r>
            <a:r>
              <a:rPr lang="en-GB" altLang="en-US" sz="2000" u="sng" dirty="0"/>
              <a:t>vertex</a:t>
            </a:r>
            <a:r>
              <a:rPr lang="en-GB" altLang="en-US" sz="2000" dirty="0"/>
              <a:t> is a </a:t>
            </a:r>
            <a:r>
              <a:rPr lang="en-GB" altLang="en-US" sz="2000" u="sng" dirty="0"/>
              <a:t>point</a:t>
            </a:r>
            <a:r>
              <a:rPr lang="en-GB" altLang="en-US" sz="2000" dirty="0"/>
              <a:t> where edges meet</a:t>
            </a:r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/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>
              <a:solidFill>
                <a:srgbClr val="FE1F0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US" sz="2400" dirty="0"/>
              <a:t>What are the different terms used to describe solid shapes?</a:t>
            </a:r>
            <a:endParaRPr lang="en-AU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3669038" y="2781355"/>
            <a:ext cx="65122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Prism is a shape with identical ends separated by rectangles or square.  When sliced in the middle the cut edge is identical to the ends.</a:t>
            </a:r>
          </a:p>
          <a:p>
            <a:r>
              <a:rPr lang="en-AU" sz="2000" dirty="0"/>
              <a:t>Prisms are named according to shape on the end</a:t>
            </a:r>
          </a:p>
          <a:p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57E8C-7C49-47B3-9865-EBC6301BF118}"/>
              </a:ext>
            </a:extLst>
          </p:cNvPr>
          <p:cNvSpPr txBox="1"/>
          <p:nvPr/>
        </p:nvSpPr>
        <p:spPr>
          <a:xfrm>
            <a:off x="3669037" y="4303417"/>
            <a:ext cx="6291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Pyramids have one face as a base and all other faces meet at a single vertex</a:t>
            </a:r>
          </a:p>
          <a:p>
            <a:endParaRPr lang="en-AU" dirty="0"/>
          </a:p>
          <a:p>
            <a:r>
              <a:rPr lang="en-AU" dirty="0"/>
              <a:t>Pyramids are named according to the shape of their base</a:t>
            </a:r>
          </a:p>
          <a:p>
            <a:r>
              <a:rPr lang="en-AU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CCF56-A507-4B65-A25B-E08567508A94}"/>
              </a:ext>
            </a:extLst>
          </p:cNvPr>
          <p:cNvSpPr txBox="1"/>
          <p:nvPr/>
        </p:nvSpPr>
        <p:spPr>
          <a:xfrm>
            <a:off x="4002244" y="5671592"/>
            <a:ext cx="5503548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chapter 13 Of MAWA Essentials Units 3 and 4, page 48.</a:t>
            </a:r>
          </a:p>
        </p:txBody>
      </p:sp>
    </p:spTree>
    <p:extLst>
      <p:ext uri="{BB962C8B-B14F-4D97-AF65-F5344CB8AC3E}">
        <p14:creationId xmlns:p14="http://schemas.microsoft.com/office/powerpoint/2010/main" val="3925491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US" sz="2400" dirty="0"/>
              <a:t>What are the different terms used to describe solid shapes?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CCF56-A507-4B65-A25B-E08567508A94}"/>
              </a:ext>
            </a:extLst>
          </p:cNvPr>
          <p:cNvSpPr txBox="1"/>
          <p:nvPr/>
        </p:nvSpPr>
        <p:spPr>
          <a:xfrm>
            <a:off x="3897469" y="2476238"/>
            <a:ext cx="5503548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chapter 13 Of MAWA Essentials Units 3 and 4, page 48.</a:t>
            </a:r>
          </a:p>
        </p:txBody>
      </p:sp>
    </p:spTree>
    <p:extLst>
      <p:ext uri="{BB962C8B-B14F-4D97-AF65-F5344CB8AC3E}">
        <p14:creationId xmlns:p14="http://schemas.microsoft.com/office/powerpoint/2010/main" val="36508893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A17378-5675-47D5-9245-0A8DAA06A3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4" t="7913" r="5047" b="7916"/>
          <a:stretch/>
        </p:blipFill>
        <p:spPr>
          <a:xfrm>
            <a:off x="3416234" y="140677"/>
            <a:ext cx="5359532" cy="65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7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797</Words>
  <Application>Microsoft Office PowerPoint</Application>
  <PresentationFormat>Widescreen</PresentationFormat>
  <Paragraphs>179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Comic Sans MS</vt:lpstr>
      <vt:lpstr>Perpetua</vt:lpstr>
      <vt:lpstr>Wingdings 2</vt:lpstr>
      <vt:lpstr>Office Theme</vt:lpstr>
      <vt:lpstr>Topic: Geometry</vt:lpstr>
      <vt:lpstr>3D shapes Face, edges and vertices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am a Prism</vt:lpstr>
      <vt:lpstr>I am a Prism</vt:lpstr>
      <vt:lpstr>I am a Prism</vt:lpstr>
      <vt:lpstr>I am not a Prism</vt:lpstr>
      <vt:lpstr>I am not a Prism</vt:lpstr>
      <vt:lpstr>PowerPoint Presentation</vt:lpstr>
      <vt:lpstr>PowerPoint Presentation</vt:lpstr>
      <vt:lpstr>Prisms</vt:lpstr>
      <vt:lpstr>I am a Pyramid</vt:lpstr>
      <vt:lpstr>Pyramids</vt:lpstr>
      <vt:lpstr>Other Non-Prisms</vt:lpstr>
      <vt:lpstr>Prisms</vt:lpstr>
      <vt:lpstr>Pyramids &amp; Non-Prisms</vt:lpstr>
      <vt:lpstr>3D Shapes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Geometry</dc:title>
  <dc:creator>Sarah JAMES</dc:creator>
  <cp:lastModifiedBy>Sarah JAMES</cp:lastModifiedBy>
  <cp:revision>1</cp:revision>
  <dcterms:created xsi:type="dcterms:W3CDTF">2021-03-11T15:48:42Z</dcterms:created>
  <dcterms:modified xsi:type="dcterms:W3CDTF">2021-03-16T12:46:45Z</dcterms:modified>
</cp:coreProperties>
</file>
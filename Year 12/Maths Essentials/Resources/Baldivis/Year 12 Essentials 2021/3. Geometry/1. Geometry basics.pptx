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73" r:id="rId3"/>
    <p:sldId id="274" r:id="rId4"/>
    <p:sldId id="275" r:id="rId5"/>
    <p:sldId id="276" r:id="rId6"/>
    <p:sldId id="288" r:id="rId7"/>
    <p:sldId id="280" r:id="rId8"/>
    <p:sldId id="285" r:id="rId9"/>
    <p:sldId id="281" r:id="rId10"/>
    <p:sldId id="268" r:id="rId11"/>
    <p:sldId id="269" r:id="rId12"/>
    <p:sldId id="270" r:id="rId13"/>
    <p:sldId id="283" r:id="rId14"/>
    <p:sldId id="284" r:id="rId15"/>
    <p:sldId id="286" r:id="rId16"/>
    <p:sldId id="2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EFC9E5-4DE5-4408-B5FF-217C6871F094}" type="datetimeFigureOut">
              <a:rPr lang="en-AU" smtClean="0"/>
              <a:t>11/03/2021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6ED64-ABDF-4825-ACAB-A11A5FE629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7941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222250" y="819150"/>
            <a:ext cx="7181850" cy="40401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3788" y="5118725"/>
            <a:ext cx="5390305" cy="484931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756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222250" y="819150"/>
            <a:ext cx="7181850" cy="40401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3788" y="5118725"/>
            <a:ext cx="5390305" cy="484931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6689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B8079AD9-4921-4B2A-A71E-849BFF6D6C6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222250" y="819150"/>
            <a:ext cx="7181850" cy="40401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577323A-EE88-4CE6-A5F2-158F8226E1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3788" y="5118725"/>
            <a:ext cx="5390305" cy="484931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8373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12AE-7A9B-42DB-9127-60431674B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13E676-9A41-4441-A0A4-8F9032E1B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FD484-3500-4C4C-815D-F29627B1D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A3E7D-121D-48DD-B476-983FDF66D666}" type="datetimeFigureOut">
              <a:rPr lang="en-AU" smtClean="0"/>
              <a:t>11/03/2021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F6EA4-18AF-4E04-9768-C848D68E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990B4-6AC1-4C7B-8699-3D0729DCB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D571-18EB-456B-A083-7C80537D8B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70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3676-8EC5-4D09-9E5C-AA040EFCC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0FDAC-1E8F-4C03-825A-8A8236075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D5A22-299C-4590-90A4-D4574FA2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A3E7D-121D-48DD-B476-983FDF66D666}" type="datetimeFigureOut">
              <a:rPr lang="en-AU" smtClean="0"/>
              <a:t>11/03/2021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DF9F8-70B3-4A2C-816E-BD1833692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F64CD-9878-4089-83FA-F7CD2F9C1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D571-18EB-456B-A083-7C80537D8B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693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B19C-6600-4E3E-B956-6B02DD424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8D023-AC21-4A49-8C3B-D9F1F0A6A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DA554-87E8-44CE-88B4-F94157E97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A3E7D-121D-48DD-B476-983FDF66D666}" type="datetimeFigureOut">
              <a:rPr lang="en-AU" smtClean="0"/>
              <a:t>11/03/2021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E2E2F-024C-4627-888C-DBD5264DD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D45BA-F848-4B48-B9AC-20A05DFB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D571-18EB-456B-A083-7C80537D8B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362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6F9E-1C1A-49C0-9DA0-D65301331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4407A-FD73-4ED8-AA94-10AA739C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99778-B8FA-411D-AAC7-AB6636C8F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E5AF4-FF8D-4E07-9CAB-9153B468B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A3E7D-121D-48DD-B476-983FDF66D666}" type="datetimeFigureOut">
              <a:rPr lang="en-AU" smtClean="0"/>
              <a:t>11/03/2021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BD737-EEBE-4714-9CC9-878AA4A37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A1382-2CFD-4C39-B414-F350CA853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D571-18EB-456B-A083-7C80537D8B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4155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2AD4E-BA1E-4113-AD24-C68AC78F2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4247F-6697-4385-B97E-C8412E0C4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A8493-2302-4676-816C-1204C113E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6B077C-ACD0-4DB5-BBB6-60D3E48A7B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FE1DF9-E574-4CE2-82B6-C3A254A88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9DB828-17E3-4CFB-A3B0-9F1199FA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A3E7D-121D-48DD-B476-983FDF66D666}" type="datetimeFigureOut">
              <a:rPr lang="en-AU" smtClean="0"/>
              <a:t>11/03/2021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A1B46F-5561-4D2F-8CCA-44919449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560A42-E817-4072-A756-29E26F954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D571-18EB-456B-A083-7C80537D8B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370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5AC4-963A-4494-8F02-B5C868778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72C766-B2EC-492B-8ECB-E80C015D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A3E7D-121D-48DD-B476-983FDF66D666}" type="datetimeFigureOut">
              <a:rPr lang="en-AU" smtClean="0"/>
              <a:t>11/03/2021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C0453-9627-4645-9B17-C5FE4EE91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2C1F40-D2EB-46FB-9398-4B3B28D34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D571-18EB-456B-A083-7C80537D8B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03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15C11F-A2A1-45CC-AC38-6B481496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A3E7D-121D-48DD-B476-983FDF66D666}" type="datetimeFigureOut">
              <a:rPr lang="en-AU" smtClean="0"/>
              <a:t>11/03/2021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09277-4E5F-4EAB-BBE4-6240610D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5D05D-DE4D-4E9A-9F0C-3D7ABECA9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D571-18EB-456B-A083-7C80537D8B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8483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8EB4-ADEF-4046-8203-A1FE16B01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6F10B-4C76-4548-87C6-CE40A173A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261BE-8EFE-418D-BC86-EB2919BB9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9FD60-D7E6-4266-9E3A-E977B2C74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A3E7D-121D-48DD-B476-983FDF66D666}" type="datetimeFigureOut">
              <a:rPr lang="en-AU" smtClean="0"/>
              <a:t>11/03/2021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F615B-DAF9-4D8D-9CE8-8FEC21E5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12DF6-8E57-459B-AE8E-10D16CDAC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D571-18EB-456B-A083-7C80537D8B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744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964B9-12E5-4EA6-B01A-12FF4813C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70572E-9333-4640-86CC-66564D8C3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21BAA-EBCF-4F69-8444-4944E4CAE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C6CF9-8038-47C9-84BB-15148D0DF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A3E7D-121D-48DD-B476-983FDF66D666}" type="datetimeFigureOut">
              <a:rPr lang="en-AU" smtClean="0"/>
              <a:t>11/03/2021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36869-6B7F-44AA-94AB-E2C870F9F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53D35A-265E-4F4A-8F64-09805B8F1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D571-18EB-456B-A083-7C80537D8B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728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7D9DB-59E0-4AF2-AE9D-64210519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E2014-FCCB-451A-AFE7-5DDB32763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355B5-B719-4F3B-B5DF-B077214B0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A3E7D-121D-48DD-B476-983FDF66D666}" type="datetimeFigureOut">
              <a:rPr lang="en-AU" smtClean="0"/>
              <a:t>11/03/2021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475ED-BE63-4AFB-B0BC-FDA1933E5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DD1FB-5A8A-491A-99E3-0874A0182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D571-18EB-456B-A083-7C80537D8B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6502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F2BE7B-4E47-41F7-B6AB-E0CB1BAE9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4C44B-FBA8-481D-AA58-B16EEE476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DE792-849E-4735-900A-98B8C903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A3E7D-121D-48DD-B476-983FDF66D666}" type="datetimeFigureOut">
              <a:rPr lang="en-AU" smtClean="0"/>
              <a:t>11/03/2021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06A54-6884-4065-B517-69950801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215CF-C433-4555-9E36-54CFB5D60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0D571-18EB-456B-A083-7C80537D8B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0740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6234B0-6BCF-4AFA-BC10-4F5E7A695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CCACF-C590-486F-8FAC-D67BD8358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1B57A-2B38-49C2-9DF4-3EB981928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A3E7D-121D-48DD-B476-983FDF66D666}" type="datetimeFigureOut">
              <a:rPr lang="en-AU" smtClean="0"/>
              <a:t>11/03/2021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26E66-BABD-4F1E-9901-CC2F5520A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DD569-4F2C-4F46-A1B1-D6FDAA909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0D571-18EB-456B-A083-7C80537D8B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007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hyperlink" Target="http://www.google.co.uk/url?sa=i&amp;rct=j&amp;q=&amp;esrc=s&amp;frm=1&amp;source=images&amp;cd=&amp;cad=rja&amp;docid=2KVyenfgKvv2xM&amp;tbnid=h0jEO8FbOL27lM:&amp;ved=0CAUQjRw&amp;url=http://www.emathematics.net/shapes.php?a=&amp;figura=7&amp;ei=5S6LUv2JOufP0QXR0oGIDw&amp;bvm=bv.56643336,d.ZGU&amp;psig=AFQjCNED_1kAAxSfmVYGDuguv_4XH4Tiig&amp;ust=1384939597590468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ABD0-DCEC-488F-B02B-51473D062C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Topic: Geometry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61497A-C12D-4F66-BF3E-38A2E4E330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EQ – How can we describe different objects?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BAB5D8-3C0D-48EA-8CCF-66CFB67BFDD6}"/>
              </a:ext>
            </a:extLst>
          </p:cNvPr>
          <p:cNvSpPr txBox="1"/>
          <p:nvPr/>
        </p:nvSpPr>
        <p:spPr>
          <a:xfrm>
            <a:off x="1419225" y="4238625"/>
            <a:ext cx="9505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We are now starting on the EST content</a:t>
            </a:r>
            <a:endParaRPr lang="en-AU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890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parallel lines?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They are two lines on a surface that never meet. They are always the same distance apart.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423592" y="2852936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423592" y="3645024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http://t0.gstatic.com/images?q=tbn:ANd9GcTJJHJgP5TxJmX7OOxgqE0M31SRtuXJ9TGZIouMzv647fS4-zMa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56240" y="2132856"/>
            <a:ext cx="2171700" cy="2105026"/>
          </a:xfrm>
          <a:prstGeom prst="rect">
            <a:avLst/>
          </a:prstGeom>
          <a:noFill/>
        </p:spPr>
      </p:pic>
      <p:pic>
        <p:nvPicPr>
          <p:cNvPr id="7172" name="Picture 4" descr="http://t0.gstatic.com/images?q=tbn:ANd9GcRfN4AFXRCzzWRiw9iFeGReJSojK4wvrtElgwe6VvomavwlYre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400256" y="4581128"/>
            <a:ext cx="1728192" cy="1728192"/>
          </a:xfrm>
          <a:prstGeom prst="rect">
            <a:avLst/>
          </a:prstGeom>
          <a:noFill/>
        </p:spPr>
      </p:pic>
      <p:cxnSp>
        <p:nvCxnSpPr>
          <p:cNvPr id="9" name="Straight Connector 8"/>
          <p:cNvCxnSpPr/>
          <p:nvPr/>
        </p:nvCxnSpPr>
        <p:spPr>
          <a:xfrm flipV="1">
            <a:off x="2351584" y="5517232"/>
            <a:ext cx="5616624" cy="216024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351584" y="5013176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280A1737-62C0-44FC-80F4-59DFF2E18B37}"/>
              </a:ext>
            </a:extLst>
          </p:cNvPr>
          <p:cNvSpPr/>
          <p:nvPr/>
        </p:nvSpPr>
        <p:spPr>
          <a:xfrm>
            <a:off x="8256240" y="471135"/>
            <a:ext cx="3495040" cy="1391176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77411-FBA1-43A5-872D-07826C64E5AA}"/>
              </a:ext>
            </a:extLst>
          </p:cNvPr>
          <p:cNvSpPr txBox="1"/>
          <p:nvPr/>
        </p:nvSpPr>
        <p:spPr>
          <a:xfrm>
            <a:off x="8696960" y="1097280"/>
            <a:ext cx="244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ENGAGE DON’T WRITE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36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Perpendicular Line?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when a line is at exactly 90 degrees to another line.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711624" y="4221088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4943872" y="2420888"/>
            <a:ext cx="0" cy="1728192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015880" y="3501008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519936" y="3501008"/>
            <a:ext cx="0" cy="639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http://t0.gstatic.com/images?q=tbn:ANd9GcTJJHJgP5TxJmX7OOxgqE0M31SRtuXJ9TGZIouMzv647fS4-zMa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472264" y="2420888"/>
            <a:ext cx="1428812" cy="1384946"/>
          </a:xfrm>
          <a:prstGeom prst="rect">
            <a:avLst/>
          </a:prstGeom>
          <a:noFill/>
        </p:spPr>
      </p:pic>
      <p:cxnSp>
        <p:nvCxnSpPr>
          <p:cNvPr id="16" name="Straight Connector 15"/>
          <p:cNvCxnSpPr/>
          <p:nvPr/>
        </p:nvCxnSpPr>
        <p:spPr>
          <a:xfrm>
            <a:off x="2711624" y="6309320"/>
            <a:ext cx="5616624" cy="0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 flipV="1">
            <a:off x="4439816" y="4509120"/>
            <a:ext cx="504056" cy="1728192"/>
          </a:xfrm>
          <a:prstGeom prst="line">
            <a:avLst/>
          </a:prstGeom>
          <a:ln w="984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4" descr="http://t0.gstatic.com/images?q=tbn:ANd9GcRfN4AFXRCzzWRiw9iFeGReJSojK4wvrtElgwe6VvomavwlYre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400256" y="4869160"/>
            <a:ext cx="1368152" cy="1368152"/>
          </a:xfrm>
          <a:prstGeom prst="rect">
            <a:avLst/>
          </a:prstGeom>
          <a:noFill/>
        </p:spPr>
      </p:pic>
      <p:cxnSp>
        <p:nvCxnSpPr>
          <p:cNvPr id="26" name="Straight Arrow Connector 25"/>
          <p:cNvCxnSpPr/>
          <p:nvPr/>
        </p:nvCxnSpPr>
        <p:spPr>
          <a:xfrm flipH="1">
            <a:off x="5663952" y="3068960"/>
            <a:ext cx="648072" cy="360040"/>
          </a:xfrm>
          <a:prstGeom prst="straightConnector1">
            <a:avLst/>
          </a:prstGeom>
          <a:ln w="730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12024" y="285293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 degrees!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58FAF8-5E4A-4167-B248-2FEF612E3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208" y="365125"/>
            <a:ext cx="382905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6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Task: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7467600" cy="1324744"/>
          </a:xfrm>
        </p:spPr>
        <p:txBody>
          <a:bodyPr/>
          <a:lstStyle/>
          <a:p>
            <a:r>
              <a:rPr lang="en-US" dirty="0"/>
              <a:t>Which of these shapes are parallel, perpendicular or neither? </a:t>
            </a:r>
          </a:p>
        </p:txBody>
      </p:sp>
      <p:pic>
        <p:nvPicPr>
          <p:cNvPr id="20505" name="Picture 2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964" t="38016" r="23353" b="20641"/>
          <a:stretch>
            <a:fillRect/>
          </a:stretch>
        </p:blipFill>
        <p:spPr bwMode="auto">
          <a:xfrm>
            <a:off x="1919536" y="3257600"/>
            <a:ext cx="8315210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AA19AF-E4B6-4038-9161-380F2BED1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355" y="586506"/>
            <a:ext cx="382905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3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467600" cy="994122"/>
          </a:xfrm>
        </p:spPr>
        <p:txBody>
          <a:bodyPr>
            <a:noAutofit/>
          </a:bodyPr>
          <a:lstStyle/>
          <a:p>
            <a:r>
              <a:rPr lang="en-US" sz="2800" dirty="0"/>
              <a:t>How many parallel or perpendicular lines are in each shape?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C40D0-6171-4B40-8EA4-CF36DFD4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155" y="1268760"/>
            <a:ext cx="7598672" cy="541687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B0D34CC-A6CD-4F37-961C-7654E6AF1A7B}"/>
              </a:ext>
            </a:extLst>
          </p:cNvPr>
          <p:cNvSpPr/>
          <p:nvPr/>
        </p:nvSpPr>
        <p:spPr>
          <a:xfrm>
            <a:off x="9265920" y="274638"/>
            <a:ext cx="2235200" cy="83280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D791C-09F8-45ED-A161-DC4FB4E37FDC}"/>
              </a:ext>
            </a:extLst>
          </p:cNvPr>
          <p:cNvSpPr txBox="1"/>
          <p:nvPr/>
        </p:nvSpPr>
        <p:spPr>
          <a:xfrm>
            <a:off x="9824720" y="373251"/>
            <a:ext cx="1442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your turn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59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467600" cy="994122"/>
          </a:xfrm>
        </p:spPr>
        <p:txBody>
          <a:bodyPr>
            <a:noAutofit/>
          </a:bodyPr>
          <a:lstStyle/>
          <a:p>
            <a:r>
              <a:rPr lang="en-US" sz="2800" dirty="0"/>
              <a:t>How many parallel or perpendicular lines are in each shape?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C40D0-6171-4B40-8EA4-CF36DFD4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155" y="1268760"/>
            <a:ext cx="7598672" cy="541687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B0D34CC-A6CD-4F37-961C-7654E6AF1A7B}"/>
              </a:ext>
            </a:extLst>
          </p:cNvPr>
          <p:cNvSpPr/>
          <p:nvPr/>
        </p:nvSpPr>
        <p:spPr>
          <a:xfrm>
            <a:off x="9265920" y="274638"/>
            <a:ext cx="2235200" cy="83280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D791C-09F8-45ED-A161-DC4FB4E37FDC}"/>
              </a:ext>
            </a:extLst>
          </p:cNvPr>
          <p:cNvSpPr txBox="1"/>
          <p:nvPr/>
        </p:nvSpPr>
        <p:spPr>
          <a:xfrm>
            <a:off x="9824720" y="373251"/>
            <a:ext cx="1442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your turn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51329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2E34A-8984-4D89-A8FA-599666613633}"/>
              </a:ext>
            </a:extLst>
          </p:cNvPr>
          <p:cNvCxnSpPr>
            <a:cxnSpLocks/>
          </p:cNvCxnSpPr>
          <p:nvPr/>
        </p:nvCxnSpPr>
        <p:spPr>
          <a:xfrm>
            <a:off x="152400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5AD94-AEC9-4A5C-9E63-98ED0EF6C1AF}"/>
              </a:ext>
            </a:extLst>
          </p:cNvPr>
          <p:cNvCxnSpPr>
            <a:cxnSpLocks/>
          </p:cNvCxnSpPr>
          <p:nvPr/>
        </p:nvCxnSpPr>
        <p:spPr>
          <a:xfrm>
            <a:off x="152400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CCE4F-4614-4D18-A646-A3F34A949339}"/>
              </a:ext>
            </a:extLst>
          </p:cNvPr>
          <p:cNvCxnSpPr>
            <a:cxnSpLocks/>
          </p:cNvCxnSpPr>
          <p:nvPr/>
        </p:nvCxnSpPr>
        <p:spPr>
          <a:xfrm>
            <a:off x="3503712" y="1437624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F673EC-D98F-4FC2-8F0D-ABC5AB5EE460}"/>
              </a:ext>
            </a:extLst>
          </p:cNvPr>
          <p:cNvSpPr txBox="1"/>
          <p:nvPr/>
        </p:nvSpPr>
        <p:spPr>
          <a:xfrm>
            <a:off x="2639616" y="303498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Geometry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4339A-1094-4DD6-AFF9-DE18A5F863A1}"/>
              </a:ext>
            </a:extLst>
          </p:cNvPr>
          <p:cNvSpPr txBox="1"/>
          <p:nvPr/>
        </p:nvSpPr>
        <p:spPr>
          <a:xfrm>
            <a:off x="1785789" y="826719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describe different objects?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8CA9A4-9B23-427D-99CA-AC8279856B8B}"/>
              </a:ext>
            </a:extLst>
          </p:cNvPr>
          <p:cNvSpPr/>
          <p:nvPr/>
        </p:nvSpPr>
        <p:spPr>
          <a:xfrm>
            <a:off x="3695272" y="3429000"/>
            <a:ext cx="651226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Another word for a shape is a POLYGON. They are named according to how many sides they have.</a:t>
            </a:r>
          </a:p>
          <a:p>
            <a:endParaRPr lang="en-AU" sz="2000" dirty="0"/>
          </a:p>
          <a:p>
            <a:r>
              <a:rPr lang="en-AU" sz="2000" dirty="0"/>
              <a:t>They can be Convex if all interior angles are less than 180</a:t>
            </a:r>
            <a:r>
              <a:rPr lang="en-AU" sz="2000" baseline="30000" dirty="0"/>
              <a:t>o</a:t>
            </a:r>
            <a:r>
              <a:rPr lang="en-AU" sz="2000" dirty="0"/>
              <a:t> or concave if 1 or more interior angles are greater than 180</a:t>
            </a:r>
            <a:r>
              <a:rPr lang="en-AU" sz="2000" baseline="30000" dirty="0"/>
              <a:t>o.</a:t>
            </a:r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Polygons can also  be  “regular” and “irregular”</a:t>
            </a:r>
            <a:br>
              <a:rPr lang="en-AU" sz="2000" dirty="0"/>
            </a:br>
            <a:r>
              <a:rPr lang="en-GB" sz="2000" dirty="0"/>
              <a:t>Regular polygons all have equal sides and angles. Irregular polygons have sides with different sizes and angles.</a:t>
            </a:r>
          </a:p>
          <a:p>
            <a:r>
              <a:rPr lang="en-GB" sz="2000" dirty="0"/>
              <a:t>.</a:t>
            </a:r>
            <a:endParaRPr lang="en-AU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0985F9-54CA-4A0E-A115-66CC141E3B78}"/>
              </a:ext>
            </a:extLst>
          </p:cNvPr>
          <p:cNvSpPr/>
          <p:nvPr/>
        </p:nvSpPr>
        <p:spPr>
          <a:xfrm>
            <a:off x="3605068" y="1586867"/>
            <a:ext cx="66926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Parallel lines are two lines on a surface that never meet. They are always the same distance apart.</a:t>
            </a:r>
          </a:p>
          <a:p>
            <a:endParaRPr lang="en-US" sz="2000" dirty="0"/>
          </a:p>
          <a:p>
            <a:r>
              <a:rPr lang="en-US" sz="2000" dirty="0"/>
              <a:t>Perpendicular lines meet at right angles (90</a:t>
            </a:r>
            <a:r>
              <a:rPr lang="en-US" sz="2000" baseline="30000" dirty="0"/>
              <a:t>o</a:t>
            </a:r>
            <a:r>
              <a:rPr lang="en-US" sz="2000" dirty="0"/>
              <a:t>)</a:t>
            </a:r>
            <a:endParaRPr lang="en-AU" sz="20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EC15FA4-39B6-4DC6-8422-1BE912179773}"/>
              </a:ext>
            </a:extLst>
          </p:cNvPr>
          <p:cNvSpPr/>
          <p:nvPr/>
        </p:nvSpPr>
        <p:spPr>
          <a:xfrm>
            <a:off x="9662160" y="303498"/>
            <a:ext cx="2121456" cy="107605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D8CFC9-0AB2-4E08-9768-CEAEBF0AB177}"/>
              </a:ext>
            </a:extLst>
          </p:cNvPr>
          <p:cNvSpPr txBox="1"/>
          <p:nvPr/>
        </p:nvSpPr>
        <p:spPr>
          <a:xfrm>
            <a:off x="10207537" y="558800"/>
            <a:ext cx="1395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these notes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549135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E630-3B28-4504-BFD2-E35663829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70DBD0-8A54-400C-8181-663A8E891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68" y="261682"/>
            <a:ext cx="8466199" cy="5667170"/>
          </a:xfrm>
        </p:spPr>
      </p:pic>
    </p:spTree>
    <p:extLst>
      <p:ext uri="{BB962C8B-B14F-4D97-AF65-F5344CB8AC3E}">
        <p14:creationId xmlns:p14="http://schemas.microsoft.com/office/powerpoint/2010/main" val="2257177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EE1E06-5880-4EEE-8FC2-DAA596FD2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819" y="2432210"/>
            <a:ext cx="5237832" cy="418578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8ECC13-53F4-459B-AC3E-2FC09BD8A823}"/>
              </a:ext>
            </a:extLst>
          </p:cNvPr>
          <p:cNvSpPr txBox="1"/>
          <p:nvPr/>
        </p:nvSpPr>
        <p:spPr>
          <a:xfrm>
            <a:off x="2069691" y="265471"/>
            <a:ext cx="8126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Polygons can be described as convex or concave. </a:t>
            </a:r>
          </a:p>
          <a:p>
            <a:endParaRPr lang="en-AU" dirty="0"/>
          </a:p>
          <a:p>
            <a:r>
              <a:rPr lang="en-AU" dirty="0"/>
              <a:t>Concave shapes only have interior angles less than 180</a:t>
            </a:r>
            <a:r>
              <a:rPr lang="en-AU" baseline="30000" dirty="0"/>
              <a:t>o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Convex shapes have at least 1 angle greater than 180</a:t>
            </a:r>
            <a:r>
              <a:rPr lang="en-AU" baseline="30000" dirty="0"/>
              <a:t>o</a:t>
            </a:r>
            <a:r>
              <a:rPr lang="en-AU" dirty="0"/>
              <a:t>.  This results in a “caved in” appearance on that side.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5DD1A4-45A8-427C-BFF5-55FDAABD3248}"/>
              </a:ext>
            </a:extLst>
          </p:cNvPr>
          <p:cNvSpPr txBox="1"/>
          <p:nvPr/>
        </p:nvSpPr>
        <p:spPr>
          <a:xfrm>
            <a:off x="8765457" y="2432209"/>
            <a:ext cx="1666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“Caved in”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8DBF35-CF63-49B1-ADF5-962F0C42C8A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7423355" y="2616876"/>
            <a:ext cx="1342102" cy="347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2EF6F8-D5C4-4DAD-AC02-CF34405B0E23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7556091" y="2616875"/>
            <a:ext cx="1209367" cy="1542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FDB539-D28D-4A27-810E-8840E259E6CA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7423355" y="2616875"/>
            <a:ext cx="1342102" cy="2840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0198B5-BB30-4FDA-A7F2-FA628B964A36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818673" y="2616875"/>
            <a:ext cx="1946784" cy="314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D92992-CB5D-4A21-8CB0-7CB51C69412A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7556091" y="2616875"/>
            <a:ext cx="1209367" cy="2161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2286B7A-13EC-4422-9AFE-4683A6966363}"/>
              </a:ext>
            </a:extLst>
          </p:cNvPr>
          <p:cNvSpPr txBox="1"/>
          <p:nvPr/>
        </p:nvSpPr>
        <p:spPr>
          <a:xfrm>
            <a:off x="3351722" y="2128552"/>
            <a:ext cx="278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Convex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8589C9-85F8-4E4E-A97C-CC67EBF17AF0}"/>
              </a:ext>
            </a:extLst>
          </p:cNvPr>
          <p:cNvSpPr txBox="1"/>
          <p:nvPr/>
        </p:nvSpPr>
        <p:spPr>
          <a:xfrm>
            <a:off x="7023077" y="2100059"/>
            <a:ext cx="278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Concave</a:t>
            </a:r>
          </a:p>
        </p:txBody>
      </p:sp>
    </p:spTree>
    <p:extLst>
      <p:ext uri="{BB962C8B-B14F-4D97-AF65-F5344CB8AC3E}">
        <p14:creationId xmlns:p14="http://schemas.microsoft.com/office/powerpoint/2010/main" val="258364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Regular polygons:</a:t>
            </a:r>
          </a:p>
        </p:txBody>
      </p:sp>
      <p:pic>
        <p:nvPicPr>
          <p:cNvPr id="1026" name="Picture 2" descr="http://www.emathematics.net/poligonosregulares.gif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1340766"/>
            <a:ext cx="7200800" cy="402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75520" y="536355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Regular polygons all have equal sides. </a:t>
            </a:r>
          </a:p>
          <a:p>
            <a:r>
              <a:rPr lang="en-GB" sz="2000" dirty="0"/>
              <a:t>They have the same sized angles.</a:t>
            </a:r>
          </a:p>
        </p:txBody>
      </p:sp>
    </p:spTree>
    <p:extLst>
      <p:ext uri="{BB962C8B-B14F-4D97-AF65-F5344CB8AC3E}">
        <p14:creationId xmlns:p14="http://schemas.microsoft.com/office/powerpoint/2010/main" val="3943414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Irregular polygons: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5520" y="5363559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Irregular polygons have sides of different sizes. </a:t>
            </a:r>
          </a:p>
          <a:p>
            <a:r>
              <a:rPr lang="en-GB" sz="2000" dirty="0"/>
              <a:t>They have angles of different sizes.</a:t>
            </a:r>
          </a:p>
          <a:p>
            <a:endParaRPr lang="en-GB" sz="2000" dirty="0"/>
          </a:p>
        </p:txBody>
      </p:sp>
      <p:pic>
        <p:nvPicPr>
          <p:cNvPr id="2050" name="Picture 2" descr="http://image.mathcaptain.com/cms/images/41/regular-and-irregular-polygo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458" y="1360488"/>
            <a:ext cx="8259084" cy="358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172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http://www.valleytech.k12.ma.us/shapes/BLANK_clip_image002_000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7" y="2564905"/>
            <a:ext cx="6596973" cy="295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0556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C8CC0D-8365-4C47-AB0A-06C12D7B4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926408"/>
            <a:ext cx="8878926" cy="5194172"/>
          </a:xfrm>
        </p:spPr>
      </p:pic>
    </p:spTree>
    <p:extLst>
      <p:ext uri="{BB962C8B-B14F-4D97-AF65-F5344CB8AC3E}">
        <p14:creationId xmlns:p14="http://schemas.microsoft.com/office/powerpoint/2010/main" val="1637013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B26127D-E9C6-4926-8980-85408B917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74638"/>
            <a:ext cx="7981444" cy="6385156"/>
          </a:xfr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9B59510-DC03-4966-8018-C4314BF7DD49}"/>
              </a:ext>
            </a:extLst>
          </p:cNvPr>
          <p:cNvSpPr/>
          <p:nvPr/>
        </p:nvSpPr>
        <p:spPr>
          <a:xfrm>
            <a:off x="223520" y="274638"/>
            <a:ext cx="1757680" cy="9140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04603D-3CCA-4702-AEDE-254824707077}"/>
              </a:ext>
            </a:extLst>
          </p:cNvPr>
          <p:cNvSpPr txBox="1"/>
          <p:nvPr/>
        </p:nvSpPr>
        <p:spPr>
          <a:xfrm>
            <a:off x="640080" y="497840"/>
            <a:ext cx="99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Glue in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68564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2E34A-8984-4D89-A8FA-599666613633}"/>
              </a:ext>
            </a:extLst>
          </p:cNvPr>
          <p:cNvCxnSpPr>
            <a:cxnSpLocks/>
          </p:cNvCxnSpPr>
          <p:nvPr/>
        </p:nvCxnSpPr>
        <p:spPr>
          <a:xfrm>
            <a:off x="152400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5AD94-AEC9-4A5C-9E63-98ED0EF6C1AF}"/>
              </a:ext>
            </a:extLst>
          </p:cNvPr>
          <p:cNvCxnSpPr>
            <a:cxnSpLocks/>
          </p:cNvCxnSpPr>
          <p:nvPr/>
        </p:nvCxnSpPr>
        <p:spPr>
          <a:xfrm>
            <a:off x="152400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CCE4F-4614-4D18-A646-A3F34A949339}"/>
              </a:ext>
            </a:extLst>
          </p:cNvPr>
          <p:cNvCxnSpPr>
            <a:cxnSpLocks/>
          </p:cNvCxnSpPr>
          <p:nvPr/>
        </p:nvCxnSpPr>
        <p:spPr>
          <a:xfrm>
            <a:off x="3503712" y="1437624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F673EC-D98F-4FC2-8F0D-ABC5AB5EE460}"/>
              </a:ext>
            </a:extLst>
          </p:cNvPr>
          <p:cNvSpPr txBox="1"/>
          <p:nvPr/>
        </p:nvSpPr>
        <p:spPr>
          <a:xfrm>
            <a:off x="2639616" y="303498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Geometry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4339A-1094-4DD6-AFF9-DE18A5F863A1}"/>
              </a:ext>
            </a:extLst>
          </p:cNvPr>
          <p:cNvSpPr txBox="1"/>
          <p:nvPr/>
        </p:nvSpPr>
        <p:spPr>
          <a:xfrm>
            <a:off x="1785789" y="826719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describe different objects?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8CA9A4-9B23-427D-99CA-AC8279856B8B}"/>
              </a:ext>
            </a:extLst>
          </p:cNvPr>
          <p:cNvSpPr/>
          <p:nvPr/>
        </p:nvSpPr>
        <p:spPr>
          <a:xfrm>
            <a:off x="3605068" y="2786035"/>
            <a:ext cx="651226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Another word for a shape is a POLYGON. They are named according to how many sides they have.</a:t>
            </a:r>
          </a:p>
          <a:p>
            <a:endParaRPr lang="en-AU" sz="2000" dirty="0"/>
          </a:p>
          <a:p>
            <a:r>
              <a:rPr lang="en-AU" sz="2000" dirty="0"/>
              <a:t>They can be Convex if all interior angles are less than 180</a:t>
            </a:r>
            <a:r>
              <a:rPr lang="en-AU" sz="2000" baseline="30000" dirty="0"/>
              <a:t>o</a:t>
            </a:r>
            <a:r>
              <a:rPr lang="en-AU" sz="2000" dirty="0"/>
              <a:t> or concave if 1 or more interior angles are greater than 180</a:t>
            </a:r>
            <a:r>
              <a:rPr lang="en-AU" sz="2000" baseline="30000" dirty="0"/>
              <a:t>o.</a:t>
            </a:r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Polygons can also  be  “regular” and “irregular”</a:t>
            </a:r>
            <a:br>
              <a:rPr lang="en-AU" sz="2000" dirty="0"/>
            </a:br>
            <a:r>
              <a:rPr lang="en-GB" sz="2000" dirty="0"/>
              <a:t>Regular polygons all have equal sides and angles. Irregular polygons have sides with different sizes and angles.</a:t>
            </a:r>
          </a:p>
          <a:p>
            <a:r>
              <a:rPr lang="en-GB" sz="2000" dirty="0"/>
              <a:t>.</a:t>
            </a:r>
            <a:endParaRPr lang="en-AU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0985F9-54CA-4A0E-A115-66CC141E3B78}"/>
              </a:ext>
            </a:extLst>
          </p:cNvPr>
          <p:cNvSpPr/>
          <p:nvPr/>
        </p:nvSpPr>
        <p:spPr>
          <a:xfrm>
            <a:off x="3605068" y="1586867"/>
            <a:ext cx="66926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Parallel lines are two lines on a surface that never meet. They are always the same distance apart.</a:t>
            </a:r>
          </a:p>
          <a:p>
            <a:r>
              <a:rPr lang="en-US" sz="2000" dirty="0"/>
              <a:t>Perpendicular lines meet at right angles (90</a:t>
            </a:r>
            <a:r>
              <a:rPr lang="en-US" sz="2000" baseline="30000" dirty="0"/>
              <a:t>o</a:t>
            </a:r>
            <a:r>
              <a:rPr lang="en-US" sz="2000" dirty="0"/>
              <a:t>)</a:t>
            </a:r>
            <a:endParaRPr lang="en-AU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490C88-FB81-47BB-93CE-FBB3F442A2B5}"/>
              </a:ext>
            </a:extLst>
          </p:cNvPr>
          <p:cNvSpPr txBox="1"/>
          <p:nvPr/>
        </p:nvSpPr>
        <p:spPr>
          <a:xfrm>
            <a:off x="5609303" y="5973098"/>
            <a:ext cx="38198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Complete chapter 12 of MAWA Essentials book 3 and 4.  Page 41</a:t>
            </a:r>
          </a:p>
        </p:txBody>
      </p:sp>
    </p:spTree>
    <p:extLst>
      <p:ext uri="{BB962C8B-B14F-4D97-AF65-F5344CB8AC3E}">
        <p14:creationId xmlns:p14="http://schemas.microsoft.com/office/powerpoint/2010/main" val="4757459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A2E34A-8984-4D89-A8FA-599666613633}"/>
              </a:ext>
            </a:extLst>
          </p:cNvPr>
          <p:cNvCxnSpPr>
            <a:cxnSpLocks/>
          </p:cNvCxnSpPr>
          <p:nvPr/>
        </p:nvCxnSpPr>
        <p:spPr>
          <a:xfrm>
            <a:off x="152400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5AD94-AEC9-4A5C-9E63-98ED0EF6C1AF}"/>
              </a:ext>
            </a:extLst>
          </p:cNvPr>
          <p:cNvCxnSpPr>
            <a:cxnSpLocks/>
          </p:cNvCxnSpPr>
          <p:nvPr/>
        </p:nvCxnSpPr>
        <p:spPr>
          <a:xfrm>
            <a:off x="152400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CCE4F-4614-4D18-A646-A3F34A949339}"/>
              </a:ext>
            </a:extLst>
          </p:cNvPr>
          <p:cNvCxnSpPr>
            <a:cxnSpLocks/>
          </p:cNvCxnSpPr>
          <p:nvPr/>
        </p:nvCxnSpPr>
        <p:spPr>
          <a:xfrm>
            <a:off x="3503712" y="1437624"/>
            <a:ext cx="0" cy="5420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F673EC-D98F-4FC2-8F0D-ABC5AB5EE460}"/>
              </a:ext>
            </a:extLst>
          </p:cNvPr>
          <p:cNvSpPr txBox="1"/>
          <p:nvPr/>
        </p:nvSpPr>
        <p:spPr>
          <a:xfrm>
            <a:off x="2639616" y="303498"/>
            <a:ext cx="4311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Geometry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4339A-1094-4DD6-AFF9-DE18A5F863A1}"/>
              </a:ext>
            </a:extLst>
          </p:cNvPr>
          <p:cNvSpPr txBox="1"/>
          <p:nvPr/>
        </p:nvSpPr>
        <p:spPr>
          <a:xfrm>
            <a:off x="1785789" y="826719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describe different objects?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490C88-FB81-47BB-93CE-FBB3F442A2B5}"/>
              </a:ext>
            </a:extLst>
          </p:cNvPr>
          <p:cNvSpPr txBox="1"/>
          <p:nvPr/>
        </p:nvSpPr>
        <p:spPr>
          <a:xfrm>
            <a:off x="4085303" y="1816536"/>
            <a:ext cx="38198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Complete chapter 12 of MAWA Essentials book 3 and 4.  Page 41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BEF5E-4075-480E-8B6C-9615B79667E1}"/>
              </a:ext>
            </a:extLst>
          </p:cNvPr>
          <p:cNvSpPr txBox="1"/>
          <p:nvPr/>
        </p:nvSpPr>
        <p:spPr>
          <a:xfrm>
            <a:off x="4085302" y="2890574"/>
            <a:ext cx="460298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Practice is important here as this topic is the first of the topics covered in the EST</a:t>
            </a:r>
          </a:p>
        </p:txBody>
      </p:sp>
    </p:spTree>
    <p:extLst>
      <p:ext uri="{BB962C8B-B14F-4D97-AF65-F5344CB8AC3E}">
        <p14:creationId xmlns:p14="http://schemas.microsoft.com/office/powerpoint/2010/main" val="18119322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486</Words>
  <Application>Microsoft Office PowerPoint</Application>
  <PresentationFormat>Widescreen</PresentationFormat>
  <Paragraphs>57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Topic: Geometry</vt:lpstr>
      <vt:lpstr>What are parallel lines? </vt:lpstr>
      <vt:lpstr>What is a Perpendicular Line? </vt:lpstr>
      <vt:lpstr>Quick Task: </vt:lpstr>
      <vt:lpstr>How many parallel or perpendicular lines are in each shape?</vt:lpstr>
      <vt:lpstr>How many parallel or perpendicular lines are in each shape?</vt:lpstr>
      <vt:lpstr>PowerPoint Presentation</vt:lpstr>
      <vt:lpstr>PowerPoint Presentation</vt:lpstr>
      <vt:lpstr>PowerPoint Presentation</vt:lpstr>
      <vt:lpstr>Regular polygons:</vt:lpstr>
      <vt:lpstr>Irregular polygons: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Geometry</dc:title>
  <dc:creator>Sarah JAMES</dc:creator>
  <cp:lastModifiedBy>Sarah JAMES</cp:lastModifiedBy>
  <cp:revision>3</cp:revision>
  <dcterms:created xsi:type="dcterms:W3CDTF">2021-03-11T15:42:42Z</dcterms:created>
  <dcterms:modified xsi:type="dcterms:W3CDTF">2021-03-11T15:51:16Z</dcterms:modified>
</cp:coreProperties>
</file>
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61" r:id="rId3"/>
    <p:sldId id="262" r:id="rId4"/>
    <p:sldId id="266" r:id="rId5"/>
    <p:sldId id="271" r:id="rId6"/>
    <p:sldId id="270" r:id="rId7"/>
    <p:sldId id="272" r:id="rId8"/>
    <p:sldId id="267" r:id="rId9"/>
    <p:sldId id="263" r:id="rId10"/>
    <p:sldId id="264" r:id="rId11"/>
    <p:sldId id="268" r:id="rId12"/>
    <p:sldId id="269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C2394-A24E-47DC-AB78-1169DB7932BF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E4A62-51A6-4AB5-A428-C2929349AA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7969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0385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538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51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85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3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973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008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023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000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214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7826-78F7-4686-841E-64CFD49F3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EC8645-DC16-4180-B9FE-813220C52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9F3A-D2EB-4316-B927-C4439B0CD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70BB6-DD19-43A0-912C-C931F0B5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11F6C-022D-4411-8E30-E73ED0CD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236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CBFE-31A5-4C34-9F53-10F66CD4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8E18-CE1A-4754-91E3-4EB0D5C91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5A02E-BA30-4C50-88DD-F965067DF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746C-2E51-484E-AF08-BE7F3ECE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061E0-5C57-4109-81F9-FCD4152F0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6133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54726-02A5-476A-A71B-BCAFB2DDD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05A1D-0585-4B07-B50C-BB7E5CA6A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C075C-1239-4129-B833-303D228F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63E34-073D-401B-AA6E-6B21A00B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B5E63-88DD-4C31-AEAF-867347DBF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4292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992-4CBB-45A6-8A54-B0B96862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00F8A-46EB-4A71-850A-729D496B8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20BFD-E803-48DF-9E62-BEEC89934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44E8B-1226-4930-A82C-35B368E3B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73507-8B94-4338-A769-A83F1062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4D595-F62D-438C-88A9-8B2E7388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02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5DAB7-4DB8-4193-894E-04E4F74BA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0D254-435B-4276-9900-E372A99DE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0745B-8EE1-4450-B08C-B8F3F65F1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9F8F2D-34BF-4B2C-A005-9A6C21D94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FB6BC-34A4-4170-AA8E-7792ACC02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790C4D-A1F9-4985-99BC-80B440C3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08C123-9922-46AA-A2CF-3265FE18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88F98-DC11-4C2E-B698-CDD8C919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550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9DF6-9CED-4151-B548-F707D478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5AC8C9-93A9-4F41-B733-A5FAA16C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83061-7931-4E84-81AC-1F7C172FC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71A9A-5C4D-407B-B414-386D7B17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85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85BBE7-1F72-4EF0-8C6C-E77FD069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37DAE-E215-49F2-8EB1-F10413D5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C73DB-13B4-40EA-B918-53B76417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1944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1B78B-06CC-46D9-A192-38D73898F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27096-D631-44C8-A240-3504DAC6B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C83A9-937E-4122-88C7-537A554F5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EC9D3-14BE-4386-BC4A-A98E0FBA2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824B9-2A88-4921-8FE6-C56214B2F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CBC51-C314-4126-BE67-07C1FEDD2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016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FF1C-9BB9-4A70-AE57-B90D9D4F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BD5DD-B9AC-4985-94F3-98B58EDAF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340A5-3944-493B-933E-A1C24AFAA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6F554-4C1A-43F5-9341-8E17EAED3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16652-AC52-4E39-82E1-738F2B4B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17777-C457-4CDA-8524-826FA44B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758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47B6D-E21E-459B-A016-F78A3D6D5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409AC-3116-41E0-8FC3-B21C62715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52687-AD09-49AF-9BC9-254B24688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0357C-AAC0-4071-8D26-5CD29452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C0198-94B4-4D8F-B6AA-A9EE757C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3483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874969-D919-4647-B13D-057A3A8AF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E8F15-BE68-4200-A0F4-470D149AD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CE975-81A0-4AC2-8C5B-5339458F0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58AFC-511E-4C59-8F85-3DD2BAC8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C145E-2686-498F-9857-A309A38E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106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24651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46248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38134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21691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4506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4E8BAF-4824-4D38-B43F-48C41B46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7C863-EF66-4AB7-A931-34F799161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3FAA6-1A78-48C0-94E2-47F357845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6C7E7-BB83-4636-A3DD-C7C48E2EDB3B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899A9-2159-4885-BAAB-04E9E66741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103C7-4160-44FA-9CB2-BC6DF1FF2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F8DB1-28FE-4ED0-A719-0C82C0C48F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1403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790" y="993471"/>
            <a:ext cx="9446339" cy="1912289"/>
          </a:xfrm>
        </p:spPr>
        <p:txBody>
          <a:bodyPr>
            <a:normAutofit fontScale="90000"/>
          </a:bodyPr>
          <a:lstStyle/>
          <a:p>
            <a:r>
              <a:rPr lang="en-AU" b="1" dirty="0">
                <a:latin typeface="Fragment Core" panose="02000504040000020003" pitchFamily="50" charset="0"/>
              </a:rPr>
              <a:t>Topic: Scale Diagrams</a:t>
            </a:r>
            <a:br>
              <a:rPr lang="en-AU" b="1" dirty="0">
                <a:latin typeface="Fragment Core" panose="02000504040000020003" pitchFamily="50" charset="0"/>
              </a:rPr>
            </a:br>
            <a:r>
              <a:rPr lang="en-AU" sz="4000" b="1" dirty="0">
                <a:latin typeface="Fragment Core" panose="02000504040000020003" pitchFamily="50" charset="0"/>
              </a:rPr>
              <a:t>EQ: How do I use a scale diagram?</a:t>
            </a:r>
            <a:br>
              <a:rPr lang="en-AU" b="1" dirty="0">
                <a:latin typeface="Fragment Core" panose="02000504040000020003" pitchFamily="50" charset="0"/>
              </a:rPr>
            </a:br>
            <a:br>
              <a:rPr lang="en-AU" b="1" dirty="0">
                <a:latin typeface="Fragment Core" panose="02000504040000020003" pitchFamily="50" charset="0"/>
              </a:rPr>
            </a:br>
            <a:endParaRPr lang="en-AU" b="1" dirty="0"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961" y="461370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You may need this throughout this unit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3EE7FC-8F36-46E4-AD81-F79E1A0F2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233" y="1875995"/>
            <a:ext cx="8618840" cy="377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4422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scale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use a scale diagram?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Is a reduced or enlarged version of a real object.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 most common scale diagrams are maps and house plans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2BFF1B-FD94-4272-A8CD-C21C528FF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88" y="1550541"/>
            <a:ext cx="10345502" cy="309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2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1FF3830-016E-46ED-9A4B-CBDF96772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069" y="2621721"/>
            <a:ext cx="3382657" cy="358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00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scale 5 cm : 2 km.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rgbClr val="0000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000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5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F066942A-629A-447C-A0E0-C7F9B99E3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480" y="1803385"/>
            <a:ext cx="1885950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95E69DA-CF6C-48F1-B38A-3D3D2EC68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00" y="4877118"/>
            <a:ext cx="202882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231A55-16A3-4519-B48F-7811BA208E89}"/>
              </a:ext>
            </a:extLst>
          </p:cNvPr>
          <p:cNvSpPr txBox="1"/>
          <p:nvPr/>
        </p:nvSpPr>
        <p:spPr>
          <a:xfrm>
            <a:off x="204152" y="119438"/>
            <a:ext cx="610616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the scale 1 cm to 1 m in ratio form.</a:t>
            </a:r>
            <a:endParaRPr kumimoji="0" lang="en-US" altLang="en-US" sz="4000" b="0" i="1" u="none" strike="noStrike" cap="none" normalizeH="0" baseline="0" dirty="0">
              <a:ln>
                <a:noFill/>
              </a:ln>
              <a:solidFill>
                <a:srgbClr val="0000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15FE80B-3D9C-436E-8B36-4D2DB169C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9" y="1709178"/>
            <a:ext cx="1724025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E74690-523F-4927-9403-8A6482EC21BE}"/>
              </a:ext>
            </a:extLst>
          </p:cNvPr>
          <p:cNvSpPr txBox="1"/>
          <p:nvPr/>
        </p:nvSpPr>
        <p:spPr>
          <a:xfrm>
            <a:off x="7157401" y="390182"/>
            <a:ext cx="327691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scale 5 mm : 1 m.</a:t>
            </a:r>
            <a:endParaRPr kumimoji="0" lang="en-US" altLang="en-US" sz="4000" b="0" i="1" u="none" strike="noStrike" cap="none" normalizeH="0" baseline="0" dirty="0">
              <a:ln>
                <a:noFill/>
              </a:ln>
              <a:solidFill>
                <a:srgbClr val="0000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000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9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CDD82-3AB1-4012-B547-BE77ECD50ABD}"/>
              </a:ext>
            </a:extLst>
          </p:cNvPr>
          <p:cNvSpPr txBox="1"/>
          <p:nvPr/>
        </p:nvSpPr>
        <p:spPr>
          <a:xfrm>
            <a:off x="472440" y="1161834"/>
            <a:ext cx="1285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113817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4422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use a scale diagram?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093470-857E-4DFA-8F6E-A8C239ED6ABF}"/>
              </a:ext>
            </a:extLst>
          </p:cNvPr>
          <p:cNvSpPr txBox="1"/>
          <p:nvPr/>
        </p:nvSpPr>
        <p:spPr>
          <a:xfrm>
            <a:off x="10132" y="1648494"/>
            <a:ext cx="1845938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to calculate real life distance using scale?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2850A3-8835-409E-9806-40C7CBBBCFCC}"/>
              </a:ext>
            </a:extLst>
          </p:cNvPr>
          <p:cNvSpPr txBox="1"/>
          <p:nvPr/>
        </p:nvSpPr>
        <p:spPr>
          <a:xfrm>
            <a:off x="2176726" y="1602135"/>
            <a:ext cx="6151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If the scale is 1 :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then multiply the map distance by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to calculate the actual distance.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0EB99A-476C-4532-A608-90D3B3B7E96E}"/>
              </a:ext>
            </a:extLst>
          </p:cNvPr>
          <p:cNvSpPr txBox="1"/>
          <p:nvPr/>
        </p:nvSpPr>
        <p:spPr>
          <a:xfrm>
            <a:off x="2992120" y="3085515"/>
            <a:ext cx="614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particular map shows a scale of 1 : 5000.  What is the actual distance if the map distance is 8 cm?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08A54C-86D6-447C-99AD-DAF417768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961" y="4409439"/>
            <a:ext cx="3741534" cy="2484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6A81DC-FDB8-4769-AC3C-FE9F828B55AA}"/>
              </a:ext>
            </a:extLst>
          </p:cNvPr>
          <p:cNvSpPr txBox="1"/>
          <p:nvPr/>
        </p:nvSpPr>
        <p:spPr>
          <a:xfrm>
            <a:off x="2794000" y="2576347"/>
            <a:ext cx="192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865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4422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use a scale diagram?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4ACE53-85B6-43B0-B25C-31676F5B739A}"/>
              </a:ext>
            </a:extLst>
          </p:cNvPr>
          <p:cNvSpPr txBox="1"/>
          <p:nvPr/>
        </p:nvSpPr>
        <p:spPr>
          <a:xfrm>
            <a:off x="2298646" y="1805519"/>
            <a:ext cx="909071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If the scale is 1 :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then divide the actual distance by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to calculate the map distance.</a:t>
            </a:r>
          </a:p>
          <a:p>
            <a:pPr algn="l"/>
            <a:br>
              <a:rPr lang="en-US" sz="1400" b="0" i="0" dirty="0">
                <a:solidFill>
                  <a:srgbClr val="0000FB"/>
                </a:solidFill>
                <a:effectLst/>
                <a:latin typeface="Times New Roman" panose="02020603050405020304" pitchFamily="18" charset="0"/>
              </a:rPr>
            </a:br>
            <a:r>
              <a:rPr lang="en-US" sz="1400" b="0" i="0" dirty="0">
                <a:solidFill>
                  <a:srgbClr val="0000FB"/>
                </a:solidFill>
                <a:effectLst/>
                <a:latin typeface="Times New Roman" panose="02020603050405020304" pitchFamily="18" charset="0"/>
              </a:rPr>
              <a:t>Example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particular map shows a scale of 1 cm : 5 km.  What would the map distance (in cm) be if the actual distance is 14 km?</a:t>
            </a:r>
          </a:p>
          <a:p>
            <a:pPr algn="l"/>
            <a:endParaRPr lang="en-US" sz="1400" b="0" i="1" dirty="0">
              <a:solidFill>
                <a:srgbClr val="0000FB"/>
              </a:solidFill>
              <a:effectLst/>
              <a:latin typeface="Times New Roman" panose="02020603050405020304" pitchFamily="18" charset="0"/>
            </a:endParaRPr>
          </a:p>
          <a:p>
            <a:pPr algn="l"/>
            <a:endParaRPr lang="en-US" sz="1400" i="1" dirty="0">
              <a:solidFill>
                <a:srgbClr val="0000FB"/>
              </a:solidFill>
              <a:latin typeface="Times New Roman" panose="02020603050405020304" pitchFamily="18" charset="0"/>
            </a:endParaRPr>
          </a:p>
          <a:p>
            <a:pPr algn="l"/>
            <a:endParaRPr lang="en-US" sz="1400" b="0" i="1" dirty="0">
              <a:solidFill>
                <a:srgbClr val="0000FB"/>
              </a:solidFill>
              <a:effectLst/>
              <a:latin typeface="Times New Roman" panose="02020603050405020304" pitchFamily="18" charset="0"/>
            </a:endParaRPr>
          </a:p>
          <a:p>
            <a:pPr algn="l"/>
            <a:endParaRPr lang="en-US" sz="1400" i="1" dirty="0">
              <a:solidFill>
                <a:srgbClr val="0000FB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US" sz="1400" b="0" i="1" dirty="0">
                <a:solidFill>
                  <a:srgbClr val="0000FB"/>
                </a:solidFill>
                <a:effectLst/>
                <a:latin typeface="Times New Roman" panose="02020603050405020304" pitchFamily="18" charset="0"/>
              </a:rPr>
              <a:t>Solution: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1E31A1-490A-4AA9-91C9-BB480303D61D}"/>
              </a:ext>
            </a:extLst>
          </p:cNvPr>
          <p:cNvSpPr txBox="1"/>
          <p:nvPr/>
        </p:nvSpPr>
        <p:spPr>
          <a:xfrm>
            <a:off x="10132" y="1648494"/>
            <a:ext cx="1845938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to calculate the scaled distance using the real life distance?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B12B3A-E4D6-4FEA-8D50-0C7385040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590" y="4011419"/>
            <a:ext cx="2247235" cy="249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30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748DB0-D999-4772-BD73-D26BBAAF29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510"/>
          <a:stretch/>
        </p:blipFill>
        <p:spPr>
          <a:xfrm>
            <a:off x="76692" y="1884844"/>
            <a:ext cx="7944464" cy="49731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42C28C-724F-472F-87B7-A2A8FBF56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69961"/>
            <a:ext cx="6109765" cy="458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60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0C47E5-E7BB-4A20-A94E-55F8AC31C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4665"/>
            <a:ext cx="12192000" cy="32686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919B12-3972-4EF7-A07A-2D75B49B832F}"/>
              </a:ext>
            </a:extLst>
          </p:cNvPr>
          <p:cNvSpPr/>
          <p:nvPr/>
        </p:nvSpPr>
        <p:spPr>
          <a:xfrm>
            <a:off x="41295" y="3492418"/>
            <a:ext cx="11149781" cy="92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47110-7793-4DB7-A5AE-A80B277ABADC}"/>
              </a:ext>
            </a:extLst>
          </p:cNvPr>
          <p:cNvSpPr/>
          <p:nvPr/>
        </p:nvSpPr>
        <p:spPr>
          <a:xfrm>
            <a:off x="41295" y="4459495"/>
            <a:ext cx="11149781" cy="92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9F8F24-FCB9-4A2C-9368-8C28AF823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35" y="0"/>
            <a:ext cx="10955079" cy="68127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919B12-3972-4EF7-A07A-2D75B49B832F}"/>
              </a:ext>
            </a:extLst>
          </p:cNvPr>
          <p:cNvSpPr/>
          <p:nvPr/>
        </p:nvSpPr>
        <p:spPr>
          <a:xfrm>
            <a:off x="702023" y="5091143"/>
            <a:ext cx="11149781" cy="796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47110-7793-4DB7-A5AE-A80B277ABADC}"/>
              </a:ext>
            </a:extLst>
          </p:cNvPr>
          <p:cNvSpPr/>
          <p:nvPr/>
        </p:nvSpPr>
        <p:spPr>
          <a:xfrm>
            <a:off x="652935" y="5887556"/>
            <a:ext cx="11149781" cy="788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46B165-7A08-4314-A2B0-2D10185A3D53}"/>
              </a:ext>
            </a:extLst>
          </p:cNvPr>
          <p:cNvSpPr txBox="1"/>
          <p:nvPr/>
        </p:nvSpPr>
        <p:spPr>
          <a:xfrm>
            <a:off x="2085256" y="1590040"/>
            <a:ext cx="2801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Cut up your photocopied sheet and glue in your INB</a:t>
            </a:r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9574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ED93F-B81F-492A-8944-7FD8FD9B7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04" y="0"/>
            <a:ext cx="500848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74C249-7754-4E63-8064-807A4D4BE0E7}"/>
              </a:ext>
            </a:extLst>
          </p:cNvPr>
          <p:cNvSpPr txBox="1"/>
          <p:nvPr/>
        </p:nvSpPr>
        <p:spPr>
          <a:xfrm>
            <a:off x="5031656" y="594360"/>
            <a:ext cx="2801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Cut up your photocopied sheet and glue in your INB</a:t>
            </a:r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0620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231EB-B798-4B73-928E-B58DA189FA66}"/>
              </a:ext>
            </a:extLst>
          </p:cNvPr>
          <p:cNvSpPr txBox="1"/>
          <p:nvPr/>
        </p:nvSpPr>
        <p:spPr>
          <a:xfrm>
            <a:off x="1277341" y="2359586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</a:rPr>
              <a:t>1. Using Scale Drawing Worksheet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318</Words>
  <Application>Microsoft Office PowerPoint</Application>
  <PresentationFormat>Widescreen</PresentationFormat>
  <Paragraphs>60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Fragment Core</vt:lpstr>
      <vt:lpstr>Times New Roman</vt:lpstr>
      <vt:lpstr>Office Theme</vt:lpstr>
      <vt:lpstr>Topic: Scale Diagrams EQ: How do I use a scale diagram?  </vt:lpstr>
      <vt:lpstr>You may need this throughout this unit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Practice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Scale Diagrams EQ: How do I use a scale diagram?</dc:title>
  <dc:creator>Sarah JAMES</dc:creator>
  <cp:lastModifiedBy>Sarah JAMES</cp:lastModifiedBy>
  <cp:revision>2</cp:revision>
  <dcterms:created xsi:type="dcterms:W3CDTF">2021-03-16T12:18:31Z</dcterms:created>
  <dcterms:modified xsi:type="dcterms:W3CDTF">2021-03-16T12:33:40Z</dcterms:modified>
</cp:coreProperties>
</file>
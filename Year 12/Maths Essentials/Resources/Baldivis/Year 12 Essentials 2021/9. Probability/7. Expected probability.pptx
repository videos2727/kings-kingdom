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89" r:id="rId2"/>
    <p:sldId id="308" r:id="rId3"/>
    <p:sldId id="290" r:id="rId4"/>
    <p:sldId id="257" r:id="rId5"/>
    <p:sldId id="310" r:id="rId6"/>
    <p:sldId id="311" r:id="rId7"/>
    <p:sldId id="312" r:id="rId8"/>
    <p:sldId id="319" r:id="rId9"/>
    <p:sldId id="320" r:id="rId10"/>
    <p:sldId id="32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0AE32-E990-4C76-ACF3-F66ECBE062B5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787E8-ECEF-4213-BB33-914C2B502D7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007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9227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>
            <a:extLst>
              <a:ext uri="{FF2B5EF4-FFF2-40B4-BE49-F238E27FC236}">
                <a16:creationId xmlns:a16="http://schemas.microsoft.com/office/drawing/2014/main" id="{C92C515F-24A1-4DC7-9280-A75D5BC32D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Notes Placeholder 2">
            <a:extLst>
              <a:ext uri="{FF2B5EF4-FFF2-40B4-BE49-F238E27FC236}">
                <a16:creationId xmlns:a16="http://schemas.microsoft.com/office/drawing/2014/main" id="{A4407C5C-ACAA-422D-BAEF-CCB435D4FD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Input</a:t>
            </a:r>
          </a:p>
        </p:txBody>
      </p:sp>
      <p:sp>
        <p:nvSpPr>
          <p:cNvPr id="16387" name="Slide Number Placeholder 3">
            <a:extLst>
              <a:ext uri="{FF2B5EF4-FFF2-40B4-BE49-F238E27FC236}">
                <a16:creationId xmlns:a16="http://schemas.microsoft.com/office/drawing/2014/main" id="{63161303-3697-41C5-8777-AB6D91543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86350ED-B9AF-4128-B76A-F7AEDFE8458D}" type="slidenum">
              <a:rPr lang="en-AU" altLang="en-US" smtClean="0">
                <a:latin typeface="Calibri" panose="020F0502020204030204" pitchFamily="34" charset="0"/>
              </a:rPr>
              <a:pPr/>
              <a:t>2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271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Guided practice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3366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EC840-64A7-4F52-BBE9-3DF7C0FA0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DBA709-B520-4601-8B41-71DF53AB5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B36C8-0B69-4845-9DA9-BB8EF56DB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5761-F9B9-4798-A99E-FDC7F01172CA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0FB9B-2E51-47B5-A0F1-B31EB3FAC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4437DC-8BF3-4DE4-8ACC-5A2DCC8A9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9A4F-1CEA-4865-BC25-AD7C57E23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5036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5E711-A213-4D9B-962E-F782B8E7F7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DB122-F463-4F62-9631-32491EB0F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CEAE5-E664-4B9B-900A-F19859F8F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5761-F9B9-4798-A99E-FDC7F01172CA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0065D-819E-4568-A590-0EE3F5CDE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DD465A-E10E-4ABD-98D9-7D5FEF333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9A4F-1CEA-4865-BC25-AD7C57E23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9526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E2D8B-12FA-4962-A066-A2DFDEA02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AE4C68-F68F-4EC9-9E3A-4D613C5B0A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2A239-6436-442E-931F-DD70CA562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5761-F9B9-4798-A99E-FDC7F01172CA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0B636-A5BE-4FA7-8D60-18FE1324A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8CFB41-84AF-463F-A973-661F6D2BF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9A4F-1CEA-4865-BC25-AD7C57E23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768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40A90A-3A4C-49B6-9CA1-86337D019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B624A-D1EB-4239-9637-BB637FDB6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2F965-80FD-473C-9A1A-79CC55ECD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439A2-167F-4528-BA6F-0C568A2FE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5761-F9B9-4798-A99E-FDC7F01172CA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45BFA-8E0E-4E92-BCC8-8F14298D7C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A914D-1519-4FC3-9F6C-DE908259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9A4F-1CEA-4865-BC25-AD7C57E23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1573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77CF-43CF-4A12-ADC4-C5672ADC8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E80712-7E7F-454C-ADD8-979DDBDAA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E317E7-9B8C-432D-9130-7E69919000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7EB8A4-7271-42F6-9134-87DCBA57B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8B7AD-3EDC-4D9F-B227-D7116BA176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F47D1C-3DE1-446A-AF11-76F97D8B1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5761-F9B9-4798-A99E-FDC7F01172CA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74334F-DAF2-42FE-A096-3C3CE4099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45384F-A2BF-4DA1-85CA-57CE19A61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9A4F-1CEA-4865-BC25-AD7C57E23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0301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83D1D-1C37-4011-BE9C-4F71A8BB3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411B4-07F1-4A9B-AB1F-9372FA41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5761-F9B9-4798-A99E-FDC7F01172CA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6A2764-8F12-46D5-A067-DDB08EA2B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2B0F1-3717-491A-B4A7-56E577C9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9A4F-1CEA-4865-BC25-AD7C57E23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8390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A06F27-5570-4738-9FC8-5BEA21247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5761-F9B9-4798-A99E-FDC7F01172CA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67A445-8756-4A62-89E2-D7F1DB356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846A6-AE04-41AD-B017-45C533FAB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9A4F-1CEA-4865-BC25-AD7C57E23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082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63308-3F08-4E49-857F-05283C36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9989D-B5A7-4D6F-A9DD-775346082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8411B-20BE-4853-84B0-114BEF780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117D0D-0D1B-4851-BCAB-C122F70C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5761-F9B9-4798-A99E-FDC7F01172CA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BD353-9A06-4B80-BEFD-D9AA33985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C0E18-A244-4759-8F4B-75FCE48AA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9A4F-1CEA-4865-BC25-AD7C57E23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7506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3DA56-660B-4A2F-A816-C1D7EABDC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8BD45C-4957-461E-94F8-B9B2A97AE0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8D85E1-ACD4-42B7-8731-C17AF7593D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8B7B9C-4CC3-4DE1-9A8F-9A475ED18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5761-F9B9-4798-A99E-FDC7F01172CA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EE24F6-9A02-4E94-A168-33D865AD3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8B2DF0-3F6F-49B9-858F-30CE93434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9A4F-1CEA-4865-BC25-AD7C57E23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6754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B9FEE-B863-4B88-A722-DD181ACD2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9FD8F1-EF68-45F4-A31F-DCFA81D05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43FB1-1AC5-4059-82A4-5EAFE21CA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5761-F9B9-4798-A99E-FDC7F01172CA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915154-2D46-4963-B644-131A6BD22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1D6A3-E7EF-4B96-A546-51CE70E14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9A4F-1CEA-4865-BC25-AD7C57E23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7689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F4FD21-5FED-4FBD-AC4C-929D39403D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30EE0-0DB5-463D-9637-22C99AB10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C74F3-2DBA-49B9-A3AB-59138F949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735761-F9B9-4798-A99E-FDC7F01172CA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15CA38-7B59-47EC-9B2F-4E28D1F0C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E55D93-316F-4FF6-9D80-27090B458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BF9A4F-1CEA-4865-BC25-AD7C57E23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4804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39650D-AFAE-44E9-BA7D-58CB9C6C5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B34F3E-6EE8-496C-83A1-6C12D3693E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29653-4F97-4EFE-A19A-DB1773484C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735761-F9B9-4798-A99E-FDC7F01172CA}" type="datetimeFigureOut">
              <a:rPr lang="en-AU" smtClean="0"/>
              <a:t>17/06/2021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B2DBC2-B2A2-481E-A1CD-3B7283F98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085F7-09BA-44CA-9FD3-46CA9DEE18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BF9A4F-1CEA-4865-BC25-AD7C57E239E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5620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55866" y="1714116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Probability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55866" y="2951007"/>
            <a:ext cx="103209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the probability of an expected event? </a:t>
            </a:r>
            <a:endParaRPr lang="en-AU" sz="24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extBox 1">
            <a:extLst>
              <a:ext uri="{FF2B5EF4-FFF2-40B4-BE49-F238E27FC236}">
                <a16:creationId xmlns:a16="http://schemas.microsoft.com/office/drawing/2014/main" id="{20E7F014-BB8A-4DC8-A0A0-05194457CA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8138" y="5724525"/>
            <a:ext cx="4127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 dirty="0">
                <a:latin typeface="Arial" panose="020B0604020202020204" pitchFamily="34" charset="0"/>
              </a:rPr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03C2DA6-9F01-7941-BD69-9E57756FC732}"/>
              </a:ext>
            </a:extLst>
          </p:cNvPr>
          <p:cNvCxnSpPr/>
          <p:nvPr/>
        </p:nvCxnSpPr>
        <p:spPr>
          <a:xfrm>
            <a:off x="2667000" y="1592263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53CB483-B303-D342-849D-C50A083668FC}"/>
              </a:ext>
            </a:extLst>
          </p:cNvPr>
          <p:cNvCxnSpPr/>
          <p:nvPr/>
        </p:nvCxnSpPr>
        <p:spPr>
          <a:xfrm>
            <a:off x="2667000" y="2295525"/>
            <a:ext cx="6858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4" name="TextBox 6">
            <a:extLst>
              <a:ext uri="{FF2B5EF4-FFF2-40B4-BE49-F238E27FC236}">
                <a16:creationId xmlns:a16="http://schemas.microsoft.com/office/drawing/2014/main" id="{41F5B476-30B7-4FDD-A164-69FAC06E2B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850" y="969963"/>
            <a:ext cx="43180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24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7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AU" altLang="en-US" sz="1200">
                <a:latin typeface="Arial" panose="020B0604020202020204" pitchFamily="34" charset="0"/>
              </a:rPr>
              <a:t>30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C633B1E-C1D3-2841-B65A-C1103ECBF296}"/>
              </a:ext>
            </a:extLst>
          </p:cNvPr>
          <p:cNvCxnSpPr/>
          <p:nvPr/>
        </p:nvCxnSpPr>
        <p:spPr>
          <a:xfrm>
            <a:off x="3642001" y="2259012"/>
            <a:ext cx="0" cy="38338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366" name="TextBox 9">
            <a:extLst>
              <a:ext uri="{FF2B5EF4-FFF2-40B4-BE49-F238E27FC236}">
                <a16:creationId xmlns:a16="http://schemas.microsoft.com/office/drawing/2014/main" id="{06C292D8-0E47-4158-9C45-66B89ECE0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3614" y="1160464"/>
            <a:ext cx="1438214" cy="4154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2100" dirty="0">
                <a:latin typeface="Arial" panose="020B0604020202020204" pitchFamily="34" charset="0"/>
              </a:rPr>
              <a:t>Probability</a:t>
            </a:r>
          </a:p>
        </p:txBody>
      </p:sp>
      <p:sp>
        <p:nvSpPr>
          <p:cNvPr id="15367" name="TextBox 10">
            <a:extLst>
              <a:ext uri="{FF2B5EF4-FFF2-40B4-BE49-F238E27FC236}">
                <a16:creationId xmlns:a16="http://schemas.microsoft.com/office/drawing/2014/main" id="{520E6683-D1C0-4ADD-9379-45F4964A69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7063" y="936625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AU" altLang="en-US" sz="1800">
                <a:latin typeface="Arial" panose="020B0604020202020204" pitchFamily="34" charset="0"/>
              </a:rPr>
              <a:t>Date</a:t>
            </a:r>
          </a:p>
        </p:txBody>
      </p:sp>
      <p:sp>
        <p:nvSpPr>
          <p:cNvPr id="15368" name="TextBox 11">
            <a:extLst>
              <a:ext uri="{FF2B5EF4-FFF2-40B4-BE49-F238E27FC236}">
                <a16:creationId xmlns:a16="http://schemas.microsoft.com/office/drawing/2014/main" id="{DD5202A0-6271-4728-92EA-ED0218A021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5900" y="1654175"/>
            <a:ext cx="732237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126"/>
            <a:r>
              <a:rPr lang="en-AU" sz="16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1600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I calculate the probability of an expected event? </a:t>
            </a:r>
            <a:endParaRPr lang="en-AU" sz="1600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15369" name="AutoShape 2" descr="angle of elevation">
            <a:extLst>
              <a:ext uri="{FF2B5EF4-FFF2-40B4-BE49-F238E27FC236}">
                <a16:creationId xmlns:a16="http://schemas.microsoft.com/office/drawing/2014/main" id="{3C04D40F-CEBB-4DB0-AC19-D7A335896EE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1700" y="3314700"/>
            <a:ext cx="2286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AU" altLang="en-US" sz="1800"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7C06FA-41CC-406E-A392-7AA35EB5D8B3}"/>
              </a:ext>
            </a:extLst>
          </p:cNvPr>
          <p:cNvSpPr/>
          <p:nvPr/>
        </p:nvSpPr>
        <p:spPr>
          <a:xfrm>
            <a:off x="4211782" y="2309091"/>
            <a:ext cx="7462983" cy="7009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dirty="0"/>
              <a:t>Complement</a:t>
            </a:r>
            <a:r>
              <a:rPr lang="en-AU" dirty="0"/>
              <a:t> of an Event= all outcomes that are </a:t>
            </a:r>
            <a:r>
              <a:rPr lang="en-AU" b="1" dirty="0"/>
              <a:t>NOT</a:t>
            </a:r>
            <a:r>
              <a:rPr lang="en-AU" dirty="0"/>
              <a:t> the event.</a:t>
            </a:r>
          </a:p>
          <a:p>
            <a:endParaRPr lang="en-AU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i="1" dirty="0"/>
              <a:t>P(A)</a:t>
            </a:r>
            <a:r>
              <a:rPr lang="en-AU" dirty="0"/>
              <a:t> means "Probability of Event A“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AU" i="1" dirty="0"/>
              <a:t>P(A')</a:t>
            </a:r>
            <a:r>
              <a:rPr lang="en-AU" dirty="0"/>
              <a:t> means "Probability of the complement of Event A"</a:t>
            </a:r>
          </a:p>
          <a:p>
            <a:endParaRPr lang="en-AU" dirty="0"/>
          </a:p>
          <a:p>
            <a:r>
              <a:rPr lang="en-AU" dirty="0"/>
              <a:t>The complement is shown by a little mark after the letter such as A’ </a:t>
            </a:r>
          </a:p>
          <a:p>
            <a:endParaRPr lang="en-AU" dirty="0"/>
          </a:p>
          <a:p>
            <a:r>
              <a:rPr lang="en-AU" dirty="0"/>
              <a:t>The two probabilities always add to 1</a:t>
            </a:r>
          </a:p>
          <a:p>
            <a:r>
              <a:rPr lang="en-AU" dirty="0"/>
              <a:t>	P(A) + P(A') = 1</a:t>
            </a:r>
          </a:p>
          <a:p>
            <a:endParaRPr lang="en-US" dirty="0">
              <a:cs typeface="Calibri" panose="020F0502020204030204" pitchFamily="34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You can use the probability of an event to predict the number of times an event might happen.</a:t>
            </a:r>
          </a:p>
          <a:p>
            <a:endParaRPr lang="en-US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This is called </a:t>
            </a:r>
            <a:r>
              <a:rPr lang="en-US" b="1" dirty="0">
                <a:cs typeface="Calibri" panose="020F0502020204030204" pitchFamily="34" charset="0"/>
              </a:rPr>
              <a:t>expected frequency</a:t>
            </a:r>
          </a:p>
          <a:p>
            <a:endParaRPr lang="en-US" dirty="0">
              <a:solidFill>
                <a:schemeClr val="tx1"/>
              </a:solidFill>
              <a:cs typeface="Calibri" panose="020F0502020204030204" pitchFamily="34" charset="0"/>
            </a:endParaRPr>
          </a:p>
          <a:p>
            <a:r>
              <a:rPr lang="en-US" dirty="0">
                <a:cs typeface="Calibri" panose="020F0502020204030204" pitchFamily="34" charset="0"/>
              </a:rPr>
              <a:t>Expected frequency = Probability x number of trials</a:t>
            </a: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344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>
            <a:normAutofit fontScale="90000"/>
          </a:bodyPr>
          <a:lstStyle/>
          <a:p>
            <a:pPr algn="l"/>
            <a:r>
              <a:rPr lang="en-US" sz="2400" dirty="0"/>
              <a:t>Example 2: We will do this together. Complete this in your Interactive notebook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524591-6A45-4A2D-8F75-365E129BB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805" y="1067377"/>
            <a:ext cx="5022995" cy="389844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8640B52-C4D0-454E-A7C0-4EDAC1E1FF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652" y="2691677"/>
            <a:ext cx="4400550" cy="202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984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8E80-7716-4163-A602-8BDF18F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560" y="419072"/>
            <a:ext cx="8764840" cy="921026"/>
          </a:xfrm>
        </p:spPr>
        <p:txBody>
          <a:bodyPr>
            <a:normAutofit/>
          </a:bodyPr>
          <a:lstStyle/>
          <a:p>
            <a:r>
              <a:rPr lang="en-US" sz="2400" dirty="0"/>
              <a:t>Example 1: We will do this together. Complete this in your Interactive notebook</a:t>
            </a:r>
            <a:endParaRPr lang="en-AU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1A3FE5-F475-423B-8755-4C98FD263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560" y="1641415"/>
            <a:ext cx="7763254" cy="2811145"/>
          </a:xfrm>
        </p:spPr>
        <p:txBody>
          <a:bodyPr>
            <a:normAutofit/>
          </a:bodyPr>
          <a:lstStyle/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E07A18-3029-4347-9F07-55317296D5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691" y="1491528"/>
            <a:ext cx="6234546" cy="47211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57559CB-A4D3-4E6B-9647-36770C9D7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9228" y="2274887"/>
            <a:ext cx="4495800" cy="2714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6000" y="162559"/>
            <a:ext cx="9611360" cy="61055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960CB5-DEB0-48DF-89F7-A6931CD1757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664" t="14190" r="27582" b="62630"/>
          <a:stretch/>
        </p:blipFill>
        <p:spPr>
          <a:xfrm>
            <a:off x="339307" y="2454796"/>
            <a:ext cx="11170221" cy="40023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47FA0A-59FE-483D-8C79-0088247A8DF7}"/>
              </a:ext>
            </a:extLst>
          </p:cNvPr>
          <p:cNvSpPr txBox="1"/>
          <p:nvPr/>
        </p:nvSpPr>
        <p:spPr>
          <a:xfrm>
            <a:off x="1219200" y="1123950"/>
            <a:ext cx="6743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MAWA textbook p140-141 Q1-8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808806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A7AC971-399B-4C17-9855-BACECBF3D67E}"/>
              </a:ext>
            </a:extLst>
          </p:cNvPr>
          <p:cNvSpPr txBox="1">
            <a:spLocks/>
          </p:cNvSpPr>
          <p:nvPr/>
        </p:nvSpPr>
        <p:spPr>
          <a:xfrm>
            <a:off x="1016000" y="162559"/>
            <a:ext cx="9611360" cy="61055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559665-5728-467C-8368-0630BB13B05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347" t="36277" r="22742" b="35950"/>
          <a:stretch/>
        </p:blipFill>
        <p:spPr>
          <a:xfrm>
            <a:off x="224852" y="1249501"/>
            <a:ext cx="13598485" cy="435899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9AC9C4A-98CB-4BEF-B420-136813D41D35}"/>
              </a:ext>
            </a:extLst>
          </p:cNvPr>
          <p:cNvSpPr/>
          <p:nvPr/>
        </p:nvSpPr>
        <p:spPr>
          <a:xfrm>
            <a:off x="519200" y="283169"/>
            <a:ext cx="10656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Your turn: Complete this in your Interactive notebook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69108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FA08-AFC8-4EA6-B552-4DC0D4B73C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911" y="432382"/>
            <a:ext cx="9611360" cy="610553"/>
          </a:xfrm>
        </p:spPr>
        <p:txBody>
          <a:bodyPr>
            <a:normAutofit/>
          </a:bodyPr>
          <a:lstStyle/>
          <a:p>
            <a:pPr algn="l"/>
            <a:r>
              <a:rPr lang="en-US" sz="2400" dirty="0"/>
              <a:t>Your turn: Complete this in your Interactive notebook</a:t>
            </a:r>
            <a:endParaRPr lang="en-AU" sz="2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06EC08-C757-4AFE-852A-CC50F52722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771" t="38466" r="27090" b="32887"/>
          <a:stretch/>
        </p:blipFill>
        <p:spPr>
          <a:xfrm>
            <a:off x="329783" y="1465289"/>
            <a:ext cx="11707319" cy="427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770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EBEC7-8B51-4554-85A1-D6FBCA1F0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725" y="764373"/>
            <a:ext cx="11086475" cy="1293028"/>
          </a:xfrm>
        </p:spPr>
        <p:txBody>
          <a:bodyPr/>
          <a:lstStyle/>
          <a:p>
            <a:endParaRPr lang="en-AU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B89830D-D6E2-4273-8E63-95FB536A9F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7034" t="20844" r="29197" b="31551"/>
          <a:stretch/>
        </p:blipFill>
        <p:spPr>
          <a:xfrm>
            <a:off x="0" y="0"/>
            <a:ext cx="12104746" cy="6505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34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2C461-37D1-4DF1-BC17-7381B8A16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F0246C-0C7A-44D6-96FF-F903D1EC0F4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049" t="17252" r="28812" b="65691"/>
          <a:stretch/>
        </p:blipFill>
        <p:spPr>
          <a:xfrm>
            <a:off x="0" y="42597"/>
            <a:ext cx="11877752" cy="315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881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0164F-4A95-49B7-AF51-19F319826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9B255-F7FC-4E92-81A0-91CB64F68E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DE042A-86DC-4C16-B6D4-1C67BB9CA5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803" t="33741" r="28319" b="13643"/>
          <a:stretch/>
        </p:blipFill>
        <p:spPr>
          <a:xfrm>
            <a:off x="600231" y="0"/>
            <a:ext cx="10991538" cy="697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75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204</Words>
  <Application>Microsoft Office PowerPoint</Application>
  <PresentationFormat>Widescreen</PresentationFormat>
  <Paragraphs>46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DJB Fancy Nancy</vt:lpstr>
      <vt:lpstr>Kiwi School Handwriting</vt:lpstr>
      <vt:lpstr>Office Theme</vt:lpstr>
      <vt:lpstr>Probability</vt:lpstr>
      <vt:lpstr>PowerPoint Presentation</vt:lpstr>
      <vt:lpstr>Example 2: We will do this together. Complete this in your Interactive notebook</vt:lpstr>
      <vt:lpstr>Example 1: We will do this together. Complete this in your Interactive notebook</vt:lpstr>
      <vt:lpstr>Your turn: Complete this in your Interactive notebook</vt:lpstr>
      <vt:lpstr>PowerPoint Presentation</vt:lpstr>
      <vt:lpstr>Your turn: Complete this in your Interactive notebook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Sarah [Baldivis Secondary College]</dc:creator>
  <cp:lastModifiedBy>JAMES Sarah [Baldivis Secondary College]</cp:lastModifiedBy>
  <cp:revision>2</cp:revision>
  <dcterms:created xsi:type="dcterms:W3CDTF">2021-06-17T11:30:08Z</dcterms:created>
  <dcterms:modified xsi:type="dcterms:W3CDTF">2021-06-17T12:00:03Z</dcterms:modified>
</cp:coreProperties>
</file>
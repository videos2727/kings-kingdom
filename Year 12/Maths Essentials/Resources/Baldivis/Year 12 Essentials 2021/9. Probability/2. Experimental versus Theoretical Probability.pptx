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62" r:id="rId3"/>
    <p:sldId id="264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61DB-FB3B-4235-884F-994C13A0585C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843D54-3F5F-48C5-A5EC-B6CB9A3C45A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0607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650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495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BE593-233E-45D2-9A1E-D6445C3BA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A10004-829D-4448-8A47-BDD9B6A37B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2E607-847E-4BCC-83F9-A4D4E7731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E977F-AD5E-48FF-9CA4-45419DBC55FF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09C01-223F-49FC-99F9-D023D63A6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89F6A-A99C-434C-9865-A0308741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89A1B-F5A2-4AC9-96DF-D6B0CD861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6809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BBACE-BA20-4ADA-8061-CE9E96646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623F9-C709-4988-A066-B0052C6D5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0FD2E-9E6A-461D-B245-3CE9D020E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E977F-AD5E-48FF-9CA4-45419DBC55FF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CC8CC-4541-4EE4-AF6A-96C7601C4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FAE75-AFA7-42A9-86E1-396D71A4F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89A1B-F5A2-4AC9-96DF-D6B0CD861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5892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6682-3216-455C-88CF-1BA0B7F13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04174-76B1-462B-AFF0-0C09BE6A6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BAD53-5AF0-42C1-B9A2-26AB0C073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E977F-AD5E-48FF-9CA4-45419DBC55FF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3B962-C499-4FCA-8B92-BCF4C1E78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0558F-0DD6-493D-9449-4746CBA0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89A1B-F5A2-4AC9-96DF-D6B0CD861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7141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5D963-3649-4FF5-B101-252061EAE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7A767-FCFE-4F69-8508-AA87762E94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F0F1BE-D865-46AA-9E19-F59EC4827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967DE-100A-4B98-86A7-F7666D53E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E977F-AD5E-48FF-9CA4-45419DBC55FF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85344-9FB2-421E-B2CF-64618284F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39533-0E9F-4565-A6F1-C56006C62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89A1B-F5A2-4AC9-96DF-D6B0CD861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285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46C4E-F242-4973-A98B-E095A297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544A3-70A8-4851-91EA-E4CBA4776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77867-FDF2-4F62-A7BE-D2439ACF12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AE3098-09A9-44AA-B9B4-E02722D64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AB1FF0-5416-4FDD-B5D3-713DB4AA1C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81137F-F042-4D2E-8449-CA662DFEF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E977F-AD5E-48FF-9CA4-45419DBC55FF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438CCC-6104-499A-A06B-6D3C7CB36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5B7139-CA47-46F7-86EA-684724047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89A1B-F5A2-4AC9-96DF-D6B0CD861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6190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2360-7E00-41A6-B9FC-61F9C9325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BA78D-140B-4407-B6AE-4A1D10158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E977F-AD5E-48FF-9CA4-45419DBC55FF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C598-8586-4260-BE05-F310D191A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B7707B-4471-4368-A4A7-F6389595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89A1B-F5A2-4AC9-96DF-D6B0CD861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9809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E7A0AC-272F-4844-B003-9648B1199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E977F-AD5E-48FF-9CA4-45419DBC55FF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2F5B0-8540-4887-94E3-AD8CC0EBB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25FD8-5AFC-4682-AB85-277861966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89A1B-F5A2-4AC9-96DF-D6B0CD861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8354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DD28E-390D-44A3-A285-4580A5AD6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35BF1-0BC1-42E2-A078-AFBF2B107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BF6D0-27E9-4BF2-94EA-92209BD92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040D3-468D-4B34-A130-4359FA757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E977F-AD5E-48FF-9CA4-45419DBC55FF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8D5831-8753-4DA6-A1ED-4F1A0A709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CB872-AA8B-435D-AAE4-4FAF4CED4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89A1B-F5A2-4AC9-96DF-D6B0CD861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1848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D1C33-0967-4669-B259-E393BFBF7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596DD4-F5A5-44E8-9D90-03CCAFF76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74A881-6724-401C-A073-76A6FD1FC5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9DDE4-26C1-4033-B857-C905B5F01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E977F-AD5E-48FF-9CA4-45419DBC55FF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6C9A8-CDDC-450F-9C5B-FC0A2A998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436CC-DB5A-493C-B220-7AED9679E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89A1B-F5A2-4AC9-96DF-D6B0CD861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0403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DA1FD-D2E4-40F0-BECE-09B1FD97D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F0239-90E1-4C39-ADAF-C85369C1C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EB09C-DF49-49AB-B471-DEBF093C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E977F-AD5E-48FF-9CA4-45419DBC55FF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E46F5-1002-4FE9-9DCD-52194F142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369E5-80CF-4A99-909D-7C12D4644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89A1B-F5A2-4AC9-96DF-D6B0CD861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3236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E561AF-4584-47E1-8F85-0D5741C7C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01CA9-46F0-493F-8B78-A339C1713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37E66-D0BE-4112-A50D-B1F490CB7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E977F-AD5E-48FF-9CA4-45419DBC55FF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0700C-C437-40B2-B63C-3E6BCE69A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59C7A-3990-4471-B21A-050760218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89A1B-F5A2-4AC9-96DF-D6B0CD861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0904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87A5EA-FB21-435B-A54A-5D6DCB88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8FCC33-2278-4293-AE8A-ACD016B23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FBC79-4A97-4D94-A8D4-68E09E433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E977F-AD5E-48FF-9CA4-45419DBC55FF}" type="datetimeFigureOut">
              <a:rPr lang="en-AU" smtClean="0"/>
              <a:t>1/06/2021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B5164-19EF-4909-B2C2-6B010B2BE7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D0ECA-5014-49E0-92E1-2A312FFE56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F89A1B-F5A2-4AC9-96DF-D6B0CD86198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2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8995C-84C1-43C5-A6F1-BB50B452B0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Probability</a:t>
            </a:r>
            <a:br>
              <a:rPr lang="en-US" dirty="0"/>
            </a:br>
            <a:r>
              <a:rPr lang="en-US" sz="2400" dirty="0"/>
              <a:t>EQ: What is the difference between theoretical and experimental probability?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071513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400" dirty="0"/>
              <a:t>EQ: What is the difference between theoretical and experimental probability?</a:t>
            </a:r>
            <a:endParaRPr lang="en-AU" sz="2400" b="1" dirty="0">
              <a:solidFill>
                <a:srgbClr val="FF0000"/>
              </a:solidFill>
              <a:latin typeface="Fragment Core" panose="02000504040000020003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9CC86A2-6030-44A8-977F-E28ABDED0DAE}"/>
                  </a:ext>
                </a:extLst>
              </p:cNvPr>
              <p:cNvSpPr/>
              <p:nvPr/>
            </p:nvSpPr>
            <p:spPr>
              <a:xfrm>
                <a:off x="2067612" y="1894668"/>
                <a:ext cx="4672553" cy="331469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AU" sz="1400" u="sng" dirty="0"/>
                  <a:t>Theoretical Probability</a:t>
                </a:r>
              </a:p>
              <a:p>
                <a:endParaRPr lang="en-AU" sz="1400" dirty="0"/>
              </a:p>
              <a:p>
                <a:r>
                  <a:rPr lang="en-AU" sz="1400" dirty="0"/>
                  <a:t>Theoretical probability is what we </a:t>
                </a:r>
                <a:r>
                  <a:rPr lang="en-AU" sz="1400" dirty="0">
                    <a:highlight>
                      <a:srgbClr val="FFFF00"/>
                    </a:highlight>
                  </a:rPr>
                  <a:t>____________</a:t>
                </a:r>
                <a:r>
                  <a:rPr lang="en-AU" sz="1400" dirty="0"/>
                  <a:t> to occur.</a:t>
                </a:r>
              </a:p>
              <a:p>
                <a:endParaRPr lang="en-AU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𝐸𝑣𝑒𝑛𝑡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𝑝𝑜𝑠𝑠𝑖𝑏𝑙𝑒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𝑜𝑢𝑡𝑐𝑜𝑚𝑒𝑠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𝑝𝑜𝑠𝑠𝑖𝑏𝑙𝑒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𝑜𝑢𝑡𝑐𝑜𝑚𝑒𝑠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(_______________)</m:t>
                          </m:r>
                        </m:den>
                      </m:f>
                    </m:oMath>
                  </m:oMathPara>
                </a14:m>
                <a:endParaRPr lang="en-AU" sz="1400" dirty="0"/>
              </a:p>
              <a:p>
                <a:endParaRPr lang="en-AU" sz="1400" dirty="0"/>
              </a:p>
              <a:p>
                <a:r>
                  <a:rPr lang="en-AU" sz="1400" dirty="0"/>
                  <a:t>Example – what is the probability of rolling an even number on a six sided die.</a:t>
                </a:r>
              </a:p>
              <a:p>
                <a:endParaRPr lang="en-AU" sz="1400" dirty="0"/>
              </a:p>
              <a:p>
                <a:r>
                  <a:rPr lang="en-AU" sz="1400" dirty="0"/>
                  <a:t>Sample Space {1, 2, 3, 4, 5, 6}</a:t>
                </a:r>
              </a:p>
              <a:p>
                <a:r>
                  <a:rPr lang="en-AU" sz="1400" dirty="0"/>
                  <a:t>Even Numbers  2, 4, 6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𝐸𝑣𝑒𝑛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1400" dirty="0"/>
              </a:p>
              <a:p>
                <a:r>
                  <a:rPr lang="en-AU" sz="1400" dirty="0"/>
                  <a:t>50/50 or __________ chance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9CC86A2-6030-44A8-977F-E28ABDED0D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612" y="1894668"/>
                <a:ext cx="4672553" cy="3314690"/>
              </a:xfrm>
              <a:prstGeom prst="rect">
                <a:avLst/>
              </a:prstGeom>
              <a:blipFill>
                <a:blip r:embed="rId3"/>
                <a:stretch>
                  <a:fillRect l="-260" t="-183" b="-7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670AFE-44A8-415E-B51F-6B630BDDA8D9}"/>
                  </a:ext>
                </a:extLst>
              </p:cNvPr>
              <p:cNvSpPr txBox="1"/>
              <p:nvPr/>
            </p:nvSpPr>
            <p:spPr>
              <a:xfrm>
                <a:off x="7070979" y="1872491"/>
                <a:ext cx="4910839" cy="402212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AU" sz="1400" u="sng" dirty="0"/>
                  <a:t>Experimental Probability</a:t>
                </a:r>
              </a:p>
              <a:p>
                <a:endParaRPr lang="en-AU" sz="1400" dirty="0"/>
              </a:p>
              <a:p>
                <a:r>
                  <a:rPr lang="en-AU" sz="1400" dirty="0"/>
                  <a:t>Experimental Probability is what actually happens. The results of the activity are recorded and the number of trials is calculated</a:t>
                </a:r>
              </a:p>
              <a:p>
                <a:endParaRPr lang="en-AU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𝑒𝑣𝑒𝑛𝑡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𝑑𝑒𝑠𝑖𝑟𝑒𝑑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𝑜𝑢𝑡𝑐𝑜𝑚𝑒𝑠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𝑡𝑟𝑖𝑎𝑙𝑠</m:t>
                          </m:r>
                        </m:den>
                      </m:f>
                    </m:oMath>
                  </m:oMathPara>
                </a14:m>
                <a:endParaRPr lang="en-AU" sz="1400" dirty="0"/>
              </a:p>
              <a:p>
                <a:endParaRPr lang="en-AU" sz="1400" dirty="0"/>
              </a:p>
              <a:p>
                <a:r>
                  <a:rPr lang="en-AU" sz="1400" dirty="0"/>
                  <a:t>Example – tossing a coin 20 times</a:t>
                </a:r>
              </a:p>
              <a:p>
                <a:endParaRPr lang="en-AU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AU" sz="1400" dirty="0"/>
              </a:p>
              <a:p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h𝑒𝑎𝑑𝑠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AU" sz="1400" dirty="0"/>
              </a:p>
              <a:p>
                <a:endParaRPr lang="en-AU" sz="1400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670AFE-44A8-415E-B51F-6B630BDDA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979" y="1872491"/>
                <a:ext cx="4910839" cy="4022127"/>
              </a:xfrm>
              <a:prstGeom prst="rect">
                <a:avLst/>
              </a:prstGeom>
              <a:blipFill>
                <a:blip r:embed="rId4"/>
                <a:stretch>
                  <a:fillRect l="-248" t="-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7314BA-9FEF-4621-AD96-991E186F4F42}"/>
              </a:ext>
            </a:extLst>
          </p:cNvPr>
          <p:cNvGraphicFramePr>
            <a:graphicFrameLocks noGrp="1"/>
          </p:cNvGraphicFramePr>
          <p:nvPr/>
        </p:nvGraphicFramePr>
        <p:xfrm>
          <a:off x="7952032" y="3943633"/>
          <a:ext cx="163696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483">
                  <a:extLst>
                    <a:ext uri="{9D8B030D-6E8A-4147-A177-3AD203B41FA5}">
                      <a16:colId xmlns:a16="http://schemas.microsoft.com/office/drawing/2014/main" val="2373036923"/>
                    </a:ext>
                  </a:extLst>
                </a:gridCol>
                <a:gridCol w="818483">
                  <a:extLst>
                    <a:ext uri="{9D8B030D-6E8A-4147-A177-3AD203B41FA5}">
                      <a16:colId xmlns:a16="http://schemas.microsoft.com/office/drawing/2014/main" val="4077649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Heads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Tails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49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67911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5E60648-71A7-4BA9-AAA0-5BF9E181B2DC}"/>
              </a:ext>
            </a:extLst>
          </p:cNvPr>
          <p:cNvSpPr/>
          <p:nvPr/>
        </p:nvSpPr>
        <p:spPr>
          <a:xfrm>
            <a:off x="3430398" y="591788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Probability = </a:t>
            </a:r>
            <a:r>
              <a:rPr lang="en-AU" u="sng" dirty="0"/>
              <a:t>Number of possible outcomes</a:t>
            </a:r>
          </a:p>
          <a:p>
            <a:r>
              <a:rPr lang="en-AU" dirty="0"/>
              <a:t>                           Total number of outcomes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483BF9-E7D3-4611-8149-4EBC30697BA6}"/>
              </a:ext>
            </a:extLst>
          </p:cNvPr>
          <p:cNvSpPr txBox="1"/>
          <p:nvPr/>
        </p:nvSpPr>
        <p:spPr>
          <a:xfrm>
            <a:off x="289545" y="1960775"/>
            <a:ext cx="1337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theoretical probability?</a:t>
            </a:r>
            <a:endParaRPr lang="en-A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7FBACC-5D77-47D3-97A6-59DAB6F5C82F}"/>
              </a:ext>
            </a:extLst>
          </p:cNvPr>
          <p:cNvSpPr/>
          <p:nvPr/>
        </p:nvSpPr>
        <p:spPr>
          <a:xfrm>
            <a:off x="168483" y="3255273"/>
            <a:ext cx="145895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What is experimental probability?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400" dirty="0"/>
              <a:t>EQ: What is the difference between theoretical and experimental probability?</a:t>
            </a:r>
            <a:endParaRPr lang="en-AU" sz="2400" b="1" dirty="0">
              <a:solidFill>
                <a:srgbClr val="FF0000"/>
              </a:solidFill>
              <a:latin typeface="Fragment Core" panose="02000504040000020003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9CC86A2-6030-44A8-977F-E28ABDED0DAE}"/>
                  </a:ext>
                </a:extLst>
              </p:cNvPr>
              <p:cNvSpPr/>
              <p:nvPr/>
            </p:nvSpPr>
            <p:spPr>
              <a:xfrm>
                <a:off x="2067612" y="1894668"/>
                <a:ext cx="4672553" cy="331469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AU" sz="1400" u="sng" dirty="0"/>
                  <a:t>Theoretical Probability</a:t>
                </a:r>
              </a:p>
              <a:p>
                <a:endParaRPr lang="en-AU" sz="1400" dirty="0"/>
              </a:p>
              <a:p>
                <a:r>
                  <a:rPr lang="en-AU" sz="1400" dirty="0"/>
                  <a:t>Theoretical probability is what we expect to occur.</a:t>
                </a:r>
              </a:p>
              <a:p>
                <a:endParaRPr lang="en-AU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𝐸𝑣𝑒𝑛𝑡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𝑝𝑜𝑠𝑠𝑖𝑏𝑙𝑒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𝑜𝑢𝑡𝑐𝑜𝑚𝑒𝑠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𝑝𝑜𝑠𝑠𝑖𝑏𝑙𝑒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𝑜𝑢𝑡𝑐𝑜𝑚𝑒𝑠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𝑆𝑎𝑚𝑝𝑙𝑒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𝑆𝑝𝑎𝑐𝑒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AU" sz="1400" dirty="0"/>
              </a:p>
              <a:p>
                <a:endParaRPr lang="en-AU" sz="1400" dirty="0"/>
              </a:p>
              <a:p>
                <a:r>
                  <a:rPr lang="en-AU" sz="1400" dirty="0"/>
                  <a:t>Example – what is the probability of rolling an even number on a six sided die.</a:t>
                </a:r>
              </a:p>
              <a:p>
                <a:endParaRPr lang="en-AU" sz="1400" dirty="0"/>
              </a:p>
              <a:p>
                <a:r>
                  <a:rPr lang="en-AU" sz="1400" dirty="0"/>
                  <a:t>Sample Space {1, 2, 3, 4, 5, 6}</a:t>
                </a:r>
              </a:p>
              <a:p>
                <a:r>
                  <a:rPr lang="en-AU" sz="1400" dirty="0"/>
                  <a:t>Even Numbers  2, 4, 6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𝐸𝑣𝑒𝑛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1400" dirty="0"/>
              </a:p>
              <a:p>
                <a:r>
                  <a:rPr lang="en-AU" sz="1400" dirty="0"/>
                  <a:t>50/50 or even chance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9CC86A2-6030-44A8-977F-E28ABDED0D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612" y="1894668"/>
                <a:ext cx="4672553" cy="3314690"/>
              </a:xfrm>
              <a:prstGeom prst="rect">
                <a:avLst/>
              </a:prstGeom>
              <a:blipFill>
                <a:blip r:embed="rId3"/>
                <a:stretch>
                  <a:fillRect l="-260" t="-183" b="-7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670AFE-44A8-415E-B51F-6B630BDDA8D9}"/>
                  </a:ext>
                </a:extLst>
              </p:cNvPr>
              <p:cNvSpPr txBox="1"/>
              <p:nvPr/>
            </p:nvSpPr>
            <p:spPr>
              <a:xfrm>
                <a:off x="7070979" y="1872491"/>
                <a:ext cx="4910839" cy="402212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AU" sz="1400" u="sng" dirty="0"/>
                  <a:t>Experimental Probability</a:t>
                </a:r>
              </a:p>
              <a:p>
                <a:endParaRPr lang="en-AU" sz="1400" dirty="0"/>
              </a:p>
              <a:p>
                <a:r>
                  <a:rPr lang="en-AU" sz="1400" dirty="0"/>
                  <a:t>Experimental Probability is what actually happens. The results of the activity are recorded and the number of trials is calculated</a:t>
                </a:r>
              </a:p>
              <a:p>
                <a:endParaRPr lang="en-AU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𝑒𝑣𝑒𝑛𝑡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𝑑𝑒𝑠𝑖𝑟𝑒𝑑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𝑜𝑢𝑡𝑐𝑜𝑚𝑒𝑠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𝑡𝑟𝑖𝑎𝑙𝑠</m:t>
                          </m:r>
                        </m:den>
                      </m:f>
                    </m:oMath>
                  </m:oMathPara>
                </a14:m>
                <a:endParaRPr lang="en-AU" sz="1400" dirty="0"/>
              </a:p>
              <a:p>
                <a:endParaRPr lang="en-AU" sz="1400" dirty="0"/>
              </a:p>
              <a:p>
                <a:r>
                  <a:rPr lang="en-AU" sz="1400" dirty="0"/>
                  <a:t>Example – tossing a coin 20 times</a:t>
                </a:r>
              </a:p>
              <a:p>
                <a:endParaRPr lang="en-AU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AU" sz="1400" dirty="0"/>
              </a:p>
              <a:p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h𝑒𝑎𝑑𝑠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AU" sz="1400" dirty="0"/>
              </a:p>
              <a:p>
                <a:endParaRPr lang="en-AU" sz="1400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670AFE-44A8-415E-B51F-6B630BDDA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979" y="1872491"/>
                <a:ext cx="4910839" cy="4022127"/>
              </a:xfrm>
              <a:prstGeom prst="rect">
                <a:avLst/>
              </a:prstGeom>
              <a:blipFill>
                <a:blip r:embed="rId4"/>
                <a:stretch>
                  <a:fillRect l="-248" t="-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7314BA-9FEF-4621-AD96-991E186F4F42}"/>
              </a:ext>
            </a:extLst>
          </p:cNvPr>
          <p:cNvGraphicFramePr>
            <a:graphicFrameLocks noGrp="1"/>
          </p:cNvGraphicFramePr>
          <p:nvPr/>
        </p:nvGraphicFramePr>
        <p:xfrm>
          <a:off x="7952032" y="3943633"/>
          <a:ext cx="163696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483">
                  <a:extLst>
                    <a:ext uri="{9D8B030D-6E8A-4147-A177-3AD203B41FA5}">
                      <a16:colId xmlns:a16="http://schemas.microsoft.com/office/drawing/2014/main" val="2373036923"/>
                    </a:ext>
                  </a:extLst>
                </a:gridCol>
                <a:gridCol w="818483">
                  <a:extLst>
                    <a:ext uri="{9D8B030D-6E8A-4147-A177-3AD203B41FA5}">
                      <a16:colId xmlns:a16="http://schemas.microsoft.com/office/drawing/2014/main" val="4077649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Heads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Tails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49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67911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5E60648-71A7-4BA9-AAA0-5BF9E181B2DC}"/>
              </a:ext>
            </a:extLst>
          </p:cNvPr>
          <p:cNvSpPr/>
          <p:nvPr/>
        </p:nvSpPr>
        <p:spPr>
          <a:xfrm>
            <a:off x="3430398" y="591788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Probability = </a:t>
            </a:r>
            <a:r>
              <a:rPr lang="en-AU" u="sng" dirty="0"/>
              <a:t>Number of possible outcomes</a:t>
            </a:r>
          </a:p>
          <a:p>
            <a:r>
              <a:rPr lang="en-AU" dirty="0"/>
              <a:t>                           Total number of outcomes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483BF9-E7D3-4611-8149-4EBC30697BA6}"/>
              </a:ext>
            </a:extLst>
          </p:cNvPr>
          <p:cNvSpPr txBox="1"/>
          <p:nvPr/>
        </p:nvSpPr>
        <p:spPr>
          <a:xfrm>
            <a:off x="289545" y="1960775"/>
            <a:ext cx="1337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theoretical probability?</a:t>
            </a:r>
            <a:endParaRPr lang="en-A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7FBACC-5D77-47D3-97A6-59DAB6F5C82F}"/>
              </a:ext>
            </a:extLst>
          </p:cNvPr>
          <p:cNvSpPr/>
          <p:nvPr/>
        </p:nvSpPr>
        <p:spPr>
          <a:xfrm>
            <a:off x="168483" y="3255273"/>
            <a:ext cx="145895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What is experimental probability?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127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F75A54-3909-4F80-86B0-C9D04133779B}"/>
              </a:ext>
            </a:extLst>
          </p:cNvPr>
          <p:cNvSpPr/>
          <p:nvPr/>
        </p:nvSpPr>
        <p:spPr>
          <a:xfrm>
            <a:off x="1911420" y="1764326"/>
            <a:ext cx="64083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2. Theoretical vs Experimental Probability worksheet – need a coin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AE6948-884B-46BE-A484-E472F89495C1}"/>
              </a:ext>
            </a:extLst>
          </p:cNvPr>
          <p:cNvSpPr txBox="1"/>
          <p:nvPr/>
        </p:nvSpPr>
        <p:spPr>
          <a:xfrm>
            <a:off x="1911420" y="820132"/>
            <a:ext cx="672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Practice: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C59C7F-C488-4BE7-ACB4-86743DE2F9CF}"/>
              </a:ext>
            </a:extLst>
          </p:cNvPr>
          <p:cNvSpPr/>
          <p:nvPr/>
        </p:nvSpPr>
        <p:spPr>
          <a:xfrm>
            <a:off x="1911420" y="2477563"/>
            <a:ext cx="5674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2. One in every six experimental and theoretical probability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917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327</Words>
  <Application>Microsoft Office PowerPoint</Application>
  <PresentationFormat>Widescreen</PresentationFormat>
  <Paragraphs>84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Fragment Core</vt:lpstr>
      <vt:lpstr>Office Theme</vt:lpstr>
      <vt:lpstr>Probability EQ: What is the difference between theoretical and experimental probability?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EQ: What is the difference between theoretical and experimental probability?</dc:title>
  <dc:creator>JAMES Sarah [Baldivis Secondary College]</dc:creator>
  <cp:lastModifiedBy>JAMES Sarah [Baldivis Secondary College]</cp:lastModifiedBy>
  <cp:revision>3</cp:revision>
  <dcterms:created xsi:type="dcterms:W3CDTF">2021-06-01T12:59:56Z</dcterms:created>
  <dcterms:modified xsi:type="dcterms:W3CDTF">2021-06-01T13:04:18Z</dcterms:modified>
</cp:coreProperties>
</file>
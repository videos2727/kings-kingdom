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89" r:id="rId2"/>
    <p:sldId id="267" r:id="rId3"/>
    <p:sldId id="268" r:id="rId4"/>
    <p:sldId id="269" r:id="rId5"/>
    <p:sldId id="270" r:id="rId6"/>
    <p:sldId id="272" r:id="rId7"/>
    <p:sldId id="271" r:id="rId8"/>
    <p:sldId id="273" r:id="rId9"/>
    <p:sldId id="274" r:id="rId10"/>
    <p:sldId id="27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47810-1240-4442-8D18-01175ED2AE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F3831D-9E79-4AA9-9035-1744A1293F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54537F-F04F-458C-9DAE-37D7FA09B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04793-A928-46CE-82EB-C3DA88CF5787}" type="datetimeFigureOut">
              <a:rPr lang="en-AU" smtClean="0"/>
              <a:t>5/05/2021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46D793-4C10-47DE-906C-DE13468250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1E80CB-1062-4BF9-A12C-D876F1188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BC2DF-22C5-450E-8CC8-17EA70C11C9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171459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328A1E-1590-49C0-A785-A9D48BFDE2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B5ECE9-CE70-41D3-B7AF-C4D1360C23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B83EE3-D1C5-45B2-A0CF-A33A96758E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04793-A928-46CE-82EB-C3DA88CF5787}" type="datetimeFigureOut">
              <a:rPr lang="en-AU" smtClean="0"/>
              <a:t>5/05/2021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28729B-6950-4B38-A85C-7FE2290B1E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B088D8-48CB-4CAC-B4AD-AF69C94E4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BC2DF-22C5-450E-8CC8-17EA70C11C9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614083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F71C4-58C5-4D3D-944F-B6CB8CB0AE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EF80E6-EAC8-4C59-824D-CA407379F8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45931C-0E70-43CB-B5DC-E0F15FFC99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04793-A928-46CE-82EB-C3DA88CF5787}" type="datetimeFigureOut">
              <a:rPr lang="en-AU" smtClean="0"/>
              <a:t>5/05/2021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6C3F5B-CB67-4A54-A22A-14C93BD78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F0B0C4-BF6C-49C4-A69B-A02DF77F64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BC2DF-22C5-450E-8CC8-17EA70C11C9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925657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BF36D-AFD0-4B72-93CC-A1C2FDE9F0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3F5EA5-F08D-4F15-8744-730AB23123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0CBEC5-A1A7-4F39-91C7-EE4D780173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021726-B16D-44AD-8A7A-D865551419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04793-A928-46CE-82EB-C3DA88CF5787}" type="datetimeFigureOut">
              <a:rPr lang="en-AU" smtClean="0"/>
              <a:t>5/05/2021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3F136D-C57D-4738-9222-96832523FD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AA3139-3A19-4312-9788-57852FC48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BC2DF-22C5-450E-8CC8-17EA70C11C9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650150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0155A6-FB5F-447E-BFE7-2C1A7EE7DA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5DEE8C-6264-4C06-8FC1-490481A1CB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617C1C-5F9C-455D-B1A7-6ED5344908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7994AF1-E222-4259-B3DD-2C025F5A32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78EFF5-0EA5-4176-BCC8-F65AEDA8DA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B6C1206-C5DF-4483-B669-6E830B5A4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04793-A928-46CE-82EB-C3DA88CF5787}" type="datetimeFigureOut">
              <a:rPr lang="en-AU" smtClean="0"/>
              <a:t>5/05/2021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37EDFC-D910-4AD6-A544-86D35A3AC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91B6FC-1570-4DE5-B494-6969278F1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BC2DF-22C5-450E-8CC8-17EA70C11C9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820794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1DA485-ACD2-40DC-A91D-670B3D7EA5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EED6E8-E9F0-4C06-A23F-12E8080CF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04793-A928-46CE-82EB-C3DA88CF5787}" type="datetimeFigureOut">
              <a:rPr lang="en-AU" smtClean="0"/>
              <a:t>5/05/2021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D29AE9-8BEB-42CB-8FA7-A61A4E5925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7F91D7-E2F1-43F6-9DFD-FFDD91D09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BC2DF-22C5-450E-8CC8-17EA70C11C9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219959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B038637-7F5E-4AD1-AA44-4DC523D5D9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04793-A928-46CE-82EB-C3DA88CF5787}" type="datetimeFigureOut">
              <a:rPr lang="en-AU" smtClean="0"/>
              <a:t>5/05/2021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517850D-7195-4525-8D26-489228E20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C87DA2-05E6-458B-9BB2-7573E6859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BC2DF-22C5-450E-8CC8-17EA70C11C9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98411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66DC9D-579A-405F-88FF-4482220EC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B8856C-70E2-4C89-97EB-AEAC1B9242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A1BDB9-22F7-43FE-BCF1-62C8AA6758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05A3BF-D0D9-408D-9398-5F6FBDA41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04793-A928-46CE-82EB-C3DA88CF5787}" type="datetimeFigureOut">
              <a:rPr lang="en-AU" smtClean="0"/>
              <a:t>5/05/2021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4C5F70-D622-42DB-83F5-45C00BA4A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70A35B-EB57-4C10-BEAF-D4AC146944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BC2DF-22C5-450E-8CC8-17EA70C11C9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860347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01BAD-51CC-458B-A24A-F21375974A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CCDFC1-A12E-4AA4-8079-C17A57B303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7DFFDF-9D1B-455D-934B-B21E9DA9FA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703176-8961-41C5-B827-0807BDA3D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04793-A928-46CE-82EB-C3DA88CF5787}" type="datetimeFigureOut">
              <a:rPr lang="en-AU" smtClean="0"/>
              <a:t>5/05/2021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54396E-9468-4E4C-899E-8D992A180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1FB861-4143-4639-BF47-9E31F636A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BC2DF-22C5-450E-8CC8-17EA70C11C9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360845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3D68E6-1AF2-4E91-9FBE-CB1B99717F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7EAB0F-639F-433E-9F40-65C745AB47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493EBC-E8E3-4D8E-B739-21CD4989C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04793-A928-46CE-82EB-C3DA88CF5787}" type="datetimeFigureOut">
              <a:rPr lang="en-AU" smtClean="0"/>
              <a:t>5/05/2021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65DB3B-7FA5-4D60-9A1D-DD20E9B3B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53206C-0DED-4FC6-A933-20834927C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BC2DF-22C5-450E-8CC8-17EA70C11C9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235916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1792A1C-9E3F-4449-B932-589B26BDE5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8FA1FA-713B-49C9-8C0C-60F948D27A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473877-365E-4FC5-992B-9F1D0A25D9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04793-A928-46CE-82EB-C3DA88CF5787}" type="datetimeFigureOut">
              <a:rPr lang="en-AU" smtClean="0"/>
              <a:t>5/05/2021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E11433-2A5B-4561-8B5C-8FF70EA38C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D3207A-B54A-4081-A690-2EE7ABAAC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6BC2DF-22C5-450E-8CC8-17EA70C11C9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952224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1AB23C-0E77-449D-924A-C2F92FE048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B0BA16-F0E6-496A-9AFD-1C866A2080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43FB15-DEBE-4FB0-B0C0-0EA906B772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A04793-A928-46CE-82EB-C3DA88CF5787}" type="datetimeFigureOut">
              <a:rPr lang="en-AU" smtClean="0"/>
              <a:t>5/05/2021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4D1BC3-ECA0-44DC-8B28-C46D848107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E54B54-3DCB-4E9E-8025-97A99ACA68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6BC2DF-22C5-450E-8CC8-17EA70C11C9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14070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0.png"/><Relationship Id="rId7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8.png"/><Relationship Id="rId5" Type="http://schemas.openxmlformats.org/officeDocument/2006/relationships/image" Target="../media/image3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539F4-62A1-496D-8D5C-97AA3DBD93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15480" y="260648"/>
            <a:ext cx="9144000" cy="864096"/>
          </a:xfrm>
        </p:spPr>
        <p:txBody>
          <a:bodyPr>
            <a:normAutofit fontScale="90000"/>
          </a:bodyPr>
          <a:lstStyle/>
          <a:p>
            <a:r>
              <a:rPr lang="en-AU" sz="2000" b="1" dirty="0"/>
              <a:t>Topic: Linear Relationships</a:t>
            </a:r>
            <a:br>
              <a:rPr lang="en-AU" sz="2000" dirty="0"/>
            </a:br>
            <a:r>
              <a:rPr lang="en-AU" sz="2000" b="1" dirty="0"/>
              <a:t>EQ – What is the gradient and y-intercept of a linear graph and how does it relate to an equation?</a:t>
            </a:r>
            <a:br>
              <a:rPr lang="en-AU" sz="2000" b="1" dirty="0"/>
            </a:b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27365681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2"/>
          <a:srcRect l="32481" t="1" r="9872" b="16419"/>
          <a:stretch/>
        </p:blipFill>
        <p:spPr>
          <a:xfrm>
            <a:off x="6245426" y="132361"/>
            <a:ext cx="4687974" cy="672437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49799" y="274127"/>
            <a:ext cx="2660202" cy="4247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AU" sz="2160" dirty="0"/>
              <a:t>If we start with a rule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/>
              <p:cNvGraphicFramePr>
                <a:graphicFrameLocks noGrp="1"/>
              </p:cNvGraphicFramePr>
              <p:nvPr/>
            </p:nvGraphicFramePr>
            <p:xfrm>
              <a:off x="1435270" y="1580360"/>
              <a:ext cx="4341288" cy="890016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20184">
                      <a:extLst>
                        <a:ext uri="{9D8B030D-6E8A-4147-A177-3AD203B41FA5}">
                          <a16:colId xmlns:a16="http://schemas.microsoft.com/office/drawing/2014/main" val="1265534055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1849813590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1564237064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3874331450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947499834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2140937466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3450636510"/>
                        </a:ext>
                      </a:extLst>
                    </a:gridCol>
                  </a:tblGrid>
                  <a:tr h="438912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220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sz="2200" dirty="0"/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-2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-1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0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1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2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3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99543246"/>
                      </a:ext>
                    </a:extLst>
                  </a:tr>
                  <a:tr h="438912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220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AU" sz="2200" dirty="0"/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-3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-1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1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3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5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7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458349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/>
              <p:cNvGraphicFramePr>
                <a:graphicFrameLocks noGrp="1"/>
              </p:cNvGraphicFramePr>
              <p:nvPr>
                <p:extLst/>
              </p:nvPr>
            </p:nvGraphicFramePr>
            <p:xfrm>
              <a:off x="1435270" y="1580360"/>
              <a:ext cx="4341288" cy="890016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20184">
                      <a:extLst>
                        <a:ext uri="{9D8B030D-6E8A-4147-A177-3AD203B41FA5}">
                          <a16:colId xmlns:a16="http://schemas.microsoft.com/office/drawing/2014/main" val="1265534055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1849813590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1564237064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3874331450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947499834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2140937466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3450636510"/>
                        </a:ext>
                      </a:extLst>
                    </a:gridCol>
                  </a:tblGrid>
                  <a:tr h="44500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9728" marR="109728" marT="54864" marB="54864">
                        <a:blipFill>
                          <a:blip r:embed="rId3"/>
                          <a:stretch>
                            <a:fillRect l="-980" t="-6757" r="-600980" b="-1229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-2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-1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0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1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2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3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99543246"/>
                      </a:ext>
                    </a:extLst>
                  </a:tr>
                  <a:tr h="44500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9728" marR="109728" marT="54864" marB="54864">
                        <a:blipFill>
                          <a:blip r:embed="rId3"/>
                          <a:stretch>
                            <a:fillRect l="-980" t="-108219" r="-600980" b="-246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-3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-1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1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3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5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7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4583490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Rectangle 61"/>
              <p:cNvSpPr/>
              <p:nvPr/>
            </p:nvSpPr>
            <p:spPr>
              <a:xfrm>
                <a:off x="4063052" y="278670"/>
                <a:ext cx="1561646" cy="4247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16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sz="2160" i="1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AU" sz="216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160" i="1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AU" sz="2160" dirty="0"/>
              </a:p>
            </p:txBody>
          </p:sp>
        </mc:Choice>
        <mc:Fallback xmlns="">
          <p:sp>
            <p:nvSpPr>
              <p:cNvPr id="62" name="Rectangle 6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3052" y="278670"/>
                <a:ext cx="1561646" cy="424732"/>
              </a:xfrm>
              <a:prstGeom prst="rect">
                <a:avLst/>
              </a:prstGeom>
              <a:blipFill>
                <a:blip r:embed="rId4"/>
                <a:stretch>
                  <a:fillRect b="-724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/>
          <p:cNvSpPr txBox="1"/>
          <p:nvPr/>
        </p:nvSpPr>
        <p:spPr>
          <a:xfrm>
            <a:off x="1076998" y="1034358"/>
            <a:ext cx="4656269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160" dirty="0"/>
              <a:t>We can create a table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89156" y="2686802"/>
            <a:ext cx="4656269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160" dirty="0"/>
              <a:t>(-2,-3) (-1,-1) (0,1) (1,3) (2,5) (3,7)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5074" y="5138482"/>
            <a:ext cx="361300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160" b="1" dirty="0">
                <a:solidFill>
                  <a:srgbClr val="0070C0"/>
                </a:solidFill>
              </a:rPr>
              <a:t>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9754" y="4357896"/>
            <a:ext cx="361300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160" b="1" dirty="0">
                <a:solidFill>
                  <a:srgbClr val="0070C0"/>
                </a:solidFill>
              </a:rPr>
              <a:t>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23358" y="3615947"/>
            <a:ext cx="361300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160" b="1" dirty="0">
                <a:solidFill>
                  <a:srgbClr val="0070C0"/>
                </a:solidFill>
              </a:rPr>
              <a:t>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91349" y="2849392"/>
            <a:ext cx="361300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160" b="1" dirty="0">
                <a:solidFill>
                  <a:srgbClr val="0070C0"/>
                </a:solidFill>
              </a:rPr>
              <a:t>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66030" y="2082837"/>
            <a:ext cx="361300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160" b="1" dirty="0">
                <a:solidFill>
                  <a:srgbClr val="0070C0"/>
                </a:solidFill>
              </a:rPr>
              <a:t>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42944" y="1309212"/>
            <a:ext cx="361300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160" b="1" dirty="0">
                <a:solidFill>
                  <a:srgbClr val="0070C0"/>
                </a:solidFill>
              </a:rPr>
              <a:t>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/>
              <p:cNvSpPr/>
              <p:nvPr/>
            </p:nvSpPr>
            <p:spPr>
              <a:xfrm>
                <a:off x="8887079" y="1007326"/>
                <a:ext cx="1561646" cy="4247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16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sz="2160" i="1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AU" sz="216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160" i="1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AU" sz="2160" dirty="0"/>
              </a:p>
            </p:txBody>
          </p:sp>
        </mc:Choice>
        <mc:Fallback xmlns="">
          <p:sp>
            <p:nvSpPr>
              <p:cNvPr id="29" name="Rectangle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87079" y="1007326"/>
                <a:ext cx="1561646" cy="424732"/>
              </a:xfrm>
              <a:prstGeom prst="rect">
                <a:avLst/>
              </a:prstGeom>
              <a:blipFill>
                <a:blip r:embed="rId5"/>
                <a:stretch>
                  <a:fillRect b="-714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/>
          <p:cNvCxnSpPr/>
          <p:nvPr/>
        </p:nvCxnSpPr>
        <p:spPr>
          <a:xfrm flipV="1">
            <a:off x="6577733" y="896559"/>
            <a:ext cx="2555860" cy="517862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7661828" y="-36428"/>
                <a:ext cx="407419" cy="4247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160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AU" sz="2160" dirty="0"/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1828" y="-36428"/>
                <a:ext cx="407419" cy="424732"/>
              </a:xfrm>
              <a:prstGeom prst="rect">
                <a:avLst/>
              </a:prstGeom>
              <a:blipFill>
                <a:blip r:embed="rId6"/>
                <a:stretch>
                  <a:fillRect b="-714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10712608" y="4136297"/>
                <a:ext cx="403059" cy="4247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160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AU" sz="2160" dirty="0"/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12608" y="4136297"/>
                <a:ext cx="403059" cy="4247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/>
          <p:cNvCxnSpPr>
            <a:cxnSpLocks/>
          </p:cNvCxnSpPr>
          <p:nvPr/>
        </p:nvCxnSpPr>
        <p:spPr>
          <a:xfrm>
            <a:off x="2154233" y="3030182"/>
            <a:ext cx="4811150" cy="23380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cxnSpLocks/>
          </p:cNvCxnSpPr>
          <p:nvPr/>
        </p:nvCxnSpPr>
        <p:spPr>
          <a:xfrm>
            <a:off x="3086627" y="3030415"/>
            <a:ext cx="4247947" cy="15574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cxnSpLocks/>
          </p:cNvCxnSpPr>
          <p:nvPr/>
        </p:nvCxnSpPr>
        <p:spPr>
          <a:xfrm>
            <a:off x="3569374" y="2997335"/>
            <a:ext cx="4110648" cy="8472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>
            <a:cxnSpLocks/>
          </p:cNvCxnSpPr>
          <p:nvPr/>
        </p:nvCxnSpPr>
        <p:spPr>
          <a:xfrm>
            <a:off x="4269877" y="2990295"/>
            <a:ext cx="3742453" cy="750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>
            <a:cxnSpLocks/>
          </p:cNvCxnSpPr>
          <p:nvPr/>
        </p:nvCxnSpPr>
        <p:spPr>
          <a:xfrm flipV="1">
            <a:off x="4559809" y="2283341"/>
            <a:ext cx="3886871" cy="4923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>
            <a:cxnSpLocks/>
          </p:cNvCxnSpPr>
          <p:nvPr/>
        </p:nvCxnSpPr>
        <p:spPr>
          <a:xfrm flipV="1">
            <a:off x="5248023" y="1540038"/>
            <a:ext cx="3575570" cy="12411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>
            <a:cxnSpLocks/>
          </p:cNvCxnSpPr>
          <p:nvPr/>
        </p:nvCxnSpPr>
        <p:spPr>
          <a:xfrm flipH="1">
            <a:off x="2050900" y="2304436"/>
            <a:ext cx="120516" cy="5122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>
            <a:cxnSpLocks/>
          </p:cNvCxnSpPr>
          <p:nvPr/>
        </p:nvCxnSpPr>
        <p:spPr>
          <a:xfrm flipH="1">
            <a:off x="2780149" y="2318293"/>
            <a:ext cx="120516" cy="5122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>
            <a:cxnSpLocks/>
          </p:cNvCxnSpPr>
          <p:nvPr/>
        </p:nvCxnSpPr>
        <p:spPr>
          <a:xfrm flipH="1">
            <a:off x="3416782" y="2315606"/>
            <a:ext cx="120516" cy="5122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>
            <a:cxnSpLocks/>
          </p:cNvCxnSpPr>
          <p:nvPr/>
        </p:nvCxnSpPr>
        <p:spPr>
          <a:xfrm flipH="1">
            <a:off x="4059900" y="2323541"/>
            <a:ext cx="120516" cy="5122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/>
          <p:cNvCxnSpPr>
            <a:cxnSpLocks/>
          </p:cNvCxnSpPr>
          <p:nvPr/>
        </p:nvCxnSpPr>
        <p:spPr>
          <a:xfrm flipH="1">
            <a:off x="4580113" y="2295757"/>
            <a:ext cx="120516" cy="5122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>
            <a:cxnSpLocks/>
          </p:cNvCxnSpPr>
          <p:nvPr/>
        </p:nvCxnSpPr>
        <p:spPr>
          <a:xfrm flipH="1">
            <a:off x="5176984" y="2313349"/>
            <a:ext cx="120516" cy="5122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259D332D-0D9C-4C17-97FE-BB958BD499FB}"/>
              </a:ext>
            </a:extLst>
          </p:cNvPr>
          <p:cNvSpPr txBox="1"/>
          <p:nvPr/>
        </p:nvSpPr>
        <p:spPr>
          <a:xfrm>
            <a:off x="881586" y="3831099"/>
            <a:ext cx="4656269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160" dirty="0"/>
              <a:t>From the table we can get coordinates and create a graph</a:t>
            </a:r>
          </a:p>
        </p:txBody>
      </p:sp>
    </p:spTree>
    <p:extLst>
      <p:ext uri="{BB962C8B-B14F-4D97-AF65-F5344CB8AC3E}">
        <p14:creationId xmlns:p14="http://schemas.microsoft.com/office/powerpoint/2010/main" val="6346390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8" grpId="0"/>
      <p:bldP spid="5" grpId="0"/>
      <p:bldP spid="20" grpId="0"/>
      <p:bldP spid="21" grpId="0"/>
      <p:bldP spid="22" grpId="0"/>
      <p:bldP spid="24" grpId="0"/>
      <p:bldP spid="25" grpId="0"/>
      <p:bldP spid="29" grpId="0" animBg="1"/>
      <p:bldP spid="3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2"/>
          <a:srcRect l="32481" t="1" r="9872" b="16419"/>
          <a:stretch/>
        </p:blipFill>
        <p:spPr>
          <a:xfrm>
            <a:off x="6245426" y="132361"/>
            <a:ext cx="4687974" cy="672437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/>
              <p:cNvGraphicFramePr>
                <a:graphicFrameLocks noGrp="1"/>
              </p:cNvGraphicFramePr>
              <p:nvPr/>
            </p:nvGraphicFramePr>
            <p:xfrm>
              <a:off x="987184" y="3246281"/>
              <a:ext cx="4341288" cy="890016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20184">
                      <a:extLst>
                        <a:ext uri="{9D8B030D-6E8A-4147-A177-3AD203B41FA5}">
                          <a16:colId xmlns:a16="http://schemas.microsoft.com/office/drawing/2014/main" val="1265534055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1849813590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1564237064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3874331450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947499834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2140937466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3450636510"/>
                        </a:ext>
                      </a:extLst>
                    </a:gridCol>
                  </a:tblGrid>
                  <a:tr h="438912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220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sz="2200" dirty="0"/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-2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-1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0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1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2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3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99543246"/>
                      </a:ext>
                    </a:extLst>
                  </a:tr>
                  <a:tr h="438912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220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AU" sz="2200" dirty="0"/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-3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-1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1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3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5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7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458349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8143193"/>
                  </p:ext>
                </p:extLst>
              </p:nvPr>
            </p:nvGraphicFramePr>
            <p:xfrm>
              <a:off x="987184" y="3246281"/>
              <a:ext cx="4341288" cy="890016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20184">
                      <a:extLst>
                        <a:ext uri="{9D8B030D-6E8A-4147-A177-3AD203B41FA5}">
                          <a16:colId xmlns:a16="http://schemas.microsoft.com/office/drawing/2014/main" val="1265534055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1849813590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1564237064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3874331450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947499834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2140937466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3450636510"/>
                        </a:ext>
                      </a:extLst>
                    </a:gridCol>
                  </a:tblGrid>
                  <a:tr h="44500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9728" marR="109728" marT="54864" marB="54864">
                        <a:blipFill>
                          <a:blip r:embed="rId3"/>
                          <a:stretch>
                            <a:fillRect l="-980" t="-6757" r="-601961" b="-1243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-2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-1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0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1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2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3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99543246"/>
                      </a:ext>
                    </a:extLst>
                  </a:tr>
                  <a:tr h="44500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9728" marR="109728" marT="54864" marB="54864">
                        <a:blipFill>
                          <a:blip r:embed="rId3"/>
                          <a:stretch>
                            <a:fillRect l="-980" t="-108219" r="-601961" b="-260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-3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-1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1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3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5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7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4583490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Rectangle 61"/>
              <p:cNvSpPr/>
              <p:nvPr/>
            </p:nvSpPr>
            <p:spPr>
              <a:xfrm>
                <a:off x="793220" y="1521578"/>
                <a:ext cx="1561646" cy="4247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16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sz="2160" i="1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AU" sz="216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160" i="1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AU" sz="2160" dirty="0"/>
              </a:p>
            </p:txBody>
          </p:sp>
        </mc:Choice>
        <mc:Fallback xmlns="">
          <p:sp>
            <p:nvSpPr>
              <p:cNvPr id="62" name="Rectangle 6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220" y="1521578"/>
                <a:ext cx="1561646" cy="424732"/>
              </a:xfrm>
              <a:prstGeom prst="rect">
                <a:avLst/>
              </a:prstGeom>
              <a:blipFill>
                <a:blip r:embed="rId4"/>
                <a:stretch>
                  <a:fillRect b="-724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/>
              <p:cNvSpPr/>
              <p:nvPr/>
            </p:nvSpPr>
            <p:spPr>
              <a:xfrm>
                <a:off x="8887079" y="1007326"/>
                <a:ext cx="1561646" cy="4247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16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sz="2160" i="1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AU" sz="216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160" i="1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AU" sz="2160" dirty="0"/>
              </a:p>
            </p:txBody>
          </p:sp>
        </mc:Choice>
        <mc:Fallback xmlns="">
          <p:sp>
            <p:nvSpPr>
              <p:cNvPr id="29" name="Rectangle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87079" y="1007326"/>
                <a:ext cx="1561646" cy="424732"/>
              </a:xfrm>
              <a:prstGeom prst="rect">
                <a:avLst/>
              </a:prstGeom>
              <a:blipFill>
                <a:blip r:embed="rId5"/>
                <a:stretch>
                  <a:fillRect b="-714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/>
          <p:cNvCxnSpPr/>
          <p:nvPr/>
        </p:nvCxnSpPr>
        <p:spPr>
          <a:xfrm flipV="1">
            <a:off x="6577733" y="896559"/>
            <a:ext cx="2555860" cy="517862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7661828" y="-36428"/>
                <a:ext cx="407419" cy="4247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160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AU" sz="2160" dirty="0"/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1828" y="-36428"/>
                <a:ext cx="407419" cy="424732"/>
              </a:xfrm>
              <a:prstGeom prst="rect">
                <a:avLst/>
              </a:prstGeom>
              <a:blipFill>
                <a:blip r:embed="rId6"/>
                <a:stretch>
                  <a:fillRect b="-714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10712608" y="4136297"/>
                <a:ext cx="403059" cy="4247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160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AU" sz="2160" dirty="0"/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12608" y="4136297"/>
                <a:ext cx="403059" cy="4247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3D65F8F9-D47C-4A80-A22D-750C0F3AD79E}"/>
              </a:ext>
            </a:extLst>
          </p:cNvPr>
          <p:cNvSpPr txBox="1"/>
          <p:nvPr/>
        </p:nvSpPr>
        <p:spPr>
          <a:xfrm>
            <a:off x="449294" y="277007"/>
            <a:ext cx="566678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So our graph, our table and our rule are connected.</a:t>
            </a:r>
          </a:p>
          <a:p>
            <a:r>
              <a:rPr lang="en-AU" dirty="0"/>
              <a:t>Each one can be used to find the gradient (M) and the y-intercept (C) for y=</a:t>
            </a:r>
            <a:r>
              <a:rPr lang="en-AU" dirty="0" err="1"/>
              <a:t>Mx+C</a:t>
            </a:r>
            <a:endParaRPr lang="en-AU" dirty="0"/>
          </a:p>
          <a:p>
            <a:endParaRPr lang="en-A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D5D2258-8581-410D-8331-7ECA94E4F310}"/>
              </a:ext>
            </a:extLst>
          </p:cNvPr>
          <p:cNvSpPr txBox="1"/>
          <p:nvPr/>
        </p:nvSpPr>
        <p:spPr>
          <a:xfrm>
            <a:off x="2472508" y="1477592"/>
            <a:ext cx="3183303" cy="6463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AU" dirty="0"/>
              <a:t>On our rule the gradient is the number in front of the variable.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C79088C-5965-49C8-BCBF-62BE0B2EF69B}"/>
              </a:ext>
            </a:extLst>
          </p:cNvPr>
          <p:cNvSpPr txBox="1"/>
          <p:nvPr/>
        </p:nvSpPr>
        <p:spPr>
          <a:xfrm>
            <a:off x="2403753" y="4348663"/>
            <a:ext cx="3383196" cy="6463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AU" dirty="0"/>
              <a:t>On our table the gradient is the amount y increases by each time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E80CB1-827A-4053-8C0B-B6D0188EE7C1}"/>
              </a:ext>
            </a:extLst>
          </p:cNvPr>
          <p:cNvSpPr txBox="1"/>
          <p:nvPr/>
        </p:nvSpPr>
        <p:spPr>
          <a:xfrm>
            <a:off x="2064327" y="4136297"/>
            <a:ext cx="2905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2090E20-A1A6-41E0-ABA2-F7C8F1914EB9}"/>
              </a:ext>
            </a:extLst>
          </p:cNvPr>
          <p:cNvSpPr txBox="1"/>
          <p:nvPr/>
        </p:nvSpPr>
        <p:spPr>
          <a:xfrm>
            <a:off x="2714475" y="4100497"/>
            <a:ext cx="2905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E7A140E-ECFE-4A31-9D69-E2B4BD4659A6}"/>
              </a:ext>
            </a:extLst>
          </p:cNvPr>
          <p:cNvSpPr txBox="1"/>
          <p:nvPr/>
        </p:nvSpPr>
        <p:spPr>
          <a:xfrm>
            <a:off x="3303509" y="4100497"/>
            <a:ext cx="2905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7E6E85C-A76E-4EC4-B428-448BBD6C1D08}"/>
              </a:ext>
            </a:extLst>
          </p:cNvPr>
          <p:cNvSpPr txBox="1"/>
          <p:nvPr/>
        </p:nvSpPr>
        <p:spPr>
          <a:xfrm>
            <a:off x="4563655" y="4100497"/>
            <a:ext cx="2905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C051E60-4EEE-4DAB-906C-EDE8E2D5DCA2}"/>
              </a:ext>
            </a:extLst>
          </p:cNvPr>
          <p:cNvSpPr txBox="1"/>
          <p:nvPr/>
        </p:nvSpPr>
        <p:spPr>
          <a:xfrm>
            <a:off x="3975786" y="4088591"/>
            <a:ext cx="2905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2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8CA56EF-4107-466F-A424-B20E54FE31D3}"/>
              </a:ext>
            </a:extLst>
          </p:cNvPr>
          <p:cNvCxnSpPr>
            <a:cxnSpLocks/>
          </p:cNvCxnSpPr>
          <p:nvPr/>
        </p:nvCxnSpPr>
        <p:spPr>
          <a:xfrm flipV="1">
            <a:off x="2022015" y="4209384"/>
            <a:ext cx="405116" cy="53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6F1D1072-C831-4114-9E43-2D544EC3FFF8}"/>
              </a:ext>
            </a:extLst>
          </p:cNvPr>
          <p:cNvCxnSpPr>
            <a:cxnSpLocks/>
          </p:cNvCxnSpPr>
          <p:nvPr/>
        </p:nvCxnSpPr>
        <p:spPr>
          <a:xfrm flipV="1">
            <a:off x="2673614" y="4188480"/>
            <a:ext cx="405116" cy="53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594CFCFB-BAEB-473E-A1D5-62448711DC46}"/>
              </a:ext>
            </a:extLst>
          </p:cNvPr>
          <p:cNvCxnSpPr>
            <a:cxnSpLocks/>
          </p:cNvCxnSpPr>
          <p:nvPr/>
        </p:nvCxnSpPr>
        <p:spPr>
          <a:xfrm flipV="1">
            <a:off x="3268833" y="4183095"/>
            <a:ext cx="405116" cy="53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8EDAC1A4-0D91-4E45-A35B-FFC23F7F35BB}"/>
              </a:ext>
            </a:extLst>
          </p:cNvPr>
          <p:cNvCxnSpPr>
            <a:cxnSpLocks/>
          </p:cNvCxnSpPr>
          <p:nvPr/>
        </p:nvCxnSpPr>
        <p:spPr>
          <a:xfrm flipV="1">
            <a:off x="3902620" y="4154310"/>
            <a:ext cx="405116" cy="53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7B7FDE99-F6ED-4E23-B0B9-5B6E542ED782}"/>
              </a:ext>
            </a:extLst>
          </p:cNvPr>
          <p:cNvCxnSpPr>
            <a:cxnSpLocks/>
          </p:cNvCxnSpPr>
          <p:nvPr/>
        </p:nvCxnSpPr>
        <p:spPr>
          <a:xfrm flipV="1">
            <a:off x="4556825" y="4168140"/>
            <a:ext cx="405116" cy="53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E470500B-5E51-476B-A795-385350500C39}"/>
              </a:ext>
            </a:extLst>
          </p:cNvPr>
          <p:cNvSpPr/>
          <p:nvPr/>
        </p:nvSpPr>
        <p:spPr>
          <a:xfrm>
            <a:off x="1343890" y="1477336"/>
            <a:ext cx="263237" cy="468974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056AF9F-3283-482F-8AAA-321ED394A41A}"/>
              </a:ext>
            </a:extLst>
          </p:cNvPr>
          <p:cNvSpPr txBox="1"/>
          <p:nvPr/>
        </p:nvSpPr>
        <p:spPr>
          <a:xfrm>
            <a:off x="9549100" y="2923115"/>
            <a:ext cx="1842777" cy="6463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AU" dirty="0"/>
              <a:t>How do we find it on our graph?</a:t>
            </a:r>
          </a:p>
        </p:txBody>
      </p:sp>
    </p:spTree>
    <p:extLst>
      <p:ext uri="{BB962C8B-B14F-4D97-AF65-F5344CB8AC3E}">
        <p14:creationId xmlns:p14="http://schemas.microsoft.com/office/powerpoint/2010/main" val="30497881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3" grpId="0" animBg="1"/>
      <p:bldP spid="8" grpId="0"/>
      <p:bldP spid="36" grpId="0"/>
      <p:bldP spid="38" grpId="0"/>
      <p:bldP spid="40" grpId="0"/>
      <p:bldP spid="42" grpId="0"/>
      <p:bldP spid="19" grpId="0" animBg="1"/>
      <p:bldP spid="5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2"/>
          <a:srcRect l="32481" t="1" r="9872" b="16419"/>
          <a:stretch/>
        </p:blipFill>
        <p:spPr>
          <a:xfrm>
            <a:off x="6245426" y="132361"/>
            <a:ext cx="4687974" cy="672437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/>
              <p:cNvGraphicFramePr>
                <a:graphicFrameLocks noGrp="1"/>
              </p:cNvGraphicFramePr>
              <p:nvPr/>
            </p:nvGraphicFramePr>
            <p:xfrm>
              <a:off x="987184" y="3246281"/>
              <a:ext cx="4341288" cy="890016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20184">
                      <a:extLst>
                        <a:ext uri="{9D8B030D-6E8A-4147-A177-3AD203B41FA5}">
                          <a16:colId xmlns:a16="http://schemas.microsoft.com/office/drawing/2014/main" val="1265534055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1849813590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1564237064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3874331450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947499834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2140937466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3450636510"/>
                        </a:ext>
                      </a:extLst>
                    </a:gridCol>
                  </a:tblGrid>
                  <a:tr h="438912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220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sz="2200" dirty="0"/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-2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-1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0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1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2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3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99543246"/>
                      </a:ext>
                    </a:extLst>
                  </a:tr>
                  <a:tr h="438912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220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AU" sz="2200" dirty="0"/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-3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-1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1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3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5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7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458349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/>
              <p:cNvGraphicFramePr>
                <a:graphicFrameLocks noGrp="1"/>
              </p:cNvGraphicFramePr>
              <p:nvPr>
                <p:extLst/>
              </p:nvPr>
            </p:nvGraphicFramePr>
            <p:xfrm>
              <a:off x="987184" y="3246281"/>
              <a:ext cx="4341288" cy="890016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20184">
                      <a:extLst>
                        <a:ext uri="{9D8B030D-6E8A-4147-A177-3AD203B41FA5}">
                          <a16:colId xmlns:a16="http://schemas.microsoft.com/office/drawing/2014/main" val="1265534055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1849813590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1564237064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3874331450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947499834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2140937466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3450636510"/>
                        </a:ext>
                      </a:extLst>
                    </a:gridCol>
                  </a:tblGrid>
                  <a:tr h="44500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9728" marR="109728" marT="54864" marB="54864">
                        <a:blipFill>
                          <a:blip r:embed="rId3"/>
                          <a:stretch>
                            <a:fillRect l="-980" t="-6757" r="-601961" b="-1243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-2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-1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0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1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2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3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99543246"/>
                      </a:ext>
                    </a:extLst>
                  </a:tr>
                  <a:tr h="44500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9728" marR="109728" marT="54864" marB="54864">
                        <a:blipFill>
                          <a:blip r:embed="rId3"/>
                          <a:stretch>
                            <a:fillRect l="-980" t="-108219" r="-601961" b="-260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-3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-1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1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3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5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7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4583490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Rectangle 61"/>
              <p:cNvSpPr/>
              <p:nvPr/>
            </p:nvSpPr>
            <p:spPr>
              <a:xfrm>
                <a:off x="793220" y="1521578"/>
                <a:ext cx="1561646" cy="4247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16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sz="2160" i="1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AU" sz="216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160" i="1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AU" sz="2160" dirty="0"/>
              </a:p>
            </p:txBody>
          </p:sp>
        </mc:Choice>
        <mc:Fallback xmlns="">
          <p:sp>
            <p:nvSpPr>
              <p:cNvPr id="62" name="Rectangle 6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220" y="1521578"/>
                <a:ext cx="1561646" cy="424732"/>
              </a:xfrm>
              <a:prstGeom prst="rect">
                <a:avLst/>
              </a:prstGeom>
              <a:blipFill>
                <a:blip r:embed="rId4"/>
                <a:stretch>
                  <a:fillRect b="-724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/>
              <p:cNvSpPr/>
              <p:nvPr/>
            </p:nvSpPr>
            <p:spPr>
              <a:xfrm>
                <a:off x="8887079" y="1007326"/>
                <a:ext cx="1561646" cy="4247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16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sz="2160" i="1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AU" sz="216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160" i="1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AU" sz="2160" dirty="0"/>
              </a:p>
            </p:txBody>
          </p:sp>
        </mc:Choice>
        <mc:Fallback xmlns="">
          <p:sp>
            <p:nvSpPr>
              <p:cNvPr id="29" name="Rectangle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87079" y="1007326"/>
                <a:ext cx="1561646" cy="424732"/>
              </a:xfrm>
              <a:prstGeom prst="rect">
                <a:avLst/>
              </a:prstGeom>
              <a:blipFill>
                <a:blip r:embed="rId5"/>
                <a:stretch>
                  <a:fillRect b="-714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/>
          <p:cNvCxnSpPr/>
          <p:nvPr/>
        </p:nvCxnSpPr>
        <p:spPr>
          <a:xfrm flipV="1">
            <a:off x="6577733" y="896559"/>
            <a:ext cx="2555860" cy="517862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7661828" y="-36428"/>
                <a:ext cx="407419" cy="4247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160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AU" sz="2160" dirty="0"/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1828" y="-36428"/>
                <a:ext cx="407419" cy="424732"/>
              </a:xfrm>
              <a:prstGeom prst="rect">
                <a:avLst/>
              </a:prstGeom>
              <a:blipFill>
                <a:blip r:embed="rId6"/>
                <a:stretch>
                  <a:fillRect b="-714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10712608" y="4136297"/>
                <a:ext cx="403059" cy="4247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160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AU" sz="2160" dirty="0"/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12608" y="4136297"/>
                <a:ext cx="403059" cy="4247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3D65F8F9-D47C-4A80-A22D-750C0F3AD79E}"/>
              </a:ext>
            </a:extLst>
          </p:cNvPr>
          <p:cNvSpPr txBox="1"/>
          <p:nvPr/>
        </p:nvSpPr>
        <p:spPr>
          <a:xfrm>
            <a:off x="449294" y="277007"/>
            <a:ext cx="566678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So our graph, our table and our rule are connected.</a:t>
            </a:r>
          </a:p>
          <a:p>
            <a:r>
              <a:rPr lang="en-AU" dirty="0"/>
              <a:t>Each one can be used to find the gradient (M) and the y-intercept (C) for y=</a:t>
            </a:r>
            <a:r>
              <a:rPr lang="en-AU" dirty="0" err="1"/>
              <a:t>Mx+C</a:t>
            </a:r>
            <a:endParaRPr lang="en-AU" dirty="0"/>
          </a:p>
          <a:p>
            <a:endParaRPr lang="en-A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D5D2258-8581-410D-8331-7ECA94E4F310}"/>
              </a:ext>
            </a:extLst>
          </p:cNvPr>
          <p:cNvSpPr txBox="1"/>
          <p:nvPr/>
        </p:nvSpPr>
        <p:spPr>
          <a:xfrm>
            <a:off x="2472508" y="1477592"/>
            <a:ext cx="3183303" cy="6463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AU" dirty="0"/>
              <a:t>On our rule the gradient is the number in front of the variable.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C79088C-5965-49C8-BCBF-62BE0B2EF69B}"/>
              </a:ext>
            </a:extLst>
          </p:cNvPr>
          <p:cNvSpPr txBox="1"/>
          <p:nvPr/>
        </p:nvSpPr>
        <p:spPr>
          <a:xfrm>
            <a:off x="2403753" y="4348663"/>
            <a:ext cx="3383196" cy="6463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AU" dirty="0"/>
              <a:t>On our table the gradient is the amount y increases by each time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E80CB1-827A-4053-8C0B-B6D0188EE7C1}"/>
              </a:ext>
            </a:extLst>
          </p:cNvPr>
          <p:cNvSpPr txBox="1"/>
          <p:nvPr/>
        </p:nvSpPr>
        <p:spPr>
          <a:xfrm>
            <a:off x="2064327" y="4136297"/>
            <a:ext cx="2905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2090E20-A1A6-41E0-ABA2-F7C8F1914EB9}"/>
              </a:ext>
            </a:extLst>
          </p:cNvPr>
          <p:cNvSpPr txBox="1"/>
          <p:nvPr/>
        </p:nvSpPr>
        <p:spPr>
          <a:xfrm>
            <a:off x="2714475" y="4100497"/>
            <a:ext cx="2905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E7A140E-ECFE-4A31-9D69-E2B4BD4659A6}"/>
              </a:ext>
            </a:extLst>
          </p:cNvPr>
          <p:cNvSpPr txBox="1"/>
          <p:nvPr/>
        </p:nvSpPr>
        <p:spPr>
          <a:xfrm>
            <a:off x="3303509" y="4100497"/>
            <a:ext cx="2905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7E6E85C-A76E-4EC4-B428-448BBD6C1D08}"/>
              </a:ext>
            </a:extLst>
          </p:cNvPr>
          <p:cNvSpPr txBox="1"/>
          <p:nvPr/>
        </p:nvSpPr>
        <p:spPr>
          <a:xfrm>
            <a:off x="4563655" y="4100497"/>
            <a:ext cx="2905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C051E60-4EEE-4DAB-906C-EDE8E2D5DCA2}"/>
              </a:ext>
            </a:extLst>
          </p:cNvPr>
          <p:cNvSpPr txBox="1"/>
          <p:nvPr/>
        </p:nvSpPr>
        <p:spPr>
          <a:xfrm>
            <a:off x="3975786" y="4088591"/>
            <a:ext cx="2905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2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8CA56EF-4107-466F-A424-B20E54FE31D3}"/>
              </a:ext>
            </a:extLst>
          </p:cNvPr>
          <p:cNvCxnSpPr>
            <a:cxnSpLocks/>
          </p:cNvCxnSpPr>
          <p:nvPr/>
        </p:nvCxnSpPr>
        <p:spPr>
          <a:xfrm flipV="1">
            <a:off x="2022015" y="4209384"/>
            <a:ext cx="405116" cy="53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6F1D1072-C831-4114-9E43-2D544EC3FFF8}"/>
              </a:ext>
            </a:extLst>
          </p:cNvPr>
          <p:cNvCxnSpPr>
            <a:cxnSpLocks/>
          </p:cNvCxnSpPr>
          <p:nvPr/>
        </p:nvCxnSpPr>
        <p:spPr>
          <a:xfrm flipV="1">
            <a:off x="2673614" y="4188480"/>
            <a:ext cx="405116" cy="53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594CFCFB-BAEB-473E-A1D5-62448711DC46}"/>
              </a:ext>
            </a:extLst>
          </p:cNvPr>
          <p:cNvCxnSpPr>
            <a:cxnSpLocks/>
          </p:cNvCxnSpPr>
          <p:nvPr/>
        </p:nvCxnSpPr>
        <p:spPr>
          <a:xfrm flipV="1">
            <a:off x="3268833" y="4183095"/>
            <a:ext cx="405116" cy="53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8EDAC1A4-0D91-4E45-A35B-FFC23F7F35BB}"/>
              </a:ext>
            </a:extLst>
          </p:cNvPr>
          <p:cNvCxnSpPr>
            <a:cxnSpLocks/>
          </p:cNvCxnSpPr>
          <p:nvPr/>
        </p:nvCxnSpPr>
        <p:spPr>
          <a:xfrm flipV="1">
            <a:off x="3902620" y="4154310"/>
            <a:ext cx="405116" cy="53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7B7FDE99-F6ED-4E23-B0B9-5B6E542ED782}"/>
              </a:ext>
            </a:extLst>
          </p:cNvPr>
          <p:cNvCxnSpPr>
            <a:cxnSpLocks/>
          </p:cNvCxnSpPr>
          <p:nvPr/>
        </p:nvCxnSpPr>
        <p:spPr>
          <a:xfrm flipV="1">
            <a:off x="4556825" y="4168140"/>
            <a:ext cx="405116" cy="53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E470500B-5E51-476B-A795-385350500C39}"/>
              </a:ext>
            </a:extLst>
          </p:cNvPr>
          <p:cNvSpPr/>
          <p:nvPr/>
        </p:nvSpPr>
        <p:spPr>
          <a:xfrm>
            <a:off x="1343890" y="1477336"/>
            <a:ext cx="263237" cy="468974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8CD0C4D-01E1-4960-B6CF-4F9E74AF29E8}"/>
              </a:ext>
            </a:extLst>
          </p:cNvPr>
          <p:cNvSpPr txBox="1"/>
          <p:nvPr/>
        </p:nvSpPr>
        <p:spPr>
          <a:xfrm>
            <a:off x="9548389" y="1946310"/>
            <a:ext cx="2182926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AU" dirty="0"/>
              <a:t>Gradient = rise ÷ run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647A40C5-D372-4198-A30E-C0CB64C7AF24}"/>
              </a:ext>
            </a:extLst>
          </p:cNvPr>
          <p:cNvCxnSpPr/>
          <p:nvPr/>
        </p:nvCxnSpPr>
        <p:spPr>
          <a:xfrm>
            <a:off x="7661828" y="3867237"/>
            <a:ext cx="803299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4637E84F-FD50-4B71-A5AF-BA0AA7F5C346}"/>
              </a:ext>
            </a:extLst>
          </p:cNvPr>
          <p:cNvSpPr txBox="1"/>
          <p:nvPr/>
        </p:nvSpPr>
        <p:spPr>
          <a:xfrm>
            <a:off x="7795615" y="4601879"/>
            <a:ext cx="2442887" cy="14773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AU" dirty="0"/>
              <a:t>Run is how far we travel along the ground. In this example we have “run” a distance of 2 places.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9696C67-E66A-42B1-82DB-35894BA5CCFC}"/>
              </a:ext>
            </a:extLst>
          </p:cNvPr>
          <p:cNvCxnSpPr>
            <a:cxnSpLocks/>
          </p:cNvCxnSpPr>
          <p:nvPr/>
        </p:nvCxnSpPr>
        <p:spPr>
          <a:xfrm flipV="1">
            <a:off x="8465127" y="2315643"/>
            <a:ext cx="0" cy="1551594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E19FC451-D601-4C7B-9C15-782C27C05CC1}"/>
              </a:ext>
            </a:extLst>
          </p:cNvPr>
          <p:cNvSpPr txBox="1"/>
          <p:nvPr/>
        </p:nvSpPr>
        <p:spPr>
          <a:xfrm>
            <a:off x="8957872" y="2551837"/>
            <a:ext cx="2182926" cy="12003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AU" dirty="0"/>
              <a:t>Rise is how far we “climb up” after the run.  In this case we have risen 4 places.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0E12D16-66A9-4B4B-AC65-5F584742AAC2}"/>
              </a:ext>
            </a:extLst>
          </p:cNvPr>
          <p:cNvSpPr txBox="1"/>
          <p:nvPr/>
        </p:nvSpPr>
        <p:spPr>
          <a:xfrm>
            <a:off x="592115" y="5286384"/>
            <a:ext cx="5920944" cy="12003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AU" b="1" dirty="0"/>
              <a:t>Gradient = rise ÷ run</a:t>
            </a:r>
          </a:p>
          <a:p>
            <a:r>
              <a:rPr lang="en-AU" b="1" dirty="0"/>
              <a:t>	= 4 ÷ 2</a:t>
            </a:r>
          </a:p>
          <a:p>
            <a:r>
              <a:rPr lang="en-AU" b="1" dirty="0"/>
              <a:t>	= 2</a:t>
            </a:r>
          </a:p>
          <a:p>
            <a:r>
              <a:rPr lang="en-AU" dirty="0"/>
              <a:t>Which is the same value we had in the rule and the table</a:t>
            </a:r>
          </a:p>
        </p:txBody>
      </p:sp>
    </p:spTree>
    <p:extLst>
      <p:ext uri="{BB962C8B-B14F-4D97-AF65-F5344CB8AC3E}">
        <p14:creationId xmlns:p14="http://schemas.microsoft.com/office/powerpoint/2010/main" val="15099855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7" grpId="0" animBg="1"/>
      <p:bldP spid="34" grpId="0" animBg="1"/>
      <p:bldP spid="3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2"/>
          <a:srcRect l="32481" t="1" r="9872" b="16419"/>
          <a:stretch/>
        </p:blipFill>
        <p:spPr>
          <a:xfrm>
            <a:off x="6245426" y="132361"/>
            <a:ext cx="4687974" cy="672437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/>
              <p:cNvGraphicFramePr>
                <a:graphicFrameLocks noGrp="1"/>
              </p:cNvGraphicFramePr>
              <p:nvPr/>
            </p:nvGraphicFramePr>
            <p:xfrm>
              <a:off x="987184" y="3246281"/>
              <a:ext cx="4341288" cy="890016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20184">
                      <a:extLst>
                        <a:ext uri="{9D8B030D-6E8A-4147-A177-3AD203B41FA5}">
                          <a16:colId xmlns:a16="http://schemas.microsoft.com/office/drawing/2014/main" val="1265534055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1849813590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1564237064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3874331450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947499834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2140937466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3450636510"/>
                        </a:ext>
                      </a:extLst>
                    </a:gridCol>
                  </a:tblGrid>
                  <a:tr h="438912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220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sz="2200" dirty="0"/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-2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-1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0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1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2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3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99543246"/>
                      </a:ext>
                    </a:extLst>
                  </a:tr>
                  <a:tr h="438912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220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AU" sz="2200" dirty="0"/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-3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-1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1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3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5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7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458349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/>
              <p:cNvGraphicFramePr>
                <a:graphicFrameLocks noGrp="1"/>
              </p:cNvGraphicFramePr>
              <p:nvPr>
                <p:extLst/>
              </p:nvPr>
            </p:nvGraphicFramePr>
            <p:xfrm>
              <a:off x="987184" y="3246281"/>
              <a:ext cx="4341288" cy="890016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20184">
                      <a:extLst>
                        <a:ext uri="{9D8B030D-6E8A-4147-A177-3AD203B41FA5}">
                          <a16:colId xmlns:a16="http://schemas.microsoft.com/office/drawing/2014/main" val="1265534055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1849813590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1564237064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3874331450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947499834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2140937466"/>
                        </a:ext>
                      </a:extLst>
                    </a:gridCol>
                    <a:gridCol w="620184">
                      <a:extLst>
                        <a:ext uri="{9D8B030D-6E8A-4147-A177-3AD203B41FA5}">
                          <a16:colId xmlns:a16="http://schemas.microsoft.com/office/drawing/2014/main" val="3450636510"/>
                        </a:ext>
                      </a:extLst>
                    </a:gridCol>
                  </a:tblGrid>
                  <a:tr h="44500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9728" marR="109728" marT="54864" marB="54864">
                        <a:blipFill>
                          <a:blip r:embed="rId3"/>
                          <a:stretch>
                            <a:fillRect l="-980" t="-6757" r="-601961" b="-1243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-2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-1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0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1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2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3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99543246"/>
                      </a:ext>
                    </a:extLst>
                  </a:tr>
                  <a:tr h="44500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9728" marR="109728" marT="54864" marB="54864">
                        <a:blipFill>
                          <a:blip r:embed="rId3"/>
                          <a:stretch>
                            <a:fillRect l="-980" t="-108219" r="-601961" b="-260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-3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-1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1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3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5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sz="2200" dirty="0"/>
                            <a:t>7</a:t>
                          </a:r>
                        </a:p>
                      </a:txBody>
                      <a:tcPr marL="109728" marR="109728" marT="54864" marB="54864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4583490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Rectangle 61"/>
              <p:cNvSpPr/>
              <p:nvPr/>
            </p:nvSpPr>
            <p:spPr>
              <a:xfrm>
                <a:off x="793220" y="1521578"/>
                <a:ext cx="1561646" cy="4247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16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sz="2160" i="1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AU" sz="216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160" i="1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AU" sz="2160" dirty="0"/>
              </a:p>
            </p:txBody>
          </p:sp>
        </mc:Choice>
        <mc:Fallback xmlns="">
          <p:sp>
            <p:nvSpPr>
              <p:cNvPr id="62" name="Rectangle 6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220" y="1521578"/>
                <a:ext cx="1561646" cy="424732"/>
              </a:xfrm>
              <a:prstGeom prst="rect">
                <a:avLst/>
              </a:prstGeom>
              <a:blipFill>
                <a:blip r:embed="rId4"/>
                <a:stretch>
                  <a:fillRect b="-724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/>
              <p:cNvSpPr/>
              <p:nvPr/>
            </p:nvSpPr>
            <p:spPr>
              <a:xfrm>
                <a:off x="8887079" y="1007326"/>
                <a:ext cx="1561646" cy="4247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16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sz="2160" i="1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AU" sz="216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160" i="1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AU" sz="2160" dirty="0"/>
              </a:p>
            </p:txBody>
          </p:sp>
        </mc:Choice>
        <mc:Fallback xmlns="">
          <p:sp>
            <p:nvSpPr>
              <p:cNvPr id="29" name="Rectangle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87079" y="1007326"/>
                <a:ext cx="1561646" cy="424732"/>
              </a:xfrm>
              <a:prstGeom prst="rect">
                <a:avLst/>
              </a:prstGeom>
              <a:blipFill>
                <a:blip r:embed="rId5"/>
                <a:stretch>
                  <a:fillRect b="-714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/>
          <p:cNvCxnSpPr/>
          <p:nvPr/>
        </p:nvCxnSpPr>
        <p:spPr>
          <a:xfrm flipV="1">
            <a:off x="6577733" y="896559"/>
            <a:ext cx="2555860" cy="517862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7661828" y="-36428"/>
                <a:ext cx="407419" cy="4247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160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AU" sz="2160" dirty="0"/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1828" y="-36428"/>
                <a:ext cx="407419" cy="424732"/>
              </a:xfrm>
              <a:prstGeom prst="rect">
                <a:avLst/>
              </a:prstGeom>
              <a:blipFill>
                <a:blip r:embed="rId6"/>
                <a:stretch>
                  <a:fillRect b="-714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10712608" y="4136297"/>
                <a:ext cx="403059" cy="4247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160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AU" sz="2160" dirty="0"/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12608" y="4136297"/>
                <a:ext cx="403059" cy="4247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3D65F8F9-D47C-4A80-A22D-750C0F3AD79E}"/>
              </a:ext>
            </a:extLst>
          </p:cNvPr>
          <p:cNvSpPr txBox="1"/>
          <p:nvPr/>
        </p:nvSpPr>
        <p:spPr>
          <a:xfrm>
            <a:off x="449294" y="277007"/>
            <a:ext cx="566678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So our graph, our table and our rule are connected.</a:t>
            </a:r>
          </a:p>
          <a:p>
            <a:r>
              <a:rPr lang="en-AU" dirty="0"/>
              <a:t>Each one can be used to find the gradient (M) and the y-intercept (C) for y=</a:t>
            </a:r>
            <a:r>
              <a:rPr lang="en-AU" dirty="0" err="1"/>
              <a:t>Mx+C</a:t>
            </a:r>
            <a:endParaRPr lang="en-AU" dirty="0"/>
          </a:p>
          <a:p>
            <a:endParaRPr lang="en-A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D5D2258-8581-410D-8331-7ECA94E4F310}"/>
              </a:ext>
            </a:extLst>
          </p:cNvPr>
          <p:cNvSpPr txBox="1"/>
          <p:nvPr/>
        </p:nvSpPr>
        <p:spPr>
          <a:xfrm>
            <a:off x="2673614" y="1495349"/>
            <a:ext cx="3183303" cy="64633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AU" dirty="0"/>
              <a:t>On our rule the y intercept is the number without a variable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C79088C-5965-49C8-BCBF-62BE0B2EF69B}"/>
              </a:ext>
            </a:extLst>
          </p:cNvPr>
          <p:cNvSpPr txBox="1"/>
          <p:nvPr/>
        </p:nvSpPr>
        <p:spPr>
          <a:xfrm>
            <a:off x="2403753" y="4348663"/>
            <a:ext cx="3383196" cy="64633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AU" dirty="0"/>
              <a:t>On our table the y intercept is y value when x is 0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470500B-5E51-476B-A795-385350500C39}"/>
              </a:ext>
            </a:extLst>
          </p:cNvPr>
          <p:cNvSpPr/>
          <p:nvPr/>
        </p:nvSpPr>
        <p:spPr>
          <a:xfrm>
            <a:off x="1758778" y="1494407"/>
            <a:ext cx="526327" cy="468974"/>
          </a:xfrm>
          <a:prstGeom prst="rect">
            <a:avLst/>
          </a:prstGeom>
          <a:noFill/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056AF9F-3283-482F-8AAA-321ED394A41A}"/>
              </a:ext>
            </a:extLst>
          </p:cNvPr>
          <p:cNvSpPr txBox="1"/>
          <p:nvPr/>
        </p:nvSpPr>
        <p:spPr>
          <a:xfrm>
            <a:off x="9549100" y="2923115"/>
            <a:ext cx="1842777" cy="147732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AU" dirty="0"/>
              <a:t>On graph it is the number where our line “cuts” (intercepts) the y axis.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7FA91DB-D43D-4F33-9F96-842D7CF27936}"/>
              </a:ext>
            </a:extLst>
          </p:cNvPr>
          <p:cNvSpPr/>
          <p:nvPr/>
        </p:nvSpPr>
        <p:spPr>
          <a:xfrm>
            <a:off x="2894665" y="3725883"/>
            <a:ext cx="250318" cy="361313"/>
          </a:xfrm>
          <a:prstGeom prst="rect">
            <a:avLst/>
          </a:prstGeom>
          <a:noFill/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CCC3AC48-E23D-4A56-A85B-186343B98A93}"/>
              </a:ext>
            </a:extLst>
          </p:cNvPr>
          <p:cNvCxnSpPr>
            <a:cxnSpLocks/>
          </p:cNvCxnSpPr>
          <p:nvPr/>
        </p:nvCxnSpPr>
        <p:spPr>
          <a:xfrm flipH="1">
            <a:off x="7661829" y="3879273"/>
            <a:ext cx="1887271" cy="0"/>
          </a:xfrm>
          <a:prstGeom prst="straightConnector1">
            <a:avLst/>
          </a:prstGeom>
          <a:ln w="762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FFE3095A-980A-4054-B1A1-9173D5F327AE}"/>
              </a:ext>
            </a:extLst>
          </p:cNvPr>
          <p:cNvSpPr txBox="1"/>
          <p:nvPr/>
        </p:nvSpPr>
        <p:spPr>
          <a:xfrm>
            <a:off x="652654" y="5240898"/>
            <a:ext cx="5204263" cy="1200329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AU" b="1" dirty="0"/>
              <a:t>On this graph, we can see the line “intercepts” the y axis at the value 1.</a:t>
            </a:r>
          </a:p>
          <a:p>
            <a:r>
              <a:rPr lang="en-AU" dirty="0"/>
              <a:t>So our y intercept is the same for our table, graph and rule.</a:t>
            </a:r>
          </a:p>
        </p:txBody>
      </p:sp>
    </p:spTree>
    <p:extLst>
      <p:ext uri="{BB962C8B-B14F-4D97-AF65-F5344CB8AC3E}">
        <p14:creationId xmlns:p14="http://schemas.microsoft.com/office/powerpoint/2010/main" val="427454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3" grpId="0" animBg="1"/>
      <p:bldP spid="19" grpId="0" animBg="1"/>
      <p:bldP spid="51" grpId="0" animBg="1"/>
      <p:bldP spid="24" grpId="0" animBg="1"/>
      <p:bldP spid="3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9EA7AF7D-A262-416A-A990-8A3F24D0C61B}"/>
              </a:ext>
            </a:extLst>
          </p:cNvPr>
          <p:cNvGrpSpPr/>
          <p:nvPr/>
        </p:nvGrpSpPr>
        <p:grpSpPr>
          <a:xfrm>
            <a:off x="6932211" y="2390158"/>
            <a:ext cx="4396621" cy="4391642"/>
            <a:chOff x="728986" y="-61556"/>
            <a:chExt cx="5704031" cy="5424265"/>
          </a:xfrm>
        </p:grpSpPr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54F34451-4A62-4645-AA63-7F0265EDE14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8986" y="-23305"/>
              <a:ext cx="5623630" cy="53860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">
                  <a:extLst>
                    <a:ext uri="{FF2B5EF4-FFF2-40B4-BE49-F238E27FC236}">
                      <a16:creationId xmlns:a16="http://schemas.microsoft.com/office/drawing/2014/main" id="{F7E5D590-F173-4FFC-9D5A-76BC701B2570}"/>
                    </a:ext>
                  </a:extLst>
                </p:cNvPr>
                <p:cNvSpPr txBox="1"/>
                <p:nvPr/>
              </p:nvSpPr>
              <p:spPr>
                <a:xfrm>
                  <a:off x="3049337" y="-61556"/>
                  <a:ext cx="314960" cy="3594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lstStyle/>
                <a:p>
                  <a:pPr>
                    <a:spcAft>
                      <a:spcPts val="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AU" sz="1800" i="1" kern="12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oMath>
                    </m:oMathPara>
                  </a14:m>
                  <a:endParaRPr lang="en-AU" sz="12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5" name="TextBox 2">
                  <a:extLst>
                    <a:ext uri="{FF2B5EF4-FFF2-40B4-BE49-F238E27FC236}">
                      <a16:creationId xmlns:a16="http://schemas.microsoft.com/office/drawing/2014/main" id="{F7E5D590-F173-4FFC-9D5A-76BC701B257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49337" y="-61556"/>
                  <a:ext cx="314960" cy="359410"/>
                </a:xfrm>
                <a:prstGeom prst="rect">
                  <a:avLst/>
                </a:prstGeom>
                <a:blipFill>
                  <a:blip r:embed="rId3"/>
                  <a:stretch>
                    <a:fillRect r="-28205" b="-37500"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3">
                  <a:extLst>
                    <a:ext uri="{FF2B5EF4-FFF2-40B4-BE49-F238E27FC236}">
                      <a16:creationId xmlns:a16="http://schemas.microsoft.com/office/drawing/2014/main" id="{A8059D11-1131-4444-9EE8-FC91852BF5D0}"/>
                    </a:ext>
                  </a:extLst>
                </p:cNvPr>
                <p:cNvSpPr txBox="1"/>
                <p:nvPr/>
              </p:nvSpPr>
              <p:spPr>
                <a:xfrm>
                  <a:off x="6121232" y="2647541"/>
                  <a:ext cx="311785" cy="3594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lstStyle/>
                <a:p>
                  <a:pPr>
                    <a:spcAft>
                      <a:spcPts val="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AU" sz="1800" i="1" kern="12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oMath>
                    </m:oMathPara>
                  </a14:m>
                  <a:endParaRPr lang="en-AU" sz="12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6" name="TextBox 3">
                  <a:extLst>
                    <a:ext uri="{FF2B5EF4-FFF2-40B4-BE49-F238E27FC236}">
                      <a16:creationId xmlns:a16="http://schemas.microsoft.com/office/drawing/2014/main" id="{A8059D11-1131-4444-9EE8-FC91852BF5D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21232" y="2647541"/>
                  <a:ext cx="311785" cy="359410"/>
                </a:xfrm>
                <a:prstGeom prst="rect">
                  <a:avLst/>
                </a:prstGeom>
                <a:blipFill>
                  <a:blip r:embed="rId4"/>
                  <a:stretch>
                    <a:fillRect r="-15385" b="-10417"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9" name="Rectangle 28">
            <a:extLst>
              <a:ext uri="{FF2B5EF4-FFF2-40B4-BE49-F238E27FC236}">
                <a16:creationId xmlns:a16="http://schemas.microsoft.com/office/drawing/2014/main" id="{09DB248E-41C5-47FE-8A6E-26B7558259E1}"/>
              </a:ext>
            </a:extLst>
          </p:cNvPr>
          <p:cNvSpPr/>
          <p:nvPr/>
        </p:nvSpPr>
        <p:spPr>
          <a:xfrm>
            <a:off x="6729417" y="2260217"/>
            <a:ext cx="1774241" cy="47294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0C21D4B-B2A7-4EAB-AFBB-942C2D2890C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0879" y="2751391"/>
            <a:ext cx="2777198" cy="199212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721B09B-7D03-44FD-888F-6D7CBC50A755}"/>
              </a:ext>
            </a:extLst>
          </p:cNvPr>
          <p:cNvSpPr txBox="1"/>
          <p:nvPr/>
        </p:nvSpPr>
        <p:spPr>
          <a:xfrm>
            <a:off x="8232496" y="6166989"/>
            <a:ext cx="45814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500" dirty="0"/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46A07E-DADF-4525-8039-D46996B52D70}"/>
              </a:ext>
            </a:extLst>
          </p:cNvPr>
          <p:cNvSpPr txBox="1"/>
          <p:nvPr/>
        </p:nvSpPr>
        <p:spPr>
          <a:xfrm>
            <a:off x="2096200" y="1027962"/>
            <a:ext cx="55167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The gradient (m) is how steep the slope is.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F1C1584-67B7-4602-8DA8-F45FC4D14E6A}"/>
              </a:ext>
            </a:extLst>
          </p:cNvPr>
          <p:cNvSpPr txBox="1"/>
          <p:nvPr/>
        </p:nvSpPr>
        <p:spPr>
          <a:xfrm>
            <a:off x="3318434" y="2066993"/>
            <a:ext cx="18473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5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3456E28-AB6B-4027-A17D-85B2A48706E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6311" y="1798494"/>
            <a:ext cx="5453371" cy="104083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392DD6B-7AC9-4CE4-BA16-A54B020F0B1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4140" y="4881114"/>
            <a:ext cx="2427858" cy="70169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AF5FFC7-1116-4CF8-930E-F619C1C0592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5902" y="2782310"/>
            <a:ext cx="2656785" cy="211945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B1311B6-88C0-433D-AD66-7AF5326BF15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8288" y="4846999"/>
            <a:ext cx="2656785" cy="832938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C379FFC-E934-4148-B02C-6FBE16775C65}"/>
              </a:ext>
            </a:extLst>
          </p:cNvPr>
          <p:cNvCxnSpPr/>
          <p:nvPr/>
        </p:nvCxnSpPr>
        <p:spPr>
          <a:xfrm>
            <a:off x="0" y="554182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81122CB-A714-4CDB-A460-7B37D8D67789}"/>
              </a:ext>
            </a:extLst>
          </p:cNvPr>
          <p:cNvCxnSpPr/>
          <p:nvPr/>
        </p:nvCxnSpPr>
        <p:spPr>
          <a:xfrm>
            <a:off x="0" y="1027903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C5ECECB-BDDC-4983-9F91-EB02300F6473}"/>
              </a:ext>
            </a:extLst>
          </p:cNvPr>
          <p:cNvCxnSpPr>
            <a:cxnSpLocks/>
          </p:cNvCxnSpPr>
          <p:nvPr/>
        </p:nvCxnSpPr>
        <p:spPr>
          <a:xfrm flipV="1">
            <a:off x="1977887" y="1027903"/>
            <a:ext cx="0" cy="58300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8DDC47E-47AD-400E-B1AD-EE57844959E1}"/>
                  </a:ext>
                </a:extLst>
              </p:cNvPr>
              <p:cNvSpPr txBox="1"/>
              <p:nvPr/>
            </p:nvSpPr>
            <p:spPr>
              <a:xfrm>
                <a:off x="2591258" y="1479365"/>
                <a:ext cx="350474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𝑔𝑟𝑎𝑑𝑖𝑒𝑛𝑡</m:t>
                      </m:r>
                      <m:r>
                        <a:rPr lang="en-AU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𝑟𝑖𝑠𝑒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 ÷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𝑟𝑢𝑛</m:t>
                      </m:r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. 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8DDC47E-47AD-400E-B1AD-EE57844959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1258" y="1479365"/>
                <a:ext cx="3504742" cy="461665"/>
              </a:xfrm>
              <a:prstGeom prst="rect">
                <a:avLst/>
              </a:prstGeom>
              <a:blipFill>
                <a:blip r:embed="rId10"/>
                <a:stretch>
                  <a:fillRect b="-18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763F8FFF-D432-4306-A212-33FC9A713CF3}"/>
              </a:ext>
            </a:extLst>
          </p:cNvPr>
          <p:cNvCxnSpPr>
            <a:cxnSpLocks/>
          </p:cNvCxnSpPr>
          <p:nvPr/>
        </p:nvCxnSpPr>
        <p:spPr>
          <a:xfrm flipV="1">
            <a:off x="7919682" y="1027903"/>
            <a:ext cx="0" cy="58300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E4AEB804-D45C-4934-94FC-C00604207019}"/>
              </a:ext>
            </a:extLst>
          </p:cNvPr>
          <p:cNvSpPr txBox="1"/>
          <p:nvPr/>
        </p:nvSpPr>
        <p:spPr>
          <a:xfrm>
            <a:off x="8044629" y="1159565"/>
            <a:ext cx="410259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The y-intercept (c) is where the graph meets the y axis. 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8A4C96C-E955-4BB2-A877-891BA6BC7D3F}"/>
              </a:ext>
            </a:extLst>
          </p:cNvPr>
          <p:cNvCxnSpPr>
            <a:cxnSpLocks/>
          </p:cNvCxnSpPr>
          <p:nvPr/>
        </p:nvCxnSpPr>
        <p:spPr>
          <a:xfrm flipV="1">
            <a:off x="8629143" y="2290335"/>
            <a:ext cx="1787200" cy="20375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Oval 32">
            <a:extLst>
              <a:ext uri="{FF2B5EF4-FFF2-40B4-BE49-F238E27FC236}">
                <a16:creationId xmlns:a16="http://schemas.microsoft.com/office/drawing/2014/main" id="{AF396A79-0DAA-4D66-A14B-CA3B35BAC224}"/>
              </a:ext>
            </a:extLst>
          </p:cNvPr>
          <p:cNvSpPr/>
          <p:nvPr/>
        </p:nvSpPr>
        <p:spPr>
          <a:xfrm>
            <a:off x="8802204" y="3700111"/>
            <a:ext cx="351491" cy="29098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5" name="Speech Bubble: Rectangle 34">
            <a:extLst>
              <a:ext uri="{FF2B5EF4-FFF2-40B4-BE49-F238E27FC236}">
                <a16:creationId xmlns:a16="http://schemas.microsoft.com/office/drawing/2014/main" id="{51099015-92EB-4848-8D2F-0FC147EC7FB7}"/>
              </a:ext>
            </a:extLst>
          </p:cNvPr>
          <p:cNvSpPr/>
          <p:nvPr/>
        </p:nvSpPr>
        <p:spPr>
          <a:xfrm>
            <a:off x="9369516" y="3647240"/>
            <a:ext cx="1871124" cy="396730"/>
          </a:xfrm>
          <a:prstGeom prst="wedgeRectCallout">
            <a:avLst>
              <a:gd name="adj1" fmla="val -61303"/>
              <a:gd name="adj2" fmla="val -2324"/>
            </a:avLst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A y-intercept of 2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E50D7C05-B1E1-4E65-8B18-DC2D8C9C816E}"/>
              </a:ext>
            </a:extLst>
          </p:cNvPr>
          <p:cNvCxnSpPr>
            <a:cxnSpLocks/>
          </p:cNvCxnSpPr>
          <p:nvPr/>
        </p:nvCxnSpPr>
        <p:spPr>
          <a:xfrm flipV="1">
            <a:off x="8406173" y="4696657"/>
            <a:ext cx="2748982" cy="15077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Oval 38">
            <a:extLst>
              <a:ext uri="{FF2B5EF4-FFF2-40B4-BE49-F238E27FC236}">
                <a16:creationId xmlns:a16="http://schemas.microsoft.com/office/drawing/2014/main" id="{F7B51FFD-8FAE-4892-B4C7-67B0806BDE63}"/>
              </a:ext>
            </a:extLst>
          </p:cNvPr>
          <p:cNvSpPr/>
          <p:nvPr/>
        </p:nvSpPr>
        <p:spPr>
          <a:xfrm>
            <a:off x="8842103" y="5679937"/>
            <a:ext cx="351491" cy="29098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0" name="Speech Bubble: Rectangle 39">
            <a:extLst>
              <a:ext uri="{FF2B5EF4-FFF2-40B4-BE49-F238E27FC236}">
                <a16:creationId xmlns:a16="http://schemas.microsoft.com/office/drawing/2014/main" id="{CE8C85FC-D814-4F7A-A1C5-F3C4B8481D65}"/>
              </a:ext>
            </a:extLst>
          </p:cNvPr>
          <p:cNvSpPr/>
          <p:nvPr/>
        </p:nvSpPr>
        <p:spPr>
          <a:xfrm>
            <a:off x="9391778" y="5679937"/>
            <a:ext cx="1871124" cy="396730"/>
          </a:xfrm>
          <a:prstGeom prst="wedgeRectCallout">
            <a:avLst>
              <a:gd name="adj1" fmla="val -61303"/>
              <a:gd name="adj2" fmla="val -2324"/>
            </a:avLst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A y-intercept of -3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16239F4-98EF-4786-B111-A969069958B9}"/>
              </a:ext>
            </a:extLst>
          </p:cNvPr>
          <p:cNvSpPr txBox="1"/>
          <p:nvPr/>
        </p:nvSpPr>
        <p:spPr>
          <a:xfrm>
            <a:off x="342899" y="554182"/>
            <a:ext cx="84992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: How are linear graphs, linear tables and linear rules similar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18D1A59-6DBF-47A1-BF72-8D6485F12D35}"/>
              </a:ext>
            </a:extLst>
          </p:cNvPr>
          <p:cNvSpPr txBox="1"/>
          <p:nvPr/>
        </p:nvSpPr>
        <p:spPr>
          <a:xfrm>
            <a:off x="442913" y="104395"/>
            <a:ext cx="65893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Topic: Gradient and Intercept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1A112279-B4CA-4BEB-BDD0-AB9F43B58214}"/>
                  </a:ext>
                </a:extLst>
              </p:cNvPr>
              <p:cNvSpPr txBox="1"/>
              <p:nvPr/>
            </p:nvSpPr>
            <p:spPr>
              <a:xfrm>
                <a:off x="2464378" y="5830038"/>
                <a:ext cx="5248308" cy="830997"/>
              </a:xfrm>
              <a:prstGeom prst="rect">
                <a:avLst/>
              </a:prstGeom>
            </p:spPr>
            <p:style>
              <a:lnRef idx="3">
                <a:schemeClr val="lt1"/>
              </a:lnRef>
              <a:fillRef idx="1">
                <a:schemeClr val="dk1"/>
              </a:fillRef>
              <a:effectRef idx="1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𝑚𝑥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AU" sz="2400" dirty="0"/>
                  <a:t>is called the gradient and intercept form of a linear equation </a:t>
                </a: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1A112279-B4CA-4BEB-BDD0-AB9F43B582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4378" y="5830038"/>
                <a:ext cx="5248308" cy="830997"/>
              </a:xfrm>
              <a:prstGeom prst="rect">
                <a:avLst/>
              </a:prstGeom>
              <a:blipFill>
                <a:blip r:embed="rId11"/>
                <a:stretch>
                  <a:fillRect l="-1620" t="-5000" b="-1357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910928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4F47D4C-1022-4C57-BDA8-04139A1CA83C}"/>
              </a:ext>
            </a:extLst>
          </p:cNvPr>
          <p:cNvPicPr/>
          <p:nvPr/>
        </p:nvPicPr>
        <p:blipFill rotWithShape="1">
          <a:blip r:embed="rId2"/>
          <a:srcRect l="4817" t="5294" r="52160" b="25436"/>
          <a:stretch/>
        </p:blipFill>
        <p:spPr bwMode="auto">
          <a:xfrm>
            <a:off x="1052945" y="124690"/>
            <a:ext cx="9836728" cy="653934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321FBD4-8AF0-4905-B943-954D165BCBD8}"/>
              </a:ext>
            </a:extLst>
          </p:cNvPr>
          <p:cNvSpPr/>
          <p:nvPr/>
        </p:nvSpPr>
        <p:spPr>
          <a:xfrm>
            <a:off x="2618509" y="1454727"/>
            <a:ext cx="1551709" cy="10113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00DC8FA-FA26-48B1-9ED6-7CCF4F3613A9}"/>
              </a:ext>
            </a:extLst>
          </p:cNvPr>
          <p:cNvSpPr/>
          <p:nvPr/>
        </p:nvSpPr>
        <p:spPr>
          <a:xfrm>
            <a:off x="5444836" y="3127663"/>
            <a:ext cx="1551709" cy="8347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2442E82-DB16-46C8-8C6B-907C76CF9464}"/>
              </a:ext>
            </a:extLst>
          </p:cNvPr>
          <p:cNvSpPr/>
          <p:nvPr/>
        </p:nvSpPr>
        <p:spPr>
          <a:xfrm>
            <a:off x="8922327" y="1960418"/>
            <a:ext cx="1551709" cy="7689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B1354EC-1AFA-4377-BB65-704DE9DFFFE0}"/>
              </a:ext>
            </a:extLst>
          </p:cNvPr>
          <p:cNvSpPr/>
          <p:nvPr/>
        </p:nvSpPr>
        <p:spPr>
          <a:xfrm>
            <a:off x="9157854" y="3127663"/>
            <a:ext cx="1551709" cy="60267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4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E3D0822-891B-4127-920F-FE5C2F9188DB}"/>
              </a:ext>
            </a:extLst>
          </p:cNvPr>
          <p:cNvSpPr/>
          <p:nvPr/>
        </p:nvSpPr>
        <p:spPr>
          <a:xfrm>
            <a:off x="1066800" y="5153891"/>
            <a:ext cx="1911927" cy="7065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5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21842E3-6994-484D-BC42-A75A908E1F70}"/>
              </a:ext>
            </a:extLst>
          </p:cNvPr>
          <p:cNvSpPr/>
          <p:nvPr/>
        </p:nvSpPr>
        <p:spPr>
          <a:xfrm>
            <a:off x="6830291" y="5507182"/>
            <a:ext cx="1911927" cy="7065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932821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9" grpId="0" animBg="1"/>
      <p:bldP spid="10" grpId="0" animBg="1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64072A09-8BFB-4F60-801D-9A257F111C9B}"/>
              </a:ext>
            </a:extLst>
          </p:cNvPr>
          <p:cNvGrpSpPr/>
          <p:nvPr/>
        </p:nvGrpSpPr>
        <p:grpSpPr>
          <a:xfrm>
            <a:off x="448282" y="837575"/>
            <a:ext cx="5204371" cy="5770170"/>
            <a:chOff x="728986" y="-61556"/>
            <a:chExt cx="5704031" cy="5424265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A340C533-8444-45C3-81A0-717B563EE80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8986" y="-23305"/>
              <a:ext cx="5623630" cy="53860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2">
                  <a:extLst>
                    <a:ext uri="{FF2B5EF4-FFF2-40B4-BE49-F238E27FC236}">
                      <a16:creationId xmlns:a16="http://schemas.microsoft.com/office/drawing/2014/main" id="{591E7AC9-57E0-4113-B699-DB299AE586D9}"/>
                    </a:ext>
                  </a:extLst>
                </p:cNvPr>
                <p:cNvSpPr txBox="1"/>
                <p:nvPr/>
              </p:nvSpPr>
              <p:spPr>
                <a:xfrm>
                  <a:off x="3049337" y="-61556"/>
                  <a:ext cx="314960" cy="3594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lstStyle/>
                <a:p>
                  <a:pPr>
                    <a:spcAft>
                      <a:spcPts val="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AU" sz="1800" i="1" kern="12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oMath>
                    </m:oMathPara>
                  </a14:m>
                  <a:endParaRPr lang="en-AU" sz="12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6" name="TextBox 2">
                  <a:extLst>
                    <a:ext uri="{FF2B5EF4-FFF2-40B4-BE49-F238E27FC236}">
                      <a16:creationId xmlns:a16="http://schemas.microsoft.com/office/drawing/2014/main" id="{591E7AC9-57E0-4113-B699-DB299AE586D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49337" y="-61556"/>
                  <a:ext cx="314960" cy="359410"/>
                </a:xfrm>
                <a:prstGeom prst="rect">
                  <a:avLst/>
                </a:prstGeom>
                <a:blipFill>
                  <a:blip r:embed="rId3"/>
                  <a:stretch>
                    <a:fillRect r="-6383" b="-4762"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3">
                  <a:extLst>
                    <a:ext uri="{FF2B5EF4-FFF2-40B4-BE49-F238E27FC236}">
                      <a16:creationId xmlns:a16="http://schemas.microsoft.com/office/drawing/2014/main" id="{2B2E5F5A-6024-4669-9F6B-DE9EF9EF9919}"/>
                    </a:ext>
                  </a:extLst>
                </p:cNvPr>
                <p:cNvSpPr txBox="1"/>
                <p:nvPr/>
              </p:nvSpPr>
              <p:spPr>
                <a:xfrm>
                  <a:off x="6121232" y="2647541"/>
                  <a:ext cx="311785" cy="3594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lstStyle/>
                <a:p>
                  <a:pPr>
                    <a:spcAft>
                      <a:spcPts val="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AU" sz="1800" i="1" kern="12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oMath>
                    </m:oMathPara>
                  </a14:m>
                  <a:endParaRPr lang="en-AU" sz="12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7" name="TextBox 3">
                  <a:extLst>
                    <a:ext uri="{FF2B5EF4-FFF2-40B4-BE49-F238E27FC236}">
                      <a16:creationId xmlns:a16="http://schemas.microsoft.com/office/drawing/2014/main" id="{2B2E5F5A-6024-4669-9F6B-DE9EF9EF991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21232" y="2647541"/>
                  <a:ext cx="311785" cy="35941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A79654CD-B7E4-45D7-BD61-3A70678FB68E}"/>
              </a:ext>
            </a:extLst>
          </p:cNvPr>
          <p:cNvGrpSpPr/>
          <p:nvPr/>
        </p:nvGrpSpPr>
        <p:grpSpPr>
          <a:xfrm>
            <a:off x="6539347" y="796885"/>
            <a:ext cx="5204371" cy="5770170"/>
            <a:chOff x="728986" y="-61556"/>
            <a:chExt cx="5704031" cy="5424265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332D09AA-B8BD-44B9-BD76-E4A63489DFB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8986" y="-23305"/>
              <a:ext cx="5623630" cy="53860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2">
                  <a:extLst>
                    <a:ext uri="{FF2B5EF4-FFF2-40B4-BE49-F238E27FC236}">
                      <a16:creationId xmlns:a16="http://schemas.microsoft.com/office/drawing/2014/main" id="{DBA16A03-3285-40B5-8984-CDA9CCCE717E}"/>
                    </a:ext>
                  </a:extLst>
                </p:cNvPr>
                <p:cNvSpPr txBox="1"/>
                <p:nvPr/>
              </p:nvSpPr>
              <p:spPr>
                <a:xfrm>
                  <a:off x="3049337" y="-61556"/>
                  <a:ext cx="314960" cy="3594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lstStyle/>
                <a:p>
                  <a:pPr>
                    <a:spcAft>
                      <a:spcPts val="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AU" sz="1800" i="1" kern="12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oMath>
                    </m:oMathPara>
                  </a14:m>
                  <a:endParaRPr lang="en-AU" sz="12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0" name="TextBox 2">
                  <a:extLst>
                    <a:ext uri="{FF2B5EF4-FFF2-40B4-BE49-F238E27FC236}">
                      <a16:creationId xmlns:a16="http://schemas.microsoft.com/office/drawing/2014/main" id="{DBA16A03-3285-40B5-8984-CDA9CCCE717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49337" y="-61556"/>
                  <a:ext cx="314960" cy="359410"/>
                </a:xfrm>
                <a:prstGeom prst="rect">
                  <a:avLst/>
                </a:prstGeom>
                <a:blipFill>
                  <a:blip r:embed="rId5"/>
                  <a:stretch>
                    <a:fillRect r="-6383" b="-4839"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3">
                  <a:extLst>
                    <a:ext uri="{FF2B5EF4-FFF2-40B4-BE49-F238E27FC236}">
                      <a16:creationId xmlns:a16="http://schemas.microsoft.com/office/drawing/2014/main" id="{367E577D-2391-4881-BE24-8DE67017D82C}"/>
                    </a:ext>
                  </a:extLst>
                </p:cNvPr>
                <p:cNvSpPr txBox="1"/>
                <p:nvPr/>
              </p:nvSpPr>
              <p:spPr>
                <a:xfrm>
                  <a:off x="6121232" y="2647541"/>
                  <a:ext cx="311785" cy="3594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lstStyle/>
                <a:p>
                  <a:pPr>
                    <a:spcAft>
                      <a:spcPts val="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AU" sz="1800" i="1" kern="12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oMath>
                    </m:oMathPara>
                  </a14:m>
                  <a:endParaRPr lang="en-AU" sz="12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1" name="TextBox 3">
                  <a:extLst>
                    <a:ext uri="{FF2B5EF4-FFF2-40B4-BE49-F238E27FC236}">
                      <a16:creationId xmlns:a16="http://schemas.microsoft.com/office/drawing/2014/main" id="{367E577D-2391-4881-BE24-8DE67017D8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21232" y="2647541"/>
                  <a:ext cx="311785" cy="35941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57325D78-D4A1-4572-A0A8-1A36AF4AA1D6}"/>
              </a:ext>
            </a:extLst>
          </p:cNvPr>
          <p:cNvSpPr txBox="1"/>
          <p:nvPr/>
        </p:nvSpPr>
        <p:spPr>
          <a:xfrm>
            <a:off x="4782236" y="65589"/>
            <a:ext cx="43226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is the y – intercept of these 4 lines?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9EE2578-E11D-48B8-BA94-8CB9A3FA527B}"/>
              </a:ext>
            </a:extLst>
          </p:cNvPr>
          <p:cNvCxnSpPr/>
          <p:nvPr/>
        </p:nvCxnSpPr>
        <p:spPr>
          <a:xfrm flipV="1">
            <a:off x="1163782" y="632564"/>
            <a:ext cx="3560618" cy="21244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B6826CB-823A-4172-8720-DAC4D5949148}"/>
              </a:ext>
            </a:extLst>
          </p:cNvPr>
          <p:cNvCxnSpPr>
            <a:cxnSpLocks/>
          </p:cNvCxnSpPr>
          <p:nvPr/>
        </p:nvCxnSpPr>
        <p:spPr>
          <a:xfrm>
            <a:off x="1175204" y="1179215"/>
            <a:ext cx="3607032" cy="41963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900A4BD-8BE8-4792-9907-96BA2E215231}"/>
              </a:ext>
            </a:extLst>
          </p:cNvPr>
          <p:cNvCxnSpPr>
            <a:cxnSpLocks/>
          </p:cNvCxnSpPr>
          <p:nvPr/>
        </p:nvCxnSpPr>
        <p:spPr>
          <a:xfrm>
            <a:off x="6802582" y="4294908"/>
            <a:ext cx="4656663" cy="21474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4049B36-44E5-4F52-8AA1-8A05FEB33AD4}"/>
              </a:ext>
            </a:extLst>
          </p:cNvPr>
          <p:cNvCxnSpPr>
            <a:cxnSpLocks/>
          </p:cNvCxnSpPr>
          <p:nvPr/>
        </p:nvCxnSpPr>
        <p:spPr>
          <a:xfrm flipV="1">
            <a:off x="8628731" y="1140069"/>
            <a:ext cx="842385" cy="52884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Oval 27">
            <a:extLst>
              <a:ext uri="{FF2B5EF4-FFF2-40B4-BE49-F238E27FC236}">
                <a16:creationId xmlns:a16="http://schemas.microsoft.com/office/drawing/2014/main" id="{495AFAEA-180E-4E19-A17E-A832CE9C6331}"/>
              </a:ext>
            </a:extLst>
          </p:cNvPr>
          <p:cNvSpPr/>
          <p:nvPr/>
        </p:nvSpPr>
        <p:spPr>
          <a:xfrm>
            <a:off x="2720884" y="1573726"/>
            <a:ext cx="351491" cy="29098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9" name="Speech Bubble: Rectangle 28">
            <a:extLst>
              <a:ext uri="{FF2B5EF4-FFF2-40B4-BE49-F238E27FC236}">
                <a16:creationId xmlns:a16="http://schemas.microsoft.com/office/drawing/2014/main" id="{B9FA8E9C-E49D-43A3-BFA4-AD85255492AC}"/>
              </a:ext>
            </a:extLst>
          </p:cNvPr>
          <p:cNvSpPr/>
          <p:nvPr/>
        </p:nvSpPr>
        <p:spPr>
          <a:xfrm>
            <a:off x="3288196" y="1520855"/>
            <a:ext cx="1871124" cy="396730"/>
          </a:xfrm>
          <a:prstGeom prst="wedgeRectCallout">
            <a:avLst>
              <a:gd name="adj1" fmla="val -61303"/>
              <a:gd name="adj2" fmla="val -2324"/>
            </a:avLst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A y-intercept of 4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D6E62781-0C87-4D17-BC8B-9C598650A493}"/>
              </a:ext>
            </a:extLst>
          </p:cNvPr>
          <p:cNvSpPr/>
          <p:nvPr/>
        </p:nvSpPr>
        <p:spPr>
          <a:xfrm>
            <a:off x="2772563" y="3101716"/>
            <a:ext cx="351491" cy="29098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1" name="Speech Bubble: Rectangle 30">
            <a:extLst>
              <a:ext uri="{FF2B5EF4-FFF2-40B4-BE49-F238E27FC236}">
                <a16:creationId xmlns:a16="http://schemas.microsoft.com/office/drawing/2014/main" id="{ABEA1835-DDC9-42FE-98FC-2C81AD9BFBDE}"/>
              </a:ext>
            </a:extLst>
          </p:cNvPr>
          <p:cNvSpPr/>
          <p:nvPr/>
        </p:nvSpPr>
        <p:spPr>
          <a:xfrm>
            <a:off x="3339875" y="3048845"/>
            <a:ext cx="1871124" cy="396730"/>
          </a:xfrm>
          <a:prstGeom prst="wedgeRectCallout">
            <a:avLst>
              <a:gd name="adj1" fmla="val -61303"/>
              <a:gd name="adj2" fmla="val -2324"/>
            </a:avLst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A y-intercept of 1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794EEDD4-5AA4-4ADE-B38C-0F185A5D190C}"/>
              </a:ext>
            </a:extLst>
          </p:cNvPr>
          <p:cNvSpPr/>
          <p:nvPr/>
        </p:nvSpPr>
        <p:spPr>
          <a:xfrm>
            <a:off x="8928294" y="3623330"/>
            <a:ext cx="351491" cy="29098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3" name="Speech Bubble: Rectangle 32">
            <a:extLst>
              <a:ext uri="{FF2B5EF4-FFF2-40B4-BE49-F238E27FC236}">
                <a16:creationId xmlns:a16="http://schemas.microsoft.com/office/drawing/2014/main" id="{B2A73343-265C-4A65-90A3-B782243D1CDE}"/>
              </a:ext>
            </a:extLst>
          </p:cNvPr>
          <p:cNvSpPr/>
          <p:nvPr/>
        </p:nvSpPr>
        <p:spPr>
          <a:xfrm>
            <a:off x="9495606" y="3570459"/>
            <a:ext cx="1871124" cy="396730"/>
          </a:xfrm>
          <a:prstGeom prst="wedgeRectCallout">
            <a:avLst>
              <a:gd name="adj1" fmla="val -61303"/>
              <a:gd name="adj2" fmla="val -2324"/>
            </a:avLst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A y-intercept of 0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B333320A-5890-4193-8BD7-EADAB99C9D35}"/>
              </a:ext>
            </a:extLst>
          </p:cNvPr>
          <p:cNvSpPr/>
          <p:nvPr/>
        </p:nvSpPr>
        <p:spPr>
          <a:xfrm>
            <a:off x="8903804" y="5230070"/>
            <a:ext cx="351491" cy="29098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2" name="Speech Bubble: Rectangle 41">
            <a:extLst>
              <a:ext uri="{FF2B5EF4-FFF2-40B4-BE49-F238E27FC236}">
                <a16:creationId xmlns:a16="http://schemas.microsoft.com/office/drawing/2014/main" id="{D29CCA73-8E0B-4537-8D9C-9DE07327C5FE}"/>
              </a:ext>
            </a:extLst>
          </p:cNvPr>
          <p:cNvSpPr/>
          <p:nvPr/>
        </p:nvSpPr>
        <p:spPr>
          <a:xfrm>
            <a:off x="9471116" y="5177199"/>
            <a:ext cx="1871124" cy="396730"/>
          </a:xfrm>
          <a:prstGeom prst="wedgeRectCallout">
            <a:avLst>
              <a:gd name="adj1" fmla="val -61303"/>
              <a:gd name="adj2" fmla="val -2324"/>
            </a:avLst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A y-intercept of -3</a:t>
            </a:r>
          </a:p>
        </p:txBody>
      </p:sp>
    </p:spTree>
    <p:extLst>
      <p:ext uri="{BB962C8B-B14F-4D97-AF65-F5344CB8AC3E}">
        <p14:creationId xmlns:p14="http://schemas.microsoft.com/office/powerpoint/2010/main" val="33055875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41" grpId="0" animBg="1"/>
      <p:bldP spid="4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498A8B25-5613-4422-A624-8413C23B18D1}"/>
              </a:ext>
            </a:extLst>
          </p:cNvPr>
          <p:cNvGrpSpPr/>
          <p:nvPr/>
        </p:nvGrpSpPr>
        <p:grpSpPr>
          <a:xfrm>
            <a:off x="475992" y="934557"/>
            <a:ext cx="5204371" cy="5770170"/>
            <a:chOff x="728986" y="-61556"/>
            <a:chExt cx="5704031" cy="5424265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701EBA84-52C5-4328-8013-54B7667AC8C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8986" y="-23305"/>
              <a:ext cx="5623630" cy="53860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2">
                  <a:extLst>
                    <a:ext uri="{FF2B5EF4-FFF2-40B4-BE49-F238E27FC236}">
                      <a16:creationId xmlns:a16="http://schemas.microsoft.com/office/drawing/2014/main" id="{695D4D5D-3308-4664-AC57-948255F6C19A}"/>
                    </a:ext>
                  </a:extLst>
                </p:cNvPr>
                <p:cNvSpPr txBox="1"/>
                <p:nvPr/>
              </p:nvSpPr>
              <p:spPr>
                <a:xfrm>
                  <a:off x="3049337" y="-61556"/>
                  <a:ext cx="314960" cy="3594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lstStyle/>
                <a:p>
                  <a:pPr>
                    <a:spcAft>
                      <a:spcPts val="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AU" sz="1800" i="1" kern="12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oMath>
                    </m:oMathPara>
                  </a14:m>
                  <a:endParaRPr lang="en-AU" sz="12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6" name="TextBox 2">
                  <a:extLst>
                    <a:ext uri="{FF2B5EF4-FFF2-40B4-BE49-F238E27FC236}">
                      <a16:creationId xmlns:a16="http://schemas.microsoft.com/office/drawing/2014/main" id="{695D4D5D-3308-4664-AC57-948255F6C19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49337" y="-61556"/>
                  <a:ext cx="314960" cy="359410"/>
                </a:xfrm>
                <a:prstGeom prst="rect">
                  <a:avLst/>
                </a:prstGeom>
                <a:blipFill>
                  <a:blip r:embed="rId3"/>
                  <a:stretch>
                    <a:fillRect r="-4167" b="-4762"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3">
                  <a:extLst>
                    <a:ext uri="{FF2B5EF4-FFF2-40B4-BE49-F238E27FC236}">
                      <a16:creationId xmlns:a16="http://schemas.microsoft.com/office/drawing/2014/main" id="{BA2C4342-428B-4636-9CF4-983D441AB1BB}"/>
                    </a:ext>
                  </a:extLst>
                </p:cNvPr>
                <p:cNvSpPr txBox="1"/>
                <p:nvPr/>
              </p:nvSpPr>
              <p:spPr>
                <a:xfrm>
                  <a:off x="6121232" y="2647541"/>
                  <a:ext cx="311785" cy="3594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lstStyle/>
                <a:p>
                  <a:pPr>
                    <a:spcAft>
                      <a:spcPts val="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AU" sz="1800" i="1" kern="12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oMath>
                    </m:oMathPara>
                  </a14:m>
                  <a:endParaRPr lang="en-AU" sz="12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7" name="TextBox 3">
                  <a:extLst>
                    <a:ext uri="{FF2B5EF4-FFF2-40B4-BE49-F238E27FC236}">
                      <a16:creationId xmlns:a16="http://schemas.microsoft.com/office/drawing/2014/main" id="{BA2C4342-428B-4636-9CF4-983D441AB1B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21232" y="2647541"/>
                  <a:ext cx="311785" cy="35941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780C3CD7-33B5-4F04-B2E5-42F6A9F371F7}"/>
              </a:ext>
            </a:extLst>
          </p:cNvPr>
          <p:cNvSpPr txBox="1"/>
          <p:nvPr/>
        </p:nvSpPr>
        <p:spPr>
          <a:xfrm>
            <a:off x="298298" y="176149"/>
            <a:ext cx="46062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Use the gradient and intercept to find the equation of these 3 lines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CA4275B-3097-4171-A760-0984EBED56A5}"/>
              </a:ext>
            </a:extLst>
          </p:cNvPr>
          <p:cNvCxnSpPr>
            <a:cxnSpLocks/>
          </p:cNvCxnSpPr>
          <p:nvPr/>
        </p:nvCxnSpPr>
        <p:spPr>
          <a:xfrm flipV="1">
            <a:off x="734291" y="1125723"/>
            <a:ext cx="3713018" cy="436067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BE1BEDCF-CA4D-409C-9E22-1B96F9DF46D7}"/>
              </a:ext>
            </a:extLst>
          </p:cNvPr>
          <p:cNvSpPr txBox="1"/>
          <p:nvPr/>
        </p:nvSpPr>
        <p:spPr>
          <a:xfrm>
            <a:off x="3982726" y="1510344"/>
            <a:ext cx="28263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y = ______x  + ______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F99CBBA-6F6E-4C76-90A3-5F86DE4B9452}"/>
              </a:ext>
            </a:extLst>
          </p:cNvPr>
          <p:cNvCxnSpPr>
            <a:cxnSpLocks/>
          </p:cNvCxnSpPr>
          <p:nvPr/>
        </p:nvCxnSpPr>
        <p:spPr>
          <a:xfrm flipV="1">
            <a:off x="845552" y="3018249"/>
            <a:ext cx="4391891" cy="27140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22FC3FDF-051A-4D2C-9996-FFFE50B7A01F}"/>
              </a:ext>
            </a:extLst>
          </p:cNvPr>
          <p:cNvSpPr txBox="1"/>
          <p:nvPr/>
        </p:nvSpPr>
        <p:spPr>
          <a:xfrm>
            <a:off x="3852660" y="2693724"/>
            <a:ext cx="28263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y = ______x  + ______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EAB1ED3-CA5C-4610-93B3-DF706C27D982}"/>
              </a:ext>
            </a:extLst>
          </p:cNvPr>
          <p:cNvCxnSpPr>
            <a:cxnSpLocks/>
          </p:cNvCxnSpPr>
          <p:nvPr/>
        </p:nvCxnSpPr>
        <p:spPr>
          <a:xfrm>
            <a:off x="2687345" y="1147005"/>
            <a:ext cx="1341757" cy="47764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7780BE37-FBDA-46EC-B615-358FA65A5868}"/>
              </a:ext>
            </a:extLst>
          </p:cNvPr>
          <p:cNvSpPr txBox="1"/>
          <p:nvPr/>
        </p:nvSpPr>
        <p:spPr>
          <a:xfrm>
            <a:off x="3569629" y="5882753"/>
            <a:ext cx="28263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y = ______x  + ______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36E09C64-EB6A-402D-9B8F-078574AAA539}"/>
              </a:ext>
            </a:extLst>
          </p:cNvPr>
          <p:cNvGrpSpPr/>
          <p:nvPr/>
        </p:nvGrpSpPr>
        <p:grpSpPr>
          <a:xfrm>
            <a:off x="6678987" y="883894"/>
            <a:ext cx="5204371" cy="5770170"/>
            <a:chOff x="728986" y="-61556"/>
            <a:chExt cx="5704031" cy="5424265"/>
          </a:xfrm>
        </p:grpSpPr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3B20EF01-BA7D-462B-9F2D-2E8F5B7A284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8986" y="-23305"/>
              <a:ext cx="5623630" cy="53860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">
                  <a:extLst>
                    <a:ext uri="{FF2B5EF4-FFF2-40B4-BE49-F238E27FC236}">
                      <a16:creationId xmlns:a16="http://schemas.microsoft.com/office/drawing/2014/main" id="{31C2CE2B-B5B2-40A4-A97B-62CE181151B1}"/>
                    </a:ext>
                  </a:extLst>
                </p:cNvPr>
                <p:cNvSpPr txBox="1"/>
                <p:nvPr/>
              </p:nvSpPr>
              <p:spPr>
                <a:xfrm>
                  <a:off x="3049337" y="-61556"/>
                  <a:ext cx="314960" cy="3594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lstStyle/>
                <a:p>
                  <a:pPr>
                    <a:spcAft>
                      <a:spcPts val="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AU" sz="1800" i="1" kern="12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oMath>
                    </m:oMathPara>
                  </a14:m>
                  <a:endParaRPr lang="en-AU" sz="12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5" name="TextBox 2">
                  <a:extLst>
                    <a:ext uri="{FF2B5EF4-FFF2-40B4-BE49-F238E27FC236}">
                      <a16:creationId xmlns:a16="http://schemas.microsoft.com/office/drawing/2014/main" id="{31C2CE2B-B5B2-40A4-A97B-62CE181151B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49337" y="-61556"/>
                  <a:ext cx="314960" cy="359410"/>
                </a:xfrm>
                <a:prstGeom prst="rect">
                  <a:avLst/>
                </a:prstGeom>
                <a:blipFill>
                  <a:blip r:embed="rId5"/>
                  <a:stretch>
                    <a:fillRect r="-6383" b="-3175"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3">
                  <a:extLst>
                    <a:ext uri="{FF2B5EF4-FFF2-40B4-BE49-F238E27FC236}">
                      <a16:creationId xmlns:a16="http://schemas.microsoft.com/office/drawing/2014/main" id="{260AE965-1859-471E-9321-8B3136502604}"/>
                    </a:ext>
                  </a:extLst>
                </p:cNvPr>
                <p:cNvSpPr txBox="1"/>
                <p:nvPr/>
              </p:nvSpPr>
              <p:spPr>
                <a:xfrm>
                  <a:off x="6121232" y="2647541"/>
                  <a:ext cx="311785" cy="3594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lstStyle/>
                <a:p>
                  <a:pPr>
                    <a:spcAft>
                      <a:spcPts val="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AU" sz="1800" i="1" kern="120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oMath>
                    </m:oMathPara>
                  </a14:m>
                  <a:endParaRPr lang="en-AU" sz="1200" dirty="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6" name="TextBox 3">
                  <a:extLst>
                    <a:ext uri="{FF2B5EF4-FFF2-40B4-BE49-F238E27FC236}">
                      <a16:creationId xmlns:a16="http://schemas.microsoft.com/office/drawing/2014/main" id="{260AE965-1859-471E-9321-8B313650260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21232" y="2647541"/>
                  <a:ext cx="311785" cy="35941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AU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912626AF-34F7-466C-9DEE-43F5CB785264}"/>
              </a:ext>
            </a:extLst>
          </p:cNvPr>
          <p:cNvSpPr txBox="1"/>
          <p:nvPr/>
        </p:nvSpPr>
        <p:spPr>
          <a:xfrm>
            <a:off x="6809053" y="49965"/>
            <a:ext cx="46062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Use the gradient and intercept to draw these 3 rules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031D77C-3387-4AA0-978D-5DCEF079F959}"/>
              </a:ext>
            </a:extLst>
          </p:cNvPr>
          <p:cNvSpPr txBox="1"/>
          <p:nvPr/>
        </p:nvSpPr>
        <p:spPr>
          <a:xfrm>
            <a:off x="6772320" y="1383416"/>
            <a:ext cx="19976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y = 2x  - 3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6E36C59-F2D6-4E7F-8503-369F4D511FAB}"/>
              </a:ext>
            </a:extLst>
          </p:cNvPr>
          <p:cNvSpPr txBox="1"/>
          <p:nvPr/>
        </p:nvSpPr>
        <p:spPr>
          <a:xfrm>
            <a:off x="6828829" y="1978731"/>
            <a:ext cx="19976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y = -x  + 4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1087223-D9CA-455F-9C1B-ECCE6F4928C6}"/>
              </a:ext>
            </a:extLst>
          </p:cNvPr>
          <p:cNvSpPr txBox="1"/>
          <p:nvPr/>
        </p:nvSpPr>
        <p:spPr>
          <a:xfrm>
            <a:off x="6828828" y="2592956"/>
            <a:ext cx="19976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y = 3x  </a:t>
            </a:r>
          </a:p>
        </p:txBody>
      </p:sp>
    </p:spTree>
    <p:extLst>
      <p:ext uri="{BB962C8B-B14F-4D97-AF65-F5344CB8AC3E}">
        <p14:creationId xmlns:p14="http://schemas.microsoft.com/office/powerpoint/2010/main" val="18677850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6CF54-B0E4-4C94-8DC8-E62FC6EF7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22425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AU" dirty="0"/>
              <a:t>Complete:</a:t>
            </a:r>
            <a:br>
              <a:rPr lang="en-AU" dirty="0"/>
            </a:br>
            <a:br>
              <a:rPr lang="en-AU" dirty="0"/>
            </a:br>
            <a:r>
              <a:rPr lang="en-AU" dirty="0"/>
              <a:t>3. Gradient and y intercept worksheet</a:t>
            </a:r>
            <a:br>
              <a:rPr lang="en-AU" dirty="0"/>
            </a:br>
            <a:br>
              <a:rPr lang="en-AU" dirty="0"/>
            </a:br>
            <a:r>
              <a:rPr lang="en-AU" dirty="0"/>
              <a:t>then spend more time on</a:t>
            </a:r>
            <a:br>
              <a:rPr lang="en-AU" dirty="0"/>
            </a:br>
            <a:br>
              <a:rPr lang="en-AU" dirty="0"/>
            </a:br>
            <a:r>
              <a:rPr lang="en-AU" dirty="0"/>
              <a:t>3. Linear graphing worksheet</a:t>
            </a:r>
          </a:p>
        </p:txBody>
      </p:sp>
    </p:spTree>
    <p:extLst>
      <p:ext uri="{BB962C8B-B14F-4D97-AF65-F5344CB8AC3E}">
        <p14:creationId xmlns:p14="http://schemas.microsoft.com/office/powerpoint/2010/main" val="5150671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742</Words>
  <Application>Microsoft Office PowerPoint</Application>
  <PresentationFormat>Widescreen</PresentationFormat>
  <Paragraphs>155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Cambria Math</vt:lpstr>
      <vt:lpstr>Times New Roman</vt:lpstr>
      <vt:lpstr>Office Theme</vt:lpstr>
      <vt:lpstr>Topic: Linear Relationships EQ – What is the gradient and y-intercept of a linear graph and how does it relate to an equation?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Complete:  3. Gradient and y intercept worksheet  then spend more time on  3. Linear graphing worksheet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 Linear Relationships EQ – What is the gradient and y-intercept of a linear graph and how does it relate to an equation? </dc:title>
  <dc:creator>JAMES Sarah [Baldivis Secondary College]</dc:creator>
  <cp:lastModifiedBy>JAMES Sarah [Baldivis Secondary College]</cp:lastModifiedBy>
  <cp:revision>2</cp:revision>
  <dcterms:created xsi:type="dcterms:W3CDTF">2021-05-05T12:10:12Z</dcterms:created>
  <dcterms:modified xsi:type="dcterms:W3CDTF">2021-05-05T12:14:35Z</dcterms:modified>
</cp:coreProperties>
</file>
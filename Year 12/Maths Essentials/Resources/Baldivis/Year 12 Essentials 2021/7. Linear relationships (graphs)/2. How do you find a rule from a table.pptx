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89" r:id="rId2"/>
    <p:sldId id="398" r:id="rId3"/>
    <p:sldId id="400" r:id="rId4"/>
    <p:sldId id="261" r:id="rId5"/>
    <p:sldId id="390" r:id="rId6"/>
    <p:sldId id="402" r:id="rId7"/>
    <p:sldId id="264" r:id="rId8"/>
    <p:sldId id="40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2605" autoAdjust="0"/>
  </p:normalViewPr>
  <p:slideViewPr>
    <p:cSldViewPr snapToGrid="0">
      <p:cViewPr varScale="1">
        <p:scale>
          <a:sx n="48" d="100"/>
          <a:sy n="48" d="100"/>
        </p:scale>
        <p:origin x="13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6A9FF05D-8923-4563-A69F-4115EFE91C15}"/>
    <pc:docChg chg="custSel modSld">
      <pc:chgData name="Sarah James" userId="e5e3e68366f0feb3" providerId="LiveId" clId="{6A9FF05D-8923-4563-A69F-4115EFE91C15}" dt="2021-05-05T12:02:45.598" v="5" actId="20577"/>
      <pc:docMkLst>
        <pc:docMk/>
      </pc:docMkLst>
      <pc:sldChg chg="modSp mod">
        <pc:chgData name="Sarah James" userId="e5e3e68366f0feb3" providerId="LiveId" clId="{6A9FF05D-8923-4563-A69F-4115EFE91C15}" dt="2021-05-05T12:02:45.598" v="5" actId="20577"/>
        <pc:sldMkLst>
          <pc:docMk/>
          <pc:sldMk cId="703666126" sldId="404"/>
        </pc:sldMkLst>
        <pc:spChg chg="mod">
          <ac:chgData name="Sarah James" userId="e5e3e68366f0feb3" providerId="LiveId" clId="{6A9FF05D-8923-4563-A69F-4115EFE91C15}" dt="2021-05-05T12:02:45.598" v="5" actId="20577"/>
          <ac:spMkLst>
            <pc:docMk/>
            <pc:sldMk cId="703666126" sldId="404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92EF8E-A9AB-414A-82F6-9515D79EE145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E1BC2-741E-405C-9F46-581514C140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6623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204E23-F229-4B1D-AC50-3E72A904267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5918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A60A5-0B7E-4DDF-B6C5-6BC67A720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F8A99-5D5E-46FC-B6CA-44EC5C774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3FC2A-0590-4309-B162-BAE0C28BB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A0726-C426-4B6F-B5C2-ECF9FBE1C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CCD2-7952-43AE-A823-7610229B8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143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28CF-C045-4F46-B780-65DF4BF3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A6271-18AE-4535-885A-534F7014A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E4115-E96A-4021-B074-19A2E6B2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B24A4-43CE-4AEA-B8AA-129A7C77C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F35CF-9A02-4221-B3B1-CEBDAF45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2365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2C2BD-9033-4FA3-931C-DEB94F88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2B236-E600-4256-BDD5-4D260955D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DA547-73BB-4771-A4F6-6A58B3928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E757D-DC0C-411B-80B6-E7886FDE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94B4E-D7F1-4DFB-9A68-BF4C74B1B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773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53DD-1618-4316-8202-04AFE52C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3D8F7-7750-47C2-9015-F0756F7C4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43DDD-3C6C-4998-AD05-31816D87D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900DC-278A-4CC1-9D4B-06FDD925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2A424-96E3-449C-A3BA-1E665A6DF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AF031-1C7B-4B8D-9BEA-38AE0900D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898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57A04-3B6F-4AFE-B88D-FF751CE8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059B7-285C-4FDF-BCA9-77A02C472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048C6-05D9-439B-B4A4-2D4EF4F27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8CBBF0-594A-45D1-96F1-DE01216BB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0B44F-FE13-41E1-BE94-8188E192B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1B6ED5-1455-49FF-B180-D21188174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4A501-6A86-44B3-B8A9-1AC676C14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137452-181F-4B32-A094-9F06E71DF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0966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A9DD-3600-47B7-838B-64338FE4D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48BBE-7DB0-420F-B0C4-8E8E35292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A9038-7C3B-4A66-AFE9-38423E8B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9D878-43C2-4B13-81D3-0A193A18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403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9F0652-5CDF-4C4A-9DC1-FB12BF4D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759012-84E6-4BFC-970E-73C57F97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707A3-C187-4019-B11C-0E25C303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3479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2E4F-9475-41AE-BD71-5E7883A04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F355D-8018-41B0-8357-C31C39B67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35E20-354C-4C8F-BB00-C20C315E9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62263-77C4-49C8-B572-9ADB19F9D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71979-8B72-4FEC-97DC-DA9EB9781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0C73E-A03F-46DC-852E-7289D63F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480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15D4-FC73-4411-97F4-677DB3E2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AF8AE-B125-46E3-9B05-0E127B1AC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190C4-DF39-4B94-970F-69FF3BB3B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15F2C-99DF-4412-9A14-84695E56F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3809D-6D09-44CB-84DD-B22C4C73E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0F2A1-D5C3-4EFA-949A-969E82B38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1885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70CC7-021A-473B-986F-DAD26775F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3A898-74DB-4309-95E0-72E276BFAC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B4F8A-B888-4FDF-9473-AA3DF8C2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7B607-410C-48FE-BA04-7A1C45CF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1764C-C2AD-4D68-9B98-BE850ECC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595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02CB8E-6D73-42A5-8C36-C7A3AD56B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AA04E-212B-495A-9533-8E97E042D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2F579-A74A-4DB9-97FE-75AB15BE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4AFC6-08CB-4395-9A51-4680AB33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BC80D-941C-4D9F-BC83-EF1B2A56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036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7CBE56-41DB-4E26-A403-845233763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02F9D-3F19-416D-ACAA-1558AEF1C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E3415-6B3F-49DF-80FC-A2A793E1F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8296C-A507-411A-832E-D98F07FBBA92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CFDF3-5521-4481-8654-BB8C7A04E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1D076-9EBC-460B-86FF-F84122786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DB78-7CC5-4985-8782-F05F9C94F8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5793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9F4-62A1-496D-8D5C-97AA3DBD9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1122363"/>
            <a:ext cx="11353800" cy="2387600"/>
          </a:xfrm>
        </p:spPr>
        <p:txBody>
          <a:bodyPr>
            <a:normAutofit/>
          </a:bodyPr>
          <a:lstStyle/>
          <a:p>
            <a:pPr algn="l"/>
            <a:r>
              <a:rPr lang="en-AU" sz="4400" dirty="0"/>
              <a:t>Topic: Linear Relationships </a:t>
            </a:r>
            <a:br>
              <a:rPr lang="en-AU" sz="4400" dirty="0"/>
            </a:br>
            <a:r>
              <a:rPr lang="en-AU" sz="4400" dirty="0"/>
              <a:t>EQ: How do you find a rule from a table?</a:t>
            </a:r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05025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634476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315589-0617-4B32-8E7E-E28DB059A868}"/>
              </a:ext>
            </a:extLst>
          </p:cNvPr>
          <p:cNvSpPr txBox="1"/>
          <p:nvPr/>
        </p:nvSpPr>
        <p:spPr>
          <a:xfrm>
            <a:off x="5152685" y="3244334"/>
            <a:ext cx="4562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2-column notes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7784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05">
            <a:extLst>
              <a:ext uri="{FF2B5EF4-FFF2-40B4-BE49-F238E27FC236}">
                <a16:creationId xmlns:a16="http://schemas.microsoft.com/office/drawing/2014/main" id="{859CAA98-287C-4AED-8D6D-14A7E8A33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CECEC"/>
              </a:clrFrom>
              <a:clrTo>
                <a:srgbClr val="ECECEC">
                  <a:alpha val="0"/>
                </a:srgbClr>
              </a:clrTo>
            </a:clrChange>
            <a:lum bright="-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2325" y="1103314"/>
            <a:ext cx="5467350" cy="544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850" name="Oval 106">
            <a:extLst>
              <a:ext uri="{FF2B5EF4-FFF2-40B4-BE49-F238E27FC236}">
                <a16:creationId xmlns:a16="http://schemas.microsoft.com/office/drawing/2014/main" id="{86C9A3C6-56D5-4509-BED4-C63F8949C1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20000" y="3755231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52" name="Oval 108">
            <a:extLst>
              <a:ext uri="{FF2B5EF4-FFF2-40B4-BE49-F238E27FC236}">
                <a16:creationId xmlns:a16="http://schemas.microsoft.com/office/drawing/2014/main" id="{19F3E282-14E9-499C-B2AA-1A0BFB0955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502920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54" name="Oval 110">
            <a:extLst>
              <a:ext uri="{FF2B5EF4-FFF2-40B4-BE49-F238E27FC236}">
                <a16:creationId xmlns:a16="http://schemas.microsoft.com/office/drawing/2014/main" id="{14C872BE-0EFE-48D7-8074-2B80750B22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29400" y="442595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 dirty="0"/>
          </a:p>
        </p:txBody>
      </p:sp>
      <p:sp>
        <p:nvSpPr>
          <p:cNvPr id="31856" name="Oval 112">
            <a:extLst>
              <a:ext uri="{FF2B5EF4-FFF2-40B4-BE49-F238E27FC236}">
                <a16:creationId xmlns:a16="http://schemas.microsoft.com/office/drawing/2014/main" id="{E5399686-DE5F-4A7E-BC77-A1C73C5BFB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438400"/>
            <a:ext cx="146050" cy="14605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860" name="Text Box 116">
            <a:extLst>
              <a:ext uri="{FF2B5EF4-FFF2-40B4-BE49-F238E27FC236}">
                <a16:creationId xmlns:a16="http://schemas.microsoft.com/office/drawing/2014/main" id="{0C4F4BE2-354F-4F94-8E54-93CFD6EAE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07874"/>
            <a:ext cx="7772400" cy="1200329"/>
          </a:xfrm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dirty="0"/>
              <a:t>Give the coordinates of each point:</a:t>
            </a:r>
            <a:endParaRPr lang="en-US" altLang="en-US" sz="4800" dirty="0">
              <a:solidFill>
                <a:schemeClr val="bg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2BAFED-EE1B-4924-B702-AF3F1956ED39}"/>
              </a:ext>
            </a:extLst>
          </p:cNvPr>
          <p:cNvSpPr/>
          <p:nvPr/>
        </p:nvSpPr>
        <p:spPr>
          <a:xfrm>
            <a:off x="4765675" y="2111315"/>
            <a:ext cx="37061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6D7350-A501-482C-85BA-6F1DFFEB8687}"/>
              </a:ext>
            </a:extLst>
          </p:cNvPr>
          <p:cNvSpPr/>
          <p:nvPr/>
        </p:nvSpPr>
        <p:spPr>
          <a:xfrm>
            <a:off x="7712260" y="3428146"/>
            <a:ext cx="332142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B163E-2949-45C7-B218-E242385BE6B9}"/>
              </a:ext>
            </a:extLst>
          </p:cNvPr>
          <p:cNvSpPr/>
          <p:nvPr/>
        </p:nvSpPr>
        <p:spPr>
          <a:xfrm>
            <a:off x="6683991" y="4098865"/>
            <a:ext cx="393056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D0D14E-54BF-465E-B2DF-C2D0BD33E1B6}"/>
              </a:ext>
            </a:extLst>
          </p:cNvPr>
          <p:cNvSpPr/>
          <p:nvPr/>
        </p:nvSpPr>
        <p:spPr>
          <a:xfrm>
            <a:off x="3950471" y="4702115"/>
            <a:ext cx="3754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55168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31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5" dur="500"/>
                                        <p:tgtEl>
                                          <p:spTgt spid="31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7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9" dur="500"/>
                                        <p:tgtEl>
                                          <p:spTgt spid="31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21" presetID="16" presetClass="entr" presetSubtype="4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500"/>
                                        <p:tgtEl>
                                          <p:spTgt spid="3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50" grpId="0" animBg="1"/>
      <p:bldP spid="31852" grpId="0" animBg="1"/>
      <p:bldP spid="31854" grpId="0" animBg="1"/>
      <p:bldP spid="31856" grpId="0" animBg="1"/>
      <p:bldP spid="3186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9D88E7F-B529-436A-AB32-8C6C74376AF3}"/>
              </a:ext>
            </a:extLst>
          </p:cNvPr>
          <p:cNvSpPr txBox="1"/>
          <p:nvPr/>
        </p:nvSpPr>
        <p:spPr>
          <a:xfrm>
            <a:off x="375279" y="2006445"/>
            <a:ext cx="19763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What is a linear relationship?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/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AU" sz="2000" dirty="0"/>
                  <a:t>A linear equation produces a straight line. Linear equations are written in the form: </a:t>
                </a:r>
                <a:br>
                  <a:rPr lang="en-AU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sz="2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D201D21-8C08-4734-B26E-0EFA97B93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247" y="1915579"/>
                <a:ext cx="5420944" cy="1015663"/>
              </a:xfrm>
              <a:prstGeom prst="rect">
                <a:avLst/>
              </a:prstGeom>
              <a:blipFill>
                <a:blip r:embed="rId2"/>
                <a:stretch>
                  <a:fillRect l="-1125" t="-2994" r="-675" b="-35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C51B2E0-5107-4C73-A4D1-94E0C530B343}"/>
              </a:ext>
            </a:extLst>
          </p:cNvPr>
          <p:cNvSpPr txBox="1"/>
          <p:nvPr/>
        </p:nvSpPr>
        <p:spPr>
          <a:xfrm>
            <a:off x="8184232" y="2060848"/>
            <a:ext cx="38884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m?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r>
              <a:rPr lang="en-AU" dirty="0"/>
              <a:t>What is c?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9560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3076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336" y="1064757"/>
            <a:ext cx="10066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/>
              <a:t>EQ – How do I find a linear relationship from a table?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61338C-F493-4367-BD45-C1243F79202B}"/>
              </a:ext>
            </a:extLst>
          </p:cNvPr>
          <p:cNvCxnSpPr/>
          <p:nvPr/>
        </p:nvCxnSpPr>
        <p:spPr>
          <a:xfrm>
            <a:off x="8040216" y="189204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201D21-8C08-4734-B26E-0EFA97B93BFB}"/>
              </a:ext>
            </a:extLst>
          </p:cNvPr>
          <p:cNvSpPr txBox="1"/>
          <p:nvPr/>
        </p:nvSpPr>
        <p:spPr>
          <a:xfrm>
            <a:off x="2475247" y="1915579"/>
            <a:ext cx="5420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Example: Find the linear equation from this table of values.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8707F3-FA78-4E70-A0CD-9A31C5687B50}"/>
              </a:ext>
            </a:extLst>
          </p:cNvPr>
          <p:cNvSpPr txBox="1"/>
          <p:nvPr/>
        </p:nvSpPr>
        <p:spPr>
          <a:xfrm>
            <a:off x="167194" y="2009745"/>
            <a:ext cx="2112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create a linear equation (or rule) from a table?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056D2-0B2F-4CD7-A573-68C1418C183E}"/>
              </a:ext>
            </a:extLst>
          </p:cNvPr>
          <p:cNvSpPr/>
          <p:nvPr/>
        </p:nvSpPr>
        <p:spPr>
          <a:xfrm>
            <a:off x="2522219" y="3803646"/>
            <a:ext cx="542094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Find the difference pattern in the y-values. This is the value of m.</a:t>
            </a:r>
          </a:p>
          <a:p>
            <a:pPr marL="342900" indent="-342900">
              <a:buAutoNum type="arabicPeriod"/>
            </a:pP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9A544E-888B-4DC3-ACCC-28EB17BEF1B7}"/>
              </a:ext>
            </a:extLst>
          </p:cNvPr>
          <p:cNvSpPr/>
          <p:nvPr/>
        </p:nvSpPr>
        <p:spPr>
          <a:xfrm>
            <a:off x="2476305" y="4931387"/>
            <a:ext cx="5420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2)  Work out what y would be when x = 0.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8E3847-F5C8-4989-B207-02BBFE50AD78}"/>
              </a:ext>
            </a:extLst>
          </p:cNvPr>
          <p:cNvSpPr txBox="1"/>
          <p:nvPr/>
        </p:nvSpPr>
        <p:spPr>
          <a:xfrm>
            <a:off x="9480248" y="3516315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57349EC-94CE-4230-BDBC-7F977B0C6C8B}"/>
              </a:ext>
            </a:extLst>
          </p:cNvPr>
          <p:cNvGraphicFramePr>
            <a:graphicFrameLocks noGrp="1"/>
          </p:cNvGraphicFramePr>
          <p:nvPr/>
        </p:nvGraphicFramePr>
        <p:xfrm>
          <a:off x="2493898" y="2618250"/>
          <a:ext cx="550128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7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76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56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FF92D6EA-E5BA-4766-AC1E-682B4242C4FA}"/>
              </a:ext>
            </a:extLst>
          </p:cNvPr>
          <p:cNvSpPr txBox="1"/>
          <p:nvPr/>
        </p:nvSpPr>
        <p:spPr>
          <a:xfrm>
            <a:off x="3594990" y="3268620"/>
            <a:ext cx="2730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+3       +3      +3	</a:t>
            </a:r>
            <a:endParaRPr lang="en-AU" b="1" dirty="0">
              <a:solidFill>
                <a:srgbClr val="00B05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75A89-EEB1-4CE2-ACD0-59D138887A54}"/>
              </a:ext>
            </a:extLst>
          </p:cNvPr>
          <p:cNvSpPr txBox="1"/>
          <p:nvPr/>
        </p:nvSpPr>
        <p:spPr>
          <a:xfrm>
            <a:off x="2279576" y="3474207"/>
            <a:ext cx="1506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x= 0, y = 2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22472EA-E6CA-4AC4-810C-EE1378792994}"/>
              </a:ext>
            </a:extLst>
          </p:cNvPr>
          <p:cNvCxnSpPr/>
          <p:nvPr/>
        </p:nvCxnSpPr>
        <p:spPr>
          <a:xfrm flipH="1">
            <a:off x="2993685" y="3307338"/>
            <a:ext cx="139361" cy="29189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96975D1-FBA8-49CD-8998-D249FC4662DE}"/>
              </a:ext>
            </a:extLst>
          </p:cNvPr>
          <p:cNvSpPr txBox="1"/>
          <p:nvPr/>
        </p:nvSpPr>
        <p:spPr>
          <a:xfrm>
            <a:off x="2968177" y="2980438"/>
            <a:ext cx="3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endParaRPr lang="en-AU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/>
              <p:nvPr/>
            </p:nvSpPr>
            <p:spPr>
              <a:xfrm>
                <a:off x="2606330" y="5632408"/>
                <a:ext cx="546060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linear equation form is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b="1" dirty="0">
                    <a:solidFill>
                      <a:srgbClr val="00B050"/>
                    </a:solidFill>
                  </a:rPr>
                  <a:t> </a:t>
                </a:r>
              </a:p>
              <a:p>
                <a:r>
                  <a:rPr lang="en-AU" dirty="0"/>
                  <a:t>so the linear equation is</a:t>
                </a:r>
              </a:p>
              <a:p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endParaRPr lang="en-AU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F0B594-5320-49EF-9680-225EF63E8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6330" y="5632408"/>
                <a:ext cx="5460609" cy="923330"/>
              </a:xfrm>
              <a:prstGeom prst="rect">
                <a:avLst/>
              </a:prstGeom>
              <a:blipFill>
                <a:blip r:embed="rId2"/>
                <a:stretch>
                  <a:fillRect l="-1006" t="-3974" b="-3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627B09A-1AC9-4B7C-9874-B4563A45080D}"/>
              </a:ext>
            </a:extLst>
          </p:cNvPr>
          <p:cNvSpPr txBox="1"/>
          <p:nvPr/>
        </p:nvSpPr>
        <p:spPr>
          <a:xfrm>
            <a:off x="2904142" y="2614361"/>
            <a:ext cx="318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0</a:t>
            </a:r>
            <a:endParaRPr lang="en-A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85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3512" y="1340768"/>
            <a:ext cx="9073008" cy="459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0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032" y="158490"/>
            <a:ext cx="6761936" cy="3425040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128" y="3748718"/>
            <a:ext cx="7735376" cy="7606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576" y="4674448"/>
            <a:ext cx="3216776" cy="8006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424" y="4667674"/>
            <a:ext cx="3987800" cy="673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8568" y="5349727"/>
            <a:ext cx="1739900" cy="279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5695550"/>
            <a:ext cx="4320480" cy="88301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199" y="5741010"/>
            <a:ext cx="2012289" cy="934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0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9527" y="2502421"/>
            <a:ext cx="6763097" cy="1293028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Page 84 &amp; </a:t>
            </a:r>
            <a:r>
              <a:rPr lang="en-US" sz="5400"/>
              <a:t>85 MAWA</a:t>
            </a:r>
            <a:br>
              <a:rPr lang="en-US" sz="5400"/>
            </a:br>
            <a:r>
              <a:rPr lang="en-US" sz="5400"/>
              <a:t>and </a:t>
            </a:r>
            <a:endParaRPr lang="en-AU" sz="5400" dirty="0"/>
          </a:p>
        </p:txBody>
      </p:sp>
    </p:spTree>
    <p:extLst>
      <p:ext uri="{BB962C8B-B14F-4D97-AF65-F5344CB8AC3E}">
        <p14:creationId xmlns:p14="http://schemas.microsoft.com/office/powerpoint/2010/main" val="703666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250</Words>
  <Application>Microsoft Office PowerPoint</Application>
  <PresentationFormat>Widescreen</PresentationFormat>
  <Paragraphs>61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Topic: Linear Relationships  EQ: How do you find a rule from a table?</vt:lpstr>
      <vt:lpstr>PowerPoint Presentation</vt:lpstr>
      <vt:lpstr>Give the coordinates of each point:</vt:lpstr>
      <vt:lpstr>PowerPoint Presentation</vt:lpstr>
      <vt:lpstr>PowerPoint Presentation</vt:lpstr>
      <vt:lpstr>PowerPoint Presentation</vt:lpstr>
      <vt:lpstr>PowerPoint Presentation</vt:lpstr>
      <vt:lpstr>Page 84 &amp; 85 MAWA and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  EQ: How do you find a rule from a table?</dc:title>
  <dc:creator>JAMES Sarah [Baldivis Secondary College]</dc:creator>
  <cp:lastModifiedBy>JAMES Sarah [Baldivis Secondary College]</cp:lastModifiedBy>
  <cp:revision>1</cp:revision>
  <dcterms:created xsi:type="dcterms:W3CDTF">2021-04-20T13:23:06Z</dcterms:created>
  <dcterms:modified xsi:type="dcterms:W3CDTF">2021-05-05T12:03:07Z</dcterms:modified>
</cp:coreProperties>
</file>
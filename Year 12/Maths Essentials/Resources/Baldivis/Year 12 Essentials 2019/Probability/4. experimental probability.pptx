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9"/>
  </p:notesMasterIdLst>
  <p:sldIdLst>
    <p:sldId id="256" r:id="rId2"/>
    <p:sldId id="267" r:id="rId3"/>
    <p:sldId id="270" r:id="rId4"/>
    <p:sldId id="269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052" autoAdjust="0"/>
    <p:restoredTop sz="94660"/>
  </p:normalViewPr>
  <p:slideViewPr>
    <p:cSldViewPr snapToGrid="0">
      <p:cViewPr varScale="1">
        <p:scale>
          <a:sx n="75" d="100"/>
          <a:sy n="75" d="100"/>
        </p:scale>
        <p:origin x="57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2B6C-C9C7-48D2-88B5-33E638F800ED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B68E-FF73-442A-A333-C57C0096B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094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77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428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812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327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5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23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6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60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73474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7909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41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572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956CA6D-9A9D-48B0-96BA-AF3598EB9253}" type="datetimeFigureOut">
              <a:rPr lang="en-AU" smtClean="0"/>
              <a:t>24/07/2019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CEE2D17-372E-44C9-94EE-7061C6280C00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6530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7880-2D9E-4601-9C7F-CC168F0C4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7" y="1921581"/>
            <a:ext cx="9068586" cy="2590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EXPERIMENTAL 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94CB1-F5F5-4BEC-AF59-9A67C728C8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89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1039158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1788" y="20837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4816" y="15871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3021" y="378169"/>
            <a:ext cx="8972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 replacement 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66560" y="459442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364" y="1827818"/>
            <a:ext cx="218687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Experimental vs. </a:t>
            </a: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Theoretical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745" y="106247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" y="1524014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/>
              <p:nvPr/>
            </p:nvSpPr>
            <p:spPr>
              <a:xfrm>
                <a:off x="1679838" y="1739897"/>
                <a:ext cx="10607624" cy="3564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Probabilty can have two approaches: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AU" sz="2000" b="1" dirty="0">
                    <a:ea typeface="Cambria Math" panose="02040503050406030204" pitchFamily="18" charset="0"/>
                  </a:rPr>
                  <a:t>Experimental Probability</a:t>
                </a:r>
                <a:r>
                  <a:rPr lang="en-AU" sz="2000" dirty="0">
                    <a:ea typeface="Cambria Math" panose="02040503050406030204" pitchFamily="18" charset="0"/>
                  </a:rPr>
                  <a:t> and </a:t>
                </a:r>
                <a:r>
                  <a:rPr lang="en-AU" sz="2000" b="1" dirty="0">
                    <a:ea typeface="Cambria Math" panose="02040503050406030204" pitchFamily="18" charset="0"/>
                  </a:rPr>
                  <a:t>Theoretical Probability</a:t>
                </a:r>
              </a:p>
              <a:p>
                <a:pPr algn="ctr">
                  <a:lnSpc>
                    <a:spcPct val="150000"/>
                  </a:lnSpc>
                </a:pPr>
                <a:endParaRPr lang="en-AU" sz="2000" b="1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AU" sz="2000" b="0" dirty="0">
                    <a:ea typeface="Cambria Math" panose="02040503050406030204" pitchFamily="18" charset="0"/>
                  </a:rPr>
                  <a:t>What actually happens    	   vs.		 What we think will happen</a:t>
                </a:r>
              </a:p>
              <a:p>
                <a:pPr algn="ctr"/>
                <a:endParaRPr lang="en-AU" sz="2000" dirty="0"/>
              </a:p>
              <a:p>
                <a:pPr algn="ctr"/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𝑡𝑖𝑚𝑒𝑠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𝑒𝑣𝑒𝑛𝑡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𝑜𝑐𝑐𝑢𝑟𝑠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𝑡𝑟𝑖𝑎𝑙𝑠</m:t>
                        </m:r>
                      </m:den>
                    </m:f>
                  </m:oMath>
                </a14:m>
                <a:r>
                  <a:rPr lang="en-AU" sz="2400" dirty="0"/>
                  <a:t>      </a:t>
                </a:r>
                <a:r>
                  <a:rPr lang="en-AU" dirty="0"/>
                  <a:t>P 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𝑓𝑎𝑣𝑜𝑟𝑎𝑏𝑙𝑒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𝑝𝑜𝑠𝑠𝑖𝑏𝑙𝑒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9F4D63-FC33-473C-940F-C262E50F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8" y="1739897"/>
                <a:ext cx="10607624" cy="3564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319839-30B6-4CB4-8594-17883E90D5F2}"/>
              </a:ext>
            </a:extLst>
          </p:cNvPr>
          <p:cNvCxnSpPr/>
          <p:nvPr/>
        </p:nvCxnSpPr>
        <p:spPr>
          <a:xfrm>
            <a:off x="5067300" y="2671424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7227D47-957E-4F37-9926-B6EFD46500F1}"/>
              </a:ext>
            </a:extLst>
          </p:cNvPr>
          <p:cNvCxnSpPr/>
          <p:nvPr/>
        </p:nvCxnSpPr>
        <p:spPr>
          <a:xfrm>
            <a:off x="8864161" y="2671424"/>
            <a:ext cx="0" cy="4153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/>
              <p:nvPr/>
            </p:nvSpPr>
            <p:spPr>
              <a:xfrm>
                <a:off x="2262763" y="4690196"/>
                <a:ext cx="4790306" cy="1839286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Example: </a:t>
                </a:r>
                <a:r>
                  <a:rPr lang="en-US" altLang="en-US" sz="1600" dirty="0"/>
                  <a:t>You tossed  a coin 10 times and recorded a head 3 times, a tail 7 times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US" alt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altLang="en-US" sz="2000" i="1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9D7078-3C37-40DA-A496-ED0F5A8F0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763" y="4690196"/>
                <a:ext cx="4790306" cy="1839286"/>
              </a:xfrm>
              <a:prstGeom prst="rect">
                <a:avLst/>
              </a:prstGeom>
              <a:blipFill>
                <a:blip r:embed="rId4"/>
                <a:stretch>
                  <a:fillRect l="-508" t="-329" r="-1269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/>
              <p:nvPr/>
            </p:nvSpPr>
            <p:spPr>
              <a:xfrm>
                <a:off x="7142515" y="4690196"/>
                <a:ext cx="4790306" cy="1588063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1600" dirty="0"/>
                  <a:t>Example: </a:t>
                </a:r>
                <a:r>
                  <a:rPr lang="en-US" altLang="en-US" sz="1600" dirty="0"/>
                  <a:t>Toss a coin and getting a head or a tail.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P(head)=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sz="16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en-US" sz="1600" dirty="0"/>
                  <a:t>P(tail)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0AD406-1CAA-45A2-80B8-80BF8245C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515" y="4690196"/>
                <a:ext cx="4790306" cy="1588063"/>
              </a:xfrm>
              <a:prstGeom prst="rect">
                <a:avLst/>
              </a:prstGeom>
              <a:blipFill>
                <a:blip r:embed="rId5"/>
                <a:stretch>
                  <a:fillRect l="-635" t="-380"/>
                </a:stretch>
              </a:blipFill>
              <a:ln w="127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7D571D-DD02-4F16-B689-602AC25B96AA}"/>
                  </a:ext>
                </a:extLst>
              </p:cNvPr>
              <p:cNvSpPr txBox="1"/>
              <p:nvPr/>
            </p:nvSpPr>
            <p:spPr>
              <a:xfrm>
                <a:off x="647700" y="1066800"/>
                <a:ext cx="10160000" cy="4203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dirty="0"/>
                  <a:t>Example:</a:t>
                </a:r>
              </a:p>
              <a:p>
                <a:r>
                  <a:rPr lang="en-AU" sz="3600" dirty="0"/>
                  <a:t>A 6-sided die is rolled 1000 times and it lands on the number 2 176 times.</a:t>
                </a:r>
              </a:p>
              <a:p>
                <a:endParaRPr lang="en-AU" sz="3600" dirty="0"/>
              </a:p>
              <a:p>
                <a:r>
                  <a:rPr lang="en-AU" sz="3600" b="1" u="sng" dirty="0"/>
                  <a:t>Experimental Probability </a:t>
                </a:r>
                <a:r>
                  <a:rPr lang="en-AU" sz="3600" dirty="0"/>
                  <a:t>of rolling a 2 is</a:t>
                </a:r>
              </a:p>
              <a:p>
                <a:endParaRPr lang="en-AU" sz="3600" dirty="0"/>
              </a:p>
              <a:p>
                <a:r>
                  <a:rPr lang="en-AU" sz="3600" dirty="0"/>
                  <a:t>		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176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AU" sz="3600" dirty="0"/>
                  <a:t> = 0.176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7D571D-DD02-4F16-B689-602AC25B9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1066800"/>
                <a:ext cx="10160000" cy="4203202"/>
              </a:xfrm>
              <a:prstGeom prst="rect">
                <a:avLst/>
              </a:prstGeom>
              <a:blipFill>
                <a:blip r:embed="rId2"/>
                <a:stretch>
                  <a:fillRect l="-1800" t="-2174" b="-20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65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5A96B-CC7A-4EA7-9BEC-1B49DD5FBC44}"/>
              </a:ext>
            </a:extLst>
          </p:cNvPr>
          <p:cNvSpPr txBox="1"/>
          <p:nvPr/>
        </p:nvSpPr>
        <p:spPr>
          <a:xfrm>
            <a:off x="1225550" y="514940"/>
            <a:ext cx="97409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Essentials book page 126</a:t>
            </a:r>
          </a:p>
          <a:p>
            <a:pPr algn="ctr"/>
            <a:r>
              <a:rPr lang="en-AU" sz="2800" b="1" u="sng" dirty="0"/>
              <a:t>DESIGN a SPINNER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FF65C-1B6A-47B3-8851-5D48B5BD8337}"/>
              </a:ext>
            </a:extLst>
          </p:cNvPr>
          <p:cNvSpPr txBox="1"/>
          <p:nvPr/>
        </p:nvSpPr>
        <p:spPr>
          <a:xfrm>
            <a:off x="1225550" y="2138326"/>
            <a:ext cx="964355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AU" sz="2000" dirty="0"/>
              <a:t>Hold a paper clip 20cm above the centre of the rectangle. 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Drop the paperclip and record where it lands (inside rectangle, on the edge, outside the rectangle)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Repeat 50 times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Use the percentages in your table to represent the probabilities as a fraction of each.</a:t>
            </a:r>
          </a:p>
          <a:p>
            <a:pPr marL="342900" indent="-342900">
              <a:buAutoNum type="arabicParenR"/>
            </a:pP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DFAF9D-A8D0-4B78-8AF1-61890BF85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55572"/>
              </p:ext>
            </p:extLst>
          </p:nvPr>
        </p:nvGraphicFramePr>
        <p:xfrm>
          <a:off x="3587423" y="333585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014317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71797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10059728"/>
                    </a:ext>
                  </a:extLst>
                </a:gridCol>
                <a:gridCol w="1952396">
                  <a:extLst>
                    <a:ext uri="{9D8B030D-6E8A-4147-A177-3AD203B41FA5}">
                      <a16:colId xmlns:a16="http://schemas.microsoft.com/office/drawing/2014/main" val="2286691862"/>
                    </a:ext>
                  </a:extLst>
                </a:gridCol>
                <a:gridCol w="1298804">
                  <a:extLst>
                    <a:ext uri="{9D8B030D-6E8A-4147-A177-3AD203B41FA5}">
                      <a16:colId xmlns:a16="http://schemas.microsoft.com/office/drawing/2014/main" val="2336925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In 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On the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Outside 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12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Tally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508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Frequency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9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Percentage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10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38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C5A96B-CC7A-4EA7-9BEC-1B49DD5FBC44}"/>
              </a:ext>
            </a:extLst>
          </p:cNvPr>
          <p:cNvSpPr txBox="1"/>
          <p:nvPr/>
        </p:nvSpPr>
        <p:spPr>
          <a:xfrm>
            <a:off x="1225550" y="514940"/>
            <a:ext cx="97409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Essentials book page 127</a:t>
            </a:r>
          </a:p>
          <a:p>
            <a:pPr algn="ctr"/>
            <a:r>
              <a:rPr lang="en-AU" sz="2800" b="1" u="sng" dirty="0"/>
              <a:t>COUNTERS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32A3FE-B176-40A8-9273-C499CE7E384C}"/>
              </a:ext>
            </a:extLst>
          </p:cNvPr>
          <p:cNvSpPr txBox="1"/>
          <p:nvPr/>
        </p:nvSpPr>
        <p:spPr>
          <a:xfrm>
            <a:off x="952107" y="2036190"/>
            <a:ext cx="102563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Two red and one blue counters are placed in a bag.</a:t>
            </a:r>
          </a:p>
          <a:p>
            <a:r>
              <a:rPr lang="en-AU" sz="2400" dirty="0"/>
              <a:t>Without looking, two counters are taken out together.</a:t>
            </a:r>
          </a:p>
          <a:p>
            <a:endParaRPr lang="en-AU" dirty="0"/>
          </a:p>
          <a:p>
            <a:r>
              <a:rPr lang="en-AU" sz="2400" dirty="0"/>
              <a:t>Is it more likely that the two counters are both red or that one is red and one is blue?</a:t>
            </a:r>
          </a:p>
          <a:p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/>
              <a:t>Complete   a)    b)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A70ECD-AE3F-4601-8523-4F48B1697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145579"/>
              </p:ext>
            </p:extLst>
          </p:nvPr>
        </p:nvGraphicFramePr>
        <p:xfrm>
          <a:off x="3997069" y="4406052"/>
          <a:ext cx="6812102" cy="1582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051">
                  <a:extLst>
                    <a:ext uri="{9D8B030D-6E8A-4147-A177-3AD203B41FA5}">
                      <a16:colId xmlns:a16="http://schemas.microsoft.com/office/drawing/2014/main" val="1777817369"/>
                    </a:ext>
                  </a:extLst>
                </a:gridCol>
                <a:gridCol w="3406051">
                  <a:extLst>
                    <a:ext uri="{9D8B030D-6E8A-4147-A177-3AD203B41FA5}">
                      <a16:colId xmlns:a16="http://schemas.microsoft.com/office/drawing/2014/main" val="1826906628"/>
                    </a:ext>
                  </a:extLst>
                </a:gridCol>
              </a:tblGrid>
              <a:tr h="560584">
                <a:tc>
                  <a:txBody>
                    <a:bodyPr/>
                    <a:lstStyle/>
                    <a:p>
                      <a:r>
                        <a:rPr lang="en-AU" dirty="0"/>
                        <a:t>Same 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Different colours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60967"/>
                  </a:ext>
                </a:extLst>
              </a:tr>
              <a:tr h="1021437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0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85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6BCD9D-18E9-4FFC-9C6A-C44A5D76130A}"/>
              </a:ext>
            </a:extLst>
          </p:cNvPr>
          <p:cNvSpPr/>
          <p:nvPr/>
        </p:nvSpPr>
        <p:spPr>
          <a:xfrm>
            <a:off x="1123951" y="827451"/>
            <a:ext cx="96424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The law of LARGE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8E023-68B0-487E-B5FE-89F220C32AD8}"/>
              </a:ext>
            </a:extLst>
          </p:cNvPr>
          <p:cNvSpPr txBox="1"/>
          <p:nvPr/>
        </p:nvSpPr>
        <p:spPr>
          <a:xfrm>
            <a:off x="1753386" y="1998482"/>
            <a:ext cx="83992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The more experiments/trials we do, the closer the results will be to the TRUE probability.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/>
              <a:t>Complete Part c) as a class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59D091-690D-4AB8-BC23-7F7157E51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904758"/>
              </p:ext>
            </p:extLst>
          </p:nvPr>
        </p:nvGraphicFramePr>
        <p:xfrm>
          <a:off x="1263494" y="4316209"/>
          <a:ext cx="10103942" cy="1660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1971">
                  <a:extLst>
                    <a:ext uri="{9D8B030D-6E8A-4147-A177-3AD203B41FA5}">
                      <a16:colId xmlns:a16="http://schemas.microsoft.com/office/drawing/2014/main" val="1777817369"/>
                    </a:ext>
                  </a:extLst>
                </a:gridCol>
                <a:gridCol w="5051971">
                  <a:extLst>
                    <a:ext uri="{9D8B030D-6E8A-4147-A177-3AD203B41FA5}">
                      <a16:colId xmlns:a16="http://schemas.microsoft.com/office/drawing/2014/main" val="1826906628"/>
                    </a:ext>
                  </a:extLst>
                </a:gridCol>
              </a:tblGrid>
              <a:tr h="438671">
                <a:tc>
                  <a:txBody>
                    <a:bodyPr/>
                    <a:lstStyle/>
                    <a:p>
                      <a:r>
                        <a:rPr lang="en-AU" dirty="0"/>
                        <a:t>Same colour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Different colours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760967"/>
                  </a:ext>
                </a:extLst>
              </a:tr>
              <a:tr h="122163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630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877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AA036-1E5A-4633-842C-F718DDAEB6DB}"/>
              </a:ext>
            </a:extLst>
          </p:cNvPr>
          <p:cNvSpPr txBox="1"/>
          <p:nvPr/>
        </p:nvSpPr>
        <p:spPr>
          <a:xfrm>
            <a:off x="2079057" y="914400"/>
            <a:ext cx="85664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Text book – page 128 – 129</a:t>
            </a:r>
          </a:p>
          <a:p>
            <a:endParaRPr lang="en-AU" sz="2800" dirty="0"/>
          </a:p>
          <a:p>
            <a:r>
              <a:rPr lang="en-AU" sz="2800" dirty="0"/>
              <a:t>Complete questions 3 and 4</a:t>
            </a:r>
          </a:p>
        </p:txBody>
      </p:sp>
    </p:spTree>
    <p:extLst>
      <p:ext uri="{BB962C8B-B14F-4D97-AF65-F5344CB8AC3E}">
        <p14:creationId xmlns:p14="http://schemas.microsoft.com/office/powerpoint/2010/main" val="7347499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2933</TotalTime>
  <Words>300</Words>
  <Application>Microsoft Office PowerPoint</Application>
  <PresentationFormat>Widescreen</PresentationFormat>
  <Paragraphs>73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 Math</vt:lpstr>
      <vt:lpstr>Garamond</vt:lpstr>
      <vt:lpstr>Kiwi School Handwriting</vt:lpstr>
      <vt:lpstr>Savon</vt:lpstr>
      <vt:lpstr>EXPERIMENTAL PROBABILITY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PROBABILITY </dc:title>
  <dc:creator>D'SOUZA Jillian [Baldivis Secondary College]</dc:creator>
  <cp:lastModifiedBy>Barry Stanton</cp:lastModifiedBy>
  <cp:revision>12</cp:revision>
  <dcterms:created xsi:type="dcterms:W3CDTF">2018-07-31T04:54:10Z</dcterms:created>
  <dcterms:modified xsi:type="dcterms:W3CDTF">2019-07-26T05:35:34Z</dcterms:modified>
</cp:coreProperties>
</file>
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983EA-A5D9-4847-8A74-08E791B35DA3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8C2D30-DF78-45C0-97A3-A13DD68515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1117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165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FDC39-0BF2-4961-98D5-640668D012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9FAE6E-7E8A-4264-8EC6-1A0698F48F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C2F3B-A126-46F4-BC21-81AF176D7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21C5AB-9534-4EBA-B1AC-363DAFEE9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C794A-C716-4DB2-AA34-8125B8F5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6346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5E24-8C3B-4ECB-B6AC-0712BD1BA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C666D-3E02-402C-B36F-41AA46D81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90F0B2-AFAC-4806-8313-4455EE4F6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113A8-5404-4F98-941D-7C60501FF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C78D3-E364-4E14-9BA3-C14CA782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822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AB372-4CFD-4C6A-8F18-23C492278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6D521D-7EC5-48B5-85D2-D8238609A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0866FB-0C32-4274-B8C6-5B4B90D4B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ED5AF-A35D-4D14-A425-977CA4869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9C9E9-3A49-4850-AD82-8F187C06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839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128A1-EECA-409C-ABC2-4616CE81B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C8176-8EEB-469B-84F0-2E4399ED34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44064-34AE-4849-B233-440A9A1F2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9B28DA-A7F9-4FC6-8059-F312F2059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BF4BB-A9C2-41BB-83B0-6C682EE9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7D075-C86C-43F1-90FD-61921CF60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591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52DE6-2AC4-4BA1-964C-C8149AA6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13CA0-4911-448A-B227-749DB179D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F773A7-352A-4F01-B20D-CBD91D229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8A34F6-139C-4B5D-9C51-31E1A20AC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9BC8D-6AC1-4B34-9111-1F1A12ABB9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0DDFF5-B8A9-4EBB-8DA7-3896E9BD1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46A68F-AF81-42FD-B226-75074AAB8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71AE1A-E65B-4AB7-9CBC-CE04566B4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0607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4A07-2277-4A22-98C4-D69B8A6C8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0E6C0-CE48-420A-AACB-F571DB9FD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C499DD-B1F1-4D95-AF39-E83B26D36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0642AA-4703-4F97-A1D2-BB58F6F5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1493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7EB9A-FC49-45BD-AF19-F7035318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D20A05-AEE3-4AEF-A73F-63663BAD2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9745D-D42C-4CF2-9F82-9C0E0CCCE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4191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C6F91-0BBA-47DD-BFC6-137FCA928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CAC90-558A-4A0C-8567-D50914F10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044B18-8D71-4A7B-A197-C7EC52BCE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FB22A-6D82-477B-B713-F04372E03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01649C-D27B-48EB-B9B7-8DC39A270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7D6FC-253B-4D15-A06A-0C7AEB734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3515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D885D-55C3-4D46-A9BF-C49672B7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1E172F-CD54-4222-97D9-8D6693B2BB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1F3B4-A5BA-4E23-8CFC-A71F5ADDA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793B4-23AF-4ECD-8F7C-C407E09BE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B8526-CDC8-45C2-819A-24636C00C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4EB81A-CEB2-4D48-8F2E-1C46ED41F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7534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BDBAB-6C7A-4FD9-B619-92AF6D2B1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F0C9A-FBFA-499C-8AB6-702D7ADA7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BC634-F546-4F8E-8915-7A8E36B2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D3E82-3EF8-4058-B199-4C38DBA57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A50AD-C1E3-4318-9C28-22F7AD19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0972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ABC787-9FEA-4085-AD19-E8CF02D73C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02C96-CE58-45DC-A006-0EC8E886A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5BA69-BD8C-46A9-842A-6FE58B47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E9DD5-0DBC-42BC-BDC3-70C08FE1F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8766B-516C-409E-878D-1A4E3BD4E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2096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D7F7E1-176C-40E4-B0C9-185E9EA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152DA-BEF8-47B8-8331-02F0ECFE41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CFC158-CB1F-4A2A-9D2B-DC208FBD74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87164-31BE-41C9-B48E-7F1534C1DC8E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7D589-C8F7-4362-9E8D-1F9EC26CD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D07EA-B1F3-43EA-8B73-21417DB83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8FFBB2-06DE-4204-A511-D2CCB726F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0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995C-84C1-43C5-A6F1-BB50B452B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Probability</a:t>
            </a:r>
            <a:br>
              <a:rPr lang="en-US" dirty="0"/>
            </a:br>
            <a:r>
              <a:rPr lang="en-US" sz="2400" dirty="0"/>
              <a:t>EQ: What is the difference in the probability outcome when a chance event is repeated?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7151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b="1" dirty="0">
                <a:solidFill>
                  <a:srgbClr val="FF0000"/>
                </a:solidFill>
                <a:latin typeface="Fragment Core" panose="02000504040000020003"/>
              </a:rPr>
              <a:t>EQ: What is the difference in the probability outcome when a chance event is repeated?</a:t>
            </a:r>
            <a:endParaRPr lang="en-AU" sz="2400" b="1" dirty="0">
              <a:solidFill>
                <a:srgbClr val="FF0000"/>
              </a:solidFill>
              <a:latin typeface="Fragment Core" panose="02000504040000020003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CC86A2-6030-44A8-977F-E28ABDED0DAE}"/>
                  </a:ext>
                </a:extLst>
              </p:cNvPr>
              <p:cNvSpPr/>
              <p:nvPr/>
            </p:nvSpPr>
            <p:spPr>
              <a:xfrm>
                <a:off x="2067612" y="1894668"/>
                <a:ext cx="4672553" cy="331469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AU" sz="1400" u="sng" dirty="0"/>
                  <a:t>Theoretical Probability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Theoretical probability is what we expect to occur.</a:t>
                </a:r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𝐸𝑣𝑒𝑛𝑡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𝑝𝑜𝑠𝑠𝑖𝑏𝑙𝑒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𝑆𝑎𝑚𝑝𝑙𝑒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𝑆𝑝𝑎𝑐𝑒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r>
                  <a:rPr lang="en-AU" sz="1400" dirty="0"/>
                  <a:t>Example – what is the probability of rolling an even number on a six sided die.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Sample Space {1, 2, 3, 4, 5, 6}</a:t>
                </a:r>
              </a:p>
              <a:p>
                <a:r>
                  <a:rPr lang="en-AU" sz="1400" dirty="0"/>
                  <a:t>Even Numbers  2, 4, 6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𝐸𝑣𝑒𝑛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r>
                  <a:rPr lang="en-AU" sz="1400" dirty="0"/>
                  <a:t>50/50 or even chance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89CC86A2-6030-44A8-977F-E28ABDED0D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7612" y="1894668"/>
                <a:ext cx="4672553" cy="3314690"/>
              </a:xfrm>
              <a:prstGeom prst="rect">
                <a:avLst/>
              </a:prstGeom>
              <a:blipFill>
                <a:blip r:embed="rId3"/>
                <a:stretch>
                  <a:fillRect l="-260" t="-183" b="-7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670AFE-44A8-415E-B51F-6B630BDDA8D9}"/>
                  </a:ext>
                </a:extLst>
              </p:cNvPr>
              <p:cNvSpPr txBox="1"/>
              <p:nvPr/>
            </p:nvSpPr>
            <p:spPr>
              <a:xfrm>
                <a:off x="7070979" y="1872491"/>
                <a:ext cx="4910839" cy="402212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AU" sz="1400" u="sng" dirty="0"/>
                  <a:t>Experimental Probability</a:t>
                </a:r>
              </a:p>
              <a:p>
                <a:endParaRPr lang="en-AU" sz="1400" dirty="0"/>
              </a:p>
              <a:p>
                <a:r>
                  <a:rPr lang="en-AU" sz="1400" dirty="0"/>
                  <a:t>Experimental Probability is what actually happens. The results of the activity are recorded and the number of trials is calculated</a:t>
                </a:r>
              </a:p>
              <a:p>
                <a:endParaRPr lang="en-AU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𝑑𝑒𝑠𝑖𝑟𝑒𝑑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𝑛𝑢𝑚𝑏𝑒𝑟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𝑡𝑟𝑖𝑎𝑙𝑠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r>
                  <a:rPr lang="en-AU" sz="1400" dirty="0"/>
                  <a:t>Example – tossing a coin 20 times</a:t>
                </a:r>
              </a:p>
              <a:p>
                <a:endParaRPr lang="en-AU" sz="1400" dirty="0"/>
              </a:p>
              <a:p>
                <a:endParaRPr lang="en-US" sz="1400" dirty="0"/>
              </a:p>
              <a:p>
                <a:endParaRPr lang="en-US" sz="1400" dirty="0"/>
              </a:p>
              <a:p>
                <a:endParaRPr lang="en-AU" sz="1400" dirty="0"/>
              </a:p>
              <a:p>
                <a:pPr/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AU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400" b="0" i="1" smtClean="0">
                              <a:latin typeface="Cambria Math" panose="02040503050406030204" pitchFamily="18" charset="0"/>
                            </a:rPr>
                            <m:t>h𝑒𝑎𝑑𝑠</m:t>
                          </m:r>
                        </m:e>
                      </m:d>
                      <m:r>
                        <a:rPr lang="en-AU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AU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sz="1400" dirty="0"/>
              </a:p>
              <a:p>
                <a:endParaRPr lang="en-AU" sz="1400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8670AFE-44A8-415E-B51F-6B630BDDA8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0979" y="1872491"/>
                <a:ext cx="4910839" cy="4022127"/>
              </a:xfrm>
              <a:prstGeom prst="rect">
                <a:avLst/>
              </a:prstGeom>
              <a:blipFill>
                <a:blip r:embed="rId4"/>
                <a:stretch>
                  <a:fillRect l="-248" t="-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77314BA-9FEF-4621-AD96-991E186F4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5401588"/>
              </p:ext>
            </p:extLst>
          </p:nvPr>
        </p:nvGraphicFramePr>
        <p:xfrm>
          <a:off x="7952032" y="3943633"/>
          <a:ext cx="163696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83">
                  <a:extLst>
                    <a:ext uri="{9D8B030D-6E8A-4147-A177-3AD203B41FA5}">
                      <a16:colId xmlns:a16="http://schemas.microsoft.com/office/drawing/2014/main" val="2373036923"/>
                    </a:ext>
                  </a:extLst>
                </a:gridCol>
                <a:gridCol w="818483">
                  <a:extLst>
                    <a:ext uri="{9D8B030D-6E8A-4147-A177-3AD203B41FA5}">
                      <a16:colId xmlns:a16="http://schemas.microsoft.com/office/drawing/2014/main" val="40776490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Heads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Tails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2495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5679116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65E60648-71A7-4BA9-AAA0-5BF9E181B2DC}"/>
              </a:ext>
            </a:extLst>
          </p:cNvPr>
          <p:cNvSpPr/>
          <p:nvPr/>
        </p:nvSpPr>
        <p:spPr>
          <a:xfrm>
            <a:off x="3430398" y="591788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Probability = </a:t>
            </a:r>
            <a:r>
              <a:rPr lang="en-AU" u="sng" dirty="0"/>
              <a:t>Number of possible outcomes</a:t>
            </a:r>
          </a:p>
          <a:p>
            <a:r>
              <a:rPr lang="en-AU" dirty="0"/>
              <a:t>                           Total number of outcomes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483BF9-E7D3-4611-8149-4EBC30697BA6}"/>
              </a:ext>
            </a:extLst>
          </p:cNvPr>
          <p:cNvSpPr txBox="1"/>
          <p:nvPr/>
        </p:nvSpPr>
        <p:spPr>
          <a:xfrm>
            <a:off x="289545" y="1960775"/>
            <a:ext cx="1337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theoretical probability?</a:t>
            </a:r>
            <a:endParaRPr lang="en-AU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7FBACC-5D77-47D3-97A6-59DAB6F5C82F}"/>
              </a:ext>
            </a:extLst>
          </p:cNvPr>
          <p:cNvSpPr/>
          <p:nvPr/>
        </p:nvSpPr>
        <p:spPr>
          <a:xfrm>
            <a:off x="168483" y="3255273"/>
            <a:ext cx="145895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is experimental probability?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F75A54-3909-4F80-86B0-C9D04133779B}"/>
              </a:ext>
            </a:extLst>
          </p:cNvPr>
          <p:cNvSpPr/>
          <p:nvPr/>
        </p:nvSpPr>
        <p:spPr>
          <a:xfrm>
            <a:off x="1911420" y="1764326"/>
            <a:ext cx="51086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3_Theoretical vs Experimental Probability worksheet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E6948-884B-46BE-A484-E472F89495C1}"/>
              </a:ext>
            </a:extLst>
          </p:cNvPr>
          <p:cNvSpPr txBox="1"/>
          <p:nvPr/>
        </p:nvSpPr>
        <p:spPr>
          <a:xfrm>
            <a:off x="1911420" y="820132"/>
            <a:ext cx="672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Practice:</a:t>
            </a:r>
            <a:endParaRPr lang="en-AU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C59C7F-C488-4BE7-ACB4-86743DE2F9CF}"/>
              </a:ext>
            </a:extLst>
          </p:cNvPr>
          <p:cNvSpPr/>
          <p:nvPr/>
        </p:nvSpPr>
        <p:spPr>
          <a:xfrm>
            <a:off x="1911420" y="2477563"/>
            <a:ext cx="57345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3_One in every six experimental and theoretical probability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17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170</Words>
  <Application>Microsoft Office PowerPoint</Application>
  <PresentationFormat>Widescreen</PresentationFormat>
  <Paragraphs>44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Cambria Math</vt:lpstr>
      <vt:lpstr>Fragment Core</vt:lpstr>
      <vt:lpstr>Office Theme</vt:lpstr>
      <vt:lpstr>Probability EQ: What is the difference in the probability outcome when a chance event is repeated?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EQ: What is the difference in the probability outcome when a chance event is repeated?</dc:title>
  <dc:creator>JAMES Sarah [Baldivis Secondary College]</dc:creator>
  <cp:lastModifiedBy>JAMES Sarah [Baldivis Secondary College]</cp:lastModifiedBy>
  <cp:revision>2</cp:revision>
  <dcterms:created xsi:type="dcterms:W3CDTF">2018-06-21T01:56:01Z</dcterms:created>
  <dcterms:modified xsi:type="dcterms:W3CDTF">2018-06-21T02:11:02Z</dcterms:modified>
</cp:coreProperties>
</file>
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75" r:id="rId4"/>
    <p:sldId id="276" r:id="rId5"/>
    <p:sldId id="265" r:id="rId6"/>
    <p:sldId id="267" r:id="rId7"/>
    <p:sldId id="259" r:id="rId8"/>
    <p:sldId id="268" r:id="rId9"/>
    <p:sldId id="273" r:id="rId10"/>
    <p:sldId id="270" r:id="rId11"/>
    <p:sldId id="260" r:id="rId12"/>
    <p:sldId id="261" r:id="rId13"/>
    <p:sldId id="272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AA0DE-EACA-4F1C-8A0C-4241B9A78306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7E0F9-C2CC-4C9D-8043-A6EEA8CC44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823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47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614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1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288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506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99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D610-4FC0-4686-B778-8254AACC7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9CC37-170F-4AA9-9D19-B3B6B6527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8DB07-0F14-48FB-B95C-1994CE5F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C1287-6CC0-49A4-8BE7-ED0DF73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8B4CE-6E21-4139-A29F-DDD092FB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38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3757-5B64-42FA-AF29-E1776045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E81CA-B773-4F40-B600-A5E3F7F41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03594-C077-4376-ABD7-376B7A28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AD7F-4F3A-42B0-B096-185B88B3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3F474-6900-4B1B-BBCD-CE6FEC55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467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6F17-74F6-46C0-8B56-F97C2C78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62F8F-79C4-458A-AFBD-771FC4957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D5F0C-0247-43D1-942D-D795F04E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82D2-075C-4B64-B27B-C5D5A0E4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0935E-4563-44A9-AE5B-FDF380B2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488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580A-5EE4-49CB-BDE3-3C636E9A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EBC9A-4334-4B01-959F-A7C55715F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F96B9-E67C-4CE7-A168-174A9F928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6F176-44DF-4151-8734-44F01ACA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49EF2-1627-4575-A33F-3FF86C9A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EF5FF-33AB-4B81-A125-8777E80C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23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EADB-331D-4603-B070-01B98D6D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C9BE2-25CE-4ACD-9157-96695F325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87A06-BB78-4005-9C1E-F677BEB33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D11DF-6F86-450A-9314-1221FF720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ADFC4-3EB1-47AD-B03E-2FB93517F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A84FF-E378-4DD7-89BA-003F408F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F3003-84CB-455E-8FC4-40345D01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6F6A4-0B9F-494C-8EAC-E8E7156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30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64AD-AFDE-4C1B-AD8B-4E52822E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5ACF0-0555-45DC-96D9-227A789D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176F-96FC-403A-A615-5B7BB028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99285-F0C7-4D48-95B8-1D37575E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733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F18D0-7C6C-4A52-AF48-EF3AE71A5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5B9C3-A3F7-4505-9232-BAEDB827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EC5B3-C8C3-4130-A423-F4C05DB2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17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0382-A2EA-4B39-9458-3D011D63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BC81F-4BC8-49FE-8A60-9D3E83237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B025F-F701-40E0-9CC6-D837DEF5A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A8DA0-4058-4EDC-8FA9-C5CDA8CC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7E6EF-BA6E-49BE-B38E-277BCC58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05561-7544-4655-9904-765F9E6D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13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B034-EFCA-4507-8997-1A9EAB1B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E65A1-23FD-471D-A202-D7205CEED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F6B13-4A38-4675-8188-EBD4B0DD4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57BB8-6668-4CFA-BB0C-3FEB6BF4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1BD7F-5062-4800-8F23-B7B890FB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56415-1286-4544-BDE3-11660519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27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B21A-EDCC-43E9-882D-7B9F6571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467D6-4816-4749-A174-337287AE9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A7574-16D8-4C2E-A991-6DEAD1D4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46683-A1A7-4DDD-84F6-47A1DAB8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94036-6514-4434-932D-32E97353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6480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0DE522-130F-4E24-AEED-9DDB8AC93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A8C34-257A-4910-96ED-EEC3D6163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999F4-1603-4A1D-B485-378296FAD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FEFC-68A6-450C-A3F7-48BE3F31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9446-5965-4AF5-ACDB-A9367C9F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173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917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0884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52169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45169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166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7B8D60-3025-45AD-A853-309D249B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934C8-4806-4E4F-984A-3F351CFFD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4567F-DEDD-4A53-84DF-82527774E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C16C-F656-4B96-A002-FED39DD406B8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9D88C-EF1A-4B89-9178-405EF745A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62336-0542-4963-87DB-C5F176FA8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5E762-DC60-4F46-8D42-0CBBC472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67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Tan Ratio - Angles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Find the angle of the triangle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2A428-A64E-4D2A-9C9F-4B7243EAF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9928" y="2018530"/>
            <a:ext cx="6432933" cy="4213600"/>
          </a:xfrm>
        </p:spPr>
        <p:txBody>
          <a:bodyPr>
            <a:normAutofit/>
          </a:bodyPr>
          <a:lstStyle/>
          <a:p>
            <a:r>
              <a:rPr lang="en-AU" sz="4000" dirty="0"/>
              <a:t>How can we use Trigonometry in the real word?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9040BF-9585-41B2-8BEB-2A91A592BF88}"/>
              </a:ext>
            </a:extLst>
          </p:cNvPr>
          <p:cNvSpPr txBox="1">
            <a:spLocks/>
          </p:cNvSpPr>
          <p:nvPr/>
        </p:nvSpPr>
        <p:spPr>
          <a:xfrm>
            <a:off x="3158682" y="625870"/>
            <a:ext cx="8608358" cy="97433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Think – Pair - Share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369D8-1286-4066-A037-14BE3D45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693" y="2111762"/>
            <a:ext cx="1432684" cy="23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0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9F1851-8B8F-48F9-A41E-BE30763FF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09" y="489502"/>
            <a:ext cx="10864993" cy="3631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C7A91C-4DDD-4432-8783-5CF2B9DB4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09" y="1501740"/>
            <a:ext cx="10939800" cy="3854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6D7A4-0DD1-452A-9ACB-E7E4786310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303"/>
          <a:stretch/>
        </p:blipFill>
        <p:spPr>
          <a:xfrm>
            <a:off x="507309" y="2267467"/>
            <a:ext cx="10864993" cy="4124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EF7153-C6D0-40A3-B422-4DF272622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09" y="2910658"/>
            <a:ext cx="10399230" cy="2421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876196-A2ED-4820-B645-3565FB3565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53" y="3668237"/>
            <a:ext cx="10599668" cy="293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4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D3617C-7503-4054-8768-49B50FE36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80" y="555510"/>
            <a:ext cx="5560203" cy="5746980"/>
          </a:xfrm>
          <a:prstGeom prst="rect">
            <a:avLst/>
          </a:prstGeom>
        </p:spPr>
      </p:pic>
      <p:sp>
        <p:nvSpPr>
          <p:cNvPr id="8" name="Title 12">
            <a:extLst>
              <a:ext uri="{FF2B5EF4-FFF2-40B4-BE49-F238E27FC236}">
                <a16:creationId xmlns:a16="http://schemas.microsoft.com/office/drawing/2014/main" id="{4F059267-AA20-449B-A84F-6B089DF57025}"/>
              </a:ext>
            </a:extLst>
          </p:cNvPr>
          <p:cNvSpPr txBox="1">
            <a:spLocks/>
          </p:cNvSpPr>
          <p:nvPr/>
        </p:nvSpPr>
        <p:spPr>
          <a:xfrm>
            <a:off x="2988366" y="227649"/>
            <a:ext cx="8610600" cy="12930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Last Lesson Recap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1E25AF-9586-43D9-B6AB-6EC4E8B1D012}"/>
              </a:ext>
            </a:extLst>
          </p:cNvPr>
          <p:cNvSpPr/>
          <p:nvPr/>
        </p:nvSpPr>
        <p:spPr>
          <a:xfrm>
            <a:off x="3737113" y="3604591"/>
            <a:ext cx="3286539" cy="2822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074A3D-7B6D-47DC-AEF9-595B13ADC0D4}"/>
              </a:ext>
            </a:extLst>
          </p:cNvPr>
          <p:cNvSpPr/>
          <p:nvPr/>
        </p:nvSpPr>
        <p:spPr>
          <a:xfrm>
            <a:off x="592577" y="3429000"/>
            <a:ext cx="3286539" cy="20043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47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2">
            <a:extLst>
              <a:ext uri="{FF2B5EF4-FFF2-40B4-BE49-F238E27FC236}">
                <a16:creationId xmlns:a16="http://schemas.microsoft.com/office/drawing/2014/main" id="{4F059267-AA20-449B-A84F-6B089DF57025}"/>
              </a:ext>
            </a:extLst>
          </p:cNvPr>
          <p:cNvSpPr txBox="1">
            <a:spLocks/>
          </p:cNvSpPr>
          <p:nvPr/>
        </p:nvSpPr>
        <p:spPr>
          <a:xfrm>
            <a:off x="2988366" y="227649"/>
            <a:ext cx="8610600" cy="12930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Finding the Angle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30E961A-7F21-4BBE-8212-6D5F498D1107}"/>
              </a:ext>
            </a:extLst>
          </p:cNvPr>
          <p:cNvGrpSpPr/>
          <p:nvPr/>
        </p:nvGrpSpPr>
        <p:grpSpPr>
          <a:xfrm>
            <a:off x="1159929" y="768878"/>
            <a:ext cx="3183941" cy="2204267"/>
            <a:chOff x="971599" y="1700808"/>
            <a:chExt cx="5616625" cy="3888432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773D7B8E-558B-4705-99A5-4E538EBA997C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DBDA26-E305-4312-B797-02229B6956DA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67A5F5-BFD4-49EB-9878-440D251853B6}"/>
              </a:ext>
            </a:extLst>
          </p:cNvPr>
          <p:cNvSpPr txBox="1"/>
          <p:nvPr/>
        </p:nvSpPr>
        <p:spPr>
          <a:xfrm rot="16200000">
            <a:off x="-440848" y="1659395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1E5A5-10A1-4548-8322-82ACDC41DFE0}"/>
              </a:ext>
            </a:extLst>
          </p:cNvPr>
          <p:cNvSpPr txBox="1"/>
          <p:nvPr/>
        </p:nvSpPr>
        <p:spPr>
          <a:xfrm>
            <a:off x="2419968" y="3074007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10cm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328AF-F802-47CC-A0F2-25E1AFD7EF47}"/>
              </a:ext>
            </a:extLst>
          </p:cNvPr>
          <p:cNvSpPr txBox="1"/>
          <p:nvPr/>
        </p:nvSpPr>
        <p:spPr>
          <a:xfrm>
            <a:off x="7195930" y="3621217"/>
            <a:ext cx="168914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Tan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AU" sz="3600" b="1" dirty="0">
                <a:solidFill>
                  <a:srgbClr val="7030A0"/>
                </a:solidFill>
              </a:rPr>
              <a:t> 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  <a:p>
            <a:endParaRPr lang="en-GB" sz="3600" b="1" dirty="0">
              <a:solidFill>
                <a:srgbClr val="7030A0"/>
              </a:solidFill>
            </a:endParaRPr>
          </a:p>
          <a:p>
            <a:r>
              <a:rPr lang="en-GB" sz="3600" b="1" dirty="0">
                <a:solidFill>
                  <a:srgbClr val="7030A0"/>
                </a:solidFill>
              </a:rPr>
              <a:t>	  =</a:t>
            </a:r>
          </a:p>
          <a:p>
            <a:endParaRPr lang="en-GB" sz="2000" b="1" dirty="0">
              <a:solidFill>
                <a:srgbClr val="7030A0"/>
              </a:solidFill>
            </a:endParaRPr>
          </a:p>
          <a:p>
            <a:r>
              <a:rPr lang="en-GB" sz="3600" b="1" dirty="0">
                <a:solidFill>
                  <a:srgbClr val="7030A0"/>
                </a:solidFill>
              </a:rPr>
              <a:t>	 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AF841-0247-45FA-98CF-ED297CB22144}"/>
              </a:ext>
            </a:extLst>
          </p:cNvPr>
          <p:cNvSpPr txBox="1"/>
          <p:nvPr/>
        </p:nvSpPr>
        <p:spPr>
          <a:xfrm>
            <a:off x="8669049" y="3429000"/>
            <a:ext cx="25202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Adjacent</a:t>
            </a:r>
          </a:p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14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10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1.4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DEC0FA-9C3F-4204-A1CB-4E572BEF2DC7}"/>
              </a:ext>
            </a:extLst>
          </p:cNvPr>
          <p:cNvSpPr/>
          <p:nvPr/>
        </p:nvSpPr>
        <p:spPr>
          <a:xfrm>
            <a:off x="464872" y="4462236"/>
            <a:ext cx="55743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7030A0"/>
                </a:solidFill>
              </a:rPr>
              <a:t>So we know the ratio of the sides but how do we find the angle size?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DF5F13-3E1C-4943-83BC-4D45DD94E696}"/>
              </a:ext>
            </a:extLst>
          </p:cNvPr>
          <p:cNvSpPr txBox="1"/>
          <p:nvPr/>
        </p:nvSpPr>
        <p:spPr>
          <a:xfrm>
            <a:off x="5310616" y="1712894"/>
            <a:ext cx="62883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In this situation we use the _________ formula because we have the </a:t>
            </a:r>
            <a:r>
              <a:rPr lang="en-GB" sz="2800" b="1" u="sng" dirty="0">
                <a:solidFill>
                  <a:srgbClr val="FF0000"/>
                </a:solidFill>
              </a:rPr>
              <a:t>Opposite </a:t>
            </a:r>
            <a:r>
              <a:rPr lang="en-GB" sz="2800" dirty="0"/>
              <a:t>and </a:t>
            </a:r>
            <a:r>
              <a:rPr lang="en-GB" sz="2800" b="1" u="sng" dirty="0">
                <a:solidFill>
                  <a:srgbClr val="FF0000"/>
                </a:solidFill>
              </a:rPr>
              <a:t>Adjacent</a:t>
            </a:r>
            <a:r>
              <a:rPr lang="en-GB" sz="2800" dirty="0"/>
              <a:t> lengths.</a:t>
            </a:r>
            <a:endParaRPr lang="en-GB" sz="2800" b="1" u="sn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452C3-3BC8-4B0D-B191-A623B07FCA57}"/>
              </a:ext>
            </a:extLst>
          </p:cNvPr>
          <p:cNvSpPr txBox="1"/>
          <p:nvPr/>
        </p:nvSpPr>
        <p:spPr>
          <a:xfrm>
            <a:off x="3432452" y="2494593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018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8970" y="137990"/>
            <a:ext cx="113285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7527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inverse of Trig Functions?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I use the Tan Ratio to find the 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108339-2445-4B81-8189-D50E853D55F2}"/>
              </a:ext>
            </a:extLst>
          </p:cNvPr>
          <p:cNvSpPr txBox="1"/>
          <p:nvPr/>
        </p:nvSpPr>
        <p:spPr>
          <a:xfrm>
            <a:off x="1958740" y="1539889"/>
            <a:ext cx="9133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find the size of the angle when we have two sides of a right-angled triangle, we have to use the</a:t>
            </a:r>
            <a:r>
              <a:rPr lang="en-US" sz="2400" b="1" dirty="0"/>
              <a:t> inverse </a:t>
            </a:r>
            <a:r>
              <a:rPr lang="en-US" sz="2400" dirty="0"/>
              <a:t>of the trigonometric function.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3BF544-963B-4B98-906E-25490D42A3A5}"/>
              </a:ext>
            </a:extLst>
          </p:cNvPr>
          <p:cNvSpPr/>
          <p:nvPr/>
        </p:nvSpPr>
        <p:spPr>
          <a:xfrm>
            <a:off x="1960207" y="2535069"/>
            <a:ext cx="39309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The inverse of Sin is Sin</a:t>
            </a:r>
            <a:r>
              <a:rPr lang="en-GB" sz="2800" b="1" baseline="30000" dirty="0">
                <a:solidFill>
                  <a:srgbClr val="00B050"/>
                </a:solidFill>
              </a:rPr>
              <a:t>-1</a:t>
            </a:r>
            <a:r>
              <a:rPr lang="en-GB" sz="2800" b="1" dirty="0">
                <a:solidFill>
                  <a:srgbClr val="00B050"/>
                </a:solidFill>
              </a:rPr>
              <a:t> </a:t>
            </a:r>
            <a:endParaRPr lang="en-GB" sz="4800" b="1" dirty="0">
              <a:solidFill>
                <a:srgbClr val="00B05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87189-ACC0-4EDA-8BD3-BC219B5FDDB2}"/>
              </a:ext>
            </a:extLst>
          </p:cNvPr>
          <p:cNvSpPr/>
          <p:nvPr/>
        </p:nvSpPr>
        <p:spPr>
          <a:xfrm>
            <a:off x="1981558" y="3098594"/>
            <a:ext cx="4176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</a:rPr>
              <a:t>The inverse of Cos is _____</a:t>
            </a:r>
            <a:endParaRPr lang="en-GB" sz="4800" b="1" dirty="0">
              <a:solidFill>
                <a:srgbClr val="00B0F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B0B47C-6FFB-4B31-B5F8-3BF2DF11CFB4}"/>
              </a:ext>
            </a:extLst>
          </p:cNvPr>
          <p:cNvSpPr/>
          <p:nvPr/>
        </p:nvSpPr>
        <p:spPr>
          <a:xfrm>
            <a:off x="1958740" y="3661082"/>
            <a:ext cx="40721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The inverse of Tan is Tan</a:t>
            </a:r>
            <a:r>
              <a:rPr lang="en-GB" sz="2800" b="1" baseline="30000" dirty="0">
                <a:solidFill>
                  <a:srgbClr val="7030A0"/>
                </a:solidFill>
              </a:rPr>
              <a:t>-1</a:t>
            </a:r>
            <a:r>
              <a:rPr lang="en-GB" sz="2800" b="1" dirty="0">
                <a:solidFill>
                  <a:srgbClr val="7030A0"/>
                </a:solidFill>
              </a:rPr>
              <a:t> </a:t>
            </a:r>
            <a:endParaRPr lang="en-GB" sz="4800" b="1" dirty="0">
              <a:solidFill>
                <a:srgbClr val="7030A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51E7A3-6859-4E59-BC94-58E89B7200BE}"/>
              </a:ext>
            </a:extLst>
          </p:cNvPr>
          <p:cNvSpPr/>
          <p:nvPr/>
        </p:nvSpPr>
        <p:spPr>
          <a:xfrm>
            <a:off x="7589121" y="2498429"/>
            <a:ext cx="360896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Therefore:</a:t>
            </a:r>
          </a:p>
          <a:p>
            <a:endParaRPr lang="en-GB" sz="2800" b="1" dirty="0">
              <a:solidFill>
                <a:srgbClr val="7030A0"/>
              </a:solidFill>
            </a:endParaRPr>
          </a:p>
          <a:p>
            <a:r>
              <a:rPr lang="en-GB" sz="2800" b="1" dirty="0">
                <a:solidFill>
                  <a:srgbClr val="7030A0"/>
                </a:solidFill>
              </a:rPr>
              <a:t>For Tan </a:t>
            </a:r>
            <a:r>
              <a:rPr lang="el-GR" sz="2800" b="1" dirty="0">
                <a:solidFill>
                  <a:srgbClr val="7030A0"/>
                </a:solidFill>
              </a:rPr>
              <a:t>ϴ</a:t>
            </a:r>
            <a:r>
              <a:rPr lang="en-US" sz="2800" b="1" dirty="0">
                <a:solidFill>
                  <a:srgbClr val="7030A0"/>
                </a:solidFill>
              </a:rPr>
              <a:t> = </a:t>
            </a:r>
            <a:r>
              <a:rPr lang="en-GB" sz="2800" b="1" u="sng" dirty="0">
                <a:solidFill>
                  <a:srgbClr val="7030A0"/>
                </a:solidFill>
              </a:rPr>
              <a:t>O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                      A</a:t>
            </a:r>
          </a:p>
          <a:p>
            <a:endParaRPr lang="en-GB" sz="2800" b="1" dirty="0">
              <a:solidFill>
                <a:srgbClr val="7030A0"/>
              </a:solidFill>
            </a:endParaRPr>
          </a:p>
          <a:p>
            <a:r>
              <a:rPr lang="en-US" sz="2800" b="1" dirty="0">
                <a:solidFill>
                  <a:srgbClr val="CC00CC"/>
                </a:solidFill>
              </a:rPr>
              <a:t>Then </a:t>
            </a:r>
            <a:r>
              <a:rPr lang="el-GR" sz="2800" b="1" dirty="0">
                <a:solidFill>
                  <a:srgbClr val="CC00CC"/>
                </a:solidFill>
              </a:rPr>
              <a:t>ϴ</a:t>
            </a:r>
            <a:r>
              <a:rPr lang="en-US" sz="2800" b="1" dirty="0">
                <a:solidFill>
                  <a:srgbClr val="CC00CC"/>
                </a:solidFill>
              </a:rPr>
              <a:t> =</a:t>
            </a:r>
            <a:r>
              <a:rPr lang="en-GB" sz="2800" dirty="0">
                <a:solidFill>
                  <a:srgbClr val="CC00CC"/>
                </a:solidFill>
              </a:rPr>
              <a:t> </a:t>
            </a:r>
            <a:r>
              <a:rPr lang="en-GB" sz="2800" b="1" dirty="0">
                <a:solidFill>
                  <a:srgbClr val="CC00CC"/>
                </a:solidFill>
              </a:rPr>
              <a:t>Tan</a:t>
            </a:r>
            <a:r>
              <a:rPr lang="en-GB" sz="2800" b="1" baseline="30000" dirty="0">
                <a:solidFill>
                  <a:srgbClr val="CC00CC"/>
                </a:solidFill>
              </a:rPr>
              <a:t>-1</a:t>
            </a:r>
            <a:r>
              <a:rPr lang="en-GB" sz="2800" b="1" dirty="0">
                <a:solidFill>
                  <a:srgbClr val="CC00CC"/>
                </a:solidFill>
              </a:rPr>
              <a:t> ( </a:t>
            </a:r>
            <a:r>
              <a:rPr lang="en-GB" sz="2800" b="1" u="sng" dirty="0">
                <a:solidFill>
                  <a:srgbClr val="CC00CC"/>
                </a:solidFill>
              </a:rPr>
              <a:t>O</a:t>
            </a:r>
            <a:r>
              <a:rPr lang="en-GB" sz="2800" b="1" dirty="0">
                <a:solidFill>
                  <a:srgbClr val="CC00CC"/>
                </a:solidFill>
              </a:rPr>
              <a:t> )</a:t>
            </a:r>
          </a:p>
          <a:p>
            <a:r>
              <a:rPr lang="en-GB" sz="2800" b="1" dirty="0">
                <a:solidFill>
                  <a:srgbClr val="CC00CC"/>
                </a:solidFill>
              </a:rPr>
              <a:t>                              A </a:t>
            </a:r>
            <a:endParaRPr lang="en-GB" sz="4800" b="1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777DB-F63B-4C16-A07C-664C04046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2449623" y="185254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D7701A-F1E6-46CC-BDC4-AF583A7097F1}"/>
              </a:ext>
            </a:extLst>
          </p:cNvPr>
          <p:cNvCxnSpPr>
            <a:cxnSpLocks/>
          </p:cNvCxnSpPr>
          <p:nvPr/>
        </p:nvCxnSpPr>
        <p:spPr>
          <a:xfrm flipH="1" flipV="1">
            <a:off x="5406887" y="3673213"/>
            <a:ext cx="1528552" cy="366093"/>
          </a:xfrm>
          <a:prstGeom prst="straightConnector1">
            <a:avLst/>
          </a:prstGeom>
          <a:ln w="571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B3E4B1-B323-44D6-9FFE-F6BEF4DF1370}"/>
              </a:ext>
            </a:extLst>
          </p:cNvPr>
          <p:cNvSpPr txBox="1"/>
          <p:nvPr/>
        </p:nvSpPr>
        <p:spPr>
          <a:xfrm>
            <a:off x="6993873" y="3860228"/>
            <a:ext cx="259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Here is tan </a:t>
            </a:r>
            <a:r>
              <a:rPr lang="en-AU" sz="2400" b="1" baseline="30000" dirty="0"/>
              <a:t>-1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16266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2">
                <a:extLst>
                  <a:ext uri="{FF2B5EF4-FFF2-40B4-BE49-F238E27FC236}">
                    <a16:creationId xmlns:a16="http://schemas.microsoft.com/office/drawing/2014/main" id="{1D8D97E2-8A50-4255-9F92-90ACC48727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8366" y="227649"/>
                <a:ext cx="8610600" cy="1293028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b" anchorCtr="0">
                <a:norm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 sz="4400" kern="1200">
                    <a:solidFill>
                      <a:srgbClr val="F0C3A3"/>
                    </a:solidFill>
                    <a:latin typeface="+mj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9pPr>
              </a:lstStyle>
              <a:p>
                <a:pPr algn="r"/>
                <a:r>
                  <a:rPr lang="en-US" sz="5400" b="1" dirty="0">
                    <a:solidFill>
                      <a:srgbClr val="FF5050"/>
                    </a:solidFill>
                    <a:latin typeface="Kiwi School Handwriting" panose="00000500000000000000" pitchFamily="2" charset="0"/>
                  </a:rPr>
                  <a:t>Inverse Foldable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  <m:t>𝑻𝒂𝒏</m:t>
                        </m:r>
                      </m:e>
                      <m:sup>
                        <m:r>
                          <a:rPr lang="en-AU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sz="5400" b="1" dirty="0">
                  <a:solidFill>
                    <a:srgbClr val="FF5050"/>
                  </a:solidFill>
                  <a:latin typeface="Kiwi School Handwriting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itle 12">
                <a:extLst>
                  <a:ext uri="{FF2B5EF4-FFF2-40B4-BE49-F238E27FC236}">
                    <a16:creationId xmlns:a16="http://schemas.microsoft.com/office/drawing/2014/main" id="{1D8D97E2-8A50-4255-9F92-90ACC487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366" y="227649"/>
                <a:ext cx="8610600" cy="1293028"/>
              </a:xfrm>
              <a:prstGeom prst="rect">
                <a:avLst/>
              </a:prstGeom>
              <a:blipFill>
                <a:blip r:embed="rId2"/>
                <a:stretch>
                  <a:fillRect b="-30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D8904FFE-4D26-4FF4-887B-42B0A9FD0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81" y="1706208"/>
            <a:ext cx="10122438" cy="42572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A54F59-68A3-4F27-B0DC-65862F8213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956"/>
          <a:stretch/>
        </p:blipFill>
        <p:spPr>
          <a:xfrm>
            <a:off x="5564802" y="1316803"/>
            <a:ext cx="5592417" cy="50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7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2">
            <a:extLst>
              <a:ext uri="{FF2B5EF4-FFF2-40B4-BE49-F238E27FC236}">
                <a16:creationId xmlns:a16="http://schemas.microsoft.com/office/drawing/2014/main" id="{4F059267-AA20-449B-A84F-6B089DF57025}"/>
              </a:ext>
            </a:extLst>
          </p:cNvPr>
          <p:cNvSpPr txBox="1">
            <a:spLocks/>
          </p:cNvSpPr>
          <p:nvPr/>
        </p:nvSpPr>
        <p:spPr>
          <a:xfrm>
            <a:off x="2988366" y="227649"/>
            <a:ext cx="8610600" cy="12930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Finding the Angle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30E961A-7F21-4BBE-8212-6D5F498D1107}"/>
              </a:ext>
            </a:extLst>
          </p:cNvPr>
          <p:cNvGrpSpPr/>
          <p:nvPr/>
        </p:nvGrpSpPr>
        <p:grpSpPr>
          <a:xfrm>
            <a:off x="6734251" y="3234512"/>
            <a:ext cx="3183941" cy="2204267"/>
            <a:chOff x="971599" y="1700808"/>
            <a:chExt cx="5616625" cy="3888432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773D7B8E-558B-4705-99A5-4E538EBA997C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DBDA26-E305-4312-B797-02229B6956DA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67A5F5-BFD4-49EB-9878-440D251853B6}"/>
              </a:ext>
            </a:extLst>
          </p:cNvPr>
          <p:cNvSpPr txBox="1"/>
          <p:nvPr/>
        </p:nvSpPr>
        <p:spPr>
          <a:xfrm rot="16200000">
            <a:off x="5133474" y="4125029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1E5A5-10A1-4548-8322-82ACDC41DFE0}"/>
              </a:ext>
            </a:extLst>
          </p:cNvPr>
          <p:cNvSpPr txBox="1"/>
          <p:nvPr/>
        </p:nvSpPr>
        <p:spPr>
          <a:xfrm>
            <a:off x="7994290" y="5539641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10cm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DF5F13-3E1C-4943-83BC-4D45DD94E696}"/>
              </a:ext>
            </a:extLst>
          </p:cNvPr>
          <p:cNvSpPr txBox="1"/>
          <p:nvPr/>
        </p:nvSpPr>
        <p:spPr>
          <a:xfrm>
            <a:off x="5310616" y="1570123"/>
            <a:ext cx="6288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this situation we use the tangent formula because we have the </a:t>
            </a:r>
            <a:r>
              <a:rPr lang="en-GB" sz="2400" b="1" u="sng" dirty="0">
                <a:solidFill>
                  <a:srgbClr val="FF0000"/>
                </a:solidFill>
              </a:rPr>
              <a:t>Opposite </a:t>
            </a:r>
            <a:r>
              <a:rPr lang="en-GB" sz="2400" dirty="0"/>
              <a:t>and </a:t>
            </a:r>
            <a:r>
              <a:rPr lang="en-GB" sz="2400" b="1" u="sng" dirty="0">
                <a:solidFill>
                  <a:srgbClr val="FF0000"/>
                </a:solidFill>
              </a:rPr>
              <a:t>Adjacent</a:t>
            </a:r>
            <a:r>
              <a:rPr lang="en-GB" sz="2400" dirty="0"/>
              <a:t> lengths.</a:t>
            </a:r>
            <a:endParaRPr lang="en-GB" sz="2400" b="1" u="sn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452C3-3BC8-4B0D-B191-A623B07FCA57}"/>
              </a:ext>
            </a:extLst>
          </p:cNvPr>
          <p:cNvSpPr txBox="1"/>
          <p:nvPr/>
        </p:nvSpPr>
        <p:spPr>
          <a:xfrm>
            <a:off x="9006774" y="4960227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245D8A-1E20-42A3-AEFE-D33241857322}"/>
              </a:ext>
            </a:extLst>
          </p:cNvPr>
          <p:cNvSpPr txBox="1"/>
          <p:nvPr/>
        </p:nvSpPr>
        <p:spPr>
          <a:xfrm>
            <a:off x="593034" y="682133"/>
            <a:ext cx="44542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Tan</a:t>
            </a:r>
            <a:r>
              <a:rPr lang="el-GR" sz="3200" b="1" dirty="0">
                <a:solidFill>
                  <a:srgbClr val="7030A0"/>
                </a:solidFill>
              </a:rPr>
              <a:t>ϴ</a:t>
            </a:r>
            <a:r>
              <a:rPr lang="en-AU" sz="3200" b="1" dirty="0">
                <a:solidFill>
                  <a:srgbClr val="7030A0"/>
                </a:solidFill>
              </a:rPr>
              <a:t> </a:t>
            </a:r>
            <a:r>
              <a:rPr lang="en-GB" sz="3200" b="1" dirty="0">
                <a:solidFill>
                  <a:srgbClr val="7030A0"/>
                </a:solidFill>
              </a:rPr>
              <a:t>= </a:t>
            </a:r>
            <a:r>
              <a:rPr lang="en-GB" sz="3600" b="1" u="sng" dirty="0">
                <a:solidFill>
                  <a:srgbClr val="7030A0"/>
                </a:solidFill>
              </a:rPr>
              <a:t>Opposite</a:t>
            </a:r>
          </a:p>
          <a:p>
            <a:r>
              <a:rPr lang="en-GB" sz="3600" b="1" dirty="0">
                <a:solidFill>
                  <a:srgbClr val="7030A0"/>
                </a:solidFill>
              </a:rPr>
              <a:t>             Adjacent</a:t>
            </a:r>
          </a:p>
          <a:p>
            <a:endParaRPr lang="en-GB" sz="3200" b="1" dirty="0">
              <a:solidFill>
                <a:srgbClr val="7030A0"/>
              </a:solidFill>
            </a:endParaRPr>
          </a:p>
          <a:p>
            <a:r>
              <a:rPr lang="en-GB" sz="3200" b="1" dirty="0">
                <a:solidFill>
                  <a:srgbClr val="7030A0"/>
                </a:solidFill>
              </a:rPr>
              <a:t>Tan</a:t>
            </a:r>
            <a:r>
              <a:rPr lang="el-GR" sz="3200" b="1" dirty="0">
                <a:solidFill>
                  <a:srgbClr val="7030A0"/>
                </a:solidFill>
              </a:rPr>
              <a:t>ϴ</a:t>
            </a:r>
            <a:r>
              <a:rPr lang="en-AU" sz="3200" b="1" dirty="0">
                <a:solidFill>
                  <a:srgbClr val="7030A0"/>
                </a:solidFill>
              </a:rPr>
              <a:t> </a:t>
            </a:r>
            <a:r>
              <a:rPr lang="en-GB" sz="3200" b="1" dirty="0">
                <a:solidFill>
                  <a:srgbClr val="7030A0"/>
                </a:solidFill>
              </a:rPr>
              <a:t>=  </a:t>
            </a:r>
            <a:r>
              <a:rPr lang="en-GB" sz="3200" b="1" u="sng" dirty="0">
                <a:solidFill>
                  <a:srgbClr val="7030A0"/>
                </a:solidFill>
              </a:rPr>
              <a:t>14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               10</a:t>
            </a:r>
          </a:p>
          <a:p>
            <a:endParaRPr lang="en-GB" sz="3200" b="1" dirty="0">
              <a:solidFill>
                <a:srgbClr val="7030A0"/>
              </a:solidFill>
            </a:endParaRPr>
          </a:p>
          <a:p>
            <a:r>
              <a:rPr lang="en-GB" sz="3200" b="1" dirty="0">
                <a:solidFill>
                  <a:srgbClr val="7030A0"/>
                </a:solidFill>
              </a:rPr>
              <a:t>Tan</a:t>
            </a:r>
            <a:r>
              <a:rPr lang="el-GR" sz="3200" b="1" dirty="0">
                <a:solidFill>
                  <a:srgbClr val="7030A0"/>
                </a:solidFill>
              </a:rPr>
              <a:t>ϴ</a:t>
            </a:r>
            <a:r>
              <a:rPr lang="en-US" sz="3200" b="1" dirty="0">
                <a:solidFill>
                  <a:srgbClr val="7030A0"/>
                </a:solidFill>
              </a:rPr>
              <a:t> = </a:t>
            </a:r>
            <a:r>
              <a:rPr lang="en-GB" sz="3200" b="1" dirty="0">
                <a:solidFill>
                  <a:srgbClr val="7030A0"/>
                </a:solidFill>
              </a:rPr>
              <a:t>1.4</a:t>
            </a:r>
          </a:p>
          <a:p>
            <a:endParaRPr lang="en-GB" sz="3200" b="1" dirty="0">
              <a:solidFill>
                <a:srgbClr val="7030A0"/>
              </a:solidFill>
            </a:endParaRPr>
          </a:p>
          <a:p>
            <a:r>
              <a:rPr lang="en-GB" sz="3200" b="1" dirty="0">
                <a:solidFill>
                  <a:srgbClr val="7030A0"/>
                </a:solidFill>
              </a:rPr>
              <a:t>     </a:t>
            </a:r>
            <a:r>
              <a:rPr lang="en-GB" sz="3200" dirty="0">
                <a:solidFill>
                  <a:srgbClr val="7030A0"/>
                </a:solidFill>
              </a:rPr>
              <a:t> </a:t>
            </a:r>
            <a:r>
              <a:rPr lang="el-GR" sz="3200" dirty="0">
                <a:solidFill>
                  <a:srgbClr val="7030A0"/>
                </a:solidFill>
              </a:rPr>
              <a:t>ϴ</a:t>
            </a:r>
            <a:r>
              <a:rPr lang="en-GB" sz="3200" dirty="0">
                <a:solidFill>
                  <a:srgbClr val="7030A0"/>
                </a:solidFill>
              </a:rPr>
              <a:t> </a:t>
            </a:r>
            <a:r>
              <a:rPr lang="en-GB" sz="3200" b="1" dirty="0">
                <a:solidFill>
                  <a:srgbClr val="7030A0"/>
                </a:solidFill>
              </a:rPr>
              <a:t>= Tan </a:t>
            </a:r>
            <a:r>
              <a:rPr lang="en-GB" sz="3200" b="1" baseline="30000" dirty="0">
                <a:solidFill>
                  <a:srgbClr val="7030A0"/>
                </a:solidFill>
              </a:rPr>
              <a:t>-1</a:t>
            </a:r>
            <a:r>
              <a:rPr lang="en-GB" sz="3200" b="1" dirty="0">
                <a:solidFill>
                  <a:srgbClr val="7030A0"/>
                </a:solidFill>
              </a:rPr>
              <a:t> (1.4)</a:t>
            </a:r>
          </a:p>
          <a:p>
            <a:endParaRPr lang="en-AU" sz="3200" dirty="0">
              <a:solidFill>
                <a:srgbClr val="7030A0"/>
              </a:solidFill>
            </a:endParaRPr>
          </a:p>
          <a:p>
            <a:r>
              <a:rPr lang="en-AU" sz="3200" dirty="0">
                <a:solidFill>
                  <a:srgbClr val="FF0000"/>
                </a:solidFill>
              </a:rPr>
              <a:t>      </a:t>
            </a:r>
            <a:r>
              <a:rPr lang="el-GR" sz="3200" dirty="0">
                <a:solidFill>
                  <a:srgbClr val="FF0000"/>
                </a:solidFill>
              </a:rPr>
              <a:t>ϴ</a:t>
            </a:r>
            <a:r>
              <a:rPr lang="en-GB" sz="3200" dirty="0">
                <a:solidFill>
                  <a:srgbClr val="FF0000"/>
                </a:solidFill>
              </a:rPr>
              <a:t> </a:t>
            </a:r>
            <a:r>
              <a:rPr lang="en-GB" sz="3200" b="1" dirty="0">
                <a:solidFill>
                  <a:srgbClr val="FF0000"/>
                </a:solidFill>
              </a:rPr>
              <a:t>= 54.46° (degrees)</a:t>
            </a:r>
          </a:p>
        </p:txBody>
      </p:sp>
    </p:spTree>
    <p:extLst>
      <p:ext uri="{BB962C8B-B14F-4D97-AF65-F5344CB8AC3E}">
        <p14:creationId xmlns:p14="http://schemas.microsoft.com/office/powerpoint/2010/main" val="225573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1311D5-DBFF-4A34-A55A-2F4313C24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64" y="1697692"/>
            <a:ext cx="109061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2">
                <a:extLst>
                  <a:ext uri="{FF2B5EF4-FFF2-40B4-BE49-F238E27FC236}">
                    <a16:creationId xmlns:a16="http://schemas.microsoft.com/office/drawing/2014/main" id="{1D8D97E2-8A50-4255-9F92-90ACC48727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8366" y="227649"/>
                <a:ext cx="8610600" cy="1293028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b" anchorCtr="0">
                <a:norm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 sz="4400" kern="1200">
                    <a:solidFill>
                      <a:srgbClr val="F0C3A3"/>
                    </a:solidFill>
                    <a:latin typeface="+mj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400"/>
                  <a:buNone/>
                  <a:defRPr>
                    <a:solidFill>
                      <a:srgbClr val="F0C3A3"/>
                    </a:solidFill>
                  </a:defRPr>
                </a:lvl9pPr>
              </a:lstStyle>
              <a:p>
                <a:pPr algn="r"/>
                <a:r>
                  <a:rPr lang="en-US" sz="5400" b="1" dirty="0">
                    <a:solidFill>
                      <a:srgbClr val="FF5050"/>
                    </a:solidFill>
                    <a:latin typeface="Kiwi School Handwriting" panose="00000500000000000000" pitchFamily="2" charset="0"/>
                  </a:rPr>
                  <a:t>Inverse Foldable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  <m:t>𝑻𝒂𝒏</m:t>
                        </m:r>
                      </m:e>
                      <m:sup>
                        <m:r>
                          <a:rPr lang="en-AU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5400" b="1" i="1" smtClean="0">
                            <a:solidFill>
                              <a:srgbClr val="FF5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sz="5400" b="1" dirty="0">
                  <a:solidFill>
                    <a:srgbClr val="FF5050"/>
                  </a:solidFill>
                  <a:latin typeface="Kiwi School Handwriting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itle 12">
                <a:extLst>
                  <a:ext uri="{FF2B5EF4-FFF2-40B4-BE49-F238E27FC236}">
                    <a16:creationId xmlns:a16="http://schemas.microsoft.com/office/drawing/2014/main" id="{1D8D97E2-8A50-4255-9F92-90ACC487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366" y="227649"/>
                <a:ext cx="8610600" cy="1293028"/>
              </a:xfrm>
              <a:prstGeom prst="rect">
                <a:avLst/>
              </a:prstGeom>
              <a:blipFill>
                <a:blip r:embed="rId3"/>
                <a:stretch>
                  <a:fillRect b="-30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D44054F-DA03-4D2D-95D4-1DCE4DAB8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195" y="1520677"/>
            <a:ext cx="9425609" cy="49327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B2287B-3361-4F5E-BA56-56C0BE957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195" y="1342092"/>
            <a:ext cx="9498308" cy="493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825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F7BB7-52D3-4579-BCD7-517DB50F43CE}"/>
              </a:ext>
            </a:extLst>
          </p:cNvPr>
          <p:cNvSpPr txBox="1"/>
          <p:nvPr/>
        </p:nvSpPr>
        <p:spPr>
          <a:xfrm>
            <a:off x="2951825" y="1905506"/>
            <a:ext cx="62883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Complete Questions 3 and 4</a:t>
            </a:r>
          </a:p>
          <a:p>
            <a:endParaRPr lang="en-GB" sz="3200" b="1" u="sng" dirty="0"/>
          </a:p>
          <a:p>
            <a:r>
              <a:rPr lang="en-GB" sz="3200" dirty="0"/>
              <a:t>Page 67 Essentials Book</a:t>
            </a:r>
          </a:p>
          <a:p>
            <a:endParaRPr lang="en-GB" sz="3200" dirty="0"/>
          </a:p>
          <a:p>
            <a:r>
              <a:rPr lang="en-GB" sz="3200" dirty="0"/>
              <a:t>Complete the </a:t>
            </a:r>
            <a:r>
              <a:rPr lang="en-GB" sz="3200" b="1" dirty="0"/>
              <a:t>exit pass </a:t>
            </a:r>
            <a:r>
              <a:rPr lang="en-GB" sz="3200" dirty="0"/>
              <a:t>and give to your teacher at the end of the lesson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274</Words>
  <Application>Microsoft Office PowerPoint</Application>
  <PresentationFormat>Widescreen</PresentationFormat>
  <Paragraphs>70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Kiwi School Handwriting</vt:lpstr>
      <vt:lpstr>Office Theme</vt:lpstr>
      <vt:lpstr>Tan Ratio - Angles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 Ratio - Angles</dc:title>
  <dc:creator>Nine Labuschagne</dc:creator>
  <cp:lastModifiedBy>Nine Labuschagne</cp:lastModifiedBy>
  <cp:revision>23</cp:revision>
  <dcterms:created xsi:type="dcterms:W3CDTF">2018-02-04T02:50:01Z</dcterms:created>
  <dcterms:modified xsi:type="dcterms:W3CDTF">2018-02-04T05:08:28Z</dcterms:modified>
</cp:coreProperties>
</file>
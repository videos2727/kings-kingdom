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8" r:id="rId5"/>
    <p:sldId id="261" r:id="rId6"/>
    <p:sldId id="269" r:id="rId7"/>
    <p:sldId id="262" r:id="rId8"/>
    <p:sldId id="263" r:id="rId9"/>
    <p:sldId id="264" r:id="rId10"/>
    <p:sldId id="265" r:id="rId11"/>
    <p:sldId id="266" r:id="rId12"/>
    <p:sldId id="267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6" autoAdjust="0"/>
    <p:restoredTop sz="94660"/>
  </p:normalViewPr>
  <p:slideViewPr>
    <p:cSldViewPr snapToGrid="0">
      <p:cViewPr varScale="1">
        <p:scale>
          <a:sx n="72" d="100"/>
          <a:sy n="72" d="100"/>
        </p:scale>
        <p:origin x="1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66DB1E-0238-4166-A171-E946E13A92D2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00AEC-066D-4186-BC7A-F5A4B52559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982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0480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8247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2562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4233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8927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871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4010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2267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229A6-A5A3-4985-90C7-E607BFB28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46FCEA-9D77-4E03-9BCF-BDF9994CAA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F33CEA-2282-4D20-A118-77D6225D5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F223-C099-449D-A02C-20886E05F054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DED8F-0D15-4379-A8A8-E2FFAF55C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B442C-BC63-45C3-BA6F-2A91925B3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1C602-45F6-4957-878C-4613584AF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8980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0BCF-61C1-4E7E-BA6B-D9647CDFB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CA7FE-154C-4997-AC30-32CC7206B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628FB-6430-40D6-BBE6-866B0D235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F223-C099-449D-A02C-20886E05F054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D4D10-5563-42C0-9443-1355C375D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1F5BC-C4EC-4541-A423-93B57D9D4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1C602-45F6-4957-878C-4613584AF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0588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A885-AB48-4C63-822E-0C63BC894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9ED58-82BC-4FDF-BD8D-6F2C42E31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E5870-42CE-4C68-9300-79582A26C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F223-C099-449D-A02C-20886E05F054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2E556-C62E-44D7-B5EC-B7A5824E6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76885-7FF0-47C8-9808-8521CD4B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1C602-45F6-4957-878C-4613584AF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399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DF69F-1FD4-4414-B24B-471C1C501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DF602-CF4E-4B0F-894E-FC83C03FFA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FA51B-781A-4733-90A6-0562C8ACD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F46FED-802E-40CC-B10B-4F9C9955C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F223-C099-449D-A02C-20886E05F054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9FC13-7951-418B-B7F6-947AF7B89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90EE02-6075-4CC9-9DBE-EC4F4C289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1C602-45F6-4957-878C-4613584AF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8186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9342E-F321-4783-8FFE-09450D65B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1035D-4703-4579-BFCA-255594693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D0E7D6-678C-4C7D-8400-9EF535F12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8A7B95-E09C-4089-AD35-6884502114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E56DC6-F616-4C1B-8757-FD699C42FD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A797B-53F7-4292-8DA7-1A811F86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F223-C099-449D-A02C-20886E05F054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99C9F-A986-4A51-986C-FD9302DDA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D1A0BE-6566-4E04-8D74-1A3257270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1C602-45F6-4957-878C-4613584AF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5914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F033D-483E-4873-9EA3-C4E215C83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672E0F-F688-4E5B-9538-95B865DC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F223-C099-449D-A02C-20886E05F054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23CE19-1EDA-4927-AC85-34E237DB3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72ECEE-F7DC-4C12-8C72-0C9558B7D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1C602-45F6-4957-878C-4613584AF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33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F22D9-73B0-486E-98EA-E77C6A4DF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F223-C099-449D-A02C-20886E05F054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A517D8-4681-4ADA-9842-3FECC8320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8C3A7-648A-477C-AFFF-665BC4B72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1C602-45F6-4957-878C-4613584AF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4851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DAC23-011D-4A81-BB0D-A635410CC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F5B9C-9085-49B5-AE2F-9F6FB0AD0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33F7E5-A2D4-4D32-8FC3-2DD6D163B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45640-8BC8-4EB5-98FE-9CB7AC25C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F223-C099-449D-A02C-20886E05F054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ABDD73-BC92-4658-B50B-B66BF0CF6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11B2C-5162-4190-A2A7-8E63917A4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1C602-45F6-4957-878C-4613584AF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9835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7BF4C-7FFD-490C-97FF-72103F2BA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E21EEE-C8BD-4594-B63C-7BB1B044AE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84935-B968-4DBD-B4C0-1CEAE7108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BB29-DDD4-4F01-9491-56E9CABBB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F223-C099-449D-A02C-20886E05F054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039C0-11AC-4F0A-813B-05B8E8AD7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A28DD-6E97-40CD-BE47-414351B40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1C602-45F6-4957-878C-4613584AF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0233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F2FDF-6D5E-4679-ADB9-3C558EDEB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67752E-1A84-40F8-B0DD-A6CC43AA32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6A233-360E-4E78-B1C4-5B8950E0D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F223-C099-449D-A02C-20886E05F054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51F8C-44BF-44E1-AD33-764CA267A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2172F-769F-4F71-B6B7-8F530F586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1C602-45F6-4957-878C-4613584AF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0908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8310EC-2DDB-4505-9647-9BD72CA0E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D9F548-FF40-409F-A99C-BC046EF31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42225-5DD8-42D5-9DFE-F95E86643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F223-C099-449D-A02C-20886E05F054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DC979-8778-439E-8638-3361CC8A6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0D162-8DBB-4367-A8E8-2AE9D0647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1C602-45F6-4957-878C-4613584AF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8111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331166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459326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087265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4377298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07055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97A76D-57AD-41EC-9AD9-C63080DC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5B49D-FF2D-4CF0-88D3-13A5F65E0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99B00-E3B7-49BA-964C-8F4F6F41B9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AF223-C099-449D-A02C-20886E05F054}" type="datetimeFigureOut">
              <a:rPr lang="en-AU" smtClean="0"/>
              <a:t>4/02/2018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E260BB-291E-413D-804E-09DD162F90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C5717-85B2-4B75-BD9E-3DBAACA78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1C602-45F6-4957-878C-4613584AFA9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7176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Kiwi School Handwriting" panose="00000500000000000000" pitchFamily="2" charset="0"/>
              </a:rPr>
              <a:t>Year 12 Essentials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Kiwi School Handwriting" panose="00000500000000000000" pitchFamily="2" charset="0"/>
              </a:rPr>
              <a:t>Cosine Ratio 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4000" dirty="0"/>
              <a:t>Find the unknown sides and angles using the Cosine Ratio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2">
            <a:extLst>
              <a:ext uri="{FF2B5EF4-FFF2-40B4-BE49-F238E27FC236}">
                <a16:creationId xmlns:a16="http://schemas.microsoft.com/office/drawing/2014/main" id="{AF650560-352C-4C40-B4E7-FCE6A9E8E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Practical Activity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4413E553-DE01-41D4-8854-9BF6C94388D0}"/>
              </a:ext>
            </a:extLst>
          </p:cNvPr>
          <p:cNvSpPr txBox="1">
            <a:spLocks/>
          </p:cNvSpPr>
          <p:nvPr/>
        </p:nvSpPr>
        <p:spPr>
          <a:xfrm>
            <a:off x="685800" y="1783553"/>
            <a:ext cx="10820400" cy="402412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need:</a:t>
            </a:r>
          </a:p>
          <a:p>
            <a:r>
              <a:rPr lang="en-AU" sz="4000" dirty="0"/>
              <a:t>One student (work in groups of 4)</a:t>
            </a:r>
          </a:p>
          <a:p>
            <a:r>
              <a:rPr lang="en-AU" sz="4000" dirty="0"/>
              <a:t>A tape measure</a:t>
            </a:r>
          </a:p>
          <a:p>
            <a:r>
              <a:rPr lang="en-AU" sz="4000" dirty="0"/>
              <a:t>A giant protractor</a:t>
            </a:r>
          </a:p>
          <a:p>
            <a:r>
              <a:rPr lang="en-AU" sz="4000" dirty="0"/>
              <a:t>Your brain</a:t>
            </a:r>
          </a:p>
        </p:txBody>
      </p:sp>
    </p:spTree>
    <p:extLst>
      <p:ext uri="{BB962C8B-B14F-4D97-AF65-F5344CB8AC3E}">
        <p14:creationId xmlns:p14="http://schemas.microsoft.com/office/powerpoint/2010/main" val="1409265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2">
            <a:extLst>
              <a:ext uri="{FF2B5EF4-FFF2-40B4-BE49-F238E27FC236}">
                <a16:creationId xmlns:a16="http://schemas.microsoft.com/office/drawing/2014/main" id="{AF650560-352C-4C40-B4E7-FCE6A9E8E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Practical Activity</a:t>
            </a:r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4413E553-DE01-41D4-8854-9BF6C94388D0}"/>
              </a:ext>
            </a:extLst>
          </p:cNvPr>
          <p:cNvSpPr txBox="1">
            <a:spLocks/>
          </p:cNvSpPr>
          <p:nvPr/>
        </p:nvSpPr>
        <p:spPr>
          <a:xfrm>
            <a:off x="447261" y="1416937"/>
            <a:ext cx="5529470" cy="459955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2500" lnSpcReduction="10000"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need to</a:t>
            </a:r>
          </a:p>
          <a:p>
            <a:r>
              <a:rPr lang="en-AU" sz="4000" dirty="0"/>
              <a:t>Find the hypotenuse</a:t>
            </a:r>
          </a:p>
          <a:p>
            <a:r>
              <a:rPr lang="en-AU" sz="4000" dirty="0"/>
              <a:t>Find angle B</a:t>
            </a:r>
          </a:p>
          <a:p>
            <a:r>
              <a:rPr lang="en-AU" sz="4000" dirty="0"/>
              <a:t>You can only measure the student and line on the floor!</a:t>
            </a:r>
          </a:p>
          <a:p>
            <a:endParaRPr lang="en-AU" sz="4000" dirty="0"/>
          </a:p>
          <a:p>
            <a:r>
              <a:rPr lang="en-AU" sz="2800" dirty="0"/>
              <a:t>Answers will vary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878F55-1C98-44BD-A3EC-1889E0B039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777" r="35160"/>
          <a:stretch/>
        </p:blipFill>
        <p:spPr>
          <a:xfrm>
            <a:off x="6215270" y="3120295"/>
            <a:ext cx="959127" cy="3300189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48EFE5-A2BC-4433-95E0-54686368A31D}"/>
              </a:ext>
            </a:extLst>
          </p:cNvPr>
          <p:cNvCxnSpPr/>
          <p:nvPr/>
        </p:nvCxnSpPr>
        <p:spPr>
          <a:xfrm>
            <a:off x="6824870" y="6125731"/>
            <a:ext cx="468133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2DFEF3-E35F-4CF0-A265-160BFF2A0E8D}"/>
              </a:ext>
            </a:extLst>
          </p:cNvPr>
          <p:cNvCxnSpPr>
            <a:cxnSpLocks/>
          </p:cNvCxnSpPr>
          <p:nvPr/>
        </p:nvCxnSpPr>
        <p:spPr>
          <a:xfrm>
            <a:off x="6824870" y="3429000"/>
            <a:ext cx="4681330" cy="26967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C30EB056-38D4-48C7-9E6B-AC1AFF638131}"/>
              </a:ext>
            </a:extLst>
          </p:cNvPr>
          <p:cNvSpPr txBox="1">
            <a:spLocks/>
          </p:cNvSpPr>
          <p:nvPr/>
        </p:nvSpPr>
        <p:spPr>
          <a:xfrm rot="1806977">
            <a:off x="7967869" y="3929159"/>
            <a:ext cx="2395331" cy="76315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85000" lnSpcReduction="10000"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dirty="0"/>
              <a:t>hypotenuse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12E6A84F-F0D3-4AE4-A775-0CC3A853DB69}"/>
              </a:ext>
            </a:extLst>
          </p:cNvPr>
          <p:cNvSpPr txBox="1">
            <a:spLocks/>
          </p:cNvSpPr>
          <p:nvPr/>
        </p:nvSpPr>
        <p:spPr>
          <a:xfrm>
            <a:off x="10020266" y="5456596"/>
            <a:ext cx="745435" cy="76315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fontScale="92500" lnSpcReduction="10000"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000" dirty="0"/>
              <a:t>B°</a:t>
            </a:r>
          </a:p>
        </p:txBody>
      </p:sp>
    </p:spTree>
    <p:extLst>
      <p:ext uri="{BB962C8B-B14F-4D97-AF65-F5344CB8AC3E}">
        <p14:creationId xmlns:p14="http://schemas.microsoft.com/office/powerpoint/2010/main" val="3713496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49EB8F-8F11-4F9B-9D5C-7A82D005C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97" y="731101"/>
            <a:ext cx="5560203" cy="5746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EF79FA6-DC4C-4366-903F-CF90ADD88748}"/>
              </a:ext>
            </a:extLst>
          </p:cNvPr>
          <p:cNvSpPr/>
          <p:nvPr/>
        </p:nvSpPr>
        <p:spPr>
          <a:xfrm>
            <a:off x="3737113" y="3747186"/>
            <a:ext cx="3286539" cy="28227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FE58C6A-F646-4631-933B-AD24DFE9A86B}"/>
              </a:ext>
            </a:extLst>
          </p:cNvPr>
          <p:cNvSpPr txBox="1">
            <a:spLocks/>
          </p:cNvSpPr>
          <p:nvPr/>
        </p:nvSpPr>
        <p:spPr>
          <a:xfrm>
            <a:off x="3436978" y="228304"/>
            <a:ext cx="8608358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Functions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04A64-7237-497C-831C-99D12A3F73D8}"/>
              </a:ext>
            </a:extLst>
          </p:cNvPr>
          <p:cNvSpPr txBox="1"/>
          <p:nvPr/>
        </p:nvSpPr>
        <p:spPr>
          <a:xfrm>
            <a:off x="5856064" y="5223871"/>
            <a:ext cx="58001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dirty="0">
                <a:solidFill>
                  <a:prstClr val="black"/>
                </a:solidFill>
                <a:latin typeface="Calibri" panose="020F0502020204030204"/>
              </a:rPr>
              <a:t>If we are given the hypotenuse and the adjacent side we use </a:t>
            </a:r>
            <a:r>
              <a:rPr lang="en-AU" sz="2800" dirty="0">
                <a:latin typeface="Calibri" panose="020F0502020204030204"/>
              </a:rPr>
              <a:t>the</a:t>
            </a:r>
            <a:r>
              <a:rPr lang="en-AU" sz="2800" dirty="0">
                <a:solidFill>
                  <a:srgbClr val="0066FF"/>
                </a:solidFill>
                <a:latin typeface="Calibri" panose="020F0502020204030204"/>
              </a:rPr>
              <a:t> </a:t>
            </a:r>
            <a:r>
              <a:rPr lang="en-AU" sz="2800" b="1" dirty="0">
                <a:solidFill>
                  <a:srgbClr val="00B050"/>
                </a:solidFill>
                <a:latin typeface="Calibri" panose="020F0502020204030204"/>
              </a:rPr>
              <a:t>Cosine Ratio</a:t>
            </a:r>
            <a:endParaRPr lang="en-US" sz="2800" dirty="0">
              <a:solidFill>
                <a:srgbClr val="00B050"/>
              </a:solidFill>
              <a:latin typeface="Calibri" panose="020F050202020403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14E39C-6019-4133-A7A8-0D646D771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734" y="1563799"/>
            <a:ext cx="4409868" cy="332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03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49EB8F-8F11-4F9B-9D5C-7A82D005C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97" y="731101"/>
            <a:ext cx="5560203" cy="574698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EF79FA6-DC4C-4366-903F-CF90ADD88748}"/>
              </a:ext>
            </a:extLst>
          </p:cNvPr>
          <p:cNvSpPr/>
          <p:nvPr/>
        </p:nvSpPr>
        <p:spPr>
          <a:xfrm>
            <a:off x="3737113" y="3747186"/>
            <a:ext cx="3286539" cy="28227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FE58C6A-F646-4631-933B-AD24DFE9A86B}"/>
              </a:ext>
            </a:extLst>
          </p:cNvPr>
          <p:cNvSpPr txBox="1">
            <a:spLocks/>
          </p:cNvSpPr>
          <p:nvPr/>
        </p:nvSpPr>
        <p:spPr>
          <a:xfrm>
            <a:off x="3436978" y="228304"/>
            <a:ext cx="8608358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 Functions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C04A64-7237-497C-831C-99D12A3F73D8}"/>
              </a:ext>
            </a:extLst>
          </p:cNvPr>
          <p:cNvSpPr txBox="1"/>
          <p:nvPr/>
        </p:nvSpPr>
        <p:spPr>
          <a:xfrm>
            <a:off x="5577768" y="2327318"/>
            <a:ext cx="580013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4000" dirty="0">
                <a:solidFill>
                  <a:prstClr val="black"/>
                </a:solidFill>
                <a:latin typeface="Calibri" panose="020F0502020204030204"/>
              </a:rPr>
              <a:t>We can use </a:t>
            </a:r>
          </a:p>
          <a:p>
            <a:pPr defTabSz="914126"/>
            <a:endParaRPr lang="en-AU" sz="4000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4000" b="1" dirty="0">
                <a:solidFill>
                  <a:srgbClr val="00B050"/>
                </a:solidFill>
                <a:latin typeface="Calibri" panose="020F0502020204030204"/>
              </a:rPr>
              <a:t>SOH</a:t>
            </a:r>
            <a:r>
              <a:rPr lang="en-AU" sz="40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AU" sz="4000" b="1" dirty="0">
                <a:solidFill>
                  <a:srgbClr val="0070C0"/>
                </a:solidFill>
                <a:latin typeface="Calibri" panose="020F0502020204030204"/>
              </a:rPr>
              <a:t>CAH</a:t>
            </a:r>
            <a:r>
              <a:rPr lang="en-AU" sz="40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AU" sz="4000" b="1" dirty="0">
                <a:solidFill>
                  <a:srgbClr val="FF0000"/>
                </a:solidFill>
                <a:latin typeface="Calibri" panose="020F0502020204030204"/>
              </a:rPr>
              <a:t>TOA</a:t>
            </a:r>
            <a:r>
              <a:rPr lang="en-AU" sz="4000" b="1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AU" sz="4000" dirty="0">
                <a:solidFill>
                  <a:prstClr val="black"/>
                </a:solidFill>
                <a:latin typeface="Calibri" panose="020F0502020204030204"/>
              </a:rPr>
              <a:t>to remember the functions</a:t>
            </a:r>
            <a:endParaRPr lang="en-US" sz="4000" dirty="0">
              <a:solidFill>
                <a:srgbClr val="00B050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15813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731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use the Cosine Ratio to find sides and angles?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9E8EED9-DE03-4006-AE99-E2298300B7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45" y="1510464"/>
            <a:ext cx="4409868" cy="33207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8ADA89-DE47-4073-8754-06943E66B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7529" y="1521794"/>
            <a:ext cx="5212885" cy="149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CF17E6-9D13-4DCC-88B1-E3BD83DA5A9C}"/>
              </a:ext>
            </a:extLst>
          </p:cNvPr>
          <p:cNvSpPr txBox="1"/>
          <p:nvPr/>
        </p:nvSpPr>
        <p:spPr>
          <a:xfrm>
            <a:off x="219865" y="5991671"/>
            <a:ext cx="11502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rgbClr val="0070C0"/>
                </a:solidFill>
              </a:rPr>
              <a:t>Get the person next to you to mark your work, be prepared to share your answers</a:t>
            </a:r>
            <a:endParaRPr lang="en-GB" sz="2400" b="1" dirty="0">
              <a:solidFill>
                <a:srgbClr val="00B05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1D138D-BF34-4D72-AB37-708CCB092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65" y="1474097"/>
            <a:ext cx="11971611" cy="332318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6BA5AC4-A04B-466F-8C86-A7A13575F8CD}"/>
              </a:ext>
            </a:extLst>
          </p:cNvPr>
          <p:cNvSpPr/>
          <p:nvPr/>
        </p:nvSpPr>
        <p:spPr>
          <a:xfrm>
            <a:off x="8693426" y="1881809"/>
            <a:ext cx="3392557" cy="25046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27318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Trigonometry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How do we use the Sine Ratio to find sides and angles?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FF1ED41-3230-49F4-A66F-F129DC32A58F}"/>
              </a:ext>
            </a:extLst>
          </p:cNvPr>
          <p:cNvSpPr txBox="1"/>
          <p:nvPr/>
        </p:nvSpPr>
        <p:spPr>
          <a:xfrm>
            <a:off x="6615307" y="1527137"/>
            <a:ext cx="4183663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70C0"/>
                </a:solidFill>
              </a:rPr>
              <a:t>Cos</a:t>
            </a:r>
            <a:r>
              <a:rPr lang="el-GR" sz="2800" b="1" dirty="0">
                <a:solidFill>
                  <a:srgbClr val="0070C0"/>
                </a:solidFill>
              </a:rPr>
              <a:t>ϴ</a:t>
            </a:r>
            <a:r>
              <a:rPr lang="en-AU" sz="2800" b="1" dirty="0">
                <a:solidFill>
                  <a:srgbClr val="0070C0"/>
                </a:solidFill>
              </a:rPr>
              <a:t> </a:t>
            </a:r>
            <a:r>
              <a:rPr lang="en-GB" sz="2800" b="1" dirty="0">
                <a:solidFill>
                  <a:srgbClr val="0070C0"/>
                </a:solidFill>
              </a:rPr>
              <a:t>=  </a:t>
            </a:r>
            <a:r>
              <a:rPr lang="en-GB" sz="3200" b="1" u="sng" dirty="0">
                <a:solidFill>
                  <a:srgbClr val="0070C0"/>
                </a:solidFill>
              </a:rPr>
              <a:t>Adjacent</a:t>
            </a:r>
          </a:p>
          <a:p>
            <a:r>
              <a:rPr lang="en-GB" sz="3200" b="1" dirty="0">
                <a:solidFill>
                  <a:srgbClr val="0070C0"/>
                </a:solidFill>
              </a:rPr>
              <a:t>             Hypotenuse</a:t>
            </a:r>
          </a:p>
          <a:p>
            <a:endParaRPr lang="en-GB" sz="2800" b="1" dirty="0">
              <a:solidFill>
                <a:srgbClr val="0070C0"/>
              </a:solidFill>
            </a:endParaRPr>
          </a:p>
          <a:p>
            <a:r>
              <a:rPr lang="en-GB" sz="2800" b="1" dirty="0">
                <a:solidFill>
                  <a:srgbClr val="0070C0"/>
                </a:solidFill>
              </a:rPr>
              <a:t>Cos</a:t>
            </a:r>
            <a:r>
              <a:rPr lang="el-GR" sz="2800" b="1" dirty="0">
                <a:solidFill>
                  <a:srgbClr val="0070C0"/>
                </a:solidFill>
              </a:rPr>
              <a:t>ϴ</a:t>
            </a:r>
            <a:r>
              <a:rPr lang="en-AU" sz="2800" b="1" dirty="0">
                <a:solidFill>
                  <a:srgbClr val="0070C0"/>
                </a:solidFill>
              </a:rPr>
              <a:t> </a:t>
            </a:r>
            <a:r>
              <a:rPr lang="en-GB" sz="2800" b="1" dirty="0">
                <a:solidFill>
                  <a:srgbClr val="0070C0"/>
                </a:solidFill>
              </a:rPr>
              <a:t>=   </a:t>
            </a:r>
            <a:r>
              <a:rPr lang="en-GB" sz="2800" b="1" u="sng" dirty="0">
                <a:solidFill>
                  <a:srgbClr val="0070C0"/>
                </a:solidFill>
              </a:rPr>
              <a:t>12</a:t>
            </a:r>
          </a:p>
          <a:p>
            <a:r>
              <a:rPr lang="en-GB" sz="2800" b="1" dirty="0">
                <a:solidFill>
                  <a:srgbClr val="0070C0"/>
                </a:solidFill>
              </a:rPr>
              <a:t>               15</a:t>
            </a:r>
          </a:p>
          <a:p>
            <a:endParaRPr lang="en-GB" sz="2800" b="1" dirty="0">
              <a:solidFill>
                <a:srgbClr val="0070C0"/>
              </a:solidFill>
            </a:endParaRPr>
          </a:p>
          <a:p>
            <a:r>
              <a:rPr lang="en-GB" sz="2800" b="1" dirty="0">
                <a:solidFill>
                  <a:srgbClr val="0070C0"/>
                </a:solidFill>
              </a:rPr>
              <a:t>Cos</a:t>
            </a:r>
            <a:r>
              <a:rPr lang="el-GR" sz="2800" b="1" dirty="0">
                <a:solidFill>
                  <a:srgbClr val="0070C0"/>
                </a:solidFill>
              </a:rPr>
              <a:t>ϴ</a:t>
            </a:r>
            <a:r>
              <a:rPr lang="en-US" sz="2800" b="1" dirty="0">
                <a:solidFill>
                  <a:srgbClr val="0070C0"/>
                </a:solidFill>
              </a:rPr>
              <a:t> = </a:t>
            </a:r>
            <a:r>
              <a:rPr lang="en-GB" sz="2800" b="1" dirty="0">
                <a:solidFill>
                  <a:srgbClr val="0070C0"/>
                </a:solidFill>
              </a:rPr>
              <a:t>0.8</a:t>
            </a:r>
          </a:p>
          <a:p>
            <a:endParaRPr lang="en-GB" sz="2800" b="1" dirty="0">
              <a:solidFill>
                <a:srgbClr val="0070C0"/>
              </a:solidFill>
            </a:endParaRPr>
          </a:p>
          <a:p>
            <a:r>
              <a:rPr lang="en-GB" sz="2800" b="1" dirty="0">
                <a:solidFill>
                  <a:srgbClr val="0070C0"/>
                </a:solidFill>
              </a:rPr>
              <a:t>     </a:t>
            </a:r>
            <a:r>
              <a:rPr lang="en-GB" sz="2800" dirty="0">
                <a:solidFill>
                  <a:srgbClr val="0070C0"/>
                </a:solidFill>
              </a:rPr>
              <a:t> </a:t>
            </a:r>
            <a:r>
              <a:rPr lang="el-GR" sz="2800" dirty="0">
                <a:solidFill>
                  <a:srgbClr val="0070C0"/>
                </a:solidFill>
              </a:rPr>
              <a:t>ϴ</a:t>
            </a:r>
            <a:r>
              <a:rPr lang="en-GB" sz="2800" dirty="0">
                <a:solidFill>
                  <a:srgbClr val="0070C0"/>
                </a:solidFill>
              </a:rPr>
              <a:t> </a:t>
            </a:r>
            <a:r>
              <a:rPr lang="en-GB" sz="2800" b="1" dirty="0">
                <a:solidFill>
                  <a:srgbClr val="0070C0"/>
                </a:solidFill>
              </a:rPr>
              <a:t>= Cos </a:t>
            </a:r>
            <a:r>
              <a:rPr lang="en-GB" sz="2800" b="1" baseline="30000" dirty="0">
                <a:solidFill>
                  <a:srgbClr val="0070C0"/>
                </a:solidFill>
              </a:rPr>
              <a:t>-1</a:t>
            </a:r>
            <a:r>
              <a:rPr lang="en-GB" sz="2800" b="1" dirty="0">
                <a:solidFill>
                  <a:srgbClr val="0070C0"/>
                </a:solidFill>
              </a:rPr>
              <a:t> (0.8)</a:t>
            </a:r>
          </a:p>
          <a:p>
            <a:endParaRPr lang="en-AU" sz="2800" dirty="0">
              <a:solidFill>
                <a:srgbClr val="0070C0"/>
              </a:solidFill>
            </a:endParaRPr>
          </a:p>
          <a:p>
            <a:r>
              <a:rPr lang="en-AU" sz="2800" dirty="0">
                <a:solidFill>
                  <a:srgbClr val="00B050"/>
                </a:solidFill>
              </a:rPr>
              <a:t>      </a:t>
            </a:r>
            <a:r>
              <a:rPr lang="el-GR" sz="2800" dirty="0">
                <a:solidFill>
                  <a:srgbClr val="00B050"/>
                </a:solidFill>
              </a:rPr>
              <a:t>ϴ</a:t>
            </a:r>
            <a:r>
              <a:rPr lang="en-GB" sz="2800" dirty="0">
                <a:solidFill>
                  <a:srgbClr val="00B050"/>
                </a:solidFill>
              </a:rPr>
              <a:t> </a:t>
            </a:r>
            <a:r>
              <a:rPr lang="en-GB" sz="2800" b="1" dirty="0">
                <a:solidFill>
                  <a:srgbClr val="00B050"/>
                </a:solidFill>
              </a:rPr>
              <a:t>= 36.87° (degrees)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308B8A-C4CC-4AC1-8BB9-57463554D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17" y="1527137"/>
            <a:ext cx="5180877" cy="447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386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9F3475-DE9B-4EC5-8D70-616AF88F63C1}"/>
              </a:ext>
            </a:extLst>
          </p:cNvPr>
          <p:cNvSpPr txBox="1"/>
          <p:nvPr/>
        </p:nvSpPr>
        <p:spPr>
          <a:xfrm>
            <a:off x="219865" y="5991671"/>
            <a:ext cx="11502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rgbClr val="0070C0"/>
                </a:solidFill>
              </a:rPr>
              <a:t>Get the person next to you to mark your work, be prepared to share your answers</a:t>
            </a:r>
            <a:endParaRPr lang="en-GB" sz="2400" b="1" dirty="0">
              <a:solidFill>
                <a:srgbClr val="00B05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23B263-FF7B-4608-9F91-FBC0A0436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65" y="1545327"/>
            <a:ext cx="11563350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75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63E8D6-DA87-463A-82C7-597B16990565}"/>
              </a:ext>
            </a:extLst>
          </p:cNvPr>
          <p:cNvSpPr txBox="1"/>
          <p:nvPr/>
        </p:nvSpPr>
        <p:spPr>
          <a:xfrm>
            <a:off x="583986" y="789751"/>
            <a:ext cx="1083244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b="1" dirty="0">
                <a:solidFill>
                  <a:srgbClr val="00B050"/>
                </a:solidFill>
              </a:rPr>
              <a:t>Complete the worksheet</a:t>
            </a:r>
          </a:p>
          <a:p>
            <a:pPr algn="ctr"/>
            <a:endParaRPr lang="en-AU" sz="2800" b="1" dirty="0">
              <a:solidFill>
                <a:srgbClr val="00B050"/>
              </a:solidFill>
            </a:endParaRPr>
          </a:p>
          <a:p>
            <a:pPr algn="ctr"/>
            <a:r>
              <a:rPr lang="en-AU" sz="2800" b="1" dirty="0">
                <a:solidFill>
                  <a:srgbClr val="00B050"/>
                </a:solidFill>
              </a:rPr>
              <a:t>We will go through the answers together after, be prepared to share your answers</a:t>
            </a:r>
          </a:p>
          <a:p>
            <a:pPr algn="ctr"/>
            <a:endParaRPr lang="en-AU" sz="2800" b="1" dirty="0">
              <a:solidFill>
                <a:srgbClr val="00B050"/>
              </a:solidFill>
            </a:endParaRPr>
          </a:p>
          <a:p>
            <a:pPr algn="ctr"/>
            <a:r>
              <a:rPr lang="en-AU" sz="2800" b="1" dirty="0">
                <a:solidFill>
                  <a:srgbClr val="00B050"/>
                </a:solidFill>
              </a:rPr>
              <a:t>Complete Exit Pass – the Cosine section of your foldable</a:t>
            </a:r>
            <a:endParaRPr lang="en-GB" sz="2800" b="1" dirty="0">
              <a:solidFill>
                <a:srgbClr val="00B05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38B2E05-B888-444F-B003-CA14E4E2B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060" y="3852494"/>
            <a:ext cx="925830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EECFBEB-C8D8-4917-83E7-B07BCBFCB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250" y="1684476"/>
            <a:ext cx="11215500" cy="292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070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246</Words>
  <Application>Microsoft Office PowerPoint</Application>
  <PresentationFormat>Widescreen</PresentationFormat>
  <Paragraphs>62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Kiwi School Handwriting</vt:lpstr>
      <vt:lpstr>Office Theme</vt:lpstr>
      <vt:lpstr>Cosine Ratio </vt:lpstr>
      <vt:lpstr>Learning Intentions</vt:lpstr>
      <vt:lpstr>Practical Activity</vt:lpstr>
      <vt:lpstr>Practical Activity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Practice</vt:lpstr>
      <vt:lpstr>Task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Cosine Ratio </dc:title>
  <dc:creator>Nine Labuschagne</dc:creator>
  <cp:lastModifiedBy>Nine Labuschagne</cp:lastModifiedBy>
  <cp:revision>12</cp:revision>
  <dcterms:created xsi:type="dcterms:W3CDTF">2018-02-04T04:39:18Z</dcterms:created>
  <dcterms:modified xsi:type="dcterms:W3CDTF">2018-02-04T05:11:16Z</dcterms:modified>
</cp:coreProperties>
</file>
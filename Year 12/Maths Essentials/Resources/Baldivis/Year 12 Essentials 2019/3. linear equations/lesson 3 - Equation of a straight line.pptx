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76" r:id="rId2"/>
    <p:sldMasterId id="2147483688" r:id="rId3"/>
  </p:sldMasterIdLst>
  <p:sldIdLst>
    <p:sldId id="304" r:id="rId4"/>
    <p:sldId id="257" r:id="rId5"/>
    <p:sldId id="258" r:id="rId6"/>
    <p:sldId id="302" r:id="rId7"/>
    <p:sldId id="295" r:id="rId8"/>
    <p:sldId id="296" r:id="rId9"/>
    <p:sldId id="300" r:id="rId10"/>
    <p:sldId id="301" r:id="rId11"/>
    <p:sldId id="303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60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840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743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492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58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3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641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074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096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53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93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775C9FE-1538-491B-BDB2-63344A81EE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05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313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556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119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80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38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045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002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48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1443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887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27/03/2019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777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1527F-1EEC-40E6-9AC6-E26ECDC569C4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8634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2317B6-F9EB-4376-A442-A282B65A39D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360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44B43A-379D-4F9C-96E6-53AB7FC3AFB7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8172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8D8E95-C6AE-41A5-BB2F-9561BE0C478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9124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7E447-FD5F-48EB-AFCE-659E1CC3590F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0701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5A2510-EAFA-49FC-B2F1-812FEA37BAA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3926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3C9D2-B9D5-4864-AC82-625C6AFEA962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6064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66AA62-7DBA-4DC7-B639-5B6273097182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3100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AC6B3-AB42-4C5D-B08A-A66EBE7DA1E0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4024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5CA41-4C33-4174-A60B-29ADB5EFA9A2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5432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066C30-AE86-4C9A-B5D0-F053BFAC0646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44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27/03/2019</a:t>
            </a:fld>
            <a:endParaRPr lang="en-AU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AU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306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70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F3946EF9-5B47-4BCA-816C-28FC2A22B3BF}" type="datetimeFigureOut">
              <a:rPr lang="en-GB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27/03/2019</a:t>
            </a:fld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18664BF1-CC74-42AE-9D89-04761F890B1E}" type="slidenum">
              <a:rPr lang="en-GB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107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eaLnBrk="1" hangingPunct="1"/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eaLnBrk="1" hangingPunct="1"/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eaLnBrk="1" hangingPunct="1"/>
            <a:fld id="{FFD0080B-26BF-4311-B3FB-31D339667048}" type="slidenum">
              <a:rPr lang="en-GB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8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221" y="0"/>
            <a:ext cx="8474179" cy="457200"/>
          </a:xfrm>
        </p:spPr>
        <p:txBody>
          <a:bodyPr/>
          <a:lstStyle/>
          <a:p>
            <a:pPr algn="l"/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Topic: Equation of a Straight Line.</a:t>
            </a: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E778E72B-2A61-4016-9F67-F3D4B83E9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41" y="422714"/>
            <a:ext cx="960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GB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EQ: How do we find the Equation of a Straight Line.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14D262-2C0E-4F52-819C-98CAF473C776}"/>
              </a:ext>
            </a:extLst>
          </p:cNvPr>
          <p:cNvCxnSpPr/>
          <p:nvPr/>
        </p:nvCxnSpPr>
        <p:spPr>
          <a:xfrm>
            <a:off x="0" y="948667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7151E3D-94F5-480E-978A-722DB904DE93}"/>
              </a:ext>
            </a:extLst>
          </p:cNvPr>
          <p:cNvCxnSpPr/>
          <p:nvPr/>
        </p:nvCxnSpPr>
        <p:spPr>
          <a:xfrm>
            <a:off x="-30649" y="42271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A77722E-DB8E-46A0-AA1C-1B1258A49A1E}"/>
              </a:ext>
            </a:extLst>
          </p:cNvPr>
          <p:cNvCxnSpPr>
            <a:cxnSpLocks/>
          </p:cNvCxnSpPr>
          <p:nvPr/>
        </p:nvCxnSpPr>
        <p:spPr>
          <a:xfrm>
            <a:off x="1458936" y="948667"/>
            <a:ext cx="0" cy="590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38F4BF-B1CC-4206-B33F-1B84A1B486AE}"/>
              </a:ext>
            </a:extLst>
          </p:cNvPr>
          <p:cNvCxnSpPr>
            <a:cxnSpLocks/>
          </p:cNvCxnSpPr>
          <p:nvPr/>
        </p:nvCxnSpPr>
        <p:spPr>
          <a:xfrm>
            <a:off x="5943600" y="948667"/>
            <a:ext cx="0" cy="590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454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of a 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47813"/>
            <a:ext cx="8229600" cy="4495800"/>
          </a:xfrm>
        </p:spPr>
        <p:txBody>
          <a:bodyPr/>
          <a:lstStyle/>
          <a:p>
            <a:r>
              <a:rPr lang="en-US"/>
              <a:t>The Gradient measures the “rise or increase in y” and “run or increase in x” of the stairs beneath or above the line.</a:t>
            </a: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 flipV="1">
            <a:off x="3048000" y="3186113"/>
            <a:ext cx="236220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49" name="AutoShape 5"/>
          <p:cNvSpPr>
            <a:spLocks noChangeArrowheads="1"/>
          </p:cNvSpPr>
          <p:nvPr/>
        </p:nvSpPr>
        <p:spPr bwMode="auto">
          <a:xfrm rot="5400000">
            <a:off x="3810000" y="3795713"/>
            <a:ext cx="914400" cy="9144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3200400" y="4100513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4114800" y="3186113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nimBg="1"/>
      <p:bldP spid="6150" grpId="0"/>
      <p:bldP spid="61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of a line (m)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8600" cy="1052513"/>
          </a:xfrm>
        </p:spPr>
        <p:txBody>
          <a:bodyPr/>
          <a:lstStyle/>
          <a:p>
            <a:r>
              <a:rPr lang="en-US" sz="2800" dirty="0"/>
              <a:t>To find the gradient, use the formula </a:t>
            </a:r>
          </a:p>
          <a:p>
            <a:pPr>
              <a:buFontTx/>
              <a:buNone/>
            </a:pPr>
            <a:endParaRPr lang="en-US" sz="2800" dirty="0"/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 flipV="1">
            <a:off x="6579870" y="2652713"/>
            <a:ext cx="236220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3" name="AutoShape 5"/>
          <p:cNvSpPr>
            <a:spLocks noChangeArrowheads="1"/>
          </p:cNvSpPr>
          <p:nvPr/>
        </p:nvSpPr>
        <p:spPr bwMode="auto">
          <a:xfrm rot="5400000">
            <a:off x="7265670" y="3338513"/>
            <a:ext cx="914400" cy="9144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6884670" y="3643313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7570470" y="2805113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57617" y="3333713"/>
                <a:ext cx="1773626" cy="895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𝑚</m:t>
                      </m:r>
                      <m:r>
                        <a:rPr lang="en-AU" sz="28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/>
                            </a:rPr>
                            <m:t>𝑟𝑖𝑠𝑒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/>
                            </a:rPr>
                            <m:t>𝑟𝑢𝑛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17" y="3333713"/>
                <a:ext cx="1773626" cy="8959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33400" y="4495800"/>
                <a:ext cx="1758110" cy="6998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𝑚</m:t>
                    </m:r>
                    <m:r>
                      <a:rPr lang="en-AU" sz="2800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AU" sz="2800" dirty="0"/>
                  <a:t>1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495800"/>
                <a:ext cx="1758110" cy="699807"/>
              </a:xfrm>
              <a:prstGeom prst="rect">
                <a:avLst/>
              </a:prstGeom>
              <a:blipFill rotWithShape="1">
                <a:blip r:embed="rId3"/>
                <a:stretch>
                  <a:fillRect r="-5903" b="-87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221" y="0"/>
            <a:ext cx="8474179" cy="457200"/>
          </a:xfrm>
        </p:spPr>
        <p:txBody>
          <a:bodyPr/>
          <a:lstStyle/>
          <a:p>
            <a:pPr algn="l"/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Topic: Equation of a Straight Line.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333191" y="1027746"/>
            <a:ext cx="4408539" cy="70788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find the equation of any straight line we require to know 2 things: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786090" y="1920786"/>
            <a:ext cx="4789539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(1) The gradient of the line. 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786090" y="2444375"/>
            <a:ext cx="7151739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 The y - intercept of the line (where the line crosses the y-axis) 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1549191" y="3092959"/>
            <a:ext cx="4343400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equation of a straight line is :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3339891" y="3972744"/>
            <a:ext cx="2552700" cy="5847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32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= mx + c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3876977" y="4469763"/>
            <a:ext cx="228600" cy="457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3181652" y="4860288"/>
            <a:ext cx="1219200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 flipV="1">
            <a:off x="5135509" y="4469763"/>
            <a:ext cx="390525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4">
            <a:extLst>
              <a:ext uri="{FF2B5EF4-FFF2-40B4-BE49-F238E27FC236}">
                <a16:creationId xmlns:a16="http://schemas.microsoft.com/office/drawing/2014/main" id="{19D7B3E5-554C-49F6-A2CC-A4B3464AF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110" y="4860288"/>
            <a:ext cx="1600200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y-intercept</a:t>
            </a: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E778E72B-2A61-4016-9F67-F3D4B83E9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41" y="422714"/>
            <a:ext cx="960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GB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EQ: How do we find the Equation of a Straight Line.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14D262-2C0E-4F52-819C-98CAF473C776}"/>
              </a:ext>
            </a:extLst>
          </p:cNvPr>
          <p:cNvCxnSpPr/>
          <p:nvPr/>
        </p:nvCxnSpPr>
        <p:spPr>
          <a:xfrm>
            <a:off x="0" y="948667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7151E3D-94F5-480E-978A-722DB904DE93}"/>
              </a:ext>
            </a:extLst>
          </p:cNvPr>
          <p:cNvCxnSpPr/>
          <p:nvPr/>
        </p:nvCxnSpPr>
        <p:spPr>
          <a:xfrm>
            <a:off x="-30649" y="42271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A77722E-DB8E-46A0-AA1C-1B1258A49A1E}"/>
              </a:ext>
            </a:extLst>
          </p:cNvPr>
          <p:cNvCxnSpPr>
            <a:cxnSpLocks/>
          </p:cNvCxnSpPr>
          <p:nvPr/>
        </p:nvCxnSpPr>
        <p:spPr>
          <a:xfrm>
            <a:off x="1458936" y="948667"/>
            <a:ext cx="0" cy="590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20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69" grpId="0"/>
      <p:bldP spid="11272" grpId="0"/>
      <p:bldP spid="11273" grpId="0"/>
      <p:bldP spid="26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504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-405229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-405229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405229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-405229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405229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405229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405229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1094066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-405229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466470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-428889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-504051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-466470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-428889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-504051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466470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-428889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-504051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-466470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1669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1691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211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11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11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11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11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1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11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11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98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98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98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98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98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98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98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98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1331640" y="1988840"/>
            <a:ext cx="5616624" cy="295232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259632" y="0"/>
            <a:ext cx="6984776" cy="11079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208058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prstClr val="white"/>
                </a:solidFill>
              </a:rPr>
              <a:t>2</a:t>
            </a:r>
          </a:p>
        </p:txBody>
      </p:sp>
      <p:cxnSp>
        <p:nvCxnSpPr>
          <p:cNvPr id="131" name="Straight Arrow Connector 130"/>
          <p:cNvCxnSpPr>
            <a:stCxn id="129" idx="3"/>
            <a:endCxn id="108" idx="1"/>
          </p:cNvCxnSpPr>
          <p:nvPr/>
        </p:nvCxnSpPr>
        <p:spPr>
          <a:xfrm>
            <a:off x="3784122" y="3212976"/>
            <a:ext cx="427838" cy="40650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 flipV="1">
            <a:off x="5220072" y="2996952"/>
            <a:ext cx="1296144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4499992" y="3284984"/>
            <a:ext cx="64807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5004048" y="3140968"/>
            <a:ext cx="28803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1331335" y="2774565"/>
            <a:ext cx="2345283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prstClr val="white"/>
                </a:solidFill>
              </a:rPr>
              <a:t>y intercept = 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516216" y="2756099"/>
            <a:ext cx="1727121" cy="376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Rise = +1 </a:t>
            </a:r>
          </a:p>
        </p:txBody>
      </p:sp>
      <p:cxnSp>
        <p:nvCxnSpPr>
          <p:cNvPr id="138" name="Straight Arrow Connector 137"/>
          <p:cNvCxnSpPr>
            <a:cxnSpLocks/>
            <a:stCxn id="142" idx="1"/>
          </p:cNvCxnSpPr>
          <p:nvPr/>
        </p:nvCxnSpPr>
        <p:spPr>
          <a:xfrm flipH="1" flipV="1">
            <a:off x="4901392" y="3321297"/>
            <a:ext cx="1591846" cy="271227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6493238" y="3376500"/>
            <a:ext cx="171082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Run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Rectangle 142"/>
              <p:cNvSpPr/>
              <p:nvPr/>
            </p:nvSpPr>
            <p:spPr>
              <a:xfrm>
                <a:off x="6502003" y="3988542"/>
                <a:ext cx="1849910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000" dirty="0">
                    <a:solidFill>
                      <a:prstClr val="white"/>
                    </a:solidFill>
                  </a:rPr>
                  <a:t>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𝑅𝑢𝑛</m:t>
                        </m:r>
                        <m:r>
                          <a:rPr lang="en-AU" sz="2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GB" sz="28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143" name="Rectangle 1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03" y="3988542"/>
                <a:ext cx="1849910" cy="720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/>
              <p:cNvSpPr txBox="1"/>
              <p:nvPr/>
            </p:nvSpPr>
            <p:spPr>
              <a:xfrm>
                <a:off x="1068972" y="5365391"/>
                <a:ext cx="7057291" cy="1265731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So y=</a:t>
                </a:r>
                <a:r>
                  <a:rPr lang="en-GB" sz="66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5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sz="5400" i="1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x + 2</a:t>
                </a:r>
              </a:p>
            </p:txBody>
          </p:sp>
        </mc:Choice>
        <mc:Fallback xmlns=""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972" y="5365391"/>
                <a:ext cx="7057291" cy="1265731"/>
              </a:xfrm>
              <a:prstGeom prst="rect">
                <a:avLst/>
              </a:prstGeom>
              <a:blipFill>
                <a:blip r:embed="rId3"/>
                <a:stretch>
                  <a:fillRect t="-16190" b="-22381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62988FCB-092A-4345-95D1-7CC8C6C355D7}"/>
                  </a:ext>
                </a:extLst>
              </p:cNvPr>
              <p:cNvSpPr/>
              <p:nvPr/>
            </p:nvSpPr>
            <p:spPr>
              <a:xfrm>
                <a:off x="7933780" y="3690337"/>
                <a:ext cx="576064" cy="14157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4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62988FCB-092A-4345-95D1-7CC8C6C355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780" y="3690337"/>
                <a:ext cx="576064" cy="1415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16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0.30278 -0.3814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39" y="-1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7037E-6 L -0.42656 -0.55972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37" y="-27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50" grpId="0" animBg="1"/>
      <p:bldP spid="151" grpId="0" animBg="1"/>
      <p:bldP spid="142" grpId="0" animBg="1"/>
      <p:bldP spid="143" grpId="0" animBg="1"/>
      <p:bldP spid="149" grpId="0" animBg="1"/>
      <p:bldP spid="134" grpId="0" animBg="1"/>
      <p:bldP spid="13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504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-405229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-405229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405229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-405229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405229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405229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405229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1094066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-405229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466470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-428889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-504051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-466470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-428889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-504051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466470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-428889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-504051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-466470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1669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1691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211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11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11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11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11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1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11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11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98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98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98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98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98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98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98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98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2843808" y="1700808"/>
            <a:ext cx="4032448" cy="316835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259632" y="0"/>
            <a:ext cx="6984776" cy="11079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cxnSp>
        <p:nvCxnSpPr>
          <p:cNvPr id="131" name="Straight Arrow Connector 130"/>
          <p:cNvCxnSpPr>
            <a:cxnSpLocks/>
            <a:endCxn id="107" idx="1"/>
          </p:cNvCxnSpPr>
          <p:nvPr/>
        </p:nvCxnSpPr>
        <p:spPr>
          <a:xfrm>
            <a:off x="3563888" y="3212976"/>
            <a:ext cx="648072" cy="319390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 flipV="1">
            <a:off x="5724128" y="2996952"/>
            <a:ext cx="792088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4499992" y="3501008"/>
            <a:ext cx="1224136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5299007" y="3106331"/>
            <a:ext cx="747790" cy="41565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cxnSpLocks/>
          </p:cNvCxnSpPr>
          <p:nvPr/>
        </p:nvCxnSpPr>
        <p:spPr>
          <a:xfrm flipH="1" flipV="1">
            <a:off x="5004048" y="3573016"/>
            <a:ext cx="1396752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/>
              <p:cNvSpPr txBox="1"/>
              <p:nvPr/>
            </p:nvSpPr>
            <p:spPr>
              <a:xfrm>
                <a:off x="1109015" y="5267205"/>
                <a:ext cx="6984776" cy="113685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So y=</a:t>
                </a:r>
                <a:r>
                  <a:rPr lang="en-GB" sz="66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sz="4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AU" sz="4800" i="1">
                        <a:solidFill>
                          <a:prstClr val="white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x + 1</a:t>
                </a:r>
              </a:p>
            </p:txBody>
          </p:sp>
        </mc:Choice>
        <mc:Fallback xmlns=""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015" y="5267205"/>
                <a:ext cx="6984776" cy="1136850"/>
              </a:xfrm>
              <a:prstGeom prst="rect">
                <a:avLst/>
              </a:prstGeom>
              <a:blipFill>
                <a:blip r:embed="rId2"/>
                <a:stretch>
                  <a:fillRect t="-23810" b="-30159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Rectangle 138">
            <a:extLst>
              <a:ext uri="{FF2B5EF4-FFF2-40B4-BE49-F238E27FC236}">
                <a16:creationId xmlns:a16="http://schemas.microsoft.com/office/drawing/2014/main" id="{B7178D65-B7E7-4479-92DB-FD79794A6F8D}"/>
              </a:ext>
            </a:extLst>
          </p:cNvPr>
          <p:cNvSpPr/>
          <p:nvPr/>
        </p:nvSpPr>
        <p:spPr>
          <a:xfrm>
            <a:off x="1218605" y="2780928"/>
            <a:ext cx="2345283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prstClr val="white"/>
                </a:solidFill>
              </a:rPr>
              <a:t>y intercept = 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1E8C60D-C1AB-4B3E-A705-8C895ADE88D4}"/>
              </a:ext>
            </a:extLst>
          </p:cNvPr>
          <p:cNvSpPr/>
          <p:nvPr/>
        </p:nvSpPr>
        <p:spPr>
          <a:xfrm>
            <a:off x="6516216" y="2756099"/>
            <a:ext cx="1727121" cy="376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Rise = +3 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F107B358-A8D9-4586-B4DB-A97486B47BA4}"/>
              </a:ext>
            </a:extLst>
          </p:cNvPr>
          <p:cNvSpPr/>
          <p:nvPr/>
        </p:nvSpPr>
        <p:spPr>
          <a:xfrm>
            <a:off x="6493238" y="3376500"/>
            <a:ext cx="171082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Run =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5990FE30-FDF6-4334-950F-A54517E91E1B}"/>
                  </a:ext>
                </a:extLst>
              </p:cNvPr>
              <p:cNvSpPr/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000" dirty="0">
                    <a:solidFill>
                      <a:prstClr val="white"/>
                    </a:solidFill>
                  </a:rPr>
                  <a:t>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</m:oMath>
                </a14:m>
                <a:r>
                  <a:rPr lang="en-GB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28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5990FE30-FDF6-4334-950F-A54517E91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Rectangle 147">
            <a:extLst>
              <a:ext uri="{FF2B5EF4-FFF2-40B4-BE49-F238E27FC236}">
                <a16:creationId xmlns:a16="http://schemas.microsoft.com/office/drawing/2014/main" id="{0439F535-8180-491B-A0DA-CD253EA73BE7}"/>
              </a:ext>
            </a:extLst>
          </p:cNvPr>
          <p:cNvSpPr/>
          <p:nvPr/>
        </p:nvSpPr>
        <p:spPr>
          <a:xfrm>
            <a:off x="3208058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prstClr val="white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BBB639B2-56F3-4AE1-B97B-0D09398336B7}"/>
                  </a:ext>
                </a:extLst>
              </p:cNvPr>
              <p:cNvSpPr/>
              <p:nvPr/>
            </p:nvSpPr>
            <p:spPr>
              <a:xfrm>
                <a:off x="7933780" y="3690337"/>
                <a:ext cx="576064" cy="14157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i="1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0" i="1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400" b="0" i="1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BBB639B2-56F3-4AE1-B97B-0D09398336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780" y="3690337"/>
                <a:ext cx="576064" cy="1415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99156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0.30278 -0.3814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39" y="-1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7037E-6 L -0.42656 -0.5597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37" y="-27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39" grpId="0" animBg="1"/>
      <p:bldP spid="140" grpId="0" animBg="1"/>
      <p:bldP spid="145" grpId="0" animBg="1"/>
      <p:bldP spid="146" grpId="0" animBg="1"/>
      <p:bldP spid="148" grpId="0" animBg="1"/>
      <p:bldP spid="148" grpId="1" animBg="1"/>
      <p:bldP spid="153" grpId="0" animBg="1"/>
      <p:bldP spid="15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504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-405229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-405229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405229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-405229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405229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405229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405229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1094066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-405229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466470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-428889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-504051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-466470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-428889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-504051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466470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-428889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-504051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-466470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1669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1691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211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11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11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11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11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1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11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11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98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98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98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98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98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98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98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98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rot="10800000">
            <a:off x="1259632" y="1556793"/>
            <a:ext cx="7488832" cy="325601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259632" y="0"/>
            <a:ext cx="6984776" cy="110799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y=m x + c</a:t>
            </a:r>
          </a:p>
        </p:txBody>
      </p:sp>
      <p:cxnSp>
        <p:nvCxnSpPr>
          <p:cNvPr id="131" name="Straight Arrow Connector 130"/>
          <p:cNvCxnSpPr>
            <a:cxnSpLocks/>
            <a:endCxn id="109" idx="1"/>
          </p:cNvCxnSpPr>
          <p:nvPr/>
        </p:nvCxnSpPr>
        <p:spPr>
          <a:xfrm flipV="1">
            <a:off x="3563888" y="2965594"/>
            <a:ext cx="648072" cy="247382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 flipV="1">
            <a:off x="5220072" y="2996952"/>
            <a:ext cx="1296144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4572000" y="2924944"/>
            <a:ext cx="64807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4980353" y="3064947"/>
            <a:ext cx="307713" cy="27709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cxnSpLocks/>
          </p:cNvCxnSpPr>
          <p:nvPr/>
        </p:nvCxnSpPr>
        <p:spPr>
          <a:xfrm flipH="1" flipV="1">
            <a:off x="4884025" y="2960947"/>
            <a:ext cx="1508310" cy="706019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/>
              <p:cNvSpPr txBox="1"/>
              <p:nvPr/>
            </p:nvSpPr>
            <p:spPr>
              <a:xfrm>
                <a:off x="1015705" y="5248869"/>
                <a:ext cx="6984776" cy="1135311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So y=</a:t>
                </a:r>
                <a14:m>
                  <m:oMath xmlns:m="http://schemas.openxmlformats.org/officeDocument/2006/math">
                    <m:r>
                      <a:rPr lang="en-AU" sz="480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sz="4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4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x + 3</a:t>
                </a:r>
              </a:p>
            </p:txBody>
          </p:sp>
        </mc:Choice>
        <mc:Fallback xmlns=""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05" y="5248869"/>
                <a:ext cx="6984776" cy="1135311"/>
              </a:xfrm>
              <a:prstGeom prst="rect">
                <a:avLst/>
              </a:prstGeom>
              <a:blipFill>
                <a:blip r:embed="rId2"/>
                <a:stretch>
                  <a:fillRect t="-24731" b="-317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Rectangle 131">
            <a:extLst>
              <a:ext uri="{FF2B5EF4-FFF2-40B4-BE49-F238E27FC236}">
                <a16:creationId xmlns:a16="http://schemas.microsoft.com/office/drawing/2014/main" id="{6AEC298E-7F76-43FF-8D17-49E3FCC207CF}"/>
              </a:ext>
            </a:extLst>
          </p:cNvPr>
          <p:cNvSpPr/>
          <p:nvPr/>
        </p:nvSpPr>
        <p:spPr>
          <a:xfrm>
            <a:off x="1218605" y="2780928"/>
            <a:ext cx="2345283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prstClr val="white"/>
                </a:solidFill>
              </a:rPr>
              <a:t>y intercept = 3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6BC18FE-1BC7-42B8-8224-939D4EDCBC40}"/>
              </a:ext>
            </a:extLst>
          </p:cNvPr>
          <p:cNvSpPr/>
          <p:nvPr/>
        </p:nvSpPr>
        <p:spPr>
          <a:xfrm>
            <a:off x="6516216" y="2756099"/>
            <a:ext cx="1727121" cy="376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Rise = -1 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F499B05-0EF7-422F-A10C-83397C2AC60D}"/>
              </a:ext>
            </a:extLst>
          </p:cNvPr>
          <p:cNvSpPr/>
          <p:nvPr/>
        </p:nvSpPr>
        <p:spPr>
          <a:xfrm>
            <a:off x="6493238" y="3376500"/>
            <a:ext cx="171082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Run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5E5C340B-D4EB-494B-BCDF-6B48EC022A58}"/>
                  </a:ext>
                </a:extLst>
              </p:cNvPr>
              <p:cNvSpPr/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000" dirty="0">
                    <a:solidFill>
                      <a:prstClr val="white"/>
                    </a:solidFill>
                  </a:rPr>
                  <a:t>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</m:oMath>
                </a14:m>
                <a:r>
                  <a:rPr lang="en-GB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GB" sz="28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5E5C340B-D4EB-494B-BCDF-6B48EC022A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Rectangle 138">
            <a:extLst>
              <a:ext uri="{FF2B5EF4-FFF2-40B4-BE49-F238E27FC236}">
                <a16:creationId xmlns:a16="http://schemas.microsoft.com/office/drawing/2014/main" id="{013C3CB7-6ABA-4E25-BAD9-21F04B09518A}"/>
              </a:ext>
            </a:extLst>
          </p:cNvPr>
          <p:cNvSpPr/>
          <p:nvPr/>
        </p:nvSpPr>
        <p:spPr>
          <a:xfrm>
            <a:off x="3208058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prstClr val="white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CD2893C8-201C-4F6B-A6B1-68F53732644A}"/>
                  </a:ext>
                </a:extLst>
              </p:cNvPr>
              <p:cNvSpPr/>
              <p:nvPr/>
            </p:nvSpPr>
            <p:spPr>
              <a:xfrm>
                <a:off x="7846325" y="3691343"/>
                <a:ext cx="840487" cy="14157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4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4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CD2893C8-201C-4F6B-A6B1-68F5373264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325" y="3691343"/>
                <a:ext cx="840487" cy="1415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1215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0.3 -0.38241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00" y="-19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81481E-6 L -0.43784 -0.5546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92" y="-27731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32" grpId="0" animBg="1"/>
      <p:bldP spid="134" grpId="0" animBg="1"/>
      <p:bldP spid="135" grpId="0" animBg="1"/>
      <p:bldP spid="136" grpId="0" animBg="1"/>
      <p:bldP spid="139" grpId="0" animBg="1"/>
      <p:bldP spid="139" grpId="1" animBg="1"/>
      <p:bldP spid="140" grpId="0" animBg="1"/>
      <p:bldP spid="14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504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-405229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-405229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405229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-405229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405229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405229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405229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1094066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-405229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466470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-428889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-504051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-466470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-428889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-504051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466470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-428889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-504051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-466470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1669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1691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211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11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11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11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11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1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11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11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98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98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98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98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98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98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98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98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H="1" flipV="1">
            <a:off x="1475656" y="1844824"/>
            <a:ext cx="5688632" cy="151216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259632" y="0"/>
            <a:ext cx="6984776" cy="110799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y=m x + c</a:t>
            </a:r>
          </a:p>
        </p:txBody>
      </p:sp>
      <p:cxnSp>
        <p:nvCxnSpPr>
          <p:cNvPr id="131" name="Straight Arrow Connector 130"/>
          <p:cNvCxnSpPr>
            <a:cxnSpLocks/>
            <a:endCxn id="110" idx="1"/>
          </p:cNvCxnSpPr>
          <p:nvPr/>
        </p:nvCxnSpPr>
        <p:spPr>
          <a:xfrm flipV="1">
            <a:off x="3563888" y="2677562"/>
            <a:ext cx="648072" cy="535414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>
            <a:off x="5508104" y="2708920"/>
            <a:ext cx="1008112" cy="288032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4572000" y="2650767"/>
            <a:ext cx="864096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5328084" y="2744924"/>
            <a:ext cx="216024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cxnSpLocks/>
            <a:stCxn id="139" idx="1"/>
          </p:cNvCxnSpPr>
          <p:nvPr/>
        </p:nvCxnSpPr>
        <p:spPr>
          <a:xfrm flipH="1" flipV="1">
            <a:off x="5076056" y="2708920"/>
            <a:ext cx="1417182" cy="883604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/>
              <p:cNvSpPr txBox="1"/>
              <p:nvPr/>
            </p:nvSpPr>
            <p:spPr>
              <a:xfrm>
                <a:off x="1101534" y="5401260"/>
                <a:ext cx="6984776" cy="1135311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rtlCol="0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So y=</a:t>
                </a:r>
                <a14:m>
                  <m:oMath xmlns:m="http://schemas.openxmlformats.org/officeDocument/2006/math">
                    <m:r>
                      <a:rPr lang="en-AU" sz="480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sz="4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x + 4</a:t>
                </a:r>
              </a:p>
            </p:txBody>
          </p:sp>
        </mc:Choice>
        <mc:Fallback xmlns=""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34" y="5401260"/>
                <a:ext cx="6984776" cy="1135311"/>
              </a:xfrm>
              <a:prstGeom prst="rect">
                <a:avLst/>
              </a:prstGeom>
              <a:blipFill>
                <a:blip r:embed="rId2"/>
                <a:stretch>
                  <a:fillRect t="-24731" b="-317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Rectangle 131">
            <a:extLst>
              <a:ext uri="{FF2B5EF4-FFF2-40B4-BE49-F238E27FC236}">
                <a16:creationId xmlns:a16="http://schemas.microsoft.com/office/drawing/2014/main" id="{886EB470-751D-4BC2-822E-26671F24179D}"/>
              </a:ext>
            </a:extLst>
          </p:cNvPr>
          <p:cNvSpPr/>
          <p:nvPr/>
        </p:nvSpPr>
        <p:spPr>
          <a:xfrm>
            <a:off x="1218605" y="2780928"/>
            <a:ext cx="2345283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prstClr val="white"/>
                </a:solidFill>
              </a:rPr>
              <a:t>y intercept = 4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7932DB4-4503-4AD7-8C14-6D9F8A6ECE56}"/>
              </a:ext>
            </a:extLst>
          </p:cNvPr>
          <p:cNvSpPr/>
          <p:nvPr/>
        </p:nvSpPr>
        <p:spPr>
          <a:xfrm>
            <a:off x="6516216" y="2756099"/>
            <a:ext cx="1727121" cy="376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Rise = -1 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3F68DA8-F1D5-42ED-BCDC-0F40F54A91BF}"/>
              </a:ext>
            </a:extLst>
          </p:cNvPr>
          <p:cNvSpPr/>
          <p:nvPr/>
        </p:nvSpPr>
        <p:spPr>
          <a:xfrm>
            <a:off x="6493238" y="3376500"/>
            <a:ext cx="171082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white"/>
                </a:solidFill>
              </a:rPr>
              <a:t>Run =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3D0CA7BD-AF06-409E-94FA-5F5E6D9AAA1D}"/>
                  </a:ext>
                </a:extLst>
              </p:cNvPr>
              <p:cNvSpPr/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000" dirty="0">
                    <a:solidFill>
                      <a:prstClr val="white"/>
                    </a:solidFill>
                  </a:rPr>
                  <a:t>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</m:oMath>
                </a14:m>
                <a:r>
                  <a:rPr lang="en-GB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=− </m:t>
                    </m:r>
                    <m:f>
                      <m:fPr>
                        <m:ctrlPr>
                          <a:rPr lang="en-GB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sz="28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3D0CA7BD-AF06-409E-94FA-5F5E6D9AAA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03" y="4063515"/>
                <a:ext cx="1849910" cy="720080"/>
              </a:xfrm>
              <a:prstGeom prst="rect">
                <a:avLst/>
              </a:prstGeom>
              <a:blipFill>
                <a:blip r:embed="rId3"/>
                <a:stretch>
                  <a:fillRect l="-13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Rectangle 144">
            <a:extLst>
              <a:ext uri="{FF2B5EF4-FFF2-40B4-BE49-F238E27FC236}">
                <a16:creationId xmlns:a16="http://schemas.microsoft.com/office/drawing/2014/main" id="{A7DFFAED-F3A4-4A04-9873-0CA9E690A251}"/>
              </a:ext>
            </a:extLst>
          </p:cNvPr>
          <p:cNvSpPr/>
          <p:nvPr/>
        </p:nvSpPr>
        <p:spPr>
          <a:xfrm>
            <a:off x="3208058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prstClr val="white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85D94AD4-B73D-4E41-BAA4-E70E022AF4C4}"/>
                  </a:ext>
                </a:extLst>
              </p:cNvPr>
              <p:cNvSpPr/>
              <p:nvPr/>
            </p:nvSpPr>
            <p:spPr>
              <a:xfrm>
                <a:off x="7933780" y="3690337"/>
                <a:ext cx="973928" cy="14157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4400" i="1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4400" b="0" i="1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85D94AD4-B73D-4E41-BAA4-E70E022AF4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780" y="3690337"/>
                <a:ext cx="973928" cy="1415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2909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118 -0.00208 L 0.32396 -0.38357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39" y="-1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44948 -0.56111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483" y="-28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32" grpId="0" animBg="1"/>
      <p:bldP spid="136" grpId="0" animBg="1"/>
      <p:bldP spid="139" grpId="0" animBg="1"/>
      <p:bldP spid="140" grpId="0" animBg="1"/>
      <p:bldP spid="145" grpId="0" animBg="1"/>
      <p:bldP spid="145" grpId="1" animBg="1"/>
      <p:bldP spid="146" grpId="0" animBg="1"/>
      <p:bldP spid="14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B9E0-7CC2-4BA3-84E7-7221E918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Practice time.</a:t>
            </a:r>
            <a:br>
              <a:rPr lang="en-AU" dirty="0"/>
            </a:br>
            <a:r>
              <a:rPr lang="en-AU" dirty="0"/>
              <a:t>Complete the worksheet</a:t>
            </a:r>
          </a:p>
        </p:txBody>
      </p:sp>
    </p:spTree>
    <p:extLst>
      <p:ext uri="{BB962C8B-B14F-4D97-AF65-F5344CB8AC3E}">
        <p14:creationId xmlns:p14="http://schemas.microsoft.com/office/powerpoint/2010/main" val="957952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Mountain Top</Template>
  <TotalTime>373</TotalTime>
  <Words>339</Words>
  <Application>Microsoft Office PowerPoint</Application>
  <PresentationFormat>On-screen Show (4:3)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Aharoni</vt:lpstr>
      <vt:lpstr>Arial</vt:lpstr>
      <vt:lpstr>Calibri</vt:lpstr>
      <vt:lpstr>Cambria Math</vt:lpstr>
      <vt:lpstr>Times New Roman</vt:lpstr>
      <vt:lpstr>Office Theme</vt:lpstr>
      <vt:lpstr>1_Office Theme</vt:lpstr>
      <vt:lpstr>Default Design</vt:lpstr>
      <vt:lpstr>Topic: Equation of a Straight Line.</vt:lpstr>
      <vt:lpstr>Gradient of a line</vt:lpstr>
      <vt:lpstr>Gradient of a line (m)</vt:lpstr>
      <vt:lpstr>Topic: Equation of a Straight Line.</vt:lpstr>
      <vt:lpstr>PowerPoint Presentation</vt:lpstr>
      <vt:lpstr>PowerPoint Presentation</vt:lpstr>
      <vt:lpstr>PowerPoint Presentation</vt:lpstr>
      <vt:lpstr>PowerPoint Presentation</vt:lpstr>
      <vt:lpstr>Practice time. Complete the worksheet</vt:lpstr>
    </vt:vector>
  </TitlesOfParts>
  <Company>BCOE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Slope &amp; Y-intercept</dc:title>
  <dc:creator>lnussdor</dc:creator>
  <cp:lastModifiedBy>D'SOUZA Jillian [Baldivis Secondary College]</cp:lastModifiedBy>
  <cp:revision>32</cp:revision>
  <dcterms:created xsi:type="dcterms:W3CDTF">2006-12-14T23:36:47Z</dcterms:created>
  <dcterms:modified xsi:type="dcterms:W3CDTF">2019-03-27T00:28:48Z</dcterms:modified>
</cp:coreProperties>
</file>
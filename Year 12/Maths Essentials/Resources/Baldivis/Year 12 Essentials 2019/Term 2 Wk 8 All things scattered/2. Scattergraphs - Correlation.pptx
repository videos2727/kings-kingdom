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78" r:id="rId3"/>
    <p:sldId id="279" r:id="rId4"/>
    <p:sldId id="264" r:id="rId5"/>
    <p:sldId id="265" r:id="rId6"/>
    <p:sldId id="266" r:id="rId7"/>
    <p:sldId id="267" r:id="rId8"/>
    <p:sldId id="276" r:id="rId9"/>
    <p:sldId id="277" r:id="rId10"/>
    <p:sldId id="268"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2D1DE9-AFE5-44BA-9404-CB97D124404D}" type="datetimeFigureOut">
              <a:rPr lang="en-AU" smtClean="0"/>
              <a:t>24/06/2019</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C17AC-BEE3-4BB2-9041-9DEA2EC4BD81}" type="slidenum">
              <a:rPr lang="en-AU" smtClean="0"/>
              <a:t>‹#›</a:t>
            </a:fld>
            <a:endParaRPr lang="en-AU"/>
          </a:p>
        </p:txBody>
      </p:sp>
    </p:spTree>
    <p:extLst>
      <p:ext uri="{BB962C8B-B14F-4D97-AF65-F5344CB8AC3E}">
        <p14:creationId xmlns:p14="http://schemas.microsoft.com/office/powerpoint/2010/main" val="4028487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0">
            <a:extLst>
              <a:ext uri="{FF2B5EF4-FFF2-40B4-BE49-F238E27FC236}">
                <a16:creationId xmlns:a16="http://schemas.microsoft.com/office/drawing/2014/main" id="{56D294F5-86BC-42D4-B4A6-609FFC69DDF0}"/>
              </a:ext>
            </a:extLst>
          </p:cNvPr>
          <p:cNvSpPr>
            <a:spLocks noGrp="1" noChangeArrowheads="1"/>
          </p:cNvSpPr>
          <p:nvPr>
            <p:ph type="sldNum"/>
          </p:nvPr>
        </p:nvSpPr>
        <p:spPr>
          <a:ln/>
        </p:spPr>
        <p:txBody>
          <a:bodyPr/>
          <a:lstStyle/>
          <a:p>
            <a:fld id="{F8743AED-66F1-4FAB-B485-0931B1E62290}" type="slidenum">
              <a:rPr lang="en-GB" altLang="en-US"/>
              <a:pPr/>
              <a:t>2</a:t>
            </a:fld>
            <a:endParaRPr lang="en-GB" altLang="en-US"/>
          </a:p>
        </p:txBody>
      </p:sp>
      <p:sp>
        <p:nvSpPr>
          <p:cNvPr id="19457" name="Text Box 1">
            <a:extLst>
              <a:ext uri="{FF2B5EF4-FFF2-40B4-BE49-F238E27FC236}">
                <a16:creationId xmlns:a16="http://schemas.microsoft.com/office/drawing/2014/main" id="{0E500765-F1B4-47EC-BA16-E09756DA093F}"/>
              </a:ext>
            </a:extLst>
          </p:cNvPr>
          <p:cNvSpPr txBox="1">
            <a:spLocks noChangeArrowheads="1"/>
          </p:cNvSpPr>
          <p:nvPr/>
        </p:nvSpPr>
        <p:spPr bwMode="auto">
          <a:xfrm>
            <a:off x="1106488" y="812800"/>
            <a:ext cx="5345112" cy="4008438"/>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AU"/>
          </a:p>
        </p:txBody>
      </p:sp>
      <p:sp>
        <p:nvSpPr>
          <p:cNvPr id="19458" name="Rectangle 2">
            <a:extLst>
              <a:ext uri="{FF2B5EF4-FFF2-40B4-BE49-F238E27FC236}">
                <a16:creationId xmlns:a16="http://schemas.microsoft.com/office/drawing/2014/main" id="{385CB61E-8B0A-417F-B6FD-FCABE30247D9}"/>
              </a:ext>
            </a:extLst>
          </p:cNvPr>
          <p:cNvSpPr txBox="1">
            <a:spLocks noGrp="1" noChangeArrowheads="1"/>
          </p:cNvSpPr>
          <p:nvPr>
            <p:ph type="body"/>
          </p:nvPr>
        </p:nvSpPr>
        <p:spPr bwMode="auto">
          <a:xfrm>
            <a:off x="755650" y="5078413"/>
            <a:ext cx="6042025" cy="48053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593603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81E13-9871-4660-A5D7-922C9EA704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B917241-403D-40A2-8E88-1C66B4336B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79B70AB-B338-4A3D-8E5D-FF357FDADC4F}"/>
              </a:ext>
            </a:extLst>
          </p:cNvPr>
          <p:cNvSpPr>
            <a:spLocks noGrp="1"/>
          </p:cNvSpPr>
          <p:nvPr>
            <p:ph type="dt" sz="half" idx="10"/>
          </p:nvPr>
        </p:nvSpPr>
        <p:spPr/>
        <p:txBody>
          <a:bodyPr/>
          <a:lstStyle/>
          <a:p>
            <a:fld id="{42CF74DE-B82D-4B2D-A7DF-514F99B5FBA3}" type="datetimeFigureOut">
              <a:rPr lang="en-AU" smtClean="0"/>
              <a:t>24/06/2019</a:t>
            </a:fld>
            <a:endParaRPr lang="en-AU"/>
          </a:p>
        </p:txBody>
      </p:sp>
      <p:sp>
        <p:nvSpPr>
          <p:cNvPr id="5" name="Footer Placeholder 4">
            <a:extLst>
              <a:ext uri="{FF2B5EF4-FFF2-40B4-BE49-F238E27FC236}">
                <a16:creationId xmlns:a16="http://schemas.microsoft.com/office/drawing/2014/main" id="{7DE70923-2468-4E2E-9DAB-0A3165314CD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BCFAC25-1525-4141-9C56-4784AD87F942}"/>
              </a:ext>
            </a:extLst>
          </p:cNvPr>
          <p:cNvSpPr>
            <a:spLocks noGrp="1"/>
          </p:cNvSpPr>
          <p:nvPr>
            <p:ph type="sldNum" sz="quarter" idx="12"/>
          </p:nvPr>
        </p:nvSpPr>
        <p:spPr/>
        <p:txBody>
          <a:bodyPr/>
          <a:lstStyle/>
          <a:p>
            <a:fld id="{D8ED1C9B-08A9-4EE1-B250-8BF65FB1FD8D}" type="slidenum">
              <a:rPr lang="en-AU" smtClean="0"/>
              <a:t>‹#›</a:t>
            </a:fld>
            <a:endParaRPr lang="en-AU"/>
          </a:p>
        </p:txBody>
      </p:sp>
    </p:spTree>
    <p:extLst>
      <p:ext uri="{BB962C8B-B14F-4D97-AF65-F5344CB8AC3E}">
        <p14:creationId xmlns:p14="http://schemas.microsoft.com/office/powerpoint/2010/main" val="1379521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57742-6136-4945-83A2-617CAF4BC3B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D8744EDD-DB1B-4B57-9ECA-13C342A554B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4D6742D-75D6-4470-926A-A7B286F831F6}"/>
              </a:ext>
            </a:extLst>
          </p:cNvPr>
          <p:cNvSpPr>
            <a:spLocks noGrp="1"/>
          </p:cNvSpPr>
          <p:nvPr>
            <p:ph type="dt" sz="half" idx="10"/>
          </p:nvPr>
        </p:nvSpPr>
        <p:spPr/>
        <p:txBody>
          <a:bodyPr/>
          <a:lstStyle/>
          <a:p>
            <a:fld id="{42CF74DE-B82D-4B2D-A7DF-514F99B5FBA3}" type="datetimeFigureOut">
              <a:rPr lang="en-AU" smtClean="0"/>
              <a:t>24/06/2019</a:t>
            </a:fld>
            <a:endParaRPr lang="en-AU"/>
          </a:p>
        </p:txBody>
      </p:sp>
      <p:sp>
        <p:nvSpPr>
          <p:cNvPr id="5" name="Footer Placeholder 4">
            <a:extLst>
              <a:ext uri="{FF2B5EF4-FFF2-40B4-BE49-F238E27FC236}">
                <a16:creationId xmlns:a16="http://schemas.microsoft.com/office/drawing/2014/main" id="{255A2CC4-71DF-437A-92A1-8AD2082038E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D94B72-E730-4312-9351-3DA794F7B602}"/>
              </a:ext>
            </a:extLst>
          </p:cNvPr>
          <p:cNvSpPr>
            <a:spLocks noGrp="1"/>
          </p:cNvSpPr>
          <p:nvPr>
            <p:ph type="sldNum" sz="quarter" idx="12"/>
          </p:nvPr>
        </p:nvSpPr>
        <p:spPr/>
        <p:txBody>
          <a:bodyPr/>
          <a:lstStyle/>
          <a:p>
            <a:fld id="{D8ED1C9B-08A9-4EE1-B250-8BF65FB1FD8D}" type="slidenum">
              <a:rPr lang="en-AU" smtClean="0"/>
              <a:t>‹#›</a:t>
            </a:fld>
            <a:endParaRPr lang="en-AU"/>
          </a:p>
        </p:txBody>
      </p:sp>
    </p:spTree>
    <p:extLst>
      <p:ext uri="{BB962C8B-B14F-4D97-AF65-F5344CB8AC3E}">
        <p14:creationId xmlns:p14="http://schemas.microsoft.com/office/powerpoint/2010/main" val="4257365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F587A-D8F2-47A9-94A3-78CC5371F5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B0762F30-1967-4144-AADD-985C598335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E07922C-B6E4-4322-8CF3-CF60CABABC91}"/>
              </a:ext>
            </a:extLst>
          </p:cNvPr>
          <p:cNvSpPr>
            <a:spLocks noGrp="1"/>
          </p:cNvSpPr>
          <p:nvPr>
            <p:ph type="dt" sz="half" idx="10"/>
          </p:nvPr>
        </p:nvSpPr>
        <p:spPr/>
        <p:txBody>
          <a:bodyPr/>
          <a:lstStyle/>
          <a:p>
            <a:fld id="{42CF74DE-B82D-4B2D-A7DF-514F99B5FBA3}" type="datetimeFigureOut">
              <a:rPr lang="en-AU" smtClean="0"/>
              <a:t>24/06/2019</a:t>
            </a:fld>
            <a:endParaRPr lang="en-AU"/>
          </a:p>
        </p:txBody>
      </p:sp>
      <p:sp>
        <p:nvSpPr>
          <p:cNvPr id="5" name="Footer Placeholder 4">
            <a:extLst>
              <a:ext uri="{FF2B5EF4-FFF2-40B4-BE49-F238E27FC236}">
                <a16:creationId xmlns:a16="http://schemas.microsoft.com/office/drawing/2014/main" id="{BB0998B4-1255-4BF5-828D-332EC49CD60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65EB853-FBB3-4437-8BB4-0DF4A0E254A8}"/>
              </a:ext>
            </a:extLst>
          </p:cNvPr>
          <p:cNvSpPr>
            <a:spLocks noGrp="1"/>
          </p:cNvSpPr>
          <p:nvPr>
            <p:ph type="sldNum" sz="quarter" idx="12"/>
          </p:nvPr>
        </p:nvSpPr>
        <p:spPr/>
        <p:txBody>
          <a:bodyPr/>
          <a:lstStyle/>
          <a:p>
            <a:fld id="{D8ED1C9B-08A9-4EE1-B250-8BF65FB1FD8D}" type="slidenum">
              <a:rPr lang="en-AU" smtClean="0"/>
              <a:t>‹#›</a:t>
            </a:fld>
            <a:endParaRPr lang="en-AU"/>
          </a:p>
        </p:txBody>
      </p:sp>
    </p:spTree>
    <p:extLst>
      <p:ext uri="{BB962C8B-B14F-4D97-AF65-F5344CB8AC3E}">
        <p14:creationId xmlns:p14="http://schemas.microsoft.com/office/powerpoint/2010/main" val="2351337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CF75F-6A5B-4311-A847-0D3E3ED5814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BE90DC5-48D6-4944-A732-A6FE1657FA3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497BBA9F-F0B4-4FF6-BB56-20187D9381E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CC3CAD0-C58B-431E-9D90-71719160F264}"/>
              </a:ext>
            </a:extLst>
          </p:cNvPr>
          <p:cNvSpPr>
            <a:spLocks noGrp="1"/>
          </p:cNvSpPr>
          <p:nvPr>
            <p:ph type="dt" sz="half" idx="10"/>
          </p:nvPr>
        </p:nvSpPr>
        <p:spPr/>
        <p:txBody>
          <a:bodyPr/>
          <a:lstStyle/>
          <a:p>
            <a:fld id="{42CF74DE-B82D-4B2D-A7DF-514F99B5FBA3}" type="datetimeFigureOut">
              <a:rPr lang="en-AU" smtClean="0"/>
              <a:t>24/06/2019</a:t>
            </a:fld>
            <a:endParaRPr lang="en-AU"/>
          </a:p>
        </p:txBody>
      </p:sp>
      <p:sp>
        <p:nvSpPr>
          <p:cNvPr id="6" name="Footer Placeholder 5">
            <a:extLst>
              <a:ext uri="{FF2B5EF4-FFF2-40B4-BE49-F238E27FC236}">
                <a16:creationId xmlns:a16="http://schemas.microsoft.com/office/drawing/2014/main" id="{FC1B9E7C-6D6C-43AF-B586-2A9A16CE064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8FFE931-2233-4395-B9EF-1B0173CDE009}"/>
              </a:ext>
            </a:extLst>
          </p:cNvPr>
          <p:cNvSpPr>
            <a:spLocks noGrp="1"/>
          </p:cNvSpPr>
          <p:nvPr>
            <p:ph type="sldNum" sz="quarter" idx="12"/>
          </p:nvPr>
        </p:nvSpPr>
        <p:spPr/>
        <p:txBody>
          <a:bodyPr/>
          <a:lstStyle/>
          <a:p>
            <a:fld id="{D8ED1C9B-08A9-4EE1-B250-8BF65FB1FD8D}" type="slidenum">
              <a:rPr lang="en-AU" smtClean="0"/>
              <a:t>‹#›</a:t>
            </a:fld>
            <a:endParaRPr lang="en-AU"/>
          </a:p>
        </p:txBody>
      </p:sp>
    </p:spTree>
    <p:extLst>
      <p:ext uri="{BB962C8B-B14F-4D97-AF65-F5344CB8AC3E}">
        <p14:creationId xmlns:p14="http://schemas.microsoft.com/office/powerpoint/2010/main" val="2000130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3801D-DB29-4E66-A873-846ED57B103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D98E9E8-7A19-4402-9254-C502393125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281AB4B-1F17-4E08-9035-CADF5BEE572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8DFAE838-99A2-4451-9B94-9A65B16250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FDF4E5C-5B80-48EC-88C3-C8632E6BA38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096C51A-12BD-4D8E-A7C9-A48FAA391C84}"/>
              </a:ext>
            </a:extLst>
          </p:cNvPr>
          <p:cNvSpPr>
            <a:spLocks noGrp="1"/>
          </p:cNvSpPr>
          <p:nvPr>
            <p:ph type="dt" sz="half" idx="10"/>
          </p:nvPr>
        </p:nvSpPr>
        <p:spPr/>
        <p:txBody>
          <a:bodyPr/>
          <a:lstStyle/>
          <a:p>
            <a:fld id="{42CF74DE-B82D-4B2D-A7DF-514F99B5FBA3}" type="datetimeFigureOut">
              <a:rPr lang="en-AU" smtClean="0"/>
              <a:t>24/06/2019</a:t>
            </a:fld>
            <a:endParaRPr lang="en-AU"/>
          </a:p>
        </p:txBody>
      </p:sp>
      <p:sp>
        <p:nvSpPr>
          <p:cNvPr id="8" name="Footer Placeholder 7">
            <a:extLst>
              <a:ext uri="{FF2B5EF4-FFF2-40B4-BE49-F238E27FC236}">
                <a16:creationId xmlns:a16="http://schemas.microsoft.com/office/drawing/2014/main" id="{F311E733-FC59-4DE4-87C7-3F0CCBCAABA3}"/>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BCF9A96E-CC61-4A13-9BAE-B6C1B950E245}"/>
              </a:ext>
            </a:extLst>
          </p:cNvPr>
          <p:cNvSpPr>
            <a:spLocks noGrp="1"/>
          </p:cNvSpPr>
          <p:nvPr>
            <p:ph type="sldNum" sz="quarter" idx="12"/>
          </p:nvPr>
        </p:nvSpPr>
        <p:spPr/>
        <p:txBody>
          <a:bodyPr/>
          <a:lstStyle/>
          <a:p>
            <a:fld id="{D8ED1C9B-08A9-4EE1-B250-8BF65FB1FD8D}" type="slidenum">
              <a:rPr lang="en-AU" smtClean="0"/>
              <a:t>‹#›</a:t>
            </a:fld>
            <a:endParaRPr lang="en-AU"/>
          </a:p>
        </p:txBody>
      </p:sp>
    </p:spTree>
    <p:extLst>
      <p:ext uri="{BB962C8B-B14F-4D97-AF65-F5344CB8AC3E}">
        <p14:creationId xmlns:p14="http://schemas.microsoft.com/office/powerpoint/2010/main" val="603455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482EB-24C9-459F-8DA1-C2D7DFFCE134}"/>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2BFC828E-288A-4437-BFAD-8C3751784E6B}"/>
              </a:ext>
            </a:extLst>
          </p:cNvPr>
          <p:cNvSpPr>
            <a:spLocks noGrp="1"/>
          </p:cNvSpPr>
          <p:nvPr>
            <p:ph type="dt" sz="half" idx="10"/>
          </p:nvPr>
        </p:nvSpPr>
        <p:spPr/>
        <p:txBody>
          <a:bodyPr/>
          <a:lstStyle/>
          <a:p>
            <a:fld id="{42CF74DE-B82D-4B2D-A7DF-514F99B5FBA3}" type="datetimeFigureOut">
              <a:rPr lang="en-AU" smtClean="0"/>
              <a:t>24/06/2019</a:t>
            </a:fld>
            <a:endParaRPr lang="en-AU"/>
          </a:p>
        </p:txBody>
      </p:sp>
      <p:sp>
        <p:nvSpPr>
          <p:cNvPr id="4" name="Footer Placeholder 3">
            <a:extLst>
              <a:ext uri="{FF2B5EF4-FFF2-40B4-BE49-F238E27FC236}">
                <a16:creationId xmlns:a16="http://schemas.microsoft.com/office/drawing/2014/main" id="{B436806C-AFAA-4477-8428-156F4A1740B0}"/>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5C9835F7-0119-4C83-8741-8B696FF3AE33}"/>
              </a:ext>
            </a:extLst>
          </p:cNvPr>
          <p:cNvSpPr>
            <a:spLocks noGrp="1"/>
          </p:cNvSpPr>
          <p:nvPr>
            <p:ph type="sldNum" sz="quarter" idx="12"/>
          </p:nvPr>
        </p:nvSpPr>
        <p:spPr/>
        <p:txBody>
          <a:bodyPr/>
          <a:lstStyle/>
          <a:p>
            <a:fld id="{D8ED1C9B-08A9-4EE1-B250-8BF65FB1FD8D}" type="slidenum">
              <a:rPr lang="en-AU" smtClean="0"/>
              <a:t>‹#›</a:t>
            </a:fld>
            <a:endParaRPr lang="en-AU"/>
          </a:p>
        </p:txBody>
      </p:sp>
    </p:spTree>
    <p:extLst>
      <p:ext uri="{BB962C8B-B14F-4D97-AF65-F5344CB8AC3E}">
        <p14:creationId xmlns:p14="http://schemas.microsoft.com/office/powerpoint/2010/main" val="2426138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1E7A0C-0EFB-4CF7-BC9E-B5B5515D9788}"/>
              </a:ext>
            </a:extLst>
          </p:cNvPr>
          <p:cNvSpPr>
            <a:spLocks noGrp="1"/>
          </p:cNvSpPr>
          <p:nvPr>
            <p:ph type="dt" sz="half" idx="10"/>
          </p:nvPr>
        </p:nvSpPr>
        <p:spPr/>
        <p:txBody>
          <a:bodyPr/>
          <a:lstStyle/>
          <a:p>
            <a:fld id="{42CF74DE-B82D-4B2D-A7DF-514F99B5FBA3}" type="datetimeFigureOut">
              <a:rPr lang="en-AU" smtClean="0"/>
              <a:t>24/06/2019</a:t>
            </a:fld>
            <a:endParaRPr lang="en-AU"/>
          </a:p>
        </p:txBody>
      </p:sp>
      <p:sp>
        <p:nvSpPr>
          <p:cNvPr id="3" name="Footer Placeholder 2">
            <a:extLst>
              <a:ext uri="{FF2B5EF4-FFF2-40B4-BE49-F238E27FC236}">
                <a16:creationId xmlns:a16="http://schemas.microsoft.com/office/drawing/2014/main" id="{E087B291-3178-4F27-B8F1-624D6ECEA89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6C600545-6E65-4433-B779-BD71DCEA4AA0}"/>
              </a:ext>
            </a:extLst>
          </p:cNvPr>
          <p:cNvSpPr>
            <a:spLocks noGrp="1"/>
          </p:cNvSpPr>
          <p:nvPr>
            <p:ph type="sldNum" sz="quarter" idx="12"/>
          </p:nvPr>
        </p:nvSpPr>
        <p:spPr/>
        <p:txBody>
          <a:bodyPr/>
          <a:lstStyle/>
          <a:p>
            <a:fld id="{D8ED1C9B-08A9-4EE1-B250-8BF65FB1FD8D}" type="slidenum">
              <a:rPr lang="en-AU" smtClean="0"/>
              <a:t>‹#›</a:t>
            </a:fld>
            <a:endParaRPr lang="en-AU"/>
          </a:p>
        </p:txBody>
      </p:sp>
    </p:spTree>
    <p:extLst>
      <p:ext uri="{BB962C8B-B14F-4D97-AF65-F5344CB8AC3E}">
        <p14:creationId xmlns:p14="http://schemas.microsoft.com/office/powerpoint/2010/main" val="1103605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218BB-30E4-454D-A8E0-807810FBE7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1FFED32D-816D-48C3-8F89-3B4C47A985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61B0FC58-217F-4E5C-B91E-C089AA4EEF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F776884-5D2A-4F1F-AD2B-E848E22C9F4E}"/>
              </a:ext>
            </a:extLst>
          </p:cNvPr>
          <p:cNvSpPr>
            <a:spLocks noGrp="1"/>
          </p:cNvSpPr>
          <p:nvPr>
            <p:ph type="dt" sz="half" idx="10"/>
          </p:nvPr>
        </p:nvSpPr>
        <p:spPr/>
        <p:txBody>
          <a:bodyPr/>
          <a:lstStyle/>
          <a:p>
            <a:fld id="{42CF74DE-B82D-4B2D-A7DF-514F99B5FBA3}" type="datetimeFigureOut">
              <a:rPr lang="en-AU" smtClean="0"/>
              <a:t>24/06/2019</a:t>
            </a:fld>
            <a:endParaRPr lang="en-AU"/>
          </a:p>
        </p:txBody>
      </p:sp>
      <p:sp>
        <p:nvSpPr>
          <p:cNvPr id="6" name="Footer Placeholder 5">
            <a:extLst>
              <a:ext uri="{FF2B5EF4-FFF2-40B4-BE49-F238E27FC236}">
                <a16:creationId xmlns:a16="http://schemas.microsoft.com/office/drawing/2014/main" id="{0A6601FC-999F-4444-B3B2-9B2E7F89490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A9F553C-A977-4034-B2CA-A9BEB5773D56}"/>
              </a:ext>
            </a:extLst>
          </p:cNvPr>
          <p:cNvSpPr>
            <a:spLocks noGrp="1"/>
          </p:cNvSpPr>
          <p:nvPr>
            <p:ph type="sldNum" sz="quarter" idx="12"/>
          </p:nvPr>
        </p:nvSpPr>
        <p:spPr/>
        <p:txBody>
          <a:bodyPr/>
          <a:lstStyle/>
          <a:p>
            <a:fld id="{D8ED1C9B-08A9-4EE1-B250-8BF65FB1FD8D}" type="slidenum">
              <a:rPr lang="en-AU" smtClean="0"/>
              <a:t>‹#›</a:t>
            </a:fld>
            <a:endParaRPr lang="en-AU"/>
          </a:p>
        </p:txBody>
      </p:sp>
    </p:spTree>
    <p:extLst>
      <p:ext uri="{BB962C8B-B14F-4D97-AF65-F5344CB8AC3E}">
        <p14:creationId xmlns:p14="http://schemas.microsoft.com/office/powerpoint/2010/main" val="1530782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F5F46-96D9-4149-BCBF-C5FC88B281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774ABB70-8BF2-493B-BF42-25E04F603C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9A7B3C4C-89ED-4D5D-AA9F-8EC867C7B5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153E0C8-9C58-46DA-A838-4C56BA2D91E8}"/>
              </a:ext>
            </a:extLst>
          </p:cNvPr>
          <p:cNvSpPr>
            <a:spLocks noGrp="1"/>
          </p:cNvSpPr>
          <p:nvPr>
            <p:ph type="dt" sz="half" idx="10"/>
          </p:nvPr>
        </p:nvSpPr>
        <p:spPr/>
        <p:txBody>
          <a:bodyPr/>
          <a:lstStyle/>
          <a:p>
            <a:fld id="{42CF74DE-B82D-4B2D-A7DF-514F99B5FBA3}" type="datetimeFigureOut">
              <a:rPr lang="en-AU" smtClean="0"/>
              <a:t>24/06/2019</a:t>
            </a:fld>
            <a:endParaRPr lang="en-AU"/>
          </a:p>
        </p:txBody>
      </p:sp>
      <p:sp>
        <p:nvSpPr>
          <p:cNvPr id="6" name="Footer Placeholder 5">
            <a:extLst>
              <a:ext uri="{FF2B5EF4-FFF2-40B4-BE49-F238E27FC236}">
                <a16:creationId xmlns:a16="http://schemas.microsoft.com/office/drawing/2014/main" id="{1A72E72B-F605-4ECB-9810-FBFD41AF5DD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AD46616-F83B-4B0E-9E8E-52C4F462465D}"/>
              </a:ext>
            </a:extLst>
          </p:cNvPr>
          <p:cNvSpPr>
            <a:spLocks noGrp="1"/>
          </p:cNvSpPr>
          <p:nvPr>
            <p:ph type="sldNum" sz="quarter" idx="12"/>
          </p:nvPr>
        </p:nvSpPr>
        <p:spPr/>
        <p:txBody>
          <a:bodyPr/>
          <a:lstStyle/>
          <a:p>
            <a:fld id="{D8ED1C9B-08A9-4EE1-B250-8BF65FB1FD8D}" type="slidenum">
              <a:rPr lang="en-AU" smtClean="0"/>
              <a:t>‹#›</a:t>
            </a:fld>
            <a:endParaRPr lang="en-AU"/>
          </a:p>
        </p:txBody>
      </p:sp>
    </p:spTree>
    <p:extLst>
      <p:ext uri="{BB962C8B-B14F-4D97-AF65-F5344CB8AC3E}">
        <p14:creationId xmlns:p14="http://schemas.microsoft.com/office/powerpoint/2010/main" val="2496826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64EE9-2F2A-439B-BA74-503034111B0C}"/>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EA48F51-74CE-4FFB-8E05-43AF63F3B45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6D2C518-0CF0-46F0-A671-B918C092BD48}"/>
              </a:ext>
            </a:extLst>
          </p:cNvPr>
          <p:cNvSpPr>
            <a:spLocks noGrp="1"/>
          </p:cNvSpPr>
          <p:nvPr>
            <p:ph type="dt" sz="half" idx="10"/>
          </p:nvPr>
        </p:nvSpPr>
        <p:spPr/>
        <p:txBody>
          <a:bodyPr/>
          <a:lstStyle/>
          <a:p>
            <a:fld id="{42CF74DE-B82D-4B2D-A7DF-514F99B5FBA3}" type="datetimeFigureOut">
              <a:rPr lang="en-AU" smtClean="0"/>
              <a:t>24/06/2019</a:t>
            </a:fld>
            <a:endParaRPr lang="en-AU"/>
          </a:p>
        </p:txBody>
      </p:sp>
      <p:sp>
        <p:nvSpPr>
          <p:cNvPr id="5" name="Footer Placeholder 4">
            <a:extLst>
              <a:ext uri="{FF2B5EF4-FFF2-40B4-BE49-F238E27FC236}">
                <a16:creationId xmlns:a16="http://schemas.microsoft.com/office/drawing/2014/main" id="{4AF8DACD-A3A0-407E-BD89-A822DA57CDC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C8D7794-9A9B-404E-987A-3616083B6145}"/>
              </a:ext>
            </a:extLst>
          </p:cNvPr>
          <p:cNvSpPr>
            <a:spLocks noGrp="1"/>
          </p:cNvSpPr>
          <p:nvPr>
            <p:ph type="sldNum" sz="quarter" idx="12"/>
          </p:nvPr>
        </p:nvSpPr>
        <p:spPr/>
        <p:txBody>
          <a:bodyPr/>
          <a:lstStyle/>
          <a:p>
            <a:fld id="{D8ED1C9B-08A9-4EE1-B250-8BF65FB1FD8D}" type="slidenum">
              <a:rPr lang="en-AU" smtClean="0"/>
              <a:t>‹#›</a:t>
            </a:fld>
            <a:endParaRPr lang="en-AU"/>
          </a:p>
        </p:txBody>
      </p:sp>
    </p:spTree>
    <p:extLst>
      <p:ext uri="{BB962C8B-B14F-4D97-AF65-F5344CB8AC3E}">
        <p14:creationId xmlns:p14="http://schemas.microsoft.com/office/powerpoint/2010/main" val="2228615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2AC19E-0F7E-4835-8D62-492AA0CF27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9A98880-6DB3-4A03-A664-AA3FF5F9E14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CC58D50-9D2B-4DBF-BE5B-C373FE29BC24}"/>
              </a:ext>
            </a:extLst>
          </p:cNvPr>
          <p:cNvSpPr>
            <a:spLocks noGrp="1"/>
          </p:cNvSpPr>
          <p:nvPr>
            <p:ph type="dt" sz="half" idx="10"/>
          </p:nvPr>
        </p:nvSpPr>
        <p:spPr/>
        <p:txBody>
          <a:bodyPr/>
          <a:lstStyle/>
          <a:p>
            <a:fld id="{42CF74DE-B82D-4B2D-A7DF-514F99B5FBA3}" type="datetimeFigureOut">
              <a:rPr lang="en-AU" smtClean="0"/>
              <a:t>24/06/2019</a:t>
            </a:fld>
            <a:endParaRPr lang="en-AU"/>
          </a:p>
        </p:txBody>
      </p:sp>
      <p:sp>
        <p:nvSpPr>
          <p:cNvPr id="5" name="Footer Placeholder 4">
            <a:extLst>
              <a:ext uri="{FF2B5EF4-FFF2-40B4-BE49-F238E27FC236}">
                <a16:creationId xmlns:a16="http://schemas.microsoft.com/office/drawing/2014/main" id="{0D8EB5F0-93BE-4347-9AB0-B646F97D806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EC5E51C-FCBF-425A-B046-16DFBDA88F81}"/>
              </a:ext>
            </a:extLst>
          </p:cNvPr>
          <p:cNvSpPr>
            <a:spLocks noGrp="1"/>
          </p:cNvSpPr>
          <p:nvPr>
            <p:ph type="sldNum" sz="quarter" idx="12"/>
          </p:nvPr>
        </p:nvSpPr>
        <p:spPr/>
        <p:txBody>
          <a:bodyPr/>
          <a:lstStyle/>
          <a:p>
            <a:fld id="{D8ED1C9B-08A9-4EE1-B250-8BF65FB1FD8D}" type="slidenum">
              <a:rPr lang="en-AU" smtClean="0"/>
              <a:t>‹#›</a:t>
            </a:fld>
            <a:endParaRPr lang="en-AU"/>
          </a:p>
        </p:txBody>
      </p:sp>
    </p:spTree>
    <p:extLst>
      <p:ext uri="{BB962C8B-B14F-4D97-AF65-F5344CB8AC3E}">
        <p14:creationId xmlns:p14="http://schemas.microsoft.com/office/powerpoint/2010/main" val="3949611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A42E88-7958-42B7-8857-3B0E5A4EB5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68ECBCE-DBD6-4610-91E7-45F30E165E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ABCC94B-C421-47CF-8ADB-9664D0D355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CF74DE-B82D-4B2D-A7DF-514F99B5FBA3}" type="datetimeFigureOut">
              <a:rPr lang="en-AU" smtClean="0"/>
              <a:t>24/06/2019</a:t>
            </a:fld>
            <a:endParaRPr lang="en-AU"/>
          </a:p>
        </p:txBody>
      </p:sp>
      <p:sp>
        <p:nvSpPr>
          <p:cNvPr id="5" name="Footer Placeholder 4">
            <a:extLst>
              <a:ext uri="{FF2B5EF4-FFF2-40B4-BE49-F238E27FC236}">
                <a16:creationId xmlns:a16="http://schemas.microsoft.com/office/drawing/2014/main" id="{189F31F1-92FF-43E9-B88C-2ED3EECD73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145DAF31-B0B7-473F-B874-A465A4D5DB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ED1C9B-08A9-4EE1-B250-8BF65FB1FD8D}" type="slidenum">
              <a:rPr lang="en-AU" smtClean="0"/>
              <a:t>‹#›</a:t>
            </a:fld>
            <a:endParaRPr lang="en-AU"/>
          </a:p>
        </p:txBody>
      </p:sp>
    </p:spTree>
    <p:extLst>
      <p:ext uri="{BB962C8B-B14F-4D97-AF65-F5344CB8AC3E}">
        <p14:creationId xmlns:p14="http://schemas.microsoft.com/office/powerpoint/2010/main" val="35360854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7.xml"/><Relationship Id="rId4" Type="http://schemas.openxmlformats.org/officeDocument/2006/relationships/image" Target="../media/image6.gif"/></Relationships>
</file>

<file path=ppt/slides/_rels/slide8.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CF688-4D46-46E2-A5C2-93654C4CB3C0}"/>
              </a:ext>
            </a:extLst>
          </p:cNvPr>
          <p:cNvSpPr>
            <a:spLocks noGrp="1"/>
          </p:cNvSpPr>
          <p:nvPr>
            <p:ph type="ctrTitle"/>
          </p:nvPr>
        </p:nvSpPr>
        <p:spPr/>
        <p:txBody>
          <a:bodyPr/>
          <a:lstStyle/>
          <a:p>
            <a:r>
              <a:rPr lang="en-AU" dirty="0"/>
              <a:t>Line of best fit and correlation</a:t>
            </a:r>
          </a:p>
        </p:txBody>
      </p:sp>
    </p:spTree>
    <p:extLst>
      <p:ext uri="{BB962C8B-B14F-4D97-AF65-F5344CB8AC3E}">
        <p14:creationId xmlns:p14="http://schemas.microsoft.com/office/powerpoint/2010/main" val="198750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3" name="Picture 1">
            <a:extLst>
              <a:ext uri="{FF2B5EF4-FFF2-40B4-BE49-F238E27FC236}">
                <a16:creationId xmlns:a16="http://schemas.microsoft.com/office/drawing/2014/main" id="{22CCC21B-0F46-4F74-A893-5553D01D8A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10" t="20016" r="9985" b="5002"/>
          <a:stretch>
            <a:fillRect/>
          </a:stretch>
        </p:blipFill>
        <p:spPr bwMode="auto">
          <a:xfrm>
            <a:off x="6230435" y="0"/>
            <a:ext cx="4520692" cy="4816816"/>
          </a:xfrm>
          <a:prstGeom prst="rect">
            <a:avLst/>
          </a:prstGeom>
          <a:noFill/>
          <a:ln>
            <a:noFill/>
          </a:ln>
          <a:effectLst/>
          <a:extLst>
            <a:ext uri="{909E8E84-426E-40DD-AFC4-6F175D3DCCD1}">
              <a14:hiddenFill xmlns:a14="http://schemas.microsoft.com/office/drawing/2010/main">
                <a:blipFill dpi="0" rotWithShape="0">
                  <a:blip/>
                  <a:srcRect l="2110" t="20016" r="9985" b="5002"/>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194" name="Rectangle 2">
            <a:extLst>
              <a:ext uri="{FF2B5EF4-FFF2-40B4-BE49-F238E27FC236}">
                <a16:creationId xmlns:a16="http://schemas.microsoft.com/office/drawing/2014/main" id="{B8DBF857-DE17-43B0-99D3-EBC73E2BA2BD}"/>
              </a:ext>
            </a:extLst>
          </p:cNvPr>
          <p:cNvSpPr>
            <a:spLocks noGrp="1" noChangeArrowheads="1"/>
          </p:cNvSpPr>
          <p:nvPr>
            <p:ph type="title"/>
          </p:nvPr>
        </p:nvSpPr>
        <p:spPr>
          <a:xfrm>
            <a:off x="0" y="0"/>
            <a:ext cx="8229024" cy="1144920"/>
          </a:xfrm>
          <a:ln/>
        </p:spPr>
        <p:txBody>
          <a:bodyPr vert="horz" lIns="91440" tIns="35271" rIns="91440" bIns="45720" rtlCol="0" anchor="ctr">
            <a:normAutofit/>
          </a:bodyPr>
          <a:lstStyle/>
          <a:p>
            <a:pPr>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a:t>The Line of Best Fit</a:t>
            </a:r>
          </a:p>
        </p:txBody>
      </p:sp>
      <p:sp>
        <p:nvSpPr>
          <p:cNvPr id="8197" name="Text Box 5">
            <a:extLst>
              <a:ext uri="{FF2B5EF4-FFF2-40B4-BE49-F238E27FC236}">
                <a16:creationId xmlns:a16="http://schemas.microsoft.com/office/drawing/2014/main" id="{B9789A84-B8FE-4C5B-A908-68E3E542EABF}"/>
              </a:ext>
            </a:extLst>
          </p:cNvPr>
          <p:cNvSpPr txBox="1">
            <a:spLocks noChangeArrowheads="1"/>
          </p:cNvSpPr>
          <p:nvPr/>
        </p:nvSpPr>
        <p:spPr bwMode="auto">
          <a:xfrm>
            <a:off x="623455" y="5012821"/>
            <a:ext cx="10848109" cy="26903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646" tIns="60092" rIns="81646" bIns="40823"/>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cs typeface="Arial Unicode MS"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cs typeface="Arial Unicode MS"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cs typeface="Arial Unicode MS"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cs typeface="Arial Unicode MS"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cs typeface="Arial Unicode MS"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cs typeface="Arial Unicode MS"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cs typeface="Arial Unicode MS"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cs typeface="Arial Unicode MS"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000000"/>
                </a:solidFill>
                <a:latin typeface="Arial" panose="020B0604020202020204" pitchFamily="34" charset="0"/>
                <a:cs typeface="Arial Unicode MS" charset="0"/>
              </a:defRPr>
            </a:lvl9pPr>
          </a:lstStyle>
          <a:p>
            <a:pPr>
              <a:buSzPct val="45000"/>
            </a:pPr>
            <a:r>
              <a:rPr lang="en-GB" altLang="en-US" sz="2177" dirty="0"/>
              <a:t>When there is a connection between two sets of data, we can draw a </a:t>
            </a:r>
            <a:r>
              <a:rPr lang="en-GB" altLang="en-US" sz="2177" b="1" dirty="0"/>
              <a:t>line of best fit</a:t>
            </a:r>
            <a:r>
              <a:rPr lang="en-GB" altLang="en-US" sz="2177" dirty="0"/>
              <a:t>. </a:t>
            </a:r>
          </a:p>
          <a:p>
            <a:pPr>
              <a:buSzPct val="45000"/>
            </a:pPr>
            <a:r>
              <a:rPr lang="en-GB" altLang="en-US" sz="2177" dirty="0"/>
              <a:t>The line of best fit shows the </a:t>
            </a:r>
            <a:r>
              <a:rPr lang="en-GB" altLang="en-US" sz="2177" b="1" dirty="0"/>
              <a:t>general trend </a:t>
            </a:r>
            <a:r>
              <a:rPr lang="en-GB" altLang="en-US" sz="2177" dirty="0"/>
              <a:t>of the data.</a:t>
            </a:r>
          </a:p>
          <a:p>
            <a:pPr>
              <a:buSzPct val="45000"/>
            </a:pPr>
            <a:r>
              <a:rPr lang="en-GB" altLang="en-US" sz="2177" dirty="0"/>
              <a:t>You can draw the line wherever you think it fits best..</a:t>
            </a:r>
          </a:p>
          <a:p>
            <a:pPr>
              <a:buSzPct val="45000"/>
            </a:pPr>
            <a:r>
              <a:rPr lang="en-GB" altLang="en-US" sz="2177" dirty="0"/>
              <a:t>  ...but some lines are better than others!</a:t>
            </a:r>
          </a:p>
        </p:txBody>
      </p:sp>
    </p:spTree>
    <p:extLst>
      <p:ext uri="{BB962C8B-B14F-4D97-AF65-F5344CB8AC3E}">
        <p14:creationId xmlns:p14="http://schemas.microsoft.com/office/powerpoint/2010/main" val="408089602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5E5D3-CCAB-42B6-87EC-0BF77E88C5C4}"/>
              </a:ext>
            </a:extLst>
          </p:cNvPr>
          <p:cNvSpPr>
            <a:spLocks noGrp="1"/>
          </p:cNvSpPr>
          <p:nvPr>
            <p:ph type="title"/>
          </p:nvPr>
        </p:nvSpPr>
        <p:spPr>
          <a:xfrm>
            <a:off x="1156854" y="5089525"/>
            <a:ext cx="10515600" cy="1325563"/>
          </a:xfrm>
        </p:spPr>
        <p:txBody>
          <a:bodyPr>
            <a:noAutofit/>
          </a:bodyPr>
          <a:lstStyle/>
          <a:p>
            <a:r>
              <a:rPr lang="en-AU" sz="2800" dirty="0"/>
              <a:t>A line of best fit by eye is drawn through the scatterplot so that an equal number of points lie on either side of the line and are approximately the same distance from the line.</a:t>
            </a:r>
          </a:p>
        </p:txBody>
      </p:sp>
      <p:pic>
        <p:nvPicPr>
          <p:cNvPr id="4" name="Picture 3">
            <a:extLst>
              <a:ext uri="{FF2B5EF4-FFF2-40B4-BE49-F238E27FC236}">
                <a16:creationId xmlns:a16="http://schemas.microsoft.com/office/drawing/2014/main" id="{E750E27F-0509-4678-AAD4-C90850F732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0204" y="223147"/>
            <a:ext cx="7551592" cy="462474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122767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67100" y="148591"/>
            <a:ext cx="5378117" cy="1089529"/>
          </a:xfrm>
          <a:prstGeom prst="rect">
            <a:avLst/>
          </a:prstGeom>
          <a:noFill/>
        </p:spPr>
        <p:txBody>
          <a:bodyPr vert="horz" rtlCol="0">
            <a:spAutoFit/>
          </a:bodyPr>
          <a:lstStyle/>
          <a:p>
            <a:pPr algn="ctr"/>
            <a:r>
              <a:rPr lang="en-GB" sz="3240" b="1">
                <a:solidFill>
                  <a:srgbClr val="000000"/>
                </a:solidFill>
                <a:latin typeface="Trebuchet MS - 48"/>
              </a:rPr>
              <a:t>What would you expect to happen?</a:t>
            </a:r>
          </a:p>
        </p:txBody>
      </p:sp>
      <p:sp>
        <p:nvSpPr>
          <p:cNvPr id="3" name="TextBox 2"/>
          <p:cNvSpPr txBox="1"/>
          <p:nvPr/>
        </p:nvSpPr>
        <p:spPr>
          <a:xfrm>
            <a:off x="665019" y="2462646"/>
            <a:ext cx="10515600" cy="3046988"/>
          </a:xfrm>
          <a:prstGeom prst="rect">
            <a:avLst/>
          </a:prstGeom>
          <a:noFill/>
        </p:spPr>
        <p:txBody>
          <a:bodyPr vert="horz" wrap="square" rtlCol="0">
            <a:spAutoFit/>
          </a:bodyPr>
          <a:lstStyle/>
          <a:p>
            <a:pPr algn="ctr"/>
            <a:r>
              <a:rPr lang="en-GB" sz="2400" dirty="0">
                <a:solidFill>
                  <a:srgbClr val="000000"/>
                </a:solidFill>
                <a:latin typeface="Trebuchet MS - 28"/>
              </a:rPr>
              <a:t>Look at the situations below and describe what you think might happen in each case:</a:t>
            </a:r>
          </a:p>
          <a:p>
            <a:pPr algn="ctr"/>
            <a:endParaRPr lang="en-GB" sz="2400" dirty="0">
              <a:solidFill>
                <a:srgbClr val="000000"/>
              </a:solidFill>
              <a:latin typeface="Trebuchet MS - 28"/>
            </a:endParaRPr>
          </a:p>
          <a:p>
            <a:pPr algn="ctr"/>
            <a:r>
              <a:rPr lang="en-GB" sz="2400" dirty="0">
                <a:solidFill>
                  <a:srgbClr val="000000"/>
                </a:solidFill>
                <a:latin typeface="Trebuchet MS - 28"/>
              </a:rPr>
              <a:t>1. The sales of ice creams as the temperature rises during the summer.</a:t>
            </a:r>
          </a:p>
          <a:p>
            <a:pPr algn="ctr"/>
            <a:endParaRPr lang="en-GB" sz="2400" dirty="0">
              <a:solidFill>
                <a:srgbClr val="000000"/>
              </a:solidFill>
              <a:latin typeface="Trebuchet MS - 28"/>
            </a:endParaRPr>
          </a:p>
          <a:p>
            <a:pPr algn="ctr"/>
            <a:r>
              <a:rPr lang="en-GB" sz="2400" dirty="0">
                <a:solidFill>
                  <a:srgbClr val="000000"/>
                </a:solidFill>
                <a:latin typeface="Trebuchet MS - 28"/>
              </a:rPr>
              <a:t>2. The value of a mobile phone as it gets older.</a:t>
            </a:r>
          </a:p>
          <a:p>
            <a:pPr algn="ctr"/>
            <a:endParaRPr lang="en-GB" sz="2400" dirty="0">
              <a:solidFill>
                <a:srgbClr val="000000"/>
              </a:solidFill>
              <a:latin typeface="Trebuchet MS - 28"/>
            </a:endParaRPr>
          </a:p>
          <a:p>
            <a:pPr algn="ctr"/>
            <a:r>
              <a:rPr lang="en-GB" sz="2400" dirty="0">
                <a:solidFill>
                  <a:srgbClr val="000000"/>
                </a:solidFill>
                <a:latin typeface="Trebuchet MS - 28"/>
              </a:rPr>
              <a:t>3. The amount you'll get in a maths test the further you live from school.</a:t>
            </a:r>
          </a:p>
        </p:txBody>
      </p:sp>
    </p:spTree>
    <p:extLst>
      <p:ext uri="{BB962C8B-B14F-4D97-AF65-F5344CB8AC3E}">
        <p14:creationId xmlns:p14="http://schemas.microsoft.com/office/powerpoint/2010/main" val="2980187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46910" y="80010"/>
            <a:ext cx="8093192" cy="590931"/>
          </a:xfrm>
          <a:prstGeom prst="rect">
            <a:avLst/>
          </a:prstGeom>
          <a:noFill/>
        </p:spPr>
        <p:txBody>
          <a:bodyPr vert="horz" rtlCol="0">
            <a:spAutoFit/>
          </a:bodyPr>
          <a:lstStyle/>
          <a:p>
            <a:pPr algn="ctr"/>
            <a:r>
              <a:rPr lang="en-GB" sz="3240" b="1">
                <a:solidFill>
                  <a:srgbClr val="000000"/>
                </a:solidFill>
                <a:latin typeface="Trebuchet MS - 48"/>
              </a:rPr>
              <a:t>What do scatter graphs tell us?</a:t>
            </a:r>
          </a:p>
        </p:txBody>
      </p:sp>
      <p:sp>
        <p:nvSpPr>
          <p:cNvPr id="3" name="TextBox 2"/>
          <p:cNvSpPr txBox="1"/>
          <p:nvPr/>
        </p:nvSpPr>
        <p:spPr>
          <a:xfrm>
            <a:off x="1674868" y="868681"/>
            <a:ext cx="8842263" cy="707886"/>
          </a:xfrm>
          <a:prstGeom prst="rect">
            <a:avLst/>
          </a:prstGeom>
          <a:noFill/>
        </p:spPr>
        <p:txBody>
          <a:bodyPr vert="horz" rtlCol="0">
            <a:spAutoFit/>
          </a:bodyPr>
          <a:lstStyle/>
          <a:p>
            <a:pPr algn="ctr"/>
            <a:r>
              <a:rPr lang="en-GB" sz="2000" dirty="0">
                <a:solidFill>
                  <a:srgbClr val="000000"/>
                </a:solidFill>
                <a:latin typeface="Trebuchet MS - 24"/>
              </a:rPr>
              <a:t>There are basically 3 types of correlation:</a:t>
            </a:r>
          </a:p>
          <a:p>
            <a:pPr algn="ctr"/>
            <a:r>
              <a:rPr lang="en-GB" sz="2000" dirty="0">
                <a:solidFill>
                  <a:srgbClr val="000000"/>
                </a:solidFill>
                <a:latin typeface="Trebuchet MS - 24"/>
              </a:rPr>
              <a:t>P</a:t>
            </a:r>
            <a:r>
              <a:rPr lang="en-GB" sz="2000" b="1" dirty="0">
                <a:solidFill>
                  <a:srgbClr val="005500"/>
                </a:solidFill>
                <a:latin typeface="Trebuchet MS - 24"/>
              </a:rPr>
              <a:t>ositive, Negative and No Correlation</a:t>
            </a:r>
          </a:p>
        </p:txBody>
      </p:sp>
      <p:pic>
        <p:nvPicPr>
          <p:cNvPr id="4" name="Picture 3"/>
          <p:cNvPicPr>
            <a:picLocks/>
          </p:cNvPicPr>
          <p:nvPr/>
        </p:nvPicPr>
        <p:blipFill>
          <a:blip r:embed="rId2">
            <a:extLst>
              <a:ext uri="{28A0092B-C50C-407E-A947-70E740481C1C}">
                <a14:useLocalDpi xmlns:a14="http://schemas.microsoft.com/office/drawing/2010/main" val="0"/>
              </a:ext>
            </a:extLst>
          </a:blip>
          <a:stretch>
            <a:fillRect/>
          </a:stretch>
        </p:blipFill>
        <p:spPr>
          <a:xfrm>
            <a:off x="1946910" y="1576567"/>
            <a:ext cx="7148946" cy="5126182"/>
          </a:xfrm>
          <a:prstGeom prst="rect">
            <a:avLst/>
          </a:prstGeom>
          <a:solidFill>
            <a:scrgbClr r="0" g="0" b="0">
              <a:alpha val="0"/>
            </a:scrgbClr>
          </a:solidFill>
        </p:spPr>
      </p:pic>
      <p:sp>
        <p:nvSpPr>
          <p:cNvPr id="5" name="TextBox 4"/>
          <p:cNvSpPr txBox="1"/>
          <p:nvPr/>
        </p:nvSpPr>
        <p:spPr>
          <a:xfrm>
            <a:off x="8560793" y="2447405"/>
            <a:ext cx="2384298" cy="840230"/>
          </a:xfrm>
          <a:prstGeom prst="rect">
            <a:avLst/>
          </a:prstGeom>
          <a:noFill/>
        </p:spPr>
        <p:txBody>
          <a:bodyPr vert="horz" rtlCol="0">
            <a:spAutoFit/>
          </a:bodyPr>
          <a:lstStyle/>
          <a:p>
            <a:pPr algn="ctr"/>
            <a:r>
              <a:rPr lang="en-GB" sz="1620" dirty="0">
                <a:solidFill>
                  <a:srgbClr val="0000FF"/>
                </a:solidFill>
                <a:latin typeface="Trebuchet MS - 24"/>
              </a:rPr>
              <a:t>The more in line the points, the stronger the correlation. </a:t>
            </a:r>
          </a:p>
        </p:txBody>
      </p:sp>
    </p:spTree>
    <p:extLst>
      <p:ext uri="{BB962C8B-B14F-4D97-AF65-F5344CB8AC3E}">
        <p14:creationId xmlns:p14="http://schemas.microsoft.com/office/powerpoint/2010/main" val="2451241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09750" y="274320"/>
            <a:ext cx="8423609" cy="840230"/>
          </a:xfrm>
          <a:prstGeom prst="rect">
            <a:avLst/>
          </a:prstGeom>
          <a:noFill/>
        </p:spPr>
        <p:txBody>
          <a:bodyPr vert="horz" rtlCol="0">
            <a:spAutoFit/>
          </a:bodyPr>
          <a:lstStyle/>
          <a:p>
            <a:pPr algn="ctr"/>
            <a:r>
              <a:rPr lang="en-GB" sz="2430" b="1">
                <a:solidFill>
                  <a:srgbClr val="000000"/>
                </a:solidFill>
                <a:latin typeface="Trebuchet MS - 36"/>
              </a:rPr>
              <a:t>What do you think the correlation might be in these situations?</a:t>
            </a:r>
          </a:p>
        </p:txBody>
      </p:sp>
      <p:sp>
        <p:nvSpPr>
          <p:cNvPr id="3" name="TextBox 2"/>
          <p:cNvSpPr txBox="1"/>
          <p:nvPr/>
        </p:nvSpPr>
        <p:spPr>
          <a:xfrm>
            <a:off x="526473" y="2460915"/>
            <a:ext cx="11194472" cy="3108543"/>
          </a:xfrm>
          <a:prstGeom prst="rect">
            <a:avLst/>
          </a:prstGeom>
          <a:noFill/>
        </p:spPr>
        <p:txBody>
          <a:bodyPr vert="horz" wrap="square" rtlCol="0">
            <a:spAutoFit/>
          </a:bodyPr>
          <a:lstStyle/>
          <a:p>
            <a:pPr algn="ctr"/>
            <a:r>
              <a:rPr lang="en-GB" sz="2800" dirty="0">
                <a:solidFill>
                  <a:srgbClr val="000000"/>
                </a:solidFill>
                <a:latin typeface="Trebuchet MS - 28"/>
              </a:rPr>
              <a:t>1. The sales of ice creams as the temperature rises during the summer.</a:t>
            </a:r>
          </a:p>
          <a:p>
            <a:pPr algn="ctr"/>
            <a:endParaRPr lang="en-GB" sz="2800" dirty="0">
              <a:solidFill>
                <a:srgbClr val="000000"/>
              </a:solidFill>
              <a:latin typeface="Trebuchet MS - 28"/>
            </a:endParaRPr>
          </a:p>
          <a:p>
            <a:pPr algn="ctr"/>
            <a:r>
              <a:rPr lang="en-GB" sz="2800" dirty="0">
                <a:solidFill>
                  <a:srgbClr val="000000"/>
                </a:solidFill>
                <a:latin typeface="Trebuchet MS - 28"/>
              </a:rPr>
              <a:t>2. The value of a mobile phone as it gets older.</a:t>
            </a:r>
          </a:p>
          <a:p>
            <a:pPr algn="ctr"/>
            <a:endParaRPr lang="en-GB" sz="2800" dirty="0">
              <a:solidFill>
                <a:srgbClr val="000000"/>
              </a:solidFill>
              <a:latin typeface="Trebuchet MS - 28"/>
            </a:endParaRPr>
          </a:p>
          <a:p>
            <a:pPr algn="ctr"/>
            <a:r>
              <a:rPr lang="en-GB" sz="2800" dirty="0">
                <a:solidFill>
                  <a:srgbClr val="000000"/>
                </a:solidFill>
                <a:latin typeface="Trebuchet MS - 28"/>
              </a:rPr>
              <a:t>3. The amount you'll get in a maths test the further you live from school.</a:t>
            </a:r>
          </a:p>
        </p:txBody>
      </p:sp>
    </p:spTree>
    <p:extLst>
      <p:ext uri="{BB962C8B-B14F-4D97-AF65-F5344CB8AC3E}">
        <p14:creationId xmlns:p14="http://schemas.microsoft.com/office/powerpoint/2010/main" val="2337491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52651" y="125730"/>
            <a:ext cx="7438524" cy="466281"/>
          </a:xfrm>
          <a:prstGeom prst="rect">
            <a:avLst/>
          </a:prstGeom>
          <a:noFill/>
        </p:spPr>
        <p:txBody>
          <a:bodyPr vert="horz" rtlCol="0">
            <a:spAutoFit/>
          </a:bodyPr>
          <a:lstStyle/>
          <a:p>
            <a:pPr algn="ctr"/>
            <a:r>
              <a:rPr lang="en-GB" sz="2430">
                <a:solidFill>
                  <a:srgbClr val="000000"/>
                </a:solidFill>
                <a:latin typeface="Trebuchet MS - 36"/>
              </a:rPr>
              <a:t>Describe the correlation of these scatter graphs:</a:t>
            </a:r>
          </a:p>
        </p:txBody>
      </p:sp>
      <p:pic>
        <p:nvPicPr>
          <p:cNvPr id="3" name="Picture 2"/>
          <p:cNvPicPr>
            <a:picLocks/>
          </p:cNvPicPr>
          <p:nvPr/>
        </p:nvPicPr>
        <p:blipFill>
          <a:blip r:embed="rId2">
            <a:extLst>
              <a:ext uri="{28A0092B-C50C-407E-A947-70E740481C1C}">
                <a14:useLocalDpi xmlns:a14="http://schemas.microsoft.com/office/drawing/2010/main" val="0"/>
              </a:ext>
            </a:extLst>
          </a:blip>
          <a:stretch>
            <a:fillRect/>
          </a:stretch>
        </p:blipFill>
        <p:spPr>
          <a:xfrm>
            <a:off x="6393180" y="1234440"/>
            <a:ext cx="3145554" cy="2368434"/>
          </a:xfrm>
          <a:prstGeom prst="rect">
            <a:avLst/>
          </a:prstGeom>
          <a:solidFill>
            <a:scrgbClr r="0" g="0" b="0">
              <a:alpha val="0"/>
            </a:scrgbClr>
          </a:solidFill>
        </p:spPr>
      </p:pic>
      <p:pic>
        <p:nvPicPr>
          <p:cNvPr id="4" name="Picture 3"/>
          <p:cNvPicPr>
            <a:picLocks/>
          </p:cNvPicPr>
          <p:nvPr/>
        </p:nvPicPr>
        <p:blipFill>
          <a:blip r:embed="rId3">
            <a:extLst>
              <a:ext uri="{28A0092B-C50C-407E-A947-70E740481C1C}">
                <a14:useLocalDpi xmlns:a14="http://schemas.microsoft.com/office/drawing/2010/main" val="0"/>
              </a:ext>
            </a:extLst>
          </a:blip>
          <a:stretch>
            <a:fillRect/>
          </a:stretch>
        </p:blipFill>
        <p:spPr>
          <a:xfrm>
            <a:off x="2221230" y="1211581"/>
            <a:ext cx="3586136" cy="2407911"/>
          </a:xfrm>
          <a:prstGeom prst="rect">
            <a:avLst/>
          </a:prstGeom>
          <a:solidFill>
            <a:scrgbClr r="0" g="0" b="0">
              <a:alpha val="0"/>
            </a:scrgbClr>
          </a:solidFill>
        </p:spPr>
      </p:pic>
      <p:pic>
        <p:nvPicPr>
          <p:cNvPr id="5" name="Picture 4"/>
          <p:cNvPicPr>
            <a:picLocks/>
          </p:cNvPicPr>
          <p:nvPr/>
        </p:nvPicPr>
        <p:blipFill>
          <a:blip r:embed="rId4">
            <a:extLst>
              <a:ext uri="{28A0092B-C50C-407E-A947-70E740481C1C}">
                <a14:useLocalDpi xmlns:a14="http://schemas.microsoft.com/office/drawing/2010/main" val="0"/>
              </a:ext>
            </a:extLst>
          </a:blip>
          <a:stretch>
            <a:fillRect/>
          </a:stretch>
        </p:blipFill>
        <p:spPr>
          <a:xfrm>
            <a:off x="4404360" y="3669031"/>
            <a:ext cx="3229250" cy="2856237"/>
          </a:xfrm>
          <a:prstGeom prst="rect">
            <a:avLst/>
          </a:prstGeom>
          <a:solidFill>
            <a:scrgbClr r="0" g="0" b="0">
              <a:alpha val="0"/>
            </a:scrgbClr>
          </a:solidFill>
        </p:spPr>
      </p:pic>
    </p:spTree>
    <p:extLst>
      <p:ext uri="{BB962C8B-B14F-4D97-AF65-F5344CB8AC3E}">
        <p14:creationId xmlns:p14="http://schemas.microsoft.com/office/powerpoint/2010/main" val="3586480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D1DD97-57FC-48BD-ACC7-39AA365554D4}"/>
              </a:ext>
            </a:extLst>
          </p:cNvPr>
          <p:cNvSpPr txBox="1"/>
          <p:nvPr/>
        </p:nvSpPr>
        <p:spPr>
          <a:xfrm>
            <a:off x="3704203" y="50330"/>
            <a:ext cx="5184576" cy="523220"/>
          </a:xfrm>
          <a:prstGeom prst="rect">
            <a:avLst/>
          </a:prstGeom>
          <a:noFill/>
        </p:spPr>
        <p:txBody>
          <a:bodyPr wrap="square" rtlCol="0">
            <a:spAutoFit/>
          </a:bodyPr>
          <a:lstStyle/>
          <a:p>
            <a:r>
              <a:rPr lang="en-AU" sz="2800" dirty="0"/>
              <a:t>Correlation vs Causation</a:t>
            </a:r>
          </a:p>
        </p:txBody>
      </p:sp>
      <p:sp>
        <p:nvSpPr>
          <p:cNvPr id="3" name="TextBox 2">
            <a:extLst>
              <a:ext uri="{FF2B5EF4-FFF2-40B4-BE49-F238E27FC236}">
                <a16:creationId xmlns:a16="http://schemas.microsoft.com/office/drawing/2014/main" id="{4088372E-A620-4FF6-9E6D-CB5BCAC2E6FD}"/>
              </a:ext>
            </a:extLst>
          </p:cNvPr>
          <p:cNvSpPr txBox="1"/>
          <p:nvPr/>
        </p:nvSpPr>
        <p:spPr>
          <a:xfrm>
            <a:off x="124690" y="481867"/>
            <a:ext cx="11804073" cy="1200329"/>
          </a:xfrm>
          <a:prstGeom prst="rect">
            <a:avLst/>
          </a:prstGeom>
          <a:noFill/>
        </p:spPr>
        <p:txBody>
          <a:bodyPr wrap="square" rtlCol="0">
            <a:spAutoFit/>
          </a:bodyPr>
          <a:lstStyle/>
          <a:p>
            <a:r>
              <a:rPr lang="en-AU" sz="2400" dirty="0"/>
              <a:t>Correlation occurs when 2 sets of data show a trend. A positive correlation means that when one thing goes up, the other goes too. A negative correlation when one goes up, the other goes down.</a:t>
            </a:r>
          </a:p>
        </p:txBody>
      </p:sp>
      <p:pic>
        <p:nvPicPr>
          <p:cNvPr id="4" name="Picture 3">
            <a:extLst>
              <a:ext uri="{FF2B5EF4-FFF2-40B4-BE49-F238E27FC236}">
                <a16:creationId xmlns:a16="http://schemas.microsoft.com/office/drawing/2014/main" id="{DC05A934-B328-4CB0-A385-D6C81EE46DD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131426" y="2244783"/>
            <a:ext cx="3145554" cy="2368434"/>
          </a:xfrm>
          <a:prstGeom prst="rect">
            <a:avLst/>
          </a:prstGeom>
          <a:solidFill>
            <a:scrgbClr r="0" g="0" b="0">
              <a:alpha val="0"/>
            </a:scrgbClr>
          </a:solidFill>
        </p:spPr>
      </p:pic>
      <p:sp>
        <p:nvSpPr>
          <p:cNvPr id="5" name="Rectangle 4">
            <a:extLst>
              <a:ext uri="{FF2B5EF4-FFF2-40B4-BE49-F238E27FC236}">
                <a16:creationId xmlns:a16="http://schemas.microsoft.com/office/drawing/2014/main" id="{A18BBBB4-3BEF-46B4-91A4-B60164897DDE}"/>
              </a:ext>
            </a:extLst>
          </p:cNvPr>
          <p:cNvSpPr/>
          <p:nvPr/>
        </p:nvSpPr>
        <p:spPr>
          <a:xfrm>
            <a:off x="2622743" y="1510491"/>
            <a:ext cx="1811265" cy="341632"/>
          </a:xfrm>
          <a:prstGeom prst="rect">
            <a:avLst/>
          </a:prstGeom>
        </p:spPr>
        <p:txBody>
          <a:bodyPr wrap="none">
            <a:spAutoFit/>
          </a:bodyPr>
          <a:lstStyle/>
          <a:p>
            <a:r>
              <a:rPr lang="en-AU" sz="1620" dirty="0"/>
              <a:t>positive correlation</a:t>
            </a:r>
          </a:p>
        </p:txBody>
      </p:sp>
      <p:pic>
        <p:nvPicPr>
          <p:cNvPr id="6" name="Picture 5">
            <a:extLst>
              <a:ext uri="{FF2B5EF4-FFF2-40B4-BE49-F238E27FC236}">
                <a16:creationId xmlns:a16="http://schemas.microsoft.com/office/drawing/2014/main" id="{53C4536E-D1C8-4C42-A8F9-1350149EDCD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157891" y="1791296"/>
            <a:ext cx="3229250" cy="2856237"/>
          </a:xfrm>
          <a:prstGeom prst="rect">
            <a:avLst/>
          </a:prstGeom>
          <a:solidFill>
            <a:scrgbClr r="0" g="0" b="0">
              <a:alpha val="0"/>
            </a:scrgbClr>
          </a:solidFill>
        </p:spPr>
      </p:pic>
      <p:sp>
        <p:nvSpPr>
          <p:cNvPr id="7" name="Rectangle 6">
            <a:extLst>
              <a:ext uri="{FF2B5EF4-FFF2-40B4-BE49-F238E27FC236}">
                <a16:creationId xmlns:a16="http://schemas.microsoft.com/office/drawing/2014/main" id="{4375BC8A-34B8-4797-9EFC-EC4DAF91ED75}"/>
              </a:ext>
            </a:extLst>
          </p:cNvPr>
          <p:cNvSpPr/>
          <p:nvPr/>
        </p:nvSpPr>
        <p:spPr>
          <a:xfrm>
            <a:off x="6821488" y="1395155"/>
            <a:ext cx="1912896" cy="341632"/>
          </a:xfrm>
          <a:prstGeom prst="rect">
            <a:avLst/>
          </a:prstGeom>
        </p:spPr>
        <p:txBody>
          <a:bodyPr wrap="none">
            <a:spAutoFit/>
          </a:bodyPr>
          <a:lstStyle/>
          <a:p>
            <a:r>
              <a:rPr lang="en-AU" sz="1620" dirty="0"/>
              <a:t>negative correlation </a:t>
            </a:r>
          </a:p>
        </p:txBody>
      </p:sp>
      <p:sp>
        <p:nvSpPr>
          <p:cNvPr id="8" name="Rectangle 7">
            <a:extLst>
              <a:ext uri="{FF2B5EF4-FFF2-40B4-BE49-F238E27FC236}">
                <a16:creationId xmlns:a16="http://schemas.microsoft.com/office/drawing/2014/main" id="{7AA25857-B082-4FB9-BA60-2DCD61820AC1}"/>
              </a:ext>
            </a:extLst>
          </p:cNvPr>
          <p:cNvSpPr/>
          <p:nvPr/>
        </p:nvSpPr>
        <p:spPr>
          <a:xfrm>
            <a:off x="512618" y="5040193"/>
            <a:ext cx="11804073" cy="1569660"/>
          </a:xfrm>
          <a:prstGeom prst="rect">
            <a:avLst/>
          </a:prstGeom>
        </p:spPr>
        <p:txBody>
          <a:bodyPr wrap="square">
            <a:spAutoFit/>
          </a:bodyPr>
          <a:lstStyle/>
          <a:p>
            <a:r>
              <a:rPr lang="en-AU" sz="2400" dirty="0">
                <a:solidFill>
                  <a:srgbClr val="2C3E50"/>
                </a:solidFill>
                <a:latin typeface="Open Sans"/>
              </a:rPr>
              <a:t>Causation, on the other hand, means that one thing will cause the other. </a:t>
            </a:r>
          </a:p>
          <a:p>
            <a:r>
              <a:rPr lang="en-AU" sz="2400" dirty="0">
                <a:solidFill>
                  <a:srgbClr val="2C3E50"/>
                </a:solidFill>
                <a:latin typeface="Open Sans"/>
              </a:rPr>
              <a:t>For example, when you exercise the amount of calories you are burning per minute will go up, as the former is causing the latter.  Just because there is correlation, does not mean one event causes the other.</a:t>
            </a:r>
            <a:endParaRPr lang="en-AU" sz="2400" dirty="0"/>
          </a:p>
        </p:txBody>
      </p:sp>
    </p:spTree>
    <p:extLst>
      <p:ext uri="{BB962C8B-B14F-4D97-AF65-F5344CB8AC3E}">
        <p14:creationId xmlns:p14="http://schemas.microsoft.com/office/powerpoint/2010/main" val="2870226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4F2BAE3-9A5E-405F-91B7-A4F072DE9BC8}"/>
              </a:ext>
            </a:extLst>
          </p:cNvPr>
          <p:cNvPicPr>
            <a:picLocks noChangeAspect="1"/>
          </p:cNvPicPr>
          <p:nvPr/>
        </p:nvPicPr>
        <p:blipFill>
          <a:blip r:embed="rId2"/>
          <a:stretch>
            <a:fillRect/>
          </a:stretch>
        </p:blipFill>
        <p:spPr>
          <a:xfrm>
            <a:off x="2629987" y="1"/>
            <a:ext cx="6932027" cy="3240285"/>
          </a:xfrm>
          <a:prstGeom prst="rect">
            <a:avLst/>
          </a:prstGeom>
        </p:spPr>
      </p:pic>
      <p:sp>
        <p:nvSpPr>
          <p:cNvPr id="3" name="TextBox 2">
            <a:extLst>
              <a:ext uri="{FF2B5EF4-FFF2-40B4-BE49-F238E27FC236}">
                <a16:creationId xmlns:a16="http://schemas.microsoft.com/office/drawing/2014/main" id="{EDD7BDB4-DF6B-4F34-9992-2BE32DAF794B}"/>
              </a:ext>
            </a:extLst>
          </p:cNvPr>
          <p:cNvSpPr txBox="1"/>
          <p:nvPr/>
        </p:nvSpPr>
        <p:spPr>
          <a:xfrm>
            <a:off x="748146" y="3314786"/>
            <a:ext cx="11443854" cy="461665"/>
          </a:xfrm>
          <a:prstGeom prst="rect">
            <a:avLst/>
          </a:prstGeom>
          <a:noFill/>
        </p:spPr>
        <p:txBody>
          <a:bodyPr wrap="square" rtlCol="0">
            <a:spAutoFit/>
          </a:bodyPr>
          <a:lstStyle/>
          <a:p>
            <a:r>
              <a:rPr lang="en-AU" sz="2400" dirty="0"/>
              <a:t>While these 2 graphs show correlation, the 2 events in each do not cause each other </a:t>
            </a:r>
          </a:p>
        </p:txBody>
      </p:sp>
      <p:pic>
        <p:nvPicPr>
          <p:cNvPr id="4" name="Picture 3">
            <a:extLst>
              <a:ext uri="{FF2B5EF4-FFF2-40B4-BE49-F238E27FC236}">
                <a16:creationId xmlns:a16="http://schemas.microsoft.com/office/drawing/2014/main" id="{5A660785-DCD5-46E2-AFB0-714FD9235CE3}"/>
              </a:ext>
            </a:extLst>
          </p:cNvPr>
          <p:cNvPicPr>
            <a:picLocks noChangeAspect="1"/>
          </p:cNvPicPr>
          <p:nvPr/>
        </p:nvPicPr>
        <p:blipFill>
          <a:blip r:embed="rId3"/>
          <a:stretch>
            <a:fillRect/>
          </a:stretch>
        </p:blipFill>
        <p:spPr>
          <a:xfrm>
            <a:off x="2629987" y="3850951"/>
            <a:ext cx="6382337" cy="2965669"/>
          </a:xfrm>
          <a:prstGeom prst="rect">
            <a:avLst/>
          </a:prstGeom>
        </p:spPr>
      </p:pic>
    </p:spTree>
    <p:extLst>
      <p:ext uri="{BB962C8B-B14F-4D97-AF65-F5344CB8AC3E}">
        <p14:creationId xmlns:p14="http://schemas.microsoft.com/office/powerpoint/2010/main" val="2583829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55620" y="45720"/>
            <a:ext cx="5987215" cy="590931"/>
          </a:xfrm>
          <a:prstGeom prst="rect">
            <a:avLst/>
          </a:prstGeom>
          <a:noFill/>
        </p:spPr>
        <p:txBody>
          <a:bodyPr vert="horz" rtlCol="0">
            <a:spAutoFit/>
          </a:bodyPr>
          <a:lstStyle/>
          <a:p>
            <a:pPr algn="ctr"/>
            <a:r>
              <a:rPr lang="en-GB" sz="1620">
                <a:solidFill>
                  <a:srgbClr val="000000"/>
                </a:solidFill>
                <a:latin typeface="Trebuchet MS - 24"/>
              </a:rPr>
              <a:t>Draw a scatter graph of this information and describe the correlation:</a:t>
            </a:r>
          </a:p>
        </p:txBody>
      </p:sp>
      <p:graphicFrame>
        <p:nvGraphicFramePr>
          <p:cNvPr id="3" name="Table 2"/>
          <p:cNvGraphicFramePr>
            <a:graphicFrameLocks noGrp="1"/>
          </p:cNvGraphicFramePr>
          <p:nvPr>
            <p:extLst/>
          </p:nvPr>
        </p:nvGraphicFramePr>
        <p:xfrm>
          <a:off x="2214601" y="742950"/>
          <a:ext cx="7524944" cy="1564538"/>
        </p:xfrm>
        <a:graphic>
          <a:graphicData uri="http://schemas.openxmlformats.org/drawingml/2006/table">
            <a:tbl>
              <a:tblPr firstRow="1" bandRow="1">
                <a:tableStyleId>{5C22544A-7EE6-4342-B048-85BDC9FD1C3A}</a:tableStyleId>
              </a:tblPr>
              <a:tblGrid>
                <a:gridCol w="1933042">
                  <a:extLst>
                    <a:ext uri="{9D8B030D-6E8A-4147-A177-3AD203B41FA5}">
                      <a16:colId xmlns:a16="http://schemas.microsoft.com/office/drawing/2014/main" val="20000"/>
                    </a:ext>
                  </a:extLst>
                </a:gridCol>
                <a:gridCol w="698945">
                  <a:extLst>
                    <a:ext uri="{9D8B030D-6E8A-4147-A177-3AD203B41FA5}">
                      <a16:colId xmlns:a16="http://schemas.microsoft.com/office/drawing/2014/main" val="20001"/>
                    </a:ext>
                  </a:extLst>
                </a:gridCol>
                <a:gridCol w="698945">
                  <a:extLst>
                    <a:ext uri="{9D8B030D-6E8A-4147-A177-3AD203B41FA5}">
                      <a16:colId xmlns:a16="http://schemas.microsoft.com/office/drawing/2014/main" val="20002"/>
                    </a:ext>
                  </a:extLst>
                </a:gridCol>
                <a:gridCol w="699059">
                  <a:extLst>
                    <a:ext uri="{9D8B030D-6E8A-4147-A177-3AD203B41FA5}">
                      <a16:colId xmlns:a16="http://schemas.microsoft.com/office/drawing/2014/main" val="20003"/>
                    </a:ext>
                  </a:extLst>
                </a:gridCol>
                <a:gridCol w="698945">
                  <a:extLst>
                    <a:ext uri="{9D8B030D-6E8A-4147-A177-3AD203B41FA5}">
                      <a16:colId xmlns:a16="http://schemas.microsoft.com/office/drawing/2014/main" val="20004"/>
                    </a:ext>
                  </a:extLst>
                </a:gridCol>
                <a:gridCol w="699059">
                  <a:extLst>
                    <a:ext uri="{9D8B030D-6E8A-4147-A177-3AD203B41FA5}">
                      <a16:colId xmlns:a16="http://schemas.microsoft.com/office/drawing/2014/main" val="20005"/>
                    </a:ext>
                  </a:extLst>
                </a:gridCol>
                <a:gridCol w="699059">
                  <a:extLst>
                    <a:ext uri="{9D8B030D-6E8A-4147-A177-3AD203B41FA5}">
                      <a16:colId xmlns:a16="http://schemas.microsoft.com/office/drawing/2014/main" val="20006"/>
                    </a:ext>
                  </a:extLst>
                </a:gridCol>
                <a:gridCol w="698945">
                  <a:extLst>
                    <a:ext uri="{9D8B030D-6E8A-4147-A177-3AD203B41FA5}">
                      <a16:colId xmlns:a16="http://schemas.microsoft.com/office/drawing/2014/main" val="20007"/>
                    </a:ext>
                  </a:extLst>
                </a:gridCol>
                <a:gridCol w="698945">
                  <a:extLst>
                    <a:ext uri="{9D8B030D-6E8A-4147-A177-3AD203B41FA5}">
                      <a16:colId xmlns:a16="http://schemas.microsoft.com/office/drawing/2014/main" val="20008"/>
                    </a:ext>
                  </a:extLst>
                </a:gridCol>
              </a:tblGrid>
              <a:tr h="490118">
                <a:tc>
                  <a:txBody>
                    <a:bodyPr/>
                    <a:lstStyle/>
                    <a:p>
                      <a:r>
                        <a:rPr lang="en-GB" sz="2200" b="0" i="0" u="none" baseline="0">
                          <a:solidFill>
                            <a:srgbClr val="000000"/>
                          </a:solidFill>
                          <a:latin typeface="Trebuchet MS - 24"/>
                        </a:rPr>
                        <a:t>Student</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A</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B</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C</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D</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E</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F</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G</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H</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extLst>
                  <a:ext uri="{0D108BD9-81ED-4DB2-BD59-A6C34878D82A}">
                    <a16:rowId xmlns:a16="http://schemas.microsoft.com/office/drawing/2014/main" val="10000"/>
                  </a:ext>
                </a:extLst>
              </a:tr>
              <a:tr h="537210">
                <a:tc>
                  <a:txBody>
                    <a:bodyPr/>
                    <a:lstStyle/>
                    <a:p>
                      <a:r>
                        <a:rPr lang="en-GB" sz="2200" b="0" i="0" u="none" baseline="0">
                          <a:solidFill>
                            <a:srgbClr val="000000"/>
                          </a:solidFill>
                          <a:latin typeface="Trebuchet MS - 24"/>
                        </a:rPr>
                        <a:t>Maths mark</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56</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73</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51</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62</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24</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67</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94</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35</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extLst>
                  <a:ext uri="{0D108BD9-81ED-4DB2-BD59-A6C34878D82A}">
                    <a16:rowId xmlns:a16="http://schemas.microsoft.com/office/drawing/2014/main" val="10001"/>
                  </a:ext>
                </a:extLst>
              </a:tr>
              <a:tr h="537210">
                <a:tc>
                  <a:txBody>
                    <a:bodyPr/>
                    <a:lstStyle/>
                    <a:p>
                      <a:r>
                        <a:rPr lang="en-GB" sz="2200" b="0" i="0" u="none" baseline="0">
                          <a:solidFill>
                            <a:srgbClr val="000000"/>
                          </a:solidFill>
                          <a:latin typeface="Trebuchet MS - 24"/>
                        </a:rPr>
                        <a:t>Art mark</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54</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43</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47</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44</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82</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31</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18</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87</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extLst>
                  <a:ext uri="{0D108BD9-81ED-4DB2-BD59-A6C34878D82A}">
                    <a16:rowId xmlns:a16="http://schemas.microsoft.com/office/drawing/2014/main" val="10002"/>
                  </a:ext>
                </a:extLst>
              </a:tr>
            </a:tbl>
          </a:graphicData>
        </a:graphic>
      </p:graphicFrame>
      <p:grpSp>
        <p:nvGrpSpPr>
          <p:cNvPr id="74" name="Group 73"/>
          <p:cNvGrpSpPr/>
          <p:nvPr/>
        </p:nvGrpSpPr>
        <p:grpSpPr>
          <a:xfrm>
            <a:off x="3726455" y="2365210"/>
            <a:ext cx="4266926" cy="4122672"/>
            <a:chOff x="2447172" y="2628011"/>
            <a:chExt cx="4741028" cy="4580747"/>
          </a:xfrm>
        </p:grpSpPr>
        <p:grpSp>
          <p:nvGrpSpPr>
            <p:cNvPr id="71" name="Group 70"/>
            <p:cNvGrpSpPr/>
            <p:nvPr/>
          </p:nvGrpSpPr>
          <p:grpSpPr>
            <a:xfrm>
              <a:off x="2552700" y="2628011"/>
              <a:ext cx="4635500" cy="4326747"/>
              <a:chOff x="2552700" y="2628011"/>
              <a:chExt cx="4635500" cy="4326747"/>
            </a:xfrm>
          </p:grpSpPr>
          <p:grpSp>
            <p:nvGrpSpPr>
              <p:cNvPr id="49" name="Group 48"/>
              <p:cNvGrpSpPr/>
              <p:nvPr/>
            </p:nvGrpSpPr>
            <p:grpSpPr>
              <a:xfrm>
                <a:off x="3072511" y="2628011"/>
                <a:ext cx="4061460" cy="4057397"/>
                <a:chOff x="3072511" y="2628011"/>
                <a:chExt cx="4061460" cy="4057397"/>
              </a:xfrm>
            </p:grpSpPr>
            <p:grpSp>
              <p:nvGrpSpPr>
                <p:cNvPr id="46" name="Group 45"/>
                <p:cNvGrpSpPr/>
                <p:nvPr/>
              </p:nvGrpSpPr>
              <p:grpSpPr>
                <a:xfrm>
                  <a:off x="3073527" y="2886710"/>
                  <a:ext cx="3801873" cy="3798698"/>
                  <a:chOff x="3073527" y="2886710"/>
                  <a:chExt cx="3801873" cy="3798698"/>
                </a:xfrm>
              </p:grpSpPr>
              <p:sp>
                <p:nvSpPr>
                  <p:cNvPr id="4" name="Freeform 3"/>
                  <p:cNvSpPr/>
                  <p:nvPr/>
                </p:nvSpPr>
                <p:spPr>
                  <a:xfrm>
                    <a:off x="3073527" y="2895219"/>
                    <a:ext cx="18924" cy="3776981"/>
                  </a:xfrm>
                  <a:custGeom>
                    <a:avLst/>
                    <a:gdLst/>
                    <a:ahLst/>
                    <a:cxnLst/>
                    <a:rect l="0" t="0" r="0" b="0"/>
                    <a:pathLst>
                      <a:path w="18924" h="3776981">
                        <a:moveTo>
                          <a:pt x="0" y="0"/>
                        </a:moveTo>
                        <a:lnTo>
                          <a:pt x="18923" y="0"/>
                        </a:lnTo>
                        <a:lnTo>
                          <a:pt x="18923" y="3776980"/>
                        </a:lnTo>
                        <a:lnTo>
                          <a:pt x="0" y="377698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5" name="Freeform 4"/>
                  <p:cNvSpPr/>
                  <p:nvPr/>
                </p:nvSpPr>
                <p:spPr>
                  <a:xfrm>
                    <a:off x="3073527" y="2886710"/>
                    <a:ext cx="3800603" cy="18924"/>
                  </a:xfrm>
                  <a:custGeom>
                    <a:avLst/>
                    <a:gdLst/>
                    <a:ahLst/>
                    <a:cxnLst/>
                    <a:rect l="0" t="0" r="0" b="0"/>
                    <a:pathLst>
                      <a:path w="3800603" h="18924">
                        <a:moveTo>
                          <a:pt x="0" y="0"/>
                        </a:moveTo>
                        <a:lnTo>
                          <a:pt x="3800602" y="0"/>
                        </a:lnTo>
                        <a:lnTo>
                          <a:pt x="3800602" y="18923"/>
                        </a:lnTo>
                        <a:lnTo>
                          <a:pt x="0" y="18923"/>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6" name="Freeform 5"/>
                  <p:cNvSpPr/>
                  <p:nvPr/>
                </p:nvSpPr>
                <p:spPr>
                  <a:xfrm>
                    <a:off x="3086862" y="3076575"/>
                    <a:ext cx="3780791" cy="19686"/>
                  </a:xfrm>
                  <a:custGeom>
                    <a:avLst/>
                    <a:gdLst/>
                    <a:ahLst/>
                    <a:cxnLst/>
                    <a:rect l="0" t="0" r="0" b="0"/>
                    <a:pathLst>
                      <a:path w="3780791" h="19686">
                        <a:moveTo>
                          <a:pt x="0" y="0"/>
                        </a:moveTo>
                        <a:lnTo>
                          <a:pt x="3780790" y="0"/>
                        </a:lnTo>
                        <a:lnTo>
                          <a:pt x="3780790" y="19685"/>
                        </a:lnTo>
                        <a:lnTo>
                          <a:pt x="0" y="19685"/>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7" name="Freeform 6"/>
                  <p:cNvSpPr/>
                  <p:nvPr/>
                </p:nvSpPr>
                <p:spPr>
                  <a:xfrm>
                    <a:off x="3264281" y="2896235"/>
                    <a:ext cx="19813" cy="3776981"/>
                  </a:xfrm>
                  <a:custGeom>
                    <a:avLst/>
                    <a:gdLst/>
                    <a:ahLst/>
                    <a:cxnLst/>
                    <a:rect l="0" t="0" r="0" b="0"/>
                    <a:pathLst>
                      <a:path w="19813" h="3776981">
                        <a:moveTo>
                          <a:pt x="0" y="0"/>
                        </a:moveTo>
                        <a:lnTo>
                          <a:pt x="19812" y="0"/>
                        </a:lnTo>
                        <a:lnTo>
                          <a:pt x="19812" y="3776980"/>
                        </a:lnTo>
                        <a:lnTo>
                          <a:pt x="0" y="377698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8" name="Freeform 7"/>
                  <p:cNvSpPr/>
                  <p:nvPr/>
                </p:nvSpPr>
                <p:spPr>
                  <a:xfrm>
                    <a:off x="3452114" y="2895219"/>
                    <a:ext cx="19813" cy="3776981"/>
                  </a:xfrm>
                  <a:custGeom>
                    <a:avLst/>
                    <a:gdLst/>
                    <a:ahLst/>
                    <a:cxnLst/>
                    <a:rect l="0" t="0" r="0" b="0"/>
                    <a:pathLst>
                      <a:path w="19813" h="3776981">
                        <a:moveTo>
                          <a:pt x="0" y="0"/>
                        </a:moveTo>
                        <a:lnTo>
                          <a:pt x="19812" y="0"/>
                        </a:lnTo>
                        <a:lnTo>
                          <a:pt x="19812" y="3776980"/>
                        </a:lnTo>
                        <a:lnTo>
                          <a:pt x="0" y="377698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9" name="Freeform 8"/>
                  <p:cNvSpPr/>
                  <p:nvPr/>
                </p:nvSpPr>
                <p:spPr>
                  <a:xfrm>
                    <a:off x="3642741" y="2896235"/>
                    <a:ext cx="21718" cy="3777997"/>
                  </a:xfrm>
                  <a:custGeom>
                    <a:avLst/>
                    <a:gdLst/>
                    <a:ahLst/>
                    <a:cxnLst/>
                    <a:rect l="0" t="0" r="0" b="0"/>
                    <a:pathLst>
                      <a:path w="21718" h="3777997">
                        <a:moveTo>
                          <a:pt x="0" y="0"/>
                        </a:moveTo>
                        <a:lnTo>
                          <a:pt x="21717" y="0"/>
                        </a:lnTo>
                        <a:lnTo>
                          <a:pt x="21717" y="3777996"/>
                        </a:lnTo>
                        <a:lnTo>
                          <a:pt x="0" y="3777996"/>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0" name="Freeform 9"/>
                  <p:cNvSpPr/>
                  <p:nvPr/>
                </p:nvSpPr>
                <p:spPr>
                  <a:xfrm>
                    <a:off x="3827780" y="2895219"/>
                    <a:ext cx="22734" cy="3779013"/>
                  </a:xfrm>
                  <a:custGeom>
                    <a:avLst/>
                    <a:gdLst/>
                    <a:ahLst/>
                    <a:cxnLst/>
                    <a:rect l="0" t="0" r="0" b="0"/>
                    <a:pathLst>
                      <a:path w="22734" h="3779013">
                        <a:moveTo>
                          <a:pt x="0" y="0"/>
                        </a:moveTo>
                        <a:lnTo>
                          <a:pt x="22733" y="0"/>
                        </a:lnTo>
                        <a:lnTo>
                          <a:pt x="22733" y="3779012"/>
                        </a:lnTo>
                        <a:lnTo>
                          <a:pt x="0" y="3779012"/>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1" name="Freeform 10"/>
                  <p:cNvSpPr/>
                  <p:nvPr/>
                </p:nvSpPr>
                <p:spPr>
                  <a:xfrm>
                    <a:off x="4018534" y="2896235"/>
                    <a:ext cx="19686" cy="3776981"/>
                  </a:xfrm>
                  <a:custGeom>
                    <a:avLst/>
                    <a:gdLst/>
                    <a:ahLst/>
                    <a:cxnLst/>
                    <a:rect l="0" t="0" r="0" b="0"/>
                    <a:pathLst>
                      <a:path w="19686" h="3776981">
                        <a:moveTo>
                          <a:pt x="0" y="0"/>
                        </a:moveTo>
                        <a:lnTo>
                          <a:pt x="19685" y="0"/>
                        </a:lnTo>
                        <a:lnTo>
                          <a:pt x="19685" y="3776980"/>
                        </a:lnTo>
                        <a:lnTo>
                          <a:pt x="0" y="377698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2" name="Freeform 11"/>
                  <p:cNvSpPr/>
                  <p:nvPr/>
                </p:nvSpPr>
                <p:spPr>
                  <a:xfrm>
                    <a:off x="4209288" y="2897251"/>
                    <a:ext cx="21718" cy="3777997"/>
                  </a:xfrm>
                  <a:custGeom>
                    <a:avLst/>
                    <a:gdLst/>
                    <a:ahLst/>
                    <a:cxnLst/>
                    <a:rect l="0" t="0" r="0" b="0"/>
                    <a:pathLst>
                      <a:path w="21718" h="3777997">
                        <a:moveTo>
                          <a:pt x="0" y="0"/>
                        </a:moveTo>
                        <a:lnTo>
                          <a:pt x="21717" y="0"/>
                        </a:lnTo>
                        <a:lnTo>
                          <a:pt x="21717" y="3777996"/>
                        </a:lnTo>
                        <a:lnTo>
                          <a:pt x="0" y="3777996"/>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3" name="Freeform 12"/>
                  <p:cNvSpPr/>
                  <p:nvPr/>
                </p:nvSpPr>
                <p:spPr>
                  <a:xfrm>
                    <a:off x="4398010" y="2896235"/>
                    <a:ext cx="20702" cy="3776981"/>
                  </a:xfrm>
                  <a:custGeom>
                    <a:avLst/>
                    <a:gdLst/>
                    <a:ahLst/>
                    <a:cxnLst/>
                    <a:rect l="0" t="0" r="0" b="0"/>
                    <a:pathLst>
                      <a:path w="20702" h="3776981">
                        <a:moveTo>
                          <a:pt x="0" y="0"/>
                        </a:moveTo>
                        <a:lnTo>
                          <a:pt x="20701" y="0"/>
                        </a:lnTo>
                        <a:lnTo>
                          <a:pt x="20701" y="3776980"/>
                        </a:lnTo>
                        <a:lnTo>
                          <a:pt x="0" y="377698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4" name="Freeform 13"/>
                  <p:cNvSpPr/>
                  <p:nvPr/>
                </p:nvSpPr>
                <p:spPr>
                  <a:xfrm>
                    <a:off x="4587748" y="2897886"/>
                    <a:ext cx="22734" cy="3776092"/>
                  </a:xfrm>
                  <a:custGeom>
                    <a:avLst/>
                    <a:gdLst/>
                    <a:ahLst/>
                    <a:cxnLst/>
                    <a:rect l="0" t="0" r="0" b="0"/>
                    <a:pathLst>
                      <a:path w="22734" h="3776092">
                        <a:moveTo>
                          <a:pt x="0" y="0"/>
                        </a:moveTo>
                        <a:lnTo>
                          <a:pt x="22733" y="0"/>
                        </a:lnTo>
                        <a:lnTo>
                          <a:pt x="22733" y="3776091"/>
                        </a:lnTo>
                        <a:lnTo>
                          <a:pt x="0" y="3776091"/>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5" name="Freeform 14"/>
                  <p:cNvSpPr/>
                  <p:nvPr/>
                </p:nvSpPr>
                <p:spPr>
                  <a:xfrm>
                    <a:off x="4771771" y="2896235"/>
                    <a:ext cx="24385" cy="3776981"/>
                  </a:xfrm>
                  <a:custGeom>
                    <a:avLst/>
                    <a:gdLst/>
                    <a:ahLst/>
                    <a:cxnLst/>
                    <a:rect l="0" t="0" r="0" b="0"/>
                    <a:pathLst>
                      <a:path w="24385" h="3776981">
                        <a:moveTo>
                          <a:pt x="0" y="0"/>
                        </a:moveTo>
                        <a:lnTo>
                          <a:pt x="24384" y="0"/>
                        </a:lnTo>
                        <a:lnTo>
                          <a:pt x="24384" y="3776980"/>
                        </a:lnTo>
                        <a:lnTo>
                          <a:pt x="0" y="377698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6" name="Freeform 15"/>
                  <p:cNvSpPr/>
                  <p:nvPr/>
                </p:nvSpPr>
                <p:spPr>
                  <a:xfrm>
                    <a:off x="4963668" y="2897251"/>
                    <a:ext cx="19686" cy="3774187"/>
                  </a:xfrm>
                  <a:custGeom>
                    <a:avLst/>
                    <a:gdLst/>
                    <a:ahLst/>
                    <a:cxnLst/>
                    <a:rect l="0" t="0" r="0" b="0"/>
                    <a:pathLst>
                      <a:path w="19686" h="3774187">
                        <a:moveTo>
                          <a:pt x="0" y="0"/>
                        </a:moveTo>
                        <a:lnTo>
                          <a:pt x="19685" y="0"/>
                        </a:lnTo>
                        <a:lnTo>
                          <a:pt x="19685" y="3774186"/>
                        </a:lnTo>
                        <a:lnTo>
                          <a:pt x="0" y="3774186"/>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7" name="Freeform 16"/>
                  <p:cNvSpPr/>
                  <p:nvPr/>
                </p:nvSpPr>
                <p:spPr>
                  <a:xfrm>
                    <a:off x="5154295" y="2897251"/>
                    <a:ext cx="21591" cy="3775203"/>
                  </a:xfrm>
                  <a:custGeom>
                    <a:avLst/>
                    <a:gdLst/>
                    <a:ahLst/>
                    <a:cxnLst/>
                    <a:rect l="0" t="0" r="0" b="0"/>
                    <a:pathLst>
                      <a:path w="21591" h="3775203">
                        <a:moveTo>
                          <a:pt x="0" y="0"/>
                        </a:moveTo>
                        <a:lnTo>
                          <a:pt x="21590" y="0"/>
                        </a:lnTo>
                        <a:lnTo>
                          <a:pt x="21590" y="3775202"/>
                        </a:lnTo>
                        <a:lnTo>
                          <a:pt x="0" y="3775202"/>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8" name="Freeform 17"/>
                  <p:cNvSpPr/>
                  <p:nvPr/>
                </p:nvSpPr>
                <p:spPr>
                  <a:xfrm>
                    <a:off x="5343017" y="2897251"/>
                    <a:ext cx="20702" cy="3775965"/>
                  </a:xfrm>
                  <a:custGeom>
                    <a:avLst/>
                    <a:gdLst/>
                    <a:ahLst/>
                    <a:cxnLst/>
                    <a:rect l="0" t="0" r="0" b="0"/>
                    <a:pathLst>
                      <a:path w="20702" h="3775965">
                        <a:moveTo>
                          <a:pt x="0" y="0"/>
                        </a:moveTo>
                        <a:lnTo>
                          <a:pt x="20701" y="0"/>
                        </a:lnTo>
                        <a:lnTo>
                          <a:pt x="20701" y="3775964"/>
                        </a:lnTo>
                        <a:lnTo>
                          <a:pt x="0" y="3775964"/>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9" name="Freeform 18"/>
                  <p:cNvSpPr/>
                  <p:nvPr/>
                </p:nvSpPr>
                <p:spPr>
                  <a:xfrm>
                    <a:off x="5532882" y="2897886"/>
                    <a:ext cx="22734" cy="3778124"/>
                  </a:xfrm>
                  <a:custGeom>
                    <a:avLst/>
                    <a:gdLst/>
                    <a:ahLst/>
                    <a:cxnLst/>
                    <a:rect l="0" t="0" r="0" b="0"/>
                    <a:pathLst>
                      <a:path w="22734" h="3778124">
                        <a:moveTo>
                          <a:pt x="0" y="0"/>
                        </a:moveTo>
                        <a:lnTo>
                          <a:pt x="22733" y="0"/>
                        </a:lnTo>
                        <a:lnTo>
                          <a:pt x="22733" y="3778123"/>
                        </a:lnTo>
                        <a:lnTo>
                          <a:pt x="0" y="3778123"/>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0" name="Freeform 19"/>
                  <p:cNvSpPr/>
                  <p:nvPr/>
                </p:nvSpPr>
                <p:spPr>
                  <a:xfrm>
                    <a:off x="5716905" y="2896235"/>
                    <a:ext cx="24512" cy="3779013"/>
                  </a:xfrm>
                  <a:custGeom>
                    <a:avLst/>
                    <a:gdLst/>
                    <a:ahLst/>
                    <a:cxnLst/>
                    <a:rect l="0" t="0" r="0" b="0"/>
                    <a:pathLst>
                      <a:path w="24512" h="3779013">
                        <a:moveTo>
                          <a:pt x="0" y="0"/>
                        </a:moveTo>
                        <a:lnTo>
                          <a:pt x="24511" y="0"/>
                        </a:lnTo>
                        <a:lnTo>
                          <a:pt x="24511" y="3779012"/>
                        </a:lnTo>
                        <a:lnTo>
                          <a:pt x="0" y="3779012"/>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1" name="Freeform 20"/>
                  <p:cNvSpPr/>
                  <p:nvPr/>
                </p:nvSpPr>
                <p:spPr>
                  <a:xfrm>
                    <a:off x="5908548" y="2897251"/>
                    <a:ext cx="21718" cy="3776981"/>
                  </a:xfrm>
                  <a:custGeom>
                    <a:avLst/>
                    <a:gdLst/>
                    <a:ahLst/>
                    <a:cxnLst/>
                    <a:rect l="0" t="0" r="0" b="0"/>
                    <a:pathLst>
                      <a:path w="21718" h="3776981">
                        <a:moveTo>
                          <a:pt x="0" y="0"/>
                        </a:moveTo>
                        <a:lnTo>
                          <a:pt x="21717" y="0"/>
                        </a:lnTo>
                        <a:lnTo>
                          <a:pt x="21717" y="3776980"/>
                        </a:lnTo>
                        <a:lnTo>
                          <a:pt x="0" y="377698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2" name="Freeform 21"/>
                  <p:cNvSpPr/>
                  <p:nvPr/>
                </p:nvSpPr>
                <p:spPr>
                  <a:xfrm>
                    <a:off x="6099048" y="2897886"/>
                    <a:ext cx="23496" cy="3778124"/>
                  </a:xfrm>
                  <a:custGeom>
                    <a:avLst/>
                    <a:gdLst/>
                    <a:ahLst/>
                    <a:cxnLst/>
                    <a:rect l="0" t="0" r="0" b="0"/>
                    <a:pathLst>
                      <a:path w="23496" h="3778124">
                        <a:moveTo>
                          <a:pt x="0" y="0"/>
                        </a:moveTo>
                        <a:lnTo>
                          <a:pt x="23495" y="0"/>
                        </a:lnTo>
                        <a:lnTo>
                          <a:pt x="23495" y="3778123"/>
                        </a:lnTo>
                        <a:lnTo>
                          <a:pt x="0" y="3778123"/>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3" name="Freeform 22"/>
                  <p:cNvSpPr/>
                  <p:nvPr/>
                </p:nvSpPr>
                <p:spPr>
                  <a:xfrm>
                    <a:off x="6287897" y="2897251"/>
                    <a:ext cx="22734" cy="3776981"/>
                  </a:xfrm>
                  <a:custGeom>
                    <a:avLst/>
                    <a:gdLst/>
                    <a:ahLst/>
                    <a:cxnLst/>
                    <a:rect l="0" t="0" r="0" b="0"/>
                    <a:pathLst>
                      <a:path w="22734" h="3776981">
                        <a:moveTo>
                          <a:pt x="0" y="0"/>
                        </a:moveTo>
                        <a:lnTo>
                          <a:pt x="22733" y="0"/>
                        </a:lnTo>
                        <a:lnTo>
                          <a:pt x="22733" y="3776980"/>
                        </a:lnTo>
                        <a:lnTo>
                          <a:pt x="0" y="377698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4" name="Freeform 23"/>
                  <p:cNvSpPr/>
                  <p:nvPr/>
                </p:nvSpPr>
                <p:spPr>
                  <a:xfrm>
                    <a:off x="6476619" y="2897251"/>
                    <a:ext cx="24639" cy="3779013"/>
                  </a:xfrm>
                  <a:custGeom>
                    <a:avLst/>
                    <a:gdLst/>
                    <a:ahLst/>
                    <a:cxnLst/>
                    <a:rect l="0" t="0" r="0" b="0"/>
                    <a:pathLst>
                      <a:path w="24639" h="3779013">
                        <a:moveTo>
                          <a:pt x="0" y="0"/>
                        </a:moveTo>
                        <a:lnTo>
                          <a:pt x="24638" y="0"/>
                        </a:lnTo>
                        <a:lnTo>
                          <a:pt x="24638" y="3779012"/>
                        </a:lnTo>
                        <a:lnTo>
                          <a:pt x="0" y="3779012"/>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5" name="Freeform 24"/>
                  <p:cNvSpPr/>
                  <p:nvPr/>
                </p:nvSpPr>
                <p:spPr>
                  <a:xfrm>
                    <a:off x="6661912" y="2897251"/>
                    <a:ext cx="26417" cy="3779013"/>
                  </a:xfrm>
                  <a:custGeom>
                    <a:avLst/>
                    <a:gdLst/>
                    <a:ahLst/>
                    <a:cxnLst/>
                    <a:rect l="0" t="0" r="0" b="0"/>
                    <a:pathLst>
                      <a:path w="26417" h="3779013">
                        <a:moveTo>
                          <a:pt x="0" y="0"/>
                        </a:moveTo>
                        <a:lnTo>
                          <a:pt x="26416" y="0"/>
                        </a:lnTo>
                        <a:lnTo>
                          <a:pt x="26416" y="3779012"/>
                        </a:lnTo>
                        <a:lnTo>
                          <a:pt x="0" y="3779012"/>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6" name="Freeform 25"/>
                  <p:cNvSpPr/>
                  <p:nvPr/>
                </p:nvSpPr>
                <p:spPr>
                  <a:xfrm>
                    <a:off x="6847967" y="2894203"/>
                    <a:ext cx="27433" cy="3779775"/>
                  </a:xfrm>
                  <a:custGeom>
                    <a:avLst/>
                    <a:gdLst/>
                    <a:ahLst/>
                    <a:cxnLst/>
                    <a:rect l="0" t="0" r="0" b="0"/>
                    <a:pathLst>
                      <a:path w="27433" h="3779775">
                        <a:moveTo>
                          <a:pt x="0" y="0"/>
                        </a:moveTo>
                        <a:lnTo>
                          <a:pt x="27432" y="0"/>
                        </a:lnTo>
                        <a:lnTo>
                          <a:pt x="27432" y="3779774"/>
                        </a:lnTo>
                        <a:lnTo>
                          <a:pt x="0" y="3779774"/>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7" name="Freeform 26"/>
                  <p:cNvSpPr/>
                  <p:nvPr/>
                </p:nvSpPr>
                <p:spPr>
                  <a:xfrm>
                    <a:off x="3084830" y="3266186"/>
                    <a:ext cx="3777108" cy="19686"/>
                  </a:xfrm>
                  <a:custGeom>
                    <a:avLst/>
                    <a:gdLst/>
                    <a:ahLst/>
                    <a:cxnLst/>
                    <a:rect l="0" t="0" r="0" b="0"/>
                    <a:pathLst>
                      <a:path w="3777108" h="19686">
                        <a:moveTo>
                          <a:pt x="0" y="0"/>
                        </a:moveTo>
                        <a:lnTo>
                          <a:pt x="3777107" y="0"/>
                        </a:lnTo>
                        <a:lnTo>
                          <a:pt x="3777107" y="19685"/>
                        </a:lnTo>
                        <a:lnTo>
                          <a:pt x="0" y="19685"/>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8" name="Freeform 27"/>
                  <p:cNvSpPr/>
                  <p:nvPr/>
                </p:nvSpPr>
                <p:spPr>
                  <a:xfrm>
                    <a:off x="3085719" y="3454400"/>
                    <a:ext cx="3782950" cy="19686"/>
                  </a:xfrm>
                  <a:custGeom>
                    <a:avLst/>
                    <a:gdLst/>
                    <a:ahLst/>
                    <a:cxnLst/>
                    <a:rect l="0" t="0" r="0" b="0"/>
                    <a:pathLst>
                      <a:path w="3782950" h="19686">
                        <a:moveTo>
                          <a:pt x="0" y="0"/>
                        </a:moveTo>
                        <a:lnTo>
                          <a:pt x="3782949" y="0"/>
                        </a:lnTo>
                        <a:lnTo>
                          <a:pt x="3782949" y="19685"/>
                        </a:lnTo>
                        <a:lnTo>
                          <a:pt x="0" y="19685"/>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9" name="Freeform 28"/>
                  <p:cNvSpPr/>
                  <p:nvPr/>
                </p:nvSpPr>
                <p:spPr>
                  <a:xfrm>
                    <a:off x="3083941" y="3639185"/>
                    <a:ext cx="3783712" cy="20702"/>
                  </a:xfrm>
                  <a:custGeom>
                    <a:avLst/>
                    <a:gdLst/>
                    <a:ahLst/>
                    <a:cxnLst/>
                    <a:rect l="0" t="0" r="0" b="0"/>
                    <a:pathLst>
                      <a:path w="3783712" h="20702">
                        <a:moveTo>
                          <a:pt x="0" y="0"/>
                        </a:moveTo>
                        <a:lnTo>
                          <a:pt x="3783711" y="0"/>
                        </a:lnTo>
                        <a:lnTo>
                          <a:pt x="3783711" y="20701"/>
                        </a:lnTo>
                        <a:lnTo>
                          <a:pt x="0" y="20701"/>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0" name="Freeform 29"/>
                  <p:cNvSpPr/>
                  <p:nvPr/>
                </p:nvSpPr>
                <p:spPr>
                  <a:xfrm>
                    <a:off x="3087751" y="4587367"/>
                    <a:ext cx="3783712" cy="20702"/>
                  </a:xfrm>
                  <a:custGeom>
                    <a:avLst/>
                    <a:gdLst/>
                    <a:ahLst/>
                    <a:cxnLst/>
                    <a:rect l="0" t="0" r="0" b="0"/>
                    <a:pathLst>
                      <a:path w="3783712" h="20702">
                        <a:moveTo>
                          <a:pt x="0" y="0"/>
                        </a:moveTo>
                        <a:lnTo>
                          <a:pt x="3783711" y="0"/>
                        </a:lnTo>
                        <a:lnTo>
                          <a:pt x="3783711" y="20701"/>
                        </a:lnTo>
                        <a:lnTo>
                          <a:pt x="0" y="20701"/>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1" name="Freeform 30"/>
                  <p:cNvSpPr/>
                  <p:nvPr/>
                </p:nvSpPr>
                <p:spPr>
                  <a:xfrm>
                    <a:off x="3085719" y="4399534"/>
                    <a:ext cx="3783712" cy="20575"/>
                  </a:xfrm>
                  <a:custGeom>
                    <a:avLst/>
                    <a:gdLst/>
                    <a:ahLst/>
                    <a:cxnLst/>
                    <a:rect l="0" t="0" r="0" b="0"/>
                    <a:pathLst>
                      <a:path w="3783712" h="20575">
                        <a:moveTo>
                          <a:pt x="0" y="0"/>
                        </a:moveTo>
                        <a:lnTo>
                          <a:pt x="3783711" y="0"/>
                        </a:lnTo>
                        <a:lnTo>
                          <a:pt x="3783711" y="20574"/>
                        </a:lnTo>
                        <a:lnTo>
                          <a:pt x="0" y="20574"/>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2" name="Freeform 31"/>
                  <p:cNvSpPr/>
                  <p:nvPr/>
                </p:nvSpPr>
                <p:spPr>
                  <a:xfrm>
                    <a:off x="3085719" y="4209669"/>
                    <a:ext cx="3777108" cy="20702"/>
                  </a:xfrm>
                  <a:custGeom>
                    <a:avLst/>
                    <a:gdLst/>
                    <a:ahLst/>
                    <a:cxnLst/>
                    <a:rect l="0" t="0" r="0" b="0"/>
                    <a:pathLst>
                      <a:path w="3777108" h="20702">
                        <a:moveTo>
                          <a:pt x="0" y="0"/>
                        </a:moveTo>
                        <a:lnTo>
                          <a:pt x="3777107" y="0"/>
                        </a:lnTo>
                        <a:lnTo>
                          <a:pt x="3777107" y="20701"/>
                        </a:lnTo>
                        <a:lnTo>
                          <a:pt x="0" y="20701"/>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3" name="Freeform 32"/>
                  <p:cNvSpPr/>
                  <p:nvPr/>
                </p:nvSpPr>
                <p:spPr>
                  <a:xfrm>
                    <a:off x="3087751" y="4019931"/>
                    <a:ext cx="3782950" cy="19686"/>
                  </a:xfrm>
                  <a:custGeom>
                    <a:avLst/>
                    <a:gdLst/>
                    <a:ahLst/>
                    <a:cxnLst/>
                    <a:rect l="0" t="0" r="0" b="0"/>
                    <a:pathLst>
                      <a:path w="3782950" h="19686">
                        <a:moveTo>
                          <a:pt x="0" y="0"/>
                        </a:moveTo>
                        <a:lnTo>
                          <a:pt x="3782949" y="0"/>
                        </a:lnTo>
                        <a:lnTo>
                          <a:pt x="3782949" y="19685"/>
                        </a:lnTo>
                        <a:lnTo>
                          <a:pt x="0" y="19685"/>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4" name="Freeform 33"/>
                  <p:cNvSpPr/>
                  <p:nvPr/>
                </p:nvSpPr>
                <p:spPr>
                  <a:xfrm>
                    <a:off x="3086862" y="3831844"/>
                    <a:ext cx="3772282" cy="19686"/>
                  </a:xfrm>
                  <a:custGeom>
                    <a:avLst/>
                    <a:gdLst/>
                    <a:ahLst/>
                    <a:cxnLst/>
                    <a:rect l="0" t="0" r="0" b="0"/>
                    <a:pathLst>
                      <a:path w="3772282" h="19686">
                        <a:moveTo>
                          <a:pt x="0" y="0"/>
                        </a:moveTo>
                        <a:lnTo>
                          <a:pt x="3772281" y="0"/>
                        </a:lnTo>
                        <a:lnTo>
                          <a:pt x="3772281" y="19685"/>
                        </a:lnTo>
                        <a:lnTo>
                          <a:pt x="0" y="19685"/>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5" name="Freeform 34"/>
                  <p:cNvSpPr/>
                  <p:nvPr/>
                </p:nvSpPr>
                <p:spPr>
                  <a:xfrm>
                    <a:off x="3084830" y="4774184"/>
                    <a:ext cx="3776092" cy="19813"/>
                  </a:xfrm>
                  <a:custGeom>
                    <a:avLst/>
                    <a:gdLst/>
                    <a:ahLst/>
                    <a:cxnLst/>
                    <a:rect l="0" t="0" r="0" b="0"/>
                    <a:pathLst>
                      <a:path w="3776092" h="19813">
                        <a:moveTo>
                          <a:pt x="0" y="0"/>
                        </a:moveTo>
                        <a:lnTo>
                          <a:pt x="3776091" y="0"/>
                        </a:lnTo>
                        <a:lnTo>
                          <a:pt x="3776091" y="19812"/>
                        </a:lnTo>
                        <a:lnTo>
                          <a:pt x="0" y="19812"/>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6" name="Freeform 35"/>
                  <p:cNvSpPr/>
                  <p:nvPr/>
                </p:nvSpPr>
                <p:spPr>
                  <a:xfrm>
                    <a:off x="3083941" y="4964176"/>
                    <a:ext cx="3783077" cy="19686"/>
                  </a:xfrm>
                  <a:custGeom>
                    <a:avLst/>
                    <a:gdLst/>
                    <a:ahLst/>
                    <a:cxnLst/>
                    <a:rect l="0" t="0" r="0" b="0"/>
                    <a:pathLst>
                      <a:path w="3783077" h="19686">
                        <a:moveTo>
                          <a:pt x="0" y="0"/>
                        </a:moveTo>
                        <a:lnTo>
                          <a:pt x="3783076" y="0"/>
                        </a:lnTo>
                        <a:lnTo>
                          <a:pt x="3783076" y="19685"/>
                        </a:lnTo>
                        <a:lnTo>
                          <a:pt x="0" y="19685"/>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7" name="Freeform 36"/>
                  <p:cNvSpPr/>
                  <p:nvPr/>
                </p:nvSpPr>
                <p:spPr>
                  <a:xfrm>
                    <a:off x="3082925" y="5153914"/>
                    <a:ext cx="3780918" cy="20702"/>
                  </a:xfrm>
                  <a:custGeom>
                    <a:avLst/>
                    <a:gdLst/>
                    <a:ahLst/>
                    <a:cxnLst/>
                    <a:rect l="0" t="0" r="0" b="0"/>
                    <a:pathLst>
                      <a:path w="3780918" h="20702">
                        <a:moveTo>
                          <a:pt x="0" y="0"/>
                        </a:moveTo>
                        <a:lnTo>
                          <a:pt x="3780917" y="0"/>
                        </a:lnTo>
                        <a:lnTo>
                          <a:pt x="3780917" y="20701"/>
                        </a:lnTo>
                        <a:lnTo>
                          <a:pt x="0" y="20701"/>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8" name="Freeform 37"/>
                  <p:cNvSpPr/>
                  <p:nvPr/>
                </p:nvSpPr>
                <p:spPr>
                  <a:xfrm>
                    <a:off x="3083941" y="5341874"/>
                    <a:ext cx="3783712" cy="20702"/>
                  </a:xfrm>
                  <a:custGeom>
                    <a:avLst/>
                    <a:gdLst/>
                    <a:ahLst/>
                    <a:cxnLst/>
                    <a:rect l="0" t="0" r="0" b="0"/>
                    <a:pathLst>
                      <a:path w="3783712" h="20702">
                        <a:moveTo>
                          <a:pt x="0" y="0"/>
                        </a:moveTo>
                        <a:lnTo>
                          <a:pt x="3783711" y="0"/>
                        </a:lnTo>
                        <a:lnTo>
                          <a:pt x="3783711" y="20701"/>
                        </a:lnTo>
                        <a:lnTo>
                          <a:pt x="0" y="20701"/>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9" name="Freeform 38"/>
                  <p:cNvSpPr/>
                  <p:nvPr/>
                </p:nvSpPr>
                <p:spPr>
                  <a:xfrm>
                    <a:off x="3082925" y="5526913"/>
                    <a:ext cx="3783585" cy="20829"/>
                  </a:xfrm>
                  <a:custGeom>
                    <a:avLst/>
                    <a:gdLst/>
                    <a:ahLst/>
                    <a:cxnLst/>
                    <a:rect l="0" t="0" r="0" b="0"/>
                    <a:pathLst>
                      <a:path w="3783585" h="20829">
                        <a:moveTo>
                          <a:pt x="0" y="0"/>
                        </a:moveTo>
                        <a:lnTo>
                          <a:pt x="3783584" y="0"/>
                        </a:lnTo>
                        <a:lnTo>
                          <a:pt x="3783584" y="20828"/>
                        </a:lnTo>
                        <a:lnTo>
                          <a:pt x="0" y="20828"/>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40" name="Freeform 39"/>
                  <p:cNvSpPr/>
                  <p:nvPr/>
                </p:nvSpPr>
                <p:spPr>
                  <a:xfrm>
                    <a:off x="3085719" y="6471031"/>
                    <a:ext cx="3783712" cy="22861"/>
                  </a:xfrm>
                  <a:custGeom>
                    <a:avLst/>
                    <a:gdLst/>
                    <a:ahLst/>
                    <a:cxnLst/>
                    <a:rect l="0" t="0" r="0" b="0"/>
                    <a:pathLst>
                      <a:path w="3783712" h="22861">
                        <a:moveTo>
                          <a:pt x="0" y="0"/>
                        </a:moveTo>
                        <a:lnTo>
                          <a:pt x="3783711" y="0"/>
                        </a:lnTo>
                        <a:lnTo>
                          <a:pt x="3783711" y="22860"/>
                        </a:lnTo>
                        <a:lnTo>
                          <a:pt x="0" y="2286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41" name="Freeform 40"/>
                  <p:cNvSpPr/>
                  <p:nvPr/>
                </p:nvSpPr>
                <p:spPr>
                  <a:xfrm>
                    <a:off x="3085719" y="6285992"/>
                    <a:ext cx="3784728" cy="22607"/>
                  </a:xfrm>
                  <a:custGeom>
                    <a:avLst/>
                    <a:gdLst/>
                    <a:ahLst/>
                    <a:cxnLst/>
                    <a:rect l="0" t="0" r="0" b="0"/>
                    <a:pathLst>
                      <a:path w="3784728" h="22607">
                        <a:moveTo>
                          <a:pt x="0" y="0"/>
                        </a:moveTo>
                        <a:lnTo>
                          <a:pt x="3784727" y="0"/>
                        </a:lnTo>
                        <a:lnTo>
                          <a:pt x="3784727" y="22606"/>
                        </a:lnTo>
                        <a:lnTo>
                          <a:pt x="0" y="22606"/>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42" name="Freeform 41"/>
                  <p:cNvSpPr/>
                  <p:nvPr/>
                </p:nvSpPr>
                <p:spPr>
                  <a:xfrm>
                    <a:off x="3082925" y="6097016"/>
                    <a:ext cx="3783077" cy="20956"/>
                  </a:xfrm>
                  <a:custGeom>
                    <a:avLst/>
                    <a:gdLst/>
                    <a:ahLst/>
                    <a:cxnLst/>
                    <a:rect l="0" t="0" r="0" b="0"/>
                    <a:pathLst>
                      <a:path w="3783077" h="20956">
                        <a:moveTo>
                          <a:pt x="0" y="0"/>
                        </a:moveTo>
                        <a:lnTo>
                          <a:pt x="3783076" y="0"/>
                        </a:lnTo>
                        <a:lnTo>
                          <a:pt x="3783076" y="20955"/>
                        </a:lnTo>
                        <a:lnTo>
                          <a:pt x="0" y="20955"/>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43" name="Freeform 42"/>
                  <p:cNvSpPr/>
                  <p:nvPr/>
                </p:nvSpPr>
                <p:spPr>
                  <a:xfrm>
                    <a:off x="3083941" y="5907405"/>
                    <a:ext cx="3783712" cy="20829"/>
                  </a:xfrm>
                  <a:custGeom>
                    <a:avLst/>
                    <a:gdLst/>
                    <a:ahLst/>
                    <a:cxnLst/>
                    <a:rect l="0" t="0" r="0" b="0"/>
                    <a:pathLst>
                      <a:path w="3783712" h="20829">
                        <a:moveTo>
                          <a:pt x="0" y="0"/>
                        </a:moveTo>
                        <a:lnTo>
                          <a:pt x="3783711" y="0"/>
                        </a:lnTo>
                        <a:lnTo>
                          <a:pt x="3783711" y="20828"/>
                        </a:lnTo>
                        <a:lnTo>
                          <a:pt x="0" y="20828"/>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44" name="Freeform 43"/>
                  <p:cNvSpPr/>
                  <p:nvPr/>
                </p:nvSpPr>
                <p:spPr>
                  <a:xfrm>
                    <a:off x="3083941" y="5719572"/>
                    <a:ext cx="3778886" cy="20829"/>
                  </a:xfrm>
                  <a:custGeom>
                    <a:avLst/>
                    <a:gdLst/>
                    <a:ahLst/>
                    <a:cxnLst/>
                    <a:rect l="0" t="0" r="0" b="0"/>
                    <a:pathLst>
                      <a:path w="3778886" h="20829">
                        <a:moveTo>
                          <a:pt x="0" y="0"/>
                        </a:moveTo>
                        <a:lnTo>
                          <a:pt x="3778885" y="0"/>
                        </a:lnTo>
                        <a:lnTo>
                          <a:pt x="3778885" y="20828"/>
                        </a:lnTo>
                        <a:lnTo>
                          <a:pt x="0" y="20828"/>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45" name="Freeform 44"/>
                  <p:cNvSpPr/>
                  <p:nvPr/>
                </p:nvSpPr>
                <p:spPr>
                  <a:xfrm>
                    <a:off x="3073527" y="6662674"/>
                    <a:ext cx="3801746" cy="22734"/>
                  </a:xfrm>
                  <a:custGeom>
                    <a:avLst/>
                    <a:gdLst/>
                    <a:ahLst/>
                    <a:cxnLst/>
                    <a:rect l="0" t="0" r="0" b="0"/>
                    <a:pathLst>
                      <a:path w="3801746" h="22734">
                        <a:moveTo>
                          <a:pt x="0" y="0"/>
                        </a:moveTo>
                        <a:lnTo>
                          <a:pt x="3801745" y="0"/>
                        </a:lnTo>
                        <a:lnTo>
                          <a:pt x="3801745" y="22733"/>
                        </a:lnTo>
                        <a:lnTo>
                          <a:pt x="0" y="22733"/>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grpSp>
            <p:cxnSp>
              <p:nvCxnSpPr>
                <p:cNvPr id="47" name="Straight Connector 46"/>
                <p:cNvCxnSpPr/>
                <p:nvPr/>
              </p:nvCxnSpPr>
              <p:spPr>
                <a:xfrm flipV="1">
                  <a:off x="3072511" y="2628011"/>
                  <a:ext cx="0" cy="4038727"/>
                </a:xfrm>
                <a:prstGeom prst="line">
                  <a:avLst/>
                </a:prstGeom>
                <a:ln w="38100" cap="flat" cmpd="sng" algn="ctr">
                  <a:solidFill>
                    <a:srgbClr val="000000"/>
                  </a:solidFill>
                  <a:prstDash val="solid"/>
                  <a:round/>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074162" y="6671310"/>
                  <a:ext cx="4059809" cy="0"/>
                </a:xfrm>
                <a:prstGeom prst="line">
                  <a:avLst/>
                </a:prstGeom>
                <a:ln w="38100" cap="flat" cmpd="sng" algn="ctr">
                  <a:solidFill>
                    <a:srgbClr val="000000"/>
                  </a:solidFill>
                  <a:prstDash val="solid"/>
                  <a:round/>
                  <a:headEnd type="none" w="med" len="sm"/>
                  <a:tailEnd type="triangle" w="med" len="sm"/>
                </a:ln>
              </p:spPr>
              <p:style>
                <a:lnRef idx="1">
                  <a:schemeClr val="accent1"/>
                </a:lnRef>
                <a:fillRef idx="0">
                  <a:schemeClr val="accent1"/>
                </a:fillRef>
                <a:effectRef idx="0">
                  <a:schemeClr val="accent1"/>
                </a:effectRef>
                <a:fontRef idx="minor">
                  <a:schemeClr val="tx1"/>
                </a:fontRef>
              </p:style>
            </p:cxnSp>
          </p:grpSp>
          <p:sp>
            <p:nvSpPr>
              <p:cNvPr id="50" name="TextBox 49"/>
              <p:cNvSpPr txBox="1"/>
              <p:nvPr/>
            </p:nvSpPr>
            <p:spPr>
              <a:xfrm>
                <a:off x="2552700" y="2743200"/>
                <a:ext cx="584200" cy="287258"/>
              </a:xfrm>
              <a:prstGeom prst="rect">
                <a:avLst/>
              </a:prstGeom>
              <a:noFill/>
            </p:spPr>
            <p:txBody>
              <a:bodyPr vert="horz" rtlCol="0">
                <a:spAutoFit/>
              </a:bodyPr>
              <a:lstStyle/>
              <a:p>
                <a:pPr algn="ctr"/>
                <a:r>
                  <a:rPr lang="en-GB" sz="1080">
                    <a:solidFill>
                      <a:srgbClr val="000000"/>
                    </a:solidFill>
                    <a:latin typeface="Trebuchet MS - 16"/>
                  </a:rPr>
                  <a:t>100</a:t>
                </a:r>
              </a:p>
            </p:txBody>
          </p:sp>
          <p:sp>
            <p:nvSpPr>
              <p:cNvPr id="51" name="TextBox 50"/>
              <p:cNvSpPr txBox="1"/>
              <p:nvPr/>
            </p:nvSpPr>
            <p:spPr>
              <a:xfrm>
                <a:off x="2628900" y="5397500"/>
                <a:ext cx="584200" cy="287258"/>
              </a:xfrm>
              <a:prstGeom prst="rect">
                <a:avLst/>
              </a:prstGeom>
              <a:noFill/>
            </p:spPr>
            <p:txBody>
              <a:bodyPr vert="horz" rtlCol="0">
                <a:spAutoFit/>
              </a:bodyPr>
              <a:lstStyle/>
              <a:p>
                <a:pPr algn="ctr"/>
                <a:r>
                  <a:rPr lang="en-GB" sz="1080">
                    <a:solidFill>
                      <a:srgbClr val="000000"/>
                    </a:solidFill>
                    <a:latin typeface="Trebuchet MS - 16"/>
                  </a:rPr>
                  <a:t>30</a:t>
                </a:r>
              </a:p>
            </p:txBody>
          </p:sp>
          <p:sp>
            <p:nvSpPr>
              <p:cNvPr id="52" name="TextBox 51"/>
              <p:cNvSpPr txBox="1"/>
              <p:nvPr/>
            </p:nvSpPr>
            <p:spPr>
              <a:xfrm>
                <a:off x="2628900" y="5778500"/>
                <a:ext cx="584200" cy="287258"/>
              </a:xfrm>
              <a:prstGeom prst="rect">
                <a:avLst/>
              </a:prstGeom>
              <a:noFill/>
            </p:spPr>
            <p:txBody>
              <a:bodyPr vert="horz" rtlCol="0">
                <a:spAutoFit/>
              </a:bodyPr>
              <a:lstStyle/>
              <a:p>
                <a:pPr algn="ctr"/>
                <a:r>
                  <a:rPr lang="en-GB" sz="1080">
                    <a:solidFill>
                      <a:srgbClr val="000000"/>
                    </a:solidFill>
                    <a:latin typeface="Trebuchet MS - 16"/>
                  </a:rPr>
                  <a:t>20</a:t>
                </a:r>
              </a:p>
            </p:txBody>
          </p:sp>
          <p:sp>
            <p:nvSpPr>
              <p:cNvPr id="53" name="TextBox 52"/>
              <p:cNvSpPr txBox="1"/>
              <p:nvPr/>
            </p:nvSpPr>
            <p:spPr>
              <a:xfrm>
                <a:off x="2628900" y="6159500"/>
                <a:ext cx="584200" cy="287258"/>
              </a:xfrm>
              <a:prstGeom prst="rect">
                <a:avLst/>
              </a:prstGeom>
              <a:noFill/>
            </p:spPr>
            <p:txBody>
              <a:bodyPr vert="horz" rtlCol="0">
                <a:spAutoFit/>
              </a:bodyPr>
              <a:lstStyle/>
              <a:p>
                <a:pPr algn="ctr"/>
                <a:r>
                  <a:rPr lang="en-GB" sz="1080">
                    <a:solidFill>
                      <a:srgbClr val="000000"/>
                    </a:solidFill>
                    <a:latin typeface="Trebuchet MS - 16"/>
                  </a:rPr>
                  <a:t>10</a:t>
                </a:r>
              </a:p>
            </p:txBody>
          </p:sp>
          <p:sp>
            <p:nvSpPr>
              <p:cNvPr id="54" name="TextBox 53"/>
              <p:cNvSpPr txBox="1"/>
              <p:nvPr/>
            </p:nvSpPr>
            <p:spPr>
              <a:xfrm>
                <a:off x="2705100" y="6604000"/>
                <a:ext cx="584200" cy="287258"/>
              </a:xfrm>
              <a:prstGeom prst="rect">
                <a:avLst/>
              </a:prstGeom>
              <a:noFill/>
            </p:spPr>
            <p:txBody>
              <a:bodyPr vert="horz" rtlCol="0">
                <a:spAutoFit/>
              </a:bodyPr>
              <a:lstStyle/>
              <a:p>
                <a:pPr algn="ctr"/>
                <a:r>
                  <a:rPr lang="en-GB" sz="1080">
                    <a:solidFill>
                      <a:srgbClr val="000000"/>
                    </a:solidFill>
                    <a:latin typeface="Trebuchet MS - 16"/>
                  </a:rPr>
                  <a:t>0</a:t>
                </a:r>
              </a:p>
            </p:txBody>
          </p:sp>
          <p:sp>
            <p:nvSpPr>
              <p:cNvPr id="55" name="TextBox 54"/>
              <p:cNvSpPr txBox="1"/>
              <p:nvPr/>
            </p:nvSpPr>
            <p:spPr>
              <a:xfrm>
                <a:off x="2616200" y="4267200"/>
                <a:ext cx="584200" cy="287258"/>
              </a:xfrm>
              <a:prstGeom prst="rect">
                <a:avLst/>
              </a:prstGeom>
              <a:noFill/>
            </p:spPr>
            <p:txBody>
              <a:bodyPr vert="horz" rtlCol="0">
                <a:spAutoFit/>
              </a:bodyPr>
              <a:lstStyle/>
              <a:p>
                <a:pPr algn="ctr"/>
                <a:r>
                  <a:rPr lang="en-GB" sz="1080">
                    <a:solidFill>
                      <a:srgbClr val="000000"/>
                    </a:solidFill>
                    <a:latin typeface="Trebuchet MS - 16"/>
                  </a:rPr>
                  <a:t>60</a:t>
                </a:r>
              </a:p>
            </p:txBody>
          </p:sp>
          <p:sp>
            <p:nvSpPr>
              <p:cNvPr id="56" name="TextBox 55"/>
              <p:cNvSpPr txBox="1"/>
              <p:nvPr/>
            </p:nvSpPr>
            <p:spPr>
              <a:xfrm>
                <a:off x="2616200" y="4648200"/>
                <a:ext cx="584200" cy="287258"/>
              </a:xfrm>
              <a:prstGeom prst="rect">
                <a:avLst/>
              </a:prstGeom>
              <a:noFill/>
            </p:spPr>
            <p:txBody>
              <a:bodyPr vert="horz" rtlCol="0">
                <a:spAutoFit/>
              </a:bodyPr>
              <a:lstStyle/>
              <a:p>
                <a:pPr algn="ctr"/>
                <a:r>
                  <a:rPr lang="en-GB" sz="1080">
                    <a:solidFill>
                      <a:srgbClr val="000000"/>
                    </a:solidFill>
                    <a:latin typeface="Trebuchet MS - 16"/>
                  </a:rPr>
                  <a:t>50</a:t>
                </a:r>
              </a:p>
            </p:txBody>
          </p:sp>
          <p:sp>
            <p:nvSpPr>
              <p:cNvPr id="57" name="TextBox 56"/>
              <p:cNvSpPr txBox="1"/>
              <p:nvPr/>
            </p:nvSpPr>
            <p:spPr>
              <a:xfrm>
                <a:off x="2616200" y="5029200"/>
                <a:ext cx="584200" cy="287258"/>
              </a:xfrm>
              <a:prstGeom prst="rect">
                <a:avLst/>
              </a:prstGeom>
              <a:noFill/>
            </p:spPr>
            <p:txBody>
              <a:bodyPr vert="horz" rtlCol="0">
                <a:spAutoFit/>
              </a:bodyPr>
              <a:lstStyle/>
              <a:p>
                <a:pPr algn="ctr"/>
                <a:r>
                  <a:rPr lang="en-GB" sz="1080">
                    <a:solidFill>
                      <a:srgbClr val="000000"/>
                    </a:solidFill>
                    <a:latin typeface="Trebuchet MS - 16"/>
                  </a:rPr>
                  <a:t>40</a:t>
                </a:r>
              </a:p>
            </p:txBody>
          </p:sp>
          <p:sp>
            <p:nvSpPr>
              <p:cNvPr id="58" name="TextBox 57"/>
              <p:cNvSpPr txBox="1"/>
              <p:nvPr/>
            </p:nvSpPr>
            <p:spPr>
              <a:xfrm>
                <a:off x="2616200" y="3124200"/>
                <a:ext cx="584200" cy="287258"/>
              </a:xfrm>
              <a:prstGeom prst="rect">
                <a:avLst/>
              </a:prstGeom>
              <a:noFill/>
            </p:spPr>
            <p:txBody>
              <a:bodyPr vert="horz" rtlCol="0">
                <a:spAutoFit/>
              </a:bodyPr>
              <a:lstStyle/>
              <a:p>
                <a:pPr algn="ctr"/>
                <a:r>
                  <a:rPr lang="en-GB" sz="1080">
                    <a:solidFill>
                      <a:srgbClr val="000000"/>
                    </a:solidFill>
                    <a:latin typeface="Trebuchet MS - 16"/>
                  </a:rPr>
                  <a:t>90</a:t>
                </a:r>
              </a:p>
            </p:txBody>
          </p:sp>
          <p:sp>
            <p:nvSpPr>
              <p:cNvPr id="59" name="TextBox 58"/>
              <p:cNvSpPr txBox="1"/>
              <p:nvPr/>
            </p:nvSpPr>
            <p:spPr>
              <a:xfrm>
                <a:off x="2616200" y="3505200"/>
                <a:ext cx="584200" cy="287258"/>
              </a:xfrm>
              <a:prstGeom prst="rect">
                <a:avLst/>
              </a:prstGeom>
              <a:noFill/>
            </p:spPr>
            <p:txBody>
              <a:bodyPr vert="horz" rtlCol="0">
                <a:spAutoFit/>
              </a:bodyPr>
              <a:lstStyle/>
              <a:p>
                <a:pPr algn="ctr"/>
                <a:r>
                  <a:rPr lang="en-GB" sz="1080">
                    <a:solidFill>
                      <a:srgbClr val="000000"/>
                    </a:solidFill>
                    <a:latin typeface="Trebuchet MS - 16"/>
                  </a:rPr>
                  <a:t>80</a:t>
                </a:r>
              </a:p>
            </p:txBody>
          </p:sp>
          <p:sp>
            <p:nvSpPr>
              <p:cNvPr id="60" name="TextBox 59"/>
              <p:cNvSpPr txBox="1"/>
              <p:nvPr/>
            </p:nvSpPr>
            <p:spPr>
              <a:xfrm>
                <a:off x="2616200" y="3886200"/>
                <a:ext cx="584200" cy="287258"/>
              </a:xfrm>
              <a:prstGeom prst="rect">
                <a:avLst/>
              </a:prstGeom>
              <a:noFill/>
            </p:spPr>
            <p:txBody>
              <a:bodyPr vert="horz" rtlCol="0">
                <a:spAutoFit/>
              </a:bodyPr>
              <a:lstStyle/>
              <a:p>
                <a:pPr algn="ctr"/>
                <a:r>
                  <a:rPr lang="en-GB" sz="1080">
                    <a:solidFill>
                      <a:srgbClr val="000000"/>
                    </a:solidFill>
                    <a:latin typeface="Trebuchet MS - 16"/>
                  </a:rPr>
                  <a:t>70</a:t>
                </a:r>
              </a:p>
            </p:txBody>
          </p:sp>
          <p:sp>
            <p:nvSpPr>
              <p:cNvPr id="61" name="TextBox 60"/>
              <p:cNvSpPr txBox="1"/>
              <p:nvPr/>
            </p:nvSpPr>
            <p:spPr>
              <a:xfrm>
                <a:off x="6604000" y="6667500"/>
                <a:ext cx="584200" cy="287258"/>
              </a:xfrm>
              <a:prstGeom prst="rect">
                <a:avLst/>
              </a:prstGeom>
              <a:noFill/>
            </p:spPr>
            <p:txBody>
              <a:bodyPr vert="horz" rtlCol="0">
                <a:spAutoFit/>
              </a:bodyPr>
              <a:lstStyle/>
              <a:p>
                <a:pPr algn="ctr"/>
                <a:r>
                  <a:rPr lang="en-GB" sz="1080">
                    <a:solidFill>
                      <a:srgbClr val="000000"/>
                    </a:solidFill>
                    <a:latin typeface="Trebuchet MS - 16"/>
                  </a:rPr>
                  <a:t>100</a:t>
                </a:r>
              </a:p>
            </p:txBody>
          </p:sp>
          <p:sp>
            <p:nvSpPr>
              <p:cNvPr id="62" name="TextBox 61"/>
              <p:cNvSpPr txBox="1"/>
              <p:nvPr/>
            </p:nvSpPr>
            <p:spPr>
              <a:xfrm>
                <a:off x="3937000" y="6667500"/>
                <a:ext cx="584200" cy="287258"/>
              </a:xfrm>
              <a:prstGeom prst="rect">
                <a:avLst/>
              </a:prstGeom>
              <a:noFill/>
            </p:spPr>
            <p:txBody>
              <a:bodyPr vert="horz" rtlCol="0">
                <a:spAutoFit/>
              </a:bodyPr>
              <a:lstStyle/>
              <a:p>
                <a:pPr algn="ctr"/>
                <a:r>
                  <a:rPr lang="en-GB" sz="1080">
                    <a:solidFill>
                      <a:srgbClr val="000000"/>
                    </a:solidFill>
                    <a:latin typeface="Trebuchet MS - 16"/>
                  </a:rPr>
                  <a:t>30</a:t>
                </a:r>
              </a:p>
            </p:txBody>
          </p:sp>
          <p:sp>
            <p:nvSpPr>
              <p:cNvPr id="63" name="TextBox 62"/>
              <p:cNvSpPr txBox="1"/>
              <p:nvPr/>
            </p:nvSpPr>
            <p:spPr>
              <a:xfrm>
                <a:off x="3556000" y="6667500"/>
                <a:ext cx="584200" cy="287258"/>
              </a:xfrm>
              <a:prstGeom prst="rect">
                <a:avLst/>
              </a:prstGeom>
              <a:noFill/>
            </p:spPr>
            <p:txBody>
              <a:bodyPr vert="horz" rtlCol="0">
                <a:spAutoFit/>
              </a:bodyPr>
              <a:lstStyle/>
              <a:p>
                <a:pPr algn="ctr"/>
                <a:r>
                  <a:rPr lang="en-GB" sz="1080">
                    <a:solidFill>
                      <a:srgbClr val="000000"/>
                    </a:solidFill>
                    <a:latin typeface="Trebuchet MS - 16"/>
                  </a:rPr>
                  <a:t>20</a:t>
                </a:r>
              </a:p>
            </p:txBody>
          </p:sp>
          <p:sp>
            <p:nvSpPr>
              <p:cNvPr id="64" name="TextBox 63"/>
              <p:cNvSpPr txBox="1"/>
              <p:nvPr/>
            </p:nvSpPr>
            <p:spPr>
              <a:xfrm>
                <a:off x="3175000" y="6667500"/>
                <a:ext cx="584200" cy="287258"/>
              </a:xfrm>
              <a:prstGeom prst="rect">
                <a:avLst/>
              </a:prstGeom>
              <a:noFill/>
            </p:spPr>
            <p:txBody>
              <a:bodyPr vert="horz" rtlCol="0">
                <a:spAutoFit/>
              </a:bodyPr>
              <a:lstStyle/>
              <a:p>
                <a:pPr algn="ctr"/>
                <a:r>
                  <a:rPr lang="en-GB" sz="1080">
                    <a:solidFill>
                      <a:srgbClr val="000000"/>
                    </a:solidFill>
                    <a:latin typeface="Trebuchet MS - 16"/>
                  </a:rPr>
                  <a:t>10</a:t>
                </a:r>
              </a:p>
            </p:txBody>
          </p:sp>
          <p:sp>
            <p:nvSpPr>
              <p:cNvPr id="65" name="TextBox 64"/>
              <p:cNvSpPr txBox="1"/>
              <p:nvPr/>
            </p:nvSpPr>
            <p:spPr>
              <a:xfrm>
                <a:off x="5080000" y="6667500"/>
                <a:ext cx="584200" cy="287258"/>
              </a:xfrm>
              <a:prstGeom prst="rect">
                <a:avLst/>
              </a:prstGeom>
              <a:noFill/>
            </p:spPr>
            <p:txBody>
              <a:bodyPr vert="horz" rtlCol="0">
                <a:spAutoFit/>
              </a:bodyPr>
              <a:lstStyle/>
              <a:p>
                <a:pPr algn="ctr"/>
                <a:r>
                  <a:rPr lang="en-GB" sz="1080">
                    <a:solidFill>
                      <a:srgbClr val="000000"/>
                    </a:solidFill>
                    <a:latin typeface="Trebuchet MS - 16"/>
                  </a:rPr>
                  <a:t>60</a:t>
                </a:r>
              </a:p>
            </p:txBody>
          </p:sp>
          <p:sp>
            <p:nvSpPr>
              <p:cNvPr id="66" name="TextBox 65"/>
              <p:cNvSpPr txBox="1"/>
              <p:nvPr/>
            </p:nvSpPr>
            <p:spPr>
              <a:xfrm>
                <a:off x="4699000" y="6667500"/>
                <a:ext cx="584200" cy="287258"/>
              </a:xfrm>
              <a:prstGeom prst="rect">
                <a:avLst/>
              </a:prstGeom>
              <a:noFill/>
            </p:spPr>
            <p:txBody>
              <a:bodyPr vert="horz" rtlCol="0">
                <a:spAutoFit/>
              </a:bodyPr>
              <a:lstStyle/>
              <a:p>
                <a:pPr algn="ctr"/>
                <a:r>
                  <a:rPr lang="en-GB" sz="1080">
                    <a:solidFill>
                      <a:srgbClr val="000000"/>
                    </a:solidFill>
                    <a:latin typeface="Trebuchet MS - 16"/>
                  </a:rPr>
                  <a:t>50</a:t>
                </a:r>
              </a:p>
            </p:txBody>
          </p:sp>
          <p:sp>
            <p:nvSpPr>
              <p:cNvPr id="67" name="TextBox 66"/>
              <p:cNvSpPr txBox="1"/>
              <p:nvPr/>
            </p:nvSpPr>
            <p:spPr>
              <a:xfrm>
                <a:off x="4318000" y="6654800"/>
                <a:ext cx="584200" cy="287258"/>
              </a:xfrm>
              <a:prstGeom prst="rect">
                <a:avLst/>
              </a:prstGeom>
              <a:noFill/>
            </p:spPr>
            <p:txBody>
              <a:bodyPr vert="horz" rtlCol="0">
                <a:spAutoFit/>
              </a:bodyPr>
              <a:lstStyle/>
              <a:p>
                <a:pPr algn="ctr"/>
                <a:r>
                  <a:rPr lang="en-GB" sz="1080">
                    <a:solidFill>
                      <a:srgbClr val="000000"/>
                    </a:solidFill>
                    <a:latin typeface="Trebuchet MS - 16"/>
                  </a:rPr>
                  <a:t>40</a:t>
                </a:r>
              </a:p>
            </p:txBody>
          </p:sp>
          <p:sp>
            <p:nvSpPr>
              <p:cNvPr id="68" name="TextBox 67"/>
              <p:cNvSpPr txBox="1"/>
              <p:nvPr/>
            </p:nvSpPr>
            <p:spPr>
              <a:xfrm>
                <a:off x="6223000" y="6667500"/>
                <a:ext cx="584200" cy="287258"/>
              </a:xfrm>
              <a:prstGeom prst="rect">
                <a:avLst/>
              </a:prstGeom>
              <a:noFill/>
            </p:spPr>
            <p:txBody>
              <a:bodyPr vert="horz" rtlCol="0">
                <a:spAutoFit/>
              </a:bodyPr>
              <a:lstStyle/>
              <a:p>
                <a:pPr algn="ctr"/>
                <a:r>
                  <a:rPr lang="en-GB" sz="1080">
                    <a:solidFill>
                      <a:srgbClr val="000000"/>
                    </a:solidFill>
                    <a:latin typeface="Trebuchet MS - 16"/>
                  </a:rPr>
                  <a:t>90</a:t>
                </a:r>
              </a:p>
            </p:txBody>
          </p:sp>
          <p:sp>
            <p:nvSpPr>
              <p:cNvPr id="69" name="TextBox 68"/>
              <p:cNvSpPr txBox="1"/>
              <p:nvPr/>
            </p:nvSpPr>
            <p:spPr>
              <a:xfrm>
                <a:off x="5842000" y="6667500"/>
                <a:ext cx="584200" cy="287258"/>
              </a:xfrm>
              <a:prstGeom prst="rect">
                <a:avLst/>
              </a:prstGeom>
              <a:noFill/>
            </p:spPr>
            <p:txBody>
              <a:bodyPr vert="horz" rtlCol="0">
                <a:spAutoFit/>
              </a:bodyPr>
              <a:lstStyle/>
              <a:p>
                <a:pPr algn="ctr"/>
                <a:r>
                  <a:rPr lang="en-GB" sz="1080">
                    <a:solidFill>
                      <a:srgbClr val="000000"/>
                    </a:solidFill>
                    <a:latin typeface="Trebuchet MS - 16"/>
                  </a:rPr>
                  <a:t>80</a:t>
                </a:r>
              </a:p>
            </p:txBody>
          </p:sp>
          <p:sp>
            <p:nvSpPr>
              <p:cNvPr id="70" name="TextBox 69"/>
              <p:cNvSpPr txBox="1"/>
              <p:nvPr/>
            </p:nvSpPr>
            <p:spPr>
              <a:xfrm>
                <a:off x="5461000" y="6667500"/>
                <a:ext cx="584200" cy="287258"/>
              </a:xfrm>
              <a:prstGeom prst="rect">
                <a:avLst/>
              </a:prstGeom>
              <a:noFill/>
            </p:spPr>
            <p:txBody>
              <a:bodyPr vert="horz" rtlCol="0">
                <a:spAutoFit/>
              </a:bodyPr>
              <a:lstStyle/>
              <a:p>
                <a:pPr algn="ctr"/>
                <a:r>
                  <a:rPr lang="en-GB" sz="1080">
                    <a:solidFill>
                      <a:srgbClr val="000000"/>
                    </a:solidFill>
                    <a:latin typeface="Trebuchet MS - 16"/>
                  </a:rPr>
                  <a:t>70</a:t>
                </a:r>
              </a:p>
            </p:txBody>
          </p:sp>
        </p:grpSp>
        <p:sp>
          <p:nvSpPr>
            <p:cNvPr id="72" name="TextBox 71"/>
            <p:cNvSpPr txBox="1"/>
            <p:nvPr/>
          </p:nvSpPr>
          <p:spPr>
            <a:xfrm>
              <a:off x="4381500" y="6921500"/>
              <a:ext cx="1473200" cy="287258"/>
            </a:xfrm>
            <a:prstGeom prst="rect">
              <a:avLst/>
            </a:prstGeom>
            <a:noFill/>
          </p:spPr>
          <p:txBody>
            <a:bodyPr vert="horz" rtlCol="0">
              <a:spAutoFit/>
            </a:bodyPr>
            <a:lstStyle/>
            <a:p>
              <a:pPr algn="ctr"/>
              <a:r>
                <a:rPr lang="en-GB" sz="1080">
                  <a:solidFill>
                    <a:srgbClr val="000000"/>
                  </a:solidFill>
                  <a:latin typeface="Trebuchet MS - 16"/>
                </a:rPr>
                <a:t>Maths mark</a:t>
              </a:r>
            </a:p>
          </p:txBody>
        </p:sp>
        <p:sp>
          <p:nvSpPr>
            <p:cNvPr id="73" name="TextBox 72"/>
            <p:cNvSpPr txBox="1"/>
            <p:nvPr/>
          </p:nvSpPr>
          <p:spPr>
            <a:xfrm rot="16200000">
              <a:off x="1849730" y="4452571"/>
              <a:ext cx="1482141" cy="287258"/>
            </a:xfrm>
            <a:prstGeom prst="rect">
              <a:avLst/>
            </a:prstGeom>
            <a:noFill/>
          </p:spPr>
          <p:txBody>
            <a:bodyPr vert="horz" rtlCol="0">
              <a:spAutoFit/>
            </a:bodyPr>
            <a:lstStyle/>
            <a:p>
              <a:pPr algn="ctr"/>
              <a:r>
                <a:rPr lang="en-GB" sz="1080">
                  <a:solidFill>
                    <a:srgbClr val="000000"/>
                  </a:solidFill>
                  <a:latin typeface="Trebuchet MS - 16"/>
                </a:rPr>
                <a:t>Art mark</a:t>
              </a:r>
            </a:p>
          </p:txBody>
        </p:sp>
      </p:grpSp>
    </p:spTree>
    <p:extLst>
      <p:ext uri="{BB962C8B-B14F-4D97-AF65-F5344CB8AC3E}">
        <p14:creationId xmlns:p14="http://schemas.microsoft.com/office/powerpoint/2010/main" val="4206894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55620" y="45720"/>
            <a:ext cx="5989320" cy="590931"/>
          </a:xfrm>
          <a:prstGeom prst="rect">
            <a:avLst/>
          </a:prstGeom>
          <a:noFill/>
        </p:spPr>
        <p:txBody>
          <a:bodyPr vert="horz" rtlCol="0">
            <a:spAutoFit/>
          </a:bodyPr>
          <a:lstStyle/>
          <a:p>
            <a:pPr algn="ctr"/>
            <a:r>
              <a:rPr lang="en-GB" sz="1620">
                <a:solidFill>
                  <a:srgbClr val="000000"/>
                </a:solidFill>
                <a:latin typeface="Trebuchet MS - 24"/>
              </a:rPr>
              <a:t>Draw a scatter graph of this information and describe the correlation:</a:t>
            </a:r>
          </a:p>
        </p:txBody>
      </p:sp>
      <p:graphicFrame>
        <p:nvGraphicFramePr>
          <p:cNvPr id="3" name="Table 2"/>
          <p:cNvGraphicFramePr>
            <a:graphicFrameLocks noGrp="1"/>
          </p:cNvGraphicFramePr>
          <p:nvPr>
            <p:extLst/>
          </p:nvPr>
        </p:nvGraphicFramePr>
        <p:xfrm>
          <a:off x="2214601" y="742950"/>
          <a:ext cx="7524944" cy="1564538"/>
        </p:xfrm>
        <a:graphic>
          <a:graphicData uri="http://schemas.openxmlformats.org/drawingml/2006/table">
            <a:tbl>
              <a:tblPr firstRow="1" bandRow="1">
                <a:tableStyleId>{5C22544A-7EE6-4342-B048-85BDC9FD1C3A}</a:tableStyleId>
              </a:tblPr>
              <a:tblGrid>
                <a:gridCol w="1933042">
                  <a:extLst>
                    <a:ext uri="{9D8B030D-6E8A-4147-A177-3AD203B41FA5}">
                      <a16:colId xmlns:a16="http://schemas.microsoft.com/office/drawing/2014/main" val="20000"/>
                    </a:ext>
                  </a:extLst>
                </a:gridCol>
                <a:gridCol w="698945">
                  <a:extLst>
                    <a:ext uri="{9D8B030D-6E8A-4147-A177-3AD203B41FA5}">
                      <a16:colId xmlns:a16="http://schemas.microsoft.com/office/drawing/2014/main" val="20001"/>
                    </a:ext>
                  </a:extLst>
                </a:gridCol>
                <a:gridCol w="698945">
                  <a:extLst>
                    <a:ext uri="{9D8B030D-6E8A-4147-A177-3AD203B41FA5}">
                      <a16:colId xmlns:a16="http://schemas.microsoft.com/office/drawing/2014/main" val="20002"/>
                    </a:ext>
                  </a:extLst>
                </a:gridCol>
                <a:gridCol w="699059">
                  <a:extLst>
                    <a:ext uri="{9D8B030D-6E8A-4147-A177-3AD203B41FA5}">
                      <a16:colId xmlns:a16="http://schemas.microsoft.com/office/drawing/2014/main" val="20003"/>
                    </a:ext>
                  </a:extLst>
                </a:gridCol>
                <a:gridCol w="698945">
                  <a:extLst>
                    <a:ext uri="{9D8B030D-6E8A-4147-A177-3AD203B41FA5}">
                      <a16:colId xmlns:a16="http://schemas.microsoft.com/office/drawing/2014/main" val="20004"/>
                    </a:ext>
                  </a:extLst>
                </a:gridCol>
                <a:gridCol w="699059">
                  <a:extLst>
                    <a:ext uri="{9D8B030D-6E8A-4147-A177-3AD203B41FA5}">
                      <a16:colId xmlns:a16="http://schemas.microsoft.com/office/drawing/2014/main" val="20005"/>
                    </a:ext>
                  </a:extLst>
                </a:gridCol>
                <a:gridCol w="699059">
                  <a:extLst>
                    <a:ext uri="{9D8B030D-6E8A-4147-A177-3AD203B41FA5}">
                      <a16:colId xmlns:a16="http://schemas.microsoft.com/office/drawing/2014/main" val="20006"/>
                    </a:ext>
                  </a:extLst>
                </a:gridCol>
                <a:gridCol w="698945">
                  <a:extLst>
                    <a:ext uri="{9D8B030D-6E8A-4147-A177-3AD203B41FA5}">
                      <a16:colId xmlns:a16="http://schemas.microsoft.com/office/drawing/2014/main" val="20007"/>
                    </a:ext>
                  </a:extLst>
                </a:gridCol>
                <a:gridCol w="698945">
                  <a:extLst>
                    <a:ext uri="{9D8B030D-6E8A-4147-A177-3AD203B41FA5}">
                      <a16:colId xmlns:a16="http://schemas.microsoft.com/office/drawing/2014/main" val="20008"/>
                    </a:ext>
                  </a:extLst>
                </a:gridCol>
              </a:tblGrid>
              <a:tr h="490118">
                <a:tc>
                  <a:txBody>
                    <a:bodyPr/>
                    <a:lstStyle/>
                    <a:p>
                      <a:r>
                        <a:rPr lang="en-GB" sz="2200" b="0" i="0" u="none" baseline="0">
                          <a:solidFill>
                            <a:srgbClr val="000000"/>
                          </a:solidFill>
                          <a:latin typeface="Trebuchet MS - 24"/>
                        </a:rPr>
                        <a:t>Student</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A</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B</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C</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D</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E</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F</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G</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H</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extLst>
                  <a:ext uri="{0D108BD9-81ED-4DB2-BD59-A6C34878D82A}">
                    <a16:rowId xmlns:a16="http://schemas.microsoft.com/office/drawing/2014/main" val="10000"/>
                  </a:ext>
                </a:extLst>
              </a:tr>
              <a:tr h="537210">
                <a:tc>
                  <a:txBody>
                    <a:bodyPr/>
                    <a:lstStyle/>
                    <a:p>
                      <a:r>
                        <a:rPr lang="en-GB" sz="2200" b="0" i="0" u="none" baseline="0">
                          <a:solidFill>
                            <a:srgbClr val="000000"/>
                          </a:solidFill>
                          <a:latin typeface="Trebuchet MS - 24"/>
                        </a:rPr>
                        <a:t>Maths mark</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56</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73</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51</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62</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24</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67</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94</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35</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extLst>
                  <a:ext uri="{0D108BD9-81ED-4DB2-BD59-A6C34878D82A}">
                    <a16:rowId xmlns:a16="http://schemas.microsoft.com/office/drawing/2014/main" val="10001"/>
                  </a:ext>
                </a:extLst>
              </a:tr>
              <a:tr h="537210">
                <a:tc>
                  <a:txBody>
                    <a:bodyPr/>
                    <a:lstStyle/>
                    <a:p>
                      <a:r>
                        <a:rPr lang="en-GB" sz="2200" b="0" i="0" u="none" baseline="0">
                          <a:solidFill>
                            <a:srgbClr val="000000"/>
                          </a:solidFill>
                          <a:latin typeface="Trebuchet MS - 24"/>
                        </a:rPr>
                        <a:t>Art mark</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54</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43</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47</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44</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82</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31</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18</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tc>
                  <a:txBody>
                    <a:bodyPr/>
                    <a:lstStyle/>
                    <a:p>
                      <a:r>
                        <a:rPr lang="en-GB" sz="2200" b="0" i="0" u="none" baseline="0">
                          <a:solidFill>
                            <a:srgbClr val="000000"/>
                          </a:solidFill>
                          <a:latin typeface="Trebuchet MS - 24"/>
                        </a:rPr>
                        <a:t>87</a:t>
                      </a:r>
                    </a:p>
                  </a:txBody>
                  <a:tcPr marL="82296" marR="82296" marT="41148" marB="41148">
                    <a:lnL w="38100" cmpd="sng">
                      <a:solidFill>
                        <a:srgbClr val="000000"/>
                      </a:solidFill>
                      <a:prstDash val="solid"/>
                    </a:lnL>
                    <a:lnR w="38100" cmpd="sng">
                      <a:solidFill>
                        <a:srgbClr val="000000"/>
                      </a:solidFill>
                      <a:prstDash val="solid"/>
                    </a:lnR>
                    <a:lnT w="38100" cmpd="sng">
                      <a:solidFill>
                        <a:srgbClr val="000000"/>
                      </a:solidFill>
                      <a:prstDash val="solid"/>
                    </a:lnT>
                    <a:lnB w="38100" cmpd="sng">
                      <a:solidFill>
                        <a:srgbClr val="000000"/>
                      </a:solidFill>
                      <a:prstDash val="solid"/>
                    </a:lnB>
                    <a:solidFill>
                      <a:srgbClr val="FFFFFF">
                        <a:alpha val="99996"/>
                      </a:srgbClr>
                    </a:solidFill>
                  </a:tcPr>
                </a:tc>
                <a:extLst>
                  <a:ext uri="{0D108BD9-81ED-4DB2-BD59-A6C34878D82A}">
                    <a16:rowId xmlns:a16="http://schemas.microsoft.com/office/drawing/2014/main" val="10002"/>
                  </a:ext>
                </a:extLst>
              </a:tr>
            </a:tbl>
          </a:graphicData>
        </a:graphic>
      </p:graphicFrame>
      <p:grpSp>
        <p:nvGrpSpPr>
          <p:cNvPr id="99" name="Group 98"/>
          <p:cNvGrpSpPr/>
          <p:nvPr/>
        </p:nvGrpSpPr>
        <p:grpSpPr>
          <a:xfrm>
            <a:off x="3680734" y="2433790"/>
            <a:ext cx="4266926" cy="4122672"/>
            <a:chOff x="2396371" y="2704211"/>
            <a:chExt cx="4741029" cy="4580747"/>
          </a:xfrm>
        </p:grpSpPr>
        <p:grpSp>
          <p:nvGrpSpPr>
            <p:cNvPr id="74" name="Group 73"/>
            <p:cNvGrpSpPr/>
            <p:nvPr/>
          </p:nvGrpSpPr>
          <p:grpSpPr>
            <a:xfrm>
              <a:off x="2396371" y="2704211"/>
              <a:ext cx="4741029" cy="4580747"/>
              <a:chOff x="2396371" y="2704211"/>
              <a:chExt cx="4741029" cy="4580747"/>
            </a:xfrm>
          </p:grpSpPr>
          <p:grpSp>
            <p:nvGrpSpPr>
              <p:cNvPr id="71" name="Group 70"/>
              <p:cNvGrpSpPr/>
              <p:nvPr/>
            </p:nvGrpSpPr>
            <p:grpSpPr>
              <a:xfrm>
                <a:off x="2501900" y="2704211"/>
                <a:ext cx="4635500" cy="4326747"/>
                <a:chOff x="2501900" y="2704211"/>
                <a:chExt cx="4635500" cy="4326747"/>
              </a:xfrm>
            </p:grpSpPr>
            <p:grpSp>
              <p:nvGrpSpPr>
                <p:cNvPr id="49" name="Group 48"/>
                <p:cNvGrpSpPr/>
                <p:nvPr/>
              </p:nvGrpSpPr>
              <p:grpSpPr>
                <a:xfrm>
                  <a:off x="3021711" y="2704211"/>
                  <a:ext cx="4061460" cy="4057397"/>
                  <a:chOff x="3021711" y="2704211"/>
                  <a:chExt cx="4061460" cy="4057397"/>
                </a:xfrm>
              </p:grpSpPr>
              <p:grpSp>
                <p:nvGrpSpPr>
                  <p:cNvPr id="46" name="Group 45"/>
                  <p:cNvGrpSpPr/>
                  <p:nvPr/>
                </p:nvGrpSpPr>
                <p:grpSpPr>
                  <a:xfrm>
                    <a:off x="3022727" y="2962910"/>
                    <a:ext cx="3801873" cy="3798698"/>
                    <a:chOff x="3022727" y="2962910"/>
                    <a:chExt cx="3801873" cy="3798698"/>
                  </a:xfrm>
                </p:grpSpPr>
                <p:sp>
                  <p:nvSpPr>
                    <p:cNvPr id="4" name="Freeform 3"/>
                    <p:cNvSpPr/>
                    <p:nvPr/>
                  </p:nvSpPr>
                  <p:spPr>
                    <a:xfrm>
                      <a:off x="3022727" y="2971419"/>
                      <a:ext cx="18924" cy="3776981"/>
                    </a:xfrm>
                    <a:custGeom>
                      <a:avLst/>
                      <a:gdLst/>
                      <a:ahLst/>
                      <a:cxnLst/>
                      <a:rect l="0" t="0" r="0" b="0"/>
                      <a:pathLst>
                        <a:path w="18924" h="3776981">
                          <a:moveTo>
                            <a:pt x="0" y="0"/>
                          </a:moveTo>
                          <a:lnTo>
                            <a:pt x="18923" y="0"/>
                          </a:lnTo>
                          <a:lnTo>
                            <a:pt x="18923" y="3776980"/>
                          </a:lnTo>
                          <a:lnTo>
                            <a:pt x="0" y="377698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5" name="Freeform 4"/>
                    <p:cNvSpPr/>
                    <p:nvPr/>
                  </p:nvSpPr>
                  <p:spPr>
                    <a:xfrm>
                      <a:off x="3022727" y="2962910"/>
                      <a:ext cx="3800603" cy="18924"/>
                    </a:xfrm>
                    <a:custGeom>
                      <a:avLst/>
                      <a:gdLst/>
                      <a:ahLst/>
                      <a:cxnLst/>
                      <a:rect l="0" t="0" r="0" b="0"/>
                      <a:pathLst>
                        <a:path w="3800603" h="18924">
                          <a:moveTo>
                            <a:pt x="0" y="0"/>
                          </a:moveTo>
                          <a:lnTo>
                            <a:pt x="3800602" y="0"/>
                          </a:lnTo>
                          <a:lnTo>
                            <a:pt x="3800602" y="18923"/>
                          </a:lnTo>
                          <a:lnTo>
                            <a:pt x="0" y="18923"/>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6" name="Freeform 5"/>
                    <p:cNvSpPr/>
                    <p:nvPr/>
                  </p:nvSpPr>
                  <p:spPr>
                    <a:xfrm>
                      <a:off x="3036062" y="3152775"/>
                      <a:ext cx="3780791" cy="19686"/>
                    </a:xfrm>
                    <a:custGeom>
                      <a:avLst/>
                      <a:gdLst/>
                      <a:ahLst/>
                      <a:cxnLst/>
                      <a:rect l="0" t="0" r="0" b="0"/>
                      <a:pathLst>
                        <a:path w="3780791" h="19686">
                          <a:moveTo>
                            <a:pt x="0" y="0"/>
                          </a:moveTo>
                          <a:lnTo>
                            <a:pt x="3780790" y="0"/>
                          </a:lnTo>
                          <a:lnTo>
                            <a:pt x="3780790" y="19685"/>
                          </a:lnTo>
                          <a:lnTo>
                            <a:pt x="0" y="19685"/>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7" name="Freeform 6"/>
                    <p:cNvSpPr/>
                    <p:nvPr/>
                  </p:nvSpPr>
                  <p:spPr>
                    <a:xfrm>
                      <a:off x="3213481" y="2972435"/>
                      <a:ext cx="19813" cy="3776981"/>
                    </a:xfrm>
                    <a:custGeom>
                      <a:avLst/>
                      <a:gdLst/>
                      <a:ahLst/>
                      <a:cxnLst/>
                      <a:rect l="0" t="0" r="0" b="0"/>
                      <a:pathLst>
                        <a:path w="19813" h="3776981">
                          <a:moveTo>
                            <a:pt x="0" y="0"/>
                          </a:moveTo>
                          <a:lnTo>
                            <a:pt x="19812" y="0"/>
                          </a:lnTo>
                          <a:lnTo>
                            <a:pt x="19812" y="3776980"/>
                          </a:lnTo>
                          <a:lnTo>
                            <a:pt x="0" y="377698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8" name="Freeform 7"/>
                    <p:cNvSpPr/>
                    <p:nvPr/>
                  </p:nvSpPr>
                  <p:spPr>
                    <a:xfrm>
                      <a:off x="3401314" y="2971419"/>
                      <a:ext cx="19813" cy="3776981"/>
                    </a:xfrm>
                    <a:custGeom>
                      <a:avLst/>
                      <a:gdLst/>
                      <a:ahLst/>
                      <a:cxnLst/>
                      <a:rect l="0" t="0" r="0" b="0"/>
                      <a:pathLst>
                        <a:path w="19813" h="3776981">
                          <a:moveTo>
                            <a:pt x="0" y="0"/>
                          </a:moveTo>
                          <a:lnTo>
                            <a:pt x="19812" y="0"/>
                          </a:lnTo>
                          <a:lnTo>
                            <a:pt x="19812" y="3776980"/>
                          </a:lnTo>
                          <a:lnTo>
                            <a:pt x="0" y="377698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9" name="Freeform 8"/>
                    <p:cNvSpPr/>
                    <p:nvPr/>
                  </p:nvSpPr>
                  <p:spPr>
                    <a:xfrm>
                      <a:off x="3591941" y="2972435"/>
                      <a:ext cx="21718" cy="3777997"/>
                    </a:xfrm>
                    <a:custGeom>
                      <a:avLst/>
                      <a:gdLst/>
                      <a:ahLst/>
                      <a:cxnLst/>
                      <a:rect l="0" t="0" r="0" b="0"/>
                      <a:pathLst>
                        <a:path w="21718" h="3777997">
                          <a:moveTo>
                            <a:pt x="0" y="0"/>
                          </a:moveTo>
                          <a:lnTo>
                            <a:pt x="21717" y="0"/>
                          </a:lnTo>
                          <a:lnTo>
                            <a:pt x="21717" y="3777996"/>
                          </a:lnTo>
                          <a:lnTo>
                            <a:pt x="0" y="3777996"/>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0" name="Freeform 9"/>
                    <p:cNvSpPr/>
                    <p:nvPr/>
                  </p:nvSpPr>
                  <p:spPr>
                    <a:xfrm>
                      <a:off x="3776980" y="2971419"/>
                      <a:ext cx="22734" cy="3779013"/>
                    </a:xfrm>
                    <a:custGeom>
                      <a:avLst/>
                      <a:gdLst/>
                      <a:ahLst/>
                      <a:cxnLst/>
                      <a:rect l="0" t="0" r="0" b="0"/>
                      <a:pathLst>
                        <a:path w="22734" h="3779013">
                          <a:moveTo>
                            <a:pt x="0" y="0"/>
                          </a:moveTo>
                          <a:lnTo>
                            <a:pt x="22733" y="0"/>
                          </a:lnTo>
                          <a:lnTo>
                            <a:pt x="22733" y="3779012"/>
                          </a:lnTo>
                          <a:lnTo>
                            <a:pt x="0" y="3779012"/>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1" name="Freeform 10"/>
                    <p:cNvSpPr/>
                    <p:nvPr/>
                  </p:nvSpPr>
                  <p:spPr>
                    <a:xfrm>
                      <a:off x="3967734" y="2972435"/>
                      <a:ext cx="19686" cy="3776981"/>
                    </a:xfrm>
                    <a:custGeom>
                      <a:avLst/>
                      <a:gdLst/>
                      <a:ahLst/>
                      <a:cxnLst/>
                      <a:rect l="0" t="0" r="0" b="0"/>
                      <a:pathLst>
                        <a:path w="19686" h="3776981">
                          <a:moveTo>
                            <a:pt x="0" y="0"/>
                          </a:moveTo>
                          <a:lnTo>
                            <a:pt x="19685" y="0"/>
                          </a:lnTo>
                          <a:lnTo>
                            <a:pt x="19685" y="3776980"/>
                          </a:lnTo>
                          <a:lnTo>
                            <a:pt x="0" y="377698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2" name="Freeform 11"/>
                    <p:cNvSpPr/>
                    <p:nvPr/>
                  </p:nvSpPr>
                  <p:spPr>
                    <a:xfrm>
                      <a:off x="4158488" y="2973451"/>
                      <a:ext cx="21718" cy="3777997"/>
                    </a:xfrm>
                    <a:custGeom>
                      <a:avLst/>
                      <a:gdLst/>
                      <a:ahLst/>
                      <a:cxnLst/>
                      <a:rect l="0" t="0" r="0" b="0"/>
                      <a:pathLst>
                        <a:path w="21718" h="3777997">
                          <a:moveTo>
                            <a:pt x="0" y="0"/>
                          </a:moveTo>
                          <a:lnTo>
                            <a:pt x="21717" y="0"/>
                          </a:lnTo>
                          <a:lnTo>
                            <a:pt x="21717" y="3777996"/>
                          </a:lnTo>
                          <a:lnTo>
                            <a:pt x="0" y="3777996"/>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3" name="Freeform 12"/>
                    <p:cNvSpPr/>
                    <p:nvPr/>
                  </p:nvSpPr>
                  <p:spPr>
                    <a:xfrm>
                      <a:off x="4347210" y="2972435"/>
                      <a:ext cx="20702" cy="3776981"/>
                    </a:xfrm>
                    <a:custGeom>
                      <a:avLst/>
                      <a:gdLst/>
                      <a:ahLst/>
                      <a:cxnLst/>
                      <a:rect l="0" t="0" r="0" b="0"/>
                      <a:pathLst>
                        <a:path w="20702" h="3776981">
                          <a:moveTo>
                            <a:pt x="0" y="0"/>
                          </a:moveTo>
                          <a:lnTo>
                            <a:pt x="20701" y="0"/>
                          </a:lnTo>
                          <a:lnTo>
                            <a:pt x="20701" y="3776980"/>
                          </a:lnTo>
                          <a:lnTo>
                            <a:pt x="0" y="377698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4" name="Freeform 13"/>
                    <p:cNvSpPr/>
                    <p:nvPr/>
                  </p:nvSpPr>
                  <p:spPr>
                    <a:xfrm>
                      <a:off x="4536948" y="2974086"/>
                      <a:ext cx="22734" cy="3776092"/>
                    </a:xfrm>
                    <a:custGeom>
                      <a:avLst/>
                      <a:gdLst/>
                      <a:ahLst/>
                      <a:cxnLst/>
                      <a:rect l="0" t="0" r="0" b="0"/>
                      <a:pathLst>
                        <a:path w="22734" h="3776092">
                          <a:moveTo>
                            <a:pt x="0" y="0"/>
                          </a:moveTo>
                          <a:lnTo>
                            <a:pt x="22733" y="0"/>
                          </a:lnTo>
                          <a:lnTo>
                            <a:pt x="22733" y="3776091"/>
                          </a:lnTo>
                          <a:lnTo>
                            <a:pt x="0" y="3776091"/>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5" name="Freeform 14"/>
                    <p:cNvSpPr/>
                    <p:nvPr/>
                  </p:nvSpPr>
                  <p:spPr>
                    <a:xfrm>
                      <a:off x="4720971" y="2972435"/>
                      <a:ext cx="24385" cy="3776981"/>
                    </a:xfrm>
                    <a:custGeom>
                      <a:avLst/>
                      <a:gdLst/>
                      <a:ahLst/>
                      <a:cxnLst/>
                      <a:rect l="0" t="0" r="0" b="0"/>
                      <a:pathLst>
                        <a:path w="24385" h="3776981">
                          <a:moveTo>
                            <a:pt x="0" y="0"/>
                          </a:moveTo>
                          <a:lnTo>
                            <a:pt x="24384" y="0"/>
                          </a:lnTo>
                          <a:lnTo>
                            <a:pt x="24384" y="3776980"/>
                          </a:lnTo>
                          <a:lnTo>
                            <a:pt x="0" y="377698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6" name="Freeform 15"/>
                    <p:cNvSpPr/>
                    <p:nvPr/>
                  </p:nvSpPr>
                  <p:spPr>
                    <a:xfrm>
                      <a:off x="4912868" y="2973451"/>
                      <a:ext cx="19686" cy="3774187"/>
                    </a:xfrm>
                    <a:custGeom>
                      <a:avLst/>
                      <a:gdLst/>
                      <a:ahLst/>
                      <a:cxnLst/>
                      <a:rect l="0" t="0" r="0" b="0"/>
                      <a:pathLst>
                        <a:path w="19686" h="3774187">
                          <a:moveTo>
                            <a:pt x="0" y="0"/>
                          </a:moveTo>
                          <a:lnTo>
                            <a:pt x="19685" y="0"/>
                          </a:lnTo>
                          <a:lnTo>
                            <a:pt x="19685" y="3774186"/>
                          </a:lnTo>
                          <a:lnTo>
                            <a:pt x="0" y="3774186"/>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7" name="Freeform 16"/>
                    <p:cNvSpPr/>
                    <p:nvPr/>
                  </p:nvSpPr>
                  <p:spPr>
                    <a:xfrm>
                      <a:off x="5103495" y="2973451"/>
                      <a:ext cx="21591" cy="3775203"/>
                    </a:xfrm>
                    <a:custGeom>
                      <a:avLst/>
                      <a:gdLst/>
                      <a:ahLst/>
                      <a:cxnLst/>
                      <a:rect l="0" t="0" r="0" b="0"/>
                      <a:pathLst>
                        <a:path w="21591" h="3775203">
                          <a:moveTo>
                            <a:pt x="0" y="0"/>
                          </a:moveTo>
                          <a:lnTo>
                            <a:pt x="21590" y="0"/>
                          </a:lnTo>
                          <a:lnTo>
                            <a:pt x="21590" y="3775202"/>
                          </a:lnTo>
                          <a:lnTo>
                            <a:pt x="0" y="3775202"/>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8" name="Freeform 17"/>
                    <p:cNvSpPr/>
                    <p:nvPr/>
                  </p:nvSpPr>
                  <p:spPr>
                    <a:xfrm>
                      <a:off x="5292217" y="2973451"/>
                      <a:ext cx="20702" cy="3775965"/>
                    </a:xfrm>
                    <a:custGeom>
                      <a:avLst/>
                      <a:gdLst/>
                      <a:ahLst/>
                      <a:cxnLst/>
                      <a:rect l="0" t="0" r="0" b="0"/>
                      <a:pathLst>
                        <a:path w="20702" h="3775965">
                          <a:moveTo>
                            <a:pt x="0" y="0"/>
                          </a:moveTo>
                          <a:lnTo>
                            <a:pt x="20701" y="0"/>
                          </a:lnTo>
                          <a:lnTo>
                            <a:pt x="20701" y="3775964"/>
                          </a:lnTo>
                          <a:lnTo>
                            <a:pt x="0" y="3775964"/>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19" name="Freeform 18"/>
                    <p:cNvSpPr/>
                    <p:nvPr/>
                  </p:nvSpPr>
                  <p:spPr>
                    <a:xfrm>
                      <a:off x="5482082" y="2974086"/>
                      <a:ext cx="22734" cy="3778124"/>
                    </a:xfrm>
                    <a:custGeom>
                      <a:avLst/>
                      <a:gdLst/>
                      <a:ahLst/>
                      <a:cxnLst/>
                      <a:rect l="0" t="0" r="0" b="0"/>
                      <a:pathLst>
                        <a:path w="22734" h="3778124">
                          <a:moveTo>
                            <a:pt x="0" y="0"/>
                          </a:moveTo>
                          <a:lnTo>
                            <a:pt x="22733" y="0"/>
                          </a:lnTo>
                          <a:lnTo>
                            <a:pt x="22733" y="3778123"/>
                          </a:lnTo>
                          <a:lnTo>
                            <a:pt x="0" y="3778123"/>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0" name="Freeform 19"/>
                    <p:cNvSpPr/>
                    <p:nvPr/>
                  </p:nvSpPr>
                  <p:spPr>
                    <a:xfrm>
                      <a:off x="5666105" y="2972435"/>
                      <a:ext cx="24512" cy="3779013"/>
                    </a:xfrm>
                    <a:custGeom>
                      <a:avLst/>
                      <a:gdLst/>
                      <a:ahLst/>
                      <a:cxnLst/>
                      <a:rect l="0" t="0" r="0" b="0"/>
                      <a:pathLst>
                        <a:path w="24512" h="3779013">
                          <a:moveTo>
                            <a:pt x="0" y="0"/>
                          </a:moveTo>
                          <a:lnTo>
                            <a:pt x="24511" y="0"/>
                          </a:lnTo>
                          <a:lnTo>
                            <a:pt x="24511" y="3779012"/>
                          </a:lnTo>
                          <a:lnTo>
                            <a:pt x="0" y="3779012"/>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1" name="Freeform 20"/>
                    <p:cNvSpPr/>
                    <p:nvPr/>
                  </p:nvSpPr>
                  <p:spPr>
                    <a:xfrm>
                      <a:off x="5857748" y="2973451"/>
                      <a:ext cx="21718" cy="3776981"/>
                    </a:xfrm>
                    <a:custGeom>
                      <a:avLst/>
                      <a:gdLst/>
                      <a:ahLst/>
                      <a:cxnLst/>
                      <a:rect l="0" t="0" r="0" b="0"/>
                      <a:pathLst>
                        <a:path w="21718" h="3776981">
                          <a:moveTo>
                            <a:pt x="0" y="0"/>
                          </a:moveTo>
                          <a:lnTo>
                            <a:pt x="21717" y="0"/>
                          </a:lnTo>
                          <a:lnTo>
                            <a:pt x="21717" y="3776980"/>
                          </a:lnTo>
                          <a:lnTo>
                            <a:pt x="0" y="377698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2" name="Freeform 21"/>
                    <p:cNvSpPr/>
                    <p:nvPr/>
                  </p:nvSpPr>
                  <p:spPr>
                    <a:xfrm>
                      <a:off x="6048248" y="2974086"/>
                      <a:ext cx="23496" cy="3778124"/>
                    </a:xfrm>
                    <a:custGeom>
                      <a:avLst/>
                      <a:gdLst/>
                      <a:ahLst/>
                      <a:cxnLst/>
                      <a:rect l="0" t="0" r="0" b="0"/>
                      <a:pathLst>
                        <a:path w="23496" h="3778124">
                          <a:moveTo>
                            <a:pt x="0" y="0"/>
                          </a:moveTo>
                          <a:lnTo>
                            <a:pt x="23495" y="0"/>
                          </a:lnTo>
                          <a:lnTo>
                            <a:pt x="23495" y="3778123"/>
                          </a:lnTo>
                          <a:lnTo>
                            <a:pt x="0" y="3778123"/>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3" name="Freeform 22"/>
                    <p:cNvSpPr/>
                    <p:nvPr/>
                  </p:nvSpPr>
                  <p:spPr>
                    <a:xfrm>
                      <a:off x="6237097" y="2973451"/>
                      <a:ext cx="22734" cy="3776981"/>
                    </a:xfrm>
                    <a:custGeom>
                      <a:avLst/>
                      <a:gdLst/>
                      <a:ahLst/>
                      <a:cxnLst/>
                      <a:rect l="0" t="0" r="0" b="0"/>
                      <a:pathLst>
                        <a:path w="22734" h="3776981">
                          <a:moveTo>
                            <a:pt x="0" y="0"/>
                          </a:moveTo>
                          <a:lnTo>
                            <a:pt x="22733" y="0"/>
                          </a:lnTo>
                          <a:lnTo>
                            <a:pt x="22733" y="3776980"/>
                          </a:lnTo>
                          <a:lnTo>
                            <a:pt x="0" y="377698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4" name="Freeform 23"/>
                    <p:cNvSpPr/>
                    <p:nvPr/>
                  </p:nvSpPr>
                  <p:spPr>
                    <a:xfrm>
                      <a:off x="6425819" y="2973451"/>
                      <a:ext cx="24639" cy="3779013"/>
                    </a:xfrm>
                    <a:custGeom>
                      <a:avLst/>
                      <a:gdLst/>
                      <a:ahLst/>
                      <a:cxnLst/>
                      <a:rect l="0" t="0" r="0" b="0"/>
                      <a:pathLst>
                        <a:path w="24639" h="3779013">
                          <a:moveTo>
                            <a:pt x="0" y="0"/>
                          </a:moveTo>
                          <a:lnTo>
                            <a:pt x="24638" y="0"/>
                          </a:lnTo>
                          <a:lnTo>
                            <a:pt x="24638" y="3779012"/>
                          </a:lnTo>
                          <a:lnTo>
                            <a:pt x="0" y="3779012"/>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5" name="Freeform 24"/>
                    <p:cNvSpPr/>
                    <p:nvPr/>
                  </p:nvSpPr>
                  <p:spPr>
                    <a:xfrm>
                      <a:off x="6611112" y="2973451"/>
                      <a:ext cx="26417" cy="3779013"/>
                    </a:xfrm>
                    <a:custGeom>
                      <a:avLst/>
                      <a:gdLst/>
                      <a:ahLst/>
                      <a:cxnLst/>
                      <a:rect l="0" t="0" r="0" b="0"/>
                      <a:pathLst>
                        <a:path w="26417" h="3779013">
                          <a:moveTo>
                            <a:pt x="0" y="0"/>
                          </a:moveTo>
                          <a:lnTo>
                            <a:pt x="26416" y="0"/>
                          </a:lnTo>
                          <a:lnTo>
                            <a:pt x="26416" y="3779012"/>
                          </a:lnTo>
                          <a:lnTo>
                            <a:pt x="0" y="3779012"/>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6" name="Freeform 25"/>
                    <p:cNvSpPr/>
                    <p:nvPr/>
                  </p:nvSpPr>
                  <p:spPr>
                    <a:xfrm>
                      <a:off x="6797167" y="2970403"/>
                      <a:ext cx="27433" cy="3779775"/>
                    </a:xfrm>
                    <a:custGeom>
                      <a:avLst/>
                      <a:gdLst/>
                      <a:ahLst/>
                      <a:cxnLst/>
                      <a:rect l="0" t="0" r="0" b="0"/>
                      <a:pathLst>
                        <a:path w="27433" h="3779775">
                          <a:moveTo>
                            <a:pt x="0" y="0"/>
                          </a:moveTo>
                          <a:lnTo>
                            <a:pt x="27432" y="0"/>
                          </a:lnTo>
                          <a:lnTo>
                            <a:pt x="27432" y="3779774"/>
                          </a:lnTo>
                          <a:lnTo>
                            <a:pt x="0" y="3779774"/>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7" name="Freeform 26"/>
                    <p:cNvSpPr/>
                    <p:nvPr/>
                  </p:nvSpPr>
                  <p:spPr>
                    <a:xfrm>
                      <a:off x="3034030" y="3342386"/>
                      <a:ext cx="3777108" cy="19686"/>
                    </a:xfrm>
                    <a:custGeom>
                      <a:avLst/>
                      <a:gdLst/>
                      <a:ahLst/>
                      <a:cxnLst/>
                      <a:rect l="0" t="0" r="0" b="0"/>
                      <a:pathLst>
                        <a:path w="3777108" h="19686">
                          <a:moveTo>
                            <a:pt x="0" y="0"/>
                          </a:moveTo>
                          <a:lnTo>
                            <a:pt x="3777107" y="0"/>
                          </a:lnTo>
                          <a:lnTo>
                            <a:pt x="3777107" y="19685"/>
                          </a:lnTo>
                          <a:lnTo>
                            <a:pt x="0" y="19685"/>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8" name="Freeform 27"/>
                    <p:cNvSpPr/>
                    <p:nvPr/>
                  </p:nvSpPr>
                  <p:spPr>
                    <a:xfrm>
                      <a:off x="3034919" y="3530600"/>
                      <a:ext cx="3782950" cy="19686"/>
                    </a:xfrm>
                    <a:custGeom>
                      <a:avLst/>
                      <a:gdLst/>
                      <a:ahLst/>
                      <a:cxnLst/>
                      <a:rect l="0" t="0" r="0" b="0"/>
                      <a:pathLst>
                        <a:path w="3782950" h="19686">
                          <a:moveTo>
                            <a:pt x="0" y="0"/>
                          </a:moveTo>
                          <a:lnTo>
                            <a:pt x="3782949" y="0"/>
                          </a:lnTo>
                          <a:lnTo>
                            <a:pt x="3782949" y="19685"/>
                          </a:lnTo>
                          <a:lnTo>
                            <a:pt x="0" y="19685"/>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29" name="Freeform 28"/>
                    <p:cNvSpPr/>
                    <p:nvPr/>
                  </p:nvSpPr>
                  <p:spPr>
                    <a:xfrm>
                      <a:off x="3033141" y="3715385"/>
                      <a:ext cx="3783712" cy="20702"/>
                    </a:xfrm>
                    <a:custGeom>
                      <a:avLst/>
                      <a:gdLst/>
                      <a:ahLst/>
                      <a:cxnLst/>
                      <a:rect l="0" t="0" r="0" b="0"/>
                      <a:pathLst>
                        <a:path w="3783712" h="20702">
                          <a:moveTo>
                            <a:pt x="0" y="0"/>
                          </a:moveTo>
                          <a:lnTo>
                            <a:pt x="3783711" y="0"/>
                          </a:lnTo>
                          <a:lnTo>
                            <a:pt x="3783711" y="20701"/>
                          </a:lnTo>
                          <a:lnTo>
                            <a:pt x="0" y="20701"/>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0" name="Freeform 29"/>
                    <p:cNvSpPr/>
                    <p:nvPr/>
                  </p:nvSpPr>
                  <p:spPr>
                    <a:xfrm>
                      <a:off x="3036951" y="4663567"/>
                      <a:ext cx="3783712" cy="20702"/>
                    </a:xfrm>
                    <a:custGeom>
                      <a:avLst/>
                      <a:gdLst/>
                      <a:ahLst/>
                      <a:cxnLst/>
                      <a:rect l="0" t="0" r="0" b="0"/>
                      <a:pathLst>
                        <a:path w="3783712" h="20702">
                          <a:moveTo>
                            <a:pt x="0" y="0"/>
                          </a:moveTo>
                          <a:lnTo>
                            <a:pt x="3783711" y="0"/>
                          </a:lnTo>
                          <a:lnTo>
                            <a:pt x="3783711" y="20701"/>
                          </a:lnTo>
                          <a:lnTo>
                            <a:pt x="0" y="20701"/>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1" name="Freeform 30"/>
                    <p:cNvSpPr/>
                    <p:nvPr/>
                  </p:nvSpPr>
                  <p:spPr>
                    <a:xfrm>
                      <a:off x="3034919" y="4475734"/>
                      <a:ext cx="3783712" cy="20575"/>
                    </a:xfrm>
                    <a:custGeom>
                      <a:avLst/>
                      <a:gdLst/>
                      <a:ahLst/>
                      <a:cxnLst/>
                      <a:rect l="0" t="0" r="0" b="0"/>
                      <a:pathLst>
                        <a:path w="3783712" h="20575">
                          <a:moveTo>
                            <a:pt x="0" y="0"/>
                          </a:moveTo>
                          <a:lnTo>
                            <a:pt x="3783711" y="0"/>
                          </a:lnTo>
                          <a:lnTo>
                            <a:pt x="3783711" y="20574"/>
                          </a:lnTo>
                          <a:lnTo>
                            <a:pt x="0" y="20574"/>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2" name="Freeform 31"/>
                    <p:cNvSpPr/>
                    <p:nvPr/>
                  </p:nvSpPr>
                  <p:spPr>
                    <a:xfrm>
                      <a:off x="3034919" y="4285869"/>
                      <a:ext cx="3777108" cy="20702"/>
                    </a:xfrm>
                    <a:custGeom>
                      <a:avLst/>
                      <a:gdLst/>
                      <a:ahLst/>
                      <a:cxnLst/>
                      <a:rect l="0" t="0" r="0" b="0"/>
                      <a:pathLst>
                        <a:path w="3777108" h="20702">
                          <a:moveTo>
                            <a:pt x="0" y="0"/>
                          </a:moveTo>
                          <a:lnTo>
                            <a:pt x="3777107" y="0"/>
                          </a:lnTo>
                          <a:lnTo>
                            <a:pt x="3777107" y="20701"/>
                          </a:lnTo>
                          <a:lnTo>
                            <a:pt x="0" y="20701"/>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3" name="Freeform 32"/>
                    <p:cNvSpPr/>
                    <p:nvPr/>
                  </p:nvSpPr>
                  <p:spPr>
                    <a:xfrm>
                      <a:off x="3036951" y="4096131"/>
                      <a:ext cx="3782950" cy="19686"/>
                    </a:xfrm>
                    <a:custGeom>
                      <a:avLst/>
                      <a:gdLst/>
                      <a:ahLst/>
                      <a:cxnLst/>
                      <a:rect l="0" t="0" r="0" b="0"/>
                      <a:pathLst>
                        <a:path w="3782950" h="19686">
                          <a:moveTo>
                            <a:pt x="0" y="0"/>
                          </a:moveTo>
                          <a:lnTo>
                            <a:pt x="3782949" y="0"/>
                          </a:lnTo>
                          <a:lnTo>
                            <a:pt x="3782949" y="19685"/>
                          </a:lnTo>
                          <a:lnTo>
                            <a:pt x="0" y="19685"/>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4" name="Freeform 33"/>
                    <p:cNvSpPr/>
                    <p:nvPr/>
                  </p:nvSpPr>
                  <p:spPr>
                    <a:xfrm>
                      <a:off x="3036062" y="3908044"/>
                      <a:ext cx="3772282" cy="19686"/>
                    </a:xfrm>
                    <a:custGeom>
                      <a:avLst/>
                      <a:gdLst/>
                      <a:ahLst/>
                      <a:cxnLst/>
                      <a:rect l="0" t="0" r="0" b="0"/>
                      <a:pathLst>
                        <a:path w="3772282" h="19686">
                          <a:moveTo>
                            <a:pt x="0" y="0"/>
                          </a:moveTo>
                          <a:lnTo>
                            <a:pt x="3772281" y="0"/>
                          </a:lnTo>
                          <a:lnTo>
                            <a:pt x="3772281" y="19685"/>
                          </a:lnTo>
                          <a:lnTo>
                            <a:pt x="0" y="19685"/>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5" name="Freeform 34"/>
                    <p:cNvSpPr/>
                    <p:nvPr/>
                  </p:nvSpPr>
                  <p:spPr>
                    <a:xfrm>
                      <a:off x="3034030" y="4850384"/>
                      <a:ext cx="3776092" cy="19813"/>
                    </a:xfrm>
                    <a:custGeom>
                      <a:avLst/>
                      <a:gdLst/>
                      <a:ahLst/>
                      <a:cxnLst/>
                      <a:rect l="0" t="0" r="0" b="0"/>
                      <a:pathLst>
                        <a:path w="3776092" h="19813">
                          <a:moveTo>
                            <a:pt x="0" y="0"/>
                          </a:moveTo>
                          <a:lnTo>
                            <a:pt x="3776091" y="0"/>
                          </a:lnTo>
                          <a:lnTo>
                            <a:pt x="3776091" y="19812"/>
                          </a:lnTo>
                          <a:lnTo>
                            <a:pt x="0" y="19812"/>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6" name="Freeform 35"/>
                    <p:cNvSpPr/>
                    <p:nvPr/>
                  </p:nvSpPr>
                  <p:spPr>
                    <a:xfrm>
                      <a:off x="3033141" y="5040376"/>
                      <a:ext cx="3783077" cy="19686"/>
                    </a:xfrm>
                    <a:custGeom>
                      <a:avLst/>
                      <a:gdLst/>
                      <a:ahLst/>
                      <a:cxnLst/>
                      <a:rect l="0" t="0" r="0" b="0"/>
                      <a:pathLst>
                        <a:path w="3783077" h="19686">
                          <a:moveTo>
                            <a:pt x="0" y="0"/>
                          </a:moveTo>
                          <a:lnTo>
                            <a:pt x="3783076" y="0"/>
                          </a:lnTo>
                          <a:lnTo>
                            <a:pt x="3783076" y="19685"/>
                          </a:lnTo>
                          <a:lnTo>
                            <a:pt x="0" y="19685"/>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7" name="Freeform 36"/>
                    <p:cNvSpPr/>
                    <p:nvPr/>
                  </p:nvSpPr>
                  <p:spPr>
                    <a:xfrm>
                      <a:off x="3032125" y="5230114"/>
                      <a:ext cx="3780918" cy="20702"/>
                    </a:xfrm>
                    <a:custGeom>
                      <a:avLst/>
                      <a:gdLst/>
                      <a:ahLst/>
                      <a:cxnLst/>
                      <a:rect l="0" t="0" r="0" b="0"/>
                      <a:pathLst>
                        <a:path w="3780918" h="20702">
                          <a:moveTo>
                            <a:pt x="0" y="0"/>
                          </a:moveTo>
                          <a:lnTo>
                            <a:pt x="3780917" y="0"/>
                          </a:lnTo>
                          <a:lnTo>
                            <a:pt x="3780917" y="20701"/>
                          </a:lnTo>
                          <a:lnTo>
                            <a:pt x="0" y="20701"/>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8" name="Freeform 37"/>
                    <p:cNvSpPr/>
                    <p:nvPr/>
                  </p:nvSpPr>
                  <p:spPr>
                    <a:xfrm>
                      <a:off x="3033141" y="5418074"/>
                      <a:ext cx="3783712" cy="20702"/>
                    </a:xfrm>
                    <a:custGeom>
                      <a:avLst/>
                      <a:gdLst/>
                      <a:ahLst/>
                      <a:cxnLst/>
                      <a:rect l="0" t="0" r="0" b="0"/>
                      <a:pathLst>
                        <a:path w="3783712" h="20702">
                          <a:moveTo>
                            <a:pt x="0" y="0"/>
                          </a:moveTo>
                          <a:lnTo>
                            <a:pt x="3783711" y="0"/>
                          </a:lnTo>
                          <a:lnTo>
                            <a:pt x="3783711" y="20701"/>
                          </a:lnTo>
                          <a:lnTo>
                            <a:pt x="0" y="20701"/>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39" name="Freeform 38"/>
                    <p:cNvSpPr/>
                    <p:nvPr/>
                  </p:nvSpPr>
                  <p:spPr>
                    <a:xfrm>
                      <a:off x="3032125" y="5603113"/>
                      <a:ext cx="3783585" cy="20829"/>
                    </a:xfrm>
                    <a:custGeom>
                      <a:avLst/>
                      <a:gdLst/>
                      <a:ahLst/>
                      <a:cxnLst/>
                      <a:rect l="0" t="0" r="0" b="0"/>
                      <a:pathLst>
                        <a:path w="3783585" h="20829">
                          <a:moveTo>
                            <a:pt x="0" y="0"/>
                          </a:moveTo>
                          <a:lnTo>
                            <a:pt x="3783584" y="0"/>
                          </a:lnTo>
                          <a:lnTo>
                            <a:pt x="3783584" y="20828"/>
                          </a:lnTo>
                          <a:lnTo>
                            <a:pt x="0" y="20828"/>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40" name="Freeform 39"/>
                    <p:cNvSpPr/>
                    <p:nvPr/>
                  </p:nvSpPr>
                  <p:spPr>
                    <a:xfrm>
                      <a:off x="3034919" y="6547231"/>
                      <a:ext cx="3783712" cy="22861"/>
                    </a:xfrm>
                    <a:custGeom>
                      <a:avLst/>
                      <a:gdLst/>
                      <a:ahLst/>
                      <a:cxnLst/>
                      <a:rect l="0" t="0" r="0" b="0"/>
                      <a:pathLst>
                        <a:path w="3783712" h="22861">
                          <a:moveTo>
                            <a:pt x="0" y="0"/>
                          </a:moveTo>
                          <a:lnTo>
                            <a:pt x="3783711" y="0"/>
                          </a:lnTo>
                          <a:lnTo>
                            <a:pt x="3783711" y="22860"/>
                          </a:lnTo>
                          <a:lnTo>
                            <a:pt x="0" y="22860"/>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41" name="Freeform 40"/>
                    <p:cNvSpPr/>
                    <p:nvPr/>
                  </p:nvSpPr>
                  <p:spPr>
                    <a:xfrm>
                      <a:off x="3034919" y="6362192"/>
                      <a:ext cx="3784728" cy="22606"/>
                    </a:xfrm>
                    <a:custGeom>
                      <a:avLst/>
                      <a:gdLst/>
                      <a:ahLst/>
                      <a:cxnLst/>
                      <a:rect l="0" t="0" r="0" b="0"/>
                      <a:pathLst>
                        <a:path w="3784728" h="22606">
                          <a:moveTo>
                            <a:pt x="0" y="0"/>
                          </a:moveTo>
                          <a:lnTo>
                            <a:pt x="3784727" y="0"/>
                          </a:lnTo>
                          <a:lnTo>
                            <a:pt x="3784727" y="22605"/>
                          </a:lnTo>
                          <a:lnTo>
                            <a:pt x="0" y="22605"/>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42" name="Freeform 41"/>
                    <p:cNvSpPr/>
                    <p:nvPr/>
                  </p:nvSpPr>
                  <p:spPr>
                    <a:xfrm>
                      <a:off x="3032125" y="6173216"/>
                      <a:ext cx="3783077" cy="20956"/>
                    </a:xfrm>
                    <a:custGeom>
                      <a:avLst/>
                      <a:gdLst/>
                      <a:ahLst/>
                      <a:cxnLst/>
                      <a:rect l="0" t="0" r="0" b="0"/>
                      <a:pathLst>
                        <a:path w="3783077" h="20956">
                          <a:moveTo>
                            <a:pt x="0" y="0"/>
                          </a:moveTo>
                          <a:lnTo>
                            <a:pt x="3783076" y="0"/>
                          </a:lnTo>
                          <a:lnTo>
                            <a:pt x="3783076" y="20955"/>
                          </a:lnTo>
                          <a:lnTo>
                            <a:pt x="0" y="20955"/>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43" name="Freeform 42"/>
                    <p:cNvSpPr/>
                    <p:nvPr/>
                  </p:nvSpPr>
                  <p:spPr>
                    <a:xfrm>
                      <a:off x="3033141" y="5983605"/>
                      <a:ext cx="3783712" cy="20829"/>
                    </a:xfrm>
                    <a:custGeom>
                      <a:avLst/>
                      <a:gdLst/>
                      <a:ahLst/>
                      <a:cxnLst/>
                      <a:rect l="0" t="0" r="0" b="0"/>
                      <a:pathLst>
                        <a:path w="3783712" h="20829">
                          <a:moveTo>
                            <a:pt x="0" y="0"/>
                          </a:moveTo>
                          <a:lnTo>
                            <a:pt x="3783711" y="0"/>
                          </a:lnTo>
                          <a:lnTo>
                            <a:pt x="3783711" y="20828"/>
                          </a:lnTo>
                          <a:lnTo>
                            <a:pt x="0" y="20828"/>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44" name="Freeform 43"/>
                    <p:cNvSpPr/>
                    <p:nvPr/>
                  </p:nvSpPr>
                  <p:spPr>
                    <a:xfrm>
                      <a:off x="3033141" y="5795772"/>
                      <a:ext cx="3778886" cy="20829"/>
                    </a:xfrm>
                    <a:custGeom>
                      <a:avLst/>
                      <a:gdLst/>
                      <a:ahLst/>
                      <a:cxnLst/>
                      <a:rect l="0" t="0" r="0" b="0"/>
                      <a:pathLst>
                        <a:path w="3778886" h="20829">
                          <a:moveTo>
                            <a:pt x="0" y="0"/>
                          </a:moveTo>
                          <a:lnTo>
                            <a:pt x="3778885" y="0"/>
                          </a:lnTo>
                          <a:lnTo>
                            <a:pt x="3778885" y="20828"/>
                          </a:lnTo>
                          <a:lnTo>
                            <a:pt x="0" y="20828"/>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45" name="Freeform 44"/>
                    <p:cNvSpPr/>
                    <p:nvPr/>
                  </p:nvSpPr>
                  <p:spPr>
                    <a:xfrm>
                      <a:off x="3022727" y="6738874"/>
                      <a:ext cx="3801746" cy="22734"/>
                    </a:xfrm>
                    <a:custGeom>
                      <a:avLst/>
                      <a:gdLst/>
                      <a:ahLst/>
                      <a:cxnLst/>
                      <a:rect l="0" t="0" r="0" b="0"/>
                      <a:pathLst>
                        <a:path w="3801746" h="22734">
                          <a:moveTo>
                            <a:pt x="0" y="0"/>
                          </a:moveTo>
                          <a:lnTo>
                            <a:pt x="3801745" y="0"/>
                          </a:lnTo>
                          <a:lnTo>
                            <a:pt x="3801745" y="22733"/>
                          </a:lnTo>
                          <a:lnTo>
                            <a:pt x="0" y="22733"/>
                          </a:lnTo>
                          <a:close/>
                        </a:path>
                      </a:pathLst>
                    </a:custGeom>
                    <a:solidFill>
                      <a:srgbClr val="8C8CFF">
                        <a:alpha val="50980"/>
                      </a:srgbClr>
                    </a:solidFill>
                    <a:ln w="0" cap="flat" cmpd="sng" algn="ctr">
                      <a:solidFill>
                        <a:srgbClr val="8C8CFF">
                          <a:alpha val="5098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grpSp>
              <p:cxnSp>
                <p:nvCxnSpPr>
                  <p:cNvPr id="47" name="Straight Connector 46"/>
                  <p:cNvCxnSpPr/>
                  <p:nvPr/>
                </p:nvCxnSpPr>
                <p:spPr>
                  <a:xfrm flipV="1">
                    <a:off x="3021711" y="2704211"/>
                    <a:ext cx="0" cy="4038727"/>
                  </a:xfrm>
                  <a:prstGeom prst="line">
                    <a:avLst/>
                  </a:prstGeom>
                  <a:ln w="38100" cap="flat" cmpd="sng" algn="ctr">
                    <a:solidFill>
                      <a:srgbClr val="000000"/>
                    </a:solidFill>
                    <a:prstDash val="solid"/>
                    <a:round/>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023362" y="6747510"/>
                    <a:ext cx="4059809" cy="0"/>
                  </a:xfrm>
                  <a:prstGeom prst="line">
                    <a:avLst/>
                  </a:prstGeom>
                  <a:ln w="38100" cap="flat" cmpd="sng" algn="ctr">
                    <a:solidFill>
                      <a:srgbClr val="000000"/>
                    </a:solidFill>
                    <a:prstDash val="solid"/>
                    <a:round/>
                    <a:headEnd type="none" w="med" len="sm"/>
                    <a:tailEnd type="triangle" w="med" len="sm"/>
                  </a:ln>
                </p:spPr>
                <p:style>
                  <a:lnRef idx="1">
                    <a:schemeClr val="accent1"/>
                  </a:lnRef>
                  <a:fillRef idx="0">
                    <a:schemeClr val="accent1"/>
                  </a:fillRef>
                  <a:effectRef idx="0">
                    <a:schemeClr val="accent1"/>
                  </a:effectRef>
                  <a:fontRef idx="minor">
                    <a:schemeClr val="tx1"/>
                  </a:fontRef>
                </p:style>
              </p:cxnSp>
            </p:grpSp>
            <p:sp>
              <p:nvSpPr>
                <p:cNvPr id="50" name="TextBox 49"/>
                <p:cNvSpPr txBox="1"/>
                <p:nvPr/>
              </p:nvSpPr>
              <p:spPr>
                <a:xfrm>
                  <a:off x="2501900" y="2819400"/>
                  <a:ext cx="584200" cy="287258"/>
                </a:xfrm>
                <a:prstGeom prst="rect">
                  <a:avLst/>
                </a:prstGeom>
                <a:noFill/>
              </p:spPr>
              <p:txBody>
                <a:bodyPr vert="horz" rtlCol="0">
                  <a:spAutoFit/>
                </a:bodyPr>
                <a:lstStyle/>
                <a:p>
                  <a:pPr algn="ctr"/>
                  <a:r>
                    <a:rPr lang="en-GB" sz="1080">
                      <a:solidFill>
                        <a:srgbClr val="000000"/>
                      </a:solidFill>
                      <a:latin typeface="Trebuchet MS - 16"/>
                    </a:rPr>
                    <a:t>100</a:t>
                  </a:r>
                </a:p>
              </p:txBody>
            </p:sp>
            <p:sp>
              <p:nvSpPr>
                <p:cNvPr id="51" name="TextBox 50"/>
                <p:cNvSpPr txBox="1"/>
                <p:nvPr/>
              </p:nvSpPr>
              <p:spPr>
                <a:xfrm>
                  <a:off x="2578100" y="5473700"/>
                  <a:ext cx="584200" cy="287258"/>
                </a:xfrm>
                <a:prstGeom prst="rect">
                  <a:avLst/>
                </a:prstGeom>
                <a:noFill/>
              </p:spPr>
              <p:txBody>
                <a:bodyPr vert="horz" rtlCol="0">
                  <a:spAutoFit/>
                </a:bodyPr>
                <a:lstStyle/>
                <a:p>
                  <a:pPr algn="ctr"/>
                  <a:r>
                    <a:rPr lang="en-GB" sz="1080">
                      <a:solidFill>
                        <a:srgbClr val="000000"/>
                      </a:solidFill>
                      <a:latin typeface="Trebuchet MS - 16"/>
                    </a:rPr>
                    <a:t>30</a:t>
                  </a:r>
                </a:p>
              </p:txBody>
            </p:sp>
            <p:sp>
              <p:nvSpPr>
                <p:cNvPr id="52" name="TextBox 51"/>
                <p:cNvSpPr txBox="1"/>
                <p:nvPr/>
              </p:nvSpPr>
              <p:spPr>
                <a:xfrm>
                  <a:off x="2578100" y="5854700"/>
                  <a:ext cx="584200" cy="287258"/>
                </a:xfrm>
                <a:prstGeom prst="rect">
                  <a:avLst/>
                </a:prstGeom>
                <a:noFill/>
              </p:spPr>
              <p:txBody>
                <a:bodyPr vert="horz" rtlCol="0">
                  <a:spAutoFit/>
                </a:bodyPr>
                <a:lstStyle/>
                <a:p>
                  <a:pPr algn="ctr"/>
                  <a:r>
                    <a:rPr lang="en-GB" sz="1080">
                      <a:solidFill>
                        <a:srgbClr val="000000"/>
                      </a:solidFill>
                      <a:latin typeface="Trebuchet MS - 16"/>
                    </a:rPr>
                    <a:t>20</a:t>
                  </a:r>
                </a:p>
              </p:txBody>
            </p:sp>
            <p:sp>
              <p:nvSpPr>
                <p:cNvPr id="53" name="TextBox 52"/>
                <p:cNvSpPr txBox="1"/>
                <p:nvPr/>
              </p:nvSpPr>
              <p:spPr>
                <a:xfrm>
                  <a:off x="2578100" y="6235700"/>
                  <a:ext cx="584200" cy="287258"/>
                </a:xfrm>
                <a:prstGeom prst="rect">
                  <a:avLst/>
                </a:prstGeom>
                <a:noFill/>
              </p:spPr>
              <p:txBody>
                <a:bodyPr vert="horz" rtlCol="0">
                  <a:spAutoFit/>
                </a:bodyPr>
                <a:lstStyle/>
                <a:p>
                  <a:pPr algn="ctr"/>
                  <a:r>
                    <a:rPr lang="en-GB" sz="1080">
                      <a:solidFill>
                        <a:srgbClr val="000000"/>
                      </a:solidFill>
                      <a:latin typeface="Trebuchet MS - 16"/>
                    </a:rPr>
                    <a:t>10</a:t>
                  </a:r>
                </a:p>
              </p:txBody>
            </p:sp>
            <p:sp>
              <p:nvSpPr>
                <p:cNvPr id="54" name="TextBox 53"/>
                <p:cNvSpPr txBox="1"/>
                <p:nvPr/>
              </p:nvSpPr>
              <p:spPr>
                <a:xfrm>
                  <a:off x="2654300" y="6680200"/>
                  <a:ext cx="584200" cy="287258"/>
                </a:xfrm>
                <a:prstGeom prst="rect">
                  <a:avLst/>
                </a:prstGeom>
                <a:noFill/>
              </p:spPr>
              <p:txBody>
                <a:bodyPr vert="horz" rtlCol="0">
                  <a:spAutoFit/>
                </a:bodyPr>
                <a:lstStyle/>
                <a:p>
                  <a:pPr algn="ctr"/>
                  <a:r>
                    <a:rPr lang="en-GB" sz="1080">
                      <a:solidFill>
                        <a:srgbClr val="000000"/>
                      </a:solidFill>
                      <a:latin typeface="Trebuchet MS - 16"/>
                    </a:rPr>
                    <a:t>0</a:t>
                  </a:r>
                </a:p>
              </p:txBody>
            </p:sp>
            <p:sp>
              <p:nvSpPr>
                <p:cNvPr id="55" name="TextBox 54"/>
                <p:cNvSpPr txBox="1"/>
                <p:nvPr/>
              </p:nvSpPr>
              <p:spPr>
                <a:xfrm>
                  <a:off x="2565400" y="4343400"/>
                  <a:ext cx="584200" cy="287258"/>
                </a:xfrm>
                <a:prstGeom prst="rect">
                  <a:avLst/>
                </a:prstGeom>
                <a:noFill/>
              </p:spPr>
              <p:txBody>
                <a:bodyPr vert="horz" rtlCol="0">
                  <a:spAutoFit/>
                </a:bodyPr>
                <a:lstStyle/>
                <a:p>
                  <a:pPr algn="ctr"/>
                  <a:r>
                    <a:rPr lang="en-GB" sz="1080">
                      <a:solidFill>
                        <a:srgbClr val="000000"/>
                      </a:solidFill>
                      <a:latin typeface="Trebuchet MS - 16"/>
                    </a:rPr>
                    <a:t>60</a:t>
                  </a:r>
                </a:p>
              </p:txBody>
            </p:sp>
            <p:sp>
              <p:nvSpPr>
                <p:cNvPr id="56" name="TextBox 55"/>
                <p:cNvSpPr txBox="1"/>
                <p:nvPr/>
              </p:nvSpPr>
              <p:spPr>
                <a:xfrm>
                  <a:off x="2565400" y="4724400"/>
                  <a:ext cx="584200" cy="287258"/>
                </a:xfrm>
                <a:prstGeom prst="rect">
                  <a:avLst/>
                </a:prstGeom>
                <a:noFill/>
              </p:spPr>
              <p:txBody>
                <a:bodyPr vert="horz" rtlCol="0">
                  <a:spAutoFit/>
                </a:bodyPr>
                <a:lstStyle/>
                <a:p>
                  <a:pPr algn="ctr"/>
                  <a:r>
                    <a:rPr lang="en-GB" sz="1080">
                      <a:solidFill>
                        <a:srgbClr val="000000"/>
                      </a:solidFill>
                      <a:latin typeface="Trebuchet MS - 16"/>
                    </a:rPr>
                    <a:t>50</a:t>
                  </a:r>
                </a:p>
              </p:txBody>
            </p:sp>
            <p:sp>
              <p:nvSpPr>
                <p:cNvPr id="57" name="TextBox 56"/>
                <p:cNvSpPr txBox="1"/>
                <p:nvPr/>
              </p:nvSpPr>
              <p:spPr>
                <a:xfrm>
                  <a:off x="2565400" y="5105400"/>
                  <a:ext cx="584200" cy="287258"/>
                </a:xfrm>
                <a:prstGeom prst="rect">
                  <a:avLst/>
                </a:prstGeom>
                <a:noFill/>
              </p:spPr>
              <p:txBody>
                <a:bodyPr vert="horz" rtlCol="0">
                  <a:spAutoFit/>
                </a:bodyPr>
                <a:lstStyle/>
                <a:p>
                  <a:pPr algn="ctr"/>
                  <a:r>
                    <a:rPr lang="en-GB" sz="1080">
                      <a:solidFill>
                        <a:srgbClr val="000000"/>
                      </a:solidFill>
                      <a:latin typeface="Trebuchet MS - 16"/>
                    </a:rPr>
                    <a:t>40</a:t>
                  </a:r>
                </a:p>
              </p:txBody>
            </p:sp>
            <p:sp>
              <p:nvSpPr>
                <p:cNvPr id="58" name="TextBox 57"/>
                <p:cNvSpPr txBox="1"/>
                <p:nvPr/>
              </p:nvSpPr>
              <p:spPr>
                <a:xfrm>
                  <a:off x="2565400" y="3200400"/>
                  <a:ext cx="584200" cy="287258"/>
                </a:xfrm>
                <a:prstGeom prst="rect">
                  <a:avLst/>
                </a:prstGeom>
                <a:noFill/>
              </p:spPr>
              <p:txBody>
                <a:bodyPr vert="horz" rtlCol="0">
                  <a:spAutoFit/>
                </a:bodyPr>
                <a:lstStyle/>
                <a:p>
                  <a:pPr algn="ctr"/>
                  <a:r>
                    <a:rPr lang="en-GB" sz="1080">
                      <a:solidFill>
                        <a:srgbClr val="000000"/>
                      </a:solidFill>
                      <a:latin typeface="Trebuchet MS - 16"/>
                    </a:rPr>
                    <a:t>90</a:t>
                  </a:r>
                </a:p>
              </p:txBody>
            </p:sp>
            <p:sp>
              <p:nvSpPr>
                <p:cNvPr id="59" name="TextBox 58"/>
                <p:cNvSpPr txBox="1"/>
                <p:nvPr/>
              </p:nvSpPr>
              <p:spPr>
                <a:xfrm>
                  <a:off x="2565400" y="3581400"/>
                  <a:ext cx="584200" cy="287258"/>
                </a:xfrm>
                <a:prstGeom prst="rect">
                  <a:avLst/>
                </a:prstGeom>
                <a:noFill/>
              </p:spPr>
              <p:txBody>
                <a:bodyPr vert="horz" rtlCol="0">
                  <a:spAutoFit/>
                </a:bodyPr>
                <a:lstStyle/>
                <a:p>
                  <a:pPr algn="ctr"/>
                  <a:r>
                    <a:rPr lang="en-GB" sz="1080">
                      <a:solidFill>
                        <a:srgbClr val="000000"/>
                      </a:solidFill>
                      <a:latin typeface="Trebuchet MS - 16"/>
                    </a:rPr>
                    <a:t>80</a:t>
                  </a:r>
                </a:p>
              </p:txBody>
            </p:sp>
            <p:sp>
              <p:nvSpPr>
                <p:cNvPr id="60" name="TextBox 59"/>
                <p:cNvSpPr txBox="1"/>
                <p:nvPr/>
              </p:nvSpPr>
              <p:spPr>
                <a:xfrm>
                  <a:off x="2565400" y="3962400"/>
                  <a:ext cx="584200" cy="287258"/>
                </a:xfrm>
                <a:prstGeom prst="rect">
                  <a:avLst/>
                </a:prstGeom>
                <a:noFill/>
              </p:spPr>
              <p:txBody>
                <a:bodyPr vert="horz" rtlCol="0">
                  <a:spAutoFit/>
                </a:bodyPr>
                <a:lstStyle/>
                <a:p>
                  <a:pPr algn="ctr"/>
                  <a:r>
                    <a:rPr lang="en-GB" sz="1080">
                      <a:solidFill>
                        <a:srgbClr val="000000"/>
                      </a:solidFill>
                      <a:latin typeface="Trebuchet MS - 16"/>
                    </a:rPr>
                    <a:t>70</a:t>
                  </a:r>
                </a:p>
              </p:txBody>
            </p:sp>
            <p:sp>
              <p:nvSpPr>
                <p:cNvPr id="61" name="TextBox 60"/>
                <p:cNvSpPr txBox="1"/>
                <p:nvPr/>
              </p:nvSpPr>
              <p:spPr>
                <a:xfrm>
                  <a:off x="6553200" y="6743700"/>
                  <a:ext cx="584200" cy="287258"/>
                </a:xfrm>
                <a:prstGeom prst="rect">
                  <a:avLst/>
                </a:prstGeom>
                <a:noFill/>
              </p:spPr>
              <p:txBody>
                <a:bodyPr vert="horz" rtlCol="0">
                  <a:spAutoFit/>
                </a:bodyPr>
                <a:lstStyle/>
                <a:p>
                  <a:pPr algn="ctr"/>
                  <a:r>
                    <a:rPr lang="en-GB" sz="1080">
                      <a:solidFill>
                        <a:srgbClr val="000000"/>
                      </a:solidFill>
                      <a:latin typeface="Trebuchet MS - 16"/>
                    </a:rPr>
                    <a:t>100</a:t>
                  </a:r>
                </a:p>
              </p:txBody>
            </p:sp>
            <p:sp>
              <p:nvSpPr>
                <p:cNvPr id="62" name="TextBox 61"/>
                <p:cNvSpPr txBox="1"/>
                <p:nvPr/>
              </p:nvSpPr>
              <p:spPr>
                <a:xfrm>
                  <a:off x="3886200" y="6743700"/>
                  <a:ext cx="584200" cy="287258"/>
                </a:xfrm>
                <a:prstGeom prst="rect">
                  <a:avLst/>
                </a:prstGeom>
                <a:noFill/>
              </p:spPr>
              <p:txBody>
                <a:bodyPr vert="horz" rtlCol="0">
                  <a:spAutoFit/>
                </a:bodyPr>
                <a:lstStyle/>
                <a:p>
                  <a:pPr algn="ctr"/>
                  <a:r>
                    <a:rPr lang="en-GB" sz="1080">
                      <a:solidFill>
                        <a:srgbClr val="000000"/>
                      </a:solidFill>
                      <a:latin typeface="Trebuchet MS - 16"/>
                    </a:rPr>
                    <a:t>30</a:t>
                  </a:r>
                </a:p>
              </p:txBody>
            </p:sp>
            <p:sp>
              <p:nvSpPr>
                <p:cNvPr id="63" name="TextBox 62"/>
                <p:cNvSpPr txBox="1"/>
                <p:nvPr/>
              </p:nvSpPr>
              <p:spPr>
                <a:xfrm>
                  <a:off x="3505200" y="6743700"/>
                  <a:ext cx="584200" cy="287258"/>
                </a:xfrm>
                <a:prstGeom prst="rect">
                  <a:avLst/>
                </a:prstGeom>
                <a:noFill/>
              </p:spPr>
              <p:txBody>
                <a:bodyPr vert="horz" rtlCol="0">
                  <a:spAutoFit/>
                </a:bodyPr>
                <a:lstStyle/>
                <a:p>
                  <a:pPr algn="ctr"/>
                  <a:r>
                    <a:rPr lang="en-GB" sz="1080">
                      <a:solidFill>
                        <a:srgbClr val="000000"/>
                      </a:solidFill>
                      <a:latin typeface="Trebuchet MS - 16"/>
                    </a:rPr>
                    <a:t>20</a:t>
                  </a:r>
                </a:p>
              </p:txBody>
            </p:sp>
            <p:sp>
              <p:nvSpPr>
                <p:cNvPr id="64" name="TextBox 63"/>
                <p:cNvSpPr txBox="1"/>
                <p:nvPr/>
              </p:nvSpPr>
              <p:spPr>
                <a:xfrm>
                  <a:off x="3124200" y="6743700"/>
                  <a:ext cx="584200" cy="287258"/>
                </a:xfrm>
                <a:prstGeom prst="rect">
                  <a:avLst/>
                </a:prstGeom>
                <a:noFill/>
              </p:spPr>
              <p:txBody>
                <a:bodyPr vert="horz" rtlCol="0">
                  <a:spAutoFit/>
                </a:bodyPr>
                <a:lstStyle/>
                <a:p>
                  <a:pPr algn="ctr"/>
                  <a:r>
                    <a:rPr lang="en-GB" sz="1080">
                      <a:solidFill>
                        <a:srgbClr val="000000"/>
                      </a:solidFill>
                      <a:latin typeface="Trebuchet MS - 16"/>
                    </a:rPr>
                    <a:t>10</a:t>
                  </a:r>
                </a:p>
              </p:txBody>
            </p:sp>
            <p:sp>
              <p:nvSpPr>
                <p:cNvPr id="65" name="TextBox 64"/>
                <p:cNvSpPr txBox="1"/>
                <p:nvPr/>
              </p:nvSpPr>
              <p:spPr>
                <a:xfrm>
                  <a:off x="5029200" y="6743700"/>
                  <a:ext cx="584200" cy="287258"/>
                </a:xfrm>
                <a:prstGeom prst="rect">
                  <a:avLst/>
                </a:prstGeom>
                <a:noFill/>
              </p:spPr>
              <p:txBody>
                <a:bodyPr vert="horz" rtlCol="0">
                  <a:spAutoFit/>
                </a:bodyPr>
                <a:lstStyle/>
                <a:p>
                  <a:pPr algn="ctr"/>
                  <a:r>
                    <a:rPr lang="en-GB" sz="1080">
                      <a:solidFill>
                        <a:srgbClr val="000000"/>
                      </a:solidFill>
                      <a:latin typeface="Trebuchet MS - 16"/>
                    </a:rPr>
                    <a:t>60</a:t>
                  </a:r>
                </a:p>
              </p:txBody>
            </p:sp>
            <p:sp>
              <p:nvSpPr>
                <p:cNvPr id="66" name="TextBox 65"/>
                <p:cNvSpPr txBox="1"/>
                <p:nvPr/>
              </p:nvSpPr>
              <p:spPr>
                <a:xfrm>
                  <a:off x="4648200" y="6743700"/>
                  <a:ext cx="584200" cy="287258"/>
                </a:xfrm>
                <a:prstGeom prst="rect">
                  <a:avLst/>
                </a:prstGeom>
                <a:noFill/>
              </p:spPr>
              <p:txBody>
                <a:bodyPr vert="horz" rtlCol="0">
                  <a:spAutoFit/>
                </a:bodyPr>
                <a:lstStyle/>
                <a:p>
                  <a:pPr algn="ctr"/>
                  <a:r>
                    <a:rPr lang="en-GB" sz="1080">
                      <a:solidFill>
                        <a:srgbClr val="000000"/>
                      </a:solidFill>
                      <a:latin typeface="Trebuchet MS - 16"/>
                    </a:rPr>
                    <a:t>50</a:t>
                  </a:r>
                </a:p>
              </p:txBody>
            </p:sp>
            <p:sp>
              <p:nvSpPr>
                <p:cNvPr id="67" name="TextBox 66"/>
                <p:cNvSpPr txBox="1"/>
                <p:nvPr/>
              </p:nvSpPr>
              <p:spPr>
                <a:xfrm>
                  <a:off x="4267200" y="6731000"/>
                  <a:ext cx="584200" cy="287258"/>
                </a:xfrm>
                <a:prstGeom prst="rect">
                  <a:avLst/>
                </a:prstGeom>
                <a:noFill/>
              </p:spPr>
              <p:txBody>
                <a:bodyPr vert="horz" rtlCol="0">
                  <a:spAutoFit/>
                </a:bodyPr>
                <a:lstStyle/>
                <a:p>
                  <a:pPr algn="ctr"/>
                  <a:r>
                    <a:rPr lang="en-GB" sz="1080">
                      <a:solidFill>
                        <a:srgbClr val="000000"/>
                      </a:solidFill>
                      <a:latin typeface="Trebuchet MS - 16"/>
                    </a:rPr>
                    <a:t>40</a:t>
                  </a:r>
                </a:p>
              </p:txBody>
            </p:sp>
            <p:sp>
              <p:nvSpPr>
                <p:cNvPr id="68" name="TextBox 67"/>
                <p:cNvSpPr txBox="1"/>
                <p:nvPr/>
              </p:nvSpPr>
              <p:spPr>
                <a:xfrm>
                  <a:off x="6172200" y="6743700"/>
                  <a:ext cx="584200" cy="287258"/>
                </a:xfrm>
                <a:prstGeom prst="rect">
                  <a:avLst/>
                </a:prstGeom>
                <a:noFill/>
              </p:spPr>
              <p:txBody>
                <a:bodyPr vert="horz" rtlCol="0">
                  <a:spAutoFit/>
                </a:bodyPr>
                <a:lstStyle/>
                <a:p>
                  <a:pPr algn="ctr"/>
                  <a:r>
                    <a:rPr lang="en-GB" sz="1080">
                      <a:solidFill>
                        <a:srgbClr val="000000"/>
                      </a:solidFill>
                      <a:latin typeface="Trebuchet MS - 16"/>
                    </a:rPr>
                    <a:t>90</a:t>
                  </a:r>
                </a:p>
              </p:txBody>
            </p:sp>
            <p:sp>
              <p:nvSpPr>
                <p:cNvPr id="69" name="TextBox 68"/>
                <p:cNvSpPr txBox="1"/>
                <p:nvPr/>
              </p:nvSpPr>
              <p:spPr>
                <a:xfrm>
                  <a:off x="5791200" y="6743700"/>
                  <a:ext cx="584200" cy="287258"/>
                </a:xfrm>
                <a:prstGeom prst="rect">
                  <a:avLst/>
                </a:prstGeom>
                <a:noFill/>
              </p:spPr>
              <p:txBody>
                <a:bodyPr vert="horz" rtlCol="0">
                  <a:spAutoFit/>
                </a:bodyPr>
                <a:lstStyle/>
                <a:p>
                  <a:pPr algn="ctr"/>
                  <a:r>
                    <a:rPr lang="en-GB" sz="1080">
                      <a:solidFill>
                        <a:srgbClr val="000000"/>
                      </a:solidFill>
                      <a:latin typeface="Trebuchet MS - 16"/>
                    </a:rPr>
                    <a:t>80</a:t>
                  </a:r>
                </a:p>
              </p:txBody>
            </p:sp>
            <p:sp>
              <p:nvSpPr>
                <p:cNvPr id="70" name="TextBox 69"/>
                <p:cNvSpPr txBox="1"/>
                <p:nvPr/>
              </p:nvSpPr>
              <p:spPr>
                <a:xfrm>
                  <a:off x="5410200" y="6743700"/>
                  <a:ext cx="584200" cy="287258"/>
                </a:xfrm>
                <a:prstGeom prst="rect">
                  <a:avLst/>
                </a:prstGeom>
                <a:noFill/>
              </p:spPr>
              <p:txBody>
                <a:bodyPr vert="horz" rtlCol="0">
                  <a:spAutoFit/>
                </a:bodyPr>
                <a:lstStyle/>
                <a:p>
                  <a:pPr algn="ctr"/>
                  <a:r>
                    <a:rPr lang="en-GB" sz="1080">
                      <a:solidFill>
                        <a:srgbClr val="000000"/>
                      </a:solidFill>
                      <a:latin typeface="Trebuchet MS - 16"/>
                    </a:rPr>
                    <a:t>70</a:t>
                  </a:r>
                </a:p>
              </p:txBody>
            </p:sp>
          </p:grpSp>
          <p:sp>
            <p:nvSpPr>
              <p:cNvPr id="72" name="TextBox 71"/>
              <p:cNvSpPr txBox="1"/>
              <p:nvPr/>
            </p:nvSpPr>
            <p:spPr>
              <a:xfrm>
                <a:off x="4330700" y="6997700"/>
                <a:ext cx="1473200" cy="287258"/>
              </a:xfrm>
              <a:prstGeom prst="rect">
                <a:avLst/>
              </a:prstGeom>
              <a:noFill/>
            </p:spPr>
            <p:txBody>
              <a:bodyPr vert="horz" rtlCol="0">
                <a:spAutoFit/>
              </a:bodyPr>
              <a:lstStyle/>
              <a:p>
                <a:pPr algn="ctr"/>
                <a:r>
                  <a:rPr lang="en-GB" sz="1080">
                    <a:solidFill>
                      <a:srgbClr val="000000"/>
                    </a:solidFill>
                    <a:latin typeface="Trebuchet MS - 16"/>
                  </a:rPr>
                  <a:t>Maths mark</a:t>
                </a:r>
              </a:p>
            </p:txBody>
          </p:sp>
          <p:sp>
            <p:nvSpPr>
              <p:cNvPr id="73" name="TextBox 72"/>
              <p:cNvSpPr txBox="1"/>
              <p:nvPr/>
            </p:nvSpPr>
            <p:spPr>
              <a:xfrm rot="16200000">
                <a:off x="1803400" y="4528771"/>
                <a:ext cx="1473200" cy="287258"/>
              </a:xfrm>
              <a:prstGeom prst="rect">
                <a:avLst/>
              </a:prstGeom>
              <a:noFill/>
            </p:spPr>
            <p:txBody>
              <a:bodyPr vert="horz" rtlCol="0">
                <a:spAutoFit/>
              </a:bodyPr>
              <a:lstStyle/>
              <a:p>
                <a:pPr algn="ctr"/>
                <a:r>
                  <a:rPr lang="en-GB" sz="1080">
                    <a:solidFill>
                      <a:srgbClr val="000000"/>
                    </a:solidFill>
                    <a:latin typeface="Trebuchet MS - 16"/>
                  </a:rPr>
                  <a:t>Art mark</a:t>
                </a:r>
              </a:p>
            </p:txBody>
          </p:sp>
        </p:grpSp>
        <p:grpSp>
          <p:nvGrpSpPr>
            <p:cNvPr id="77" name="Group 76"/>
            <p:cNvGrpSpPr/>
            <p:nvPr/>
          </p:nvGrpSpPr>
          <p:grpSpPr>
            <a:xfrm>
              <a:off x="5725668" y="5039614"/>
              <a:ext cx="264669" cy="162053"/>
              <a:chOff x="5725668" y="5039614"/>
              <a:chExt cx="264669" cy="162053"/>
            </a:xfrm>
          </p:grpSpPr>
          <p:sp>
            <p:nvSpPr>
              <p:cNvPr id="75" name="Freeform 74"/>
              <p:cNvSpPr/>
              <p:nvPr/>
            </p:nvSpPr>
            <p:spPr>
              <a:xfrm>
                <a:off x="5725668" y="5039614"/>
                <a:ext cx="264669" cy="162053"/>
              </a:xfrm>
              <a:custGeom>
                <a:avLst/>
                <a:gdLst/>
                <a:ahLst/>
                <a:cxnLst/>
                <a:rect l="0" t="0" r="0" b="0"/>
                <a:pathLst>
                  <a:path w="264669" h="162053">
                    <a:moveTo>
                      <a:pt x="132461" y="68072"/>
                    </a:moveTo>
                    <a:lnTo>
                      <a:pt x="244094" y="0"/>
                    </a:lnTo>
                    <a:lnTo>
                      <a:pt x="264668" y="12446"/>
                    </a:lnTo>
                    <a:lnTo>
                      <a:pt x="153416" y="81153"/>
                    </a:lnTo>
                    <a:lnTo>
                      <a:pt x="264668" y="149225"/>
                    </a:lnTo>
                    <a:lnTo>
                      <a:pt x="244094" y="162052"/>
                    </a:lnTo>
                    <a:lnTo>
                      <a:pt x="132461" y="93853"/>
                    </a:lnTo>
                    <a:lnTo>
                      <a:pt x="21082" y="162052"/>
                    </a:lnTo>
                    <a:lnTo>
                      <a:pt x="0" y="149225"/>
                    </a:lnTo>
                    <a:lnTo>
                      <a:pt x="111379" y="80899"/>
                    </a:lnTo>
                    <a:lnTo>
                      <a:pt x="0" y="12827"/>
                    </a:lnTo>
                    <a:lnTo>
                      <a:pt x="21082" y="0"/>
                    </a:lnTo>
                    <a:close/>
                  </a:path>
                </a:pathLst>
              </a:custGeom>
              <a:solidFill>
                <a:srgbClr val="131516"/>
              </a:solidFill>
              <a:ln w="0" cap="flat" cmpd="sng" algn="ctr">
                <a:solidFill>
                  <a:srgbClr val="13151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76" name="Freeform 75"/>
              <p:cNvSpPr/>
              <p:nvPr/>
            </p:nvSpPr>
            <p:spPr>
              <a:xfrm>
                <a:off x="5725668" y="5039614"/>
                <a:ext cx="264669" cy="162053"/>
              </a:xfrm>
              <a:custGeom>
                <a:avLst/>
                <a:gdLst/>
                <a:ahLst/>
                <a:cxnLst/>
                <a:rect l="0" t="0" r="0" b="0"/>
                <a:pathLst>
                  <a:path w="264669" h="162053">
                    <a:moveTo>
                      <a:pt x="132461" y="68072"/>
                    </a:moveTo>
                    <a:lnTo>
                      <a:pt x="244094" y="0"/>
                    </a:lnTo>
                    <a:lnTo>
                      <a:pt x="264668" y="12446"/>
                    </a:lnTo>
                    <a:lnTo>
                      <a:pt x="153416" y="81153"/>
                    </a:lnTo>
                    <a:lnTo>
                      <a:pt x="264668" y="149225"/>
                    </a:lnTo>
                    <a:lnTo>
                      <a:pt x="244094" y="162052"/>
                    </a:lnTo>
                    <a:lnTo>
                      <a:pt x="132461" y="93853"/>
                    </a:lnTo>
                    <a:lnTo>
                      <a:pt x="21082" y="162052"/>
                    </a:lnTo>
                    <a:lnTo>
                      <a:pt x="0" y="149225"/>
                    </a:lnTo>
                    <a:lnTo>
                      <a:pt x="111379" y="80899"/>
                    </a:lnTo>
                    <a:lnTo>
                      <a:pt x="0" y="12827"/>
                    </a:lnTo>
                    <a:lnTo>
                      <a:pt x="21082" y="0"/>
                    </a:lnTo>
                    <a:close/>
                  </a:path>
                </a:pathLst>
              </a:custGeom>
              <a:solidFill>
                <a:schemeClr val="accent1">
                  <a:alpha val="1000"/>
                </a:schemeClr>
              </a:solidFill>
              <a:ln w="12700" cap="flat" cmpd="sng" algn="ctr">
                <a:solidFill>
                  <a:srgbClr val="1F1A1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grpSp>
        <p:grpSp>
          <p:nvGrpSpPr>
            <p:cNvPr id="80" name="Group 79"/>
            <p:cNvGrpSpPr/>
            <p:nvPr/>
          </p:nvGrpSpPr>
          <p:grpSpPr>
            <a:xfrm>
              <a:off x="3807968" y="3541014"/>
              <a:ext cx="264669" cy="162053"/>
              <a:chOff x="3807968" y="3541014"/>
              <a:chExt cx="264669" cy="162053"/>
            </a:xfrm>
          </p:grpSpPr>
          <p:sp>
            <p:nvSpPr>
              <p:cNvPr id="78" name="Freeform 77"/>
              <p:cNvSpPr/>
              <p:nvPr/>
            </p:nvSpPr>
            <p:spPr>
              <a:xfrm>
                <a:off x="3807968" y="3541014"/>
                <a:ext cx="264669" cy="162053"/>
              </a:xfrm>
              <a:custGeom>
                <a:avLst/>
                <a:gdLst/>
                <a:ahLst/>
                <a:cxnLst/>
                <a:rect l="0" t="0" r="0" b="0"/>
                <a:pathLst>
                  <a:path w="264669" h="162053">
                    <a:moveTo>
                      <a:pt x="132461" y="68072"/>
                    </a:moveTo>
                    <a:lnTo>
                      <a:pt x="244094" y="0"/>
                    </a:lnTo>
                    <a:lnTo>
                      <a:pt x="264668" y="12446"/>
                    </a:lnTo>
                    <a:lnTo>
                      <a:pt x="153416" y="81153"/>
                    </a:lnTo>
                    <a:lnTo>
                      <a:pt x="264668" y="149225"/>
                    </a:lnTo>
                    <a:lnTo>
                      <a:pt x="244094" y="162052"/>
                    </a:lnTo>
                    <a:lnTo>
                      <a:pt x="132461" y="93853"/>
                    </a:lnTo>
                    <a:lnTo>
                      <a:pt x="21082" y="162052"/>
                    </a:lnTo>
                    <a:lnTo>
                      <a:pt x="0" y="149225"/>
                    </a:lnTo>
                    <a:lnTo>
                      <a:pt x="111379" y="80899"/>
                    </a:lnTo>
                    <a:lnTo>
                      <a:pt x="0" y="12827"/>
                    </a:lnTo>
                    <a:lnTo>
                      <a:pt x="21082" y="0"/>
                    </a:lnTo>
                    <a:close/>
                  </a:path>
                </a:pathLst>
              </a:custGeom>
              <a:solidFill>
                <a:srgbClr val="131516"/>
              </a:solidFill>
              <a:ln w="0" cap="flat" cmpd="sng" algn="ctr">
                <a:solidFill>
                  <a:srgbClr val="13151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79" name="Freeform 78"/>
              <p:cNvSpPr/>
              <p:nvPr/>
            </p:nvSpPr>
            <p:spPr>
              <a:xfrm>
                <a:off x="3807968" y="3541014"/>
                <a:ext cx="264669" cy="162053"/>
              </a:xfrm>
              <a:custGeom>
                <a:avLst/>
                <a:gdLst/>
                <a:ahLst/>
                <a:cxnLst/>
                <a:rect l="0" t="0" r="0" b="0"/>
                <a:pathLst>
                  <a:path w="264669" h="162053">
                    <a:moveTo>
                      <a:pt x="132461" y="68072"/>
                    </a:moveTo>
                    <a:lnTo>
                      <a:pt x="244094" y="0"/>
                    </a:lnTo>
                    <a:lnTo>
                      <a:pt x="264668" y="12446"/>
                    </a:lnTo>
                    <a:lnTo>
                      <a:pt x="153416" y="81153"/>
                    </a:lnTo>
                    <a:lnTo>
                      <a:pt x="264668" y="149225"/>
                    </a:lnTo>
                    <a:lnTo>
                      <a:pt x="244094" y="162052"/>
                    </a:lnTo>
                    <a:lnTo>
                      <a:pt x="132461" y="93853"/>
                    </a:lnTo>
                    <a:lnTo>
                      <a:pt x="21082" y="162052"/>
                    </a:lnTo>
                    <a:lnTo>
                      <a:pt x="0" y="149225"/>
                    </a:lnTo>
                    <a:lnTo>
                      <a:pt x="111379" y="80899"/>
                    </a:lnTo>
                    <a:lnTo>
                      <a:pt x="0" y="12827"/>
                    </a:lnTo>
                    <a:lnTo>
                      <a:pt x="21082" y="0"/>
                    </a:lnTo>
                    <a:close/>
                  </a:path>
                </a:pathLst>
              </a:custGeom>
              <a:solidFill>
                <a:schemeClr val="accent1">
                  <a:alpha val="1000"/>
                </a:schemeClr>
              </a:solidFill>
              <a:ln w="12700" cap="flat" cmpd="sng" algn="ctr">
                <a:solidFill>
                  <a:srgbClr val="1F1A1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grpSp>
        <p:grpSp>
          <p:nvGrpSpPr>
            <p:cNvPr id="83" name="Group 82"/>
            <p:cNvGrpSpPr/>
            <p:nvPr/>
          </p:nvGrpSpPr>
          <p:grpSpPr>
            <a:xfrm>
              <a:off x="5433568" y="5458714"/>
              <a:ext cx="264669" cy="162053"/>
              <a:chOff x="5433568" y="5458714"/>
              <a:chExt cx="264669" cy="162053"/>
            </a:xfrm>
          </p:grpSpPr>
          <p:sp>
            <p:nvSpPr>
              <p:cNvPr id="81" name="Freeform 80"/>
              <p:cNvSpPr/>
              <p:nvPr/>
            </p:nvSpPr>
            <p:spPr>
              <a:xfrm>
                <a:off x="5433568" y="5458714"/>
                <a:ext cx="264669" cy="162053"/>
              </a:xfrm>
              <a:custGeom>
                <a:avLst/>
                <a:gdLst/>
                <a:ahLst/>
                <a:cxnLst/>
                <a:rect l="0" t="0" r="0" b="0"/>
                <a:pathLst>
                  <a:path w="264669" h="162053">
                    <a:moveTo>
                      <a:pt x="132461" y="68072"/>
                    </a:moveTo>
                    <a:lnTo>
                      <a:pt x="244094" y="0"/>
                    </a:lnTo>
                    <a:lnTo>
                      <a:pt x="264668" y="12446"/>
                    </a:lnTo>
                    <a:lnTo>
                      <a:pt x="153416" y="81153"/>
                    </a:lnTo>
                    <a:lnTo>
                      <a:pt x="264668" y="149225"/>
                    </a:lnTo>
                    <a:lnTo>
                      <a:pt x="244094" y="162052"/>
                    </a:lnTo>
                    <a:lnTo>
                      <a:pt x="132461" y="93853"/>
                    </a:lnTo>
                    <a:lnTo>
                      <a:pt x="21082" y="162052"/>
                    </a:lnTo>
                    <a:lnTo>
                      <a:pt x="0" y="149225"/>
                    </a:lnTo>
                    <a:lnTo>
                      <a:pt x="111379" y="80899"/>
                    </a:lnTo>
                    <a:lnTo>
                      <a:pt x="0" y="12827"/>
                    </a:lnTo>
                    <a:lnTo>
                      <a:pt x="21082" y="0"/>
                    </a:lnTo>
                    <a:close/>
                  </a:path>
                </a:pathLst>
              </a:custGeom>
              <a:solidFill>
                <a:srgbClr val="131516"/>
              </a:solidFill>
              <a:ln w="0" cap="flat" cmpd="sng" algn="ctr">
                <a:solidFill>
                  <a:srgbClr val="13151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82" name="Freeform 81"/>
              <p:cNvSpPr/>
              <p:nvPr/>
            </p:nvSpPr>
            <p:spPr>
              <a:xfrm>
                <a:off x="5433568" y="5458714"/>
                <a:ext cx="264669" cy="162053"/>
              </a:xfrm>
              <a:custGeom>
                <a:avLst/>
                <a:gdLst/>
                <a:ahLst/>
                <a:cxnLst/>
                <a:rect l="0" t="0" r="0" b="0"/>
                <a:pathLst>
                  <a:path w="264669" h="162053">
                    <a:moveTo>
                      <a:pt x="132461" y="68072"/>
                    </a:moveTo>
                    <a:lnTo>
                      <a:pt x="244094" y="0"/>
                    </a:lnTo>
                    <a:lnTo>
                      <a:pt x="264668" y="12446"/>
                    </a:lnTo>
                    <a:lnTo>
                      <a:pt x="153416" y="81153"/>
                    </a:lnTo>
                    <a:lnTo>
                      <a:pt x="264668" y="149225"/>
                    </a:lnTo>
                    <a:lnTo>
                      <a:pt x="244094" y="162052"/>
                    </a:lnTo>
                    <a:lnTo>
                      <a:pt x="132461" y="93853"/>
                    </a:lnTo>
                    <a:lnTo>
                      <a:pt x="21082" y="162052"/>
                    </a:lnTo>
                    <a:lnTo>
                      <a:pt x="0" y="149225"/>
                    </a:lnTo>
                    <a:lnTo>
                      <a:pt x="111379" y="80899"/>
                    </a:lnTo>
                    <a:lnTo>
                      <a:pt x="0" y="12827"/>
                    </a:lnTo>
                    <a:lnTo>
                      <a:pt x="21082" y="0"/>
                    </a:lnTo>
                    <a:close/>
                  </a:path>
                </a:pathLst>
              </a:custGeom>
              <a:solidFill>
                <a:schemeClr val="accent1">
                  <a:alpha val="1000"/>
                </a:schemeClr>
              </a:solidFill>
              <a:ln w="12700" cap="flat" cmpd="sng" algn="ctr">
                <a:solidFill>
                  <a:srgbClr val="1F1A1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grpSp>
        <p:grpSp>
          <p:nvGrpSpPr>
            <p:cNvPr id="86" name="Group 85"/>
            <p:cNvGrpSpPr/>
            <p:nvPr/>
          </p:nvGrpSpPr>
          <p:grpSpPr>
            <a:xfrm>
              <a:off x="4227068" y="3375914"/>
              <a:ext cx="264669" cy="162053"/>
              <a:chOff x="4227068" y="3375914"/>
              <a:chExt cx="264669" cy="162053"/>
            </a:xfrm>
          </p:grpSpPr>
          <p:sp>
            <p:nvSpPr>
              <p:cNvPr id="84" name="Freeform 83"/>
              <p:cNvSpPr/>
              <p:nvPr/>
            </p:nvSpPr>
            <p:spPr>
              <a:xfrm>
                <a:off x="4227068" y="3375914"/>
                <a:ext cx="264669" cy="162053"/>
              </a:xfrm>
              <a:custGeom>
                <a:avLst/>
                <a:gdLst/>
                <a:ahLst/>
                <a:cxnLst/>
                <a:rect l="0" t="0" r="0" b="0"/>
                <a:pathLst>
                  <a:path w="264669" h="162053">
                    <a:moveTo>
                      <a:pt x="132461" y="68072"/>
                    </a:moveTo>
                    <a:lnTo>
                      <a:pt x="244094" y="0"/>
                    </a:lnTo>
                    <a:lnTo>
                      <a:pt x="264668" y="12446"/>
                    </a:lnTo>
                    <a:lnTo>
                      <a:pt x="153416" y="81153"/>
                    </a:lnTo>
                    <a:lnTo>
                      <a:pt x="264668" y="149225"/>
                    </a:lnTo>
                    <a:lnTo>
                      <a:pt x="244094" y="162052"/>
                    </a:lnTo>
                    <a:lnTo>
                      <a:pt x="132461" y="93853"/>
                    </a:lnTo>
                    <a:lnTo>
                      <a:pt x="21082" y="162052"/>
                    </a:lnTo>
                    <a:lnTo>
                      <a:pt x="0" y="149225"/>
                    </a:lnTo>
                    <a:lnTo>
                      <a:pt x="111379" y="80899"/>
                    </a:lnTo>
                    <a:lnTo>
                      <a:pt x="0" y="12827"/>
                    </a:lnTo>
                    <a:lnTo>
                      <a:pt x="21082" y="0"/>
                    </a:lnTo>
                    <a:close/>
                  </a:path>
                </a:pathLst>
              </a:custGeom>
              <a:solidFill>
                <a:srgbClr val="131516"/>
              </a:solidFill>
              <a:ln w="0" cap="flat" cmpd="sng" algn="ctr">
                <a:solidFill>
                  <a:srgbClr val="13151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85" name="Freeform 84"/>
              <p:cNvSpPr/>
              <p:nvPr/>
            </p:nvSpPr>
            <p:spPr>
              <a:xfrm>
                <a:off x="4227068" y="3375914"/>
                <a:ext cx="264669" cy="162053"/>
              </a:xfrm>
              <a:custGeom>
                <a:avLst/>
                <a:gdLst/>
                <a:ahLst/>
                <a:cxnLst/>
                <a:rect l="0" t="0" r="0" b="0"/>
                <a:pathLst>
                  <a:path w="264669" h="162053">
                    <a:moveTo>
                      <a:pt x="132461" y="68072"/>
                    </a:moveTo>
                    <a:lnTo>
                      <a:pt x="244094" y="0"/>
                    </a:lnTo>
                    <a:lnTo>
                      <a:pt x="264668" y="12446"/>
                    </a:lnTo>
                    <a:lnTo>
                      <a:pt x="153416" y="81153"/>
                    </a:lnTo>
                    <a:lnTo>
                      <a:pt x="264668" y="149225"/>
                    </a:lnTo>
                    <a:lnTo>
                      <a:pt x="244094" y="162052"/>
                    </a:lnTo>
                    <a:lnTo>
                      <a:pt x="132461" y="93853"/>
                    </a:lnTo>
                    <a:lnTo>
                      <a:pt x="21082" y="162052"/>
                    </a:lnTo>
                    <a:lnTo>
                      <a:pt x="0" y="149225"/>
                    </a:lnTo>
                    <a:lnTo>
                      <a:pt x="111379" y="80899"/>
                    </a:lnTo>
                    <a:lnTo>
                      <a:pt x="0" y="12827"/>
                    </a:lnTo>
                    <a:lnTo>
                      <a:pt x="21082" y="0"/>
                    </a:lnTo>
                    <a:close/>
                  </a:path>
                </a:pathLst>
              </a:custGeom>
              <a:solidFill>
                <a:schemeClr val="accent1">
                  <a:alpha val="1000"/>
                </a:schemeClr>
              </a:solidFill>
              <a:ln w="12700" cap="flat" cmpd="sng" algn="ctr">
                <a:solidFill>
                  <a:srgbClr val="1F1A1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grpSp>
        <p:grpSp>
          <p:nvGrpSpPr>
            <p:cNvPr id="89" name="Group 88"/>
            <p:cNvGrpSpPr/>
            <p:nvPr/>
          </p:nvGrpSpPr>
          <p:grpSpPr>
            <a:xfrm>
              <a:off x="5039868" y="4633214"/>
              <a:ext cx="264669" cy="162053"/>
              <a:chOff x="5039868" y="4633214"/>
              <a:chExt cx="264669" cy="162053"/>
            </a:xfrm>
          </p:grpSpPr>
          <p:sp>
            <p:nvSpPr>
              <p:cNvPr id="87" name="Freeform 86"/>
              <p:cNvSpPr/>
              <p:nvPr/>
            </p:nvSpPr>
            <p:spPr>
              <a:xfrm>
                <a:off x="5039868" y="4633214"/>
                <a:ext cx="264669" cy="162053"/>
              </a:xfrm>
              <a:custGeom>
                <a:avLst/>
                <a:gdLst/>
                <a:ahLst/>
                <a:cxnLst/>
                <a:rect l="0" t="0" r="0" b="0"/>
                <a:pathLst>
                  <a:path w="264669" h="162053">
                    <a:moveTo>
                      <a:pt x="132461" y="68072"/>
                    </a:moveTo>
                    <a:lnTo>
                      <a:pt x="244094" y="0"/>
                    </a:lnTo>
                    <a:lnTo>
                      <a:pt x="264668" y="12446"/>
                    </a:lnTo>
                    <a:lnTo>
                      <a:pt x="153416" y="81153"/>
                    </a:lnTo>
                    <a:lnTo>
                      <a:pt x="264668" y="149225"/>
                    </a:lnTo>
                    <a:lnTo>
                      <a:pt x="244094" y="162052"/>
                    </a:lnTo>
                    <a:lnTo>
                      <a:pt x="132461" y="93853"/>
                    </a:lnTo>
                    <a:lnTo>
                      <a:pt x="21082" y="162052"/>
                    </a:lnTo>
                    <a:lnTo>
                      <a:pt x="0" y="149225"/>
                    </a:lnTo>
                    <a:lnTo>
                      <a:pt x="111379" y="80899"/>
                    </a:lnTo>
                    <a:lnTo>
                      <a:pt x="0" y="12827"/>
                    </a:lnTo>
                    <a:lnTo>
                      <a:pt x="21082" y="0"/>
                    </a:lnTo>
                    <a:close/>
                  </a:path>
                </a:pathLst>
              </a:custGeom>
              <a:solidFill>
                <a:srgbClr val="131516"/>
              </a:solidFill>
              <a:ln w="0" cap="flat" cmpd="sng" algn="ctr">
                <a:solidFill>
                  <a:srgbClr val="13151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88" name="Freeform 87"/>
              <p:cNvSpPr/>
              <p:nvPr/>
            </p:nvSpPr>
            <p:spPr>
              <a:xfrm>
                <a:off x="5039868" y="4633214"/>
                <a:ext cx="264669" cy="162053"/>
              </a:xfrm>
              <a:custGeom>
                <a:avLst/>
                <a:gdLst/>
                <a:ahLst/>
                <a:cxnLst/>
                <a:rect l="0" t="0" r="0" b="0"/>
                <a:pathLst>
                  <a:path w="264669" h="162053">
                    <a:moveTo>
                      <a:pt x="132461" y="68072"/>
                    </a:moveTo>
                    <a:lnTo>
                      <a:pt x="244094" y="0"/>
                    </a:lnTo>
                    <a:lnTo>
                      <a:pt x="264668" y="12446"/>
                    </a:lnTo>
                    <a:lnTo>
                      <a:pt x="153416" y="81153"/>
                    </a:lnTo>
                    <a:lnTo>
                      <a:pt x="264668" y="149225"/>
                    </a:lnTo>
                    <a:lnTo>
                      <a:pt x="244094" y="162052"/>
                    </a:lnTo>
                    <a:lnTo>
                      <a:pt x="132461" y="93853"/>
                    </a:lnTo>
                    <a:lnTo>
                      <a:pt x="21082" y="162052"/>
                    </a:lnTo>
                    <a:lnTo>
                      <a:pt x="0" y="149225"/>
                    </a:lnTo>
                    <a:lnTo>
                      <a:pt x="111379" y="80899"/>
                    </a:lnTo>
                    <a:lnTo>
                      <a:pt x="0" y="12827"/>
                    </a:lnTo>
                    <a:lnTo>
                      <a:pt x="21082" y="0"/>
                    </a:lnTo>
                    <a:close/>
                  </a:path>
                </a:pathLst>
              </a:custGeom>
              <a:solidFill>
                <a:schemeClr val="accent1">
                  <a:alpha val="1000"/>
                </a:schemeClr>
              </a:solidFill>
              <a:ln w="12700" cap="flat" cmpd="sng" algn="ctr">
                <a:solidFill>
                  <a:srgbClr val="1F1A1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grpSp>
        <p:grpSp>
          <p:nvGrpSpPr>
            <p:cNvPr id="92" name="Group 91"/>
            <p:cNvGrpSpPr/>
            <p:nvPr/>
          </p:nvGrpSpPr>
          <p:grpSpPr>
            <a:xfrm>
              <a:off x="4823968" y="4887214"/>
              <a:ext cx="264669" cy="162053"/>
              <a:chOff x="4823968" y="4887214"/>
              <a:chExt cx="264669" cy="162053"/>
            </a:xfrm>
          </p:grpSpPr>
          <p:sp>
            <p:nvSpPr>
              <p:cNvPr id="90" name="Freeform 89"/>
              <p:cNvSpPr/>
              <p:nvPr/>
            </p:nvSpPr>
            <p:spPr>
              <a:xfrm>
                <a:off x="4823968" y="4887214"/>
                <a:ext cx="264669" cy="162053"/>
              </a:xfrm>
              <a:custGeom>
                <a:avLst/>
                <a:gdLst/>
                <a:ahLst/>
                <a:cxnLst/>
                <a:rect l="0" t="0" r="0" b="0"/>
                <a:pathLst>
                  <a:path w="264669" h="162053">
                    <a:moveTo>
                      <a:pt x="132461" y="68072"/>
                    </a:moveTo>
                    <a:lnTo>
                      <a:pt x="244094" y="0"/>
                    </a:lnTo>
                    <a:lnTo>
                      <a:pt x="264668" y="12446"/>
                    </a:lnTo>
                    <a:lnTo>
                      <a:pt x="153416" y="81153"/>
                    </a:lnTo>
                    <a:lnTo>
                      <a:pt x="264668" y="149225"/>
                    </a:lnTo>
                    <a:lnTo>
                      <a:pt x="244094" y="162052"/>
                    </a:lnTo>
                    <a:lnTo>
                      <a:pt x="132461" y="93853"/>
                    </a:lnTo>
                    <a:lnTo>
                      <a:pt x="21082" y="162052"/>
                    </a:lnTo>
                    <a:lnTo>
                      <a:pt x="0" y="149225"/>
                    </a:lnTo>
                    <a:lnTo>
                      <a:pt x="111379" y="80899"/>
                    </a:lnTo>
                    <a:lnTo>
                      <a:pt x="0" y="12827"/>
                    </a:lnTo>
                    <a:lnTo>
                      <a:pt x="21082" y="0"/>
                    </a:lnTo>
                    <a:close/>
                  </a:path>
                </a:pathLst>
              </a:custGeom>
              <a:solidFill>
                <a:srgbClr val="131516"/>
              </a:solidFill>
              <a:ln w="0" cap="flat" cmpd="sng" algn="ctr">
                <a:solidFill>
                  <a:srgbClr val="13151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91" name="Freeform 90"/>
              <p:cNvSpPr/>
              <p:nvPr/>
            </p:nvSpPr>
            <p:spPr>
              <a:xfrm>
                <a:off x="4823968" y="4887214"/>
                <a:ext cx="264669" cy="162053"/>
              </a:xfrm>
              <a:custGeom>
                <a:avLst/>
                <a:gdLst/>
                <a:ahLst/>
                <a:cxnLst/>
                <a:rect l="0" t="0" r="0" b="0"/>
                <a:pathLst>
                  <a:path w="264669" h="162053">
                    <a:moveTo>
                      <a:pt x="132461" y="68072"/>
                    </a:moveTo>
                    <a:lnTo>
                      <a:pt x="244094" y="0"/>
                    </a:lnTo>
                    <a:lnTo>
                      <a:pt x="264668" y="12446"/>
                    </a:lnTo>
                    <a:lnTo>
                      <a:pt x="153416" y="81153"/>
                    </a:lnTo>
                    <a:lnTo>
                      <a:pt x="264668" y="149225"/>
                    </a:lnTo>
                    <a:lnTo>
                      <a:pt x="244094" y="162052"/>
                    </a:lnTo>
                    <a:lnTo>
                      <a:pt x="132461" y="93853"/>
                    </a:lnTo>
                    <a:lnTo>
                      <a:pt x="21082" y="162052"/>
                    </a:lnTo>
                    <a:lnTo>
                      <a:pt x="0" y="149225"/>
                    </a:lnTo>
                    <a:lnTo>
                      <a:pt x="111379" y="80899"/>
                    </a:lnTo>
                    <a:lnTo>
                      <a:pt x="0" y="12827"/>
                    </a:lnTo>
                    <a:lnTo>
                      <a:pt x="21082" y="0"/>
                    </a:lnTo>
                    <a:close/>
                  </a:path>
                </a:pathLst>
              </a:custGeom>
              <a:solidFill>
                <a:schemeClr val="accent1">
                  <a:alpha val="1000"/>
                </a:schemeClr>
              </a:solidFill>
              <a:ln w="12700" cap="flat" cmpd="sng" algn="ctr">
                <a:solidFill>
                  <a:srgbClr val="1F1A1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grpSp>
        <p:grpSp>
          <p:nvGrpSpPr>
            <p:cNvPr id="95" name="Group 94"/>
            <p:cNvGrpSpPr/>
            <p:nvPr/>
          </p:nvGrpSpPr>
          <p:grpSpPr>
            <a:xfrm>
              <a:off x="5255768" y="5014214"/>
              <a:ext cx="264669" cy="162053"/>
              <a:chOff x="5255768" y="5014214"/>
              <a:chExt cx="264669" cy="162053"/>
            </a:xfrm>
          </p:grpSpPr>
          <p:sp>
            <p:nvSpPr>
              <p:cNvPr id="93" name="Freeform 92"/>
              <p:cNvSpPr/>
              <p:nvPr/>
            </p:nvSpPr>
            <p:spPr>
              <a:xfrm>
                <a:off x="5255768" y="5014214"/>
                <a:ext cx="264669" cy="162053"/>
              </a:xfrm>
              <a:custGeom>
                <a:avLst/>
                <a:gdLst/>
                <a:ahLst/>
                <a:cxnLst/>
                <a:rect l="0" t="0" r="0" b="0"/>
                <a:pathLst>
                  <a:path w="264669" h="162053">
                    <a:moveTo>
                      <a:pt x="132461" y="68072"/>
                    </a:moveTo>
                    <a:lnTo>
                      <a:pt x="244094" y="0"/>
                    </a:lnTo>
                    <a:lnTo>
                      <a:pt x="264668" y="12446"/>
                    </a:lnTo>
                    <a:lnTo>
                      <a:pt x="153416" y="81153"/>
                    </a:lnTo>
                    <a:lnTo>
                      <a:pt x="264668" y="149225"/>
                    </a:lnTo>
                    <a:lnTo>
                      <a:pt x="244094" y="162052"/>
                    </a:lnTo>
                    <a:lnTo>
                      <a:pt x="132461" y="93853"/>
                    </a:lnTo>
                    <a:lnTo>
                      <a:pt x="21082" y="162052"/>
                    </a:lnTo>
                    <a:lnTo>
                      <a:pt x="0" y="149225"/>
                    </a:lnTo>
                    <a:lnTo>
                      <a:pt x="111379" y="80899"/>
                    </a:lnTo>
                    <a:lnTo>
                      <a:pt x="0" y="12827"/>
                    </a:lnTo>
                    <a:lnTo>
                      <a:pt x="21082" y="0"/>
                    </a:lnTo>
                    <a:close/>
                  </a:path>
                </a:pathLst>
              </a:custGeom>
              <a:solidFill>
                <a:srgbClr val="131516"/>
              </a:solidFill>
              <a:ln w="0" cap="flat" cmpd="sng" algn="ctr">
                <a:solidFill>
                  <a:srgbClr val="13151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94" name="Freeform 93"/>
              <p:cNvSpPr/>
              <p:nvPr/>
            </p:nvSpPr>
            <p:spPr>
              <a:xfrm>
                <a:off x="5255768" y="5014214"/>
                <a:ext cx="264669" cy="162053"/>
              </a:xfrm>
              <a:custGeom>
                <a:avLst/>
                <a:gdLst/>
                <a:ahLst/>
                <a:cxnLst/>
                <a:rect l="0" t="0" r="0" b="0"/>
                <a:pathLst>
                  <a:path w="264669" h="162053">
                    <a:moveTo>
                      <a:pt x="132461" y="68072"/>
                    </a:moveTo>
                    <a:lnTo>
                      <a:pt x="244094" y="0"/>
                    </a:lnTo>
                    <a:lnTo>
                      <a:pt x="264668" y="12446"/>
                    </a:lnTo>
                    <a:lnTo>
                      <a:pt x="153416" y="81153"/>
                    </a:lnTo>
                    <a:lnTo>
                      <a:pt x="264668" y="149225"/>
                    </a:lnTo>
                    <a:lnTo>
                      <a:pt x="244094" y="162052"/>
                    </a:lnTo>
                    <a:lnTo>
                      <a:pt x="132461" y="93853"/>
                    </a:lnTo>
                    <a:lnTo>
                      <a:pt x="21082" y="162052"/>
                    </a:lnTo>
                    <a:lnTo>
                      <a:pt x="0" y="149225"/>
                    </a:lnTo>
                    <a:lnTo>
                      <a:pt x="111379" y="80899"/>
                    </a:lnTo>
                    <a:lnTo>
                      <a:pt x="0" y="12827"/>
                    </a:lnTo>
                    <a:lnTo>
                      <a:pt x="21082" y="0"/>
                    </a:lnTo>
                    <a:close/>
                  </a:path>
                </a:pathLst>
              </a:custGeom>
              <a:solidFill>
                <a:schemeClr val="accent1">
                  <a:alpha val="1000"/>
                </a:schemeClr>
              </a:solidFill>
              <a:ln w="12700" cap="flat" cmpd="sng" algn="ctr">
                <a:solidFill>
                  <a:srgbClr val="1F1A1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grpSp>
        <p:grpSp>
          <p:nvGrpSpPr>
            <p:cNvPr id="98" name="Group 97"/>
            <p:cNvGrpSpPr/>
            <p:nvPr/>
          </p:nvGrpSpPr>
          <p:grpSpPr>
            <a:xfrm>
              <a:off x="6436868" y="5966714"/>
              <a:ext cx="264669" cy="162053"/>
              <a:chOff x="6436868" y="5966714"/>
              <a:chExt cx="264669" cy="162053"/>
            </a:xfrm>
          </p:grpSpPr>
          <p:sp>
            <p:nvSpPr>
              <p:cNvPr id="96" name="Freeform 95"/>
              <p:cNvSpPr/>
              <p:nvPr/>
            </p:nvSpPr>
            <p:spPr>
              <a:xfrm>
                <a:off x="6436868" y="5966714"/>
                <a:ext cx="264669" cy="162053"/>
              </a:xfrm>
              <a:custGeom>
                <a:avLst/>
                <a:gdLst/>
                <a:ahLst/>
                <a:cxnLst/>
                <a:rect l="0" t="0" r="0" b="0"/>
                <a:pathLst>
                  <a:path w="264669" h="162053">
                    <a:moveTo>
                      <a:pt x="132461" y="68072"/>
                    </a:moveTo>
                    <a:lnTo>
                      <a:pt x="244094" y="0"/>
                    </a:lnTo>
                    <a:lnTo>
                      <a:pt x="264668" y="12446"/>
                    </a:lnTo>
                    <a:lnTo>
                      <a:pt x="153416" y="81153"/>
                    </a:lnTo>
                    <a:lnTo>
                      <a:pt x="264668" y="149225"/>
                    </a:lnTo>
                    <a:lnTo>
                      <a:pt x="244094" y="162052"/>
                    </a:lnTo>
                    <a:lnTo>
                      <a:pt x="132461" y="93853"/>
                    </a:lnTo>
                    <a:lnTo>
                      <a:pt x="21082" y="162052"/>
                    </a:lnTo>
                    <a:lnTo>
                      <a:pt x="0" y="149225"/>
                    </a:lnTo>
                    <a:lnTo>
                      <a:pt x="111379" y="80899"/>
                    </a:lnTo>
                    <a:lnTo>
                      <a:pt x="0" y="12827"/>
                    </a:lnTo>
                    <a:lnTo>
                      <a:pt x="21082" y="0"/>
                    </a:lnTo>
                    <a:close/>
                  </a:path>
                </a:pathLst>
              </a:custGeom>
              <a:solidFill>
                <a:srgbClr val="131516"/>
              </a:solidFill>
              <a:ln w="0" cap="flat" cmpd="sng" algn="ctr">
                <a:solidFill>
                  <a:srgbClr val="13151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sp>
            <p:nvSpPr>
              <p:cNvPr id="97" name="Freeform 96"/>
              <p:cNvSpPr/>
              <p:nvPr/>
            </p:nvSpPr>
            <p:spPr>
              <a:xfrm>
                <a:off x="6436868" y="5966714"/>
                <a:ext cx="264669" cy="162053"/>
              </a:xfrm>
              <a:custGeom>
                <a:avLst/>
                <a:gdLst/>
                <a:ahLst/>
                <a:cxnLst/>
                <a:rect l="0" t="0" r="0" b="0"/>
                <a:pathLst>
                  <a:path w="264669" h="162053">
                    <a:moveTo>
                      <a:pt x="132461" y="68072"/>
                    </a:moveTo>
                    <a:lnTo>
                      <a:pt x="244094" y="0"/>
                    </a:lnTo>
                    <a:lnTo>
                      <a:pt x="264668" y="12446"/>
                    </a:lnTo>
                    <a:lnTo>
                      <a:pt x="153416" y="81153"/>
                    </a:lnTo>
                    <a:lnTo>
                      <a:pt x="264668" y="149225"/>
                    </a:lnTo>
                    <a:lnTo>
                      <a:pt x="244094" y="162052"/>
                    </a:lnTo>
                    <a:lnTo>
                      <a:pt x="132461" y="93853"/>
                    </a:lnTo>
                    <a:lnTo>
                      <a:pt x="21082" y="162052"/>
                    </a:lnTo>
                    <a:lnTo>
                      <a:pt x="0" y="149225"/>
                    </a:lnTo>
                    <a:lnTo>
                      <a:pt x="111379" y="80899"/>
                    </a:lnTo>
                    <a:lnTo>
                      <a:pt x="0" y="12827"/>
                    </a:lnTo>
                    <a:lnTo>
                      <a:pt x="21082" y="0"/>
                    </a:lnTo>
                    <a:close/>
                  </a:path>
                </a:pathLst>
              </a:custGeom>
              <a:solidFill>
                <a:schemeClr val="accent1">
                  <a:alpha val="1000"/>
                </a:schemeClr>
              </a:solidFill>
              <a:ln w="12700" cap="flat" cmpd="sng" algn="ctr">
                <a:solidFill>
                  <a:srgbClr val="1F1A17"/>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20"/>
              </a:p>
            </p:txBody>
          </p:sp>
        </p:grpSp>
      </p:grpSp>
      <p:sp>
        <p:nvSpPr>
          <p:cNvPr id="100" name="TextBox 99"/>
          <p:cNvSpPr txBox="1"/>
          <p:nvPr/>
        </p:nvSpPr>
        <p:spPr>
          <a:xfrm>
            <a:off x="7901940" y="3680460"/>
            <a:ext cx="2286302" cy="590931"/>
          </a:xfrm>
          <a:prstGeom prst="rect">
            <a:avLst/>
          </a:prstGeom>
          <a:noFill/>
        </p:spPr>
        <p:txBody>
          <a:bodyPr vert="horz" rtlCol="0">
            <a:spAutoFit/>
          </a:bodyPr>
          <a:lstStyle/>
          <a:p>
            <a:pPr algn="ctr"/>
            <a:r>
              <a:rPr lang="en-GB" sz="1620" u="sng">
                <a:solidFill>
                  <a:srgbClr val="0000FF"/>
                </a:solidFill>
                <a:latin typeface="Trebuchet MS - 24"/>
              </a:rPr>
              <a:t>Correlation:</a:t>
            </a:r>
          </a:p>
          <a:p>
            <a:pPr algn="ctr"/>
            <a:r>
              <a:rPr lang="en-GB" sz="1620" u="sng">
                <a:solidFill>
                  <a:srgbClr val="0000FF"/>
                </a:solidFill>
                <a:latin typeface="Trebuchet MS - 24"/>
              </a:rPr>
              <a:t>N</a:t>
            </a:r>
            <a:r>
              <a:rPr lang="en-GB" sz="1620">
                <a:solidFill>
                  <a:srgbClr val="0000FF"/>
                </a:solidFill>
                <a:latin typeface="Trebuchet MS - 24"/>
              </a:rPr>
              <a:t>egative(Moderate) </a:t>
            </a:r>
          </a:p>
        </p:txBody>
      </p:sp>
      <p:sp>
        <p:nvSpPr>
          <p:cNvPr id="101" name="TextBox 100">
            <a:extLst>
              <a:ext uri="{FF2B5EF4-FFF2-40B4-BE49-F238E27FC236}">
                <a16:creationId xmlns:a16="http://schemas.microsoft.com/office/drawing/2014/main" id="{6EF62FB0-663F-45A0-8268-F1674F178186}"/>
              </a:ext>
            </a:extLst>
          </p:cNvPr>
          <p:cNvSpPr txBox="1"/>
          <p:nvPr/>
        </p:nvSpPr>
        <p:spPr>
          <a:xfrm>
            <a:off x="7955983" y="4484060"/>
            <a:ext cx="3109457" cy="369332"/>
          </a:xfrm>
          <a:prstGeom prst="rect">
            <a:avLst/>
          </a:prstGeom>
          <a:noFill/>
        </p:spPr>
        <p:txBody>
          <a:bodyPr wrap="square" rtlCol="0">
            <a:spAutoFit/>
          </a:bodyPr>
          <a:lstStyle/>
          <a:p>
            <a:r>
              <a:rPr lang="en-AU" dirty="0"/>
              <a:t>Is this causation or correlation?</a:t>
            </a:r>
          </a:p>
        </p:txBody>
      </p:sp>
    </p:spTree>
    <p:extLst>
      <p:ext uri="{BB962C8B-B14F-4D97-AF65-F5344CB8AC3E}">
        <p14:creationId xmlns:p14="http://schemas.microsoft.com/office/powerpoint/2010/main" val="41777757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535</Words>
  <Application>Microsoft Office PowerPoint</Application>
  <PresentationFormat>Widescreen</PresentationFormat>
  <Paragraphs>139</Paragraphs>
  <Slides>11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Arial</vt:lpstr>
      <vt:lpstr>Arial Unicode MS</vt:lpstr>
      <vt:lpstr>Calibri</vt:lpstr>
      <vt:lpstr>Calibri Light</vt:lpstr>
      <vt:lpstr>Open Sans</vt:lpstr>
      <vt:lpstr>Trebuchet MS - 16</vt:lpstr>
      <vt:lpstr>Trebuchet MS - 24</vt:lpstr>
      <vt:lpstr>Trebuchet MS - 28</vt:lpstr>
      <vt:lpstr>Trebuchet MS - 36</vt:lpstr>
      <vt:lpstr>Trebuchet MS - 48</vt:lpstr>
      <vt:lpstr>Office Theme</vt:lpstr>
      <vt:lpstr>Line of best fit and correlation</vt:lpstr>
      <vt:lpstr>The Line of Best Fit</vt:lpstr>
      <vt:lpstr>A line of best fit by eye is drawn through the scatterplot so that an equal number of points lie on either side of the line and are approximately the same distance from the 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Correlation</dc:title>
  <dc:creator>WILSON James [Baldivis Secondary College]</dc:creator>
  <cp:lastModifiedBy>WILSON James [Baldivis Secondary College]</cp:lastModifiedBy>
  <cp:revision>3</cp:revision>
  <dcterms:created xsi:type="dcterms:W3CDTF">2019-06-24T14:52:04Z</dcterms:created>
  <dcterms:modified xsi:type="dcterms:W3CDTF">2019-06-24T15:04:57Z</dcterms:modified>
</cp:coreProperties>
</file>
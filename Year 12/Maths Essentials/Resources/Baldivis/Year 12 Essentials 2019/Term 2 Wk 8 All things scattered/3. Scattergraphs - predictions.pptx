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1" r:id="rId2"/>
    <p:sldId id="330" r:id="rId3"/>
    <p:sldId id="272" r:id="rId4"/>
    <p:sldId id="273" r:id="rId5"/>
    <p:sldId id="274" r:id="rId6"/>
    <p:sldId id="275" r:id="rId7"/>
  </p:sldIdLst>
  <p:sldSz cx="10160000" cy="7620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482" y="84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7141"/>
            <a:ext cx="8636000" cy="16333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3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93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20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570" y="4896557"/>
            <a:ext cx="8636000" cy="151341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570" y="3229682"/>
            <a:ext cx="8636000" cy="16668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54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78002"/>
            <a:ext cx="4487333" cy="50288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667" y="1778002"/>
            <a:ext cx="4487333" cy="50288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81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5681"/>
            <a:ext cx="4489098" cy="7108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528"/>
            <a:ext cx="4489098" cy="43903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141" y="1705681"/>
            <a:ext cx="4490861" cy="7108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1141" y="2416528"/>
            <a:ext cx="4490861" cy="43903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9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93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83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03389"/>
            <a:ext cx="3342570" cy="12911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2278" y="303391"/>
            <a:ext cx="5679722" cy="6503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1594557"/>
            <a:ext cx="3342570" cy="521229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84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431" y="5334000"/>
            <a:ext cx="6096000" cy="6297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1431" y="680861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1431" y="5963709"/>
            <a:ext cx="6096000" cy="8942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96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305155"/>
            <a:ext cx="2286000" cy="65016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305155"/>
            <a:ext cx="6688667" cy="65016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83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305153"/>
            <a:ext cx="9144000" cy="127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78002"/>
            <a:ext cx="9144000" cy="5028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8001" y="7062613"/>
            <a:ext cx="2370667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D7474-89B0-4455-8ED6-7DEA69BC8EC4}" type="datetimeFigureOut">
              <a:rPr lang="en-GB" smtClean="0"/>
              <a:t>24/06/2019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71335" y="7062613"/>
            <a:ext cx="3217333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81334" y="7062613"/>
            <a:ext cx="2370667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C7EBD-639B-47BD-A1DC-6004960AF0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4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800" y="241300"/>
            <a:ext cx="9284368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600" b="1" dirty="0">
                <a:solidFill>
                  <a:srgbClr val="000000"/>
                </a:solidFill>
                <a:latin typeface="Trebuchet MS - 48"/>
              </a:rPr>
              <a:t>How do we use scatter graphs?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6900" y="1244600"/>
            <a:ext cx="9040913" cy="489364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 dirty="0">
                <a:solidFill>
                  <a:srgbClr val="000000"/>
                </a:solidFill>
                <a:latin typeface="Trebuchet MS - 24"/>
              </a:rPr>
              <a:t>We can use scatter graphs to estimate results based upon other results. We do this by drawing a "line of best fit".</a:t>
            </a:r>
          </a:p>
          <a:p>
            <a:pPr algn="ctr"/>
            <a:endParaRPr lang="en-GB" sz="2400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rebuchet MS - 24"/>
              </a:rPr>
              <a:t>A "line of best fit" is a straight line (drawn with a ruler) that goes through the middle of your points. This is an estimate, but try to get half of the points on either side of it.</a:t>
            </a:r>
          </a:p>
          <a:p>
            <a:pPr algn="ctr"/>
            <a:endParaRPr lang="en-GB" sz="2400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rebuchet MS - 24"/>
              </a:rPr>
              <a:t>The "line of best fit" </a:t>
            </a:r>
            <a:r>
              <a:rPr lang="en-GB" sz="2400" b="1" u="sng" dirty="0">
                <a:solidFill>
                  <a:srgbClr val="000000"/>
                </a:solidFill>
                <a:latin typeface="Trebuchet MS - 24"/>
              </a:rPr>
              <a:t>does not</a:t>
            </a:r>
            <a:r>
              <a:rPr lang="en-GB" sz="2400" dirty="0">
                <a:solidFill>
                  <a:srgbClr val="000000"/>
                </a:solidFill>
                <a:latin typeface="Trebuchet MS - 24"/>
              </a:rPr>
              <a:t> have to go through the origin!</a:t>
            </a:r>
          </a:p>
          <a:p>
            <a:pPr algn="ctr"/>
            <a:endParaRPr lang="en-GB" sz="2400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rebuchet MS - 24"/>
              </a:rPr>
              <a:t>When doing an estimate from a scatter graph </a:t>
            </a:r>
            <a:r>
              <a:rPr lang="en-GB" sz="2400" u="sng" dirty="0">
                <a:solidFill>
                  <a:srgbClr val="000000"/>
                </a:solidFill>
                <a:latin typeface="Trebuchet MS - 24"/>
              </a:rPr>
              <a:t>you must draw the "line of best fit"</a:t>
            </a:r>
            <a:r>
              <a:rPr lang="en-GB" sz="2400" dirty="0">
                <a:solidFill>
                  <a:srgbClr val="000000"/>
                </a:solidFill>
                <a:latin typeface="Trebuchet MS - 24"/>
              </a:rPr>
              <a:t> or you will get no marks!</a:t>
            </a:r>
          </a:p>
          <a:p>
            <a:pPr algn="ctr"/>
            <a:endParaRPr lang="en-GB" sz="2400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rebuchet MS - 24"/>
              </a:rPr>
              <a:t>If there is no correlation, you cannot draw a "line of best fit".</a:t>
            </a:r>
          </a:p>
        </p:txBody>
      </p:sp>
    </p:spTree>
    <p:extLst>
      <p:ext uri="{BB962C8B-B14F-4D97-AF65-F5344CB8AC3E}">
        <p14:creationId xmlns:p14="http://schemas.microsoft.com/office/powerpoint/2010/main" val="362129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20516" y="7209631"/>
            <a:ext cx="610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461" y="715930"/>
            <a:ext cx="97050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</a:t>
            </a:r>
            <a:r>
              <a:rPr lang="en-AU" sz="2800" b="1" dirty="0"/>
              <a:t> line of best fit </a:t>
            </a:r>
            <a:r>
              <a:rPr lang="en-AU" sz="2800" dirty="0"/>
              <a:t>is a line that shows the general pattern of points on a graph.</a:t>
            </a:r>
          </a:p>
          <a:p>
            <a:r>
              <a:rPr lang="en-AU" sz="2800" b="1" dirty="0"/>
              <a:t>Interpolation</a:t>
            </a:r>
            <a:r>
              <a:rPr lang="en-AU" sz="2800" dirty="0"/>
              <a:t> is the prediction of a value within the range of data.</a:t>
            </a:r>
          </a:p>
          <a:p>
            <a:r>
              <a:rPr lang="en-AU" sz="2800" b="1" dirty="0"/>
              <a:t>Extrapolation</a:t>
            </a:r>
            <a:r>
              <a:rPr lang="en-AU" sz="2800" dirty="0"/>
              <a:t> is the prediction of a value outside the range of the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8258" y="145691"/>
            <a:ext cx="8877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How can I make a prediction from a Scatterplot?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1648" y="2492879"/>
            <a:ext cx="4680520" cy="471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/>
          <p:cNvGrpSpPr/>
          <p:nvPr/>
        </p:nvGrpSpPr>
        <p:grpSpPr>
          <a:xfrm>
            <a:off x="2598350" y="2659761"/>
            <a:ext cx="4735900" cy="4570488"/>
            <a:chOff x="2598350" y="2659761"/>
            <a:chExt cx="4735900" cy="4570488"/>
          </a:xfrm>
        </p:grpSpPr>
        <p:grpSp>
          <p:nvGrpSpPr>
            <p:cNvPr id="72" name="Group 71"/>
            <p:cNvGrpSpPr/>
            <p:nvPr/>
          </p:nvGrpSpPr>
          <p:grpSpPr>
            <a:xfrm>
              <a:off x="2598350" y="2659761"/>
              <a:ext cx="4735900" cy="4570488"/>
              <a:chOff x="2598350" y="2659761"/>
              <a:chExt cx="4735900" cy="4570488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2698750" y="2659761"/>
                <a:ext cx="4635500" cy="4316488"/>
                <a:chOff x="2698750" y="2659761"/>
                <a:chExt cx="4635500" cy="4316488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3218561" y="2659761"/>
                  <a:ext cx="4061460" cy="4057396"/>
                  <a:chOff x="3218561" y="2659761"/>
                  <a:chExt cx="4061460" cy="4057396"/>
                </a:xfrm>
              </p:grpSpPr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3219577" y="2918460"/>
                    <a:ext cx="3801873" cy="3798697"/>
                    <a:chOff x="3219577" y="2918460"/>
                    <a:chExt cx="3801873" cy="3798697"/>
                  </a:xfrm>
                </p:grpSpPr>
                <p:sp>
                  <p:nvSpPr>
                    <p:cNvPr id="2" name="Freeform 1"/>
                    <p:cNvSpPr/>
                    <p:nvPr/>
                  </p:nvSpPr>
                  <p:spPr>
                    <a:xfrm>
                      <a:off x="3219577" y="2926969"/>
                      <a:ext cx="18924" cy="37769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24" h="3776980">
                          <a:moveTo>
                            <a:pt x="0" y="0"/>
                          </a:moveTo>
                          <a:lnTo>
                            <a:pt x="18923" y="0"/>
                          </a:lnTo>
                          <a:lnTo>
                            <a:pt x="18923" y="3776979"/>
                          </a:lnTo>
                          <a:lnTo>
                            <a:pt x="0" y="3776979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" name="Freeform 2"/>
                    <p:cNvSpPr/>
                    <p:nvPr/>
                  </p:nvSpPr>
                  <p:spPr>
                    <a:xfrm>
                      <a:off x="3219577" y="2918460"/>
                      <a:ext cx="3800603" cy="189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0603" h="18924">
                          <a:moveTo>
                            <a:pt x="0" y="0"/>
                          </a:moveTo>
                          <a:lnTo>
                            <a:pt x="3800602" y="0"/>
                          </a:lnTo>
                          <a:lnTo>
                            <a:pt x="3800602" y="18923"/>
                          </a:lnTo>
                          <a:lnTo>
                            <a:pt x="0" y="189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" name="Freeform 3"/>
                    <p:cNvSpPr/>
                    <p:nvPr/>
                  </p:nvSpPr>
                  <p:spPr>
                    <a:xfrm>
                      <a:off x="3232912" y="3108325"/>
                      <a:ext cx="3780791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791" h="19686">
                          <a:moveTo>
                            <a:pt x="0" y="0"/>
                          </a:moveTo>
                          <a:lnTo>
                            <a:pt x="3780790" y="0"/>
                          </a:lnTo>
                          <a:lnTo>
                            <a:pt x="3780790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" name="Freeform 4"/>
                    <p:cNvSpPr/>
                    <p:nvPr/>
                  </p:nvSpPr>
                  <p:spPr>
                    <a:xfrm>
                      <a:off x="3410331" y="2927985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3598164" y="2926969"/>
                      <a:ext cx="19813" cy="37769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0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79"/>
                          </a:lnTo>
                          <a:lnTo>
                            <a:pt x="0" y="3776979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" name="Freeform 6"/>
                    <p:cNvSpPr/>
                    <p:nvPr/>
                  </p:nvSpPr>
                  <p:spPr>
                    <a:xfrm>
                      <a:off x="3788791" y="2927985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" name="Freeform 7"/>
                    <p:cNvSpPr/>
                    <p:nvPr/>
                  </p:nvSpPr>
                  <p:spPr>
                    <a:xfrm>
                      <a:off x="3973830" y="2926969"/>
                      <a:ext cx="22734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901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9" name="Freeform 8"/>
                    <p:cNvSpPr/>
                    <p:nvPr/>
                  </p:nvSpPr>
                  <p:spPr>
                    <a:xfrm>
                      <a:off x="4164584" y="2927985"/>
                      <a:ext cx="19686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6981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0" name="Freeform 9"/>
                    <p:cNvSpPr/>
                    <p:nvPr/>
                  </p:nvSpPr>
                  <p:spPr>
                    <a:xfrm>
                      <a:off x="4355338" y="2929001"/>
                      <a:ext cx="21718" cy="37779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6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5"/>
                          </a:lnTo>
                          <a:lnTo>
                            <a:pt x="0" y="377799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" name="Freeform 10"/>
                    <p:cNvSpPr/>
                    <p:nvPr/>
                  </p:nvSpPr>
                  <p:spPr>
                    <a:xfrm>
                      <a:off x="4544060" y="2927985"/>
                      <a:ext cx="20702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6981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" name="Freeform 11"/>
                    <p:cNvSpPr/>
                    <p:nvPr/>
                  </p:nvSpPr>
                  <p:spPr>
                    <a:xfrm>
                      <a:off x="4733798" y="2929636"/>
                      <a:ext cx="22734" cy="37760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09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090"/>
                          </a:lnTo>
                          <a:lnTo>
                            <a:pt x="0" y="377609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>
                    <a:xfrm>
                      <a:off x="4917821" y="2927985"/>
                      <a:ext cx="24385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85" h="3776981">
                          <a:moveTo>
                            <a:pt x="0" y="0"/>
                          </a:moveTo>
                          <a:lnTo>
                            <a:pt x="24384" y="0"/>
                          </a:lnTo>
                          <a:lnTo>
                            <a:pt x="24384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" name="Freeform 13"/>
                    <p:cNvSpPr/>
                    <p:nvPr/>
                  </p:nvSpPr>
                  <p:spPr>
                    <a:xfrm>
                      <a:off x="5109718" y="2929001"/>
                      <a:ext cx="19686" cy="37741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4186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4185"/>
                          </a:lnTo>
                          <a:lnTo>
                            <a:pt x="0" y="37741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" name="Freeform 14"/>
                    <p:cNvSpPr/>
                    <p:nvPr/>
                  </p:nvSpPr>
                  <p:spPr>
                    <a:xfrm>
                      <a:off x="5300345" y="2929001"/>
                      <a:ext cx="21591" cy="37752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591" h="3775202">
                          <a:moveTo>
                            <a:pt x="0" y="0"/>
                          </a:moveTo>
                          <a:lnTo>
                            <a:pt x="21590" y="0"/>
                          </a:lnTo>
                          <a:lnTo>
                            <a:pt x="21590" y="3775201"/>
                          </a:lnTo>
                          <a:lnTo>
                            <a:pt x="0" y="37752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6" name="Freeform 15"/>
                    <p:cNvSpPr/>
                    <p:nvPr/>
                  </p:nvSpPr>
                  <p:spPr>
                    <a:xfrm>
                      <a:off x="5489067" y="2929001"/>
                      <a:ext cx="20702" cy="377596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5964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5963"/>
                          </a:lnTo>
                          <a:lnTo>
                            <a:pt x="0" y="377596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7" name="Freeform 16"/>
                    <p:cNvSpPr/>
                    <p:nvPr/>
                  </p:nvSpPr>
                  <p:spPr>
                    <a:xfrm>
                      <a:off x="5678932" y="2929636"/>
                      <a:ext cx="22734" cy="37781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812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8122"/>
                          </a:lnTo>
                          <a:lnTo>
                            <a:pt x="0" y="377812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" name="Freeform 17"/>
                    <p:cNvSpPr/>
                    <p:nvPr/>
                  </p:nvSpPr>
                  <p:spPr>
                    <a:xfrm>
                      <a:off x="5862955" y="2927985"/>
                      <a:ext cx="24512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512" h="3779013">
                          <a:moveTo>
                            <a:pt x="0" y="0"/>
                          </a:moveTo>
                          <a:lnTo>
                            <a:pt x="24511" y="0"/>
                          </a:lnTo>
                          <a:lnTo>
                            <a:pt x="24511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" name="Freeform 18"/>
                    <p:cNvSpPr/>
                    <p:nvPr/>
                  </p:nvSpPr>
                  <p:spPr>
                    <a:xfrm>
                      <a:off x="6054598" y="2929001"/>
                      <a:ext cx="21718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6981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" name="Freeform 19"/>
                    <p:cNvSpPr/>
                    <p:nvPr/>
                  </p:nvSpPr>
                  <p:spPr>
                    <a:xfrm>
                      <a:off x="6245098" y="2929636"/>
                      <a:ext cx="23496" cy="37781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496" h="3778123">
                          <a:moveTo>
                            <a:pt x="0" y="0"/>
                          </a:moveTo>
                          <a:lnTo>
                            <a:pt x="23495" y="0"/>
                          </a:lnTo>
                          <a:lnTo>
                            <a:pt x="23495" y="3778122"/>
                          </a:lnTo>
                          <a:lnTo>
                            <a:pt x="0" y="377812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" name="Freeform 20"/>
                    <p:cNvSpPr/>
                    <p:nvPr/>
                  </p:nvSpPr>
                  <p:spPr>
                    <a:xfrm>
                      <a:off x="6433947" y="2929001"/>
                      <a:ext cx="2273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98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" name="Freeform 21"/>
                    <p:cNvSpPr/>
                    <p:nvPr/>
                  </p:nvSpPr>
                  <p:spPr>
                    <a:xfrm>
                      <a:off x="6622669" y="2929001"/>
                      <a:ext cx="24639" cy="37790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639" h="3779012">
                          <a:moveTo>
                            <a:pt x="0" y="0"/>
                          </a:moveTo>
                          <a:lnTo>
                            <a:pt x="24638" y="0"/>
                          </a:lnTo>
                          <a:lnTo>
                            <a:pt x="24638" y="3779011"/>
                          </a:lnTo>
                          <a:lnTo>
                            <a:pt x="0" y="377901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" name="Freeform 22"/>
                    <p:cNvSpPr/>
                    <p:nvPr/>
                  </p:nvSpPr>
                  <p:spPr>
                    <a:xfrm>
                      <a:off x="6807962" y="2929001"/>
                      <a:ext cx="26417" cy="37790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417" h="3779012">
                          <a:moveTo>
                            <a:pt x="0" y="0"/>
                          </a:moveTo>
                          <a:lnTo>
                            <a:pt x="26416" y="0"/>
                          </a:lnTo>
                          <a:lnTo>
                            <a:pt x="26416" y="3779011"/>
                          </a:lnTo>
                          <a:lnTo>
                            <a:pt x="0" y="377901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" name="Freeform 23"/>
                    <p:cNvSpPr/>
                    <p:nvPr/>
                  </p:nvSpPr>
                  <p:spPr>
                    <a:xfrm>
                      <a:off x="6994017" y="2925953"/>
                      <a:ext cx="27433" cy="3779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33" h="3779775">
                          <a:moveTo>
                            <a:pt x="0" y="0"/>
                          </a:moveTo>
                          <a:lnTo>
                            <a:pt x="27432" y="0"/>
                          </a:lnTo>
                          <a:lnTo>
                            <a:pt x="27432" y="3779774"/>
                          </a:lnTo>
                          <a:lnTo>
                            <a:pt x="0" y="37797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" name="Freeform 24"/>
                    <p:cNvSpPr/>
                    <p:nvPr/>
                  </p:nvSpPr>
                  <p:spPr>
                    <a:xfrm>
                      <a:off x="3230880" y="3297936"/>
                      <a:ext cx="3777108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19686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" name="Freeform 25"/>
                    <p:cNvSpPr/>
                    <p:nvPr/>
                  </p:nvSpPr>
                  <p:spPr>
                    <a:xfrm>
                      <a:off x="3231769" y="3486150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" name="Freeform 26"/>
                    <p:cNvSpPr/>
                    <p:nvPr/>
                  </p:nvSpPr>
                  <p:spPr>
                    <a:xfrm>
                      <a:off x="3229991" y="3670935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" name="Freeform 27"/>
                    <p:cNvSpPr/>
                    <p:nvPr/>
                  </p:nvSpPr>
                  <p:spPr>
                    <a:xfrm>
                      <a:off x="3233801" y="4619117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" name="Freeform 28"/>
                    <p:cNvSpPr/>
                    <p:nvPr/>
                  </p:nvSpPr>
                  <p:spPr>
                    <a:xfrm>
                      <a:off x="3231769" y="4431284"/>
                      <a:ext cx="3783712" cy="205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575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574"/>
                          </a:lnTo>
                          <a:lnTo>
                            <a:pt x="0" y="205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" name="Freeform 29"/>
                    <p:cNvSpPr/>
                    <p:nvPr/>
                  </p:nvSpPr>
                  <p:spPr>
                    <a:xfrm>
                      <a:off x="3231769" y="4241419"/>
                      <a:ext cx="377710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20702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" name="Freeform 30"/>
                    <p:cNvSpPr/>
                    <p:nvPr/>
                  </p:nvSpPr>
                  <p:spPr>
                    <a:xfrm>
                      <a:off x="3233801" y="4051681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" name="Freeform 31"/>
                    <p:cNvSpPr/>
                    <p:nvPr/>
                  </p:nvSpPr>
                  <p:spPr>
                    <a:xfrm>
                      <a:off x="3232912" y="3863594"/>
                      <a:ext cx="3772282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2282" h="19686">
                          <a:moveTo>
                            <a:pt x="0" y="0"/>
                          </a:moveTo>
                          <a:lnTo>
                            <a:pt x="3772281" y="0"/>
                          </a:lnTo>
                          <a:lnTo>
                            <a:pt x="3772281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3" name="Freeform 32"/>
                    <p:cNvSpPr/>
                    <p:nvPr/>
                  </p:nvSpPr>
                  <p:spPr>
                    <a:xfrm>
                      <a:off x="3230880" y="4805934"/>
                      <a:ext cx="3776092" cy="198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6092" h="19812">
                          <a:moveTo>
                            <a:pt x="0" y="0"/>
                          </a:moveTo>
                          <a:lnTo>
                            <a:pt x="3776091" y="0"/>
                          </a:lnTo>
                          <a:lnTo>
                            <a:pt x="3776091" y="19811"/>
                          </a:lnTo>
                          <a:lnTo>
                            <a:pt x="0" y="1981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4" name="Freeform 33"/>
                    <p:cNvSpPr/>
                    <p:nvPr/>
                  </p:nvSpPr>
                  <p:spPr>
                    <a:xfrm>
                      <a:off x="3229991" y="4995926"/>
                      <a:ext cx="3783077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1968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228975" y="5185664"/>
                      <a:ext cx="378091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918" h="20702">
                          <a:moveTo>
                            <a:pt x="0" y="0"/>
                          </a:moveTo>
                          <a:lnTo>
                            <a:pt x="3780917" y="0"/>
                          </a:lnTo>
                          <a:lnTo>
                            <a:pt x="378091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6" name="Freeform 35"/>
                    <p:cNvSpPr/>
                    <p:nvPr/>
                  </p:nvSpPr>
                  <p:spPr>
                    <a:xfrm>
                      <a:off x="3229991" y="5373624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7" name="Freeform 36"/>
                    <p:cNvSpPr/>
                    <p:nvPr/>
                  </p:nvSpPr>
                  <p:spPr>
                    <a:xfrm>
                      <a:off x="3228975" y="5558663"/>
                      <a:ext cx="3783585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585" h="20829">
                          <a:moveTo>
                            <a:pt x="0" y="0"/>
                          </a:moveTo>
                          <a:lnTo>
                            <a:pt x="3783584" y="0"/>
                          </a:lnTo>
                          <a:lnTo>
                            <a:pt x="3783584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8" name="Freeform 37"/>
                    <p:cNvSpPr/>
                    <p:nvPr/>
                  </p:nvSpPr>
                  <p:spPr>
                    <a:xfrm>
                      <a:off x="3231769" y="6502781"/>
                      <a:ext cx="3783712" cy="228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2860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2859"/>
                          </a:lnTo>
                          <a:lnTo>
                            <a:pt x="0" y="22859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9" name="Freeform 38"/>
                    <p:cNvSpPr/>
                    <p:nvPr/>
                  </p:nvSpPr>
                  <p:spPr>
                    <a:xfrm>
                      <a:off x="3231769" y="6317742"/>
                      <a:ext cx="3784728" cy="226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4728" h="22606">
                          <a:moveTo>
                            <a:pt x="0" y="0"/>
                          </a:moveTo>
                          <a:lnTo>
                            <a:pt x="3784727" y="0"/>
                          </a:lnTo>
                          <a:lnTo>
                            <a:pt x="3784727" y="22605"/>
                          </a:lnTo>
                          <a:lnTo>
                            <a:pt x="0" y="2260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0" name="Freeform 39"/>
                    <p:cNvSpPr/>
                    <p:nvPr/>
                  </p:nvSpPr>
                  <p:spPr>
                    <a:xfrm>
                      <a:off x="3228975" y="6128765"/>
                      <a:ext cx="3783077" cy="209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20957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20956"/>
                          </a:lnTo>
                          <a:lnTo>
                            <a:pt x="0" y="2095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1" name="Freeform 40"/>
                    <p:cNvSpPr/>
                    <p:nvPr/>
                  </p:nvSpPr>
                  <p:spPr>
                    <a:xfrm>
                      <a:off x="3229991" y="5939155"/>
                      <a:ext cx="3783712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829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2" name="Freeform 41"/>
                    <p:cNvSpPr/>
                    <p:nvPr/>
                  </p:nvSpPr>
                  <p:spPr>
                    <a:xfrm>
                      <a:off x="3229991" y="5751322"/>
                      <a:ext cx="3778886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886" h="20829">
                          <a:moveTo>
                            <a:pt x="0" y="0"/>
                          </a:moveTo>
                          <a:lnTo>
                            <a:pt x="3778885" y="0"/>
                          </a:lnTo>
                          <a:lnTo>
                            <a:pt x="3778885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3" name="Freeform 42"/>
                    <p:cNvSpPr/>
                    <p:nvPr/>
                  </p:nvSpPr>
                  <p:spPr>
                    <a:xfrm>
                      <a:off x="3219577" y="6694423"/>
                      <a:ext cx="3801746" cy="227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1746" h="22734">
                          <a:moveTo>
                            <a:pt x="0" y="0"/>
                          </a:moveTo>
                          <a:lnTo>
                            <a:pt x="3801745" y="0"/>
                          </a:lnTo>
                          <a:lnTo>
                            <a:pt x="3801745" y="22733"/>
                          </a:lnTo>
                          <a:lnTo>
                            <a:pt x="0" y="2273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cxnSp>
                <p:nvCxnSpPr>
                  <p:cNvPr id="45" name="Straight Connector 44"/>
                  <p:cNvCxnSpPr/>
                  <p:nvPr/>
                </p:nvCxnSpPr>
                <p:spPr>
                  <a:xfrm flipV="1">
                    <a:off x="3218561" y="2659761"/>
                    <a:ext cx="0" cy="4038727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3220212" y="6703060"/>
                    <a:ext cx="4059809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TextBox 47"/>
                <p:cNvSpPr txBox="1"/>
                <p:nvPr/>
              </p:nvSpPr>
              <p:spPr>
                <a:xfrm>
                  <a:off x="2698750" y="2774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2774950" y="542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2774950" y="5810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2774950" y="6191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851150" y="66357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0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2762250" y="4298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2762250" y="4679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2762250" y="5060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2762250" y="3155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2762250" y="3536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2762250" y="39179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6750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4083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3702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3321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5226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4845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4464050" y="66865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6369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988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5607050" y="669925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</p:grpSp>
          <p:sp>
            <p:nvSpPr>
              <p:cNvPr id="70" name="TextBox 69"/>
              <p:cNvSpPr txBox="1"/>
              <p:nvPr/>
            </p:nvSpPr>
            <p:spPr>
              <a:xfrm>
                <a:off x="4527550" y="6953250"/>
                <a:ext cx="1473200" cy="276999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000000"/>
                    </a:solidFill>
                    <a:latin typeface="Trebuchet MS - 16"/>
                  </a:rPr>
                  <a:t>Maths mark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 rot="16200000">
                <a:off x="2000250" y="4489450"/>
                <a:ext cx="1473200" cy="276999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000000"/>
                    </a:solidFill>
                    <a:latin typeface="Trebuchet MS - 16"/>
                  </a:rPr>
                  <a:t>Science mark</a:t>
                </a:r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884418" y="4042664"/>
              <a:ext cx="264669" cy="162053"/>
              <a:chOff x="5884418" y="4042664"/>
              <a:chExt cx="264669" cy="162053"/>
            </a:xfrm>
          </p:grpSpPr>
          <p:sp>
            <p:nvSpPr>
              <p:cNvPr id="73" name="Freeform 72"/>
              <p:cNvSpPr/>
              <p:nvPr/>
            </p:nvSpPr>
            <p:spPr>
              <a:xfrm>
                <a:off x="58844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58844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5046218" y="4918964"/>
              <a:ext cx="264669" cy="162053"/>
              <a:chOff x="5046218" y="4918964"/>
              <a:chExt cx="264669" cy="162053"/>
            </a:xfrm>
          </p:grpSpPr>
          <p:sp>
            <p:nvSpPr>
              <p:cNvPr id="76" name="Freeform 75"/>
              <p:cNvSpPr/>
              <p:nvPr/>
            </p:nvSpPr>
            <p:spPr>
              <a:xfrm>
                <a:off x="5046218" y="4918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5046218" y="4918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4004818" y="5287264"/>
              <a:ext cx="264669" cy="162053"/>
              <a:chOff x="4004818" y="5287264"/>
              <a:chExt cx="264669" cy="162053"/>
            </a:xfrm>
          </p:grpSpPr>
          <p:sp>
            <p:nvSpPr>
              <p:cNvPr id="79" name="Freeform 78"/>
              <p:cNvSpPr/>
              <p:nvPr/>
            </p:nvSpPr>
            <p:spPr>
              <a:xfrm>
                <a:off x="4004818" y="5287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4004818" y="5287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4423918" y="5401564"/>
              <a:ext cx="264669" cy="162053"/>
              <a:chOff x="4423918" y="5401564"/>
              <a:chExt cx="264669" cy="162053"/>
            </a:xfrm>
          </p:grpSpPr>
          <p:sp>
            <p:nvSpPr>
              <p:cNvPr id="82" name="Freeform 81"/>
              <p:cNvSpPr/>
              <p:nvPr/>
            </p:nvSpPr>
            <p:spPr>
              <a:xfrm>
                <a:off x="4423918" y="5401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4423918" y="5401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5224018" y="4258564"/>
              <a:ext cx="264669" cy="162053"/>
              <a:chOff x="5224018" y="4258564"/>
              <a:chExt cx="264669" cy="162053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5224018" y="4258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Freeform 85"/>
              <p:cNvSpPr/>
              <p:nvPr/>
            </p:nvSpPr>
            <p:spPr>
              <a:xfrm>
                <a:off x="5224018" y="4258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5478018" y="4042664"/>
              <a:ext cx="264669" cy="162053"/>
              <a:chOff x="5478018" y="4042664"/>
              <a:chExt cx="264669" cy="162053"/>
            </a:xfrm>
          </p:grpSpPr>
          <p:sp>
            <p:nvSpPr>
              <p:cNvPr id="88" name="Freeform 87"/>
              <p:cNvSpPr/>
              <p:nvPr/>
            </p:nvSpPr>
            <p:spPr>
              <a:xfrm>
                <a:off x="54780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Freeform 88"/>
              <p:cNvSpPr/>
              <p:nvPr/>
            </p:nvSpPr>
            <p:spPr>
              <a:xfrm>
                <a:off x="54780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5630418" y="3852164"/>
              <a:ext cx="264669" cy="162053"/>
              <a:chOff x="5630418" y="3852164"/>
              <a:chExt cx="264669" cy="162053"/>
            </a:xfrm>
          </p:grpSpPr>
          <p:sp>
            <p:nvSpPr>
              <p:cNvPr id="91" name="Freeform 90"/>
              <p:cNvSpPr/>
              <p:nvPr/>
            </p:nvSpPr>
            <p:spPr>
              <a:xfrm>
                <a:off x="5630418" y="3852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5630418" y="3852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6671818" y="3306064"/>
              <a:ext cx="264669" cy="162053"/>
              <a:chOff x="6671818" y="3306064"/>
              <a:chExt cx="264669" cy="162053"/>
            </a:xfrm>
          </p:grpSpPr>
          <p:sp>
            <p:nvSpPr>
              <p:cNvPr id="94" name="Freeform 93"/>
              <p:cNvSpPr/>
              <p:nvPr/>
            </p:nvSpPr>
            <p:spPr>
              <a:xfrm>
                <a:off x="6671818" y="3306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6671818" y="3306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8" name="TextBox 97"/>
          <p:cNvSpPr txBox="1"/>
          <p:nvPr/>
        </p:nvSpPr>
        <p:spPr>
          <a:xfrm>
            <a:off x="901700" y="114300"/>
            <a:ext cx="8281737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600" b="1" dirty="0">
                <a:solidFill>
                  <a:srgbClr val="000000"/>
                </a:solidFill>
                <a:latin typeface="Trebuchet MS - 48"/>
              </a:rPr>
              <a:t>Try this question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800" y="914400"/>
            <a:ext cx="9518316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Imogen missed the Science test because she was ill.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She sat the Maths test and got 85.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Use your scatter graph to estimate what Imogen would have achieved on the Science test.</a:t>
            </a:r>
          </a:p>
        </p:txBody>
      </p:sp>
    </p:spTree>
    <p:extLst>
      <p:ext uri="{BB962C8B-B14F-4D97-AF65-F5344CB8AC3E}">
        <p14:creationId xmlns:p14="http://schemas.microsoft.com/office/powerpoint/2010/main" val="3535698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/>
          <p:cNvGrpSpPr/>
          <p:nvPr/>
        </p:nvGrpSpPr>
        <p:grpSpPr>
          <a:xfrm>
            <a:off x="2604700" y="2659761"/>
            <a:ext cx="4735900" cy="4576838"/>
            <a:chOff x="2604700" y="2659761"/>
            <a:chExt cx="4735900" cy="4576838"/>
          </a:xfrm>
        </p:grpSpPr>
        <p:grpSp>
          <p:nvGrpSpPr>
            <p:cNvPr id="72" name="Group 71"/>
            <p:cNvGrpSpPr/>
            <p:nvPr/>
          </p:nvGrpSpPr>
          <p:grpSpPr>
            <a:xfrm>
              <a:off x="2604700" y="2659761"/>
              <a:ext cx="4735900" cy="4576838"/>
              <a:chOff x="2604700" y="2659761"/>
              <a:chExt cx="4735900" cy="4576838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2705100" y="2659761"/>
                <a:ext cx="4635500" cy="4322838"/>
                <a:chOff x="2705100" y="2659761"/>
                <a:chExt cx="4635500" cy="4322838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3218561" y="2659761"/>
                  <a:ext cx="4061460" cy="4057397"/>
                  <a:chOff x="3218561" y="2659761"/>
                  <a:chExt cx="4061460" cy="4057397"/>
                </a:xfrm>
              </p:grpSpPr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3219577" y="2918460"/>
                    <a:ext cx="3801873" cy="3798698"/>
                    <a:chOff x="3219577" y="2918460"/>
                    <a:chExt cx="3801873" cy="3798698"/>
                  </a:xfrm>
                </p:grpSpPr>
                <p:sp>
                  <p:nvSpPr>
                    <p:cNvPr id="2" name="Freeform 1"/>
                    <p:cNvSpPr/>
                    <p:nvPr/>
                  </p:nvSpPr>
                  <p:spPr>
                    <a:xfrm>
                      <a:off x="3219577" y="2926969"/>
                      <a:ext cx="1892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24" h="3776981">
                          <a:moveTo>
                            <a:pt x="0" y="0"/>
                          </a:moveTo>
                          <a:lnTo>
                            <a:pt x="18923" y="0"/>
                          </a:lnTo>
                          <a:lnTo>
                            <a:pt x="1892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" name="Freeform 2"/>
                    <p:cNvSpPr/>
                    <p:nvPr/>
                  </p:nvSpPr>
                  <p:spPr>
                    <a:xfrm>
                      <a:off x="3219577" y="2918460"/>
                      <a:ext cx="3800603" cy="189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0603" h="18924">
                          <a:moveTo>
                            <a:pt x="0" y="0"/>
                          </a:moveTo>
                          <a:lnTo>
                            <a:pt x="3800602" y="0"/>
                          </a:lnTo>
                          <a:lnTo>
                            <a:pt x="3800602" y="18923"/>
                          </a:lnTo>
                          <a:lnTo>
                            <a:pt x="0" y="189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" name="Freeform 3"/>
                    <p:cNvSpPr/>
                    <p:nvPr/>
                  </p:nvSpPr>
                  <p:spPr>
                    <a:xfrm>
                      <a:off x="3232912" y="3108325"/>
                      <a:ext cx="3780791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791" h="19686">
                          <a:moveTo>
                            <a:pt x="0" y="0"/>
                          </a:moveTo>
                          <a:lnTo>
                            <a:pt x="3780790" y="0"/>
                          </a:lnTo>
                          <a:lnTo>
                            <a:pt x="3780790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" name="Freeform 4"/>
                    <p:cNvSpPr/>
                    <p:nvPr/>
                  </p:nvSpPr>
                  <p:spPr>
                    <a:xfrm>
                      <a:off x="3410331" y="2927985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3598164" y="2926969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" name="Freeform 6"/>
                    <p:cNvSpPr/>
                    <p:nvPr/>
                  </p:nvSpPr>
                  <p:spPr>
                    <a:xfrm>
                      <a:off x="3788791" y="2927985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" name="Freeform 7"/>
                    <p:cNvSpPr/>
                    <p:nvPr/>
                  </p:nvSpPr>
                  <p:spPr>
                    <a:xfrm>
                      <a:off x="3973830" y="2926969"/>
                      <a:ext cx="22734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901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9" name="Freeform 8"/>
                    <p:cNvSpPr/>
                    <p:nvPr/>
                  </p:nvSpPr>
                  <p:spPr>
                    <a:xfrm>
                      <a:off x="4164584" y="2927985"/>
                      <a:ext cx="19686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6981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0" name="Freeform 9"/>
                    <p:cNvSpPr/>
                    <p:nvPr/>
                  </p:nvSpPr>
                  <p:spPr>
                    <a:xfrm>
                      <a:off x="4355338" y="2929001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" name="Freeform 10"/>
                    <p:cNvSpPr/>
                    <p:nvPr/>
                  </p:nvSpPr>
                  <p:spPr>
                    <a:xfrm>
                      <a:off x="4544060" y="2927985"/>
                      <a:ext cx="20702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6981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" name="Freeform 11"/>
                    <p:cNvSpPr/>
                    <p:nvPr/>
                  </p:nvSpPr>
                  <p:spPr>
                    <a:xfrm>
                      <a:off x="4733798" y="2929636"/>
                      <a:ext cx="22734" cy="37760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092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091"/>
                          </a:lnTo>
                          <a:lnTo>
                            <a:pt x="0" y="377609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>
                    <a:xfrm>
                      <a:off x="4917821" y="2927985"/>
                      <a:ext cx="24385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85" h="3776981">
                          <a:moveTo>
                            <a:pt x="0" y="0"/>
                          </a:moveTo>
                          <a:lnTo>
                            <a:pt x="24384" y="0"/>
                          </a:lnTo>
                          <a:lnTo>
                            <a:pt x="24384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" name="Freeform 13"/>
                    <p:cNvSpPr/>
                    <p:nvPr/>
                  </p:nvSpPr>
                  <p:spPr>
                    <a:xfrm>
                      <a:off x="5109718" y="2929001"/>
                      <a:ext cx="19686" cy="377418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4187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4186"/>
                          </a:lnTo>
                          <a:lnTo>
                            <a:pt x="0" y="377418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" name="Freeform 14"/>
                    <p:cNvSpPr/>
                    <p:nvPr/>
                  </p:nvSpPr>
                  <p:spPr>
                    <a:xfrm>
                      <a:off x="5300345" y="2929001"/>
                      <a:ext cx="21591" cy="3775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591" h="3775203">
                          <a:moveTo>
                            <a:pt x="0" y="0"/>
                          </a:moveTo>
                          <a:lnTo>
                            <a:pt x="21590" y="0"/>
                          </a:lnTo>
                          <a:lnTo>
                            <a:pt x="21590" y="3775202"/>
                          </a:lnTo>
                          <a:lnTo>
                            <a:pt x="0" y="377520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6" name="Freeform 15"/>
                    <p:cNvSpPr/>
                    <p:nvPr/>
                  </p:nvSpPr>
                  <p:spPr>
                    <a:xfrm>
                      <a:off x="5489067" y="2929001"/>
                      <a:ext cx="20702" cy="37759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5965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5964"/>
                          </a:lnTo>
                          <a:lnTo>
                            <a:pt x="0" y="377596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7" name="Freeform 16"/>
                    <p:cNvSpPr/>
                    <p:nvPr/>
                  </p:nvSpPr>
                  <p:spPr>
                    <a:xfrm>
                      <a:off x="5678932" y="2929636"/>
                      <a:ext cx="22734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8124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" name="Freeform 17"/>
                    <p:cNvSpPr/>
                    <p:nvPr/>
                  </p:nvSpPr>
                  <p:spPr>
                    <a:xfrm>
                      <a:off x="5862955" y="2927985"/>
                      <a:ext cx="24512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512" h="3779013">
                          <a:moveTo>
                            <a:pt x="0" y="0"/>
                          </a:moveTo>
                          <a:lnTo>
                            <a:pt x="24511" y="0"/>
                          </a:lnTo>
                          <a:lnTo>
                            <a:pt x="24511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" name="Freeform 18"/>
                    <p:cNvSpPr/>
                    <p:nvPr/>
                  </p:nvSpPr>
                  <p:spPr>
                    <a:xfrm>
                      <a:off x="6054598" y="2929001"/>
                      <a:ext cx="21718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6981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" name="Freeform 19"/>
                    <p:cNvSpPr/>
                    <p:nvPr/>
                  </p:nvSpPr>
                  <p:spPr>
                    <a:xfrm>
                      <a:off x="6245098" y="2929636"/>
                      <a:ext cx="23496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496" h="3778124">
                          <a:moveTo>
                            <a:pt x="0" y="0"/>
                          </a:moveTo>
                          <a:lnTo>
                            <a:pt x="23495" y="0"/>
                          </a:lnTo>
                          <a:lnTo>
                            <a:pt x="23495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" name="Freeform 20"/>
                    <p:cNvSpPr/>
                    <p:nvPr/>
                  </p:nvSpPr>
                  <p:spPr>
                    <a:xfrm>
                      <a:off x="6433947" y="2929001"/>
                      <a:ext cx="2273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98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" name="Freeform 21"/>
                    <p:cNvSpPr/>
                    <p:nvPr/>
                  </p:nvSpPr>
                  <p:spPr>
                    <a:xfrm>
                      <a:off x="6622669" y="2929001"/>
                      <a:ext cx="24639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639" h="3779013">
                          <a:moveTo>
                            <a:pt x="0" y="0"/>
                          </a:moveTo>
                          <a:lnTo>
                            <a:pt x="24638" y="0"/>
                          </a:lnTo>
                          <a:lnTo>
                            <a:pt x="24638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" name="Freeform 22"/>
                    <p:cNvSpPr/>
                    <p:nvPr/>
                  </p:nvSpPr>
                  <p:spPr>
                    <a:xfrm>
                      <a:off x="6807962" y="2929001"/>
                      <a:ext cx="26417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417" h="3779013">
                          <a:moveTo>
                            <a:pt x="0" y="0"/>
                          </a:moveTo>
                          <a:lnTo>
                            <a:pt x="26416" y="0"/>
                          </a:lnTo>
                          <a:lnTo>
                            <a:pt x="26416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" name="Freeform 23"/>
                    <p:cNvSpPr/>
                    <p:nvPr/>
                  </p:nvSpPr>
                  <p:spPr>
                    <a:xfrm>
                      <a:off x="6994017" y="2925953"/>
                      <a:ext cx="27433" cy="3779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33" h="3779775">
                          <a:moveTo>
                            <a:pt x="0" y="0"/>
                          </a:moveTo>
                          <a:lnTo>
                            <a:pt x="27432" y="0"/>
                          </a:lnTo>
                          <a:lnTo>
                            <a:pt x="27432" y="3779774"/>
                          </a:lnTo>
                          <a:lnTo>
                            <a:pt x="0" y="37797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" name="Freeform 24"/>
                    <p:cNvSpPr/>
                    <p:nvPr/>
                  </p:nvSpPr>
                  <p:spPr>
                    <a:xfrm>
                      <a:off x="3230880" y="3297936"/>
                      <a:ext cx="3777108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19686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" name="Freeform 25"/>
                    <p:cNvSpPr/>
                    <p:nvPr/>
                  </p:nvSpPr>
                  <p:spPr>
                    <a:xfrm>
                      <a:off x="3231769" y="3486150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" name="Freeform 26"/>
                    <p:cNvSpPr/>
                    <p:nvPr/>
                  </p:nvSpPr>
                  <p:spPr>
                    <a:xfrm>
                      <a:off x="3229991" y="3670935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" name="Freeform 27"/>
                    <p:cNvSpPr/>
                    <p:nvPr/>
                  </p:nvSpPr>
                  <p:spPr>
                    <a:xfrm>
                      <a:off x="3233801" y="4619117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" name="Freeform 28"/>
                    <p:cNvSpPr/>
                    <p:nvPr/>
                  </p:nvSpPr>
                  <p:spPr>
                    <a:xfrm>
                      <a:off x="3231769" y="4431284"/>
                      <a:ext cx="3783712" cy="205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575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574"/>
                          </a:lnTo>
                          <a:lnTo>
                            <a:pt x="0" y="205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" name="Freeform 29"/>
                    <p:cNvSpPr/>
                    <p:nvPr/>
                  </p:nvSpPr>
                  <p:spPr>
                    <a:xfrm>
                      <a:off x="3231769" y="4241419"/>
                      <a:ext cx="377710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20702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" name="Freeform 30"/>
                    <p:cNvSpPr/>
                    <p:nvPr/>
                  </p:nvSpPr>
                  <p:spPr>
                    <a:xfrm>
                      <a:off x="3233801" y="4051681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" name="Freeform 31"/>
                    <p:cNvSpPr/>
                    <p:nvPr/>
                  </p:nvSpPr>
                  <p:spPr>
                    <a:xfrm>
                      <a:off x="3232912" y="3863594"/>
                      <a:ext cx="3772282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2282" h="19686">
                          <a:moveTo>
                            <a:pt x="0" y="0"/>
                          </a:moveTo>
                          <a:lnTo>
                            <a:pt x="3772281" y="0"/>
                          </a:lnTo>
                          <a:lnTo>
                            <a:pt x="3772281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3" name="Freeform 32"/>
                    <p:cNvSpPr/>
                    <p:nvPr/>
                  </p:nvSpPr>
                  <p:spPr>
                    <a:xfrm>
                      <a:off x="3230880" y="4805934"/>
                      <a:ext cx="3776092" cy="19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6092" h="19813">
                          <a:moveTo>
                            <a:pt x="0" y="0"/>
                          </a:moveTo>
                          <a:lnTo>
                            <a:pt x="3776091" y="0"/>
                          </a:lnTo>
                          <a:lnTo>
                            <a:pt x="3776091" y="19812"/>
                          </a:lnTo>
                          <a:lnTo>
                            <a:pt x="0" y="198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4" name="Freeform 33"/>
                    <p:cNvSpPr/>
                    <p:nvPr/>
                  </p:nvSpPr>
                  <p:spPr>
                    <a:xfrm>
                      <a:off x="3229991" y="4995926"/>
                      <a:ext cx="3783077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1968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228975" y="5185664"/>
                      <a:ext cx="378091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918" h="20702">
                          <a:moveTo>
                            <a:pt x="0" y="0"/>
                          </a:moveTo>
                          <a:lnTo>
                            <a:pt x="3780917" y="0"/>
                          </a:lnTo>
                          <a:lnTo>
                            <a:pt x="378091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6" name="Freeform 35"/>
                    <p:cNvSpPr/>
                    <p:nvPr/>
                  </p:nvSpPr>
                  <p:spPr>
                    <a:xfrm>
                      <a:off x="3229991" y="5373624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7" name="Freeform 36"/>
                    <p:cNvSpPr/>
                    <p:nvPr/>
                  </p:nvSpPr>
                  <p:spPr>
                    <a:xfrm>
                      <a:off x="3228975" y="5558663"/>
                      <a:ext cx="3783585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585" h="20829">
                          <a:moveTo>
                            <a:pt x="0" y="0"/>
                          </a:moveTo>
                          <a:lnTo>
                            <a:pt x="3783584" y="0"/>
                          </a:lnTo>
                          <a:lnTo>
                            <a:pt x="3783584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8" name="Freeform 37"/>
                    <p:cNvSpPr/>
                    <p:nvPr/>
                  </p:nvSpPr>
                  <p:spPr>
                    <a:xfrm>
                      <a:off x="3231769" y="6502781"/>
                      <a:ext cx="3783712" cy="228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2861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2860"/>
                          </a:lnTo>
                          <a:lnTo>
                            <a:pt x="0" y="2286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9" name="Freeform 38"/>
                    <p:cNvSpPr/>
                    <p:nvPr/>
                  </p:nvSpPr>
                  <p:spPr>
                    <a:xfrm>
                      <a:off x="3231769" y="6317742"/>
                      <a:ext cx="3784728" cy="226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4728" h="22607">
                          <a:moveTo>
                            <a:pt x="0" y="0"/>
                          </a:moveTo>
                          <a:lnTo>
                            <a:pt x="3784727" y="0"/>
                          </a:lnTo>
                          <a:lnTo>
                            <a:pt x="3784727" y="22606"/>
                          </a:lnTo>
                          <a:lnTo>
                            <a:pt x="0" y="2260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0" name="Freeform 39"/>
                    <p:cNvSpPr/>
                    <p:nvPr/>
                  </p:nvSpPr>
                  <p:spPr>
                    <a:xfrm>
                      <a:off x="3228975" y="6128766"/>
                      <a:ext cx="3783077" cy="209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2095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20955"/>
                          </a:lnTo>
                          <a:lnTo>
                            <a:pt x="0" y="2095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1" name="Freeform 40"/>
                    <p:cNvSpPr/>
                    <p:nvPr/>
                  </p:nvSpPr>
                  <p:spPr>
                    <a:xfrm>
                      <a:off x="3229991" y="5939155"/>
                      <a:ext cx="3783712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829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2" name="Freeform 41"/>
                    <p:cNvSpPr/>
                    <p:nvPr/>
                  </p:nvSpPr>
                  <p:spPr>
                    <a:xfrm>
                      <a:off x="3229991" y="5751322"/>
                      <a:ext cx="3778886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886" h="20829">
                          <a:moveTo>
                            <a:pt x="0" y="0"/>
                          </a:moveTo>
                          <a:lnTo>
                            <a:pt x="3778885" y="0"/>
                          </a:lnTo>
                          <a:lnTo>
                            <a:pt x="3778885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3" name="Freeform 42"/>
                    <p:cNvSpPr/>
                    <p:nvPr/>
                  </p:nvSpPr>
                  <p:spPr>
                    <a:xfrm>
                      <a:off x="3219577" y="6694424"/>
                      <a:ext cx="3801746" cy="227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1746" h="22734">
                          <a:moveTo>
                            <a:pt x="0" y="0"/>
                          </a:moveTo>
                          <a:lnTo>
                            <a:pt x="3801745" y="0"/>
                          </a:lnTo>
                          <a:lnTo>
                            <a:pt x="3801745" y="22733"/>
                          </a:lnTo>
                          <a:lnTo>
                            <a:pt x="0" y="2273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cxnSp>
                <p:nvCxnSpPr>
                  <p:cNvPr id="45" name="Straight Connector 44"/>
                  <p:cNvCxnSpPr/>
                  <p:nvPr/>
                </p:nvCxnSpPr>
                <p:spPr>
                  <a:xfrm flipV="1">
                    <a:off x="3218561" y="2659761"/>
                    <a:ext cx="0" cy="4038727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3220212" y="6703060"/>
                    <a:ext cx="4059809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TextBox 47"/>
                <p:cNvSpPr txBox="1"/>
                <p:nvPr/>
              </p:nvSpPr>
              <p:spPr>
                <a:xfrm>
                  <a:off x="2705100" y="2781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2781300" y="543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2781300" y="5816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2781300" y="6197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857500" y="66421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0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2768600" y="4305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2768600" y="4686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2768600" y="5067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2768600" y="3162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2768600" y="3543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2768600" y="39243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6756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4089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3708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3327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5232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4851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4470400" y="66929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6375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994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5613400" y="6705600"/>
                  <a:ext cx="584200" cy="276999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20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</p:grpSp>
          <p:sp>
            <p:nvSpPr>
              <p:cNvPr id="70" name="TextBox 69"/>
              <p:cNvSpPr txBox="1"/>
              <p:nvPr/>
            </p:nvSpPr>
            <p:spPr>
              <a:xfrm>
                <a:off x="4533900" y="6959600"/>
                <a:ext cx="1473200" cy="276999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000000"/>
                    </a:solidFill>
                    <a:latin typeface="Trebuchet MS - 16"/>
                  </a:rPr>
                  <a:t>Maths mark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 rot="16200000">
                <a:off x="2006600" y="4495800"/>
                <a:ext cx="1473200" cy="276999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000000"/>
                    </a:solidFill>
                    <a:latin typeface="Trebuchet MS - 16"/>
                  </a:rPr>
                  <a:t>Science mark</a:t>
                </a:r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884418" y="4042664"/>
              <a:ext cx="264669" cy="162053"/>
              <a:chOff x="5884418" y="4042664"/>
              <a:chExt cx="264669" cy="162053"/>
            </a:xfrm>
          </p:grpSpPr>
          <p:sp>
            <p:nvSpPr>
              <p:cNvPr id="73" name="Freeform 72"/>
              <p:cNvSpPr/>
              <p:nvPr/>
            </p:nvSpPr>
            <p:spPr>
              <a:xfrm>
                <a:off x="58844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58844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5046218" y="4918964"/>
              <a:ext cx="264669" cy="162053"/>
              <a:chOff x="5046218" y="4918964"/>
              <a:chExt cx="264669" cy="162053"/>
            </a:xfrm>
          </p:grpSpPr>
          <p:sp>
            <p:nvSpPr>
              <p:cNvPr id="76" name="Freeform 75"/>
              <p:cNvSpPr/>
              <p:nvPr/>
            </p:nvSpPr>
            <p:spPr>
              <a:xfrm>
                <a:off x="5046218" y="4918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5046218" y="4918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4004818" y="5287264"/>
              <a:ext cx="264669" cy="162053"/>
              <a:chOff x="4004818" y="5287264"/>
              <a:chExt cx="264669" cy="162053"/>
            </a:xfrm>
          </p:grpSpPr>
          <p:sp>
            <p:nvSpPr>
              <p:cNvPr id="79" name="Freeform 78"/>
              <p:cNvSpPr/>
              <p:nvPr/>
            </p:nvSpPr>
            <p:spPr>
              <a:xfrm>
                <a:off x="4004818" y="5287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4004818" y="5287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4423918" y="5401564"/>
              <a:ext cx="264669" cy="162053"/>
              <a:chOff x="4423918" y="5401564"/>
              <a:chExt cx="264669" cy="162053"/>
            </a:xfrm>
          </p:grpSpPr>
          <p:sp>
            <p:nvSpPr>
              <p:cNvPr id="82" name="Freeform 81"/>
              <p:cNvSpPr/>
              <p:nvPr/>
            </p:nvSpPr>
            <p:spPr>
              <a:xfrm>
                <a:off x="4423918" y="5401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4423918" y="5401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5224018" y="4258564"/>
              <a:ext cx="264669" cy="162053"/>
              <a:chOff x="5224018" y="4258564"/>
              <a:chExt cx="264669" cy="162053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5224018" y="4258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Freeform 85"/>
              <p:cNvSpPr/>
              <p:nvPr/>
            </p:nvSpPr>
            <p:spPr>
              <a:xfrm>
                <a:off x="5224018" y="4258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5478018" y="4042664"/>
              <a:ext cx="264669" cy="162053"/>
              <a:chOff x="5478018" y="4042664"/>
              <a:chExt cx="264669" cy="162053"/>
            </a:xfrm>
          </p:grpSpPr>
          <p:sp>
            <p:nvSpPr>
              <p:cNvPr id="88" name="Freeform 87"/>
              <p:cNvSpPr/>
              <p:nvPr/>
            </p:nvSpPr>
            <p:spPr>
              <a:xfrm>
                <a:off x="54780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Freeform 88"/>
              <p:cNvSpPr/>
              <p:nvPr/>
            </p:nvSpPr>
            <p:spPr>
              <a:xfrm>
                <a:off x="5478018" y="4042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5630418" y="3852164"/>
              <a:ext cx="264669" cy="162053"/>
              <a:chOff x="5630418" y="3852164"/>
              <a:chExt cx="264669" cy="162053"/>
            </a:xfrm>
          </p:grpSpPr>
          <p:sp>
            <p:nvSpPr>
              <p:cNvPr id="91" name="Freeform 90"/>
              <p:cNvSpPr/>
              <p:nvPr/>
            </p:nvSpPr>
            <p:spPr>
              <a:xfrm>
                <a:off x="5630418" y="3852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5630418" y="3852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6671818" y="3306064"/>
              <a:ext cx="264669" cy="162053"/>
              <a:chOff x="6671818" y="3306064"/>
              <a:chExt cx="264669" cy="162053"/>
            </a:xfrm>
          </p:grpSpPr>
          <p:sp>
            <p:nvSpPr>
              <p:cNvPr id="94" name="Freeform 93"/>
              <p:cNvSpPr/>
              <p:nvPr/>
            </p:nvSpPr>
            <p:spPr>
              <a:xfrm>
                <a:off x="6671818" y="3306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6671818" y="3306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9" name="TextBox 98"/>
          <p:cNvSpPr txBox="1"/>
          <p:nvPr/>
        </p:nvSpPr>
        <p:spPr>
          <a:xfrm>
            <a:off x="304800" y="914400"/>
            <a:ext cx="94742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Imogen missed the Science test because she was ill.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She sat the Maths test and got 85.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Use your scatter graph to estimate what Imogen would have achieved on the Science test.</a:t>
            </a:r>
          </a:p>
        </p:txBody>
      </p:sp>
      <p:cxnSp>
        <p:nvCxnSpPr>
          <p:cNvPr id="100" name="Straight Connector 99"/>
          <p:cNvCxnSpPr>
            <a:cxnSpLocks/>
            <a:stCxn id="51" idx="3"/>
          </p:cNvCxnSpPr>
          <p:nvPr/>
        </p:nvCxnSpPr>
        <p:spPr>
          <a:xfrm flipV="1">
            <a:off x="3365500" y="3186962"/>
            <a:ext cx="3507686" cy="3149138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6444870" y="3582430"/>
            <a:ext cx="0" cy="3120393"/>
          </a:xfrm>
          <a:prstGeom prst="line">
            <a:avLst/>
          </a:prstGeom>
          <a:ln w="38100" cap="flat" cmpd="sng" algn="ctr">
            <a:solidFill>
              <a:srgbClr val="0093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3241267" y="3553088"/>
            <a:ext cx="3178640" cy="0"/>
          </a:xfrm>
          <a:prstGeom prst="line">
            <a:avLst/>
          </a:prstGeom>
          <a:ln w="38100" cap="flat" cmpd="sng" algn="ctr">
            <a:solidFill>
              <a:srgbClr val="0093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061200" y="4064000"/>
            <a:ext cx="1948447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>
                <a:solidFill>
                  <a:srgbClr val="009300"/>
                </a:solidFill>
                <a:latin typeface="Trebuchet MS - 24"/>
              </a:rPr>
              <a:t>Imogen would have got 83.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24966CE-95FE-4ADD-92B2-6449D6D867E4}"/>
              </a:ext>
            </a:extLst>
          </p:cNvPr>
          <p:cNvSpPr txBox="1"/>
          <p:nvPr/>
        </p:nvSpPr>
        <p:spPr>
          <a:xfrm>
            <a:off x="287578" y="2168500"/>
            <a:ext cx="964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Gertrude?  She scored 10% in maths, what would you predict she might get in science?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E5D3E95-1F8F-4239-87E1-82CEA02DEF3F}"/>
              </a:ext>
            </a:extLst>
          </p:cNvPr>
          <p:cNvCxnSpPr>
            <a:stCxn id="62" idx="0"/>
          </p:cNvCxnSpPr>
          <p:nvPr/>
        </p:nvCxnSpPr>
        <p:spPr>
          <a:xfrm flipH="1" flipV="1">
            <a:off x="3617977" y="6093599"/>
            <a:ext cx="1523" cy="6120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721736-22AE-49B9-B37C-E988C2F533E8}"/>
              </a:ext>
            </a:extLst>
          </p:cNvPr>
          <p:cNvCxnSpPr>
            <a:cxnSpLocks/>
          </p:cNvCxnSpPr>
          <p:nvPr/>
        </p:nvCxnSpPr>
        <p:spPr>
          <a:xfrm flipV="1">
            <a:off x="3223516" y="6168662"/>
            <a:ext cx="319720" cy="24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D63FE0DA-BA1A-4FF0-81A9-940AB96C9EC5}"/>
              </a:ext>
            </a:extLst>
          </p:cNvPr>
          <p:cNvSpPr txBox="1"/>
          <p:nvPr/>
        </p:nvSpPr>
        <p:spPr>
          <a:xfrm>
            <a:off x="7148704" y="5127748"/>
            <a:ext cx="1948447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rebuchet MS - 24"/>
              </a:rPr>
              <a:t>Gertrude would have got 15%</a:t>
            </a:r>
          </a:p>
        </p:txBody>
      </p:sp>
    </p:spTree>
    <p:extLst>
      <p:ext uri="{BB962C8B-B14F-4D97-AF65-F5344CB8AC3E}">
        <p14:creationId xmlns:p14="http://schemas.microsoft.com/office/powerpoint/2010/main" val="380434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68300" y="2088261"/>
            <a:ext cx="4572000" cy="4576838"/>
            <a:chOff x="368300" y="2088261"/>
            <a:chExt cx="4572000" cy="4576838"/>
          </a:xfrm>
        </p:grpSpPr>
        <p:grpSp>
          <p:nvGrpSpPr>
            <p:cNvPr id="47" name="Group 46"/>
            <p:cNvGrpSpPr/>
            <p:nvPr/>
          </p:nvGrpSpPr>
          <p:grpSpPr>
            <a:xfrm>
              <a:off x="824611" y="2088261"/>
              <a:ext cx="4061460" cy="4057396"/>
              <a:chOff x="824611" y="2088261"/>
              <a:chExt cx="4061460" cy="4057396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825627" y="2346960"/>
                <a:ext cx="3801873" cy="3798697"/>
                <a:chOff x="825627" y="2346960"/>
                <a:chExt cx="3801873" cy="3798697"/>
              </a:xfrm>
            </p:grpSpPr>
            <p:sp>
              <p:nvSpPr>
                <p:cNvPr id="2" name="Freeform 1"/>
                <p:cNvSpPr/>
                <p:nvPr/>
              </p:nvSpPr>
              <p:spPr>
                <a:xfrm>
                  <a:off x="825627" y="2355469"/>
                  <a:ext cx="18924" cy="3776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924" h="3776980">
                      <a:moveTo>
                        <a:pt x="0" y="0"/>
                      </a:moveTo>
                      <a:lnTo>
                        <a:pt x="18923" y="0"/>
                      </a:lnTo>
                      <a:lnTo>
                        <a:pt x="18923" y="3776979"/>
                      </a:lnTo>
                      <a:lnTo>
                        <a:pt x="0" y="377697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825627" y="2346960"/>
                  <a:ext cx="3800603" cy="189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0603" h="18924">
                      <a:moveTo>
                        <a:pt x="0" y="0"/>
                      </a:moveTo>
                      <a:lnTo>
                        <a:pt x="3800602" y="0"/>
                      </a:lnTo>
                      <a:lnTo>
                        <a:pt x="3800602" y="18923"/>
                      </a:lnTo>
                      <a:lnTo>
                        <a:pt x="0" y="189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838962" y="2536825"/>
                  <a:ext cx="3780791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791" h="19686">
                      <a:moveTo>
                        <a:pt x="0" y="0"/>
                      </a:moveTo>
                      <a:lnTo>
                        <a:pt x="3780790" y="0"/>
                      </a:lnTo>
                      <a:lnTo>
                        <a:pt x="3780790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" name="Freeform 4"/>
                <p:cNvSpPr/>
                <p:nvPr/>
              </p:nvSpPr>
              <p:spPr>
                <a:xfrm>
                  <a:off x="1016381" y="2356485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Freeform 5"/>
                <p:cNvSpPr/>
                <p:nvPr/>
              </p:nvSpPr>
              <p:spPr>
                <a:xfrm>
                  <a:off x="1204214" y="2355469"/>
                  <a:ext cx="19813" cy="3776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0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79"/>
                      </a:lnTo>
                      <a:lnTo>
                        <a:pt x="0" y="377697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Freeform 6"/>
                <p:cNvSpPr/>
                <p:nvPr/>
              </p:nvSpPr>
              <p:spPr>
                <a:xfrm>
                  <a:off x="1394841" y="2356485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" name="Freeform 7"/>
                <p:cNvSpPr/>
                <p:nvPr/>
              </p:nvSpPr>
              <p:spPr>
                <a:xfrm>
                  <a:off x="1579880" y="2355469"/>
                  <a:ext cx="22734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9013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" name="Freeform 8"/>
                <p:cNvSpPr/>
                <p:nvPr/>
              </p:nvSpPr>
              <p:spPr>
                <a:xfrm>
                  <a:off x="1770634" y="2356485"/>
                  <a:ext cx="19686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6981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" name="Freeform 9"/>
                <p:cNvSpPr/>
                <p:nvPr/>
              </p:nvSpPr>
              <p:spPr>
                <a:xfrm>
                  <a:off x="1961388" y="2357501"/>
                  <a:ext cx="21718" cy="377799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6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5"/>
                      </a:lnTo>
                      <a:lnTo>
                        <a:pt x="0" y="377799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" name="Freeform 10"/>
                <p:cNvSpPr/>
                <p:nvPr/>
              </p:nvSpPr>
              <p:spPr>
                <a:xfrm>
                  <a:off x="2150110" y="2356485"/>
                  <a:ext cx="20702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6981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" name="Freeform 11"/>
                <p:cNvSpPr/>
                <p:nvPr/>
              </p:nvSpPr>
              <p:spPr>
                <a:xfrm>
                  <a:off x="2339848" y="2358136"/>
                  <a:ext cx="22734" cy="377609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09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090"/>
                      </a:lnTo>
                      <a:lnTo>
                        <a:pt x="0" y="377609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" name="Freeform 12"/>
                <p:cNvSpPr/>
                <p:nvPr/>
              </p:nvSpPr>
              <p:spPr>
                <a:xfrm>
                  <a:off x="2523871" y="2356485"/>
                  <a:ext cx="24385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385" h="3776981">
                      <a:moveTo>
                        <a:pt x="0" y="0"/>
                      </a:moveTo>
                      <a:lnTo>
                        <a:pt x="24384" y="0"/>
                      </a:lnTo>
                      <a:lnTo>
                        <a:pt x="24384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" name="Freeform 13"/>
                <p:cNvSpPr/>
                <p:nvPr/>
              </p:nvSpPr>
              <p:spPr>
                <a:xfrm>
                  <a:off x="2715768" y="2357501"/>
                  <a:ext cx="19686" cy="37741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4186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4185"/>
                      </a:lnTo>
                      <a:lnTo>
                        <a:pt x="0" y="37741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" name="Freeform 14"/>
                <p:cNvSpPr/>
                <p:nvPr/>
              </p:nvSpPr>
              <p:spPr>
                <a:xfrm>
                  <a:off x="2906395" y="2357501"/>
                  <a:ext cx="21591" cy="37752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91" h="3775202">
                      <a:moveTo>
                        <a:pt x="0" y="0"/>
                      </a:moveTo>
                      <a:lnTo>
                        <a:pt x="21590" y="0"/>
                      </a:lnTo>
                      <a:lnTo>
                        <a:pt x="21590" y="3775201"/>
                      </a:lnTo>
                      <a:lnTo>
                        <a:pt x="0" y="37752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" name="Freeform 15"/>
                <p:cNvSpPr/>
                <p:nvPr/>
              </p:nvSpPr>
              <p:spPr>
                <a:xfrm>
                  <a:off x="3095117" y="2357501"/>
                  <a:ext cx="20702" cy="377596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5964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5963"/>
                      </a:lnTo>
                      <a:lnTo>
                        <a:pt x="0" y="377596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Freeform 16"/>
                <p:cNvSpPr/>
                <p:nvPr/>
              </p:nvSpPr>
              <p:spPr>
                <a:xfrm>
                  <a:off x="3284982" y="2358136"/>
                  <a:ext cx="22734" cy="37781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8123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8122"/>
                      </a:lnTo>
                      <a:lnTo>
                        <a:pt x="0" y="377812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Freeform 17"/>
                <p:cNvSpPr/>
                <p:nvPr/>
              </p:nvSpPr>
              <p:spPr>
                <a:xfrm>
                  <a:off x="3469005" y="2356485"/>
                  <a:ext cx="24512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512" h="3779013">
                      <a:moveTo>
                        <a:pt x="0" y="0"/>
                      </a:moveTo>
                      <a:lnTo>
                        <a:pt x="24511" y="0"/>
                      </a:lnTo>
                      <a:lnTo>
                        <a:pt x="24511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3660648" y="2357501"/>
                  <a:ext cx="21718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6981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Freeform 19"/>
                <p:cNvSpPr/>
                <p:nvPr/>
              </p:nvSpPr>
              <p:spPr>
                <a:xfrm>
                  <a:off x="3851148" y="2358136"/>
                  <a:ext cx="23496" cy="37781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96" h="3778123">
                      <a:moveTo>
                        <a:pt x="0" y="0"/>
                      </a:moveTo>
                      <a:lnTo>
                        <a:pt x="23495" y="0"/>
                      </a:lnTo>
                      <a:lnTo>
                        <a:pt x="23495" y="3778122"/>
                      </a:lnTo>
                      <a:lnTo>
                        <a:pt x="0" y="377812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" name="Freeform 20"/>
                <p:cNvSpPr/>
                <p:nvPr/>
              </p:nvSpPr>
              <p:spPr>
                <a:xfrm>
                  <a:off x="4039997" y="2357501"/>
                  <a:ext cx="2273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98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" name="Freeform 21"/>
                <p:cNvSpPr/>
                <p:nvPr/>
              </p:nvSpPr>
              <p:spPr>
                <a:xfrm>
                  <a:off x="4228719" y="2357501"/>
                  <a:ext cx="24639" cy="377901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639" h="3779012">
                      <a:moveTo>
                        <a:pt x="0" y="0"/>
                      </a:moveTo>
                      <a:lnTo>
                        <a:pt x="24638" y="0"/>
                      </a:lnTo>
                      <a:lnTo>
                        <a:pt x="24638" y="3779011"/>
                      </a:lnTo>
                      <a:lnTo>
                        <a:pt x="0" y="377901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>
                  <a:off x="4414012" y="2357501"/>
                  <a:ext cx="26417" cy="377901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417" h="3779012">
                      <a:moveTo>
                        <a:pt x="0" y="0"/>
                      </a:moveTo>
                      <a:lnTo>
                        <a:pt x="26416" y="0"/>
                      </a:lnTo>
                      <a:lnTo>
                        <a:pt x="26416" y="3779011"/>
                      </a:lnTo>
                      <a:lnTo>
                        <a:pt x="0" y="377901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4600067" y="2354453"/>
                  <a:ext cx="27433" cy="37797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3" h="3779775">
                      <a:moveTo>
                        <a:pt x="0" y="0"/>
                      </a:moveTo>
                      <a:lnTo>
                        <a:pt x="27432" y="0"/>
                      </a:lnTo>
                      <a:lnTo>
                        <a:pt x="27432" y="3779774"/>
                      </a:lnTo>
                      <a:lnTo>
                        <a:pt x="0" y="37797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Freeform 24"/>
                <p:cNvSpPr/>
                <p:nvPr/>
              </p:nvSpPr>
              <p:spPr>
                <a:xfrm>
                  <a:off x="836930" y="2726436"/>
                  <a:ext cx="3777108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19686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>
                  <a:off x="837819" y="2914650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Freeform 26"/>
                <p:cNvSpPr/>
                <p:nvPr/>
              </p:nvSpPr>
              <p:spPr>
                <a:xfrm>
                  <a:off x="836041" y="3099435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Freeform 27"/>
                <p:cNvSpPr/>
                <p:nvPr/>
              </p:nvSpPr>
              <p:spPr>
                <a:xfrm>
                  <a:off x="839851" y="4047617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Freeform 28"/>
                <p:cNvSpPr/>
                <p:nvPr/>
              </p:nvSpPr>
              <p:spPr>
                <a:xfrm>
                  <a:off x="837819" y="3859784"/>
                  <a:ext cx="3783712" cy="20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575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574"/>
                      </a:lnTo>
                      <a:lnTo>
                        <a:pt x="0" y="205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" name="Freeform 29"/>
                <p:cNvSpPr/>
                <p:nvPr/>
              </p:nvSpPr>
              <p:spPr>
                <a:xfrm>
                  <a:off x="837819" y="3669919"/>
                  <a:ext cx="377710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20702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Freeform 30"/>
                <p:cNvSpPr/>
                <p:nvPr/>
              </p:nvSpPr>
              <p:spPr>
                <a:xfrm>
                  <a:off x="839851" y="3480181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38962" y="3292094"/>
                  <a:ext cx="3772282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2282" h="19686">
                      <a:moveTo>
                        <a:pt x="0" y="0"/>
                      </a:moveTo>
                      <a:lnTo>
                        <a:pt x="3772281" y="0"/>
                      </a:lnTo>
                      <a:lnTo>
                        <a:pt x="3772281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Freeform 32"/>
                <p:cNvSpPr/>
                <p:nvPr/>
              </p:nvSpPr>
              <p:spPr>
                <a:xfrm>
                  <a:off x="836930" y="4234434"/>
                  <a:ext cx="3776092" cy="198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6092" h="19813">
                      <a:moveTo>
                        <a:pt x="0" y="0"/>
                      </a:moveTo>
                      <a:lnTo>
                        <a:pt x="3776091" y="0"/>
                      </a:lnTo>
                      <a:lnTo>
                        <a:pt x="3776091" y="19812"/>
                      </a:lnTo>
                      <a:lnTo>
                        <a:pt x="0" y="198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Freeform 33"/>
                <p:cNvSpPr/>
                <p:nvPr/>
              </p:nvSpPr>
              <p:spPr>
                <a:xfrm>
                  <a:off x="836041" y="4424426"/>
                  <a:ext cx="3783077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1968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Freeform 34"/>
                <p:cNvSpPr/>
                <p:nvPr/>
              </p:nvSpPr>
              <p:spPr>
                <a:xfrm>
                  <a:off x="835025" y="4614164"/>
                  <a:ext cx="378091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918" h="20702">
                      <a:moveTo>
                        <a:pt x="0" y="0"/>
                      </a:moveTo>
                      <a:lnTo>
                        <a:pt x="3780917" y="0"/>
                      </a:lnTo>
                      <a:lnTo>
                        <a:pt x="378091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836041" y="4802124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835025" y="4987163"/>
                  <a:ext cx="3783585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585" h="20829">
                      <a:moveTo>
                        <a:pt x="0" y="0"/>
                      </a:moveTo>
                      <a:lnTo>
                        <a:pt x="3783584" y="0"/>
                      </a:lnTo>
                      <a:lnTo>
                        <a:pt x="3783584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837819" y="5931281"/>
                  <a:ext cx="3783712" cy="228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2860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2859"/>
                      </a:lnTo>
                      <a:lnTo>
                        <a:pt x="0" y="2285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837819" y="5746241"/>
                  <a:ext cx="3784728" cy="226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4728" h="22607">
                      <a:moveTo>
                        <a:pt x="0" y="0"/>
                      </a:moveTo>
                      <a:lnTo>
                        <a:pt x="3784727" y="0"/>
                      </a:lnTo>
                      <a:lnTo>
                        <a:pt x="3784727" y="22606"/>
                      </a:lnTo>
                      <a:lnTo>
                        <a:pt x="0" y="2260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835025" y="5557266"/>
                  <a:ext cx="3783077" cy="209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2095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20955"/>
                      </a:lnTo>
                      <a:lnTo>
                        <a:pt x="0" y="2095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836041" y="5367655"/>
                  <a:ext cx="3783712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829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Freeform 41"/>
                <p:cNvSpPr/>
                <p:nvPr/>
              </p:nvSpPr>
              <p:spPr>
                <a:xfrm>
                  <a:off x="836041" y="5179822"/>
                  <a:ext cx="3778886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8886" h="20829">
                      <a:moveTo>
                        <a:pt x="0" y="0"/>
                      </a:moveTo>
                      <a:lnTo>
                        <a:pt x="3778885" y="0"/>
                      </a:lnTo>
                      <a:lnTo>
                        <a:pt x="3778885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825627" y="6122923"/>
                  <a:ext cx="3801746" cy="227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1746" h="22734">
                      <a:moveTo>
                        <a:pt x="0" y="0"/>
                      </a:moveTo>
                      <a:lnTo>
                        <a:pt x="3801745" y="0"/>
                      </a:lnTo>
                      <a:lnTo>
                        <a:pt x="3801745" y="22733"/>
                      </a:lnTo>
                      <a:lnTo>
                        <a:pt x="0" y="2273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45" name="Straight Connector 44"/>
              <p:cNvCxnSpPr/>
              <p:nvPr/>
            </p:nvCxnSpPr>
            <p:spPr>
              <a:xfrm flipV="1">
                <a:off x="824611" y="2088261"/>
                <a:ext cx="0" cy="403872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826262" y="6131560"/>
                <a:ext cx="4059809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368300" y="2209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8300" y="4102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9100" y="50165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7200" y="60706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8300" y="31369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56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689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30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308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27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32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60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451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070100" y="6121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40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975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90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594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80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13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70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778000" y="6388100"/>
              <a:ext cx="20066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Sales of scarves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 rot="16200000">
              <a:off x="0" y="3924300"/>
              <a:ext cx="19304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Temperature (</a:t>
              </a:r>
              <a:r>
                <a:rPr lang="en-GB" sz="800" baseline="70000">
                  <a:solidFill>
                    <a:srgbClr val="000000"/>
                  </a:solidFill>
                  <a:latin typeface="Trebuchet MS - 16"/>
                </a:rPr>
                <a:t>o</a:t>
              </a:r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C)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169668" y="2455164"/>
              <a:ext cx="264669" cy="162053"/>
              <a:chOff x="2169668" y="2455164"/>
              <a:chExt cx="264669" cy="162053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2169668" y="2455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2169668" y="2455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1026668" y="2264664"/>
              <a:ext cx="264669" cy="162053"/>
              <a:chOff x="1026668" y="2264664"/>
              <a:chExt cx="264669" cy="162053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1026668" y="2264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1026668" y="2264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20668" y="5084064"/>
              <a:ext cx="264669" cy="162053"/>
              <a:chOff x="3820668" y="5084064"/>
              <a:chExt cx="264669" cy="162053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3820668" y="5084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3820668" y="5084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2169668" y="3788664"/>
              <a:ext cx="264669" cy="162053"/>
              <a:chOff x="2169668" y="3788664"/>
              <a:chExt cx="264669" cy="162053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2169668" y="3788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2169668" y="3788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3477768" y="4347464"/>
              <a:ext cx="264669" cy="162053"/>
              <a:chOff x="3477768" y="4347464"/>
              <a:chExt cx="264669" cy="162053"/>
            </a:xfrm>
          </p:grpSpPr>
          <p:sp>
            <p:nvSpPr>
              <p:cNvPr id="77" name="Freeform 76"/>
              <p:cNvSpPr/>
              <p:nvPr/>
            </p:nvSpPr>
            <p:spPr>
              <a:xfrm>
                <a:off x="3477768" y="4347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3477768" y="4347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855468" y="3585464"/>
              <a:ext cx="264669" cy="162053"/>
              <a:chOff x="2855468" y="3585464"/>
              <a:chExt cx="264669" cy="162053"/>
            </a:xfrm>
          </p:grpSpPr>
          <p:sp>
            <p:nvSpPr>
              <p:cNvPr id="80" name="Freeform 79"/>
              <p:cNvSpPr/>
              <p:nvPr/>
            </p:nvSpPr>
            <p:spPr>
              <a:xfrm>
                <a:off x="2855468" y="3585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2855468" y="3585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2741168" y="3204464"/>
              <a:ext cx="264669" cy="162053"/>
              <a:chOff x="2741168" y="3204464"/>
              <a:chExt cx="264669" cy="162053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2741168" y="320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2741168" y="320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7" name="TextBox 86"/>
          <p:cNvSpPr txBox="1"/>
          <p:nvPr/>
        </p:nvSpPr>
        <p:spPr>
          <a:xfrm>
            <a:off x="-37568" y="201817"/>
            <a:ext cx="5172456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Estimate, using your graph, how many scarves the shop would sell when the temperature was 7</a:t>
            </a:r>
            <a:r>
              <a:rPr lang="en-GB" sz="1200" baseline="70000" dirty="0">
                <a:solidFill>
                  <a:srgbClr val="000000"/>
                </a:solidFill>
                <a:latin typeface="Trebuchet MS - 24"/>
              </a:rPr>
              <a:t>o</a:t>
            </a:r>
            <a:r>
              <a:rPr lang="en-GB" dirty="0">
                <a:solidFill>
                  <a:srgbClr val="000000"/>
                </a:solidFill>
                <a:latin typeface="Trebuchet MS - 24"/>
              </a:rPr>
              <a:t>C.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How about at 3</a:t>
            </a:r>
            <a:r>
              <a:rPr lang="en-GB" baseline="30000" dirty="0">
                <a:solidFill>
                  <a:srgbClr val="000000"/>
                </a:solidFill>
                <a:latin typeface="Trebuchet MS - 24"/>
              </a:rPr>
              <a:t>o</a:t>
            </a:r>
            <a:r>
              <a:rPr lang="en-GB" dirty="0">
                <a:solidFill>
                  <a:srgbClr val="000000"/>
                </a:solidFill>
                <a:latin typeface="Trebuchet MS - 24"/>
              </a:rPr>
              <a:t>C?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Which is interpolation and which is extrapolation?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</p:txBody>
      </p:sp>
      <p:grpSp>
        <p:nvGrpSpPr>
          <p:cNvPr id="176" name="Group 175"/>
          <p:cNvGrpSpPr/>
          <p:nvPr/>
        </p:nvGrpSpPr>
        <p:grpSpPr>
          <a:xfrm>
            <a:off x="5195500" y="2088261"/>
            <a:ext cx="4634300" cy="4576838"/>
            <a:chOff x="5195500" y="2088261"/>
            <a:chExt cx="4634300" cy="4576838"/>
          </a:xfrm>
        </p:grpSpPr>
        <p:grpSp>
          <p:nvGrpSpPr>
            <p:cNvPr id="133" name="Group 132"/>
            <p:cNvGrpSpPr/>
            <p:nvPr/>
          </p:nvGrpSpPr>
          <p:grpSpPr>
            <a:xfrm>
              <a:off x="5714111" y="2088261"/>
              <a:ext cx="4061460" cy="4057396"/>
              <a:chOff x="5714111" y="2088261"/>
              <a:chExt cx="4061460" cy="405739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5715127" y="2346960"/>
                <a:ext cx="3801873" cy="3798697"/>
                <a:chOff x="5715127" y="2346960"/>
                <a:chExt cx="3801873" cy="3798697"/>
              </a:xfrm>
            </p:grpSpPr>
            <p:sp>
              <p:nvSpPr>
                <p:cNvPr id="88" name="Freeform 87"/>
                <p:cNvSpPr/>
                <p:nvPr/>
              </p:nvSpPr>
              <p:spPr>
                <a:xfrm>
                  <a:off x="5715127" y="2355469"/>
                  <a:ext cx="18924" cy="3776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924" h="3776980">
                      <a:moveTo>
                        <a:pt x="0" y="0"/>
                      </a:moveTo>
                      <a:lnTo>
                        <a:pt x="18923" y="0"/>
                      </a:lnTo>
                      <a:lnTo>
                        <a:pt x="18923" y="3776979"/>
                      </a:lnTo>
                      <a:lnTo>
                        <a:pt x="0" y="377697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9" name="Freeform 88"/>
                <p:cNvSpPr/>
                <p:nvPr/>
              </p:nvSpPr>
              <p:spPr>
                <a:xfrm>
                  <a:off x="5715127" y="2346960"/>
                  <a:ext cx="3800603" cy="189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0603" h="18924">
                      <a:moveTo>
                        <a:pt x="0" y="0"/>
                      </a:moveTo>
                      <a:lnTo>
                        <a:pt x="3800602" y="0"/>
                      </a:lnTo>
                      <a:lnTo>
                        <a:pt x="3800602" y="18923"/>
                      </a:lnTo>
                      <a:lnTo>
                        <a:pt x="0" y="189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0" name="Freeform 89"/>
                <p:cNvSpPr/>
                <p:nvPr/>
              </p:nvSpPr>
              <p:spPr>
                <a:xfrm>
                  <a:off x="5728462" y="2536825"/>
                  <a:ext cx="3780791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791" h="19686">
                      <a:moveTo>
                        <a:pt x="0" y="0"/>
                      </a:moveTo>
                      <a:lnTo>
                        <a:pt x="3780790" y="0"/>
                      </a:lnTo>
                      <a:lnTo>
                        <a:pt x="3780790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Freeform 90"/>
                <p:cNvSpPr/>
                <p:nvPr/>
              </p:nvSpPr>
              <p:spPr>
                <a:xfrm>
                  <a:off x="5905881" y="2356485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2" name="Freeform 91"/>
                <p:cNvSpPr/>
                <p:nvPr/>
              </p:nvSpPr>
              <p:spPr>
                <a:xfrm>
                  <a:off x="6093714" y="2355469"/>
                  <a:ext cx="19813" cy="3776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0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79"/>
                      </a:lnTo>
                      <a:lnTo>
                        <a:pt x="0" y="377697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" name="Freeform 92"/>
                <p:cNvSpPr/>
                <p:nvPr/>
              </p:nvSpPr>
              <p:spPr>
                <a:xfrm>
                  <a:off x="6284341" y="2356485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6469380" y="2355469"/>
                  <a:ext cx="22734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9013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6660135" y="2356485"/>
                  <a:ext cx="19685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5" h="3776981">
                      <a:moveTo>
                        <a:pt x="0" y="0"/>
                      </a:moveTo>
                      <a:lnTo>
                        <a:pt x="19684" y="0"/>
                      </a:lnTo>
                      <a:lnTo>
                        <a:pt x="19684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>
                  <a:off x="6850888" y="2357501"/>
                  <a:ext cx="21718" cy="377799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6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5"/>
                      </a:lnTo>
                      <a:lnTo>
                        <a:pt x="0" y="377799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Freeform 96"/>
                <p:cNvSpPr/>
                <p:nvPr/>
              </p:nvSpPr>
              <p:spPr>
                <a:xfrm>
                  <a:off x="7039610" y="2356485"/>
                  <a:ext cx="20702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6981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" name="Freeform 97"/>
                <p:cNvSpPr/>
                <p:nvPr/>
              </p:nvSpPr>
              <p:spPr>
                <a:xfrm>
                  <a:off x="7229348" y="2358136"/>
                  <a:ext cx="22734" cy="377609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09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090"/>
                      </a:lnTo>
                      <a:lnTo>
                        <a:pt x="0" y="377609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9" name="Freeform 98"/>
                <p:cNvSpPr/>
                <p:nvPr/>
              </p:nvSpPr>
              <p:spPr>
                <a:xfrm>
                  <a:off x="7413372" y="2356485"/>
                  <a:ext cx="2438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384" h="3776981">
                      <a:moveTo>
                        <a:pt x="0" y="0"/>
                      </a:moveTo>
                      <a:lnTo>
                        <a:pt x="24383" y="0"/>
                      </a:lnTo>
                      <a:lnTo>
                        <a:pt x="2438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Freeform 99"/>
                <p:cNvSpPr/>
                <p:nvPr/>
              </p:nvSpPr>
              <p:spPr>
                <a:xfrm>
                  <a:off x="7605268" y="2357501"/>
                  <a:ext cx="19686" cy="37741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4186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4185"/>
                      </a:lnTo>
                      <a:lnTo>
                        <a:pt x="0" y="37741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Freeform 100"/>
                <p:cNvSpPr/>
                <p:nvPr/>
              </p:nvSpPr>
              <p:spPr>
                <a:xfrm>
                  <a:off x="7795895" y="2357501"/>
                  <a:ext cx="21592" cy="37752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92" h="3775202">
                      <a:moveTo>
                        <a:pt x="0" y="0"/>
                      </a:moveTo>
                      <a:lnTo>
                        <a:pt x="21591" y="0"/>
                      </a:lnTo>
                      <a:lnTo>
                        <a:pt x="21591" y="3775201"/>
                      </a:lnTo>
                      <a:lnTo>
                        <a:pt x="0" y="37752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2" name="Freeform 101"/>
                <p:cNvSpPr/>
                <p:nvPr/>
              </p:nvSpPr>
              <p:spPr>
                <a:xfrm>
                  <a:off x="7984617" y="2357501"/>
                  <a:ext cx="20702" cy="377596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5964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5963"/>
                      </a:lnTo>
                      <a:lnTo>
                        <a:pt x="0" y="377596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Freeform 102"/>
                <p:cNvSpPr/>
                <p:nvPr/>
              </p:nvSpPr>
              <p:spPr>
                <a:xfrm>
                  <a:off x="8174482" y="2358136"/>
                  <a:ext cx="22735" cy="37781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5" h="3778123">
                      <a:moveTo>
                        <a:pt x="0" y="0"/>
                      </a:moveTo>
                      <a:lnTo>
                        <a:pt x="22734" y="0"/>
                      </a:lnTo>
                      <a:lnTo>
                        <a:pt x="22734" y="3778122"/>
                      </a:lnTo>
                      <a:lnTo>
                        <a:pt x="0" y="377812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4" name="Freeform 103"/>
                <p:cNvSpPr/>
                <p:nvPr/>
              </p:nvSpPr>
              <p:spPr>
                <a:xfrm>
                  <a:off x="8358505" y="2356485"/>
                  <a:ext cx="24512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512" h="3779013">
                      <a:moveTo>
                        <a:pt x="0" y="0"/>
                      </a:moveTo>
                      <a:lnTo>
                        <a:pt x="24511" y="0"/>
                      </a:lnTo>
                      <a:lnTo>
                        <a:pt x="24511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5" name="Freeform 104"/>
                <p:cNvSpPr/>
                <p:nvPr/>
              </p:nvSpPr>
              <p:spPr>
                <a:xfrm>
                  <a:off x="8550148" y="2357501"/>
                  <a:ext cx="21718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6981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6" name="Freeform 105"/>
                <p:cNvSpPr/>
                <p:nvPr/>
              </p:nvSpPr>
              <p:spPr>
                <a:xfrm>
                  <a:off x="8740648" y="2358136"/>
                  <a:ext cx="23496" cy="37781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96" h="3778123">
                      <a:moveTo>
                        <a:pt x="0" y="0"/>
                      </a:moveTo>
                      <a:lnTo>
                        <a:pt x="23495" y="0"/>
                      </a:lnTo>
                      <a:lnTo>
                        <a:pt x="23495" y="3778122"/>
                      </a:lnTo>
                      <a:lnTo>
                        <a:pt x="0" y="377812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7" name="Freeform 106"/>
                <p:cNvSpPr/>
                <p:nvPr/>
              </p:nvSpPr>
              <p:spPr>
                <a:xfrm>
                  <a:off x="8929497" y="2357501"/>
                  <a:ext cx="2273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98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8" name="Freeform 107"/>
                <p:cNvSpPr/>
                <p:nvPr/>
              </p:nvSpPr>
              <p:spPr>
                <a:xfrm>
                  <a:off x="9118219" y="2357501"/>
                  <a:ext cx="24639" cy="377901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639" h="3779012">
                      <a:moveTo>
                        <a:pt x="0" y="0"/>
                      </a:moveTo>
                      <a:lnTo>
                        <a:pt x="24638" y="0"/>
                      </a:lnTo>
                      <a:lnTo>
                        <a:pt x="24638" y="3779011"/>
                      </a:lnTo>
                      <a:lnTo>
                        <a:pt x="0" y="377901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9" name="Freeform 108"/>
                <p:cNvSpPr/>
                <p:nvPr/>
              </p:nvSpPr>
              <p:spPr>
                <a:xfrm>
                  <a:off x="9303512" y="2357501"/>
                  <a:ext cx="26417" cy="377901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417" h="3779012">
                      <a:moveTo>
                        <a:pt x="0" y="0"/>
                      </a:moveTo>
                      <a:lnTo>
                        <a:pt x="26416" y="0"/>
                      </a:lnTo>
                      <a:lnTo>
                        <a:pt x="26416" y="3779011"/>
                      </a:lnTo>
                      <a:lnTo>
                        <a:pt x="0" y="377901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Freeform 109"/>
                <p:cNvSpPr/>
                <p:nvPr/>
              </p:nvSpPr>
              <p:spPr>
                <a:xfrm>
                  <a:off x="9489567" y="2354453"/>
                  <a:ext cx="27433" cy="37797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3" h="3779775">
                      <a:moveTo>
                        <a:pt x="0" y="0"/>
                      </a:moveTo>
                      <a:lnTo>
                        <a:pt x="27432" y="0"/>
                      </a:lnTo>
                      <a:lnTo>
                        <a:pt x="27432" y="3779774"/>
                      </a:lnTo>
                      <a:lnTo>
                        <a:pt x="0" y="37797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Freeform 110"/>
                <p:cNvSpPr/>
                <p:nvPr/>
              </p:nvSpPr>
              <p:spPr>
                <a:xfrm>
                  <a:off x="5726430" y="2726436"/>
                  <a:ext cx="3777109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9" h="19686">
                      <a:moveTo>
                        <a:pt x="0" y="0"/>
                      </a:moveTo>
                      <a:lnTo>
                        <a:pt x="3777108" y="0"/>
                      </a:lnTo>
                      <a:lnTo>
                        <a:pt x="3777108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2" name="Freeform 111"/>
                <p:cNvSpPr/>
                <p:nvPr/>
              </p:nvSpPr>
              <p:spPr>
                <a:xfrm>
                  <a:off x="5727319" y="2914650"/>
                  <a:ext cx="3782951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1" h="19686">
                      <a:moveTo>
                        <a:pt x="0" y="0"/>
                      </a:moveTo>
                      <a:lnTo>
                        <a:pt x="3782950" y="0"/>
                      </a:lnTo>
                      <a:lnTo>
                        <a:pt x="3782950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" name="Freeform 112"/>
                <p:cNvSpPr/>
                <p:nvPr/>
              </p:nvSpPr>
              <p:spPr>
                <a:xfrm>
                  <a:off x="5725541" y="3099435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" name="Freeform 113"/>
                <p:cNvSpPr/>
                <p:nvPr/>
              </p:nvSpPr>
              <p:spPr>
                <a:xfrm>
                  <a:off x="5729351" y="4047617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Freeform 114"/>
                <p:cNvSpPr/>
                <p:nvPr/>
              </p:nvSpPr>
              <p:spPr>
                <a:xfrm>
                  <a:off x="5727319" y="3859784"/>
                  <a:ext cx="3783712" cy="20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575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574"/>
                      </a:lnTo>
                      <a:lnTo>
                        <a:pt x="0" y="205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Freeform 115"/>
                <p:cNvSpPr/>
                <p:nvPr/>
              </p:nvSpPr>
              <p:spPr>
                <a:xfrm>
                  <a:off x="5727319" y="3669919"/>
                  <a:ext cx="377710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20702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7" name="Freeform 116"/>
                <p:cNvSpPr/>
                <p:nvPr/>
              </p:nvSpPr>
              <p:spPr>
                <a:xfrm>
                  <a:off x="5729351" y="3480181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" name="Freeform 117"/>
                <p:cNvSpPr/>
                <p:nvPr/>
              </p:nvSpPr>
              <p:spPr>
                <a:xfrm>
                  <a:off x="5728462" y="3292094"/>
                  <a:ext cx="3772282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2282" h="19686">
                      <a:moveTo>
                        <a:pt x="0" y="0"/>
                      </a:moveTo>
                      <a:lnTo>
                        <a:pt x="3772281" y="0"/>
                      </a:lnTo>
                      <a:lnTo>
                        <a:pt x="3772281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9" name="Freeform 118"/>
                <p:cNvSpPr/>
                <p:nvPr/>
              </p:nvSpPr>
              <p:spPr>
                <a:xfrm>
                  <a:off x="5726430" y="4234434"/>
                  <a:ext cx="3776092" cy="198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6092" h="19813">
                      <a:moveTo>
                        <a:pt x="0" y="0"/>
                      </a:moveTo>
                      <a:lnTo>
                        <a:pt x="3776091" y="0"/>
                      </a:lnTo>
                      <a:lnTo>
                        <a:pt x="3776091" y="19812"/>
                      </a:lnTo>
                      <a:lnTo>
                        <a:pt x="0" y="198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Freeform 119"/>
                <p:cNvSpPr/>
                <p:nvPr/>
              </p:nvSpPr>
              <p:spPr>
                <a:xfrm>
                  <a:off x="5725541" y="4424426"/>
                  <a:ext cx="3783077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1968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1" name="Freeform 120"/>
                <p:cNvSpPr/>
                <p:nvPr/>
              </p:nvSpPr>
              <p:spPr>
                <a:xfrm>
                  <a:off x="5724525" y="4614164"/>
                  <a:ext cx="378091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918" h="20702">
                      <a:moveTo>
                        <a:pt x="0" y="0"/>
                      </a:moveTo>
                      <a:lnTo>
                        <a:pt x="3780917" y="0"/>
                      </a:lnTo>
                      <a:lnTo>
                        <a:pt x="378091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Freeform 121"/>
                <p:cNvSpPr/>
                <p:nvPr/>
              </p:nvSpPr>
              <p:spPr>
                <a:xfrm>
                  <a:off x="5725541" y="4802124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" name="Freeform 122"/>
                <p:cNvSpPr/>
                <p:nvPr/>
              </p:nvSpPr>
              <p:spPr>
                <a:xfrm>
                  <a:off x="5724525" y="4987163"/>
                  <a:ext cx="3783585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585" h="20829">
                      <a:moveTo>
                        <a:pt x="0" y="0"/>
                      </a:moveTo>
                      <a:lnTo>
                        <a:pt x="3783584" y="0"/>
                      </a:lnTo>
                      <a:lnTo>
                        <a:pt x="3783584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" name="Freeform 123"/>
                <p:cNvSpPr/>
                <p:nvPr/>
              </p:nvSpPr>
              <p:spPr>
                <a:xfrm>
                  <a:off x="5727319" y="5931281"/>
                  <a:ext cx="3783712" cy="2286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2860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2859"/>
                      </a:lnTo>
                      <a:lnTo>
                        <a:pt x="0" y="22859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" name="Freeform 124"/>
                <p:cNvSpPr/>
                <p:nvPr/>
              </p:nvSpPr>
              <p:spPr>
                <a:xfrm>
                  <a:off x="5727319" y="5746241"/>
                  <a:ext cx="3784728" cy="226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4728" h="22607">
                      <a:moveTo>
                        <a:pt x="0" y="0"/>
                      </a:moveTo>
                      <a:lnTo>
                        <a:pt x="3784727" y="0"/>
                      </a:lnTo>
                      <a:lnTo>
                        <a:pt x="3784727" y="22606"/>
                      </a:lnTo>
                      <a:lnTo>
                        <a:pt x="0" y="2260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6" name="Freeform 125"/>
                <p:cNvSpPr/>
                <p:nvPr/>
              </p:nvSpPr>
              <p:spPr>
                <a:xfrm>
                  <a:off x="5724525" y="5557266"/>
                  <a:ext cx="3783077" cy="209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2095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20955"/>
                      </a:lnTo>
                      <a:lnTo>
                        <a:pt x="0" y="2095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7" name="Freeform 126"/>
                <p:cNvSpPr/>
                <p:nvPr/>
              </p:nvSpPr>
              <p:spPr>
                <a:xfrm>
                  <a:off x="5725541" y="5367655"/>
                  <a:ext cx="3783712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829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Freeform 127"/>
                <p:cNvSpPr/>
                <p:nvPr/>
              </p:nvSpPr>
              <p:spPr>
                <a:xfrm>
                  <a:off x="5725541" y="5179822"/>
                  <a:ext cx="3778886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8886" h="20829">
                      <a:moveTo>
                        <a:pt x="0" y="0"/>
                      </a:moveTo>
                      <a:lnTo>
                        <a:pt x="3778885" y="0"/>
                      </a:lnTo>
                      <a:lnTo>
                        <a:pt x="3778885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" name="Freeform 128"/>
                <p:cNvSpPr/>
                <p:nvPr/>
              </p:nvSpPr>
              <p:spPr>
                <a:xfrm>
                  <a:off x="5715127" y="6122923"/>
                  <a:ext cx="3801746" cy="227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1746" h="22734">
                      <a:moveTo>
                        <a:pt x="0" y="0"/>
                      </a:moveTo>
                      <a:lnTo>
                        <a:pt x="3801745" y="0"/>
                      </a:lnTo>
                      <a:lnTo>
                        <a:pt x="3801745" y="22733"/>
                      </a:lnTo>
                      <a:lnTo>
                        <a:pt x="0" y="2273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31" name="Straight Connector 130"/>
              <p:cNvCxnSpPr/>
              <p:nvPr/>
            </p:nvCxnSpPr>
            <p:spPr>
              <a:xfrm flipV="1">
                <a:off x="5714111" y="2088261"/>
                <a:ext cx="0" cy="403872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>
              <a:xfrm>
                <a:off x="5715762" y="6131560"/>
                <a:ext cx="4059809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133"/>
            <p:cNvSpPr txBox="1"/>
            <p:nvPr/>
          </p:nvSpPr>
          <p:spPr>
            <a:xfrm>
              <a:off x="5283200" y="2209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25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5321300" y="52197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346700" y="60706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0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283200" y="3733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15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283200" y="4470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283200" y="2971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9245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200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578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60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6197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40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816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6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120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315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959600" y="6121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80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8839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180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458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160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8077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140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7023100" y="6388100"/>
              <a:ext cx="1473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Distance (km)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 rot="16200000">
              <a:off x="4597400" y="3924300"/>
              <a:ext cx="1473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Petrol used (l)</a:t>
              </a:r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8227568" y="4156964"/>
              <a:ext cx="264668" cy="162053"/>
              <a:chOff x="8227568" y="4156964"/>
              <a:chExt cx="264668" cy="162053"/>
            </a:xfrm>
          </p:grpSpPr>
          <p:sp>
            <p:nvSpPr>
              <p:cNvPr id="152" name="Freeform 151"/>
              <p:cNvSpPr/>
              <p:nvPr/>
            </p:nvSpPr>
            <p:spPr>
              <a:xfrm>
                <a:off x="8227568" y="41569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3" name="Freeform 152"/>
              <p:cNvSpPr/>
              <p:nvPr/>
            </p:nvSpPr>
            <p:spPr>
              <a:xfrm>
                <a:off x="8227568" y="41569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9294368" y="2912364"/>
              <a:ext cx="264669" cy="162053"/>
              <a:chOff x="9294368" y="2912364"/>
              <a:chExt cx="264669" cy="162053"/>
            </a:xfrm>
          </p:grpSpPr>
          <p:sp>
            <p:nvSpPr>
              <p:cNvPr id="155" name="Freeform 154"/>
              <p:cNvSpPr/>
              <p:nvPr/>
            </p:nvSpPr>
            <p:spPr>
              <a:xfrm>
                <a:off x="9294368" y="29123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6" name="Freeform 155"/>
              <p:cNvSpPr/>
              <p:nvPr/>
            </p:nvSpPr>
            <p:spPr>
              <a:xfrm>
                <a:off x="9294368" y="29123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7338568" y="4639564"/>
              <a:ext cx="264668" cy="162053"/>
              <a:chOff x="7338568" y="4639564"/>
              <a:chExt cx="264668" cy="162053"/>
            </a:xfrm>
          </p:grpSpPr>
          <p:sp>
            <p:nvSpPr>
              <p:cNvPr id="158" name="Freeform 157"/>
              <p:cNvSpPr/>
              <p:nvPr/>
            </p:nvSpPr>
            <p:spPr>
              <a:xfrm>
                <a:off x="7338568" y="46395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9" name="Freeform 158"/>
              <p:cNvSpPr/>
              <p:nvPr/>
            </p:nvSpPr>
            <p:spPr>
              <a:xfrm>
                <a:off x="7338568" y="46395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6398768" y="5414264"/>
              <a:ext cx="264669" cy="162053"/>
              <a:chOff x="6398768" y="5414264"/>
              <a:chExt cx="264669" cy="162053"/>
            </a:xfrm>
          </p:grpSpPr>
          <p:sp>
            <p:nvSpPr>
              <p:cNvPr id="161" name="Freeform 160"/>
              <p:cNvSpPr/>
              <p:nvPr/>
            </p:nvSpPr>
            <p:spPr>
              <a:xfrm>
                <a:off x="6398768" y="5414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7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2" name="Freeform 161"/>
              <p:cNvSpPr/>
              <p:nvPr/>
            </p:nvSpPr>
            <p:spPr>
              <a:xfrm>
                <a:off x="6398768" y="5414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7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6" name="Group 165"/>
            <p:cNvGrpSpPr/>
            <p:nvPr/>
          </p:nvGrpSpPr>
          <p:grpSpPr>
            <a:xfrm>
              <a:off x="6995668" y="4906264"/>
              <a:ext cx="264668" cy="162053"/>
              <a:chOff x="6995668" y="4906264"/>
              <a:chExt cx="264668" cy="162053"/>
            </a:xfrm>
          </p:grpSpPr>
          <p:sp>
            <p:nvSpPr>
              <p:cNvPr id="164" name="Freeform 163"/>
              <p:cNvSpPr/>
              <p:nvPr/>
            </p:nvSpPr>
            <p:spPr>
              <a:xfrm>
                <a:off x="6995668" y="49062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5" name="Freeform 164"/>
              <p:cNvSpPr/>
              <p:nvPr/>
            </p:nvSpPr>
            <p:spPr>
              <a:xfrm>
                <a:off x="6995668" y="49062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9" name="Group 168"/>
            <p:cNvGrpSpPr/>
            <p:nvPr/>
          </p:nvGrpSpPr>
          <p:grpSpPr>
            <a:xfrm>
              <a:off x="9002268" y="3661664"/>
              <a:ext cx="264668" cy="162053"/>
              <a:chOff x="9002268" y="3661664"/>
              <a:chExt cx="264668" cy="162053"/>
            </a:xfrm>
          </p:grpSpPr>
          <p:sp>
            <p:nvSpPr>
              <p:cNvPr id="167" name="Freeform 166"/>
              <p:cNvSpPr/>
              <p:nvPr/>
            </p:nvSpPr>
            <p:spPr>
              <a:xfrm>
                <a:off x="9002268" y="36616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5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8" name="Freeform 167"/>
              <p:cNvSpPr/>
              <p:nvPr/>
            </p:nvSpPr>
            <p:spPr>
              <a:xfrm>
                <a:off x="9002268" y="36616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5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2" name="Group 171"/>
            <p:cNvGrpSpPr/>
            <p:nvPr/>
          </p:nvGrpSpPr>
          <p:grpSpPr>
            <a:xfrm>
              <a:off x="5966968" y="5541264"/>
              <a:ext cx="264669" cy="162053"/>
              <a:chOff x="5966968" y="5541264"/>
              <a:chExt cx="264669" cy="162053"/>
            </a:xfrm>
          </p:grpSpPr>
          <p:sp>
            <p:nvSpPr>
              <p:cNvPr id="170" name="Freeform 169"/>
              <p:cNvSpPr/>
              <p:nvPr/>
            </p:nvSpPr>
            <p:spPr>
              <a:xfrm>
                <a:off x="5966968" y="554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1" name="Freeform 170"/>
              <p:cNvSpPr/>
              <p:nvPr/>
            </p:nvSpPr>
            <p:spPr>
              <a:xfrm>
                <a:off x="5966968" y="554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5" name="Group 174"/>
            <p:cNvGrpSpPr/>
            <p:nvPr/>
          </p:nvGrpSpPr>
          <p:grpSpPr>
            <a:xfrm>
              <a:off x="7554468" y="4614164"/>
              <a:ext cx="264668" cy="162053"/>
              <a:chOff x="7554468" y="4614164"/>
              <a:chExt cx="264668" cy="162053"/>
            </a:xfrm>
          </p:grpSpPr>
          <p:sp>
            <p:nvSpPr>
              <p:cNvPr id="173" name="Freeform 172"/>
              <p:cNvSpPr/>
              <p:nvPr/>
            </p:nvSpPr>
            <p:spPr>
              <a:xfrm>
                <a:off x="7554468" y="46141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4" name="Freeform 173"/>
              <p:cNvSpPr/>
              <p:nvPr/>
            </p:nvSpPr>
            <p:spPr>
              <a:xfrm>
                <a:off x="7554468" y="4614164"/>
                <a:ext cx="264668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8" h="162053">
                    <a:moveTo>
                      <a:pt x="132460" y="68072"/>
                    </a:moveTo>
                    <a:lnTo>
                      <a:pt x="244093" y="0"/>
                    </a:lnTo>
                    <a:lnTo>
                      <a:pt x="264667" y="12446"/>
                    </a:lnTo>
                    <a:lnTo>
                      <a:pt x="153416" y="81153"/>
                    </a:lnTo>
                    <a:lnTo>
                      <a:pt x="264667" y="149225"/>
                    </a:lnTo>
                    <a:lnTo>
                      <a:pt x="244093" y="162052"/>
                    </a:lnTo>
                    <a:lnTo>
                      <a:pt x="132460" y="93853"/>
                    </a:lnTo>
                    <a:lnTo>
                      <a:pt x="21081" y="162052"/>
                    </a:lnTo>
                    <a:lnTo>
                      <a:pt x="0" y="149225"/>
                    </a:lnTo>
                    <a:lnTo>
                      <a:pt x="111378" y="80899"/>
                    </a:lnTo>
                    <a:lnTo>
                      <a:pt x="0" y="12827"/>
                    </a:lnTo>
                    <a:lnTo>
                      <a:pt x="21081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8B74BB4A-352C-4FFF-ACDD-76C262BA263E}"/>
              </a:ext>
            </a:extLst>
          </p:cNvPr>
          <p:cNvSpPr txBox="1"/>
          <p:nvPr/>
        </p:nvSpPr>
        <p:spPr>
          <a:xfrm>
            <a:off x="5557116" y="52941"/>
            <a:ext cx="4419427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Estimate, using your graph, how many litres of petrol the car would use on a journey of 160km.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How about at 5min?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Which is interpolation and which is extrapolation?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</p:txBody>
      </p:sp>
    </p:spTree>
    <p:extLst>
      <p:ext uri="{BB962C8B-B14F-4D97-AF65-F5344CB8AC3E}">
        <p14:creationId xmlns:p14="http://schemas.microsoft.com/office/powerpoint/2010/main" val="17127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368300" y="2088261"/>
            <a:ext cx="4572000" cy="4576838"/>
            <a:chOff x="368300" y="2088261"/>
            <a:chExt cx="4572000" cy="4576838"/>
          </a:xfrm>
        </p:grpSpPr>
        <p:grpSp>
          <p:nvGrpSpPr>
            <p:cNvPr id="47" name="Group 46"/>
            <p:cNvGrpSpPr/>
            <p:nvPr/>
          </p:nvGrpSpPr>
          <p:grpSpPr>
            <a:xfrm>
              <a:off x="824611" y="2088261"/>
              <a:ext cx="4061460" cy="4057397"/>
              <a:chOff x="824611" y="2088261"/>
              <a:chExt cx="4061460" cy="4057397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825627" y="2346960"/>
                <a:ext cx="3801873" cy="3798698"/>
                <a:chOff x="825627" y="2346960"/>
                <a:chExt cx="3801873" cy="3798698"/>
              </a:xfrm>
            </p:grpSpPr>
            <p:sp>
              <p:nvSpPr>
                <p:cNvPr id="2" name="Freeform 1"/>
                <p:cNvSpPr/>
                <p:nvPr/>
              </p:nvSpPr>
              <p:spPr>
                <a:xfrm>
                  <a:off x="825627" y="2355469"/>
                  <a:ext cx="1892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924" h="3776981">
                      <a:moveTo>
                        <a:pt x="0" y="0"/>
                      </a:moveTo>
                      <a:lnTo>
                        <a:pt x="18923" y="0"/>
                      </a:lnTo>
                      <a:lnTo>
                        <a:pt x="1892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" name="Freeform 2"/>
                <p:cNvSpPr/>
                <p:nvPr/>
              </p:nvSpPr>
              <p:spPr>
                <a:xfrm>
                  <a:off x="825627" y="2346960"/>
                  <a:ext cx="3800603" cy="189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0603" h="18924">
                      <a:moveTo>
                        <a:pt x="0" y="0"/>
                      </a:moveTo>
                      <a:lnTo>
                        <a:pt x="3800602" y="0"/>
                      </a:lnTo>
                      <a:lnTo>
                        <a:pt x="3800602" y="18923"/>
                      </a:lnTo>
                      <a:lnTo>
                        <a:pt x="0" y="189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" name="Freeform 3"/>
                <p:cNvSpPr/>
                <p:nvPr/>
              </p:nvSpPr>
              <p:spPr>
                <a:xfrm>
                  <a:off x="838962" y="2536825"/>
                  <a:ext cx="3780791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791" h="19686">
                      <a:moveTo>
                        <a:pt x="0" y="0"/>
                      </a:moveTo>
                      <a:lnTo>
                        <a:pt x="3780790" y="0"/>
                      </a:lnTo>
                      <a:lnTo>
                        <a:pt x="3780790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" name="Freeform 4"/>
                <p:cNvSpPr/>
                <p:nvPr/>
              </p:nvSpPr>
              <p:spPr>
                <a:xfrm>
                  <a:off x="1016381" y="2356485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Freeform 5"/>
                <p:cNvSpPr/>
                <p:nvPr/>
              </p:nvSpPr>
              <p:spPr>
                <a:xfrm>
                  <a:off x="1204214" y="2355469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Freeform 6"/>
                <p:cNvSpPr/>
                <p:nvPr/>
              </p:nvSpPr>
              <p:spPr>
                <a:xfrm>
                  <a:off x="1394841" y="2356485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" name="Freeform 7"/>
                <p:cNvSpPr/>
                <p:nvPr/>
              </p:nvSpPr>
              <p:spPr>
                <a:xfrm>
                  <a:off x="1579880" y="2355469"/>
                  <a:ext cx="22734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9013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" name="Freeform 8"/>
                <p:cNvSpPr/>
                <p:nvPr/>
              </p:nvSpPr>
              <p:spPr>
                <a:xfrm>
                  <a:off x="1770634" y="2356485"/>
                  <a:ext cx="19686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6981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" name="Freeform 9"/>
                <p:cNvSpPr/>
                <p:nvPr/>
              </p:nvSpPr>
              <p:spPr>
                <a:xfrm>
                  <a:off x="1961388" y="2357501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" name="Freeform 10"/>
                <p:cNvSpPr/>
                <p:nvPr/>
              </p:nvSpPr>
              <p:spPr>
                <a:xfrm>
                  <a:off x="2150110" y="2356485"/>
                  <a:ext cx="20702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6981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" name="Freeform 11"/>
                <p:cNvSpPr/>
                <p:nvPr/>
              </p:nvSpPr>
              <p:spPr>
                <a:xfrm>
                  <a:off x="2339848" y="2358136"/>
                  <a:ext cx="22734" cy="377609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092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091"/>
                      </a:lnTo>
                      <a:lnTo>
                        <a:pt x="0" y="377609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" name="Freeform 12"/>
                <p:cNvSpPr/>
                <p:nvPr/>
              </p:nvSpPr>
              <p:spPr>
                <a:xfrm>
                  <a:off x="2523871" y="2356485"/>
                  <a:ext cx="24385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385" h="3776981">
                      <a:moveTo>
                        <a:pt x="0" y="0"/>
                      </a:moveTo>
                      <a:lnTo>
                        <a:pt x="24384" y="0"/>
                      </a:lnTo>
                      <a:lnTo>
                        <a:pt x="24384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" name="Freeform 13"/>
                <p:cNvSpPr/>
                <p:nvPr/>
              </p:nvSpPr>
              <p:spPr>
                <a:xfrm>
                  <a:off x="2715768" y="2357501"/>
                  <a:ext cx="19686" cy="37741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4187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4186"/>
                      </a:lnTo>
                      <a:lnTo>
                        <a:pt x="0" y="377418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" name="Freeform 14"/>
                <p:cNvSpPr/>
                <p:nvPr/>
              </p:nvSpPr>
              <p:spPr>
                <a:xfrm>
                  <a:off x="2906395" y="2357501"/>
                  <a:ext cx="21591" cy="37752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91" h="3775203">
                      <a:moveTo>
                        <a:pt x="0" y="0"/>
                      </a:moveTo>
                      <a:lnTo>
                        <a:pt x="21590" y="0"/>
                      </a:lnTo>
                      <a:lnTo>
                        <a:pt x="21590" y="3775202"/>
                      </a:lnTo>
                      <a:lnTo>
                        <a:pt x="0" y="377520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" name="Freeform 15"/>
                <p:cNvSpPr/>
                <p:nvPr/>
              </p:nvSpPr>
              <p:spPr>
                <a:xfrm>
                  <a:off x="3095117" y="2357501"/>
                  <a:ext cx="20702" cy="37759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5965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5964"/>
                      </a:lnTo>
                      <a:lnTo>
                        <a:pt x="0" y="377596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Freeform 16"/>
                <p:cNvSpPr/>
                <p:nvPr/>
              </p:nvSpPr>
              <p:spPr>
                <a:xfrm>
                  <a:off x="3284982" y="2358136"/>
                  <a:ext cx="22734" cy="37781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8124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8123"/>
                      </a:lnTo>
                      <a:lnTo>
                        <a:pt x="0" y="37781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Freeform 17"/>
                <p:cNvSpPr/>
                <p:nvPr/>
              </p:nvSpPr>
              <p:spPr>
                <a:xfrm>
                  <a:off x="3469005" y="2356485"/>
                  <a:ext cx="24512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512" h="3779013">
                      <a:moveTo>
                        <a:pt x="0" y="0"/>
                      </a:moveTo>
                      <a:lnTo>
                        <a:pt x="24511" y="0"/>
                      </a:lnTo>
                      <a:lnTo>
                        <a:pt x="24511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3660648" y="2357501"/>
                  <a:ext cx="21718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6981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" name="Freeform 19"/>
                <p:cNvSpPr/>
                <p:nvPr/>
              </p:nvSpPr>
              <p:spPr>
                <a:xfrm>
                  <a:off x="3851148" y="2358136"/>
                  <a:ext cx="23496" cy="37781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96" h="3778124">
                      <a:moveTo>
                        <a:pt x="0" y="0"/>
                      </a:moveTo>
                      <a:lnTo>
                        <a:pt x="23495" y="0"/>
                      </a:lnTo>
                      <a:lnTo>
                        <a:pt x="23495" y="3778123"/>
                      </a:lnTo>
                      <a:lnTo>
                        <a:pt x="0" y="37781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" name="Freeform 20"/>
                <p:cNvSpPr/>
                <p:nvPr/>
              </p:nvSpPr>
              <p:spPr>
                <a:xfrm>
                  <a:off x="4039997" y="2357501"/>
                  <a:ext cx="2273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98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" name="Freeform 21"/>
                <p:cNvSpPr/>
                <p:nvPr/>
              </p:nvSpPr>
              <p:spPr>
                <a:xfrm>
                  <a:off x="4228719" y="2357501"/>
                  <a:ext cx="24639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639" h="3779013">
                      <a:moveTo>
                        <a:pt x="0" y="0"/>
                      </a:moveTo>
                      <a:lnTo>
                        <a:pt x="24638" y="0"/>
                      </a:lnTo>
                      <a:lnTo>
                        <a:pt x="24638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>
                  <a:off x="4414012" y="2357501"/>
                  <a:ext cx="26417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417" h="3779013">
                      <a:moveTo>
                        <a:pt x="0" y="0"/>
                      </a:moveTo>
                      <a:lnTo>
                        <a:pt x="26416" y="0"/>
                      </a:lnTo>
                      <a:lnTo>
                        <a:pt x="26416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4600067" y="2354453"/>
                  <a:ext cx="27433" cy="37797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3" h="3779775">
                      <a:moveTo>
                        <a:pt x="0" y="0"/>
                      </a:moveTo>
                      <a:lnTo>
                        <a:pt x="27432" y="0"/>
                      </a:lnTo>
                      <a:lnTo>
                        <a:pt x="27432" y="3779774"/>
                      </a:lnTo>
                      <a:lnTo>
                        <a:pt x="0" y="37797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Freeform 24"/>
                <p:cNvSpPr/>
                <p:nvPr/>
              </p:nvSpPr>
              <p:spPr>
                <a:xfrm>
                  <a:off x="836930" y="2726436"/>
                  <a:ext cx="3777108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19686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>
                  <a:off x="837819" y="2914650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Freeform 26"/>
                <p:cNvSpPr/>
                <p:nvPr/>
              </p:nvSpPr>
              <p:spPr>
                <a:xfrm>
                  <a:off x="836041" y="3099435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Freeform 27"/>
                <p:cNvSpPr/>
                <p:nvPr/>
              </p:nvSpPr>
              <p:spPr>
                <a:xfrm>
                  <a:off x="839851" y="4047617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Freeform 28"/>
                <p:cNvSpPr/>
                <p:nvPr/>
              </p:nvSpPr>
              <p:spPr>
                <a:xfrm>
                  <a:off x="837819" y="3859784"/>
                  <a:ext cx="3783712" cy="20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575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574"/>
                      </a:lnTo>
                      <a:lnTo>
                        <a:pt x="0" y="205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" name="Freeform 29"/>
                <p:cNvSpPr/>
                <p:nvPr/>
              </p:nvSpPr>
              <p:spPr>
                <a:xfrm>
                  <a:off x="837819" y="3669919"/>
                  <a:ext cx="377710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20702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Freeform 30"/>
                <p:cNvSpPr/>
                <p:nvPr/>
              </p:nvSpPr>
              <p:spPr>
                <a:xfrm>
                  <a:off x="839851" y="3480181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38962" y="3292094"/>
                  <a:ext cx="3772282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2282" h="19686">
                      <a:moveTo>
                        <a:pt x="0" y="0"/>
                      </a:moveTo>
                      <a:lnTo>
                        <a:pt x="3772281" y="0"/>
                      </a:lnTo>
                      <a:lnTo>
                        <a:pt x="3772281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Freeform 32"/>
                <p:cNvSpPr/>
                <p:nvPr/>
              </p:nvSpPr>
              <p:spPr>
                <a:xfrm>
                  <a:off x="836930" y="4234434"/>
                  <a:ext cx="3776092" cy="198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6092" h="19813">
                      <a:moveTo>
                        <a:pt x="0" y="0"/>
                      </a:moveTo>
                      <a:lnTo>
                        <a:pt x="3776091" y="0"/>
                      </a:lnTo>
                      <a:lnTo>
                        <a:pt x="3776091" y="19812"/>
                      </a:lnTo>
                      <a:lnTo>
                        <a:pt x="0" y="198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Freeform 33"/>
                <p:cNvSpPr/>
                <p:nvPr/>
              </p:nvSpPr>
              <p:spPr>
                <a:xfrm>
                  <a:off x="836041" y="4424426"/>
                  <a:ext cx="3783077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1968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Freeform 34"/>
                <p:cNvSpPr/>
                <p:nvPr/>
              </p:nvSpPr>
              <p:spPr>
                <a:xfrm>
                  <a:off x="835025" y="4614164"/>
                  <a:ext cx="378091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918" h="20702">
                      <a:moveTo>
                        <a:pt x="0" y="0"/>
                      </a:moveTo>
                      <a:lnTo>
                        <a:pt x="3780917" y="0"/>
                      </a:lnTo>
                      <a:lnTo>
                        <a:pt x="378091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836041" y="4802124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835025" y="4987163"/>
                  <a:ext cx="3783585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585" h="20829">
                      <a:moveTo>
                        <a:pt x="0" y="0"/>
                      </a:moveTo>
                      <a:lnTo>
                        <a:pt x="3783584" y="0"/>
                      </a:lnTo>
                      <a:lnTo>
                        <a:pt x="3783584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837819" y="5931281"/>
                  <a:ext cx="3783712" cy="228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2861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2860"/>
                      </a:lnTo>
                      <a:lnTo>
                        <a:pt x="0" y="2286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837819" y="5746242"/>
                  <a:ext cx="3784728" cy="226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4728" h="22607">
                      <a:moveTo>
                        <a:pt x="0" y="0"/>
                      </a:moveTo>
                      <a:lnTo>
                        <a:pt x="3784727" y="0"/>
                      </a:lnTo>
                      <a:lnTo>
                        <a:pt x="3784727" y="22606"/>
                      </a:lnTo>
                      <a:lnTo>
                        <a:pt x="0" y="2260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835025" y="5557266"/>
                  <a:ext cx="3783077" cy="209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2095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20955"/>
                      </a:lnTo>
                      <a:lnTo>
                        <a:pt x="0" y="2095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836041" y="5367655"/>
                  <a:ext cx="3783712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829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Freeform 41"/>
                <p:cNvSpPr/>
                <p:nvPr/>
              </p:nvSpPr>
              <p:spPr>
                <a:xfrm>
                  <a:off x="836041" y="5179822"/>
                  <a:ext cx="3778886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8886" h="20829">
                      <a:moveTo>
                        <a:pt x="0" y="0"/>
                      </a:moveTo>
                      <a:lnTo>
                        <a:pt x="3778885" y="0"/>
                      </a:lnTo>
                      <a:lnTo>
                        <a:pt x="3778885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825627" y="6122924"/>
                  <a:ext cx="3801746" cy="227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1746" h="22734">
                      <a:moveTo>
                        <a:pt x="0" y="0"/>
                      </a:moveTo>
                      <a:lnTo>
                        <a:pt x="3801745" y="0"/>
                      </a:lnTo>
                      <a:lnTo>
                        <a:pt x="3801745" y="22733"/>
                      </a:lnTo>
                      <a:lnTo>
                        <a:pt x="0" y="2273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45" name="Straight Connector 44"/>
              <p:cNvCxnSpPr/>
              <p:nvPr/>
            </p:nvCxnSpPr>
            <p:spPr>
              <a:xfrm flipV="1">
                <a:off x="824611" y="2088261"/>
                <a:ext cx="0" cy="403872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826262" y="6131560"/>
                <a:ext cx="4059809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368300" y="2209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8300" y="4102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9100" y="50165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7200" y="60706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8300" y="31369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56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689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30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308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27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32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60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451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070100" y="6121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40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975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90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594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80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131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70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778000" y="6388100"/>
              <a:ext cx="20066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Sales of scarves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 rot="16200000">
              <a:off x="0" y="3924300"/>
              <a:ext cx="19304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Temperature (</a:t>
              </a:r>
              <a:r>
                <a:rPr lang="en-GB" sz="800" baseline="70000">
                  <a:solidFill>
                    <a:srgbClr val="000000"/>
                  </a:solidFill>
                  <a:latin typeface="Trebuchet MS - 16"/>
                </a:rPr>
                <a:t>o</a:t>
              </a:r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C)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169668" y="2455164"/>
              <a:ext cx="264669" cy="162053"/>
              <a:chOff x="2169668" y="2455164"/>
              <a:chExt cx="264669" cy="162053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2169668" y="2455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2169668" y="2455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1026668" y="2264664"/>
              <a:ext cx="264669" cy="162053"/>
              <a:chOff x="1026668" y="2264664"/>
              <a:chExt cx="264669" cy="162053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1026668" y="2264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1026668" y="2264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820668" y="5084064"/>
              <a:ext cx="264669" cy="162053"/>
              <a:chOff x="3820668" y="5084064"/>
              <a:chExt cx="264669" cy="162053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3820668" y="5084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3820668" y="5084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2169668" y="3788664"/>
              <a:ext cx="264669" cy="162053"/>
              <a:chOff x="2169668" y="3788664"/>
              <a:chExt cx="264669" cy="162053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2169668" y="3788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2169668" y="3788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3477768" y="4347464"/>
              <a:ext cx="264669" cy="162053"/>
              <a:chOff x="3477768" y="4347464"/>
              <a:chExt cx="264669" cy="162053"/>
            </a:xfrm>
          </p:grpSpPr>
          <p:sp>
            <p:nvSpPr>
              <p:cNvPr id="77" name="Freeform 76"/>
              <p:cNvSpPr/>
              <p:nvPr/>
            </p:nvSpPr>
            <p:spPr>
              <a:xfrm>
                <a:off x="3477768" y="4347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3477768" y="4347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2855468" y="3585464"/>
              <a:ext cx="264669" cy="162053"/>
              <a:chOff x="2855468" y="3585464"/>
              <a:chExt cx="264669" cy="162053"/>
            </a:xfrm>
          </p:grpSpPr>
          <p:sp>
            <p:nvSpPr>
              <p:cNvPr id="80" name="Freeform 79"/>
              <p:cNvSpPr/>
              <p:nvPr/>
            </p:nvSpPr>
            <p:spPr>
              <a:xfrm>
                <a:off x="2855468" y="3585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2855468" y="3585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2741168" y="3204464"/>
              <a:ext cx="264669" cy="162053"/>
              <a:chOff x="2741168" y="3204464"/>
              <a:chExt cx="264669" cy="162053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2741168" y="320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2741168" y="320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195500" y="2088261"/>
            <a:ext cx="4634300" cy="4576838"/>
            <a:chOff x="5195500" y="2088261"/>
            <a:chExt cx="4634300" cy="4576838"/>
          </a:xfrm>
        </p:grpSpPr>
        <p:grpSp>
          <p:nvGrpSpPr>
            <p:cNvPr id="134" name="Group 133"/>
            <p:cNvGrpSpPr/>
            <p:nvPr/>
          </p:nvGrpSpPr>
          <p:grpSpPr>
            <a:xfrm>
              <a:off x="5714111" y="2088261"/>
              <a:ext cx="4061460" cy="4057397"/>
              <a:chOff x="5714111" y="2088261"/>
              <a:chExt cx="4061460" cy="4057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5715127" y="2346960"/>
                <a:ext cx="3801873" cy="3798698"/>
                <a:chOff x="5715127" y="2346960"/>
                <a:chExt cx="3801873" cy="3798698"/>
              </a:xfrm>
            </p:grpSpPr>
            <p:sp>
              <p:nvSpPr>
                <p:cNvPr id="89" name="Freeform 88"/>
                <p:cNvSpPr/>
                <p:nvPr/>
              </p:nvSpPr>
              <p:spPr>
                <a:xfrm>
                  <a:off x="5715127" y="2355469"/>
                  <a:ext cx="1892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924" h="3776981">
                      <a:moveTo>
                        <a:pt x="0" y="0"/>
                      </a:moveTo>
                      <a:lnTo>
                        <a:pt x="18923" y="0"/>
                      </a:lnTo>
                      <a:lnTo>
                        <a:pt x="1892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0" name="Freeform 89"/>
                <p:cNvSpPr/>
                <p:nvPr/>
              </p:nvSpPr>
              <p:spPr>
                <a:xfrm>
                  <a:off x="5715127" y="2346960"/>
                  <a:ext cx="3800603" cy="189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0603" h="18924">
                      <a:moveTo>
                        <a:pt x="0" y="0"/>
                      </a:moveTo>
                      <a:lnTo>
                        <a:pt x="3800602" y="0"/>
                      </a:lnTo>
                      <a:lnTo>
                        <a:pt x="3800602" y="18923"/>
                      </a:lnTo>
                      <a:lnTo>
                        <a:pt x="0" y="189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Freeform 90"/>
                <p:cNvSpPr/>
                <p:nvPr/>
              </p:nvSpPr>
              <p:spPr>
                <a:xfrm>
                  <a:off x="5728462" y="2536825"/>
                  <a:ext cx="3780791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791" h="19686">
                      <a:moveTo>
                        <a:pt x="0" y="0"/>
                      </a:moveTo>
                      <a:lnTo>
                        <a:pt x="3780790" y="0"/>
                      </a:lnTo>
                      <a:lnTo>
                        <a:pt x="3780790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2" name="Freeform 91"/>
                <p:cNvSpPr/>
                <p:nvPr/>
              </p:nvSpPr>
              <p:spPr>
                <a:xfrm>
                  <a:off x="5905881" y="2356485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" name="Freeform 92"/>
                <p:cNvSpPr/>
                <p:nvPr/>
              </p:nvSpPr>
              <p:spPr>
                <a:xfrm>
                  <a:off x="6093714" y="2355469"/>
                  <a:ext cx="19813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813" h="3776981">
                      <a:moveTo>
                        <a:pt x="0" y="0"/>
                      </a:moveTo>
                      <a:lnTo>
                        <a:pt x="19812" y="0"/>
                      </a:lnTo>
                      <a:lnTo>
                        <a:pt x="19812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6284341" y="2356485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5" name="Freeform 94"/>
                <p:cNvSpPr/>
                <p:nvPr/>
              </p:nvSpPr>
              <p:spPr>
                <a:xfrm>
                  <a:off x="6469380" y="2355469"/>
                  <a:ext cx="22734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9013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6" name="Freeform 95"/>
                <p:cNvSpPr/>
                <p:nvPr/>
              </p:nvSpPr>
              <p:spPr>
                <a:xfrm>
                  <a:off x="6660134" y="2356485"/>
                  <a:ext cx="19686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6981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Freeform 96"/>
                <p:cNvSpPr/>
                <p:nvPr/>
              </p:nvSpPr>
              <p:spPr>
                <a:xfrm>
                  <a:off x="6850888" y="2357501"/>
                  <a:ext cx="21718" cy="377799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7997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7996"/>
                      </a:lnTo>
                      <a:lnTo>
                        <a:pt x="0" y="377799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" name="Freeform 97"/>
                <p:cNvSpPr/>
                <p:nvPr/>
              </p:nvSpPr>
              <p:spPr>
                <a:xfrm>
                  <a:off x="7039610" y="2356485"/>
                  <a:ext cx="20702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6981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9" name="Freeform 98"/>
                <p:cNvSpPr/>
                <p:nvPr/>
              </p:nvSpPr>
              <p:spPr>
                <a:xfrm>
                  <a:off x="7229348" y="2358136"/>
                  <a:ext cx="22734" cy="377609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092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091"/>
                      </a:lnTo>
                      <a:lnTo>
                        <a:pt x="0" y="377609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Freeform 99"/>
                <p:cNvSpPr/>
                <p:nvPr/>
              </p:nvSpPr>
              <p:spPr>
                <a:xfrm>
                  <a:off x="7413371" y="2356485"/>
                  <a:ext cx="24385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385" h="3776981">
                      <a:moveTo>
                        <a:pt x="0" y="0"/>
                      </a:moveTo>
                      <a:lnTo>
                        <a:pt x="24384" y="0"/>
                      </a:lnTo>
                      <a:lnTo>
                        <a:pt x="24384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Freeform 100"/>
                <p:cNvSpPr/>
                <p:nvPr/>
              </p:nvSpPr>
              <p:spPr>
                <a:xfrm>
                  <a:off x="7605268" y="2357501"/>
                  <a:ext cx="19686" cy="37741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686" h="3774187">
                      <a:moveTo>
                        <a:pt x="0" y="0"/>
                      </a:moveTo>
                      <a:lnTo>
                        <a:pt x="19685" y="0"/>
                      </a:lnTo>
                      <a:lnTo>
                        <a:pt x="19685" y="3774186"/>
                      </a:lnTo>
                      <a:lnTo>
                        <a:pt x="0" y="377418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2" name="Freeform 101"/>
                <p:cNvSpPr/>
                <p:nvPr/>
              </p:nvSpPr>
              <p:spPr>
                <a:xfrm>
                  <a:off x="7795895" y="2357501"/>
                  <a:ext cx="21591" cy="37752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591" h="3775203">
                      <a:moveTo>
                        <a:pt x="0" y="0"/>
                      </a:moveTo>
                      <a:lnTo>
                        <a:pt x="21590" y="0"/>
                      </a:lnTo>
                      <a:lnTo>
                        <a:pt x="21590" y="3775202"/>
                      </a:lnTo>
                      <a:lnTo>
                        <a:pt x="0" y="377520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Freeform 102"/>
                <p:cNvSpPr/>
                <p:nvPr/>
              </p:nvSpPr>
              <p:spPr>
                <a:xfrm>
                  <a:off x="7984617" y="2357501"/>
                  <a:ext cx="20702" cy="37759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0702" h="3775965">
                      <a:moveTo>
                        <a:pt x="0" y="0"/>
                      </a:moveTo>
                      <a:lnTo>
                        <a:pt x="20701" y="0"/>
                      </a:lnTo>
                      <a:lnTo>
                        <a:pt x="20701" y="3775964"/>
                      </a:lnTo>
                      <a:lnTo>
                        <a:pt x="0" y="377596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4" name="Freeform 103"/>
                <p:cNvSpPr/>
                <p:nvPr/>
              </p:nvSpPr>
              <p:spPr>
                <a:xfrm>
                  <a:off x="8174482" y="2358136"/>
                  <a:ext cx="22734" cy="37781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8124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8123"/>
                      </a:lnTo>
                      <a:lnTo>
                        <a:pt x="0" y="37781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5" name="Freeform 104"/>
                <p:cNvSpPr/>
                <p:nvPr/>
              </p:nvSpPr>
              <p:spPr>
                <a:xfrm>
                  <a:off x="8358505" y="2356485"/>
                  <a:ext cx="24512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512" h="3779013">
                      <a:moveTo>
                        <a:pt x="0" y="0"/>
                      </a:moveTo>
                      <a:lnTo>
                        <a:pt x="24511" y="0"/>
                      </a:lnTo>
                      <a:lnTo>
                        <a:pt x="24511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6" name="Freeform 105"/>
                <p:cNvSpPr/>
                <p:nvPr/>
              </p:nvSpPr>
              <p:spPr>
                <a:xfrm>
                  <a:off x="8550148" y="2357501"/>
                  <a:ext cx="21718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718" h="3776981">
                      <a:moveTo>
                        <a:pt x="0" y="0"/>
                      </a:moveTo>
                      <a:lnTo>
                        <a:pt x="21717" y="0"/>
                      </a:lnTo>
                      <a:lnTo>
                        <a:pt x="21717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7" name="Freeform 106"/>
                <p:cNvSpPr/>
                <p:nvPr/>
              </p:nvSpPr>
              <p:spPr>
                <a:xfrm>
                  <a:off x="8740648" y="2358136"/>
                  <a:ext cx="23496" cy="377812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96" h="3778124">
                      <a:moveTo>
                        <a:pt x="0" y="0"/>
                      </a:moveTo>
                      <a:lnTo>
                        <a:pt x="23495" y="0"/>
                      </a:lnTo>
                      <a:lnTo>
                        <a:pt x="23495" y="3778123"/>
                      </a:lnTo>
                      <a:lnTo>
                        <a:pt x="0" y="377812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8" name="Freeform 107"/>
                <p:cNvSpPr/>
                <p:nvPr/>
              </p:nvSpPr>
              <p:spPr>
                <a:xfrm>
                  <a:off x="8929497" y="2357501"/>
                  <a:ext cx="22734" cy="377698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734" h="3776981">
                      <a:moveTo>
                        <a:pt x="0" y="0"/>
                      </a:moveTo>
                      <a:lnTo>
                        <a:pt x="22733" y="0"/>
                      </a:lnTo>
                      <a:lnTo>
                        <a:pt x="22733" y="3776980"/>
                      </a:lnTo>
                      <a:lnTo>
                        <a:pt x="0" y="377698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9" name="Freeform 108"/>
                <p:cNvSpPr/>
                <p:nvPr/>
              </p:nvSpPr>
              <p:spPr>
                <a:xfrm>
                  <a:off x="9118219" y="2357501"/>
                  <a:ext cx="24639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639" h="3779013">
                      <a:moveTo>
                        <a:pt x="0" y="0"/>
                      </a:moveTo>
                      <a:lnTo>
                        <a:pt x="24638" y="0"/>
                      </a:lnTo>
                      <a:lnTo>
                        <a:pt x="24638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Freeform 109"/>
                <p:cNvSpPr/>
                <p:nvPr/>
              </p:nvSpPr>
              <p:spPr>
                <a:xfrm>
                  <a:off x="9303512" y="2357501"/>
                  <a:ext cx="26417" cy="37790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6417" h="3779013">
                      <a:moveTo>
                        <a:pt x="0" y="0"/>
                      </a:moveTo>
                      <a:lnTo>
                        <a:pt x="26416" y="0"/>
                      </a:lnTo>
                      <a:lnTo>
                        <a:pt x="26416" y="3779012"/>
                      </a:lnTo>
                      <a:lnTo>
                        <a:pt x="0" y="37790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Freeform 110"/>
                <p:cNvSpPr/>
                <p:nvPr/>
              </p:nvSpPr>
              <p:spPr>
                <a:xfrm>
                  <a:off x="9489567" y="2354453"/>
                  <a:ext cx="27433" cy="37797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433" h="3779775">
                      <a:moveTo>
                        <a:pt x="0" y="0"/>
                      </a:moveTo>
                      <a:lnTo>
                        <a:pt x="27432" y="0"/>
                      </a:lnTo>
                      <a:lnTo>
                        <a:pt x="27432" y="3779774"/>
                      </a:lnTo>
                      <a:lnTo>
                        <a:pt x="0" y="37797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2" name="Freeform 111"/>
                <p:cNvSpPr/>
                <p:nvPr/>
              </p:nvSpPr>
              <p:spPr>
                <a:xfrm>
                  <a:off x="5726430" y="2726436"/>
                  <a:ext cx="3777108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19686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" name="Freeform 112"/>
                <p:cNvSpPr/>
                <p:nvPr/>
              </p:nvSpPr>
              <p:spPr>
                <a:xfrm>
                  <a:off x="5727319" y="2914650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" name="Freeform 113"/>
                <p:cNvSpPr/>
                <p:nvPr/>
              </p:nvSpPr>
              <p:spPr>
                <a:xfrm>
                  <a:off x="5725541" y="3099435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Freeform 114"/>
                <p:cNvSpPr/>
                <p:nvPr/>
              </p:nvSpPr>
              <p:spPr>
                <a:xfrm>
                  <a:off x="5729351" y="4047617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Freeform 115"/>
                <p:cNvSpPr/>
                <p:nvPr/>
              </p:nvSpPr>
              <p:spPr>
                <a:xfrm>
                  <a:off x="5727319" y="3859784"/>
                  <a:ext cx="3783712" cy="20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575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574"/>
                      </a:lnTo>
                      <a:lnTo>
                        <a:pt x="0" y="20574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7" name="Freeform 116"/>
                <p:cNvSpPr/>
                <p:nvPr/>
              </p:nvSpPr>
              <p:spPr>
                <a:xfrm>
                  <a:off x="5727319" y="3669919"/>
                  <a:ext cx="377710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7108" h="20702">
                      <a:moveTo>
                        <a:pt x="0" y="0"/>
                      </a:moveTo>
                      <a:lnTo>
                        <a:pt x="3777107" y="0"/>
                      </a:lnTo>
                      <a:lnTo>
                        <a:pt x="377710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" name="Freeform 117"/>
                <p:cNvSpPr/>
                <p:nvPr/>
              </p:nvSpPr>
              <p:spPr>
                <a:xfrm>
                  <a:off x="5729351" y="3480181"/>
                  <a:ext cx="3782950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2950" h="19686">
                      <a:moveTo>
                        <a:pt x="0" y="0"/>
                      </a:moveTo>
                      <a:lnTo>
                        <a:pt x="3782949" y="0"/>
                      </a:lnTo>
                      <a:lnTo>
                        <a:pt x="3782949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9" name="Freeform 118"/>
                <p:cNvSpPr/>
                <p:nvPr/>
              </p:nvSpPr>
              <p:spPr>
                <a:xfrm>
                  <a:off x="5728462" y="3292094"/>
                  <a:ext cx="3772282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2282" h="19686">
                      <a:moveTo>
                        <a:pt x="0" y="0"/>
                      </a:moveTo>
                      <a:lnTo>
                        <a:pt x="3772281" y="0"/>
                      </a:lnTo>
                      <a:lnTo>
                        <a:pt x="3772281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Freeform 119"/>
                <p:cNvSpPr/>
                <p:nvPr/>
              </p:nvSpPr>
              <p:spPr>
                <a:xfrm>
                  <a:off x="5726430" y="4234434"/>
                  <a:ext cx="3776092" cy="198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6092" h="19813">
                      <a:moveTo>
                        <a:pt x="0" y="0"/>
                      </a:moveTo>
                      <a:lnTo>
                        <a:pt x="3776091" y="0"/>
                      </a:lnTo>
                      <a:lnTo>
                        <a:pt x="3776091" y="19812"/>
                      </a:lnTo>
                      <a:lnTo>
                        <a:pt x="0" y="19812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1" name="Freeform 120"/>
                <p:cNvSpPr/>
                <p:nvPr/>
              </p:nvSpPr>
              <p:spPr>
                <a:xfrm>
                  <a:off x="5725541" y="4424426"/>
                  <a:ext cx="3783077" cy="1968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1968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19685"/>
                      </a:lnTo>
                      <a:lnTo>
                        <a:pt x="0" y="1968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Freeform 121"/>
                <p:cNvSpPr/>
                <p:nvPr/>
              </p:nvSpPr>
              <p:spPr>
                <a:xfrm>
                  <a:off x="5724525" y="4614164"/>
                  <a:ext cx="3780918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0918" h="20702">
                      <a:moveTo>
                        <a:pt x="0" y="0"/>
                      </a:moveTo>
                      <a:lnTo>
                        <a:pt x="3780917" y="0"/>
                      </a:lnTo>
                      <a:lnTo>
                        <a:pt x="3780917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" name="Freeform 122"/>
                <p:cNvSpPr/>
                <p:nvPr/>
              </p:nvSpPr>
              <p:spPr>
                <a:xfrm>
                  <a:off x="5725541" y="4802124"/>
                  <a:ext cx="3783712" cy="2070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702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701"/>
                      </a:lnTo>
                      <a:lnTo>
                        <a:pt x="0" y="20701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" name="Freeform 123"/>
                <p:cNvSpPr/>
                <p:nvPr/>
              </p:nvSpPr>
              <p:spPr>
                <a:xfrm>
                  <a:off x="5724525" y="4987163"/>
                  <a:ext cx="3783585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585" h="20829">
                      <a:moveTo>
                        <a:pt x="0" y="0"/>
                      </a:moveTo>
                      <a:lnTo>
                        <a:pt x="3783584" y="0"/>
                      </a:lnTo>
                      <a:lnTo>
                        <a:pt x="3783584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" name="Freeform 124"/>
                <p:cNvSpPr/>
                <p:nvPr/>
              </p:nvSpPr>
              <p:spPr>
                <a:xfrm>
                  <a:off x="5727319" y="5931281"/>
                  <a:ext cx="3783712" cy="2286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2861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2860"/>
                      </a:lnTo>
                      <a:lnTo>
                        <a:pt x="0" y="22860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6" name="Freeform 125"/>
                <p:cNvSpPr/>
                <p:nvPr/>
              </p:nvSpPr>
              <p:spPr>
                <a:xfrm>
                  <a:off x="5727319" y="5746242"/>
                  <a:ext cx="3784728" cy="226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4728" h="22607">
                      <a:moveTo>
                        <a:pt x="0" y="0"/>
                      </a:moveTo>
                      <a:lnTo>
                        <a:pt x="3784727" y="0"/>
                      </a:lnTo>
                      <a:lnTo>
                        <a:pt x="3784727" y="22606"/>
                      </a:lnTo>
                      <a:lnTo>
                        <a:pt x="0" y="22606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7" name="Freeform 126"/>
                <p:cNvSpPr/>
                <p:nvPr/>
              </p:nvSpPr>
              <p:spPr>
                <a:xfrm>
                  <a:off x="5724525" y="5557266"/>
                  <a:ext cx="3783077" cy="209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077" h="20956">
                      <a:moveTo>
                        <a:pt x="0" y="0"/>
                      </a:moveTo>
                      <a:lnTo>
                        <a:pt x="3783076" y="0"/>
                      </a:lnTo>
                      <a:lnTo>
                        <a:pt x="3783076" y="20955"/>
                      </a:lnTo>
                      <a:lnTo>
                        <a:pt x="0" y="20955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Freeform 127"/>
                <p:cNvSpPr/>
                <p:nvPr/>
              </p:nvSpPr>
              <p:spPr>
                <a:xfrm>
                  <a:off x="5725541" y="5367655"/>
                  <a:ext cx="3783712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83712" h="20829">
                      <a:moveTo>
                        <a:pt x="0" y="0"/>
                      </a:moveTo>
                      <a:lnTo>
                        <a:pt x="3783711" y="0"/>
                      </a:lnTo>
                      <a:lnTo>
                        <a:pt x="3783711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" name="Freeform 128"/>
                <p:cNvSpPr/>
                <p:nvPr/>
              </p:nvSpPr>
              <p:spPr>
                <a:xfrm>
                  <a:off x="5725541" y="5179822"/>
                  <a:ext cx="3778886" cy="2082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778886" h="20829">
                      <a:moveTo>
                        <a:pt x="0" y="0"/>
                      </a:moveTo>
                      <a:lnTo>
                        <a:pt x="3778885" y="0"/>
                      </a:lnTo>
                      <a:lnTo>
                        <a:pt x="3778885" y="20828"/>
                      </a:lnTo>
                      <a:lnTo>
                        <a:pt x="0" y="20828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Freeform 129"/>
                <p:cNvSpPr/>
                <p:nvPr/>
              </p:nvSpPr>
              <p:spPr>
                <a:xfrm>
                  <a:off x="5715127" y="6122924"/>
                  <a:ext cx="3801746" cy="2273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801746" h="22734">
                      <a:moveTo>
                        <a:pt x="0" y="0"/>
                      </a:moveTo>
                      <a:lnTo>
                        <a:pt x="3801745" y="0"/>
                      </a:lnTo>
                      <a:lnTo>
                        <a:pt x="3801745" y="22733"/>
                      </a:lnTo>
                      <a:lnTo>
                        <a:pt x="0" y="22733"/>
                      </a:lnTo>
                      <a:close/>
                    </a:path>
                  </a:pathLst>
                </a:custGeom>
                <a:solidFill>
                  <a:srgbClr val="8C8CFF">
                    <a:alpha val="50980"/>
                  </a:srgbClr>
                </a:solidFill>
                <a:ln w="0" cap="flat" cmpd="sng" algn="ctr">
                  <a:solidFill>
                    <a:srgbClr val="8C8CFF">
                      <a:alpha val="5098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32" name="Straight Connector 131"/>
              <p:cNvCxnSpPr/>
              <p:nvPr/>
            </p:nvCxnSpPr>
            <p:spPr>
              <a:xfrm flipV="1">
                <a:off x="5714111" y="2088261"/>
                <a:ext cx="0" cy="4038727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5715762" y="6131560"/>
                <a:ext cx="4059809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TextBox 134"/>
            <p:cNvSpPr txBox="1"/>
            <p:nvPr/>
          </p:nvSpPr>
          <p:spPr>
            <a:xfrm>
              <a:off x="5283200" y="2209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25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321300" y="52197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5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346700" y="60706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0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283200" y="3733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15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283200" y="4470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5283200" y="29718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9245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200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6578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60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197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40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8166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20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96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120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315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100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959600" y="61214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80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839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180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8458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160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8077200" y="6134100"/>
              <a:ext cx="584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140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7023100" y="6388100"/>
              <a:ext cx="1473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Distance (km)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 rot="16200000">
              <a:off x="4597400" y="3924300"/>
              <a:ext cx="1473200" cy="276999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000000"/>
                  </a:solidFill>
                  <a:latin typeface="Trebuchet MS - 16"/>
                </a:rPr>
                <a:t>Petrol used (l)</a:t>
              </a:r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8227568" y="4156964"/>
              <a:ext cx="264669" cy="162053"/>
              <a:chOff x="8227568" y="4156964"/>
              <a:chExt cx="264669" cy="162053"/>
            </a:xfrm>
          </p:grpSpPr>
          <p:sp>
            <p:nvSpPr>
              <p:cNvPr id="153" name="Freeform 152"/>
              <p:cNvSpPr/>
              <p:nvPr/>
            </p:nvSpPr>
            <p:spPr>
              <a:xfrm>
                <a:off x="8227568" y="4156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4" name="Freeform 153"/>
              <p:cNvSpPr/>
              <p:nvPr/>
            </p:nvSpPr>
            <p:spPr>
              <a:xfrm>
                <a:off x="8227568" y="4156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>
              <a:off x="9294368" y="2912364"/>
              <a:ext cx="264669" cy="162053"/>
              <a:chOff x="9294368" y="2912364"/>
              <a:chExt cx="264669" cy="162053"/>
            </a:xfrm>
          </p:grpSpPr>
          <p:sp>
            <p:nvSpPr>
              <p:cNvPr id="156" name="Freeform 155"/>
              <p:cNvSpPr/>
              <p:nvPr/>
            </p:nvSpPr>
            <p:spPr>
              <a:xfrm>
                <a:off x="9294368" y="29123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7" name="Freeform 156"/>
              <p:cNvSpPr/>
              <p:nvPr/>
            </p:nvSpPr>
            <p:spPr>
              <a:xfrm>
                <a:off x="9294368" y="29123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7338568" y="4639564"/>
              <a:ext cx="264669" cy="162053"/>
              <a:chOff x="7338568" y="4639564"/>
              <a:chExt cx="264669" cy="162053"/>
            </a:xfrm>
          </p:grpSpPr>
          <p:sp>
            <p:nvSpPr>
              <p:cNvPr id="159" name="Freeform 158"/>
              <p:cNvSpPr/>
              <p:nvPr/>
            </p:nvSpPr>
            <p:spPr>
              <a:xfrm>
                <a:off x="7338568" y="4639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Freeform 159"/>
              <p:cNvSpPr/>
              <p:nvPr/>
            </p:nvSpPr>
            <p:spPr>
              <a:xfrm>
                <a:off x="7338568" y="4639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4" name="Group 163"/>
            <p:cNvGrpSpPr/>
            <p:nvPr/>
          </p:nvGrpSpPr>
          <p:grpSpPr>
            <a:xfrm>
              <a:off x="6398768" y="5414264"/>
              <a:ext cx="264669" cy="162053"/>
              <a:chOff x="6398768" y="5414264"/>
              <a:chExt cx="264669" cy="162053"/>
            </a:xfrm>
          </p:grpSpPr>
          <p:sp>
            <p:nvSpPr>
              <p:cNvPr id="162" name="Freeform 161"/>
              <p:cNvSpPr/>
              <p:nvPr/>
            </p:nvSpPr>
            <p:spPr>
              <a:xfrm>
                <a:off x="6398768" y="5414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3" name="Freeform 162"/>
              <p:cNvSpPr/>
              <p:nvPr/>
            </p:nvSpPr>
            <p:spPr>
              <a:xfrm>
                <a:off x="6398768" y="5414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7" name="Group 166"/>
            <p:cNvGrpSpPr/>
            <p:nvPr/>
          </p:nvGrpSpPr>
          <p:grpSpPr>
            <a:xfrm>
              <a:off x="6995668" y="4906264"/>
              <a:ext cx="264669" cy="162053"/>
              <a:chOff x="6995668" y="4906264"/>
              <a:chExt cx="264669" cy="162053"/>
            </a:xfrm>
          </p:grpSpPr>
          <p:sp>
            <p:nvSpPr>
              <p:cNvPr id="165" name="Freeform 164"/>
              <p:cNvSpPr/>
              <p:nvPr/>
            </p:nvSpPr>
            <p:spPr>
              <a:xfrm>
                <a:off x="6995668" y="4906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6" name="Freeform 165"/>
              <p:cNvSpPr/>
              <p:nvPr/>
            </p:nvSpPr>
            <p:spPr>
              <a:xfrm>
                <a:off x="6995668" y="4906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0" name="Group 169"/>
            <p:cNvGrpSpPr/>
            <p:nvPr/>
          </p:nvGrpSpPr>
          <p:grpSpPr>
            <a:xfrm>
              <a:off x="9002268" y="3661664"/>
              <a:ext cx="264669" cy="162053"/>
              <a:chOff x="9002268" y="3661664"/>
              <a:chExt cx="264669" cy="162053"/>
            </a:xfrm>
          </p:grpSpPr>
          <p:sp>
            <p:nvSpPr>
              <p:cNvPr id="168" name="Freeform 167"/>
              <p:cNvSpPr/>
              <p:nvPr/>
            </p:nvSpPr>
            <p:spPr>
              <a:xfrm>
                <a:off x="9002268" y="3661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9002268" y="36616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3" name="Group 172"/>
            <p:cNvGrpSpPr/>
            <p:nvPr/>
          </p:nvGrpSpPr>
          <p:grpSpPr>
            <a:xfrm>
              <a:off x="5966968" y="5541264"/>
              <a:ext cx="264669" cy="162053"/>
              <a:chOff x="5966968" y="5541264"/>
              <a:chExt cx="264669" cy="162053"/>
            </a:xfrm>
          </p:grpSpPr>
          <p:sp>
            <p:nvSpPr>
              <p:cNvPr id="171" name="Freeform 170"/>
              <p:cNvSpPr/>
              <p:nvPr/>
            </p:nvSpPr>
            <p:spPr>
              <a:xfrm>
                <a:off x="5966968" y="554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2" name="Freeform 171"/>
              <p:cNvSpPr/>
              <p:nvPr/>
            </p:nvSpPr>
            <p:spPr>
              <a:xfrm>
                <a:off x="5966968" y="554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6" name="Group 175"/>
            <p:cNvGrpSpPr/>
            <p:nvPr/>
          </p:nvGrpSpPr>
          <p:grpSpPr>
            <a:xfrm>
              <a:off x="7554468" y="4614164"/>
              <a:ext cx="264669" cy="162053"/>
              <a:chOff x="7554468" y="4614164"/>
              <a:chExt cx="264669" cy="162053"/>
            </a:xfrm>
          </p:grpSpPr>
          <p:sp>
            <p:nvSpPr>
              <p:cNvPr id="174" name="Freeform 173"/>
              <p:cNvSpPr/>
              <p:nvPr/>
            </p:nvSpPr>
            <p:spPr>
              <a:xfrm>
                <a:off x="7554468" y="4614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5" name="Freeform 174"/>
              <p:cNvSpPr/>
              <p:nvPr/>
            </p:nvSpPr>
            <p:spPr>
              <a:xfrm>
                <a:off x="7554468" y="4614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179" name="Straight Connector 178"/>
          <p:cNvCxnSpPr>
            <a:cxnSpLocks/>
          </p:cNvCxnSpPr>
          <p:nvPr/>
        </p:nvCxnSpPr>
        <p:spPr>
          <a:xfrm>
            <a:off x="1331368" y="2329893"/>
            <a:ext cx="3456532" cy="3416349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cxnSpLocks/>
          </p:cNvCxnSpPr>
          <p:nvPr/>
        </p:nvCxnSpPr>
        <p:spPr>
          <a:xfrm flipV="1">
            <a:off x="5850191" y="3257308"/>
            <a:ext cx="3679001" cy="2601587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823784" y="4792924"/>
            <a:ext cx="3020540" cy="0"/>
          </a:xfrm>
          <a:prstGeom prst="line">
            <a:avLst/>
          </a:prstGeom>
          <a:ln w="38100" cap="flat" cmpd="sng" algn="ctr">
            <a:solidFill>
              <a:srgbClr val="0055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3860966" y="4784603"/>
            <a:ext cx="0" cy="1323046"/>
          </a:xfrm>
          <a:prstGeom prst="line">
            <a:avLst/>
          </a:prstGeom>
          <a:ln w="38100" cap="flat" cmpd="sng" algn="ctr">
            <a:solidFill>
              <a:srgbClr val="0055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V="1">
            <a:off x="8745422" y="3869287"/>
            <a:ext cx="0" cy="2238362"/>
          </a:xfrm>
          <a:prstGeom prst="line">
            <a:avLst/>
          </a:prstGeom>
          <a:ln w="38100" cap="flat" cmpd="sng" algn="ctr">
            <a:solidFill>
              <a:srgbClr val="0055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flipH="1">
            <a:off x="5741523" y="3844324"/>
            <a:ext cx="3028862" cy="0"/>
          </a:xfrm>
          <a:prstGeom prst="line">
            <a:avLst/>
          </a:prstGeom>
          <a:ln w="38100" cap="flat" cmpd="sng" algn="ctr">
            <a:solidFill>
              <a:srgbClr val="005500"/>
            </a:solidFill>
            <a:prstDash val="solid"/>
            <a:round/>
            <a:headEnd type="non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016000" y="6705600"/>
            <a:ext cx="3418974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b="1" dirty="0">
                <a:solidFill>
                  <a:srgbClr val="005500"/>
                </a:solidFill>
                <a:latin typeface="Trebuchet MS - 24"/>
              </a:rPr>
              <a:t>Answer: 80 scarves and 100 scarves – the prediction at 3</a:t>
            </a:r>
            <a:r>
              <a:rPr lang="en-GB" b="1" baseline="30000" dirty="0">
                <a:solidFill>
                  <a:srgbClr val="005500"/>
                </a:solidFill>
                <a:latin typeface="Trebuchet MS - 24"/>
              </a:rPr>
              <a:t>o</a:t>
            </a:r>
            <a:r>
              <a:rPr lang="en-GB" b="1" dirty="0">
                <a:solidFill>
                  <a:srgbClr val="005500"/>
                </a:solidFill>
                <a:latin typeface="Trebuchet MS - 24"/>
              </a:rPr>
              <a:t>c is extrapolation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905500" y="6680200"/>
            <a:ext cx="3432246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b="1" dirty="0">
                <a:solidFill>
                  <a:srgbClr val="005500"/>
                </a:solidFill>
                <a:latin typeface="Trebuchet MS - 24"/>
              </a:rPr>
              <a:t>Answer: 15 litres and 1.5L the prediction of 1.5L is extrapolation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AC447C3C-6BC6-4CB2-8452-0E6E6030ABBD}"/>
              </a:ext>
            </a:extLst>
          </p:cNvPr>
          <p:cNvCxnSpPr/>
          <p:nvPr/>
        </p:nvCxnSpPr>
        <p:spPr>
          <a:xfrm>
            <a:off x="893063" y="5576317"/>
            <a:ext cx="36535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EBDB04B-52D1-4BFD-A39B-D18FA069CE74}"/>
              </a:ext>
            </a:extLst>
          </p:cNvPr>
          <p:cNvCxnSpPr>
            <a:cxnSpLocks/>
          </p:cNvCxnSpPr>
          <p:nvPr/>
        </p:nvCxnSpPr>
        <p:spPr>
          <a:xfrm flipH="1" flipV="1">
            <a:off x="4586287" y="5607303"/>
            <a:ext cx="2" cy="513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29C6216-6769-487F-A990-AD89399818B0}"/>
              </a:ext>
            </a:extLst>
          </p:cNvPr>
          <p:cNvCxnSpPr>
            <a:cxnSpLocks/>
          </p:cNvCxnSpPr>
          <p:nvPr/>
        </p:nvCxnSpPr>
        <p:spPr>
          <a:xfrm flipV="1">
            <a:off x="5850191" y="5860370"/>
            <a:ext cx="0" cy="285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20C5F02C-4D32-43E5-B558-B944D227EF04}"/>
              </a:ext>
            </a:extLst>
          </p:cNvPr>
          <p:cNvCxnSpPr>
            <a:cxnSpLocks/>
          </p:cNvCxnSpPr>
          <p:nvPr/>
        </p:nvCxnSpPr>
        <p:spPr>
          <a:xfrm>
            <a:off x="5649974" y="5791450"/>
            <a:ext cx="2555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F3417E11-A6D9-4C38-BE20-F77E111D9D81}"/>
              </a:ext>
            </a:extLst>
          </p:cNvPr>
          <p:cNvSpPr txBox="1"/>
          <p:nvPr/>
        </p:nvSpPr>
        <p:spPr>
          <a:xfrm>
            <a:off x="-37568" y="201817"/>
            <a:ext cx="5172456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Estimate, using your graph, how many scarves the shop would sell when the temperature was 7</a:t>
            </a:r>
            <a:r>
              <a:rPr lang="en-GB" sz="1200" baseline="70000" dirty="0">
                <a:solidFill>
                  <a:srgbClr val="000000"/>
                </a:solidFill>
                <a:latin typeface="Trebuchet MS - 24"/>
              </a:rPr>
              <a:t>o</a:t>
            </a:r>
            <a:r>
              <a:rPr lang="en-GB" dirty="0">
                <a:solidFill>
                  <a:srgbClr val="000000"/>
                </a:solidFill>
                <a:latin typeface="Trebuchet MS - 24"/>
              </a:rPr>
              <a:t>C.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How about at 3</a:t>
            </a:r>
            <a:r>
              <a:rPr lang="en-GB" baseline="30000" dirty="0">
                <a:solidFill>
                  <a:srgbClr val="000000"/>
                </a:solidFill>
                <a:latin typeface="Trebuchet MS - 24"/>
              </a:rPr>
              <a:t>o</a:t>
            </a:r>
            <a:r>
              <a:rPr lang="en-GB" dirty="0">
                <a:solidFill>
                  <a:srgbClr val="000000"/>
                </a:solidFill>
                <a:latin typeface="Trebuchet MS - 24"/>
              </a:rPr>
              <a:t>C?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Which is interpolation and which is extrapolation?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58B7248-F326-40E4-83DD-7C7E7797DB5C}"/>
              </a:ext>
            </a:extLst>
          </p:cNvPr>
          <p:cNvSpPr txBox="1"/>
          <p:nvPr/>
        </p:nvSpPr>
        <p:spPr>
          <a:xfrm>
            <a:off x="5557116" y="52941"/>
            <a:ext cx="4419427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Estimate, using your graph, how many litres of petrol the car would use on a journey of 160km.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How about at 5min?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rebuchet MS - 24"/>
              </a:rPr>
              <a:t>Which is interpolation and which is extrapolation?</a:t>
            </a:r>
          </a:p>
          <a:p>
            <a:pPr algn="ctr"/>
            <a:endParaRPr lang="en-GB" dirty="0">
              <a:solidFill>
                <a:srgbClr val="000000"/>
              </a:solidFill>
              <a:latin typeface="Trebuchet MS - 24"/>
            </a:endParaRPr>
          </a:p>
        </p:txBody>
      </p:sp>
    </p:spTree>
    <p:extLst>
      <p:ext uri="{BB962C8B-B14F-4D97-AF65-F5344CB8AC3E}">
        <p14:creationId xmlns:p14="http://schemas.microsoft.com/office/powerpoint/2010/main" val="402307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600</Words>
  <Application>Microsoft Office PowerPoint</Application>
  <PresentationFormat>Custom</PresentationFormat>
  <Paragraphs>159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Trebuchet MS - 24</vt:lpstr>
      <vt:lpstr>Trebuchet MS - 48</vt:lpstr>
      <vt:lpstr>Arial</vt:lpstr>
      <vt:lpstr>Trebuchet MS - 16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Worthing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Lutwyche</dc:creator>
  <cp:lastModifiedBy>WILSON James [Baldivis Secondary College]</cp:lastModifiedBy>
  <cp:revision>7</cp:revision>
  <dcterms:created xsi:type="dcterms:W3CDTF">2014-07-03T12:09:56Z</dcterms:created>
  <dcterms:modified xsi:type="dcterms:W3CDTF">2019-06-24T15:32:30Z</dcterms:modified>
</cp:coreProperties>
</file>
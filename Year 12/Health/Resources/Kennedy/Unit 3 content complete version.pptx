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4.xml" ContentType="application/vnd.openxmlformats-officedocument.presentationml.slide+xml"/>
  <Override PartName="/ppt/slides/slide245.xml" ContentType="application/vnd.openxmlformats-officedocument.presentationml.slide+xml"/>
  <Override PartName="/ppt/slides/slide246.xml" ContentType="application/vnd.openxmlformats-officedocument.presentationml.slide+xml"/>
  <Override PartName="/ppt/slides/slide247.xml" ContentType="application/vnd.openxmlformats-officedocument.presentationml.slide+xml"/>
  <Override PartName="/ppt/slides/slide248.xml" ContentType="application/vnd.openxmlformats-officedocument.presentationml.slide+xml"/>
  <Override PartName="/ppt/slides/slide249.xml" ContentType="application/vnd.openxmlformats-officedocument.presentationml.slide+xml"/>
  <Override PartName="/ppt/slides/slide250.xml" ContentType="application/vnd.openxmlformats-officedocument.presentationml.slide+xml"/>
  <Override PartName="/ppt/slides/slide251.xml" ContentType="application/vnd.openxmlformats-officedocument.presentationml.slide+xml"/>
  <Override PartName="/ppt/slides/slide252.xml" ContentType="application/vnd.openxmlformats-officedocument.presentationml.slide+xml"/>
  <Override PartName="/ppt/slides/slide253.xml" ContentType="application/vnd.openxmlformats-officedocument.presentationml.slide+xml"/>
  <Override PartName="/ppt/slides/slide254.xml" ContentType="application/vnd.openxmlformats-officedocument.presentationml.slide+xml"/>
  <Override PartName="/ppt/slides/slide255.xml" ContentType="application/vnd.openxmlformats-officedocument.presentationml.slide+xml"/>
  <Override PartName="/ppt/slides/slide256.xml" ContentType="application/vnd.openxmlformats-officedocument.presentationml.slide+xml"/>
  <Override PartName="/ppt/slides/slide257.xml" ContentType="application/vnd.openxmlformats-officedocument.presentationml.slide+xml"/>
  <Override PartName="/ppt/slides/slide258.xml" ContentType="application/vnd.openxmlformats-officedocument.presentationml.slide+xml"/>
  <Override PartName="/ppt/slides/slide259.xml" ContentType="application/vnd.openxmlformats-officedocument.presentationml.slide+xml"/>
  <Override PartName="/ppt/slides/slide260.xml" ContentType="application/vnd.openxmlformats-officedocument.presentationml.slide+xml"/>
  <Override PartName="/ppt/slides/slide261.xml" ContentType="application/vnd.openxmlformats-officedocument.presentationml.slide+xml"/>
  <Override PartName="/ppt/slides/slide262.xml" ContentType="application/vnd.openxmlformats-officedocument.presentationml.slide+xml"/>
  <Override PartName="/ppt/slides/slide263.xml" ContentType="application/vnd.openxmlformats-officedocument.presentationml.slide+xml"/>
  <Override PartName="/ppt/slides/slide264.xml" ContentType="application/vnd.openxmlformats-officedocument.presentationml.slide+xml"/>
  <Override PartName="/ppt/slides/slide265.xml" ContentType="application/vnd.openxmlformats-officedocument.presentationml.slide+xml"/>
  <Override PartName="/ppt/slides/slide266.xml" ContentType="application/vnd.openxmlformats-officedocument.presentationml.slide+xml"/>
  <Override PartName="/ppt/slides/slide267.xml" ContentType="application/vnd.openxmlformats-officedocument.presentationml.slide+xml"/>
  <Override PartName="/ppt/slides/slide268.xml" ContentType="application/vnd.openxmlformats-officedocument.presentationml.slide+xml"/>
  <Override PartName="/ppt/slides/slide269.xml" ContentType="application/vnd.openxmlformats-officedocument.presentationml.slide+xml"/>
  <Override PartName="/ppt/slides/slide270.xml" ContentType="application/vnd.openxmlformats-officedocument.presentationml.slide+xml"/>
  <Override PartName="/ppt/slides/slide271.xml" ContentType="application/vnd.openxmlformats-officedocument.presentationml.slide+xml"/>
  <Override PartName="/ppt/slides/slide272.xml" ContentType="application/vnd.openxmlformats-officedocument.presentationml.slide+xml"/>
  <Override PartName="/ppt/slides/slide273.xml" ContentType="application/vnd.openxmlformats-officedocument.presentationml.slide+xml"/>
  <Override PartName="/ppt/slides/slide274.xml" ContentType="application/vnd.openxmlformats-officedocument.presentationml.slide+xml"/>
  <Override PartName="/ppt/slides/slide275.xml" ContentType="application/vnd.openxmlformats-officedocument.presentationml.slide+xml"/>
  <Override PartName="/ppt/slides/slide27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1" r:id="rId1"/>
  </p:sldMasterIdLst>
  <p:notesMasterIdLst>
    <p:notesMasterId r:id="rId278"/>
  </p:notesMasterIdLst>
  <p:sldIdLst>
    <p:sldId id="369" r:id="rId2"/>
    <p:sldId id="256" r:id="rId3"/>
    <p:sldId id="485" r:id="rId4"/>
    <p:sldId id="525" r:id="rId5"/>
    <p:sldId id="273" r:id="rId6"/>
    <p:sldId id="372" r:id="rId7"/>
    <p:sldId id="371" r:id="rId8"/>
    <p:sldId id="373" r:id="rId9"/>
    <p:sldId id="374" r:id="rId10"/>
    <p:sldId id="375" r:id="rId11"/>
    <p:sldId id="378" r:id="rId12"/>
    <p:sldId id="379" r:id="rId13"/>
    <p:sldId id="380" r:id="rId14"/>
    <p:sldId id="381" r:id="rId15"/>
    <p:sldId id="382" r:id="rId16"/>
    <p:sldId id="376" r:id="rId17"/>
    <p:sldId id="377" r:id="rId18"/>
    <p:sldId id="266" r:id="rId19"/>
    <p:sldId id="267" r:id="rId20"/>
    <p:sldId id="268" r:id="rId21"/>
    <p:sldId id="270" r:id="rId22"/>
    <p:sldId id="271" r:id="rId23"/>
    <p:sldId id="277" r:id="rId24"/>
    <p:sldId id="278" r:id="rId25"/>
    <p:sldId id="279" r:id="rId26"/>
    <p:sldId id="487" r:id="rId27"/>
    <p:sldId id="281" r:id="rId28"/>
    <p:sldId id="386" r:id="rId29"/>
    <p:sldId id="387" r:id="rId30"/>
    <p:sldId id="284" r:id="rId31"/>
    <p:sldId id="388" r:id="rId32"/>
    <p:sldId id="389" r:id="rId33"/>
    <p:sldId id="390" r:id="rId34"/>
    <p:sldId id="391" r:id="rId35"/>
    <p:sldId id="392" r:id="rId36"/>
    <p:sldId id="702" r:id="rId37"/>
    <p:sldId id="703" r:id="rId38"/>
    <p:sldId id="704" r:id="rId39"/>
    <p:sldId id="705" r:id="rId40"/>
    <p:sldId id="706" r:id="rId41"/>
    <p:sldId id="707" r:id="rId42"/>
    <p:sldId id="479" r:id="rId43"/>
    <p:sldId id="287" r:id="rId44"/>
    <p:sldId id="484" r:id="rId45"/>
    <p:sldId id="290" r:id="rId46"/>
    <p:sldId id="488" r:id="rId47"/>
    <p:sldId id="397" r:id="rId48"/>
    <p:sldId id="708" r:id="rId49"/>
    <p:sldId id="709" r:id="rId50"/>
    <p:sldId id="294" r:id="rId51"/>
    <p:sldId id="291" r:id="rId52"/>
    <p:sldId id="710" r:id="rId53"/>
    <p:sldId id="699" r:id="rId54"/>
    <p:sldId id="400" r:id="rId55"/>
    <p:sldId id="700" r:id="rId56"/>
    <p:sldId id="401" r:id="rId57"/>
    <p:sldId id="297" r:id="rId58"/>
    <p:sldId id="402" r:id="rId59"/>
    <p:sldId id="711" r:id="rId60"/>
    <p:sldId id="405" r:id="rId61"/>
    <p:sldId id="617" r:id="rId62"/>
    <p:sldId id="302" r:id="rId63"/>
    <p:sldId id="712" r:id="rId64"/>
    <p:sldId id="463" r:id="rId65"/>
    <p:sldId id="490" r:id="rId66"/>
    <p:sldId id="464" r:id="rId67"/>
    <p:sldId id="466" r:id="rId68"/>
    <p:sldId id="467" r:id="rId69"/>
    <p:sldId id="620" r:id="rId70"/>
    <p:sldId id="469" r:id="rId71"/>
    <p:sldId id="470" r:id="rId72"/>
    <p:sldId id="473" r:id="rId73"/>
    <p:sldId id="640" r:id="rId74"/>
    <p:sldId id="642" r:id="rId75"/>
    <p:sldId id="641" r:id="rId76"/>
    <p:sldId id="643" r:id="rId77"/>
    <p:sldId id="644" r:id="rId78"/>
    <p:sldId id="465" r:id="rId79"/>
    <p:sldId id="303" r:id="rId80"/>
    <p:sldId id="541" r:id="rId81"/>
    <p:sldId id="542" r:id="rId82"/>
    <p:sldId id="544" r:id="rId83"/>
    <p:sldId id="713" r:id="rId84"/>
    <p:sldId id="714" r:id="rId85"/>
    <p:sldId id="715" r:id="rId86"/>
    <p:sldId id="716" r:id="rId87"/>
    <p:sldId id="717" r:id="rId88"/>
    <p:sldId id="718" r:id="rId89"/>
    <p:sldId id="720" r:id="rId90"/>
    <p:sldId id="721" r:id="rId91"/>
    <p:sldId id="722" r:id="rId92"/>
    <p:sldId id="723" r:id="rId93"/>
    <p:sldId id="725" r:id="rId94"/>
    <p:sldId id="726" r:id="rId95"/>
    <p:sldId id="618" r:id="rId96"/>
    <p:sldId id="727" r:id="rId97"/>
    <p:sldId id="548" r:id="rId98"/>
    <p:sldId id="549" r:id="rId99"/>
    <p:sldId id="728" r:id="rId100"/>
    <p:sldId id="729" r:id="rId101"/>
    <p:sldId id="730" r:id="rId102"/>
    <p:sldId id="731" r:id="rId103"/>
    <p:sldId id="732" r:id="rId104"/>
    <p:sldId id="550" r:id="rId105"/>
    <p:sldId id="552" r:id="rId106"/>
    <p:sldId id="553" r:id="rId107"/>
    <p:sldId id="733" r:id="rId108"/>
    <p:sldId id="734" r:id="rId109"/>
    <p:sldId id="735" r:id="rId110"/>
    <p:sldId id="736" r:id="rId111"/>
    <p:sldId id="737" r:id="rId112"/>
    <p:sldId id="738" r:id="rId113"/>
    <p:sldId id="739" r:id="rId114"/>
    <p:sldId id="555" r:id="rId115"/>
    <p:sldId id="740" r:id="rId116"/>
    <p:sldId id="562" r:id="rId117"/>
    <p:sldId id="566" r:id="rId118"/>
    <p:sldId id="567" r:id="rId119"/>
    <p:sldId id="741" r:id="rId120"/>
    <p:sldId id="568" r:id="rId121"/>
    <p:sldId id="570" r:id="rId122"/>
    <p:sldId id="571" r:id="rId123"/>
    <p:sldId id="572" r:id="rId124"/>
    <p:sldId id="573" r:id="rId125"/>
    <p:sldId id="574" r:id="rId126"/>
    <p:sldId id="575" r:id="rId127"/>
    <p:sldId id="576" r:id="rId128"/>
    <p:sldId id="742" r:id="rId129"/>
    <p:sldId id="578" r:id="rId130"/>
    <p:sldId id="564" r:id="rId131"/>
    <p:sldId id="305" r:id="rId132"/>
    <p:sldId id="306" r:id="rId133"/>
    <p:sldId id="307" r:id="rId134"/>
    <p:sldId id="308" r:id="rId135"/>
    <p:sldId id="744" r:id="rId136"/>
    <p:sldId id="745" r:id="rId137"/>
    <p:sldId id="743" r:id="rId138"/>
    <p:sldId id="309" r:id="rId139"/>
    <p:sldId id="746" r:id="rId140"/>
    <p:sldId id="580" r:id="rId141"/>
    <p:sldId id="336" r:id="rId142"/>
    <p:sldId id="494" r:id="rId143"/>
    <p:sldId id="337" r:id="rId144"/>
    <p:sldId id="338" r:id="rId145"/>
    <p:sldId id="747" r:id="rId146"/>
    <p:sldId id="748" r:id="rId147"/>
    <p:sldId id="530" r:id="rId148"/>
    <p:sldId id="531" r:id="rId149"/>
    <p:sldId id="749" r:id="rId150"/>
    <p:sldId id="532" r:id="rId151"/>
    <p:sldId id="534" r:id="rId152"/>
    <p:sldId id="535" r:id="rId153"/>
    <p:sldId id="536" r:id="rId154"/>
    <p:sldId id="537" r:id="rId155"/>
    <p:sldId id="538" r:id="rId156"/>
    <p:sldId id="750" r:id="rId157"/>
    <p:sldId id="539" r:id="rId158"/>
    <p:sldId id="340" r:id="rId159"/>
    <p:sldId id="342" r:id="rId160"/>
    <p:sldId id="357" r:id="rId161"/>
    <p:sldId id="430" r:id="rId162"/>
    <p:sldId id="429" r:id="rId163"/>
    <p:sldId id="649" r:id="rId164"/>
    <p:sldId id="358" r:id="rId165"/>
    <p:sldId id="650" r:id="rId166"/>
    <p:sldId id="647" r:id="rId167"/>
    <p:sldId id="651" r:id="rId168"/>
    <p:sldId id="655" r:id="rId169"/>
    <p:sldId id="654" r:id="rId170"/>
    <p:sldId id="656" r:id="rId171"/>
    <p:sldId id="660" r:id="rId172"/>
    <p:sldId id="431" r:id="rId173"/>
    <p:sldId id="595" r:id="rId174"/>
    <p:sldId id="596" r:id="rId175"/>
    <p:sldId id="598" r:id="rId176"/>
    <p:sldId id="599" r:id="rId177"/>
    <p:sldId id="600" r:id="rId178"/>
    <p:sldId id="601" r:id="rId179"/>
    <p:sldId id="602" r:id="rId180"/>
    <p:sldId id="751" r:id="rId181"/>
    <p:sldId id="603" r:id="rId182"/>
    <p:sldId id="752" r:id="rId183"/>
    <p:sldId id="608" r:id="rId184"/>
    <p:sldId id="609" r:id="rId185"/>
    <p:sldId id="610" r:id="rId186"/>
    <p:sldId id="611" r:id="rId187"/>
    <p:sldId id="612" r:id="rId188"/>
    <p:sldId id="613" r:id="rId189"/>
    <p:sldId id="615" r:id="rId190"/>
    <p:sldId id="614" r:id="rId191"/>
    <p:sldId id="756" r:id="rId192"/>
    <p:sldId id="757" r:id="rId193"/>
    <p:sldId id="616" r:id="rId194"/>
    <p:sldId id="666" r:id="rId195"/>
    <p:sldId id="665" r:id="rId196"/>
    <p:sldId id="359" r:id="rId197"/>
    <p:sldId id="360" r:id="rId198"/>
    <p:sldId id="758" r:id="rId199"/>
    <p:sldId id="667" r:id="rId200"/>
    <p:sldId id="669" r:id="rId201"/>
    <p:sldId id="753" r:id="rId202"/>
    <p:sldId id="628" r:id="rId203"/>
    <p:sldId id="668" r:id="rId204"/>
    <p:sldId id="361" r:id="rId205"/>
    <p:sldId id="432" r:id="rId206"/>
    <p:sldId id="671" r:id="rId207"/>
    <p:sldId id="627" r:id="rId208"/>
    <p:sldId id="629" r:id="rId209"/>
    <p:sldId id="672" r:id="rId210"/>
    <p:sldId id="754" r:id="rId211"/>
    <p:sldId id="630" r:id="rId212"/>
    <p:sldId id="631" r:id="rId213"/>
    <p:sldId id="433" r:id="rId214"/>
    <p:sldId id="769" r:id="rId215"/>
    <p:sldId id="670" r:id="rId216"/>
    <p:sldId id="638" r:id="rId217"/>
    <p:sldId id="632" r:id="rId218"/>
    <p:sldId id="633" r:id="rId219"/>
    <p:sldId id="673" r:id="rId220"/>
    <p:sldId id="363" r:id="rId221"/>
    <p:sldId id="636" r:id="rId222"/>
    <p:sldId id="637" r:id="rId223"/>
    <p:sldId id="364" r:id="rId224"/>
    <p:sldId id="755" r:id="rId225"/>
    <p:sldId id="622" r:id="rId226"/>
    <p:sldId id="623" r:id="rId227"/>
    <p:sldId id="624" r:id="rId228"/>
    <p:sldId id="625" r:id="rId229"/>
    <p:sldId id="626" r:id="rId230"/>
    <p:sldId id="675" r:id="rId231"/>
    <p:sldId id="674" r:id="rId232"/>
    <p:sldId id="676" r:id="rId233"/>
    <p:sldId id="634" r:id="rId234"/>
    <p:sldId id="635" r:id="rId235"/>
    <p:sldId id="678" r:id="rId236"/>
    <p:sldId id="677" r:id="rId237"/>
    <p:sldId id="435" r:id="rId238"/>
    <p:sldId id="680" r:id="rId239"/>
    <p:sldId id="681" r:id="rId240"/>
    <p:sldId id="683" r:id="rId241"/>
    <p:sldId id="682" r:id="rId242"/>
    <p:sldId id="684" r:id="rId243"/>
    <p:sldId id="685" r:id="rId244"/>
    <p:sldId id="686" r:id="rId245"/>
    <p:sldId id="687" r:id="rId246"/>
    <p:sldId id="688" r:id="rId247"/>
    <p:sldId id="689" r:id="rId248"/>
    <p:sldId id="692" r:id="rId249"/>
    <p:sldId id="691" r:id="rId250"/>
    <p:sldId id="690" r:id="rId251"/>
    <p:sldId id="679" r:id="rId252"/>
    <p:sldId id="451" r:id="rId253"/>
    <p:sldId id="500" r:id="rId254"/>
    <p:sldId id="455" r:id="rId255"/>
    <p:sldId id="452" r:id="rId256"/>
    <p:sldId id="453" r:id="rId257"/>
    <p:sldId id="456" r:id="rId258"/>
    <p:sldId id="770" r:id="rId259"/>
    <p:sldId id="693" r:id="rId260"/>
    <p:sldId id="771" r:id="rId261"/>
    <p:sldId id="701" r:id="rId262"/>
    <p:sldId id="581" r:id="rId263"/>
    <p:sldId id="582" r:id="rId264"/>
    <p:sldId id="583" r:id="rId265"/>
    <p:sldId id="584" r:id="rId266"/>
    <p:sldId id="585" r:id="rId267"/>
    <p:sldId id="586" r:id="rId268"/>
    <p:sldId id="587" r:id="rId269"/>
    <p:sldId id="588" r:id="rId270"/>
    <p:sldId id="589" r:id="rId271"/>
    <p:sldId id="590" r:id="rId272"/>
    <p:sldId id="591" r:id="rId273"/>
    <p:sldId id="592" r:id="rId274"/>
    <p:sldId id="646" r:id="rId275"/>
    <p:sldId id="593" r:id="rId276"/>
    <p:sldId id="695" r:id="rId27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2222" autoAdjust="0"/>
    <p:restoredTop sz="94037"/>
  </p:normalViewPr>
  <p:slideViewPr>
    <p:cSldViewPr snapToGrid="0">
      <p:cViewPr varScale="1">
        <p:scale>
          <a:sx n="91" d="100"/>
          <a:sy n="91" d="100"/>
        </p:scale>
        <p:origin x="63" y="10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slide" Target="slides/slide158.xml"/><Relationship Id="rId170" Type="http://schemas.openxmlformats.org/officeDocument/2006/relationships/slide" Target="slides/slide169.xml"/><Relationship Id="rId191" Type="http://schemas.openxmlformats.org/officeDocument/2006/relationships/slide" Target="slides/slide190.xml"/><Relationship Id="rId205" Type="http://schemas.openxmlformats.org/officeDocument/2006/relationships/slide" Target="slides/slide204.xml"/><Relationship Id="rId226" Type="http://schemas.openxmlformats.org/officeDocument/2006/relationships/slide" Target="slides/slide225.xml"/><Relationship Id="rId247" Type="http://schemas.openxmlformats.org/officeDocument/2006/relationships/slide" Target="slides/slide246.xml"/><Relationship Id="rId107" Type="http://schemas.openxmlformats.org/officeDocument/2006/relationships/slide" Target="slides/slide106.xml"/><Relationship Id="rId268" Type="http://schemas.openxmlformats.org/officeDocument/2006/relationships/slide" Target="slides/slide267.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160" Type="http://schemas.openxmlformats.org/officeDocument/2006/relationships/slide" Target="slides/slide159.xml"/><Relationship Id="rId181" Type="http://schemas.openxmlformats.org/officeDocument/2006/relationships/slide" Target="slides/slide180.xml"/><Relationship Id="rId216" Type="http://schemas.openxmlformats.org/officeDocument/2006/relationships/slide" Target="slides/slide215.xml"/><Relationship Id="rId237" Type="http://schemas.openxmlformats.org/officeDocument/2006/relationships/slide" Target="slides/slide236.xml"/><Relationship Id="rId258" Type="http://schemas.openxmlformats.org/officeDocument/2006/relationships/slide" Target="slides/slide257.xml"/><Relationship Id="rId279" Type="http://schemas.openxmlformats.org/officeDocument/2006/relationships/presProps" Target="presProps.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5" Type="http://schemas.openxmlformats.org/officeDocument/2006/relationships/slide" Target="slides/slide84.xml"/><Relationship Id="rId150" Type="http://schemas.openxmlformats.org/officeDocument/2006/relationships/slide" Target="slides/slide149.xml"/><Relationship Id="rId171" Type="http://schemas.openxmlformats.org/officeDocument/2006/relationships/slide" Target="slides/slide170.xml"/><Relationship Id="rId192" Type="http://schemas.openxmlformats.org/officeDocument/2006/relationships/slide" Target="slides/slide191.xml"/><Relationship Id="rId206" Type="http://schemas.openxmlformats.org/officeDocument/2006/relationships/slide" Target="slides/slide205.xml"/><Relationship Id="rId227" Type="http://schemas.openxmlformats.org/officeDocument/2006/relationships/slide" Target="slides/slide226.xml"/><Relationship Id="rId248" Type="http://schemas.openxmlformats.org/officeDocument/2006/relationships/slide" Target="slides/slide247.xml"/><Relationship Id="rId269" Type="http://schemas.openxmlformats.org/officeDocument/2006/relationships/slide" Target="slides/slide268.xml"/><Relationship Id="rId12" Type="http://schemas.openxmlformats.org/officeDocument/2006/relationships/slide" Target="slides/slide11.xml"/><Relationship Id="rId33" Type="http://schemas.openxmlformats.org/officeDocument/2006/relationships/slide" Target="slides/slide32.xml"/><Relationship Id="rId108" Type="http://schemas.openxmlformats.org/officeDocument/2006/relationships/slide" Target="slides/slide107.xml"/><Relationship Id="rId129" Type="http://schemas.openxmlformats.org/officeDocument/2006/relationships/slide" Target="slides/slide128.xml"/><Relationship Id="rId280" Type="http://schemas.openxmlformats.org/officeDocument/2006/relationships/viewProps" Target="viewProps.xml"/><Relationship Id="rId54" Type="http://schemas.openxmlformats.org/officeDocument/2006/relationships/slide" Target="slides/slide53.xml"/><Relationship Id="rId75" Type="http://schemas.openxmlformats.org/officeDocument/2006/relationships/slide" Target="slides/slide74.xml"/><Relationship Id="rId96" Type="http://schemas.openxmlformats.org/officeDocument/2006/relationships/slide" Target="slides/slide95.xml"/><Relationship Id="rId140" Type="http://schemas.openxmlformats.org/officeDocument/2006/relationships/slide" Target="slides/slide139.xml"/><Relationship Id="rId161" Type="http://schemas.openxmlformats.org/officeDocument/2006/relationships/slide" Target="slides/slide160.xml"/><Relationship Id="rId182" Type="http://schemas.openxmlformats.org/officeDocument/2006/relationships/slide" Target="slides/slide181.xml"/><Relationship Id="rId217" Type="http://schemas.openxmlformats.org/officeDocument/2006/relationships/slide" Target="slides/slide216.xml"/><Relationship Id="rId6" Type="http://schemas.openxmlformats.org/officeDocument/2006/relationships/slide" Target="slides/slide5.xml"/><Relationship Id="rId238" Type="http://schemas.openxmlformats.org/officeDocument/2006/relationships/slide" Target="slides/slide237.xml"/><Relationship Id="rId259" Type="http://schemas.openxmlformats.org/officeDocument/2006/relationships/slide" Target="slides/slide258.xml"/><Relationship Id="rId23" Type="http://schemas.openxmlformats.org/officeDocument/2006/relationships/slide" Target="slides/slide22.xml"/><Relationship Id="rId119" Type="http://schemas.openxmlformats.org/officeDocument/2006/relationships/slide" Target="slides/slide118.xml"/><Relationship Id="rId270" Type="http://schemas.openxmlformats.org/officeDocument/2006/relationships/slide" Target="slides/slide269.xml"/><Relationship Id="rId44" Type="http://schemas.openxmlformats.org/officeDocument/2006/relationships/slide" Target="slides/slide43.xml"/><Relationship Id="rId65" Type="http://schemas.openxmlformats.org/officeDocument/2006/relationships/slide" Target="slides/slide64.xml"/><Relationship Id="rId86" Type="http://schemas.openxmlformats.org/officeDocument/2006/relationships/slide" Target="slides/slide85.xml"/><Relationship Id="rId130" Type="http://schemas.openxmlformats.org/officeDocument/2006/relationships/slide" Target="slides/slide129.xml"/><Relationship Id="rId151" Type="http://schemas.openxmlformats.org/officeDocument/2006/relationships/slide" Target="slides/slide150.xml"/><Relationship Id="rId172" Type="http://schemas.openxmlformats.org/officeDocument/2006/relationships/slide" Target="slides/slide171.xml"/><Relationship Id="rId193" Type="http://schemas.openxmlformats.org/officeDocument/2006/relationships/slide" Target="slides/slide192.xml"/><Relationship Id="rId202" Type="http://schemas.openxmlformats.org/officeDocument/2006/relationships/slide" Target="slides/slide201.xml"/><Relationship Id="rId207" Type="http://schemas.openxmlformats.org/officeDocument/2006/relationships/slide" Target="slides/slide206.xml"/><Relationship Id="rId223" Type="http://schemas.openxmlformats.org/officeDocument/2006/relationships/slide" Target="slides/slide222.xml"/><Relationship Id="rId228" Type="http://schemas.openxmlformats.org/officeDocument/2006/relationships/slide" Target="slides/slide227.xml"/><Relationship Id="rId244" Type="http://schemas.openxmlformats.org/officeDocument/2006/relationships/slide" Target="slides/slide243.xml"/><Relationship Id="rId249" Type="http://schemas.openxmlformats.org/officeDocument/2006/relationships/slide" Target="slides/slide24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260" Type="http://schemas.openxmlformats.org/officeDocument/2006/relationships/slide" Target="slides/slide259.xml"/><Relationship Id="rId265" Type="http://schemas.openxmlformats.org/officeDocument/2006/relationships/slide" Target="slides/slide264.xml"/><Relationship Id="rId281" Type="http://schemas.openxmlformats.org/officeDocument/2006/relationships/theme" Target="theme/theme1.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167" Type="http://schemas.openxmlformats.org/officeDocument/2006/relationships/slide" Target="slides/slide166.xml"/><Relationship Id="rId188" Type="http://schemas.openxmlformats.org/officeDocument/2006/relationships/slide" Target="slides/slide187.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162" Type="http://schemas.openxmlformats.org/officeDocument/2006/relationships/slide" Target="slides/slide161.xml"/><Relationship Id="rId183" Type="http://schemas.openxmlformats.org/officeDocument/2006/relationships/slide" Target="slides/slide182.xml"/><Relationship Id="rId213" Type="http://schemas.openxmlformats.org/officeDocument/2006/relationships/slide" Target="slides/slide212.xml"/><Relationship Id="rId218" Type="http://schemas.openxmlformats.org/officeDocument/2006/relationships/slide" Target="slides/slide217.xml"/><Relationship Id="rId234" Type="http://schemas.openxmlformats.org/officeDocument/2006/relationships/slide" Target="slides/slide233.xml"/><Relationship Id="rId239" Type="http://schemas.openxmlformats.org/officeDocument/2006/relationships/slide" Target="slides/slide238.xml"/><Relationship Id="rId2" Type="http://schemas.openxmlformats.org/officeDocument/2006/relationships/slide" Target="slides/slide1.xml"/><Relationship Id="rId29" Type="http://schemas.openxmlformats.org/officeDocument/2006/relationships/slide" Target="slides/slide28.xml"/><Relationship Id="rId250" Type="http://schemas.openxmlformats.org/officeDocument/2006/relationships/slide" Target="slides/slide249.xml"/><Relationship Id="rId255" Type="http://schemas.openxmlformats.org/officeDocument/2006/relationships/slide" Target="slides/slide254.xml"/><Relationship Id="rId271" Type="http://schemas.openxmlformats.org/officeDocument/2006/relationships/slide" Target="slides/slide270.xml"/><Relationship Id="rId276" Type="http://schemas.openxmlformats.org/officeDocument/2006/relationships/slide" Target="slides/slide275.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slide" Target="slides/slide156.xml"/><Relationship Id="rId178" Type="http://schemas.openxmlformats.org/officeDocument/2006/relationships/slide" Target="slides/slide177.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73" Type="http://schemas.openxmlformats.org/officeDocument/2006/relationships/slide" Target="slides/slide172.xml"/><Relationship Id="rId194" Type="http://schemas.openxmlformats.org/officeDocument/2006/relationships/slide" Target="slides/slide193.xml"/><Relationship Id="rId199" Type="http://schemas.openxmlformats.org/officeDocument/2006/relationships/slide" Target="slides/slide198.xml"/><Relationship Id="rId203" Type="http://schemas.openxmlformats.org/officeDocument/2006/relationships/slide" Target="slides/slide202.xml"/><Relationship Id="rId208" Type="http://schemas.openxmlformats.org/officeDocument/2006/relationships/slide" Target="slides/slide207.xml"/><Relationship Id="rId229" Type="http://schemas.openxmlformats.org/officeDocument/2006/relationships/slide" Target="slides/slide228.xml"/><Relationship Id="rId19" Type="http://schemas.openxmlformats.org/officeDocument/2006/relationships/slide" Target="slides/slide18.xml"/><Relationship Id="rId224" Type="http://schemas.openxmlformats.org/officeDocument/2006/relationships/slide" Target="slides/slide223.xml"/><Relationship Id="rId240" Type="http://schemas.openxmlformats.org/officeDocument/2006/relationships/slide" Target="slides/slide239.xml"/><Relationship Id="rId245" Type="http://schemas.openxmlformats.org/officeDocument/2006/relationships/slide" Target="slides/slide244.xml"/><Relationship Id="rId261" Type="http://schemas.openxmlformats.org/officeDocument/2006/relationships/slide" Target="slides/slide260.xml"/><Relationship Id="rId266" Type="http://schemas.openxmlformats.org/officeDocument/2006/relationships/slide" Target="slides/slide265.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282"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184" Type="http://schemas.openxmlformats.org/officeDocument/2006/relationships/slide" Target="slides/slide183.xml"/><Relationship Id="rId189" Type="http://schemas.openxmlformats.org/officeDocument/2006/relationships/slide" Target="slides/slide188.xml"/><Relationship Id="rId219" Type="http://schemas.openxmlformats.org/officeDocument/2006/relationships/slide" Target="slides/slide218.xml"/><Relationship Id="rId3" Type="http://schemas.openxmlformats.org/officeDocument/2006/relationships/slide" Target="slides/slide2.xml"/><Relationship Id="rId214" Type="http://schemas.openxmlformats.org/officeDocument/2006/relationships/slide" Target="slides/slide213.xml"/><Relationship Id="rId230" Type="http://schemas.openxmlformats.org/officeDocument/2006/relationships/slide" Target="slides/slide229.xml"/><Relationship Id="rId235" Type="http://schemas.openxmlformats.org/officeDocument/2006/relationships/slide" Target="slides/slide234.xml"/><Relationship Id="rId251" Type="http://schemas.openxmlformats.org/officeDocument/2006/relationships/slide" Target="slides/slide250.xml"/><Relationship Id="rId256" Type="http://schemas.openxmlformats.org/officeDocument/2006/relationships/slide" Target="slides/slide255.xml"/><Relationship Id="rId277" Type="http://schemas.openxmlformats.org/officeDocument/2006/relationships/slide" Target="slides/slide276.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72" Type="http://schemas.openxmlformats.org/officeDocument/2006/relationships/slide" Target="slides/slide271.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slide" Target="slides/slide173.xml"/><Relationship Id="rId179" Type="http://schemas.openxmlformats.org/officeDocument/2006/relationships/slide" Target="slides/slide178.xml"/><Relationship Id="rId195" Type="http://schemas.openxmlformats.org/officeDocument/2006/relationships/slide" Target="slides/slide194.xml"/><Relationship Id="rId209" Type="http://schemas.openxmlformats.org/officeDocument/2006/relationships/slide" Target="slides/slide208.xml"/><Relationship Id="rId190" Type="http://schemas.openxmlformats.org/officeDocument/2006/relationships/slide" Target="slides/slide189.xml"/><Relationship Id="rId204" Type="http://schemas.openxmlformats.org/officeDocument/2006/relationships/slide" Target="slides/slide203.xml"/><Relationship Id="rId220" Type="http://schemas.openxmlformats.org/officeDocument/2006/relationships/slide" Target="slides/slide219.xml"/><Relationship Id="rId225" Type="http://schemas.openxmlformats.org/officeDocument/2006/relationships/slide" Target="slides/slide224.xml"/><Relationship Id="rId241" Type="http://schemas.openxmlformats.org/officeDocument/2006/relationships/slide" Target="slides/slide240.xml"/><Relationship Id="rId246" Type="http://schemas.openxmlformats.org/officeDocument/2006/relationships/slide" Target="slides/slide245.xml"/><Relationship Id="rId267" Type="http://schemas.openxmlformats.org/officeDocument/2006/relationships/slide" Target="slides/slide266.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262" Type="http://schemas.openxmlformats.org/officeDocument/2006/relationships/slide" Target="slides/slide261.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164" Type="http://schemas.openxmlformats.org/officeDocument/2006/relationships/slide" Target="slides/slide163.xml"/><Relationship Id="rId169" Type="http://schemas.openxmlformats.org/officeDocument/2006/relationships/slide" Target="slides/slide168.xml"/><Relationship Id="rId185" Type="http://schemas.openxmlformats.org/officeDocument/2006/relationships/slide" Target="slides/slide184.xml"/><Relationship Id="rId4" Type="http://schemas.openxmlformats.org/officeDocument/2006/relationships/slide" Target="slides/slide3.xml"/><Relationship Id="rId9" Type="http://schemas.openxmlformats.org/officeDocument/2006/relationships/slide" Target="slides/slide8.xml"/><Relationship Id="rId180" Type="http://schemas.openxmlformats.org/officeDocument/2006/relationships/slide" Target="slides/slide179.xml"/><Relationship Id="rId210" Type="http://schemas.openxmlformats.org/officeDocument/2006/relationships/slide" Target="slides/slide209.xml"/><Relationship Id="rId215" Type="http://schemas.openxmlformats.org/officeDocument/2006/relationships/slide" Target="slides/slide214.xml"/><Relationship Id="rId236" Type="http://schemas.openxmlformats.org/officeDocument/2006/relationships/slide" Target="slides/slide235.xml"/><Relationship Id="rId257" Type="http://schemas.openxmlformats.org/officeDocument/2006/relationships/slide" Target="slides/slide256.xml"/><Relationship Id="rId278" Type="http://schemas.openxmlformats.org/officeDocument/2006/relationships/notesMaster" Target="notesMasters/notesMaster1.xml"/><Relationship Id="rId26" Type="http://schemas.openxmlformats.org/officeDocument/2006/relationships/slide" Target="slides/slide25.xml"/><Relationship Id="rId231" Type="http://schemas.openxmlformats.org/officeDocument/2006/relationships/slide" Target="slides/slide230.xml"/><Relationship Id="rId252" Type="http://schemas.openxmlformats.org/officeDocument/2006/relationships/slide" Target="slides/slide251.xml"/><Relationship Id="rId273" Type="http://schemas.openxmlformats.org/officeDocument/2006/relationships/slide" Target="slides/slide272.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75" Type="http://schemas.openxmlformats.org/officeDocument/2006/relationships/slide" Target="slides/slide174.xml"/><Relationship Id="rId196" Type="http://schemas.openxmlformats.org/officeDocument/2006/relationships/slide" Target="slides/slide195.xml"/><Relationship Id="rId200" Type="http://schemas.openxmlformats.org/officeDocument/2006/relationships/slide" Target="slides/slide199.xml"/><Relationship Id="rId16" Type="http://schemas.openxmlformats.org/officeDocument/2006/relationships/slide" Target="slides/slide15.xml"/><Relationship Id="rId221" Type="http://schemas.openxmlformats.org/officeDocument/2006/relationships/slide" Target="slides/slide220.xml"/><Relationship Id="rId242" Type="http://schemas.openxmlformats.org/officeDocument/2006/relationships/slide" Target="slides/slide241.xml"/><Relationship Id="rId263" Type="http://schemas.openxmlformats.org/officeDocument/2006/relationships/slide" Target="slides/slide262.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165" Type="http://schemas.openxmlformats.org/officeDocument/2006/relationships/slide" Target="slides/slide164.xml"/><Relationship Id="rId186" Type="http://schemas.openxmlformats.org/officeDocument/2006/relationships/slide" Target="slides/slide185.xml"/><Relationship Id="rId211" Type="http://schemas.openxmlformats.org/officeDocument/2006/relationships/slide" Target="slides/slide210.xml"/><Relationship Id="rId232" Type="http://schemas.openxmlformats.org/officeDocument/2006/relationships/slide" Target="slides/slide231.xml"/><Relationship Id="rId253" Type="http://schemas.openxmlformats.org/officeDocument/2006/relationships/slide" Target="slides/slide252.xml"/><Relationship Id="rId274" Type="http://schemas.openxmlformats.org/officeDocument/2006/relationships/slide" Target="slides/slide273.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slide" Target="slides/slide154.xml"/><Relationship Id="rId176" Type="http://schemas.openxmlformats.org/officeDocument/2006/relationships/slide" Target="slides/slide175.xml"/><Relationship Id="rId197" Type="http://schemas.openxmlformats.org/officeDocument/2006/relationships/slide" Target="slides/slide196.xml"/><Relationship Id="rId201" Type="http://schemas.openxmlformats.org/officeDocument/2006/relationships/slide" Target="slides/slide200.xml"/><Relationship Id="rId222" Type="http://schemas.openxmlformats.org/officeDocument/2006/relationships/slide" Target="slides/slide221.xml"/><Relationship Id="rId243" Type="http://schemas.openxmlformats.org/officeDocument/2006/relationships/slide" Target="slides/slide242.xml"/><Relationship Id="rId264" Type="http://schemas.openxmlformats.org/officeDocument/2006/relationships/slide" Target="slides/slide263.xml"/><Relationship Id="rId17" Type="http://schemas.openxmlformats.org/officeDocument/2006/relationships/slide" Target="slides/slide16.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24" Type="http://schemas.openxmlformats.org/officeDocument/2006/relationships/slide" Target="slides/slide123.xml"/><Relationship Id="rId70" Type="http://schemas.openxmlformats.org/officeDocument/2006/relationships/slide" Target="slides/slide69.xml"/><Relationship Id="rId91" Type="http://schemas.openxmlformats.org/officeDocument/2006/relationships/slide" Target="slides/slide90.xml"/><Relationship Id="rId145" Type="http://schemas.openxmlformats.org/officeDocument/2006/relationships/slide" Target="slides/slide144.xml"/><Relationship Id="rId166" Type="http://schemas.openxmlformats.org/officeDocument/2006/relationships/slide" Target="slides/slide165.xml"/><Relationship Id="rId187" Type="http://schemas.openxmlformats.org/officeDocument/2006/relationships/slide" Target="slides/slide186.xml"/><Relationship Id="rId1" Type="http://schemas.openxmlformats.org/officeDocument/2006/relationships/slideMaster" Target="slideMasters/slideMaster1.xml"/><Relationship Id="rId212" Type="http://schemas.openxmlformats.org/officeDocument/2006/relationships/slide" Target="slides/slide211.xml"/><Relationship Id="rId233" Type="http://schemas.openxmlformats.org/officeDocument/2006/relationships/slide" Target="slides/slide232.xml"/><Relationship Id="rId254" Type="http://schemas.openxmlformats.org/officeDocument/2006/relationships/slide" Target="slides/slide253.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275" Type="http://schemas.openxmlformats.org/officeDocument/2006/relationships/slide" Target="slides/slide274.xml"/><Relationship Id="rId60" Type="http://schemas.openxmlformats.org/officeDocument/2006/relationships/slide" Target="slides/slide59.xml"/><Relationship Id="rId81" Type="http://schemas.openxmlformats.org/officeDocument/2006/relationships/slide" Target="slides/slide80.xml"/><Relationship Id="rId135" Type="http://schemas.openxmlformats.org/officeDocument/2006/relationships/slide" Target="slides/slide134.xml"/><Relationship Id="rId156" Type="http://schemas.openxmlformats.org/officeDocument/2006/relationships/slide" Target="slides/slide155.xml"/><Relationship Id="rId177" Type="http://schemas.openxmlformats.org/officeDocument/2006/relationships/slide" Target="slides/slide176.xml"/><Relationship Id="rId198" Type="http://schemas.openxmlformats.org/officeDocument/2006/relationships/slide" Target="slides/slide197.xml"/></Relationships>
</file>

<file path=ppt/diagrams/_rels/data1.xml.rels><?xml version="1.0" encoding="UTF-8" standalone="yes"?>
<Relationships xmlns="http://schemas.openxmlformats.org/package/2006/relationships"><Relationship Id="rId8" Type="http://schemas.openxmlformats.org/officeDocument/2006/relationships/image" Target="../media/image41.svg"/><Relationship Id="rId3" Type="http://schemas.openxmlformats.org/officeDocument/2006/relationships/image" Target="../media/image36.png"/><Relationship Id="rId7" Type="http://schemas.openxmlformats.org/officeDocument/2006/relationships/image" Target="../media/image40.png"/><Relationship Id="rId2" Type="http://schemas.openxmlformats.org/officeDocument/2006/relationships/image" Target="../media/image35.svg"/><Relationship Id="rId1" Type="http://schemas.openxmlformats.org/officeDocument/2006/relationships/image" Target="../media/image34.png"/><Relationship Id="rId6" Type="http://schemas.openxmlformats.org/officeDocument/2006/relationships/image" Target="../media/image39.svg"/><Relationship Id="rId5" Type="http://schemas.openxmlformats.org/officeDocument/2006/relationships/image" Target="../media/image38.png"/><Relationship Id="rId4" Type="http://schemas.openxmlformats.org/officeDocument/2006/relationships/image" Target="../media/image37.svg"/></Relationships>
</file>

<file path=ppt/diagrams/_rels/data2.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svg"/><Relationship Id="rId1" Type="http://schemas.openxmlformats.org/officeDocument/2006/relationships/image" Target="../media/image42.png"/><Relationship Id="rId6" Type="http://schemas.openxmlformats.org/officeDocument/2006/relationships/image" Target="../media/image47.svg"/><Relationship Id="rId5" Type="http://schemas.openxmlformats.org/officeDocument/2006/relationships/image" Target="../media/image46.png"/><Relationship Id="rId4" Type="http://schemas.openxmlformats.org/officeDocument/2006/relationships/image" Target="../media/image45.svg"/></Relationships>
</file>

<file path=ppt/diagrams/_rels/drawing1.xml.rels><?xml version="1.0" encoding="UTF-8" standalone="yes"?>
<Relationships xmlns="http://schemas.openxmlformats.org/package/2006/relationships"><Relationship Id="rId8" Type="http://schemas.openxmlformats.org/officeDocument/2006/relationships/image" Target="../media/image41.svg"/><Relationship Id="rId3" Type="http://schemas.openxmlformats.org/officeDocument/2006/relationships/image" Target="../media/image36.png"/><Relationship Id="rId7" Type="http://schemas.openxmlformats.org/officeDocument/2006/relationships/image" Target="../media/image40.png"/><Relationship Id="rId2" Type="http://schemas.openxmlformats.org/officeDocument/2006/relationships/image" Target="../media/image35.svg"/><Relationship Id="rId1" Type="http://schemas.openxmlformats.org/officeDocument/2006/relationships/image" Target="../media/image34.png"/><Relationship Id="rId6" Type="http://schemas.openxmlformats.org/officeDocument/2006/relationships/image" Target="../media/image39.svg"/><Relationship Id="rId5" Type="http://schemas.openxmlformats.org/officeDocument/2006/relationships/image" Target="../media/image38.png"/><Relationship Id="rId4" Type="http://schemas.openxmlformats.org/officeDocument/2006/relationships/image" Target="../media/image37.svg"/></Relationships>
</file>

<file path=ppt/diagrams/_rels/drawing2.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svg"/><Relationship Id="rId1" Type="http://schemas.openxmlformats.org/officeDocument/2006/relationships/image" Target="../media/image42.png"/><Relationship Id="rId6" Type="http://schemas.openxmlformats.org/officeDocument/2006/relationships/image" Target="../media/image47.svg"/><Relationship Id="rId5" Type="http://schemas.openxmlformats.org/officeDocument/2006/relationships/image" Target="../media/image46.png"/><Relationship Id="rId4" Type="http://schemas.openxmlformats.org/officeDocument/2006/relationships/image" Target="../media/image45.svg"/></Relationships>
</file>

<file path=ppt/diagrams/colors1.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49BF5CA-9433-4916-A5B7-159067171DE9}"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EAA08F21-D039-45CC-8120-4559E26674B4}">
      <dgm:prSet/>
      <dgm:spPr/>
      <dgm:t>
        <a:bodyPr/>
        <a:lstStyle/>
        <a:p>
          <a:pPr>
            <a:lnSpc>
              <a:spcPct val="100000"/>
            </a:lnSpc>
          </a:pPr>
          <a:r>
            <a:rPr lang="en-US" dirty="0"/>
            <a:t>Choice of health professionals. (doctor, surgeons </a:t>
          </a:r>
          <a:r>
            <a:rPr lang="en-US" dirty="0" err="1"/>
            <a:t>etc</a:t>
          </a:r>
          <a:r>
            <a:rPr lang="en-US" dirty="0"/>
            <a:t>)</a:t>
          </a:r>
        </a:p>
      </dgm:t>
    </dgm:pt>
    <dgm:pt modelId="{D1CBE23E-EA76-4F87-962F-15912738813D}" type="parTrans" cxnId="{2A3B0DD4-395E-4E58-B878-8A9BDCDD7DD3}">
      <dgm:prSet/>
      <dgm:spPr/>
      <dgm:t>
        <a:bodyPr/>
        <a:lstStyle/>
        <a:p>
          <a:endParaRPr lang="en-US"/>
        </a:p>
      </dgm:t>
    </dgm:pt>
    <dgm:pt modelId="{72AE208C-F6D3-488B-B77F-2334A7D4F4AA}" type="sibTrans" cxnId="{2A3B0DD4-395E-4E58-B878-8A9BDCDD7DD3}">
      <dgm:prSet/>
      <dgm:spPr/>
      <dgm:t>
        <a:bodyPr/>
        <a:lstStyle/>
        <a:p>
          <a:endParaRPr lang="en-US"/>
        </a:p>
      </dgm:t>
    </dgm:pt>
    <dgm:pt modelId="{3B093592-4AE8-4C1A-B9EB-CBE9341147C0}">
      <dgm:prSet/>
      <dgm:spPr/>
      <dgm:t>
        <a:bodyPr/>
        <a:lstStyle/>
        <a:p>
          <a:pPr>
            <a:lnSpc>
              <a:spcPct val="100000"/>
            </a:lnSpc>
          </a:pPr>
          <a:r>
            <a:rPr lang="en-US"/>
            <a:t>Can get cover for many services that are not covered by medicare</a:t>
          </a:r>
        </a:p>
      </dgm:t>
    </dgm:pt>
    <dgm:pt modelId="{E039D53E-B1CE-48A7-8339-FA7ABB1577CC}" type="parTrans" cxnId="{09748958-90E6-4656-B0AC-7C05B3D93DFF}">
      <dgm:prSet/>
      <dgm:spPr/>
      <dgm:t>
        <a:bodyPr/>
        <a:lstStyle/>
        <a:p>
          <a:endParaRPr lang="en-US"/>
        </a:p>
      </dgm:t>
    </dgm:pt>
    <dgm:pt modelId="{8DB871E9-53B0-4554-A51D-1AF756423A54}" type="sibTrans" cxnId="{09748958-90E6-4656-B0AC-7C05B3D93DFF}">
      <dgm:prSet/>
      <dgm:spPr/>
      <dgm:t>
        <a:bodyPr/>
        <a:lstStyle/>
        <a:p>
          <a:endParaRPr lang="en-US"/>
        </a:p>
      </dgm:t>
    </dgm:pt>
    <dgm:pt modelId="{301BD8A8-C3D0-41DC-A4F1-2DA9AFAC7873}">
      <dgm:prSet/>
      <dgm:spPr/>
      <dgm:t>
        <a:bodyPr/>
        <a:lstStyle/>
        <a:p>
          <a:pPr>
            <a:lnSpc>
              <a:spcPct val="100000"/>
            </a:lnSpc>
          </a:pPr>
          <a:r>
            <a:rPr lang="en-US" dirty="0"/>
            <a:t>Shorter waiting times (</a:t>
          </a:r>
          <a:r>
            <a:rPr lang="en-US" dirty="0" err="1"/>
            <a:t>ie</a:t>
          </a:r>
          <a:r>
            <a:rPr lang="en-US" dirty="0"/>
            <a:t> surgery)</a:t>
          </a:r>
        </a:p>
      </dgm:t>
    </dgm:pt>
    <dgm:pt modelId="{7DC7848B-13C0-4912-88F3-3477ED15E56C}" type="parTrans" cxnId="{8EE84351-A4FE-478A-AEB2-6E9C3FD703C0}">
      <dgm:prSet/>
      <dgm:spPr/>
      <dgm:t>
        <a:bodyPr/>
        <a:lstStyle/>
        <a:p>
          <a:endParaRPr lang="en-US"/>
        </a:p>
      </dgm:t>
    </dgm:pt>
    <dgm:pt modelId="{7DCC876F-6C0C-40C3-AC80-4B4CBF4B7689}" type="sibTrans" cxnId="{8EE84351-A4FE-478A-AEB2-6E9C3FD703C0}">
      <dgm:prSet/>
      <dgm:spPr/>
      <dgm:t>
        <a:bodyPr/>
        <a:lstStyle/>
        <a:p>
          <a:endParaRPr lang="en-US"/>
        </a:p>
      </dgm:t>
    </dgm:pt>
    <dgm:pt modelId="{45E34946-A932-4627-985D-02F994CDEBF5}">
      <dgm:prSet/>
      <dgm:spPr/>
      <dgm:t>
        <a:bodyPr/>
        <a:lstStyle/>
        <a:p>
          <a:pPr>
            <a:lnSpc>
              <a:spcPct val="100000"/>
            </a:lnSpc>
          </a:pPr>
          <a:r>
            <a:rPr lang="en-US" dirty="0"/>
            <a:t>It gives peace of mind that expensive health issues won’t send you bankrupt</a:t>
          </a:r>
        </a:p>
      </dgm:t>
    </dgm:pt>
    <dgm:pt modelId="{46B681F5-1B54-477E-AF9B-B12EB22342FE}" type="parTrans" cxnId="{B5938C0A-B482-41E5-B3DB-629EAEE2DDB6}">
      <dgm:prSet/>
      <dgm:spPr/>
      <dgm:t>
        <a:bodyPr/>
        <a:lstStyle/>
        <a:p>
          <a:endParaRPr lang="en-AU"/>
        </a:p>
      </dgm:t>
    </dgm:pt>
    <dgm:pt modelId="{421F8F14-2318-43DF-A725-8559C2007089}" type="sibTrans" cxnId="{B5938C0A-B482-41E5-B3DB-629EAEE2DDB6}">
      <dgm:prSet/>
      <dgm:spPr/>
      <dgm:t>
        <a:bodyPr/>
        <a:lstStyle/>
        <a:p>
          <a:endParaRPr lang="en-AU"/>
        </a:p>
      </dgm:t>
    </dgm:pt>
    <dgm:pt modelId="{AC9312E4-D04C-4CA5-92C2-82389C4AB56C}" type="pres">
      <dgm:prSet presAssocID="{C49BF5CA-9433-4916-A5B7-159067171DE9}" presName="root" presStyleCnt="0">
        <dgm:presLayoutVars>
          <dgm:dir/>
          <dgm:resizeHandles val="exact"/>
        </dgm:presLayoutVars>
      </dgm:prSet>
      <dgm:spPr/>
    </dgm:pt>
    <dgm:pt modelId="{84FA60C0-B582-4D1A-8FF7-DABD00F23E92}" type="pres">
      <dgm:prSet presAssocID="{EAA08F21-D039-45CC-8120-4559E26674B4}" presName="compNode" presStyleCnt="0"/>
      <dgm:spPr/>
    </dgm:pt>
    <dgm:pt modelId="{8C1569A0-0957-49A3-ABE1-9654454D1722}" type="pres">
      <dgm:prSet presAssocID="{EAA08F21-D039-45CC-8120-4559E26674B4}" presName="bgRect" presStyleLbl="bgShp" presStyleIdx="0" presStyleCnt="4"/>
      <dgm:spPr/>
    </dgm:pt>
    <dgm:pt modelId="{D39A1AB7-008F-4B2D-A477-DCB1ED1C2AEA}" type="pres">
      <dgm:prSet presAssocID="{EAA08F21-D039-45CC-8120-4559E26674B4}"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Stethoscope"/>
        </a:ext>
      </dgm:extLst>
    </dgm:pt>
    <dgm:pt modelId="{FB375491-A31D-486C-ACD0-E40A5668C7D4}" type="pres">
      <dgm:prSet presAssocID="{EAA08F21-D039-45CC-8120-4559E26674B4}" presName="spaceRect" presStyleCnt="0"/>
      <dgm:spPr/>
    </dgm:pt>
    <dgm:pt modelId="{940C1878-8F81-4741-B328-189FA4898128}" type="pres">
      <dgm:prSet presAssocID="{EAA08F21-D039-45CC-8120-4559E26674B4}" presName="parTx" presStyleLbl="revTx" presStyleIdx="0" presStyleCnt="4">
        <dgm:presLayoutVars>
          <dgm:chMax val="0"/>
          <dgm:chPref val="0"/>
        </dgm:presLayoutVars>
      </dgm:prSet>
      <dgm:spPr/>
    </dgm:pt>
    <dgm:pt modelId="{CD14A911-FB2F-49A8-B671-A1015243DEA9}" type="pres">
      <dgm:prSet presAssocID="{72AE208C-F6D3-488B-B77F-2334A7D4F4AA}" presName="sibTrans" presStyleCnt="0"/>
      <dgm:spPr/>
    </dgm:pt>
    <dgm:pt modelId="{4971C32A-935F-4F38-A826-9A05C4201EE3}" type="pres">
      <dgm:prSet presAssocID="{3B093592-4AE8-4C1A-B9EB-CBE9341147C0}" presName="compNode" presStyleCnt="0"/>
      <dgm:spPr/>
    </dgm:pt>
    <dgm:pt modelId="{BDD4915C-2628-450E-BDE2-F815BDC5637C}" type="pres">
      <dgm:prSet presAssocID="{3B093592-4AE8-4C1A-B9EB-CBE9341147C0}" presName="bgRect" presStyleLbl="bgShp" presStyleIdx="1" presStyleCnt="4"/>
      <dgm:spPr/>
    </dgm:pt>
    <dgm:pt modelId="{5FD5A4BF-6FF0-4BF4-A1DE-3848F69C4663}" type="pres">
      <dgm:prSet presAssocID="{3B093592-4AE8-4C1A-B9EB-CBE9341147C0}"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Medical"/>
        </a:ext>
      </dgm:extLst>
    </dgm:pt>
    <dgm:pt modelId="{34D02EBC-76CC-40BF-839E-B0CD07D7F10C}" type="pres">
      <dgm:prSet presAssocID="{3B093592-4AE8-4C1A-B9EB-CBE9341147C0}" presName="spaceRect" presStyleCnt="0"/>
      <dgm:spPr/>
    </dgm:pt>
    <dgm:pt modelId="{716525C0-FF86-419F-976D-CCF0BA09DBF5}" type="pres">
      <dgm:prSet presAssocID="{3B093592-4AE8-4C1A-B9EB-CBE9341147C0}" presName="parTx" presStyleLbl="revTx" presStyleIdx="1" presStyleCnt="4">
        <dgm:presLayoutVars>
          <dgm:chMax val="0"/>
          <dgm:chPref val="0"/>
        </dgm:presLayoutVars>
      </dgm:prSet>
      <dgm:spPr/>
    </dgm:pt>
    <dgm:pt modelId="{D6FED915-CF33-4F18-BF94-1C50E400F4F6}" type="pres">
      <dgm:prSet presAssocID="{8DB871E9-53B0-4554-A51D-1AF756423A54}" presName="sibTrans" presStyleCnt="0"/>
      <dgm:spPr/>
    </dgm:pt>
    <dgm:pt modelId="{5D135081-B9B9-4D2D-A545-6A55A7E0D1A0}" type="pres">
      <dgm:prSet presAssocID="{301BD8A8-C3D0-41DC-A4F1-2DA9AFAC7873}" presName="compNode" presStyleCnt="0"/>
      <dgm:spPr/>
    </dgm:pt>
    <dgm:pt modelId="{C4B56E14-BE2F-4B80-9C2F-E11DD41CF01A}" type="pres">
      <dgm:prSet presAssocID="{301BD8A8-C3D0-41DC-A4F1-2DA9AFAC7873}" presName="bgRect" presStyleLbl="bgShp" presStyleIdx="2" presStyleCnt="4"/>
      <dgm:spPr/>
    </dgm:pt>
    <dgm:pt modelId="{5B7982B6-3548-4DB5-9F57-6322239EBF42}" type="pres">
      <dgm:prSet presAssocID="{301BD8A8-C3D0-41DC-A4F1-2DA9AFAC7873}"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Stopwatch"/>
        </a:ext>
      </dgm:extLst>
    </dgm:pt>
    <dgm:pt modelId="{83592A7D-6D02-44CD-B429-FCEDE4AE1BB6}" type="pres">
      <dgm:prSet presAssocID="{301BD8A8-C3D0-41DC-A4F1-2DA9AFAC7873}" presName="spaceRect" presStyleCnt="0"/>
      <dgm:spPr/>
    </dgm:pt>
    <dgm:pt modelId="{D6A6EFD7-0E04-42EF-A94C-705CBF76B278}" type="pres">
      <dgm:prSet presAssocID="{301BD8A8-C3D0-41DC-A4F1-2DA9AFAC7873}" presName="parTx" presStyleLbl="revTx" presStyleIdx="2" presStyleCnt="4">
        <dgm:presLayoutVars>
          <dgm:chMax val="0"/>
          <dgm:chPref val="0"/>
        </dgm:presLayoutVars>
      </dgm:prSet>
      <dgm:spPr/>
    </dgm:pt>
    <dgm:pt modelId="{710B109F-8F62-458C-96A3-EDC8BD5B4F89}" type="pres">
      <dgm:prSet presAssocID="{7DCC876F-6C0C-40C3-AC80-4B4CBF4B7689}" presName="sibTrans" presStyleCnt="0"/>
      <dgm:spPr/>
    </dgm:pt>
    <dgm:pt modelId="{0C6CBA40-7325-4D3D-B134-EB9F3EDECFBB}" type="pres">
      <dgm:prSet presAssocID="{45E34946-A932-4627-985D-02F994CDEBF5}" presName="compNode" presStyleCnt="0"/>
      <dgm:spPr/>
    </dgm:pt>
    <dgm:pt modelId="{A48DC4F0-BA57-4B45-A66B-5B707C1600F9}" type="pres">
      <dgm:prSet presAssocID="{45E34946-A932-4627-985D-02F994CDEBF5}" presName="bgRect" presStyleLbl="bgShp" presStyleIdx="3" presStyleCnt="4"/>
      <dgm:spPr/>
    </dgm:pt>
    <dgm:pt modelId="{F81E7269-4E16-4A06-8A45-DBC97F82C762}" type="pres">
      <dgm:prSet presAssocID="{45E34946-A932-4627-985D-02F994CDEBF5}"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rcRect/>
          <a:stretch>
            <a:fillRect/>
          </a:stretch>
        </a:blipFill>
      </dgm:spPr>
      <dgm:extLst>
        <a:ext uri="{E40237B7-FDA0-4F09-8148-C483321AD2D9}">
          <dgm14:cNvPr xmlns:dgm14="http://schemas.microsoft.com/office/drawing/2010/diagram" id="0" name="" descr="Eye"/>
        </a:ext>
      </dgm:extLst>
    </dgm:pt>
    <dgm:pt modelId="{A8FE8CB8-7D5E-469E-AEA8-98473D331C84}" type="pres">
      <dgm:prSet presAssocID="{45E34946-A932-4627-985D-02F994CDEBF5}" presName="spaceRect" presStyleCnt="0"/>
      <dgm:spPr/>
    </dgm:pt>
    <dgm:pt modelId="{D8125FFA-10E8-41D1-95EE-45736EF064F5}" type="pres">
      <dgm:prSet presAssocID="{45E34946-A932-4627-985D-02F994CDEBF5}" presName="parTx" presStyleLbl="revTx" presStyleIdx="3" presStyleCnt="4">
        <dgm:presLayoutVars>
          <dgm:chMax val="0"/>
          <dgm:chPref val="0"/>
        </dgm:presLayoutVars>
      </dgm:prSet>
      <dgm:spPr/>
    </dgm:pt>
  </dgm:ptLst>
  <dgm:cxnLst>
    <dgm:cxn modelId="{B5938C0A-B482-41E5-B3DB-629EAEE2DDB6}" srcId="{C49BF5CA-9433-4916-A5B7-159067171DE9}" destId="{45E34946-A932-4627-985D-02F994CDEBF5}" srcOrd="3" destOrd="0" parTransId="{46B681F5-1B54-477E-AF9B-B12EB22342FE}" sibTransId="{421F8F14-2318-43DF-A725-8559C2007089}"/>
    <dgm:cxn modelId="{1A70C035-61AF-40AC-903E-E134A42FC34F}" type="presOf" srcId="{45E34946-A932-4627-985D-02F994CDEBF5}" destId="{D8125FFA-10E8-41D1-95EE-45736EF064F5}" srcOrd="0" destOrd="0" presId="urn:microsoft.com/office/officeart/2018/2/layout/IconVerticalSolidList"/>
    <dgm:cxn modelId="{2A21AD48-3316-4341-AFDB-BA42364B662C}" type="presOf" srcId="{C49BF5CA-9433-4916-A5B7-159067171DE9}" destId="{AC9312E4-D04C-4CA5-92C2-82389C4AB56C}" srcOrd="0" destOrd="0" presId="urn:microsoft.com/office/officeart/2018/2/layout/IconVerticalSolidList"/>
    <dgm:cxn modelId="{B2CBF069-10F4-424E-ADD6-7E7DBEF30D9D}" type="presOf" srcId="{EAA08F21-D039-45CC-8120-4559E26674B4}" destId="{940C1878-8F81-4741-B328-189FA4898128}" srcOrd="0" destOrd="0" presId="urn:microsoft.com/office/officeart/2018/2/layout/IconVerticalSolidList"/>
    <dgm:cxn modelId="{8EE84351-A4FE-478A-AEB2-6E9C3FD703C0}" srcId="{C49BF5CA-9433-4916-A5B7-159067171DE9}" destId="{301BD8A8-C3D0-41DC-A4F1-2DA9AFAC7873}" srcOrd="2" destOrd="0" parTransId="{7DC7848B-13C0-4912-88F3-3477ED15E56C}" sibTransId="{7DCC876F-6C0C-40C3-AC80-4B4CBF4B7689}"/>
    <dgm:cxn modelId="{09748958-90E6-4656-B0AC-7C05B3D93DFF}" srcId="{C49BF5CA-9433-4916-A5B7-159067171DE9}" destId="{3B093592-4AE8-4C1A-B9EB-CBE9341147C0}" srcOrd="1" destOrd="0" parTransId="{E039D53E-B1CE-48A7-8339-FA7ABB1577CC}" sibTransId="{8DB871E9-53B0-4554-A51D-1AF756423A54}"/>
    <dgm:cxn modelId="{C13A585A-8930-45FE-B8D6-6481B19EC065}" type="presOf" srcId="{301BD8A8-C3D0-41DC-A4F1-2DA9AFAC7873}" destId="{D6A6EFD7-0E04-42EF-A94C-705CBF76B278}" srcOrd="0" destOrd="0" presId="urn:microsoft.com/office/officeart/2018/2/layout/IconVerticalSolidList"/>
    <dgm:cxn modelId="{DC7694A2-32E8-447E-ACBE-B9B47AB95301}" type="presOf" srcId="{3B093592-4AE8-4C1A-B9EB-CBE9341147C0}" destId="{716525C0-FF86-419F-976D-CCF0BA09DBF5}" srcOrd="0" destOrd="0" presId="urn:microsoft.com/office/officeart/2018/2/layout/IconVerticalSolidList"/>
    <dgm:cxn modelId="{2A3B0DD4-395E-4E58-B878-8A9BDCDD7DD3}" srcId="{C49BF5CA-9433-4916-A5B7-159067171DE9}" destId="{EAA08F21-D039-45CC-8120-4559E26674B4}" srcOrd="0" destOrd="0" parTransId="{D1CBE23E-EA76-4F87-962F-15912738813D}" sibTransId="{72AE208C-F6D3-488B-B77F-2334A7D4F4AA}"/>
    <dgm:cxn modelId="{B0BC4227-CAB5-421A-A25D-FB26D1DC7101}" type="presParOf" srcId="{AC9312E4-D04C-4CA5-92C2-82389C4AB56C}" destId="{84FA60C0-B582-4D1A-8FF7-DABD00F23E92}" srcOrd="0" destOrd="0" presId="urn:microsoft.com/office/officeart/2018/2/layout/IconVerticalSolidList"/>
    <dgm:cxn modelId="{8D1B1CAF-0914-4276-9211-01340C9624FC}" type="presParOf" srcId="{84FA60C0-B582-4D1A-8FF7-DABD00F23E92}" destId="{8C1569A0-0957-49A3-ABE1-9654454D1722}" srcOrd="0" destOrd="0" presId="urn:microsoft.com/office/officeart/2018/2/layout/IconVerticalSolidList"/>
    <dgm:cxn modelId="{8F2950ED-E06B-46B0-AA4F-407CD92AE870}" type="presParOf" srcId="{84FA60C0-B582-4D1A-8FF7-DABD00F23E92}" destId="{D39A1AB7-008F-4B2D-A477-DCB1ED1C2AEA}" srcOrd="1" destOrd="0" presId="urn:microsoft.com/office/officeart/2018/2/layout/IconVerticalSolidList"/>
    <dgm:cxn modelId="{A681ECC1-0459-41AF-8551-73BA113D3ADF}" type="presParOf" srcId="{84FA60C0-B582-4D1A-8FF7-DABD00F23E92}" destId="{FB375491-A31D-486C-ACD0-E40A5668C7D4}" srcOrd="2" destOrd="0" presId="urn:microsoft.com/office/officeart/2018/2/layout/IconVerticalSolidList"/>
    <dgm:cxn modelId="{9BC34B93-ADFB-43F0-A583-310F242D28B2}" type="presParOf" srcId="{84FA60C0-B582-4D1A-8FF7-DABD00F23E92}" destId="{940C1878-8F81-4741-B328-189FA4898128}" srcOrd="3" destOrd="0" presId="urn:microsoft.com/office/officeart/2018/2/layout/IconVerticalSolidList"/>
    <dgm:cxn modelId="{4B4C52DE-2CAB-4C9D-845F-23BA4EEABB99}" type="presParOf" srcId="{AC9312E4-D04C-4CA5-92C2-82389C4AB56C}" destId="{CD14A911-FB2F-49A8-B671-A1015243DEA9}" srcOrd="1" destOrd="0" presId="urn:microsoft.com/office/officeart/2018/2/layout/IconVerticalSolidList"/>
    <dgm:cxn modelId="{A62ADBEB-A695-4475-96D9-67D8F20A2F8A}" type="presParOf" srcId="{AC9312E4-D04C-4CA5-92C2-82389C4AB56C}" destId="{4971C32A-935F-4F38-A826-9A05C4201EE3}" srcOrd="2" destOrd="0" presId="urn:microsoft.com/office/officeart/2018/2/layout/IconVerticalSolidList"/>
    <dgm:cxn modelId="{96909F2F-DBF9-4A9D-9E03-2A51195C2DE7}" type="presParOf" srcId="{4971C32A-935F-4F38-A826-9A05C4201EE3}" destId="{BDD4915C-2628-450E-BDE2-F815BDC5637C}" srcOrd="0" destOrd="0" presId="urn:microsoft.com/office/officeart/2018/2/layout/IconVerticalSolidList"/>
    <dgm:cxn modelId="{9A23A4B0-9680-452B-91AF-5DCA1787198B}" type="presParOf" srcId="{4971C32A-935F-4F38-A826-9A05C4201EE3}" destId="{5FD5A4BF-6FF0-4BF4-A1DE-3848F69C4663}" srcOrd="1" destOrd="0" presId="urn:microsoft.com/office/officeart/2018/2/layout/IconVerticalSolidList"/>
    <dgm:cxn modelId="{85A521D1-BDAD-4339-9587-553F9988AAEF}" type="presParOf" srcId="{4971C32A-935F-4F38-A826-9A05C4201EE3}" destId="{34D02EBC-76CC-40BF-839E-B0CD07D7F10C}" srcOrd="2" destOrd="0" presId="urn:microsoft.com/office/officeart/2018/2/layout/IconVerticalSolidList"/>
    <dgm:cxn modelId="{E4804F06-6E96-4C7E-AE22-CDD28375EED4}" type="presParOf" srcId="{4971C32A-935F-4F38-A826-9A05C4201EE3}" destId="{716525C0-FF86-419F-976D-CCF0BA09DBF5}" srcOrd="3" destOrd="0" presId="urn:microsoft.com/office/officeart/2018/2/layout/IconVerticalSolidList"/>
    <dgm:cxn modelId="{8C7CC56E-50FD-4C28-BC2D-2899E5B9F9BF}" type="presParOf" srcId="{AC9312E4-D04C-4CA5-92C2-82389C4AB56C}" destId="{D6FED915-CF33-4F18-BF94-1C50E400F4F6}" srcOrd="3" destOrd="0" presId="urn:microsoft.com/office/officeart/2018/2/layout/IconVerticalSolidList"/>
    <dgm:cxn modelId="{A56B300D-AFD4-4A4B-8FA6-44B38489005D}" type="presParOf" srcId="{AC9312E4-D04C-4CA5-92C2-82389C4AB56C}" destId="{5D135081-B9B9-4D2D-A545-6A55A7E0D1A0}" srcOrd="4" destOrd="0" presId="urn:microsoft.com/office/officeart/2018/2/layout/IconVerticalSolidList"/>
    <dgm:cxn modelId="{417AC1A1-38BF-461B-BB74-79AEE5415980}" type="presParOf" srcId="{5D135081-B9B9-4D2D-A545-6A55A7E0D1A0}" destId="{C4B56E14-BE2F-4B80-9C2F-E11DD41CF01A}" srcOrd="0" destOrd="0" presId="urn:microsoft.com/office/officeart/2018/2/layout/IconVerticalSolidList"/>
    <dgm:cxn modelId="{DC8D3B03-3295-48CC-8AED-78A0787D479B}" type="presParOf" srcId="{5D135081-B9B9-4D2D-A545-6A55A7E0D1A0}" destId="{5B7982B6-3548-4DB5-9F57-6322239EBF42}" srcOrd="1" destOrd="0" presId="urn:microsoft.com/office/officeart/2018/2/layout/IconVerticalSolidList"/>
    <dgm:cxn modelId="{D5124C27-FCB1-4CB3-A657-CC2C1D1F01FB}" type="presParOf" srcId="{5D135081-B9B9-4D2D-A545-6A55A7E0D1A0}" destId="{83592A7D-6D02-44CD-B429-FCEDE4AE1BB6}" srcOrd="2" destOrd="0" presId="urn:microsoft.com/office/officeart/2018/2/layout/IconVerticalSolidList"/>
    <dgm:cxn modelId="{B02F2019-596C-4CA8-AFBF-B579C6BCC864}" type="presParOf" srcId="{5D135081-B9B9-4D2D-A545-6A55A7E0D1A0}" destId="{D6A6EFD7-0E04-42EF-A94C-705CBF76B278}" srcOrd="3" destOrd="0" presId="urn:microsoft.com/office/officeart/2018/2/layout/IconVerticalSolidList"/>
    <dgm:cxn modelId="{675BC6D7-C603-40CE-A484-AEEE910B48F1}" type="presParOf" srcId="{AC9312E4-D04C-4CA5-92C2-82389C4AB56C}" destId="{710B109F-8F62-458C-96A3-EDC8BD5B4F89}" srcOrd="5" destOrd="0" presId="urn:microsoft.com/office/officeart/2018/2/layout/IconVerticalSolidList"/>
    <dgm:cxn modelId="{E0420E88-8730-45D8-8931-1B3CDE9F4722}" type="presParOf" srcId="{AC9312E4-D04C-4CA5-92C2-82389C4AB56C}" destId="{0C6CBA40-7325-4D3D-B134-EB9F3EDECFBB}" srcOrd="6" destOrd="0" presId="urn:microsoft.com/office/officeart/2018/2/layout/IconVerticalSolidList"/>
    <dgm:cxn modelId="{D6BC1C38-E782-40B5-B18E-BB6E5C11A447}" type="presParOf" srcId="{0C6CBA40-7325-4D3D-B134-EB9F3EDECFBB}" destId="{A48DC4F0-BA57-4B45-A66B-5B707C1600F9}" srcOrd="0" destOrd="0" presId="urn:microsoft.com/office/officeart/2018/2/layout/IconVerticalSolidList"/>
    <dgm:cxn modelId="{D17FB18D-4F37-4261-AACF-C22F11FB01AE}" type="presParOf" srcId="{0C6CBA40-7325-4D3D-B134-EB9F3EDECFBB}" destId="{F81E7269-4E16-4A06-8A45-DBC97F82C762}" srcOrd="1" destOrd="0" presId="urn:microsoft.com/office/officeart/2018/2/layout/IconVerticalSolidList"/>
    <dgm:cxn modelId="{4F77BAB4-0DDD-4610-B77E-6AC78D80AE7A}" type="presParOf" srcId="{0C6CBA40-7325-4D3D-B134-EB9F3EDECFBB}" destId="{A8FE8CB8-7D5E-469E-AEA8-98473D331C84}" srcOrd="2" destOrd="0" presId="urn:microsoft.com/office/officeart/2018/2/layout/IconVerticalSolidList"/>
    <dgm:cxn modelId="{B0021B7D-7754-4AC5-9DCA-7726F57F544C}" type="presParOf" srcId="{0C6CBA40-7325-4D3D-B134-EB9F3EDECFBB}" destId="{D8125FFA-10E8-41D1-95EE-45736EF064F5}"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F0CA97DA-C1C2-4C24-8CCB-113B36B1C07F}"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66D13F49-FD85-4547-81E7-47A55864BF75}">
      <dgm:prSet/>
      <dgm:spPr/>
      <dgm:t>
        <a:bodyPr/>
        <a:lstStyle/>
        <a:p>
          <a:pPr>
            <a:lnSpc>
              <a:spcPct val="100000"/>
            </a:lnSpc>
          </a:pPr>
          <a:r>
            <a:rPr lang="en-US" dirty="0"/>
            <a:t>It is an extra financial cost, and not cheap. </a:t>
          </a:r>
        </a:p>
      </dgm:t>
    </dgm:pt>
    <dgm:pt modelId="{4EEF9C0B-7DB1-46E4-BDFE-6315DDB913C2}" type="parTrans" cxnId="{828C32A0-2F57-4E30-8BBC-10241C73DC36}">
      <dgm:prSet/>
      <dgm:spPr/>
      <dgm:t>
        <a:bodyPr/>
        <a:lstStyle/>
        <a:p>
          <a:endParaRPr lang="en-US"/>
        </a:p>
      </dgm:t>
    </dgm:pt>
    <dgm:pt modelId="{89D4FA5F-AA2A-4078-8225-9D4992D160BF}" type="sibTrans" cxnId="{828C32A0-2F57-4E30-8BBC-10241C73DC36}">
      <dgm:prSet/>
      <dgm:spPr/>
      <dgm:t>
        <a:bodyPr/>
        <a:lstStyle/>
        <a:p>
          <a:endParaRPr lang="en-US"/>
        </a:p>
      </dgm:t>
    </dgm:pt>
    <dgm:pt modelId="{1D3BA92D-32E0-4A5E-B716-A96A89FEED36}">
      <dgm:prSet/>
      <dgm:spPr/>
      <dgm:t>
        <a:bodyPr/>
        <a:lstStyle/>
        <a:p>
          <a:pPr>
            <a:lnSpc>
              <a:spcPct val="100000"/>
            </a:lnSpc>
          </a:pPr>
          <a:r>
            <a:rPr lang="en-US" dirty="0"/>
            <a:t>It is therefore not really available for low income earners</a:t>
          </a:r>
        </a:p>
      </dgm:t>
    </dgm:pt>
    <dgm:pt modelId="{705F76F9-8DF9-4F07-90F7-EDB8FE908AFB}" type="parTrans" cxnId="{54BCB51A-E721-4437-93C3-AE0EC70FCE14}">
      <dgm:prSet/>
      <dgm:spPr/>
      <dgm:t>
        <a:bodyPr/>
        <a:lstStyle/>
        <a:p>
          <a:endParaRPr lang="en-US"/>
        </a:p>
      </dgm:t>
    </dgm:pt>
    <dgm:pt modelId="{0356980B-DAAD-4C99-BCB1-EAE300B9F823}" type="sibTrans" cxnId="{54BCB51A-E721-4437-93C3-AE0EC70FCE14}">
      <dgm:prSet/>
      <dgm:spPr/>
      <dgm:t>
        <a:bodyPr/>
        <a:lstStyle/>
        <a:p>
          <a:endParaRPr lang="en-US"/>
        </a:p>
      </dgm:t>
    </dgm:pt>
    <dgm:pt modelId="{A9A4A176-FB3E-459F-9CCF-558079DA904F}">
      <dgm:prSet/>
      <dgm:spPr/>
      <dgm:t>
        <a:bodyPr/>
        <a:lstStyle/>
        <a:p>
          <a:pPr>
            <a:lnSpc>
              <a:spcPct val="100000"/>
            </a:lnSpc>
          </a:pPr>
          <a:r>
            <a:rPr lang="en-US" dirty="0"/>
            <a:t>There are many companies and their information can be difficult to navigate and understand. </a:t>
          </a:r>
        </a:p>
      </dgm:t>
    </dgm:pt>
    <dgm:pt modelId="{8DF6A365-54C4-4F8C-86EE-3B3B37C230D0}" type="parTrans" cxnId="{0F2DE22B-2713-4EDB-84D1-175F1A18BCFF}">
      <dgm:prSet/>
      <dgm:spPr/>
      <dgm:t>
        <a:bodyPr/>
        <a:lstStyle/>
        <a:p>
          <a:endParaRPr lang="en-AU"/>
        </a:p>
      </dgm:t>
    </dgm:pt>
    <dgm:pt modelId="{98E5F68F-DC07-491E-8C05-53FF2B29B670}" type="sibTrans" cxnId="{0F2DE22B-2713-4EDB-84D1-175F1A18BCFF}">
      <dgm:prSet/>
      <dgm:spPr/>
      <dgm:t>
        <a:bodyPr/>
        <a:lstStyle/>
        <a:p>
          <a:endParaRPr lang="en-AU"/>
        </a:p>
      </dgm:t>
    </dgm:pt>
    <dgm:pt modelId="{DB1E4CD9-8E5B-4F74-BCF6-5264F23B3AA9}" type="pres">
      <dgm:prSet presAssocID="{F0CA97DA-C1C2-4C24-8CCB-113B36B1C07F}" presName="root" presStyleCnt="0">
        <dgm:presLayoutVars>
          <dgm:dir/>
          <dgm:resizeHandles val="exact"/>
        </dgm:presLayoutVars>
      </dgm:prSet>
      <dgm:spPr/>
    </dgm:pt>
    <dgm:pt modelId="{761FAD1D-0ABE-4778-A407-C4C847B402C4}" type="pres">
      <dgm:prSet presAssocID="{66D13F49-FD85-4547-81E7-47A55864BF75}" presName="compNode" presStyleCnt="0"/>
      <dgm:spPr/>
    </dgm:pt>
    <dgm:pt modelId="{69797CC7-FBDD-4F7D-BF80-359DBDDA98C1}" type="pres">
      <dgm:prSet presAssocID="{66D13F49-FD85-4547-81E7-47A55864BF75}" presName="bgRect" presStyleLbl="bgShp" presStyleIdx="0" presStyleCnt="3"/>
      <dgm:spPr/>
    </dgm:pt>
    <dgm:pt modelId="{8B7EE0C5-E02F-4EB8-A61E-0B8CE78292FF}" type="pres">
      <dgm:prSet presAssocID="{66D13F49-FD85-4547-81E7-47A55864BF75}"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Bitcoin"/>
        </a:ext>
      </dgm:extLst>
    </dgm:pt>
    <dgm:pt modelId="{37B49CD2-248C-4875-B4EA-4EB30E3D369C}" type="pres">
      <dgm:prSet presAssocID="{66D13F49-FD85-4547-81E7-47A55864BF75}" presName="spaceRect" presStyleCnt="0"/>
      <dgm:spPr/>
    </dgm:pt>
    <dgm:pt modelId="{E1F83589-2026-4110-889A-D8F4704AE273}" type="pres">
      <dgm:prSet presAssocID="{66D13F49-FD85-4547-81E7-47A55864BF75}" presName="parTx" presStyleLbl="revTx" presStyleIdx="0" presStyleCnt="3">
        <dgm:presLayoutVars>
          <dgm:chMax val="0"/>
          <dgm:chPref val="0"/>
        </dgm:presLayoutVars>
      </dgm:prSet>
      <dgm:spPr/>
    </dgm:pt>
    <dgm:pt modelId="{F1B14DFC-409B-430B-8472-7157698D5228}" type="pres">
      <dgm:prSet presAssocID="{89D4FA5F-AA2A-4078-8225-9D4992D160BF}" presName="sibTrans" presStyleCnt="0"/>
      <dgm:spPr/>
    </dgm:pt>
    <dgm:pt modelId="{35D4B97B-D97A-4216-BA7D-243CC2AF51A8}" type="pres">
      <dgm:prSet presAssocID="{1D3BA92D-32E0-4A5E-B716-A96A89FEED36}" presName="compNode" presStyleCnt="0"/>
      <dgm:spPr/>
    </dgm:pt>
    <dgm:pt modelId="{3D46495C-0376-46C8-88C1-7C772C9160B3}" type="pres">
      <dgm:prSet presAssocID="{1D3BA92D-32E0-4A5E-B716-A96A89FEED36}" presName="bgRect" presStyleLbl="bgShp" presStyleIdx="1" presStyleCnt="3"/>
      <dgm:spPr/>
    </dgm:pt>
    <dgm:pt modelId="{62B6E182-8BC4-4422-A535-1F618C3A5D57}" type="pres">
      <dgm:prSet presAssocID="{1D3BA92D-32E0-4A5E-B716-A96A89FEED36}"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Piggy Bank"/>
        </a:ext>
      </dgm:extLst>
    </dgm:pt>
    <dgm:pt modelId="{DB28E75F-44BF-4580-B889-06B9050D6BF2}" type="pres">
      <dgm:prSet presAssocID="{1D3BA92D-32E0-4A5E-B716-A96A89FEED36}" presName="spaceRect" presStyleCnt="0"/>
      <dgm:spPr/>
    </dgm:pt>
    <dgm:pt modelId="{87E630E3-CE27-4983-A04B-37F3576C791C}" type="pres">
      <dgm:prSet presAssocID="{1D3BA92D-32E0-4A5E-B716-A96A89FEED36}" presName="parTx" presStyleLbl="revTx" presStyleIdx="1" presStyleCnt="3">
        <dgm:presLayoutVars>
          <dgm:chMax val="0"/>
          <dgm:chPref val="0"/>
        </dgm:presLayoutVars>
      </dgm:prSet>
      <dgm:spPr/>
    </dgm:pt>
    <dgm:pt modelId="{BBC59EC8-B568-446B-9C82-835217A1BF12}" type="pres">
      <dgm:prSet presAssocID="{0356980B-DAAD-4C99-BCB1-EAE300B9F823}" presName="sibTrans" presStyleCnt="0"/>
      <dgm:spPr/>
    </dgm:pt>
    <dgm:pt modelId="{1504EFA9-4D29-4E6E-A40B-027FD6733A72}" type="pres">
      <dgm:prSet presAssocID="{A9A4A176-FB3E-459F-9CCF-558079DA904F}" presName="compNode" presStyleCnt="0"/>
      <dgm:spPr/>
    </dgm:pt>
    <dgm:pt modelId="{4EA0259E-B912-41F0-AD90-C407E6E16282}" type="pres">
      <dgm:prSet presAssocID="{A9A4A176-FB3E-459F-9CCF-558079DA904F}" presName="bgRect" presStyleLbl="bgShp" presStyleIdx="2" presStyleCnt="3"/>
      <dgm:spPr/>
    </dgm:pt>
    <dgm:pt modelId="{40235861-6381-4727-A47B-7F915383E7A3}" type="pres">
      <dgm:prSet presAssocID="{A9A4A176-FB3E-459F-9CCF-558079DA904F}"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a:stretch>
            <a:fillRect/>
          </a:stretch>
        </a:blipFill>
      </dgm:spPr>
      <dgm:extLst>
        <a:ext uri="{E40237B7-FDA0-4F09-8148-C483321AD2D9}">
          <dgm14:cNvPr xmlns:dgm14="http://schemas.microsoft.com/office/drawing/2010/diagram" id="0" name="" descr="Head with gears"/>
        </a:ext>
      </dgm:extLst>
    </dgm:pt>
    <dgm:pt modelId="{9DCB80E2-BBBE-4326-BEF5-2CF84D7DCAB3}" type="pres">
      <dgm:prSet presAssocID="{A9A4A176-FB3E-459F-9CCF-558079DA904F}" presName="spaceRect" presStyleCnt="0"/>
      <dgm:spPr/>
    </dgm:pt>
    <dgm:pt modelId="{2D118DEF-7BBB-47C4-9273-FF4FD3D0BA6F}" type="pres">
      <dgm:prSet presAssocID="{A9A4A176-FB3E-459F-9CCF-558079DA904F}" presName="parTx" presStyleLbl="revTx" presStyleIdx="2" presStyleCnt="3">
        <dgm:presLayoutVars>
          <dgm:chMax val="0"/>
          <dgm:chPref val="0"/>
        </dgm:presLayoutVars>
      </dgm:prSet>
      <dgm:spPr/>
    </dgm:pt>
  </dgm:ptLst>
  <dgm:cxnLst>
    <dgm:cxn modelId="{54BCB51A-E721-4437-93C3-AE0EC70FCE14}" srcId="{F0CA97DA-C1C2-4C24-8CCB-113B36B1C07F}" destId="{1D3BA92D-32E0-4A5E-B716-A96A89FEED36}" srcOrd="1" destOrd="0" parTransId="{705F76F9-8DF9-4F07-90F7-EDB8FE908AFB}" sibTransId="{0356980B-DAAD-4C99-BCB1-EAE300B9F823}"/>
    <dgm:cxn modelId="{E360A329-6E3A-4BE4-B602-0A3DFE614592}" type="presOf" srcId="{F0CA97DA-C1C2-4C24-8CCB-113B36B1C07F}" destId="{DB1E4CD9-8E5B-4F74-BCF6-5264F23B3AA9}" srcOrd="0" destOrd="0" presId="urn:microsoft.com/office/officeart/2018/2/layout/IconVerticalSolidList"/>
    <dgm:cxn modelId="{0F2DE22B-2713-4EDB-84D1-175F1A18BCFF}" srcId="{F0CA97DA-C1C2-4C24-8CCB-113B36B1C07F}" destId="{A9A4A176-FB3E-459F-9CCF-558079DA904F}" srcOrd="2" destOrd="0" parTransId="{8DF6A365-54C4-4F8C-86EE-3B3B37C230D0}" sibTransId="{98E5F68F-DC07-491E-8C05-53FF2B29B670}"/>
    <dgm:cxn modelId="{8F92932D-6B69-44E2-AA93-CF654ECF6789}" type="presOf" srcId="{A9A4A176-FB3E-459F-9CCF-558079DA904F}" destId="{2D118DEF-7BBB-47C4-9273-FF4FD3D0BA6F}" srcOrd="0" destOrd="0" presId="urn:microsoft.com/office/officeart/2018/2/layout/IconVerticalSolidList"/>
    <dgm:cxn modelId="{FA6C9B49-8B46-4D5A-BD2D-D281C3C3005D}" type="presOf" srcId="{1D3BA92D-32E0-4A5E-B716-A96A89FEED36}" destId="{87E630E3-CE27-4983-A04B-37F3576C791C}" srcOrd="0" destOrd="0" presId="urn:microsoft.com/office/officeart/2018/2/layout/IconVerticalSolidList"/>
    <dgm:cxn modelId="{828C32A0-2F57-4E30-8BBC-10241C73DC36}" srcId="{F0CA97DA-C1C2-4C24-8CCB-113B36B1C07F}" destId="{66D13F49-FD85-4547-81E7-47A55864BF75}" srcOrd="0" destOrd="0" parTransId="{4EEF9C0B-7DB1-46E4-BDFE-6315DDB913C2}" sibTransId="{89D4FA5F-AA2A-4078-8225-9D4992D160BF}"/>
    <dgm:cxn modelId="{66E128D3-3A22-492C-B201-342B64825D18}" type="presOf" srcId="{66D13F49-FD85-4547-81E7-47A55864BF75}" destId="{E1F83589-2026-4110-889A-D8F4704AE273}" srcOrd="0" destOrd="0" presId="urn:microsoft.com/office/officeart/2018/2/layout/IconVerticalSolidList"/>
    <dgm:cxn modelId="{A14C7F6E-A3EF-43AE-84CE-E2DE6C0604F2}" type="presParOf" srcId="{DB1E4CD9-8E5B-4F74-BCF6-5264F23B3AA9}" destId="{761FAD1D-0ABE-4778-A407-C4C847B402C4}" srcOrd="0" destOrd="0" presId="urn:microsoft.com/office/officeart/2018/2/layout/IconVerticalSolidList"/>
    <dgm:cxn modelId="{4E6848A6-568E-4EE4-A42F-416442FE21E3}" type="presParOf" srcId="{761FAD1D-0ABE-4778-A407-C4C847B402C4}" destId="{69797CC7-FBDD-4F7D-BF80-359DBDDA98C1}" srcOrd="0" destOrd="0" presId="urn:microsoft.com/office/officeart/2018/2/layout/IconVerticalSolidList"/>
    <dgm:cxn modelId="{4AE7C2EF-7EDD-4BBC-8B6F-16EE25BDB415}" type="presParOf" srcId="{761FAD1D-0ABE-4778-A407-C4C847B402C4}" destId="{8B7EE0C5-E02F-4EB8-A61E-0B8CE78292FF}" srcOrd="1" destOrd="0" presId="urn:microsoft.com/office/officeart/2018/2/layout/IconVerticalSolidList"/>
    <dgm:cxn modelId="{C1122735-2C24-4291-8478-D8CA67562A1D}" type="presParOf" srcId="{761FAD1D-0ABE-4778-A407-C4C847B402C4}" destId="{37B49CD2-248C-4875-B4EA-4EB30E3D369C}" srcOrd="2" destOrd="0" presId="urn:microsoft.com/office/officeart/2018/2/layout/IconVerticalSolidList"/>
    <dgm:cxn modelId="{DAB8BFC9-0C38-40D3-8609-FDB47F7A8C67}" type="presParOf" srcId="{761FAD1D-0ABE-4778-A407-C4C847B402C4}" destId="{E1F83589-2026-4110-889A-D8F4704AE273}" srcOrd="3" destOrd="0" presId="urn:microsoft.com/office/officeart/2018/2/layout/IconVerticalSolidList"/>
    <dgm:cxn modelId="{3E2ECCFD-2E56-4A51-9A1B-0663CA714A79}" type="presParOf" srcId="{DB1E4CD9-8E5B-4F74-BCF6-5264F23B3AA9}" destId="{F1B14DFC-409B-430B-8472-7157698D5228}" srcOrd="1" destOrd="0" presId="urn:microsoft.com/office/officeart/2018/2/layout/IconVerticalSolidList"/>
    <dgm:cxn modelId="{44D8E411-5EB3-4AF5-9BF0-EF29DCA2CE0B}" type="presParOf" srcId="{DB1E4CD9-8E5B-4F74-BCF6-5264F23B3AA9}" destId="{35D4B97B-D97A-4216-BA7D-243CC2AF51A8}" srcOrd="2" destOrd="0" presId="urn:microsoft.com/office/officeart/2018/2/layout/IconVerticalSolidList"/>
    <dgm:cxn modelId="{61C3FA4C-0D83-47DB-B621-C2935CA3AA7E}" type="presParOf" srcId="{35D4B97B-D97A-4216-BA7D-243CC2AF51A8}" destId="{3D46495C-0376-46C8-88C1-7C772C9160B3}" srcOrd="0" destOrd="0" presId="urn:microsoft.com/office/officeart/2018/2/layout/IconVerticalSolidList"/>
    <dgm:cxn modelId="{E39F1765-A2AD-41D7-8ECB-56456AE127B0}" type="presParOf" srcId="{35D4B97B-D97A-4216-BA7D-243CC2AF51A8}" destId="{62B6E182-8BC4-4422-A535-1F618C3A5D57}" srcOrd="1" destOrd="0" presId="urn:microsoft.com/office/officeart/2018/2/layout/IconVerticalSolidList"/>
    <dgm:cxn modelId="{7F33BF0F-A38C-4EFB-8369-8C5432259FB3}" type="presParOf" srcId="{35D4B97B-D97A-4216-BA7D-243CC2AF51A8}" destId="{DB28E75F-44BF-4580-B889-06B9050D6BF2}" srcOrd="2" destOrd="0" presId="urn:microsoft.com/office/officeart/2018/2/layout/IconVerticalSolidList"/>
    <dgm:cxn modelId="{011E7A64-1049-4605-BE27-33CAFD58DE7F}" type="presParOf" srcId="{35D4B97B-D97A-4216-BA7D-243CC2AF51A8}" destId="{87E630E3-CE27-4983-A04B-37F3576C791C}" srcOrd="3" destOrd="0" presId="urn:microsoft.com/office/officeart/2018/2/layout/IconVerticalSolidList"/>
    <dgm:cxn modelId="{53587D87-7E05-4DFC-AC13-ED693BA25F17}" type="presParOf" srcId="{DB1E4CD9-8E5B-4F74-BCF6-5264F23B3AA9}" destId="{BBC59EC8-B568-446B-9C82-835217A1BF12}" srcOrd="3" destOrd="0" presId="urn:microsoft.com/office/officeart/2018/2/layout/IconVerticalSolidList"/>
    <dgm:cxn modelId="{CCB185D1-A180-414D-8DC5-DC4A1D2024B4}" type="presParOf" srcId="{DB1E4CD9-8E5B-4F74-BCF6-5264F23B3AA9}" destId="{1504EFA9-4D29-4E6E-A40B-027FD6733A72}" srcOrd="4" destOrd="0" presId="urn:microsoft.com/office/officeart/2018/2/layout/IconVerticalSolidList"/>
    <dgm:cxn modelId="{C7ED207A-F705-43EB-9CDB-64CFF2D76125}" type="presParOf" srcId="{1504EFA9-4D29-4E6E-A40B-027FD6733A72}" destId="{4EA0259E-B912-41F0-AD90-C407E6E16282}" srcOrd="0" destOrd="0" presId="urn:microsoft.com/office/officeart/2018/2/layout/IconVerticalSolidList"/>
    <dgm:cxn modelId="{027EE1D6-1597-4377-AC53-97D0E75A07DC}" type="presParOf" srcId="{1504EFA9-4D29-4E6E-A40B-027FD6733A72}" destId="{40235861-6381-4727-A47B-7F915383E7A3}" srcOrd="1" destOrd="0" presId="urn:microsoft.com/office/officeart/2018/2/layout/IconVerticalSolidList"/>
    <dgm:cxn modelId="{3D1DB03A-C250-466A-9A3C-FF305A44A2E1}" type="presParOf" srcId="{1504EFA9-4D29-4E6E-A40B-027FD6733A72}" destId="{9DCB80E2-BBBE-4326-BEF5-2CF84D7DCAB3}" srcOrd="2" destOrd="0" presId="urn:microsoft.com/office/officeart/2018/2/layout/IconVerticalSolidList"/>
    <dgm:cxn modelId="{37A8BA10-F0AC-440F-A91A-7CA781039DB2}" type="presParOf" srcId="{1504EFA9-4D29-4E6E-A40B-027FD6733A72}" destId="{2D118DEF-7BBB-47C4-9273-FF4FD3D0BA6F}"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C1569A0-0957-49A3-ABE1-9654454D1722}">
      <dsp:nvSpPr>
        <dsp:cNvPr id="0" name=""/>
        <dsp:cNvSpPr/>
      </dsp:nvSpPr>
      <dsp:spPr>
        <a:xfrm>
          <a:off x="0" y="2042"/>
          <a:ext cx="5641974" cy="1035192"/>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39A1AB7-008F-4B2D-A477-DCB1ED1C2AEA}">
      <dsp:nvSpPr>
        <dsp:cNvPr id="0" name=""/>
        <dsp:cNvSpPr/>
      </dsp:nvSpPr>
      <dsp:spPr>
        <a:xfrm>
          <a:off x="313145" y="234960"/>
          <a:ext cx="569355" cy="569355"/>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940C1878-8F81-4741-B328-189FA4898128}">
      <dsp:nvSpPr>
        <dsp:cNvPr id="0" name=""/>
        <dsp:cNvSpPr/>
      </dsp:nvSpPr>
      <dsp:spPr>
        <a:xfrm>
          <a:off x="1195647" y="2042"/>
          <a:ext cx="4446327" cy="103519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9558" tIns="109558" rIns="109558" bIns="109558" numCol="1" spcCol="1270" anchor="ctr" anchorCtr="0">
          <a:noAutofit/>
        </a:bodyPr>
        <a:lstStyle/>
        <a:p>
          <a:pPr marL="0" lvl="0" indent="0" algn="l" defTabSz="977900">
            <a:lnSpc>
              <a:spcPct val="100000"/>
            </a:lnSpc>
            <a:spcBef>
              <a:spcPct val="0"/>
            </a:spcBef>
            <a:spcAft>
              <a:spcPct val="35000"/>
            </a:spcAft>
            <a:buNone/>
          </a:pPr>
          <a:r>
            <a:rPr lang="en-US" sz="2200" kern="1200" dirty="0"/>
            <a:t>Choice of health professionals. (doctor, surgeons </a:t>
          </a:r>
          <a:r>
            <a:rPr lang="en-US" sz="2200" kern="1200" dirty="0" err="1"/>
            <a:t>etc</a:t>
          </a:r>
          <a:r>
            <a:rPr lang="en-US" sz="2200" kern="1200" dirty="0"/>
            <a:t>)</a:t>
          </a:r>
        </a:p>
      </dsp:txBody>
      <dsp:txXfrm>
        <a:off x="1195647" y="2042"/>
        <a:ext cx="4446327" cy="1035192"/>
      </dsp:txXfrm>
    </dsp:sp>
    <dsp:sp modelId="{BDD4915C-2628-450E-BDE2-F815BDC5637C}">
      <dsp:nvSpPr>
        <dsp:cNvPr id="0" name=""/>
        <dsp:cNvSpPr/>
      </dsp:nvSpPr>
      <dsp:spPr>
        <a:xfrm>
          <a:off x="0" y="1296033"/>
          <a:ext cx="5641974" cy="1035192"/>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FD5A4BF-6FF0-4BF4-A1DE-3848F69C4663}">
      <dsp:nvSpPr>
        <dsp:cNvPr id="0" name=""/>
        <dsp:cNvSpPr/>
      </dsp:nvSpPr>
      <dsp:spPr>
        <a:xfrm>
          <a:off x="313145" y="1528951"/>
          <a:ext cx="569355" cy="569355"/>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716525C0-FF86-419F-976D-CCF0BA09DBF5}">
      <dsp:nvSpPr>
        <dsp:cNvPr id="0" name=""/>
        <dsp:cNvSpPr/>
      </dsp:nvSpPr>
      <dsp:spPr>
        <a:xfrm>
          <a:off x="1195647" y="1296033"/>
          <a:ext cx="4446327" cy="103519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9558" tIns="109558" rIns="109558" bIns="109558" numCol="1" spcCol="1270" anchor="ctr" anchorCtr="0">
          <a:noAutofit/>
        </a:bodyPr>
        <a:lstStyle/>
        <a:p>
          <a:pPr marL="0" lvl="0" indent="0" algn="l" defTabSz="977900">
            <a:lnSpc>
              <a:spcPct val="100000"/>
            </a:lnSpc>
            <a:spcBef>
              <a:spcPct val="0"/>
            </a:spcBef>
            <a:spcAft>
              <a:spcPct val="35000"/>
            </a:spcAft>
            <a:buNone/>
          </a:pPr>
          <a:r>
            <a:rPr lang="en-US" sz="2200" kern="1200"/>
            <a:t>Can get cover for many services that are not covered by medicare</a:t>
          </a:r>
        </a:p>
      </dsp:txBody>
      <dsp:txXfrm>
        <a:off x="1195647" y="1296033"/>
        <a:ext cx="4446327" cy="1035192"/>
      </dsp:txXfrm>
    </dsp:sp>
    <dsp:sp modelId="{C4B56E14-BE2F-4B80-9C2F-E11DD41CF01A}">
      <dsp:nvSpPr>
        <dsp:cNvPr id="0" name=""/>
        <dsp:cNvSpPr/>
      </dsp:nvSpPr>
      <dsp:spPr>
        <a:xfrm>
          <a:off x="0" y="2590024"/>
          <a:ext cx="5641974" cy="1035192"/>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B7982B6-3548-4DB5-9F57-6322239EBF42}">
      <dsp:nvSpPr>
        <dsp:cNvPr id="0" name=""/>
        <dsp:cNvSpPr/>
      </dsp:nvSpPr>
      <dsp:spPr>
        <a:xfrm>
          <a:off x="313145" y="2822942"/>
          <a:ext cx="569355" cy="569355"/>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D6A6EFD7-0E04-42EF-A94C-705CBF76B278}">
      <dsp:nvSpPr>
        <dsp:cNvPr id="0" name=""/>
        <dsp:cNvSpPr/>
      </dsp:nvSpPr>
      <dsp:spPr>
        <a:xfrm>
          <a:off x="1195647" y="2590024"/>
          <a:ext cx="4446327" cy="103519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9558" tIns="109558" rIns="109558" bIns="109558" numCol="1" spcCol="1270" anchor="ctr" anchorCtr="0">
          <a:noAutofit/>
        </a:bodyPr>
        <a:lstStyle/>
        <a:p>
          <a:pPr marL="0" lvl="0" indent="0" algn="l" defTabSz="977900">
            <a:lnSpc>
              <a:spcPct val="100000"/>
            </a:lnSpc>
            <a:spcBef>
              <a:spcPct val="0"/>
            </a:spcBef>
            <a:spcAft>
              <a:spcPct val="35000"/>
            </a:spcAft>
            <a:buNone/>
          </a:pPr>
          <a:r>
            <a:rPr lang="en-US" sz="2200" kern="1200" dirty="0"/>
            <a:t>Shorter waiting times (</a:t>
          </a:r>
          <a:r>
            <a:rPr lang="en-US" sz="2200" kern="1200" dirty="0" err="1"/>
            <a:t>ie</a:t>
          </a:r>
          <a:r>
            <a:rPr lang="en-US" sz="2200" kern="1200" dirty="0"/>
            <a:t> surgery)</a:t>
          </a:r>
        </a:p>
      </dsp:txBody>
      <dsp:txXfrm>
        <a:off x="1195647" y="2590024"/>
        <a:ext cx="4446327" cy="1035192"/>
      </dsp:txXfrm>
    </dsp:sp>
    <dsp:sp modelId="{A48DC4F0-BA57-4B45-A66B-5B707C1600F9}">
      <dsp:nvSpPr>
        <dsp:cNvPr id="0" name=""/>
        <dsp:cNvSpPr/>
      </dsp:nvSpPr>
      <dsp:spPr>
        <a:xfrm>
          <a:off x="0" y="3884014"/>
          <a:ext cx="5641974" cy="1035192"/>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81E7269-4E16-4A06-8A45-DBC97F82C762}">
      <dsp:nvSpPr>
        <dsp:cNvPr id="0" name=""/>
        <dsp:cNvSpPr/>
      </dsp:nvSpPr>
      <dsp:spPr>
        <a:xfrm>
          <a:off x="313145" y="4116933"/>
          <a:ext cx="569355" cy="569355"/>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rcRect/>
          <a:stretch>
            <a:fillRect/>
          </a:stretch>
        </a:blipFill>
        <a:ln w="15875" cap="flat" cmpd="sng" algn="ctr">
          <a:solidFill>
            <a:schemeClr val="lt1">
              <a:alpha val="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8125FFA-10E8-41D1-95EE-45736EF064F5}">
      <dsp:nvSpPr>
        <dsp:cNvPr id="0" name=""/>
        <dsp:cNvSpPr/>
      </dsp:nvSpPr>
      <dsp:spPr>
        <a:xfrm>
          <a:off x="1195647" y="3884014"/>
          <a:ext cx="4446327" cy="103519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9558" tIns="109558" rIns="109558" bIns="109558" numCol="1" spcCol="1270" anchor="ctr" anchorCtr="0">
          <a:noAutofit/>
        </a:bodyPr>
        <a:lstStyle/>
        <a:p>
          <a:pPr marL="0" lvl="0" indent="0" algn="l" defTabSz="977900">
            <a:lnSpc>
              <a:spcPct val="100000"/>
            </a:lnSpc>
            <a:spcBef>
              <a:spcPct val="0"/>
            </a:spcBef>
            <a:spcAft>
              <a:spcPct val="35000"/>
            </a:spcAft>
            <a:buNone/>
          </a:pPr>
          <a:r>
            <a:rPr lang="en-US" sz="2200" kern="1200" dirty="0"/>
            <a:t>It gives peace of mind that expensive health issues won’t send you bankrupt</a:t>
          </a:r>
        </a:p>
      </dsp:txBody>
      <dsp:txXfrm>
        <a:off x="1195647" y="3884014"/>
        <a:ext cx="4446327" cy="103519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9797CC7-FBDD-4F7D-BF80-359DBDDA98C1}">
      <dsp:nvSpPr>
        <dsp:cNvPr id="0" name=""/>
        <dsp:cNvSpPr/>
      </dsp:nvSpPr>
      <dsp:spPr>
        <a:xfrm>
          <a:off x="0" y="600"/>
          <a:ext cx="5641974" cy="1405728"/>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B7EE0C5-E02F-4EB8-A61E-0B8CE78292FF}">
      <dsp:nvSpPr>
        <dsp:cNvPr id="0" name=""/>
        <dsp:cNvSpPr/>
      </dsp:nvSpPr>
      <dsp:spPr>
        <a:xfrm>
          <a:off x="425232" y="316889"/>
          <a:ext cx="773150" cy="77315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E1F83589-2026-4110-889A-D8F4704AE273}">
      <dsp:nvSpPr>
        <dsp:cNvPr id="0" name=""/>
        <dsp:cNvSpPr/>
      </dsp:nvSpPr>
      <dsp:spPr>
        <a:xfrm>
          <a:off x="1623616" y="600"/>
          <a:ext cx="4018358" cy="140572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8773" tIns="148773" rIns="148773" bIns="148773" numCol="1" spcCol="1270" anchor="ctr" anchorCtr="0">
          <a:noAutofit/>
        </a:bodyPr>
        <a:lstStyle/>
        <a:p>
          <a:pPr marL="0" lvl="0" indent="0" algn="l" defTabSz="977900">
            <a:lnSpc>
              <a:spcPct val="100000"/>
            </a:lnSpc>
            <a:spcBef>
              <a:spcPct val="0"/>
            </a:spcBef>
            <a:spcAft>
              <a:spcPct val="35000"/>
            </a:spcAft>
            <a:buNone/>
          </a:pPr>
          <a:r>
            <a:rPr lang="en-US" sz="2200" kern="1200" dirty="0"/>
            <a:t>It is an extra financial cost, and not cheap. </a:t>
          </a:r>
        </a:p>
      </dsp:txBody>
      <dsp:txXfrm>
        <a:off x="1623616" y="600"/>
        <a:ext cx="4018358" cy="1405728"/>
      </dsp:txXfrm>
    </dsp:sp>
    <dsp:sp modelId="{3D46495C-0376-46C8-88C1-7C772C9160B3}">
      <dsp:nvSpPr>
        <dsp:cNvPr id="0" name=""/>
        <dsp:cNvSpPr/>
      </dsp:nvSpPr>
      <dsp:spPr>
        <a:xfrm>
          <a:off x="0" y="1757760"/>
          <a:ext cx="5641974" cy="1405728"/>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2B6E182-8BC4-4422-A535-1F618C3A5D57}">
      <dsp:nvSpPr>
        <dsp:cNvPr id="0" name=""/>
        <dsp:cNvSpPr/>
      </dsp:nvSpPr>
      <dsp:spPr>
        <a:xfrm>
          <a:off x="425232" y="2074049"/>
          <a:ext cx="773150" cy="77315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87E630E3-CE27-4983-A04B-37F3576C791C}">
      <dsp:nvSpPr>
        <dsp:cNvPr id="0" name=""/>
        <dsp:cNvSpPr/>
      </dsp:nvSpPr>
      <dsp:spPr>
        <a:xfrm>
          <a:off x="1623616" y="1757760"/>
          <a:ext cx="4018358" cy="140572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8773" tIns="148773" rIns="148773" bIns="148773" numCol="1" spcCol="1270" anchor="ctr" anchorCtr="0">
          <a:noAutofit/>
        </a:bodyPr>
        <a:lstStyle/>
        <a:p>
          <a:pPr marL="0" lvl="0" indent="0" algn="l" defTabSz="977900">
            <a:lnSpc>
              <a:spcPct val="100000"/>
            </a:lnSpc>
            <a:spcBef>
              <a:spcPct val="0"/>
            </a:spcBef>
            <a:spcAft>
              <a:spcPct val="35000"/>
            </a:spcAft>
            <a:buNone/>
          </a:pPr>
          <a:r>
            <a:rPr lang="en-US" sz="2200" kern="1200" dirty="0"/>
            <a:t>It is therefore not really available for low income earners</a:t>
          </a:r>
        </a:p>
      </dsp:txBody>
      <dsp:txXfrm>
        <a:off x="1623616" y="1757760"/>
        <a:ext cx="4018358" cy="1405728"/>
      </dsp:txXfrm>
    </dsp:sp>
    <dsp:sp modelId="{4EA0259E-B912-41F0-AD90-C407E6E16282}">
      <dsp:nvSpPr>
        <dsp:cNvPr id="0" name=""/>
        <dsp:cNvSpPr/>
      </dsp:nvSpPr>
      <dsp:spPr>
        <a:xfrm>
          <a:off x="0" y="3514921"/>
          <a:ext cx="5641974" cy="1405728"/>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0235861-6381-4727-A47B-7F915383E7A3}">
      <dsp:nvSpPr>
        <dsp:cNvPr id="0" name=""/>
        <dsp:cNvSpPr/>
      </dsp:nvSpPr>
      <dsp:spPr>
        <a:xfrm>
          <a:off x="425232" y="3831209"/>
          <a:ext cx="773150" cy="773150"/>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a:stretch>
            <a:fillRect/>
          </a:stretch>
        </a:blipFill>
        <a:ln w="15875" cap="flat" cmpd="sng" algn="ctr">
          <a:solidFill>
            <a:schemeClr val="lt1">
              <a:alpha val="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2D118DEF-7BBB-47C4-9273-FF4FD3D0BA6F}">
      <dsp:nvSpPr>
        <dsp:cNvPr id="0" name=""/>
        <dsp:cNvSpPr/>
      </dsp:nvSpPr>
      <dsp:spPr>
        <a:xfrm>
          <a:off x="1623616" y="3514921"/>
          <a:ext cx="4018358" cy="140572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8773" tIns="148773" rIns="148773" bIns="148773" numCol="1" spcCol="1270" anchor="ctr" anchorCtr="0">
          <a:noAutofit/>
        </a:bodyPr>
        <a:lstStyle/>
        <a:p>
          <a:pPr marL="0" lvl="0" indent="0" algn="l" defTabSz="977900">
            <a:lnSpc>
              <a:spcPct val="100000"/>
            </a:lnSpc>
            <a:spcBef>
              <a:spcPct val="0"/>
            </a:spcBef>
            <a:spcAft>
              <a:spcPct val="35000"/>
            </a:spcAft>
            <a:buNone/>
          </a:pPr>
          <a:r>
            <a:rPr lang="en-US" sz="2200" kern="1200" dirty="0"/>
            <a:t>There are many companies and their information can be difficult to navigate and understand. </a:t>
          </a:r>
        </a:p>
      </dsp:txBody>
      <dsp:txXfrm>
        <a:off x="1623616" y="3514921"/>
        <a:ext cx="4018358" cy="1405728"/>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1839581-1845-42F4-BAF6-B139B9CF4F3D}" type="datetimeFigureOut">
              <a:rPr lang="en-US" smtClean="0"/>
              <a:t>11/11/2021</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AC05694-38A9-4EA3-93B3-E7DFCD5EE678}" type="slidenum">
              <a:rPr lang="en-US" smtClean="0"/>
              <a:t>‹#›</a:t>
            </a:fld>
            <a:endParaRPr lang="en-US"/>
          </a:p>
        </p:txBody>
      </p:sp>
    </p:spTree>
    <p:extLst>
      <p:ext uri="{BB962C8B-B14F-4D97-AF65-F5344CB8AC3E}">
        <p14:creationId xmlns:p14="http://schemas.microsoft.com/office/powerpoint/2010/main" val="28296276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4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AC05694-38A9-4EA3-93B3-E7DFCD5EE678}" type="slidenum">
              <a:rPr lang="en-US" smtClean="0"/>
              <a:t>147</a:t>
            </a:fld>
            <a:endParaRPr lang="en-US"/>
          </a:p>
        </p:txBody>
      </p:sp>
    </p:spTree>
    <p:extLst>
      <p:ext uri="{BB962C8B-B14F-4D97-AF65-F5344CB8AC3E}">
        <p14:creationId xmlns:p14="http://schemas.microsoft.com/office/powerpoint/2010/main" val="137408289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0" y="-1"/>
            <a:ext cx="12192000" cy="457200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457200" y="4960137"/>
            <a:ext cx="7772400" cy="1463040"/>
          </a:xfrm>
        </p:spPr>
        <p:txBody>
          <a:bodyPr anchor="ctr">
            <a:normAutofit/>
          </a:bodyPr>
          <a:lstStyle>
            <a:lvl1pPr algn="r">
              <a:defRPr sz="5000" spc="200" baseline="0"/>
            </a:lvl1pPr>
          </a:lstStyle>
          <a:p>
            <a:r>
              <a:rPr lang="en-US"/>
              <a:t>Click to edit Master title style</a:t>
            </a:r>
            <a:endParaRPr lang="en-US" dirty="0"/>
          </a:p>
        </p:txBody>
      </p:sp>
      <p:sp>
        <p:nvSpPr>
          <p:cNvPr id="3" name="Subtitle 2"/>
          <p:cNvSpPr>
            <a:spLocks noGrp="1"/>
          </p:cNvSpPr>
          <p:nvPr>
            <p:ph type="subTitle" idx="1"/>
          </p:nvPr>
        </p:nvSpPr>
        <p:spPr>
          <a:xfrm>
            <a:off x="8610600" y="4960137"/>
            <a:ext cx="3200400" cy="1463040"/>
          </a:xfrm>
        </p:spPr>
        <p:txBody>
          <a:bodyPr lIns="91440" rIns="91440" anchor="ctr">
            <a:normAutofit/>
          </a:bodyPr>
          <a:lstStyle>
            <a:lvl1pPr marL="0" indent="0" algn="l">
              <a:lnSpc>
                <a:spcPct val="100000"/>
              </a:lnSpc>
              <a:spcBef>
                <a:spcPts val="0"/>
              </a:spcBef>
              <a:buNone/>
              <a:defRPr sz="1800">
                <a:solidFill>
                  <a:schemeClr val="tx1">
                    <a:lumMod val="90000"/>
                    <a:lumOff val="10000"/>
                  </a:schemeClr>
                </a:solidFill>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lgn="l">
              <a:defRPr/>
            </a:lvl1pPr>
          </a:lstStyle>
          <a:p>
            <a:fld id="{E375D67F-3A7E-4FC4-B3D6-859F5D0E1519}" type="datetimeFigureOut">
              <a:rPr lang="en-US" smtClean="0"/>
              <a:t>11/11/2021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FA0440C-5229-44E8-8D77-774F9520E8D4}" type="slidenum">
              <a:rPr lang="en-US" smtClean="0"/>
              <a:t>‹#›</a:t>
            </a:fld>
            <a:endParaRPr lang="en-US"/>
          </a:p>
        </p:txBody>
      </p:sp>
      <p:cxnSp>
        <p:nvCxnSpPr>
          <p:cNvPr id="8" name="Straight Connector 7"/>
          <p:cNvCxnSpPr/>
          <p:nvPr/>
        </p:nvCxnSpPr>
        <p:spPr>
          <a:xfrm flipV="1">
            <a:off x="8386842" y="5264106"/>
            <a:ext cx="0" cy="91440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6897208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375D67F-3A7E-4FC4-B3D6-859F5D0E1519}" type="datetimeFigureOut">
              <a:rPr lang="en-US" smtClean="0"/>
              <a:t>11/11/2021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FA0440C-5229-44E8-8D77-774F9520E8D4}" type="slidenum">
              <a:rPr lang="en-US" smtClean="0"/>
              <a:t>‹#›</a:t>
            </a:fld>
            <a:endParaRPr lang="en-US"/>
          </a:p>
        </p:txBody>
      </p:sp>
    </p:spTree>
    <p:extLst>
      <p:ext uri="{BB962C8B-B14F-4D97-AF65-F5344CB8AC3E}">
        <p14:creationId xmlns:p14="http://schemas.microsoft.com/office/powerpoint/2010/main" val="16917945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0" y="-1"/>
            <a:ext cx="12192000" cy="4572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4960137"/>
            <a:ext cx="7772400" cy="1463040"/>
          </a:xfrm>
        </p:spPr>
        <p:txBody>
          <a:bodyPr anchor="ctr">
            <a:normAutofit/>
          </a:bodyPr>
          <a:lstStyle>
            <a:lvl1pPr algn="r">
              <a:defRPr sz="5000" b="0" spc="200" baseline="0"/>
            </a:lvl1pPr>
          </a:lstStyle>
          <a:p>
            <a:r>
              <a:rPr lang="en-US"/>
              <a:t>Click to edit Master title style</a:t>
            </a:r>
            <a:endParaRPr lang="en-US" dirty="0"/>
          </a:p>
        </p:txBody>
      </p:sp>
      <p:sp>
        <p:nvSpPr>
          <p:cNvPr id="3" name="Text Placeholder 2"/>
          <p:cNvSpPr>
            <a:spLocks noGrp="1"/>
          </p:cNvSpPr>
          <p:nvPr>
            <p:ph type="body" idx="1"/>
          </p:nvPr>
        </p:nvSpPr>
        <p:spPr>
          <a:xfrm>
            <a:off x="8610600" y="4960137"/>
            <a:ext cx="3200400" cy="1463040"/>
          </a:xfrm>
        </p:spPr>
        <p:txBody>
          <a:bodyPr lIns="91440" rIns="91440" anchor="ctr">
            <a:normAutofit/>
          </a:bodyPr>
          <a:lstStyle>
            <a:lvl1pPr marL="0" indent="0">
              <a:lnSpc>
                <a:spcPct val="100000"/>
              </a:lnSpc>
              <a:spcBef>
                <a:spcPts val="0"/>
              </a:spcBef>
              <a:buNone/>
              <a:defRPr sz="1800">
                <a:solidFill>
                  <a:schemeClr val="tx1">
                    <a:lumMod val="90000"/>
                    <a:lumOff val="1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375D67F-3A7E-4FC4-B3D6-859F5D0E1519}" type="datetimeFigureOut">
              <a:rPr lang="en-US" smtClean="0"/>
              <a:t>11/11/2021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FA0440C-5229-44E8-8D77-774F9520E8D4}" type="slidenum">
              <a:rPr lang="en-US" smtClean="0"/>
              <a:t>‹#›</a:t>
            </a:fld>
            <a:endParaRPr lang="en-US"/>
          </a:p>
        </p:txBody>
      </p:sp>
      <p:cxnSp>
        <p:nvCxnSpPr>
          <p:cNvPr id="8" name="Straight Connector 7"/>
          <p:cNvCxnSpPr/>
          <p:nvPr/>
        </p:nvCxnSpPr>
        <p:spPr>
          <a:xfrm flipV="1">
            <a:off x="8386842" y="5264106"/>
            <a:ext cx="0" cy="914400"/>
          </a:xfrm>
          <a:prstGeom prst="line">
            <a:avLst/>
          </a:prstGeom>
          <a:ln w="19050">
            <a:solidFill>
              <a:schemeClr val="accent3"/>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375591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024128" y="585216"/>
            <a:ext cx="9720072" cy="1499616"/>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24128" y="2286000"/>
            <a:ext cx="475488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989320" y="2286000"/>
            <a:ext cx="475488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375D67F-3A7E-4FC4-B3D6-859F5D0E1519}" type="datetimeFigureOut">
              <a:rPr lang="en-US" smtClean="0"/>
              <a:t>11/11/2021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FA0440C-5229-44E8-8D77-774F9520E8D4}" type="slidenum">
              <a:rPr lang="en-US" smtClean="0"/>
              <a:t>‹#›</a:t>
            </a:fld>
            <a:endParaRPr lang="en-US"/>
          </a:p>
        </p:txBody>
      </p:sp>
    </p:spTree>
    <p:extLst>
      <p:ext uri="{BB962C8B-B14F-4D97-AF65-F5344CB8AC3E}">
        <p14:creationId xmlns:p14="http://schemas.microsoft.com/office/powerpoint/2010/main" val="7716216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24128" y="585216"/>
            <a:ext cx="9720072" cy="1499616"/>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24128" y="2179636"/>
            <a:ext cx="4754880" cy="822960"/>
          </a:xfrm>
        </p:spPr>
        <p:txBody>
          <a:bodyPr lIns="137160" rIns="137160" anchor="ctr">
            <a:normAutofit/>
          </a:bodyPr>
          <a:lstStyle>
            <a:lvl1pPr marL="0" indent="0">
              <a:spcBef>
                <a:spcPts val="0"/>
              </a:spcBef>
              <a:spcAft>
                <a:spcPts val="0"/>
              </a:spcAft>
              <a:buNone/>
              <a:defRPr sz="2300" b="0" cap="none" baseline="0">
                <a:solidFill>
                  <a:schemeClr val="accent2">
                    <a:lumMod val="75000"/>
                  </a:schemeClr>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24128" y="2967788"/>
            <a:ext cx="4754880" cy="3341572"/>
          </a:xfrm>
        </p:spPr>
        <p:txBody>
          <a:bodyPr lIns="45720" rIns="4572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989320" y="2179636"/>
            <a:ext cx="4754880" cy="822960"/>
          </a:xfrm>
        </p:spPr>
        <p:txBody>
          <a:bodyPr lIns="137160" rIns="137160" anchor="ctr">
            <a:normAutofit/>
          </a:bodyPr>
          <a:lstStyle>
            <a:lvl1pPr marL="0" indent="0">
              <a:spcBef>
                <a:spcPts val="0"/>
              </a:spcBef>
              <a:spcAft>
                <a:spcPts val="0"/>
              </a:spcAft>
              <a:buNone/>
              <a:defRPr lang="en-US" sz="2300" b="0" kern="1200" cap="none" baseline="0" dirty="0">
                <a:solidFill>
                  <a:schemeClr val="accent2">
                    <a:lumMod val="75000"/>
                  </a:schemeClr>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800"/>
              </a:spcBef>
              <a:buNone/>
            </a:pPr>
            <a:r>
              <a:rPr lang="en-US"/>
              <a:t>Click to edit Master text styles</a:t>
            </a:r>
          </a:p>
        </p:txBody>
      </p:sp>
      <p:sp>
        <p:nvSpPr>
          <p:cNvPr id="6" name="Content Placeholder 5"/>
          <p:cNvSpPr>
            <a:spLocks noGrp="1"/>
          </p:cNvSpPr>
          <p:nvPr>
            <p:ph sz="quarter" idx="4"/>
          </p:nvPr>
        </p:nvSpPr>
        <p:spPr>
          <a:xfrm>
            <a:off x="5989320" y="2967788"/>
            <a:ext cx="4754880" cy="3341572"/>
          </a:xfrm>
        </p:spPr>
        <p:txBody>
          <a:bodyPr lIns="45720" rIns="4572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375D67F-3A7E-4FC4-B3D6-859F5D0E1519}" type="datetimeFigureOut">
              <a:rPr lang="en-US" smtClean="0"/>
              <a:t>11/11/2021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FA0440C-5229-44E8-8D77-774F9520E8D4}" type="slidenum">
              <a:rPr lang="en-US" smtClean="0"/>
              <a:t>‹#›</a:t>
            </a:fld>
            <a:endParaRPr lang="en-US"/>
          </a:p>
        </p:txBody>
      </p:sp>
    </p:spTree>
    <p:extLst>
      <p:ext uri="{BB962C8B-B14F-4D97-AF65-F5344CB8AC3E}">
        <p14:creationId xmlns:p14="http://schemas.microsoft.com/office/powerpoint/2010/main" val="6210845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375D67F-3A7E-4FC4-B3D6-859F5D0E1519}" type="datetimeFigureOut">
              <a:rPr lang="en-US" smtClean="0"/>
              <a:t>11/11/2021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FA0440C-5229-44E8-8D77-774F9520E8D4}" type="slidenum">
              <a:rPr lang="en-US" smtClean="0"/>
              <a:t>‹#›</a:t>
            </a:fld>
            <a:endParaRPr lang="en-US"/>
          </a:p>
        </p:txBody>
      </p:sp>
    </p:spTree>
    <p:extLst>
      <p:ext uri="{BB962C8B-B14F-4D97-AF65-F5344CB8AC3E}">
        <p14:creationId xmlns:p14="http://schemas.microsoft.com/office/powerpoint/2010/main" val="140464109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375D67F-3A7E-4FC4-B3D6-859F5D0E1519}" type="datetimeFigureOut">
              <a:rPr lang="en-US" smtClean="0"/>
              <a:t>11/11/2021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FA0440C-5229-44E8-8D77-774F9520E8D4}" type="slidenum">
              <a:rPr lang="en-US" smtClean="0"/>
              <a:t>‹#›</a:t>
            </a:fld>
            <a:endParaRPr lang="en-US"/>
          </a:p>
        </p:txBody>
      </p:sp>
    </p:spTree>
    <p:extLst>
      <p:ext uri="{BB962C8B-B14F-4D97-AF65-F5344CB8AC3E}">
        <p14:creationId xmlns:p14="http://schemas.microsoft.com/office/powerpoint/2010/main" val="19573169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Title 7"/>
          <p:cNvSpPr>
            <a:spLocks noGrp="1"/>
          </p:cNvSpPr>
          <p:nvPr>
            <p:ph type="title"/>
          </p:nvPr>
        </p:nvSpPr>
        <p:spPr>
          <a:xfrm>
            <a:off x="1024128" y="471509"/>
            <a:ext cx="4389120" cy="1737360"/>
          </a:xfrm>
        </p:spPr>
        <p:txBody>
          <a:bodyPr>
            <a:noAutofit/>
          </a:bodyPr>
          <a:lstStyle>
            <a:lvl1pPr>
              <a:lnSpc>
                <a:spcPct val="80000"/>
              </a:lnSpc>
              <a:defRPr sz="4000"/>
            </a:lvl1pPr>
          </a:lstStyle>
          <a:p>
            <a:r>
              <a:rPr lang="en-US"/>
              <a:t>Click to edit Master title style</a:t>
            </a:r>
            <a:endParaRPr lang="en-US" dirty="0"/>
          </a:p>
        </p:txBody>
      </p:sp>
      <p:sp>
        <p:nvSpPr>
          <p:cNvPr id="3" name="Content Placeholder 2"/>
          <p:cNvSpPr>
            <a:spLocks noGrp="1"/>
          </p:cNvSpPr>
          <p:nvPr>
            <p:ph idx="1"/>
          </p:nvPr>
        </p:nvSpPr>
        <p:spPr>
          <a:xfrm>
            <a:off x="5715000" y="822960"/>
            <a:ext cx="5678424" cy="5184648"/>
          </a:xfrm>
        </p:spPr>
        <p:txBody>
          <a:bodyPr/>
          <a:lstStyle>
            <a:lvl1pPr>
              <a:defRPr sz="2400"/>
            </a:lvl1pPr>
            <a:lvl2pPr>
              <a:defRPr sz="20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024128" y="2257506"/>
            <a:ext cx="4389120" cy="3762294"/>
          </a:xfrm>
        </p:spPr>
        <p:txBody>
          <a:bodyPr lIns="91440" rIns="91440">
            <a:normAutofit/>
          </a:bodyPr>
          <a:lstStyle>
            <a:lvl1pPr marL="0" indent="0">
              <a:lnSpc>
                <a:spcPct val="108000"/>
              </a:lnSpc>
              <a:spcBef>
                <a:spcPts val="6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375D67F-3A7E-4FC4-B3D6-859F5D0E1519}" type="datetimeFigureOut">
              <a:rPr lang="en-US" smtClean="0"/>
              <a:t>11/11/2021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FA0440C-5229-44E8-8D77-774F9520E8D4}" type="slidenum">
              <a:rPr lang="en-US" smtClean="0"/>
              <a:t>‹#›</a:t>
            </a:fld>
            <a:endParaRPr lang="en-US"/>
          </a:p>
        </p:txBody>
      </p:sp>
    </p:spTree>
    <p:extLst>
      <p:ext uri="{BB962C8B-B14F-4D97-AF65-F5344CB8AC3E}">
        <p14:creationId xmlns:p14="http://schemas.microsoft.com/office/powerpoint/2010/main" val="32223423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4960138"/>
            <a:ext cx="7772400" cy="1463040"/>
          </a:xfrm>
        </p:spPr>
        <p:txBody>
          <a:bodyPr anchor="ctr">
            <a:normAutofit/>
          </a:bodyPr>
          <a:lstStyle>
            <a:lvl1pPr algn="r">
              <a:defRPr sz="5000" spc="200" baseline="0"/>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1"/>
            <a:ext cx="12188952" cy="4572000"/>
          </a:xfrm>
          <a:solidFill>
            <a:schemeClr val="accent2">
              <a:lumMod val="60000"/>
              <a:lumOff val="40000"/>
            </a:schemeClr>
          </a:solidFill>
        </p:spPr>
        <p:txBody>
          <a:bodyPr lIns="457200" tIns="365760" rIns="45720" bIns="4572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610600" y="4960138"/>
            <a:ext cx="3200400" cy="1463040"/>
          </a:xfrm>
        </p:spPr>
        <p:txBody>
          <a:bodyPr lIns="91440" rIns="91440" anchor="ctr">
            <a:normAutofit/>
          </a:bodyPr>
          <a:lstStyle>
            <a:lvl1pPr marL="0" indent="0">
              <a:lnSpc>
                <a:spcPct val="100000"/>
              </a:lnSpc>
              <a:spcBef>
                <a:spcPts val="0"/>
              </a:spcBef>
              <a:buNone/>
              <a:defRPr sz="1800">
                <a:solidFill>
                  <a:schemeClr val="tx1">
                    <a:lumMod val="90000"/>
                    <a:lumOff val="10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375D67F-3A7E-4FC4-B3D6-859F5D0E1519}" type="datetimeFigureOut">
              <a:rPr lang="en-US" smtClean="0"/>
              <a:t>11/11/2021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FA0440C-5229-44E8-8D77-774F9520E8D4}" type="slidenum">
              <a:rPr lang="en-US" smtClean="0"/>
              <a:t>‹#›</a:t>
            </a:fld>
            <a:endParaRPr lang="en-US"/>
          </a:p>
        </p:txBody>
      </p:sp>
      <p:cxnSp>
        <p:nvCxnSpPr>
          <p:cNvPr id="9" name="Straight Connector 8"/>
          <p:cNvCxnSpPr/>
          <p:nvPr/>
        </p:nvCxnSpPr>
        <p:spPr>
          <a:xfrm flipV="1">
            <a:off x="8386842" y="5264106"/>
            <a:ext cx="0" cy="91440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218122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375D67F-3A7E-4FC4-B3D6-859F5D0E1519}" type="datetimeFigureOut">
              <a:rPr lang="en-US" smtClean="0"/>
              <a:t>11/11/2021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FA0440C-5229-44E8-8D77-774F9520E8D4}" type="slidenum">
              <a:rPr lang="en-US" smtClean="0"/>
              <a:t>‹#›</a:t>
            </a:fld>
            <a:endParaRPr lang="en-US"/>
          </a:p>
        </p:txBody>
      </p:sp>
    </p:spTree>
    <p:extLst>
      <p:ext uri="{BB962C8B-B14F-4D97-AF65-F5344CB8AC3E}">
        <p14:creationId xmlns:p14="http://schemas.microsoft.com/office/powerpoint/2010/main" val="17726901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762000"/>
            <a:ext cx="2628900" cy="5410200"/>
          </a:xfrm>
        </p:spPr>
        <p:txBody>
          <a:bodyPr vert="eaVert" lIns="45720" tIns="91440" rIns="45720" bIns="91440"/>
          <a:lstStyle/>
          <a:p>
            <a:r>
              <a:rPr lang="en-US"/>
              <a:t>Click to edit Master title style</a:t>
            </a:r>
            <a:endParaRPr lang="en-US" dirty="0"/>
          </a:p>
        </p:txBody>
      </p:sp>
      <p:sp>
        <p:nvSpPr>
          <p:cNvPr id="3" name="Vertical Text Placeholder 2"/>
          <p:cNvSpPr>
            <a:spLocks noGrp="1"/>
          </p:cNvSpPr>
          <p:nvPr>
            <p:ph type="body" orient="vert" idx="1"/>
          </p:nvPr>
        </p:nvSpPr>
        <p:spPr>
          <a:xfrm>
            <a:off x="990600" y="762000"/>
            <a:ext cx="7581900" cy="5410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375D67F-3A7E-4FC4-B3D6-859F5D0E1519}" type="datetimeFigureOut">
              <a:rPr lang="en-US" smtClean="0"/>
              <a:t>11/11/2021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FA0440C-5229-44E8-8D77-774F9520E8D4}" type="slidenum">
              <a:rPr lang="en-US" smtClean="0"/>
              <a:t>‹#›</a:t>
            </a:fld>
            <a:endParaRPr lang="en-US"/>
          </a:p>
        </p:txBody>
      </p:sp>
      <p:cxnSp>
        <p:nvCxnSpPr>
          <p:cNvPr id="7" name="Straight Connector 6"/>
          <p:cNvCxnSpPr/>
          <p:nvPr/>
        </p:nvCxnSpPr>
        <p:spPr>
          <a:xfrm rot="5400000" flipV="1">
            <a:off x="10058400" y="59263"/>
            <a:ext cx="0" cy="91440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523932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24128" y="585216"/>
            <a:ext cx="9720072" cy="1499616"/>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24128" y="2286000"/>
            <a:ext cx="9720071" cy="4023360"/>
          </a:xfrm>
          <a:prstGeom prst="rect">
            <a:avLst/>
          </a:prstGeom>
        </p:spPr>
        <p:txBody>
          <a:bodyPr vert="horz" lIns="45720" tIns="45720" rIns="4572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24128" y="6470704"/>
            <a:ext cx="2154142" cy="274320"/>
          </a:xfrm>
          <a:prstGeom prst="rect">
            <a:avLst/>
          </a:prstGeom>
        </p:spPr>
        <p:txBody>
          <a:bodyPr vert="horz" lIns="91440" tIns="45720" rIns="91440" bIns="45720" rtlCol="0" anchor="ctr"/>
          <a:lstStyle>
            <a:lvl1pPr algn="l">
              <a:defRPr sz="1000">
                <a:solidFill>
                  <a:schemeClr val="tx1">
                    <a:lumMod val="90000"/>
                    <a:lumOff val="10000"/>
                  </a:schemeClr>
                </a:solidFill>
                <a:latin typeface="+mj-lt"/>
              </a:defRPr>
            </a:lvl1pPr>
          </a:lstStyle>
          <a:p>
            <a:fld id="{E375D67F-3A7E-4FC4-B3D6-859F5D0E1519}" type="datetimeFigureOut">
              <a:rPr lang="en-US" smtClean="0"/>
              <a:t>11/11/2021</a:t>
            </a:fld>
            <a:endParaRPr lang="en-US"/>
          </a:p>
        </p:txBody>
      </p:sp>
      <p:sp>
        <p:nvSpPr>
          <p:cNvPr id="5" name="Footer Placeholder 4"/>
          <p:cNvSpPr>
            <a:spLocks noGrp="1"/>
          </p:cNvSpPr>
          <p:nvPr>
            <p:ph type="ftr" sz="quarter" idx="3"/>
          </p:nvPr>
        </p:nvSpPr>
        <p:spPr>
          <a:xfrm>
            <a:off x="4842932" y="6470704"/>
            <a:ext cx="5901458" cy="274320"/>
          </a:xfrm>
          <a:prstGeom prst="rect">
            <a:avLst/>
          </a:prstGeom>
        </p:spPr>
        <p:txBody>
          <a:bodyPr vert="horz" lIns="91440" tIns="45720" rIns="91440" bIns="45720" rtlCol="0" anchor="ctr"/>
          <a:lstStyle>
            <a:lvl1pPr algn="r">
              <a:defRPr sz="1000" cap="all" baseline="0">
                <a:solidFill>
                  <a:schemeClr val="tx1">
                    <a:lumMod val="90000"/>
                    <a:lumOff val="10000"/>
                  </a:schemeClr>
                </a:solidFill>
                <a:latin typeface="+mj-lt"/>
              </a:defRPr>
            </a:lvl1pPr>
          </a:lstStyle>
          <a:p>
            <a:endParaRPr lang="en-US"/>
          </a:p>
        </p:txBody>
      </p:sp>
      <p:sp>
        <p:nvSpPr>
          <p:cNvPr id="6" name="Slide Number Placeholder 5"/>
          <p:cNvSpPr>
            <a:spLocks noGrp="1"/>
          </p:cNvSpPr>
          <p:nvPr>
            <p:ph type="sldNum" sz="quarter" idx="4"/>
          </p:nvPr>
        </p:nvSpPr>
        <p:spPr>
          <a:xfrm>
            <a:off x="10837334" y="6470704"/>
            <a:ext cx="973666" cy="274320"/>
          </a:xfrm>
          <a:prstGeom prst="rect">
            <a:avLst/>
          </a:prstGeom>
        </p:spPr>
        <p:txBody>
          <a:bodyPr vert="horz" lIns="91440" tIns="45720" rIns="91440" bIns="45720" rtlCol="0" anchor="ctr"/>
          <a:lstStyle>
            <a:lvl1pPr algn="l">
              <a:defRPr sz="1000">
                <a:solidFill>
                  <a:schemeClr val="tx1">
                    <a:lumMod val="90000"/>
                    <a:lumOff val="10000"/>
                  </a:schemeClr>
                </a:solidFill>
                <a:latin typeface="+mj-lt"/>
              </a:defRPr>
            </a:lvl1pPr>
          </a:lstStyle>
          <a:p>
            <a:fld id="{6FA0440C-5229-44E8-8D77-774F9520E8D4}" type="slidenum">
              <a:rPr lang="en-US" smtClean="0"/>
              <a:t>‹#›</a:t>
            </a:fld>
            <a:endParaRPr lang="en-US"/>
          </a:p>
        </p:txBody>
      </p:sp>
      <p:cxnSp>
        <p:nvCxnSpPr>
          <p:cNvPr id="7" name="Straight Connector 6"/>
          <p:cNvCxnSpPr/>
          <p:nvPr/>
        </p:nvCxnSpPr>
        <p:spPr>
          <a:xfrm flipV="1">
            <a:off x="762000" y="826324"/>
            <a:ext cx="0" cy="91440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18343425"/>
      </p:ext>
    </p:extLst>
  </p:cSld>
  <p:clrMap bg1="lt1" tx1="dk1" bg2="lt2" tx2="dk2" accent1="accent1" accent2="accent2" accent3="accent3" accent4="accent4" accent5="accent5" accent6="accent6" hlink="hlink" folHlink="folHlink"/>
  <p:sldLayoutIdLst>
    <p:sldLayoutId id="2147483702" r:id="rId1"/>
    <p:sldLayoutId id="2147483703" r:id="rId2"/>
    <p:sldLayoutId id="2147483704" r:id="rId3"/>
    <p:sldLayoutId id="2147483705" r:id="rId4"/>
    <p:sldLayoutId id="2147483706" r:id="rId5"/>
    <p:sldLayoutId id="2147483707" r:id="rId6"/>
    <p:sldLayoutId id="2147483708" r:id="rId7"/>
    <p:sldLayoutId id="2147483709" r:id="rId8"/>
    <p:sldLayoutId id="2147483710" r:id="rId9"/>
    <p:sldLayoutId id="2147483711" r:id="rId10"/>
    <p:sldLayoutId id="2147483712" r:id="rId11"/>
  </p:sldLayoutIdLst>
  <p:txStyles>
    <p:titleStyle>
      <a:lvl1pPr algn="l" defTabSz="914400" rtl="0" eaLnBrk="1" latinLnBrk="0" hangingPunct="1">
        <a:lnSpc>
          <a:spcPct val="80000"/>
        </a:lnSpc>
        <a:spcBef>
          <a:spcPct val="0"/>
        </a:spcBef>
        <a:buNone/>
        <a:defRPr sz="5000" kern="1200" cap="all" spc="100" baseline="0">
          <a:solidFill>
            <a:schemeClr val="tx1">
              <a:lumMod val="90000"/>
              <a:lumOff val="10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2"/>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2"/>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hyperlink" Target="https://www.youtube.com/watch?v=O-4ithG_07Q" TargetMode="External"/><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hyperlink" Target="https://www.solvibrations.org/self-actualization/" TargetMode="External"/><Relationship Id="rId2" Type="http://schemas.openxmlformats.org/officeDocument/2006/relationships/image" Target="../media/image7.jpg"/><Relationship Id="rId1" Type="http://schemas.openxmlformats.org/officeDocument/2006/relationships/slideLayout" Target="../slideLayouts/slideLayout7.xml"/><Relationship Id="rId4" Type="http://schemas.openxmlformats.org/officeDocument/2006/relationships/hyperlink" Target="https://creativecommons.org/licenses/by-sa/3.0/" TargetMode="External"/></Relationships>
</file>

<file path=ppt/slides/_rels/slide3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hyperlink" Target="https://www.verywellmind.com/what-are-peak-experiences-2795268" TargetMode="Externa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hyperlink" Target="https://practicalwellbeing.co.uk/greater-self-acceptance-in-3-parts/" TargetMode="External"/><Relationship Id="rId2" Type="http://schemas.openxmlformats.org/officeDocument/2006/relationships/image" Target="../media/image9.jpg"/><Relationship Id="rId1" Type="http://schemas.openxmlformats.org/officeDocument/2006/relationships/slideLayout" Target="../slideLayouts/slideLayout2.xml"/><Relationship Id="rId4" Type="http://schemas.openxmlformats.org/officeDocument/2006/relationships/hyperlink" Target="https://creativecommons.org/licenses/by-nc-sa/3.0/" TargetMode="External"/></Relationships>
</file>

<file path=ppt/slides/_rels/slide38.xml.rels><?xml version="1.0" encoding="UTF-8" standalone="yes"?>
<Relationships xmlns="http://schemas.openxmlformats.org/package/2006/relationships"><Relationship Id="rId3" Type="http://schemas.openxmlformats.org/officeDocument/2006/relationships/hyperlink" Target="https://bestplacesofinterest.com/learned-stop-worrying-love-magical-realism/" TargetMode="External"/><Relationship Id="rId2" Type="http://schemas.openxmlformats.org/officeDocument/2006/relationships/image" Target="../media/image10.jpg"/><Relationship Id="rId1" Type="http://schemas.openxmlformats.org/officeDocument/2006/relationships/slideLayout" Target="../slideLayouts/slideLayout2.xml"/><Relationship Id="rId4" Type="http://schemas.openxmlformats.org/officeDocument/2006/relationships/hyperlink" Target="https://creativecommons.org/licenses/by-nc-sa/3.0/" TargetMode="External"/></Relationships>
</file>

<file path=ppt/slides/_rels/slide3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hyperlink" Target="http://www.interfaces.com/blog/2013/09/health-human-rights-and-maslows-hierarchy-of-needs/" TargetMode="Externa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hyperlink" Target="https://www.explorepsychology.com/wp_quiz/self-actualization-test/" TargetMode="Externa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hyperlink" Target="https://www.aihw.gov.au/reports/older-people/older-australia-at-a-glance/contents/summary" TargetMode="External"/><Relationship Id="rId2" Type="http://schemas.openxmlformats.org/officeDocument/2006/relationships/hyperlink" Target="https://healthinfonet.ecu.edu.au/learn/health-facts/summary-aboriginal-torres-strait-islander-health/40279/?title=Summary+of+Aboriginal+and+Torres+Strait+Islander+health+status+2019&amp;contentid=40279_1" TargetMode="External"/><Relationship Id="rId1" Type="http://schemas.openxmlformats.org/officeDocument/2006/relationships/slideLayout" Target="../slideLayouts/slideLayout2.xml"/><Relationship Id="rId5" Type="http://schemas.openxmlformats.org/officeDocument/2006/relationships/hyperlink" Target="https://www.ausstats.abs.gov.au/Ausstats/subscriber.nsf/0/5703A93771AE2E4ECA2576E70016C8D3/$File/41020_%20healthandseifa.pdf" TargetMode="External"/><Relationship Id="rId4" Type="http://schemas.openxmlformats.org/officeDocument/2006/relationships/hyperlink" Target="https://www.aihw.gov.au/reports/rural-remote-australians/rural-remote-health/contents/summary" TargetMode="Externa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hyperlink" Target="https://www.sbs.com.au/ondemand/video/352505923803/first-contact" TargetMode="Externa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hyperlink" Target="https://www.youtube.com/watch?v=MlXZyNtaoDM" TargetMode="External"/><Relationship Id="rId2" Type="http://schemas.openxmlformats.org/officeDocument/2006/relationships/image" Target="../media/image14.png"/><Relationship Id="rId1" Type="http://schemas.openxmlformats.org/officeDocument/2006/relationships/slideLayout" Target="../slideLayouts/slideLayout2.xml"/><Relationship Id="rId5" Type="http://schemas.openxmlformats.org/officeDocument/2006/relationships/image" Target="../media/image16.jpeg"/><Relationship Id="rId4" Type="http://schemas.openxmlformats.org/officeDocument/2006/relationships/image" Target="../media/image15.png"/></Relationships>
</file>

<file path=ppt/slides/_rels/slide54.xml.rels><?xml version="1.0" encoding="UTF-8" standalone="yes"?>
<Relationships xmlns="http://schemas.openxmlformats.org/package/2006/relationships"><Relationship Id="rId2" Type="http://schemas.openxmlformats.org/officeDocument/2006/relationships/hyperlink" Target="https://www.youtube.com/watch?v=0P9FRacTji0" TargetMode="Externa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1.xml.rels><?xml version="1.0" encoding="UTF-8" standalone="yes"?>
<Relationships xmlns="http://schemas.openxmlformats.org/package/2006/relationships"><Relationship Id="rId3" Type="http://schemas.openxmlformats.org/officeDocument/2006/relationships/hyperlink" Target="https://www.who.int/sustainable-development/cities/health-risks/slums/en/" TargetMode="External"/><Relationship Id="rId2" Type="http://schemas.openxmlformats.org/officeDocument/2006/relationships/image" Target="../media/image20.jpg"/><Relationship Id="rId1" Type="http://schemas.openxmlformats.org/officeDocument/2006/relationships/slideLayout" Target="../slideLayouts/slideLayout6.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hyperlink" Target="https://www.youtube.com/watch?v=4K5fbQ1-zps" TargetMode="Externa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hyperlink" Target="https://www.closingthegap.gov.au/" TargetMode="Externa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hyperlink" Target="https://www.sbs.com.au/news/insight/meet-the-aboriginal-doctor-turning-tragedy-to-triumph" TargetMode="Externa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hyperlink" Target="https://closingthegap.pmc.gov.au/" TargetMode="External"/><Relationship Id="rId2" Type="http://schemas.openxmlformats.org/officeDocument/2006/relationships/hyperlink" Target="https://www.checkup.org.au/icms_docs/182820_15_FACTSHEET_Social_Justice_and_Health.pdf" TargetMode="External"/><Relationship Id="rId1" Type="http://schemas.openxmlformats.org/officeDocument/2006/relationships/slideLayout" Target="../slideLayouts/slideLayout2.xml"/><Relationship Id="rId4" Type="http://schemas.openxmlformats.org/officeDocument/2006/relationships/hyperlink" Target="https://www.pdhpe.net/health-priorities-in-australia/how-are-priority-issues-for-australias-health-identified/identifying-priority-health-issues/social-justice-principles/" TargetMode="Externa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image" Target="../media/image22.jpg"/><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3" Type="http://schemas.openxmlformats.org/officeDocument/2006/relationships/hyperlink" Target="https://theconversation.com/to-lift-literacy-levels-among-indigenous-children-their-parents-literacy-skills-must-be-improved-first-78827" TargetMode="External"/><Relationship Id="rId2" Type="http://schemas.openxmlformats.org/officeDocument/2006/relationships/hyperlink" Target="https://www.sbs.com.au/news/insight/how-literacy-classes-have-transformed-a-town" TargetMode="External"/><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3" Type="http://schemas.openxmlformats.org/officeDocument/2006/relationships/hyperlink" Target="https://www.who.int/teams/health-promotion/enhanced-wellbeing/first-global-conference/emblem" TargetMode="External"/><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hyperlink" Target="http://www.yourmorals.org/schwartz_process.php" TargetMode="External"/><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5.xml.rels><?xml version="1.0" encoding="UTF-8" standalone="yes"?>
<Relationships xmlns="http://schemas.openxmlformats.org/package/2006/relationships"><Relationship Id="rId2" Type="http://schemas.openxmlformats.org/officeDocument/2006/relationships/hyperlink" Target="https://www.ted.com/talks/nicholas_christakis_the_hidden_influence_of_social_networks?language=en" TargetMode="External"/><Relationship Id="rId1" Type="http://schemas.openxmlformats.org/officeDocument/2006/relationships/slideLayout" Target="../slideLayouts/slideLayout2.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6.xml.rels><?xml version="1.0" encoding="UTF-8" standalone="yes"?>
<Relationships xmlns="http://schemas.openxmlformats.org/package/2006/relationships"><Relationship Id="rId2" Type="http://schemas.openxmlformats.org/officeDocument/2006/relationships/hyperlink" Target="https://www.safetyandquality.gov.au/sites/default/files/migrated/Final-Report-Patient-Clinician-Communication-Literature-Review-Feb-2013.pdf" TargetMode="External"/><Relationship Id="rId1" Type="http://schemas.openxmlformats.org/officeDocument/2006/relationships/slideLayout" Target="../slideLayouts/slideLayout2.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9.xml.rels><?xml version="1.0" encoding="UTF-8" standalone="yes"?>
<Relationships xmlns="http://schemas.openxmlformats.org/package/2006/relationships"><Relationship Id="rId3" Type="http://schemas.openxmlformats.org/officeDocument/2006/relationships/hyperlink" Target="https://pixabay.com/en/grandma-granny-gran-rocking-chair-486796/" TargetMode="External"/><Relationship Id="rId2" Type="http://schemas.openxmlformats.org/officeDocument/2006/relationships/image" Target="../media/image28.png"/><Relationship Id="rId1" Type="http://schemas.openxmlformats.org/officeDocument/2006/relationships/slideLayout" Target="../slideLayouts/slideLayout7.xml"/><Relationship Id="rId6" Type="http://schemas.openxmlformats.org/officeDocument/2006/relationships/hyperlink" Target="https://creativecommons.org/licenses/by-sa/3.0/" TargetMode="External"/><Relationship Id="rId5" Type="http://schemas.openxmlformats.org/officeDocument/2006/relationships/hyperlink" Target="https://commons.wikimedia.org/wiki/File:Doctor_Writing_on_Clipboard_Cartoon.svg" TargetMode="External"/><Relationship Id="rId4" Type="http://schemas.openxmlformats.org/officeDocument/2006/relationships/image" Target="../media/image29.png"/></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0.xml.rels><?xml version="1.0" encoding="UTF-8" standalone="yes"?>
<Relationships xmlns="http://schemas.openxmlformats.org/package/2006/relationships"><Relationship Id="rId2" Type="http://schemas.openxmlformats.org/officeDocument/2006/relationships/hyperlink" Target="https://www.rickhanson.net/well-podcast-introducing-resilience/" TargetMode="External"/><Relationship Id="rId1" Type="http://schemas.openxmlformats.org/officeDocument/2006/relationships/slideLayout" Target="../slideLayouts/slideLayout2.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8.xml.rels><?xml version="1.0" encoding="UTF-8" standalone="yes"?>
<Relationships xmlns="http://schemas.openxmlformats.org/package/2006/relationships"><Relationship Id="rId2" Type="http://schemas.openxmlformats.org/officeDocument/2006/relationships/hyperlink" Target="https://www.aihw.gov.au/reports/australias-health/health-system-overview" TargetMode="External"/><Relationship Id="rId1" Type="http://schemas.openxmlformats.org/officeDocument/2006/relationships/slideLayout" Target="../slideLayouts/slideLayout2.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2.xml.rels><?xml version="1.0" encoding="UTF-8" standalone="yes"?>
<Relationships xmlns="http://schemas.openxmlformats.org/package/2006/relationships"><Relationship Id="rId2" Type="http://schemas.openxmlformats.org/officeDocument/2006/relationships/hyperlink" Target="https://www.humanservices.gov.au/individuals/services/medicare/medicare-card/eligibility/who-can-get-it" TargetMode="External"/><Relationship Id="rId1" Type="http://schemas.openxmlformats.org/officeDocument/2006/relationships/slideLayout" Target="../slideLayouts/slideLayout2.xml"/></Relationships>
</file>

<file path=ppt/slides/_rels/slide203.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slideLayout" Target="../slideLayouts/slideLayout2.xml"/><Relationship Id="rId1" Type="http://schemas.openxmlformats.org/officeDocument/2006/relationships/video" Target="https://www.youtube.com/embed/X9XZcgFZdi0?feature=oembed" TargetMode="Externa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hyperlink" Target="https://www.privatehealth.gov.au/health_insurance/what_is_covered/index.htm" TargetMode="External"/><Relationship Id="rId1" Type="http://schemas.openxmlformats.org/officeDocument/2006/relationships/slideLayout" Target="../slideLayouts/slideLayout2.xml"/></Relationships>
</file>

<file path=ppt/slides/_rels/slide208.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1.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212.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4.xml.rels><?xml version="1.0" encoding="UTF-8" standalone="yes"?>
<Relationships xmlns="http://schemas.openxmlformats.org/package/2006/relationships"><Relationship Id="rId2" Type="http://schemas.openxmlformats.org/officeDocument/2006/relationships/hyperlink" Target="https://www.youtube.com/watch?v=hqtV_l2XQz8&amp;feature=emb_logo" TargetMode="External"/><Relationship Id="rId1" Type="http://schemas.openxmlformats.org/officeDocument/2006/relationships/slideLayout" Target="../slideLayouts/slideLayout2.xm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4.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2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7.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228.xml.rels><?xml version="1.0" encoding="UTF-8" standalone="yes"?>
<Relationships xmlns="http://schemas.openxmlformats.org/package/2006/relationships"><Relationship Id="rId2" Type="http://schemas.openxmlformats.org/officeDocument/2006/relationships/hyperlink" Target="https://beta.health.gov.au/health-topics/immunisation/immunisation-throughout-life/national-immunisation-program-schedule" TargetMode="External"/><Relationship Id="rId1" Type="http://schemas.openxmlformats.org/officeDocument/2006/relationships/slideLayout" Target="../slideLayouts/slideLayout2.xml"/></Relationships>
</file>

<file path=ppt/slides/_rels/slide229.xml.rels><?xml version="1.0" encoding="UTF-8" standalone="yes"?>
<Relationships xmlns="http://schemas.openxmlformats.org/package/2006/relationships"><Relationship Id="rId2" Type="http://schemas.openxmlformats.org/officeDocument/2006/relationships/hyperlink" Target="http://www.health.gov.au/internet/main/publishing.nsf/Content/ohp-measles-elim-announce-2014.htm" TargetMode="External"/><Relationship Id="rId1" Type="http://schemas.openxmlformats.org/officeDocument/2006/relationships/slideLayout" Target="../slideLayouts/slideLayout2.xml"/></Relationships>
</file>

<file path=ppt/slides/_rels/slide2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1.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232.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2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6.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hyperlink" Target="https://www.qld.gov.au/health/conditions/immunisation/benefits#transcript" TargetMode="External"/><Relationship Id="rId1" Type="http://schemas.openxmlformats.org/officeDocument/2006/relationships/slideLayout" Target="../slideLayouts/slideLayout2.xml"/></Relationships>
</file>

<file path=ppt/slides/_rels/slide2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0.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2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1.xml.rels><?xml version="1.0" encoding="UTF-8" standalone="yes"?>
<Relationships xmlns="http://schemas.openxmlformats.org/package/2006/relationships"><Relationship Id="rId2" Type="http://schemas.openxmlformats.org/officeDocument/2006/relationships/hyperlink" Target="http://www.health.gov.au/internet/main/publishing.nsf/Content/Home" TargetMode="External"/><Relationship Id="rId1" Type="http://schemas.openxmlformats.org/officeDocument/2006/relationships/slideLayout" Target="../slideLayouts/slideLayout2.xml"/></Relationships>
</file>

<file path=ppt/slides/_rels/slide25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7.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2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7.xml.rels><?xml version="1.0" encoding="UTF-8" standalone="yes"?>
<Relationships xmlns="http://schemas.openxmlformats.org/package/2006/relationships"><Relationship Id="rId2" Type="http://schemas.openxmlformats.org/officeDocument/2006/relationships/hyperlink" Target="http://www.who.int/sdhconference/declaration/en/" TargetMode="External"/><Relationship Id="rId1" Type="http://schemas.openxmlformats.org/officeDocument/2006/relationships/slideLayout" Target="../slideLayouts/slideLayout2.xml"/></Relationships>
</file>

<file path=ppt/slides/_rels/slide2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3.xml.rels><?xml version="1.0" encoding="UTF-8" standalone="yes"?>
<Relationships xmlns="http://schemas.openxmlformats.org/package/2006/relationships"><Relationship Id="rId2" Type="http://schemas.openxmlformats.org/officeDocument/2006/relationships/hyperlink" Target="https://www.youtube.com/watch?v=ES1IX3Mam20" TargetMode="External"/><Relationship Id="rId1" Type="http://schemas.openxmlformats.org/officeDocument/2006/relationships/slideLayout" Target="../slideLayouts/slideLayout2.xml"/></Relationships>
</file>

<file path=ppt/slides/_rels/slide274.xml.rels><?xml version="1.0" encoding="UTF-8" standalone="yes"?>
<Relationships xmlns="http://schemas.openxmlformats.org/package/2006/relationships"><Relationship Id="rId3" Type="http://schemas.openxmlformats.org/officeDocument/2006/relationships/hyperlink" Target="http://www.bcdb.com/cartoons/Other_Studios/S/S-_Miscellany/Siriol_Productions/" TargetMode="External"/><Relationship Id="rId2" Type="http://schemas.openxmlformats.org/officeDocument/2006/relationships/image" Target="../media/image57.jpg"/><Relationship Id="rId1" Type="http://schemas.openxmlformats.org/officeDocument/2006/relationships/slideLayout" Target="../slideLayouts/slideLayout2.xml"/><Relationship Id="rId6" Type="http://schemas.openxmlformats.org/officeDocument/2006/relationships/hyperlink" Target="https://openclipart.org/detail/290024/poo-emoji-remix" TargetMode="External"/><Relationship Id="rId5" Type="http://schemas.openxmlformats.org/officeDocument/2006/relationships/image" Target="../media/image58.png"/><Relationship Id="rId4" Type="http://schemas.openxmlformats.org/officeDocument/2006/relationships/hyperlink" Target="https://creativecommons.org/licenses/by-nc-sa/3.0/" TargetMode="External"/></Relationships>
</file>

<file path=ppt/slides/_rels/slide2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1" name="Rectangle 14">
            <a:extLst>
              <a:ext uri="{FF2B5EF4-FFF2-40B4-BE49-F238E27FC236}">
                <a16:creationId xmlns:a16="http://schemas.microsoft.com/office/drawing/2014/main" id="{BC82E0D7-37D0-4C31-B2DA-233C8F10C9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27546" y="321732"/>
            <a:ext cx="9097524" cy="6148972"/>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024129" y="585216"/>
            <a:ext cx="8069094" cy="1499616"/>
          </a:xfrm>
        </p:spPr>
        <p:txBody>
          <a:bodyPr>
            <a:normAutofit/>
          </a:bodyPr>
          <a:lstStyle/>
          <a:p>
            <a:r>
              <a:rPr lang="en-US">
                <a:solidFill>
                  <a:srgbClr val="FFFFFF"/>
                </a:solidFill>
              </a:rPr>
              <a:t>Unit 3</a:t>
            </a:r>
          </a:p>
        </p:txBody>
      </p:sp>
      <p:cxnSp>
        <p:nvCxnSpPr>
          <p:cNvPr id="22" name="Straight Connector 16">
            <a:extLst>
              <a:ext uri="{FF2B5EF4-FFF2-40B4-BE49-F238E27FC236}">
                <a16:creationId xmlns:a16="http://schemas.microsoft.com/office/drawing/2014/main" id="{1AD3A364-FD48-4C42-B623-DAD0C3ED6B4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762000" y="826324"/>
            <a:ext cx="0" cy="914400"/>
          </a:xfrm>
          <a:prstGeom prst="line">
            <a:avLst/>
          </a:prstGeom>
          <a:ln w="19050">
            <a:solidFill>
              <a:schemeClr val="accent1">
                <a:lumMod val="20000"/>
                <a:lumOff val="80000"/>
              </a:schemeClr>
            </a:solidFill>
          </a:ln>
        </p:spPr>
        <p:style>
          <a:lnRef idx="1">
            <a:schemeClr val="accent1"/>
          </a:lnRef>
          <a:fillRef idx="0">
            <a:schemeClr val="accent1"/>
          </a:fillRef>
          <a:effectRef idx="0">
            <a:schemeClr val="accent1"/>
          </a:effectRef>
          <a:fontRef idx="minor">
            <a:schemeClr val="tx1"/>
          </a:fontRef>
        </p:style>
      </p:cxnSp>
      <p:sp>
        <p:nvSpPr>
          <p:cNvPr id="3" name="Content Placeholder 2"/>
          <p:cNvSpPr>
            <a:spLocks noGrp="1"/>
          </p:cNvSpPr>
          <p:nvPr>
            <p:ph idx="1"/>
          </p:nvPr>
        </p:nvSpPr>
        <p:spPr>
          <a:xfrm>
            <a:off x="1024129" y="1866900"/>
            <a:ext cx="8074151" cy="4405884"/>
          </a:xfrm>
        </p:spPr>
        <p:txBody>
          <a:bodyPr>
            <a:normAutofit lnSpcReduction="10000"/>
          </a:bodyPr>
          <a:lstStyle/>
          <a:p>
            <a:r>
              <a:rPr lang="en-AU" sz="2400" dirty="0">
                <a:solidFill>
                  <a:srgbClr val="FFFFFF"/>
                </a:solidFill>
              </a:rPr>
              <a:t>“The focus of this unit is the health of specific populations. Within Australia and across the globe, there are groups who do not enjoy the same level of health as the general population. Students learn about factors creating these disparities and ways of improving the health and wellbeing of specific groups through priority health approaches. They examine models and social justice principles which can be applied to address health inequity, and review actions and strategies focusing on reducing inequities. The influence of attitudinal and environmental influences on the health of specific groups is explored. Students examine and interpret relationships in data which explain disparities in health through the application of critical inquiry skills.”</a:t>
            </a:r>
          </a:p>
          <a:p>
            <a:r>
              <a:rPr lang="en-AU" sz="2400" dirty="0">
                <a:solidFill>
                  <a:srgbClr val="FFFFFF"/>
                </a:solidFill>
              </a:rPr>
              <a:t>-SCSA Syllabus</a:t>
            </a:r>
            <a:endParaRPr lang="en-GB" sz="2400" dirty="0">
              <a:solidFill>
                <a:srgbClr val="FFFFFF"/>
              </a:solidFill>
            </a:endParaRPr>
          </a:p>
        </p:txBody>
      </p:sp>
      <p:sp>
        <p:nvSpPr>
          <p:cNvPr id="23" name="Rectangle 18">
            <a:extLst>
              <a:ext uri="{FF2B5EF4-FFF2-40B4-BE49-F238E27FC236}">
                <a16:creationId xmlns:a16="http://schemas.microsoft.com/office/drawing/2014/main" id="{F9F40211-4307-4706-AE59-83AC153FBF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583348" y="325601"/>
            <a:ext cx="2286920" cy="6145103"/>
          </a:xfrm>
          <a:prstGeom prst="rect">
            <a:avLst/>
          </a:prstGeom>
          <a:solidFill>
            <a:schemeClr val="accent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297485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Socio-ecological model </a:t>
            </a:r>
          </a:p>
        </p:txBody>
      </p:sp>
      <p:sp>
        <p:nvSpPr>
          <p:cNvPr id="3" name="Subtitle 2"/>
          <p:cNvSpPr>
            <a:spLocks noGrp="1"/>
          </p:cNvSpPr>
          <p:nvPr>
            <p:ph type="subTitle" idx="1"/>
          </p:nvPr>
        </p:nvSpPr>
        <p:spPr/>
        <p:txBody>
          <a:bodyPr>
            <a:normAutofit/>
          </a:bodyPr>
          <a:lstStyle/>
          <a:p>
            <a:r>
              <a:rPr lang="en-US" sz="2200" dirty="0"/>
              <a:t>Term 1</a:t>
            </a:r>
          </a:p>
          <a:p>
            <a:r>
              <a:rPr lang="en-US" sz="2200" dirty="0"/>
              <a:t>Week 1</a:t>
            </a:r>
          </a:p>
        </p:txBody>
      </p:sp>
    </p:spTree>
    <p:extLst>
      <p:ext uri="{BB962C8B-B14F-4D97-AF65-F5344CB8AC3E}">
        <p14:creationId xmlns:p14="http://schemas.microsoft.com/office/powerpoint/2010/main" val="14815096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9E4C68A-A4A9-48A4-9FF2-D2896B1EA01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E2B9AEA5-52CB-49A6-AF8A-33502F291B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654296"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964788" y="804333"/>
            <a:ext cx="3302412" cy="5249334"/>
          </a:xfrm>
        </p:spPr>
        <p:txBody>
          <a:bodyPr>
            <a:normAutofit/>
          </a:bodyPr>
          <a:lstStyle/>
          <a:p>
            <a:pPr algn="r"/>
            <a:r>
              <a:rPr lang="en-US">
                <a:solidFill>
                  <a:srgbClr val="FFFFFF"/>
                </a:solidFill>
              </a:rPr>
              <a:t>Syllabus content</a:t>
            </a:r>
          </a:p>
        </p:txBody>
      </p:sp>
      <p:sp>
        <p:nvSpPr>
          <p:cNvPr id="3" name="Content Placeholder 2"/>
          <p:cNvSpPr>
            <a:spLocks noGrp="1"/>
          </p:cNvSpPr>
          <p:nvPr>
            <p:ph idx="1"/>
          </p:nvPr>
        </p:nvSpPr>
        <p:spPr>
          <a:xfrm>
            <a:off x="5109882" y="804333"/>
            <a:ext cx="6147169" cy="5249334"/>
          </a:xfrm>
        </p:spPr>
        <p:txBody>
          <a:bodyPr anchor="ctr">
            <a:normAutofit/>
          </a:bodyPr>
          <a:lstStyle/>
          <a:p>
            <a:pPr lvl="0">
              <a:buFont typeface="Wingdings" charset="2"/>
              <a:buChar char="v"/>
            </a:pPr>
            <a:r>
              <a:rPr lang="en-AU" dirty="0"/>
              <a:t> Socio-ecological model of health and its role in understanding and addressing public health problems</a:t>
            </a:r>
            <a:endParaRPr lang="en-GB" dirty="0"/>
          </a:p>
          <a:p>
            <a:pPr lvl="0">
              <a:buFont typeface="Arial" charset="0"/>
              <a:buChar char="•"/>
            </a:pPr>
            <a:r>
              <a:rPr lang="en-AU" dirty="0"/>
              <a:t> Individual</a:t>
            </a:r>
            <a:endParaRPr lang="en-GB" dirty="0"/>
          </a:p>
          <a:p>
            <a:pPr lvl="0">
              <a:buFont typeface="Arial" charset="0"/>
              <a:buChar char="•"/>
            </a:pPr>
            <a:r>
              <a:rPr lang="en-AU" dirty="0"/>
              <a:t> Interpersonal</a:t>
            </a:r>
            <a:endParaRPr lang="en-GB" dirty="0"/>
          </a:p>
          <a:p>
            <a:pPr lvl="0">
              <a:buFont typeface="Arial" charset="0"/>
              <a:buChar char="•"/>
            </a:pPr>
            <a:r>
              <a:rPr lang="en-AU" dirty="0"/>
              <a:t> Organisational</a:t>
            </a:r>
            <a:endParaRPr lang="en-GB" dirty="0"/>
          </a:p>
          <a:p>
            <a:pPr lvl="0">
              <a:buFont typeface="Arial" charset="0"/>
              <a:buChar char="•"/>
            </a:pPr>
            <a:r>
              <a:rPr lang="en-AU" dirty="0"/>
              <a:t> Community</a:t>
            </a:r>
            <a:endParaRPr lang="en-GB" dirty="0"/>
          </a:p>
          <a:p>
            <a:pPr lvl="0">
              <a:buFont typeface="Arial" charset="0"/>
              <a:buChar char="•"/>
            </a:pPr>
            <a:r>
              <a:rPr lang="en-AU" dirty="0"/>
              <a:t> Society</a:t>
            </a:r>
            <a:endParaRPr lang="en-GB" dirty="0"/>
          </a:p>
        </p:txBody>
      </p:sp>
    </p:spTree>
    <p:extLst>
      <p:ext uri="{BB962C8B-B14F-4D97-AF65-F5344CB8AC3E}">
        <p14:creationId xmlns:p14="http://schemas.microsoft.com/office/powerpoint/2010/main" val="19229944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Definition of health</a:t>
            </a:r>
          </a:p>
        </p:txBody>
      </p:sp>
      <p:sp>
        <p:nvSpPr>
          <p:cNvPr id="3" name="Content Placeholder 2"/>
          <p:cNvSpPr>
            <a:spLocks noGrp="1"/>
          </p:cNvSpPr>
          <p:nvPr>
            <p:ph idx="1"/>
          </p:nvPr>
        </p:nvSpPr>
        <p:spPr/>
        <p:txBody>
          <a:bodyPr/>
          <a:lstStyle/>
          <a:p>
            <a:r>
              <a:rPr lang="en-US" dirty="0"/>
              <a:t>What is health*??</a:t>
            </a:r>
          </a:p>
          <a:p>
            <a:r>
              <a:rPr lang="en-US" dirty="0"/>
              <a:t>According to WHO:</a:t>
            </a:r>
          </a:p>
          <a:p>
            <a:r>
              <a:rPr lang="en-US" dirty="0"/>
              <a:t>“a state of complete physical, mental and social wellbeing, free from disease and illness”</a:t>
            </a:r>
          </a:p>
          <a:p>
            <a:endParaRPr lang="en-US" dirty="0"/>
          </a:p>
        </p:txBody>
      </p:sp>
    </p:spTree>
    <p:extLst>
      <p:ext uri="{BB962C8B-B14F-4D97-AF65-F5344CB8AC3E}">
        <p14:creationId xmlns:p14="http://schemas.microsoft.com/office/powerpoint/2010/main" val="11812846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Socioecological (social) Model of Health</a:t>
            </a:r>
            <a:br>
              <a:rPr lang="en-US" dirty="0"/>
            </a:br>
            <a:endParaRPr lang="en-US" sz="2200" dirty="0"/>
          </a:p>
        </p:txBody>
      </p:sp>
      <p:sp>
        <p:nvSpPr>
          <p:cNvPr id="3" name="Content Placeholder 2"/>
          <p:cNvSpPr>
            <a:spLocks noGrp="1"/>
          </p:cNvSpPr>
          <p:nvPr>
            <p:ph idx="1"/>
          </p:nvPr>
        </p:nvSpPr>
        <p:spPr/>
        <p:txBody>
          <a:bodyPr/>
          <a:lstStyle/>
          <a:p>
            <a:r>
              <a:rPr lang="en-US" dirty="0"/>
              <a:t>Introduction to the socioecological model of health:</a:t>
            </a:r>
          </a:p>
          <a:p>
            <a:r>
              <a:rPr lang="en-US" dirty="0"/>
              <a:t>1. What does it look like?</a:t>
            </a:r>
          </a:p>
          <a:p>
            <a:pPr lvl="0"/>
            <a:r>
              <a:rPr lang="en-US" dirty="0"/>
              <a:t>2. Why does it exist?</a:t>
            </a:r>
          </a:p>
          <a:p>
            <a:pPr lvl="0"/>
            <a:r>
              <a:rPr lang="en-US" dirty="0"/>
              <a:t>3. What information does it provide us with?</a:t>
            </a:r>
          </a:p>
          <a:p>
            <a:pPr lvl="0"/>
            <a:r>
              <a:rPr lang="en-US" dirty="0"/>
              <a:t>4. How we can use it?</a:t>
            </a:r>
          </a:p>
          <a:p>
            <a:r>
              <a:rPr lang="en-US" dirty="0"/>
              <a:t>5. Individually break down each level and isolate each component. </a:t>
            </a:r>
          </a:p>
          <a:p>
            <a:r>
              <a:rPr lang="en-US" dirty="0"/>
              <a:t>6. Explore the relationship between each section of the model.</a:t>
            </a:r>
          </a:p>
          <a:p>
            <a:r>
              <a:rPr lang="en-US" dirty="0"/>
              <a:t>7. Apply it to examples.</a:t>
            </a:r>
          </a:p>
          <a:p>
            <a:pPr marL="0" indent="0">
              <a:buNone/>
            </a:pPr>
            <a:endParaRPr lang="en-US" dirty="0"/>
          </a:p>
        </p:txBody>
      </p:sp>
    </p:spTree>
    <p:extLst>
      <p:ext uri="{BB962C8B-B14F-4D97-AF65-F5344CB8AC3E}">
        <p14:creationId xmlns:p14="http://schemas.microsoft.com/office/powerpoint/2010/main" val="33845186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1. What does it look like?</a:t>
            </a:r>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458762" y="1640005"/>
            <a:ext cx="6085252" cy="4568708"/>
          </a:xfrm>
        </p:spPr>
      </p:pic>
      <p:sp>
        <p:nvSpPr>
          <p:cNvPr id="5" name="TextBox 4"/>
          <p:cNvSpPr txBox="1"/>
          <p:nvPr/>
        </p:nvSpPr>
        <p:spPr>
          <a:xfrm>
            <a:off x="6209346" y="6208713"/>
            <a:ext cx="3884771" cy="461665"/>
          </a:xfrm>
          <a:prstGeom prst="rect">
            <a:avLst/>
          </a:prstGeom>
          <a:noFill/>
        </p:spPr>
        <p:txBody>
          <a:bodyPr wrap="square" rtlCol="0">
            <a:spAutoFit/>
          </a:bodyPr>
          <a:lstStyle/>
          <a:p>
            <a:r>
              <a:rPr lang="en-US" sz="1200" dirty="0"/>
              <a:t>Image from Pharmacy Track: Pharmacists Working With Local Coalitions and PDMPs via </a:t>
            </a:r>
            <a:r>
              <a:rPr lang="en-US" sz="1200" dirty="0" err="1"/>
              <a:t>Slideshare.net</a:t>
            </a:r>
            <a:r>
              <a:rPr lang="en-US" sz="1200" dirty="0"/>
              <a:t> </a:t>
            </a:r>
          </a:p>
        </p:txBody>
      </p:sp>
      <p:sp>
        <p:nvSpPr>
          <p:cNvPr id="6" name="TextBox 5">
            <a:extLst>
              <a:ext uri="{FF2B5EF4-FFF2-40B4-BE49-F238E27FC236}">
                <a16:creationId xmlns:a16="http://schemas.microsoft.com/office/drawing/2014/main" id="{2F9A77A2-A2FF-42E1-A4E1-C5FB1ECDD276}"/>
              </a:ext>
            </a:extLst>
          </p:cNvPr>
          <p:cNvSpPr txBox="1"/>
          <p:nvPr/>
        </p:nvSpPr>
        <p:spPr>
          <a:xfrm>
            <a:off x="366407" y="2170125"/>
            <a:ext cx="5750076" cy="1938992"/>
          </a:xfrm>
          <a:prstGeom prst="rect">
            <a:avLst/>
          </a:prstGeom>
          <a:noFill/>
        </p:spPr>
        <p:txBody>
          <a:bodyPr wrap="square">
            <a:spAutoFit/>
          </a:bodyPr>
          <a:lstStyle/>
          <a:p>
            <a:r>
              <a:rPr lang="en-US" sz="2400" u="sng" dirty="0"/>
              <a:t>Socioecological model*: </a:t>
            </a:r>
            <a:r>
              <a:rPr lang="en-US" sz="2400" dirty="0"/>
              <a:t>A conceptual model that outlines how the health status of an individual is influenced not only by their attitudes and behaviours but also by their relationships, community and society. </a:t>
            </a:r>
          </a:p>
        </p:txBody>
      </p:sp>
    </p:spTree>
    <p:extLst>
      <p:ext uri="{BB962C8B-B14F-4D97-AF65-F5344CB8AC3E}">
        <p14:creationId xmlns:p14="http://schemas.microsoft.com/office/powerpoint/2010/main" val="61292991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2. Why does it exist?</a:t>
            </a:r>
          </a:p>
        </p:txBody>
      </p:sp>
      <p:sp>
        <p:nvSpPr>
          <p:cNvPr id="3" name="Content Placeholder 2"/>
          <p:cNvSpPr>
            <a:spLocks noGrp="1"/>
          </p:cNvSpPr>
          <p:nvPr>
            <p:ph idx="1"/>
          </p:nvPr>
        </p:nvSpPr>
        <p:spPr/>
        <p:txBody>
          <a:bodyPr/>
          <a:lstStyle/>
          <a:p>
            <a:pPr>
              <a:buFont typeface="Wingdings" charset="2"/>
              <a:buChar char="v"/>
            </a:pPr>
            <a:r>
              <a:rPr lang="en-US" dirty="0"/>
              <a:t>Human behaviour is influenced by a variety of factors.</a:t>
            </a:r>
          </a:p>
          <a:p>
            <a:pPr>
              <a:buFont typeface="Wingdings" charset="2"/>
              <a:buChar char="v"/>
            </a:pPr>
            <a:r>
              <a:rPr lang="en-US" dirty="0"/>
              <a:t>Understanding how these factors interrelate is important in understanding how they influence behaviour</a:t>
            </a:r>
          </a:p>
          <a:p>
            <a:pPr>
              <a:buFont typeface="Wingdings" charset="2"/>
              <a:buChar char="v"/>
            </a:pPr>
            <a:r>
              <a:rPr lang="en-US" dirty="0"/>
              <a:t>It can be used to help explain why certain </a:t>
            </a:r>
            <a:r>
              <a:rPr lang="en-US" dirty="0" err="1"/>
              <a:t>behaviours</a:t>
            </a:r>
            <a:r>
              <a:rPr lang="en-US" dirty="0"/>
              <a:t> are more prevalent in particular populations</a:t>
            </a:r>
          </a:p>
          <a:p>
            <a:pPr>
              <a:buFont typeface="Wingdings" charset="2"/>
              <a:buChar char="v"/>
            </a:pPr>
            <a:r>
              <a:rPr lang="en-US" dirty="0"/>
              <a:t>When we know why certain </a:t>
            </a:r>
            <a:r>
              <a:rPr lang="en-US" dirty="0" err="1"/>
              <a:t>behaviours</a:t>
            </a:r>
            <a:r>
              <a:rPr lang="en-US" dirty="0"/>
              <a:t> are more prevalent we can implement a public health approach to preventing harm and illness and in turn, improve health. </a:t>
            </a:r>
          </a:p>
          <a:p>
            <a:pPr>
              <a:buFont typeface="Wingdings" charset="2"/>
              <a:buChar char="v"/>
            </a:pPr>
            <a:endParaRPr lang="en-US" dirty="0"/>
          </a:p>
        </p:txBody>
      </p:sp>
    </p:spTree>
    <p:extLst>
      <p:ext uri="{BB962C8B-B14F-4D97-AF65-F5344CB8AC3E}">
        <p14:creationId xmlns:p14="http://schemas.microsoft.com/office/powerpoint/2010/main" val="10408148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59536" y="585216"/>
            <a:ext cx="10168128" cy="1499616"/>
          </a:xfrm>
        </p:spPr>
        <p:txBody>
          <a:bodyPr/>
          <a:lstStyle/>
          <a:p>
            <a:r>
              <a:rPr lang="en-US" dirty="0"/>
              <a:t>3. What information does it provide us with?</a:t>
            </a:r>
          </a:p>
        </p:txBody>
      </p:sp>
      <p:sp>
        <p:nvSpPr>
          <p:cNvPr id="3" name="Content Placeholder 2"/>
          <p:cNvSpPr>
            <a:spLocks noGrp="1"/>
          </p:cNvSpPr>
          <p:nvPr>
            <p:ph idx="1"/>
          </p:nvPr>
        </p:nvSpPr>
        <p:spPr/>
        <p:txBody>
          <a:bodyPr/>
          <a:lstStyle/>
          <a:p>
            <a:pPr>
              <a:buFont typeface="Wingdings" charset="2"/>
              <a:buChar char="v"/>
            </a:pPr>
            <a:r>
              <a:rPr lang="en-US" dirty="0"/>
              <a:t>The five “nested” levels cover a variety of factors that can influence human behaviour. </a:t>
            </a:r>
          </a:p>
          <a:p>
            <a:pPr>
              <a:buFont typeface="Wingdings" charset="2"/>
              <a:buChar char="v"/>
            </a:pPr>
            <a:r>
              <a:rPr lang="en-US" dirty="0"/>
              <a:t>We can also see how the factors within each level interact with each other to contribute to certain behaviours. </a:t>
            </a:r>
          </a:p>
          <a:p>
            <a:pPr>
              <a:buFont typeface="Wingdings" charset="2"/>
              <a:buChar char="v"/>
            </a:pPr>
            <a:r>
              <a:rPr lang="en-US" dirty="0"/>
              <a:t>It can help explain behaviours AND be used to guide health promotion to address unhealthy behaviour.</a:t>
            </a:r>
          </a:p>
        </p:txBody>
      </p:sp>
    </p:spTree>
    <p:extLst>
      <p:ext uri="{BB962C8B-B14F-4D97-AF65-F5344CB8AC3E}">
        <p14:creationId xmlns:p14="http://schemas.microsoft.com/office/powerpoint/2010/main" val="14291909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4. How can we use it?</a:t>
            </a:r>
          </a:p>
        </p:txBody>
      </p:sp>
      <p:sp>
        <p:nvSpPr>
          <p:cNvPr id="3" name="Content Placeholder 2"/>
          <p:cNvSpPr>
            <a:spLocks noGrp="1"/>
          </p:cNvSpPr>
          <p:nvPr>
            <p:ph idx="1"/>
          </p:nvPr>
        </p:nvSpPr>
        <p:spPr/>
        <p:txBody>
          <a:bodyPr/>
          <a:lstStyle/>
          <a:p>
            <a:pPr>
              <a:buFont typeface="Wingdings" charset="2"/>
              <a:buChar char="v"/>
            </a:pPr>
            <a:r>
              <a:rPr lang="en-US" sz="2400" dirty="0"/>
              <a:t>It needs to be understood as a SYSTEM.</a:t>
            </a:r>
          </a:p>
          <a:p>
            <a:pPr>
              <a:buFont typeface="Wingdings" charset="2"/>
              <a:buChar char="v"/>
            </a:pPr>
            <a:r>
              <a:rPr lang="en-US" sz="2400" dirty="0"/>
              <a:t>Health promoters can apply the model to help gain understanding of the factors that influence human behaviour, and how these factors interrelate. </a:t>
            </a:r>
          </a:p>
          <a:p>
            <a:pPr>
              <a:buFont typeface="Wingdings" charset="2"/>
              <a:buChar char="v"/>
            </a:pPr>
            <a:endParaRPr lang="en-US" dirty="0"/>
          </a:p>
          <a:p>
            <a:pPr marL="0" indent="0">
              <a:buNone/>
            </a:pPr>
            <a:endParaRPr lang="en-US" dirty="0"/>
          </a:p>
          <a:p>
            <a:pPr>
              <a:buFont typeface="Wingdings" charset="2"/>
              <a:buChar char="Ø"/>
            </a:pPr>
            <a:endParaRPr lang="en-US" dirty="0"/>
          </a:p>
        </p:txBody>
      </p:sp>
    </p:spTree>
    <p:extLst>
      <p:ext uri="{BB962C8B-B14F-4D97-AF65-F5344CB8AC3E}">
        <p14:creationId xmlns:p14="http://schemas.microsoft.com/office/powerpoint/2010/main" val="8069318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5. Breaking down each level:</a:t>
            </a:r>
          </a:p>
        </p:txBody>
      </p:sp>
      <p:sp>
        <p:nvSpPr>
          <p:cNvPr id="3" name="Content Placeholder 2"/>
          <p:cNvSpPr>
            <a:spLocks noGrp="1"/>
          </p:cNvSpPr>
          <p:nvPr>
            <p:ph idx="1"/>
          </p:nvPr>
        </p:nvSpPr>
        <p:spPr>
          <a:xfrm>
            <a:off x="1316228" y="1873250"/>
            <a:ext cx="9720071" cy="4023360"/>
          </a:xfrm>
        </p:spPr>
        <p:txBody>
          <a:bodyPr/>
          <a:lstStyle/>
          <a:p>
            <a:endParaRPr lang="en-US" sz="2800" b="1" u="sng" dirty="0"/>
          </a:p>
          <a:p>
            <a:pPr>
              <a:buAutoNum type="arabicPeriod"/>
            </a:pPr>
            <a:r>
              <a:rPr lang="en-US" sz="2800" dirty="0"/>
              <a:t> Individual</a:t>
            </a:r>
          </a:p>
          <a:p>
            <a:pPr>
              <a:buAutoNum type="arabicPeriod"/>
            </a:pPr>
            <a:r>
              <a:rPr lang="en-US" sz="2800" dirty="0"/>
              <a:t> Interpersonal </a:t>
            </a:r>
          </a:p>
          <a:p>
            <a:pPr>
              <a:buAutoNum type="arabicPeriod"/>
            </a:pPr>
            <a:r>
              <a:rPr lang="en-US" sz="2800" dirty="0"/>
              <a:t> Organizational</a:t>
            </a:r>
          </a:p>
          <a:p>
            <a:pPr>
              <a:buAutoNum type="arabicPeriod"/>
            </a:pPr>
            <a:r>
              <a:rPr lang="en-US" sz="2800" dirty="0"/>
              <a:t> Community</a:t>
            </a:r>
          </a:p>
          <a:p>
            <a:pPr>
              <a:buAutoNum type="arabicPeriod"/>
            </a:pPr>
            <a:r>
              <a:rPr lang="en-US" sz="2800" dirty="0"/>
              <a:t> Societal </a:t>
            </a:r>
          </a:p>
          <a:p>
            <a:endParaRPr lang="en-US" dirty="0"/>
          </a:p>
        </p:txBody>
      </p:sp>
    </p:spTree>
    <p:extLst>
      <p:ext uri="{BB962C8B-B14F-4D97-AF65-F5344CB8AC3E}">
        <p14:creationId xmlns:p14="http://schemas.microsoft.com/office/powerpoint/2010/main" val="95175621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Individual LEVEL</a:t>
            </a:r>
          </a:p>
        </p:txBody>
      </p:sp>
      <p:sp>
        <p:nvSpPr>
          <p:cNvPr id="3" name="Content Placeholder 2"/>
          <p:cNvSpPr>
            <a:spLocks noGrp="1"/>
          </p:cNvSpPr>
          <p:nvPr>
            <p:ph idx="1"/>
          </p:nvPr>
        </p:nvSpPr>
        <p:spPr>
          <a:xfrm>
            <a:off x="1024128" y="1752600"/>
            <a:ext cx="9720071" cy="4023360"/>
          </a:xfrm>
        </p:spPr>
        <p:txBody>
          <a:bodyPr>
            <a:noAutofit/>
          </a:bodyPr>
          <a:lstStyle/>
          <a:p>
            <a:pPr marL="0" indent="0">
              <a:buNone/>
            </a:pPr>
            <a:r>
              <a:rPr lang="en-US" dirty="0"/>
              <a:t>Characteristics of the individual including knowledge, attitudes, behavior, self-concept, skills and decision making. Includes:</a:t>
            </a:r>
          </a:p>
          <a:p>
            <a:pPr>
              <a:buFont typeface="Wingdings" charset="2"/>
              <a:buChar char="v"/>
            </a:pPr>
            <a:r>
              <a:rPr lang="en-US" dirty="0"/>
              <a:t>Biological factors (genetics)</a:t>
            </a:r>
          </a:p>
          <a:p>
            <a:pPr>
              <a:buFont typeface="Wingdings" charset="2"/>
              <a:buChar char="v"/>
            </a:pPr>
            <a:r>
              <a:rPr lang="en-US" dirty="0"/>
              <a:t>Demographics (age and gender, racial ethnicity)</a:t>
            </a:r>
          </a:p>
          <a:p>
            <a:pPr>
              <a:buFont typeface="Wingdings" charset="2"/>
              <a:buChar char="v"/>
            </a:pPr>
            <a:r>
              <a:rPr lang="en-US" dirty="0"/>
              <a:t>Personality and emotional intelligence</a:t>
            </a:r>
          </a:p>
          <a:p>
            <a:pPr>
              <a:buFont typeface="Wingdings" charset="2"/>
              <a:buChar char="v"/>
            </a:pPr>
            <a:r>
              <a:rPr lang="en-US" dirty="0"/>
              <a:t>Intentions, will and self-control</a:t>
            </a:r>
          </a:p>
          <a:p>
            <a:pPr>
              <a:buFont typeface="Wingdings" charset="2"/>
              <a:buChar char="v"/>
            </a:pPr>
            <a:r>
              <a:rPr lang="en-US" dirty="0"/>
              <a:t>Literacy (and health literacy) levels</a:t>
            </a:r>
          </a:p>
          <a:p>
            <a:pPr>
              <a:buFont typeface="Wingdings" charset="2"/>
              <a:buChar char="v"/>
            </a:pPr>
            <a:r>
              <a:rPr lang="en-US" dirty="0"/>
              <a:t>Sexual orientation</a:t>
            </a:r>
          </a:p>
          <a:p>
            <a:pPr>
              <a:buFont typeface="Wingdings" charset="2"/>
              <a:buChar char="v"/>
            </a:pPr>
            <a:r>
              <a:rPr lang="en-US" dirty="0"/>
              <a:t>Attitudes, beliefs and values</a:t>
            </a:r>
          </a:p>
          <a:p>
            <a:pPr>
              <a:buFont typeface="Wingdings" charset="2"/>
              <a:buChar char="v"/>
            </a:pPr>
            <a:r>
              <a:rPr lang="en-US" dirty="0"/>
              <a:t>Financial resources</a:t>
            </a:r>
          </a:p>
        </p:txBody>
      </p:sp>
    </p:spTree>
    <p:extLst>
      <p:ext uri="{BB962C8B-B14F-4D97-AF65-F5344CB8AC3E}">
        <p14:creationId xmlns:p14="http://schemas.microsoft.com/office/powerpoint/2010/main" val="19578855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Interpersonal LEVEL</a:t>
            </a:r>
          </a:p>
        </p:txBody>
      </p:sp>
      <p:sp>
        <p:nvSpPr>
          <p:cNvPr id="3" name="Content Placeholder 2"/>
          <p:cNvSpPr>
            <a:spLocks noGrp="1"/>
          </p:cNvSpPr>
          <p:nvPr>
            <p:ph idx="1"/>
          </p:nvPr>
        </p:nvSpPr>
        <p:spPr/>
        <p:txBody>
          <a:bodyPr/>
          <a:lstStyle/>
          <a:p>
            <a:pPr marL="0" indent="0">
              <a:buNone/>
            </a:pPr>
            <a:r>
              <a:rPr lang="en-US" dirty="0"/>
              <a:t>Explores how close relationships impact health behaviors. Examines dynamic between family members, co-workers, friends and peers, other relationship patterns and family connectedness. Includes:</a:t>
            </a:r>
          </a:p>
          <a:p>
            <a:pPr>
              <a:buFont typeface="Wingdings" charset="2"/>
              <a:buChar char="v"/>
            </a:pPr>
            <a:r>
              <a:rPr lang="en-US" dirty="0"/>
              <a:t>How close relationships influence health behaviours</a:t>
            </a:r>
          </a:p>
          <a:p>
            <a:pPr>
              <a:buFont typeface="Wingdings" charset="2"/>
              <a:buChar char="v"/>
            </a:pPr>
            <a:r>
              <a:rPr lang="en-US" dirty="0"/>
              <a:t>Consider which relationships influence the most, and how we are influenced by different types of relationships. (</a:t>
            </a:r>
            <a:r>
              <a:rPr lang="en-US" dirty="0" err="1"/>
              <a:t>ie</a:t>
            </a:r>
            <a:r>
              <a:rPr lang="en-US" dirty="0"/>
              <a:t> parents vs peers)</a:t>
            </a:r>
          </a:p>
          <a:p>
            <a:pPr>
              <a:buFont typeface="Wingdings" charset="2"/>
              <a:buChar char="v"/>
            </a:pPr>
            <a:r>
              <a:rPr lang="en-US" dirty="0"/>
              <a:t>An individuals communication skills (Leadership, tolerance, respect for others)</a:t>
            </a:r>
          </a:p>
        </p:txBody>
      </p:sp>
    </p:spTree>
    <p:extLst>
      <p:ext uri="{BB962C8B-B14F-4D97-AF65-F5344CB8AC3E}">
        <p14:creationId xmlns:p14="http://schemas.microsoft.com/office/powerpoint/2010/main" val="14589580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Organisational LEVEL</a:t>
            </a:r>
          </a:p>
        </p:txBody>
      </p:sp>
      <p:sp>
        <p:nvSpPr>
          <p:cNvPr id="3" name="Content Placeholder 2"/>
          <p:cNvSpPr>
            <a:spLocks noGrp="1"/>
          </p:cNvSpPr>
          <p:nvPr>
            <p:ph idx="1"/>
          </p:nvPr>
        </p:nvSpPr>
        <p:spPr/>
        <p:txBody>
          <a:bodyPr/>
          <a:lstStyle/>
          <a:p>
            <a:pPr marL="0" indent="0">
              <a:buNone/>
            </a:pPr>
            <a:r>
              <a:rPr lang="en-US" dirty="0"/>
              <a:t>Examine the way that a person lives, works and learns within the rules, policies and expectations of institutions. (Schools, churches, workplaces, community organizations, healthcare services)</a:t>
            </a:r>
          </a:p>
          <a:p>
            <a:pPr marL="0" indent="0">
              <a:buNone/>
            </a:pPr>
            <a:r>
              <a:rPr lang="en-US" dirty="0"/>
              <a:t>Includes:</a:t>
            </a:r>
          </a:p>
          <a:p>
            <a:pPr>
              <a:buFont typeface="Wingdings" charset="2"/>
              <a:buChar char="v"/>
            </a:pPr>
            <a:r>
              <a:rPr lang="en-US" dirty="0"/>
              <a:t>Rules of </a:t>
            </a:r>
            <a:r>
              <a:rPr lang="en-US" dirty="0" err="1"/>
              <a:t>organisations</a:t>
            </a:r>
            <a:endParaRPr lang="en-US" dirty="0"/>
          </a:p>
          <a:p>
            <a:pPr>
              <a:buFont typeface="Wingdings" charset="2"/>
              <a:buChar char="v"/>
            </a:pPr>
            <a:r>
              <a:rPr lang="en-US" dirty="0"/>
              <a:t>Policies of </a:t>
            </a:r>
            <a:r>
              <a:rPr lang="en-US" dirty="0" err="1"/>
              <a:t>organisations</a:t>
            </a:r>
            <a:endParaRPr lang="en-US" dirty="0"/>
          </a:p>
          <a:p>
            <a:pPr>
              <a:buFont typeface="Wingdings" charset="2"/>
              <a:buChar char="v"/>
            </a:pPr>
            <a:r>
              <a:rPr lang="en-US" dirty="0"/>
              <a:t>Expectations within </a:t>
            </a:r>
            <a:r>
              <a:rPr lang="en-US" dirty="0" err="1"/>
              <a:t>organisations</a:t>
            </a:r>
            <a:endParaRPr lang="en-US" dirty="0"/>
          </a:p>
        </p:txBody>
      </p:sp>
    </p:spTree>
    <p:extLst>
      <p:ext uri="{BB962C8B-B14F-4D97-AF65-F5344CB8AC3E}">
        <p14:creationId xmlns:p14="http://schemas.microsoft.com/office/powerpoint/2010/main" val="7389590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Community LEVEL</a:t>
            </a:r>
          </a:p>
        </p:txBody>
      </p:sp>
      <p:sp>
        <p:nvSpPr>
          <p:cNvPr id="3" name="Content Placeholder 2"/>
          <p:cNvSpPr>
            <a:spLocks noGrp="1"/>
          </p:cNvSpPr>
          <p:nvPr>
            <p:ph idx="1"/>
          </p:nvPr>
        </p:nvSpPr>
        <p:spPr>
          <a:xfrm>
            <a:off x="960628" y="1879600"/>
            <a:ext cx="9720071" cy="4023360"/>
          </a:xfrm>
        </p:spPr>
        <p:txBody>
          <a:bodyPr/>
          <a:lstStyle/>
          <a:p>
            <a:pPr marL="0" indent="0">
              <a:buNone/>
            </a:pPr>
            <a:r>
              <a:rPr lang="en-US" dirty="0"/>
              <a:t>Community contexts in which </a:t>
            </a:r>
            <a:r>
              <a:rPr lang="en-US" dirty="0" err="1"/>
              <a:t>organisations</a:t>
            </a:r>
            <a:r>
              <a:rPr lang="en-US" dirty="0"/>
              <a:t> may interact as well as the community norms that cross all </a:t>
            </a:r>
            <a:r>
              <a:rPr lang="en-US" dirty="0" err="1"/>
              <a:t>organisations</a:t>
            </a:r>
            <a:r>
              <a:rPr lang="en-US" dirty="0"/>
              <a:t> within the community.</a:t>
            </a:r>
          </a:p>
          <a:p>
            <a:pPr marL="0" indent="0">
              <a:buNone/>
            </a:pPr>
            <a:r>
              <a:rPr lang="en-US" dirty="0"/>
              <a:t>Individuals within a community will usually bring the cultural and community norms with them to interpersonal and community settings. </a:t>
            </a:r>
          </a:p>
          <a:p>
            <a:pPr marL="0" indent="0">
              <a:buNone/>
            </a:pPr>
            <a:r>
              <a:rPr lang="en-US" dirty="0"/>
              <a:t>Includes:</a:t>
            </a:r>
          </a:p>
          <a:p>
            <a:pPr>
              <a:buFont typeface="Wingdings" charset="2"/>
              <a:buChar char="v"/>
            </a:pPr>
            <a:r>
              <a:rPr lang="en-US" dirty="0"/>
              <a:t>Businesses</a:t>
            </a:r>
          </a:p>
          <a:p>
            <a:pPr>
              <a:buFont typeface="Wingdings" charset="2"/>
              <a:buChar char="v"/>
            </a:pPr>
            <a:r>
              <a:rPr lang="en-US" dirty="0"/>
              <a:t>Transportation</a:t>
            </a:r>
          </a:p>
          <a:p>
            <a:pPr>
              <a:buFont typeface="Wingdings" charset="2"/>
              <a:buChar char="v"/>
            </a:pPr>
            <a:r>
              <a:rPr lang="en-US" dirty="0"/>
              <a:t>The built environment (</a:t>
            </a:r>
            <a:r>
              <a:rPr lang="en-US" dirty="0" err="1"/>
              <a:t>eg.</a:t>
            </a:r>
            <a:r>
              <a:rPr lang="en-US" dirty="0"/>
              <a:t> Parks and buildings)</a:t>
            </a:r>
          </a:p>
          <a:p>
            <a:pPr>
              <a:buFont typeface="Wingdings" charset="2"/>
              <a:buChar char="v"/>
            </a:pPr>
            <a:r>
              <a:rPr lang="en-US" dirty="0"/>
              <a:t>Community villages</a:t>
            </a:r>
          </a:p>
        </p:txBody>
      </p:sp>
    </p:spTree>
    <p:extLst>
      <p:ext uri="{BB962C8B-B14F-4D97-AF65-F5344CB8AC3E}">
        <p14:creationId xmlns:p14="http://schemas.microsoft.com/office/powerpoint/2010/main" val="7861504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Societal </a:t>
            </a:r>
            <a:r>
              <a:rPr lang="en-US" dirty="0" err="1"/>
              <a:t>lEVEL</a:t>
            </a:r>
            <a:endParaRPr lang="en-US" dirty="0"/>
          </a:p>
        </p:txBody>
      </p:sp>
      <p:sp>
        <p:nvSpPr>
          <p:cNvPr id="3" name="Content Placeholder 2"/>
          <p:cNvSpPr>
            <a:spLocks noGrp="1"/>
          </p:cNvSpPr>
          <p:nvPr>
            <p:ph idx="1"/>
          </p:nvPr>
        </p:nvSpPr>
        <p:spPr/>
        <p:txBody>
          <a:bodyPr>
            <a:normAutofit/>
          </a:bodyPr>
          <a:lstStyle/>
          <a:p>
            <a:pPr marL="0" indent="0">
              <a:buNone/>
            </a:pPr>
            <a:r>
              <a:rPr lang="en-US" dirty="0"/>
              <a:t>Examines factors such as:</a:t>
            </a:r>
          </a:p>
          <a:p>
            <a:pPr>
              <a:buFont typeface="Wingdings" charset="2"/>
              <a:buChar char="v"/>
            </a:pPr>
            <a:r>
              <a:rPr lang="en-US" dirty="0"/>
              <a:t>Cultural norms and collective attitudes</a:t>
            </a:r>
          </a:p>
          <a:p>
            <a:pPr>
              <a:buFont typeface="Wingdings" charset="2"/>
              <a:buChar char="v"/>
            </a:pPr>
            <a:r>
              <a:rPr lang="en-US" dirty="0"/>
              <a:t>Economic and social policies (legislation at a local, state and national level)</a:t>
            </a:r>
          </a:p>
          <a:p>
            <a:pPr>
              <a:buFont typeface="Wingdings" charset="2"/>
              <a:buChar char="v"/>
            </a:pPr>
            <a:r>
              <a:rPr lang="en-US" dirty="0"/>
              <a:t>Restrictive policies such as high taxes</a:t>
            </a:r>
          </a:p>
          <a:p>
            <a:pPr>
              <a:buFont typeface="Wingdings" charset="2"/>
              <a:buChar char="v"/>
            </a:pPr>
            <a:r>
              <a:rPr lang="en-US" dirty="0"/>
              <a:t>A lack of policies (</a:t>
            </a:r>
            <a:r>
              <a:rPr lang="en-US" dirty="0" err="1"/>
              <a:t>eg</a:t>
            </a:r>
            <a:r>
              <a:rPr lang="en-US" dirty="0"/>
              <a:t>. Requirements for childhood immunisations)</a:t>
            </a:r>
          </a:p>
          <a:p>
            <a:pPr>
              <a:buFont typeface="Wingdings" charset="2"/>
              <a:buChar char="v"/>
            </a:pPr>
            <a:r>
              <a:rPr lang="en-US" dirty="0"/>
              <a:t>Political structures (democracy or other voting systems)</a:t>
            </a:r>
          </a:p>
          <a:p>
            <a:pPr>
              <a:buFont typeface="Wingdings" charset="2"/>
              <a:buChar char="v"/>
            </a:pPr>
            <a:r>
              <a:rPr lang="en-US" dirty="0" err="1"/>
              <a:t>Eg</a:t>
            </a:r>
            <a:r>
              <a:rPr lang="en-US" dirty="0"/>
              <a:t>. “Western culture” or “Asian culture”</a:t>
            </a:r>
          </a:p>
        </p:txBody>
      </p:sp>
    </p:spTree>
    <p:extLst>
      <p:ext uri="{BB962C8B-B14F-4D97-AF65-F5344CB8AC3E}">
        <p14:creationId xmlns:p14="http://schemas.microsoft.com/office/powerpoint/2010/main" val="15115361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6. Relationships between each level</a:t>
            </a:r>
          </a:p>
        </p:txBody>
      </p:sp>
      <p:sp>
        <p:nvSpPr>
          <p:cNvPr id="3" name="Content Placeholder 2"/>
          <p:cNvSpPr>
            <a:spLocks noGrp="1"/>
          </p:cNvSpPr>
          <p:nvPr>
            <p:ph idx="1"/>
          </p:nvPr>
        </p:nvSpPr>
        <p:spPr/>
        <p:txBody>
          <a:bodyPr/>
          <a:lstStyle/>
          <a:p>
            <a:pPr>
              <a:buFont typeface="Wingdings" charset="2"/>
              <a:buChar char="v"/>
            </a:pPr>
            <a:r>
              <a:rPr lang="en-US" dirty="0"/>
              <a:t>It is important to understand that the levels invariably overlap and interact with each other.</a:t>
            </a:r>
          </a:p>
          <a:p>
            <a:pPr>
              <a:buFont typeface="Wingdings" charset="2"/>
              <a:buChar char="v"/>
            </a:pPr>
            <a:r>
              <a:rPr lang="en-US" dirty="0" err="1"/>
              <a:t>Eg</a:t>
            </a:r>
            <a:r>
              <a:rPr lang="en-US" dirty="0"/>
              <a:t>. Interpersonal interactions happen in the </a:t>
            </a:r>
            <a:r>
              <a:rPr lang="en-US" dirty="0" err="1"/>
              <a:t>organisational</a:t>
            </a:r>
            <a:r>
              <a:rPr lang="en-US" dirty="0"/>
              <a:t> level</a:t>
            </a:r>
          </a:p>
          <a:p>
            <a:pPr>
              <a:buFont typeface="Wingdings" charset="2"/>
              <a:buChar char="v"/>
            </a:pPr>
            <a:r>
              <a:rPr lang="en-US" dirty="0" err="1"/>
              <a:t>Eg</a:t>
            </a:r>
            <a:r>
              <a:rPr lang="en-US" dirty="0"/>
              <a:t>. Individuals bring the cultural and community norms with them into interpersonal and </a:t>
            </a:r>
            <a:r>
              <a:rPr lang="en-US" dirty="0" err="1"/>
              <a:t>organisational</a:t>
            </a:r>
            <a:r>
              <a:rPr lang="en-US" dirty="0"/>
              <a:t> settings.</a:t>
            </a:r>
          </a:p>
          <a:p>
            <a:pPr>
              <a:buFont typeface="Wingdings" charset="2"/>
              <a:buChar char="v"/>
            </a:pPr>
            <a:endParaRPr lang="en-US" dirty="0"/>
          </a:p>
        </p:txBody>
      </p:sp>
    </p:spTree>
    <p:extLst>
      <p:ext uri="{BB962C8B-B14F-4D97-AF65-F5344CB8AC3E}">
        <p14:creationId xmlns:p14="http://schemas.microsoft.com/office/powerpoint/2010/main" val="17085362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7. Application</a:t>
            </a:r>
          </a:p>
        </p:txBody>
      </p:sp>
      <p:sp>
        <p:nvSpPr>
          <p:cNvPr id="3" name="Content Placeholder 2"/>
          <p:cNvSpPr>
            <a:spLocks noGrp="1"/>
          </p:cNvSpPr>
          <p:nvPr>
            <p:ph idx="1"/>
          </p:nvPr>
        </p:nvSpPr>
        <p:spPr>
          <a:xfrm>
            <a:off x="833628" y="2019300"/>
            <a:ext cx="9524809" cy="4023360"/>
          </a:xfrm>
        </p:spPr>
        <p:txBody>
          <a:bodyPr>
            <a:normAutofit/>
          </a:bodyPr>
          <a:lstStyle/>
          <a:p>
            <a:pPr marL="0" indent="0">
              <a:buNone/>
            </a:pPr>
            <a:r>
              <a:rPr lang="en-US" b="1" dirty="0"/>
              <a:t>Example: Tobacco use in adolescent Australians.</a:t>
            </a:r>
          </a:p>
          <a:p>
            <a:pPr marL="0" indent="0">
              <a:buNone/>
            </a:pPr>
            <a:r>
              <a:rPr lang="en-US" dirty="0"/>
              <a:t>Complete the worksheet:</a:t>
            </a:r>
          </a:p>
          <a:p>
            <a:pPr marL="0" indent="0">
              <a:buNone/>
            </a:pPr>
            <a:endParaRPr lang="en-US" dirty="0"/>
          </a:p>
          <a:p>
            <a:pPr marL="0" indent="0">
              <a:buNone/>
            </a:pPr>
            <a:r>
              <a:rPr lang="en-US" dirty="0"/>
              <a:t>Use the socioecological model to help </a:t>
            </a:r>
            <a:r>
              <a:rPr lang="en-US" b="1" dirty="0"/>
              <a:t>understand</a:t>
            </a:r>
            <a:r>
              <a:rPr lang="en-US" dirty="0"/>
              <a:t> the prevalence/use of tobacco use in Australian adolescents.</a:t>
            </a:r>
          </a:p>
          <a:p>
            <a:pPr marL="0" indent="0">
              <a:buNone/>
            </a:pPr>
            <a:endParaRPr lang="en-US" dirty="0"/>
          </a:p>
          <a:p>
            <a:pPr marL="0" indent="0">
              <a:buNone/>
            </a:pPr>
            <a:r>
              <a:rPr lang="en-US" dirty="0"/>
              <a:t>Use the socioecological model to explain how tobacco use can be </a:t>
            </a:r>
            <a:r>
              <a:rPr lang="en-US" b="1" dirty="0"/>
              <a:t>addressed</a:t>
            </a:r>
            <a:r>
              <a:rPr lang="en-US" dirty="0"/>
              <a:t> in Australian adolescents. </a:t>
            </a:r>
          </a:p>
        </p:txBody>
      </p:sp>
      <p:pic>
        <p:nvPicPr>
          <p:cNvPr id="4" name="Picture 3">
            <a:extLst>
              <a:ext uri="{FF2B5EF4-FFF2-40B4-BE49-F238E27FC236}">
                <a16:creationId xmlns:a16="http://schemas.microsoft.com/office/drawing/2014/main" id="{5BEA6A9D-0904-4F17-A4C8-86516E79F86C}"/>
              </a:ext>
            </a:extLst>
          </p:cNvPr>
          <p:cNvPicPr>
            <a:picLocks noChangeAspect="1"/>
          </p:cNvPicPr>
          <p:nvPr/>
        </p:nvPicPr>
        <p:blipFill>
          <a:blip r:embed="rId2"/>
          <a:stretch>
            <a:fillRect/>
          </a:stretch>
        </p:blipFill>
        <p:spPr>
          <a:xfrm>
            <a:off x="7222599" y="521494"/>
            <a:ext cx="3256711" cy="2264567"/>
          </a:xfrm>
          <a:prstGeom prst="rect">
            <a:avLst/>
          </a:prstGeom>
        </p:spPr>
      </p:pic>
    </p:spTree>
    <p:extLst>
      <p:ext uri="{BB962C8B-B14F-4D97-AF65-F5344CB8AC3E}">
        <p14:creationId xmlns:p14="http://schemas.microsoft.com/office/powerpoint/2010/main" val="190004021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Apply it!</a:t>
            </a:r>
          </a:p>
        </p:txBody>
      </p:sp>
      <p:sp>
        <p:nvSpPr>
          <p:cNvPr id="3" name="Content Placeholder 2"/>
          <p:cNvSpPr>
            <a:spLocks noGrp="1"/>
          </p:cNvSpPr>
          <p:nvPr>
            <p:ph idx="1"/>
          </p:nvPr>
        </p:nvSpPr>
        <p:spPr>
          <a:xfrm>
            <a:off x="845534" y="1841500"/>
            <a:ext cx="5133785" cy="4572000"/>
          </a:xfrm>
        </p:spPr>
        <p:txBody>
          <a:bodyPr>
            <a:normAutofit fontScale="85000" lnSpcReduction="20000"/>
          </a:bodyPr>
          <a:lstStyle/>
          <a:p>
            <a:pPr marL="0" indent="0">
              <a:buNone/>
            </a:pPr>
            <a:r>
              <a:rPr lang="en-US" sz="2400" u="sng" dirty="0"/>
              <a:t>Individual (understanding)</a:t>
            </a:r>
          </a:p>
          <a:p>
            <a:pPr>
              <a:buFont typeface="Wingdings" charset="2"/>
              <a:buChar char="v"/>
            </a:pPr>
            <a:r>
              <a:rPr lang="en-US" sz="2400" dirty="0"/>
              <a:t>Young people are more likely to engage in risk taking behaviour. (</a:t>
            </a:r>
            <a:r>
              <a:rPr lang="en-US" sz="2400" dirty="0" err="1"/>
              <a:t>eg</a:t>
            </a:r>
            <a:r>
              <a:rPr lang="en-US" sz="2400" dirty="0"/>
              <a:t>. Young Males)</a:t>
            </a:r>
          </a:p>
          <a:p>
            <a:pPr>
              <a:buFont typeface="Wingdings" charset="2"/>
              <a:buChar char="v"/>
            </a:pPr>
            <a:r>
              <a:rPr lang="en-US" sz="2400" dirty="0"/>
              <a:t>Individuals who have lower levels of emotional intelligence are more likely to be persuaded to use drugs and alcohol</a:t>
            </a:r>
          </a:p>
          <a:p>
            <a:pPr>
              <a:buFont typeface="Wingdings" charset="2"/>
              <a:buChar char="v"/>
            </a:pPr>
            <a:r>
              <a:rPr lang="en-US" sz="2400" dirty="0"/>
              <a:t>Some personality traits such as addictive personalities or attention seeking personality traits are more likely to use drugs and alcohol (or become dependent on them)</a:t>
            </a:r>
          </a:p>
          <a:p>
            <a:pPr>
              <a:buFont typeface="Wingdings" charset="2"/>
              <a:buChar char="v"/>
            </a:pPr>
            <a:r>
              <a:rPr lang="en-US" sz="2400" dirty="0"/>
              <a:t>Individuals who have lower levels of health literacy are more likely to engage in tobacco use</a:t>
            </a:r>
          </a:p>
          <a:p>
            <a:pPr>
              <a:buFont typeface="Wingdings" charset="2"/>
              <a:buChar char="v"/>
            </a:pPr>
            <a:r>
              <a:rPr lang="en-US" sz="2400" dirty="0"/>
              <a:t>Individuals who show more self discipline and self control are less likely to use tobacco</a:t>
            </a:r>
          </a:p>
          <a:p>
            <a:pPr>
              <a:buFont typeface="Wingdings" charset="2"/>
              <a:buChar char="v"/>
            </a:pPr>
            <a:endParaRPr lang="en-US" dirty="0"/>
          </a:p>
        </p:txBody>
      </p:sp>
      <p:sp>
        <p:nvSpPr>
          <p:cNvPr id="4" name="Content Placeholder 2">
            <a:extLst>
              <a:ext uri="{FF2B5EF4-FFF2-40B4-BE49-F238E27FC236}">
                <a16:creationId xmlns:a16="http://schemas.microsoft.com/office/drawing/2014/main" id="{50A45A6C-3D49-4C5F-A187-105377626AFA}"/>
              </a:ext>
            </a:extLst>
          </p:cNvPr>
          <p:cNvSpPr txBox="1">
            <a:spLocks/>
          </p:cNvSpPr>
          <p:nvPr/>
        </p:nvSpPr>
        <p:spPr>
          <a:xfrm>
            <a:off x="6462902" y="1909763"/>
            <a:ext cx="5133785" cy="4023360"/>
          </a:xfrm>
          <a:prstGeom prst="rect">
            <a:avLst/>
          </a:prstGeom>
        </p:spPr>
        <p:txBody>
          <a:bodyPr vert="horz" lIns="45720" tIns="45720" rIns="4572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a:lstStyle>
          <a:p>
            <a:pPr marL="0" indent="0">
              <a:buFont typeface="Tw Cen MT" panose="020B0602020104020603" pitchFamily="34" charset="0"/>
              <a:buNone/>
            </a:pPr>
            <a:r>
              <a:rPr lang="en-US" sz="2000" u="sng" dirty="0"/>
              <a:t>Individual (addressing)</a:t>
            </a:r>
          </a:p>
          <a:p>
            <a:pPr>
              <a:buFont typeface="Wingdings" charset="2"/>
              <a:buChar char="v"/>
            </a:pPr>
            <a:r>
              <a:rPr lang="en-US" sz="2000" dirty="0"/>
              <a:t>Increase health literacy through school health education about the effects and risks associated with tobacco use. </a:t>
            </a:r>
          </a:p>
          <a:p>
            <a:pPr>
              <a:buFont typeface="Wingdings" charset="2"/>
              <a:buChar char="v"/>
            </a:pPr>
            <a:r>
              <a:rPr lang="en-US" sz="2000" dirty="0"/>
              <a:t>Influence attitudes, beliefs and values regarding tobacco use through education.</a:t>
            </a:r>
          </a:p>
        </p:txBody>
      </p:sp>
    </p:spTree>
    <p:extLst>
      <p:ext uri="{BB962C8B-B14F-4D97-AF65-F5344CB8AC3E}">
        <p14:creationId xmlns:p14="http://schemas.microsoft.com/office/powerpoint/2010/main" val="19326508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Apply it!</a:t>
            </a:r>
          </a:p>
        </p:txBody>
      </p:sp>
      <p:sp>
        <p:nvSpPr>
          <p:cNvPr id="3" name="Content Placeholder 2"/>
          <p:cNvSpPr>
            <a:spLocks noGrp="1"/>
          </p:cNvSpPr>
          <p:nvPr>
            <p:ph idx="1"/>
          </p:nvPr>
        </p:nvSpPr>
        <p:spPr>
          <a:xfrm>
            <a:off x="1024129" y="2286000"/>
            <a:ext cx="4905184" cy="4023360"/>
          </a:xfrm>
        </p:spPr>
        <p:txBody>
          <a:bodyPr/>
          <a:lstStyle/>
          <a:p>
            <a:pPr marL="0" indent="0">
              <a:buNone/>
            </a:pPr>
            <a:r>
              <a:rPr lang="en-US" u="sng" dirty="0"/>
              <a:t>Interpersonal (understanding)</a:t>
            </a:r>
          </a:p>
          <a:p>
            <a:pPr>
              <a:buFont typeface="Wingdings" charset="2"/>
              <a:buChar char="v"/>
            </a:pPr>
            <a:r>
              <a:rPr lang="en-US" dirty="0"/>
              <a:t>An individual is more likely to try tobacco if their partner, close friends or family members use it. </a:t>
            </a:r>
          </a:p>
          <a:p>
            <a:pPr marL="0" indent="0">
              <a:buNone/>
            </a:pPr>
            <a:endParaRPr lang="en-US" dirty="0"/>
          </a:p>
        </p:txBody>
      </p:sp>
      <p:sp>
        <p:nvSpPr>
          <p:cNvPr id="4" name="Content Placeholder 2">
            <a:extLst>
              <a:ext uri="{FF2B5EF4-FFF2-40B4-BE49-F238E27FC236}">
                <a16:creationId xmlns:a16="http://schemas.microsoft.com/office/drawing/2014/main" id="{0C32C76C-FC4B-4400-931E-DFCC36594E19}"/>
              </a:ext>
            </a:extLst>
          </p:cNvPr>
          <p:cNvSpPr txBox="1">
            <a:spLocks/>
          </p:cNvSpPr>
          <p:nvPr/>
        </p:nvSpPr>
        <p:spPr>
          <a:xfrm>
            <a:off x="6370035" y="2286000"/>
            <a:ext cx="4905184" cy="4023360"/>
          </a:xfrm>
          <a:prstGeom prst="rect">
            <a:avLst/>
          </a:prstGeom>
        </p:spPr>
        <p:txBody>
          <a:bodyPr vert="horz" lIns="45720" tIns="45720" rIns="4572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a:lstStyle>
          <a:p>
            <a:pPr marL="0" indent="0">
              <a:buFont typeface="Tw Cen MT" panose="020B0602020104020603" pitchFamily="34" charset="0"/>
              <a:buNone/>
            </a:pPr>
            <a:r>
              <a:rPr lang="en-US" u="sng" dirty="0"/>
              <a:t>Interpersonal (addressing)</a:t>
            </a:r>
          </a:p>
          <a:p>
            <a:pPr>
              <a:buFont typeface="Wingdings" charset="2"/>
              <a:buChar char="v"/>
            </a:pPr>
            <a:r>
              <a:rPr lang="en-US" dirty="0"/>
              <a:t>Parent education programs to increase parents understanding of how their behaviours regarding tobacco can influence their children.</a:t>
            </a:r>
          </a:p>
          <a:p>
            <a:pPr marL="0" indent="0">
              <a:buFont typeface="Tw Cen MT" panose="020B0602020104020603" pitchFamily="34" charset="0"/>
              <a:buNone/>
            </a:pPr>
            <a:endParaRPr lang="en-US" dirty="0"/>
          </a:p>
        </p:txBody>
      </p:sp>
    </p:spTree>
    <p:extLst>
      <p:ext uri="{BB962C8B-B14F-4D97-AF65-F5344CB8AC3E}">
        <p14:creationId xmlns:p14="http://schemas.microsoft.com/office/powerpoint/2010/main" val="42844388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Apply it!</a:t>
            </a:r>
          </a:p>
        </p:txBody>
      </p:sp>
      <p:sp>
        <p:nvSpPr>
          <p:cNvPr id="3" name="Content Placeholder 2"/>
          <p:cNvSpPr>
            <a:spLocks noGrp="1"/>
          </p:cNvSpPr>
          <p:nvPr>
            <p:ph idx="1"/>
          </p:nvPr>
        </p:nvSpPr>
        <p:spPr>
          <a:xfrm>
            <a:off x="1024129" y="2286000"/>
            <a:ext cx="4812316" cy="4023360"/>
          </a:xfrm>
        </p:spPr>
        <p:txBody>
          <a:bodyPr/>
          <a:lstStyle/>
          <a:p>
            <a:pPr marL="0" indent="0">
              <a:buNone/>
            </a:pPr>
            <a:r>
              <a:rPr lang="en-US" u="sng" dirty="0"/>
              <a:t>Organisational (understanding)</a:t>
            </a:r>
          </a:p>
          <a:p>
            <a:pPr>
              <a:buFont typeface="Wingdings" charset="2"/>
              <a:buChar char="v"/>
            </a:pPr>
            <a:r>
              <a:rPr lang="en-US" dirty="0"/>
              <a:t>School/workplace/sporting clubs policies that ban tobacco use will reduce the likelihood that individuals associated with those institutions will use tobacco</a:t>
            </a:r>
          </a:p>
          <a:p>
            <a:pPr>
              <a:buFont typeface="Wingdings" charset="2"/>
              <a:buChar char="v"/>
            </a:pPr>
            <a:r>
              <a:rPr lang="en-US" dirty="0"/>
              <a:t>If an individual works a job that does not provide facilities (</a:t>
            </a:r>
            <a:r>
              <a:rPr lang="en-US" dirty="0" err="1"/>
              <a:t>ie</a:t>
            </a:r>
            <a:r>
              <a:rPr lang="en-US" dirty="0"/>
              <a:t>. Outdoor spaces) to tobacco use then they are less likely to use it or more likely to quit. </a:t>
            </a:r>
          </a:p>
        </p:txBody>
      </p:sp>
      <p:sp>
        <p:nvSpPr>
          <p:cNvPr id="4" name="Content Placeholder 2">
            <a:extLst>
              <a:ext uri="{FF2B5EF4-FFF2-40B4-BE49-F238E27FC236}">
                <a16:creationId xmlns:a16="http://schemas.microsoft.com/office/drawing/2014/main" id="{C7B7B29F-2C62-46B5-83D1-340B27CC4D80}"/>
              </a:ext>
            </a:extLst>
          </p:cNvPr>
          <p:cNvSpPr txBox="1">
            <a:spLocks/>
          </p:cNvSpPr>
          <p:nvPr/>
        </p:nvSpPr>
        <p:spPr>
          <a:xfrm>
            <a:off x="6355557" y="2181225"/>
            <a:ext cx="4812316" cy="4023360"/>
          </a:xfrm>
          <a:prstGeom prst="rect">
            <a:avLst/>
          </a:prstGeom>
        </p:spPr>
        <p:txBody>
          <a:bodyPr vert="horz" lIns="45720" tIns="45720" rIns="4572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a:lstStyle>
          <a:p>
            <a:pPr marL="0" indent="0">
              <a:buFont typeface="Tw Cen MT" panose="020B0602020104020603" pitchFamily="34" charset="0"/>
              <a:buNone/>
            </a:pPr>
            <a:r>
              <a:rPr lang="en-US" u="sng" dirty="0"/>
              <a:t>Organisational (addressing)</a:t>
            </a:r>
          </a:p>
          <a:p>
            <a:pPr>
              <a:buFont typeface="Wingdings" charset="2"/>
              <a:buChar char="v"/>
            </a:pPr>
            <a:r>
              <a:rPr lang="en-US" dirty="0"/>
              <a:t>Make QUIT programs available through workplaces</a:t>
            </a:r>
          </a:p>
          <a:p>
            <a:pPr>
              <a:buFont typeface="Wingdings" charset="2"/>
              <a:buChar char="v"/>
            </a:pPr>
            <a:r>
              <a:rPr lang="en-US" dirty="0"/>
              <a:t>Ensure school and club policies have strict rules regarding tobacco use. </a:t>
            </a:r>
          </a:p>
        </p:txBody>
      </p:sp>
    </p:spTree>
    <p:extLst>
      <p:ext uri="{BB962C8B-B14F-4D97-AF65-F5344CB8AC3E}">
        <p14:creationId xmlns:p14="http://schemas.microsoft.com/office/powerpoint/2010/main" val="3840986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Apply it!</a:t>
            </a:r>
          </a:p>
        </p:txBody>
      </p:sp>
      <p:sp>
        <p:nvSpPr>
          <p:cNvPr id="3" name="Content Placeholder 2"/>
          <p:cNvSpPr>
            <a:spLocks noGrp="1"/>
          </p:cNvSpPr>
          <p:nvPr>
            <p:ph idx="1"/>
          </p:nvPr>
        </p:nvSpPr>
        <p:spPr>
          <a:xfrm>
            <a:off x="1024129" y="2286000"/>
            <a:ext cx="5071872" cy="4023360"/>
          </a:xfrm>
        </p:spPr>
        <p:txBody>
          <a:bodyPr/>
          <a:lstStyle/>
          <a:p>
            <a:pPr marL="0" indent="0">
              <a:buNone/>
            </a:pPr>
            <a:r>
              <a:rPr lang="en-US" u="sng" dirty="0"/>
              <a:t>Community (understanding)</a:t>
            </a:r>
          </a:p>
          <a:p>
            <a:pPr>
              <a:buFont typeface="Wingdings" charset="2"/>
              <a:buChar char="v"/>
            </a:pPr>
            <a:r>
              <a:rPr lang="en-US" dirty="0"/>
              <a:t>If there is a community norm of tobacco use (</a:t>
            </a:r>
            <a:r>
              <a:rPr lang="en-US" dirty="0" err="1"/>
              <a:t>eg.</a:t>
            </a:r>
            <a:r>
              <a:rPr lang="en-US" dirty="0"/>
              <a:t> A rural community) the individuals who are involved in that community are more likely to engage in tobacco use.</a:t>
            </a:r>
          </a:p>
          <a:p>
            <a:pPr>
              <a:buFont typeface="Wingdings" charset="2"/>
              <a:buChar char="v"/>
            </a:pPr>
            <a:r>
              <a:rPr lang="en-US" dirty="0"/>
              <a:t>If an individuals family and friends choose NOT to use tobacco, they will often take this cultural norm with them into communities they are involved in.</a:t>
            </a:r>
          </a:p>
        </p:txBody>
      </p:sp>
      <p:sp>
        <p:nvSpPr>
          <p:cNvPr id="4" name="Content Placeholder 2">
            <a:extLst>
              <a:ext uri="{FF2B5EF4-FFF2-40B4-BE49-F238E27FC236}">
                <a16:creationId xmlns:a16="http://schemas.microsoft.com/office/drawing/2014/main" id="{FCE1210B-4AD7-4D08-94BC-43B5F083EAC4}"/>
              </a:ext>
            </a:extLst>
          </p:cNvPr>
          <p:cNvSpPr txBox="1">
            <a:spLocks/>
          </p:cNvSpPr>
          <p:nvPr/>
        </p:nvSpPr>
        <p:spPr>
          <a:xfrm>
            <a:off x="6405754" y="2249424"/>
            <a:ext cx="5071872" cy="4023360"/>
          </a:xfrm>
          <a:prstGeom prst="rect">
            <a:avLst/>
          </a:prstGeom>
        </p:spPr>
        <p:txBody>
          <a:bodyPr vert="horz" lIns="45720" tIns="45720" rIns="4572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a:lstStyle>
          <a:p>
            <a:pPr marL="0" indent="0">
              <a:buFont typeface="Tw Cen MT" panose="020B0602020104020603" pitchFamily="34" charset="0"/>
              <a:buNone/>
            </a:pPr>
            <a:r>
              <a:rPr lang="en-US" u="sng" dirty="0"/>
              <a:t>Community (addressing)</a:t>
            </a:r>
          </a:p>
          <a:p>
            <a:pPr>
              <a:buFont typeface="Wingdings" charset="2"/>
              <a:buChar char="v"/>
            </a:pPr>
            <a:r>
              <a:rPr lang="en-US" dirty="0"/>
              <a:t> Make sure tobacco use zones are limited and far from public places. </a:t>
            </a:r>
          </a:p>
          <a:p>
            <a:pPr>
              <a:buFont typeface="Wingdings" charset="2"/>
              <a:buChar char="v"/>
            </a:pPr>
            <a:r>
              <a:rPr lang="en-US" dirty="0"/>
              <a:t>Implement social marketing campaigns within the community to promote the advantages of not-smoking. </a:t>
            </a:r>
          </a:p>
        </p:txBody>
      </p:sp>
    </p:spTree>
    <p:extLst>
      <p:ext uri="{BB962C8B-B14F-4D97-AF65-F5344CB8AC3E}">
        <p14:creationId xmlns:p14="http://schemas.microsoft.com/office/powerpoint/2010/main" val="11718169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Apply it!</a:t>
            </a:r>
          </a:p>
        </p:txBody>
      </p:sp>
      <p:sp>
        <p:nvSpPr>
          <p:cNvPr id="3" name="Content Placeholder 2"/>
          <p:cNvSpPr>
            <a:spLocks noGrp="1"/>
          </p:cNvSpPr>
          <p:nvPr>
            <p:ph idx="1"/>
          </p:nvPr>
        </p:nvSpPr>
        <p:spPr>
          <a:xfrm>
            <a:off x="1024129" y="2286000"/>
            <a:ext cx="4855178" cy="4023360"/>
          </a:xfrm>
        </p:spPr>
        <p:txBody>
          <a:bodyPr/>
          <a:lstStyle/>
          <a:p>
            <a:pPr marL="0" indent="0">
              <a:buNone/>
            </a:pPr>
            <a:r>
              <a:rPr lang="en-US" u="sng" dirty="0"/>
              <a:t>Societal (understanding)</a:t>
            </a:r>
          </a:p>
          <a:p>
            <a:pPr>
              <a:buFont typeface="Wingdings" charset="2"/>
              <a:buChar char="v"/>
            </a:pPr>
            <a:r>
              <a:rPr lang="en-US" dirty="0"/>
              <a:t>Western/Asian/European cultural norms of tobacco use? </a:t>
            </a:r>
          </a:p>
          <a:p>
            <a:pPr>
              <a:buFont typeface="Wingdings" charset="2"/>
              <a:buChar char="v"/>
            </a:pPr>
            <a:r>
              <a:rPr lang="en-US" dirty="0"/>
              <a:t>Taxation system associated with tobacco use. (strong tax system means individuals are less likely to engage in tobacco use)</a:t>
            </a:r>
          </a:p>
          <a:p>
            <a:pPr>
              <a:buFont typeface="Wingdings" charset="2"/>
              <a:buChar char="v"/>
            </a:pPr>
            <a:endParaRPr lang="en-US" dirty="0"/>
          </a:p>
        </p:txBody>
      </p:sp>
      <p:sp>
        <p:nvSpPr>
          <p:cNvPr id="4" name="Content Placeholder 2">
            <a:extLst>
              <a:ext uri="{FF2B5EF4-FFF2-40B4-BE49-F238E27FC236}">
                <a16:creationId xmlns:a16="http://schemas.microsoft.com/office/drawing/2014/main" id="{C19AB0EF-320A-4400-9589-8154310330D9}"/>
              </a:ext>
            </a:extLst>
          </p:cNvPr>
          <p:cNvSpPr txBox="1">
            <a:spLocks/>
          </p:cNvSpPr>
          <p:nvPr/>
        </p:nvSpPr>
        <p:spPr>
          <a:xfrm>
            <a:off x="6455760" y="2286000"/>
            <a:ext cx="4855178" cy="4023360"/>
          </a:xfrm>
          <a:prstGeom prst="rect">
            <a:avLst/>
          </a:prstGeom>
        </p:spPr>
        <p:txBody>
          <a:bodyPr vert="horz" lIns="45720" tIns="45720" rIns="4572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a:lstStyle>
          <a:p>
            <a:pPr marL="0" indent="0">
              <a:buFont typeface="Tw Cen MT" panose="020B0602020104020603" pitchFamily="34" charset="0"/>
              <a:buNone/>
            </a:pPr>
            <a:r>
              <a:rPr lang="en-US" u="sng" dirty="0"/>
              <a:t>Societal (addressing)</a:t>
            </a:r>
          </a:p>
          <a:p>
            <a:pPr>
              <a:buFont typeface="Wingdings" charset="2"/>
              <a:buChar char="v"/>
            </a:pPr>
            <a:r>
              <a:rPr lang="en-US" dirty="0"/>
              <a:t>Ensure that there is high federal tax on tobacco products</a:t>
            </a:r>
          </a:p>
          <a:p>
            <a:pPr>
              <a:buFont typeface="Wingdings" charset="2"/>
              <a:buChar char="v"/>
            </a:pPr>
            <a:r>
              <a:rPr lang="en-US" dirty="0"/>
              <a:t>Ensure there are strict federal policies regarding where/when you can smoke in public places</a:t>
            </a:r>
          </a:p>
        </p:txBody>
      </p:sp>
    </p:spTree>
    <p:extLst>
      <p:ext uri="{BB962C8B-B14F-4D97-AF65-F5344CB8AC3E}">
        <p14:creationId xmlns:p14="http://schemas.microsoft.com/office/powerpoint/2010/main" val="27215269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err="1"/>
              <a:t>HOmeWORK</a:t>
            </a:r>
            <a:r>
              <a:rPr lang="en-US" dirty="0"/>
              <a:t>: </a:t>
            </a:r>
            <a:r>
              <a:rPr lang="en-US" sz="5400" dirty="0"/>
              <a:t>Application Question</a:t>
            </a:r>
            <a:br>
              <a:rPr lang="en-US" sz="5400" dirty="0"/>
            </a:br>
            <a:endParaRPr lang="en-US" dirty="0"/>
          </a:p>
        </p:txBody>
      </p:sp>
      <p:sp>
        <p:nvSpPr>
          <p:cNvPr id="3" name="Content Placeholder 2"/>
          <p:cNvSpPr>
            <a:spLocks noGrp="1"/>
          </p:cNvSpPr>
          <p:nvPr>
            <p:ph idx="1"/>
          </p:nvPr>
        </p:nvSpPr>
        <p:spPr/>
        <p:txBody>
          <a:bodyPr>
            <a:normAutofit/>
          </a:bodyPr>
          <a:lstStyle/>
          <a:p>
            <a:r>
              <a:rPr lang="en-US" sz="2800" dirty="0"/>
              <a:t>DUE: __________________________</a:t>
            </a:r>
          </a:p>
          <a:p>
            <a:r>
              <a:rPr lang="en-US" sz="2800" dirty="0"/>
              <a:t>Use the socioecological model to explain the increased prevalence of obesity in rural/remote areas. </a:t>
            </a:r>
          </a:p>
          <a:p>
            <a:r>
              <a:rPr lang="en-US" sz="2800" dirty="0"/>
              <a:t>(5 marks)</a:t>
            </a:r>
          </a:p>
          <a:p>
            <a:endParaRPr lang="en-US" dirty="0"/>
          </a:p>
        </p:txBody>
      </p:sp>
    </p:spTree>
    <p:extLst>
      <p:ext uri="{BB962C8B-B14F-4D97-AF65-F5344CB8AC3E}">
        <p14:creationId xmlns:p14="http://schemas.microsoft.com/office/powerpoint/2010/main" val="201165652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References</a:t>
            </a:r>
          </a:p>
        </p:txBody>
      </p:sp>
      <p:sp>
        <p:nvSpPr>
          <p:cNvPr id="3" name="Content Placeholder 2"/>
          <p:cNvSpPr>
            <a:spLocks noGrp="1"/>
          </p:cNvSpPr>
          <p:nvPr>
            <p:ph idx="1"/>
          </p:nvPr>
        </p:nvSpPr>
        <p:spPr/>
        <p:txBody>
          <a:bodyPr/>
          <a:lstStyle/>
          <a:p>
            <a:pPr marL="0" indent="0">
              <a:buNone/>
            </a:pPr>
            <a:r>
              <a:rPr lang="en-US" dirty="0"/>
              <a:t>Lockhart, E. (2015) Health Studies Year 12 ATAR. </a:t>
            </a:r>
          </a:p>
          <a:p>
            <a:pPr marL="0" indent="0">
              <a:buNone/>
            </a:pPr>
            <a:endParaRPr lang="en-US" dirty="0"/>
          </a:p>
          <a:p>
            <a:pPr marL="0" indent="0">
              <a:buNone/>
            </a:pPr>
            <a:endParaRPr lang="en-US" dirty="0"/>
          </a:p>
        </p:txBody>
      </p:sp>
    </p:spTree>
    <p:extLst>
      <p:ext uri="{BB962C8B-B14F-4D97-AF65-F5344CB8AC3E}">
        <p14:creationId xmlns:p14="http://schemas.microsoft.com/office/powerpoint/2010/main" val="394167855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Maslow’s Hierarchy of Needs</a:t>
            </a:r>
          </a:p>
        </p:txBody>
      </p:sp>
      <p:sp>
        <p:nvSpPr>
          <p:cNvPr id="3" name="Subtitle 2"/>
          <p:cNvSpPr>
            <a:spLocks noGrp="1"/>
          </p:cNvSpPr>
          <p:nvPr>
            <p:ph type="subTitle" idx="1"/>
          </p:nvPr>
        </p:nvSpPr>
        <p:spPr/>
        <p:txBody>
          <a:bodyPr>
            <a:normAutofit/>
          </a:bodyPr>
          <a:lstStyle/>
          <a:p>
            <a:r>
              <a:rPr lang="en-US" sz="2200" dirty="0"/>
              <a:t>Term 1</a:t>
            </a:r>
          </a:p>
          <a:p>
            <a:r>
              <a:rPr lang="en-US" sz="2200" dirty="0"/>
              <a:t>Week 2</a:t>
            </a:r>
          </a:p>
        </p:txBody>
      </p:sp>
    </p:spTree>
    <p:extLst>
      <p:ext uri="{BB962C8B-B14F-4D97-AF65-F5344CB8AC3E}">
        <p14:creationId xmlns:p14="http://schemas.microsoft.com/office/powerpoint/2010/main" val="228717143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9E4C68A-A4A9-48A4-9FF2-D2896B1EA01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E2B9AEA5-52CB-49A6-AF8A-33502F291B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654296"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964788" y="804333"/>
            <a:ext cx="3302412" cy="5249334"/>
          </a:xfrm>
        </p:spPr>
        <p:txBody>
          <a:bodyPr>
            <a:normAutofit/>
          </a:bodyPr>
          <a:lstStyle/>
          <a:p>
            <a:pPr algn="r"/>
            <a:r>
              <a:rPr lang="en-US">
                <a:solidFill>
                  <a:srgbClr val="FFFFFF"/>
                </a:solidFill>
              </a:rPr>
              <a:t>Syllabus content</a:t>
            </a:r>
          </a:p>
        </p:txBody>
      </p:sp>
      <p:sp>
        <p:nvSpPr>
          <p:cNvPr id="3" name="Content Placeholder 2"/>
          <p:cNvSpPr>
            <a:spLocks noGrp="1"/>
          </p:cNvSpPr>
          <p:nvPr>
            <p:ph idx="1"/>
          </p:nvPr>
        </p:nvSpPr>
        <p:spPr>
          <a:xfrm>
            <a:off x="5109882" y="804333"/>
            <a:ext cx="6147169" cy="5249334"/>
          </a:xfrm>
        </p:spPr>
        <p:txBody>
          <a:bodyPr anchor="ctr">
            <a:normAutofit/>
          </a:bodyPr>
          <a:lstStyle/>
          <a:p>
            <a:pPr>
              <a:buFont typeface="Wingdings" charset="2"/>
              <a:buChar char="v"/>
            </a:pPr>
            <a:r>
              <a:rPr lang="en-AU" dirty="0"/>
              <a:t> Purpose and characteristics of the five levels of need within Maslow’s Hierarchy of Needs</a:t>
            </a:r>
            <a:endParaRPr lang="en-GB" dirty="0"/>
          </a:p>
          <a:p>
            <a:pPr lvl="0">
              <a:buFont typeface="Wingdings" charset="2"/>
              <a:buChar char="v"/>
            </a:pPr>
            <a:endParaRPr lang="en-GB" dirty="0"/>
          </a:p>
        </p:txBody>
      </p:sp>
    </p:spTree>
    <p:extLst>
      <p:ext uri="{BB962C8B-B14F-4D97-AF65-F5344CB8AC3E}">
        <p14:creationId xmlns:p14="http://schemas.microsoft.com/office/powerpoint/2010/main" val="124985160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Mr. Maslow</a:t>
            </a:r>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235811" y="1625704"/>
            <a:ext cx="2819400" cy="3581400"/>
          </a:xfrm>
        </p:spPr>
      </p:pic>
      <p:sp>
        <p:nvSpPr>
          <p:cNvPr id="5" name="TextBox 4"/>
          <p:cNvSpPr txBox="1"/>
          <p:nvPr/>
        </p:nvSpPr>
        <p:spPr>
          <a:xfrm>
            <a:off x="713116" y="1920815"/>
            <a:ext cx="6811633" cy="4370427"/>
          </a:xfrm>
          <a:prstGeom prst="rect">
            <a:avLst/>
          </a:prstGeom>
          <a:noFill/>
        </p:spPr>
        <p:txBody>
          <a:bodyPr wrap="square" rtlCol="0">
            <a:spAutoFit/>
          </a:bodyPr>
          <a:lstStyle/>
          <a:p>
            <a:endParaRPr lang="en-US" dirty="0">
              <a:hlinkClick r:id="rId3"/>
            </a:endParaRPr>
          </a:p>
          <a:p>
            <a:r>
              <a:rPr lang="en-US" sz="2200" dirty="0"/>
              <a:t>Abraham </a:t>
            </a:r>
            <a:r>
              <a:rPr lang="en-US" sz="2200" b="1" dirty="0"/>
              <a:t>Maslow</a:t>
            </a:r>
            <a:r>
              <a:rPr lang="en-US" sz="2200" dirty="0"/>
              <a:t> (1908 – 1970) was an American psychologist who was best known for creating </a:t>
            </a:r>
            <a:r>
              <a:rPr lang="en-US" sz="2200" b="1" dirty="0"/>
              <a:t>Maslow's</a:t>
            </a:r>
            <a:r>
              <a:rPr lang="en-US" sz="2200" dirty="0"/>
              <a:t> hierarchy of needs, a theory of psychological health predicated on fulfilling innate human needs in priority, culminating in self-actualization.</a:t>
            </a:r>
            <a:endParaRPr lang="en-US" sz="2200" dirty="0">
              <a:hlinkClick r:id="rId3"/>
            </a:endParaRPr>
          </a:p>
          <a:p>
            <a:endParaRPr lang="en-US" sz="2200" dirty="0">
              <a:hlinkClick r:id="rId3"/>
            </a:endParaRPr>
          </a:p>
          <a:p>
            <a:r>
              <a:rPr lang="en-US" sz="2200" i="1" dirty="0"/>
              <a:t>“The ability to be in the present moment is a major component of mental wellness.” </a:t>
            </a:r>
            <a:endParaRPr lang="en-US" sz="2200" dirty="0">
              <a:hlinkClick r:id="rId3"/>
            </a:endParaRPr>
          </a:p>
          <a:p>
            <a:endParaRPr lang="en-US" sz="2200" dirty="0">
              <a:hlinkClick r:id="rId3"/>
            </a:endParaRPr>
          </a:p>
          <a:p>
            <a:endParaRPr lang="en-US" sz="2200" dirty="0">
              <a:hlinkClick r:id="rId3"/>
            </a:endParaRPr>
          </a:p>
          <a:p>
            <a:r>
              <a:rPr lang="en-US" sz="2200" dirty="0">
                <a:hlinkClick r:id="rId3"/>
              </a:rPr>
              <a:t>https://www.youtube.com/watch?v=O-4ithG_07Q</a:t>
            </a:r>
            <a:endParaRPr lang="en-US" sz="2200" dirty="0"/>
          </a:p>
          <a:p>
            <a:endParaRPr lang="en-US" dirty="0"/>
          </a:p>
        </p:txBody>
      </p:sp>
    </p:spTree>
    <p:extLst>
      <p:ext uri="{BB962C8B-B14F-4D97-AF65-F5344CB8AC3E}">
        <p14:creationId xmlns:p14="http://schemas.microsoft.com/office/powerpoint/2010/main" val="15734780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4000" y="0"/>
            <a:ext cx="9144000" cy="6858000"/>
          </a:xfrm>
          <a:prstGeom prst="rect">
            <a:avLst/>
          </a:prstGeom>
        </p:spPr>
      </p:pic>
      <p:sp>
        <p:nvSpPr>
          <p:cNvPr id="3" name="TextBox 2"/>
          <p:cNvSpPr txBox="1"/>
          <p:nvPr/>
        </p:nvSpPr>
        <p:spPr>
          <a:xfrm>
            <a:off x="304801" y="357375"/>
            <a:ext cx="6113253" cy="369332"/>
          </a:xfrm>
          <a:prstGeom prst="rect">
            <a:avLst/>
          </a:prstGeom>
          <a:noFill/>
        </p:spPr>
        <p:txBody>
          <a:bodyPr wrap="square" rtlCol="0">
            <a:spAutoFit/>
          </a:bodyPr>
          <a:lstStyle/>
          <a:p>
            <a:r>
              <a:rPr lang="en-US" dirty="0"/>
              <a:t>Image used with permission from </a:t>
            </a:r>
            <a:r>
              <a:rPr lang="en-US" dirty="0" err="1"/>
              <a:t>Wikimedia</a:t>
            </a:r>
            <a:r>
              <a:rPr lang="en-US" i="1" dirty="0" err="1"/>
              <a:t>.org</a:t>
            </a:r>
            <a:r>
              <a:rPr lang="en-US" dirty="0"/>
              <a:t> </a:t>
            </a:r>
          </a:p>
        </p:txBody>
      </p:sp>
    </p:spTree>
    <p:extLst>
      <p:ext uri="{BB962C8B-B14F-4D97-AF65-F5344CB8AC3E}">
        <p14:creationId xmlns:p14="http://schemas.microsoft.com/office/powerpoint/2010/main" val="176247398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p:cNvSpPr txBox="1">
            <a:spLocks/>
          </p:cNvSpPr>
          <p:nvPr/>
        </p:nvSpPr>
        <p:spPr>
          <a:xfrm>
            <a:off x="1216633" y="1371600"/>
            <a:ext cx="9720073" cy="4023360"/>
          </a:xfrm>
          <a:prstGeom prst="rect">
            <a:avLst/>
          </a:prstGeom>
        </p:spPr>
        <p:txBody>
          <a:bodyPr>
            <a:normAutofit lnSpcReduction="10000"/>
          </a:bodyPr>
          <a:lst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a:lstStyle>
          <a:p>
            <a:pPr>
              <a:buFont typeface="Wingdings" charset="2"/>
              <a:buChar char="v"/>
            </a:pPr>
            <a:r>
              <a:rPr lang="en-US" dirty="0"/>
              <a:t>4 types of needs that must be satisfied before a person can act unselfishly (achieve self-actualization).</a:t>
            </a:r>
          </a:p>
          <a:p>
            <a:pPr>
              <a:buFont typeface="Wingdings" charset="2"/>
              <a:buChar char="v"/>
            </a:pPr>
            <a:r>
              <a:rPr lang="en-US" dirty="0"/>
              <a:t>Needs are arranged in a hierarchal order. Climbing the hierarchy is achieved by satisfying one set of needs at a time.</a:t>
            </a:r>
          </a:p>
          <a:p>
            <a:pPr>
              <a:buFont typeface="Wingdings" charset="2"/>
              <a:buChar char="v"/>
            </a:pPr>
            <a:r>
              <a:rPr lang="en-US" dirty="0"/>
              <a:t>Basic needs are physiological, followed by a need for safety, then the desire for love, followed by the quest for esteem.</a:t>
            </a:r>
          </a:p>
          <a:p>
            <a:pPr>
              <a:buFont typeface="Wingdings" charset="2"/>
              <a:buChar char="v"/>
            </a:pPr>
            <a:r>
              <a:rPr lang="en-US" dirty="0"/>
              <a:t>Humans are </a:t>
            </a:r>
            <a:r>
              <a:rPr lang="en-US" u="sng" dirty="0"/>
              <a:t>driven</a:t>
            </a:r>
            <a:r>
              <a:rPr lang="en-US" dirty="0"/>
              <a:t> to satisfy the lower needs however we are </a:t>
            </a:r>
            <a:r>
              <a:rPr lang="en-US" u="sng" dirty="0"/>
              <a:t>drawn</a:t>
            </a:r>
            <a:r>
              <a:rPr lang="en-US" dirty="0"/>
              <a:t> to meet the higher ones.</a:t>
            </a:r>
          </a:p>
          <a:p>
            <a:pPr>
              <a:buFont typeface="Wingdings" charset="2"/>
              <a:buChar char="v"/>
            </a:pPr>
            <a:r>
              <a:rPr lang="en-US" i="1" dirty="0"/>
              <a:t>Deficiency needs (lower 4 needs)</a:t>
            </a:r>
            <a:r>
              <a:rPr lang="en-US" dirty="0"/>
              <a:t>- lacking these needs create tension within the individual. </a:t>
            </a:r>
          </a:p>
          <a:p>
            <a:pPr>
              <a:buFont typeface="Wingdings" charset="2"/>
              <a:buChar char="v"/>
            </a:pPr>
            <a:r>
              <a:rPr lang="en-US" i="1" dirty="0"/>
              <a:t>IT’S ALL ABOUT WHAT MOTIVATES OUR BEHAVIOUR.</a:t>
            </a:r>
          </a:p>
        </p:txBody>
      </p:sp>
      <p:sp>
        <p:nvSpPr>
          <p:cNvPr id="3" name="TextBox 2"/>
          <p:cNvSpPr txBox="1"/>
          <p:nvPr/>
        </p:nvSpPr>
        <p:spPr>
          <a:xfrm>
            <a:off x="5534527" y="5859818"/>
            <a:ext cx="6113253" cy="369332"/>
          </a:xfrm>
          <a:prstGeom prst="rect">
            <a:avLst/>
          </a:prstGeom>
          <a:noFill/>
        </p:spPr>
        <p:txBody>
          <a:bodyPr wrap="square" rtlCol="0">
            <a:spAutoFit/>
          </a:bodyPr>
          <a:lstStyle/>
          <a:p>
            <a:r>
              <a:rPr lang="en-US" dirty="0"/>
              <a:t>Griffin, G. (</a:t>
            </a:r>
            <a:r>
              <a:rPr lang="en-US" dirty="0" err="1"/>
              <a:t>n.d.</a:t>
            </a:r>
            <a:r>
              <a:rPr lang="en-US" dirty="0"/>
              <a:t>). </a:t>
            </a:r>
            <a:r>
              <a:rPr lang="en-US" i="1" dirty="0"/>
              <a:t>A First Look at Communication Theory.</a:t>
            </a:r>
            <a:r>
              <a:rPr lang="en-US" dirty="0"/>
              <a:t> </a:t>
            </a:r>
          </a:p>
        </p:txBody>
      </p:sp>
    </p:spTree>
    <p:extLst>
      <p:ext uri="{BB962C8B-B14F-4D97-AF65-F5344CB8AC3E}">
        <p14:creationId xmlns:p14="http://schemas.microsoft.com/office/powerpoint/2010/main" val="11862996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Physiological needs</a:t>
            </a:r>
          </a:p>
        </p:txBody>
      </p:sp>
      <p:sp>
        <p:nvSpPr>
          <p:cNvPr id="3" name="Content Placeholder 2"/>
          <p:cNvSpPr>
            <a:spLocks noGrp="1"/>
          </p:cNvSpPr>
          <p:nvPr>
            <p:ph idx="1"/>
          </p:nvPr>
        </p:nvSpPr>
        <p:spPr/>
        <p:txBody>
          <a:bodyPr>
            <a:normAutofit lnSpcReduction="10000"/>
          </a:bodyPr>
          <a:lstStyle/>
          <a:p>
            <a:r>
              <a:rPr lang="en-US" dirty="0"/>
              <a:t>Class Discussion: What do we need to purely SURVIVE?</a:t>
            </a:r>
          </a:p>
          <a:p>
            <a:pPr>
              <a:buFont typeface="Wingdings" panose="05000000000000000000" pitchFamily="2" charset="2"/>
              <a:buChar char="v"/>
            </a:pPr>
            <a:r>
              <a:rPr lang="en-US" dirty="0"/>
              <a:t>Air</a:t>
            </a:r>
          </a:p>
          <a:p>
            <a:pPr>
              <a:buFont typeface="Wingdings" charset="2"/>
              <a:buChar char="v"/>
            </a:pPr>
            <a:r>
              <a:rPr lang="en-US" dirty="0"/>
              <a:t>Food </a:t>
            </a:r>
          </a:p>
          <a:p>
            <a:pPr>
              <a:buFont typeface="Wingdings" charset="2"/>
              <a:buChar char="v"/>
            </a:pPr>
            <a:r>
              <a:rPr lang="en-US" dirty="0"/>
              <a:t>Water</a:t>
            </a:r>
          </a:p>
          <a:p>
            <a:pPr>
              <a:buFont typeface="Wingdings" charset="2"/>
              <a:buChar char="v"/>
            </a:pPr>
            <a:r>
              <a:rPr lang="en-US" dirty="0"/>
              <a:t>Sleep</a:t>
            </a:r>
          </a:p>
          <a:p>
            <a:endParaRPr lang="en-US" dirty="0"/>
          </a:p>
          <a:p>
            <a:endParaRPr lang="en-US" dirty="0"/>
          </a:p>
          <a:p>
            <a:r>
              <a:rPr lang="en-US" dirty="0"/>
              <a:t>If these basic needs are not met, then an individual will not consider higher needs such as safety or esteem.</a:t>
            </a:r>
          </a:p>
        </p:txBody>
      </p:sp>
    </p:spTree>
    <p:extLst>
      <p:ext uri="{BB962C8B-B14F-4D97-AF65-F5344CB8AC3E}">
        <p14:creationId xmlns:p14="http://schemas.microsoft.com/office/powerpoint/2010/main" val="38025853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Safety needs</a:t>
            </a:r>
          </a:p>
        </p:txBody>
      </p:sp>
      <p:sp>
        <p:nvSpPr>
          <p:cNvPr id="3" name="Content Placeholder 2"/>
          <p:cNvSpPr>
            <a:spLocks noGrp="1"/>
          </p:cNvSpPr>
          <p:nvPr>
            <p:ph idx="1"/>
          </p:nvPr>
        </p:nvSpPr>
        <p:spPr>
          <a:xfrm>
            <a:off x="1024128" y="1941095"/>
            <a:ext cx="9720073" cy="4368265"/>
          </a:xfrm>
        </p:spPr>
        <p:txBody>
          <a:bodyPr>
            <a:normAutofit lnSpcReduction="10000"/>
          </a:bodyPr>
          <a:lstStyle/>
          <a:p>
            <a:r>
              <a:rPr lang="en-US" dirty="0"/>
              <a:t>Once our basic survival needs are met, we turn to keeping ourselves SAFE and SECURE.</a:t>
            </a:r>
          </a:p>
          <a:p>
            <a:r>
              <a:rPr lang="en-US" dirty="0"/>
              <a:t>Safety needs: safety and security in order to be free from the threat of physical and emotional harm </a:t>
            </a:r>
          </a:p>
          <a:p>
            <a:pPr>
              <a:buFont typeface="Wingdings" charset="2"/>
              <a:buChar char="v"/>
            </a:pPr>
            <a:r>
              <a:rPr lang="en-US" dirty="0"/>
              <a:t>Living in a safe area </a:t>
            </a:r>
          </a:p>
          <a:p>
            <a:pPr>
              <a:buFont typeface="Wingdings" charset="2"/>
              <a:buChar char="v"/>
            </a:pPr>
            <a:r>
              <a:rPr lang="en-US" dirty="0"/>
              <a:t>Medical insurance</a:t>
            </a:r>
          </a:p>
          <a:p>
            <a:pPr>
              <a:buFont typeface="Wingdings" charset="2"/>
              <a:buChar char="v"/>
            </a:pPr>
            <a:r>
              <a:rPr lang="en-US" dirty="0"/>
              <a:t>Job security</a:t>
            </a:r>
          </a:p>
          <a:p>
            <a:pPr>
              <a:buFont typeface="Wingdings" charset="2"/>
              <a:buChar char="v"/>
            </a:pPr>
            <a:r>
              <a:rPr lang="en-US" dirty="0"/>
              <a:t>Financial reserves</a:t>
            </a:r>
          </a:p>
          <a:p>
            <a:pPr>
              <a:buFont typeface="Wingdings" charset="2"/>
              <a:buChar char="v"/>
            </a:pPr>
            <a:endParaRPr lang="en-US" dirty="0"/>
          </a:p>
          <a:p>
            <a:pPr marL="0" indent="0">
              <a:buNone/>
            </a:pPr>
            <a:r>
              <a:rPr lang="en-US" dirty="0"/>
              <a:t>If an individual does not feel safe and secure, they will not consider higher needs such as esteem or “social needs”.</a:t>
            </a:r>
          </a:p>
        </p:txBody>
      </p:sp>
    </p:spTree>
    <p:extLst>
      <p:ext uri="{BB962C8B-B14F-4D97-AF65-F5344CB8AC3E}">
        <p14:creationId xmlns:p14="http://schemas.microsoft.com/office/powerpoint/2010/main" val="10581014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Social needs</a:t>
            </a:r>
          </a:p>
        </p:txBody>
      </p:sp>
      <p:sp>
        <p:nvSpPr>
          <p:cNvPr id="3" name="Content Placeholder 2"/>
          <p:cNvSpPr>
            <a:spLocks noGrp="1"/>
          </p:cNvSpPr>
          <p:nvPr>
            <p:ph idx="1"/>
          </p:nvPr>
        </p:nvSpPr>
        <p:spPr/>
        <p:txBody>
          <a:bodyPr>
            <a:normAutofit lnSpcReduction="10000"/>
          </a:bodyPr>
          <a:lstStyle/>
          <a:p>
            <a:r>
              <a:rPr lang="en-US" dirty="0"/>
              <a:t>Once we can SURVIVE and we feel SAFE and SECURE, we pursue our desires to be SOCIAL through interaction with others.</a:t>
            </a:r>
          </a:p>
          <a:p>
            <a:r>
              <a:rPr lang="en-US" dirty="0"/>
              <a:t>This desire to belong and be loved might be fulfilled by:</a:t>
            </a:r>
          </a:p>
          <a:p>
            <a:pPr>
              <a:buFont typeface="Wingdings" charset="2"/>
              <a:buChar char="v"/>
            </a:pPr>
            <a:r>
              <a:rPr lang="en-US" dirty="0"/>
              <a:t>Friendship</a:t>
            </a:r>
          </a:p>
          <a:p>
            <a:pPr>
              <a:buFont typeface="Wingdings" charset="2"/>
              <a:buChar char="v"/>
            </a:pPr>
            <a:r>
              <a:rPr lang="en-US" dirty="0"/>
              <a:t>Belonging to a group</a:t>
            </a:r>
          </a:p>
          <a:p>
            <a:pPr>
              <a:buFont typeface="Wingdings" charset="2"/>
              <a:buChar char="v"/>
            </a:pPr>
            <a:r>
              <a:rPr lang="en-US" dirty="0"/>
              <a:t>Giving and receiving love</a:t>
            </a:r>
          </a:p>
          <a:p>
            <a:pPr>
              <a:buFont typeface="Wingdings" charset="2"/>
              <a:buChar char="v"/>
            </a:pPr>
            <a:r>
              <a:rPr lang="en-US" dirty="0"/>
              <a:t>Intimate relationships</a:t>
            </a:r>
          </a:p>
          <a:p>
            <a:pPr>
              <a:buFont typeface="Wingdings" charset="2"/>
              <a:buChar char="v"/>
            </a:pPr>
            <a:endParaRPr lang="en-US" dirty="0"/>
          </a:p>
          <a:p>
            <a:pPr marL="0" indent="0">
              <a:buNone/>
            </a:pPr>
            <a:r>
              <a:rPr lang="en-US" dirty="0"/>
              <a:t>Until we feel like we “belong” we will not consider the need to feel important.</a:t>
            </a:r>
          </a:p>
        </p:txBody>
      </p:sp>
    </p:spTree>
    <p:extLst>
      <p:ext uri="{BB962C8B-B14F-4D97-AF65-F5344CB8AC3E}">
        <p14:creationId xmlns:p14="http://schemas.microsoft.com/office/powerpoint/2010/main" val="1985355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esteem needs</a:t>
            </a:r>
          </a:p>
        </p:txBody>
      </p:sp>
      <p:sp>
        <p:nvSpPr>
          <p:cNvPr id="3" name="Content Placeholder 2"/>
          <p:cNvSpPr>
            <a:spLocks noGrp="1"/>
          </p:cNvSpPr>
          <p:nvPr>
            <p:ph idx="1"/>
          </p:nvPr>
        </p:nvSpPr>
        <p:spPr>
          <a:xfrm>
            <a:off x="1024128" y="1909011"/>
            <a:ext cx="9720073" cy="4491789"/>
          </a:xfrm>
        </p:spPr>
        <p:txBody>
          <a:bodyPr>
            <a:normAutofit/>
          </a:bodyPr>
          <a:lstStyle/>
          <a:p>
            <a:pPr marL="0" indent="0">
              <a:buNone/>
            </a:pPr>
            <a:r>
              <a:rPr lang="en-US" dirty="0"/>
              <a:t>When we feel accepted and loved by those around us we seek out the feeling of importance and recognition. Esteem needs: broken down in to external and internal motivators. </a:t>
            </a:r>
          </a:p>
          <a:p>
            <a:r>
              <a:rPr lang="en-US" dirty="0"/>
              <a:t>EXTERNAL: Things that drive you are beyond your control-things like</a:t>
            </a:r>
          </a:p>
          <a:p>
            <a:pPr>
              <a:buFont typeface="Wingdings" charset="2"/>
              <a:buChar char="v"/>
            </a:pPr>
            <a:r>
              <a:rPr lang="en-US" dirty="0"/>
              <a:t>Recognition</a:t>
            </a:r>
          </a:p>
          <a:p>
            <a:pPr>
              <a:buFont typeface="Wingdings" charset="2"/>
              <a:buChar char="v"/>
            </a:pPr>
            <a:r>
              <a:rPr lang="en-US" dirty="0"/>
              <a:t>Attention</a:t>
            </a:r>
          </a:p>
          <a:p>
            <a:pPr>
              <a:buFont typeface="Wingdings" charset="2"/>
              <a:buChar char="v"/>
            </a:pPr>
            <a:r>
              <a:rPr lang="en-US" dirty="0"/>
              <a:t>Social status</a:t>
            </a:r>
          </a:p>
          <a:p>
            <a:r>
              <a:rPr lang="en-US" dirty="0"/>
              <a:t>INTERNAL: The things that drive you are about making yourself better-things like</a:t>
            </a:r>
          </a:p>
          <a:p>
            <a:pPr>
              <a:buFont typeface="Wingdings" charset="2"/>
              <a:buChar char="v"/>
            </a:pPr>
            <a:r>
              <a:rPr lang="en-US" dirty="0"/>
              <a:t>Accomplishment</a:t>
            </a:r>
          </a:p>
          <a:p>
            <a:pPr>
              <a:buFont typeface="Wingdings" charset="2"/>
              <a:buChar char="v"/>
            </a:pPr>
            <a:r>
              <a:rPr lang="en-US" dirty="0"/>
              <a:t>Self respect</a:t>
            </a:r>
          </a:p>
        </p:txBody>
      </p:sp>
    </p:spTree>
    <p:extLst>
      <p:ext uri="{BB962C8B-B14F-4D97-AF65-F5344CB8AC3E}">
        <p14:creationId xmlns:p14="http://schemas.microsoft.com/office/powerpoint/2010/main" val="17449522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Self actualisation</a:t>
            </a:r>
          </a:p>
        </p:txBody>
      </p:sp>
      <p:sp>
        <p:nvSpPr>
          <p:cNvPr id="3" name="Content Placeholder 2"/>
          <p:cNvSpPr>
            <a:spLocks noGrp="1"/>
          </p:cNvSpPr>
          <p:nvPr>
            <p:ph idx="1"/>
          </p:nvPr>
        </p:nvSpPr>
        <p:spPr/>
        <p:txBody>
          <a:bodyPr/>
          <a:lstStyle/>
          <a:p>
            <a:r>
              <a:rPr lang="en-US" dirty="0"/>
              <a:t>Self-</a:t>
            </a:r>
            <a:r>
              <a:rPr lang="en-US" dirty="0" err="1"/>
              <a:t>Actualisation</a:t>
            </a:r>
            <a:r>
              <a:rPr lang="en-US" dirty="0"/>
              <a:t>: the summit of the theory. (all other needs must be met)</a:t>
            </a:r>
          </a:p>
          <a:p>
            <a:r>
              <a:rPr lang="en-US" dirty="0"/>
              <a:t>Unlike the lower levels, this need is never fully satisfied (as individuals grow psychologically, so do the opportunities presented to them)</a:t>
            </a:r>
          </a:p>
          <a:p>
            <a:r>
              <a:rPr lang="en-US" dirty="0"/>
              <a:t>Self actualised people tend to have motivators such as:</a:t>
            </a:r>
          </a:p>
          <a:p>
            <a:pPr>
              <a:buFont typeface="Wingdings" charset="2"/>
              <a:buChar char="v"/>
            </a:pPr>
            <a:r>
              <a:rPr lang="en-US" dirty="0"/>
              <a:t>Truth</a:t>
            </a:r>
          </a:p>
          <a:p>
            <a:pPr>
              <a:buFont typeface="Wingdings" charset="2"/>
              <a:buChar char="v"/>
            </a:pPr>
            <a:r>
              <a:rPr lang="en-US" dirty="0"/>
              <a:t>Justice</a:t>
            </a:r>
          </a:p>
          <a:p>
            <a:pPr>
              <a:buFont typeface="Wingdings" charset="2"/>
              <a:buChar char="v"/>
            </a:pPr>
            <a:r>
              <a:rPr lang="en-US" dirty="0"/>
              <a:t>Wisdom</a:t>
            </a:r>
          </a:p>
          <a:p>
            <a:pPr>
              <a:buFont typeface="Wingdings" charset="2"/>
              <a:buChar char="v"/>
            </a:pPr>
            <a:r>
              <a:rPr lang="en-US" dirty="0"/>
              <a:t>Meaning</a:t>
            </a:r>
          </a:p>
          <a:p>
            <a:pPr>
              <a:buFont typeface="Wingdings" charset="2"/>
              <a:buChar char="v"/>
            </a:pPr>
            <a:endParaRPr lang="en-US" dirty="0"/>
          </a:p>
        </p:txBody>
      </p:sp>
    </p:spTree>
    <p:extLst>
      <p:ext uri="{BB962C8B-B14F-4D97-AF65-F5344CB8AC3E}">
        <p14:creationId xmlns:p14="http://schemas.microsoft.com/office/powerpoint/2010/main" val="13764041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834189" y="601258"/>
            <a:ext cx="10375232" cy="1499616"/>
          </a:xfrm>
          <a:prstGeom prst="rect">
            <a:avLst/>
          </a:prstGeom>
        </p:spPr>
        <p:txBody>
          <a:bodyPr/>
          <a:lstStyle>
            <a:lvl1pPr algn="l" defTabSz="914400" rtl="0" eaLnBrk="1" latinLnBrk="0" hangingPunct="1">
              <a:lnSpc>
                <a:spcPct val="80000"/>
              </a:lnSpc>
              <a:spcBef>
                <a:spcPct val="0"/>
              </a:spcBef>
              <a:buNone/>
              <a:defRPr sz="5000" kern="1200" cap="all" spc="100" baseline="0">
                <a:solidFill>
                  <a:schemeClr val="tx1">
                    <a:lumMod val="95000"/>
                    <a:lumOff val="5000"/>
                  </a:schemeClr>
                </a:solidFill>
                <a:latin typeface="+mj-lt"/>
                <a:ea typeface="+mj-ea"/>
                <a:cs typeface="+mj-cs"/>
              </a:defRPr>
            </a:lvl1pPr>
          </a:lstStyle>
          <a:p>
            <a:pPr algn="ctr"/>
            <a:r>
              <a:rPr lang="en-US"/>
              <a:t>Characteristics of a self-actualized person</a:t>
            </a:r>
            <a:endParaRPr lang="en-US" dirty="0"/>
          </a:p>
        </p:txBody>
      </p:sp>
      <p:sp>
        <p:nvSpPr>
          <p:cNvPr id="4" name="TextBox 3"/>
          <p:cNvSpPr txBox="1"/>
          <p:nvPr/>
        </p:nvSpPr>
        <p:spPr>
          <a:xfrm>
            <a:off x="5983705" y="2100874"/>
            <a:ext cx="4588042" cy="4100481"/>
          </a:xfrm>
          <a:prstGeom prst="rect">
            <a:avLst/>
          </a:prstGeom>
          <a:noFill/>
        </p:spPr>
        <p:txBody>
          <a:bodyPr wrap="square" rtlCol="0">
            <a:spAutoFit/>
          </a:bodyPr>
          <a:lstStyle/>
          <a:p>
            <a:pPr>
              <a:lnSpc>
                <a:spcPct val="150000"/>
              </a:lnSpc>
            </a:pPr>
            <a:r>
              <a:rPr lang="en-US" sz="2200" dirty="0"/>
              <a:t>Peak experiences</a:t>
            </a:r>
          </a:p>
          <a:p>
            <a:pPr>
              <a:lnSpc>
                <a:spcPct val="150000"/>
              </a:lnSpc>
            </a:pPr>
            <a:r>
              <a:rPr lang="en-US" sz="2200" dirty="0"/>
              <a:t>Self Acceptance</a:t>
            </a:r>
          </a:p>
          <a:p>
            <a:pPr>
              <a:lnSpc>
                <a:spcPct val="150000"/>
              </a:lnSpc>
            </a:pPr>
            <a:r>
              <a:rPr lang="en-US" sz="2200" dirty="0"/>
              <a:t>Realistic</a:t>
            </a:r>
          </a:p>
          <a:p>
            <a:pPr>
              <a:lnSpc>
                <a:spcPct val="150000"/>
              </a:lnSpc>
            </a:pPr>
            <a:r>
              <a:rPr lang="en-US" sz="2200" dirty="0"/>
              <a:t>Problem-</a:t>
            </a:r>
            <a:r>
              <a:rPr lang="en-US" sz="2200" dirty="0" err="1"/>
              <a:t>centred</a:t>
            </a:r>
            <a:endParaRPr lang="en-US" sz="2200" dirty="0"/>
          </a:p>
          <a:p>
            <a:pPr>
              <a:lnSpc>
                <a:spcPct val="150000"/>
              </a:lnSpc>
            </a:pPr>
            <a:r>
              <a:rPr lang="en-US" sz="2200" dirty="0"/>
              <a:t>Autonomous</a:t>
            </a:r>
          </a:p>
          <a:p>
            <a:pPr>
              <a:lnSpc>
                <a:spcPct val="150000"/>
              </a:lnSpc>
            </a:pPr>
            <a:r>
              <a:rPr lang="en-US" sz="2200" dirty="0"/>
              <a:t>Spontaneous</a:t>
            </a:r>
          </a:p>
          <a:p>
            <a:pPr>
              <a:lnSpc>
                <a:spcPct val="150000"/>
              </a:lnSpc>
            </a:pPr>
            <a:endParaRPr lang="en-US" sz="2200" dirty="0"/>
          </a:p>
          <a:p>
            <a:pPr>
              <a:lnSpc>
                <a:spcPct val="150000"/>
              </a:lnSpc>
            </a:pPr>
            <a:endParaRPr lang="en-US" sz="2200" dirty="0"/>
          </a:p>
        </p:txBody>
      </p:sp>
      <p:pic>
        <p:nvPicPr>
          <p:cNvPr id="6" name="Picture 5" descr="A person standing in front of a sunset&#10;&#10;Description automatically generated">
            <a:extLst>
              <a:ext uri="{FF2B5EF4-FFF2-40B4-BE49-F238E27FC236}">
                <a16:creationId xmlns:a16="http://schemas.microsoft.com/office/drawing/2014/main" id="{59911C61-0AAC-4C22-811A-5980CF171C44}"/>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1228397" y="2207071"/>
            <a:ext cx="4481113" cy="3002346"/>
          </a:xfrm>
          <a:prstGeom prst="rect">
            <a:avLst/>
          </a:prstGeom>
        </p:spPr>
      </p:pic>
      <p:sp>
        <p:nvSpPr>
          <p:cNvPr id="7" name="TextBox 6">
            <a:extLst>
              <a:ext uri="{FF2B5EF4-FFF2-40B4-BE49-F238E27FC236}">
                <a16:creationId xmlns:a16="http://schemas.microsoft.com/office/drawing/2014/main" id="{7516F6E1-40C6-4D74-BFDD-6B89E66C81E8}"/>
              </a:ext>
            </a:extLst>
          </p:cNvPr>
          <p:cNvSpPr txBox="1"/>
          <p:nvPr/>
        </p:nvSpPr>
        <p:spPr>
          <a:xfrm>
            <a:off x="1228397" y="5259253"/>
            <a:ext cx="3178066" cy="230832"/>
          </a:xfrm>
          <a:prstGeom prst="rect">
            <a:avLst/>
          </a:prstGeom>
          <a:noFill/>
        </p:spPr>
        <p:txBody>
          <a:bodyPr wrap="square" rtlCol="0">
            <a:spAutoFit/>
          </a:bodyPr>
          <a:lstStyle/>
          <a:p>
            <a:r>
              <a:rPr lang="en-AU" sz="900">
                <a:hlinkClick r:id="rId3" tooltip="https://www.solvibrations.org/self-actualization/"/>
              </a:rPr>
              <a:t>This Photo</a:t>
            </a:r>
            <a:r>
              <a:rPr lang="en-AU" sz="900"/>
              <a:t> by Unknown Author is licensed under </a:t>
            </a:r>
            <a:r>
              <a:rPr lang="en-AU" sz="900">
                <a:hlinkClick r:id="rId4" tooltip="https://creativecommons.org/licenses/by-sa/3.0/"/>
              </a:rPr>
              <a:t>CC BY-SA</a:t>
            </a:r>
            <a:endParaRPr lang="en-AU" sz="900"/>
          </a:p>
        </p:txBody>
      </p:sp>
    </p:spTree>
    <p:extLst>
      <p:ext uri="{BB962C8B-B14F-4D97-AF65-F5344CB8AC3E}">
        <p14:creationId xmlns:p14="http://schemas.microsoft.com/office/powerpoint/2010/main" val="14412575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F2CA57-BC2F-4D7A-AA3A-B9C79C717908}"/>
              </a:ext>
            </a:extLst>
          </p:cNvPr>
          <p:cNvSpPr>
            <a:spLocks noGrp="1"/>
          </p:cNvSpPr>
          <p:nvPr>
            <p:ph type="title"/>
          </p:nvPr>
        </p:nvSpPr>
        <p:spPr>
          <a:xfrm>
            <a:off x="1024128" y="585216"/>
            <a:ext cx="6066818" cy="1499616"/>
          </a:xfrm>
        </p:spPr>
        <p:txBody>
          <a:bodyPr>
            <a:normAutofit/>
          </a:bodyPr>
          <a:lstStyle/>
          <a:p>
            <a:r>
              <a:rPr lang="en-US" dirty="0"/>
              <a:t>Peak Experiences</a:t>
            </a:r>
            <a:endParaRPr lang="en-AU" dirty="0"/>
          </a:p>
        </p:txBody>
      </p:sp>
      <p:sp>
        <p:nvSpPr>
          <p:cNvPr id="3" name="Content Placeholder 2">
            <a:extLst>
              <a:ext uri="{FF2B5EF4-FFF2-40B4-BE49-F238E27FC236}">
                <a16:creationId xmlns:a16="http://schemas.microsoft.com/office/drawing/2014/main" id="{5DC0C1F0-5D20-435A-892A-79526EB289A1}"/>
              </a:ext>
            </a:extLst>
          </p:cNvPr>
          <p:cNvSpPr>
            <a:spLocks noGrp="1"/>
          </p:cNvSpPr>
          <p:nvPr>
            <p:ph idx="1"/>
          </p:nvPr>
        </p:nvSpPr>
        <p:spPr>
          <a:xfrm>
            <a:off x="1024128" y="2286000"/>
            <a:ext cx="6066818" cy="4023360"/>
          </a:xfrm>
        </p:spPr>
        <p:txBody>
          <a:bodyPr>
            <a:normAutofit lnSpcReduction="10000"/>
          </a:bodyPr>
          <a:lstStyle/>
          <a:p>
            <a:pPr fontAlgn="base"/>
            <a:r>
              <a:rPr lang="en-US" b="0" i="0" dirty="0">
                <a:effectLst/>
              </a:rPr>
              <a:t>One characterization of self-actualization is having </a:t>
            </a:r>
            <a:r>
              <a:rPr lang="en-US" b="1" i="0" dirty="0">
                <a:effectLst/>
              </a:rPr>
              <a:t>frequent </a:t>
            </a:r>
            <a:r>
              <a:rPr lang="en-US" b="1" i="0" u="sng" dirty="0">
                <a:effectLst/>
                <a:hlinkClick r:id="rId2">
                  <a:extLst>
                    <a:ext uri="{A12FA001-AC4F-418D-AE19-62706E023703}">
                      <ahyp:hlinkClr xmlns:ahyp="http://schemas.microsoft.com/office/drawing/2018/hyperlinkcolor" val="tx"/>
                    </a:ext>
                  </a:extLst>
                </a:hlinkClick>
              </a:rPr>
              <a:t>peak experiences</a:t>
            </a:r>
            <a:r>
              <a:rPr lang="en-US" b="1" i="0" dirty="0">
                <a:effectLst/>
              </a:rPr>
              <a:t>.</a:t>
            </a:r>
            <a:endParaRPr lang="en-US" b="0" i="0" dirty="0">
              <a:effectLst/>
            </a:endParaRPr>
          </a:p>
          <a:p>
            <a:pPr fontAlgn="base"/>
            <a:r>
              <a:rPr lang="en-US" b="0" i="0" dirty="0">
                <a:effectLst/>
              </a:rPr>
              <a:t>According to Maslow,</a:t>
            </a:r>
            <a:r>
              <a:rPr lang="en-US" b="0" i="0" u="none" strike="noStrike" baseline="30000" dirty="0">
                <a:effectLst/>
              </a:rPr>
              <a:t>1</a:t>
            </a:r>
            <a:r>
              <a:rPr lang="en-US" b="0" i="0" dirty="0">
                <a:effectLst/>
              </a:rPr>
              <a:t>﻿ a peak experience involves:</a:t>
            </a:r>
          </a:p>
          <a:p>
            <a:pPr fontAlgn="base"/>
            <a:r>
              <a:rPr lang="en-US" b="0" i="0" dirty="0">
                <a:effectLst/>
              </a:rPr>
              <a:t>"Feelings of limitless horizons opening up to the vision, the feeling of being simultaneously more powerful and also more helpless than one ever was before, the feeling of ecstasy and wonder and awe, the loss of placement in time and space with, finally, the conviction that something extremely important and valuable had happened, so that the subject was to some extent transformed and strengthened even in his daily life by such experiences."</a:t>
            </a:r>
          </a:p>
          <a:p>
            <a:endParaRPr lang="en-AU" sz="2000" dirty="0"/>
          </a:p>
        </p:txBody>
      </p:sp>
      <p:pic>
        <p:nvPicPr>
          <p:cNvPr id="7" name="Picture 6">
            <a:extLst>
              <a:ext uri="{FF2B5EF4-FFF2-40B4-BE49-F238E27FC236}">
                <a16:creationId xmlns:a16="http://schemas.microsoft.com/office/drawing/2014/main" id="{438508FE-329D-4E29-B09D-DE46FE6B3193}"/>
              </a:ext>
            </a:extLst>
          </p:cNvPr>
          <p:cNvPicPr>
            <a:picLocks noChangeAspect="1"/>
          </p:cNvPicPr>
          <p:nvPr/>
        </p:nvPicPr>
        <p:blipFill rotWithShape="1">
          <a:blip r:embed="rId3"/>
          <a:srcRect l="30796" r="24044" b="-1"/>
          <a:stretch/>
        </p:blipFill>
        <p:spPr>
          <a:xfrm>
            <a:off x="7552266" y="10"/>
            <a:ext cx="4639733" cy="6857990"/>
          </a:xfrm>
          <a:prstGeom prst="rect">
            <a:avLst/>
          </a:prstGeom>
        </p:spPr>
      </p:pic>
    </p:spTree>
    <p:extLst>
      <p:ext uri="{BB962C8B-B14F-4D97-AF65-F5344CB8AC3E}">
        <p14:creationId xmlns:p14="http://schemas.microsoft.com/office/powerpoint/2010/main" val="22387123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3FDB6E-0DE1-414F-9504-23C0BF75C977}"/>
              </a:ext>
            </a:extLst>
          </p:cNvPr>
          <p:cNvSpPr>
            <a:spLocks noGrp="1"/>
          </p:cNvSpPr>
          <p:nvPr>
            <p:ph type="title"/>
          </p:nvPr>
        </p:nvSpPr>
        <p:spPr>
          <a:xfrm>
            <a:off x="1024128" y="585216"/>
            <a:ext cx="9720072" cy="1499616"/>
          </a:xfrm>
        </p:spPr>
        <p:txBody>
          <a:bodyPr>
            <a:normAutofit/>
          </a:bodyPr>
          <a:lstStyle/>
          <a:p>
            <a:r>
              <a:rPr lang="en-US" dirty="0"/>
              <a:t>SELF ACCEPTANCE</a:t>
            </a:r>
            <a:endParaRPr lang="en-AU" dirty="0"/>
          </a:p>
        </p:txBody>
      </p:sp>
      <p:sp>
        <p:nvSpPr>
          <p:cNvPr id="3" name="Content Placeholder 2">
            <a:extLst>
              <a:ext uri="{FF2B5EF4-FFF2-40B4-BE49-F238E27FC236}">
                <a16:creationId xmlns:a16="http://schemas.microsoft.com/office/drawing/2014/main" id="{99E2BBA6-CF97-43AC-93C4-942C4DC72DFB}"/>
              </a:ext>
            </a:extLst>
          </p:cNvPr>
          <p:cNvSpPr>
            <a:spLocks noGrp="1"/>
          </p:cNvSpPr>
          <p:nvPr>
            <p:ph idx="1"/>
          </p:nvPr>
        </p:nvSpPr>
        <p:spPr>
          <a:xfrm>
            <a:off x="1024128" y="2286000"/>
            <a:ext cx="4754880" cy="4023360"/>
          </a:xfrm>
        </p:spPr>
        <p:txBody>
          <a:bodyPr>
            <a:normAutofit lnSpcReduction="10000"/>
          </a:bodyPr>
          <a:lstStyle/>
          <a:p>
            <a:r>
              <a:rPr lang="en-US" dirty="0"/>
              <a:t>Self-actualized people accept themselves and others as they are. They tend to lack inhibition and are able to enjoy themselves and their lives free of guilt.</a:t>
            </a:r>
          </a:p>
          <a:p>
            <a:pPr marL="0" indent="0">
              <a:buNone/>
            </a:pPr>
            <a:endParaRPr lang="en-US" dirty="0"/>
          </a:p>
          <a:p>
            <a:r>
              <a:rPr lang="en-US" dirty="0"/>
              <a:t>Not only do self-actualized people fully accept themselves, they also embrace other people for who they are. Other individuals are treated the same regardless of background, current status, or other socio-economic and cultural factors</a:t>
            </a:r>
            <a:r>
              <a:rPr lang="en-US" sz="2000" dirty="0"/>
              <a:t>.</a:t>
            </a:r>
            <a:endParaRPr lang="en-AU" sz="2000" dirty="0"/>
          </a:p>
        </p:txBody>
      </p:sp>
      <p:pic>
        <p:nvPicPr>
          <p:cNvPr id="5" name="Picture 4" descr="A person looking at the camera&#10;&#10;Description automatically generated">
            <a:extLst>
              <a:ext uri="{FF2B5EF4-FFF2-40B4-BE49-F238E27FC236}">
                <a16:creationId xmlns:a16="http://schemas.microsoft.com/office/drawing/2014/main" id="{DE852672-3901-46BB-9B9B-D07663CC2BF2}"/>
              </a:ext>
            </a:extLst>
          </p:cNvPr>
          <p:cNvPicPr>
            <a:picLocks noChangeAspect="1"/>
          </p:cNvPicPr>
          <p:nvPr/>
        </p:nvPicPr>
        <p:blipFill rotWithShape="1">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l="27250"/>
          <a:stretch/>
        </p:blipFill>
        <p:spPr>
          <a:xfrm>
            <a:off x="6217922" y="796159"/>
            <a:ext cx="6202348" cy="5513201"/>
          </a:xfrm>
          <a:prstGeom prst="rect">
            <a:avLst/>
          </a:prstGeom>
        </p:spPr>
      </p:pic>
      <p:sp>
        <p:nvSpPr>
          <p:cNvPr id="6" name="TextBox 5">
            <a:extLst>
              <a:ext uri="{FF2B5EF4-FFF2-40B4-BE49-F238E27FC236}">
                <a16:creationId xmlns:a16="http://schemas.microsoft.com/office/drawing/2014/main" id="{1E41CC5B-951E-43AA-97C8-F8CBB8340826}"/>
              </a:ext>
            </a:extLst>
          </p:cNvPr>
          <p:cNvSpPr txBox="1"/>
          <p:nvPr/>
        </p:nvSpPr>
        <p:spPr>
          <a:xfrm>
            <a:off x="8350595" y="6035225"/>
            <a:ext cx="2710417" cy="200055"/>
          </a:xfrm>
          <a:prstGeom prst="rect">
            <a:avLst/>
          </a:prstGeom>
          <a:solidFill>
            <a:srgbClr val="000000"/>
          </a:solidFill>
        </p:spPr>
        <p:txBody>
          <a:bodyPr wrap="square" rtlCol="0">
            <a:spAutoFit/>
          </a:bodyPr>
          <a:lstStyle/>
          <a:p>
            <a:pPr algn="r">
              <a:spcAft>
                <a:spcPts val="600"/>
              </a:spcAft>
            </a:pPr>
            <a:r>
              <a:rPr lang="en-AU" sz="700">
                <a:solidFill>
                  <a:srgbClr val="FFFFFF"/>
                </a:solidFill>
                <a:hlinkClick r:id="rId3" tooltip="https://practicalwellbeing.co.uk/greater-self-acceptance-in-3-parts/">
                  <a:extLst>
                    <a:ext uri="{A12FA001-AC4F-418D-AE19-62706E023703}">
                      <ahyp:hlinkClr xmlns:ahyp="http://schemas.microsoft.com/office/drawing/2018/hyperlinkcolor" val="tx"/>
                    </a:ext>
                  </a:extLst>
                </a:hlinkClick>
              </a:rPr>
              <a:t>This Photo</a:t>
            </a:r>
            <a:r>
              <a:rPr lang="en-AU" sz="700">
                <a:solidFill>
                  <a:srgbClr val="FFFFFF"/>
                </a:solidFill>
              </a:rPr>
              <a:t> by Unknown Author is licensed under </a:t>
            </a:r>
            <a:r>
              <a:rPr lang="en-AU" sz="700">
                <a:solidFill>
                  <a:srgbClr val="FFFFFF"/>
                </a:solidFill>
                <a:hlinkClick r:id="rId4" tooltip="https://creativecommons.org/licenses/by-nc-sa/3.0/">
                  <a:extLst>
                    <a:ext uri="{A12FA001-AC4F-418D-AE19-62706E023703}">
                      <ahyp:hlinkClr xmlns:ahyp="http://schemas.microsoft.com/office/drawing/2018/hyperlinkcolor" val="tx"/>
                    </a:ext>
                  </a:extLst>
                </a:hlinkClick>
              </a:rPr>
              <a:t>CC BY-SA-NC</a:t>
            </a:r>
            <a:endParaRPr lang="en-AU" sz="700">
              <a:solidFill>
                <a:srgbClr val="FFFFFF"/>
              </a:solidFill>
            </a:endParaRPr>
          </a:p>
        </p:txBody>
      </p:sp>
    </p:spTree>
    <p:extLst>
      <p:ext uri="{BB962C8B-B14F-4D97-AF65-F5344CB8AC3E}">
        <p14:creationId xmlns:p14="http://schemas.microsoft.com/office/powerpoint/2010/main" val="190771929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3FDB6E-0DE1-414F-9504-23C0BF75C977}"/>
              </a:ext>
            </a:extLst>
          </p:cNvPr>
          <p:cNvSpPr>
            <a:spLocks noGrp="1"/>
          </p:cNvSpPr>
          <p:nvPr>
            <p:ph type="title"/>
          </p:nvPr>
        </p:nvSpPr>
        <p:spPr>
          <a:xfrm>
            <a:off x="1024128" y="585216"/>
            <a:ext cx="3133581" cy="1499616"/>
          </a:xfrm>
        </p:spPr>
        <p:txBody>
          <a:bodyPr>
            <a:normAutofit/>
          </a:bodyPr>
          <a:lstStyle/>
          <a:p>
            <a:r>
              <a:rPr lang="en-US" sz="4800" dirty="0"/>
              <a:t>Realistic</a:t>
            </a:r>
            <a:endParaRPr lang="en-AU" sz="4800" dirty="0"/>
          </a:p>
        </p:txBody>
      </p:sp>
      <p:sp>
        <p:nvSpPr>
          <p:cNvPr id="3" name="Content Placeholder 2">
            <a:extLst>
              <a:ext uri="{FF2B5EF4-FFF2-40B4-BE49-F238E27FC236}">
                <a16:creationId xmlns:a16="http://schemas.microsoft.com/office/drawing/2014/main" id="{99E2BBA6-CF97-43AC-93C4-942C4DC72DFB}"/>
              </a:ext>
            </a:extLst>
          </p:cNvPr>
          <p:cNvSpPr>
            <a:spLocks noGrp="1"/>
          </p:cNvSpPr>
          <p:nvPr>
            <p:ph idx="1"/>
          </p:nvPr>
        </p:nvSpPr>
        <p:spPr>
          <a:xfrm>
            <a:off x="1024128" y="2286000"/>
            <a:ext cx="3133580" cy="3931920"/>
          </a:xfrm>
        </p:spPr>
        <p:txBody>
          <a:bodyPr>
            <a:normAutofit/>
          </a:bodyPr>
          <a:lstStyle/>
          <a:p>
            <a:r>
              <a:rPr lang="en-US" dirty="0"/>
              <a:t>Another major characteristic of self-actualized people is a sense of realism. Rather than being fearful of things that are different or unknown, the self-actualized individual is able to view life as it unfolds both logically and rationally.</a:t>
            </a:r>
            <a:endParaRPr lang="en-AU" dirty="0"/>
          </a:p>
        </p:txBody>
      </p:sp>
      <p:pic>
        <p:nvPicPr>
          <p:cNvPr id="8" name="Picture 7" descr="A person wearing a hat&#10;&#10;Description automatically generated">
            <a:extLst>
              <a:ext uri="{FF2B5EF4-FFF2-40B4-BE49-F238E27FC236}">
                <a16:creationId xmlns:a16="http://schemas.microsoft.com/office/drawing/2014/main" id="{541EF711-6498-4B9F-A46A-A0C427B74140}"/>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4642342" y="1125808"/>
            <a:ext cx="6909577" cy="4606384"/>
          </a:xfrm>
          <a:prstGeom prst="rect">
            <a:avLst/>
          </a:prstGeom>
        </p:spPr>
      </p:pic>
      <p:sp>
        <p:nvSpPr>
          <p:cNvPr id="9" name="TextBox 8">
            <a:extLst>
              <a:ext uri="{FF2B5EF4-FFF2-40B4-BE49-F238E27FC236}">
                <a16:creationId xmlns:a16="http://schemas.microsoft.com/office/drawing/2014/main" id="{D2FDE867-9147-4168-9100-0DD941A3847A}"/>
              </a:ext>
            </a:extLst>
          </p:cNvPr>
          <p:cNvSpPr txBox="1"/>
          <p:nvPr/>
        </p:nvSpPr>
        <p:spPr>
          <a:xfrm>
            <a:off x="9158315" y="5532137"/>
            <a:ext cx="2393604" cy="200055"/>
          </a:xfrm>
          <a:prstGeom prst="rect">
            <a:avLst/>
          </a:prstGeom>
          <a:solidFill>
            <a:srgbClr val="000000"/>
          </a:solidFill>
        </p:spPr>
        <p:txBody>
          <a:bodyPr wrap="none" rtlCol="0">
            <a:spAutoFit/>
          </a:bodyPr>
          <a:lstStyle/>
          <a:p>
            <a:pPr algn="r">
              <a:spcAft>
                <a:spcPts val="600"/>
              </a:spcAft>
            </a:pPr>
            <a:r>
              <a:rPr lang="en-AU" sz="700">
                <a:solidFill>
                  <a:srgbClr val="FFFFFF"/>
                </a:solidFill>
                <a:hlinkClick r:id="rId3" tooltip="https://bestplacesofinterest.com/learned-stop-worrying-love-magical-realism/">
                  <a:extLst>
                    <a:ext uri="{A12FA001-AC4F-418D-AE19-62706E023703}">
                      <ahyp:hlinkClr xmlns:ahyp="http://schemas.microsoft.com/office/drawing/2018/hyperlinkcolor" val="tx"/>
                    </a:ext>
                  </a:extLst>
                </a:hlinkClick>
              </a:rPr>
              <a:t>This Photo</a:t>
            </a:r>
            <a:r>
              <a:rPr lang="en-AU" sz="700">
                <a:solidFill>
                  <a:srgbClr val="FFFFFF"/>
                </a:solidFill>
              </a:rPr>
              <a:t> by Unknown Author is licensed under </a:t>
            </a:r>
            <a:r>
              <a:rPr lang="en-AU" sz="700">
                <a:solidFill>
                  <a:srgbClr val="FFFFFF"/>
                </a:solidFill>
                <a:hlinkClick r:id="rId4" tooltip="https://creativecommons.org/licenses/by-nc-sa/3.0/">
                  <a:extLst>
                    <a:ext uri="{A12FA001-AC4F-418D-AE19-62706E023703}">
                      <ahyp:hlinkClr xmlns:ahyp="http://schemas.microsoft.com/office/drawing/2018/hyperlinkcolor" val="tx"/>
                    </a:ext>
                  </a:extLst>
                </a:hlinkClick>
              </a:rPr>
              <a:t>CC BY-SA-NC</a:t>
            </a:r>
            <a:endParaRPr lang="en-AU" sz="700">
              <a:solidFill>
                <a:srgbClr val="FFFFFF"/>
              </a:solidFill>
            </a:endParaRPr>
          </a:p>
        </p:txBody>
      </p:sp>
    </p:spTree>
    <p:extLst>
      <p:ext uri="{BB962C8B-B14F-4D97-AF65-F5344CB8AC3E}">
        <p14:creationId xmlns:p14="http://schemas.microsoft.com/office/powerpoint/2010/main" val="347947156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1965AC-CAD9-43EB-A9F8-253CE4182968}"/>
              </a:ext>
            </a:extLst>
          </p:cNvPr>
          <p:cNvSpPr>
            <a:spLocks noGrp="1"/>
          </p:cNvSpPr>
          <p:nvPr>
            <p:ph type="title"/>
          </p:nvPr>
        </p:nvSpPr>
        <p:spPr>
          <a:xfrm>
            <a:off x="1024128" y="585216"/>
            <a:ext cx="3618214" cy="1499616"/>
          </a:xfrm>
        </p:spPr>
        <p:txBody>
          <a:bodyPr>
            <a:normAutofit/>
          </a:bodyPr>
          <a:lstStyle/>
          <a:p>
            <a:r>
              <a:rPr lang="en-US" sz="4400" dirty="0"/>
              <a:t>Problem-</a:t>
            </a:r>
            <a:r>
              <a:rPr lang="en-US" sz="4400" dirty="0" err="1"/>
              <a:t>centred</a:t>
            </a:r>
            <a:endParaRPr lang="en-AU" sz="4400" dirty="0"/>
          </a:p>
        </p:txBody>
      </p:sp>
      <p:sp>
        <p:nvSpPr>
          <p:cNvPr id="3" name="Content Placeholder 2">
            <a:extLst>
              <a:ext uri="{FF2B5EF4-FFF2-40B4-BE49-F238E27FC236}">
                <a16:creationId xmlns:a16="http://schemas.microsoft.com/office/drawing/2014/main" id="{838FF351-24A8-4854-8901-05F8D3D7E52A}"/>
              </a:ext>
            </a:extLst>
          </p:cNvPr>
          <p:cNvSpPr>
            <a:spLocks noGrp="1"/>
          </p:cNvSpPr>
          <p:nvPr>
            <p:ph idx="1"/>
          </p:nvPr>
        </p:nvSpPr>
        <p:spPr>
          <a:xfrm>
            <a:off x="1024128" y="2286000"/>
            <a:ext cx="3133580" cy="3931920"/>
          </a:xfrm>
        </p:spPr>
        <p:txBody>
          <a:bodyPr>
            <a:normAutofit/>
          </a:bodyPr>
          <a:lstStyle/>
          <a:p>
            <a:r>
              <a:rPr lang="en-US" dirty="0"/>
              <a:t>Self-actualized individuals are often motivated by a strong sense of personal ethics and responsibility. They enjoy applying their problem-solving skills to real-world situations and they like helping other people improve their own lives.</a:t>
            </a:r>
            <a:endParaRPr lang="en-AU" dirty="0"/>
          </a:p>
        </p:txBody>
      </p:sp>
      <p:pic>
        <p:nvPicPr>
          <p:cNvPr id="4" name="Picture 3">
            <a:extLst>
              <a:ext uri="{FF2B5EF4-FFF2-40B4-BE49-F238E27FC236}">
                <a16:creationId xmlns:a16="http://schemas.microsoft.com/office/drawing/2014/main" id="{C8182F9B-B335-4E04-9903-45FB9E74A3A1}"/>
              </a:ext>
            </a:extLst>
          </p:cNvPr>
          <p:cNvPicPr>
            <a:picLocks noChangeAspect="1"/>
          </p:cNvPicPr>
          <p:nvPr/>
        </p:nvPicPr>
        <p:blipFill>
          <a:blip r:embed="rId2"/>
          <a:stretch>
            <a:fillRect/>
          </a:stretch>
        </p:blipFill>
        <p:spPr>
          <a:xfrm>
            <a:off x="4642342" y="1131566"/>
            <a:ext cx="6909577" cy="4594868"/>
          </a:xfrm>
          <a:prstGeom prst="rect">
            <a:avLst/>
          </a:prstGeom>
        </p:spPr>
      </p:pic>
    </p:spTree>
    <p:extLst>
      <p:ext uri="{BB962C8B-B14F-4D97-AF65-F5344CB8AC3E}">
        <p14:creationId xmlns:p14="http://schemas.microsoft.com/office/powerpoint/2010/main" val="268472939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F5B6B8-9E22-4639-A05E-B1F7FDF22326}"/>
              </a:ext>
            </a:extLst>
          </p:cNvPr>
          <p:cNvSpPr>
            <a:spLocks noGrp="1"/>
          </p:cNvSpPr>
          <p:nvPr>
            <p:ph type="title"/>
          </p:nvPr>
        </p:nvSpPr>
        <p:spPr>
          <a:xfrm>
            <a:off x="1024128" y="585216"/>
            <a:ext cx="3133581" cy="1499616"/>
          </a:xfrm>
        </p:spPr>
        <p:txBody>
          <a:bodyPr>
            <a:normAutofit/>
          </a:bodyPr>
          <a:lstStyle/>
          <a:p>
            <a:r>
              <a:rPr lang="en-US" sz="4800" dirty="0"/>
              <a:t>Autonomous</a:t>
            </a:r>
            <a:endParaRPr lang="en-AU" sz="4800" dirty="0"/>
          </a:p>
        </p:txBody>
      </p:sp>
      <p:sp>
        <p:nvSpPr>
          <p:cNvPr id="3" name="Content Placeholder 2">
            <a:extLst>
              <a:ext uri="{FF2B5EF4-FFF2-40B4-BE49-F238E27FC236}">
                <a16:creationId xmlns:a16="http://schemas.microsoft.com/office/drawing/2014/main" id="{4F63BBD2-1A8A-402C-B027-F2D19FBB0109}"/>
              </a:ext>
            </a:extLst>
          </p:cNvPr>
          <p:cNvSpPr>
            <a:spLocks noGrp="1"/>
          </p:cNvSpPr>
          <p:nvPr>
            <p:ph idx="1"/>
          </p:nvPr>
        </p:nvSpPr>
        <p:spPr>
          <a:xfrm>
            <a:off x="1024128" y="2286000"/>
            <a:ext cx="3133580" cy="3931920"/>
          </a:xfrm>
        </p:spPr>
        <p:txBody>
          <a:bodyPr>
            <a:normAutofit/>
          </a:bodyPr>
          <a:lstStyle/>
          <a:p>
            <a:r>
              <a:rPr lang="en-US" dirty="0"/>
              <a:t>Self-actualized people also tend to be very ​independent. They don't conform to other people's ideas of happiness or contentment. This original perspective allows the individual to live in the moment and appreciate the beauty of each experience.</a:t>
            </a:r>
            <a:endParaRPr lang="en-AU" dirty="0"/>
          </a:p>
        </p:txBody>
      </p:sp>
      <p:pic>
        <p:nvPicPr>
          <p:cNvPr id="4" name="Picture 3">
            <a:extLst>
              <a:ext uri="{FF2B5EF4-FFF2-40B4-BE49-F238E27FC236}">
                <a16:creationId xmlns:a16="http://schemas.microsoft.com/office/drawing/2014/main" id="{8D0FA969-7406-430D-8D58-1BB5EF9AEBB1}"/>
              </a:ext>
            </a:extLst>
          </p:cNvPr>
          <p:cNvPicPr>
            <a:picLocks noChangeAspect="1"/>
          </p:cNvPicPr>
          <p:nvPr/>
        </p:nvPicPr>
        <p:blipFill>
          <a:blip r:embed="rId2"/>
          <a:stretch>
            <a:fillRect/>
          </a:stretch>
        </p:blipFill>
        <p:spPr>
          <a:xfrm>
            <a:off x="4642342" y="1122929"/>
            <a:ext cx="6909577" cy="4612142"/>
          </a:xfrm>
          <a:prstGeom prst="rect">
            <a:avLst/>
          </a:prstGeom>
        </p:spPr>
      </p:pic>
    </p:spTree>
    <p:extLst>
      <p:ext uri="{BB962C8B-B14F-4D97-AF65-F5344CB8AC3E}">
        <p14:creationId xmlns:p14="http://schemas.microsoft.com/office/powerpoint/2010/main" val="62291360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815ADE-15E5-4BA1-AF63-5A5BD2EA9C7E}"/>
              </a:ext>
            </a:extLst>
          </p:cNvPr>
          <p:cNvSpPr>
            <a:spLocks noGrp="1"/>
          </p:cNvSpPr>
          <p:nvPr>
            <p:ph type="title"/>
          </p:nvPr>
        </p:nvSpPr>
        <p:spPr>
          <a:xfrm>
            <a:off x="1024128" y="585216"/>
            <a:ext cx="6066818" cy="1499616"/>
          </a:xfrm>
        </p:spPr>
        <p:txBody>
          <a:bodyPr>
            <a:normAutofit/>
          </a:bodyPr>
          <a:lstStyle/>
          <a:p>
            <a:r>
              <a:rPr lang="en-US" dirty="0"/>
              <a:t>Spontaneous</a:t>
            </a:r>
            <a:endParaRPr lang="en-AU" dirty="0"/>
          </a:p>
        </p:txBody>
      </p:sp>
      <p:sp>
        <p:nvSpPr>
          <p:cNvPr id="3" name="Content Placeholder 2">
            <a:extLst>
              <a:ext uri="{FF2B5EF4-FFF2-40B4-BE49-F238E27FC236}">
                <a16:creationId xmlns:a16="http://schemas.microsoft.com/office/drawing/2014/main" id="{EAF4DFC2-AF25-40E1-B194-38CF049B6E08}"/>
              </a:ext>
            </a:extLst>
          </p:cNvPr>
          <p:cNvSpPr>
            <a:spLocks noGrp="1"/>
          </p:cNvSpPr>
          <p:nvPr>
            <p:ph idx="1"/>
          </p:nvPr>
        </p:nvSpPr>
        <p:spPr>
          <a:xfrm>
            <a:off x="1024128" y="2286000"/>
            <a:ext cx="6066818" cy="4023360"/>
          </a:xfrm>
        </p:spPr>
        <p:txBody>
          <a:bodyPr>
            <a:normAutofit/>
          </a:bodyPr>
          <a:lstStyle/>
          <a:p>
            <a:r>
              <a:rPr lang="en-US" dirty="0"/>
              <a:t>Another characteristic of self-actualized people is a tendency to be open, unconventional, and spontaneous. While these people are able to follow generally accepted social expectations, they don't feel confined by these norms in their thoughts or behaviors.</a:t>
            </a:r>
            <a:endParaRPr lang="en-AU" dirty="0"/>
          </a:p>
        </p:txBody>
      </p:sp>
      <p:pic>
        <p:nvPicPr>
          <p:cNvPr id="4" name="Picture 3">
            <a:extLst>
              <a:ext uri="{FF2B5EF4-FFF2-40B4-BE49-F238E27FC236}">
                <a16:creationId xmlns:a16="http://schemas.microsoft.com/office/drawing/2014/main" id="{34A0D84D-8123-4449-BCCD-70D5AC96AE1A}"/>
              </a:ext>
            </a:extLst>
          </p:cNvPr>
          <p:cNvPicPr>
            <a:picLocks noChangeAspect="1"/>
          </p:cNvPicPr>
          <p:nvPr/>
        </p:nvPicPr>
        <p:blipFill rotWithShape="1">
          <a:blip r:embed="rId2"/>
          <a:srcRect l="11921" r="42920" b="-1"/>
          <a:stretch/>
        </p:blipFill>
        <p:spPr>
          <a:xfrm>
            <a:off x="7552266" y="10"/>
            <a:ext cx="4639733" cy="6857990"/>
          </a:xfrm>
          <a:prstGeom prst="rect">
            <a:avLst/>
          </a:prstGeom>
        </p:spPr>
      </p:pic>
    </p:spTree>
    <p:extLst>
      <p:ext uri="{BB962C8B-B14F-4D97-AF65-F5344CB8AC3E}">
        <p14:creationId xmlns:p14="http://schemas.microsoft.com/office/powerpoint/2010/main" val="173969638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Questions to consider</a:t>
            </a:r>
          </a:p>
        </p:txBody>
      </p:sp>
      <p:sp>
        <p:nvSpPr>
          <p:cNvPr id="3" name="Content Placeholder 2"/>
          <p:cNvSpPr>
            <a:spLocks noGrp="1"/>
          </p:cNvSpPr>
          <p:nvPr>
            <p:ph idx="1"/>
          </p:nvPr>
        </p:nvSpPr>
        <p:spPr/>
        <p:txBody>
          <a:bodyPr/>
          <a:lstStyle/>
          <a:p>
            <a:r>
              <a:rPr lang="en-US" dirty="0"/>
              <a:t>Do you think individuals who have reached self actualisation are healthier than those who haven’t? Why or why not?</a:t>
            </a:r>
          </a:p>
          <a:p>
            <a:endParaRPr lang="en-US" dirty="0"/>
          </a:p>
          <a:p>
            <a:r>
              <a:rPr lang="en-US" dirty="0"/>
              <a:t>How does </a:t>
            </a:r>
            <a:r>
              <a:rPr lang="en-US" dirty="0" err="1"/>
              <a:t>Maslows</a:t>
            </a:r>
            <a:r>
              <a:rPr lang="en-US" dirty="0"/>
              <a:t> Hierarchy of needs fit with human rights?</a:t>
            </a:r>
          </a:p>
          <a:p>
            <a:r>
              <a:rPr lang="en-US" dirty="0"/>
              <a:t>** Take a look at The Universal Declaration of Human Rights (UN Website)</a:t>
            </a:r>
          </a:p>
          <a:p>
            <a:r>
              <a:rPr lang="en-US" dirty="0">
                <a:hlinkClick r:id="rId2"/>
              </a:rPr>
              <a:t>http://www.interfaces.com/blog/2013/09/health-human-rights-and-maslows-hierarchy-of-needs/</a:t>
            </a:r>
            <a:endParaRPr lang="en-US" dirty="0"/>
          </a:p>
          <a:p>
            <a:endParaRPr lang="en-US" dirty="0"/>
          </a:p>
        </p:txBody>
      </p:sp>
    </p:spTree>
    <p:extLst>
      <p:ext uri="{BB962C8B-B14F-4D97-AF65-F5344CB8AC3E}">
        <p14:creationId xmlns:p14="http://schemas.microsoft.com/office/powerpoint/2010/main" val="18681460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Are you self-actualized?</a:t>
            </a:r>
          </a:p>
        </p:txBody>
      </p:sp>
      <p:sp>
        <p:nvSpPr>
          <p:cNvPr id="3" name="Content Placeholder 2"/>
          <p:cNvSpPr>
            <a:spLocks noGrp="1"/>
          </p:cNvSpPr>
          <p:nvPr>
            <p:ph idx="1"/>
          </p:nvPr>
        </p:nvSpPr>
        <p:spPr/>
        <p:txBody>
          <a:bodyPr/>
          <a:lstStyle/>
          <a:p>
            <a:r>
              <a:rPr lang="en-US" dirty="0"/>
              <a:t>Take the quiz online at Explore Psychology</a:t>
            </a:r>
          </a:p>
          <a:p>
            <a:r>
              <a:rPr lang="en-US" dirty="0">
                <a:hlinkClick r:id="rId2"/>
              </a:rPr>
              <a:t>https://www.explorepsychology.com/wp_quiz/self-actualization-test/</a:t>
            </a:r>
            <a:endParaRPr lang="en-US" dirty="0"/>
          </a:p>
          <a:p>
            <a:endParaRPr lang="en-US" dirty="0"/>
          </a:p>
          <a:p>
            <a:pPr marL="0" indent="0">
              <a:buNone/>
            </a:pPr>
            <a:endParaRPr lang="en-US" dirty="0"/>
          </a:p>
        </p:txBody>
      </p:sp>
    </p:spTree>
    <p:extLst>
      <p:ext uri="{BB962C8B-B14F-4D97-AF65-F5344CB8AC3E}">
        <p14:creationId xmlns:p14="http://schemas.microsoft.com/office/powerpoint/2010/main" val="291063959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RESOURCES</a:t>
            </a:r>
          </a:p>
        </p:txBody>
      </p:sp>
      <p:sp>
        <p:nvSpPr>
          <p:cNvPr id="3" name="Content Placeholder 2"/>
          <p:cNvSpPr>
            <a:spLocks noGrp="1"/>
          </p:cNvSpPr>
          <p:nvPr>
            <p:ph idx="1"/>
          </p:nvPr>
        </p:nvSpPr>
        <p:spPr/>
        <p:txBody>
          <a:bodyPr/>
          <a:lstStyle/>
          <a:p>
            <a:r>
              <a:rPr lang="en-US" dirty="0"/>
              <a:t>Lockhart, E. (2015) Health Studies Year 12 ATAR. </a:t>
            </a:r>
          </a:p>
          <a:p>
            <a:endParaRPr lang="en-US" dirty="0"/>
          </a:p>
          <a:p>
            <a:pPr marL="0" indent="0">
              <a:buNone/>
            </a:pPr>
            <a:r>
              <a:rPr lang="en-US" dirty="0"/>
              <a:t>9 Characteristics of Self-Actualized People By Kendra Cherry</a:t>
            </a:r>
          </a:p>
          <a:p>
            <a:pPr marL="0" indent="0">
              <a:buNone/>
            </a:pPr>
            <a:r>
              <a:rPr lang="en-US"/>
              <a:t>https://www.verywellmind.com/characteristics-of-self-actualized-people-2795963</a:t>
            </a:r>
            <a:endParaRPr lang="en-US" dirty="0"/>
          </a:p>
          <a:p>
            <a:pPr marL="0" indent="0">
              <a:buNone/>
            </a:pPr>
            <a:endParaRPr lang="en-US" dirty="0"/>
          </a:p>
        </p:txBody>
      </p:sp>
    </p:spTree>
    <p:extLst>
      <p:ext uri="{BB962C8B-B14F-4D97-AF65-F5344CB8AC3E}">
        <p14:creationId xmlns:p14="http://schemas.microsoft.com/office/powerpoint/2010/main" val="180555300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Characteristics and needs of specific populations</a:t>
            </a:r>
            <a:endParaRPr lang="en-AU" dirty="0"/>
          </a:p>
        </p:txBody>
      </p:sp>
      <p:sp>
        <p:nvSpPr>
          <p:cNvPr id="3" name="Subtitle 2"/>
          <p:cNvSpPr>
            <a:spLocks noGrp="1"/>
          </p:cNvSpPr>
          <p:nvPr>
            <p:ph type="subTitle" idx="1"/>
          </p:nvPr>
        </p:nvSpPr>
        <p:spPr/>
        <p:txBody>
          <a:bodyPr>
            <a:normAutofit/>
          </a:bodyPr>
          <a:lstStyle/>
          <a:p>
            <a:r>
              <a:rPr lang="en-AU" sz="2200" dirty="0"/>
              <a:t>Term 1</a:t>
            </a:r>
          </a:p>
          <a:p>
            <a:r>
              <a:rPr lang="en-AU" sz="2200" dirty="0"/>
              <a:t>Week 3-4</a:t>
            </a:r>
          </a:p>
        </p:txBody>
      </p:sp>
    </p:spTree>
    <p:extLst>
      <p:ext uri="{BB962C8B-B14F-4D97-AF65-F5344CB8AC3E}">
        <p14:creationId xmlns:p14="http://schemas.microsoft.com/office/powerpoint/2010/main" val="55544583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9E4C68A-A4A9-48A4-9FF2-D2896B1EA01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E2B9AEA5-52CB-49A6-AF8A-33502F291B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654296"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964788" y="804333"/>
            <a:ext cx="3302412" cy="5249334"/>
          </a:xfrm>
        </p:spPr>
        <p:txBody>
          <a:bodyPr>
            <a:normAutofit/>
          </a:bodyPr>
          <a:lstStyle/>
          <a:p>
            <a:pPr algn="r"/>
            <a:r>
              <a:rPr lang="en-US">
                <a:solidFill>
                  <a:srgbClr val="FFFFFF"/>
                </a:solidFill>
              </a:rPr>
              <a:t>Syllabus content</a:t>
            </a:r>
          </a:p>
        </p:txBody>
      </p:sp>
      <p:sp>
        <p:nvSpPr>
          <p:cNvPr id="3" name="Content Placeholder 2"/>
          <p:cNvSpPr>
            <a:spLocks noGrp="1"/>
          </p:cNvSpPr>
          <p:nvPr>
            <p:ph idx="1"/>
          </p:nvPr>
        </p:nvSpPr>
        <p:spPr>
          <a:xfrm>
            <a:off x="5109882" y="804333"/>
            <a:ext cx="6402668" cy="5249334"/>
          </a:xfrm>
        </p:spPr>
        <p:txBody>
          <a:bodyPr anchor="ctr">
            <a:normAutofit/>
          </a:bodyPr>
          <a:lstStyle/>
          <a:p>
            <a:pPr lvl="0">
              <a:buFont typeface="Wingdings" charset="2"/>
              <a:buChar char="v"/>
            </a:pPr>
            <a:r>
              <a:rPr lang="en-AU" dirty="0"/>
              <a:t> Characteristics and needs of specific populations</a:t>
            </a:r>
          </a:p>
          <a:p>
            <a:pPr lvl="0">
              <a:buFont typeface="Wingdings" charset="2"/>
              <a:buChar char="v"/>
            </a:pPr>
            <a:r>
              <a:rPr lang="en-AU" dirty="0"/>
              <a:t>Access and equity issues of specific populations</a:t>
            </a:r>
          </a:p>
          <a:p>
            <a:pPr lvl="0">
              <a:buFont typeface="Wingdings" charset="2"/>
              <a:buChar char="v"/>
            </a:pPr>
            <a:r>
              <a:rPr lang="en-AU" dirty="0"/>
              <a:t> Quantitative and qualitative measures for detecting health inequities and/or injustices</a:t>
            </a:r>
            <a:endParaRPr lang="en-GB" dirty="0"/>
          </a:p>
          <a:p>
            <a:pPr>
              <a:buFont typeface="Arial" charset="0"/>
              <a:buChar char="•"/>
            </a:pPr>
            <a:r>
              <a:rPr lang="en-AU" dirty="0"/>
              <a:t> Epidemiological data</a:t>
            </a:r>
            <a:endParaRPr lang="en-GB" dirty="0"/>
          </a:p>
          <a:p>
            <a:pPr>
              <a:buFont typeface="Arial" charset="0"/>
              <a:buChar char="•"/>
            </a:pPr>
            <a:r>
              <a:rPr lang="en-AU" dirty="0"/>
              <a:t> Social determinants of health</a:t>
            </a:r>
          </a:p>
          <a:p>
            <a:pPr lvl="0">
              <a:buFont typeface="Wingdings" charset="2"/>
              <a:buChar char="v"/>
            </a:pPr>
            <a:endParaRPr lang="en-GB" dirty="0"/>
          </a:p>
          <a:p>
            <a:endParaRPr lang="en-US" dirty="0"/>
          </a:p>
        </p:txBody>
      </p:sp>
    </p:spTree>
    <p:extLst>
      <p:ext uri="{BB962C8B-B14F-4D97-AF65-F5344CB8AC3E}">
        <p14:creationId xmlns:p14="http://schemas.microsoft.com/office/powerpoint/2010/main" val="152286454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is a specific population?</a:t>
            </a:r>
          </a:p>
        </p:txBody>
      </p:sp>
      <p:sp>
        <p:nvSpPr>
          <p:cNvPr id="3" name="Content Placeholder 2"/>
          <p:cNvSpPr>
            <a:spLocks noGrp="1"/>
          </p:cNvSpPr>
          <p:nvPr>
            <p:ph idx="1"/>
          </p:nvPr>
        </p:nvSpPr>
        <p:spPr>
          <a:xfrm>
            <a:off x="835819" y="1828801"/>
            <a:ext cx="11356181" cy="4732420"/>
          </a:xfrm>
        </p:spPr>
        <p:txBody>
          <a:bodyPr>
            <a:normAutofit fontScale="92500" lnSpcReduction="20000"/>
          </a:bodyPr>
          <a:lstStyle/>
          <a:p>
            <a:r>
              <a:rPr lang="en-US" dirty="0"/>
              <a:t>A subgroup of the main population of a country or state. It consists of a group of people with similar characteristics and/or needs. </a:t>
            </a:r>
          </a:p>
          <a:p>
            <a:r>
              <a:rPr lang="en-US" dirty="0"/>
              <a:t>What are some examples of specific populations in Australia?   (all identified as “priority groups” by AIHW)</a:t>
            </a:r>
          </a:p>
          <a:p>
            <a:pPr>
              <a:buFont typeface="Wingdings" charset="2"/>
              <a:buChar char="v"/>
            </a:pPr>
            <a:r>
              <a:rPr lang="en-US" dirty="0"/>
              <a:t>Mothers and Babies  </a:t>
            </a:r>
          </a:p>
          <a:p>
            <a:pPr>
              <a:buFont typeface="Wingdings" charset="2"/>
              <a:buChar char="v"/>
            </a:pPr>
            <a:r>
              <a:rPr lang="en-US" dirty="0"/>
              <a:t>Males/Females            </a:t>
            </a:r>
          </a:p>
          <a:p>
            <a:pPr>
              <a:buFont typeface="Wingdings" charset="2"/>
              <a:buChar char="v"/>
            </a:pPr>
            <a:r>
              <a:rPr lang="en-US" dirty="0"/>
              <a:t>Individuals who are or have been incarcerated (Prisoners)</a:t>
            </a:r>
          </a:p>
          <a:p>
            <a:pPr>
              <a:buFont typeface="Wingdings" charset="2"/>
              <a:buChar char="v"/>
            </a:pPr>
            <a:r>
              <a:rPr lang="en-US" dirty="0"/>
              <a:t>Children/Youth                          </a:t>
            </a:r>
          </a:p>
          <a:p>
            <a:pPr>
              <a:buFont typeface="Wingdings" charset="2"/>
              <a:buChar char="v"/>
            </a:pPr>
            <a:r>
              <a:rPr lang="en-US" b="1" dirty="0">
                <a:solidFill>
                  <a:srgbClr val="FF0000"/>
                </a:solidFill>
              </a:rPr>
              <a:t>Aboriginal &amp; Torres Strait Islanders (Indigenous)</a:t>
            </a:r>
          </a:p>
          <a:p>
            <a:pPr>
              <a:buFont typeface="Wingdings" charset="2"/>
              <a:buChar char="v"/>
            </a:pPr>
            <a:r>
              <a:rPr lang="en-US" b="1" dirty="0">
                <a:solidFill>
                  <a:srgbClr val="FF0000"/>
                </a:solidFill>
              </a:rPr>
              <a:t>Individuals living in rural/remote areas</a:t>
            </a:r>
          </a:p>
          <a:p>
            <a:pPr>
              <a:buFont typeface="Wingdings" charset="2"/>
              <a:buChar char="v"/>
            </a:pPr>
            <a:r>
              <a:rPr lang="en-US" dirty="0"/>
              <a:t>War Veterans</a:t>
            </a:r>
          </a:p>
          <a:p>
            <a:pPr>
              <a:buFont typeface="Wingdings" charset="2"/>
              <a:buChar char="v"/>
            </a:pPr>
            <a:r>
              <a:rPr lang="en-US" b="1" dirty="0">
                <a:solidFill>
                  <a:srgbClr val="FF0000"/>
                </a:solidFill>
              </a:rPr>
              <a:t>Older people  (The Elderly) </a:t>
            </a:r>
          </a:p>
          <a:p>
            <a:pPr>
              <a:buFont typeface="Wingdings" charset="2"/>
              <a:buChar char="v"/>
            </a:pPr>
            <a:r>
              <a:rPr lang="en-US" b="1" dirty="0">
                <a:solidFill>
                  <a:srgbClr val="FF0000"/>
                </a:solidFill>
              </a:rPr>
              <a:t>Socioeconomically disadvantaged people     </a:t>
            </a:r>
          </a:p>
          <a:p>
            <a:endParaRPr lang="en-US" dirty="0"/>
          </a:p>
          <a:p>
            <a:endParaRPr lang="en-US" dirty="0"/>
          </a:p>
          <a:p>
            <a:endParaRPr lang="en-US" dirty="0"/>
          </a:p>
          <a:p>
            <a:endParaRPr lang="en-US" dirty="0"/>
          </a:p>
          <a:p>
            <a:endParaRPr lang="en-US" dirty="0"/>
          </a:p>
          <a:p>
            <a:endParaRPr lang="en-US" dirty="0"/>
          </a:p>
          <a:p>
            <a:endParaRPr lang="en-US" dirty="0"/>
          </a:p>
        </p:txBody>
      </p:sp>
      <p:sp>
        <p:nvSpPr>
          <p:cNvPr id="4" name="TextBox 3"/>
          <p:cNvSpPr txBox="1"/>
          <p:nvPr/>
        </p:nvSpPr>
        <p:spPr>
          <a:xfrm>
            <a:off x="7087394" y="5819942"/>
            <a:ext cx="5436143" cy="646331"/>
          </a:xfrm>
          <a:prstGeom prst="rect">
            <a:avLst/>
          </a:prstGeom>
          <a:noFill/>
        </p:spPr>
        <p:txBody>
          <a:bodyPr wrap="square" rtlCol="0">
            <a:spAutoFit/>
          </a:bodyPr>
          <a:lstStyle/>
          <a:p>
            <a:r>
              <a:rPr lang="en-US" b="1" dirty="0">
                <a:solidFill>
                  <a:srgbClr val="FF0000"/>
                </a:solidFill>
              </a:rPr>
              <a:t>WORKSHEET: We are going to look at these ones in more detail</a:t>
            </a:r>
          </a:p>
        </p:txBody>
      </p:sp>
    </p:spTree>
    <p:extLst>
      <p:ext uri="{BB962C8B-B14F-4D97-AF65-F5344CB8AC3E}">
        <p14:creationId xmlns:p14="http://schemas.microsoft.com/office/powerpoint/2010/main" val="17206957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
                                            <p:txEl>
                                              <p:pRg st="7" end="7"/>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
                                            <p:txEl>
                                              <p:pRg st="8" end="8"/>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3">
                                            <p:txEl>
                                              <p:pRg st="9" end="9"/>
                                            </p:txEl>
                                          </p:spTgt>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EDDF39-ABEA-4738-B823-A6214AF5C61B}"/>
              </a:ext>
            </a:extLst>
          </p:cNvPr>
          <p:cNvSpPr>
            <a:spLocks noGrp="1"/>
          </p:cNvSpPr>
          <p:nvPr>
            <p:ph type="title"/>
          </p:nvPr>
        </p:nvSpPr>
        <p:spPr/>
        <p:txBody>
          <a:bodyPr/>
          <a:lstStyle/>
          <a:p>
            <a:r>
              <a:rPr lang="en-US" dirty="0"/>
              <a:t>Specific populations worksheet </a:t>
            </a:r>
            <a:endParaRPr lang="en-AU" dirty="0"/>
          </a:p>
        </p:txBody>
      </p:sp>
      <p:sp>
        <p:nvSpPr>
          <p:cNvPr id="3" name="Content Placeholder 2">
            <a:extLst>
              <a:ext uri="{FF2B5EF4-FFF2-40B4-BE49-F238E27FC236}">
                <a16:creationId xmlns:a16="http://schemas.microsoft.com/office/drawing/2014/main" id="{83505ADC-3F90-4073-9690-CFEAA4DDDC27}"/>
              </a:ext>
            </a:extLst>
          </p:cNvPr>
          <p:cNvSpPr>
            <a:spLocks noGrp="1"/>
          </p:cNvSpPr>
          <p:nvPr>
            <p:ph idx="1"/>
          </p:nvPr>
        </p:nvSpPr>
        <p:spPr>
          <a:xfrm>
            <a:off x="1024128" y="2084832"/>
            <a:ext cx="9720071" cy="4224528"/>
          </a:xfrm>
        </p:spPr>
        <p:txBody>
          <a:bodyPr>
            <a:normAutofit lnSpcReduction="10000"/>
          </a:bodyPr>
          <a:lstStyle/>
          <a:p>
            <a:r>
              <a:rPr lang="en-US" dirty="0"/>
              <a:t>Using the following research documents to complete the worksheet, outlining the characteristics and needs of the specific populations identified on the previous slide.</a:t>
            </a:r>
          </a:p>
          <a:p>
            <a:r>
              <a:rPr lang="en-US" dirty="0"/>
              <a:t>(We will come back to complete the “access and equity” issues later)</a:t>
            </a:r>
          </a:p>
          <a:p>
            <a:endParaRPr lang="en-US" dirty="0"/>
          </a:p>
          <a:p>
            <a:r>
              <a:rPr lang="en-US" b="1" dirty="0"/>
              <a:t>Characteristics:</a:t>
            </a:r>
          </a:p>
          <a:p>
            <a:r>
              <a:rPr lang="en-US" dirty="0"/>
              <a:t>Features or qualities that typically belong to that group. Characteristics “define” and “identify” groups from the general population.</a:t>
            </a:r>
          </a:p>
          <a:p>
            <a:r>
              <a:rPr lang="en-US" b="1" dirty="0"/>
              <a:t>Needs:</a:t>
            </a:r>
          </a:p>
          <a:p>
            <a:pPr algn="l"/>
            <a:r>
              <a:rPr lang="en-US" dirty="0"/>
              <a:t>What the group requires to achieve good/better health. Consider what their deficits are, and what they might need to overcome these.</a:t>
            </a:r>
            <a:r>
              <a:rPr lang="en-US" b="0" i="0" dirty="0">
                <a:solidFill>
                  <a:srgbClr val="000000"/>
                </a:solidFill>
                <a:effectLst/>
              </a:rPr>
              <a:t> (consider the kinds of problems they have and what they require) </a:t>
            </a:r>
            <a:endParaRPr lang="en-US" dirty="0"/>
          </a:p>
        </p:txBody>
      </p:sp>
    </p:spTree>
    <p:extLst>
      <p:ext uri="{BB962C8B-B14F-4D97-AF65-F5344CB8AC3E}">
        <p14:creationId xmlns:p14="http://schemas.microsoft.com/office/powerpoint/2010/main" val="112731370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F72370-8669-402E-AD1B-ABFCFAF2D3FF}"/>
              </a:ext>
            </a:extLst>
          </p:cNvPr>
          <p:cNvSpPr>
            <a:spLocks noGrp="1"/>
          </p:cNvSpPr>
          <p:nvPr>
            <p:ph type="title"/>
          </p:nvPr>
        </p:nvSpPr>
        <p:spPr/>
        <p:txBody>
          <a:bodyPr/>
          <a:lstStyle/>
          <a:p>
            <a:r>
              <a:rPr lang="en-US" dirty="0"/>
              <a:t>Research documents</a:t>
            </a:r>
            <a:endParaRPr lang="en-AU" dirty="0"/>
          </a:p>
        </p:txBody>
      </p:sp>
      <p:sp>
        <p:nvSpPr>
          <p:cNvPr id="3" name="Content Placeholder 2">
            <a:extLst>
              <a:ext uri="{FF2B5EF4-FFF2-40B4-BE49-F238E27FC236}">
                <a16:creationId xmlns:a16="http://schemas.microsoft.com/office/drawing/2014/main" id="{4D50E31F-D81C-4A74-A598-DA8F0BD86774}"/>
              </a:ext>
            </a:extLst>
          </p:cNvPr>
          <p:cNvSpPr>
            <a:spLocks noGrp="1"/>
          </p:cNvSpPr>
          <p:nvPr>
            <p:ph idx="1"/>
          </p:nvPr>
        </p:nvSpPr>
        <p:spPr>
          <a:xfrm>
            <a:off x="1024128" y="1885950"/>
            <a:ext cx="9720071" cy="4423410"/>
          </a:xfrm>
        </p:spPr>
        <p:txBody>
          <a:bodyPr>
            <a:normAutofit lnSpcReduction="10000"/>
          </a:bodyPr>
          <a:lstStyle/>
          <a:p>
            <a:pPr marL="0" indent="0">
              <a:buNone/>
            </a:pPr>
            <a:r>
              <a:rPr lang="en-US" b="0" i="0" dirty="0">
                <a:solidFill>
                  <a:srgbClr val="333333"/>
                </a:solidFill>
                <a:effectLst/>
              </a:rPr>
              <a:t>Aboriginal &amp; Torres Strait Islander People:</a:t>
            </a:r>
          </a:p>
          <a:p>
            <a:pPr marL="0" indent="0">
              <a:buNone/>
            </a:pPr>
            <a:r>
              <a:rPr lang="en-US" u="sng" dirty="0">
                <a:solidFill>
                  <a:srgbClr val="D25814"/>
                </a:solidFill>
                <a:hlinkClick r:id="rId2">
                  <a:extLst>
                    <a:ext uri="{A12FA001-AC4F-418D-AE19-62706E023703}">
                      <ahyp:hlinkClr xmlns:ahyp="http://schemas.microsoft.com/office/drawing/2018/hyperlinkcolor" val="tx"/>
                    </a:ext>
                  </a:extLst>
                </a:hlinkClick>
              </a:rPr>
              <a:t>Summary of Aboriginal and Torres Strait Islander health status 2019</a:t>
            </a:r>
            <a:endParaRPr lang="en-US" u="sng" dirty="0">
              <a:solidFill>
                <a:srgbClr val="E04A2C"/>
              </a:solidFill>
            </a:endParaRPr>
          </a:p>
          <a:p>
            <a:pPr marL="0" indent="0">
              <a:buNone/>
            </a:pPr>
            <a:r>
              <a:rPr lang="en-AU" dirty="0"/>
              <a:t>Elderly People:</a:t>
            </a:r>
          </a:p>
          <a:p>
            <a:pPr marL="0" indent="0">
              <a:buNone/>
            </a:pPr>
            <a:r>
              <a:rPr lang="en-AU" dirty="0">
                <a:hlinkClick r:id="rId3"/>
              </a:rPr>
              <a:t>https://www.aihw.gov.au/reports/older-people/older-australia-at-a-glance/contents/summary</a:t>
            </a:r>
            <a:endParaRPr lang="en-AU" dirty="0"/>
          </a:p>
          <a:p>
            <a:pPr marL="0" indent="0">
              <a:buNone/>
            </a:pPr>
            <a:r>
              <a:rPr lang="en-AU" dirty="0"/>
              <a:t>Individuals living in Rural/Remote areas:</a:t>
            </a:r>
          </a:p>
          <a:p>
            <a:pPr marL="0" indent="0">
              <a:buNone/>
            </a:pPr>
            <a:r>
              <a:rPr lang="en-AU" dirty="0">
                <a:hlinkClick r:id="rId4"/>
              </a:rPr>
              <a:t>https://www.aihw.gov.au/reports/rural-remote-australians/rural-remote-health/contents/summary</a:t>
            </a:r>
            <a:endParaRPr lang="en-AU" dirty="0"/>
          </a:p>
          <a:p>
            <a:pPr marL="0" indent="0">
              <a:buNone/>
            </a:pPr>
            <a:r>
              <a:rPr lang="en-AU" dirty="0"/>
              <a:t>Socioeconomically Disadvantaged people:</a:t>
            </a:r>
          </a:p>
          <a:p>
            <a:pPr marL="0" indent="0">
              <a:buNone/>
            </a:pPr>
            <a:r>
              <a:rPr lang="en-AU" dirty="0">
                <a:hlinkClick r:id="rId5"/>
              </a:rPr>
              <a:t>https://www.ausstats.abs.gov.au/Ausstats/subscriber.nsf/0/5703A93771AE2E4ECA2576E70016C8D3/$File/41020_%20healthandseifa.pdf</a:t>
            </a:r>
            <a:endParaRPr lang="en-AU" dirty="0"/>
          </a:p>
          <a:p>
            <a:pPr marL="0" indent="0">
              <a:buNone/>
            </a:pPr>
            <a:endParaRPr lang="en-AU" dirty="0"/>
          </a:p>
          <a:p>
            <a:pPr marL="0" indent="0">
              <a:buNone/>
            </a:pPr>
            <a:endParaRPr lang="en-AU" dirty="0"/>
          </a:p>
        </p:txBody>
      </p:sp>
    </p:spTree>
    <p:extLst>
      <p:ext uri="{BB962C8B-B14F-4D97-AF65-F5344CB8AC3E}">
        <p14:creationId xmlns:p14="http://schemas.microsoft.com/office/powerpoint/2010/main" val="93798124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Discuss</a:t>
            </a:r>
            <a:endParaRPr lang="en-AU" dirty="0"/>
          </a:p>
        </p:txBody>
      </p:sp>
      <p:sp>
        <p:nvSpPr>
          <p:cNvPr id="3" name="Content Placeholder 2"/>
          <p:cNvSpPr>
            <a:spLocks noGrp="1"/>
          </p:cNvSpPr>
          <p:nvPr>
            <p:ph idx="1"/>
          </p:nvPr>
        </p:nvSpPr>
        <p:spPr/>
        <p:txBody>
          <a:bodyPr/>
          <a:lstStyle/>
          <a:p>
            <a:pPr marL="0" indent="0">
              <a:buNone/>
            </a:pPr>
            <a:r>
              <a:rPr lang="en-US" dirty="0"/>
              <a:t>All Australians are entitled to choices and opportunities that facilitate good health, and to be free from discrimination. </a:t>
            </a:r>
          </a:p>
          <a:p>
            <a:pPr marL="0" indent="0">
              <a:buNone/>
            </a:pPr>
            <a:r>
              <a:rPr lang="en-US" dirty="0"/>
              <a:t>In reality does this happen?</a:t>
            </a:r>
          </a:p>
          <a:p>
            <a:pPr marL="0" indent="0">
              <a:buNone/>
            </a:pPr>
            <a:r>
              <a:rPr lang="en-US" dirty="0"/>
              <a:t>Watch the following documentary episode and discuss/answer the questions that follow:</a:t>
            </a:r>
          </a:p>
          <a:p>
            <a:pPr marL="0" indent="0">
              <a:buNone/>
            </a:pPr>
            <a:endParaRPr lang="en-US" dirty="0"/>
          </a:p>
          <a:p>
            <a:pPr marL="0" indent="0">
              <a:buNone/>
            </a:pPr>
            <a:endParaRPr lang="en-US" dirty="0"/>
          </a:p>
          <a:p>
            <a:pPr marL="0" indent="0">
              <a:buNone/>
            </a:pPr>
            <a:endParaRPr lang="en-US" dirty="0"/>
          </a:p>
        </p:txBody>
      </p:sp>
    </p:spTree>
    <p:extLst>
      <p:ext uri="{BB962C8B-B14F-4D97-AF65-F5344CB8AC3E}">
        <p14:creationId xmlns:p14="http://schemas.microsoft.com/office/powerpoint/2010/main" val="41544917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First Contact Episode #1 (</a:t>
            </a:r>
            <a:r>
              <a:rPr lang="en-US" dirty="0" err="1"/>
              <a:t>Sbs</a:t>
            </a:r>
            <a:r>
              <a:rPr lang="en-US" dirty="0"/>
              <a:t>)</a:t>
            </a:r>
            <a:endParaRPr lang="en-AU" dirty="0"/>
          </a:p>
        </p:txBody>
      </p:sp>
      <p:sp>
        <p:nvSpPr>
          <p:cNvPr id="3" name="Content Placeholder 2"/>
          <p:cNvSpPr>
            <a:spLocks noGrp="1"/>
          </p:cNvSpPr>
          <p:nvPr>
            <p:ph idx="1"/>
          </p:nvPr>
        </p:nvSpPr>
        <p:spPr/>
        <p:txBody>
          <a:bodyPr>
            <a:normAutofit/>
          </a:bodyPr>
          <a:lstStyle/>
          <a:p>
            <a:pPr marL="514350" indent="-514350">
              <a:buAutoNum type="arabicPeriod"/>
            </a:pPr>
            <a:endParaRPr lang="en-US" dirty="0"/>
          </a:p>
          <a:p>
            <a:pPr marL="0" indent="0">
              <a:buNone/>
            </a:pPr>
            <a:r>
              <a:rPr lang="en-US" dirty="0">
                <a:hlinkClick r:id="rId2"/>
              </a:rPr>
              <a:t>https://www.sbs.com.au/ondemand/video/352505923803/first-contact</a:t>
            </a:r>
            <a:endParaRPr lang="en-US" dirty="0"/>
          </a:p>
          <a:p>
            <a:pPr marL="0" indent="0">
              <a:buNone/>
            </a:pPr>
            <a:endParaRPr lang="en-US" dirty="0"/>
          </a:p>
          <a:p>
            <a:pPr marL="514350" indent="-514350">
              <a:buAutoNum type="arabicPeriod"/>
            </a:pPr>
            <a:r>
              <a:rPr lang="en-US" dirty="0"/>
              <a:t>What specific populations are we exposed to in this documentary?</a:t>
            </a:r>
          </a:p>
          <a:p>
            <a:pPr marL="514350" indent="-514350">
              <a:buFont typeface="Tw Cen MT" panose="020B0602020104020603" pitchFamily="34" charset="0"/>
              <a:buAutoNum type="arabicPeriod"/>
            </a:pPr>
            <a:r>
              <a:rPr lang="en-US" dirty="0"/>
              <a:t>For each of the specific populations what are the health issues that they are faced with?</a:t>
            </a:r>
          </a:p>
          <a:p>
            <a:pPr marL="514350" indent="-514350">
              <a:buFont typeface="Tw Cen MT" panose="020B0602020104020603" pitchFamily="34" charset="0"/>
              <a:buAutoNum type="arabicPeriod"/>
            </a:pPr>
            <a:r>
              <a:rPr lang="en-US" dirty="0"/>
              <a:t>What factors contribute to each of these health issues?</a:t>
            </a:r>
          </a:p>
          <a:p>
            <a:pPr marL="514350" indent="-514350">
              <a:buAutoNum type="arabicPeriod"/>
            </a:pPr>
            <a:endParaRPr lang="en-US" dirty="0"/>
          </a:p>
          <a:p>
            <a:pPr marL="514350" indent="-514350">
              <a:buAutoNum type="arabicPeriod"/>
            </a:pPr>
            <a:endParaRPr lang="en-US" sz="6000" dirty="0">
              <a:solidFill>
                <a:srgbClr val="FF0000"/>
              </a:solidFill>
            </a:endParaRPr>
          </a:p>
          <a:p>
            <a:pPr marL="0" indent="0">
              <a:buNone/>
            </a:pPr>
            <a:endParaRPr lang="en-US" dirty="0"/>
          </a:p>
        </p:txBody>
      </p:sp>
    </p:spTree>
    <p:extLst>
      <p:ext uri="{BB962C8B-B14F-4D97-AF65-F5344CB8AC3E}">
        <p14:creationId xmlns:p14="http://schemas.microsoft.com/office/powerpoint/2010/main" val="168384850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C59EFA-61E7-4DA8-ABE0-A29A912ECC71}"/>
              </a:ext>
            </a:extLst>
          </p:cNvPr>
          <p:cNvSpPr>
            <a:spLocks noGrp="1"/>
          </p:cNvSpPr>
          <p:nvPr>
            <p:ph type="title"/>
          </p:nvPr>
        </p:nvSpPr>
        <p:spPr>
          <a:xfrm>
            <a:off x="1024128" y="585216"/>
            <a:ext cx="10513822" cy="1499616"/>
          </a:xfrm>
        </p:spPr>
        <p:txBody>
          <a:bodyPr/>
          <a:lstStyle/>
          <a:p>
            <a:r>
              <a:rPr lang="en-US" dirty="0"/>
              <a:t>Access &amp; equity issues of specific populations</a:t>
            </a:r>
            <a:endParaRPr lang="en-AU" dirty="0"/>
          </a:p>
        </p:txBody>
      </p:sp>
      <p:sp>
        <p:nvSpPr>
          <p:cNvPr id="3" name="Content Placeholder 2">
            <a:extLst>
              <a:ext uri="{FF2B5EF4-FFF2-40B4-BE49-F238E27FC236}">
                <a16:creationId xmlns:a16="http://schemas.microsoft.com/office/drawing/2014/main" id="{1C7471FF-402C-4A63-A913-91AD712A7632}"/>
              </a:ext>
            </a:extLst>
          </p:cNvPr>
          <p:cNvSpPr>
            <a:spLocks noGrp="1"/>
          </p:cNvSpPr>
          <p:nvPr>
            <p:ph idx="1"/>
          </p:nvPr>
        </p:nvSpPr>
        <p:spPr>
          <a:xfrm>
            <a:off x="1024128" y="2084832"/>
            <a:ext cx="9720071" cy="4224528"/>
          </a:xfrm>
        </p:spPr>
        <p:txBody>
          <a:bodyPr>
            <a:normAutofit/>
          </a:bodyPr>
          <a:lstStyle/>
          <a:p>
            <a:pPr marL="0" indent="0">
              <a:buNone/>
            </a:pPr>
            <a:r>
              <a:rPr lang="en-US" dirty="0"/>
              <a:t>First, let’s define these terms:</a:t>
            </a:r>
          </a:p>
          <a:p>
            <a:pPr marL="0" indent="0">
              <a:buNone/>
            </a:pPr>
            <a:r>
              <a:rPr lang="en-US" dirty="0"/>
              <a:t>*Access: The right to obtain something or make use of something. The ability to reach or gain entry into a place or service.</a:t>
            </a:r>
          </a:p>
          <a:p>
            <a:pPr marL="0" indent="0">
              <a:buNone/>
            </a:pPr>
            <a:r>
              <a:rPr lang="en-US" dirty="0"/>
              <a:t>*Equity: All people have an equal opportunity to develop and maintain health through fair and just access to resources for health. (allocation according to need)</a:t>
            </a:r>
            <a:endParaRPr lang="en-US" b="1" dirty="0"/>
          </a:p>
          <a:p>
            <a:pPr marL="0" indent="0">
              <a:buNone/>
            </a:pPr>
            <a:r>
              <a:rPr lang="en-US" dirty="0"/>
              <a:t>*Health inequities: Avoidable inequalities in health between groups of people within countries and between countries. These inequalities are unfair or unjust.</a:t>
            </a:r>
          </a:p>
          <a:p>
            <a:pPr marL="0" indent="0">
              <a:buNone/>
            </a:pPr>
            <a:r>
              <a:rPr lang="en-US" dirty="0"/>
              <a:t>*Health inequalities: </a:t>
            </a:r>
            <a:r>
              <a:rPr lang="en-AU" dirty="0"/>
              <a:t>Differences in health status or in the distribution of health determinants between different population groups. For example, differences in mortality rates between people from different social classes (World Health Organisation)</a:t>
            </a:r>
          </a:p>
          <a:p>
            <a:endParaRPr lang="en-US" dirty="0"/>
          </a:p>
          <a:p>
            <a:endParaRPr lang="en-AU" dirty="0"/>
          </a:p>
        </p:txBody>
      </p:sp>
      <p:sp>
        <p:nvSpPr>
          <p:cNvPr id="4" name="Right Brace 3">
            <a:extLst>
              <a:ext uri="{FF2B5EF4-FFF2-40B4-BE49-F238E27FC236}">
                <a16:creationId xmlns:a16="http://schemas.microsoft.com/office/drawing/2014/main" id="{F03A977A-B0F8-45EF-BCA8-5C9BCF1225F4}"/>
              </a:ext>
            </a:extLst>
          </p:cNvPr>
          <p:cNvSpPr/>
          <p:nvPr/>
        </p:nvSpPr>
        <p:spPr>
          <a:xfrm>
            <a:off x="10879931" y="2402681"/>
            <a:ext cx="742950" cy="1614488"/>
          </a:xfrm>
          <a:prstGeom prst="rightBrace">
            <a:avLst/>
          </a:prstGeom>
        </p:spPr>
        <p:style>
          <a:lnRef idx="1">
            <a:schemeClr val="accent2"/>
          </a:lnRef>
          <a:fillRef idx="0">
            <a:schemeClr val="accent2"/>
          </a:fillRef>
          <a:effectRef idx="0">
            <a:schemeClr val="accent2"/>
          </a:effectRef>
          <a:fontRef idx="minor">
            <a:schemeClr val="tx1"/>
          </a:fontRef>
        </p:style>
        <p:txBody>
          <a:bodyPr rtlCol="0" anchor="ctr"/>
          <a:lstStyle/>
          <a:p>
            <a:pPr algn="ctr"/>
            <a:endParaRPr lang="en-AU"/>
          </a:p>
        </p:txBody>
      </p:sp>
    </p:spTree>
    <p:extLst>
      <p:ext uri="{BB962C8B-B14F-4D97-AF65-F5344CB8AC3E}">
        <p14:creationId xmlns:p14="http://schemas.microsoft.com/office/powerpoint/2010/main" val="223464803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0D31664-5BC7-4D55-8029-DD468CA547C8}"/>
              </a:ext>
            </a:extLst>
          </p:cNvPr>
          <p:cNvPicPr>
            <a:picLocks noChangeAspect="1"/>
          </p:cNvPicPr>
          <p:nvPr/>
        </p:nvPicPr>
        <p:blipFill>
          <a:blip r:embed="rId2"/>
          <a:stretch>
            <a:fillRect/>
          </a:stretch>
        </p:blipFill>
        <p:spPr>
          <a:xfrm>
            <a:off x="1087708" y="330601"/>
            <a:ext cx="4720161" cy="3555134"/>
          </a:xfrm>
          <a:prstGeom prst="rect">
            <a:avLst/>
          </a:prstGeom>
        </p:spPr>
      </p:pic>
      <p:sp>
        <p:nvSpPr>
          <p:cNvPr id="6" name="TextBox 5">
            <a:extLst>
              <a:ext uri="{FF2B5EF4-FFF2-40B4-BE49-F238E27FC236}">
                <a16:creationId xmlns:a16="http://schemas.microsoft.com/office/drawing/2014/main" id="{DAD33330-3961-4E65-A68F-DB575CA2794A}"/>
              </a:ext>
            </a:extLst>
          </p:cNvPr>
          <p:cNvSpPr txBox="1"/>
          <p:nvPr/>
        </p:nvSpPr>
        <p:spPr>
          <a:xfrm>
            <a:off x="6306145" y="479703"/>
            <a:ext cx="6097190" cy="923330"/>
          </a:xfrm>
          <a:prstGeom prst="rect">
            <a:avLst/>
          </a:prstGeom>
          <a:noFill/>
        </p:spPr>
        <p:txBody>
          <a:bodyPr wrap="square">
            <a:spAutoFit/>
          </a:bodyPr>
          <a:lstStyle/>
          <a:p>
            <a:r>
              <a:rPr lang="en-AU" dirty="0"/>
              <a:t>Equality vs Equity (2mins)</a:t>
            </a:r>
          </a:p>
          <a:p>
            <a:r>
              <a:rPr lang="en-AU" dirty="0">
                <a:hlinkClick r:id="rId3"/>
              </a:rPr>
              <a:t>https://www.youtube.com/watch?v=MlXZyNtaoDM</a:t>
            </a:r>
            <a:endParaRPr lang="en-AU" dirty="0"/>
          </a:p>
          <a:p>
            <a:endParaRPr lang="en-AU" dirty="0"/>
          </a:p>
        </p:txBody>
      </p:sp>
      <p:pic>
        <p:nvPicPr>
          <p:cNvPr id="7" name="Picture 6">
            <a:extLst>
              <a:ext uri="{FF2B5EF4-FFF2-40B4-BE49-F238E27FC236}">
                <a16:creationId xmlns:a16="http://schemas.microsoft.com/office/drawing/2014/main" id="{8A583086-F333-41B9-89A4-26B512A41F88}"/>
              </a:ext>
            </a:extLst>
          </p:cNvPr>
          <p:cNvPicPr>
            <a:picLocks noChangeAspect="1"/>
          </p:cNvPicPr>
          <p:nvPr/>
        </p:nvPicPr>
        <p:blipFill>
          <a:blip r:embed="rId4"/>
          <a:stretch>
            <a:fillRect/>
          </a:stretch>
        </p:blipFill>
        <p:spPr>
          <a:xfrm>
            <a:off x="6306145" y="1614022"/>
            <a:ext cx="5284027" cy="2972265"/>
          </a:xfrm>
          <a:prstGeom prst="rect">
            <a:avLst/>
          </a:prstGeom>
        </p:spPr>
      </p:pic>
      <p:pic>
        <p:nvPicPr>
          <p:cNvPr id="1026" name="Picture 2" descr="Health Equity | Healthy Communities">
            <a:extLst>
              <a:ext uri="{FF2B5EF4-FFF2-40B4-BE49-F238E27FC236}">
                <a16:creationId xmlns:a16="http://schemas.microsoft.com/office/drawing/2014/main" id="{ED25D29A-CFDA-41EA-8516-0FAC4EE03FD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738312" y="4179094"/>
            <a:ext cx="4295350" cy="22479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5497028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Access and equity</a:t>
            </a:r>
          </a:p>
        </p:txBody>
      </p:sp>
      <p:sp>
        <p:nvSpPr>
          <p:cNvPr id="3" name="Content Placeholder 2"/>
          <p:cNvSpPr>
            <a:spLocks noGrp="1"/>
          </p:cNvSpPr>
          <p:nvPr>
            <p:ph idx="1"/>
          </p:nvPr>
        </p:nvSpPr>
        <p:spPr>
          <a:xfrm>
            <a:off x="1024128" y="1962150"/>
            <a:ext cx="10056622" cy="4347210"/>
          </a:xfrm>
        </p:spPr>
        <p:txBody>
          <a:bodyPr>
            <a:normAutofit/>
          </a:bodyPr>
          <a:lstStyle/>
          <a:p>
            <a:r>
              <a:rPr lang="en-US" dirty="0"/>
              <a:t>“Access and equity” opens the door for increased opportunities for specific populations to achieve the same level of health as the main population. </a:t>
            </a:r>
          </a:p>
          <a:p>
            <a:r>
              <a:rPr lang="en-US" dirty="0"/>
              <a:t>There are often barriers that make it difficult for people in these specific populations to access health services.</a:t>
            </a:r>
          </a:p>
          <a:p>
            <a:endParaRPr lang="en-US" dirty="0"/>
          </a:p>
          <a:p>
            <a:r>
              <a:rPr lang="en-US" dirty="0"/>
              <a:t>Let’s take a look at an example of these barriers:</a:t>
            </a:r>
          </a:p>
          <a:p>
            <a:endParaRPr lang="en-US" dirty="0"/>
          </a:p>
          <a:p>
            <a:r>
              <a:rPr lang="en-US" dirty="0"/>
              <a:t>“Swimming the River” (5 mins)</a:t>
            </a:r>
          </a:p>
          <a:p>
            <a:r>
              <a:rPr lang="en-AU" dirty="0">
                <a:hlinkClick r:id="rId2"/>
              </a:rPr>
              <a:t>https://www.youtube.com/watch?v=0P9FRacTji0</a:t>
            </a:r>
            <a:endParaRPr lang="en-US" dirty="0"/>
          </a:p>
          <a:p>
            <a:endParaRPr lang="en-US" dirty="0"/>
          </a:p>
          <a:p>
            <a:endParaRPr lang="en-US" dirty="0"/>
          </a:p>
          <a:p>
            <a:endParaRPr lang="en-US" dirty="0"/>
          </a:p>
        </p:txBody>
      </p:sp>
    </p:spTree>
    <p:extLst>
      <p:ext uri="{BB962C8B-B14F-4D97-AF65-F5344CB8AC3E}">
        <p14:creationId xmlns:p14="http://schemas.microsoft.com/office/powerpoint/2010/main" val="8899998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BAD0CD69-07E7-4E6B-BDF6-85DFB7ACE9E7}"/>
              </a:ext>
            </a:extLst>
          </p:cNvPr>
          <p:cNvPicPr>
            <a:picLocks noChangeAspect="1"/>
          </p:cNvPicPr>
          <p:nvPr/>
        </p:nvPicPr>
        <p:blipFill>
          <a:blip r:embed="rId2"/>
          <a:stretch>
            <a:fillRect/>
          </a:stretch>
        </p:blipFill>
        <p:spPr>
          <a:xfrm>
            <a:off x="2946384" y="284217"/>
            <a:ext cx="6158202" cy="6164473"/>
          </a:xfrm>
          <a:prstGeom prst="rect">
            <a:avLst/>
          </a:prstGeom>
        </p:spPr>
      </p:pic>
    </p:spTree>
    <p:extLst>
      <p:ext uri="{BB962C8B-B14F-4D97-AF65-F5344CB8AC3E}">
        <p14:creationId xmlns:p14="http://schemas.microsoft.com/office/powerpoint/2010/main" val="44485055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058779" y="1026695"/>
            <a:ext cx="10026316" cy="4955203"/>
          </a:xfrm>
          <a:prstGeom prst="rect">
            <a:avLst/>
          </a:prstGeom>
          <a:noFill/>
        </p:spPr>
        <p:txBody>
          <a:bodyPr wrap="square" rtlCol="0">
            <a:spAutoFit/>
          </a:bodyPr>
          <a:lstStyle/>
          <a:p>
            <a:r>
              <a:rPr lang="en-US" sz="2800" dirty="0"/>
              <a:t>Health promotion needs to address the issues of access and inequity. </a:t>
            </a:r>
          </a:p>
          <a:p>
            <a:r>
              <a:rPr lang="en-US" sz="2800" dirty="0"/>
              <a:t>What does health promotion like this look like?</a:t>
            </a:r>
          </a:p>
          <a:p>
            <a:endParaRPr lang="en-US" sz="2800" dirty="0"/>
          </a:p>
          <a:p>
            <a:pPr marL="285750" indent="-285750">
              <a:buFont typeface="Wingdings" charset="2"/>
              <a:buChar char="v"/>
            </a:pPr>
            <a:r>
              <a:rPr lang="en-US" sz="2800" dirty="0"/>
              <a:t>Health promotion gives priority to specific populations who are “at risk”</a:t>
            </a:r>
          </a:p>
          <a:p>
            <a:pPr marL="285750" indent="-285750">
              <a:buFont typeface="Wingdings" charset="2"/>
              <a:buChar char="v"/>
            </a:pPr>
            <a:endParaRPr lang="en-US" sz="2800" dirty="0"/>
          </a:p>
          <a:p>
            <a:pPr marL="285750" indent="-285750">
              <a:buFont typeface="Wingdings" charset="2"/>
              <a:buChar char="v"/>
            </a:pPr>
            <a:r>
              <a:rPr lang="en-US" sz="2800" dirty="0"/>
              <a:t>Health promotion focuses health initiatives to target the social determinants of health.</a:t>
            </a:r>
          </a:p>
          <a:p>
            <a:endParaRPr lang="en-US" sz="2800" dirty="0"/>
          </a:p>
          <a:p>
            <a:pPr marL="285750" indent="-285750">
              <a:buFont typeface="Wingdings" charset="2"/>
              <a:buChar char="v"/>
            </a:pPr>
            <a:r>
              <a:rPr lang="en-US" sz="2800" dirty="0"/>
              <a:t>Health promotion aims to REDUCE INEQUITY.</a:t>
            </a:r>
          </a:p>
          <a:p>
            <a:endParaRPr lang="en-US" dirty="0"/>
          </a:p>
          <a:p>
            <a:endParaRPr lang="en-US" dirty="0"/>
          </a:p>
        </p:txBody>
      </p:sp>
    </p:spTree>
    <p:extLst>
      <p:ext uri="{BB962C8B-B14F-4D97-AF65-F5344CB8AC3E}">
        <p14:creationId xmlns:p14="http://schemas.microsoft.com/office/powerpoint/2010/main" val="11649328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remember:      5 A’s of Access</a:t>
            </a:r>
            <a:endParaRPr lang="en-AU" dirty="0"/>
          </a:p>
        </p:txBody>
      </p:sp>
      <p:sp>
        <p:nvSpPr>
          <p:cNvPr id="3" name="Content Placeholder 2"/>
          <p:cNvSpPr>
            <a:spLocks noGrp="1"/>
          </p:cNvSpPr>
          <p:nvPr>
            <p:ph idx="1"/>
          </p:nvPr>
        </p:nvSpPr>
        <p:spPr/>
        <p:txBody>
          <a:bodyPr>
            <a:normAutofit lnSpcReduction="10000"/>
          </a:bodyPr>
          <a:lstStyle/>
          <a:p>
            <a:pPr marL="0" indent="0">
              <a:buNone/>
            </a:pPr>
            <a:r>
              <a:rPr lang="en-US" b="1" dirty="0"/>
              <a:t>Affordability- </a:t>
            </a:r>
            <a:r>
              <a:rPr lang="en-US" dirty="0"/>
              <a:t>Can people pay for the cost of the service or product?</a:t>
            </a:r>
            <a:endParaRPr lang="en-US" b="1" dirty="0"/>
          </a:p>
          <a:p>
            <a:pPr marL="0" indent="0">
              <a:buNone/>
            </a:pPr>
            <a:endParaRPr lang="en-US" b="1" dirty="0"/>
          </a:p>
          <a:p>
            <a:pPr marL="0" indent="0">
              <a:buNone/>
            </a:pPr>
            <a:r>
              <a:rPr lang="en-US" b="1" dirty="0"/>
              <a:t>Accessibility- </a:t>
            </a:r>
            <a:r>
              <a:rPr lang="en-US" dirty="0"/>
              <a:t>Can all people use the service properly?</a:t>
            </a:r>
            <a:endParaRPr lang="en-US" b="1" dirty="0"/>
          </a:p>
          <a:p>
            <a:pPr marL="0" indent="0">
              <a:buNone/>
            </a:pPr>
            <a:endParaRPr lang="en-US" b="1" dirty="0"/>
          </a:p>
          <a:p>
            <a:pPr marL="0" indent="0">
              <a:buNone/>
            </a:pPr>
            <a:r>
              <a:rPr lang="en-US" b="1" dirty="0"/>
              <a:t>Acceptability- </a:t>
            </a:r>
            <a:r>
              <a:rPr lang="en-US" dirty="0"/>
              <a:t>Does the service respect all values, beliefs and attitudes?</a:t>
            </a:r>
            <a:endParaRPr lang="en-US" b="1" dirty="0"/>
          </a:p>
          <a:p>
            <a:pPr marL="0" indent="0">
              <a:buNone/>
            </a:pPr>
            <a:endParaRPr lang="en-US" b="1" dirty="0"/>
          </a:p>
          <a:p>
            <a:pPr marL="0" indent="0">
              <a:buNone/>
            </a:pPr>
            <a:r>
              <a:rPr lang="en-US" b="1" dirty="0"/>
              <a:t>Availability- </a:t>
            </a:r>
            <a:r>
              <a:rPr lang="en-US" dirty="0"/>
              <a:t>Are the services open and able to be used when required?</a:t>
            </a:r>
            <a:endParaRPr lang="en-US" b="1" dirty="0"/>
          </a:p>
          <a:p>
            <a:pPr marL="0" indent="0">
              <a:buNone/>
            </a:pPr>
            <a:endParaRPr lang="en-US" b="1" dirty="0"/>
          </a:p>
          <a:p>
            <a:pPr marL="0" indent="0">
              <a:buNone/>
            </a:pPr>
            <a:r>
              <a:rPr lang="en-US" b="1" dirty="0"/>
              <a:t>Adaptability- </a:t>
            </a:r>
            <a:r>
              <a:rPr lang="en-US" dirty="0"/>
              <a:t>Can services be changed or modified when needed?</a:t>
            </a:r>
            <a:endParaRPr lang="en-AU" b="1"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385808" y="308356"/>
            <a:ext cx="2053336" cy="2053336"/>
          </a:xfrm>
          <a:prstGeom prst="rect">
            <a:avLst/>
          </a:prstGeom>
        </p:spPr>
      </p:pic>
      <p:sp>
        <p:nvSpPr>
          <p:cNvPr id="5" name="TextBox 4"/>
          <p:cNvSpPr txBox="1"/>
          <p:nvPr/>
        </p:nvSpPr>
        <p:spPr>
          <a:xfrm>
            <a:off x="9747504" y="2724912"/>
            <a:ext cx="2029968" cy="646331"/>
          </a:xfrm>
          <a:prstGeom prst="rect">
            <a:avLst/>
          </a:prstGeom>
          <a:noFill/>
        </p:spPr>
        <p:txBody>
          <a:bodyPr wrap="square" rtlCol="0">
            <a:spAutoFit/>
          </a:bodyPr>
          <a:lstStyle/>
          <a:p>
            <a:r>
              <a:rPr lang="en-US" dirty="0"/>
              <a:t>Can Vegetarian Ducks Fly and Clap?</a:t>
            </a:r>
          </a:p>
        </p:txBody>
      </p:sp>
    </p:spTree>
    <p:extLst>
      <p:ext uri="{BB962C8B-B14F-4D97-AF65-F5344CB8AC3E}">
        <p14:creationId xmlns:p14="http://schemas.microsoft.com/office/powerpoint/2010/main" val="32454345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24127" y="380476"/>
            <a:ext cx="9720072" cy="881634"/>
          </a:xfrm>
        </p:spPr>
        <p:txBody>
          <a:bodyPr/>
          <a:lstStyle/>
          <a:p>
            <a:r>
              <a:rPr lang="en-US" dirty="0"/>
              <a:t>Global vs Regional health inequities</a:t>
            </a:r>
          </a:p>
        </p:txBody>
      </p:sp>
      <p:sp>
        <p:nvSpPr>
          <p:cNvPr id="3" name="Content Placeholder 2"/>
          <p:cNvSpPr>
            <a:spLocks noGrp="1"/>
          </p:cNvSpPr>
          <p:nvPr>
            <p:ph idx="1"/>
          </p:nvPr>
        </p:nvSpPr>
        <p:spPr>
          <a:xfrm>
            <a:off x="1024127" y="1322832"/>
            <a:ext cx="10418573" cy="5211318"/>
          </a:xfrm>
        </p:spPr>
        <p:txBody>
          <a:bodyPr>
            <a:normAutofit/>
          </a:bodyPr>
          <a:lstStyle/>
          <a:p>
            <a:r>
              <a:rPr lang="en-US" dirty="0"/>
              <a:t>GLOBAL:</a:t>
            </a:r>
          </a:p>
          <a:p>
            <a:pPr fontAlgn="base"/>
            <a:r>
              <a:rPr lang="en-US" dirty="0"/>
              <a:t>The infant mortality rate (the risk of a baby dying between birth and one year of age) is 2 per 1000 live births in Iceland and over 120 per 1000 live births in Mozambique.</a:t>
            </a:r>
          </a:p>
          <a:p>
            <a:pPr fontAlgn="base"/>
            <a:r>
              <a:rPr lang="en-US" dirty="0"/>
              <a:t>The risk of maternal death during or shortly after pregnancy is only 1 in 17 400 in Sweden but it is 1 in 8 in Afghanistan.</a:t>
            </a:r>
          </a:p>
          <a:p>
            <a:r>
              <a:rPr lang="en-US" dirty="0"/>
              <a:t>REGIONAL:</a:t>
            </a:r>
          </a:p>
          <a:p>
            <a:r>
              <a:rPr lang="en-US" dirty="0"/>
              <a:t>USA-African Americans represent about 13% of the population but account for almost 50% of all new HIV infections. (There is no biological or genetic component)</a:t>
            </a:r>
          </a:p>
          <a:p>
            <a:r>
              <a:rPr lang="en-US" dirty="0"/>
              <a:t>AUSTRALIA-Life expectancy of Indigenous Australians is significantly lower than non-Indigenous Australians (males 59.4yrs VS 76.6yrs, females 64.8yrs VS 82yrs)</a:t>
            </a:r>
          </a:p>
          <a:p>
            <a:endParaRPr lang="en-US" dirty="0"/>
          </a:p>
          <a:p>
            <a:r>
              <a:rPr lang="en-US" dirty="0"/>
              <a:t>All statistics from World Health Organisation.</a:t>
            </a:r>
          </a:p>
          <a:p>
            <a:endParaRPr lang="en-US" dirty="0"/>
          </a:p>
        </p:txBody>
      </p:sp>
    </p:spTree>
    <p:extLst>
      <p:ext uri="{BB962C8B-B14F-4D97-AF65-F5344CB8AC3E}">
        <p14:creationId xmlns:p14="http://schemas.microsoft.com/office/powerpoint/2010/main" val="21103392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screenshot of a cell phone&#10;&#10;Description automatically generated">
            <a:extLst>
              <a:ext uri="{FF2B5EF4-FFF2-40B4-BE49-F238E27FC236}">
                <a16:creationId xmlns:a16="http://schemas.microsoft.com/office/drawing/2014/main" id="{3F2C5C5F-AB80-48B0-8ECF-D593FD2942A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55650" y="2091216"/>
            <a:ext cx="10902613" cy="3382484"/>
          </a:xfrm>
          <a:prstGeom prst="rect">
            <a:avLst/>
          </a:prstGeom>
        </p:spPr>
      </p:pic>
    </p:spTree>
    <p:extLst>
      <p:ext uri="{BB962C8B-B14F-4D97-AF65-F5344CB8AC3E}">
        <p14:creationId xmlns:p14="http://schemas.microsoft.com/office/powerpoint/2010/main" val="83233349"/>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Measuring health inequities</a:t>
            </a:r>
          </a:p>
        </p:txBody>
      </p:sp>
      <p:sp>
        <p:nvSpPr>
          <p:cNvPr id="3" name="TextBox 2"/>
          <p:cNvSpPr txBox="1"/>
          <p:nvPr/>
        </p:nvSpPr>
        <p:spPr>
          <a:xfrm>
            <a:off x="689811" y="2084832"/>
            <a:ext cx="10266947" cy="3662541"/>
          </a:xfrm>
          <a:prstGeom prst="rect">
            <a:avLst/>
          </a:prstGeom>
          <a:noFill/>
        </p:spPr>
        <p:txBody>
          <a:bodyPr wrap="square" rtlCol="0">
            <a:spAutoFit/>
          </a:bodyPr>
          <a:lstStyle/>
          <a:p>
            <a:r>
              <a:rPr lang="en-US" sz="3600" dirty="0"/>
              <a:t>How can we measure health inequities?</a:t>
            </a:r>
          </a:p>
          <a:p>
            <a:endParaRPr lang="en-US" sz="2800" dirty="0"/>
          </a:p>
          <a:p>
            <a:pPr marL="342900" indent="-342900">
              <a:buFontTx/>
              <a:buAutoNum type="arabicPeriod"/>
            </a:pPr>
            <a:r>
              <a:rPr lang="en-US" sz="2000" dirty="0"/>
              <a:t>QUANTITATIVE MEASURES</a:t>
            </a:r>
          </a:p>
          <a:p>
            <a:pPr marL="342900" indent="-342900">
              <a:buFont typeface="Wingdings" charset="2"/>
              <a:buChar char="v"/>
            </a:pPr>
            <a:r>
              <a:rPr lang="en-US" sz="2000" dirty="0"/>
              <a:t>Derived from the word “quantity”</a:t>
            </a:r>
          </a:p>
          <a:p>
            <a:pPr marL="342900" indent="-342900">
              <a:buFont typeface="Wingdings" charset="2"/>
              <a:buChar char="v"/>
            </a:pPr>
            <a:r>
              <a:rPr lang="en-US" sz="2000" dirty="0"/>
              <a:t>Refers to data and statistics (number measurement)</a:t>
            </a:r>
            <a:r>
              <a:rPr lang="en-AU" sz="2000" dirty="0">
                <a:cs typeface="Arial" panose="020B0604020202020204" pitchFamily="34" charset="0"/>
              </a:rPr>
              <a:t> </a:t>
            </a:r>
          </a:p>
          <a:p>
            <a:pPr marL="342900" indent="-342900">
              <a:buFont typeface="Wingdings" charset="2"/>
              <a:buChar char="v"/>
            </a:pPr>
            <a:r>
              <a:rPr lang="en-AU" sz="2000" dirty="0">
                <a:cs typeface="Arial" panose="020B0604020202020204" pitchFamily="34" charset="0"/>
              </a:rPr>
              <a:t>Examples include life expectancy, percentages of disease prevalence etc.</a:t>
            </a:r>
            <a:endParaRPr lang="en-US" sz="2000" dirty="0">
              <a:cs typeface="Arial" panose="020B0604020202020204" pitchFamily="34" charset="0"/>
            </a:endParaRPr>
          </a:p>
          <a:p>
            <a:pPr marL="457200" indent="-457200">
              <a:buFont typeface="Wingdings" charset="2"/>
              <a:buChar char="v"/>
            </a:pPr>
            <a:endParaRPr lang="en-US" sz="2000" dirty="0"/>
          </a:p>
          <a:p>
            <a:r>
              <a:rPr lang="en-US" sz="2000" dirty="0"/>
              <a:t>2. QUALITATIVE MEASURES</a:t>
            </a:r>
          </a:p>
          <a:p>
            <a:pPr marL="342900" indent="-342900">
              <a:buFont typeface="Wingdings" charset="2"/>
              <a:buChar char="v"/>
            </a:pPr>
            <a:r>
              <a:rPr lang="en-US" sz="2000" dirty="0"/>
              <a:t>Derived from the word “quality”</a:t>
            </a:r>
          </a:p>
          <a:p>
            <a:pPr marL="342900" indent="-342900">
              <a:buFont typeface="Wingdings" charset="2"/>
              <a:buChar char="v"/>
            </a:pPr>
            <a:r>
              <a:rPr lang="en-US" sz="2000" dirty="0"/>
              <a:t>Refers to descriptions, photo and video depicting quality of life</a:t>
            </a:r>
            <a:r>
              <a:rPr lang="en-US" sz="2800" dirty="0"/>
              <a:t>. </a:t>
            </a:r>
          </a:p>
        </p:txBody>
      </p:sp>
    </p:spTree>
    <p:extLst>
      <p:ext uri="{BB962C8B-B14F-4D97-AF65-F5344CB8AC3E}">
        <p14:creationId xmlns:p14="http://schemas.microsoft.com/office/powerpoint/2010/main" val="1172297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Quantitative vs Qualitative:</a:t>
            </a:r>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24127" y="2084831"/>
            <a:ext cx="5968737" cy="3975005"/>
          </a:xfrm>
          <a:prstGeom prst="rect">
            <a:avLst/>
          </a:prstGeom>
        </p:spPr>
      </p:pic>
      <p:sp>
        <p:nvSpPr>
          <p:cNvPr id="4" name="TextBox 3"/>
          <p:cNvSpPr txBox="1"/>
          <p:nvPr/>
        </p:nvSpPr>
        <p:spPr>
          <a:xfrm>
            <a:off x="619931" y="6172923"/>
            <a:ext cx="9581828" cy="646331"/>
          </a:xfrm>
          <a:prstGeom prst="rect">
            <a:avLst/>
          </a:prstGeom>
          <a:noFill/>
        </p:spPr>
        <p:txBody>
          <a:bodyPr wrap="square" rtlCol="0">
            <a:spAutoFit/>
          </a:bodyPr>
          <a:lstStyle/>
          <a:p>
            <a:r>
              <a:rPr lang="en-US" dirty="0"/>
              <a:t>Information retrieved from: </a:t>
            </a:r>
            <a:r>
              <a:rPr lang="en-US" dirty="0">
                <a:hlinkClick r:id="rId3"/>
              </a:rPr>
              <a:t>https://www.who.int/sustainable-development/cities/health-risks/slums/en/</a:t>
            </a:r>
            <a:endParaRPr lang="en-US" dirty="0"/>
          </a:p>
          <a:p>
            <a:endParaRPr lang="en-US" dirty="0"/>
          </a:p>
        </p:txBody>
      </p:sp>
      <p:sp>
        <p:nvSpPr>
          <p:cNvPr id="5" name="TextBox 4"/>
          <p:cNvSpPr txBox="1"/>
          <p:nvPr/>
        </p:nvSpPr>
        <p:spPr>
          <a:xfrm>
            <a:off x="7857640" y="2402237"/>
            <a:ext cx="3471621" cy="1200329"/>
          </a:xfrm>
          <a:prstGeom prst="rect">
            <a:avLst/>
          </a:prstGeom>
          <a:noFill/>
        </p:spPr>
        <p:txBody>
          <a:bodyPr wrap="square" rtlCol="0">
            <a:spAutoFit/>
          </a:bodyPr>
          <a:lstStyle/>
          <a:p>
            <a:pPr fontAlgn="base"/>
            <a:r>
              <a:rPr lang="en-US" b="1" dirty="0"/>
              <a:t>842 000 </a:t>
            </a:r>
            <a:r>
              <a:rPr lang="en-US" dirty="0" err="1"/>
              <a:t>Diarrhoeal</a:t>
            </a:r>
            <a:r>
              <a:rPr lang="en-US" dirty="0"/>
              <a:t> diseases deaths per year resulting from lack of safe drinking-water and inadequate sanitation </a:t>
            </a:r>
            <a:r>
              <a:rPr lang="en-US"/>
              <a:t>and hygiene.</a:t>
            </a:r>
            <a:endParaRPr lang="en-US" dirty="0"/>
          </a:p>
        </p:txBody>
      </p:sp>
    </p:spTree>
    <p:extLst>
      <p:ext uri="{BB962C8B-B14F-4D97-AF65-F5344CB8AC3E}">
        <p14:creationId xmlns:p14="http://schemas.microsoft.com/office/powerpoint/2010/main" val="1679704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lvl="0"/>
            <a:r>
              <a:rPr lang="en-AU" sz="5400" dirty="0">
                <a:cs typeface="Arial" panose="020B0604020202020204" pitchFamily="34" charset="0"/>
              </a:rPr>
              <a:t>Qualitative and quantitative measures</a:t>
            </a:r>
          </a:p>
        </p:txBody>
      </p:sp>
      <p:sp>
        <p:nvSpPr>
          <p:cNvPr id="3" name="Content Placeholder 2"/>
          <p:cNvSpPr>
            <a:spLocks noGrp="1"/>
          </p:cNvSpPr>
          <p:nvPr>
            <p:ph idx="1"/>
          </p:nvPr>
        </p:nvSpPr>
        <p:spPr>
          <a:xfrm>
            <a:off x="1024128" y="2285999"/>
            <a:ext cx="9720073" cy="3553327"/>
          </a:xfrm>
        </p:spPr>
        <p:txBody>
          <a:bodyPr>
            <a:normAutofit/>
          </a:bodyPr>
          <a:lstStyle/>
          <a:p>
            <a:pPr marL="0" lvl="0" indent="0">
              <a:buNone/>
            </a:pPr>
            <a:r>
              <a:rPr lang="en-US" sz="3200" dirty="0">
                <a:cs typeface="Arial" panose="020B0604020202020204" pitchFamily="34" charset="0"/>
              </a:rPr>
              <a:t>Q. How do these work together to determine the presence of inequity?</a:t>
            </a:r>
            <a:endParaRPr lang="en-AU" sz="3200" dirty="0">
              <a:cs typeface="Arial" panose="020B0604020202020204" pitchFamily="34" charset="0"/>
            </a:endParaRPr>
          </a:p>
          <a:p>
            <a:pPr marL="0" indent="0">
              <a:buNone/>
            </a:pPr>
            <a:r>
              <a:rPr lang="en-AU" sz="2000" dirty="0">
                <a:cs typeface="Arial" panose="020B0604020202020204" pitchFamily="34" charset="0"/>
              </a:rPr>
              <a:t>A. The quantitative data gives information about how much disease there is and who has the disease, and qualitative helps explain why or how.</a:t>
            </a:r>
          </a:p>
          <a:p>
            <a:pPr marL="0" indent="0">
              <a:buNone/>
            </a:pPr>
            <a:endParaRPr lang="en-AU" sz="2000" dirty="0">
              <a:cs typeface="Arial" panose="020B0604020202020204" pitchFamily="34" charset="0"/>
            </a:endParaRPr>
          </a:p>
          <a:p>
            <a:pPr marL="0" indent="0">
              <a:buNone/>
            </a:pPr>
            <a:r>
              <a:rPr lang="en-US" sz="3200" dirty="0">
                <a:cs typeface="Arial" panose="020B0604020202020204" pitchFamily="34" charset="0"/>
              </a:rPr>
              <a:t>Q. How can they explain why this inequity occurs?</a:t>
            </a:r>
            <a:endParaRPr lang="en-AU" sz="3200" dirty="0">
              <a:cs typeface="Arial" panose="020B0604020202020204" pitchFamily="34" charset="0"/>
            </a:endParaRPr>
          </a:p>
          <a:p>
            <a:pPr marL="0" indent="0">
              <a:buNone/>
            </a:pPr>
            <a:r>
              <a:rPr lang="en-AU" sz="2000" dirty="0">
                <a:cs typeface="Arial" panose="020B0604020202020204" pitchFamily="34" charset="0"/>
              </a:rPr>
              <a:t>A. The qualitative data can give information on why the disease is present and what might be causing the health problems.</a:t>
            </a:r>
          </a:p>
          <a:p>
            <a:pPr marL="0" indent="0">
              <a:buNone/>
            </a:pPr>
            <a:endParaRPr lang="en-AU" dirty="0"/>
          </a:p>
        </p:txBody>
      </p:sp>
    </p:spTree>
    <p:extLst>
      <p:ext uri="{BB962C8B-B14F-4D97-AF65-F5344CB8AC3E}">
        <p14:creationId xmlns:p14="http://schemas.microsoft.com/office/powerpoint/2010/main" val="11176629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DC1798-537F-4CEB-A8C6-954AA4AD3817}"/>
              </a:ext>
            </a:extLst>
          </p:cNvPr>
          <p:cNvSpPr>
            <a:spLocks noGrp="1"/>
          </p:cNvSpPr>
          <p:nvPr>
            <p:ph type="title"/>
          </p:nvPr>
        </p:nvSpPr>
        <p:spPr/>
        <p:txBody>
          <a:bodyPr/>
          <a:lstStyle/>
          <a:p>
            <a:r>
              <a:rPr lang="en-US" dirty="0"/>
              <a:t>Finish specific populations worksheet</a:t>
            </a:r>
            <a:endParaRPr lang="en-AU" dirty="0"/>
          </a:p>
        </p:txBody>
      </p:sp>
      <p:sp>
        <p:nvSpPr>
          <p:cNvPr id="3" name="Content Placeholder 2">
            <a:extLst>
              <a:ext uri="{FF2B5EF4-FFF2-40B4-BE49-F238E27FC236}">
                <a16:creationId xmlns:a16="http://schemas.microsoft.com/office/drawing/2014/main" id="{A451F88C-9859-413F-8F6D-6643FBAB042A}"/>
              </a:ext>
            </a:extLst>
          </p:cNvPr>
          <p:cNvSpPr>
            <a:spLocks noGrp="1"/>
          </p:cNvSpPr>
          <p:nvPr>
            <p:ph idx="1"/>
          </p:nvPr>
        </p:nvSpPr>
        <p:spPr/>
        <p:txBody>
          <a:bodyPr/>
          <a:lstStyle/>
          <a:p>
            <a:r>
              <a:rPr lang="en-US" dirty="0"/>
              <a:t>Complete the last component of the worksheet, outlining the access &amp; equity issues faced by each specific population</a:t>
            </a:r>
            <a:endParaRPr lang="en-AU" dirty="0"/>
          </a:p>
        </p:txBody>
      </p:sp>
    </p:spTree>
    <p:extLst>
      <p:ext uri="{BB962C8B-B14F-4D97-AF65-F5344CB8AC3E}">
        <p14:creationId xmlns:p14="http://schemas.microsoft.com/office/powerpoint/2010/main" val="1699548924"/>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Social justice</a:t>
            </a:r>
          </a:p>
        </p:txBody>
      </p:sp>
      <p:sp>
        <p:nvSpPr>
          <p:cNvPr id="3" name="Subtitle 2"/>
          <p:cNvSpPr>
            <a:spLocks noGrp="1"/>
          </p:cNvSpPr>
          <p:nvPr>
            <p:ph type="subTitle" idx="1"/>
          </p:nvPr>
        </p:nvSpPr>
        <p:spPr/>
        <p:txBody>
          <a:bodyPr>
            <a:normAutofit/>
          </a:bodyPr>
          <a:lstStyle/>
          <a:p>
            <a:r>
              <a:rPr lang="en-US" sz="2200" dirty="0"/>
              <a:t>Term 1</a:t>
            </a:r>
          </a:p>
          <a:p>
            <a:r>
              <a:rPr lang="en-US" sz="2200" dirty="0"/>
              <a:t>Week 4</a:t>
            </a:r>
          </a:p>
        </p:txBody>
      </p:sp>
    </p:spTree>
    <p:extLst>
      <p:ext uri="{BB962C8B-B14F-4D97-AF65-F5344CB8AC3E}">
        <p14:creationId xmlns:p14="http://schemas.microsoft.com/office/powerpoint/2010/main" val="3699804023"/>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9E4C68A-A4A9-48A4-9FF2-D2896B1EA01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E2B9AEA5-52CB-49A6-AF8A-33502F291B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654296"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964788" y="804333"/>
            <a:ext cx="3302412" cy="5249334"/>
          </a:xfrm>
        </p:spPr>
        <p:txBody>
          <a:bodyPr>
            <a:normAutofit/>
          </a:bodyPr>
          <a:lstStyle/>
          <a:p>
            <a:pPr algn="r"/>
            <a:r>
              <a:rPr lang="en-US">
                <a:solidFill>
                  <a:srgbClr val="FFFFFF"/>
                </a:solidFill>
              </a:rPr>
              <a:t>Syllabus content</a:t>
            </a:r>
          </a:p>
        </p:txBody>
      </p:sp>
      <p:sp>
        <p:nvSpPr>
          <p:cNvPr id="3" name="Content Placeholder 2"/>
          <p:cNvSpPr>
            <a:spLocks noGrp="1"/>
          </p:cNvSpPr>
          <p:nvPr>
            <p:ph idx="1"/>
          </p:nvPr>
        </p:nvSpPr>
        <p:spPr>
          <a:xfrm>
            <a:off x="5109882" y="804333"/>
            <a:ext cx="6147169" cy="5249334"/>
          </a:xfrm>
        </p:spPr>
        <p:txBody>
          <a:bodyPr anchor="ctr">
            <a:normAutofit/>
          </a:bodyPr>
          <a:lstStyle/>
          <a:p>
            <a:pPr lvl="0">
              <a:buFont typeface="Wingdings" charset="2"/>
              <a:buChar char="v"/>
            </a:pPr>
            <a:r>
              <a:rPr lang="en-AU" dirty="0"/>
              <a:t> Social justice principles in health</a:t>
            </a:r>
            <a:endParaRPr lang="en-GB" dirty="0"/>
          </a:p>
          <a:p>
            <a:pPr lvl="0">
              <a:buFont typeface="Arial" charset="0"/>
              <a:buChar char="•"/>
            </a:pPr>
            <a:r>
              <a:rPr lang="en-AU" dirty="0"/>
              <a:t> Access and equity</a:t>
            </a:r>
            <a:endParaRPr lang="en-GB" dirty="0"/>
          </a:p>
          <a:p>
            <a:pPr lvl="0">
              <a:buFont typeface="Arial" charset="0"/>
              <a:buChar char="•"/>
            </a:pPr>
            <a:r>
              <a:rPr lang="en-AU" dirty="0"/>
              <a:t> Diversity</a:t>
            </a:r>
            <a:endParaRPr lang="en-GB" dirty="0"/>
          </a:p>
          <a:p>
            <a:pPr lvl="0">
              <a:buFont typeface="Arial" charset="0"/>
              <a:buChar char="•"/>
            </a:pPr>
            <a:r>
              <a:rPr lang="en-AU" dirty="0"/>
              <a:t> Supportive environments</a:t>
            </a:r>
            <a:endParaRPr lang="en-GB" dirty="0"/>
          </a:p>
        </p:txBody>
      </p:sp>
    </p:spTree>
    <p:extLst>
      <p:ext uri="{BB962C8B-B14F-4D97-AF65-F5344CB8AC3E}">
        <p14:creationId xmlns:p14="http://schemas.microsoft.com/office/powerpoint/2010/main" val="94528555"/>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is social justice?</a:t>
            </a:r>
          </a:p>
        </p:txBody>
      </p:sp>
      <p:sp>
        <p:nvSpPr>
          <p:cNvPr id="3" name="Content Placeholder 2"/>
          <p:cNvSpPr>
            <a:spLocks noGrp="1"/>
          </p:cNvSpPr>
          <p:nvPr>
            <p:ph idx="1"/>
          </p:nvPr>
        </p:nvSpPr>
        <p:spPr/>
        <p:txBody>
          <a:bodyPr/>
          <a:lstStyle/>
          <a:p>
            <a:r>
              <a:rPr lang="en-US" dirty="0"/>
              <a:t>*Social justice is when all people in our world are considered in a fair and equitable manner, including the distribution of wealth, opportunities, and privileges within a society.</a:t>
            </a:r>
          </a:p>
          <a:p>
            <a:endParaRPr lang="en-US" dirty="0"/>
          </a:p>
          <a:p>
            <a:r>
              <a:rPr lang="en-US" dirty="0" err="1"/>
              <a:t>Ie</a:t>
            </a:r>
            <a:r>
              <a:rPr lang="en-US" dirty="0"/>
              <a:t>. Individuals who live in lower socioeconomic areas or isolated communities should have the same access to healthcare services and education as the general population. </a:t>
            </a:r>
          </a:p>
          <a:p>
            <a:endParaRPr lang="en-US" dirty="0"/>
          </a:p>
          <a:p>
            <a:r>
              <a:rPr lang="en-US" dirty="0"/>
              <a:t>There are THREE main principles of Social Justice that aim to reduce health inequities in Australia. </a:t>
            </a:r>
          </a:p>
        </p:txBody>
      </p:sp>
    </p:spTree>
    <p:extLst>
      <p:ext uri="{BB962C8B-B14F-4D97-AF65-F5344CB8AC3E}">
        <p14:creationId xmlns:p14="http://schemas.microsoft.com/office/powerpoint/2010/main" val="36507073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3 Principles of Social Justice</a:t>
            </a:r>
          </a:p>
        </p:txBody>
      </p:sp>
      <p:sp>
        <p:nvSpPr>
          <p:cNvPr id="3" name="Content Placeholder 2"/>
          <p:cNvSpPr>
            <a:spLocks noGrp="1"/>
          </p:cNvSpPr>
          <p:nvPr>
            <p:ph idx="1"/>
          </p:nvPr>
        </p:nvSpPr>
        <p:spPr/>
        <p:txBody>
          <a:bodyPr>
            <a:normAutofit/>
          </a:bodyPr>
          <a:lstStyle/>
          <a:p>
            <a:r>
              <a:rPr lang="en-US" dirty="0"/>
              <a:t>1. Access &amp; Equity</a:t>
            </a:r>
          </a:p>
          <a:p>
            <a:r>
              <a:rPr lang="en-US" dirty="0"/>
              <a:t>3. Diversity</a:t>
            </a:r>
          </a:p>
          <a:p>
            <a:r>
              <a:rPr lang="en-US" dirty="0"/>
              <a:t>4. Supportive Environments</a:t>
            </a:r>
          </a:p>
        </p:txBody>
      </p:sp>
    </p:spTree>
    <p:extLst>
      <p:ext uri="{BB962C8B-B14F-4D97-AF65-F5344CB8AC3E}">
        <p14:creationId xmlns:p14="http://schemas.microsoft.com/office/powerpoint/2010/main" val="25023812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1. ACCESS &amp; equity</a:t>
            </a:r>
          </a:p>
        </p:txBody>
      </p:sp>
      <p:sp>
        <p:nvSpPr>
          <p:cNvPr id="3" name="Content Placeholder 2"/>
          <p:cNvSpPr>
            <a:spLocks noGrp="1"/>
          </p:cNvSpPr>
          <p:nvPr>
            <p:ph idx="1"/>
          </p:nvPr>
        </p:nvSpPr>
        <p:spPr/>
        <p:txBody>
          <a:bodyPr>
            <a:normAutofit/>
          </a:bodyPr>
          <a:lstStyle/>
          <a:p>
            <a:pPr>
              <a:buFont typeface="Wingdings" charset="2"/>
              <a:buChar char="v"/>
            </a:pPr>
            <a:r>
              <a:rPr lang="en-US" dirty="0"/>
              <a:t>This means that resources are allocated in accordance with the needs of individuals and populations with the overarching goal of equal health outcomes.</a:t>
            </a:r>
          </a:p>
          <a:p>
            <a:pPr>
              <a:buFont typeface="Wingdings" charset="2"/>
              <a:buChar char="v"/>
            </a:pPr>
            <a:r>
              <a:rPr lang="en-US" dirty="0"/>
              <a:t>Example: Certain population groups are allocated more funding because they are identified as priorities because of their lower health outcomes (</a:t>
            </a:r>
            <a:r>
              <a:rPr lang="en-US" dirty="0" err="1"/>
              <a:t>ie</a:t>
            </a:r>
            <a:r>
              <a:rPr lang="en-US" dirty="0"/>
              <a:t>. Indigenous)</a:t>
            </a:r>
          </a:p>
          <a:p>
            <a:pPr>
              <a:buFont typeface="Wingdings" charset="2"/>
              <a:buChar char="v"/>
            </a:pPr>
            <a:endParaRPr lang="en-US" dirty="0"/>
          </a:p>
          <a:p>
            <a:pPr>
              <a:buFont typeface="Wingdings" charset="2"/>
              <a:buChar char="v"/>
            </a:pPr>
            <a:endParaRPr lang="en-US" dirty="0"/>
          </a:p>
        </p:txBody>
      </p:sp>
    </p:spTree>
    <p:extLst>
      <p:ext uri="{BB962C8B-B14F-4D97-AF65-F5344CB8AC3E}">
        <p14:creationId xmlns:p14="http://schemas.microsoft.com/office/powerpoint/2010/main" val="14653860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another perspective via </a:t>
            </a:r>
            <a:r>
              <a:rPr lang="en-US" dirty="0" err="1"/>
              <a:t>youtube</a:t>
            </a:r>
            <a:endParaRPr lang="en-US" dirty="0"/>
          </a:p>
        </p:txBody>
      </p:sp>
      <p:sp>
        <p:nvSpPr>
          <p:cNvPr id="3" name="Content Placeholder 2"/>
          <p:cNvSpPr>
            <a:spLocks noGrp="1"/>
          </p:cNvSpPr>
          <p:nvPr>
            <p:ph idx="1"/>
          </p:nvPr>
        </p:nvSpPr>
        <p:spPr/>
        <p:txBody>
          <a:bodyPr/>
          <a:lstStyle/>
          <a:p>
            <a:r>
              <a:rPr lang="en-US" dirty="0">
                <a:hlinkClick r:id="rId2"/>
              </a:rPr>
              <a:t>https://www.youtube.com/watch?v=4K5fbQ1-zps</a:t>
            </a:r>
            <a:endParaRPr lang="en-US" dirty="0"/>
          </a:p>
          <a:p>
            <a:r>
              <a:rPr lang="en-US" dirty="0"/>
              <a:t>“A life of Privilege explained in a $100 race”</a:t>
            </a:r>
          </a:p>
        </p:txBody>
      </p:sp>
    </p:spTree>
    <p:extLst>
      <p:ext uri="{BB962C8B-B14F-4D97-AF65-F5344CB8AC3E}">
        <p14:creationId xmlns:p14="http://schemas.microsoft.com/office/powerpoint/2010/main" val="3518666878"/>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2. diversity</a:t>
            </a:r>
          </a:p>
        </p:txBody>
      </p:sp>
      <p:sp>
        <p:nvSpPr>
          <p:cNvPr id="3" name="Content Placeholder 2"/>
          <p:cNvSpPr>
            <a:spLocks noGrp="1"/>
          </p:cNvSpPr>
          <p:nvPr>
            <p:ph idx="1"/>
          </p:nvPr>
        </p:nvSpPr>
        <p:spPr/>
        <p:txBody>
          <a:bodyPr>
            <a:normAutofit lnSpcReduction="10000"/>
          </a:bodyPr>
          <a:lstStyle/>
          <a:p>
            <a:pPr>
              <a:buFont typeface="Wingdings" charset="2"/>
              <a:buChar char="v"/>
            </a:pPr>
            <a:r>
              <a:rPr lang="en-US" dirty="0"/>
              <a:t>Refers to respecting and accounting for the differences that exist between individuals and people groups such as ethnicity, gender, sexual orientation, language, age/generation, socioeconomic status.</a:t>
            </a:r>
          </a:p>
          <a:p>
            <a:pPr>
              <a:buFont typeface="Wingdings" charset="2"/>
              <a:buChar char="v"/>
            </a:pPr>
            <a:r>
              <a:rPr lang="en-US" dirty="0"/>
              <a:t>Australia is a very diverse multicultural country, which requires several measures to be in place to ensure each people group within our diversity has access to health care and achieves good health outcomes. (account for everyone!)</a:t>
            </a:r>
          </a:p>
          <a:p>
            <a:pPr>
              <a:buFont typeface="Wingdings" charset="2"/>
              <a:buChar char="v"/>
            </a:pPr>
            <a:r>
              <a:rPr lang="en-US" dirty="0"/>
              <a:t>Examples?</a:t>
            </a:r>
          </a:p>
          <a:p>
            <a:pPr>
              <a:buFont typeface="Wingdings" charset="2"/>
              <a:buChar char="Ø"/>
            </a:pPr>
            <a:r>
              <a:rPr lang="en-US" dirty="0"/>
              <a:t> Ensuring that brochures for health care services are in multiple languages and having interpreters in hospitals to allow all individuals to access health information. </a:t>
            </a:r>
          </a:p>
          <a:p>
            <a:pPr>
              <a:buFont typeface="Wingdings" charset="2"/>
              <a:buChar char="Ø"/>
            </a:pPr>
            <a:r>
              <a:rPr lang="en-US" dirty="0"/>
              <a:t> Healthcare facilities employ health professionals who are diverse and/or “culturally competent”</a:t>
            </a:r>
          </a:p>
          <a:p>
            <a:pPr>
              <a:buFont typeface="Wingdings" charset="2"/>
              <a:buChar char="Ø"/>
            </a:pPr>
            <a:endParaRPr lang="en-US" dirty="0"/>
          </a:p>
        </p:txBody>
      </p:sp>
    </p:spTree>
    <p:extLst>
      <p:ext uri="{BB962C8B-B14F-4D97-AF65-F5344CB8AC3E}">
        <p14:creationId xmlns:p14="http://schemas.microsoft.com/office/powerpoint/2010/main" val="6055921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3. Supportive environments</a:t>
            </a:r>
          </a:p>
        </p:txBody>
      </p:sp>
      <p:sp>
        <p:nvSpPr>
          <p:cNvPr id="3" name="Content Placeholder 2"/>
          <p:cNvSpPr>
            <a:spLocks noGrp="1"/>
          </p:cNvSpPr>
          <p:nvPr>
            <p:ph idx="1"/>
          </p:nvPr>
        </p:nvSpPr>
        <p:spPr/>
        <p:txBody>
          <a:bodyPr/>
          <a:lstStyle/>
          <a:p>
            <a:pPr>
              <a:buFont typeface="Wingdings" charset="2"/>
              <a:buChar char="v"/>
            </a:pPr>
            <a:r>
              <a:rPr lang="en-US" dirty="0"/>
              <a:t>Environments where “people live, work and play that protect people from threats to health and that increase their ability to make health-promoting choices.” -PDHPE</a:t>
            </a:r>
          </a:p>
          <a:p>
            <a:pPr>
              <a:buFont typeface="Wingdings" charset="2"/>
              <a:buChar char="v"/>
            </a:pPr>
            <a:r>
              <a:rPr lang="en-US" dirty="0"/>
              <a:t>The government looks to create supportive environments for all people, but also looks at the environments of particular people groups to determine if these might be reasons for poorer health outcomes. </a:t>
            </a:r>
          </a:p>
          <a:p>
            <a:pPr>
              <a:buFont typeface="Wingdings" charset="2"/>
              <a:buChar char="v"/>
            </a:pPr>
            <a:endParaRPr lang="en-US" dirty="0"/>
          </a:p>
          <a:p>
            <a:pPr>
              <a:buFont typeface="Wingdings" charset="2"/>
              <a:buChar char="v"/>
            </a:pPr>
            <a:endParaRPr lang="en-US" dirty="0"/>
          </a:p>
          <a:p>
            <a:pPr>
              <a:buFont typeface="Wingdings" charset="2"/>
              <a:buChar char="v"/>
            </a:pPr>
            <a:r>
              <a:rPr lang="en-US" dirty="0"/>
              <a:t>Example: Ensuring rural and remote locations have fewer fast food outlets and sufficiently stocked grocery stores to promote good nutrition. </a:t>
            </a:r>
          </a:p>
        </p:txBody>
      </p:sp>
    </p:spTree>
    <p:extLst>
      <p:ext uri="{BB962C8B-B14F-4D97-AF65-F5344CB8AC3E}">
        <p14:creationId xmlns:p14="http://schemas.microsoft.com/office/powerpoint/2010/main" val="34632234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closing the gap program</a:t>
            </a:r>
          </a:p>
        </p:txBody>
      </p:sp>
      <p:sp>
        <p:nvSpPr>
          <p:cNvPr id="3" name="Content Placeholder 2"/>
          <p:cNvSpPr>
            <a:spLocks noGrp="1"/>
          </p:cNvSpPr>
          <p:nvPr>
            <p:ph idx="1"/>
          </p:nvPr>
        </p:nvSpPr>
        <p:spPr/>
        <p:txBody>
          <a:bodyPr/>
          <a:lstStyle/>
          <a:p>
            <a:r>
              <a:rPr lang="en-US" dirty="0"/>
              <a:t>Use the Closing The Gap website and reports to answer the questions below: </a:t>
            </a:r>
          </a:p>
          <a:p>
            <a:r>
              <a:rPr lang="en-US" dirty="0">
                <a:hlinkClick r:id="rId2"/>
              </a:rPr>
              <a:t>https://www.closingthegap.gov.au/</a:t>
            </a:r>
            <a:endParaRPr lang="en-US" dirty="0"/>
          </a:p>
          <a:p>
            <a:endParaRPr lang="en-US" dirty="0"/>
          </a:p>
          <a:p>
            <a:r>
              <a:rPr lang="en-US" dirty="0"/>
              <a:t>RESEARCH:</a:t>
            </a:r>
          </a:p>
          <a:p>
            <a:r>
              <a:rPr lang="en-US" dirty="0"/>
              <a:t>What is the primary objective of this program?</a:t>
            </a:r>
          </a:p>
          <a:p>
            <a:r>
              <a:rPr lang="en-US" dirty="0"/>
              <a:t>Where/when did this program start?</a:t>
            </a:r>
          </a:p>
          <a:p>
            <a:r>
              <a:rPr lang="en-US" dirty="0"/>
              <a:t>What are the targets of the program?</a:t>
            </a:r>
          </a:p>
          <a:p>
            <a:r>
              <a:rPr lang="en-US" dirty="0"/>
              <a:t>What strategies have they used to increase equality for Indigenous Australians?</a:t>
            </a:r>
          </a:p>
          <a:p>
            <a:pPr marL="0" indent="0">
              <a:buNone/>
            </a:pPr>
            <a:endParaRPr lang="en-US" dirty="0"/>
          </a:p>
        </p:txBody>
      </p:sp>
    </p:spTree>
    <p:extLst>
      <p:ext uri="{BB962C8B-B14F-4D97-AF65-F5344CB8AC3E}">
        <p14:creationId xmlns:p14="http://schemas.microsoft.com/office/powerpoint/2010/main" val="224606733"/>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closing the gap program</a:t>
            </a:r>
          </a:p>
        </p:txBody>
      </p:sp>
      <p:sp>
        <p:nvSpPr>
          <p:cNvPr id="3" name="Content Placeholder 2"/>
          <p:cNvSpPr>
            <a:spLocks noGrp="1"/>
          </p:cNvSpPr>
          <p:nvPr>
            <p:ph idx="1"/>
          </p:nvPr>
        </p:nvSpPr>
        <p:spPr/>
        <p:txBody>
          <a:bodyPr/>
          <a:lstStyle/>
          <a:p>
            <a:pPr marL="0" indent="0">
              <a:buNone/>
            </a:pPr>
            <a:r>
              <a:rPr lang="en-US" dirty="0"/>
              <a:t>What is the primary objective of this program?</a:t>
            </a:r>
          </a:p>
          <a:p>
            <a:r>
              <a:rPr lang="en-US" dirty="0"/>
              <a:t>“to achieving equality for Aboriginal and Torres Strait Islander people in health and life expectancy within a generation.”</a:t>
            </a:r>
          </a:p>
          <a:p>
            <a:endParaRPr lang="en-US" dirty="0"/>
          </a:p>
          <a:p>
            <a:r>
              <a:rPr lang="en-US" dirty="0"/>
              <a:t>Where/when did this program start?</a:t>
            </a:r>
          </a:p>
          <a:p>
            <a:r>
              <a:rPr lang="en-US" dirty="0"/>
              <a:t>It began as the National Indigenous Health Equality Campaign in 2006 and was formally introduced as “Close The Gap” in December 2007</a:t>
            </a:r>
          </a:p>
          <a:p>
            <a:endParaRPr lang="en-US" dirty="0"/>
          </a:p>
          <a:p>
            <a:endParaRPr lang="en-US" dirty="0"/>
          </a:p>
        </p:txBody>
      </p:sp>
    </p:spTree>
    <p:extLst>
      <p:ext uri="{BB962C8B-B14F-4D97-AF65-F5344CB8AC3E}">
        <p14:creationId xmlns:p14="http://schemas.microsoft.com/office/powerpoint/2010/main" val="12278362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705BA8-6F6F-490B-9141-5814973E0A79}"/>
              </a:ext>
            </a:extLst>
          </p:cNvPr>
          <p:cNvSpPr>
            <a:spLocks noGrp="1"/>
          </p:cNvSpPr>
          <p:nvPr>
            <p:ph type="title"/>
          </p:nvPr>
        </p:nvSpPr>
        <p:spPr>
          <a:xfrm>
            <a:off x="1024128" y="585216"/>
            <a:ext cx="9720072" cy="983453"/>
          </a:xfrm>
        </p:spPr>
        <p:txBody>
          <a:bodyPr/>
          <a:lstStyle/>
          <a:p>
            <a:r>
              <a:rPr lang="en-US" dirty="0"/>
              <a:t>What are the targets of the program?</a:t>
            </a:r>
            <a:endParaRPr lang="en-AU" dirty="0"/>
          </a:p>
        </p:txBody>
      </p:sp>
      <p:sp>
        <p:nvSpPr>
          <p:cNvPr id="3" name="Content Placeholder 2">
            <a:extLst>
              <a:ext uri="{FF2B5EF4-FFF2-40B4-BE49-F238E27FC236}">
                <a16:creationId xmlns:a16="http://schemas.microsoft.com/office/drawing/2014/main" id="{72090324-35A4-453E-8D3E-586BC9A8006A}"/>
              </a:ext>
            </a:extLst>
          </p:cNvPr>
          <p:cNvSpPr>
            <a:spLocks noGrp="1"/>
          </p:cNvSpPr>
          <p:nvPr>
            <p:ph idx="1"/>
          </p:nvPr>
        </p:nvSpPr>
        <p:spPr>
          <a:xfrm>
            <a:off x="1102955" y="1702675"/>
            <a:ext cx="9720073" cy="4023360"/>
          </a:xfrm>
        </p:spPr>
        <p:txBody>
          <a:bodyPr>
            <a:normAutofit fontScale="92500"/>
          </a:bodyPr>
          <a:lstStyle/>
          <a:p>
            <a:r>
              <a:rPr lang="en-US" dirty="0"/>
              <a:t>In 2008, these targets were set:</a:t>
            </a:r>
          </a:p>
          <a:p>
            <a:pPr marL="457200" indent="-457200">
              <a:buFont typeface="+mj-lt"/>
              <a:buAutoNum type="arabicPeriod"/>
            </a:pPr>
            <a:r>
              <a:rPr lang="en-US" dirty="0"/>
              <a:t>to close the life expectancy gap within a generation</a:t>
            </a:r>
          </a:p>
          <a:p>
            <a:pPr marL="457200" indent="-457200">
              <a:buFont typeface="+mj-lt"/>
              <a:buAutoNum type="arabicPeriod"/>
            </a:pPr>
            <a:r>
              <a:rPr lang="en-US" dirty="0"/>
              <a:t>to halve the gap in mortality rates for Indigenous children under five within a decade</a:t>
            </a:r>
          </a:p>
          <a:p>
            <a:pPr marL="457200" indent="-457200">
              <a:buFont typeface="+mj-lt"/>
              <a:buAutoNum type="arabicPeriod"/>
            </a:pPr>
            <a:r>
              <a:rPr lang="en-US" dirty="0"/>
              <a:t>to ensure access to early childhood education for all Indigenous four year </a:t>
            </a:r>
            <a:r>
              <a:rPr lang="en-US" dirty="0" err="1"/>
              <a:t>olds</a:t>
            </a:r>
            <a:r>
              <a:rPr lang="en-US" dirty="0"/>
              <a:t> in remote communities within five years</a:t>
            </a:r>
          </a:p>
          <a:p>
            <a:pPr marL="457200" indent="-457200">
              <a:buFont typeface="+mj-lt"/>
              <a:buAutoNum type="arabicPeriod"/>
            </a:pPr>
            <a:r>
              <a:rPr lang="en-US" dirty="0"/>
              <a:t>to halve the gap in reading, writing and numeracy achievements for children within a decade</a:t>
            </a:r>
          </a:p>
          <a:p>
            <a:pPr marL="457200" indent="-457200">
              <a:buFont typeface="+mj-lt"/>
              <a:buAutoNum type="arabicPeriod"/>
            </a:pPr>
            <a:r>
              <a:rPr lang="en-US" dirty="0"/>
              <a:t>to halve the gap for Indigenous students in year 12 attainment rates by 2020 and</a:t>
            </a:r>
          </a:p>
          <a:p>
            <a:pPr marL="457200" indent="-457200">
              <a:buFont typeface="+mj-lt"/>
              <a:buAutoNum type="arabicPeriod"/>
            </a:pPr>
            <a:r>
              <a:rPr lang="en-US" dirty="0"/>
              <a:t>to halve the gap in employment outcomes between Indigenous and non-Indigenous Australians within a decade.</a:t>
            </a:r>
          </a:p>
          <a:p>
            <a:endParaRPr lang="en-AU" dirty="0"/>
          </a:p>
        </p:txBody>
      </p:sp>
    </p:spTree>
    <p:extLst>
      <p:ext uri="{BB962C8B-B14F-4D97-AF65-F5344CB8AC3E}">
        <p14:creationId xmlns:p14="http://schemas.microsoft.com/office/powerpoint/2010/main" val="8635655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21F36E-7295-4DFA-A313-E1D33B72E4ED}"/>
              </a:ext>
            </a:extLst>
          </p:cNvPr>
          <p:cNvSpPr>
            <a:spLocks noGrp="1"/>
          </p:cNvSpPr>
          <p:nvPr>
            <p:ph type="title"/>
          </p:nvPr>
        </p:nvSpPr>
        <p:spPr/>
        <p:txBody>
          <a:bodyPr/>
          <a:lstStyle/>
          <a:p>
            <a:r>
              <a:rPr lang="en-US" dirty="0"/>
              <a:t>Are we on track?</a:t>
            </a:r>
            <a:endParaRPr lang="en-AU" dirty="0"/>
          </a:p>
        </p:txBody>
      </p:sp>
      <p:pic>
        <p:nvPicPr>
          <p:cNvPr id="1026" name="Picture 2" descr="Image result for closing the gap targets">
            <a:extLst>
              <a:ext uri="{FF2B5EF4-FFF2-40B4-BE49-F238E27FC236}">
                <a16:creationId xmlns:a16="http://schemas.microsoft.com/office/drawing/2014/main" id="{17A35871-FBFC-4A3B-8E6D-2F6EFC874BA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36039" y="1933575"/>
            <a:ext cx="8096250" cy="45529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93954967"/>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705BA8-6F6F-490B-9141-5814973E0A79}"/>
              </a:ext>
            </a:extLst>
          </p:cNvPr>
          <p:cNvSpPr>
            <a:spLocks noGrp="1"/>
          </p:cNvSpPr>
          <p:nvPr>
            <p:ph type="title"/>
          </p:nvPr>
        </p:nvSpPr>
        <p:spPr>
          <a:xfrm>
            <a:off x="1024128" y="585216"/>
            <a:ext cx="9720072" cy="983453"/>
          </a:xfrm>
        </p:spPr>
        <p:txBody>
          <a:bodyPr>
            <a:normAutofit fontScale="90000"/>
          </a:bodyPr>
          <a:lstStyle/>
          <a:p>
            <a:r>
              <a:rPr lang="en-US" dirty="0"/>
              <a:t>What strategies have they used to increase equality for Indigenous Australians?</a:t>
            </a:r>
            <a:endParaRPr lang="en-AU" dirty="0"/>
          </a:p>
        </p:txBody>
      </p:sp>
      <p:sp>
        <p:nvSpPr>
          <p:cNvPr id="3" name="Content Placeholder 2">
            <a:extLst>
              <a:ext uri="{FF2B5EF4-FFF2-40B4-BE49-F238E27FC236}">
                <a16:creationId xmlns:a16="http://schemas.microsoft.com/office/drawing/2014/main" id="{72090324-35A4-453E-8D3E-586BC9A8006A}"/>
              </a:ext>
            </a:extLst>
          </p:cNvPr>
          <p:cNvSpPr>
            <a:spLocks noGrp="1"/>
          </p:cNvSpPr>
          <p:nvPr>
            <p:ph idx="1"/>
          </p:nvPr>
        </p:nvSpPr>
        <p:spPr>
          <a:xfrm>
            <a:off x="1077555" y="2178925"/>
            <a:ext cx="9720073" cy="4023360"/>
          </a:xfrm>
        </p:spPr>
        <p:txBody>
          <a:bodyPr>
            <a:normAutofit/>
          </a:bodyPr>
          <a:lstStyle/>
          <a:p>
            <a:r>
              <a:rPr lang="en-US" dirty="0"/>
              <a:t>Building partnerships across all levels</a:t>
            </a:r>
          </a:p>
          <a:p>
            <a:r>
              <a:rPr lang="en-US" dirty="0"/>
              <a:t>Increasing education (at the community level, within healthcare training, teacher training and </a:t>
            </a:r>
            <a:r>
              <a:rPr lang="en-US" dirty="0" err="1"/>
              <a:t>organisations</a:t>
            </a:r>
            <a:r>
              <a:rPr lang="en-US" dirty="0"/>
              <a:t>)</a:t>
            </a:r>
          </a:p>
          <a:p>
            <a:r>
              <a:rPr lang="en-US" dirty="0"/>
              <a:t>More effective distribution of funding</a:t>
            </a:r>
          </a:p>
          <a:p>
            <a:r>
              <a:rPr lang="en-AU" dirty="0"/>
              <a:t>Increasing participation by Indigenous people in decision making</a:t>
            </a:r>
          </a:p>
          <a:p>
            <a:r>
              <a:rPr lang="en-AU" dirty="0"/>
              <a:t>Improving access to health care (affordability, availability, accessibility)</a:t>
            </a:r>
          </a:p>
          <a:p>
            <a:r>
              <a:rPr lang="en-AU" dirty="0"/>
              <a:t>Improving the cultural knowledge of healthcare professionals</a:t>
            </a:r>
          </a:p>
          <a:p>
            <a:endParaRPr lang="en-AU" dirty="0"/>
          </a:p>
          <a:p>
            <a:endParaRPr lang="en-AU" dirty="0"/>
          </a:p>
        </p:txBody>
      </p:sp>
    </p:spTree>
    <p:extLst>
      <p:ext uri="{BB962C8B-B14F-4D97-AF65-F5344CB8AC3E}">
        <p14:creationId xmlns:p14="http://schemas.microsoft.com/office/powerpoint/2010/main" val="33584050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66EA7D-EA9F-4879-BCC3-81251FA38D21}"/>
              </a:ext>
            </a:extLst>
          </p:cNvPr>
          <p:cNvSpPr>
            <a:spLocks noGrp="1"/>
          </p:cNvSpPr>
          <p:nvPr>
            <p:ph type="title"/>
          </p:nvPr>
        </p:nvSpPr>
        <p:spPr>
          <a:xfrm>
            <a:off x="1024129" y="372381"/>
            <a:ext cx="9720072" cy="573550"/>
          </a:xfrm>
        </p:spPr>
        <p:txBody>
          <a:bodyPr>
            <a:normAutofit fontScale="90000"/>
          </a:bodyPr>
          <a:lstStyle/>
          <a:p>
            <a:r>
              <a:rPr lang="en-US" dirty="0"/>
              <a:t>What have we learned?</a:t>
            </a:r>
            <a:endParaRPr lang="en-AU" dirty="0"/>
          </a:p>
        </p:txBody>
      </p:sp>
      <p:sp>
        <p:nvSpPr>
          <p:cNvPr id="3" name="Content Placeholder 2">
            <a:extLst>
              <a:ext uri="{FF2B5EF4-FFF2-40B4-BE49-F238E27FC236}">
                <a16:creationId xmlns:a16="http://schemas.microsoft.com/office/drawing/2014/main" id="{6B19AB5D-B3B2-4826-9971-8D1A7DD9EC1D}"/>
              </a:ext>
            </a:extLst>
          </p:cNvPr>
          <p:cNvSpPr>
            <a:spLocks noGrp="1"/>
          </p:cNvSpPr>
          <p:nvPr>
            <p:ph idx="1"/>
          </p:nvPr>
        </p:nvSpPr>
        <p:spPr>
          <a:xfrm>
            <a:off x="1024128" y="1079938"/>
            <a:ext cx="10823658" cy="5612524"/>
          </a:xfrm>
        </p:spPr>
        <p:txBody>
          <a:bodyPr>
            <a:normAutofit/>
          </a:bodyPr>
          <a:lstStyle/>
          <a:p>
            <a:r>
              <a:rPr lang="en-US" dirty="0"/>
              <a:t>Research undertaken over the past 10 years has shown us that keys to successful outcomes include:</a:t>
            </a:r>
          </a:p>
          <a:p>
            <a:pPr lvl="1">
              <a:buFont typeface="Arial" panose="020B0604020202020204" pitchFamily="34" charset="0"/>
              <a:buChar char="•"/>
            </a:pPr>
            <a:r>
              <a:rPr lang="en-US" sz="2200" dirty="0"/>
              <a:t>holistic approaches that work with Aboriginal and Torres Strait Islander people in ways that take into account the full cultural, social, emotional and economic context of Indigenous people’s lives – including an awareness of the ongoing legacy of trauma, grief and loss associated with </a:t>
            </a:r>
            <a:r>
              <a:rPr lang="en-US" sz="2200" dirty="0" err="1"/>
              <a:t>colonisation</a:t>
            </a:r>
            <a:endParaRPr lang="en-US" sz="2200" dirty="0"/>
          </a:p>
          <a:p>
            <a:pPr lvl="1">
              <a:buFont typeface="Arial" panose="020B0604020202020204" pitchFamily="34" charset="0"/>
              <a:buChar char="•"/>
            </a:pPr>
            <a:r>
              <a:rPr lang="en-US" sz="2200" dirty="0"/>
              <a:t>active involvement of Indigenous communities in every stage of program development and delivery</a:t>
            </a:r>
          </a:p>
          <a:p>
            <a:pPr lvl="1">
              <a:buFont typeface="Arial" panose="020B0604020202020204" pitchFamily="34" charset="0"/>
              <a:buChar char="•"/>
            </a:pPr>
            <a:r>
              <a:rPr lang="en-US" sz="2200" dirty="0"/>
              <a:t>Employing Indigenous staff and involving them fully in program design, delivery and evaluation, and providing adequate training, where necessary, to build capacity of Aboriginal and Torres Strait Islander staff</a:t>
            </a:r>
          </a:p>
          <a:p>
            <a:pPr lvl="1">
              <a:buFont typeface="Arial" panose="020B0604020202020204" pitchFamily="34" charset="0"/>
              <a:buChar char="•"/>
            </a:pPr>
            <a:r>
              <a:rPr lang="en-US" sz="2200" dirty="0"/>
              <a:t>developing committed, skilled staff (Indigenous and non-Indigenous) and providing diversity and cultural awareness training</a:t>
            </a:r>
          </a:p>
          <a:p>
            <a:pPr lvl="1">
              <a:buFont typeface="Arial" panose="020B0604020202020204" pitchFamily="34" charset="0"/>
              <a:buChar char="•"/>
            </a:pPr>
            <a:r>
              <a:rPr lang="en-US" sz="2200" dirty="0"/>
              <a:t>adopting a strengths-based perspective that builds and develops the existing strengths, skills and capacities of Aboriginal and Torres Strait Islander people</a:t>
            </a:r>
          </a:p>
          <a:p>
            <a:pPr lvl="1">
              <a:buFont typeface="Arial" panose="020B0604020202020204" pitchFamily="34" charset="0"/>
              <a:buChar char="•"/>
            </a:pPr>
            <a:r>
              <a:rPr lang="en-US" sz="2200" dirty="0"/>
              <a:t>clear plans for research and evaluation to identify successful aspects of programs</a:t>
            </a:r>
            <a:endParaRPr lang="en-AU" sz="2200" dirty="0"/>
          </a:p>
        </p:txBody>
      </p:sp>
    </p:spTree>
    <p:extLst>
      <p:ext uri="{BB962C8B-B14F-4D97-AF65-F5344CB8AC3E}">
        <p14:creationId xmlns:p14="http://schemas.microsoft.com/office/powerpoint/2010/main" val="16101699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An example...</a:t>
            </a:r>
          </a:p>
        </p:txBody>
      </p:sp>
      <p:sp>
        <p:nvSpPr>
          <p:cNvPr id="3" name="Content Placeholder 2"/>
          <p:cNvSpPr>
            <a:spLocks noGrp="1"/>
          </p:cNvSpPr>
          <p:nvPr>
            <p:ph idx="1"/>
          </p:nvPr>
        </p:nvSpPr>
        <p:spPr/>
        <p:txBody>
          <a:bodyPr/>
          <a:lstStyle/>
          <a:p>
            <a:r>
              <a:rPr lang="en-AU" dirty="0">
                <a:hlinkClick r:id="rId2"/>
              </a:rPr>
              <a:t>https://www.sbs.com.au/news/insight/meet-the-aboriginal-doctor-turning-tragedy-to-triumph</a:t>
            </a:r>
            <a:endParaRPr lang="en-AU" dirty="0"/>
          </a:p>
          <a:p>
            <a:endParaRPr lang="en-US" u="sng" dirty="0"/>
          </a:p>
        </p:txBody>
      </p:sp>
    </p:spTree>
    <p:extLst>
      <p:ext uri="{BB962C8B-B14F-4D97-AF65-F5344CB8AC3E}">
        <p14:creationId xmlns:p14="http://schemas.microsoft.com/office/powerpoint/2010/main" val="3344049038"/>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Sources</a:t>
            </a:r>
            <a:endParaRPr lang="en-AU" dirty="0"/>
          </a:p>
        </p:txBody>
      </p:sp>
      <p:sp>
        <p:nvSpPr>
          <p:cNvPr id="3" name="Content Placeholder 2"/>
          <p:cNvSpPr>
            <a:spLocks noGrp="1"/>
          </p:cNvSpPr>
          <p:nvPr>
            <p:ph idx="1"/>
          </p:nvPr>
        </p:nvSpPr>
        <p:spPr>
          <a:xfrm>
            <a:off x="1024128" y="1883664"/>
            <a:ext cx="9720073" cy="4425696"/>
          </a:xfrm>
        </p:spPr>
        <p:txBody>
          <a:bodyPr>
            <a:normAutofit fontScale="85000" lnSpcReduction="20000"/>
          </a:bodyPr>
          <a:lstStyle/>
          <a:p>
            <a:pPr marL="114300" indent="0">
              <a:buNone/>
            </a:pPr>
            <a:r>
              <a:rPr lang="en-US" dirty="0"/>
              <a:t>Lockhart, E. (2011). </a:t>
            </a:r>
            <a:r>
              <a:rPr lang="en-US" i="1" dirty="0"/>
              <a:t>Health Studies Stage 3A-b. </a:t>
            </a:r>
            <a:r>
              <a:rPr lang="en-US" dirty="0" err="1"/>
              <a:t>Madeley</a:t>
            </a:r>
            <a:r>
              <a:rPr lang="en-US" dirty="0"/>
              <a:t>: Print Publishing.</a:t>
            </a:r>
          </a:p>
          <a:p>
            <a:pPr marL="114300" indent="0">
              <a:buNone/>
            </a:pPr>
            <a:endParaRPr lang="en-US" dirty="0"/>
          </a:p>
          <a:p>
            <a:pPr marL="114300" indent="0">
              <a:buNone/>
            </a:pPr>
            <a:r>
              <a:rPr lang="en-US" dirty="0"/>
              <a:t>Lockhart, E. (2012). HEA Stage 3 Revision 2012- Lockhart</a:t>
            </a:r>
          </a:p>
          <a:p>
            <a:pPr marL="114300" indent="0">
              <a:buNone/>
            </a:pPr>
            <a:endParaRPr lang="en-US" dirty="0"/>
          </a:p>
          <a:p>
            <a:pPr marL="114300" indent="0">
              <a:buNone/>
            </a:pPr>
            <a:r>
              <a:rPr lang="en-US" dirty="0"/>
              <a:t>Workforce Council, Queensland Government retrieved 5</a:t>
            </a:r>
            <a:r>
              <a:rPr lang="en-US" baseline="30000" dirty="0"/>
              <a:t>th</a:t>
            </a:r>
            <a:r>
              <a:rPr lang="en-US" dirty="0"/>
              <a:t> February 2018 from </a:t>
            </a:r>
            <a:r>
              <a:rPr lang="en-US" dirty="0">
                <a:hlinkClick r:id="rId2"/>
              </a:rPr>
              <a:t>https://www.checkup.org.au/icms_docs/182820_15_FACTSHEET_Social_Justice_and_Health.pdf</a:t>
            </a:r>
            <a:endParaRPr lang="en-US" dirty="0"/>
          </a:p>
          <a:p>
            <a:pPr marL="114300" indent="0">
              <a:buNone/>
            </a:pPr>
            <a:endParaRPr lang="en-US" dirty="0"/>
          </a:p>
          <a:p>
            <a:pPr marL="114300" indent="0">
              <a:buNone/>
            </a:pPr>
            <a:r>
              <a:rPr lang="en-US" dirty="0"/>
              <a:t>Closing the Gap full report retrieved 5</a:t>
            </a:r>
            <a:r>
              <a:rPr lang="en-US" baseline="30000" dirty="0"/>
              <a:t>th</a:t>
            </a:r>
            <a:r>
              <a:rPr lang="en-US" dirty="0"/>
              <a:t> Feb, 2018 from </a:t>
            </a:r>
          </a:p>
          <a:p>
            <a:pPr marL="114300" indent="0">
              <a:buNone/>
            </a:pPr>
            <a:r>
              <a:rPr lang="en-US" dirty="0">
                <a:hlinkClick r:id="rId3"/>
              </a:rPr>
              <a:t>https://closingthegap.pmc.gov.au</a:t>
            </a:r>
            <a:endParaRPr lang="en-US" dirty="0"/>
          </a:p>
          <a:p>
            <a:pPr marL="114300" indent="0">
              <a:buNone/>
            </a:pPr>
            <a:r>
              <a:rPr lang="en-US" dirty="0"/>
              <a:t>PDHPE website retrieved 6</a:t>
            </a:r>
            <a:r>
              <a:rPr lang="en-US" baseline="30000" dirty="0"/>
              <a:t>th</a:t>
            </a:r>
            <a:r>
              <a:rPr lang="en-US" dirty="0"/>
              <a:t> Feb, 2018 from</a:t>
            </a:r>
          </a:p>
          <a:p>
            <a:pPr marL="114300" indent="0">
              <a:buNone/>
            </a:pPr>
            <a:r>
              <a:rPr lang="en-US" dirty="0">
                <a:hlinkClick r:id="rId4"/>
              </a:rPr>
              <a:t>https://www.pdhpe.net/health-priorities-in-australia/how-are-priority-issues-for-australias-health-identified/identifying-priority-health-issues/social-justice-principles/</a:t>
            </a:r>
            <a:endParaRPr lang="en-US" dirty="0"/>
          </a:p>
          <a:p>
            <a:pPr marL="114300" indent="0">
              <a:buNone/>
            </a:pPr>
            <a:endParaRPr lang="en-US" dirty="0"/>
          </a:p>
          <a:p>
            <a:pPr marL="114300" indent="0">
              <a:buNone/>
            </a:pPr>
            <a:endParaRPr lang="en-US" dirty="0"/>
          </a:p>
          <a:p>
            <a:pPr marL="114300" indent="0">
              <a:buNone/>
            </a:pPr>
            <a:endParaRPr lang="en-AU" dirty="0"/>
          </a:p>
        </p:txBody>
      </p:sp>
    </p:spTree>
    <p:extLst>
      <p:ext uri="{BB962C8B-B14F-4D97-AF65-F5344CB8AC3E}">
        <p14:creationId xmlns:p14="http://schemas.microsoft.com/office/powerpoint/2010/main" val="2388498787"/>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70050" y="4960137"/>
            <a:ext cx="6559550" cy="1463040"/>
          </a:xfrm>
        </p:spPr>
        <p:txBody>
          <a:bodyPr/>
          <a:lstStyle/>
          <a:p>
            <a:r>
              <a:rPr lang="en-US" dirty="0"/>
              <a:t>Factors that create health inequities</a:t>
            </a:r>
          </a:p>
        </p:txBody>
      </p:sp>
      <p:sp>
        <p:nvSpPr>
          <p:cNvPr id="3" name="Subtitle 2"/>
          <p:cNvSpPr>
            <a:spLocks noGrp="1"/>
          </p:cNvSpPr>
          <p:nvPr>
            <p:ph type="subTitle" idx="1"/>
          </p:nvPr>
        </p:nvSpPr>
        <p:spPr/>
        <p:txBody>
          <a:bodyPr>
            <a:normAutofit/>
          </a:bodyPr>
          <a:lstStyle/>
          <a:p>
            <a:r>
              <a:rPr lang="en-US" sz="2200" dirty="0"/>
              <a:t>Term 1</a:t>
            </a:r>
          </a:p>
          <a:p>
            <a:r>
              <a:rPr lang="en-US" sz="2200" dirty="0"/>
              <a:t>Week 5</a:t>
            </a:r>
          </a:p>
        </p:txBody>
      </p:sp>
    </p:spTree>
    <p:extLst>
      <p:ext uri="{BB962C8B-B14F-4D97-AF65-F5344CB8AC3E}">
        <p14:creationId xmlns:p14="http://schemas.microsoft.com/office/powerpoint/2010/main" val="1157870116"/>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9E4C68A-A4A9-48A4-9FF2-D2896B1EA01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E2B9AEA5-52CB-49A6-AF8A-33502F291B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654296"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964788" y="804333"/>
            <a:ext cx="3302412" cy="5249334"/>
          </a:xfrm>
        </p:spPr>
        <p:txBody>
          <a:bodyPr>
            <a:normAutofit/>
          </a:bodyPr>
          <a:lstStyle/>
          <a:p>
            <a:pPr algn="r"/>
            <a:r>
              <a:rPr lang="en-US">
                <a:solidFill>
                  <a:srgbClr val="FFFFFF"/>
                </a:solidFill>
              </a:rPr>
              <a:t>Syllabus content</a:t>
            </a:r>
          </a:p>
        </p:txBody>
      </p:sp>
      <p:sp>
        <p:nvSpPr>
          <p:cNvPr id="3" name="Content Placeholder 2"/>
          <p:cNvSpPr>
            <a:spLocks noGrp="1"/>
          </p:cNvSpPr>
          <p:nvPr>
            <p:ph idx="1"/>
          </p:nvPr>
        </p:nvSpPr>
        <p:spPr>
          <a:xfrm>
            <a:off x="5433732" y="2296583"/>
            <a:ext cx="6147169" cy="3469218"/>
          </a:xfrm>
        </p:spPr>
        <p:txBody>
          <a:bodyPr numCol="2" anchor="ctr">
            <a:normAutofit/>
          </a:bodyPr>
          <a:lstStyle/>
          <a:p>
            <a:pPr>
              <a:buFont typeface="Arial" panose="020B0604020202020204" pitchFamily="34" charset="0"/>
              <a:buChar char="•"/>
            </a:pPr>
            <a:r>
              <a:rPr lang="en-AU" dirty="0"/>
              <a:t> Discrimination</a:t>
            </a:r>
            <a:endParaRPr lang="en-GB" dirty="0"/>
          </a:p>
          <a:p>
            <a:pPr lvl="0">
              <a:buFont typeface="Arial" charset="0"/>
              <a:buChar char="•"/>
            </a:pPr>
            <a:r>
              <a:rPr lang="en-AU" dirty="0"/>
              <a:t> Gender</a:t>
            </a:r>
            <a:endParaRPr lang="en-GB" dirty="0"/>
          </a:p>
          <a:p>
            <a:pPr lvl="0">
              <a:buFont typeface="Arial" charset="0"/>
              <a:buChar char="•"/>
            </a:pPr>
            <a:r>
              <a:rPr lang="en-AU" dirty="0"/>
              <a:t> Access to health care</a:t>
            </a:r>
            <a:endParaRPr lang="en-GB" dirty="0"/>
          </a:p>
          <a:p>
            <a:pPr lvl="0">
              <a:buFont typeface="Arial" charset="0"/>
              <a:buChar char="•"/>
            </a:pPr>
            <a:r>
              <a:rPr lang="en-AU" dirty="0"/>
              <a:t> Unemployment</a:t>
            </a:r>
            <a:endParaRPr lang="en-GB" dirty="0"/>
          </a:p>
          <a:p>
            <a:pPr lvl="0">
              <a:buFont typeface="Arial" charset="0"/>
              <a:buChar char="•"/>
            </a:pPr>
            <a:r>
              <a:rPr lang="en-AU" dirty="0"/>
              <a:t> Social isolation</a:t>
            </a:r>
            <a:endParaRPr lang="en-GB" dirty="0"/>
          </a:p>
          <a:p>
            <a:pPr lvl="0">
              <a:buFont typeface="Arial" charset="0"/>
              <a:buChar char="•"/>
            </a:pPr>
            <a:r>
              <a:rPr lang="en-AU" dirty="0"/>
              <a:t> Dislocation of land</a:t>
            </a:r>
            <a:endParaRPr lang="en-GB" dirty="0"/>
          </a:p>
          <a:p>
            <a:pPr lvl="0">
              <a:buFont typeface="Arial" charset="0"/>
              <a:buChar char="•"/>
            </a:pPr>
            <a:r>
              <a:rPr lang="en-AU" dirty="0"/>
              <a:t> Occupation</a:t>
            </a:r>
          </a:p>
          <a:p>
            <a:pPr lvl="0">
              <a:buFont typeface="Arial" charset="0"/>
              <a:buChar char="•"/>
            </a:pPr>
            <a:r>
              <a:rPr lang="en-AU" dirty="0"/>
              <a:t>Access to and level of education</a:t>
            </a:r>
          </a:p>
          <a:p>
            <a:pPr lvl="0">
              <a:buFont typeface="Arial" charset="0"/>
              <a:buChar char="•"/>
            </a:pPr>
            <a:r>
              <a:rPr lang="en-AU" dirty="0"/>
              <a:t>Geographic location</a:t>
            </a:r>
            <a:endParaRPr lang="en-GB" dirty="0"/>
          </a:p>
          <a:p>
            <a:pPr lvl="0">
              <a:buFont typeface="Arial" charset="0"/>
              <a:buChar char="•"/>
            </a:pPr>
            <a:r>
              <a:rPr lang="en-AU" dirty="0"/>
              <a:t> Racism</a:t>
            </a:r>
            <a:endParaRPr lang="en-GB" dirty="0"/>
          </a:p>
          <a:p>
            <a:pPr lvl="0">
              <a:buFont typeface="Arial" charset="0"/>
              <a:buChar char="•"/>
            </a:pPr>
            <a:r>
              <a:rPr lang="en-AU" dirty="0"/>
              <a:t> Government economic and social policies</a:t>
            </a:r>
            <a:endParaRPr lang="en-GB" dirty="0"/>
          </a:p>
          <a:p>
            <a:pPr lvl="0">
              <a:buFont typeface="Arial" charset="0"/>
              <a:buChar char="•"/>
            </a:pPr>
            <a:r>
              <a:rPr lang="en-AU" dirty="0"/>
              <a:t> Socioeconomic status</a:t>
            </a:r>
            <a:endParaRPr lang="en-GB" dirty="0"/>
          </a:p>
          <a:p>
            <a:pPr lvl="0">
              <a:buFont typeface="Arial" charset="0"/>
              <a:buChar char="•"/>
            </a:pPr>
            <a:r>
              <a:rPr lang="en-AU" dirty="0"/>
              <a:t> Health literacy</a:t>
            </a:r>
            <a:endParaRPr lang="en-GB" dirty="0"/>
          </a:p>
        </p:txBody>
      </p:sp>
      <p:sp>
        <p:nvSpPr>
          <p:cNvPr id="6" name="Content Placeholder 2">
            <a:extLst>
              <a:ext uri="{FF2B5EF4-FFF2-40B4-BE49-F238E27FC236}">
                <a16:creationId xmlns:a16="http://schemas.microsoft.com/office/drawing/2014/main" id="{2DC5FEB8-E43A-4EB8-930B-449C1C76E7DA}"/>
              </a:ext>
            </a:extLst>
          </p:cNvPr>
          <p:cNvSpPr txBox="1">
            <a:spLocks/>
          </p:cNvSpPr>
          <p:nvPr/>
        </p:nvSpPr>
        <p:spPr>
          <a:xfrm>
            <a:off x="5231988" y="1030815"/>
            <a:ext cx="6147169" cy="757769"/>
          </a:xfrm>
          <a:prstGeom prst="rect">
            <a:avLst/>
          </a:prstGeom>
        </p:spPr>
        <p:txBody>
          <a:bodyPr vert="horz" lIns="45720" tIns="45720" rIns="45720" bIns="45720" numCol="1" rtlCol="0" anchor="ctr">
            <a:normAutofit/>
          </a:bodyPr>
          <a:lstStyle>
            <a:lvl1pPr marL="91440" indent="-91440" algn="l" defTabSz="914400" rtl="0" eaLnBrk="1" latinLnBrk="0" hangingPunct="1">
              <a:lnSpc>
                <a:spcPct val="90000"/>
              </a:lnSpc>
              <a:spcBef>
                <a:spcPts val="1200"/>
              </a:spcBef>
              <a:spcAft>
                <a:spcPts val="200"/>
              </a:spcAft>
              <a:buClr>
                <a:schemeClr val="accent2"/>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2"/>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9pPr>
          </a:lstStyle>
          <a:p>
            <a:pPr>
              <a:buFont typeface="Wingdings" charset="2"/>
              <a:buChar char="v"/>
            </a:pPr>
            <a:r>
              <a:rPr lang="en-AU" dirty="0"/>
              <a:t> Factors that create health inequities</a:t>
            </a:r>
          </a:p>
        </p:txBody>
      </p:sp>
    </p:spTree>
    <p:extLst>
      <p:ext uri="{BB962C8B-B14F-4D97-AF65-F5344CB8AC3E}">
        <p14:creationId xmlns:p14="http://schemas.microsoft.com/office/powerpoint/2010/main" val="1973714145"/>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Discrimination</a:t>
            </a:r>
            <a:endParaRPr lang="en-AU" dirty="0"/>
          </a:p>
        </p:txBody>
      </p:sp>
      <p:sp>
        <p:nvSpPr>
          <p:cNvPr id="3" name="Content Placeholder 2"/>
          <p:cNvSpPr>
            <a:spLocks noGrp="1"/>
          </p:cNvSpPr>
          <p:nvPr>
            <p:ph idx="1"/>
          </p:nvPr>
        </p:nvSpPr>
        <p:spPr>
          <a:xfrm>
            <a:off x="1024128" y="2285999"/>
            <a:ext cx="9720073" cy="4227095"/>
          </a:xfrm>
        </p:spPr>
        <p:txBody>
          <a:bodyPr>
            <a:normAutofit/>
          </a:bodyPr>
          <a:lstStyle/>
          <a:p>
            <a:pPr marL="0" indent="0">
              <a:buNone/>
            </a:pPr>
            <a:r>
              <a:rPr lang="en-US" dirty="0"/>
              <a:t>The group experiencing the discrimination may have reduced access to services specific to their health.</a:t>
            </a:r>
          </a:p>
          <a:p>
            <a:pPr marL="0" indent="0">
              <a:buNone/>
            </a:pPr>
            <a:r>
              <a:rPr lang="en-US" dirty="0"/>
              <a:t>They may not want to access health services where they feel undervalued or stereotyped based on their race.</a:t>
            </a:r>
          </a:p>
          <a:p>
            <a:pPr marL="0" indent="0">
              <a:buNone/>
            </a:pPr>
            <a:endParaRPr lang="en-US" dirty="0"/>
          </a:p>
          <a:p>
            <a:pPr marL="0" indent="0">
              <a:buNone/>
            </a:pPr>
            <a:endParaRPr lang="en-US" b="1" dirty="0"/>
          </a:p>
        </p:txBody>
      </p:sp>
    </p:spTree>
    <p:extLst>
      <p:ext uri="{BB962C8B-B14F-4D97-AF65-F5344CB8AC3E}">
        <p14:creationId xmlns:p14="http://schemas.microsoft.com/office/powerpoint/2010/main" val="1292366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Access to healthcare</a:t>
            </a:r>
            <a:endParaRPr lang="en-AU" dirty="0"/>
          </a:p>
        </p:txBody>
      </p:sp>
      <p:sp>
        <p:nvSpPr>
          <p:cNvPr id="3" name="Content Placeholder 2"/>
          <p:cNvSpPr>
            <a:spLocks noGrp="1"/>
          </p:cNvSpPr>
          <p:nvPr>
            <p:ph idx="1"/>
          </p:nvPr>
        </p:nvSpPr>
        <p:spPr>
          <a:xfrm>
            <a:off x="1024128" y="2285999"/>
            <a:ext cx="9720073" cy="4227095"/>
          </a:xfrm>
        </p:spPr>
        <p:txBody>
          <a:bodyPr>
            <a:normAutofit/>
          </a:bodyPr>
          <a:lstStyle/>
          <a:p>
            <a:pPr marL="0" indent="0">
              <a:buNone/>
            </a:pPr>
            <a:r>
              <a:rPr lang="en-US" dirty="0"/>
              <a:t>People that may need help may not be able to get it due to lack of access.</a:t>
            </a:r>
          </a:p>
          <a:p>
            <a:pPr marL="0" indent="0">
              <a:buNone/>
            </a:pPr>
            <a:r>
              <a:rPr lang="en-US" dirty="0"/>
              <a:t>Access refers to physical/geographical access, financial access or access in the forms of availability and acceptability. </a:t>
            </a:r>
          </a:p>
          <a:p>
            <a:pPr marL="0" indent="0">
              <a:buNone/>
            </a:pPr>
            <a:r>
              <a:rPr lang="en-US" dirty="0"/>
              <a:t>If individuals cannot access healthcare (both preventative and treatment services) they are likely to experience poorer health.</a:t>
            </a:r>
          </a:p>
          <a:p>
            <a:pPr marL="0" indent="0">
              <a:buNone/>
            </a:pPr>
            <a:endParaRPr lang="en-US" b="1" dirty="0"/>
          </a:p>
        </p:txBody>
      </p:sp>
    </p:spTree>
    <p:extLst>
      <p:ext uri="{BB962C8B-B14F-4D97-AF65-F5344CB8AC3E}">
        <p14:creationId xmlns:p14="http://schemas.microsoft.com/office/powerpoint/2010/main" val="26440335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Social isolation</a:t>
            </a:r>
            <a:endParaRPr lang="en-AU" dirty="0"/>
          </a:p>
        </p:txBody>
      </p:sp>
      <p:sp>
        <p:nvSpPr>
          <p:cNvPr id="3" name="Content Placeholder 2"/>
          <p:cNvSpPr>
            <a:spLocks noGrp="1"/>
          </p:cNvSpPr>
          <p:nvPr>
            <p:ph idx="1"/>
          </p:nvPr>
        </p:nvSpPr>
        <p:spPr>
          <a:xfrm>
            <a:off x="1024128" y="2285999"/>
            <a:ext cx="9720073" cy="4227095"/>
          </a:xfrm>
        </p:spPr>
        <p:txBody>
          <a:bodyPr>
            <a:normAutofit/>
          </a:bodyPr>
          <a:lstStyle/>
          <a:p>
            <a:pPr marL="0" indent="0">
              <a:buNone/>
            </a:pPr>
            <a:r>
              <a:rPr lang="en-US" dirty="0"/>
              <a:t>Social isolation can be caused by a range of factors including geographical remoteness and social exclusion based on discrimination and prejudice. </a:t>
            </a:r>
          </a:p>
          <a:p>
            <a:pPr marL="0" indent="0">
              <a:buNone/>
            </a:pPr>
            <a:r>
              <a:rPr lang="en-US" dirty="0"/>
              <a:t>People who cannot participate in society due to isolation will not have limited access to support networks, which creates a barrier to good health.</a:t>
            </a:r>
          </a:p>
          <a:p>
            <a:pPr marL="0" indent="0">
              <a:buNone/>
            </a:pPr>
            <a:endParaRPr lang="en-US" b="1" dirty="0"/>
          </a:p>
        </p:txBody>
      </p:sp>
    </p:spTree>
    <p:extLst>
      <p:ext uri="{BB962C8B-B14F-4D97-AF65-F5344CB8AC3E}">
        <p14:creationId xmlns:p14="http://schemas.microsoft.com/office/powerpoint/2010/main" val="1582194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occupation</a:t>
            </a:r>
            <a:endParaRPr lang="en-AU" dirty="0"/>
          </a:p>
        </p:txBody>
      </p:sp>
      <p:sp>
        <p:nvSpPr>
          <p:cNvPr id="3" name="Content Placeholder 2"/>
          <p:cNvSpPr>
            <a:spLocks noGrp="1"/>
          </p:cNvSpPr>
          <p:nvPr>
            <p:ph idx="1"/>
          </p:nvPr>
        </p:nvSpPr>
        <p:spPr>
          <a:xfrm>
            <a:off x="1024128" y="2285999"/>
            <a:ext cx="9720073" cy="4227095"/>
          </a:xfrm>
        </p:spPr>
        <p:txBody>
          <a:bodyPr>
            <a:normAutofit/>
          </a:bodyPr>
          <a:lstStyle/>
          <a:p>
            <a:pPr marL="0" indent="0">
              <a:buNone/>
            </a:pPr>
            <a:r>
              <a:rPr lang="en-US" dirty="0"/>
              <a:t>People experiencing poor working conditions or who are not being justly rewarded may experience increased mental health issues.</a:t>
            </a:r>
          </a:p>
          <a:p>
            <a:pPr marL="0" indent="0">
              <a:buNone/>
            </a:pPr>
            <a:r>
              <a:rPr lang="en-US" dirty="0"/>
              <a:t>Individuals who are experiencing mental health issues are less likely to experience good overall health, and this can </a:t>
            </a:r>
            <a:r>
              <a:rPr lang="en-US"/>
              <a:t>further reduce their </a:t>
            </a:r>
            <a:r>
              <a:rPr lang="en-US" dirty="0"/>
              <a:t>ability to work and earn an income. This limits their overall health status.</a:t>
            </a:r>
          </a:p>
          <a:p>
            <a:pPr marL="0" indent="0">
              <a:buNone/>
            </a:pPr>
            <a:endParaRPr lang="en-US" b="1" dirty="0"/>
          </a:p>
        </p:txBody>
      </p:sp>
    </p:spTree>
    <p:extLst>
      <p:ext uri="{BB962C8B-B14F-4D97-AF65-F5344CB8AC3E}">
        <p14:creationId xmlns:p14="http://schemas.microsoft.com/office/powerpoint/2010/main" val="12672324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Geographic location</a:t>
            </a:r>
            <a:endParaRPr lang="en-AU" dirty="0"/>
          </a:p>
        </p:txBody>
      </p:sp>
      <p:sp>
        <p:nvSpPr>
          <p:cNvPr id="3" name="Content Placeholder 2"/>
          <p:cNvSpPr>
            <a:spLocks noGrp="1"/>
          </p:cNvSpPr>
          <p:nvPr>
            <p:ph idx="1"/>
          </p:nvPr>
        </p:nvSpPr>
        <p:spPr>
          <a:xfrm>
            <a:off x="1024128" y="2285999"/>
            <a:ext cx="9720073" cy="4227095"/>
          </a:xfrm>
        </p:spPr>
        <p:txBody>
          <a:bodyPr>
            <a:normAutofit/>
          </a:bodyPr>
          <a:lstStyle/>
          <a:p>
            <a:pPr marL="0" indent="0">
              <a:buNone/>
            </a:pPr>
            <a:endParaRPr lang="en-US" b="1" dirty="0"/>
          </a:p>
          <a:p>
            <a:pPr marL="0" indent="0">
              <a:buNone/>
            </a:pPr>
            <a:r>
              <a:rPr lang="en-US" dirty="0"/>
              <a:t>Individuals and communities that are geographically remote have reduced access to services such as quality education, health services and health products. </a:t>
            </a:r>
          </a:p>
          <a:p>
            <a:pPr marL="0" indent="0">
              <a:buNone/>
            </a:pPr>
            <a:r>
              <a:rPr lang="en-US" dirty="0"/>
              <a:t>Living further from preventative healthcare means individuals are less likely to engage in these services, increasing their risk of disease and poor health. </a:t>
            </a:r>
          </a:p>
          <a:p>
            <a:pPr marL="0" indent="0">
              <a:buNone/>
            </a:pPr>
            <a:r>
              <a:rPr lang="en-US" dirty="0"/>
              <a:t>Medical services located in remote areas tend to be less equipped and have minimal specialist care which makes it difficult to be treated for a specialist condition. </a:t>
            </a:r>
          </a:p>
          <a:p>
            <a:pPr marL="0" indent="0">
              <a:buNone/>
            </a:pPr>
            <a:endParaRPr lang="en-AU" b="1" dirty="0"/>
          </a:p>
        </p:txBody>
      </p:sp>
    </p:spTree>
    <p:extLst>
      <p:ext uri="{BB962C8B-B14F-4D97-AF65-F5344CB8AC3E}">
        <p14:creationId xmlns:p14="http://schemas.microsoft.com/office/powerpoint/2010/main" val="31870991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AF5E33-A214-4008-918B-4D819032AADD}"/>
              </a:ext>
            </a:extLst>
          </p:cNvPr>
          <p:cNvSpPr>
            <a:spLocks noGrp="1"/>
          </p:cNvSpPr>
          <p:nvPr>
            <p:ph type="title"/>
          </p:nvPr>
        </p:nvSpPr>
        <p:spPr/>
        <p:txBody>
          <a:bodyPr/>
          <a:lstStyle/>
          <a:p>
            <a:r>
              <a:rPr lang="en-US" dirty="0"/>
              <a:t>Government economic &amp; social policies</a:t>
            </a:r>
            <a:endParaRPr lang="en-AU" dirty="0"/>
          </a:p>
        </p:txBody>
      </p:sp>
      <p:sp>
        <p:nvSpPr>
          <p:cNvPr id="3" name="Content Placeholder 2">
            <a:extLst>
              <a:ext uri="{FF2B5EF4-FFF2-40B4-BE49-F238E27FC236}">
                <a16:creationId xmlns:a16="http://schemas.microsoft.com/office/drawing/2014/main" id="{2A9E6D3D-91B7-4444-BC05-DAD47A9F88D8}"/>
              </a:ext>
            </a:extLst>
          </p:cNvPr>
          <p:cNvSpPr>
            <a:spLocks noGrp="1"/>
          </p:cNvSpPr>
          <p:nvPr>
            <p:ph idx="1"/>
          </p:nvPr>
        </p:nvSpPr>
        <p:spPr/>
        <p:txBody>
          <a:bodyPr/>
          <a:lstStyle/>
          <a:p>
            <a:r>
              <a:rPr lang="en-US" dirty="0"/>
              <a:t>Laws that are discriminatory in any way prevent groups of people achieving good health. (e.g. laws permitting child marriage)</a:t>
            </a:r>
          </a:p>
          <a:p>
            <a:r>
              <a:rPr lang="en-US" dirty="0"/>
              <a:t>Economic policies influence funding allocations and this can be unfairly distributed causing health inequities. </a:t>
            </a:r>
          </a:p>
          <a:p>
            <a:endParaRPr lang="en-AU" dirty="0"/>
          </a:p>
        </p:txBody>
      </p:sp>
    </p:spTree>
    <p:extLst>
      <p:ext uri="{BB962C8B-B14F-4D97-AF65-F5344CB8AC3E}">
        <p14:creationId xmlns:p14="http://schemas.microsoft.com/office/powerpoint/2010/main" val="3435327757"/>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C488DB-E4C2-4174-8746-223D9F60E345}"/>
              </a:ext>
            </a:extLst>
          </p:cNvPr>
          <p:cNvSpPr>
            <a:spLocks noGrp="1"/>
          </p:cNvSpPr>
          <p:nvPr>
            <p:ph type="title"/>
          </p:nvPr>
        </p:nvSpPr>
        <p:spPr/>
        <p:txBody>
          <a:bodyPr/>
          <a:lstStyle/>
          <a:p>
            <a:r>
              <a:rPr lang="en-US" dirty="0"/>
              <a:t>Health literacy</a:t>
            </a:r>
            <a:endParaRPr lang="en-AU" dirty="0"/>
          </a:p>
        </p:txBody>
      </p:sp>
      <p:sp>
        <p:nvSpPr>
          <p:cNvPr id="3" name="Content Placeholder 2">
            <a:extLst>
              <a:ext uri="{FF2B5EF4-FFF2-40B4-BE49-F238E27FC236}">
                <a16:creationId xmlns:a16="http://schemas.microsoft.com/office/drawing/2014/main" id="{7342D85C-4EF1-4676-811E-707731E1A7E8}"/>
              </a:ext>
            </a:extLst>
          </p:cNvPr>
          <p:cNvSpPr>
            <a:spLocks noGrp="1"/>
          </p:cNvSpPr>
          <p:nvPr>
            <p:ph idx="1"/>
          </p:nvPr>
        </p:nvSpPr>
        <p:spPr/>
        <p:txBody>
          <a:bodyPr/>
          <a:lstStyle/>
          <a:p>
            <a:r>
              <a:rPr lang="en-US" dirty="0"/>
              <a:t>Poor health literacy means not being able to access, read or understand health information.</a:t>
            </a:r>
          </a:p>
          <a:p>
            <a:r>
              <a:rPr lang="en-US" dirty="0"/>
              <a:t>This reduces the likelihood that individuals will:</a:t>
            </a:r>
          </a:p>
          <a:p>
            <a:pPr>
              <a:buFont typeface="Courier New" panose="02070309020205020404" pitchFamily="49" charset="0"/>
              <a:buChar char="o"/>
            </a:pPr>
            <a:r>
              <a:rPr lang="en-US" dirty="0"/>
              <a:t> Engage in preventative measures</a:t>
            </a:r>
          </a:p>
          <a:p>
            <a:pPr>
              <a:buFont typeface="Courier New" panose="02070309020205020404" pitchFamily="49" charset="0"/>
              <a:buChar char="o"/>
            </a:pPr>
            <a:r>
              <a:rPr lang="en-US" dirty="0"/>
              <a:t> Know when and how to seek help</a:t>
            </a:r>
          </a:p>
          <a:p>
            <a:pPr>
              <a:buFont typeface="Courier New" panose="02070309020205020404" pitchFamily="49" charset="0"/>
              <a:buChar char="o"/>
            </a:pPr>
            <a:r>
              <a:rPr lang="en-AU" dirty="0"/>
              <a:t> Take a proactive approach to improving their own and their families health</a:t>
            </a:r>
          </a:p>
        </p:txBody>
      </p:sp>
    </p:spTree>
    <p:extLst>
      <p:ext uri="{BB962C8B-B14F-4D97-AF65-F5344CB8AC3E}">
        <p14:creationId xmlns:p14="http://schemas.microsoft.com/office/powerpoint/2010/main" val="337385803"/>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C488DB-E4C2-4174-8746-223D9F60E345}"/>
              </a:ext>
            </a:extLst>
          </p:cNvPr>
          <p:cNvSpPr>
            <a:spLocks noGrp="1"/>
          </p:cNvSpPr>
          <p:nvPr>
            <p:ph type="title"/>
          </p:nvPr>
        </p:nvSpPr>
        <p:spPr/>
        <p:txBody>
          <a:bodyPr/>
          <a:lstStyle/>
          <a:p>
            <a:r>
              <a:rPr lang="en-US" dirty="0"/>
              <a:t>Gender</a:t>
            </a:r>
            <a:endParaRPr lang="en-AU" dirty="0"/>
          </a:p>
        </p:txBody>
      </p:sp>
      <p:sp>
        <p:nvSpPr>
          <p:cNvPr id="3" name="Content Placeholder 2">
            <a:extLst>
              <a:ext uri="{FF2B5EF4-FFF2-40B4-BE49-F238E27FC236}">
                <a16:creationId xmlns:a16="http://schemas.microsoft.com/office/drawing/2014/main" id="{7342D85C-4EF1-4676-811E-707731E1A7E8}"/>
              </a:ext>
            </a:extLst>
          </p:cNvPr>
          <p:cNvSpPr>
            <a:spLocks noGrp="1"/>
          </p:cNvSpPr>
          <p:nvPr>
            <p:ph idx="1"/>
          </p:nvPr>
        </p:nvSpPr>
        <p:spPr/>
        <p:txBody>
          <a:bodyPr/>
          <a:lstStyle/>
          <a:p>
            <a:r>
              <a:rPr lang="en-US" dirty="0"/>
              <a:t>In many parts of the world females still experience discrimination, lack of respect or lack of human rights. This includes reduced access to education, job opportunities and  access to birth control (among others.)</a:t>
            </a:r>
          </a:p>
          <a:p>
            <a:r>
              <a:rPr lang="en-US" b="1" dirty="0"/>
              <a:t>We will look at this further later in the course! (GET EXCITED!!!)</a:t>
            </a:r>
          </a:p>
          <a:p>
            <a:endParaRPr lang="en-AU" dirty="0"/>
          </a:p>
        </p:txBody>
      </p:sp>
    </p:spTree>
    <p:extLst>
      <p:ext uri="{BB962C8B-B14F-4D97-AF65-F5344CB8AC3E}">
        <p14:creationId xmlns:p14="http://schemas.microsoft.com/office/powerpoint/2010/main" val="3013699547"/>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44BE32-4FAF-4542-A457-1BCE99A2A627}"/>
              </a:ext>
            </a:extLst>
          </p:cNvPr>
          <p:cNvSpPr>
            <a:spLocks noGrp="1"/>
          </p:cNvSpPr>
          <p:nvPr>
            <p:ph type="title"/>
          </p:nvPr>
        </p:nvSpPr>
        <p:spPr/>
        <p:txBody>
          <a:bodyPr/>
          <a:lstStyle/>
          <a:p>
            <a:r>
              <a:rPr lang="en-US" dirty="0"/>
              <a:t>unemployment</a:t>
            </a:r>
            <a:endParaRPr lang="en-AU" dirty="0"/>
          </a:p>
        </p:txBody>
      </p:sp>
      <p:sp>
        <p:nvSpPr>
          <p:cNvPr id="3" name="Content Placeholder 2">
            <a:extLst>
              <a:ext uri="{FF2B5EF4-FFF2-40B4-BE49-F238E27FC236}">
                <a16:creationId xmlns:a16="http://schemas.microsoft.com/office/drawing/2014/main" id="{07F6F7AF-8645-4AD9-8A35-A0F594158472}"/>
              </a:ext>
            </a:extLst>
          </p:cNvPr>
          <p:cNvSpPr>
            <a:spLocks noGrp="1"/>
          </p:cNvSpPr>
          <p:nvPr>
            <p:ph idx="1"/>
          </p:nvPr>
        </p:nvSpPr>
        <p:spPr/>
        <p:txBody>
          <a:bodyPr/>
          <a:lstStyle/>
          <a:p>
            <a:r>
              <a:rPr lang="en-US" dirty="0"/>
              <a:t>Those who are unemployed experience social isolation, discrimination and are lower on the social gradient.</a:t>
            </a:r>
            <a:endParaRPr lang="en-US" b="1" dirty="0"/>
          </a:p>
          <a:p>
            <a:r>
              <a:rPr lang="en-AU" dirty="0"/>
              <a:t>Unemployment causes stress (which reduces health status and the capacity to contribute to society)</a:t>
            </a:r>
          </a:p>
          <a:p>
            <a:r>
              <a:rPr lang="en-AU" dirty="0"/>
              <a:t>Unemployment is linked to low income which reduces access to services and healthcare. </a:t>
            </a:r>
          </a:p>
        </p:txBody>
      </p:sp>
    </p:spTree>
    <p:extLst>
      <p:ext uri="{BB962C8B-B14F-4D97-AF65-F5344CB8AC3E}">
        <p14:creationId xmlns:p14="http://schemas.microsoft.com/office/powerpoint/2010/main" val="1852269353"/>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44BE32-4FAF-4542-A457-1BCE99A2A627}"/>
              </a:ext>
            </a:extLst>
          </p:cNvPr>
          <p:cNvSpPr>
            <a:spLocks noGrp="1"/>
          </p:cNvSpPr>
          <p:nvPr>
            <p:ph type="title"/>
          </p:nvPr>
        </p:nvSpPr>
        <p:spPr/>
        <p:txBody>
          <a:bodyPr/>
          <a:lstStyle/>
          <a:p>
            <a:r>
              <a:rPr lang="en-US" dirty="0"/>
              <a:t>Dislocation of land</a:t>
            </a:r>
            <a:endParaRPr lang="en-AU" dirty="0"/>
          </a:p>
        </p:txBody>
      </p:sp>
      <p:sp>
        <p:nvSpPr>
          <p:cNvPr id="3" name="Content Placeholder 2">
            <a:extLst>
              <a:ext uri="{FF2B5EF4-FFF2-40B4-BE49-F238E27FC236}">
                <a16:creationId xmlns:a16="http://schemas.microsoft.com/office/drawing/2014/main" id="{07F6F7AF-8645-4AD9-8A35-A0F594158472}"/>
              </a:ext>
            </a:extLst>
          </p:cNvPr>
          <p:cNvSpPr>
            <a:spLocks noGrp="1"/>
          </p:cNvSpPr>
          <p:nvPr>
            <p:ph idx="1"/>
          </p:nvPr>
        </p:nvSpPr>
        <p:spPr/>
        <p:txBody>
          <a:bodyPr/>
          <a:lstStyle/>
          <a:p>
            <a:r>
              <a:rPr lang="en-US" dirty="0"/>
              <a:t>Dislocation of land refers to the disconnect that one feels to their place of safety, acceptance and “home”. It is often felt by those displaced due to war/conflict or by natural disasters. </a:t>
            </a:r>
          </a:p>
          <a:p>
            <a:r>
              <a:rPr lang="en-US" dirty="0"/>
              <a:t>Refugees, specific tribal groups and people that have experienced natural disasters may feel lost or disoriented in their new residence.</a:t>
            </a:r>
          </a:p>
          <a:p>
            <a:r>
              <a:rPr lang="en-US" dirty="0" err="1"/>
              <a:t>E.g</a:t>
            </a:r>
            <a:r>
              <a:rPr lang="en-US" dirty="0"/>
              <a:t> Being forced to flee from the conflict in Syria to somewhere like Australia often causes one to feel disconnected from their old cultural “home” including distance from sacred religious and cultural sites and communities. (causes stress and loss of identity)</a:t>
            </a:r>
          </a:p>
          <a:p>
            <a:endParaRPr lang="en-AU" dirty="0"/>
          </a:p>
        </p:txBody>
      </p:sp>
    </p:spTree>
    <p:extLst>
      <p:ext uri="{BB962C8B-B14F-4D97-AF65-F5344CB8AC3E}">
        <p14:creationId xmlns:p14="http://schemas.microsoft.com/office/powerpoint/2010/main" val="1229474157"/>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CF32B8-51D9-45D2-A587-38E94817BD0C}"/>
              </a:ext>
            </a:extLst>
          </p:cNvPr>
          <p:cNvSpPr>
            <a:spLocks noGrp="1"/>
          </p:cNvSpPr>
          <p:nvPr>
            <p:ph type="title"/>
          </p:nvPr>
        </p:nvSpPr>
        <p:spPr/>
        <p:txBody>
          <a:bodyPr/>
          <a:lstStyle/>
          <a:p>
            <a:r>
              <a:rPr lang="en-US" dirty="0"/>
              <a:t>Access to and level of education</a:t>
            </a:r>
            <a:endParaRPr lang="en-AU" dirty="0"/>
          </a:p>
        </p:txBody>
      </p:sp>
      <p:sp>
        <p:nvSpPr>
          <p:cNvPr id="3" name="Content Placeholder 2">
            <a:extLst>
              <a:ext uri="{FF2B5EF4-FFF2-40B4-BE49-F238E27FC236}">
                <a16:creationId xmlns:a16="http://schemas.microsoft.com/office/drawing/2014/main" id="{D926CBE5-AA5D-4567-B0A6-047202CFD7BF}"/>
              </a:ext>
            </a:extLst>
          </p:cNvPr>
          <p:cNvSpPr>
            <a:spLocks noGrp="1"/>
          </p:cNvSpPr>
          <p:nvPr>
            <p:ph idx="1"/>
          </p:nvPr>
        </p:nvSpPr>
        <p:spPr/>
        <p:txBody>
          <a:bodyPr/>
          <a:lstStyle/>
          <a:p>
            <a:r>
              <a:rPr lang="en-US" dirty="0"/>
              <a:t>This has two components: level of </a:t>
            </a:r>
            <a:r>
              <a:rPr lang="en-US" b="1" dirty="0"/>
              <a:t>access </a:t>
            </a:r>
            <a:r>
              <a:rPr lang="en-US" dirty="0"/>
              <a:t>and level of </a:t>
            </a:r>
            <a:r>
              <a:rPr lang="en-US" b="1" dirty="0"/>
              <a:t>quality </a:t>
            </a:r>
            <a:r>
              <a:rPr lang="en-US" dirty="0"/>
              <a:t>of education.</a:t>
            </a:r>
          </a:p>
          <a:p>
            <a:r>
              <a:rPr lang="en-US" dirty="0"/>
              <a:t>Individuals and populations who have reduced access (</a:t>
            </a:r>
            <a:r>
              <a:rPr lang="en-US" dirty="0" err="1"/>
              <a:t>ie</a:t>
            </a:r>
            <a:r>
              <a:rPr lang="en-US" dirty="0"/>
              <a:t> geographical location or cultural norms of girls not receiving education) tend to have lower levels of health literacy and therefore poorer health.</a:t>
            </a:r>
          </a:p>
          <a:p>
            <a:r>
              <a:rPr lang="en-AU" dirty="0"/>
              <a:t>Quality refers to the length of education and quality of curriculum, assessment and teaching. (poorer quality education leads to reduced educational outcomes and generally poorer health in later life)</a:t>
            </a:r>
            <a:endParaRPr lang="en-US" dirty="0"/>
          </a:p>
        </p:txBody>
      </p:sp>
    </p:spTree>
    <p:extLst>
      <p:ext uri="{BB962C8B-B14F-4D97-AF65-F5344CB8AC3E}">
        <p14:creationId xmlns:p14="http://schemas.microsoft.com/office/powerpoint/2010/main" val="2593865274"/>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65FE9B-8F68-40CE-B148-6204BA4F9FFC}"/>
              </a:ext>
            </a:extLst>
          </p:cNvPr>
          <p:cNvSpPr>
            <a:spLocks noGrp="1"/>
          </p:cNvSpPr>
          <p:nvPr>
            <p:ph type="title"/>
          </p:nvPr>
        </p:nvSpPr>
        <p:spPr/>
        <p:txBody>
          <a:bodyPr/>
          <a:lstStyle/>
          <a:p>
            <a:r>
              <a:rPr lang="en-US" dirty="0"/>
              <a:t>racism</a:t>
            </a:r>
            <a:endParaRPr lang="en-AU" dirty="0"/>
          </a:p>
        </p:txBody>
      </p:sp>
      <p:sp>
        <p:nvSpPr>
          <p:cNvPr id="3" name="Content Placeholder 2">
            <a:extLst>
              <a:ext uri="{FF2B5EF4-FFF2-40B4-BE49-F238E27FC236}">
                <a16:creationId xmlns:a16="http://schemas.microsoft.com/office/drawing/2014/main" id="{08BC9FF3-C55D-4A13-9232-2C0B76C21905}"/>
              </a:ext>
            </a:extLst>
          </p:cNvPr>
          <p:cNvSpPr>
            <a:spLocks noGrp="1"/>
          </p:cNvSpPr>
          <p:nvPr>
            <p:ph idx="1"/>
          </p:nvPr>
        </p:nvSpPr>
        <p:spPr/>
        <p:txBody>
          <a:bodyPr/>
          <a:lstStyle/>
          <a:p>
            <a:r>
              <a:rPr lang="en-US" dirty="0"/>
              <a:t>Groups that experience racism will feel socially isolated or discriminated against. </a:t>
            </a:r>
          </a:p>
          <a:p>
            <a:r>
              <a:rPr lang="en-US" dirty="0"/>
              <a:t>This is likely to lead to a reduction in their ability to access to support or health services which lowers their health status. </a:t>
            </a:r>
            <a:endParaRPr lang="en-US" b="1" dirty="0"/>
          </a:p>
          <a:p>
            <a:r>
              <a:rPr lang="en-AU" dirty="0"/>
              <a:t>Racism can also impact socioeconomic status through education and employment opportunities. </a:t>
            </a:r>
          </a:p>
          <a:p>
            <a:r>
              <a:rPr lang="en-AU" dirty="0"/>
              <a:t>Consider racism through the Black Lives Matter movement regarding police brutality that occurs in racist ways in both the US and Australia.</a:t>
            </a:r>
          </a:p>
        </p:txBody>
      </p:sp>
    </p:spTree>
    <p:extLst>
      <p:ext uri="{BB962C8B-B14F-4D97-AF65-F5344CB8AC3E}">
        <p14:creationId xmlns:p14="http://schemas.microsoft.com/office/powerpoint/2010/main" val="2304075861"/>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0B11EB-47C3-4F29-A568-6356049055BD}"/>
              </a:ext>
            </a:extLst>
          </p:cNvPr>
          <p:cNvSpPr>
            <a:spLocks noGrp="1"/>
          </p:cNvSpPr>
          <p:nvPr>
            <p:ph type="title"/>
          </p:nvPr>
        </p:nvSpPr>
        <p:spPr/>
        <p:txBody>
          <a:bodyPr/>
          <a:lstStyle/>
          <a:p>
            <a:r>
              <a:rPr lang="en-US" dirty="0"/>
              <a:t>Socioeconomic status</a:t>
            </a:r>
            <a:endParaRPr lang="en-AU" dirty="0"/>
          </a:p>
        </p:txBody>
      </p:sp>
      <p:sp>
        <p:nvSpPr>
          <p:cNvPr id="3" name="Content Placeholder 2">
            <a:extLst>
              <a:ext uri="{FF2B5EF4-FFF2-40B4-BE49-F238E27FC236}">
                <a16:creationId xmlns:a16="http://schemas.microsoft.com/office/drawing/2014/main" id="{DF3268C6-0996-4CC8-BB68-A9A7A03665EF}"/>
              </a:ext>
            </a:extLst>
          </p:cNvPr>
          <p:cNvSpPr>
            <a:spLocks noGrp="1"/>
          </p:cNvSpPr>
          <p:nvPr>
            <p:ph idx="1"/>
          </p:nvPr>
        </p:nvSpPr>
        <p:spPr/>
        <p:txBody>
          <a:bodyPr/>
          <a:lstStyle/>
          <a:p>
            <a:r>
              <a:rPr lang="en-US" dirty="0"/>
              <a:t>Socioeconomic status refers to an individual or communities total measure of economic and social position in relation to others.</a:t>
            </a:r>
          </a:p>
          <a:p>
            <a:r>
              <a:rPr lang="en-US" dirty="0"/>
              <a:t>People that are low on the social gradient will experience poorer health than those that are higher on the social gradient because they cannot afford health products and services to improve their health. </a:t>
            </a:r>
            <a:endParaRPr lang="en-AU" dirty="0"/>
          </a:p>
          <a:p>
            <a:r>
              <a:rPr lang="en-AU" dirty="0"/>
              <a:t>LSES is also associated with unemployment, reduced access to quality education, social exclusion and geographical remoteness.</a:t>
            </a:r>
          </a:p>
        </p:txBody>
      </p:sp>
    </p:spTree>
    <p:extLst>
      <p:ext uri="{BB962C8B-B14F-4D97-AF65-F5344CB8AC3E}">
        <p14:creationId xmlns:p14="http://schemas.microsoft.com/office/powerpoint/2010/main" val="2366625371"/>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“HUG SAD rag dogs” (mnemonic device)</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108773" y="1697063"/>
            <a:ext cx="6042617" cy="4531963"/>
          </a:xfrm>
          <a:prstGeom prst="rect">
            <a:avLst/>
          </a:prstGeom>
        </p:spPr>
      </p:pic>
    </p:spTree>
    <p:extLst>
      <p:ext uri="{BB962C8B-B14F-4D97-AF65-F5344CB8AC3E}">
        <p14:creationId xmlns:p14="http://schemas.microsoft.com/office/powerpoint/2010/main" val="8225576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395567-7744-4D40-BA1B-4F1444DB5E63}"/>
              </a:ext>
            </a:extLst>
          </p:cNvPr>
          <p:cNvSpPr>
            <a:spLocks noGrp="1"/>
          </p:cNvSpPr>
          <p:nvPr>
            <p:ph type="title"/>
          </p:nvPr>
        </p:nvSpPr>
        <p:spPr/>
        <p:txBody>
          <a:bodyPr/>
          <a:lstStyle/>
          <a:p>
            <a:r>
              <a:rPr lang="en-US" dirty="0"/>
              <a:t>Past </a:t>
            </a:r>
            <a:r>
              <a:rPr lang="en-US" dirty="0" err="1"/>
              <a:t>wace</a:t>
            </a:r>
            <a:r>
              <a:rPr lang="en-US" dirty="0"/>
              <a:t> question</a:t>
            </a:r>
            <a:endParaRPr lang="en-AU" dirty="0"/>
          </a:p>
        </p:txBody>
      </p:sp>
      <p:sp>
        <p:nvSpPr>
          <p:cNvPr id="3" name="Content Placeholder 2">
            <a:extLst>
              <a:ext uri="{FF2B5EF4-FFF2-40B4-BE49-F238E27FC236}">
                <a16:creationId xmlns:a16="http://schemas.microsoft.com/office/drawing/2014/main" id="{6BF4E4D9-CF36-45AF-8EBE-3E704A23EA8E}"/>
              </a:ext>
            </a:extLst>
          </p:cNvPr>
          <p:cNvSpPr>
            <a:spLocks noGrp="1"/>
          </p:cNvSpPr>
          <p:nvPr>
            <p:ph idx="1"/>
          </p:nvPr>
        </p:nvSpPr>
        <p:spPr/>
        <p:txBody>
          <a:bodyPr/>
          <a:lstStyle/>
          <a:p>
            <a:r>
              <a:rPr lang="en-US" dirty="0"/>
              <a:t>Complete question 23a from the 2018 WACE exam. </a:t>
            </a:r>
          </a:p>
          <a:p>
            <a:endParaRPr lang="en-AU" dirty="0"/>
          </a:p>
        </p:txBody>
      </p:sp>
    </p:spTree>
    <p:extLst>
      <p:ext uri="{BB962C8B-B14F-4D97-AF65-F5344CB8AC3E}">
        <p14:creationId xmlns:p14="http://schemas.microsoft.com/office/powerpoint/2010/main" val="2709498425"/>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Needs Assessment</a:t>
            </a:r>
          </a:p>
        </p:txBody>
      </p:sp>
      <p:sp>
        <p:nvSpPr>
          <p:cNvPr id="3" name="Subtitle 2"/>
          <p:cNvSpPr>
            <a:spLocks noGrp="1"/>
          </p:cNvSpPr>
          <p:nvPr>
            <p:ph type="subTitle" idx="1"/>
          </p:nvPr>
        </p:nvSpPr>
        <p:spPr/>
        <p:txBody>
          <a:bodyPr>
            <a:normAutofit/>
          </a:bodyPr>
          <a:lstStyle/>
          <a:p>
            <a:r>
              <a:rPr lang="en-US" sz="2200" dirty="0"/>
              <a:t>Term 1</a:t>
            </a:r>
          </a:p>
          <a:p>
            <a:r>
              <a:rPr lang="en-US" sz="2200" dirty="0"/>
              <a:t>Week 6</a:t>
            </a:r>
          </a:p>
        </p:txBody>
      </p:sp>
    </p:spTree>
    <p:extLst>
      <p:ext uri="{BB962C8B-B14F-4D97-AF65-F5344CB8AC3E}">
        <p14:creationId xmlns:p14="http://schemas.microsoft.com/office/powerpoint/2010/main" val="481940892"/>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9E4C68A-A4A9-48A4-9FF2-D2896B1EA01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E2B9AEA5-52CB-49A6-AF8A-33502F291B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654296"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964788" y="804333"/>
            <a:ext cx="3302412" cy="5249334"/>
          </a:xfrm>
        </p:spPr>
        <p:txBody>
          <a:bodyPr>
            <a:normAutofit/>
          </a:bodyPr>
          <a:lstStyle/>
          <a:p>
            <a:pPr algn="r"/>
            <a:r>
              <a:rPr lang="en-US" dirty="0">
                <a:solidFill>
                  <a:srgbClr val="FFFFFF"/>
                </a:solidFill>
              </a:rPr>
              <a:t>Syllabus content</a:t>
            </a:r>
          </a:p>
        </p:txBody>
      </p:sp>
      <p:sp>
        <p:nvSpPr>
          <p:cNvPr id="3" name="Content Placeholder 2"/>
          <p:cNvSpPr>
            <a:spLocks noGrp="1"/>
          </p:cNvSpPr>
          <p:nvPr>
            <p:ph idx="1"/>
          </p:nvPr>
        </p:nvSpPr>
        <p:spPr>
          <a:xfrm>
            <a:off x="5109883" y="804333"/>
            <a:ext cx="2960967" cy="5249334"/>
          </a:xfrm>
        </p:spPr>
        <p:txBody>
          <a:bodyPr numCol="1" anchor="ctr">
            <a:normAutofit/>
          </a:bodyPr>
          <a:lstStyle/>
          <a:p>
            <a:pPr lvl="0">
              <a:buFont typeface="Wingdings" charset="2"/>
              <a:buChar char="v"/>
            </a:pPr>
            <a:r>
              <a:rPr lang="en-AU" dirty="0"/>
              <a:t> Purpose of a Needs assessment</a:t>
            </a:r>
          </a:p>
          <a:p>
            <a:pPr marL="0" lvl="0" indent="0">
              <a:buNone/>
            </a:pPr>
            <a:endParaRPr lang="en-GB" dirty="0"/>
          </a:p>
          <a:p>
            <a:pPr>
              <a:buFont typeface="Wingdings" charset="2"/>
              <a:buChar char="v"/>
            </a:pPr>
            <a:r>
              <a:rPr lang="en-AU" dirty="0"/>
              <a:t> Types of Need</a:t>
            </a:r>
            <a:endParaRPr lang="en-GB" dirty="0"/>
          </a:p>
          <a:p>
            <a:pPr lvl="0">
              <a:buFont typeface="Arial" charset="0"/>
              <a:buChar char="•"/>
            </a:pPr>
            <a:r>
              <a:rPr lang="en-AU" dirty="0"/>
              <a:t> Comparative</a:t>
            </a:r>
            <a:endParaRPr lang="en-GB" dirty="0"/>
          </a:p>
          <a:p>
            <a:pPr lvl="0">
              <a:buFont typeface="Arial" charset="0"/>
              <a:buChar char="•"/>
            </a:pPr>
            <a:r>
              <a:rPr lang="en-AU" dirty="0"/>
              <a:t> Felt</a:t>
            </a:r>
            <a:endParaRPr lang="en-GB" dirty="0"/>
          </a:p>
          <a:p>
            <a:pPr lvl="0">
              <a:buFont typeface="Arial" charset="0"/>
              <a:buChar char="•"/>
            </a:pPr>
            <a:r>
              <a:rPr lang="en-AU" dirty="0"/>
              <a:t> Expressed</a:t>
            </a:r>
            <a:endParaRPr lang="en-GB" dirty="0"/>
          </a:p>
          <a:p>
            <a:pPr lvl="0">
              <a:buFont typeface="Arial" charset="0"/>
              <a:buChar char="•"/>
            </a:pPr>
            <a:r>
              <a:rPr lang="en-AU" dirty="0"/>
              <a:t> Normative</a:t>
            </a:r>
          </a:p>
          <a:p>
            <a:pPr lvl="0">
              <a:buFont typeface="Arial" charset="0"/>
              <a:buChar char="•"/>
            </a:pPr>
            <a:endParaRPr lang="en-AU" dirty="0"/>
          </a:p>
        </p:txBody>
      </p:sp>
      <p:sp>
        <p:nvSpPr>
          <p:cNvPr id="6" name="Content Placeholder 2">
            <a:extLst>
              <a:ext uri="{FF2B5EF4-FFF2-40B4-BE49-F238E27FC236}">
                <a16:creationId xmlns:a16="http://schemas.microsoft.com/office/drawing/2014/main" id="{75D3E970-69F8-47E2-9653-F578AF13B052}"/>
              </a:ext>
            </a:extLst>
          </p:cNvPr>
          <p:cNvSpPr txBox="1">
            <a:spLocks/>
          </p:cNvSpPr>
          <p:nvPr/>
        </p:nvSpPr>
        <p:spPr>
          <a:xfrm>
            <a:off x="8413751" y="366183"/>
            <a:ext cx="3657602" cy="5249334"/>
          </a:xfrm>
          <a:prstGeom prst="rect">
            <a:avLst/>
          </a:prstGeom>
        </p:spPr>
        <p:txBody>
          <a:bodyPr vert="horz" lIns="45720" tIns="45720" rIns="45720" bIns="45720" numCol="1" rtlCol="0" anchor="ctr">
            <a:normAutofit/>
          </a:bodyPr>
          <a:lstStyle>
            <a:lvl1pPr marL="91440" indent="-91440" algn="l" defTabSz="914400" rtl="0" eaLnBrk="1" latinLnBrk="0" hangingPunct="1">
              <a:lnSpc>
                <a:spcPct val="90000"/>
              </a:lnSpc>
              <a:spcBef>
                <a:spcPts val="1200"/>
              </a:spcBef>
              <a:spcAft>
                <a:spcPts val="200"/>
              </a:spcAft>
              <a:buClr>
                <a:schemeClr val="accent2"/>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2"/>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9pPr>
          </a:lstStyle>
          <a:p>
            <a:pPr>
              <a:buFont typeface="Arial" charset="0"/>
              <a:buChar char="•"/>
            </a:pPr>
            <a:endParaRPr lang="en-GB" dirty="0"/>
          </a:p>
          <a:p>
            <a:pPr>
              <a:buFont typeface="Wingdings" charset="2"/>
              <a:buChar char="v"/>
            </a:pPr>
            <a:r>
              <a:rPr lang="en-AU" dirty="0"/>
              <a:t> Steps in Needs Assessment</a:t>
            </a:r>
            <a:endParaRPr lang="en-GB" dirty="0"/>
          </a:p>
          <a:p>
            <a:pPr>
              <a:buFont typeface="Arial" charset="0"/>
              <a:buChar char="•"/>
            </a:pPr>
            <a:r>
              <a:rPr lang="en-AU" dirty="0"/>
              <a:t> Identifying health issues</a:t>
            </a:r>
            <a:endParaRPr lang="en-GB" dirty="0"/>
          </a:p>
          <a:p>
            <a:pPr>
              <a:buFont typeface="Arial" charset="0"/>
              <a:buChar char="•"/>
            </a:pPr>
            <a:r>
              <a:rPr lang="en-AU" dirty="0"/>
              <a:t> Analysis of the problem</a:t>
            </a:r>
            <a:endParaRPr lang="en-GB" dirty="0"/>
          </a:p>
          <a:p>
            <a:pPr>
              <a:buFont typeface="Arial" charset="0"/>
              <a:buChar char="•"/>
            </a:pPr>
            <a:r>
              <a:rPr lang="en-AU" dirty="0"/>
              <a:t> Prioritising issues</a:t>
            </a:r>
            <a:endParaRPr lang="en-GB" dirty="0"/>
          </a:p>
          <a:p>
            <a:pPr>
              <a:buFont typeface="Arial" charset="0"/>
              <a:buChar char="•"/>
            </a:pPr>
            <a:r>
              <a:rPr lang="en-AU" dirty="0"/>
              <a:t> Setting goals</a:t>
            </a:r>
            <a:endParaRPr lang="en-GB" dirty="0"/>
          </a:p>
          <a:p>
            <a:pPr>
              <a:buFont typeface="Arial" charset="0"/>
              <a:buChar char="•"/>
            </a:pPr>
            <a:r>
              <a:rPr lang="en-AU" dirty="0"/>
              <a:t> Determining strategies</a:t>
            </a:r>
            <a:endParaRPr lang="en-GB" dirty="0"/>
          </a:p>
          <a:p>
            <a:pPr>
              <a:buFont typeface="Arial" charset="0"/>
              <a:buChar char="•"/>
            </a:pPr>
            <a:r>
              <a:rPr lang="en-AU" dirty="0"/>
              <a:t> Developing action plans</a:t>
            </a:r>
            <a:endParaRPr lang="en-GB" dirty="0"/>
          </a:p>
          <a:p>
            <a:pPr>
              <a:buFont typeface="Arial" charset="0"/>
              <a:buChar char="•"/>
            </a:pPr>
            <a:r>
              <a:rPr lang="en-AU" dirty="0"/>
              <a:t> Evaluating outcomes</a:t>
            </a:r>
            <a:endParaRPr lang="en-GB" dirty="0"/>
          </a:p>
        </p:txBody>
      </p:sp>
    </p:spTree>
    <p:extLst>
      <p:ext uri="{BB962C8B-B14F-4D97-AF65-F5344CB8AC3E}">
        <p14:creationId xmlns:p14="http://schemas.microsoft.com/office/powerpoint/2010/main" val="1819739007"/>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810787-AAD6-4C8A-8AFD-C9278EB8EDA7}"/>
              </a:ext>
            </a:extLst>
          </p:cNvPr>
          <p:cNvSpPr>
            <a:spLocks noGrp="1"/>
          </p:cNvSpPr>
          <p:nvPr>
            <p:ph type="title"/>
          </p:nvPr>
        </p:nvSpPr>
        <p:spPr/>
        <p:txBody>
          <a:bodyPr/>
          <a:lstStyle/>
          <a:p>
            <a:r>
              <a:rPr lang="en-US" dirty="0"/>
              <a:t>Types of need</a:t>
            </a:r>
            <a:endParaRPr lang="en-AU" dirty="0"/>
          </a:p>
        </p:txBody>
      </p:sp>
      <p:sp>
        <p:nvSpPr>
          <p:cNvPr id="3" name="Content Placeholder 2">
            <a:extLst>
              <a:ext uri="{FF2B5EF4-FFF2-40B4-BE49-F238E27FC236}">
                <a16:creationId xmlns:a16="http://schemas.microsoft.com/office/drawing/2014/main" id="{65D5F3DF-4E6C-4050-9DD1-3E27FB54035C}"/>
              </a:ext>
            </a:extLst>
          </p:cNvPr>
          <p:cNvSpPr>
            <a:spLocks noGrp="1"/>
          </p:cNvSpPr>
          <p:nvPr>
            <p:ph idx="1"/>
          </p:nvPr>
        </p:nvSpPr>
        <p:spPr/>
        <p:txBody>
          <a:bodyPr/>
          <a:lstStyle/>
          <a:p>
            <a:r>
              <a:rPr lang="en-US" dirty="0"/>
              <a:t>There are four types of need: </a:t>
            </a:r>
            <a:r>
              <a:rPr lang="en-US" b="1" dirty="0"/>
              <a:t>Felt, Expressed, Comparative and Normative.</a:t>
            </a:r>
          </a:p>
          <a:p>
            <a:endParaRPr lang="en-US" dirty="0"/>
          </a:p>
          <a:p>
            <a:r>
              <a:rPr lang="en-US" dirty="0"/>
              <a:t>We are going to define each, and apply them to an example:</a:t>
            </a:r>
          </a:p>
          <a:p>
            <a:r>
              <a:rPr lang="en-US" dirty="0"/>
              <a:t>The example is the needs of an elderly population within an aged care facility.</a:t>
            </a:r>
            <a:endParaRPr lang="en-AU" dirty="0"/>
          </a:p>
        </p:txBody>
      </p:sp>
    </p:spTree>
    <p:extLst>
      <p:ext uri="{BB962C8B-B14F-4D97-AF65-F5344CB8AC3E}">
        <p14:creationId xmlns:p14="http://schemas.microsoft.com/office/powerpoint/2010/main" val="3517182484"/>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94E6F8-F687-4131-A9BD-A644B8825142}"/>
              </a:ext>
            </a:extLst>
          </p:cNvPr>
          <p:cNvSpPr>
            <a:spLocks noGrp="1"/>
          </p:cNvSpPr>
          <p:nvPr>
            <p:ph type="title"/>
          </p:nvPr>
        </p:nvSpPr>
        <p:spPr/>
        <p:txBody>
          <a:bodyPr/>
          <a:lstStyle/>
          <a:p>
            <a:r>
              <a:rPr lang="en-US" dirty="0"/>
              <a:t>Felt need</a:t>
            </a:r>
            <a:endParaRPr lang="en-AU" dirty="0"/>
          </a:p>
        </p:txBody>
      </p:sp>
      <p:sp>
        <p:nvSpPr>
          <p:cNvPr id="3" name="Content Placeholder 2">
            <a:extLst>
              <a:ext uri="{FF2B5EF4-FFF2-40B4-BE49-F238E27FC236}">
                <a16:creationId xmlns:a16="http://schemas.microsoft.com/office/drawing/2014/main" id="{0302501A-7011-453E-BAA1-B381E52974B1}"/>
              </a:ext>
            </a:extLst>
          </p:cNvPr>
          <p:cNvSpPr>
            <a:spLocks noGrp="1"/>
          </p:cNvSpPr>
          <p:nvPr>
            <p:ph idx="1"/>
          </p:nvPr>
        </p:nvSpPr>
        <p:spPr/>
        <p:txBody>
          <a:bodyPr/>
          <a:lstStyle/>
          <a:p>
            <a:r>
              <a:rPr lang="en-US" dirty="0"/>
              <a:t>This is a need that an individual or community perceives for themselves.</a:t>
            </a:r>
          </a:p>
          <a:p>
            <a:r>
              <a:rPr lang="en-US" dirty="0"/>
              <a:t>You are identifying FELT NEEDS if you conduct a survey to gather information.</a:t>
            </a:r>
          </a:p>
          <a:p>
            <a:endParaRPr lang="en-US" dirty="0"/>
          </a:p>
          <a:p>
            <a:r>
              <a:rPr lang="en-US" b="1" dirty="0"/>
              <a:t>EXAMPLE: </a:t>
            </a:r>
          </a:p>
          <a:p>
            <a:r>
              <a:rPr lang="en-US" b="1" dirty="0"/>
              <a:t>Asking the elderly what they feel that the facility can do to provide a better service for them (</a:t>
            </a:r>
            <a:r>
              <a:rPr lang="en-US" b="1" dirty="0" err="1"/>
              <a:t>ie</a:t>
            </a:r>
            <a:r>
              <a:rPr lang="en-US" b="1" dirty="0"/>
              <a:t>. Asking their opinions via a survey)</a:t>
            </a:r>
          </a:p>
          <a:p>
            <a:endParaRPr lang="en-AU" dirty="0"/>
          </a:p>
        </p:txBody>
      </p:sp>
    </p:spTree>
    <p:extLst>
      <p:ext uri="{BB962C8B-B14F-4D97-AF65-F5344CB8AC3E}">
        <p14:creationId xmlns:p14="http://schemas.microsoft.com/office/powerpoint/2010/main" val="1902295949"/>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94E6F8-F687-4131-A9BD-A644B8825142}"/>
              </a:ext>
            </a:extLst>
          </p:cNvPr>
          <p:cNvSpPr>
            <a:spLocks noGrp="1"/>
          </p:cNvSpPr>
          <p:nvPr>
            <p:ph type="title"/>
          </p:nvPr>
        </p:nvSpPr>
        <p:spPr/>
        <p:txBody>
          <a:bodyPr/>
          <a:lstStyle/>
          <a:p>
            <a:r>
              <a:rPr lang="en-US" dirty="0"/>
              <a:t>EXPRESSED need</a:t>
            </a:r>
            <a:endParaRPr lang="en-AU" dirty="0"/>
          </a:p>
        </p:txBody>
      </p:sp>
      <p:sp>
        <p:nvSpPr>
          <p:cNvPr id="3" name="Content Placeholder 2">
            <a:extLst>
              <a:ext uri="{FF2B5EF4-FFF2-40B4-BE49-F238E27FC236}">
                <a16:creationId xmlns:a16="http://schemas.microsoft.com/office/drawing/2014/main" id="{0302501A-7011-453E-BAA1-B381E52974B1}"/>
              </a:ext>
            </a:extLst>
          </p:cNvPr>
          <p:cNvSpPr>
            <a:spLocks noGrp="1"/>
          </p:cNvSpPr>
          <p:nvPr>
            <p:ph idx="1"/>
          </p:nvPr>
        </p:nvSpPr>
        <p:spPr/>
        <p:txBody>
          <a:bodyPr/>
          <a:lstStyle/>
          <a:p>
            <a:r>
              <a:rPr lang="en-US" dirty="0"/>
              <a:t>A felt need that is turned into action becomes an EXPRESSED NEED. When the individual or community acts on their felt need they are expressing it. </a:t>
            </a:r>
            <a:r>
              <a:rPr lang="en-US"/>
              <a:t>(what they demand through action)</a:t>
            </a:r>
            <a:endParaRPr lang="en-US" dirty="0"/>
          </a:p>
          <a:p>
            <a:r>
              <a:rPr lang="en-US" dirty="0"/>
              <a:t>This often includes waiting lists for doctors surgery and hospitalization rates.</a:t>
            </a:r>
          </a:p>
          <a:p>
            <a:endParaRPr lang="en-US" dirty="0"/>
          </a:p>
          <a:p>
            <a:r>
              <a:rPr lang="en-US" b="1" dirty="0"/>
              <a:t>EXAMPLE: </a:t>
            </a:r>
          </a:p>
          <a:p>
            <a:r>
              <a:rPr lang="en-US" b="1" dirty="0"/>
              <a:t>The number of elderly </a:t>
            </a:r>
            <a:r>
              <a:rPr lang="en-US" b="1" dirty="0" err="1"/>
              <a:t>individauls</a:t>
            </a:r>
            <a:r>
              <a:rPr lang="en-US" b="1" dirty="0"/>
              <a:t> who reach out to the in-house counselling service demonstrates their expressed need for counselling and mental health care.</a:t>
            </a:r>
          </a:p>
          <a:p>
            <a:endParaRPr lang="en-AU" dirty="0"/>
          </a:p>
        </p:txBody>
      </p:sp>
    </p:spTree>
    <p:extLst>
      <p:ext uri="{BB962C8B-B14F-4D97-AF65-F5344CB8AC3E}">
        <p14:creationId xmlns:p14="http://schemas.microsoft.com/office/powerpoint/2010/main" val="2272213673"/>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94E6F8-F687-4131-A9BD-A644B8825142}"/>
              </a:ext>
            </a:extLst>
          </p:cNvPr>
          <p:cNvSpPr>
            <a:spLocks noGrp="1"/>
          </p:cNvSpPr>
          <p:nvPr>
            <p:ph type="title"/>
          </p:nvPr>
        </p:nvSpPr>
        <p:spPr/>
        <p:txBody>
          <a:bodyPr/>
          <a:lstStyle/>
          <a:p>
            <a:r>
              <a:rPr lang="en-US" dirty="0"/>
              <a:t>COMPARATIVE need</a:t>
            </a:r>
            <a:endParaRPr lang="en-AU" dirty="0"/>
          </a:p>
        </p:txBody>
      </p:sp>
      <p:sp>
        <p:nvSpPr>
          <p:cNvPr id="3" name="Content Placeholder 2">
            <a:extLst>
              <a:ext uri="{FF2B5EF4-FFF2-40B4-BE49-F238E27FC236}">
                <a16:creationId xmlns:a16="http://schemas.microsoft.com/office/drawing/2014/main" id="{0302501A-7011-453E-BAA1-B381E52974B1}"/>
              </a:ext>
            </a:extLst>
          </p:cNvPr>
          <p:cNvSpPr>
            <a:spLocks noGrp="1"/>
          </p:cNvSpPr>
          <p:nvPr>
            <p:ph idx="1"/>
          </p:nvPr>
        </p:nvSpPr>
        <p:spPr/>
        <p:txBody>
          <a:bodyPr/>
          <a:lstStyle/>
          <a:p>
            <a:r>
              <a:rPr lang="en-AU" sz="2400" dirty="0">
                <a:effectLst/>
              </a:rPr>
              <a:t>Needs that another population (with similar characteristics) demonstrated in the same context. </a:t>
            </a:r>
            <a:endParaRPr lang="en-AU" sz="2400" dirty="0">
              <a:effectLst/>
              <a:latin typeface="Times New Roman"/>
              <a:ea typeface="Lucida Sans Unicode"/>
            </a:endParaRPr>
          </a:p>
          <a:p>
            <a:endParaRPr lang="en-US" dirty="0"/>
          </a:p>
          <a:p>
            <a:r>
              <a:rPr lang="en-US" b="1" dirty="0"/>
              <a:t>EXAMPLE: </a:t>
            </a:r>
          </a:p>
          <a:p>
            <a:r>
              <a:rPr lang="en-US" b="1" dirty="0"/>
              <a:t>If the elderly population in one aged care facility demonstrated the need for more socializing activities to reduce dementia symptoms, it is likely that a different elderly population in another aged care facility would also need more socializing activities. </a:t>
            </a:r>
          </a:p>
          <a:p>
            <a:endParaRPr lang="en-AU" dirty="0"/>
          </a:p>
        </p:txBody>
      </p:sp>
    </p:spTree>
    <p:extLst>
      <p:ext uri="{BB962C8B-B14F-4D97-AF65-F5344CB8AC3E}">
        <p14:creationId xmlns:p14="http://schemas.microsoft.com/office/powerpoint/2010/main" val="1999059621"/>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94E6F8-F687-4131-A9BD-A644B8825142}"/>
              </a:ext>
            </a:extLst>
          </p:cNvPr>
          <p:cNvSpPr>
            <a:spLocks noGrp="1"/>
          </p:cNvSpPr>
          <p:nvPr>
            <p:ph type="title"/>
          </p:nvPr>
        </p:nvSpPr>
        <p:spPr/>
        <p:txBody>
          <a:bodyPr/>
          <a:lstStyle/>
          <a:p>
            <a:r>
              <a:rPr lang="en-US" dirty="0"/>
              <a:t>NORMATIVE need</a:t>
            </a:r>
            <a:endParaRPr lang="en-AU" dirty="0"/>
          </a:p>
        </p:txBody>
      </p:sp>
      <p:sp>
        <p:nvSpPr>
          <p:cNvPr id="3" name="Content Placeholder 2">
            <a:extLst>
              <a:ext uri="{FF2B5EF4-FFF2-40B4-BE49-F238E27FC236}">
                <a16:creationId xmlns:a16="http://schemas.microsoft.com/office/drawing/2014/main" id="{0302501A-7011-453E-BAA1-B381E52974B1}"/>
              </a:ext>
            </a:extLst>
          </p:cNvPr>
          <p:cNvSpPr>
            <a:spLocks noGrp="1"/>
          </p:cNvSpPr>
          <p:nvPr>
            <p:ph idx="1"/>
          </p:nvPr>
        </p:nvSpPr>
        <p:spPr/>
        <p:txBody>
          <a:bodyPr/>
          <a:lstStyle/>
          <a:p>
            <a:r>
              <a:rPr lang="en-AU" sz="2400" dirty="0">
                <a:effectLst/>
              </a:rPr>
              <a:t>NORMATIVE NEEDS are discrepancies between what the individual/community has and what is considered to be the standard (or norm) for that given context</a:t>
            </a:r>
            <a:endParaRPr lang="en-AU" sz="2400" dirty="0">
              <a:effectLst/>
              <a:latin typeface="Times New Roman"/>
              <a:ea typeface="Lucida Sans Unicode"/>
            </a:endParaRPr>
          </a:p>
          <a:p>
            <a:r>
              <a:rPr lang="en-US" dirty="0"/>
              <a:t>The “norm” is usually determined by authority/expert figures in the field.</a:t>
            </a:r>
          </a:p>
          <a:p>
            <a:endParaRPr lang="en-US" b="1" dirty="0">
              <a:solidFill>
                <a:srgbClr val="FF0000"/>
              </a:solidFill>
            </a:endParaRPr>
          </a:p>
          <a:p>
            <a:r>
              <a:rPr lang="en-US" b="1" dirty="0"/>
              <a:t>EXAMPLE: </a:t>
            </a:r>
          </a:p>
          <a:p>
            <a:r>
              <a:rPr lang="en-US" b="1" dirty="0"/>
              <a:t>If the aged care facility does not provide enough ramps and disability access facilities (according to the standards set by legislation) this is an example of a normative need.</a:t>
            </a:r>
          </a:p>
          <a:p>
            <a:endParaRPr lang="en-AU" dirty="0"/>
          </a:p>
        </p:txBody>
      </p:sp>
    </p:spTree>
    <p:extLst>
      <p:ext uri="{BB962C8B-B14F-4D97-AF65-F5344CB8AC3E}">
        <p14:creationId xmlns:p14="http://schemas.microsoft.com/office/powerpoint/2010/main" val="2395866752"/>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is a Needs Assessment?</a:t>
            </a:r>
          </a:p>
        </p:txBody>
      </p:sp>
      <p:sp>
        <p:nvSpPr>
          <p:cNvPr id="3" name="Content Placeholder 2"/>
          <p:cNvSpPr>
            <a:spLocks noGrp="1"/>
          </p:cNvSpPr>
          <p:nvPr>
            <p:ph idx="1"/>
          </p:nvPr>
        </p:nvSpPr>
        <p:spPr/>
        <p:txBody>
          <a:bodyPr>
            <a:normAutofit/>
          </a:bodyPr>
          <a:lstStyle/>
          <a:p>
            <a:r>
              <a:rPr lang="en-US" i="1" dirty="0"/>
              <a:t>“It is a systematic method for reviewing the health issues facing a specific population”</a:t>
            </a:r>
          </a:p>
          <a:p>
            <a:r>
              <a:rPr lang="en-US" i="1" dirty="0"/>
              <a:t>(Lockhart, 2015)</a:t>
            </a:r>
          </a:p>
          <a:p>
            <a:endParaRPr lang="en-US" i="1" dirty="0"/>
          </a:p>
          <a:p>
            <a:pPr>
              <a:buFont typeface="Wingdings" charset="2"/>
              <a:buChar char="v"/>
            </a:pPr>
            <a:r>
              <a:rPr lang="en-US" i="1" dirty="0"/>
              <a:t>Formal </a:t>
            </a:r>
            <a:r>
              <a:rPr lang="en-US" dirty="0"/>
              <a:t>assessments, involving systematic data collection and analysis, usually across one or more ‘sectors’ (e.g. health), and using a pre-defined methodology.</a:t>
            </a:r>
          </a:p>
          <a:p>
            <a:pPr>
              <a:buFont typeface="Wingdings" charset="2"/>
              <a:buChar char="v"/>
            </a:pPr>
            <a:r>
              <a:rPr lang="en-US" i="1" dirty="0"/>
              <a:t>Non-formal </a:t>
            </a:r>
            <a:r>
              <a:rPr lang="en-US" dirty="0"/>
              <a:t>assessment, involving a user-specific and usually unstructured process of information gathering and analysis in relation to a given situation.</a:t>
            </a:r>
          </a:p>
        </p:txBody>
      </p:sp>
    </p:spTree>
    <p:extLst>
      <p:ext uri="{BB962C8B-B14F-4D97-AF65-F5344CB8AC3E}">
        <p14:creationId xmlns:p14="http://schemas.microsoft.com/office/powerpoint/2010/main" val="20388737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Purpose of Needs Assessment</a:t>
            </a:r>
          </a:p>
        </p:txBody>
      </p:sp>
      <p:sp>
        <p:nvSpPr>
          <p:cNvPr id="3" name="Content Placeholder 2"/>
          <p:cNvSpPr>
            <a:spLocks noGrp="1"/>
          </p:cNvSpPr>
          <p:nvPr>
            <p:ph idx="1"/>
          </p:nvPr>
        </p:nvSpPr>
        <p:spPr/>
        <p:txBody>
          <a:bodyPr>
            <a:normAutofit/>
          </a:bodyPr>
          <a:lstStyle/>
          <a:p>
            <a:pPr marL="0" indent="0">
              <a:buNone/>
            </a:pPr>
            <a:r>
              <a:rPr lang="en-US" dirty="0"/>
              <a:t>The main reason for conducting a needs assessment is to inform a decision about what to do in relation to a given situation.</a:t>
            </a:r>
          </a:p>
          <a:p>
            <a:pPr marL="0" indent="0">
              <a:buNone/>
            </a:pPr>
            <a:r>
              <a:rPr lang="en-US" dirty="0"/>
              <a:t>Needs assessment informs decision-making in relation to four main questions:</a:t>
            </a:r>
          </a:p>
          <a:p>
            <a:pPr>
              <a:buFont typeface="Wingdings" charset="2"/>
              <a:buChar char="v"/>
            </a:pPr>
            <a:r>
              <a:rPr lang="en-US" dirty="0"/>
              <a:t>whether to intervene;</a:t>
            </a:r>
          </a:p>
          <a:p>
            <a:pPr>
              <a:buFont typeface="Wingdings" charset="2"/>
              <a:buChar char="v"/>
            </a:pPr>
            <a:r>
              <a:rPr lang="en-US" dirty="0"/>
              <a:t>the nature and scale of the intervention;</a:t>
            </a:r>
          </a:p>
          <a:p>
            <a:pPr>
              <a:buFont typeface="Wingdings" charset="2"/>
              <a:buChar char="v"/>
            </a:pPr>
            <a:r>
              <a:rPr lang="en-US" dirty="0" err="1"/>
              <a:t>prioritisation</a:t>
            </a:r>
            <a:r>
              <a:rPr lang="en-US" dirty="0"/>
              <a:t> and allocation of resources; and</a:t>
            </a:r>
          </a:p>
          <a:p>
            <a:pPr>
              <a:buFont typeface="Wingdings" charset="2"/>
              <a:buChar char="v"/>
            </a:pPr>
            <a:r>
              <a:rPr lang="en-US" dirty="0"/>
              <a:t>program design and planning.</a:t>
            </a:r>
          </a:p>
        </p:txBody>
      </p:sp>
    </p:spTree>
    <p:extLst>
      <p:ext uri="{BB962C8B-B14F-4D97-AF65-F5344CB8AC3E}">
        <p14:creationId xmlns:p14="http://schemas.microsoft.com/office/powerpoint/2010/main" val="14927262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7 Steps in Needs Assessment</a:t>
            </a:r>
          </a:p>
        </p:txBody>
      </p:sp>
      <p:sp>
        <p:nvSpPr>
          <p:cNvPr id="3" name="Content Placeholder 2"/>
          <p:cNvSpPr>
            <a:spLocks noGrp="1"/>
          </p:cNvSpPr>
          <p:nvPr>
            <p:ph idx="1"/>
          </p:nvPr>
        </p:nvSpPr>
        <p:spPr/>
        <p:txBody>
          <a:bodyPr>
            <a:normAutofit/>
          </a:bodyPr>
          <a:lstStyle/>
          <a:p>
            <a:pPr marL="457200" indent="-457200">
              <a:buFont typeface="+mj-lt"/>
              <a:buAutoNum type="arabicPeriod"/>
            </a:pPr>
            <a:r>
              <a:rPr lang="en-US" dirty="0"/>
              <a:t>Identifying health issues</a:t>
            </a:r>
          </a:p>
          <a:p>
            <a:pPr marL="457200" indent="-457200">
              <a:buFont typeface="+mj-lt"/>
              <a:buAutoNum type="arabicPeriod"/>
            </a:pPr>
            <a:r>
              <a:rPr lang="en-US" dirty="0"/>
              <a:t>Analysis of the problem</a:t>
            </a:r>
          </a:p>
          <a:p>
            <a:pPr marL="457200" indent="-457200">
              <a:buFont typeface="+mj-lt"/>
              <a:buAutoNum type="arabicPeriod"/>
            </a:pPr>
            <a:r>
              <a:rPr lang="en-US" dirty="0"/>
              <a:t>Prioritising issues</a:t>
            </a:r>
          </a:p>
          <a:p>
            <a:pPr marL="457200" indent="-457200">
              <a:buFont typeface="+mj-lt"/>
              <a:buAutoNum type="arabicPeriod" startAt="4"/>
            </a:pPr>
            <a:r>
              <a:rPr lang="en-US" dirty="0"/>
              <a:t>Setting goals </a:t>
            </a:r>
          </a:p>
          <a:p>
            <a:pPr marL="457200" indent="-457200">
              <a:buFont typeface="+mj-lt"/>
              <a:buAutoNum type="arabicPeriod" startAt="4"/>
            </a:pPr>
            <a:r>
              <a:rPr lang="en-US" dirty="0"/>
              <a:t>Determining strategies</a:t>
            </a:r>
          </a:p>
          <a:p>
            <a:pPr marL="457200" indent="-457200">
              <a:buFont typeface="+mj-lt"/>
              <a:buAutoNum type="arabicPeriod" startAt="4"/>
            </a:pPr>
            <a:r>
              <a:rPr lang="en-US" dirty="0"/>
              <a:t>Developing action plans</a:t>
            </a:r>
          </a:p>
          <a:p>
            <a:pPr marL="457200" indent="-457200">
              <a:buFont typeface="+mj-lt"/>
              <a:buAutoNum type="arabicPeriod" startAt="4"/>
            </a:pPr>
            <a:r>
              <a:rPr lang="en-US" dirty="0"/>
              <a:t>Evaluating outcomes</a:t>
            </a:r>
            <a:endParaRPr lang="en-AU" dirty="0"/>
          </a:p>
          <a:p>
            <a:pPr marL="457200" indent="-457200">
              <a:buFont typeface="+mj-lt"/>
              <a:buAutoNum type="arabicPeriod"/>
            </a:pPr>
            <a:endParaRPr lang="en-US" dirty="0"/>
          </a:p>
          <a:p>
            <a:endParaRPr lang="en-US" dirty="0"/>
          </a:p>
        </p:txBody>
      </p:sp>
    </p:spTree>
    <p:extLst>
      <p:ext uri="{BB962C8B-B14F-4D97-AF65-F5344CB8AC3E}">
        <p14:creationId xmlns:p14="http://schemas.microsoft.com/office/powerpoint/2010/main" val="13460354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CBA047-CD3F-4FD4-B1B5-32E0A3F2A521}"/>
              </a:ext>
            </a:extLst>
          </p:cNvPr>
          <p:cNvSpPr>
            <a:spLocks noGrp="1"/>
          </p:cNvSpPr>
          <p:nvPr>
            <p:ph type="title"/>
          </p:nvPr>
        </p:nvSpPr>
        <p:spPr/>
        <p:txBody>
          <a:bodyPr/>
          <a:lstStyle/>
          <a:p>
            <a:r>
              <a:rPr lang="en-US" dirty="0"/>
              <a:t>Step 1: Identifying health issues</a:t>
            </a:r>
            <a:endParaRPr lang="en-AU" dirty="0"/>
          </a:p>
        </p:txBody>
      </p:sp>
      <p:sp>
        <p:nvSpPr>
          <p:cNvPr id="3" name="Content Placeholder 2">
            <a:extLst>
              <a:ext uri="{FF2B5EF4-FFF2-40B4-BE49-F238E27FC236}">
                <a16:creationId xmlns:a16="http://schemas.microsoft.com/office/drawing/2014/main" id="{1821777E-99C2-4342-82C1-015C5244EC6F}"/>
              </a:ext>
            </a:extLst>
          </p:cNvPr>
          <p:cNvSpPr>
            <a:spLocks noGrp="1"/>
          </p:cNvSpPr>
          <p:nvPr>
            <p:ph idx="1"/>
          </p:nvPr>
        </p:nvSpPr>
        <p:spPr/>
        <p:txBody>
          <a:bodyPr/>
          <a:lstStyle/>
          <a:p>
            <a:r>
              <a:rPr lang="en-AU" sz="2000" dirty="0"/>
              <a:t>Collecting information regarding the key issues through data, observations and health service utilisation. Use measures of health status such as incidence and prevalence of disease, mortality rates and other key impact indicators.</a:t>
            </a:r>
          </a:p>
          <a:p>
            <a:endParaRPr lang="en-AU" sz="2000" dirty="0"/>
          </a:p>
          <a:p>
            <a:endParaRPr lang="en-AU" dirty="0"/>
          </a:p>
        </p:txBody>
      </p:sp>
    </p:spTree>
    <p:extLst>
      <p:ext uri="{BB962C8B-B14F-4D97-AF65-F5344CB8AC3E}">
        <p14:creationId xmlns:p14="http://schemas.microsoft.com/office/powerpoint/2010/main" val="2544806747"/>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CBA047-CD3F-4FD4-B1B5-32E0A3F2A521}"/>
              </a:ext>
            </a:extLst>
          </p:cNvPr>
          <p:cNvSpPr>
            <a:spLocks noGrp="1"/>
          </p:cNvSpPr>
          <p:nvPr>
            <p:ph type="title"/>
          </p:nvPr>
        </p:nvSpPr>
        <p:spPr/>
        <p:txBody>
          <a:bodyPr/>
          <a:lstStyle/>
          <a:p>
            <a:r>
              <a:rPr lang="en-US" dirty="0"/>
              <a:t>Step 2: </a:t>
            </a:r>
            <a:r>
              <a:rPr lang="en-US" dirty="0" err="1"/>
              <a:t>Analysing</a:t>
            </a:r>
            <a:r>
              <a:rPr lang="en-US" dirty="0"/>
              <a:t> health issues</a:t>
            </a:r>
            <a:endParaRPr lang="en-AU" dirty="0"/>
          </a:p>
        </p:txBody>
      </p:sp>
      <p:sp>
        <p:nvSpPr>
          <p:cNvPr id="3" name="Content Placeholder 2">
            <a:extLst>
              <a:ext uri="{FF2B5EF4-FFF2-40B4-BE49-F238E27FC236}">
                <a16:creationId xmlns:a16="http://schemas.microsoft.com/office/drawing/2014/main" id="{1821777E-99C2-4342-82C1-015C5244EC6F}"/>
              </a:ext>
            </a:extLst>
          </p:cNvPr>
          <p:cNvSpPr>
            <a:spLocks noGrp="1"/>
          </p:cNvSpPr>
          <p:nvPr>
            <p:ph idx="1"/>
          </p:nvPr>
        </p:nvSpPr>
        <p:spPr/>
        <p:txBody>
          <a:bodyPr/>
          <a:lstStyle/>
          <a:p>
            <a:r>
              <a:rPr lang="en-US" sz="2000" dirty="0"/>
              <a:t>Analyse the data collected in step one. </a:t>
            </a:r>
          </a:p>
          <a:p>
            <a:r>
              <a:rPr lang="en-US" sz="2000" dirty="0"/>
              <a:t>What is the impact of each issue? </a:t>
            </a:r>
          </a:p>
          <a:p>
            <a:r>
              <a:rPr lang="en-US" sz="2000" dirty="0"/>
              <a:t>Who is impacted and how severe is the impact?</a:t>
            </a:r>
          </a:p>
          <a:p>
            <a:r>
              <a:rPr lang="en-US" sz="2000" dirty="0"/>
              <a:t>Look for trends in data and compare data to other similar populations.</a:t>
            </a:r>
          </a:p>
          <a:p>
            <a:r>
              <a:rPr lang="en-US" sz="2000" dirty="0"/>
              <a:t>Look for gaps and inconsistencies in the data.</a:t>
            </a:r>
          </a:p>
          <a:p>
            <a:endParaRPr lang="en-AU" dirty="0"/>
          </a:p>
        </p:txBody>
      </p:sp>
    </p:spTree>
    <p:extLst>
      <p:ext uri="{BB962C8B-B14F-4D97-AF65-F5344CB8AC3E}">
        <p14:creationId xmlns:p14="http://schemas.microsoft.com/office/powerpoint/2010/main" val="3209296476"/>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CBA047-CD3F-4FD4-B1B5-32E0A3F2A521}"/>
              </a:ext>
            </a:extLst>
          </p:cNvPr>
          <p:cNvSpPr>
            <a:spLocks noGrp="1"/>
          </p:cNvSpPr>
          <p:nvPr>
            <p:ph type="title"/>
          </p:nvPr>
        </p:nvSpPr>
        <p:spPr/>
        <p:txBody>
          <a:bodyPr/>
          <a:lstStyle/>
          <a:p>
            <a:r>
              <a:rPr lang="en-US" dirty="0"/>
              <a:t>Step 3: Prioritising health issues</a:t>
            </a:r>
            <a:endParaRPr lang="en-AU" dirty="0"/>
          </a:p>
        </p:txBody>
      </p:sp>
      <p:sp>
        <p:nvSpPr>
          <p:cNvPr id="3" name="Content Placeholder 2">
            <a:extLst>
              <a:ext uri="{FF2B5EF4-FFF2-40B4-BE49-F238E27FC236}">
                <a16:creationId xmlns:a16="http://schemas.microsoft.com/office/drawing/2014/main" id="{1821777E-99C2-4342-82C1-015C5244EC6F}"/>
              </a:ext>
            </a:extLst>
          </p:cNvPr>
          <p:cNvSpPr>
            <a:spLocks noGrp="1"/>
          </p:cNvSpPr>
          <p:nvPr>
            <p:ph idx="1"/>
          </p:nvPr>
        </p:nvSpPr>
        <p:spPr>
          <a:xfrm>
            <a:off x="1024129" y="2286000"/>
            <a:ext cx="5427472" cy="4023360"/>
          </a:xfrm>
        </p:spPr>
        <p:txBody>
          <a:bodyPr/>
          <a:lstStyle/>
          <a:p>
            <a:r>
              <a:rPr lang="en-US" sz="2000" dirty="0"/>
              <a:t>Ranking the health issues </a:t>
            </a:r>
            <a:r>
              <a:rPr lang="en-AU" sz="2000" dirty="0"/>
              <a:t>from highest priority actions to lowest. High priorities are considered important and easily changeable, low priorities are least important and least changeable.</a:t>
            </a:r>
          </a:p>
          <a:p>
            <a:endParaRPr lang="en-AU" sz="2000" dirty="0"/>
          </a:p>
          <a:p>
            <a:r>
              <a:rPr lang="en-AU" sz="2000" dirty="0"/>
              <a:t>Often using measuring systems like the behavioural matrix (opposite)</a:t>
            </a:r>
          </a:p>
          <a:p>
            <a:endParaRPr lang="en-AU" sz="2000" dirty="0"/>
          </a:p>
          <a:p>
            <a:endParaRPr lang="en-AU" dirty="0"/>
          </a:p>
        </p:txBody>
      </p:sp>
      <p:pic>
        <p:nvPicPr>
          <p:cNvPr id="4" name="Content Placeholder 3" descr="screen-capture-7.png">
            <a:extLst>
              <a:ext uri="{FF2B5EF4-FFF2-40B4-BE49-F238E27FC236}">
                <a16:creationId xmlns:a16="http://schemas.microsoft.com/office/drawing/2014/main" id="{74CE5FAB-FB8A-4C61-BA3E-C37814933E9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93864" y="1887982"/>
            <a:ext cx="4181677" cy="4022725"/>
          </a:xfrm>
          <a:prstGeom prst="rect">
            <a:avLst/>
          </a:prstGeom>
        </p:spPr>
      </p:pic>
    </p:spTree>
    <p:extLst>
      <p:ext uri="{BB962C8B-B14F-4D97-AF65-F5344CB8AC3E}">
        <p14:creationId xmlns:p14="http://schemas.microsoft.com/office/powerpoint/2010/main" val="2865588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CBA047-CD3F-4FD4-B1B5-32E0A3F2A521}"/>
              </a:ext>
            </a:extLst>
          </p:cNvPr>
          <p:cNvSpPr>
            <a:spLocks noGrp="1"/>
          </p:cNvSpPr>
          <p:nvPr>
            <p:ph type="title"/>
          </p:nvPr>
        </p:nvSpPr>
        <p:spPr/>
        <p:txBody>
          <a:bodyPr/>
          <a:lstStyle/>
          <a:p>
            <a:r>
              <a:rPr lang="en-US" dirty="0"/>
              <a:t>Step 4: setting goals</a:t>
            </a:r>
            <a:endParaRPr lang="en-AU" dirty="0"/>
          </a:p>
        </p:txBody>
      </p:sp>
      <p:sp>
        <p:nvSpPr>
          <p:cNvPr id="3" name="Content Placeholder 2">
            <a:extLst>
              <a:ext uri="{FF2B5EF4-FFF2-40B4-BE49-F238E27FC236}">
                <a16:creationId xmlns:a16="http://schemas.microsoft.com/office/drawing/2014/main" id="{1821777E-99C2-4342-82C1-015C5244EC6F}"/>
              </a:ext>
            </a:extLst>
          </p:cNvPr>
          <p:cNvSpPr>
            <a:spLocks noGrp="1"/>
          </p:cNvSpPr>
          <p:nvPr>
            <p:ph idx="1"/>
          </p:nvPr>
        </p:nvSpPr>
        <p:spPr>
          <a:xfrm>
            <a:off x="1024129" y="1911350"/>
            <a:ext cx="6653022" cy="1270000"/>
          </a:xfrm>
        </p:spPr>
        <p:txBody>
          <a:bodyPr>
            <a:normAutofit/>
          </a:bodyPr>
          <a:lstStyle/>
          <a:p>
            <a:r>
              <a:rPr lang="en-AU" sz="2000" dirty="0"/>
              <a:t>Setting goals to aim to achieve to meet the needs of this group.</a:t>
            </a:r>
          </a:p>
          <a:p>
            <a:r>
              <a:rPr lang="en-AU" sz="2000" dirty="0"/>
              <a:t>What impact do we want to have? </a:t>
            </a:r>
          </a:p>
          <a:p>
            <a:r>
              <a:rPr lang="en-AU" sz="2000" dirty="0"/>
              <a:t>What do we want to do first? </a:t>
            </a:r>
            <a:endParaRPr lang="en-AU" dirty="0"/>
          </a:p>
        </p:txBody>
      </p:sp>
      <p:pic>
        <p:nvPicPr>
          <p:cNvPr id="4" name="Content Placeholder 3">
            <a:extLst>
              <a:ext uri="{FF2B5EF4-FFF2-40B4-BE49-F238E27FC236}">
                <a16:creationId xmlns:a16="http://schemas.microsoft.com/office/drawing/2014/main" id="{1D13D000-4612-4F7A-A4DB-058DE54E99F1}"/>
              </a:ext>
            </a:extLst>
          </p:cNvPr>
          <p:cNvPicPr>
            <a:picLocks noChangeAspect="1"/>
          </p:cNvPicPr>
          <p:nvPr/>
        </p:nvPicPr>
        <p:blipFill rotWithShape="1">
          <a:blip r:embed="rId2"/>
          <a:srcRect l="-251" t="-636" r="-57" b="636"/>
          <a:stretch/>
        </p:blipFill>
        <p:spPr>
          <a:xfrm>
            <a:off x="8407400" y="1432718"/>
            <a:ext cx="2952750" cy="3992563"/>
          </a:xfrm>
          <a:prstGeom prst="rect">
            <a:avLst/>
          </a:prstGeom>
        </p:spPr>
      </p:pic>
      <p:sp>
        <p:nvSpPr>
          <p:cNvPr id="5" name="TextBox 4">
            <a:extLst>
              <a:ext uri="{FF2B5EF4-FFF2-40B4-BE49-F238E27FC236}">
                <a16:creationId xmlns:a16="http://schemas.microsoft.com/office/drawing/2014/main" id="{BD6A2897-5AD1-428B-89F8-A489EA6FF793}"/>
              </a:ext>
            </a:extLst>
          </p:cNvPr>
          <p:cNvSpPr txBox="1"/>
          <p:nvPr/>
        </p:nvSpPr>
        <p:spPr>
          <a:xfrm>
            <a:off x="1024128" y="3289300"/>
            <a:ext cx="4396636" cy="3139321"/>
          </a:xfrm>
          <a:prstGeom prst="rect">
            <a:avLst/>
          </a:prstGeom>
          <a:noFill/>
        </p:spPr>
        <p:txBody>
          <a:bodyPr wrap="square" rtlCol="0">
            <a:spAutoFit/>
          </a:bodyPr>
          <a:lstStyle/>
          <a:p>
            <a:pPr marL="342900" indent="-342900">
              <a:buAutoNum type="arabicPeriod"/>
            </a:pPr>
            <a:r>
              <a:rPr lang="en-US" b="1" dirty="0"/>
              <a:t>Specific</a:t>
            </a:r>
            <a:r>
              <a:rPr lang="en-US" dirty="0"/>
              <a:t> – clearly and explicitly define what the issue is that you want changed.</a:t>
            </a:r>
          </a:p>
          <a:p>
            <a:pPr marL="342900" indent="-342900">
              <a:buAutoNum type="arabicPeriod"/>
            </a:pPr>
            <a:r>
              <a:rPr lang="en-US" b="1" dirty="0"/>
              <a:t>Measureabl</a:t>
            </a:r>
            <a:r>
              <a:rPr lang="en-US" dirty="0"/>
              <a:t>e – how will you know you have achieved it? </a:t>
            </a:r>
          </a:p>
          <a:p>
            <a:pPr marL="342900" indent="-342900">
              <a:buAutoNum type="arabicPeriod"/>
            </a:pPr>
            <a:r>
              <a:rPr lang="en-US" b="1" dirty="0"/>
              <a:t>Achievable</a:t>
            </a:r>
            <a:r>
              <a:rPr lang="en-US" dirty="0"/>
              <a:t> – can you complete this goal in the time you have with the resources you have?</a:t>
            </a:r>
            <a:endParaRPr lang="en-AU" dirty="0"/>
          </a:p>
          <a:p>
            <a:pPr marL="342900" indent="-342900">
              <a:buAutoNum type="arabicPeriod"/>
            </a:pPr>
            <a:r>
              <a:rPr lang="en-US" b="1" dirty="0"/>
              <a:t>Relevant</a:t>
            </a:r>
            <a:r>
              <a:rPr lang="en-US" dirty="0"/>
              <a:t> – is this goal appropriate, </a:t>
            </a:r>
            <a:r>
              <a:rPr lang="en-US" dirty="0" err="1"/>
              <a:t>eg</a:t>
            </a:r>
            <a:r>
              <a:rPr lang="en-US" dirty="0"/>
              <a:t> respectful of diversity and culture </a:t>
            </a:r>
            <a:r>
              <a:rPr lang="en-US" dirty="0" err="1"/>
              <a:t>etc</a:t>
            </a:r>
            <a:endParaRPr lang="en-AU" dirty="0"/>
          </a:p>
          <a:p>
            <a:pPr marL="342900" indent="-342900">
              <a:buAutoNum type="arabicPeriod"/>
            </a:pPr>
            <a:r>
              <a:rPr lang="en-US" b="1" dirty="0"/>
              <a:t>Time bound </a:t>
            </a:r>
            <a:r>
              <a:rPr lang="en-US" dirty="0"/>
              <a:t>– when do you want the goals achieved by? Date. </a:t>
            </a:r>
            <a:endParaRPr lang="en-AU" dirty="0"/>
          </a:p>
        </p:txBody>
      </p:sp>
    </p:spTree>
    <p:extLst>
      <p:ext uri="{BB962C8B-B14F-4D97-AF65-F5344CB8AC3E}">
        <p14:creationId xmlns:p14="http://schemas.microsoft.com/office/powerpoint/2010/main" val="1817960914"/>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CBA047-CD3F-4FD4-B1B5-32E0A3F2A521}"/>
              </a:ext>
            </a:extLst>
          </p:cNvPr>
          <p:cNvSpPr>
            <a:spLocks noGrp="1"/>
          </p:cNvSpPr>
          <p:nvPr>
            <p:ph type="title"/>
          </p:nvPr>
        </p:nvSpPr>
        <p:spPr/>
        <p:txBody>
          <a:bodyPr/>
          <a:lstStyle/>
          <a:p>
            <a:r>
              <a:rPr lang="en-US" dirty="0"/>
              <a:t>Step 5: determining strategies</a:t>
            </a:r>
            <a:endParaRPr lang="en-AU" dirty="0"/>
          </a:p>
        </p:txBody>
      </p:sp>
      <p:sp>
        <p:nvSpPr>
          <p:cNvPr id="3" name="Content Placeholder 2">
            <a:extLst>
              <a:ext uri="{FF2B5EF4-FFF2-40B4-BE49-F238E27FC236}">
                <a16:creationId xmlns:a16="http://schemas.microsoft.com/office/drawing/2014/main" id="{1821777E-99C2-4342-82C1-015C5244EC6F}"/>
              </a:ext>
            </a:extLst>
          </p:cNvPr>
          <p:cNvSpPr>
            <a:spLocks noGrp="1"/>
          </p:cNvSpPr>
          <p:nvPr>
            <p:ph idx="1"/>
          </p:nvPr>
        </p:nvSpPr>
        <p:spPr/>
        <p:txBody>
          <a:bodyPr/>
          <a:lstStyle/>
          <a:p>
            <a:r>
              <a:rPr lang="en-AU" dirty="0"/>
              <a:t>Planning interventions and deciding what strategies will be effective in achieving the set goals.</a:t>
            </a:r>
          </a:p>
          <a:p>
            <a:r>
              <a:rPr lang="en-AU" dirty="0"/>
              <a:t>Are we going to focus on educational strategies? What about changing the physical environment to make it easier to address the needs of the group?</a:t>
            </a:r>
          </a:p>
          <a:p>
            <a:r>
              <a:rPr lang="en-AU" sz="2000" dirty="0"/>
              <a:t> </a:t>
            </a:r>
            <a:endParaRPr lang="en-US" sz="2000" dirty="0"/>
          </a:p>
          <a:p>
            <a:endParaRPr lang="en-AU" dirty="0"/>
          </a:p>
        </p:txBody>
      </p:sp>
    </p:spTree>
    <p:extLst>
      <p:ext uri="{BB962C8B-B14F-4D97-AF65-F5344CB8AC3E}">
        <p14:creationId xmlns:p14="http://schemas.microsoft.com/office/powerpoint/2010/main" val="2088278202"/>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CBA047-CD3F-4FD4-B1B5-32E0A3F2A521}"/>
              </a:ext>
            </a:extLst>
          </p:cNvPr>
          <p:cNvSpPr>
            <a:spLocks noGrp="1"/>
          </p:cNvSpPr>
          <p:nvPr>
            <p:ph type="title"/>
          </p:nvPr>
        </p:nvSpPr>
        <p:spPr/>
        <p:txBody>
          <a:bodyPr/>
          <a:lstStyle/>
          <a:p>
            <a:r>
              <a:rPr lang="en-US" dirty="0"/>
              <a:t>Step 5: developing action plans</a:t>
            </a:r>
            <a:endParaRPr lang="en-AU" dirty="0"/>
          </a:p>
        </p:txBody>
      </p:sp>
      <p:sp>
        <p:nvSpPr>
          <p:cNvPr id="3" name="Content Placeholder 2">
            <a:extLst>
              <a:ext uri="{FF2B5EF4-FFF2-40B4-BE49-F238E27FC236}">
                <a16:creationId xmlns:a16="http://schemas.microsoft.com/office/drawing/2014/main" id="{1821777E-99C2-4342-82C1-015C5244EC6F}"/>
              </a:ext>
            </a:extLst>
          </p:cNvPr>
          <p:cNvSpPr>
            <a:spLocks noGrp="1"/>
          </p:cNvSpPr>
          <p:nvPr>
            <p:ph idx="1"/>
          </p:nvPr>
        </p:nvSpPr>
        <p:spPr/>
        <p:txBody>
          <a:bodyPr/>
          <a:lstStyle/>
          <a:p>
            <a:r>
              <a:rPr lang="en-US" dirty="0"/>
              <a:t>After we have established what strategies we will be using to reach the set goals, it is time to develop a specific action plan. </a:t>
            </a:r>
          </a:p>
          <a:p>
            <a:r>
              <a:rPr lang="en-US" dirty="0"/>
              <a:t>This could include things like creating a specific </a:t>
            </a:r>
            <a:r>
              <a:rPr lang="en-AU" dirty="0"/>
              <a:t>timeline, of events, developing measurement systems and allocation of tasks to primary stakeholders.</a:t>
            </a:r>
            <a:endParaRPr lang="en-US" dirty="0"/>
          </a:p>
          <a:p>
            <a:endParaRPr lang="en-AU" dirty="0"/>
          </a:p>
        </p:txBody>
      </p:sp>
    </p:spTree>
    <p:extLst>
      <p:ext uri="{BB962C8B-B14F-4D97-AF65-F5344CB8AC3E}">
        <p14:creationId xmlns:p14="http://schemas.microsoft.com/office/powerpoint/2010/main" val="2583133272"/>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CBA047-CD3F-4FD4-B1B5-32E0A3F2A521}"/>
              </a:ext>
            </a:extLst>
          </p:cNvPr>
          <p:cNvSpPr>
            <a:spLocks noGrp="1"/>
          </p:cNvSpPr>
          <p:nvPr>
            <p:ph type="title"/>
          </p:nvPr>
        </p:nvSpPr>
        <p:spPr/>
        <p:txBody>
          <a:bodyPr/>
          <a:lstStyle/>
          <a:p>
            <a:r>
              <a:rPr lang="en-US" dirty="0"/>
              <a:t>Step 6: evaluating outcomes</a:t>
            </a:r>
            <a:endParaRPr lang="en-AU" dirty="0"/>
          </a:p>
        </p:txBody>
      </p:sp>
      <p:sp>
        <p:nvSpPr>
          <p:cNvPr id="3" name="Content Placeholder 2">
            <a:extLst>
              <a:ext uri="{FF2B5EF4-FFF2-40B4-BE49-F238E27FC236}">
                <a16:creationId xmlns:a16="http://schemas.microsoft.com/office/drawing/2014/main" id="{1821777E-99C2-4342-82C1-015C5244EC6F}"/>
              </a:ext>
            </a:extLst>
          </p:cNvPr>
          <p:cNvSpPr>
            <a:spLocks noGrp="1"/>
          </p:cNvSpPr>
          <p:nvPr>
            <p:ph idx="1"/>
          </p:nvPr>
        </p:nvSpPr>
        <p:spPr/>
        <p:txBody>
          <a:bodyPr/>
          <a:lstStyle/>
          <a:p>
            <a:r>
              <a:rPr lang="en-US" dirty="0"/>
              <a:t>How did we do? </a:t>
            </a:r>
          </a:p>
          <a:p>
            <a:r>
              <a:rPr lang="en-US" dirty="0"/>
              <a:t>Did we achieve our goals?</a:t>
            </a:r>
          </a:p>
          <a:p>
            <a:r>
              <a:rPr lang="en-US" dirty="0"/>
              <a:t>Measure data again and compare to baseline, measure impact of intervention.</a:t>
            </a:r>
          </a:p>
          <a:p>
            <a:r>
              <a:rPr lang="en-US" dirty="0"/>
              <a:t>Do the needs still exist? Are they minimalized?</a:t>
            </a:r>
          </a:p>
          <a:p>
            <a:endParaRPr lang="en-AU" dirty="0"/>
          </a:p>
        </p:txBody>
      </p:sp>
    </p:spTree>
    <p:extLst>
      <p:ext uri="{BB962C8B-B14F-4D97-AF65-F5344CB8AC3E}">
        <p14:creationId xmlns:p14="http://schemas.microsoft.com/office/powerpoint/2010/main" val="2710929401"/>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Benefits of needs assessment</a:t>
            </a:r>
          </a:p>
        </p:txBody>
      </p:sp>
      <p:sp>
        <p:nvSpPr>
          <p:cNvPr id="3" name="Content Placeholder 2"/>
          <p:cNvSpPr>
            <a:spLocks noGrp="1"/>
          </p:cNvSpPr>
          <p:nvPr>
            <p:ph idx="1"/>
          </p:nvPr>
        </p:nvSpPr>
        <p:spPr/>
        <p:txBody>
          <a:bodyPr/>
          <a:lstStyle/>
          <a:p>
            <a:pPr>
              <a:buFont typeface="Wingdings" charset="2"/>
              <a:buChar char="v"/>
            </a:pPr>
            <a:r>
              <a:rPr lang="en-US" dirty="0"/>
              <a:t>Community involvement in decision making regarding their own health</a:t>
            </a:r>
          </a:p>
          <a:p>
            <a:pPr>
              <a:buFont typeface="Wingdings" charset="2"/>
              <a:buChar char="v"/>
            </a:pPr>
            <a:r>
              <a:rPr lang="en-US" dirty="0"/>
              <a:t>Improved communications between the public and agencies/services</a:t>
            </a:r>
          </a:p>
          <a:p>
            <a:pPr>
              <a:buFont typeface="Wingdings" charset="2"/>
              <a:buChar char="v"/>
            </a:pPr>
            <a:r>
              <a:rPr lang="en-US" dirty="0"/>
              <a:t>More effective use of resources (money, time, effort!)</a:t>
            </a:r>
          </a:p>
        </p:txBody>
      </p:sp>
    </p:spTree>
    <p:extLst>
      <p:ext uri="{BB962C8B-B14F-4D97-AF65-F5344CB8AC3E}">
        <p14:creationId xmlns:p14="http://schemas.microsoft.com/office/powerpoint/2010/main" val="6489848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817976-0D9F-4E3C-9DE1-5EE999D40202}"/>
              </a:ext>
            </a:extLst>
          </p:cNvPr>
          <p:cNvSpPr>
            <a:spLocks noGrp="1"/>
          </p:cNvSpPr>
          <p:nvPr>
            <p:ph type="title"/>
          </p:nvPr>
        </p:nvSpPr>
        <p:spPr/>
        <p:txBody>
          <a:bodyPr/>
          <a:lstStyle/>
          <a:p>
            <a:r>
              <a:rPr lang="en-US" dirty="0"/>
              <a:t>Application: Wace question</a:t>
            </a:r>
            <a:endParaRPr lang="en-AU" dirty="0"/>
          </a:p>
        </p:txBody>
      </p:sp>
      <p:sp>
        <p:nvSpPr>
          <p:cNvPr id="3" name="Content Placeholder 2">
            <a:extLst>
              <a:ext uri="{FF2B5EF4-FFF2-40B4-BE49-F238E27FC236}">
                <a16:creationId xmlns:a16="http://schemas.microsoft.com/office/drawing/2014/main" id="{3C9F2C73-9129-4571-92C6-3CDACF2F7813}"/>
              </a:ext>
            </a:extLst>
          </p:cNvPr>
          <p:cNvSpPr>
            <a:spLocks noGrp="1"/>
          </p:cNvSpPr>
          <p:nvPr>
            <p:ph idx="1"/>
          </p:nvPr>
        </p:nvSpPr>
        <p:spPr/>
        <p:txBody>
          <a:bodyPr/>
          <a:lstStyle/>
          <a:p>
            <a:r>
              <a:rPr lang="en-US" dirty="0"/>
              <a:t>Answer Q27a and 27b from the 2020 WACE exam</a:t>
            </a:r>
            <a:endParaRPr lang="en-AU" dirty="0"/>
          </a:p>
        </p:txBody>
      </p:sp>
    </p:spTree>
    <p:extLst>
      <p:ext uri="{BB962C8B-B14F-4D97-AF65-F5344CB8AC3E}">
        <p14:creationId xmlns:p14="http://schemas.microsoft.com/office/powerpoint/2010/main" val="2033425175"/>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references</a:t>
            </a:r>
          </a:p>
        </p:txBody>
      </p:sp>
      <p:sp>
        <p:nvSpPr>
          <p:cNvPr id="3" name="Content Placeholder 2"/>
          <p:cNvSpPr>
            <a:spLocks noGrp="1"/>
          </p:cNvSpPr>
          <p:nvPr>
            <p:ph idx="1"/>
          </p:nvPr>
        </p:nvSpPr>
        <p:spPr/>
        <p:txBody>
          <a:bodyPr/>
          <a:lstStyle/>
          <a:p>
            <a:r>
              <a:rPr lang="en-US" dirty="0"/>
              <a:t>Lockhart, E. (2011). </a:t>
            </a:r>
            <a:r>
              <a:rPr lang="en-US" i="1" dirty="0"/>
              <a:t>Health Studies Stage 3A-b. </a:t>
            </a:r>
            <a:r>
              <a:rPr lang="en-US" dirty="0" err="1"/>
              <a:t>Madeley</a:t>
            </a:r>
            <a:r>
              <a:rPr lang="en-US" dirty="0"/>
              <a:t>: Print Publishing.</a:t>
            </a:r>
          </a:p>
          <a:p>
            <a:endParaRPr lang="en-US" dirty="0"/>
          </a:p>
        </p:txBody>
      </p:sp>
    </p:spTree>
    <p:extLst>
      <p:ext uri="{BB962C8B-B14F-4D97-AF65-F5344CB8AC3E}">
        <p14:creationId xmlns:p14="http://schemas.microsoft.com/office/powerpoint/2010/main" val="1687766153"/>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Ottawa charter for health promotion</a:t>
            </a:r>
          </a:p>
        </p:txBody>
      </p:sp>
      <p:sp>
        <p:nvSpPr>
          <p:cNvPr id="3" name="Subtitle 2"/>
          <p:cNvSpPr>
            <a:spLocks noGrp="1"/>
          </p:cNvSpPr>
          <p:nvPr>
            <p:ph type="subTitle" idx="1"/>
          </p:nvPr>
        </p:nvSpPr>
        <p:spPr/>
        <p:txBody>
          <a:bodyPr>
            <a:normAutofit/>
          </a:bodyPr>
          <a:lstStyle/>
          <a:p>
            <a:r>
              <a:rPr lang="en-US" sz="2200" dirty="0"/>
              <a:t>Term 1</a:t>
            </a:r>
          </a:p>
          <a:p>
            <a:r>
              <a:rPr lang="en-US" sz="2200" dirty="0"/>
              <a:t>Week 7</a:t>
            </a:r>
          </a:p>
        </p:txBody>
      </p:sp>
    </p:spTree>
    <p:extLst>
      <p:ext uri="{BB962C8B-B14F-4D97-AF65-F5344CB8AC3E}">
        <p14:creationId xmlns:p14="http://schemas.microsoft.com/office/powerpoint/2010/main" val="1280494857"/>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9E4C68A-A4A9-48A4-9FF2-D2896B1EA01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E2B9AEA5-52CB-49A6-AF8A-33502F291B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654296"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964788" y="804333"/>
            <a:ext cx="3302412" cy="5249334"/>
          </a:xfrm>
        </p:spPr>
        <p:txBody>
          <a:bodyPr>
            <a:normAutofit/>
          </a:bodyPr>
          <a:lstStyle/>
          <a:p>
            <a:pPr algn="r"/>
            <a:r>
              <a:rPr lang="en-US">
                <a:solidFill>
                  <a:srgbClr val="FFFFFF"/>
                </a:solidFill>
              </a:rPr>
              <a:t>Syllabus COntent</a:t>
            </a:r>
          </a:p>
        </p:txBody>
      </p:sp>
      <p:sp>
        <p:nvSpPr>
          <p:cNvPr id="3" name="Content Placeholder 2"/>
          <p:cNvSpPr>
            <a:spLocks noGrp="1"/>
          </p:cNvSpPr>
          <p:nvPr>
            <p:ph idx="1"/>
          </p:nvPr>
        </p:nvSpPr>
        <p:spPr>
          <a:xfrm>
            <a:off x="5109882" y="804333"/>
            <a:ext cx="6147169" cy="5249334"/>
          </a:xfrm>
        </p:spPr>
        <p:txBody>
          <a:bodyPr anchor="ctr">
            <a:normAutofit/>
          </a:bodyPr>
          <a:lstStyle/>
          <a:p>
            <a:pPr>
              <a:buFont typeface="Wingdings" charset="2"/>
              <a:buChar char="v"/>
            </a:pPr>
            <a:r>
              <a:rPr lang="en-US" dirty="0"/>
              <a:t>Enabling, mediating and advocating strategies in the Ottawa Charter to reduce inequities of specific groups</a:t>
            </a:r>
          </a:p>
        </p:txBody>
      </p:sp>
    </p:spTree>
    <p:extLst>
      <p:ext uri="{BB962C8B-B14F-4D97-AF65-F5344CB8AC3E}">
        <p14:creationId xmlns:p14="http://schemas.microsoft.com/office/powerpoint/2010/main" val="1343435012"/>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5B87EB-A3FB-4DEE-9D4B-189300DFAB2C}"/>
              </a:ext>
            </a:extLst>
          </p:cNvPr>
          <p:cNvSpPr>
            <a:spLocks noGrp="1"/>
          </p:cNvSpPr>
          <p:nvPr>
            <p:ph type="title"/>
          </p:nvPr>
        </p:nvSpPr>
        <p:spPr>
          <a:xfrm>
            <a:off x="1024128" y="585216"/>
            <a:ext cx="10329672" cy="1499616"/>
          </a:xfrm>
        </p:spPr>
        <p:txBody>
          <a:bodyPr/>
          <a:lstStyle/>
          <a:p>
            <a:r>
              <a:rPr lang="en-US" dirty="0"/>
              <a:t>READING: health promotion &amp; Road Safety </a:t>
            </a:r>
            <a:endParaRPr lang="en-AU" dirty="0"/>
          </a:p>
        </p:txBody>
      </p:sp>
      <p:sp>
        <p:nvSpPr>
          <p:cNvPr id="3" name="Content Placeholder 2">
            <a:extLst>
              <a:ext uri="{FF2B5EF4-FFF2-40B4-BE49-F238E27FC236}">
                <a16:creationId xmlns:a16="http://schemas.microsoft.com/office/drawing/2014/main" id="{C00940DE-3868-49C3-B416-EE78FBFA210F}"/>
              </a:ext>
            </a:extLst>
          </p:cNvPr>
          <p:cNvSpPr>
            <a:spLocks noGrp="1"/>
          </p:cNvSpPr>
          <p:nvPr>
            <p:ph idx="1"/>
          </p:nvPr>
        </p:nvSpPr>
        <p:spPr/>
        <p:txBody>
          <a:bodyPr/>
          <a:lstStyle/>
          <a:p>
            <a:r>
              <a:rPr lang="en-US" dirty="0"/>
              <a:t>Use the VCE Health and Development reading from pages 281-282.</a:t>
            </a:r>
          </a:p>
          <a:p>
            <a:endParaRPr lang="en-US" dirty="0"/>
          </a:p>
          <a:p>
            <a:r>
              <a:rPr lang="en-US" dirty="0"/>
              <a:t>Identify one strategy in each of the 5 Ottawa charter action areas.</a:t>
            </a:r>
            <a:endParaRPr lang="en-AU" dirty="0"/>
          </a:p>
        </p:txBody>
      </p:sp>
    </p:spTree>
    <p:extLst>
      <p:ext uri="{BB962C8B-B14F-4D97-AF65-F5344CB8AC3E}">
        <p14:creationId xmlns:p14="http://schemas.microsoft.com/office/powerpoint/2010/main" val="3886386743"/>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p:cNvSpPr>
            <a:spLocks noGrp="1" noChangeArrowheads="1"/>
          </p:cNvSpPr>
          <p:nvPr>
            <p:ph type="title"/>
          </p:nvPr>
        </p:nvSpPr>
        <p:spPr>
          <a:xfrm>
            <a:off x="1270942" y="628650"/>
            <a:ext cx="8743007" cy="1381547"/>
          </a:xfrm>
        </p:spPr>
        <p:txBody>
          <a:bodyPr>
            <a:normAutofit/>
          </a:bodyPr>
          <a:lstStyle/>
          <a:p>
            <a:pPr eaLnBrk="1" hangingPunct="1">
              <a:defRPr/>
            </a:pPr>
            <a:r>
              <a:rPr lang="en-AU" dirty="0"/>
              <a:t>Reminder: What is health promotion?</a:t>
            </a:r>
            <a:endParaRPr lang="en-AU" sz="4000" dirty="0">
              <a:solidFill>
                <a:schemeClr val="tx1"/>
              </a:solidFill>
            </a:endParaRPr>
          </a:p>
        </p:txBody>
      </p:sp>
      <p:sp>
        <p:nvSpPr>
          <p:cNvPr id="59395" name="Rectangle 3"/>
          <p:cNvSpPr>
            <a:spLocks noGrp="1" noChangeArrowheads="1"/>
          </p:cNvSpPr>
          <p:nvPr>
            <p:ph idx="1"/>
          </p:nvPr>
        </p:nvSpPr>
        <p:spPr>
          <a:xfrm>
            <a:off x="762000" y="2428874"/>
            <a:ext cx="10833100" cy="3743325"/>
          </a:xfrm>
        </p:spPr>
        <p:txBody>
          <a:bodyPr>
            <a:normAutofit/>
          </a:bodyPr>
          <a:lstStyle/>
          <a:p>
            <a:pPr eaLnBrk="1" hangingPunct="1">
              <a:buFontTx/>
              <a:buNone/>
              <a:defRPr/>
            </a:pPr>
            <a:r>
              <a:rPr lang="en-AU" dirty="0"/>
              <a:t>*HEALTH PROMOTION: “Is the process of enabling people to increase control over and to improve their health” (Ottawa Charter ’86)</a:t>
            </a:r>
          </a:p>
          <a:p>
            <a:pPr eaLnBrk="1" hangingPunct="1">
              <a:buFontTx/>
              <a:buNone/>
              <a:defRPr/>
            </a:pPr>
            <a:endParaRPr lang="en-AU" dirty="0"/>
          </a:p>
        </p:txBody>
      </p:sp>
    </p:spTree>
    <p:extLst>
      <p:ext uri="{BB962C8B-B14F-4D97-AF65-F5344CB8AC3E}">
        <p14:creationId xmlns:p14="http://schemas.microsoft.com/office/powerpoint/2010/main" val="4691821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9395">
                                            <p:txEl>
                                              <p:pRg st="0" end="0"/>
                                            </p:txEl>
                                          </p:spTgt>
                                        </p:tgtEl>
                                        <p:attrNameLst>
                                          <p:attrName>style.visibility</p:attrName>
                                        </p:attrNameLst>
                                      </p:cBhvr>
                                      <p:to>
                                        <p:strVal val="visible"/>
                                      </p:to>
                                    </p:set>
                                    <p:animEffect transition="in" filter="fade">
                                      <p:cBhvr>
                                        <p:cTn id="7" dur="500"/>
                                        <p:tgtEl>
                                          <p:spTgt spid="5939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Enabling</a:t>
            </a:r>
            <a:endParaRPr lang="en-AU" dirty="0"/>
          </a:p>
        </p:txBody>
      </p:sp>
      <p:sp>
        <p:nvSpPr>
          <p:cNvPr id="3" name="Content Placeholder 2"/>
          <p:cNvSpPr>
            <a:spLocks noGrp="1"/>
          </p:cNvSpPr>
          <p:nvPr>
            <p:ph idx="1"/>
          </p:nvPr>
        </p:nvSpPr>
        <p:spPr>
          <a:xfrm>
            <a:off x="1024128" y="2286000"/>
            <a:ext cx="9834372" cy="4023360"/>
          </a:xfrm>
        </p:spPr>
        <p:txBody>
          <a:bodyPr/>
          <a:lstStyle/>
          <a:p>
            <a:r>
              <a:rPr lang="en-US" b="1" dirty="0"/>
              <a:t>*Enable: </a:t>
            </a:r>
            <a:r>
              <a:rPr lang="en-US" dirty="0"/>
              <a:t>To empower individuals and communities to be able to do, or to be something.</a:t>
            </a:r>
          </a:p>
          <a:p>
            <a:endParaRPr lang="en-US" dirty="0"/>
          </a:p>
          <a:p>
            <a:r>
              <a:rPr lang="en-US" dirty="0"/>
              <a:t>To reduce health inequity health promotion needs to be aimed at reducing differences in the health statuses of specific populations by ensuring </a:t>
            </a:r>
            <a:r>
              <a:rPr lang="en-US" u="sng" dirty="0"/>
              <a:t>equal distribution of resources for health and equal opportunities for health.</a:t>
            </a:r>
          </a:p>
          <a:p>
            <a:pPr marL="114300" indent="0">
              <a:buNone/>
            </a:pPr>
            <a:endParaRPr lang="en-US" dirty="0"/>
          </a:p>
          <a:p>
            <a:r>
              <a:rPr lang="en-US" dirty="0"/>
              <a:t>Everyone should have equal opportunities to achieve health to their fullest potential.</a:t>
            </a:r>
          </a:p>
          <a:p>
            <a:endParaRPr lang="en-AU" dirty="0"/>
          </a:p>
        </p:txBody>
      </p:sp>
    </p:spTree>
    <p:extLst>
      <p:ext uri="{BB962C8B-B14F-4D97-AF65-F5344CB8AC3E}">
        <p14:creationId xmlns:p14="http://schemas.microsoft.com/office/powerpoint/2010/main" val="1940215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Enabling and Health Promotion</a:t>
            </a:r>
            <a:endParaRPr lang="en-AU" dirty="0"/>
          </a:p>
        </p:txBody>
      </p:sp>
      <p:sp>
        <p:nvSpPr>
          <p:cNvPr id="3" name="Content Placeholder 2"/>
          <p:cNvSpPr>
            <a:spLocks noGrp="1"/>
          </p:cNvSpPr>
          <p:nvPr>
            <p:ph idx="1"/>
          </p:nvPr>
        </p:nvSpPr>
        <p:spPr/>
        <p:txBody>
          <a:bodyPr/>
          <a:lstStyle/>
          <a:p>
            <a:r>
              <a:rPr lang="en-US" dirty="0"/>
              <a:t>Ensuring people have access to the information required for good health.</a:t>
            </a:r>
          </a:p>
          <a:p>
            <a:r>
              <a:rPr lang="en-US" dirty="0"/>
              <a:t>Allowing people to develop life skills and enabling people to make healthy choices.</a:t>
            </a:r>
          </a:p>
          <a:p>
            <a:r>
              <a:rPr lang="en-US" dirty="0"/>
              <a:t>Enabling is associated with improving EDUCATION and ACCESS.</a:t>
            </a:r>
          </a:p>
          <a:p>
            <a:endParaRPr lang="en-US" dirty="0"/>
          </a:p>
          <a:p>
            <a:pPr marL="114300" indent="0">
              <a:buNone/>
            </a:pPr>
            <a:r>
              <a:rPr lang="en-US" dirty="0"/>
              <a:t>“People cannot achieve their fullest health potential unless they are able to take control of the things that determine their health” 					(Lockhart, 2011)</a:t>
            </a:r>
          </a:p>
          <a:p>
            <a:endParaRPr lang="en-AU" dirty="0"/>
          </a:p>
        </p:txBody>
      </p:sp>
    </p:spTree>
    <p:extLst>
      <p:ext uri="{BB962C8B-B14F-4D97-AF65-F5344CB8AC3E}">
        <p14:creationId xmlns:p14="http://schemas.microsoft.com/office/powerpoint/2010/main" val="10401995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ontent Placeholder 4"/>
          <p:cNvGraphicFramePr>
            <a:graphicFrameLocks noGrp="1"/>
          </p:cNvGraphicFramePr>
          <p:nvPr>
            <p:ph idx="1"/>
          </p:nvPr>
        </p:nvGraphicFramePr>
        <p:xfrm>
          <a:off x="1991544" y="692696"/>
          <a:ext cx="7620000" cy="5811520"/>
        </p:xfrm>
        <a:graphic>
          <a:graphicData uri="http://schemas.openxmlformats.org/drawingml/2006/table">
            <a:tbl>
              <a:tblPr firstRow="1" bandRow="1">
                <a:tableStyleId>{5C22544A-7EE6-4342-B048-85BDC9FD1C3A}</a:tableStyleId>
              </a:tblPr>
              <a:tblGrid>
                <a:gridCol w="7620000">
                  <a:extLst>
                    <a:ext uri="{9D8B030D-6E8A-4147-A177-3AD203B41FA5}">
                      <a16:colId xmlns:a16="http://schemas.microsoft.com/office/drawing/2014/main" val="20000"/>
                    </a:ext>
                  </a:extLst>
                </a:gridCol>
              </a:tblGrid>
              <a:tr h="370840">
                <a:tc>
                  <a:txBody>
                    <a:bodyPr/>
                    <a:lstStyle/>
                    <a:p>
                      <a:pPr algn="ctr"/>
                      <a:r>
                        <a:rPr lang="en-US" dirty="0"/>
                        <a:t>Enabling strategies</a:t>
                      </a:r>
                      <a:endParaRPr lang="en-AU" dirty="0"/>
                    </a:p>
                  </a:txBody>
                  <a:tcPr/>
                </a:tc>
                <a:extLst>
                  <a:ext uri="{0D108BD9-81ED-4DB2-BD59-A6C34878D82A}">
                    <a16:rowId xmlns:a16="http://schemas.microsoft.com/office/drawing/2014/main" val="10000"/>
                  </a:ext>
                </a:extLst>
              </a:tr>
              <a:tr h="370840">
                <a:tc>
                  <a:txBody>
                    <a:bodyPr/>
                    <a:lstStyle/>
                    <a:p>
                      <a:r>
                        <a:rPr lang="en-US" dirty="0"/>
                        <a:t>Improving health literacy</a:t>
                      </a:r>
                      <a:endParaRPr lang="en-AU" dirty="0"/>
                    </a:p>
                  </a:txBody>
                  <a:tcPr/>
                </a:tc>
                <a:extLst>
                  <a:ext uri="{0D108BD9-81ED-4DB2-BD59-A6C34878D82A}">
                    <a16:rowId xmlns:a16="http://schemas.microsoft.com/office/drawing/2014/main" val="10001"/>
                  </a:ext>
                </a:extLst>
              </a:tr>
              <a:tr h="370840">
                <a:tc>
                  <a:txBody>
                    <a:bodyPr/>
                    <a:lstStyle/>
                    <a:p>
                      <a:r>
                        <a:rPr lang="en-US" dirty="0"/>
                        <a:t>Career advice</a:t>
                      </a:r>
                      <a:endParaRPr lang="en-AU" dirty="0"/>
                    </a:p>
                  </a:txBody>
                  <a:tcPr/>
                </a:tc>
                <a:extLst>
                  <a:ext uri="{0D108BD9-81ED-4DB2-BD59-A6C34878D82A}">
                    <a16:rowId xmlns:a16="http://schemas.microsoft.com/office/drawing/2014/main" val="10002"/>
                  </a:ext>
                </a:extLst>
              </a:tr>
              <a:tr h="370840">
                <a:tc>
                  <a:txBody>
                    <a:bodyPr/>
                    <a:lstStyle/>
                    <a:p>
                      <a:r>
                        <a:rPr lang="en-US" dirty="0"/>
                        <a:t>Education</a:t>
                      </a:r>
                      <a:r>
                        <a:rPr lang="en-US" baseline="0" dirty="0"/>
                        <a:t> and training</a:t>
                      </a:r>
                      <a:endParaRPr lang="en-AU" dirty="0"/>
                    </a:p>
                  </a:txBody>
                  <a:tcPr/>
                </a:tc>
                <a:extLst>
                  <a:ext uri="{0D108BD9-81ED-4DB2-BD59-A6C34878D82A}">
                    <a16:rowId xmlns:a16="http://schemas.microsoft.com/office/drawing/2014/main" val="10003"/>
                  </a:ext>
                </a:extLst>
              </a:tr>
              <a:tr h="370840">
                <a:tc>
                  <a:txBody>
                    <a:bodyPr/>
                    <a:lstStyle/>
                    <a:p>
                      <a:r>
                        <a:rPr lang="en-US" dirty="0"/>
                        <a:t>Involve individuals in decision making</a:t>
                      </a:r>
                      <a:endParaRPr lang="en-AU" dirty="0"/>
                    </a:p>
                  </a:txBody>
                  <a:tcPr/>
                </a:tc>
                <a:extLst>
                  <a:ext uri="{0D108BD9-81ED-4DB2-BD59-A6C34878D82A}">
                    <a16:rowId xmlns:a16="http://schemas.microsoft.com/office/drawing/2014/main" val="10004"/>
                  </a:ext>
                </a:extLst>
              </a:tr>
              <a:tr h="370840">
                <a:tc>
                  <a:txBody>
                    <a:bodyPr/>
                    <a:lstStyle/>
                    <a:p>
                      <a:r>
                        <a:rPr lang="en-US" dirty="0"/>
                        <a:t>Delegation (giving people the opportunity to take on responsibility)- Community Development</a:t>
                      </a:r>
                      <a:endParaRPr lang="en-AU" dirty="0"/>
                    </a:p>
                  </a:txBody>
                  <a:tcPr/>
                </a:tc>
                <a:extLst>
                  <a:ext uri="{0D108BD9-81ED-4DB2-BD59-A6C34878D82A}">
                    <a16:rowId xmlns:a16="http://schemas.microsoft.com/office/drawing/2014/main" val="10005"/>
                  </a:ext>
                </a:extLst>
              </a:tr>
              <a:tr h="370840">
                <a:tc>
                  <a:txBody>
                    <a:bodyPr/>
                    <a:lstStyle/>
                    <a:p>
                      <a:r>
                        <a:rPr lang="en-US" dirty="0"/>
                        <a:t>Improving</a:t>
                      </a:r>
                      <a:r>
                        <a:rPr lang="en-US" baseline="0" dirty="0"/>
                        <a:t> access:</a:t>
                      </a:r>
                    </a:p>
                    <a:p>
                      <a:pPr marL="285750" indent="-285750">
                        <a:buFont typeface="Arial" charset="0"/>
                        <a:buChar char="•"/>
                      </a:pPr>
                      <a:r>
                        <a:rPr lang="en-US" baseline="0" dirty="0"/>
                        <a:t>Health care</a:t>
                      </a:r>
                    </a:p>
                    <a:p>
                      <a:pPr marL="285750" indent="-285750">
                        <a:buFont typeface="Arial" charset="0"/>
                        <a:buChar char="•"/>
                      </a:pPr>
                      <a:r>
                        <a:rPr lang="en-US" baseline="0" dirty="0"/>
                        <a:t>Welfare</a:t>
                      </a:r>
                    </a:p>
                    <a:p>
                      <a:pPr marL="285750" indent="-285750">
                        <a:buFont typeface="Arial" charset="0"/>
                        <a:buChar char="•"/>
                      </a:pPr>
                      <a:r>
                        <a:rPr lang="en-US" baseline="0" dirty="0"/>
                        <a:t>Housing</a:t>
                      </a:r>
                    </a:p>
                    <a:p>
                      <a:pPr marL="285750" indent="-285750">
                        <a:buFont typeface="Arial" charset="0"/>
                        <a:buChar char="•"/>
                      </a:pPr>
                      <a:r>
                        <a:rPr lang="en-US" baseline="0" dirty="0"/>
                        <a:t>Support</a:t>
                      </a:r>
                    </a:p>
                  </a:txBody>
                  <a:tcPr/>
                </a:tc>
                <a:extLst>
                  <a:ext uri="{0D108BD9-81ED-4DB2-BD59-A6C34878D82A}">
                    <a16:rowId xmlns:a16="http://schemas.microsoft.com/office/drawing/2014/main" val="10006"/>
                  </a:ext>
                </a:extLst>
              </a:tr>
              <a:tr h="370840">
                <a:tc>
                  <a:txBody>
                    <a:bodyPr/>
                    <a:lstStyle/>
                    <a:p>
                      <a:r>
                        <a:rPr lang="en-US" dirty="0"/>
                        <a:t>Developing</a:t>
                      </a:r>
                      <a:r>
                        <a:rPr lang="en-US" baseline="0" dirty="0"/>
                        <a:t> networks (creating supportive environments for health)</a:t>
                      </a:r>
                      <a:endParaRPr lang="en-AU" dirty="0"/>
                    </a:p>
                  </a:txBody>
                  <a:tcPr/>
                </a:tc>
                <a:extLst>
                  <a:ext uri="{0D108BD9-81ED-4DB2-BD59-A6C34878D82A}">
                    <a16:rowId xmlns:a16="http://schemas.microsoft.com/office/drawing/2014/main" val="10007"/>
                  </a:ext>
                </a:extLst>
              </a:tr>
              <a:tr h="370840">
                <a:tc>
                  <a:txBody>
                    <a:bodyPr/>
                    <a:lstStyle/>
                    <a:p>
                      <a:r>
                        <a:rPr lang="en-US" dirty="0"/>
                        <a:t>Focus on goal setting</a:t>
                      </a:r>
                      <a:endParaRPr lang="en-AU" dirty="0"/>
                    </a:p>
                  </a:txBody>
                  <a:tcPr/>
                </a:tc>
                <a:extLst>
                  <a:ext uri="{0D108BD9-81ED-4DB2-BD59-A6C34878D82A}">
                    <a16:rowId xmlns:a16="http://schemas.microsoft.com/office/drawing/2014/main" val="10008"/>
                  </a:ext>
                </a:extLst>
              </a:tr>
              <a:tr h="370840">
                <a:tc>
                  <a:txBody>
                    <a:bodyPr/>
                    <a:lstStyle/>
                    <a:p>
                      <a:r>
                        <a:rPr lang="en-US" dirty="0"/>
                        <a:t>Improving</a:t>
                      </a:r>
                      <a:r>
                        <a:rPr lang="en-US" baseline="0" dirty="0"/>
                        <a:t> communication skills</a:t>
                      </a:r>
                      <a:endParaRPr lang="en-AU" dirty="0"/>
                    </a:p>
                  </a:txBody>
                  <a:tcPr/>
                </a:tc>
                <a:extLst>
                  <a:ext uri="{0D108BD9-81ED-4DB2-BD59-A6C34878D82A}">
                    <a16:rowId xmlns:a16="http://schemas.microsoft.com/office/drawing/2014/main" val="10009"/>
                  </a:ext>
                </a:extLst>
              </a:tr>
              <a:tr h="370840">
                <a:tc>
                  <a:txBody>
                    <a:bodyPr/>
                    <a:lstStyle/>
                    <a:p>
                      <a:r>
                        <a:rPr lang="en-US" dirty="0"/>
                        <a:t>Counselling</a:t>
                      </a:r>
                      <a:endParaRPr lang="en-AU" dirty="0"/>
                    </a:p>
                  </a:txBody>
                  <a:tcPr/>
                </a:tc>
                <a:extLst>
                  <a:ext uri="{0D108BD9-81ED-4DB2-BD59-A6C34878D82A}">
                    <a16:rowId xmlns:a16="http://schemas.microsoft.com/office/drawing/2014/main" val="10010"/>
                  </a:ext>
                </a:extLst>
              </a:tr>
              <a:tr h="370840">
                <a:tc>
                  <a:txBody>
                    <a:bodyPr/>
                    <a:lstStyle/>
                    <a:p>
                      <a:r>
                        <a:rPr lang="en-US" dirty="0"/>
                        <a:t>Mastery (achieving some success)</a:t>
                      </a:r>
                      <a:endParaRPr lang="en-AU" dirty="0"/>
                    </a:p>
                  </a:txBody>
                  <a:tcPr/>
                </a:tc>
                <a:extLst>
                  <a:ext uri="{0D108BD9-81ED-4DB2-BD59-A6C34878D82A}">
                    <a16:rowId xmlns:a16="http://schemas.microsoft.com/office/drawing/2014/main" val="10011"/>
                  </a:ext>
                </a:extLst>
              </a:tr>
            </a:tbl>
          </a:graphicData>
        </a:graphic>
      </p:graphicFrame>
    </p:spTree>
    <p:extLst>
      <p:ext uri="{BB962C8B-B14F-4D97-AF65-F5344CB8AC3E}">
        <p14:creationId xmlns:p14="http://schemas.microsoft.com/office/powerpoint/2010/main" val="2117471287"/>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Mediating and Health Promotion</a:t>
            </a:r>
            <a:endParaRPr lang="en-AU" dirty="0"/>
          </a:p>
        </p:txBody>
      </p:sp>
      <p:sp>
        <p:nvSpPr>
          <p:cNvPr id="3" name="Content Placeholder 2"/>
          <p:cNvSpPr>
            <a:spLocks noGrp="1"/>
          </p:cNvSpPr>
          <p:nvPr>
            <p:ph idx="1"/>
          </p:nvPr>
        </p:nvSpPr>
        <p:spPr/>
        <p:txBody>
          <a:bodyPr/>
          <a:lstStyle/>
          <a:p>
            <a:r>
              <a:rPr lang="en-US" b="1" dirty="0"/>
              <a:t>*Mediate: </a:t>
            </a:r>
            <a:r>
              <a:rPr lang="en-US" dirty="0"/>
              <a:t>To act between parties with a view to reconcile differences</a:t>
            </a:r>
          </a:p>
          <a:p>
            <a:r>
              <a:rPr lang="en-US" dirty="0"/>
              <a:t>The responsibility of health promotion is to link individuals, groups, communities with the health sector, government and non-government </a:t>
            </a:r>
            <a:r>
              <a:rPr lang="en-US" dirty="0" err="1"/>
              <a:t>organisations</a:t>
            </a:r>
            <a:r>
              <a:rPr lang="en-US" dirty="0"/>
              <a:t> with the objective of reconciling the differing interests that exist within society.</a:t>
            </a:r>
          </a:p>
          <a:p>
            <a:endParaRPr lang="en-US" dirty="0"/>
          </a:p>
          <a:p>
            <a:r>
              <a:rPr lang="en-US" dirty="0"/>
              <a:t>People from all walks of life are to be involved in ensuring the inequity is reduced or eliminated between individuals, families and communities.</a:t>
            </a:r>
            <a:endParaRPr lang="en-AU" dirty="0"/>
          </a:p>
        </p:txBody>
      </p:sp>
    </p:spTree>
    <p:extLst>
      <p:ext uri="{BB962C8B-B14F-4D97-AF65-F5344CB8AC3E}">
        <p14:creationId xmlns:p14="http://schemas.microsoft.com/office/powerpoint/2010/main" val="2409225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nvPr>
        </p:nvGraphicFramePr>
        <p:xfrm>
          <a:off x="1919536" y="476672"/>
          <a:ext cx="7620000" cy="5699760"/>
        </p:xfrm>
        <a:graphic>
          <a:graphicData uri="http://schemas.openxmlformats.org/drawingml/2006/table">
            <a:tbl>
              <a:tblPr firstRow="1" bandRow="1">
                <a:tableStyleId>{5C22544A-7EE6-4342-B048-85BDC9FD1C3A}</a:tableStyleId>
              </a:tblPr>
              <a:tblGrid>
                <a:gridCol w="7620000">
                  <a:extLst>
                    <a:ext uri="{9D8B030D-6E8A-4147-A177-3AD203B41FA5}">
                      <a16:colId xmlns:a16="http://schemas.microsoft.com/office/drawing/2014/main" val="20000"/>
                    </a:ext>
                  </a:extLst>
                </a:gridCol>
              </a:tblGrid>
              <a:tr h="370840">
                <a:tc>
                  <a:txBody>
                    <a:bodyPr/>
                    <a:lstStyle/>
                    <a:p>
                      <a:pPr algn="ctr"/>
                      <a:r>
                        <a:rPr lang="en-US" dirty="0"/>
                        <a:t>Mediating strategies</a:t>
                      </a:r>
                      <a:endParaRPr lang="en-AU" dirty="0"/>
                    </a:p>
                  </a:txBody>
                  <a:tcPr/>
                </a:tc>
                <a:extLst>
                  <a:ext uri="{0D108BD9-81ED-4DB2-BD59-A6C34878D82A}">
                    <a16:rowId xmlns:a16="http://schemas.microsoft.com/office/drawing/2014/main" val="10000"/>
                  </a:ext>
                </a:extLst>
              </a:tr>
              <a:tr h="370840">
                <a:tc>
                  <a:txBody>
                    <a:bodyPr/>
                    <a:lstStyle/>
                    <a:p>
                      <a:r>
                        <a:rPr lang="en-US" dirty="0"/>
                        <a:t>Holding</a:t>
                      </a:r>
                      <a:r>
                        <a:rPr lang="en-US" baseline="0" dirty="0"/>
                        <a:t> meetings:</a:t>
                      </a:r>
                    </a:p>
                    <a:p>
                      <a:pPr marL="285750" indent="-285750">
                        <a:buFont typeface="Arial" charset="0"/>
                        <a:buChar char="•"/>
                      </a:pPr>
                      <a:r>
                        <a:rPr lang="en-US" baseline="0" dirty="0"/>
                        <a:t>Getting people together to talk about issues that exist</a:t>
                      </a:r>
                    </a:p>
                    <a:p>
                      <a:pPr marL="285750" indent="-285750">
                        <a:buFont typeface="Arial" charset="0"/>
                        <a:buChar char="•"/>
                      </a:pPr>
                      <a:r>
                        <a:rPr lang="en-US" baseline="0" dirty="0"/>
                        <a:t>Improve the lines of communication between concerning parties</a:t>
                      </a:r>
                      <a:endParaRPr lang="en-AU" dirty="0"/>
                    </a:p>
                  </a:txBody>
                  <a:tcPr/>
                </a:tc>
                <a:extLst>
                  <a:ext uri="{0D108BD9-81ED-4DB2-BD59-A6C34878D82A}">
                    <a16:rowId xmlns:a16="http://schemas.microsoft.com/office/drawing/2014/main" val="10001"/>
                  </a:ext>
                </a:extLst>
              </a:tr>
              <a:tr h="370840">
                <a:tc>
                  <a:txBody>
                    <a:bodyPr/>
                    <a:lstStyle/>
                    <a:p>
                      <a:r>
                        <a:rPr lang="en-US" dirty="0"/>
                        <a:t>Establishing rules or procedures</a:t>
                      </a:r>
                      <a:r>
                        <a:rPr lang="en-US" baseline="0" dirty="0"/>
                        <a:t> for how things should move forward</a:t>
                      </a:r>
                      <a:endParaRPr lang="en-AU" dirty="0"/>
                    </a:p>
                  </a:txBody>
                  <a:tcPr/>
                </a:tc>
                <a:extLst>
                  <a:ext uri="{0D108BD9-81ED-4DB2-BD59-A6C34878D82A}">
                    <a16:rowId xmlns:a16="http://schemas.microsoft.com/office/drawing/2014/main" val="10002"/>
                  </a:ext>
                </a:extLst>
              </a:tr>
              <a:tr h="370840">
                <a:tc>
                  <a:txBody>
                    <a:bodyPr/>
                    <a:lstStyle/>
                    <a:p>
                      <a:r>
                        <a:rPr lang="en-US" dirty="0"/>
                        <a:t>Active listening (listening</a:t>
                      </a:r>
                      <a:r>
                        <a:rPr lang="en-US" baseline="0" dirty="0"/>
                        <a:t> to each party that is involved and finding out what exactly it is that they need)</a:t>
                      </a:r>
                      <a:endParaRPr lang="en-AU" dirty="0"/>
                    </a:p>
                  </a:txBody>
                  <a:tcPr/>
                </a:tc>
                <a:extLst>
                  <a:ext uri="{0D108BD9-81ED-4DB2-BD59-A6C34878D82A}">
                    <a16:rowId xmlns:a16="http://schemas.microsoft.com/office/drawing/2014/main" val="10003"/>
                  </a:ext>
                </a:extLst>
              </a:tr>
              <a:tr h="370840">
                <a:tc>
                  <a:txBody>
                    <a:bodyPr/>
                    <a:lstStyle/>
                    <a:p>
                      <a:r>
                        <a:rPr lang="en-US" dirty="0"/>
                        <a:t>Empathy (trying to understand each concerned</a:t>
                      </a:r>
                      <a:r>
                        <a:rPr lang="en-US" baseline="0" dirty="0"/>
                        <a:t> party)</a:t>
                      </a:r>
                      <a:endParaRPr lang="en-AU" dirty="0"/>
                    </a:p>
                  </a:txBody>
                  <a:tcPr/>
                </a:tc>
                <a:extLst>
                  <a:ext uri="{0D108BD9-81ED-4DB2-BD59-A6C34878D82A}">
                    <a16:rowId xmlns:a16="http://schemas.microsoft.com/office/drawing/2014/main" val="10004"/>
                  </a:ext>
                </a:extLst>
              </a:tr>
              <a:tr h="370840">
                <a:tc>
                  <a:txBody>
                    <a:bodyPr/>
                    <a:lstStyle/>
                    <a:p>
                      <a:r>
                        <a:rPr lang="en-US" dirty="0"/>
                        <a:t>Paraphrasing</a:t>
                      </a:r>
                      <a:r>
                        <a:rPr lang="en-US" baseline="0" dirty="0"/>
                        <a:t> points of view to improve clarity</a:t>
                      </a:r>
                      <a:endParaRPr lang="en-AU" dirty="0"/>
                    </a:p>
                  </a:txBody>
                  <a:tcPr/>
                </a:tc>
                <a:extLst>
                  <a:ext uri="{0D108BD9-81ED-4DB2-BD59-A6C34878D82A}">
                    <a16:rowId xmlns:a16="http://schemas.microsoft.com/office/drawing/2014/main" val="10005"/>
                  </a:ext>
                </a:extLst>
              </a:tr>
              <a:tr h="370840">
                <a:tc>
                  <a:txBody>
                    <a:bodyPr/>
                    <a:lstStyle/>
                    <a:p>
                      <a:r>
                        <a:rPr lang="en-US" dirty="0"/>
                        <a:t>Ensuring that the</a:t>
                      </a:r>
                      <a:r>
                        <a:rPr lang="en-US" baseline="0" dirty="0"/>
                        <a:t> concerned parties share the decision making and decide together on the solutions to the problems</a:t>
                      </a:r>
                      <a:endParaRPr lang="en-AU" dirty="0"/>
                    </a:p>
                  </a:txBody>
                  <a:tcPr/>
                </a:tc>
                <a:extLst>
                  <a:ext uri="{0D108BD9-81ED-4DB2-BD59-A6C34878D82A}">
                    <a16:rowId xmlns:a16="http://schemas.microsoft.com/office/drawing/2014/main" val="10006"/>
                  </a:ext>
                </a:extLst>
              </a:tr>
              <a:tr h="370840">
                <a:tc>
                  <a:txBody>
                    <a:bodyPr/>
                    <a:lstStyle/>
                    <a:p>
                      <a:r>
                        <a:rPr lang="en-US" dirty="0" err="1"/>
                        <a:t>Organisation</a:t>
                      </a:r>
                      <a:r>
                        <a:rPr lang="en-US" dirty="0"/>
                        <a:t> of  concerned parties prior to holding</a:t>
                      </a:r>
                      <a:r>
                        <a:rPr lang="en-US" baseline="0" dirty="0"/>
                        <a:t> meetings (improving preparation for meetings)</a:t>
                      </a:r>
                      <a:endParaRPr lang="en-AU" dirty="0"/>
                    </a:p>
                  </a:txBody>
                  <a:tcPr/>
                </a:tc>
                <a:extLst>
                  <a:ext uri="{0D108BD9-81ED-4DB2-BD59-A6C34878D82A}">
                    <a16:rowId xmlns:a16="http://schemas.microsoft.com/office/drawing/2014/main" val="10007"/>
                  </a:ext>
                </a:extLst>
              </a:tr>
              <a:tr h="370840">
                <a:tc>
                  <a:txBody>
                    <a:bodyPr/>
                    <a:lstStyle/>
                    <a:p>
                      <a:r>
                        <a:rPr lang="en-US" dirty="0"/>
                        <a:t>Developing timelines for solutions</a:t>
                      </a:r>
                      <a:r>
                        <a:rPr lang="en-US" baseline="0" dirty="0"/>
                        <a:t> and for when goals are to be met</a:t>
                      </a:r>
                      <a:endParaRPr lang="en-AU" dirty="0"/>
                    </a:p>
                  </a:txBody>
                  <a:tcPr/>
                </a:tc>
                <a:extLst>
                  <a:ext uri="{0D108BD9-81ED-4DB2-BD59-A6C34878D82A}">
                    <a16:rowId xmlns:a16="http://schemas.microsoft.com/office/drawing/2014/main" val="10008"/>
                  </a:ext>
                </a:extLst>
              </a:tr>
              <a:tr h="370840">
                <a:tc>
                  <a:txBody>
                    <a:bodyPr/>
                    <a:lstStyle/>
                    <a:p>
                      <a:r>
                        <a:rPr lang="en-US" dirty="0"/>
                        <a:t>Constructing</a:t>
                      </a:r>
                      <a:r>
                        <a:rPr lang="en-US" baseline="0" dirty="0"/>
                        <a:t> written agreement packages and distributing them to all concerned parties</a:t>
                      </a:r>
                      <a:endParaRPr lang="en-AU" dirty="0"/>
                    </a:p>
                  </a:txBody>
                  <a:tcPr/>
                </a:tc>
                <a:extLst>
                  <a:ext uri="{0D108BD9-81ED-4DB2-BD59-A6C34878D82A}">
                    <a16:rowId xmlns:a16="http://schemas.microsoft.com/office/drawing/2014/main" val="10009"/>
                  </a:ext>
                </a:extLst>
              </a:tr>
              <a:tr h="370840">
                <a:tc>
                  <a:txBody>
                    <a:bodyPr/>
                    <a:lstStyle/>
                    <a:p>
                      <a:r>
                        <a:rPr lang="en-US" dirty="0"/>
                        <a:t>Facilitating</a:t>
                      </a:r>
                      <a:r>
                        <a:rPr lang="en-US" baseline="0" dirty="0"/>
                        <a:t> agreements on the important issues first</a:t>
                      </a:r>
                      <a:endParaRPr lang="en-AU" dirty="0"/>
                    </a:p>
                  </a:txBody>
                  <a:tcPr/>
                </a:tc>
                <a:extLst>
                  <a:ext uri="{0D108BD9-81ED-4DB2-BD59-A6C34878D82A}">
                    <a16:rowId xmlns:a16="http://schemas.microsoft.com/office/drawing/2014/main" val="10010"/>
                  </a:ext>
                </a:extLst>
              </a:tr>
            </a:tbl>
          </a:graphicData>
        </a:graphic>
      </p:graphicFrame>
    </p:spTree>
    <p:extLst>
      <p:ext uri="{BB962C8B-B14F-4D97-AF65-F5344CB8AC3E}">
        <p14:creationId xmlns:p14="http://schemas.microsoft.com/office/powerpoint/2010/main" val="1178203080"/>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Advocating and Health Promotion</a:t>
            </a:r>
            <a:endParaRPr lang="en-AU" dirty="0"/>
          </a:p>
        </p:txBody>
      </p:sp>
      <p:sp>
        <p:nvSpPr>
          <p:cNvPr id="3" name="Content Placeholder 2"/>
          <p:cNvSpPr>
            <a:spLocks noGrp="1"/>
          </p:cNvSpPr>
          <p:nvPr>
            <p:ph idx="1"/>
          </p:nvPr>
        </p:nvSpPr>
        <p:spPr/>
        <p:txBody>
          <a:bodyPr/>
          <a:lstStyle/>
          <a:p>
            <a:r>
              <a:rPr lang="en-US" b="1" dirty="0"/>
              <a:t>*Advocate: </a:t>
            </a:r>
            <a:r>
              <a:rPr lang="en-US" dirty="0"/>
              <a:t>To plead for a cause or an idea by raising awareness.</a:t>
            </a:r>
          </a:p>
          <a:p>
            <a:r>
              <a:rPr lang="en-US" dirty="0"/>
              <a:t>The aim of Health Promotion should be to reduce inequity through advocacy on behalf of those who are underprivileged or under-represented.</a:t>
            </a:r>
          </a:p>
          <a:p>
            <a:r>
              <a:rPr lang="en-US" dirty="0"/>
              <a:t>Advocacy should be for social, economic and personal development and the improvement of the quality of life.</a:t>
            </a:r>
            <a:endParaRPr lang="en-AU" dirty="0"/>
          </a:p>
        </p:txBody>
      </p:sp>
    </p:spTree>
    <p:extLst>
      <p:ext uri="{BB962C8B-B14F-4D97-AF65-F5344CB8AC3E}">
        <p14:creationId xmlns:p14="http://schemas.microsoft.com/office/powerpoint/2010/main" val="1124565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nvPr>
        </p:nvGraphicFramePr>
        <p:xfrm>
          <a:off x="1991544" y="476672"/>
          <a:ext cx="7620000" cy="5440680"/>
        </p:xfrm>
        <a:graphic>
          <a:graphicData uri="http://schemas.openxmlformats.org/drawingml/2006/table">
            <a:tbl>
              <a:tblPr firstRow="1" bandRow="1">
                <a:tableStyleId>{5C22544A-7EE6-4342-B048-85BDC9FD1C3A}</a:tableStyleId>
              </a:tblPr>
              <a:tblGrid>
                <a:gridCol w="7620000">
                  <a:extLst>
                    <a:ext uri="{9D8B030D-6E8A-4147-A177-3AD203B41FA5}">
                      <a16:colId xmlns:a16="http://schemas.microsoft.com/office/drawing/2014/main" val="20000"/>
                    </a:ext>
                  </a:extLst>
                </a:gridCol>
              </a:tblGrid>
              <a:tr h="370840">
                <a:tc>
                  <a:txBody>
                    <a:bodyPr/>
                    <a:lstStyle/>
                    <a:p>
                      <a:pPr algn="ctr"/>
                      <a:r>
                        <a:rPr lang="en-US" dirty="0"/>
                        <a:t>Advocacy strategies</a:t>
                      </a:r>
                      <a:endParaRPr lang="en-AU" dirty="0"/>
                    </a:p>
                  </a:txBody>
                  <a:tcPr/>
                </a:tc>
                <a:extLst>
                  <a:ext uri="{0D108BD9-81ED-4DB2-BD59-A6C34878D82A}">
                    <a16:rowId xmlns:a16="http://schemas.microsoft.com/office/drawing/2014/main" val="10000"/>
                  </a:ext>
                </a:extLst>
              </a:tr>
              <a:tr h="370840">
                <a:tc>
                  <a:txBody>
                    <a:bodyPr/>
                    <a:lstStyle/>
                    <a:p>
                      <a:r>
                        <a:rPr lang="en-US" dirty="0"/>
                        <a:t>Awareness</a:t>
                      </a:r>
                      <a:r>
                        <a:rPr lang="en-US" baseline="0" dirty="0"/>
                        <a:t> raising strategies</a:t>
                      </a:r>
                      <a:endParaRPr lang="en-AU" dirty="0"/>
                    </a:p>
                  </a:txBody>
                  <a:tcPr/>
                </a:tc>
                <a:extLst>
                  <a:ext uri="{0D108BD9-81ED-4DB2-BD59-A6C34878D82A}">
                    <a16:rowId xmlns:a16="http://schemas.microsoft.com/office/drawing/2014/main" val="10001"/>
                  </a:ext>
                </a:extLst>
              </a:tr>
              <a:tr h="370840">
                <a:tc>
                  <a:txBody>
                    <a:bodyPr/>
                    <a:lstStyle/>
                    <a:p>
                      <a:r>
                        <a:rPr lang="en-US" dirty="0"/>
                        <a:t>Research</a:t>
                      </a:r>
                      <a:r>
                        <a:rPr lang="en-US" baseline="0" dirty="0"/>
                        <a:t> (identifying the causes of inequities or the issues at hand)</a:t>
                      </a:r>
                      <a:endParaRPr lang="en-AU" dirty="0"/>
                    </a:p>
                  </a:txBody>
                  <a:tcPr/>
                </a:tc>
                <a:extLst>
                  <a:ext uri="{0D108BD9-81ED-4DB2-BD59-A6C34878D82A}">
                    <a16:rowId xmlns:a16="http://schemas.microsoft.com/office/drawing/2014/main" val="10002"/>
                  </a:ext>
                </a:extLst>
              </a:tr>
              <a:tr h="370840">
                <a:tc>
                  <a:txBody>
                    <a:bodyPr/>
                    <a:lstStyle/>
                    <a:p>
                      <a:r>
                        <a:rPr lang="en-US" dirty="0"/>
                        <a:t>Holding events</a:t>
                      </a:r>
                      <a:endParaRPr lang="en-AU" dirty="0"/>
                    </a:p>
                  </a:txBody>
                  <a:tcPr/>
                </a:tc>
                <a:extLst>
                  <a:ext uri="{0D108BD9-81ED-4DB2-BD59-A6C34878D82A}">
                    <a16:rowId xmlns:a16="http://schemas.microsoft.com/office/drawing/2014/main" val="10003"/>
                  </a:ext>
                </a:extLst>
              </a:tr>
              <a:tr h="370840">
                <a:tc>
                  <a:txBody>
                    <a:bodyPr/>
                    <a:lstStyle/>
                    <a:p>
                      <a:r>
                        <a:rPr lang="en-US" dirty="0"/>
                        <a:t>Holding press conferences or debates</a:t>
                      </a:r>
                      <a:endParaRPr lang="en-AU" dirty="0"/>
                    </a:p>
                  </a:txBody>
                  <a:tcPr/>
                </a:tc>
                <a:extLst>
                  <a:ext uri="{0D108BD9-81ED-4DB2-BD59-A6C34878D82A}">
                    <a16:rowId xmlns:a16="http://schemas.microsoft.com/office/drawing/2014/main" val="10004"/>
                  </a:ext>
                </a:extLst>
              </a:tr>
              <a:tr h="370840">
                <a:tc>
                  <a:txBody>
                    <a:bodyPr/>
                    <a:lstStyle/>
                    <a:p>
                      <a:r>
                        <a:rPr lang="en-US" dirty="0"/>
                        <a:t>Notifying</a:t>
                      </a:r>
                      <a:r>
                        <a:rPr lang="en-US" baseline="0" dirty="0"/>
                        <a:t> the media</a:t>
                      </a:r>
                      <a:endParaRPr lang="en-AU" dirty="0"/>
                    </a:p>
                  </a:txBody>
                  <a:tcPr/>
                </a:tc>
                <a:extLst>
                  <a:ext uri="{0D108BD9-81ED-4DB2-BD59-A6C34878D82A}">
                    <a16:rowId xmlns:a16="http://schemas.microsoft.com/office/drawing/2014/main" val="10005"/>
                  </a:ext>
                </a:extLst>
              </a:tr>
              <a:tr h="370840">
                <a:tc>
                  <a:txBody>
                    <a:bodyPr/>
                    <a:lstStyle/>
                    <a:p>
                      <a:r>
                        <a:rPr lang="en-US" dirty="0"/>
                        <a:t>Sending press releases inviting</a:t>
                      </a:r>
                      <a:r>
                        <a:rPr lang="en-US" baseline="0" dirty="0"/>
                        <a:t> people to your events</a:t>
                      </a:r>
                      <a:endParaRPr lang="en-AU" dirty="0"/>
                    </a:p>
                  </a:txBody>
                  <a:tcPr/>
                </a:tc>
                <a:extLst>
                  <a:ext uri="{0D108BD9-81ED-4DB2-BD59-A6C34878D82A}">
                    <a16:rowId xmlns:a16="http://schemas.microsoft.com/office/drawing/2014/main" val="10006"/>
                  </a:ext>
                </a:extLst>
              </a:tr>
              <a:tr h="370840">
                <a:tc>
                  <a:txBody>
                    <a:bodyPr/>
                    <a:lstStyle/>
                    <a:p>
                      <a:r>
                        <a:rPr lang="en-US" dirty="0"/>
                        <a:t>Writing to politicians (lobbying)</a:t>
                      </a:r>
                      <a:endParaRPr lang="en-AU" dirty="0"/>
                    </a:p>
                  </a:txBody>
                  <a:tcPr/>
                </a:tc>
                <a:extLst>
                  <a:ext uri="{0D108BD9-81ED-4DB2-BD59-A6C34878D82A}">
                    <a16:rowId xmlns:a16="http://schemas.microsoft.com/office/drawing/2014/main" val="10007"/>
                  </a:ext>
                </a:extLst>
              </a:tr>
              <a:tr h="370840">
                <a:tc>
                  <a:txBody>
                    <a:bodyPr/>
                    <a:lstStyle/>
                    <a:p>
                      <a:r>
                        <a:rPr lang="en-US" dirty="0"/>
                        <a:t>Including</a:t>
                      </a:r>
                      <a:r>
                        <a:rPr lang="en-US" baseline="0" dirty="0"/>
                        <a:t> the people, group or community for which you are advocating in the process</a:t>
                      </a:r>
                      <a:endParaRPr lang="en-AU" dirty="0"/>
                    </a:p>
                  </a:txBody>
                  <a:tcPr/>
                </a:tc>
                <a:extLst>
                  <a:ext uri="{0D108BD9-81ED-4DB2-BD59-A6C34878D82A}">
                    <a16:rowId xmlns:a16="http://schemas.microsoft.com/office/drawing/2014/main" val="10008"/>
                  </a:ext>
                </a:extLst>
              </a:tr>
              <a:tr h="370840">
                <a:tc>
                  <a:txBody>
                    <a:bodyPr/>
                    <a:lstStyle/>
                    <a:p>
                      <a:r>
                        <a:rPr lang="en-US" dirty="0"/>
                        <a:t>Setting goals (identifying and being clear about what you want to achieve)</a:t>
                      </a:r>
                      <a:endParaRPr lang="en-AU" dirty="0"/>
                    </a:p>
                  </a:txBody>
                  <a:tcPr/>
                </a:tc>
                <a:extLst>
                  <a:ext uri="{0D108BD9-81ED-4DB2-BD59-A6C34878D82A}">
                    <a16:rowId xmlns:a16="http://schemas.microsoft.com/office/drawing/2014/main" val="10009"/>
                  </a:ext>
                </a:extLst>
              </a:tr>
              <a:tr h="370840">
                <a:tc>
                  <a:txBody>
                    <a:bodyPr/>
                    <a:lstStyle/>
                    <a:p>
                      <a:r>
                        <a:rPr lang="en-US" dirty="0"/>
                        <a:t>Using multiple</a:t>
                      </a:r>
                      <a:r>
                        <a:rPr lang="en-US" baseline="0" dirty="0"/>
                        <a:t> methods of communications:</a:t>
                      </a:r>
                    </a:p>
                    <a:p>
                      <a:pPr marL="285750" indent="-285750">
                        <a:buFont typeface="Arial" charset="0"/>
                        <a:buChar char="•"/>
                      </a:pPr>
                      <a:r>
                        <a:rPr lang="en-US" baseline="0" dirty="0"/>
                        <a:t>Internet</a:t>
                      </a:r>
                    </a:p>
                    <a:p>
                      <a:pPr marL="285750" indent="-285750">
                        <a:buFont typeface="Arial" charset="0"/>
                        <a:buChar char="•"/>
                      </a:pPr>
                      <a:r>
                        <a:rPr lang="en-US" baseline="0" dirty="0"/>
                        <a:t>Holding events</a:t>
                      </a:r>
                    </a:p>
                    <a:p>
                      <a:pPr marL="285750" indent="-285750">
                        <a:buFont typeface="Arial" charset="0"/>
                        <a:buChar char="•"/>
                      </a:pPr>
                      <a:r>
                        <a:rPr lang="en-US" baseline="0" dirty="0"/>
                        <a:t>Newsletters</a:t>
                      </a:r>
                    </a:p>
                    <a:p>
                      <a:pPr marL="285750" indent="-285750">
                        <a:buFont typeface="Arial" charset="0"/>
                        <a:buChar char="•"/>
                      </a:pPr>
                      <a:r>
                        <a:rPr lang="en-US" baseline="0" dirty="0"/>
                        <a:t>Advertisements </a:t>
                      </a:r>
                      <a:endParaRPr lang="en-AU" dirty="0"/>
                    </a:p>
                  </a:txBody>
                  <a:tcPr/>
                </a:tc>
                <a:extLst>
                  <a:ext uri="{0D108BD9-81ED-4DB2-BD59-A6C34878D82A}">
                    <a16:rowId xmlns:a16="http://schemas.microsoft.com/office/drawing/2014/main" val="10010"/>
                  </a:ext>
                </a:extLst>
              </a:tr>
            </a:tbl>
          </a:graphicData>
        </a:graphic>
      </p:graphicFrame>
    </p:spTree>
    <p:extLst>
      <p:ext uri="{BB962C8B-B14F-4D97-AF65-F5344CB8AC3E}">
        <p14:creationId xmlns:p14="http://schemas.microsoft.com/office/powerpoint/2010/main" val="272013051"/>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88FEB6-CD3B-4298-970C-0A2FC7C20692}"/>
              </a:ext>
            </a:extLst>
          </p:cNvPr>
          <p:cNvSpPr>
            <a:spLocks noGrp="1"/>
          </p:cNvSpPr>
          <p:nvPr>
            <p:ph type="title"/>
          </p:nvPr>
        </p:nvSpPr>
        <p:spPr/>
        <p:txBody>
          <a:bodyPr/>
          <a:lstStyle/>
          <a:p>
            <a:r>
              <a:rPr lang="en-US" dirty="0"/>
              <a:t>Application: Wace question</a:t>
            </a:r>
            <a:endParaRPr lang="en-AU" dirty="0"/>
          </a:p>
        </p:txBody>
      </p:sp>
      <p:sp>
        <p:nvSpPr>
          <p:cNvPr id="3" name="Content Placeholder 2">
            <a:extLst>
              <a:ext uri="{FF2B5EF4-FFF2-40B4-BE49-F238E27FC236}">
                <a16:creationId xmlns:a16="http://schemas.microsoft.com/office/drawing/2014/main" id="{D0D2F5D0-94E4-488A-99BD-B506FFD4E087}"/>
              </a:ext>
            </a:extLst>
          </p:cNvPr>
          <p:cNvSpPr>
            <a:spLocks noGrp="1"/>
          </p:cNvSpPr>
          <p:nvPr>
            <p:ph idx="1"/>
          </p:nvPr>
        </p:nvSpPr>
        <p:spPr/>
        <p:txBody>
          <a:bodyPr/>
          <a:lstStyle/>
          <a:p>
            <a:r>
              <a:rPr lang="en-US" dirty="0"/>
              <a:t>Complete Q29b from the 2018 WACE exam.</a:t>
            </a:r>
            <a:endParaRPr lang="en-AU" dirty="0"/>
          </a:p>
        </p:txBody>
      </p:sp>
    </p:spTree>
    <p:extLst>
      <p:ext uri="{BB962C8B-B14F-4D97-AF65-F5344CB8AC3E}">
        <p14:creationId xmlns:p14="http://schemas.microsoft.com/office/powerpoint/2010/main" val="2662153967"/>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References</a:t>
            </a:r>
            <a:endParaRPr lang="en-AU" dirty="0"/>
          </a:p>
        </p:txBody>
      </p:sp>
      <p:sp>
        <p:nvSpPr>
          <p:cNvPr id="3" name="Content Placeholder 2"/>
          <p:cNvSpPr>
            <a:spLocks noGrp="1"/>
          </p:cNvSpPr>
          <p:nvPr>
            <p:ph idx="1"/>
          </p:nvPr>
        </p:nvSpPr>
        <p:spPr/>
        <p:txBody>
          <a:bodyPr/>
          <a:lstStyle/>
          <a:p>
            <a:r>
              <a:rPr lang="en-US" dirty="0"/>
              <a:t>Lockhart, E. (2011). </a:t>
            </a:r>
            <a:r>
              <a:rPr lang="en-US" i="1" dirty="0"/>
              <a:t>Health Studies Stage 3A-b. </a:t>
            </a:r>
            <a:r>
              <a:rPr lang="en-US" dirty="0" err="1"/>
              <a:t>Madeley</a:t>
            </a:r>
            <a:r>
              <a:rPr lang="en-US" dirty="0"/>
              <a:t>: Print Publishing.</a:t>
            </a:r>
          </a:p>
          <a:p>
            <a:pPr marL="114300" indent="0">
              <a:buNone/>
            </a:pPr>
            <a:r>
              <a:rPr lang="en-US" b="0" i="0" dirty="0">
                <a:solidFill>
                  <a:srgbClr val="000000"/>
                </a:solidFill>
                <a:effectLst/>
              </a:rPr>
              <a:t>Beaumont, A. and Fettling, M., 2018. </a:t>
            </a:r>
            <a:r>
              <a:rPr lang="en-US" b="0" i="1" dirty="0">
                <a:solidFill>
                  <a:srgbClr val="000000"/>
                </a:solidFill>
                <a:effectLst/>
              </a:rPr>
              <a:t>Jacaranda Key Concepts In VCE Health &amp; Human Development Units 3 And 4 Sixth Edition</a:t>
            </a:r>
            <a:r>
              <a:rPr lang="en-US" b="0" i="0" dirty="0">
                <a:solidFill>
                  <a:srgbClr val="000000"/>
                </a:solidFill>
                <a:effectLst/>
              </a:rPr>
              <a:t>. 6th ed. Wiley &amp; Sons Publishing, pp.291-295.</a:t>
            </a:r>
            <a:endParaRPr lang="en-AU" dirty="0"/>
          </a:p>
        </p:txBody>
      </p:sp>
    </p:spTree>
    <p:extLst>
      <p:ext uri="{BB962C8B-B14F-4D97-AF65-F5344CB8AC3E}">
        <p14:creationId xmlns:p14="http://schemas.microsoft.com/office/powerpoint/2010/main" val="160232934"/>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Actions to address health inequities</a:t>
            </a:r>
            <a:endParaRPr lang="en-AU" dirty="0"/>
          </a:p>
        </p:txBody>
      </p:sp>
      <p:sp>
        <p:nvSpPr>
          <p:cNvPr id="3" name="Subtitle 2"/>
          <p:cNvSpPr>
            <a:spLocks noGrp="1"/>
          </p:cNvSpPr>
          <p:nvPr>
            <p:ph type="subTitle" idx="1"/>
          </p:nvPr>
        </p:nvSpPr>
        <p:spPr/>
        <p:txBody>
          <a:bodyPr>
            <a:normAutofit/>
          </a:bodyPr>
          <a:lstStyle/>
          <a:p>
            <a:r>
              <a:rPr lang="en-US" sz="2200" dirty="0"/>
              <a:t>Term 1</a:t>
            </a:r>
          </a:p>
          <a:p>
            <a:r>
              <a:rPr lang="en-US" sz="2200" dirty="0"/>
              <a:t>Week 7</a:t>
            </a:r>
            <a:endParaRPr lang="en-AU" sz="2200" dirty="0"/>
          </a:p>
        </p:txBody>
      </p:sp>
    </p:spTree>
    <p:extLst>
      <p:ext uri="{BB962C8B-B14F-4D97-AF65-F5344CB8AC3E}">
        <p14:creationId xmlns:p14="http://schemas.microsoft.com/office/powerpoint/2010/main" val="1566336978"/>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9E4C68A-A4A9-48A4-9FF2-D2896B1EA01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E2B9AEA5-52CB-49A6-AF8A-33502F291B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654296"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964788" y="804333"/>
            <a:ext cx="3302412" cy="5249334"/>
          </a:xfrm>
        </p:spPr>
        <p:txBody>
          <a:bodyPr>
            <a:normAutofit/>
          </a:bodyPr>
          <a:lstStyle/>
          <a:p>
            <a:pPr algn="r"/>
            <a:r>
              <a:rPr lang="en-US">
                <a:solidFill>
                  <a:srgbClr val="FFFFFF"/>
                </a:solidFill>
              </a:rPr>
              <a:t>Syllabus content</a:t>
            </a:r>
            <a:endParaRPr lang="en-AU">
              <a:solidFill>
                <a:srgbClr val="FFFFFF"/>
              </a:solidFill>
            </a:endParaRPr>
          </a:p>
        </p:txBody>
      </p:sp>
      <p:sp>
        <p:nvSpPr>
          <p:cNvPr id="3" name="Content Placeholder 2"/>
          <p:cNvSpPr>
            <a:spLocks noGrp="1"/>
          </p:cNvSpPr>
          <p:nvPr>
            <p:ph idx="1"/>
          </p:nvPr>
        </p:nvSpPr>
        <p:spPr>
          <a:xfrm>
            <a:off x="5109882" y="804333"/>
            <a:ext cx="6147169" cy="5249334"/>
          </a:xfrm>
        </p:spPr>
        <p:txBody>
          <a:bodyPr anchor="ctr">
            <a:normAutofit/>
          </a:bodyPr>
          <a:lstStyle/>
          <a:p>
            <a:pPr lvl="0">
              <a:buFont typeface="Wingdings" charset="2"/>
              <a:buChar char="v"/>
            </a:pPr>
            <a:r>
              <a:rPr lang="en-AU" dirty="0"/>
              <a:t> Actions to address health inequity</a:t>
            </a:r>
            <a:endParaRPr lang="en-GB" dirty="0"/>
          </a:p>
          <a:p>
            <a:pPr lvl="0">
              <a:buFont typeface="Arial" charset="0"/>
              <a:buChar char="•"/>
            </a:pPr>
            <a:r>
              <a:rPr lang="en-AU" dirty="0"/>
              <a:t> Improving access to health care</a:t>
            </a:r>
            <a:endParaRPr lang="en-GB" dirty="0"/>
          </a:p>
          <a:p>
            <a:pPr lvl="0">
              <a:buFont typeface="Arial" charset="0"/>
              <a:buChar char="•"/>
            </a:pPr>
            <a:r>
              <a:rPr lang="en-AU" dirty="0"/>
              <a:t> Improving health literacy</a:t>
            </a:r>
            <a:endParaRPr lang="en-GB" dirty="0"/>
          </a:p>
          <a:p>
            <a:pPr lvl="0">
              <a:buFont typeface="Arial" charset="0"/>
              <a:buChar char="•"/>
            </a:pPr>
            <a:r>
              <a:rPr lang="en-AU" i="1" dirty="0"/>
              <a:t> Ottawa Charter</a:t>
            </a:r>
            <a:r>
              <a:rPr lang="en-AU" dirty="0"/>
              <a:t> action areas</a:t>
            </a:r>
            <a:br>
              <a:rPr lang="en-AU" dirty="0"/>
            </a:br>
            <a:endParaRPr lang="en-GB" dirty="0"/>
          </a:p>
          <a:p>
            <a:pPr marL="114300" indent="0">
              <a:buNone/>
            </a:pPr>
            <a:endParaRPr lang="en-AU" dirty="0"/>
          </a:p>
        </p:txBody>
      </p:sp>
    </p:spTree>
    <p:extLst>
      <p:ext uri="{BB962C8B-B14F-4D97-AF65-F5344CB8AC3E}">
        <p14:creationId xmlns:p14="http://schemas.microsoft.com/office/powerpoint/2010/main" val="30755856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Improving access to healthcare</a:t>
            </a:r>
            <a:endParaRPr lang="en-AU" dirty="0"/>
          </a:p>
        </p:txBody>
      </p:sp>
      <p:sp>
        <p:nvSpPr>
          <p:cNvPr id="3" name="Content Placeholder 2"/>
          <p:cNvSpPr>
            <a:spLocks noGrp="1"/>
          </p:cNvSpPr>
          <p:nvPr>
            <p:ph idx="1"/>
          </p:nvPr>
        </p:nvSpPr>
        <p:spPr/>
        <p:txBody>
          <a:bodyPr>
            <a:normAutofit/>
          </a:bodyPr>
          <a:lstStyle/>
          <a:p>
            <a:r>
              <a:rPr lang="en-US" dirty="0"/>
              <a:t>What might this look like in general?</a:t>
            </a:r>
          </a:p>
          <a:p>
            <a:r>
              <a:rPr lang="en-US" dirty="0"/>
              <a:t>Think about the 5A’s (availability, affordability, adaptability, acceptability and accessibility)</a:t>
            </a:r>
          </a:p>
          <a:p>
            <a:r>
              <a:rPr lang="en-US" dirty="0"/>
              <a:t> </a:t>
            </a:r>
          </a:p>
          <a:p>
            <a:pPr>
              <a:buFont typeface="Wingdings" charset="2"/>
              <a:buChar char="v"/>
            </a:pPr>
            <a:endParaRPr lang="en-US" dirty="0"/>
          </a:p>
        </p:txBody>
      </p:sp>
    </p:spTree>
    <p:extLst>
      <p:ext uri="{BB962C8B-B14F-4D97-AF65-F5344CB8AC3E}">
        <p14:creationId xmlns:p14="http://schemas.microsoft.com/office/powerpoint/2010/main" val="849399277"/>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24128" y="585216"/>
            <a:ext cx="9720072" cy="1078484"/>
          </a:xfrm>
        </p:spPr>
        <p:txBody>
          <a:bodyPr/>
          <a:lstStyle/>
          <a:p>
            <a:r>
              <a:rPr lang="en-US" dirty="0"/>
              <a:t>Access to healthcare in Australia</a:t>
            </a:r>
            <a:endParaRPr lang="en-AU" dirty="0"/>
          </a:p>
        </p:txBody>
      </p:sp>
      <p:sp>
        <p:nvSpPr>
          <p:cNvPr id="3" name="Content Placeholder 2"/>
          <p:cNvSpPr>
            <a:spLocks noGrp="1"/>
          </p:cNvSpPr>
          <p:nvPr>
            <p:ph idx="1"/>
          </p:nvPr>
        </p:nvSpPr>
        <p:spPr>
          <a:xfrm>
            <a:off x="1024128" y="1663700"/>
            <a:ext cx="10304272" cy="4667250"/>
          </a:xfrm>
        </p:spPr>
        <p:txBody>
          <a:bodyPr>
            <a:normAutofit/>
          </a:bodyPr>
          <a:lstStyle/>
          <a:p>
            <a:pPr>
              <a:buFont typeface="Wingdings" charset="2"/>
              <a:buChar char="v"/>
            </a:pPr>
            <a:r>
              <a:rPr lang="en-US" dirty="0"/>
              <a:t>Making sure that there are centers closer to people</a:t>
            </a:r>
          </a:p>
          <a:p>
            <a:pPr>
              <a:buFont typeface="Wingdings" charset="2"/>
              <a:buChar char="v"/>
            </a:pPr>
            <a:r>
              <a:rPr lang="en-US" dirty="0"/>
              <a:t>making transport to health care easier and more user friendly (and parking)</a:t>
            </a:r>
          </a:p>
          <a:p>
            <a:pPr>
              <a:buFont typeface="Wingdings" charset="2"/>
              <a:buChar char="v"/>
            </a:pPr>
            <a:r>
              <a:rPr lang="en-US" dirty="0"/>
              <a:t>making health care cheaper and more financially accessible</a:t>
            </a:r>
          </a:p>
          <a:p>
            <a:pPr>
              <a:buFont typeface="Wingdings" charset="2"/>
              <a:buChar char="v"/>
            </a:pPr>
            <a:r>
              <a:rPr lang="en-US" dirty="0"/>
              <a:t>making health care cater for the needs of the people better.</a:t>
            </a:r>
          </a:p>
          <a:p>
            <a:pPr>
              <a:buFont typeface="Wingdings" charset="2"/>
              <a:buChar char="v"/>
            </a:pPr>
            <a:r>
              <a:rPr lang="en-US" dirty="0"/>
              <a:t>Medicare could cover more products and services to make health care more affordable.</a:t>
            </a:r>
          </a:p>
          <a:p>
            <a:pPr>
              <a:buFont typeface="Wingdings" charset="2"/>
              <a:buChar char="v"/>
            </a:pPr>
            <a:r>
              <a:rPr lang="en-US" dirty="0"/>
              <a:t>Rural/country towns could have more doctors and better facilities</a:t>
            </a:r>
          </a:p>
          <a:p>
            <a:pPr>
              <a:buFont typeface="Wingdings" charset="2"/>
              <a:buChar char="v"/>
            </a:pPr>
            <a:r>
              <a:rPr lang="en-US" dirty="0"/>
              <a:t>Health care could be more culturally diverse and respect the culture and religion of all Australians</a:t>
            </a:r>
          </a:p>
          <a:p>
            <a:pPr>
              <a:buFont typeface="Wingdings" charset="2"/>
              <a:buChar char="v"/>
            </a:pPr>
            <a:r>
              <a:rPr lang="en-US" dirty="0"/>
              <a:t>Ambulances could be cheaper and dispatched/arrive faster</a:t>
            </a:r>
          </a:p>
          <a:p>
            <a:pPr>
              <a:buFont typeface="Wingdings" charset="2"/>
              <a:buChar char="v"/>
            </a:pPr>
            <a:r>
              <a:rPr lang="en-US" dirty="0"/>
              <a:t>Waiting times in emergency rooms and on surgery lists lessened</a:t>
            </a:r>
            <a:endParaRPr lang="en-AU" dirty="0"/>
          </a:p>
          <a:p>
            <a:endParaRPr lang="en-AU" dirty="0"/>
          </a:p>
        </p:txBody>
      </p:sp>
    </p:spTree>
    <p:extLst>
      <p:ext uri="{BB962C8B-B14F-4D97-AF65-F5344CB8AC3E}">
        <p14:creationId xmlns:p14="http://schemas.microsoft.com/office/powerpoint/2010/main" val="18076020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Improving health literacy</a:t>
            </a:r>
            <a:endParaRPr lang="en-AU" dirty="0"/>
          </a:p>
        </p:txBody>
      </p:sp>
      <p:sp>
        <p:nvSpPr>
          <p:cNvPr id="3" name="Content Placeholder 2"/>
          <p:cNvSpPr>
            <a:spLocks noGrp="1"/>
          </p:cNvSpPr>
          <p:nvPr>
            <p:ph idx="1"/>
          </p:nvPr>
        </p:nvSpPr>
        <p:spPr/>
        <p:txBody>
          <a:bodyPr>
            <a:normAutofit/>
          </a:bodyPr>
          <a:lstStyle/>
          <a:p>
            <a:pPr>
              <a:buFont typeface="Wingdings" charset="2"/>
              <a:buChar char="v"/>
            </a:pPr>
            <a:r>
              <a:rPr lang="en-US" dirty="0"/>
              <a:t>Enabling people to better understand medical and health terminology, </a:t>
            </a:r>
          </a:p>
          <a:p>
            <a:pPr>
              <a:buFont typeface="Wingdings" charset="2"/>
              <a:buChar char="v"/>
            </a:pPr>
            <a:r>
              <a:rPr lang="en-US" dirty="0"/>
              <a:t>Empowering people to make more informed choices regarding their health</a:t>
            </a:r>
          </a:p>
          <a:p>
            <a:pPr>
              <a:buFont typeface="Wingdings" charset="2"/>
              <a:buChar char="v"/>
            </a:pPr>
            <a:r>
              <a:rPr lang="en-US" dirty="0"/>
              <a:t>Helping people critically analyse health information.</a:t>
            </a:r>
          </a:p>
          <a:p>
            <a:endParaRPr lang="en-US" dirty="0"/>
          </a:p>
          <a:p>
            <a:endParaRPr lang="en-AU" dirty="0"/>
          </a:p>
        </p:txBody>
      </p:sp>
    </p:spTree>
    <p:extLst>
      <p:ext uri="{BB962C8B-B14F-4D97-AF65-F5344CB8AC3E}">
        <p14:creationId xmlns:p14="http://schemas.microsoft.com/office/powerpoint/2010/main" val="27116269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A3B65B-616C-45EA-BA21-7119962F2C09}"/>
              </a:ext>
            </a:extLst>
          </p:cNvPr>
          <p:cNvSpPr>
            <a:spLocks noGrp="1"/>
          </p:cNvSpPr>
          <p:nvPr>
            <p:ph type="title"/>
          </p:nvPr>
        </p:nvSpPr>
        <p:spPr/>
        <p:txBody>
          <a:bodyPr/>
          <a:lstStyle/>
          <a:p>
            <a:r>
              <a:rPr lang="en-US" dirty="0"/>
              <a:t>Poor health literacy</a:t>
            </a:r>
            <a:endParaRPr lang="en-AU" dirty="0"/>
          </a:p>
        </p:txBody>
      </p:sp>
      <p:sp>
        <p:nvSpPr>
          <p:cNvPr id="3" name="Content Placeholder 2">
            <a:extLst>
              <a:ext uri="{FF2B5EF4-FFF2-40B4-BE49-F238E27FC236}">
                <a16:creationId xmlns:a16="http://schemas.microsoft.com/office/drawing/2014/main" id="{0ABA5029-B132-403C-926B-646605B11BB8}"/>
              </a:ext>
            </a:extLst>
          </p:cNvPr>
          <p:cNvSpPr>
            <a:spLocks noGrp="1"/>
          </p:cNvSpPr>
          <p:nvPr>
            <p:ph idx="1"/>
          </p:nvPr>
        </p:nvSpPr>
        <p:spPr/>
        <p:txBody>
          <a:bodyPr>
            <a:normAutofit/>
          </a:bodyPr>
          <a:lstStyle/>
          <a:p>
            <a:r>
              <a:rPr lang="en-US" b="1" dirty="0"/>
              <a:t>Discussion question: Who tends to have poor health literacy?</a:t>
            </a:r>
          </a:p>
          <a:p>
            <a:r>
              <a:rPr lang="en-US" dirty="0"/>
              <a:t>LSES individuals, uneducated, homeless and socially isolated people tend to have lower health literacy. </a:t>
            </a:r>
          </a:p>
          <a:p>
            <a:endParaRPr lang="en-US" b="1" dirty="0"/>
          </a:p>
          <a:p>
            <a:r>
              <a:rPr lang="en-US" b="1" dirty="0"/>
              <a:t>Discussion question: What kind of impacts does poor health literacy have?</a:t>
            </a:r>
          </a:p>
          <a:p>
            <a:r>
              <a:rPr lang="en-US" dirty="0"/>
              <a:t>Individuals feel hopeless and out of control of their own health.</a:t>
            </a:r>
          </a:p>
          <a:p>
            <a:r>
              <a:rPr lang="en-US" dirty="0"/>
              <a:t>Individuals don’t know when they need healthcare (not able to understand symptoms) or how to access appropriate healthcare.</a:t>
            </a:r>
          </a:p>
          <a:p>
            <a:r>
              <a:rPr lang="en-US" dirty="0"/>
              <a:t>Increases chance of disease and comorbidities.</a:t>
            </a:r>
          </a:p>
          <a:p>
            <a:endParaRPr lang="en-US" dirty="0"/>
          </a:p>
          <a:p>
            <a:endParaRPr lang="en-US" dirty="0"/>
          </a:p>
          <a:p>
            <a:endParaRPr lang="en-AU" dirty="0"/>
          </a:p>
        </p:txBody>
      </p:sp>
    </p:spTree>
    <p:extLst>
      <p:ext uri="{BB962C8B-B14F-4D97-AF65-F5344CB8AC3E}">
        <p14:creationId xmlns:p14="http://schemas.microsoft.com/office/powerpoint/2010/main" val="42041386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A3B65B-616C-45EA-BA21-7119962F2C09}"/>
              </a:ext>
            </a:extLst>
          </p:cNvPr>
          <p:cNvSpPr>
            <a:spLocks noGrp="1"/>
          </p:cNvSpPr>
          <p:nvPr>
            <p:ph type="title"/>
          </p:nvPr>
        </p:nvSpPr>
        <p:spPr/>
        <p:txBody>
          <a:bodyPr/>
          <a:lstStyle/>
          <a:p>
            <a:r>
              <a:rPr lang="en-US" dirty="0"/>
              <a:t>Good health literacy</a:t>
            </a:r>
            <a:endParaRPr lang="en-AU" dirty="0"/>
          </a:p>
        </p:txBody>
      </p:sp>
      <p:sp>
        <p:nvSpPr>
          <p:cNvPr id="3" name="Content Placeholder 2">
            <a:extLst>
              <a:ext uri="{FF2B5EF4-FFF2-40B4-BE49-F238E27FC236}">
                <a16:creationId xmlns:a16="http://schemas.microsoft.com/office/drawing/2014/main" id="{0ABA5029-B132-403C-926B-646605B11BB8}"/>
              </a:ext>
            </a:extLst>
          </p:cNvPr>
          <p:cNvSpPr>
            <a:spLocks noGrp="1"/>
          </p:cNvSpPr>
          <p:nvPr>
            <p:ph idx="1"/>
          </p:nvPr>
        </p:nvSpPr>
        <p:spPr/>
        <p:txBody>
          <a:bodyPr>
            <a:normAutofit lnSpcReduction="10000"/>
          </a:bodyPr>
          <a:lstStyle/>
          <a:p>
            <a:r>
              <a:rPr lang="en-US" b="1" dirty="0"/>
              <a:t>Discussion question: Who tends to have good health literacy?</a:t>
            </a:r>
          </a:p>
          <a:p>
            <a:r>
              <a:rPr lang="en-US" dirty="0"/>
              <a:t>Highly educated, high SES individuals and communities. </a:t>
            </a:r>
          </a:p>
          <a:p>
            <a:endParaRPr lang="en-US" dirty="0"/>
          </a:p>
          <a:p>
            <a:r>
              <a:rPr lang="en-US" b="1" dirty="0"/>
              <a:t>Discussion question: What kind of impacts does good health literacy have?</a:t>
            </a:r>
          </a:p>
          <a:p>
            <a:r>
              <a:rPr lang="en-US" dirty="0"/>
              <a:t>Individuals feel in control of their health.</a:t>
            </a:r>
          </a:p>
          <a:p>
            <a:r>
              <a:rPr lang="en-US" dirty="0"/>
              <a:t>Individuals can make better decisions regarding their health</a:t>
            </a:r>
          </a:p>
          <a:p>
            <a:r>
              <a:rPr lang="en-US" dirty="0"/>
              <a:t>Individuals can follow health plans </a:t>
            </a:r>
          </a:p>
          <a:p>
            <a:r>
              <a:rPr lang="en-US" dirty="0"/>
              <a:t>They can recognise when they need help and know how to access appropriate healthcare. </a:t>
            </a:r>
          </a:p>
          <a:p>
            <a:endParaRPr lang="en-AU" dirty="0"/>
          </a:p>
        </p:txBody>
      </p:sp>
    </p:spTree>
    <p:extLst>
      <p:ext uri="{BB962C8B-B14F-4D97-AF65-F5344CB8AC3E}">
        <p14:creationId xmlns:p14="http://schemas.microsoft.com/office/powerpoint/2010/main" val="1362590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523875-ED33-4D98-B363-5FF5F3E02935}"/>
              </a:ext>
            </a:extLst>
          </p:cNvPr>
          <p:cNvSpPr>
            <a:spLocks noGrp="1"/>
          </p:cNvSpPr>
          <p:nvPr>
            <p:ph type="title"/>
          </p:nvPr>
        </p:nvSpPr>
        <p:spPr/>
        <p:txBody>
          <a:bodyPr/>
          <a:lstStyle/>
          <a:p>
            <a:r>
              <a:rPr lang="en-US" dirty="0"/>
              <a:t>View &amp; reading</a:t>
            </a:r>
            <a:endParaRPr lang="en-AU" dirty="0"/>
          </a:p>
        </p:txBody>
      </p:sp>
      <p:sp>
        <p:nvSpPr>
          <p:cNvPr id="3" name="Content Placeholder 2">
            <a:extLst>
              <a:ext uri="{FF2B5EF4-FFF2-40B4-BE49-F238E27FC236}">
                <a16:creationId xmlns:a16="http://schemas.microsoft.com/office/drawing/2014/main" id="{50A79201-5FF6-4E94-A90F-0CF90C1CCBE3}"/>
              </a:ext>
            </a:extLst>
          </p:cNvPr>
          <p:cNvSpPr>
            <a:spLocks noGrp="1"/>
          </p:cNvSpPr>
          <p:nvPr>
            <p:ph idx="1"/>
          </p:nvPr>
        </p:nvSpPr>
        <p:spPr/>
        <p:txBody>
          <a:bodyPr>
            <a:normAutofit lnSpcReduction="10000"/>
          </a:bodyPr>
          <a:lstStyle/>
          <a:p>
            <a:pPr marL="0" indent="0">
              <a:buNone/>
            </a:pPr>
            <a:r>
              <a:rPr lang="en-AU" dirty="0"/>
              <a:t>Watch the 2 min video below, then complete the reading.</a:t>
            </a:r>
            <a:endParaRPr lang="en-AU" dirty="0">
              <a:hlinkClick r:id="rId2"/>
            </a:endParaRPr>
          </a:p>
          <a:p>
            <a:pPr marL="0" indent="0">
              <a:buNone/>
            </a:pPr>
            <a:r>
              <a:rPr lang="en-AU" dirty="0">
                <a:hlinkClick r:id="rId2"/>
              </a:rPr>
              <a:t>https://www.sbs.com.au/news/insight/how-literacy-classes-have-transformed-a-town</a:t>
            </a:r>
            <a:endParaRPr lang="en-US" dirty="0"/>
          </a:p>
          <a:p>
            <a:endParaRPr lang="en-US" dirty="0"/>
          </a:p>
          <a:p>
            <a:r>
              <a:rPr lang="en-US" dirty="0"/>
              <a:t>Read the article at:</a:t>
            </a:r>
          </a:p>
          <a:p>
            <a:r>
              <a:rPr lang="en-AU" dirty="0">
                <a:hlinkClick r:id="rId3"/>
              </a:rPr>
              <a:t>https://theconversation.com/to-lift-literacy-levels-among-indigenous-children-their-parents-literacy-skills-must-be-improved-first-78827</a:t>
            </a:r>
            <a:endParaRPr lang="en-AU" dirty="0"/>
          </a:p>
          <a:p>
            <a:endParaRPr lang="en-AU" dirty="0"/>
          </a:p>
          <a:p>
            <a:r>
              <a:rPr lang="en-AU" dirty="0"/>
              <a:t>How is this adult literacy program working to improve health literacy? </a:t>
            </a:r>
          </a:p>
          <a:p>
            <a:r>
              <a:rPr lang="en-AU" dirty="0"/>
              <a:t>(Consider the health literacy of both adults and their children.)</a:t>
            </a:r>
          </a:p>
          <a:p>
            <a:endParaRPr lang="en-AU" dirty="0"/>
          </a:p>
        </p:txBody>
      </p:sp>
    </p:spTree>
    <p:extLst>
      <p:ext uri="{BB962C8B-B14F-4D97-AF65-F5344CB8AC3E}">
        <p14:creationId xmlns:p14="http://schemas.microsoft.com/office/powerpoint/2010/main" val="2446276798"/>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Ottawa Charter Action Areas</a:t>
            </a:r>
            <a:endParaRPr lang="en-AU" dirty="0"/>
          </a:p>
        </p:txBody>
      </p:sp>
      <p:sp>
        <p:nvSpPr>
          <p:cNvPr id="3" name="Content Placeholder 2"/>
          <p:cNvSpPr>
            <a:spLocks noGrp="1"/>
          </p:cNvSpPr>
          <p:nvPr>
            <p:ph idx="1"/>
          </p:nvPr>
        </p:nvSpPr>
        <p:spPr/>
        <p:txBody>
          <a:bodyPr>
            <a:normAutofit/>
          </a:bodyPr>
          <a:lstStyle/>
          <a:p>
            <a:r>
              <a:rPr lang="en-US" dirty="0"/>
              <a:t>Together the 5 action areas form a comprehensive health promotion strategy or program. Interventions should include one action from each action area; develop personal skills, re-orient health services, create supportive environments, strengthen community action and build healthy public policy.</a:t>
            </a:r>
          </a:p>
          <a:p>
            <a:r>
              <a:rPr lang="en-US" dirty="0"/>
              <a:t>Much health inequity is out of the control of the individual. Environmental factors keep people experiencing poor health. Ottawa charter action areas help change the environment and thus allow the individual to take control of their own health. By making healthy public policy and creating supportive environments and re-orienting health services allow the individual to experience better health.</a:t>
            </a:r>
            <a:r>
              <a:rPr lang="en-US" b="1" dirty="0"/>
              <a:t> </a:t>
            </a:r>
            <a:endParaRPr lang="en-AU" dirty="0"/>
          </a:p>
        </p:txBody>
      </p:sp>
    </p:spTree>
    <p:extLst>
      <p:ext uri="{BB962C8B-B14F-4D97-AF65-F5344CB8AC3E}">
        <p14:creationId xmlns:p14="http://schemas.microsoft.com/office/powerpoint/2010/main" val="3496036906"/>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EF936958-1A6E-4841-8289-4F7904B204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A496451F-B44A-451D-AA20-B1DAA958C3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2033E876-9C10-4610-867C-3F1C1290E0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466" y="643468"/>
            <a:ext cx="10905067" cy="5571066"/>
          </a:xfrm>
          <a:prstGeom prst="rect">
            <a:avLst/>
          </a:prstGeom>
          <a:solidFill>
            <a:srgbClr val="FFFFFF"/>
          </a:solidFill>
          <a:ln>
            <a:solidFill>
              <a:srgbClr val="275BB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6868BD03-474A-444F-B8C8-1F6BFA4A5BD0}"/>
              </a:ext>
            </a:extLst>
          </p:cNvPr>
          <p:cNvPicPr>
            <a:picLocks noChangeAspect="1"/>
          </p:cNvPicPr>
          <p:nvPr/>
        </p:nvPicPr>
        <p:blipFill>
          <a:blip r:embed="rId2"/>
          <a:stretch>
            <a:fillRect/>
          </a:stretch>
        </p:blipFill>
        <p:spPr>
          <a:xfrm>
            <a:off x="1178683" y="989520"/>
            <a:ext cx="5262629" cy="4604800"/>
          </a:xfrm>
          <a:prstGeom prst="rect">
            <a:avLst/>
          </a:prstGeom>
        </p:spPr>
      </p:pic>
      <p:sp>
        <p:nvSpPr>
          <p:cNvPr id="5" name="TextBox 4">
            <a:extLst>
              <a:ext uri="{FF2B5EF4-FFF2-40B4-BE49-F238E27FC236}">
                <a16:creationId xmlns:a16="http://schemas.microsoft.com/office/drawing/2014/main" id="{732F4F01-E617-4543-BBE8-A0B190148594}"/>
              </a:ext>
            </a:extLst>
          </p:cNvPr>
          <p:cNvSpPr txBox="1"/>
          <p:nvPr/>
        </p:nvSpPr>
        <p:spPr>
          <a:xfrm>
            <a:off x="6708922" y="1345120"/>
            <a:ext cx="4572000" cy="4708981"/>
          </a:xfrm>
          <a:prstGeom prst="rect">
            <a:avLst/>
          </a:prstGeom>
          <a:noFill/>
        </p:spPr>
        <p:txBody>
          <a:bodyPr wrap="square" rtlCol="0">
            <a:spAutoFit/>
          </a:bodyPr>
          <a:lstStyle/>
          <a:p>
            <a:r>
              <a:rPr lang="en-US" sz="2200" dirty="0"/>
              <a:t>The logo/emblem for Health Promotion</a:t>
            </a:r>
          </a:p>
          <a:p>
            <a:r>
              <a:rPr lang="en-US" sz="2200" dirty="0"/>
              <a:t>(as designed by the World Health Organisation)</a:t>
            </a:r>
          </a:p>
          <a:p>
            <a:endParaRPr lang="en-US" sz="2200" dirty="0"/>
          </a:p>
          <a:p>
            <a:r>
              <a:rPr lang="en-US" sz="2200" dirty="0"/>
              <a:t>Use the WHO site to describe the components of the logo and what they represent/how they are arranged.</a:t>
            </a:r>
          </a:p>
          <a:p>
            <a:endParaRPr lang="en-US" sz="2200" dirty="0"/>
          </a:p>
          <a:p>
            <a:r>
              <a:rPr lang="en-US" sz="2200" dirty="0">
                <a:hlinkClick r:id="rId3"/>
              </a:rPr>
              <a:t>https://www.who.int/teams/health-promotion/enhanced-wellbeing/first-global-conference/emblem</a:t>
            </a:r>
            <a:endParaRPr lang="en-US" sz="2200" dirty="0"/>
          </a:p>
          <a:p>
            <a:endParaRPr lang="en-US" sz="2200" dirty="0"/>
          </a:p>
          <a:p>
            <a:endParaRPr lang="en-US" dirty="0"/>
          </a:p>
          <a:p>
            <a:endParaRPr lang="en-AU" dirty="0"/>
          </a:p>
        </p:txBody>
      </p:sp>
    </p:spTree>
    <p:extLst>
      <p:ext uri="{BB962C8B-B14F-4D97-AF65-F5344CB8AC3E}">
        <p14:creationId xmlns:p14="http://schemas.microsoft.com/office/powerpoint/2010/main" val="2352646046"/>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dirty="0"/>
              <a:t>HEALTH INQUIRY 1</a:t>
            </a:r>
          </a:p>
        </p:txBody>
      </p:sp>
      <p:sp>
        <p:nvSpPr>
          <p:cNvPr id="4" name="TextBox 3"/>
          <p:cNvSpPr txBox="1"/>
          <p:nvPr/>
        </p:nvSpPr>
        <p:spPr>
          <a:xfrm>
            <a:off x="8662736" y="5368491"/>
            <a:ext cx="2999874" cy="769441"/>
          </a:xfrm>
          <a:prstGeom prst="rect">
            <a:avLst/>
          </a:prstGeom>
          <a:noFill/>
        </p:spPr>
        <p:txBody>
          <a:bodyPr wrap="square" rtlCol="0">
            <a:spAutoFit/>
          </a:bodyPr>
          <a:lstStyle/>
          <a:p>
            <a:r>
              <a:rPr lang="en-US" sz="2200" dirty="0"/>
              <a:t>Term 1</a:t>
            </a:r>
          </a:p>
          <a:p>
            <a:r>
              <a:rPr lang="en-US" sz="2200" dirty="0"/>
              <a:t>Week 8-9</a:t>
            </a:r>
          </a:p>
        </p:txBody>
      </p:sp>
    </p:spTree>
    <p:extLst>
      <p:ext uri="{BB962C8B-B14F-4D97-AF65-F5344CB8AC3E}">
        <p14:creationId xmlns:p14="http://schemas.microsoft.com/office/powerpoint/2010/main" val="682000740"/>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Culture and decision-making</a:t>
            </a:r>
          </a:p>
        </p:txBody>
      </p:sp>
      <p:sp>
        <p:nvSpPr>
          <p:cNvPr id="3" name="Subtitle 2"/>
          <p:cNvSpPr>
            <a:spLocks noGrp="1"/>
          </p:cNvSpPr>
          <p:nvPr>
            <p:ph type="subTitle" idx="1"/>
          </p:nvPr>
        </p:nvSpPr>
        <p:spPr/>
        <p:txBody>
          <a:bodyPr>
            <a:normAutofit/>
          </a:bodyPr>
          <a:lstStyle/>
          <a:p>
            <a:r>
              <a:rPr lang="en-US" sz="2200" dirty="0"/>
              <a:t>Term 2</a:t>
            </a:r>
          </a:p>
          <a:p>
            <a:r>
              <a:rPr lang="en-US" sz="2200" dirty="0"/>
              <a:t>Week 1</a:t>
            </a:r>
          </a:p>
        </p:txBody>
      </p:sp>
    </p:spTree>
    <p:extLst>
      <p:ext uri="{BB962C8B-B14F-4D97-AF65-F5344CB8AC3E}">
        <p14:creationId xmlns:p14="http://schemas.microsoft.com/office/powerpoint/2010/main" val="1615895646"/>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9E4C68A-A4A9-48A4-9FF2-D2896B1EA01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E2B9AEA5-52CB-49A6-AF8A-33502F291B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654296"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964788" y="804333"/>
            <a:ext cx="3302412" cy="5249334"/>
          </a:xfrm>
        </p:spPr>
        <p:txBody>
          <a:bodyPr>
            <a:normAutofit/>
          </a:bodyPr>
          <a:lstStyle/>
          <a:p>
            <a:pPr algn="r"/>
            <a:r>
              <a:rPr lang="en-US">
                <a:solidFill>
                  <a:srgbClr val="FFFFFF"/>
                </a:solidFill>
              </a:rPr>
              <a:t>SYLLABUS CONTENT</a:t>
            </a:r>
          </a:p>
        </p:txBody>
      </p:sp>
      <p:sp>
        <p:nvSpPr>
          <p:cNvPr id="3" name="Content Placeholder 2"/>
          <p:cNvSpPr>
            <a:spLocks noGrp="1"/>
          </p:cNvSpPr>
          <p:nvPr>
            <p:ph idx="1"/>
          </p:nvPr>
        </p:nvSpPr>
        <p:spPr>
          <a:xfrm>
            <a:off x="5109882" y="804333"/>
            <a:ext cx="6147169" cy="5249334"/>
          </a:xfrm>
        </p:spPr>
        <p:txBody>
          <a:bodyPr anchor="ctr">
            <a:normAutofit lnSpcReduction="10000"/>
          </a:bodyPr>
          <a:lstStyle/>
          <a:p>
            <a:pPr lvl="0">
              <a:buFont typeface="Wingdings" charset="2"/>
              <a:buChar char="v"/>
            </a:pPr>
            <a:r>
              <a:rPr lang="en-AU" dirty="0"/>
              <a:t>Influence of culture on personal beliefs, attitudes and values towards healthcare</a:t>
            </a:r>
          </a:p>
          <a:p>
            <a:pPr>
              <a:buFont typeface="Wingdings" charset="2"/>
              <a:buChar char="v"/>
            </a:pPr>
            <a:r>
              <a:rPr lang="en-AU" dirty="0"/>
              <a:t>Conflict between norms of specific groups and majority norms</a:t>
            </a:r>
          </a:p>
          <a:p>
            <a:pPr lvl="0">
              <a:buFont typeface="Wingdings" charset="2"/>
              <a:buChar char="v"/>
            </a:pPr>
            <a:r>
              <a:rPr lang="en-AU" dirty="0"/>
              <a:t>Influence of environmental factors on the health behaviour of cultural groups</a:t>
            </a:r>
          </a:p>
          <a:p>
            <a:pPr lvl="1">
              <a:buFont typeface="Arial" charset="0"/>
              <a:buChar char="•"/>
            </a:pPr>
            <a:r>
              <a:rPr lang="en-AU" sz="2200" dirty="0"/>
              <a:t> geographical location</a:t>
            </a:r>
          </a:p>
          <a:p>
            <a:pPr lvl="1">
              <a:buFont typeface="Arial" charset="0"/>
              <a:buChar char="•"/>
            </a:pPr>
            <a:r>
              <a:rPr lang="en-AU" sz="2200" dirty="0"/>
              <a:t> Social networks</a:t>
            </a:r>
          </a:p>
          <a:p>
            <a:pPr>
              <a:buFont typeface="Wingdings" charset="2"/>
              <a:buChar char="v"/>
            </a:pPr>
            <a:r>
              <a:rPr lang="en-AU" dirty="0"/>
              <a:t>Language and Cultural influences on relationship building in health settings</a:t>
            </a:r>
          </a:p>
          <a:p>
            <a:pPr lvl="0">
              <a:buFont typeface="Wingdings" charset="2"/>
              <a:buChar char="v"/>
            </a:pPr>
            <a:r>
              <a:rPr lang="en-AU" dirty="0"/>
              <a:t>Impact of culture on health decision making</a:t>
            </a:r>
            <a:endParaRPr lang="en-GB" dirty="0"/>
          </a:p>
          <a:p>
            <a:pPr lvl="1">
              <a:buFont typeface="Arial" charset="0"/>
              <a:buChar char="•"/>
            </a:pPr>
            <a:r>
              <a:rPr lang="en-AU" sz="2200" dirty="0"/>
              <a:t> Organ and tissue donation</a:t>
            </a:r>
            <a:endParaRPr lang="en-GB" sz="2200" dirty="0"/>
          </a:p>
          <a:p>
            <a:pPr lvl="1">
              <a:buFont typeface="Arial" charset="0"/>
              <a:buChar char="•"/>
            </a:pPr>
            <a:r>
              <a:rPr lang="en-AU" sz="2200" dirty="0"/>
              <a:t> Blood transfusions</a:t>
            </a:r>
            <a:endParaRPr lang="en-GB" sz="2200" dirty="0"/>
          </a:p>
          <a:p>
            <a:pPr lvl="1">
              <a:buFont typeface="Arial" charset="0"/>
              <a:buChar char="•"/>
            </a:pPr>
            <a:r>
              <a:rPr lang="en-AU" sz="2200" dirty="0"/>
              <a:t> Childbirth</a:t>
            </a:r>
          </a:p>
        </p:txBody>
      </p:sp>
    </p:spTree>
    <p:extLst>
      <p:ext uri="{BB962C8B-B14F-4D97-AF65-F5344CB8AC3E}">
        <p14:creationId xmlns:p14="http://schemas.microsoft.com/office/powerpoint/2010/main" val="6109844"/>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definitions </a:t>
            </a:r>
          </a:p>
        </p:txBody>
      </p:sp>
      <p:sp>
        <p:nvSpPr>
          <p:cNvPr id="3" name="Content Placeholder 2"/>
          <p:cNvSpPr>
            <a:spLocks noGrp="1"/>
          </p:cNvSpPr>
          <p:nvPr>
            <p:ph idx="1"/>
          </p:nvPr>
        </p:nvSpPr>
        <p:spPr>
          <a:xfrm>
            <a:off x="1024128" y="1846989"/>
            <a:ext cx="9991202" cy="4534615"/>
          </a:xfrm>
        </p:spPr>
        <p:txBody>
          <a:bodyPr>
            <a:normAutofit fontScale="92500" lnSpcReduction="10000"/>
          </a:bodyPr>
          <a:lstStyle/>
          <a:p>
            <a:pPr marL="0" indent="0">
              <a:buNone/>
            </a:pPr>
            <a:r>
              <a:rPr lang="en-US" b="1" dirty="0"/>
              <a:t>Norm: </a:t>
            </a:r>
            <a:r>
              <a:rPr lang="en-US" dirty="0"/>
              <a:t>Customs and values which both guide behavior and act as a framework from which behavior is judged by the majority.</a:t>
            </a:r>
          </a:p>
          <a:p>
            <a:pPr marL="0" indent="0">
              <a:buNone/>
            </a:pPr>
            <a:r>
              <a:rPr lang="en-US" b="1" dirty="0"/>
              <a:t>Majority norm: </a:t>
            </a:r>
            <a:r>
              <a:rPr lang="en-US" dirty="0"/>
              <a:t>Unwritten rules or standards that more than 50% of the population or community believe in or obey.</a:t>
            </a:r>
          </a:p>
          <a:p>
            <a:pPr marL="0" indent="0">
              <a:buNone/>
            </a:pPr>
            <a:r>
              <a:rPr lang="en-US" b="1" dirty="0"/>
              <a:t>Norms of specific groups: </a:t>
            </a:r>
            <a:r>
              <a:rPr lang="en-US" dirty="0"/>
              <a:t>Social or cultural norms that are unique to a particular group of people within a population.</a:t>
            </a:r>
          </a:p>
          <a:p>
            <a:pPr marL="0" indent="0">
              <a:buNone/>
            </a:pPr>
            <a:r>
              <a:rPr lang="en-US" b="1" dirty="0"/>
              <a:t>Proscriptive norms: </a:t>
            </a:r>
            <a:r>
              <a:rPr lang="en-US" dirty="0"/>
              <a:t>Norms that ‘prohibit’ you from doing something. A behavior you should not do.</a:t>
            </a:r>
          </a:p>
          <a:p>
            <a:pPr marL="0" indent="0">
              <a:buNone/>
            </a:pPr>
            <a:r>
              <a:rPr lang="en-US" b="1" dirty="0"/>
              <a:t>Prescriptive norms: </a:t>
            </a:r>
            <a:r>
              <a:rPr lang="en-US" dirty="0"/>
              <a:t>Norms that ‘prescribe’ behavior, so they make you do something. A behavior you should do.</a:t>
            </a:r>
          </a:p>
          <a:p>
            <a:pPr marL="0" indent="0">
              <a:buNone/>
            </a:pPr>
            <a:r>
              <a:rPr lang="en-US" b="1" dirty="0"/>
              <a:t>Popular norms: </a:t>
            </a:r>
            <a:r>
              <a:rPr lang="en-US" dirty="0"/>
              <a:t>Norms made by people who are considered popular or who hold power. Fashionable norms or ‘trends of the day’. Popular norms are followed by people who are or want to be perceived as trendy or “in”.</a:t>
            </a:r>
          </a:p>
        </p:txBody>
      </p:sp>
    </p:spTree>
    <p:extLst>
      <p:ext uri="{BB962C8B-B14F-4D97-AF65-F5344CB8AC3E}">
        <p14:creationId xmlns:p14="http://schemas.microsoft.com/office/powerpoint/2010/main" val="4044904003"/>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Decision making?</a:t>
            </a:r>
            <a:endParaRPr lang="en-AU" dirty="0"/>
          </a:p>
        </p:txBody>
      </p:sp>
      <p:sp>
        <p:nvSpPr>
          <p:cNvPr id="3" name="Content Placeholder 2"/>
          <p:cNvSpPr>
            <a:spLocks noGrp="1"/>
          </p:cNvSpPr>
          <p:nvPr>
            <p:ph idx="1"/>
          </p:nvPr>
        </p:nvSpPr>
        <p:spPr/>
        <p:txBody>
          <a:bodyPr/>
          <a:lstStyle/>
          <a:p>
            <a:r>
              <a:rPr lang="en-US" dirty="0"/>
              <a:t>Consider the following questions:</a:t>
            </a:r>
          </a:p>
          <a:p>
            <a:pPr>
              <a:buFontTx/>
              <a:buChar char="-"/>
            </a:pPr>
            <a:r>
              <a:rPr lang="en-US" dirty="0"/>
              <a:t>What factors influence you when you are making decisions?</a:t>
            </a:r>
          </a:p>
          <a:p>
            <a:pPr>
              <a:buFontTx/>
              <a:buChar char="-"/>
            </a:pPr>
            <a:r>
              <a:rPr lang="en-US" dirty="0"/>
              <a:t>Are the factors influencing the decisions that a persons make the same for everyone?</a:t>
            </a:r>
          </a:p>
          <a:p>
            <a:pPr>
              <a:buFontTx/>
              <a:buChar char="-"/>
            </a:pPr>
            <a:r>
              <a:rPr lang="en-US" dirty="0"/>
              <a:t>Why do we consider different factors when we make decisions?</a:t>
            </a:r>
          </a:p>
          <a:p>
            <a:pPr>
              <a:buFontTx/>
              <a:buChar char="-"/>
            </a:pPr>
            <a:endParaRPr lang="en-US" dirty="0"/>
          </a:p>
          <a:p>
            <a:pPr>
              <a:buFontTx/>
              <a:buChar char="-"/>
            </a:pPr>
            <a:endParaRPr lang="en-US" dirty="0"/>
          </a:p>
          <a:p>
            <a:pPr>
              <a:buFontTx/>
              <a:buChar char="-"/>
            </a:pPr>
            <a:endParaRPr lang="en-US" dirty="0"/>
          </a:p>
          <a:p>
            <a:pPr marL="0" indent="0">
              <a:buNone/>
            </a:pPr>
            <a:r>
              <a:rPr lang="en-US" dirty="0"/>
              <a:t>**Our culture has a significant impact on our decision making on health related issues. </a:t>
            </a:r>
            <a:endParaRPr lang="en-AU" dirty="0"/>
          </a:p>
        </p:txBody>
      </p:sp>
    </p:spTree>
    <p:extLst>
      <p:ext uri="{BB962C8B-B14F-4D97-AF65-F5344CB8AC3E}">
        <p14:creationId xmlns:p14="http://schemas.microsoft.com/office/powerpoint/2010/main" val="19462395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D3DC0E-8064-427A-A5D3-B1A42B23684F}"/>
              </a:ext>
            </a:extLst>
          </p:cNvPr>
          <p:cNvSpPr>
            <a:spLocks noGrp="1"/>
          </p:cNvSpPr>
          <p:nvPr>
            <p:ph type="title"/>
          </p:nvPr>
        </p:nvSpPr>
        <p:spPr>
          <a:xfrm>
            <a:off x="1024128" y="585216"/>
            <a:ext cx="5129021" cy="907034"/>
          </a:xfrm>
        </p:spPr>
        <p:txBody>
          <a:bodyPr>
            <a:normAutofit/>
          </a:bodyPr>
          <a:lstStyle/>
          <a:p>
            <a:r>
              <a:rPr lang="en-US" sz="4400" dirty="0"/>
              <a:t>Let’s talk about culture:</a:t>
            </a:r>
            <a:endParaRPr lang="en-AU" sz="4400" dirty="0"/>
          </a:p>
        </p:txBody>
      </p:sp>
      <p:sp>
        <p:nvSpPr>
          <p:cNvPr id="3" name="Content Placeholder 2">
            <a:extLst>
              <a:ext uri="{FF2B5EF4-FFF2-40B4-BE49-F238E27FC236}">
                <a16:creationId xmlns:a16="http://schemas.microsoft.com/office/drawing/2014/main" id="{9A7CBB56-37A5-4B94-9F4A-12A5BAD0ECEC}"/>
              </a:ext>
            </a:extLst>
          </p:cNvPr>
          <p:cNvSpPr>
            <a:spLocks noGrp="1"/>
          </p:cNvSpPr>
          <p:nvPr>
            <p:ph idx="1"/>
          </p:nvPr>
        </p:nvSpPr>
        <p:spPr>
          <a:xfrm>
            <a:off x="1024128" y="1784350"/>
            <a:ext cx="5071872" cy="4578350"/>
          </a:xfrm>
        </p:spPr>
        <p:txBody>
          <a:bodyPr>
            <a:normAutofit/>
          </a:bodyPr>
          <a:lstStyle/>
          <a:p>
            <a:r>
              <a:rPr lang="en-US" b="1" dirty="0"/>
              <a:t>Culture is defined as </a:t>
            </a:r>
            <a:r>
              <a:rPr lang="en-US" dirty="0"/>
              <a:t>the beliefs, behaviours, objects, ideas, customs, social behaviour and characteristics common to the members of a particular group or society.</a:t>
            </a:r>
          </a:p>
          <a:p>
            <a:endParaRPr lang="en-US" dirty="0"/>
          </a:p>
          <a:p>
            <a:r>
              <a:rPr lang="en-US" dirty="0"/>
              <a:t>Have a look at the “surface” and “deep” elements of culture opposite. </a:t>
            </a:r>
          </a:p>
          <a:p>
            <a:r>
              <a:rPr lang="en-US" dirty="0"/>
              <a:t>How does your culture impact the way you view these things? How does that differ from others in the class? </a:t>
            </a:r>
          </a:p>
          <a:p>
            <a:endParaRPr lang="en-AU" dirty="0"/>
          </a:p>
        </p:txBody>
      </p:sp>
      <p:pic>
        <p:nvPicPr>
          <p:cNvPr id="4" name="Picture 3" descr="Diagram&#10;&#10;Description automatically generated">
            <a:extLst>
              <a:ext uri="{FF2B5EF4-FFF2-40B4-BE49-F238E27FC236}">
                <a16:creationId xmlns:a16="http://schemas.microsoft.com/office/drawing/2014/main" id="{3F51E539-3134-4E24-A5DE-27E915DBBC27}"/>
              </a:ext>
            </a:extLst>
          </p:cNvPr>
          <p:cNvPicPr>
            <a:picLocks noChangeAspect="1"/>
          </p:cNvPicPr>
          <p:nvPr/>
        </p:nvPicPr>
        <p:blipFill>
          <a:blip r:embed="rId2"/>
          <a:stretch>
            <a:fillRect/>
          </a:stretch>
        </p:blipFill>
        <p:spPr>
          <a:xfrm>
            <a:off x="6507798" y="49368"/>
            <a:ext cx="5650673" cy="6707032"/>
          </a:xfrm>
          <a:prstGeom prst="rect">
            <a:avLst/>
          </a:prstGeom>
        </p:spPr>
      </p:pic>
    </p:spTree>
    <p:extLst>
      <p:ext uri="{BB962C8B-B14F-4D97-AF65-F5344CB8AC3E}">
        <p14:creationId xmlns:p14="http://schemas.microsoft.com/office/powerpoint/2010/main" val="4045914666"/>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CDFE5C-17BE-4F35-9081-BDB81C32CB88}"/>
              </a:ext>
            </a:extLst>
          </p:cNvPr>
          <p:cNvSpPr>
            <a:spLocks noGrp="1"/>
          </p:cNvSpPr>
          <p:nvPr>
            <p:ph type="title"/>
          </p:nvPr>
        </p:nvSpPr>
        <p:spPr>
          <a:xfrm>
            <a:off x="1024128" y="585216"/>
            <a:ext cx="3133581" cy="1499616"/>
          </a:xfrm>
        </p:spPr>
        <p:txBody>
          <a:bodyPr>
            <a:normAutofit/>
          </a:bodyPr>
          <a:lstStyle/>
          <a:p>
            <a:r>
              <a:rPr lang="en-US" sz="4000"/>
              <a:t>Let’s talk about values:</a:t>
            </a:r>
            <a:endParaRPr lang="en-AU" sz="4000"/>
          </a:p>
        </p:txBody>
      </p:sp>
      <p:sp>
        <p:nvSpPr>
          <p:cNvPr id="3" name="Content Placeholder 2">
            <a:extLst>
              <a:ext uri="{FF2B5EF4-FFF2-40B4-BE49-F238E27FC236}">
                <a16:creationId xmlns:a16="http://schemas.microsoft.com/office/drawing/2014/main" id="{BAAF612D-9693-43F5-8D75-0A5EB8B2B94E}"/>
              </a:ext>
            </a:extLst>
          </p:cNvPr>
          <p:cNvSpPr>
            <a:spLocks noGrp="1"/>
          </p:cNvSpPr>
          <p:nvPr>
            <p:ph idx="1"/>
          </p:nvPr>
        </p:nvSpPr>
        <p:spPr>
          <a:xfrm>
            <a:off x="825500" y="2146300"/>
            <a:ext cx="3332208" cy="4071620"/>
          </a:xfrm>
        </p:spPr>
        <p:txBody>
          <a:bodyPr>
            <a:normAutofit lnSpcReduction="10000"/>
          </a:bodyPr>
          <a:lstStyle/>
          <a:p>
            <a:r>
              <a:rPr lang="en-US" dirty="0"/>
              <a:t>One particularly interesting and prominent theory regarding VALUES is from </a:t>
            </a:r>
            <a:r>
              <a:rPr lang="en-US" dirty="0">
                <a:hlinkClick r:id="rId2"/>
              </a:rPr>
              <a:t>Shalom Schwartz, </a:t>
            </a:r>
            <a:r>
              <a:rPr lang="en-US" dirty="0"/>
              <a:t>who proposes that there are 10 broad value domains that are universal and fairly comprehensive:</a:t>
            </a:r>
          </a:p>
          <a:p>
            <a:endParaRPr lang="en-US" dirty="0"/>
          </a:p>
          <a:p>
            <a:r>
              <a:rPr lang="en-US" dirty="0"/>
              <a:t>Which values drive YOUR behaviour and decision making?</a:t>
            </a:r>
            <a:endParaRPr lang="en-AU" dirty="0"/>
          </a:p>
          <a:p>
            <a:endParaRPr lang="en-AU" sz="1600" dirty="0"/>
          </a:p>
        </p:txBody>
      </p:sp>
      <p:pic>
        <p:nvPicPr>
          <p:cNvPr id="4" name="Picture 3">
            <a:extLst>
              <a:ext uri="{FF2B5EF4-FFF2-40B4-BE49-F238E27FC236}">
                <a16:creationId xmlns:a16="http://schemas.microsoft.com/office/drawing/2014/main" id="{AE3B3B52-0743-4A46-A4A6-BF3CC96C9610}"/>
              </a:ext>
            </a:extLst>
          </p:cNvPr>
          <p:cNvPicPr>
            <a:picLocks noChangeAspect="1"/>
          </p:cNvPicPr>
          <p:nvPr/>
        </p:nvPicPr>
        <p:blipFill>
          <a:blip r:embed="rId3"/>
          <a:stretch>
            <a:fillRect/>
          </a:stretch>
        </p:blipFill>
        <p:spPr>
          <a:xfrm>
            <a:off x="4453156" y="568318"/>
            <a:ext cx="7532801" cy="5649602"/>
          </a:xfrm>
          <a:prstGeom prst="rect">
            <a:avLst/>
          </a:prstGeom>
        </p:spPr>
      </p:pic>
    </p:spTree>
    <p:extLst>
      <p:ext uri="{BB962C8B-B14F-4D97-AF65-F5344CB8AC3E}">
        <p14:creationId xmlns:p14="http://schemas.microsoft.com/office/powerpoint/2010/main" val="3848263899"/>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Culture and Beliefs</a:t>
            </a:r>
          </a:p>
        </p:txBody>
      </p:sp>
      <p:sp>
        <p:nvSpPr>
          <p:cNvPr id="3" name="Content Placeholder 2"/>
          <p:cNvSpPr>
            <a:spLocks noGrp="1"/>
          </p:cNvSpPr>
          <p:nvPr>
            <p:ph idx="1"/>
          </p:nvPr>
        </p:nvSpPr>
        <p:spPr>
          <a:xfrm>
            <a:off x="1024128" y="1739900"/>
            <a:ext cx="9720071" cy="4569460"/>
          </a:xfrm>
        </p:spPr>
        <p:txBody>
          <a:bodyPr>
            <a:normAutofit lnSpcReduction="10000"/>
          </a:bodyPr>
          <a:lstStyle/>
          <a:p>
            <a:r>
              <a:rPr lang="en-US" dirty="0"/>
              <a:t>How can one’s culture influence their beliefs about healthcare?</a:t>
            </a:r>
          </a:p>
          <a:p>
            <a:pPr>
              <a:buFont typeface="Wingdings" panose="05000000000000000000" pitchFamily="2" charset="2"/>
              <a:buChar char="v"/>
            </a:pPr>
            <a:r>
              <a:rPr lang="en-US" dirty="0"/>
              <a:t>Cultural upbringing influences our beliefs.</a:t>
            </a:r>
          </a:p>
          <a:p>
            <a:pPr>
              <a:buFont typeface="Wingdings" panose="05000000000000000000" pitchFamily="2" charset="2"/>
              <a:buChar char="v"/>
            </a:pPr>
            <a:r>
              <a:rPr lang="en-US" dirty="0"/>
              <a:t>Beliefs are usually passed down through generations. (the way we are treated as young children influences our beliefs about healthcare and is often similar to how we treat ourselves and others later in life)</a:t>
            </a:r>
          </a:p>
          <a:p>
            <a:pPr>
              <a:buFont typeface="Wingdings" panose="05000000000000000000" pitchFamily="2" charset="2"/>
              <a:buChar char="v"/>
            </a:pPr>
            <a:r>
              <a:rPr lang="en-US" dirty="0"/>
              <a:t>CLASS DISCUSSION: How did your family behave in the following areas?</a:t>
            </a:r>
          </a:p>
          <a:p>
            <a:pPr>
              <a:buFont typeface="Courier New" panose="02070309020205020404" pitchFamily="49" charset="0"/>
              <a:buChar char="o"/>
            </a:pPr>
            <a:r>
              <a:rPr lang="en-US" dirty="0"/>
              <a:t> Use of sunscreen </a:t>
            </a:r>
          </a:p>
          <a:p>
            <a:pPr>
              <a:buFont typeface="Courier New" panose="02070309020205020404" pitchFamily="49" charset="0"/>
              <a:buChar char="o"/>
            </a:pPr>
            <a:r>
              <a:rPr lang="en-US" dirty="0"/>
              <a:t> medicine</a:t>
            </a:r>
          </a:p>
          <a:p>
            <a:pPr>
              <a:buFont typeface="Courier New" panose="02070309020205020404" pitchFamily="49" charset="0"/>
              <a:buChar char="o"/>
            </a:pPr>
            <a:r>
              <a:rPr lang="en-US" dirty="0"/>
              <a:t> exercise</a:t>
            </a:r>
          </a:p>
          <a:p>
            <a:pPr>
              <a:buFont typeface="Courier New" panose="02070309020205020404" pitchFamily="49" charset="0"/>
              <a:buChar char="o"/>
            </a:pPr>
            <a:r>
              <a:rPr lang="en-US" dirty="0"/>
              <a:t> diet choices</a:t>
            </a:r>
          </a:p>
          <a:p>
            <a:pPr>
              <a:buFont typeface="Courier New" panose="02070309020205020404" pitchFamily="49" charset="0"/>
              <a:buChar char="o"/>
            </a:pPr>
            <a:r>
              <a:rPr lang="en-US" dirty="0"/>
              <a:t> injury management</a:t>
            </a:r>
          </a:p>
          <a:p>
            <a:endParaRPr lang="en-US" dirty="0"/>
          </a:p>
        </p:txBody>
      </p:sp>
    </p:spTree>
    <p:extLst>
      <p:ext uri="{BB962C8B-B14F-4D97-AF65-F5344CB8AC3E}">
        <p14:creationId xmlns:p14="http://schemas.microsoft.com/office/powerpoint/2010/main" val="14512327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74928" y="839216"/>
            <a:ext cx="9720072" cy="970534"/>
          </a:xfrm>
        </p:spPr>
        <p:txBody>
          <a:bodyPr/>
          <a:lstStyle/>
          <a:p>
            <a:r>
              <a:rPr lang="en-US" dirty="0"/>
              <a:t>Culture and values</a:t>
            </a:r>
          </a:p>
        </p:txBody>
      </p:sp>
      <p:sp>
        <p:nvSpPr>
          <p:cNvPr id="3" name="Content Placeholder 2"/>
          <p:cNvSpPr>
            <a:spLocks noGrp="1"/>
          </p:cNvSpPr>
          <p:nvPr>
            <p:ph idx="1"/>
          </p:nvPr>
        </p:nvSpPr>
        <p:spPr>
          <a:xfrm>
            <a:off x="852678" y="2362200"/>
            <a:ext cx="10850372" cy="3371850"/>
          </a:xfrm>
        </p:spPr>
        <p:txBody>
          <a:bodyPr>
            <a:noAutofit/>
          </a:bodyPr>
          <a:lstStyle/>
          <a:p>
            <a:r>
              <a:rPr lang="en-US" dirty="0"/>
              <a:t>How can one’s culture influence their values about healthcare?</a:t>
            </a:r>
          </a:p>
          <a:p>
            <a:r>
              <a:rPr lang="en-US" dirty="0"/>
              <a:t>Values in a culture are unlikely to change. (less likely that beliefs and attitudes)</a:t>
            </a:r>
          </a:p>
          <a:p>
            <a:pPr marL="0" indent="0">
              <a:buNone/>
            </a:pPr>
            <a:r>
              <a:rPr lang="en-AU" b="1" dirty="0">
                <a:latin typeface="Arial" panose="020B0604020202020204" pitchFamily="34" charset="0"/>
                <a:ea typeface="Times New Roman" panose="02020603050405020304" pitchFamily="18" charset="0"/>
              </a:rPr>
              <a:t>Values are </a:t>
            </a:r>
            <a:r>
              <a:rPr lang="en-AU" b="1" dirty="0">
                <a:effectLst/>
                <a:latin typeface="Arial" panose="020B0604020202020204" pitchFamily="34" charset="0"/>
                <a:ea typeface="Times New Roman" panose="02020603050405020304" pitchFamily="18" charset="0"/>
              </a:rPr>
              <a:t>“</a:t>
            </a:r>
            <a:r>
              <a:rPr lang="en-AU" b="1" dirty="0">
                <a:latin typeface="Arial" panose="020B0604020202020204" pitchFamily="34" charset="0"/>
                <a:ea typeface="Times New Roman" panose="02020603050405020304" pitchFamily="18" charset="0"/>
              </a:rPr>
              <a:t>e</a:t>
            </a:r>
            <a:r>
              <a:rPr lang="en-AU" b="1" dirty="0">
                <a:effectLst/>
                <a:latin typeface="Arial" panose="020B0604020202020204" pitchFamily="34" charset="0"/>
                <a:ea typeface="Times New Roman" panose="02020603050405020304" pitchFamily="18" charset="0"/>
              </a:rPr>
              <a:t>xpressions of, or beliefs in, the worth of objects, qualities, or behaviours. They are typically expressed in terms of goodness or desirability or, conversely, in terms of badness or avoidance. They often invoke feelings, define or direct us to goals, frame our attitudes, and provide standards against which the behaviours of individuals and societies can be judged.”</a:t>
            </a:r>
          </a:p>
          <a:p>
            <a:pPr marL="0" indent="0">
              <a:buNone/>
            </a:pPr>
            <a:r>
              <a:rPr lang="en-AU" i="1" dirty="0">
                <a:effectLst/>
                <a:latin typeface="Arial" panose="020B0604020202020204" pitchFamily="34" charset="0"/>
                <a:ea typeface="Times New Roman" panose="02020603050405020304" pitchFamily="18" charset="0"/>
              </a:rPr>
              <a:t>(Kates, Parris &amp; Leiserowitz, 2005, p. 16)</a:t>
            </a:r>
            <a:endParaRPr lang="en-AU" dirty="0">
              <a:effectLst/>
              <a:latin typeface="Calibri" panose="020F0502020204030204" pitchFamily="34" charset="0"/>
              <a:ea typeface="DengXian" panose="02010600030101010101" pitchFamily="2" charset="-122"/>
            </a:endParaRPr>
          </a:p>
        </p:txBody>
      </p:sp>
    </p:spTree>
    <p:extLst>
      <p:ext uri="{BB962C8B-B14F-4D97-AF65-F5344CB8AC3E}">
        <p14:creationId xmlns:p14="http://schemas.microsoft.com/office/powerpoint/2010/main" val="9958231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5AE17E-D264-4B2B-8F17-A04F84ACB05A}"/>
              </a:ext>
            </a:extLst>
          </p:cNvPr>
          <p:cNvSpPr>
            <a:spLocks noGrp="1"/>
          </p:cNvSpPr>
          <p:nvPr>
            <p:ph type="title"/>
          </p:nvPr>
        </p:nvSpPr>
        <p:spPr/>
        <p:txBody>
          <a:bodyPr/>
          <a:lstStyle/>
          <a:p>
            <a:r>
              <a:rPr lang="en-US" dirty="0"/>
              <a:t>Australian values:</a:t>
            </a:r>
            <a:endParaRPr lang="en-AU" dirty="0"/>
          </a:p>
        </p:txBody>
      </p:sp>
      <p:sp>
        <p:nvSpPr>
          <p:cNvPr id="3" name="Content Placeholder 2">
            <a:extLst>
              <a:ext uri="{FF2B5EF4-FFF2-40B4-BE49-F238E27FC236}">
                <a16:creationId xmlns:a16="http://schemas.microsoft.com/office/drawing/2014/main" id="{4738B73D-E6C1-434D-B72D-8E05BC3BABB0}"/>
              </a:ext>
            </a:extLst>
          </p:cNvPr>
          <p:cNvSpPr>
            <a:spLocks noGrp="1"/>
          </p:cNvSpPr>
          <p:nvPr>
            <p:ph idx="1"/>
          </p:nvPr>
        </p:nvSpPr>
        <p:spPr/>
        <p:txBody>
          <a:bodyPr/>
          <a:lstStyle/>
          <a:p>
            <a:pPr>
              <a:buFont typeface="Wingdings" panose="05000000000000000000" pitchFamily="2" charset="2"/>
              <a:buChar char="v"/>
            </a:pPr>
            <a:r>
              <a:rPr lang="en-US" dirty="0"/>
              <a:t> Freedom of speech</a:t>
            </a:r>
          </a:p>
          <a:p>
            <a:pPr>
              <a:buFont typeface="Wingdings" panose="05000000000000000000" pitchFamily="2" charset="2"/>
              <a:buChar char="v"/>
            </a:pPr>
            <a:r>
              <a:rPr lang="en-US" dirty="0"/>
              <a:t> Democracy</a:t>
            </a:r>
          </a:p>
          <a:p>
            <a:pPr>
              <a:buFont typeface="Wingdings" panose="05000000000000000000" pitchFamily="2" charset="2"/>
              <a:buChar char="v"/>
            </a:pPr>
            <a:r>
              <a:rPr lang="en-US" dirty="0"/>
              <a:t> Equality (across all areas)</a:t>
            </a:r>
          </a:p>
          <a:p>
            <a:pPr>
              <a:buFont typeface="Wingdings" panose="05000000000000000000" pitchFamily="2" charset="2"/>
              <a:buChar char="v"/>
            </a:pPr>
            <a:r>
              <a:rPr lang="en-US" dirty="0"/>
              <a:t> a “fair go” </a:t>
            </a:r>
          </a:p>
          <a:p>
            <a:pPr marL="0" indent="0">
              <a:buNone/>
            </a:pPr>
            <a:r>
              <a:rPr lang="en-US" dirty="0"/>
              <a:t>How would these values translate into a healthcare setting?</a:t>
            </a:r>
          </a:p>
          <a:p>
            <a:endParaRPr lang="en-AU" dirty="0"/>
          </a:p>
        </p:txBody>
      </p:sp>
    </p:spTree>
    <p:extLst>
      <p:ext uri="{BB962C8B-B14F-4D97-AF65-F5344CB8AC3E}">
        <p14:creationId xmlns:p14="http://schemas.microsoft.com/office/powerpoint/2010/main" val="32250919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Culture and attitudes</a:t>
            </a:r>
          </a:p>
        </p:txBody>
      </p:sp>
      <p:sp>
        <p:nvSpPr>
          <p:cNvPr id="3" name="Content Placeholder 2"/>
          <p:cNvSpPr>
            <a:spLocks noGrp="1"/>
          </p:cNvSpPr>
          <p:nvPr>
            <p:ph idx="1"/>
          </p:nvPr>
        </p:nvSpPr>
        <p:spPr/>
        <p:txBody>
          <a:bodyPr/>
          <a:lstStyle/>
          <a:p>
            <a:r>
              <a:rPr lang="en-US" dirty="0"/>
              <a:t>How can one’s culture influence their attitude towards healthcare?</a:t>
            </a:r>
          </a:p>
          <a:p>
            <a:r>
              <a:rPr lang="en-US" dirty="0"/>
              <a:t>(attitude: positive or negative feelings towards people, objects and things)</a:t>
            </a:r>
          </a:p>
          <a:p>
            <a:r>
              <a:rPr lang="en-US" dirty="0"/>
              <a:t>Attitudes result from beliefs and values</a:t>
            </a:r>
          </a:p>
          <a:p>
            <a:endParaRPr lang="en-US" dirty="0"/>
          </a:p>
          <a:p>
            <a:endParaRPr lang="en-US" dirty="0"/>
          </a:p>
        </p:txBody>
      </p:sp>
    </p:spTree>
    <p:extLst>
      <p:ext uri="{BB962C8B-B14F-4D97-AF65-F5344CB8AC3E}">
        <p14:creationId xmlns:p14="http://schemas.microsoft.com/office/powerpoint/2010/main" val="499348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Conflicting norms</a:t>
            </a:r>
          </a:p>
        </p:txBody>
      </p:sp>
      <p:sp>
        <p:nvSpPr>
          <p:cNvPr id="3" name="Content Placeholder 2"/>
          <p:cNvSpPr>
            <a:spLocks noGrp="1"/>
          </p:cNvSpPr>
          <p:nvPr>
            <p:ph idx="1"/>
          </p:nvPr>
        </p:nvSpPr>
        <p:spPr/>
        <p:txBody>
          <a:bodyPr>
            <a:normAutofit/>
          </a:bodyPr>
          <a:lstStyle/>
          <a:p>
            <a:r>
              <a:rPr lang="en-AU" dirty="0"/>
              <a:t>We are going to explore the conflict between </a:t>
            </a:r>
            <a:r>
              <a:rPr lang="en-AU" u="sng" dirty="0"/>
              <a:t>norms of specific groups </a:t>
            </a:r>
            <a:r>
              <a:rPr lang="en-AU" dirty="0"/>
              <a:t>and </a:t>
            </a:r>
            <a:r>
              <a:rPr lang="en-AU" u="sng" dirty="0"/>
              <a:t>majority norms.</a:t>
            </a:r>
          </a:p>
          <a:p>
            <a:r>
              <a:rPr lang="en-AU" dirty="0"/>
              <a:t>Consider some of the norms that can be influenced by culture</a:t>
            </a:r>
            <a:r>
              <a:rPr lang="mr-IN" dirty="0"/>
              <a:t>…</a:t>
            </a:r>
            <a:endParaRPr lang="en-AU" dirty="0"/>
          </a:p>
          <a:p>
            <a:pPr>
              <a:buFont typeface="Arial" charset="0"/>
              <a:buChar char="•"/>
            </a:pPr>
            <a:r>
              <a:rPr lang="en-AU" dirty="0"/>
              <a:t> Naming systems and greetings</a:t>
            </a:r>
          </a:p>
          <a:p>
            <a:pPr>
              <a:buFont typeface="Arial" charset="0"/>
              <a:buChar char="•"/>
            </a:pPr>
            <a:r>
              <a:rPr lang="en-AU" dirty="0"/>
              <a:t> Differences in how certain family members are perceived (kinship and hierarchy)</a:t>
            </a:r>
          </a:p>
          <a:p>
            <a:pPr>
              <a:buFont typeface="Arial" charset="0"/>
              <a:buChar char="•"/>
            </a:pPr>
            <a:r>
              <a:rPr lang="en-AU" dirty="0"/>
              <a:t> Difference in appearance and priorities of appearance</a:t>
            </a:r>
          </a:p>
          <a:p>
            <a:pPr>
              <a:buFont typeface="Arial" charset="0"/>
              <a:buChar char="•"/>
            </a:pPr>
            <a:r>
              <a:rPr lang="en-AU" dirty="0"/>
              <a:t> Communication styles</a:t>
            </a:r>
          </a:p>
          <a:p>
            <a:endParaRPr lang="en-AU" dirty="0"/>
          </a:p>
        </p:txBody>
      </p:sp>
    </p:spTree>
    <p:extLst>
      <p:ext uri="{BB962C8B-B14F-4D97-AF65-F5344CB8AC3E}">
        <p14:creationId xmlns:p14="http://schemas.microsoft.com/office/powerpoint/2010/main" val="11189917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Conflicting norms </a:t>
            </a:r>
          </a:p>
        </p:txBody>
      </p:sp>
      <p:sp>
        <p:nvSpPr>
          <p:cNvPr id="3" name="Content Placeholder 2"/>
          <p:cNvSpPr>
            <a:spLocks noGrp="1"/>
          </p:cNvSpPr>
          <p:nvPr>
            <p:ph idx="1"/>
          </p:nvPr>
        </p:nvSpPr>
        <p:spPr/>
        <p:txBody>
          <a:bodyPr/>
          <a:lstStyle/>
          <a:p>
            <a:r>
              <a:rPr lang="en-US" dirty="0"/>
              <a:t>When the majority norm encourages one behaviour, and the norm of the specific group encourages a different behaviour, what is the outcome?</a:t>
            </a:r>
          </a:p>
          <a:p>
            <a:pPr>
              <a:buFont typeface="Arial" charset="0"/>
              <a:buChar char="•"/>
            </a:pPr>
            <a:r>
              <a:rPr lang="en-US" dirty="0"/>
              <a:t> Division?</a:t>
            </a:r>
          </a:p>
          <a:p>
            <a:pPr>
              <a:buFont typeface="Arial" charset="0"/>
              <a:buChar char="•"/>
            </a:pPr>
            <a:r>
              <a:rPr lang="en-US" dirty="0"/>
              <a:t> Embarrassment?</a:t>
            </a:r>
          </a:p>
          <a:p>
            <a:pPr>
              <a:buFont typeface="Arial" charset="0"/>
              <a:buChar char="•"/>
            </a:pPr>
            <a:r>
              <a:rPr lang="en-US" dirty="0"/>
              <a:t> Conflict?</a:t>
            </a:r>
          </a:p>
          <a:p>
            <a:pPr>
              <a:buFont typeface="Arial" charset="0"/>
              <a:buChar char="•"/>
            </a:pPr>
            <a:r>
              <a:rPr lang="en-US" dirty="0"/>
              <a:t> Discrimination?</a:t>
            </a:r>
          </a:p>
          <a:p>
            <a:pPr marL="0" indent="0">
              <a:buNone/>
            </a:pPr>
            <a:endParaRPr lang="en-US" dirty="0"/>
          </a:p>
          <a:p>
            <a:pPr marL="0" indent="0">
              <a:buNone/>
            </a:pPr>
            <a:r>
              <a:rPr lang="en-US" dirty="0"/>
              <a:t>Which behaviour will they choose? How will this influence their health? </a:t>
            </a:r>
          </a:p>
          <a:p>
            <a:endParaRPr lang="en-US" dirty="0"/>
          </a:p>
        </p:txBody>
      </p:sp>
    </p:spTree>
    <p:extLst>
      <p:ext uri="{BB962C8B-B14F-4D97-AF65-F5344CB8AC3E}">
        <p14:creationId xmlns:p14="http://schemas.microsoft.com/office/powerpoint/2010/main" val="13660261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Influence of Environmental factors </a:t>
            </a:r>
          </a:p>
        </p:txBody>
      </p:sp>
      <p:sp>
        <p:nvSpPr>
          <p:cNvPr id="3" name="Content Placeholder 2"/>
          <p:cNvSpPr>
            <a:spLocks noGrp="1"/>
          </p:cNvSpPr>
          <p:nvPr>
            <p:ph idx="1"/>
          </p:nvPr>
        </p:nvSpPr>
        <p:spPr/>
        <p:txBody>
          <a:bodyPr/>
          <a:lstStyle/>
          <a:p>
            <a:pPr lvl="0">
              <a:buFont typeface="Wingdings" charset="2"/>
              <a:buChar char="v"/>
            </a:pPr>
            <a:r>
              <a:rPr lang="en-AU" dirty="0"/>
              <a:t>Influence of environmental factors on the health behaviour of cultural groups</a:t>
            </a:r>
          </a:p>
          <a:p>
            <a:pPr marL="0" lvl="0" indent="0">
              <a:buNone/>
            </a:pPr>
            <a:endParaRPr lang="en-AU" dirty="0"/>
          </a:p>
          <a:p>
            <a:pPr marL="0" lvl="0" indent="0">
              <a:buNone/>
            </a:pPr>
            <a:r>
              <a:rPr lang="en-AU" dirty="0"/>
              <a:t>The two environmental factors we look at are:</a:t>
            </a:r>
          </a:p>
          <a:p>
            <a:pPr lvl="0">
              <a:buFont typeface="Arial" charset="0"/>
              <a:buChar char="•"/>
            </a:pPr>
            <a:r>
              <a:rPr lang="en-AU" dirty="0"/>
              <a:t> Geographical location</a:t>
            </a:r>
          </a:p>
          <a:p>
            <a:pPr lvl="0">
              <a:buFont typeface="Arial" charset="0"/>
              <a:buChar char="•"/>
            </a:pPr>
            <a:r>
              <a:rPr lang="en-AU" dirty="0"/>
              <a:t> Social networks</a:t>
            </a:r>
          </a:p>
          <a:p>
            <a:endParaRPr lang="en-US" dirty="0"/>
          </a:p>
        </p:txBody>
      </p:sp>
    </p:spTree>
    <p:extLst>
      <p:ext uri="{BB962C8B-B14F-4D97-AF65-F5344CB8AC3E}">
        <p14:creationId xmlns:p14="http://schemas.microsoft.com/office/powerpoint/2010/main" val="11009584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Geographical Location</a:t>
            </a:r>
          </a:p>
        </p:txBody>
      </p:sp>
      <p:sp>
        <p:nvSpPr>
          <p:cNvPr id="3" name="Content Placeholder 2"/>
          <p:cNvSpPr>
            <a:spLocks noGrp="1"/>
          </p:cNvSpPr>
          <p:nvPr>
            <p:ph idx="1"/>
          </p:nvPr>
        </p:nvSpPr>
        <p:spPr/>
        <p:txBody>
          <a:bodyPr>
            <a:normAutofit/>
          </a:bodyPr>
          <a:lstStyle/>
          <a:p>
            <a:r>
              <a:rPr lang="en-US" dirty="0"/>
              <a:t>Disease occurs in patterns based on geographical location. </a:t>
            </a:r>
          </a:p>
          <a:p>
            <a:r>
              <a:rPr lang="en-US" dirty="0"/>
              <a:t>For example, cardiovascular disease is more prevalent in first world countries. (cardiovascular disease is non-communicable so it isn’t transferring from one person to another)</a:t>
            </a:r>
          </a:p>
          <a:p>
            <a:r>
              <a:rPr lang="en-US" dirty="0"/>
              <a:t>The physical environmental factors influence the norms in the cultural groups that live in those areas and therefore influence health behaviours.</a:t>
            </a:r>
          </a:p>
          <a:p>
            <a:endParaRPr lang="en-US" dirty="0"/>
          </a:p>
          <a:p>
            <a:r>
              <a:rPr lang="en-US" dirty="0"/>
              <a:t>Consider walkability, urban sprawl and number of fast food places. </a:t>
            </a:r>
          </a:p>
        </p:txBody>
      </p:sp>
    </p:spTree>
    <p:extLst>
      <p:ext uri="{BB962C8B-B14F-4D97-AF65-F5344CB8AC3E}">
        <p14:creationId xmlns:p14="http://schemas.microsoft.com/office/powerpoint/2010/main" val="482657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Social networks</a:t>
            </a:r>
          </a:p>
        </p:txBody>
      </p:sp>
      <p:sp>
        <p:nvSpPr>
          <p:cNvPr id="3" name="Content Placeholder 2"/>
          <p:cNvSpPr>
            <a:spLocks noGrp="1"/>
          </p:cNvSpPr>
          <p:nvPr>
            <p:ph idx="1"/>
          </p:nvPr>
        </p:nvSpPr>
        <p:spPr>
          <a:xfrm>
            <a:off x="1024128" y="1879600"/>
            <a:ext cx="9980422" cy="4660900"/>
          </a:xfrm>
        </p:spPr>
        <p:txBody>
          <a:bodyPr>
            <a:normAutofit fontScale="55000" lnSpcReduction="20000"/>
          </a:bodyPr>
          <a:lstStyle/>
          <a:p>
            <a:pPr>
              <a:buFont typeface="Wingdings" charset="2"/>
              <a:buChar char="v"/>
            </a:pPr>
            <a:r>
              <a:rPr lang="en-US" sz="3100" dirty="0"/>
              <a:t>Social networks can work positively or negatively. </a:t>
            </a:r>
          </a:p>
          <a:p>
            <a:r>
              <a:rPr lang="en-US" sz="3100" dirty="0"/>
              <a:t>“Close-knit social networks promote information transfer.” </a:t>
            </a:r>
          </a:p>
          <a:p>
            <a:r>
              <a:rPr lang="en-US" sz="3100" dirty="0"/>
              <a:t>How can this improve health?</a:t>
            </a:r>
          </a:p>
          <a:p>
            <a:pPr>
              <a:buFont typeface="Arial" charset="0"/>
              <a:buChar char="•"/>
            </a:pPr>
            <a:r>
              <a:rPr lang="en-US" sz="3100" dirty="0"/>
              <a:t> If people discuss the promotion of physical activity and the harms of alcohol abuse then people in that network are less likely to engage in those behaviours. </a:t>
            </a:r>
          </a:p>
          <a:p>
            <a:r>
              <a:rPr lang="en-US" sz="3100" dirty="0"/>
              <a:t>How can this reduce health?</a:t>
            </a:r>
          </a:p>
          <a:p>
            <a:pPr>
              <a:buFont typeface="Arial" panose="020B0604020202020204" pitchFamily="34" charset="0"/>
              <a:buChar char="•"/>
            </a:pPr>
            <a:r>
              <a:rPr lang="en-US" sz="3100" dirty="0"/>
              <a:t>If people discuss excessive alcohol consumption in a positive way (</a:t>
            </a:r>
            <a:r>
              <a:rPr lang="en-US" sz="3100" dirty="0" err="1"/>
              <a:t>ie</a:t>
            </a:r>
            <a:r>
              <a:rPr lang="en-US" sz="3100" dirty="0"/>
              <a:t>. “funny drunk stories”) and promote unhealthy food consumption and sedentary lifestyles then the people in that network are more likely to engage in these unhealthy </a:t>
            </a:r>
            <a:r>
              <a:rPr lang="en-US" sz="3100" dirty="0" err="1"/>
              <a:t>behaviours</a:t>
            </a:r>
            <a:r>
              <a:rPr lang="en-US" sz="3100" dirty="0"/>
              <a:t>.</a:t>
            </a:r>
          </a:p>
          <a:p>
            <a:r>
              <a:rPr lang="en-US" sz="3100" dirty="0"/>
              <a:t>“Social networks provide social support”</a:t>
            </a:r>
          </a:p>
          <a:p>
            <a:r>
              <a:rPr lang="en-US" sz="3100" dirty="0"/>
              <a:t>How can this improve health?</a:t>
            </a:r>
          </a:p>
          <a:p>
            <a:pPr>
              <a:buFont typeface="Arial" charset="0"/>
              <a:buChar char="•"/>
            </a:pPr>
            <a:r>
              <a:rPr lang="en-US" sz="3100" dirty="0"/>
              <a:t> mental wellbeing and social health, increased confidence and self esteem. Can it improve physical health??</a:t>
            </a:r>
          </a:p>
          <a:p>
            <a:pPr>
              <a:buFont typeface="Arial" charset="0"/>
              <a:buChar char="•"/>
            </a:pPr>
            <a:r>
              <a:rPr lang="en-US" sz="3100" dirty="0"/>
              <a:t>TED TALK: The hidden influence of social networks </a:t>
            </a:r>
            <a:r>
              <a:rPr lang="en-AU" sz="3100" dirty="0">
                <a:hlinkClick r:id="rId2"/>
              </a:rPr>
              <a:t>https://www.ted.com/talks/nicholas_christakis_the_hidden_influence_of_social_networks?language=en</a:t>
            </a:r>
            <a:endParaRPr lang="en-US" sz="3100" dirty="0"/>
          </a:p>
          <a:p>
            <a:pPr>
              <a:buFont typeface="Arial" charset="0"/>
              <a:buChar char="•"/>
            </a:pPr>
            <a:endParaRPr lang="en-US" dirty="0"/>
          </a:p>
        </p:txBody>
      </p:sp>
    </p:spTree>
    <p:extLst>
      <p:ext uri="{BB962C8B-B14F-4D97-AF65-F5344CB8AC3E}">
        <p14:creationId xmlns:p14="http://schemas.microsoft.com/office/powerpoint/2010/main" val="11497139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Social networks &amp; health behaviours</a:t>
            </a:r>
          </a:p>
        </p:txBody>
      </p:sp>
      <p:sp>
        <p:nvSpPr>
          <p:cNvPr id="3" name="Content Placeholder 2"/>
          <p:cNvSpPr>
            <a:spLocks noGrp="1"/>
          </p:cNvSpPr>
          <p:nvPr>
            <p:ph idx="1"/>
          </p:nvPr>
        </p:nvSpPr>
        <p:spPr>
          <a:xfrm>
            <a:off x="1024128" y="1879600"/>
            <a:ext cx="9980422" cy="4660900"/>
          </a:xfrm>
        </p:spPr>
        <p:txBody>
          <a:bodyPr>
            <a:normAutofit/>
          </a:bodyPr>
          <a:lstStyle/>
          <a:p>
            <a:pPr marL="0" indent="0">
              <a:buNone/>
            </a:pPr>
            <a:r>
              <a:rPr lang="en-US" dirty="0"/>
              <a:t>Complete Q24a from the 2020 WACE exam.</a:t>
            </a:r>
          </a:p>
        </p:txBody>
      </p:sp>
    </p:spTree>
    <p:extLst>
      <p:ext uri="{BB962C8B-B14F-4D97-AF65-F5344CB8AC3E}">
        <p14:creationId xmlns:p14="http://schemas.microsoft.com/office/powerpoint/2010/main" val="39346211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Childbirth, organ donation &amp; Blood </a:t>
            </a:r>
            <a:r>
              <a:rPr lang="en-US" dirty="0" err="1"/>
              <a:t>TranSfusions</a:t>
            </a:r>
            <a:endParaRPr lang="en-US" dirty="0"/>
          </a:p>
        </p:txBody>
      </p:sp>
      <p:sp>
        <p:nvSpPr>
          <p:cNvPr id="3" name="Content Placeholder 2"/>
          <p:cNvSpPr>
            <a:spLocks noGrp="1"/>
          </p:cNvSpPr>
          <p:nvPr>
            <p:ph idx="1"/>
          </p:nvPr>
        </p:nvSpPr>
        <p:spPr/>
        <p:txBody>
          <a:bodyPr>
            <a:normAutofit lnSpcReduction="10000"/>
          </a:bodyPr>
          <a:lstStyle/>
          <a:p>
            <a:r>
              <a:rPr lang="en-US" dirty="0"/>
              <a:t>Task:</a:t>
            </a:r>
          </a:p>
          <a:p>
            <a:pPr>
              <a:buFontTx/>
              <a:buChar char="-"/>
            </a:pPr>
            <a:r>
              <a:rPr lang="en-US" dirty="0"/>
              <a:t> Identify cultural influences on each of the three health behaviours above. </a:t>
            </a:r>
          </a:p>
          <a:p>
            <a:pPr marL="0" indent="0">
              <a:buNone/>
            </a:pPr>
            <a:r>
              <a:rPr lang="en-US" dirty="0"/>
              <a:t>Consider the following questions:</a:t>
            </a:r>
          </a:p>
          <a:p>
            <a:pPr lvl="0"/>
            <a:r>
              <a:rPr lang="en-US" dirty="0"/>
              <a:t>Is this procedure considered acceptable in different cultures?</a:t>
            </a:r>
          </a:p>
          <a:p>
            <a:pPr lvl="0"/>
            <a:r>
              <a:rPr lang="en-US" dirty="0"/>
              <a:t>Who can and can’t participate in these procedures?</a:t>
            </a:r>
          </a:p>
          <a:p>
            <a:pPr lvl="0"/>
            <a:r>
              <a:rPr lang="en-US" dirty="0"/>
              <a:t>Are men and women treated equally within these cultures?</a:t>
            </a:r>
          </a:p>
          <a:p>
            <a:pPr lvl="0"/>
            <a:r>
              <a:rPr lang="en-US" dirty="0"/>
              <a:t>What factors are present within these cultures that contribute to the decision to participate or not participate in these procedures? </a:t>
            </a:r>
          </a:p>
          <a:p>
            <a:pPr lvl="0">
              <a:buFontTx/>
              <a:buChar char="-"/>
            </a:pPr>
            <a:r>
              <a:rPr lang="en-US" dirty="0"/>
              <a:t>Identify differences and similarities between cultures. </a:t>
            </a:r>
          </a:p>
          <a:p>
            <a:endParaRPr lang="en-US" dirty="0"/>
          </a:p>
        </p:txBody>
      </p:sp>
    </p:spTree>
    <p:extLst>
      <p:ext uri="{BB962C8B-B14F-4D97-AF65-F5344CB8AC3E}">
        <p14:creationId xmlns:p14="http://schemas.microsoft.com/office/powerpoint/2010/main" val="2068987334"/>
      </p:ext>
    </p:extLst>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6000" dirty="0"/>
              <a:t>Let’s get personal</a:t>
            </a:r>
            <a:r>
              <a:rPr lang="mr-IN" sz="6000" dirty="0"/>
              <a:t>…</a:t>
            </a:r>
            <a:endParaRPr lang="en-US" sz="6000" dirty="0"/>
          </a:p>
        </p:txBody>
      </p:sp>
      <p:sp>
        <p:nvSpPr>
          <p:cNvPr id="3" name="Content Placeholder 2"/>
          <p:cNvSpPr>
            <a:spLocks noGrp="1"/>
          </p:cNvSpPr>
          <p:nvPr>
            <p:ph idx="1"/>
          </p:nvPr>
        </p:nvSpPr>
        <p:spPr/>
        <p:txBody>
          <a:bodyPr>
            <a:normAutofit/>
          </a:bodyPr>
          <a:lstStyle/>
          <a:p>
            <a:r>
              <a:rPr lang="en-US" sz="2800" dirty="0"/>
              <a:t>What are your beliefs, attitudes and values specific to these three procedures? </a:t>
            </a:r>
          </a:p>
          <a:p>
            <a:endParaRPr lang="en-US" sz="2800" dirty="0"/>
          </a:p>
          <a:p>
            <a:r>
              <a:rPr lang="en-US" sz="2800" dirty="0"/>
              <a:t>Identify where you think these BVA’s come from?</a:t>
            </a:r>
            <a:br>
              <a:rPr lang="en-US" sz="2800" dirty="0"/>
            </a:br>
            <a:endParaRPr lang="en-US" sz="2800" dirty="0"/>
          </a:p>
        </p:txBody>
      </p:sp>
    </p:spTree>
    <p:extLst>
      <p:ext uri="{BB962C8B-B14F-4D97-AF65-F5344CB8AC3E}">
        <p14:creationId xmlns:p14="http://schemas.microsoft.com/office/powerpoint/2010/main" val="1087907631"/>
      </p:ext>
    </p:extLst>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Case study: transplants in </a:t>
            </a:r>
            <a:r>
              <a:rPr lang="en-US" dirty="0" err="1"/>
              <a:t>australia</a:t>
            </a:r>
            <a:endParaRPr lang="en-AU" dirty="0"/>
          </a:p>
        </p:txBody>
      </p:sp>
      <p:sp>
        <p:nvSpPr>
          <p:cNvPr id="3" name="Content Placeholder 2"/>
          <p:cNvSpPr>
            <a:spLocks noGrp="1"/>
          </p:cNvSpPr>
          <p:nvPr>
            <p:ph idx="1"/>
          </p:nvPr>
        </p:nvSpPr>
        <p:spPr>
          <a:xfrm>
            <a:off x="755650" y="2000250"/>
            <a:ext cx="10261600" cy="4381500"/>
          </a:xfrm>
        </p:spPr>
        <p:txBody>
          <a:bodyPr>
            <a:normAutofit lnSpcReduction="10000"/>
          </a:bodyPr>
          <a:lstStyle/>
          <a:p>
            <a:pPr marL="114300" indent="0">
              <a:buNone/>
            </a:pPr>
            <a:r>
              <a:rPr lang="en-US" u="sng" dirty="0"/>
              <a:t>Australian culture</a:t>
            </a:r>
          </a:p>
          <a:p>
            <a:pPr>
              <a:buFontTx/>
              <a:buChar char="-"/>
            </a:pPr>
            <a:r>
              <a:rPr lang="en-US" dirty="0"/>
              <a:t>We value altruism: The belief in or practice of selfless concern for the well-being of others, </a:t>
            </a:r>
            <a:r>
              <a:rPr lang="en-US" dirty="0" err="1"/>
              <a:t>behaviours</a:t>
            </a:r>
            <a:r>
              <a:rPr lang="en-US" dirty="0"/>
              <a:t> that benefit others at their own expense. (think ANZACs)</a:t>
            </a:r>
          </a:p>
          <a:p>
            <a:pPr>
              <a:buFontTx/>
              <a:buChar char="-"/>
            </a:pPr>
            <a:r>
              <a:rPr lang="en-US" dirty="0"/>
              <a:t>Many Australians have the belief that by donating their organs that they will save lives.</a:t>
            </a:r>
          </a:p>
          <a:p>
            <a:pPr>
              <a:buFontTx/>
              <a:buChar char="-"/>
            </a:pPr>
            <a:r>
              <a:rPr lang="en-US" dirty="0"/>
              <a:t>The combination of these values and beliefs may lead to Australians registering to donate their organs or agreeing to donate the organs of a loved one.</a:t>
            </a:r>
          </a:p>
          <a:p>
            <a:pPr marL="114300" indent="0">
              <a:buNone/>
            </a:pPr>
            <a:r>
              <a:rPr lang="en-US" u="sng" dirty="0"/>
              <a:t>Indigenous Australian culture</a:t>
            </a:r>
          </a:p>
          <a:p>
            <a:pPr>
              <a:buFontTx/>
              <a:buChar char="-"/>
            </a:pPr>
            <a:r>
              <a:rPr lang="en-US" dirty="0"/>
              <a:t>Value spirit and tradition. Have a need for the body to be buried whole so that the spirit can move.</a:t>
            </a:r>
          </a:p>
          <a:p>
            <a:pPr>
              <a:buFontTx/>
              <a:buChar char="-"/>
            </a:pPr>
            <a:r>
              <a:rPr lang="en-US" dirty="0"/>
              <a:t>These beliefs and values may influence and indigenous Australian to not register as an organ donor.</a:t>
            </a:r>
            <a:endParaRPr lang="en-AU" dirty="0"/>
          </a:p>
        </p:txBody>
      </p:sp>
    </p:spTree>
    <p:extLst>
      <p:ext uri="{BB962C8B-B14F-4D97-AF65-F5344CB8AC3E}">
        <p14:creationId xmlns:p14="http://schemas.microsoft.com/office/powerpoint/2010/main" val="11276710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5" end="5"/>
                                            </p:txEl>
                                          </p:spTgt>
                                        </p:tgtEl>
                                        <p:attrNameLst>
                                          <p:attrName>style.visibility</p:attrName>
                                        </p:attrNameLst>
                                      </p:cBhvr>
                                      <p:to>
                                        <p:strVal val="visible"/>
                                      </p:to>
                                    </p:set>
                                    <p:animEffect transition="in" filter="fade">
                                      <p:cBhvr>
                                        <p:cTn id="22" dur="500"/>
                                        <p:tgtEl>
                                          <p:spTgt spid="3">
                                            <p:txEl>
                                              <p:pRg st="5" end="5"/>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animEffect transition="in" filter="fade">
                                      <p:cBhvr>
                                        <p:cTn id="27"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24128" y="585216"/>
            <a:ext cx="9720072" cy="887984"/>
          </a:xfrm>
        </p:spPr>
        <p:txBody>
          <a:bodyPr/>
          <a:lstStyle/>
          <a:p>
            <a:r>
              <a:rPr lang="en-US" dirty="0"/>
              <a:t>Why is this important?</a:t>
            </a:r>
          </a:p>
        </p:txBody>
      </p:sp>
      <p:sp>
        <p:nvSpPr>
          <p:cNvPr id="3" name="Content Placeholder 2"/>
          <p:cNvSpPr>
            <a:spLocks noGrp="1"/>
          </p:cNvSpPr>
          <p:nvPr>
            <p:ph idx="1"/>
          </p:nvPr>
        </p:nvSpPr>
        <p:spPr>
          <a:xfrm>
            <a:off x="1024128" y="1626937"/>
            <a:ext cx="10863072" cy="4352223"/>
          </a:xfrm>
        </p:spPr>
        <p:txBody>
          <a:bodyPr>
            <a:noAutofit/>
          </a:bodyPr>
          <a:lstStyle/>
          <a:p>
            <a:pPr>
              <a:lnSpc>
                <a:spcPct val="100000"/>
              </a:lnSpc>
            </a:pPr>
            <a:r>
              <a:rPr lang="en-US" u="sng" dirty="0"/>
              <a:t>A large aspect of health care involves working and communicating with a variety of people. </a:t>
            </a:r>
          </a:p>
          <a:p>
            <a:pPr>
              <a:lnSpc>
                <a:spcPct val="100000"/>
              </a:lnSpc>
            </a:pPr>
            <a:r>
              <a:rPr lang="en-US" u="sng" dirty="0"/>
              <a:t>These relationships require trust and cooperation to be effective</a:t>
            </a:r>
          </a:p>
          <a:p>
            <a:pPr>
              <a:lnSpc>
                <a:spcPct val="100000"/>
              </a:lnSpc>
            </a:pPr>
            <a:r>
              <a:rPr lang="en-US" dirty="0"/>
              <a:t>Health settings include (but are not limited to!)</a:t>
            </a:r>
          </a:p>
          <a:p>
            <a:pPr>
              <a:lnSpc>
                <a:spcPct val="100000"/>
              </a:lnSpc>
              <a:buFont typeface="Wingdings" charset="2"/>
              <a:buChar char="v"/>
            </a:pPr>
            <a:r>
              <a:rPr lang="en-US" dirty="0"/>
              <a:t>School nurse</a:t>
            </a:r>
          </a:p>
          <a:p>
            <a:pPr>
              <a:lnSpc>
                <a:spcPct val="100000"/>
              </a:lnSpc>
              <a:buFont typeface="Wingdings" charset="2"/>
              <a:buChar char="v"/>
            </a:pPr>
            <a:r>
              <a:rPr lang="en-US" dirty="0"/>
              <a:t>Nurse in a hospital ward</a:t>
            </a:r>
          </a:p>
          <a:p>
            <a:pPr>
              <a:lnSpc>
                <a:spcPct val="100000"/>
              </a:lnSpc>
              <a:buFont typeface="Wingdings" charset="2"/>
              <a:buChar char="v"/>
            </a:pPr>
            <a:r>
              <a:rPr lang="en-US" dirty="0"/>
              <a:t>Health worker in a prison</a:t>
            </a:r>
          </a:p>
          <a:p>
            <a:pPr>
              <a:lnSpc>
                <a:spcPct val="100000"/>
              </a:lnSpc>
              <a:buFont typeface="Wingdings" charset="2"/>
              <a:buChar char="v"/>
            </a:pPr>
            <a:r>
              <a:rPr lang="en-US" dirty="0"/>
              <a:t>Child health </a:t>
            </a:r>
            <a:r>
              <a:rPr lang="en-US" dirty="0" err="1"/>
              <a:t>centre</a:t>
            </a:r>
            <a:r>
              <a:rPr lang="en-US" dirty="0"/>
              <a:t> </a:t>
            </a:r>
          </a:p>
          <a:p>
            <a:pPr>
              <a:lnSpc>
                <a:spcPct val="100000"/>
              </a:lnSpc>
              <a:buFont typeface="Wingdings" charset="2"/>
              <a:buChar char="v"/>
            </a:pPr>
            <a:r>
              <a:rPr lang="en-US" dirty="0"/>
              <a:t>Aged care homes</a:t>
            </a:r>
          </a:p>
          <a:p>
            <a:pPr>
              <a:lnSpc>
                <a:spcPct val="100000"/>
              </a:lnSpc>
              <a:buFont typeface="Wingdings" charset="2"/>
              <a:buChar char="v"/>
            </a:pPr>
            <a:r>
              <a:rPr lang="en-US" dirty="0"/>
              <a:t>Sports first aid or trainer</a:t>
            </a:r>
          </a:p>
          <a:p>
            <a:pPr marL="0" indent="0">
              <a:lnSpc>
                <a:spcPct val="100000"/>
              </a:lnSpc>
              <a:buNone/>
            </a:pPr>
            <a:r>
              <a:rPr lang="en-US" dirty="0"/>
              <a:t>Can you think of any more?</a:t>
            </a:r>
          </a:p>
        </p:txBody>
      </p:sp>
    </p:spTree>
    <p:extLst>
      <p:ext uri="{BB962C8B-B14F-4D97-AF65-F5344CB8AC3E}">
        <p14:creationId xmlns:p14="http://schemas.microsoft.com/office/powerpoint/2010/main" val="3671653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Barriers to effective relationships in healthcare</a:t>
            </a:r>
          </a:p>
        </p:txBody>
      </p:sp>
      <p:sp>
        <p:nvSpPr>
          <p:cNvPr id="3" name="Content Placeholder 2"/>
          <p:cNvSpPr>
            <a:spLocks noGrp="1"/>
          </p:cNvSpPr>
          <p:nvPr>
            <p:ph idx="1"/>
          </p:nvPr>
        </p:nvSpPr>
        <p:spPr>
          <a:xfrm>
            <a:off x="1024128" y="2286000"/>
            <a:ext cx="10564622" cy="4023360"/>
          </a:xfrm>
        </p:spPr>
        <p:txBody>
          <a:bodyPr>
            <a:normAutofit/>
          </a:bodyPr>
          <a:lstStyle/>
          <a:p>
            <a:pPr>
              <a:buFont typeface="Wingdings" charset="2"/>
              <a:buChar char="v"/>
            </a:pPr>
            <a:r>
              <a:rPr lang="en-US" dirty="0"/>
              <a:t>Negative past experiences such as discrimination and racism at healthcare centers.</a:t>
            </a:r>
          </a:p>
          <a:p>
            <a:pPr>
              <a:buFont typeface="Wingdings" charset="2"/>
              <a:buChar char="v"/>
            </a:pPr>
            <a:r>
              <a:rPr lang="en-US" dirty="0"/>
              <a:t>Communication difficulties such as language differences and health literacy.</a:t>
            </a:r>
          </a:p>
          <a:p>
            <a:pPr>
              <a:buFont typeface="Wingdings" charset="2"/>
              <a:buChar char="v"/>
            </a:pPr>
            <a:r>
              <a:rPr lang="en-US" dirty="0"/>
              <a:t>Lack of established networks within a community.</a:t>
            </a:r>
          </a:p>
          <a:p>
            <a:pPr>
              <a:buFont typeface="Wingdings" charset="2"/>
              <a:buChar char="v"/>
            </a:pPr>
            <a:r>
              <a:rPr lang="en-US" dirty="0"/>
              <a:t>Mental illness such as PSTD or anxiety can make it difficult for patients to express themselves</a:t>
            </a:r>
          </a:p>
          <a:p>
            <a:pPr>
              <a:buFont typeface="Wingdings" charset="2"/>
              <a:buChar char="v"/>
            </a:pPr>
            <a:r>
              <a:rPr lang="en-US" dirty="0"/>
              <a:t> Health professionals treating patients as objects rather than people (e.g. just the hard facts, no emotional involvement or attempt to understand the patients situation)</a:t>
            </a:r>
          </a:p>
          <a:p>
            <a:pPr>
              <a:buFont typeface="Wingdings" charset="2"/>
              <a:buChar char="v"/>
            </a:pPr>
            <a:r>
              <a:rPr lang="en-US" dirty="0"/>
              <a:t>Patients developing a lack of trust in the healthcare professional (for a variety of reasons)</a:t>
            </a:r>
          </a:p>
          <a:p>
            <a:pPr marL="0" indent="0">
              <a:buNone/>
            </a:pPr>
            <a:endParaRPr lang="en-US" dirty="0"/>
          </a:p>
        </p:txBody>
      </p:sp>
    </p:spTree>
    <p:extLst>
      <p:ext uri="{BB962C8B-B14F-4D97-AF65-F5344CB8AC3E}">
        <p14:creationId xmlns:p14="http://schemas.microsoft.com/office/powerpoint/2010/main" val="2490098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skills do health professionals require to overcome these barriers?</a:t>
            </a:r>
          </a:p>
        </p:txBody>
      </p:sp>
      <p:sp>
        <p:nvSpPr>
          <p:cNvPr id="3" name="Content Placeholder 2"/>
          <p:cNvSpPr>
            <a:spLocks noGrp="1"/>
          </p:cNvSpPr>
          <p:nvPr>
            <p:ph idx="1"/>
          </p:nvPr>
        </p:nvSpPr>
        <p:spPr/>
        <p:txBody>
          <a:bodyPr>
            <a:normAutofit/>
          </a:bodyPr>
          <a:lstStyle/>
          <a:p>
            <a:pPr>
              <a:buFont typeface="Wingdings" panose="05000000000000000000" pitchFamily="2" charset="2"/>
              <a:buChar char="v"/>
            </a:pPr>
            <a:r>
              <a:rPr lang="en-US" dirty="0"/>
              <a:t>Assertiveness</a:t>
            </a:r>
          </a:p>
          <a:p>
            <a:pPr>
              <a:buFont typeface="Wingdings" panose="05000000000000000000" pitchFamily="2" charset="2"/>
              <a:buChar char="v"/>
            </a:pPr>
            <a:r>
              <a:rPr lang="en-US" dirty="0"/>
              <a:t>Active listening</a:t>
            </a:r>
          </a:p>
          <a:p>
            <a:pPr>
              <a:buFont typeface="Wingdings" panose="05000000000000000000" pitchFamily="2" charset="2"/>
              <a:buChar char="v"/>
            </a:pPr>
            <a:r>
              <a:rPr lang="en-US" dirty="0"/>
              <a:t>High level of emotional intelligence</a:t>
            </a:r>
          </a:p>
          <a:p>
            <a:pPr>
              <a:buFont typeface="Wingdings" panose="05000000000000000000" pitchFamily="2" charset="2"/>
              <a:buChar char="v"/>
            </a:pPr>
            <a:r>
              <a:rPr lang="en-US" dirty="0"/>
              <a:t>Clinical empathy</a:t>
            </a:r>
          </a:p>
          <a:p>
            <a:pPr>
              <a:buFont typeface="Wingdings" panose="05000000000000000000" pitchFamily="2" charset="2"/>
              <a:buChar char="v"/>
            </a:pPr>
            <a:r>
              <a:rPr lang="en-US" dirty="0"/>
              <a:t>Self reflection</a:t>
            </a:r>
          </a:p>
        </p:txBody>
      </p:sp>
    </p:spTree>
    <p:extLst>
      <p:ext uri="{BB962C8B-B14F-4D97-AF65-F5344CB8AC3E}">
        <p14:creationId xmlns:p14="http://schemas.microsoft.com/office/powerpoint/2010/main" val="19863386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 a practical sense, How can health professionals overcome these barriers?</a:t>
            </a:r>
          </a:p>
        </p:txBody>
      </p:sp>
      <p:sp>
        <p:nvSpPr>
          <p:cNvPr id="3" name="Content Placeholder 2"/>
          <p:cNvSpPr>
            <a:spLocks noGrp="1"/>
          </p:cNvSpPr>
          <p:nvPr>
            <p:ph idx="1"/>
          </p:nvPr>
        </p:nvSpPr>
        <p:spPr>
          <a:xfrm>
            <a:off x="1024128" y="2286000"/>
            <a:ext cx="10393172" cy="4023360"/>
          </a:xfrm>
        </p:spPr>
        <p:txBody>
          <a:bodyPr>
            <a:normAutofit/>
          </a:bodyPr>
          <a:lstStyle/>
          <a:p>
            <a:pPr>
              <a:buFont typeface="Wingdings" panose="05000000000000000000" pitchFamily="2" charset="2"/>
              <a:buChar char="v"/>
            </a:pPr>
            <a:r>
              <a:rPr lang="en-US" dirty="0"/>
              <a:t>Increase training for health professionals on how they can implement a range of communication skills into their work.</a:t>
            </a:r>
          </a:p>
          <a:p>
            <a:pPr>
              <a:buFont typeface="Wingdings" panose="05000000000000000000" pitchFamily="2" charset="2"/>
              <a:buChar char="v"/>
            </a:pPr>
            <a:r>
              <a:rPr lang="en-US" dirty="0"/>
              <a:t>Upskills health professionals to be able to tell the patient courteously what they require for the relationship to be effective. </a:t>
            </a:r>
          </a:p>
          <a:p>
            <a:pPr>
              <a:buFont typeface="Wingdings" charset="2"/>
              <a:buChar char="v"/>
            </a:pPr>
            <a:r>
              <a:rPr lang="en-US" dirty="0"/>
              <a:t>Provide strategies for health professionals to overcome language barriers by all means necessary (</a:t>
            </a:r>
            <a:r>
              <a:rPr lang="en-US" dirty="0" err="1"/>
              <a:t>ie</a:t>
            </a:r>
            <a:r>
              <a:rPr lang="en-US" dirty="0"/>
              <a:t>. Human translator, google translate, involving family members </a:t>
            </a:r>
            <a:r>
              <a:rPr lang="en-US" dirty="0" err="1"/>
              <a:t>etc</a:t>
            </a:r>
            <a:r>
              <a:rPr lang="en-US" dirty="0"/>
              <a:t>).</a:t>
            </a:r>
          </a:p>
          <a:p>
            <a:pPr>
              <a:buFont typeface="Wingdings" charset="2"/>
              <a:buChar char="v"/>
            </a:pPr>
            <a:r>
              <a:rPr lang="en-US" dirty="0"/>
              <a:t>Role play difficult scenarios so health professionals can practice being assertive, mindful and emotionally intelligent to best understand the patient and the factors that are influencing their health</a:t>
            </a:r>
          </a:p>
        </p:txBody>
      </p:sp>
    </p:spTree>
    <p:extLst>
      <p:ext uri="{BB962C8B-B14F-4D97-AF65-F5344CB8AC3E}">
        <p14:creationId xmlns:p14="http://schemas.microsoft.com/office/powerpoint/2010/main" val="7138811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24128" y="585216"/>
            <a:ext cx="9720072" cy="805434"/>
          </a:xfrm>
        </p:spPr>
        <p:txBody>
          <a:bodyPr>
            <a:normAutofit fontScale="90000"/>
          </a:bodyPr>
          <a:lstStyle/>
          <a:p>
            <a:r>
              <a:rPr lang="en-US" dirty="0"/>
              <a:t>Let’s look specifically at Language, culture and relationship building…</a:t>
            </a:r>
          </a:p>
        </p:txBody>
      </p:sp>
      <p:sp>
        <p:nvSpPr>
          <p:cNvPr id="3" name="Content Placeholder 2"/>
          <p:cNvSpPr>
            <a:spLocks noGrp="1"/>
          </p:cNvSpPr>
          <p:nvPr>
            <p:ph idx="1"/>
          </p:nvPr>
        </p:nvSpPr>
        <p:spPr>
          <a:xfrm>
            <a:off x="954278" y="1809750"/>
            <a:ext cx="9720073" cy="4023360"/>
          </a:xfrm>
        </p:spPr>
        <p:txBody>
          <a:bodyPr>
            <a:normAutofit/>
          </a:bodyPr>
          <a:lstStyle/>
          <a:p>
            <a:r>
              <a:rPr lang="en-US" dirty="0"/>
              <a:t>Barriers to effective relationships when the patient/healthcare professional come from different backgrounds?</a:t>
            </a:r>
          </a:p>
          <a:p>
            <a:pPr>
              <a:buFont typeface="Wingdings" panose="05000000000000000000" pitchFamily="2" charset="2"/>
              <a:buChar char="v"/>
            </a:pPr>
            <a:r>
              <a:rPr lang="en-US" dirty="0"/>
              <a:t>Not speaking the same language can mean conversations about plans are not understood and may lead to misinterpretation of information.</a:t>
            </a:r>
          </a:p>
          <a:p>
            <a:pPr>
              <a:buFont typeface="Wingdings" panose="05000000000000000000" pitchFamily="2" charset="2"/>
              <a:buChar char="v"/>
            </a:pPr>
            <a:r>
              <a:rPr lang="en-US" dirty="0"/>
              <a:t>Differing levels of Health literacy may impact understanding of the terminology that is used. (patient feels confused, overwhelmed or stupid)</a:t>
            </a:r>
          </a:p>
          <a:p>
            <a:pPr>
              <a:buFont typeface="Wingdings" panose="05000000000000000000" pitchFamily="2" charset="2"/>
              <a:buChar char="v"/>
            </a:pPr>
            <a:r>
              <a:rPr lang="en-US" dirty="0"/>
              <a:t>People can be offended without the health care provider realizing it (due to lack of understanding about the persons culture-ignorance)</a:t>
            </a:r>
          </a:p>
          <a:p>
            <a:pPr>
              <a:buFont typeface="Wingdings" panose="05000000000000000000" pitchFamily="2" charset="2"/>
              <a:buChar char="v"/>
            </a:pPr>
            <a:r>
              <a:rPr lang="en-US" dirty="0"/>
              <a:t>Conflicts and arguments may arise as a result of the use of some treatments or procedures that don’t work with some cultures. </a:t>
            </a:r>
          </a:p>
        </p:txBody>
      </p:sp>
    </p:spTree>
    <p:extLst>
      <p:ext uri="{BB962C8B-B14F-4D97-AF65-F5344CB8AC3E}">
        <p14:creationId xmlns:p14="http://schemas.microsoft.com/office/powerpoint/2010/main" val="39321784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73328" y="978916"/>
            <a:ext cx="9720072" cy="805434"/>
          </a:xfrm>
        </p:spPr>
        <p:txBody>
          <a:bodyPr>
            <a:normAutofit fontScale="90000"/>
          </a:bodyPr>
          <a:lstStyle/>
          <a:p>
            <a:r>
              <a:rPr lang="en-US" dirty="0"/>
              <a:t>Let’s look specifically at Language, culture and relationship building…</a:t>
            </a:r>
          </a:p>
        </p:txBody>
      </p:sp>
      <p:sp>
        <p:nvSpPr>
          <p:cNvPr id="3" name="Content Placeholder 2"/>
          <p:cNvSpPr>
            <a:spLocks noGrp="1"/>
          </p:cNvSpPr>
          <p:nvPr>
            <p:ph idx="1"/>
          </p:nvPr>
        </p:nvSpPr>
        <p:spPr>
          <a:xfrm>
            <a:off x="861314" y="2133600"/>
            <a:ext cx="10469372" cy="4023360"/>
          </a:xfrm>
        </p:spPr>
        <p:txBody>
          <a:bodyPr>
            <a:normAutofit/>
          </a:bodyPr>
          <a:lstStyle/>
          <a:p>
            <a:r>
              <a:rPr lang="en-US" dirty="0"/>
              <a:t>How can health professionals overcome these barriers?</a:t>
            </a:r>
          </a:p>
          <a:p>
            <a:endParaRPr lang="en-US" dirty="0"/>
          </a:p>
          <a:p>
            <a:pPr>
              <a:buFont typeface="Wingdings" panose="05000000000000000000" pitchFamily="2" charset="2"/>
              <a:buChar char="v"/>
            </a:pPr>
            <a:r>
              <a:rPr lang="en-US" dirty="0"/>
              <a:t>Using translators to overcome language barriers</a:t>
            </a:r>
          </a:p>
          <a:p>
            <a:pPr>
              <a:buFont typeface="Wingdings" panose="05000000000000000000" pitchFamily="2" charset="2"/>
              <a:buChar char="v"/>
            </a:pPr>
            <a:r>
              <a:rPr lang="en-US" dirty="0"/>
              <a:t>Using simple language (no jargon) and checking for understanding between each instruction. (e.g. asking the patient to explain it back to them)</a:t>
            </a:r>
          </a:p>
          <a:p>
            <a:pPr>
              <a:buFont typeface="Wingdings" panose="05000000000000000000" pitchFamily="2" charset="2"/>
              <a:buChar char="v"/>
            </a:pPr>
            <a:r>
              <a:rPr lang="en-US" dirty="0"/>
              <a:t>Writing things down for the patient to take home and process at their own pace</a:t>
            </a:r>
          </a:p>
          <a:p>
            <a:pPr>
              <a:buFont typeface="Wingdings" panose="05000000000000000000" pitchFamily="2" charset="2"/>
              <a:buChar char="v"/>
            </a:pPr>
            <a:r>
              <a:rPr lang="en-US" dirty="0"/>
              <a:t>Increase cultural awareness through training</a:t>
            </a:r>
          </a:p>
          <a:p>
            <a:pPr>
              <a:buFont typeface="Wingdings" panose="05000000000000000000" pitchFamily="2" charset="2"/>
              <a:buChar char="v"/>
            </a:pPr>
            <a:r>
              <a:rPr lang="en-US" dirty="0"/>
              <a:t>Using shared decision-making models to include patients in the decision-making process.</a:t>
            </a:r>
          </a:p>
        </p:txBody>
      </p:sp>
    </p:spTree>
    <p:extLst>
      <p:ext uri="{BB962C8B-B14F-4D97-AF65-F5344CB8AC3E}">
        <p14:creationId xmlns:p14="http://schemas.microsoft.com/office/powerpoint/2010/main" val="38102578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A550A6-A702-4FF3-A87E-D20359A75C80}"/>
              </a:ext>
            </a:extLst>
          </p:cNvPr>
          <p:cNvSpPr>
            <a:spLocks noGrp="1"/>
          </p:cNvSpPr>
          <p:nvPr>
            <p:ph type="title"/>
          </p:nvPr>
        </p:nvSpPr>
        <p:spPr>
          <a:xfrm>
            <a:off x="1024127" y="337566"/>
            <a:ext cx="9720072" cy="672084"/>
          </a:xfrm>
        </p:spPr>
        <p:txBody>
          <a:bodyPr>
            <a:normAutofit fontScale="90000"/>
          </a:bodyPr>
          <a:lstStyle/>
          <a:p>
            <a:r>
              <a:rPr lang="en-US" dirty="0"/>
              <a:t>Example</a:t>
            </a:r>
            <a:endParaRPr lang="en-AU" dirty="0"/>
          </a:p>
        </p:txBody>
      </p:sp>
      <p:sp>
        <p:nvSpPr>
          <p:cNvPr id="3" name="Content Placeholder 2">
            <a:extLst>
              <a:ext uri="{FF2B5EF4-FFF2-40B4-BE49-F238E27FC236}">
                <a16:creationId xmlns:a16="http://schemas.microsoft.com/office/drawing/2014/main" id="{DB999C12-86AE-4ABA-8517-B316BFCAC2DD}"/>
              </a:ext>
            </a:extLst>
          </p:cNvPr>
          <p:cNvSpPr>
            <a:spLocks noGrp="1"/>
          </p:cNvSpPr>
          <p:nvPr>
            <p:ph idx="1"/>
          </p:nvPr>
        </p:nvSpPr>
        <p:spPr>
          <a:xfrm>
            <a:off x="1024126" y="1417320"/>
            <a:ext cx="10596374" cy="4818380"/>
          </a:xfrm>
        </p:spPr>
        <p:txBody>
          <a:bodyPr>
            <a:normAutofit fontScale="92500" lnSpcReduction="10000"/>
          </a:bodyPr>
          <a:lstStyle/>
          <a:p>
            <a:r>
              <a:rPr lang="en-AU" dirty="0">
                <a:hlinkClick r:id="rId2"/>
              </a:rPr>
              <a:t>https://www.safetyandquality.gov.au/sites/default/files/migrated/Final-Report-Patient-Clinician-Communication-Literature-Review-Feb-2013.pdf</a:t>
            </a:r>
            <a:endParaRPr lang="en-US" dirty="0"/>
          </a:p>
          <a:p>
            <a:r>
              <a:rPr lang="en-US" dirty="0"/>
              <a:t>In a report prepared for the Australian Commission on Safety &amp; Quality in Health Care by the Centre for Health Communication, UTS makes some interesting findings:</a:t>
            </a:r>
          </a:p>
          <a:p>
            <a:r>
              <a:rPr lang="en-US" dirty="0"/>
              <a:t>It explores effective healthcare communication in three aspects:</a:t>
            </a:r>
          </a:p>
          <a:p>
            <a:pPr marL="0" indent="0">
              <a:buNone/>
            </a:pPr>
            <a:r>
              <a:rPr lang="en-AU" dirty="0"/>
              <a:t>1. Communication needs to be a structured process engaged in by clinicians with identifiable communication skills and knowledge that can be taught and measured. </a:t>
            </a:r>
          </a:p>
          <a:p>
            <a:pPr marL="0" indent="0">
              <a:buNone/>
            </a:pPr>
            <a:r>
              <a:rPr lang="en-AU" dirty="0"/>
              <a:t>2.  Communication needs to be attentive or mindful whereby the clinician enables the patient to express their concerns, needs and preferences, and this leads to better diagnostic processes and treatment outcomes with process integrity.</a:t>
            </a:r>
          </a:p>
          <a:p>
            <a:pPr marL="0" indent="0">
              <a:buNone/>
            </a:pPr>
            <a:r>
              <a:rPr lang="en-AU" dirty="0"/>
              <a:t>3. Communication is a non‐linear, unpredictable process steeped in uncertainty (patients have unique needs, views and preferences and are likely to present with chronic disease potentially complicated by co‐morbidities; the clinician is part of a complex team of professionals whose knowledge about the patient is dependent on a variety of sources. </a:t>
            </a:r>
          </a:p>
        </p:txBody>
      </p:sp>
    </p:spTree>
    <p:extLst>
      <p:ext uri="{BB962C8B-B14F-4D97-AF65-F5344CB8AC3E}">
        <p14:creationId xmlns:p14="http://schemas.microsoft.com/office/powerpoint/2010/main" val="15929960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A4D255-9935-403C-99C9-D5EE0DD0DC77}"/>
              </a:ext>
            </a:extLst>
          </p:cNvPr>
          <p:cNvSpPr>
            <a:spLocks noGrp="1"/>
          </p:cNvSpPr>
          <p:nvPr>
            <p:ph type="title"/>
          </p:nvPr>
        </p:nvSpPr>
        <p:spPr/>
        <p:txBody>
          <a:bodyPr/>
          <a:lstStyle/>
          <a:p>
            <a:r>
              <a:rPr lang="en-US" dirty="0"/>
              <a:t>Application activity</a:t>
            </a:r>
            <a:endParaRPr lang="en-AU" dirty="0"/>
          </a:p>
        </p:txBody>
      </p:sp>
      <p:sp>
        <p:nvSpPr>
          <p:cNvPr id="3" name="Content Placeholder 2">
            <a:extLst>
              <a:ext uri="{FF2B5EF4-FFF2-40B4-BE49-F238E27FC236}">
                <a16:creationId xmlns:a16="http://schemas.microsoft.com/office/drawing/2014/main" id="{2CD80FBB-D8EE-49EE-B079-CE1108E60817}"/>
              </a:ext>
            </a:extLst>
          </p:cNvPr>
          <p:cNvSpPr>
            <a:spLocks noGrp="1"/>
          </p:cNvSpPr>
          <p:nvPr>
            <p:ph idx="1"/>
          </p:nvPr>
        </p:nvSpPr>
        <p:spPr/>
        <p:txBody>
          <a:bodyPr/>
          <a:lstStyle/>
          <a:p>
            <a:r>
              <a:rPr lang="en-US" dirty="0"/>
              <a:t>Annotate on the following case study where you see barriers to effective communication between Beth and her healthcare professionals. Note how each would make Beth feel and if applicable, how the healthcare professionals could improve their communication with Beth. </a:t>
            </a:r>
            <a:endParaRPr lang="en-AU" dirty="0"/>
          </a:p>
        </p:txBody>
      </p:sp>
    </p:spTree>
    <p:extLst>
      <p:ext uri="{BB962C8B-B14F-4D97-AF65-F5344CB8AC3E}">
        <p14:creationId xmlns:p14="http://schemas.microsoft.com/office/powerpoint/2010/main" val="2569041568"/>
      </p:ext>
    </p:extLst>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E3A74D-89EC-48F4-B318-EBD9950FE179}"/>
              </a:ext>
            </a:extLst>
          </p:cNvPr>
          <p:cNvSpPr>
            <a:spLocks noGrp="1"/>
          </p:cNvSpPr>
          <p:nvPr>
            <p:ph type="title"/>
          </p:nvPr>
        </p:nvSpPr>
        <p:spPr>
          <a:xfrm>
            <a:off x="1024128" y="585216"/>
            <a:ext cx="9720072" cy="933483"/>
          </a:xfrm>
        </p:spPr>
        <p:txBody>
          <a:bodyPr>
            <a:normAutofit/>
          </a:bodyPr>
          <a:lstStyle/>
          <a:p>
            <a:r>
              <a:rPr lang="en-US" dirty="0"/>
              <a:t>Beth Case study    (</a:t>
            </a:r>
            <a:r>
              <a:rPr lang="en-AU" dirty="0"/>
              <a:t>60 year old Female)</a:t>
            </a:r>
          </a:p>
        </p:txBody>
      </p:sp>
      <p:sp>
        <p:nvSpPr>
          <p:cNvPr id="3" name="Content Placeholder 2">
            <a:extLst>
              <a:ext uri="{FF2B5EF4-FFF2-40B4-BE49-F238E27FC236}">
                <a16:creationId xmlns:a16="http://schemas.microsoft.com/office/drawing/2014/main" id="{9C592E56-56F9-449D-8480-0A6D68387C67}"/>
              </a:ext>
            </a:extLst>
          </p:cNvPr>
          <p:cNvSpPr>
            <a:spLocks noGrp="1"/>
          </p:cNvSpPr>
          <p:nvPr>
            <p:ph idx="1"/>
          </p:nvPr>
        </p:nvSpPr>
        <p:spPr>
          <a:xfrm>
            <a:off x="1024128" y="1614115"/>
            <a:ext cx="10083844" cy="4834393"/>
          </a:xfrm>
        </p:spPr>
        <p:txBody>
          <a:bodyPr>
            <a:normAutofit/>
          </a:bodyPr>
          <a:lstStyle/>
          <a:p>
            <a:pPr marL="0" indent="0">
              <a:buNone/>
            </a:pPr>
            <a:r>
              <a:rPr lang="en-AU" dirty="0"/>
              <a:t>Beth visits her local hospital’s emergency department (‘ED’) because she is having increasing difficulty breathing. She has been referred by her GP and arrives with his referral letter. The triage nurse establishes quickly that Beth needs to be seen by a doctor and arranges an emergency ward bed for her. Before Beth is taken to her bed, a paramedic who is doing extended care paramedic training does a special blood gas test on her. </a:t>
            </a:r>
          </a:p>
          <a:p>
            <a:pPr marL="0" indent="0">
              <a:buNone/>
            </a:pPr>
            <a:r>
              <a:rPr lang="en-AU" dirty="0"/>
              <a:t>Once Beth is in her bed, a junior nurse arrives. A new graduate, the nurse’s nerves show as he asks in rather robotic fashion for Beth’s full name and her date of birth. He then leaves to collect an armband for Beth. When he returns, he repeats the questions he just asked of her, and again does so in quite a mechanical way. He is unable to establish interpersonal contact with his patient. He leaves, and a junior doctor arrives.   </a:t>
            </a:r>
          </a:p>
          <a:p>
            <a:pPr marL="0" indent="0">
              <a:buNone/>
            </a:pPr>
            <a:r>
              <a:rPr lang="en-AU" dirty="0"/>
              <a:t>An hour after Beth’s arrival on the ward, a second more experienced nurse arrives to arrange an ECG. He is followed by a junior doctor. The junior doctor introduces himself to Beth, identifies as one of the doctors in the hospital, and then begins the consultation:</a:t>
            </a:r>
          </a:p>
          <a:p>
            <a:endParaRPr lang="en-AU" dirty="0"/>
          </a:p>
        </p:txBody>
      </p:sp>
    </p:spTree>
    <p:extLst>
      <p:ext uri="{BB962C8B-B14F-4D97-AF65-F5344CB8AC3E}">
        <p14:creationId xmlns:p14="http://schemas.microsoft.com/office/powerpoint/2010/main" val="4234674262"/>
      </p:ext>
    </p:extLst>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close up of a logo&#10;&#10;Description automatically generated">
            <a:extLst>
              <a:ext uri="{FF2B5EF4-FFF2-40B4-BE49-F238E27FC236}">
                <a16:creationId xmlns:a16="http://schemas.microsoft.com/office/drawing/2014/main" id="{04CCE44B-59F4-4FB2-AE59-B2BD4A563B2C}"/>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8846926" y="2592001"/>
            <a:ext cx="3551808" cy="4030420"/>
          </a:xfrm>
          <a:prstGeom prst="rect">
            <a:avLst/>
          </a:prstGeom>
        </p:spPr>
      </p:pic>
      <p:pic>
        <p:nvPicPr>
          <p:cNvPr id="5" name="Picture 4" descr="A close up of a logo&#10;&#10;Description automatically generated">
            <a:extLst>
              <a:ext uri="{FF2B5EF4-FFF2-40B4-BE49-F238E27FC236}">
                <a16:creationId xmlns:a16="http://schemas.microsoft.com/office/drawing/2014/main" id="{B0A5762B-6BF9-4960-9C7A-FBCED11ABA11}"/>
              </a:ext>
            </a:extLst>
          </p:cNvPr>
          <p:cNvPicPr>
            <a:picLocks noChangeAspect="1"/>
          </p:cNvPicPr>
          <p:nvPr/>
        </p:nvPicPr>
        <p:blipFill>
          <a:blip r:embed="rId4">
            <a:extLst>
              <a:ext uri="{28A0092B-C50C-407E-A947-70E740481C1C}">
                <a14:useLocalDpi xmlns:a14="http://schemas.microsoft.com/office/drawing/2010/main" val="0"/>
              </a:ext>
              <a:ext uri="{837473B0-CC2E-450A-ABE3-18F120FF3D39}">
                <a1611:picAttrSrcUrl xmlns:a1611="http://schemas.microsoft.com/office/drawing/2016/11/main" r:id="rId5"/>
              </a:ext>
            </a:extLst>
          </a:blip>
          <a:stretch>
            <a:fillRect/>
          </a:stretch>
        </p:blipFill>
        <p:spPr>
          <a:xfrm>
            <a:off x="-3523843" y="1506944"/>
            <a:ext cx="8747851" cy="5045965"/>
          </a:xfrm>
          <a:prstGeom prst="rect">
            <a:avLst/>
          </a:prstGeom>
        </p:spPr>
      </p:pic>
      <p:sp>
        <p:nvSpPr>
          <p:cNvPr id="6" name="TextBox 5">
            <a:extLst>
              <a:ext uri="{FF2B5EF4-FFF2-40B4-BE49-F238E27FC236}">
                <a16:creationId xmlns:a16="http://schemas.microsoft.com/office/drawing/2014/main" id="{313E345E-EAC1-4207-B3FA-4C269109F353}"/>
              </a:ext>
            </a:extLst>
          </p:cNvPr>
          <p:cNvSpPr txBox="1"/>
          <p:nvPr/>
        </p:nvSpPr>
        <p:spPr>
          <a:xfrm>
            <a:off x="-3189889" y="6627168"/>
            <a:ext cx="8747851" cy="230832"/>
          </a:xfrm>
          <a:prstGeom prst="rect">
            <a:avLst/>
          </a:prstGeom>
          <a:noFill/>
        </p:spPr>
        <p:txBody>
          <a:bodyPr wrap="square" rtlCol="0">
            <a:spAutoFit/>
          </a:bodyPr>
          <a:lstStyle/>
          <a:p>
            <a:r>
              <a:rPr lang="en-AU" sz="900">
                <a:hlinkClick r:id="rId5" tooltip="https://commons.wikimedia.org/wiki/File:Doctor_Writing_on_Clipboard_Cartoon.svg"/>
              </a:rPr>
              <a:t>This Photo</a:t>
            </a:r>
            <a:r>
              <a:rPr lang="en-AU" sz="900"/>
              <a:t> by Unknown Author is licensed under </a:t>
            </a:r>
            <a:r>
              <a:rPr lang="en-AU" sz="900">
                <a:hlinkClick r:id="rId6" tooltip="https://creativecommons.org/licenses/by-sa/3.0/"/>
              </a:rPr>
              <a:t>CC BY-SA</a:t>
            </a:r>
            <a:endParaRPr lang="en-AU" sz="900"/>
          </a:p>
        </p:txBody>
      </p:sp>
      <p:sp>
        <p:nvSpPr>
          <p:cNvPr id="9" name="TextBox 8">
            <a:extLst>
              <a:ext uri="{FF2B5EF4-FFF2-40B4-BE49-F238E27FC236}">
                <a16:creationId xmlns:a16="http://schemas.microsoft.com/office/drawing/2014/main" id="{228B2008-2C62-4279-9144-23C49A877955}"/>
              </a:ext>
            </a:extLst>
          </p:cNvPr>
          <p:cNvSpPr txBox="1"/>
          <p:nvPr/>
        </p:nvSpPr>
        <p:spPr>
          <a:xfrm>
            <a:off x="1940119" y="413467"/>
            <a:ext cx="3617843" cy="4524315"/>
          </a:xfrm>
          <a:prstGeom prst="rect">
            <a:avLst/>
          </a:prstGeom>
          <a:noFill/>
        </p:spPr>
        <p:txBody>
          <a:bodyPr wrap="square" rtlCol="0">
            <a:spAutoFit/>
          </a:bodyPr>
          <a:lstStyle/>
          <a:p>
            <a:r>
              <a:rPr lang="en-AU" sz="1600" b="1" i="1" dirty="0"/>
              <a:t>What’s been going on? </a:t>
            </a:r>
          </a:p>
          <a:p>
            <a:endParaRPr lang="en-AU" sz="1600" dirty="0"/>
          </a:p>
          <a:p>
            <a:r>
              <a:rPr lang="en-AU" sz="1600" b="1" i="1" dirty="0"/>
              <a:t>Okay… Anything in particular? </a:t>
            </a:r>
          </a:p>
          <a:p>
            <a:endParaRPr lang="en-AU" sz="1600" dirty="0"/>
          </a:p>
          <a:p>
            <a:r>
              <a:rPr lang="en-AU" sz="1600" b="1" i="1" dirty="0"/>
              <a:t>Yeah </a:t>
            </a:r>
          </a:p>
          <a:p>
            <a:endParaRPr lang="en-AU" sz="1600" dirty="0"/>
          </a:p>
          <a:p>
            <a:r>
              <a:rPr lang="en-AU" sz="1600" b="1" i="1" dirty="0"/>
              <a:t>Sure. besides the trouble with the breathing like not being able to get your breath what are the other problems sort of have you got no energy have you had temperatures?   </a:t>
            </a:r>
          </a:p>
          <a:p>
            <a:endParaRPr lang="en-AU" sz="1600" dirty="0"/>
          </a:p>
          <a:p>
            <a:r>
              <a:rPr lang="en-AU" sz="1600" b="1" i="1" dirty="0"/>
              <a:t>Sweats? </a:t>
            </a:r>
          </a:p>
          <a:p>
            <a:endParaRPr lang="en-AU" sz="1600" dirty="0"/>
          </a:p>
          <a:p>
            <a:r>
              <a:rPr lang="en-AU" sz="1600" b="1" i="1" dirty="0"/>
              <a:t>Okay. </a:t>
            </a:r>
          </a:p>
          <a:p>
            <a:endParaRPr lang="en-AU" sz="1600" dirty="0"/>
          </a:p>
          <a:p>
            <a:r>
              <a:rPr lang="en-AU" sz="1600" b="1" i="1" dirty="0"/>
              <a:t>Yup </a:t>
            </a:r>
          </a:p>
          <a:p>
            <a:endParaRPr lang="en-AU" sz="1600" dirty="0"/>
          </a:p>
          <a:p>
            <a:r>
              <a:rPr lang="en-AU" sz="1600" b="1" i="1" dirty="0"/>
              <a:t>Okay. </a:t>
            </a:r>
            <a:endParaRPr lang="en-AU" sz="1600" dirty="0"/>
          </a:p>
        </p:txBody>
      </p:sp>
      <p:sp>
        <p:nvSpPr>
          <p:cNvPr id="10" name="TextBox 9">
            <a:extLst>
              <a:ext uri="{FF2B5EF4-FFF2-40B4-BE49-F238E27FC236}">
                <a16:creationId xmlns:a16="http://schemas.microsoft.com/office/drawing/2014/main" id="{43E1670B-4421-44C7-8902-A07CD08BEAA3}"/>
              </a:ext>
            </a:extLst>
          </p:cNvPr>
          <p:cNvSpPr txBox="1"/>
          <p:nvPr/>
        </p:nvSpPr>
        <p:spPr>
          <a:xfrm>
            <a:off x="5563037" y="160855"/>
            <a:ext cx="3716135" cy="6001643"/>
          </a:xfrm>
          <a:prstGeom prst="rect">
            <a:avLst/>
          </a:prstGeom>
          <a:noFill/>
        </p:spPr>
        <p:txBody>
          <a:bodyPr wrap="square" rtlCol="0">
            <a:spAutoFit/>
          </a:bodyPr>
          <a:lstStyle/>
          <a:p>
            <a:r>
              <a:rPr lang="en-AU" sz="1600" b="1" i="1" dirty="0"/>
              <a:t>Ooh oh everything! </a:t>
            </a:r>
          </a:p>
          <a:p>
            <a:endParaRPr lang="en-AU" sz="1600" dirty="0"/>
          </a:p>
          <a:p>
            <a:r>
              <a:rPr lang="en-AU" sz="1600" b="1" i="1" dirty="0"/>
              <a:t>Well the oxygen drop is was what the GP was worried about and oh coughing and I have been a smoker I’m not denying it but ever since ((chuckles)) I had the </a:t>
            </a:r>
            <a:r>
              <a:rPr lang="en-AU" sz="1600" b="1" i="1" dirty="0" err="1"/>
              <a:t>Vibramycin</a:t>
            </a:r>
            <a:r>
              <a:rPr lang="en-AU" sz="1600" b="1" i="1" dirty="0"/>
              <a:t>   </a:t>
            </a:r>
          </a:p>
          <a:p>
            <a:endParaRPr lang="en-AU" sz="1600" b="1" i="1" dirty="0"/>
          </a:p>
          <a:p>
            <a:r>
              <a:rPr lang="en-AU" sz="1600" b="1" i="1" dirty="0"/>
              <a:t>I’ve it seems to have got rid of everything in the nose and my mouth and my lungs coughing stuff up but I’m not having not coughing enough up I can’t seem to get it up so there’s something obviously I need a bomb under me  </a:t>
            </a:r>
          </a:p>
          <a:p>
            <a:r>
              <a:rPr lang="en-AU" sz="1600" b="1" i="1" dirty="0"/>
              <a:t>  </a:t>
            </a:r>
            <a:endParaRPr lang="en-AU" sz="1600" dirty="0"/>
          </a:p>
          <a:p>
            <a:r>
              <a:rPr lang="en-AU" sz="1600" b="1" i="1" dirty="0"/>
              <a:t>No </a:t>
            </a:r>
          </a:p>
          <a:p>
            <a:endParaRPr lang="en-AU" sz="1600" dirty="0"/>
          </a:p>
          <a:p>
            <a:r>
              <a:rPr lang="en-AU" sz="1600" b="1" i="1" dirty="0"/>
              <a:t>Ah well the last couple of nights I’ve had </a:t>
            </a:r>
            <a:r>
              <a:rPr lang="en-AU" sz="1600" b="1" i="1" dirty="0" err="1"/>
              <a:t>nightsweats</a:t>
            </a:r>
            <a:r>
              <a:rPr lang="en-AU" sz="1600" b="1" i="1" dirty="0"/>
              <a:t> actually. </a:t>
            </a:r>
          </a:p>
          <a:p>
            <a:endParaRPr lang="en-AU" sz="1600" dirty="0"/>
          </a:p>
          <a:p>
            <a:r>
              <a:rPr lang="en-AU" sz="1600" b="1" i="1" dirty="0"/>
              <a:t>Very sweaty </a:t>
            </a:r>
          </a:p>
          <a:p>
            <a:endParaRPr lang="en-AU" sz="1600" dirty="0"/>
          </a:p>
          <a:p>
            <a:r>
              <a:rPr lang="en-AU" sz="1600" b="1" i="1" dirty="0"/>
              <a:t>And um I’ve been too tired to get out of bed and I was nearly </a:t>
            </a:r>
            <a:r>
              <a:rPr lang="en-AU" sz="1600" b="1" i="1" dirty="0" err="1"/>
              <a:t>gonna</a:t>
            </a:r>
            <a:r>
              <a:rPr lang="en-AU" sz="1600" b="1" i="1" dirty="0"/>
              <a:t> get out and have a shower then I thought ‘No I’ll get a chill’ </a:t>
            </a:r>
            <a:endParaRPr lang="en-AU" sz="1600" dirty="0"/>
          </a:p>
        </p:txBody>
      </p:sp>
    </p:spTree>
    <p:extLst>
      <p:ext uri="{BB962C8B-B14F-4D97-AF65-F5344CB8AC3E}">
        <p14:creationId xmlns:p14="http://schemas.microsoft.com/office/powerpoint/2010/main" val="34890379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9">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0">
                                            <p:txEl>
                                              <p:pRg st="4" end="4"/>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9">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0">
                                            <p:txEl>
                                              <p:pRg st="6" end="6"/>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9">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0">
                                            <p:txEl>
                                              <p:pRg st="8" end="8"/>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9">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10">
                                            <p:txEl>
                                              <p:pRg st="10" end="10"/>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9">
                                            <p:txEl>
                                              <p:pRg st="12" end="12"/>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10">
                                            <p:txEl>
                                              <p:pRg st="12" end="12"/>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9">
                                            <p:txEl>
                                              <p:pRg st="14" end="1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E3A74D-89EC-48F4-B318-EBD9950FE179}"/>
              </a:ext>
            </a:extLst>
          </p:cNvPr>
          <p:cNvSpPr>
            <a:spLocks noGrp="1"/>
          </p:cNvSpPr>
          <p:nvPr>
            <p:ph type="title"/>
          </p:nvPr>
        </p:nvSpPr>
        <p:spPr>
          <a:xfrm>
            <a:off x="1024128" y="585216"/>
            <a:ext cx="9720072" cy="933483"/>
          </a:xfrm>
        </p:spPr>
        <p:txBody>
          <a:bodyPr>
            <a:normAutofit/>
          </a:bodyPr>
          <a:lstStyle/>
          <a:p>
            <a:r>
              <a:rPr lang="en-US" dirty="0"/>
              <a:t>Beth Case study    </a:t>
            </a:r>
            <a:r>
              <a:rPr lang="en-AU" dirty="0"/>
              <a:t>60 year old Female</a:t>
            </a:r>
          </a:p>
        </p:txBody>
      </p:sp>
      <p:sp>
        <p:nvSpPr>
          <p:cNvPr id="3" name="Content Placeholder 2">
            <a:extLst>
              <a:ext uri="{FF2B5EF4-FFF2-40B4-BE49-F238E27FC236}">
                <a16:creationId xmlns:a16="http://schemas.microsoft.com/office/drawing/2014/main" id="{9C592E56-56F9-449D-8480-0A6D68387C67}"/>
              </a:ext>
            </a:extLst>
          </p:cNvPr>
          <p:cNvSpPr>
            <a:spLocks noGrp="1"/>
          </p:cNvSpPr>
          <p:nvPr>
            <p:ph idx="1"/>
          </p:nvPr>
        </p:nvSpPr>
        <p:spPr>
          <a:xfrm>
            <a:off x="1024128" y="1518699"/>
            <a:ext cx="10592728" cy="4929809"/>
          </a:xfrm>
        </p:spPr>
        <p:txBody>
          <a:bodyPr>
            <a:normAutofit lnSpcReduction="10000"/>
          </a:bodyPr>
          <a:lstStyle/>
          <a:p>
            <a:r>
              <a:rPr lang="en-AU" dirty="0"/>
              <a:t>In a very matter of fact way, the junior doctor gathers the information he needs to diagnose Beth’s problem. Beth explains to him that she has had a couple of night sweats recently, and is finding that she is getting very tired doing basic things like having a shower and walking up the stairs. In the last few days she has also been nauseous, is sore in the nose and has gone off her food and has diarrhoea. She also suffers from irritable bowel syndrome and she has been having oxygen at home to help her breathe. His questions are focused on clinical matters, and he spends little time on ‘niceties’. He leaves shortly after.   </a:t>
            </a:r>
          </a:p>
          <a:p>
            <a:r>
              <a:rPr lang="en-AU" dirty="0"/>
              <a:t>Over the next nine hours, Beth is visited by three more nurses and one other doctor. This second doctor asks Beth many of the questions that have already been asked of her: what are her medications? and what is her exercise capacity like? As a trained Assistant In Nursing, Beth is able to give good answers to these questions. She is very engaged in the consultation and asks quite a few pertinent questions of the clinicians. At one point she also self‐ diagnoses: “So I mean I don’t think that’s [a pain in her side] anything to do with this [her difficulty in breathing]”. Although her knowledge is a help in particular to the junior doctor, her signs and symptoms present him with uncertainty. At one point, the junior doctor gets confused about what she has already told him about her history. He says: “But did you say that [already]? I’m just trying – I’m getting my patients mixed up!”</a:t>
            </a:r>
          </a:p>
        </p:txBody>
      </p:sp>
    </p:spTree>
    <p:extLst>
      <p:ext uri="{BB962C8B-B14F-4D97-AF65-F5344CB8AC3E}">
        <p14:creationId xmlns:p14="http://schemas.microsoft.com/office/powerpoint/2010/main" val="2765064723"/>
      </p:ext>
    </p:extLst>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0BF4B6-0FFE-44D7-9EF2-7C5CD1FE4457}"/>
              </a:ext>
            </a:extLst>
          </p:cNvPr>
          <p:cNvSpPr>
            <a:spLocks noGrp="1"/>
          </p:cNvSpPr>
          <p:nvPr>
            <p:ph type="title"/>
          </p:nvPr>
        </p:nvSpPr>
        <p:spPr>
          <a:xfrm>
            <a:off x="1049528" y="826516"/>
            <a:ext cx="9720072" cy="995934"/>
          </a:xfrm>
        </p:spPr>
        <p:txBody>
          <a:bodyPr/>
          <a:lstStyle/>
          <a:p>
            <a:r>
              <a:rPr lang="en-US" dirty="0"/>
              <a:t>APPLICATION QUESTION</a:t>
            </a:r>
            <a:endParaRPr lang="en-AU" dirty="0"/>
          </a:p>
        </p:txBody>
      </p:sp>
      <p:sp>
        <p:nvSpPr>
          <p:cNvPr id="3" name="Content Placeholder 2">
            <a:extLst>
              <a:ext uri="{FF2B5EF4-FFF2-40B4-BE49-F238E27FC236}">
                <a16:creationId xmlns:a16="http://schemas.microsoft.com/office/drawing/2014/main" id="{01AAB7A9-0969-477E-8237-53C3B5019EEC}"/>
              </a:ext>
            </a:extLst>
          </p:cNvPr>
          <p:cNvSpPr>
            <a:spLocks noGrp="1"/>
          </p:cNvSpPr>
          <p:nvPr>
            <p:ph idx="1"/>
          </p:nvPr>
        </p:nvSpPr>
        <p:spPr>
          <a:xfrm>
            <a:off x="903478" y="2249424"/>
            <a:ext cx="10748772" cy="4023360"/>
          </a:xfrm>
        </p:spPr>
        <p:txBody>
          <a:bodyPr>
            <a:normAutofit/>
          </a:bodyPr>
          <a:lstStyle/>
          <a:p>
            <a:pPr>
              <a:lnSpc>
                <a:spcPct val="110000"/>
              </a:lnSpc>
            </a:pPr>
            <a:r>
              <a:rPr lang="en-US" dirty="0"/>
              <a:t>Complete Q24 from the 2018 WACE exam</a:t>
            </a:r>
          </a:p>
        </p:txBody>
      </p:sp>
    </p:spTree>
    <p:extLst>
      <p:ext uri="{BB962C8B-B14F-4D97-AF65-F5344CB8AC3E}">
        <p14:creationId xmlns:p14="http://schemas.microsoft.com/office/powerpoint/2010/main" val="77222549"/>
      </p:ext>
    </p:extLst>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references</a:t>
            </a:r>
          </a:p>
        </p:txBody>
      </p:sp>
      <p:sp>
        <p:nvSpPr>
          <p:cNvPr id="3" name="Content Placeholder 2"/>
          <p:cNvSpPr>
            <a:spLocks noGrp="1"/>
          </p:cNvSpPr>
          <p:nvPr>
            <p:ph idx="1"/>
          </p:nvPr>
        </p:nvSpPr>
        <p:spPr/>
        <p:txBody>
          <a:bodyPr/>
          <a:lstStyle/>
          <a:p>
            <a:pPr marL="0" indent="-457200">
              <a:buNone/>
            </a:pPr>
            <a:r>
              <a:rPr lang="en-US" dirty="0"/>
              <a:t>Lockhart, E. (2011). </a:t>
            </a:r>
            <a:r>
              <a:rPr lang="en-US" i="1" dirty="0"/>
              <a:t>Health Studies Stage 3A-b. </a:t>
            </a:r>
            <a:r>
              <a:rPr lang="en-US" dirty="0"/>
              <a:t>Madeley: Print Publishing.</a:t>
            </a:r>
          </a:p>
          <a:p>
            <a:pPr marL="0" indent="-457200">
              <a:buNone/>
            </a:pPr>
            <a:r>
              <a:rPr lang="en-US" dirty="0" err="1"/>
              <a:t>Iedema</a:t>
            </a:r>
            <a:r>
              <a:rPr lang="en-US" dirty="0"/>
              <a:t>, R. and </a:t>
            </a:r>
            <a:r>
              <a:rPr lang="en-US" dirty="0" err="1"/>
              <a:t>Manidis</a:t>
            </a:r>
            <a:r>
              <a:rPr lang="en-US" dirty="0"/>
              <a:t>, M. (2013) Patient‐Clinician Communication: An Overview of Relevant Research and Policy Literatures. Sydney: Australian Commission on Safety and Quality in Health Care and UTS Centre for Health Communication.</a:t>
            </a:r>
          </a:p>
          <a:p>
            <a:pPr marL="0" indent="-457200">
              <a:buNone/>
            </a:pPr>
            <a:endParaRPr lang="en-US" dirty="0"/>
          </a:p>
        </p:txBody>
      </p:sp>
    </p:spTree>
    <p:extLst>
      <p:ext uri="{BB962C8B-B14F-4D97-AF65-F5344CB8AC3E}">
        <p14:creationId xmlns:p14="http://schemas.microsoft.com/office/powerpoint/2010/main" val="306267705"/>
      </p:ext>
    </p:extLst>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Skills that support positive health </a:t>
            </a:r>
            <a:r>
              <a:rPr lang="en-US" dirty="0" err="1"/>
              <a:t>behaviours</a:t>
            </a:r>
            <a:endParaRPr lang="en-US" dirty="0"/>
          </a:p>
        </p:txBody>
      </p:sp>
      <p:sp>
        <p:nvSpPr>
          <p:cNvPr id="3" name="Subtitle 2"/>
          <p:cNvSpPr>
            <a:spLocks noGrp="1"/>
          </p:cNvSpPr>
          <p:nvPr>
            <p:ph type="subTitle" idx="1"/>
          </p:nvPr>
        </p:nvSpPr>
        <p:spPr>
          <a:xfrm>
            <a:off x="8610600" y="4960137"/>
            <a:ext cx="3340768" cy="1463040"/>
          </a:xfrm>
        </p:spPr>
        <p:txBody>
          <a:bodyPr>
            <a:normAutofit/>
          </a:bodyPr>
          <a:lstStyle/>
          <a:p>
            <a:r>
              <a:rPr lang="en-US" sz="2200" dirty="0"/>
              <a:t>Term 2</a:t>
            </a:r>
          </a:p>
          <a:p>
            <a:r>
              <a:rPr lang="en-US" sz="2200" dirty="0"/>
              <a:t>Week 2</a:t>
            </a:r>
          </a:p>
        </p:txBody>
      </p:sp>
    </p:spTree>
    <p:extLst>
      <p:ext uri="{BB962C8B-B14F-4D97-AF65-F5344CB8AC3E}">
        <p14:creationId xmlns:p14="http://schemas.microsoft.com/office/powerpoint/2010/main" val="1269642708"/>
      </p:ext>
    </p:extLst>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9E4C68A-A4A9-48A4-9FF2-D2896B1EA01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E2B9AEA5-52CB-49A6-AF8A-33502F291B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654296"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964788" y="804333"/>
            <a:ext cx="3302412" cy="5249334"/>
          </a:xfrm>
        </p:spPr>
        <p:txBody>
          <a:bodyPr>
            <a:normAutofit/>
          </a:bodyPr>
          <a:lstStyle/>
          <a:p>
            <a:pPr algn="r"/>
            <a:r>
              <a:rPr lang="en-US">
                <a:solidFill>
                  <a:srgbClr val="FFFFFF"/>
                </a:solidFill>
              </a:rPr>
              <a:t>Syllabus content</a:t>
            </a:r>
          </a:p>
        </p:txBody>
      </p:sp>
      <p:sp>
        <p:nvSpPr>
          <p:cNvPr id="3" name="Content Placeholder 2"/>
          <p:cNvSpPr>
            <a:spLocks noGrp="1"/>
          </p:cNvSpPr>
          <p:nvPr>
            <p:ph idx="1"/>
          </p:nvPr>
        </p:nvSpPr>
        <p:spPr>
          <a:xfrm>
            <a:off x="5109882" y="804333"/>
            <a:ext cx="6147169" cy="5249334"/>
          </a:xfrm>
        </p:spPr>
        <p:txBody>
          <a:bodyPr anchor="ctr">
            <a:normAutofit/>
          </a:bodyPr>
          <a:lstStyle/>
          <a:p>
            <a:pPr lvl="0">
              <a:buFont typeface="Wingdings" charset="2"/>
              <a:buChar char="v"/>
            </a:pPr>
            <a:r>
              <a:rPr lang="en-AU" dirty="0"/>
              <a:t> Skills that support positive health behaviours</a:t>
            </a:r>
            <a:endParaRPr lang="en-GB" dirty="0"/>
          </a:p>
          <a:p>
            <a:pPr lvl="0">
              <a:buFont typeface="Arial" charset="0"/>
              <a:buChar char="•"/>
            </a:pPr>
            <a:r>
              <a:rPr lang="en-AU" dirty="0"/>
              <a:t> Assertiveness</a:t>
            </a:r>
            <a:endParaRPr lang="en-GB" dirty="0"/>
          </a:p>
          <a:p>
            <a:pPr lvl="0">
              <a:buFont typeface="Arial" charset="0"/>
              <a:buChar char="•"/>
            </a:pPr>
            <a:r>
              <a:rPr lang="en-AU" dirty="0"/>
              <a:t> Stress management</a:t>
            </a:r>
            <a:endParaRPr lang="en-GB" dirty="0"/>
          </a:p>
          <a:p>
            <a:pPr lvl="0">
              <a:buFont typeface="Arial" charset="0"/>
              <a:buChar char="•"/>
            </a:pPr>
            <a:r>
              <a:rPr lang="en-AU" dirty="0"/>
              <a:t> Resilience</a:t>
            </a:r>
          </a:p>
          <a:p>
            <a:pPr marL="0" lvl="0" indent="0">
              <a:buNone/>
            </a:pPr>
            <a:endParaRPr lang="en-AU" dirty="0"/>
          </a:p>
          <a:p>
            <a:pPr lvl="0">
              <a:buFont typeface="Wingdings" panose="05000000000000000000" pitchFamily="2" charset="2"/>
              <a:buChar char="v"/>
            </a:pPr>
            <a:r>
              <a:rPr lang="en-AU" dirty="0"/>
              <a:t>Relationship between health literacy and health status</a:t>
            </a:r>
            <a:endParaRPr lang="en-GB" dirty="0"/>
          </a:p>
        </p:txBody>
      </p:sp>
    </p:spTree>
    <p:extLst>
      <p:ext uri="{BB962C8B-B14F-4D97-AF65-F5344CB8AC3E}">
        <p14:creationId xmlns:p14="http://schemas.microsoft.com/office/powerpoint/2010/main" val="1487476764"/>
      </p:ext>
    </p:extLst>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3 main skills we are focusing on:</a:t>
            </a:r>
          </a:p>
        </p:txBody>
      </p:sp>
      <p:sp>
        <p:nvSpPr>
          <p:cNvPr id="3" name="Content Placeholder 2"/>
          <p:cNvSpPr>
            <a:spLocks noGrp="1"/>
          </p:cNvSpPr>
          <p:nvPr>
            <p:ph idx="1"/>
          </p:nvPr>
        </p:nvSpPr>
        <p:spPr/>
        <p:txBody>
          <a:bodyPr>
            <a:normAutofit/>
          </a:bodyPr>
          <a:lstStyle/>
          <a:p>
            <a:r>
              <a:rPr lang="en-US" dirty="0"/>
              <a:t>1. Assertiveness</a:t>
            </a:r>
          </a:p>
          <a:p>
            <a:r>
              <a:rPr lang="en-US" dirty="0"/>
              <a:t>2. Stress management</a:t>
            </a:r>
          </a:p>
          <a:p>
            <a:r>
              <a:rPr lang="en-US" dirty="0"/>
              <a:t>3. Resilience</a:t>
            </a:r>
          </a:p>
        </p:txBody>
      </p:sp>
    </p:spTree>
    <p:extLst>
      <p:ext uri="{BB962C8B-B14F-4D97-AF65-F5344CB8AC3E}">
        <p14:creationId xmlns:p14="http://schemas.microsoft.com/office/powerpoint/2010/main" val="968331495"/>
      </p:ext>
    </p:extLst>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Assertiveness</a:t>
            </a:r>
          </a:p>
        </p:txBody>
      </p:sp>
      <p:sp>
        <p:nvSpPr>
          <p:cNvPr id="3" name="Content Placeholder 2"/>
          <p:cNvSpPr>
            <a:spLocks noGrp="1"/>
          </p:cNvSpPr>
          <p:nvPr>
            <p:ph idx="1"/>
          </p:nvPr>
        </p:nvSpPr>
        <p:spPr/>
        <p:txBody>
          <a:bodyPr/>
          <a:lstStyle/>
          <a:p>
            <a:pPr marL="0" indent="0">
              <a:buNone/>
            </a:pPr>
            <a:r>
              <a:rPr lang="en-US" dirty="0"/>
              <a:t>*Assertiveness is a communication style in which your communication allows you to accurately express your needs, concerns and opinions whilst being respectful towards others. </a:t>
            </a:r>
          </a:p>
          <a:p>
            <a:pPr marL="0" indent="0">
              <a:buNone/>
            </a:pPr>
            <a:r>
              <a:rPr lang="en-US" b="1" dirty="0"/>
              <a:t>How does assertiveness support positive health behaviours?</a:t>
            </a:r>
          </a:p>
          <a:p>
            <a:pPr>
              <a:buFont typeface="Courier New" panose="02070309020205020404" pitchFamily="49" charset="0"/>
              <a:buChar char="o"/>
            </a:pPr>
            <a:r>
              <a:rPr lang="en-US" dirty="0"/>
              <a:t> Individuals can assertively communicate with health professionals what they need.</a:t>
            </a:r>
          </a:p>
          <a:p>
            <a:pPr>
              <a:buFont typeface="Courier New" panose="02070309020205020404" pitchFamily="49" charset="0"/>
              <a:buChar char="o"/>
            </a:pPr>
            <a:r>
              <a:rPr lang="en-US" dirty="0"/>
              <a:t> Individuals who can communicate assertively can refuse negative health behaviours when offered. (</a:t>
            </a:r>
            <a:r>
              <a:rPr lang="en-US" dirty="0" err="1"/>
              <a:t>eg</a:t>
            </a:r>
            <a:r>
              <a:rPr lang="en-US" dirty="0"/>
              <a:t> tobacco, alcohol, illicit drugs)</a:t>
            </a:r>
          </a:p>
          <a:p>
            <a:pPr marL="0" indent="0">
              <a:buNone/>
            </a:pPr>
            <a:endParaRPr lang="en-US" dirty="0"/>
          </a:p>
          <a:p>
            <a:pPr marL="0" indent="0">
              <a:buNone/>
            </a:pPr>
            <a:endParaRPr lang="en-US" dirty="0"/>
          </a:p>
        </p:txBody>
      </p:sp>
    </p:spTree>
    <p:extLst>
      <p:ext uri="{BB962C8B-B14F-4D97-AF65-F5344CB8AC3E}">
        <p14:creationId xmlns:p14="http://schemas.microsoft.com/office/powerpoint/2010/main" val="11163594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Stress management</a:t>
            </a:r>
          </a:p>
        </p:txBody>
      </p:sp>
      <p:sp>
        <p:nvSpPr>
          <p:cNvPr id="3" name="Content Placeholder 2"/>
          <p:cNvSpPr>
            <a:spLocks noGrp="1"/>
          </p:cNvSpPr>
          <p:nvPr>
            <p:ph idx="1"/>
          </p:nvPr>
        </p:nvSpPr>
        <p:spPr>
          <a:xfrm>
            <a:off x="1024128" y="1924050"/>
            <a:ext cx="9720071" cy="4385310"/>
          </a:xfrm>
        </p:spPr>
        <p:txBody>
          <a:bodyPr>
            <a:normAutofit lnSpcReduction="10000"/>
          </a:bodyPr>
          <a:lstStyle/>
          <a:p>
            <a:pPr marL="0" indent="0">
              <a:buNone/>
            </a:pPr>
            <a:r>
              <a:rPr lang="en-US" dirty="0"/>
              <a:t>*Stress-management is </a:t>
            </a:r>
            <a:r>
              <a:rPr lang="en-AU" dirty="0"/>
              <a:t>a set of techniques and programs intended to help people deal more effectively with stress in their lives by analysing the specific stressors and taking positive actions to minimize their effects.</a:t>
            </a:r>
          </a:p>
          <a:p>
            <a:pPr marL="0" indent="0">
              <a:buNone/>
            </a:pPr>
            <a:r>
              <a:rPr lang="en-AU" dirty="0"/>
              <a:t>Evidence based stress management techniques include organisational skills, yoga, meditation and mindfulness practices and effective sleep routines.</a:t>
            </a:r>
          </a:p>
          <a:p>
            <a:pPr marL="0" indent="0">
              <a:buNone/>
            </a:pPr>
            <a:r>
              <a:rPr lang="en-US" b="1" dirty="0"/>
              <a:t>How can stress management support positive health behaviours?</a:t>
            </a:r>
          </a:p>
          <a:p>
            <a:pPr>
              <a:buFont typeface="Courier New" panose="02070309020205020404" pitchFamily="49" charset="0"/>
              <a:buChar char="o"/>
            </a:pPr>
            <a:r>
              <a:rPr lang="en-US" dirty="0"/>
              <a:t> Individuals can manage stressful situations effectively and maintain good health.</a:t>
            </a:r>
          </a:p>
          <a:p>
            <a:pPr>
              <a:buFont typeface="Courier New" panose="02070309020205020404" pitchFamily="49" charset="0"/>
              <a:buChar char="o"/>
            </a:pPr>
            <a:r>
              <a:rPr lang="en-US" dirty="0"/>
              <a:t> Individuals can recognise symptoms and stress and plan accordingly. </a:t>
            </a:r>
          </a:p>
          <a:p>
            <a:pPr>
              <a:buFont typeface="Courier New" panose="02070309020205020404" pitchFamily="49" charset="0"/>
              <a:buChar char="o"/>
            </a:pPr>
            <a:r>
              <a:rPr lang="en-US" dirty="0"/>
              <a:t> Effective stress management helps individuals to use their time and energy in a way that fosters positive health outcomes.</a:t>
            </a:r>
          </a:p>
          <a:p>
            <a:pPr>
              <a:buFont typeface="Courier New" panose="02070309020205020404" pitchFamily="49" charset="0"/>
              <a:buChar char="o"/>
            </a:pPr>
            <a:r>
              <a:rPr lang="en-US" dirty="0"/>
              <a:t> Allows for individuals to survive during difficult periods of life</a:t>
            </a:r>
          </a:p>
          <a:p>
            <a:pPr>
              <a:buFont typeface="Wingdings" charset="2"/>
              <a:buChar char="v"/>
            </a:pPr>
            <a:endParaRPr lang="en-US" dirty="0"/>
          </a:p>
          <a:p>
            <a:endParaRPr lang="en-US" dirty="0"/>
          </a:p>
        </p:txBody>
      </p:sp>
    </p:spTree>
    <p:extLst>
      <p:ext uri="{BB962C8B-B14F-4D97-AF65-F5344CB8AC3E}">
        <p14:creationId xmlns:p14="http://schemas.microsoft.com/office/powerpoint/2010/main" val="89475854"/>
      </p:ext>
    </p:extLst>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resilience</a:t>
            </a:r>
          </a:p>
        </p:txBody>
      </p:sp>
      <p:sp>
        <p:nvSpPr>
          <p:cNvPr id="3" name="Content Placeholder 2"/>
          <p:cNvSpPr>
            <a:spLocks noGrp="1"/>
          </p:cNvSpPr>
          <p:nvPr>
            <p:ph idx="1"/>
          </p:nvPr>
        </p:nvSpPr>
        <p:spPr/>
        <p:txBody>
          <a:bodyPr/>
          <a:lstStyle/>
          <a:p>
            <a:pPr marL="0" indent="0">
              <a:buNone/>
            </a:pPr>
            <a:r>
              <a:rPr lang="en-US" dirty="0"/>
              <a:t>*Resiliency is the ability to bounce back after challenging, difficult times. It is the</a:t>
            </a:r>
            <a:r>
              <a:rPr lang="en-AU" dirty="0"/>
              <a:t> ability to endure when faced with adversity. </a:t>
            </a:r>
          </a:p>
          <a:p>
            <a:pPr marL="0" indent="0">
              <a:buNone/>
            </a:pPr>
            <a:endParaRPr lang="en-AU" b="1" dirty="0"/>
          </a:p>
          <a:p>
            <a:pPr marL="0" indent="0">
              <a:buNone/>
            </a:pPr>
            <a:r>
              <a:rPr lang="en-US" b="1" dirty="0"/>
              <a:t>How can resiliency support positive health behaviours?</a:t>
            </a:r>
          </a:p>
          <a:p>
            <a:pPr>
              <a:buFont typeface="Wingdings" charset="2"/>
              <a:buChar char="v"/>
            </a:pPr>
            <a:r>
              <a:rPr lang="en-US" dirty="0"/>
              <a:t>Individuals can persevere when things don’t go as planned or if they get negative reactions from the decisions that they have made.</a:t>
            </a:r>
          </a:p>
          <a:p>
            <a:pPr>
              <a:buFont typeface="Wingdings" charset="2"/>
              <a:buChar char="v"/>
            </a:pPr>
            <a:r>
              <a:rPr lang="en-US" dirty="0"/>
              <a:t>It helps them to cope with adversity/stress/catastrophe and maintain good physical and mental health.</a:t>
            </a:r>
          </a:p>
          <a:p>
            <a:pPr>
              <a:buFont typeface="Wingdings" charset="2"/>
              <a:buChar char="v"/>
            </a:pPr>
            <a:endParaRPr lang="en-US" dirty="0"/>
          </a:p>
          <a:p>
            <a:pPr>
              <a:buFont typeface="Wingdings" charset="2"/>
              <a:buChar char="v"/>
            </a:pPr>
            <a:endParaRPr lang="en-US" dirty="0"/>
          </a:p>
        </p:txBody>
      </p:sp>
    </p:spTree>
    <p:extLst>
      <p:ext uri="{BB962C8B-B14F-4D97-AF65-F5344CB8AC3E}">
        <p14:creationId xmlns:p14="http://schemas.microsoft.com/office/powerpoint/2010/main" val="5821252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Components of resiliency</a:t>
            </a:r>
          </a:p>
        </p:txBody>
      </p:sp>
      <p:sp>
        <p:nvSpPr>
          <p:cNvPr id="3" name="Content Placeholder 2"/>
          <p:cNvSpPr>
            <a:spLocks noGrp="1"/>
          </p:cNvSpPr>
          <p:nvPr>
            <p:ph idx="1"/>
          </p:nvPr>
        </p:nvSpPr>
        <p:spPr/>
        <p:txBody>
          <a:bodyPr/>
          <a:lstStyle/>
          <a:p>
            <a:pPr>
              <a:buFont typeface="Wingdings" charset="2"/>
              <a:buChar char="v"/>
            </a:pPr>
            <a:r>
              <a:rPr lang="en-US" dirty="0"/>
              <a:t>Cognitive and </a:t>
            </a:r>
            <a:r>
              <a:rPr lang="en-US" dirty="0" err="1"/>
              <a:t>behavioural</a:t>
            </a:r>
            <a:r>
              <a:rPr lang="en-US" dirty="0"/>
              <a:t> factors (include problem solving and analytical skills, optimism, self esteem)</a:t>
            </a:r>
          </a:p>
          <a:p>
            <a:pPr>
              <a:buFont typeface="Wingdings" charset="2"/>
              <a:buChar char="v"/>
            </a:pPr>
            <a:r>
              <a:rPr lang="en-US" dirty="0"/>
              <a:t>Social and contextual factors (include relationships, access to services and other environmental factors)</a:t>
            </a:r>
          </a:p>
          <a:p>
            <a:pPr>
              <a:buFont typeface="Wingdings" charset="2"/>
              <a:buChar char="v"/>
            </a:pPr>
            <a:r>
              <a:rPr lang="en-US" dirty="0"/>
              <a:t>Genetic factors (include gender, temperament, intelligence. Girls and children with easy going temperaments tend to be more resilient, as do children with higher intelligence)</a:t>
            </a:r>
          </a:p>
        </p:txBody>
      </p:sp>
    </p:spTree>
    <p:extLst>
      <p:ext uri="{BB962C8B-B14F-4D97-AF65-F5344CB8AC3E}">
        <p14:creationId xmlns:p14="http://schemas.microsoft.com/office/powerpoint/2010/main" val="1991535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2B8A98-194A-46F3-80F0-DB2B6111D847}"/>
              </a:ext>
            </a:extLst>
          </p:cNvPr>
          <p:cNvSpPr>
            <a:spLocks noGrp="1"/>
          </p:cNvSpPr>
          <p:nvPr>
            <p:ph type="title"/>
          </p:nvPr>
        </p:nvSpPr>
        <p:spPr/>
        <p:txBody>
          <a:bodyPr/>
          <a:lstStyle/>
          <a:p>
            <a:r>
              <a:rPr lang="en-US" dirty="0"/>
              <a:t>How to build resiliency: podcast</a:t>
            </a:r>
            <a:endParaRPr lang="en-AU" dirty="0"/>
          </a:p>
        </p:txBody>
      </p:sp>
      <p:sp>
        <p:nvSpPr>
          <p:cNvPr id="3" name="Content Placeholder 2">
            <a:extLst>
              <a:ext uri="{FF2B5EF4-FFF2-40B4-BE49-F238E27FC236}">
                <a16:creationId xmlns:a16="http://schemas.microsoft.com/office/drawing/2014/main" id="{4958130D-49C7-4D2F-8FD7-E03875551466}"/>
              </a:ext>
            </a:extLst>
          </p:cNvPr>
          <p:cNvSpPr>
            <a:spLocks noGrp="1"/>
          </p:cNvSpPr>
          <p:nvPr>
            <p:ph idx="1"/>
          </p:nvPr>
        </p:nvSpPr>
        <p:spPr/>
        <p:txBody>
          <a:bodyPr/>
          <a:lstStyle/>
          <a:p>
            <a:r>
              <a:rPr lang="en-US" dirty="0"/>
              <a:t>Listen to the following podcast:</a:t>
            </a:r>
          </a:p>
          <a:p>
            <a:r>
              <a:rPr lang="en-AU" dirty="0">
                <a:hlinkClick r:id="rId2"/>
              </a:rPr>
              <a:t>https://www.rickhanson.net/well-podcast-introducing-resilience/</a:t>
            </a:r>
            <a:endParaRPr lang="en-AU" dirty="0"/>
          </a:p>
          <a:p>
            <a:endParaRPr lang="en-AU" dirty="0"/>
          </a:p>
          <a:p>
            <a:r>
              <a:rPr lang="en-AU" dirty="0"/>
              <a:t>(15 mins)</a:t>
            </a:r>
          </a:p>
          <a:p>
            <a:endParaRPr lang="en-AU" dirty="0"/>
          </a:p>
          <a:p>
            <a:r>
              <a:rPr lang="en-AU" dirty="0"/>
              <a:t>How can we grow our resilience?</a:t>
            </a:r>
          </a:p>
          <a:p>
            <a:endParaRPr lang="en-AU" dirty="0"/>
          </a:p>
        </p:txBody>
      </p:sp>
    </p:spTree>
    <p:extLst>
      <p:ext uri="{BB962C8B-B14F-4D97-AF65-F5344CB8AC3E}">
        <p14:creationId xmlns:p14="http://schemas.microsoft.com/office/powerpoint/2010/main" val="1766743946"/>
      </p:ext>
    </p:extLst>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How to develop resiliency:</a:t>
            </a:r>
          </a:p>
        </p:txBody>
      </p:sp>
      <p:sp>
        <p:nvSpPr>
          <p:cNvPr id="3" name="Content Placeholder 2"/>
          <p:cNvSpPr>
            <a:spLocks noGrp="1"/>
          </p:cNvSpPr>
          <p:nvPr>
            <p:ph idx="1"/>
          </p:nvPr>
        </p:nvSpPr>
        <p:spPr/>
        <p:txBody>
          <a:bodyPr/>
          <a:lstStyle/>
          <a:p>
            <a:pPr>
              <a:buFont typeface="Wingdings" charset="2"/>
              <a:buChar char="v"/>
            </a:pPr>
            <a:r>
              <a:rPr lang="en-US" dirty="0"/>
              <a:t>Practice optimism </a:t>
            </a:r>
          </a:p>
          <a:p>
            <a:pPr>
              <a:buFont typeface="Wingdings" charset="2"/>
              <a:buChar char="v"/>
            </a:pPr>
            <a:r>
              <a:rPr lang="en-US" dirty="0"/>
              <a:t>Positive self talk</a:t>
            </a:r>
          </a:p>
          <a:p>
            <a:pPr>
              <a:buFont typeface="Wingdings" charset="2"/>
              <a:buChar char="v"/>
            </a:pPr>
            <a:r>
              <a:rPr lang="en-US" dirty="0"/>
              <a:t>Learn to use </a:t>
            </a:r>
            <a:r>
              <a:rPr lang="en-US" dirty="0" err="1"/>
              <a:t>humour</a:t>
            </a:r>
            <a:r>
              <a:rPr lang="en-US" dirty="0"/>
              <a:t> appropriately</a:t>
            </a:r>
          </a:p>
          <a:p>
            <a:pPr>
              <a:buFont typeface="Wingdings" charset="2"/>
              <a:buChar char="v"/>
            </a:pPr>
            <a:r>
              <a:rPr lang="en-US" dirty="0"/>
              <a:t>Developing coping skills through experience-trial different strategies to overcome struggles. </a:t>
            </a:r>
          </a:p>
          <a:p>
            <a:pPr>
              <a:buFont typeface="Wingdings" charset="2"/>
              <a:buChar char="v"/>
            </a:pPr>
            <a:r>
              <a:rPr lang="en-US" dirty="0"/>
              <a:t>Add to your list here from the podcast!!</a:t>
            </a:r>
          </a:p>
        </p:txBody>
      </p:sp>
    </p:spTree>
    <p:extLst>
      <p:ext uri="{BB962C8B-B14F-4D97-AF65-F5344CB8AC3E}">
        <p14:creationId xmlns:p14="http://schemas.microsoft.com/office/powerpoint/2010/main" val="10530094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96A04D-2AF8-4530-A9AC-C70F1EA6B4FE}"/>
              </a:ext>
            </a:extLst>
          </p:cNvPr>
          <p:cNvSpPr>
            <a:spLocks noGrp="1"/>
          </p:cNvSpPr>
          <p:nvPr>
            <p:ph type="title"/>
          </p:nvPr>
        </p:nvSpPr>
        <p:spPr/>
        <p:txBody>
          <a:bodyPr/>
          <a:lstStyle/>
          <a:p>
            <a:r>
              <a:rPr lang="en-US" dirty="0"/>
              <a:t>Health literacy</a:t>
            </a:r>
            <a:endParaRPr lang="en-AU" dirty="0"/>
          </a:p>
        </p:txBody>
      </p:sp>
      <p:sp>
        <p:nvSpPr>
          <p:cNvPr id="3" name="Content Placeholder 2">
            <a:extLst>
              <a:ext uri="{FF2B5EF4-FFF2-40B4-BE49-F238E27FC236}">
                <a16:creationId xmlns:a16="http://schemas.microsoft.com/office/drawing/2014/main" id="{E7E81E55-ED30-410D-BC46-06842783FC3E}"/>
              </a:ext>
            </a:extLst>
          </p:cNvPr>
          <p:cNvSpPr>
            <a:spLocks noGrp="1"/>
          </p:cNvSpPr>
          <p:nvPr>
            <p:ph idx="1"/>
          </p:nvPr>
        </p:nvSpPr>
        <p:spPr/>
        <p:txBody>
          <a:bodyPr/>
          <a:lstStyle/>
          <a:p>
            <a:r>
              <a:rPr lang="en-US" dirty="0"/>
              <a:t>*Health literacy is an individuals knowledge, motivation and competence to access, read, understand and apply health information in order to maintain and improve health outcomes. </a:t>
            </a:r>
          </a:p>
          <a:p>
            <a:endParaRPr lang="en-US" dirty="0"/>
          </a:p>
        </p:txBody>
      </p:sp>
    </p:spTree>
    <p:extLst>
      <p:ext uri="{BB962C8B-B14F-4D97-AF65-F5344CB8AC3E}">
        <p14:creationId xmlns:p14="http://schemas.microsoft.com/office/powerpoint/2010/main" val="3636486560"/>
      </p:ext>
    </p:extLst>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do we already know?</a:t>
            </a:r>
          </a:p>
        </p:txBody>
      </p:sp>
      <p:sp>
        <p:nvSpPr>
          <p:cNvPr id="3" name="Content Placeholder 2"/>
          <p:cNvSpPr>
            <a:spLocks noGrp="1"/>
          </p:cNvSpPr>
          <p:nvPr>
            <p:ph idx="1"/>
          </p:nvPr>
        </p:nvSpPr>
        <p:spPr/>
        <p:txBody>
          <a:bodyPr/>
          <a:lstStyle/>
          <a:p>
            <a:r>
              <a:rPr lang="en-US" dirty="0"/>
              <a:t>Individuals with higher level of health literacy tend to have a better health status.</a:t>
            </a:r>
          </a:p>
          <a:p>
            <a:endParaRPr lang="en-US" dirty="0"/>
          </a:p>
          <a:p>
            <a:endParaRPr lang="en-US" dirty="0"/>
          </a:p>
          <a:p>
            <a:r>
              <a:rPr lang="en-US" dirty="0"/>
              <a:t>           HEALTH                                    </a:t>
            </a:r>
            <a:r>
              <a:rPr lang="en-US" sz="5400" dirty="0"/>
              <a:t>=</a:t>
            </a:r>
            <a:r>
              <a:rPr lang="en-US" dirty="0"/>
              <a:t>                                   HEALTH</a:t>
            </a:r>
          </a:p>
          <a:p>
            <a:r>
              <a:rPr lang="en-US" dirty="0"/>
              <a:t>           LITERACY                                                                     HEALTH STATUS</a:t>
            </a:r>
          </a:p>
          <a:p>
            <a:endParaRPr lang="en-US" dirty="0"/>
          </a:p>
          <a:p>
            <a:r>
              <a:rPr lang="en-US" dirty="0"/>
              <a:t>We are going to elaborate</a:t>
            </a:r>
            <a:r>
              <a:rPr lang="mr-IN" dirty="0"/>
              <a:t>…</a:t>
            </a:r>
            <a:r>
              <a:rPr lang="en-AU" dirty="0"/>
              <a:t>and include WHY in our answers.</a:t>
            </a:r>
            <a:endParaRPr lang="en-US" dirty="0"/>
          </a:p>
        </p:txBody>
      </p:sp>
      <p:sp>
        <p:nvSpPr>
          <p:cNvPr id="4" name="Down Arrow 3"/>
          <p:cNvSpPr/>
          <p:nvPr/>
        </p:nvSpPr>
        <p:spPr>
          <a:xfrm rot="10800000">
            <a:off x="3464572" y="3738623"/>
            <a:ext cx="1006998" cy="1493134"/>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Down Arrow 4"/>
          <p:cNvSpPr/>
          <p:nvPr/>
        </p:nvSpPr>
        <p:spPr>
          <a:xfrm rot="10800000">
            <a:off x="7104386" y="3738623"/>
            <a:ext cx="1006998" cy="1493134"/>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976515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Last years levels of health literacy</a:t>
            </a:r>
            <a:r>
              <a:rPr lang="mr-IN" dirty="0"/>
              <a:t>…</a:t>
            </a:r>
            <a:endParaRPr lang="en-US" dirty="0"/>
          </a:p>
        </p:txBody>
      </p:sp>
      <p:sp>
        <p:nvSpPr>
          <p:cNvPr id="3" name="Content Placeholder 2"/>
          <p:cNvSpPr>
            <a:spLocks noGrp="1"/>
          </p:cNvSpPr>
          <p:nvPr>
            <p:ph idx="1"/>
          </p:nvPr>
        </p:nvSpPr>
        <p:spPr/>
        <p:txBody>
          <a:bodyPr/>
          <a:lstStyle/>
          <a:p>
            <a:r>
              <a:rPr lang="en-US" dirty="0"/>
              <a:t>Last year we looked at health literacy in three capacities:</a:t>
            </a:r>
          </a:p>
          <a:p>
            <a:endParaRPr lang="en-US" dirty="0"/>
          </a:p>
          <a:p>
            <a:r>
              <a:rPr lang="en-US" dirty="0"/>
              <a:t>1. Functional Health Literacy</a:t>
            </a:r>
          </a:p>
          <a:p>
            <a:r>
              <a:rPr lang="en-US" dirty="0"/>
              <a:t>2. Interactive Health Literacy</a:t>
            </a:r>
          </a:p>
          <a:p>
            <a:r>
              <a:rPr lang="en-US" dirty="0"/>
              <a:t>3. Critical Health Literacy</a:t>
            </a:r>
          </a:p>
          <a:p>
            <a:endParaRPr lang="en-US" dirty="0"/>
          </a:p>
          <a:p>
            <a:endParaRPr lang="en-US" dirty="0"/>
          </a:p>
          <a:p>
            <a:pPr algn="r"/>
            <a:r>
              <a:rPr lang="en-US" dirty="0"/>
              <a:t>Let’s move forward into this years syllabus</a:t>
            </a:r>
          </a:p>
        </p:txBody>
      </p:sp>
    </p:spTree>
    <p:extLst>
      <p:ext uri="{BB962C8B-B14F-4D97-AF65-F5344CB8AC3E}">
        <p14:creationId xmlns:p14="http://schemas.microsoft.com/office/powerpoint/2010/main" val="19202355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3 Levels of health literacy</a:t>
            </a:r>
          </a:p>
        </p:txBody>
      </p:sp>
      <p:sp>
        <p:nvSpPr>
          <p:cNvPr id="3" name="Content Placeholder 2"/>
          <p:cNvSpPr>
            <a:spLocks noGrp="1"/>
          </p:cNvSpPr>
          <p:nvPr>
            <p:ph idx="1"/>
          </p:nvPr>
        </p:nvSpPr>
        <p:spPr/>
        <p:txBody>
          <a:bodyPr/>
          <a:lstStyle/>
          <a:p>
            <a:pPr marL="0" indent="0">
              <a:buNone/>
            </a:pPr>
            <a:r>
              <a:rPr lang="en-US" sz="2000" dirty="0"/>
              <a:t>Level 1: Functional Health Literacy</a:t>
            </a:r>
          </a:p>
          <a:p>
            <a:pPr marL="0" indent="0">
              <a:buNone/>
            </a:pPr>
            <a:r>
              <a:rPr lang="en-US" sz="2000" dirty="0"/>
              <a:t>Level 2: Conceptual Health Literacy</a:t>
            </a:r>
          </a:p>
          <a:p>
            <a:pPr marL="0" indent="0">
              <a:buNone/>
            </a:pPr>
            <a:r>
              <a:rPr lang="en-US" sz="2000" dirty="0"/>
              <a:t>Level 3: Health Literacy as Empowerment</a:t>
            </a:r>
          </a:p>
        </p:txBody>
      </p:sp>
    </p:spTree>
    <p:extLst>
      <p:ext uri="{BB962C8B-B14F-4D97-AF65-F5344CB8AC3E}">
        <p14:creationId xmlns:p14="http://schemas.microsoft.com/office/powerpoint/2010/main" val="10143896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Functional Health Literacy</a:t>
            </a:r>
          </a:p>
        </p:txBody>
      </p:sp>
      <p:sp>
        <p:nvSpPr>
          <p:cNvPr id="3" name="Content Placeholder 2"/>
          <p:cNvSpPr>
            <a:spLocks noGrp="1"/>
          </p:cNvSpPr>
          <p:nvPr>
            <p:ph idx="1"/>
          </p:nvPr>
        </p:nvSpPr>
        <p:spPr/>
        <p:txBody>
          <a:bodyPr/>
          <a:lstStyle/>
          <a:p>
            <a:pPr>
              <a:buFont typeface="Wingdings" charset="2"/>
              <a:buChar char="v"/>
            </a:pPr>
            <a:r>
              <a:rPr lang="en-US" dirty="0"/>
              <a:t>A set of “generic skills” applied in a healthcare environment. </a:t>
            </a:r>
          </a:p>
          <a:p>
            <a:pPr marL="0" indent="0">
              <a:buNone/>
            </a:pPr>
            <a:r>
              <a:rPr lang="en-US" dirty="0"/>
              <a:t>What are some examples of these “generic skills”? </a:t>
            </a:r>
          </a:p>
          <a:p>
            <a:pPr>
              <a:buFont typeface="Wingdings" charset="2"/>
              <a:buChar char="Ø"/>
            </a:pPr>
            <a:r>
              <a:rPr lang="en-US" dirty="0"/>
              <a:t>Read consent forms</a:t>
            </a:r>
          </a:p>
          <a:p>
            <a:pPr>
              <a:buFont typeface="Wingdings" charset="2"/>
              <a:buChar char="Ø"/>
            </a:pPr>
            <a:r>
              <a:rPr lang="en-US" dirty="0"/>
              <a:t>Read and follow medicinal instructions</a:t>
            </a:r>
          </a:p>
          <a:p>
            <a:pPr>
              <a:buFont typeface="Wingdings" charset="2"/>
              <a:buChar char="Ø"/>
            </a:pPr>
            <a:r>
              <a:rPr lang="en-US" dirty="0"/>
              <a:t>Understand verbal/written instructions given by health professionals</a:t>
            </a:r>
          </a:p>
          <a:p>
            <a:pPr>
              <a:buFont typeface="Wingdings" charset="2"/>
              <a:buChar char="Ø"/>
            </a:pPr>
            <a:r>
              <a:rPr lang="en-US" dirty="0"/>
              <a:t>Engaging in a series of simple self-care strategies</a:t>
            </a:r>
          </a:p>
          <a:p>
            <a:pPr>
              <a:buFont typeface="Wingdings" charset="2"/>
              <a:buChar char="Ø"/>
            </a:pPr>
            <a:r>
              <a:rPr lang="en-US" dirty="0"/>
              <a:t>Making medical appointments</a:t>
            </a:r>
          </a:p>
        </p:txBody>
      </p:sp>
    </p:spTree>
    <p:extLst>
      <p:ext uri="{BB962C8B-B14F-4D97-AF65-F5344CB8AC3E}">
        <p14:creationId xmlns:p14="http://schemas.microsoft.com/office/powerpoint/2010/main" val="21213047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Conceptual health literacy</a:t>
            </a:r>
          </a:p>
        </p:txBody>
      </p:sp>
      <p:sp>
        <p:nvSpPr>
          <p:cNvPr id="3" name="Content Placeholder 2"/>
          <p:cNvSpPr>
            <a:spLocks noGrp="1"/>
          </p:cNvSpPr>
          <p:nvPr>
            <p:ph idx="1"/>
          </p:nvPr>
        </p:nvSpPr>
        <p:spPr/>
        <p:txBody>
          <a:bodyPr>
            <a:normAutofit/>
          </a:bodyPr>
          <a:lstStyle/>
          <a:p>
            <a:pPr>
              <a:buFont typeface="Wingdings" charset="2"/>
              <a:buChar char="v"/>
            </a:pPr>
            <a:r>
              <a:rPr lang="en-US" dirty="0"/>
              <a:t>A multidimensional approach that links generic skills with technical and cultural knowledge. </a:t>
            </a:r>
          </a:p>
          <a:p>
            <a:pPr>
              <a:buFont typeface="Wingdings" charset="2"/>
              <a:buChar char="v"/>
            </a:pPr>
            <a:r>
              <a:rPr lang="en-US" dirty="0"/>
              <a:t>This technical/cultural knowledge gives </a:t>
            </a:r>
            <a:r>
              <a:rPr lang="en-US" b="1" i="1" u="sng" dirty="0"/>
              <a:t>meaning</a:t>
            </a:r>
            <a:r>
              <a:rPr lang="en-US" dirty="0"/>
              <a:t> to the generic skills.</a:t>
            </a:r>
          </a:p>
          <a:p>
            <a:pPr>
              <a:buFont typeface="Wingdings" charset="2"/>
              <a:buChar char="v"/>
            </a:pPr>
            <a:r>
              <a:rPr lang="en-US" dirty="0"/>
              <a:t>Individuals at this level of health literacy have a wide range of skills/competencies including things like:</a:t>
            </a:r>
          </a:p>
          <a:p>
            <a:pPr>
              <a:buFont typeface="Wingdings" charset="2"/>
              <a:buChar char="Ø"/>
            </a:pPr>
            <a:r>
              <a:rPr lang="en-US" dirty="0"/>
              <a:t>Seek, comprehend, evaluate, be critical and use health information.</a:t>
            </a:r>
          </a:p>
          <a:p>
            <a:pPr>
              <a:buFont typeface="Wingdings" charset="2"/>
              <a:buChar char="Ø"/>
            </a:pPr>
            <a:endParaRPr lang="en-US" dirty="0"/>
          </a:p>
          <a:p>
            <a:pPr>
              <a:buFont typeface="Wingdings" charset="2"/>
              <a:buChar char="v"/>
            </a:pPr>
            <a:r>
              <a:rPr lang="en-US" dirty="0"/>
              <a:t>These individuals  can make informed decisions, reduce health risks and increase QOL in a range of contexts; science, culture, technology and media. </a:t>
            </a:r>
          </a:p>
        </p:txBody>
      </p:sp>
    </p:spTree>
    <p:extLst>
      <p:ext uri="{BB962C8B-B14F-4D97-AF65-F5344CB8AC3E}">
        <p14:creationId xmlns:p14="http://schemas.microsoft.com/office/powerpoint/2010/main" val="2448711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Health literacy as empowerment</a:t>
            </a:r>
          </a:p>
        </p:txBody>
      </p:sp>
      <p:sp>
        <p:nvSpPr>
          <p:cNvPr id="3" name="Content Placeholder 2"/>
          <p:cNvSpPr>
            <a:spLocks noGrp="1"/>
          </p:cNvSpPr>
          <p:nvPr>
            <p:ph idx="1"/>
          </p:nvPr>
        </p:nvSpPr>
        <p:spPr/>
        <p:txBody>
          <a:bodyPr/>
          <a:lstStyle/>
          <a:p>
            <a:pPr>
              <a:buFont typeface="Wingdings" charset="2"/>
              <a:buChar char="v"/>
            </a:pPr>
            <a:r>
              <a:rPr lang="en-US" dirty="0"/>
              <a:t>Focuses on the interaction between LITERACY and POWER. </a:t>
            </a:r>
          </a:p>
          <a:p>
            <a:pPr>
              <a:buFont typeface="Wingdings" charset="2"/>
              <a:buChar char="v"/>
            </a:pPr>
            <a:r>
              <a:rPr lang="en-US" dirty="0"/>
              <a:t>Suggests that literacy is an exchange between less and more powerful individuals, institutions and political contexts.</a:t>
            </a:r>
          </a:p>
          <a:p>
            <a:pPr>
              <a:buFont typeface="Wingdings" charset="2"/>
              <a:buChar char="v"/>
            </a:pPr>
            <a:r>
              <a:rPr lang="en-US" dirty="0"/>
              <a:t>Strengthens active citizenship for health in the following areas:</a:t>
            </a:r>
          </a:p>
          <a:p>
            <a:pPr>
              <a:buFont typeface="Arial" charset="0"/>
              <a:buChar char="•"/>
            </a:pPr>
            <a:r>
              <a:rPr lang="en-US" dirty="0"/>
              <a:t>Allowing individuals to understand their rights as patients in the healthcare system</a:t>
            </a:r>
          </a:p>
          <a:p>
            <a:pPr>
              <a:buFont typeface="Arial" charset="0"/>
              <a:buChar char="•"/>
            </a:pPr>
            <a:r>
              <a:rPr lang="en-US" dirty="0"/>
              <a:t>Acting as informed consumers of health products and services</a:t>
            </a:r>
          </a:p>
          <a:p>
            <a:pPr>
              <a:buFont typeface="Arial" charset="0"/>
              <a:buChar char="•"/>
            </a:pPr>
            <a:r>
              <a:rPr lang="en-US" dirty="0"/>
              <a:t>Allowing individuals to improve health through the political system (voting, advocacy and memberships in social movements)</a:t>
            </a:r>
          </a:p>
        </p:txBody>
      </p:sp>
    </p:spTree>
    <p:extLst>
      <p:ext uri="{BB962C8B-B14F-4D97-AF65-F5344CB8AC3E}">
        <p14:creationId xmlns:p14="http://schemas.microsoft.com/office/powerpoint/2010/main" val="9703302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24128" y="585216"/>
            <a:ext cx="10564622" cy="1499616"/>
          </a:xfrm>
        </p:spPr>
        <p:txBody>
          <a:bodyPr/>
          <a:lstStyle/>
          <a:p>
            <a:r>
              <a:rPr lang="en-US" dirty="0"/>
              <a:t>Who tends to experience poor health literacy?</a:t>
            </a:r>
          </a:p>
        </p:txBody>
      </p:sp>
      <p:sp>
        <p:nvSpPr>
          <p:cNvPr id="3" name="Content Placeholder 2"/>
          <p:cNvSpPr>
            <a:spLocks noGrp="1"/>
          </p:cNvSpPr>
          <p:nvPr>
            <p:ph idx="1"/>
          </p:nvPr>
        </p:nvSpPr>
        <p:spPr/>
        <p:txBody>
          <a:bodyPr/>
          <a:lstStyle/>
          <a:p>
            <a:pPr>
              <a:buFont typeface="Wingdings" charset="2"/>
              <a:buChar char="v"/>
            </a:pPr>
            <a:r>
              <a:rPr lang="en-US" dirty="0"/>
              <a:t>Population groups most likely to exhibit low health literacy levels include:</a:t>
            </a:r>
          </a:p>
          <a:p>
            <a:pPr>
              <a:buFont typeface="Arial" charset="0"/>
              <a:buChar char="•"/>
            </a:pPr>
            <a:r>
              <a:rPr lang="en-US" dirty="0"/>
              <a:t> Elderly people</a:t>
            </a:r>
          </a:p>
          <a:p>
            <a:pPr>
              <a:buFont typeface="Arial" charset="0"/>
              <a:buChar char="•"/>
            </a:pPr>
            <a:r>
              <a:rPr lang="en-US" dirty="0"/>
              <a:t> Ethnic minorities</a:t>
            </a:r>
          </a:p>
          <a:p>
            <a:pPr>
              <a:buFont typeface="Arial" charset="0"/>
              <a:buChar char="•"/>
            </a:pPr>
            <a:r>
              <a:rPr lang="en-US" dirty="0"/>
              <a:t> People with low levels of formal education</a:t>
            </a:r>
          </a:p>
          <a:p>
            <a:pPr>
              <a:buFont typeface="Arial" charset="0"/>
              <a:buChar char="•"/>
            </a:pPr>
            <a:r>
              <a:rPr lang="en-US" dirty="0"/>
              <a:t> Low income earners (lower socioeconomic people groups)</a:t>
            </a:r>
          </a:p>
          <a:p>
            <a:pPr>
              <a:buFont typeface="Arial" charset="0"/>
              <a:buChar char="•"/>
            </a:pPr>
            <a:endParaRPr lang="en-US" dirty="0"/>
          </a:p>
        </p:txBody>
      </p:sp>
    </p:spTree>
    <p:extLst>
      <p:ext uri="{BB962C8B-B14F-4D97-AF65-F5344CB8AC3E}">
        <p14:creationId xmlns:p14="http://schemas.microsoft.com/office/powerpoint/2010/main" val="6482936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Poor health literacy &amp; Health status</a:t>
            </a:r>
          </a:p>
        </p:txBody>
      </p:sp>
      <p:sp>
        <p:nvSpPr>
          <p:cNvPr id="3" name="Content Placeholder 2"/>
          <p:cNvSpPr>
            <a:spLocks noGrp="1"/>
          </p:cNvSpPr>
          <p:nvPr>
            <p:ph idx="1"/>
          </p:nvPr>
        </p:nvSpPr>
        <p:spPr/>
        <p:txBody>
          <a:bodyPr/>
          <a:lstStyle/>
          <a:p>
            <a:pPr>
              <a:buFont typeface="Wingdings" charset="2"/>
              <a:buChar char="v"/>
            </a:pPr>
            <a:r>
              <a:rPr lang="en-US" dirty="0"/>
              <a:t>Poor health literacy leads to:</a:t>
            </a:r>
          </a:p>
          <a:p>
            <a:pPr>
              <a:buFont typeface="Arial" charset="0"/>
              <a:buChar char="•"/>
            </a:pPr>
            <a:r>
              <a:rPr lang="en-US" dirty="0"/>
              <a:t> Increased experience of chronic diseases</a:t>
            </a:r>
          </a:p>
          <a:p>
            <a:pPr>
              <a:buFont typeface="Arial" charset="0"/>
              <a:buChar char="•"/>
            </a:pPr>
            <a:r>
              <a:rPr lang="en-US" dirty="0"/>
              <a:t> Higher rates of hospitalisation</a:t>
            </a:r>
          </a:p>
          <a:p>
            <a:pPr>
              <a:buFont typeface="Arial" charset="0"/>
              <a:buChar char="•"/>
            </a:pPr>
            <a:r>
              <a:rPr lang="en-US" dirty="0"/>
              <a:t> Increased hardships that are linked to poor health outcomes</a:t>
            </a:r>
          </a:p>
          <a:p>
            <a:pPr>
              <a:buFont typeface="Arial" charset="0"/>
              <a:buChar char="•"/>
            </a:pPr>
            <a:r>
              <a:rPr lang="en-US" dirty="0"/>
              <a:t> Increased mortality rates</a:t>
            </a:r>
          </a:p>
          <a:p>
            <a:pPr>
              <a:buFont typeface="Arial" charset="0"/>
              <a:buChar char="•"/>
            </a:pPr>
            <a:r>
              <a:rPr lang="en-US" dirty="0"/>
              <a:t> Experience more drug and treatment errors</a:t>
            </a:r>
          </a:p>
          <a:p>
            <a:pPr>
              <a:buFont typeface="Arial" charset="0"/>
              <a:buChar char="•"/>
            </a:pPr>
            <a:r>
              <a:rPr lang="en-US" dirty="0"/>
              <a:t> Make less use of preventative services</a:t>
            </a:r>
          </a:p>
          <a:p>
            <a:pPr>
              <a:buFont typeface="Arial" charset="0"/>
              <a:buChar char="•"/>
            </a:pPr>
            <a:r>
              <a:rPr lang="en-US" dirty="0"/>
              <a:t> Poorer self management skills</a:t>
            </a:r>
          </a:p>
          <a:p>
            <a:pPr>
              <a:buFont typeface="Arial" charset="0"/>
              <a:buChar char="•"/>
            </a:pPr>
            <a:endParaRPr lang="en-US" dirty="0"/>
          </a:p>
          <a:p>
            <a:pPr>
              <a:buFont typeface="Arial" charset="0"/>
              <a:buChar char="•"/>
            </a:pPr>
            <a:endParaRPr lang="en-US" dirty="0"/>
          </a:p>
        </p:txBody>
      </p:sp>
    </p:spTree>
    <p:extLst>
      <p:ext uri="{BB962C8B-B14F-4D97-AF65-F5344CB8AC3E}">
        <p14:creationId xmlns:p14="http://schemas.microsoft.com/office/powerpoint/2010/main" val="3492426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24128" y="585216"/>
            <a:ext cx="10691622" cy="1499616"/>
          </a:xfrm>
        </p:spPr>
        <p:txBody>
          <a:bodyPr/>
          <a:lstStyle/>
          <a:p>
            <a:r>
              <a:rPr lang="en-US" dirty="0"/>
              <a:t>Who tends to experience good health literacy?</a:t>
            </a:r>
          </a:p>
        </p:txBody>
      </p:sp>
      <p:sp>
        <p:nvSpPr>
          <p:cNvPr id="3" name="Content Placeholder 2"/>
          <p:cNvSpPr>
            <a:spLocks noGrp="1"/>
          </p:cNvSpPr>
          <p:nvPr>
            <p:ph idx="1"/>
          </p:nvPr>
        </p:nvSpPr>
        <p:spPr/>
        <p:txBody>
          <a:bodyPr/>
          <a:lstStyle/>
          <a:p>
            <a:pPr>
              <a:buFont typeface="Wingdings" charset="2"/>
              <a:buChar char="v"/>
            </a:pPr>
            <a:r>
              <a:rPr lang="en-US" dirty="0"/>
              <a:t>Population groups most likely to exhibit high health literacy levels include:</a:t>
            </a:r>
          </a:p>
          <a:p>
            <a:pPr>
              <a:buFont typeface="Arial" charset="0"/>
              <a:buChar char="•"/>
            </a:pPr>
            <a:r>
              <a:rPr lang="en-US" dirty="0"/>
              <a:t> Individuals who are highly educated (individuals with tertiary education)</a:t>
            </a:r>
          </a:p>
          <a:p>
            <a:pPr>
              <a:buFont typeface="Arial" charset="0"/>
              <a:buChar char="•"/>
            </a:pPr>
            <a:r>
              <a:rPr lang="en-US" dirty="0"/>
              <a:t> Individuals who work in the health industry</a:t>
            </a:r>
          </a:p>
          <a:p>
            <a:pPr>
              <a:buFont typeface="Arial" charset="0"/>
              <a:buChar char="•"/>
            </a:pPr>
            <a:r>
              <a:rPr lang="en-US" dirty="0"/>
              <a:t> Individuals in metropolitan areas </a:t>
            </a:r>
          </a:p>
          <a:p>
            <a:pPr>
              <a:buFont typeface="Arial" charset="0"/>
              <a:buChar char="•"/>
            </a:pPr>
            <a:endParaRPr lang="en-US" dirty="0"/>
          </a:p>
        </p:txBody>
      </p:sp>
    </p:spTree>
    <p:extLst>
      <p:ext uri="{BB962C8B-B14F-4D97-AF65-F5344CB8AC3E}">
        <p14:creationId xmlns:p14="http://schemas.microsoft.com/office/powerpoint/2010/main" val="2200151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good health literacy &amp; Health status</a:t>
            </a:r>
          </a:p>
        </p:txBody>
      </p:sp>
      <p:sp>
        <p:nvSpPr>
          <p:cNvPr id="3" name="Content Placeholder 2"/>
          <p:cNvSpPr>
            <a:spLocks noGrp="1"/>
          </p:cNvSpPr>
          <p:nvPr>
            <p:ph idx="1"/>
          </p:nvPr>
        </p:nvSpPr>
        <p:spPr/>
        <p:txBody>
          <a:bodyPr/>
          <a:lstStyle/>
          <a:p>
            <a:pPr>
              <a:buFont typeface="Wingdings" charset="2"/>
              <a:buChar char="v"/>
            </a:pPr>
            <a:r>
              <a:rPr lang="en-US" dirty="0"/>
              <a:t>Good health literacy leads to:</a:t>
            </a:r>
          </a:p>
          <a:p>
            <a:pPr>
              <a:buFont typeface="Arial" charset="0"/>
              <a:buChar char="•"/>
            </a:pPr>
            <a:r>
              <a:rPr lang="en-US" dirty="0"/>
              <a:t> Reduced experience of chronic diseases</a:t>
            </a:r>
          </a:p>
          <a:p>
            <a:pPr>
              <a:buFont typeface="Arial" charset="0"/>
              <a:buChar char="•"/>
            </a:pPr>
            <a:r>
              <a:rPr lang="en-US" dirty="0"/>
              <a:t> Lower rates of hospitalisation</a:t>
            </a:r>
          </a:p>
          <a:p>
            <a:pPr>
              <a:buFont typeface="Arial" charset="0"/>
              <a:buChar char="•"/>
            </a:pPr>
            <a:r>
              <a:rPr lang="en-US" dirty="0"/>
              <a:t> Reduced mortality rates</a:t>
            </a:r>
          </a:p>
          <a:p>
            <a:pPr>
              <a:buFont typeface="Arial" charset="0"/>
              <a:buChar char="•"/>
            </a:pPr>
            <a:r>
              <a:rPr lang="en-US" dirty="0"/>
              <a:t> Experience fewer drug and treatment errors</a:t>
            </a:r>
          </a:p>
          <a:p>
            <a:pPr>
              <a:buFont typeface="Arial" charset="0"/>
              <a:buChar char="•"/>
            </a:pPr>
            <a:r>
              <a:rPr lang="en-US" dirty="0"/>
              <a:t> Make more use of preventative services such as screening and immunisation</a:t>
            </a:r>
          </a:p>
          <a:p>
            <a:pPr>
              <a:buFont typeface="Arial" charset="0"/>
              <a:buChar char="•"/>
            </a:pPr>
            <a:r>
              <a:rPr lang="en-US" dirty="0"/>
              <a:t> Better self management skills</a:t>
            </a:r>
          </a:p>
          <a:p>
            <a:pPr>
              <a:buFont typeface="Arial" charset="0"/>
              <a:buChar char="•"/>
            </a:pPr>
            <a:endParaRPr lang="en-US" dirty="0"/>
          </a:p>
          <a:p>
            <a:pPr>
              <a:buFont typeface="Arial" charset="0"/>
              <a:buChar char="•"/>
            </a:pPr>
            <a:endParaRPr lang="en-US" dirty="0"/>
          </a:p>
        </p:txBody>
      </p:sp>
    </p:spTree>
    <p:extLst>
      <p:ext uri="{BB962C8B-B14F-4D97-AF65-F5344CB8AC3E}">
        <p14:creationId xmlns:p14="http://schemas.microsoft.com/office/powerpoint/2010/main" val="18387822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Practise</a:t>
            </a:r>
            <a:r>
              <a:rPr lang="en-US" dirty="0"/>
              <a:t> Multiple choice question</a:t>
            </a:r>
          </a:p>
        </p:txBody>
      </p:sp>
      <p:sp>
        <p:nvSpPr>
          <p:cNvPr id="3" name="Content Placeholder 2"/>
          <p:cNvSpPr>
            <a:spLocks noGrp="1"/>
          </p:cNvSpPr>
          <p:nvPr>
            <p:ph idx="1"/>
          </p:nvPr>
        </p:nvSpPr>
        <p:spPr/>
        <p:txBody>
          <a:bodyPr/>
          <a:lstStyle/>
          <a:p>
            <a:r>
              <a:rPr lang="en-US" dirty="0"/>
              <a:t>Health literacy is a critical skill, even for those who already possess advanced literacy skills. This is because</a:t>
            </a:r>
          </a:p>
          <a:p>
            <a:r>
              <a:rPr lang="en-US" dirty="0"/>
              <a:t>(a) health literacy skills need to be </a:t>
            </a:r>
            <a:r>
              <a:rPr lang="en-US" dirty="0" err="1"/>
              <a:t>practised</a:t>
            </a:r>
            <a:r>
              <a:rPr lang="en-US" dirty="0"/>
              <a:t> to be retained.</a:t>
            </a:r>
          </a:p>
          <a:p>
            <a:r>
              <a:rPr lang="en-US" dirty="0"/>
              <a:t>(b) health literacy skills generally decline with age.</a:t>
            </a:r>
          </a:p>
          <a:p>
            <a:r>
              <a:rPr lang="en-US" dirty="0"/>
              <a:t>(c) accurate and reliable health information is difficult to find.</a:t>
            </a:r>
          </a:p>
          <a:p>
            <a:r>
              <a:rPr lang="en-US" dirty="0"/>
              <a:t>(d) health information may become outdated or forgotten.</a:t>
            </a:r>
          </a:p>
          <a:p>
            <a:endParaRPr lang="en-US" dirty="0"/>
          </a:p>
          <a:p>
            <a:r>
              <a:rPr lang="en-US" dirty="0"/>
              <a:t>Answer: D</a:t>
            </a:r>
          </a:p>
        </p:txBody>
      </p:sp>
    </p:spTree>
    <p:extLst>
      <p:ext uri="{BB962C8B-B14F-4D97-AF65-F5344CB8AC3E}">
        <p14:creationId xmlns:p14="http://schemas.microsoft.com/office/powerpoint/2010/main" val="16868343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CLAss</a:t>
            </a:r>
            <a:r>
              <a:rPr lang="en-US" dirty="0"/>
              <a:t> activity: exam writing </a:t>
            </a:r>
          </a:p>
        </p:txBody>
      </p:sp>
      <p:sp>
        <p:nvSpPr>
          <p:cNvPr id="3" name="Content Placeholder 2"/>
          <p:cNvSpPr>
            <a:spLocks noGrp="1"/>
          </p:cNvSpPr>
          <p:nvPr>
            <p:ph idx="1"/>
          </p:nvPr>
        </p:nvSpPr>
        <p:spPr/>
        <p:txBody>
          <a:bodyPr/>
          <a:lstStyle/>
          <a:p>
            <a:r>
              <a:rPr lang="en-US" dirty="0"/>
              <a:t>You need to design a question for a future WACE exam to assess the students understanding of the </a:t>
            </a:r>
            <a:r>
              <a:rPr lang="en-AU" dirty="0"/>
              <a:t>relationship between health literacy and health status.</a:t>
            </a:r>
          </a:p>
          <a:p>
            <a:r>
              <a:rPr lang="en-AU" dirty="0"/>
              <a:t>You need to create an example, (a short case study) and assess both surface level understanding and deep level understanding. (ideally 5-10 marks)</a:t>
            </a:r>
          </a:p>
          <a:p>
            <a:endParaRPr lang="en-AU" dirty="0"/>
          </a:p>
          <a:p>
            <a:r>
              <a:rPr lang="en-AU" dirty="0"/>
              <a:t>Create your question on a word document page with line allocations </a:t>
            </a:r>
            <a:r>
              <a:rPr lang="en-AU" dirty="0">
                <a:sym typeface="Wingdings" panose="05000000000000000000" pitchFamily="2" charset="2"/>
              </a:rPr>
              <a:t> </a:t>
            </a:r>
          </a:p>
          <a:p>
            <a:r>
              <a:rPr lang="en-AU" dirty="0">
                <a:sym typeface="Wingdings" panose="05000000000000000000" pitchFamily="2" charset="2"/>
              </a:rPr>
              <a:t>On the second word document page, you need to create a marking key!</a:t>
            </a:r>
          </a:p>
          <a:p>
            <a:r>
              <a:rPr lang="en-AU" dirty="0">
                <a:sym typeface="Wingdings" panose="05000000000000000000" pitchFamily="2" charset="2"/>
              </a:rPr>
              <a:t>Send it to me via direct message when you are finished.</a:t>
            </a:r>
            <a:endParaRPr lang="en-US" dirty="0"/>
          </a:p>
          <a:p>
            <a:endParaRPr lang="en-US" dirty="0"/>
          </a:p>
        </p:txBody>
      </p:sp>
    </p:spTree>
    <p:extLst>
      <p:ext uri="{BB962C8B-B14F-4D97-AF65-F5344CB8AC3E}">
        <p14:creationId xmlns:p14="http://schemas.microsoft.com/office/powerpoint/2010/main" val="11235788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Sources:</a:t>
            </a:r>
          </a:p>
        </p:txBody>
      </p:sp>
      <p:sp>
        <p:nvSpPr>
          <p:cNvPr id="3" name="Content Placeholder 2"/>
          <p:cNvSpPr>
            <a:spLocks noGrp="1"/>
          </p:cNvSpPr>
          <p:nvPr>
            <p:ph idx="1"/>
          </p:nvPr>
        </p:nvSpPr>
        <p:spPr/>
        <p:txBody>
          <a:bodyPr/>
          <a:lstStyle/>
          <a:p>
            <a:r>
              <a:rPr lang="en-US" dirty="0"/>
              <a:t>Lockhart, E. </a:t>
            </a:r>
            <a:r>
              <a:rPr lang="en-US"/>
              <a:t>(2015) Health Studies Year 12 ATAR. </a:t>
            </a:r>
          </a:p>
          <a:p>
            <a:endParaRPr lang="en-US" dirty="0"/>
          </a:p>
        </p:txBody>
      </p:sp>
    </p:spTree>
    <p:extLst>
      <p:ext uri="{BB962C8B-B14F-4D97-AF65-F5344CB8AC3E}">
        <p14:creationId xmlns:p14="http://schemas.microsoft.com/office/powerpoint/2010/main" val="721042408"/>
      </p:ext>
    </p:extLst>
  </p:cSld>
  <p:clrMapOvr>
    <a:masterClrMapping/>
  </p:clrMapOvr>
</p:sld>
</file>

<file path=ppt/slides/slide1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24589" y="4960137"/>
            <a:ext cx="8005011" cy="1463040"/>
          </a:xfrm>
        </p:spPr>
        <p:txBody>
          <a:bodyPr/>
          <a:lstStyle/>
          <a:p>
            <a:r>
              <a:rPr lang="en-US" dirty="0"/>
              <a:t>State and Federal health reforms</a:t>
            </a:r>
          </a:p>
        </p:txBody>
      </p:sp>
      <p:sp>
        <p:nvSpPr>
          <p:cNvPr id="3" name="Subtitle 2"/>
          <p:cNvSpPr>
            <a:spLocks noGrp="1"/>
          </p:cNvSpPr>
          <p:nvPr>
            <p:ph type="subTitle" idx="1"/>
          </p:nvPr>
        </p:nvSpPr>
        <p:spPr/>
        <p:txBody>
          <a:bodyPr>
            <a:normAutofit/>
          </a:bodyPr>
          <a:lstStyle/>
          <a:p>
            <a:r>
              <a:rPr lang="en-US" sz="2200" dirty="0"/>
              <a:t>Term 2</a:t>
            </a:r>
          </a:p>
          <a:p>
            <a:r>
              <a:rPr lang="en-US" sz="2200" dirty="0"/>
              <a:t>Week 3	</a:t>
            </a:r>
          </a:p>
        </p:txBody>
      </p:sp>
    </p:spTree>
    <p:extLst>
      <p:ext uri="{BB962C8B-B14F-4D97-AF65-F5344CB8AC3E}">
        <p14:creationId xmlns:p14="http://schemas.microsoft.com/office/powerpoint/2010/main" val="2837715275"/>
      </p:ext>
    </p:extLst>
  </p:cSld>
  <p:clrMapOvr>
    <a:masterClrMapping/>
  </p:clrMapOvr>
</p:sld>
</file>

<file path=ppt/slides/slide19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9E4C68A-A4A9-48A4-9FF2-D2896B1EA01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E2B9AEA5-52CB-49A6-AF8A-33502F291B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654296"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964788" y="804333"/>
            <a:ext cx="3302412" cy="5249334"/>
          </a:xfrm>
        </p:spPr>
        <p:txBody>
          <a:bodyPr>
            <a:normAutofit/>
          </a:bodyPr>
          <a:lstStyle/>
          <a:p>
            <a:pPr algn="r"/>
            <a:r>
              <a:rPr lang="en-US" dirty="0">
                <a:solidFill>
                  <a:srgbClr val="FFFFFF"/>
                </a:solidFill>
              </a:rPr>
              <a:t>Syllabus content</a:t>
            </a:r>
          </a:p>
        </p:txBody>
      </p:sp>
      <p:sp>
        <p:nvSpPr>
          <p:cNvPr id="3" name="Content Placeholder 2"/>
          <p:cNvSpPr>
            <a:spLocks noGrp="1"/>
          </p:cNvSpPr>
          <p:nvPr>
            <p:ph idx="1"/>
          </p:nvPr>
        </p:nvSpPr>
        <p:spPr>
          <a:xfrm>
            <a:off x="5109882" y="804333"/>
            <a:ext cx="6147169" cy="5249334"/>
          </a:xfrm>
        </p:spPr>
        <p:txBody>
          <a:bodyPr anchor="ctr">
            <a:normAutofit/>
          </a:bodyPr>
          <a:lstStyle/>
          <a:p>
            <a:pPr lvl="0">
              <a:buFont typeface="Wingdings" charset="2"/>
              <a:buChar char="v"/>
            </a:pPr>
            <a:r>
              <a:rPr lang="en-AU" dirty="0"/>
              <a:t>Healthcare system reforms</a:t>
            </a:r>
            <a:endParaRPr lang="en-GB" dirty="0"/>
          </a:p>
          <a:p>
            <a:pPr lvl="0">
              <a:buFont typeface="Arial" charset="0"/>
              <a:buChar char="•"/>
            </a:pPr>
            <a:r>
              <a:rPr lang="en-AU" dirty="0"/>
              <a:t> Private health insurance rebate</a:t>
            </a:r>
            <a:endParaRPr lang="en-GB" dirty="0"/>
          </a:p>
          <a:p>
            <a:pPr lvl="0">
              <a:buFont typeface="Arial" charset="0"/>
              <a:buChar char="•"/>
            </a:pPr>
            <a:r>
              <a:rPr lang="en-AU" dirty="0"/>
              <a:t> Public screening and/or vaccination programs</a:t>
            </a:r>
            <a:endParaRPr lang="en-GB" dirty="0"/>
          </a:p>
          <a:p>
            <a:pPr lvl="0">
              <a:buFont typeface="Arial" charset="0"/>
              <a:buChar char="•"/>
            </a:pPr>
            <a:r>
              <a:rPr lang="en-AU" dirty="0"/>
              <a:t> Pharmaceutical Benefits Scheme (PBS)</a:t>
            </a:r>
            <a:endParaRPr lang="en-GB" dirty="0"/>
          </a:p>
          <a:p>
            <a:pPr>
              <a:buFont typeface="Arial" charset="0"/>
              <a:buChar char="•"/>
            </a:pPr>
            <a:endParaRPr lang="en-US" dirty="0"/>
          </a:p>
          <a:p>
            <a:endParaRPr lang="en-US" dirty="0"/>
          </a:p>
          <a:p>
            <a:endParaRPr lang="en-US" dirty="0"/>
          </a:p>
        </p:txBody>
      </p:sp>
    </p:spTree>
    <p:extLst>
      <p:ext uri="{BB962C8B-B14F-4D97-AF65-F5344CB8AC3E}">
        <p14:creationId xmlns:p14="http://schemas.microsoft.com/office/powerpoint/2010/main" val="774768944"/>
      </p:ext>
    </p:extLst>
  </p:cSld>
  <p:clrMapOvr>
    <a:masterClrMapping/>
  </p:clrMapOvr>
</p:sld>
</file>

<file path=ppt/slides/slide1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490DB3-AB5A-4D3E-80E2-C44B574004B1}"/>
              </a:ext>
            </a:extLst>
          </p:cNvPr>
          <p:cNvSpPr>
            <a:spLocks noGrp="1"/>
          </p:cNvSpPr>
          <p:nvPr>
            <p:ph type="title"/>
          </p:nvPr>
        </p:nvSpPr>
        <p:spPr/>
        <p:txBody>
          <a:bodyPr/>
          <a:lstStyle/>
          <a:p>
            <a:r>
              <a:rPr lang="en-US" dirty="0"/>
              <a:t>reading</a:t>
            </a:r>
            <a:endParaRPr lang="en-AU" dirty="0"/>
          </a:p>
        </p:txBody>
      </p:sp>
      <p:sp>
        <p:nvSpPr>
          <p:cNvPr id="3" name="Content Placeholder 2">
            <a:extLst>
              <a:ext uri="{FF2B5EF4-FFF2-40B4-BE49-F238E27FC236}">
                <a16:creationId xmlns:a16="http://schemas.microsoft.com/office/drawing/2014/main" id="{D8D647AF-CA64-4EA7-BABC-41C66608E6EB}"/>
              </a:ext>
            </a:extLst>
          </p:cNvPr>
          <p:cNvSpPr>
            <a:spLocks noGrp="1"/>
          </p:cNvSpPr>
          <p:nvPr>
            <p:ph idx="1"/>
          </p:nvPr>
        </p:nvSpPr>
        <p:spPr/>
        <p:txBody>
          <a:bodyPr/>
          <a:lstStyle/>
          <a:p>
            <a:r>
              <a:rPr lang="en-US" dirty="0"/>
              <a:t>Read the following overview prior to this content:</a:t>
            </a:r>
          </a:p>
          <a:p>
            <a:r>
              <a:rPr lang="en-AU" dirty="0">
                <a:hlinkClick r:id="rId2"/>
              </a:rPr>
              <a:t>https://www.aihw.gov.au/reports/australias-health/health-system-overview</a:t>
            </a:r>
            <a:endParaRPr lang="en-AU" dirty="0"/>
          </a:p>
          <a:p>
            <a:endParaRPr lang="en-AU" dirty="0"/>
          </a:p>
          <a:p>
            <a:endParaRPr lang="en-AU" dirty="0"/>
          </a:p>
        </p:txBody>
      </p:sp>
    </p:spTree>
    <p:extLst>
      <p:ext uri="{BB962C8B-B14F-4D97-AF65-F5344CB8AC3E}">
        <p14:creationId xmlns:p14="http://schemas.microsoft.com/office/powerpoint/2010/main" val="826546815"/>
      </p:ext>
    </p:extLst>
  </p:cSld>
  <p:clrMapOvr>
    <a:masterClrMapping/>
  </p:clrMapOvr>
</p:sld>
</file>

<file path=ppt/slides/slide1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8577" y="597916"/>
            <a:ext cx="9720072" cy="697484"/>
          </a:xfrm>
        </p:spPr>
        <p:txBody>
          <a:bodyPr>
            <a:normAutofit fontScale="90000"/>
          </a:bodyPr>
          <a:lstStyle/>
          <a:p>
            <a:r>
              <a:rPr lang="en-US" dirty="0"/>
              <a:t>Australia’s health system: an Overview</a:t>
            </a:r>
          </a:p>
        </p:txBody>
      </p:sp>
      <p:sp>
        <p:nvSpPr>
          <p:cNvPr id="3" name="Content Placeholder 2"/>
          <p:cNvSpPr>
            <a:spLocks noGrp="1"/>
          </p:cNvSpPr>
          <p:nvPr>
            <p:ph idx="1"/>
          </p:nvPr>
        </p:nvSpPr>
        <p:spPr>
          <a:xfrm>
            <a:off x="908050" y="1676400"/>
            <a:ext cx="10953750" cy="5472684"/>
          </a:xfrm>
        </p:spPr>
        <p:txBody>
          <a:bodyPr>
            <a:noAutofit/>
          </a:bodyPr>
          <a:lstStyle/>
          <a:p>
            <a:pPr marL="0" indent="0">
              <a:buNone/>
            </a:pPr>
            <a:r>
              <a:rPr lang="en-US" sz="1800" dirty="0"/>
              <a:t>AIHW, 2018</a:t>
            </a:r>
          </a:p>
          <a:p>
            <a:pPr marL="0" indent="0">
              <a:buNone/>
            </a:pPr>
            <a:r>
              <a:rPr lang="en-US" sz="1800" dirty="0"/>
              <a:t>“A person is likely to use the health system in various ways throughout their life. This pattern reflects their health needs at different life stages, the social and environmental impacts on their health, and personal circumstances. Some people may visit a pharmacy or general practitioner (GP) infrequently; some may have regular appointments with a GP, specialists or other health practitioners; others may need to go to hospital for tests, treatments or emergencies. </a:t>
            </a:r>
          </a:p>
          <a:p>
            <a:pPr marL="0" indent="0">
              <a:buNone/>
            </a:pPr>
            <a:r>
              <a:rPr lang="en-US" sz="1800" dirty="0"/>
              <a:t>The World Health Organization describes a good health system as one that ‘delivers quality services to all people, when and where they need them’ (WHO 2018). Australia’s health system is a complex mix of health professionals and service providers from a range of </a:t>
            </a:r>
            <a:r>
              <a:rPr lang="en-US" sz="1800" dirty="0" err="1"/>
              <a:t>organisations</a:t>
            </a:r>
            <a:r>
              <a:rPr lang="en-US" sz="1800" dirty="0"/>
              <a:t>—from all levels of government and the non-government sector. Collectively, they work to meet the health care needs of all Australians. Health services are delivered in numerous ways and settings, including through health promotion and education programs, diagnosis, treatment and preventive services in the community, treatment and care in hospitals, rehabilitation in hospitals and the community, and palliative care. </a:t>
            </a:r>
          </a:p>
          <a:p>
            <a:pPr marL="0" indent="0">
              <a:buNone/>
            </a:pPr>
            <a:r>
              <a:rPr lang="en-US" sz="1800" dirty="0"/>
              <a:t>A variety of </a:t>
            </a:r>
            <a:r>
              <a:rPr lang="en-US" sz="1800" dirty="0" err="1"/>
              <a:t>organisations</a:t>
            </a:r>
            <a:r>
              <a:rPr lang="en-US" sz="1800" dirty="0"/>
              <a:t> support these services. Health departments and other government agencies are responsible for policy and service planning. Research and statistical </a:t>
            </a:r>
            <a:r>
              <a:rPr lang="en-US" sz="1800" dirty="0" err="1"/>
              <a:t>organisations</a:t>
            </a:r>
            <a:r>
              <a:rPr lang="en-US" sz="1800" dirty="0"/>
              <a:t> collect and publish information on health conditions and issues (including monitoring, assessing, evaluating and reporting). Universities and health services train health professionals. Consumer and advocacy groups have a role in public debates on health policy and regulation. Voluntary and community </a:t>
            </a:r>
            <a:r>
              <a:rPr lang="en-US" sz="1800" dirty="0" err="1"/>
              <a:t>organisations</a:t>
            </a:r>
            <a:r>
              <a:rPr lang="en-US" sz="1800" dirty="0"/>
              <a:t> support health service functions through activities such as fundraising for research and raising awareness of health issues through education programs.”</a:t>
            </a:r>
          </a:p>
        </p:txBody>
      </p:sp>
    </p:spTree>
    <p:extLst>
      <p:ext uri="{BB962C8B-B14F-4D97-AF65-F5344CB8AC3E}">
        <p14:creationId xmlns:p14="http://schemas.microsoft.com/office/powerpoint/2010/main" val="19880479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74928" y="822167"/>
            <a:ext cx="9720072" cy="910673"/>
          </a:xfrm>
        </p:spPr>
        <p:txBody>
          <a:bodyPr/>
          <a:lstStyle/>
          <a:p>
            <a:r>
              <a:rPr lang="en-US" dirty="0"/>
              <a:t>MEDICARE: an Overview</a:t>
            </a:r>
          </a:p>
        </p:txBody>
      </p:sp>
      <p:sp>
        <p:nvSpPr>
          <p:cNvPr id="3" name="Content Placeholder 2"/>
          <p:cNvSpPr>
            <a:spLocks noGrp="1"/>
          </p:cNvSpPr>
          <p:nvPr>
            <p:ph idx="1"/>
          </p:nvPr>
        </p:nvSpPr>
        <p:spPr/>
        <p:txBody>
          <a:bodyPr/>
          <a:lstStyle/>
          <a:p>
            <a:pPr marL="0" indent="0">
              <a:buNone/>
            </a:pPr>
            <a:endParaRPr lang="en-US" dirty="0"/>
          </a:p>
          <a:p>
            <a:endParaRPr lang="en-US" dirty="0"/>
          </a:p>
          <a:p>
            <a:endParaRPr lang="en-US" dirty="0"/>
          </a:p>
        </p:txBody>
      </p:sp>
      <p:sp>
        <p:nvSpPr>
          <p:cNvPr id="4" name="Rectangle 3">
            <a:extLst>
              <a:ext uri="{FF2B5EF4-FFF2-40B4-BE49-F238E27FC236}">
                <a16:creationId xmlns:a16="http://schemas.microsoft.com/office/drawing/2014/main" id="{49E8585C-F343-40D6-937D-3EA8DCAE2251}"/>
              </a:ext>
            </a:extLst>
          </p:cNvPr>
          <p:cNvSpPr/>
          <p:nvPr/>
        </p:nvSpPr>
        <p:spPr>
          <a:xfrm>
            <a:off x="712978" y="1996103"/>
            <a:ext cx="11028172" cy="4431983"/>
          </a:xfrm>
          <a:prstGeom prst="rect">
            <a:avLst/>
          </a:prstGeom>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200" b="0" i="0" u="none" strike="noStrike" kern="1200" cap="none" spc="0" normalizeH="0" baseline="0" noProof="0" dirty="0">
                <a:ln>
                  <a:noFill/>
                </a:ln>
                <a:solidFill>
                  <a:srgbClr val="2E2B21"/>
                </a:solidFill>
                <a:effectLst/>
                <a:uLnTx/>
                <a:uFillTx/>
                <a:latin typeface="Tw Cen MT" panose="020B0602020104020603"/>
                <a:ea typeface="+mn-ea"/>
                <a:cs typeface="+mn-cs"/>
              </a:rPr>
              <a:t>Australia’s health system is underpinned by Medicare—a universal public health insurance scheme. Medicare is funded by the Australian Government through general taxation revenue and a 2% Medicare levy (ATO 2017a; Biggs 2016a). </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2200" b="0" i="0" u="none" strike="noStrike" kern="1200" cap="none" spc="0" normalizeH="0" baseline="0" noProof="0" dirty="0">
              <a:ln>
                <a:noFill/>
              </a:ln>
              <a:solidFill>
                <a:srgbClr val="2E2B21"/>
              </a:solidFill>
              <a:effectLst/>
              <a:uLnTx/>
              <a:uFillTx/>
              <a:latin typeface="Tw Cen MT" panose="020B0602020104020603"/>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200" b="0" i="0" u="none" strike="noStrike" kern="1200" cap="none" spc="0" normalizeH="0" baseline="0" noProof="0" dirty="0">
                <a:ln>
                  <a:noFill/>
                </a:ln>
                <a:solidFill>
                  <a:srgbClr val="2E2B21"/>
                </a:solidFill>
                <a:effectLst/>
                <a:uLnTx/>
                <a:uFillTx/>
                <a:latin typeface="Tw Cen MT" panose="020B0602020104020603"/>
                <a:ea typeface="+mn-ea"/>
                <a:cs typeface="+mn-cs"/>
              </a:rPr>
              <a:t>Intergovernmental agreements for public hospital funding between the Australian Government and state and territory governments guarantee Medicare cardholders access to fee-free treatment as public patients in public hospitals (Boxall 2014).</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2200" b="0" i="0" u="none" strike="noStrike" kern="1200" cap="none" spc="0" normalizeH="0" baseline="0" noProof="0" dirty="0">
              <a:ln>
                <a:noFill/>
              </a:ln>
              <a:solidFill>
                <a:srgbClr val="2E2B21"/>
              </a:solidFill>
              <a:effectLst/>
              <a:uLnTx/>
              <a:uFillTx/>
              <a:latin typeface="Tw Cen MT" panose="020B0602020104020603"/>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200" b="0" i="0" u="none" strike="noStrike" kern="1200" cap="none" spc="0" normalizeH="0" baseline="0" noProof="0" dirty="0">
                <a:ln>
                  <a:noFill/>
                </a:ln>
                <a:solidFill>
                  <a:srgbClr val="2E2B21"/>
                </a:solidFill>
                <a:effectLst/>
                <a:uLnTx/>
                <a:uFillTx/>
                <a:latin typeface="Tw Cen MT" panose="020B0602020104020603"/>
                <a:ea typeface="+mn-ea"/>
                <a:cs typeface="+mn-cs"/>
              </a:rPr>
              <a:t>Medicare also covers a portion of the Medicare Benefits Schedule fee for medical services and procedures, and Medicare cardholders have access to a range of prescription pharmaceuticals </a:t>
            </a:r>
            <a:r>
              <a:rPr kumimoji="0" lang="en-US" sz="2200" b="0" i="0" u="none" strike="noStrike" kern="1200" cap="none" spc="0" normalizeH="0" baseline="0" noProof="0" dirty="0" err="1">
                <a:ln>
                  <a:noFill/>
                </a:ln>
                <a:solidFill>
                  <a:srgbClr val="2E2B21"/>
                </a:solidFill>
                <a:effectLst/>
                <a:uLnTx/>
                <a:uFillTx/>
                <a:latin typeface="Tw Cen MT" panose="020B0602020104020603"/>
                <a:ea typeface="+mn-ea"/>
                <a:cs typeface="+mn-cs"/>
              </a:rPr>
              <a:t>subsidised</a:t>
            </a:r>
            <a:r>
              <a:rPr kumimoji="0" lang="en-US" sz="2200" b="0" i="0" u="none" strike="noStrike" kern="1200" cap="none" spc="0" normalizeH="0" baseline="0" noProof="0" dirty="0">
                <a:ln>
                  <a:noFill/>
                </a:ln>
                <a:solidFill>
                  <a:srgbClr val="2E2B21"/>
                </a:solidFill>
                <a:effectLst/>
                <a:uLnTx/>
                <a:uFillTx/>
                <a:latin typeface="Tw Cen MT" panose="020B0602020104020603"/>
                <a:ea typeface="+mn-ea"/>
                <a:cs typeface="+mn-cs"/>
              </a:rPr>
              <a:t> under the Pharmaceutical Benefits Scheme (Biggs 2016a; Department of Health 2018; DHS 2017a). </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2E2B21"/>
              </a:solidFill>
              <a:effectLst/>
              <a:uLnTx/>
              <a:uFillTx/>
              <a:latin typeface="Tw Cen MT" panose="020B0602020104020603"/>
              <a:ea typeface="+mn-ea"/>
              <a:cs typeface="+mn-cs"/>
            </a:endParaRPr>
          </a:p>
        </p:txBody>
      </p:sp>
    </p:spTree>
    <p:extLst>
      <p:ext uri="{BB962C8B-B14F-4D97-AF65-F5344CB8AC3E}">
        <p14:creationId xmlns:p14="http://schemas.microsoft.com/office/powerpoint/2010/main" val="1286374598"/>
      </p:ext>
    </p:extLst>
  </p:cSld>
  <p:clrMapOvr>
    <a:masterClrMapping/>
  </p:clrMapOvr>
</p:sld>
</file>

<file path=ppt/slides/slide2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24128" y="880027"/>
            <a:ext cx="9720072" cy="802723"/>
          </a:xfrm>
        </p:spPr>
        <p:txBody>
          <a:bodyPr/>
          <a:lstStyle/>
          <a:p>
            <a:r>
              <a:rPr lang="en-US" dirty="0"/>
              <a:t>MEDICARE: an Overview continued</a:t>
            </a:r>
          </a:p>
        </p:txBody>
      </p:sp>
      <p:sp>
        <p:nvSpPr>
          <p:cNvPr id="3" name="Content Placeholder 2"/>
          <p:cNvSpPr>
            <a:spLocks noGrp="1"/>
          </p:cNvSpPr>
          <p:nvPr>
            <p:ph idx="1"/>
          </p:nvPr>
        </p:nvSpPr>
        <p:spPr/>
        <p:txBody>
          <a:bodyPr/>
          <a:lstStyle/>
          <a:p>
            <a:pPr marL="0" indent="0">
              <a:buNone/>
            </a:pPr>
            <a:endParaRPr lang="en-US" dirty="0"/>
          </a:p>
          <a:p>
            <a:endParaRPr lang="en-US" dirty="0"/>
          </a:p>
          <a:p>
            <a:endParaRPr lang="en-US" dirty="0"/>
          </a:p>
        </p:txBody>
      </p:sp>
      <p:sp>
        <p:nvSpPr>
          <p:cNvPr id="4" name="Rectangle 3">
            <a:extLst>
              <a:ext uri="{FF2B5EF4-FFF2-40B4-BE49-F238E27FC236}">
                <a16:creationId xmlns:a16="http://schemas.microsoft.com/office/drawing/2014/main" id="{49E8585C-F343-40D6-937D-3EA8DCAE2251}"/>
              </a:ext>
            </a:extLst>
          </p:cNvPr>
          <p:cNvSpPr/>
          <p:nvPr/>
        </p:nvSpPr>
        <p:spPr>
          <a:xfrm>
            <a:off x="776478" y="2286000"/>
            <a:ext cx="11028172" cy="2800767"/>
          </a:xfrm>
          <a:prstGeom prst="rect">
            <a:avLst/>
          </a:prstGeom>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200" b="0" i="0" u="none" strike="noStrike" kern="1200" cap="none" spc="0" normalizeH="0" baseline="0" noProof="0" dirty="0">
                <a:ln>
                  <a:noFill/>
                </a:ln>
                <a:solidFill>
                  <a:srgbClr val="2E2B21"/>
                </a:solidFill>
                <a:effectLst/>
                <a:uLnTx/>
                <a:uFillTx/>
                <a:latin typeface="Tw Cen MT" panose="020B0602020104020603"/>
                <a:ea typeface="+mn-ea"/>
                <a:cs typeface="+mn-cs"/>
              </a:rPr>
              <a:t>Some medical and allied health services are not </a:t>
            </a:r>
            <a:r>
              <a:rPr kumimoji="0" lang="en-US" sz="2200" b="0" i="0" u="none" strike="noStrike" kern="1200" cap="none" spc="0" normalizeH="0" baseline="0" noProof="0" dirty="0" err="1">
                <a:ln>
                  <a:noFill/>
                </a:ln>
                <a:solidFill>
                  <a:srgbClr val="2E2B21"/>
                </a:solidFill>
                <a:effectLst/>
                <a:uLnTx/>
                <a:uFillTx/>
                <a:latin typeface="Tw Cen MT" panose="020B0602020104020603"/>
                <a:ea typeface="+mn-ea"/>
                <a:cs typeface="+mn-cs"/>
              </a:rPr>
              <a:t>subsidised</a:t>
            </a:r>
            <a:r>
              <a:rPr kumimoji="0" lang="en-US" sz="2200" b="0" i="0" u="none" strike="noStrike" kern="1200" cap="none" spc="0" normalizeH="0" baseline="0" noProof="0" dirty="0">
                <a:ln>
                  <a:noFill/>
                </a:ln>
                <a:solidFill>
                  <a:srgbClr val="2E2B21"/>
                </a:solidFill>
                <a:effectLst/>
                <a:uLnTx/>
                <a:uFillTx/>
                <a:latin typeface="Tw Cen MT" panose="020B0602020104020603"/>
                <a:ea typeface="+mn-ea"/>
                <a:cs typeface="+mn-cs"/>
              </a:rPr>
              <a:t> through Medicare. For example, Medicare does not usually cover costs for ambulance services, most dental examinations and treatments, physiotherapy and optical aids (such as glasses and contact lenses). </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2200" b="0" i="0" u="none" strike="noStrike" kern="1200" cap="none" spc="0" normalizeH="0" baseline="0" noProof="0" dirty="0">
              <a:ln>
                <a:noFill/>
              </a:ln>
              <a:solidFill>
                <a:srgbClr val="2E2B21"/>
              </a:solidFill>
              <a:effectLst/>
              <a:uLnTx/>
              <a:uFillTx/>
              <a:latin typeface="Tw Cen MT" panose="020B0602020104020603"/>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200" b="0" i="0" u="none" strike="noStrike" kern="1200" cap="none" spc="0" normalizeH="0" baseline="0" noProof="0" dirty="0">
                <a:ln>
                  <a:noFill/>
                </a:ln>
                <a:solidFill>
                  <a:srgbClr val="2E2B21"/>
                </a:solidFill>
                <a:effectLst/>
                <a:uLnTx/>
                <a:uFillTx/>
                <a:latin typeface="Tw Cen MT" panose="020B0602020104020603"/>
                <a:ea typeface="+mn-ea"/>
                <a:cs typeface="+mn-cs"/>
              </a:rPr>
              <a:t>Not everyone in Australia can access Medicare. Currently, it is available only to Australian and New Zealand citizens, permanent residents in Australia, and people from countries with reciprocal agreements (DHS 2017b, 2017c). Most people outside these categories have to pay full fees for health services or take out private health insurance (</a:t>
            </a:r>
            <a:r>
              <a:rPr kumimoji="0" lang="en-US" sz="2200" b="0" i="0" u="none" strike="noStrike" kern="1200" cap="none" spc="0" normalizeH="0" baseline="0" noProof="0" dirty="0" err="1">
                <a:ln>
                  <a:noFill/>
                </a:ln>
                <a:solidFill>
                  <a:srgbClr val="2E2B21"/>
                </a:solidFill>
                <a:effectLst/>
                <a:uLnTx/>
                <a:uFillTx/>
                <a:latin typeface="Tw Cen MT" panose="020B0602020104020603"/>
                <a:ea typeface="+mn-ea"/>
                <a:cs typeface="+mn-cs"/>
              </a:rPr>
              <a:t>PrivateHealth</a:t>
            </a:r>
            <a:r>
              <a:rPr kumimoji="0" lang="en-US" sz="2200" b="0" i="0" u="none" strike="noStrike" kern="1200" cap="none" spc="0" normalizeH="0" baseline="0" noProof="0" dirty="0">
                <a:ln>
                  <a:noFill/>
                </a:ln>
                <a:solidFill>
                  <a:srgbClr val="2E2B21"/>
                </a:solidFill>
                <a:effectLst/>
                <a:uLnTx/>
                <a:uFillTx/>
                <a:latin typeface="Tw Cen MT" panose="020B0602020104020603"/>
                <a:ea typeface="+mn-ea"/>
                <a:cs typeface="+mn-cs"/>
              </a:rPr>
              <a:t> 2017c).</a:t>
            </a:r>
            <a:endParaRPr kumimoji="0" lang="en-AU" sz="2200" b="0" i="0" u="none" strike="noStrike" kern="1200" cap="none" spc="0" normalizeH="0" baseline="0" noProof="0" dirty="0">
              <a:ln>
                <a:noFill/>
              </a:ln>
              <a:solidFill>
                <a:srgbClr val="2E2B21"/>
              </a:solidFill>
              <a:effectLst/>
              <a:uLnTx/>
              <a:uFillTx/>
              <a:latin typeface="Tw Cen MT" panose="020B0602020104020603"/>
              <a:ea typeface="+mn-ea"/>
              <a:cs typeface="+mn-cs"/>
            </a:endParaRPr>
          </a:p>
        </p:txBody>
      </p:sp>
    </p:spTree>
    <p:extLst>
      <p:ext uri="{BB962C8B-B14F-4D97-AF65-F5344CB8AC3E}">
        <p14:creationId xmlns:p14="http://schemas.microsoft.com/office/powerpoint/2010/main" val="1882165420"/>
      </p:ext>
    </p:extLst>
  </p:cSld>
  <p:clrMapOvr>
    <a:masterClrMapping/>
  </p:clrMapOvr>
</p:sld>
</file>

<file path=ppt/slides/slide2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70237B-97EC-4958-9883-53062CB0AF16}"/>
              </a:ext>
            </a:extLst>
          </p:cNvPr>
          <p:cNvSpPr>
            <a:spLocks noGrp="1"/>
          </p:cNvSpPr>
          <p:nvPr>
            <p:ph type="title"/>
          </p:nvPr>
        </p:nvSpPr>
        <p:spPr/>
        <p:txBody>
          <a:bodyPr/>
          <a:lstStyle/>
          <a:p>
            <a:r>
              <a:rPr lang="en-US" dirty="0"/>
              <a:t>Public vs private health systems</a:t>
            </a:r>
            <a:endParaRPr lang="en-AU" dirty="0"/>
          </a:p>
        </p:txBody>
      </p:sp>
      <p:sp>
        <p:nvSpPr>
          <p:cNvPr id="3" name="Content Placeholder 2">
            <a:extLst>
              <a:ext uri="{FF2B5EF4-FFF2-40B4-BE49-F238E27FC236}">
                <a16:creationId xmlns:a16="http://schemas.microsoft.com/office/drawing/2014/main" id="{8A61C39C-35B6-4079-BDD1-CB69BF495A6F}"/>
              </a:ext>
            </a:extLst>
          </p:cNvPr>
          <p:cNvSpPr>
            <a:spLocks noGrp="1"/>
          </p:cNvSpPr>
          <p:nvPr>
            <p:ph idx="1"/>
          </p:nvPr>
        </p:nvSpPr>
        <p:spPr/>
        <p:txBody>
          <a:bodyPr/>
          <a:lstStyle/>
          <a:p>
            <a:r>
              <a:rPr lang="en-US" dirty="0"/>
              <a:t>In Australia, </a:t>
            </a:r>
            <a:r>
              <a:rPr lang="en-US" u="sng" dirty="0"/>
              <a:t>Medicare</a:t>
            </a:r>
            <a:r>
              <a:rPr lang="en-US" dirty="0"/>
              <a:t> provides universal health insurance that delivers affordable, accessible and high-quality health care for most Australian residents (Public system). </a:t>
            </a:r>
          </a:p>
          <a:p>
            <a:r>
              <a:rPr lang="en-US" dirty="0"/>
              <a:t>Who is eligible for Medicare? People who live in Australia or on Norfolk Island and meet certain criteria. (</a:t>
            </a:r>
            <a:r>
              <a:rPr lang="en-US" dirty="0" err="1"/>
              <a:t>ie</a:t>
            </a:r>
            <a:r>
              <a:rPr lang="en-US" dirty="0"/>
              <a:t> citizenship or residency status </a:t>
            </a:r>
            <a:r>
              <a:rPr lang="en-US" dirty="0" err="1"/>
              <a:t>etc</a:t>
            </a:r>
            <a:r>
              <a:rPr lang="en-US" dirty="0"/>
              <a:t>) </a:t>
            </a:r>
          </a:p>
          <a:p>
            <a:r>
              <a:rPr lang="en-US" dirty="0"/>
              <a:t>However, you can also choose to take out private health insurance to give you more health care options and to cover items which are not covered by Medicare. (private system)</a:t>
            </a:r>
          </a:p>
          <a:p>
            <a:r>
              <a:rPr lang="en-AU" dirty="0">
                <a:hlinkClick r:id="rId2"/>
              </a:rPr>
              <a:t>https://www.humanservices.gov.au/individuals/services/medicare/medicare-card/eligibility/who-can-get-it</a:t>
            </a:r>
            <a:endParaRPr lang="en-AU" dirty="0"/>
          </a:p>
          <a:p>
            <a:endParaRPr lang="en-AU" dirty="0"/>
          </a:p>
        </p:txBody>
      </p:sp>
    </p:spTree>
    <p:extLst>
      <p:ext uri="{BB962C8B-B14F-4D97-AF65-F5344CB8AC3E}">
        <p14:creationId xmlns:p14="http://schemas.microsoft.com/office/powerpoint/2010/main" val="4094813495"/>
      </p:ext>
    </p:extLst>
  </p:cSld>
  <p:clrMapOvr>
    <a:masterClrMapping/>
  </p:clrMapOvr>
</p:sld>
</file>

<file path=ppt/slides/slide2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Online Media 3" title="How Medicare-For-All Works In Australia">
            <a:hlinkClick r:id="" action="ppaction://media"/>
            <a:extLst>
              <a:ext uri="{FF2B5EF4-FFF2-40B4-BE49-F238E27FC236}">
                <a16:creationId xmlns:a16="http://schemas.microsoft.com/office/drawing/2014/main" id="{4B301925-24F4-4C28-82A5-C393F124263A}"/>
              </a:ext>
            </a:extLst>
          </p:cNvPr>
          <p:cNvPicPr>
            <a:picLocks noRot="1" noChangeAspect="1"/>
          </p:cNvPicPr>
          <p:nvPr>
            <a:videoFile r:link="rId1"/>
          </p:nvPr>
        </p:nvPicPr>
        <p:blipFill>
          <a:blip r:embed="rId3"/>
          <a:stretch>
            <a:fillRect/>
          </a:stretch>
        </p:blipFill>
        <p:spPr>
          <a:xfrm>
            <a:off x="1124606" y="425669"/>
            <a:ext cx="10223061" cy="5750472"/>
          </a:xfrm>
          <a:prstGeom prst="rect">
            <a:avLst/>
          </a:prstGeom>
        </p:spPr>
      </p:pic>
    </p:spTree>
    <p:extLst>
      <p:ext uri="{BB962C8B-B14F-4D97-AF65-F5344CB8AC3E}">
        <p14:creationId xmlns:p14="http://schemas.microsoft.com/office/powerpoint/2010/main" val="1754782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20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964788" y="804333"/>
            <a:ext cx="3391900" cy="5249334"/>
          </a:xfrm>
        </p:spPr>
        <p:txBody>
          <a:bodyPr>
            <a:normAutofit/>
          </a:bodyPr>
          <a:lstStyle/>
          <a:p>
            <a:pPr algn="r"/>
            <a:r>
              <a:rPr lang="en-US" dirty="0"/>
              <a:t>Healthcare reform #1:</a:t>
            </a:r>
            <a:br>
              <a:rPr lang="en-US" dirty="0"/>
            </a:br>
            <a:r>
              <a:rPr lang="en-US" dirty="0"/>
              <a:t>Private health insurance rebate</a:t>
            </a:r>
          </a:p>
        </p:txBody>
      </p:sp>
      <p:sp>
        <p:nvSpPr>
          <p:cNvPr id="3" name="Content Placeholder 2"/>
          <p:cNvSpPr>
            <a:spLocks noGrp="1"/>
          </p:cNvSpPr>
          <p:nvPr>
            <p:ph idx="1"/>
          </p:nvPr>
        </p:nvSpPr>
        <p:spPr>
          <a:xfrm>
            <a:off x="5145483" y="728133"/>
            <a:ext cx="6257721" cy="5249334"/>
          </a:xfrm>
        </p:spPr>
        <p:txBody>
          <a:bodyPr anchor="ctr">
            <a:normAutofit/>
          </a:bodyPr>
          <a:lstStyle/>
          <a:p>
            <a:r>
              <a:rPr lang="en-US" b="1" dirty="0"/>
              <a:t>Let’s start with what private health insurance is:</a:t>
            </a:r>
          </a:p>
          <a:p>
            <a:r>
              <a:rPr lang="en-US" dirty="0"/>
              <a:t>“There are two types of private health insurance - hospital policies cover you when you go to hospital, while general treatment policies (sometimes known as ancillary or extras) cover you for ancillary treatment (</a:t>
            </a:r>
            <a:r>
              <a:rPr lang="en-US" dirty="0" err="1"/>
              <a:t>e.g</a:t>
            </a:r>
            <a:r>
              <a:rPr lang="en-US" dirty="0"/>
              <a:t> dental, physiotherapy). Most health funds offer combined policies that provide a packaged cover for both hospital and general treatment services, or you can buy separate hospital and general treatment policies to 'mix and match'.”                     </a:t>
            </a:r>
          </a:p>
          <a:p>
            <a:r>
              <a:rPr lang="en-US" dirty="0"/>
              <a:t>-Department of Health</a:t>
            </a:r>
          </a:p>
          <a:p>
            <a:pPr marL="0" indent="0">
              <a:buNone/>
            </a:pPr>
            <a:endParaRPr lang="en-US" dirty="0"/>
          </a:p>
        </p:txBody>
      </p:sp>
    </p:spTree>
    <p:extLst>
      <p:ext uri="{BB962C8B-B14F-4D97-AF65-F5344CB8AC3E}">
        <p14:creationId xmlns:p14="http://schemas.microsoft.com/office/powerpoint/2010/main" val="7873153"/>
      </p:ext>
    </p:extLst>
  </p:cSld>
  <p:clrMapOvr>
    <a:masterClrMapping/>
  </p:clrMapOvr>
</p:sld>
</file>

<file path=ppt/slides/slide2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4D7B362F-6526-42E3-B286-FEAC1A59CCAE}"/>
              </a:ext>
            </a:extLst>
          </p:cNvPr>
          <p:cNvSpPr>
            <a:spLocks noGrp="1"/>
          </p:cNvSpPr>
          <p:nvPr>
            <p:ph type="title"/>
          </p:nvPr>
        </p:nvSpPr>
        <p:spPr>
          <a:xfrm>
            <a:off x="1024128" y="585216"/>
            <a:ext cx="9720072" cy="1065784"/>
          </a:xfrm>
        </p:spPr>
        <p:txBody>
          <a:bodyPr/>
          <a:lstStyle/>
          <a:p>
            <a:r>
              <a:rPr lang="en-US" dirty="0"/>
              <a:t>How does private health insurance work?</a:t>
            </a:r>
            <a:endParaRPr lang="en-AU" dirty="0"/>
          </a:p>
        </p:txBody>
      </p:sp>
      <p:sp>
        <p:nvSpPr>
          <p:cNvPr id="3" name="Content Placeholder 2"/>
          <p:cNvSpPr>
            <a:spLocks noGrp="1"/>
          </p:cNvSpPr>
          <p:nvPr>
            <p:ph idx="1"/>
          </p:nvPr>
        </p:nvSpPr>
        <p:spPr>
          <a:xfrm>
            <a:off x="1024128" y="1733550"/>
            <a:ext cx="9720073" cy="5013158"/>
          </a:xfrm>
        </p:spPr>
        <p:txBody>
          <a:bodyPr>
            <a:normAutofit/>
          </a:bodyPr>
          <a:lstStyle/>
          <a:p>
            <a:pPr>
              <a:buFont typeface="Wingdings" charset="2"/>
              <a:buChar char="v"/>
            </a:pPr>
            <a:r>
              <a:rPr lang="en-US" dirty="0"/>
              <a:t>Individuals choose a company/premium that suits their requirements.</a:t>
            </a:r>
          </a:p>
          <a:p>
            <a:pPr>
              <a:buFont typeface="Wingdings" charset="2"/>
              <a:buChar char="v"/>
            </a:pPr>
            <a:r>
              <a:rPr lang="en-US" dirty="0"/>
              <a:t>Individuals can choose to pay either weekly/monthly/annually (</a:t>
            </a:r>
            <a:r>
              <a:rPr lang="en-US" dirty="0" err="1"/>
              <a:t>etc</a:t>
            </a:r>
            <a:r>
              <a:rPr lang="en-US" dirty="0"/>
              <a:t>) premiums. </a:t>
            </a:r>
          </a:p>
          <a:p>
            <a:pPr>
              <a:buFont typeface="Wingdings" charset="2"/>
              <a:buChar char="v"/>
            </a:pPr>
            <a:r>
              <a:rPr lang="en-US" dirty="0"/>
              <a:t>Individuals then pay less or none on the spot for particular health services.</a:t>
            </a:r>
          </a:p>
          <a:p>
            <a:pPr>
              <a:buFont typeface="Wingdings" charset="2"/>
              <a:buChar char="v"/>
            </a:pPr>
            <a:r>
              <a:rPr lang="en-US" dirty="0"/>
              <a:t>Insurers cannot refuse to insure someone and they must charge all individuals the same price for the same level of insurance.  (despite their differing risk levels of likelihood of using their insurance)</a:t>
            </a:r>
          </a:p>
          <a:p>
            <a:pPr>
              <a:buFont typeface="Wingdings" charset="2"/>
              <a:buChar char="v"/>
            </a:pPr>
            <a:r>
              <a:rPr lang="en-US" dirty="0"/>
              <a:t>Generally, more expensive insurance policies cover a wider range of services, and cheaper insurance policies cover less services. </a:t>
            </a:r>
          </a:p>
          <a:p>
            <a:pPr>
              <a:buFont typeface="Wingdings" charset="2"/>
              <a:buChar char="v"/>
            </a:pPr>
            <a:r>
              <a:rPr lang="en-US" dirty="0"/>
              <a:t>As of April 2020, a four-tier program is in place and all </a:t>
            </a:r>
            <a:r>
              <a:rPr lang="en-US" b="1" dirty="0"/>
              <a:t>hospital insurance </a:t>
            </a:r>
            <a:r>
              <a:rPr lang="en-US" dirty="0"/>
              <a:t>policies will be either GOLD, SILVER, BRONZE or BASIC. This is designed to make the hospital insurance policies easier to navigate. </a:t>
            </a:r>
          </a:p>
          <a:p>
            <a:pPr>
              <a:buFont typeface="Wingdings" charset="2"/>
              <a:buChar char="v"/>
            </a:pPr>
            <a:endParaRPr lang="en-US" dirty="0"/>
          </a:p>
        </p:txBody>
      </p:sp>
    </p:spTree>
    <p:extLst>
      <p:ext uri="{BB962C8B-B14F-4D97-AF65-F5344CB8AC3E}">
        <p14:creationId xmlns:p14="http://schemas.microsoft.com/office/powerpoint/2010/main" val="16024931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B73A97-0352-48CD-9BEC-8A3C4E8F29B6}"/>
              </a:ext>
            </a:extLst>
          </p:cNvPr>
          <p:cNvSpPr>
            <a:spLocks noGrp="1"/>
          </p:cNvSpPr>
          <p:nvPr>
            <p:ph type="title"/>
          </p:nvPr>
        </p:nvSpPr>
        <p:spPr>
          <a:xfrm>
            <a:off x="1024128" y="585216"/>
            <a:ext cx="9720072" cy="894334"/>
          </a:xfrm>
        </p:spPr>
        <p:txBody>
          <a:bodyPr/>
          <a:lstStyle/>
          <a:p>
            <a:r>
              <a:rPr lang="en-US" dirty="0"/>
              <a:t>Private health insurance</a:t>
            </a:r>
            <a:endParaRPr lang="en-AU" dirty="0"/>
          </a:p>
        </p:txBody>
      </p:sp>
      <p:sp>
        <p:nvSpPr>
          <p:cNvPr id="3" name="Content Placeholder 2">
            <a:extLst>
              <a:ext uri="{FF2B5EF4-FFF2-40B4-BE49-F238E27FC236}">
                <a16:creationId xmlns:a16="http://schemas.microsoft.com/office/drawing/2014/main" id="{D62ACF19-5BDB-4DA0-8614-560938D8EFB3}"/>
              </a:ext>
            </a:extLst>
          </p:cNvPr>
          <p:cNvSpPr>
            <a:spLocks noGrp="1"/>
          </p:cNvSpPr>
          <p:nvPr>
            <p:ph idx="1"/>
          </p:nvPr>
        </p:nvSpPr>
        <p:spPr>
          <a:xfrm>
            <a:off x="941578" y="1797050"/>
            <a:ext cx="10183622" cy="3962400"/>
          </a:xfrm>
        </p:spPr>
        <p:txBody>
          <a:bodyPr>
            <a:normAutofit fontScale="70000" lnSpcReduction="20000"/>
          </a:bodyPr>
          <a:lstStyle/>
          <a:p>
            <a:r>
              <a:rPr lang="en-US" sz="2800" b="1" dirty="0"/>
              <a:t>The biggest health insurance companies in Australia?</a:t>
            </a:r>
          </a:p>
          <a:p>
            <a:r>
              <a:rPr lang="en-US" sz="2800" dirty="0"/>
              <a:t>Medibank: 26.9% market share. </a:t>
            </a:r>
          </a:p>
          <a:p>
            <a:r>
              <a:rPr lang="en-US" sz="2800" dirty="0"/>
              <a:t>Bupa: 26.9% market share. </a:t>
            </a:r>
          </a:p>
          <a:p>
            <a:r>
              <a:rPr lang="en-US" sz="2800" dirty="0"/>
              <a:t>HCF: 10.4% market share. </a:t>
            </a:r>
          </a:p>
          <a:p>
            <a:r>
              <a:rPr lang="en-US" sz="2800" dirty="0"/>
              <a:t>nib: 8.3% market share. </a:t>
            </a:r>
          </a:p>
          <a:p>
            <a:r>
              <a:rPr lang="en-US" sz="2800" dirty="0"/>
              <a:t>HBF: 8% market share. </a:t>
            </a:r>
          </a:p>
          <a:p>
            <a:pPr marL="0" indent="0">
              <a:buNone/>
            </a:pPr>
            <a:endParaRPr lang="en-US" sz="2800" dirty="0"/>
          </a:p>
          <a:p>
            <a:r>
              <a:rPr lang="en-US" sz="2800" b="1" dirty="0"/>
              <a:t>How many Australians have private health insurance?</a:t>
            </a:r>
          </a:p>
          <a:p>
            <a:r>
              <a:rPr lang="en-US" sz="2800" dirty="0"/>
              <a:t>As at June 2017, 11.3 million Australians (46% of the population) had some form of private patient hospital cover, and 13.5 million (55%) had some form of general treatment cover (APRA 2017)</a:t>
            </a:r>
          </a:p>
          <a:p>
            <a:endParaRPr lang="en-AU" dirty="0"/>
          </a:p>
        </p:txBody>
      </p:sp>
    </p:spTree>
    <p:extLst>
      <p:ext uri="{BB962C8B-B14F-4D97-AF65-F5344CB8AC3E}">
        <p14:creationId xmlns:p14="http://schemas.microsoft.com/office/powerpoint/2010/main" val="27610497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8966419-F344-4DF1-A6BA-B495646B2989}"/>
              </a:ext>
            </a:extLst>
          </p:cNvPr>
          <p:cNvSpPr>
            <a:spLocks noGrp="1"/>
          </p:cNvSpPr>
          <p:nvPr>
            <p:ph idx="1"/>
          </p:nvPr>
        </p:nvSpPr>
        <p:spPr>
          <a:xfrm>
            <a:off x="283149" y="6320396"/>
            <a:ext cx="9720073" cy="473710"/>
          </a:xfrm>
        </p:spPr>
        <p:txBody>
          <a:bodyPr>
            <a:normAutofit/>
          </a:bodyPr>
          <a:lstStyle/>
          <a:p>
            <a:pPr marL="0" indent="0">
              <a:buNone/>
            </a:pPr>
            <a:r>
              <a:rPr lang="en-AU" dirty="0">
                <a:hlinkClick r:id="rId2"/>
              </a:rPr>
              <a:t>https://www.privatehealth.gov.au/health_insurance/what_is_covered/index.htm</a:t>
            </a:r>
            <a:endParaRPr lang="en-AU" dirty="0"/>
          </a:p>
          <a:p>
            <a:endParaRPr lang="en-AU" dirty="0"/>
          </a:p>
        </p:txBody>
      </p:sp>
      <p:pic>
        <p:nvPicPr>
          <p:cNvPr id="5" name="Picture 4" descr="A screenshot of a social media post&#10;&#10;Description automatically generated">
            <a:extLst>
              <a:ext uri="{FF2B5EF4-FFF2-40B4-BE49-F238E27FC236}">
                <a16:creationId xmlns:a16="http://schemas.microsoft.com/office/drawing/2014/main" id="{FD3F2883-DD73-43FD-907C-4BBD8D27976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92521" y="326559"/>
            <a:ext cx="6375583" cy="5982801"/>
          </a:xfrm>
          <a:prstGeom prst="rect">
            <a:avLst/>
          </a:prstGeom>
        </p:spPr>
      </p:pic>
    </p:spTree>
    <p:extLst>
      <p:ext uri="{BB962C8B-B14F-4D97-AF65-F5344CB8AC3E}">
        <p14:creationId xmlns:p14="http://schemas.microsoft.com/office/powerpoint/2010/main" val="4017544654"/>
      </p:ext>
    </p:extLst>
  </p:cSld>
  <p:clrMapOvr>
    <a:masterClrMapping/>
  </p:clrMapOvr>
</p:sld>
</file>

<file path=ppt/slides/slide2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6673AD7-F2EA-498D-B3A7-13958B15036D}"/>
              </a:ext>
            </a:extLst>
          </p:cNvPr>
          <p:cNvPicPr>
            <a:picLocks noChangeAspect="1"/>
          </p:cNvPicPr>
          <p:nvPr/>
        </p:nvPicPr>
        <p:blipFill>
          <a:blip r:embed="rId2"/>
          <a:stretch>
            <a:fillRect/>
          </a:stretch>
        </p:blipFill>
        <p:spPr>
          <a:xfrm>
            <a:off x="1173053" y="5901918"/>
            <a:ext cx="9845893" cy="591363"/>
          </a:xfrm>
          <a:prstGeom prst="rect">
            <a:avLst/>
          </a:prstGeom>
        </p:spPr>
      </p:pic>
      <p:pic>
        <p:nvPicPr>
          <p:cNvPr id="6" name="Picture 5" descr="A screenshot of a social media post&#10;&#10;Description automatically generated">
            <a:extLst>
              <a:ext uri="{FF2B5EF4-FFF2-40B4-BE49-F238E27FC236}">
                <a16:creationId xmlns:a16="http://schemas.microsoft.com/office/drawing/2014/main" id="{EFBC1CDE-FCC5-4F1D-828E-15743F5C34B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39746" y="423014"/>
            <a:ext cx="6940907" cy="5302523"/>
          </a:xfrm>
          <a:prstGeom prst="rect">
            <a:avLst/>
          </a:prstGeom>
        </p:spPr>
      </p:pic>
    </p:spTree>
    <p:extLst>
      <p:ext uri="{BB962C8B-B14F-4D97-AF65-F5344CB8AC3E}">
        <p14:creationId xmlns:p14="http://schemas.microsoft.com/office/powerpoint/2010/main" val="771109315"/>
      </p:ext>
    </p:extLst>
  </p:cSld>
  <p:clrMapOvr>
    <a:masterClrMapping/>
  </p:clrMapOvr>
</p:sld>
</file>

<file path=ppt/slides/slide2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4090B3-D721-4FC9-B6FD-953ECDD70E3A}"/>
              </a:ext>
            </a:extLst>
          </p:cNvPr>
          <p:cNvSpPr>
            <a:spLocks noGrp="1"/>
          </p:cNvSpPr>
          <p:nvPr>
            <p:ph type="title"/>
          </p:nvPr>
        </p:nvSpPr>
        <p:spPr>
          <a:xfrm>
            <a:off x="1100328" y="940816"/>
            <a:ext cx="9720072" cy="703834"/>
          </a:xfrm>
        </p:spPr>
        <p:txBody>
          <a:bodyPr>
            <a:normAutofit fontScale="90000"/>
          </a:bodyPr>
          <a:lstStyle/>
          <a:p>
            <a:r>
              <a:rPr lang="en-US" dirty="0"/>
              <a:t>Let’s talk about the rebate…</a:t>
            </a:r>
            <a:endParaRPr lang="en-AU" dirty="0"/>
          </a:p>
        </p:txBody>
      </p:sp>
      <p:sp>
        <p:nvSpPr>
          <p:cNvPr id="3" name="Content Placeholder 2">
            <a:extLst>
              <a:ext uri="{FF2B5EF4-FFF2-40B4-BE49-F238E27FC236}">
                <a16:creationId xmlns:a16="http://schemas.microsoft.com/office/drawing/2014/main" id="{AF6361B9-8558-45DD-8321-CC2E8709449F}"/>
              </a:ext>
            </a:extLst>
          </p:cNvPr>
          <p:cNvSpPr>
            <a:spLocks noGrp="1"/>
          </p:cNvSpPr>
          <p:nvPr>
            <p:ph idx="1"/>
          </p:nvPr>
        </p:nvSpPr>
        <p:spPr>
          <a:xfrm>
            <a:off x="1024129" y="2305050"/>
            <a:ext cx="9720073" cy="4019550"/>
          </a:xfrm>
        </p:spPr>
        <p:txBody>
          <a:bodyPr>
            <a:normAutofit/>
          </a:bodyPr>
          <a:lstStyle/>
          <a:p>
            <a:r>
              <a:rPr lang="en-US" dirty="0"/>
              <a:t>The following information comes from the Australian Taxation Office (ATO)</a:t>
            </a:r>
          </a:p>
          <a:p>
            <a:r>
              <a:rPr lang="en-US" dirty="0"/>
              <a:t>“</a:t>
            </a:r>
            <a:r>
              <a:rPr lang="en-US" b="1" dirty="0"/>
              <a:t>The private health insurance rebate is an amount the government contributes towards the cost of your private health insurance premiums.</a:t>
            </a:r>
          </a:p>
          <a:p>
            <a:r>
              <a:rPr lang="en-US" dirty="0"/>
              <a:t>The rebate is </a:t>
            </a:r>
            <a:r>
              <a:rPr lang="en-US" b="1" dirty="0"/>
              <a:t>income tested </a:t>
            </a:r>
            <a:r>
              <a:rPr lang="en-US" dirty="0"/>
              <a:t>which means your eligibility to receive it depends on your income. (If you have a higher income, your rebate entitlement may be reduced, or you may not be entitled to any rebate at all.)</a:t>
            </a:r>
          </a:p>
          <a:p>
            <a:r>
              <a:rPr lang="en-US" dirty="0"/>
              <a:t>The rebate can be claimed for premiums paid for a private health insurance policy that provides private patient hospital cover, general cover (commonly known as extras), or combined hospital and general cover.</a:t>
            </a:r>
          </a:p>
          <a:p>
            <a:endParaRPr lang="en-AU" dirty="0"/>
          </a:p>
        </p:txBody>
      </p:sp>
    </p:spTree>
    <p:extLst>
      <p:ext uri="{BB962C8B-B14F-4D97-AF65-F5344CB8AC3E}">
        <p14:creationId xmlns:p14="http://schemas.microsoft.com/office/powerpoint/2010/main" val="19728543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4090B3-D721-4FC9-B6FD-953ECDD70E3A}"/>
              </a:ext>
            </a:extLst>
          </p:cNvPr>
          <p:cNvSpPr>
            <a:spLocks noGrp="1"/>
          </p:cNvSpPr>
          <p:nvPr>
            <p:ph type="title"/>
          </p:nvPr>
        </p:nvSpPr>
        <p:spPr>
          <a:xfrm>
            <a:off x="1100328" y="947166"/>
            <a:ext cx="9720072" cy="703834"/>
          </a:xfrm>
        </p:spPr>
        <p:txBody>
          <a:bodyPr>
            <a:normAutofit fontScale="90000"/>
          </a:bodyPr>
          <a:lstStyle/>
          <a:p>
            <a:r>
              <a:rPr lang="en-US" dirty="0"/>
              <a:t>Let’s talk about the rebate…</a:t>
            </a:r>
            <a:endParaRPr lang="en-AU" dirty="0"/>
          </a:p>
        </p:txBody>
      </p:sp>
      <p:sp>
        <p:nvSpPr>
          <p:cNvPr id="3" name="Content Placeholder 2">
            <a:extLst>
              <a:ext uri="{FF2B5EF4-FFF2-40B4-BE49-F238E27FC236}">
                <a16:creationId xmlns:a16="http://schemas.microsoft.com/office/drawing/2014/main" id="{AF6361B9-8558-45DD-8321-CC2E8709449F}"/>
              </a:ext>
            </a:extLst>
          </p:cNvPr>
          <p:cNvSpPr>
            <a:spLocks noGrp="1"/>
          </p:cNvSpPr>
          <p:nvPr>
            <p:ph idx="1"/>
          </p:nvPr>
        </p:nvSpPr>
        <p:spPr>
          <a:xfrm>
            <a:off x="973327" y="2178050"/>
            <a:ext cx="9720073" cy="3905250"/>
          </a:xfrm>
        </p:spPr>
        <p:txBody>
          <a:bodyPr>
            <a:normAutofit/>
          </a:bodyPr>
          <a:lstStyle/>
          <a:p>
            <a:r>
              <a:rPr lang="en-US" dirty="0"/>
              <a:t>If you or your family don't have an appropriate level of private patient hospital cover , and your income for Medicare Levy Surcharge (MLS) purposes is above a certain threshold, you may be required to pay the MLS. The rate of MLS depends on your income for MLS purposes. This applies unless you (and your dependents if you have them) are exempt from paying the Medicare levy.</a:t>
            </a:r>
          </a:p>
          <a:p>
            <a:r>
              <a:rPr lang="en-US" dirty="0"/>
              <a:t>You can claim the private health insurance rebate as a reduction in the amount of private health insurance premiums you pay to your insurer. Alternatively, we will calculate your private health insurance rebate when you lodge your tax return. This rebate is a refundable tax offset.</a:t>
            </a:r>
          </a:p>
          <a:p>
            <a:r>
              <a:rPr lang="en-US" dirty="0"/>
              <a:t>The rebate percentage is adjusted on 1 April each year.</a:t>
            </a:r>
          </a:p>
          <a:p>
            <a:endParaRPr lang="en-AU" dirty="0"/>
          </a:p>
        </p:txBody>
      </p:sp>
    </p:spTree>
    <p:extLst>
      <p:ext uri="{BB962C8B-B14F-4D97-AF65-F5344CB8AC3E}">
        <p14:creationId xmlns:p14="http://schemas.microsoft.com/office/powerpoint/2010/main" val="18571616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673BD9-E0D6-4DBD-8784-E319CB7D8D8D}"/>
              </a:ext>
            </a:extLst>
          </p:cNvPr>
          <p:cNvSpPr>
            <a:spLocks noGrp="1"/>
          </p:cNvSpPr>
          <p:nvPr>
            <p:ph type="title"/>
          </p:nvPr>
        </p:nvSpPr>
        <p:spPr>
          <a:xfrm>
            <a:off x="643468" y="643467"/>
            <a:ext cx="3415612" cy="5571066"/>
          </a:xfrm>
        </p:spPr>
        <p:txBody>
          <a:bodyPr>
            <a:normAutofit/>
          </a:bodyPr>
          <a:lstStyle/>
          <a:p>
            <a:r>
              <a:rPr lang="en-US" dirty="0">
                <a:solidFill>
                  <a:schemeClr val="tx1"/>
                </a:solidFill>
              </a:rPr>
              <a:t>Advantages of Private health insurance:</a:t>
            </a:r>
            <a:endParaRPr lang="en-AU" dirty="0">
              <a:solidFill>
                <a:schemeClr val="tx1"/>
              </a:solidFill>
            </a:endParaRPr>
          </a:p>
        </p:txBody>
      </p:sp>
      <p:graphicFrame>
        <p:nvGraphicFramePr>
          <p:cNvPr id="5" name="Content Placeholder 2">
            <a:extLst>
              <a:ext uri="{FF2B5EF4-FFF2-40B4-BE49-F238E27FC236}">
                <a16:creationId xmlns:a16="http://schemas.microsoft.com/office/drawing/2014/main" id="{B63C4E96-F536-4975-B793-EEF81EDD366A}"/>
              </a:ext>
            </a:extLst>
          </p:cNvPr>
          <p:cNvGraphicFramePr>
            <a:graphicFrameLocks noGrp="1"/>
          </p:cNvGraphicFramePr>
          <p:nvPr>
            <p:ph idx="1"/>
          </p:nvPr>
        </p:nvGraphicFramePr>
        <p:xfrm>
          <a:off x="5603875" y="954088"/>
          <a:ext cx="5641975" cy="492125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97413003"/>
      </p:ext>
    </p:extLst>
  </p:cSld>
  <p:clrMapOvr>
    <a:masterClrMapping/>
  </p:clrMapOvr>
</p:sld>
</file>

<file path=ppt/slides/slide2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0B8B4D-45C7-4B06-9AD1-B0A3A2C7A314}"/>
              </a:ext>
            </a:extLst>
          </p:cNvPr>
          <p:cNvSpPr>
            <a:spLocks noGrp="1"/>
          </p:cNvSpPr>
          <p:nvPr>
            <p:ph type="title"/>
          </p:nvPr>
        </p:nvSpPr>
        <p:spPr>
          <a:xfrm>
            <a:off x="643468" y="643467"/>
            <a:ext cx="3415612" cy="5571066"/>
          </a:xfrm>
        </p:spPr>
        <p:txBody>
          <a:bodyPr>
            <a:normAutofit/>
          </a:bodyPr>
          <a:lstStyle/>
          <a:p>
            <a:r>
              <a:rPr lang="en-US" dirty="0">
                <a:solidFill>
                  <a:schemeClr val="tx1"/>
                </a:solidFill>
              </a:rPr>
              <a:t>Disadvantages of private health insurance:</a:t>
            </a:r>
            <a:endParaRPr lang="en-AU" dirty="0">
              <a:solidFill>
                <a:schemeClr val="tx1"/>
              </a:solidFill>
            </a:endParaRPr>
          </a:p>
        </p:txBody>
      </p:sp>
      <p:graphicFrame>
        <p:nvGraphicFramePr>
          <p:cNvPr id="5" name="Content Placeholder 2">
            <a:extLst>
              <a:ext uri="{FF2B5EF4-FFF2-40B4-BE49-F238E27FC236}">
                <a16:creationId xmlns:a16="http://schemas.microsoft.com/office/drawing/2014/main" id="{0CC14E3B-1C17-429C-81CF-B33E23C5BEC4}"/>
              </a:ext>
            </a:extLst>
          </p:cNvPr>
          <p:cNvGraphicFramePr>
            <a:graphicFrameLocks noGrp="1"/>
          </p:cNvGraphicFramePr>
          <p:nvPr>
            <p:ph idx="1"/>
          </p:nvPr>
        </p:nvGraphicFramePr>
        <p:xfrm>
          <a:off x="5603875" y="954088"/>
          <a:ext cx="5641975" cy="492125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453564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5" grpId="0">
        <p:bldAsOne/>
      </p:bldGraphic>
    </p:bldLst>
  </p:timing>
</p:sld>
</file>

<file path=ppt/slides/slide2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Class </a:t>
            </a:r>
            <a:r>
              <a:rPr lang="en-US" dirty="0" err="1"/>
              <a:t>activitY</a:t>
            </a:r>
            <a:endParaRPr lang="en-US" dirty="0"/>
          </a:p>
        </p:txBody>
      </p:sp>
      <p:sp>
        <p:nvSpPr>
          <p:cNvPr id="3" name="Content Placeholder 2"/>
          <p:cNvSpPr>
            <a:spLocks noGrp="1"/>
          </p:cNvSpPr>
          <p:nvPr>
            <p:ph idx="1"/>
          </p:nvPr>
        </p:nvSpPr>
        <p:spPr/>
        <p:txBody>
          <a:bodyPr/>
          <a:lstStyle/>
          <a:p>
            <a:r>
              <a:rPr lang="en-US" dirty="0"/>
              <a:t>Imagine that you are moving out of home and require getting your own private health insurance. Do some research online, and find a company and policy that could work for you with your needs. </a:t>
            </a:r>
          </a:p>
          <a:p>
            <a:r>
              <a:rPr lang="en-US" dirty="0"/>
              <a:t>How much would you pay per month?</a:t>
            </a:r>
          </a:p>
          <a:p>
            <a:r>
              <a:rPr lang="en-US" dirty="0"/>
              <a:t>What would be covered?</a:t>
            </a:r>
          </a:p>
          <a:p>
            <a:endParaRPr lang="en-US" dirty="0"/>
          </a:p>
          <a:p>
            <a:endParaRPr lang="en-US" dirty="0"/>
          </a:p>
        </p:txBody>
      </p:sp>
    </p:spTree>
    <p:extLst>
      <p:ext uri="{BB962C8B-B14F-4D97-AF65-F5344CB8AC3E}">
        <p14:creationId xmlns:p14="http://schemas.microsoft.com/office/powerpoint/2010/main" val="1417794318"/>
      </p:ext>
    </p:extLst>
  </p:cSld>
  <p:clrMapOvr>
    <a:masterClrMapping/>
  </p:clrMapOvr>
</p:sld>
</file>

<file path=ppt/slides/slide2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Pharmaceutical benefit scheme (PBS)</a:t>
            </a:r>
          </a:p>
        </p:txBody>
      </p:sp>
      <p:sp>
        <p:nvSpPr>
          <p:cNvPr id="3" name="Content Placeholder 2"/>
          <p:cNvSpPr>
            <a:spLocks noGrp="1"/>
          </p:cNvSpPr>
          <p:nvPr>
            <p:ph idx="1"/>
          </p:nvPr>
        </p:nvSpPr>
        <p:spPr>
          <a:xfrm>
            <a:off x="1024128" y="1860884"/>
            <a:ext cx="9720073" cy="4448476"/>
          </a:xfrm>
        </p:spPr>
        <p:txBody>
          <a:bodyPr>
            <a:normAutofit/>
          </a:bodyPr>
          <a:lstStyle/>
          <a:p>
            <a:r>
              <a:rPr lang="en-US" dirty="0">
                <a:hlinkClick r:id="rId2"/>
              </a:rPr>
              <a:t>https://www.youtube.com/watch?v=hqtV_l2XQz8&amp;feature=emb_logo</a:t>
            </a:r>
            <a:endParaRPr lang="en-US" dirty="0"/>
          </a:p>
          <a:p>
            <a:endParaRPr lang="en-US" dirty="0"/>
          </a:p>
          <a:p>
            <a:r>
              <a:rPr lang="en-US" dirty="0"/>
              <a:t>(2 min overview of the PBS)</a:t>
            </a:r>
          </a:p>
        </p:txBody>
      </p:sp>
    </p:spTree>
    <p:extLst>
      <p:ext uri="{BB962C8B-B14F-4D97-AF65-F5344CB8AC3E}">
        <p14:creationId xmlns:p14="http://schemas.microsoft.com/office/powerpoint/2010/main" val="3800652642"/>
      </p:ext>
    </p:extLst>
  </p:cSld>
  <p:clrMapOvr>
    <a:masterClrMapping/>
  </p:clrMapOvr>
</p:sld>
</file>

<file path=ppt/slides/slide2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54053" y="804333"/>
            <a:ext cx="3702635" cy="5249334"/>
          </a:xfrm>
        </p:spPr>
        <p:txBody>
          <a:bodyPr>
            <a:normAutofit/>
          </a:bodyPr>
          <a:lstStyle/>
          <a:p>
            <a:pPr algn="r"/>
            <a:r>
              <a:rPr lang="en-US" dirty="0"/>
              <a:t>Healthcare reform #2:</a:t>
            </a:r>
            <a:br>
              <a:rPr lang="en-US" dirty="0"/>
            </a:br>
            <a:r>
              <a:rPr lang="en-US" dirty="0"/>
              <a:t>Pharmaceutical benefits scheme</a:t>
            </a:r>
          </a:p>
        </p:txBody>
      </p:sp>
      <p:sp>
        <p:nvSpPr>
          <p:cNvPr id="3" name="Content Placeholder 2"/>
          <p:cNvSpPr>
            <a:spLocks noGrp="1"/>
          </p:cNvSpPr>
          <p:nvPr>
            <p:ph idx="1"/>
          </p:nvPr>
        </p:nvSpPr>
        <p:spPr>
          <a:xfrm>
            <a:off x="5145483" y="728132"/>
            <a:ext cx="6257721" cy="5679017"/>
          </a:xfrm>
        </p:spPr>
        <p:txBody>
          <a:bodyPr anchor="ctr">
            <a:normAutofit lnSpcReduction="10000"/>
          </a:bodyPr>
          <a:lstStyle/>
          <a:p>
            <a:r>
              <a:rPr lang="en-US" dirty="0"/>
              <a:t>What is the PBS?</a:t>
            </a:r>
          </a:p>
          <a:p>
            <a:pPr>
              <a:buFont typeface="Wingdings" charset="2"/>
              <a:buChar char="v"/>
            </a:pPr>
            <a:r>
              <a:rPr lang="en-US" dirty="0"/>
              <a:t>Began in 1948! (very limited back then)</a:t>
            </a:r>
          </a:p>
          <a:p>
            <a:pPr>
              <a:buFont typeface="Wingdings" charset="2"/>
              <a:buChar char="v"/>
            </a:pPr>
            <a:r>
              <a:rPr lang="en-US" dirty="0"/>
              <a:t>Government subsidies the cost of certain medicines on an approved list.</a:t>
            </a:r>
          </a:p>
          <a:p>
            <a:pPr>
              <a:buFont typeface="Wingdings" charset="2"/>
              <a:buChar char="v"/>
            </a:pPr>
            <a:r>
              <a:rPr lang="en-US" dirty="0"/>
              <a:t>Pharmaceutical companies must agree to not overcharge for the medicine. (protecting the public from inflation by pharmaceutical companies)</a:t>
            </a:r>
          </a:p>
          <a:p>
            <a:pPr>
              <a:buFont typeface="Wingdings" charset="2"/>
              <a:buChar char="v"/>
            </a:pPr>
            <a:r>
              <a:rPr lang="en-US" dirty="0"/>
              <a:t>Making medicine more available for all Australians. (based on social justice model)</a:t>
            </a:r>
          </a:p>
          <a:p>
            <a:pPr>
              <a:buFont typeface="Wingdings" charset="2"/>
              <a:buChar char="v"/>
            </a:pPr>
            <a:r>
              <a:rPr lang="en-US" dirty="0"/>
              <a:t>Additional concessions for those with low income and a safety net for those with ongoing illnesses (once a certain amount has been paid in a year the person can get their PBS medication free for the rest of that year).</a:t>
            </a:r>
          </a:p>
          <a:p>
            <a:pPr>
              <a:buFont typeface="Wingdings" charset="2"/>
              <a:buChar char="v"/>
            </a:pPr>
            <a:r>
              <a:rPr lang="en-US" dirty="0"/>
              <a:t>Approved list is constantly reviewed and updated on the first day of every month.</a:t>
            </a:r>
          </a:p>
        </p:txBody>
      </p:sp>
    </p:spTree>
    <p:extLst>
      <p:ext uri="{BB962C8B-B14F-4D97-AF65-F5344CB8AC3E}">
        <p14:creationId xmlns:p14="http://schemas.microsoft.com/office/powerpoint/2010/main" val="7713326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98F7B4-5564-4868-9E86-D367BA3E79BE}"/>
              </a:ext>
            </a:extLst>
          </p:cNvPr>
          <p:cNvSpPr>
            <a:spLocks noGrp="1"/>
          </p:cNvSpPr>
          <p:nvPr>
            <p:ph type="title"/>
          </p:nvPr>
        </p:nvSpPr>
        <p:spPr/>
        <p:txBody>
          <a:bodyPr/>
          <a:lstStyle/>
          <a:p>
            <a:r>
              <a:rPr lang="en-US" dirty="0"/>
              <a:t>Who is eligible for Pbs?</a:t>
            </a:r>
            <a:endParaRPr lang="en-AU" dirty="0"/>
          </a:p>
        </p:txBody>
      </p:sp>
      <p:sp>
        <p:nvSpPr>
          <p:cNvPr id="3" name="Content Placeholder 2">
            <a:extLst>
              <a:ext uri="{FF2B5EF4-FFF2-40B4-BE49-F238E27FC236}">
                <a16:creationId xmlns:a16="http://schemas.microsoft.com/office/drawing/2014/main" id="{5BFEA1C3-FBBA-483F-A0CF-94BBAF23E7BA}"/>
              </a:ext>
            </a:extLst>
          </p:cNvPr>
          <p:cNvSpPr>
            <a:spLocks noGrp="1"/>
          </p:cNvSpPr>
          <p:nvPr>
            <p:ph idx="1"/>
          </p:nvPr>
        </p:nvSpPr>
        <p:spPr>
          <a:xfrm>
            <a:off x="1068578" y="2084832"/>
            <a:ext cx="9720073" cy="4023360"/>
          </a:xfrm>
        </p:spPr>
        <p:txBody>
          <a:bodyPr>
            <a:normAutofit/>
          </a:bodyPr>
          <a:lstStyle/>
          <a:p>
            <a:pPr>
              <a:buFont typeface="Wingdings" panose="05000000000000000000" pitchFamily="2" charset="2"/>
              <a:buChar char="v"/>
            </a:pPr>
            <a:r>
              <a:rPr lang="en-US" dirty="0"/>
              <a:t>All Australian Residents who hold a current Medicare card are eligible to receive benefits under the PBS. </a:t>
            </a:r>
          </a:p>
          <a:p>
            <a:pPr>
              <a:buFont typeface="Wingdings" panose="05000000000000000000" pitchFamily="2" charset="2"/>
              <a:buChar char="v"/>
            </a:pPr>
            <a:r>
              <a:rPr lang="en-US" dirty="0"/>
              <a:t>The Australian Government has also set up a Reciprocal Health Care Agreement (RHCA) with certain countries, designed to give visitors from particular countries the benefits of the PBS. (New Zealand, the United Kingdom, the Republic of Ireland, the Netherlands, Finland, Sweden, Norway, Malta, and Italy.)</a:t>
            </a:r>
            <a:r>
              <a:rPr lang="en-AU" dirty="0"/>
              <a:t>-show passport!</a:t>
            </a:r>
          </a:p>
          <a:p>
            <a:pPr>
              <a:buFont typeface="Wingdings" panose="05000000000000000000" pitchFamily="2" charset="2"/>
              <a:buChar char="v"/>
            </a:pPr>
            <a:r>
              <a:rPr lang="en-US" dirty="0"/>
              <a:t>Within the PBS, there are two levels: General and Concessional. This status will determine which co-payment level you are required to pay for PBS prescriptions.</a:t>
            </a:r>
          </a:p>
          <a:p>
            <a:r>
              <a:rPr lang="en-US" dirty="0"/>
              <a:t>Concessions include: Pensioner Concession Card, Australian Seniors Health Card, Health Care Card, Department of Veterans' Affairs (DVA) Gold, Orange, or White Card</a:t>
            </a:r>
          </a:p>
        </p:txBody>
      </p:sp>
    </p:spTree>
    <p:extLst>
      <p:ext uri="{BB962C8B-B14F-4D97-AF65-F5344CB8AC3E}">
        <p14:creationId xmlns:p14="http://schemas.microsoft.com/office/powerpoint/2010/main" val="37873044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5422E2-7891-4520-985E-D9E4E88C9280}"/>
              </a:ext>
            </a:extLst>
          </p:cNvPr>
          <p:cNvSpPr>
            <a:spLocks noGrp="1"/>
          </p:cNvSpPr>
          <p:nvPr>
            <p:ph type="title"/>
          </p:nvPr>
        </p:nvSpPr>
        <p:spPr>
          <a:xfrm>
            <a:off x="643468" y="643467"/>
            <a:ext cx="3415612" cy="5571066"/>
          </a:xfrm>
        </p:spPr>
        <p:txBody>
          <a:bodyPr>
            <a:normAutofit/>
          </a:bodyPr>
          <a:lstStyle/>
          <a:p>
            <a:r>
              <a:rPr lang="en-US" dirty="0">
                <a:solidFill>
                  <a:schemeClr val="tx1"/>
                </a:solidFill>
              </a:rPr>
              <a:t>Advantages of PBS:</a:t>
            </a:r>
            <a:endParaRPr lang="en-AU" dirty="0">
              <a:solidFill>
                <a:schemeClr val="tx1"/>
              </a:solidFill>
            </a:endParaRPr>
          </a:p>
        </p:txBody>
      </p:sp>
      <p:sp>
        <p:nvSpPr>
          <p:cNvPr id="5" name="Rectangle 4">
            <a:extLst>
              <a:ext uri="{FF2B5EF4-FFF2-40B4-BE49-F238E27FC236}">
                <a16:creationId xmlns:a16="http://schemas.microsoft.com/office/drawing/2014/main" id="{2890BA44-8ABC-47BF-95E0-19EBFE28F9DD}"/>
              </a:ext>
            </a:extLst>
          </p:cNvPr>
          <p:cNvSpPr/>
          <p:nvPr/>
        </p:nvSpPr>
        <p:spPr>
          <a:xfrm>
            <a:off x="5118100" y="251588"/>
            <a:ext cx="6477000" cy="6186309"/>
          </a:xfrm>
          <a:prstGeom prst="rect">
            <a:avLst/>
          </a:prstGeom>
        </p:spPr>
        <p:txBody>
          <a:bodyPr wrap="square">
            <a:spAutoFit/>
          </a:bodyPr>
          <a:lstStyle/>
          <a:p>
            <a:pPr marL="285750" marR="0" lvl="0" indent="-285750" algn="l" defTabSz="457200" rtl="0" eaLnBrk="1" fontAlgn="auto" latinLnBrk="0" hangingPunct="1">
              <a:lnSpc>
                <a:spcPct val="100000"/>
              </a:lnSpc>
              <a:spcBef>
                <a:spcPts val="0"/>
              </a:spcBef>
              <a:spcAft>
                <a:spcPts val="0"/>
              </a:spcAft>
              <a:buClr>
                <a:srgbClr val="A9A57C"/>
              </a:buClr>
              <a:buSzTx/>
              <a:buFont typeface="Wingdings" panose="05000000000000000000" pitchFamily="2" charset="2"/>
              <a:buChar char="v"/>
              <a:tabLst/>
              <a:defRPr/>
            </a:pPr>
            <a:r>
              <a:rPr kumimoji="0" lang="en-US" sz="2200" b="0" i="0" u="none" strike="noStrike" kern="1200" cap="none" spc="0" normalizeH="0" baseline="0" noProof="0" dirty="0">
                <a:ln>
                  <a:noFill/>
                </a:ln>
                <a:solidFill>
                  <a:srgbClr val="2E2B21"/>
                </a:solidFill>
                <a:effectLst/>
                <a:uLnTx/>
                <a:uFillTx/>
                <a:latin typeface="Tw Cen MT" panose="020B0602020104020603"/>
                <a:ea typeface="+mn-ea"/>
                <a:cs typeface="+mn-cs"/>
              </a:rPr>
              <a:t>Provides free or </a:t>
            </a:r>
            <a:r>
              <a:rPr kumimoji="0" lang="en-US" sz="2200" b="0" i="0" u="none" strike="noStrike" kern="1200" cap="none" spc="0" normalizeH="0" baseline="0" noProof="0" dirty="0" err="1">
                <a:ln>
                  <a:noFill/>
                </a:ln>
                <a:solidFill>
                  <a:srgbClr val="2E2B21"/>
                </a:solidFill>
                <a:effectLst/>
                <a:uLnTx/>
                <a:uFillTx/>
                <a:latin typeface="Tw Cen MT" panose="020B0602020104020603"/>
                <a:ea typeface="+mn-ea"/>
                <a:cs typeface="+mn-cs"/>
              </a:rPr>
              <a:t>subsidised</a:t>
            </a:r>
            <a:r>
              <a:rPr kumimoji="0" lang="en-US" sz="2200" b="0" i="0" u="none" strike="noStrike" kern="1200" cap="none" spc="0" normalizeH="0" baseline="0" noProof="0" dirty="0">
                <a:ln>
                  <a:noFill/>
                </a:ln>
                <a:solidFill>
                  <a:srgbClr val="2E2B21"/>
                </a:solidFill>
                <a:effectLst/>
                <a:uLnTx/>
                <a:uFillTx/>
                <a:latin typeface="Tw Cen MT" panose="020B0602020104020603"/>
                <a:ea typeface="+mn-ea"/>
                <a:cs typeface="+mn-cs"/>
              </a:rPr>
              <a:t> medicines for vulnerable groups in the community who may not be able to afford them </a:t>
            </a:r>
          </a:p>
          <a:p>
            <a:pPr marL="285750" marR="0" lvl="0" indent="-285750" algn="l" defTabSz="457200" rtl="0" eaLnBrk="1" fontAlgn="auto" latinLnBrk="0" hangingPunct="1">
              <a:lnSpc>
                <a:spcPct val="100000"/>
              </a:lnSpc>
              <a:spcBef>
                <a:spcPts val="0"/>
              </a:spcBef>
              <a:spcAft>
                <a:spcPts val="0"/>
              </a:spcAft>
              <a:buClr>
                <a:srgbClr val="A9A57C"/>
              </a:buClr>
              <a:buSzTx/>
              <a:buFont typeface="Wingdings" panose="05000000000000000000" pitchFamily="2" charset="2"/>
              <a:buChar char="v"/>
              <a:tabLst/>
              <a:defRPr/>
            </a:pPr>
            <a:endParaRPr kumimoji="0" lang="en-US" sz="2200" b="0" i="0" u="none" strike="noStrike" kern="1200" cap="none" spc="0" normalizeH="0" baseline="0" noProof="0" dirty="0">
              <a:ln>
                <a:noFill/>
              </a:ln>
              <a:solidFill>
                <a:srgbClr val="2E2B21"/>
              </a:solidFill>
              <a:effectLst/>
              <a:uLnTx/>
              <a:uFillTx/>
              <a:latin typeface="Tw Cen MT" panose="020B0602020104020603"/>
              <a:ea typeface="+mn-ea"/>
              <a:cs typeface="+mn-cs"/>
            </a:endParaRPr>
          </a:p>
          <a:p>
            <a:pPr marL="285750" marR="0" lvl="0" indent="-285750" algn="l" defTabSz="457200" rtl="0" eaLnBrk="1" fontAlgn="auto" latinLnBrk="0" hangingPunct="1">
              <a:lnSpc>
                <a:spcPct val="100000"/>
              </a:lnSpc>
              <a:spcBef>
                <a:spcPts val="0"/>
              </a:spcBef>
              <a:spcAft>
                <a:spcPts val="0"/>
              </a:spcAft>
              <a:buClr>
                <a:srgbClr val="A9A57C"/>
              </a:buClr>
              <a:buSzTx/>
              <a:buFont typeface="Wingdings" panose="05000000000000000000" pitchFamily="2" charset="2"/>
              <a:buChar char="v"/>
              <a:tabLst/>
              <a:defRPr/>
            </a:pPr>
            <a:r>
              <a:rPr kumimoji="0" lang="en-US" sz="2200" b="0" i="0" u="none" strike="noStrike" kern="1200" cap="none" spc="0" normalizeH="0" baseline="0" noProof="0" dirty="0">
                <a:ln>
                  <a:noFill/>
                </a:ln>
                <a:solidFill>
                  <a:srgbClr val="2E2B21"/>
                </a:solidFill>
                <a:effectLst/>
                <a:uLnTx/>
                <a:uFillTx/>
                <a:latin typeface="Tw Cen MT" panose="020B0602020104020603"/>
                <a:ea typeface="+mn-ea"/>
                <a:cs typeface="+mn-cs"/>
              </a:rPr>
              <a:t>Removes barrier of cost to accessing medicines </a:t>
            </a:r>
          </a:p>
          <a:p>
            <a:pPr marL="285750" marR="0" lvl="0" indent="-285750" algn="l" defTabSz="457200" rtl="0" eaLnBrk="1" fontAlgn="auto" latinLnBrk="0" hangingPunct="1">
              <a:lnSpc>
                <a:spcPct val="100000"/>
              </a:lnSpc>
              <a:spcBef>
                <a:spcPts val="0"/>
              </a:spcBef>
              <a:spcAft>
                <a:spcPts val="0"/>
              </a:spcAft>
              <a:buClr>
                <a:srgbClr val="A9A57C"/>
              </a:buClr>
              <a:buSzTx/>
              <a:buFont typeface="Wingdings" panose="05000000000000000000" pitchFamily="2" charset="2"/>
              <a:buChar char="v"/>
              <a:tabLst/>
              <a:defRPr/>
            </a:pPr>
            <a:endParaRPr kumimoji="0" lang="en-US" sz="2200" b="0" i="0" u="none" strike="noStrike" kern="1200" cap="none" spc="0" normalizeH="0" baseline="0" noProof="0" dirty="0">
              <a:ln>
                <a:noFill/>
              </a:ln>
              <a:solidFill>
                <a:srgbClr val="2E2B21"/>
              </a:solidFill>
              <a:effectLst/>
              <a:uLnTx/>
              <a:uFillTx/>
              <a:latin typeface="Tw Cen MT" panose="020B0602020104020603"/>
              <a:ea typeface="+mn-ea"/>
              <a:cs typeface="+mn-cs"/>
            </a:endParaRPr>
          </a:p>
          <a:p>
            <a:pPr marL="285750" marR="0" lvl="0" indent="-285750" algn="l" defTabSz="457200" rtl="0" eaLnBrk="1" fontAlgn="auto" latinLnBrk="0" hangingPunct="1">
              <a:lnSpc>
                <a:spcPct val="100000"/>
              </a:lnSpc>
              <a:spcBef>
                <a:spcPts val="0"/>
              </a:spcBef>
              <a:spcAft>
                <a:spcPts val="0"/>
              </a:spcAft>
              <a:buClr>
                <a:srgbClr val="A9A57C"/>
              </a:buClr>
              <a:buSzTx/>
              <a:buFont typeface="Wingdings" panose="05000000000000000000" pitchFamily="2" charset="2"/>
              <a:buChar char="v"/>
              <a:tabLst/>
              <a:defRPr/>
            </a:pPr>
            <a:r>
              <a:rPr kumimoji="0" lang="en-US" sz="2200" b="0" i="0" u="none" strike="noStrike" kern="1200" cap="none" spc="0" normalizeH="0" baseline="0" noProof="0" dirty="0">
                <a:ln>
                  <a:noFill/>
                </a:ln>
                <a:solidFill>
                  <a:srgbClr val="2E2B21"/>
                </a:solidFill>
                <a:effectLst/>
                <a:uLnTx/>
                <a:uFillTx/>
                <a:latin typeface="Tw Cen MT" panose="020B0602020104020603"/>
                <a:ea typeface="+mn-ea"/>
                <a:cs typeface="+mn-cs"/>
              </a:rPr>
              <a:t>Access to necessary medicines can reduce incidence of </a:t>
            </a:r>
            <a:r>
              <a:rPr kumimoji="0" lang="en-US" sz="2200" b="0" i="0" u="none" strike="noStrike" kern="1200" cap="none" spc="0" normalizeH="0" baseline="0" noProof="0" dirty="0" err="1">
                <a:ln>
                  <a:noFill/>
                </a:ln>
                <a:solidFill>
                  <a:srgbClr val="2E2B21"/>
                </a:solidFill>
                <a:effectLst/>
                <a:uLnTx/>
                <a:uFillTx/>
                <a:latin typeface="Tw Cen MT" panose="020B0602020104020603"/>
                <a:ea typeface="+mn-ea"/>
                <a:cs typeface="+mn-cs"/>
              </a:rPr>
              <a:t>hospitalisation</a:t>
            </a:r>
            <a:r>
              <a:rPr kumimoji="0" lang="en-US" sz="2200" b="0" i="0" u="none" strike="noStrike" kern="1200" cap="none" spc="0" normalizeH="0" baseline="0" noProof="0" dirty="0">
                <a:ln>
                  <a:noFill/>
                </a:ln>
                <a:solidFill>
                  <a:srgbClr val="2E2B21"/>
                </a:solidFill>
                <a:effectLst/>
                <a:uLnTx/>
                <a:uFillTx/>
                <a:latin typeface="Tw Cen MT" panose="020B0602020104020603"/>
                <a:ea typeface="+mn-ea"/>
                <a:cs typeface="+mn-cs"/>
              </a:rPr>
              <a:t> and associated costs, therefore placing less burden on health care resources </a:t>
            </a:r>
          </a:p>
          <a:p>
            <a:pPr marL="285750" marR="0" lvl="0" indent="-285750" algn="l" defTabSz="457200" rtl="0" eaLnBrk="1" fontAlgn="auto" latinLnBrk="0" hangingPunct="1">
              <a:lnSpc>
                <a:spcPct val="100000"/>
              </a:lnSpc>
              <a:spcBef>
                <a:spcPts val="0"/>
              </a:spcBef>
              <a:spcAft>
                <a:spcPts val="0"/>
              </a:spcAft>
              <a:buClr>
                <a:srgbClr val="A9A57C"/>
              </a:buClr>
              <a:buSzTx/>
              <a:buFont typeface="Wingdings" panose="05000000000000000000" pitchFamily="2" charset="2"/>
              <a:buChar char="v"/>
              <a:tabLst/>
              <a:defRPr/>
            </a:pPr>
            <a:endParaRPr kumimoji="0" lang="en-US" sz="2200" b="0" i="0" u="none" strike="noStrike" kern="1200" cap="none" spc="0" normalizeH="0" baseline="0" noProof="0" dirty="0">
              <a:ln>
                <a:noFill/>
              </a:ln>
              <a:solidFill>
                <a:srgbClr val="2E2B21"/>
              </a:solidFill>
              <a:effectLst/>
              <a:uLnTx/>
              <a:uFillTx/>
              <a:latin typeface="Tw Cen MT" panose="020B0602020104020603"/>
              <a:ea typeface="+mn-ea"/>
              <a:cs typeface="+mn-cs"/>
            </a:endParaRPr>
          </a:p>
          <a:p>
            <a:pPr marL="285750" marR="0" lvl="0" indent="-285750" algn="l" defTabSz="457200" rtl="0" eaLnBrk="1" fontAlgn="auto" latinLnBrk="0" hangingPunct="1">
              <a:lnSpc>
                <a:spcPct val="100000"/>
              </a:lnSpc>
              <a:spcBef>
                <a:spcPts val="0"/>
              </a:spcBef>
              <a:spcAft>
                <a:spcPts val="0"/>
              </a:spcAft>
              <a:buClr>
                <a:srgbClr val="A9A57C"/>
              </a:buClr>
              <a:buSzTx/>
              <a:buFont typeface="Wingdings" panose="05000000000000000000" pitchFamily="2" charset="2"/>
              <a:buChar char="v"/>
              <a:tabLst/>
              <a:defRPr/>
            </a:pPr>
            <a:r>
              <a:rPr kumimoji="0" lang="en-US" sz="2200" b="0" i="0" u="none" strike="noStrike" kern="1200" cap="none" spc="0" normalizeH="0" baseline="0" noProof="0" dirty="0">
                <a:ln>
                  <a:noFill/>
                </a:ln>
                <a:solidFill>
                  <a:srgbClr val="2E2B21"/>
                </a:solidFill>
                <a:effectLst/>
                <a:uLnTx/>
                <a:uFillTx/>
                <a:latin typeface="Tw Cen MT" panose="020B0602020104020603"/>
                <a:ea typeface="+mn-ea"/>
                <a:cs typeface="+mn-cs"/>
              </a:rPr>
              <a:t>Governments can bargain more effectively on behalf of consumers to ensure that newly patented medications are made available at more </a:t>
            </a:r>
            <a:r>
              <a:rPr kumimoji="0" lang="en-US" sz="2200" b="0" i="0" u="none" strike="noStrike" kern="1200" cap="none" spc="0" normalizeH="0" baseline="0" noProof="0" dirty="0" err="1">
                <a:ln>
                  <a:noFill/>
                </a:ln>
                <a:solidFill>
                  <a:srgbClr val="2E2B21"/>
                </a:solidFill>
                <a:effectLst/>
                <a:uLnTx/>
                <a:uFillTx/>
                <a:latin typeface="Tw Cen MT" panose="020B0602020104020603"/>
                <a:ea typeface="+mn-ea"/>
                <a:cs typeface="+mn-cs"/>
              </a:rPr>
              <a:t>favourable</a:t>
            </a:r>
            <a:r>
              <a:rPr kumimoji="0" lang="en-US" sz="2200" b="0" i="0" u="none" strike="noStrike" kern="1200" cap="none" spc="0" normalizeH="0" baseline="0" noProof="0" dirty="0">
                <a:ln>
                  <a:noFill/>
                </a:ln>
                <a:solidFill>
                  <a:srgbClr val="2E2B21"/>
                </a:solidFill>
                <a:effectLst/>
                <a:uLnTx/>
                <a:uFillTx/>
                <a:latin typeface="Tw Cen MT" panose="020B0602020104020603"/>
                <a:ea typeface="+mn-ea"/>
                <a:cs typeface="+mn-cs"/>
              </a:rPr>
              <a:t> prices </a:t>
            </a:r>
          </a:p>
          <a:p>
            <a:pPr marL="285750" marR="0" lvl="0" indent="-285750" algn="l" defTabSz="457200" rtl="0" eaLnBrk="1" fontAlgn="auto" latinLnBrk="0" hangingPunct="1">
              <a:lnSpc>
                <a:spcPct val="100000"/>
              </a:lnSpc>
              <a:spcBef>
                <a:spcPts val="0"/>
              </a:spcBef>
              <a:spcAft>
                <a:spcPts val="0"/>
              </a:spcAft>
              <a:buClr>
                <a:srgbClr val="A9A57C"/>
              </a:buClr>
              <a:buSzTx/>
              <a:buFont typeface="Wingdings" panose="05000000000000000000" pitchFamily="2" charset="2"/>
              <a:buChar char="v"/>
              <a:tabLst/>
              <a:defRPr/>
            </a:pPr>
            <a:endParaRPr kumimoji="0" lang="en-US" sz="2200" b="0" i="0" u="none" strike="noStrike" kern="1200" cap="none" spc="0" normalizeH="0" baseline="0" noProof="0" dirty="0">
              <a:ln>
                <a:noFill/>
              </a:ln>
              <a:solidFill>
                <a:srgbClr val="2E2B21"/>
              </a:solidFill>
              <a:effectLst/>
              <a:uLnTx/>
              <a:uFillTx/>
              <a:latin typeface="Tw Cen MT" panose="020B0602020104020603"/>
              <a:ea typeface="+mn-ea"/>
              <a:cs typeface="+mn-cs"/>
            </a:endParaRPr>
          </a:p>
          <a:p>
            <a:pPr marL="285750" marR="0" lvl="0" indent="-285750" algn="l" defTabSz="457200" rtl="0" eaLnBrk="1" fontAlgn="auto" latinLnBrk="0" hangingPunct="1">
              <a:lnSpc>
                <a:spcPct val="100000"/>
              </a:lnSpc>
              <a:spcBef>
                <a:spcPts val="0"/>
              </a:spcBef>
              <a:spcAft>
                <a:spcPts val="0"/>
              </a:spcAft>
              <a:buClr>
                <a:srgbClr val="A9A57C"/>
              </a:buClr>
              <a:buSzTx/>
              <a:buFont typeface="Wingdings" panose="05000000000000000000" pitchFamily="2" charset="2"/>
              <a:buChar char="v"/>
              <a:tabLst/>
              <a:defRPr/>
            </a:pPr>
            <a:r>
              <a:rPr kumimoji="0" lang="en-US" sz="2200" b="0" i="0" u="none" strike="noStrike" kern="1200" cap="none" spc="0" normalizeH="0" baseline="0" noProof="0" dirty="0">
                <a:ln>
                  <a:noFill/>
                </a:ln>
                <a:solidFill>
                  <a:srgbClr val="2E2B21"/>
                </a:solidFill>
                <a:effectLst/>
                <a:uLnTx/>
                <a:uFillTx/>
                <a:latin typeface="Tw Cen MT" panose="020B0602020104020603"/>
                <a:ea typeface="+mn-ea"/>
                <a:cs typeface="+mn-cs"/>
              </a:rPr>
              <a:t>Data from PBS medications provides data for governments with respect to types of medications, quantity, dose and strength being dispensed </a:t>
            </a:r>
            <a:endParaRPr kumimoji="0" lang="en-AU" sz="2200" b="0" i="0" u="none" strike="noStrike" kern="1200" cap="none" spc="0" normalizeH="0" baseline="0" noProof="0" dirty="0">
              <a:ln>
                <a:noFill/>
              </a:ln>
              <a:solidFill>
                <a:srgbClr val="2E2B21"/>
              </a:solidFill>
              <a:effectLst/>
              <a:uLnTx/>
              <a:uFillTx/>
              <a:latin typeface="Tw Cen MT" panose="020B0602020104020603"/>
              <a:ea typeface="+mn-ea"/>
              <a:cs typeface="+mn-cs"/>
            </a:endParaRPr>
          </a:p>
        </p:txBody>
      </p:sp>
    </p:spTree>
    <p:extLst>
      <p:ext uri="{BB962C8B-B14F-4D97-AF65-F5344CB8AC3E}">
        <p14:creationId xmlns:p14="http://schemas.microsoft.com/office/powerpoint/2010/main" val="8107449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DCBBBE-9C1A-4F5C-A270-8FBD5A01B25C}"/>
              </a:ext>
            </a:extLst>
          </p:cNvPr>
          <p:cNvSpPr>
            <a:spLocks noGrp="1"/>
          </p:cNvSpPr>
          <p:nvPr>
            <p:ph type="title"/>
          </p:nvPr>
        </p:nvSpPr>
        <p:spPr>
          <a:xfrm>
            <a:off x="964788" y="804333"/>
            <a:ext cx="3391900" cy="5249334"/>
          </a:xfrm>
        </p:spPr>
        <p:txBody>
          <a:bodyPr>
            <a:normAutofit/>
          </a:bodyPr>
          <a:lstStyle/>
          <a:p>
            <a:pPr algn="r"/>
            <a:r>
              <a:rPr lang="en-US" dirty="0">
                <a:solidFill>
                  <a:schemeClr val="tx1"/>
                </a:solidFill>
              </a:rPr>
              <a:t>Disadvantages of PBS:</a:t>
            </a:r>
            <a:endParaRPr lang="en-AU" dirty="0">
              <a:solidFill>
                <a:schemeClr val="tx1"/>
              </a:solidFill>
            </a:endParaRPr>
          </a:p>
        </p:txBody>
      </p:sp>
      <p:sp>
        <p:nvSpPr>
          <p:cNvPr id="3" name="Content Placeholder 2">
            <a:extLst>
              <a:ext uri="{FF2B5EF4-FFF2-40B4-BE49-F238E27FC236}">
                <a16:creationId xmlns:a16="http://schemas.microsoft.com/office/drawing/2014/main" id="{B9E0D157-051B-4DBF-BEA5-1CC7650CE4A1}"/>
              </a:ext>
            </a:extLst>
          </p:cNvPr>
          <p:cNvSpPr>
            <a:spLocks noGrp="1"/>
          </p:cNvSpPr>
          <p:nvPr>
            <p:ph idx="1"/>
          </p:nvPr>
        </p:nvSpPr>
        <p:spPr>
          <a:xfrm>
            <a:off x="4951048" y="804333"/>
            <a:ext cx="6306003" cy="5249334"/>
          </a:xfrm>
        </p:spPr>
        <p:txBody>
          <a:bodyPr anchor="ctr">
            <a:noAutofit/>
          </a:bodyPr>
          <a:lstStyle/>
          <a:p>
            <a:pPr>
              <a:buFont typeface="Wingdings" panose="05000000000000000000" pitchFamily="2" charset="2"/>
              <a:buChar char="v"/>
            </a:pPr>
            <a:r>
              <a:rPr lang="en-US" dirty="0"/>
              <a:t>Ageing populations may place pressure on governments to provide more medications as part of the scheme, thereby increasing government expenditure and creating dependency model </a:t>
            </a:r>
          </a:p>
          <a:p>
            <a:pPr>
              <a:buFont typeface="Wingdings" panose="05000000000000000000" pitchFamily="2" charset="2"/>
              <a:buChar char="v"/>
            </a:pPr>
            <a:r>
              <a:rPr lang="en-US" dirty="0"/>
              <a:t>Not all medications are available on the PBS - not a totally equitable situation for consumers requiring medication/s which do not sit within the scheme </a:t>
            </a:r>
          </a:p>
          <a:p>
            <a:pPr>
              <a:buFont typeface="Wingdings" panose="05000000000000000000" pitchFamily="2" charset="2"/>
              <a:buChar char="v"/>
            </a:pPr>
            <a:r>
              <a:rPr lang="en-US" dirty="0"/>
              <a:t>Chronic conditions often require medication over a long period of time which is costly for governments </a:t>
            </a:r>
          </a:p>
          <a:p>
            <a:pPr>
              <a:buFont typeface="Wingdings" panose="05000000000000000000" pitchFamily="2" charset="2"/>
              <a:buChar char="v"/>
            </a:pPr>
            <a:r>
              <a:rPr lang="en-US" dirty="0"/>
              <a:t>Growth in the scheme (i.e. provision of more medications) and dependence on subsidized/ free products places pressure on limited government health resources </a:t>
            </a:r>
          </a:p>
          <a:p>
            <a:pPr>
              <a:buFont typeface="Wingdings" panose="05000000000000000000" pitchFamily="2" charset="2"/>
              <a:buChar char="v"/>
            </a:pPr>
            <a:r>
              <a:rPr lang="en-US" dirty="0"/>
              <a:t>It can be difficult to delist medicines, as consumers may rely on these to manage chronic conditions. Delisting to provide for growth in the scheme, is not always a popular option.</a:t>
            </a:r>
            <a:endParaRPr lang="en-AU" dirty="0"/>
          </a:p>
        </p:txBody>
      </p:sp>
    </p:spTree>
    <p:extLst>
      <p:ext uri="{BB962C8B-B14F-4D97-AF65-F5344CB8AC3E}">
        <p14:creationId xmlns:p14="http://schemas.microsoft.com/office/powerpoint/2010/main" val="3161862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54053" y="804333"/>
            <a:ext cx="3702635" cy="5249334"/>
          </a:xfrm>
        </p:spPr>
        <p:txBody>
          <a:bodyPr>
            <a:normAutofit/>
          </a:bodyPr>
          <a:lstStyle/>
          <a:p>
            <a:pPr algn="r"/>
            <a:r>
              <a:rPr lang="en-US" dirty="0"/>
              <a:t>Healthcare reform #3:</a:t>
            </a:r>
            <a:br>
              <a:rPr lang="en-US" dirty="0"/>
            </a:br>
            <a:r>
              <a:rPr lang="en-US" dirty="0"/>
              <a:t>PUBLIC screening/ vaccination programs</a:t>
            </a:r>
          </a:p>
        </p:txBody>
      </p:sp>
      <p:sp>
        <p:nvSpPr>
          <p:cNvPr id="3" name="Content Placeholder 2"/>
          <p:cNvSpPr>
            <a:spLocks noGrp="1"/>
          </p:cNvSpPr>
          <p:nvPr>
            <p:ph idx="1"/>
          </p:nvPr>
        </p:nvSpPr>
        <p:spPr>
          <a:xfrm>
            <a:off x="5145483" y="728132"/>
            <a:ext cx="6257721" cy="5679017"/>
          </a:xfrm>
        </p:spPr>
        <p:txBody>
          <a:bodyPr anchor="ctr">
            <a:normAutofit/>
          </a:bodyPr>
          <a:lstStyle/>
          <a:p>
            <a:r>
              <a:rPr lang="en-US" dirty="0"/>
              <a:t>What are Public screening/vaccination programs?</a:t>
            </a:r>
            <a:br>
              <a:rPr lang="en-US" dirty="0"/>
            </a:br>
            <a:endParaRPr lang="en-US" dirty="0"/>
          </a:p>
          <a:p>
            <a:pPr>
              <a:buFont typeface="Wingdings" charset="2"/>
              <a:buChar char="v"/>
            </a:pPr>
            <a:r>
              <a:rPr lang="en-US" dirty="0"/>
              <a:t>The Australian Government funds a large number of screening and vaccination programs.</a:t>
            </a:r>
          </a:p>
          <a:p>
            <a:endParaRPr lang="en-US" dirty="0"/>
          </a:p>
        </p:txBody>
      </p:sp>
    </p:spTree>
    <p:extLst>
      <p:ext uri="{BB962C8B-B14F-4D97-AF65-F5344CB8AC3E}">
        <p14:creationId xmlns:p14="http://schemas.microsoft.com/office/powerpoint/2010/main" val="34298184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Public screening programs</a:t>
            </a:r>
          </a:p>
        </p:txBody>
      </p:sp>
      <p:sp>
        <p:nvSpPr>
          <p:cNvPr id="3" name="Content Placeholder 2"/>
          <p:cNvSpPr>
            <a:spLocks noGrp="1"/>
          </p:cNvSpPr>
          <p:nvPr>
            <p:ph idx="1"/>
          </p:nvPr>
        </p:nvSpPr>
        <p:spPr>
          <a:xfrm>
            <a:off x="1024127" y="1955800"/>
            <a:ext cx="10301599" cy="4152392"/>
          </a:xfrm>
        </p:spPr>
        <p:txBody>
          <a:bodyPr>
            <a:normAutofit/>
          </a:bodyPr>
          <a:lstStyle/>
          <a:p>
            <a:r>
              <a:rPr lang="en-US" dirty="0"/>
              <a:t>RECAP: What is screening? </a:t>
            </a:r>
          </a:p>
          <a:p>
            <a:pPr>
              <a:buFont typeface="Wingdings" charset="2"/>
              <a:buChar char="v"/>
            </a:pPr>
            <a:r>
              <a:rPr lang="en-US" dirty="0"/>
              <a:t>Checking healthy populations for signs/symptoms of disease</a:t>
            </a:r>
          </a:p>
          <a:p>
            <a:pPr>
              <a:buFont typeface="Wingdings" charset="2"/>
              <a:buChar char="v"/>
            </a:pPr>
            <a:r>
              <a:rPr lang="en-US" dirty="0"/>
              <a:t>Secondary level of prevention</a:t>
            </a:r>
          </a:p>
          <a:p>
            <a:pPr>
              <a:buFont typeface="Wingdings" charset="2"/>
              <a:buChar char="v"/>
            </a:pPr>
            <a:r>
              <a:rPr lang="en-US" dirty="0"/>
              <a:t>Early detection!</a:t>
            </a:r>
          </a:p>
          <a:p>
            <a:pPr>
              <a:buFont typeface="Wingdings" charset="2"/>
              <a:buChar char="v"/>
            </a:pPr>
            <a:r>
              <a:rPr lang="en-US" dirty="0"/>
              <a:t>Allows for treatment before the disease gets worse. (saves health resources)</a:t>
            </a:r>
          </a:p>
          <a:p>
            <a:pPr>
              <a:buFont typeface="Wingdings" charset="2"/>
              <a:buChar char="v"/>
            </a:pPr>
            <a:r>
              <a:rPr lang="en-US" dirty="0"/>
              <a:t>To be considered for screening the disease must be easily detected at early onset and must be able to be easily treated with a high chance of survival and cure.</a:t>
            </a:r>
          </a:p>
          <a:p>
            <a:pPr>
              <a:buFont typeface="Wingdings" charset="2"/>
              <a:buChar char="v"/>
            </a:pPr>
            <a:r>
              <a:rPr lang="en-US" dirty="0"/>
              <a:t>Public screening in Australia include: bowel cancer, breast cancer, cervical cancer, scoliosis and high blood pressure. (but are not limited to!)</a:t>
            </a:r>
          </a:p>
          <a:p>
            <a:pPr>
              <a:buFont typeface="Wingdings" charset="2"/>
              <a:buChar char="v"/>
            </a:pPr>
            <a:endParaRPr lang="en-US" dirty="0"/>
          </a:p>
        </p:txBody>
      </p:sp>
    </p:spTree>
    <p:extLst>
      <p:ext uri="{BB962C8B-B14F-4D97-AF65-F5344CB8AC3E}">
        <p14:creationId xmlns:p14="http://schemas.microsoft.com/office/powerpoint/2010/main" val="36223699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1DEEA3-A686-43E5-A490-5C40A8BF3ACB}"/>
              </a:ext>
            </a:extLst>
          </p:cNvPr>
          <p:cNvSpPr>
            <a:spLocks noGrp="1"/>
          </p:cNvSpPr>
          <p:nvPr>
            <p:ph type="title"/>
          </p:nvPr>
        </p:nvSpPr>
        <p:spPr>
          <a:xfrm>
            <a:off x="964788" y="804333"/>
            <a:ext cx="3391900" cy="5249334"/>
          </a:xfrm>
        </p:spPr>
        <p:txBody>
          <a:bodyPr>
            <a:normAutofit/>
          </a:bodyPr>
          <a:lstStyle/>
          <a:p>
            <a:pPr algn="r"/>
            <a:r>
              <a:rPr lang="en-US" dirty="0">
                <a:solidFill>
                  <a:schemeClr val="tx1"/>
                </a:solidFill>
              </a:rPr>
              <a:t>Advantages of public screening programs:</a:t>
            </a:r>
            <a:endParaRPr lang="en-AU" dirty="0">
              <a:solidFill>
                <a:schemeClr val="tx1"/>
              </a:solidFill>
            </a:endParaRPr>
          </a:p>
        </p:txBody>
      </p:sp>
      <p:sp>
        <p:nvSpPr>
          <p:cNvPr id="3" name="Content Placeholder 2">
            <a:extLst>
              <a:ext uri="{FF2B5EF4-FFF2-40B4-BE49-F238E27FC236}">
                <a16:creationId xmlns:a16="http://schemas.microsoft.com/office/drawing/2014/main" id="{9E3F33A9-F13E-4D7C-8A00-5F33E140986F}"/>
              </a:ext>
            </a:extLst>
          </p:cNvPr>
          <p:cNvSpPr>
            <a:spLocks noGrp="1"/>
          </p:cNvSpPr>
          <p:nvPr>
            <p:ph idx="1"/>
          </p:nvPr>
        </p:nvSpPr>
        <p:spPr>
          <a:xfrm>
            <a:off x="4951048" y="804333"/>
            <a:ext cx="6306003" cy="5249334"/>
          </a:xfrm>
        </p:spPr>
        <p:txBody>
          <a:bodyPr anchor="ctr">
            <a:normAutofit/>
          </a:bodyPr>
          <a:lstStyle/>
          <a:p>
            <a:pPr>
              <a:buFont typeface="Wingdings" panose="05000000000000000000" pitchFamily="2" charset="2"/>
              <a:buChar char="v"/>
            </a:pPr>
            <a:r>
              <a:rPr lang="en-US" dirty="0"/>
              <a:t>Reduces cost of treatments by early detection</a:t>
            </a:r>
          </a:p>
          <a:p>
            <a:pPr>
              <a:buFont typeface="Wingdings" panose="05000000000000000000" pitchFamily="2" charset="2"/>
              <a:buChar char="v"/>
            </a:pPr>
            <a:r>
              <a:rPr lang="en-US" dirty="0"/>
              <a:t>Increases the likelihood of people getting screened if it is free</a:t>
            </a:r>
          </a:p>
          <a:p>
            <a:pPr>
              <a:buFont typeface="Wingdings" panose="05000000000000000000" pitchFamily="2" charset="2"/>
              <a:buChar char="v"/>
            </a:pPr>
            <a:r>
              <a:rPr lang="en-US" dirty="0"/>
              <a:t>Reduces pressure on the health system in Australia</a:t>
            </a:r>
            <a:endParaRPr lang="en-AU" dirty="0"/>
          </a:p>
        </p:txBody>
      </p:sp>
    </p:spTree>
    <p:extLst>
      <p:ext uri="{BB962C8B-B14F-4D97-AF65-F5344CB8AC3E}">
        <p14:creationId xmlns:p14="http://schemas.microsoft.com/office/powerpoint/2010/main" val="21195589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719B29-B2F4-4A31-B860-1D3F642262D5}"/>
              </a:ext>
            </a:extLst>
          </p:cNvPr>
          <p:cNvSpPr>
            <a:spLocks noGrp="1"/>
          </p:cNvSpPr>
          <p:nvPr>
            <p:ph type="title"/>
          </p:nvPr>
        </p:nvSpPr>
        <p:spPr>
          <a:xfrm>
            <a:off x="964788" y="804333"/>
            <a:ext cx="3391900" cy="5249334"/>
          </a:xfrm>
        </p:spPr>
        <p:txBody>
          <a:bodyPr>
            <a:normAutofit/>
          </a:bodyPr>
          <a:lstStyle/>
          <a:p>
            <a:pPr algn="r"/>
            <a:r>
              <a:rPr lang="en-US" dirty="0">
                <a:solidFill>
                  <a:schemeClr val="tx1"/>
                </a:solidFill>
              </a:rPr>
              <a:t>Disadvantages of public screening programs</a:t>
            </a:r>
            <a:r>
              <a:rPr lang="en-US" dirty="0">
                <a:solidFill>
                  <a:srgbClr val="FFFFFF"/>
                </a:solidFill>
              </a:rPr>
              <a:t>:</a:t>
            </a:r>
            <a:endParaRPr lang="en-AU" dirty="0">
              <a:solidFill>
                <a:srgbClr val="FFFFFF"/>
              </a:solidFill>
            </a:endParaRPr>
          </a:p>
        </p:txBody>
      </p:sp>
      <p:sp>
        <p:nvSpPr>
          <p:cNvPr id="3" name="Content Placeholder 2">
            <a:extLst>
              <a:ext uri="{FF2B5EF4-FFF2-40B4-BE49-F238E27FC236}">
                <a16:creationId xmlns:a16="http://schemas.microsoft.com/office/drawing/2014/main" id="{458D41B2-F035-403A-99EC-1B8E116870E4}"/>
              </a:ext>
            </a:extLst>
          </p:cNvPr>
          <p:cNvSpPr>
            <a:spLocks noGrp="1"/>
          </p:cNvSpPr>
          <p:nvPr>
            <p:ph idx="1"/>
          </p:nvPr>
        </p:nvSpPr>
        <p:spPr>
          <a:xfrm>
            <a:off x="4951048" y="804333"/>
            <a:ext cx="6306003" cy="5249334"/>
          </a:xfrm>
        </p:spPr>
        <p:txBody>
          <a:bodyPr anchor="ctr">
            <a:normAutofit/>
          </a:bodyPr>
          <a:lstStyle/>
          <a:p>
            <a:pPr>
              <a:buFont typeface="Wingdings" panose="05000000000000000000" pitchFamily="2" charset="2"/>
              <a:buChar char="v"/>
            </a:pPr>
            <a:r>
              <a:rPr lang="en-US" dirty="0"/>
              <a:t>It still depends on the individuals desire to get screened. </a:t>
            </a:r>
            <a:endParaRPr lang="en-AU" dirty="0"/>
          </a:p>
          <a:p>
            <a:pPr>
              <a:buFont typeface="Wingdings" panose="05000000000000000000" pitchFamily="2" charset="2"/>
              <a:buChar char="v"/>
            </a:pPr>
            <a:r>
              <a:rPr lang="en-AU" dirty="0"/>
              <a:t>Often disadvantaged groups have reduced access which creates inequities</a:t>
            </a:r>
          </a:p>
          <a:p>
            <a:pPr>
              <a:buFont typeface="Wingdings" panose="05000000000000000000" pitchFamily="2" charset="2"/>
              <a:buChar char="v"/>
            </a:pPr>
            <a:r>
              <a:rPr lang="en-AU" dirty="0"/>
              <a:t>It relies on education and health literacy levels </a:t>
            </a:r>
          </a:p>
          <a:p>
            <a:pPr>
              <a:buFont typeface="Wingdings" panose="05000000000000000000" pitchFamily="2" charset="2"/>
              <a:buChar char="v"/>
            </a:pPr>
            <a:r>
              <a:rPr lang="en-AU" dirty="0"/>
              <a:t>Some individuals cannot get immunised due to </a:t>
            </a:r>
            <a:r>
              <a:rPr lang="en-AU" dirty="0" err="1"/>
              <a:t>allergys</a:t>
            </a:r>
            <a:r>
              <a:rPr lang="en-AU" dirty="0"/>
              <a:t>/immune issues</a:t>
            </a:r>
            <a:endParaRPr lang="en-US" dirty="0"/>
          </a:p>
        </p:txBody>
      </p:sp>
    </p:spTree>
    <p:extLst>
      <p:ext uri="{BB962C8B-B14F-4D97-AF65-F5344CB8AC3E}">
        <p14:creationId xmlns:p14="http://schemas.microsoft.com/office/powerpoint/2010/main" val="21948914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Public health vaccination programs</a:t>
            </a:r>
          </a:p>
        </p:txBody>
      </p:sp>
      <p:sp>
        <p:nvSpPr>
          <p:cNvPr id="3" name="Content Placeholder 2"/>
          <p:cNvSpPr>
            <a:spLocks noGrp="1"/>
          </p:cNvSpPr>
          <p:nvPr>
            <p:ph idx="1"/>
          </p:nvPr>
        </p:nvSpPr>
        <p:spPr/>
        <p:txBody>
          <a:bodyPr/>
          <a:lstStyle/>
          <a:p>
            <a:pPr>
              <a:buFont typeface="Wingdings" charset="2"/>
              <a:buChar char="v"/>
            </a:pPr>
            <a:r>
              <a:rPr lang="en-US" dirty="0"/>
              <a:t>Government funded vaccination programs</a:t>
            </a:r>
          </a:p>
          <a:p>
            <a:pPr>
              <a:buFont typeface="Wingdings" charset="2"/>
              <a:buChar char="v"/>
            </a:pPr>
            <a:r>
              <a:rPr lang="en-US" dirty="0"/>
              <a:t>Vaccinations provided to everyone in a population to immunize against disease.</a:t>
            </a:r>
          </a:p>
          <a:p>
            <a:pPr>
              <a:buFont typeface="Wingdings" charset="2"/>
              <a:buChar char="v"/>
            </a:pPr>
            <a:r>
              <a:rPr lang="en-US" dirty="0"/>
              <a:t>Reduce the risk and spread of disease.</a:t>
            </a:r>
          </a:p>
          <a:p>
            <a:pPr>
              <a:buFont typeface="Wingdings" charset="2"/>
              <a:buChar char="v"/>
            </a:pPr>
            <a:r>
              <a:rPr lang="en-US" dirty="0"/>
              <a:t>Limiting the need for ongoing treatment for conditions that are vaccinated against.</a:t>
            </a:r>
          </a:p>
          <a:p>
            <a:pPr>
              <a:buFont typeface="Wingdings" charset="2"/>
              <a:buChar char="v"/>
            </a:pPr>
            <a:r>
              <a:rPr lang="en-US" dirty="0"/>
              <a:t>The list of </a:t>
            </a:r>
            <a:r>
              <a:rPr lang="en-US" dirty="0" err="1"/>
              <a:t>immunisations</a:t>
            </a:r>
            <a:r>
              <a:rPr lang="en-US" dirty="0"/>
              <a:t> available is always changing with advancement in science. </a:t>
            </a:r>
          </a:p>
          <a:p>
            <a:pPr>
              <a:buFont typeface="Wingdings" charset="2"/>
              <a:buChar char="v"/>
            </a:pPr>
            <a:r>
              <a:rPr lang="en-US" dirty="0"/>
              <a:t>Why is herd immunity/community immunity so important?</a:t>
            </a:r>
          </a:p>
        </p:txBody>
      </p:sp>
    </p:spTree>
    <p:extLst>
      <p:ext uri="{BB962C8B-B14F-4D97-AF65-F5344CB8AC3E}">
        <p14:creationId xmlns:p14="http://schemas.microsoft.com/office/powerpoint/2010/main" val="41435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64EE97C-2C87-4A71-8D1B-FEF468CF68A1}"/>
              </a:ext>
            </a:extLst>
          </p:cNvPr>
          <p:cNvPicPr>
            <a:picLocks noChangeAspect="1"/>
          </p:cNvPicPr>
          <p:nvPr/>
        </p:nvPicPr>
        <p:blipFill>
          <a:blip r:embed="rId2"/>
          <a:stretch>
            <a:fillRect/>
          </a:stretch>
        </p:blipFill>
        <p:spPr>
          <a:xfrm>
            <a:off x="1152779" y="1882448"/>
            <a:ext cx="4555871" cy="3184851"/>
          </a:xfrm>
          <a:prstGeom prst="rect">
            <a:avLst/>
          </a:prstGeom>
        </p:spPr>
      </p:pic>
      <p:pic>
        <p:nvPicPr>
          <p:cNvPr id="5" name="Picture 4">
            <a:extLst>
              <a:ext uri="{FF2B5EF4-FFF2-40B4-BE49-F238E27FC236}">
                <a16:creationId xmlns:a16="http://schemas.microsoft.com/office/drawing/2014/main" id="{49658E6A-B798-4444-BBDE-07AEF4D54D17}"/>
              </a:ext>
            </a:extLst>
          </p:cNvPr>
          <p:cNvPicPr>
            <a:picLocks noChangeAspect="1"/>
          </p:cNvPicPr>
          <p:nvPr/>
        </p:nvPicPr>
        <p:blipFill>
          <a:blip r:embed="rId3"/>
          <a:stretch>
            <a:fillRect/>
          </a:stretch>
        </p:blipFill>
        <p:spPr>
          <a:xfrm>
            <a:off x="7199048" y="1729735"/>
            <a:ext cx="4744231" cy="3197865"/>
          </a:xfrm>
          <a:prstGeom prst="rect">
            <a:avLst/>
          </a:prstGeom>
        </p:spPr>
      </p:pic>
    </p:spTree>
    <p:extLst>
      <p:ext uri="{BB962C8B-B14F-4D97-AF65-F5344CB8AC3E}">
        <p14:creationId xmlns:p14="http://schemas.microsoft.com/office/powerpoint/2010/main" val="3548840575"/>
      </p:ext>
    </p:extLst>
  </p:cSld>
  <p:clrMapOvr>
    <a:masterClrMapping/>
  </p:clrMapOvr>
</p:sld>
</file>

<file path=ppt/slides/slide2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BB3C57-8975-460E-9236-47EF6F13E567}"/>
              </a:ext>
            </a:extLst>
          </p:cNvPr>
          <p:cNvSpPr>
            <a:spLocks noGrp="1"/>
          </p:cNvSpPr>
          <p:nvPr>
            <p:ph type="title"/>
          </p:nvPr>
        </p:nvSpPr>
        <p:spPr/>
        <p:txBody>
          <a:bodyPr/>
          <a:lstStyle/>
          <a:p>
            <a:r>
              <a:rPr lang="en-US" dirty="0"/>
              <a:t>The impact of immunisation in Australia</a:t>
            </a:r>
            <a:endParaRPr lang="en-AU" dirty="0"/>
          </a:p>
        </p:txBody>
      </p:sp>
      <p:sp>
        <p:nvSpPr>
          <p:cNvPr id="3" name="Content Placeholder 2">
            <a:extLst>
              <a:ext uri="{FF2B5EF4-FFF2-40B4-BE49-F238E27FC236}">
                <a16:creationId xmlns:a16="http://schemas.microsoft.com/office/drawing/2014/main" id="{2A1E4C94-F9E8-4A68-A984-59009672AD10}"/>
              </a:ext>
            </a:extLst>
          </p:cNvPr>
          <p:cNvSpPr>
            <a:spLocks noGrp="1"/>
          </p:cNvSpPr>
          <p:nvPr>
            <p:ph idx="1"/>
          </p:nvPr>
        </p:nvSpPr>
        <p:spPr>
          <a:xfrm>
            <a:off x="1024128" y="2123440"/>
            <a:ext cx="9720072" cy="4023360"/>
          </a:xfrm>
        </p:spPr>
        <p:txBody>
          <a:bodyPr>
            <a:normAutofit/>
          </a:bodyPr>
          <a:lstStyle/>
          <a:p>
            <a:r>
              <a:rPr lang="en-US" dirty="0"/>
              <a:t>The first vaccinations occurred in 1932.</a:t>
            </a:r>
          </a:p>
          <a:p>
            <a:r>
              <a:rPr lang="en-US" dirty="0" err="1"/>
              <a:t>Immunisation</a:t>
            </a:r>
            <a:r>
              <a:rPr lang="en-US" dirty="0"/>
              <a:t> in Australia is considered to be the “most significant public health intervention in the last 200 years” –Department of Health</a:t>
            </a:r>
          </a:p>
          <a:p>
            <a:r>
              <a:rPr lang="en-US" dirty="0"/>
              <a:t>“Deaths from vaccine-preventable diseases have fallen by 99 per cent, despite a threefold increase in the Australian population.”- Department of Health</a:t>
            </a:r>
            <a:endParaRPr lang="en-AU" dirty="0"/>
          </a:p>
        </p:txBody>
      </p:sp>
    </p:spTree>
    <p:extLst>
      <p:ext uri="{BB962C8B-B14F-4D97-AF65-F5344CB8AC3E}">
        <p14:creationId xmlns:p14="http://schemas.microsoft.com/office/powerpoint/2010/main" val="27219637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D937D5-E2FF-4DEE-848F-7A5BEC3964E1}"/>
              </a:ext>
            </a:extLst>
          </p:cNvPr>
          <p:cNvSpPr>
            <a:spLocks noGrp="1"/>
          </p:cNvSpPr>
          <p:nvPr>
            <p:ph type="title"/>
          </p:nvPr>
        </p:nvSpPr>
        <p:spPr/>
        <p:txBody>
          <a:bodyPr/>
          <a:lstStyle/>
          <a:p>
            <a:r>
              <a:rPr lang="en-US" dirty="0"/>
              <a:t>The National immunization program (NIP)</a:t>
            </a:r>
            <a:endParaRPr lang="en-AU" dirty="0"/>
          </a:p>
        </p:txBody>
      </p:sp>
      <p:sp>
        <p:nvSpPr>
          <p:cNvPr id="3" name="Content Placeholder 2">
            <a:extLst>
              <a:ext uri="{FF2B5EF4-FFF2-40B4-BE49-F238E27FC236}">
                <a16:creationId xmlns:a16="http://schemas.microsoft.com/office/drawing/2014/main" id="{8DFB3689-D5BE-46A9-B789-AA9BF84996BB}"/>
              </a:ext>
            </a:extLst>
          </p:cNvPr>
          <p:cNvSpPr>
            <a:spLocks noGrp="1"/>
          </p:cNvSpPr>
          <p:nvPr>
            <p:ph idx="1"/>
          </p:nvPr>
        </p:nvSpPr>
        <p:spPr/>
        <p:txBody>
          <a:bodyPr/>
          <a:lstStyle/>
          <a:p>
            <a:r>
              <a:rPr lang="en-US" dirty="0"/>
              <a:t>“The NIP provides free vaccines against 17 diseases for eligible people.”</a:t>
            </a:r>
          </a:p>
          <a:p>
            <a:r>
              <a:rPr lang="en-US" dirty="0"/>
              <a:t>“Since July 2017, the Australian Government has provided ongoing access to free catch up vaccines equivalent to those received in early childhood for all young people up to the age of 19 years and refugees and humanitarian entrants of any age.”</a:t>
            </a:r>
          </a:p>
          <a:p>
            <a:r>
              <a:rPr lang="en-US" dirty="0"/>
              <a:t>“Families’ eligibility to receive family assistance payments, such as Family Tax Benefit and Child Care Subsidy, is linked to their child’s </a:t>
            </a:r>
            <a:r>
              <a:rPr lang="en-US" dirty="0" err="1"/>
              <a:t>immunisation</a:t>
            </a:r>
            <a:r>
              <a:rPr lang="en-US" dirty="0"/>
              <a:t> status. Only families who fully </a:t>
            </a:r>
            <a:r>
              <a:rPr lang="en-US" dirty="0" err="1"/>
              <a:t>immunise</a:t>
            </a:r>
            <a:r>
              <a:rPr lang="en-US" dirty="0"/>
              <a:t> their children, are on a </a:t>
            </a:r>
            <a:r>
              <a:rPr lang="en-US" dirty="0" err="1"/>
              <a:t>recognised</a:t>
            </a:r>
            <a:r>
              <a:rPr lang="en-US" dirty="0"/>
              <a:t> </a:t>
            </a:r>
            <a:r>
              <a:rPr lang="en-US" dirty="0" err="1"/>
              <a:t>immunisation</a:t>
            </a:r>
            <a:r>
              <a:rPr lang="en-US" dirty="0"/>
              <a:t> catch-up schedule, or have an approved medical exemption can receive those family assistance payments. Vaccination objection will no longer be a valid exemption.”</a:t>
            </a:r>
          </a:p>
          <a:p>
            <a:r>
              <a:rPr lang="en-US" dirty="0"/>
              <a:t>**Read the OPINION PIECE “No Jab, No Pay</a:t>
            </a:r>
            <a:r>
              <a:rPr lang="en-US"/>
              <a:t>” from the West Australian</a:t>
            </a:r>
            <a:endParaRPr lang="en-AU" dirty="0"/>
          </a:p>
        </p:txBody>
      </p:sp>
    </p:spTree>
    <p:extLst>
      <p:ext uri="{BB962C8B-B14F-4D97-AF65-F5344CB8AC3E}">
        <p14:creationId xmlns:p14="http://schemas.microsoft.com/office/powerpoint/2010/main" val="39941861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screenshot of a computer screen&#10;&#10;Description automatically generated">
            <a:extLst>
              <a:ext uri="{FF2B5EF4-FFF2-40B4-BE49-F238E27FC236}">
                <a16:creationId xmlns:a16="http://schemas.microsoft.com/office/drawing/2014/main" id="{56BA6EBA-858B-486E-A1BF-93F82FC1AF4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82913" y="173595"/>
            <a:ext cx="9026174" cy="6405845"/>
          </a:xfrm>
          <a:prstGeom prst="rect">
            <a:avLst/>
          </a:prstGeom>
        </p:spPr>
      </p:pic>
    </p:spTree>
    <p:extLst>
      <p:ext uri="{BB962C8B-B14F-4D97-AF65-F5344CB8AC3E}">
        <p14:creationId xmlns:p14="http://schemas.microsoft.com/office/powerpoint/2010/main" val="3605226586"/>
      </p:ext>
    </p:extLst>
  </p:cSld>
  <p:clrMapOvr>
    <a:masterClrMapping/>
  </p:clrMapOvr>
</p:sld>
</file>

<file path=ppt/slides/slide2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2FCCF-9A5B-481F-B0D0-6C88245F5073}"/>
              </a:ext>
            </a:extLst>
          </p:cNvPr>
          <p:cNvSpPr>
            <a:spLocks noGrp="1"/>
          </p:cNvSpPr>
          <p:nvPr>
            <p:ph type="title"/>
          </p:nvPr>
        </p:nvSpPr>
        <p:spPr/>
        <p:txBody>
          <a:bodyPr/>
          <a:lstStyle/>
          <a:p>
            <a:endParaRPr lang="en-AU"/>
          </a:p>
        </p:txBody>
      </p:sp>
      <p:sp>
        <p:nvSpPr>
          <p:cNvPr id="3" name="Content Placeholder 2">
            <a:extLst>
              <a:ext uri="{FF2B5EF4-FFF2-40B4-BE49-F238E27FC236}">
                <a16:creationId xmlns:a16="http://schemas.microsoft.com/office/drawing/2014/main" id="{47C78411-0B3D-4159-813F-E3CD13CCF6AD}"/>
              </a:ext>
            </a:extLst>
          </p:cNvPr>
          <p:cNvSpPr>
            <a:spLocks noGrp="1"/>
          </p:cNvSpPr>
          <p:nvPr>
            <p:ph idx="1"/>
          </p:nvPr>
        </p:nvSpPr>
        <p:spPr/>
        <p:txBody>
          <a:bodyPr/>
          <a:lstStyle/>
          <a:p>
            <a:pPr marL="0" indent="0">
              <a:buNone/>
            </a:pPr>
            <a:endParaRPr lang="en-AU" dirty="0">
              <a:hlinkClick r:id="rId2"/>
            </a:endParaRPr>
          </a:p>
          <a:p>
            <a:pPr marL="0" indent="0">
              <a:buNone/>
            </a:pPr>
            <a:endParaRPr lang="en-AU" dirty="0">
              <a:hlinkClick r:id="rId2"/>
            </a:endParaRPr>
          </a:p>
          <a:p>
            <a:r>
              <a:rPr lang="en-AU" dirty="0">
                <a:hlinkClick r:id="rId2"/>
              </a:rPr>
              <a:t>https://beta.health.gov.au/health-topics/immunisation/immunisation-throughout-life/national-immunisation-program-schedule</a:t>
            </a:r>
            <a:endParaRPr lang="en-AU" dirty="0"/>
          </a:p>
          <a:p>
            <a:endParaRPr lang="en-AU" dirty="0"/>
          </a:p>
          <a:p>
            <a:r>
              <a:rPr lang="en-AU" dirty="0"/>
              <a:t>Use the above link to look at what diseases are covered with each vaccine. </a:t>
            </a:r>
          </a:p>
        </p:txBody>
      </p:sp>
    </p:spTree>
    <p:extLst>
      <p:ext uri="{BB962C8B-B14F-4D97-AF65-F5344CB8AC3E}">
        <p14:creationId xmlns:p14="http://schemas.microsoft.com/office/powerpoint/2010/main" val="2670278509"/>
      </p:ext>
    </p:extLst>
  </p:cSld>
  <p:clrMapOvr>
    <a:masterClrMapping/>
  </p:clrMapOvr>
</p:sld>
</file>

<file path=ppt/slides/slide2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CCAF45-65A3-4C33-809C-64902845F446}"/>
              </a:ext>
            </a:extLst>
          </p:cNvPr>
          <p:cNvSpPr>
            <a:spLocks noGrp="1"/>
          </p:cNvSpPr>
          <p:nvPr>
            <p:ph type="title"/>
          </p:nvPr>
        </p:nvSpPr>
        <p:spPr>
          <a:xfrm>
            <a:off x="1024127" y="585216"/>
            <a:ext cx="10784349" cy="1499616"/>
          </a:xfrm>
        </p:spPr>
        <p:txBody>
          <a:bodyPr>
            <a:normAutofit/>
          </a:bodyPr>
          <a:lstStyle/>
          <a:p>
            <a:r>
              <a:rPr lang="en-US" dirty="0"/>
              <a:t>Measles – Elimination Achieved in Australia</a:t>
            </a:r>
            <a:endParaRPr lang="en-AU" dirty="0"/>
          </a:p>
        </p:txBody>
      </p:sp>
      <p:sp>
        <p:nvSpPr>
          <p:cNvPr id="3" name="Content Placeholder 2">
            <a:extLst>
              <a:ext uri="{FF2B5EF4-FFF2-40B4-BE49-F238E27FC236}">
                <a16:creationId xmlns:a16="http://schemas.microsoft.com/office/drawing/2014/main" id="{398357FA-55C8-4DCB-8344-5E477A43B315}"/>
              </a:ext>
            </a:extLst>
          </p:cNvPr>
          <p:cNvSpPr>
            <a:spLocks noGrp="1"/>
          </p:cNvSpPr>
          <p:nvPr>
            <p:ph idx="1"/>
          </p:nvPr>
        </p:nvSpPr>
        <p:spPr/>
        <p:txBody>
          <a:bodyPr/>
          <a:lstStyle/>
          <a:p>
            <a:r>
              <a:rPr lang="en-AU" dirty="0">
                <a:hlinkClick r:id="rId2"/>
              </a:rPr>
              <a:t>http://www.health.gov.au/internet/main/publishing.nsf/Content/ohp-measles-elim-announce-2014.htm</a:t>
            </a:r>
            <a:endParaRPr lang="en-AU" dirty="0"/>
          </a:p>
          <a:p>
            <a:endParaRPr lang="en-AU" dirty="0"/>
          </a:p>
          <a:p>
            <a:r>
              <a:rPr lang="en-AU" dirty="0"/>
              <a:t>Read the above article.</a:t>
            </a:r>
          </a:p>
        </p:txBody>
      </p:sp>
    </p:spTree>
    <p:extLst>
      <p:ext uri="{BB962C8B-B14F-4D97-AF65-F5344CB8AC3E}">
        <p14:creationId xmlns:p14="http://schemas.microsoft.com/office/powerpoint/2010/main" val="4129154804"/>
      </p:ext>
    </p:extLst>
  </p:cSld>
  <p:clrMapOvr>
    <a:masterClrMapping/>
  </p:clrMapOvr>
</p:sld>
</file>

<file path=ppt/slides/slide2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3E0FCE-F6B4-4613-A9CF-64A2ABFDA0A4}"/>
              </a:ext>
            </a:extLst>
          </p:cNvPr>
          <p:cNvSpPr>
            <a:spLocks noGrp="1"/>
          </p:cNvSpPr>
          <p:nvPr>
            <p:ph type="title"/>
          </p:nvPr>
        </p:nvSpPr>
        <p:spPr>
          <a:xfrm>
            <a:off x="1024127" y="477266"/>
            <a:ext cx="9720072" cy="627634"/>
          </a:xfrm>
        </p:spPr>
        <p:txBody>
          <a:bodyPr>
            <a:normAutofit fontScale="90000"/>
          </a:bodyPr>
          <a:lstStyle/>
          <a:p>
            <a:r>
              <a:rPr lang="en-US" dirty="0"/>
              <a:t>Herd immunity</a:t>
            </a:r>
            <a:endParaRPr lang="en-AU" dirty="0"/>
          </a:p>
        </p:txBody>
      </p:sp>
      <p:sp>
        <p:nvSpPr>
          <p:cNvPr id="3" name="Content Placeholder 2">
            <a:extLst>
              <a:ext uri="{FF2B5EF4-FFF2-40B4-BE49-F238E27FC236}">
                <a16:creationId xmlns:a16="http://schemas.microsoft.com/office/drawing/2014/main" id="{D80D867C-E535-4F93-8233-17AE05B1BBA9}"/>
              </a:ext>
            </a:extLst>
          </p:cNvPr>
          <p:cNvSpPr>
            <a:spLocks noGrp="1"/>
          </p:cNvSpPr>
          <p:nvPr>
            <p:ph idx="1"/>
          </p:nvPr>
        </p:nvSpPr>
        <p:spPr>
          <a:xfrm>
            <a:off x="1024128" y="1492250"/>
            <a:ext cx="10399522" cy="4817110"/>
          </a:xfrm>
        </p:spPr>
        <p:txBody>
          <a:bodyPr>
            <a:normAutofit fontScale="92500"/>
          </a:bodyPr>
          <a:lstStyle/>
          <a:p>
            <a:r>
              <a:rPr lang="en-US" dirty="0"/>
              <a:t>The percentage of people required to be immunized to create herd immunity differs from disease to disease. </a:t>
            </a:r>
          </a:p>
          <a:p>
            <a:r>
              <a:rPr lang="en-US" dirty="0"/>
              <a:t>The method of transmission plays a role in this percentage. (blood borne viruses such as Ebola spread slower than airborne viruses such as measles)</a:t>
            </a:r>
          </a:p>
          <a:p>
            <a:pPr fontAlgn="base"/>
            <a:r>
              <a:rPr lang="en-US" dirty="0"/>
              <a:t>“We can determine how contagious a disease is by tracking its spread throughout a population. In doing so, we can attribute each disease a reproductive number denoted by the symbol Ro. The bigger the Ro the more easily the disease is spread throughout the population.</a:t>
            </a:r>
          </a:p>
          <a:p>
            <a:pPr fontAlgn="base"/>
            <a:r>
              <a:rPr lang="en-US" dirty="0"/>
              <a:t>If everyone who has a disease on average infects two people, the Ro for that disease is 2. This means the disease, relatively speaking, is not particularly contagious. However, if everyone who has a disease infects ten people on average, it would have an Ro of 10, which means it’s a much more contagious disease.</a:t>
            </a:r>
          </a:p>
          <a:p>
            <a:pPr fontAlgn="base"/>
            <a:r>
              <a:rPr lang="en-US" dirty="0"/>
              <a:t>We can use the Ro for a disease to calculate the herd immunity threshold, which is the minimum percentage of people in the population that would need to be vaccinated to ensure a disease does not persist in the population. The more contagious a disease, the higher the threshold.”</a:t>
            </a:r>
          </a:p>
          <a:p>
            <a:endParaRPr lang="en-US" dirty="0"/>
          </a:p>
          <a:p>
            <a:endParaRPr lang="en-AU" dirty="0"/>
          </a:p>
        </p:txBody>
      </p:sp>
    </p:spTree>
    <p:extLst>
      <p:ext uri="{BB962C8B-B14F-4D97-AF65-F5344CB8AC3E}">
        <p14:creationId xmlns:p14="http://schemas.microsoft.com/office/powerpoint/2010/main" val="17132252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0D74B9-C6B3-4CFB-BD5A-FB3002F6539E}"/>
              </a:ext>
            </a:extLst>
          </p:cNvPr>
          <p:cNvSpPr>
            <a:spLocks noGrp="1"/>
          </p:cNvSpPr>
          <p:nvPr>
            <p:ph type="title"/>
          </p:nvPr>
        </p:nvSpPr>
        <p:spPr>
          <a:xfrm>
            <a:off x="1087628" y="407416"/>
            <a:ext cx="9720072" cy="818134"/>
          </a:xfrm>
        </p:spPr>
        <p:txBody>
          <a:bodyPr/>
          <a:lstStyle/>
          <a:p>
            <a:r>
              <a:rPr lang="en-US" dirty="0"/>
              <a:t>Herd immunity thresholds</a:t>
            </a:r>
            <a:endParaRPr lang="en-AU" dirty="0"/>
          </a:p>
        </p:txBody>
      </p:sp>
      <p:pic>
        <p:nvPicPr>
          <p:cNvPr id="4" name="Picture 3">
            <a:extLst>
              <a:ext uri="{FF2B5EF4-FFF2-40B4-BE49-F238E27FC236}">
                <a16:creationId xmlns:a16="http://schemas.microsoft.com/office/drawing/2014/main" id="{0A4A130B-A68D-408E-8F5A-59B8BBD2C7D4}"/>
              </a:ext>
            </a:extLst>
          </p:cNvPr>
          <p:cNvPicPr>
            <a:picLocks noChangeAspect="1"/>
          </p:cNvPicPr>
          <p:nvPr/>
        </p:nvPicPr>
        <p:blipFill>
          <a:blip r:embed="rId2"/>
          <a:stretch>
            <a:fillRect/>
          </a:stretch>
        </p:blipFill>
        <p:spPr>
          <a:xfrm>
            <a:off x="1422200" y="1317496"/>
            <a:ext cx="8280600" cy="5010407"/>
          </a:xfrm>
          <a:prstGeom prst="rect">
            <a:avLst/>
          </a:prstGeom>
        </p:spPr>
      </p:pic>
    </p:spTree>
    <p:extLst>
      <p:ext uri="{BB962C8B-B14F-4D97-AF65-F5344CB8AC3E}">
        <p14:creationId xmlns:p14="http://schemas.microsoft.com/office/powerpoint/2010/main" val="22276926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3E0FCE-F6B4-4613-A9CF-64A2ABFDA0A4}"/>
              </a:ext>
            </a:extLst>
          </p:cNvPr>
          <p:cNvSpPr>
            <a:spLocks noGrp="1"/>
          </p:cNvSpPr>
          <p:nvPr>
            <p:ph type="title"/>
          </p:nvPr>
        </p:nvSpPr>
        <p:spPr>
          <a:xfrm>
            <a:off x="1030477" y="769366"/>
            <a:ext cx="9720072" cy="627634"/>
          </a:xfrm>
        </p:spPr>
        <p:txBody>
          <a:bodyPr>
            <a:normAutofit fontScale="90000"/>
          </a:bodyPr>
          <a:lstStyle/>
          <a:p>
            <a:r>
              <a:rPr lang="en-US" dirty="0"/>
              <a:t>How infectious is covid19? </a:t>
            </a:r>
            <a:br>
              <a:rPr lang="en-US" dirty="0"/>
            </a:br>
            <a:r>
              <a:rPr lang="en-US" dirty="0"/>
              <a:t>Australian department </a:t>
            </a:r>
            <a:br>
              <a:rPr lang="en-US" dirty="0"/>
            </a:br>
            <a:r>
              <a:rPr lang="en-US" dirty="0"/>
              <a:t>of Health</a:t>
            </a:r>
            <a:endParaRPr lang="en-AU" dirty="0"/>
          </a:p>
        </p:txBody>
      </p:sp>
      <p:pic>
        <p:nvPicPr>
          <p:cNvPr id="6" name="Picture 5">
            <a:extLst>
              <a:ext uri="{FF2B5EF4-FFF2-40B4-BE49-F238E27FC236}">
                <a16:creationId xmlns:a16="http://schemas.microsoft.com/office/drawing/2014/main" id="{A9D6370E-4437-4DF7-90B2-2A6A11E0AFBE}"/>
              </a:ext>
            </a:extLst>
          </p:cNvPr>
          <p:cNvPicPr>
            <a:picLocks noChangeAspect="1"/>
          </p:cNvPicPr>
          <p:nvPr/>
        </p:nvPicPr>
        <p:blipFill>
          <a:blip r:embed="rId2"/>
          <a:stretch>
            <a:fillRect/>
          </a:stretch>
        </p:blipFill>
        <p:spPr>
          <a:xfrm>
            <a:off x="428401" y="1990630"/>
            <a:ext cx="8215448" cy="4175219"/>
          </a:xfrm>
          <a:prstGeom prst="rect">
            <a:avLst/>
          </a:prstGeom>
        </p:spPr>
      </p:pic>
      <p:pic>
        <p:nvPicPr>
          <p:cNvPr id="3" name="Picture 2">
            <a:extLst>
              <a:ext uri="{FF2B5EF4-FFF2-40B4-BE49-F238E27FC236}">
                <a16:creationId xmlns:a16="http://schemas.microsoft.com/office/drawing/2014/main" id="{36AA0616-6D12-4CA1-B7FD-FC94C14BD58D}"/>
              </a:ext>
            </a:extLst>
          </p:cNvPr>
          <p:cNvPicPr>
            <a:picLocks noChangeAspect="1"/>
          </p:cNvPicPr>
          <p:nvPr/>
        </p:nvPicPr>
        <p:blipFill>
          <a:blip r:embed="rId3"/>
          <a:stretch>
            <a:fillRect/>
          </a:stretch>
        </p:blipFill>
        <p:spPr>
          <a:xfrm>
            <a:off x="8680450" y="209549"/>
            <a:ext cx="2974197" cy="2238219"/>
          </a:xfrm>
          <a:prstGeom prst="rect">
            <a:avLst/>
          </a:prstGeom>
        </p:spPr>
      </p:pic>
    </p:spTree>
    <p:extLst>
      <p:ext uri="{BB962C8B-B14F-4D97-AF65-F5344CB8AC3E}">
        <p14:creationId xmlns:p14="http://schemas.microsoft.com/office/powerpoint/2010/main" val="42873226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4AB021-EF66-4626-A2EF-011BD753F417}"/>
              </a:ext>
            </a:extLst>
          </p:cNvPr>
          <p:cNvSpPr>
            <a:spLocks noGrp="1"/>
          </p:cNvSpPr>
          <p:nvPr>
            <p:ph type="title"/>
          </p:nvPr>
        </p:nvSpPr>
        <p:spPr>
          <a:xfrm>
            <a:off x="964788" y="804333"/>
            <a:ext cx="3391900" cy="5249334"/>
          </a:xfrm>
        </p:spPr>
        <p:txBody>
          <a:bodyPr>
            <a:normAutofit/>
          </a:bodyPr>
          <a:lstStyle/>
          <a:p>
            <a:pPr algn="r"/>
            <a:r>
              <a:rPr lang="en-US" dirty="0">
                <a:solidFill>
                  <a:schemeClr val="tx1"/>
                </a:solidFill>
              </a:rPr>
              <a:t>Advantages of public immunisation programs</a:t>
            </a:r>
            <a:endParaRPr lang="en-AU" dirty="0">
              <a:solidFill>
                <a:schemeClr val="tx1"/>
              </a:solidFill>
            </a:endParaRPr>
          </a:p>
        </p:txBody>
      </p:sp>
      <p:sp>
        <p:nvSpPr>
          <p:cNvPr id="3" name="Content Placeholder 2">
            <a:extLst>
              <a:ext uri="{FF2B5EF4-FFF2-40B4-BE49-F238E27FC236}">
                <a16:creationId xmlns:a16="http://schemas.microsoft.com/office/drawing/2014/main" id="{E233951C-186C-46CD-A8C0-1F6E0CB5790E}"/>
              </a:ext>
            </a:extLst>
          </p:cNvPr>
          <p:cNvSpPr>
            <a:spLocks noGrp="1"/>
          </p:cNvSpPr>
          <p:nvPr>
            <p:ph idx="1"/>
          </p:nvPr>
        </p:nvSpPr>
        <p:spPr>
          <a:xfrm>
            <a:off x="4951048" y="804333"/>
            <a:ext cx="6306003" cy="5249334"/>
          </a:xfrm>
        </p:spPr>
        <p:txBody>
          <a:bodyPr anchor="ctr">
            <a:normAutofit/>
          </a:bodyPr>
          <a:lstStyle/>
          <a:p>
            <a:pPr>
              <a:buFont typeface="Wingdings" charset="2"/>
              <a:buChar char="v"/>
            </a:pPr>
            <a:r>
              <a:rPr lang="en-US" dirty="0"/>
              <a:t>Reduce the risk and spread of a range of diseases.</a:t>
            </a:r>
          </a:p>
          <a:p>
            <a:pPr>
              <a:buFont typeface="Wingdings" charset="2"/>
              <a:buChar char="v"/>
            </a:pPr>
            <a:r>
              <a:rPr lang="en-US" dirty="0"/>
              <a:t>Limiting the need for ongoing treatment for conditions that are vaccinated against.</a:t>
            </a:r>
          </a:p>
          <a:p>
            <a:pPr>
              <a:buFont typeface="Wingdings" charset="2"/>
              <a:buChar char="v"/>
            </a:pPr>
            <a:r>
              <a:rPr lang="en-US" dirty="0"/>
              <a:t>Reduces the pressure on the healthcare system </a:t>
            </a:r>
            <a:r>
              <a:rPr lang="en-US" dirty="0" err="1"/>
              <a:t>fpr</a:t>
            </a:r>
            <a:r>
              <a:rPr lang="en-US" dirty="0"/>
              <a:t> preventable diseases.</a:t>
            </a:r>
          </a:p>
          <a:p>
            <a:pPr>
              <a:buFont typeface="Wingdings" charset="2"/>
              <a:buChar char="v"/>
            </a:pPr>
            <a:r>
              <a:rPr lang="en-US" dirty="0"/>
              <a:t>Increased life expectancy and improved quality of life</a:t>
            </a:r>
          </a:p>
          <a:p>
            <a:pPr>
              <a:buFont typeface="Wingdings" charset="2"/>
              <a:buChar char="v"/>
            </a:pPr>
            <a:r>
              <a:rPr lang="en-US" dirty="0"/>
              <a:t>Helps protect individuals who have compromised immune systems (</a:t>
            </a:r>
            <a:r>
              <a:rPr lang="en-US" dirty="0" err="1"/>
              <a:t>ie</a:t>
            </a:r>
            <a:r>
              <a:rPr lang="en-US" dirty="0"/>
              <a:t>. Individuals going through chemo)</a:t>
            </a:r>
          </a:p>
          <a:p>
            <a:pPr marL="0" indent="0">
              <a:buNone/>
            </a:pPr>
            <a:endParaRPr lang="en-US" dirty="0"/>
          </a:p>
        </p:txBody>
      </p:sp>
    </p:spTree>
    <p:extLst>
      <p:ext uri="{BB962C8B-B14F-4D97-AF65-F5344CB8AC3E}">
        <p14:creationId xmlns:p14="http://schemas.microsoft.com/office/powerpoint/2010/main" val="25062904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B84D94-5C4C-43C3-9B11-4DB12697BDEF}"/>
              </a:ext>
            </a:extLst>
          </p:cNvPr>
          <p:cNvSpPr>
            <a:spLocks noGrp="1"/>
          </p:cNvSpPr>
          <p:nvPr>
            <p:ph type="title"/>
          </p:nvPr>
        </p:nvSpPr>
        <p:spPr>
          <a:xfrm>
            <a:off x="964788" y="804333"/>
            <a:ext cx="3391900" cy="5249334"/>
          </a:xfrm>
        </p:spPr>
        <p:txBody>
          <a:bodyPr>
            <a:normAutofit/>
          </a:bodyPr>
          <a:lstStyle/>
          <a:p>
            <a:pPr algn="r"/>
            <a:r>
              <a:rPr lang="en-US" dirty="0">
                <a:solidFill>
                  <a:schemeClr val="tx1"/>
                </a:solidFill>
              </a:rPr>
              <a:t>Disadvantages of public immunisation programs</a:t>
            </a:r>
            <a:r>
              <a:rPr lang="en-US" dirty="0">
                <a:solidFill>
                  <a:srgbClr val="FFFFFF"/>
                </a:solidFill>
              </a:rPr>
              <a:t>:</a:t>
            </a:r>
            <a:endParaRPr lang="en-AU" dirty="0">
              <a:solidFill>
                <a:srgbClr val="FFFFFF"/>
              </a:solidFill>
            </a:endParaRPr>
          </a:p>
        </p:txBody>
      </p:sp>
      <p:sp>
        <p:nvSpPr>
          <p:cNvPr id="3" name="Content Placeholder 2">
            <a:extLst>
              <a:ext uri="{FF2B5EF4-FFF2-40B4-BE49-F238E27FC236}">
                <a16:creationId xmlns:a16="http://schemas.microsoft.com/office/drawing/2014/main" id="{2428E484-64AE-424B-A486-36C1B1E5A932}"/>
              </a:ext>
            </a:extLst>
          </p:cNvPr>
          <p:cNvSpPr>
            <a:spLocks noGrp="1"/>
          </p:cNvSpPr>
          <p:nvPr>
            <p:ph idx="1"/>
          </p:nvPr>
        </p:nvSpPr>
        <p:spPr>
          <a:xfrm>
            <a:off x="4951048" y="804333"/>
            <a:ext cx="6306003" cy="5249334"/>
          </a:xfrm>
        </p:spPr>
        <p:txBody>
          <a:bodyPr anchor="ctr">
            <a:normAutofit/>
          </a:bodyPr>
          <a:lstStyle/>
          <a:p>
            <a:pPr>
              <a:buFont typeface="Wingdings" panose="05000000000000000000" pitchFamily="2" charset="2"/>
              <a:buChar char="v"/>
            </a:pPr>
            <a:r>
              <a:rPr lang="en-US" dirty="0"/>
              <a:t>Immunisations are still optional. (to some extent)</a:t>
            </a:r>
          </a:p>
          <a:p>
            <a:pPr>
              <a:buFont typeface="Wingdings" panose="05000000000000000000" pitchFamily="2" charset="2"/>
              <a:buChar char="v"/>
            </a:pPr>
            <a:r>
              <a:rPr lang="en-US" dirty="0"/>
              <a:t>Antivax movements create hubs of people who are not vaccinated (social norms) </a:t>
            </a:r>
          </a:p>
          <a:p>
            <a:pPr>
              <a:buFont typeface="Wingdings" panose="05000000000000000000" pitchFamily="2" charset="2"/>
              <a:buChar char="v"/>
            </a:pPr>
            <a:r>
              <a:rPr lang="en-US" dirty="0"/>
              <a:t>Not everyone can be immunized (immune-compromised, allergies </a:t>
            </a:r>
            <a:r>
              <a:rPr lang="en-US" dirty="0" err="1"/>
              <a:t>etc</a:t>
            </a:r>
            <a:r>
              <a:rPr lang="en-US" dirty="0"/>
              <a:t>)</a:t>
            </a:r>
          </a:p>
        </p:txBody>
      </p:sp>
    </p:spTree>
    <p:extLst>
      <p:ext uri="{BB962C8B-B14F-4D97-AF65-F5344CB8AC3E}">
        <p14:creationId xmlns:p14="http://schemas.microsoft.com/office/powerpoint/2010/main" val="2006283410"/>
      </p:ext>
    </p:extLst>
  </p:cSld>
  <p:clrMapOvr>
    <a:masterClrMapping/>
  </p:clrMapOvr>
</p:sld>
</file>

<file path=ppt/slides/slide2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A2825C-C4DF-4691-8509-8FA994191D19}"/>
              </a:ext>
            </a:extLst>
          </p:cNvPr>
          <p:cNvSpPr>
            <a:spLocks noGrp="1"/>
          </p:cNvSpPr>
          <p:nvPr>
            <p:ph type="title"/>
          </p:nvPr>
        </p:nvSpPr>
        <p:spPr/>
        <p:txBody>
          <a:bodyPr/>
          <a:lstStyle/>
          <a:p>
            <a:r>
              <a:rPr lang="en-US" dirty="0"/>
              <a:t>People who don’t get vaccinated:</a:t>
            </a:r>
            <a:endParaRPr lang="en-AU" dirty="0"/>
          </a:p>
        </p:txBody>
      </p:sp>
      <p:sp>
        <p:nvSpPr>
          <p:cNvPr id="3" name="Content Placeholder 2">
            <a:extLst>
              <a:ext uri="{FF2B5EF4-FFF2-40B4-BE49-F238E27FC236}">
                <a16:creationId xmlns:a16="http://schemas.microsoft.com/office/drawing/2014/main" id="{D20D89C8-40C8-4FD8-8BEA-AF483862F7F7}"/>
              </a:ext>
            </a:extLst>
          </p:cNvPr>
          <p:cNvSpPr>
            <a:spLocks noGrp="1"/>
          </p:cNvSpPr>
          <p:nvPr>
            <p:ph idx="1"/>
          </p:nvPr>
        </p:nvSpPr>
        <p:spPr/>
        <p:txBody>
          <a:bodyPr/>
          <a:lstStyle/>
          <a:p>
            <a:pPr>
              <a:buFont typeface="Wingdings" panose="05000000000000000000" pitchFamily="2" charset="2"/>
              <a:buChar char="v"/>
            </a:pPr>
            <a:r>
              <a:rPr lang="en-US" dirty="0"/>
              <a:t>‘Conscientious objectors’ are hesitant parents with concerns about immunisation who may decline, delay or be selective in the vaccines they accept. (these parents tend to be more affluent and educated)</a:t>
            </a:r>
          </a:p>
          <a:p>
            <a:pPr>
              <a:buFont typeface="Wingdings" panose="05000000000000000000" pitchFamily="2" charset="2"/>
              <a:buChar char="v"/>
            </a:pPr>
            <a:r>
              <a:rPr lang="en-US" dirty="0"/>
              <a:t>Parents who experience barriers to access, which may relate to social disadvantage and logistical barriers. </a:t>
            </a:r>
          </a:p>
          <a:p>
            <a:pPr>
              <a:buFont typeface="Wingdings" panose="05000000000000000000" pitchFamily="2" charset="2"/>
              <a:buChar char="v"/>
            </a:pPr>
            <a:r>
              <a:rPr lang="en-US" dirty="0"/>
              <a:t>People who are immune-compromised. (e.g. </a:t>
            </a:r>
            <a:r>
              <a:rPr lang="en-US"/>
              <a:t>during chemotherapy)</a:t>
            </a:r>
          </a:p>
          <a:p>
            <a:pPr>
              <a:buFont typeface="Wingdings" panose="05000000000000000000" pitchFamily="2" charset="2"/>
              <a:buChar char="v"/>
            </a:pPr>
            <a:endParaRPr lang="en-AU" dirty="0"/>
          </a:p>
          <a:p>
            <a:endParaRPr lang="en-AU" dirty="0"/>
          </a:p>
        </p:txBody>
      </p:sp>
    </p:spTree>
    <p:extLst>
      <p:ext uri="{BB962C8B-B14F-4D97-AF65-F5344CB8AC3E}">
        <p14:creationId xmlns:p14="http://schemas.microsoft.com/office/powerpoint/2010/main" val="395998950"/>
      </p:ext>
    </p:extLst>
  </p:cSld>
  <p:clrMapOvr>
    <a:masterClrMapping/>
  </p:clrMapOvr>
</p:sld>
</file>

<file path=ppt/slides/slide2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D12398-D8E9-4E22-84EA-6843BA9EF98E}"/>
              </a:ext>
            </a:extLst>
          </p:cNvPr>
          <p:cNvSpPr>
            <a:spLocks noGrp="1"/>
          </p:cNvSpPr>
          <p:nvPr>
            <p:ph type="title"/>
          </p:nvPr>
        </p:nvSpPr>
        <p:spPr/>
        <p:txBody>
          <a:bodyPr/>
          <a:lstStyle/>
          <a:p>
            <a:r>
              <a:rPr lang="en-US" dirty="0"/>
              <a:t>Needle-phobia</a:t>
            </a:r>
            <a:endParaRPr lang="en-AU" dirty="0"/>
          </a:p>
        </p:txBody>
      </p:sp>
      <p:sp>
        <p:nvSpPr>
          <p:cNvPr id="3" name="Content Placeholder 2">
            <a:extLst>
              <a:ext uri="{FF2B5EF4-FFF2-40B4-BE49-F238E27FC236}">
                <a16:creationId xmlns:a16="http://schemas.microsoft.com/office/drawing/2014/main" id="{C6633E4B-B606-4E1B-AD33-28075BFB3824}"/>
              </a:ext>
            </a:extLst>
          </p:cNvPr>
          <p:cNvSpPr>
            <a:spLocks noGrp="1"/>
          </p:cNvSpPr>
          <p:nvPr>
            <p:ph idx="1"/>
          </p:nvPr>
        </p:nvSpPr>
        <p:spPr>
          <a:xfrm>
            <a:off x="1024128" y="2286000"/>
            <a:ext cx="9720073" cy="1809750"/>
          </a:xfrm>
        </p:spPr>
        <p:txBody>
          <a:bodyPr>
            <a:normAutofit fontScale="92500" lnSpcReduction="10000"/>
          </a:bodyPr>
          <a:lstStyle/>
          <a:p>
            <a:r>
              <a:rPr lang="en-US" dirty="0"/>
              <a:t>The Queensland Government produced a video explaining Needle-phobia. It includes a detailed description, strategies that individuals and parents can use and educates the viewer on why it is important to overcome for the benefit of all.</a:t>
            </a:r>
          </a:p>
          <a:p>
            <a:r>
              <a:rPr lang="en-US" dirty="0"/>
              <a:t>Watch the video via the link below:</a:t>
            </a:r>
          </a:p>
          <a:p>
            <a:r>
              <a:rPr lang="en-AU" dirty="0">
                <a:hlinkClick r:id="rId2"/>
              </a:rPr>
              <a:t>https://www.qld.gov.au/health/conditions/immunisation/benefits#transcript</a:t>
            </a:r>
            <a:endParaRPr lang="en-AU" dirty="0"/>
          </a:p>
        </p:txBody>
      </p:sp>
      <p:pic>
        <p:nvPicPr>
          <p:cNvPr id="4" name="Picture 3">
            <a:extLst>
              <a:ext uri="{FF2B5EF4-FFF2-40B4-BE49-F238E27FC236}">
                <a16:creationId xmlns:a16="http://schemas.microsoft.com/office/drawing/2014/main" id="{C1A6C71C-F37C-47A3-9585-4EDF357543C4}"/>
              </a:ext>
            </a:extLst>
          </p:cNvPr>
          <p:cNvPicPr>
            <a:picLocks noChangeAspect="1"/>
          </p:cNvPicPr>
          <p:nvPr/>
        </p:nvPicPr>
        <p:blipFill>
          <a:blip r:embed="rId3"/>
          <a:stretch>
            <a:fillRect/>
          </a:stretch>
        </p:blipFill>
        <p:spPr>
          <a:xfrm>
            <a:off x="6841963" y="4095750"/>
            <a:ext cx="4429288" cy="2505635"/>
          </a:xfrm>
          <a:prstGeom prst="rect">
            <a:avLst/>
          </a:prstGeom>
        </p:spPr>
      </p:pic>
    </p:spTree>
    <p:extLst>
      <p:ext uri="{BB962C8B-B14F-4D97-AF65-F5344CB8AC3E}">
        <p14:creationId xmlns:p14="http://schemas.microsoft.com/office/powerpoint/2010/main" val="10041641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APPLICATION QUESTION:</a:t>
            </a:r>
          </a:p>
        </p:txBody>
      </p:sp>
      <p:sp>
        <p:nvSpPr>
          <p:cNvPr id="3" name="Content Placeholder 2"/>
          <p:cNvSpPr>
            <a:spLocks noGrp="1"/>
          </p:cNvSpPr>
          <p:nvPr>
            <p:ph idx="1"/>
          </p:nvPr>
        </p:nvSpPr>
        <p:spPr>
          <a:xfrm>
            <a:off x="1024128" y="2286000"/>
            <a:ext cx="10139172" cy="4023360"/>
          </a:xfrm>
        </p:spPr>
        <p:txBody>
          <a:bodyPr>
            <a:normAutofit lnSpcReduction="10000"/>
          </a:bodyPr>
          <a:lstStyle/>
          <a:p>
            <a:pPr marL="0" indent="0">
              <a:buNone/>
            </a:pPr>
            <a:r>
              <a:rPr lang="en-US" dirty="0"/>
              <a:t>Complete Q28 from the 2016 WACE exam:</a:t>
            </a:r>
          </a:p>
          <a:p>
            <a:pPr marL="0" indent="0">
              <a:buNone/>
            </a:pPr>
            <a:r>
              <a:rPr lang="en-US" dirty="0"/>
              <a:t>Extended response:</a:t>
            </a:r>
          </a:p>
          <a:p>
            <a:pPr marL="0" indent="0">
              <a:buNone/>
            </a:pPr>
            <a:r>
              <a:rPr lang="en-US" dirty="0"/>
              <a:t>Choose and health care reform you have studied in this course. </a:t>
            </a:r>
          </a:p>
          <a:p>
            <a:pPr marL="0" indent="0">
              <a:buNone/>
            </a:pPr>
            <a:r>
              <a:rPr lang="en-US" dirty="0"/>
              <a:t>Name of reform: _____________________________________________________</a:t>
            </a:r>
          </a:p>
          <a:p>
            <a:pPr marL="457200" indent="-457200">
              <a:buAutoNum type="alphaLcParenR"/>
            </a:pPr>
            <a:r>
              <a:rPr lang="en-US" dirty="0"/>
              <a:t>Describe the reform and it’s purpose (3 marks)</a:t>
            </a:r>
          </a:p>
          <a:p>
            <a:pPr marL="457200" indent="-457200">
              <a:buAutoNum type="alphaLcParenR"/>
            </a:pPr>
            <a:r>
              <a:rPr lang="en-US" dirty="0"/>
              <a:t>Outline who is eligible to participate in the reform (2 marks)</a:t>
            </a:r>
          </a:p>
          <a:p>
            <a:pPr marL="457200" indent="-457200">
              <a:buAutoNum type="alphaLcParenR"/>
            </a:pPr>
            <a:r>
              <a:rPr lang="en-US" dirty="0"/>
              <a:t>Describe the advantages and disadvantages of the reform for consumers. (10 marks)</a:t>
            </a:r>
          </a:p>
          <a:p>
            <a:pPr marL="457200" indent="-457200">
              <a:buAutoNum type="alphaLcParenR"/>
            </a:pPr>
            <a:endParaRPr lang="en-US" dirty="0"/>
          </a:p>
          <a:p>
            <a:pPr marL="0" indent="0">
              <a:buNone/>
            </a:pPr>
            <a:r>
              <a:rPr lang="en-US" dirty="0"/>
              <a:t>**Answer this question for each of the three reforms we have studied </a:t>
            </a:r>
            <a:r>
              <a:rPr lang="en-US" dirty="0">
                <a:sym typeface="Wingdings" panose="05000000000000000000" pitchFamily="2" charset="2"/>
              </a:rPr>
              <a:t></a:t>
            </a:r>
            <a:endParaRPr lang="en-US" dirty="0"/>
          </a:p>
        </p:txBody>
      </p:sp>
    </p:spTree>
    <p:extLst>
      <p:ext uri="{BB962C8B-B14F-4D97-AF65-F5344CB8AC3E}">
        <p14:creationId xmlns:p14="http://schemas.microsoft.com/office/powerpoint/2010/main" val="360903940"/>
      </p:ext>
    </p:extLst>
  </p:cSld>
  <p:clrMapOvr>
    <a:masterClrMapping/>
  </p:clrMapOvr>
</p:sld>
</file>

<file path=ppt/slides/slide2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24128" y="356616"/>
            <a:ext cx="9720072" cy="824484"/>
          </a:xfrm>
        </p:spPr>
        <p:txBody>
          <a:bodyPr/>
          <a:lstStyle/>
          <a:p>
            <a:r>
              <a:rPr lang="en-US" dirty="0"/>
              <a:t>WACE question 2016 Q28 answers</a:t>
            </a:r>
          </a:p>
        </p:txBody>
      </p:sp>
      <p:sp>
        <p:nvSpPr>
          <p:cNvPr id="3" name="Content Placeholder 2"/>
          <p:cNvSpPr>
            <a:spLocks noGrp="1"/>
          </p:cNvSpPr>
          <p:nvPr>
            <p:ph idx="1"/>
          </p:nvPr>
        </p:nvSpPr>
        <p:spPr>
          <a:xfrm>
            <a:off x="1053592" y="1274445"/>
            <a:ext cx="10139172" cy="4309110"/>
          </a:xfrm>
        </p:spPr>
        <p:txBody>
          <a:bodyPr/>
          <a:lstStyle/>
          <a:p>
            <a:pPr marL="0" indent="0">
              <a:buNone/>
            </a:pPr>
            <a:r>
              <a:rPr lang="en-US" dirty="0"/>
              <a:t>Name of reform: </a:t>
            </a:r>
            <a:r>
              <a:rPr lang="en-US" dirty="0">
                <a:solidFill>
                  <a:schemeClr val="accent2">
                    <a:lumMod val="75000"/>
                  </a:schemeClr>
                </a:solidFill>
              </a:rPr>
              <a:t>Private Health Insurance Rebate</a:t>
            </a:r>
          </a:p>
          <a:p>
            <a:pPr marL="457200" indent="-457200">
              <a:buAutoNum type="alphaLcParenR"/>
            </a:pPr>
            <a:r>
              <a:rPr lang="en-US" dirty="0"/>
              <a:t>Describe the reform and it’s purpose (3 marks)</a:t>
            </a:r>
          </a:p>
          <a:p>
            <a:pPr marL="0" indent="0">
              <a:buNone/>
            </a:pPr>
            <a:r>
              <a:rPr lang="en-US" dirty="0">
                <a:solidFill>
                  <a:schemeClr val="accent2">
                    <a:lumMod val="75000"/>
                  </a:schemeClr>
                </a:solidFill>
              </a:rPr>
              <a:t>Private Health Insurance (PHI) helps individuals pay for healthcare that is not covered by the universal public healthcare in Australia called Medicare. PHI requires individuals to pay premiums, so the insurance company can then use to assist with private healthcare costs such as dental care and ambulance/hospital care. The government provides a rebate by contributing to the payments for private healthcare insurance. The rebate in income tested.  The purpose is to encourage higher income earning individuals to use private healthcare which reduces the overall demand for the public system, allowing lower income earners to utilize the public system more effectively and ultimately, experience optimal health. </a:t>
            </a:r>
          </a:p>
        </p:txBody>
      </p:sp>
    </p:spTree>
    <p:extLst>
      <p:ext uri="{BB962C8B-B14F-4D97-AF65-F5344CB8AC3E}">
        <p14:creationId xmlns:p14="http://schemas.microsoft.com/office/powerpoint/2010/main" val="641739708"/>
      </p:ext>
    </p:extLst>
  </p:cSld>
  <p:clrMapOvr>
    <a:masterClrMapping/>
  </p:clrMapOvr>
</p:sld>
</file>

<file path=ppt/slides/slide2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24128" y="356616"/>
            <a:ext cx="9720072" cy="824484"/>
          </a:xfrm>
        </p:spPr>
        <p:txBody>
          <a:bodyPr/>
          <a:lstStyle/>
          <a:p>
            <a:r>
              <a:rPr lang="en-US" dirty="0"/>
              <a:t>WACE question 2016 Q28 answers</a:t>
            </a:r>
          </a:p>
        </p:txBody>
      </p:sp>
      <p:sp>
        <p:nvSpPr>
          <p:cNvPr id="3" name="Content Placeholder 2"/>
          <p:cNvSpPr>
            <a:spLocks noGrp="1"/>
          </p:cNvSpPr>
          <p:nvPr>
            <p:ph idx="1"/>
          </p:nvPr>
        </p:nvSpPr>
        <p:spPr>
          <a:xfrm>
            <a:off x="1053592" y="1274445"/>
            <a:ext cx="10139172" cy="4309110"/>
          </a:xfrm>
        </p:spPr>
        <p:txBody>
          <a:bodyPr>
            <a:normAutofit/>
          </a:bodyPr>
          <a:lstStyle/>
          <a:p>
            <a:pPr marL="0" indent="0">
              <a:buNone/>
            </a:pPr>
            <a:r>
              <a:rPr lang="en-US" dirty="0"/>
              <a:t>Name of reform: </a:t>
            </a:r>
            <a:r>
              <a:rPr lang="en-US" dirty="0">
                <a:solidFill>
                  <a:schemeClr val="accent2">
                    <a:lumMod val="75000"/>
                  </a:schemeClr>
                </a:solidFill>
              </a:rPr>
              <a:t>Private Health Insurance Rebate</a:t>
            </a:r>
          </a:p>
          <a:p>
            <a:pPr marL="0" indent="0">
              <a:buNone/>
            </a:pPr>
            <a:r>
              <a:rPr lang="en-US" dirty="0"/>
              <a:t>b) Outline who is eligible to participate in the reform (2 marks)</a:t>
            </a:r>
          </a:p>
          <a:p>
            <a:pPr marL="0" indent="0">
              <a:buNone/>
            </a:pPr>
            <a:r>
              <a:rPr lang="en-US" dirty="0">
                <a:solidFill>
                  <a:schemeClr val="accent2">
                    <a:lumMod val="75000"/>
                  </a:schemeClr>
                </a:solidFill>
              </a:rPr>
              <a:t>All Australians are eligible to purchase PHI. High income earners are more likely to purchase PHI than low income earners as they are more likely to have excess income to spend on products and services that are not essential, yet beneficial. To be eligible for the rebate, individuals must have a complying health insurance policy with an Australian-registered health insurer and be eligible for </a:t>
            </a:r>
            <a:r>
              <a:rPr lang="en-US" dirty="0" err="1">
                <a:solidFill>
                  <a:schemeClr val="accent2">
                    <a:lumMod val="75000"/>
                  </a:schemeClr>
                </a:solidFill>
              </a:rPr>
              <a:t>medicare</a:t>
            </a:r>
            <a:r>
              <a:rPr lang="en-US" dirty="0">
                <a:solidFill>
                  <a:schemeClr val="accent2">
                    <a:lumMod val="75000"/>
                  </a:schemeClr>
                </a:solidFill>
              </a:rPr>
              <a:t>.  To be eligible for the rebate the individual must have an income less than the tier 3 income threshold. </a:t>
            </a:r>
          </a:p>
          <a:p>
            <a:pPr marL="0" indent="0">
              <a:buNone/>
            </a:pPr>
            <a:endParaRPr lang="en-US" dirty="0"/>
          </a:p>
        </p:txBody>
      </p:sp>
    </p:spTree>
    <p:extLst>
      <p:ext uri="{BB962C8B-B14F-4D97-AF65-F5344CB8AC3E}">
        <p14:creationId xmlns:p14="http://schemas.microsoft.com/office/powerpoint/2010/main" val="920144744"/>
      </p:ext>
    </p:extLst>
  </p:cSld>
  <p:clrMapOvr>
    <a:masterClrMapping/>
  </p:clrMapOvr>
</p:sld>
</file>

<file path=ppt/slides/slide2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B8A7CDF-662B-4C0B-B1A2-3EA4A13657DE}"/>
              </a:ext>
            </a:extLst>
          </p:cNvPr>
          <p:cNvPicPr>
            <a:picLocks noChangeAspect="1"/>
          </p:cNvPicPr>
          <p:nvPr/>
        </p:nvPicPr>
        <p:blipFill>
          <a:blip r:embed="rId2"/>
          <a:stretch>
            <a:fillRect/>
          </a:stretch>
        </p:blipFill>
        <p:spPr>
          <a:xfrm>
            <a:off x="1657010" y="483451"/>
            <a:ext cx="5728040" cy="5891097"/>
          </a:xfrm>
          <a:prstGeom prst="rect">
            <a:avLst/>
          </a:prstGeom>
        </p:spPr>
      </p:pic>
      <p:sp>
        <p:nvSpPr>
          <p:cNvPr id="5" name="TextBox 4">
            <a:extLst>
              <a:ext uri="{FF2B5EF4-FFF2-40B4-BE49-F238E27FC236}">
                <a16:creationId xmlns:a16="http://schemas.microsoft.com/office/drawing/2014/main" id="{11F69EED-72A8-4218-B41E-C0809F15E5E3}"/>
              </a:ext>
            </a:extLst>
          </p:cNvPr>
          <p:cNvSpPr txBox="1"/>
          <p:nvPr/>
        </p:nvSpPr>
        <p:spPr>
          <a:xfrm>
            <a:off x="8890000" y="869950"/>
            <a:ext cx="1816100" cy="369332"/>
          </a:xfrm>
          <a:prstGeom prst="rect">
            <a:avLst/>
          </a:prstGeom>
          <a:noFill/>
        </p:spPr>
        <p:txBody>
          <a:bodyPr wrap="square" rtlCol="0">
            <a:spAutoFit/>
          </a:bodyPr>
          <a:lstStyle/>
          <a:p>
            <a:r>
              <a:rPr lang="en-US" dirty="0"/>
              <a:t>FYI </a:t>
            </a:r>
            <a:r>
              <a:rPr lang="en-US" dirty="0">
                <a:sym typeface="Wingdings" panose="05000000000000000000" pitchFamily="2" charset="2"/>
              </a:rPr>
              <a:t></a:t>
            </a:r>
            <a:endParaRPr lang="en-AU" dirty="0"/>
          </a:p>
        </p:txBody>
      </p:sp>
    </p:spTree>
    <p:extLst>
      <p:ext uri="{BB962C8B-B14F-4D97-AF65-F5344CB8AC3E}">
        <p14:creationId xmlns:p14="http://schemas.microsoft.com/office/powerpoint/2010/main" val="2877138751"/>
      </p:ext>
    </p:extLst>
  </p:cSld>
  <p:clrMapOvr>
    <a:masterClrMapping/>
  </p:clrMapOvr>
</p:sld>
</file>

<file path=ppt/slides/slide2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24128" y="356616"/>
            <a:ext cx="9720072" cy="824484"/>
          </a:xfrm>
        </p:spPr>
        <p:txBody>
          <a:bodyPr/>
          <a:lstStyle/>
          <a:p>
            <a:r>
              <a:rPr lang="en-US" dirty="0"/>
              <a:t>WACE question 2016 Q28 answers</a:t>
            </a:r>
          </a:p>
        </p:txBody>
      </p:sp>
      <p:sp>
        <p:nvSpPr>
          <p:cNvPr id="3" name="Content Placeholder 2"/>
          <p:cNvSpPr>
            <a:spLocks noGrp="1"/>
          </p:cNvSpPr>
          <p:nvPr>
            <p:ph idx="1"/>
          </p:nvPr>
        </p:nvSpPr>
        <p:spPr>
          <a:xfrm>
            <a:off x="1053592" y="1274445"/>
            <a:ext cx="10139172" cy="4309110"/>
          </a:xfrm>
        </p:spPr>
        <p:txBody>
          <a:bodyPr>
            <a:normAutofit fontScale="85000" lnSpcReduction="20000"/>
          </a:bodyPr>
          <a:lstStyle/>
          <a:p>
            <a:pPr marL="0" indent="0">
              <a:buNone/>
            </a:pPr>
            <a:r>
              <a:rPr lang="en-US" dirty="0"/>
              <a:t>Name of reform: </a:t>
            </a:r>
            <a:r>
              <a:rPr lang="en-US" dirty="0">
                <a:solidFill>
                  <a:schemeClr val="accent2">
                    <a:lumMod val="75000"/>
                  </a:schemeClr>
                </a:solidFill>
              </a:rPr>
              <a:t>Private Health Insurance Rebate</a:t>
            </a:r>
          </a:p>
          <a:p>
            <a:pPr marL="0" indent="0">
              <a:buNone/>
            </a:pPr>
            <a:r>
              <a:rPr lang="en-US" dirty="0"/>
              <a:t>c) Describe the advantages and disadvantages of the reform for consumers. (10 marks)</a:t>
            </a:r>
          </a:p>
          <a:p>
            <a:pPr marL="0" indent="0">
              <a:buNone/>
            </a:pPr>
            <a:r>
              <a:rPr lang="en-US" dirty="0"/>
              <a:t>ADVANTAGES:</a:t>
            </a:r>
          </a:p>
          <a:p>
            <a:pPr>
              <a:buFont typeface="Wingdings" panose="05000000000000000000" pitchFamily="2" charset="2"/>
              <a:buChar char="ü"/>
            </a:pPr>
            <a:r>
              <a:rPr lang="en-US" dirty="0">
                <a:solidFill>
                  <a:schemeClr val="tx2"/>
                </a:solidFill>
              </a:rPr>
              <a:t> reduces the burden on the public health system so low-income earners have increased access to healthcare as they require it. </a:t>
            </a:r>
          </a:p>
          <a:p>
            <a:pPr>
              <a:buFont typeface="Wingdings" panose="05000000000000000000" pitchFamily="2" charset="2"/>
              <a:buChar char="ü"/>
            </a:pPr>
            <a:r>
              <a:rPr lang="en-US" dirty="0">
                <a:solidFill>
                  <a:schemeClr val="tx2"/>
                </a:solidFill>
              </a:rPr>
              <a:t> the rebate provides financial incentive for individuals who can afford PHI to purchase it by reducing tax</a:t>
            </a:r>
          </a:p>
          <a:p>
            <a:pPr>
              <a:buFont typeface="Wingdings" panose="05000000000000000000" pitchFamily="2" charset="2"/>
              <a:buChar char="ü"/>
            </a:pPr>
            <a:r>
              <a:rPr lang="en-US" dirty="0">
                <a:solidFill>
                  <a:schemeClr val="tx2"/>
                </a:solidFill>
              </a:rPr>
              <a:t>Reduced waiting times for some </a:t>
            </a:r>
            <a:r>
              <a:rPr lang="en-US" dirty="0" err="1">
                <a:solidFill>
                  <a:schemeClr val="tx2"/>
                </a:solidFill>
              </a:rPr>
              <a:t>healthcares</a:t>
            </a:r>
            <a:r>
              <a:rPr lang="en-US" dirty="0">
                <a:solidFill>
                  <a:schemeClr val="tx2"/>
                </a:solidFill>
              </a:rPr>
              <a:t> services for individuals who have PHI</a:t>
            </a:r>
          </a:p>
          <a:p>
            <a:pPr>
              <a:buFont typeface="Wingdings" panose="05000000000000000000" pitchFamily="2" charset="2"/>
              <a:buChar char="ü"/>
            </a:pPr>
            <a:r>
              <a:rPr lang="en-US" dirty="0">
                <a:solidFill>
                  <a:schemeClr val="tx2"/>
                </a:solidFill>
              </a:rPr>
              <a:t>Individuals who have PHI have more choice in which healthcare services they use and which healthcare professionals they see. </a:t>
            </a:r>
          </a:p>
          <a:p>
            <a:pPr>
              <a:buFont typeface="Wingdings" panose="05000000000000000000" pitchFamily="2" charset="2"/>
              <a:buChar char="ü"/>
            </a:pPr>
            <a:r>
              <a:rPr lang="en-US" dirty="0">
                <a:solidFill>
                  <a:schemeClr val="tx2"/>
                </a:solidFill>
              </a:rPr>
              <a:t>Individuals with PHI have access to healthcare that is not covered by Medicare. For example, dental, physio, optical and ambulance use can be covered. </a:t>
            </a:r>
          </a:p>
          <a:p>
            <a:pPr>
              <a:buFont typeface="Wingdings" panose="05000000000000000000" pitchFamily="2" charset="2"/>
              <a:buChar char="ü"/>
            </a:pPr>
            <a:r>
              <a:rPr lang="en-US" dirty="0">
                <a:solidFill>
                  <a:schemeClr val="tx2"/>
                </a:solidFill>
              </a:rPr>
              <a:t>Individuals who pay for PHI avoid the </a:t>
            </a:r>
            <a:r>
              <a:rPr lang="en-US" dirty="0" err="1">
                <a:solidFill>
                  <a:schemeClr val="tx2"/>
                </a:solidFill>
              </a:rPr>
              <a:t>medicare</a:t>
            </a:r>
            <a:r>
              <a:rPr lang="en-US" dirty="0">
                <a:solidFill>
                  <a:schemeClr val="tx2"/>
                </a:solidFill>
              </a:rPr>
              <a:t> levy surcharge. </a:t>
            </a:r>
          </a:p>
          <a:p>
            <a:pPr>
              <a:buFont typeface="Wingdings" panose="05000000000000000000" pitchFamily="2" charset="2"/>
              <a:buChar char="ü"/>
            </a:pPr>
            <a:endParaRPr lang="en-US" dirty="0"/>
          </a:p>
        </p:txBody>
      </p:sp>
    </p:spTree>
    <p:extLst>
      <p:ext uri="{BB962C8B-B14F-4D97-AF65-F5344CB8AC3E}">
        <p14:creationId xmlns:p14="http://schemas.microsoft.com/office/powerpoint/2010/main" val="4648297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24128" y="356616"/>
            <a:ext cx="9720072" cy="824484"/>
          </a:xfrm>
        </p:spPr>
        <p:txBody>
          <a:bodyPr/>
          <a:lstStyle/>
          <a:p>
            <a:r>
              <a:rPr lang="en-US" dirty="0"/>
              <a:t>WACE question 2016 Q28 answers</a:t>
            </a:r>
          </a:p>
        </p:txBody>
      </p:sp>
      <p:sp>
        <p:nvSpPr>
          <p:cNvPr id="3" name="Content Placeholder 2"/>
          <p:cNvSpPr>
            <a:spLocks noGrp="1"/>
          </p:cNvSpPr>
          <p:nvPr>
            <p:ph idx="1"/>
          </p:nvPr>
        </p:nvSpPr>
        <p:spPr>
          <a:xfrm>
            <a:off x="1053592" y="1274445"/>
            <a:ext cx="10139172" cy="4309110"/>
          </a:xfrm>
        </p:spPr>
        <p:txBody>
          <a:bodyPr>
            <a:normAutofit fontScale="92500" lnSpcReduction="10000"/>
          </a:bodyPr>
          <a:lstStyle/>
          <a:p>
            <a:pPr marL="0" indent="0">
              <a:buNone/>
            </a:pPr>
            <a:r>
              <a:rPr lang="en-US" dirty="0"/>
              <a:t>Name of reform: </a:t>
            </a:r>
            <a:r>
              <a:rPr lang="en-US" dirty="0">
                <a:solidFill>
                  <a:schemeClr val="accent2">
                    <a:lumMod val="75000"/>
                  </a:schemeClr>
                </a:solidFill>
              </a:rPr>
              <a:t>Private Health Insurance Rebate</a:t>
            </a:r>
          </a:p>
          <a:p>
            <a:pPr marL="0" indent="0">
              <a:buNone/>
            </a:pPr>
            <a:r>
              <a:rPr lang="en-US" dirty="0"/>
              <a:t>c) Describe the advantages and disadvantages of the reform for consumers. (10 marks)</a:t>
            </a:r>
          </a:p>
          <a:p>
            <a:pPr marL="0" indent="0">
              <a:buNone/>
            </a:pPr>
            <a:r>
              <a:rPr lang="en-US" dirty="0"/>
              <a:t>DISADVANTAGES:</a:t>
            </a:r>
          </a:p>
          <a:p>
            <a:pPr>
              <a:buFont typeface="Wingdings" panose="05000000000000000000" pitchFamily="2" charset="2"/>
              <a:buChar char="ü"/>
            </a:pPr>
            <a:r>
              <a:rPr lang="en-US" dirty="0">
                <a:solidFill>
                  <a:schemeClr val="tx2"/>
                </a:solidFill>
              </a:rPr>
              <a:t>It may widen the gap between higher income and lower income earners, as higher income earners gain access to increased healthcare services. (creates health inequity)</a:t>
            </a:r>
          </a:p>
          <a:p>
            <a:pPr>
              <a:buFont typeface="Wingdings" panose="05000000000000000000" pitchFamily="2" charset="2"/>
              <a:buChar char="ü"/>
            </a:pPr>
            <a:r>
              <a:rPr lang="en-US" dirty="0">
                <a:solidFill>
                  <a:schemeClr val="tx2"/>
                </a:solidFill>
              </a:rPr>
              <a:t>It is an extra financial cost outlay. Weekly, fortnightly or monthly payments may be expensive. </a:t>
            </a:r>
          </a:p>
          <a:p>
            <a:pPr>
              <a:buFont typeface="Wingdings" panose="05000000000000000000" pitchFamily="2" charset="2"/>
              <a:buChar char="ü"/>
            </a:pPr>
            <a:r>
              <a:rPr lang="en-US" dirty="0">
                <a:solidFill>
                  <a:schemeClr val="tx2"/>
                </a:solidFill>
              </a:rPr>
              <a:t>Not all health services are covered, or services may be covered in part, meaning there is still a financial cost for treatments. </a:t>
            </a:r>
          </a:p>
          <a:p>
            <a:pPr>
              <a:buFont typeface="Wingdings" panose="05000000000000000000" pitchFamily="2" charset="2"/>
              <a:buChar char="ü"/>
            </a:pPr>
            <a:r>
              <a:rPr lang="en-US" dirty="0">
                <a:solidFill>
                  <a:schemeClr val="tx2"/>
                </a:solidFill>
              </a:rPr>
              <a:t>The process for understanding PHI and the rebate is complex and can be difficult to comprehend. This may reduce access for individuals who have low health literacy levels. </a:t>
            </a:r>
          </a:p>
          <a:p>
            <a:pPr>
              <a:buFont typeface="Wingdings" panose="05000000000000000000" pitchFamily="2" charset="2"/>
              <a:buChar char="ü"/>
            </a:pPr>
            <a:r>
              <a:rPr lang="en-US" dirty="0">
                <a:solidFill>
                  <a:schemeClr val="tx2"/>
                </a:solidFill>
              </a:rPr>
              <a:t>Individuals may not see the benefit of purchasing private health insurance. (their financial outlay may not reflect the benefits if they are not using health services enough)</a:t>
            </a:r>
          </a:p>
          <a:p>
            <a:pPr>
              <a:buFont typeface="Wingdings" panose="05000000000000000000" pitchFamily="2" charset="2"/>
              <a:buChar char="ü"/>
            </a:pPr>
            <a:endParaRPr lang="en-US" dirty="0"/>
          </a:p>
          <a:p>
            <a:pPr>
              <a:buFont typeface="Wingdings" panose="05000000000000000000" pitchFamily="2" charset="2"/>
              <a:buChar char="ü"/>
            </a:pPr>
            <a:endParaRPr lang="en-US" dirty="0"/>
          </a:p>
          <a:p>
            <a:pPr>
              <a:buFont typeface="Wingdings" panose="05000000000000000000" pitchFamily="2" charset="2"/>
              <a:buChar char="ü"/>
            </a:pPr>
            <a:endParaRPr lang="en-US" dirty="0"/>
          </a:p>
        </p:txBody>
      </p:sp>
    </p:spTree>
    <p:extLst>
      <p:ext uri="{BB962C8B-B14F-4D97-AF65-F5344CB8AC3E}">
        <p14:creationId xmlns:p14="http://schemas.microsoft.com/office/powerpoint/2010/main" val="27328395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24128" y="356616"/>
            <a:ext cx="9720072" cy="824484"/>
          </a:xfrm>
        </p:spPr>
        <p:txBody>
          <a:bodyPr/>
          <a:lstStyle/>
          <a:p>
            <a:r>
              <a:rPr lang="en-US" dirty="0"/>
              <a:t>WACE question 2016 Q28 answers</a:t>
            </a:r>
          </a:p>
        </p:txBody>
      </p:sp>
      <p:sp>
        <p:nvSpPr>
          <p:cNvPr id="3" name="Content Placeholder 2"/>
          <p:cNvSpPr>
            <a:spLocks noGrp="1"/>
          </p:cNvSpPr>
          <p:nvPr>
            <p:ph idx="1"/>
          </p:nvPr>
        </p:nvSpPr>
        <p:spPr>
          <a:xfrm>
            <a:off x="1053592" y="1274445"/>
            <a:ext cx="10139172" cy="4309110"/>
          </a:xfrm>
        </p:spPr>
        <p:txBody>
          <a:bodyPr/>
          <a:lstStyle/>
          <a:p>
            <a:pPr marL="0" indent="0">
              <a:buNone/>
            </a:pPr>
            <a:r>
              <a:rPr lang="en-US" dirty="0"/>
              <a:t>Name of reform: </a:t>
            </a:r>
            <a:r>
              <a:rPr lang="en-US" dirty="0">
                <a:solidFill>
                  <a:schemeClr val="accent2">
                    <a:lumMod val="75000"/>
                  </a:schemeClr>
                </a:solidFill>
              </a:rPr>
              <a:t>Pharmaceutical Benefits Scheme (PBS)</a:t>
            </a:r>
          </a:p>
          <a:p>
            <a:pPr marL="457200" indent="-457200">
              <a:buAutoNum type="alphaLcParenR"/>
            </a:pPr>
            <a:r>
              <a:rPr lang="en-US" dirty="0"/>
              <a:t>Describe the reform and it’s purpose (3 marks)</a:t>
            </a:r>
          </a:p>
          <a:p>
            <a:r>
              <a:rPr lang="en-US" dirty="0"/>
              <a:t>The PBS provides timely, reliable and affordable access to necessary medicines for Australians. The government subsidizes the cost of a range of medicines to ensure all Australians can access the medications they require.  The purpose is to ensure all Australians have access to medications when they need them to both optimize health outcomes and meet economic objectives. </a:t>
            </a:r>
          </a:p>
          <a:p>
            <a:pPr marL="0" indent="0">
              <a:buNone/>
            </a:pPr>
            <a:endParaRPr lang="en-US" dirty="0"/>
          </a:p>
        </p:txBody>
      </p:sp>
    </p:spTree>
    <p:extLst>
      <p:ext uri="{BB962C8B-B14F-4D97-AF65-F5344CB8AC3E}">
        <p14:creationId xmlns:p14="http://schemas.microsoft.com/office/powerpoint/2010/main" val="36230623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24128" y="356616"/>
            <a:ext cx="9720072" cy="824484"/>
          </a:xfrm>
        </p:spPr>
        <p:txBody>
          <a:bodyPr/>
          <a:lstStyle/>
          <a:p>
            <a:r>
              <a:rPr lang="en-US" dirty="0"/>
              <a:t>WACE question 2016 Q28 answers</a:t>
            </a:r>
          </a:p>
        </p:txBody>
      </p:sp>
      <p:sp>
        <p:nvSpPr>
          <p:cNvPr id="3" name="Content Placeholder 2"/>
          <p:cNvSpPr>
            <a:spLocks noGrp="1"/>
          </p:cNvSpPr>
          <p:nvPr>
            <p:ph idx="1"/>
          </p:nvPr>
        </p:nvSpPr>
        <p:spPr>
          <a:xfrm>
            <a:off x="1053592" y="1274445"/>
            <a:ext cx="10139172" cy="4309110"/>
          </a:xfrm>
        </p:spPr>
        <p:txBody>
          <a:bodyPr>
            <a:normAutofit/>
          </a:bodyPr>
          <a:lstStyle/>
          <a:p>
            <a:pPr marL="0" indent="0">
              <a:buNone/>
            </a:pPr>
            <a:r>
              <a:rPr lang="en-US" dirty="0"/>
              <a:t>Name of reform: </a:t>
            </a:r>
            <a:r>
              <a:rPr lang="en-US" dirty="0">
                <a:solidFill>
                  <a:schemeClr val="accent2">
                    <a:lumMod val="75000"/>
                  </a:schemeClr>
                </a:solidFill>
              </a:rPr>
              <a:t>Pharmaceutical Benefits Scheme (PBS)</a:t>
            </a:r>
          </a:p>
          <a:p>
            <a:pPr marL="0" indent="0">
              <a:buNone/>
            </a:pPr>
            <a:r>
              <a:rPr lang="en-US" dirty="0"/>
              <a:t>b) Outline who is eligible to participate in the reform (2 marks)</a:t>
            </a:r>
          </a:p>
          <a:p>
            <a:pPr marL="0" indent="0">
              <a:buNone/>
            </a:pPr>
            <a:r>
              <a:rPr lang="en-US" dirty="0">
                <a:solidFill>
                  <a:schemeClr val="tx2"/>
                </a:solidFill>
              </a:rPr>
              <a:t>All Australians who hold a Medicare card are entitled to benefits under the PBS. Some people can receive further benefits (concession card holders) over the general PBS. (non card holders). Individuals who are visiting Australia from selected countries with reciprocal agreements (United Kingdom, Ireland, New Zealand, Malta, Italy, Sweden, the Netherlands, Finland, Norway, Belgium and Slovenia.)</a:t>
            </a:r>
          </a:p>
          <a:p>
            <a:pPr marL="0" indent="0">
              <a:buNone/>
            </a:pPr>
            <a:r>
              <a:rPr lang="en-US" dirty="0">
                <a:solidFill>
                  <a:schemeClr val="tx2"/>
                </a:solidFill>
              </a:rPr>
              <a:t>Individuals who have concession cards are eligible for further reductions in the cost of medicines through the PBS.</a:t>
            </a:r>
          </a:p>
          <a:p>
            <a:pPr marL="0" indent="0">
              <a:buNone/>
            </a:pPr>
            <a:endParaRPr lang="en-US" dirty="0"/>
          </a:p>
          <a:p>
            <a:pPr marL="0" indent="0">
              <a:buNone/>
            </a:pPr>
            <a:endParaRPr lang="en-US" dirty="0"/>
          </a:p>
        </p:txBody>
      </p:sp>
    </p:spTree>
    <p:extLst>
      <p:ext uri="{BB962C8B-B14F-4D97-AF65-F5344CB8AC3E}">
        <p14:creationId xmlns:p14="http://schemas.microsoft.com/office/powerpoint/2010/main" val="15520999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24128" y="356616"/>
            <a:ext cx="9720072" cy="824484"/>
          </a:xfrm>
        </p:spPr>
        <p:txBody>
          <a:bodyPr/>
          <a:lstStyle/>
          <a:p>
            <a:r>
              <a:rPr lang="en-US" dirty="0"/>
              <a:t>WACE question 2016 Q28 answers</a:t>
            </a:r>
          </a:p>
        </p:txBody>
      </p:sp>
      <p:sp>
        <p:nvSpPr>
          <p:cNvPr id="3" name="Content Placeholder 2"/>
          <p:cNvSpPr>
            <a:spLocks noGrp="1"/>
          </p:cNvSpPr>
          <p:nvPr>
            <p:ph idx="1"/>
          </p:nvPr>
        </p:nvSpPr>
        <p:spPr>
          <a:xfrm>
            <a:off x="1053592" y="1274444"/>
            <a:ext cx="10139172" cy="5139055"/>
          </a:xfrm>
        </p:spPr>
        <p:txBody>
          <a:bodyPr>
            <a:normAutofit lnSpcReduction="10000"/>
          </a:bodyPr>
          <a:lstStyle/>
          <a:p>
            <a:pPr marL="0" indent="0">
              <a:buNone/>
            </a:pPr>
            <a:r>
              <a:rPr lang="en-US" sz="2400" dirty="0"/>
              <a:t>Name of reform: </a:t>
            </a:r>
            <a:r>
              <a:rPr lang="en-US" sz="2400" dirty="0">
                <a:solidFill>
                  <a:schemeClr val="accent2">
                    <a:lumMod val="75000"/>
                  </a:schemeClr>
                </a:solidFill>
              </a:rPr>
              <a:t>Pharmaceutical Benefits Scheme (PBS)</a:t>
            </a:r>
          </a:p>
          <a:p>
            <a:pPr marL="0" indent="0">
              <a:buNone/>
            </a:pPr>
            <a:r>
              <a:rPr lang="en-US" sz="2400" dirty="0"/>
              <a:t>c) Describe the advantages and disadvantages of the reform for consumers. (10 marks)</a:t>
            </a:r>
          </a:p>
          <a:p>
            <a:pPr marL="0" indent="0">
              <a:buNone/>
            </a:pPr>
            <a:r>
              <a:rPr lang="en-US" sz="2400" dirty="0"/>
              <a:t>ADVANTAGES:</a:t>
            </a:r>
          </a:p>
          <a:p>
            <a:pPr>
              <a:buFont typeface="Wingdings" panose="05000000000000000000" pitchFamily="2" charset="2"/>
              <a:buChar char="ü"/>
            </a:pPr>
            <a:r>
              <a:rPr lang="en-US" sz="2400" dirty="0"/>
              <a:t> It reduces the cost for medications for majority of the population.</a:t>
            </a:r>
          </a:p>
          <a:p>
            <a:pPr>
              <a:buFont typeface="Wingdings" panose="05000000000000000000" pitchFamily="2" charset="2"/>
              <a:buChar char="ü"/>
            </a:pPr>
            <a:r>
              <a:rPr lang="en-US" sz="2400" dirty="0"/>
              <a:t>It covers a wide range of medications that are commonly used by Australians</a:t>
            </a:r>
          </a:p>
          <a:p>
            <a:pPr>
              <a:buClr>
                <a:schemeClr val="accent1"/>
              </a:buClr>
              <a:buFont typeface="Wingdings" panose="05000000000000000000" pitchFamily="2" charset="2"/>
              <a:buChar char="ü"/>
            </a:pPr>
            <a:r>
              <a:rPr lang="en-US" sz="2400" dirty="0"/>
              <a:t>Access to necessary medicines can reduce incidence of </a:t>
            </a:r>
            <a:r>
              <a:rPr lang="en-US" sz="2400" dirty="0" err="1"/>
              <a:t>hospitalisation</a:t>
            </a:r>
            <a:r>
              <a:rPr lang="en-US" sz="2400" dirty="0"/>
              <a:t> and associated costs, therefore placing less burden on health care resources </a:t>
            </a:r>
          </a:p>
          <a:p>
            <a:pPr>
              <a:buClr>
                <a:schemeClr val="accent1"/>
              </a:buClr>
              <a:buFont typeface="Wingdings" panose="05000000000000000000" pitchFamily="2" charset="2"/>
              <a:buChar char="ü"/>
            </a:pPr>
            <a:r>
              <a:rPr lang="en-US" sz="2400" dirty="0"/>
              <a:t>Governments can bargain more effectively on behalf of consumers to ensure that newly patented medications are made available at more </a:t>
            </a:r>
            <a:r>
              <a:rPr lang="en-US" sz="2400" dirty="0" err="1"/>
              <a:t>favourable</a:t>
            </a:r>
            <a:r>
              <a:rPr lang="en-US" sz="2400" dirty="0"/>
              <a:t> prices </a:t>
            </a:r>
          </a:p>
          <a:p>
            <a:pPr>
              <a:buClr>
                <a:schemeClr val="accent1"/>
              </a:buClr>
              <a:buFont typeface="Wingdings" panose="05000000000000000000" pitchFamily="2" charset="2"/>
              <a:buChar char="ü"/>
            </a:pPr>
            <a:r>
              <a:rPr lang="en-US" sz="2400" dirty="0"/>
              <a:t>Data from PBS medications provides data for governments with respect to types of medications, quantity, dose and strength being dispensed </a:t>
            </a:r>
            <a:endParaRPr lang="en-AU" sz="2400" dirty="0"/>
          </a:p>
          <a:p>
            <a:pPr>
              <a:buFont typeface="Wingdings" panose="05000000000000000000" pitchFamily="2" charset="2"/>
              <a:buChar char="ü"/>
            </a:pPr>
            <a:endParaRPr lang="en-US" dirty="0"/>
          </a:p>
          <a:p>
            <a:pPr>
              <a:buFont typeface="Wingdings" panose="05000000000000000000" pitchFamily="2" charset="2"/>
              <a:buChar char="ü"/>
            </a:pPr>
            <a:endParaRPr lang="en-US" dirty="0"/>
          </a:p>
          <a:p>
            <a:pPr>
              <a:buFont typeface="Wingdings" panose="05000000000000000000" pitchFamily="2" charset="2"/>
              <a:buChar char="ü"/>
            </a:pPr>
            <a:endParaRPr lang="en-US" dirty="0"/>
          </a:p>
        </p:txBody>
      </p:sp>
    </p:spTree>
    <p:extLst>
      <p:ext uri="{BB962C8B-B14F-4D97-AF65-F5344CB8AC3E}">
        <p14:creationId xmlns:p14="http://schemas.microsoft.com/office/powerpoint/2010/main" val="2041005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24128" y="356616"/>
            <a:ext cx="9720072" cy="824484"/>
          </a:xfrm>
        </p:spPr>
        <p:txBody>
          <a:bodyPr/>
          <a:lstStyle/>
          <a:p>
            <a:r>
              <a:rPr lang="en-US" dirty="0"/>
              <a:t>WACE question 2016 Q28 answers</a:t>
            </a:r>
          </a:p>
        </p:txBody>
      </p:sp>
      <p:sp>
        <p:nvSpPr>
          <p:cNvPr id="3" name="Content Placeholder 2"/>
          <p:cNvSpPr>
            <a:spLocks noGrp="1"/>
          </p:cNvSpPr>
          <p:nvPr>
            <p:ph idx="1"/>
          </p:nvPr>
        </p:nvSpPr>
        <p:spPr>
          <a:xfrm>
            <a:off x="1053592" y="1274444"/>
            <a:ext cx="10139172" cy="5120005"/>
          </a:xfrm>
        </p:spPr>
        <p:txBody>
          <a:bodyPr>
            <a:normAutofit fontScale="92500" lnSpcReduction="10000"/>
          </a:bodyPr>
          <a:lstStyle/>
          <a:p>
            <a:pPr marL="0" indent="0">
              <a:buNone/>
            </a:pPr>
            <a:r>
              <a:rPr lang="en-US" dirty="0"/>
              <a:t>Name of reform: </a:t>
            </a:r>
            <a:r>
              <a:rPr lang="en-US" dirty="0">
                <a:solidFill>
                  <a:schemeClr val="accent2">
                    <a:lumMod val="75000"/>
                  </a:schemeClr>
                </a:solidFill>
              </a:rPr>
              <a:t>Pharmaceutical Benefits Scheme (PBS)</a:t>
            </a:r>
          </a:p>
          <a:p>
            <a:pPr marL="0" indent="0">
              <a:buNone/>
            </a:pPr>
            <a:r>
              <a:rPr lang="en-US" sz="2400" dirty="0"/>
              <a:t>c) Describe the advantages and disadvantages of the reform for consumers. (10 marks)</a:t>
            </a:r>
          </a:p>
          <a:p>
            <a:pPr marL="0" indent="0">
              <a:buNone/>
            </a:pPr>
            <a:r>
              <a:rPr lang="en-US" sz="2400" dirty="0"/>
              <a:t>DISADVANTAGES:</a:t>
            </a:r>
          </a:p>
          <a:p>
            <a:pPr>
              <a:buFont typeface="Wingdings" panose="05000000000000000000" pitchFamily="2" charset="2"/>
              <a:buChar char="ü"/>
            </a:pPr>
            <a:r>
              <a:rPr lang="en-US" sz="2400" dirty="0"/>
              <a:t> Not all medications are available through the PBS. If an individual's medication is not covered they will have higher costs to treat/manage their condition.</a:t>
            </a:r>
          </a:p>
          <a:p>
            <a:pPr>
              <a:buFont typeface="Wingdings" panose="05000000000000000000" pitchFamily="2" charset="2"/>
              <a:buChar char="ü"/>
            </a:pPr>
            <a:r>
              <a:rPr lang="en-US" sz="2400" dirty="0"/>
              <a:t>Growth of the list of medications covered by the PBS places increased pressure on the health system (financial pressure)</a:t>
            </a:r>
          </a:p>
          <a:p>
            <a:pPr>
              <a:buFont typeface="Wingdings" panose="05000000000000000000" pitchFamily="2" charset="2"/>
              <a:buChar char="ü"/>
            </a:pPr>
            <a:r>
              <a:rPr lang="en-US" sz="2400" dirty="0"/>
              <a:t>It is difficult to remove medications from the PBS as this often results in complaints from people who rely on those medications.</a:t>
            </a:r>
          </a:p>
          <a:p>
            <a:pPr>
              <a:buFont typeface="Wingdings" panose="05000000000000000000" pitchFamily="2" charset="2"/>
              <a:buChar char="ü"/>
            </a:pPr>
            <a:r>
              <a:rPr lang="en-US" sz="2400" dirty="0"/>
              <a:t>Ageing populations may place pressure on governments to provide more medications as part of the scheme, thereby increasing government expenditure and creating dependency model </a:t>
            </a:r>
          </a:p>
          <a:p>
            <a:pPr>
              <a:buFont typeface="Wingdings" panose="05000000000000000000" pitchFamily="2" charset="2"/>
              <a:buChar char="ü"/>
            </a:pPr>
            <a:r>
              <a:rPr lang="en-US" sz="2400" dirty="0"/>
              <a:t>Chronic conditions often require medication over a long period of time which is costly for governments </a:t>
            </a:r>
          </a:p>
          <a:p>
            <a:pPr>
              <a:buFont typeface="Wingdings" panose="05000000000000000000" pitchFamily="2" charset="2"/>
              <a:buChar char="ü"/>
            </a:pPr>
            <a:endParaRPr lang="en-US" dirty="0"/>
          </a:p>
          <a:p>
            <a:pPr>
              <a:buFont typeface="Wingdings" panose="05000000000000000000" pitchFamily="2" charset="2"/>
              <a:buChar char="ü"/>
            </a:pPr>
            <a:endParaRPr lang="en-US" dirty="0"/>
          </a:p>
        </p:txBody>
      </p:sp>
    </p:spTree>
    <p:extLst>
      <p:ext uri="{BB962C8B-B14F-4D97-AF65-F5344CB8AC3E}">
        <p14:creationId xmlns:p14="http://schemas.microsoft.com/office/powerpoint/2010/main" val="14676884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24128" y="356616"/>
            <a:ext cx="9720072" cy="824484"/>
          </a:xfrm>
        </p:spPr>
        <p:txBody>
          <a:bodyPr/>
          <a:lstStyle/>
          <a:p>
            <a:r>
              <a:rPr lang="en-US" dirty="0"/>
              <a:t>WACE question 2016 Q28 answers</a:t>
            </a:r>
          </a:p>
        </p:txBody>
      </p:sp>
      <p:sp>
        <p:nvSpPr>
          <p:cNvPr id="3" name="Content Placeholder 2"/>
          <p:cNvSpPr>
            <a:spLocks noGrp="1"/>
          </p:cNvSpPr>
          <p:nvPr>
            <p:ph idx="1"/>
          </p:nvPr>
        </p:nvSpPr>
        <p:spPr>
          <a:xfrm>
            <a:off x="1053592" y="1274445"/>
            <a:ext cx="10139172" cy="4309110"/>
          </a:xfrm>
        </p:spPr>
        <p:txBody>
          <a:bodyPr/>
          <a:lstStyle/>
          <a:p>
            <a:pPr marL="0" indent="0">
              <a:buNone/>
            </a:pPr>
            <a:r>
              <a:rPr lang="en-US" dirty="0"/>
              <a:t>Name of reform: </a:t>
            </a:r>
            <a:r>
              <a:rPr lang="en-US" dirty="0">
                <a:solidFill>
                  <a:schemeClr val="accent2">
                    <a:lumMod val="75000"/>
                  </a:schemeClr>
                </a:solidFill>
              </a:rPr>
              <a:t>Screening/Vaccination Programs</a:t>
            </a:r>
          </a:p>
          <a:p>
            <a:pPr marL="457200" indent="-457200">
              <a:buAutoNum type="alphaLcParenR"/>
            </a:pPr>
            <a:r>
              <a:rPr lang="en-US" dirty="0"/>
              <a:t>Describe the reform and it’s purpose (3 marks)</a:t>
            </a:r>
          </a:p>
          <a:p>
            <a:pPr marL="0" indent="0">
              <a:buNone/>
            </a:pPr>
            <a:r>
              <a:rPr lang="en-US" dirty="0">
                <a:solidFill>
                  <a:schemeClr val="accent2"/>
                </a:solidFill>
              </a:rPr>
              <a:t>The Australian Government funds a range of public screening and vaccination programs. These include screening processes such as breast cancer, bowel cancer and cervical cancer and all vaccines included on the National Immunisation </a:t>
            </a:r>
            <a:r>
              <a:rPr lang="en-US" dirty="0" err="1">
                <a:solidFill>
                  <a:schemeClr val="accent2"/>
                </a:solidFill>
              </a:rPr>
              <a:t>Programme</a:t>
            </a:r>
            <a:r>
              <a:rPr lang="en-US" dirty="0">
                <a:solidFill>
                  <a:schemeClr val="accent2"/>
                </a:solidFill>
              </a:rPr>
              <a:t> (NIP). These programs are designed to protect all Australians from a range of preventable diseases (immunisations) and to detect early symptoms of a range of diseases that are relatively easy to treat (screening). These programs are free and their overall purpose is to improve the health of Australian citizens. </a:t>
            </a:r>
          </a:p>
        </p:txBody>
      </p:sp>
    </p:spTree>
    <p:extLst>
      <p:ext uri="{BB962C8B-B14F-4D97-AF65-F5344CB8AC3E}">
        <p14:creationId xmlns:p14="http://schemas.microsoft.com/office/powerpoint/2010/main" val="42424302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24128" y="356616"/>
            <a:ext cx="9720072" cy="824484"/>
          </a:xfrm>
        </p:spPr>
        <p:txBody>
          <a:bodyPr/>
          <a:lstStyle/>
          <a:p>
            <a:r>
              <a:rPr lang="en-US" dirty="0"/>
              <a:t>WACE question 2016 Q28 answers</a:t>
            </a:r>
          </a:p>
        </p:txBody>
      </p:sp>
      <p:sp>
        <p:nvSpPr>
          <p:cNvPr id="3" name="Content Placeholder 2"/>
          <p:cNvSpPr>
            <a:spLocks noGrp="1"/>
          </p:cNvSpPr>
          <p:nvPr>
            <p:ph idx="1"/>
          </p:nvPr>
        </p:nvSpPr>
        <p:spPr>
          <a:xfrm>
            <a:off x="1053592" y="1274445"/>
            <a:ext cx="10139172" cy="4309110"/>
          </a:xfrm>
        </p:spPr>
        <p:txBody>
          <a:bodyPr>
            <a:normAutofit/>
          </a:bodyPr>
          <a:lstStyle/>
          <a:p>
            <a:pPr marL="0" indent="0">
              <a:buNone/>
            </a:pPr>
            <a:r>
              <a:rPr lang="en-US" dirty="0"/>
              <a:t>Name of reform: </a:t>
            </a:r>
            <a:r>
              <a:rPr lang="en-US" dirty="0">
                <a:solidFill>
                  <a:schemeClr val="accent2">
                    <a:lumMod val="75000"/>
                  </a:schemeClr>
                </a:solidFill>
              </a:rPr>
              <a:t>Public screening/vaccination programs</a:t>
            </a:r>
          </a:p>
          <a:p>
            <a:pPr marL="0" indent="0">
              <a:buNone/>
            </a:pPr>
            <a:r>
              <a:rPr lang="en-US" dirty="0"/>
              <a:t>b) Outline who is eligible to participate in the reform (2 marks)</a:t>
            </a:r>
          </a:p>
          <a:p>
            <a:pPr marL="0" indent="0">
              <a:buNone/>
            </a:pPr>
            <a:r>
              <a:rPr lang="en-US" dirty="0">
                <a:solidFill>
                  <a:schemeClr val="accent2"/>
                </a:solidFill>
              </a:rPr>
              <a:t>Australian citizens who hold a </a:t>
            </a:r>
            <a:r>
              <a:rPr lang="en-US" dirty="0" err="1">
                <a:solidFill>
                  <a:schemeClr val="accent2"/>
                </a:solidFill>
              </a:rPr>
              <a:t>medicare</a:t>
            </a:r>
            <a:r>
              <a:rPr lang="en-US" dirty="0">
                <a:solidFill>
                  <a:schemeClr val="accent2"/>
                </a:solidFill>
              </a:rPr>
              <a:t> card are eligible. In addition to this, the public screening programs are available to people groups who are classified as “high risk” for particular diseases. E.g. Breast cancer screens are free for women every 2 years from ages 50-74. The NIP provides vaccines to individuals at a range of ages free of charge. Additional vaccines are available to priority population groups when they require them (</a:t>
            </a:r>
            <a:r>
              <a:rPr lang="en-US" dirty="0" err="1">
                <a:solidFill>
                  <a:schemeClr val="accent2"/>
                </a:solidFill>
              </a:rPr>
              <a:t>ie</a:t>
            </a:r>
            <a:r>
              <a:rPr lang="en-US" dirty="0">
                <a:solidFill>
                  <a:schemeClr val="accent2"/>
                </a:solidFill>
              </a:rPr>
              <a:t> pregnant women)</a:t>
            </a:r>
          </a:p>
          <a:p>
            <a:pPr marL="0" indent="0">
              <a:buNone/>
            </a:pPr>
            <a:endParaRPr lang="en-US" dirty="0"/>
          </a:p>
          <a:p>
            <a:pPr marL="0" indent="0">
              <a:buNone/>
            </a:pPr>
            <a:endParaRPr lang="en-US" dirty="0"/>
          </a:p>
          <a:p>
            <a:pPr marL="0" indent="0">
              <a:buNone/>
            </a:pPr>
            <a:endParaRPr lang="en-US" dirty="0"/>
          </a:p>
        </p:txBody>
      </p:sp>
    </p:spTree>
    <p:extLst>
      <p:ext uri="{BB962C8B-B14F-4D97-AF65-F5344CB8AC3E}">
        <p14:creationId xmlns:p14="http://schemas.microsoft.com/office/powerpoint/2010/main" val="22712110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24128" y="356616"/>
            <a:ext cx="9720072" cy="824484"/>
          </a:xfrm>
        </p:spPr>
        <p:txBody>
          <a:bodyPr/>
          <a:lstStyle/>
          <a:p>
            <a:r>
              <a:rPr lang="en-US" dirty="0"/>
              <a:t>WACE question 2016 Q28 answers</a:t>
            </a:r>
          </a:p>
        </p:txBody>
      </p:sp>
      <p:sp>
        <p:nvSpPr>
          <p:cNvPr id="3" name="Content Placeholder 2"/>
          <p:cNvSpPr>
            <a:spLocks noGrp="1"/>
          </p:cNvSpPr>
          <p:nvPr>
            <p:ph idx="1"/>
          </p:nvPr>
        </p:nvSpPr>
        <p:spPr>
          <a:xfrm>
            <a:off x="1053592" y="1274445"/>
            <a:ext cx="10139172" cy="4309110"/>
          </a:xfrm>
        </p:spPr>
        <p:txBody>
          <a:bodyPr>
            <a:normAutofit/>
          </a:bodyPr>
          <a:lstStyle/>
          <a:p>
            <a:pPr marL="0" indent="0">
              <a:buNone/>
            </a:pPr>
            <a:r>
              <a:rPr lang="en-US" dirty="0"/>
              <a:t>Name of reform: </a:t>
            </a:r>
            <a:r>
              <a:rPr lang="en-US" dirty="0">
                <a:solidFill>
                  <a:schemeClr val="accent2"/>
                </a:solidFill>
              </a:rPr>
              <a:t>Public Screening/Vaccination Programs</a:t>
            </a:r>
          </a:p>
          <a:p>
            <a:pPr marL="0" indent="0">
              <a:buNone/>
            </a:pPr>
            <a:r>
              <a:rPr lang="en-US" dirty="0"/>
              <a:t>c) Describe the advantages and disadvantages of the reform for consumers. (10 marks)</a:t>
            </a:r>
          </a:p>
          <a:p>
            <a:pPr marL="0" indent="0">
              <a:buNone/>
            </a:pPr>
            <a:r>
              <a:rPr lang="en-US" dirty="0"/>
              <a:t>ADVANTAGES:</a:t>
            </a:r>
          </a:p>
          <a:p>
            <a:pPr>
              <a:buFont typeface="Wingdings" panose="05000000000000000000" pitchFamily="2" charset="2"/>
              <a:buChar char="ü"/>
            </a:pPr>
            <a:r>
              <a:rPr lang="en-US" dirty="0">
                <a:solidFill>
                  <a:schemeClr val="tx2"/>
                </a:solidFill>
              </a:rPr>
              <a:t> Reduce the risk and spread of a range of diseases.</a:t>
            </a:r>
          </a:p>
          <a:p>
            <a:pPr>
              <a:buFont typeface="Wingdings" panose="05000000000000000000" pitchFamily="2" charset="2"/>
              <a:buChar char="ü"/>
            </a:pPr>
            <a:r>
              <a:rPr lang="en-US" dirty="0">
                <a:solidFill>
                  <a:schemeClr val="tx2"/>
                </a:solidFill>
              </a:rPr>
              <a:t>Limiting the need for ongoing treatment for conditions that are vaccinated against.</a:t>
            </a:r>
          </a:p>
          <a:p>
            <a:pPr>
              <a:buFont typeface="Wingdings" panose="05000000000000000000" pitchFamily="2" charset="2"/>
              <a:buChar char="ü"/>
            </a:pPr>
            <a:r>
              <a:rPr lang="en-US" dirty="0">
                <a:solidFill>
                  <a:schemeClr val="tx2"/>
                </a:solidFill>
              </a:rPr>
              <a:t>Reduces the pressure on the healthcare system </a:t>
            </a:r>
            <a:r>
              <a:rPr lang="en-US" dirty="0" err="1">
                <a:solidFill>
                  <a:schemeClr val="tx2"/>
                </a:solidFill>
              </a:rPr>
              <a:t>fpr</a:t>
            </a:r>
            <a:r>
              <a:rPr lang="en-US" dirty="0">
                <a:solidFill>
                  <a:schemeClr val="tx2"/>
                </a:solidFill>
              </a:rPr>
              <a:t> preventable diseases.</a:t>
            </a:r>
          </a:p>
          <a:p>
            <a:pPr>
              <a:buFont typeface="Wingdings" panose="05000000000000000000" pitchFamily="2" charset="2"/>
              <a:buChar char="ü"/>
            </a:pPr>
            <a:r>
              <a:rPr lang="en-US" dirty="0">
                <a:solidFill>
                  <a:schemeClr val="tx2"/>
                </a:solidFill>
              </a:rPr>
              <a:t>Increased life expectancy and improved quality of life</a:t>
            </a:r>
          </a:p>
          <a:p>
            <a:pPr>
              <a:buFont typeface="Wingdings" panose="05000000000000000000" pitchFamily="2" charset="2"/>
              <a:buChar char="ü"/>
            </a:pPr>
            <a:r>
              <a:rPr lang="en-US" dirty="0">
                <a:solidFill>
                  <a:schemeClr val="tx2"/>
                </a:solidFill>
              </a:rPr>
              <a:t>Helps protect individuals who have compromised immune systems</a:t>
            </a:r>
          </a:p>
          <a:p>
            <a:pPr>
              <a:buFont typeface="Wingdings" panose="05000000000000000000" pitchFamily="2" charset="2"/>
              <a:buChar char="ü"/>
            </a:pPr>
            <a:endParaRPr lang="en-US" dirty="0"/>
          </a:p>
          <a:p>
            <a:pPr>
              <a:buFont typeface="Wingdings" panose="05000000000000000000" pitchFamily="2" charset="2"/>
              <a:buChar char="ü"/>
            </a:pPr>
            <a:endParaRPr lang="en-US" dirty="0"/>
          </a:p>
          <a:p>
            <a:pPr>
              <a:buFont typeface="Wingdings" panose="05000000000000000000" pitchFamily="2" charset="2"/>
              <a:buChar char="ü"/>
            </a:pPr>
            <a:endParaRPr lang="en-US" dirty="0"/>
          </a:p>
        </p:txBody>
      </p:sp>
    </p:spTree>
    <p:extLst>
      <p:ext uri="{BB962C8B-B14F-4D97-AF65-F5344CB8AC3E}">
        <p14:creationId xmlns:p14="http://schemas.microsoft.com/office/powerpoint/2010/main" val="14111374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24128" y="356616"/>
            <a:ext cx="9720072" cy="824484"/>
          </a:xfrm>
        </p:spPr>
        <p:txBody>
          <a:bodyPr/>
          <a:lstStyle/>
          <a:p>
            <a:r>
              <a:rPr lang="en-US" dirty="0"/>
              <a:t>WACE question 2016 Q28 answers</a:t>
            </a:r>
          </a:p>
        </p:txBody>
      </p:sp>
      <p:sp>
        <p:nvSpPr>
          <p:cNvPr id="3" name="Content Placeholder 2"/>
          <p:cNvSpPr>
            <a:spLocks noGrp="1"/>
          </p:cNvSpPr>
          <p:nvPr>
            <p:ph idx="1"/>
          </p:nvPr>
        </p:nvSpPr>
        <p:spPr>
          <a:xfrm>
            <a:off x="1053592" y="1274445"/>
            <a:ext cx="10139172" cy="4309110"/>
          </a:xfrm>
        </p:spPr>
        <p:txBody>
          <a:bodyPr>
            <a:normAutofit/>
          </a:bodyPr>
          <a:lstStyle/>
          <a:p>
            <a:pPr marL="0" indent="0">
              <a:buNone/>
            </a:pPr>
            <a:r>
              <a:rPr lang="en-US" dirty="0"/>
              <a:t>Name of reform: </a:t>
            </a:r>
            <a:r>
              <a:rPr lang="en-US" dirty="0">
                <a:solidFill>
                  <a:schemeClr val="accent2"/>
                </a:solidFill>
              </a:rPr>
              <a:t>Public Screening/Vaccination Programs</a:t>
            </a:r>
          </a:p>
          <a:p>
            <a:pPr marL="0" indent="0">
              <a:buNone/>
            </a:pPr>
            <a:r>
              <a:rPr lang="en-US" dirty="0"/>
              <a:t>c) Describe the advantages and disadvantages of the reform for consumers. (10 marks)</a:t>
            </a:r>
          </a:p>
          <a:p>
            <a:pPr marL="0" indent="0">
              <a:buNone/>
            </a:pPr>
            <a:r>
              <a:rPr lang="en-US" dirty="0"/>
              <a:t>DISADVANTAGES:</a:t>
            </a:r>
          </a:p>
          <a:p>
            <a:pPr>
              <a:buFont typeface="Wingdings" panose="05000000000000000000" pitchFamily="2" charset="2"/>
              <a:buChar char="ü"/>
            </a:pPr>
            <a:r>
              <a:rPr lang="en-US" dirty="0">
                <a:solidFill>
                  <a:schemeClr val="tx2"/>
                </a:solidFill>
              </a:rPr>
              <a:t>Immunisations/screening practices are still optional.</a:t>
            </a:r>
          </a:p>
          <a:p>
            <a:pPr>
              <a:buFont typeface="Wingdings" panose="05000000000000000000" pitchFamily="2" charset="2"/>
              <a:buChar char="ü"/>
            </a:pPr>
            <a:r>
              <a:rPr lang="en-US" dirty="0">
                <a:solidFill>
                  <a:schemeClr val="tx2"/>
                </a:solidFill>
              </a:rPr>
              <a:t>Antivax movements create hubs of people who are not vaccinated (social norms) </a:t>
            </a:r>
          </a:p>
          <a:p>
            <a:pPr>
              <a:buFont typeface="Wingdings" panose="05000000000000000000" pitchFamily="2" charset="2"/>
              <a:buChar char="ü"/>
            </a:pPr>
            <a:r>
              <a:rPr lang="en-US" dirty="0">
                <a:solidFill>
                  <a:schemeClr val="tx2"/>
                </a:solidFill>
              </a:rPr>
              <a:t>Not everyone can be immunized (immune-compromised, allergies </a:t>
            </a:r>
            <a:r>
              <a:rPr lang="en-US" dirty="0" err="1">
                <a:solidFill>
                  <a:schemeClr val="tx2"/>
                </a:solidFill>
              </a:rPr>
              <a:t>etc</a:t>
            </a:r>
            <a:r>
              <a:rPr lang="en-US" dirty="0">
                <a:solidFill>
                  <a:schemeClr val="tx2"/>
                </a:solidFill>
              </a:rPr>
              <a:t>)</a:t>
            </a:r>
          </a:p>
          <a:p>
            <a:pPr>
              <a:buFont typeface="Wingdings" panose="05000000000000000000" pitchFamily="2" charset="2"/>
              <a:buChar char="ü"/>
            </a:pPr>
            <a:r>
              <a:rPr lang="en-US" dirty="0">
                <a:solidFill>
                  <a:schemeClr val="tx2"/>
                </a:solidFill>
              </a:rPr>
              <a:t>Not always free (sometimes there is a cost)</a:t>
            </a:r>
          </a:p>
          <a:p>
            <a:pPr>
              <a:buFont typeface="Wingdings" panose="05000000000000000000" pitchFamily="2" charset="2"/>
              <a:buChar char="ü"/>
            </a:pPr>
            <a:r>
              <a:rPr lang="en-US" dirty="0">
                <a:solidFill>
                  <a:schemeClr val="tx2"/>
                </a:solidFill>
              </a:rPr>
              <a:t>Reduced access for some population groups (</a:t>
            </a:r>
            <a:r>
              <a:rPr lang="en-US" dirty="0" err="1">
                <a:solidFill>
                  <a:schemeClr val="tx2"/>
                </a:solidFill>
              </a:rPr>
              <a:t>ie</a:t>
            </a:r>
            <a:r>
              <a:rPr lang="en-US" dirty="0">
                <a:solidFill>
                  <a:schemeClr val="tx2"/>
                </a:solidFill>
              </a:rPr>
              <a:t>. Rural and remote)</a:t>
            </a:r>
          </a:p>
          <a:p>
            <a:pPr>
              <a:buFont typeface="Wingdings" panose="05000000000000000000" pitchFamily="2" charset="2"/>
              <a:buChar char="ü"/>
            </a:pPr>
            <a:r>
              <a:rPr lang="en-US" dirty="0">
                <a:solidFill>
                  <a:schemeClr val="tx2"/>
                </a:solidFill>
              </a:rPr>
              <a:t>Motivated for screening can be low in a healthy population</a:t>
            </a:r>
          </a:p>
          <a:p>
            <a:pPr>
              <a:buFont typeface="Wingdings" panose="05000000000000000000" pitchFamily="2" charset="2"/>
              <a:buChar char="ü"/>
            </a:pPr>
            <a:endParaRPr lang="en-US" dirty="0"/>
          </a:p>
          <a:p>
            <a:pPr>
              <a:buFont typeface="Wingdings" panose="05000000000000000000" pitchFamily="2" charset="2"/>
              <a:buChar char="ü"/>
            </a:pPr>
            <a:endParaRPr lang="en-US" dirty="0"/>
          </a:p>
          <a:p>
            <a:pPr>
              <a:buFont typeface="Wingdings" panose="05000000000000000000" pitchFamily="2" charset="2"/>
              <a:buChar char="ü"/>
            </a:pPr>
            <a:endParaRPr lang="en-US" dirty="0"/>
          </a:p>
        </p:txBody>
      </p:sp>
    </p:spTree>
    <p:extLst>
      <p:ext uri="{BB962C8B-B14F-4D97-AF65-F5344CB8AC3E}">
        <p14:creationId xmlns:p14="http://schemas.microsoft.com/office/powerpoint/2010/main" val="16818794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resources</a:t>
            </a:r>
          </a:p>
        </p:txBody>
      </p:sp>
      <p:sp>
        <p:nvSpPr>
          <p:cNvPr id="3" name="Content Placeholder 2"/>
          <p:cNvSpPr>
            <a:spLocks noGrp="1"/>
          </p:cNvSpPr>
          <p:nvPr>
            <p:ph idx="1"/>
          </p:nvPr>
        </p:nvSpPr>
        <p:spPr/>
        <p:txBody>
          <a:bodyPr/>
          <a:lstStyle/>
          <a:p>
            <a:r>
              <a:rPr lang="en-US" dirty="0"/>
              <a:t>Lockhart, E. (2011). </a:t>
            </a:r>
            <a:r>
              <a:rPr lang="en-US" i="1" dirty="0"/>
              <a:t>Health Studies Stage 3A-b. </a:t>
            </a:r>
            <a:r>
              <a:rPr lang="en-US" dirty="0" err="1"/>
              <a:t>Madeley</a:t>
            </a:r>
            <a:r>
              <a:rPr lang="en-US" dirty="0"/>
              <a:t>: Print Publishing.</a:t>
            </a:r>
          </a:p>
          <a:p>
            <a:r>
              <a:rPr lang="en-US" dirty="0"/>
              <a:t>The Department of Health: </a:t>
            </a:r>
            <a:r>
              <a:rPr lang="en-AU" dirty="0">
                <a:hlinkClick r:id="rId2"/>
              </a:rPr>
              <a:t>http://www.health.gov.au/internet/main/publishing.nsf/Content/Home</a:t>
            </a:r>
            <a:endParaRPr lang="en-AU" dirty="0"/>
          </a:p>
          <a:p>
            <a:r>
              <a:rPr lang="en-US" dirty="0"/>
              <a:t>-The National </a:t>
            </a:r>
            <a:r>
              <a:rPr lang="en-US" dirty="0" err="1"/>
              <a:t>Immunisation</a:t>
            </a:r>
            <a:r>
              <a:rPr lang="en-US" dirty="0"/>
              <a:t> Program Schedule</a:t>
            </a:r>
          </a:p>
          <a:p>
            <a:r>
              <a:rPr lang="en-US" dirty="0"/>
              <a:t>-The Pharmaceutical Benefits Scheme-Department </a:t>
            </a:r>
          </a:p>
          <a:p>
            <a:pPr marL="0" indent="0">
              <a:buNone/>
            </a:pPr>
            <a:endParaRPr lang="en-US" dirty="0"/>
          </a:p>
        </p:txBody>
      </p:sp>
    </p:spTree>
    <p:extLst>
      <p:ext uri="{BB962C8B-B14F-4D97-AF65-F5344CB8AC3E}">
        <p14:creationId xmlns:p14="http://schemas.microsoft.com/office/powerpoint/2010/main" val="4210033533"/>
      </p:ext>
    </p:extLst>
  </p:cSld>
  <p:clrMapOvr>
    <a:masterClrMapping/>
  </p:clrMapOvr>
</p:sld>
</file>

<file path=ppt/slides/slide2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72715" y="4960137"/>
            <a:ext cx="8101263" cy="1463040"/>
          </a:xfrm>
        </p:spPr>
        <p:txBody>
          <a:bodyPr>
            <a:normAutofit/>
          </a:bodyPr>
          <a:lstStyle/>
          <a:p>
            <a:r>
              <a:rPr lang="en-US" dirty="0"/>
              <a:t>PABCAR public health decision</a:t>
            </a:r>
            <a:br>
              <a:rPr lang="en-US" dirty="0"/>
            </a:br>
            <a:r>
              <a:rPr lang="en-US" dirty="0"/>
              <a:t> making model</a:t>
            </a:r>
          </a:p>
        </p:txBody>
      </p:sp>
      <p:sp>
        <p:nvSpPr>
          <p:cNvPr id="3" name="Subtitle 2"/>
          <p:cNvSpPr>
            <a:spLocks noGrp="1"/>
          </p:cNvSpPr>
          <p:nvPr>
            <p:ph type="subTitle" idx="1"/>
          </p:nvPr>
        </p:nvSpPr>
        <p:spPr/>
        <p:txBody>
          <a:bodyPr>
            <a:normAutofit/>
          </a:bodyPr>
          <a:lstStyle/>
          <a:p>
            <a:r>
              <a:rPr lang="en-US" sz="2200" dirty="0"/>
              <a:t>Term 2</a:t>
            </a:r>
          </a:p>
          <a:p>
            <a:r>
              <a:rPr lang="en-US" sz="2200" dirty="0"/>
              <a:t>Week 4</a:t>
            </a:r>
          </a:p>
        </p:txBody>
      </p:sp>
    </p:spTree>
    <p:extLst>
      <p:ext uri="{BB962C8B-B14F-4D97-AF65-F5344CB8AC3E}">
        <p14:creationId xmlns:p14="http://schemas.microsoft.com/office/powerpoint/2010/main" val="342352018"/>
      </p:ext>
    </p:extLst>
  </p:cSld>
  <p:clrMapOvr>
    <a:masterClrMapping/>
  </p:clrMapOvr>
</p:sld>
</file>

<file path=ppt/slides/slide25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9E4C68A-A4A9-48A4-9FF2-D2896B1EA01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E2B9AEA5-52CB-49A6-AF8A-33502F291B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654296"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964788" y="804333"/>
            <a:ext cx="3302412" cy="5249334"/>
          </a:xfrm>
        </p:spPr>
        <p:txBody>
          <a:bodyPr>
            <a:normAutofit/>
          </a:bodyPr>
          <a:lstStyle/>
          <a:p>
            <a:pPr algn="r"/>
            <a:r>
              <a:rPr lang="en-US">
                <a:solidFill>
                  <a:srgbClr val="FFFFFF"/>
                </a:solidFill>
              </a:rPr>
              <a:t>Syllabus content</a:t>
            </a:r>
          </a:p>
        </p:txBody>
      </p:sp>
      <p:sp>
        <p:nvSpPr>
          <p:cNvPr id="3" name="Content Placeholder 2"/>
          <p:cNvSpPr>
            <a:spLocks noGrp="1"/>
          </p:cNvSpPr>
          <p:nvPr>
            <p:ph idx="1"/>
          </p:nvPr>
        </p:nvSpPr>
        <p:spPr>
          <a:xfrm>
            <a:off x="5109882" y="804333"/>
            <a:ext cx="6910668" cy="5249334"/>
          </a:xfrm>
        </p:spPr>
        <p:txBody>
          <a:bodyPr anchor="ctr">
            <a:normAutofit/>
          </a:bodyPr>
          <a:lstStyle/>
          <a:p>
            <a:pPr lvl="0">
              <a:buFont typeface="Wingdings" charset="2"/>
              <a:buChar char="v"/>
            </a:pPr>
            <a:r>
              <a:rPr lang="en-AU" dirty="0"/>
              <a:t> Steps in the PABCAR public health decision-making model</a:t>
            </a:r>
            <a:endParaRPr lang="en-GB" dirty="0"/>
          </a:p>
          <a:p>
            <a:pPr lvl="0">
              <a:buFont typeface="Arial" charset="0"/>
              <a:buChar char="•"/>
            </a:pPr>
            <a:r>
              <a:rPr lang="en-AU" dirty="0"/>
              <a:t> Identification of the problem</a:t>
            </a:r>
            <a:endParaRPr lang="en-GB" dirty="0"/>
          </a:p>
          <a:p>
            <a:pPr lvl="0">
              <a:buFont typeface="Arial" charset="0"/>
              <a:buChar char="•"/>
            </a:pPr>
            <a:r>
              <a:rPr lang="en-AU" dirty="0"/>
              <a:t> Amenability to change</a:t>
            </a:r>
            <a:endParaRPr lang="en-GB" dirty="0"/>
          </a:p>
          <a:p>
            <a:pPr lvl="0">
              <a:buFont typeface="Arial" charset="0"/>
              <a:buChar char="•"/>
            </a:pPr>
            <a:r>
              <a:rPr lang="en-AU" dirty="0"/>
              <a:t> Benefits and costs of implementing interventions</a:t>
            </a:r>
            <a:endParaRPr lang="en-GB" dirty="0"/>
          </a:p>
          <a:p>
            <a:pPr lvl="0">
              <a:buFont typeface="Arial" charset="0"/>
              <a:buChar char="•"/>
            </a:pPr>
            <a:r>
              <a:rPr lang="en-AU" dirty="0"/>
              <a:t> Acceptability of proposed measures</a:t>
            </a:r>
            <a:endParaRPr lang="en-GB" dirty="0"/>
          </a:p>
          <a:p>
            <a:pPr lvl="0">
              <a:buFont typeface="Arial" charset="0"/>
              <a:buChar char="•"/>
            </a:pPr>
            <a:r>
              <a:rPr lang="en-AU" dirty="0"/>
              <a:t> Recommended actions and monitoring</a:t>
            </a:r>
            <a:endParaRPr lang="en-GB" dirty="0"/>
          </a:p>
          <a:p>
            <a:endParaRPr lang="en-US" dirty="0"/>
          </a:p>
        </p:txBody>
      </p:sp>
    </p:spTree>
    <p:extLst>
      <p:ext uri="{BB962C8B-B14F-4D97-AF65-F5344CB8AC3E}">
        <p14:creationId xmlns:p14="http://schemas.microsoft.com/office/powerpoint/2010/main" val="1473624596"/>
      </p:ext>
    </p:extLst>
  </p:cSld>
  <p:clrMapOvr>
    <a:masterClrMapping/>
  </p:clrMapOvr>
</p:sld>
</file>

<file path=ppt/slides/slide2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Are health interventions worth it?</a:t>
            </a:r>
          </a:p>
        </p:txBody>
      </p:sp>
      <p:sp>
        <p:nvSpPr>
          <p:cNvPr id="3" name="Content Placeholder 2"/>
          <p:cNvSpPr>
            <a:spLocks noGrp="1"/>
          </p:cNvSpPr>
          <p:nvPr>
            <p:ph idx="1"/>
          </p:nvPr>
        </p:nvSpPr>
        <p:spPr/>
        <p:txBody>
          <a:bodyPr/>
          <a:lstStyle/>
          <a:p>
            <a:pPr>
              <a:buFont typeface="Wingdings" charset="2"/>
              <a:buChar char="v"/>
            </a:pPr>
            <a:r>
              <a:rPr lang="en-US" dirty="0"/>
              <a:t>Using the PABCAR model, we can determine if a particular intervention is going to be accepted by the public or not.</a:t>
            </a:r>
          </a:p>
          <a:p>
            <a:pPr>
              <a:buFont typeface="Wingdings" charset="2"/>
              <a:buChar char="v"/>
            </a:pPr>
            <a:r>
              <a:rPr lang="en-US" dirty="0"/>
              <a:t>It examines the costs and benefits of the intervention strategy and allows for detailed documentation of the issues.</a:t>
            </a:r>
          </a:p>
          <a:p>
            <a:pPr>
              <a:buFont typeface="Wingdings" charset="2"/>
              <a:buChar char="v"/>
            </a:pPr>
            <a:r>
              <a:rPr lang="en-US" dirty="0"/>
              <a:t>It is designed to be used by health promoters/professionals</a:t>
            </a:r>
          </a:p>
        </p:txBody>
      </p:sp>
    </p:spTree>
    <p:extLst>
      <p:ext uri="{BB962C8B-B14F-4D97-AF65-F5344CB8AC3E}">
        <p14:creationId xmlns:p14="http://schemas.microsoft.com/office/powerpoint/2010/main" val="12593098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Pabcar</a:t>
            </a:r>
            <a:r>
              <a:rPr lang="en-US" dirty="0"/>
              <a:t> stands for</a:t>
            </a:r>
            <a:r>
              <a:rPr lang="mr-IN" dirty="0"/>
              <a:t>…</a:t>
            </a:r>
            <a:endParaRPr lang="en-US" dirty="0"/>
          </a:p>
        </p:txBody>
      </p:sp>
      <p:sp>
        <p:nvSpPr>
          <p:cNvPr id="3" name="Content Placeholder 2"/>
          <p:cNvSpPr>
            <a:spLocks noGrp="1"/>
          </p:cNvSpPr>
          <p:nvPr>
            <p:ph idx="1"/>
          </p:nvPr>
        </p:nvSpPr>
        <p:spPr/>
        <p:txBody>
          <a:bodyPr>
            <a:normAutofit lnSpcReduction="10000"/>
          </a:bodyPr>
          <a:lstStyle/>
          <a:p>
            <a:r>
              <a:rPr lang="en-US" sz="4000" b="1" dirty="0"/>
              <a:t>P</a:t>
            </a:r>
            <a:r>
              <a:rPr lang="en-US" sz="2800" dirty="0"/>
              <a:t>roblem</a:t>
            </a:r>
          </a:p>
          <a:p>
            <a:r>
              <a:rPr lang="en-US" sz="4000" b="1" dirty="0"/>
              <a:t>A</a:t>
            </a:r>
            <a:r>
              <a:rPr lang="en-US" sz="2800" dirty="0"/>
              <a:t>menability to change</a:t>
            </a:r>
          </a:p>
          <a:p>
            <a:r>
              <a:rPr lang="en-US" sz="4000" b="1" dirty="0"/>
              <a:t>B</a:t>
            </a:r>
            <a:r>
              <a:rPr lang="en-US" sz="2800" dirty="0"/>
              <a:t>enefits</a:t>
            </a:r>
          </a:p>
          <a:p>
            <a:r>
              <a:rPr lang="en-US" sz="4000" b="1" dirty="0"/>
              <a:t>C</a:t>
            </a:r>
            <a:r>
              <a:rPr lang="en-US" sz="2800" dirty="0"/>
              <a:t>osts</a:t>
            </a:r>
          </a:p>
          <a:p>
            <a:r>
              <a:rPr lang="en-US" sz="4000" b="1" dirty="0"/>
              <a:t>A</a:t>
            </a:r>
            <a:r>
              <a:rPr lang="en-US" sz="2800" dirty="0"/>
              <a:t>cceptability</a:t>
            </a:r>
          </a:p>
          <a:p>
            <a:r>
              <a:rPr lang="en-US" sz="4000" b="1" dirty="0"/>
              <a:t>R</a:t>
            </a:r>
            <a:r>
              <a:rPr lang="en-US" sz="2800" dirty="0"/>
              <a:t>ecommended Actions</a:t>
            </a:r>
          </a:p>
        </p:txBody>
      </p:sp>
      <p:sp>
        <p:nvSpPr>
          <p:cNvPr id="5" name="TextBox 4"/>
          <p:cNvSpPr txBox="1"/>
          <p:nvPr/>
        </p:nvSpPr>
        <p:spPr>
          <a:xfrm>
            <a:off x="7347284" y="2084832"/>
            <a:ext cx="3689684" cy="923330"/>
          </a:xfrm>
          <a:prstGeom prst="rect">
            <a:avLst/>
          </a:prstGeom>
          <a:noFill/>
        </p:spPr>
        <p:txBody>
          <a:bodyPr wrap="square" rtlCol="0">
            <a:spAutoFit/>
          </a:bodyPr>
          <a:lstStyle/>
          <a:p>
            <a:r>
              <a:rPr lang="en-US" u="sng" dirty="0"/>
              <a:t>Amenability: </a:t>
            </a:r>
            <a:r>
              <a:rPr lang="en-AU" dirty="0"/>
              <a:t>willingness to comply and be cooperative. Being receptive to change.</a:t>
            </a:r>
            <a:endParaRPr lang="en-US" dirty="0"/>
          </a:p>
        </p:txBody>
      </p:sp>
      <p:sp>
        <p:nvSpPr>
          <p:cNvPr id="6" name="TextBox 5"/>
          <p:cNvSpPr txBox="1"/>
          <p:nvPr/>
        </p:nvSpPr>
        <p:spPr>
          <a:xfrm>
            <a:off x="6994358" y="5406188"/>
            <a:ext cx="4267200" cy="584775"/>
          </a:xfrm>
          <a:prstGeom prst="rect">
            <a:avLst/>
          </a:prstGeom>
          <a:noFill/>
        </p:spPr>
        <p:txBody>
          <a:bodyPr wrap="square" rtlCol="0">
            <a:spAutoFit/>
          </a:bodyPr>
          <a:lstStyle/>
          <a:p>
            <a:r>
              <a:rPr lang="en-US" sz="3200" dirty="0"/>
              <a:t>Let’s elaborate</a:t>
            </a:r>
            <a:r>
              <a:rPr lang="mr-IN" sz="3200" dirty="0"/>
              <a:t>…</a:t>
            </a:r>
            <a:endParaRPr lang="en-US" sz="3200" dirty="0"/>
          </a:p>
        </p:txBody>
      </p:sp>
    </p:spTree>
    <p:extLst>
      <p:ext uri="{BB962C8B-B14F-4D97-AF65-F5344CB8AC3E}">
        <p14:creationId xmlns:p14="http://schemas.microsoft.com/office/powerpoint/2010/main" val="17423268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5"/>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5" grpId="0"/>
      <p:bldP spid="6" grpId="0"/>
    </p:bldLst>
  </p:timing>
</p:sld>
</file>

<file path=ppt/slides/slide2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PABCAR</a:t>
            </a:r>
          </a:p>
        </p:txBody>
      </p:sp>
      <p:sp>
        <p:nvSpPr>
          <p:cNvPr id="3" name="Content Placeholder 2"/>
          <p:cNvSpPr>
            <a:spLocks noGrp="1"/>
          </p:cNvSpPr>
          <p:nvPr>
            <p:ph idx="1"/>
          </p:nvPr>
        </p:nvSpPr>
        <p:spPr/>
        <p:txBody>
          <a:bodyPr>
            <a:normAutofit/>
          </a:bodyPr>
          <a:lstStyle/>
          <a:p>
            <a:r>
              <a:rPr lang="en-US" sz="2800" dirty="0"/>
              <a:t>What is the </a:t>
            </a:r>
            <a:r>
              <a:rPr lang="en-US" sz="2800" dirty="0">
                <a:solidFill>
                  <a:srgbClr val="FF0000"/>
                </a:solidFill>
              </a:rPr>
              <a:t>problem</a:t>
            </a:r>
            <a:r>
              <a:rPr lang="en-US" sz="2800" dirty="0"/>
              <a:t> and its significance?</a:t>
            </a:r>
          </a:p>
          <a:p>
            <a:r>
              <a:rPr lang="en-US" sz="2800" dirty="0"/>
              <a:t>Is it </a:t>
            </a:r>
            <a:r>
              <a:rPr lang="en-US" sz="2800" dirty="0">
                <a:solidFill>
                  <a:srgbClr val="FF0000"/>
                </a:solidFill>
              </a:rPr>
              <a:t>amenable</a:t>
            </a:r>
            <a:r>
              <a:rPr lang="en-US" sz="2800" dirty="0"/>
              <a:t> to change? (amenability=changeability)</a:t>
            </a:r>
          </a:p>
          <a:p>
            <a:r>
              <a:rPr lang="en-US" sz="2800" dirty="0"/>
              <a:t>Are the intervention </a:t>
            </a:r>
            <a:r>
              <a:rPr lang="en-US" sz="2800" dirty="0">
                <a:solidFill>
                  <a:srgbClr val="FF0000"/>
                </a:solidFill>
              </a:rPr>
              <a:t>benefits</a:t>
            </a:r>
            <a:r>
              <a:rPr lang="en-US" sz="2800" dirty="0"/>
              <a:t> greater than the </a:t>
            </a:r>
            <a:r>
              <a:rPr lang="en-US" sz="2800" dirty="0">
                <a:solidFill>
                  <a:srgbClr val="FF0000"/>
                </a:solidFill>
              </a:rPr>
              <a:t>costs</a:t>
            </a:r>
            <a:r>
              <a:rPr lang="en-US" sz="2800" dirty="0"/>
              <a:t>?</a:t>
            </a:r>
          </a:p>
          <a:p>
            <a:r>
              <a:rPr lang="en-US" sz="2800" dirty="0"/>
              <a:t>What is the </a:t>
            </a:r>
            <a:r>
              <a:rPr lang="en-US" sz="2800" dirty="0">
                <a:solidFill>
                  <a:srgbClr val="FF0000"/>
                </a:solidFill>
              </a:rPr>
              <a:t>acceptability</a:t>
            </a:r>
            <a:r>
              <a:rPr lang="en-US" sz="2800" dirty="0"/>
              <a:t> of the proposed measures?</a:t>
            </a:r>
          </a:p>
          <a:p>
            <a:r>
              <a:rPr lang="en-US" sz="2800" dirty="0"/>
              <a:t>What are the </a:t>
            </a:r>
            <a:r>
              <a:rPr lang="en-US" sz="2800" dirty="0">
                <a:solidFill>
                  <a:srgbClr val="FF0000"/>
                </a:solidFill>
              </a:rPr>
              <a:t>recommended actions </a:t>
            </a:r>
            <a:r>
              <a:rPr lang="en-US" sz="2800" dirty="0"/>
              <a:t>and how can we monitor the progress?</a:t>
            </a:r>
          </a:p>
        </p:txBody>
      </p:sp>
    </p:spTree>
    <p:extLst>
      <p:ext uri="{BB962C8B-B14F-4D97-AF65-F5344CB8AC3E}">
        <p14:creationId xmlns:p14="http://schemas.microsoft.com/office/powerpoint/2010/main" val="8978593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24127" y="383880"/>
            <a:ext cx="9720072" cy="723467"/>
          </a:xfrm>
        </p:spPr>
        <p:txBody>
          <a:bodyPr/>
          <a:lstStyle/>
          <a:p>
            <a:r>
              <a:rPr lang="en-US" dirty="0"/>
              <a:t>Lets look at the model: (and annotate!)</a:t>
            </a:r>
          </a:p>
        </p:txBody>
      </p:sp>
      <p:pic>
        <p:nvPicPr>
          <p:cNvPr id="6" name="Picture 5">
            <a:extLst>
              <a:ext uri="{FF2B5EF4-FFF2-40B4-BE49-F238E27FC236}">
                <a16:creationId xmlns:a16="http://schemas.microsoft.com/office/drawing/2014/main" id="{D7740A3B-219B-4FD4-AD93-A1EE6B27F83B}"/>
              </a:ext>
            </a:extLst>
          </p:cNvPr>
          <p:cNvPicPr>
            <a:picLocks noChangeAspect="1"/>
          </p:cNvPicPr>
          <p:nvPr/>
        </p:nvPicPr>
        <p:blipFill>
          <a:blip r:embed="rId2"/>
          <a:stretch>
            <a:fillRect/>
          </a:stretch>
        </p:blipFill>
        <p:spPr>
          <a:xfrm rot="10800000">
            <a:off x="2758195" y="1048704"/>
            <a:ext cx="6675609" cy="4995712"/>
          </a:xfrm>
          <a:prstGeom prst="rect">
            <a:avLst/>
          </a:prstGeom>
        </p:spPr>
      </p:pic>
    </p:spTree>
    <p:extLst>
      <p:ext uri="{BB962C8B-B14F-4D97-AF65-F5344CB8AC3E}">
        <p14:creationId xmlns:p14="http://schemas.microsoft.com/office/powerpoint/2010/main" val="1920072901"/>
      </p:ext>
    </p:extLst>
  </p:cSld>
  <p:clrMapOvr>
    <a:masterClrMapping/>
  </p:clrMapOvr>
</p:sld>
</file>

<file path=ppt/slides/slide2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C18B58-BB37-4776-8F5D-2D27FC2E660F}"/>
              </a:ext>
            </a:extLst>
          </p:cNvPr>
          <p:cNvSpPr>
            <a:spLocks noGrp="1"/>
          </p:cNvSpPr>
          <p:nvPr>
            <p:ph type="title"/>
          </p:nvPr>
        </p:nvSpPr>
        <p:spPr/>
        <p:txBody>
          <a:bodyPr/>
          <a:lstStyle/>
          <a:p>
            <a:r>
              <a:rPr lang="en-US" dirty="0"/>
              <a:t>reading</a:t>
            </a:r>
            <a:endParaRPr lang="en-AU" dirty="0"/>
          </a:p>
        </p:txBody>
      </p:sp>
      <p:sp>
        <p:nvSpPr>
          <p:cNvPr id="3" name="Content Placeholder 2">
            <a:extLst>
              <a:ext uri="{FF2B5EF4-FFF2-40B4-BE49-F238E27FC236}">
                <a16:creationId xmlns:a16="http://schemas.microsoft.com/office/drawing/2014/main" id="{6C7B043F-ACE5-48D9-A1B6-9590A7155C2E}"/>
              </a:ext>
            </a:extLst>
          </p:cNvPr>
          <p:cNvSpPr>
            <a:spLocks noGrp="1"/>
          </p:cNvSpPr>
          <p:nvPr>
            <p:ph idx="1"/>
          </p:nvPr>
        </p:nvSpPr>
        <p:spPr/>
        <p:txBody>
          <a:bodyPr/>
          <a:lstStyle/>
          <a:p>
            <a:r>
              <a:rPr lang="en-US" dirty="0"/>
              <a:t>Read the article by Bruce </a:t>
            </a:r>
            <a:r>
              <a:rPr lang="en-US" dirty="0" err="1"/>
              <a:t>Maycock</a:t>
            </a:r>
            <a:r>
              <a:rPr lang="en-US" dirty="0"/>
              <a:t>, Peter Howat and Terry </a:t>
            </a:r>
            <a:r>
              <a:rPr lang="en-US" dirty="0" err="1"/>
              <a:t>Slevin</a:t>
            </a:r>
            <a:r>
              <a:rPr lang="en-US" dirty="0"/>
              <a:t>. </a:t>
            </a:r>
          </a:p>
          <a:p>
            <a:endParaRPr lang="en-US" dirty="0"/>
          </a:p>
          <a:p>
            <a:endParaRPr lang="en-AU" dirty="0"/>
          </a:p>
        </p:txBody>
      </p:sp>
    </p:spTree>
    <p:extLst>
      <p:ext uri="{BB962C8B-B14F-4D97-AF65-F5344CB8AC3E}">
        <p14:creationId xmlns:p14="http://schemas.microsoft.com/office/powerpoint/2010/main" val="947446994"/>
      </p:ext>
    </p:extLst>
  </p:cSld>
  <p:clrMapOvr>
    <a:masterClrMapping/>
  </p:clrMapOvr>
</p:sld>
</file>

<file path=ppt/slides/slide2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Application question</a:t>
            </a:r>
          </a:p>
        </p:txBody>
      </p:sp>
      <p:sp>
        <p:nvSpPr>
          <p:cNvPr id="3" name="Content Placeholder 2"/>
          <p:cNvSpPr>
            <a:spLocks noGrp="1"/>
          </p:cNvSpPr>
          <p:nvPr>
            <p:ph idx="1"/>
          </p:nvPr>
        </p:nvSpPr>
        <p:spPr/>
        <p:txBody>
          <a:bodyPr/>
          <a:lstStyle/>
          <a:p>
            <a:endParaRPr lang="en-US" dirty="0"/>
          </a:p>
          <a:p>
            <a:r>
              <a:rPr lang="en-US" dirty="0"/>
              <a:t>Complete Q29 for the 2016 WACE exam:</a:t>
            </a:r>
          </a:p>
          <a:p>
            <a:endParaRPr lang="en-US" dirty="0"/>
          </a:p>
          <a:p>
            <a:r>
              <a:rPr lang="en-US" dirty="0"/>
              <a:t>Step 3 of the PABCAR model of public health is to assess the benefits and costs of implementing an intervention. </a:t>
            </a:r>
          </a:p>
          <a:p>
            <a:pPr marL="457200" indent="-457200">
              <a:buAutoNum type="alphaLcParenR"/>
            </a:pPr>
            <a:r>
              <a:rPr lang="en-US" dirty="0"/>
              <a:t>In order, what are the other steps in the model? (4 marks)</a:t>
            </a:r>
            <a:endParaRPr lang="en-US" dirty="0">
              <a:sym typeface="Wingdings" panose="05000000000000000000" pitchFamily="2" charset="2"/>
            </a:endParaRPr>
          </a:p>
          <a:p>
            <a:pPr marL="0" indent="0">
              <a:buNone/>
            </a:pPr>
            <a:r>
              <a:rPr lang="en-US" dirty="0"/>
              <a:t>b) Discuss the benefits and costs of introducing a tax on sugary drinks. (6 marks)</a:t>
            </a:r>
          </a:p>
        </p:txBody>
      </p:sp>
    </p:spTree>
    <p:extLst>
      <p:ext uri="{BB962C8B-B14F-4D97-AF65-F5344CB8AC3E}">
        <p14:creationId xmlns:p14="http://schemas.microsoft.com/office/powerpoint/2010/main" val="25216806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B46F6A-87A4-42A2-8309-3DFA35ADE532}"/>
              </a:ext>
            </a:extLst>
          </p:cNvPr>
          <p:cNvSpPr>
            <a:spLocks noGrp="1"/>
          </p:cNvSpPr>
          <p:nvPr>
            <p:ph type="title"/>
          </p:nvPr>
        </p:nvSpPr>
        <p:spPr/>
        <p:txBody>
          <a:bodyPr/>
          <a:lstStyle/>
          <a:p>
            <a:r>
              <a:rPr lang="en-US" dirty="0"/>
              <a:t>Application question</a:t>
            </a:r>
            <a:endParaRPr lang="en-AU" dirty="0"/>
          </a:p>
        </p:txBody>
      </p:sp>
      <p:sp>
        <p:nvSpPr>
          <p:cNvPr id="3" name="Content Placeholder 2">
            <a:extLst>
              <a:ext uri="{FF2B5EF4-FFF2-40B4-BE49-F238E27FC236}">
                <a16:creationId xmlns:a16="http://schemas.microsoft.com/office/drawing/2014/main" id="{92F7F5D4-A5D0-40A5-BB94-1264332170F4}"/>
              </a:ext>
            </a:extLst>
          </p:cNvPr>
          <p:cNvSpPr>
            <a:spLocks noGrp="1"/>
          </p:cNvSpPr>
          <p:nvPr>
            <p:ph idx="1"/>
          </p:nvPr>
        </p:nvSpPr>
        <p:spPr>
          <a:xfrm>
            <a:off x="1024128" y="2286000"/>
            <a:ext cx="10358575" cy="4023360"/>
          </a:xfrm>
        </p:spPr>
        <p:txBody>
          <a:bodyPr/>
          <a:lstStyle/>
          <a:p>
            <a:r>
              <a:rPr lang="en-US" dirty="0"/>
              <a:t>a) Justify with two (2) examples the use of the PABCAR decision marking model in planning a road safety education program aimed at improving the safety of young people to reduce the incidence of texting and driving (3 marks)</a:t>
            </a:r>
          </a:p>
          <a:p>
            <a:endParaRPr lang="en-US" dirty="0"/>
          </a:p>
          <a:p>
            <a:r>
              <a:rPr lang="en-AU" dirty="0"/>
              <a:t>B) Apply the steps of the PABCAR model to planning this road safety intervention program aimed at young people. (12 marks)</a:t>
            </a:r>
          </a:p>
        </p:txBody>
      </p:sp>
    </p:spTree>
    <p:extLst>
      <p:ext uri="{BB962C8B-B14F-4D97-AF65-F5344CB8AC3E}">
        <p14:creationId xmlns:p14="http://schemas.microsoft.com/office/powerpoint/2010/main" val="2919533967"/>
      </p:ext>
    </p:extLst>
  </p:cSld>
  <p:clrMapOvr>
    <a:masterClrMapping/>
  </p:clrMapOvr>
</p:sld>
</file>

<file path=ppt/slides/slide2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dirty="0"/>
              <a:t>Rio Political Declaration on Social Determinants of Health</a:t>
            </a:r>
          </a:p>
        </p:txBody>
      </p:sp>
      <p:sp>
        <p:nvSpPr>
          <p:cNvPr id="4" name="TextBox 3"/>
          <p:cNvSpPr txBox="1"/>
          <p:nvPr/>
        </p:nvSpPr>
        <p:spPr>
          <a:xfrm>
            <a:off x="8592886" y="5368491"/>
            <a:ext cx="2999874" cy="769441"/>
          </a:xfrm>
          <a:prstGeom prst="rect">
            <a:avLst/>
          </a:prstGeom>
          <a:noFill/>
        </p:spPr>
        <p:txBody>
          <a:bodyPr wrap="square" rtlCol="0">
            <a:spAutoFit/>
          </a:bodyPr>
          <a:lstStyle/>
          <a:p>
            <a:r>
              <a:rPr lang="en-US" sz="2200" dirty="0"/>
              <a:t>Term 2</a:t>
            </a:r>
          </a:p>
          <a:p>
            <a:r>
              <a:rPr lang="en-US" sz="2200" dirty="0"/>
              <a:t>Week 5</a:t>
            </a:r>
          </a:p>
        </p:txBody>
      </p:sp>
    </p:spTree>
    <p:extLst>
      <p:ext uri="{BB962C8B-B14F-4D97-AF65-F5344CB8AC3E}">
        <p14:creationId xmlns:p14="http://schemas.microsoft.com/office/powerpoint/2010/main" val="731019952"/>
      </p:ext>
    </p:extLst>
  </p:cSld>
  <p:clrMapOvr>
    <a:masterClrMapping/>
  </p:clrMapOvr>
</p:sld>
</file>

<file path=ppt/slides/slide26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9E4C68A-A4A9-48A4-9FF2-D2896B1EA01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E2B9AEA5-52CB-49A6-AF8A-33502F291B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654296"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964788" y="804333"/>
            <a:ext cx="3302412" cy="5249334"/>
          </a:xfrm>
        </p:spPr>
        <p:txBody>
          <a:bodyPr>
            <a:normAutofit/>
          </a:bodyPr>
          <a:lstStyle/>
          <a:p>
            <a:pPr algn="r"/>
            <a:r>
              <a:rPr lang="en-US">
                <a:solidFill>
                  <a:srgbClr val="FFFFFF"/>
                </a:solidFill>
              </a:rPr>
              <a:t>Syllabus content</a:t>
            </a:r>
          </a:p>
        </p:txBody>
      </p:sp>
      <p:sp>
        <p:nvSpPr>
          <p:cNvPr id="3" name="Content Placeholder 2"/>
          <p:cNvSpPr>
            <a:spLocks noGrp="1"/>
          </p:cNvSpPr>
          <p:nvPr>
            <p:ph idx="1"/>
          </p:nvPr>
        </p:nvSpPr>
        <p:spPr>
          <a:xfrm>
            <a:off x="5109882" y="804333"/>
            <a:ext cx="6147169" cy="5249334"/>
          </a:xfrm>
        </p:spPr>
        <p:txBody>
          <a:bodyPr anchor="ctr">
            <a:normAutofit/>
          </a:bodyPr>
          <a:lstStyle/>
          <a:p>
            <a:pPr lvl="0">
              <a:buFont typeface="Wingdings" charset="2"/>
              <a:buChar char="v"/>
            </a:pPr>
            <a:r>
              <a:rPr lang="en-AU" dirty="0"/>
              <a:t> Actions to achieve social and health equity in the Rio Declaration on Social Determinants of Health</a:t>
            </a:r>
            <a:endParaRPr lang="en-GB" dirty="0"/>
          </a:p>
        </p:txBody>
      </p:sp>
    </p:spTree>
    <p:extLst>
      <p:ext uri="{BB962C8B-B14F-4D97-AF65-F5344CB8AC3E}">
        <p14:creationId xmlns:p14="http://schemas.microsoft.com/office/powerpoint/2010/main" val="1266213141"/>
      </p:ext>
    </p:extLst>
  </p:cSld>
  <p:clrMapOvr>
    <a:masterClrMapping/>
  </p:clrMapOvr>
</p:sld>
</file>

<file path=ppt/slides/slide2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Rio political declaration</a:t>
            </a:r>
          </a:p>
        </p:txBody>
      </p:sp>
      <p:sp>
        <p:nvSpPr>
          <p:cNvPr id="3" name="Content Placeholder 2"/>
          <p:cNvSpPr>
            <a:spLocks noGrp="1"/>
          </p:cNvSpPr>
          <p:nvPr>
            <p:ph idx="1"/>
          </p:nvPr>
        </p:nvSpPr>
        <p:spPr/>
        <p:txBody>
          <a:bodyPr/>
          <a:lstStyle/>
          <a:p>
            <a:pPr>
              <a:buFont typeface="Wingdings" charset="2"/>
              <a:buChar char="v"/>
            </a:pPr>
            <a:r>
              <a:rPr lang="en-US" dirty="0"/>
              <a:t>Rio De Janeiro, Brazil.    21 October, 2011.</a:t>
            </a:r>
          </a:p>
          <a:p>
            <a:pPr>
              <a:buFont typeface="Wingdings" charset="2"/>
              <a:buChar char="v"/>
            </a:pPr>
            <a:r>
              <a:rPr lang="en-US" dirty="0"/>
              <a:t>At this conference, the World Health </a:t>
            </a:r>
            <a:r>
              <a:rPr lang="en-US" dirty="0" err="1"/>
              <a:t>Organisation</a:t>
            </a:r>
            <a:r>
              <a:rPr lang="en-US" dirty="0"/>
              <a:t> reiterated that health inequities within and between countries are politically, socially and economically unacceptable, unfair, and largely avoidable. </a:t>
            </a:r>
          </a:p>
          <a:p>
            <a:pPr>
              <a:buFont typeface="Wingdings" charset="2"/>
              <a:buChar char="v"/>
            </a:pPr>
            <a:r>
              <a:rPr lang="en-US" dirty="0"/>
              <a:t>They also claimed that the promotion of health equity is vital to move forward and improve the quality of life and wellbeing for all. </a:t>
            </a:r>
          </a:p>
          <a:p>
            <a:endParaRPr lang="en-US" dirty="0"/>
          </a:p>
        </p:txBody>
      </p:sp>
    </p:spTree>
    <p:extLst>
      <p:ext uri="{BB962C8B-B14F-4D97-AF65-F5344CB8AC3E}">
        <p14:creationId xmlns:p14="http://schemas.microsoft.com/office/powerpoint/2010/main" val="1828802664"/>
      </p:ext>
    </p:extLst>
  </p:cSld>
  <p:clrMapOvr>
    <a:masterClrMapping/>
  </p:clrMapOvr>
</p:sld>
</file>

<file path=ppt/slides/slide2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040171" y="1098883"/>
            <a:ext cx="9720073" cy="4804611"/>
          </a:xfrm>
        </p:spPr>
        <p:txBody>
          <a:bodyPr>
            <a:normAutofit lnSpcReduction="10000"/>
          </a:bodyPr>
          <a:lstStyle/>
          <a:p>
            <a:r>
              <a:rPr lang="en-US" dirty="0"/>
              <a:t>WHO </a:t>
            </a:r>
            <a:r>
              <a:rPr lang="en-US" dirty="0" err="1"/>
              <a:t>recognises</a:t>
            </a:r>
            <a:r>
              <a:rPr lang="en-US" dirty="0"/>
              <a:t> that health inequities arise from the societal conditions in which people are born, grow, live, work and age (social determinants of health)</a:t>
            </a:r>
          </a:p>
          <a:p>
            <a:endParaRPr lang="en-US" dirty="0"/>
          </a:p>
          <a:p>
            <a:r>
              <a:rPr lang="en-US" dirty="0"/>
              <a:t>Things like:</a:t>
            </a:r>
          </a:p>
          <a:p>
            <a:pPr>
              <a:buFontTx/>
              <a:buChar char="-"/>
            </a:pPr>
            <a:r>
              <a:rPr lang="en-US" dirty="0"/>
              <a:t>Early years experiences </a:t>
            </a:r>
          </a:p>
          <a:p>
            <a:pPr>
              <a:buFontTx/>
              <a:buChar char="-"/>
            </a:pPr>
            <a:r>
              <a:rPr lang="en-US" dirty="0"/>
              <a:t>Education</a:t>
            </a:r>
          </a:p>
          <a:p>
            <a:pPr>
              <a:buFontTx/>
              <a:buChar char="-"/>
            </a:pPr>
            <a:r>
              <a:rPr lang="en-US" dirty="0"/>
              <a:t>Economic status</a:t>
            </a:r>
          </a:p>
          <a:p>
            <a:pPr>
              <a:buFontTx/>
              <a:buChar char="-"/>
            </a:pPr>
            <a:r>
              <a:rPr lang="en-US" dirty="0"/>
              <a:t>Employment</a:t>
            </a:r>
          </a:p>
          <a:p>
            <a:pPr>
              <a:buFontTx/>
              <a:buChar char="-"/>
            </a:pPr>
            <a:r>
              <a:rPr lang="en-US" dirty="0"/>
              <a:t>Housing </a:t>
            </a:r>
          </a:p>
          <a:p>
            <a:pPr>
              <a:buFontTx/>
              <a:buChar char="-"/>
            </a:pPr>
            <a:r>
              <a:rPr lang="en-US" dirty="0"/>
              <a:t>Environment </a:t>
            </a:r>
          </a:p>
          <a:p>
            <a:pPr>
              <a:buFontTx/>
              <a:buChar char="-"/>
            </a:pPr>
            <a:r>
              <a:rPr lang="en-US" dirty="0"/>
              <a:t>Systems of preventing and treating ill health</a:t>
            </a:r>
          </a:p>
        </p:txBody>
      </p:sp>
    </p:spTree>
    <p:extLst>
      <p:ext uri="{BB962C8B-B14F-4D97-AF65-F5344CB8AC3E}">
        <p14:creationId xmlns:p14="http://schemas.microsoft.com/office/powerpoint/2010/main" val="19004179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Action:</a:t>
            </a:r>
          </a:p>
        </p:txBody>
      </p:sp>
      <p:sp>
        <p:nvSpPr>
          <p:cNvPr id="3" name="Content Placeholder 2"/>
          <p:cNvSpPr>
            <a:spLocks noGrp="1"/>
          </p:cNvSpPr>
          <p:nvPr>
            <p:ph idx="1"/>
          </p:nvPr>
        </p:nvSpPr>
        <p:spPr/>
        <p:txBody>
          <a:bodyPr/>
          <a:lstStyle/>
          <a:p>
            <a:r>
              <a:rPr lang="en-US" dirty="0"/>
              <a:t>Actions to address the social determinants for vulnerable groups and the entire population is essential to create inclusive, equitable, economically productive and healthy societies.</a:t>
            </a:r>
          </a:p>
          <a:p>
            <a:r>
              <a:rPr lang="en-US" dirty="0"/>
              <a:t>Good health requires a universal, comprehensive, equitable, effective, responsive and accessible quality health system.</a:t>
            </a:r>
          </a:p>
        </p:txBody>
      </p:sp>
    </p:spTree>
    <p:extLst>
      <p:ext uri="{BB962C8B-B14F-4D97-AF65-F5344CB8AC3E}">
        <p14:creationId xmlns:p14="http://schemas.microsoft.com/office/powerpoint/2010/main" val="800775257"/>
      </p:ext>
    </p:extLst>
  </p:cSld>
  <p:clrMapOvr>
    <a:masterClrMapping/>
  </p:clrMapOvr>
</p:sld>
</file>

<file path=ppt/slides/slide2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RIO </a:t>
            </a:r>
            <a:r>
              <a:rPr lang="en-US" dirty="0" err="1"/>
              <a:t>DEclARATIONs</a:t>
            </a:r>
            <a:r>
              <a:rPr lang="en-US" dirty="0"/>
              <a:t> 3 Recommendations	</a:t>
            </a:r>
          </a:p>
        </p:txBody>
      </p:sp>
      <p:sp>
        <p:nvSpPr>
          <p:cNvPr id="3" name="Content Placeholder 2"/>
          <p:cNvSpPr>
            <a:spLocks noGrp="1"/>
          </p:cNvSpPr>
          <p:nvPr>
            <p:ph idx="1"/>
          </p:nvPr>
        </p:nvSpPr>
        <p:spPr/>
        <p:txBody>
          <a:bodyPr/>
          <a:lstStyle/>
          <a:p>
            <a:r>
              <a:rPr lang="en-US" dirty="0"/>
              <a:t>3 overarching recommendations</a:t>
            </a:r>
          </a:p>
          <a:p>
            <a:pPr>
              <a:buAutoNum type="arabicPeriod"/>
            </a:pPr>
            <a:r>
              <a:rPr lang="en-US" dirty="0"/>
              <a:t>   To improve daily living conditions</a:t>
            </a:r>
          </a:p>
          <a:p>
            <a:pPr>
              <a:buAutoNum type="arabicPeriod"/>
            </a:pPr>
            <a:r>
              <a:rPr lang="en-US" dirty="0"/>
              <a:t>   To tackle the inequitable distribution of power, money and resources</a:t>
            </a:r>
          </a:p>
          <a:p>
            <a:pPr>
              <a:buAutoNum type="arabicPeriod"/>
            </a:pPr>
            <a:r>
              <a:rPr lang="en-US" dirty="0"/>
              <a:t>   Measure and understand the problem and assess the impact of action</a:t>
            </a:r>
          </a:p>
        </p:txBody>
      </p:sp>
    </p:spTree>
    <p:extLst>
      <p:ext uri="{BB962C8B-B14F-4D97-AF65-F5344CB8AC3E}">
        <p14:creationId xmlns:p14="http://schemas.microsoft.com/office/powerpoint/2010/main" val="3497286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Rio political declaration:</a:t>
            </a:r>
          </a:p>
        </p:txBody>
      </p:sp>
      <p:sp>
        <p:nvSpPr>
          <p:cNvPr id="3" name="Content Placeholder 2"/>
          <p:cNvSpPr>
            <a:spLocks noGrp="1"/>
          </p:cNvSpPr>
          <p:nvPr>
            <p:ph idx="1"/>
          </p:nvPr>
        </p:nvSpPr>
        <p:spPr/>
        <p:txBody>
          <a:bodyPr>
            <a:normAutofit fontScale="92500" lnSpcReduction="10000"/>
          </a:bodyPr>
          <a:lstStyle/>
          <a:p>
            <a:r>
              <a:rPr lang="en-US" dirty="0">
                <a:hlinkClick r:id="rId2"/>
              </a:rPr>
              <a:t>http://www.who.int/sdhconference/declaration/en/</a:t>
            </a:r>
            <a:endParaRPr lang="en-US" dirty="0"/>
          </a:p>
          <a:p>
            <a:endParaRPr lang="en-US" dirty="0"/>
          </a:p>
          <a:p>
            <a:endParaRPr lang="en-US" dirty="0"/>
          </a:p>
          <a:p>
            <a:r>
              <a:rPr lang="en-US" sz="2800" b="1" u="sng" dirty="0"/>
              <a:t>5 key areas to addressing health inequities:</a:t>
            </a:r>
          </a:p>
          <a:p>
            <a:r>
              <a:rPr lang="en-US" dirty="0"/>
              <a:t>1. Adopt better governance for health and development</a:t>
            </a:r>
          </a:p>
          <a:p>
            <a:r>
              <a:rPr lang="en-US" dirty="0"/>
              <a:t>2. Promote participation in policy-making and implementation</a:t>
            </a:r>
          </a:p>
          <a:p>
            <a:r>
              <a:rPr lang="en-US" dirty="0"/>
              <a:t>3. To further reorient the health sector towards reducing health inequities</a:t>
            </a:r>
          </a:p>
          <a:p>
            <a:r>
              <a:rPr lang="en-US" dirty="0"/>
              <a:t>4. To strengthen global governance and collaboration</a:t>
            </a:r>
          </a:p>
          <a:p>
            <a:r>
              <a:rPr lang="en-US" dirty="0"/>
              <a:t>5. To monitor progress and increase accountability. </a:t>
            </a:r>
          </a:p>
          <a:p>
            <a:endParaRPr lang="en-US" dirty="0"/>
          </a:p>
        </p:txBody>
      </p:sp>
    </p:spTree>
    <p:extLst>
      <p:ext uri="{BB962C8B-B14F-4D97-AF65-F5344CB8AC3E}">
        <p14:creationId xmlns:p14="http://schemas.microsoft.com/office/powerpoint/2010/main" val="226678711"/>
      </p:ext>
    </p:extLst>
  </p:cSld>
  <p:clrMapOvr>
    <a:masterClrMapping/>
  </p:clrMapOvr>
</p:sld>
</file>

<file path=ppt/slides/slide2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24127" y="585216"/>
            <a:ext cx="10654525" cy="1499616"/>
          </a:xfrm>
        </p:spPr>
        <p:txBody>
          <a:bodyPr/>
          <a:lstStyle/>
          <a:p>
            <a:r>
              <a:rPr lang="en-US" dirty="0"/>
              <a:t>1. Adopt better governance for health &amp; development</a:t>
            </a:r>
          </a:p>
        </p:txBody>
      </p:sp>
      <p:sp>
        <p:nvSpPr>
          <p:cNvPr id="3" name="Content Placeholder 2"/>
          <p:cNvSpPr>
            <a:spLocks noGrp="1"/>
          </p:cNvSpPr>
          <p:nvPr>
            <p:ph idx="1"/>
          </p:nvPr>
        </p:nvSpPr>
        <p:spPr/>
        <p:txBody>
          <a:bodyPr/>
          <a:lstStyle/>
          <a:p>
            <a:pPr marL="0" indent="0">
              <a:buNone/>
            </a:pPr>
            <a:endParaRPr lang="en-US" u="sng" dirty="0"/>
          </a:p>
          <a:p>
            <a:pPr marL="0" indent="0">
              <a:buNone/>
            </a:pPr>
            <a:r>
              <a:rPr lang="en-US" dirty="0"/>
              <a:t>Governance to address the social determinants of health should involve:</a:t>
            </a:r>
          </a:p>
          <a:p>
            <a:pPr>
              <a:buFont typeface="Wingdings" charset="2"/>
              <a:buChar char="v"/>
            </a:pPr>
            <a:r>
              <a:rPr lang="en-US" dirty="0"/>
              <a:t>Transparent and inclusive decision making processes that give voice to all groups and sectors involved</a:t>
            </a:r>
          </a:p>
          <a:p>
            <a:pPr>
              <a:buFont typeface="Wingdings" charset="2"/>
              <a:buChar char="v"/>
            </a:pPr>
            <a:r>
              <a:rPr lang="en-US" dirty="0"/>
              <a:t>Developing policies that perform effectively and reach clear and measurable outcomes, build accountability and involve fair policy development processes and results.</a:t>
            </a:r>
          </a:p>
        </p:txBody>
      </p:sp>
    </p:spTree>
    <p:extLst>
      <p:ext uri="{BB962C8B-B14F-4D97-AF65-F5344CB8AC3E}">
        <p14:creationId xmlns:p14="http://schemas.microsoft.com/office/powerpoint/2010/main" val="153105999"/>
      </p:ext>
    </p:extLst>
  </p:cSld>
  <p:clrMapOvr>
    <a:masterClrMapping/>
  </p:clrMapOvr>
</p:sld>
</file>

<file path=ppt/slides/slide2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24127" y="585216"/>
            <a:ext cx="10044925" cy="1499616"/>
          </a:xfrm>
        </p:spPr>
        <p:txBody>
          <a:bodyPr/>
          <a:lstStyle/>
          <a:p>
            <a:r>
              <a:rPr lang="en-US" dirty="0"/>
              <a:t>2. Promote participation in policy making</a:t>
            </a:r>
          </a:p>
        </p:txBody>
      </p:sp>
      <p:sp>
        <p:nvSpPr>
          <p:cNvPr id="3" name="Content Placeholder 2"/>
          <p:cNvSpPr>
            <a:spLocks noGrp="1"/>
          </p:cNvSpPr>
          <p:nvPr>
            <p:ph idx="1"/>
          </p:nvPr>
        </p:nvSpPr>
        <p:spPr/>
        <p:txBody>
          <a:bodyPr/>
          <a:lstStyle/>
          <a:p>
            <a:pPr marL="0" indent="0">
              <a:buNone/>
            </a:pPr>
            <a:endParaRPr lang="en-US" u="sng" dirty="0"/>
          </a:p>
          <a:p>
            <a:pPr>
              <a:buFont typeface="Wingdings" charset="2"/>
              <a:buChar char="v"/>
            </a:pPr>
            <a:r>
              <a:rPr lang="en-US" dirty="0"/>
              <a:t>Empower and strengthen communities to participate in decision making procedures</a:t>
            </a:r>
          </a:p>
          <a:p>
            <a:pPr>
              <a:buFont typeface="Wingdings" charset="2"/>
              <a:buChar char="v"/>
            </a:pPr>
            <a:r>
              <a:rPr lang="en-US" dirty="0"/>
              <a:t>Promote inclusive and transparent decision making</a:t>
            </a:r>
          </a:p>
          <a:p>
            <a:pPr>
              <a:buFont typeface="Wingdings" charset="2"/>
              <a:buChar char="v"/>
            </a:pPr>
            <a:endParaRPr lang="en-US" u="sng" dirty="0"/>
          </a:p>
          <a:p>
            <a:pPr marL="0" indent="0">
              <a:buNone/>
            </a:pPr>
            <a:endParaRPr lang="en-US" dirty="0"/>
          </a:p>
        </p:txBody>
      </p:sp>
    </p:spTree>
    <p:extLst>
      <p:ext uri="{BB962C8B-B14F-4D97-AF65-F5344CB8AC3E}">
        <p14:creationId xmlns:p14="http://schemas.microsoft.com/office/powerpoint/2010/main" val="567116087"/>
      </p:ext>
    </p:extLst>
  </p:cSld>
  <p:clrMapOvr>
    <a:masterClrMapping/>
  </p:clrMapOvr>
</p:sld>
</file>

<file path=ppt/slides/slide2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3. Further reorient the health sector towards reducing health inequities</a:t>
            </a:r>
          </a:p>
        </p:txBody>
      </p:sp>
      <p:sp>
        <p:nvSpPr>
          <p:cNvPr id="3" name="Content Placeholder 2"/>
          <p:cNvSpPr>
            <a:spLocks noGrp="1"/>
          </p:cNvSpPr>
          <p:nvPr>
            <p:ph idx="1"/>
          </p:nvPr>
        </p:nvSpPr>
        <p:spPr/>
        <p:txBody>
          <a:bodyPr/>
          <a:lstStyle/>
          <a:p>
            <a:pPr>
              <a:buFont typeface="Wingdings" charset="2"/>
              <a:buChar char="v"/>
            </a:pPr>
            <a:endParaRPr lang="en-US" dirty="0"/>
          </a:p>
          <a:p>
            <a:pPr>
              <a:buFont typeface="Wingdings" charset="2"/>
              <a:buChar char="v"/>
            </a:pPr>
            <a:r>
              <a:rPr lang="en-US" dirty="0"/>
              <a:t>Accessibility, availability, acceptability, affordability and quality of healthcare and public health services are essential to the enjoyment of the highest attainable standard of health.</a:t>
            </a:r>
          </a:p>
          <a:p>
            <a:pPr>
              <a:buFont typeface="Wingdings" charset="2"/>
              <a:buChar char="v"/>
            </a:pPr>
            <a:r>
              <a:rPr lang="en-US" dirty="0"/>
              <a:t>They are one of the fundamental human rights of every human being and the health sector should act to reduce inequities.</a:t>
            </a:r>
          </a:p>
        </p:txBody>
      </p:sp>
    </p:spTree>
    <p:extLst>
      <p:ext uri="{BB962C8B-B14F-4D97-AF65-F5344CB8AC3E}">
        <p14:creationId xmlns:p14="http://schemas.microsoft.com/office/powerpoint/2010/main" val="987648823"/>
      </p:ext>
    </p:extLst>
  </p:cSld>
  <p:clrMapOvr>
    <a:masterClrMapping/>
  </p:clrMapOvr>
</p:sld>
</file>

<file path=ppt/slides/slide2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indent="0"/>
            <a:r>
              <a:rPr lang="en-US" dirty="0"/>
              <a:t>4. Strengthen global governance and collaboration</a:t>
            </a:r>
          </a:p>
        </p:txBody>
      </p:sp>
      <p:sp>
        <p:nvSpPr>
          <p:cNvPr id="3" name="Content Placeholder 2"/>
          <p:cNvSpPr>
            <a:spLocks noGrp="1"/>
          </p:cNvSpPr>
          <p:nvPr>
            <p:ph idx="1"/>
          </p:nvPr>
        </p:nvSpPr>
        <p:spPr/>
        <p:txBody>
          <a:bodyPr>
            <a:normAutofit/>
          </a:bodyPr>
          <a:lstStyle/>
          <a:p>
            <a:pPr>
              <a:buFont typeface="Wingdings" charset="2"/>
              <a:buChar char="v"/>
            </a:pPr>
            <a:r>
              <a:rPr lang="en-US" dirty="0"/>
              <a:t>International cooperation and solidarity is important for the equitable benefit of all people. </a:t>
            </a:r>
          </a:p>
          <a:p>
            <a:pPr>
              <a:buFont typeface="Wingdings" charset="2"/>
              <a:buChar char="v"/>
            </a:pPr>
            <a:r>
              <a:rPr lang="en-US" dirty="0"/>
              <a:t> Multilateral organizations play an important role in:</a:t>
            </a:r>
          </a:p>
          <a:p>
            <a:pPr>
              <a:buFontTx/>
              <a:buChar char="-"/>
            </a:pPr>
            <a:r>
              <a:rPr lang="en-US" dirty="0"/>
              <a:t>communicating norms and guidelines </a:t>
            </a:r>
          </a:p>
          <a:p>
            <a:pPr>
              <a:buFontTx/>
              <a:buChar char="-"/>
            </a:pPr>
            <a:r>
              <a:rPr lang="en-US" dirty="0"/>
              <a:t>the identification of good practices that support actions on the social determinants of health </a:t>
            </a:r>
          </a:p>
          <a:p>
            <a:pPr>
              <a:buFontTx/>
              <a:buChar char="-"/>
            </a:pPr>
            <a:r>
              <a:rPr lang="en-US" dirty="0"/>
              <a:t>the facilitating the access to financial resources and technical cooperation</a:t>
            </a:r>
          </a:p>
          <a:p>
            <a:pPr>
              <a:buFontTx/>
              <a:buChar char="-"/>
            </a:pPr>
            <a:r>
              <a:rPr lang="en-US" dirty="0"/>
              <a:t>reviewing and when appropriate, strategically modifying policies and practices that have a negative impact on a persons health and well being </a:t>
            </a:r>
          </a:p>
        </p:txBody>
      </p:sp>
    </p:spTree>
    <p:extLst>
      <p:ext uri="{BB962C8B-B14F-4D97-AF65-F5344CB8AC3E}">
        <p14:creationId xmlns:p14="http://schemas.microsoft.com/office/powerpoint/2010/main" val="1512660498"/>
      </p:ext>
    </p:extLst>
  </p:cSld>
  <p:clrMapOvr>
    <a:masterClrMapping/>
  </p:clrMapOvr>
</p:sld>
</file>

<file path=ppt/slides/slide2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5. Monitor progresses and increase accountability</a:t>
            </a:r>
          </a:p>
        </p:txBody>
      </p:sp>
      <p:sp>
        <p:nvSpPr>
          <p:cNvPr id="3" name="Content Placeholder 2"/>
          <p:cNvSpPr>
            <a:spLocks noGrp="1"/>
          </p:cNvSpPr>
          <p:nvPr>
            <p:ph idx="1"/>
          </p:nvPr>
        </p:nvSpPr>
        <p:spPr/>
        <p:txBody>
          <a:bodyPr/>
          <a:lstStyle/>
          <a:p>
            <a:pPr>
              <a:buFont typeface="Wingdings" charset="2"/>
              <a:buChar char="v"/>
            </a:pPr>
            <a:endParaRPr lang="en-US"/>
          </a:p>
          <a:p>
            <a:pPr>
              <a:buFont typeface="Wingdings" charset="2"/>
              <a:buChar char="v"/>
            </a:pPr>
            <a:r>
              <a:rPr lang="en-US" dirty="0"/>
              <a:t>Monitoring trends in inequities and the impacts of actions to tackle them is important to achieving meaningful progress. </a:t>
            </a:r>
          </a:p>
          <a:p>
            <a:pPr>
              <a:buFont typeface="Wingdings" charset="2"/>
              <a:buChar char="v"/>
            </a:pPr>
            <a:r>
              <a:rPr lang="en-US" dirty="0"/>
              <a:t>Information systems should facilitate the establishment of relationships between health outcomes and social organization variables.</a:t>
            </a:r>
          </a:p>
          <a:p>
            <a:pPr>
              <a:buFont typeface="Wingdings" charset="2"/>
              <a:buChar char="v"/>
            </a:pPr>
            <a:r>
              <a:rPr lang="en-US" dirty="0"/>
              <a:t>All accountability mechanisms to guide policy making in all sectors are essential, taking in to account different national contexts. </a:t>
            </a:r>
          </a:p>
        </p:txBody>
      </p:sp>
    </p:spTree>
    <p:extLst>
      <p:ext uri="{BB962C8B-B14F-4D97-AF65-F5344CB8AC3E}">
        <p14:creationId xmlns:p14="http://schemas.microsoft.com/office/powerpoint/2010/main" val="1373576700"/>
      </p:ext>
    </p:extLst>
  </p:cSld>
  <p:clrMapOvr>
    <a:masterClrMapping/>
  </p:clrMapOvr>
</p:sld>
</file>

<file path=ppt/slides/slide2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hlinkClick r:id="rId2"/>
              </a:rPr>
              <a:t>https://www.youtube.com/watch?v=ES1IX3Mam20</a:t>
            </a:r>
            <a:endParaRPr lang="en-US" dirty="0"/>
          </a:p>
        </p:txBody>
      </p:sp>
      <p:sp>
        <p:nvSpPr>
          <p:cNvPr id="3" name="Content Placeholder 2"/>
          <p:cNvSpPr>
            <a:spLocks noGrp="1"/>
          </p:cNvSpPr>
          <p:nvPr>
            <p:ph idx="1"/>
          </p:nvPr>
        </p:nvSpPr>
        <p:spPr/>
        <p:txBody>
          <a:bodyPr>
            <a:normAutofit/>
          </a:bodyPr>
          <a:lstStyle/>
          <a:p>
            <a:pPr marL="0" indent="0">
              <a:buNone/>
            </a:pPr>
            <a:r>
              <a:rPr lang="en-US" dirty="0"/>
              <a:t>“The enjoyment of the highest attainable standard of health is one of the fundamental rights of every human being without distinction of race, religion, political belief, economic or social condition”</a:t>
            </a:r>
          </a:p>
          <a:p>
            <a:pPr>
              <a:buFont typeface="Wingdings" charset="2"/>
              <a:buChar char="v"/>
            </a:pPr>
            <a:r>
              <a:rPr lang="en-US" dirty="0"/>
              <a:t>Governments have a responsibility for the health of their peoples, which can be fulfilled only by the provision of adequate health and social measures.</a:t>
            </a:r>
          </a:p>
          <a:p>
            <a:pPr>
              <a:buFont typeface="Wingdings" charset="2"/>
              <a:buChar char="v"/>
            </a:pPr>
            <a:r>
              <a:rPr lang="en-US" dirty="0"/>
              <a:t>National efforts need to be supported by an enabling international environment.</a:t>
            </a:r>
          </a:p>
          <a:p>
            <a:pPr>
              <a:buFont typeface="Wingdings" charset="2"/>
              <a:buChar char="v"/>
            </a:pPr>
            <a:r>
              <a:rPr lang="en-US" dirty="0"/>
              <a:t>Health inequities within and between countries are politically, socially and economically unacceptable, they are unfair and largely avoidable.</a:t>
            </a:r>
          </a:p>
          <a:p>
            <a:pPr>
              <a:buFont typeface="Wingdings" charset="2"/>
              <a:buChar char="v"/>
            </a:pPr>
            <a:r>
              <a:rPr lang="en-US" dirty="0"/>
              <a:t>The promotion of health equity is essential to sustainable development and to a better quality of life and well being for all.</a:t>
            </a:r>
          </a:p>
          <a:p>
            <a:pPr>
              <a:buFont typeface="Arial" panose="020B0604020202020204" pitchFamily="34" charset="0"/>
              <a:buChar char="•"/>
            </a:pPr>
            <a:endParaRPr lang="en-US" dirty="0"/>
          </a:p>
        </p:txBody>
      </p:sp>
    </p:spTree>
    <p:extLst>
      <p:ext uri="{BB962C8B-B14F-4D97-AF65-F5344CB8AC3E}">
        <p14:creationId xmlns:p14="http://schemas.microsoft.com/office/powerpoint/2010/main" val="254391650"/>
      </p:ext>
    </p:extLst>
  </p:cSld>
  <p:clrMapOvr>
    <a:masterClrMapping/>
  </p:clrMapOvr>
</p:sld>
</file>

<file path=ppt/slides/slide2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picture containing drawing&#10;&#10;Description automatically generated">
            <a:extLst>
              <a:ext uri="{FF2B5EF4-FFF2-40B4-BE49-F238E27FC236}">
                <a16:creationId xmlns:a16="http://schemas.microsoft.com/office/drawing/2014/main" id="{DBB91EE2-6286-4AA2-8650-24B019AE9081}"/>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1473201" y="1084016"/>
            <a:ext cx="5294312" cy="3553072"/>
          </a:xfrm>
          <a:prstGeom prst="rect">
            <a:avLst/>
          </a:prstGeom>
        </p:spPr>
      </p:pic>
      <p:sp>
        <p:nvSpPr>
          <p:cNvPr id="6" name="TextBox 5">
            <a:extLst>
              <a:ext uri="{FF2B5EF4-FFF2-40B4-BE49-F238E27FC236}">
                <a16:creationId xmlns:a16="http://schemas.microsoft.com/office/drawing/2014/main" id="{A960BDC2-33B3-45C4-B8FE-843D54ABF3E9}"/>
              </a:ext>
            </a:extLst>
          </p:cNvPr>
          <p:cNvSpPr txBox="1"/>
          <p:nvPr/>
        </p:nvSpPr>
        <p:spPr>
          <a:xfrm>
            <a:off x="1473201" y="4401057"/>
            <a:ext cx="5294312" cy="230832"/>
          </a:xfrm>
          <a:prstGeom prst="rect">
            <a:avLst/>
          </a:prstGeom>
          <a:noFill/>
        </p:spPr>
        <p:txBody>
          <a:bodyPr wrap="square" rtlCol="0">
            <a:spAutoFit/>
          </a:bodyPr>
          <a:lstStyle/>
          <a:p>
            <a:r>
              <a:rPr lang="en-AU" sz="900">
                <a:hlinkClick r:id="rId3" tooltip="http://www.bcdb.com/cartoons/Other_Studios/S/S-_Miscellany/Siriol_Productions/"/>
              </a:rPr>
              <a:t>This Photo</a:t>
            </a:r>
            <a:r>
              <a:rPr lang="en-AU" sz="900"/>
              <a:t> by Unknown Author is licensed under </a:t>
            </a:r>
            <a:r>
              <a:rPr lang="en-AU" sz="900">
                <a:hlinkClick r:id="rId4" tooltip="https://creativecommons.org/licenses/by-nc-sa/3.0/"/>
              </a:rPr>
              <a:t>CC BY-SA-NC</a:t>
            </a:r>
            <a:endParaRPr lang="en-AU" sz="900"/>
          </a:p>
        </p:txBody>
      </p:sp>
      <p:pic>
        <p:nvPicPr>
          <p:cNvPr id="8" name="Picture 7" descr="A close up of a logo&#10;&#10;Description automatically generated">
            <a:extLst>
              <a:ext uri="{FF2B5EF4-FFF2-40B4-BE49-F238E27FC236}">
                <a16:creationId xmlns:a16="http://schemas.microsoft.com/office/drawing/2014/main" id="{A8343FC9-1AA7-4BE8-857F-264EC5149BBB}"/>
              </a:ext>
            </a:extLst>
          </p:cNvPr>
          <p:cNvPicPr>
            <a:picLocks noChangeAspect="1"/>
          </p:cNvPicPr>
          <p:nvPr/>
        </p:nvPicPr>
        <p:blipFill>
          <a:blip r:embed="rId5">
            <a:extLst>
              <a:ext uri="{28A0092B-C50C-407E-A947-70E740481C1C}">
                <a14:useLocalDpi xmlns:a14="http://schemas.microsoft.com/office/drawing/2010/main" val="0"/>
              </a:ext>
              <a:ext uri="{837473B0-CC2E-450A-ABE3-18F120FF3D39}">
                <a1611:picAttrSrcUrl xmlns:a1611="http://schemas.microsoft.com/office/drawing/2016/11/main" r:id="rId6"/>
              </a:ext>
            </a:extLst>
          </a:blip>
          <a:stretch>
            <a:fillRect/>
          </a:stretch>
        </p:blipFill>
        <p:spPr>
          <a:xfrm>
            <a:off x="7746378" y="1206062"/>
            <a:ext cx="2842466" cy="2632841"/>
          </a:xfrm>
          <a:prstGeom prst="rect">
            <a:avLst/>
          </a:prstGeom>
        </p:spPr>
      </p:pic>
      <p:sp>
        <p:nvSpPr>
          <p:cNvPr id="9" name="TextBox 8">
            <a:extLst>
              <a:ext uri="{FF2B5EF4-FFF2-40B4-BE49-F238E27FC236}">
                <a16:creationId xmlns:a16="http://schemas.microsoft.com/office/drawing/2014/main" id="{063B84F5-56BE-4243-8B73-DF28140A67CE}"/>
              </a:ext>
            </a:extLst>
          </p:cNvPr>
          <p:cNvSpPr txBox="1"/>
          <p:nvPr/>
        </p:nvSpPr>
        <p:spPr>
          <a:xfrm>
            <a:off x="2341179" y="5115910"/>
            <a:ext cx="9033642" cy="1323439"/>
          </a:xfrm>
          <a:prstGeom prst="rect">
            <a:avLst/>
          </a:prstGeom>
          <a:noFill/>
        </p:spPr>
        <p:txBody>
          <a:bodyPr wrap="square" rtlCol="0">
            <a:spAutoFit/>
          </a:bodyPr>
          <a:lstStyle/>
          <a:p>
            <a:r>
              <a:rPr lang="en-US" sz="8000" b="1" dirty="0">
                <a:solidFill>
                  <a:srgbClr val="FF0000"/>
                </a:solidFill>
                <a:latin typeface="Calibri" panose="020F0502020204030204" pitchFamily="34" charset="0"/>
                <a:cs typeface="Calibri" panose="020F0502020204030204" pitchFamily="34" charset="0"/>
              </a:rPr>
              <a:t>F</a:t>
            </a:r>
            <a:r>
              <a:rPr lang="en-US" sz="8000" b="1" dirty="0">
                <a:latin typeface="Calibri" panose="020F0502020204030204" pitchFamily="34" charset="0"/>
                <a:cs typeface="Calibri" panose="020F0502020204030204" pitchFamily="34" charset="0"/>
              </a:rPr>
              <a:t>ireman </a:t>
            </a:r>
            <a:r>
              <a:rPr lang="en-US" sz="8000" b="1" dirty="0">
                <a:solidFill>
                  <a:srgbClr val="FF0000"/>
                </a:solidFill>
                <a:latin typeface="Calibri" panose="020F0502020204030204" pitchFamily="34" charset="0"/>
                <a:cs typeface="Calibri" panose="020F0502020204030204" pitchFamily="34" charset="0"/>
              </a:rPr>
              <a:t>SAM P</a:t>
            </a:r>
            <a:r>
              <a:rPr lang="en-US" sz="8000" b="1" dirty="0">
                <a:latin typeface="Calibri" panose="020F0502020204030204" pitchFamily="34" charset="0"/>
                <a:cs typeface="Calibri" panose="020F0502020204030204" pitchFamily="34" charset="0"/>
              </a:rPr>
              <a:t>oops</a:t>
            </a:r>
            <a:endParaRPr lang="en-AU" sz="8000" b="1"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64388723"/>
      </p:ext>
    </p:extLst>
  </p:cSld>
  <p:clrMapOvr>
    <a:masterClrMapping/>
  </p:clrMapOvr>
</p:sld>
</file>

<file path=ppt/slides/slide2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Reference </a:t>
            </a:r>
          </a:p>
        </p:txBody>
      </p:sp>
      <p:sp>
        <p:nvSpPr>
          <p:cNvPr id="3" name="Content Placeholder 2"/>
          <p:cNvSpPr>
            <a:spLocks noGrp="1"/>
          </p:cNvSpPr>
          <p:nvPr>
            <p:ph idx="1"/>
          </p:nvPr>
        </p:nvSpPr>
        <p:spPr/>
        <p:txBody>
          <a:bodyPr/>
          <a:lstStyle/>
          <a:p>
            <a:pPr marL="0" indent="-457200">
              <a:buNone/>
            </a:pPr>
            <a:r>
              <a:rPr lang="en-US" dirty="0"/>
              <a:t>World Health Organization (2011). Rio Political Declaration on Social Determinants of Health. World Conference on Social Determinants of Health.</a:t>
            </a:r>
          </a:p>
          <a:p>
            <a:pPr marL="0" indent="-457200">
              <a:buNone/>
            </a:pPr>
            <a:r>
              <a:rPr lang="en-US" dirty="0"/>
              <a:t>Lockhart, E. (2011). </a:t>
            </a:r>
            <a:r>
              <a:rPr lang="en-US" i="1" dirty="0"/>
              <a:t>Health Studies Stage 3A-b. </a:t>
            </a:r>
            <a:r>
              <a:rPr lang="en-US" dirty="0" err="1"/>
              <a:t>Madeley</a:t>
            </a:r>
            <a:r>
              <a:rPr lang="en-US" dirty="0"/>
              <a:t>: Print Publishing.</a:t>
            </a:r>
          </a:p>
          <a:p>
            <a:pPr marL="0" indent="-457200">
              <a:buNone/>
            </a:pPr>
            <a:endParaRPr lang="en-US" dirty="0"/>
          </a:p>
        </p:txBody>
      </p:sp>
    </p:spTree>
    <p:extLst>
      <p:ext uri="{BB962C8B-B14F-4D97-AF65-F5344CB8AC3E}">
        <p14:creationId xmlns:p14="http://schemas.microsoft.com/office/powerpoint/2010/main" val="2068004020"/>
      </p:ext>
    </p:extLst>
  </p:cSld>
  <p:clrMapOvr>
    <a:masterClrMapping/>
  </p:clrMapOvr>
</p:sld>
</file>

<file path=ppt/slides/slide27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1E7C082-5B81-400A-A1DE-7CA9F26ED81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457200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cxnSp>
        <p:nvCxnSpPr>
          <p:cNvPr id="9" name="Straight Connector 8">
            <a:extLst>
              <a:ext uri="{FF2B5EF4-FFF2-40B4-BE49-F238E27FC236}">
                <a16:creationId xmlns:a16="http://schemas.microsoft.com/office/drawing/2014/main" id="{08D54232-CDE1-4B53-B430-AB82206F6B5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8386842" y="5264106"/>
            <a:ext cx="0" cy="91440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 useBgFill="1">
        <p:nvSpPr>
          <p:cNvPr id="11" name="Rectangle 10">
            <a:extLst>
              <a:ext uri="{FF2B5EF4-FFF2-40B4-BE49-F238E27FC236}">
                <a16:creationId xmlns:a16="http://schemas.microsoft.com/office/drawing/2014/main" id="{9238970C-19DE-438D-80D2-5CF9690551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E4B1E3F6-167B-40F3-B303-9A931BAB97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6928" y="484632"/>
            <a:ext cx="11244036" cy="588091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B151E8D-BBCB-4A8F-8174-123B7DC45703}"/>
              </a:ext>
            </a:extLst>
          </p:cNvPr>
          <p:cNvSpPr>
            <a:spLocks noGrp="1"/>
          </p:cNvSpPr>
          <p:nvPr>
            <p:ph type="title"/>
          </p:nvPr>
        </p:nvSpPr>
        <p:spPr>
          <a:xfrm>
            <a:off x="4365356" y="810275"/>
            <a:ext cx="7020747" cy="5229630"/>
          </a:xfrm>
        </p:spPr>
        <p:txBody>
          <a:bodyPr vert="horz" lIns="91440" tIns="45720" rIns="91440" bIns="45720" rtlCol="0" anchor="ctr">
            <a:normAutofit/>
          </a:bodyPr>
          <a:lstStyle/>
          <a:p>
            <a:r>
              <a:rPr lang="en-US" sz="6600" spc="200" dirty="0">
                <a:solidFill>
                  <a:srgbClr val="FFFFFF"/>
                </a:solidFill>
              </a:rPr>
              <a:t>SEMESTER ONE EXAM</a:t>
            </a:r>
            <a:br>
              <a:rPr lang="en-US" sz="6600" spc="200" dirty="0">
                <a:solidFill>
                  <a:srgbClr val="FFFFFF"/>
                </a:solidFill>
              </a:rPr>
            </a:br>
            <a:r>
              <a:rPr lang="en-US" sz="6600" spc="200" dirty="0">
                <a:solidFill>
                  <a:srgbClr val="FFFFFF"/>
                </a:solidFill>
              </a:rPr>
              <a:t>REVISION WEEK</a:t>
            </a:r>
          </a:p>
        </p:txBody>
      </p:sp>
      <p:cxnSp>
        <p:nvCxnSpPr>
          <p:cNvPr id="15" name="Straight Connector 14">
            <a:extLst>
              <a:ext uri="{FF2B5EF4-FFF2-40B4-BE49-F238E27FC236}">
                <a16:creationId xmlns:a16="http://schemas.microsoft.com/office/drawing/2014/main" id="{40465A9A-0B0E-4D7B-8150-D098AC71B3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059935" y="1596290"/>
            <a:ext cx="0" cy="3657600"/>
          </a:xfrm>
          <a:prstGeom prst="line">
            <a:avLst/>
          </a:prstGeom>
          <a:ln w="19050">
            <a:solidFill>
              <a:srgbClr val="FFFFFF">
                <a:alpha val="7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08156851"/>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Integral">
  <a:themeElements>
    <a:clrScheme name="Integral">
      <a:dk1>
        <a:srgbClr val="2E2B21"/>
      </a:dk1>
      <a:lt1>
        <a:srgbClr val="FFFFFF"/>
      </a:lt1>
      <a:dk2>
        <a:srgbClr val="605B4F"/>
      </a:dk2>
      <a:lt2>
        <a:srgbClr val="D8D6BE"/>
      </a:lt2>
      <a:accent1>
        <a:srgbClr val="A9A57C"/>
      </a:accent1>
      <a:accent2>
        <a:srgbClr val="9CBEBD"/>
      </a:accent2>
      <a:accent3>
        <a:srgbClr val="D2CB6C"/>
      </a:accent3>
      <a:accent4>
        <a:srgbClr val="95A39D"/>
      </a:accent4>
      <a:accent5>
        <a:srgbClr val="C89F5D"/>
      </a:accent5>
      <a:accent6>
        <a:srgbClr val="B1A089"/>
      </a:accent6>
      <a:hlink>
        <a:srgbClr val="D25814"/>
      </a:hlink>
      <a:folHlink>
        <a:srgbClr val="849A0A"/>
      </a:folHlink>
    </a:clrScheme>
    <a:fontScheme name="Integral">
      <a:majorFont>
        <a:latin typeface="Tw Cen MT Condensed" panose="020B06060201040202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panose="020B06020201040206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Integral">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blipFill rotWithShape="1">
          <a:blip xmlns:r="http://schemas.openxmlformats.org/officeDocument/2006/relationships" r:embed="rId1">
            <a:duotone>
              <a:schemeClr val="phClr">
                <a:tint val="98000"/>
              </a:schemeClr>
              <a:schemeClr val="phClr">
                <a:shade val="89000"/>
                <a:satMod val="145000"/>
              </a:schemeClr>
            </a:duotone>
          </a:blip>
          <a:tile tx="0" ty="0" sx="32000" sy="32000" flip="none" algn="tl"/>
        </a:blipFill>
        <a:blipFill rotWithShape="1">
          <a:blip xmlns:r="http://schemas.openxmlformats.org/officeDocument/2006/relationships" r:embed="rId2">
            <a:duotone>
              <a:schemeClr val="phClr">
                <a:tint val="98000"/>
              </a:schemeClr>
              <a:schemeClr val="phClr">
                <a:shade val="95000"/>
              </a:schemeClr>
            </a:duotone>
          </a:blip>
          <a:tile tx="0" ty="0" sx="32000" sy="32000" flip="none" algn="tl"/>
        </a:blipFill>
      </a:bgFillStyleLst>
    </a:fmtScheme>
  </a:themeElements>
  <a:objectDefaults/>
  <a:extraClrSchemeLst/>
  <a:extLst>
    <a:ext uri="{05A4C25C-085E-4340-85A3-A5531E510DB2}">
      <thm15:themeFamily xmlns:thm15="http://schemas.microsoft.com/office/thememl/2012/main" name="Integral" id="{3577F8C9-A904-41D8-97D2-FD898F53F20E}" vid="{090DCB5F-146D-478A-852A-34B16FE9F3A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6374</TotalTime>
  <Words>17663</Words>
  <Application>Microsoft Office PowerPoint</Application>
  <PresentationFormat>Widescreen</PresentationFormat>
  <Paragraphs>1546</Paragraphs>
  <Slides>276</Slides>
  <Notes>1</Notes>
  <HiddenSlides>0</HiddenSlides>
  <MMClips>1</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276</vt:i4>
      </vt:variant>
    </vt:vector>
  </HeadingPairs>
  <TitlesOfParts>
    <vt:vector size="285" baseType="lpstr">
      <vt:lpstr>Arial</vt:lpstr>
      <vt:lpstr>Calibri</vt:lpstr>
      <vt:lpstr>Courier New</vt:lpstr>
      <vt:lpstr>Times New Roman</vt:lpstr>
      <vt:lpstr>Tw Cen MT</vt:lpstr>
      <vt:lpstr>Tw Cen MT Condensed</vt:lpstr>
      <vt:lpstr>Wingdings</vt:lpstr>
      <vt:lpstr>Wingdings 3</vt:lpstr>
      <vt:lpstr>Integral</vt:lpstr>
      <vt:lpstr>Unit 3</vt:lpstr>
      <vt:lpstr>Socio-ecological model </vt:lpstr>
      <vt:lpstr>Syllabus content</vt:lpstr>
      <vt:lpstr>Definition of health</vt:lpstr>
      <vt:lpstr>Socioecological (social) Model of Health </vt:lpstr>
      <vt:lpstr>1. What does it look like?</vt:lpstr>
      <vt:lpstr>2. Why does it exist?</vt:lpstr>
      <vt:lpstr>3. What information does it provide us with?</vt:lpstr>
      <vt:lpstr>4. How can we use it?</vt:lpstr>
      <vt:lpstr>5. Breaking down each level:</vt:lpstr>
      <vt:lpstr>Individual LEVEL</vt:lpstr>
      <vt:lpstr>Interpersonal LEVEL</vt:lpstr>
      <vt:lpstr>Organisational LEVEL</vt:lpstr>
      <vt:lpstr>Community LEVEL</vt:lpstr>
      <vt:lpstr>Societal lEVEL</vt:lpstr>
      <vt:lpstr>6. Relationships between each level</vt:lpstr>
      <vt:lpstr>7. Application</vt:lpstr>
      <vt:lpstr>Apply it!</vt:lpstr>
      <vt:lpstr>Apply it!</vt:lpstr>
      <vt:lpstr>Apply it!</vt:lpstr>
      <vt:lpstr>Apply it!</vt:lpstr>
      <vt:lpstr>Apply it!</vt:lpstr>
      <vt:lpstr>HOmeWORK: Application Question </vt:lpstr>
      <vt:lpstr>References</vt:lpstr>
      <vt:lpstr>Maslow’s Hierarchy of Needs</vt:lpstr>
      <vt:lpstr>Syllabus content</vt:lpstr>
      <vt:lpstr>Mr. Maslow</vt:lpstr>
      <vt:lpstr>PowerPoint Presentation</vt:lpstr>
      <vt:lpstr>PowerPoint Presentation</vt:lpstr>
      <vt:lpstr>Physiological needs</vt:lpstr>
      <vt:lpstr>Safety needs</vt:lpstr>
      <vt:lpstr>Social needs</vt:lpstr>
      <vt:lpstr>esteem needs</vt:lpstr>
      <vt:lpstr>Self actualisation</vt:lpstr>
      <vt:lpstr>PowerPoint Presentation</vt:lpstr>
      <vt:lpstr>Peak Experiences</vt:lpstr>
      <vt:lpstr>SELF ACCEPTANCE</vt:lpstr>
      <vt:lpstr>Realistic</vt:lpstr>
      <vt:lpstr>Problem-centred</vt:lpstr>
      <vt:lpstr>Autonomous</vt:lpstr>
      <vt:lpstr>Spontaneous</vt:lpstr>
      <vt:lpstr>Questions to consider</vt:lpstr>
      <vt:lpstr>Are you self-actualized?</vt:lpstr>
      <vt:lpstr>RESOURCES</vt:lpstr>
      <vt:lpstr>Characteristics and needs of specific populations</vt:lpstr>
      <vt:lpstr>Syllabus content</vt:lpstr>
      <vt:lpstr>What is a specific population?</vt:lpstr>
      <vt:lpstr>Specific populations worksheet </vt:lpstr>
      <vt:lpstr>Research documents</vt:lpstr>
      <vt:lpstr>Discuss</vt:lpstr>
      <vt:lpstr>First Contact Episode #1 (Sbs)</vt:lpstr>
      <vt:lpstr>Access &amp; equity issues of specific populations</vt:lpstr>
      <vt:lpstr>PowerPoint Presentation</vt:lpstr>
      <vt:lpstr>Access and equity</vt:lpstr>
      <vt:lpstr>PowerPoint Presentation</vt:lpstr>
      <vt:lpstr>PowerPoint Presentation</vt:lpstr>
      <vt:lpstr>remember:      5 A’s of Access</vt:lpstr>
      <vt:lpstr>Global vs Regional health inequities</vt:lpstr>
      <vt:lpstr>PowerPoint Presentation</vt:lpstr>
      <vt:lpstr>Measuring health inequities</vt:lpstr>
      <vt:lpstr>Quantitative vs Qualitative:</vt:lpstr>
      <vt:lpstr>Qualitative and quantitative measures</vt:lpstr>
      <vt:lpstr>Finish specific populations worksheet</vt:lpstr>
      <vt:lpstr>Social justice</vt:lpstr>
      <vt:lpstr>Syllabus content</vt:lpstr>
      <vt:lpstr>What is social justice?</vt:lpstr>
      <vt:lpstr>3 Principles of Social Justice</vt:lpstr>
      <vt:lpstr>1. ACCESS &amp; equity</vt:lpstr>
      <vt:lpstr>another perspective via youtube</vt:lpstr>
      <vt:lpstr>2. diversity</vt:lpstr>
      <vt:lpstr>3. Supportive environments</vt:lpstr>
      <vt:lpstr>Example: closing the gap program</vt:lpstr>
      <vt:lpstr>Example: closing the gap program</vt:lpstr>
      <vt:lpstr>What are the targets of the program?</vt:lpstr>
      <vt:lpstr>Are we on track?</vt:lpstr>
      <vt:lpstr>What strategies have they used to increase equality for Indigenous Australians?</vt:lpstr>
      <vt:lpstr>What have we learned?</vt:lpstr>
      <vt:lpstr>An example...</vt:lpstr>
      <vt:lpstr>Sources</vt:lpstr>
      <vt:lpstr>Factors that create health inequities</vt:lpstr>
      <vt:lpstr>Syllabus content</vt:lpstr>
      <vt:lpstr>Discrimination</vt:lpstr>
      <vt:lpstr>Access to healthcare</vt:lpstr>
      <vt:lpstr>Social isolation</vt:lpstr>
      <vt:lpstr>occupation</vt:lpstr>
      <vt:lpstr>Geographic location</vt:lpstr>
      <vt:lpstr>Government economic &amp; social policies</vt:lpstr>
      <vt:lpstr>Health literacy</vt:lpstr>
      <vt:lpstr>Gender</vt:lpstr>
      <vt:lpstr>unemployment</vt:lpstr>
      <vt:lpstr>Dislocation of land</vt:lpstr>
      <vt:lpstr>Access to and level of education</vt:lpstr>
      <vt:lpstr>racism</vt:lpstr>
      <vt:lpstr>Socioeconomic status</vt:lpstr>
      <vt:lpstr>“HUG SAD rag dogs” (mnemonic device)</vt:lpstr>
      <vt:lpstr>Past wace question</vt:lpstr>
      <vt:lpstr>Needs Assessment</vt:lpstr>
      <vt:lpstr>Syllabus content</vt:lpstr>
      <vt:lpstr>Types of need</vt:lpstr>
      <vt:lpstr>Felt need</vt:lpstr>
      <vt:lpstr>EXPRESSED need</vt:lpstr>
      <vt:lpstr>COMPARATIVE need</vt:lpstr>
      <vt:lpstr>NORMATIVE need</vt:lpstr>
      <vt:lpstr>What is a Needs Assessment?</vt:lpstr>
      <vt:lpstr>Purpose of Needs Assessment</vt:lpstr>
      <vt:lpstr>7 Steps in Needs Assessment</vt:lpstr>
      <vt:lpstr>Step 1: Identifying health issues</vt:lpstr>
      <vt:lpstr>Step 2: Analysing health issues</vt:lpstr>
      <vt:lpstr>Step 3: Prioritising health issues</vt:lpstr>
      <vt:lpstr>Step 4: setting goals</vt:lpstr>
      <vt:lpstr>Step 5: determining strategies</vt:lpstr>
      <vt:lpstr>Step 5: developing action plans</vt:lpstr>
      <vt:lpstr>Step 6: evaluating outcomes</vt:lpstr>
      <vt:lpstr>Benefits of needs assessment</vt:lpstr>
      <vt:lpstr>Application: Wace question</vt:lpstr>
      <vt:lpstr>references</vt:lpstr>
      <vt:lpstr>Ottawa charter for health promotion</vt:lpstr>
      <vt:lpstr>Syllabus COntent</vt:lpstr>
      <vt:lpstr>READING: health promotion &amp; Road Safety </vt:lpstr>
      <vt:lpstr>Reminder: What is health promotion?</vt:lpstr>
      <vt:lpstr>Enabling</vt:lpstr>
      <vt:lpstr>Enabling and Health Promotion</vt:lpstr>
      <vt:lpstr>PowerPoint Presentation</vt:lpstr>
      <vt:lpstr>Mediating and Health Promotion</vt:lpstr>
      <vt:lpstr>PowerPoint Presentation</vt:lpstr>
      <vt:lpstr>Advocating and Health Promotion</vt:lpstr>
      <vt:lpstr>PowerPoint Presentation</vt:lpstr>
      <vt:lpstr>Application: Wace question</vt:lpstr>
      <vt:lpstr>References</vt:lpstr>
      <vt:lpstr>Actions to address health inequities</vt:lpstr>
      <vt:lpstr>Syllabus content</vt:lpstr>
      <vt:lpstr>Improving access to healthcare</vt:lpstr>
      <vt:lpstr>Access to healthcare in Australia</vt:lpstr>
      <vt:lpstr>Improving health literacy</vt:lpstr>
      <vt:lpstr>Poor health literacy</vt:lpstr>
      <vt:lpstr>Good health literacy</vt:lpstr>
      <vt:lpstr>View &amp; reading</vt:lpstr>
      <vt:lpstr>Ottawa Charter Action Areas</vt:lpstr>
      <vt:lpstr>PowerPoint Presentation</vt:lpstr>
      <vt:lpstr>HEALTH INQUIRY 1</vt:lpstr>
      <vt:lpstr>Culture and decision-making</vt:lpstr>
      <vt:lpstr>SYLLABUS CONTENT</vt:lpstr>
      <vt:lpstr>definitions </vt:lpstr>
      <vt:lpstr>Decision making?</vt:lpstr>
      <vt:lpstr>Let’s talk about culture:</vt:lpstr>
      <vt:lpstr>Let’s talk about values:</vt:lpstr>
      <vt:lpstr>Culture and Beliefs</vt:lpstr>
      <vt:lpstr>Culture and values</vt:lpstr>
      <vt:lpstr>Australian values:</vt:lpstr>
      <vt:lpstr>Culture and attitudes</vt:lpstr>
      <vt:lpstr>Conflicting norms</vt:lpstr>
      <vt:lpstr>Conflicting norms </vt:lpstr>
      <vt:lpstr>Influence of Environmental factors </vt:lpstr>
      <vt:lpstr>Geographical Location</vt:lpstr>
      <vt:lpstr>Social networks</vt:lpstr>
      <vt:lpstr>Social networks &amp; health behaviours</vt:lpstr>
      <vt:lpstr>Childbirth, organ donation &amp; Blood TranSfusions</vt:lpstr>
      <vt:lpstr>Let’s get personal…</vt:lpstr>
      <vt:lpstr>Case study: transplants in australia</vt:lpstr>
      <vt:lpstr>Why is this important?</vt:lpstr>
      <vt:lpstr>Barriers to effective relationships in healthcare</vt:lpstr>
      <vt:lpstr>What skills do health professionals require to overcome these barriers?</vt:lpstr>
      <vt:lpstr>In a practical sense, How can health professionals overcome these barriers?</vt:lpstr>
      <vt:lpstr>Let’s look specifically at Language, culture and relationship building…</vt:lpstr>
      <vt:lpstr>Let’s look specifically at Language, culture and relationship building…</vt:lpstr>
      <vt:lpstr>Example</vt:lpstr>
      <vt:lpstr>Application activity</vt:lpstr>
      <vt:lpstr>Beth Case study    (60 year old Female)</vt:lpstr>
      <vt:lpstr>PowerPoint Presentation</vt:lpstr>
      <vt:lpstr>Beth Case study    60 year old Female</vt:lpstr>
      <vt:lpstr>APPLICATION QUESTION</vt:lpstr>
      <vt:lpstr>references</vt:lpstr>
      <vt:lpstr>Skills that support positive health behaviours</vt:lpstr>
      <vt:lpstr>Syllabus content</vt:lpstr>
      <vt:lpstr>3 main skills we are focusing on:</vt:lpstr>
      <vt:lpstr>Assertiveness</vt:lpstr>
      <vt:lpstr>Stress management</vt:lpstr>
      <vt:lpstr>resilience</vt:lpstr>
      <vt:lpstr>Components of resiliency</vt:lpstr>
      <vt:lpstr>How to build resiliency: podcast</vt:lpstr>
      <vt:lpstr>How to develop resiliency:</vt:lpstr>
      <vt:lpstr>Health literacy</vt:lpstr>
      <vt:lpstr>What do we already know?</vt:lpstr>
      <vt:lpstr>Last years levels of health literacy…</vt:lpstr>
      <vt:lpstr>3 Levels of health literacy</vt:lpstr>
      <vt:lpstr>Functional Health Literacy</vt:lpstr>
      <vt:lpstr>Conceptual health literacy</vt:lpstr>
      <vt:lpstr>Health literacy as empowerment</vt:lpstr>
      <vt:lpstr>Who tends to experience poor health literacy?</vt:lpstr>
      <vt:lpstr>Poor health literacy &amp; Health status</vt:lpstr>
      <vt:lpstr>Who tends to experience good health literacy?</vt:lpstr>
      <vt:lpstr>good health literacy &amp; Health status</vt:lpstr>
      <vt:lpstr>Practise Multiple choice question</vt:lpstr>
      <vt:lpstr>CLAss activity: exam writing </vt:lpstr>
      <vt:lpstr>Sources:</vt:lpstr>
      <vt:lpstr>State and Federal health reforms</vt:lpstr>
      <vt:lpstr>Syllabus content</vt:lpstr>
      <vt:lpstr>reading</vt:lpstr>
      <vt:lpstr>Australia’s health system: an Overview</vt:lpstr>
      <vt:lpstr>MEDICARE: an Overview</vt:lpstr>
      <vt:lpstr>MEDICARE: an Overview continued</vt:lpstr>
      <vt:lpstr>Public vs private health systems</vt:lpstr>
      <vt:lpstr>PowerPoint Presentation</vt:lpstr>
      <vt:lpstr>Healthcare reform #1: Private health insurance rebate</vt:lpstr>
      <vt:lpstr>How does private health insurance work?</vt:lpstr>
      <vt:lpstr>Private health insurance</vt:lpstr>
      <vt:lpstr>PowerPoint Presentation</vt:lpstr>
      <vt:lpstr>PowerPoint Presentation</vt:lpstr>
      <vt:lpstr>Let’s talk about the rebate…</vt:lpstr>
      <vt:lpstr>Let’s talk about the rebate…</vt:lpstr>
      <vt:lpstr>Advantages of Private health insurance:</vt:lpstr>
      <vt:lpstr>Disadvantages of private health insurance:</vt:lpstr>
      <vt:lpstr>Class activitY</vt:lpstr>
      <vt:lpstr>Pharmaceutical benefit scheme (PBS)</vt:lpstr>
      <vt:lpstr>Healthcare reform #2: Pharmaceutical benefits scheme</vt:lpstr>
      <vt:lpstr>Who is eligible for Pbs?</vt:lpstr>
      <vt:lpstr>Advantages of PBS:</vt:lpstr>
      <vt:lpstr>Disadvantages of PBS:</vt:lpstr>
      <vt:lpstr>Healthcare reform #3: PUBLIC screening/ vaccination programs</vt:lpstr>
      <vt:lpstr>Public screening programs</vt:lpstr>
      <vt:lpstr>Advantages of public screening programs:</vt:lpstr>
      <vt:lpstr>Disadvantages of public screening programs:</vt:lpstr>
      <vt:lpstr>Public health vaccination programs</vt:lpstr>
      <vt:lpstr>PowerPoint Presentation</vt:lpstr>
      <vt:lpstr>The impact of immunisation in Australia</vt:lpstr>
      <vt:lpstr>The National immunization program (NIP)</vt:lpstr>
      <vt:lpstr>PowerPoint Presentation</vt:lpstr>
      <vt:lpstr>PowerPoint Presentation</vt:lpstr>
      <vt:lpstr>Measles – Elimination Achieved in Australia</vt:lpstr>
      <vt:lpstr>Herd immunity</vt:lpstr>
      <vt:lpstr>Herd immunity thresholds</vt:lpstr>
      <vt:lpstr>How infectious is covid19?  Australian department  of Health</vt:lpstr>
      <vt:lpstr>Advantages of public immunisation programs</vt:lpstr>
      <vt:lpstr>Disadvantages of public immunisation programs:</vt:lpstr>
      <vt:lpstr>People who don’t get vaccinated:</vt:lpstr>
      <vt:lpstr>Needle-phobia</vt:lpstr>
      <vt:lpstr>APPLICATION QUESTION:</vt:lpstr>
      <vt:lpstr>WACE question 2016 Q28 answers</vt:lpstr>
      <vt:lpstr>WACE question 2016 Q28 answers</vt:lpstr>
      <vt:lpstr>PowerPoint Presentation</vt:lpstr>
      <vt:lpstr>WACE question 2016 Q28 answers</vt:lpstr>
      <vt:lpstr>WACE question 2016 Q28 answers</vt:lpstr>
      <vt:lpstr>WACE question 2016 Q28 answers</vt:lpstr>
      <vt:lpstr>WACE question 2016 Q28 answers</vt:lpstr>
      <vt:lpstr>WACE question 2016 Q28 answers</vt:lpstr>
      <vt:lpstr>WACE question 2016 Q28 answers</vt:lpstr>
      <vt:lpstr>WACE question 2016 Q28 answers</vt:lpstr>
      <vt:lpstr>WACE question 2016 Q28 answers</vt:lpstr>
      <vt:lpstr>WACE question 2016 Q28 answers</vt:lpstr>
      <vt:lpstr>WACE question 2016 Q28 answers</vt:lpstr>
      <vt:lpstr>resources</vt:lpstr>
      <vt:lpstr>PABCAR public health decision  making model</vt:lpstr>
      <vt:lpstr>Syllabus content</vt:lpstr>
      <vt:lpstr>Are health interventions worth it?</vt:lpstr>
      <vt:lpstr>Pabcar stands for…</vt:lpstr>
      <vt:lpstr>PABCAR</vt:lpstr>
      <vt:lpstr>Lets look at the model: (and annotate!)</vt:lpstr>
      <vt:lpstr>reading</vt:lpstr>
      <vt:lpstr>Application question</vt:lpstr>
      <vt:lpstr>Application question</vt:lpstr>
      <vt:lpstr>Rio Political Declaration on Social Determinants of Health</vt:lpstr>
      <vt:lpstr>Syllabus content</vt:lpstr>
      <vt:lpstr>Rio political declaration</vt:lpstr>
      <vt:lpstr>PowerPoint Presentation</vt:lpstr>
      <vt:lpstr>Action:</vt:lpstr>
      <vt:lpstr>RIO DEclARATIONs 3 Recommendations </vt:lpstr>
      <vt:lpstr>The Rio political declaration:</vt:lpstr>
      <vt:lpstr>1. Adopt better governance for health &amp; development</vt:lpstr>
      <vt:lpstr>2. Promote participation in policy making</vt:lpstr>
      <vt:lpstr>3. Further reorient the health sector towards reducing health inequities</vt:lpstr>
      <vt:lpstr>4. Strengthen global governance and collaboration</vt:lpstr>
      <vt:lpstr>5. Monitor progresses and increase accountability</vt:lpstr>
      <vt:lpstr>https://www.youtube.com/watch?v=ES1IX3Mam20</vt:lpstr>
      <vt:lpstr>PowerPoint Presentation</vt:lpstr>
      <vt:lpstr>Reference </vt:lpstr>
      <vt:lpstr>SEMESTER ONE EXAM REVISION WEEK</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Unit 3</dc:title>
  <dc:creator>Katie Hair</dc:creator>
  <cp:lastModifiedBy>George uhe</cp:lastModifiedBy>
  <cp:revision>24</cp:revision>
  <dcterms:created xsi:type="dcterms:W3CDTF">2020-11-27T02:25:17Z</dcterms:created>
  <dcterms:modified xsi:type="dcterms:W3CDTF">2021-11-11T00:59:59Z</dcterms:modified>
</cp:coreProperties>
</file>
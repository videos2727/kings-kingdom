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84" r:id="rId3"/>
    <p:sldId id="289" r:id="rId4"/>
    <p:sldId id="290" r:id="rId5"/>
    <p:sldId id="292" r:id="rId6"/>
    <p:sldId id="293" r:id="rId7"/>
    <p:sldId id="291" r:id="rId8"/>
    <p:sldId id="301" r:id="rId9"/>
    <p:sldId id="294" r:id="rId10"/>
    <p:sldId id="295" r:id="rId11"/>
    <p:sldId id="296" r:id="rId12"/>
    <p:sldId id="297" r:id="rId13"/>
    <p:sldId id="389" r:id="rId14"/>
    <p:sldId id="298" r:id="rId15"/>
    <p:sldId id="257" r:id="rId16"/>
    <p:sldId id="299" r:id="rId17"/>
    <p:sldId id="300" r:id="rId18"/>
    <p:sldId id="303" r:id="rId19"/>
    <p:sldId id="304" r:id="rId20"/>
    <p:sldId id="305" r:id="rId21"/>
    <p:sldId id="313" r:id="rId22"/>
    <p:sldId id="306" r:id="rId23"/>
    <p:sldId id="307" r:id="rId24"/>
    <p:sldId id="308" r:id="rId25"/>
    <p:sldId id="309" r:id="rId26"/>
    <p:sldId id="310" r:id="rId27"/>
    <p:sldId id="311" r:id="rId28"/>
    <p:sldId id="312" r:id="rId29"/>
    <p:sldId id="314" r:id="rId30"/>
    <p:sldId id="315" r:id="rId31"/>
    <p:sldId id="316" r:id="rId32"/>
    <p:sldId id="318" r:id="rId33"/>
    <p:sldId id="319" r:id="rId34"/>
    <p:sldId id="320" r:id="rId35"/>
    <p:sldId id="321" r:id="rId36"/>
    <p:sldId id="322" r:id="rId37"/>
    <p:sldId id="323" r:id="rId38"/>
    <p:sldId id="337" r:id="rId39"/>
    <p:sldId id="338" r:id="rId40"/>
    <p:sldId id="339" r:id="rId41"/>
    <p:sldId id="340" r:id="rId42"/>
    <p:sldId id="346" r:id="rId43"/>
    <p:sldId id="343" r:id="rId44"/>
    <p:sldId id="345" r:id="rId45"/>
    <p:sldId id="347" r:id="rId46"/>
    <p:sldId id="348" r:id="rId47"/>
    <p:sldId id="349" r:id="rId48"/>
    <p:sldId id="351" r:id="rId49"/>
    <p:sldId id="352" r:id="rId50"/>
    <p:sldId id="326" r:id="rId51"/>
    <p:sldId id="327" r:id="rId52"/>
    <p:sldId id="328" r:id="rId53"/>
    <p:sldId id="329" r:id="rId54"/>
    <p:sldId id="330" r:id="rId55"/>
    <p:sldId id="366" r:id="rId56"/>
    <p:sldId id="331" r:id="rId57"/>
    <p:sldId id="332" r:id="rId58"/>
    <p:sldId id="333" r:id="rId59"/>
    <p:sldId id="353" r:id="rId60"/>
    <p:sldId id="354" r:id="rId61"/>
    <p:sldId id="367" r:id="rId62"/>
    <p:sldId id="365" r:id="rId63"/>
    <p:sldId id="360" r:id="rId64"/>
    <p:sldId id="361" r:id="rId65"/>
    <p:sldId id="362" r:id="rId66"/>
    <p:sldId id="363" r:id="rId67"/>
    <p:sldId id="368" r:id="rId68"/>
    <p:sldId id="379" r:id="rId69"/>
    <p:sldId id="369" r:id="rId70"/>
    <p:sldId id="380" r:id="rId71"/>
    <p:sldId id="384" r:id="rId72"/>
    <p:sldId id="385" r:id="rId73"/>
    <p:sldId id="386" r:id="rId74"/>
    <p:sldId id="387" r:id="rId75"/>
    <p:sldId id="371" r:id="rId76"/>
    <p:sldId id="381" r:id="rId77"/>
    <p:sldId id="383" r:id="rId78"/>
    <p:sldId id="388" r:id="rId79"/>
    <p:sldId id="394" r:id="rId80"/>
    <p:sldId id="378" r:id="rId81"/>
    <p:sldId id="396" r:id="rId82"/>
    <p:sldId id="391" r:id="rId83"/>
    <p:sldId id="397" r:id="rId84"/>
    <p:sldId id="376" r:id="rId85"/>
    <p:sldId id="400" r:id="rId86"/>
    <p:sldId id="402" r:id="rId87"/>
    <p:sldId id="377" r:id="rId88"/>
    <p:sldId id="401" r:id="rId8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33"/>
    <a:srgbClr val="FFC000"/>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390" autoAdjust="0"/>
    <p:restoredTop sz="94660"/>
  </p:normalViewPr>
  <p:slideViewPr>
    <p:cSldViewPr snapToGrid="0">
      <p:cViewPr>
        <p:scale>
          <a:sx n="80" d="100"/>
          <a:sy n="80" d="100"/>
        </p:scale>
        <p:origin x="350"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46DB5B-AAB6-4E93-84EA-28BE5327A56C}"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F291EAF-E46D-4E8B-B0C8-04E28604FF33}"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77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46DB5B-AAB6-4E93-84EA-28BE5327A56C}"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F291EAF-E46D-4E8B-B0C8-04E28604FF33}" type="slidenum">
              <a:rPr lang="en-AU" smtClean="0"/>
              <a:t>‹#›</a:t>
            </a:fld>
            <a:endParaRPr lang="en-AU"/>
          </a:p>
        </p:txBody>
      </p:sp>
    </p:spTree>
    <p:extLst>
      <p:ext uri="{BB962C8B-B14F-4D97-AF65-F5344CB8AC3E}">
        <p14:creationId xmlns:p14="http://schemas.microsoft.com/office/powerpoint/2010/main" val="2166008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446DB5B-AAB6-4E93-84EA-28BE5327A56C}"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F291EAF-E46D-4E8B-B0C8-04E28604FF33}"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034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46DB5B-AAB6-4E93-84EA-28BE5327A56C}" type="datetimeFigureOut">
              <a:rPr lang="en-AU" smtClean="0"/>
              <a:t>1/08/2022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F291EAF-E46D-4E8B-B0C8-04E28604FF33}" type="slidenum">
              <a:rPr lang="en-AU" smtClean="0"/>
              <a:t>‹#›</a:t>
            </a:fld>
            <a:endParaRPr lang="en-AU"/>
          </a:p>
        </p:txBody>
      </p:sp>
    </p:spTree>
    <p:extLst>
      <p:ext uri="{BB962C8B-B14F-4D97-AF65-F5344CB8AC3E}">
        <p14:creationId xmlns:p14="http://schemas.microsoft.com/office/powerpoint/2010/main" val="4231534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46DB5B-AAB6-4E93-84EA-28BE5327A56C}" type="datetimeFigureOut">
              <a:rPr lang="en-AU" smtClean="0"/>
              <a:t>1/08/2022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F291EAF-E46D-4E8B-B0C8-04E28604FF33}" type="slidenum">
              <a:rPr lang="en-AU" smtClean="0"/>
              <a:t>‹#›</a:t>
            </a:fld>
            <a:endParaRPr lang="en-AU"/>
          </a:p>
        </p:txBody>
      </p:sp>
    </p:spTree>
    <p:extLst>
      <p:ext uri="{BB962C8B-B14F-4D97-AF65-F5344CB8AC3E}">
        <p14:creationId xmlns:p14="http://schemas.microsoft.com/office/powerpoint/2010/main" val="364078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46DB5B-AAB6-4E93-84EA-28BE5327A56C}" type="datetimeFigureOut">
              <a:rPr lang="en-AU" smtClean="0"/>
              <a:t>1/08/2022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F291EAF-E46D-4E8B-B0C8-04E28604FF33}" type="slidenum">
              <a:rPr lang="en-AU" smtClean="0"/>
              <a:t>‹#›</a:t>
            </a:fld>
            <a:endParaRPr lang="en-AU"/>
          </a:p>
        </p:txBody>
      </p:sp>
    </p:spTree>
    <p:extLst>
      <p:ext uri="{BB962C8B-B14F-4D97-AF65-F5344CB8AC3E}">
        <p14:creationId xmlns:p14="http://schemas.microsoft.com/office/powerpoint/2010/main" val="332267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446DB5B-AAB6-4E93-84EA-28BE5327A56C}" type="datetimeFigureOut">
              <a:rPr lang="en-AU" smtClean="0"/>
              <a:t>1/08/2022</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8F291EAF-E46D-4E8B-B0C8-04E28604FF33}" type="slidenum">
              <a:rPr lang="en-AU" smtClean="0"/>
              <a:t>‹#›</a:t>
            </a:fld>
            <a:endParaRPr lang="en-AU"/>
          </a:p>
        </p:txBody>
      </p:sp>
    </p:spTree>
    <p:extLst>
      <p:ext uri="{BB962C8B-B14F-4D97-AF65-F5344CB8AC3E}">
        <p14:creationId xmlns:p14="http://schemas.microsoft.com/office/powerpoint/2010/main" val="4223873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46DB5B-AAB6-4E93-84EA-28BE5327A56C}" type="datetimeFigureOut">
              <a:rPr lang="en-AU" smtClean="0"/>
              <a:t>1/08/2022</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F291EAF-E46D-4E8B-B0C8-04E28604FF33}" type="slidenum">
              <a:rPr lang="en-AU" smtClean="0"/>
              <a:t>‹#›</a:t>
            </a:fld>
            <a:endParaRPr lang="en-AU"/>
          </a:p>
        </p:txBody>
      </p:sp>
    </p:spTree>
    <p:extLst>
      <p:ext uri="{BB962C8B-B14F-4D97-AF65-F5344CB8AC3E}">
        <p14:creationId xmlns:p14="http://schemas.microsoft.com/office/powerpoint/2010/main" val="602198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446DB5B-AAB6-4E93-84EA-28BE5327A56C}" type="datetimeFigureOut">
              <a:rPr lang="en-AU" smtClean="0"/>
              <a:t>1/08/2022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F291EAF-E46D-4E8B-B0C8-04E28604FF33}" type="slidenum">
              <a:rPr lang="en-AU" smtClean="0"/>
              <a:t>‹#›</a:t>
            </a:fld>
            <a:endParaRPr lang="en-AU"/>
          </a:p>
        </p:txBody>
      </p:sp>
    </p:spTree>
    <p:extLst>
      <p:ext uri="{BB962C8B-B14F-4D97-AF65-F5344CB8AC3E}">
        <p14:creationId xmlns:p14="http://schemas.microsoft.com/office/powerpoint/2010/main" val="2835520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46DB5B-AAB6-4E93-84EA-28BE5327A56C}"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F291EAF-E46D-4E8B-B0C8-04E28604FF33}" type="slidenum">
              <a:rPr lang="en-AU" smtClean="0"/>
              <a:t>‹#›</a:t>
            </a:fld>
            <a:endParaRPr lang="en-AU"/>
          </a:p>
        </p:txBody>
      </p:sp>
    </p:spTree>
    <p:extLst>
      <p:ext uri="{BB962C8B-B14F-4D97-AF65-F5344CB8AC3E}">
        <p14:creationId xmlns:p14="http://schemas.microsoft.com/office/powerpoint/2010/main" val="3550753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46DB5B-AAB6-4E93-84EA-28BE5327A56C}" type="datetimeFigureOut">
              <a:rPr lang="en-AU" smtClean="0"/>
              <a:t>1/08/2022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F291EAF-E46D-4E8B-B0C8-04E28604FF33}" type="slidenum">
              <a:rPr lang="en-AU" smtClean="0"/>
              <a:t>‹#›</a:t>
            </a:fld>
            <a:endParaRPr lang="en-AU"/>
          </a:p>
        </p:txBody>
      </p:sp>
    </p:spTree>
    <p:extLst>
      <p:ext uri="{BB962C8B-B14F-4D97-AF65-F5344CB8AC3E}">
        <p14:creationId xmlns:p14="http://schemas.microsoft.com/office/powerpoint/2010/main" val="1796128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446DB5B-AAB6-4E93-84EA-28BE5327A56C}" type="datetimeFigureOut">
              <a:rPr lang="en-AU" smtClean="0"/>
              <a:t>1/08/2022</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F291EAF-E46D-4E8B-B0C8-04E28604FF33}"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9735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gif"/><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9.tif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6.tif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58.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9.png"/><Relationship Id="rId7" Type="http://schemas.openxmlformats.org/officeDocument/2006/relationships/image" Target="../media/image64.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63.png"/><Relationship Id="rId4" Type="http://schemas.openxmlformats.org/officeDocument/2006/relationships/image" Target="../media/image62.jpeg"/></Relationships>
</file>

<file path=ppt/slides/_rels/slide59.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8.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greenchemuoft.wordpress.com/green-chemistry-video-series/"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greenchemuoft.wordpress.com/2014/04/04/greenchemprinciple2/"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9.tif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0.tif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hyperlink" Target="http://ed.ted.com/lessons/biodiesel-the-afterlife-of-oil-natascia-radice"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1.tif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http://www.arpnjournals.org/jeas/research_papers/rp_2016/jeas_0116_3357.pdf"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Chemical</a:t>
            </a:r>
            <a:br>
              <a:rPr lang="en-AU" dirty="0"/>
            </a:br>
            <a:r>
              <a:rPr lang="en-AU" dirty="0"/>
              <a:t>Synthesis</a:t>
            </a:r>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808605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Polymers</a:t>
            </a:r>
            <a:endParaRPr lang="en-AU" dirty="0"/>
          </a:p>
        </p:txBody>
      </p:sp>
      <p:sp>
        <p:nvSpPr>
          <p:cNvPr id="3" name="Content Placeholder 2"/>
          <p:cNvSpPr>
            <a:spLocks noGrp="1"/>
          </p:cNvSpPr>
          <p:nvPr>
            <p:ph idx="1"/>
          </p:nvPr>
        </p:nvSpPr>
        <p:spPr/>
        <p:txBody>
          <a:bodyPr/>
          <a:lstStyle/>
          <a:p>
            <a:endParaRPr lang="en-AU" dirty="0"/>
          </a:p>
        </p:txBody>
      </p:sp>
      <p:pic>
        <p:nvPicPr>
          <p:cNvPr id="1026" name="Picture 2" descr="https://s-media-cache-ak0.pinimg.com/736x/8c/0d/52/8c0d52d633f9703bf409bcfec88c26b4.jpg"/>
          <p:cNvPicPr>
            <a:picLocks noChangeAspect="1" noChangeArrowheads="1"/>
          </p:cNvPicPr>
          <p:nvPr/>
        </p:nvPicPr>
        <p:blipFill rotWithShape="1">
          <a:blip r:embed="rId2">
            <a:extLst>
              <a:ext uri="{28A0092B-C50C-407E-A947-70E740481C1C}">
                <a14:useLocalDpi xmlns:a14="http://schemas.microsoft.com/office/drawing/2010/main" val="0"/>
              </a:ext>
            </a:extLst>
          </a:blip>
          <a:srcRect t="40723"/>
          <a:stretch/>
        </p:blipFill>
        <p:spPr bwMode="auto">
          <a:xfrm>
            <a:off x="116385" y="2093927"/>
            <a:ext cx="11831667" cy="3039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011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Polymers</a:t>
            </a:r>
          </a:p>
        </p:txBody>
      </p:sp>
      <p:sp>
        <p:nvSpPr>
          <p:cNvPr id="3" name="Content Placeholder 2"/>
          <p:cNvSpPr>
            <a:spLocks noGrp="1"/>
          </p:cNvSpPr>
          <p:nvPr>
            <p:ph idx="1"/>
          </p:nvPr>
        </p:nvSpPr>
        <p:spPr>
          <a:xfrm>
            <a:off x="1209675" y="1845734"/>
            <a:ext cx="9946005" cy="4307416"/>
          </a:xfrm>
        </p:spPr>
        <p:txBody>
          <a:bodyPr>
            <a:normAutofit/>
          </a:bodyPr>
          <a:lstStyle/>
          <a:p>
            <a:r>
              <a:rPr lang="en-AU" dirty="0"/>
              <a:t>Definition: A large molecule made from repeated subunits (monomers)</a:t>
            </a:r>
          </a:p>
          <a:p>
            <a:endParaRPr lang="en-AU" dirty="0"/>
          </a:p>
          <a:p>
            <a:r>
              <a:rPr lang="en-AU" dirty="0"/>
              <a:t>Synthetic polymers include:</a:t>
            </a:r>
          </a:p>
          <a:p>
            <a:pPr lvl="1">
              <a:buFont typeface="Arial" panose="020B0604020202020204" pitchFamily="34" charset="0"/>
              <a:buChar char="•"/>
            </a:pPr>
            <a:r>
              <a:rPr lang="en-AU" sz="2000" dirty="0"/>
              <a:t>Polystyrene</a:t>
            </a:r>
          </a:p>
          <a:p>
            <a:pPr lvl="1">
              <a:buFont typeface="Arial" panose="020B0604020202020204" pitchFamily="34" charset="0"/>
              <a:buChar char="•"/>
            </a:pPr>
            <a:r>
              <a:rPr lang="en-AU" sz="2000" dirty="0"/>
              <a:t>Poly(vinyl alcohol) (PVA)</a:t>
            </a:r>
          </a:p>
          <a:p>
            <a:pPr lvl="1">
              <a:buFont typeface="Arial" panose="020B0604020202020204" pitchFamily="34" charset="0"/>
              <a:buChar char="•"/>
            </a:pPr>
            <a:r>
              <a:rPr lang="en-AU" sz="2000" dirty="0"/>
              <a:t>Poly(vinyl chloride) (PVC)</a:t>
            </a:r>
          </a:p>
          <a:p>
            <a:pPr lvl="1">
              <a:buFont typeface="Arial" panose="020B0604020202020204" pitchFamily="34" charset="0"/>
              <a:buChar char="•"/>
            </a:pPr>
            <a:r>
              <a:rPr lang="en-AU" sz="2000" dirty="0"/>
              <a:t>Polyester</a:t>
            </a:r>
          </a:p>
          <a:p>
            <a:pPr lvl="1">
              <a:buFont typeface="Arial" panose="020B0604020202020204" pitchFamily="34" charset="0"/>
              <a:buChar char="•"/>
            </a:pPr>
            <a:endParaRPr lang="en-AU" sz="2000" dirty="0"/>
          </a:p>
          <a:p>
            <a:pPr marL="201168" lvl="1" indent="0">
              <a:buNone/>
            </a:pPr>
            <a:r>
              <a:rPr lang="en-AU" sz="2000" dirty="0"/>
              <a:t>Can be classified by method of formation:</a:t>
            </a:r>
          </a:p>
          <a:p>
            <a:pPr lvl="1">
              <a:buFont typeface="Arial" panose="020B0604020202020204" pitchFamily="34" charset="0"/>
              <a:buChar char="•"/>
            </a:pPr>
            <a:r>
              <a:rPr lang="en-AU" sz="2000" dirty="0"/>
              <a:t>Addition polymers</a:t>
            </a:r>
          </a:p>
          <a:p>
            <a:pPr lvl="1">
              <a:buFont typeface="Arial" panose="020B0604020202020204" pitchFamily="34" charset="0"/>
              <a:buChar char="•"/>
            </a:pPr>
            <a:r>
              <a:rPr lang="en-AU" sz="2000" dirty="0"/>
              <a:t>Condensation polymers</a:t>
            </a:r>
          </a:p>
          <a:p>
            <a:pPr marL="201168" lvl="1" indent="0">
              <a:buNone/>
            </a:pPr>
            <a:endParaRPr lang="en-AU" sz="2000" dirty="0"/>
          </a:p>
        </p:txBody>
      </p:sp>
      <p:pic>
        <p:nvPicPr>
          <p:cNvPr id="73730" name="Picture 2" descr="http://images.flatworldknowledge.com/averillfwk/averillfwk-fig12_0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9675" y="2402061"/>
            <a:ext cx="3703868" cy="3352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1801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097279" y="1845733"/>
            <a:ext cx="10162903" cy="4515877"/>
          </a:xfrm>
        </p:spPr>
        <p:txBody>
          <a:bodyPr>
            <a:normAutofit/>
          </a:bodyPr>
          <a:lstStyle/>
          <a:p>
            <a:r>
              <a:rPr lang="en-US" dirty="0"/>
              <a:t>Formed from </a:t>
            </a:r>
            <a:r>
              <a:rPr lang="en-US" b="1" dirty="0"/>
              <a:t>alkene monomers</a:t>
            </a:r>
            <a:r>
              <a:rPr lang="en-US" dirty="0"/>
              <a:t> which undergo addition reactions to form a repeating pattern.</a:t>
            </a:r>
          </a:p>
          <a:p>
            <a:endParaRPr lang="en-US" dirty="0"/>
          </a:p>
          <a:p>
            <a:endParaRPr lang="en-US" dirty="0"/>
          </a:p>
          <a:p>
            <a:endParaRPr lang="en-US" dirty="0"/>
          </a:p>
          <a:p>
            <a:endParaRPr lang="en-US" dirty="0"/>
          </a:p>
          <a:p>
            <a:endParaRPr lang="en-US" dirty="0"/>
          </a:p>
          <a:p>
            <a:endParaRPr lang="en-US" dirty="0"/>
          </a:p>
          <a:p>
            <a:endParaRPr lang="en-US" dirty="0"/>
          </a:p>
          <a:p>
            <a:r>
              <a:rPr lang="en-US" dirty="0"/>
              <a:t>Note that the </a:t>
            </a:r>
            <a:r>
              <a:rPr lang="en-US" b="1" dirty="0"/>
              <a:t>name</a:t>
            </a:r>
            <a:r>
              <a:rPr lang="en-US" dirty="0"/>
              <a:t> of the product (</a:t>
            </a:r>
            <a:r>
              <a:rPr lang="en-US" b="1" dirty="0" err="1"/>
              <a:t>polyethene</a:t>
            </a:r>
            <a:r>
              <a:rPr lang="en-US" dirty="0"/>
              <a:t>) is the name of the monomer (</a:t>
            </a:r>
            <a:r>
              <a:rPr lang="en-US" b="1" dirty="0" err="1"/>
              <a:t>ethene</a:t>
            </a:r>
            <a:r>
              <a:rPr lang="en-US" dirty="0"/>
              <a:t>) with the prefix “</a:t>
            </a:r>
            <a:r>
              <a:rPr lang="en-US" b="1" dirty="0"/>
              <a:t>poly</a:t>
            </a:r>
            <a:r>
              <a:rPr lang="en-US" dirty="0"/>
              <a:t>”. There are no double bonds in </a:t>
            </a:r>
            <a:r>
              <a:rPr lang="en-US" dirty="0" err="1"/>
              <a:t>polyeth</a:t>
            </a:r>
            <a:r>
              <a:rPr lang="en-US" u="sng" dirty="0" err="1"/>
              <a:t>ene</a:t>
            </a:r>
            <a:r>
              <a:rPr lang="en-US" dirty="0"/>
              <a:t>.</a:t>
            </a:r>
            <a:endParaRPr lang="en-US" u="sng" dirty="0"/>
          </a:p>
          <a:p>
            <a:endParaRPr lang="en-US" dirty="0"/>
          </a:p>
          <a:p>
            <a:endParaRPr lang="en-US" b="1" dirty="0"/>
          </a:p>
        </p:txBody>
      </p:sp>
      <p:pic>
        <p:nvPicPr>
          <p:cNvPr id="4" name="Picture 3"/>
          <p:cNvPicPr>
            <a:picLocks noChangeAspect="1"/>
          </p:cNvPicPr>
          <p:nvPr/>
        </p:nvPicPr>
        <p:blipFill rotWithShape="1">
          <a:blip r:embed="rId2"/>
          <a:srcRect r="1641"/>
          <a:stretch/>
        </p:blipFill>
        <p:spPr>
          <a:xfrm>
            <a:off x="1488061" y="2491718"/>
            <a:ext cx="9132314" cy="2536673"/>
          </a:xfrm>
          <a:prstGeom prst="rect">
            <a:avLst/>
          </a:prstGeom>
        </p:spPr>
      </p:pic>
      <p:sp>
        <p:nvSpPr>
          <p:cNvPr id="5" name="TextBox 4"/>
          <p:cNvSpPr txBox="1"/>
          <p:nvPr/>
        </p:nvSpPr>
        <p:spPr>
          <a:xfrm>
            <a:off x="5865961" y="3717087"/>
            <a:ext cx="1268083" cy="369332"/>
          </a:xfrm>
          <a:prstGeom prst="rect">
            <a:avLst/>
          </a:prstGeom>
          <a:noFill/>
        </p:spPr>
        <p:txBody>
          <a:bodyPr wrap="square" rtlCol="0">
            <a:spAutoFit/>
          </a:bodyPr>
          <a:lstStyle/>
          <a:p>
            <a:r>
              <a:rPr lang="en-US" dirty="0"/>
              <a:t>catalyst</a:t>
            </a:r>
            <a:endParaRPr lang="en-AU" dirty="0"/>
          </a:p>
        </p:txBody>
      </p:sp>
      <p:sp>
        <p:nvSpPr>
          <p:cNvPr id="6" name="TextBox 5"/>
          <p:cNvSpPr txBox="1"/>
          <p:nvPr/>
        </p:nvSpPr>
        <p:spPr>
          <a:xfrm>
            <a:off x="5865961" y="2551040"/>
            <a:ext cx="1268083" cy="369332"/>
          </a:xfrm>
          <a:prstGeom prst="rect">
            <a:avLst/>
          </a:prstGeom>
          <a:noFill/>
        </p:spPr>
        <p:txBody>
          <a:bodyPr wrap="square" rtlCol="0">
            <a:spAutoFit/>
          </a:bodyPr>
          <a:lstStyle/>
          <a:p>
            <a:r>
              <a:rPr lang="en-US" dirty="0"/>
              <a:t>catalyst</a:t>
            </a:r>
            <a:endParaRPr lang="en-AU" dirty="0"/>
          </a:p>
        </p:txBody>
      </p:sp>
    </p:spTree>
    <p:extLst>
      <p:ext uri="{BB962C8B-B14F-4D97-AF65-F5344CB8AC3E}">
        <p14:creationId xmlns:p14="http://schemas.microsoft.com/office/powerpoint/2010/main" val="3607102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097279" y="1845733"/>
            <a:ext cx="10162903" cy="2407089"/>
          </a:xfrm>
        </p:spPr>
        <p:txBody>
          <a:bodyPr>
            <a:normAutofit/>
          </a:bodyPr>
          <a:lstStyle/>
          <a:p>
            <a:r>
              <a:rPr lang="en-US" dirty="0"/>
              <a:t>Instead of showing a long chain, polymers can be represented by showing the repeating unit.</a:t>
            </a:r>
          </a:p>
          <a:p>
            <a:endParaRPr lang="en-US" dirty="0"/>
          </a:p>
          <a:p>
            <a:endParaRPr lang="en-US" dirty="0"/>
          </a:p>
          <a:p>
            <a:endParaRPr lang="en-US" dirty="0"/>
          </a:p>
          <a:p>
            <a:r>
              <a:rPr lang="en-US" dirty="0"/>
              <a:t>…where n is a large number (can be in the 1000s).</a:t>
            </a:r>
          </a:p>
          <a:p>
            <a:endParaRPr lang="en-US" dirty="0"/>
          </a:p>
          <a:p>
            <a:endParaRPr lang="en-US" dirty="0"/>
          </a:p>
          <a:p>
            <a:pPr marL="0" indent="0">
              <a:buNone/>
            </a:pPr>
            <a:endParaRPr lang="en-US" dirty="0"/>
          </a:p>
        </p:txBody>
      </p:sp>
      <p:sp>
        <p:nvSpPr>
          <p:cNvPr id="6" name="TextBox 5"/>
          <p:cNvSpPr txBox="1"/>
          <p:nvPr/>
        </p:nvSpPr>
        <p:spPr>
          <a:xfrm>
            <a:off x="6835178" y="2673037"/>
            <a:ext cx="1802922" cy="369332"/>
          </a:xfrm>
          <a:prstGeom prst="rect">
            <a:avLst/>
          </a:prstGeom>
          <a:noFill/>
        </p:spPr>
        <p:txBody>
          <a:bodyPr wrap="square" rtlCol="0">
            <a:spAutoFit/>
          </a:bodyPr>
          <a:lstStyle/>
          <a:p>
            <a:r>
              <a:rPr lang="en-US" dirty="0"/>
              <a:t>simplifies to…</a:t>
            </a:r>
            <a:endParaRPr lang="en-AU" dirty="0"/>
          </a:p>
        </p:txBody>
      </p:sp>
      <p:pic>
        <p:nvPicPr>
          <p:cNvPr id="8194" name="Picture 2" descr="http://static.newworldencyclopedia.org/thumb/f/f7/Polyethylene-repeat-2D-flat.png/200px-Polyethylene-repeat-2D-fla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5569" y="2388823"/>
            <a:ext cx="1042638" cy="99572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www.pslc.ws/macrog/images/pe02.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531" y="2365367"/>
            <a:ext cx="4657725" cy="1019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02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097279" y="1845733"/>
            <a:ext cx="10162903" cy="2407089"/>
          </a:xfrm>
        </p:spPr>
        <p:txBody>
          <a:bodyPr>
            <a:normAutofit/>
          </a:bodyPr>
          <a:lstStyle/>
          <a:p>
            <a:r>
              <a:rPr lang="en-US" dirty="0"/>
              <a:t>Photos of </a:t>
            </a:r>
            <a:r>
              <a:rPr lang="en-US" dirty="0" err="1"/>
              <a:t>polyethene</a:t>
            </a:r>
            <a:r>
              <a:rPr lang="en-US" dirty="0"/>
              <a:t>:</a:t>
            </a:r>
          </a:p>
          <a:p>
            <a:pPr marL="0" indent="0">
              <a:buNone/>
            </a:pPr>
            <a:endParaRPr lang="en-US" dirty="0"/>
          </a:p>
        </p:txBody>
      </p:sp>
      <p:pic>
        <p:nvPicPr>
          <p:cNvPr id="9218" name="Picture 2" descr="http://www.epicgardening.com/wp-content/uploads/2014/12/ldp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041" y="2362959"/>
            <a:ext cx="2787650" cy="1889863"/>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ttps://lh3.googleusercontent.com/nGUiU-LKk-sAUEjHTSO3LxMcZrZDFSVsDk3Z-o7091QuzjPs8RarD5GBvawBWEWc32N8JdnJA9H_VxU1Lvr7YvTqPjVligxiTeFz_v6MRjDnpnqS_57olJLeSiJyeKzxUobmbb7O"/>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3075470" y="3561628"/>
            <a:ext cx="3292053" cy="2416839"/>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http://polymerinnovationblog.com/wp-content/uploads/2012/08/Polyethylene-terephthalate-PET-water-bottle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5801" y="2222282"/>
            <a:ext cx="2866555" cy="1902044"/>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http://www.theecologycenter.org/assets/images/resources/62/4_LDPE.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2356" y="2597424"/>
            <a:ext cx="2410064" cy="3310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848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121421" y="1977904"/>
            <a:ext cx="10162903" cy="577970"/>
          </a:xfrm>
        </p:spPr>
        <p:txBody>
          <a:bodyPr>
            <a:normAutofit/>
          </a:bodyPr>
          <a:lstStyle/>
          <a:p>
            <a:r>
              <a:rPr lang="en-US" b="1" dirty="0"/>
              <a:t>Monomer: </a:t>
            </a:r>
            <a:r>
              <a:rPr lang="en-US" dirty="0"/>
              <a:t>Vinyl chloride				</a:t>
            </a:r>
            <a:r>
              <a:rPr lang="en-US" b="1" dirty="0"/>
              <a:t>Polymer: </a:t>
            </a:r>
            <a:r>
              <a:rPr lang="en-US" dirty="0"/>
              <a:t>Poly(vinyl chloride)        PVC</a:t>
            </a:r>
            <a:endParaRPr lang="en-US" b="1" dirty="0"/>
          </a:p>
          <a:p>
            <a:endParaRPr lang="en-US" dirty="0"/>
          </a:p>
          <a:p>
            <a:endParaRPr lang="en-US" dirty="0"/>
          </a:p>
          <a:p>
            <a:endParaRPr lang="en-US" dirty="0"/>
          </a:p>
          <a:p>
            <a:endParaRPr lang="en-US" dirty="0"/>
          </a:p>
          <a:p>
            <a:endParaRPr lang="en-US" dirty="0"/>
          </a:p>
          <a:p>
            <a:endParaRPr lang="en-US" b="1" dirty="0"/>
          </a:p>
        </p:txBody>
      </p:sp>
      <p:pic>
        <p:nvPicPr>
          <p:cNvPr id="3074" name="Picture 2" descr="https://upload.wikimedia.org/wikipedia/commons/thumb/2/2b/Vinyl-chloride-2D.svg/675px-Vinyl-chloride-2D.svg.png"/>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544568" y="2959176"/>
            <a:ext cx="1073149" cy="9523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04672" y="3567358"/>
            <a:ext cx="362848" cy="461665"/>
          </a:xfrm>
          <a:prstGeom prst="rect">
            <a:avLst/>
          </a:prstGeom>
          <a:noFill/>
        </p:spPr>
        <p:txBody>
          <a:bodyPr wrap="square" rtlCol="0">
            <a:spAutoFit/>
          </a:bodyPr>
          <a:lstStyle/>
          <a:p>
            <a:r>
              <a:rPr lang="en-US" sz="2400" dirty="0"/>
              <a:t>n</a:t>
            </a:r>
            <a:endParaRPr lang="en-AU" sz="2400" dirty="0"/>
          </a:p>
        </p:txBody>
      </p:sp>
      <p:cxnSp>
        <p:nvCxnSpPr>
          <p:cNvPr id="9" name="Straight Arrow Connector 8"/>
          <p:cNvCxnSpPr/>
          <p:nvPr/>
        </p:nvCxnSpPr>
        <p:spPr>
          <a:xfrm>
            <a:off x="2924355" y="3382692"/>
            <a:ext cx="914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3963041" y="2796999"/>
            <a:ext cx="5382178" cy="1276710"/>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9" name="Rectangle 18"/>
          <p:cNvSpPr/>
          <p:nvPr/>
        </p:nvSpPr>
        <p:spPr>
          <a:xfrm>
            <a:off x="10239555" y="2744337"/>
            <a:ext cx="1709827" cy="1276710"/>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8" name="Double Bracket 17"/>
          <p:cNvSpPr/>
          <p:nvPr/>
        </p:nvSpPr>
        <p:spPr>
          <a:xfrm>
            <a:off x="1418493" y="2796999"/>
            <a:ext cx="1381576" cy="1276710"/>
          </a:xfrm>
          <a:prstGeom prst="bracketPair">
            <a:avLst>
              <a:gd name="adj" fmla="val 7208"/>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22" name="TextBox 21"/>
          <p:cNvSpPr txBox="1"/>
          <p:nvPr/>
        </p:nvSpPr>
        <p:spPr>
          <a:xfrm>
            <a:off x="9527571" y="3204520"/>
            <a:ext cx="529632" cy="307777"/>
          </a:xfrm>
          <a:prstGeom prst="rect">
            <a:avLst/>
          </a:prstGeom>
          <a:noFill/>
        </p:spPr>
        <p:txBody>
          <a:bodyPr wrap="square" rtlCol="0">
            <a:spAutoFit/>
          </a:bodyPr>
          <a:lstStyle/>
          <a:p>
            <a:r>
              <a:rPr lang="en-US" sz="1400" dirty="0"/>
              <a:t>or…</a:t>
            </a:r>
            <a:endParaRPr lang="en-AU" sz="1400" dirty="0"/>
          </a:p>
        </p:txBody>
      </p:sp>
      <p:sp>
        <p:nvSpPr>
          <p:cNvPr id="23" name="TextBox 22"/>
          <p:cNvSpPr txBox="1"/>
          <p:nvPr/>
        </p:nvSpPr>
        <p:spPr>
          <a:xfrm>
            <a:off x="4012138" y="4073709"/>
            <a:ext cx="3415205" cy="261610"/>
          </a:xfrm>
          <a:prstGeom prst="rect">
            <a:avLst/>
          </a:prstGeom>
          <a:noFill/>
        </p:spPr>
        <p:txBody>
          <a:bodyPr wrap="square" rtlCol="0">
            <a:spAutoFit/>
          </a:bodyPr>
          <a:lstStyle/>
          <a:p>
            <a:r>
              <a:rPr lang="en-US" sz="1050" dirty="0"/>
              <a:t>^ Show open chain including at least three repeating units</a:t>
            </a:r>
            <a:endParaRPr lang="en-AU" sz="1050" dirty="0"/>
          </a:p>
        </p:txBody>
      </p:sp>
      <p:sp>
        <p:nvSpPr>
          <p:cNvPr id="24" name="TextBox 23"/>
          <p:cNvSpPr txBox="1"/>
          <p:nvPr/>
        </p:nvSpPr>
        <p:spPr>
          <a:xfrm>
            <a:off x="10215681" y="4073709"/>
            <a:ext cx="1976319" cy="261610"/>
          </a:xfrm>
          <a:prstGeom prst="rect">
            <a:avLst/>
          </a:prstGeom>
          <a:noFill/>
        </p:spPr>
        <p:txBody>
          <a:bodyPr wrap="square" rtlCol="0">
            <a:spAutoFit/>
          </a:bodyPr>
          <a:lstStyle/>
          <a:p>
            <a:r>
              <a:rPr lang="en-US" sz="1050" dirty="0"/>
              <a:t>^ One repeating unit in brackets</a:t>
            </a:r>
            <a:endParaRPr lang="en-AU" sz="1050" dirty="0"/>
          </a:p>
        </p:txBody>
      </p:sp>
      <p:sp>
        <p:nvSpPr>
          <p:cNvPr id="20" name="TextBox 19"/>
          <p:cNvSpPr txBox="1"/>
          <p:nvPr/>
        </p:nvSpPr>
        <p:spPr>
          <a:xfrm>
            <a:off x="2277374" y="2218126"/>
            <a:ext cx="2510287" cy="261610"/>
          </a:xfrm>
          <a:prstGeom prst="rect">
            <a:avLst/>
          </a:prstGeom>
          <a:noFill/>
        </p:spPr>
        <p:txBody>
          <a:bodyPr wrap="square" rtlCol="0">
            <a:spAutoFit/>
          </a:bodyPr>
          <a:lstStyle/>
          <a:p>
            <a:r>
              <a:rPr lang="en-US" sz="1100" i="1" dirty="0"/>
              <a:t>A non-systematic name for </a:t>
            </a:r>
            <a:r>
              <a:rPr lang="en-US" sz="1100" i="1" dirty="0" err="1"/>
              <a:t>chloroethene</a:t>
            </a:r>
            <a:endParaRPr lang="en-AU" sz="1100" i="1" dirty="0"/>
          </a:p>
        </p:txBody>
      </p:sp>
      <p:pic>
        <p:nvPicPr>
          <p:cNvPr id="3078" name="Picture 6" descr="http://www.vinidex.com.au/wp-content/uploads/2013/03/Pipe_whit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672" y="4800599"/>
            <a:ext cx="3095625" cy="205740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www.allrightmachinery.com/pvc/pipe-fitting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5512" y="4764252"/>
            <a:ext cx="2709556" cy="209374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http://www.wc3design.com/wp-content/uploads/2014/08/DSCF0030.jpg"/>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7423207" y="4764252"/>
            <a:ext cx="3760279" cy="2093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824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4" name="Content Placeholder 3"/>
          <p:cNvSpPr>
            <a:spLocks noGrp="1"/>
          </p:cNvSpPr>
          <p:nvPr>
            <p:ph idx="1"/>
          </p:nvPr>
        </p:nvSpPr>
        <p:spPr/>
        <p:txBody>
          <a:bodyPr/>
          <a:lstStyle/>
          <a:p>
            <a:r>
              <a:rPr lang="en-US" b="1" dirty="0"/>
              <a:t>NOTE: </a:t>
            </a:r>
            <a:r>
              <a:rPr lang="en-US" dirty="0"/>
              <a:t>Be careful about where you start the beginning and end of chain drawings. </a:t>
            </a:r>
          </a:p>
          <a:p>
            <a:r>
              <a:rPr lang="en-US" dirty="0"/>
              <a:t>Even when drawing a chain with more than one unit, it should make a repeating pattern.</a:t>
            </a:r>
          </a:p>
        </p:txBody>
      </p:sp>
      <p:pic>
        <p:nvPicPr>
          <p:cNvPr id="17" name="Picture 16"/>
          <p:cNvPicPr>
            <a:picLocks noChangeAspect="1"/>
          </p:cNvPicPr>
          <p:nvPr/>
        </p:nvPicPr>
        <p:blipFill>
          <a:blip r:embed="rId2"/>
          <a:stretch>
            <a:fillRect/>
          </a:stretch>
        </p:blipFill>
        <p:spPr>
          <a:xfrm>
            <a:off x="1097280" y="3461880"/>
            <a:ext cx="3733800" cy="1781175"/>
          </a:xfrm>
          <a:prstGeom prst="rect">
            <a:avLst/>
          </a:prstGeom>
        </p:spPr>
      </p:pic>
      <p:sp>
        <p:nvSpPr>
          <p:cNvPr id="21" name="TextBox 20"/>
          <p:cNvSpPr txBox="1"/>
          <p:nvPr/>
        </p:nvSpPr>
        <p:spPr>
          <a:xfrm>
            <a:off x="1262743" y="2830286"/>
            <a:ext cx="6313714" cy="523220"/>
          </a:xfrm>
          <a:prstGeom prst="rect">
            <a:avLst/>
          </a:prstGeom>
          <a:noFill/>
        </p:spPr>
        <p:txBody>
          <a:bodyPr wrap="square" rtlCol="0">
            <a:spAutoFit/>
          </a:bodyPr>
          <a:lstStyle/>
          <a:p>
            <a:r>
              <a:rPr lang="en-US" sz="2800" b="1" dirty="0">
                <a:solidFill>
                  <a:srgbClr val="007033"/>
                </a:solidFill>
              </a:rPr>
              <a:t>GOOD:</a:t>
            </a:r>
            <a:endParaRPr lang="en-AU" sz="2800" b="1" dirty="0">
              <a:solidFill>
                <a:srgbClr val="007033"/>
              </a:solidFill>
            </a:endParaRPr>
          </a:p>
        </p:txBody>
      </p:sp>
      <p:sp>
        <p:nvSpPr>
          <p:cNvPr id="33" name="TextBox 32"/>
          <p:cNvSpPr txBox="1"/>
          <p:nvPr/>
        </p:nvSpPr>
        <p:spPr>
          <a:xfrm>
            <a:off x="6415314" y="2830286"/>
            <a:ext cx="6313714" cy="523220"/>
          </a:xfrm>
          <a:prstGeom prst="rect">
            <a:avLst/>
          </a:prstGeom>
          <a:noFill/>
        </p:spPr>
        <p:txBody>
          <a:bodyPr wrap="square" rtlCol="0">
            <a:spAutoFit/>
          </a:bodyPr>
          <a:lstStyle/>
          <a:p>
            <a:r>
              <a:rPr lang="en-US" sz="2800" b="1" dirty="0">
                <a:solidFill>
                  <a:srgbClr val="FF0000"/>
                </a:solidFill>
              </a:rPr>
              <a:t>BAD:</a:t>
            </a:r>
            <a:endParaRPr lang="en-AU" sz="2800" b="1" dirty="0">
              <a:solidFill>
                <a:srgbClr val="FF0000"/>
              </a:solidFill>
            </a:endParaRPr>
          </a:p>
        </p:txBody>
      </p:sp>
      <p:sp>
        <p:nvSpPr>
          <p:cNvPr id="28" name="TextBox 27"/>
          <p:cNvSpPr txBox="1"/>
          <p:nvPr/>
        </p:nvSpPr>
        <p:spPr>
          <a:xfrm>
            <a:off x="6255657" y="5646057"/>
            <a:ext cx="5573486" cy="646331"/>
          </a:xfrm>
          <a:prstGeom prst="rect">
            <a:avLst/>
          </a:prstGeom>
          <a:noFill/>
        </p:spPr>
        <p:txBody>
          <a:bodyPr wrap="square" rtlCol="0">
            <a:spAutoFit/>
          </a:bodyPr>
          <a:lstStyle/>
          <a:p>
            <a:r>
              <a:rPr lang="en-US" i="1" dirty="0">
                <a:solidFill>
                  <a:srgbClr val="FF0000"/>
                </a:solidFill>
              </a:rPr>
              <a:t>If this pattern repeated then you would have two chlorines next to each other…</a:t>
            </a:r>
            <a:endParaRPr lang="en-AU" i="1" dirty="0">
              <a:solidFill>
                <a:srgbClr val="FF0000"/>
              </a:solidFill>
            </a:endParaRPr>
          </a:p>
        </p:txBody>
      </p:sp>
      <p:pic>
        <p:nvPicPr>
          <p:cNvPr id="29" name="Picture 28"/>
          <p:cNvPicPr>
            <a:picLocks noChangeAspect="1"/>
          </p:cNvPicPr>
          <p:nvPr/>
        </p:nvPicPr>
        <p:blipFill>
          <a:blip r:embed="rId3"/>
          <a:stretch>
            <a:fillRect/>
          </a:stretch>
        </p:blipFill>
        <p:spPr>
          <a:xfrm>
            <a:off x="5896519" y="3353506"/>
            <a:ext cx="3359875" cy="2052076"/>
          </a:xfrm>
          <a:prstGeom prst="rect">
            <a:avLst/>
          </a:prstGeom>
        </p:spPr>
      </p:pic>
      <p:pic>
        <p:nvPicPr>
          <p:cNvPr id="37" name="Picture 36"/>
          <p:cNvPicPr>
            <a:picLocks noChangeAspect="1"/>
          </p:cNvPicPr>
          <p:nvPr/>
        </p:nvPicPr>
        <p:blipFill>
          <a:blip r:embed="rId3"/>
          <a:stretch>
            <a:fillRect/>
          </a:stretch>
        </p:blipFill>
        <p:spPr>
          <a:xfrm>
            <a:off x="5896519" y="3338992"/>
            <a:ext cx="3359875" cy="2052076"/>
          </a:xfrm>
          <a:prstGeom prst="rect">
            <a:avLst/>
          </a:prstGeom>
        </p:spPr>
      </p:pic>
    </p:spTree>
    <p:extLst>
      <p:ext uri="{BB962C8B-B14F-4D97-AF65-F5344CB8AC3E}">
        <p14:creationId xmlns:p14="http://schemas.microsoft.com/office/powerpoint/2010/main" val="2217383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16667E-6 -2.59259E-6 L 0.24766 -2.59259E-6 " pathEditMode="relative" rAng="0" ptsTypes="AA">
                                      <p:cBhvr>
                                        <p:cTn id="6" dur="2000" fill="hold"/>
                                        <p:tgtEl>
                                          <p:spTgt spid="37"/>
                                        </p:tgtEl>
                                        <p:attrNameLst>
                                          <p:attrName>ppt_x</p:attrName>
                                          <p:attrName>ppt_y</p:attrName>
                                        </p:attrNameLst>
                                      </p:cBhvr>
                                      <p:rCtr x="1238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121421" y="1977904"/>
            <a:ext cx="10162903" cy="577970"/>
          </a:xfrm>
        </p:spPr>
        <p:txBody>
          <a:bodyPr>
            <a:normAutofit/>
          </a:bodyPr>
          <a:lstStyle/>
          <a:p>
            <a:r>
              <a:rPr lang="en-US" b="1" dirty="0"/>
              <a:t>Monomer: </a:t>
            </a:r>
            <a:r>
              <a:rPr lang="en-US" dirty="0"/>
              <a:t>Styrene				</a:t>
            </a:r>
            <a:r>
              <a:rPr lang="en-US" b="1" dirty="0"/>
              <a:t>Polymer: </a:t>
            </a:r>
            <a:r>
              <a:rPr lang="en-US" dirty="0"/>
              <a:t>Polystyrene</a:t>
            </a:r>
          </a:p>
          <a:p>
            <a:endParaRPr lang="en-US" dirty="0"/>
          </a:p>
          <a:p>
            <a:endParaRPr lang="en-US" dirty="0"/>
          </a:p>
          <a:p>
            <a:endParaRPr lang="en-US" dirty="0"/>
          </a:p>
          <a:p>
            <a:endParaRPr lang="en-US" dirty="0"/>
          </a:p>
          <a:p>
            <a:endParaRPr lang="en-US" b="1" dirty="0"/>
          </a:p>
        </p:txBody>
      </p:sp>
      <p:sp>
        <p:nvSpPr>
          <p:cNvPr id="7" name="TextBox 6"/>
          <p:cNvSpPr txBox="1"/>
          <p:nvPr/>
        </p:nvSpPr>
        <p:spPr>
          <a:xfrm>
            <a:off x="1004672" y="3567358"/>
            <a:ext cx="362848" cy="461665"/>
          </a:xfrm>
          <a:prstGeom prst="rect">
            <a:avLst/>
          </a:prstGeom>
          <a:noFill/>
        </p:spPr>
        <p:txBody>
          <a:bodyPr wrap="square" rtlCol="0">
            <a:spAutoFit/>
          </a:bodyPr>
          <a:lstStyle/>
          <a:p>
            <a:r>
              <a:rPr lang="en-US" sz="2400" dirty="0"/>
              <a:t>n</a:t>
            </a:r>
            <a:endParaRPr lang="en-AU" sz="2400" dirty="0"/>
          </a:p>
        </p:txBody>
      </p:sp>
      <p:cxnSp>
        <p:nvCxnSpPr>
          <p:cNvPr id="9" name="Straight Arrow Connector 8"/>
          <p:cNvCxnSpPr/>
          <p:nvPr/>
        </p:nvCxnSpPr>
        <p:spPr>
          <a:xfrm>
            <a:off x="2924355" y="3382692"/>
            <a:ext cx="914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3963041" y="2475781"/>
            <a:ext cx="5382178" cy="159792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9" name="Rectangle 18"/>
          <p:cNvSpPr/>
          <p:nvPr/>
        </p:nvSpPr>
        <p:spPr>
          <a:xfrm>
            <a:off x="10239555" y="2475781"/>
            <a:ext cx="1709827" cy="154526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8" name="Double Bracket 17"/>
          <p:cNvSpPr/>
          <p:nvPr/>
        </p:nvSpPr>
        <p:spPr>
          <a:xfrm>
            <a:off x="1418493" y="2796999"/>
            <a:ext cx="1381576" cy="1276710"/>
          </a:xfrm>
          <a:prstGeom prst="bracketPair">
            <a:avLst>
              <a:gd name="adj" fmla="val 7208"/>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22" name="TextBox 21"/>
          <p:cNvSpPr txBox="1"/>
          <p:nvPr/>
        </p:nvSpPr>
        <p:spPr>
          <a:xfrm>
            <a:off x="9527571" y="3204520"/>
            <a:ext cx="529632" cy="307777"/>
          </a:xfrm>
          <a:prstGeom prst="rect">
            <a:avLst/>
          </a:prstGeom>
          <a:noFill/>
        </p:spPr>
        <p:txBody>
          <a:bodyPr wrap="square" rtlCol="0">
            <a:spAutoFit/>
          </a:bodyPr>
          <a:lstStyle/>
          <a:p>
            <a:r>
              <a:rPr lang="en-US" sz="1400" dirty="0"/>
              <a:t>or…</a:t>
            </a:r>
            <a:endParaRPr lang="en-AU" sz="1400" dirty="0"/>
          </a:p>
        </p:txBody>
      </p:sp>
      <p:sp>
        <p:nvSpPr>
          <p:cNvPr id="23" name="TextBox 22"/>
          <p:cNvSpPr txBox="1"/>
          <p:nvPr/>
        </p:nvSpPr>
        <p:spPr>
          <a:xfrm>
            <a:off x="3996229" y="4061634"/>
            <a:ext cx="3415205" cy="261610"/>
          </a:xfrm>
          <a:prstGeom prst="rect">
            <a:avLst/>
          </a:prstGeom>
          <a:noFill/>
        </p:spPr>
        <p:txBody>
          <a:bodyPr wrap="square" rtlCol="0">
            <a:spAutoFit/>
          </a:bodyPr>
          <a:lstStyle/>
          <a:p>
            <a:r>
              <a:rPr lang="en-US" sz="1050" dirty="0"/>
              <a:t>^ Show open chain including at least three repeating units</a:t>
            </a:r>
            <a:endParaRPr lang="en-AU" sz="1050" dirty="0"/>
          </a:p>
        </p:txBody>
      </p:sp>
      <p:sp>
        <p:nvSpPr>
          <p:cNvPr id="24" name="TextBox 23"/>
          <p:cNvSpPr txBox="1"/>
          <p:nvPr/>
        </p:nvSpPr>
        <p:spPr>
          <a:xfrm>
            <a:off x="10215681" y="4073709"/>
            <a:ext cx="1976319" cy="261610"/>
          </a:xfrm>
          <a:prstGeom prst="rect">
            <a:avLst/>
          </a:prstGeom>
          <a:noFill/>
        </p:spPr>
        <p:txBody>
          <a:bodyPr wrap="square" rtlCol="0">
            <a:spAutoFit/>
          </a:bodyPr>
          <a:lstStyle/>
          <a:p>
            <a:r>
              <a:rPr lang="en-US" sz="1050" dirty="0"/>
              <a:t>^ One repeating unit in brackets</a:t>
            </a:r>
            <a:endParaRPr lang="en-AU" sz="1050" dirty="0"/>
          </a:p>
        </p:txBody>
      </p:sp>
      <p:pic>
        <p:nvPicPr>
          <p:cNvPr id="10242" name="Picture 2" descr="http://www.pslc.ws/macrog/kidsmac/images/styren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2015" y="2677370"/>
            <a:ext cx="1250197" cy="1515069"/>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www.plasticstoday.com/sites/default/files/images/food_packaging-_polystyrene_foam.jp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367520" y="4619625"/>
            <a:ext cx="1728448" cy="2207220"/>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http://www.donovanbros.com/images/products/973whitefoodcontainer4we.jpg"/>
          <p:cNvPicPr>
            <a:picLocks noChangeAspect="1" noChangeArrowheads="1"/>
          </p:cNvPicPr>
          <p:nvPr/>
        </p:nvPicPr>
        <p:blipFill rotWithShape="1">
          <a:blip r:embed="rId4">
            <a:extLst>
              <a:ext uri="{28A0092B-C50C-407E-A947-70E740481C1C}">
                <a14:useLocalDpi xmlns:a14="http://schemas.microsoft.com/office/drawing/2010/main" val="0"/>
              </a:ext>
            </a:extLst>
          </a:blip>
          <a:srcRect t="17249" b="16226"/>
          <a:stretch/>
        </p:blipFill>
        <p:spPr bwMode="auto">
          <a:xfrm>
            <a:off x="3381555" y="4619624"/>
            <a:ext cx="4476570" cy="2234571"/>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http://www.ecomii.com/blogs/renewable-energy/files/2009/05/polystyrene.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07679" y="4619624"/>
            <a:ext cx="3388995" cy="2245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763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121421" y="1977904"/>
            <a:ext cx="10162903" cy="577970"/>
          </a:xfrm>
        </p:spPr>
        <p:txBody>
          <a:bodyPr>
            <a:normAutofit/>
          </a:bodyPr>
          <a:lstStyle/>
          <a:p>
            <a:r>
              <a:rPr lang="en-US" b="1" dirty="0"/>
              <a:t>Monomer: </a:t>
            </a:r>
            <a:r>
              <a:rPr lang="en-US" dirty="0" err="1"/>
              <a:t>Tetrafluoroethene</a:t>
            </a:r>
            <a:r>
              <a:rPr lang="en-US" dirty="0"/>
              <a:t>		</a:t>
            </a:r>
            <a:r>
              <a:rPr lang="en-US" b="1" dirty="0"/>
              <a:t>Polymer: </a:t>
            </a:r>
            <a:r>
              <a:rPr lang="en-US" dirty="0" err="1"/>
              <a:t>Poly</a:t>
            </a:r>
            <a:r>
              <a:rPr lang="en-US" b="1" dirty="0" err="1"/>
              <a:t>te</a:t>
            </a:r>
            <a:r>
              <a:rPr lang="en-US" dirty="0" err="1"/>
              <a:t>tra</a:t>
            </a:r>
            <a:r>
              <a:rPr lang="en-US" b="1" dirty="0" err="1"/>
              <a:t>fl</a:t>
            </a:r>
            <a:r>
              <a:rPr lang="en-US" dirty="0" err="1"/>
              <a:t>uoroethene</a:t>
            </a:r>
            <a:r>
              <a:rPr lang="en-US" dirty="0"/>
              <a:t>   (__________)</a:t>
            </a:r>
          </a:p>
          <a:p>
            <a:endParaRPr lang="en-US" dirty="0"/>
          </a:p>
          <a:p>
            <a:endParaRPr lang="en-US" dirty="0"/>
          </a:p>
          <a:p>
            <a:endParaRPr lang="en-US" dirty="0"/>
          </a:p>
          <a:p>
            <a:endParaRPr lang="en-US" dirty="0"/>
          </a:p>
          <a:p>
            <a:endParaRPr lang="en-US" b="1" dirty="0"/>
          </a:p>
        </p:txBody>
      </p:sp>
      <p:sp>
        <p:nvSpPr>
          <p:cNvPr id="7" name="TextBox 6"/>
          <p:cNvSpPr txBox="1"/>
          <p:nvPr/>
        </p:nvSpPr>
        <p:spPr>
          <a:xfrm>
            <a:off x="1004672" y="3567358"/>
            <a:ext cx="362848" cy="461665"/>
          </a:xfrm>
          <a:prstGeom prst="rect">
            <a:avLst/>
          </a:prstGeom>
          <a:noFill/>
        </p:spPr>
        <p:txBody>
          <a:bodyPr wrap="square" rtlCol="0">
            <a:spAutoFit/>
          </a:bodyPr>
          <a:lstStyle/>
          <a:p>
            <a:r>
              <a:rPr lang="en-US" sz="2400" dirty="0"/>
              <a:t>n</a:t>
            </a:r>
            <a:endParaRPr lang="en-AU" sz="2400" dirty="0"/>
          </a:p>
        </p:txBody>
      </p:sp>
      <p:cxnSp>
        <p:nvCxnSpPr>
          <p:cNvPr id="9" name="Straight Arrow Connector 8"/>
          <p:cNvCxnSpPr/>
          <p:nvPr/>
        </p:nvCxnSpPr>
        <p:spPr>
          <a:xfrm>
            <a:off x="2924355" y="3382692"/>
            <a:ext cx="914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3963041" y="2796999"/>
            <a:ext cx="5382178" cy="1276710"/>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9" name="Rectangle 18"/>
          <p:cNvSpPr/>
          <p:nvPr/>
        </p:nvSpPr>
        <p:spPr>
          <a:xfrm>
            <a:off x="10239555" y="2744337"/>
            <a:ext cx="1709827" cy="1276710"/>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8" name="Double Bracket 17"/>
          <p:cNvSpPr/>
          <p:nvPr/>
        </p:nvSpPr>
        <p:spPr>
          <a:xfrm>
            <a:off x="1418493" y="2796999"/>
            <a:ext cx="1381576" cy="1276710"/>
          </a:xfrm>
          <a:prstGeom prst="bracketPair">
            <a:avLst>
              <a:gd name="adj" fmla="val 7208"/>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22" name="TextBox 21"/>
          <p:cNvSpPr txBox="1"/>
          <p:nvPr/>
        </p:nvSpPr>
        <p:spPr>
          <a:xfrm>
            <a:off x="9527571" y="3204520"/>
            <a:ext cx="529632" cy="307777"/>
          </a:xfrm>
          <a:prstGeom prst="rect">
            <a:avLst/>
          </a:prstGeom>
          <a:noFill/>
        </p:spPr>
        <p:txBody>
          <a:bodyPr wrap="square" rtlCol="0">
            <a:spAutoFit/>
          </a:bodyPr>
          <a:lstStyle/>
          <a:p>
            <a:r>
              <a:rPr lang="en-US" sz="1400" dirty="0"/>
              <a:t>or…</a:t>
            </a:r>
            <a:endParaRPr lang="en-AU" sz="1400" dirty="0"/>
          </a:p>
        </p:txBody>
      </p:sp>
      <p:sp>
        <p:nvSpPr>
          <p:cNvPr id="23" name="TextBox 22"/>
          <p:cNvSpPr txBox="1"/>
          <p:nvPr/>
        </p:nvSpPr>
        <p:spPr>
          <a:xfrm>
            <a:off x="4012138" y="4073709"/>
            <a:ext cx="3415205" cy="261610"/>
          </a:xfrm>
          <a:prstGeom prst="rect">
            <a:avLst/>
          </a:prstGeom>
          <a:noFill/>
        </p:spPr>
        <p:txBody>
          <a:bodyPr wrap="square" rtlCol="0">
            <a:spAutoFit/>
          </a:bodyPr>
          <a:lstStyle/>
          <a:p>
            <a:r>
              <a:rPr lang="en-US" sz="1050" dirty="0"/>
              <a:t>^ Show open chain including at least three repeating units</a:t>
            </a:r>
            <a:endParaRPr lang="en-AU" sz="1050" dirty="0"/>
          </a:p>
        </p:txBody>
      </p:sp>
      <p:sp>
        <p:nvSpPr>
          <p:cNvPr id="24" name="TextBox 23"/>
          <p:cNvSpPr txBox="1"/>
          <p:nvPr/>
        </p:nvSpPr>
        <p:spPr>
          <a:xfrm>
            <a:off x="10215681" y="4073709"/>
            <a:ext cx="1976319" cy="261610"/>
          </a:xfrm>
          <a:prstGeom prst="rect">
            <a:avLst/>
          </a:prstGeom>
          <a:noFill/>
        </p:spPr>
        <p:txBody>
          <a:bodyPr wrap="square" rtlCol="0">
            <a:spAutoFit/>
          </a:bodyPr>
          <a:lstStyle/>
          <a:p>
            <a:r>
              <a:rPr lang="en-US" sz="1050" dirty="0"/>
              <a:t>^ One repeating unit in brackets</a:t>
            </a:r>
            <a:endParaRPr lang="en-AU" sz="1050" dirty="0"/>
          </a:p>
        </p:txBody>
      </p:sp>
      <p:pic>
        <p:nvPicPr>
          <p:cNvPr id="11266" name="Picture 2" descr="http://wiki.chemprime.chemeddl.org/images/1/16/Tetrafluoroethylene.PNG"/>
          <p:cNvPicPr>
            <a:picLocks noChangeAspect="1" noChangeArrowheads="1"/>
          </p:cNvPicPr>
          <p:nvPr/>
        </p:nvPicPr>
        <p:blipFill rotWithShape="1">
          <a:blip r:embed="rId2">
            <a:extLst>
              <a:ext uri="{28A0092B-C50C-407E-A947-70E740481C1C}">
                <a14:useLocalDpi xmlns:a14="http://schemas.microsoft.com/office/drawing/2010/main" val="0"/>
              </a:ext>
            </a:extLst>
          </a:blip>
          <a:srcRect r="11859"/>
          <a:stretch/>
        </p:blipFill>
        <p:spPr bwMode="auto">
          <a:xfrm>
            <a:off x="1442944" y="2854836"/>
            <a:ext cx="1299059" cy="1146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8766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121421" y="1977904"/>
            <a:ext cx="10162903" cy="577970"/>
          </a:xfrm>
        </p:spPr>
        <p:txBody>
          <a:bodyPr>
            <a:normAutofit/>
          </a:bodyPr>
          <a:lstStyle/>
          <a:p>
            <a:r>
              <a:rPr lang="en-US" b="1" dirty="0"/>
              <a:t>Monomer: </a:t>
            </a:r>
            <a:r>
              <a:rPr lang="en-US" dirty="0" err="1"/>
              <a:t>Tetrafluoroethene</a:t>
            </a:r>
            <a:r>
              <a:rPr lang="en-US" dirty="0"/>
              <a:t>		</a:t>
            </a:r>
            <a:r>
              <a:rPr lang="en-US" b="1" dirty="0"/>
              <a:t>Polymer: </a:t>
            </a:r>
            <a:r>
              <a:rPr lang="en-US" dirty="0" err="1"/>
              <a:t>Polytetrafluoroethene</a:t>
            </a:r>
            <a:r>
              <a:rPr lang="en-US" dirty="0"/>
              <a:t>   (Teflon)</a:t>
            </a:r>
          </a:p>
          <a:p>
            <a:endParaRPr lang="en-US" dirty="0"/>
          </a:p>
          <a:p>
            <a:endParaRPr lang="en-US" dirty="0"/>
          </a:p>
          <a:p>
            <a:endParaRPr lang="en-US" dirty="0"/>
          </a:p>
          <a:p>
            <a:endParaRPr lang="en-US" dirty="0"/>
          </a:p>
          <a:p>
            <a:endParaRPr lang="en-US" b="1" dirty="0"/>
          </a:p>
        </p:txBody>
      </p:sp>
      <p:sp>
        <p:nvSpPr>
          <p:cNvPr id="7" name="TextBox 6"/>
          <p:cNvSpPr txBox="1"/>
          <p:nvPr/>
        </p:nvSpPr>
        <p:spPr>
          <a:xfrm>
            <a:off x="1004672" y="3567358"/>
            <a:ext cx="362848" cy="461665"/>
          </a:xfrm>
          <a:prstGeom prst="rect">
            <a:avLst/>
          </a:prstGeom>
          <a:noFill/>
        </p:spPr>
        <p:txBody>
          <a:bodyPr wrap="square" rtlCol="0">
            <a:spAutoFit/>
          </a:bodyPr>
          <a:lstStyle/>
          <a:p>
            <a:r>
              <a:rPr lang="en-US" sz="2400" dirty="0"/>
              <a:t>n</a:t>
            </a:r>
            <a:endParaRPr lang="en-AU" sz="2400" dirty="0"/>
          </a:p>
        </p:txBody>
      </p:sp>
      <p:cxnSp>
        <p:nvCxnSpPr>
          <p:cNvPr id="9" name="Straight Arrow Connector 8"/>
          <p:cNvCxnSpPr/>
          <p:nvPr/>
        </p:nvCxnSpPr>
        <p:spPr>
          <a:xfrm>
            <a:off x="2924355" y="3382692"/>
            <a:ext cx="914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3963041" y="2796999"/>
            <a:ext cx="5382178" cy="1276710"/>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9" name="Rectangle 18"/>
          <p:cNvSpPr/>
          <p:nvPr/>
        </p:nvSpPr>
        <p:spPr>
          <a:xfrm>
            <a:off x="10239555" y="2744337"/>
            <a:ext cx="1709827" cy="1276710"/>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8" name="Double Bracket 17"/>
          <p:cNvSpPr/>
          <p:nvPr/>
        </p:nvSpPr>
        <p:spPr>
          <a:xfrm>
            <a:off x="1418493" y="2796999"/>
            <a:ext cx="1381576" cy="1276710"/>
          </a:xfrm>
          <a:prstGeom prst="bracketPair">
            <a:avLst>
              <a:gd name="adj" fmla="val 7208"/>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22" name="TextBox 21"/>
          <p:cNvSpPr txBox="1"/>
          <p:nvPr/>
        </p:nvSpPr>
        <p:spPr>
          <a:xfrm>
            <a:off x="9527571" y="3204520"/>
            <a:ext cx="529632" cy="307777"/>
          </a:xfrm>
          <a:prstGeom prst="rect">
            <a:avLst/>
          </a:prstGeom>
          <a:noFill/>
        </p:spPr>
        <p:txBody>
          <a:bodyPr wrap="square" rtlCol="0">
            <a:spAutoFit/>
          </a:bodyPr>
          <a:lstStyle/>
          <a:p>
            <a:r>
              <a:rPr lang="en-US" sz="1400" dirty="0"/>
              <a:t>or…</a:t>
            </a:r>
            <a:endParaRPr lang="en-AU" sz="1400" dirty="0"/>
          </a:p>
        </p:txBody>
      </p:sp>
      <p:sp>
        <p:nvSpPr>
          <p:cNvPr id="23" name="TextBox 22"/>
          <p:cNvSpPr txBox="1"/>
          <p:nvPr/>
        </p:nvSpPr>
        <p:spPr>
          <a:xfrm>
            <a:off x="4012138" y="4073709"/>
            <a:ext cx="3415205" cy="261610"/>
          </a:xfrm>
          <a:prstGeom prst="rect">
            <a:avLst/>
          </a:prstGeom>
          <a:noFill/>
        </p:spPr>
        <p:txBody>
          <a:bodyPr wrap="square" rtlCol="0">
            <a:spAutoFit/>
          </a:bodyPr>
          <a:lstStyle/>
          <a:p>
            <a:r>
              <a:rPr lang="en-US" sz="1050" dirty="0"/>
              <a:t>^ Show open chain including at least three repeating units</a:t>
            </a:r>
            <a:endParaRPr lang="en-AU" sz="1050" dirty="0"/>
          </a:p>
        </p:txBody>
      </p:sp>
      <p:sp>
        <p:nvSpPr>
          <p:cNvPr id="24" name="TextBox 23"/>
          <p:cNvSpPr txBox="1"/>
          <p:nvPr/>
        </p:nvSpPr>
        <p:spPr>
          <a:xfrm>
            <a:off x="10215681" y="4073709"/>
            <a:ext cx="1976319" cy="261610"/>
          </a:xfrm>
          <a:prstGeom prst="rect">
            <a:avLst/>
          </a:prstGeom>
          <a:noFill/>
        </p:spPr>
        <p:txBody>
          <a:bodyPr wrap="square" rtlCol="0">
            <a:spAutoFit/>
          </a:bodyPr>
          <a:lstStyle/>
          <a:p>
            <a:r>
              <a:rPr lang="en-US" sz="1050" dirty="0"/>
              <a:t>^ One repeating unit in brackets</a:t>
            </a:r>
            <a:endParaRPr lang="en-AU" sz="1050" dirty="0"/>
          </a:p>
        </p:txBody>
      </p:sp>
      <p:pic>
        <p:nvPicPr>
          <p:cNvPr id="11266" name="Picture 2" descr="http://wiki.chemprime.chemeddl.org/images/1/16/Tetrafluoroethylene.PNG"/>
          <p:cNvPicPr>
            <a:picLocks noChangeAspect="1" noChangeArrowheads="1"/>
          </p:cNvPicPr>
          <p:nvPr/>
        </p:nvPicPr>
        <p:blipFill rotWithShape="1">
          <a:blip r:embed="rId2">
            <a:extLst>
              <a:ext uri="{28A0092B-C50C-407E-A947-70E740481C1C}">
                <a14:useLocalDpi xmlns:a14="http://schemas.microsoft.com/office/drawing/2010/main" val="0"/>
              </a:ext>
            </a:extLst>
          </a:blip>
          <a:srcRect r="11859"/>
          <a:stretch/>
        </p:blipFill>
        <p:spPr bwMode="auto">
          <a:xfrm>
            <a:off x="1442944" y="2854836"/>
            <a:ext cx="1299059" cy="1146323"/>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http://nutritionallywealthy.com/wp-content/uploads/2015/10/teflon-pa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6108" y="4778114"/>
            <a:ext cx="3807466" cy="1994161"/>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http://www.intechservices.com/sw/swchannel/images/users/15640/NONSTICK-small.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7955" y="4531268"/>
            <a:ext cx="1907264" cy="1507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6314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121421" y="1977904"/>
            <a:ext cx="10162903" cy="577970"/>
          </a:xfrm>
        </p:spPr>
        <p:txBody>
          <a:bodyPr>
            <a:normAutofit/>
          </a:bodyPr>
          <a:lstStyle/>
          <a:p>
            <a:r>
              <a:rPr lang="en-US" b="1" dirty="0"/>
              <a:t>Monomer: </a:t>
            </a:r>
            <a:r>
              <a:rPr lang="en-US" dirty="0"/>
              <a:t>__________________		</a:t>
            </a:r>
            <a:r>
              <a:rPr lang="en-US" b="1" dirty="0"/>
              <a:t>Polymer: </a:t>
            </a:r>
            <a:r>
              <a:rPr lang="en-US" dirty="0"/>
              <a:t>_______________________</a:t>
            </a:r>
          </a:p>
          <a:p>
            <a:endParaRPr lang="en-US" dirty="0"/>
          </a:p>
          <a:p>
            <a:endParaRPr lang="en-US" dirty="0"/>
          </a:p>
          <a:p>
            <a:endParaRPr lang="en-US" dirty="0"/>
          </a:p>
          <a:p>
            <a:endParaRPr lang="en-US" dirty="0"/>
          </a:p>
          <a:p>
            <a:endParaRPr lang="en-US" b="1" dirty="0"/>
          </a:p>
        </p:txBody>
      </p:sp>
      <p:sp>
        <p:nvSpPr>
          <p:cNvPr id="7" name="TextBox 6"/>
          <p:cNvSpPr txBox="1"/>
          <p:nvPr/>
        </p:nvSpPr>
        <p:spPr>
          <a:xfrm>
            <a:off x="474159" y="3776960"/>
            <a:ext cx="362848" cy="461665"/>
          </a:xfrm>
          <a:prstGeom prst="rect">
            <a:avLst/>
          </a:prstGeom>
          <a:noFill/>
        </p:spPr>
        <p:txBody>
          <a:bodyPr wrap="square" rtlCol="0">
            <a:spAutoFit/>
          </a:bodyPr>
          <a:lstStyle/>
          <a:p>
            <a:r>
              <a:rPr lang="en-US" sz="2400" dirty="0"/>
              <a:t>n</a:t>
            </a:r>
            <a:endParaRPr lang="en-AU" sz="2400" dirty="0"/>
          </a:p>
        </p:txBody>
      </p:sp>
      <p:cxnSp>
        <p:nvCxnSpPr>
          <p:cNvPr id="9" name="Straight Arrow Connector 8"/>
          <p:cNvCxnSpPr/>
          <p:nvPr/>
        </p:nvCxnSpPr>
        <p:spPr>
          <a:xfrm>
            <a:off x="2924355" y="3382692"/>
            <a:ext cx="914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3963041" y="2796999"/>
            <a:ext cx="5382178" cy="144162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9" name="Rectangle 18"/>
          <p:cNvSpPr/>
          <p:nvPr/>
        </p:nvSpPr>
        <p:spPr>
          <a:xfrm>
            <a:off x="10239555" y="2744337"/>
            <a:ext cx="1709827" cy="149428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8" name="Double Bracket 17"/>
          <p:cNvSpPr/>
          <p:nvPr/>
        </p:nvSpPr>
        <p:spPr>
          <a:xfrm>
            <a:off x="837007" y="2796999"/>
            <a:ext cx="1963062" cy="1441626"/>
          </a:xfrm>
          <a:prstGeom prst="bracketPair">
            <a:avLst>
              <a:gd name="adj" fmla="val 7208"/>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22" name="TextBox 21"/>
          <p:cNvSpPr txBox="1"/>
          <p:nvPr/>
        </p:nvSpPr>
        <p:spPr>
          <a:xfrm>
            <a:off x="9527571" y="3204520"/>
            <a:ext cx="529632" cy="307777"/>
          </a:xfrm>
          <a:prstGeom prst="rect">
            <a:avLst/>
          </a:prstGeom>
          <a:noFill/>
        </p:spPr>
        <p:txBody>
          <a:bodyPr wrap="square" rtlCol="0">
            <a:spAutoFit/>
          </a:bodyPr>
          <a:lstStyle/>
          <a:p>
            <a:r>
              <a:rPr lang="en-US" sz="1400" dirty="0"/>
              <a:t>or…</a:t>
            </a:r>
            <a:endParaRPr lang="en-AU" sz="1400" dirty="0"/>
          </a:p>
        </p:txBody>
      </p:sp>
      <p:pic>
        <p:nvPicPr>
          <p:cNvPr id="13314" name="Picture 2" descr="http://pslc.ws/macrog/images/prop03.gif"/>
          <p:cNvPicPr>
            <a:picLocks noChangeAspect="1" noChangeArrowheads="1"/>
          </p:cNvPicPr>
          <p:nvPr/>
        </p:nvPicPr>
        <p:blipFill rotWithShape="1">
          <a:blip r:embed="rId2">
            <a:extLst>
              <a:ext uri="{28A0092B-C50C-407E-A947-70E740481C1C}">
                <a14:useLocalDpi xmlns:a14="http://schemas.microsoft.com/office/drawing/2010/main" val="0"/>
              </a:ext>
            </a:extLst>
          </a:blip>
          <a:srcRect b="23638"/>
          <a:stretch/>
        </p:blipFill>
        <p:spPr bwMode="auto">
          <a:xfrm>
            <a:off x="3963041" y="3219653"/>
            <a:ext cx="5382178" cy="700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594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121421" y="1977904"/>
            <a:ext cx="10162903" cy="577970"/>
          </a:xfrm>
        </p:spPr>
        <p:txBody>
          <a:bodyPr>
            <a:normAutofit/>
          </a:bodyPr>
          <a:lstStyle/>
          <a:p>
            <a:r>
              <a:rPr lang="en-US" b="1" dirty="0"/>
              <a:t>Monomer: </a:t>
            </a:r>
            <a:r>
              <a:rPr lang="en-US" dirty="0"/>
              <a:t>__________________		</a:t>
            </a:r>
            <a:r>
              <a:rPr lang="en-US" b="1" dirty="0"/>
              <a:t>Polymer: </a:t>
            </a:r>
            <a:r>
              <a:rPr lang="en-US" dirty="0"/>
              <a:t>_______________________</a:t>
            </a:r>
          </a:p>
          <a:p>
            <a:endParaRPr lang="en-US" dirty="0"/>
          </a:p>
          <a:p>
            <a:endParaRPr lang="en-US" dirty="0"/>
          </a:p>
          <a:p>
            <a:endParaRPr lang="en-US" dirty="0"/>
          </a:p>
          <a:p>
            <a:endParaRPr lang="en-US" dirty="0"/>
          </a:p>
          <a:p>
            <a:endParaRPr lang="en-US" b="1" dirty="0"/>
          </a:p>
        </p:txBody>
      </p:sp>
      <p:sp>
        <p:nvSpPr>
          <p:cNvPr id="7" name="TextBox 6"/>
          <p:cNvSpPr txBox="1"/>
          <p:nvPr/>
        </p:nvSpPr>
        <p:spPr>
          <a:xfrm>
            <a:off x="474159" y="3776960"/>
            <a:ext cx="362848" cy="461665"/>
          </a:xfrm>
          <a:prstGeom prst="rect">
            <a:avLst/>
          </a:prstGeom>
          <a:noFill/>
        </p:spPr>
        <p:txBody>
          <a:bodyPr wrap="square" rtlCol="0">
            <a:spAutoFit/>
          </a:bodyPr>
          <a:lstStyle/>
          <a:p>
            <a:r>
              <a:rPr lang="en-US" sz="2400" dirty="0"/>
              <a:t>n</a:t>
            </a:r>
            <a:endParaRPr lang="en-AU" sz="2400" dirty="0"/>
          </a:p>
        </p:txBody>
      </p:sp>
      <p:cxnSp>
        <p:nvCxnSpPr>
          <p:cNvPr id="9" name="Straight Arrow Connector 8"/>
          <p:cNvCxnSpPr/>
          <p:nvPr/>
        </p:nvCxnSpPr>
        <p:spPr>
          <a:xfrm>
            <a:off x="2924355" y="3382692"/>
            <a:ext cx="914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3963041" y="2796999"/>
            <a:ext cx="5382178" cy="144162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9" name="Rectangle 18"/>
          <p:cNvSpPr/>
          <p:nvPr/>
        </p:nvSpPr>
        <p:spPr>
          <a:xfrm>
            <a:off x="10239555" y="2744337"/>
            <a:ext cx="1709827" cy="149428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8" name="Double Bracket 17"/>
          <p:cNvSpPr/>
          <p:nvPr/>
        </p:nvSpPr>
        <p:spPr>
          <a:xfrm>
            <a:off x="837007" y="2796999"/>
            <a:ext cx="1963062" cy="1441626"/>
          </a:xfrm>
          <a:prstGeom prst="bracketPair">
            <a:avLst>
              <a:gd name="adj" fmla="val 7208"/>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22" name="TextBox 21"/>
          <p:cNvSpPr txBox="1"/>
          <p:nvPr/>
        </p:nvSpPr>
        <p:spPr>
          <a:xfrm>
            <a:off x="9527571" y="3204520"/>
            <a:ext cx="529632" cy="307777"/>
          </a:xfrm>
          <a:prstGeom prst="rect">
            <a:avLst/>
          </a:prstGeom>
          <a:noFill/>
        </p:spPr>
        <p:txBody>
          <a:bodyPr wrap="square" rtlCol="0">
            <a:spAutoFit/>
          </a:bodyPr>
          <a:lstStyle/>
          <a:p>
            <a:r>
              <a:rPr lang="en-US" sz="1400" dirty="0"/>
              <a:t>or…</a:t>
            </a:r>
            <a:endParaRPr lang="en-AU" sz="1400" dirty="0"/>
          </a:p>
        </p:txBody>
      </p:sp>
      <p:pic>
        <p:nvPicPr>
          <p:cNvPr id="13314" name="Picture 2" descr="http://pslc.ws/macrog/images/prop03.gif"/>
          <p:cNvPicPr>
            <a:picLocks noChangeAspect="1" noChangeArrowheads="1"/>
          </p:cNvPicPr>
          <p:nvPr/>
        </p:nvPicPr>
        <p:blipFill rotWithShape="1">
          <a:blip r:embed="rId2">
            <a:extLst>
              <a:ext uri="{28A0092B-C50C-407E-A947-70E740481C1C}">
                <a14:useLocalDpi xmlns:a14="http://schemas.microsoft.com/office/drawing/2010/main" val="0"/>
              </a:ext>
            </a:extLst>
          </a:blip>
          <a:srcRect b="23638"/>
          <a:stretch/>
        </p:blipFill>
        <p:spPr bwMode="auto">
          <a:xfrm>
            <a:off x="3963041" y="3219653"/>
            <a:ext cx="5382178" cy="700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6132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 Polymers</a:t>
            </a:r>
            <a:endParaRPr lang="en-AU" dirty="0"/>
          </a:p>
        </p:txBody>
      </p:sp>
      <p:sp>
        <p:nvSpPr>
          <p:cNvPr id="3" name="Content Placeholder 2"/>
          <p:cNvSpPr>
            <a:spLocks noGrp="1"/>
          </p:cNvSpPr>
          <p:nvPr>
            <p:ph idx="1"/>
          </p:nvPr>
        </p:nvSpPr>
        <p:spPr>
          <a:xfrm>
            <a:off x="1121421" y="1977904"/>
            <a:ext cx="10162903" cy="577970"/>
          </a:xfrm>
        </p:spPr>
        <p:txBody>
          <a:bodyPr>
            <a:normAutofit/>
          </a:bodyPr>
          <a:lstStyle/>
          <a:p>
            <a:r>
              <a:rPr lang="en-US" b="1" dirty="0"/>
              <a:t>Monomer: </a:t>
            </a:r>
            <a:r>
              <a:rPr lang="en-US" dirty="0"/>
              <a:t>__________________		</a:t>
            </a:r>
            <a:r>
              <a:rPr lang="en-US" b="1" dirty="0"/>
              <a:t>Polymer: </a:t>
            </a:r>
            <a:r>
              <a:rPr lang="en-US" dirty="0"/>
              <a:t>poly(vinyl alcohol)            PVA</a:t>
            </a:r>
          </a:p>
          <a:p>
            <a:endParaRPr lang="en-US" dirty="0"/>
          </a:p>
          <a:p>
            <a:endParaRPr lang="en-US" dirty="0"/>
          </a:p>
          <a:p>
            <a:endParaRPr lang="en-US" dirty="0"/>
          </a:p>
          <a:p>
            <a:endParaRPr lang="en-US" dirty="0"/>
          </a:p>
          <a:p>
            <a:endParaRPr lang="en-US" b="1" dirty="0"/>
          </a:p>
        </p:txBody>
      </p:sp>
      <p:sp>
        <p:nvSpPr>
          <p:cNvPr id="7" name="TextBox 6"/>
          <p:cNvSpPr txBox="1"/>
          <p:nvPr/>
        </p:nvSpPr>
        <p:spPr>
          <a:xfrm>
            <a:off x="474159" y="4282510"/>
            <a:ext cx="362848" cy="461665"/>
          </a:xfrm>
          <a:prstGeom prst="rect">
            <a:avLst/>
          </a:prstGeom>
          <a:noFill/>
        </p:spPr>
        <p:txBody>
          <a:bodyPr wrap="square" rtlCol="0">
            <a:spAutoFit/>
          </a:bodyPr>
          <a:lstStyle/>
          <a:p>
            <a:r>
              <a:rPr lang="en-US" sz="2400" dirty="0"/>
              <a:t>n</a:t>
            </a:r>
            <a:endParaRPr lang="en-AU" sz="2400" dirty="0"/>
          </a:p>
        </p:txBody>
      </p:sp>
      <p:cxnSp>
        <p:nvCxnSpPr>
          <p:cNvPr id="9" name="Straight Arrow Connector 8"/>
          <p:cNvCxnSpPr/>
          <p:nvPr/>
        </p:nvCxnSpPr>
        <p:spPr>
          <a:xfrm>
            <a:off x="2924355" y="3382692"/>
            <a:ext cx="914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3963041" y="2796998"/>
            <a:ext cx="5382178" cy="1947177"/>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9" name="Rectangle 18"/>
          <p:cNvSpPr/>
          <p:nvPr/>
        </p:nvSpPr>
        <p:spPr>
          <a:xfrm>
            <a:off x="10239555" y="2744337"/>
            <a:ext cx="1709827" cy="199983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18" name="Double Bracket 17"/>
          <p:cNvSpPr/>
          <p:nvPr/>
        </p:nvSpPr>
        <p:spPr>
          <a:xfrm>
            <a:off x="837007" y="2796999"/>
            <a:ext cx="1963062" cy="1947176"/>
          </a:xfrm>
          <a:prstGeom prst="bracketPair">
            <a:avLst>
              <a:gd name="adj" fmla="val 7208"/>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22" name="TextBox 21"/>
          <p:cNvSpPr txBox="1"/>
          <p:nvPr/>
        </p:nvSpPr>
        <p:spPr>
          <a:xfrm>
            <a:off x="9527571" y="3204520"/>
            <a:ext cx="529632" cy="307777"/>
          </a:xfrm>
          <a:prstGeom prst="rect">
            <a:avLst/>
          </a:prstGeom>
          <a:noFill/>
        </p:spPr>
        <p:txBody>
          <a:bodyPr wrap="square" rtlCol="0">
            <a:spAutoFit/>
          </a:bodyPr>
          <a:lstStyle/>
          <a:p>
            <a:r>
              <a:rPr lang="en-US" sz="1400" dirty="0"/>
              <a:t>or…</a:t>
            </a:r>
            <a:endParaRPr lang="en-AU" sz="1400" dirty="0"/>
          </a:p>
        </p:txBody>
      </p:sp>
      <p:pic>
        <p:nvPicPr>
          <p:cNvPr id="14338" name="Picture 2" descr="http://patentimages.storage.googleapis.com/WO1995032323A1/imgf000004_0001.png"/>
          <p:cNvPicPr>
            <a:picLocks noChangeAspect="1" noChangeArrowheads="1"/>
          </p:cNvPicPr>
          <p:nvPr/>
        </p:nvPicPr>
        <p:blipFill rotWithShape="1">
          <a:blip r:embed="rId2">
            <a:extLst>
              <a:ext uri="{28A0092B-C50C-407E-A947-70E740481C1C}">
                <a14:useLocalDpi xmlns:a14="http://schemas.microsoft.com/office/drawing/2010/main" val="0"/>
              </a:ext>
            </a:extLst>
          </a:blip>
          <a:srcRect r="32911"/>
          <a:stretch/>
        </p:blipFill>
        <p:spPr bwMode="auto">
          <a:xfrm>
            <a:off x="4021107" y="3186050"/>
            <a:ext cx="5158565" cy="1169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260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clker.com/cliparts/O/l/d/s/i/S/check-mark-h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5" y="4106862"/>
            <a:ext cx="2022475" cy="2041237"/>
          </a:xfrm>
          <a:prstGeom prst="rect">
            <a:avLst/>
          </a:prstGeom>
          <a:solidFill>
            <a:schemeClr val="bg1"/>
          </a:solidFill>
        </p:spPr>
      </p:pic>
      <p:sp>
        <p:nvSpPr>
          <p:cNvPr id="2" name="Title 1"/>
          <p:cNvSpPr>
            <a:spLocks noGrp="1"/>
          </p:cNvSpPr>
          <p:nvPr>
            <p:ph type="title"/>
          </p:nvPr>
        </p:nvSpPr>
        <p:spPr/>
        <p:txBody>
          <a:bodyPr/>
          <a:lstStyle/>
          <a:p>
            <a:r>
              <a:rPr lang="en-US" dirty="0"/>
              <a:t>Syllabus</a:t>
            </a:r>
            <a:endParaRPr lang="en-AU" dirty="0"/>
          </a:p>
        </p:txBody>
      </p:sp>
      <p:sp>
        <p:nvSpPr>
          <p:cNvPr id="3" name="Content Placeholder 2"/>
          <p:cNvSpPr>
            <a:spLocks noGrp="1"/>
          </p:cNvSpPr>
          <p:nvPr>
            <p:ph idx="1"/>
          </p:nvPr>
        </p:nvSpPr>
        <p:spPr/>
        <p:txBody>
          <a:bodyPr>
            <a:normAutofit/>
          </a:bodyPr>
          <a:lstStyle/>
          <a:p>
            <a:pPr lvl="0"/>
            <a:r>
              <a:rPr lang="en-AU" sz="2400" dirty="0"/>
              <a:t>addition reactions can be used to produce polymers, including </a:t>
            </a:r>
            <a:r>
              <a:rPr lang="en-AU" sz="2400" dirty="0" err="1"/>
              <a:t>polyethene</a:t>
            </a:r>
            <a:r>
              <a:rPr lang="en-AU" sz="2400" dirty="0"/>
              <a:t> and </a:t>
            </a:r>
            <a:r>
              <a:rPr lang="en-AU" sz="2400" dirty="0" err="1"/>
              <a:t>polytetrafluoroethene</a:t>
            </a:r>
            <a:endParaRPr lang="en-AU" sz="2400" dirty="0"/>
          </a:p>
          <a:p>
            <a:pPr lvl="0"/>
            <a:endParaRPr lang="en-AU" sz="2400" dirty="0"/>
          </a:p>
          <a:p>
            <a:pPr lvl="0"/>
            <a:r>
              <a:rPr lang="en-AU" sz="2400" dirty="0"/>
              <a:t>the structure of an addition polymer can be predicted from its monomer and the structure of an addition polymer can be used to predict the monomer from which it was derived</a:t>
            </a:r>
          </a:p>
        </p:txBody>
      </p:sp>
    </p:spTree>
    <p:extLst>
      <p:ext uri="{BB962C8B-B14F-4D97-AF65-F5344CB8AC3E}">
        <p14:creationId xmlns:p14="http://schemas.microsoft.com/office/powerpoint/2010/main" val="2533974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Condensation Polymers</a:t>
            </a:r>
            <a:endParaRPr lang="en-AU" dirty="0"/>
          </a:p>
        </p:txBody>
      </p:sp>
      <p:sp>
        <p:nvSpPr>
          <p:cNvPr id="3" name="Content Placeholder 2"/>
          <p:cNvSpPr>
            <a:spLocks noGrp="1"/>
          </p:cNvSpPr>
          <p:nvPr>
            <p:ph idx="1"/>
          </p:nvPr>
        </p:nvSpPr>
        <p:spPr>
          <a:xfrm>
            <a:off x="1097279" y="1845733"/>
            <a:ext cx="10162903" cy="4515877"/>
          </a:xfrm>
        </p:spPr>
        <p:txBody>
          <a:bodyPr>
            <a:normAutofit/>
          </a:bodyPr>
          <a:lstStyle/>
          <a:p>
            <a:r>
              <a:rPr lang="en-US" b="1" dirty="0"/>
              <a:t>Recall</a:t>
            </a:r>
            <a:r>
              <a:rPr lang="en-US" dirty="0"/>
              <a:t>: A condensation reaction is a reaction that produces water as a byproduct.</a:t>
            </a:r>
            <a:endParaRPr lang="en-US" b="1" dirty="0"/>
          </a:p>
          <a:p>
            <a:endParaRPr lang="en-US" dirty="0"/>
          </a:p>
          <a:p>
            <a:endParaRPr lang="en-US" dirty="0"/>
          </a:p>
          <a:p>
            <a:endParaRPr lang="en-US" dirty="0"/>
          </a:p>
          <a:p>
            <a:endParaRPr lang="en-US" dirty="0"/>
          </a:p>
          <a:p>
            <a:endParaRPr lang="en-US" dirty="0"/>
          </a:p>
          <a:p>
            <a:endParaRPr lang="en-US" dirty="0"/>
          </a:p>
          <a:p>
            <a:endParaRPr lang="en-US" dirty="0"/>
          </a:p>
          <a:p>
            <a:endParaRPr lang="en-US" b="1" dirty="0"/>
          </a:p>
        </p:txBody>
      </p:sp>
      <p:pic>
        <p:nvPicPr>
          <p:cNvPr id="7" name="Picture 6"/>
          <p:cNvPicPr>
            <a:picLocks noChangeAspect="1"/>
          </p:cNvPicPr>
          <p:nvPr/>
        </p:nvPicPr>
        <p:blipFill rotWithShape="1">
          <a:blip r:embed="rId2"/>
          <a:srcRect l="15313" t="31667" r="17813" b="49259"/>
          <a:stretch/>
        </p:blipFill>
        <p:spPr>
          <a:xfrm>
            <a:off x="2325292" y="4103671"/>
            <a:ext cx="8157357" cy="1308735"/>
          </a:xfrm>
          <a:prstGeom prst="rect">
            <a:avLst/>
          </a:prstGeom>
        </p:spPr>
      </p:pic>
      <p:pic>
        <p:nvPicPr>
          <p:cNvPr id="8" name="Picture 7"/>
          <p:cNvPicPr>
            <a:picLocks noChangeAspect="1"/>
          </p:cNvPicPr>
          <p:nvPr/>
        </p:nvPicPr>
        <p:blipFill rotWithShape="1">
          <a:blip r:embed="rId2"/>
          <a:srcRect l="15313" t="59445" r="18646" b="21492"/>
          <a:stretch/>
        </p:blipFill>
        <p:spPr>
          <a:xfrm>
            <a:off x="2325292" y="2412833"/>
            <a:ext cx="7871171" cy="1278045"/>
          </a:xfrm>
          <a:prstGeom prst="rect">
            <a:avLst/>
          </a:prstGeom>
        </p:spPr>
      </p:pic>
    </p:spTree>
    <p:extLst>
      <p:ext uri="{BB962C8B-B14F-4D97-AF65-F5344CB8AC3E}">
        <p14:creationId xmlns:p14="http://schemas.microsoft.com/office/powerpoint/2010/main" val="983013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Condensation Polymers</a:t>
            </a:r>
            <a:endParaRPr lang="en-AU" dirty="0"/>
          </a:p>
        </p:txBody>
      </p:sp>
      <p:sp>
        <p:nvSpPr>
          <p:cNvPr id="3" name="Content Placeholder 2"/>
          <p:cNvSpPr>
            <a:spLocks noGrp="1"/>
          </p:cNvSpPr>
          <p:nvPr>
            <p:ph idx="1"/>
          </p:nvPr>
        </p:nvSpPr>
        <p:spPr>
          <a:xfrm>
            <a:off x="1097279" y="1845733"/>
            <a:ext cx="10162903" cy="4515877"/>
          </a:xfrm>
        </p:spPr>
        <p:txBody>
          <a:bodyPr>
            <a:normAutofit/>
          </a:bodyPr>
          <a:lstStyle/>
          <a:p>
            <a:r>
              <a:rPr lang="en-US" dirty="0"/>
              <a:t>A condensation polymer is produced by adding monomers through condensation reactions.</a:t>
            </a:r>
          </a:p>
          <a:p>
            <a:r>
              <a:rPr lang="en-US" dirty="0"/>
              <a:t>They may be:</a:t>
            </a:r>
          </a:p>
          <a:p>
            <a:pPr lvl="1"/>
            <a:r>
              <a:rPr lang="en-US" sz="2000" dirty="0"/>
              <a:t>polyesters   (monomers joined by </a:t>
            </a:r>
            <a:r>
              <a:rPr lang="en-US" sz="2000" b="1" dirty="0"/>
              <a:t>ester</a:t>
            </a:r>
            <a:r>
              <a:rPr lang="en-US" sz="2000" dirty="0"/>
              <a:t> groups)</a:t>
            </a:r>
          </a:p>
          <a:p>
            <a:pPr lvl="1"/>
            <a:r>
              <a:rPr lang="en-US" sz="2000" dirty="0"/>
              <a:t>polyamides   (monomers joined by </a:t>
            </a:r>
            <a:r>
              <a:rPr lang="en-US" sz="2000" b="1" dirty="0"/>
              <a:t>amide </a:t>
            </a:r>
            <a:r>
              <a:rPr lang="en-US" sz="2000" dirty="0"/>
              <a:t>groups)</a:t>
            </a:r>
          </a:p>
          <a:p>
            <a:pPr marL="201168" lvl="1" indent="0">
              <a:buNone/>
            </a:pPr>
            <a:endParaRPr lang="en-US" sz="2000" dirty="0"/>
          </a:p>
          <a:p>
            <a:pPr marL="201168" lvl="1" indent="0">
              <a:buNone/>
            </a:pPr>
            <a:r>
              <a:rPr lang="en-US" sz="2000" dirty="0"/>
              <a:t>Polypeptides are biological versions of polyamides. They were constructed when monomers with COOH groups and NH</a:t>
            </a:r>
            <a:r>
              <a:rPr lang="en-US" sz="2000" baseline="-25000" dirty="0"/>
              <a:t>2</a:t>
            </a:r>
            <a:r>
              <a:rPr lang="en-US" sz="2000" dirty="0"/>
              <a:t> groups joined through condensation reactions.</a:t>
            </a:r>
          </a:p>
          <a:p>
            <a:endParaRPr lang="en-US" dirty="0"/>
          </a:p>
          <a:p>
            <a:endParaRPr lang="en-US" dirty="0"/>
          </a:p>
          <a:p>
            <a:endParaRPr lang="en-US" dirty="0"/>
          </a:p>
          <a:p>
            <a:endParaRPr lang="en-US" dirty="0"/>
          </a:p>
          <a:p>
            <a:endParaRPr lang="en-US" dirty="0"/>
          </a:p>
          <a:p>
            <a:endParaRPr lang="en-US" dirty="0"/>
          </a:p>
          <a:p>
            <a:endParaRPr lang="en-US" dirty="0"/>
          </a:p>
          <a:p>
            <a:endParaRPr lang="en-US" b="1" dirty="0"/>
          </a:p>
        </p:txBody>
      </p:sp>
      <p:pic>
        <p:nvPicPr>
          <p:cNvPr id="17410" name="Picture 2" descr="http://www.chemhume.co.uk/A2CHEM/Unit%201/5%20Nitrogen%20compounds/polypeptide_sec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7174" y="4430033"/>
            <a:ext cx="6259740" cy="1745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287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Polyesters</a:t>
            </a:r>
            <a:endParaRPr lang="en-AU" dirty="0"/>
          </a:p>
        </p:txBody>
      </p:sp>
      <p:sp>
        <p:nvSpPr>
          <p:cNvPr id="3" name="Content Placeholder 2"/>
          <p:cNvSpPr>
            <a:spLocks noGrp="1"/>
          </p:cNvSpPr>
          <p:nvPr>
            <p:ph idx="1"/>
          </p:nvPr>
        </p:nvSpPr>
        <p:spPr>
          <a:xfrm>
            <a:off x="1097279" y="1845734"/>
            <a:ext cx="10162903" cy="926496"/>
          </a:xfrm>
        </p:spPr>
        <p:txBody>
          <a:bodyPr>
            <a:normAutofit/>
          </a:bodyPr>
          <a:lstStyle/>
          <a:p>
            <a:r>
              <a:rPr lang="en-US" b="1" u="sng" dirty="0" err="1"/>
              <a:t>Homopolymer</a:t>
            </a:r>
            <a:r>
              <a:rPr lang="en-US" b="1" u="sng" dirty="0"/>
              <a:t> (single monomer):</a:t>
            </a:r>
          </a:p>
          <a:p>
            <a:r>
              <a:rPr lang="en-US" sz="2000" dirty="0"/>
              <a:t>A polyester can be made from a </a:t>
            </a:r>
            <a:r>
              <a:rPr lang="en-US" sz="2000" b="1" dirty="0"/>
              <a:t>single monomer </a:t>
            </a:r>
            <a:r>
              <a:rPr lang="en-US" sz="2000" dirty="0"/>
              <a:t>if it includes both a COOH and an OH group.</a:t>
            </a:r>
          </a:p>
          <a:p>
            <a:endParaRPr lang="en-US" b="1" dirty="0"/>
          </a:p>
        </p:txBody>
      </p:sp>
      <p:sp>
        <p:nvSpPr>
          <p:cNvPr id="9" name="Content Placeholder 2"/>
          <p:cNvSpPr txBox="1">
            <a:spLocks/>
          </p:cNvSpPr>
          <p:nvPr/>
        </p:nvSpPr>
        <p:spPr>
          <a:xfrm>
            <a:off x="1121421" y="3037447"/>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Monomer: </a:t>
            </a:r>
            <a:r>
              <a:rPr lang="en-US" dirty="0"/>
              <a:t>Glycolic acid				</a:t>
            </a:r>
            <a:endParaRPr lang="en-US" b="1" dirty="0"/>
          </a:p>
        </p:txBody>
      </p:sp>
      <p:sp>
        <p:nvSpPr>
          <p:cNvPr id="14" name="Rectangle 13"/>
          <p:cNvSpPr/>
          <p:nvPr/>
        </p:nvSpPr>
        <p:spPr>
          <a:xfrm>
            <a:off x="841830" y="4397476"/>
            <a:ext cx="11132456" cy="1799421"/>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23" name="Content Placeholder 2"/>
          <p:cNvSpPr txBox="1">
            <a:spLocks/>
          </p:cNvSpPr>
          <p:nvPr/>
        </p:nvSpPr>
        <p:spPr>
          <a:xfrm>
            <a:off x="1121421" y="4062113"/>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Polymer:</a:t>
            </a:r>
          </a:p>
        </p:txBody>
      </p:sp>
      <p:pic>
        <p:nvPicPr>
          <p:cNvPr id="4" name="Picture 3"/>
          <p:cNvPicPr>
            <a:picLocks noChangeAspect="1"/>
          </p:cNvPicPr>
          <p:nvPr/>
        </p:nvPicPr>
        <p:blipFill>
          <a:blip r:embed="rId2"/>
          <a:stretch>
            <a:fillRect/>
          </a:stretch>
        </p:blipFill>
        <p:spPr>
          <a:xfrm>
            <a:off x="4278176" y="2735853"/>
            <a:ext cx="2581275" cy="1438275"/>
          </a:xfrm>
          <a:prstGeom prst="rect">
            <a:avLst/>
          </a:prstGeom>
        </p:spPr>
      </p:pic>
    </p:spTree>
    <p:extLst>
      <p:ext uri="{BB962C8B-B14F-4D97-AF65-F5344CB8AC3E}">
        <p14:creationId xmlns:p14="http://schemas.microsoft.com/office/powerpoint/2010/main" val="801600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Polyesters</a:t>
            </a:r>
            <a:endParaRPr lang="en-AU" dirty="0"/>
          </a:p>
        </p:txBody>
      </p:sp>
      <p:sp>
        <p:nvSpPr>
          <p:cNvPr id="9" name="Content Placeholder 2"/>
          <p:cNvSpPr txBox="1">
            <a:spLocks/>
          </p:cNvSpPr>
          <p:nvPr/>
        </p:nvSpPr>
        <p:spPr>
          <a:xfrm>
            <a:off x="1121421" y="2443070"/>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Monomer: </a:t>
            </a:r>
            <a:r>
              <a:rPr lang="en-US" dirty="0"/>
              <a:t>Lactic acid				</a:t>
            </a:r>
            <a:endParaRPr lang="en-US" b="1" dirty="0"/>
          </a:p>
        </p:txBody>
      </p:sp>
      <p:sp>
        <p:nvSpPr>
          <p:cNvPr id="14" name="Rectangle 13"/>
          <p:cNvSpPr/>
          <p:nvPr/>
        </p:nvSpPr>
        <p:spPr>
          <a:xfrm>
            <a:off x="841830" y="3847431"/>
            <a:ext cx="11132456" cy="2088912"/>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23" name="Content Placeholder 2"/>
          <p:cNvSpPr txBox="1">
            <a:spLocks/>
          </p:cNvSpPr>
          <p:nvPr/>
        </p:nvSpPr>
        <p:spPr>
          <a:xfrm>
            <a:off x="1121421" y="3420273"/>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Polymer:</a:t>
            </a:r>
          </a:p>
        </p:txBody>
      </p:sp>
      <p:pic>
        <p:nvPicPr>
          <p:cNvPr id="10" name="Picture 9"/>
          <p:cNvPicPr>
            <a:picLocks noChangeAspect="1"/>
          </p:cNvPicPr>
          <p:nvPr/>
        </p:nvPicPr>
        <p:blipFill>
          <a:blip r:embed="rId2"/>
          <a:stretch>
            <a:fillRect/>
          </a:stretch>
        </p:blipFill>
        <p:spPr>
          <a:xfrm>
            <a:off x="4058783" y="1899905"/>
            <a:ext cx="2566989" cy="1404361"/>
          </a:xfrm>
          <a:prstGeom prst="rect">
            <a:avLst/>
          </a:prstGeom>
        </p:spPr>
      </p:pic>
    </p:spTree>
    <p:extLst>
      <p:ext uri="{BB962C8B-B14F-4D97-AF65-F5344CB8AC3E}">
        <p14:creationId xmlns:p14="http://schemas.microsoft.com/office/powerpoint/2010/main" val="602291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Polyesters</a:t>
            </a:r>
            <a:endParaRPr lang="en-AU" dirty="0"/>
          </a:p>
        </p:txBody>
      </p:sp>
      <p:sp>
        <p:nvSpPr>
          <p:cNvPr id="3" name="Content Placeholder 2"/>
          <p:cNvSpPr>
            <a:spLocks noGrp="1"/>
          </p:cNvSpPr>
          <p:nvPr>
            <p:ph idx="1"/>
          </p:nvPr>
        </p:nvSpPr>
        <p:spPr>
          <a:xfrm>
            <a:off x="1097279" y="1845734"/>
            <a:ext cx="10162903" cy="926496"/>
          </a:xfrm>
        </p:spPr>
        <p:txBody>
          <a:bodyPr>
            <a:normAutofit fontScale="92500" lnSpcReduction="20000"/>
          </a:bodyPr>
          <a:lstStyle/>
          <a:p>
            <a:r>
              <a:rPr lang="en-US" b="1" u="sng" dirty="0"/>
              <a:t>Copolymer (two monomers):</a:t>
            </a:r>
          </a:p>
          <a:p>
            <a:r>
              <a:rPr lang="en-US" sz="2000" dirty="0"/>
              <a:t>Copolymers have two alternating monomers. In a polyester, this can happen if one molecule is a </a:t>
            </a:r>
            <a:br>
              <a:rPr lang="en-US" sz="2000" dirty="0"/>
            </a:br>
            <a:r>
              <a:rPr lang="en-US" sz="2000" b="1" dirty="0"/>
              <a:t>diol</a:t>
            </a:r>
            <a:r>
              <a:rPr lang="en-US" sz="2000" dirty="0"/>
              <a:t> (two –OH groups) and another is a </a:t>
            </a:r>
            <a:r>
              <a:rPr lang="en-US" sz="2000" b="1" dirty="0"/>
              <a:t>dicarboxylic acid</a:t>
            </a:r>
            <a:r>
              <a:rPr lang="en-US" sz="2000" dirty="0"/>
              <a:t> (two –COOH groups).</a:t>
            </a:r>
            <a:endParaRPr lang="en-US" sz="2000" b="1" dirty="0"/>
          </a:p>
          <a:p>
            <a:endParaRPr lang="en-US" b="1" dirty="0"/>
          </a:p>
        </p:txBody>
      </p:sp>
      <p:sp>
        <p:nvSpPr>
          <p:cNvPr id="9" name="Content Placeholder 2"/>
          <p:cNvSpPr txBox="1">
            <a:spLocks/>
          </p:cNvSpPr>
          <p:nvPr/>
        </p:nvSpPr>
        <p:spPr>
          <a:xfrm>
            <a:off x="1121421" y="3037447"/>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Monomers: </a:t>
            </a:r>
            <a:r>
              <a:rPr lang="en-US" dirty="0"/>
              <a:t>			</a:t>
            </a:r>
            <a:endParaRPr lang="en-US" b="1" dirty="0"/>
          </a:p>
        </p:txBody>
      </p:sp>
      <p:sp>
        <p:nvSpPr>
          <p:cNvPr id="14" name="Rectangle 13"/>
          <p:cNvSpPr/>
          <p:nvPr/>
        </p:nvSpPr>
        <p:spPr>
          <a:xfrm>
            <a:off x="841830" y="4397476"/>
            <a:ext cx="11132456" cy="1799421"/>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23" name="Content Placeholder 2"/>
          <p:cNvSpPr txBox="1">
            <a:spLocks/>
          </p:cNvSpPr>
          <p:nvPr/>
        </p:nvSpPr>
        <p:spPr>
          <a:xfrm>
            <a:off x="1121421" y="4062113"/>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Polymer:</a:t>
            </a:r>
          </a:p>
        </p:txBody>
      </p:sp>
      <p:pic>
        <p:nvPicPr>
          <p:cNvPr id="21506" name="Picture 2" descr="http://pslc.ws/macrog/images/copol01.gif"/>
          <p:cNvPicPr>
            <a:picLocks noChangeAspect="1" noChangeArrowheads="1"/>
          </p:cNvPicPr>
          <p:nvPr/>
        </p:nvPicPr>
        <p:blipFill rotWithShape="1">
          <a:blip r:embed="rId2">
            <a:extLst>
              <a:ext uri="{28A0092B-C50C-407E-A947-70E740481C1C}">
                <a14:useLocalDpi xmlns:a14="http://schemas.microsoft.com/office/drawing/2010/main" val="0"/>
              </a:ext>
            </a:extLst>
          </a:blip>
          <a:srcRect b="50304"/>
          <a:stretch/>
        </p:blipFill>
        <p:spPr bwMode="auto">
          <a:xfrm>
            <a:off x="6792686" y="1703314"/>
            <a:ext cx="5618684" cy="4807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891519" y="2973478"/>
            <a:ext cx="4728482" cy="1161621"/>
          </a:xfrm>
          <a:prstGeom prst="rect">
            <a:avLst/>
          </a:prstGeom>
        </p:spPr>
      </p:pic>
    </p:spTree>
    <p:extLst>
      <p:ext uri="{BB962C8B-B14F-4D97-AF65-F5344CB8AC3E}">
        <p14:creationId xmlns:p14="http://schemas.microsoft.com/office/powerpoint/2010/main" val="3213245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Polyesters</a:t>
            </a:r>
            <a:endParaRPr lang="en-AU" dirty="0"/>
          </a:p>
        </p:txBody>
      </p:sp>
      <p:sp>
        <p:nvSpPr>
          <p:cNvPr id="3" name="Content Placeholder 2"/>
          <p:cNvSpPr>
            <a:spLocks noGrp="1"/>
          </p:cNvSpPr>
          <p:nvPr>
            <p:ph idx="1"/>
          </p:nvPr>
        </p:nvSpPr>
        <p:spPr>
          <a:xfrm>
            <a:off x="1097279" y="1845734"/>
            <a:ext cx="10162903" cy="4021666"/>
          </a:xfrm>
        </p:spPr>
        <p:txBody>
          <a:bodyPr>
            <a:normAutofit/>
          </a:bodyPr>
          <a:lstStyle/>
          <a:p>
            <a:r>
              <a:rPr lang="en-US" b="1" dirty="0"/>
              <a:t>Going backwards:</a:t>
            </a:r>
          </a:p>
          <a:p>
            <a:endParaRPr lang="en-US" b="1" dirty="0"/>
          </a:p>
          <a:p>
            <a:pPr marL="0" indent="0">
              <a:buNone/>
            </a:pPr>
            <a:endParaRPr lang="en-US" b="1" dirty="0"/>
          </a:p>
        </p:txBody>
      </p:sp>
      <p:pic>
        <p:nvPicPr>
          <p:cNvPr id="4" name="Picture 3"/>
          <p:cNvPicPr>
            <a:picLocks noChangeAspect="1"/>
          </p:cNvPicPr>
          <p:nvPr/>
        </p:nvPicPr>
        <p:blipFill>
          <a:blip r:embed="rId2"/>
          <a:stretch>
            <a:fillRect/>
          </a:stretch>
        </p:blipFill>
        <p:spPr>
          <a:xfrm>
            <a:off x="109858" y="3059701"/>
            <a:ext cx="12298251" cy="1372599"/>
          </a:xfrm>
          <a:prstGeom prst="rect">
            <a:avLst/>
          </a:prstGeom>
        </p:spPr>
      </p:pic>
    </p:spTree>
    <p:extLst>
      <p:ext uri="{BB962C8B-B14F-4D97-AF65-F5344CB8AC3E}">
        <p14:creationId xmlns:p14="http://schemas.microsoft.com/office/powerpoint/2010/main" val="4148998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Polyesters</a:t>
            </a:r>
            <a:endParaRPr lang="en-AU" dirty="0"/>
          </a:p>
        </p:txBody>
      </p:sp>
      <p:sp>
        <p:nvSpPr>
          <p:cNvPr id="3" name="Content Placeholder 2"/>
          <p:cNvSpPr>
            <a:spLocks noGrp="1"/>
          </p:cNvSpPr>
          <p:nvPr>
            <p:ph idx="1"/>
          </p:nvPr>
        </p:nvSpPr>
        <p:spPr>
          <a:xfrm>
            <a:off x="1097279" y="1845734"/>
            <a:ext cx="10162903" cy="4021666"/>
          </a:xfrm>
        </p:spPr>
        <p:txBody>
          <a:bodyPr>
            <a:normAutofit/>
          </a:bodyPr>
          <a:lstStyle/>
          <a:p>
            <a:r>
              <a:rPr lang="en-US" b="1" dirty="0"/>
              <a:t>Going backwards:</a:t>
            </a:r>
          </a:p>
          <a:p>
            <a:endParaRPr lang="en-US" b="1" dirty="0"/>
          </a:p>
          <a:p>
            <a:pPr marL="0" indent="0">
              <a:buNone/>
            </a:pPr>
            <a:endParaRPr lang="en-US" b="1" dirty="0"/>
          </a:p>
        </p:txBody>
      </p:sp>
      <p:pic>
        <p:nvPicPr>
          <p:cNvPr id="4" name="Picture 3"/>
          <p:cNvPicPr>
            <a:picLocks noChangeAspect="1"/>
          </p:cNvPicPr>
          <p:nvPr/>
        </p:nvPicPr>
        <p:blipFill>
          <a:blip r:embed="rId2"/>
          <a:stretch>
            <a:fillRect/>
          </a:stretch>
        </p:blipFill>
        <p:spPr>
          <a:xfrm>
            <a:off x="109858" y="3059701"/>
            <a:ext cx="12298251" cy="1372599"/>
          </a:xfrm>
          <a:prstGeom prst="rect">
            <a:avLst/>
          </a:prstGeom>
        </p:spPr>
      </p:pic>
      <p:sp>
        <p:nvSpPr>
          <p:cNvPr id="6" name="Oval 5"/>
          <p:cNvSpPr/>
          <p:nvPr/>
        </p:nvSpPr>
        <p:spPr>
          <a:xfrm>
            <a:off x="3606800" y="2768600"/>
            <a:ext cx="1003300" cy="1993900"/>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p:cNvSpPr/>
          <p:nvPr/>
        </p:nvSpPr>
        <p:spPr>
          <a:xfrm>
            <a:off x="5624830" y="2768600"/>
            <a:ext cx="1017270" cy="1993900"/>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p:cNvSpPr/>
          <p:nvPr/>
        </p:nvSpPr>
        <p:spPr>
          <a:xfrm>
            <a:off x="9511030" y="2768600"/>
            <a:ext cx="1017270" cy="1993900"/>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p:cNvSpPr/>
          <p:nvPr/>
        </p:nvSpPr>
        <p:spPr>
          <a:xfrm>
            <a:off x="11677377" y="2768600"/>
            <a:ext cx="1017270" cy="1993900"/>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p:cNvSpPr/>
          <p:nvPr/>
        </p:nvSpPr>
        <p:spPr>
          <a:xfrm>
            <a:off x="-206529" y="2768600"/>
            <a:ext cx="1017270" cy="1993900"/>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endParaRPr lang="en-AU" dirty="0"/>
          </a:p>
        </p:txBody>
      </p:sp>
    </p:spTree>
    <p:extLst>
      <p:ext uri="{BB962C8B-B14F-4D97-AF65-F5344CB8AC3E}">
        <p14:creationId xmlns:p14="http://schemas.microsoft.com/office/powerpoint/2010/main" val="2922507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Polyesters</a:t>
            </a:r>
            <a:endParaRPr lang="en-AU" dirty="0"/>
          </a:p>
        </p:txBody>
      </p:sp>
      <p:sp>
        <p:nvSpPr>
          <p:cNvPr id="3" name="Content Placeholder 2"/>
          <p:cNvSpPr>
            <a:spLocks noGrp="1"/>
          </p:cNvSpPr>
          <p:nvPr>
            <p:ph idx="1"/>
          </p:nvPr>
        </p:nvSpPr>
        <p:spPr>
          <a:xfrm>
            <a:off x="1097279" y="1845734"/>
            <a:ext cx="10162903" cy="4021666"/>
          </a:xfrm>
        </p:spPr>
        <p:txBody>
          <a:bodyPr>
            <a:normAutofit/>
          </a:bodyPr>
          <a:lstStyle/>
          <a:p>
            <a:r>
              <a:rPr lang="en-US" b="1" dirty="0"/>
              <a:t>Going backwards:</a:t>
            </a:r>
          </a:p>
          <a:p>
            <a:endParaRPr lang="en-US" b="1" dirty="0"/>
          </a:p>
          <a:p>
            <a:pPr marL="0" indent="0">
              <a:buNone/>
            </a:pPr>
            <a:endParaRPr lang="en-US" b="1" dirty="0"/>
          </a:p>
        </p:txBody>
      </p:sp>
      <p:pic>
        <p:nvPicPr>
          <p:cNvPr id="4" name="Picture 3"/>
          <p:cNvPicPr>
            <a:picLocks noChangeAspect="1"/>
          </p:cNvPicPr>
          <p:nvPr/>
        </p:nvPicPr>
        <p:blipFill>
          <a:blip r:embed="rId2"/>
          <a:stretch>
            <a:fillRect/>
          </a:stretch>
        </p:blipFill>
        <p:spPr>
          <a:xfrm>
            <a:off x="109858" y="3059701"/>
            <a:ext cx="12298251" cy="1372599"/>
          </a:xfrm>
          <a:prstGeom prst="rect">
            <a:avLst/>
          </a:prstGeom>
        </p:spPr>
      </p:pic>
      <p:cxnSp>
        <p:nvCxnSpPr>
          <p:cNvPr id="7" name="Straight Connector 6"/>
          <p:cNvCxnSpPr/>
          <p:nvPr/>
        </p:nvCxnSpPr>
        <p:spPr>
          <a:xfrm>
            <a:off x="40894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14" name="Straight Connector 13"/>
          <p:cNvCxnSpPr/>
          <p:nvPr/>
        </p:nvCxnSpPr>
        <p:spPr>
          <a:xfrm>
            <a:off x="3175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16" name="Straight Connector 15"/>
          <p:cNvCxnSpPr/>
          <p:nvPr/>
        </p:nvCxnSpPr>
        <p:spPr>
          <a:xfrm>
            <a:off x="62230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17" name="Straight Connector 16"/>
          <p:cNvCxnSpPr/>
          <p:nvPr/>
        </p:nvCxnSpPr>
        <p:spPr>
          <a:xfrm>
            <a:off x="99822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18" name="Straight Connector 17"/>
          <p:cNvCxnSpPr/>
          <p:nvPr/>
        </p:nvCxnSpPr>
        <p:spPr>
          <a:xfrm>
            <a:off x="120777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grpSp>
        <p:nvGrpSpPr>
          <p:cNvPr id="10" name="Group 9"/>
          <p:cNvGrpSpPr/>
          <p:nvPr/>
        </p:nvGrpSpPr>
        <p:grpSpPr>
          <a:xfrm>
            <a:off x="317500" y="2794000"/>
            <a:ext cx="11722459" cy="1885950"/>
            <a:chOff x="317500" y="2794000"/>
            <a:chExt cx="11722459" cy="1885950"/>
          </a:xfrm>
        </p:grpSpPr>
        <p:sp>
          <p:nvSpPr>
            <p:cNvPr id="9" name="Rectangle: Rounded Corners 8"/>
            <p:cNvSpPr/>
            <p:nvPr/>
          </p:nvSpPr>
          <p:spPr>
            <a:xfrm>
              <a:off x="317500" y="2794000"/>
              <a:ext cx="3771900" cy="1841500"/>
            </a:xfrm>
            <a:prstGeom prst="roundRect">
              <a:avLst/>
            </a:prstGeom>
            <a:solidFill>
              <a:srgbClr val="00B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Rounded Corners 18"/>
            <p:cNvSpPr/>
            <p:nvPr/>
          </p:nvSpPr>
          <p:spPr>
            <a:xfrm>
              <a:off x="6223001" y="2794000"/>
              <a:ext cx="3771900" cy="1841500"/>
            </a:xfrm>
            <a:prstGeom prst="roundRect">
              <a:avLst/>
            </a:prstGeom>
            <a:solidFill>
              <a:srgbClr val="00B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Rounded Corners 19"/>
            <p:cNvSpPr/>
            <p:nvPr/>
          </p:nvSpPr>
          <p:spPr>
            <a:xfrm>
              <a:off x="9994900" y="2838450"/>
              <a:ext cx="2045059" cy="1841500"/>
            </a:xfrm>
            <a:prstGeom prst="roundRect">
              <a:avLst/>
            </a:prstGeom>
            <a:solidFill>
              <a:schemeClr val="accent6">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Rounded Corners 20"/>
            <p:cNvSpPr/>
            <p:nvPr/>
          </p:nvSpPr>
          <p:spPr>
            <a:xfrm>
              <a:off x="4140200" y="2838450"/>
              <a:ext cx="2045059" cy="1841500"/>
            </a:xfrm>
            <a:prstGeom prst="roundRect">
              <a:avLst/>
            </a:prstGeom>
            <a:solidFill>
              <a:schemeClr val="accent6">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42" name="Group 41"/>
          <p:cNvGrpSpPr/>
          <p:nvPr/>
        </p:nvGrpSpPr>
        <p:grpSpPr>
          <a:xfrm>
            <a:off x="6258983" y="3921384"/>
            <a:ext cx="5067300" cy="1770756"/>
            <a:chOff x="6258983" y="3921384"/>
            <a:chExt cx="5067300" cy="1770756"/>
          </a:xfrm>
        </p:grpSpPr>
        <p:sp>
          <p:nvSpPr>
            <p:cNvPr id="22" name="TextBox 21"/>
            <p:cNvSpPr txBox="1"/>
            <p:nvPr/>
          </p:nvSpPr>
          <p:spPr>
            <a:xfrm>
              <a:off x="6258983" y="5322808"/>
              <a:ext cx="5067300" cy="369332"/>
            </a:xfrm>
            <a:prstGeom prst="rect">
              <a:avLst/>
            </a:prstGeom>
            <a:noFill/>
          </p:spPr>
          <p:txBody>
            <a:bodyPr wrap="square" rtlCol="0">
              <a:spAutoFit/>
            </a:bodyPr>
            <a:lstStyle/>
            <a:p>
              <a:r>
                <a:rPr lang="en-US" b="1" dirty="0">
                  <a:solidFill>
                    <a:srgbClr val="FF0000"/>
                  </a:solidFill>
                </a:rPr>
                <a:t>These were originally alcohol groups</a:t>
              </a:r>
              <a:endParaRPr lang="en-AU" b="1" dirty="0">
                <a:solidFill>
                  <a:srgbClr val="FF0000"/>
                </a:solidFill>
              </a:endParaRPr>
            </a:p>
          </p:txBody>
        </p:sp>
        <p:cxnSp>
          <p:nvCxnSpPr>
            <p:cNvPr id="24" name="Straight Arrow Connector 23"/>
            <p:cNvCxnSpPr/>
            <p:nvPr/>
          </p:nvCxnSpPr>
          <p:spPr>
            <a:xfrm flipH="1" flipV="1">
              <a:off x="6633750" y="3982224"/>
              <a:ext cx="1608550" cy="13117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8242300" y="3921384"/>
              <a:ext cx="1291410" cy="14014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3260538" y="1791117"/>
            <a:ext cx="5067300" cy="1822457"/>
            <a:chOff x="3260538" y="1791117"/>
            <a:chExt cx="5067300" cy="1822457"/>
          </a:xfrm>
        </p:grpSpPr>
        <p:sp>
          <p:nvSpPr>
            <p:cNvPr id="30" name="TextBox 29"/>
            <p:cNvSpPr txBox="1"/>
            <p:nvPr/>
          </p:nvSpPr>
          <p:spPr>
            <a:xfrm>
              <a:off x="3260538" y="1791117"/>
              <a:ext cx="5067300" cy="369332"/>
            </a:xfrm>
            <a:prstGeom prst="rect">
              <a:avLst/>
            </a:prstGeom>
            <a:noFill/>
          </p:spPr>
          <p:txBody>
            <a:bodyPr wrap="square" rtlCol="0">
              <a:spAutoFit/>
            </a:bodyPr>
            <a:lstStyle/>
            <a:p>
              <a:r>
                <a:rPr lang="en-US" b="1" dirty="0">
                  <a:solidFill>
                    <a:srgbClr val="FF0000"/>
                  </a:solidFill>
                </a:rPr>
                <a:t>These were originally carboxylic acid groups</a:t>
              </a:r>
              <a:endParaRPr lang="en-AU" b="1" dirty="0">
                <a:solidFill>
                  <a:srgbClr val="FF0000"/>
                </a:solidFill>
              </a:endParaRPr>
            </a:p>
          </p:txBody>
        </p:sp>
        <p:cxnSp>
          <p:nvCxnSpPr>
            <p:cNvPr id="32" name="Straight Arrow Connector 31"/>
            <p:cNvCxnSpPr/>
            <p:nvPr/>
          </p:nvCxnSpPr>
          <p:spPr>
            <a:xfrm flipH="1">
              <a:off x="4500149" y="2160450"/>
              <a:ext cx="783051" cy="14531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5283200" y="2160449"/>
              <a:ext cx="529051" cy="14531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8774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Polyamides</a:t>
            </a:r>
            <a:endParaRPr lang="en-AU" dirty="0"/>
          </a:p>
        </p:txBody>
      </p:sp>
      <p:sp>
        <p:nvSpPr>
          <p:cNvPr id="3" name="Content Placeholder 2"/>
          <p:cNvSpPr>
            <a:spLocks noGrp="1"/>
          </p:cNvSpPr>
          <p:nvPr>
            <p:ph idx="1"/>
          </p:nvPr>
        </p:nvSpPr>
        <p:spPr>
          <a:xfrm>
            <a:off x="1097279" y="1845734"/>
            <a:ext cx="10162903" cy="926496"/>
          </a:xfrm>
        </p:spPr>
        <p:txBody>
          <a:bodyPr>
            <a:normAutofit/>
          </a:bodyPr>
          <a:lstStyle/>
          <a:p>
            <a:r>
              <a:rPr lang="en-US" b="1" u="sng" dirty="0" err="1"/>
              <a:t>Homopolymer</a:t>
            </a:r>
            <a:r>
              <a:rPr lang="en-US" b="1" u="sng" dirty="0"/>
              <a:t> (single monomer):</a:t>
            </a:r>
          </a:p>
          <a:p>
            <a:r>
              <a:rPr lang="en-US" sz="2000" dirty="0"/>
              <a:t>A polyamide can be made from a </a:t>
            </a:r>
            <a:r>
              <a:rPr lang="en-US" sz="2000" b="1" dirty="0"/>
              <a:t>single monomer </a:t>
            </a:r>
            <a:r>
              <a:rPr lang="en-US" sz="2000" dirty="0"/>
              <a:t>if it includes both a COOH and an NH</a:t>
            </a:r>
            <a:r>
              <a:rPr lang="en-US" sz="2000" baseline="-25000" dirty="0"/>
              <a:t>2</a:t>
            </a:r>
            <a:r>
              <a:rPr lang="en-US" sz="2000" dirty="0"/>
              <a:t> group.</a:t>
            </a:r>
          </a:p>
          <a:p>
            <a:endParaRPr lang="en-US" b="1" dirty="0"/>
          </a:p>
        </p:txBody>
      </p:sp>
      <p:sp>
        <p:nvSpPr>
          <p:cNvPr id="9" name="Content Placeholder 2"/>
          <p:cNvSpPr txBox="1">
            <a:spLocks/>
          </p:cNvSpPr>
          <p:nvPr/>
        </p:nvSpPr>
        <p:spPr>
          <a:xfrm>
            <a:off x="1121421" y="3037447"/>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Monomer: </a:t>
            </a:r>
            <a:r>
              <a:rPr lang="en-US" dirty="0"/>
              <a:t>3-aminopropanoic acid</a:t>
            </a:r>
            <a:endParaRPr lang="en-US" b="1" dirty="0"/>
          </a:p>
        </p:txBody>
      </p:sp>
      <p:sp>
        <p:nvSpPr>
          <p:cNvPr id="23" name="Content Placeholder 2"/>
          <p:cNvSpPr txBox="1">
            <a:spLocks/>
          </p:cNvSpPr>
          <p:nvPr/>
        </p:nvSpPr>
        <p:spPr>
          <a:xfrm>
            <a:off x="1121421" y="4062113"/>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Polymer:</a:t>
            </a:r>
          </a:p>
        </p:txBody>
      </p:sp>
      <p:pic>
        <p:nvPicPr>
          <p:cNvPr id="5" name="Picture 4"/>
          <p:cNvPicPr>
            <a:picLocks noChangeAspect="1"/>
          </p:cNvPicPr>
          <p:nvPr/>
        </p:nvPicPr>
        <p:blipFill>
          <a:blip r:embed="rId2"/>
          <a:stretch>
            <a:fillRect/>
          </a:stretch>
        </p:blipFill>
        <p:spPr>
          <a:xfrm>
            <a:off x="5504844" y="2701893"/>
            <a:ext cx="2845121" cy="1249078"/>
          </a:xfrm>
          <a:prstGeom prst="rect">
            <a:avLst/>
          </a:prstGeom>
        </p:spPr>
      </p:pic>
    </p:spTree>
    <p:extLst>
      <p:ext uri="{BB962C8B-B14F-4D97-AF65-F5344CB8AC3E}">
        <p14:creationId xmlns:p14="http://schemas.microsoft.com/office/powerpoint/2010/main" val="576389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Polyamides</a:t>
            </a:r>
            <a:endParaRPr lang="en-AU" dirty="0"/>
          </a:p>
        </p:txBody>
      </p:sp>
      <p:sp>
        <p:nvSpPr>
          <p:cNvPr id="3" name="Content Placeholder 2"/>
          <p:cNvSpPr>
            <a:spLocks noGrp="1"/>
          </p:cNvSpPr>
          <p:nvPr>
            <p:ph idx="1"/>
          </p:nvPr>
        </p:nvSpPr>
        <p:spPr>
          <a:xfrm>
            <a:off x="1097279" y="1845734"/>
            <a:ext cx="10162903" cy="926496"/>
          </a:xfrm>
        </p:spPr>
        <p:txBody>
          <a:bodyPr>
            <a:normAutofit/>
          </a:bodyPr>
          <a:lstStyle/>
          <a:p>
            <a:r>
              <a:rPr lang="en-US" b="1" u="sng" dirty="0"/>
              <a:t>Copolymer (two monomers):</a:t>
            </a:r>
          </a:p>
          <a:p>
            <a:r>
              <a:rPr lang="en-US" sz="2000" dirty="0"/>
              <a:t>Polyamides can also be formed from the reaction between a </a:t>
            </a:r>
            <a:r>
              <a:rPr lang="en-US" sz="2000" b="1" dirty="0"/>
              <a:t>diamine</a:t>
            </a:r>
            <a:r>
              <a:rPr lang="en-US" sz="2000" dirty="0"/>
              <a:t> and a </a:t>
            </a:r>
            <a:r>
              <a:rPr lang="en-US" sz="2000" b="1" dirty="0"/>
              <a:t>dicarboxylic acid</a:t>
            </a:r>
            <a:r>
              <a:rPr lang="en-US" sz="2000" dirty="0"/>
              <a:t>.</a:t>
            </a:r>
            <a:endParaRPr lang="en-US" sz="2000" b="1" dirty="0"/>
          </a:p>
          <a:p>
            <a:endParaRPr lang="en-US" b="1" dirty="0"/>
          </a:p>
        </p:txBody>
      </p:sp>
      <p:sp>
        <p:nvSpPr>
          <p:cNvPr id="9" name="Content Placeholder 2"/>
          <p:cNvSpPr txBox="1">
            <a:spLocks/>
          </p:cNvSpPr>
          <p:nvPr/>
        </p:nvSpPr>
        <p:spPr>
          <a:xfrm>
            <a:off x="1121421" y="3037447"/>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Monomers: </a:t>
            </a:r>
            <a:r>
              <a:rPr lang="en-US" dirty="0"/>
              <a:t>			</a:t>
            </a:r>
            <a:endParaRPr lang="en-US" b="1" dirty="0"/>
          </a:p>
        </p:txBody>
      </p:sp>
      <p:sp>
        <p:nvSpPr>
          <p:cNvPr id="14" name="Rectangle 13"/>
          <p:cNvSpPr/>
          <p:nvPr/>
        </p:nvSpPr>
        <p:spPr>
          <a:xfrm>
            <a:off x="841830" y="4397476"/>
            <a:ext cx="11132456" cy="1799421"/>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23" name="Content Placeholder 2"/>
          <p:cNvSpPr txBox="1">
            <a:spLocks/>
          </p:cNvSpPr>
          <p:nvPr/>
        </p:nvSpPr>
        <p:spPr>
          <a:xfrm>
            <a:off x="1121421" y="4062113"/>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Polymer:</a:t>
            </a:r>
            <a:r>
              <a:rPr lang="en-US" dirty="0"/>
              <a:t> Kevlar</a:t>
            </a:r>
            <a:endParaRPr lang="en-US" b="1" dirty="0"/>
          </a:p>
        </p:txBody>
      </p:sp>
      <p:pic>
        <p:nvPicPr>
          <p:cNvPr id="21506" name="Picture 2" descr="http://pslc.ws/macrog/images/copol01.gif"/>
          <p:cNvPicPr>
            <a:picLocks noChangeAspect="1" noChangeArrowheads="1"/>
          </p:cNvPicPr>
          <p:nvPr/>
        </p:nvPicPr>
        <p:blipFill rotWithShape="1">
          <a:blip r:embed="rId2">
            <a:extLst>
              <a:ext uri="{28A0092B-C50C-407E-A947-70E740481C1C}">
                <a14:useLocalDpi xmlns:a14="http://schemas.microsoft.com/office/drawing/2010/main" val="0"/>
              </a:ext>
            </a:extLst>
          </a:blip>
          <a:srcRect b="50304"/>
          <a:stretch/>
        </p:blipFill>
        <p:spPr bwMode="auto">
          <a:xfrm>
            <a:off x="6792686" y="1703314"/>
            <a:ext cx="5618684" cy="480742"/>
          </a:xfrm>
          <a:prstGeom prst="rect">
            <a:avLst/>
          </a:prstGeom>
          <a:noFill/>
          <a:extLst>
            <a:ext uri="{909E8E84-426E-40DD-AFC4-6F175D3DCCD1}">
              <a14:hiddenFill xmlns:a14="http://schemas.microsoft.com/office/drawing/2010/main">
                <a:solidFill>
                  <a:srgbClr val="FFFFFF"/>
                </a:solidFill>
              </a14:hiddenFill>
            </a:ext>
          </a:extLst>
        </p:spPr>
      </p:pic>
      <p:pic>
        <p:nvPicPr>
          <p:cNvPr id="23554" name="Picture 2" descr="http://mgh-images.s3.amazonaws.com/9780077274313/4711-25-9IP1.png"/>
          <p:cNvPicPr>
            <a:picLocks noChangeAspect="1" noChangeArrowheads="1"/>
          </p:cNvPicPr>
          <p:nvPr/>
        </p:nvPicPr>
        <p:blipFill rotWithShape="1">
          <a:blip r:embed="rId3">
            <a:extLst>
              <a:ext uri="{28A0092B-C50C-407E-A947-70E740481C1C}">
                <a14:useLocalDpi xmlns:a14="http://schemas.microsoft.com/office/drawing/2010/main" val="0"/>
              </a:ext>
            </a:extLst>
          </a:blip>
          <a:srcRect r="1762" b="4084"/>
          <a:stretch/>
        </p:blipFill>
        <p:spPr bwMode="auto">
          <a:xfrm>
            <a:off x="3259647" y="2630752"/>
            <a:ext cx="5782753" cy="117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9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Polyamides</a:t>
            </a:r>
            <a:endParaRPr lang="en-AU" dirty="0"/>
          </a:p>
        </p:txBody>
      </p:sp>
      <p:sp>
        <p:nvSpPr>
          <p:cNvPr id="9" name="Content Placeholder 2"/>
          <p:cNvSpPr txBox="1">
            <a:spLocks/>
          </p:cNvSpPr>
          <p:nvPr/>
        </p:nvSpPr>
        <p:spPr>
          <a:xfrm>
            <a:off x="1121421" y="2110347"/>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Monomers: </a:t>
            </a:r>
            <a:r>
              <a:rPr lang="en-US" dirty="0"/>
              <a:t>			</a:t>
            </a:r>
            <a:endParaRPr lang="en-US" b="1" dirty="0"/>
          </a:p>
        </p:txBody>
      </p:sp>
      <p:sp>
        <p:nvSpPr>
          <p:cNvPr id="14" name="Rectangle 13"/>
          <p:cNvSpPr/>
          <p:nvPr/>
        </p:nvSpPr>
        <p:spPr>
          <a:xfrm>
            <a:off x="841830" y="3470376"/>
            <a:ext cx="11132456" cy="1799421"/>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AU" sz="1050" dirty="0"/>
          </a:p>
        </p:txBody>
      </p:sp>
      <p:sp>
        <p:nvSpPr>
          <p:cNvPr id="23" name="Content Placeholder 2"/>
          <p:cNvSpPr txBox="1">
            <a:spLocks/>
          </p:cNvSpPr>
          <p:nvPr/>
        </p:nvSpPr>
        <p:spPr>
          <a:xfrm>
            <a:off x="1121421" y="3135013"/>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Polymer:</a:t>
            </a:r>
            <a:r>
              <a:rPr lang="en-US" dirty="0"/>
              <a:t> Nylon 6,6</a:t>
            </a:r>
            <a:endParaRPr lang="en-US" b="1" dirty="0"/>
          </a:p>
        </p:txBody>
      </p:sp>
      <p:pic>
        <p:nvPicPr>
          <p:cNvPr id="5" name="Picture 4"/>
          <p:cNvPicPr>
            <a:picLocks noChangeAspect="1"/>
          </p:cNvPicPr>
          <p:nvPr/>
        </p:nvPicPr>
        <p:blipFill>
          <a:blip r:embed="rId2"/>
          <a:stretch>
            <a:fillRect/>
          </a:stretch>
        </p:blipFill>
        <p:spPr>
          <a:xfrm>
            <a:off x="2933700" y="1901239"/>
            <a:ext cx="4978291" cy="932490"/>
          </a:xfrm>
          <a:prstGeom prst="rect">
            <a:avLst/>
          </a:prstGeom>
        </p:spPr>
      </p:pic>
    </p:spTree>
    <p:extLst>
      <p:ext uri="{BB962C8B-B14F-4D97-AF65-F5344CB8AC3E}">
        <p14:creationId xmlns:p14="http://schemas.microsoft.com/office/powerpoint/2010/main" val="1854278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Polyamides</a:t>
            </a:r>
            <a:endParaRPr lang="en-AU" dirty="0"/>
          </a:p>
        </p:txBody>
      </p:sp>
      <p:sp>
        <p:nvSpPr>
          <p:cNvPr id="9" name="Content Placeholder 2"/>
          <p:cNvSpPr txBox="1">
            <a:spLocks/>
          </p:cNvSpPr>
          <p:nvPr/>
        </p:nvSpPr>
        <p:spPr>
          <a:xfrm>
            <a:off x="1121421" y="2110347"/>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Polymer: </a:t>
            </a:r>
            <a:r>
              <a:rPr lang="en-US" dirty="0"/>
              <a:t>			</a:t>
            </a:r>
            <a:endParaRPr lang="en-US" b="1" dirty="0"/>
          </a:p>
        </p:txBody>
      </p:sp>
      <p:pic>
        <p:nvPicPr>
          <p:cNvPr id="3" name="Picture 2"/>
          <p:cNvPicPr>
            <a:picLocks noChangeAspect="1"/>
          </p:cNvPicPr>
          <p:nvPr/>
        </p:nvPicPr>
        <p:blipFill>
          <a:blip r:embed="rId2"/>
          <a:stretch>
            <a:fillRect/>
          </a:stretch>
        </p:blipFill>
        <p:spPr>
          <a:xfrm>
            <a:off x="182879" y="2866116"/>
            <a:ext cx="11999939" cy="1985284"/>
          </a:xfrm>
          <a:prstGeom prst="rect">
            <a:avLst/>
          </a:prstGeom>
        </p:spPr>
      </p:pic>
    </p:spTree>
    <p:extLst>
      <p:ext uri="{BB962C8B-B14F-4D97-AF65-F5344CB8AC3E}">
        <p14:creationId xmlns:p14="http://schemas.microsoft.com/office/powerpoint/2010/main" val="2436719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Polyamides</a:t>
            </a:r>
            <a:endParaRPr lang="en-AU" dirty="0"/>
          </a:p>
        </p:txBody>
      </p:sp>
      <p:sp>
        <p:nvSpPr>
          <p:cNvPr id="9" name="Content Placeholder 2"/>
          <p:cNvSpPr txBox="1">
            <a:spLocks/>
          </p:cNvSpPr>
          <p:nvPr/>
        </p:nvSpPr>
        <p:spPr>
          <a:xfrm>
            <a:off x="1121421" y="2110347"/>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Polymer: </a:t>
            </a:r>
            <a:r>
              <a:rPr lang="en-US" dirty="0"/>
              <a:t>			</a:t>
            </a:r>
            <a:endParaRPr lang="en-US" b="1" dirty="0"/>
          </a:p>
        </p:txBody>
      </p:sp>
      <p:pic>
        <p:nvPicPr>
          <p:cNvPr id="3" name="Picture 2"/>
          <p:cNvPicPr>
            <a:picLocks noChangeAspect="1"/>
          </p:cNvPicPr>
          <p:nvPr/>
        </p:nvPicPr>
        <p:blipFill>
          <a:blip r:embed="rId2"/>
          <a:stretch>
            <a:fillRect/>
          </a:stretch>
        </p:blipFill>
        <p:spPr>
          <a:xfrm>
            <a:off x="182879" y="2866116"/>
            <a:ext cx="11999939" cy="1985284"/>
          </a:xfrm>
          <a:prstGeom prst="rect">
            <a:avLst/>
          </a:prstGeom>
        </p:spPr>
      </p:pic>
      <p:sp>
        <p:nvSpPr>
          <p:cNvPr id="6" name="Oval 5"/>
          <p:cNvSpPr/>
          <p:nvPr/>
        </p:nvSpPr>
        <p:spPr>
          <a:xfrm>
            <a:off x="9289776" y="2399332"/>
            <a:ext cx="1098823" cy="2350468"/>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p:cNvSpPr/>
          <p:nvPr/>
        </p:nvSpPr>
        <p:spPr>
          <a:xfrm>
            <a:off x="11531857" y="2399332"/>
            <a:ext cx="1098823" cy="2350468"/>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p:cNvSpPr/>
          <p:nvPr/>
        </p:nvSpPr>
        <p:spPr>
          <a:xfrm>
            <a:off x="5633436" y="2399332"/>
            <a:ext cx="1098823" cy="2350468"/>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p:cNvSpPr/>
          <p:nvPr/>
        </p:nvSpPr>
        <p:spPr>
          <a:xfrm>
            <a:off x="3500420" y="2399332"/>
            <a:ext cx="1098823" cy="2350468"/>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Oval 10"/>
          <p:cNvSpPr/>
          <p:nvPr/>
        </p:nvSpPr>
        <p:spPr>
          <a:xfrm>
            <a:off x="-155920" y="2399332"/>
            <a:ext cx="1098823" cy="2350468"/>
          </a:xfrm>
          <a:prstGeom prst="ellipse">
            <a:avLst/>
          </a:prstGeom>
          <a:solidFill>
            <a:srgbClr val="FFFF00">
              <a:alpha val="5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3019544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Polyamides</a:t>
            </a:r>
            <a:endParaRPr lang="en-AU" dirty="0"/>
          </a:p>
        </p:txBody>
      </p:sp>
      <p:sp>
        <p:nvSpPr>
          <p:cNvPr id="9" name="Content Placeholder 2"/>
          <p:cNvSpPr txBox="1">
            <a:spLocks/>
          </p:cNvSpPr>
          <p:nvPr/>
        </p:nvSpPr>
        <p:spPr>
          <a:xfrm>
            <a:off x="1121421" y="2110347"/>
            <a:ext cx="10162903" cy="57797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b="1" dirty="0"/>
              <a:t>Polymer: </a:t>
            </a:r>
            <a:r>
              <a:rPr lang="en-US" dirty="0"/>
              <a:t>			</a:t>
            </a:r>
            <a:endParaRPr lang="en-US" b="1" dirty="0"/>
          </a:p>
        </p:txBody>
      </p:sp>
      <p:pic>
        <p:nvPicPr>
          <p:cNvPr id="3" name="Picture 2"/>
          <p:cNvPicPr>
            <a:picLocks noChangeAspect="1"/>
          </p:cNvPicPr>
          <p:nvPr/>
        </p:nvPicPr>
        <p:blipFill>
          <a:blip r:embed="rId2"/>
          <a:stretch>
            <a:fillRect/>
          </a:stretch>
        </p:blipFill>
        <p:spPr>
          <a:xfrm>
            <a:off x="182879" y="2866116"/>
            <a:ext cx="11999939" cy="1985284"/>
          </a:xfrm>
          <a:prstGeom prst="rect">
            <a:avLst/>
          </a:prstGeom>
        </p:spPr>
      </p:pic>
      <p:cxnSp>
        <p:nvCxnSpPr>
          <p:cNvPr id="12" name="Straight Connector 11"/>
          <p:cNvCxnSpPr/>
          <p:nvPr/>
        </p:nvCxnSpPr>
        <p:spPr>
          <a:xfrm>
            <a:off x="3175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13" name="Straight Connector 12"/>
          <p:cNvCxnSpPr/>
          <p:nvPr/>
        </p:nvCxnSpPr>
        <p:spPr>
          <a:xfrm>
            <a:off x="40640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14" name="Straight Connector 13"/>
          <p:cNvCxnSpPr/>
          <p:nvPr/>
        </p:nvCxnSpPr>
        <p:spPr>
          <a:xfrm>
            <a:off x="62103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15" name="Straight Connector 14"/>
          <p:cNvCxnSpPr/>
          <p:nvPr/>
        </p:nvCxnSpPr>
        <p:spPr>
          <a:xfrm>
            <a:off x="98425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cxnSp>
        <p:nvCxnSpPr>
          <p:cNvPr id="16" name="Straight Connector 15"/>
          <p:cNvCxnSpPr/>
          <p:nvPr/>
        </p:nvCxnSpPr>
        <p:spPr>
          <a:xfrm>
            <a:off x="12039600" y="2794000"/>
            <a:ext cx="0" cy="1930400"/>
          </a:xfrm>
          <a:prstGeom prst="line">
            <a:avLst/>
          </a:prstGeom>
          <a:ln w="76200">
            <a:solidFill>
              <a:srgbClr val="FF0000"/>
            </a:solidFill>
          </a:ln>
        </p:spPr>
        <p:style>
          <a:lnRef idx="1">
            <a:schemeClr val="accent6"/>
          </a:lnRef>
          <a:fillRef idx="0">
            <a:schemeClr val="accent6"/>
          </a:fillRef>
          <a:effectRef idx="0">
            <a:schemeClr val="accent6"/>
          </a:effectRef>
          <a:fontRef idx="minor">
            <a:schemeClr val="tx1"/>
          </a:fontRef>
        </p:style>
      </p:cxnSp>
      <p:grpSp>
        <p:nvGrpSpPr>
          <p:cNvPr id="17" name="Group 16"/>
          <p:cNvGrpSpPr/>
          <p:nvPr/>
        </p:nvGrpSpPr>
        <p:grpSpPr>
          <a:xfrm>
            <a:off x="317500" y="2667000"/>
            <a:ext cx="11722459" cy="2184400"/>
            <a:chOff x="317500" y="2667000"/>
            <a:chExt cx="11722459" cy="2184400"/>
          </a:xfrm>
        </p:grpSpPr>
        <p:sp>
          <p:nvSpPr>
            <p:cNvPr id="18" name="Rectangle: Rounded Corners 17"/>
            <p:cNvSpPr/>
            <p:nvPr/>
          </p:nvSpPr>
          <p:spPr>
            <a:xfrm>
              <a:off x="317500" y="2794000"/>
              <a:ext cx="3721459" cy="2057400"/>
            </a:xfrm>
            <a:prstGeom prst="roundRect">
              <a:avLst/>
            </a:prstGeom>
            <a:solidFill>
              <a:srgbClr val="00B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Rounded Corners 18"/>
            <p:cNvSpPr/>
            <p:nvPr/>
          </p:nvSpPr>
          <p:spPr>
            <a:xfrm>
              <a:off x="6223001" y="2715983"/>
              <a:ext cx="3619141" cy="2135417"/>
            </a:xfrm>
            <a:prstGeom prst="roundRect">
              <a:avLst/>
            </a:prstGeom>
            <a:solidFill>
              <a:srgbClr val="00B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Rounded Corners 19"/>
            <p:cNvSpPr/>
            <p:nvPr/>
          </p:nvSpPr>
          <p:spPr>
            <a:xfrm>
              <a:off x="9842142" y="2667000"/>
              <a:ext cx="2197817" cy="2184400"/>
            </a:xfrm>
            <a:prstGeom prst="roundRect">
              <a:avLst/>
            </a:prstGeom>
            <a:solidFill>
              <a:schemeClr val="accent6">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Rectangle: Rounded Corners 20"/>
            <p:cNvSpPr/>
            <p:nvPr/>
          </p:nvSpPr>
          <p:spPr>
            <a:xfrm>
              <a:off x="4089042" y="2794000"/>
              <a:ext cx="2096216" cy="2057400"/>
            </a:xfrm>
            <a:prstGeom prst="roundRect">
              <a:avLst/>
            </a:prstGeom>
            <a:solidFill>
              <a:schemeClr val="accent6">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22" name="Group 21"/>
          <p:cNvGrpSpPr/>
          <p:nvPr/>
        </p:nvGrpSpPr>
        <p:grpSpPr>
          <a:xfrm>
            <a:off x="3209738" y="1737360"/>
            <a:ext cx="5067300" cy="1822457"/>
            <a:chOff x="3260538" y="1791117"/>
            <a:chExt cx="5067300" cy="1822457"/>
          </a:xfrm>
        </p:grpSpPr>
        <p:sp>
          <p:nvSpPr>
            <p:cNvPr id="23" name="TextBox 22"/>
            <p:cNvSpPr txBox="1"/>
            <p:nvPr/>
          </p:nvSpPr>
          <p:spPr>
            <a:xfrm>
              <a:off x="3260538" y="1791117"/>
              <a:ext cx="5067300" cy="369332"/>
            </a:xfrm>
            <a:prstGeom prst="rect">
              <a:avLst/>
            </a:prstGeom>
            <a:noFill/>
          </p:spPr>
          <p:txBody>
            <a:bodyPr wrap="square" rtlCol="0">
              <a:spAutoFit/>
            </a:bodyPr>
            <a:lstStyle/>
            <a:p>
              <a:r>
                <a:rPr lang="en-US" b="1" dirty="0">
                  <a:solidFill>
                    <a:srgbClr val="FF0000"/>
                  </a:solidFill>
                </a:rPr>
                <a:t>These were originally carboxylic acid groups</a:t>
              </a:r>
              <a:endParaRPr lang="en-AU" b="1" dirty="0">
                <a:solidFill>
                  <a:srgbClr val="FF0000"/>
                </a:solidFill>
              </a:endParaRPr>
            </a:p>
          </p:txBody>
        </p:sp>
        <p:cxnSp>
          <p:nvCxnSpPr>
            <p:cNvPr id="24" name="Straight Arrow Connector 23"/>
            <p:cNvCxnSpPr/>
            <p:nvPr/>
          </p:nvCxnSpPr>
          <p:spPr>
            <a:xfrm flipH="1">
              <a:off x="4500149" y="2160450"/>
              <a:ext cx="783051" cy="14531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5283200" y="2160449"/>
              <a:ext cx="529051" cy="14531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6088380" y="3759200"/>
            <a:ext cx="5067300" cy="1770756"/>
            <a:chOff x="6258983" y="3921384"/>
            <a:chExt cx="5067300" cy="1770756"/>
          </a:xfrm>
        </p:grpSpPr>
        <p:sp>
          <p:nvSpPr>
            <p:cNvPr id="27" name="TextBox 26"/>
            <p:cNvSpPr txBox="1"/>
            <p:nvPr/>
          </p:nvSpPr>
          <p:spPr>
            <a:xfrm>
              <a:off x="6258983" y="5322808"/>
              <a:ext cx="5067300" cy="369332"/>
            </a:xfrm>
            <a:prstGeom prst="rect">
              <a:avLst/>
            </a:prstGeom>
            <a:noFill/>
          </p:spPr>
          <p:txBody>
            <a:bodyPr wrap="square" rtlCol="0">
              <a:spAutoFit/>
            </a:bodyPr>
            <a:lstStyle/>
            <a:p>
              <a:r>
                <a:rPr lang="en-US" b="1" dirty="0">
                  <a:solidFill>
                    <a:srgbClr val="FF0000"/>
                  </a:solidFill>
                </a:rPr>
                <a:t>These were originally amine groups</a:t>
              </a:r>
              <a:endParaRPr lang="en-AU" b="1" dirty="0">
                <a:solidFill>
                  <a:srgbClr val="FF0000"/>
                </a:solidFill>
              </a:endParaRPr>
            </a:p>
          </p:txBody>
        </p:sp>
        <p:cxnSp>
          <p:nvCxnSpPr>
            <p:cNvPr id="28" name="Straight Arrow Connector 27"/>
            <p:cNvCxnSpPr/>
            <p:nvPr/>
          </p:nvCxnSpPr>
          <p:spPr>
            <a:xfrm flipH="1" flipV="1">
              <a:off x="6633750" y="3982224"/>
              <a:ext cx="1608550" cy="13117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8242300" y="3921384"/>
              <a:ext cx="1291410" cy="14014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4339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clker.com/cliparts/O/l/d/s/i/S/check-mark-h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5" y="4106862"/>
            <a:ext cx="2022475" cy="2041237"/>
          </a:xfrm>
          <a:prstGeom prst="rect">
            <a:avLst/>
          </a:prstGeom>
          <a:solidFill>
            <a:schemeClr val="bg1"/>
          </a:solidFill>
        </p:spPr>
      </p:pic>
      <p:sp>
        <p:nvSpPr>
          <p:cNvPr id="2" name="Title 1"/>
          <p:cNvSpPr>
            <a:spLocks noGrp="1"/>
          </p:cNvSpPr>
          <p:nvPr>
            <p:ph type="title"/>
          </p:nvPr>
        </p:nvSpPr>
        <p:spPr/>
        <p:txBody>
          <a:bodyPr/>
          <a:lstStyle/>
          <a:p>
            <a:r>
              <a:rPr lang="en-US" dirty="0"/>
              <a:t>Syllabus</a:t>
            </a:r>
            <a:endParaRPr lang="en-AU" dirty="0"/>
          </a:p>
        </p:txBody>
      </p:sp>
      <p:sp>
        <p:nvSpPr>
          <p:cNvPr id="3" name="Content Placeholder 2"/>
          <p:cNvSpPr>
            <a:spLocks noGrp="1"/>
          </p:cNvSpPr>
          <p:nvPr>
            <p:ph idx="1"/>
          </p:nvPr>
        </p:nvSpPr>
        <p:spPr/>
        <p:txBody>
          <a:bodyPr>
            <a:normAutofit/>
          </a:bodyPr>
          <a:lstStyle/>
          <a:p>
            <a:pPr lvl="0"/>
            <a:r>
              <a:rPr lang="en-AU" sz="2400" dirty="0"/>
              <a:t>condensation reactions can be used to produce polymers, including polyamides and polyesters</a:t>
            </a:r>
          </a:p>
          <a:p>
            <a:pPr lvl="0"/>
            <a:endParaRPr lang="en-AU" sz="2400" b="1" dirty="0">
              <a:solidFill>
                <a:srgbClr val="FF0000"/>
              </a:solidFill>
            </a:endParaRPr>
          </a:p>
          <a:p>
            <a:pPr lvl="0"/>
            <a:r>
              <a:rPr lang="en-AU" sz="2400" dirty="0"/>
              <a:t>the structure of a condensation polymer can be predicted and drawn from its monomer(s) and the structure of a condensation polymer can be used to predict the monomer(s) from which it was derived</a:t>
            </a:r>
          </a:p>
        </p:txBody>
      </p:sp>
    </p:spTree>
    <p:extLst>
      <p:ext uri="{BB962C8B-B14F-4D97-AF65-F5344CB8AC3E}">
        <p14:creationId xmlns:p14="http://schemas.microsoft.com/office/powerpoint/2010/main" val="346723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00075" y="-33338"/>
            <a:ext cx="10991850" cy="6924675"/>
          </a:xfrm>
          <a:prstGeom prst="rect">
            <a:avLst/>
          </a:prstGeom>
        </p:spPr>
      </p:pic>
    </p:spTree>
    <p:extLst>
      <p:ext uri="{BB962C8B-B14F-4D97-AF65-F5344CB8AC3E}">
        <p14:creationId xmlns:p14="http://schemas.microsoft.com/office/powerpoint/2010/main" val="3418280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and Uses of Polymers</a:t>
            </a:r>
            <a:endParaRPr lang="en-AU" dirty="0"/>
          </a:p>
        </p:txBody>
      </p:sp>
      <p:sp>
        <p:nvSpPr>
          <p:cNvPr id="3" name="Content Placeholder 2"/>
          <p:cNvSpPr>
            <a:spLocks noGrp="1"/>
          </p:cNvSpPr>
          <p:nvPr>
            <p:ph idx="1"/>
          </p:nvPr>
        </p:nvSpPr>
        <p:spPr/>
        <p:txBody>
          <a:bodyPr/>
          <a:lstStyle/>
          <a:p>
            <a:r>
              <a:rPr lang="en-US" b="1" dirty="0"/>
              <a:t>Crystallinity:</a:t>
            </a:r>
            <a:r>
              <a:rPr lang="en-US" dirty="0"/>
              <a:t> Linear polymers have some parts of the molecule that are </a:t>
            </a:r>
            <a:br>
              <a:rPr lang="en-US" dirty="0"/>
            </a:br>
            <a:r>
              <a:rPr lang="en-US" dirty="0"/>
              <a:t>ordered (crystalline) and some parts that are jumbled (amorphous).</a:t>
            </a:r>
            <a:br>
              <a:rPr lang="en-US" dirty="0"/>
            </a:br>
            <a:br>
              <a:rPr lang="en-US" dirty="0"/>
            </a:br>
            <a:r>
              <a:rPr lang="en-US" dirty="0"/>
              <a:t>The degree of crystallinity can be controlled  by altering reactions</a:t>
            </a:r>
            <a:br>
              <a:rPr lang="en-US" dirty="0"/>
            </a:br>
            <a:r>
              <a:rPr lang="en-US" dirty="0"/>
              <a:t>conditions and catalysts used.</a:t>
            </a:r>
          </a:p>
          <a:p>
            <a:endParaRPr lang="en-US" b="1" dirty="0"/>
          </a:p>
          <a:p>
            <a:endParaRPr lang="en-US" b="1" dirty="0"/>
          </a:p>
          <a:p>
            <a:endParaRPr lang="en-US" b="1" dirty="0"/>
          </a:p>
          <a:p>
            <a:endParaRPr lang="en-US" b="1" dirty="0"/>
          </a:p>
        </p:txBody>
      </p:sp>
      <p:pic>
        <p:nvPicPr>
          <p:cNvPr id="6" name="Picture 5"/>
          <p:cNvPicPr>
            <a:picLocks noChangeAspect="1"/>
          </p:cNvPicPr>
          <p:nvPr/>
        </p:nvPicPr>
        <p:blipFill>
          <a:blip r:embed="rId2"/>
          <a:stretch>
            <a:fillRect/>
          </a:stretch>
        </p:blipFill>
        <p:spPr>
          <a:xfrm>
            <a:off x="8826500" y="1845734"/>
            <a:ext cx="3094037" cy="1299582"/>
          </a:xfrm>
          <a:prstGeom prst="rect">
            <a:avLst/>
          </a:prstGeom>
        </p:spPr>
      </p:pic>
      <p:pic>
        <p:nvPicPr>
          <p:cNvPr id="7" name="Picture 6"/>
          <p:cNvPicPr>
            <a:picLocks noChangeAspect="1"/>
          </p:cNvPicPr>
          <p:nvPr/>
        </p:nvPicPr>
        <p:blipFill>
          <a:blip r:embed="rId3"/>
          <a:stretch>
            <a:fillRect/>
          </a:stretch>
        </p:blipFill>
        <p:spPr>
          <a:xfrm>
            <a:off x="9750425" y="3145316"/>
            <a:ext cx="2170112" cy="1192843"/>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19913087"/>
              </p:ext>
            </p:extLst>
          </p:nvPr>
        </p:nvGraphicFramePr>
        <p:xfrm>
          <a:off x="1270000" y="3628814"/>
          <a:ext cx="8128000" cy="2468880"/>
        </p:xfrm>
        <a:graphic>
          <a:graphicData uri="http://schemas.openxmlformats.org/drawingml/2006/table">
            <a:tbl>
              <a:tblPr firstRow="1" bandRow="1">
                <a:tableStyleId>{5C22544A-7EE6-4342-B048-85BDC9FD1C3A}</a:tableStyleId>
              </a:tblPr>
              <a:tblGrid>
                <a:gridCol w="1612900">
                  <a:extLst>
                    <a:ext uri="{9D8B030D-6E8A-4147-A177-3AD203B41FA5}">
                      <a16:colId xmlns:a16="http://schemas.microsoft.com/office/drawing/2014/main" val="942495504"/>
                    </a:ext>
                  </a:extLst>
                </a:gridCol>
                <a:gridCol w="3257550">
                  <a:extLst>
                    <a:ext uri="{9D8B030D-6E8A-4147-A177-3AD203B41FA5}">
                      <a16:colId xmlns:a16="http://schemas.microsoft.com/office/drawing/2014/main" val="1118971440"/>
                    </a:ext>
                  </a:extLst>
                </a:gridCol>
                <a:gridCol w="3257550">
                  <a:extLst>
                    <a:ext uri="{9D8B030D-6E8A-4147-A177-3AD203B41FA5}">
                      <a16:colId xmlns:a16="http://schemas.microsoft.com/office/drawing/2014/main" val="2819994177"/>
                    </a:ext>
                  </a:extLst>
                </a:gridCol>
              </a:tblGrid>
              <a:tr h="291897">
                <a:tc>
                  <a:txBody>
                    <a:bodyPr/>
                    <a:lstStyle/>
                    <a:p>
                      <a:endParaRPr lang="en-AU" dirty="0"/>
                    </a:p>
                  </a:txBody>
                  <a:tcPr/>
                </a:tc>
                <a:tc>
                  <a:txBody>
                    <a:bodyPr/>
                    <a:lstStyle/>
                    <a:p>
                      <a:r>
                        <a:rPr lang="en-US" dirty="0"/>
                        <a:t>Crystalline</a:t>
                      </a:r>
                      <a:endParaRPr lang="en-AU" dirty="0"/>
                    </a:p>
                  </a:txBody>
                  <a:tcPr/>
                </a:tc>
                <a:tc>
                  <a:txBody>
                    <a:bodyPr/>
                    <a:lstStyle/>
                    <a:p>
                      <a:r>
                        <a:rPr lang="en-US" dirty="0"/>
                        <a:t>Amorphous</a:t>
                      </a:r>
                      <a:endParaRPr lang="en-AU" dirty="0"/>
                    </a:p>
                  </a:txBody>
                  <a:tcPr/>
                </a:tc>
                <a:extLst>
                  <a:ext uri="{0D108BD9-81ED-4DB2-BD59-A6C34878D82A}">
                    <a16:rowId xmlns:a16="http://schemas.microsoft.com/office/drawing/2014/main" val="2124335799"/>
                  </a:ext>
                </a:extLst>
              </a:tr>
              <a:tr h="503822">
                <a:tc>
                  <a:txBody>
                    <a:bodyPr/>
                    <a:lstStyle/>
                    <a:p>
                      <a:r>
                        <a:rPr lang="en-US" dirty="0"/>
                        <a:t>Intermolecular forces</a:t>
                      </a:r>
                      <a:endParaRPr lang="en-AU" dirty="0"/>
                    </a:p>
                  </a:txBody>
                  <a:tcPr/>
                </a:tc>
                <a:tc>
                  <a:txBody>
                    <a:bodyPr/>
                    <a:lstStyle/>
                    <a:p>
                      <a:r>
                        <a:rPr lang="en-US" dirty="0"/>
                        <a:t>Stronger due to close proximity of chains</a:t>
                      </a:r>
                      <a:endParaRPr lang="en-AU" dirty="0"/>
                    </a:p>
                  </a:txBody>
                  <a:tcPr/>
                </a:tc>
                <a:tc>
                  <a:txBody>
                    <a:bodyPr/>
                    <a:lstStyle/>
                    <a:p>
                      <a:r>
                        <a:rPr lang="en-US" dirty="0"/>
                        <a:t>Weaker due to gaps between chains</a:t>
                      </a:r>
                      <a:endParaRPr lang="en-AU" dirty="0"/>
                    </a:p>
                  </a:txBody>
                  <a:tcPr/>
                </a:tc>
                <a:extLst>
                  <a:ext uri="{0D108BD9-81ED-4DB2-BD59-A6C34878D82A}">
                    <a16:rowId xmlns:a16="http://schemas.microsoft.com/office/drawing/2014/main" val="3711811234"/>
                  </a:ext>
                </a:extLst>
              </a:tr>
              <a:tr h="1367516">
                <a:tc>
                  <a:txBody>
                    <a:bodyPr/>
                    <a:lstStyle/>
                    <a:p>
                      <a:r>
                        <a:rPr lang="en-US" dirty="0"/>
                        <a:t>Associated properties</a:t>
                      </a:r>
                      <a:endParaRPr lang="en-AU" dirty="0"/>
                    </a:p>
                  </a:txBody>
                  <a:tcPr/>
                </a:tc>
                <a:tc>
                  <a:txBody>
                    <a:bodyPr/>
                    <a:lstStyle/>
                    <a:p>
                      <a:r>
                        <a:rPr lang="en-US" dirty="0"/>
                        <a:t>Greater rigidity</a:t>
                      </a:r>
                    </a:p>
                    <a:p>
                      <a:r>
                        <a:rPr lang="en-US" baseline="0" dirty="0"/>
                        <a:t>Opaque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Greater density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Higher</a:t>
                      </a:r>
                      <a:r>
                        <a:rPr lang="en-US" baseline="0" dirty="0"/>
                        <a:t> melting/softening point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Impermeable to water, air</a:t>
                      </a:r>
                    </a:p>
                  </a:txBody>
                  <a:tcPr/>
                </a:tc>
                <a:tc>
                  <a:txBody>
                    <a:bodyPr/>
                    <a:lstStyle/>
                    <a:p>
                      <a:r>
                        <a:rPr lang="en-US" dirty="0"/>
                        <a:t>More flexible</a:t>
                      </a:r>
                    </a:p>
                    <a:p>
                      <a:r>
                        <a:rPr lang="en-US" dirty="0"/>
                        <a:t>Transparency</a:t>
                      </a:r>
                    </a:p>
                    <a:p>
                      <a:r>
                        <a:rPr lang="en-US" dirty="0"/>
                        <a:t>Lower density</a:t>
                      </a:r>
                    </a:p>
                    <a:p>
                      <a:r>
                        <a:rPr lang="en-US" dirty="0"/>
                        <a:t>Lower melting/softening point</a:t>
                      </a:r>
                      <a:endParaRPr lang="en-AU" dirty="0"/>
                    </a:p>
                  </a:txBody>
                  <a:tcPr/>
                </a:tc>
                <a:extLst>
                  <a:ext uri="{0D108BD9-81ED-4DB2-BD59-A6C34878D82A}">
                    <a16:rowId xmlns:a16="http://schemas.microsoft.com/office/drawing/2014/main" val="2436411724"/>
                  </a:ext>
                </a:extLst>
              </a:tr>
            </a:tbl>
          </a:graphicData>
        </a:graphic>
      </p:graphicFrame>
    </p:spTree>
    <p:extLst>
      <p:ext uri="{BB962C8B-B14F-4D97-AF65-F5344CB8AC3E}">
        <p14:creationId xmlns:p14="http://schemas.microsoft.com/office/powerpoint/2010/main" val="32311233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and Uses of Polymers</a:t>
            </a:r>
            <a:endParaRPr lang="en-AU" dirty="0"/>
          </a:p>
        </p:txBody>
      </p:sp>
      <p:sp>
        <p:nvSpPr>
          <p:cNvPr id="3" name="Content Placeholder 2"/>
          <p:cNvSpPr>
            <a:spLocks noGrp="1"/>
          </p:cNvSpPr>
          <p:nvPr>
            <p:ph idx="1"/>
          </p:nvPr>
        </p:nvSpPr>
        <p:spPr>
          <a:xfrm>
            <a:off x="1097280" y="1845734"/>
            <a:ext cx="5151120" cy="4023360"/>
          </a:xfrm>
        </p:spPr>
        <p:txBody>
          <a:bodyPr/>
          <a:lstStyle/>
          <a:p>
            <a:r>
              <a:rPr lang="en-US" b="1" dirty="0"/>
              <a:t>Chain branching:</a:t>
            </a:r>
            <a:r>
              <a:rPr lang="en-US" dirty="0"/>
              <a:t> Extreme reaction conditions can cause chain branching.</a:t>
            </a:r>
          </a:p>
          <a:p>
            <a:r>
              <a:rPr lang="en-US" dirty="0"/>
              <a:t>Unbranched chains tend to have more crystalline regions as the polymer chains can pack close together, leading to stronger intermolecular forces.</a:t>
            </a:r>
          </a:p>
          <a:p>
            <a:endParaRPr lang="en-US" b="1" dirty="0"/>
          </a:p>
        </p:txBody>
      </p:sp>
      <p:pic>
        <p:nvPicPr>
          <p:cNvPr id="27650" name="Picture 2" descr="http://www.makingthemodernworld.org.uk/learning_modules/chemistry/03.TU.02/illustrations/03.IL.18.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9695" y="1737360"/>
            <a:ext cx="5584825" cy="4548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4583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Polyethene</a:t>
            </a:r>
            <a:endParaRPr lang="en-AU" dirty="0"/>
          </a:p>
        </p:txBody>
      </p:sp>
      <p:sp>
        <p:nvSpPr>
          <p:cNvPr id="3" name="Content Placeholder 2"/>
          <p:cNvSpPr>
            <a:spLocks noGrp="1"/>
          </p:cNvSpPr>
          <p:nvPr>
            <p:ph idx="1"/>
          </p:nvPr>
        </p:nvSpPr>
        <p:spPr/>
        <p:txBody>
          <a:bodyPr/>
          <a:lstStyle/>
          <a:p>
            <a:r>
              <a:rPr lang="en-US" dirty="0"/>
              <a:t>Comes in two varieties: High Density </a:t>
            </a:r>
            <a:r>
              <a:rPr lang="en-US" dirty="0" err="1"/>
              <a:t>Polyethene</a:t>
            </a:r>
            <a:r>
              <a:rPr lang="en-US" dirty="0"/>
              <a:t> (HDPE) and Low Density </a:t>
            </a:r>
            <a:r>
              <a:rPr lang="en-US" dirty="0" err="1"/>
              <a:t>Polyethene</a:t>
            </a:r>
            <a:r>
              <a:rPr lang="en-US" dirty="0"/>
              <a:t> (LDPE)</a:t>
            </a:r>
          </a:p>
          <a:p>
            <a:endParaRPr lang="en-AU" dirty="0"/>
          </a:p>
        </p:txBody>
      </p:sp>
      <p:pic>
        <p:nvPicPr>
          <p:cNvPr id="34818" name="Picture 2" descr="http://static.newworldencyclopedia.org/thumb/f/f7/Polyethylene-repeat-2D-flat.png/200px-Polyethylene-repeat-2D-fla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5451" y="690881"/>
            <a:ext cx="1152529" cy="1100666"/>
          </a:xfrm>
          <a:prstGeom prst="rect">
            <a:avLst/>
          </a:prstGeom>
          <a:noFill/>
          <a:extLst>
            <a:ext uri="{909E8E84-426E-40DD-AFC4-6F175D3DCCD1}">
              <a14:hiddenFill xmlns:a14="http://schemas.microsoft.com/office/drawing/2010/main">
                <a:solidFill>
                  <a:srgbClr val="FFFFFF"/>
                </a:solidFill>
              </a14:hiddenFill>
            </a:ext>
          </a:extLst>
        </p:spPr>
      </p:pic>
      <p:pic>
        <p:nvPicPr>
          <p:cNvPr id="34820" name="Picture 4" descr="http://www.pslc.ws/macrog/images/pe03.gif"/>
          <p:cNvPicPr>
            <a:picLocks noChangeAspect="1" noChangeArrowheads="1"/>
          </p:cNvPicPr>
          <p:nvPr/>
        </p:nvPicPr>
        <p:blipFill rotWithShape="1">
          <a:blip r:embed="rId3">
            <a:extLst>
              <a:ext uri="{28A0092B-C50C-407E-A947-70E740481C1C}">
                <a14:useLocalDpi xmlns:a14="http://schemas.microsoft.com/office/drawing/2010/main" val="0"/>
              </a:ext>
            </a:extLst>
          </a:blip>
          <a:srcRect l="7947" t="12430" r="14844" b="61458"/>
          <a:stretch/>
        </p:blipFill>
        <p:spPr bwMode="auto">
          <a:xfrm>
            <a:off x="931719" y="3183467"/>
            <a:ext cx="5314141" cy="134789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http://www.pslc.ws/macrog/images/pe03.gif"/>
          <p:cNvPicPr>
            <a:picLocks noChangeAspect="1" noChangeArrowheads="1"/>
          </p:cNvPicPr>
          <p:nvPr/>
        </p:nvPicPr>
        <p:blipFill rotWithShape="1">
          <a:blip r:embed="rId3">
            <a:extLst>
              <a:ext uri="{28A0092B-C50C-407E-A947-70E740481C1C}">
                <a14:useLocalDpi xmlns:a14="http://schemas.microsoft.com/office/drawing/2010/main" val="0"/>
              </a:ext>
            </a:extLst>
          </a:blip>
          <a:srcRect l="19110" t="43264" r="9433" b="12569"/>
          <a:stretch/>
        </p:blipFill>
        <p:spPr bwMode="auto">
          <a:xfrm>
            <a:off x="6570980" y="2719423"/>
            <a:ext cx="4909820" cy="2275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76232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Density </a:t>
            </a:r>
            <a:r>
              <a:rPr lang="en-US" dirty="0" err="1"/>
              <a:t>Polyethene</a:t>
            </a:r>
            <a:r>
              <a:rPr lang="en-US" dirty="0"/>
              <a:t> (HDPE)</a:t>
            </a:r>
            <a:endParaRPr lang="en-AU" dirty="0"/>
          </a:p>
        </p:txBody>
      </p:sp>
      <p:sp>
        <p:nvSpPr>
          <p:cNvPr id="3" name="Content Placeholder 2"/>
          <p:cNvSpPr>
            <a:spLocks noGrp="1"/>
          </p:cNvSpPr>
          <p:nvPr>
            <p:ph idx="1"/>
          </p:nvPr>
        </p:nvSpPr>
        <p:spPr>
          <a:xfrm>
            <a:off x="1097280" y="1845734"/>
            <a:ext cx="10058400" cy="4453466"/>
          </a:xfrm>
        </p:spPr>
        <p:txBody>
          <a:bodyPr>
            <a:normAutofit/>
          </a:bodyPr>
          <a:lstStyle/>
          <a:p>
            <a:pPr>
              <a:lnSpc>
                <a:spcPct val="150000"/>
              </a:lnSpc>
            </a:pPr>
            <a:r>
              <a:rPr lang="en-US" b="1" dirty="0"/>
              <a:t>Reaction conditions: </a:t>
            </a:r>
            <a:r>
              <a:rPr lang="en-US" dirty="0"/>
              <a:t>Relatively low temperature and pressure (60 °C, a few atmospheres)</a:t>
            </a:r>
          </a:p>
          <a:p>
            <a:pPr>
              <a:lnSpc>
                <a:spcPct val="150000"/>
              </a:lnSpc>
            </a:pPr>
            <a:endParaRPr lang="en-US" b="1" dirty="0"/>
          </a:p>
          <a:p>
            <a:pPr>
              <a:lnSpc>
                <a:spcPct val="150000"/>
              </a:lnSpc>
            </a:pPr>
            <a:r>
              <a:rPr lang="en-US" b="1" dirty="0"/>
              <a:t>Structure: </a:t>
            </a:r>
            <a:r>
              <a:rPr lang="en-US" dirty="0"/>
              <a:t>Linear chains with many crystalline regions. Strong dispersion forces.</a:t>
            </a:r>
          </a:p>
          <a:p>
            <a:pPr>
              <a:lnSpc>
                <a:spcPct val="150000"/>
              </a:lnSpc>
            </a:pPr>
            <a:endParaRPr lang="en-US" b="1" dirty="0"/>
          </a:p>
          <a:p>
            <a:pPr>
              <a:lnSpc>
                <a:spcPct val="150000"/>
              </a:lnSpc>
            </a:pPr>
            <a:r>
              <a:rPr lang="en-US" b="1" dirty="0"/>
              <a:t>Properties: </a:t>
            </a:r>
            <a:r>
              <a:rPr lang="en-US" dirty="0"/>
              <a:t>Dense, tough, opaque, impermeable to water </a:t>
            </a:r>
            <a:r>
              <a:rPr lang="en-US" dirty="0" err="1"/>
              <a:t>vapour</a:t>
            </a:r>
            <a:endParaRPr lang="en-US" dirty="0"/>
          </a:p>
          <a:p>
            <a:pPr>
              <a:lnSpc>
                <a:spcPct val="150000"/>
              </a:lnSpc>
            </a:pPr>
            <a:endParaRPr lang="en-US" b="1" dirty="0"/>
          </a:p>
          <a:p>
            <a:pPr>
              <a:lnSpc>
                <a:spcPct val="150000"/>
              </a:lnSpc>
            </a:pPr>
            <a:r>
              <a:rPr lang="en-US" b="1" dirty="0"/>
              <a:t>Uses: </a:t>
            </a:r>
            <a:r>
              <a:rPr lang="en-US" dirty="0"/>
              <a:t>Detergent bottles, bottle caps, food storage containers</a:t>
            </a:r>
            <a:endParaRPr lang="en-AU" b="1" dirty="0"/>
          </a:p>
        </p:txBody>
      </p:sp>
      <p:cxnSp>
        <p:nvCxnSpPr>
          <p:cNvPr id="5" name="Straight Arrow Connector 4"/>
          <p:cNvCxnSpPr/>
          <p:nvPr/>
        </p:nvCxnSpPr>
        <p:spPr>
          <a:xfrm>
            <a:off x="1663700" y="2349500"/>
            <a:ext cx="0" cy="850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1663700" y="3632200"/>
            <a:ext cx="0" cy="850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a:off x="1663700" y="4876800"/>
            <a:ext cx="0" cy="850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6" name="Picture 5"/>
          <p:cNvPicPr>
            <a:picLocks noChangeAspect="1"/>
          </p:cNvPicPr>
          <p:nvPr/>
        </p:nvPicPr>
        <p:blipFill>
          <a:blip r:embed="rId2"/>
          <a:stretch>
            <a:fillRect/>
          </a:stretch>
        </p:blipFill>
        <p:spPr>
          <a:xfrm>
            <a:off x="9656762" y="2603500"/>
            <a:ext cx="2276475" cy="1752600"/>
          </a:xfrm>
          <a:prstGeom prst="rect">
            <a:avLst/>
          </a:prstGeom>
        </p:spPr>
      </p:pic>
      <p:pic>
        <p:nvPicPr>
          <p:cNvPr id="36866" name="Picture 2" descr="http://www.ambaplastolite.com/assets/images/banner2.jpg"/>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l="4456" t="23164"/>
          <a:stretch/>
        </p:blipFill>
        <p:spPr bwMode="auto">
          <a:xfrm>
            <a:off x="8324325" y="4779962"/>
            <a:ext cx="3608912" cy="1519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38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 Density </a:t>
            </a:r>
            <a:r>
              <a:rPr lang="en-US" dirty="0" err="1"/>
              <a:t>Polyethene</a:t>
            </a:r>
            <a:r>
              <a:rPr lang="en-US" dirty="0"/>
              <a:t> (HDPE)</a:t>
            </a:r>
            <a:endParaRPr lang="en-AU" dirty="0"/>
          </a:p>
        </p:txBody>
      </p:sp>
      <p:sp>
        <p:nvSpPr>
          <p:cNvPr id="3" name="Content Placeholder 2"/>
          <p:cNvSpPr>
            <a:spLocks noGrp="1"/>
          </p:cNvSpPr>
          <p:nvPr>
            <p:ph idx="1"/>
          </p:nvPr>
        </p:nvSpPr>
        <p:spPr>
          <a:xfrm>
            <a:off x="1097280" y="1845734"/>
            <a:ext cx="10421620" cy="4453466"/>
          </a:xfrm>
        </p:spPr>
        <p:txBody>
          <a:bodyPr>
            <a:normAutofit/>
          </a:bodyPr>
          <a:lstStyle/>
          <a:p>
            <a:pPr>
              <a:lnSpc>
                <a:spcPct val="150000"/>
              </a:lnSpc>
            </a:pPr>
            <a:r>
              <a:rPr lang="en-US" b="1" dirty="0"/>
              <a:t>Reaction conditions: </a:t>
            </a:r>
            <a:r>
              <a:rPr lang="en-US" dirty="0"/>
              <a:t>Relatively high temperature and pressure (300 °C, 1000-3000 atmospheres)</a:t>
            </a:r>
          </a:p>
          <a:p>
            <a:pPr>
              <a:lnSpc>
                <a:spcPct val="150000"/>
              </a:lnSpc>
            </a:pPr>
            <a:endParaRPr lang="en-US" b="1" dirty="0"/>
          </a:p>
          <a:p>
            <a:pPr>
              <a:lnSpc>
                <a:spcPct val="150000"/>
              </a:lnSpc>
            </a:pPr>
            <a:r>
              <a:rPr lang="en-US" b="1" dirty="0"/>
              <a:t>Structure: </a:t>
            </a:r>
            <a:r>
              <a:rPr lang="en-US" dirty="0"/>
              <a:t>Significant chain branching. Amorphous. Weaker dispersion forces.</a:t>
            </a:r>
          </a:p>
          <a:p>
            <a:pPr>
              <a:lnSpc>
                <a:spcPct val="150000"/>
              </a:lnSpc>
            </a:pPr>
            <a:endParaRPr lang="en-US" b="1" dirty="0"/>
          </a:p>
          <a:p>
            <a:pPr>
              <a:lnSpc>
                <a:spcPct val="150000"/>
              </a:lnSpc>
            </a:pPr>
            <a:r>
              <a:rPr lang="en-US" b="1" dirty="0"/>
              <a:t>Properties: </a:t>
            </a:r>
            <a:r>
              <a:rPr lang="en-US" dirty="0"/>
              <a:t>Flexible, transparent</a:t>
            </a:r>
          </a:p>
          <a:p>
            <a:pPr>
              <a:lnSpc>
                <a:spcPct val="150000"/>
              </a:lnSpc>
            </a:pPr>
            <a:endParaRPr lang="en-US" b="1" dirty="0"/>
          </a:p>
          <a:p>
            <a:pPr>
              <a:lnSpc>
                <a:spcPct val="150000"/>
              </a:lnSpc>
            </a:pPr>
            <a:r>
              <a:rPr lang="en-US" b="1" dirty="0"/>
              <a:t>Uses: </a:t>
            </a:r>
            <a:r>
              <a:rPr lang="en-US" dirty="0"/>
              <a:t>Plastic bags, plastic food wraps</a:t>
            </a:r>
            <a:endParaRPr lang="en-AU" b="1" dirty="0"/>
          </a:p>
        </p:txBody>
      </p:sp>
      <p:cxnSp>
        <p:nvCxnSpPr>
          <p:cNvPr id="5" name="Straight Arrow Connector 4"/>
          <p:cNvCxnSpPr/>
          <p:nvPr/>
        </p:nvCxnSpPr>
        <p:spPr>
          <a:xfrm>
            <a:off x="1663700" y="2349500"/>
            <a:ext cx="0" cy="850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1663700" y="3632200"/>
            <a:ext cx="0" cy="850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a:off x="1663700" y="4876800"/>
            <a:ext cx="0" cy="850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 name="Picture 3"/>
          <p:cNvPicPr>
            <a:picLocks noChangeAspect="1"/>
          </p:cNvPicPr>
          <p:nvPr/>
        </p:nvPicPr>
        <p:blipFill>
          <a:blip r:embed="rId2"/>
          <a:stretch>
            <a:fillRect/>
          </a:stretch>
        </p:blipFill>
        <p:spPr>
          <a:xfrm>
            <a:off x="9706769" y="2349500"/>
            <a:ext cx="2019300" cy="2209800"/>
          </a:xfrm>
          <a:prstGeom prst="rect">
            <a:avLst/>
          </a:prstGeom>
        </p:spPr>
      </p:pic>
      <p:pic>
        <p:nvPicPr>
          <p:cNvPr id="37890" name="Picture 2" descr="http://www.mainternational.net/uploads/1/1/9/9/11995552/s785573692229757114_p320_i1_w320.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7880" y="4383479"/>
            <a:ext cx="2302669" cy="1837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7521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clker.com/cliparts/O/l/d/s/i/S/check-mark-h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5" y="4106862"/>
            <a:ext cx="2022475" cy="2041237"/>
          </a:xfrm>
          <a:prstGeom prst="rect">
            <a:avLst/>
          </a:prstGeom>
          <a:solidFill>
            <a:schemeClr val="bg1"/>
          </a:solidFill>
        </p:spPr>
      </p:pic>
      <p:sp>
        <p:nvSpPr>
          <p:cNvPr id="2" name="Title 1"/>
          <p:cNvSpPr>
            <a:spLocks noGrp="1"/>
          </p:cNvSpPr>
          <p:nvPr>
            <p:ph type="title"/>
          </p:nvPr>
        </p:nvSpPr>
        <p:spPr/>
        <p:txBody>
          <a:bodyPr/>
          <a:lstStyle/>
          <a:p>
            <a:r>
              <a:rPr lang="en-US" dirty="0"/>
              <a:t>Syllabus</a:t>
            </a:r>
            <a:endParaRPr lang="en-AU" dirty="0"/>
          </a:p>
        </p:txBody>
      </p:sp>
      <p:sp>
        <p:nvSpPr>
          <p:cNvPr id="3" name="Content Placeholder 2"/>
          <p:cNvSpPr>
            <a:spLocks noGrp="1"/>
          </p:cNvSpPr>
          <p:nvPr>
            <p:ph idx="1"/>
          </p:nvPr>
        </p:nvSpPr>
        <p:spPr/>
        <p:txBody>
          <a:bodyPr>
            <a:normAutofit/>
          </a:bodyPr>
          <a:lstStyle/>
          <a:p>
            <a:pPr lvl="0">
              <a:lnSpc>
                <a:spcPct val="200000"/>
              </a:lnSpc>
            </a:pPr>
            <a:r>
              <a:rPr lang="en-AU" sz="2400" dirty="0"/>
              <a:t>industry produces a vast range of plastics, including addition polymers (</a:t>
            </a:r>
            <a:r>
              <a:rPr lang="en-AU" sz="2400" dirty="0" err="1"/>
              <a:t>polyethene</a:t>
            </a:r>
            <a:r>
              <a:rPr lang="en-AU" sz="2400" dirty="0"/>
              <a:t>, </a:t>
            </a:r>
            <a:r>
              <a:rPr lang="en-AU" sz="2400" dirty="0" err="1"/>
              <a:t>polytetrafluoroethene</a:t>
            </a:r>
            <a:r>
              <a:rPr lang="en-AU" sz="2400" dirty="0"/>
              <a:t>) and condensation polymers (nylon and polyethylene terephthalate [PET]) which have different properties and uses</a:t>
            </a:r>
          </a:p>
          <a:p>
            <a:pPr lvl="0">
              <a:lnSpc>
                <a:spcPct val="200000"/>
              </a:lnSpc>
            </a:pPr>
            <a:endParaRPr lang="en-AU" sz="2400" dirty="0"/>
          </a:p>
          <a:p>
            <a:pPr lvl="0">
              <a:lnSpc>
                <a:spcPct val="200000"/>
              </a:lnSpc>
            </a:pPr>
            <a:endParaRPr lang="en-AU" sz="2400" dirty="0"/>
          </a:p>
        </p:txBody>
      </p:sp>
    </p:spTree>
    <p:extLst>
      <p:ext uri="{BB962C8B-B14F-4D97-AF65-F5344CB8AC3E}">
        <p14:creationId xmlns:p14="http://schemas.microsoft.com/office/powerpoint/2010/main" val="18745548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Soaps</a:t>
            </a:r>
            <a:endParaRPr lang="en-AU" dirty="0"/>
          </a:p>
        </p:txBody>
      </p:sp>
      <p:sp>
        <p:nvSpPr>
          <p:cNvPr id="3" name="Content Placeholder 2"/>
          <p:cNvSpPr>
            <a:spLocks noGrp="1"/>
          </p:cNvSpPr>
          <p:nvPr>
            <p:ph idx="1"/>
          </p:nvPr>
        </p:nvSpPr>
        <p:spPr>
          <a:xfrm>
            <a:off x="1097280" y="1845734"/>
            <a:ext cx="10421620" cy="4453466"/>
          </a:xfrm>
        </p:spPr>
        <p:txBody>
          <a:bodyPr>
            <a:normAutofit/>
          </a:bodyPr>
          <a:lstStyle/>
          <a:p>
            <a:r>
              <a:rPr lang="en-AU" dirty="0"/>
              <a:t>Soaps are the salts of fatty acids. They have a long hydrocarbon ‘tail’ and a polar carboxylate head.</a:t>
            </a:r>
          </a:p>
          <a:p>
            <a:endParaRPr lang="en-AU" dirty="0"/>
          </a:p>
          <a:p>
            <a:r>
              <a:rPr lang="en-AU" dirty="0"/>
              <a:t>The following diagram shows the full structure of a soap</a:t>
            </a:r>
          </a:p>
        </p:txBody>
      </p:sp>
      <p:pic>
        <p:nvPicPr>
          <p:cNvPr id="11" name="Picture 10"/>
          <p:cNvPicPr>
            <a:picLocks noChangeAspect="1"/>
          </p:cNvPicPr>
          <p:nvPr/>
        </p:nvPicPr>
        <p:blipFill>
          <a:blip r:embed="rId2"/>
          <a:stretch>
            <a:fillRect/>
          </a:stretch>
        </p:blipFill>
        <p:spPr>
          <a:xfrm>
            <a:off x="1368046" y="3283680"/>
            <a:ext cx="9144000" cy="493603"/>
          </a:xfrm>
          <a:prstGeom prst="rect">
            <a:avLst/>
          </a:prstGeom>
        </p:spPr>
      </p:pic>
      <p:sp>
        <p:nvSpPr>
          <p:cNvPr id="12" name="Right Brace 11"/>
          <p:cNvSpPr/>
          <p:nvPr/>
        </p:nvSpPr>
        <p:spPr>
          <a:xfrm rot="5400000">
            <a:off x="5401277" y="-215404"/>
            <a:ext cx="419716" cy="8405091"/>
          </a:xfrm>
          <a:prstGeom prst="rightBrace">
            <a:avLst>
              <a:gd name="adj1" fmla="val 8333"/>
              <a:gd name="adj2" fmla="val 8928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3" name="Right Brace 12"/>
          <p:cNvSpPr/>
          <p:nvPr/>
        </p:nvSpPr>
        <p:spPr>
          <a:xfrm rot="5400000">
            <a:off x="9953006" y="3658097"/>
            <a:ext cx="419716" cy="658089"/>
          </a:xfrm>
          <a:prstGeom prst="rightBrace">
            <a:avLst>
              <a:gd name="adj1" fmla="val 8333"/>
              <a:gd name="adj2" fmla="val 52444"/>
            </a:avLst>
          </a:prstGeom>
          <a:ln>
            <a:solidFill>
              <a:srgbClr val="FF0000"/>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4" name="TextBox 13"/>
          <p:cNvSpPr txBox="1"/>
          <p:nvPr/>
        </p:nvSpPr>
        <p:spPr>
          <a:xfrm>
            <a:off x="1604193" y="4197000"/>
            <a:ext cx="4865434" cy="1938992"/>
          </a:xfrm>
          <a:prstGeom prst="rect">
            <a:avLst/>
          </a:prstGeom>
          <a:noFill/>
        </p:spPr>
        <p:txBody>
          <a:bodyPr wrap="none" rtlCol="0">
            <a:spAutoFit/>
          </a:bodyPr>
          <a:lstStyle/>
          <a:p>
            <a:r>
              <a:rPr lang="en-US" sz="2400" b="1" u="sng" dirty="0"/>
              <a:t>Hydrocarbon tail</a:t>
            </a:r>
            <a:r>
              <a:rPr lang="en-US" sz="2400" u="sng" dirty="0"/>
              <a:t>:</a:t>
            </a:r>
          </a:p>
          <a:p>
            <a:pPr marL="285750" indent="-285750">
              <a:buFont typeface="Arial"/>
              <a:buChar char="•"/>
            </a:pPr>
            <a:r>
              <a:rPr lang="en-US" sz="2400" dirty="0"/>
              <a:t>Non-polar</a:t>
            </a:r>
          </a:p>
          <a:p>
            <a:pPr marL="285750" indent="-285750">
              <a:buFont typeface="Arial"/>
              <a:buChar char="•"/>
            </a:pPr>
            <a:r>
              <a:rPr lang="en-US" sz="2400" dirty="0"/>
              <a:t>Hydrophobic</a:t>
            </a:r>
          </a:p>
          <a:p>
            <a:pPr marL="285750" indent="-285750">
              <a:buFont typeface="Arial"/>
              <a:buChar char="•"/>
            </a:pPr>
            <a:r>
              <a:rPr lang="en-US" sz="2400" dirty="0"/>
              <a:t>Dissolves non-polar grease and fats</a:t>
            </a:r>
            <a:br>
              <a:rPr lang="en-US" sz="2400" dirty="0"/>
            </a:br>
            <a:r>
              <a:rPr lang="en-US" sz="2400" dirty="0"/>
              <a:t>(dispersion forces)</a:t>
            </a:r>
          </a:p>
        </p:txBody>
      </p:sp>
      <p:sp>
        <p:nvSpPr>
          <p:cNvPr id="15" name="TextBox 14"/>
          <p:cNvSpPr txBox="1"/>
          <p:nvPr/>
        </p:nvSpPr>
        <p:spPr>
          <a:xfrm>
            <a:off x="8960468" y="4197000"/>
            <a:ext cx="2765601" cy="1938992"/>
          </a:xfrm>
          <a:prstGeom prst="rect">
            <a:avLst/>
          </a:prstGeom>
          <a:noFill/>
        </p:spPr>
        <p:txBody>
          <a:bodyPr wrap="none" rtlCol="0">
            <a:spAutoFit/>
          </a:bodyPr>
          <a:lstStyle/>
          <a:p>
            <a:r>
              <a:rPr lang="en-US" sz="2400" b="1" u="sng" dirty="0">
                <a:solidFill>
                  <a:srgbClr val="FF0000"/>
                </a:solidFill>
              </a:rPr>
              <a:t>Ionic head</a:t>
            </a:r>
            <a:r>
              <a:rPr lang="en-US" sz="2400" u="sng" dirty="0">
                <a:solidFill>
                  <a:srgbClr val="FF0000"/>
                </a:solidFill>
              </a:rPr>
              <a:t>:</a:t>
            </a:r>
          </a:p>
          <a:p>
            <a:pPr marL="285750" indent="-285750">
              <a:buFont typeface="Arial"/>
              <a:buChar char="•"/>
            </a:pPr>
            <a:r>
              <a:rPr lang="en-US" sz="2400" dirty="0">
                <a:solidFill>
                  <a:srgbClr val="FF0000"/>
                </a:solidFill>
              </a:rPr>
              <a:t>Polar</a:t>
            </a:r>
          </a:p>
          <a:p>
            <a:pPr marL="285750" indent="-285750">
              <a:buFont typeface="Arial"/>
              <a:buChar char="•"/>
            </a:pPr>
            <a:r>
              <a:rPr lang="en-US" sz="2400" dirty="0">
                <a:solidFill>
                  <a:srgbClr val="FF0000"/>
                </a:solidFill>
              </a:rPr>
              <a:t>Hydrophilic</a:t>
            </a:r>
          </a:p>
          <a:p>
            <a:pPr marL="285750" indent="-285750">
              <a:buFont typeface="Arial"/>
              <a:buChar char="•"/>
            </a:pPr>
            <a:r>
              <a:rPr lang="en-US" sz="2400" dirty="0">
                <a:solidFill>
                  <a:srgbClr val="FF0000"/>
                </a:solidFill>
              </a:rPr>
              <a:t>Dissolves in water </a:t>
            </a:r>
            <a:br>
              <a:rPr lang="en-US" sz="2400" dirty="0">
                <a:solidFill>
                  <a:srgbClr val="FF0000"/>
                </a:solidFill>
              </a:rPr>
            </a:br>
            <a:r>
              <a:rPr lang="en-US" sz="2400" dirty="0">
                <a:solidFill>
                  <a:srgbClr val="FF0000"/>
                </a:solidFill>
              </a:rPr>
              <a:t>(ion-dipole forces)</a:t>
            </a:r>
          </a:p>
        </p:txBody>
      </p:sp>
    </p:spTree>
    <p:extLst>
      <p:ext uri="{BB962C8B-B14F-4D97-AF65-F5344CB8AC3E}">
        <p14:creationId xmlns:p14="http://schemas.microsoft.com/office/powerpoint/2010/main" val="6453315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Saponification</a:t>
            </a:r>
            <a:endParaRPr lang="en-AU" dirty="0"/>
          </a:p>
        </p:txBody>
      </p:sp>
      <p:sp>
        <p:nvSpPr>
          <p:cNvPr id="3" name="Content Placeholder 2"/>
          <p:cNvSpPr>
            <a:spLocks noGrp="1"/>
          </p:cNvSpPr>
          <p:nvPr>
            <p:ph idx="1"/>
          </p:nvPr>
        </p:nvSpPr>
        <p:spPr>
          <a:xfrm>
            <a:off x="1097280" y="1845734"/>
            <a:ext cx="10421620" cy="4453466"/>
          </a:xfrm>
        </p:spPr>
        <p:txBody>
          <a:bodyPr>
            <a:normAutofit/>
          </a:bodyPr>
          <a:lstStyle/>
          <a:p>
            <a:r>
              <a:rPr lang="en-AU" dirty="0"/>
              <a:t>Soaps are produced from the </a:t>
            </a:r>
            <a:r>
              <a:rPr lang="en-AU" b="1" dirty="0"/>
              <a:t>alkaline hydrolysis </a:t>
            </a:r>
            <a:r>
              <a:rPr lang="en-AU" dirty="0"/>
              <a:t>of fats and oils. </a:t>
            </a:r>
            <a:br>
              <a:rPr lang="en-AU" dirty="0"/>
            </a:br>
            <a:r>
              <a:rPr lang="en-AU" dirty="0"/>
              <a:t>This process of soap making is referred to as </a:t>
            </a:r>
            <a:r>
              <a:rPr lang="en-AU" b="1" dirty="0"/>
              <a:t>saponification.</a:t>
            </a:r>
            <a:endParaRPr lang="en-AU" dirty="0"/>
          </a:p>
        </p:txBody>
      </p:sp>
      <p:pic>
        <p:nvPicPr>
          <p:cNvPr id="5" name="Picture 4"/>
          <p:cNvPicPr>
            <a:picLocks noChangeAspect="1"/>
          </p:cNvPicPr>
          <p:nvPr/>
        </p:nvPicPr>
        <p:blipFill>
          <a:blip r:embed="rId2"/>
          <a:stretch>
            <a:fillRect/>
          </a:stretch>
        </p:blipFill>
        <p:spPr>
          <a:xfrm>
            <a:off x="243417" y="2575861"/>
            <a:ext cx="4921250" cy="3399611"/>
          </a:xfrm>
          <a:prstGeom prst="rect">
            <a:avLst/>
          </a:prstGeom>
        </p:spPr>
      </p:pic>
      <p:sp>
        <p:nvSpPr>
          <p:cNvPr id="6" name="TextBox 5"/>
          <p:cNvSpPr txBox="1"/>
          <p:nvPr/>
        </p:nvSpPr>
        <p:spPr>
          <a:xfrm>
            <a:off x="5367867" y="2726267"/>
            <a:ext cx="1879600" cy="3014133"/>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
        <p:nvSpPr>
          <p:cNvPr id="16" name="TextBox 15"/>
          <p:cNvSpPr txBox="1"/>
          <p:nvPr/>
        </p:nvSpPr>
        <p:spPr>
          <a:xfrm>
            <a:off x="7738533" y="2726267"/>
            <a:ext cx="4233333" cy="74506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
        <p:nvSpPr>
          <p:cNvPr id="17" name="TextBox 16"/>
          <p:cNvSpPr txBox="1"/>
          <p:nvPr/>
        </p:nvSpPr>
        <p:spPr>
          <a:xfrm>
            <a:off x="7738532" y="3903133"/>
            <a:ext cx="4233333" cy="74506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
        <p:nvSpPr>
          <p:cNvPr id="18" name="TextBox 17"/>
          <p:cNvSpPr txBox="1"/>
          <p:nvPr/>
        </p:nvSpPr>
        <p:spPr>
          <a:xfrm>
            <a:off x="7738531" y="4995334"/>
            <a:ext cx="4233333" cy="74506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
        <p:nvSpPr>
          <p:cNvPr id="7" name="TextBox 6"/>
          <p:cNvSpPr txBox="1"/>
          <p:nvPr/>
        </p:nvSpPr>
        <p:spPr>
          <a:xfrm>
            <a:off x="7328958" y="4048667"/>
            <a:ext cx="675217" cy="369332"/>
          </a:xfrm>
          <a:prstGeom prst="rect">
            <a:avLst/>
          </a:prstGeom>
          <a:noFill/>
        </p:spPr>
        <p:txBody>
          <a:bodyPr wrap="square" rtlCol="0">
            <a:spAutoFit/>
          </a:bodyPr>
          <a:lstStyle/>
          <a:p>
            <a:r>
              <a:rPr lang="en-US" dirty="0"/>
              <a:t>+</a:t>
            </a:r>
          </a:p>
        </p:txBody>
      </p:sp>
      <p:sp>
        <p:nvSpPr>
          <p:cNvPr id="19" name="TextBox 18"/>
          <p:cNvSpPr txBox="1"/>
          <p:nvPr/>
        </p:nvSpPr>
        <p:spPr>
          <a:xfrm>
            <a:off x="9733491" y="3454399"/>
            <a:ext cx="675217" cy="369332"/>
          </a:xfrm>
          <a:prstGeom prst="rect">
            <a:avLst/>
          </a:prstGeom>
          <a:noFill/>
        </p:spPr>
        <p:txBody>
          <a:bodyPr wrap="square" rtlCol="0">
            <a:spAutoFit/>
          </a:bodyPr>
          <a:lstStyle/>
          <a:p>
            <a:r>
              <a:rPr lang="en-US" dirty="0"/>
              <a:t>+</a:t>
            </a:r>
          </a:p>
        </p:txBody>
      </p:sp>
      <p:sp>
        <p:nvSpPr>
          <p:cNvPr id="20" name="TextBox 19"/>
          <p:cNvSpPr txBox="1"/>
          <p:nvPr/>
        </p:nvSpPr>
        <p:spPr>
          <a:xfrm>
            <a:off x="9733491" y="4626002"/>
            <a:ext cx="675217" cy="369332"/>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1357665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Saponification</a:t>
            </a:r>
            <a:endParaRPr lang="en-AU" dirty="0"/>
          </a:p>
        </p:txBody>
      </p:sp>
      <p:sp>
        <p:nvSpPr>
          <p:cNvPr id="3" name="Content Placeholder 2"/>
          <p:cNvSpPr>
            <a:spLocks noGrp="1"/>
          </p:cNvSpPr>
          <p:nvPr>
            <p:ph idx="1"/>
          </p:nvPr>
        </p:nvSpPr>
        <p:spPr>
          <a:xfrm>
            <a:off x="1097280" y="1846623"/>
            <a:ext cx="10421620" cy="4453466"/>
          </a:xfrm>
        </p:spPr>
        <p:txBody>
          <a:bodyPr>
            <a:normAutofit/>
          </a:bodyPr>
          <a:lstStyle/>
          <a:p>
            <a:r>
              <a:rPr lang="en-AU" dirty="0"/>
              <a:t>Soaps are produced from the </a:t>
            </a:r>
            <a:r>
              <a:rPr lang="en-AU" b="1" dirty="0"/>
              <a:t>alkaline hydrolysis </a:t>
            </a:r>
            <a:r>
              <a:rPr lang="en-AU" dirty="0"/>
              <a:t>of fats and oils. </a:t>
            </a:r>
            <a:br>
              <a:rPr lang="en-AU" dirty="0"/>
            </a:br>
            <a:r>
              <a:rPr lang="en-AU" dirty="0"/>
              <a:t>This process of soap making is referred to as </a:t>
            </a:r>
            <a:r>
              <a:rPr lang="en-AU" b="1" dirty="0"/>
              <a:t>saponification.</a:t>
            </a:r>
            <a:endParaRPr lang="en-AU" dirty="0"/>
          </a:p>
        </p:txBody>
      </p:sp>
      <p:pic>
        <p:nvPicPr>
          <p:cNvPr id="5" name="Picture 4"/>
          <p:cNvPicPr>
            <a:picLocks noChangeAspect="1"/>
          </p:cNvPicPr>
          <p:nvPr/>
        </p:nvPicPr>
        <p:blipFill>
          <a:blip r:embed="rId2"/>
          <a:stretch>
            <a:fillRect/>
          </a:stretch>
        </p:blipFill>
        <p:spPr>
          <a:xfrm>
            <a:off x="243417" y="2541994"/>
            <a:ext cx="5101378" cy="3524044"/>
          </a:xfrm>
          <a:prstGeom prst="rect">
            <a:avLst/>
          </a:prstGeom>
        </p:spPr>
      </p:pic>
      <p:pic>
        <p:nvPicPr>
          <p:cNvPr id="13" name="Picture 12"/>
          <p:cNvPicPr>
            <a:picLocks noChangeAspect="1"/>
          </p:cNvPicPr>
          <p:nvPr/>
        </p:nvPicPr>
        <p:blipFill>
          <a:blip r:embed="rId3"/>
          <a:stretch>
            <a:fillRect/>
          </a:stretch>
        </p:blipFill>
        <p:spPr>
          <a:xfrm>
            <a:off x="5708015" y="2541994"/>
            <a:ext cx="5447665" cy="3707296"/>
          </a:xfrm>
          <a:prstGeom prst="rect">
            <a:avLst/>
          </a:prstGeom>
        </p:spPr>
      </p:pic>
    </p:spTree>
    <p:extLst>
      <p:ext uri="{BB962C8B-B14F-4D97-AF65-F5344CB8AC3E}">
        <p14:creationId xmlns:p14="http://schemas.microsoft.com/office/powerpoint/2010/main" val="5321349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Saponification</a:t>
            </a:r>
            <a:endParaRPr lang="en-AU" dirty="0"/>
          </a:p>
        </p:txBody>
      </p:sp>
      <p:sp>
        <p:nvSpPr>
          <p:cNvPr id="3" name="Content Placeholder 2"/>
          <p:cNvSpPr>
            <a:spLocks noGrp="1"/>
          </p:cNvSpPr>
          <p:nvPr>
            <p:ph idx="1"/>
          </p:nvPr>
        </p:nvSpPr>
        <p:spPr>
          <a:xfrm>
            <a:off x="1097280" y="1845734"/>
            <a:ext cx="10421620" cy="4453466"/>
          </a:xfrm>
        </p:spPr>
        <p:txBody>
          <a:bodyPr>
            <a:normAutofit/>
          </a:bodyPr>
          <a:lstStyle/>
          <a:p>
            <a:r>
              <a:rPr lang="en-AU" dirty="0"/>
              <a:t>Write an equation for the </a:t>
            </a:r>
            <a:r>
              <a:rPr lang="en-AU" dirty="0" err="1"/>
              <a:t>saponfication</a:t>
            </a:r>
            <a:r>
              <a:rPr lang="en-AU" dirty="0"/>
              <a:t> of the following mixed triglyceride.</a:t>
            </a:r>
          </a:p>
        </p:txBody>
      </p:sp>
      <p:pic>
        <p:nvPicPr>
          <p:cNvPr id="4" name="Picture 3"/>
          <p:cNvPicPr>
            <a:picLocks noChangeAspect="1"/>
          </p:cNvPicPr>
          <p:nvPr/>
        </p:nvPicPr>
        <p:blipFill rotWithShape="1">
          <a:blip r:embed="rId2"/>
          <a:srcRect l="52778" t="7428" b="25906"/>
          <a:stretch/>
        </p:blipFill>
        <p:spPr>
          <a:xfrm>
            <a:off x="338666" y="2624665"/>
            <a:ext cx="5100249" cy="2760135"/>
          </a:xfrm>
          <a:prstGeom prst="rect">
            <a:avLst/>
          </a:prstGeom>
        </p:spPr>
      </p:pic>
      <p:sp>
        <p:nvSpPr>
          <p:cNvPr id="6" name="TextBox 5"/>
          <p:cNvSpPr txBox="1"/>
          <p:nvPr/>
        </p:nvSpPr>
        <p:spPr>
          <a:xfrm>
            <a:off x="1354666" y="5445667"/>
            <a:ext cx="3335867" cy="369332"/>
          </a:xfrm>
          <a:prstGeom prst="rect">
            <a:avLst/>
          </a:prstGeom>
          <a:noFill/>
        </p:spPr>
        <p:txBody>
          <a:bodyPr wrap="square" rtlCol="0">
            <a:spAutoFit/>
          </a:bodyPr>
          <a:lstStyle/>
          <a:p>
            <a:r>
              <a:rPr lang="en-US" b="1"/>
              <a:t>Mixed triglyceride</a:t>
            </a:r>
            <a:endParaRPr lang="en-US" b="1" dirty="0"/>
          </a:p>
        </p:txBody>
      </p:sp>
    </p:spTree>
    <p:extLst>
      <p:ext uri="{BB962C8B-B14F-4D97-AF65-F5344CB8AC3E}">
        <p14:creationId xmlns:p14="http://schemas.microsoft.com/office/powerpoint/2010/main" val="974197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Saponification</a:t>
            </a:r>
            <a:endParaRPr lang="en-AU" dirty="0"/>
          </a:p>
        </p:txBody>
      </p:sp>
      <p:sp>
        <p:nvSpPr>
          <p:cNvPr id="3" name="Content Placeholder 2"/>
          <p:cNvSpPr>
            <a:spLocks noGrp="1"/>
          </p:cNvSpPr>
          <p:nvPr>
            <p:ph idx="1"/>
          </p:nvPr>
        </p:nvSpPr>
        <p:spPr>
          <a:xfrm>
            <a:off x="728133" y="1845734"/>
            <a:ext cx="10790767" cy="4453466"/>
          </a:xfrm>
        </p:spPr>
        <p:txBody>
          <a:bodyPr>
            <a:normAutofit/>
          </a:bodyPr>
          <a:lstStyle/>
          <a:p>
            <a:r>
              <a:rPr lang="en-AU" dirty="0"/>
              <a:t>During the production of soap the following processes occur:</a:t>
            </a:r>
          </a:p>
          <a:p>
            <a:r>
              <a:rPr lang="en-AU" dirty="0"/>
              <a:t>1. Triglyceride is boiled with sodium hydroxide to perform hydrolysis reaction</a:t>
            </a:r>
          </a:p>
          <a:p>
            <a:r>
              <a:rPr lang="en-AU" dirty="0"/>
              <a:t>2. Salt is added to the mixture to cause the sodium salt of the fatty acid (i.e. the soap) to precipitate</a:t>
            </a:r>
          </a:p>
          <a:p>
            <a:r>
              <a:rPr lang="en-AU" dirty="0"/>
              <a:t>3. Soap is filtered and purified by washing with water.</a:t>
            </a:r>
          </a:p>
          <a:p>
            <a:r>
              <a:rPr lang="en-AU" dirty="0"/>
              <a:t>4. The filtrate undergoes distillation to retrieve the dissolved glycerol</a:t>
            </a:r>
          </a:p>
          <a:p>
            <a:endParaRPr lang="en-AU" dirty="0"/>
          </a:p>
        </p:txBody>
      </p:sp>
    </p:spTree>
    <p:extLst>
      <p:ext uri="{BB962C8B-B14F-4D97-AF65-F5344CB8AC3E}">
        <p14:creationId xmlns:p14="http://schemas.microsoft.com/office/powerpoint/2010/main" val="1013629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Detergents</a:t>
            </a:r>
            <a:endParaRPr lang="en-AU" dirty="0"/>
          </a:p>
        </p:txBody>
      </p:sp>
      <p:sp>
        <p:nvSpPr>
          <p:cNvPr id="3" name="Content Placeholder 2"/>
          <p:cNvSpPr>
            <a:spLocks noGrp="1"/>
          </p:cNvSpPr>
          <p:nvPr>
            <p:ph idx="1"/>
          </p:nvPr>
        </p:nvSpPr>
        <p:spPr>
          <a:xfrm>
            <a:off x="1097280" y="1845734"/>
            <a:ext cx="10421620" cy="4453466"/>
          </a:xfrm>
        </p:spPr>
        <p:txBody>
          <a:bodyPr>
            <a:normAutofit/>
          </a:bodyPr>
          <a:lstStyle/>
          <a:p>
            <a:r>
              <a:rPr lang="en-AU" b="1" dirty="0"/>
              <a:t>Similarities to soap:</a:t>
            </a:r>
            <a:r>
              <a:rPr lang="en-AU" dirty="0"/>
              <a:t> They both have a non-polar hydrocarbon tail and a polar head. </a:t>
            </a:r>
          </a:p>
          <a:p>
            <a:r>
              <a:rPr lang="en-AU" b="1" dirty="0"/>
              <a:t>Differences to soap: </a:t>
            </a:r>
            <a:r>
              <a:rPr lang="en-AU" dirty="0"/>
              <a:t>Detergents have sulfonate head (SO</a:t>
            </a:r>
            <a:r>
              <a:rPr lang="en-AU" baseline="-25000" dirty="0"/>
              <a:t>3</a:t>
            </a:r>
            <a:r>
              <a:rPr lang="en-AU" baseline="30000" dirty="0"/>
              <a:t>-</a:t>
            </a:r>
            <a:r>
              <a:rPr lang="en-AU" dirty="0"/>
              <a:t>) instead of carboxylate head (COO</a:t>
            </a:r>
            <a:r>
              <a:rPr lang="en-AU" baseline="30000" dirty="0"/>
              <a:t>-</a:t>
            </a:r>
            <a:r>
              <a:rPr lang="en-AU" dirty="0"/>
              <a:t>)</a:t>
            </a:r>
          </a:p>
        </p:txBody>
      </p:sp>
      <p:pic>
        <p:nvPicPr>
          <p:cNvPr id="9" name="Picture 8"/>
          <p:cNvPicPr>
            <a:picLocks noChangeAspect="1"/>
          </p:cNvPicPr>
          <p:nvPr/>
        </p:nvPicPr>
        <p:blipFill>
          <a:blip r:embed="rId2"/>
          <a:stretch>
            <a:fillRect/>
          </a:stretch>
        </p:blipFill>
        <p:spPr>
          <a:xfrm>
            <a:off x="908251" y="3080505"/>
            <a:ext cx="11283749" cy="2896962"/>
          </a:xfrm>
          <a:prstGeom prst="rect">
            <a:avLst/>
          </a:prstGeom>
        </p:spPr>
      </p:pic>
    </p:spTree>
    <p:extLst>
      <p:ext uri="{BB962C8B-B14F-4D97-AF65-F5344CB8AC3E}">
        <p14:creationId xmlns:p14="http://schemas.microsoft.com/office/powerpoint/2010/main" val="387851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Synthesis of Detergents</a:t>
            </a:r>
            <a:endParaRPr lang="en-AU" dirty="0"/>
          </a:p>
        </p:txBody>
      </p:sp>
      <p:sp>
        <p:nvSpPr>
          <p:cNvPr id="3" name="Content Placeholder 2"/>
          <p:cNvSpPr>
            <a:spLocks noGrp="1"/>
          </p:cNvSpPr>
          <p:nvPr>
            <p:ph idx="1"/>
          </p:nvPr>
        </p:nvSpPr>
        <p:spPr>
          <a:xfrm>
            <a:off x="1097280" y="1845734"/>
            <a:ext cx="10421620" cy="4453466"/>
          </a:xfrm>
        </p:spPr>
        <p:txBody>
          <a:bodyPr>
            <a:normAutofit/>
          </a:bodyPr>
          <a:lstStyle/>
          <a:p>
            <a:r>
              <a:rPr lang="en-AU" dirty="0"/>
              <a:t>Precursor molecule is an </a:t>
            </a:r>
            <a:r>
              <a:rPr lang="en-AU" dirty="0" err="1"/>
              <a:t>alkylbenzene</a:t>
            </a:r>
            <a:r>
              <a:rPr lang="en-AU" dirty="0"/>
              <a:t> (sourced from petrochemical industry).</a:t>
            </a:r>
          </a:p>
        </p:txBody>
      </p:sp>
      <p:pic>
        <p:nvPicPr>
          <p:cNvPr id="5" name="Picture 4"/>
          <p:cNvPicPr>
            <a:picLocks noChangeAspect="1"/>
          </p:cNvPicPr>
          <p:nvPr/>
        </p:nvPicPr>
        <p:blipFill>
          <a:blip r:embed="rId2"/>
          <a:stretch>
            <a:fillRect/>
          </a:stretch>
        </p:blipFill>
        <p:spPr>
          <a:xfrm>
            <a:off x="2002367" y="2324886"/>
            <a:ext cx="8326966" cy="3752275"/>
          </a:xfrm>
          <a:prstGeom prst="rect">
            <a:avLst/>
          </a:prstGeom>
        </p:spPr>
      </p:pic>
    </p:spTree>
    <p:extLst>
      <p:ext uri="{BB962C8B-B14F-4D97-AF65-F5344CB8AC3E}">
        <p14:creationId xmlns:p14="http://schemas.microsoft.com/office/powerpoint/2010/main" val="948654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clker.com/cliparts/O/l/d/s/i/S/check-mark-h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5" y="4106862"/>
            <a:ext cx="2022475" cy="2041237"/>
          </a:xfrm>
          <a:prstGeom prst="rect">
            <a:avLst/>
          </a:prstGeom>
          <a:solidFill>
            <a:schemeClr val="bg1"/>
          </a:solidFill>
        </p:spPr>
      </p:pic>
      <p:sp>
        <p:nvSpPr>
          <p:cNvPr id="2" name="Title 1"/>
          <p:cNvSpPr>
            <a:spLocks noGrp="1"/>
          </p:cNvSpPr>
          <p:nvPr>
            <p:ph type="title"/>
          </p:nvPr>
        </p:nvSpPr>
        <p:spPr/>
        <p:txBody>
          <a:bodyPr/>
          <a:lstStyle/>
          <a:p>
            <a:r>
              <a:rPr lang="en-US" dirty="0"/>
              <a:t>Syllabus</a:t>
            </a:r>
            <a:endParaRPr lang="en-AU" dirty="0"/>
          </a:p>
        </p:txBody>
      </p:sp>
      <p:sp>
        <p:nvSpPr>
          <p:cNvPr id="3" name="Content Placeholder 2"/>
          <p:cNvSpPr>
            <a:spLocks noGrp="1"/>
          </p:cNvSpPr>
          <p:nvPr>
            <p:ph idx="1"/>
          </p:nvPr>
        </p:nvSpPr>
        <p:spPr/>
        <p:txBody>
          <a:bodyPr>
            <a:normAutofit/>
          </a:bodyPr>
          <a:lstStyle/>
          <a:p>
            <a:pPr lvl="0">
              <a:lnSpc>
                <a:spcPct val="100000"/>
              </a:lnSpc>
            </a:pPr>
            <a:r>
              <a:rPr lang="en-AU" sz="2400" b="1" dirty="0"/>
              <a:t>Soaps:</a:t>
            </a:r>
          </a:p>
          <a:p>
            <a:pPr lvl="1">
              <a:lnSpc>
                <a:spcPct val="100000"/>
              </a:lnSpc>
            </a:pPr>
            <a:r>
              <a:rPr lang="en-AU" sz="2200" dirty="0"/>
              <a:t>the structure of soaps contains a non-polar hydrocarbon chain and a carboxylate group</a:t>
            </a:r>
          </a:p>
          <a:p>
            <a:pPr lvl="1">
              <a:lnSpc>
                <a:spcPct val="100000"/>
              </a:lnSpc>
            </a:pPr>
            <a:r>
              <a:rPr lang="en-AU" sz="2200" dirty="0"/>
              <a:t>the base hydrolysis (saponification) of fats (triglycerides) produces glycerol and the salt of a long chain fatty acid (soap)</a:t>
            </a:r>
          </a:p>
          <a:p>
            <a:pPr lvl="0">
              <a:lnSpc>
                <a:spcPct val="100000"/>
              </a:lnSpc>
            </a:pPr>
            <a:r>
              <a:rPr lang="en-AU" sz="2400" b="1" dirty="0"/>
              <a:t>Detergents:</a:t>
            </a:r>
          </a:p>
          <a:p>
            <a:pPr lvl="1">
              <a:lnSpc>
                <a:spcPct val="100000"/>
              </a:lnSpc>
            </a:pPr>
            <a:r>
              <a:rPr lang="en-AU" sz="2200" dirty="0"/>
              <a:t>the structure of the anionic detergents derived from </a:t>
            </a:r>
            <a:r>
              <a:rPr lang="en-AU" sz="2200" dirty="0" err="1"/>
              <a:t>dodecylbenzene</a:t>
            </a:r>
            <a:r>
              <a:rPr lang="en-AU" sz="2200" dirty="0"/>
              <a:t> </a:t>
            </a:r>
            <a:br>
              <a:rPr lang="en-AU" sz="2200" dirty="0"/>
            </a:br>
            <a:r>
              <a:rPr lang="en-AU" sz="2200" dirty="0"/>
              <a:t>contains a non-polar hydrocarbon chain and a sulfonate group</a:t>
            </a:r>
          </a:p>
        </p:txBody>
      </p:sp>
    </p:spTree>
    <p:extLst>
      <p:ext uri="{BB962C8B-B14F-4D97-AF65-F5344CB8AC3E}">
        <p14:creationId xmlns:p14="http://schemas.microsoft.com/office/powerpoint/2010/main" val="1964355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Soaps &amp; Detergents</a:t>
            </a:r>
            <a:endParaRPr lang="en-AU" dirty="0"/>
          </a:p>
        </p:txBody>
      </p:sp>
      <p:sp>
        <p:nvSpPr>
          <p:cNvPr id="3" name="Content Placeholder 2"/>
          <p:cNvSpPr>
            <a:spLocks noGrp="1"/>
          </p:cNvSpPr>
          <p:nvPr>
            <p:ph idx="1"/>
          </p:nvPr>
        </p:nvSpPr>
        <p:spPr>
          <a:xfrm>
            <a:off x="1097280" y="1845734"/>
            <a:ext cx="10421620" cy="4453466"/>
          </a:xfrm>
        </p:spPr>
        <p:txBody>
          <a:bodyPr>
            <a:normAutofit/>
          </a:bodyPr>
          <a:lstStyle/>
          <a:p>
            <a:r>
              <a:rPr lang="en-AU" dirty="0"/>
              <a:t>Both soaps and detergents have a polar head and a non-polar tail. </a:t>
            </a:r>
          </a:p>
          <a:p>
            <a:endParaRPr lang="en-AU" dirty="0"/>
          </a:p>
          <a:p>
            <a:r>
              <a:rPr lang="en-AU" dirty="0"/>
              <a:t>The polar head is attracted to water molecules (hydrophilic)</a:t>
            </a:r>
            <a:br>
              <a:rPr lang="en-AU" dirty="0"/>
            </a:br>
            <a:r>
              <a:rPr lang="en-AU" dirty="0"/>
              <a:t>through hydrogen bonding and ion-dipole forces</a:t>
            </a:r>
            <a:br>
              <a:rPr lang="en-AU" dirty="0"/>
            </a:br>
            <a:endParaRPr lang="en-AU" dirty="0"/>
          </a:p>
          <a:p>
            <a:r>
              <a:rPr lang="en-AU" dirty="0"/>
              <a:t>The non-polar tail is not attracted to water molecules (hydrophobic).</a:t>
            </a:r>
            <a:br>
              <a:rPr lang="en-AU" dirty="0"/>
            </a:br>
            <a:r>
              <a:rPr lang="en-AU" dirty="0"/>
              <a:t>It is attracted to other non-polar substances through dispersion forces.</a:t>
            </a:r>
          </a:p>
          <a:p>
            <a:endParaRPr lang="en-AU" dirty="0"/>
          </a:p>
          <a:p>
            <a:r>
              <a:rPr lang="en-AU" dirty="0"/>
              <a:t>Solutions containing soaps/detergents form </a:t>
            </a:r>
            <a:r>
              <a:rPr lang="en-AU" b="1" dirty="0"/>
              <a:t>micelles</a:t>
            </a:r>
            <a:r>
              <a:rPr lang="en-AU" dirty="0"/>
              <a:t> – a spherical</a:t>
            </a:r>
            <a:br>
              <a:rPr lang="en-AU" dirty="0"/>
            </a:br>
            <a:r>
              <a:rPr lang="en-AU" dirty="0"/>
              <a:t>arrangement of molecules. Hydrocarbon tails on the inside of the</a:t>
            </a:r>
            <a:br>
              <a:rPr lang="en-AU" dirty="0"/>
            </a:br>
            <a:r>
              <a:rPr lang="en-AU" dirty="0"/>
              <a:t>micelle are shielded from water molecules.</a:t>
            </a:r>
          </a:p>
        </p:txBody>
      </p:sp>
      <p:pic>
        <p:nvPicPr>
          <p:cNvPr id="7" name="Picture 6"/>
          <p:cNvPicPr>
            <a:picLocks noChangeAspect="1"/>
          </p:cNvPicPr>
          <p:nvPr/>
        </p:nvPicPr>
        <p:blipFill>
          <a:blip r:embed="rId2"/>
          <a:stretch>
            <a:fillRect/>
          </a:stretch>
        </p:blipFill>
        <p:spPr>
          <a:xfrm>
            <a:off x="8430591" y="1845734"/>
            <a:ext cx="2175993" cy="867243"/>
          </a:xfrm>
          <a:prstGeom prst="rect">
            <a:avLst/>
          </a:prstGeom>
        </p:spPr>
      </p:pic>
      <p:sp>
        <p:nvSpPr>
          <p:cNvPr id="5" name="TextBox 4"/>
          <p:cNvSpPr txBox="1"/>
          <p:nvPr/>
        </p:nvSpPr>
        <p:spPr>
          <a:xfrm>
            <a:off x="9781409" y="2656175"/>
            <a:ext cx="1202267" cy="369332"/>
          </a:xfrm>
          <a:prstGeom prst="rect">
            <a:avLst/>
          </a:prstGeom>
          <a:noFill/>
        </p:spPr>
        <p:txBody>
          <a:bodyPr wrap="square" rtlCol="0">
            <a:spAutoFit/>
          </a:bodyPr>
          <a:lstStyle/>
          <a:p>
            <a:r>
              <a:rPr lang="en-US" dirty="0">
                <a:solidFill>
                  <a:srgbClr val="FF0000"/>
                </a:solidFill>
              </a:rPr>
              <a:t>Polar head</a:t>
            </a:r>
          </a:p>
        </p:txBody>
      </p:sp>
      <p:sp>
        <p:nvSpPr>
          <p:cNvPr id="8" name="TextBox 7"/>
          <p:cNvSpPr txBox="1"/>
          <p:nvPr/>
        </p:nvSpPr>
        <p:spPr>
          <a:xfrm>
            <a:off x="8352467" y="2656175"/>
            <a:ext cx="1507066" cy="369332"/>
          </a:xfrm>
          <a:prstGeom prst="rect">
            <a:avLst/>
          </a:prstGeom>
          <a:noFill/>
        </p:spPr>
        <p:txBody>
          <a:bodyPr wrap="square" rtlCol="0">
            <a:spAutoFit/>
          </a:bodyPr>
          <a:lstStyle/>
          <a:p>
            <a:r>
              <a:rPr lang="en-US" dirty="0"/>
              <a:t>Non-polar tail</a:t>
            </a:r>
          </a:p>
        </p:txBody>
      </p:sp>
      <p:pic>
        <p:nvPicPr>
          <p:cNvPr id="9" name="Picture 8"/>
          <p:cNvPicPr>
            <a:picLocks noChangeAspect="1"/>
          </p:cNvPicPr>
          <p:nvPr/>
        </p:nvPicPr>
        <p:blipFill>
          <a:blip r:embed="rId3"/>
          <a:stretch>
            <a:fillRect/>
          </a:stretch>
        </p:blipFill>
        <p:spPr>
          <a:xfrm>
            <a:off x="8716433" y="3523418"/>
            <a:ext cx="2802467" cy="2587611"/>
          </a:xfrm>
          <a:prstGeom prst="rect">
            <a:avLst/>
          </a:prstGeom>
        </p:spPr>
      </p:pic>
    </p:spTree>
    <p:extLst>
      <p:ext uri="{BB962C8B-B14F-4D97-AF65-F5344CB8AC3E}">
        <p14:creationId xmlns:p14="http://schemas.microsoft.com/office/powerpoint/2010/main" val="2183101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3159" y="2531533"/>
            <a:ext cx="4926738" cy="3303154"/>
          </a:xfrm>
          <a:prstGeom prst="rect">
            <a:avLst/>
          </a:prstGeom>
        </p:spPr>
      </p:pic>
      <p:pic>
        <p:nvPicPr>
          <p:cNvPr id="5" name="Picture 4"/>
          <p:cNvPicPr>
            <a:picLocks noChangeAspect="1"/>
          </p:cNvPicPr>
          <p:nvPr/>
        </p:nvPicPr>
        <p:blipFill>
          <a:blip r:embed="rId3"/>
          <a:stretch>
            <a:fillRect/>
          </a:stretch>
        </p:blipFill>
        <p:spPr>
          <a:xfrm>
            <a:off x="5099897" y="2539063"/>
            <a:ext cx="6804236" cy="3397223"/>
          </a:xfrm>
          <a:prstGeom prst="rect">
            <a:avLst/>
          </a:prstGeom>
        </p:spPr>
      </p:pic>
      <p:sp>
        <p:nvSpPr>
          <p:cNvPr id="6" name="Rectangle 5"/>
          <p:cNvSpPr/>
          <p:nvPr/>
        </p:nvSpPr>
        <p:spPr>
          <a:xfrm>
            <a:off x="1097280" y="1710267"/>
            <a:ext cx="10058400" cy="13546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Content Placeholder 2"/>
          <p:cNvSpPr>
            <a:spLocks noGrp="1"/>
          </p:cNvSpPr>
          <p:nvPr>
            <p:ph idx="1"/>
          </p:nvPr>
        </p:nvSpPr>
        <p:spPr>
          <a:xfrm>
            <a:off x="1097280" y="304800"/>
            <a:ext cx="10058400" cy="4453466"/>
          </a:xfrm>
        </p:spPr>
        <p:txBody>
          <a:bodyPr>
            <a:normAutofit/>
          </a:bodyPr>
          <a:lstStyle/>
          <a:p>
            <a:r>
              <a:rPr lang="en-AU" dirty="0"/>
              <a:t>Soaps and detergents are emulsifiers and surfactants. Emulsifiers are substances that allow two normally immiscible substances to dissolve in each other. </a:t>
            </a:r>
            <a:br>
              <a:rPr lang="en-AU" dirty="0"/>
            </a:br>
            <a:endParaRPr lang="en-AU" sz="1000" dirty="0"/>
          </a:p>
          <a:p>
            <a:r>
              <a:rPr lang="en-AU" dirty="0"/>
              <a:t>The main use of soaps and detergents is to dissolve non-polar substances like grease and oil. </a:t>
            </a:r>
          </a:p>
          <a:p>
            <a:pPr lvl="1"/>
            <a:r>
              <a:rPr lang="en-AU" dirty="0"/>
              <a:t>Non-polar tails interact with oil and grease through dispersion forces</a:t>
            </a:r>
          </a:p>
          <a:p>
            <a:pPr lvl="1"/>
            <a:r>
              <a:rPr lang="en-AU" dirty="0"/>
              <a:t>Polar heads interact with water molecules through ion-dipole forces and H bonds</a:t>
            </a:r>
          </a:p>
        </p:txBody>
      </p:sp>
    </p:spTree>
    <p:extLst>
      <p:ext uri="{BB962C8B-B14F-4D97-AF65-F5344CB8AC3E}">
        <p14:creationId xmlns:p14="http://schemas.microsoft.com/office/powerpoint/2010/main" val="6822464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 Water</a:t>
            </a:r>
          </a:p>
        </p:txBody>
      </p:sp>
      <p:sp>
        <p:nvSpPr>
          <p:cNvPr id="3" name="Content Placeholder 2"/>
          <p:cNvSpPr>
            <a:spLocks noGrp="1"/>
          </p:cNvSpPr>
          <p:nvPr>
            <p:ph idx="1"/>
          </p:nvPr>
        </p:nvSpPr>
        <p:spPr/>
        <p:txBody>
          <a:bodyPr/>
          <a:lstStyle/>
          <a:p>
            <a:r>
              <a:rPr lang="en-US" dirty="0"/>
              <a:t>‘Hard water’ is water containing dissolved Ca</a:t>
            </a:r>
            <a:r>
              <a:rPr lang="en-US" baseline="30000" dirty="0"/>
              <a:t>2+</a:t>
            </a:r>
            <a:r>
              <a:rPr lang="en-US" dirty="0"/>
              <a:t>, Mg</a:t>
            </a:r>
            <a:r>
              <a:rPr lang="en-US" baseline="30000" dirty="0"/>
              <a:t>2+</a:t>
            </a:r>
            <a:r>
              <a:rPr lang="en-US" dirty="0"/>
              <a:t> and Fe</a:t>
            </a:r>
            <a:r>
              <a:rPr lang="en-US" baseline="30000" dirty="0"/>
              <a:t>2+</a:t>
            </a:r>
            <a:r>
              <a:rPr lang="en-US" dirty="0"/>
              <a:t>. </a:t>
            </a:r>
          </a:p>
          <a:p>
            <a:endParaRPr lang="en-US" dirty="0"/>
          </a:p>
          <a:p>
            <a:r>
              <a:rPr lang="en-US" b="1" dirty="0"/>
              <a:t>Soaps</a:t>
            </a:r>
            <a:r>
              <a:rPr lang="en-US" dirty="0"/>
              <a:t> forms an insoluble precipitate with ions in hard water. </a:t>
            </a:r>
            <a:br>
              <a:rPr lang="en-US" dirty="0"/>
            </a:br>
            <a:r>
              <a:rPr lang="en-US" dirty="0"/>
              <a:t>This is called </a:t>
            </a:r>
            <a:r>
              <a:rPr lang="en-US" b="1" dirty="0"/>
              <a:t>soap scum</a:t>
            </a:r>
            <a:r>
              <a:rPr lang="en-US" dirty="0"/>
              <a:t>.</a:t>
            </a:r>
          </a:p>
          <a:p>
            <a:endParaRPr lang="en-US" dirty="0"/>
          </a:p>
          <a:p>
            <a:r>
              <a:rPr lang="en-US" dirty="0"/>
              <a:t>2 CH</a:t>
            </a:r>
            <a:r>
              <a:rPr lang="en-US" baseline="-25000" dirty="0"/>
              <a:t>3</a:t>
            </a:r>
            <a:r>
              <a:rPr lang="en-US" dirty="0"/>
              <a:t>(CH</a:t>
            </a:r>
            <a:r>
              <a:rPr lang="en-US" baseline="-25000" dirty="0"/>
              <a:t>2</a:t>
            </a:r>
            <a:r>
              <a:rPr lang="en-US" dirty="0"/>
              <a:t>)</a:t>
            </a:r>
            <a:r>
              <a:rPr lang="en-US" baseline="-25000" dirty="0"/>
              <a:t>16</a:t>
            </a:r>
            <a:r>
              <a:rPr lang="en-US" dirty="0"/>
              <a:t>COO</a:t>
            </a:r>
            <a:r>
              <a:rPr lang="en-US" baseline="30000" dirty="0"/>
              <a:t>-</a:t>
            </a:r>
            <a:r>
              <a:rPr lang="en-US" dirty="0"/>
              <a:t>(</a:t>
            </a:r>
            <a:r>
              <a:rPr lang="en-US" dirty="0" err="1"/>
              <a:t>aq</a:t>
            </a:r>
            <a:r>
              <a:rPr lang="en-US" dirty="0"/>
              <a:t>)   +   Ca</a:t>
            </a:r>
            <a:r>
              <a:rPr lang="en-US" baseline="30000" dirty="0"/>
              <a:t>2+</a:t>
            </a:r>
            <a:r>
              <a:rPr lang="en-US" dirty="0"/>
              <a:t>(</a:t>
            </a:r>
            <a:r>
              <a:rPr lang="en-US" dirty="0" err="1"/>
              <a:t>aq</a:t>
            </a:r>
            <a:r>
              <a:rPr lang="en-US" dirty="0"/>
              <a:t>)   </a:t>
            </a:r>
            <a:r>
              <a:rPr lang="is-IS" dirty="0"/>
              <a:t>→</a:t>
            </a:r>
            <a:r>
              <a:rPr lang="en-US" dirty="0"/>
              <a:t>   (CH</a:t>
            </a:r>
            <a:r>
              <a:rPr lang="en-US" baseline="-25000" dirty="0"/>
              <a:t>3</a:t>
            </a:r>
            <a:r>
              <a:rPr lang="en-US" dirty="0"/>
              <a:t>(CH</a:t>
            </a:r>
            <a:r>
              <a:rPr lang="en-US" baseline="-25000" dirty="0"/>
              <a:t>2</a:t>
            </a:r>
            <a:r>
              <a:rPr lang="en-US" dirty="0"/>
              <a:t>)</a:t>
            </a:r>
            <a:r>
              <a:rPr lang="en-US" baseline="-25000" dirty="0"/>
              <a:t>16</a:t>
            </a:r>
            <a:r>
              <a:rPr lang="en-US" dirty="0"/>
              <a:t>COO)</a:t>
            </a:r>
            <a:r>
              <a:rPr lang="en-US" baseline="-25000" dirty="0"/>
              <a:t>2</a:t>
            </a:r>
            <a:r>
              <a:rPr lang="en-US" dirty="0"/>
              <a:t>Ca(s)</a:t>
            </a:r>
          </a:p>
          <a:p>
            <a:endParaRPr lang="en-US" dirty="0"/>
          </a:p>
          <a:p>
            <a:r>
              <a:rPr lang="en-US" b="1" dirty="0"/>
              <a:t>Detergents</a:t>
            </a:r>
            <a:r>
              <a:rPr lang="en-US" dirty="0"/>
              <a:t> do </a:t>
            </a:r>
            <a:r>
              <a:rPr lang="en-US" u="sng" dirty="0"/>
              <a:t>not</a:t>
            </a:r>
            <a:r>
              <a:rPr lang="en-US" dirty="0"/>
              <a:t> form precipitates with ions in hard water.</a:t>
            </a:r>
          </a:p>
          <a:p>
            <a:r>
              <a:rPr lang="en-US" dirty="0"/>
              <a:t>e.g.   (CH</a:t>
            </a:r>
            <a:r>
              <a:rPr lang="en-US" baseline="-25000" dirty="0"/>
              <a:t>3</a:t>
            </a:r>
            <a:r>
              <a:rPr lang="en-US" dirty="0"/>
              <a:t>(CH</a:t>
            </a:r>
            <a:r>
              <a:rPr lang="en-US" baseline="-25000" dirty="0"/>
              <a:t>2</a:t>
            </a:r>
            <a:r>
              <a:rPr lang="en-US" dirty="0"/>
              <a:t>)</a:t>
            </a:r>
            <a:r>
              <a:rPr lang="en-US" baseline="-25000" dirty="0"/>
              <a:t>11</a:t>
            </a:r>
            <a:r>
              <a:rPr lang="en-US" dirty="0"/>
              <a:t>C</a:t>
            </a:r>
            <a:r>
              <a:rPr lang="en-US" baseline="-25000" dirty="0"/>
              <a:t>6</a:t>
            </a:r>
            <a:r>
              <a:rPr lang="en-US" dirty="0"/>
              <a:t>H</a:t>
            </a:r>
            <a:r>
              <a:rPr lang="en-US" baseline="-25000" dirty="0"/>
              <a:t>5</a:t>
            </a:r>
            <a:r>
              <a:rPr lang="en-US" dirty="0"/>
              <a:t>SO</a:t>
            </a:r>
            <a:r>
              <a:rPr lang="en-US" baseline="-25000" dirty="0"/>
              <a:t>3</a:t>
            </a:r>
            <a:r>
              <a:rPr lang="en-US" dirty="0"/>
              <a:t>)</a:t>
            </a:r>
            <a:r>
              <a:rPr lang="en-US" baseline="-25000" dirty="0"/>
              <a:t>2</a:t>
            </a:r>
            <a:r>
              <a:rPr lang="en-US" dirty="0"/>
              <a:t>Ca is </a:t>
            </a:r>
            <a:r>
              <a:rPr lang="en-US" u="sng" dirty="0"/>
              <a:t>soluble</a:t>
            </a:r>
            <a:r>
              <a:rPr lang="en-US" dirty="0"/>
              <a:t>.</a:t>
            </a:r>
          </a:p>
          <a:p>
            <a:endParaRPr lang="en-US" dirty="0"/>
          </a:p>
        </p:txBody>
      </p:sp>
      <p:pic>
        <p:nvPicPr>
          <p:cNvPr id="5" name="Picture 4"/>
          <p:cNvPicPr>
            <a:picLocks noChangeAspect="1"/>
          </p:cNvPicPr>
          <p:nvPr/>
        </p:nvPicPr>
        <p:blipFill rotWithShape="1">
          <a:blip r:embed="rId2"/>
          <a:srcRect l="53930" t="4288" r="2832"/>
          <a:stretch/>
        </p:blipFill>
        <p:spPr>
          <a:xfrm>
            <a:off x="8312467" y="1197718"/>
            <a:ext cx="3228975" cy="4057650"/>
          </a:xfrm>
          <a:prstGeom prst="rect">
            <a:avLst/>
          </a:prstGeom>
        </p:spPr>
      </p:pic>
    </p:spTree>
    <p:extLst>
      <p:ext uri="{BB962C8B-B14F-4D97-AF65-F5344CB8AC3E}">
        <p14:creationId xmlns:p14="http://schemas.microsoft.com/office/powerpoint/2010/main" val="3884367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clker.com/cliparts/O/l/d/s/i/S/check-mark-h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5" y="4106862"/>
            <a:ext cx="2022475" cy="2041237"/>
          </a:xfrm>
          <a:prstGeom prst="rect">
            <a:avLst/>
          </a:prstGeom>
          <a:solidFill>
            <a:schemeClr val="bg1"/>
          </a:solidFill>
        </p:spPr>
      </p:pic>
      <p:sp>
        <p:nvSpPr>
          <p:cNvPr id="2" name="Title 1"/>
          <p:cNvSpPr>
            <a:spLocks noGrp="1"/>
          </p:cNvSpPr>
          <p:nvPr>
            <p:ph type="title"/>
          </p:nvPr>
        </p:nvSpPr>
        <p:spPr/>
        <p:txBody>
          <a:bodyPr/>
          <a:lstStyle/>
          <a:p>
            <a:r>
              <a:rPr lang="en-US" dirty="0"/>
              <a:t>Syllabus</a:t>
            </a:r>
            <a:endParaRPr lang="en-AU" dirty="0"/>
          </a:p>
        </p:txBody>
      </p:sp>
      <p:sp>
        <p:nvSpPr>
          <p:cNvPr id="3" name="Content Placeholder 2"/>
          <p:cNvSpPr>
            <a:spLocks noGrp="1"/>
          </p:cNvSpPr>
          <p:nvPr>
            <p:ph idx="1"/>
          </p:nvPr>
        </p:nvSpPr>
        <p:spPr/>
        <p:txBody>
          <a:bodyPr>
            <a:normAutofit/>
          </a:bodyPr>
          <a:lstStyle/>
          <a:p>
            <a:pPr lvl="0">
              <a:lnSpc>
                <a:spcPct val="100000"/>
              </a:lnSpc>
            </a:pPr>
            <a:r>
              <a:rPr lang="en-AU" sz="2400" dirty="0"/>
              <a:t>the cleaning action of soaps and detergents can be explained in terms of their non-polar hydrocarbon chain and charged group</a:t>
            </a:r>
          </a:p>
          <a:p>
            <a:pPr lvl="0">
              <a:lnSpc>
                <a:spcPct val="100000"/>
              </a:lnSpc>
            </a:pPr>
            <a:endParaRPr lang="en-AU" sz="2400" dirty="0"/>
          </a:p>
          <a:p>
            <a:pPr lvl="0">
              <a:lnSpc>
                <a:spcPct val="100000"/>
              </a:lnSpc>
            </a:pPr>
            <a:r>
              <a:rPr lang="en-AU" sz="2400" dirty="0"/>
              <a:t>the properties of soaps and detergents in hard water can be explained in terms of the solubilities of their calcium salts</a:t>
            </a:r>
          </a:p>
          <a:p>
            <a:pPr lvl="0">
              <a:lnSpc>
                <a:spcPct val="100000"/>
              </a:lnSpc>
            </a:pPr>
            <a:endParaRPr lang="en-AU" sz="2400" dirty="0"/>
          </a:p>
        </p:txBody>
      </p:sp>
    </p:spTree>
    <p:extLst>
      <p:ext uri="{BB962C8B-B14F-4D97-AF65-F5344CB8AC3E}">
        <p14:creationId xmlns:p14="http://schemas.microsoft.com/office/powerpoint/2010/main" val="13308795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Rate &amp; Yield      </a:t>
            </a:r>
            <a:r>
              <a:rPr lang="en-AU" i="1" dirty="0"/>
              <a:t>(Revision)</a:t>
            </a:r>
            <a:endParaRPr lang="en-AU" dirty="0"/>
          </a:p>
        </p:txBody>
      </p:sp>
      <p:sp>
        <p:nvSpPr>
          <p:cNvPr id="3" name="Content Placeholder 2"/>
          <p:cNvSpPr>
            <a:spLocks noGrp="1"/>
          </p:cNvSpPr>
          <p:nvPr>
            <p:ph idx="1"/>
          </p:nvPr>
        </p:nvSpPr>
        <p:spPr>
          <a:xfrm>
            <a:off x="1097280" y="1845733"/>
            <a:ext cx="10058400" cy="4572319"/>
          </a:xfrm>
        </p:spPr>
        <p:txBody>
          <a:bodyPr/>
          <a:lstStyle/>
          <a:p>
            <a:r>
              <a:rPr lang="en-AU" dirty="0"/>
              <a:t>For reactions involving equilibrium reactions, it is important to both consider </a:t>
            </a:r>
            <a:r>
              <a:rPr lang="en-AU" b="1" dirty="0"/>
              <a:t>reaction rate </a:t>
            </a:r>
            <a:r>
              <a:rPr lang="en-AU" dirty="0"/>
              <a:t>(speed) and </a:t>
            </a:r>
            <a:r>
              <a:rPr lang="en-AU" b="1" dirty="0"/>
              <a:t>yield </a:t>
            </a:r>
            <a:r>
              <a:rPr lang="en-AU" dirty="0"/>
              <a:t>(amount of product at equilibrium). </a:t>
            </a:r>
          </a:p>
          <a:p>
            <a:endParaRPr lang="en-AU" dirty="0"/>
          </a:p>
          <a:p>
            <a:r>
              <a:rPr lang="en-AU" b="1" u="sng" dirty="0"/>
              <a:t>Methods for Maximising Rate:</a:t>
            </a:r>
          </a:p>
          <a:p>
            <a:pPr lvl="1">
              <a:buFont typeface="Arial" panose="020B0604020202020204" pitchFamily="34" charset="0"/>
              <a:buChar char="•"/>
            </a:pPr>
            <a:r>
              <a:rPr lang="en-AU" dirty="0"/>
              <a:t>Increase temperature 		</a:t>
            </a:r>
            <a:r>
              <a:rPr lang="en-AU" i="1" dirty="0"/>
              <a:t>Increases number of collisions</a:t>
            </a:r>
            <a:br>
              <a:rPr lang="en-AU" i="1" dirty="0"/>
            </a:br>
            <a:r>
              <a:rPr lang="en-AU" i="1" dirty="0"/>
              <a:t> 				Greater proportion of particles have E</a:t>
            </a:r>
            <a:r>
              <a:rPr lang="en-AU" i="1" baseline="-25000" dirty="0"/>
              <a:t>K</a:t>
            </a:r>
            <a:r>
              <a:rPr lang="en-AU" i="1" dirty="0"/>
              <a:t> &gt; </a:t>
            </a:r>
            <a:r>
              <a:rPr lang="en-AU" i="1" dirty="0" err="1"/>
              <a:t>E</a:t>
            </a:r>
            <a:r>
              <a:rPr lang="en-AU" i="1" baseline="-25000" dirty="0" err="1"/>
              <a:t>a</a:t>
            </a:r>
            <a:br>
              <a:rPr lang="en-AU" i="1" baseline="-25000" dirty="0"/>
            </a:br>
            <a:endParaRPr lang="en-AU" i="1" dirty="0"/>
          </a:p>
          <a:p>
            <a:pPr lvl="1">
              <a:buFont typeface="Arial" panose="020B0604020202020204" pitchFamily="34" charset="0"/>
              <a:buChar char="•"/>
            </a:pPr>
            <a:r>
              <a:rPr lang="en-AU" dirty="0"/>
              <a:t>Increase pressure of gases	</a:t>
            </a:r>
            <a:r>
              <a:rPr lang="en-AU" i="1" dirty="0"/>
              <a:t>Increases number of collisions</a:t>
            </a:r>
            <a:endParaRPr lang="en-AU" dirty="0"/>
          </a:p>
          <a:p>
            <a:pPr lvl="1">
              <a:buFont typeface="Arial" panose="020B0604020202020204" pitchFamily="34" charset="0"/>
              <a:buChar char="•"/>
            </a:pPr>
            <a:endParaRPr lang="en-AU" i="1" dirty="0"/>
          </a:p>
          <a:p>
            <a:pPr lvl="1">
              <a:buFont typeface="Arial" panose="020B0604020202020204" pitchFamily="34" charset="0"/>
              <a:buChar char="•"/>
            </a:pPr>
            <a:r>
              <a:rPr lang="en-AU" dirty="0"/>
              <a:t>Increase surface area 		</a:t>
            </a:r>
            <a:r>
              <a:rPr lang="en-AU" i="1" dirty="0"/>
              <a:t>Increases number of collisions</a:t>
            </a:r>
          </a:p>
          <a:p>
            <a:pPr lvl="1">
              <a:buFont typeface="Arial" panose="020B0604020202020204" pitchFamily="34" charset="0"/>
              <a:buChar char="•"/>
            </a:pPr>
            <a:endParaRPr lang="en-AU" i="1" dirty="0"/>
          </a:p>
          <a:p>
            <a:pPr lvl="1">
              <a:buFont typeface="Arial" panose="020B0604020202020204" pitchFamily="34" charset="0"/>
              <a:buChar char="•"/>
            </a:pPr>
            <a:r>
              <a:rPr lang="en-AU" dirty="0"/>
              <a:t>Addition of a catalyst		</a:t>
            </a:r>
            <a:r>
              <a:rPr lang="en-AU" i="1" dirty="0"/>
              <a:t>Decreases </a:t>
            </a:r>
            <a:r>
              <a:rPr lang="en-AU" i="1" dirty="0" err="1"/>
              <a:t>E</a:t>
            </a:r>
            <a:r>
              <a:rPr lang="en-AU" i="1" baseline="-25000" dirty="0" err="1"/>
              <a:t>a</a:t>
            </a:r>
            <a:r>
              <a:rPr lang="en-AU" i="1" dirty="0"/>
              <a:t> by providing alternate pathway. </a:t>
            </a:r>
            <a:br>
              <a:rPr lang="en-AU" i="1" dirty="0"/>
            </a:br>
            <a:r>
              <a:rPr lang="en-AU" i="1" dirty="0"/>
              <a:t> 				Greater proportion of collisions lead to successful reactions</a:t>
            </a:r>
            <a:endParaRPr lang="en-AU" dirty="0"/>
          </a:p>
        </p:txBody>
      </p:sp>
    </p:spTree>
    <p:extLst>
      <p:ext uri="{BB962C8B-B14F-4D97-AF65-F5344CB8AC3E}">
        <p14:creationId xmlns:p14="http://schemas.microsoft.com/office/powerpoint/2010/main" val="7408160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Rate &amp; Yield</a:t>
            </a:r>
          </a:p>
        </p:txBody>
      </p:sp>
      <p:sp>
        <p:nvSpPr>
          <p:cNvPr id="3" name="Content Placeholder 2"/>
          <p:cNvSpPr>
            <a:spLocks noGrp="1"/>
          </p:cNvSpPr>
          <p:nvPr>
            <p:ph idx="1"/>
          </p:nvPr>
        </p:nvSpPr>
        <p:spPr>
          <a:xfrm>
            <a:off x="1097280" y="1845733"/>
            <a:ext cx="10058400" cy="4572319"/>
          </a:xfrm>
        </p:spPr>
        <p:txBody>
          <a:bodyPr>
            <a:normAutofit/>
          </a:bodyPr>
          <a:lstStyle/>
          <a:p>
            <a:r>
              <a:rPr lang="en-AU" b="1" u="sng" dirty="0"/>
              <a:t>Methods for Maximising Yield:</a:t>
            </a:r>
          </a:p>
          <a:p>
            <a:pPr lvl="1">
              <a:buFont typeface="Arial" panose="020B0604020202020204" pitchFamily="34" charset="0"/>
              <a:buChar char="•"/>
            </a:pPr>
            <a:r>
              <a:rPr lang="en-AU" dirty="0"/>
              <a:t>Use high or low temperatures	</a:t>
            </a:r>
            <a:r>
              <a:rPr lang="en-AU" b="1" i="1" dirty="0"/>
              <a:t>High</a:t>
            </a:r>
            <a:r>
              <a:rPr lang="en-AU" i="1" dirty="0"/>
              <a:t> </a:t>
            </a:r>
            <a:r>
              <a:rPr lang="en-AU" b="1" i="1" dirty="0"/>
              <a:t>temperatures</a:t>
            </a:r>
            <a:r>
              <a:rPr lang="en-AU" i="1" dirty="0"/>
              <a:t> favour </a:t>
            </a:r>
            <a:r>
              <a:rPr lang="en-AU" b="1" i="1" dirty="0"/>
              <a:t>endothermic </a:t>
            </a:r>
            <a:r>
              <a:rPr lang="en-AU" i="1" dirty="0"/>
              <a:t>reactions </a:t>
            </a:r>
            <a:br>
              <a:rPr lang="en-AU" i="1" dirty="0"/>
            </a:br>
            <a:r>
              <a:rPr lang="en-AU" i="1" dirty="0"/>
              <a:t>				</a:t>
            </a:r>
            <a:r>
              <a:rPr lang="en-AU" b="1" i="1" dirty="0"/>
              <a:t>Low</a:t>
            </a:r>
            <a:r>
              <a:rPr lang="en-AU" i="1" dirty="0"/>
              <a:t> </a:t>
            </a:r>
            <a:r>
              <a:rPr lang="en-AU" b="1" i="1" dirty="0"/>
              <a:t>temperatures</a:t>
            </a:r>
            <a:r>
              <a:rPr lang="en-AU" i="1" dirty="0"/>
              <a:t> favour </a:t>
            </a:r>
            <a:r>
              <a:rPr lang="en-AU" b="1" i="1" dirty="0"/>
              <a:t>exothermic </a:t>
            </a:r>
            <a:r>
              <a:rPr lang="en-AU" i="1" dirty="0"/>
              <a:t>reactions</a:t>
            </a:r>
            <a:br>
              <a:rPr lang="en-AU" i="1" dirty="0"/>
            </a:br>
            <a:r>
              <a:rPr lang="en-AU" i="1" dirty="0"/>
              <a:t>				</a:t>
            </a:r>
          </a:p>
          <a:p>
            <a:pPr lvl="1">
              <a:buFont typeface="Arial" panose="020B0604020202020204" pitchFamily="34" charset="0"/>
              <a:buChar char="•"/>
            </a:pPr>
            <a:r>
              <a:rPr lang="en-AU" dirty="0"/>
              <a:t>Use high or low pressures	</a:t>
            </a:r>
            <a:r>
              <a:rPr lang="en-AU" b="1" i="1" dirty="0"/>
              <a:t>High</a:t>
            </a:r>
            <a:r>
              <a:rPr lang="en-AU" i="1" dirty="0"/>
              <a:t> </a:t>
            </a:r>
            <a:r>
              <a:rPr lang="en-AU" b="1" i="1" dirty="0"/>
              <a:t>pressures</a:t>
            </a:r>
            <a:r>
              <a:rPr lang="en-AU" i="1" dirty="0"/>
              <a:t> favour side with </a:t>
            </a:r>
            <a:r>
              <a:rPr lang="en-AU" b="1" i="1" dirty="0"/>
              <a:t>least</a:t>
            </a:r>
            <a:r>
              <a:rPr lang="en-AU" i="1" dirty="0"/>
              <a:t> moles of gas</a:t>
            </a:r>
            <a:br>
              <a:rPr lang="en-AU" i="1" dirty="0"/>
            </a:br>
            <a:r>
              <a:rPr lang="en-AU" i="1" dirty="0"/>
              <a:t>				</a:t>
            </a:r>
            <a:r>
              <a:rPr lang="en-AU" b="1" i="1" dirty="0"/>
              <a:t>Low</a:t>
            </a:r>
            <a:r>
              <a:rPr lang="en-AU" i="1" dirty="0"/>
              <a:t> </a:t>
            </a:r>
            <a:r>
              <a:rPr lang="en-AU" b="1" i="1" dirty="0"/>
              <a:t>pressures</a:t>
            </a:r>
            <a:r>
              <a:rPr lang="en-AU" i="1" dirty="0"/>
              <a:t> favour side with </a:t>
            </a:r>
            <a:r>
              <a:rPr lang="en-AU" b="1" i="1" dirty="0"/>
              <a:t>most</a:t>
            </a:r>
            <a:r>
              <a:rPr lang="en-AU" i="1" dirty="0"/>
              <a:t> moles of gas</a:t>
            </a:r>
            <a:endParaRPr lang="en-AU" dirty="0"/>
          </a:p>
          <a:p>
            <a:pPr lvl="1">
              <a:buFont typeface="Arial" panose="020B0604020202020204" pitchFamily="34" charset="0"/>
              <a:buChar char="•"/>
            </a:pPr>
            <a:endParaRPr lang="en-AU" dirty="0"/>
          </a:p>
          <a:p>
            <a:pPr lvl="1">
              <a:buFont typeface="Arial" panose="020B0604020202020204" pitchFamily="34" charset="0"/>
              <a:buChar char="•"/>
            </a:pPr>
            <a:r>
              <a:rPr lang="en-AU" dirty="0"/>
              <a:t>Remove the product		</a:t>
            </a:r>
            <a:r>
              <a:rPr lang="en-AU" i="1" dirty="0"/>
              <a:t>Decreasing [product] will slow the reverse reaction, </a:t>
            </a:r>
            <a:br>
              <a:rPr lang="en-AU" i="1" dirty="0"/>
            </a:br>
            <a:r>
              <a:rPr lang="en-AU" i="1" dirty="0"/>
              <a:t>				shifting equilibrium to the right</a:t>
            </a:r>
            <a:br>
              <a:rPr lang="en-AU" i="1" dirty="0"/>
            </a:br>
            <a:endParaRPr lang="en-AU" i="1" dirty="0"/>
          </a:p>
          <a:p>
            <a:pPr lvl="1">
              <a:buFont typeface="Arial" panose="020B0604020202020204" pitchFamily="34" charset="0"/>
              <a:buChar char="•"/>
            </a:pPr>
            <a:r>
              <a:rPr lang="en-AU" dirty="0"/>
              <a:t>Recycling reactants		</a:t>
            </a:r>
            <a:r>
              <a:rPr lang="en-AU" i="1" dirty="0"/>
              <a:t>This decreases wastage. Also increases [reactants] which favours</a:t>
            </a:r>
            <a:br>
              <a:rPr lang="en-AU" i="1" dirty="0"/>
            </a:br>
            <a:r>
              <a:rPr lang="en-AU" i="1" dirty="0"/>
              <a:t>				forwards reaction, shifting equilibrium to the right</a:t>
            </a:r>
            <a:endParaRPr lang="en-AU" dirty="0"/>
          </a:p>
        </p:txBody>
      </p:sp>
    </p:spTree>
    <p:extLst>
      <p:ext uri="{BB962C8B-B14F-4D97-AF65-F5344CB8AC3E}">
        <p14:creationId xmlns:p14="http://schemas.microsoft.com/office/powerpoint/2010/main" val="19328019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Rate &amp; Yield</a:t>
            </a:r>
          </a:p>
        </p:txBody>
      </p:sp>
      <p:sp>
        <p:nvSpPr>
          <p:cNvPr id="3" name="Content Placeholder 2"/>
          <p:cNvSpPr>
            <a:spLocks noGrp="1"/>
          </p:cNvSpPr>
          <p:nvPr>
            <p:ph idx="1"/>
          </p:nvPr>
        </p:nvSpPr>
        <p:spPr>
          <a:xfrm>
            <a:off x="1097280" y="1845733"/>
            <a:ext cx="10058400" cy="4572319"/>
          </a:xfrm>
        </p:spPr>
        <p:txBody>
          <a:bodyPr>
            <a:normAutofit/>
          </a:bodyPr>
          <a:lstStyle/>
          <a:p>
            <a:r>
              <a:rPr lang="en-AU" b="1" u="sng" dirty="0"/>
              <a:t>Compromise:</a:t>
            </a:r>
          </a:p>
          <a:p>
            <a:pPr lvl="1">
              <a:buFont typeface="Arial" panose="020B0604020202020204" pitchFamily="34" charset="0"/>
              <a:buChar char="•"/>
            </a:pPr>
            <a:r>
              <a:rPr lang="en-AU" dirty="0"/>
              <a:t>Sometimes there is a conflict between ideal reaction conditions for optimum rate and yield. </a:t>
            </a:r>
            <a:br>
              <a:rPr lang="en-AU" dirty="0"/>
            </a:br>
            <a:br>
              <a:rPr lang="en-AU" dirty="0"/>
            </a:br>
            <a:r>
              <a:rPr lang="en-AU" dirty="0"/>
              <a:t>In these cases, a </a:t>
            </a:r>
            <a:r>
              <a:rPr lang="en-AU" b="1" dirty="0"/>
              <a:t>moderate</a:t>
            </a:r>
            <a:r>
              <a:rPr lang="en-AU" dirty="0"/>
              <a:t> temperature or pressure may be chosen; one which provides an </a:t>
            </a:r>
            <a:r>
              <a:rPr lang="en-AU" b="1" dirty="0"/>
              <a:t>acceptable </a:t>
            </a:r>
            <a:r>
              <a:rPr lang="en-AU" dirty="0"/>
              <a:t>balance between rate and yield.</a:t>
            </a:r>
            <a:br>
              <a:rPr lang="en-AU" i="1" dirty="0"/>
            </a:br>
            <a:endParaRPr lang="en-AU" i="1" dirty="0"/>
          </a:p>
          <a:p>
            <a:pPr marL="201168" lvl="1" indent="0">
              <a:buNone/>
            </a:pPr>
            <a:r>
              <a:rPr lang="en-AU" i="1" dirty="0"/>
              <a:t>	e.g.          </a:t>
            </a:r>
            <a:r>
              <a:rPr lang="en-AU" dirty="0"/>
              <a:t>CO(g)   +   2 H</a:t>
            </a:r>
            <a:r>
              <a:rPr lang="en-AU" baseline="-25000" dirty="0"/>
              <a:t>2</a:t>
            </a:r>
            <a:r>
              <a:rPr lang="en-AU" dirty="0"/>
              <a:t>(g)   ⇌   CH</a:t>
            </a:r>
            <a:r>
              <a:rPr lang="en-AU" baseline="-25000" dirty="0"/>
              <a:t>3</a:t>
            </a:r>
            <a:r>
              <a:rPr lang="en-AU" dirty="0"/>
              <a:t>OH(g);          </a:t>
            </a:r>
            <a:r>
              <a:rPr lang="el-GR" dirty="0"/>
              <a:t>Δ</a:t>
            </a:r>
            <a:r>
              <a:rPr lang="en-AU" dirty="0"/>
              <a:t>H = -90.7 kJ </a:t>
            </a:r>
          </a:p>
          <a:p>
            <a:pPr marL="201168" lvl="1" indent="0">
              <a:buNone/>
            </a:pPr>
            <a:endParaRPr lang="en-AU" dirty="0"/>
          </a:p>
        </p:txBody>
      </p:sp>
      <p:graphicFrame>
        <p:nvGraphicFramePr>
          <p:cNvPr id="4" name="Table 3"/>
          <p:cNvGraphicFramePr>
            <a:graphicFrameLocks noGrp="1"/>
          </p:cNvGraphicFramePr>
          <p:nvPr/>
        </p:nvGraphicFramePr>
        <p:xfrm>
          <a:off x="2062480" y="4066716"/>
          <a:ext cx="8127999" cy="2108200"/>
        </p:xfrm>
        <a:graphic>
          <a:graphicData uri="http://schemas.openxmlformats.org/drawingml/2006/table">
            <a:tbl>
              <a:tblPr firstRow="1" firstCol="1" bandRow="1">
                <a:tableStyleId>{5C22544A-7EE6-4342-B048-85BDC9FD1C3A}</a:tableStyleId>
              </a:tblPr>
              <a:tblGrid>
                <a:gridCol w="2709333">
                  <a:extLst>
                    <a:ext uri="{9D8B030D-6E8A-4147-A177-3AD203B41FA5}">
                      <a16:colId xmlns:a16="http://schemas.microsoft.com/office/drawing/2014/main" val="3697340437"/>
                    </a:ext>
                  </a:extLst>
                </a:gridCol>
                <a:gridCol w="2709333">
                  <a:extLst>
                    <a:ext uri="{9D8B030D-6E8A-4147-A177-3AD203B41FA5}">
                      <a16:colId xmlns:a16="http://schemas.microsoft.com/office/drawing/2014/main" val="1516643032"/>
                    </a:ext>
                  </a:extLst>
                </a:gridCol>
                <a:gridCol w="2709333">
                  <a:extLst>
                    <a:ext uri="{9D8B030D-6E8A-4147-A177-3AD203B41FA5}">
                      <a16:colId xmlns:a16="http://schemas.microsoft.com/office/drawing/2014/main" val="1509800676"/>
                    </a:ext>
                  </a:extLst>
                </a:gridCol>
              </a:tblGrid>
              <a:tr h="370840">
                <a:tc>
                  <a:txBody>
                    <a:bodyPr/>
                    <a:lstStyle/>
                    <a:p>
                      <a:pPr algn="ctr"/>
                      <a:endParaRPr lang="en-AU" sz="1600" dirty="0"/>
                    </a:p>
                  </a:txBody>
                  <a:tcPr anchor="ctr"/>
                </a:tc>
                <a:tc>
                  <a:txBody>
                    <a:bodyPr/>
                    <a:lstStyle/>
                    <a:p>
                      <a:pPr algn="ctr"/>
                      <a:r>
                        <a:rPr lang="en-AU" sz="1600" dirty="0"/>
                        <a:t>Temperature</a:t>
                      </a:r>
                    </a:p>
                  </a:txBody>
                  <a:tcPr anchor="ctr"/>
                </a:tc>
                <a:tc>
                  <a:txBody>
                    <a:bodyPr/>
                    <a:lstStyle/>
                    <a:p>
                      <a:pPr algn="ctr"/>
                      <a:r>
                        <a:rPr lang="en-AU" sz="1600" dirty="0"/>
                        <a:t>Pressure</a:t>
                      </a:r>
                    </a:p>
                  </a:txBody>
                  <a:tcPr anchor="ctr"/>
                </a:tc>
                <a:extLst>
                  <a:ext uri="{0D108BD9-81ED-4DB2-BD59-A6C34878D82A}">
                    <a16:rowId xmlns:a16="http://schemas.microsoft.com/office/drawing/2014/main" val="729979320"/>
                  </a:ext>
                </a:extLst>
              </a:tr>
              <a:tr h="579120">
                <a:tc>
                  <a:txBody>
                    <a:bodyPr/>
                    <a:lstStyle/>
                    <a:p>
                      <a:pPr algn="ctr"/>
                      <a:r>
                        <a:rPr lang="en-AU" sz="1600" dirty="0"/>
                        <a:t>Ideal conditions for fast rate</a:t>
                      </a:r>
                    </a:p>
                  </a:txBody>
                  <a:tcPr anchor="ctr"/>
                </a:tc>
                <a:tc>
                  <a:txBody>
                    <a:bodyPr/>
                    <a:lstStyle/>
                    <a:p>
                      <a:pPr algn="ctr"/>
                      <a:r>
                        <a:rPr lang="en-AU" sz="1600" dirty="0"/>
                        <a:t>High</a:t>
                      </a:r>
                    </a:p>
                  </a:txBody>
                  <a:tcPr anchor="ctr"/>
                </a:tc>
                <a:tc>
                  <a:txBody>
                    <a:bodyPr/>
                    <a:lstStyle/>
                    <a:p>
                      <a:pPr algn="ctr"/>
                      <a:r>
                        <a:rPr lang="en-AU" sz="1600" dirty="0"/>
                        <a:t>High</a:t>
                      </a:r>
                    </a:p>
                  </a:txBody>
                  <a:tcPr anchor="ctr"/>
                </a:tc>
                <a:extLst>
                  <a:ext uri="{0D108BD9-81ED-4DB2-BD59-A6C34878D82A}">
                    <a16:rowId xmlns:a16="http://schemas.microsoft.com/office/drawing/2014/main" val="21823569"/>
                  </a:ext>
                </a:extLst>
              </a:tr>
              <a:tr h="579120">
                <a:tc>
                  <a:txBody>
                    <a:bodyPr/>
                    <a:lstStyle/>
                    <a:p>
                      <a:pPr algn="ctr"/>
                      <a:r>
                        <a:rPr lang="en-AU" sz="1600" dirty="0"/>
                        <a:t>Ideal conditions for max</a:t>
                      </a:r>
                      <a:r>
                        <a:rPr lang="en-AU" sz="1600" baseline="0" dirty="0"/>
                        <a:t> yield</a:t>
                      </a:r>
                      <a:endParaRPr lang="en-AU" sz="1600" dirty="0"/>
                    </a:p>
                  </a:txBody>
                  <a:tcPr anchor="ctr"/>
                </a:tc>
                <a:tc>
                  <a:txBody>
                    <a:bodyPr/>
                    <a:lstStyle/>
                    <a:p>
                      <a:pPr algn="ctr"/>
                      <a:endParaRPr lang="en-AU" sz="1600" dirty="0"/>
                    </a:p>
                  </a:txBody>
                  <a:tcPr anchor="ctr"/>
                </a:tc>
                <a:tc>
                  <a:txBody>
                    <a:bodyPr/>
                    <a:lstStyle/>
                    <a:p>
                      <a:pPr algn="ctr"/>
                      <a:endParaRPr lang="en-AU" sz="1600" dirty="0"/>
                    </a:p>
                  </a:txBody>
                  <a:tcPr anchor="ctr"/>
                </a:tc>
                <a:extLst>
                  <a:ext uri="{0D108BD9-81ED-4DB2-BD59-A6C34878D82A}">
                    <a16:rowId xmlns:a16="http://schemas.microsoft.com/office/drawing/2014/main" val="1491776147"/>
                  </a:ext>
                </a:extLst>
              </a:tr>
              <a:tr h="579120">
                <a:tc>
                  <a:txBody>
                    <a:bodyPr/>
                    <a:lstStyle/>
                    <a:p>
                      <a:pPr algn="ctr"/>
                      <a:r>
                        <a:rPr lang="en-AU" sz="1600" dirty="0"/>
                        <a:t>Likely</a:t>
                      </a:r>
                      <a:r>
                        <a:rPr lang="en-AU" sz="1600" baseline="0" dirty="0"/>
                        <a:t> conditions used </a:t>
                      </a:r>
                      <a:br>
                        <a:rPr lang="en-AU" sz="1600" baseline="0" dirty="0"/>
                      </a:br>
                      <a:r>
                        <a:rPr lang="en-AU" sz="1600" i="1" baseline="0" dirty="0"/>
                        <a:t>(low, moderate or high)</a:t>
                      </a:r>
                      <a:endParaRPr lang="en-AU" sz="1600" dirty="0"/>
                    </a:p>
                  </a:txBody>
                  <a:tcPr anchor="ctr"/>
                </a:tc>
                <a:tc>
                  <a:txBody>
                    <a:bodyPr/>
                    <a:lstStyle/>
                    <a:p>
                      <a:pPr algn="ctr"/>
                      <a:endParaRPr lang="en-AU" sz="1600" dirty="0"/>
                    </a:p>
                  </a:txBody>
                  <a:tcPr anchor="ctr"/>
                </a:tc>
                <a:tc>
                  <a:txBody>
                    <a:bodyPr/>
                    <a:lstStyle/>
                    <a:p>
                      <a:pPr algn="ctr"/>
                      <a:endParaRPr lang="en-AU" sz="1600" dirty="0"/>
                    </a:p>
                  </a:txBody>
                  <a:tcPr anchor="ctr"/>
                </a:tc>
                <a:extLst>
                  <a:ext uri="{0D108BD9-81ED-4DB2-BD59-A6C34878D82A}">
                    <a16:rowId xmlns:a16="http://schemas.microsoft.com/office/drawing/2014/main" val="4208829511"/>
                  </a:ext>
                </a:extLst>
              </a:tr>
            </a:tbl>
          </a:graphicData>
        </a:graphic>
      </p:graphicFrame>
    </p:spTree>
    <p:extLst>
      <p:ext uri="{BB962C8B-B14F-4D97-AF65-F5344CB8AC3E}">
        <p14:creationId xmlns:p14="http://schemas.microsoft.com/office/powerpoint/2010/main" val="17647963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Haber Process</a:t>
            </a:r>
          </a:p>
        </p:txBody>
      </p:sp>
      <p:sp>
        <p:nvSpPr>
          <p:cNvPr id="3" name="Content Placeholder 2"/>
          <p:cNvSpPr>
            <a:spLocks noGrp="1"/>
          </p:cNvSpPr>
          <p:nvPr>
            <p:ph idx="1"/>
          </p:nvPr>
        </p:nvSpPr>
        <p:spPr/>
        <p:txBody>
          <a:bodyPr/>
          <a:lstStyle/>
          <a:p>
            <a:r>
              <a:rPr lang="en-AU" i="1" dirty="0"/>
              <a:t>See page of notes in workbook</a:t>
            </a:r>
          </a:p>
        </p:txBody>
      </p:sp>
    </p:spTree>
    <p:extLst>
      <p:ext uri="{BB962C8B-B14F-4D97-AF65-F5344CB8AC3E}">
        <p14:creationId xmlns:p14="http://schemas.microsoft.com/office/powerpoint/2010/main" val="20357065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Contact Process</a:t>
            </a:r>
          </a:p>
        </p:txBody>
      </p:sp>
      <p:sp>
        <p:nvSpPr>
          <p:cNvPr id="3" name="Content Placeholder 2"/>
          <p:cNvSpPr>
            <a:spLocks noGrp="1"/>
          </p:cNvSpPr>
          <p:nvPr>
            <p:ph idx="1"/>
          </p:nvPr>
        </p:nvSpPr>
        <p:spPr/>
        <p:txBody>
          <a:bodyPr/>
          <a:lstStyle/>
          <a:p>
            <a:r>
              <a:rPr lang="en-AU" i="1" dirty="0"/>
              <a:t>See page of notes in workbook</a:t>
            </a:r>
          </a:p>
        </p:txBody>
      </p:sp>
    </p:spTree>
    <p:extLst>
      <p:ext uri="{BB962C8B-B14F-4D97-AF65-F5344CB8AC3E}">
        <p14:creationId xmlns:p14="http://schemas.microsoft.com/office/powerpoint/2010/main" val="4109420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clker.com/cliparts/O/l/d/s/i/S/check-mark-h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5" y="4106862"/>
            <a:ext cx="2022475" cy="2041237"/>
          </a:xfrm>
          <a:prstGeom prst="rect">
            <a:avLst/>
          </a:prstGeom>
          <a:solidFill>
            <a:schemeClr val="bg1"/>
          </a:solidFill>
        </p:spPr>
      </p:pic>
      <p:sp>
        <p:nvSpPr>
          <p:cNvPr id="2" name="Title 1"/>
          <p:cNvSpPr>
            <a:spLocks noGrp="1"/>
          </p:cNvSpPr>
          <p:nvPr>
            <p:ph type="title"/>
          </p:nvPr>
        </p:nvSpPr>
        <p:spPr/>
        <p:txBody>
          <a:bodyPr/>
          <a:lstStyle/>
          <a:p>
            <a:r>
              <a:rPr lang="en-US" dirty="0"/>
              <a:t>Syllabus</a:t>
            </a:r>
            <a:endParaRPr lang="en-AU" dirty="0"/>
          </a:p>
        </p:txBody>
      </p:sp>
      <p:sp>
        <p:nvSpPr>
          <p:cNvPr id="3" name="Content Placeholder 2"/>
          <p:cNvSpPr>
            <a:spLocks noGrp="1"/>
          </p:cNvSpPr>
          <p:nvPr>
            <p:ph idx="1"/>
          </p:nvPr>
        </p:nvSpPr>
        <p:spPr/>
        <p:txBody>
          <a:bodyPr>
            <a:normAutofit/>
          </a:bodyPr>
          <a:lstStyle/>
          <a:p>
            <a:pPr lvl="0">
              <a:lnSpc>
                <a:spcPct val="100000"/>
              </a:lnSpc>
            </a:pPr>
            <a:r>
              <a:rPr lang="en-AU" sz="2400" dirty="0"/>
              <a:t>reagents and reaction conditions are chosen to optimise yield and rate for chemical synthesis processes, including:</a:t>
            </a:r>
          </a:p>
          <a:p>
            <a:pPr lvl="0">
              <a:lnSpc>
                <a:spcPct val="100000"/>
              </a:lnSpc>
            </a:pPr>
            <a:r>
              <a:rPr lang="en-AU" sz="2400" dirty="0"/>
              <a:t>o	the production of ammonia (Haber process)</a:t>
            </a:r>
          </a:p>
          <a:p>
            <a:pPr lvl="0">
              <a:lnSpc>
                <a:spcPct val="100000"/>
              </a:lnSpc>
            </a:pPr>
            <a:r>
              <a:rPr lang="en-AU" sz="2400" dirty="0"/>
              <a:t>o	the production of sulfuric acid (Contact process)</a:t>
            </a:r>
          </a:p>
          <a:p>
            <a:pPr lvl="0">
              <a:lnSpc>
                <a:spcPct val="100000"/>
              </a:lnSpc>
            </a:pPr>
            <a:endParaRPr lang="en-AU" sz="2400" dirty="0"/>
          </a:p>
          <a:p>
            <a:pPr lvl="0">
              <a:lnSpc>
                <a:spcPct val="100000"/>
              </a:lnSpc>
            </a:pPr>
            <a:endParaRPr lang="en-US" sz="2400" dirty="0"/>
          </a:p>
          <a:p>
            <a:pPr lvl="0">
              <a:lnSpc>
                <a:spcPct val="100000"/>
              </a:lnSpc>
            </a:pPr>
            <a:endParaRPr lang="en-AU" sz="2400" dirty="0"/>
          </a:p>
        </p:txBody>
      </p:sp>
    </p:spTree>
    <p:extLst>
      <p:ext uri="{BB962C8B-B14F-4D97-AF65-F5344CB8AC3E}">
        <p14:creationId xmlns:p14="http://schemas.microsoft.com/office/powerpoint/2010/main" val="21514538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Reaction Sequences</a:t>
            </a:r>
          </a:p>
        </p:txBody>
      </p:sp>
      <p:sp>
        <p:nvSpPr>
          <p:cNvPr id="3" name="Content Placeholder 2"/>
          <p:cNvSpPr>
            <a:spLocks noGrp="1"/>
          </p:cNvSpPr>
          <p:nvPr>
            <p:ph idx="1"/>
          </p:nvPr>
        </p:nvSpPr>
        <p:spPr/>
        <p:txBody>
          <a:bodyPr/>
          <a:lstStyle/>
          <a:p>
            <a:r>
              <a:rPr lang="en-AU" dirty="0"/>
              <a:t>Chemical synthesis often involves multiple reaction steps. </a:t>
            </a:r>
          </a:p>
          <a:p>
            <a:endParaRPr lang="en-AU" dirty="0"/>
          </a:p>
          <a:p>
            <a:r>
              <a:rPr lang="en-AU" b="1" dirty="0"/>
              <a:t>Linear Sequence:</a:t>
            </a:r>
          </a:p>
        </p:txBody>
      </p:sp>
      <p:grpSp>
        <p:nvGrpSpPr>
          <p:cNvPr id="26" name="Group 25"/>
          <p:cNvGrpSpPr/>
          <p:nvPr/>
        </p:nvGrpSpPr>
        <p:grpSpPr>
          <a:xfrm>
            <a:off x="2201460" y="3596049"/>
            <a:ext cx="7850039" cy="1861918"/>
            <a:chOff x="1647645" y="2725947"/>
            <a:chExt cx="7850039" cy="1861918"/>
          </a:xfrm>
        </p:grpSpPr>
        <p:sp>
          <p:nvSpPr>
            <p:cNvPr id="5" name="Rectangle: Rounded Corners 4"/>
            <p:cNvSpPr/>
            <p:nvPr/>
          </p:nvSpPr>
          <p:spPr>
            <a:xfrm>
              <a:off x="1647645" y="3381555"/>
              <a:ext cx="879895" cy="3795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AU" dirty="0"/>
                <a:t>S</a:t>
              </a:r>
            </a:p>
          </p:txBody>
        </p:sp>
        <p:cxnSp>
          <p:nvCxnSpPr>
            <p:cNvPr id="7" name="Straight Arrow Connector 6"/>
            <p:cNvCxnSpPr>
              <a:stCxn id="5" idx="3"/>
            </p:cNvCxnSpPr>
            <p:nvPr/>
          </p:nvCxnSpPr>
          <p:spPr>
            <a:xfrm>
              <a:off x="2527540" y="3571336"/>
              <a:ext cx="862641" cy="172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Rounded Corners 7"/>
            <p:cNvSpPr/>
            <p:nvPr/>
          </p:nvSpPr>
          <p:spPr>
            <a:xfrm>
              <a:off x="3390181" y="3390181"/>
              <a:ext cx="879895" cy="3795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AU" dirty="0"/>
                <a:t>SO</a:t>
              </a:r>
              <a:r>
                <a:rPr lang="en-AU" baseline="-25000" dirty="0"/>
                <a:t>2</a:t>
              </a:r>
              <a:endParaRPr lang="en-AU" dirty="0"/>
            </a:p>
          </p:txBody>
        </p:sp>
        <p:cxnSp>
          <p:nvCxnSpPr>
            <p:cNvPr id="9" name="Straight Arrow Connector 8"/>
            <p:cNvCxnSpPr/>
            <p:nvPr/>
          </p:nvCxnSpPr>
          <p:spPr>
            <a:xfrm>
              <a:off x="4270076" y="3571336"/>
              <a:ext cx="862641" cy="172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Rounded Corners 9"/>
            <p:cNvSpPr/>
            <p:nvPr/>
          </p:nvSpPr>
          <p:spPr>
            <a:xfrm>
              <a:off x="5132717" y="3390181"/>
              <a:ext cx="879895" cy="3795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AU" dirty="0"/>
                <a:t>SO</a:t>
              </a:r>
              <a:r>
                <a:rPr lang="en-AU" baseline="-25000" dirty="0"/>
                <a:t>3</a:t>
              </a:r>
              <a:endParaRPr lang="en-AU" dirty="0"/>
            </a:p>
          </p:txBody>
        </p:sp>
        <p:cxnSp>
          <p:nvCxnSpPr>
            <p:cNvPr id="11" name="Straight Arrow Connector 10"/>
            <p:cNvCxnSpPr/>
            <p:nvPr/>
          </p:nvCxnSpPr>
          <p:spPr>
            <a:xfrm>
              <a:off x="6012612" y="3571336"/>
              <a:ext cx="862641" cy="172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Rectangle: Rounded Corners 11"/>
            <p:cNvSpPr/>
            <p:nvPr/>
          </p:nvSpPr>
          <p:spPr>
            <a:xfrm>
              <a:off x="6875253" y="3390181"/>
              <a:ext cx="879895" cy="3795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AU" dirty="0"/>
                <a:t>H</a:t>
              </a:r>
              <a:r>
                <a:rPr lang="en-AU" baseline="-25000" dirty="0"/>
                <a:t>2</a:t>
              </a:r>
              <a:r>
                <a:rPr lang="en-AU" dirty="0"/>
                <a:t>S</a:t>
              </a:r>
              <a:r>
                <a:rPr lang="en-AU" baseline="-25000" dirty="0"/>
                <a:t>2</a:t>
              </a:r>
              <a:r>
                <a:rPr lang="en-AU" dirty="0"/>
                <a:t>O</a:t>
              </a:r>
              <a:r>
                <a:rPr lang="en-AU" baseline="-25000" dirty="0"/>
                <a:t>7</a:t>
              </a:r>
              <a:endParaRPr lang="en-AU" dirty="0"/>
            </a:p>
          </p:txBody>
        </p:sp>
        <p:cxnSp>
          <p:nvCxnSpPr>
            <p:cNvPr id="13" name="Straight Arrow Connector 12"/>
            <p:cNvCxnSpPr/>
            <p:nvPr/>
          </p:nvCxnSpPr>
          <p:spPr>
            <a:xfrm>
              <a:off x="7755148" y="3571336"/>
              <a:ext cx="862641" cy="172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Rounded Corners 13"/>
            <p:cNvSpPr/>
            <p:nvPr/>
          </p:nvSpPr>
          <p:spPr>
            <a:xfrm>
              <a:off x="8617789" y="3390181"/>
              <a:ext cx="879895" cy="37956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AU" dirty="0"/>
                <a:t>H</a:t>
              </a:r>
              <a:r>
                <a:rPr lang="en-AU" baseline="-25000" dirty="0"/>
                <a:t>2</a:t>
              </a:r>
              <a:r>
                <a:rPr lang="en-AU" dirty="0"/>
                <a:t>SO</a:t>
              </a:r>
              <a:r>
                <a:rPr lang="en-AU" baseline="-25000" dirty="0"/>
                <a:t>4</a:t>
              </a:r>
              <a:endParaRPr lang="en-AU" dirty="0"/>
            </a:p>
          </p:txBody>
        </p:sp>
        <p:sp>
          <p:nvSpPr>
            <p:cNvPr id="15" name="Arc 14"/>
            <p:cNvSpPr/>
            <p:nvPr/>
          </p:nvSpPr>
          <p:spPr>
            <a:xfrm>
              <a:off x="2655210" y="2725947"/>
              <a:ext cx="845389" cy="845389"/>
            </a:xfrm>
            <a:prstGeom prst="arc">
              <a:avLst>
                <a:gd name="adj1" fmla="val 5350142"/>
                <a:gd name="adj2" fmla="val 10410797"/>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6" name="Arc 15"/>
            <p:cNvSpPr/>
            <p:nvPr/>
          </p:nvSpPr>
          <p:spPr>
            <a:xfrm>
              <a:off x="4380494" y="2725947"/>
              <a:ext cx="845389" cy="845389"/>
            </a:xfrm>
            <a:prstGeom prst="arc">
              <a:avLst>
                <a:gd name="adj1" fmla="val 5350142"/>
                <a:gd name="adj2" fmla="val 10410797"/>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7" name="Arc 16"/>
            <p:cNvSpPr/>
            <p:nvPr/>
          </p:nvSpPr>
          <p:spPr>
            <a:xfrm>
              <a:off x="6140282" y="2725947"/>
              <a:ext cx="845389" cy="845389"/>
            </a:xfrm>
            <a:prstGeom prst="arc">
              <a:avLst>
                <a:gd name="adj1" fmla="val 5350142"/>
                <a:gd name="adj2" fmla="val 10410797"/>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8" name="Arc 17"/>
            <p:cNvSpPr/>
            <p:nvPr/>
          </p:nvSpPr>
          <p:spPr>
            <a:xfrm>
              <a:off x="7900070" y="2725947"/>
              <a:ext cx="845389" cy="845389"/>
            </a:xfrm>
            <a:prstGeom prst="arc">
              <a:avLst>
                <a:gd name="adj1" fmla="val 5350142"/>
                <a:gd name="adj2" fmla="val 10410797"/>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9" name="TextBox 18"/>
            <p:cNvSpPr txBox="1"/>
            <p:nvPr/>
          </p:nvSpPr>
          <p:spPr>
            <a:xfrm>
              <a:off x="2473109" y="2901250"/>
              <a:ext cx="364202" cy="307777"/>
            </a:xfrm>
            <a:prstGeom prst="rect">
              <a:avLst/>
            </a:prstGeom>
            <a:noFill/>
          </p:spPr>
          <p:txBody>
            <a:bodyPr wrap="none" rtlCol="0">
              <a:spAutoFit/>
            </a:bodyPr>
            <a:lstStyle/>
            <a:p>
              <a:r>
                <a:rPr lang="en-AU" sz="1400" dirty="0"/>
                <a:t>O</a:t>
              </a:r>
              <a:r>
                <a:rPr lang="en-AU" sz="1400" baseline="-25000" dirty="0"/>
                <a:t>2</a:t>
              </a:r>
              <a:endParaRPr lang="en-AU" sz="1400" dirty="0"/>
            </a:p>
          </p:txBody>
        </p:sp>
        <p:sp>
          <p:nvSpPr>
            <p:cNvPr id="20" name="TextBox 19"/>
            <p:cNvSpPr txBox="1"/>
            <p:nvPr/>
          </p:nvSpPr>
          <p:spPr>
            <a:xfrm>
              <a:off x="4232897" y="2901250"/>
              <a:ext cx="364202" cy="307777"/>
            </a:xfrm>
            <a:prstGeom prst="rect">
              <a:avLst/>
            </a:prstGeom>
            <a:noFill/>
          </p:spPr>
          <p:txBody>
            <a:bodyPr wrap="none" rtlCol="0">
              <a:spAutoFit/>
            </a:bodyPr>
            <a:lstStyle/>
            <a:p>
              <a:r>
                <a:rPr lang="en-AU" sz="1400" dirty="0"/>
                <a:t>O</a:t>
              </a:r>
              <a:r>
                <a:rPr lang="en-AU" sz="1400" baseline="-25000" dirty="0"/>
                <a:t>2</a:t>
              </a:r>
              <a:endParaRPr lang="en-AU" sz="1400" dirty="0"/>
            </a:p>
          </p:txBody>
        </p:sp>
        <p:sp>
          <p:nvSpPr>
            <p:cNvPr id="21" name="TextBox 20"/>
            <p:cNvSpPr txBox="1"/>
            <p:nvPr/>
          </p:nvSpPr>
          <p:spPr>
            <a:xfrm>
              <a:off x="5830742" y="2901250"/>
              <a:ext cx="619080" cy="307777"/>
            </a:xfrm>
            <a:prstGeom prst="rect">
              <a:avLst/>
            </a:prstGeom>
            <a:noFill/>
          </p:spPr>
          <p:txBody>
            <a:bodyPr wrap="none" rtlCol="0">
              <a:spAutoFit/>
            </a:bodyPr>
            <a:lstStyle/>
            <a:p>
              <a:r>
                <a:rPr lang="en-AU" sz="1400" dirty="0"/>
                <a:t>H</a:t>
              </a:r>
              <a:r>
                <a:rPr lang="en-AU" sz="1400" baseline="-25000" dirty="0"/>
                <a:t>2</a:t>
              </a:r>
              <a:r>
                <a:rPr lang="en-AU" sz="1400" dirty="0"/>
                <a:t>SO</a:t>
              </a:r>
              <a:r>
                <a:rPr lang="en-AU" sz="1400" baseline="-25000" dirty="0"/>
                <a:t>4</a:t>
              </a:r>
              <a:endParaRPr lang="en-AU" sz="1400" dirty="0"/>
            </a:p>
          </p:txBody>
        </p:sp>
        <p:sp>
          <p:nvSpPr>
            <p:cNvPr id="22" name="TextBox 21"/>
            <p:cNvSpPr txBox="1"/>
            <p:nvPr/>
          </p:nvSpPr>
          <p:spPr>
            <a:xfrm>
              <a:off x="7661864" y="2901250"/>
              <a:ext cx="476412" cy="307777"/>
            </a:xfrm>
            <a:prstGeom prst="rect">
              <a:avLst/>
            </a:prstGeom>
            <a:noFill/>
          </p:spPr>
          <p:txBody>
            <a:bodyPr wrap="none" rtlCol="0">
              <a:spAutoFit/>
            </a:bodyPr>
            <a:lstStyle/>
            <a:p>
              <a:r>
                <a:rPr lang="en-AU" sz="1400" dirty="0"/>
                <a:t>H</a:t>
              </a:r>
              <a:r>
                <a:rPr lang="en-AU" sz="1400" baseline="-25000" dirty="0"/>
                <a:t>2</a:t>
              </a:r>
              <a:r>
                <a:rPr lang="en-AU" sz="1400" dirty="0"/>
                <a:t>O</a:t>
              </a:r>
            </a:p>
          </p:txBody>
        </p:sp>
        <p:sp>
          <p:nvSpPr>
            <p:cNvPr id="23" name="Right Brace 22"/>
            <p:cNvSpPr/>
            <p:nvPr/>
          </p:nvSpPr>
          <p:spPr>
            <a:xfrm rot="5400000">
              <a:off x="5398589" y="1675072"/>
              <a:ext cx="391282" cy="4787660"/>
            </a:xfrm>
            <a:prstGeom prst="rightBrace">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25" name="TextBox 24"/>
            <p:cNvSpPr txBox="1"/>
            <p:nvPr/>
          </p:nvSpPr>
          <p:spPr>
            <a:xfrm>
              <a:off x="4976494" y="4280088"/>
              <a:ext cx="1381173" cy="307777"/>
            </a:xfrm>
            <a:prstGeom prst="rect">
              <a:avLst/>
            </a:prstGeom>
            <a:noFill/>
          </p:spPr>
          <p:txBody>
            <a:bodyPr wrap="square" rtlCol="0">
              <a:spAutoFit/>
            </a:bodyPr>
            <a:lstStyle/>
            <a:p>
              <a:r>
                <a:rPr lang="en-AU" sz="1400" b="1" dirty="0">
                  <a:solidFill>
                    <a:srgbClr val="0070C0"/>
                  </a:solidFill>
                </a:rPr>
                <a:t>Intermediates</a:t>
              </a:r>
            </a:p>
          </p:txBody>
        </p:sp>
      </p:grpSp>
      <p:pic>
        <p:nvPicPr>
          <p:cNvPr id="4" name="Picture 3"/>
          <p:cNvPicPr>
            <a:picLocks noChangeAspect="1"/>
          </p:cNvPicPr>
          <p:nvPr/>
        </p:nvPicPr>
        <p:blipFill>
          <a:blip r:embed="rId2"/>
          <a:stretch>
            <a:fillRect/>
          </a:stretch>
        </p:blipFill>
        <p:spPr>
          <a:xfrm>
            <a:off x="3717076" y="2785591"/>
            <a:ext cx="4324350" cy="438150"/>
          </a:xfrm>
          <a:prstGeom prst="rect">
            <a:avLst/>
          </a:prstGeom>
        </p:spPr>
      </p:pic>
    </p:spTree>
    <p:extLst>
      <p:ext uri="{BB962C8B-B14F-4D97-AF65-F5344CB8AC3E}">
        <p14:creationId xmlns:p14="http://schemas.microsoft.com/office/powerpoint/2010/main" val="3951381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Reaction Sequences</a:t>
            </a:r>
          </a:p>
        </p:txBody>
      </p:sp>
      <p:sp>
        <p:nvSpPr>
          <p:cNvPr id="3" name="Content Placeholder 2"/>
          <p:cNvSpPr>
            <a:spLocks noGrp="1"/>
          </p:cNvSpPr>
          <p:nvPr>
            <p:ph idx="1"/>
          </p:nvPr>
        </p:nvSpPr>
        <p:spPr/>
        <p:txBody>
          <a:bodyPr/>
          <a:lstStyle/>
          <a:p>
            <a:r>
              <a:rPr lang="en-AU" b="1" dirty="0"/>
              <a:t>Convergent Sequence:</a:t>
            </a:r>
          </a:p>
        </p:txBody>
      </p:sp>
      <p:pic>
        <p:nvPicPr>
          <p:cNvPr id="6" name="Picture 5"/>
          <p:cNvPicPr>
            <a:picLocks noChangeAspect="1"/>
          </p:cNvPicPr>
          <p:nvPr/>
        </p:nvPicPr>
        <p:blipFill>
          <a:blip r:embed="rId2"/>
          <a:stretch>
            <a:fillRect/>
          </a:stretch>
        </p:blipFill>
        <p:spPr>
          <a:xfrm>
            <a:off x="4054414" y="1836260"/>
            <a:ext cx="2657748" cy="916465"/>
          </a:xfrm>
          <a:prstGeom prst="rect">
            <a:avLst/>
          </a:prstGeom>
        </p:spPr>
      </p:pic>
      <p:pic>
        <p:nvPicPr>
          <p:cNvPr id="2058" name="Picture 10" descr="https://upload.wikimedia.org/wikipedia/commons/thumb/8/8d/Ethene-2D-flat.png/643px-Ethene-2D-flat.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132435" y="3303434"/>
            <a:ext cx="774639" cy="722820"/>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p:cNvSpPr/>
          <p:nvPr/>
        </p:nvSpPr>
        <p:spPr>
          <a:xfrm>
            <a:off x="8492285" y="3947398"/>
            <a:ext cx="3615022" cy="13128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36" name="Rectangle 35"/>
          <p:cNvSpPr/>
          <p:nvPr/>
        </p:nvSpPr>
        <p:spPr>
          <a:xfrm>
            <a:off x="2667684" y="4967671"/>
            <a:ext cx="2184399"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grpSp>
        <p:nvGrpSpPr>
          <p:cNvPr id="29" name="Group 28"/>
          <p:cNvGrpSpPr/>
          <p:nvPr/>
        </p:nvGrpSpPr>
        <p:grpSpPr>
          <a:xfrm>
            <a:off x="183039" y="4967671"/>
            <a:ext cx="1884350" cy="1104932"/>
            <a:chOff x="183039" y="4967671"/>
            <a:chExt cx="1884350" cy="1104932"/>
          </a:xfrm>
        </p:grpSpPr>
        <p:pic>
          <p:nvPicPr>
            <p:cNvPr id="27" name="Picture 26"/>
            <p:cNvPicPr>
              <a:picLocks noChangeAspect="1"/>
            </p:cNvPicPr>
            <p:nvPr/>
          </p:nvPicPr>
          <p:blipFill>
            <a:blip r:embed="rId4"/>
            <a:stretch>
              <a:fillRect/>
            </a:stretch>
          </p:blipFill>
          <p:spPr>
            <a:xfrm>
              <a:off x="279462" y="5087928"/>
              <a:ext cx="1577340" cy="876300"/>
            </a:xfrm>
            <a:prstGeom prst="rect">
              <a:avLst/>
            </a:prstGeom>
          </p:spPr>
        </p:pic>
        <p:sp>
          <p:nvSpPr>
            <p:cNvPr id="39" name="Rectangle 38"/>
            <p:cNvSpPr/>
            <p:nvPr/>
          </p:nvSpPr>
          <p:spPr>
            <a:xfrm>
              <a:off x="183039" y="4967671"/>
              <a:ext cx="1884350"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grpSp>
      <p:sp>
        <p:nvSpPr>
          <p:cNvPr id="40" name="Rectangle 39"/>
          <p:cNvSpPr/>
          <p:nvPr/>
        </p:nvSpPr>
        <p:spPr>
          <a:xfrm>
            <a:off x="5452378" y="4967671"/>
            <a:ext cx="2184399"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41" name="Rectangle 40"/>
          <p:cNvSpPr/>
          <p:nvPr/>
        </p:nvSpPr>
        <p:spPr>
          <a:xfrm>
            <a:off x="6115321" y="3112377"/>
            <a:ext cx="1526392"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42" name="Rectangle 41"/>
          <p:cNvSpPr/>
          <p:nvPr/>
        </p:nvSpPr>
        <p:spPr>
          <a:xfrm>
            <a:off x="3802026" y="3112377"/>
            <a:ext cx="1526392"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cxnSp>
        <p:nvCxnSpPr>
          <p:cNvPr id="2049" name="Straight Arrow Connector 2048"/>
          <p:cNvCxnSpPr>
            <a:stCxn id="39" idx="3"/>
            <a:endCxn id="36" idx="1"/>
          </p:cNvCxnSpPr>
          <p:nvPr/>
        </p:nvCxnSpPr>
        <p:spPr>
          <a:xfrm>
            <a:off x="2067389" y="5520137"/>
            <a:ext cx="60029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4852083" y="5520137"/>
            <a:ext cx="60029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p:cNvCxnSpPr>
            <a:stCxn id="42" idx="3"/>
          </p:cNvCxnSpPr>
          <p:nvPr/>
        </p:nvCxnSpPr>
        <p:spPr>
          <a:xfrm>
            <a:off x="5328418" y="3664843"/>
            <a:ext cx="7869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a:off x="7979434" y="4616000"/>
            <a:ext cx="5128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57" name="Straight Connector 2056"/>
          <p:cNvCxnSpPr>
            <a:stCxn id="41" idx="3"/>
          </p:cNvCxnSpPr>
          <p:nvPr/>
        </p:nvCxnSpPr>
        <p:spPr>
          <a:xfrm>
            <a:off x="7641713" y="3664843"/>
            <a:ext cx="337721" cy="951157"/>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flipH="1">
            <a:off x="7636777" y="4603819"/>
            <a:ext cx="337721" cy="951157"/>
          </a:xfrm>
          <a:prstGeom prst="line">
            <a:avLst/>
          </a:prstGeom>
        </p:spPr>
        <p:style>
          <a:lnRef idx="1">
            <a:schemeClr val="dk1"/>
          </a:lnRef>
          <a:fillRef idx="0">
            <a:schemeClr val="dk1"/>
          </a:fillRef>
          <a:effectRef idx="0">
            <a:schemeClr val="dk1"/>
          </a:effectRef>
          <a:fontRef idx="minor">
            <a:schemeClr val="tx1"/>
          </a:fontRef>
        </p:style>
      </p:cxnSp>
      <p:sp>
        <p:nvSpPr>
          <p:cNvPr id="2061" name="TextBox 2060"/>
          <p:cNvSpPr txBox="1"/>
          <p:nvPr/>
        </p:nvSpPr>
        <p:spPr>
          <a:xfrm>
            <a:off x="9533107" y="5323378"/>
            <a:ext cx="2222868" cy="369332"/>
          </a:xfrm>
          <a:prstGeom prst="rect">
            <a:avLst/>
          </a:prstGeom>
          <a:noFill/>
        </p:spPr>
        <p:txBody>
          <a:bodyPr wrap="square" rtlCol="0">
            <a:spAutoFit/>
          </a:bodyPr>
          <a:lstStyle/>
          <a:p>
            <a:r>
              <a:rPr lang="en-AU" dirty="0"/>
              <a:t>Ethyl butanoate</a:t>
            </a:r>
          </a:p>
        </p:txBody>
      </p:sp>
      <p:pic>
        <p:nvPicPr>
          <p:cNvPr id="2064" name="Picture 16" descr="http://50.19.212.204/resources/models360/files/7762/ethyl_butanoate-lewis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54893" y="4049140"/>
            <a:ext cx="3543757" cy="1081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2068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Reaction Sequences</a:t>
            </a:r>
          </a:p>
        </p:txBody>
      </p:sp>
      <p:sp>
        <p:nvSpPr>
          <p:cNvPr id="3" name="Content Placeholder 2"/>
          <p:cNvSpPr>
            <a:spLocks noGrp="1"/>
          </p:cNvSpPr>
          <p:nvPr>
            <p:ph idx="1"/>
          </p:nvPr>
        </p:nvSpPr>
        <p:spPr/>
        <p:txBody>
          <a:bodyPr/>
          <a:lstStyle/>
          <a:p>
            <a:r>
              <a:rPr lang="en-AU" b="1" dirty="0"/>
              <a:t>Convergent Sequence:</a:t>
            </a:r>
          </a:p>
        </p:txBody>
      </p:sp>
      <p:pic>
        <p:nvPicPr>
          <p:cNvPr id="6" name="Picture 5"/>
          <p:cNvPicPr>
            <a:picLocks noChangeAspect="1"/>
          </p:cNvPicPr>
          <p:nvPr/>
        </p:nvPicPr>
        <p:blipFill>
          <a:blip r:embed="rId2"/>
          <a:stretch>
            <a:fillRect/>
          </a:stretch>
        </p:blipFill>
        <p:spPr>
          <a:xfrm>
            <a:off x="4054414" y="1836260"/>
            <a:ext cx="2657748" cy="916465"/>
          </a:xfrm>
          <a:prstGeom prst="rect">
            <a:avLst/>
          </a:prstGeom>
        </p:spPr>
      </p:pic>
      <p:pic>
        <p:nvPicPr>
          <p:cNvPr id="2058" name="Picture 10" descr="https://upload.wikimedia.org/wikipedia/commons/thumb/8/8d/Ethene-2D-flat.png/643px-Ethene-2D-flat.png"/>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132435" y="3303434"/>
            <a:ext cx="774639" cy="72282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http://www.power-technology.com/projects/shoalhaven-ethanol/images/3-ethanol.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1811" y="3226686"/>
            <a:ext cx="1413411" cy="876315"/>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p:cNvSpPr/>
          <p:nvPr/>
        </p:nvSpPr>
        <p:spPr>
          <a:xfrm>
            <a:off x="8492285" y="3947398"/>
            <a:ext cx="3615022" cy="131284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grpSp>
        <p:nvGrpSpPr>
          <p:cNvPr id="30" name="Group 29"/>
          <p:cNvGrpSpPr/>
          <p:nvPr/>
        </p:nvGrpSpPr>
        <p:grpSpPr>
          <a:xfrm>
            <a:off x="2667684" y="4967671"/>
            <a:ext cx="2184399" cy="1104932"/>
            <a:chOff x="2957235" y="4872537"/>
            <a:chExt cx="2184399" cy="1104932"/>
          </a:xfrm>
        </p:grpSpPr>
        <p:pic>
          <p:nvPicPr>
            <p:cNvPr id="2052" name="Picture 4" descr="https://upload.wikimedia.org/wikipedia/commons/thumb/2/27/Butan-1-ol_Lewis.svg/800px-Butan-1-ol_Lewis.svg.png"/>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3061893" y="4983269"/>
              <a:ext cx="1985042" cy="885825"/>
            </a:xfrm>
            <a:prstGeom prst="rect">
              <a:avLst/>
            </a:prstGeom>
            <a:noFill/>
            <a:extLst>
              <a:ext uri="{909E8E84-426E-40DD-AFC4-6F175D3DCCD1}">
                <a14:hiddenFill xmlns:a14="http://schemas.microsoft.com/office/drawing/2010/main">
                  <a:solidFill>
                    <a:srgbClr val="FFFFFF"/>
                  </a:solidFill>
                </a14:hiddenFill>
              </a:ext>
            </a:extLst>
          </p:spPr>
        </p:pic>
        <p:sp>
          <p:nvSpPr>
            <p:cNvPr id="36" name="Rectangle 35"/>
            <p:cNvSpPr/>
            <p:nvPr/>
          </p:nvSpPr>
          <p:spPr>
            <a:xfrm>
              <a:off x="2957235" y="4872537"/>
              <a:ext cx="2184399"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grpSp>
      <p:grpSp>
        <p:nvGrpSpPr>
          <p:cNvPr id="29" name="Group 28"/>
          <p:cNvGrpSpPr/>
          <p:nvPr/>
        </p:nvGrpSpPr>
        <p:grpSpPr>
          <a:xfrm>
            <a:off x="183039" y="4967671"/>
            <a:ext cx="1884350" cy="1104932"/>
            <a:chOff x="183039" y="4967671"/>
            <a:chExt cx="1884350" cy="1104932"/>
          </a:xfrm>
        </p:grpSpPr>
        <p:pic>
          <p:nvPicPr>
            <p:cNvPr id="27" name="Picture 26"/>
            <p:cNvPicPr>
              <a:picLocks noChangeAspect="1"/>
            </p:cNvPicPr>
            <p:nvPr/>
          </p:nvPicPr>
          <p:blipFill>
            <a:blip r:embed="rId6"/>
            <a:stretch>
              <a:fillRect/>
            </a:stretch>
          </p:blipFill>
          <p:spPr>
            <a:xfrm>
              <a:off x="279462" y="5087928"/>
              <a:ext cx="1577340" cy="876300"/>
            </a:xfrm>
            <a:prstGeom prst="rect">
              <a:avLst/>
            </a:prstGeom>
          </p:spPr>
        </p:pic>
        <p:sp>
          <p:nvSpPr>
            <p:cNvPr id="39" name="Rectangle 38"/>
            <p:cNvSpPr/>
            <p:nvPr/>
          </p:nvSpPr>
          <p:spPr>
            <a:xfrm>
              <a:off x="183039" y="4967671"/>
              <a:ext cx="1884350"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grpSp>
      <p:grpSp>
        <p:nvGrpSpPr>
          <p:cNvPr id="31" name="Group 30"/>
          <p:cNvGrpSpPr/>
          <p:nvPr/>
        </p:nvGrpSpPr>
        <p:grpSpPr>
          <a:xfrm>
            <a:off x="5452378" y="4967671"/>
            <a:ext cx="2184399" cy="1104932"/>
            <a:chOff x="5452378" y="4872537"/>
            <a:chExt cx="2184399" cy="1104932"/>
          </a:xfrm>
        </p:grpSpPr>
        <p:pic>
          <p:nvPicPr>
            <p:cNvPr id="2056" name="Picture 8" descr="http://4.bp.blogspot.com/-nhPLBj5UXJw/UXUALSR6zvI/AAAAAAAAL0k/UB5bjBxpOHc/s1600/Butyric_acid_flat_structure.png"/>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5596434" y="4977685"/>
              <a:ext cx="1866826" cy="891409"/>
            </a:xfrm>
            <a:prstGeom prst="rect">
              <a:avLst/>
            </a:prstGeom>
            <a:noFill/>
            <a:extLst>
              <a:ext uri="{909E8E84-426E-40DD-AFC4-6F175D3DCCD1}">
                <a14:hiddenFill xmlns:a14="http://schemas.microsoft.com/office/drawing/2010/main">
                  <a:solidFill>
                    <a:srgbClr val="FFFFFF"/>
                  </a:solidFill>
                </a14:hiddenFill>
              </a:ext>
            </a:extLst>
          </p:spPr>
        </p:pic>
        <p:sp>
          <p:nvSpPr>
            <p:cNvPr id="40" name="Rectangle 39"/>
            <p:cNvSpPr/>
            <p:nvPr/>
          </p:nvSpPr>
          <p:spPr>
            <a:xfrm>
              <a:off x="5452378" y="4872537"/>
              <a:ext cx="2184399"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grpSp>
      <p:sp>
        <p:nvSpPr>
          <p:cNvPr id="41" name="Rectangle 40"/>
          <p:cNvSpPr/>
          <p:nvPr/>
        </p:nvSpPr>
        <p:spPr>
          <a:xfrm>
            <a:off x="6115321" y="3112377"/>
            <a:ext cx="1526392"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42" name="Rectangle 41"/>
          <p:cNvSpPr/>
          <p:nvPr/>
        </p:nvSpPr>
        <p:spPr>
          <a:xfrm>
            <a:off x="3802026" y="3112377"/>
            <a:ext cx="1526392" cy="110493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cxnSp>
        <p:nvCxnSpPr>
          <p:cNvPr id="2049" name="Straight Arrow Connector 2048"/>
          <p:cNvCxnSpPr>
            <a:stCxn id="39" idx="3"/>
            <a:endCxn id="36" idx="1"/>
          </p:cNvCxnSpPr>
          <p:nvPr/>
        </p:nvCxnSpPr>
        <p:spPr>
          <a:xfrm>
            <a:off x="2067389" y="5520137"/>
            <a:ext cx="60029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p:nvPr/>
        </p:nvCxnSpPr>
        <p:spPr>
          <a:xfrm>
            <a:off x="4852083" y="5520137"/>
            <a:ext cx="60029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p:cNvCxnSpPr>
            <a:stCxn id="42" idx="3"/>
          </p:cNvCxnSpPr>
          <p:nvPr/>
        </p:nvCxnSpPr>
        <p:spPr>
          <a:xfrm>
            <a:off x="5328418" y="3664843"/>
            <a:ext cx="78690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a:off x="7979434" y="4616000"/>
            <a:ext cx="5128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57" name="Straight Connector 2056"/>
          <p:cNvCxnSpPr>
            <a:stCxn id="41" idx="3"/>
          </p:cNvCxnSpPr>
          <p:nvPr/>
        </p:nvCxnSpPr>
        <p:spPr>
          <a:xfrm>
            <a:off x="7641713" y="3664843"/>
            <a:ext cx="337721" cy="951157"/>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flipH="1">
            <a:off x="7636777" y="4603819"/>
            <a:ext cx="337721" cy="951157"/>
          </a:xfrm>
          <a:prstGeom prst="line">
            <a:avLst/>
          </a:prstGeom>
        </p:spPr>
        <p:style>
          <a:lnRef idx="1">
            <a:schemeClr val="dk1"/>
          </a:lnRef>
          <a:fillRef idx="0">
            <a:schemeClr val="dk1"/>
          </a:fillRef>
          <a:effectRef idx="0">
            <a:schemeClr val="dk1"/>
          </a:effectRef>
          <a:fontRef idx="minor">
            <a:schemeClr val="tx1"/>
          </a:fontRef>
        </p:style>
      </p:cxnSp>
      <p:sp>
        <p:nvSpPr>
          <p:cNvPr id="2061" name="TextBox 2060"/>
          <p:cNvSpPr txBox="1"/>
          <p:nvPr/>
        </p:nvSpPr>
        <p:spPr>
          <a:xfrm>
            <a:off x="9533107" y="5323378"/>
            <a:ext cx="2222868" cy="369332"/>
          </a:xfrm>
          <a:prstGeom prst="rect">
            <a:avLst/>
          </a:prstGeom>
          <a:noFill/>
        </p:spPr>
        <p:txBody>
          <a:bodyPr wrap="square" rtlCol="0">
            <a:spAutoFit/>
          </a:bodyPr>
          <a:lstStyle/>
          <a:p>
            <a:r>
              <a:rPr lang="en-AU" dirty="0"/>
              <a:t>Ethyl butanoate</a:t>
            </a:r>
          </a:p>
        </p:txBody>
      </p:sp>
      <p:pic>
        <p:nvPicPr>
          <p:cNvPr id="2064" name="Picture 16" descr="http://50.19.212.204/resources/models360/files/7762/ethyl_butanoate-lewis2.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54893" y="4049140"/>
            <a:ext cx="3543757" cy="1081208"/>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p:cNvSpPr txBox="1"/>
          <p:nvPr/>
        </p:nvSpPr>
        <p:spPr>
          <a:xfrm>
            <a:off x="4818702" y="5253790"/>
            <a:ext cx="881251" cy="261610"/>
          </a:xfrm>
          <a:prstGeom prst="rect">
            <a:avLst/>
          </a:prstGeom>
          <a:noFill/>
        </p:spPr>
        <p:txBody>
          <a:bodyPr wrap="square" rtlCol="0">
            <a:spAutoFit/>
          </a:bodyPr>
          <a:lstStyle/>
          <a:p>
            <a:r>
              <a:rPr lang="en-AU" sz="1050" dirty="0"/>
              <a:t>oxidation</a:t>
            </a:r>
          </a:p>
        </p:txBody>
      </p:sp>
      <p:sp>
        <p:nvSpPr>
          <p:cNvPr id="33" name="Arc 32"/>
          <p:cNvSpPr/>
          <p:nvPr/>
        </p:nvSpPr>
        <p:spPr>
          <a:xfrm>
            <a:off x="2271196" y="4779034"/>
            <a:ext cx="608595" cy="736366"/>
          </a:xfrm>
          <a:prstGeom prst="arc">
            <a:avLst>
              <a:gd name="adj1" fmla="val 5350142"/>
              <a:gd name="adj2" fmla="val 10410797"/>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34" name="Arc 33"/>
          <p:cNvSpPr/>
          <p:nvPr/>
        </p:nvSpPr>
        <p:spPr>
          <a:xfrm>
            <a:off x="5508999" y="2921479"/>
            <a:ext cx="608595" cy="736366"/>
          </a:xfrm>
          <a:prstGeom prst="arc">
            <a:avLst>
              <a:gd name="adj1" fmla="val 5350142"/>
              <a:gd name="adj2" fmla="val 10410797"/>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37" name="TextBox 36"/>
          <p:cNvSpPr txBox="1"/>
          <p:nvPr/>
        </p:nvSpPr>
        <p:spPr>
          <a:xfrm>
            <a:off x="5323491" y="3017243"/>
            <a:ext cx="476412" cy="307777"/>
          </a:xfrm>
          <a:prstGeom prst="rect">
            <a:avLst/>
          </a:prstGeom>
          <a:noFill/>
        </p:spPr>
        <p:txBody>
          <a:bodyPr wrap="none" rtlCol="0">
            <a:spAutoFit/>
          </a:bodyPr>
          <a:lstStyle/>
          <a:p>
            <a:r>
              <a:rPr lang="en-AU" sz="1400" dirty="0"/>
              <a:t>H</a:t>
            </a:r>
            <a:r>
              <a:rPr lang="en-AU" sz="1400" baseline="-25000" dirty="0"/>
              <a:t>2</a:t>
            </a:r>
            <a:r>
              <a:rPr lang="en-AU" sz="1400" dirty="0"/>
              <a:t>O</a:t>
            </a:r>
          </a:p>
        </p:txBody>
      </p:sp>
      <p:sp>
        <p:nvSpPr>
          <p:cNvPr id="38" name="TextBox 37"/>
          <p:cNvSpPr txBox="1"/>
          <p:nvPr/>
        </p:nvSpPr>
        <p:spPr>
          <a:xfrm>
            <a:off x="2070722" y="4863404"/>
            <a:ext cx="476412" cy="307777"/>
          </a:xfrm>
          <a:prstGeom prst="rect">
            <a:avLst/>
          </a:prstGeom>
          <a:noFill/>
        </p:spPr>
        <p:txBody>
          <a:bodyPr wrap="none" rtlCol="0">
            <a:spAutoFit/>
          </a:bodyPr>
          <a:lstStyle/>
          <a:p>
            <a:r>
              <a:rPr lang="en-AU" sz="1400" dirty="0"/>
              <a:t>H</a:t>
            </a:r>
            <a:r>
              <a:rPr lang="en-AU" sz="1400" baseline="-25000" dirty="0"/>
              <a:t>2</a:t>
            </a:r>
            <a:r>
              <a:rPr lang="en-AU" sz="1400" dirty="0"/>
              <a:t>O</a:t>
            </a:r>
          </a:p>
        </p:txBody>
      </p:sp>
    </p:spTree>
    <p:extLst>
      <p:ext uri="{BB962C8B-B14F-4D97-AF65-F5344CB8AC3E}">
        <p14:creationId xmlns:p14="http://schemas.microsoft.com/office/powerpoint/2010/main" val="3890877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388515"/>
            <a:ext cx="10058400" cy="4023360"/>
          </a:xfrm>
        </p:spPr>
        <p:txBody>
          <a:bodyPr/>
          <a:lstStyle/>
          <a:p>
            <a:r>
              <a:rPr lang="en-AU" dirty="0"/>
              <a:t>The reaction pathway below represents the synthesis of compound C. Show the </a:t>
            </a:r>
            <a:r>
              <a:rPr lang="en-AU" dirty="0" err="1"/>
              <a:t>semistructural</a:t>
            </a:r>
            <a:r>
              <a:rPr lang="en-AU" dirty="0"/>
              <a:t> formulas of compounds A, B and C.</a:t>
            </a:r>
          </a:p>
          <a:p>
            <a:endParaRPr lang="en-AU" dirty="0"/>
          </a:p>
        </p:txBody>
      </p:sp>
      <p:pic>
        <p:nvPicPr>
          <p:cNvPr id="5" name="Picture 4"/>
          <p:cNvPicPr/>
          <p:nvPr/>
        </p:nvPicPr>
        <p:blipFill rotWithShape="1">
          <a:blip r:embed="rId2">
            <a:extLst>
              <a:ext uri="{28A0092B-C50C-407E-A947-70E740481C1C}">
                <a14:useLocalDpi xmlns:a14="http://schemas.microsoft.com/office/drawing/2010/main" val="0"/>
              </a:ext>
            </a:extLst>
          </a:blip>
          <a:srcRect t="27740"/>
          <a:stretch/>
        </p:blipFill>
        <p:spPr bwMode="auto">
          <a:xfrm>
            <a:off x="749467" y="1280690"/>
            <a:ext cx="10754025" cy="48343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767326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US" dirty="0"/>
              <a:t>Construct a reaction sequence</a:t>
            </a:r>
            <a:br>
              <a:rPr lang="en-US" dirty="0"/>
            </a:br>
            <a:r>
              <a:rPr lang="en-US" dirty="0"/>
              <a:t>to produce…</a:t>
            </a:r>
            <a:endParaRPr lang="en-AU" dirty="0"/>
          </a:p>
        </p:txBody>
      </p:sp>
      <p:pic>
        <p:nvPicPr>
          <p:cNvPr id="5" name="Picture 4"/>
          <p:cNvPicPr>
            <a:picLocks noChangeAspect="1"/>
          </p:cNvPicPr>
          <p:nvPr/>
        </p:nvPicPr>
        <p:blipFill>
          <a:blip r:embed="rId2"/>
          <a:stretch>
            <a:fillRect/>
          </a:stretch>
        </p:blipFill>
        <p:spPr>
          <a:xfrm>
            <a:off x="5862851" y="0"/>
            <a:ext cx="6329149" cy="6096000"/>
          </a:xfrm>
          <a:prstGeom prst="rect">
            <a:avLst/>
          </a:prstGeom>
        </p:spPr>
      </p:pic>
      <p:pic>
        <p:nvPicPr>
          <p:cNvPr id="6" name="Picture 5"/>
          <p:cNvPicPr>
            <a:picLocks noChangeAspect="1"/>
          </p:cNvPicPr>
          <p:nvPr/>
        </p:nvPicPr>
        <p:blipFill>
          <a:blip r:embed="rId3"/>
          <a:stretch>
            <a:fillRect/>
          </a:stretch>
        </p:blipFill>
        <p:spPr>
          <a:xfrm>
            <a:off x="1221182" y="2504200"/>
            <a:ext cx="3605349" cy="1916741"/>
          </a:xfrm>
          <a:prstGeom prst="rect">
            <a:avLst/>
          </a:prstGeom>
        </p:spPr>
      </p:pic>
    </p:spTree>
    <p:extLst>
      <p:ext uri="{BB962C8B-B14F-4D97-AF65-F5344CB8AC3E}">
        <p14:creationId xmlns:p14="http://schemas.microsoft.com/office/powerpoint/2010/main" val="18915448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clker.com/cliparts/O/l/d/s/i/S/check-mark-h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5" y="4106862"/>
            <a:ext cx="2022475" cy="2041237"/>
          </a:xfrm>
          <a:prstGeom prst="rect">
            <a:avLst/>
          </a:prstGeom>
          <a:solidFill>
            <a:schemeClr val="bg1"/>
          </a:solidFill>
        </p:spPr>
      </p:pic>
      <p:sp>
        <p:nvSpPr>
          <p:cNvPr id="2" name="Title 1"/>
          <p:cNvSpPr>
            <a:spLocks noGrp="1"/>
          </p:cNvSpPr>
          <p:nvPr>
            <p:ph type="title"/>
          </p:nvPr>
        </p:nvSpPr>
        <p:spPr/>
        <p:txBody>
          <a:bodyPr/>
          <a:lstStyle/>
          <a:p>
            <a:r>
              <a:rPr lang="en-US" dirty="0"/>
              <a:t>Syllabus</a:t>
            </a:r>
            <a:endParaRPr lang="en-AU" dirty="0"/>
          </a:p>
        </p:txBody>
      </p:sp>
      <p:sp>
        <p:nvSpPr>
          <p:cNvPr id="3" name="Content Placeholder 2"/>
          <p:cNvSpPr>
            <a:spLocks noGrp="1"/>
          </p:cNvSpPr>
          <p:nvPr>
            <p:ph idx="1"/>
          </p:nvPr>
        </p:nvSpPr>
        <p:spPr/>
        <p:txBody>
          <a:bodyPr>
            <a:normAutofit/>
          </a:bodyPr>
          <a:lstStyle/>
          <a:p>
            <a:pPr lvl="0">
              <a:lnSpc>
                <a:spcPct val="100000"/>
              </a:lnSpc>
            </a:pPr>
            <a:r>
              <a:rPr lang="en-AU" sz="2400" dirty="0"/>
              <a:t>chemical synthesis processes may involve the construction of reaction sequences with more than one chemical reaction, including the hydrolysis of </a:t>
            </a:r>
            <a:r>
              <a:rPr lang="en-AU" sz="2400" dirty="0" err="1"/>
              <a:t>ethene</a:t>
            </a:r>
            <a:r>
              <a:rPr lang="en-AU" sz="2400" dirty="0"/>
              <a:t> to form ethanol and the subsequent reaction of ethanol with acetic (ethanoic) acid to produce ethyl ethanoate</a:t>
            </a:r>
          </a:p>
        </p:txBody>
      </p:sp>
    </p:spTree>
    <p:extLst>
      <p:ext uri="{BB962C8B-B14F-4D97-AF65-F5344CB8AC3E}">
        <p14:creationId xmlns:p14="http://schemas.microsoft.com/office/powerpoint/2010/main" val="36053356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 Chemistry</a:t>
            </a:r>
            <a:endParaRPr lang="en-AU" dirty="0"/>
          </a:p>
        </p:txBody>
      </p:sp>
      <p:sp>
        <p:nvSpPr>
          <p:cNvPr id="3" name="Content Placeholder 2"/>
          <p:cNvSpPr>
            <a:spLocks noGrp="1"/>
          </p:cNvSpPr>
          <p:nvPr>
            <p:ph idx="1"/>
          </p:nvPr>
        </p:nvSpPr>
        <p:spPr>
          <a:xfrm>
            <a:off x="1097280" y="116115"/>
            <a:ext cx="10058400" cy="5752980"/>
          </a:xfrm>
        </p:spPr>
        <p:txBody>
          <a:bodyPr>
            <a:normAutofit/>
          </a:bodyPr>
          <a:lstStyle/>
          <a:p>
            <a:r>
              <a:rPr lang="en-AU" sz="1600" i="1" dirty="0"/>
              <a:t>Syllabus: Scientific knowledge can be used to design alternative chemical synthesis pathways, taking into account sustainability, local resources, economics and </a:t>
            </a:r>
            <a:r>
              <a:rPr lang="en-AU" sz="1600" b="1" i="1" dirty="0">
                <a:highlight>
                  <a:srgbClr val="00FF00"/>
                </a:highlight>
              </a:rPr>
              <a:t>environmental impacts (green chemistry)</a:t>
            </a:r>
            <a:r>
              <a:rPr lang="en-AU" sz="1600" b="1" i="1" dirty="0"/>
              <a:t>, </a:t>
            </a:r>
            <a:r>
              <a:rPr lang="en-AU" sz="1600" i="1" dirty="0"/>
              <a:t>including the production of ethanol and biodiesel.</a:t>
            </a:r>
          </a:p>
          <a:p>
            <a:endParaRPr lang="en-US" sz="1600" i="1" dirty="0"/>
          </a:p>
          <a:p>
            <a:pPr marL="0" indent="0">
              <a:buNone/>
            </a:pPr>
            <a:endParaRPr lang="en-AU" sz="1600" i="1" dirty="0"/>
          </a:p>
          <a:p>
            <a:r>
              <a:rPr lang="en-US" sz="1800" dirty="0"/>
              <a:t>Green chemistry refers to the design of chemical products and processes that are environmentally friendly.</a:t>
            </a:r>
          </a:p>
        </p:txBody>
      </p:sp>
      <p:pic>
        <p:nvPicPr>
          <p:cNvPr id="1026" name="Picture 2" descr="Image result for green chemist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703" y="2290409"/>
            <a:ext cx="5433812" cy="3578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9851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 Chemistry</a:t>
            </a:r>
            <a:endParaRPr lang="en-AU" dirty="0"/>
          </a:p>
        </p:txBody>
      </p:sp>
      <p:sp>
        <p:nvSpPr>
          <p:cNvPr id="3" name="Content Placeholder 2"/>
          <p:cNvSpPr>
            <a:spLocks noGrp="1"/>
          </p:cNvSpPr>
          <p:nvPr>
            <p:ph idx="1"/>
          </p:nvPr>
        </p:nvSpPr>
        <p:spPr/>
        <p:txBody>
          <a:bodyPr>
            <a:normAutofit/>
          </a:bodyPr>
          <a:lstStyle/>
          <a:p>
            <a:r>
              <a:rPr lang="en-US" sz="1800" b="1" dirty="0"/>
              <a:t>1. Prevention</a:t>
            </a:r>
          </a:p>
          <a:p>
            <a:r>
              <a:rPr lang="en-US" sz="1800" dirty="0"/>
              <a:t>It is better to prevent waste than to treat to clean up waste after it has been created.</a:t>
            </a:r>
          </a:p>
          <a:p>
            <a:endParaRPr lang="en-US" sz="1800" dirty="0"/>
          </a:p>
          <a:p>
            <a:r>
              <a:rPr lang="en-US" sz="1800" b="1" dirty="0"/>
              <a:t>2. Atom Economy</a:t>
            </a:r>
          </a:p>
          <a:p>
            <a:r>
              <a:rPr lang="en-US" sz="1800" dirty="0"/>
              <a:t>Synthetic methods should be designed to </a:t>
            </a:r>
            <a:r>
              <a:rPr lang="en-US" sz="1800" dirty="0" err="1"/>
              <a:t>maximise</a:t>
            </a:r>
            <a:r>
              <a:rPr lang="en-US" sz="1800" dirty="0"/>
              <a:t> the incorporation of all materials used in the process into the final product.</a:t>
            </a:r>
          </a:p>
          <a:p>
            <a:endParaRPr lang="en-US" sz="1800" dirty="0"/>
          </a:p>
          <a:p>
            <a:r>
              <a:rPr lang="en-US" sz="1800" b="1" dirty="0"/>
              <a:t>3. Less hazardous chemical synthesis</a:t>
            </a:r>
          </a:p>
          <a:p>
            <a:r>
              <a:rPr lang="en-US" sz="1800" dirty="0"/>
              <a:t>Wherever practical, the synthetic processes used to generate substances should possess little or no toxicity to human health and the environment.</a:t>
            </a:r>
          </a:p>
          <a:p>
            <a:endParaRPr lang="en-US" sz="1800" dirty="0"/>
          </a:p>
        </p:txBody>
      </p:sp>
      <p:sp>
        <p:nvSpPr>
          <p:cNvPr id="4" name="Content Placeholder 2"/>
          <p:cNvSpPr txBox="1">
            <a:spLocks/>
          </p:cNvSpPr>
          <p:nvPr/>
        </p:nvSpPr>
        <p:spPr>
          <a:xfrm>
            <a:off x="4721542" y="64088"/>
            <a:ext cx="10058400" cy="44502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a:hlinkClick r:id="rId2"/>
              </a:rPr>
              <a:t>https://greenchemuoft.wordpress.com/green-chemistry-video-series/</a:t>
            </a:r>
            <a:r>
              <a:rPr lang="en-US"/>
              <a:t> </a:t>
            </a:r>
            <a:endParaRPr lang="en-US" dirty="0"/>
          </a:p>
        </p:txBody>
      </p:sp>
    </p:spTree>
    <p:extLst>
      <p:ext uri="{BB962C8B-B14F-4D97-AF65-F5344CB8AC3E}">
        <p14:creationId xmlns:p14="http://schemas.microsoft.com/office/powerpoint/2010/main" val="12336203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 Chemistry</a:t>
            </a:r>
            <a:endParaRPr lang="en-AU" dirty="0"/>
          </a:p>
        </p:txBody>
      </p:sp>
      <p:sp>
        <p:nvSpPr>
          <p:cNvPr id="3" name="Content Placeholder 2"/>
          <p:cNvSpPr>
            <a:spLocks noGrp="1"/>
          </p:cNvSpPr>
          <p:nvPr>
            <p:ph idx="1"/>
          </p:nvPr>
        </p:nvSpPr>
        <p:spPr/>
        <p:txBody>
          <a:bodyPr>
            <a:normAutofit/>
          </a:bodyPr>
          <a:lstStyle/>
          <a:p>
            <a:r>
              <a:rPr lang="en-US" sz="1800" b="1" dirty="0"/>
              <a:t>4. Design safer chemicals</a:t>
            </a:r>
          </a:p>
          <a:p>
            <a:r>
              <a:rPr lang="en-US" sz="1800" dirty="0"/>
              <a:t>Chemical products should be designed to be as efficient as possible and have the least toxicity possible.</a:t>
            </a:r>
          </a:p>
          <a:p>
            <a:endParaRPr lang="en-US" sz="1800" dirty="0"/>
          </a:p>
          <a:p>
            <a:r>
              <a:rPr lang="en-US" sz="1800" b="1" dirty="0"/>
              <a:t>5. Use safer solvents and </a:t>
            </a:r>
            <a:r>
              <a:rPr lang="en-US" sz="1800" b="1" dirty="0" err="1"/>
              <a:t>auxillaries</a:t>
            </a:r>
            <a:endParaRPr lang="en-US" sz="1800" b="1" dirty="0"/>
          </a:p>
          <a:p>
            <a:r>
              <a:rPr lang="en-US" sz="1800" dirty="0"/>
              <a:t>Solvents and separating agents should be used as little as possible and if needed they should be non-toxic. Solvents make up 50% of the total chemicals used in most processing plants.</a:t>
            </a:r>
          </a:p>
          <a:p>
            <a:endParaRPr lang="en-US" sz="1800" dirty="0"/>
          </a:p>
          <a:p>
            <a:r>
              <a:rPr lang="en-US" sz="1800" b="1" dirty="0"/>
              <a:t>6. Design for Energy Efficiency.</a:t>
            </a:r>
          </a:p>
          <a:p>
            <a:r>
              <a:rPr lang="en-US" sz="1800" dirty="0"/>
              <a:t>Energy requirements should be </a:t>
            </a:r>
            <a:r>
              <a:rPr lang="en-US" sz="1800" dirty="0" err="1"/>
              <a:t>minimised</a:t>
            </a:r>
            <a:r>
              <a:rPr lang="en-US" sz="1800" dirty="0"/>
              <a:t> in order to limit impact on environment and economy. If possible reactions should be conducted at ambient temperature and pressure.</a:t>
            </a:r>
          </a:p>
          <a:p>
            <a:endParaRPr lang="en-US" sz="1800" dirty="0"/>
          </a:p>
        </p:txBody>
      </p:sp>
    </p:spTree>
    <p:extLst>
      <p:ext uri="{BB962C8B-B14F-4D97-AF65-F5344CB8AC3E}">
        <p14:creationId xmlns:p14="http://schemas.microsoft.com/office/powerpoint/2010/main" val="26349734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 Chemistry</a:t>
            </a:r>
            <a:endParaRPr lang="en-AU" dirty="0"/>
          </a:p>
        </p:txBody>
      </p:sp>
      <p:sp>
        <p:nvSpPr>
          <p:cNvPr id="3" name="Content Placeholder 2"/>
          <p:cNvSpPr>
            <a:spLocks noGrp="1"/>
          </p:cNvSpPr>
          <p:nvPr>
            <p:ph idx="1"/>
          </p:nvPr>
        </p:nvSpPr>
        <p:spPr/>
        <p:txBody>
          <a:bodyPr>
            <a:normAutofit/>
          </a:bodyPr>
          <a:lstStyle/>
          <a:p>
            <a:r>
              <a:rPr lang="en-US" sz="1800" b="1" dirty="0"/>
              <a:t>7. Use of renewable feedstocks</a:t>
            </a:r>
          </a:p>
          <a:p>
            <a:r>
              <a:rPr lang="en-US" sz="1800" dirty="0"/>
              <a:t>Raw materials (feedstocks) should be renewable whenever this is technically and economically practical. This will prevent depletion of finite resources.</a:t>
            </a:r>
          </a:p>
          <a:p>
            <a:endParaRPr lang="en-US" sz="1800" dirty="0"/>
          </a:p>
          <a:p>
            <a:r>
              <a:rPr lang="en-US" sz="1800" b="1" dirty="0"/>
              <a:t>8. Reduce number of steps</a:t>
            </a:r>
          </a:p>
          <a:p>
            <a:r>
              <a:rPr lang="en-US" sz="1800" dirty="0"/>
              <a:t>Avoid unnecessary steps in synthesis. Each step requires additional reagents and can generate waste. </a:t>
            </a:r>
          </a:p>
          <a:p>
            <a:endParaRPr lang="en-US" sz="1800" dirty="0"/>
          </a:p>
          <a:p>
            <a:r>
              <a:rPr lang="en-US" sz="1800" b="1" dirty="0"/>
              <a:t>9. Use catalysts</a:t>
            </a:r>
          </a:p>
          <a:p>
            <a:r>
              <a:rPr lang="en-US" sz="1800" dirty="0"/>
              <a:t>Catalysts can be used in small amounts and can be re-used. It is preferable to use a catalyst instead of adding other reagents which could generate waste.</a:t>
            </a:r>
          </a:p>
          <a:p>
            <a:endParaRPr lang="en-US" sz="1800" dirty="0"/>
          </a:p>
        </p:txBody>
      </p:sp>
    </p:spTree>
    <p:extLst>
      <p:ext uri="{BB962C8B-B14F-4D97-AF65-F5344CB8AC3E}">
        <p14:creationId xmlns:p14="http://schemas.microsoft.com/office/powerpoint/2010/main" val="40387734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Green Chemistry</a:t>
            </a:r>
            <a:endParaRPr lang="en-AU" dirty="0"/>
          </a:p>
        </p:txBody>
      </p:sp>
      <p:sp>
        <p:nvSpPr>
          <p:cNvPr id="3" name="Content Placeholder 2"/>
          <p:cNvSpPr>
            <a:spLocks noGrp="1"/>
          </p:cNvSpPr>
          <p:nvPr>
            <p:ph idx="1"/>
          </p:nvPr>
        </p:nvSpPr>
        <p:spPr/>
        <p:txBody>
          <a:bodyPr>
            <a:normAutofit/>
          </a:bodyPr>
          <a:lstStyle/>
          <a:p>
            <a:r>
              <a:rPr lang="en-US" sz="1800" b="1" dirty="0"/>
              <a:t>10. Design products that degrade</a:t>
            </a:r>
          </a:p>
          <a:p>
            <a:r>
              <a:rPr lang="en-US" sz="1800" dirty="0"/>
              <a:t>Chemical products should break down rather than persist in the environment.</a:t>
            </a:r>
          </a:p>
          <a:p>
            <a:endParaRPr lang="en-US" sz="1800" dirty="0"/>
          </a:p>
          <a:p>
            <a:r>
              <a:rPr lang="en-US" sz="1800" b="1" dirty="0"/>
              <a:t>11. Real time analysis and monitoring</a:t>
            </a:r>
          </a:p>
          <a:p>
            <a:r>
              <a:rPr lang="en-US" sz="1800" dirty="0"/>
              <a:t>Develop techniques for real-time monitoring of conditions and waste. e.g. monitoring changes in </a:t>
            </a:r>
            <a:r>
              <a:rPr lang="en-US" sz="1800" dirty="0" err="1"/>
              <a:t>pH.</a:t>
            </a:r>
            <a:endParaRPr lang="en-US" sz="1800" dirty="0"/>
          </a:p>
          <a:p>
            <a:pPr marL="0" indent="0">
              <a:buNone/>
            </a:pPr>
            <a:endParaRPr lang="en-US" sz="1800" dirty="0"/>
          </a:p>
          <a:p>
            <a:r>
              <a:rPr lang="en-US" sz="1800" b="1" dirty="0"/>
              <a:t>12. Accident prevention</a:t>
            </a:r>
          </a:p>
          <a:p>
            <a:r>
              <a:rPr lang="en-US" sz="1800" dirty="0"/>
              <a:t>Use substances which will minimize risk of explosions, fires, etc.</a:t>
            </a:r>
          </a:p>
          <a:p>
            <a:pPr marL="0" indent="0">
              <a:buNone/>
            </a:pPr>
            <a:endParaRPr lang="en-US" sz="1800" dirty="0"/>
          </a:p>
        </p:txBody>
      </p:sp>
    </p:spTree>
    <p:extLst>
      <p:ext uri="{BB962C8B-B14F-4D97-AF65-F5344CB8AC3E}">
        <p14:creationId xmlns:p14="http://schemas.microsoft.com/office/powerpoint/2010/main" val="7741930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Atom Economy</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m:rPr>
                        <m:sty m:val="p"/>
                      </m:rPr>
                      <a:rPr lang="en-AU" b="0" i="0" smtClean="0">
                        <a:latin typeface="Cambria Math" charset="0"/>
                      </a:rPr>
                      <m:t>Atom</m:t>
                    </m:r>
                    <m:r>
                      <a:rPr lang="en-AU" b="0" i="0" smtClean="0">
                        <a:latin typeface="Cambria Math" charset="0"/>
                      </a:rPr>
                      <m:t> </m:t>
                    </m:r>
                    <m:r>
                      <m:rPr>
                        <m:sty m:val="p"/>
                      </m:rPr>
                      <a:rPr lang="en-AU" b="0" i="0" smtClean="0">
                        <a:latin typeface="Cambria Math" charset="0"/>
                      </a:rPr>
                      <m:t>economy</m:t>
                    </m:r>
                    <m:r>
                      <a:rPr lang="en-AU" b="0" i="0" smtClean="0">
                        <a:latin typeface="Cambria Math" charset="0"/>
                      </a:rPr>
                      <m:t>=</m:t>
                    </m:r>
                    <m:f>
                      <m:fPr>
                        <m:ctrlPr>
                          <a:rPr lang="bg-BG" b="0" i="1" smtClean="0">
                            <a:latin typeface="Cambria Math" panose="02040503050406030204" pitchFamily="18" charset="0"/>
                          </a:rPr>
                        </m:ctrlPr>
                      </m:fPr>
                      <m:num>
                        <m:r>
                          <m:rPr>
                            <m:sty m:val="p"/>
                          </m:rPr>
                          <a:rPr lang="en-AU" b="0" i="0" smtClean="0">
                            <a:latin typeface="Cambria Math" charset="0"/>
                          </a:rPr>
                          <m:t>M</m:t>
                        </m:r>
                        <m:r>
                          <a:rPr lang="en-AU" b="0" i="0" smtClean="0">
                            <a:latin typeface="Cambria Math" charset="0"/>
                          </a:rPr>
                          <m:t>(</m:t>
                        </m:r>
                        <m:r>
                          <m:rPr>
                            <m:sty m:val="p"/>
                          </m:rPr>
                          <a:rPr lang="en-AU" b="0" i="0" smtClean="0">
                            <a:latin typeface="Cambria Math" charset="0"/>
                          </a:rPr>
                          <m:t>desired</m:t>
                        </m:r>
                        <m:r>
                          <a:rPr lang="en-AU" b="0" i="0" smtClean="0">
                            <a:latin typeface="Cambria Math" charset="0"/>
                          </a:rPr>
                          <m:t> </m:t>
                        </m:r>
                        <m:r>
                          <m:rPr>
                            <m:sty m:val="p"/>
                          </m:rPr>
                          <a:rPr lang="en-AU" b="0" i="0" smtClean="0">
                            <a:latin typeface="Cambria Math" charset="0"/>
                          </a:rPr>
                          <m:t>products</m:t>
                        </m:r>
                        <m:r>
                          <a:rPr lang="en-AU" b="0" i="0" smtClean="0">
                            <a:latin typeface="Cambria Math" charset="0"/>
                          </a:rPr>
                          <m:t>)</m:t>
                        </m:r>
                      </m:num>
                      <m:den>
                        <m:r>
                          <m:rPr>
                            <m:sty m:val="p"/>
                          </m:rPr>
                          <a:rPr lang="en-AU" b="0" i="0" smtClean="0">
                            <a:latin typeface="Cambria Math" charset="0"/>
                          </a:rPr>
                          <m:t>M</m:t>
                        </m:r>
                        <m:r>
                          <a:rPr lang="en-AU" b="0" i="0" smtClean="0">
                            <a:latin typeface="Cambria Math" charset="0"/>
                          </a:rPr>
                          <m:t>(</m:t>
                        </m:r>
                        <m:r>
                          <m:rPr>
                            <m:sty m:val="p"/>
                          </m:rPr>
                          <a:rPr lang="en-AU" b="0" i="0" smtClean="0">
                            <a:latin typeface="Cambria Math" charset="0"/>
                          </a:rPr>
                          <m:t>all</m:t>
                        </m:r>
                        <m:r>
                          <a:rPr lang="en-AU" b="0" i="0" smtClean="0">
                            <a:latin typeface="Cambria Math" charset="0"/>
                          </a:rPr>
                          <m:t> </m:t>
                        </m:r>
                        <m:r>
                          <m:rPr>
                            <m:sty m:val="p"/>
                          </m:rPr>
                          <a:rPr lang="en-AU" b="0" i="0" smtClean="0">
                            <a:latin typeface="Cambria Math" charset="0"/>
                          </a:rPr>
                          <m:t>reactants</m:t>
                        </m:r>
                        <m:r>
                          <a:rPr lang="en-AU" b="0" i="0" smtClean="0">
                            <a:latin typeface="Cambria Math" charset="0"/>
                          </a:rPr>
                          <m:t>)</m:t>
                        </m:r>
                      </m:den>
                    </m:f>
                    <m:r>
                      <a:rPr lang="en-AU" b="0" i="0" smtClean="0">
                        <a:latin typeface="Cambria Math" charset="0"/>
                      </a:rPr>
                      <m:t>×100</m:t>
                    </m:r>
                  </m:oMath>
                </a14:m>
                <a:endParaRPr lang="en-AU" dirty="0"/>
              </a:p>
              <a:p>
                <a:endParaRPr lang="en-AU" dirty="0"/>
              </a:p>
              <a:p>
                <a:r>
                  <a:rPr lang="en-AU" dirty="0"/>
                  <a:t>e.g. Calcium oxide can be produced via the following reaction:     CaCO</a:t>
                </a:r>
                <a:r>
                  <a:rPr lang="en-AU" baseline="-25000" dirty="0"/>
                  <a:t>3</a:t>
                </a:r>
                <a:r>
                  <a:rPr lang="en-AU" dirty="0"/>
                  <a:t>   </a:t>
                </a:r>
                <a:r>
                  <a:rPr lang="is-IS" dirty="0"/>
                  <a:t>→</a:t>
                </a:r>
                <a:r>
                  <a:rPr lang="en-AU" dirty="0"/>
                  <a:t>  </a:t>
                </a:r>
                <a:r>
                  <a:rPr lang="en-AU" dirty="0" err="1"/>
                  <a:t>CaO</a:t>
                </a:r>
                <a:r>
                  <a:rPr lang="en-AU" dirty="0"/>
                  <a:t>   +   CO</a:t>
                </a:r>
                <a:r>
                  <a:rPr lang="en-AU" baseline="-25000" dirty="0"/>
                  <a:t>2</a:t>
                </a:r>
                <a:endParaRPr lang="en-AU" dirty="0"/>
              </a:p>
              <a:p>
                <a14:m>
                  <m:oMath xmlns:m="http://schemas.openxmlformats.org/officeDocument/2006/math">
                    <m:r>
                      <m:rPr>
                        <m:sty m:val="p"/>
                      </m:rPr>
                      <a:rPr lang="en-AU" smtClean="0">
                        <a:latin typeface="Cambria Math" charset="0"/>
                      </a:rPr>
                      <m:t>Atom</m:t>
                    </m:r>
                    <m:r>
                      <a:rPr lang="en-AU" smtClean="0">
                        <a:latin typeface="Cambria Math" charset="0"/>
                      </a:rPr>
                      <m:t> </m:t>
                    </m:r>
                    <m:r>
                      <m:rPr>
                        <m:sty m:val="p"/>
                      </m:rPr>
                      <a:rPr lang="en-AU" smtClean="0">
                        <a:latin typeface="Cambria Math" charset="0"/>
                      </a:rPr>
                      <m:t>economy</m:t>
                    </m:r>
                    <m:r>
                      <a:rPr lang="en-AU" smtClean="0">
                        <a:latin typeface="Cambria Math" charset="0"/>
                      </a:rPr>
                      <m:t>=</m:t>
                    </m:r>
                    <m:f>
                      <m:fPr>
                        <m:ctrlPr>
                          <a:rPr lang="bg-BG" i="1" smtClean="0">
                            <a:latin typeface="Cambria Math" panose="02040503050406030204" pitchFamily="18" charset="0"/>
                          </a:rPr>
                        </m:ctrlPr>
                      </m:fPr>
                      <m:num>
                        <m:r>
                          <m:rPr>
                            <m:sty m:val="p"/>
                          </m:rPr>
                          <a:rPr lang="en-AU">
                            <a:latin typeface="Cambria Math" charset="0"/>
                          </a:rPr>
                          <m:t>M</m:t>
                        </m:r>
                        <m:d>
                          <m:dPr>
                            <m:ctrlPr>
                              <a:rPr lang="en-AU" i="1">
                                <a:latin typeface="Cambria Math" panose="02040503050406030204" pitchFamily="18" charset="0"/>
                              </a:rPr>
                            </m:ctrlPr>
                          </m:dPr>
                          <m:e>
                            <m:r>
                              <m:rPr>
                                <m:sty m:val="p"/>
                              </m:rPr>
                              <a:rPr lang="en-AU" b="0" i="0" smtClean="0">
                                <a:latin typeface="Cambria Math" charset="0"/>
                              </a:rPr>
                              <m:t>CaO</m:t>
                            </m:r>
                          </m:e>
                        </m:d>
                      </m:num>
                      <m:den>
                        <m:r>
                          <m:rPr>
                            <m:sty m:val="p"/>
                          </m:rPr>
                          <a:rPr lang="en-AU">
                            <a:latin typeface="Cambria Math" charset="0"/>
                          </a:rPr>
                          <m:t>M</m:t>
                        </m:r>
                        <m:d>
                          <m:dPr>
                            <m:ctrlPr>
                              <a:rPr lang="en-AU" i="1">
                                <a:latin typeface="Cambria Math" panose="02040503050406030204" pitchFamily="18" charset="0"/>
                              </a:rPr>
                            </m:ctrlPr>
                          </m:dPr>
                          <m:e>
                            <m:sSub>
                              <m:sSubPr>
                                <m:ctrlPr>
                                  <a:rPr lang="en-US" b="0" i="1" smtClean="0">
                                    <a:latin typeface="Cambria Math" panose="02040503050406030204" pitchFamily="18" charset="0"/>
                                  </a:rPr>
                                </m:ctrlPr>
                              </m:sSubPr>
                              <m:e>
                                <m:r>
                                  <a:rPr lang="en-AU" b="0" i="1" smtClean="0">
                                    <a:latin typeface="Cambria Math" charset="0"/>
                                  </a:rPr>
                                  <m:t>𝐶𝑎𝐶𝑂</m:t>
                                </m:r>
                              </m:e>
                              <m:sub>
                                <m:r>
                                  <a:rPr lang="en-AU" b="0" i="1" smtClean="0">
                                    <a:latin typeface="Cambria Math" charset="0"/>
                                  </a:rPr>
                                  <m:t>3</m:t>
                                </m:r>
                              </m:sub>
                            </m:sSub>
                          </m:e>
                        </m:d>
                      </m:den>
                    </m:f>
                    <m:r>
                      <a:rPr lang="en-AU">
                        <a:latin typeface="Cambria Math" charset="0"/>
                      </a:rPr>
                      <m:t>×10</m:t>
                    </m:r>
                    <m:r>
                      <a:rPr lang="en-AU" b="0" i="0" smtClean="0">
                        <a:latin typeface="Cambria Math" charset="0"/>
                      </a:rPr>
                      <m:t>0=</m:t>
                    </m:r>
                    <m:f>
                      <m:fPr>
                        <m:ctrlPr>
                          <a:rPr lang="bg-BG" b="0" i="1" smtClean="0">
                            <a:latin typeface="Cambria Math" panose="02040503050406030204" pitchFamily="18" charset="0"/>
                          </a:rPr>
                        </m:ctrlPr>
                      </m:fPr>
                      <m:num>
                        <m:r>
                          <a:rPr lang="en-AU" b="0" i="1" smtClean="0">
                            <a:latin typeface="Cambria Math" charset="0"/>
                          </a:rPr>
                          <m:t>56.08</m:t>
                        </m:r>
                      </m:num>
                      <m:den>
                        <m:r>
                          <a:rPr lang="en-AU" b="0" i="1" smtClean="0">
                            <a:latin typeface="Cambria Math" charset="0"/>
                          </a:rPr>
                          <m:t>100.09</m:t>
                        </m:r>
                      </m:den>
                    </m:f>
                    <m:r>
                      <a:rPr lang="en-AU" b="0" i="1" smtClean="0">
                        <a:latin typeface="Cambria Math" charset="0"/>
                      </a:rPr>
                      <m:t>×100=56.0%</m:t>
                    </m:r>
                  </m:oMath>
                </a14:m>
                <a:endParaRPr lang="en-AU" dirty="0"/>
              </a:p>
              <a:p>
                <a:endParaRPr lang="en-AU" dirty="0"/>
              </a:p>
              <a:p>
                <a:r>
                  <a:rPr lang="en-AU" dirty="0"/>
                  <a:t>This means 56.0% of the mass of reactants ends up being used in the desired product(s). </a:t>
                </a:r>
                <a:br>
                  <a:rPr lang="en-AU" dirty="0"/>
                </a:br>
                <a:r>
                  <a:rPr lang="en-AU" dirty="0"/>
                  <a:t>The greater the atom economy, the less waste produced.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06"/>
                </a:stretch>
              </a:blipFill>
            </p:spPr>
            <p:txBody>
              <a:bodyPr/>
              <a:lstStyle/>
              <a:p>
                <a:r>
                  <a:rPr lang="en-US">
                    <a:noFill/>
                  </a:rPr>
                  <a:t> </a:t>
                </a:r>
              </a:p>
            </p:txBody>
          </p:sp>
        </mc:Fallback>
      </mc:AlternateContent>
    </p:spTree>
    <p:extLst>
      <p:ext uri="{BB962C8B-B14F-4D97-AF65-F5344CB8AC3E}">
        <p14:creationId xmlns:p14="http://schemas.microsoft.com/office/powerpoint/2010/main" val="17157598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Iboprofen</a:t>
            </a:r>
            <a:endParaRPr lang="en-US" dirty="0"/>
          </a:p>
        </p:txBody>
      </p:sp>
      <p:sp>
        <p:nvSpPr>
          <p:cNvPr id="3" name="Content Placeholder 2"/>
          <p:cNvSpPr>
            <a:spLocks noGrp="1"/>
          </p:cNvSpPr>
          <p:nvPr>
            <p:ph idx="1"/>
          </p:nvPr>
        </p:nvSpPr>
        <p:spPr/>
        <p:txBody>
          <a:bodyPr/>
          <a:lstStyle/>
          <a:p>
            <a:r>
              <a:rPr lang="en-US" dirty="0">
                <a:hlinkClick r:id="rId2"/>
              </a:rPr>
              <a:t>https://greenchemuoft.wordpress.com/2014/04/04/greenchemprinciple2/</a:t>
            </a:r>
            <a:endParaRPr lang="en-US" dirty="0"/>
          </a:p>
          <a:p>
            <a:endParaRPr lang="en-US" dirty="0"/>
          </a:p>
          <a:p>
            <a:r>
              <a:rPr lang="en-AU" dirty="0"/>
              <a:t>Ibuprofen is used as an over-the-counter painkiller. It was patented by the Boots company in the 1960s, and was originally prepared using a six-step synthesis (see flow chart on left). </a:t>
            </a:r>
            <a:endParaRPr lang="en-US" dirty="0"/>
          </a:p>
          <a:p>
            <a:r>
              <a:rPr lang="en-AU" dirty="0"/>
              <a:t>The patent to ibuprofen expired in the mid-1980s, which allowed other companies to also develop the drug. A new company, BHC, developed an alternative 3-step method for developing ibuprofen (shown right). This method is commonly called the ‘green synthesis’ of ibuprofen as it involves less waste.</a:t>
            </a:r>
            <a:endParaRPr lang="en-US" dirty="0"/>
          </a:p>
          <a:p>
            <a:endParaRPr lang="en-US" dirty="0"/>
          </a:p>
        </p:txBody>
      </p:sp>
    </p:spTree>
    <p:extLst>
      <p:ext uri="{BB962C8B-B14F-4D97-AF65-F5344CB8AC3E}">
        <p14:creationId xmlns:p14="http://schemas.microsoft.com/office/powerpoint/2010/main" val="6478972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Ethanol</a:t>
            </a:r>
            <a:endParaRPr lang="en-AU" dirty="0"/>
          </a:p>
        </p:txBody>
      </p:sp>
      <p:sp>
        <p:nvSpPr>
          <p:cNvPr id="3" name="Content Placeholder 2"/>
          <p:cNvSpPr>
            <a:spLocks noGrp="1"/>
          </p:cNvSpPr>
          <p:nvPr>
            <p:ph idx="1"/>
          </p:nvPr>
        </p:nvSpPr>
        <p:spPr/>
        <p:txBody>
          <a:bodyPr/>
          <a:lstStyle/>
          <a:p>
            <a:r>
              <a:rPr lang="en-AU" dirty="0"/>
              <a:t>Important uses:</a:t>
            </a:r>
          </a:p>
          <a:p>
            <a:pPr lvl="1"/>
            <a:r>
              <a:rPr lang="en-AU" dirty="0"/>
              <a:t>Fuel: Ethanol is the world’s most widely used biofuel. Can be blended into petrol (E10 fuel = 10% ethanol, 90% petrol)</a:t>
            </a:r>
          </a:p>
          <a:p>
            <a:pPr lvl="1"/>
            <a:endParaRPr lang="en-AU" dirty="0"/>
          </a:p>
          <a:p>
            <a:pPr lvl="1"/>
            <a:r>
              <a:rPr lang="en-AU" dirty="0"/>
              <a:t>Solvent: Having polar (-OH) and non-polar (CH</a:t>
            </a:r>
            <a:r>
              <a:rPr lang="en-AU" baseline="-25000" dirty="0"/>
              <a:t>3</a:t>
            </a:r>
            <a:r>
              <a:rPr lang="en-AU" dirty="0"/>
              <a:t>CH</a:t>
            </a:r>
            <a:r>
              <a:rPr lang="en-AU" baseline="-25000" dirty="0"/>
              <a:t>2</a:t>
            </a:r>
            <a:r>
              <a:rPr lang="en-AU" dirty="0"/>
              <a:t>-) groups allows ethanol to dissolve a range ionic, polar and non-polar substances. It is the second most important solvent after water.</a:t>
            </a:r>
          </a:p>
        </p:txBody>
      </p:sp>
    </p:spTree>
    <p:extLst>
      <p:ext uri="{BB962C8B-B14F-4D97-AF65-F5344CB8AC3E}">
        <p14:creationId xmlns:p14="http://schemas.microsoft.com/office/powerpoint/2010/main" val="7959823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Ethanol production</a:t>
            </a:r>
            <a:r>
              <a:rPr lang="en-US" sz="4400"/>
              <a:t>: Hydrolysis of </a:t>
            </a:r>
            <a:r>
              <a:rPr lang="en-US" sz="4400" dirty="0" err="1"/>
              <a:t>ethene</a:t>
            </a:r>
            <a:endParaRPr lang="en-AU" sz="4400" dirty="0"/>
          </a:p>
        </p:txBody>
      </p:sp>
      <p:sp>
        <p:nvSpPr>
          <p:cNvPr id="3" name="Content Placeholder 2"/>
          <p:cNvSpPr>
            <a:spLocks noGrp="1"/>
          </p:cNvSpPr>
          <p:nvPr>
            <p:ph idx="1"/>
          </p:nvPr>
        </p:nvSpPr>
        <p:spPr>
          <a:xfrm>
            <a:off x="1097280" y="1845734"/>
            <a:ext cx="10058400" cy="4286842"/>
          </a:xfrm>
        </p:spPr>
        <p:txBody>
          <a:bodyPr>
            <a:normAutofit/>
          </a:bodyPr>
          <a:lstStyle/>
          <a:p>
            <a:r>
              <a:rPr lang="en-AU" dirty="0"/>
              <a:t>Most common method for producing ethanol.</a:t>
            </a:r>
          </a:p>
          <a:p>
            <a:pPr algn="ctr"/>
            <a:r>
              <a:rPr lang="en-AU" dirty="0"/>
              <a:t>CH</a:t>
            </a:r>
            <a:r>
              <a:rPr lang="en-AU" baseline="-25000" dirty="0"/>
              <a:t>2</a:t>
            </a:r>
            <a:r>
              <a:rPr lang="en-AU" dirty="0"/>
              <a:t>=CH</a:t>
            </a:r>
            <a:r>
              <a:rPr lang="en-AU" baseline="-25000" dirty="0"/>
              <a:t>2</a:t>
            </a:r>
            <a:r>
              <a:rPr lang="en-AU" dirty="0"/>
              <a:t>(g)   +   H</a:t>
            </a:r>
            <a:r>
              <a:rPr lang="en-AU" baseline="-25000" dirty="0"/>
              <a:t>2</a:t>
            </a:r>
            <a:r>
              <a:rPr lang="en-AU" dirty="0"/>
              <a:t>O(g)   ⇌   CH</a:t>
            </a:r>
            <a:r>
              <a:rPr lang="en-AU" baseline="-25000" dirty="0"/>
              <a:t>3</a:t>
            </a:r>
            <a:r>
              <a:rPr lang="en-AU" dirty="0"/>
              <a:t>CH</a:t>
            </a:r>
            <a:r>
              <a:rPr lang="en-AU" baseline="-25000" dirty="0"/>
              <a:t>2</a:t>
            </a:r>
            <a:r>
              <a:rPr lang="en-AU" dirty="0"/>
              <a:t>OH(g)          </a:t>
            </a:r>
            <a:r>
              <a:rPr lang="el-GR" dirty="0"/>
              <a:t>Δ</a:t>
            </a:r>
            <a:r>
              <a:rPr lang="en-AU" dirty="0"/>
              <a:t>H = -45 kJ mol</a:t>
            </a:r>
            <a:r>
              <a:rPr lang="en-AU" baseline="30000" dirty="0"/>
              <a:t>-1</a:t>
            </a:r>
            <a:endParaRPr lang="en-AU" dirty="0"/>
          </a:p>
          <a:p>
            <a:r>
              <a:rPr lang="en-AU" dirty="0"/>
              <a:t>The </a:t>
            </a:r>
            <a:r>
              <a:rPr lang="en-AU" dirty="0" err="1"/>
              <a:t>ethene</a:t>
            </a:r>
            <a:r>
              <a:rPr lang="en-AU" dirty="0"/>
              <a:t> is sourced from the catalytic cracking of fossil fuels.</a:t>
            </a:r>
          </a:p>
          <a:p>
            <a:endParaRPr lang="en-AU" dirty="0"/>
          </a:p>
          <a:p>
            <a:r>
              <a:rPr lang="en-AU" i="1" dirty="0"/>
              <a:t>Based on the equation given, predict the temperature and pressure conditions used </a:t>
            </a:r>
            <a:br>
              <a:rPr lang="en-AU" i="1" dirty="0"/>
            </a:br>
            <a:r>
              <a:rPr lang="en-AU" i="1" dirty="0"/>
              <a:t>(low-medium-high). Give a very brief reason.</a:t>
            </a:r>
          </a:p>
          <a:p>
            <a:endParaRPr lang="en-AU" dirty="0"/>
          </a:p>
          <a:p>
            <a:r>
              <a:rPr lang="en-AU" dirty="0"/>
              <a:t> Temperature: ___________    Reason: _____________________________________________</a:t>
            </a:r>
          </a:p>
          <a:p>
            <a:endParaRPr lang="en-AU" dirty="0"/>
          </a:p>
          <a:p>
            <a:r>
              <a:rPr lang="en-AU" dirty="0"/>
              <a:t> Pressure: ___________           Reason: _____________________________________________</a:t>
            </a:r>
          </a:p>
        </p:txBody>
      </p:sp>
    </p:spTree>
    <p:extLst>
      <p:ext uri="{BB962C8B-B14F-4D97-AF65-F5344CB8AC3E}">
        <p14:creationId xmlns:p14="http://schemas.microsoft.com/office/powerpoint/2010/main" val="12962018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Ethanol production: Hydrolysis of </a:t>
            </a:r>
            <a:r>
              <a:rPr lang="en-US" sz="4400" dirty="0" err="1"/>
              <a:t>ethene</a:t>
            </a:r>
            <a:endParaRPr lang="en-AU" sz="4400" dirty="0"/>
          </a:p>
        </p:txBody>
      </p:sp>
      <p:sp>
        <p:nvSpPr>
          <p:cNvPr id="3" name="Content Placeholder 2"/>
          <p:cNvSpPr>
            <a:spLocks noGrp="1"/>
          </p:cNvSpPr>
          <p:nvPr>
            <p:ph idx="1"/>
          </p:nvPr>
        </p:nvSpPr>
        <p:spPr/>
        <p:txBody>
          <a:bodyPr>
            <a:normAutofit/>
          </a:bodyPr>
          <a:lstStyle/>
          <a:p>
            <a:r>
              <a:rPr lang="en-AU" dirty="0"/>
              <a:t>Actual conditions used:</a:t>
            </a:r>
          </a:p>
          <a:p>
            <a:pPr lvl="1"/>
            <a:r>
              <a:rPr lang="en-AU" dirty="0"/>
              <a:t>Temperature 300 </a:t>
            </a:r>
            <a:r>
              <a:rPr lang="it-IT" dirty="0"/>
              <a:t>°</a:t>
            </a:r>
            <a:r>
              <a:rPr lang="en-AU" dirty="0"/>
              <a:t>C</a:t>
            </a:r>
            <a:br>
              <a:rPr lang="en-AU" dirty="0"/>
            </a:br>
            <a:endParaRPr lang="en-AU" dirty="0"/>
          </a:p>
          <a:p>
            <a:pPr lvl="1"/>
            <a:r>
              <a:rPr lang="en-AU" dirty="0"/>
              <a:t>Pressure: 60-70 atmospheres</a:t>
            </a:r>
            <a:br>
              <a:rPr lang="en-AU" dirty="0"/>
            </a:br>
            <a:r>
              <a:rPr lang="en-AU" dirty="0"/>
              <a:t>      </a:t>
            </a:r>
            <a:r>
              <a:rPr lang="en-AU" i="1" dirty="0"/>
              <a:t>Higher pressures have higher operating costs and can cause </a:t>
            </a:r>
            <a:r>
              <a:rPr lang="en-AU" i="1" dirty="0" err="1"/>
              <a:t>ethene</a:t>
            </a:r>
            <a:r>
              <a:rPr lang="en-AU" i="1" dirty="0"/>
              <a:t> to polymerise to form </a:t>
            </a:r>
            <a:r>
              <a:rPr lang="en-AU" i="1" dirty="0" err="1"/>
              <a:t>polyethene</a:t>
            </a:r>
            <a:br>
              <a:rPr lang="en-AU" i="1" dirty="0"/>
            </a:br>
            <a:endParaRPr lang="en-AU" dirty="0"/>
          </a:p>
          <a:p>
            <a:pPr lvl="1"/>
            <a:r>
              <a:rPr lang="en-AU" dirty="0"/>
              <a:t>Catalyst: H</a:t>
            </a:r>
            <a:r>
              <a:rPr lang="en-AU" baseline="30000" dirty="0"/>
              <a:t>+</a:t>
            </a:r>
            <a:r>
              <a:rPr lang="en-AU" dirty="0"/>
              <a:t>  (e.g. concentrated H</a:t>
            </a:r>
            <a:r>
              <a:rPr lang="en-AU" baseline="-25000" dirty="0"/>
              <a:t>3</a:t>
            </a:r>
            <a:r>
              <a:rPr lang="en-AU" dirty="0"/>
              <a:t>PO</a:t>
            </a:r>
            <a:r>
              <a:rPr lang="en-AU" baseline="-25000" dirty="0"/>
              <a:t>4</a:t>
            </a:r>
            <a:r>
              <a:rPr lang="en-AU" dirty="0"/>
              <a:t>)</a:t>
            </a:r>
          </a:p>
        </p:txBody>
      </p:sp>
    </p:spTree>
    <p:extLst>
      <p:ext uri="{BB962C8B-B14F-4D97-AF65-F5344CB8AC3E}">
        <p14:creationId xmlns:p14="http://schemas.microsoft.com/office/powerpoint/2010/main" val="17617038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Ethanol production: Fermentation</a:t>
            </a:r>
            <a:endParaRPr lang="en-AU" sz="4400" dirty="0"/>
          </a:p>
        </p:txBody>
      </p:sp>
      <p:sp>
        <p:nvSpPr>
          <p:cNvPr id="3" name="Content Placeholder 2"/>
          <p:cNvSpPr>
            <a:spLocks noGrp="1"/>
          </p:cNvSpPr>
          <p:nvPr>
            <p:ph idx="1"/>
          </p:nvPr>
        </p:nvSpPr>
        <p:spPr>
          <a:xfrm>
            <a:off x="1097280" y="1845734"/>
            <a:ext cx="10058400" cy="4480638"/>
          </a:xfrm>
        </p:spPr>
        <p:txBody>
          <a:bodyPr>
            <a:normAutofit/>
          </a:bodyPr>
          <a:lstStyle/>
          <a:p>
            <a:r>
              <a:rPr lang="en-AU" dirty="0"/>
              <a:t>Fermentation uses biological organism (yeast) and its enzymes to synthesise ethanol. Ethanol produced in this method can be referred to as ‘bioethanol’, a type of ‘biofuel’.</a:t>
            </a:r>
            <a:br>
              <a:rPr lang="en-AU" dirty="0"/>
            </a:br>
            <a:endParaRPr lang="en-AU" dirty="0"/>
          </a:p>
          <a:p>
            <a:r>
              <a:rPr lang="en-AU" dirty="0"/>
              <a:t>In the process of fermentation:</a:t>
            </a:r>
          </a:p>
          <a:p>
            <a:pPr lvl="1"/>
            <a:r>
              <a:rPr lang="en-AU" dirty="0"/>
              <a:t>A suitable grain or fruit is mashed (e.g. corn)</a:t>
            </a:r>
          </a:p>
          <a:p>
            <a:pPr lvl="1"/>
            <a:r>
              <a:rPr lang="en-AU" dirty="0"/>
              <a:t>An appropriate strain of yeast is added</a:t>
            </a:r>
          </a:p>
          <a:p>
            <a:pPr lvl="1"/>
            <a:r>
              <a:rPr lang="en-AU" dirty="0"/>
              <a:t>Air is excluded</a:t>
            </a:r>
          </a:p>
          <a:p>
            <a:pPr lvl="1"/>
            <a:r>
              <a:rPr lang="en-AU" dirty="0"/>
              <a:t>The mixture is kept at 37 </a:t>
            </a:r>
            <a:r>
              <a:rPr lang="it-IT" dirty="0"/>
              <a:t>°</a:t>
            </a:r>
            <a:r>
              <a:rPr lang="en-AU" dirty="0"/>
              <a:t>C </a:t>
            </a:r>
            <a:br>
              <a:rPr lang="en-AU" dirty="0"/>
            </a:br>
            <a:endParaRPr lang="en-AU" dirty="0"/>
          </a:p>
          <a:p>
            <a:r>
              <a:rPr lang="en-AU" dirty="0"/>
              <a:t>Enzymes in mixture convert starch or sucrose to glucose and fructose. The yeast consumes the simple sugars to produce ethanol.</a:t>
            </a:r>
          </a:p>
          <a:p>
            <a:pPr algn="ctr"/>
            <a:r>
              <a:rPr lang="en-AU" dirty="0"/>
              <a:t>C</a:t>
            </a:r>
            <a:r>
              <a:rPr lang="en-AU" baseline="-25000" dirty="0"/>
              <a:t>6</a:t>
            </a:r>
            <a:r>
              <a:rPr lang="en-AU" dirty="0"/>
              <a:t>H</a:t>
            </a:r>
            <a:r>
              <a:rPr lang="en-AU" baseline="-25000" dirty="0"/>
              <a:t>12</a:t>
            </a:r>
            <a:r>
              <a:rPr lang="en-AU" dirty="0"/>
              <a:t>O</a:t>
            </a:r>
            <a:r>
              <a:rPr lang="en-AU" baseline="-25000" dirty="0"/>
              <a:t>6</a:t>
            </a:r>
            <a:r>
              <a:rPr lang="en-AU" dirty="0"/>
              <a:t>(</a:t>
            </a:r>
            <a:r>
              <a:rPr lang="en-AU" dirty="0" err="1"/>
              <a:t>aq</a:t>
            </a:r>
            <a:r>
              <a:rPr lang="en-AU" dirty="0"/>
              <a:t>)   </a:t>
            </a:r>
            <a:r>
              <a:rPr lang="is-IS" dirty="0"/>
              <a:t>→</a:t>
            </a:r>
            <a:r>
              <a:rPr lang="en-AU" dirty="0"/>
              <a:t>   2 CH</a:t>
            </a:r>
            <a:r>
              <a:rPr lang="en-AU" baseline="-25000" dirty="0"/>
              <a:t>3</a:t>
            </a:r>
            <a:r>
              <a:rPr lang="en-AU" dirty="0"/>
              <a:t>CH</a:t>
            </a:r>
            <a:r>
              <a:rPr lang="en-AU" baseline="-25000" dirty="0"/>
              <a:t>2</a:t>
            </a:r>
            <a:r>
              <a:rPr lang="en-AU" dirty="0"/>
              <a:t>OH(</a:t>
            </a:r>
            <a:r>
              <a:rPr lang="en-AU" dirty="0" err="1"/>
              <a:t>aq</a:t>
            </a:r>
            <a:r>
              <a:rPr lang="en-AU" dirty="0"/>
              <a:t>)   +   2 CO</a:t>
            </a:r>
            <a:r>
              <a:rPr lang="en-AU" baseline="-25000" dirty="0"/>
              <a:t>2</a:t>
            </a:r>
            <a:r>
              <a:rPr lang="en-AU" dirty="0"/>
              <a:t>(g)</a:t>
            </a:r>
          </a:p>
        </p:txBody>
      </p:sp>
    </p:spTree>
    <p:extLst>
      <p:ext uri="{BB962C8B-B14F-4D97-AF65-F5344CB8AC3E}">
        <p14:creationId xmlns:p14="http://schemas.microsoft.com/office/powerpoint/2010/main" val="2853064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Ethanol production: Fermentation</a:t>
            </a:r>
            <a:endParaRPr lang="en-AU" sz="4400" dirty="0"/>
          </a:p>
        </p:txBody>
      </p:sp>
      <p:sp>
        <p:nvSpPr>
          <p:cNvPr id="3" name="Content Placeholder 2"/>
          <p:cNvSpPr>
            <a:spLocks noGrp="1"/>
          </p:cNvSpPr>
          <p:nvPr>
            <p:ph idx="1"/>
          </p:nvPr>
        </p:nvSpPr>
        <p:spPr>
          <a:xfrm>
            <a:off x="1097280" y="1845734"/>
            <a:ext cx="10058400" cy="4480638"/>
          </a:xfrm>
        </p:spPr>
        <p:txBody>
          <a:bodyPr>
            <a:normAutofit/>
          </a:bodyPr>
          <a:lstStyle/>
          <a:p>
            <a:r>
              <a:rPr lang="en-AU" dirty="0"/>
              <a:t>Industrial considerations:</a:t>
            </a:r>
          </a:p>
          <a:p>
            <a:pPr lvl="1"/>
            <a:r>
              <a:rPr lang="en-AU" dirty="0"/>
              <a:t>Yeast is killed in solutions with ethanol concentrations &gt;15%. This limits the purity of ethanol that can be made. </a:t>
            </a:r>
            <a:br>
              <a:rPr lang="en-AU" dirty="0"/>
            </a:br>
            <a:endParaRPr lang="en-AU" dirty="0"/>
          </a:p>
          <a:p>
            <a:pPr lvl="1"/>
            <a:r>
              <a:rPr lang="en-AU" dirty="0"/>
              <a:t>Reaction rates are very slow at the given temperature. Temperature cannot be increased without denaturing enzymes / killing yeast.</a:t>
            </a:r>
          </a:p>
          <a:p>
            <a:pPr lvl="1"/>
            <a:endParaRPr lang="en-AU" dirty="0"/>
          </a:p>
          <a:p>
            <a:pPr lvl="1"/>
            <a:endParaRPr lang="en-AU" dirty="0"/>
          </a:p>
        </p:txBody>
      </p:sp>
    </p:spTree>
    <p:extLst>
      <p:ext uri="{BB962C8B-B14F-4D97-AF65-F5344CB8AC3E}">
        <p14:creationId xmlns:p14="http://schemas.microsoft.com/office/powerpoint/2010/main" val="17542042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Ethanol production</a:t>
            </a:r>
            <a:endParaRPr lang="en-AU" sz="44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569709193"/>
              </p:ext>
            </p:extLst>
          </p:nvPr>
        </p:nvGraphicFramePr>
        <p:xfrm>
          <a:off x="1096963" y="1846263"/>
          <a:ext cx="10055946" cy="3235960"/>
        </p:xfrm>
        <a:graphic>
          <a:graphicData uri="http://schemas.openxmlformats.org/drawingml/2006/table">
            <a:tbl>
              <a:tblPr firstRow="1" bandRow="1">
                <a:tableStyleId>{5C22544A-7EE6-4342-B048-85BDC9FD1C3A}</a:tableStyleId>
              </a:tblPr>
              <a:tblGrid>
                <a:gridCol w="2320622">
                  <a:extLst>
                    <a:ext uri="{9D8B030D-6E8A-4147-A177-3AD203B41FA5}">
                      <a16:colId xmlns:a16="http://schemas.microsoft.com/office/drawing/2014/main" val="20000"/>
                    </a:ext>
                  </a:extLst>
                </a:gridCol>
                <a:gridCol w="3867662">
                  <a:extLst>
                    <a:ext uri="{9D8B030D-6E8A-4147-A177-3AD203B41FA5}">
                      <a16:colId xmlns:a16="http://schemas.microsoft.com/office/drawing/2014/main" val="20001"/>
                    </a:ext>
                  </a:extLst>
                </a:gridCol>
                <a:gridCol w="3867662">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Hydration</a:t>
                      </a:r>
                    </a:p>
                  </a:txBody>
                  <a:tcPr/>
                </a:tc>
                <a:tc>
                  <a:txBody>
                    <a:bodyPr/>
                    <a:lstStyle/>
                    <a:p>
                      <a:r>
                        <a:rPr lang="en-US" dirty="0"/>
                        <a:t>Fermentation</a:t>
                      </a:r>
                    </a:p>
                  </a:txBody>
                  <a:tcPr/>
                </a:tc>
                <a:extLst>
                  <a:ext uri="{0D108BD9-81ED-4DB2-BD59-A6C34878D82A}">
                    <a16:rowId xmlns:a16="http://schemas.microsoft.com/office/drawing/2014/main" val="10000"/>
                  </a:ext>
                </a:extLst>
              </a:tr>
              <a:tr h="370840">
                <a:tc>
                  <a:txBody>
                    <a:bodyPr/>
                    <a:lstStyle/>
                    <a:p>
                      <a:r>
                        <a:rPr lang="en-US" dirty="0"/>
                        <a:t>Type of raw material</a:t>
                      </a:r>
                    </a:p>
                  </a:txBody>
                  <a:tcPr/>
                </a:tc>
                <a:tc>
                  <a:txBody>
                    <a:bodyPr/>
                    <a:lstStyle/>
                    <a:p>
                      <a:r>
                        <a:rPr lang="en-US" dirty="0"/>
                        <a:t>Non-renewable (</a:t>
                      </a:r>
                      <a:r>
                        <a:rPr lang="en-US" dirty="0" err="1"/>
                        <a:t>ethene</a:t>
                      </a:r>
                      <a:r>
                        <a:rPr lang="en-US" baseline="0" dirty="0"/>
                        <a:t> from crude oil)</a:t>
                      </a:r>
                      <a:endParaRPr lang="en-US" dirty="0"/>
                    </a:p>
                  </a:txBody>
                  <a:tcPr/>
                </a:tc>
                <a:tc>
                  <a:txBody>
                    <a:bodyPr/>
                    <a:lstStyle/>
                    <a:p>
                      <a:r>
                        <a:rPr lang="en-US" dirty="0"/>
                        <a:t>Renewable (glucose from plants)</a:t>
                      </a:r>
                    </a:p>
                  </a:txBody>
                  <a:tcPr/>
                </a:tc>
                <a:extLst>
                  <a:ext uri="{0D108BD9-81ED-4DB2-BD59-A6C34878D82A}">
                    <a16:rowId xmlns:a16="http://schemas.microsoft.com/office/drawing/2014/main" val="10001"/>
                  </a:ext>
                </a:extLst>
              </a:tr>
              <a:tr h="370840">
                <a:tc>
                  <a:txBody>
                    <a:bodyPr/>
                    <a:lstStyle/>
                    <a:p>
                      <a:r>
                        <a:rPr lang="en-US" dirty="0"/>
                        <a:t>Type of process</a:t>
                      </a:r>
                    </a:p>
                  </a:txBody>
                  <a:tcPr/>
                </a:tc>
                <a:tc>
                  <a:txBody>
                    <a:bodyPr/>
                    <a:lstStyle/>
                    <a:p>
                      <a:r>
                        <a:rPr lang="en-US" dirty="0"/>
                        <a:t>Continuous (runs all the time)</a:t>
                      </a:r>
                    </a:p>
                  </a:txBody>
                  <a:tcPr/>
                </a:tc>
                <a:tc>
                  <a:txBody>
                    <a:bodyPr/>
                    <a:lstStyle/>
                    <a:p>
                      <a:r>
                        <a:rPr lang="en-US" dirty="0"/>
                        <a:t>Batch (stop-start)</a:t>
                      </a:r>
                    </a:p>
                  </a:txBody>
                  <a:tcPr/>
                </a:tc>
                <a:extLst>
                  <a:ext uri="{0D108BD9-81ED-4DB2-BD59-A6C34878D82A}">
                    <a16:rowId xmlns:a16="http://schemas.microsoft.com/office/drawing/2014/main" val="10002"/>
                  </a:ext>
                </a:extLst>
              </a:tr>
              <a:tr h="370840">
                <a:tc>
                  <a:txBody>
                    <a:bodyPr/>
                    <a:lstStyle/>
                    <a:p>
                      <a:r>
                        <a:rPr lang="en-US" dirty="0" err="1"/>
                        <a:t>Labour</a:t>
                      </a:r>
                      <a:endParaRPr lang="en-US" dirty="0"/>
                    </a:p>
                  </a:txBody>
                  <a:tcPr/>
                </a:tc>
                <a:tc>
                  <a:txBody>
                    <a:bodyPr/>
                    <a:lstStyle/>
                    <a:p>
                      <a:r>
                        <a:rPr lang="en-US" dirty="0"/>
                        <a:t>Few workers needed</a:t>
                      </a:r>
                    </a:p>
                  </a:txBody>
                  <a:tcPr/>
                </a:tc>
                <a:tc>
                  <a:txBody>
                    <a:bodyPr/>
                    <a:lstStyle/>
                    <a:p>
                      <a:r>
                        <a:rPr lang="en-US" dirty="0"/>
                        <a:t>A lot of workers needed</a:t>
                      </a:r>
                    </a:p>
                  </a:txBody>
                  <a:tcPr/>
                </a:tc>
                <a:extLst>
                  <a:ext uri="{0D108BD9-81ED-4DB2-BD59-A6C34878D82A}">
                    <a16:rowId xmlns:a16="http://schemas.microsoft.com/office/drawing/2014/main" val="10003"/>
                  </a:ext>
                </a:extLst>
              </a:tr>
              <a:tr h="370840">
                <a:tc>
                  <a:txBody>
                    <a:bodyPr/>
                    <a:lstStyle/>
                    <a:p>
                      <a:r>
                        <a:rPr lang="en-US" dirty="0"/>
                        <a:t>Rate of reaction</a:t>
                      </a:r>
                    </a:p>
                  </a:txBody>
                  <a:tcPr/>
                </a:tc>
                <a:tc>
                  <a:txBody>
                    <a:bodyPr/>
                    <a:lstStyle/>
                    <a:p>
                      <a:r>
                        <a:rPr lang="en-US" dirty="0"/>
                        <a:t>Fast</a:t>
                      </a:r>
                    </a:p>
                  </a:txBody>
                  <a:tcPr/>
                </a:tc>
                <a:tc>
                  <a:txBody>
                    <a:bodyPr/>
                    <a:lstStyle/>
                    <a:p>
                      <a:r>
                        <a:rPr lang="en-US" dirty="0"/>
                        <a:t>Slow</a:t>
                      </a:r>
                    </a:p>
                  </a:txBody>
                  <a:tcPr/>
                </a:tc>
                <a:extLst>
                  <a:ext uri="{0D108BD9-81ED-4DB2-BD59-A6C34878D82A}">
                    <a16:rowId xmlns:a16="http://schemas.microsoft.com/office/drawing/2014/main" val="10004"/>
                  </a:ext>
                </a:extLst>
              </a:tr>
              <a:tr h="370840">
                <a:tc>
                  <a:txBody>
                    <a:bodyPr/>
                    <a:lstStyle/>
                    <a:p>
                      <a:r>
                        <a:rPr lang="en-US" dirty="0"/>
                        <a:t>Conditions</a:t>
                      </a:r>
                    </a:p>
                  </a:txBody>
                  <a:tcPr/>
                </a:tc>
                <a:tc>
                  <a:txBody>
                    <a:bodyPr/>
                    <a:lstStyle/>
                    <a:p>
                      <a:r>
                        <a:rPr lang="en-US" dirty="0"/>
                        <a:t>Relatively high (300 </a:t>
                      </a:r>
                      <a:r>
                        <a:rPr lang="it-IT" dirty="0"/>
                        <a:t>°</a:t>
                      </a:r>
                      <a:r>
                        <a:rPr lang="en-US" dirty="0"/>
                        <a:t>C)</a:t>
                      </a:r>
                    </a:p>
                    <a:p>
                      <a:r>
                        <a:rPr lang="en-US" dirty="0"/>
                        <a:t>60-70 atmospheres</a:t>
                      </a:r>
                    </a:p>
                  </a:txBody>
                  <a:tcPr/>
                </a:tc>
                <a:tc>
                  <a:txBody>
                    <a:bodyPr/>
                    <a:lstStyle/>
                    <a:p>
                      <a:r>
                        <a:rPr lang="en-US" dirty="0"/>
                        <a:t>Warm (30 </a:t>
                      </a:r>
                      <a:r>
                        <a:rPr lang="it-IT" dirty="0"/>
                        <a:t>°</a:t>
                      </a:r>
                      <a:r>
                        <a:rPr lang="en-US" dirty="0"/>
                        <a:t>C)</a:t>
                      </a:r>
                    </a:p>
                    <a:p>
                      <a:r>
                        <a:rPr lang="en-US" dirty="0"/>
                        <a:t>1 atmosphere pressure</a:t>
                      </a:r>
                    </a:p>
                  </a:txBody>
                  <a:tcPr/>
                </a:tc>
                <a:extLst>
                  <a:ext uri="{0D108BD9-81ED-4DB2-BD59-A6C34878D82A}">
                    <a16:rowId xmlns:a16="http://schemas.microsoft.com/office/drawing/2014/main" val="10005"/>
                  </a:ext>
                </a:extLst>
              </a:tr>
              <a:tr h="370840">
                <a:tc>
                  <a:txBody>
                    <a:bodyPr/>
                    <a:lstStyle/>
                    <a:p>
                      <a:r>
                        <a:rPr lang="en-US" dirty="0"/>
                        <a:t>Purity of product</a:t>
                      </a:r>
                    </a:p>
                  </a:txBody>
                  <a:tcPr/>
                </a:tc>
                <a:tc>
                  <a:txBody>
                    <a:bodyPr/>
                    <a:lstStyle/>
                    <a:p>
                      <a:r>
                        <a:rPr lang="en-US" dirty="0"/>
                        <a:t>Pure (no by-products made)</a:t>
                      </a:r>
                    </a:p>
                  </a:txBody>
                  <a:tcPr/>
                </a:tc>
                <a:tc>
                  <a:txBody>
                    <a:bodyPr/>
                    <a:lstStyle/>
                    <a:p>
                      <a:r>
                        <a:rPr lang="en-US" dirty="0"/>
                        <a:t>Impure (needs treatment)</a:t>
                      </a:r>
                    </a:p>
                  </a:txBody>
                  <a:tcPr/>
                </a:tc>
                <a:extLst>
                  <a:ext uri="{0D108BD9-81ED-4DB2-BD59-A6C34878D82A}">
                    <a16:rowId xmlns:a16="http://schemas.microsoft.com/office/drawing/2014/main" val="10006"/>
                  </a:ext>
                </a:extLst>
              </a:tr>
              <a:tr h="370840">
                <a:tc>
                  <a:txBody>
                    <a:bodyPr/>
                    <a:lstStyle/>
                    <a:p>
                      <a:r>
                        <a:rPr lang="en-US" dirty="0"/>
                        <a:t>Energy needed</a:t>
                      </a:r>
                    </a:p>
                  </a:txBody>
                  <a:tcPr/>
                </a:tc>
                <a:tc>
                  <a:txBody>
                    <a:bodyPr/>
                    <a:lstStyle/>
                    <a:p>
                      <a:r>
                        <a:rPr lang="en-US" dirty="0"/>
                        <a:t>A lot</a:t>
                      </a:r>
                    </a:p>
                  </a:txBody>
                  <a:tcPr/>
                </a:tc>
                <a:tc>
                  <a:txBody>
                    <a:bodyPr/>
                    <a:lstStyle/>
                    <a:p>
                      <a:r>
                        <a:rPr lang="en-US" dirty="0"/>
                        <a:t>A little</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556889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Enzymes</a:t>
            </a:r>
            <a:endParaRPr lang="en-AU" dirty="0"/>
          </a:p>
        </p:txBody>
      </p:sp>
      <p:sp>
        <p:nvSpPr>
          <p:cNvPr id="3" name="Content Placeholder 2"/>
          <p:cNvSpPr>
            <a:spLocks noGrp="1"/>
          </p:cNvSpPr>
          <p:nvPr>
            <p:ph idx="1"/>
          </p:nvPr>
        </p:nvSpPr>
        <p:spPr/>
        <p:txBody>
          <a:bodyPr/>
          <a:lstStyle/>
          <a:p>
            <a:r>
              <a:rPr lang="en-AU" b="1" dirty="0"/>
              <a:t>Reminder: </a:t>
            </a:r>
            <a:r>
              <a:rPr lang="en-AU" dirty="0"/>
              <a:t>Catalysts increase reaction rates by offering an alternate reaction pathway with lower activation energy. This increases the proportion of particles that have sufficient energy to react.</a:t>
            </a:r>
          </a:p>
          <a:p>
            <a:endParaRPr lang="en-AU" b="1" dirty="0"/>
          </a:p>
        </p:txBody>
      </p:sp>
      <p:pic>
        <p:nvPicPr>
          <p:cNvPr id="5" name="Picture 4"/>
          <p:cNvPicPr>
            <a:picLocks noChangeAspect="1"/>
          </p:cNvPicPr>
          <p:nvPr/>
        </p:nvPicPr>
        <p:blipFill>
          <a:blip r:embed="rId2"/>
          <a:stretch>
            <a:fillRect/>
          </a:stretch>
        </p:blipFill>
        <p:spPr>
          <a:xfrm>
            <a:off x="3999230" y="2659888"/>
            <a:ext cx="4254500" cy="3098800"/>
          </a:xfrm>
          <a:prstGeom prst="rect">
            <a:avLst/>
          </a:prstGeom>
        </p:spPr>
      </p:pic>
    </p:spTree>
    <p:extLst>
      <p:ext uri="{BB962C8B-B14F-4D97-AF65-F5344CB8AC3E}">
        <p14:creationId xmlns:p14="http://schemas.microsoft.com/office/powerpoint/2010/main" val="3517703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097280" y="1257576"/>
            <a:ext cx="10146588" cy="4935960"/>
          </a:xfrm>
          <a:prstGeom prst="rect">
            <a:avLst/>
          </a:prstGeom>
        </p:spPr>
      </p:pic>
      <p:sp>
        <p:nvSpPr>
          <p:cNvPr id="8" name="Content Placeholder 2"/>
          <p:cNvSpPr txBox="1">
            <a:spLocks/>
          </p:cNvSpPr>
          <p:nvPr/>
        </p:nvSpPr>
        <p:spPr>
          <a:xfrm>
            <a:off x="1097280" y="281523"/>
            <a:ext cx="10058400"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AU" dirty="0"/>
              <a:t>Enzymes are protein molecules which are biological catalysts. The </a:t>
            </a:r>
            <a:r>
              <a:rPr lang="en-AU" b="1" dirty="0"/>
              <a:t>shape</a:t>
            </a:r>
            <a:r>
              <a:rPr lang="en-AU" dirty="0"/>
              <a:t> of the enzyme is key in allowing it to act as a catalyst.   		           </a:t>
            </a:r>
            <a:r>
              <a:rPr lang="en-AU" i="1" u="sng" dirty="0"/>
              <a:t>Refer to notes for structure of proteins.</a:t>
            </a:r>
            <a:endParaRPr lang="en-AU" u="sng" dirty="0"/>
          </a:p>
        </p:txBody>
      </p:sp>
    </p:spTree>
    <p:extLst>
      <p:ext uri="{BB962C8B-B14F-4D97-AF65-F5344CB8AC3E}">
        <p14:creationId xmlns:p14="http://schemas.microsoft.com/office/powerpoint/2010/main" val="11291041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Enzymes</a:t>
            </a:r>
          </a:p>
        </p:txBody>
      </p:sp>
      <p:sp>
        <p:nvSpPr>
          <p:cNvPr id="3" name="Content Placeholder 2"/>
          <p:cNvSpPr>
            <a:spLocks noGrp="1"/>
          </p:cNvSpPr>
          <p:nvPr>
            <p:ph idx="1"/>
          </p:nvPr>
        </p:nvSpPr>
        <p:spPr>
          <a:xfrm>
            <a:off x="1097280" y="1845734"/>
            <a:ext cx="10375392" cy="4023360"/>
          </a:xfrm>
        </p:spPr>
        <p:txBody>
          <a:bodyPr/>
          <a:lstStyle/>
          <a:p>
            <a:r>
              <a:rPr lang="en-US" dirty="0"/>
              <a:t>Explain the importance of enzymes in chemical synthesis.			             </a:t>
            </a:r>
            <a:r>
              <a:rPr lang="en-US" b="1" dirty="0"/>
              <a:t>(4 marks)</a:t>
            </a:r>
            <a:endParaRPr lang="en-US" dirty="0"/>
          </a:p>
        </p:txBody>
      </p:sp>
      <p:sp>
        <p:nvSpPr>
          <p:cNvPr id="4" name="TextBox 3"/>
          <p:cNvSpPr txBox="1"/>
          <p:nvPr/>
        </p:nvSpPr>
        <p:spPr>
          <a:xfrm>
            <a:off x="1097280" y="2694432"/>
            <a:ext cx="10424160" cy="1754326"/>
          </a:xfrm>
          <a:prstGeom prst="rect">
            <a:avLst/>
          </a:prstGeom>
          <a:noFill/>
        </p:spPr>
        <p:txBody>
          <a:bodyPr wrap="square" rtlCol="0">
            <a:spAutoFit/>
          </a:bodyPr>
          <a:lstStyle/>
          <a:p>
            <a:pPr marL="285750" indent="-285750">
              <a:lnSpc>
                <a:spcPct val="150000"/>
              </a:lnSpc>
              <a:buFont typeface="Arial" charset="0"/>
              <a:buChar char="•"/>
            </a:pPr>
            <a:r>
              <a:rPr lang="en-US" b="1" dirty="0">
                <a:solidFill>
                  <a:srgbClr val="FF0000"/>
                </a:solidFill>
              </a:rPr>
              <a:t>Increases the rate of chemical reactions (1)</a:t>
            </a:r>
          </a:p>
          <a:p>
            <a:pPr marL="285750" indent="-285750">
              <a:lnSpc>
                <a:spcPct val="150000"/>
              </a:lnSpc>
              <a:buFont typeface="Arial" charset="0"/>
              <a:buChar char="•"/>
            </a:pPr>
            <a:r>
              <a:rPr lang="en-US" b="1" dirty="0">
                <a:solidFill>
                  <a:srgbClr val="FF0000"/>
                </a:solidFill>
              </a:rPr>
              <a:t>Allows reactions to occur at lower temperatures and pressures while maintaining acceptable rates. (1) </a:t>
            </a:r>
          </a:p>
          <a:p>
            <a:pPr marL="285750" indent="-285750">
              <a:lnSpc>
                <a:spcPct val="150000"/>
              </a:lnSpc>
              <a:buFont typeface="Arial" charset="0"/>
              <a:buChar char="•"/>
            </a:pPr>
            <a:r>
              <a:rPr lang="en-US" b="1" dirty="0">
                <a:solidFill>
                  <a:srgbClr val="FF0000"/>
                </a:solidFill>
              </a:rPr>
              <a:t>This reduces operating costs for industrial plants (e.g. less heating costs) (1)</a:t>
            </a:r>
          </a:p>
          <a:p>
            <a:pPr marL="285750" indent="-285750">
              <a:lnSpc>
                <a:spcPct val="150000"/>
              </a:lnSpc>
              <a:buFont typeface="Arial" charset="0"/>
              <a:buChar char="•"/>
            </a:pPr>
            <a:r>
              <a:rPr lang="en-US" b="1" dirty="0">
                <a:solidFill>
                  <a:srgbClr val="FF0000"/>
                </a:solidFill>
              </a:rPr>
              <a:t>Enzymes are not consumed in chemical reactions, so can be reused without additional cost (1)</a:t>
            </a:r>
          </a:p>
        </p:txBody>
      </p:sp>
    </p:spTree>
    <p:extLst>
      <p:ext uri="{BB962C8B-B14F-4D97-AF65-F5344CB8AC3E}">
        <p14:creationId xmlns:p14="http://schemas.microsoft.com/office/powerpoint/2010/main" val="1571863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clker.com/cliparts/O/l/d/s/i/S/check-mark-h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5" y="4106862"/>
            <a:ext cx="2022475" cy="2041237"/>
          </a:xfrm>
          <a:prstGeom prst="rect">
            <a:avLst/>
          </a:prstGeom>
          <a:solidFill>
            <a:schemeClr val="bg1"/>
          </a:solidFill>
        </p:spPr>
      </p:pic>
      <p:sp>
        <p:nvSpPr>
          <p:cNvPr id="2" name="Title 1"/>
          <p:cNvSpPr>
            <a:spLocks noGrp="1"/>
          </p:cNvSpPr>
          <p:nvPr>
            <p:ph type="title"/>
          </p:nvPr>
        </p:nvSpPr>
        <p:spPr/>
        <p:txBody>
          <a:bodyPr/>
          <a:lstStyle/>
          <a:p>
            <a:r>
              <a:rPr lang="en-US" dirty="0"/>
              <a:t>Syllabus</a:t>
            </a:r>
            <a:endParaRPr lang="en-AU" dirty="0"/>
          </a:p>
        </p:txBody>
      </p:sp>
      <p:sp>
        <p:nvSpPr>
          <p:cNvPr id="3" name="Content Placeholder 2"/>
          <p:cNvSpPr>
            <a:spLocks noGrp="1"/>
          </p:cNvSpPr>
          <p:nvPr>
            <p:ph idx="1"/>
          </p:nvPr>
        </p:nvSpPr>
        <p:spPr/>
        <p:txBody>
          <a:bodyPr>
            <a:normAutofit/>
          </a:bodyPr>
          <a:lstStyle/>
          <a:p>
            <a:pPr lvl="1">
              <a:lnSpc>
                <a:spcPct val="100000"/>
              </a:lnSpc>
            </a:pPr>
            <a:r>
              <a:rPr lang="en-AU" sz="2200" dirty="0"/>
              <a:t>Scientific knowledge can be used to design alternative chemical synthesis pathways, taking into account sustainability, local resources, economics and </a:t>
            </a:r>
            <a:r>
              <a:rPr lang="en-AU" sz="2200" b="1" dirty="0"/>
              <a:t>environmental impacts (green chemistry)</a:t>
            </a:r>
            <a:r>
              <a:rPr lang="en-AU" sz="2200" dirty="0"/>
              <a:t>, including the production of </a:t>
            </a:r>
            <a:r>
              <a:rPr lang="en-AU" sz="2200" b="1" dirty="0"/>
              <a:t>ethanol</a:t>
            </a:r>
            <a:r>
              <a:rPr lang="en-AU" sz="2200" dirty="0"/>
              <a:t> and biodiesel.</a:t>
            </a:r>
          </a:p>
          <a:p>
            <a:pPr lvl="1">
              <a:lnSpc>
                <a:spcPct val="100000"/>
              </a:lnSpc>
            </a:pPr>
            <a:endParaRPr lang="en-AU" sz="2200" dirty="0"/>
          </a:p>
          <a:p>
            <a:pPr lvl="1">
              <a:lnSpc>
                <a:spcPct val="100000"/>
              </a:lnSpc>
            </a:pPr>
            <a:r>
              <a:rPr lang="en-AU" sz="2200" b="1" dirty="0"/>
              <a:t>enzymes</a:t>
            </a:r>
            <a:r>
              <a:rPr lang="en-AU" sz="2200" dirty="0"/>
              <a:t> are protein molecules which are biological catalysts and can be used on an industrial scale to produce chemicals that would otherwise require high pressure or temperature conditions to achieve an economically viable rate, including </a:t>
            </a:r>
            <a:r>
              <a:rPr lang="en-AU" sz="2200" b="1" dirty="0"/>
              <a:t>fermentation</a:t>
            </a:r>
            <a:r>
              <a:rPr lang="en-AU" sz="2200" dirty="0"/>
              <a:t> to produce ethanol versus </a:t>
            </a:r>
            <a:r>
              <a:rPr lang="en-AU" sz="2200" b="1" dirty="0"/>
              <a:t>hydration of </a:t>
            </a:r>
            <a:r>
              <a:rPr lang="en-AU" sz="2200" b="1" dirty="0" err="1"/>
              <a:t>ethene</a:t>
            </a:r>
            <a:endParaRPr lang="en-AU" sz="2200" b="1" dirty="0"/>
          </a:p>
        </p:txBody>
      </p:sp>
    </p:spTree>
    <p:extLst>
      <p:ext uri="{BB962C8B-B14F-4D97-AF65-F5344CB8AC3E}">
        <p14:creationId xmlns:p14="http://schemas.microsoft.com/office/powerpoint/2010/main" val="3567400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Biodiesel</a:t>
            </a:r>
          </a:p>
        </p:txBody>
      </p:sp>
      <p:sp>
        <p:nvSpPr>
          <p:cNvPr id="3" name="Content Placeholder 2"/>
          <p:cNvSpPr>
            <a:spLocks noGrp="1"/>
          </p:cNvSpPr>
          <p:nvPr>
            <p:ph idx="1"/>
          </p:nvPr>
        </p:nvSpPr>
        <p:spPr/>
        <p:txBody>
          <a:bodyPr/>
          <a:lstStyle/>
          <a:p>
            <a:r>
              <a:rPr lang="en-US" dirty="0">
                <a:hlinkClick r:id="rId2"/>
              </a:rPr>
              <a:t>http://ed.ted.com/lessons/biodiesel-the-afterlife-of-oil-natascia-radice</a:t>
            </a:r>
            <a:r>
              <a:rPr lang="en-US" dirty="0"/>
              <a:t> </a:t>
            </a:r>
          </a:p>
          <a:p>
            <a:r>
              <a:rPr lang="en-US" i="1" dirty="0"/>
              <a:t>What is biodiesel?     What is its significance?</a:t>
            </a:r>
          </a:p>
        </p:txBody>
      </p:sp>
    </p:spTree>
    <p:extLst>
      <p:ext uri="{BB962C8B-B14F-4D97-AF65-F5344CB8AC3E}">
        <p14:creationId xmlns:p14="http://schemas.microsoft.com/office/powerpoint/2010/main" val="2234678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Triglycerides </a:t>
            </a:r>
            <a:r>
              <a:rPr lang="en-US" sz="4400" dirty="0">
                <a:sym typeface="Wingdings"/>
              </a:rPr>
              <a:t> Soap            </a:t>
            </a:r>
            <a:r>
              <a:rPr lang="en-US" sz="4400" i="1" dirty="0">
                <a:sym typeface="Wingdings"/>
              </a:rPr>
              <a:t>(Revision)</a:t>
            </a:r>
            <a:endParaRPr lang="en-AU" sz="4400" dirty="0"/>
          </a:p>
        </p:txBody>
      </p:sp>
      <p:sp>
        <p:nvSpPr>
          <p:cNvPr id="3" name="Content Placeholder 2"/>
          <p:cNvSpPr>
            <a:spLocks noGrp="1"/>
          </p:cNvSpPr>
          <p:nvPr>
            <p:ph idx="1"/>
          </p:nvPr>
        </p:nvSpPr>
        <p:spPr/>
        <p:txBody>
          <a:bodyPr/>
          <a:lstStyle/>
          <a:p>
            <a:r>
              <a:rPr lang="en-AU" b="1" dirty="0"/>
              <a:t>Recall: </a:t>
            </a:r>
            <a:r>
              <a:rPr lang="en-AU" dirty="0"/>
              <a:t>Soaps were prepared from the hydrolysis of triglycerides (fats and oils). The product of saponification was glycerol and a carboxylate ion.</a:t>
            </a:r>
            <a:endParaRPr lang="en-AU" b="1" dirty="0"/>
          </a:p>
        </p:txBody>
      </p:sp>
      <p:pic>
        <p:nvPicPr>
          <p:cNvPr id="4" name="Picture 3"/>
          <p:cNvPicPr>
            <a:picLocks noChangeAspect="1"/>
          </p:cNvPicPr>
          <p:nvPr/>
        </p:nvPicPr>
        <p:blipFill>
          <a:blip r:embed="rId2"/>
          <a:stretch>
            <a:fillRect/>
          </a:stretch>
        </p:blipFill>
        <p:spPr>
          <a:xfrm>
            <a:off x="437381" y="2541994"/>
            <a:ext cx="5101378" cy="3524044"/>
          </a:xfrm>
          <a:prstGeom prst="rect">
            <a:avLst/>
          </a:prstGeom>
        </p:spPr>
      </p:pic>
      <p:pic>
        <p:nvPicPr>
          <p:cNvPr id="5" name="Picture 4"/>
          <p:cNvPicPr>
            <a:picLocks noChangeAspect="1"/>
          </p:cNvPicPr>
          <p:nvPr/>
        </p:nvPicPr>
        <p:blipFill rotWithShape="1">
          <a:blip r:embed="rId3"/>
          <a:srcRect l="31187" r="62518"/>
          <a:stretch/>
        </p:blipFill>
        <p:spPr>
          <a:xfrm>
            <a:off x="9161742" y="2541994"/>
            <a:ext cx="342900" cy="3707296"/>
          </a:xfrm>
          <a:prstGeom prst="rect">
            <a:avLst/>
          </a:prstGeom>
        </p:spPr>
      </p:pic>
      <p:pic>
        <p:nvPicPr>
          <p:cNvPr id="6" name="Picture 5"/>
          <p:cNvPicPr>
            <a:picLocks noChangeAspect="1"/>
          </p:cNvPicPr>
          <p:nvPr/>
        </p:nvPicPr>
        <p:blipFill rotWithShape="1">
          <a:blip r:embed="rId3"/>
          <a:srcRect r="71610"/>
          <a:stretch/>
        </p:blipFill>
        <p:spPr>
          <a:xfrm>
            <a:off x="9967941" y="2541994"/>
            <a:ext cx="1546571" cy="3707296"/>
          </a:xfrm>
          <a:prstGeom prst="rect">
            <a:avLst/>
          </a:prstGeom>
        </p:spPr>
      </p:pic>
      <p:pic>
        <p:nvPicPr>
          <p:cNvPr id="7" name="Picture 6"/>
          <p:cNvPicPr>
            <a:picLocks noChangeAspect="1"/>
          </p:cNvPicPr>
          <p:nvPr/>
        </p:nvPicPr>
        <p:blipFill rotWithShape="1">
          <a:blip r:embed="rId3"/>
          <a:srcRect l="38531" r="2720"/>
          <a:stretch/>
        </p:blipFill>
        <p:spPr>
          <a:xfrm>
            <a:off x="5755054" y="2541994"/>
            <a:ext cx="3200400" cy="3707296"/>
          </a:xfrm>
          <a:prstGeom prst="rect">
            <a:avLst/>
          </a:prstGeom>
        </p:spPr>
      </p:pic>
      <p:grpSp>
        <p:nvGrpSpPr>
          <p:cNvPr id="26" name="Group 25"/>
          <p:cNvGrpSpPr/>
          <p:nvPr/>
        </p:nvGrpSpPr>
        <p:grpSpPr>
          <a:xfrm>
            <a:off x="434332" y="2612385"/>
            <a:ext cx="3572680" cy="3067979"/>
            <a:chOff x="434332" y="2612385"/>
            <a:chExt cx="3572680" cy="3067979"/>
          </a:xfrm>
        </p:grpSpPr>
        <p:grpSp>
          <p:nvGrpSpPr>
            <p:cNvPr id="25" name="Group 24"/>
            <p:cNvGrpSpPr/>
            <p:nvPr/>
          </p:nvGrpSpPr>
          <p:grpSpPr>
            <a:xfrm>
              <a:off x="1985616" y="2646218"/>
              <a:ext cx="2021396" cy="2503201"/>
              <a:chOff x="1985616" y="2646218"/>
              <a:chExt cx="2021396" cy="2503201"/>
            </a:xfrm>
          </p:grpSpPr>
          <p:sp>
            <p:nvSpPr>
              <p:cNvPr id="9" name="Rounded Rectangle 8"/>
              <p:cNvSpPr/>
              <p:nvPr/>
            </p:nvSpPr>
            <p:spPr>
              <a:xfrm>
                <a:off x="1985616" y="2646218"/>
                <a:ext cx="2018348" cy="789709"/>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Rounded Rectangle 9"/>
              <p:cNvSpPr/>
              <p:nvPr/>
            </p:nvSpPr>
            <p:spPr>
              <a:xfrm>
                <a:off x="1985616" y="3450852"/>
                <a:ext cx="2018347" cy="789709"/>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Rounded Rectangle 10"/>
              <p:cNvSpPr/>
              <p:nvPr/>
            </p:nvSpPr>
            <p:spPr>
              <a:xfrm>
                <a:off x="1985616" y="4240561"/>
                <a:ext cx="2021396" cy="908858"/>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15" name="Rounded Rectangle 14"/>
            <p:cNvSpPr/>
            <p:nvPr/>
          </p:nvSpPr>
          <p:spPr>
            <a:xfrm>
              <a:off x="434332" y="2612385"/>
              <a:ext cx="1542971" cy="3067979"/>
            </a:xfrm>
            <a:prstGeom prst="roundRect">
              <a:avLst/>
            </a:prstGeom>
            <a:solidFill>
              <a:srgbClr val="00B050">
                <a:alpha val="28000"/>
              </a:srgbClr>
            </a:solidFill>
            <a:ln>
              <a:solidFill>
                <a:srgbClr val="00703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nvGrpSpPr>
          <p:cNvPr id="27" name="Group 26"/>
          <p:cNvGrpSpPr/>
          <p:nvPr/>
        </p:nvGrpSpPr>
        <p:grpSpPr>
          <a:xfrm>
            <a:off x="6756035" y="2541994"/>
            <a:ext cx="4556883" cy="3138370"/>
            <a:chOff x="6756035" y="2541994"/>
            <a:chExt cx="4556883" cy="3138370"/>
          </a:xfrm>
        </p:grpSpPr>
        <p:sp>
          <p:nvSpPr>
            <p:cNvPr id="12" name="Rounded Rectangle 11"/>
            <p:cNvSpPr/>
            <p:nvPr/>
          </p:nvSpPr>
          <p:spPr>
            <a:xfrm>
              <a:off x="6756035" y="2541994"/>
              <a:ext cx="2083166" cy="893933"/>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3" name="Rounded Rectangle 12"/>
            <p:cNvSpPr/>
            <p:nvPr/>
          </p:nvSpPr>
          <p:spPr>
            <a:xfrm>
              <a:off x="6780972" y="3435928"/>
              <a:ext cx="2058227" cy="804634"/>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Rounded Rectangle 13"/>
            <p:cNvSpPr/>
            <p:nvPr/>
          </p:nvSpPr>
          <p:spPr>
            <a:xfrm>
              <a:off x="6780969" y="4240561"/>
              <a:ext cx="2061279" cy="908858"/>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Rounded Rectangle 15"/>
            <p:cNvSpPr/>
            <p:nvPr/>
          </p:nvSpPr>
          <p:spPr>
            <a:xfrm>
              <a:off x="9943003" y="2541994"/>
              <a:ext cx="1369915" cy="3138370"/>
            </a:xfrm>
            <a:prstGeom prst="roundRect">
              <a:avLst/>
            </a:prstGeom>
            <a:solidFill>
              <a:srgbClr val="00B050">
                <a:alpha val="28000"/>
              </a:srgbClr>
            </a:solidFill>
            <a:ln>
              <a:solidFill>
                <a:srgbClr val="00703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nvGrpSpPr>
          <p:cNvPr id="28" name="Group 27"/>
          <p:cNvGrpSpPr/>
          <p:nvPr/>
        </p:nvGrpSpPr>
        <p:grpSpPr>
          <a:xfrm>
            <a:off x="4467261" y="3588920"/>
            <a:ext cx="686630" cy="290354"/>
            <a:chOff x="4467261" y="3588920"/>
            <a:chExt cx="686630" cy="290354"/>
          </a:xfrm>
        </p:grpSpPr>
        <p:sp>
          <p:nvSpPr>
            <p:cNvPr id="17" name="Rounded Rectangle 16"/>
            <p:cNvSpPr/>
            <p:nvPr/>
          </p:nvSpPr>
          <p:spPr>
            <a:xfrm>
              <a:off x="4954843" y="3588920"/>
              <a:ext cx="199048" cy="290354"/>
            </a:xfrm>
            <a:prstGeom prst="roundRect">
              <a:avLst/>
            </a:prstGeom>
            <a:solidFill>
              <a:schemeClr val="accent4">
                <a:lumMod val="40000"/>
                <a:lumOff val="60000"/>
                <a:alpha val="28000"/>
              </a:schemeClr>
            </a:solidFill>
            <a:ln>
              <a:solidFill>
                <a:srgbClr val="7030A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Rounded Rectangle 20"/>
            <p:cNvSpPr/>
            <p:nvPr/>
          </p:nvSpPr>
          <p:spPr>
            <a:xfrm>
              <a:off x="4467261" y="3588921"/>
              <a:ext cx="479269" cy="290353"/>
            </a:xfrm>
            <a:prstGeom prst="roundRect">
              <a:avLst/>
            </a:prstGeom>
            <a:solidFill>
              <a:srgbClr val="FF0000">
                <a:alpha val="28000"/>
              </a:srgbClr>
            </a:solidFill>
            <a:ln>
              <a:solidFill>
                <a:srgbClr val="C0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nvGrpSpPr>
          <p:cNvPr id="29" name="Group 28"/>
          <p:cNvGrpSpPr/>
          <p:nvPr/>
        </p:nvGrpSpPr>
        <p:grpSpPr>
          <a:xfrm>
            <a:off x="5742011" y="3074642"/>
            <a:ext cx="5852030" cy="2074777"/>
            <a:chOff x="5742011" y="3074642"/>
            <a:chExt cx="5852030" cy="2074777"/>
          </a:xfrm>
        </p:grpSpPr>
        <p:sp>
          <p:nvSpPr>
            <p:cNvPr id="18" name="Rounded Rectangle 17"/>
            <p:cNvSpPr/>
            <p:nvPr/>
          </p:nvSpPr>
          <p:spPr>
            <a:xfrm>
              <a:off x="11320403" y="3075710"/>
              <a:ext cx="232073" cy="339209"/>
            </a:xfrm>
            <a:prstGeom prst="roundRect">
              <a:avLst/>
            </a:prstGeom>
            <a:solidFill>
              <a:schemeClr val="accent4">
                <a:lumMod val="40000"/>
                <a:lumOff val="60000"/>
                <a:alpha val="28000"/>
              </a:schemeClr>
            </a:solidFill>
            <a:ln>
              <a:solidFill>
                <a:srgbClr val="7030A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 name="Rounded Rectangle 18"/>
            <p:cNvSpPr/>
            <p:nvPr/>
          </p:nvSpPr>
          <p:spPr>
            <a:xfrm>
              <a:off x="11320403" y="3931070"/>
              <a:ext cx="201594" cy="309491"/>
            </a:xfrm>
            <a:prstGeom prst="roundRect">
              <a:avLst/>
            </a:prstGeom>
            <a:solidFill>
              <a:schemeClr val="accent4">
                <a:lumMod val="40000"/>
                <a:lumOff val="60000"/>
                <a:alpha val="28000"/>
              </a:schemeClr>
            </a:solidFill>
            <a:ln>
              <a:solidFill>
                <a:srgbClr val="7030A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Rounded Rectangle 19"/>
            <p:cNvSpPr/>
            <p:nvPr/>
          </p:nvSpPr>
          <p:spPr>
            <a:xfrm>
              <a:off x="11320403" y="4807439"/>
              <a:ext cx="273638" cy="341980"/>
            </a:xfrm>
            <a:prstGeom prst="roundRect">
              <a:avLst/>
            </a:prstGeom>
            <a:solidFill>
              <a:schemeClr val="accent4">
                <a:lumMod val="40000"/>
                <a:lumOff val="60000"/>
                <a:alpha val="28000"/>
              </a:schemeClr>
            </a:solidFill>
            <a:ln>
              <a:solidFill>
                <a:srgbClr val="7030A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2" name="Rounded Rectangle 21"/>
            <p:cNvSpPr/>
            <p:nvPr/>
          </p:nvSpPr>
          <p:spPr>
            <a:xfrm>
              <a:off x="5755053" y="3074642"/>
              <a:ext cx="992669" cy="361286"/>
            </a:xfrm>
            <a:prstGeom prst="roundRect">
              <a:avLst/>
            </a:prstGeom>
            <a:solidFill>
              <a:srgbClr val="FF0000">
                <a:alpha val="28000"/>
              </a:srgbClr>
            </a:solidFill>
            <a:ln>
              <a:solidFill>
                <a:srgbClr val="C0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Rounded Rectangle 22"/>
            <p:cNvSpPr/>
            <p:nvPr/>
          </p:nvSpPr>
          <p:spPr>
            <a:xfrm>
              <a:off x="5742012" y="3879275"/>
              <a:ext cx="1014022" cy="361286"/>
            </a:xfrm>
            <a:prstGeom prst="roundRect">
              <a:avLst/>
            </a:prstGeom>
            <a:solidFill>
              <a:srgbClr val="FF0000">
                <a:alpha val="28000"/>
              </a:srgbClr>
            </a:solidFill>
            <a:ln>
              <a:solidFill>
                <a:srgbClr val="C0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4" name="Rounded Rectangle 23"/>
            <p:cNvSpPr/>
            <p:nvPr/>
          </p:nvSpPr>
          <p:spPr>
            <a:xfrm>
              <a:off x="5742011" y="4807439"/>
              <a:ext cx="1014023" cy="329195"/>
            </a:xfrm>
            <a:prstGeom prst="roundRect">
              <a:avLst/>
            </a:prstGeom>
            <a:solidFill>
              <a:srgbClr val="FF0000">
                <a:alpha val="28000"/>
              </a:srgbClr>
            </a:solidFill>
            <a:ln>
              <a:solidFill>
                <a:srgbClr val="C0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10786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dissolv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dissolv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Triglycerides </a:t>
            </a:r>
            <a:r>
              <a:rPr lang="en-US" sz="4400" dirty="0">
                <a:sym typeface="Wingdings"/>
              </a:rPr>
              <a:t> Biodiesel      </a:t>
            </a:r>
            <a:r>
              <a:rPr lang="en-US" sz="4400" i="1" dirty="0">
                <a:sym typeface="Wingdings"/>
              </a:rPr>
              <a:t>(New)</a:t>
            </a:r>
            <a:endParaRPr lang="en-AU" sz="4400" dirty="0"/>
          </a:p>
        </p:txBody>
      </p:sp>
      <p:pic>
        <p:nvPicPr>
          <p:cNvPr id="9" name="Picture 8"/>
          <p:cNvPicPr>
            <a:picLocks noChangeAspect="1"/>
          </p:cNvPicPr>
          <p:nvPr/>
        </p:nvPicPr>
        <p:blipFill>
          <a:blip r:embed="rId2"/>
          <a:stretch>
            <a:fillRect/>
          </a:stretch>
        </p:blipFill>
        <p:spPr>
          <a:xfrm>
            <a:off x="25400" y="1927014"/>
            <a:ext cx="12141200" cy="3860800"/>
          </a:xfrm>
          <a:prstGeom prst="rect">
            <a:avLst/>
          </a:prstGeom>
        </p:spPr>
      </p:pic>
      <p:grpSp>
        <p:nvGrpSpPr>
          <p:cNvPr id="10" name="Group 9"/>
          <p:cNvGrpSpPr/>
          <p:nvPr/>
        </p:nvGrpSpPr>
        <p:grpSpPr>
          <a:xfrm>
            <a:off x="25400" y="2039842"/>
            <a:ext cx="3346127" cy="2670704"/>
            <a:chOff x="434332" y="2233806"/>
            <a:chExt cx="3346127" cy="2670704"/>
          </a:xfrm>
        </p:grpSpPr>
        <p:grpSp>
          <p:nvGrpSpPr>
            <p:cNvPr id="11" name="Group 10"/>
            <p:cNvGrpSpPr/>
            <p:nvPr/>
          </p:nvGrpSpPr>
          <p:grpSpPr>
            <a:xfrm>
              <a:off x="1667963" y="2233806"/>
              <a:ext cx="2112496" cy="2670704"/>
              <a:chOff x="1667963" y="2233806"/>
              <a:chExt cx="2112496" cy="2670704"/>
            </a:xfrm>
          </p:grpSpPr>
          <p:sp>
            <p:nvSpPr>
              <p:cNvPr id="13" name="Rounded Rectangle 12"/>
              <p:cNvSpPr/>
              <p:nvPr/>
            </p:nvSpPr>
            <p:spPr>
              <a:xfrm>
                <a:off x="1667963" y="2233806"/>
                <a:ext cx="2093769" cy="876836"/>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 name="Rounded Rectangle 13"/>
              <p:cNvSpPr/>
              <p:nvPr/>
            </p:nvSpPr>
            <p:spPr>
              <a:xfrm>
                <a:off x="1667963" y="3118113"/>
                <a:ext cx="2112496" cy="797162"/>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 name="Rounded Rectangle 14"/>
              <p:cNvSpPr/>
              <p:nvPr/>
            </p:nvSpPr>
            <p:spPr>
              <a:xfrm>
                <a:off x="1667963" y="3922746"/>
                <a:ext cx="2093769" cy="981764"/>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12" name="Rounded Rectangle 11"/>
            <p:cNvSpPr/>
            <p:nvPr/>
          </p:nvSpPr>
          <p:spPr>
            <a:xfrm>
              <a:off x="434332" y="2233806"/>
              <a:ext cx="1217540" cy="2670704"/>
            </a:xfrm>
            <a:prstGeom prst="roundRect">
              <a:avLst/>
            </a:prstGeom>
            <a:solidFill>
              <a:srgbClr val="00B050">
                <a:alpha val="28000"/>
              </a:srgbClr>
            </a:solidFill>
            <a:ln>
              <a:solidFill>
                <a:srgbClr val="00703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nvGrpSpPr>
          <p:cNvPr id="16" name="Group 15"/>
          <p:cNvGrpSpPr/>
          <p:nvPr/>
        </p:nvGrpSpPr>
        <p:grpSpPr>
          <a:xfrm>
            <a:off x="7902064" y="2452255"/>
            <a:ext cx="3835777" cy="1773381"/>
            <a:chOff x="8310996" y="2646219"/>
            <a:chExt cx="3835777" cy="1773381"/>
          </a:xfrm>
        </p:grpSpPr>
        <p:sp>
          <p:nvSpPr>
            <p:cNvPr id="17" name="Rounded Rectangle 16"/>
            <p:cNvSpPr/>
            <p:nvPr/>
          </p:nvSpPr>
          <p:spPr>
            <a:xfrm>
              <a:off x="8310996" y="2680854"/>
              <a:ext cx="2169134" cy="984265"/>
            </a:xfrm>
            <a:prstGeom prst="roundRect">
              <a:avLst/>
            </a:prstGeom>
            <a:solidFill>
              <a:schemeClr val="accent6">
                <a:alpha val="28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 name="Rounded Rectangle 19"/>
            <p:cNvSpPr/>
            <p:nvPr/>
          </p:nvSpPr>
          <p:spPr>
            <a:xfrm>
              <a:off x="11159008" y="2646219"/>
              <a:ext cx="987765" cy="1773381"/>
            </a:xfrm>
            <a:prstGeom prst="roundRect">
              <a:avLst/>
            </a:prstGeom>
            <a:solidFill>
              <a:srgbClr val="00B050">
                <a:alpha val="28000"/>
              </a:srgbClr>
            </a:solidFill>
            <a:ln>
              <a:solidFill>
                <a:srgbClr val="00703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nvGrpSpPr>
          <p:cNvPr id="21" name="Group 20"/>
          <p:cNvGrpSpPr/>
          <p:nvPr/>
        </p:nvGrpSpPr>
        <p:grpSpPr>
          <a:xfrm>
            <a:off x="4016343" y="2951610"/>
            <a:ext cx="943583" cy="443346"/>
            <a:chOff x="4425276" y="3145574"/>
            <a:chExt cx="929728" cy="443346"/>
          </a:xfrm>
        </p:grpSpPr>
        <p:sp>
          <p:nvSpPr>
            <p:cNvPr id="22" name="Rounded Rectangle 21"/>
            <p:cNvSpPr/>
            <p:nvPr/>
          </p:nvSpPr>
          <p:spPr>
            <a:xfrm flipV="1">
              <a:off x="5147186" y="3145574"/>
              <a:ext cx="207818" cy="443346"/>
            </a:xfrm>
            <a:prstGeom prst="roundRect">
              <a:avLst/>
            </a:prstGeom>
            <a:solidFill>
              <a:schemeClr val="accent4">
                <a:lumMod val="40000"/>
                <a:lumOff val="60000"/>
                <a:alpha val="28000"/>
              </a:schemeClr>
            </a:solidFill>
            <a:ln>
              <a:solidFill>
                <a:srgbClr val="7030A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3" name="Rounded Rectangle 22"/>
            <p:cNvSpPr/>
            <p:nvPr/>
          </p:nvSpPr>
          <p:spPr>
            <a:xfrm>
              <a:off x="4425276" y="3145574"/>
              <a:ext cx="718860" cy="443346"/>
            </a:xfrm>
            <a:prstGeom prst="roundRect">
              <a:avLst/>
            </a:prstGeom>
            <a:solidFill>
              <a:srgbClr val="FF0000">
                <a:alpha val="28000"/>
              </a:srgbClr>
            </a:solidFill>
            <a:ln>
              <a:solidFill>
                <a:srgbClr val="C0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grpSp>
        <p:nvGrpSpPr>
          <p:cNvPr id="24" name="Group 23"/>
          <p:cNvGrpSpPr/>
          <p:nvPr/>
        </p:nvGrpSpPr>
        <p:grpSpPr>
          <a:xfrm>
            <a:off x="6927273" y="2486890"/>
            <a:ext cx="5085376" cy="1631550"/>
            <a:chOff x="7336205" y="2680854"/>
            <a:chExt cx="5085376" cy="1631550"/>
          </a:xfrm>
        </p:grpSpPr>
        <p:sp>
          <p:nvSpPr>
            <p:cNvPr id="25" name="Rounded Rectangle 24"/>
            <p:cNvSpPr/>
            <p:nvPr/>
          </p:nvSpPr>
          <p:spPr>
            <a:xfrm>
              <a:off x="12149823" y="2680854"/>
              <a:ext cx="271758" cy="360218"/>
            </a:xfrm>
            <a:prstGeom prst="roundRect">
              <a:avLst/>
            </a:prstGeom>
            <a:solidFill>
              <a:schemeClr val="accent4">
                <a:lumMod val="40000"/>
                <a:lumOff val="60000"/>
                <a:alpha val="28000"/>
              </a:schemeClr>
            </a:solidFill>
            <a:ln>
              <a:solidFill>
                <a:srgbClr val="7030A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6" name="Rounded Rectangle 25"/>
            <p:cNvSpPr/>
            <p:nvPr/>
          </p:nvSpPr>
          <p:spPr>
            <a:xfrm>
              <a:off x="12149823" y="3356403"/>
              <a:ext cx="271758" cy="360218"/>
            </a:xfrm>
            <a:prstGeom prst="roundRect">
              <a:avLst/>
            </a:prstGeom>
            <a:solidFill>
              <a:schemeClr val="accent4">
                <a:lumMod val="40000"/>
                <a:lumOff val="60000"/>
                <a:alpha val="28000"/>
              </a:schemeClr>
            </a:solidFill>
            <a:ln>
              <a:solidFill>
                <a:srgbClr val="7030A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7" name="Rounded Rectangle 26"/>
            <p:cNvSpPr/>
            <p:nvPr/>
          </p:nvSpPr>
          <p:spPr>
            <a:xfrm>
              <a:off x="12149823" y="3952186"/>
              <a:ext cx="271758" cy="360218"/>
            </a:xfrm>
            <a:prstGeom prst="roundRect">
              <a:avLst/>
            </a:prstGeom>
            <a:solidFill>
              <a:schemeClr val="accent4">
                <a:lumMod val="40000"/>
                <a:lumOff val="60000"/>
                <a:alpha val="28000"/>
              </a:schemeClr>
            </a:solidFill>
            <a:ln>
              <a:solidFill>
                <a:srgbClr val="7030A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Rounded Rectangle 27"/>
            <p:cNvSpPr/>
            <p:nvPr/>
          </p:nvSpPr>
          <p:spPr>
            <a:xfrm>
              <a:off x="7336205" y="3169663"/>
              <a:ext cx="971741" cy="495456"/>
            </a:xfrm>
            <a:prstGeom prst="roundRect">
              <a:avLst/>
            </a:prstGeom>
            <a:solidFill>
              <a:srgbClr val="FF0000">
                <a:alpha val="28000"/>
              </a:srgbClr>
            </a:solidFill>
            <a:ln>
              <a:solidFill>
                <a:srgbClr val="C0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27615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dissolv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dissolv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Synthesis of biodiesel</a:t>
            </a:r>
          </a:p>
        </p:txBody>
      </p:sp>
      <p:sp>
        <p:nvSpPr>
          <p:cNvPr id="3" name="Content Placeholder 2"/>
          <p:cNvSpPr>
            <a:spLocks noGrp="1"/>
          </p:cNvSpPr>
          <p:nvPr>
            <p:ph idx="1"/>
          </p:nvPr>
        </p:nvSpPr>
        <p:spPr>
          <a:xfrm>
            <a:off x="1097280" y="1845734"/>
            <a:ext cx="10058400" cy="4466166"/>
          </a:xfrm>
        </p:spPr>
        <p:txBody>
          <a:bodyPr>
            <a:normAutofit/>
          </a:bodyPr>
          <a:lstStyle/>
          <a:p>
            <a:r>
              <a:rPr lang="en-AU" dirty="0"/>
              <a:t>Biodiesel is synthesised by a </a:t>
            </a:r>
            <a:r>
              <a:rPr lang="en-AU" b="1" dirty="0"/>
              <a:t>transesterification reaction</a:t>
            </a:r>
            <a:r>
              <a:rPr lang="en-AU" dirty="0"/>
              <a:t> between a triglyceride and a short-chain alcohol (usually methanol). The reaction requires a catalyst, such as NaOH, KOH or lipase (an enzyme).</a:t>
            </a:r>
          </a:p>
          <a:p>
            <a:endParaRPr lang="en-AU" dirty="0"/>
          </a:p>
          <a:p>
            <a:r>
              <a:rPr lang="en-AU" b="1" dirty="0"/>
              <a:t>General equation: </a:t>
            </a:r>
          </a:p>
        </p:txBody>
      </p:sp>
      <p:pic>
        <p:nvPicPr>
          <p:cNvPr id="6" name="Picture 5"/>
          <p:cNvPicPr>
            <a:picLocks noChangeAspect="1"/>
          </p:cNvPicPr>
          <p:nvPr/>
        </p:nvPicPr>
        <p:blipFill>
          <a:blip r:embed="rId2"/>
          <a:stretch>
            <a:fillRect/>
          </a:stretch>
        </p:blipFill>
        <p:spPr>
          <a:xfrm>
            <a:off x="3167380" y="2799666"/>
            <a:ext cx="8664522" cy="3067734"/>
          </a:xfrm>
          <a:prstGeom prst="rect">
            <a:avLst/>
          </a:prstGeom>
        </p:spPr>
      </p:pic>
    </p:spTree>
    <p:extLst>
      <p:ext uri="{BB962C8B-B14F-4D97-AF65-F5344CB8AC3E}">
        <p14:creationId xmlns:p14="http://schemas.microsoft.com/office/powerpoint/2010/main" val="5803936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Synthesis of biodiesel</a:t>
            </a:r>
          </a:p>
        </p:txBody>
      </p:sp>
      <p:sp>
        <p:nvSpPr>
          <p:cNvPr id="3" name="Content Placeholder 2"/>
          <p:cNvSpPr>
            <a:spLocks noGrp="1"/>
          </p:cNvSpPr>
          <p:nvPr>
            <p:ph idx="1"/>
          </p:nvPr>
        </p:nvSpPr>
        <p:spPr>
          <a:xfrm>
            <a:off x="1097280" y="1845734"/>
            <a:ext cx="10058400" cy="541866"/>
          </a:xfrm>
        </p:spPr>
        <p:txBody>
          <a:bodyPr>
            <a:normAutofit/>
          </a:bodyPr>
          <a:lstStyle/>
          <a:p>
            <a:r>
              <a:rPr lang="en-AU" dirty="0"/>
              <a:t>Complete the equation below to show:</a:t>
            </a:r>
            <a:endParaRPr lang="en-AU" b="1" dirty="0"/>
          </a:p>
        </p:txBody>
      </p:sp>
      <p:pic>
        <p:nvPicPr>
          <p:cNvPr id="1026" name="Picture 2" descr="Image result for triole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387600"/>
            <a:ext cx="3454228" cy="30051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606628" y="4103305"/>
            <a:ext cx="2108372" cy="369332"/>
          </a:xfrm>
          <a:prstGeom prst="rect">
            <a:avLst/>
          </a:prstGeom>
          <a:noFill/>
        </p:spPr>
        <p:txBody>
          <a:bodyPr wrap="square" rtlCol="0">
            <a:spAutoFit/>
          </a:bodyPr>
          <a:lstStyle/>
          <a:p>
            <a:r>
              <a:rPr lang="en-AU" dirty="0"/>
              <a:t>+       CH</a:t>
            </a:r>
            <a:r>
              <a:rPr lang="en-AU" baseline="-25000" dirty="0"/>
              <a:t>3</a:t>
            </a:r>
            <a:r>
              <a:rPr lang="en-AU" dirty="0"/>
              <a:t>OH</a:t>
            </a:r>
          </a:p>
        </p:txBody>
      </p:sp>
      <p:sp>
        <p:nvSpPr>
          <p:cNvPr id="5" name="TextBox 4"/>
          <p:cNvSpPr txBox="1"/>
          <p:nvPr/>
        </p:nvSpPr>
        <p:spPr>
          <a:xfrm>
            <a:off x="4962525" y="3810173"/>
            <a:ext cx="1504950" cy="369332"/>
          </a:xfrm>
          <a:prstGeom prst="rect">
            <a:avLst/>
          </a:prstGeom>
          <a:noFill/>
        </p:spPr>
        <p:txBody>
          <a:bodyPr wrap="square" rtlCol="0">
            <a:spAutoFit/>
          </a:bodyPr>
          <a:lstStyle/>
          <a:p>
            <a:r>
              <a:rPr lang="en-AU" dirty="0"/>
              <a:t>NaOH</a:t>
            </a:r>
          </a:p>
        </p:txBody>
      </p:sp>
      <p:cxnSp>
        <p:nvCxnSpPr>
          <p:cNvPr id="8" name="Straight Connector 7"/>
          <p:cNvCxnSpPr>
            <a:endCxn id="4" idx="3"/>
          </p:cNvCxnSpPr>
          <p:nvPr/>
        </p:nvCxnSpPr>
        <p:spPr>
          <a:xfrm>
            <a:off x="5054600" y="4287971"/>
            <a:ext cx="660400" cy="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25690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Synthesis of Biodiesel: Base-catalysed</a:t>
            </a:r>
            <a:endParaRPr lang="en-AU" sz="4000" dirty="0"/>
          </a:p>
        </p:txBody>
      </p:sp>
      <p:sp>
        <p:nvSpPr>
          <p:cNvPr id="3" name="Content Placeholder 2"/>
          <p:cNvSpPr>
            <a:spLocks noGrp="1"/>
          </p:cNvSpPr>
          <p:nvPr>
            <p:ph idx="1"/>
          </p:nvPr>
        </p:nvSpPr>
        <p:spPr>
          <a:xfrm>
            <a:off x="1097280" y="1845734"/>
            <a:ext cx="10058400" cy="4529666"/>
          </a:xfrm>
        </p:spPr>
        <p:txBody>
          <a:bodyPr>
            <a:normAutofit/>
          </a:bodyPr>
          <a:lstStyle/>
          <a:p>
            <a:r>
              <a:rPr lang="en-AU" b="1" u="sng" dirty="0"/>
              <a:t>Synthesis:</a:t>
            </a:r>
          </a:p>
          <a:p>
            <a:pPr lvl="1"/>
            <a:r>
              <a:rPr lang="en-AU" dirty="0"/>
              <a:t>NaOH or KOH catalyst</a:t>
            </a:r>
            <a:br>
              <a:rPr lang="en-AU" dirty="0"/>
            </a:br>
            <a:endParaRPr lang="en-AU" dirty="0"/>
          </a:p>
          <a:p>
            <a:pPr lvl="1"/>
            <a:r>
              <a:rPr lang="en-AU" dirty="0"/>
              <a:t>Low temperatures (~60 </a:t>
            </a:r>
            <a:r>
              <a:rPr lang="it-IT" dirty="0"/>
              <a:t>°</a:t>
            </a:r>
            <a:r>
              <a:rPr lang="en-AU" dirty="0"/>
              <a:t>C) and atmospheric pressure.</a:t>
            </a:r>
          </a:p>
          <a:p>
            <a:pPr lvl="2"/>
            <a:r>
              <a:rPr lang="en-AU" dirty="0"/>
              <a:t>Higher temperatures would exceed boiling point of alcohol</a:t>
            </a:r>
            <a:br>
              <a:rPr lang="en-AU" dirty="0"/>
            </a:br>
            <a:endParaRPr lang="en-AU" dirty="0"/>
          </a:p>
          <a:p>
            <a:pPr lvl="1"/>
            <a:r>
              <a:rPr lang="en-AU" dirty="0"/>
              <a:t>Excess of alcohol forces reaction to the right. </a:t>
            </a:r>
          </a:p>
          <a:p>
            <a:pPr lvl="2"/>
            <a:r>
              <a:rPr lang="en-AU" dirty="0"/>
              <a:t>3:1 mole ratio of </a:t>
            </a:r>
            <a:r>
              <a:rPr lang="en-AU" dirty="0" err="1"/>
              <a:t>alcohol:triglyceride</a:t>
            </a:r>
            <a:r>
              <a:rPr lang="en-AU" dirty="0"/>
              <a:t> is needed for stoichiometric ratio. </a:t>
            </a:r>
          </a:p>
          <a:p>
            <a:pPr lvl="2"/>
            <a:r>
              <a:rPr lang="en-AU" dirty="0"/>
              <a:t>6:1 mole ratio of </a:t>
            </a:r>
            <a:r>
              <a:rPr lang="en-AU" dirty="0" err="1"/>
              <a:t>alcohol:triglyceride</a:t>
            </a:r>
            <a:r>
              <a:rPr lang="en-AU" dirty="0"/>
              <a:t> produces very high yields (&gt;99%)</a:t>
            </a:r>
            <a:br>
              <a:rPr lang="en-AU" dirty="0"/>
            </a:br>
            <a:endParaRPr lang="en-AU" dirty="0"/>
          </a:p>
          <a:p>
            <a:r>
              <a:rPr lang="en-AU" b="1" u="sng" dirty="0"/>
              <a:t>Isolation:</a:t>
            </a:r>
          </a:p>
          <a:p>
            <a:pPr lvl="1"/>
            <a:r>
              <a:rPr lang="en-AU" dirty="0"/>
              <a:t>Glycerol and biodiesel are immiscible, and glycerol is more dense. </a:t>
            </a:r>
            <a:br>
              <a:rPr lang="en-AU" dirty="0"/>
            </a:br>
            <a:r>
              <a:rPr lang="en-AU" dirty="0"/>
              <a:t>Forms two layers which can be separated. </a:t>
            </a:r>
          </a:p>
          <a:p>
            <a:pPr lvl="1"/>
            <a:r>
              <a:rPr lang="en-AU" dirty="0"/>
              <a:t>Glycerol layer also contains unreacted methanol and NaOH/KOH</a:t>
            </a:r>
          </a:p>
        </p:txBody>
      </p:sp>
    </p:spTree>
    <p:extLst>
      <p:ext uri="{BB962C8B-B14F-4D97-AF65-F5344CB8AC3E}">
        <p14:creationId xmlns:p14="http://schemas.microsoft.com/office/powerpoint/2010/main" val="376854140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Synthesis of Biodiesel: Base-catalysed</a:t>
            </a:r>
            <a:endParaRPr lang="en-AU" sz="4000" dirty="0"/>
          </a:p>
        </p:txBody>
      </p:sp>
      <p:sp>
        <p:nvSpPr>
          <p:cNvPr id="3" name="Content Placeholder 2"/>
          <p:cNvSpPr>
            <a:spLocks noGrp="1"/>
          </p:cNvSpPr>
          <p:nvPr>
            <p:ph idx="1"/>
          </p:nvPr>
        </p:nvSpPr>
        <p:spPr>
          <a:xfrm>
            <a:off x="1097280" y="1845734"/>
            <a:ext cx="10058400" cy="4643966"/>
          </a:xfrm>
        </p:spPr>
        <p:txBody>
          <a:bodyPr>
            <a:normAutofit/>
          </a:bodyPr>
          <a:lstStyle/>
          <a:p>
            <a:r>
              <a:rPr lang="en-AU" b="1" u="sng" dirty="0"/>
              <a:t>Advantages:</a:t>
            </a:r>
          </a:p>
          <a:p>
            <a:pPr lvl="1"/>
            <a:r>
              <a:rPr lang="en-AU" dirty="0"/>
              <a:t>Uses a renewable feedstock</a:t>
            </a:r>
          </a:p>
          <a:p>
            <a:pPr lvl="1"/>
            <a:r>
              <a:rPr lang="en-AU" dirty="0"/>
              <a:t>Biodiesel product is non-toxic and biodegradable. Burning it is carbon-neutral.</a:t>
            </a:r>
          </a:p>
          <a:p>
            <a:pPr lvl="1"/>
            <a:endParaRPr lang="en-AU" dirty="0"/>
          </a:p>
          <a:p>
            <a:pPr lvl="1"/>
            <a:r>
              <a:rPr lang="en-AU" dirty="0"/>
              <a:t>Highly economical with low operating costs</a:t>
            </a:r>
          </a:p>
          <a:p>
            <a:pPr lvl="1"/>
            <a:r>
              <a:rPr lang="en-AU" dirty="0"/>
              <a:t>High yield of product despite low temperature and ambient pressure</a:t>
            </a:r>
          </a:p>
        </p:txBody>
      </p:sp>
    </p:spTree>
    <p:extLst>
      <p:ext uri="{BB962C8B-B14F-4D97-AF65-F5344CB8AC3E}">
        <p14:creationId xmlns:p14="http://schemas.microsoft.com/office/powerpoint/2010/main" val="13383828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Synthesis of Biodiesel: Base-catalysed</a:t>
            </a:r>
            <a:endParaRPr lang="en-AU" sz="4000" dirty="0"/>
          </a:p>
        </p:txBody>
      </p:sp>
      <p:sp>
        <p:nvSpPr>
          <p:cNvPr id="3" name="Content Placeholder 2"/>
          <p:cNvSpPr>
            <a:spLocks noGrp="1"/>
          </p:cNvSpPr>
          <p:nvPr>
            <p:ph idx="1"/>
          </p:nvPr>
        </p:nvSpPr>
        <p:spPr>
          <a:xfrm>
            <a:off x="1097280" y="1845734"/>
            <a:ext cx="10058400" cy="4643966"/>
          </a:xfrm>
        </p:spPr>
        <p:txBody>
          <a:bodyPr>
            <a:normAutofit/>
          </a:bodyPr>
          <a:lstStyle/>
          <a:p>
            <a:r>
              <a:rPr lang="en-AU" b="1" u="sng" dirty="0"/>
              <a:t>Disadvantages:</a:t>
            </a:r>
          </a:p>
          <a:p>
            <a:pPr lvl="1"/>
            <a:r>
              <a:rPr lang="en-AU" dirty="0"/>
              <a:t>Requires large amounts of arable land to grow crops which can produce vegetable oil.</a:t>
            </a:r>
          </a:p>
          <a:p>
            <a:pPr lvl="1"/>
            <a:endParaRPr lang="en-AU" dirty="0"/>
          </a:p>
          <a:p>
            <a:pPr lvl="1"/>
            <a:r>
              <a:rPr lang="en-AU" dirty="0"/>
              <a:t>NaOH/KOH is a hazardous chemical      </a:t>
            </a:r>
            <a:r>
              <a:rPr lang="en-AU" i="1" dirty="0"/>
              <a:t>(Green Chemistry)</a:t>
            </a:r>
            <a:endParaRPr lang="en-AU" dirty="0"/>
          </a:p>
          <a:p>
            <a:pPr lvl="1"/>
            <a:r>
              <a:rPr lang="en-AU" dirty="0"/>
              <a:t>Does not have a high atom economy    </a:t>
            </a:r>
            <a:r>
              <a:rPr lang="en-AU" i="1" dirty="0"/>
              <a:t>(Green Chemistry)</a:t>
            </a:r>
            <a:endParaRPr lang="en-AU" dirty="0"/>
          </a:p>
          <a:p>
            <a:pPr lvl="1"/>
            <a:endParaRPr lang="en-AU" dirty="0"/>
          </a:p>
          <a:p>
            <a:pPr lvl="1"/>
            <a:r>
              <a:rPr lang="en-AU" dirty="0"/>
              <a:t>High concentrations of NaOH/KOH cause side reaction: triglycerides react with OH</a:t>
            </a:r>
            <a:r>
              <a:rPr lang="en-AU" baseline="30000" dirty="0"/>
              <a:t>–</a:t>
            </a:r>
            <a:r>
              <a:rPr lang="en-AU" dirty="0"/>
              <a:t> to form soap.</a:t>
            </a:r>
            <a:br>
              <a:rPr lang="en-AU" dirty="0"/>
            </a:br>
            <a:r>
              <a:rPr lang="en-AU" dirty="0"/>
              <a:t>This consumes catalyst, decreases yield, clogs piping and increases separation costs.</a:t>
            </a:r>
          </a:p>
          <a:p>
            <a:pPr lvl="1"/>
            <a:endParaRPr lang="en-AU" dirty="0"/>
          </a:p>
        </p:txBody>
      </p:sp>
    </p:spTree>
    <p:extLst>
      <p:ext uri="{BB962C8B-B14F-4D97-AF65-F5344CB8AC3E}">
        <p14:creationId xmlns:p14="http://schemas.microsoft.com/office/powerpoint/2010/main" val="5648138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Synthesis of Biodiesel: Lipase-catalysed</a:t>
            </a:r>
            <a:endParaRPr lang="en-AU" sz="4000" dirty="0"/>
          </a:p>
        </p:txBody>
      </p:sp>
      <p:sp>
        <p:nvSpPr>
          <p:cNvPr id="3" name="Content Placeholder 2"/>
          <p:cNvSpPr>
            <a:spLocks noGrp="1"/>
          </p:cNvSpPr>
          <p:nvPr>
            <p:ph idx="1"/>
          </p:nvPr>
        </p:nvSpPr>
        <p:spPr/>
        <p:txBody>
          <a:bodyPr/>
          <a:lstStyle/>
          <a:p>
            <a:r>
              <a:rPr lang="en-AU" dirty="0"/>
              <a:t>Alternative method can use lipase </a:t>
            </a:r>
            <a:r>
              <a:rPr lang="en-AU" i="1" dirty="0"/>
              <a:t>(enzyme that breaks down lipids, i.e. fats) </a:t>
            </a:r>
            <a:r>
              <a:rPr lang="en-AU" dirty="0"/>
              <a:t>instead of NaOH.</a:t>
            </a:r>
          </a:p>
          <a:p>
            <a:r>
              <a:rPr lang="en-AU" dirty="0"/>
              <a:t>_____________________________________________________________________________</a:t>
            </a:r>
          </a:p>
          <a:p>
            <a:r>
              <a:rPr lang="en-AU" dirty="0" err="1"/>
              <a:t>Talha</a:t>
            </a:r>
            <a:r>
              <a:rPr lang="en-AU" dirty="0"/>
              <a:t>, N. S., &amp; </a:t>
            </a:r>
            <a:r>
              <a:rPr lang="en-AU" dirty="0" err="1"/>
              <a:t>Sulaiman</a:t>
            </a:r>
            <a:r>
              <a:rPr lang="en-AU" dirty="0"/>
              <a:t>, S. (2006). Overview of catalysts in biodiesel production. </a:t>
            </a:r>
            <a:r>
              <a:rPr lang="en-AU" i="1" dirty="0"/>
              <a:t>ARPN Journal of Engineering and Applied Sciences, 11</a:t>
            </a:r>
            <a:r>
              <a:rPr lang="en-AU" dirty="0"/>
              <a:t>(1), 439-448.</a:t>
            </a:r>
          </a:p>
          <a:p>
            <a:r>
              <a:rPr lang="en-AU" dirty="0">
                <a:hlinkClick r:id="rId2"/>
              </a:rPr>
              <a:t>http://www.arpnjournals.org/jeas/research_papers/rp_2016/jeas_0116_3357.pdf</a:t>
            </a:r>
            <a:endParaRPr lang="en-AU" dirty="0"/>
          </a:p>
          <a:p>
            <a:endParaRPr lang="en-AU" dirty="0"/>
          </a:p>
          <a:p>
            <a:r>
              <a:rPr lang="en-AU" dirty="0"/>
              <a:t>Use the above journal article as a source to compare base-catalysed and lipase-catalysed production of biofuel. Identify advantages and disadvantages of each method.</a:t>
            </a:r>
          </a:p>
        </p:txBody>
      </p:sp>
    </p:spTree>
    <p:extLst>
      <p:ext uri="{BB962C8B-B14F-4D97-AF65-F5344CB8AC3E}">
        <p14:creationId xmlns:p14="http://schemas.microsoft.com/office/powerpoint/2010/main" val="950026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http://www.clker.com/cliparts/O/l/d/s/i/S/check-mark-h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75" y="4106862"/>
            <a:ext cx="2022475" cy="2041237"/>
          </a:xfrm>
          <a:prstGeom prst="rect">
            <a:avLst/>
          </a:prstGeom>
          <a:solidFill>
            <a:schemeClr val="bg1"/>
          </a:solidFill>
        </p:spPr>
      </p:pic>
      <p:sp>
        <p:nvSpPr>
          <p:cNvPr id="2" name="Title 1"/>
          <p:cNvSpPr>
            <a:spLocks noGrp="1"/>
          </p:cNvSpPr>
          <p:nvPr>
            <p:ph type="title"/>
          </p:nvPr>
        </p:nvSpPr>
        <p:spPr/>
        <p:txBody>
          <a:bodyPr/>
          <a:lstStyle/>
          <a:p>
            <a:r>
              <a:rPr lang="en-US" dirty="0"/>
              <a:t>Syllabus</a:t>
            </a:r>
            <a:endParaRPr lang="en-AU" dirty="0"/>
          </a:p>
        </p:txBody>
      </p:sp>
      <p:sp>
        <p:nvSpPr>
          <p:cNvPr id="3" name="Content Placeholder 2"/>
          <p:cNvSpPr>
            <a:spLocks noGrp="1"/>
          </p:cNvSpPr>
          <p:nvPr>
            <p:ph idx="1"/>
          </p:nvPr>
        </p:nvSpPr>
        <p:spPr/>
        <p:txBody>
          <a:bodyPr>
            <a:normAutofit/>
          </a:bodyPr>
          <a:lstStyle/>
          <a:p>
            <a:pPr lvl="1">
              <a:lnSpc>
                <a:spcPct val="100000"/>
              </a:lnSpc>
            </a:pPr>
            <a:r>
              <a:rPr lang="en-AU" sz="2200" dirty="0"/>
              <a:t>Scientific knowledge can be used to design alternative chemical synthesis pathways, taking into account </a:t>
            </a:r>
            <a:r>
              <a:rPr lang="en-AU" sz="2200" b="1" dirty="0"/>
              <a:t>sustainability</a:t>
            </a:r>
            <a:r>
              <a:rPr lang="en-AU" sz="2200" dirty="0"/>
              <a:t>, </a:t>
            </a:r>
            <a:r>
              <a:rPr lang="en-AU" sz="2200" b="1" dirty="0"/>
              <a:t>local resources</a:t>
            </a:r>
            <a:r>
              <a:rPr lang="en-AU" sz="2200" dirty="0"/>
              <a:t>, </a:t>
            </a:r>
            <a:r>
              <a:rPr lang="en-AU" sz="2200" b="1" dirty="0"/>
              <a:t>economics</a:t>
            </a:r>
            <a:r>
              <a:rPr lang="en-AU" sz="2200" dirty="0"/>
              <a:t> and </a:t>
            </a:r>
            <a:r>
              <a:rPr lang="en-AU" sz="2200" b="1" dirty="0"/>
              <a:t>environmental impacts (green chemistry)</a:t>
            </a:r>
            <a:r>
              <a:rPr lang="en-AU" sz="2200" dirty="0"/>
              <a:t>, including the production of ethanol and </a:t>
            </a:r>
            <a:r>
              <a:rPr lang="en-AU" sz="2200" b="1" dirty="0"/>
              <a:t>biodiesel</a:t>
            </a:r>
            <a:r>
              <a:rPr lang="en-AU" sz="2200" dirty="0"/>
              <a:t>.</a:t>
            </a:r>
          </a:p>
          <a:p>
            <a:pPr lvl="1">
              <a:lnSpc>
                <a:spcPct val="100000"/>
              </a:lnSpc>
            </a:pPr>
            <a:endParaRPr lang="en-AU" sz="2200" dirty="0"/>
          </a:p>
          <a:p>
            <a:pPr lvl="1">
              <a:lnSpc>
                <a:spcPct val="100000"/>
              </a:lnSpc>
            </a:pPr>
            <a:r>
              <a:rPr lang="en-AU" sz="2200" b="1" dirty="0"/>
              <a:t>enzymes</a:t>
            </a:r>
            <a:r>
              <a:rPr lang="en-AU" sz="2200" dirty="0"/>
              <a:t> are protein molecules which are biological catalysts and can be used on an industrial scale to produce chemicals that would otherwise require high pressure or temperature conditions to achieve an economically viable rate, including </a:t>
            </a:r>
            <a:r>
              <a:rPr lang="en-AU" sz="2200" b="1" dirty="0"/>
              <a:t>fermentation</a:t>
            </a:r>
            <a:r>
              <a:rPr lang="en-AU" sz="2200" dirty="0"/>
              <a:t> to produce ethanol versus </a:t>
            </a:r>
            <a:r>
              <a:rPr lang="en-AU" sz="2200" b="1" dirty="0"/>
              <a:t>hydration of </a:t>
            </a:r>
            <a:r>
              <a:rPr lang="en-AU" sz="2200" b="1" dirty="0" err="1"/>
              <a:t>ethene</a:t>
            </a:r>
            <a:endParaRPr lang="en-AU" sz="2200" b="1" dirty="0"/>
          </a:p>
        </p:txBody>
      </p:sp>
    </p:spTree>
    <p:extLst>
      <p:ext uri="{BB962C8B-B14F-4D97-AF65-F5344CB8AC3E}">
        <p14:creationId xmlns:p14="http://schemas.microsoft.com/office/powerpoint/2010/main" val="726160845"/>
      </p:ext>
    </p:extLst>
  </p:cSld>
  <p:clrMapOvr>
    <a:masterClrMapping/>
  </p:clrMapOvr>
</p:sld>
</file>

<file path=ppt/theme/theme1.xml><?xml version="1.0" encoding="utf-8"?>
<a:theme xmlns:a="http://schemas.openxmlformats.org/drawingml/2006/main" name="Retrospect">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3020</TotalTime>
  <Words>3918</Words>
  <Application>Microsoft Office PowerPoint</Application>
  <PresentationFormat>Widescreen</PresentationFormat>
  <Paragraphs>521</Paragraphs>
  <Slides>88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88</vt:i4>
      </vt:variant>
    </vt:vector>
  </HeadingPairs>
  <TitlesOfParts>
    <vt:vector size="93" baseType="lpstr">
      <vt:lpstr>Arial</vt:lpstr>
      <vt:lpstr>Calibri</vt:lpstr>
      <vt:lpstr>Calibri Light</vt:lpstr>
      <vt:lpstr>Cambria Math</vt:lpstr>
      <vt:lpstr>Retrospect</vt:lpstr>
      <vt:lpstr>Chemical Synthesis</vt:lpstr>
      <vt:lpstr>Polymers</vt:lpstr>
      <vt:lpstr>Polymers</vt:lpstr>
      <vt:lpstr>Addition Polymers</vt:lpstr>
      <vt:lpstr>Addition Polymers</vt:lpstr>
      <vt:lpstr>Addition Polymers</vt:lpstr>
      <vt:lpstr>Addition Polymers</vt:lpstr>
      <vt:lpstr>Addition Polymers</vt:lpstr>
      <vt:lpstr>Addition Polymers</vt:lpstr>
      <vt:lpstr>Addition Polymers</vt:lpstr>
      <vt:lpstr>Addition Polymers</vt:lpstr>
      <vt:lpstr>Addition Polymers</vt:lpstr>
      <vt:lpstr>Addition Polymers</vt:lpstr>
      <vt:lpstr>Addition Polymers</vt:lpstr>
      <vt:lpstr>Syllabus</vt:lpstr>
      <vt:lpstr>Condensation Polymers</vt:lpstr>
      <vt:lpstr>Condensation Polymers</vt:lpstr>
      <vt:lpstr>Polyesters</vt:lpstr>
      <vt:lpstr>Polyesters</vt:lpstr>
      <vt:lpstr>Polyesters</vt:lpstr>
      <vt:lpstr>Polyesters</vt:lpstr>
      <vt:lpstr>Polyesters</vt:lpstr>
      <vt:lpstr>Polyesters</vt:lpstr>
      <vt:lpstr>Polyamides</vt:lpstr>
      <vt:lpstr>Polyamides</vt:lpstr>
      <vt:lpstr>Polyamides</vt:lpstr>
      <vt:lpstr>Polyamides</vt:lpstr>
      <vt:lpstr>Polyamides</vt:lpstr>
      <vt:lpstr>Polyamides</vt:lpstr>
      <vt:lpstr>Syllabus</vt:lpstr>
      <vt:lpstr>PowerPoint Presentation</vt:lpstr>
      <vt:lpstr>Properties and Uses of Polymers</vt:lpstr>
      <vt:lpstr>Properties and Uses of Polymers</vt:lpstr>
      <vt:lpstr>Polyethene</vt:lpstr>
      <vt:lpstr>High Density Polyethene (HDPE)</vt:lpstr>
      <vt:lpstr>Low Density Polyethene (HDPE)</vt:lpstr>
      <vt:lpstr>Syllabus</vt:lpstr>
      <vt:lpstr>Soaps</vt:lpstr>
      <vt:lpstr>Saponification</vt:lpstr>
      <vt:lpstr>Saponification</vt:lpstr>
      <vt:lpstr>Saponification</vt:lpstr>
      <vt:lpstr>Saponification</vt:lpstr>
      <vt:lpstr>Detergents</vt:lpstr>
      <vt:lpstr>Synthesis of Detergents</vt:lpstr>
      <vt:lpstr>Syllabus</vt:lpstr>
      <vt:lpstr>Properties of Soaps &amp; Detergents</vt:lpstr>
      <vt:lpstr>PowerPoint Presentation</vt:lpstr>
      <vt:lpstr>Hard Water</vt:lpstr>
      <vt:lpstr>Syllabus</vt:lpstr>
      <vt:lpstr>Rate &amp; Yield      (Revision)</vt:lpstr>
      <vt:lpstr>Rate &amp; Yield</vt:lpstr>
      <vt:lpstr>Rate &amp; Yield</vt:lpstr>
      <vt:lpstr>Haber Process</vt:lpstr>
      <vt:lpstr>Contact Process</vt:lpstr>
      <vt:lpstr>Syllabus</vt:lpstr>
      <vt:lpstr>Reaction Sequences</vt:lpstr>
      <vt:lpstr>Reaction Sequences</vt:lpstr>
      <vt:lpstr>Reaction Sequences</vt:lpstr>
      <vt:lpstr>PowerPoint Presentation</vt:lpstr>
      <vt:lpstr>PowerPoint Presentation</vt:lpstr>
      <vt:lpstr>Syllabus</vt:lpstr>
      <vt:lpstr>Green Chemistry</vt:lpstr>
      <vt:lpstr>Green Chemistry</vt:lpstr>
      <vt:lpstr>Green Chemistry</vt:lpstr>
      <vt:lpstr>Green Chemistry</vt:lpstr>
      <vt:lpstr>Green Chemistry</vt:lpstr>
      <vt:lpstr>Atom Economy</vt:lpstr>
      <vt:lpstr>Iboprofen</vt:lpstr>
      <vt:lpstr>Ethanol</vt:lpstr>
      <vt:lpstr>Ethanol production: Hydrolysis of ethene</vt:lpstr>
      <vt:lpstr>Ethanol production: Hydrolysis of ethene</vt:lpstr>
      <vt:lpstr>Ethanol production: Fermentation</vt:lpstr>
      <vt:lpstr>Ethanol production: Fermentation</vt:lpstr>
      <vt:lpstr>Ethanol production</vt:lpstr>
      <vt:lpstr>Enzymes</vt:lpstr>
      <vt:lpstr>PowerPoint Presentation</vt:lpstr>
      <vt:lpstr>Enzymes</vt:lpstr>
      <vt:lpstr>Syllabus</vt:lpstr>
      <vt:lpstr>Biodiesel</vt:lpstr>
      <vt:lpstr>Triglycerides  Soap            (Revision)</vt:lpstr>
      <vt:lpstr>Triglycerides  Biodiesel      (New)</vt:lpstr>
      <vt:lpstr>Synthesis of biodiesel</vt:lpstr>
      <vt:lpstr>Synthesis of biodiesel</vt:lpstr>
      <vt:lpstr>Synthesis of Biodiesel: Base-catalysed</vt:lpstr>
      <vt:lpstr>Synthesis of Biodiesel: Base-catalysed</vt:lpstr>
      <vt:lpstr>Synthesis of Biodiesel: Base-catalysed</vt:lpstr>
      <vt:lpstr>Synthesis of Biodiesel: Lipase-catalysed</vt:lpstr>
      <vt:lpstr>Syllabus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Chemical Synthesis</dc:title>
  <dc:creator>Hayden McKenna</dc:creator>
  <cp:lastModifiedBy>D'CRUZ Jijy [Safety Bay Senior High School]</cp:lastModifiedBy>
  <cp:revision>87</cp:revision>
  <dcterms:created xsi:type="dcterms:W3CDTF">2016-08-15T12:05:36Z</dcterms:created>
  <dcterms:modified xsi:type="dcterms:W3CDTF">2022-08-01T06:46:22Z</dcterms:modified>
</cp:coreProperties>
</file>
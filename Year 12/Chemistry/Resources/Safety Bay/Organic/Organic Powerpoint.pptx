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110"/>
  </p:notesMasterIdLst>
  <p:sldIdLst>
    <p:sldId id="256" r:id="rId2"/>
    <p:sldId id="346" r:id="rId3"/>
    <p:sldId id="339" r:id="rId4"/>
    <p:sldId id="340" r:id="rId5"/>
    <p:sldId id="342" r:id="rId6"/>
    <p:sldId id="343" r:id="rId7"/>
    <p:sldId id="344" r:id="rId8"/>
    <p:sldId id="348" r:id="rId9"/>
    <p:sldId id="350" r:id="rId10"/>
    <p:sldId id="353" r:id="rId11"/>
    <p:sldId id="355" r:id="rId12"/>
    <p:sldId id="354" r:id="rId13"/>
    <p:sldId id="349" r:id="rId14"/>
    <p:sldId id="351" r:id="rId15"/>
    <p:sldId id="352" r:id="rId16"/>
    <p:sldId id="357" r:id="rId17"/>
    <p:sldId id="359" r:id="rId18"/>
    <p:sldId id="361" r:id="rId19"/>
    <p:sldId id="362" r:id="rId20"/>
    <p:sldId id="368" r:id="rId21"/>
    <p:sldId id="363" r:id="rId22"/>
    <p:sldId id="364" r:id="rId23"/>
    <p:sldId id="369" r:id="rId24"/>
    <p:sldId id="366" r:id="rId25"/>
    <p:sldId id="367" r:id="rId26"/>
    <p:sldId id="370" r:id="rId27"/>
    <p:sldId id="459" r:id="rId28"/>
    <p:sldId id="371" r:id="rId29"/>
    <p:sldId id="372" r:id="rId30"/>
    <p:sldId id="375" r:id="rId31"/>
    <p:sldId id="382" r:id="rId32"/>
    <p:sldId id="376" r:id="rId33"/>
    <p:sldId id="377" r:id="rId34"/>
    <p:sldId id="378" r:id="rId35"/>
    <p:sldId id="379" r:id="rId36"/>
    <p:sldId id="380" r:id="rId37"/>
    <p:sldId id="381" r:id="rId38"/>
    <p:sldId id="383" r:id="rId39"/>
    <p:sldId id="384" r:id="rId40"/>
    <p:sldId id="385" r:id="rId41"/>
    <p:sldId id="386" r:id="rId42"/>
    <p:sldId id="388" r:id="rId43"/>
    <p:sldId id="389" r:id="rId44"/>
    <p:sldId id="391" r:id="rId45"/>
    <p:sldId id="489" r:id="rId46"/>
    <p:sldId id="400" r:id="rId47"/>
    <p:sldId id="401" r:id="rId48"/>
    <p:sldId id="402" r:id="rId49"/>
    <p:sldId id="392" r:id="rId50"/>
    <p:sldId id="393" r:id="rId51"/>
    <p:sldId id="394" r:id="rId52"/>
    <p:sldId id="395" r:id="rId53"/>
    <p:sldId id="396" r:id="rId54"/>
    <p:sldId id="397" r:id="rId55"/>
    <p:sldId id="398" r:id="rId56"/>
    <p:sldId id="399" r:id="rId57"/>
    <p:sldId id="403" r:id="rId58"/>
    <p:sldId id="404" r:id="rId59"/>
    <p:sldId id="406" r:id="rId60"/>
    <p:sldId id="407" r:id="rId61"/>
    <p:sldId id="409" r:id="rId62"/>
    <p:sldId id="410" r:id="rId63"/>
    <p:sldId id="490" r:id="rId64"/>
    <p:sldId id="412" r:id="rId65"/>
    <p:sldId id="413" r:id="rId66"/>
    <p:sldId id="414" r:id="rId67"/>
    <p:sldId id="415" r:id="rId68"/>
    <p:sldId id="491" r:id="rId69"/>
    <p:sldId id="492" r:id="rId70"/>
    <p:sldId id="416" r:id="rId71"/>
    <p:sldId id="493" r:id="rId72"/>
    <p:sldId id="417" r:id="rId73"/>
    <p:sldId id="494" r:id="rId74"/>
    <p:sldId id="495" r:id="rId75"/>
    <p:sldId id="496" r:id="rId76"/>
    <p:sldId id="418" r:id="rId77"/>
    <p:sldId id="420" r:id="rId78"/>
    <p:sldId id="421" r:id="rId79"/>
    <p:sldId id="466" r:id="rId80"/>
    <p:sldId id="423" r:id="rId81"/>
    <p:sldId id="422" r:id="rId82"/>
    <p:sldId id="426" r:id="rId83"/>
    <p:sldId id="427" r:id="rId84"/>
    <p:sldId id="428" r:id="rId85"/>
    <p:sldId id="429" r:id="rId86"/>
    <p:sldId id="430" r:id="rId87"/>
    <p:sldId id="431" r:id="rId88"/>
    <p:sldId id="464" r:id="rId89"/>
    <p:sldId id="465" r:id="rId90"/>
    <p:sldId id="467" r:id="rId91"/>
    <p:sldId id="468" r:id="rId92"/>
    <p:sldId id="469" r:id="rId93"/>
    <p:sldId id="470" r:id="rId94"/>
    <p:sldId id="472" r:id="rId95"/>
    <p:sldId id="475" r:id="rId96"/>
    <p:sldId id="476" r:id="rId97"/>
    <p:sldId id="474" r:id="rId98"/>
    <p:sldId id="478" r:id="rId99"/>
    <p:sldId id="479" r:id="rId100"/>
    <p:sldId id="480" r:id="rId101"/>
    <p:sldId id="481" r:id="rId102"/>
    <p:sldId id="482" r:id="rId103"/>
    <p:sldId id="483" r:id="rId104"/>
    <p:sldId id="477" r:id="rId105"/>
    <p:sldId id="484" r:id="rId106"/>
    <p:sldId id="485" r:id="rId107"/>
    <p:sldId id="486" r:id="rId108"/>
    <p:sldId id="487" r:id="rId10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33CC"/>
    <a:srgbClr val="FFCC99"/>
    <a:srgbClr val="FFCCCC"/>
    <a:srgbClr val="EB943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76" autoAdjust="0"/>
    <p:restoredTop sz="94660"/>
  </p:normalViewPr>
  <p:slideViewPr>
    <p:cSldViewPr snapToGrid="0">
      <p:cViewPr varScale="1">
        <p:scale>
          <a:sx n="88" d="100"/>
          <a:sy n="88" d="100"/>
        </p:scale>
        <p:origin x="432" y="62"/>
      </p:cViewPr>
      <p:guideLst>
        <p:guide orient="horz" pos="2160"/>
        <p:guide pos="3840"/>
      </p:guideLst>
    </p:cSldViewPr>
  </p:slideViewPr>
  <p:notesTextViewPr>
    <p:cViewPr>
      <p:scale>
        <a:sx n="1" d="1"/>
        <a:sy n="1" d="1"/>
      </p:scale>
      <p:origin x="0" y="0"/>
    </p:cViewPr>
  </p:notesTextViewPr>
  <p:sorterViewPr>
    <p:cViewPr>
      <p:scale>
        <a:sx n="136" d="100"/>
        <a:sy n="136" d="100"/>
      </p:scale>
      <p:origin x="0" y="-25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slide" Target="slides/slide106.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slide" Target="slides/slide101.xml"/><Relationship Id="rId110"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0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651BBD-80A5-4536-BD41-2D439A79BA10}" type="datetimeFigureOut">
              <a:rPr lang="en-AU" smtClean="0"/>
              <a:t>18/06/2018</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A4C8F64-FD0D-43A3-88CF-A57957C6854C}" type="slidenum">
              <a:rPr lang="en-AU" smtClean="0"/>
              <a:t>‹#›</a:t>
            </a:fld>
            <a:endParaRPr lang="en-AU"/>
          </a:p>
        </p:txBody>
      </p:sp>
    </p:spTree>
    <p:extLst>
      <p:ext uri="{BB962C8B-B14F-4D97-AF65-F5344CB8AC3E}">
        <p14:creationId xmlns:p14="http://schemas.microsoft.com/office/powerpoint/2010/main" val="15656451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7A9A15D-01A3-44B4-8E2D-66C97943DED4}" type="datetimeFigureOut">
              <a:rPr lang="en-AU" smtClean="0"/>
              <a:t>18/06/2018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3790B0-91C0-4DE8-8C45-15EAB79094FE}"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52496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A9A15D-01A3-44B4-8E2D-66C97943DED4}" type="datetimeFigureOut">
              <a:rPr lang="en-AU" smtClean="0"/>
              <a:t>18/06/2018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3790B0-91C0-4DE8-8C45-15EAB79094FE}" type="slidenum">
              <a:rPr lang="en-AU" smtClean="0"/>
              <a:t>‹#›</a:t>
            </a:fld>
            <a:endParaRPr lang="en-AU"/>
          </a:p>
        </p:txBody>
      </p:sp>
    </p:spTree>
    <p:extLst>
      <p:ext uri="{BB962C8B-B14F-4D97-AF65-F5344CB8AC3E}">
        <p14:creationId xmlns:p14="http://schemas.microsoft.com/office/powerpoint/2010/main" val="13748506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A9A15D-01A3-44B4-8E2D-66C97943DED4}" type="datetimeFigureOut">
              <a:rPr lang="en-AU" smtClean="0"/>
              <a:t>18/06/2018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3790B0-91C0-4DE8-8C45-15EAB79094FE}" type="slidenum">
              <a:rPr lang="en-AU" smtClean="0"/>
              <a:t>‹#›</a:t>
            </a:fld>
            <a:endParaRPr lang="en-AU"/>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4535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8"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7A9A15D-01A3-44B4-8E2D-66C97943DED4}" type="datetimeFigureOut">
              <a:rPr lang="en-AU" smtClean="0"/>
              <a:t>18/06/2018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03790B0-91C0-4DE8-8C45-15EAB79094FE}" type="slidenum">
              <a:rPr lang="en-AU" smtClean="0"/>
              <a:t>‹#›</a:t>
            </a:fld>
            <a:endParaRPr lang="en-AU"/>
          </a:p>
        </p:txBody>
      </p:sp>
    </p:spTree>
    <p:extLst>
      <p:ext uri="{BB962C8B-B14F-4D97-AF65-F5344CB8AC3E}">
        <p14:creationId xmlns:p14="http://schemas.microsoft.com/office/powerpoint/2010/main" val="2220605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7A9A15D-01A3-44B4-8E2D-66C97943DED4}" type="datetimeFigureOut">
              <a:rPr lang="en-AU" smtClean="0"/>
              <a:t>18/06/2018</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403790B0-91C0-4DE8-8C45-15EAB79094FE}" type="slidenum">
              <a:rPr lang="en-AU" smtClean="0"/>
              <a:t>‹#›</a:t>
            </a:fld>
            <a:endParaRPr lang="en-AU"/>
          </a:p>
        </p:txBody>
      </p:sp>
    </p:spTree>
    <p:extLst>
      <p:ext uri="{BB962C8B-B14F-4D97-AF65-F5344CB8AC3E}">
        <p14:creationId xmlns:p14="http://schemas.microsoft.com/office/powerpoint/2010/main" val="2141787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7A9A15D-01A3-44B4-8E2D-66C97943DED4}" type="datetimeFigureOut">
              <a:rPr lang="en-AU" smtClean="0"/>
              <a:t>18/06/2018</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403790B0-91C0-4DE8-8C45-15EAB79094FE}" type="slidenum">
              <a:rPr lang="en-AU" smtClean="0"/>
              <a:t>‹#›</a:t>
            </a:fld>
            <a:endParaRPr lang="en-AU"/>
          </a:p>
        </p:txBody>
      </p:sp>
    </p:spTree>
    <p:extLst>
      <p:ext uri="{BB962C8B-B14F-4D97-AF65-F5344CB8AC3E}">
        <p14:creationId xmlns:p14="http://schemas.microsoft.com/office/powerpoint/2010/main" val="28864861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7A9A15D-01A3-44B4-8E2D-66C97943DED4}" type="datetimeFigureOut">
              <a:rPr lang="en-AU" smtClean="0"/>
              <a:t>18/06/2018</a:t>
            </a:fld>
            <a:endParaRPr lang="en-AU"/>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AU"/>
          </a:p>
        </p:txBody>
      </p:sp>
      <p:sp>
        <p:nvSpPr>
          <p:cNvPr id="9" name="Slide Number Placeholder 8"/>
          <p:cNvSpPr>
            <a:spLocks noGrp="1"/>
          </p:cNvSpPr>
          <p:nvPr>
            <p:ph type="sldNum" sz="quarter" idx="12"/>
          </p:nvPr>
        </p:nvSpPr>
        <p:spPr/>
        <p:txBody>
          <a:bodyPr/>
          <a:lstStyle/>
          <a:p>
            <a:fld id="{403790B0-91C0-4DE8-8C45-15EAB79094FE}" type="slidenum">
              <a:rPr lang="en-AU" smtClean="0"/>
              <a:t>‹#›</a:t>
            </a:fld>
            <a:endParaRPr lang="en-AU"/>
          </a:p>
        </p:txBody>
      </p:sp>
    </p:spTree>
    <p:extLst>
      <p:ext uri="{BB962C8B-B14F-4D97-AF65-F5344CB8AC3E}">
        <p14:creationId xmlns:p14="http://schemas.microsoft.com/office/powerpoint/2010/main" val="33903146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7A9A15D-01A3-44B4-8E2D-66C97943DED4}" type="datetimeFigureOut">
              <a:rPr lang="en-AU" smtClean="0"/>
              <a:t>18/06/2018</a:t>
            </a:fld>
            <a:endParaRPr lang="en-AU"/>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AU"/>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03790B0-91C0-4DE8-8C45-15EAB79094FE}" type="slidenum">
              <a:rPr lang="en-AU" smtClean="0"/>
              <a:t>‹#›</a:t>
            </a:fld>
            <a:endParaRPr lang="en-AU"/>
          </a:p>
        </p:txBody>
      </p:sp>
    </p:spTree>
    <p:extLst>
      <p:ext uri="{BB962C8B-B14F-4D97-AF65-F5344CB8AC3E}">
        <p14:creationId xmlns:p14="http://schemas.microsoft.com/office/powerpoint/2010/main" val="3146735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7A9A15D-01A3-44B4-8E2D-66C97943DED4}" type="datetimeFigureOut">
              <a:rPr lang="en-AU" smtClean="0"/>
              <a:t>18/06/2018</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403790B0-91C0-4DE8-8C45-15EAB79094FE}" type="slidenum">
              <a:rPr lang="en-AU" smtClean="0"/>
              <a:t>‹#›</a:t>
            </a:fld>
            <a:endParaRPr lang="en-AU"/>
          </a:p>
        </p:txBody>
      </p:sp>
    </p:spTree>
    <p:extLst>
      <p:ext uri="{BB962C8B-B14F-4D97-AF65-F5344CB8AC3E}">
        <p14:creationId xmlns:p14="http://schemas.microsoft.com/office/powerpoint/2010/main" val="2206079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A9A15D-01A3-44B4-8E2D-66C97943DED4}" type="datetimeFigureOut">
              <a:rPr lang="en-AU" smtClean="0"/>
              <a:t>18/06/2018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3790B0-91C0-4DE8-8C45-15EAB79094FE}" type="slidenum">
              <a:rPr lang="en-AU" smtClean="0"/>
              <a:t>‹#›</a:t>
            </a:fld>
            <a:endParaRPr lang="en-AU"/>
          </a:p>
        </p:txBody>
      </p:sp>
    </p:spTree>
    <p:extLst>
      <p:ext uri="{BB962C8B-B14F-4D97-AF65-F5344CB8AC3E}">
        <p14:creationId xmlns:p14="http://schemas.microsoft.com/office/powerpoint/2010/main" val="39660204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7A9A15D-01A3-44B4-8E2D-66C97943DED4}" type="datetimeFigureOut">
              <a:rPr lang="en-AU" smtClean="0"/>
              <a:t>18/06/2018</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403790B0-91C0-4DE8-8C45-15EAB79094FE}" type="slidenum">
              <a:rPr lang="en-AU" smtClean="0"/>
              <a:t>‹#›</a:t>
            </a:fld>
            <a:endParaRPr lang="en-AU"/>
          </a:p>
        </p:txBody>
      </p:sp>
    </p:spTree>
    <p:extLst>
      <p:ext uri="{BB962C8B-B14F-4D97-AF65-F5344CB8AC3E}">
        <p14:creationId xmlns:p14="http://schemas.microsoft.com/office/powerpoint/2010/main" val="2838888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91985"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7A9A15D-01A3-44B4-8E2D-66C97943DED4}" type="datetimeFigureOut">
              <a:rPr lang="en-AU" smtClean="0"/>
              <a:t>18/06/2018</a:t>
            </a:fld>
            <a:endParaRPr lang="en-AU"/>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AU"/>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403790B0-91C0-4DE8-8C45-15EAB79094FE}" type="slidenum">
              <a:rPr lang="en-AU" smtClean="0"/>
              <a:t>‹#›</a:t>
            </a:fld>
            <a:endParaRPr lang="en-AU"/>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2597482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8.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0.xml.rels><?xml version="1.0" encoding="UTF-8" standalone="yes"?>
<Relationships xmlns="http://schemas.openxmlformats.org/package/2006/relationships"><Relationship Id="rId3" Type="http://schemas.openxmlformats.org/officeDocument/2006/relationships/image" Target="../media/image38.emf"/><Relationship Id="rId7" Type="http://schemas.openxmlformats.org/officeDocument/2006/relationships/image" Target="../media/image3.png"/><Relationship Id="rId2" Type="http://schemas.openxmlformats.org/officeDocument/2006/relationships/image" Target="../media/image37.emf"/><Relationship Id="rId1" Type="http://schemas.openxmlformats.org/officeDocument/2006/relationships/slideLayout" Target="../slideLayouts/slideLayout2.xml"/><Relationship Id="rId6" Type="http://schemas.openxmlformats.org/officeDocument/2006/relationships/image" Target="../media/image41.emf"/><Relationship Id="rId5" Type="http://schemas.openxmlformats.org/officeDocument/2006/relationships/image" Target="../media/image40.emf"/><Relationship Id="rId4" Type="http://schemas.openxmlformats.org/officeDocument/2006/relationships/image" Target="../media/image39.emf"/></Relationships>
</file>

<file path=ppt/slides/_rels/slide31.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3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jpeg"/><Relationship Id="rId1" Type="http://schemas.openxmlformats.org/officeDocument/2006/relationships/slideLayout" Target="../slideLayouts/slideLayout2.xml"/><Relationship Id="rId4" Type="http://schemas.openxmlformats.org/officeDocument/2006/relationships/image" Target="../media/image53.gif"/></Relationships>
</file>

<file path=ppt/slides/_rels/slide34.xml.rels><?xml version="1.0" encoding="UTF-8" standalone="yes"?>
<Relationships xmlns="http://schemas.openxmlformats.org/package/2006/relationships"><Relationship Id="rId2" Type="http://schemas.openxmlformats.org/officeDocument/2006/relationships/image" Target="../media/image54.emf"/><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 Id="rId4" Type="http://schemas.openxmlformats.org/officeDocument/2006/relationships/image" Target="../media/image65.png"/></Relationships>
</file>

<file path=ppt/slides/_rels/slide4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gif"/><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71.gif"/><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2.gi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73.gif"/><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74.gi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5.gi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6.gif"/><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77.gi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78.gif"/><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82.gif"/><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gif"/><Relationship Id="rId1" Type="http://schemas.openxmlformats.org/officeDocument/2006/relationships/slideLayout" Target="../slideLayouts/slideLayout2.xml"/><Relationship Id="rId4" Type="http://schemas.openxmlformats.org/officeDocument/2006/relationships/image" Target="../media/image89.png"/></Relationships>
</file>

<file path=ppt/slides/_rels/slide6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7.gif"/><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68.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jpeg"/><Relationship Id="rId1" Type="http://schemas.openxmlformats.org/officeDocument/2006/relationships/slideLayout" Target="../slideLayouts/slideLayout2.xml"/><Relationship Id="rId5" Type="http://schemas.openxmlformats.org/officeDocument/2006/relationships/image" Target="../media/image95.png"/><Relationship Id="rId4" Type="http://schemas.openxmlformats.org/officeDocument/2006/relationships/image" Target="../media/image94.png"/></Relationships>
</file>

<file path=ppt/slides/_rels/slide71.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 Id="rId5" Type="http://schemas.openxmlformats.org/officeDocument/2006/relationships/image" Target="../media/image102.png"/><Relationship Id="rId4" Type="http://schemas.openxmlformats.org/officeDocument/2006/relationships/image" Target="../media/image101.png"/></Relationships>
</file>

<file path=ppt/slides/_rels/slide76.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8" Type="http://schemas.openxmlformats.org/officeDocument/2006/relationships/image" Target="../media/image106.wmf"/><Relationship Id="rId3" Type="http://schemas.openxmlformats.org/officeDocument/2006/relationships/image" Target="../media/image107.png"/><Relationship Id="rId7"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110.jpeg"/><Relationship Id="rId5" Type="http://schemas.openxmlformats.org/officeDocument/2006/relationships/image" Target="../media/image109.png"/><Relationship Id="rId4" Type="http://schemas.openxmlformats.org/officeDocument/2006/relationships/image" Target="../media/image108.png"/></Relationships>
</file>

<file path=ppt/slides/_rels/slide79.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16.emf"/><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18.gif"/><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122.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125.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30.gif"/><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31.gif"/><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32.gif"/><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34.gif"/><Relationship Id="rId2" Type="http://schemas.openxmlformats.org/officeDocument/2006/relationships/image" Target="../media/image133.gif"/><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36.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hyperlink" Target="https://www.youtube.com/watch?v=zm-3kovWpNQ"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37.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b="1" dirty="0"/>
              <a:t>Organic </a:t>
            </a:r>
            <a:br>
              <a:rPr lang="en-AU" b="1" dirty="0"/>
            </a:br>
            <a:r>
              <a:rPr lang="en-AU" b="1" dirty="0"/>
              <a:t>Chemistry</a:t>
            </a:r>
          </a:p>
        </p:txBody>
      </p:sp>
      <p:sp>
        <p:nvSpPr>
          <p:cNvPr id="3" name="Subtitle 2"/>
          <p:cNvSpPr>
            <a:spLocks noGrp="1"/>
          </p:cNvSpPr>
          <p:nvPr>
            <p:ph type="subTitle" idx="1"/>
          </p:nvPr>
        </p:nvSpPr>
        <p:spPr/>
        <p:txBody>
          <a:bodyPr/>
          <a:lstStyle/>
          <a:p>
            <a:endParaRPr lang="en-AU" dirty="0"/>
          </a:p>
        </p:txBody>
      </p:sp>
      <p:pic>
        <p:nvPicPr>
          <p:cNvPr id="1026" name="Picture 2" descr="The only humor I can find concerning Orgo at this hour, after studyi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62613" y="64029"/>
            <a:ext cx="4651587" cy="61400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27292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Organic chemistry</a:t>
            </a:r>
          </a:p>
        </p:txBody>
      </p:sp>
      <p:pic>
        <p:nvPicPr>
          <p:cNvPr id="7" name="Picture 6"/>
          <p:cNvPicPr>
            <a:picLocks noChangeAspect="1"/>
          </p:cNvPicPr>
          <p:nvPr/>
        </p:nvPicPr>
        <p:blipFill>
          <a:blip r:embed="rId2"/>
          <a:stretch>
            <a:fillRect/>
          </a:stretch>
        </p:blipFill>
        <p:spPr>
          <a:xfrm>
            <a:off x="-1" y="0"/>
            <a:ext cx="12202362" cy="6096000"/>
          </a:xfrm>
          <a:prstGeom prst="rect">
            <a:avLst/>
          </a:prstGeom>
        </p:spPr>
      </p:pic>
      <p:pic>
        <p:nvPicPr>
          <p:cNvPr id="8" name="Picture 7"/>
          <p:cNvPicPr>
            <a:picLocks noChangeAspect="1"/>
          </p:cNvPicPr>
          <p:nvPr/>
        </p:nvPicPr>
        <p:blipFill>
          <a:blip r:embed="rId3"/>
          <a:stretch>
            <a:fillRect/>
          </a:stretch>
        </p:blipFill>
        <p:spPr>
          <a:xfrm>
            <a:off x="7742237" y="3493559"/>
            <a:ext cx="1723495" cy="2527198"/>
          </a:xfrm>
          <a:prstGeom prst="rect">
            <a:avLst/>
          </a:prstGeom>
        </p:spPr>
      </p:pic>
    </p:spTree>
    <p:extLst>
      <p:ext uri="{BB962C8B-B14F-4D97-AF65-F5344CB8AC3E}">
        <p14:creationId xmlns:p14="http://schemas.microsoft.com/office/powerpoint/2010/main" val="2264244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Types of hydrocarbons</a:t>
            </a:r>
          </a:p>
        </p:txBody>
      </p:sp>
      <p:sp>
        <p:nvSpPr>
          <p:cNvPr id="3" name="Content Placeholder 2"/>
          <p:cNvSpPr>
            <a:spLocks noGrp="1"/>
          </p:cNvSpPr>
          <p:nvPr>
            <p:ph idx="1"/>
          </p:nvPr>
        </p:nvSpPr>
        <p:spPr>
          <a:xfrm>
            <a:off x="1097280" y="1845733"/>
            <a:ext cx="10058400" cy="4469341"/>
          </a:xfrm>
        </p:spPr>
        <p:txBody>
          <a:bodyPr>
            <a:normAutofit fontScale="92500" lnSpcReduction="10000"/>
          </a:bodyPr>
          <a:lstStyle/>
          <a:p>
            <a:pPr>
              <a:buFont typeface="Arial" panose="020B0604020202020204" pitchFamily="34" charset="0"/>
              <a:buChar char="•"/>
            </a:pPr>
            <a:r>
              <a:rPr lang="en-AU" sz="2800" b="1" dirty="0"/>
              <a:t>Alkanes</a:t>
            </a:r>
          </a:p>
          <a:p>
            <a:pPr lvl="1">
              <a:buFont typeface="Arial" panose="020B0604020202020204" pitchFamily="34" charset="0"/>
              <a:buChar char="•"/>
            </a:pPr>
            <a:r>
              <a:rPr lang="en-AU" sz="2400" dirty="0"/>
              <a:t>Single bonds only</a:t>
            </a:r>
          </a:p>
          <a:p>
            <a:pPr lvl="1">
              <a:buFont typeface="Arial" panose="020B0604020202020204" pitchFamily="34" charset="0"/>
              <a:buChar char="•"/>
            </a:pPr>
            <a:r>
              <a:rPr lang="en-AU" sz="2400" dirty="0"/>
              <a:t>General formula: C</a:t>
            </a:r>
            <a:r>
              <a:rPr lang="en-AU" sz="2400" baseline="-25000" dirty="0"/>
              <a:t>n</a:t>
            </a:r>
            <a:r>
              <a:rPr lang="en-AU" sz="2400" dirty="0"/>
              <a:t>H</a:t>
            </a:r>
            <a:r>
              <a:rPr lang="en-AU" sz="2400" baseline="-25000" dirty="0"/>
              <a:t>2n+2</a:t>
            </a:r>
            <a:endParaRPr lang="en-AU" sz="2400" dirty="0"/>
          </a:p>
          <a:p>
            <a:pPr lvl="1">
              <a:buFont typeface="Arial" panose="020B0604020202020204" pitchFamily="34" charset="0"/>
              <a:buChar char="•"/>
            </a:pPr>
            <a:endParaRPr lang="en-AU" sz="2400" dirty="0"/>
          </a:p>
          <a:p>
            <a:pPr>
              <a:buFont typeface="Arial" panose="020B0604020202020204" pitchFamily="34" charset="0"/>
              <a:buChar char="•"/>
            </a:pPr>
            <a:r>
              <a:rPr lang="en-AU" sz="2800" b="1" dirty="0"/>
              <a:t>Alkenes</a:t>
            </a:r>
          </a:p>
          <a:p>
            <a:pPr lvl="1">
              <a:buFont typeface="Arial" panose="020B0604020202020204" pitchFamily="34" charset="0"/>
              <a:buChar char="•"/>
            </a:pPr>
            <a:r>
              <a:rPr lang="en-AU" sz="2400" dirty="0"/>
              <a:t>At least one C=C double bond</a:t>
            </a:r>
          </a:p>
          <a:p>
            <a:pPr lvl="1">
              <a:buFont typeface="Arial" panose="020B0604020202020204" pitchFamily="34" charset="0"/>
              <a:buChar char="•"/>
            </a:pPr>
            <a:r>
              <a:rPr lang="en-AU" sz="2400" dirty="0"/>
              <a:t>General formula: C</a:t>
            </a:r>
            <a:r>
              <a:rPr lang="en-AU" sz="2400" baseline="-25000" dirty="0"/>
              <a:t>n</a:t>
            </a:r>
            <a:r>
              <a:rPr lang="en-AU" sz="2400" dirty="0"/>
              <a:t>H</a:t>
            </a:r>
            <a:r>
              <a:rPr lang="en-AU" sz="2400" baseline="-25000" dirty="0"/>
              <a:t>2n</a:t>
            </a:r>
            <a:endParaRPr lang="en-AU" sz="2400" dirty="0"/>
          </a:p>
          <a:p>
            <a:pPr>
              <a:buFont typeface="Arial" panose="020B0604020202020204" pitchFamily="34" charset="0"/>
              <a:buChar char="•"/>
            </a:pPr>
            <a:endParaRPr lang="en-AU" sz="2800" dirty="0"/>
          </a:p>
          <a:p>
            <a:pPr>
              <a:buFont typeface="Arial" panose="020B0604020202020204" pitchFamily="34" charset="0"/>
              <a:buChar char="•"/>
            </a:pPr>
            <a:r>
              <a:rPr lang="en-AU" sz="2800" b="1" dirty="0"/>
              <a:t>Alkynes    </a:t>
            </a:r>
            <a:r>
              <a:rPr lang="en-AU" b="1" i="1" dirty="0">
                <a:solidFill>
                  <a:srgbClr val="FF0000"/>
                </a:solidFill>
              </a:rPr>
              <a:t>(not in Year 12 course)</a:t>
            </a:r>
            <a:endParaRPr lang="en-AU" sz="2800" b="1" dirty="0">
              <a:solidFill>
                <a:srgbClr val="FF0000"/>
              </a:solidFill>
            </a:endParaRPr>
          </a:p>
          <a:p>
            <a:pPr lvl="1">
              <a:buFont typeface="Arial" panose="020B0604020202020204" pitchFamily="34" charset="0"/>
              <a:buChar char="•"/>
            </a:pPr>
            <a:r>
              <a:rPr lang="en-AU" sz="2400" dirty="0"/>
              <a:t>At least one C≡C triple bond</a:t>
            </a:r>
          </a:p>
          <a:p>
            <a:pPr lvl="1">
              <a:buFont typeface="Arial" panose="020B0604020202020204" pitchFamily="34" charset="0"/>
              <a:buChar char="•"/>
            </a:pPr>
            <a:r>
              <a:rPr lang="en-AU" sz="2400" dirty="0"/>
              <a:t>General formula: C</a:t>
            </a:r>
            <a:r>
              <a:rPr lang="en-AU" sz="2400" baseline="-25000" dirty="0"/>
              <a:t>n</a:t>
            </a:r>
            <a:r>
              <a:rPr lang="en-AU" sz="2400" dirty="0"/>
              <a:t>H</a:t>
            </a:r>
            <a:r>
              <a:rPr lang="en-AU" sz="2400" baseline="-25000" dirty="0"/>
              <a:t>2n-2</a:t>
            </a:r>
            <a:endParaRPr lang="en-AU" sz="2400" dirty="0"/>
          </a:p>
          <a:p>
            <a:pPr lvl="1">
              <a:buFont typeface="Arial" panose="020B0604020202020204" pitchFamily="34" charset="0"/>
              <a:buChar char="•"/>
            </a:pPr>
            <a:endParaRPr lang="en-AU" sz="2400" dirty="0"/>
          </a:p>
        </p:txBody>
      </p:sp>
      <p:pic>
        <p:nvPicPr>
          <p:cNvPr id="2050" name="Picture 2" descr="https://upload.wikimedia.org/wikipedia/commons/e/ee/Propyne-2D-fla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539744" y="4383546"/>
            <a:ext cx="2482336" cy="149617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s://upload.wikimedia.org/wikipedia/commons/3/36/Propen2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97440" y="3344091"/>
            <a:ext cx="1855019" cy="1380749"/>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ttps://upload.wikimedia.org/wikipedia/commons/thumb/7/79/Propane-2D.png/1020px-Propane-2D.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777331" y="1926112"/>
            <a:ext cx="2183789" cy="164426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6939471" y="3552823"/>
            <a:ext cx="2767263" cy="461665"/>
          </a:xfrm>
          <a:prstGeom prst="rect">
            <a:avLst/>
          </a:prstGeom>
          <a:noFill/>
        </p:spPr>
        <p:txBody>
          <a:bodyPr wrap="square" rtlCol="0">
            <a:spAutoFit/>
          </a:bodyPr>
          <a:lstStyle/>
          <a:p>
            <a:r>
              <a:rPr lang="en-AU" sz="2400" b="1" dirty="0">
                <a:solidFill>
                  <a:srgbClr val="0070C0"/>
                </a:solidFill>
              </a:rPr>
              <a:t>propane (C</a:t>
            </a:r>
            <a:r>
              <a:rPr lang="en-AU" sz="2400" b="1" baseline="-25000" dirty="0">
                <a:solidFill>
                  <a:srgbClr val="0070C0"/>
                </a:solidFill>
              </a:rPr>
              <a:t>3</a:t>
            </a:r>
            <a:r>
              <a:rPr lang="en-AU" sz="2400" b="1" dirty="0">
                <a:solidFill>
                  <a:srgbClr val="0070C0"/>
                </a:solidFill>
              </a:rPr>
              <a:t>H</a:t>
            </a:r>
            <a:r>
              <a:rPr lang="en-AU" sz="2400" b="1" baseline="-25000" dirty="0">
                <a:solidFill>
                  <a:srgbClr val="0070C0"/>
                </a:solidFill>
              </a:rPr>
              <a:t>8</a:t>
            </a:r>
            <a:r>
              <a:rPr lang="en-AU" sz="2400" b="1" dirty="0">
                <a:solidFill>
                  <a:srgbClr val="0070C0"/>
                </a:solidFill>
              </a:rPr>
              <a:t>)</a:t>
            </a:r>
          </a:p>
        </p:txBody>
      </p:sp>
      <p:sp>
        <p:nvSpPr>
          <p:cNvPr id="9" name="TextBox 8"/>
          <p:cNvSpPr txBox="1"/>
          <p:nvPr/>
        </p:nvSpPr>
        <p:spPr>
          <a:xfrm>
            <a:off x="9851550" y="4669967"/>
            <a:ext cx="2767263" cy="461665"/>
          </a:xfrm>
          <a:prstGeom prst="rect">
            <a:avLst/>
          </a:prstGeom>
          <a:noFill/>
        </p:spPr>
        <p:txBody>
          <a:bodyPr wrap="square" rtlCol="0">
            <a:spAutoFit/>
          </a:bodyPr>
          <a:lstStyle/>
          <a:p>
            <a:r>
              <a:rPr lang="en-AU" sz="2400" b="1" dirty="0">
                <a:solidFill>
                  <a:srgbClr val="0070C0"/>
                </a:solidFill>
              </a:rPr>
              <a:t>propene (C</a:t>
            </a:r>
            <a:r>
              <a:rPr lang="en-AU" sz="2400" b="1" baseline="-25000" dirty="0">
                <a:solidFill>
                  <a:srgbClr val="0070C0"/>
                </a:solidFill>
              </a:rPr>
              <a:t>3</a:t>
            </a:r>
            <a:r>
              <a:rPr lang="en-AU" sz="2400" b="1" dirty="0">
                <a:solidFill>
                  <a:srgbClr val="0070C0"/>
                </a:solidFill>
              </a:rPr>
              <a:t>H</a:t>
            </a:r>
            <a:r>
              <a:rPr lang="en-AU" sz="2400" b="1" baseline="-25000" dirty="0">
                <a:solidFill>
                  <a:srgbClr val="0070C0"/>
                </a:solidFill>
              </a:rPr>
              <a:t>6</a:t>
            </a:r>
            <a:r>
              <a:rPr lang="en-AU" sz="2400" b="1" dirty="0">
                <a:solidFill>
                  <a:srgbClr val="0070C0"/>
                </a:solidFill>
              </a:rPr>
              <a:t>)</a:t>
            </a:r>
          </a:p>
        </p:txBody>
      </p:sp>
      <p:sp>
        <p:nvSpPr>
          <p:cNvPr id="10" name="TextBox 9"/>
          <p:cNvSpPr txBox="1"/>
          <p:nvPr/>
        </p:nvSpPr>
        <p:spPr>
          <a:xfrm>
            <a:off x="6907959" y="5762604"/>
            <a:ext cx="2767263" cy="461665"/>
          </a:xfrm>
          <a:prstGeom prst="rect">
            <a:avLst/>
          </a:prstGeom>
          <a:noFill/>
        </p:spPr>
        <p:txBody>
          <a:bodyPr wrap="square" rtlCol="0">
            <a:spAutoFit/>
          </a:bodyPr>
          <a:lstStyle/>
          <a:p>
            <a:r>
              <a:rPr lang="en-AU" sz="2400" b="1" dirty="0" err="1">
                <a:solidFill>
                  <a:srgbClr val="0070C0"/>
                </a:solidFill>
              </a:rPr>
              <a:t>propyne</a:t>
            </a:r>
            <a:r>
              <a:rPr lang="en-AU" sz="2400" b="1" dirty="0">
                <a:solidFill>
                  <a:srgbClr val="0070C0"/>
                </a:solidFill>
              </a:rPr>
              <a:t> (C</a:t>
            </a:r>
            <a:r>
              <a:rPr lang="en-AU" sz="2400" b="1" baseline="-25000" dirty="0">
                <a:solidFill>
                  <a:srgbClr val="0070C0"/>
                </a:solidFill>
              </a:rPr>
              <a:t>3</a:t>
            </a:r>
            <a:r>
              <a:rPr lang="en-AU" sz="2400" b="1" dirty="0">
                <a:solidFill>
                  <a:srgbClr val="0070C0"/>
                </a:solidFill>
              </a:rPr>
              <a:t>H</a:t>
            </a:r>
            <a:r>
              <a:rPr lang="en-AU" sz="2400" b="1" baseline="-25000" dirty="0">
                <a:solidFill>
                  <a:srgbClr val="0070C0"/>
                </a:solidFill>
              </a:rPr>
              <a:t>4</a:t>
            </a:r>
            <a:r>
              <a:rPr lang="en-AU" sz="2400" b="1" dirty="0">
                <a:solidFill>
                  <a:srgbClr val="0070C0"/>
                </a:solidFill>
              </a:rPr>
              <a:t>)</a:t>
            </a:r>
          </a:p>
        </p:txBody>
      </p:sp>
    </p:spTree>
    <p:extLst>
      <p:ext uri="{BB962C8B-B14F-4D97-AF65-F5344CB8AC3E}">
        <p14:creationId xmlns:p14="http://schemas.microsoft.com/office/powerpoint/2010/main" val="17044765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Types of hydrocarbons</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pPr>
            <a:r>
              <a:rPr lang="en-AU" sz="2800" b="1" dirty="0"/>
              <a:t>Cyclic hydrocarbons</a:t>
            </a:r>
          </a:p>
          <a:p>
            <a:pPr lvl="1">
              <a:buFont typeface="Arial" panose="020B0604020202020204" pitchFamily="34" charset="0"/>
              <a:buChar char="•"/>
            </a:pPr>
            <a:r>
              <a:rPr lang="en-AU" sz="2400" dirty="0"/>
              <a:t>Have carbons in a ring formation</a:t>
            </a:r>
          </a:p>
          <a:p>
            <a:pPr lvl="1">
              <a:buFont typeface="Arial" panose="020B0604020202020204" pitchFamily="34" charset="0"/>
              <a:buChar char="•"/>
            </a:pPr>
            <a:r>
              <a:rPr lang="en-AU" sz="2400" dirty="0"/>
              <a:t>Have two less hydrogens than non-cyclic version </a:t>
            </a:r>
            <a:r>
              <a:rPr lang="en-AU" sz="2400" i="1" dirty="0"/>
              <a:t>(example below…)</a:t>
            </a:r>
          </a:p>
          <a:p>
            <a:pPr lvl="1">
              <a:buFont typeface="Arial" panose="020B0604020202020204" pitchFamily="34" charset="0"/>
              <a:buChar char="•"/>
            </a:pPr>
            <a:endParaRPr lang="en-AU" sz="2400" dirty="0"/>
          </a:p>
        </p:txBody>
      </p:sp>
      <p:pic>
        <p:nvPicPr>
          <p:cNvPr id="3074" name="Picture 2" descr="http://www.kchemistry.com/cyclohexane2.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50136" y="3258094"/>
            <a:ext cx="2099944" cy="2187442"/>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cornellbiochem.wikispaces.com/file/view/Hexane-2D-flat-B.png/285935354/400x153/Hexane-2D-flat-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78890" y="3701994"/>
            <a:ext cx="3810000" cy="145732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2149757" y="5619208"/>
            <a:ext cx="2767263" cy="461665"/>
          </a:xfrm>
          <a:prstGeom prst="rect">
            <a:avLst/>
          </a:prstGeom>
          <a:noFill/>
        </p:spPr>
        <p:txBody>
          <a:bodyPr wrap="square" rtlCol="0">
            <a:spAutoFit/>
          </a:bodyPr>
          <a:lstStyle/>
          <a:p>
            <a:r>
              <a:rPr lang="en-AU" sz="2400" b="1" dirty="0">
                <a:solidFill>
                  <a:srgbClr val="0070C0"/>
                </a:solidFill>
              </a:rPr>
              <a:t>cyclohexane (C</a:t>
            </a:r>
            <a:r>
              <a:rPr lang="en-AU" sz="2400" b="1" baseline="-25000" dirty="0">
                <a:solidFill>
                  <a:srgbClr val="0070C0"/>
                </a:solidFill>
              </a:rPr>
              <a:t>6</a:t>
            </a:r>
            <a:r>
              <a:rPr lang="en-AU" sz="2400" b="1" dirty="0">
                <a:solidFill>
                  <a:srgbClr val="0070C0"/>
                </a:solidFill>
              </a:rPr>
              <a:t>H</a:t>
            </a:r>
            <a:r>
              <a:rPr lang="en-AU" sz="2400" b="1" baseline="-25000" dirty="0">
                <a:solidFill>
                  <a:srgbClr val="0070C0"/>
                </a:solidFill>
              </a:rPr>
              <a:t>12</a:t>
            </a:r>
            <a:r>
              <a:rPr lang="en-AU" sz="2400" b="1" dirty="0">
                <a:solidFill>
                  <a:srgbClr val="0070C0"/>
                </a:solidFill>
              </a:rPr>
              <a:t>)</a:t>
            </a:r>
          </a:p>
        </p:txBody>
      </p:sp>
      <p:sp>
        <p:nvSpPr>
          <p:cNvPr id="13" name="TextBox 12"/>
          <p:cNvSpPr txBox="1"/>
          <p:nvPr/>
        </p:nvSpPr>
        <p:spPr>
          <a:xfrm>
            <a:off x="8032398" y="5615702"/>
            <a:ext cx="2767263" cy="461665"/>
          </a:xfrm>
          <a:prstGeom prst="rect">
            <a:avLst/>
          </a:prstGeom>
          <a:noFill/>
        </p:spPr>
        <p:txBody>
          <a:bodyPr wrap="square" rtlCol="0">
            <a:spAutoFit/>
          </a:bodyPr>
          <a:lstStyle/>
          <a:p>
            <a:r>
              <a:rPr lang="en-AU" sz="2400" b="1" dirty="0">
                <a:solidFill>
                  <a:srgbClr val="0070C0"/>
                </a:solidFill>
              </a:rPr>
              <a:t>hexane (C</a:t>
            </a:r>
            <a:r>
              <a:rPr lang="en-AU" sz="2400" b="1" baseline="-25000" dirty="0">
                <a:solidFill>
                  <a:srgbClr val="0070C0"/>
                </a:solidFill>
              </a:rPr>
              <a:t>6</a:t>
            </a:r>
            <a:r>
              <a:rPr lang="en-AU" sz="2400" b="1" dirty="0">
                <a:solidFill>
                  <a:srgbClr val="0070C0"/>
                </a:solidFill>
              </a:rPr>
              <a:t>H</a:t>
            </a:r>
            <a:r>
              <a:rPr lang="en-AU" sz="2400" b="1" baseline="-25000" dirty="0">
                <a:solidFill>
                  <a:srgbClr val="0070C0"/>
                </a:solidFill>
              </a:rPr>
              <a:t>14</a:t>
            </a:r>
            <a:r>
              <a:rPr lang="en-AU" sz="2400" b="1" dirty="0">
                <a:solidFill>
                  <a:srgbClr val="0070C0"/>
                </a:solidFill>
              </a:rPr>
              <a:t>)</a:t>
            </a:r>
          </a:p>
        </p:txBody>
      </p:sp>
    </p:spTree>
    <p:extLst>
      <p:ext uri="{BB962C8B-B14F-4D97-AF65-F5344CB8AC3E}">
        <p14:creationId xmlns:p14="http://schemas.microsoft.com/office/powerpoint/2010/main" val="7242754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Classifying hydrocarbons</a:t>
            </a:r>
          </a:p>
        </p:txBody>
      </p:sp>
      <p:sp>
        <p:nvSpPr>
          <p:cNvPr id="3" name="Content Placeholder 2"/>
          <p:cNvSpPr>
            <a:spLocks noGrp="1"/>
          </p:cNvSpPr>
          <p:nvPr>
            <p:ph idx="1"/>
          </p:nvPr>
        </p:nvSpPr>
        <p:spPr/>
        <p:txBody>
          <a:bodyPr>
            <a:normAutofit/>
          </a:bodyPr>
          <a:lstStyle/>
          <a:p>
            <a:pPr>
              <a:buFont typeface="Arial" panose="020B0604020202020204" pitchFamily="34" charset="0"/>
              <a:buChar char="•"/>
              <a:tabLst>
                <a:tab pos="2333625" algn="l"/>
              </a:tabLst>
            </a:pPr>
            <a:r>
              <a:rPr lang="en-AU" sz="2800" b="1" dirty="0" err="1"/>
              <a:t>Aliphatics</a:t>
            </a:r>
            <a:r>
              <a:rPr lang="en-AU" sz="2800" b="1" dirty="0"/>
              <a:t>: 	</a:t>
            </a:r>
            <a:r>
              <a:rPr lang="en-AU" sz="2400" dirty="0"/>
              <a:t>Open chain (non-cyclic) hydrocarbons</a:t>
            </a:r>
          </a:p>
          <a:p>
            <a:pPr>
              <a:buFont typeface="Arial" panose="020B0604020202020204" pitchFamily="34" charset="0"/>
              <a:buChar char="•"/>
              <a:tabLst>
                <a:tab pos="2333625" algn="l"/>
              </a:tabLst>
            </a:pPr>
            <a:r>
              <a:rPr lang="en-AU" sz="2800" b="1" dirty="0" err="1"/>
              <a:t>Alicyclics</a:t>
            </a:r>
            <a:r>
              <a:rPr lang="en-AU" sz="2800" b="1" dirty="0"/>
              <a:t>: 	</a:t>
            </a:r>
            <a:r>
              <a:rPr lang="en-AU" sz="2400" dirty="0"/>
              <a:t>Cyclic hydrocarbons</a:t>
            </a:r>
          </a:p>
          <a:p>
            <a:pPr>
              <a:buFont typeface="Arial" panose="020B0604020202020204" pitchFamily="34" charset="0"/>
              <a:buChar char="•"/>
              <a:tabLst>
                <a:tab pos="2333625" algn="l"/>
              </a:tabLst>
            </a:pPr>
            <a:r>
              <a:rPr lang="en-AU" sz="2800" b="1" dirty="0"/>
              <a:t>Aromatics: 	</a:t>
            </a:r>
            <a:r>
              <a:rPr lang="en-AU" sz="2400" dirty="0"/>
              <a:t>Contain benzene</a:t>
            </a:r>
          </a:p>
          <a:p>
            <a:pPr>
              <a:buFont typeface="Arial" panose="020B0604020202020204" pitchFamily="34" charset="0"/>
              <a:buChar char="•"/>
              <a:tabLst>
                <a:tab pos="2333625" algn="l"/>
              </a:tabLst>
            </a:pPr>
            <a:endParaRPr lang="en-AU" sz="2400" b="1" dirty="0"/>
          </a:p>
          <a:p>
            <a:pPr>
              <a:buFont typeface="Arial" panose="020B0604020202020204" pitchFamily="34" charset="0"/>
              <a:buChar char="•"/>
              <a:tabLst>
                <a:tab pos="2333625" algn="l"/>
              </a:tabLst>
            </a:pPr>
            <a:r>
              <a:rPr lang="en-AU" sz="2800" b="1" dirty="0"/>
              <a:t>Saturated: </a:t>
            </a:r>
            <a:r>
              <a:rPr lang="en-AU" sz="2400" b="1" dirty="0"/>
              <a:t>	</a:t>
            </a:r>
            <a:r>
              <a:rPr lang="en-AU" sz="2400" dirty="0"/>
              <a:t>Possesses only single C-C bonds</a:t>
            </a:r>
          </a:p>
          <a:p>
            <a:pPr>
              <a:buFont typeface="Arial" panose="020B0604020202020204" pitchFamily="34" charset="0"/>
              <a:buChar char="•"/>
              <a:tabLst>
                <a:tab pos="2333625" algn="l"/>
              </a:tabLst>
            </a:pPr>
            <a:r>
              <a:rPr lang="en-AU" sz="2800" b="1" dirty="0"/>
              <a:t>Unsaturated: 	</a:t>
            </a:r>
            <a:r>
              <a:rPr lang="en-AU" sz="2400" dirty="0"/>
              <a:t>Possesses double or triple bonds</a:t>
            </a:r>
            <a:endParaRPr lang="en-AU" sz="2400" b="1" dirty="0"/>
          </a:p>
        </p:txBody>
      </p:sp>
      <p:pic>
        <p:nvPicPr>
          <p:cNvPr id="2050" name="Picture 2" descr="https://upload.wikimedia.org/wikipedia/commons/2/23/Benzene-2D-fla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093482" y="1845734"/>
            <a:ext cx="2289532" cy="2628899"/>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9160157" y="4490228"/>
            <a:ext cx="2767263" cy="461665"/>
          </a:xfrm>
          <a:prstGeom prst="rect">
            <a:avLst/>
          </a:prstGeom>
          <a:noFill/>
        </p:spPr>
        <p:txBody>
          <a:bodyPr wrap="square" rtlCol="0">
            <a:spAutoFit/>
          </a:bodyPr>
          <a:lstStyle/>
          <a:p>
            <a:r>
              <a:rPr lang="en-AU" sz="2400" b="1" dirty="0">
                <a:solidFill>
                  <a:srgbClr val="0070C0"/>
                </a:solidFill>
              </a:rPr>
              <a:t>benzene (C</a:t>
            </a:r>
            <a:r>
              <a:rPr lang="en-AU" sz="2400" b="1" baseline="-25000" dirty="0">
                <a:solidFill>
                  <a:srgbClr val="0070C0"/>
                </a:solidFill>
              </a:rPr>
              <a:t>6</a:t>
            </a:r>
            <a:r>
              <a:rPr lang="en-AU" sz="2400" b="1" dirty="0">
                <a:solidFill>
                  <a:srgbClr val="0070C0"/>
                </a:solidFill>
              </a:rPr>
              <a:t>H</a:t>
            </a:r>
            <a:r>
              <a:rPr lang="en-AU" sz="2400" b="1" baseline="-25000" dirty="0">
                <a:solidFill>
                  <a:srgbClr val="0070C0"/>
                </a:solidFill>
              </a:rPr>
              <a:t>6</a:t>
            </a:r>
            <a:r>
              <a:rPr lang="en-AU" sz="2400" b="1" dirty="0">
                <a:solidFill>
                  <a:srgbClr val="0070C0"/>
                </a:solidFill>
              </a:rPr>
              <a:t>)</a:t>
            </a:r>
          </a:p>
        </p:txBody>
      </p:sp>
    </p:spTree>
    <p:extLst>
      <p:ext uri="{BB962C8B-B14F-4D97-AF65-F5344CB8AC3E}">
        <p14:creationId xmlns:p14="http://schemas.microsoft.com/office/powerpoint/2010/main" val="233003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Classifying hydrocarbons - Examples</a:t>
            </a:r>
          </a:p>
        </p:txBody>
      </p:sp>
      <p:sp>
        <p:nvSpPr>
          <p:cNvPr id="6" name="Oval 5"/>
          <p:cNvSpPr/>
          <p:nvPr/>
        </p:nvSpPr>
        <p:spPr>
          <a:xfrm>
            <a:off x="8458200" y="2809875"/>
            <a:ext cx="3524249" cy="3048000"/>
          </a:xfrm>
          <a:prstGeom prst="ellipse">
            <a:avLst/>
          </a:prstGeom>
          <a:solidFill>
            <a:schemeClr val="accent6">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7" name="Rounded Rectangle 6"/>
          <p:cNvSpPr/>
          <p:nvPr/>
        </p:nvSpPr>
        <p:spPr>
          <a:xfrm>
            <a:off x="428625" y="2368808"/>
            <a:ext cx="7591425" cy="3930134"/>
          </a:xfrm>
          <a:prstGeom prst="roundRect">
            <a:avLst/>
          </a:prstGeom>
          <a:solidFill>
            <a:srgbClr val="FFCCCC">
              <a:alpha val="30980"/>
            </a:srgbClr>
          </a:solidFill>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cxnSp>
        <p:nvCxnSpPr>
          <p:cNvPr id="11" name="Straight Connector 10"/>
          <p:cNvCxnSpPr>
            <a:stCxn id="7" idx="0"/>
            <a:endCxn id="7" idx="2"/>
          </p:cNvCxnSpPr>
          <p:nvPr/>
        </p:nvCxnSpPr>
        <p:spPr>
          <a:xfrm>
            <a:off x="4224338" y="2368808"/>
            <a:ext cx="0" cy="3930134"/>
          </a:xfrm>
          <a:prstGeom prst="line">
            <a:avLst/>
          </a:prstGeom>
        </p:spPr>
        <p:style>
          <a:lnRef idx="1">
            <a:schemeClr val="dk1"/>
          </a:lnRef>
          <a:fillRef idx="0">
            <a:schemeClr val="dk1"/>
          </a:fillRef>
          <a:effectRef idx="0">
            <a:schemeClr val="dk1"/>
          </a:effectRef>
          <a:fontRef idx="minor">
            <a:schemeClr val="tx1"/>
          </a:fontRef>
        </p:style>
      </p:cxnSp>
      <p:cxnSp>
        <p:nvCxnSpPr>
          <p:cNvPr id="13" name="Straight Connector 12"/>
          <p:cNvCxnSpPr>
            <a:stCxn id="7" idx="1"/>
            <a:endCxn id="7" idx="3"/>
          </p:cNvCxnSpPr>
          <p:nvPr/>
        </p:nvCxnSpPr>
        <p:spPr>
          <a:xfrm>
            <a:off x="428625" y="4333875"/>
            <a:ext cx="7591425" cy="0"/>
          </a:xfrm>
          <a:prstGeom prst="line">
            <a:avLst/>
          </a:prstGeom>
        </p:spPr>
        <p:style>
          <a:lnRef idx="1">
            <a:schemeClr val="dk1"/>
          </a:lnRef>
          <a:fillRef idx="0">
            <a:schemeClr val="dk1"/>
          </a:fillRef>
          <a:effectRef idx="0">
            <a:schemeClr val="dk1"/>
          </a:effectRef>
          <a:fontRef idx="minor">
            <a:schemeClr val="tx1"/>
          </a:fontRef>
        </p:style>
      </p:cxnSp>
      <p:sp>
        <p:nvSpPr>
          <p:cNvPr id="15" name="TextBox 14"/>
          <p:cNvSpPr txBox="1"/>
          <p:nvPr/>
        </p:nvSpPr>
        <p:spPr>
          <a:xfrm>
            <a:off x="1409700" y="2368808"/>
            <a:ext cx="2314575" cy="369332"/>
          </a:xfrm>
          <a:prstGeom prst="rect">
            <a:avLst/>
          </a:prstGeom>
          <a:noFill/>
        </p:spPr>
        <p:txBody>
          <a:bodyPr wrap="square" rtlCol="0">
            <a:spAutoFit/>
          </a:bodyPr>
          <a:lstStyle/>
          <a:p>
            <a:r>
              <a:rPr lang="en-AU" u="sng" dirty="0"/>
              <a:t>Saturated aliphatic</a:t>
            </a:r>
          </a:p>
        </p:txBody>
      </p:sp>
      <p:sp>
        <p:nvSpPr>
          <p:cNvPr id="17" name="TextBox 16"/>
          <p:cNvSpPr txBox="1"/>
          <p:nvPr/>
        </p:nvSpPr>
        <p:spPr>
          <a:xfrm>
            <a:off x="1338263" y="4350008"/>
            <a:ext cx="2314575" cy="369332"/>
          </a:xfrm>
          <a:prstGeom prst="rect">
            <a:avLst/>
          </a:prstGeom>
          <a:noFill/>
        </p:spPr>
        <p:txBody>
          <a:bodyPr wrap="square" rtlCol="0">
            <a:spAutoFit/>
          </a:bodyPr>
          <a:lstStyle/>
          <a:p>
            <a:r>
              <a:rPr lang="en-AU" u="sng" dirty="0"/>
              <a:t>Unsaturated aliphatic</a:t>
            </a:r>
          </a:p>
        </p:txBody>
      </p:sp>
      <p:sp>
        <p:nvSpPr>
          <p:cNvPr id="18" name="TextBox 17"/>
          <p:cNvSpPr txBox="1"/>
          <p:nvPr/>
        </p:nvSpPr>
        <p:spPr>
          <a:xfrm>
            <a:off x="5131117" y="2368808"/>
            <a:ext cx="2314575" cy="369332"/>
          </a:xfrm>
          <a:prstGeom prst="rect">
            <a:avLst/>
          </a:prstGeom>
          <a:noFill/>
        </p:spPr>
        <p:txBody>
          <a:bodyPr wrap="square" rtlCol="0">
            <a:spAutoFit/>
          </a:bodyPr>
          <a:lstStyle/>
          <a:p>
            <a:r>
              <a:rPr lang="en-AU" u="sng" dirty="0"/>
              <a:t>Saturated alicyclic</a:t>
            </a:r>
          </a:p>
        </p:txBody>
      </p:sp>
      <p:sp>
        <p:nvSpPr>
          <p:cNvPr id="19" name="TextBox 18"/>
          <p:cNvSpPr txBox="1"/>
          <p:nvPr/>
        </p:nvSpPr>
        <p:spPr>
          <a:xfrm>
            <a:off x="4972051" y="4380608"/>
            <a:ext cx="2314575" cy="369332"/>
          </a:xfrm>
          <a:prstGeom prst="rect">
            <a:avLst/>
          </a:prstGeom>
          <a:noFill/>
        </p:spPr>
        <p:txBody>
          <a:bodyPr wrap="square" rtlCol="0">
            <a:spAutoFit/>
          </a:bodyPr>
          <a:lstStyle/>
          <a:p>
            <a:r>
              <a:rPr lang="en-AU" u="sng" dirty="0"/>
              <a:t>Unsaturated alicyclic</a:t>
            </a:r>
          </a:p>
        </p:txBody>
      </p:sp>
      <p:pic>
        <p:nvPicPr>
          <p:cNvPr id="22" name="Picture 6" descr="https://upload.wikimedia.org/wikipedia/commons/thumb/c/c6/Cyclohexen_-_Cyclohexene.svg/2000px-Cyclohexen_-_Cyclohexene.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571021" y="4798483"/>
            <a:ext cx="1110918" cy="1110918"/>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http://upload.wikimedia.org/wikipedia/commons/thumb/8/8d/Ethene-2D-flat.png/257px-Ethene-2D-flat.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2256" y="4786246"/>
            <a:ext cx="1144942" cy="1069207"/>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0" descr="https://dr282zn36sxxg.cloudfront.net/datastreams/f-d%3Aafc5847f80fdd929df5e260af0db406d5bb551b494dbb57529da899a%2BIMAGE%2BIMAGE.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245989" y="2820561"/>
            <a:ext cx="2445573" cy="1121907"/>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2" descr="http://www.chemeddl.org/resources/models360/files/9253/cyclopentane-lewis.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445005" y="2556677"/>
            <a:ext cx="1547469" cy="1516826"/>
          </a:xfrm>
          <a:prstGeom prst="rect">
            <a:avLst/>
          </a:prstGeom>
          <a:noFill/>
          <a:extLst>
            <a:ext uri="{909E8E84-426E-40DD-AFC4-6F175D3DCCD1}">
              <a14:hiddenFill xmlns:a14="http://schemas.microsoft.com/office/drawing/2010/main">
                <a:solidFill>
                  <a:srgbClr val="FFFFFF"/>
                </a:solidFill>
              </a14:hiddenFill>
            </a:ext>
          </a:extLst>
        </p:spPr>
      </p:pic>
      <p:sp>
        <p:nvSpPr>
          <p:cNvPr id="26" name="TextBox 25"/>
          <p:cNvSpPr txBox="1"/>
          <p:nvPr/>
        </p:nvSpPr>
        <p:spPr>
          <a:xfrm>
            <a:off x="910692" y="3957574"/>
            <a:ext cx="3638550" cy="400110"/>
          </a:xfrm>
          <a:prstGeom prst="rect">
            <a:avLst/>
          </a:prstGeom>
          <a:noFill/>
        </p:spPr>
        <p:txBody>
          <a:bodyPr wrap="square" rtlCol="0">
            <a:spAutoFit/>
          </a:bodyPr>
          <a:lstStyle/>
          <a:p>
            <a:r>
              <a:rPr lang="en-AU" sz="2000" dirty="0">
                <a:solidFill>
                  <a:srgbClr val="0070C0"/>
                </a:solidFill>
              </a:rPr>
              <a:t>3-ethyl-5,5-dimethylhexane</a:t>
            </a:r>
          </a:p>
        </p:txBody>
      </p:sp>
      <p:sp>
        <p:nvSpPr>
          <p:cNvPr id="28" name="TextBox 27"/>
          <p:cNvSpPr txBox="1"/>
          <p:nvPr/>
        </p:nvSpPr>
        <p:spPr>
          <a:xfrm>
            <a:off x="523875" y="5855453"/>
            <a:ext cx="3638550" cy="400110"/>
          </a:xfrm>
          <a:prstGeom prst="rect">
            <a:avLst/>
          </a:prstGeom>
          <a:noFill/>
        </p:spPr>
        <p:txBody>
          <a:bodyPr wrap="square" rtlCol="0">
            <a:spAutoFit/>
          </a:bodyPr>
          <a:lstStyle/>
          <a:p>
            <a:pPr algn="ctr"/>
            <a:r>
              <a:rPr lang="en-AU" sz="2000" dirty="0" err="1">
                <a:solidFill>
                  <a:srgbClr val="0070C0"/>
                </a:solidFill>
              </a:rPr>
              <a:t>ethene</a:t>
            </a:r>
            <a:endParaRPr lang="en-AU" sz="2000" dirty="0">
              <a:solidFill>
                <a:srgbClr val="0070C0"/>
              </a:solidFill>
            </a:endParaRPr>
          </a:p>
        </p:txBody>
      </p:sp>
      <p:sp>
        <p:nvSpPr>
          <p:cNvPr id="29" name="TextBox 28"/>
          <p:cNvSpPr txBox="1"/>
          <p:nvPr/>
        </p:nvSpPr>
        <p:spPr>
          <a:xfrm>
            <a:off x="4343400" y="5913243"/>
            <a:ext cx="3638550" cy="400110"/>
          </a:xfrm>
          <a:prstGeom prst="rect">
            <a:avLst/>
          </a:prstGeom>
          <a:noFill/>
        </p:spPr>
        <p:txBody>
          <a:bodyPr wrap="square" rtlCol="0">
            <a:spAutoFit/>
          </a:bodyPr>
          <a:lstStyle/>
          <a:p>
            <a:pPr algn="ctr"/>
            <a:r>
              <a:rPr lang="en-AU" sz="2000" dirty="0">
                <a:solidFill>
                  <a:srgbClr val="0070C0"/>
                </a:solidFill>
              </a:rPr>
              <a:t>cyclohexene</a:t>
            </a:r>
          </a:p>
        </p:txBody>
      </p:sp>
      <p:sp>
        <p:nvSpPr>
          <p:cNvPr id="30" name="TextBox 29"/>
          <p:cNvSpPr txBox="1"/>
          <p:nvPr/>
        </p:nvSpPr>
        <p:spPr>
          <a:xfrm>
            <a:off x="4257675" y="3919354"/>
            <a:ext cx="3638550" cy="400110"/>
          </a:xfrm>
          <a:prstGeom prst="rect">
            <a:avLst/>
          </a:prstGeom>
          <a:noFill/>
        </p:spPr>
        <p:txBody>
          <a:bodyPr wrap="square" rtlCol="0">
            <a:spAutoFit/>
          </a:bodyPr>
          <a:lstStyle/>
          <a:p>
            <a:pPr algn="ctr"/>
            <a:r>
              <a:rPr lang="en-AU" sz="2000" dirty="0" err="1">
                <a:solidFill>
                  <a:srgbClr val="0070C0"/>
                </a:solidFill>
              </a:rPr>
              <a:t>cyclopropane</a:t>
            </a:r>
            <a:endParaRPr lang="en-AU" sz="2000" dirty="0">
              <a:solidFill>
                <a:srgbClr val="0070C0"/>
              </a:solidFill>
            </a:endParaRPr>
          </a:p>
        </p:txBody>
      </p:sp>
      <p:sp>
        <p:nvSpPr>
          <p:cNvPr id="31" name="TextBox 30"/>
          <p:cNvSpPr txBox="1"/>
          <p:nvPr/>
        </p:nvSpPr>
        <p:spPr>
          <a:xfrm>
            <a:off x="8316595" y="5122247"/>
            <a:ext cx="3638550" cy="400110"/>
          </a:xfrm>
          <a:prstGeom prst="rect">
            <a:avLst/>
          </a:prstGeom>
          <a:noFill/>
        </p:spPr>
        <p:txBody>
          <a:bodyPr wrap="square" rtlCol="0">
            <a:spAutoFit/>
          </a:bodyPr>
          <a:lstStyle/>
          <a:p>
            <a:pPr algn="ctr"/>
            <a:r>
              <a:rPr lang="en-AU" sz="2000" dirty="0">
                <a:solidFill>
                  <a:srgbClr val="0070C0"/>
                </a:solidFill>
              </a:rPr>
              <a:t>ethylbenzene</a:t>
            </a:r>
          </a:p>
        </p:txBody>
      </p:sp>
      <p:sp>
        <p:nvSpPr>
          <p:cNvPr id="38" name="TextBox 37"/>
          <p:cNvSpPr txBox="1"/>
          <p:nvPr/>
        </p:nvSpPr>
        <p:spPr>
          <a:xfrm>
            <a:off x="2343150" y="1939832"/>
            <a:ext cx="3638550" cy="400110"/>
          </a:xfrm>
          <a:prstGeom prst="rect">
            <a:avLst/>
          </a:prstGeom>
          <a:noFill/>
        </p:spPr>
        <p:txBody>
          <a:bodyPr wrap="square" rtlCol="0">
            <a:spAutoFit/>
          </a:bodyPr>
          <a:lstStyle/>
          <a:p>
            <a:pPr algn="ctr"/>
            <a:r>
              <a:rPr lang="en-AU" sz="2000" b="1" u="sng" dirty="0">
                <a:solidFill>
                  <a:srgbClr val="FF0000"/>
                </a:solidFill>
              </a:rPr>
              <a:t>NON-AROMATIC</a:t>
            </a:r>
          </a:p>
        </p:txBody>
      </p:sp>
      <p:sp>
        <p:nvSpPr>
          <p:cNvPr id="39" name="TextBox 38"/>
          <p:cNvSpPr txBox="1"/>
          <p:nvPr/>
        </p:nvSpPr>
        <p:spPr>
          <a:xfrm>
            <a:off x="8352470" y="2274302"/>
            <a:ext cx="3638550" cy="400110"/>
          </a:xfrm>
          <a:prstGeom prst="rect">
            <a:avLst/>
          </a:prstGeom>
          <a:noFill/>
        </p:spPr>
        <p:txBody>
          <a:bodyPr wrap="square" rtlCol="0">
            <a:spAutoFit/>
          </a:bodyPr>
          <a:lstStyle/>
          <a:p>
            <a:pPr algn="ctr"/>
            <a:r>
              <a:rPr lang="en-AU" sz="2000" b="1" u="sng" dirty="0">
                <a:solidFill>
                  <a:srgbClr val="0070C0"/>
                </a:solidFill>
              </a:rPr>
              <a:t>AROMATIC</a:t>
            </a:r>
          </a:p>
        </p:txBody>
      </p:sp>
      <p:pic>
        <p:nvPicPr>
          <p:cNvPr id="3076" name="Picture 4" descr="http://www.toxipedia.org/download/attachments/6005870/ethylbenzene.png?version=1&amp;modificationDate=1277917843000&amp;api=v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04656" y="3182779"/>
            <a:ext cx="1343582" cy="1917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879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Over to you…</a:t>
            </a:r>
          </a:p>
        </p:txBody>
      </p:sp>
      <p:sp>
        <p:nvSpPr>
          <p:cNvPr id="3" name="Content Placeholder 2"/>
          <p:cNvSpPr>
            <a:spLocks noGrp="1"/>
          </p:cNvSpPr>
          <p:nvPr>
            <p:ph idx="1"/>
          </p:nvPr>
        </p:nvSpPr>
        <p:spPr>
          <a:xfrm>
            <a:off x="1097280" y="1845733"/>
            <a:ext cx="10058400" cy="4469341"/>
          </a:xfrm>
        </p:spPr>
        <p:txBody>
          <a:bodyPr>
            <a:normAutofit/>
          </a:bodyPr>
          <a:lstStyle/>
          <a:p>
            <a:pPr marL="0" indent="0">
              <a:buNone/>
            </a:pPr>
            <a:r>
              <a:rPr lang="en-AU" sz="2400" dirty="0"/>
              <a:t>Use the above terms to classify each of the following hydrocarbons:</a:t>
            </a:r>
          </a:p>
        </p:txBody>
      </p:sp>
      <p:pic>
        <p:nvPicPr>
          <p:cNvPr id="4098" name="Picture 2" descr="http://2012books.lardbucket.org/books/beginning-chemistry/section_20/e19a234466d4738618441f82356b2ce7.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8823" t="2864" r="19133"/>
          <a:stretch/>
        </p:blipFill>
        <p:spPr bwMode="auto">
          <a:xfrm>
            <a:off x="8223021" y="2324928"/>
            <a:ext cx="3803879" cy="217169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descr="http://www.instructables.com/files/orig/FER/BXBR/G1VDTE20/FERBXBRG1VDTE20.bmp"/>
          <p:cNvPicPr>
            <a:picLocks noChangeAspect="1" noChangeArrowheads="1"/>
          </p:cNvPicPr>
          <p:nvPr/>
        </p:nvPicPr>
        <p:blipFill rotWithShape="1">
          <a:blip r:embed="rId3">
            <a:extLst>
              <a:ext uri="{28A0092B-C50C-407E-A947-70E740481C1C}">
                <a14:useLocalDpi xmlns:a14="http://schemas.microsoft.com/office/drawing/2010/main" val="0"/>
              </a:ext>
            </a:extLst>
          </a:blip>
          <a:srcRect b="15237"/>
          <a:stretch/>
        </p:blipFill>
        <p:spPr bwMode="auto">
          <a:xfrm>
            <a:off x="4654961" y="2247899"/>
            <a:ext cx="2943038" cy="2325755"/>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descr="http://study.com/cimages/multimages/16/Alkenes.jpg"/>
          <p:cNvPicPr>
            <a:picLocks noChangeAspect="1" noChangeArrowheads="1"/>
          </p:cNvPicPr>
          <p:nvPr/>
        </p:nvPicPr>
        <p:blipFill rotWithShape="1">
          <a:blip r:embed="rId4">
            <a:extLst>
              <a:ext uri="{28A0092B-C50C-407E-A947-70E740481C1C}">
                <a14:useLocalDpi xmlns:a14="http://schemas.microsoft.com/office/drawing/2010/main" val="0"/>
              </a:ext>
            </a:extLst>
          </a:blip>
          <a:srcRect l="46573" t="49027" b="12777"/>
          <a:stretch/>
        </p:blipFill>
        <p:spPr bwMode="auto">
          <a:xfrm>
            <a:off x="317499" y="2588153"/>
            <a:ext cx="3833989" cy="1816100"/>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Straight Connector 14"/>
          <p:cNvCxnSpPr/>
          <p:nvPr/>
        </p:nvCxnSpPr>
        <p:spPr>
          <a:xfrm>
            <a:off x="779779" y="5461000"/>
            <a:ext cx="3568701" cy="0"/>
          </a:xfrm>
          <a:prstGeom prst="line">
            <a:avLst/>
          </a:prstGeom>
        </p:spPr>
        <p:style>
          <a:lnRef idx="1">
            <a:schemeClr val="dk1"/>
          </a:lnRef>
          <a:fillRef idx="0">
            <a:schemeClr val="dk1"/>
          </a:fillRef>
          <a:effectRef idx="0">
            <a:schemeClr val="dk1"/>
          </a:effectRef>
          <a:fontRef idx="minor">
            <a:schemeClr val="tx1"/>
          </a:fontRef>
        </p:style>
      </p:cxnSp>
      <p:cxnSp>
        <p:nvCxnSpPr>
          <p:cNvPr id="17" name="Straight Connector 16"/>
          <p:cNvCxnSpPr/>
          <p:nvPr/>
        </p:nvCxnSpPr>
        <p:spPr>
          <a:xfrm>
            <a:off x="4501400" y="5461000"/>
            <a:ext cx="3568701" cy="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p:nvPr/>
        </p:nvCxnSpPr>
        <p:spPr>
          <a:xfrm>
            <a:off x="8223021" y="5461000"/>
            <a:ext cx="3568701" cy="0"/>
          </a:xfrm>
          <a:prstGeom prst="line">
            <a:avLst/>
          </a:prstGeom>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1097280" y="4999335"/>
            <a:ext cx="5808981" cy="461665"/>
          </a:xfrm>
          <a:prstGeom prst="rect">
            <a:avLst/>
          </a:prstGeom>
          <a:noFill/>
        </p:spPr>
        <p:txBody>
          <a:bodyPr wrap="square" rtlCol="0">
            <a:spAutoFit/>
          </a:bodyPr>
          <a:lstStyle/>
          <a:p>
            <a:r>
              <a:rPr lang="en-AU" sz="2400" b="1" dirty="0">
                <a:solidFill>
                  <a:srgbClr val="FF0000"/>
                </a:solidFill>
              </a:rPr>
              <a:t>unsaturated aliphatic</a:t>
            </a:r>
          </a:p>
        </p:txBody>
      </p:sp>
      <p:sp>
        <p:nvSpPr>
          <p:cNvPr id="20" name="TextBox 19"/>
          <p:cNvSpPr txBox="1"/>
          <p:nvPr/>
        </p:nvSpPr>
        <p:spPr>
          <a:xfrm>
            <a:off x="4734331" y="5038377"/>
            <a:ext cx="3098800" cy="461665"/>
          </a:xfrm>
          <a:prstGeom prst="rect">
            <a:avLst/>
          </a:prstGeom>
          <a:noFill/>
        </p:spPr>
        <p:txBody>
          <a:bodyPr wrap="square" rtlCol="0">
            <a:spAutoFit/>
          </a:bodyPr>
          <a:lstStyle/>
          <a:p>
            <a:r>
              <a:rPr lang="en-AU" sz="2400" b="1" dirty="0">
                <a:solidFill>
                  <a:srgbClr val="FF0000"/>
                </a:solidFill>
              </a:rPr>
              <a:t>unsaturated alicyclic</a:t>
            </a:r>
          </a:p>
        </p:txBody>
      </p:sp>
      <p:sp>
        <p:nvSpPr>
          <p:cNvPr id="21" name="TextBox 20"/>
          <p:cNvSpPr txBox="1"/>
          <p:nvPr/>
        </p:nvSpPr>
        <p:spPr>
          <a:xfrm>
            <a:off x="8692922" y="5038377"/>
            <a:ext cx="3098800" cy="461665"/>
          </a:xfrm>
          <a:prstGeom prst="rect">
            <a:avLst/>
          </a:prstGeom>
          <a:noFill/>
        </p:spPr>
        <p:txBody>
          <a:bodyPr wrap="square" rtlCol="0">
            <a:spAutoFit/>
          </a:bodyPr>
          <a:lstStyle/>
          <a:p>
            <a:r>
              <a:rPr lang="en-AU" sz="2400" b="1" dirty="0">
                <a:solidFill>
                  <a:srgbClr val="FF0000"/>
                </a:solidFill>
              </a:rPr>
              <a:t>saturated aliphatic</a:t>
            </a:r>
          </a:p>
        </p:txBody>
      </p:sp>
    </p:spTree>
    <p:extLst>
      <p:ext uri="{BB962C8B-B14F-4D97-AF65-F5344CB8AC3E}">
        <p14:creationId xmlns:p14="http://schemas.microsoft.com/office/powerpoint/2010/main" val="1977259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fade">
                                      <p:cBhvr>
                                        <p:cTn id="17"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0" grpId="0"/>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Physical properties of hydrocarbons</a:t>
            </a:r>
          </a:p>
        </p:txBody>
      </p:sp>
      <p:sp>
        <p:nvSpPr>
          <p:cNvPr id="3" name="Content Placeholder 2"/>
          <p:cNvSpPr>
            <a:spLocks noGrp="1"/>
          </p:cNvSpPr>
          <p:nvPr>
            <p:ph idx="1"/>
          </p:nvPr>
        </p:nvSpPr>
        <p:spPr>
          <a:xfrm>
            <a:off x="7924800" y="1737360"/>
            <a:ext cx="3924300" cy="4174067"/>
          </a:xfrm>
        </p:spPr>
        <p:txBody>
          <a:bodyPr>
            <a:normAutofit/>
          </a:bodyPr>
          <a:lstStyle/>
          <a:p>
            <a:pPr marL="0" indent="0">
              <a:buNone/>
            </a:pPr>
            <a:r>
              <a:rPr lang="en-AU" sz="2400" dirty="0"/>
              <a:t>Which alkanes are:</a:t>
            </a:r>
          </a:p>
          <a:p>
            <a:pPr marL="457200" indent="-457200">
              <a:buAutoNum type="alphaLcParenR"/>
            </a:pPr>
            <a:r>
              <a:rPr lang="en-AU" sz="2400" dirty="0"/>
              <a:t>Gases at room temp?</a:t>
            </a:r>
          </a:p>
          <a:p>
            <a:pPr marL="457200" indent="-457200">
              <a:buAutoNum type="alphaLcParenR"/>
            </a:pPr>
            <a:endParaRPr lang="en-AU" sz="2400" dirty="0"/>
          </a:p>
          <a:p>
            <a:pPr marL="457200" indent="-457200">
              <a:buAutoNum type="alphaLcParenR"/>
            </a:pPr>
            <a:endParaRPr lang="en-AU" sz="2400" dirty="0"/>
          </a:p>
          <a:p>
            <a:pPr marL="457200" indent="-457200">
              <a:buAutoNum type="alphaLcParenR"/>
            </a:pPr>
            <a:r>
              <a:rPr lang="en-AU" sz="2400" dirty="0"/>
              <a:t>Liquids at room temp?</a:t>
            </a:r>
          </a:p>
          <a:p>
            <a:pPr marL="457200" indent="-457200">
              <a:buAutoNum type="alphaLcParenR"/>
            </a:pPr>
            <a:endParaRPr lang="en-AU" sz="2400" dirty="0"/>
          </a:p>
          <a:p>
            <a:pPr marL="457200" indent="-457200">
              <a:buAutoNum type="alphaLcParenR"/>
            </a:pPr>
            <a:endParaRPr lang="en-AU" sz="2400" dirty="0"/>
          </a:p>
          <a:p>
            <a:pPr marL="457200" indent="-457200">
              <a:buAutoNum type="alphaLcParenR"/>
            </a:pPr>
            <a:r>
              <a:rPr lang="en-AU" sz="2400" dirty="0"/>
              <a:t>Solids at room temp?</a:t>
            </a:r>
          </a:p>
          <a:p>
            <a:pPr marL="457200" indent="-457200">
              <a:buAutoNum type="alphaLcParenR"/>
            </a:pPr>
            <a:endParaRPr lang="en-AU" sz="2400" dirty="0"/>
          </a:p>
        </p:txBody>
      </p:sp>
      <p:pic>
        <p:nvPicPr>
          <p:cNvPr id="6146" name="Picture 2" descr="http://discovery.kcpc.usyd.edu.au/9.2.1/images/AlkanePropertie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75" y="1845733"/>
            <a:ext cx="7121525" cy="436903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p:cNvSpPr txBox="1"/>
          <p:nvPr/>
        </p:nvSpPr>
        <p:spPr>
          <a:xfrm>
            <a:off x="8831580" y="2603342"/>
            <a:ext cx="3017520" cy="584775"/>
          </a:xfrm>
          <a:prstGeom prst="rect">
            <a:avLst/>
          </a:prstGeom>
          <a:noFill/>
        </p:spPr>
        <p:txBody>
          <a:bodyPr wrap="square" rtlCol="0">
            <a:spAutoFit/>
          </a:bodyPr>
          <a:lstStyle/>
          <a:p>
            <a:r>
              <a:rPr lang="en-AU" sz="3200" b="1" dirty="0">
                <a:solidFill>
                  <a:srgbClr val="FF0000"/>
                </a:solidFill>
              </a:rPr>
              <a:t>C</a:t>
            </a:r>
            <a:r>
              <a:rPr lang="en-AU" sz="3200" b="1" baseline="-25000" dirty="0">
                <a:solidFill>
                  <a:srgbClr val="FF0000"/>
                </a:solidFill>
              </a:rPr>
              <a:t>1</a:t>
            </a:r>
            <a:r>
              <a:rPr lang="en-AU" sz="3200" b="1" dirty="0">
                <a:solidFill>
                  <a:srgbClr val="FF0000"/>
                </a:solidFill>
              </a:rPr>
              <a:t> to C</a:t>
            </a:r>
            <a:r>
              <a:rPr lang="en-AU" sz="3200" b="1" baseline="-25000" dirty="0">
                <a:solidFill>
                  <a:srgbClr val="FF0000"/>
                </a:solidFill>
              </a:rPr>
              <a:t>4</a:t>
            </a:r>
            <a:endParaRPr lang="en-AU" sz="3200" b="1" dirty="0">
              <a:solidFill>
                <a:srgbClr val="FF0000"/>
              </a:solidFill>
            </a:endParaRPr>
          </a:p>
        </p:txBody>
      </p:sp>
      <p:sp>
        <p:nvSpPr>
          <p:cNvPr id="16" name="TextBox 15"/>
          <p:cNvSpPr txBox="1"/>
          <p:nvPr/>
        </p:nvSpPr>
        <p:spPr>
          <a:xfrm>
            <a:off x="8831580" y="4257384"/>
            <a:ext cx="3017520" cy="584775"/>
          </a:xfrm>
          <a:prstGeom prst="rect">
            <a:avLst/>
          </a:prstGeom>
          <a:noFill/>
        </p:spPr>
        <p:txBody>
          <a:bodyPr wrap="square" rtlCol="0">
            <a:spAutoFit/>
          </a:bodyPr>
          <a:lstStyle/>
          <a:p>
            <a:r>
              <a:rPr lang="en-AU" sz="3200" b="1" dirty="0">
                <a:solidFill>
                  <a:srgbClr val="FF0000"/>
                </a:solidFill>
              </a:rPr>
              <a:t>C</a:t>
            </a:r>
            <a:r>
              <a:rPr lang="en-AU" sz="3200" b="1" baseline="-25000" dirty="0">
                <a:solidFill>
                  <a:srgbClr val="FF0000"/>
                </a:solidFill>
              </a:rPr>
              <a:t>5</a:t>
            </a:r>
            <a:r>
              <a:rPr lang="en-AU" sz="3200" b="1" dirty="0">
                <a:solidFill>
                  <a:srgbClr val="FF0000"/>
                </a:solidFill>
              </a:rPr>
              <a:t> to C</a:t>
            </a:r>
            <a:r>
              <a:rPr lang="en-AU" sz="3200" b="1" baseline="-25000" dirty="0">
                <a:solidFill>
                  <a:srgbClr val="FF0000"/>
                </a:solidFill>
              </a:rPr>
              <a:t>16-20ish</a:t>
            </a:r>
            <a:endParaRPr lang="en-AU" sz="3200" b="1" dirty="0">
              <a:solidFill>
                <a:srgbClr val="FF0000"/>
              </a:solidFill>
            </a:endParaRPr>
          </a:p>
        </p:txBody>
      </p:sp>
      <p:sp>
        <p:nvSpPr>
          <p:cNvPr id="19" name="TextBox 18"/>
          <p:cNvSpPr txBox="1"/>
          <p:nvPr/>
        </p:nvSpPr>
        <p:spPr>
          <a:xfrm>
            <a:off x="8831580" y="5568898"/>
            <a:ext cx="3017520" cy="584775"/>
          </a:xfrm>
          <a:prstGeom prst="rect">
            <a:avLst/>
          </a:prstGeom>
          <a:noFill/>
        </p:spPr>
        <p:txBody>
          <a:bodyPr wrap="square" rtlCol="0">
            <a:spAutoFit/>
          </a:bodyPr>
          <a:lstStyle/>
          <a:p>
            <a:r>
              <a:rPr lang="en-AU" sz="3200" b="1" dirty="0">
                <a:solidFill>
                  <a:srgbClr val="FF0000"/>
                </a:solidFill>
              </a:rPr>
              <a:t>&gt; C</a:t>
            </a:r>
            <a:r>
              <a:rPr lang="en-AU" sz="3200" b="1" baseline="-25000" dirty="0">
                <a:solidFill>
                  <a:srgbClr val="FF0000"/>
                </a:solidFill>
              </a:rPr>
              <a:t>20ish</a:t>
            </a:r>
            <a:endParaRPr lang="en-AU" sz="3200" b="1" dirty="0">
              <a:solidFill>
                <a:srgbClr val="FF0000"/>
              </a:solidFill>
            </a:endParaRPr>
          </a:p>
        </p:txBody>
      </p:sp>
    </p:spTree>
    <p:extLst>
      <p:ext uri="{BB962C8B-B14F-4D97-AF65-F5344CB8AC3E}">
        <p14:creationId xmlns:p14="http://schemas.microsoft.com/office/powerpoint/2010/main" val="3695976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fade">
                                      <p:cBhvr>
                                        <p:cTn id="1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Physical properties of hydrocarbons</a:t>
            </a:r>
          </a:p>
        </p:txBody>
      </p:sp>
      <p:sp>
        <p:nvSpPr>
          <p:cNvPr id="3" name="Content Placeholder 2"/>
          <p:cNvSpPr>
            <a:spLocks noGrp="1"/>
          </p:cNvSpPr>
          <p:nvPr>
            <p:ph idx="1"/>
          </p:nvPr>
        </p:nvSpPr>
        <p:spPr>
          <a:xfrm>
            <a:off x="7924800" y="2131060"/>
            <a:ext cx="3924300" cy="4174067"/>
          </a:xfrm>
        </p:spPr>
        <p:txBody>
          <a:bodyPr>
            <a:normAutofit/>
          </a:bodyPr>
          <a:lstStyle/>
          <a:p>
            <a:pPr marL="0" indent="0">
              <a:buNone/>
            </a:pPr>
            <a:r>
              <a:rPr lang="en-AU" sz="2400" dirty="0"/>
              <a:t>Explain why:</a:t>
            </a:r>
          </a:p>
          <a:p>
            <a:pPr marL="457200" indent="-457200">
              <a:buAutoNum type="alphaLcParenR"/>
            </a:pPr>
            <a:r>
              <a:rPr lang="en-AU" sz="2400" dirty="0"/>
              <a:t>Alkanes have a generally low melting and boiling points</a:t>
            </a:r>
          </a:p>
          <a:p>
            <a:pPr marL="457200" indent="-457200">
              <a:buAutoNum type="alphaLcParenR"/>
            </a:pPr>
            <a:endParaRPr lang="en-AU" sz="2400" dirty="0"/>
          </a:p>
          <a:p>
            <a:pPr marL="457200" indent="-457200">
              <a:buAutoNum type="alphaLcParenR"/>
            </a:pPr>
            <a:r>
              <a:rPr lang="en-AU" sz="2400" dirty="0"/>
              <a:t>The melting and boiling point of alkanes increase as the length of the carbon chain increases</a:t>
            </a:r>
          </a:p>
        </p:txBody>
      </p:sp>
      <p:pic>
        <p:nvPicPr>
          <p:cNvPr id="6146" name="Picture 2" descr="http://discovery.kcpc.usyd.edu.au/9.2.1/images/AlkanePropertie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75" y="1845733"/>
            <a:ext cx="7121525" cy="43690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069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Isomers</a:t>
            </a:r>
          </a:p>
        </p:txBody>
      </p:sp>
      <p:sp>
        <p:nvSpPr>
          <p:cNvPr id="3" name="Content Placeholder 2"/>
          <p:cNvSpPr>
            <a:spLocks noGrp="1"/>
          </p:cNvSpPr>
          <p:nvPr>
            <p:ph idx="1"/>
          </p:nvPr>
        </p:nvSpPr>
        <p:spPr>
          <a:xfrm>
            <a:off x="1097280" y="1845733"/>
            <a:ext cx="10058400" cy="4469341"/>
          </a:xfrm>
        </p:spPr>
        <p:txBody>
          <a:bodyPr>
            <a:normAutofit/>
          </a:bodyPr>
          <a:lstStyle/>
          <a:p>
            <a:pPr marL="0" indent="0">
              <a:buNone/>
            </a:pPr>
            <a:r>
              <a:rPr lang="en-AU" sz="2400" dirty="0"/>
              <a:t>Same molecular formula but different structure or orientation of atoms.</a:t>
            </a:r>
          </a:p>
          <a:p>
            <a:pPr marL="0" indent="0">
              <a:buNone/>
            </a:pPr>
            <a:r>
              <a:rPr lang="en-AU" sz="2400" dirty="0"/>
              <a:t>Has affects on physical and chemical properties of molecules.</a:t>
            </a:r>
          </a:p>
        </p:txBody>
      </p:sp>
    </p:spTree>
    <p:extLst>
      <p:ext uri="{BB962C8B-B14F-4D97-AF65-F5344CB8AC3E}">
        <p14:creationId xmlns:p14="http://schemas.microsoft.com/office/powerpoint/2010/main" val="1368007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825625" y="-62829"/>
            <a:ext cx="8804910" cy="6920829"/>
          </a:xfrm>
          <a:prstGeom prst="rect">
            <a:avLst/>
          </a:prstGeom>
          <a:noFill/>
          <a:ln>
            <a:noFill/>
          </a:ln>
        </p:spPr>
      </p:pic>
    </p:spTree>
    <p:extLst>
      <p:ext uri="{BB962C8B-B14F-4D97-AF65-F5344CB8AC3E}">
        <p14:creationId xmlns:p14="http://schemas.microsoft.com/office/powerpoint/2010/main" val="37385753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Isomers – Effect on properties</a:t>
            </a:r>
          </a:p>
        </p:txBody>
      </p:sp>
      <p:sp>
        <p:nvSpPr>
          <p:cNvPr id="3" name="Content Placeholder 2"/>
          <p:cNvSpPr>
            <a:spLocks noGrp="1"/>
          </p:cNvSpPr>
          <p:nvPr>
            <p:ph idx="1"/>
          </p:nvPr>
        </p:nvSpPr>
        <p:spPr>
          <a:xfrm>
            <a:off x="5156200" y="1811420"/>
            <a:ext cx="6883400" cy="4038600"/>
          </a:xfrm>
        </p:spPr>
        <p:txBody>
          <a:bodyPr>
            <a:noAutofit/>
          </a:bodyPr>
          <a:lstStyle/>
          <a:p>
            <a:pPr>
              <a:lnSpc>
                <a:spcPct val="100000"/>
              </a:lnSpc>
            </a:pPr>
            <a:r>
              <a:rPr lang="en-AU" b="1" dirty="0"/>
              <a:t>Q: </a:t>
            </a:r>
            <a:r>
              <a:rPr lang="en-AU" dirty="0"/>
              <a:t>Explain the difference in boiling point between pentane and 2,2-dimethylpropane</a:t>
            </a:r>
            <a:endParaRPr lang="en-AU" b="1" dirty="0"/>
          </a:p>
          <a:p>
            <a:pPr>
              <a:lnSpc>
                <a:spcPct val="100000"/>
              </a:lnSpc>
            </a:pPr>
            <a:endParaRPr lang="en-AU" dirty="0"/>
          </a:p>
          <a:p>
            <a:pPr>
              <a:lnSpc>
                <a:spcPct val="150000"/>
              </a:lnSpc>
            </a:pPr>
            <a:r>
              <a:rPr lang="en-AU" b="1" dirty="0"/>
              <a:t>A: </a:t>
            </a:r>
            <a:r>
              <a:rPr lang="en-AU" dirty="0"/>
              <a:t>The difference in boiling point is due to pentane having stronger dispersion forces than 2,2-dimethylpropane. The linear shape of pentane molecules allow them to pack closer together and share a larger surface area than 2,2-dimethylpropane molecules. As a result the dispersion forces are stronger and more energy is needed to separate the molecules.</a:t>
            </a:r>
          </a:p>
        </p:txBody>
      </p:sp>
      <p:pic>
        <p:nvPicPr>
          <p:cNvPr id="10244" name="Picture 4" descr="http://image.slidesharecdn.com/experiment4-101027141432-phpapp01/95/determination-of-boiling-point-of-organic-compounds-13-638.jpg?cb=1422674504"/>
          <p:cNvPicPr>
            <a:picLocks noChangeAspect="1" noChangeArrowheads="1"/>
          </p:cNvPicPr>
          <p:nvPr/>
        </p:nvPicPr>
        <p:blipFill rotWithShape="1">
          <a:blip r:embed="rId2">
            <a:extLst>
              <a:ext uri="{28A0092B-C50C-407E-A947-70E740481C1C}">
                <a14:useLocalDpi xmlns:a14="http://schemas.microsoft.com/office/drawing/2010/main" val="0"/>
              </a:ext>
            </a:extLst>
          </a:blip>
          <a:srcRect l="6008" t="22825" r="66197" b="18163"/>
          <a:stretch/>
        </p:blipFill>
        <p:spPr bwMode="auto">
          <a:xfrm>
            <a:off x="173620" y="1917700"/>
            <a:ext cx="2400300" cy="3826040"/>
          </a:xfrm>
          <a:prstGeom prst="rect">
            <a:avLst/>
          </a:prstGeom>
          <a:noFill/>
          <a:extLst>
            <a:ext uri="{909E8E84-426E-40DD-AFC4-6F175D3DCCD1}">
              <a14:hiddenFill xmlns:a14="http://schemas.microsoft.com/office/drawing/2010/main">
                <a:solidFill>
                  <a:srgbClr val="FFFFFF"/>
                </a:solidFill>
              </a14:hiddenFill>
            </a:ext>
          </a:extLst>
        </p:spPr>
      </p:pic>
      <p:pic>
        <p:nvPicPr>
          <p:cNvPr id="10246" name="Picture 6" descr="http://image.slidesharecdn.com/experiment4-101027141432-phpapp01/95/determination-of-boiling-point-of-organic-compounds-13-638.jpg?cb=1422674504"/>
          <p:cNvPicPr>
            <a:picLocks noChangeAspect="1" noChangeArrowheads="1"/>
          </p:cNvPicPr>
          <p:nvPr/>
        </p:nvPicPr>
        <p:blipFill rotWithShape="1">
          <a:blip r:embed="rId2">
            <a:extLst>
              <a:ext uri="{28A0092B-C50C-407E-A947-70E740481C1C}">
                <a14:useLocalDpi xmlns:a14="http://schemas.microsoft.com/office/drawing/2010/main" val="0"/>
              </a:ext>
            </a:extLst>
          </a:blip>
          <a:srcRect l="65307" t="22842" r="6688" b="18147"/>
          <a:stretch/>
        </p:blipFill>
        <p:spPr bwMode="auto">
          <a:xfrm>
            <a:off x="2573920" y="1917700"/>
            <a:ext cx="2418346" cy="38260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4176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Naming Alkanes</a:t>
            </a:r>
          </a:p>
        </p:txBody>
      </p:sp>
      <p:sp>
        <p:nvSpPr>
          <p:cNvPr id="3" name="Content Placeholder 2"/>
          <p:cNvSpPr>
            <a:spLocks noGrp="1"/>
          </p:cNvSpPr>
          <p:nvPr>
            <p:ph idx="1"/>
          </p:nvPr>
        </p:nvSpPr>
        <p:spPr>
          <a:xfrm>
            <a:off x="1097280" y="1968500"/>
            <a:ext cx="10751820" cy="4336627"/>
          </a:xfrm>
        </p:spPr>
        <p:txBody>
          <a:bodyPr>
            <a:normAutofit lnSpcReduction="10000"/>
          </a:bodyPr>
          <a:lstStyle/>
          <a:p>
            <a:pPr marL="0" indent="0">
              <a:buNone/>
            </a:pPr>
            <a:r>
              <a:rPr lang="en-AU" sz="2400" b="1" dirty="0"/>
              <a:t>MAIN CHAIN:</a:t>
            </a:r>
          </a:p>
          <a:p>
            <a:pPr marL="457200" indent="-457200">
              <a:buAutoNum type="arabicPeriod"/>
            </a:pPr>
            <a:r>
              <a:rPr lang="en-AU" sz="2400" dirty="0"/>
              <a:t>Find the longest chain</a:t>
            </a:r>
          </a:p>
          <a:p>
            <a:pPr marL="457200" indent="-457200">
              <a:buAutoNum type="arabicPeriod"/>
            </a:pPr>
            <a:r>
              <a:rPr lang="en-AU" sz="2400" dirty="0"/>
              <a:t>Name the longest chain and give the suffix ‘-</a:t>
            </a:r>
            <a:r>
              <a:rPr lang="en-AU" sz="2400" dirty="0" err="1"/>
              <a:t>ane</a:t>
            </a:r>
            <a:r>
              <a:rPr lang="en-AU" sz="2400" dirty="0"/>
              <a:t>’</a:t>
            </a:r>
          </a:p>
          <a:p>
            <a:pPr marL="0" indent="0">
              <a:buNone/>
            </a:pPr>
            <a:endParaRPr lang="en-AU" sz="2400" dirty="0"/>
          </a:p>
          <a:p>
            <a:pPr marL="0" indent="0">
              <a:buNone/>
            </a:pPr>
            <a:r>
              <a:rPr lang="en-AU" sz="2400" b="1" dirty="0"/>
              <a:t>SIDE CHAINS:</a:t>
            </a:r>
          </a:p>
          <a:p>
            <a:pPr marL="457200" indent="-457200">
              <a:buFont typeface="+mj-lt"/>
              <a:buAutoNum type="arabicPeriod" startAt="4"/>
            </a:pPr>
            <a:r>
              <a:rPr lang="en-AU" sz="2400" dirty="0"/>
              <a:t>Identify and name any side groups</a:t>
            </a:r>
          </a:p>
          <a:p>
            <a:pPr marL="457200" indent="-457200">
              <a:buAutoNum type="arabicPeriod" startAt="4"/>
            </a:pPr>
            <a:r>
              <a:rPr lang="en-AU" sz="2400" dirty="0"/>
              <a:t>Place the side groups in alphabetical order</a:t>
            </a:r>
          </a:p>
          <a:p>
            <a:pPr marL="457200" indent="-457200">
              <a:buAutoNum type="arabicPeriod" startAt="4"/>
            </a:pPr>
            <a:r>
              <a:rPr lang="en-AU" sz="2400" dirty="0"/>
              <a:t>Add prefixes to side groups (di-, tri-, tetra-)</a:t>
            </a:r>
          </a:p>
          <a:p>
            <a:pPr marL="457200" indent="-457200">
              <a:buAutoNum type="arabicPeriod" startAt="4"/>
            </a:pPr>
            <a:r>
              <a:rPr lang="en-AU" sz="2400" dirty="0"/>
              <a:t>Number the chain so side groups have the lowest number</a:t>
            </a:r>
          </a:p>
          <a:p>
            <a:pPr marL="457200" indent="-457200">
              <a:buFont typeface="Calibri" panose="020F0502020204030204" pitchFamily="34" charset="0"/>
              <a:buAutoNum type="alphaLcParenR"/>
            </a:pPr>
            <a:endParaRPr lang="en-AU" sz="2400" dirty="0"/>
          </a:p>
        </p:txBody>
      </p:sp>
      <p:sp>
        <p:nvSpPr>
          <p:cNvPr id="6" name="Content Placeholder 2"/>
          <p:cNvSpPr txBox="1">
            <a:spLocks/>
          </p:cNvSpPr>
          <p:nvPr/>
        </p:nvSpPr>
        <p:spPr>
          <a:xfrm>
            <a:off x="7924800" y="2131060"/>
            <a:ext cx="3924300" cy="4174067"/>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0" indent="0">
              <a:buFont typeface="Calibri" panose="020F0502020204030204" pitchFamily="34" charset="0"/>
              <a:buNone/>
            </a:pPr>
            <a:endParaRPr lang="en-AU" sz="2400" dirty="0"/>
          </a:p>
        </p:txBody>
      </p:sp>
      <p:pic>
        <p:nvPicPr>
          <p:cNvPr id="8194" name="Picture 2" descr="http://chains-energyandresources.wikispaces.com/file/view/table_3.png/210831914/269x374/table_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26501" y="1968500"/>
            <a:ext cx="3022600" cy="420242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10852729" y="3537527"/>
            <a:ext cx="987136" cy="338554"/>
          </a:xfrm>
          <a:prstGeom prst="rect">
            <a:avLst/>
          </a:prstGeom>
          <a:solidFill>
            <a:srgbClr val="FFFFFF"/>
          </a:solidFill>
        </p:spPr>
        <p:txBody>
          <a:bodyPr wrap="square" rtlCol="0">
            <a:spAutoFit/>
          </a:bodyPr>
          <a:lstStyle/>
          <a:p>
            <a:pPr algn="ctr"/>
            <a:r>
              <a:rPr lang="en-AU" sz="1600" b="1" dirty="0"/>
              <a:t>But-</a:t>
            </a:r>
          </a:p>
        </p:txBody>
      </p:sp>
    </p:spTree>
    <p:extLst>
      <p:ext uri="{BB962C8B-B14F-4D97-AF65-F5344CB8AC3E}">
        <p14:creationId xmlns:p14="http://schemas.microsoft.com/office/powerpoint/2010/main" val="25173413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Naming Alkanes</a:t>
            </a:r>
          </a:p>
        </p:txBody>
      </p:sp>
      <p:pic>
        <p:nvPicPr>
          <p:cNvPr id="9218" name="Picture 2" descr="http://www.proprofs.com/quiz-school/upload/yuiupload/2046189948.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1880" y="1845734"/>
            <a:ext cx="7414966" cy="4212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8794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Naming Alkanes</a:t>
            </a:r>
            <a:endParaRPr lang="en-AU" dirty="0"/>
          </a:p>
        </p:txBody>
      </p:sp>
      <p:pic>
        <p:nvPicPr>
          <p:cNvPr id="4" name="Picture 3"/>
          <p:cNvPicPr>
            <a:picLocks noChangeAspect="1"/>
          </p:cNvPicPr>
          <p:nvPr/>
        </p:nvPicPr>
        <p:blipFill>
          <a:blip r:embed="rId2"/>
          <a:stretch>
            <a:fillRect/>
          </a:stretch>
        </p:blipFill>
        <p:spPr>
          <a:xfrm>
            <a:off x="2168384" y="1851660"/>
            <a:ext cx="7597916" cy="4260514"/>
          </a:xfrm>
          <a:prstGeom prst="rect">
            <a:avLst/>
          </a:prstGeom>
        </p:spPr>
      </p:pic>
    </p:spTree>
    <p:extLst>
      <p:ext uri="{BB962C8B-B14F-4D97-AF65-F5344CB8AC3E}">
        <p14:creationId xmlns:p14="http://schemas.microsoft.com/office/powerpoint/2010/main" val="27723447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Naming alkenes</a:t>
            </a:r>
          </a:p>
        </p:txBody>
      </p:sp>
      <p:sp>
        <p:nvSpPr>
          <p:cNvPr id="3" name="Content Placeholder 2"/>
          <p:cNvSpPr>
            <a:spLocks noGrp="1"/>
          </p:cNvSpPr>
          <p:nvPr>
            <p:ph idx="1"/>
          </p:nvPr>
        </p:nvSpPr>
        <p:spPr>
          <a:xfrm>
            <a:off x="436880" y="1883834"/>
            <a:ext cx="11513820" cy="4580466"/>
          </a:xfrm>
        </p:spPr>
        <p:txBody>
          <a:bodyPr>
            <a:normAutofit/>
          </a:bodyPr>
          <a:lstStyle/>
          <a:p>
            <a:r>
              <a:rPr lang="en-AU" dirty="0"/>
              <a:t>Similar to alkanes, but has the suffix </a:t>
            </a:r>
            <a:r>
              <a:rPr lang="en-AU" b="1" dirty="0"/>
              <a:t>–</a:t>
            </a:r>
            <a:r>
              <a:rPr lang="en-AU" b="1" dirty="0" err="1"/>
              <a:t>ene</a:t>
            </a:r>
            <a:r>
              <a:rPr lang="en-AU" dirty="0"/>
              <a:t>.</a:t>
            </a:r>
          </a:p>
          <a:p>
            <a:pPr algn="ctr"/>
            <a:r>
              <a:rPr lang="en-US" sz="2800" dirty="0"/>
              <a:t>      H</a:t>
            </a:r>
            <a:r>
              <a:rPr lang="en-US" sz="2800" baseline="-25000" dirty="0"/>
              <a:t>2</a:t>
            </a:r>
            <a:r>
              <a:rPr lang="en-US" sz="2800" dirty="0"/>
              <a:t>C</a:t>
            </a:r>
            <a:r>
              <a:rPr lang="en-US" sz="2800" b="1" dirty="0">
                <a:solidFill>
                  <a:srgbClr val="FF0000"/>
                </a:solidFill>
              </a:rPr>
              <a:t>=</a:t>
            </a:r>
            <a:r>
              <a:rPr lang="en-US" sz="2800" dirty="0"/>
              <a:t>CH</a:t>
            </a:r>
            <a:r>
              <a:rPr lang="en-US" sz="2800" baseline="-25000" dirty="0"/>
              <a:t>2</a:t>
            </a:r>
            <a:r>
              <a:rPr lang="en-US" sz="2800" dirty="0"/>
              <a:t>                H</a:t>
            </a:r>
            <a:r>
              <a:rPr lang="en-US" sz="2800" baseline="-25000" dirty="0"/>
              <a:t>2</a:t>
            </a:r>
            <a:r>
              <a:rPr lang="en-US" sz="2800" dirty="0"/>
              <a:t>C</a:t>
            </a:r>
            <a:r>
              <a:rPr lang="en-US" sz="2800" b="1" dirty="0">
                <a:solidFill>
                  <a:srgbClr val="FF0000"/>
                </a:solidFill>
              </a:rPr>
              <a:t>=</a:t>
            </a:r>
            <a:r>
              <a:rPr lang="en-US" sz="2800" dirty="0"/>
              <a:t>CHCH</a:t>
            </a:r>
            <a:r>
              <a:rPr lang="en-US" sz="2800" baseline="-25000" dirty="0"/>
              <a:t>3</a:t>
            </a:r>
          </a:p>
          <a:p>
            <a:pPr algn="ctr"/>
            <a:r>
              <a:rPr lang="en-US" sz="2400" dirty="0"/>
              <a:t>    </a:t>
            </a:r>
            <a:r>
              <a:rPr lang="en-US" sz="2400" b="1" dirty="0" err="1"/>
              <a:t>eth</a:t>
            </a:r>
            <a:r>
              <a:rPr lang="en-US" sz="2400" b="1" dirty="0" err="1">
                <a:solidFill>
                  <a:srgbClr val="FF0000"/>
                </a:solidFill>
              </a:rPr>
              <a:t>ene</a:t>
            </a:r>
            <a:r>
              <a:rPr lang="en-US" sz="2400" b="1" dirty="0"/>
              <a:t>                   prop</a:t>
            </a:r>
            <a:r>
              <a:rPr lang="en-US" sz="2400" b="1" dirty="0">
                <a:solidFill>
                  <a:srgbClr val="FF0000"/>
                </a:solidFill>
              </a:rPr>
              <a:t>ene</a:t>
            </a:r>
          </a:p>
          <a:p>
            <a:endParaRPr lang="en-US" sz="1600" b="1" dirty="0"/>
          </a:p>
          <a:p>
            <a:pPr algn="ctr"/>
            <a:r>
              <a:rPr lang="en-US" sz="2800" dirty="0"/>
              <a:t>H</a:t>
            </a:r>
            <a:r>
              <a:rPr lang="en-US" sz="2800" baseline="-25000" dirty="0"/>
              <a:t>2</a:t>
            </a:r>
            <a:r>
              <a:rPr lang="en-US" sz="2800" b="1" dirty="0">
                <a:solidFill>
                  <a:srgbClr val="0000FF"/>
                </a:solidFill>
              </a:rPr>
              <a:t>C</a:t>
            </a:r>
            <a:r>
              <a:rPr lang="en-US" sz="2800" dirty="0"/>
              <a:t>=CH</a:t>
            </a:r>
            <a:r>
              <a:rPr lang="en-US" sz="2800" baseline="-25000" dirty="0"/>
              <a:t>2</a:t>
            </a:r>
            <a:r>
              <a:rPr lang="en-US" sz="2800" dirty="0"/>
              <a:t>CH</a:t>
            </a:r>
            <a:r>
              <a:rPr lang="en-US" sz="2800" baseline="-25000" dirty="0"/>
              <a:t>2</a:t>
            </a:r>
            <a:r>
              <a:rPr lang="en-US" sz="2800" dirty="0"/>
              <a:t>CH</a:t>
            </a:r>
            <a:r>
              <a:rPr lang="en-US" sz="2800" baseline="-25000" dirty="0"/>
              <a:t>3</a:t>
            </a:r>
            <a:r>
              <a:rPr lang="en-US" sz="2800" dirty="0"/>
              <a:t>          CH</a:t>
            </a:r>
            <a:r>
              <a:rPr lang="en-US" sz="2800" baseline="-25000" dirty="0"/>
              <a:t>3</a:t>
            </a:r>
            <a:r>
              <a:rPr lang="en-US" sz="2800" b="1" dirty="0">
                <a:solidFill>
                  <a:srgbClr val="0000FF"/>
                </a:solidFill>
              </a:rPr>
              <a:t>C</a:t>
            </a:r>
            <a:r>
              <a:rPr lang="en-US" sz="2800" dirty="0"/>
              <a:t>H=CHCH</a:t>
            </a:r>
            <a:r>
              <a:rPr lang="en-US" sz="2800" baseline="-25000" dirty="0"/>
              <a:t>3</a:t>
            </a:r>
            <a:endParaRPr lang="en-US" sz="2800" dirty="0"/>
          </a:p>
          <a:p>
            <a:pPr algn="ctr"/>
            <a:r>
              <a:rPr lang="en-US" sz="2400" b="1" dirty="0"/>
              <a:t>      but-</a:t>
            </a:r>
            <a:r>
              <a:rPr lang="en-US" sz="2400" b="1" dirty="0">
                <a:solidFill>
                  <a:srgbClr val="0000FF"/>
                </a:solidFill>
              </a:rPr>
              <a:t>1</a:t>
            </a:r>
            <a:r>
              <a:rPr lang="en-US" sz="2400" b="1" dirty="0"/>
              <a:t>-ene                     but-</a:t>
            </a:r>
            <a:r>
              <a:rPr lang="en-US" sz="2400" b="1" dirty="0">
                <a:solidFill>
                  <a:srgbClr val="0000FF"/>
                </a:solidFill>
              </a:rPr>
              <a:t>2</a:t>
            </a:r>
            <a:r>
              <a:rPr lang="en-US" sz="2400" b="1" dirty="0"/>
              <a:t>-ene</a:t>
            </a:r>
          </a:p>
          <a:p>
            <a:pPr algn="ctr"/>
            <a:r>
              <a:rPr lang="en-US" sz="1800" dirty="0"/>
              <a:t>        OR  1-butene                            OR 2-butene </a:t>
            </a:r>
          </a:p>
          <a:p>
            <a:endParaRPr lang="en-US" sz="900" dirty="0"/>
          </a:p>
          <a:p>
            <a:r>
              <a:rPr lang="en-US" b="1" dirty="0">
                <a:solidFill>
                  <a:srgbClr val="0033CC"/>
                </a:solidFill>
              </a:rPr>
              <a:t>Number </a:t>
            </a:r>
            <a:r>
              <a:rPr lang="en-US" dirty="0"/>
              <a:t>represents the carbon in the chain where the double bond </a:t>
            </a:r>
            <a:r>
              <a:rPr lang="en-US" b="1" dirty="0"/>
              <a:t>starts</a:t>
            </a:r>
            <a:r>
              <a:rPr lang="en-US" dirty="0"/>
              <a:t>. </a:t>
            </a:r>
            <a:br>
              <a:rPr lang="en-US" dirty="0"/>
            </a:br>
            <a:r>
              <a:rPr lang="en-US" dirty="0"/>
              <a:t>Carbons are numbered to give the double bond the lowest number.</a:t>
            </a:r>
            <a:endParaRPr lang="en-AU" dirty="0"/>
          </a:p>
        </p:txBody>
      </p:sp>
    </p:spTree>
    <p:extLst>
      <p:ext uri="{BB962C8B-B14F-4D97-AF65-F5344CB8AC3E}">
        <p14:creationId xmlns:p14="http://schemas.microsoft.com/office/powerpoint/2010/main" val="33108229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Naming alkenes</a:t>
            </a:r>
          </a:p>
        </p:txBody>
      </p:sp>
      <p:pic>
        <p:nvPicPr>
          <p:cNvPr id="5" name="Picture 4"/>
          <p:cNvPicPr>
            <a:picLocks noChangeAspect="1"/>
          </p:cNvPicPr>
          <p:nvPr/>
        </p:nvPicPr>
        <p:blipFill>
          <a:blip r:embed="rId2"/>
          <a:stretch>
            <a:fillRect/>
          </a:stretch>
        </p:blipFill>
        <p:spPr>
          <a:xfrm>
            <a:off x="1097280" y="1897062"/>
            <a:ext cx="10154515" cy="3817938"/>
          </a:xfrm>
          <a:prstGeom prst="rect">
            <a:avLst/>
          </a:prstGeom>
        </p:spPr>
      </p:pic>
    </p:spTree>
    <p:extLst>
      <p:ext uri="{BB962C8B-B14F-4D97-AF65-F5344CB8AC3E}">
        <p14:creationId xmlns:p14="http://schemas.microsoft.com/office/powerpoint/2010/main" val="21391729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Geometric isomers</a:t>
            </a:r>
          </a:p>
        </p:txBody>
      </p:sp>
      <p:sp>
        <p:nvSpPr>
          <p:cNvPr id="3" name="Content Placeholder 2"/>
          <p:cNvSpPr>
            <a:spLocks noGrp="1"/>
          </p:cNvSpPr>
          <p:nvPr>
            <p:ph idx="1"/>
          </p:nvPr>
        </p:nvSpPr>
        <p:spPr/>
        <p:txBody>
          <a:bodyPr/>
          <a:lstStyle/>
          <a:p>
            <a:pPr>
              <a:buFont typeface="Arial" panose="020B0604020202020204" pitchFamily="34" charset="0"/>
              <a:buChar char="•"/>
            </a:pPr>
            <a:r>
              <a:rPr lang="en-AU" dirty="0"/>
              <a:t>Occur in </a:t>
            </a:r>
            <a:r>
              <a:rPr lang="en-AU" b="1" dirty="0"/>
              <a:t>alkenes</a:t>
            </a:r>
            <a:r>
              <a:rPr lang="en-AU" dirty="0"/>
              <a:t> that have different groups on either side of the double bond</a:t>
            </a:r>
          </a:p>
          <a:p>
            <a:pPr>
              <a:buFont typeface="Arial" panose="020B0604020202020204" pitchFamily="34" charset="0"/>
              <a:buChar char="•"/>
            </a:pPr>
            <a:r>
              <a:rPr lang="en-AU" dirty="0"/>
              <a:t>Double bonds cannot rotate, so the below molecules are </a:t>
            </a:r>
            <a:r>
              <a:rPr lang="en-AU" u="sng" dirty="0"/>
              <a:t>different isomers</a:t>
            </a:r>
          </a:p>
          <a:p>
            <a:pPr>
              <a:buFont typeface="Arial" panose="020B0604020202020204" pitchFamily="34" charset="0"/>
              <a:buChar char="•"/>
            </a:pPr>
            <a:endParaRPr lang="en-AU" dirty="0"/>
          </a:p>
          <a:p>
            <a:pPr>
              <a:buFont typeface="Arial" panose="020B0604020202020204" pitchFamily="34" charset="0"/>
              <a:buChar char="•"/>
            </a:pPr>
            <a:endParaRPr lang="en-AU" dirty="0"/>
          </a:p>
          <a:p>
            <a:pPr>
              <a:buFont typeface="Arial" panose="020B0604020202020204" pitchFamily="34" charset="0"/>
              <a:buChar char="•"/>
            </a:pPr>
            <a:endParaRPr lang="en-AU" dirty="0"/>
          </a:p>
          <a:p>
            <a:pPr>
              <a:buFont typeface="Arial" panose="020B0604020202020204" pitchFamily="34" charset="0"/>
              <a:buChar char="•"/>
            </a:pPr>
            <a:endParaRPr lang="en-AU" dirty="0"/>
          </a:p>
          <a:p>
            <a:pPr>
              <a:buFont typeface="Arial" panose="020B0604020202020204" pitchFamily="34" charset="0"/>
              <a:buChar char="•"/>
            </a:pPr>
            <a:endParaRPr lang="en-AU" dirty="0"/>
          </a:p>
          <a:p>
            <a:pPr>
              <a:buFont typeface="Arial" panose="020B0604020202020204" pitchFamily="34" charset="0"/>
              <a:buChar char="•"/>
            </a:pPr>
            <a:endParaRPr lang="en-AU" dirty="0"/>
          </a:p>
        </p:txBody>
      </p:sp>
      <p:pic>
        <p:nvPicPr>
          <p:cNvPr id="4" name="Picture 3"/>
          <p:cNvPicPr>
            <a:picLocks noChangeAspect="1"/>
          </p:cNvPicPr>
          <p:nvPr/>
        </p:nvPicPr>
        <p:blipFill rotWithShape="1">
          <a:blip r:embed="rId2"/>
          <a:srcRect r="50705"/>
          <a:stretch/>
        </p:blipFill>
        <p:spPr>
          <a:xfrm>
            <a:off x="2635299" y="2723832"/>
            <a:ext cx="2399950" cy="2268769"/>
          </a:xfrm>
          <a:prstGeom prst="rect">
            <a:avLst/>
          </a:prstGeom>
        </p:spPr>
      </p:pic>
      <p:pic>
        <p:nvPicPr>
          <p:cNvPr id="6" name="Picture 5"/>
          <p:cNvPicPr>
            <a:picLocks noChangeAspect="1"/>
          </p:cNvPicPr>
          <p:nvPr/>
        </p:nvPicPr>
        <p:blipFill rotWithShape="1">
          <a:blip r:embed="rId2"/>
          <a:srcRect l="49294"/>
          <a:stretch/>
        </p:blipFill>
        <p:spPr>
          <a:xfrm>
            <a:off x="7151070" y="2685542"/>
            <a:ext cx="2496803" cy="2294640"/>
          </a:xfrm>
          <a:prstGeom prst="rect">
            <a:avLst/>
          </a:prstGeom>
        </p:spPr>
      </p:pic>
      <p:sp>
        <p:nvSpPr>
          <p:cNvPr id="7" name="TextBox 6"/>
          <p:cNvSpPr txBox="1"/>
          <p:nvPr/>
        </p:nvSpPr>
        <p:spPr>
          <a:xfrm>
            <a:off x="2270827" y="4939613"/>
            <a:ext cx="3210493" cy="461665"/>
          </a:xfrm>
          <a:prstGeom prst="rect">
            <a:avLst/>
          </a:prstGeom>
          <a:noFill/>
        </p:spPr>
        <p:txBody>
          <a:bodyPr wrap="square" rtlCol="0">
            <a:spAutoFit/>
          </a:bodyPr>
          <a:lstStyle/>
          <a:p>
            <a:r>
              <a:rPr lang="en-AU" sz="2400" b="1" dirty="0">
                <a:solidFill>
                  <a:srgbClr val="0070C0"/>
                </a:solidFill>
              </a:rPr>
              <a:t>cis-1,2-dichloroethene</a:t>
            </a:r>
          </a:p>
        </p:txBody>
      </p:sp>
      <p:sp>
        <p:nvSpPr>
          <p:cNvPr id="8" name="TextBox 7"/>
          <p:cNvSpPr txBox="1"/>
          <p:nvPr/>
        </p:nvSpPr>
        <p:spPr>
          <a:xfrm>
            <a:off x="6871970" y="4939613"/>
            <a:ext cx="3641057" cy="461665"/>
          </a:xfrm>
          <a:prstGeom prst="rect">
            <a:avLst/>
          </a:prstGeom>
          <a:noFill/>
        </p:spPr>
        <p:txBody>
          <a:bodyPr wrap="square" rtlCol="0">
            <a:spAutoFit/>
          </a:bodyPr>
          <a:lstStyle/>
          <a:p>
            <a:r>
              <a:rPr lang="en-AU" sz="2400" b="1" dirty="0">
                <a:solidFill>
                  <a:srgbClr val="0070C0"/>
                </a:solidFill>
              </a:rPr>
              <a:t>trans-1,2-dichloroethene</a:t>
            </a:r>
          </a:p>
        </p:txBody>
      </p:sp>
      <p:sp>
        <p:nvSpPr>
          <p:cNvPr id="9" name="TextBox 8"/>
          <p:cNvSpPr txBox="1"/>
          <p:nvPr/>
        </p:nvSpPr>
        <p:spPr>
          <a:xfrm>
            <a:off x="530927" y="5869094"/>
            <a:ext cx="8943273" cy="400110"/>
          </a:xfrm>
          <a:prstGeom prst="rect">
            <a:avLst/>
          </a:prstGeom>
          <a:noFill/>
        </p:spPr>
        <p:txBody>
          <a:bodyPr wrap="square" rtlCol="0">
            <a:spAutoFit/>
          </a:bodyPr>
          <a:lstStyle/>
          <a:p>
            <a:r>
              <a:rPr lang="en-AU" sz="2000" b="1" dirty="0"/>
              <a:t>Let’s learn Latin!	    </a:t>
            </a:r>
            <a:r>
              <a:rPr lang="en-AU" sz="2000" i="1" dirty="0"/>
              <a:t>cis: ‘on this side of’	 		            trans = ‘across’</a:t>
            </a:r>
            <a:endParaRPr lang="en-AU" sz="2000" dirty="0"/>
          </a:p>
        </p:txBody>
      </p:sp>
      <p:sp>
        <p:nvSpPr>
          <p:cNvPr id="10" name="TextBox 9"/>
          <p:cNvSpPr txBox="1"/>
          <p:nvPr/>
        </p:nvSpPr>
        <p:spPr>
          <a:xfrm>
            <a:off x="10970277" y="4668766"/>
            <a:ext cx="1742407" cy="1600438"/>
          </a:xfrm>
          <a:prstGeom prst="rect">
            <a:avLst/>
          </a:prstGeom>
          <a:noFill/>
        </p:spPr>
        <p:txBody>
          <a:bodyPr wrap="square" rtlCol="0">
            <a:spAutoFit/>
          </a:bodyPr>
          <a:lstStyle/>
          <a:p>
            <a:r>
              <a:rPr lang="en-AU" sz="1400" dirty="0"/>
              <a:t>Transport</a:t>
            </a:r>
          </a:p>
          <a:p>
            <a:r>
              <a:rPr lang="en-AU" sz="1400" dirty="0"/>
              <a:t>Transaction</a:t>
            </a:r>
          </a:p>
          <a:p>
            <a:r>
              <a:rPr lang="en-AU" sz="1400" dirty="0"/>
              <a:t>Transcribe</a:t>
            </a:r>
          </a:p>
          <a:p>
            <a:r>
              <a:rPr lang="en-AU" sz="1400" dirty="0"/>
              <a:t>Translate</a:t>
            </a:r>
          </a:p>
          <a:p>
            <a:r>
              <a:rPr lang="en-AU" sz="1400" dirty="0"/>
              <a:t>Transplant</a:t>
            </a:r>
          </a:p>
          <a:p>
            <a:r>
              <a:rPr lang="en-AU" sz="1400" dirty="0"/>
              <a:t>Transmit</a:t>
            </a:r>
          </a:p>
          <a:p>
            <a:r>
              <a:rPr lang="en-AU" sz="1400" dirty="0"/>
              <a:t>Transfer</a:t>
            </a:r>
          </a:p>
        </p:txBody>
      </p:sp>
      <p:cxnSp>
        <p:nvCxnSpPr>
          <p:cNvPr id="12" name="Straight Arrow Connector 11"/>
          <p:cNvCxnSpPr>
            <a:stCxn id="9" idx="3"/>
          </p:cNvCxnSpPr>
          <p:nvPr/>
        </p:nvCxnSpPr>
        <p:spPr>
          <a:xfrm flipV="1">
            <a:off x="9474200" y="4831239"/>
            <a:ext cx="1485900" cy="1237910"/>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3" name="Straight Arrow Connector 12"/>
          <p:cNvCxnSpPr>
            <a:stCxn id="9" idx="3"/>
          </p:cNvCxnSpPr>
          <p:nvPr/>
        </p:nvCxnSpPr>
        <p:spPr>
          <a:xfrm flipV="1">
            <a:off x="9474200" y="5092431"/>
            <a:ext cx="1485900" cy="976718"/>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6" name="Straight Arrow Connector 15"/>
          <p:cNvCxnSpPr>
            <a:stCxn id="9" idx="3"/>
          </p:cNvCxnSpPr>
          <p:nvPr/>
        </p:nvCxnSpPr>
        <p:spPr>
          <a:xfrm flipV="1">
            <a:off x="9474200" y="5299055"/>
            <a:ext cx="1485900" cy="77009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3" name="Straight Arrow Connector 22"/>
          <p:cNvCxnSpPr>
            <a:stCxn id="9" idx="3"/>
            <a:endCxn id="10" idx="1"/>
          </p:cNvCxnSpPr>
          <p:nvPr/>
        </p:nvCxnSpPr>
        <p:spPr>
          <a:xfrm flipV="1">
            <a:off x="9474200" y="5468985"/>
            <a:ext cx="1496077" cy="600164"/>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6" name="Straight Arrow Connector 25"/>
          <p:cNvCxnSpPr>
            <a:stCxn id="9" idx="3"/>
          </p:cNvCxnSpPr>
          <p:nvPr/>
        </p:nvCxnSpPr>
        <p:spPr>
          <a:xfrm flipV="1">
            <a:off x="9474200" y="5713506"/>
            <a:ext cx="1485900" cy="35564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29" name="Straight Arrow Connector 28"/>
          <p:cNvCxnSpPr>
            <a:stCxn id="9" idx="3"/>
          </p:cNvCxnSpPr>
          <p:nvPr/>
        </p:nvCxnSpPr>
        <p:spPr>
          <a:xfrm flipV="1">
            <a:off x="9474200" y="5916706"/>
            <a:ext cx="1485900" cy="15244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32" name="Straight Arrow Connector 31"/>
          <p:cNvCxnSpPr>
            <a:stCxn id="9" idx="3"/>
          </p:cNvCxnSpPr>
          <p:nvPr/>
        </p:nvCxnSpPr>
        <p:spPr>
          <a:xfrm>
            <a:off x="9474200" y="6069149"/>
            <a:ext cx="1485900" cy="56733"/>
          </a:xfrm>
          <a:prstGeom prst="straightConnector1">
            <a:avLst/>
          </a:prstGeom>
          <a:ln>
            <a:tailEnd type="triangle"/>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41388215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Geometric isomers</a:t>
            </a:r>
          </a:p>
        </p:txBody>
      </p:sp>
      <p:sp>
        <p:nvSpPr>
          <p:cNvPr id="3" name="Content Placeholder 2"/>
          <p:cNvSpPr>
            <a:spLocks noGrp="1"/>
          </p:cNvSpPr>
          <p:nvPr>
            <p:ph idx="1"/>
          </p:nvPr>
        </p:nvSpPr>
        <p:spPr>
          <a:xfrm>
            <a:off x="2124959" y="1855110"/>
            <a:ext cx="5770246" cy="1555740"/>
          </a:xfrm>
        </p:spPr>
        <p:txBody>
          <a:bodyPr>
            <a:normAutofit/>
          </a:bodyPr>
          <a:lstStyle/>
          <a:p>
            <a:pPr>
              <a:buFont typeface="Arial" panose="020B0604020202020204" pitchFamily="34" charset="0"/>
              <a:buChar char="•"/>
            </a:pPr>
            <a:r>
              <a:rPr lang="en-AU" dirty="0"/>
              <a:t>To show cis/trans isomers, draw your molecules like a bowtie with the double bond drawn horizontally</a:t>
            </a:r>
          </a:p>
        </p:txBody>
      </p:sp>
      <p:pic>
        <p:nvPicPr>
          <p:cNvPr id="12290" name="Picture 2" descr="http://thumbs.dreamstime.com/z/bowtie-outline-4689957.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13826"/>
          <a:stretch/>
        </p:blipFill>
        <p:spPr bwMode="auto">
          <a:xfrm>
            <a:off x="8090944" y="1755486"/>
            <a:ext cx="1952897" cy="1139190"/>
          </a:xfrm>
          <a:prstGeom prst="rect">
            <a:avLst/>
          </a:prstGeom>
          <a:noFill/>
          <a:extLst>
            <a:ext uri="{909E8E84-426E-40DD-AFC4-6F175D3DCCD1}">
              <a14:hiddenFill xmlns:a14="http://schemas.microsoft.com/office/drawing/2010/main">
                <a:solidFill>
                  <a:srgbClr val="FFFFFF"/>
                </a:solidFill>
              </a14:hiddenFill>
            </a:ext>
          </a:extLst>
        </p:spPr>
      </p:pic>
      <p:grpSp>
        <p:nvGrpSpPr>
          <p:cNvPr id="19" name="Group 18"/>
          <p:cNvGrpSpPr/>
          <p:nvPr/>
        </p:nvGrpSpPr>
        <p:grpSpPr>
          <a:xfrm>
            <a:off x="403657" y="3410850"/>
            <a:ext cx="3580924" cy="2003493"/>
            <a:chOff x="1684700" y="4167201"/>
            <a:chExt cx="3580924" cy="2003493"/>
          </a:xfrm>
        </p:grpSpPr>
        <p:sp>
          <p:nvSpPr>
            <p:cNvPr id="28" name="TextBox 27"/>
            <p:cNvSpPr txBox="1"/>
            <p:nvPr/>
          </p:nvSpPr>
          <p:spPr>
            <a:xfrm>
              <a:off x="2689588" y="4781550"/>
              <a:ext cx="1322070" cy="707886"/>
            </a:xfrm>
            <a:prstGeom prst="rect">
              <a:avLst/>
            </a:prstGeom>
            <a:noFill/>
          </p:spPr>
          <p:txBody>
            <a:bodyPr wrap="square" rtlCol="0">
              <a:spAutoFit/>
            </a:bodyPr>
            <a:lstStyle/>
            <a:p>
              <a:r>
                <a:rPr lang="en-AU" sz="4000" dirty="0"/>
                <a:t>C=C</a:t>
              </a:r>
            </a:p>
          </p:txBody>
        </p:sp>
        <p:cxnSp>
          <p:nvCxnSpPr>
            <p:cNvPr id="30" name="Straight Connector 29"/>
            <p:cNvCxnSpPr/>
            <p:nvPr/>
          </p:nvCxnSpPr>
          <p:spPr>
            <a:xfrm>
              <a:off x="3640727" y="5337155"/>
              <a:ext cx="342900" cy="313209"/>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Straight Connector 30"/>
            <p:cNvCxnSpPr/>
            <p:nvPr/>
          </p:nvCxnSpPr>
          <p:spPr>
            <a:xfrm flipH="1">
              <a:off x="2424520" y="5344470"/>
              <a:ext cx="342900" cy="313209"/>
            </a:xfrm>
            <a:prstGeom prst="line">
              <a:avLst/>
            </a:prstGeom>
            <a:ln w="28575"/>
          </p:spPr>
          <p:style>
            <a:lnRef idx="1">
              <a:schemeClr val="dk1"/>
            </a:lnRef>
            <a:fillRef idx="0">
              <a:schemeClr val="dk1"/>
            </a:fillRef>
            <a:effectRef idx="0">
              <a:schemeClr val="dk1"/>
            </a:effectRef>
            <a:fontRef idx="minor">
              <a:schemeClr val="tx1"/>
            </a:fontRef>
          </p:style>
        </p:cxnSp>
        <p:cxnSp>
          <p:nvCxnSpPr>
            <p:cNvPr id="33" name="Straight Connector 32"/>
            <p:cNvCxnSpPr/>
            <p:nvPr/>
          </p:nvCxnSpPr>
          <p:spPr>
            <a:xfrm>
              <a:off x="2447382" y="4633546"/>
              <a:ext cx="342900" cy="313209"/>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Straight Connector 33"/>
            <p:cNvCxnSpPr/>
            <p:nvPr/>
          </p:nvCxnSpPr>
          <p:spPr>
            <a:xfrm flipH="1">
              <a:off x="3625352" y="4624945"/>
              <a:ext cx="342900" cy="313209"/>
            </a:xfrm>
            <a:prstGeom prst="line">
              <a:avLst/>
            </a:prstGeom>
            <a:ln w="28575"/>
          </p:spPr>
          <p:style>
            <a:lnRef idx="1">
              <a:schemeClr val="dk1"/>
            </a:lnRef>
            <a:fillRef idx="0">
              <a:schemeClr val="dk1"/>
            </a:fillRef>
            <a:effectRef idx="0">
              <a:schemeClr val="dk1"/>
            </a:effectRef>
            <a:fontRef idx="minor">
              <a:schemeClr val="tx1"/>
            </a:fontRef>
          </p:style>
        </p:cxnSp>
        <p:sp>
          <p:nvSpPr>
            <p:cNvPr id="37" name="TextBox 36"/>
            <p:cNvSpPr txBox="1"/>
            <p:nvPr/>
          </p:nvSpPr>
          <p:spPr>
            <a:xfrm>
              <a:off x="3875450" y="4167201"/>
              <a:ext cx="1322070" cy="707886"/>
            </a:xfrm>
            <a:prstGeom prst="rect">
              <a:avLst/>
            </a:prstGeom>
            <a:noFill/>
          </p:spPr>
          <p:txBody>
            <a:bodyPr wrap="square" rtlCol="0">
              <a:spAutoFit/>
            </a:bodyPr>
            <a:lstStyle/>
            <a:p>
              <a:r>
                <a:rPr lang="en-AU" sz="4000" dirty="0"/>
                <a:t>CH</a:t>
              </a:r>
              <a:r>
                <a:rPr lang="en-AU" sz="4000" baseline="-25000" dirty="0"/>
                <a:t>3</a:t>
              </a:r>
              <a:endParaRPr lang="en-AU" sz="4000" dirty="0"/>
            </a:p>
          </p:txBody>
        </p:sp>
        <p:sp>
          <p:nvSpPr>
            <p:cNvPr id="38" name="TextBox 37"/>
            <p:cNvSpPr txBox="1"/>
            <p:nvPr/>
          </p:nvSpPr>
          <p:spPr>
            <a:xfrm>
              <a:off x="1684700" y="5436093"/>
              <a:ext cx="1322070" cy="707886"/>
            </a:xfrm>
            <a:prstGeom prst="rect">
              <a:avLst/>
            </a:prstGeom>
            <a:noFill/>
          </p:spPr>
          <p:txBody>
            <a:bodyPr wrap="square" rtlCol="0">
              <a:spAutoFit/>
            </a:bodyPr>
            <a:lstStyle/>
            <a:p>
              <a:r>
                <a:rPr lang="en-AU" sz="4000" dirty="0"/>
                <a:t>CH</a:t>
              </a:r>
              <a:r>
                <a:rPr lang="en-AU" sz="4000" baseline="-25000" dirty="0"/>
                <a:t>3</a:t>
              </a:r>
              <a:endParaRPr lang="en-AU" sz="4000" dirty="0"/>
            </a:p>
          </p:txBody>
        </p:sp>
        <p:sp>
          <p:nvSpPr>
            <p:cNvPr id="39" name="TextBox 38"/>
            <p:cNvSpPr txBox="1"/>
            <p:nvPr/>
          </p:nvSpPr>
          <p:spPr>
            <a:xfrm>
              <a:off x="2006850" y="4177835"/>
              <a:ext cx="1322070" cy="707886"/>
            </a:xfrm>
            <a:prstGeom prst="rect">
              <a:avLst/>
            </a:prstGeom>
            <a:noFill/>
          </p:spPr>
          <p:txBody>
            <a:bodyPr wrap="square" rtlCol="0">
              <a:spAutoFit/>
            </a:bodyPr>
            <a:lstStyle/>
            <a:p>
              <a:r>
                <a:rPr lang="en-AU" sz="4000" dirty="0"/>
                <a:t>H</a:t>
              </a:r>
            </a:p>
          </p:txBody>
        </p:sp>
        <p:sp>
          <p:nvSpPr>
            <p:cNvPr id="40" name="TextBox 39"/>
            <p:cNvSpPr txBox="1"/>
            <p:nvPr/>
          </p:nvSpPr>
          <p:spPr>
            <a:xfrm>
              <a:off x="3943554" y="5462808"/>
              <a:ext cx="1322070" cy="707886"/>
            </a:xfrm>
            <a:prstGeom prst="rect">
              <a:avLst/>
            </a:prstGeom>
            <a:noFill/>
          </p:spPr>
          <p:txBody>
            <a:bodyPr wrap="square" rtlCol="0">
              <a:spAutoFit/>
            </a:bodyPr>
            <a:lstStyle/>
            <a:p>
              <a:r>
                <a:rPr lang="en-AU" sz="4000" dirty="0"/>
                <a:t>H</a:t>
              </a:r>
            </a:p>
          </p:txBody>
        </p:sp>
      </p:grpSp>
      <p:grpSp>
        <p:nvGrpSpPr>
          <p:cNvPr id="41" name="Group 40"/>
          <p:cNvGrpSpPr/>
          <p:nvPr/>
        </p:nvGrpSpPr>
        <p:grpSpPr>
          <a:xfrm>
            <a:off x="4385925" y="3421484"/>
            <a:ext cx="3580924" cy="2003493"/>
            <a:chOff x="1684700" y="4167201"/>
            <a:chExt cx="3580924" cy="2003493"/>
          </a:xfrm>
        </p:grpSpPr>
        <p:sp>
          <p:nvSpPr>
            <p:cNvPr id="42" name="TextBox 41"/>
            <p:cNvSpPr txBox="1"/>
            <p:nvPr/>
          </p:nvSpPr>
          <p:spPr>
            <a:xfrm>
              <a:off x="2689588" y="4781550"/>
              <a:ext cx="1322070" cy="707886"/>
            </a:xfrm>
            <a:prstGeom prst="rect">
              <a:avLst/>
            </a:prstGeom>
            <a:noFill/>
          </p:spPr>
          <p:txBody>
            <a:bodyPr wrap="square" rtlCol="0">
              <a:spAutoFit/>
            </a:bodyPr>
            <a:lstStyle/>
            <a:p>
              <a:r>
                <a:rPr lang="en-AU" sz="4000" dirty="0"/>
                <a:t>C=C</a:t>
              </a:r>
            </a:p>
          </p:txBody>
        </p:sp>
        <p:cxnSp>
          <p:nvCxnSpPr>
            <p:cNvPr id="43" name="Straight Connector 42"/>
            <p:cNvCxnSpPr/>
            <p:nvPr/>
          </p:nvCxnSpPr>
          <p:spPr>
            <a:xfrm>
              <a:off x="3640727" y="5337155"/>
              <a:ext cx="342900" cy="313209"/>
            </a:xfrm>
            <a:prstGeom prst="line">
              <a:avLst/>
            </a:prstGeom>
            <a:ln w="28575"/>
          </p:spPr>
          <p:style>
            <a:lnRef idx="1">
              <a:schemeClr val="dk1"/>
            </a:lnRef>
            <a:fillRef idx="0">
              <a:schemeClr val="dk1"/>
            </a:fillRef>
            <a:effectRef idx="0">
              <a:schemeClr val="dk1"/>
            </a:effectRef>
            <a:fontRef idx="minor">
              <a:schemeClr val="tx1"/>
            </a:fontRef>
          </p:style>
        </p:cxnSp>
        <p:cxnSp>
          <p:nvCxnSpPr>
            <p:cNvPr id="44" name="Straight Connector 43"/>
            <p:cNvCxnSpPr/>
            <p:nvPr/>
          </p:nvCxnSpPr>
          <p:spPr>
            <a:xfrm flipH="1">
              <a:off x="2424520" y="5344470"/>
              <a:ext cx="342900" cy="313209"/>
            </a:xfrm>
            <a:prstGeom prst="line">
              <a:avLst/>
            </a:prstGeom>
            <a:ln w="28575"/>
          </p:spPr>
          <p:style>
            <a:lnRef idx="1">
              <a:schemeClr val="dk1"/>
            </a:lnRef>
            <a:fillRef idx="0">
              <a:schemeClr val="dk1"/>
            </a:fillRef>
            <a:effectRef idx="0">
              <a:schemeClr val="dk1"/>
            </a:effectRef>
            <a:fontRef idx="minor">
              <a:schemeClr val="tx1"/>
            </a:fontRef>
          </p:style>
        </p:cxnSp>
        <p:cxnSp>
          <p:nvCxnSpPr>
            <p:cNvPr id="45" name="Straight Connector 44"/>
            <p:cNvCxnSpPr/>
            <p:nvPr/>
          </p:nvCxnSpPr>
          <p:spPr>
            <a:xfrm>
              <a:off x="2447382" y="4633546"/>
              <a:ext cx="342900" cy="313209"/>
            </a:xfrm>
            <a:prstGeom prst="line">
              <a:avLst/>
            </a:prstGeom>
            <a:ln w="28575"/>
          </p:spPr>
          <p:style>
            <a:lnRef idx="1">
              <a:schemeClr val="dk1"/>
            </a:lnRef>
            <a:fillRef idx="0">
              <a:schemeClr val="dk1"/>
            </a:fillRef>
            <a:effectRef idx="0">
              <a:schemeClr val="dk1"/>
            </a:effectRef>
            <a:fontRef idx="minor">
              <a:schemeClr val="tx1"/>
            </a:fontRef>
          </p:style>
        </p:cxnSp>
        <p:cxnSp>
          <p:nvCxnSpPr>
            <p:cNvPr id="46" name="Straight Connector 45"/>
            <p:cNvCxnSpPr/>
            <p:nvPr/>
          </p:nvCxnSpPr>
          <p:spPr>
            <a:xfrm flipH="1">
              <a:off x="3625352" y="4624945"/>
              <a:ext cx="342900" cy="313209"/>
            </a:xfrm>
            <a:prstGeom prst="line">
              <a:avLst/>
            </a:prstGeom>
            <a:ln w="28575"/>
          </p:spPr>
          <p:style>
            <a:lnRef idx="1">
              <a:schemeClr val="dk1"/>
            </a:lnRef>
            <a:fillRef idx="0">
              <a:schemeClr val="dk1"/>
            </a:fillRef>
            <a:effectRef idx="0">
              <a:schemeClr val="dk1"/>
            </a:effectRef>
            <a:fontRef idx="minor">
              <a:schemeClr val="tx1"/>
            </a:fontRef>
          </p:style>
        </p:cxnSp>
        <p:sp>
          <p:nvSpPr>
            <p:cNvPr id="47" name="TextBox 46"/>
            <p:cNvSpPr txBox="1"/>
            <p:nvPr/>
          </p:nvSpPr>
          <p:spPr>
            <a:xfrm>
              <a:off x="3875450" y="4167201"/>
              <a:ext cx="1322070" cy="707886"/>
            </a:xfrm>
            <a:prstGeom prst="rect">
              <a:avLst/>
            </a:prstGeom>
            <a:noFill/>
          </p:spPr>
          <p:txBody>
            <a:bodyPr wrap="square" rtlCol="0">
              <a:spAutoFit/>
            </a:bodyPr>
            <a:lstStyle/>
            <a:p>
              <a:r>
                <a:rPr lang="en-AU" sz="4000" dirty="0"/>
                <a:t>H</a:t>
              </a:r>
            </a:p>
          </p:txBody>
        </p:sp>
        <p:sp>
          <p:nvSpPr>
            <p:cNvPr id="48" name="TextBox 47"/>
            <p:cNvSpPr txBox="1"/>
            <p:nvPr/>
          </p:nvSpPr>
          <p:spPr>
            <a:xfrm>
              <a:off x="1684700" y="5436093"/>
              <a:ext cx="1322070" cy="707886"/>
            </a:xfrm>
            <a:prstGeom prst="rect">
              <a:avLst/>
            </a:prstGeom>
            <a:noFill/>
          </p:spPr>
          <p:txBody>
            <a:bodyPr wrap="square" rtlCol="0">
              <a:spAutoFit/>
            </a:bodyPr>
            <a:lstStyle/>
            <a:p>
              <a:r>
                <a:rPr lang="en-AU" sz="4000" dirty="0"/>
                <a:t>CH</a:t>
              </a:r>
              <a:r>
                <a:rPr lang="en-AU" sz="4000" baseline="-25000" dirty="0"/>
                <a:t>3</a:t>
              </a:r>
              <a:endParaRPr lang="en-AU" sz="4000" dirty="0"/>
            </a:p>
          </p:txBody>
        </p:sp>
        <p:sp>
          <p:nvSpPr>
            <p:cNvPr id="49" name="TextBox 48"/>
            <p:cNvSpPr txBox="1"/>
            <p:nvPr/>
          </p:nvSpPr>
          <p:spPr>
            <a:xfrm>
              <a:off x="2006850" y="4177835"/>
              <a:ext cx="1322070" cy="707886"/>
            </a:xfrm>
            <a:prstGeom prst="rect">
              <a:avLst/>
            </a:prstGeom>
            <a:noFill/>
          </p:spPr>
          <p:txBody>
            <a:bodyPr wrap="square" rtlCol="0">
              <a:spAutoFit/>
            </a:bodyPr>
            <a:lstStyle/>
            <a:p>
              <a:r>
                <a:rPr lang="en-AU" sz="4000" dirty="0"/>
                <a:t>H</a:t>
              </a:r>
            </a:p>
          </p:txBody>
        </p:sp>
        <p:sp>
          <p:nvSpPr>
            <p:cNvPr id="50" name="TextBox 49"/>
            <p:cNvSpPr txBox="1"/>
            <p:nvPr/>
          </p:nvSpPr>
          <p:spPr>
            <a:xfrm>
              <a:off x="3943554" y="5462808"/>
              <a:ext cx="1322070" cy="707886"/>
            </a:xfrm>
            <a:prstGeom prst="rect">
              <a:avLst/>
            </a:prstGeom>
            <a:noFill/>
          </p:spPr>
          <p:txBody>
            <a:bodyPr wrap="square" rtlCol="0">
              <a:spAutoFit/>
            </a:bodyPr>
            <a:lstStyle/>
            <a:p>
              <a:r>
                <a:rPr lang="en-AU" sz="4000" dirty="0"/>
                <a:t>CH</a:t>
              </a:r>
              <a:r>
                <a:rPr lang="en-AU" sz="4000" baseline="-25000" dirty="0"/>
                <a:t>3</a:t>
              </a:r>
              <a:endParaRPr lang="en-AU" sz="4000" dirty="0"/>
            </a:p>
          </p:txBody>
        </p:sp>
      </p:grpSp>
      <p:grpSp>
        <p:nvGrpSpPr>
          <p:cNvPr id="64" name="Group 63"/>
          <p:cNvGrpSpPr/>
          <p:nvPr/>
        </p:nvGrpSpPr>
        <p:grpSpPr>
          <a:xfrm>
            <a:off x="8569512" y="3969677"/>
            <a:ext cx="3837419" cy="1691131"/>
            <a:chOff x="8207562" y="4027146"/>
            <a:chExt cx="3837419" cy="1691131"/>
          </a:xfrm>
        </p:grpSpPr>
        <p:sp>
          <p:nvSpPr>
            <p:cNvPr id="52" name="TextBox 51"/>
            <p:cNvSpPr txBox="1"/>
            <p:nvPr/>
          </p:nvSpPr>
          <p:spPr>
            <a:xfrm>
              <a:off x="9430163" y="4060342"/>
              <a:ext cx="1322070" cy="707886"/>
            </a:xfrm>
            <a:prstGeom prst="rect">
              <a:avLst/>
            </a:prstGeom>
            <a:noFill/>
          </p:spPr>
          <p:txBody>
            <a:bodyPr wrap="square" rtlCol="0">
              <a:spAutoFit/>
            </a:bodyPr>
            <a:lstStyle/>
            <a:p>
              <a:r>
                <a:rPr lang="en-AU" sz="4000" dirty="0"/>
                <a:t>C=C</a:t>
              </a:r>
            </a:p>
          </p:txBody>
        </p:sp>
        <p:sp>
          <p:nvSpPr>
            <p:cNvPr id="57" name="TextBox 56"/>
            <p:cNvSpPr txBox="1"/>
            <p:nvPr/>
          </p:nvSpPr>
          <p:spPr>
            <a:xfrm>
              <a:off x="10722911" y="4055302"/>
              <a:ext cx="1322070" cy="707886"/>
            </a:xfrm>
            <a:prstGeom prst="rect">
              <a:avLst/>
            </a:prstGeom>
            <a:noFill/>
          </p:spPr>
          <p:txBody>
            <a:bodyPr wrap="square" rtlCol="0">
              <a:spAutoFit/>
            </a:bodyPr>
            <a:lstStyle/>
            <a:p>
              <a:r>
                <a:rPr lang="en-AU" sz="4000" dirty="0"/>
                <a:t>H</a:t>
              </a:r>
            </a:p>
          </p:txBody>
        </p:sp>
        <p:sp>
          <p:nvSpPr>
            <p:cNvPr id="58" name="TextBox 57"/>
            <p:cNvSpPr txBox="1"/>
            <p:nvPr/>
          </p:nvSpPr>
          <p:spPr>
            <a:xfrm>
              <a:off x="8207562" y="4027146"/>
              <a:ext cx="1322070" cy="707886"/>
            </a:xfrm>
            <a:prstGeom prst="rect">
              <a:avLst/>
            </a:prstGeom>
            <a:noFill/>
          </p:spPr>
          <p:txBody>
            <a:bodyPr wrap="square" rtlCol="0">
              <a:spAutoFit/>
            </a:bodyPr>
            <a:lstStyle/>
            <a:p>
              <a:r>
                <a:rPr lang="en-AU" sz="4000" dirty="0"/>
                <a:t>CH</a:t>
              </a:r>
              <a:r>
                <a:rPr lang="en-AU" sz="4000" baseline="-25000" dirty="0"/>
                <a:t>3</a:t>
              </a:r>
              <a:endParaRPr lang="en-AU" sz="4000" dirty="0"/>
            </a:p>
          </p:txBody>
        </p:sp>
        <p:sp>
          <p:nvSpPr>
            <p:cNvPr id="59" name="TextBox 58"/>
            <p:cNvSpPr txBox="1"/>
            <p:nvPr/>
          </p:nvSpPr>
          <p:spPr>
            <a:xfrm>
              <a:off x="9386757" y="4975499"/>
              <a:ext cx="582250" cy="707886"/>
            </a:xfrm>
            <a:prstGeom prst="rect">
              <a:avLst/>
            </a:prstGeom>
            <a:noFill/>
          </p:spPr>
          <p:txBody>
            <a:bodyPr wrap="square" rtlCol="0">
              <a:spAutoFit/>
            </a:bodyPr>
            <a:lstStyle/>
            <a:p>
              <a:r>
                <a:rPr lang="en-AU" sz="4000" dirty="0"/>
                <a:t>H</a:t>
              </a:r>
            </a:p>
          </p:txBody>
        </p:sp>
        <p:sp>
          <p:nvSpPr>
            <p:cNvPr id="60" name="TextBox 59"/>
            <p:cNvSpPr txBox="1"/>
            <p:nvPr/>
          </p:nvSpPr>
          <p:spPr>
            <a:xfrm>
              <a:off x="9969007" y="5010391"/>
              <a:ext cx="1322070" cy="707886"/>
            </a:xfrm>
            <a:prstGeom prst="rect">
              <a:avLst/>
            </a:prstGeom>
            <a:noFill/>
          </p:spPr>
          <p:txBody>
            <a:bodyPr wrap="square" rtlCol="0">
              <a:spAutoFit/>
            </a:bodyPr>
            <a:lstStyle/>
            <a:p>
              <a:r>
                <a:rPr lang="en-AU" sz="4000" dirty="0"/>
                <a:t>CH</a:t>
              </a:r>
              <a:r>
                <a:rPr lang="en-AU" sz="4000" baseline="-25000" dirty="0"/>
                <a:t>3</a:t>
              </a:r>
              <a:endParaRPr lang="en-AU" sz="4000" dirty="0"/>
            </a:p>
          </p:txBody>
        </p:sp>
        <p:cxnSp>
          <p:nvCxnSpPr>
            <p:cNvPr id="61" name="Straight Connector 60"/>
            <p:cNvCxnSpPr>
              <a:stCxn id="52" idx="3"/>
            </p:cNvCxnSpPr>
            <p:nvPr/>
          </p:nvCxnSpPr>
          <p:spPr>
            <a:xfrm flipH="1" flipV="1">
              <a:off x="10395884" y="4406775"/>
              <a:ext cx="356349" cy="7510"/>
            </a:xfrm>
            <a:prstGeom prst="line">
              <a:avLst/>
            </a:prstGeom>
            <a:ln w="28575"/>
          </p:spPr>
          <p:style>
            <a:lnRef idx="1">
              <a:schemeClr val="dk1"/>
            </a:lnRef>
            <a:fillRef idx="0">
              <a:schemeClr val="dk1"/>
            </a:fillRef>
            <a:effectRef idx="0">
              <a:schemeClr val="dk1"/>
            </a:effectRef>
            <a:fontRef idx="minor">
              <a:schemeClr val="tx1"/>
            </a:fontRef>
          </p:style>
        </p:cxnSp>
        <p:cxnSp>
          <p:nvCxnSpPr>
            <p:cNvPr id="62" name="Straight Connector 61"/>
            <p:cNvCxnSpPr/>
            <p:nvPr/>
          </p:nvCxnSpPr>
          <p:spPr>
            <a:xfrm>
              <a:off x="10205365" y="4663636"/>
              <a:ext cx="0" cy="460754"/>
            </a:xfrm>
            <a:prstGeom prst="line">
              <a:avLst/>
            </a:prstGeom>
            <a:ln w="28575"/>
          </p:spPr>
          <p:style>
            <a:lnRef idx="1">
              <a:schemeClr val="dk1"/>
            </a:lnRef>
            <a:fillRef idx="0">
              <a:schemeClr val="dk1"/>
            </a:fillRef>
            <a:effectRef idx="0">
              <a:schemeClr val="dk1"/>
            </a:effectRef>
            <a:fontRef idx="minor">
              <a:schemeClr val="tx1"/>
            </a:fontRef>
          </p:style>
        </p:cxnSp>
        <p:cxnSp>
          <p:nvCxnSpPr>
            <p:cNvPr id="63" name="Straight Connector 62"/>
            <p:cNvCxnSpPr/>
            <p:nvPr/>
          </p:nvCxnSpPr>
          <p:spPr>
            <a:xfrm>
              <a:off x="9669920" y="4623699"/>
              <a:ext cx="0" cy="460754"/>
            </a:xfrm>
            <a:prstGeom prst="line">
              <a:avLst/>
            </a:prstGeom>
            <a:ln w="28575"/>
          </p:spPr>
          <p:style>
            <a:lnRef idx="1">
              <a:schemeClr val="dk1"/>
            </a:lnRef>
            <a:fillRef idx="0">
              <a:schemeClr val="dk1"/>
            </a:fillRef>
            <a:effectRef idx="0">
              <a:schemeClr val="dk1"/>
            </a:effectRef>
            <a:fontRef idx="minor">
              <a:schemeClr val="tx1"/>
            </a:fontRef>
          </p:style>
        </p:cxnSp>
        <p:cxnSp>
          <p:nvCxnSpPr>
            <p:cNvPr id="66" name="Straight Connector 65"/>
            <p:cNvCxnSpPr/>
            <p:nvPr/>
          </p:nvCxnSpPr>
          <p:spPr>
            <a:xfrm flipH="1" flipV="1">
              <a:off x="9087017" y="4406775"/>
              <a:ext cx="356349" cy="7510"/>
            </a:xfrm>
            <a:prstGeom prst="line">
              <a:avLst/>
            </a:prstGeom>
            <a:ln w="28575"/>
          </p:spPr>
          <p:style>
            <a:lnRef idx="1">
              <a:schemeClr val="dk1"/>
            </a:lnRef>
            <a:fillRef idx="0">
              <a:schemeClr val="dk1"/>
            </a:fillRef>
            <a:effectRef idx="0">
              <a:schemeClr val="dk1"/>
            </a:effectRef>
            <a:fontRef idx="minor">
              <a:schemeClr val="tx1"/>
            </a:fontRef>
          </p:style>
        </p:cxnSp>
      </p:grpSp>
      <p:sp>
        <p:nvSpPr>
          <p:cNvPr id="69" name="TextBox 68"/>
          <p:cNvSpPr txBox="1"/>
          <p:nvPr/>
        </p:nvSpPr>
        <p:spPr>
          <a:xfrm>
            <a:off x="964206" y="5540399"/>
            <a:ext cx="2291236" cy="461665"/>
          </a:xfrm>
          <a:prstGeom prst="rect">
            <a:avLst/>
          </a:prstGeom>
          <a:noFill/>
        </p:spPr>
        <p:txBody>
          <a:bodyPr wrap="square" rtlCol="0">
            <a:spAutoFit/>
          </a:bodyPr>
          <a:lstStyle/>
          <a:p>
            <a:r>
              <a:rPr lang="en-AU" sz="2400" b="1" i="1" dirty="0">
                <a:solidFill>
                  <a:srgbClr val="0070C0"/>
                </a:solidFill>
              </a:rPr>
              <a:t>trans</a:t>
            </a:r>
            <a:r>
              <a:rPr lang="en-AU" sz="2400" b="1" dirty="0">
                <a:solidFill>
                  <a:srgbClr val="0070C0"/>
                </a:solidFill>
              </a:rPr>
              <a:t>-but-2-ene</a:t>
            </a:r>
          </a:p>
        </p:txBody>
      </p:sp>
      <p:sp>
        <p:nvSpPr>
          <p:cNvPr id="70" name="TextBox 69"/>
          <p:cNvSpPr txBox="1"/>
          <p:nvPr/>
        </p:nvSpPr>
        <p:spPr>
          <a:xfrm>
            <a:off x="5014578" y="5561580"/>
            <a:ext cx="2291236" cy="461665"/>
          </a:xfrm>
          <a:prstGeom prst="rect">
            <a:avLst/>
          </a:prstGeom>
          <a:noFill/>
        </p:spPr>
        <p:txBody>
          <a:bodyPr wrap="square" rtlCol="0">
            <a:spAutoFit/>
          </a:bodyPr>
          <a:lstStyle/>
          <a:p>
            <a:r>
              <a:rPr lang="en-AU" sz="2400" b="1" i="1" dirty="0">
                <a:solidFill>
                  <a:srgbClr val="0070C0"/>
                </a:solidFill>
              </a:rPr>
              <a:t>cis</a:t>
            </a:r>
            <a:r>
              <a:rPr lang="en-AU" sz="2400" b="1" dirty="0">
                <a:solidFill>
                  <a:srgbClr val="0070C0"/>
                </a:solidFill>
              </a:rPr>
              <a:t>-but-2-ene</a:t>
            </a:r>
          </a:p>
        </p:txBody>
      </p:sp>
      <p:sp>
        <p:nvSpPr>
          <p:cNvPr id="71" name="TextBox 70"/>
          <p:cNvSpPr txBox="1"/>
          <p:nvPr/>
        </p:nvSpPr>
        <p:spPr>
          <a:xfrm>
            <a:off x="9612216" y="5590341"/>
            <a:ext cx="2291236" cy="461665"/>
          </a:xfrm>
          <a:prstGeom prst="rect">
            <a:avLst/>
          </a:prstGeom>
          <a:noFill/>
        </p:spPr>
        <p:txBody>
          <a:bodyPr wrap="square" rtlCol="0">
            <a:spAutoFit/>
          </a:bodyPr>
          <a:lstStyle/>
          <a:p>
            <a:r>
              <a:rPr lang="en-AU" sz="2400" b="1" dirty="0">
                <a:solidFill>
                  <a:srgbClr val="0070C0"/>
                </a:solidFill>
              </a:rPr>
              <a:t>but-2-ene</a:t>
            </a:r>
          </a:p>
        </p:txBody>
      </p:sp>
      <p:sp>
        <p:nvSpPr>
          <p:cNvPr id="72" name="TextBox 71"/>
          <p:cNvSpPr txBox="1"/>
          <p:nvPr/>
        </p:nvSpPr>
        <p:spPr>
          <a:xfrm>
            <a:off x="8353425" y="5968592"/>
            <a:ext cx="3961863" cy="338554"/>
          </a:xfrm>
          <a:prstGeom prst="rect">
            <a:avLst/>
          </a:prstGeom>
          <a:noFill/>
        </p:spPr>
        <p:txBody>
          <a:bodyPr wrap="square" rtlCol="0">
            <a:spAutoFit/>
          </a:bodyPr>
          <a:lstStyle/>
          <a:p>
            <a:r>
              <a:rPr lang="en-AU" sz="1600" i="1" dirty="0">
                <a:solidFill>
                  <a:srgbClr val="0070C0"/>
                </a:solidFill>
              </a:rPr>
              <a:t>Ambiguously drawn – could be either isomer</a:t>
            </a:r>
          </a:p>
        </p:txBody>
      </p:sp>
    </p:spTree>
    <p:extLst>
      <p:ext uri="{BB962C8B-B14F-4D97-AF65-F5344CB8AC3E}">
        <p14:creationId xmlns:p14="http://schemas.microsoft.com/office/powerpoint/2010/main" val="3880482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Combustion reactions</a:t>
            </a:r>
          </a:p>
        </p:txBody>
      </p:sp>
      <p:sp>
        <p:nvSpPr>
          <p:cNvPr id="3" name="Content Placeholder 2"/>
          <p:cNvSpPr>
            <a:spLocks noGrp="1"/>
          </p:cNvSpPr>
          <p:nvPr>
            <p:ph idx="1"/>
          </p:nvPr>
        </p:nvSpPr>
        <p:spPr>
          <a:xfrm>
            <a:off x="1097280" y="1845733"/>
            <a:ext cx="7579995" cy="4621741"/>
          </a:xfrm>
        </p:spPr>
        <p:txBody>
          <a:bodyPr>
            <a:normAutofit/>
          </a:bodyPr>
          <a:lstStyle/>
          <a:p>
            <a:r>
              <a:rPr lang="en-AU" dirty="0"/>
              <a:t>All hydrocarbons (alkanes and alkenes) burn in oxygen.</a:t>
            </a:r>
          </a:p>
          <a:p>
            <a:endParaRPr lang="en-AU" dirty="0"/>
          </a:p>
          <a:p>
            <a:r>
              <a:rPr lang="en-AU" dirty="0"/>
              <a:t>The products of </a:t>
            </a:r>
            <a:r>
              <a:rPr lang="en-AU" b="1" dirty="0"/>
              <a:t>complete combustion </a:t>
            </a:r>
            <a:r>
              <a:rPr lang="en-AU" dirty="0"/>
              <a:t>(where there is an excess of O</a:t>
            </a:r>
            <a:r>
              <a:rPr lang="en-AU" baseline="-25000" dirty="0"/>
              <a:t>2</a:t>
            </a:r>
            <a:r>
              <a:rPr lang="en-AU" dirty="0"/>
              <a:t>) are H</a:t>
            </a:r>
            <a:r>
              <a:rPr lang="en-AU" baseline="-25000" dirty="0"/>
              <a:t>2</a:t>
            </a:r>
            <a:r>
              <a:rPr lang="en-AU" dirty="0"/>
              <a:t>O and CO</a:t>
            </a:r>
            <a:r>
              <a:rPr lang="en-AU" baseline="-25000" dirty="0"/>
              <a:t>2</a:t>
            </a:r>
            <a:r>
              <a:rPr lang="en-AU" dirty="0"/>
              <a:t>.</a:t>
            </a:r>
          </a:p>
          <a:p>
            <a:pPr algn="ctr"/>
            <a:r>
              <a:rPr lang="en-AU" sz="2800" b="1" dirty="0"/>
              <a:t>C</a:t>
            </a:r>
            <a:r>
              <a:rPr lang="en-AU" sz="2800" b="1" baseline="-25000" dirty="0"/>
              <a:t>8</a:t>
            </a:r>
            <a:r>
              <a:rPr lang="en-AU" sz="2800" b="1" dirty="0"/>
              <a:t>H</a:t>
            </a:r>
            <a:r>
              <a:rPr lang="en-AU" sz="2800" b="1" baseline="-25000" dirty="0"/>
              <a:t>16</a:t>
            </a:r>
            <a:r>
              <a:rPr lang="en-AU" sz="2800" b="1" dirty="0"/>
              <a:t> + 12 O</a:t>
            </a:r>
            <a:r>
              <a:rPr lang="en-AU" sz="2800" b="1" baseline="-25000" dirty="0"/>
              <a:t>2</a:t>
            </a:r>
            <a:r>
              <a:rPr lang="en-AU" sz="2800" b="1" dirty="0"/>
              <a:t> </a:t>
            </a:r>
            <a:r>
              <a:rPr lang="en-AU" sz="2800" b="1" dirty="0">
                <a:sym typeface="Wingdings" panose="05000000000000000000" pitchFamily="2" charset="2"/>
              </a:rPr>
              <a:t> 8CO</a:t>
            </a:r>
            <a:r>
              <a:rPr lang="en-AU" sz="2800" b="1" baseline="-25000" dirty="0">
                <a:sym typeface="Wingdings" panose="05000000000000000000" pitchFamily="2" charset="2"/>
              </a:rPr>
              <a:t>2</a:t>
            </a:r>
            <a:r>
              <a:rPr lang="en-AU" sz="2800" b="1" dirty="0">
                <a:sym typeface="Wingdings" panose="05000000000000000000" pitchFamily="2" charset="2"/>
              </a:rPr>
              <a:t> + 8 H</a:t>
            </a:r>
            <a:r>
              <a:rPr lang="en-AU" sz="2800" b="1" baseline="-25000" dirty="0">
                <a:sym typeface="Wingdings" panose="05000000000000000000" pitchFamily="2" charset="2"/>
              </a:rPr>
              <a:t>2</a:t>
            </a:r>
            <a:r>
              <a:rPr lang="en-AU" sz="2800" b="1" dirty="0">
                <a:sym typeface="Wingdings" panose="05000000000000000000" pitchFamily="2" charset="2"/>
              </a:rPr>
              <a:t>O</a:t>
            </a:r>
            <a:endParaRPr lang="en-AU" sz="2800" b="1" dirty="0"/>
          </a:p>
          <a:p>
            <a:endParaRPr lang="en-AU" dirty="0"/>
          </a:p>
          <a:p>
            <a:r>
              <a:rPr lang="en-AU" b="1" dirty="0"/>
              <a:t>Incomplete combustion </a:t>
            </a:r>
            <a:r>
              <a:rPr lang="en-AU" dirty="0"/>
              <a:t>occurs if there is a limited supply of O</a:t>
            </a:r>
            <a:r>
              <a:rPr lang="en-AU" baseline="-25000" dirty="0"/>
              <a:t>2</a:t>
            </a:r>
            <a:r>
              <a:rPr lang="en-AU" dirty="0"/>
              <a:t>. </a:t>
            </a:r>
            <a:br>
              <a:rPr lang="en-AU" dirty="0"/>
            </a:br>
            <a:r>
              <a:rPr lang="en-AU" dirty="0"/>
              <a:t>Carbon monoxide gas or C (soot) may be produced instead of CO</a:t>
            </a:r>
            <a:r>
              <a:rPr lang="en-AU" baseline="-25000" dirty="0"/>
              <a:t>2</a:t>
            </a:r>
            <a:r>
              <a:rPr lang="en-AU" dirty="0"/>
              <a:t>.</a:t>
            </a:r>
          </a:p>
          <a:p>
            <a:pPr algn="ctr"/>
            <a:r>
              <a:rPr lang="en-AU" sz="2800" b="1" dirty="0"/>
              <a:t>C</a:t>
            </a:r>
            <a:r>
              <a:rPr lang="en-AU" sz="2800" b="1" baseline="-25000" dirty="0"/>
              <a:t>8</a:t>
            </a:r>
            <a:r>
              <a:rPr lang="en-AU" sz="2800" b="1" dirty="0"/>
              <a:t>H</a:t>
            </a:r>
            <a:r>
              <a:rPr lang="en-AU" sz="2800" b="1" baseline="-25000" dirty="0"/>
              <a:t>16</a:t>
            </a:r>
            <a:r>
              <a:rPr lang="en-AU" sz="2800" b="1" dirty="0"/>
              <a:t> + 4 O</a:t>
            </a:r>
            <a:r>
              <a:rPr lang="en-AU" sz="2800" b="1" baseline="-25000" dirty="0"/>
              <a:t>2</a:t>
            </a:r>
            <a:r>
              <a:rPr lang="en-AU" sz="2800" b="1" dirty="0"/>
              <a:t> </a:t>
            </a:r>
            <a:r>
              <a:rPr lang="en-AU" sz="2800" b="1" dirty="0">
                <a:sym typeface="Wingdings" panose="05000000000000000000" pitchFamily="2" charset="2"/>
              </a:rPr>
              <a:t> 8 C + 8 H</a:t>
            </a:r>
            <a:r>
              <a:rPr lang="en-AU" sz="2800" b="1" baseline="-25000" dirty="0">
                <a:sym typeface="Wingdings" panose="05000000000000000000" pitchFamily="2" charset="2"/>
              </a:rPr>
              <a:t>2</a:t>
            </a:r>
            <a:r>
              <a:rPr lang="en-AU" sz="2800" b="1" dirty="0">
                <a:sym typeface="Wingdings" panose="05000000000000000000" pitchFamily="2" charset="2"/>
              </a:rPr>
              <a:t>O</a:t>
            </a:r>
            <a:endParaRPr lang="en-AU" sz="2800" b="1" dirty="0"/>
          </a:p>
          <a:p>
            <a:endParaRPr lang="en-AU" dirty="0"/>
          </a:p>
        </p:txBody>
      </p:sp>
      <p:pic>
        <p:nvPicPr>
          <p:cNvPr id="18434" name="Picture 2" descr="http://www.bsquaredfutures.com/pluginfile.php/273/mod_imscp/content/1/lo_4-1-scorm/lo_4-1-scorm/images/bunsen_flames.jpg"/>
          <p:cNvPicPr>
            <a:picLocks noChangeAspect="1" noChangeArrowheads="1"/>
          </p:cNvPicPr>
          <p:nvPr/>
        </p:nvPicPr>
        <p:blipFill rotWithShape="1">
          <a:blip r:embed="rId2">
            <a:extLst>
              <a:ext uri="{28A0092B-C50C-407E-A947-70E740481C1C}">
                <a14:useLocalDpi xmlns:a14="http://schemas.microsoft.com/office/drawing/2010/main" val="0"/>
              </a:ext>
            </a:extLst>
          </a:blip>
          <a:srcRect r="51109"/>
          <a:stretch/>
        </p:blipFill>
        <p:spPr bwMode="auto">
          <a:xfrm>
            <a:off x="8677275" y="1845733"/>
            <a:ext cx="1647825" cy="297391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http://www.bsquaredfutures.com/pluginfile.php/273/mod_imscp/content/1/lo_4-1-scorm/lo_4-1-scorm/images/bunsen_flames.jpg"/>
          <p:cNvPicPr>
            <a:picLocks noChangeAspect="1" noChangeArrowheads="1"/>
          </p:cNvPicPr>
          <p:nvPr/>
        </p:nvPicPr>
        <p:blipFill rotWithShape="1">
          <a:blip r:embed="rId2">
            <a:extLst>
              <a:ext uri="{28A0092B-C50C-407E-A947-70E740481C1C}">
                <a14:useLocalDpi xmlns:a14="http://schemas.microsoft.com/office/drawing/2010/main" val="0"/>
              </a:ext>
            </a:extLst>
          </a:blip>
          <a:srcRect l="50021"/>
          <a:stretch/>
        </p:blipFill>
        <p:spPr bwMode="auto">
          <a:xfrm>
            <a:off x="10382250" y="3226857"/>
            <a:ext cx="1684515" cy="2973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88940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Substitution Reactions</a:t>
            </a:r>
          </a:p>
        </p:txBody>
      </p:sp>
      <p:sp>
        <p:nvSpPr>
          <p:cNvPr id="3" name="Content Placeholder 2"/>
          <p:cNvSpPr>
            <a:spLocks noGrp="1"/>
          </p:cNvSpPr>
          <p:nvPr>
            <p:ph idx="1"/>
          </p:nvPr>
        </p:nvSpPr>
        <p:spPr>
          <a:xfrm>
            <a:off x="1097280" y="1845733"/>
            <a:ext cx="10058400" cy="4621741"/>
          </a:xfrm>
        </p:spPr>
        <p:txBody>
          <a:bodyPr>
            <a:normAutofit/>
          </a:bodyPr>
          <a:lstStyle/>
          <a:p>
            <a:r>
              <a:rPr lang="en-AU" dirty="0"/>
              <a:t>Alkanes can do </a:t>
            </a:r>
            <a:r>
              <a:rPr lang="en-AU" b="1" dirty="0"/>
              <a:t>substitution</a:t>
            </a:r>
            <a:r>
              <a:rPr lang="en-AU" dirty="0"/>
              <a:t> with halogens in the presence of UV light.</a:t>
            </a:r>
          </a:p>
          <a:p>
            <a:endParaRPr lang="en-AU" dirty="0"/>
          </a:p>
          <a:p>
            <a:endParaRPr lang="en-AU" dirty="0"/>
          </a:p>
          <a:p>
            <a:endParaRPr lang="en-AU" dirty="0"/>
          </a:p>
          <a:p>
            <a:endParaRPr lang="en-AU" dirty="0"/>
          </a:p>
          <a:p>
            <a:endParaRPr lang="en-AU" dirty="0"/>
          </a:p>
          <a:p>
            <a:pPr marL="0" indent="0">
              <a:buNone/>
            </a:pPr>
            <a:endParaRPr lang="en-AU" sz="1100" dirty="0"/>
          </a:p>
        </p:txBody>
      </p:sp>
      <p:pic>
        <p:nvPicPr>
          <p:cNvPr id="14338" name="Picture 2" descr="https://upload.wikimedia.org/wikipedia/commons/a/ae/Methane-2D-small.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46250" y="2352883"/>
            <a:ext cx="1797050" cy="18716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a:xfrm>
            <a:off x="5657850" y="3519515"/>
            <a:ext cx="118110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pic>
        <p:nvPicPr>
          <p:cNvPr id="7" name="Picture 6"/>
          <p:cNvPicPr>
            <a:picLocks noChangeAspect="1"/>
          </p:cNvPicPr>
          <p:nvPr/>
        </p:nvPicPr>
        <p:blipFill>
          <a:blip r:embed="rId3"/>
          <a:stretch>
            <a:fillRect/>
          </a:stretch>
        </p:blipFill>
        <p:spPr>
          <a:xfrm>
            <a:off x="7143750" y="2519508"/>
            <a:ext cx="1638300" cy="1800225"/>
          </a:xfrm>
          <a:prstGeom prst="rect">
            <a:avLst/>
          </a:prstGeom>
        </p:spPr>
      </p:pic>
      <p:sp>
        <p:nvSpPr>
          <p:cNvPr id="8" name="TextBox 7"/>
          <p:cNvSpPr txBox="1"/>
          <p:nvPr/>
        </p:nvSpPr>
        <p:spPr>
          <a:xfrm>
            <a:off x="3914775" y="3288683"/>
            <a:ext cx="1952625" cy="461665"/>
          </a:xfrm>
          <a:prstGeom prst="rect">
            <a:avLst/>
          </a:prstGeom>
          <a:noFill/>
        </p:spPr>
        <p:txBody>
          <a:bodyPr wrap="square" rtlCol="0">
            <a:spAutoFit/>
          </a:bodyPr>
          <a:lstStyle/>
          <a:p>
            <a:r>
              <a:rPr lang="en-AU" sz="2400" b="1" dirty="0">
                <a:latin typeface="Arial" panose="020B0604020202020204" pitchFamily="34" charset="0"/>
                <a:cs typeface="Arial" panose="020B0604020202020204" pitchFamily="34" charset="0"/>
              </a:rPr>
              <a:t>+  </a:t>
            </a:r>
            <a:r>
              <a:rPr lang="en-AU" sz="2400" b="1" dirty="0">
                <a:solidFill>
                  <a:srgbClr val="FF0000"/>
                </a:solidFill>
                <a:latin typeface="Arial" panose="020B0604020202020204" pitchFamily="34" charset="0"/>
                <a:cs typeface="Arial" panose="020B0604020202020204" pitchFamily="34" charset="0"/>
              </a:rPr>
              <a:t>Cℓ–Cℓ </a:t>
            </a:r>
          </a:p>
        </p:txBody>
      </p:sp>
      <p:sp>
        <p:nvSpPr>
          <p:cNvPr id="10" name="TextBox 9"/>
          <p:cNvSpPr txBox="1"/>
          <p:nvPr/>
        </p:nvSpPr>
        <p:spPr>
          <a:xfrm>
            <a:off x="9688830" y="3288683"/>
            <a:ext cx="1952625" cy="461665"/>
          </a:xfrm>
          <a:prstGeom prst="rect">
            <a:avLst/>
          </a:prstGeom>
          <a:noFill/>
        </p:spPr>
        <p:txBody>
          <a:bodyPr wrap="square" rtlCol="0">
            <a:spAutoFit/>
          </a:bodyPr>
          <a:lstStyle/>
          <a:p>
            <a:r>
              <a:rPr lang="en-AU" sz="2400" b="1" dirty="0">
                <a:latin typeface="Arial" panose="020B0604020202020204" pitchFamily="34" charset="0"/>
                <a:cs typeface="Arial" panose="020B0604020202020204" pitchFamily="34" charset="0"/>
              </a:rPr>
              <a:t>+  H</a:t>
            </a:r>
            <a:r>
              <a:rPr lang="en-AU" sz="2400" b="1" dirty="0">
                <a:solidFill>
                  <a:srgbClr val="FF0000"/>
                </a:solidFill>
                <a:latin typeface="Arial" panose="020B0604020202020204" pitchFamily="34" charset="0"/>
                <a:cs typeface="Arial" panose="020B0604020202020204" pitchFamily="34" charset="0"/>
              </a:rPr>
              <a:t>–Cℓ </a:t>
            </a:r>
          </a:p>
        </p:txBody>
      </p:sp>
      <p:sp>
        <p:nvSpPr>
          <p:cNvPr id="11" name="TextBox 10"/>
          <p:cNvSpPr txBox="1"/>
          <p:nvPr/>
        </p:nvSpPr>
        <p:spPr>
          <a:xfrm>
            <a:off x="8572500" y="3419620"/>
            <a:ext cx="1952625" cy="461665"/>
          </a:xfrm>
          <a:prstGeom prst="rect">
            <a:avLst/>
          </a:prstGeom>
          <a:noFill/>
        </p:spPr>
        <p:txBody>
          <a:bodyPr wrap="square" rtlCol="0">
            <a:spAutoFit/>
          </a:bodyPr>
          <a:lstStyle/>
          <a:p>
            <a:r>
              <a:rPr lang="en-AU" sz="2400" b="1" dirty="0">
                <a:solidFill>
                  <a:srgbClr val="FF0000"/>
                </a:solidFill>
                <a:latin typeface="Arial" panose="020B0604020202020204" pitchFamily="34" charset="0"/>
                <a:cs typeface="Arial" panose="020B0604020202020204" pitchFamily="34" charset="0"/>
              </a:rPr>
              <a:t>Cℓ </a:t>
            </a:r>
          </a:p>
        </p:txBody>
      </p:sp>
      <p:sp>
        <p:nvSpPr>
          <p:cNvPr id="12" name="TextBox 11"/>
          <p:cNvSpPr txBox="1"/>
          <p:nvPr/>
        </p:nvSpPr>
        <p:spPr>
          <a:xfrm>
            <a:off x="2223614" y="4332857"/>
            <a:ext cx="2291236" cy="369332"/>
          </a:xfrm>
          <a:prstGeom prst="rect">
            <a:avLst/>
          </a:prstGeom>
          <a:noFill/>
        </p:spPr>
        <p:txBody>
          <a:bodyPr wrap="square" rtlCol="0">
            <a:spAutoFit/>
          </a:bodyPr>
          <a:lstStyle/>
          <a:p>
            <a:r>
              <a:rPr lang="en-AU" b="1" dirty="0">
                <a:solidFill>
                  <a:srgbClr val="0070C0"/>
                </a:solidFill>
              </a:rPr>
              <a:t>methane</a:t>
            </a:r>
          </a:p>
        </p:txBody>
      </p:sp>
      <p:sp>
        <p:nvSpPr>
          <p:cNvPr id="13" name="TextBox 12"/>
          <p:cNvSpPr txBox="1"/>
          <p:nvPr/>
        </p:nvSpPr>
        <p:spPr>
          <a:xfrm>
            <a:off x="4330784" y="4332857"/>
            <a:ext cx="2291236" cy="369332"/>
          </a:xfrm>
          <a:prstGeom prst="rect">
            <a:avLst/>
          </a:prstGeom>
          <a:noFill/>
        </p:spPr>
        <p:txBody>
          <a:bodyPr wrap="square" rtlCol="0">
            <a:spAutoFit/>
          </a:bodyPr>
          <a:lstStyle/>
          <a:p>
            <a:r>
              <a:rPr lang="en-AU" b="1" dirty="0">
                <a:solidFill>
                  <a:srgbClr val="0070C0"/>
                </a:solidFill>
              </a:rPr>
              <a:t>chlorine</a:t>
            </a:r>
          </a:p>
        </p:txBody>
      </p:sp>
      <p:sp>
        <p:nvSpPr>
          <p:cNvPr id="14" name="TextBox 13"/>
          <p:cNvSpPr txBox="1"/>
          <p:nvPr/>
        </p:nvSpPr>
        <p:spPr>
          <a:xfrm>
            <a:off x="7362352" y="4332857"/>
            <a:ext cx="2291236" cy="369332"/>
          </a:xfrm>
          <a:prstGeom prst="rect">
            <a:avLst/>
          </a:prstGeom>
          <a:noFill/>
        </p:spPr>
        <p:txBody>
          <a:bodyPr wrap="square" rtlCol="0">
            <a:spAutoFit/>
          </a:bodyPr>
          <a:lstStyle/>
          <a:p>
            <a:r>
              <a:rPr lang="en-AU" b="1" dirty="0">
                <a:solidFill>
                  <a:srgbClr val="0070C0"/>
                </a:solidFill>
              </a:rPr>
              <a:t>chloromethane</a:t>
            </a:r>
          </a:p>
        </p:txBody>
      </p:sp>
      <p:sp>
        <p:nvSpPr>
          <p:cNvPr id="15" name="TextBox 14"/>
          <p:cNvSpPr txBox="1"/>
          <p:nvPr/>
        </p:nvSpPr>
        <p:spPr>
          <a:xfrm>
            <a:off x="9735982" y="4332857"/>
            <a:ext cx="2291236" cy="369332"/>
          </a:xfrm>
          <a:prstGeom prst="rect">
            <a:avLst/>
          </a:prstGeom>
          <a:noFill/>
        </p:spPr>
        <p:txBody>
          <a:bodyPr wrap="square" rtlCol="0">
            <a:spAutoFit/>
          </a:bodyPr>
          <a:lstStyle/>
          <a:p>
            <a:r>
              <a:rPr lang="en-AU" b="1" dirty="0">
                <a:solidFill>
                  <a:srgbClr val="0070C0"/>
                </a:solidFill>
              </a:rPr>
              <a:t>hydrogen chloride</a:t>
            </a:r>
          </a:p>
        </p:txBody>
      </p:sp>
      <p:sp>
        <p:nvSpPr>
          <p:cNvPr id="21" name="TextBox 20"/>
          <p:cNvSpPr txBox="1"/>
          <p:nvPr/>
        </p:nvSpPr>
        <p:spPr>
          <a:xfrm>
            <a:off x="5905500" y="3127101"/>
            <a:ext cx="1952625" cy="338554"/>
          </a:xfrm>
          <a:prstGeom prst="rect">
            <a:avLst/>
          </a:prstGeom>
          <a:noFill/>
        </p:spPr>
        <p:txBody>
          <a:bodyPr wrap="square" rtlCol="0">
            <a:spAutoFit/>
          </a:bodyPr>
          <a:lstStyle/>
          <a:p>
            <a:r>
              <a:rPr lang="en-AU" sz="1600" dirty="0">
                <a:latin typeface="Arial" panose="020B0604020202020204" pitchFamily="34" charset="0"/>
                <a:cs typeface="Arial" panose="020B0604020202020204" pitchFamily="34" charset="0"/>
              </a:rPr>
              <a:t>UV</a:t>
            </a:r>
            <a:endParaRPr lang="en-AU" sz="16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566393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stretch>
            <a:fillRect/>
          </a:stretch>
        </p:blipFill>
        <p:spPr>
          <a:xfrm>
            <a:off x="7268527" y="2501665"/>
            <a:ext cx="1524000" cy="1438275"/>
          </a:xfrm>
          <a:prstGeom prst="rect">
            <a:avLst/>
          </a:prstGeom>
        </p:spPr>
      </p:pic>
      <p:sp>
        <p:nvSpPr>
          <p:cNvPr id="2" name="Title 1"/>
          <p:cNvSpPr>
            <a:spLocks noGrp="1"/>
          </p:cNvSpPr>
          <p:nvPr>
            <p:ph type="title"/>
          </p:nvPr>
        </p:nvSpPr>
        <p:spPr/>
        <p:txBody>
          <a:bodyPr/>
          <a:lstStyle/>
          <a:p>
            <a:r>
              <a:rPr lang="en-AU" b="1" dirty="0"/>
              <a:t>Substitution Reactions</a:t>
            </a:r>
          </a:p>
        </p:txBody>
      </p:sp>
      <p:sp>
        <p:nvSpPr>
          <p:cNvPr id="3" name="Content Placeholder 2"/>
          <p:cNvSpPr>
            <a:spLocks noGrp="1"/>
          </p:cNvSpPr>
          <p:nvPr>
            <p:ph idx="1"/>
          </p:nvPr>
        </p:nvSpPr>
        <p:spPr>
          <a:xfrm>
            <a:off x="1097280" y="1845733"/>
            <a:ext cx="10058400" cy="4621741"/>
          </a:xfrm>
        </p:spPr>
        <p:txBody>
          <a:bodyPr>
            <a:normAutofit/>
          </a:bodyPr>
          <a:lstStyle/>
          <a:p>
            <a:r>
              <a:rPr lang="en-AU" dirty="0"/>
              <a:t>If there is an </a:t>
            </a:r>
            <a:r>
              <a:rPr lang="en-AU" b="1" dirty="0"/>
              <a:t>excess</a:t>
            </a:r>
            <a:r>
              <a:rPr lang="en-AU" dirty="0"/>
              <a:t> of halogen then substitution can happen multiple times.</a:t>
            </a:r>
          </a:p>
          <a:p>
            <a:endParaRPr lang="en-AU" dirty="0"/>
          </a:p>
          <a:p>
            <a:endParaRPr lang="en-AU" dirty="0"/>
          </a:p>
          <a:p>
            <a:endParaRPr lang="en-AU" dirty="0"/>
          </a:p>
          <a:p>
            <a:endParaRPr lang="en-AU" dirty="0"/>
          </a:p>
          <a:p>
            <a:endParaRPr lang="en-AU" dirty="0"/>
          </a:p>
          <a:p>
            <a:pPr marL="0" indent="0">
              <a:buNone/>
            </a:pPr>
            <a:endParaRPr lang="en-AU" dirty="0"/>
          </a:p>
          <a:p>
            <a:pPr marL="0" indent="0">
              <a:buNone/>
            </a:pPr>
            <a:endParaRPr lang="en-AU" dirty="0"/>
          </a:p>
          <a:p>
            <a:pPr marL="0" indent="0">
              <a:buNone/>
            </a:pPr>
            <a:endParaRPr lang="en-AU" dirty="0"/>
          </a:p>
        </p:txBody>
      </p:sp>
      <p:pic>
        <p:nvPicPr>
          <p:cNvPr id="14338" name="Picture 2" descr="https://upload.wikimedia.org/wikipedia/commons/a/ae/Methane-2D-small.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46250" y="2285003"/>
            <a:ext cx="1797050" cy="18716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Straight Arrow Connector 4"/>
          <p:cNvCxnSpPr>
            <a:stCxn id="8" idx="3"/>
          </p:cNvCxnSpPr>
          <p:nvPr/>
        </p:nvCxnSpPr>
        <p:spPr>
          <a:xfrm flipV="1">
            <a:off x="5867400" y="3451635"/>
            <a:ext cx="971550" cy="1"/>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3914775" y="3220803"/>
            <a:ext cx="1952625" cy="461665"/>
          </a:xfrm>
          <a:prstGeom prst="rect">
            <a:avLst/>
          </a:prstGeom>
          <a:noFill/>
        </p:spPr>
        <p:txBody>
          <a:bodyPr wrap="square" rtlCol="0">
            <a:spAutoFit/>
          </a:bodyPr>
          <a:lstStyle/>
          <a:p>
            <a:r>
              <a:rPr lang="en-AU" sz="2400" b="1" dirty="0">
                <a:latin typeface="Arial" panose="020B0604020202020204" pitchFamily="34" charset="0"/>
                <a:cs typeface="Arial" panose="020B0604020202020204" pitchFamily="34" charset="0"/>
              </a:rPr>
              <a:t>+  4 </a:t>
            </a:r>
            <a:r>
              <a:rPr lang="en-AU" sz="2400" b="1" dirty="0">
                <a:solidFill>
                  <a:srgbClr val="FF0000"/>
                </a:solidFill>
                <a:latin typeface="Arial" panose="020B0604020202020204" pitchFamily="34" charset="0"/>
                <a:cs typeface="Arial" panose="020B0604020202020204" pitchFamily="34" charset="0"/>
              </a:rPr>
              <a:t>Cℓ–Cℓ </a:t>
            </a:r>
          </a:p>
        </p:txBody>
      </p:sp>
      <p:sp>
        <p:nvSpPr>
          <p:cNvPr id="10" name="TextBox 9"/>
          <p:cNvSpPr txBox="1"/>
          <p:nvPr/>
        </p:nvSpPr>
        <p:spPr>
          <a:xfrm>
            <a:off x="9688830" y="3220803"/>
            <a:ext cx="1952625" cy="461665"/>
          </a:xfrm>
          <a:prstGeom prst="rect">
            <a:avLst/>
          </a:prstGeom>
          <a:noFill/>
        </p:spPr>
        <p:txBody>
          <a:bodyPr wrap="square" rtlCol="0">
            <a:spAutoFit/>
          </a:bodyPr>
          <a:lstStyle/>
          <a:p>
            <a:r>
              <a:rPr lang="en-AU" sz="2400" b="1" dirty="0">
                <a:latin typeface="Arial" panose="020B0604020202020204" pitchFamily="34" charset="0"/>
                <a:cs typeface="Arial" panose="020B0604020202020204" pitchFamily="34" charset="0"/>
              </a:rPr>
              <a:t>+  4 H</a:t>
            </a:r>
            <a:r>
              <a:rPr lang="en-AU" sz="2400" b="1" dirty="0">
                <a:solidFill>
                  <a:srgbClr val="FF0000"/>
                </a:solidFill>
                <a:latin typeface="Arial" panose="020B0604020202020204" pitchFamily="34" charset="0"/>
                <a:cs typeface="Arial" panose="020B0604020202020204" pitchFamily="34" charset="0"/>
              </a:rPr>
              <a:t>–Cℓ </a:t>
            </a:r>
          </a:p>
        </p:txBody>
      </p:sp>
      <p:sp>
        <p:nvSpPr>
          <p:cNvPr id="11" name="TextBox 10"/>
          <p:cNvSpPr txBox="1"/>
          <p:nvPr/>
        </p:nvSpPr>
        <p:spPr>
          <a:xfrm>
            <a:off x="8611552" y="3281225"/>
            <a:ext cx="1952625" cy="461665"/>
          </a:xfrm>
          <a:prstGeom prst="rect">
            <a:avLst/>
          </a:prstGeom>
          <a:noFill/>
        </p:spPr>
        <p:txBody>
          <a:bodyPr wrap="square" rtlCol="0">
            <a:spAutoFit/>
          </a:bodyPr>
          <a:lstStyle/>
          <a:p>
            <a:r>
              <a:rPr lang="en-AU" sz="2400" b="1" dirty="0">
                <a:solidFill>
                  <a:srgbClr val="FF0000"/>
                </a:solidFill>
                <a:latin typeface="Arial" panose="020B0604020202020204" pitchFamily="34" charset="0"/>
                <a:cs typeface="Arial" panose="020B0604020202020204" pitchFamily="34" charset="0"/>
              </a:rPr>
              <a:t>Cℓ </a:t>
            </a:r>
          </a:p>
        </p:txBody>
      </p:sp>
      <p:sp>
        <p:nvSpPr>
          <p:cNvPr id="12" name="TextBox 11"/>
          <p:cNvSpPr txBox="1"/>
          <p:nvPr/>
        </p:nvSpPr>
        <p:spPr>
          <a:xfrm>
            <a:off x="2223614" y="4264977"/>
            <a:ext cx="2291236" cy="369332"/>
          </a:xfrm>
          <a:prstGeom prst="rect">
            <a:avLst/>
          </a:prstGeom>
          <a:noFill/>
        </p:spPr>
        <p:txBody>
          <a:bodyPr wrap="square" rtlCol="0">
            <a:spAutoFit/>
          </a:bodyPr>
          <a:lstStyle/>
          <a:p>
            <a:r>
              <a:rPr lang="en-AU" b="1" dirty="0">
                <a:solidFill>
                  <a:srgbClr val="0070C0"/>
                </a:solidFill>
              </a:rPr>
              <a:t>methane</a:t>
            </a:r>
          </a:p>
        </p:txBody>
      </p:sp>
      <p:sp>
        <p:nvSpPr>
          <p:cNvPr id="13" name="TextBox 12"/>
          <p:cNvSpPr txBox="1"/>
          <p:nvPr/>
        </p:nvSpPr>
        <p:spPr>
          <a:xfrm>
            <a:off x="4330784" y="4264977"/>
            <a:ext cx="2291236" cy="369332"/>
          </a:xfrm>
          <a:prstGeom prst="rect">
            <a:avLst/>
          </a:prstGeom>
          <a:noFill/>
        </p:spPr>
        <p:txBody>
          <a:bodyPr wrap="square" rtlCol="0">
            <a:spAutoFit/>
          </a:bodyPr>
          <a:lstStyle/>
          <a:p>
            <a:r>
              <a:rPr lang="en-AU" b="1" dirty="0">
                <a:solidFill>
                  <a:srgbClr val="0070C0"/>
                </a:solidFill>
              </a:rPr>
              <a:t>chlorine</a:t>
            </a:r>
          </a:p>
        </p:txBody>
      </p:sp>
      <p:sp>
        <p:nvSpPr>
          <p:cNvPr id="14" name="TextBox 13"/>
          <p:cNvSpPr txBox="1"/>
          <p:nvPr/>
        </p:nvSpPr>
        <p:spPr>
          <a:xfrm>
            <a:off x="7105177" y="4264977"/>
            <a:ext cx="2291236" cy="369332"/>
          </a:xfrm>
          <a:prstGeom prst="rect">
            <a:avLst/>
          </a:prstGeom>
          <a:noFill/>
        </p:spPr>
        <p:txBody>
          <a:bodyPr wrap="square" rtlCol="0">
            <a:spAutoFit/>
          </a:bodyPr>
          <a:lstStyle/>
          <a:p>
            <a:r>
              <a:rPr lang="en-AU" b="1" dirty="0" err="1">
                <a:solidFill>
                  <a:srgbClr val="0070C0"/>
                </a:solidFill>
              </a:rPr>
              <a:t>tetrachloromethane</a:t>
            </a:r>
            <a:endParaRPr lang="en-AU" b="1" dirty="0">
              <a:solidFill>
                <a:srgbClr val="0070C0"/>
              </a:solidFill>
            </a:endParaRPr>
          </a:p>
        </p:txBody>
      </p:sp>
      <p:sp>
        <p:nvSpPr>
          <p:cNvPr id="15" name="TextBox 14"/>
          <p:cNvSpPr txBox="1"/>
          <p:nvPr/>
        </p:nvSpPr>
        <p:spPr>
          <a:xfrm>
            <a:off x="9735982" y="4264977"/>
            <a:ext cx="2291236" cy="369332"/>
          </a:xfrm>
          <a:prstGeom prst="rect">
            <a:avLst/>
          </a:prstGeom>
          <a:noFill/>
        </p:spPr>
        <p:txBody>
          <a:bodyPr wrap="square" rtlCol="0">
            <a:spAutoFit/>
          </a:bodyPr>
          <a:lstStyle/>
          <a:p>
            <a:r>
              <a:rPr lang="en-AU" b="1" dirty="0">
                <a:solidFill>
                  <a:srgbClr val="0070C0"/>
                </a:solidFill>
              </a:rPr>
              <a:t>hydrogen chloride</a:t>
            </a:r>
          </a:p>
        </p:txBody>
      </p:sp>
      <p:sp>
        <p:nvSpPr>
          <p:cNvPr id="18" name="TextBox 17"/>
          <p:cNvSpPr txBox="1"/>
          <p:nvPr/>
        </p:nvSpPr>
        <p:spPr>
          <a:xfrm>
            <a:off x="7736205" y="2194213"/>
            <a:ext cx="1952625" cy="461665"/>
          </a:xfrm>
          <a:prstGeom prst="rect">
            <a:avLst/>
          </a:prstGeom>
          <a:noFill/>
        </p:spPr>
        <p:txBody>
          <a:bodyPr wrap="square" rtlCol="0">
            <a:spAutoFit/>
          </a:bodyPr>
          <a:lstStyle/>
          <a:p>
            <a:r>
              <a:rPr lang="en-AU" sz="2400" b="1" dirty="0">
                <a:solidFill>
                  <a:srgbClr val="FF0000"/>
                </a:solidFill>
                <a:latin typeface="Arial" panose="020B0604020202020204" pitchFamily="34" charset="0"/>
                <a:cs typeface="Arial" panose="020B0604020202020204" pitchFamily="34" charset="0"/>
              </a:rPr>
              <a:t>Cℓ </a:t>
            </a:r>
          </a:p>
        </p:txBody>
      </p:sp>
      <p:sp>
        <p:nvSpPr>
          <p:cNvPr id="19" name="TextBox 18"/>
          <p:cNvSpPr txBox="1"/>
          <p:nvPr/>
        </p:nvSpPr>
        <p:spPr>
          <a:xfrm>
            <a:off x="8143875" y="3746370"/>
            <a:ext cx="722947" cy="461665"/>
          </a:xfrm>
          <a:prstGeom prst="rect">
            <a:avLst/>
          </a:prstGeom>
          <a:noFill/>
        </p:spPr>
        <p:txBody>
          <a:bodyPr wrap="square" rtlCol="0">
            <a:spAutoFit/>
          </a:bodyPr>
          <a:lstStyle/>
          <a:p>
            <a:r>
              <a:rPr lang="en-AU" sz="2400" b="1" dirty="0">
                <a:solidFill>
                  <a:srgbClr val="FF0000"/>
                </a:solidFill>
                <a:latin typeface="Arial" panose="020B0604020202020204" pitchFamily="34" charset="0"/>
                <a:cs typeface="Arial" panose="020B0604020202020204" pitchFamily="34" charset="0"/>
              </a:rPr>
              <a:t>Cℓ </a:t>
            </a:r>
          </a:p>
        </p:txBody>
      </p:sp>
      <p:sp>
        <p:nvSpPr>
          <p:cNvPr id="20" name="TextBox 19"/>
          <p:cNvSpPr txBox="1"/>
          <p:nvPr/>
        </p:nvSpPr>
        <p:spPr>
          <a:xfrm>
            <a:off x="6972776" y="3521218"/>
            <a:ext cx="722947" cy="461665"/>
          </a:xfrm>
          <a:prstGeom prst="rect">
            <a:avLst/>
          </a:prstGeom>
          <a:noFill/>
        </p:spPr>
        <p:txBody>
          <a:bodyPr wrap="square" rtlCol="0">
            <a:spAutoFit/>
          </a:bodyPr>
          <a:lstStyle/>
          <a:p>
            <a:r>
              <a:rPr lang="en-AU" sz="2400" b="1" dirty="0">
                <a:solidFill>
                  <a:srgbClr val="FF0000"/>
                </a:solidFill>
                <a:latin typeface="Arial" panose="020B0604020202020204" pitchFamily="34" charset="0"/>
                <a:cs typeface="Arial" panose="020B0604020202020204" pitchFamily="34" charset="0"/>
              </a:rPr>
              <a:t>Cℓ </a:t>
            </a:r>
          </a:p>
        </p:txBody>
      </p:sp>
      <p:sp>
        <p:nvSpPr>
          <p:cNvPr id="17" name="TextBox 16"/>
          <p:cNvSpPr txBox="1"/>
          <p:nvPr/>
        </p:nvSpPr>
        <p:spPr>
          <a:xfrm>
            <a:off x="5958363" y="3069110"/>
            <a:ext cx="1952625" cy="338554"/>
          </a:xfrm>
          <a:prstGeom prst="rect">
            <a:avLst/>
          </a:prstGeom>
          <a:noFill/>
        </p:spPr>
        <p:txBody>
          <a:bodyPr wrap="square" rtlCol="0">
            <a:spAutoFit/>
          </a:bodyPr>
          <a:lstStyle/>
          <a:p>
            <a:r>
              <a:rPr lang="en-AU" sz="1600" dirty="0">
                <a:latin typeface="Arial" panose="020B0604020202020204" pitchFamily="34" charset="0"/>
                <a:cs typeface="Arial" panose="020B0604020202020204" pitchFamily="34" charset="0"/>
              </a:rPr>
              <a:t>UV</a:t>
            </a:r>
            <a:endParaRPr lang="en-AU" sz="16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759022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Substitution Reactions</a:t>
            </a:r>
          </a:p>
        </p:txBody>
      </p:sp>
      <p:sp>
        <p:nvSpPr>
          <p:cNvPr id="3" name="Content Placeholder 2"/>
          <p:cNvSpPr>
            <a:spLocks noGrp="1"/>
          </p:cNvSpPr>
          <p:nvPr>
            <p:ph idx="1"/>
          </p:nvPr>
        </p:nvSpPr>
        <p:spPr>
          <a:xfrm>
            <a:off x="1097280" y="1845733"/>
            <a:ext cx="10058400" cy="4621741"/>
          </a:xfrm>
        </p:spPr>
        <p:txBody>
          <a:bodyPr>
            <a:normAutofit/>
          </a:bodyPr>
          <a:lstStyle/>
          <a:p>
            <a:pPr>
              <a:lnSpc>
                <a:spcPct val="150000"/>
              </a:lnSpc>
            </a:pPr>
            <a:r>
              <a:rPr lang="en-AU" dirty="0"/>
              <a:t>Name the most predominant organic product of the following reactions:</a:t>
            </a:r>
          </a:p>
          <a:p>
            <a:pPr marL="457200" indent="-457200">
              <a:lnSpc>
                <a:spcPct val="150000"/>
              </a:lnSpc>
              <a:buFont typeface="+mj-lt"/>
              <a:buAutoNum type="alphaLcParenR"/>
            </a:pPr>
            <a:r>
              <a:rPr lang="en-AU" dirty="0"/>
              <a:t>Ethane and fluorine are added in a 1:1 mole ratio	____________________________</a:t>
            </a:r>
          </a:p>
          <a:p>
            <a:pPr marL="457200" indent="-457200">
              <a:lnSpc>
                <a:spcPct val="150000"/>
              </a:lnSpc>
              <a:buFont typeface="+mj-lt"/>
              <a:buAutoNum type="alphaLcParenR"/>
            </a:pPr>
            <a:r>
              <a:rPr lang="en-AU" dirty="0"/>
              <a:t>Ethane is added to an excess of fluorine			 ____________________________</a:t>
            </a:r>
          </a:p>
          <a:p>
            <a:pPr marL="457200" indent="-457200">
              <a:lnSpc>
                <a:spcPct val="150000"/>
              </a:lnSpc>
              <a:buFont typeface="+mj-lt"/>
              <a:buAutoNum type="alphaLcParenR"/>
            </a:pPr>
            <a:r>
              <a:rPr lang="en-AU" dirty="0"/>
              <a:t>Fluorine is added to an excess of ethane		 ____________________________</a:t>
            </a:r>
          </a:p>
        </p:txBody>
      </p:sp>
      <p:sp>
        <p:nvSpPr>
          <p:cNvPr id="21" name="TextBox 20"/>
          <p:cNvSpPr txBox="1"/>
          <p:nvPr/>
        </p:nvSpPr>
        <p:spPr>
          <a:xfrm>
            <a:off x="8138160" y="2384267"/>
            <a:ext cx="3017520" cy="584775"/>
          </a:xfrm>
          <a:prstGeom prst="rect">
            <a:avLst/>
          </a:prstGeom>
          <a:noFill/>
        </p:spPr>
        <p:txBody>
          <a:bodyPr wrap="square" rtlCol="0">
            <a:spAutoFit/>
          </a:bodyPr>
          <a:lstStyle/>
          <a:p>
            <a:r>
              <a:rPr lang="en-AU" sz="3200" b="1" dirty="0" err="1">
                <a:solidFill>
                  <a:srgbClr val="FF0000"/>
                </a:solidFill>
              </a:rPr>
              <a:t>fluoroethane</a:t>
            </a:r>
            <a:endParaRPr lang="en-AU" sz="3200" b="1" dirty="0">
              <a:solidFill>
                <a:srgbClr val="FF0000"/>
              </a:solidFill>
            </a:endParaRPr>
          </a:p>
        </p:txBody>
      </p:sp>
      <p:sp>
        <p:nvSpPr>
          <p:cNvPr id="22" name="TextBox 21"/>
          <p:cNvSpPr txBox="1"/>
          <p:nvPr/>
        </p:nvSpPr>
        <p:spPr>
          <a:xfrm>
            <a:off x="7807642" y="2969042"/>
            <a:ext cx="3678555" cy="584775"/>
          </a:xfrm>
          <a:prstGeom prst="rect">
            <a:avLst/>
          </a:prstGeom>
          <a:noFill/>
        </p:spPr>
        <p:txBody>
          <a:bodyPr wrap="square" rtlCol="0">
            <a:spAutoFit/>
          </a:bodyPr>
          <a:lstStyle/>
          <a:p>
            <a:r>
              <a:rPr lang="en-AU" sz="3200" b="1" dirty="0" err="1">
                <a:solidFill>
                  <a:srgbClr val="FF0000"/>
                </a:solidFill>
              </a:rPr>
              <a:t>hexafluoroethane</a:t>
            </a:r>
            <a:endParaRPr lang="en-AU" sz="3200" b="1" dirty="0">
              <a:solidFill>
                <a:srgbClr val="FF0000"/>
              </a:solidFill>
            </a:endParaRPr>
          </a:p>
        </p:txBody>
      </p:sp>
      <p:sp>
        <p:nvSpPr>
          <p:cNvPr id="23" name="TextBox 22"/>
          <p:cNvSpPr txBox="1"/>
          <p:nvPr/>
        </p:nvSpPr>
        <p:spPr>
          <a:xfrm>
            <a:off x="8138160" y="3662190"/>
            <a:ext cx="3678555" cy="584775"/>
          </a:xfrm>
          <a:prstGeom prst="rect">
            <a:avLst/>
          </a:prstGeom>
          <a:noFill/>
        </p:spPr>
        <p:txBody>
          <a:bodyPr wrap="square" rtlCol="0">
            <a:spAutoFit/>
          </a:bodyPr>
          <a:lstStyle/>
          <a:p>
            <a:r>
              <a:rPr lang="en-AU" sz="3200" b="1" dirty="0" err="1">
                <a:solidFill>
                  <a:srgbClr val="FF0000"/>
                </a:solidFill>
              </a:rPr>
              <a:t>fluoroethane</a:t>
            </a:r>
            <a:endParaRPr lang="en-AU" sz="3200" b="1" dirty="0">
              <a:solidFill>
                <a:srgbClr val="FF0000"/>
              </a:solidFill>
            </a:endParaRPr>
          </a:p>
        </p:txBody>
      </p:sp>
    </p:spTree>
    <p:extLst>
      <p:ext uri="{BB962C8B-B14F-4D97-AF65-F5344CB8AC3E}">
        <p14:creationId xmlns:p14="http://schemas.microsoft.com/office/powerpoint/2010/main" val="422121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fade">
                                      <p:cBhvr>
                                        <p:cTn id="1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2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Addition Reactions</a:t>
            </a:r>
          </a:p>
        </p:txBody>
      </p:sp>
      <p:sp>
        <p:nvSpPr>
          <p:cNvPr id="3" name="Content Placeholder 2"/>
          <p:cNvSpPr>
            <a:spLocks noGrp="1"/>
          </p:cNvSpPr>
          <p:nvPr>
            <p:ph idx="1"/>
          </p:nvPr>
        </p:nvSpPr>
        <p:spPr>
          <a:xfrm>
            <a:off x="1097280" y="1845733"/>
            <a:ext cx="10058400" cy="2459567"/>
          </a:xfrm>
        </p:spPr>
        <p:txBody>
          <a:bodyPr>
            <a:normAutofit/>
          </a:bodyPr>
          <a:lstStyle/>
          <a:p>
            <a:r>
              <a:rPr lang="en-AU" dirty="0"/>
              <a:t>Alkenes can do </a:t>
            </a:r>
            <a:r>
              <a:rPr lang="en-AU" b="1" dirty="0"/>
              <a:t>addition </a:t>
            </a:r>
            <a:r>
              <a:rPr lang="en-AU" dirty="0"/>
              <a:t>reactions with various substances. The double bond breaks and atoms are added to each carbon.</a:t>
            </a:r>
          </a:p>
          <a:p>
            <a:endParaRPr lang="en-AU" dirty="0"/>
          </a:p>
          <a:p>
            <a:r>
              <a:rPr lang="en-AU" b="1" dirty="0"/>
              <a:t>Halogenation:</a:t>
            </a:r>
          </a:p>
          <a:p>
            <a:endParaRPr lang="en-AU" dirty="0"/>
          </a:p>
          <a:p>
            <a:pPr marL="0" indent="0">
              <a:buNone/>
            </a:pPr>
            <a:endParaRPr lang="en-AU" sz="1100" dirty="0"/>
          </a:p>
        </p:txBody>
      </p:sp>
      <p:cxnSp>
        <p:nvCxnSpPr>
          <p:cNvPr id="5" name="Straight Arrow Connector 4"/>
          <p:cNvCxnSpPr/>
          <p:nvPr/>
        </p:nvCxnSpPr>
        <p:spPr>
          <a:xfrm>
            <a:off x="7371877" y="3274521"/>
            <a:ext cx="118110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5853068" y="3043689"/>
            <a:ext cx="1952625" cy="461665"/>
          </a:xfrm>
          <a:prstGeom prst="rect">
            <a:avLst/>
          </a:prstGeom>
          <a:noFill/>
        </p:spPr>
        <p:txBody>
          <a:bodyPr wrap="square" rtlCol="0">
            <a:spAutoFit/>
          </a:bodyPr>
          <a:lstStyle/>
          <a:p>
            <a:r>
              <a:rPr lang="en-AU" sz="2400" b="1" dirty="0">
                <a:latin typeface="Arial" panose="020B0604020202020204" pitchFamily="34" charset="0"/>
                <a:cs typeface="Arial" panose="020B0604020202020204" pitchFamily="34" charset="0"/>
              </a:rPr>
              <a:t>+  </a:t>
            </a:r>
            <a:r>
              <a:rPr lang="en-AU" sz="2400" b="1" dirty="0">
                <a:solidFill>
                  <a:srgbClr val="FF0000"/>
                </a:solidFill>
                <a:latin typeface="Arial" panose="020B0604020202020204" pitchFamily="34" charset="0"/>
                <a:cs typeface="Arial" panose="020B0604020202020204" pitchFamily="34" charset="0"/>
              </a:rPr>
              <a:t>Cℓ–Cℓ </a:t>
            </a:r>
          </a:p>
        </p:txBody>
      </p:sp>
      <p:sp>
        <p:nvSpPr>
          <p:cNvPr id="12" name="TextBox 11"/>
          <p:cNvSpPr txBox="1"/>
          <p:nvPr/>
        </p:nvSpPr>
        <p:spPr>
          <a:xfrm>
            <a:off x="3886685" y="4066839"/>
            <a:ext cx="2291236" cy="369332"/>
          </a:xfrm>
          <a:prstGeom prst="rect">
            <a:avLst/>
          </a:prstGeom>
          <a:noFill/>
        </p:spPr>
        <p:txBody>
          <a:bodyPr wrap="square" rtlCol="0">
            <a:spAutoFit/>
          </a:bodyPr>
          <a:lstStyle/>
          <a:p>
            <a:r>
              <a:rPr lang="en-AU" b="1" dirty="0">
                <a:solidFill>
                  <a:srgbClr val="0070C0"/>
                </a:solidFill>
              </a:rPr>
              <a:t>propene</a:t>
            </a:r>
          </a:p>
        </p:txBody>
      </p:sp>
      <p:sp>
        <p:nvSpPr>
          <p:cNvPr id="13" name="TextBox 12"/>
          <p:cNvSpPr txBox="1"/>
          <p:nvPr/>
        </p:nvSpPr>
        <p:spPr>
          <a:xfrm>
            <a:off x="6252216" y="4057314"/>
            <a:ext cx="2291236" cy="369332"/>
          </a:xfrm>
          <a:prstGeom prst="rect">
            <a:avLst/>
          </a:prstGeom>
          <a:noFill/>
        </p:spPr>
        <p:txBody>
          <a:bodyPr wrap="square" rtlCol="0">
            <a:spAutoFit/>
          </a:bodyPr>
          <a:lstStyle/>
          <a:p>
            <a:r>
              <a:rPr lang="en-AU" b="1" dirty="0">
                <a:solidFill>
                  <a:srgbClr val="0070C0"/>
                </a:solidFill>
              </a:rPr>
              <a:t>chlorine</a:t>
            </a:r>
          </a:p>
        </p:txBody>
      </p:sp>
      <p:sp>
        <p:nvSpPr>
          <p:cNvPr id="14" name="TextBox 13"/>
          <p:cNvSpPr txBox="1"/>
          <p:nvPr/>
        </p:nvSpPr>
        <p:spPr>
          <a:xfrm>
            <a:off x="9135478" y="4068538"/>
            <a:ext cx="2291236" cy="369332"/>
          </a:xfrm>
          <a:prstGeom prst="rect">
            <a:avLst/>
          </a:prstGeom>
          <a:noFill/>
        </p:spPr>
        <p:txBody>
          <a:bodyPr wrap="square" rtlCol="0">
            <a:spAutoFit/>
          </a:bodyPr>
          <a:lstStyle/>
          <a:p>
            <a:r>
              <a:rPr lang="en-AU" b="1" dirty="0">
                <a:solidFill>
                  <a:srgbClr val="0070C0"/>
                </a:solidFill>
              </a:rPr>
              <a:t>1,2-dichloropropane</a:t>
            </a:r>
          </a:p>
        </p:txBody>
      </p:sp>
      <p:pic>
        <p:nvPicPr>
          <p:cNvPr id="4" name="Picture 3"/>
          <p:cNvPicPr>
            <a:picLocks noChangeAspect="1"/>
          </p:cNvPicPr>
          <p:nvPr/>
        </p:nvPicPr>
        <p:blipFill>
          <a:blip r:embed="rId2"/>
          <a:stretch>
            <a:fillRect/>
          </a:stretch>
        </p:blipFill>
        <p:spPr>
          <a:xfrm>
            <a:off x="3272406" y="2610005"/>
            <a:ext cx="2484888" cy="1398189"/>
          </a:xfrm>
          <a:prstGeom prst="rect">
            <a:avLst/>
          </a:prstGeom>
        </p:spPr>
      </p:pic>
      <p:pic>
        <p:nvPicPr>
          <p:cNvPr id="6" name="Picture 5"/>
          <p:cNvPicPr>
            <a:picLocks noChangeAspect="1"/>
          </p:cNvPicPr>
          <p:nvPr/>
        </p:nvPicPr>
        <p:blipFill>
          <a:blip r:embed="rId3"/>
          <a:stretch>
            <a:fillRect/>
          </a:stretch>
        </p:blipFill>
        <p:spPr>
          <a:xfrm>
            <a:off x="8795809" y="2619167"/>
            <a:ext cx="2551954" cy="1447672"/>
          </a:xfrm>
          <a:prstGeom prst="rect">
            <a:avLst/>
          </a:prstGeom>
        </p:spPr>
      </p:pic>
      <p:sp>
        <p:nvSpPr>
          <p:cNvPr id="11" name="TextBox 10"/>
          <p:cNvSpPr txBox="1"/>
          <p:nvPr/>
        </p:nvSpPr>
        <p:spPr>
          <a:xfrm>
            <a:off x="9778681" y="2529844"/>
            <a:ext cx="630555" cy="461665"/>
          </a:xfrm>
          <a:prstGeom prst="rect">
            <a:avLst/>
          </a:prstGeom>
          <a:noFill/>
        </p:spPr>
        <p:txBody>
          <a:bodyPr wrap="square" rtlCol="0">
            <a:spAutoFit/>
          </a:bodyPr>
          <a:lstStyle/>
          <a:p>
            <a:r>
              <a:rPr lang="en-AU" sz="2400" b="1" dirty="0">
                <a:solidFill>
                  <a:srgbClr val="FF0000"/>
                </a:solidFill>
                <a:latin typeface="Arial" panose="020B0604020202020204" pitchFamily="34" charset="0"/>
                <a:cs typeface="Arial" panose="020B0604020202020204" pitchFamily="34" charset="0"/>
              </a:rPr>
              <a:t>Cℓ</a:t>
            </a:r>
            <a:endParaRPr lang="en-AU" sz="2400" b="1" dirty="0">
              <a:solidFill>
                <a:schemeClr val="accent3">
                  <a:lumMod val="75000"/>
                </a:schemeClr>
              </a:solidFill>
              <a:latin typeface="Arial" panose="020B0604020202020204" pitchFamily="34" charset="0"/>
              <a:cs typeface="Arial" panose="020B0604020202020204" pitchFamily="34" charset="0"/>
            </a:endParaRPr>
          </a:p>
        </p:txBody>
      </p:sp>
      <p:sp>
        <p:nvSpPr>
          <p:cNvPr id="18" name="TextBox 17"/>
          <p:cNvSpPr txBox="1"/>
          <p:nvPr/>
        </p:nvSpPr>
        <p:spPr>
          <a:xfrm>
            <a:off x="9220572" y="2520021"/>
            <a:ext cx="630555" cy="461665"/>
          </a:xfrm>
          <a:prstGeom prst="rect">
            <a:avLst/>
          </a:prstGeom>
          <a:noFill/>
        </p:spPr>
        <p:txBody>
          <a:bodyPr wrap="square" rtlCol="0">
            <a:spAutoFit/>
          </a:bodyPr>
          <a:lstStyle/>
          <a:p>
            <a:r>
              <a:rPr lang="en-AU" sz="2400" b="1" dirty="0">
                <a:solidFill>
                  <a:srgbClr val="FF0000"/>
                </a:solidFill>
                <a:latin typeface="Arial" panose="020B0604020202020204" pitchFamily="34" charset="0"/>
                <a:cs typeface="Arial" panose="020B0604020202020204" pitchFamily="34" charset="0"/>
              </a:rPr>
              <a:t>Cℓ</a:t>
            </a:r>
            <a:endParaRPr lang="en-AU" sz="2400" b="1" dirty="0">
              <a:solidFill>
                <a:schemeClr val="accent3">
                  <a:lumMod val="75000"/>
                </a:schemeClr>
              </a:solidFill>
              <a:latin typeface="Arial" panose="020B0604020202020204" pitchFamily="34" charset="0"/>
              <a:cs typeface="Arial" panose="020B0604020202020204" pitchFamily="34" charset="0"/>
            </a:endParaRPr>
          </a:p>
        </p:txBody>
      </p:sp>
      <p:sp>
        <p:nvSpPr>
          <p:cNvPr id="19" name="Content Placeholder 2"/>
          <p:cNvSpPr txBox="1">
            <a:spLocks/>
          </p:cNvSpPr>
          <p:nvPr/>
        </p:nvSpPr>
        <p:spPr>
          <a:xfrm>
            <a:off x="2066452" y="4703310"/>
            <a:ext cx="10058400" cy="2459567"/>
          </a:xfrm>
          <a:prstGeom prst="rect">
            <a:avLst/>
          </a:prstGeom>
        </p:spPr>
        <p:txBody>
          <a:bodyPr vert="horz" lIns="0" tIns="45720" rIns="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r>
              <a:rPr lang="en-AU" b="1" dirty="0"/>
              <a:t>Note: 1,2-dichloropropane can also undergo substitution if there is UV light and excess Cℓ</a:t>
            </a:r>
            <a:r>
              <a:rPr lang="en-AU" b="1" baseline="-25000" dirty="0"/>
              <a:t>2</a:t>
            </a:r>
            <a:r>
              <a:rPr lang="en-AU" b="1" dirty="0"/>
              <a:t>!!</a:t>
            </a:r>
            <a:endParaRPr lang="en-AU" sz="1100" b="1" dirty="0"/>
          </a:p>
        </p:txBody>
      </p:sp>
    </p:spTree>
    <p:extLst>
      <p:ext uri="{BB962C8B-B14F-4D97-AF65-F5344CB8AC3E}">
        <p14:creationId xmlns:p14="http://schemas.microsoft.com/office/powerpoint/2010/main" val="17701290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Addition Reactions</a:t>
            </a:r>
          </a:p>
        </p:txBody>
      </p:sp>
      <p:sp>
        <p:nvSpPr>
          <p:cNvPr id="3" name="Content Placeholder 2"/>
          <p:cNvSpPr>
            <a:spLocks noGrp="1"/>
          </p:cNvSpPr>
          <p:nvPr>
            <p:ph idx="1"/>
          </p:nvPr>
        </p:nvSpPr>
        <p:spPr>
          <a:xfrm>
            <a:off x="1097280" y="1845733"/>
            <a:ext cx="10058400" cy="2459567"/>
          </a:xfrm>
        </p:spPr>
        <p:txBody>
          <a:bodyPr>
            <a:normAutofit/>
          </a:bodyPr>
          <a:lstStyle/>
          <a:p>
            <a:r>
              <a:rPr lang="en-AU" dirty="0"/>
              <a:t>Alkenes can do </a:t>
            </a:r>
            <a:r>
              <a:rPr lang="en-AU" b="1" dirty="0"/>
              <a:t>addition </a:t>
            </a:r>
            <a:r>
              <a:rPr lang="en-AU" dirty="0"/>
              <a:t>reactions with various substances. The double bond breaks and atoms are added to each carbon.</a:t>
            </a:r>
          </a:p>
          <a:p>
            <a:endParaRPr lang="en-AU" dirty="0"/>
          </a:p>
          <a:p>
            <a:r>
              <a:rPr lang="en-AU" b="1" dirty="0"/>
              <a:t>Hydrogenation:</a:t>
            </a:r>
          </a:p>
          <a:p>
            <a:endParaRPr lang="en-AU" dirty="0"/>
          </a:p>
          <a:p>
            <a:pPr marL="0" indent="0">
              <a:buNone/>
            </a:pPr>
            <a:endParaRPr lang="en-AU" sz="1100" dirty="0"/>
          </a:p>
        </p:txBody>
      </p:sp>
      <p:cxnSp>
        <p:nvCxnSpPr>
          <p:cNvPr id="5" name="Straight Arrow Connector 4"/>
          <p:cNvCxnSpPr/>
          <p:nvPr/>
        </p:nvCxnSpPr>
        <p:spPr>
          <a:xfrm>
            <a:off x="7362352" y="3309099"/>
            <a:ext cx="118110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5843543" y="3046307"/>
            <a:ext cx="1275977" cy="461665"/>
          </a:xfrm>
          <a:prstGeom prst="rect">
            <a:avLst/>
          </a:prstGeom>
          <a:noFill/>
        </p:spPr>
        <p:txBody>
          <a:bodyPr wrap="square" rtlCol="0">
            <a:spAutoFit/>
          </a:bodyPr>
          <a:lstStyle/>
          <a:p>
            <a:r>
              <a:rPr lang="en-AU" sz="2400" b="1" dirty="0">
                <a:latin typeface="Arial" panose="020B0604020202020204" pitchFamily="34" charset="0"/>
                <a:cs typeface="Arial" panose="020B0604020202020204" pitchFamily="34" charset="0"/>
              </a:rPr>
              <a:t>+  </a:t>
            </a:r>
            <a:r>
              <a:rPr lang="en-AU" sz="2400" b="1" dirty="0">
                <a:solidFill>
                  <a:schemeClr val="accent3">
                    <a:lumMod val="75000"/>
                  </a:schemeClr>
                </a:solidFill>
                <a:latin typeface="Arial" panose="020B0604020202020204" pitchFamily="34" charset="0"/>
                <a:cs typeface="Arial" panose="020B0604020202020204" pitchFamily="34" charset="0"/>
              </a:rPr>
              <a:t>H–H </a:t>
            </a:r>
          </a:p>
        </p:txBody>
      </p:sp>
      <p:sp>
        <p:nvSpPr>
          <p:cNvPr id="12" name="TextBox 11"/>
          <p:cNvSpPr txBox="1"/>
          <p:nvPr/>
        </p:nvSpPr>
        <p:spPr>
          <a:xfrm>
            <a:off x="3886685" y="4120634"/>
            <a:ext cx="2291236" cy="369332"/>
          </a:xfrm>
          <a:prstGeom prst="rect">
            <a:avLst/>
          </a:prstGeom>
          <a:noFill/>
        </p:spPr>
        <p:txBody>
          <a:bodyPr wrap="square" rtlCol="0">
            <a:spAutoFit/>
          </a:bodyPr>
          <a:lstStyle/>
          <a:p>
            <a:r>
              <a:rPr lang="en-AU" b="1" dirty="0">
                <a:solidFill>
                  <a:srgbClr val="0070C0"/>
                </a:solidFill>
              </a:rPr>
              <a:t>propene</a:t>
            </a:r>
          </a:p>
        </p:txBody>
      </p:sp>
      <p:sp>
        <p:nvSpPr>
          <p:cNvPr id="13" name="TextBox 12"/>
          <p:cNvSpPr txBox="1"/>
          <p:nvPr/>
        </p:nvSpPr>
        <p:spPr>
          <a:xfrm>
            <a:off x="6080766" y="4120634"/>
            <a:ext cx="2291236" cy="369332"/>
          </a:xfrm>
          <a:prstGeom prst="rect">
            <a:avLst/>
          </a:prstGeom>
          <a:noFill/>
        </p:spPr>
        <p:txBody>
          <a:bodyPr wrap="square" rtlCol="0">
            <a:spAutoFit/>
          </a:bodyPr>
          <a:lstStyle/>
          <a:p>
            <a:r>
              <a:rPr lang="en-AU" b="1" dirty="0">
                <a:solidFill>
                  <a:srgbClr val="0070C0"/>
                </a:solidFill>
              </a:rPr>
              <a:t>hydrogen</a:t>
            </a:r>
          </a:p>
        </p:txBody>
      </p:sp>
      <p:sp>
        <p:nvSpPr>
          <p:cNvPr id="14" name="TextBox 13"/>
          <p:cNvSpPr txBox="1"/>
          <p:nvPr/>
        </p:nvSpPr>
        <p:spPr>
          <a:xfrm>
            <a:off x="9562539" y="4120634"/>
            <a:ext cx="1122947" cy="369332"/>
          </a:xfrm>
          <a:prstGeom prst="rect">
            <a:avLst/>
          </a:prstGeom>
          <a:noFill/>
        </p:spPr>
        <p:txBody>
          <a:bodyPr wrap="square" rtlCol="0">
            <a:spAutoFit/>
          </a:bodyPr>
          <a:lstStyle/>
          <a:p>
            <a:r>
              <a:rPr lang="en-AU" b="1" dirty="0">
                <a:solidFill>
                  <a:srgbClr val="0070C0"/>
                </a:solidFill>
              </a:rPr>
              <a:t>propane</a:t>
            </a:r>
          </a:p>
        </p:txBody>
      </p:sp>
      <p:pic>
        <p:nvPicPr>
          <p:cNvPr id="4" name="Picture 3"/>
          <p:cNvPicPr>
            <a:picLocks noChangeAspect="1"/>
          </p:cNvPicPr>
          <p:nvPr/>
        </p:nvPicPr>
        <p:blipFill>
          <a:blip r:embed="rId2"/>
          <a:stretch>
            <a:fillRect/>
          </a:stretch>
        </p:blipFill>
        <p:spPr>
          <a:xfrm>
            <a:off x="3272406" y="2610005"/>
            <a:ext cx="2484888" cy="1398189"/>
          </a:xfrm>
          <a:prstGeom prst="rect">
            <a:avLst/>
          </a:prstGeom>
        </p:spPr>
      </p:pic>
      <p:pic>
        <p:nvPicPr>
          <p:cNvPr id="6" name="Picture 5"/>
          <p:cNvPicPr>
            <a:picLocks noChangeAspect="1"/>
          </p:cNvPicPr>
          <p:nvPr/>
        </p:nvPicPr>
        <p:blipFill>
          <a:blip r:embed="rId3"/>
          <a:stretch>
            <a:fillRect/>
          </a:stretch>
        </p:blipFill>
        <p:spPr>
          <a:xfrm>
            <a:off x="8786284" y="2628301"/>
            <a:ext cx="2551954" cy="1447672"/>
          </a:xfrm>
          <a:prstGeom prst="rect">
            <a:avLst/>
          </a:prstGeom>
        </p:spPr>
      </p:pic>
      <p:sp>
        <p:nvSpPr>
          <p:cNvPr id="11" name="TextBox 10"/>
          <p:cNvSpPr txBox="1"/>
          <p:nvPr/>
        </p:nvSpPr>
        <p:spPr>
          <a:xfrm>
            <a:off x="9826306" y="2538978"/>
            <a:ext cx="630555" cy="461665"/>
          </a:xfrm>
          <a:prstGeom prst="rect">
            <a:avLst/>
          </a:prstGeom>
          <a:noFill/>
        </p:spPr>
        <p:txBody>
          <a:bodyPr wrap="square" rtlCol="0">
            <a:spAutoFit/>
          </a:bodyPr>
          <a:lstStyle/>
          <a:p>
            <a:r>
              <a:rPr lang="en-AU" sz="2400" b="1" dirty="0">
                <a:solidFill>
                  <a:schemeClr val="accent3">
                    <a:lumMod val="75000"/>
                  </a:schemeClr>
                </a:solidFill>
                <a:latin typeface="Arial" panose="020B0604020202020204" pitchFamily="34" charset="0"/>
                <a:cs typeface="Arial" panose="020B0604020202020204" pitchFamily="34" charset="0"/>
              </a:rPr>
              <a:t>H</a:t>
            </a:r>
          </a:p>
        </p:txBody>
      </p:sp>
      <p:sp>
        <p:nvSpPr>
          <p:cNvPr id="18" name="TextBox 17"/>
          <p:cNvSpPr txBox="1"/>
          <p:nvPr/>
        </p:nvSpPr>
        <p:spPr>
          <a:xfrm>
            <a:off x="9268197" y="2529155"/>
            <a:ext cx="630555" cy="461665"/>
          </a:xfrm>
          <a:prstGeom prst="rect">
            <a:avLst/>
          </a:prstGeom>
          <a:noFill/>
        </p:spPr>
        <p:txBody>
          <a:bodyPr wrap="square" rtlCol="0">
            <a:spAutoFit/>
          </a:bodyPr>
          <a:lstStyle/>
          <a:p>
            <a:r>
              <a:rPr lang="en-AU" sz="2400" b="1" dirty="0">
                <a:solidFill>
                  <a:schemeClr val="accent3">
                    <a:lumMod val="75000"/>
                  </a:schemeClr>
                </a:solidFill>
                <a:latin typeface="Arial" panose="020B0604020202020204" pitchFamily="34" charset="0"/>
                <a:cs typeface="Arial" panose="020B0604020202020204" pitchFamily="34" charset="0"/>
              </a:rPr>
              <a:t>H</a:t>
            </a:r>
          </a:p>
        </p:txBody>
      </p:sp>
      <p:sp>
        <p:nvSpPr>
          <p:cNvPr id="15" name="TextBox 14"/>
          <p:cNvSpPr txBox="1"/>
          <p:nvPr/>
        </p:nvSpPr>
        <p:spPr>
          <a:xfrm>
            <a:off x="7632724" y="2955156"/>
            <a:ext cx="1952625" cy="338554"/>
          </a:xfrm>
          <a:prstGeom prst="rect">
            <a:avLst/>
          </a:prstGeom>
          <a:noFill/>
        </p:spPr>
        <p:txBody>
          <a:bodyPr wrap="square" rtlCol="0">
            <a:spAutoFit/>
          </a:bodyPr>
          <a:lstStyle/>
          <a:p>
            <a:r>
              <a:rPr lang="en-AU" sz="1600" dirty="0">
                <a:latin typeface="Arial" panose="020B0604020202020204" pitchFamily="34" charset="0"/>
                <a:cs typeface="Arial" panose="020B0604020202020204" pitchFamily="34" charset="0"/>
              </a:rPr>
              <a:t>Ni</a:t>
            </a:r>
            <a:endParaRPr lang="en-AU" sz="1600"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246132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Addition Reactions</a:t>
            </a:r>
          </a:p>
        </p:txBody>
      </p:sp>
      <p:sp>
        <p:nvSpPr>
          <p:cNvPr id="3" name="Content Placeholder 2"/>
          <p:cNvSpPr>
            <a:spLocks noGrp="1"/>
          </p:cNvSpPr>
          <p:nvPr>
            <p:ph idx="1"/>
          </p:nvPr>
        </p:nvSpPr>
        <p:spPr>
          <a:xfrm>
            <a:off x="1097280" y="1845733"/>
            <a:ext cx="10058400" cy="2459567"/>
          </a:xfrm>
        </p:spPr>
        <p:txBody>
          <a:bodyPr>
            <a:normAutofit/>
          </a:bodyPr>
          <a:lstStyle/>
          <a:p>
            <a:r>
              <a:rPr lang="en-AU" b="1" dirty="0"/>
              <a:t>Hydration:</a:t>
            </a:r>
          </a:p>
          <a:p>
            <a:endParaRPr lang="en-AU" dirty="0"/>
          </a:p>
          <a:p>
            <a:pPr marL="0" indent="0">
              <a:buNone/>
            </a:pPr>
            <a:endParaRPr lang="en-AU" sz="1100" dirty="0"/>
          </a:p>
        </p:txBody>
      </p:sp>
      <p:cxnSp>
        <p:nvCxnSpPr>
          <p:cNvPr id="5" name="Straight Arrow Connector 4"/>
          <p:cNvCxnSpPr/>
          <p:nvPr/>
        </p:nvCxnSpPr>
        <p:spPr>
          <a:xfrm>
            <a:off x="4634678" y="3232806"/>
            <a:ext cx="1181100" cy="0"/>
          </a:xfrm>
          <a:prstGeom prst="straightConnector1">
            <a:avLst/>
          </a:prstGeom>
          <a:ln w="57150">
            <a:tailEnd type="triangle"/>
          </a:ln>
        </p:spPr>
        <p:style>
          <a:lnRef idx="1">
            <a:schemeClr val="dk1"/>
          </a:lnRef>
          <a:fillRef idx="0">
            <a:schemeClr val="dk1"/>
          </a:fillRef>
          <a:effectRef idx="0">
            <a:schemeClr val="dk1"/>
          </a:effectRef>
          <a:fontRef idx="minor">
            <a:schemeClr val="tx1"/>
          </a:fontRef>
        </p:style>
      </p:cxnSp>
      <p:sp>
        <p:nvSpPr>
          <p:cNvPr id="8" name="TextBox 7"/>
          <p:cNvSpPr txBox="1"/>
          <p:nvPr/>
        </p:nvSpPr>
        <p:spPr>
          <a:xfrm>
            <a:off x="3115869" y="2970014"/>
            <a:ext cx="1606623" cy="461665"/>
          </a:xfrm>
          <a:prstGeom prst="rect">
            <a:avLst/>
          </a:prstGeom>
          <a:noFill/>
        </p:spPr>
        <p:txBody>
          <a:bodyPr wrap="square" rtlCol="0">
            <a:spAutoFit/>
          </a:bodyPr>
          <a:lstStyle/>
          <a:p>
            <a:r>
              <a:rPr lang="en-AU" sz="2400" b="1" dirty="0">
                <a:latin typeface="Arial" panose="020B0604020202020204" pitchFamily="34" charset="0"/>
                <a:cs typeface="Arial" panose="020B0604020202020204" pitchFamily="34" charset="0"/>
              </a:rPr>
              <a:t>+  </a:t>
            </a:r>
            <a:r>
              <a:rPr lang="en-AU" sz="2400" b="1" dirty="0">
                <a:solidFill>
                  <a:schemeClr val="accent3">
                    <a:lumMod val="75000"/>
                  </a:schemeClr>
                </a:solidFill>
                <a:latin typeface="Arial" panose="020B0604020202020204" pitchFamily="34" charset="0"/>
                <a:cs typeface="Arial" panose="020B0604020202020204" pitchFamily="34" charset="0"/>
              </a:rPr>
              <a:t>H–</a:t>
            </a:r>
            <a:r>
              <a:rPr lang="en-AU" sz="2400" b="1" dirty="0">
                <a:solidFill>
                  <a:srgbClr val="FF0000"/>
                </a:solidFill>
                <a:latin typeface="Arial" panose="020B0604020202020204" pitchFamily="34" charset="0"/>
                <a:cs typeface="Arial" panose="020B0604020202020204" pitchFamily="34" charset="0"/>
              </a:rPr>
              <a:t>O–H</a:t>
            </a:r>
            <a:r>
              <a:rPr lang="en-AU" sz="2400" b="1" dirty="0">
                <a:solidFill>
                  <a:schemeClr val="accent3">
                    <a:lumMod val="75000"/>
                  </a:schemeClr>
                </a:solidFill>
                <a:latin typeface="Arial" panose="020B0604020202020204" pitchFamily="34" charset="0"/>
                <a:cs typeface="Arial" panose="020B0604020202020204" pitchFamily="34" charset="0"/>
              </a:rPr>
              <a:t>  </a:t>
            </a:r>
          </a:p>
        </p:txBody>
      </p:sp>
      <p:sp>
        <p:nvSpPr>
          <p:cNvPr id="12" name="TextBox 11"/>
          <p:cNvSpPr txBox="1"/>
          <p:nvPr/>
        </p:nvSpPr>
        <p:spPr>
          <a:xfrm>
            <a:off x="1159011" y="4044341"/>
            <a:ext cx="2291236" cy="369332"/>
          </a:xfrm>
          <a:prstGeom prst="rect">
            <a:avLst/>
          </a:prstGeom>
          <a:noFill/>
        </p:spPr>
        <p:txBody>
          <a:bodyPr wrap="square" rtlCol="0">
            <a:spAutoFit/>
          </a:bodyPr>
          <a:lstStyle/>
          <a:p>
            <a:r>
              <a:rPr lang="en-AU" b="1" dirty="0">
                <a:solidFill>
                  <a:srgbClr val="0070C0"/>
                </a:solidFill>
              </a:rPr>
              <a:t>propene</a:t>
            </a:r>
          </a:p>
        </p:txBody>
      </p:sp>
      <p:sp>
        <p:nvSpPr>
          <p:cNvPr id="13" name="TextBox 12"/>
          <p:cNvSpPr txBox="1"/>
          <p:nvPr/>
        </p:nvSpPr>
        <p:spPr>
          <a:xfrm>
            <a:off x="3742053" y="4044341"/>
            <a:ext cx="892625" cy="369332"/>
          </a:xfrm>
          <a:prstGeom prst="rect">
            <a:avLst/>
          </a:prstGeom>
          <a:noFill/>
        </p:spPr>
        <p:txBody>
          <a:bodyPr wrap="square" rtlCol="0">
            <a:spAutoFit/>
          </a:bodyPr>
          <a:lstStyle/>
          <a:p>
            <a:r>
              <a:rPr lang="en-AU" b="1" dirty="0">
                <a:solidFill>
                  <a:srgbClr val="0070C0"/>
                </a:solidFill>
              </a:rPr>
              <a:t>water</a:t>
            </a:r>
          </a:p>
        </p:txBody>
      </p:sp>
      <p:pic>
        <p:nvPicPr>
          <p:cNvPr id="4" name="Picture 3"/>
          <p:cNvPicPr>
            <a:picLocks noChangeAspect="1"/>
          </p:cNvPicPr>
          <p:nvPr/>
        </p:nvPicPr>
        <p:blipFill>
          <a:blip r:embed="rId2"/>
          <a:stretch>
            <a:fillRect/>
          </a:stretch>
        </p:blipFill>
        <p:spPr>
          <a:xfrm>
            <a:off x="544732" y="2533712"/>
            <a:ext cx="2484888" cy="1398189"/>
          </a:xfrm>
          <a:prstGeom prst="rect">
            <a:avLst/>
          </a:prstGeom>
        </p:spPr>
      </p:pic>
      <p:grpSp>
        <p:nvGrpSpPr>
          <p:cNvPr id="10" name="Group 9"/>
          <p:cNvGrpSpPr/>
          <p:nvPr/>
        </p:nvGrpSpPr>
        <p:grpSpPr>
          <a:xfrm>
            <a:off x="9537861" y="2386522"/>
            <a:ext cx="2551954" cy="1960811"/>
            <a:chOff x="9640046" y="2355741"/>
            <a:chExt cx="2551954" cy="1960811"/>
          </a:xfrm>
        </p:grpSpPr>
        <p:sp>
          <p:nvSpPr>
            <p:cNvPr id="14" name="TextBox 13"/>
            <p:cNvSpPr txBox="1"/>
            <p:nvPr/>
          </p:nvSpPr>
          <p:spPr>
            <a:xfrm>
              <a:off x="10305297" y="3947220"/>
              <a:ext cx="1515036" cy="369332"/>
            </a:xfrm>
            <a:prstGeom prst="rect">
              <a:avLst/>
            </a:prstGeom>
            <a:noFill/>
          </p:spPr>
          <p:txBody>
            <a:bodyPr wrap="square" rtlCol="0">
              <a:spAutoFit/>
            </a:bodyPr>
            <a:lstStyle/>
            <a:p>
              <a:r>
                <a:rPr lang="en-AU" b="1" dirty="0">
                  <a:solidFill>
                    <a:srgbClr val="0070C0"/>
                  </a:solidFill>
                </a:rPr>
                <a:t>propan-2-ol</a:t>
              </a:r>
            </a:p>
          </p:txBody>
        </p:sp>
        <p:pic>
          <p:nvPicPr>
            <p:cNvPr id="6" name="Picture 5"/>
            <p:cNvPicPr>
              <a:picLocks noChangeAspect="1"/>
            </p:cNvPicPr>
            <p:nvPr/>
          </p:nvPicPr>
          <p:blipFill>
            <a:blip r:embed="rId3"/>
            <a:stretch>
              <a:fillRect/>
            </a:stretch>
          </p:blipFill>
          <p:spPr>
            <a:xfrm>
              <a:off x="9640046" y="2454887"/>
              <a:ext cx="2551954" cy="1447672"/>
            </a:xfrm>
            <a:prstGeom prst="rect">
              <a:avLst/>
            </a:prstGeom>
          </p:spPr>
        </p:pic>
        <p:sp>
          <p:nvSpPr>
            <p:cNvPr id="11" name="TextBox 10"/>
            <p:cNvSpPr txBox="1"/>
            <p:nvPr/>
          </p:nvSpPr>
          <p:spPr>
            <a:xfrm>
              <a:off x="10680068" y="2365564"/>
              <a:ext cx="765494" cy="461665"/>
            </a:xfrm>
            <a:prstGeom prst="rect">
              <a:avLst/>
            </a:prstGeom>
            <a:noFill/>
          </p:spPr>
          <p:txBody>
            <a:bodyPr wrap="square" rtlCol="0">
              <a:spAutoFit/>
            </a:bodyPr>
            <a:lstStyle/>
            <a:p>
              <a:r>
                <a:rPr lang="en-AU" sz="2400" b="1" dirty="0">
                  <a:solidFill>
                    <a:srgbClr val="FF0000"/>
                  </a:solidFill>
                  <a:latin typeface="Arial" panose="020B0604020202020204" pitchFamily="34" charset="0"/>
                  <a:cs typeface="Arial" panose="020B0604020202020204" pitchFamily="34" charset="0"/>
                </a:rPr>
                <a:t>OH</a:t>
              </a:r>
            </a:p>
          </p:txBody>
        </p:sp>
        <p:sp>
          <p:nvSpPr>
            <p:cNvPr id="18" name="TextBox 17"/>
            <p:cNvSpPr txBox="1"/>
            <p:nvPr/>
          </p:nvSpPr>
          <p:spPr>
            <a:xfrm>
              <a:off x="10121959" y="2355741"/>
              <a:ext cx="630555" cy="461665"/>
            </a:xfrm>
            <a:prstGeom prst="rect">
              <a:avLst/>
            </a:prstGeom>
            <a:noFill/>
          </p:spPr>
          <p:txBody>
            <a:bodyPr wrap="square" rtlCol="0">
              <a:spAutoFit/>
            </a:bodyPr>
            <a:lstStyle/>
            <a:p>
              <a:r>
                <a:rPr lang="en-AU" sz="2400" b="1" dirty="0">
                  <a:solidFill>
                    <a:schemeClr val="accent3">
                      <a:lumMod val="75000"/>
                    </a:schemeClr>
                  </a:solidFill>
                  <a:latin typeface="Arial" panose="020B0604020202020204" pitchFamily="34" charset="0"/>
                  <a:cs typeface="Arial" panose="020B0604020202020204" pitchFamily="34" charset="0"/>
                </a:rPr>
                <a:t>H</a:t>
              </a:r>
            </a:p>
          </p:txBody>
        </p:sp>
      </p:grpSp>
      <p:sp>
        <p:nvSpPr>
          <p:cNvPr id="15" name="TextBox 14"/>
          <p:cNvSpPr txBox="1"/>
          <p:nvPr/>
        </p:nvSpPr>
        <p:spPr>
          <a:xfrm>
            <a:off x="4752813" y="2878863"/>
            <a:ext cx="939613" cy="338554"/>
          </a:xfrm>
          <a:prstGeom prst="rect">
            <a:avLst/>
          </a:prstGeom>
          <a:noFill/>
        </p:spPr>
        <p:txBody>
          <a:bodyPr wrap="square" rtlCol="0">
            <a:spAutoFit/>
          </a:bodyPr>
          <a:lstStyle/>
          <a:p>
            <a:r>
              <a:rPr lang="en-AU" sz="1600" dirty="0">
                <a:latin typeface="Arial" panose="020B0604020202020204" pitchFamily="34" charset="0"/>
                <a:cs typeface="Arial" panose="020B0604020202020204" pitchFamily="34" charset="0"/>
              </a:rPr>
              <a:t>H</a:t>
            </a:r>
            <a:r>
              <a:rPr lang="en-AU" sz="1600" baseline="-25000" dirty="0">
                <a:latin typeface="Arial" panose="020B0604020202020204" pitchFamily="34" charset="0"/>
                <a:cs typeface="Arial" panose="020B0604020202020204" pitchFamily="34" charset="0"/>
              </a:rPr>
              <a:t>2</a:t>
            </a:r>
            <a:r>
              <a:rPr lang="en-AU" sz="1600" dirty="0">
                <a:latin typeface="Arial" panose="020B0604020202020204" pitchFamily="34" charset="0"/>
                <a:cs typeface="Arial" panose="020B0604020202020204" pitchFamily="34" charset="0"/>
              </a:rPr>
              <a:t>SO</a:t>
            </a:r>
            <a:r>
              <a:rPr lang="en-AU" sz="1600" baseline="-25000" dirty="0">
                <a:latin typeface="Arial" panose="020B0604020202020204" pitchFamily="34" charset="0"/>
                <a:cs typeface="Arial" panose="020B0604020202020204" pitchFamily="34" charset="0"/>
              </a:rPr>
              <a:t>4</a:t>
            </a:r>
            <a:endParaRPr lang="en-AU" sz="1600" dirty="0">
              <a:solidFill>
                <a:srgbClr val="FF0000"/>
              </a:solidFill>
              <a:latin typeface="Arial" panose="020B0604020202020204" pitchFamily="34" charset="0"/>
              <a:cs typeface="Arial" panose="020B0604020202020204" pitchFamily="34" charset="0"/>
            </a:endParaRPr>
          </a:p>
        </p:txBody>
      </p:sp>
      <p:grpSp>
        <p:nvGrpSpPr>
          <p:cNvPr id="9" name="Group 8"/>
          <p:cNvGrpSpPr/>
          <p:nvPr/>
        </p:nvGrpSpPr>
        <p:grpSpPr>
          <a:xfrm>
            <a:off x="6060471" y="2408749"/>
            <a:ext cx="2551954" cy="1960812"/>
            <a:chOff x="6586259" y="2363316"/>
            <a:chExt cx="2551954" cy="1960812"/>
          </a:xfrm>
        </p:grpSpPr>
        <p:sp>
          <p:nvSpPr>
            <p:cNvPr id="21" name="TextBox 20"/>
            <p:cNvSpPr txBox="1"/>
            <p:nvPr/>
          </p:nvSpPr>
          <p:spPr>
            <a:xfrm>
              <a:off x="7251510" y="3954796"/>
              <a:ext cx="1515036" cy="369332"/>
            </a:xfrm>
            <a:prstGeom prst="rect">
              <a:avLst/>
            </a:prstGeom>
            <a:noFill/>
          </p:spPr>
          <p:txBody>
            <a:bodyPr wrap="square" rtlCol="0">
              <a:spAutoFit/>
            </a:bodyPr>
            <a:lstStyle/>
            <a:p>
              <a:r>
                <a:rPr lang="en-AU" b="1" dirty="0">
                  <a:solidFill>
                    <a:srgbClr val="0070C0"/>
                  </a:solidFill>
                </a:rPr>
                <a:t>propan-1-ol</a:t>
              </a:r>
            </a:p>
          </p:txBody>
        </p:sp>
        <p:pic>
          <p:nvPicPr>
            <p:cNvPr id="22" name="Picture 21"/>
            <p:cNvPicPr>
              <a:picLocks noChangeAspect="1"/>
            </p:cNvPicPr>
            <p:nvPr/>
          </p:nvPicPr>
          <p:blipFill>
            <a:blip r:embed="rId3"/>
            <a:stretch>
              <a:fillRect/>
            </a:stretch>
          </p:blipFill>
          <p:spPr>
            <a:xfrm>
              <a:off x="6586259" y="2462463"/>
              <a:ext cx="2551954" cy="1447672"/>
            </a:xfrm>
            <a:prstGeom prst="rect">
              <a:avLst/>
            </a:prstGeom>
          </p:spPr>
        </p:pic>
        <p:sp>
          <p:nvSpPr>
            <p:cNvPr id="23" name="TextBox 22"/>
            <p:cNvSpPr txBox="1"/>
            <p:nvPr/>
          </p:nvSpPr>
          <p:spPr>
            <a:xfrm>
              <a:off x="7028799" y="2363316"/>
              <a:ext cx="765494" cy="461665"/>
            </a:xfrm>
            <a:prstGeom prst="rect">
              <a:avLst/>
            </a:prstGeom>
            <a:noFill/>
          </p:spPr>
          <p:txBody>
            <a:bodyPr wrap="square" rtlCol="0">
              <a:spAutoFit/>
            </a:bodyPr>
            <a:lstStyle/>
            <a:p>
              <a:r>
                <a:rPr lang="en-AU" sz="2400" b="1" dirty="0">
                  <a:solidFill>
                    <a:srgbClr val="FF0000"/>
                  </a:solidFill>
                  <a:latin typeface="Arial" panose="020B0604020202020204" pitchFamily="34" charset="0"/>
                  <a:cs typeface="Arial" panose="020B0604020202020204" pitchFamily="34" charset="0"/>
                </a:rPr>
                <a:t>OH</a:t>
              </a:r>
            </a:p>
          </p:txBody>
        </p:sp>
        <p:sp>
          <p:nvSpPr>
            <p:cNvPr id="24" name="TextBox 23"/>
            <p:cNvSpPr txBox="1"/>
            <p:nvPr/>
          </p:nvSpPr>
          <p:spPr>
            <a:xfrm>
              <a:off x="7652502" y="2363317"/>
              <a:ext cx="630555" cy="461665"/>
            </a:xfrm>
            <a:prstGeom prst="rect">
              <a:avLst/>
            </a:prstGeom>
            <a:noFill/>
          </p:spPr>
          <p:txBody>
            <a:bodyPr wrap="square" rtlCol="0">
              <a:spAutoFit/>
            </a:bodyPr>
            <a:lstStyle/>
            <a:p>
              <a:r>
                <a:rPr lang="en-AU" sz="2400" b="1" dirty="0">
                  <a:solidFill>
                    <a:schemeClr val="accent3">
                      <a:lumMod val="75000"/>
                    </a:schemeClr>
                  </a:solidFill>
                  <a:latin typeface="Arial" panose="020B0604020202020204" pitchFamily="34" charset="0"/>
                  <a:cs typeface="Arial" panose="020B0604020202020204" pitchFamily="34" charset="0"/>
                </a:rPr>
                <a:t>H</a:t>
              </a:r>
            </a:p>
          </p:txBody>
        </p:sp>
      </p:grpSp>
      <p:sp>
        <p:nvSpPr>
          <p:cNvPr id="25" name="TextBox 24"/>
          <p:cNvSpPr txBox="1"/>
          <p:nvPr/>
        </p:nvSpPr>
        <p:spPr>
          <a:xfrm>
            <a:off x="8723277" y="3393084"/>
            <a:ext cx="1952625" cy="461665"/>
          </a:xfrm>
          <a:prstGeom prst="rect">
            <a:avLst/>
          </a:prstGeom>
          <a:noFill/>
        </p:spPr>
        <p:txBody>
          <a:bodyPr wrap="square" rtlCol="0">
            <a:spAutoFit/>
          </a:bodyPr>
          <a:lstStyle/>
          <a:p>
            <a:r>
              <a:rPr lang="en-AU" sz="2400" b="1" i="1" u="sng" dirty="0">
                <a:latin typeface="Arial" panose="020B0604020202020204" pitchFamily="34" charset="0"/>
                <a:cs typeface="Arial" panose="020B0604020202020204" pitchFamily="34" charset="0"/>
              </a:rPr>
              <a:t>OR</a:t>
            </a:r>
            <a:endParaRPr lang="en-AU" sz="2400" b="1" i="1" u="sng" dirty="0">
              <a:solidFill>
                <a:srgbClr val="FF00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93512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Chemical tests for alkanes and alkenes</a:t>
            </a:r>
          </a:p>
        </p:txBody>
      </p:sp>
      <p:sp>
        <p:nvSpPr>
          <p:cNvPr id="3" name="Content Placeholder 2"/>
          <p:cNvSpPr>
            <a:spLocks noGrp="1"/>
          </p:cNvSpPr>
          <p:nvPr>
            <p:ph idx="1"/>
          </p:nvPr>
        </p:nvSpPr>
        <p:spPr>
          <a:xfrm>
            <a:off x="1097280" y="1845733"/>
            <a:ext cx="10058400" cy="2459567"/>
          </a:xfrm>
        </p:spPr>
        <p:txBody>
          <a:bodyPr>
            <a:normAutofit/>
          </a:bodyPr>
          <a:lstStyle/>
          <a:p>
            <a:r>
              <a:rPr lang="en-AU" dirty="0"/>
              <a:t>Addition reactions with Br</a:t>
            </a:r>
            <a:r>
              <a:rPr lang="en-AU" baseline="-25000" dirty="0"/>
              <a:t>2</a:t>
            </a:r>
            <a:r>
              <a:rPr lang="en-AU" dirty="0"/>
              <a:t> can be a way to chemically distinguish between alkanes and alkenes. </a:t>
            </a:r>
          </a:p>
          <a:p>
            <a:r>
              <a:rPr lang="en-AU" dirty="0"/>
              <a:t>Addition of Br</a:t>
            </a:r>
            <a:r>
              <a:rPr lang="en-AU" baseline="-25000" dirty="0"/>
              <a:t>2</a:t>
            </a:r>
            <a:r>
              <a:rPr lang="en-AU" dirty="0"/>
              <a:t> to the alkene will cause the reddish-brown colour of the solution to fade quickly.</a:t>
            </a:r>
          </a:p>
        </p:txBody>
      </p:sp>
      <p:pic>
        <p:nvPicPr>
          <p:cNvPr id="17" name="Picture 16"/>
          <p:cNvPicPr>
            <a:picLocks noChangeAspect="1"/>
          </p:cNvPicPr>
          <p:nvPr/>
        </p:nvPicPr>
        <p:blipFill>
          <a:blip r:embed="rId2"/>
          <a:stretch>
            <a:fillRect/>
          </a:stretch>
        </p:blipFill>
        <p:spPr>
          <a:xfrm>
            <a:off x="2588170" y="2937084"/>
            <a:ext cx="6964382" cy="2953177"/>
          </a:xfrm>
          <a:prstGeom prst="rect">
            <a:avLst/>
          </a:prstGeom>
        </p:spPr>
      </p:pic>
    </p:spTree>
    <p:extLst>
      <p:ext uri="{BB962C8B-B14F-4D97-AF65-F5344CB8AC3E}">
        <p14:creationId xmlns:p14="http://schemas.microsoft.com/office/powerpoint/2010/main" val="11411706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Reaction flowchart</a:t>
            </a:r>
          </a:p>
        </p:txBody>
      </p:sp>
      <p:sp>
        <p:nvSpPr>
          <p:cNvPr id="30" name="Oval 29"/>
          <p:cNvSpPr/>
          <p:nvPr/>
        </p:nvSpPr>
        <p:spPr>
          <a:xfrm>
            <a:off x="1097280" y="4099560"/>
            <a:ext cx="3057525" cy="1247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b="1" dirty="0"/>
              <a:t>Alkanes</a:t>
            </a:r>
          </a:p>
        </p:txBody>
      </p:sp>
      <p:sp>
        <p:nvSpPr>
          <p:cNvPr id="31" name="Oval 30"/>
          <p:cNvSpPr/>
          <p:nvPr/>
        </p:nvSpPr>
        <p:spPr>
          <a:xfrm>
            <a:off x="4931092" y="4099559"/>
            <a:ext cx="3057525" cy="1247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b="1" dirty="0"/>
              <a:t>Alkenes</a:t>
            </a:r>
          </a:p>
        </p:txBody>
      </p:sp>
      <p:sp>
        <p:nvSpPr>
          <p:cNvPr id="17" name="Curved Down Arrow 16"/>
          <p:cNvSpPr/>
          <p:nvPr/>
        </p:nvSpPr>
        <p:spPr>
          <a:xfrm flipH="1" flipV="1">
            <a:off x="3197064" y="5347334"/>
            <a:ext cx="2581275" cy="539116"/>
          </a:xfrm>
          <a:prstGeom prst="curved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a:solidFill>
                <a:schemeClr val="tx1"/>
              </a:solidFill>
            </a:endParaRPr>
          </a:p>
        </p:txBody>
      </p:sp>
      <p:sp>
        <p:nvSpPr>
          <p:cNvPr id="38" name="TextBox 37"/>
          <p:cNvSpPr txBox="1"/>
          <p:nvPr/>
        </p:nvSpPr>
        <p:spPr>
          <a:xfrm>
            <a:off x="3608415" y="5892401"/>
            <a:ext cx="3012280" cy="369332"/>
          </a:xfrm>
          <a:prstGeom prst="rect">
            <a:avLst/>
          </a:prstGeom>
          <a:noFill/>
        </p:spPr>
        <p:txBody>
          <a:bodyPr wrap="square" rtlCol="0">
            <a:spAutoFit/>
          </a:bodyPr>
          <a:lstStyle/>
          <a:p>
            <a:r>
              <a:rPr lang="en-AU" b="1" dirty="0"/>
              <a:t>Addition with H</a:t>
            </a:r>
            <a:r>
              <a:rPr lang="en-AU" b="1" baseline="-25000" dirty="0"/>
              <a:t>2</a:t>
            </a:r>
            <a:endParaRPr lang="en-AU" b="1" dirty="0"/>
          </a:p>
        </p:txBody>
      </p:sp>
      <p:grpSp>
        <p:nvGrpSpPr>
          <p:cNvPr id="40" name="Group 39"/>
          <p:cNvGrpSpPr/>
          <p:nvPr/>
        </p:nvGrpSpPr>
        <p:grpSpPr>
          <a:xfrm>
            <a:off x="1697924" y="1252142"/>
            <a:ext cx="10124506" cy="4977325"/>
            <a:chOff x="1697924" y="1252142"/>
            <a:chExt cx="10124506" cy="4977325"/>
          </a:xfrm>
        </p:grpSpPr>
        <p:sp>
          <p:nvSpPr>
            <p:cNvPr id="28" name="Oval 27"/>
            <p:cNvSpPr/>
            <p:nvPr/>
          </p:nvSpPr>
          <p:spPr>
            <a:xfrm>
              <a:off x="3000374" y="1937385"/>
              <a:ext cx="3057525" cy="1247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b="1" dirty="0" err="1"/>
                <a:t>Haloalkanes</a:t>
              </a:r>
              <a:endParaRPr lang="en-AU" sz="2800" b="1" dirty="0"/>
            </a:p>
          </p:txBody>
        </p:sp>
        <p:sp>
          <p:nvSpPr>
            <p:cNvPr id="32" name="Oval 31"/>
            <p:cNvSpPr/>
            <p:nvPr/>
          </p:nvSpPr>
          <p:spPr>
            <a:xfrm>
              <a:off x="8764905" y="4099559"/>
              <a:ext cx="3057525" cy="124777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sz="2800" b="1" dirty="0"/>
                <a:t>Alcohols</a:t>
              </a:r>
            </a:p>
          </p:txBody>
        </p:sp>
        <p:sp>
          <p:nvSpPr>
            <p:cNvPr id="33" name="Curved Down Arrow 32"/>
            <p:cNvSpPr/>
            <p:nvPr/>
          </p:nvSpPr>
          <p:spPr>
            <a:xfrm rot="7628156" flipH="1" flipV="1">
              <a:off x="912365" y="2815649"/>
              <a:ext cx="2581275" cy="539116"/>
            </a:xfrm>
            <a:prstGeom prst="curved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a:solidFill>
                  <a:schemeClr val="tx1"/>
                </a:solidFill>
              </a:endParaRPr>
            </a:p>
          </p:txBody>
        </p:sp>
        <p:sp>
          <p:nvSpPr>
            <p:cNvPr id="34" name="Curved Down Arrow 33"/>
            <p:cNvSpPr/>
            <p:nvPr/>
          </p:nvSpPr>
          <p:spPr>
            <a:xfrm rot="13686018" flipV="1">
              <a:off x="5718160" y="2856030"/>
              <a:ext cx="2581275" cy="539116"/>
            </a:xfrm>
            <a:prstGeom prst="curved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a:solidFill>
                  <a:schemeClr val="tx1"/>
                </a:solidFill>
              </a:endParaRPr>
            </a:p>
          </p:txBody>
        </p:sp>
        <p:sp>
          <p:nvSpPr>
            <p:cNvPr id="36" name="Curved Down Arrow 35"/>
            <p:cNvSpPr/>
            <p:nvPr/>
          </p:nvSpPr>
          <p:spPr>
            <a:xfrm flipV="1">
              <a:off x="7141370" y="5347334"/>
              <a:ext cx="2581275" cy="539116"/>
            </a:xfrm>
            <a:prstGeom prst="curved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AU">
                <a:solidFill>
                  <a:schemeClr val="tx1"/>
                </a:solidFill>
              </a:endParaRPr>
            </a:p>
          </p:txBody>
        </p:sp>
        <p:sp>
          <p:nvSpPr>
            <p:cNvPr id="19" name="TextBox 18"/>
            <p:cNvSpPr txBox="1"/>
            <p:nvPr/>
          </p:nvSpPr>
          <p:spPr>
            <a:xfrm rot="18445455">
              <a:off x="376450" y="2573616"/>
              <a:ext cx="3012280" cy="369332"/>
            </a:xfrm>
            <a:prstGeom prst="rect">
              <a:avLst/>
            </a:prstGeom>
            <a:noFill/>
          </p:spPr>
          <p:txBody>
            <a:bodyPr wrap="square" rtlCol="0">
              <a:spAutoFit/>
            </a:bodyPr>
            <a:lstStyle/>
            <a:p>
              <a:r>
                <a:rPr lang="en-AU" b="1" dirty="0"/>
                <a:t>Substitution with halogen</a:t>
              </a:r>
            </a:p>
          </p:txBody>
        </p:sp>
        <p:sp>
          <p:nvSpPr>
            <p:cNvPr id="37" name="TextBox 36"/>
            <p:cNvSpPr txBox="1"/>
            <p:nvPr/>
          </p:nvSpPr>
          <p:spPr>
            <a:xfrm>
              <a:off x="7463050" y="5860135"/>
              <a:ext cx="3012280" cy="369332"/>
            </a:xfrm>
            <a:prstGeom prst="rect">
              <a:avLst/>
            </a:prstGeom>
            <a:noFill/>
          </p:spPr>
          <p:txBody>
            <a:bodyPr wrap="square" rtlCol="0">
              <a:spAutoFit/>
            </a:bodyPr>
            <a:lstStyle/>
            <a:p>
              <a:r>
                <a:rPr lang="en-AU" b="1" dirty="0"/>
                <a:t>Addition with H</a:t>
              </a:r>
              <a:r>
                <a:rPr lang="en-AU" b="1" baseline="-25000" dirty="0"/>
                <a:t>2</a:t>
              </a:r>
              <a:r>
                <a:rPr lang="en-AU" b="1" dirty="0"/>
                <a:t>O</a:t>
              </a:r>
            </a:p>
          </p:txBody>
        </p:sp>
        <p:sp>
          <p:nvSpPr>
            <p:cNvPr id="39" name="TextBox 38"/>
            <p:cNvSpPr txBox="1"/>
            <p:nvPr/>
          </p:nvSpPr>
          <p:spPr>
            <a:xfrm rot="3261121">
              <a:off x="6250444" y="3083216"/>
              <a:ext cx="3012280" cy="369332"/>
            </a:xfrm>
            <a:prstGeom prst="rect">
              <a:avLst/>
            </a:prstGeom>
            <a:noFill/>
          </p:spPr>
          <p:txBody>
            <a:bodyPr wrap="square" rtlCol="0">
              <a:spAutoFit/>
            </a:bodyPr>
            <a:lstStyle/>
            <a:p>
              <a:r>
                <a:rPr lang="en-AU" b="1" dirty="0"/>
                <a:t>Addition with halogen</a:t>
              </a:r>
            </a:p>
          </p:txBody>
        </p:sp>
      </p:grpSp>
    </p:spTree>
    <p:extLst>
      <p:ext uri="{BB962C8B-B14F-4D97-AF65-F5344CB8AC3E}">
        <p14:creationId xmlns:p14="http://schemas.microsoft.com/office/powerpoint/2010/main" val="4225101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Functional groups</a:t>
            </a:r>
          </a:p>
        </p:txBody>
      </p:sp>
      <p:sp>
        <p:nvSpPr>
          <p:cNvPr id="7" name="Content Placeholder 6"/>
          <p:cNvSpPr>
            <a:spLocks noGrp="1"/>
          </p:cNvSpPr>
          <p:nvPr>
            <p:ph idx="1"/>
          </p:nvPr>
        </p:nvSpPr>
        <p:spPr>
          <a:xfrm>
            <a:off x="1097280" y="1845734"/>
            <a:ext cx="10058400" cy="4478866"/>
          </a:xfrm>
        </p:spPr>
        <p:txBody>
          <a:bodyPr>
            <a:normAutofit lnSpcReduction="10000"/>
          </a:bodyPr>
          <a:lstStyle/>
          <a:p>
            <a:r>
              <a:rPr lang="en-AU" dirty="0"/>
              <a:t>Hydrocarbons are just one type of organic molecule. Other families of organic molecules are classified based on the presence of shared chemical structures or </a:t>
            </a:r>
            <a:r>
              <a:rPr lang="en-AU" b="1" dirty="0"/>
              <a:t>functional groups</a:t>
            </a:r>
            <a:r>
              <a:rPr lang="en-AU" dirty="0"/>
              <a:t>.</a:t>
            </a:r>
          </a:p>
          <a:p>
            <a:endParaRPr lang="en-AU" dirty="0"/>
          </a:p>
          <a:p>
            <a:r>
              <a:rPr lang="en-AU" dirty="0"/>
              <a:t>For example, </a:t>
            </a:r>
            <a:r>
              <a:rPr lang="en-AU" b="1" dirty="0"/>
              <a:t>alcohols </a:t>
            </a:r>
            <a:r>
              <a:rPr lang="en-AU" dirty="0"/>
              <a:t>contain a </a:t>
            </a:r>
            <a:r>
              <a:rPr lang="en-AU" b="1" dirty="0"/>
              <a:t>hydroxyl functional group (–OH):</a:t>
            </a:r>
            <a:endParaRPr lang="en-AU" dirty="0"/>
          </a:p>
          <a:p>
            <a:endParaRPr lang="en-AU" dirty="0"/>
          </a:p>
          <a:p>
            <a:endParaRPr lang="en-AU" dirty="0"/>
          </a:p>
          <a:p>
            <a:endParaRPr lang="en-AU" dirty="0"/>
          </a:p>
          <a:p>
            <a:endParaRPr lang="en-AU" dirty="0"/>
          </a:p>
          <a:p>
            <a:endParaRPr lang="en-AU" dirty="0"/>
          </a:p>
          <a:p>
            <a:r>
              <a:rPr lang="en-AU" dirty="0"/>
              <a:t>The –OH group in alcohols influences the physical and chemical properties of these molecules compared to similar length alkanes.</a:t>
            </a:r>
          </a:p>
        </p:txBody>
      </p:sp>
      <p:pic>
        <p:nvPicPr>
          <p:cNvPr id="20484" name="Picture 4" descr="https://upload.wikimedia.org/wikipedia/commons/thumb/d/d1/Methanol_flat_structure.png/622px-Methanol_flat_structure.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817143" y="3330838"/>
            <a:ext cx="2165170" cy="1670870"/>
          </a:xfrm>
          <a:prstGeom prst="rect">
            <a:avLst/>
          </a:prstGeom>
          <a:noFill/>
          <a:extLst>
            <a:ext uri="{909E8E84-426E-40DD-AFC4-6F175D3DCCD1}">
              <a14:hiddenFill xmlns:a14="http://schemas.microsoft.com/office/drawing/2010/main">
                <a:solidFill>
                  <a:srgbClr val="FFFFFF"/>
                </a:solidFill>
              </a14:hiddenFill>
            </a:ext>
          </a:extLst>
        </p:spPr>
      </p:pic>
      <p:pic>
        <p:nvPicPr>
          <p:cNvPr id="20486" name="Picture 6" descr="https://upload.wikimedia.org/wikipedia/commons/thumb/6/6f/Ethanol_flat_structure.png/640px-Ethanol_flat_structur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54078" y="3404040"/>
            <a:ext cx="2438230" cy="1508655"/>
          </a:xfrm>
          <a:prstGeom prst="rect">
            <a:avLst/>
          </a:prstGeom>
          <a:noFill/>
          <a:extLst>
            <a:ext uri="{909E8E84-426E-40DD-AFC4-6F175D3DCCD1}">
              <a14:hiddenFill xmlns:a14="http://schemas.microsoft.com/office/drawing/2010/main">
                <a:solidFill>
                  <a:srgbClr val="FFFFFF"/>
                </a:solidFill>
              </a14:hiddenFill>
            </a:ext>
          </a:extLst>
        </p:spPr>
      </p:pic>
      <p:pic>
        <p:nvPicPr>
          <p:cNvPr id="20488" name="Picture 8" descr="https://upload.wikimedia.org/wikipedia/commons/thumb/b/b8/Propanol_flat_structure.png/640px-Propanol_flat_structur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05134" y="3404040"/>
            <a:ext cx="2950546" cy="1521376"/>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691077" y="4925416"/>
            <a:ext cx="2291236" cy="369332"/>
          </a:xfrm>
          <a:prstGeom prst="rect">
            <a:avLst/>
          </a:prstGeom>
          <a:noFill/>
        </p:spPr>
        <p:txBody>
          <a:bodyPr wrap="square" rtlCol="0">
            <a:spAutoFit/>
          </a:bodyPr>
          <a:lstStyle/>
          <a:p>
            <a:pPr algn="ctr"/>
            <a:r>
              <a:rPr lang="en-AU" b="1" dirty="0">
                <a:solidFill>
                  <a:srgbClr val="0070C0"/>
                </a:solidFill>
              </a:rPr>
              <a:t>methanol</a:t>
            </a:r>
          </a:p>
        </p:txBody>
      </p:sp>
      <p:sp>
        <p:nvSpPr>
          <p:cNvPr id="13" name="TextBox 12"/>
          <p:cNvSpPr txBox="1"/>
          <p:nvPr/>
        </p:nvSpPr>
        <p:spPr>
          <a:xfrm>
            <a:off x="4754078" y="4925416"/>
            <a:ext cx="2291236" cy="369332"/>
          </a:xfrm>
          <a:prstGeom prst="rect">
            <a:avLst/>
          </a:prstGeom>
          <a:noFill/>
        </p:spPr>
        <p:txBody>
          <a:bodyPr wrap="square" rtlCol="0">
            <a:spAutoFit/>
          </a:bodyPr>
          <a:lstStyle/>
          <a:p>
            <a:pPr algn="ctr"/>
            <a:r>
              <a:rPr lang="en-AU" b="1" dirty="0">
                <a:solidFill>
                  <a:srgbClr val="0070C0"/>
                </a:solidFill>
              </a:rPr>
              <a:t>ethanol</a:t>
            </a:r>
          </a:p>
        </p:txBody>
      </p:sp>
      <p:sp>
        <p:nvSpPr>
          <p:cNvPr id="14" name="TextBox 13"/>
          <p:cNvSpPr txBox="1"/>
          <p:nvPr/>
        </p:nvSpPr>
        <p:spPr>
          <a:xfrm>
            <a:off x="8398934" y="4925416"/>
            <a:ext cx="2291236" cy="369332"/>
          </a:xfrm>
          <a:prstGeom prst="rect">
            <a:avLst/>
          </a:prstGeom>
          <a:noFill/>
        </p:spPr>
        <p:txBody>
          <a:bodyPr wrap="square" rtlCol="0">
            <a:spAutoFit/>
          </a:bodyPr>
          <a:lstStyle/>
          <a:p>
            <a:pPr algn="ctr"/>
            <a:r>
              <a:rPr lang="en-AU" b="1" dirty="0">
                <a:solidFill>
                  <a:srgbClr val="0070C0"/>
                </a:solidFill>
              </a:rPr>
              <a:t>propan-1-ol</a:t>
            </a:r>
          </a:p>
        </p:txBody>
      </p:sp>
    </p:spTree>
    <p:extLst>
      <p:ext uri="{BB962C8B-B14F-4D97-AF65-F5344CB8AC3E}">
        <p14:creationId xmlns:p14="http://schemas.microsoft.com/office/powerpoint/2010/main" val="88556591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Functional groups</a:t>
            </a:r>
          </a:p>
        </p:txBody>
      </p:sp>
      <p:sp>
        <p:nvSpPr>
          <p:cNvPr id="7" name="Content Placeholder 6"/>
          <p:cNvSpPr>
            <a:spLocks noGrp="1"/>
          </p:cNvSpPr>
          <p:nvPr>
            <p:ph idx="1"/>
          </p:nvPr>
        </p:nvSpPr>
        <p:spPr>
          <a:xfrm>
            <a:off x="1097280" y="1845734"/>
            <a:ext cx="10058400" cy="795866"/>
          </a:xfrm>
        </p:spPr>
        <p:txBody>
          <a:bodyPr>
            <a:normAutofit/>
          </a:bodyPr>
          <a:lstStyle/>
          <a:p>
            <a:r>
              <a:rPr lang="en-AU" dirty="0"/>
              <a:t>Some important functional groups:</a:t>
            </a:r>
          </a:p>
          <a:p>
            <a:r>
              <a:rPr lang="en-AU" sz="1600" i="1" dirty="0">
                <a:solidFill>
                  <a:schemeClr val="bg1">
                    <a:lumMod val="50000"/>
                  </a:schemeClr>
                </a:solidFill>
              </a:rPr>
              <a:t>You will need to start learning to recognise these groups. We will learn more about each type throughout the course.</a:t>
            </a:r>
          </a:p>
        </p:txBody>
      </p:sp>
      <p:pic>
        <p:nvPicPr>
          <p:cNvPr id="4" name="Picture 3"/>
          <p:cNvPicPr>
            <a:picLocks noChangeAspect="1"/>
          </p:cNvPicPr>
          <p:nvPr/>
        </p:nvPicPr>
        <p:blipFill>
          <a:blip r:embed="rId2"/>
          <a:stretch>
            <a:fillRect/>
          </a:stretch>
        </p:blipFill>
        <p:spPr>
          <a:xfrm>
            <a:off x="200485" y="3046308"/>
            <a:ext cx="1793589" cy="2660227"/>
          </a:xfrm>
          <a:prstGeom prst="rect">
            <a:avLst/>
          </a:prstGeom>
        </p:spPr>
      </p:pic>
      <p:pic>
        <p:nvPicPr>
          <p:cNvPr id="5" name="Picture 4"/>
          <p:cNvPicPr>
            <a:picLocks noChangeAspect="1"/>
          </p:cNvPicPr>
          <p:nvPr/>
        </p:nvPicPr>
        <p:blipFill rotWithShape="1">
          <a:blip r:embed="rId3"/>
          <a:srcRect r="1279"/>
          <a:stretch/>
        </p:blipFill>
        <p:spPr>
          <a:xfrm>
            <a:off x="2149623" y="3046308"/>
            <a:ext cx="1712919" cy="2660227"/>
          </a:xfrm>
          <a:prstGeom prst="rect">
            <a:avLst/>
          </a:prstGeom>
        </p:spPr>
      </p:pic>
      <p:pic>
        <p:nvPicPr>
          <p:cNvPr id="6" name="Picture 5"/>
          <p:cNvPicPr>
            <a:picLocks noChangeAspect="1"/>
          </p:cNvPicPr>
          <p:nvPr/>
        </p:nvPicPr>
        <p:blipFill>
          <a:blip r:embed="rId4"/>
          <a:stretch>
            <a:fillRect/>
          </a:stretch>
        </p:blipFill>
        <p:spPr>
          <a:xfrm>
            <a:off x="4018091" y="3046308"/>
            <a:ext cx="1980216" cy="2660227"/>
          </a:xfrm>
          <a:prstGeom prst="rect">
            <a:avLst/>
          </a:prstGeom>
        </p:spPr>
      </p:pic>
      <p:pic>
        <p:nvPicPr>
          <p:cNvPr id="9" name="Picture 8"/>
          <p:cNvPicPr>
            <a:picLocks noChangeAspect="1"/>
          </p:cNvPicPr>
          <p:nvPr/>
        </p:nvPicPr>
        <p:blipFill>
          <a:blip r:embed="rId5"/>
          <a:stretch>
            <a:fillRect/>
          </a:stretch>
        </p:blipFill>
        <p:spPr>
          <a:xfrm>
            <a:off x="6094589" y="3046308"/>
            <a:ext cx="1956712" cy="2660227"/>
          </a:xfrm>
          <a:prstGeom prst="rect">
            <a:avLst/>
          </a:prstGeom>
        </p:spPr>
      </p:pic>
      <p:pic>
        <p:nvPicPr>
          <p:cNvPr id="10" name="Picture 9"/>
          <p:cNvPicPr>
            <a:picLocks noChangeAspect="1"/>
          </p:cNvPicPr>
          <p:nvPr/>
        </p:nvPicPr>
        <p:blipFill rotWithShape="1">
          <a:blip r:embed="rId6"/>
          <a:srcRect l="-1" r="2541"/>
          <a:stretch/>
        </p:blipFill>
        <p:spPr>
          <a:xfrm>
            <a:off x="8182577" y="3046308"/>
            <a:ext cx="1814863" cy="2736426"/>
          </a:xfrm>
          <a:prstGeom prst="rect">
            <a:avLst/>
          </a:prstGeom>
        </p:spPr>
      </p:pic>
      <p:pic>
        <p:nvPicPr>
          <p:cNvPr id="15" name="Picture 14"/>
          <p:cNvPicPr>
            <a:picLocks noChangeAspect="1"/>
          </p:cNvPicPr>
          <p:nvPr/>
        </p:nvPicPr>
        <p:blipFill>
          <a:blip r:embed="rId7"/>
          <a:stretch>
            <a:fillRect/>
          </a:stretch>
        </p:blipFill>
        <p:spPr>
          <a:xfrm>
            <a:off x="10128716" y="3086949"/>
            <a:ext cx="1838325" cy="2695575"/>
          </a:xfrm>
          <a:prstGeom prst="rect">
            <a:avLst/>
          </a:prstGeom>
        </p:spPr>
      </p:pic>
    </p:spTree>
    <p:extLst>
      <p:ext uri="{BB962C8B-B14F-4D97-AF65-F5344CB8AC3E}">
        <p14:creationId xmlns:p14="http://schemas.microsoft.com/office/powerpoint/2010/main" val="23262910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Identifying functional groups</a:t>
            </a:r>
          </a:p>
        </p:txBody>
      </p:sp>
      <p:pic>
        <p:nvPicPr>
          <p:cNvPr id="4" name="Picture 3"/>
          <p:cNvPicPr>
            <a:picLocks noChangeAspect="1"/>
          </p:cNvPicPr>
          <p:nvPr/>
        </p:nvPicPr>
        <p:blipFill>
          <a:blip r:embed="rId2"/>
          <a:stretch>
            <a:fillRect/>
          </a:stretch>
        </p:blipFill>
        <p:spPr>
          <a:xfrm>
            <a:off x="2171567" y="1812561"/>
            <a:ext cx="1617398" cy="1162750"/>
          </a:xfrm>
          <a:prstGeom prst="rect">
            <a:avLst/>
          </a:prstGeom>
        </p:spPr>
      </p:pic>
      <p:pic>
        <p:nvPicPr>
          <p:cNvPr id="5" name="Picture 4"/>
          <p:cNvPicPr>
            <a:picLocks noChangeAspect="1"/>
          </p:cNvPicPr>
          <p:nvPr/>
        </p:nvPicPr>
        <p:blipFill>
          <a:blip r:embed="rId3"/>
          <a:stretch>
            <a:fillRect/>
          </a:stretch>
        </p:blipFill>
        <p:spPr>
          <a:xfrm>
            <a:off x="2171567" y="3267823"/>
            <a:ext cx="1834555" cy="1179180"/>
          </a:xfrm>
          <a:prstGeom prst="rect">
            <a:avLst/>
          </a:prstGeom>
        </p:spPr>
      </p:pic>
      <p:pic>
        <p:nvPicPr>
          <p:cNvPr id="6" name="Picture 5"/>
          <p:cNvPicPr>
            <a:picLocks noChangeAspect="1"/>
          </p:cNvPicPr>
          <p:nvPr/>
        </p:nvPicPr>
        <p:blipFill>
          <a:blip r:embed="rId4"/>
          <a:stretch>
            <a:fillRect/>
          </a:stretch>
        </p:blipFill>
        <p:spPr>
          <a:xfrm>
            <a:off x="6940234" y="1898261"/>
            <a:ext cx="1831233" cy="1174702"/>
          </a:xfrm>
          <a:prstGeom prst="rect">
            <a:avLst/>
          </a:prstGeom>
        </p:spPr>
      </p:pic>
      <p:pic>
        <p:nvPicPr>
          <p:cNvPr id="7" name="Picture 6"/>
          <p:cNvPicPr>
            <a:picLocks noChangeAspect="1"/>
          </p:cNvPicPr>
          <p:nvPr/>
        </p:nvPicPr>
        <p:blipFill>
          <a:blip r:embed="rId5"/>
          <a:stretch>
            <a:fillRect/>
          </a:stretch>
        </p:blipFill>
        <p:spPr>
          <a:xfrm>
            <a:off x="2171567" y="4884813"/>
            <a:ext cx="2162044" cy="1205806"/>
          </a:xfrm>
          <a:prstGeom prst="rect">
            <a:avLst/>
          </a:prstGeom>
        </p:spPr>
      </p:pic>
      <p:pic>
        <p:nvPicPr>
          <p:cNvPr id="8" name="Picture 7"/>
          <p:cNvPicPr>
            <a:picLocks noChangeAspect="1"/>
          </p:cNvPicPr>
          <p:nvPr/>
        </p:nvPicPr>
        <p:blipFill>
          <a:blip r:embed="rId6"/>
          <a:stretch>
            <a:fillRect/>
          </a:stretch>
        </p:blipFill>
        <p:spPr>
          <a:xfrm>
            <a:off x="7005308" y="3296974"/>
            <a:ext cx="1766159" cy="1120878"/>
          </a:xfrm>
          <a:prstGeom prst="rect">
            <a:avLst/>
          </a:prstGeom>
        </p:spPr>
      </p:pic>
      <p:pic>
        <p:nvPicPr>
          <p:cNvPr id="9" name="Picture 8"/>
          <p:cNvPicPr>
            <a:picLocks noChangeAspect="1"/>
          </p:cNvPicPr>
          <p:nvPr/>
        </p:nvPicPr>
        <p:blipFill>
          <a:blip r:embed="rId7"/>
          <a:stretch>
            <a:fillRect/>
          </a:stretch>
        </p:blipFill>
        <p:spPr>
          <a:xfrm>
            <a:off x="7096555" y="4742919"/>
            <a:ext cx="1937379" cy="459762"/>
          </a:xfrm>
          <a:prstGeom prst="rect">
            <a:avLst/>
          </a:prstGeom>
        </p:spPr>
      </p:pic>
      <p:pic>
        <p:nvPicPr>
          <p:cNvPr id="10" name="Picture 9"/>
          <p:cNvPicPr>
            <a:picLocks noChangeAspect="1"/>
          </p:cNvPicPr>
          <p:nvPr/>
        </p:nvPicPr>
        <p:blipFill>
          <a:blip r:embed="rId8"/>
          <a:stretch>
            <a:fillRect/>
          </a:stretch>
        </p:blipFill>
        <p:spPr>
          <a:xfrm>
            <a:off x="7096555" y="5659846"/>
            <a:ext cx="1717245" cy="415754"/>
          </a:xfrm>
          <a:prstGeom prst="rect">
            <a:avLst/>
          </a:prstGeom>
        </p:spPr>
      </p:pic>
      <p:sp>
        <p:nvSpPr>
          <p:cNvPr id="12" name="TextBox 11"/>
          <p:cNvSpPr txBox="1"/>
          <p:nvPr/>
        </p:nvSpPr>
        <p:spPr>
          <a:xfrm>
            <a:off x="3927803" y="2193881"/>
            <a:ext cx="2458961" cy="400110"/>
          </a:xfrm>
          <a:prstGeom prst="rect">
            <a:avLst/>
          </a:prstGeom>
          <a:noFill/>
        </p:spPr>
        <p:txBody>
          <a:bodyPr wrap="square" rtlCol="0">
            <a:spAutoFit/>
          </a:bodyPr>
          <a:lstStyle/>
          <a:p>
            <a:r>
              <a:rPr lang="en-AU" sz="2000" b="1" dirty="0">
                <a:solidFill>
                  <a:srgbClr val="FF0000"/>
                </a:solidFill>
              </a:rPr>
              <a:t>aldehyde</a:t>
            </a:r>
          </a:p>
        </p:txBody>
      </p:sp>
      <p:sp>
        <p:nvSpPr>
          <p:cNvPr id="13" name="TextBox 12"/>
          <p:cNvSpPr txBox="1"/>
          <p:nvPr/>
        </p:nvSpPr>
        <p:spPr>
          <a:xfrm>
            <a:off x="3954286" y="3657358"/>
            <a:ext cx="2458961" cy="400110"/>
          </a:xfrm>
          <a:prstGeom prst="rect">
            <a:avLst/>
          </a:prstGeom>
          <a:noFill/>
        </p:spPr>
        <p:txBody>
          <a:bodyPr wrap="square" rtlCol="0">
            <a:spAutoFit/>
          </a:bodyPr>
          <a:lstStyle/>
          <a:p>
            <a:r>
              <a:rPr lang="en-AU" sz="2000" b="1" dirty="0">
                <a:solidFill>
                  <a:srgbClr val="FF0000"/>
                </a:solidFill>
              </a:rPr>
              <a:t>ketone</a:t>
            </a:r>
          </a:p>
        </p:txBody>
      </p:sp>
      <p:sp>
        <p:nvSpPr>
          <p:cNvPr id="14" name="TextBox 13"/>
          <p:cNvSpPr txBox="1"/>
          <p:nvPr/>
        </p:nvSpPr>
        <p:spPr>
          <a:xfrm>
            <a:off x="3954286" y="5168248"/>
            <a:ext cx="2458961" cy="400110"/>
          </a:xfrm>
          <a:prstGeom prst="rect">
            <a:avLst/>
          </a:prstGeom>
          <a:noFill/>
        </p:spPr>
        <p:txBody>
          <a:bodyPr wrap="square" rtlCol="0">
            <a:spAutoFit/>
          </a:bodyPr>
          <a:lstStyle/>
          <a:p>
            <a:r>
              <a:rPr lang="en-AU" sz="2000" b="1" dirty="0">
                <a:solidFill>
                  <a:srgbClr val="FF0000"/>
                </a:solidFill>
              </a:rPr>
              <a:t>ester</a:t>
            </a:r>
          </a:p>
        </p:txBody>
      </p:sp>
      <p:sp>
        <p:nvSpPr>
          <p:cNvPr id="15" name="TextBox 14"/>
          <p:cNvSpPr txBox="1"/>
          <p:nvPr/>
        </p:nvSpPr>
        <p:spPr>
          <a:xfrm>
            <a:off x="8696719" y="2302536"/>
            <a:ext cx="2458961" cy="400110"/>
          </a:xfrm>
          <a:prstGeom prst="rect">
            <a:avLst/>
          </a:prstGeom>
          <a:noFill/>
        </p:spPr>
        <p:txBody>
          <a:bodyPr wrap="square" rtlCol="0">
            <a:spAutoFit/>
          </a:bodyPr>
          <a:lstStyle/>
          <a:p>
            <a:r>
              <a:rPr lang="en-AU" sz="2000" b="1" dirty="0">
                <a:solidFill>
                  <a:srgbClr val="FF0000"/>
                </a:solidFill>
              </a:rPr>
              <a:t>carboxylic acid</a:t>
            </a:r>
          </a:p>
        </p:txBody>
      </p:sp>
      <p:sp>
        <p:nvSpPr>
          <p:cNvPr id="16" name="TextBox 15"/>
          <p:cNvSpPr txBox="1"/>
          <p:nvPr/>
        </p:nvSpPr>
        <p:spPr>
          <a:xfrm>
            <a:off x="8827421" y="3674728"/>
            <a:ext cx="2458961" cy="400110"/>
          </a:xfrm>
          <a:prstGeom prst="rect">
            <a:avLst/>
          </a:prstGeom>
          <a:noFill/>
        </p:spPr>
        <p:txBody>
          <a:bodyPr wrap="square" rtlCol="0">
            <a:spAutoFit/>
          </a:bodyPr>
          <a:lstStyle/>
          <a:p>
            <a:r>
              <a:rPr lang="en-AU" sz="2000" b="1" dirty="0">
                <a:solidFill>
                  <a:srgbClr val="FF0000"/>
                </a:solidFill>
              </a:rPr>
              <a:t>amide</a:t>
            </a:r>
          </a:p>
        </p:txBody>
      </p:sp>
      <p:sp>
        <p:nvSpPr>
          <p:cNvPr id="17" name="TextBox 16"/>
          <p:cNvSpPr txBox="1"/>
          <p:nvPr/>
        </p:nvSpPr>
        <p:spPr>
          <a:xfrm>
            <a:off x="9033934" y="4764751"/>
            <a:ext cx="2458961" cy="400110"/>
          </a:xfrm>
          <a:prstGeom prst="rect">
            <a:avLst/>
          </a:prstGeom>
          <a:noFill/>
        </p:spPr>
        <p:txBody>
          <a:bodyPr wrap="square" rtlCol="0">
            <a:spAutoFit/>
          </a:bodyPr>
          <a:lstStyle/>
          <a:p>
            <a:r>
              <a:rPr lang="en-AU" sz="2000" b="1" dirty="0">
                <a:solidFill>
                  <a:srgbClr val="FF0000"/>
                </a:solidFill>
              </a:rPr>
              <a:t>amine</a:t>
            </a:r>
          </a:p>
        </p:txBody>
      </p:sp>
      <p:sp>
        <p:nvSpPr>
          <p:cNvPr id="18" name="TextBox 17"/>
          <p:cNvSpPr txBox="1"/>
          <p:nvPr/>
        </p:nvSpPr>
        <p:spPr>
          <a:xfrm>
            <a:off x="8912088" y="5643123"/>
            <a:ext cx="2458961" cy="400110"/>
          </a:xfrm>
          <a:prstGeom prst="rect">
            <a:avLst/>
          </a:prstGeom>
          <a:noFill/>
        </p:spPr>
        <p:txBody>
          <a:bodyPr wrap="square" rtlCol="0">
            <a:spAutoFit/>
          </a:bodyPr>
          <a:lstStyle/>
          <a:p>
            <a:r>
              <a:rPr lang="en-AU" sz="2000" b="1" dirty="0">
                <a:solidFill>
                  <a:srgbClr val="FF0000"/>
                </a:solidFill>
              </a:rPr>
              <a:t>alcohol</a:t>
            </a:r>
          </a:p>
        </p:txBody>
      </p:sp>
    </p:spTree>
    <p:extLst>
      <p:ext uri="{BB962C8B-B14F-4D97-AF65-F5344CB8AC3E}">
        <p14:creationId xmlns:p14="http://schemas.microsoft.com/office/powerpoint/2010/main" val="2050772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5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500"/>
                                        <p:tgtEl>
                                          <p:spTgt spid="17"/>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P spid="15" grpId="0"/>
      <p:bldP spid="16" grpId="0"/>
      <p:bldP spid="17" grpId="0"/>
      <p:bldP spid="1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694286" y="848865"/>
            <a:ext cx="2649114" cy="4417401"/>
          </a:xfrm>
          <a:prstGeom prst="rect">
            <a:avLst/>
          </a:prstGeom>
          <a:noFill/>
          <a:ln>
            <a:noFill/>
          </a:ln>
        </p:spPr>
      </p:pic>
      <p:pic>
        <p:nvPicPr>
          <p:cNvPr id="5" name="Picture 4" descr="http://mgh-images.s3.amazonaws.com/9780073375663/5269-9-18IQ1.png"/>
          <p:cNvPicPr/>
          <p:nvPr/>
        </p:nvPicPr>
        <p:blipFill>
          <a:blip r:embed="rId3">
            <a:extLst>
              <a:ext uri="{28A0092B-C50C-407E-A947-70E740481C1C}">
                <a14:useLocalDpi xmlns:a14="http://schemas.microsoft.com/office/drawing/2010/main" val="0"/>
              </a:ext>
            </a:extLst>
          </a:blip>
          <a:srcRect/>
          <a:stretch>
            <a:fillRect/>
          </a:stretch>
        </p:blipFill>
        <p:spPr bwMode="auto">
          <a:xfrm>
            <a:off x="5505027" y="1449069"/>
            <a:ext cx="5886762" cy="3817197"/>
          </a:xfrm>
          <a:prstGeom prst="rect">
            <a:avLst/>
          </a:prstGeom>
          <a:noFill/>
          <a:ln>
            <a:noFill/>
          </a:ln>
        </p:spPr>
      </p:pic>
      <p:sp>
        <p:nvSpPr>
          <p:cNvPr id="6" name="Oval 5"/>
          <p:cNvSpPr/>
          <p:nvPr/>
        </p:nvSpPr>
        <p:spPr>
          <a:xfrm>
            <a:off x="3018843" y="609601"/>
            <a:ext cx="973667" cy="922866"/>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7" name="Oval 6"/>
          <p:cNvSpPr/>
          <p:nvPr/>
        </p:nvSpPr>
        <p:spPr>
          <a:xfrm>
            <a:off x="2480733" y="3328033"/>
            <a:ext cx="1587977" cy="2099099"/>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8" name="Oval 7"/>
          <p:cNvSpPr/>
          <p:nvPr/>
        </p:nvSpPr>
        <p:spPr>
          <a:xfrm>
            <a:off x="5875866" y="3580301"/>
            <a:ext cx="1176867" cy="1271099"/>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9" name="Oval 8"/>
          <p:cNvSpPr/>
          <p:nvPr/>
        </p:nvSpPr>
        <p:spPr>
          <a:xfrm>
            <a:off x="6620933" y="1524000"/>
            <a:ext cx="2556934" cy="1685965"/>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10" name="Oval 9"/>
          <p:cNvSpPr/>
          <p:nvPr/>
        </p:nvSpPr>
        <p:spPr>
          <a:xfrm>
            <a:off x="8339667" y="3057565"/>
            <a:ext cx="1426633" cy="1793835"/>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11" name="Oval 10"/>
          <p:cNvSpPr/>
          <p:nvPr/>
        </p:nvSpPr>
        <p:spPr>
          <a:xfrm>
            <a:off x="10058401" y="3057564"/>
            <a:ext cx="1426633" cy="1793835"/>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12" name="TextBox 11"/>
          <p:cNvSpPr txBox="1"/>
          <p:nvPr/>
        </p:nvSpPr>
        <p:spPr>
          <a:xfrm>
            <a:off x="1629940" y="648810"/>
            <a:ext cx="1692010" cy="400110"/>
          </a:xfrm>
          <a:prstGeom prst="rect">
            <a:avLst/>
          </a:prstGeom>
          <a:noFill/>
        </p:spPr>
        <p:txBody>
          <a:bodyPr wrap="square" rtlCol="0">
            <a:spAutoFit/>
          </a:bodyPr>
          <a:lstStyle/>
          <a:p>
            <a:pPr algn="ctr"/>
            <a:r>
              <a:rPr lang="en-AU" sz="2000" b="1" dirty="0">
                <a:solidFill>
                  <a:srgbClr val="FF0000"/>
                </a:solidFill>
              </a:rPr>
              <a:t>alcohol</a:t>
            </a:r>
          </a:p>
        </p:txBody>
      </p:sp>
      <p:sp>
        <p:nvSpPr>
          <p:cNvPr id="13" name="TextBox 12"/>
          <p:cNvSpPr txBox="1"/>
          <p:nvPr/>
        </p:nvSpPr>
        <p:spPr>
          <a:xfrm>
            <a:off x="2698013" y="4377582"/>
            <a:ext cx="1692010" cy="400110"/>
          </a:xfrm>
          <a:prstGeom prst="rect">
            <a:avLst/>
          </a:prstGeom>
          <a:noFill/>
        </p:spPr>
        <p:txBody>
          <a:bodyPr wrap="square" rtlCol="0">
            <a:spAutoFit/>
          </a:bodyPr>
          <a:lstStyle/>
          <a:p>
            <a:pPr algn="ctr"/>
            <a:r>
              <a:rPr lang="en-AU" sz="2000" b="1" dirty="0">
                <a:solidFill>
                  <a:srgbClr val="FF0000"/>
                </a:solidFill>
              </a:rPr>
              <a:t>amide</a:t>
            </a:r>
          </a:p>
        </p:txBody>
      </p:sp>
      <p:sp>
        <p:nvSpPr>
          <p:cNvPr id="14" name="TextBox 13"/>
          <p:cNvSpPr txBox="1"/>
          <p:nvPr/>
        </p:nvSpPr>
        <p:spPr>
          <a:xfrm>
            <a:off x="6447971" y="1109134"/>
            <a:ext cx="2458961" cy="400110"/>
          </a:xfrm>
          <a:prstGeom prst="rect">
            <a:avLst/>
          </a:prstGeom>
          <a:noFill/>
        </p:spPr>
        <p:txBody>
          <a:bodyPr wrap="square" rtlCol="0">
            <a:spAutoFit/>
          </a:bodyPr>
          <a:lstStyle/>
          <a:p>
            <a:pPr algn="ctr"/>
            <a:r>
              <a:rPr lang="en-AU" sz="2000" b="1" dirty="0">
                <a:solidFill>
                  <a:srgbClr val="FF0000"/>
                </a:solidFill>
              </a:rPr>
              <a:t>carboxylic acid</a:t>
            </a:r>
          </a:p>
        </p:txBody>
      </p:sp>
      <p:sp>
        <p:nvSpPr>
          <p:cNvPr id="15" name="TextBox 14"/>
          <p:cNvSpPr txBox="1"/>
          <p:nvPr/>
        </p:nvSpPr>
        <p:spPr>
          <a:xfrm>
            <a:off x="5234818" y="4941087"/>
            <a:ext cx="2458961" cy="400110"/>
          </a:xfrm>
          <a:prstGeom prst="rect">
            <a:avLst/>
          </a:prstGeom>
          <a:noFill/>
        </p:spPr>
        <p:txBody>
          <a:bodyPr wrap="square" rtlCol="0">
            <a:spAutoFit/>
          </a:bodyPr>
          <a:lstStyle/>
          <a:p>
            <a:pPr algn="ctr"/>
            <a:r>
              <a:rPr lang="en-AU" sz="2000" b="1" dirty="0">
                <a:solidFill>
                  <a:srgbClr val="FF0000"/>
                </a:solidFill>
              </a:rPr>
              <a:t>alcohol</a:t>
            </a:r>
          </a:p>
        </p:txBody>
      </p:sp>
      <p:sp>
        <p:nvSpPr>
          <p:cNvPr id="16" name="TextBox 15"/>
          <p:cNvSpPr txBox="1"/>
          <p:nvPr/>
        </p:nvSpPr>
        <p:spPr>
          <a:xfrm>
            <a:off x="7464335" y="4851399"/>
            <a:ext cx="2458961" cy="400110"/>
          </a:xfrm>
          <a:prstGeom prst="rect">
            <a:avLst/>
          </a:prstGeom>
          <a:noFill/>
        </p:spPr>
        <p:txBody>
          <a:bodyPr wrap="square" rtlCol="0">
            <a:spAutoFit/>
          </a:bodyPr>
          <a:lstStyle/>
          <a:p>
            <a:pPr algn="ctr"/>
            <a:r>
              <a:rPr lang="en-AU" sz="2000" b="1" dirty="0">
                <a:solidFill>
                  <a:srgbClr val="FF0000"/>
                </a:solidFill>
              </a:rPr>
              <a:t>ester</a:t>
            </a:r>
          </a:p>
        </p:txBody>
      </p:sp>
      <p:sp>
        <p:nvSpPr>
          <p:cNvPr id="18" name="TextBox 17"/>
          <p:cNvSpPr txBox="1"/>
          <p:nvPr/>
        </p:nvSpPr>
        <p:spPr>
          <a:xfrm>
            <a:off x="9542236" y="2657453"/>
            <a:ext cx="2458961" cy="400110"/>
          </a:xfrm>
          <a:prstGeom prst="rect">
            <a:avLst/>
          </a:prstGeom>
          <a:noFill/>
        </p:spPr>
        <p:txBody>
          <a:bodyPr wrap="square" rtlCol="0">
            <a:spAutoFit/>
          </a:bodyPr>
          <a:lstStyle/>
          <a:p>
            <a:pPr algn="ctr"/>
            <a:r>
              <a:rPr lang="en-AU" sz="2000" b="1" dirty="0">
                <a:solidFill>
                  <a:srgbClr val="FF0000"/>
                </a:solidFill>
              </a:rPr>
              <a:t>amine</a:t>
            </a:r>
          </a:p>
        </p:txBody>
      </p:sp>
    </p:spTree>
    <p:extLst>
      <p:ext uri="{BB962C8B-B14F-4D97-AF65-F5344CB8AC3E}">
        <p14:creationId xmlns:p14="http://schemas.microsoft.com/office/powerpoint/2010/main" val="2765966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5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0"/>
                                        </p:tgtEl>
                                        <p:attrNameLst>
                                          <p:attrName>style.visibility</p:attrName>
                                        </p:attrNameLst>
                                      </p:cBhvr>
                                      <p:to>
                                        <p:strVal val="visible"/>
                                      </p:to>
                                    </p:set>
                                    <p:animEffect transition="in" filter="fade">
                                      <p:cBhvr>
                                        <p:cTn id="47" dur="500"/>
                                        <p:tgtEl>
                                          <p:spTgt spid="10"/>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500"/>
                                        <p:tgtEl>
                                          <p:spTgt spid="16"/>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1"/>
                                        </p:tgtEl>
                                        <p:attrNameLst>
                                          <p:attrName>style.visibility</p:attrName>
                                        </p:attrNameLst>
                                      </p:cBhvr>
                                      <p:to>
                                        <p:strVal val="visible"/>
                                      </p:to>
                                    </p:set>
                                    <p:animEffect transition="in" filter="fade">
                                      <p:cBhvr>
                                        <p:cTn id="57" dur="500"/>
                                        <p:tgtEl>
                                          <p:spTgt spid="11"/>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8"/>
                                        </p:tgtEl>
                                        <p:attrNameLst>
                                          <p:attrName>style.visibility</p:attrName>
                                        </p:attrNameLst>
                                      </p:cBhvr>
                                      <p:to>
                                        <p:strVal val="visible"/>
                                      </p:to>
                                    </p:set>
                                    <p:animEffect transition="in" filter="fade">
                                      <p:cBhvr>
                                        <p:cTn id="6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p:bldP spid="13" grpId="0"/>
      <p:bldP spid="14" grpId="0"/>
      <p:bldP spid="15" grpId="0"/>
      <p:bldP spid="16" grpId="0"/>
      <p:bldP spid="1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http://chemwiki.ucdavis.edu/@api/deki/files/1392/4.jpg?revision=1"/>
          <p:cNvPicPr/>
          <p:nvPr/>
        </p:nvPicPr>
        <p:blipFill rotWithShape="1">
          <a:blip r:embed="rId2">
            <a:extLst>
              <a:ext uri="{28A0092B-C50C-407E-A947-70E740481C1C}">
                <a14:useLocalDpi xmlns:a14="http://schemas.microsoft.com/office/drawing/2010/main" val="0"/>
              </a:ext>
            </a:extLst>
          </a:blip>
          <a:srcRect l="70656" t="47764" b="23047"/>
          <a:stretch/>
        </p:blipFill>
        <p:spPr bwMode="auto">
          <a:xfrm>
            <a:off x="3944831" y="254742"/>
            <a:ext cx="3353435" cy="2172788"/>
          </a:xfrm>
          <a:prstGeom prst="rect">
            <a:avLst/>
          </a:prstGeom>
          <a:noFill/>
          <a:ln>
            <a:noFill/>
          </a:ln>
          <a:extLst>
            <a:ext uri="{53640926-AAD7-44D8-BBD7-CCE9431645EC}">
              <a14:shadowObscured xmlns:a14="http://schemas.microsoft.com/office/drawing/2010/main"/>
            </a:ext>
          </a:extLst>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635423" y="2670070"/>
            <a:ext cx="4029710" cy="3250771"/>
          </a:xfrm>
          <a:prstGeom prst="rect">
            <a:avLst/>
          </a:prstGeom>
          <a:noFill/>
          <a:ln>
            <a:noFill/>
          </a:ln>
        </p:spPr>
      </p:pic>
      <p:pic>
        <p:nvPicPr>
          <p:cNvPr id="6" name="Picture 5" descr="http://vrphotos.com/images/organic-chemistry-functional-groups-worksheet-i17.gif"/>
          <p:cNvPicPr/>
          <p:nvPr/>
        </p:nvPicPr>
        <p:blipFill rotWithShape="1">
          <a:blip r:embed="rId4">
            <a:extLst>
              <a:ext uri="{28A0092B-C50C-407E-A947-70E740481C1C}">
                <a14:useLocalDpi xmlns:a14="http://schemas.microsoft.com/office/drawing/2010/main" val="0"/>
              </a:ext>
            </a:extLst>
          </a:blip>
          <a:srcRect r="62291"/>
          <a:stretch/>
        </p:blipFill>
        <p:spPr bwMode="auto">
          <a:xfrm>
            <a:off x="8763000" y="1535324"/>
            <a:ext cx="3204845" cy="4250715"/>
          </a:xfrm>
          <a:prstGeom prst="rect">
            <a:avLst/>
          </a:prstGeom>
          <a:noFill/>
          <a:ln>
            <a:noFill/>
          </a:ln>
          <a:extLst>
            <a:ext uri="{53640926-AAD7-44D8-BBD7-CCE9431645EC}">
              <a14:shadowObscured xmlns:a14="http://schemas.microsoft.com/office/drawing/2010/main"/>
            </a:ext>
          </a:extLst>
        </p:spPr>
      </p:pic>
      <p:sp>
        <p:nvSpPr>
          <p:cNvPr id="7" name="Oval 6"/>
          <p:cNvSpPr/>
          <p:nvPr/>
        </p:nvSpPr>
        <p:spPr>
          <a:xfrm>
            <a:off x="5973711" y="254741"/>
            <a:ext cx="1324556" cy="2022791"/>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8" name="TextBox 7"/>
          <p:cNvSpPr txBox="1"/>
          <p:nvPr/>
        </p:nvSpPr>
        <p:spPr>
          <a:xfrm>
            <a:off x="6892528" y="373273"/>
            <a:ext cx="1692010" cy="400110"/>
          </a:xfrm>
          <a:prstGeom prst="rect">
            <a:avLst/>
          </a:prstGeom>
          <a:noFill/>
        </p:spPr>
        <p:txBody>
          <a:bodyPr wrap="square" rtlCol="0">
            <a:spAutoFit/>
          </a:bodyPr>
          <a:lstStyle/>
          <a:p>
            <a:pPr algn="ctr"/>
            <a:r>
              <a:rPr lang="en-AU" sz="2000" b="1" dirty="0">
                <a:solidFill>
                  <a:srgbClr val="FF0000"/>
                </a:solidFill>
              </a:rPr>
              <a:t>aldehyde</a:t>
            </a:r>
          </a:p>
        </p:txBody>
      </p:sp>
      <p:sp>
        <p:nvSpPr>
          <p:cNvPr id="9" name="Oval 8"/>
          <p:cNvSpPr/>
          <p:nvPr/>
        </p:nvSpPr>
        <p:spPr>
          <a:xfrm>
            <a:off x="571341" y="2556933"/>
            <a:ext cx="1824725" cy="1320799"/>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11" name="TextBox 10"/>
          <p:cNvSpPr txBox="1"/>
          <p:nvPr/>
        </p:nvSpPr>
        <p:spPr>
          <a:xfrm>
            <a:off x="236336" y="2077477"/>
            <a:ext cx="2458961" cy="400110"/>
          </a:xfrm>
          <a:prstGeom prst="rect">
            <a:avLst/>
          </a:prstGeom>
          <a:noFill/>
        </p:spPr>
        <p:txBody>
          <a:bodyPr wrap="square" rtlCol="0">
            <a:spAutoFit/>
          </a:bodyPr>
          <a:lstStyle/>
          <a:p>
            <a:pPr algn="ctr"/>
            <a:r>
              <a:rPr lang="en-AU" sz="2000" b="1" dirty="0">
                <a:solidFill>
                  <a:srgbClr val="FF0000"/>
                </a:solidFill>
              </a:rPr>
              <a:t>carboxylic acid</a:t>
            </a:r>
          </a:p>
        </p:txBody>
      </p:sp>
      <p:sp>
        <p:nvSpPr>
          <p:cNvPr id="12" name="Oval 11"/>
          <p:cNvSpPr/>
          <p:nvPr/>
        </p:nvSpPr>
        <p:spPr>
          <a:xfrm>
            <a:off x="2292111" y="3217332"/>
            <a:ext cx="1435259" cy="1320799"/>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13" name="TextBox 12"/>
          <p:cNvSpPr txBox="1"/>
          <p:nvPr/>
        </p:nvSpPr>
        <p:spPr>
          <a:xfrm>
            <a:off x="2252821" y="4651268"/>
            <a:ext cx="1692010" cy="400110"/>
          </a:xfrm>
          <a:prstGeom prst="rect">
            <a:avLst/>
          </a:prstGeom>
          <a:noFill/>
        </p:spPr>
        <p:txBody>
          <a:bodyPr wrap="square" rtlCol="0">
            <a:spAutoFit/>
          </a:bodyPr>
          <a:lstStyle/>
          <a:p>
            <a:pPr algn="ctr"/>
            <a:r>
              <a:rPr lang="en-AU" sz="2000" b="1" dirty="0">
                <a:solidFill>
                  <a:srgbClr val="FF0000"/>
                </a:solidFill>
              </a:rPr>
              <a:t>ester</a:t>
            </a:r>
          </a:p>
        </p:txBody>
      </p:sp>
      <p:sp>
        <p:nvSpPr>
          <p:cNvPr id="14" name="Oval 13"/>
          <p:cNvSpPr/>
          <p:nvPr/>
        </p:nvSpPr>
        <p:spPr>
          <a:xfrm>
            <a:off x="8686800" y="2009671"/>
            <a:ext cx="1108273" cy="660400"/>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16" name="TextBox 15"/>
          <p:cNvSpPr txBox="1"/>
          <p:nvPr/>
        </p:nvSpPr>
        <p:spPr>
          <a:xfrm>
            <a:off x="8408088" y="2670070"/>
            <a:ext cx="1692010" cy="400110"/>
          </a:xfrm>
          <a:prstGeom prst="rect">
            <a:avLst/>
          </a:prstGeom>
          <a:noFill/>
        </p:spPr>
        <p:txBody>
          <a:bodyPr wrap="square" rtlCol="0">
            <a:spAutoFit/>
          </a:bodyPr>
          <a:lstStyle/>
          <a:p>
            <a:pPr algn="ctr"/>
            <a:r>
              <a:rPr lang="en-AU" sz="2000" b="1" dirty="0">
                <a:solidFill>
                  <a:srgbClr val="FF0000"/>
                </a:solidFill>
              </a:rPr>
              <a:t>amine</a:t>
            </a:r>
          </a:p>
        </p:txBody>
      </p:sp>
      <p:sp>
        <p:nvSpPr>
          <p:cNvPr id="17" name="Oval 16"/>
          <p:cNvSpPr/>
          <p:nvPr/>
        </p:nvSpPr>
        <p:spPr>
          <a:xfrm>
            <a:off x="10365422" y="1315735"/>
            <a:ext cx="1530245" cy="1408644"/>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18" name="TextBox 17"/>
          <p:cNvSpPr txBox="1"/>
          <p:nvPr/>
        </p:nvSpPr>
        <p:spPr>
          <a:xfrm>
            <a:off x="10118355" y="866026"/>
            <a:ext cx="2073645" cy="400110"/>
          </a:xfrm>
          <a:prstGeom prst="rect">
            <a:avLst/>
          </a:prstGeom>
          <a:noFill/>
        </p:spPr>
        <p:txBody>
          <a:bodyPr wrap="square" rtlCol="0">
            <a:spAutoFit/>
          </a:bodyPr>
          <a:lstStyle/>
          <a:p>
            <a:pPr algn="ctr"/>
            <a:r>
              <a:rPr lang="en-AU" sz="2000" b="1" dirty="0">
                <a:solidFill>
                  <a:srgbClr val="FF0000"/>
                </a:solidFill>
              </a:rPr>
              <a:t>carboxylic acid</a:t>
            </a:r>
          </a:p>
        </p:txBody>
      </p:sp>
    </p:spTree>
    <p:extLst>
      <p:ext uri="{BB962C8B-B14F-4D97-AF65-F5344CB8AC3E}">
        <p14:creationId xmlns:p14="http://schemas.microsoft.com/office/powerpoint/2010/main" val="2882456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500"/>
                                        <p:tgtEl>
                                          <p:spTgt spid="16"/>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fade">
                                      <p:cBhvr>
                                        <p:cTn id="5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animBg="1"/>
      <p:bldP spid="11" grpId="0"/>
      <p:bldP spid="12" grpId="0" animBg="1"/>
      <p:bldP spid="13" grpId="0"/>
      <p:bldP spid="14" grpId="0" animBg="1"/>
      <p:bldP spid="16" grpId="0"/>
      <p:bldP spid="17" grpId="0" animBg="1"/>
      <p:bldP spid="1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2007 TEE Exam:</a:t>
            </a:r>
          </a:p>
        </p:txBody>
      </p:sp>
      <p:sp>
        <p:nvSpPr>
          <p:cNvPr id="3" name="Content Placeholder 2"/>
          <p:cNvSpPr>
            <a:spLocks noGrp="1"/>
          </p:cNvSpPr>
          <p:nvPr>
            <p:ph idx="1"/>
          </p:nvPr>
        </p:nvSpPr>
        <p:spPr/>
        <p:txBody>
          <a:bodyPr/>
          <a:lstStyle/>
          <a:p>
            <a:endParaRPr lang="en-AU"/>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097280" y="1845734"/>
            <a:ext cx="10079292" cy="3505199"/>
          </a:xfrm>
          <a:prstGeom prst="rect">
            <a:avLst/>
          </a:prstGeom>
          <a:noFill/>
          <a:ln>
            <a:noFill/>
          </a:ln>
        </p:spPr>
      </p:pic>
      <p:sp>
        <p:nvSpPr>
          <p:cNvPr id="5" name="TextBox 4"/>
          <p:cNvSpPr txBox="1"/>
          <p:nvPr/>
        </p:nvSpPr>
        <p:spPr>
          <a:xfrm>
            <a:off x="6206754" y="2847870"/>
            <a:ext cx="1692010" cy="400110"/>
          </a:xfrm>
          <a:prstGeom prst="rect">
            <a:avLst/>
          </a:prstGeom>
          <a:noFill/>
        </p:spPr>
        <p:txBody>
          <a:bodyPr wrap="square" rtlCol="0">
            <a:spAutoFit/>
          </a:bodyPr>
          <a:lstStyle/>
          <a:p>
            <a:pPr algn="ctr"/>
            <a:r>
              <a:rPr lang="en-AU" sz="2000" b="1" dirty="0">
                <a:solidFill>
                  <a:srgbClr val="FF0000"/>
                </a:solidFill>
              </a:rPr>
              <a:t>alcohol</a:t>
            </a:r>
          </a:p>
        </p:txBody>
      </p:sp>
      <p:sp>
        <p:nvSpPr>
          <p:cNvPr id="6" name="TextBox 5"/>
          <p:cNvSpPr txBox="1"/>
          <p:nvPr/>
        </p:nvSpPr>
        <p:spPr>
          <a:xfrm>
            <a:off x="6126479" y="3457304"/>
            <a:ext cx="2501053" cy="400110"/>
          </a:xfrm>
          <a:prstGeom prst="rect">
            <a:avLst/>
          </a:prstGeom>
          <a:noFill/>
        </p:spPr>
        <p:txBody>
          <a:bodyPr wrap="square" rtlCol="0">
            <a:spAutoFit/>
          </a:bodyPr>
          <a:lstStyle/>
          <a:p>
            <a:pPr algn="ctr"/>
            <a:r>
              <a:rPr lang="en-AU" sz="2000" b="1" dirty="0">
                <a:solidFill>
                  <a:srgbClr val="FF0000"/>
                </a:solidFill>
              </a:rPr>
              <a:t>carboxylic acid</a:t>
            </a:r>
          </a:p>
        </p:txBody>
      </p:sp>
      <p:sp>
        <p:nvSpPr>
          <p:cNvPr id="7" name="TextBox 6"/>
          <p:cNvSpPr txBox="1"/>
          <p:nvPr/>
        </p:nvSpPr>
        <p:spPr>
          <a:xfrm>
            <a:off x="5696660" y="4050061"/>
            <a:ext cx="2501053" cy="400110"/>
          </a:xfrm>
          <a:prstGeom prst="rect">
            <a:avLst/>
          </a:prstGeom>
          <a:noFill/>
        </p:spPr>
        <p:txBody>
          <a:bodyPr wrap="square" rtlCol="0">
            <a:spAutoFit/>
          </a:bodyPr>
          <a:lstStyle/>
          <a:p>
            <a:pPr algn="ctr"/>
            <a:r>
              <a:rPr lang="en-AU" sz="2000" b="1" dirty="0">
                <a:solidFill>
                  <a:srgbClr val="FF0000"/>
                </a:solidFill>
              </a:rPr>
              <a:t>amine</a:t>
            </a:r>
          </a:p>
        </p:txBody>
      </p:sp>
    </p:spTree>
    <p:extLst>
      <p:ext uri="{BB962C8B-B14F-4D97-AF65-F5344CB8AC3E}">
        <p14:creationId xmlns:p14="http://schemas.microsoft.com/office/powerpoint/2010/main" val="34687724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Alcohols</a:t>
            </a:r>
          </a:p>
        </p:txBody>
      </p:sp>
      <p:sp>
        <p:nvSpPr>
          <p:cNvPr id="3" name="Content Placeholder 2"/>
          <p:cNvSpPr>
            <a:spLocks noGrp="1"/>
          </p:cNvSpPr>
          <p:nvPr>
            <p:ph idx="1"/>
          </p:nvPr>
        </p:nvSpPr>
        <p:spPr>
          <a:xfrm>
            <a:off x="431800" y="1845733"/>
            <a:ext cx="11531599" cy="4461933"/>
          </a:xfrm>
        </p:spPr>
        <p:txBody>
          <a:bodyPr>
            <a:normAutofit fontScale="92500"/>
          </a:bodyPr>
          <a:lstStyle/>
          <a:p>
            <a:r>
              <a:rPr lang="en-AU" sz="2800" b="1" dirty="0"/>
              <a:t>Functional group: R-OH</a:t>
            </a:r>
          </a:p>
          <a:p>
            <a:endParaRPr lang="en-AU" b="1" dirty="0"/>
          </a:p>
          <a:p>
            <a:endParaRPr lang="en-AU" b="1" dirty="0"/>
          </a:p>
          <a:p>
            <a:r>
              <a:rPr lang="en-AU" b="1" dirty="0"/>
              <a:t>Naming:</a:t>
            </a:r>
          </a:p>
          <a:p>
            <a:pPr marL="457200" indent="-457200">
              <a:buFont typeface="+mj-lt"/>
              <a:buAutoNum type="arabicPeriod"/>
            </a:pPr>
            <a:r>
              <a:rPr lang="en-AU" dirty="0"/>
              <a:t>Choose the longest carbon chain that is connected to the </a:t>
            </a:r>
            <a:r>
              <a:rPr lang="en-AU" b="1" dirty="0"/>
              <a:t>OH group</a:t>
            </a:r>
          </a:p>
          <a:p>
            <a:pPr marL="457200" indent="-457200">
              <a:buFont typeface="+mj-lt"/>
              <a:buAutoNum type="arabicPeriod"/>
            </a:pPr>
            <a:r>
              <a:rPr lang="en-AU" dirty="0"/>
              <a:t>Name the longest chain, replacing the last ‘e’ with the suffix ‘</a:t>
            </a:r>
            <a:r>
              <a:rPr lang="en-AU" dirty="0" err="1"/>
              <a:t>ol</a:t>
            </a:r>
            <a:r>
              <a:rPr lang="en-AU" dirty="0"/>
              <a:t>’</a:t>
            </a:r>
          </a:p>
          <a:p>
            <a:pPr marL="292608" lvl="1" indent="0">
              <a:buNone/>
            </a:pPr>
            <a:r>
              <a:rPr lang="en-AU" dirty="0"/>
              <a:t>	Methane </a:t>
            </a:r>
            <a:r>
              <a:rPr lang="en-AU" dirty="0">
                <a:sym typeface="Wingdings" panose="05000000000000000000" pitchFamily="2" charset="2"/>
              </a:rPr>
              <a:t> Methanol</a:t>
            </a:r>
          </a:p>
          <a:p>
            <a:pPr marL="292608" lvl="1" indent="0">
              <a:buNone/>
            </a:pPr>
            <a:r>
              <a:rPr lang="en-AU" dirty="0">
                <a:sym typeface="Wingdings" panose="05000000000000000000" pitchFamily="2" charset="2"/>
              </a:rPr>
              <a:t>	Hexane  </a:t>
            </a:r>
            <a:r>
              <a:rPr lang="en-AU" dirty="0" err="1">
                <a:sym typeface="Wingdings" panose="05000000000000000000" pitchFamily="2" charset="2"/>
              </a:rPr>
              <a:t>Hexanol</a:t>
            </a:r>
            <a:endParaRPr lang="en-AU" dirty="0">
              <a:sym typeface="Wingdings" panose="05000000000000000000" pitchFamily="2" charset="2"/>
            </a:endParaRPr>
          </a:p>
          <a:p>
            <a:pPr marL="342900" indent="-342900">
              <a:buFont typeface="+mj-lt"/>
              <a:buAutoNum type="arabicPeriod"/>
            </a:pPr>
            <a:r>
              <a:rPr lang="en-AU" dirty="0">
                <a:sym typeface="Wingdings" panose="05000000000000000000" pitchFamily="2" charset="2"/>
              </a:rPr>
              <a:t>To show position of the alcohol group, number carbon chain so that OH group is connected to the carbon with the lowest number.</a:t>
            </a:r>
          </a:p>
          <a:p>
            <a:pPr marL="342900" indent="-342900">
              <a:buFont typeface="+mj-lt"/>
              <a:buAutoNum type="arabicPeriod"/>
            </a:pPr>
            <a:r>
              <a:rPr lang="en-AU" dirty="0">
                <a:sym typeface="Wingdings" panose="05000000000000000000" pitchFamily="2" charset="2"/>
              </a:rPr>
              <a:t>If there are multiple OH groups then use the suffixes like ‘-diol’, ‘-</a:t>
            </a:r>
            <a:r>
              <a:rPr lang="en-AU" dirty="0" err="1">
                <a:sym typeface="Wingdings" panose="05000000000000000000" pitchFamily="2" charset="2"/>
              </a:rPr>
              <a:t>triol</a:t>
            </a:r>
            <a:r>
              <a:rPr lang="en-AU" dirty="0">
                <a:sym typeface="Wingdings" panose="05000000000000000000" pitchFamily="2" charset="2"/>
              </a:rPr>
              <a:t>’, etc. and keep the ‘e’.   e.g. </a:t>
            </a:r>
            <a:r>
              <a:rPr lang="en-AU" b="1" dirty="0">
                <a:sym typeface="Wingdings" panose="05000000000000000000" pitchFamily="2" charset="2"/>
              </a:rPr>
              <a:t>butane-2,3-diol</a:t>
            </a:r>
          </a:p>
        </p:txBody>
      </p:sp>
      <p:pic>
        <p:nvPicPr>
          <p:cNvPr id="9" name="Picture 8"/>
          <p:cNvPicPr>
            <a:picLocks noChangeAspect="1"/>
          </p:cNvPicPr>
          <p:nvPr/>
        </p:nvPicPr>
        <p:blipFill>
          <a:blip r:embed="rId2" cstate="print">
            <a:extLst>
              <a:ext uri="{28A0092B-C50C-407E-A947-70E740481C1C}">
                <a14:useLocalDpi xmlns:a14="http://schemas.microsoft.com/office/drawing/2010/main"/>
              </a:ext>
            </a:extLst>
          </a:blip>
          <a:stretch>
            <a:fillRect/>
          </a:stretch>
        </p:blipFill>
        <p:spPr>
          <a:xfrm>
            <a:off x="5413238" y="1737360"/>
            <a:ext cx="2043704" cy="1577114"/>
          </a:xfrm>
          <a:prstGeom prst="rect">
            <a:avLst/>
          </a:prstGeom>
        </p:spPr>
      </p:pic>
      <p:sp>
        <p:nvSpPr>
          <p:cNvPr id="10" name="Oval 9"/>
          <p:cNvSpPr/>
          <p:nvPr/>
        </p:nvSpPr>
        <p:spPr>
          <a:xfrm>
            <a:off x="6435091" y="2192525"/>
            <a:ext cx="1021852" cy="652276"/>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11" name="TextBox 10"/>
          <p:cNvSpPr txBox="1"/>
          <p:nvPr/>
        </p:nvSpPr>
        <p:spPr>
          <a:xfrm>
            <a:off x="5289472" y="3314474"/>
            <a:ext cx="2291236" cy="369332"/>
          </a:xfrm>
          <a:prstGeom prst="rect">
            <a:avLst/>
          </a:prstGeom>
          <a:noFill/>
        </p:spPr>
        <p:txBody>
          <a:bodyPr wrap="square" rtlCol="0">
            <a:spAutoFit/>
          </a:bodyPr>
          <a:lstStyle/>
          <a:p>
            <a:pPr algn="ctr"/>
            <a:r>
              <a:rPr lang="en-AU" b="1" dirty="0">
                <a:solidFill>
                  <a:srgbClr val="0070C0"/>
                </a:solidFill>
              </a:rPr>
              <a:t>methanol</a:t>
            </a:r>
          </a:p>
        </p:txBody>
      </p:sp>
      <p:pic>
        <p:nvPicPr>
          <p:cNvPr id="12" name="Picture 2" descr="https://upload.wikimedia.org/wikipedia/commons/thumb/6/6f/Ethanol_flat_structure.png/640px-Ethanol_flat_structur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78795" y="1845733"/>
            <a:ext cx="2373722" cy="1468741"/>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a:xfrm>
            <a:off x="8355029" y="3314474"/>
            <a:ext cx="2291236" cy="369332"/>
          </a:xfrm>
          <a:prstGeom prst="rect">
            <a:avLst/>
          </a:prstGeom>
          <a:noFill/>
        </p:spPr>
        <p:txBody>
          <a:bodyPr wrap="square" rtlCol="0">
            <a:spAutoFit/>
          </a:bodyPr>
          <a:lstStyle/>
          <a:p>
            <a:pPr algn="ctr"/>
            <a:r>
              <a:rPr lang="en-AU" b="1" dirty="0">
                <a:solidFill>
                  <a:srgbClr val="0070C0"/>
                </a:solidFill>
              </a:rPr>
              <a:t>ethanol</a:t>
            </a:r>
          </a:p>
        </p:txBody>
      </p:sp>
      <p:sp>
        <p:nvSpPr>
          <p:cNvPr id="14" name="Oval 13"/>
          <p:cNvSpPr/>
          <p:nvPr/>
        </p:nvSpPr>
        <p:spPr>
          <a:xfrm>
            <a:off x="9875180" y="2253965"/>
            <a:ext cx="1021852" cy="652276"/>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Tree>
    <p:extLst>
      <p:ext uri="{BB962C8B-B14F-4D97-AF65-F5344CB8AC3E}">
        <p14:creationId xmlns:p14="http://schemas.microsoft.com/office/powerpoint/2010/main" val="192301047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Alcohols</a:t>
            </a:r>
            <a:endParaRPr lang="en-AU" dirty="0"/>
          </a:p>
        </p:txBody>
      </p:sp>
      <p:pic>
        <p:nvPicPr>
          <p:cNvPr id="26630" name="Picture 6" descr="http://www.chemeddl.org/resources/models360/files/11428/pentan-3-ol-lewis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8845" y="2366961"/>
            <a:ext cx="4955569" cy="2713037"/>
          </a:xfrm>
          <a:prstGeom prst="rect">
            <a:avLst/>
          </a:prstGeom>
          <a:noFill/>
          <a:extLst>
            <a:ext uri="{909E8E84-426E-40DD-AFC4-6F175D3DCCD1}">
              <a14:hiddenFill xmlns:a14="http://schemas.microsoft.com/office/drawing/2010/main">
                <a:solidFill>
                  <a:srgbClr val="FFFFFF"/>
                </a:solidFill>
              </a14:hiddenFill>
            </a:ext>
          </a:extLst>
        </p:spPr>
      </p:pic>
      <p:pic>
        <p:nvPicPr>
          <p:cNvPr id="26632" name="Picture 8" descr="http://www.chemeddl.org/resources/models360/files/6276/pentan-1-ol-lewis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2577" y="2366961"/>
            <a:ext cx="5144523" cy="1967383"/>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p:cNvSpPr txBox="1"/>
          <p:nvPr/>
        </p:nvSpPr>
        <p:spPr>
          <a:xfrm>
            <a:off x="2345057" y="5079998"/>
            <a:ext cx="2458961" cy="523220"/>
          </a:xfrm>
          <a:prstGeom prst="rect">
            <a:avLst/>
          </a:prstGeom>
          <a:noFill/>
        </p:spPr>
        <p:txBody>
          <a:bodyPr wrap="square" rtlCol="0">
            <a:spAutoFit/>
          </a:bodyPr>
          <a:lstStyle/>
          <a:p>
            <a:pPr algn="ctr"/>
            <a:r>
              <a:rPr lang="en-AU" sz="2800" b="1" dirty="0">
                <a:solidFill>
                  <a:srgbClr val="0070C0"/>
                </a:solidFill>
              </a:rPr>
              <a:t>pentan-1-ol</a:t>
            </a:r>
          </a:p>
        </p:txBody>
      </p:sp>
      <p:sp>
        <p:nvSpPr>
          <p:cNvPr id="9" name="TextBox 8"/>
          <p:cNvSpPr txBox="1"/>
          <p:nvPr/>
        </p:nvSpPr>
        <p:spPr>
          <a:xfrm>
            <a:off x="7564757" y="5079998"/>
            <a:ext cx="2458961" cy="523220"/>
          </a:xfrm>
          <a:prstGeom prst="rect">
            <a:avLst/>
          </a:prstGeom>
          <a:noFill/>
        </p:spPr>
        <p:txBody>
          <a:bodyPr wrap="square" rtlCol="0">
            <a:spAutoFit/>
          </a:bodyPr>
          <a:lstStyle/>
          <a:p>
            <a:pPr algn="ctr"/>
            <a:r>
              <a:rPr lang="en-AU" sz="2800" b="1" dirty="0">
                <a:solidFill>
                  <a:srgbClr val="0070C0"/>
                </a:solidFill>
              </a:rPr>
              <a:t>pentan-3-ol</a:t>
            </a:r>
          </a:p>
        </p:txBody>
      </p:sp>
    </p:spTree>
    <p:extLst>
      <p:ext uri="{BB962C8B-B14F-4D97-AF65-F5344CB8AC3E}">
        <p14:creationId xmlns:p14="http://schemas.microsoft.com/office/powerpoint/2010/main" val="31865816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Alcohols</a:t>
            </a:r>
          </a:p>
        </p:txBody>
      </p:sp>
      <p:sp>
        <p:nvSpPr>
          <p:cNvPr id="3" name="Content Placeholder 2"/>
          <p:cNvSpPr>
            <a:spLocks noGrp="1"/>
          </p:cNvSpPr>
          <p:nvPr>
            <p:ph idx="1"/>
          </p:nvPr>
        </p:nvSpPr>
        <p:spPr>
          <a:xfrm>
            <a:off x="7835900" y="1845734"/>
            <a:ext cx="3708400" cy="4023360"/>
          </a:xfrm>
        </p:spPr>
        <p:txBody>
          <a:bodyPr>
            <a:normAutofit/>
          </a:bodyPr>
          <a:lstStyle/>
          <a:p>
            <a:endParaRPr lang="en-AU" dirty="0"/>
          </a:p>
          <a:p>
            <a:endParaRPr lang="en-AU" dirty="0"/>
          </a:p>
          <a:p>
            <a:pPr marL="0" indent="0">
              <a:buNone/>
            </a:pPr>
            <a:r>
              <a:rPr lang="en-AU" dirty="0">
                <a:sym typeface="Wingdings" panose="05000000000000000000" pitchFamily="2" charset="2"/>
              </a:rPr>
              <a:t>The dotted line in this example shows the longest chain that includes the –OH group.</a:t>
            </a:r>
          </a:p>
          <a:p>
            <a:pPr marL="0" indent="0">
              <a:buNone/>
            </a:pPr>
            <a:endParaRPr lang="en-AU" dirty="0">
              <a:sym typeface="Wingdings" panose="05000000000000000000" pitchFamily="2" charset="2"/>
            </a:endParaRPr>
          </a:p>
          <a:p>
            <a:pPr marL="0" indent="0">
              <a:buNone/>
            </a:pPr>
            <a:r>
              <a:rPr lang="en-AU" dirty="0">
                <a:sym typeface="Wingdings" panose="05000000000000000000" pitchFamily="2" charset="2"/>
              </a:rPr>
              <a:t>This is used as the main chain, even though there is a longer carbon chain in the molecule.</a:t>
            </a:r>
          </a:p>
        </p:txBody>
      </p:sp>
      <p:pic>
        <p:nvPicPr>
          <p:cNvPr id="4" name="Picture 3"/>
          <p:cNvPicPr>
            <a:picLocks noChangeAspect="1"/>
          </p:cNvPicPr>
          <p:nvPr/>
        </p:nvPicPr>
        <p:blipFill rotWithShape="1">
          <a:blip r:embed="rId2"/>
          <a:srcRect l="2218" t="42337" r="52442" b="27183"/>
          <a:stretch/>
        </p:blipFill>
        <p:spPr>
          <a:xfrm>
            <a:off x="1308100" y="2295313"/>
            <a:ext cx="6167964" cy="2467187"/>
          </a:xfrm>
          <a:prstGeom prst="rect">
            <a:avLst/>
          </a:prstGeom>
        </p:spPr>
      </p:pic>
      <p:sp>
        <p:nvSpPr>
          <p:cNvPr id="5" name="TextBox 4"/>
          <p:cNvSpPr txBox="1"/>
          <p:nvPr/>
        </p:nvSpPr>
        <p:spPr>
          <a:xfrm>
            <a:off x="2713460" y="5054187"/>
            <a:ext cx="3357243" cy="523220"/>
          </a:xfrm>
          <a:prstGeom prst="rect">
            <a:avLst/>
          </a:prstGeom>
          <a:noFill/>
        </p:spPr>
        <p:txBody>
          <a:bodyPr wrap="square" rtlCol="0">
            <a:spAutoFit/>
          </a:bodyPr>
          <a:lstStyle/>
          <a:p>
            <a:pPr algn="ctr"/>
            <a:r>
              <a:rPr lang="en-AU" sz="2800" b="1" dirty="0">
                <a:solidFill>
                  <a:srgbClr val="0070C0"/>
                </a:solidFill>
              </a:rPr>
              <a:t>2-ethylpentan-1-ol</a:t>
            </a:r>
          </a:p>
        </p:txBody>
      </p:sp>
    </p:spTree>
    <p:extLst>
      <p:ext uri="{BB962C8B-B14F-4D97-AF65-F5344CB8AC3E}">
        <p14:creationId xmlns:p14="http://schemas.microsoft.com/office/powerpoint/2010/main" val="18121224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Alcohol – Naming questions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834611054"/>
              </p:ext>
            </p:extLst>
          </p:nvPr>
        </p:nvGraphicFramePr>
        <p:xfrm>
          <a:off x="677330" y="286601"/>
          <a:ext cx="10837336" cy="6418433"/>
        </p:xfrm>
        <a:graphic>
          <a:graphicData uri="http://schemas.openxmlformats.org/drawingml/2006/table">
            <a:tbl>
              <a:tblPr firstRow="1" firstCol="1" bandRow="1">
                <a:tableStyleId>{69012ECD-51FC-41F1-AA8D-1B2483CD663E}</a:tableStyleId>
              </a:tblPr>
              <a:tblGrid>
                <a:gridCol w="6612470">
                  <a:extLst>
                    <a:ext uri="{9D8B030D-6E8A-4147-A177-3AD203B41FA5}">
                      <a16:colId xmlns:a16="http://schemas.microsoft.com/office/drawing/2014/main" val="20000"/>
                    </a:ext>
                  </a:extLst>
                </a:gridCol>
                <a:gridCol w="4224866">
                  <a:extLst>
                    <a:ext uri="{9D8B030D-6E8A-4147-A177-3AD203B41FA5}">
                      <a16:colId xmlns:a16="http://schemas.microsoft.com/office/drawing/2014/main" val="20001"/>
                    </a:ext>
                  </a:extLst>
                </a:gridCol>
              </a:tblGrid>
              <a:tr h="557841">
                <a:tc>
                  <a:txBody>
                    <a:bodyPr/>
                    <a:lstStyle/>
                    <a:p>
                      <a:pPr>
                        <a:lnSpc>
                          <a:spcPct val="107000"/>
                        </a:lnSpc>
                        <a:spcAft>
                          <a:spcPts val="0"/>
                        </a:spcAft>
                      </a:pPr>
                      <a:r>
                        <a:rPr lang="en-AU" sz="2400" dirty="0">
                          <a:effectLst/>
                        </a:rPr>
                        <a:t>Structure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AU" sz="2400" dirty="0">
                          <a:effectLst/>
                        </a:rPr>
                        <a:t>Name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510225">
                <a:tc>
                  <a:txBody>
                    <a:bodyPr/>
                    <a:lstStyle/>
                    <a:p>
                      <a:pPr>
                        <a:lnSpc>
                          <a:spcPct val="107000"/>
                        </a:lnSpc>
                        <a:spcAft>
                          <a:spcPts val="0"/>
                        </a:spcAft>
                      </a:pPr>
                      <a:r>
                        <a:rPr lang="en-AU" sz="2000" dirty="0">
                          <a:effectLst/>
                        </a:rPr>
                        <a:t>CH</a:t>
                      </a:r>
                      <a:r>
                        <a:rPr lang="en-AU" sz="2000" baseline="-25000" dirty="0">
                          <a:effectLst/>
                        </a:rPr>
                        <a:t>3</a:t>
                      </a:r>
                      <a:r>
                        <a:rPr lang="en-AU" sz="2000" dirty="0">
                          <a:effectLst/>
                        </a:rPr>
                        <a:t>CH</a:t>
                      </a:r>
                      <a:r>
                        <a:rPr lang="en-AU" sz="2000" baseline="-25000" dirty="0">
                          <a:effectLst/>
                        </a:rPr>
                        <a:t>2</a:t>
                      </a:r>
                      <a:r>
                        <a:rPr lang="en-AU" sz="2000" dirty="0">
                          <a:effectLst/>
                        </a:rPr>
                        <a:t>CH</a:t>
                      </a:r>
                      <a:r>
                        <a:rPr lang="en-AU" sz="2000" baseline="-25000" dirty="0">
                          <a:effectLst/>
                        </a:rPr>
                        <a:t>2</a:t>
                      </a:r>
                      <a:r>
                        <a:rPr lang="en-AU" sz="2000" dirty="0">
                          <a:effectLst/>
                        </a:rPr>
                        <a:t>OH</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07000"/>
                        </a:lnSpc>
                        <a:spcAft>
                          <a:spcPts val="0"/>
                        </a:spcAft>
                      </a:pPr>
                      <a:r>
                        <a:rPr lang="en-AU" sz="2400" dirty="0">
                          <a:effectLst/>
                        </a:rPr>
                        <a:t> </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1"/>
                  </a:ext>
                </a:extLst>
              </a:tr>
              <a:tr h="1261533">
                <a:tc>
                  <a:txBody>
                    <a:bodyPr/>
                    <a:lstStyle/>
                    <a:p>
                      <a:pPr>
                        <a:lnSpc>
                          <a:spcPct val="107000"/>
                        </a:lnSpc>
                        <a:spcAft>
                          <a:spcPts val="0"/>
                        </a:spcAft>
                      </a:pPr>
                      <a:r>
                        <a:rPr lang="en-AU" sz="2000" dirty="0">
                          <a:effectLst/>
                        </a:rPr>
                        <a:t>CH</a:t>
                      </a:r>
                      <a:r>
                        <a:rPr lang="en-AU" sz="2000" baseline="-25000" dirty="0">
                          <a:effectLst/>
                        </a:rPr>
                        <a:t>3</a:t>
                      </a:r>
                      <a:r>
                        <a:rPr lang="en-AU" sz="2000" dirty="0">
                          <a:effectLst/>
                        </a:rPr>
                        <a:t>CHCH</a:t>
                      </a:r>
                      <a:r>
                        <a:rPr lang="en-AU" sz="2000" baseline="-25000" dirty="0">
                          <a:effectLst/>
                        </a:rPr>
                        <a:t>2</a:t>
                      </a:r>
                      <a:r>
                        <a:rPr lang="en-AU" sz="2000" dirty="0">
                          <a:effectLst/>
                        </a:rPr>
                        <a:t>CHCH</a:t>
                      </a:r>
                      <a:r>
                        <a:rPr lang="en-AU" sz="2000" baseline="-25000" dirty="0">
                          <a:effectLst/>
                        </a:rPr>
                        <a:t>3</a:t>
                      </a:r>
                      <a:endParaRPr lang="en-AU" sz="1800" dirty="0">
                        <a:effectLst/>
                      </a:endParaRPr>
                    </a:p>
                    <a:p>
                      <a:pPr>
                        <a:lnSpc>
                          <a:spcPct val="107000"/>
                        </a:lnSpc>
                        <a:spcAft>
                          <a:spcPts val="0"/>
                        </a:spcAft>
                      </a:pPr>
                      <a:r>
                        <a:rPr lang="en-AU" sz="2000" dirty="0">
                          <a:effectLst/>
                        </a:rPr>
                        <a:t>       |           |</a:t>
                      </a:r>
                      <a:endParaRPr lang="en-AU" sz="1800" dirty="0">
                        <a:effectLst/>
                      </a:endParaRPr>
                    </a:p>
                    <a:p>
                      <a:pPr>
                        <a:lnSpc>
                          <a:spcPct val="107000"/>
                        </a:lnSpc>
                        <a:spcAft>
                          <a:spcPts val="0"/>
                        </a:spcAft>
                      </a:pPr>
                      <a:r>
                        <a:rPr lang="en-AU" sz="2000" dirty="0">
                          <a:effectLst/>
                        </a:rPr>
                        <a:t>      OH       Cℓ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07000"/>
                        </a:lnSpc>
                        <a:spcAft>
                          <a:spcPts val="0"/>
                        </a:spcAft>
                      </a:pPr>
                      <a:r>
                        <a:rPr lang="en-AU" sz="2400" dirty="0">
                          <a:effectLst/>
                        </a:rPr>
                        <a:t> </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2"/>
                  </a:ext>
                </a:extLst>
              </a:tr>
              <a:tr h="629858">
                <a:tc>
                  <a:txBody>
                    <a:bodyPr/>
                    <a:lstStyle/>
                    <a:p>
                      <a:pPr>
                        <a:lnSpc>
                          <a:spcPct val="107000"/>
                        </a:lnSpc>
                        <a:spcAft>
                          <a:spcPts val="0"/>
                        </a:spcAft>
                      </a:pPr>
                      <a:r>
                        <a:rPr lang="en-AU" sz="2000" dirty="0">
                          <a:effectLst/>
                        </a:rPr>
                        <a:t>CH</a:t>
                      </a:r>
                      <a:r>
                        <a:rPr lang="en-AU" sz="2000" baseline="-25000" dirty="0">
                          <a:effectLst/>
                        </a:rPr>
                        <a:t>2</a:t>
                      </a:r>
                      <a:r>
                        <a:rPr lang="en-AU" sz="2000" dirty="0">
                          <a:effectLst/>
                        </a:rPr>
                        <a:t>OHCH</a:t>
                      </a:r>
                      <a:r>
                        <a:rPr lang="en-AU" sz="2000" baseline="-25000" dirty="0">
                          <a:effectLst/>
                        </a:rPr>
                        <a:t>2</a:t>
                      </a:r>
                      <a:r>
                        <a:rPr lang="en-AU" sz="2000" dirty="0">
                          <a:effectLst/>
                        </a:rPr>
                        <a:t>CH</a:t>
                      </a:r>
                      <a:r>
                        <a:rPr lang="en-AU" sz="2000" baseline="-25000" dirty="0">
                          <a:effectLst/>
                        </a:rPr>
                        <a:t>2</a:t>
                      </a:r>
                      <a:r>
                        <a:rPr lang="en-AU" sz="2000" dirty="0">
                          <a:effectLst/>
                        </a:rPr>
                        <a:t>CH</a:t>
                      </a:r>
                      <a:r>
                        <a:rPr lang="en-AU" sz="2000" baseline="-25000" dirty="0">
                          <a:effectLst/>
                        </a:rPr>
                        <a:t>2</a:t>
                      </a:r>
                      <a:r>
                        <a:rPr lang="en-AU" sz="2000" dirty="0">
                          <a:effectLst/>
                        </a:rPr>
                        <a:t>OH</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07000"/>
                        </a:lnSpc>
                        <a:spcAft>
                          <a:spcPts val="0"/>
                        </a:spcAft>
                      </a:pPr>
                      <a:r>
                        <a:rPr lang="en-AU" sz="2400" dirty="0">
                          <a:effectLst/>
                        </a:rPr>
                        <a:t> </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3"/>
                  </a:ext>
                </a:extLst>
              </a:tr>
              <a:tr h="1152992">
                <a:tc>
                  <a:txBody>
                    <a:bodyPr/>
                    <a:lstStyle/>
                    <a:p>
                      <a:pPr marL="0" marR="0" indent="0" algn="l" defTabSz="914400" rtl="0" eaLnBrk="1" fontAlgn="auto" latinLnBrk="0" hangingPunct="1">
                        <a:lnSpc>
                          <a:spcPct val="107000"/>
                        </a:lnSpc>
                        <a:spcBef>
                          <a:spcPts val="0"/>
                        </a:spcBef>
                        <a:spcAft>
                          <a:spcPts val="0"/>
                        </a:spcAft>
                        <a:buClrTx/>
                        <a:buSzTx/>
                        <a:buFontTx/>
                        <a:buNone/>
                        <a:tabLst/>
                        <a:defRPr/>
                      </a:pPr>
                      <a:r>
                        <a:rPr lang="en-AU" sz="2400" dirty="0">
                          <a:effectLst/>
                        </a:rPr>
                        <a:t> </a:t>
                      </a:r>
                      <a:endParaRPr lang="en-AU" sz="1800" baseline="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07000"/>
                        </a:lnSpc>
                        <a:spcAft>
                          <a:spcPts val="0"/>
                        </a:spcAft>
                      </a:pPr>
                      <a:r>
                        <a:rPr lang="en-AU" sz="2400" dirty="0">
                          <a:effectLst/>
                        </a:rPr>
                        <a:t>propan-2-ol (rubbing alcohol)</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4"/>
                  </a:ext>
                </a:extLst>
              </a:tr>
              <a:tr h="1152992">
                <a:tc>
                  <a:txBody>
                    <a:bodyPr/>
                    <a:lstStyle/>
                    <a:p>
                      <a:pPr>
                        <a:lnSpc>
                          <a:spcPct val="107000"/>
                        </a:lnSpc>
                        <a:spcAft>
                          <a:spcPts val="0"/>
                        </a:spcAft>
                      </a:pPr>
                      <a:r>
                        <a:rPr lang="en-AU" sz="2400" dirty="0">
                          <a:effectLst/>
                        </a:rPr>
                        <a:t> </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07000"/>
                        </a:lnSpc>
                        <a:spcAft>
                          <a:spcPts val="0"/>
                        </a:spcAft>
                      </a:pPr>
                      <a:r>
                        <a:rPr lang="en-AU" sz="2400" dirty="0">
                          <a:effectLst/>
                        </a:rPr>
                        <a:t>ethane-1,2-diol (antifreeze)</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5"/>
                  </a:ext>
                </a:extLst>
              </a:tr>
              <a:tr h="1152992">
                <a:tc>
                  <a:txBody>
                    <a:bodyPr/>
                    <a:lstStyle/>
                    <a:p>
                      <a:pPr>
                        <a:lnSpc>
                          <a:spcPct val="107000"/>
                        </a:lnSpc>
                        <a:spcAft>
                          <a:spcPts val="0"/>
                        </a:spcAft>
                      </a:pPr>
                      <a:r>
                        <a:rPr lang="en-AU" sz="2400" dirty="0">
                          <a:effectLst/>
                        </a:rPr>
                        <a:t> </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07000"/>
                        </a:lnSpc>
                        <a:spcAft>
                          <a:spcPts val="0"/>
                        </a:spcAft>
                      </a:pPr>
                      <a:r>
                        <a:rPr lang="en-AU" sz="2400" dirty="0">
                          <a:effectLst/>
                        </a:rPr>
                        <a:t>5-bromopentan-1-ol</a:t>
                      </a:r>
                      <a:endParaRPr lang="en-AU"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6"/>
                  </a:ext>
                </a:extLst>
              </a:tr>
            </a:tbl>
          </a:graphicData>
        </a:graphic>
      </p:graphicFrame>
      <p:sp>
        <p:nvSpPr>
          <p:cNvPr id="5" name="TextBox 4"/>
          <p:cNvSpPr txBox="1"/>
          <p:nvPr/>
        </p:nvSpPr>
        <p:spPr>
          <a:xfrm>
            <a:off x="6998546" y="883604"/>
            <a:ext cx="4304453" cy="400110"/>
          </a:xfrm>
          <a:prstGeom prst="rect">
            <a:avLst/>
          </a:prstGeom>
          <a:noFill/>
        </p:spPr>
        <p:txBody>
          <a:bodyPr wrap="square" rtlCol="0">
            <a:spAutoFit/>
          </a:bodyPr>
          <a:lstStyle/>
          <a:p>
            <a:r>
              <a:rPr lang="en-AU" sz="2000" b="1" dirty="0">
                <a:solidFill>
                  <a:srgbClr val="FF0000"/>
                </a:solidFill>
              </a:rPr>
              <a:t>propan-1-ol                   </a:t>
            </a:r>
            <a:r>
              <a:rPr lang="en-AU" sz="1400" b="1" dirty="0">
                <a:solidFill>
                  <a:srgbClr val="FF0000"/>
                </a:solidFill>
              </a:rPr>
              <a:t>(or 1-propanol)</a:t>
            </a:r>
          </a:p>
        </p:txBody>
      </p:sp>
      <p:sp>
        <p:nvSpPr>
          <p:cNvPr id="6" name="TextBox 5"/>
          <p:cNvSpPr txBox="1"/>
          <p:nvPr/>
        </p:nvSpPr>
        <p:spPr>
          <a:xfrm>
            <a:off x="6998546" y="1707123"/>
            <a:ext cx="5574454" cy="400110"/>
          </a:xfrm>
          <a:prstGeom prst="rect">
            <a:avLst/>
          </a:prstGeom>
          <a:noFill/>
        </p:spPr>
        <p:txBody>
          <a:bodyPr wrap="square" rtlCol="0">
            <a:spAutoFit/>
          </a:bodyPr>
          <a:lstStyle/>
          <a:p>
            <a:r>
              <a:rPr lang="en-AU" sz="2000" b="1" dirty="0">
                <a:solidFill>
                  <a:srgbClr val="FF0000"/>
                </a:solidFill>
              </a:rPr>
              <a:t>4-chloropentan-2-ol     </a:t>
            </a:r>
            <a:r>
              <a:rPr lang="en-AU" sz="1400" b="1" dirty="0">
                <a:solidFill>
                  <a:srgbClr val="FF0000"/>
                </a:solidFill>
              </a:rPr>
              <a:t>(or 4-chloro-2-pentanol)</a:t>
            </a:r>
          </a:p>
        </p:txBody>
      </p:sp>
      <p:sp>
        <p:nvSpPr>
          <p:cNvPr id="7" name="TextBox 6"/>
          <p:cNvSpPr txBox="1"/>
          <p:nvPr/>
        </p:nvSpPr>
        <p:spPr>
          <a:xfrm>
            <a:off x="6930812" y="2704233"/>
            <a:ext cx="5574454" cy="400110"/>
          </a:xfrm>
          <a:prstGeom prst="rect">
            <a:avLst/>
          </a:prstGeom>
          <a:noFill/>
        </p:spPr>
        <p:txBody>
          <a:bodyPr wrap="square" rtlCol="0">
            <a:spAutoFit/>
          </a:bodyPr>
          <a:lstStyle/>
          <a:p>
            <a:r>
              <a:rPr lang="en-AU" sz="2000" b="1" dirty="0">
                <a:solidFill>
                  <a:srgbClr val="FF0000"/>
                </a:solidFill>
              </a:rPr>
              <a:t>butane-1,4-diol               </a:t>
            </a:r>
            <a:r>
              <a:rPr lang="en-AU" sz="1400" b="1" dirty="0">
                <a:solidFill>
                  <a:srgbClr val="FF0000"/>
                </a:solidFill>
              </a:rPr>
              <a:t>(or 1,4-butanediol)</a:t>
            </a:r>
            <a:endParaRPr lang="en-AU" sz="2000" b="1" dirty="0">
              <a:solidFill>
                <a:srgbClr val="FF0000"/>
              </a:solidFill>
            </a:endParaRPr>
          </a:p>
        </p:txBody>
      </p:sp>
      <p:sp>
        <p:nvSpPr>
          <p:cNvPr id="8" name="TextBox 7"/>
          <p:cNvSpPr txBox="1"/>
          <p:nvPr/>
        </p:nvSpPr>
        <p:spPr>
          <a:xfrm>
            <a:off x="911012" y="3274161"/>
            <a:ext cx="5574454" cy="1080296"/>
          </a:xfrm>
          <a:prstGeom prst="rect">
            <a:avLst/>
          </a:prstGeom>
          <a:noFill/>
        </p:spPr>
        <p:txBody>
          <a:bodyPr wrap="square" rtlCol="0">
            <a:spAutoFit/>
          </a:bodyPr>
          <a:lstStyle/>
          <a:p>
            <a:pPr>
              <a:lnSpc>
                <a:spcPct val="107000"/>
              </a:lnSpc>
              <a:defRPr/>
            </a:pPr>
            <a:r>
              <a:rPr lang="en-AU" sz="2000" b="1" dirty="0">
                <a:solidFill>
                  <a:srgbClr val="FF0000"/>
                </a:solidFill>
              </a:rPr>
              <a:t>CH</a:t>
            </a:r>
            <a:r>
              <a:rPr lang="en-AU" sz="2000" b="1" baseline="-25000" dirty="0">
                <a:solidFill>
                  <a:srgbClr val="FF0000"/>
                </a:solidFill>
              </a:rPr>
              <a:t>3</a:t>
            </a:r>
            <a:r>
              <a:rPr lang="en-AU" sz="2000" b="1" dirty="0">
                <a:solidFill>
                  <a:srgbClr val="FF0000"/>
                </a:solidFill>
              </a:rPr>
              <a:t>–CH–CH</a:t>
            </a:r>
            <a:r>
              <a:rPr lang="en-AU" sz="2000" b="1" baseline="-25000" dirty="0">
                <a:solidFill>
                  <a:srgbClr val="FF0000"/>
                </a:solidFill>
              </a:rPr>
              <a:t>3</a:t>
            </a:r>
          </a:p>
          <a:p>
            <a:pPr>
              <a:lnSpc>
                <a:spcPct val="107000"/>
              </a:lnSpc>
              <a:defRPr/>
            </a:pPr>
            <a:r>
              <a:rPr lang="en-AU" sz="2000" b="1" dirty="0">
                <a:solidFill>
                  <a:srgbClr val="FF0000"/>
                </a:solidFill>
                <a:ea typeface="Calibri" panose="020F0502020204030204" pitchFamily="34" charset="0"/>
                <a:cs typeface="Times New Roman" panose="02020603050405020304" pitchFamily="18" charset="0"/>
              </a:rPr>
              <a:t>         |</a:t>
            </a:r>
          </a:p>
          <a:p>
            <a:pPr>
              <a:lnSpc>
                <a:spcPct val="107000"/>
              </a:lnSpc>
              <a:defRPr/>
            </a:pPr>
            <a:r>
              <a:rPr lang="en-AU" sz="2000" b="1" dirty="0">
                <a:solidFill>
                  <a:srgbClr val="FF0000"/>
                </a:solidFill>
                <a:ea typeface="Calibri" panose="020F0502020204030204" pitchFamily="34" charset="0"/>
                <a:cs typeface="Times New Roman" panose="02020603050405020304" pitchFamily="18" charset="0"/>
              </a:rPr>
              <a:t>         OH</a:t>
            </a:r>
          </a:p>
        </p:txBody>
      </p:sp>
      <p:sp>
        <p:nvSpPr>
          <p:cNvPr id="9" name="TextBox 8"/>
          <p:cNvSpPr txBox="1"/>
          <p:nvPr/>
        </p:nvSpPr>
        <p:spPr>
          <a:xfrm>
            <a:off x="826345" y="4429477"/>
            <a:ext cx="5574454" cy="1080296"/>
          </a:xfrm>
          <a:prstGeom prst="rect">
            <a:avLst/>
          </a:prstGeom>
          <a:noFill/>
        </p:spPr>
        <p:txBody>
          <a:bodyPr wrap="square" rtlCol="0">
            <a:spAutoFit/>
          </a:bodyPr>
          <a:lstStyle/>
          <a:p>
            <a:pPr>
              <a:lnSpc>
                <a:spcPct val="107000"/>
              </a:lnSpc>
              <a:defRPr/>
            </a:pPr>
            <a:r>
              <a:rPr lang="en-AU" sz="2000" b="1" dirty="0">
                <a:solidFill>
                  <a:srgbClr val="FF0000"/>
                </a:solidFill>
              </a:rPr>
              <a:t>CH</a:t>
            </a:r>
            <a:r>
              <a:rPr lang="en-AU" sz="2000" b="1" baseline="-25000" dirty="0">
                <a:solidFill>
                  <a:srgbClr val="FF0000"/>
                </a:solidFill>
              </a:rPr>
              <a:t>2</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–OH</a:t>
            </a:r>
            <a:endParaRPr lang="en-AU" sz="2000" b="1" baseline="-25000" dirty="0">
              <a:solidFill>
                <a:srgbClr val="FF0000"/>
              </a:solidFill>
            </a:endParaRPr>
          </a:p>
          <a:p>
            <a:pPr>
              <a:lnSpc>
                <a:spcPct val="107000"/>
              </a:lnSpc>
              <a:defRPr/>
            </a:pPr>
            <a:r>
              <a:rPr lang="en-AU" sz="2000" b="1" dirty="0">
                <a:solidFill>
                  <a:srgbClr val="FF0000"/>
                </a:solidFill>
                <a:ea typeface="Calibri" panose="020F0502020204030204" pitchFamily="34" charset="0"/>
                <a:cs typeface="Times New Roman" panose="02020603050405020304" pitchFamily="18" charset="0"/>
              </a:rPr>
              <a:t>| </a:t>
            </a:r>
          </a:p>
          <a:p>
            <a:pPr>
              <a:lnSpc>
                <a:spcPct val="107000"/>
              </a:lnSpc>
              <a:defRPr/>
            </a:pPr>
            <a:r>
              <a:rPr lang="en-AU" sz="2000" b="1" dirty="0">
                <a:solidFill>
                  <a:srgbClr val="FF0000"/>
                </a:solidFill>
                <a:ea typeface="Calibri" panose="020F0502020204030204" pitchFamily="34" charset="0"/>
                <a:cs typeface="Times New Roman" panose="02020603050405020304" pitchFamily="18" charset="0"/>
              </a:rPr>
              <a:t>OH</a:t>
            </a:r>
          </a:p>
        </p:txBody>
      </p:sp>
      <p:sp>
        <p:nvSpPr>
          <p:cNvPr id="10" name="TextBox 9"/>
          <p:cNvSpPr txBox="1"/>
          <p:nvPr/>
        </p:nvSpPr>
        <p:spPr>
          <a:xfrm>
            <a:off x="724744" y="5584793"/>
            <a:ext cx="6835989" cy="1080296"/>
          </a:xfrm>
          <a:prstGeom prst="rect">
            <a:avLst/>
          </a:prstGeom>
          <a:noFill/>
        </p:spPr>
        <p:txBody>
          <a:bodyPr wrap="square" rtlCol="0">
            <a:spAutoFit/>
          </a:bodyPr>
          <a:lstStyle/>
          <a:p>
            <a:pPr>
              <a:lnSpc>
                <a:spcPct val="107000"/>
              </a:lnSpc>
              <a:defRPr/>
            </a:pPr>
            <a:r>
              <a:rPr lang="en-AU" sz="2000" b="1" dirty="0">
                <a:solidFill>
                  <a:srgbClr val="FF0000"/>
                </a:solidFill>
              </a:rPr>
              <a:t>CH</a:t>
            </a:r>
            <a:r>
              <a:rPr lang="en-AU" sz="2000" b="1" baseline="-25000" dirty="0">
                <a:solidFill>
                  <a:srgbClr val="FF0000"/>
                </a:solidFill>
              </a:rPr>
              <a:t>2</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Br</a:t>
            </a:r>
            <a:r>
              <a:rPr lang="en-AU" sz="2000" b="1" baseline="-25000" dirty="0">
                <a:solidFill>
                  <a:srgbClr val="FF0000"/>
                </a:solidFill>
                <a:ea typeface="Calibri" panose="020F0502020204030204" pitchFamily="34" charset="0"/>
                <a:cs typeface="Times New Roman" panose="02020603050405020304" pitchFamily="18" charset="0"/>
              </a:rPr>
              <a:t>                                                                       </a:t>
            </a:r>
          </a:p>
          <a:p>
            <a:pPr>
              <a:lnSpc>
                <a:spcPct val="107000"/>
              </a:lnSpc>
              <a:defRPr/>
            </a:pPr>
            <a:r>
              <a:rPr lang="en-AU" sz="2000" b="1" dirty="0">
                <a:solidFill>
                  <a:srgbClr val="FF0000"/>
                </a:solidFill>
                <a:ea typeface="Calibri" panose="020F0502020204030204" pitchFamily="34" charset="0"/>
                <a:cs typeface="Times New Roman" panose="02020603050405020304" pitchFamily="18" charset="0"/>
              </a:rPr>
              <a:t>|</a:t>
            </a:r>
          </a:p>
          <a:p>
            <a:pPr>
              <a:lnSpc>
                <a:spcPct val="107000"/>
              </a:lnSpc>
              <a:defRPr/>
            </a:pPr>
            <a:r>
              <a:rPr lang="en-AU" sz="2000" b="1" dirty="0">
                <a:solidFill>
                  <a:srgbClr val="FF0000"/>
                </a:solidFill>
                <a:ea typeface="Calibri" panose="020F0502020204030204" pitchFamily="34" charset="0"/>
                <a:cs typeface="Times New Roman" panose="02020603050405020304" pitchFamily="18" charset="0"/>
              </a:rPr>
              <a:t>OH</a:t>
            </a:r>
          </a:p>
        </p:txBody>
      </p:sp>
    </p:spTree>
    <p:extLst>
      <p:ext uri="{BB962C8B-B14F-4D97-AF65-F5344CB8AC3E}">
        <p14:creationId xmlns:p14="http://schemas.microsoft.com/office/powerpoint/2010/main" val="31687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Aldehydes</a:t>
            </a:r>
          </a:p>
        </p:txBody>
      </p:sp>
      <p:sp>
        <p:nvSpPr>
          <p:cNvPr id="3" name="Content Placeholder 2"/>
          <p:cNvSpPr>
            <a:spLocks noGrp="1"/>
          </p:cNvSpPr>
          <p:nvPr>
            <p:ph idx="1"/>
          </p:nvPr>
        </p:nvSpPr>
        <p:spPr>
          <a:xfrm>
            <a:off x="939800" y="1845733"/>
            <a:ext cx="11211366" cy="4529667"/>
          </a:xfrm>
        </p:spPr>
        <p:txBody>
          <a:bodyPr>
            <a:normAutofit lnSpcReduction="10000"/>
          </a:bodyPr>
          <a:lstStyle/>
          <a:p>
            <a:pPr>
              <a:lnSpc>
                <a:spcPct val="120000"/>
              </a:lnSpc>
              <a:spcBef>
                <a:spcPts val="0"/>
              </a:spcBef>
              <a:spcAft>
                <a:spcPts val="0"/>
              </a:spcAft>
            </a:pPr>
            <a:endParaRPr lang="en-AU" sz="2800" b="1" dirty="0"/>
          </a:p>
          <a:p>
            <a:pPr>
              <a:lnSpc>
                <a:spcPct val="120000"/>
              </a:lnSpc>
              <a:spcBef>
                <a:spcPts val="0"/>
              </a:spcBef>
              <a:spcAft>
                <a:spcPts val="0"/>
              </a:spcAft>
            </a:pPr>
            <a:r>
              <a:rPr lang="en-AU" sz="2800" b="1" dirty="0"/>
              <a:t>Functional group:</a:t>
            </a:r>
          </a:p>
          <a:p>
            <a:pPr>
              <a:lnSpc>
                <a:spcPct val="120000"/>
              </a:lnSpc>
              <a:spcBef>
                <a:spcPts val="0"/>
              </a:spcBef>
              <a:spcAft>
                <a:spcPts val="0"/>
              </a:spcAft>
            </a:pPr>
            <a:r>
              <a:rPr lang="en-AU" sz="2200" b="1" dirty="0"/>
              <a:t>(also written as –CHO)</a:t>
            </a:r>
            <a:endParaRPr lang="en-AU" sz="1700" b="1" dirty="0"/>
          </a:p>
          <a:p>
            <a:endParaRPr lang="en-AU" b="1" dirty="0"/>
          </a:p>
          <a:p>
            <a:r>
              <a:rPr lang="en-AU" b="1" dirty="0"/>
              <a:t>Naming:</a:t>
            </a:r>
          </a:p>
          <a:p>
            <a:pPr marL="457200" indent="-457200">
              <a:buFont typeface="+mj-lt"/>
              <a:buAutoNum type="arabicPeriod"/>
            </a:pPr>
            <a:r>
              <a:rPr lang="en-AU" dirty="0"/>
              <a:t>Choose the longest carbon chain including the </a:t>
            </a:r>
            <a:r>
              <a:rPr lang="en-AU" b="1" dirty="0"/>
              <a:t>CHO</a:t>
            </a:r>
            <a:r>
              <a:rPr lang="en-AU" dirty="0"/>
              <a:t> </a:t>
            </a:r>
            <a:r>
              <a:rPr lang="en-AU" b="1" dirty="0"/>
              <a:t>group</a:t>
            </a:r>
          </a:p>
          <a:p>
            <a:pPr marL="457200" indent="-457200">
              <a:buFont typeface="+mj-lt"/>
              <a:buAutoNum type="arabicPeriod"/>
            </a:pPr>
            <a:r>
              <a:rPr lang="en-AU" dirty="0"/>
              <a:t>Name the longest chain, replacing the last ‘e’ with the suffix ‘al’</a:t>
            </a:r>
          </a:p>
          <a:p>
            <a:pPr marL="292608" lvl="1" indent="0">
              <a:buNone/>
            </a:pPr>
            <a:r>
              <a:rPr lang="en-AU" dirty="0"/>
              <a:t>	Methane </a:t>
            </a:r>
            <a:r>
              <a:rPr lang="en-AU" dirty="0">
                <a:sym typeface="Wingdings" panose="05000000000000000000" pitchFamily="2" charset="2"/>
              </a:rPr>
              <a:t> Methanal</a:t>
            </a:r>
          </a:p>
          <a:p>
            <a:pPr marL="292608" lvl="1" indent="0">
              <a:buNone/>
            </a:pPr>
            <a:r>
              <a:rPr lang="en-AU" dirty="0">
                <a:sym typeface="Wingdings" panose="05000000000000000000" pitchFamily="2" charset="2"/>
              </a:rPr>
              <a:t>	Hexane  </a:t>
            </a:r>
            <a:r>
              <a:rPr lang="en-AU" dirty="0" err="1">
                <a:sym typeface="Wingdings" panose="05000000000000000000" pitchFamily="2" charset="2"/>
              </a:rPr>
              <a:t>Hexanal</a:t>
            </a:r>
            <a:endParaRPr lang="en-AU" dirty="0">
              <a:sym typeface="Wingdings" panose="05000000000000000000" pitchFamily="2" charset="2"/>
            </a:endParaRPr>
          </a:p>
          <a:p>
            <a:pPr marL="342900" indent="-342900">
              <a:buFont typeface="+mj-lt"/>
              <a:buAutoNum type="arabicPeriod"/>
            </a:pPr>
            <a:r>
              <a:rPr lang="en-AU" dirty="0">
                <a:sym typeface="Wingdings" panose="05000000000000000000" pitchFamily="2" charset="2"/>
              </a:rPr>
              <a:t>Number the carbon chain so that the </a:t>
            </a:r>
            <a:r>
              <a:rPr lang="en-AU" b="1" dirty="0">
                <a:sym typeface="Wingdings" panose="05000000000000000000" pitchFamily="2" charset="2"/>
              </a:rPr>
              <a:t>–CHO </a:t>
            </a:r>
            <a:r>
              <a:rPr lang="en-AU" dirty="0">
                <a:sym typeface="Wingdings" panose="05000000000000000000" pitchFamily="2" charset="2"/>
              </a:rPr>
              <a:t>group starts from carbon #1. You do not need to show the position of the group in the compound’s name because (by definition) it will be at carbon #1.</a:t>
            </a:r>
            <a:endParaRPr lang="en-AU" b="1" dirty="0">
              <a:sym typeface="Wingdings" panose="05000000000000000000" pitchFamily="2" charset="2"/>
            </a:endParaRPr>
          </a:p>
        </p:txBody>
      </p:sp>
      <p:sp>
        <p:nvSpPr>
          <p:cNvPr id="7" name="TextBox 6"/>
          <p:cNvSpPr txBox="1"/>
          <p:nvPr/>
        </p:nvSpPr>
        <p:spPr>
          <a:xfrm>
            <a:off x="5585382" y="3314474"/>
            <a:ext cx="2291236" cy="369332"/>
          </a:xfrm>
          <a:prstGeom prst="rect">
            <a:avLst/>
          </a:prstGeom>
          <a:noFill/>
        </p:spPr>
        <p:txBody>
          <a:bodyPr wrap="square" rtlCol="0">
            <a:spAutoFit/>
          </a:bodyPr>
          <a:lstStyle/>
          <a:p>
            <a:pPr algn="ctr"/>
            <a:r>
              <a:rPr lang="en-AU" b="1" dirty="0">
                <a:solidFill>
                  <a:srgbClr val="0070C0"/>
                </a:solidFill>
              </a:rPr>
              <a:t>methanal</a:t>
            </a:r>
          </a:p>
        </p:txBody>
      </p:sp>
      <p:sp>
        <p:nvSpPr>
          <p:cNvPr id="9" name="TextBox 8"/>
          <p:cNvSpPr txBox="1"/>
          <p:nvPr/>
        </p:nvSpPr>
        <p:spPr>
          <a:xfrm>
            <a:off x="8128182" y="3314474"/>
            <a:ext cx="2291236" cy="369332"/>
          </a:xfrm>
          <a:prstGeom prst="rect">
            <a:avLst/>
          </a:prstGeom>
          <a:noFill/>
        </p:spPr>
        <p:txBody>
          <a:bodyPr wrap="square" rtlCol="0">
            <a:spAutoFit/>
          </a:bodyPr>
          <a:lstStyle/>
          <a:p>
            <a:pPr algn="ctr"/>
            <a:r>
              <a:rPr lang="en-AU" b="1" dirty="0" err="1">
                <a:solidFill>
                  <a:srgbClr val="0070C0"/>
                </a:solidFill>
              </a:rPr>
              <a:t>ethanal</a:t>
            </a:r>
            <a:endParaRPr lang="en-AU" b="1" dirty="0">
              <a:solidFill>
                <a:srgbClr val="0070C0"/>
              </a:solidFill>
            </a:endParaRPr>
          </a:p>
        </p:txBody>
      </p:sp>
      <p:sp>
        <p:nvSpPr>
          <p:cNvPr id="10" name="Oval 9"/>
          <p:cNvSpPr/>
          <p:nvPr/>
        </p:nvSpPr>
        <p:spPr>
          <a:xfrm>
            <a:off x="9273800" y="1835026"/>
            <a:ext cx="1038600" cy="1479447"/>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pic>
        <p:nvPicPr>
          <p:cNvPr id="36868" name="Picture 4" descr="http://f.tqn.com/y/chemistry/1/S/p/5/1/acetaldehyde.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1999" y="1845733"/>
            <a:ext cx="1702888" cy="1468741"/>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6220267" y="1776422"/>
            <a:ext cx="1174058" cy="1483865"/>
            <a:chOff x="7985770" y="142154"/>
            <a:chExt cx="1174058" cy="1483865"/>
          </a:xfrm>
        </p:grpSpPr>
        <p:pic>
          <p:nvPicPr>
            <p:cNvPr id="12" name="Picture 4" descr="http://f.tqn.com/y/chemistry/1/S/p/5/1/acetaldehyde.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8357"/>
            <a:stretch/>
          </p:blipFill>
          <p:spPr bwMode="auto">
            <a:xfrm>
              <a:off x="8280399" y="142154"/>
              <a:ext cx="879429" cy="146874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http://f.tqn.com/y/chemistry/1/S/p/5/1/acetaldehyde.jp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r="82698"/>
            <a:stretch/>
          </p:blipFill>
          <p:spPr bwMode="auto">
            <a:xfrm>
              <a:off x="7985770" y="157278"/>
              <a:ext cx="294629" cy="1468741"/>
            </a:xfrm>
            <a:prstGeom prst="rect">
              <a:avLst/>
            </a:prstGeom>
            <a:noFill/>
            <a:extLst>
              <a:ext uri="{909E8E84-426E-40DD-AFC4-6F175D3DCCD1}">
                <a14:hiddenFill xmlns:a14="http://schemas.microsoft.com/office/drawing/2010/main">
                  <a:solidFill>
                    <a:srgbClr val="FFFFFF"/>
                  </a:solidFill>
                </a14:hiddenFill>
              </a:ext>
            </a:extLst>
          </p:spPr>
        </p:pic>
      </p:grpSp>
      <p:sp>
        <p:nvSpPr>
          <p:cNvPr id="15" name="Oval 14"/>
          <p:cNvSpPr/>
          <p:nvPr/>
        </p:nvSpPr>
        <p:spPr>
          <a:xfrm>
            <a:off x="6596468" y="1800371"/>
            <a:ext cx="1038600" cy="1479447"/>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pic>
        <p:nvPicPr>
          <p:cNvPr id="14" name="Picture 13"/>
          <p:cNvPicPr>
            <a:picLocks noChangeAspect="1"/>
          </p:cNvPicPr>
          <p:nvPr/>
        </p:nvPicPr>
        <p:blipFill>
          <a:blip r:embed="rId3"/>
          <a:stretch>
            <a:fillRect/>
          </a:stretch>
        </p:blipFill>
        <p:spPr>
          <a:xfrm>
            <a:off x="3838801" y="1800371"/>
            <a:ext cx="1562100" cy="1066800"/>
          </a:xfrm>
          <a:prstGeom prst="rect">
            <a:avLst/>
          </a:prstGeom>
        </p:spPr>
      </p:pic>
    </p:spTree>
    <p:extLst>
      <p:ext uri="{BB962C8B-B14F-4D97-AF65-F5344CB8AC3E}">
        <p14:creationId xmlns:p14="http://schemas.microsoft.com/office/powerpoint/2010/main" val="61639587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Ketones   </a:t>
            </a:r>
            <a:r>
              <a:rPr lang="en-AU" sz="2000" b="1" i="1" dirty="0"/>
              <a:t>(pronounced ‘key-tones’)</a:t>
            </a:r>
            <a:endParaRPr lang="en-AU" b="1" dirty="0"/>
          </a:p>
        </p:txBody>
      </p:sp>
      <p:sp>
        <p:nvSpPr>
          <p:cNvPr id="3" name="Content Placeholder 2"/>
          <p:cNvSpPr>
            <a:spLocks noGrp="1"/>
          </p:cNvSpPr>
          <p:nvPr>
            <p:ph idx="1"/>
          </p:nvPr>
        </p:nvSpPr>
        <p:spPr>
          <a:xfrm>
            <a:off x="855133" y="1845733"/>
            <a:ext cx="11296033" cy="4529667"/>
          </a:xfrm>
        </p:spPr>
        <p:txBody>
          <a:bodyPr>
            <a:normAutofit/>
          </a:bodyPr>
          <a:lstStyle/>
          <a:p>
            <a:pPr>
              <a:lnSpc>
                <a:spcPct val="120000"/>
              </a:lnSpc>
              <a:spcBef>
                <a:spcPts val="0"/>
              </a:spcBef>
              <a:spcAft>
                <a:spcPts val="0"/>
              </a:spcAft>
            </a:pPr>
            <a:endParaRPr lang="en-AU" sz="2800" b="1" dirty="0"/>
          </a:p>
          <a:p>
            <a:pPr>
              <a:lnSpc>
                <a:spcPct val="120000"/>
              </a:lnSpc>
              <a:spcBef>
                <a:spcPts val="0"/>
              </a:spcBef>
              <a:spcAft>
                <a:spcPts val="0"/>
              </a:spcAft>
            </a:pPr>
            <a:r>
              <a:rPr lang="en-AU" sz="2800" b="1" dirty="0"/>
              <a:t>Functional group:</a:t>
            </a:r>
          </a:p>
          <a:p>
            <a:pPr marL="0" indent="0">
              <a:buNone/>
            </a:pPr>
            <a:r>
              <a:rPr lang="en-AU" b="1" dirty="0"/>
              <a:t>Different to an aldehyde in that the C=O occurs in the </a:t>
            </a:r>
            <a:r>
              <a:rPr lang="en-AU" b="1" u="sng" dirty="0"/>
              <a:t>middle</a:t>
            </a:r>
            <a:r>
              <a:rPr lang="en-AU" b="1" dirty="0"/>
              <a:t> of a chain</a:t>
            </a:r>
          </a:p>
          <a:p>
            <a:r>
              <a:rPr lang="en-AU" b="1" dirty="0"/>
              <a:t>Naming:</a:t>
            </a:r>
          </a:p>
          <a:p>
            <a:pPr marL="457200" indent="-457200">
              <a:buFont typeface="+mj-lt"/>
              <a:buAutoNum type="arabicPeriod"/>
            </a:pPr>
            <a:r>
              <a:rPr lang="en-AU" dirty="0"/>
              <a:t>Choose the longest carbon chain including the </a:t>
            </a:r>
            <a:r>
              <a:rPr lang="en-AU" b="1" dirty="0"/>
              <a:t>CO group (‘carbonyl group’)</a:t>
            </a:r>
          </a:p>
          <a:p>
            <a:pPr marL="457200" indent="-457200">
              <a:buFont typeface="+mj-lt"/>
              <a:buAutoNum type="arabicPeriod"/>
            </a:pPr>
            <a:r>
              <a:rPr lang="en-AU" dirty="0"/>
              <a:t>Name the longest chain, replacing the last ‘e’ with the suffix ‘one’</a:t>
            </a:r>
          </a:p>
          <a:p>
            <a:pPr marL="292608" lvl="1" indent="0">
              <a:buNone/>
            </a:pPr>
            <a:r>
              <a:rPr lang="en-AU" dirty="0"/>
              <a:t>	Butane </a:t>
            </a:r>
            <a:r>
              <a:rPr lang="en-AU" dirty="0">
                <a:sym typeface="Wingdings" panose="05000000000000000000" pitchFamily="2" charset="2"/>
              </a:rPr>
              <a:t> Butanone</a:t>
            </a:r>
          </a:p>
          <a:p>
            <a:pPr marL="292608" lvl="1" indent="0">
              <a:buNone/>
            </a:pPr>
            <a:r>
              <a:rPr lang="en-AU" dirty="0">
                <a:sym typeface="Wingdings" panose="05000000000000000000" pitchFamily="2" charset="2"/>
              </a:rPr>
              <a:t>	Hexane  </a:t>
            </a:r>
            <a:r>
              <a:rPr lang="en-AU" dirty="0" err="1">
                <a:sym typeface="Wingdings" panose="05000000000000000000" pitchFamily="2" charset="2"/>
              </a:rPr>
              <a:t>Hexanone</a:t>
            </a:r>
            <a:endParaRPr lang="en-AU" dirty="0">
              <a:sym typeface="Wingdings" panose="05000000000000000000" pitchFamily="2" charset="2"/>
            </a:endParaRPr>
          </a:p>
          <a:p>
            <a:pPr marL="342900" indent="-342900">
              <a:buFont typeface="+mj-lt"/>
              <a:buAutoNum type="arabicPeriod"/>
            </a:pPr>
            <a:r>
              <a:rPr lang="en-AU" dirty="0">
                <a:sym typeface="Wingdings" panose="05000000000000000000" pitchFamily="2" charset="2"/>
              </a:rPr>
              <a:t>Number the carbon chain so that the </a:t>
            </a:r>
            <a:r>
              <a:rPr lang="en-AU" b="1" dirty="0">
                <a:sym typeface="Wingdings" panose="05000000000000000000" pitchFamily="2" charset="2"/>
              </a:rPr>
              <a:t>C=O </a:t>
            </a:r>
            <a:r>
              <a:rPr lang="en-AU" dirty="0">
                <a:sym typeface="Wingdings" panose="05000000000000000000" pitchFamily="2" charset="2"/>
              </a:rPr>
              <a:t>group has the lowest number. If necessary show the position of the double ketone group. e.g. </a:t>
            </a:r>
            <a:r>
              <a:rPr lang="en-AU" b="1" dirty="0">
                <a:sym typeface="Wingdings" panose="05000000000000000000" pitchFamily="2" charset="2"/>
              </a:rPr>
              <a:t>heptan-2-one</a:t>
            </a:r>
          </a:p>
        </p:txBody>
      </p:sp>
      <p:sp>
        <p:nvSpPr>
          <p:cNvPr id="7" name="TextBox 6"/>
          <p:cNvSpPr txBox="1"/>
          <p:nvPr/>
        </p:nvSpPr>
        <p:spPr>
          <a:xfrm>
            <a:off x="8812582" y="3505014"/>
            <a:ext cx="2291236" cy="369332"/>
          </a:xfrm>
          <a:prstGeom prst="rect">
            <a:avLst/>
          </a:prstGeom>
          <a:noFill/>
        </p:spPr>
        <p:txBody>
          <a:bodyPr wrap="square" rtlCol="0">
            <a:spAutoFit/>
          </a:bodyPr>
          <a:lstStyle/>
          <a:p>
            <a:pPr algn="ctr"/>
            <a:r>
              <a:rPr lang="en-AU" b="1" dirty="0" err="1">
                <a:solidFill>
                  <a:srgbClr val="0070C0"/>
                </a:solidFill>
              </a:rPr>
              <a:t>propanone</a:t>
            </a:r>
            <a:endParaRPr lang="en-AU" b="1" dirty="0">
              <a:solidFill>
                <a:srgbClr val="0070C0"/>
              </a:solidFill>
            </a:endParaRPr>
          </a:p>
        </p:txBody>
      </p:sp>
      <p:sp>
        <p:nvSpPr>
          <p:cNvPr id="10" name="Oval 9"/>
          <p:cNvSpPr/>
          <p:nvPr/>
        </p:nvSpPr>
        <p:spPr>
          <a:xfrm>
            <a:off x="9553200" y="1845733"/>
            <a:ext cx="810000" cy="1227667"/>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pic>
        <p:nvPicPr>
          <p:cNvPr id="37890" name="Picture 2" descr="http://www.online-utility.org/image/ImageCache?file=a/a8/Acetone-2D-flat.png/800px-Acetone-2D-fla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27073" y="1845733"/>
            <a:ext cx="2874656" cy="1735574"/>
          </a:xfrm>
          <a:prstGeom prst="rect">
            <a:avLst/>
          </a:prstGeom>
          <a:noFill/>
          <a:extLst>
            <a:ext uri="{909E8E84-426E-40DD-AFC4-6F175D3DCCD1}">
              <a14:hiddenFill xmlns:a14="http://schemas.microsoft.com/office/drawing/2010/main">
                <a:solidFill>
                  <a:srgbClr val="FFFFFF"/>
                </a:solidFill>
              </a14:hiddenFill>
            </a:ext>
          </a:extLst>
        </p:spPr>
      </p:pic>
      <p:pic>
        <p:nvPicPr>
          <p:cNvPr id="37892" name="Picture 4" descr="http://2012books.lardbucket.org/books/introduction-to-chemistry-general-organic-and-biological/section_17/ca175216dec283789054fea218b7f6c3.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00780" y="1779695"/>
            <a:ext cx="1548553" cy="11154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325173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73950645"/>
              </p:ext>
            </p:extLst>
          </p:nvPr>
        </p:nvGraphicFramePr>
        <p:xfrm>
          <a:off x="1097278" y="143319"/>
          <a:ext cx="10544388" cy="6663881"/>
        </p:xfrm>
        <a:graphic>
          <a:graphicData uri="http://schemas.openxmlformats.org/drawingml/2006/table">
            <a:tbl>
              <a:tblPr firstRow="1" firstCol="1" bandRow="1">
                <a:tableStyleId>{69012ECD-51FC-41F1-AA8D-1B2483CD663E}</a:tableStyleId>
              </a:tblPr>
              <a:tblGrid>
                <a:gridCol w="6344922">
                  <a:extLst>
                    <a:ext uri="{9D8B030D-6E8A-4147-A177-3AD203B41FA5}">
                      <a16:colId xmlns:a16="http://schemas.microsoft.com/office/drawing/2014/main" val="20000"/>
                    </a:ext>
                  </a:extLst>
                </a:gridCol>
                <a:gridCol w="4199466">
                  <a:extLst>
                    <a:ext uri="{9D8B030D-6E8A-4147-A177-3AD203B41FA5}">
                      <a16:colId xmlns:a16="http://schemas.microsoft.com/office/drawing/2014/main" val="20001"/>
                    </a:ext>
                  </a:extLst>
                </a:gridCol>
              </a:tblGrid>
              <a:tr h="346809">
                <a:tc>
                  <a:txBody>
                    <a:bodyPr/>
                    <a:lstStyle/>
                    <a:p>
                      <a:pPr>
                        <a:lnSpc>
                          <a:spcPct val="107000"/>
                        </a:lnSpc>
                        <a:spcAft>
                          <a:spcPts val="0"/>
                        </a:spcAft>
                      </a:pPr>
                      <a:r>
                        <a:rPr lang="en-AU" sz="1800" dirty="0">
                          <a:effectLst/>
                        </a:rPr>
                        <a:t>Structure</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AU" sz="1800">
                          <a:effectLst/>
                        </a:rPr>
                        <a:t>Name</a:t>
                      </a:r>
                      <a:endParaRPr lang="en-AU"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1072447">
                <a:tc>
                  <a:txBody>
                    <a:bodyPr/>
                    <a:lstStyle/>
                    <a:p>
                      <a:pPr>
                        <a:lnSpc>
                          <a:spcPct val="107000"/>
                        </a:lnSpc>
                        <a:spcAft>
                          <a:spcPts val="0"/>
                        </a:spcAft>
                      </a:pPr>
                      <a:r>
                        <a:rPr lang="en-AU" sz="1800" dirty="0">
                          <a:effectLst/>
                        </a:rPr>
                        <a:t>CH</a:t>
                      </a:r>
                      <a:r>
                        <a:rPr lang="en-AU" sz="1800" baseline="-25000" dirty="0">
                          <a:effectLst/>
                        </a:rPr>
                        <a:t>3</a:t>
                      </a:r>
                      <a:r>
                        <a:rPr lang="en-AU" sz="1800" dirty="0">
                          <a:effectLst/>
                        </a:rPr>
                        <a:t>CH</a:t>
                      </a:r>
                      <a:r>
                        <a:rPr lang="en-AU" sz="1800" baseline="-25000" dirty="0">
                          <a:effectLst/>
                        </a:rPr>
                        <a:t>2</a:t>
                      </a:r>
                      <a:r>
                        <a:rPr lang="en-AU" sz="1800" dirty="0">
                          <a:effectLst/>
                        </a:rPr>
                        <a:t>CH</a:t>
                      </a:r>
                      <a:r>
                        <a:rPr lang="en-AU" sz="1800" baseline="-25000" dirty="0">
                          <a:effectLst/>
                        </a:rPr>
                        <a:t>2</a:t>
                      </a:r>
                      <a:r>
                        <a:rPr lang="en-AU" sz="1800" dirty="0">
                          <a:effectLst/>
                        </a:rPr>
                        <a:t>CCH</a:t>
                      </a:r>
                      <a:r>
                        <a:rPr lang="en-AU" sz="1800" baseline="-25000" dirty="0">
                          <a:effectLst/>
                        </a:rPr>
                        <a:t>3</a:t>
                      </a:r>
                      <a:endParaRPr lang="en-AU" sz="1600" dirty="0">
                        <a:effectLst/>
                      </a:endParaRPr>
                    </a:p>
                    <a:p>
                      <a:pPr>
                        <a:lnSpc>
                          <a:spcPct val="107000"/>
                        </a:lnSpc>
                        <a:spcAft>
                          <a:spcPts val="0"/>
                        </a:spcAft>
                      </a:pPr>
                      <a:r>
                        <a:rPr lang="en-AU" sz="1800" baseline="-25000" dirty="0">
                          <a:effectLst/>
                        </a:rPr>
                        <a:t>                         </a:t>
                      </a:r>
                      <a:r>
                        <a:rPr lang="en-AU" sz="1800" dirty="0">
                          <a:effectLst/>
                        </a:rPr>
                        <a:t> </a:t>
                      </a:r>
                      <a:r>
                        <a:rPr lang="en-AU" sz="1800" baseline="-25000" dirty="0">
                          <a:effectLst/>
                        </a:rPr>
                        <a:t> </a:t>
                      </a:r>
                      <a:r>
                        <a:rPr lang="en-AU" sz="1800" dirty="0">
                          <a:effectLst/>
                        </a:rPr>
                        <a:t> </a:t>
                      </a:r>
                      <a:r>
                        <a:rPr lang="en-AU" sz="1400" dirty="0">
                          <a:effectLst/>
                        </a:rPr>
                        <a:t>||</a:t>
                      </a:r>
                      <a:endParaRPr lang="en-AU" sz="1600" dirty="0">
                        <a:effectLst/>
                      </a:endParaRPr>
                    </a:p>
                    <a:p>
                      <a:pPr>
                        <a:lnSpc>
                          <a:spcPct val="107000"/>
                        </a:lnSpc>
                        <a:spcAft>
                          <a:spcPts val="0"/>
                        </a:spcAft>
                      </a:pPr>
                      <a:r>
                        <a:rPr lang="en-AU" sz="1800" dirty="0">
                          <a:effectLst/>
                        </a:rPr>
                        <a:t>                  </a:t>
                      </a:r>
                      <a:r>
                        <a:rPr lang="en-AU" sz="1800" baseline="-25000" dirty="0">
                          <a:effectLst/>
                        </a:rPr>
                        <a:t> </a:t>
                      </a:r>
                      <a:r>
                        <a:rPr lang="en-AU" sz="1800" dirty="0">
                          <a:effectLst/>
                        </a:rPr>
                        <a:t> O</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07000"/>
                        </a:lnSpc>
                        <a:spcAft>
                          <a:spcPts val="0"/>
                        </a:spcAft>
                      </a:pPr>
                      <a:r>
                        <a:rPr lang="en-AU" sz="1800" dirty="0">
                          <a:effectLst/>
                        </a:rPr>
                        <a:t> </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1"/>
                  </a:ext>
                </a:extLst>
              </a:tr>
              <a:tr h="744003">
                <a:tc>
                  <a:txBody>
                    <a:bodyPr/>
                    <a:lstStyle/>
                    <a:p>
                      <a:pPr>
                        <a:lnSpc>
                          <a:spcPct val="107000"/>
                        </a:lnSpc>
                        <a:spcAft>
                          <a:spcPts val="0"/>
                        </a:spcAft>
                      </a:pPr>
                      <a:r>
                        <a:rPr lang="en-AU" sz="1800" dirty="0">
                          <a:effectLst/>
                        </a:rPr>
                        <a:t>CH</a:t>
                      </a:r>
                      <a:r>
                        <a:rPr lang="en-AU" sz="1800" baseline="-25000" dirty="0">
                          <a:effectLst/>
                        </a:rPr>
                        <a:t>2</a:t>
                      </a:r>
                      <a:r>
                        <a:rPr lang="en-AU" sz="1800" dirty="0">
                          <a:effectLst/>
                        </a:rPr>
                        <a:t>CℓCHO</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07000"/>
                        </a:lnSpc>
                        <a:spcAft>
                          <a:spcPts val="0"/>
                        </a:spcAft>
                      </a:pPr>
                      <a:r>
                        <a:rPr lang="en-AU" sz="1800" dirty="0">
                          <a:effectLst/>
                        </a:rPr>
                        <a:t> </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2"/>
                  </a:ext>
                </a:extLst>
              </a:tr>
              <a:tr h="1072447">
                <a:tc>
                  <a:txBody>
                    <a:bodyPr/>
                    <a:lstStyle/>
                    <a:p>
                      <a:pPr>
                        <a:lnSpc>
                          <a:spcPct val="107000"/>
                        </a:lnSpc>
                        <a:spcAft>
                          <a:spcPts val="0"/>
                        </a:spcAft>
                      </a:pPr>
                      <a:r>
                        <a:rPr lang="en-AU" sz="1800" dirty="0">
                          <a:effectLst/>
                        </a:rPr>
                        <a:t>CH</a:t>
                      </a:r>
                      <a:r>
                        <a:rPr lang="en-AU" sz="1800" baseline="-25000" dirty="0">
                          <a:effectLst/>
                        </a:rPr>
                        <a:t>3</a:t>
                      </a:r>
                      <a:r>
                        <a:rPr lang="en-AU" sz="1800" dirty="0">
                          <a:effectLst/>
                        </a:rPr>
                        <a:t>CH</a:t>
                      </a:r>
                      <a:r>
                        <a:rPr lang="en-AU" sz="1800" baseline="-25000" dirty="0">
                          <a:effectLst/>
                        </a:rPr>
                        <a:t>2</a:t>
                      </a:r>
                      <a:r>
                        <a:rPr lang="en-AU" sz="1800" dirty="0">
                          <a:effectLst/>
                        </a:rPr>
                        <a:t>CH</a:t>
                      </a:r>
                      <a:r>
                        <a:rPr lang="en-AU" sz="1800" baseline="-25000" dirty="0">
                          <a:effectLst/>
                        </a:rPr>
                        <a:t>2</a:t>
                      </a:r>
                      <a:r>
                        <a:rPr lang="en-AU" sz="1800" dirty="0">
                          <a:effectLst/>
                        </a:rPr>
                        <a:t>CHCHO</a:t>
                      </a:r>
                      <a:endParaRPr lang="en-AU" sz="1600" dirty="0">
                        <a:effectLst/>
                      </a:endParaRPr>
                    </a:p>
                    <a:p>
                      <a:pPr>
                        <a:lnSpc>
                          <a:spcPct val="107000"/>
                        </a:lnSpc>
                        <a:spcAft>
                          <a:spcPts val="0"/>
                        </a:spcAft>
                      </a:pPr>
                      <a:r>
                        <a:rPr lang="en-AU" sz="1800" dirty="0">
                          <a:effectLst/>
                        </a:rPr>
                        <a:t>                    |</a:t>
                      </a:r>
                      <a:endParaRPr lang="en-AU" sz="1600" dirty="0">
                        <a:effectLst/>
                      </a:endParaRPr>
                    </a:p>
                    <a:p>
                      <a:pPr>
                        <a:lnSpc>
                          <a:spcPct val="107000"/>
                        </a:lnSpc>
                        <a:spcAft>
                          <a:spcPts val="0"/>
                        </a:spcAft>
                      </a:pPr>
                      <a:r>
                        <a:rPr lang="en-AU" sz="1800" dirty="0">
                          <a:effectLst/>
                        </a:rPr>
                        <a:t>                   CH</a:t>
                      </a:r>
                      <a:r>
                        <a:rPr lang="en-AU" sz="1800" baseline="-25000" dirty="0">
                          <a:effectLst/>
                        </a:rPr>
                        <a:t>3</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07000"/>
                        </a:lnSpc>
                        <a:spcAft>
                          <a:spcPts val="0"/>
                        </a:spcAft>
                      </a:pPr>
                      <a:r>
                        <a:rPr lang="en-AU" sz="1800" dirty="0">
                          <a:effectLst/>
                        </a:rPr>
                        <a:t> </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3"/>
                  </a:ext>
                </a:extLst>
              </a:tr>
              <a:tr h="1684042">
                <a:tc>
                  <a:txBody>
                    <a:bodyPr/>
                    <a:lstStyle/>
                    <a:p>
                      <a:pPr>
                        <a:lnSpc>
                          <a:spcPct val="107000"/>
                        </a:lnSpc>
                        <a:spcAft>
                          <a:spcPts val="0"/>
                        </a:spcAft>
                      </a:pPr>
                      <a:r>
                        <a:rPr lang="en-AU" sz="1800">
                          <a:effectLst/>
                        </a:rPr>
                        <a:t> </a:t>
                      </a:r>
                      <a:endParaRPr lang="en-AU"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07000"/>
                        </a:lnSpc>
                        <a:spcAft>
                          <a:spcPts val="0"/>
                        </a:spcAft>
                      </a:pPr>
                      <a:r>
                        <a:rPr lang="en-AU" sz="1800" dirty="0">
                          <a:effectLst/>
                        </a:rPr>
                        <a:t>3-methylbutanal</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4"/>
                  </a:ext>
                </a:extLst>
              </a:tr>
              <a:tr h="1744133">
                <a:tc>
                  <a:txBody>
                    <a:bodyPr/>
                    <a:lstStyle/>
                    <a:p>
                      <a:pPr>
                        <a:lnSpc>
                          <a:spcPct val="107000"/>
                        </a:lnSpc>
                        <a:spcAft>
                          <a:spcPts val="0"/>
                        </a:spcAft>
                      </a:pPr>
                      <a:r>
                        <a:rPr lang="en-AU" sz="1800" dirty="0">
                          <a:effectLst/>
                        </a:rPr>
                        <a:t> </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nSpc>
                          <a:spcPct val="107000"/>
                        </a:lnSpc>
                        <a:spcAft>
                          <a:spcPts val="0"/>
                        </a:spcAft>
                      </a:pPr>
                      <a:r>
                        <a:rPr lang="en-AU" sz="1800" dirty="0">
                          <a:effectLst/>
                        </a:rPr>
                        <a:t>5-methylhexan-3-one</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5"/>
                  </a:ext>
                </a:extLst>
              </a:tr>
            </a:tbl>
          </a:graphicData>
        </a:graphic>
      </p:graphicFrame>
      <p:sp>
        <p:nvSpPr>
          <p:cNvPr id="5" name="TextBox 4"/>
          <p:cNvSpPr txBox="1"/>
          <p:nvPr/>
        </p:nvSpPr>
        <p:spPr>
          <a:xfrm>
            <a:off x="7176345" y="811926"/>
            <a:ext cx="4304453" cy="400110"/>
          </a:xfrm>
          <a:prstGeom prst="rect">
            <a:avLst/>
          </a:prstGeom>
          <a:noFill/>
        </p:spPr>
        <p:txBody>
          <a:bodyPr wrap="square" rtlCol="0">
            <a:spAutoFit/>
          </a:bodyPr>
          <a:lstStyle/>
          <a:p>
            <a:r>
              <a:rPr lang="en-AU" sz="2000" b="1" dirty="0">
                <a:solidFill>
                  <a:srgbClr val="FF0000"/>
                </a:solidFill>
              </a:rPr>
              <a:t>pentan-2-one                   </a:t>
            </a:r>
            <a:r>
              <a:rPr lang="en-AU" sz="1400" b="1" dirty="0">
                <a:solidFill>
                  <a:srgbClr val="FF0000"/>
                </a:solidFill>
              </a:rPr>
              <a:t>(or 2-pentanone)</a:t>
            </a:r>
          </a:p>
        </p:txBody>
      </p:sp>
      <p:sp>
        <p:nvSpPr>
          <p:cNvPr id="6" name="TextBox 5"/>
          <p:cNvSpPr txBox="1"/>
          <p:nvPr/>
        </p:nvSpPr>
        <p:spPr>
          <a:xfrm>
            <a:off x="7176345" y="1737359"/>
            <a:ext cx="4304453" cy="400110"/>
          </a:xfrm>
          <a:prstGeom prst="rect">
            <a:avLst/>
          </a:prstGeom>
          <a:noFill/>
        </p:spPr>
        <p:txBody>
          <a:bodyPr wrap="square" rtlCol="0">
            <a:spAutoFit/>
          </a:bodyPr>
          <a:lstStyle/>
          <a:p>
            <a:r>
              <a:rPr lang="en-AU" sz="2000" b="1" dirty="0">
                <a:solidFill>
                  <a:srgbClr val="FF0000"/>
                </a:solidFill>
              </a:rPr>
              <a:t>2-chloroethanal</a:t>
            </a:r>
            <a:endParaRPr lang="en-AU" sz="1400" b="1" dirty="0">
              <a:solidFill>
                <a:srgbClr val="FF0000"/>
              </a:solidFill>
            </a:endParaRPr>
          </a:p>
        </p:txBody>
      </p:sp>
      <p:sp>
        <p:nvSpPr>
          <p:cNvPr id="8" name="TextBox 7"/>
          <p:cNvSpPr txBox="1"/>
          <p:nvPr/>
        </p:nvSpPr>
        <p:spPr>
          <a:xfrm>
            <a:off x="7086600" y="2581459"/>
            <a:ext cx="4394197" cy="400110"/>
          </a:xfrm>
          <a:prstGeom prst="rect">
            <a:avLst/>
          </a:prstGeom>
          <a:noFill/>
        </p:spPr>
        <p:txBody>
          <a:bodyPr wrap="square" rtlCol="0">
            <a:spAutoFit/>
          </a:bodyPr>
          <a:lstStyle/>
          <a:p>
            <a:r>
              <a:rPr lang="en-AU" sz="2000" b="1" dirty="0">
                <a:solidFill>
                  <a:srgbClr val="FF0000"/>
                </a:solidFill>
              </a:rPr>
              <a:t>2-methylpentanal      </a:t>
            </a:r>
            <a:endParaRPr lang="en-AU" sz="1400" b="1" dirty="0">
              <a:solidFill>
                <a:srgbClr val="FF0000"/>
              </a:solidFill>
            </a:endParaRPr>
          </a:p>
        </p:txBody>
      </p:sp>
      <p:sp>
        <p:nvSpPr>
          <p:cNvPr id="9" name="TextBox 8"/>
          <p:cNvSpPr txBox="1"/>
          <p:nvPr/>
        </p:nvSpPr>
        <p:spPr>
          <a:xfrm>
            <a:off x="1393613" y="3345745"/>
            <a:ext cx="5574454" cy="1631216"/>
          </a:xfrm>
          <a:prstGeom prst="rect">
            <a:avLst/>
          </a:prstGeom>
          <a:noFill/>
        </p:spPr>
        <p:txBody>
          <a:bodyPr wrap="square" rtlCol="0">
            <a:spAutoFit/>
          </a:bodyPr>
          <a:lstStyle/>
          <a:p>
            <a:pPr>
              <a:defRPr/>
            </a:pPr>
            <a:r>
              <a:rPr lang="en-AU" sz="2000" b="1" dirty="0">
                <a:solidFill>
                  <a:srgbClr val="FF0000"/>
                </a:solidFill>
              </a:rPr>
              <a:t>                          O</a:t>
            </a:r>
          </a:p>
          <a:p>
            <a:pPr>
              <a:defRPr/>
            </a:pPr>
            <a:r>
              <a:rPr lang="en-AU" sz="2000" b="1" dirty="0">
                <a:solidFill>
                  <a:srgbClr val="FF0000"/>
                </a:solidFill>
              </a:rPr>
              <a:t>                          </a:t>
            </a:r>
            <a:r>
              <a:rPr lang="en-AU" sz="1400" b="1" dirty="0">
                <a:solidFill>
                  <a:srgbClr val="FF0000"/>
                </a:solidFill>
              </a:rPr>
              <a:t>||</a:t>
            </a:r>
            <a:endParaRPr lang="en-AU" sz="2000" b="1" dirty="0">
              <a:solidFill>
                <a:srgbClr val="FF0000"/>
              </a:solidFill>
            </a:endParaRPr>
          </a:p>
          <a:p>
            <a:pPr>
              <a:defRPr/>
            </a:pPr>
            <a:r>
              <a:rPr lang="en-AU" sz="2000" b="1" dirty="0">
                <a:solidFill>
                  <a:srgbClr val="FF0000"/>
                </a:solidFill>
              </a:rPr>
              <a:t>CH</a:t>
            </a:r>
            <a:r>
              <a:rPr lang="en-AU" sz="2000" b="1" baseline="-25000" dirty="0">
                <a:solidFill>
                  <a:srgbClr val="FF0000"/>
                </a:solidFill>
              </a:rPr>
              <a:t>3</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–C–H        </a:t>
            </a:r>
          </a:p>
          <a:p>
            <a:pPr>
              <a:defRPr/>
            </a:pPr>
            <a:r>
              <a:rPr lang="en-AU" sz="2000" b="1" baseline="-25000" dirty="0">
                <a:solidFill>
                  <a:srgbClr val="FF0000"/>
                </a:solidFill>
                <a:ea typeface="Calibri" panose="020F0502020204030204" pitchFamily="34" charset="0"/>
                <a:cs typeface="Times New Roman" panose="02020603050405020304" pitchFamily="18" charset="0"/>
              </a:rPr>
              <a:t>             </a:t>
            </a:r>
            <a:r>
              <a:rPr lang="en-AU" sz="2000" b="1" dirty="0">
                <a:solidFill>
                  <a:srgbClr val="FF0000"/>
                </a:solidFill>
                <a:ea typeface="Calibri" panose="020F0502020204030204" pitchFamily="34" charset="0"/>
                <a:cs typeface="Times New Roman" panose="02020603050405020304" pitchFamily="18" charset="0"/>
              </a:rPr>
              <a:t>|</a:t>
            </a:r>
            <a:r>
              <a:rPr lang="en-AU" sz="2000" b="1" baseline="-25000" dirty="0">
                <a:solidFill>
                  <a:srgbClr val="FF0000"/>
                </a:solidFill>
                <a:ea typeface="Calibri" panose="020F0502020204030204" pitchFamily="34" charset="0"/>
                <a:cs typeface="Times New Roman" panose="02020603050405020304" pitchFamily="18" charset="0"/>
              </a:rPr>
              <a:t> </a:t>
            </a:r>
          </a:p>
          <a:p>
            <a:pPr>
              <a:defRPr/>
            </a:pPr>
            <a:r>
              <a:rPr lang="en-AU" sz="2000" b="1" baseline="-25000" dirty="0">
                <a:solidFill>
                  <a:srgbClr val="FF0000"/>
                </a:solidFill>
                <a:ea typeface="Calibri" panose="020F0502020204030204" pitchFamily="34" charset="0"/>
                <a:cs typeface="Times New Roman" panose="02020603050405020304" pitchFamily="18" charset="0"/>
              </a:rPr>
              <a:t> </a:t>
            </a:r>
            <a:r>
              <a:rPr lang="en-AU" sz="2000" b="1" dirty="0">
                <a:solidFill>
                  <a:srgbClr val="FF0000"/>
                </a:solidFill>
                <a:ea typeface="Calibri" panose="020F0502020204030204" pitchFamily="34" charset="0"/>
                <a:cs typeface="Times New Roman" panose="02020603050405020304" pitchFamily="18" charset="0"/>
              </a:rPr>
              <a:t>        CH</a:t>
            </a:r>
            <a:r>
              <a:rPr lang="en-AU" sz="2000" b="1" baseline="-25000" dirty="0">
                <a:solidFill>
                  <a:srgbClr val="FF0000"/>
                </a:solidFill>
                <a:ea typeface="Calibri" panose="020F0502020204030204" pitchFamily="34" charset="0"/>
                <a:cs typeface="Times New Roman" panose="02020603050405020304" pitchFamily="18" charset="0"/>
              </a:rPr>
              <a:t>3</a:t>
            </a:r>
            <a:endParaRPr lang="en-AU" sz="2000" b="1" dirty="0">
              <a:solidFill>
                <a:srgbClr val="FF0000"/>
              </a:solidFill>
              <a:ea typeface="Calibri" panose="020F0502020204030204" pitchFamily="34" charset="0"/>
              <a:cs typeface="Times New Roman" panose="02020603050405020304" pitchFamily="18" charset="0"/>
            </a:endParaRPr>
          </a:p>
        </p:txBody>
      </p:sp>
      <p:sp>
        <p:nvSpPr>
          <p:cNvPr id="10" name="TextBox 9"/>
          <p:cNvSpPr txBox="1"/>
          <p:nvPr/>
        </p:nvSpPr>
        <p:spPr>
          <a:xfrm>
            <a:off x="1215812" y="5115278"/>
            <a:ext cx="7191587" cy="1631216"/>
          </a:xfrm>
          <a:prstGeom prst="rect">
            <a:avLst/>
          </a:prstGeom>
          <a:noFill/>
        </p:spPr>
        <p:txBody>
          <a:bodyPr wrap="square" rtlCol="0">
            <a:spAutoFit/>
          </a:bodyPr>
          <a:lstStyle/>
          <a:p>
            <a:pPr>
              <a:defRPr/>
            </a:pPr>
            <a:r>
              <a:rPr lang="en-AU" sz="2000" b="1" dirty="0">
                <a:solidFill>
                  <a:srgbClr val="FF0000"/>
                </a:solidFill>
              </a:rPr>
              <a:t>                  O</a:t>
            </a:r>
          </a:p>
          <a:p>
            <a:pPr>
              <a:defRPr/>
            </a:pPr>
            <a:r>
              <a:rPr lang="en-AU" sz="2000" b="1" dirty="0">
                <a:solidFill>
                  <a:srgbClr val="FF0000"/>
                </a:solidFill>
              </a:rPr>
              <a:t>                  </a:t>
            </a:r>
            <a:r>
              <a:rPr lang="en-AU" sz="1400" b="1" dirty="0">
                <a:solidFill>
                  <a:srgbClr val="FF0000"/>
                </a:solidFill>
              </a:rPr>
              <a:t>||</a:t>
            </a:r>
            <a:endParaRPr lang="en-AU" sz="2000" b="1" dirty="0">
              <a:solidFill>
                <a:srgbClr val="FF0000"/>
              </a:solidFill>
            </a:endParaRPr>
          </a:p>
          <a:p>
            <a:pPr>
              <a:defRPr/>
            </a:pPr>
            <a:r>
              <a:rPr lang="en-AU" sz="2000" b="1" dirty="0">
                <a:solidFill>
                  <a:srgbClr val="FF0000"/>
                </a:solidFill>
              </a:rPr>
              <a:t>CH</a:t>
            </a:r>
            <a:r>
              <a:rPr lang="en-AU" sz="2000" b="1" baseline="-25000" dirty="0">
                <a:solidFill>
                  <a:srgbClr val="FF0000"/>
                </a:solidFill>
              </a:rPr>
              <a:t>3</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–C–CH</a:t>
            </a:r>
            <a:r>
              <a:rPr lang="en-AU" sz="2000" b="1" baseline="-25000" dirty="0">
                <a:solidFill>
                  <a:srgbClr val="FF0000"/>
                </a:solidFill>
              </a:rPr>
              <a:t>2</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–CH</a:t>
            </a:r>
            <a:r>
              <a:rPr lang="en-AU" sz="2000" b="1" baseline="-25000" dirty="0">
                <a:solidFill>
                  <a:srgbClr val="FF0000"/>
                </a:solidFill>
              </a:rPr>
              <a:t>3</a:t>
            </a:r>
          </a:p>
          <a:p>
            <a:pPr>
              <a:defRPr/>
            </a:pPr>
            <a:r>
              <a:rPr lang="en-AU" sz="2000" b="1" baseline="-25000" dirty="0">
                <a:solidFill>
                  <a:srgbClr val="FF0000"/>
                </a:solidFill>
                <a:ea typeface="Calibri" panose="020F0502020204030204" pitchFamily="34" charset="0"/>
                <a:cs typeface="Times New Roman" panose="02020603050405020304" pitchFamily="18" charset="0"/>
              </a:rPr>
              <a:t>                                               </a:t>
            </a:r>
            <a:r>
              <a:rPr lang="en-AU" sz="2000" b="1" dirty="0">
                <a:solidFill>
                  <a:srgbClr val="FF0000"/>
                </a:solidFill>
                <a:ea typeface="Calibri" panose="020F0502020204030204" pitchFamily="34" charset="0"/>
                <a:cs typeface="Times New Roman" panose="02020603050405020304" pitchFamily="18" charset="0"/>
              </a:rPr>
              <a:t>|</a:t>
            </a:r>
          </a:p>
          <a:p>
            <a:pPr>
              <a:defRPr/>
            </a:pPr>
            <a:r>
              <a:rPr lang="en-AU" sz="2000" b="1" dirty="0">
                <a:solidFill>
                  <a:srgbClr val="FF0000"/>
                </a:solidFill>
                <a:ea typeface="Calibri" panose="020F0502020204030204" pitchFamily="34" charset="0"/>
                <a:cs typeface="Times New Roman" panose="02020603050405020304" pitchFamily="18" charset="0"/>
              </a:rPr>
              <a:t>                               CH</a:t>
            </a:r>
            <a:r>
              <a:rPr lang="en-AU" sz="2000" b="1" baseline="-25000" dirty="0">
                <a:solidFill>
                  <a:srgbClr val="FF0000"/>
                </a:solidFill>
                <a:ea typeface="Calibri" panose="020F0502020204030204" pitchFamily="34" charset="0"/>
                <a:cs typeface="Times New Roman" panose="02020603050405020304" pitchFamily="18" charset="0"/>
              </a:rPr>
              <a:t>3</a:t>
            </a:r>
            <a:endParaRPr lang="en-AU" sz="2000" b="1" dirty="0">
              <a:solidFill>
                <a:srgbClr val="FF0000"/>
              </a:solidFill>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02810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8" grpId="0"/>
      <p:bldP spid="9" grpId="0"/>
      <p:bldP spid="10"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Carboxylic acids</a:t>
            </a:r>
          </a:p>
        </p:txBody>
      </p:sp>
      <p:sp>
        <p:nvSpPr>
          <p:cNvPr id="3" name="Content Placeholder 2"/>
          <p:cNvSpPr>
            <a:spLocks noGrp="1"/>
          </p:cNvSpPr>
          <p:nvPr>
            <p:ph idx="1"/>
          </p:nvPr>
        </p:nvSpPr>
        <p:spPr>
          <a:xfrm>
            <a:off x="939800" y="1845733"/>
            <a:ext cx="11211366" cy="4529667"/>
          </a:xfrm>
        </p:spPr>
        <p:txBody>
          <a:bodyPr>
            <a:normAutofit lnSpcReduction="10000"/>
          </a:bodyPr>
          <a:lstStyle/>
          <a:p>
            <a:pPr>
              <a:lnSpc>
                <a:spcPct val="120000"/>
              </a:lnSpc>
              <a:spcBef>
                <a:spcPts val="0"/>
              </a:spcBef>
              <a:spcAft>
                <a:spcPts val="0"/>
              </a:spcAft>
            </a:pPr>
            <a:endParaRPr lang="en-AU" sz="2800" b="1" dirty="0"/>
          </a:p>
          <a:p>
            <a:pPr>
              <a:lnSpc>
                <a:spcPct val="120000"/>
              </a:lnSpc>
              <a:spcBef>
                <a:spcPts val="0"/>
              </a:spcBef>
              <a:spcAft>
                <a:spcPts val="0"/>
              </a:spcAft>
            </a:pPr>
            <a:r>
              <a:rPr lang="en-AU" sz="2800" b="1" dirty="0"/>
              <a:t>Functional group:</a:t>
            </a:r>
          </a:p>
          <a:p>
            <a:pPr>
              <a:lnSpc>
                <a:spcPct val="120000"/>
              </a:lnSpc>
              <a:spcBef>
                <a:spcPts val="0"/>
              </a:spcBef>
              <a:spcAft>
                <a:spcPts val="0"/>
              </a:spcAft>
            </a:pPr>
            <a:endParaRPr lang="en-AU" sz="1050" b="1" dirty="0"/>
          </a:p>
          <a:p>
            <a:pPr>
              <a:lnSpc>
                <a:spcPct val="120000"/>
              </a:lnSpc>
              <a:spcBef>
                <a:spcPts val="0"/>
              </a:spcBef>
              <a:spcAft>
                <a:spcPts val="0"/>
              </a:spcAft>
            </a:pPr>
            <a:endParaRPr lang="en-AU" sz="1600" b="1" dirty="0"/>
          </a:p>
          <a:p>
            <a:pPr>
              <a:lnSpc>
                <a:spcPct val="120000"/>
              </a:lnSpc>
              <a:spcBef>
                <a:spcPts val="0"/>
              </a:spcBef>
              <a:spcAft>
                <a:spcPts val="0"/>
              </a:spcAft>
            </a:pPr>
            <a:r>
              <a:rPr lang="en-AU" sz="1600" b="1" dirty="0"/>
              <a:t>Also written as –COOH (at end) or HOOC– (at start)</a:t>
            </a:r>
            <a:endParaRPr lang="en-AU" sz="1200" b="1" dirty="0"/>
          </a:p>
          <a:p>
            <a:r>
              <a:rPr lang="en-AU" b="1" dirty="0"/>
              <a:t>Naming:</a:t>
            </a:r>
          </a:p>
          <a:p>
            <a:pPr marL="457200" indent="-457200">
              <a:buFont typeface="+mj-lt"/>
              <a:buAutoNum type="arabicPeriod"/>
            </a:pPr>
            <a:r>
              <a:rPr lang="en-AU" dirty="0"/>
              <a:t>Choose the longest carbon chain including the </a:t>
            </a:r>
            <a:r>
              <a:rPr lang="en-AU" b="1" dirty="0"/>
              <a:t>COOH</a:t>
            </a:r>
            <a:r>
              <a:rPr lang="en-AU" dirty="0"/>
              <a:t> </a:t>
            </a:r>
            <a:r>
              <a:rPr lang="en-AU" b="1" dirty="0"/>
              <a:t>group</a:t>
            </a:r>
          </a:p>
          <a:p>
            <a:pPr marL="457200" indent="-457200">
              <a:buFont typeface="+mj-lt"/>
              <a:buAutoNum type="arabicPeriod"/>
            </a:pPr>
            <a:r>
              <a:rPr lang="en-AU" dirty="0"/>
              <a:t>Name the longest chain, replacing the last ‘e’ with the suffix ‘</a:t>
            </a:r>
            <a:r>
              <a:rPr lang="en-AU" dirty="0" err="1"/>
              <a:t>oic</a:t>
            </a:r>
            <a:r>
              <a:rPr lang="en-AU" dirty="0"/>
              <a:t> acid’</a:t>
            </a:r>
          </a:p>
          <a:p>
            <a:pPr marL="292608" lvl="1" indent="0">
              <a:buNone/>
            </a:pPr>
            <a:r>
              <a:rPr lang="en-AU" dirty="0"/>
              <a:t>	Methane </a:t>
            </a:r>
            <a:r>
              <a:rPr lang="en-AU" dirty="0">
                <a:sym typeface="Wingdings" panose="05000000000000000000" pitchFamily="2" charset="2"/>
              </a:rPr>
              <a:t> </a:t>
            </a:r>
            <a:r>
              <a:rPr lang="en-AU" dirty="0" err="1">
                <a:sym typeface="Wingdings" panose="05000000000000000000" pitchFamily="2" charset="2"/>
              </a:rPr>
              <a:t>Methanoic</a:t>
            </a:r>
            <a:r>
              <a:rPr lang="en-AU" dirty="0">
                <a:sym typeface="Wingdings" panose="05000000000000000000" pitchFamily="2" charset="2"/>
              </a:rPr>
              <a:t> acid</a:t>
            </a:r>
          </a:p>
          <a:p>
            <a:pPr marL="292608" lvl="1" indent="0">
              <a:buNone/>
            </a:pPr>
            <a:r>
              <a:rPr lang="en-AU" dirty="0">
                <a:sym typeface="Wingdings" panose="05000000000000000000" pitchFamily="2" charset="2"/>
              </a:rPr>
              <a:t>	Hexane  </a:t>
            </a:r>
            <a:r>
              <a:rPr lang="en-AU" dirty="0" err="1">
                <a:sym typeface="Wingdings" panose="05000000000000000000" pitchFamily="2" charset="2"/>
              </a:rPr>
              <a:t>Hexanoic</a:t>
            </a:r>
            <a:r>
              <a:rPr lang="en-AU" dirty="0">
                <a:sym typeface="Wingdings" panose="05000000000000000000" pitchFamily="2" charset="2"/>
              </a:rPr>
              <a:t> acid</a:t>
            </a:r>
          </a:p>
          <a:p>
            <a:pPr marL="342900" indent="-342900">
              <a:buFont typeface="+mj-lt"/>
              <a:buAutoNum type="arabicPeriod"/>
            </a:pPr>
            <a:r>
              <a:rPr lang="en-AU" dirty="0">
                <a:sym typeface="Wingdings" panose="05000000000000000000" pitchFamily="2" charset="2"/>
              </a:rPr>
              <a:t>Number the carbon chain so that the </a:t>
            </a:r>
            <a:r>
              <a:rPr lang="en-AU" b="1" dirty="0">
                <a:sym typeface="Wingdings" panose="05000000000000000000" pitchFamily="2" charset="2"/>
              </a:rPr>
              <a:t>–COOH </a:t>
            </a:r>
            <a:r>
              <a:rPr lang="en-AU" dirty="0">
                <a:sym typeface="Wingdings" panose="05000000000000000000" pitchFamily="2" charset="2"/>
              </a:rPr>
              <a:t>group starts from carbon #1. You do not need to show the position of the group in the compound’s name because (by definition) it will be at carbon #1.</a:t>
            </a:r>
            <a:endParaRPr lang="en-AU" b="1" dirty="0">
              <a:sym typeface="Wingdings" panose="05000000000000000000" pitchFamily="2" charset="2"/>
            </a:endParaRPr>
          </a:p>
        </p:txBody>
      </p:sp>
      <p:sp>
        <p:nvSpPr>
          <p:cNvPr id="7" name="TextBox 6"/>
          <p:cNvSpPr txBox="1"/>
          <p:nvPr/>
        </p:nvSpPr>
        <p:spPr>
          <a:xfrm>
            <a:off x="5983745" y="3188117"/>
            <a:ext cx="2291236" cy="369332"/>
          </a:xfrm>
          <a:prstGeom prst="rect">
            <a:avLst/>
          </a:prstGeom>
          <a:noFill/>
        </p:spPr>
        <p:txBody>
          <a:bodyPr wrap="square" rtlCol="0">
            <a:spAutoFit/>
          </a:bodyPr>
          <a:lstStyle/>
          <a:p>
            <a:pPr algn="ctr"/>
            <a:r>
              <a:rPr lang="en-AU" b="1" dirty="0" err="1">
                <a:solidFill>
                  <a:srgbClr val="0070C0"/>
                </a:solidFill>
              </a:rPr>
              <a:t>methanoic</a:t>
            </a:r>
            <a:r>
              <a:rPr lang="en-AU" b="1" dirty="0">
                <a:solidFill>
                  <a:srgbClr val="0070C0"/>
                </a:solidFill>
              </a:rPr>
              <a:t> acid</a:t>
            </a:r>
          </a:p>
        </p:txBody>
      </p:sp>
      <p:sp>
        <p:nvSpPr>
          <p:cNvPr id="9" name="TextBox 8"/>
          <p:cNvSpPr txBox="1"/>
          <p:nvPr/>
        </p:nvSpPr>
        <p:spPr>
          <a:xfrm>
            <a:off x="8416049" y="3188117"/>
            <a:ext cx="2291236" cy="369332"/>
          </a:xfrm>
          <a:prstGeom prst="rect">
            <a:avLst/>
          </a:prstGeom>
          <a:noFill/>
        </p:spPr>
        <p:txBody>
          <a:bodyPr wrap="square" rtlCol="0">
            <a:spAutoFit/>
          </a:bodyPr>
          <a:lstStyle/>
          <a:p>
            <a:pPr algn="ctr"/>
            <a:r>
              <a:rPr lang="en-AU" b="1" dirty="0">
                <a:solidFill>
                  <a:srgbClr val="0070C0"/>
                </a:solidFill>
              </a:rPr>
              <a:t>ethanoic acid</a:t>
            </a:r>
          </a:p>
        </p:txBody>
      </p:sp>
      <p:sp>
        <p:nvSpPr>
          <p:cNvPr id="15" name="Oval 14"/>
          <p:cNvSpPr/>
          <p:nvPr/>
        </p:nvSpPr>
        <p:spPr>
          <a:xfrm>
            <a:off x="6543233" y="1855888"/>
            <a:ext cx="1452377" cy="1296321"/>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pic>
        <p:nvPicPr>
          <p:cNvPr id="39938" name="Picture 2" descr="https://upload.wikimedia.org/wikipedia/commons/thumb/b/b5/Carboxylic-acid.svg/599px-Carboxylic-acid.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51275" y="1748067"/>
            <a:ext cx="1619250" cy="1297563"/>
          </a:xfrm>
          <a:prstGeom prst="rect">
            <a:avLst/>
          </a:prstGeom>
          <a:noFill/>
          <a:extLst>
            <a:ext uri="{909E8E84-426E-40DD-AFC4-6F175D3DCCD1}">
              <a14:hiddenFill xmlns:a14="http://schemas.microsoft.com/office/drawing/2010/main">
                <a:solidFill>
                  <a:srgbClr val="FFFFFF"/>
                </a:solidFill>
              </a14:hiddenFill>
            </a:ext>
          </a:extLst>
        </p:spPr>
      </p:pic>
      <p:pic>
        <p:nvPicPr>
          <p:cNvPr id="39942" name="Picture 6" descr="http://f.tqn.com/y/chemistry/1/S/f/m/aceticaci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247026" y="1747513"/>
            <a:ext cx="2065374" cy="1419945"/>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6126480" y="1737360"/>
            <a:ext cx="1615313" cy="1430098"/>
            <a:chOff x="5962856" y="-10153"/>
            <a:chExt cx="1615313" cy="1430098"/>
          </a:xfrm>
        </p:grpSpPr>
        <p:pic>
          <p:nvPicPr>
            <p:cNvPr id="16" name="Picture 6" descr="http://f.tqn.com/y/chemistry/1/S/f/m/aceticacid.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38895"/>
            <a:stretch/>
          </p:blipFill>
          <p:spPr bwMode="auto">
            <a:xfrm>
              <a:off x="6316132" y="0"/>
              <a:ext cx="1262037" cy="141994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descr="http://f.tqn.com/y/chemistry/1/S/f/m/aceticacid.jpg"/>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r="82895"/>
            <a:stretch/>
          </p:blipFill>
          <p:spPr bwMode="auto">
            <a:xfrm>
              <a:off x="5962856" y="-10153"/>
              <a:ext cx="353276" cy="1419945"/>
            </a:xfrm>
            <a:prstGeom prst="rect">
              <a:avLst/>
            </a:prstGeom>
            <a:noFill/>
            <a:extLst>
              <a:ext uri="{909E8E84-426E-40DD-AFC4-6F175D3DCCD1}">
                <a14:hiddenFill xmlns:a14="http://schemas.microsoft.com/office/drawing/2010/main">
                  <a:solidFill>
                    <a:srgbClr val="FFFFFF"/>
                  </a:solidFill>
                </a14:hiddenFill>
              </a:ext>
            </a:extLst>
          </p:spPr>
        </p:pic>
      </p:grpSp>
      <p:sp>
        <p:nvSpPr>
          <p:cNvPr id="19" name="Oval 18"/>
          <p:cNvSpPr/>
          <p:nvPr/>
        </p:nvSpPr>
        <p:spPr>
          <a:xfrm>
            <a:off x="9136840" y="1847421"/>
            <a:ext cx="1452377" cy="1296321"/>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Tree>
    <p:extLst>
      <p:ext uri="{BB962C8B-B14F-4D97-AF65-F5344CB8AC3E}">
        <p14:creationId xmlns:p14="http://schemas.microsoft.com/office/powerpoint/2010/main" val="30924671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Carboxylic acids</a:t>
            </a:r>
          </a:p>
        </p:txBody>
      </p:sp>
      <p:pic>
        <p:nvPicPr>
          <p:cNvPr id="4" name="Picture 3"/>
          <p:cNvPicPr>
            <a:picLocks noChangeAspect="1"/>
          </p:cNvPicPr>
          <p:nvPr/>
        </p:nvPicPr>
        <p:blipFill>
          <a:blip r:embed="rId2"/>
          <a:stretch>
            <a:fillRect/>
          </a:stretch>
        </p:blipFill>
        <p:spPr>
          <a:xfrm>
            <a:off x="2029353" y="1845733"/>
            <a:ext cx="8469314" cy="3327993"/>
          </a:xfrm>
          <a:prstGeom prst="rect">
            <a:avLst/>
          </a:prstGeom>
        </p:spPr>
      </p:pic>
      <p:sp>
        <p:nvSpPr>
          <p:cNvPr id="6" name="TextBox 5"/>
          <p:cNvSpPr txBox="1"/>
          <p:nvPr/>
        </p:nvSpPr>
        <p:spPr>
          <a:xfrm>
            <a:off x="2715612" y="4967412"/>
            <a:ext cx="2291236" cy="369332"/>
          </a:xfrm>
          <a:prstGeom prst="rect">
            <a:avLst/>
          </a:prstGeom>
          <a:noFill/>
        </p:spPr>
        <p:txBody>
          <a:bodyPr wrap="square" rtlCol="0">
            <a:spAutoFit/>
          </a:bodyPr>
          <a:lstStyle/>
          <a:p>
            <a:pPr algn="ctr"/>
            <a:r>
              <a:rPr lang="en-AU" b="1" dirty="0" err="1">
                <a:solidFill>
                  <a:srgbClr val="0070C0"/>
                </a:solidFill>
              </a:rPr>
              <a:t>methylpropanoic</a:t>
            </a:r>
            <a:r>
              <a:rPr lang="en-AU" b="1" dirty="0">
                <a:solidFill>
                  <a:srgbClr val="0070C0"/>
                </a:solidFill>
              </a:rPr>
              <a:t> acid</a:t>
            </a:r>
          </a:p>
        </p:txBody>
      </p:sp>
      <p:sp>
        <p:nvSpPr>
          <p:cNvPr id="7" name="TextBox 6"/>
          <p:cNvSpPr txBox="1"/>
          <p:nvPr/>
        </p:nvSpPr>
        <p:spPr>
          <a:xfrm>
            <a:off x="6396996" y="4978073"/>
            <a:ext cx="2762322" cy="369332"/>
          </a:xfrm>
          <a:prstGeom prst="rect">
            <a:avLst/>
          </a:prstGeom>
          <a:noFill/>
        </p:spPr>
        <p:txBody>
          <a:bodyPr wrap="square" rtlCol="0">
            <a:spAutoFit/>
          </a:bodyPr>
          <a:lstStyle/>
          <a:p>
            <a:pPr algn="ctr"/>
            <a:r>
              <a:rPr lang="en-AU" b="1" dirty="0">
                <a:solidFill>
                  <a:srgbClr val="0070C0"/>
                </a:solidFill>
              </a:rPr>
              <a:t>3-methylbutanoic acid</a:t>
            </a:r>
          </a:p>
        </p:txBody>
      </p:sp>
      <p:sp>
        <p:nvSpPr>
          <p:cNvPr id="5" name="TextBox 4"/>
          <p:cNvSpPr txBox="1"/>
          <p:nvPr/>
        </p:nvSpPr>
        <p:spPr>
          <a:xfrm>
            <a:off x="8766047" y="3673548"/>
            <a:ext cx="530353" cy="276999"/>
          </a:xfrm>
          <a:prstGeom prst="rect">
            <a:avLst/>
          </a:prstGeom>
          <a:noFill/>
        </p:spPr>
        <p:txBody>
          <a:bodyPr wrap="square" rtlCol="0">
            <a:spAutoFit/>
          </a:bodyPr>
          <a:lstStyle/>
          <a:p>
            <a:r>
              <a:rPr lang="en-AU" sz="1200" b="1" dirty="0">
                <a:solidFill>
                  <a:srgbClr val="FF0000"/>
                </a:solidFill>
              </a:rPr>
              <a:t>1</a:t>
            </a:r>
          </a:p>
        </p:txBody>
      </p:sp>
      <p:sp>
        <p:nvSpPr>
          <p:cNvPr id="9" name="TextBox 8"/>
          <p:cNvSpPr txBox="1"/>
          <p:nvPr/>
        </p:nvSpPr>
        <p:spPr>
          <a:xfrm>
            <a:off x="7936314" y="3673548"/>
            <a:ext cx="530353" cy="276999"/>
          </a:xfrm>
          <a:prstGeom prst="rect">
            <a:avLst/>
          </a:prstGeom>
          <a:noFill/>
        </p:spPr>
        <p:txBody>
          <a:bodyPr wrap="square" rtlCol="0">
            <a:spAutoFit/>
          </a:bodyPr>
          <a:lstStyle/>
          <a:p>
            <a:r>
              <a:rPr lang="en-AU" sz="1200" b="1" dirty="0">
                <a:solidFill>
                  <a:srgbClr val="FF0000"/>
                </a:solidFill>
              </a:rPr>
              <a:t>2</a:t>
            </a:r>
          </a:p>
        </p:txBody>
      </p:sp>
      <p:sp>
        <p:nvSpPr>
          <p:cNvPr id="10" name="TextBox 9"/>
          <p:cNvSpPr txBox="1"/>
          <p:nvPr/>
        </p:nvSpPr>
        <p:spPr>
          <a:xfrm>
            <a:off x="7196634" y="3682014"/>
            <a:ext cx="530353" cy="276999"/>
          </a:xfrm>
          <a:prstGeom prst="rect">
            <a:avLst/>
          </a:prstGeom>
          <a:noFill/>
        </p:spPr>
        <p:txBody>
          <a:bodyPr wrap="square" rtlCol="0">
            <a:spAutoFit/>
          </a:bodyPr>
          <a:lstStyle/>
          <a:p>
            <a:r>
              <a:rPr lang="en-AU" sz="1200" b="1" dirty="0">
                <a:solidFill>
                  <a:srgbClr val="FF0000"/>
                </a:solidFill>
              </a:rPr>
              <a:t>3</a:t>
            </a:r>
          </a:p>
        </p:txBody>
      </p:sp>
      <p:sp>
        <p:nvSpPr>
          <p:cNvPr id="11" name="TextBox 10"/>
          <p:cNvSpPr txBox="1"/>
          <p:nvPr/>
        </p:nvSpPr>
        <p:spPr>
          <a:xfrm>
            <a:off x="7188168" y="3035082"/>
            <a:ext cx="530353" cy="276999"/>
          </a:xfrm>
          <a:prstGeom prst="rect">
            <a:avLst/>
          </a:prstGeom>
          <a:noFill/>
        </p:spPr>
        <p:txBody>
          <a:bodyPr wrap="square" rtlCol="0">
            <a:spAutoFit/>
          </a:bodyPr>
          <a:lstStyle/>
          <a:p>
            <a:r>
              <a:rPr lang="en-AU" sz="1200" b="1" dirty="0">
                <a:solidFill>
                  <a:srgbClr val="FF0000"/>
                </a:solidFill>
              </a:rPr>
              <a:t>4</a:t>
            </a:r>
          </a:p>
        </p:txBody>
      </p:sp>
      <p:sp>
        <p:nvSpPr>
          <p:cNvPr id="12" name="TextBox 11"/>
          <p:cNvSpPr txBox="1"/>
          <p:nvPr/>
        </p:nvSpPr>
        <p:spPr>
          <a:xfrm>
            <a:off x="7149343" y="2460357"/>
            <a:ext cx="530353" cy="276999"/>
          </a:xfrm>
          <a:prstGeom prst="rect">
            <a:avLst/>
          </a:prstGeom>
          <a:noFill/>
        </p:spPr>
        <p:txBody>
          <a:bodyPr wrap="square" rtlCol="0">
            <a:spAutoFit/>
          </a:bodyPr>
          <a:lstStyle/>
          <a:p>
            <a:r>
              <a:rPr lang="en-AU" sz="1200" b="1" dirty="0">
                <a:solidFill>
                  <a:srgbClr val="FF0000"/>
                </a:solidFill>
              </a:rPr>
              <a:t>5</a:t>
            </a:r>
          </a:p>
        </p:txBody>
      </p:sp>
    </p:spTree>
    <p:extLst>
      <p:ext uri="{BB962C8B-B14F-4D97-AF65-F5344CB8AC3E}">
        <p14:creationId xmlns:p14="http://schemas.microsoft.com/office/powerpoint/2010/main" val="23791135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476940700"/>
              </p:ext>
            </p:extLst>
          </p:nvPr>
        </p:nvGraphicFramePr>
        <p:xfrm>
          <a:off x="1097278" y="143319"/>
          <a:ext cx="10544388" cy="6651669"/>
        </p:xfrm>
        <a:graphic>
          <a:graphicData uri="http://schemas.openxmlformats.org/drawingml/2006/table">
            <a:tbl>
              <a:tblPr firstRow="1" firstCol="1" bandRow="1">
                <a:tableStyleId>{69012ECD-51FC-41F1-AA8D-1B2483CD663E}</a:tableStyleId>
              </a:tblPr>
              <a:tblGrid>
                <a:gridCol w="6344922">
                  <a:extLst>
                    <a:ext uri="{9D8B030D-6E8A-4147-A177-3AD203B41FA5}">
                      <a16:colId xmlns:a16="http://schemas.microsoft.com/office/drawing/2014/main" val="20000"/>
                    </a:ext>
                  </a:extLst>
                </a:gridCol>
                <a:gridCol w="4199466">
                  <a:extLst>
                    <a:ext uri="{9D8B030D-6E8A-4147-A177-3AD203B41FA5}">
                      <a16:colId xmlns:a16="http://schemas.microsoft.com/office/drawing/2014/main" val="20001"/>
                    </a:ext>
                  </a:extLst>
                </a:gridCol>
              </a:tblGrid>
              <a:tr h="346809">
                <a:tc>
                  <a:txBody>
                    <a:bodyPr/>
                    <a:lstStyle/>
                    <a:p>
                      <a:pPr>
                        <a:lnSpc>
                          <a:spcPct val="107000"/>
                        </a:lnSpc>
                        <a:spcAft>
                          <a:spcPts val="0"/>
                        </a:spcAft>
                      </a:pPr>
                      <a:r>
                        <a:rPr lang="en-AU" sz="1800" dirty="0">
                          <a:effectLst/>
                        </a:rPr>
                        <a:t>Structure</a:t>
                      </a:r>
                      <a:endParaRPr lang="en-AU"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nSpc>
                          <a:spcPct val="107000"/>
                        </a:lnSpc>
                        <a:spcAft>
                          <a:spcPts val="0"/>
                        </a:spcAft>
                      </a:pPr>
                      <a:r>
                        <a:rPr lang="en-AU" sz="1800">
                          <a:effectLst/>
                        </a:rPr>
                        <a:t>Name</a:t>
                      </a:r>
                      <a:endParaRPr lang="en-AU"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1321739">
                <a:tc>
                  <a:txBody>
                    <a:bodyPr/>
                    <a:lstStyle/>
                    <a:p>
                      <a:pPr>
                        <a:lnSpc>
                          <a:spcPct val="107000"/>
                        </a:lnSpc>
                        <a:spcAft>
                          <a:spcPts val="0"/>
                        </a:spcAft>
                      </a:pPr>
                      <a:r>
                        <a:rPr lang="en-AU" sz="1800">
                          <a:effectLst/>
                          <a:latin typeface="Arial" panose="020B0604020202020204" pitchFamily="34" charset="0"/>
                          <a:ea typeface="Calibri" panose="020F0502020204030204" pitchFamily="34" charset="0"/>
                          <a:cs typeface="Times New Roman" panose="02020603050405020304" pitchFamily="18" charset="0"/>
                        </a:rPr>
                        <a:t> </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gn="ctr">
                        <a:lnSpc>
                          <a:spcPct val="107000"/>
                        </a:lnSpc>
                        <a:spcAft>
                          <a:spcPts val="0"/>
                        </a:spcAft>
                      </a:pPr>
                      <a:r>
                        <a:rPr lang="en-AU" sz="1800">
                          <a:effectLst/>
                          <a:latin typeface="Arial" panose="020B0604020202020204" pitchFamily="34" charset="0"/>
                          <a:ea typeface="Calibri" panose="020F0502020204030204" pitchFamily="34" charset="0"/>
                          <a:cs typeface="Times New Roman" panose="02020603050405020304" pitchFamily="18" charset="0"/>
                        </a:rPr>
                        <a:t>pentanoic acid</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1"/>
                  </a:ext>
                </a:extLst>
              </a:tr>
              <a:tr h="1244600">
                <a:tc>
                  <a:txBody>
                    <a:bodyPr/>
                    <a:lstStyle/>
                    <a:p>
                      <a:pPr>
                        <a:lnSpc>
                          <a:spcPct val="107000"/>
                        </a:lnSpc>
                        <a:spcAft>
                          <a:spcPts val="0"/>
                        </a:spcAft>
                      </a:pPr>
                      <a:r>
                        <a:rPr lang="en-AU" sz="1800" dirty="0">
                          <a:effectLst/>
                          <a:latin typeface="Arial" panose="020B0604020202020204" pitchFamily="34" charset="0"/>
                          <a:ea typeface="Calibri" panose="020F0502020204030204" pitchFamily="34" charset="0"/>
                          <a:cs typeface="Times New Roman" panose="02020603050405020304" pitchFamily="18" charset="0"/>
                        </a:rPr>
                        <a:t>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gn="ctr">
                        <a:lnSpc>
                          <a:spcPct val="107000"/>
                        </a:lnSpc>
                        <a:spcAft>
                          <a:spcPts val="0"/>
                        </a:spcAft>
                      </a:pPr>
                      <a:r>
                        <a:rPr lang="en-AU" sz="1800">
                          <a:effectLst/>
                          <a:latin typeface="Arial" panose="020B0604020202020204" pitchFamily="34" charset="0"/>
                          <a:ea typeface="Calibri" panose="020F0502020204030204" pitchFamily="34" charset="0"/>
                          <a:cs typeface="Times New Roman" panose="02020603050405020304" pitchFamily="18" charset="0"/>
                        </a:rPr>
                        <a:t>4-chloroheptanoic acid</a:t>
                      </a:r>
                      <a:endParaRPr lang="en-AU" sz="18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2"/>
                  </a:ext>
                </a:extLst>
              </a:tr>
              <a:tr h="1072447">
                <a:tc>
                  <a:txBody>
                    <a:bodyPr/>
                    <a:lstStyle/>
                    <a:p>
                      <a:pPr>
                        <a:lnSpc>
                          <a:spcPct val="107000"/>
                        </a:lnSpc>
                        <a:spcAft>
                          <a:spcPts val="0"/>
                        </a:spcAft>
                      </a:pPr>
                      <a:r>
                        <a:rPr lang="en-AU" sz="1800" dirty="0">
                          <a:effectLst/>
                          <a:latin typeface="Arial" panose="020B0604020202020204" pitchFamily="34" charset="0"/>
                          <a:ea typeface="Calibri" panose="020F0502020204030204" pitchFamily="34" charset="0"/>
                          <a:cs typeface="Times New Roman" panose="02020603050405020304" pitchFamily="18" charset="0"/>
                        </a:rPr>
                        <a:t>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AU" sz="1800" dirty="0">
                          <a:effectLst/>
                          <a:latin typeface="Arial" panose="020B0604020202020204" pitchFamily="34" charset="0"/>
                          <a:ea typeface="Calibri" panose="020F0502020204030204" pitchFamily="34" charset="0"/>
                          <a:cs typeface="Times New Roman" panose="02020603050405020304" pitchFamily="18" charset="0"/>
                        </a:rPr>
                        <a:t>                                                                O</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AU" sz="1800" dirty="0">
                          <a:effectLst/>
                          <a:latin typeface="Arial" panose="020B0604020202020204" pitchFamily="34" charset="0"/>
                          <a:ea typeface="Calibri" panose="020F0502020204030204" pitchFamily="34" charset="0"/>
                          <a:cs typeface="Times New Roman" panose="02020603050405020304" pitchFamily="18" charset="0"/>
                        </a:rPr>
                        <a:t>                                                            </a:t>
                      </a:r>
                      <a:r>
                        <a:rPr lang="en-AU" sz="1800" baseline="-25000" dirty="0">
                          <a:effectLst/>
                          <a:latin typeface="Arial" panose="020B0604020202020204" pitchFamily="34" charset="0"/>
                          <a:ea typeface="Calibri" panose="020F0502020204030204" pitchFamily="34" charset="0"/>
                          <a:cs typeface="Times New Roman" panose="02020603050405020304" pitchFamily="18" charset="0"/>
                        </a:rPr>
                        <a:t> </a:t>
                      </a:r>
                      <a:r>
                        <a:rPr lang="en-AU" sz="1800" dirty="0">
                          <a:effectLst/>
                          <a:latin typeface="Arial" panose="020B0604020202020204" pitchFamily="34" charset="0"/>
                          <a:ea typeface="Calibri" panose="020F0502020204030204" pitchFamily="34" charset="0"/>
                          <a:cs typeface="Times New Roman" panose="02020603050405020304" pitchFamily="18" charset="0"/>
                        </a:rPr>
                        <a:t>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AU" sz="1800" dirty="0">
                          <a:effectLst/>
                          <a:latin typeface="Arial" panose="020B0604020202020204" pitchFamily="34" charset="0"/>
                          <a:ea typeface="Calibri" panose="020F0502020204030204" pitchFamily="34" charset="0"/>
                          <a:cs typeface="Times New Roman" panose="02020603050405020304" pitchFamily="18" charset="0"/>
                        </a:rPr>
                        <a:t>CH</a:t>
                      </a:r>
                      <a:r>
                        <a:rPr lang="en-AU" sz="1800" baseline="-25000" dirty="0">
                          <a:effectLst/>
                          <a:latin typeface="Arial" panose="020B0604020202020204" pitchFamily="34" charset="0"/>
                          <a:ea typeface="Calibri" panose="020F0502020204030204" pitchFamily="34" charset="0"/>
                          <a:cs typeface="Times New Roman" panose="02020603050405020304" pitchFamily="18" charset="0"/>
                        </a:rPr>
                        <a:t>3</a:t>
                      </a:r>
                      <a:r>
                        <a:rPr lang="en-AU" sz="1800" dirty="0">
                          <a:effectLst/>
                          <a:latin typeface="Arial" panose="020B0604020202020204" pitchFamily="34" charset="0"/>
                          <a:ea typeface="Calibri" panose="020F0502020204030204" pitchFamily="34" charset="0"/>
                          <a:cs typeface="Times New Roman" panose="02020603050405020304" pitchFamily="18" charset="0"/>
                        </a:rPr>
                        <a:t>–CH–CH</a:t>
                      </a:r>
                      <a:r>
                        <a:rPr lang="en-AU" sz="1800" baseline="-25000" dirty="0">
                          <a:effectLst/>
                          <a:latin typeface="Arial" panose="020B0604020202020204" pitchFamily="34" charset="0"/>
                          <a:ea typeface="Calibri" panose="020F0502020204030204" pitchFamily="34" charset="0"/>
                          <a:cs typeface="Times New Roman" panose="02020603050405020304" pitchFamily="18" charset="0"/>
                        </a:rPr>
                        <a:t>2</a:t>
                      </a:r>
                      <a:r>
                        <a:rPr lang="en-AU" sz="1800" dirty="0">
                          <a:effectLst/>
                          <a:latin typeface="Arial" panose="020B0604020202020204" pitchFamily="34" charset="0"/>
                          <a:ea typeface="Calibri" panose="020F0502020204030204" pitchFamily="34" charset="0"/>
                          <a:cs typeface="Times New Roman" panose="02020603050405020304" pitchFamily="18" charset="0"/>
                        </a:rPr>
                        <a:t>–CH</a:t>
                      </a:r>
                      <a:r>
                        <a:rPr lang="en-AU" sz="1800" baseline="-25000" dirty="0">
                          <a:effectLst/>
                          <a:latin typeface="Arial" panose="020B0604020202020204" pitchFamily="34" charset="0"/>
                          <a:ea typeface="Calibri" panose="020F0502020204030204" pitchFamily="34" charset="0"/>
                          <a:cs typeface="Times New Roman" panose="02020603050405020304" pitchFamily="18" charset="0"/>
                        </a:rPr>
                        <a:t>2</a:t>
                      </a:r>
                      <a:r>
                        <a:rPr lang="en-AU" sz="1800" dirty="0">
                          <a:effectLst/>
                          <a:latin typeface="Arial" panose="020B0604020202020204" pitchFamily="34" charset="0"/>
                          <a:ea typeface="Calibri" panose="020F0502020204030204" pitchFamily="34" charset="0"/>
                          <a:cs typeface="Times New Roman" panose="02020603050405020304" pitchFamily="18" charset="0"/>
                        </a:rPr>
                        <a:t>–CH</a:t>
                      </a:r>
                      <a:r>
                        <a:rPr lang="en-AU" sz="1800" baseline="-25000" dirty="0">
                          <a:effectLst/>
                          <a:latin typeface="Arial" panose="020B0604020202020204" pitchFamily="34" charset="0"/>
                          <a:ea typeface="Calibri" panose="020F0502020204030204" pitchFamily="34" charset="0"/>
                          <a:cs typeface="Times New Roman" panose="02020603050405020304" pitchFamily="18" charset="0"/>
                        </a:rPr>
                        <a:t>2</a:t>
                      </a:r>
                      <a:r>
                        <a:rPr lang="en-AU" sz="1800" dirty="0">
                          <a:effectLst/>
                          <a:latin typeface="Arial" panose="020B0604020202020204" pitchFamily="34" charset="0"/>
                          <a:ea typeface="Calibri" panose="020F0502020204030204" pitchFamily="34" charset="0"/>
                          <a:cs typeface="Times New Roman" panose="02020603050405020304" pitchFamily="18" charset="0"/>
                        </a:rPr>
                        <a:t>–C–OH</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AU" sz="1800" dirty="0">
                          <a:effectLst/>
                          <a:latin typeface="Arial" panose="020B0604020202020204" pitchFamily="34" charset="0"/>
                          <a:ea typeface="Calibri" panose="020F0502020204030204" pitchFamily="34" charset="0"/>
                          <a:cs typeface="Times New Roman" panose="02020603050405020304" pitchFamily="18" charset="0"/>
                        </a:rPr>
                        <a:t>                      </a:t>
                      </a:r>
                      <a:r>
                        <a:rPr lang="en-AU" sz="1800" baseline="0" dirty="0">
                          <a:effectLst/>
                          <a:latin typeface="Arial" panose="020B0604020202020204" pitchFamily="34" charset="0"/>
                          <a:ea typeface="Calibri" panose="020F0502020204030204" pitchFamily="34" charset="0"/>
                          <a:cs typeface="Times New Roman" panose="02020603050405020304" pitchFamily="18" charset="0"/>
                        </a:rPr>
                        <a:t> </a:t>
                      </a:r>
                      <a:r>
                        <a:rPr lang="en-AU" sz="1800" dirty="0">
                          <a:effectLst/>
                          <a:latin typeface="Arial" panose="020B0604020202020204" pitchFamily="34" charset="0"/>
                          <a:ea typeface="Calibri" panose="020F0502020204030204" pitchFamily="34" charset="0"/>
                          <a:cs typeface="Times New Roman" panose="02020603050405020304" pitchFamily="18" charset="0"/>
                        </a:rPr>
                        <a:t>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AU" sz="1800" dirty="0">
                          <a:effectLst/>
                          <a:latin typeface="Arial" panose="020B0604020202020204" pitchFamily="34" charset="0"/>
                          <a:ea typeface="Calibri" panose="020F0502020204030204" pitchFamily="34" charset="0"/>
                          <a:cs typeface="Times New Roman" panose="02020603050405020304" pitchFamily="18" charset="0"/>
                        </a:rPr>
                        <a:t>                                CH</a:t>
                      </a:r>
                      <a:r>
                        <a:rPr lang="en-AU" sz="1800" baseline="-25000" dirty="0">
                          <a:effectLst/>
                          <a:latin typeface="Arial" panose="020B0604020202020204" pitchFamily="34" charset="0"/>
                          <a:ea typeface="Calibri" panose="020F0502020204030204" pitchFamily="34" charset="0"/>
                          <a:cs typeface="Times New Roman" panose="02020603050405020304" pitchFamily="18" charset="0"/>
                        </a:rPr>
                        <a:t>3</a:t>
                      </a:r>
                      <a:r>
                        <a:rPr lang="en-AU" sz="1800" dirty="0">
                          <a:effectLst/>
                          <a:latin typeface="Arial" panose="020B0604020202020204" pitchFamily="34" charset="0"/>
                          <a:ea typeface="Calibri" panose="020F0502020204030204" pitchFamily="34" charset="0"/>
                          <a:cs typeface="Times New Roman" panose="02020603050405020304" pitchFamily="18" charset="0"/>
                        </a:rPr>
                        <a:t>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AU" sz="1800" dirty="0">
                          <a:effectLst/>
                          <a:latin typeface="Arial" panose="020B0604020202020204" pitchFamily="34" charset="0"/>
                          <a:ea typeface="Calibri" panose="020F0502020204030204" pitchFamily="34" charset="0"/>
                          <a:cs typeface="Times New Roman" panose="02020603050405020304" pitchFamily="18" charset="0"/>
                        </a:rPr>
                        <a:t>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gn="ctr">
                        <a:lnSpc>
                          <a:spcPct val="107000"/>
                        </a:lnSpc>
                        <a:spcAft>
                          <a:spcPts val="0"/>
                        </a:spcAft>
                      </a:pPr>
                      <a:r>
                        <a:rPr lang="en-AU" sz="1800" dirty="0">
                          <a:effectLst/>
                          <a:latin typeface="Arial" panose="020B0604020202020204" pitchFamily="34" charset="0"/>
                          <a:ea typeface="Calibri" panose="020F0502020204030204" pitchFamily="34" charset="0"/>
                          <a:cs typeface="Times New Roman" panose="02020603050405020304" pitchFamily="18" charset="0"/>
                        </a:rPr>
                        <a:t>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3"/>
                  </a:ext>
                </a:extLst>
              </a:tr>
              <a:tr h="1684042">
                <a:tc>
                  <a:txBody>
                    <a:bodyPr/>
                    <a:lstStyle/>
                    <a:p>
                      <a:pPr>
                        <a:lnSpc>
                          <a:spcPct val="107000"/>
                        </a:lnSpc>
                        <a:spcAft>
                          <a:spcPts val="0"/>
                        </a:spcAft>
                      </a:pPr>
                      <a:r>
                        <a:rPr lang="en-AU" sz="1800" dirty="0">
                          <a:effectLst/>
                          <a:latin typeface="Arial" panose="020B0604020202020204" pitchFamily="34" charset="0"/>
                          <a:ea typeface="Calibri" panose="020F0502020204030204" pitchFamily="34" charset="0"/>
                          <a:cs typeface="Times New Roman" panose="02020603050405020304" pitchFamily="18" charset="0"/>
                        </a:rPr>
                        <a:t>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spcAft>
                          <a:spcPts val="0"/>
                        </a:spcAft>
                      </a:pPr>
                      <a:r>
                        <a:rPr lang="en-AU" sz="1800" dirty="0">
                          <a:effectLst/>
                          <a:latin typeface="Arial" panose="020B0604020202020204" pitchFamily="34" charset="0"/>
                          <a:ea typeface="Calibri" panose="020F0502020204030204" pitchFamily="34" charset="0"/>
                          <a:cs typeface="Times New Roman" panose="02020603050405020304" pitchFamily="18" charset="0"/>
                        </a:rPr>
                        <a:t>HOOCCH</a:t>
                      </a:r>
                      <a:r>
                        <a:rPr lang="en-AU" sz="1800" baseline="-25000" dirty="0">
                          <a:effectLst/>
                          <a:latin typeface="Arial" panose="020B0604020202020204" pitchFamily="34" charset="0"/>
                          <a:ea typeface="Calibri" panose="020F0502020204030204" pitchFamily="34" charset="0"/>
                          <a:cs typeface="Times New Roman" panose="02020603050405020304" pitchFamily="18" charset="0"/>
                        </a:rPr>
                        <a:t>2</a:t>
                      </a:r>
                      <a:r>
                        <a:rPr lang="en-AU" sz="1800" dirty="0">
                          <a:effectLst/>
                          <a:latin typeface="Arial" panose="020B0604020202020204" pitchFamily="34" charset="0"/>
                          <a:ea typeface="Calibri" panose="020F0502020204030204" pitchFamily="34" charset="0"/>
                          <a:cs typeface="Times New Roman" panose="02020603050405020304" pitchFamily="18" charset="0"/>
                        </a:rPr>
                        <a:t>CH</a:t>
                      </a:r>
                      <a:r>
                        <a:rPr lang="en-AU" sz="1800" baseline="-25000" dirty="0">
                          <a:effectLst/>
                          <a:latin typeface="Arial" panose="020B0604020202020204" pitchFamily="34" charset="0"/>
                          <a:ea typeface="Calibri" panose="020F0502020204030204" pitchFamily="34" charset="0"/>
                          <a:cs typeface="Times New Roman" panose="02020603050405020304" pitchFamily="18" charset="0"/>
                        </a:rPr>
                        <a:t>2</a:t>
                      </a:r>
                      <a:r>
                        <a:rPr lang="en-AU" sz="1800" dirty="0">
                          <a:effectLst/>
                          <a:latin typeface="Arial" panose="020B0604020202020204" pitchFamily="34" charset="0"/>
                          <a:ea typeface="Calibri" panose="020F0502020204030204" pitchFamily="34" charset="0"/>
                          <a:cs typeface="Times New Roman" panose="02020603050405020304" pitchFamily="18" charset="0"/>
                        </a:rPr>
                        <a:t>Br</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AU" sz="1800" dirty="0">
                          <a:effectLst/>
                          <a:latin typeface="Arial" panose="020B0604020202020204" pitchFamily="34" charset="0"/>
                          <a:ea typeface="Calibri" panose="020F0502020204030204" pitchFamily="34" charset="0"/>
                          <a:cs typeface="Times New Roman" panose="02020603050405020304" pitchFamily="18" charset="0"/>
                        </a:rPr>
                        <a:t> </a:t>
                      </a: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tc>
                  <a:txBody>
                    <a:bodyPr/>
                    <a:lstStyle/>
                    <a:p>
                      <a:pPr algn="ctr">
                        <a:lnSpc>
                          <a:spcPct val="107000"/>
                        </a:lnSpc>
                        <a:spcAft>
                          <a:spcPts val="0"/>
                        </a:spcAft>
                      </a:pPr>
                      <a:endParaRPr lang="en-AU"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solidFill>
                      <a:schemeClr val="bg1"/>
                    </a:solidFill>
                  </a:tcPr>
                </a:tc>
                <a:extLst>
                  <a:ext uri="{0D108BD9-81ED-4DB2-BD59-A6C34878D82A}">
                    <a16:rowId xmlns:a16="http://schemas.microsoft.com/office/drawing/2014/main" val="10004"/>
                  </a:ext>
                </a:extLst>
              </a:tr>
            </a:tbl>
          </a:graphicData>
        </a:graphic>
      </p:graphicFrame>
      <p:sp>
        <p:nvSpPr>
          <p:cNvPr id="9" name="TextBox 8"/>
          <p:cNvSpPr txBox="1"/>
          <p:nvPr/>
        </p:nvSpPr>
        <p:spPr>
          <a:xfrm>
            <a:off x="2646680" y="504149"/>
            <a:ext cx="5574454" cy="1015663"/>
          </a:xfrm>
          <a:prstGeom prst="rect">
            <a:avLst/>
          </a:prstGeom>
          <a:noFill/>
        </p:spPr>
        <p:txBody>
          <a:bodyPr wrap="square" rtlCol="0">
            <a:spAutoFit/>
          </a:bodyPr>
          <a:lstStyle/>
          <a:p>
            <a:pPr>
              <a:defRPr/>
            </a:pPr>
            <a:r>
              <a:rPr lang="en-AU" sz="2000" b="1" dirty="0">
                <a:solidFill>
                  <a:srgbClr val="FF0000"/>
                </a:solidFill>
              </a:rPr>
              <a:t>                                   O</a:t>
            </a:r>
          </a:p>
          <a:p>
            <a:pPr>
              <a:defRPr/>
            </a:pPr>
            <a:r>
              <a:rPr lang="en-AU" sz="2000" b="1" dirty="0">
                <a:solidFill>
                  <a:srgbClr val="FF0000"/>
                </a:solidFill>
              </a:rPr>
              <a:t>                                   </a:t>
            </a:r>
            <a:r>
              <a:rPr lang="en-AU" sz="1400" b="1" dirty="0">
                <a:solidFill>
                  <a:srgbClr val="FF0000"/>
                </a:solidFill>
              </a:rPr>
              <a:t>||</a:t>
            </a:r>
            <a:endParaRPr lang="en-AU" sz="2000" b="1" dirty="0">
              <a:solidFill>
                <a:srgbClr val="FF0000"/>
              </a:solidFill>
            </a:endParaRPr>
          </a:p>
          <a:p>
            <a:pPr>
              <a:defRPr/>
            </a:pPr>
            <a:r>
              <a:rPr lang="en-AU" sz="2000" b="1" dirty="0">
                <a:solidFill>
                  <a:srgbClr val="FF0000"/>
                </a:solidFill>
              </a:rPr>
              <a:t>CH</a:t>
            </a:r>
            <a:r>
              <a:rPr lang="en-AU" sz="2000" b="1" baseline="-25000" dirty="0">
                <a:solidFill>
                  <a:srgbClr val="FF0000"/>
                </a:solidFill>
              </a:rPr>
              <a:t>3</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–C–OH</a:t>
            </a:r>
          </a:p>
        </p:txBody>
      </p:sp>
      <p:sp>
        <p:nvSpPr>
          <p:cNvPr id="11" name="TextBox 10"/>
          <p:cNvSpPr txBox="1"/>
          <p:nvPr/>
        </p:nvSpPr>
        <p:spPr>
          <a:xfrm>
            <a:off x="2477347" y="1902824"/>
            <a:ext cx="5574454" cy="1015663"/>
          </a:xfrm>
          <a:prstGeom prst="rect">
            <a:avLst/>
          </a:prstGeom>
          <a:noFill/>
        </p:spPr>
        <p:txBody>
          <a:bodyPr wrap="square" rtlCol="0">
            <a:spAutoFit/>
          </a:bodyPr>
          <a:lstStyle/>
          <a:p>
            <a:pPr>
              <a:defRPr/>
            </a:pPr>
            <a:r>
              <a:rPr lang="en-AU" sz="2000" b="1" dirty="0">
                <a:solidFill>
                  <a:srgbClr val="FF0000"/>
                </a:solidFill>
              </a:rPr>
              <a:t>                           Cℓ                    O</a:t>
            </a:r>
          </a:p>
          <a:p>
            <a:pPr>
              <a:defRPr/>
            </a:pPr>
            <a:r>
              <a:rPr lang="en-AU" sz="2000" b="1" dirty="0">
                <a:solidFill>
                  <a:srgbClr val="FF0000"/>
                </a:solidFill>
              </a:rPr>
              <a:t>                           |                      </a:t>
            </a:r>
            <a:r>
              <a:rPr lang="en-AU" sz="1400" b="1" dirty="0">
                <a:solidFill>
                  <a:srgbClr val="FF0000"/>
                </a:solidFill>
              </a:rPr>
              <a:t>||</a:t>
            </a:r>
            <a:endParaRPr lang="en-AU" sz="2000" b="1" dirty="0">
              <a:solidFill>
                <a:srgbClr val="FF0000"/>
              </a:solidFill>
            </a:endParaRPr>
          </a:p>
          <a:p>
            <a:pPr>
              <a:defRPr/>
            </a:pPr>
            <a:r>
              <a:rPr lang="en-AU" sz="2000" b="1" dirty="0">
                <a:solidFill>
                  <a:srgbClr val="FF0000"/>
                </a:solidFill>
              </a:rPr>
              <a:t>CH</a:t>
            </a:r>
            <a:r>
              <a:rPr lang="en-AU" sz="2000" b="1" baseline="-25000" dirty="0">
                <a:solidFill>
                  <a:srgbClr val="FF0000"/>
                </a:solidFill>
              </a:rPr>
              <a:t>3</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–CH–CH</a:t>
            </a:r>
            <a:r>
              <a:rPr lang="en-AU" sz="2000" b="1" baseline="-25000" dirty="0">
                <a:solidFill>
                  <a:srgbClr val="FF0000"/>
                </a:solidFill>
              </a:rPr>
              <a:t>2</a:t>
            </a:r>
            <a:r>
              <a:rPr lang="en-AU" sz="2000" b="1" dirty="0">
                <a:solidFill>
                  <a:srgbClr val="FF0000"/>
                </a:solidFill>
              </a:rPr>
              <a:t>–CH</a:t>
            </a:r>
            <a:r>
              <a:rPr lang="en-AU" sz="2000" b="1" baseline="-25000" dirty="0">
                <a:solidFill>
                  <a:srgbClr val="FF0000"/>
                </a:solidFill>
              </a:rPr>
              <a:t>2</a:t>
            </a:r>
            <a:r>
              <a:rPr lang="en-AU" sz="2000" b="1" dirty="0">
                <a:solidFill>
                  <a:srgbClr val="FF0000"/>
                </a:solidFill>
              </a:rPr>
              <a:t>–C–OH</a:t>
            </a:r>
          </a:p>
        </p:txBody>
      </p:sp>
      <p:sp>
        <p:nvSpPr>
          <p:cNvPr id="12" name="TextBox 11"/>
          <p:cNvSpPr txBox="1"/>
          <p:nvPr/>
        </p:nvSpPr>
        <p:spPr>
          <a:xfrm>
            <a:off x="7968343" y="3901775"/>
            <a:ext cx="3039292" cy="400110"/>
          </a:xfrm>
          <a:prstGeom prst="rect">
            <a:avLst/>
          </a:prstGeom>
          <a:noFill/>
        </p:spPr>
        <p:txBody>
          <a:bodyPr wrap="square" rtlCol="0">
            <a:spAutoFit/>
          </a:bodyPr>
          <a:lstStyle/>
          <a:p>
            <a:pPr algn="ctr"/>
            <a:r>
              <a:rPr lang="en-AU" sz="2000" b="1" dirty="0">
                <a:solidFill>
                  <a:srgbClr val="FF0000"/>
                </a:solidFill>
              </a:rPr>
              <a:t>5-methylhexanoic acid</a:t>
            </a:r>
            <a:endParaRPr lang="en-AU" sz="1400" b="1" dirty="0">
              <a:solidFill>
                <a:srgbClr val="FF0000"/>
              </a:solidFill>
            </a:endParaRPr>
          </a:p>
        </p:txBody>
      </p:sp>
      <p:sp>
        <p:nvSpPr>
          <p:cNvPr id="13" name="TextBox 12"/>
          <p:cNvSpPr txBox="1"/>
          <p:nvPr/>
        </p:nvSpPr>
        <p:spPr>
          <a:xfrm>
            <a:off x="7968343" y="5682677"/>
            <a:ext cx="3039292" cy="400110"/>
          </a:xfrm>
          <a:prstGeom prst="rect">
            <a:avLst/>
          </a:prstGeom>
          <a:noFill/>
        </p:spPr>
        <p:txBody>
          <a:bodyPr wrap="square" rtlCol="0">
            <a:spAutoFit/>
          </a:bodyPr>
          <a:lstStyle/>
          <a:p>
            <a:pPr algn="ctr"/>
            <a:r>
              <a:rPr lang="en-AU" sz="2000" b="1" dirty="0">
                <a:solidFill>
                  <a:srgbClr val="FF0000"/>
                </a:solidFill>
              </a:rPr>
              <a:t>3-bromopropanoic acid</a:t>
            </a:r>
            <a:endParaRPr lang="en-AU" sz="1400" b="1" dirty="0">
              <a:solidFill>
                <a:srgbClr val="FF0000"/>
              </a:solidFill>
            </a:endParaRPr>
          </a:p>
        </p:txBody>
      </p:sp>
    </p:spTree>
    <p:extLst>
      <p:ext uri="{BB962C8B-B14F-4D97-AF65-F5344CB8AC3E}">
        <p14:creationId xmlns:p14="http://schemas.microsoft.com/office/powerpoint/2010/main" val="1187518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fade">
                                      <p:cBhvr>
                                        <p:cTn id="2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P spid="13"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b="1" u="sng" dirty="0"/>
              <a:t>Revision – Naming alcohols, aldehydes, ketones, carboxylic acids</a:t>
            </a:r>
            <a:endParaRPr lang="en-AU" dirty="0"/>
          </a:p>
          <a:p>
            <a:r>
              <a:rPr lang="en-AU" i="1" dirty="0"/>
              <a:t>Questions in workbook.</a:t>
            </a:r>
          </a:p>
        </p:txBody>
      </p:sp>
    </p:spTree>
    <p:extLst>
      <p:ext uri="{BB962C8B-B14F-4D97-AF65-F5344CB8AC3E}">
        <p14:creationId xmlns:p14="http://schemas.microsoft.com/office/powerpoint/2010/main" val="87832862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Functional Groups &amp; Properties</a:t>
            </a:r>
          </a:p>
        </p:txBody>
      </p:sp>
      <p:sp>
        <p:nvSpPr>
          <p:cNvPr id="3" name="Content Placeholder 2"/>
          <p:cNvSpPr>
            <a:spLocks noGrp="1"/>
          </p:cNvSpPr>
          <p:nvPr>
            <p:ph idx="1"/>
          </p:nvPr>
        </p:nvSpPr>
        <p:spPr/>
        <p:txBody>
          <a:bodyPr/>
          <a:lstStyle/>
          <a:p>
            <a:r>
              <a:rPr lang="en-AU" dirty="0"/>
              <a:t>Because alcohols contain –OH groups hydrogen bonding occurs between neighbouring molecules. As a result, alcohols have relatively high melting points and boiling points compared with hydrocarbons of similar molecular mass. Alcohols also tend to dissolve readily in water, although their solubility decreases with increasing length of the hydrocarbon chain.</a:t>
            </a:r>
          </a:p>
          <a:p>
            <a:endParaRPr lang="en-AU" dirty="0"/>
          </a:p>
          <a:p>
            <a:endParaRPr lang="en-AU" dirty="0"/>
          </a:p>
          <a:p>
            <a:endParaRPr lang="en-AU" dirty="0"/>
          </a:p>
          <a:p>
            <a:endParaRPr lang="en-AU" dirty="0"/>
          </a:p>
          <a:p>
            <a:r>
              <a:rPr lang="en-AU" sz="1600" dirty="0"/>
              <a:t>                          </a:t>
            </a:r>
            <a:r>
              <a:rPr lang="en-AU" sz="1600" i="1" dirty="0"/>
              <a:t>Hydrogen bonding in liquid methanol		Hydrogen bonding between methanol and water</a:t>
            </a:r>
            <a:endParaRPr lang="en-AU" dirty="0"/>
          </a:p>
          <a:p>
            <a:endParaRPr lang="en-AU" dirty="0"/>
          </a:p>
        </p:txBody>
      </p:sp>
      <p:pic>
        <p:nvPicPr>
          <p:cNvPr id="9" name="Picture 8" descr="http://archives.library.illinois.edu/erec/University%20Archives/1505050/Organic/Alcohols/Chapter%206/sec6-2/fig6-1.gif"/>
          <p:cNvPicPr/>
          <p:nvPr/>
        </p:nvPicPr>
        <p:blipFill>
          <a:blip r:embed="rId2">
            <a:extLst>
              <a:ext uri="{28A0092B-C50C-407E-A947-70E740481C1C}">
                <a14:useLocalDpi xmlns:a14="http://schemas.microsoft.com/office/drawing/2010/main" val="0"/>
              </a:ext>
            </a:extLst>
          </a:blip>
          <a:srcRect/>
          <a:stretch>
            <a:fillRect/>
          </a:stretch>
        </p:blipFill>
        <p:spPr bwMode="auto">
          <a:xfrm>
            <a:off x="2925762" y="3216275"/>
            <a:ext cx="1971675" cy="1543050"/>
          </a:xfrm>
          <a:prstGeom prst="rect">
            <a:avLst/>
          </a:prstGeom>
          <a:noFill/>
          <a:ln>
            <a:noFill/>
          </a:ln>
        </p:spPr>
      </p:pic>
      <p:pic>
        <p:nvPicPr>
          <p:cNvPr id="10" name="Picture 9" descr="https://dr282zn36sxxg.cloudfront.net/datastreams/f-d%3Af70f0dbce6deddb0d4ff0186d7763c52b0b9b1eefc90f6666ae4b74f%2BIMAGE_THUMB_POSTCARD%2BIMAGE_THUMB_POSTCARD.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46620" y="3857414"/>
            <a:ext cx="1762760" cy="923925"/>
          </a:xfrm>
          <a:prstGeom prst="rect">
            <a:avLst/>
          </a:prstGeom>
          <a:noFill/>
          <a:ln>
            <a:noFill/>
          </a:ln>
        </p:spPr>
      </p:pic>
    </p:spTree>
    <p:extLst>
      <p:ext uri="{BB962C8B-B14F-4D97-AF65-F5344CB8AC3E}">
        <p14:creationId xmlns:p14="http://schemas.microsoft.com/office/powerpoint/2010/main" val="204696646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Functional Groups &amp; Properties</a:t>
            </a:r>
          </a:p>
        </p:txBody>
      </p:sp>
      <p:sp>
        <p:nvSpPr>
          <p:cNvPr id="3" name="Content Placeholder 2"/>
          <p:cNvSpPr>
            <a:spLocks noGrp="1"/>
          </p:cNvSpPr>
          <p:nvPr>
            <p:ph idx="1"/>
          </p:nvPr>
        </p:nvSpPr>
        <p:spPr>
          <a:xfrm>
            <a:off x="1097280" y="1845734"/>
            <a:ext cx="9189720" cy="4428066"/>
          </a:xfrm>
        </p:spPr>
        <p:txBody>
          <a:bodyPr>
            <a:normAutofit fontScale="92500" lnSpcReduction="20000"/>
          </a:bodyPr>
          <a:lstStyle/>
          <a:p>
            <a:r>
              <a:rPr lang="en-AU" dirty="0"/>
              <a:t>The C=O groups in aldehydes and ketones are polar as the oxygen atoms are more electronegative than carbon atoms. The bonding electrons spend more time in the vicinity of the oxygen atom, leaving the carbon atom slightly deficient in electrons.</a:t>
            </a:r>
          </a:p>
          <a:p>
            <a:endParaRPr lang="en-AU" dirty="0"/>
          </a:p>
          <a:p>
            <a:endParaRPr lang="en-AU" dirty="0"/>
          </a:p>
          <a:p>
            <a:endParaRPr lang="en-AU" dirty="0"/>
          </a:p>
          <a:p>
            <a:r>
              <a:rPr lang="en-AU" dirty="0"/>
              <a:t>Because aldehydes and ketones are polar, dipole-dipole forces exist between their molecules. These intermolecular forces are stronger than the dispersion forces between hydrocarbon molecules. As a result, aldehydes and ketones have higher boiling points than hydrocarbons of similar molecular mass. The boiling points of aldehydes, however, are lower than those of alcohols in which hydrogen bonding is present.</a:t>
            </a:r>
          </a:p>
          <a:p>
            <a:r>
              <a:rPr lang="en-AU" dirty="0"/>
              <a:t>Even though there is no hydrogen bonding between molecules of aldehydes or ketones, they are still able to form hydrogen bonds with molecules such as water. In this case the hydrogen bond forms between the δ</a:t>
            </a:r>
            <a:r>
              <a:rPr lang="en-AU" baseline="30000" dirty="0"/>
              <a:t>+</a:t>
            </a:r>
            <a:r>
              <a:rPr lang="en-AU" dirty="0"/>
              <a:t> H from the water molecule and the lone electrons on the oxygen atom from the ketone or aldehyde.</a:t>
            </a:r>
          </a:p>
          <a:p>
            <a:endParaRPr lang="en-AU" dirty="0"/>
          </a:p>
        </p:txBody>
      </p:sp>
      <p:pic>
        <p:nvPicPr>
          <p:cNvPr id="6" name="Picture 5" descr="http://chemwiki.ucdavis.edu/@api/deki/files/2593/image007.png?revision=1"/>
          <p:cNvPicPr/>
          <p:nvPr/>
        </p:nvPicPr>
        <p:blipFill rotWithShape="1">
          <a:blip r:embed="rId2">
            <a:extLst>
              <a:ext uri="{28A0092B-C50C-407E-A947-70E740481C1C}">
                <a14:useLocalDpi xmlns:a14="http://schemas.microsoft.com/office/drawing/2010/main" val="0"/>
              </a:ext>
            </a:extLst>
          </a:blip>
          <a:srcRect t="16551" r="57526" b="26553"/>
          <a:stretch/>
        </p:blipFill>
        <p:spPr bwMode="auto">
          <a:xfrm>
            <a:off x="4313237" y="2583392"/>
            <a:ext cx="2905125" cy="1047750"/>
          </a:xfrm>
          <a:prstGeom prst="rect">
            <a:avLst/>
          </a:prstGeom>
          <a:noFill/>
          <a:ln>
            <a:noFill/>
          </a:ln>
          <a:extLst>
            <a:ext uri="{53640926-AAD7-44D8-BBD7-CCE9431645EC}">
              <a14:shadowObscured xmlns:a14="http://schemas.microsoft.com/office/drawing/2010/main"/>
            </a:ext>
          </a:extLst>
        </p:spPr>
      </p:pic>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10535918" y="3631142"/>
            <a:ext cx="1376681" cy="2427130"/>
          </a:xfrm>
          <a:prstGeom prst="rect">
            <a:avLst/>
          </a:prstGeom>
          <a:noFill/>
          <a:ln>
            <a:noFill/>
          </a:ln>
        </p:spPr>
      </p:pic>
    </p:spTree>
    <p:extLst>
      <p:ext uri="{BB962C8B-B14F-4D97-AF65-F5344CB8AC3E}">
        <p14:creationId xmlns:p14="http://schemas.microsoft.com/office/powerpoint/2010/main" val="3596601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Functional Groups &amp; Properties</a:t>
            </a:r>
          </a:p>
        </p:txBody>
      </p:sp>
      <p:sp>
        <p:nvSpPr>
          <p:cNvPr id="3" name="Content Placeholder 2"/>
          <p:cNvSpPr>
            <a:spLocks noGrp="1"/>
          </p:cNvSpPr>
          <p:nvPr>
            <p:ph idx="1"/>
          </p:nvPr>
        </p:nvSpPr>
        <p:spPr/>
        <p:txBody>
          <a:bodyPr/>
          <a:lstStyle/>
          <a:p>
            <a:r>
              <a:rPr lang="en-AU" dirty="0"/>
              <a:t>Because of the presence of the OH and C=O groups, carboxylic acids can form strong hydrogen bonds. As a result, carboxylic acids possess higher melting points, boiling points and densities than almost all other organic compounds of similar size and molecular mass. The smaller carboxylic acids are very soluble in water but the solubility decreases as the size of the hydrocarbon chain increases.</a:t>
            </a:r>
          </a:p>
        </p:txBody>
      </p:sp>
      <p:pic>
        <p:nvPicPr>
          <p:cNvPr id="6" name="Picture 5" descr="http://yeahchemistry.com/sites/default/files/alkanoicaciddimers.gif"/>
          <p:cNvPicPr/>
          <p:nvPr/>
        </p:nvPicPr>
        <p:blipFill>
          <a:blip r:embed="rId2">
            <a:extLst>
              <a:ext uri="{28A0092B-C50C-407E-A947-70E740481C1C}">
                <a14:useLocalDpi xmlns:a14="http://schemas.microsoft.com/office/drawing/2010/main" val="0"/>
              </a:ext>
            </a:extLst>
          </a:blip>
          <a:srcRect/>
          <a:stretch>
            <a:fillRect/>
          </a:stretch>
        </p:blipFill>
        <p:spPr bwMode="auto">
          <a:xfrm>
            <a:off x="1221845" y="3295649"/>
            <a:ext cx="5701772" cy="2928259"/>
          </a:xfrm>
          <a:prstGeom prst="rect">
            <a:avLst/>
          </a:prstGeom>
          <a:noFill/>
          <a:ln>
            <a:noFill/>
          </a:ln>
        </p:spPr>
      </p:pic>
      <p:sp>
        <p:nvSpPr>
          <p:cNvPr id="4" name="TextBox 3"/>
          <p:cNvSpPr txBox="1"/>
          <p:nvPr/>
        </p:nvSpPr>
        <p:spPr>
          <a:xfrm>
            <a:off x="7781925" y="3930102"/>
            <a:ext cx="4324349" cy="2246769"/>
          </a:xfrm>
          <a:prstGeom prst="rect">
            <a:avLst/>
          </a:prstGeom>
          <a:noFill/>
        </p:spPr>
        <p:txBody>
          <a:bodyPr wrap="square" rtlCol="0">
            <a:spAutoFit/>
          </a:bodyPr>
          <a:lstStyle/>
          <a:p>
            <a:r>
              <a:rPr lang="en-AU" sz="2000" dirty="0"/>
              <a:t>Carboxylic acids (as their name implies) are also acidic. They ionise in solution, losing the hydrogen from the -COOH group to form a –COO</a:t>
            </a:r>
            <a:r>
              <a:rPr lang="en-AU" sz="2000" baseline="30000" dirty="0"/>
              <a:t>-</a:t>
            </a:r>
            <a:r>
              <a:rPr lang="en-AU" sz="2000" dirty="0"/>
              <a:t> ion.</a:t>
            </a:r>
          </a:p>
          <a:p>
            <a:endParaRPr lang="en-AU" sz="2000" dirty="0"/>
          </a:p>
          <a:p>
            <a:pPr algn="ctr"/>
            <a:r>
              <a:rPr lang="en-AU" sz="2000" b="1" dirty="0"/>
              <a:t>CH</a:t>
            </a:r>
            <a:r>
              <a:rPr lang="en-AU" sz="2000" b="1" baseline="-25000" dirty="0"/>
              <a:t>3</a:t>
            </a:r>
            <a:r>
              <a:rPr lang="en-AU" sz="2000" b="1" dirty="0"/>
              <a:t>COOH + H</a:t>
            </a:r>
            <a:r>
              <a:rPr lang="en-AU" sz="2000" b="1" baseline="-25000" dirty="0"/>
              <a:t>2</a:t>
            </a:r>
            <a:r>
              <a:rPr lang="en-AU" sz="2000" b="1" dirty="0"/>
              <a:t>O ⇌ CH</a:t>
            </a:r>
            <a:r>
              <a:rPr lang="en-AU" sz="2000" b="1" baseline="-25000" dirty="0"/>
              <a:t>3</a:t>
            </a:r>
            <a:r>
              <a:rPr lang="en-AU" sz="2000" b="1" dirty="0"/>
              <a:t>COO</a:t>
            </a:r>
            <a:r>
              <a:rPr lang="en-AU" sz="2000" b="1" baseline="30000" dirty="0"/>
              <a:t>-</a:t>
            </a:r>
            <a:r>
              <a:rPr lang="en-AU" sz="2000" b="1" dirty="0"/>
              <a:t> + H</a:t>
            </a:r>
            <a:r>
              <a:rPr lang="en-AU" sz="2000" b="1" baseline="-25000" dirty="0"/>
              <a:t>3</a:t>
            </a:r>
            <a:r>
              <a:rPr lang="en-AU" sz="2000" b="1" dirty="0"/>
              <a:t>O</a:t>
            </a:r>
            <a:r>
              <a:rPr lang="en-AU" sz="2000" b="1" baseline="30000" dirty="0"/>
              <a:t>+</a:t>
            </a:r>
            <a:endParaRPr lang="en-AU" sz="2000" dirty="0"/>
          </a:p>
          <a:p>
            <a:endParaRPr lang="en-AU" sz="2000" dirty="0"/>
          </a:p>
        </p:txBody>
      </p:sp>
    </p:spTree>
    <p:extLst>
      <p:ext uri="{BB962C8B-B14F-4D97-AF65-F5344CB8AC3E}">
        <p14:creationId xmlns:p14="http://schemas.microsoft.com/office/powerpoint/2010/main" val="9293638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Classification of alcohols</a:t>
            </a:r>
          </a:p>
        </p:txBody>
      </p:sp>
      <p:sp>
        <p:nvSpPr>
          <p:cNvPr id="3" name="Content Placeholder 2"/>
          <p:cNvSpPr>
            <a:spLocks noGrp="1"/>
          </p:cNvSpPr>
          <p:nvPr>
            <p:ph idx="1"/>
          </p:nvPr>
        </p:nvSpPr>
        <p:spPr>
          <a:xfrm>
            <a:off x="1097279" y="1845734"/>
            <a:ext cx="10341187" cy="4023360"/>
          </a:xfrm>
        </p:spPr>
        <p:txBody>
          <a:bodyPr/>
          <a:lstStyle/>
          <a:p>
            <a:r>
              <a:rPr lang="en-AU" dirty="0"/>
              <a:t>Alcohols can be classified as </a:t>
            </a:r>
            <a:r>
              <a:rPr lang="en-AU" b="1" dirty="0"/>
              <a:t>primary</a:t>
            </a:r>
            <a:r>
              <a:rPr lang="en-AU" dirty="0"/>
              <a:t>, </a:t>
            </a:r>
            <a:r>
              <a:rPr lang="en-AU" b="1" dirty="0"/>
              <a:t>secondary</a:t>
            </a:r>
            <a:r>
              <a:rPr lang="en-AU" dirty="0"/>
              <a:t> or </a:t>
            </a:r>
            <a:r>
              <a:rPr lang="en-AU" b="1" dirty="0"/>
              <a:t>tertiary</a:t>
            </a:r>
            <a:r>
              <a:rPr lang="en-AU" dirty="0"/>
              <a:t> based on the position of the OH group.</a:t>
            </a:r>
          </a:p>
        </p:txBody>
      </p:sp>
      <p:sp>
        <p:nvSpPr>
          <p:cNvPr id="4" name="Oval 3"/>
          <p:cNvSpPr/>
          <p:nvPr/>
        </p:nvSpPr>
        <p:spPr>
          <a:xfrm>
            <a:off x="135469" y="2210646"/>
            <a:ext cx="3843865" cy="3826933"/>
          </a:xfrm>
          <a:prstGeom prst="ellipse">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AU"/>
          </a:p>
        </p:txBody>
      </p:sp>
      <p:sp>
        <p:nvSpPr>
          <p:cNvPr id="7" name="Oval 6"/>
          <p:cNvSpPr/>
          <p:nvPr/>
        </p:nvSpPr>
        <p:spPr>
          <a:xfrm>
            <a:off x="4106334" y="2210646"/>
            <a:ext cx="3843865" cy="3826933"/>
          </a:xfrm>
          <a:prstGeom prst="ellipse">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AU"/>
          </a:p>
        </p:txBody>
      </p:sp>
      <p:sp>
        <p:nvSpPr>
          <p:cNvPr id="8" name="Oval 7"/>
          <p:cNvSpPr/>
          <p:nvPr/>
        </p:nvSpPr>
        <p:spPr>
          <a:xfrm>
            <a:off x="8077199" y="2254249"/>
            <a:ext cx="3843865" cy="3826933"/>
          </a:xfrm>
          <a:prstGeom prst="ellipse">
            <a:avLst/>
          </a:prstGeom>
          <a:solidFill>
            <a:srgbClr val="FFCC99"/>
          </a:solidFill>
          <a:ln>
            <a:solidFill>
              <a:srgbClr val="FFC000"/>
            </a:solidFill>
          </a:ln>
        </p:spPr>
        <p:style>
          <a:lnRef idx="1">
            <a:schemeClr val="dk1"/>
          </a:lnRef>
          <a:fillRef idx="2">
            <a:schemeClr val="dk1"/>
          </a:fillRef>
          <a:effectRef idx="1">
            <a:schemeClr val="dk1"/>
          </a:effectRef>
          <a:fontRef idx="minor">
            <a:schemeClr val="dk1"/>
          </a:fontRef>
        </p:style>
        <p:txBody>
          <a:bodyPr rtlCol="0" anchor="ctr"/>
          <a:lstStyle/>
          <a:p>
            <a:pPr algn="ctr"/>
            <a:endParaRPr lang="en-AU"/>
          </a:p>
        </p:txBody>
      </p:sp>
      <p:sp>
        <p:nvSpPr>
          <p:cNvPr id="9" name="TextBox 8"/>
          <p:cNvSpPr txBox="1"/>
          <p:nvPr/>
        </p:nvSpPr>
        <p:spPr>
          <a:xfrm>
            <a:off x="566973" y="3570115"/>
            <a:ext cx="3644054"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–C–OH</a:t>
            </a:r>
          </a:p>
        </p:txBody>
      </p:sp>
      <p:sp>
        <p:nvSpPr>
          <p:cNvPr id="10" name="TextBox 9"/>
          <p:cNvSpPr txBox="1"/>
          <p:nvPr/>
        </p:nvSpPr>
        <p:spPr>
          <a:xfrm>
            <a:off x="4228253" y="3611608"/>
            <a:ext cx="3644054"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C–C–OH</a:t>
            </a:r>
          </a:p>
        </p:txBody>
      </p:sp>
      <p:sp>
        <p:nvSpPr>
          <p:cNvPr id="11" name="TextBox 10"/>
          <p:cNvSpPr txBox="1"/>
          <p:nvPr/>
        </p:nvSpPr>
        <p:spPr>
          <a:xfrm>
            <a:off x="8326118" y="3611608"/>
            <a:ext cx="3644054"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C–C–OH</a:t>
            </a:r>
          </a:p>
        </p:txBody>
      </p:sp>
      <p:sp>
        <p:nvSpPr>
          <p:cNvPr id="12" name="TextBox 11"/>
          <p:cNvSpPr txBox="1"/>
          <p:nvPr/>
        </p:nvSpPr>
        <p:spPr>
          <a:xfrm rot="5400000">
            <a:off x="5372372" y="3016116"/>
            <a:ext cx="787401"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a:t>
            </a:r>
          </a:p>
        </p:txBody>
      </p:sp>
      <p:sp>
        <p:nvSpPr>
          <p:cNvPr id="13" name="TextBox 12"/>
          <p:cNvSpPr txBox="1"/>
          <p:nvPr/>
        </p:nvSpPr>
        <p:spPr>
          <a:xfrm rot="5400000">
            <a:off x="5382255" y="4312782"/>
            <a:ext cx="787401"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a:t>
            </a:r>
          </a:p>
        </p:txBody>
      </p:sp>
      <p:sp>
        <p:nvSpPr>
          <p:cNvPr id="14" name="TextBox 13"/>
          <p:cNvSpPr txBox="1"/>
          <p:nvPr/>
        </p:nvSpPr>
        <p:spPr>
          <a:xfrm rot="5400000">
            <a:off x="1173319" y="4254502"/>
            <a:ext cx="787401"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a:t>
            </a:r>
          </a:p>
        </p:txBody>
      </p:sp>
      <p:sp>
        <p:nvSpPr>
          <p:cNvPr id="15" name="TextBox 14"/>
          <p:cNvSpPr txBox="1"/>
          <p:nvPr/>
        </p:nvSpPr>
        <p:spPr>
          <a:xfrm rot="5400000">
            <a:off x="1168794" y="3016117"/>
            <a:ext cx="787401"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a:t>
            </a:r>
          </a:p>
        </p:txBody>
      </p:sp>
      <p:sp>
        <p:nvSpPr>
          <p:cNvPr id="17" name="TextBox 16"/>
          <p:cNvSpPr txBox="1"/>
          <p:nvPr/>
        </p:nvSpPr>
        <p:spPr>
          <a:xfrm rot="5400000">
            <a:off x="9493113" y="4312929"/>
            <a:ext cx="787401"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a:t>
            </a:r>
          </a:p>
        </p:txBody>
      </p:sp>
      <p:sp>
        <p:nvSpPr>
          <p:cNvPr id="18" name="TextBox 17"/>
          <p:cNvSpPr txBox="1"/>
          <p:nvPr/>
        </p:nvSpPr>
        <p:spPr>
          <a:xfrm rot="5400000">
            <a:off x="9488588" y="3074544"/>
            <a:ext cx="787401"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a:t>
            </a:r>
          </a:p>
        </p:txBody>
      </p:sp>
      <p:sp>
        <p:nvSpPr>
          <p:cNvPr id="20" name="TextBox 19"/>
          <p:cNvSpPr txBox="1"/>
          <p:nvPr/>
        </p:nvSpPr>
        <p:spPr>
          <a:xfrm>
            <a:off x="5313108" y="2286015"/>
            <a:ext cx="901250"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C</a:t>
            </a:r>
          </a:p>
        </p:txBody>
      </p:sp>
      <p:sp>
        <p:nvSpPr>
          <p:cNvPr id="21" name="TextBox 20"/>
          <p:cNvSpPr txBox="1"/>
          <p:nvPr/>
        </p:nvSpPr>
        <p:spPr>
          <a:xfrm>
            <a:off x="9410973" y="2360249"/>
            <a:ext cx="901250"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C</a:t>
            </a:r>
          </a:p>
        </p:txBody>
      </p:sp>
      <p:sp>
        <p:nvSpPr>
          <p:cNvPr id="22" name="TextBox 21"/>
          <p:cNvSpPr txBox="1"/>
          <p:nvPr/>
        </p:nvSpPr>
        <p:spPr>
          <a:xfrm>
            <a:off x="9410973" y="4845341"/>
            <a:ext cx="901250"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C</a:t>
            </a:r>
          </a:p>
        </p:txBody>
      </p:sp>
      <p:sp>
        <p:nvSpPr>
          <p:cNvPr id="23" name="TextBox 22"/>
          <p:cNvSpPr txBox="1"/>
          <p:nvPr/>
        </p:nvSpPr>
        <p:spPr>
          <a:xfrm>
            <a:off x="5293528" y="4810779"/>
            <a:ext cx="901250"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H</a:t>
            </a:r>
          </a:p>
        </p:txBody>
      </p:sp>
      <p:sp>
        <p:nvSpPr>
          <p:cNvPr id="24" name="TextBox 23"/>
          <p:cNvSpPr txBox="1"/>
          <p:nvPr/>
        </p:nvSpPr>
        <p:spPr>
          <a:xfrm>
            <a:off x="1094457" y="2353745"/>
            <a:ext cx="901250"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H</a:t>
            </a:r>
          </a:p>
        </p:txBody>
      </p:sp>
      <p:sp>
        <p:nvSpPr>
          <p:cNvPr id="25" name="TextBox 24"/>
          <p:cNvSpPr txBox="1"/>
          <p:nvPr/>
        </p:nvSpPr>
        <p:spPr>
          <a:xfrm>
            <a:off x="1067283" y="4772660"/>
            <a:ext cx="901250" cy="1107996"/>
          </a:xfrm>
          <a:prstGeom prst="rect">
            <a:avLst/>
          </a:prstGeom>
          <a:noFill/>
        </p:spPr>
        <p:txBody>
          <a:bodyPr wrap="square" rtlCol="0">
            <a:spAutoFit/>
          </a:bodyPr>
          <a:lstStyle/>
          <a:p>
            <a:r>
              <a:rPr lang="en-AU" sz="6600" b="1" dirty="0">
                <a:latin typeface="Arial" panose="020B0604020202020204" pitchFamily="34" charset="0"/>
                <a:cs typeface="Arial" panose="020B0604020202020204" pitchFamily="34" charset="0"/>
              </a:rPr>
              <a:t>H</a:t>
            </a:r>
          </a:p>
        </p:txBody>
      </p:sp>
      <p:sp>
        <p:nvSpPr>
          <p:cNvPr id="26" name="TextBox 25"/>
          <p:cNvSpPr txBox="1"/>
          <p:nvPr/>
        </p:nvSpPr>
        <p:spPr>
          <a:xfrm>
            <a:off x="2380249" y="2353745"/>
            <a:ext cx="2026627" cy="646331"/>
          </a:xfrm>
          <a:prstGeom prst="rect">
            <a:avLst/>
          </a:prstGeom>
          <a:noFill/>
        </p:spPr>
        <p:txBody>
          <a:bodyPr wrap="square" rtlCol="0">
            <a:spAutoFit/>
          </a:bodyPr>
          <a:lstStyle/>
          <a:p>
            <a:r>
              <a:rPr lang="en-AU" sz="3600" b="1" dirty="0"/>
              <a:t>1</a:t>
            </a:r>
            <a:r>
              <a:rPr lang="en-AU" sz="3600" b="1" baseline="30000" dirty="0"/>
              <a:t>o</a:t>
            </a:r>
            <a:endParaRPr lang="en-AU" sz="3600" b="1" dirty="0"/>
          </a:p>
        </p:txBody>
      </p:sp>
      <p:sp>
        <p:nvSpPr>
          <p:cNvPr id="27" name="TextBox 26"/>
          <p:cNvSpPr txBox="1"/>
          <p:nvPr/>
        </p:nvSpPr>
        <p:spPr>
          <a:xfrm>
            <a:off x="6407818" y="2353745"/>
            <a:ext cx="2026627" cy="646331"/>
          </a:xfrm>
          <a:prstGeom prst="rect">
            <a:avLst/>
          </a:prstGeom>
          <a:noFill/>
        </p:spPr>
        <p:txBody>
          <a:bodyPr wrap="square" rtlCol="0">
            <a:spAutoFit/>
          </a:bodyPr>
          <a:lstStyle/>
          <a:p>
            <a:r>
              <a:rPr lang="en-AU" sz="3600" b="1" dirty="0"/>
              <a:t>2</a:t>
            </a:r>
            <a:r>
              <a:rPr lang="en-AU" sz="3600" b="1" baseline="30000" dirty="0"/>
              <a:t>o</a:t>
            </a:r>
            <a:endParaRPr lang="en-AU" sz="3600" b="1" dirty="0"/>
          </a:p>
        </p:txBody>
      </p:sp>
      <p:sp>
        <p:nvSpPr>
          <p:cNvPr id="28" name="TextBox 27"/>
          <p:cNvSpPr txBox="1"/>
          <p:nvPr/>
        </p:nvSpPr>
        <p:spPr>
          <a:xfrm>
            <a:off x="10425152" y="2384252"/>
            <a:ext cx="2026627" cy="646331"/>
          </a:xfrm>
          <a:prstGeom prst="rect">
            <a:avLst/>
          </a:prstGeom>
          <a:noFill/>
        </p:spPr>
        <p:txBody>
          <a:bodyPr wrap="square" rtlCol="0">
            <a:spAutoFit/>
          </a:bodyPr>
          <a:lstStyle/>
          <a:p>
            <a:r>
              <a:rPr lang="en-AU" sz="3600" b="1" dirty="0"/>
              <a:t>3</a:t>
            </a:r>
            <a:r>
              <a:rPr lang="en-AU" sz="3600" b="1" baseline="30000" dirty="0"/>
              <a:t>o</a:t>
            </a:r>
            <a:endParaRPr lang="en-AU" sz="3600" b="1" dirty="0"/>
          </a:p>
        </p:txBody>
      </p:sp>
    </p:spTree>
    <p:extLst>
      <p:ext uri="{BB962C8B-B14F-4D97-AF65-F5344CB8AC3E}">
        <p14:creationId xmlns:p14="http://schemas.microsoft.com/office/powerpoint/2010/main" val="25087972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Classification of alcohols</a:t>
            </a:r>
          </a:p>
        </p:txBody>
      </p:sp>
      <p:graphicFrame>
        <p:nvGraphicFramePr>
          <p:cNvPr id="16" name="Table 15"/>
          <p:cNvGraphicFramePr>
            <a:graphicFrameLocks noGrp="1"/>
          </p:cNvGraphicFramePr>
          <p:nvPr>
            <p:extLst>
              <p:ext uri="{D42A27DB-BD31-4B8C-83A1-F6EECF244321}">
                <p14:modId xmlns:p14="http://schemas.microsoft.com/office/powerpoint/2010/main" val="4251599863"/>
              </p:ext>
            </p:extLst>
          </p:nvPr>
        </p:nvGraphicFramePr>
        <p:xfrm>
          <a:off x="3431487" y="2023963"/>
          <a:ext cx="5389985" cy="3771936"/>
        </p:xfrm>
        <a:graphic>
          <a:graphicData uri="http://schemas.openxmlformats.org/drawingml/2006/table">
            <a:tbl>
              <a:tblPr firstRow="1" firstCol="1" bandRow="1">
                <a:tableStyleId>{3B4B98B0-60AC-42C2-AFA5-B58CD77FA1E5}</a:tableStyleId>
              </a:tblPr>
              <a:tblGrid>
                <a:gridCol w="2001870">
                  <a:extLst>
                    <a:ext uri="{9D8B030D-6E8A-4147-A177-3AD203B41FA5}">
                      <a16:colId xmlns:a16="http://schemas.microsoft.com/office/drawing/2014/main" val="20000"/>
                    </a:ext>
                  </a:extLst>
                </a:gridCol>
                <a:gridCol w="3388115">
                  <a:extLst>
                    <a:ext uri="{9D8B030D-6E8A-4147-A177-3AD203B41FA5}">
                      <a16:colId xmlns:a16="http://schemas.microsoft.com/office/drawing/2014/main" val="20001"/>
                    </a:ext>
                  </a:extLst>
                </a:gridCol>
              </a:tblGrid>
              <a:tr h="1928072">
                <a:tc>
                  <a:txBody>
                    <a:bodyPr/>
                    <a:lstStyle/>
                    <a:p>
                      <a:pPr algn="ctr">
                        <a:lnSpc>
                          <a:spcPct val="107000"/>
                        </a:lnSpc>
                        <a:spcAft>
                          <a:spcPts val="0"/>
                        </a:spcAft>
                      </a:pPr>
                      <a:r>
                        <a:rPr lang="en-AU" sz="1800" dirty="0">
                          <a:effectLst/>
                        </a:rPr>
                        <a:t>Diagram</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endParaRPr lang="en-AU"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921932">
                <a:tc>
                  <a:txBody>
                    <a:bodyPr/>
                    <a:lstStyle/>
                    <a:p>
                      <a:pPr algn="ctr">
                        <a:lnSpc>
                          <a:spcPct val="107000"/>
                        </a:lnSpc>
                        <a:spcAft>
                          <a:spcPts val="0"/>
                        </a:spcAft>
                      </a:pPr>
                      <a:r>
                        <a:rPr lang="en-AU" sz="1800" dirty="0">
                          <a:effectLst/>
                        </a:rPr>
                        <a:t>Name</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AU" sz="1800" dirty="0">
                          <a:effectLst/>
                        </a:rPr>
                        <a:t> </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921932">
                <a:tc>
                  <a:txBody>
                    <a:bodyPr/>
                    <a:lstStyle/>
                    <a:p>
                      <a:pPr algn="ctr">
                        <a:lnSpc>
                          <a:spcPct val="107000"/>
                        </a:lnSpc>
                        <a:spcAft>
                          <a:spcPts val="0"/>
                        </a:spcAft>
                      </a:pPr>
                      <a:r>
                        <a:rPr lang="en-AU" sz="1800">
                          <a:effectLst/>
                        </a:rPr>
                        <a:t>Type of alcohol</a:t>
                      </a:r>
                      <a:endParaRPr lang="en-AU"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AU" sz="1800" dirty="0">
                          <a:effectLst/>
                        </a:rPr>
                        <a:t> </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bl>
          </a:graphicData>
        </a:graphic>
      </p:graphicFrame>
      <p:pic>
        <p:nvPicPr>
          <p:cNvPr id="30" name="Picture 29" descr="This page may take several seconds to load fully."/>
          <p:cNvPicPr/>
          <p:nvPr/>
        </p:nvPicPr>
        <p:blipFill rotWithShape="1">
          <a:blip r:embed="rId2">
            <a:biLevel thresh="75000"/>
            <a:extLst>
              <a:ext uri="{28A0092B-C50C-407E-A947-70E740481C1C}">
                <a14:useLocalDpi xmlns:a14="http://schemas.microsoft.com/office/drawing/2010/main" val="0"/>
              </a:ext>
            </a:extLst>
          </a:blip>
          <a:srcRect l="21333" t="15333" r="30000" b="2667"/>
          <a:stretch/>
        </p:blipFill>
        <p:spPr bwMode="auto">
          <a:xfrm>
            <a:off x="6145371" y="2057617"/>
            <a:ext cx="2074969" cy="1748933"/>
          </a:xfrm>
          <a:prstGeom prst="rect">
            <a:avLst/>
          </a:prstGeom>
          <a:noFill/>
          <a:ln>
            <a:noFill/>
          </a:ln>
          <a:extLst>
            <a:ext uri="{53640926-AAD7-44D8-BBD7-CCE9431645EC}">
              <a14:shadowObscured xmlns:a14="http://schemas.microsoft.com/office/drawing/2010/main"/>
            </a:ext>
          </a:extLst>
        </p:spPr>
      </p:pic>
      <p:sp>
        <p:nvSpPr>
          <p:cNvPr id="31" name="TextBox 30"/>
          <p:cNvSpPr txBox="1"/>
          <p:nvPr/>
        </p:nvSpPr>
        <p:spPr>
          <a:xfrm>
            <a:off x="5663209" y="4231975"/>
            <a:ext cx="3039292" cy="400110"/>
          </a:xfrm>
          <a:prstGeom prst="rect">
            <a:avLst/>
          </a:prstGeom>
          <a:noFill/>
        </p:spPr>
        <p:txBody>
          <a:bodyPr wrap="square" rtlCol="0">
            <a:spAutoFit/>
          </a:bodyPr>
          <a:lstStyle/>
          <a:p>
            <a:pPr algn="ctr"/>
            <a:r>
              <a:rPr lang="en-AU" sz="2000" b="1" dirty="0">
                <a:solidFill>
                  <a:srgbClr val="FF0000"/>
                </a:solidFill>
              </a:rPr>
              <a:t>2-methylbutan-2-ol</a:t>
            </a:r>
            <a:endParaRPr lang="en-AU" sz="1400" b="1" dirty="0">
              <a:solidFill>
                <a:srgbClr val="FF0000"/>
              </a:solidFill>
            </a:endParaRPr>
          </a:p>
        </p:txBody>
      </p:sp>
      <p:sp>
        <p:nvSpPr>
          <p:cNvPr id="32" name="TextBox 31"/>
          <p:cNvSpPr txBox="1"/>
          <p:nvPr/>
        </p:nvSpPr>
        <p:spPr>
          <a:xfrm>
            <a:off x="5663209" y="5112273"/>
            <a:ext cx="3039292" cy="400110"/>
          </a:xfrm>
          <a:prstGeom prst="rect">
            <a:avLst/>
          </a:prstGeom>
          <a:noFill/>
        </p:spPr>
        <p:txBody>
          <a:bodyPr wrap="square" rtlCol="0">
            <a:spAutoFit/>
          </a:bodyPr>
          <a:lstStyle/>
          <a:p>
            <a:pPr algn="ctr"/>
            <a:r>
              <a:rPr lang="en-AU" sz="2000" b="1" dirty="0">
                <a:solidFill>
                  <a:srgbClr val="FF0000"/>
                </a:solidFill>
              </a:rPr>
              <a:t>tertiary</a:t>
            </a:r>
            <a:endParaRPr lang="en-AU" sz="1400" b="1" dirty="0">
              <a:solidFill>
                <a:srgbClr val="FF0000"/>
              </a:solidFill>
            </a:endParaRPr>
          </a:p>
        </p:txBody>
      </p:sp>
    </p:spTree>
    <p:extLst>
      <p:ext uri="{BB962C8B-B14F-4D97-AF65-F5344CB8AC3E}">
        <p14:creationId xmlns:p14="http://schemas.microsoft.com/office/powerpoint/2010/main" val="3055211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Classification of alcohols</a:t>
            </a:r>
          </a:p>
        </p:txBody>
      </p:sp>
      <p:graphicFrame>
        <p:nvGraphicFramePr>
          <p:cNvPr id="16" name="Table 15"/>
          <p:cNvGraphicFramePr>
            <a:graphicFrameLocks noGrp="1"/>
          </p:cNvGraphicFramePr>
          <p:nvPr/>
        </p:nvGraphicFramePr>
        <p:xfrm>
          <a:off x="3431487" y="2023963"/>
          <a:ext cx="5389985" cy="3771936"/>
        </p:xfrm>
        <a:graphic>
          <a:graphicData uri="http://schemas.openxmlformats.org/drawingml/2006/table">
            <a:tbl>
              <a:tblPr firstRow="1" firstCol="1" bandRow="1">
                <a:tableStyleId>{3B4B98B0-60AC-42C2-AFA5-B58CD77FA1E5}</a:tableStyleId>
              </a:tblPr>
              <a:tblGrid>
                <a:gridCol w="2001870">
                  <a:extLst>
                    <a:ext uri="{9D8B030D-6E8A-4147-A177-3AD203B41FA5}">
                      <a16:colId xmlns:a16="http://schemas.microsoft.com/office/drawing/2014/main" val="20000"/>
                    </a:ext>
                  </a:extLst>
                </a:gridCol>
                <a:gridCol w="3388115">
                  <a:extLst>
                    <a:ext uri="{9D8B030D-6E8A-4147-A177-3AD203B41FA5}">
                      <a16:colId xmlns:a16="http://schemas.microsoft.com/office/drawing/2014/main" val="20001"/>
                    </a:ext>
                  </a:extLst>
                </a:gridCol>
              </a:tblGrid>
              <a:tr h="1928072">
                <a:tc>
                  <a:txBody>
                    <a:bodyPr/>
                    <a:lstStyle/>
                    <a:p>
                      <a:pPr algn="ctr">
                        <a:lnSpc>
                          <a:spcPct val="107000"/>
                        </a:lnSpc>
                        <a:spcAft>
                          <a:spcPts val="0"/>
                        </a:spcAft>
                      </a:pPr>
                      <a:r>
                        <a:rPr lang="en-AU" sz="1800" dirty="0">
                          <a:effectLst/>
                        </a:rPr>
                        <a:t>Diagram</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endParaRPr lang="en-AU"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921932">
                <a:tc>
                  <a:txBody>
                    <a:bodyPr/>
                    <a:lstStyle/>
                    <a:p>
                      <a:pPr algn="ctr">
                        <a:lnSpc>
                          <a:spcPct val="107000"/>
                        </a:lnSpc>
                        <a:spcAft>
                          <a:spcPts val="0"/>
                        </a:spcAft>
                      </a:pPr>
                      <a:r>
                        <a:rPr lang="en-AU" sz="1800" dirty="0">
                          <a:effectLst/>
                        </a:rPr>
                        <a:t>Name</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AU" sz="1800" dirty="0">
                          <a:effectLst/>
                        </a:rPr>
                        <a:t> </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921932">
                <a:tc>
                  <a:txBody>
                    <a:bodyPr/>
                    <a:lstStyle/>
                    <a:p>
                      <a:pPr algn="ctr">
                        <a:lnSpc>
                          <a:spcPct val="107000"/>
                        </a:lnSpc>
                        <a:spcAft>
                          <a:spcPts val="0"/>
                        </a:spcAft>
                      </a:pPr>
                      <a:r>
                        <a:rPr lang="en-AU" sz="1800">
                          <a:effectLst/>
                        </a:rPr>
                        <a:t>Type of alcohol</a:t>
                      </a:r>
                      <a:endParaRPr lang="en-AU"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AU" sz="1800" dirty="0">
                          <a:effectLst/>
                        </a:rPr>
                        <a:t> </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bl>
          </a:graphicData>
        </a:graphic>
      </p:graphicFrame>
      <p:sp>
        <p:nvSpPr>
          <p:cNvPr id="31" name="TextBox 30"/>
          <p:cNvSpPr txBox="1"/>
          <p:nvPr/>
        </p:nvSpPr>
        <p:spPr>
          <a:xfrm>
            <a:off x="5663209" y="4231975"/>
            <a:ext cx="3039292" cy="400110"/>
          </a:xfrm>
          <a:prstGeom prst="rect">
            <a:avLst/>
          </a:prstGeom>
          <a:noFill/>
        </p:spPr>
        <p:txBody>
          <a:bodyPr wrap="square" rtlCol="0">
            <a:spAutoFit/>
          </a:bodyPr>
          <a:lstStyle/>
          <a:p>
            <a:pPr algn="ctr"/>
            <a:r>
              <a:rPr lang="en-AU" sz="2000" b="1" dirty="0">
                <a:solidFill>
                  <a:srgbClr val="FF0000"/>
                </a:solidFill>
              </a:rPr>
              <a:t>3-methylbutan-1-ol</a:t>
            </a:r>
            <a:endParaRPr lang="en-AU" sz="1400" b="1" dirty="0">
              <a:solidFill>
                <a:srgbClr val="FF0000"/>
              </a:solidFill>
            </a:endParaRPr>
          </a:p>
        </p:txBody>
      </p:sp>
      <p:sp>
        <p:nvSpPr>
          <p:cNvPr id="32" name="TextBox 31"/>
          <p:cNvSpPr txBox="1"/>
          <p:nvPr/>
        </p:nvSpPr>
        <p:spPr>
          <a:xfrm>
            <a:off x="5663209" y="5112273"/>
            <a:ext cx="3039292" cy="400110"/>
          </a:xfrm>
          <a:prstGeom prst="rect">
            <a:avLst/>
          </a:prstGeom>
          <a:noFill/>
        </p:spPr>
        <p:txBody>
          <a:bodyPr wrap="square" rtlCol="0">
            <a:spAutoFit/>
          </a:bodyPr>
          <a:lstStyle/>
          <a:p>
            <a:pPr algn="ctr"/>
            <a:r>
              <a:rPr lang="en-AU" sz="2000" b="1" dirty="0">
                <a:solidFill>
                  <a:srgbClr val="FF0000"/>
                </a:solidFill>
              </a:rPr>
              <a:t>primary</a:t>
            </a:r>
            <a:endParaRPr lang="en-AU" sz="1400" b="1" dirty="0">
              <a:solidFill>
                <a:srgbClr val="FF0000"/>
              </a:solidFill>
            </a:endParaRPr>
          </a:p>
        </p:txBody>
      </p:sp>
      <p:pic>
        <p:nvPicPr>
          <p:cNvPr id="7" name="Picture 6" descr="This page may take several seconds to load fully."/>
          <p:cNvPicPr/>
          <p:nvPr/>
        </p:nvPicPr>
        <p:blipFill rotWithShape="1">
          <a:blip r:embed="rId2">
            <a:biLevel thresh="75000"/>
            <a:extLst>
              <a:ext uri="{28A0092B-C50C-407E-A947-70E740481C1C}">
                <a14:useLocalDpi xmlns:a14="http://schemas.microsoft.com/office/drawing/2010/main" val="0"/>
              </a:ext>
            </a:extLst>
          </a:blip>
          <a:srcRect l="16666" t="4000" r="31000" b="22666"/>
          <a:stretch/>
        </p:blipFill>
        <p:spPr bwMode="auto">
          <a:xfrm>
            <a:off x="5749925" y="2055628"/>
            <a:ext cx="2649008" cy="185554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9548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Classification of alcohols</a:t>
            </a:r>
          </a:p>
        </p:txBody>
      </p:sp>
      <p:graphicFrame>
        <p:nvGraphicFramePr>
          <p:cNvPr id="16" name="Table 15"/>
          <p:cNvGraphicFramePr>
            <a:graphicFrameLocks noGrp="1"/>
          </p:cNvGraphicFramePr>
          <p:nvPr/>
        </p:nvGraphicFramePr>
        <p:xfrm>
          <a:off x="3431487" y="2023963"/>
          <a:ext cx="5389985" cy="3771936"/>
        </p:xfrm>
        <a:graphic>
          <a:graphicData uri="http://schemas.openxmlformats.org/drawingml/2006/table">
            <a:tbl>
              <a:tblPr firstRow="1" firstCol="1" bandRow="1">
                <a:tableStyleId>{3B4B98B0-60AC-42C2-AFA5-B58CD77FA1E5}</a:tableStyleId>
              </a:tblPr>
              <a:tblGrid>
                <a:gridCol w="2001870">
                  <a:extLst>
                    <a:ext uri="{9D8B030D-6E8A-4147-A177-3AD203B41FA5}">
                      <a16:colId xmlns:a16="http://schemas.microsoft.com/office/drawing/2014/main" val="20000"/>
                    </a:ext>
                  </a:extLst>
                </a:gridCol>
                <a:gridCol w="3388115">
                  <a:extLst>
                    <a:ext uri="{9D8B030D-6E8A-4147-A177-3AD203B41FA5}">
                      <a16:colId xmlns:a16="http://schemas.microsoft.com/office/drawing/2014/main" val="20001"/>
                    </a:ext>
                  </a:extLst>
                </a:gridCol>
              </a:tblGrid>
              <a:tr h="1928072">
                <a:tc>
                  <a:txBody>
                    <a:bodyPr/>
                    <a:lstStyle/>
                    <a:p>
                      <a:pPr algn="ctr">
                        <a:lnSpc>
                          <a:spcPct val="107000"/>
                        </a:lnSpc>
                        <a:spcAft>
                          <a:spcPts val="0"/>
                        </a:spcAft>
                      </a:pPr>
                      <a:r>
                        <a:rPr lang="en-AU" sz="1800" dirty="0">
                          <a:effectLst/>
                        </a:rPr>
                        <a:t>Diagram</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endParaRPr lang="en-AU"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921932">
                <a:tc>
                  <a:txBody>
                    <a:bodyPr/>
                    <a:lstStyle/>
                    <a:p>
                      <a:pPr algn="ctr">
                        <a:lnSpc>
                          <a:spcPct val="107000"/>
                        </a:lnSpc>
                        <a:spcAft>
                          <a:spcPts val="0"/>
                        </a:spcAft>
                      </a:pPr>
                      <a:r>
                        <a:rPr lang="en-AU" sz="1800" dirty="0">
                          <a:effectLst/>
                        </a:rPr>
                        <a:t>Name</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AU" sz="1800" dirty="0">
                          <a:effectLst/>
                        </a:rPr>
                        <a:t> </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921932">
                <a:tc>
                  <a:txBody>
                    <a:bodyPr/>
                    <a:lstStyle/>
                    <a:p>
                      <a:pPr algn="ctr">
                        <a:lnSpc>
                          <a:spcPct val="107000"/>
                        </a:lnSpc>
                        <a:spcAft>
                          <a:spcPts val="0"/>
                        </a:spcAft>
                      </a:pPr>
                      <a:r>
                        <a:rPr lang="en-AU" sz="1800">
                          <a:effectLst/>
                        </a:rPr>
                        <a:t>Type of alcohol</a:t>
                      </a:r>
                      <a:endParaRPr lang="en-AU"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AU" sz="1800" dirty="0">
                          <a:effectLst/>
                        </a:rPr>
                        <a:t> </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bl>
          </a:graphicData>
        </a:graphic>
      </p:graphicFrame>
      <p:sp>
        <p:nvSpPr>
          <p:cNvPr id="31" name="TextBox 30"/>
          <p:cNvSpPr txBox="1"/>
          <p:nvPr/>
        </p:nvSpPr>
        <p:spPr>
          <a:xfrm>
            <a:off x="5663209" y="4231975"/>
            <a:ext cx="3039292" cy="400110"/>
          </a:xfrm>
          <a:prstGeom prst="rect">
            <a:avLst/>
          </a:prstGeom>
          <a:noFill/>
        </p:spPr>
        <p:txBody>
          <a:bodyPr wrap="square" rtlCol="0">
            <a:spAutoFit/>
          </a:bodyPr>
          <a:lstStyle/>
          <a:p>
            <a:pPr algn="ctr"/>
            <a:r>
              <a:rPr lang="en-AU" sz="2000" b="1" dirty="0">
                <a:solidFill>
                  <a:srgbClr val="FF0000"/>
                </a:solidFill>
              </a:rPr>
              <a:t>propan-2-ol</a:t>
            </a:r>
            <a:endParaRPr lang="en-AU" sz="1400" b="1" dirty="0">
              <a:solidFill>
                <a:srgbClr val="FF0000"/>
              </a:solidFill>
            </a:endParaRPr>
          </a:p>
        </p:txBody>
      </p:sp>
      <p:sp>
        <p:nvSpPr>
          <p:cNvPr id="32" name="TextBox 31"/>
          <p:cNvSpPr txBox="1"/>
          <p:nvPr/>
        </p:nvSpPr>
        <p:spPr>
          <a:xfrm>
            <a:off x="5663209" y="5112273"/>
            <a:ext cx="3039292" cy="400110"/>
          </a:xfrm>
          <a:prstGeom prst="rect">
            <a:avLst/>
          </a:prstGeom>
          <a:noFill/>
        </p:spPr>
        <p:txBody>
          <a:bodyPr wrap="square" rtlCol="0">
            <a:spAutoFit/>
          </a:bodyPr>
          <a:lstStyle/>
          <a:p>
            <a:pPr algn="ctr"/>
            <a:r>
              <a:rPr lang="en-AU" sz="2000" b="1" dirty="0">
                <a:solidFill>
                  <a:srgbClr val="FF0000"/>
                </a:solidFill>
              </a:rPr>
              <a:t>secondary</a:t>
            </a:r>
            <a:endParaRPr lang="en-AU" sz="1400" b="1" dirty="0">
              <a:solidFill>
                <a:srgbClr val="FF0000"/>
              </a:solidFill>
            </a:endParaRPr>
          </a:p>
        </p:txBody>
      </p:sp>
      <p:pic>
        <p:nvPicPr>
          <p:cNvPr id="8" name="Picture 7" descr="This page may take several seconds to load fully."/>
          <p:cNvPicPr/>
          <p:nvPr/>
        </p:nvPicPr>
        <p:blipFill rotWithShape="1">
          <a:blip r:embed="rId2">
            <a:biLevel thresh="75000"/>
            <a:extLst>
              <a:ext uri="{28A0092B-C50C-407E-A947-70E740481C1C}">
                <a14:useLocalDpi xmlns:a14="http://schemas.microsoft.com/office/drawing/2010/main" val="0"/>
              </a:ext>
            </a:extLst>
          </a:blip>
          <a:srcRect l="31000" t="14667" r="29667" b="25333"/>
          <a:stretch/>
        </p:blipFill>
        <p:spPr bwMode="auto">
          <a:xfrm>
            <a:off x="5841009" y="2056841"/>
            <a:ext cx="2312391" cy="176241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38145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Classification of alcohols</a:t>
            </a:r>
          </a:p>
        </p:txBody>
      </p:sp>
      <p:graphicFrame>
        <p:nvGraphicFramePr>
          <p:cNvPr id="16" name="Table 15"/>
          <p:cNvGraphicFramePr>
            <a:graphicFrameLocks noGrp="1"/>
          </p:cNvGraphicFramePr>
          <p:nvPr/>
        </p:nvGraphicFramePr>
        <p:xfrm>
          <a:off x="3431487" y="2023963"/>
          <a:ext cx="5389985" cy="3771936"/>
        </p:xfrm>
        <a:graphic>
          <a:graphicData uri="http://schemas.openxmlformats.org/drawingml/2006/table">
            <a:tbl>
              <a:tblPr firstRow="1" firstCol="1" bandRow="1">
                <a:tableStyleId>{3B4B98B0-60AC-42C2-AFA5-B58CD77FA1E5}</a:tableStyleId>
              </a:tblPr>
              <a:tblGrid>
                <a:gridCol w="2001870">
                  <a:extLst>
                    <a:ext uri="{9D8B030D-6E8A-4147-A177-3AD203B41FA5}">
                      <a16:colId xmlns:a16="http://schemas.microsoft.com/office/drawing/2014/main" val="20000"/>
                    </a:ext>
                  </a:extLst>
                </a:gridCol>
                <a:gridCol w="3388115">
                  <a:extLst>
                    <a:ext uri="{9D8B030D-6E8A-4147-A177-3AD203B41FA5}">
                      <a16:colId xmlns:a16="http://schemas.microsoft.com/office/drawing/2014/main" val="20001"/>
                    </a:ext>
                  </a:extLst>
                </a:gridCol>
              </a:tblGrid>
              <a:tr h="1928072">
                <a:tc>
                  <a:txBody>
                    <a:bodyPr/>
                    <a:lstStyle/>
                    <a:p>
                      <a:pPr algn="ctr">
                        <a:lnSpc>
                          <a:spcPct val="107000"/>
                        </a:lnSpc>
                        <a:spcAft>
                          <a:spcPts val="0"/>
                        </a:spcAft>
                      </a:pPr>
                      <a:r>
                        <a:rPr lang="en-AU" sz="1800" dirty="0">
                          <a:effectLst/>
                        </a:rPr>
                        <a:t>Diagram</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endParaRPr lang="en-AU"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921932">
                <a:tc>
                  <a:txBody>
                    <a:bodyPr/>
                    <a:lstStyle/>
                    <a:p>
                      <a:pPr algn="ctr">
                        <a:lnSpc>
                          <a:spcPct val="107000"/>
                        </a:lnSpc>
                        <a:spcAft>
                          <a:spcPts val="0"/>
                        </a:spcAft>
                      </a:pPr>
                      <a:r>
                        <a:rPr lang="en-AU" sz="1800" dirty="0">
                          <a:effectLst/>
                        </a:rPr>
                        <a:t>Name</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AU" sz="1800" dirty="0">
                          <a:effectLst/>
                        </a:rPr>
                        <a:t> </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921932">
                <a:tc>
                  <a:txBody>
                    <a:bodyPr/>
                    <a:lstStyle/>
                    <a:p>
                      <a:pPr algn="ctr">
                        <a:lnSpc>
                          <a:spcPct val="107000"/>
                        </a:lnSpc>
                        <a:spcAft>
                          <a:spcPts val="0"/>
                        </a:spcAft>
                      </a:pPr>
                      <a:r>
                        <a:rPr lang="en-AU" sz="1800">
                          <a:effectLst/>
                        </a:rPr>
                        <a:t>Type of alcohol</a:t>
                      </a:r>
                      <a:endParaRPr lang="en-AU"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AU" sz="1800" dirty="0">
                          <a:effectLst/>
                        </a:rPr>
                        <a:t> </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bl>
          </a:graphicData>
        </a:graphic>
      </p:graphicFrame>
      <p:sp>
        <p:nvSpPr>
          <p:cNvPr id="31" name="TextBox 30"/>
          <p:cNvSpPr txBox="1"/>
          <p:nvPr/>
        </p:nvSpPr>
        <p:spPr>
          <a:xfrm>
            <a:off x="5663209" y="4231975"/>
            <a:ext cx="3039292" cy="400110"/>
          </a:xfrm>
          <a:prstGeom prst="rect">
            <a:avLst/>
          </a:prstGeom>
          <a:noFill/>
        </p:spPr>
        <p:txBody>
          <a:bodyPr wrap="square" rtlCol="0">
            <a:spAutoFit/>
          </a:bodyPr>
          <a:lstStyle/>
          <a:p>
            <a:pPr algn="ctr"/>
            <a:r>
              <a:rPr lang="en-AU" sz="2000" b="1" dirty="0">
                <a:solidFill>
                  <a:srgbClr val="FF0000"/>
                </a:solidFill>
              </a:rPr>
              <a:t>butan-1-ol</a:t>
            </a:r>
            <a:endParaRPr lang="en-AU" sz="1400" b="1" dirty="0">
              <a:solidFill>
                <a:srgbClr val="FF0000"/>
              </a:solidFill>
            </a:endParaRPr>
          </a:p>
        </p:txBody>
      </p:sp>
      <p:sp>
        <p:nvSpPr>
          <p:cNvPr id="32" name="TextBox 31"/>
          <p:cNvSpPr txBox="1"/>
          <p:nvPr/>
        </p:nvSpPr>
        <p:spPr>
          <a:xfrm>
            <a:off x="5663209" y="5112273"/>
            <a:ext cx="3039292" cy="400110"/>
          </a:xfrm>
          <a:prstGeom prst="rect">
            <a:avLst/>
          </a:prstGeom>
          <a:noFill/>
        </p:spPr>
        <p:txBody>
          <a:bodyPr wrap="square" rtlCol="0">
            <a:spAutoFit/>
          </a:bodyPr>
          <a:lstStyle/>
          <a:p>
            <a:pPr algn="ctr"/>
            <a:r>
              <a:rPr lang="en-AU" sz="2000" b="1" dirty="0">
                <a:solidFill>
                  <a:srgbClr val="FF0000"/>
                </a:solidFill>
              </a:rPr>
              <a:t>primary</a:t>
            </a:r>
            <a:endParaRPr lang="en-AU" sz="1400" b="1" dirty="0">
              <a:solidFill>
                <a:srgbClr val="FF0000"/>
              </a:solidFill>
            </a:endParaRPr>
          </a:p>
        </p:txBody>
      </p:sp>
      <p:pic>
        <p:nvPicPr>
          <p:cNvPr id="7" name="Picture 6" descr="This page may take several seconds to load fully."/>
          <p:cNvPicPr/>
          <p:nvPr/>
        </p:nvPicPr>
        <p:blipFill rotWithShape="1">
          <a:blip r:embed="rId2">
            <a:biLevel thresh="75000"/>
            <a:extLst>
              <a:ext uri="{28A0092B-C50C-407E-A947-70E740481C1C}">
                <a14:useLocalDpi xmlns:a14="http://schemas.microsoft.com/office/drawing/2010/main" val="0"/>
              </a:ext>
            </a:extLst>
          </a:blip>
          <a:srcRect l="23666" t="38000" r="25000" b="42000"/>
          <a:stretch/>
        </p:blipFill>
        <p:spPr bwMode="auto">
          <a:xfrm>
            <a:off x="5612106" y="2708441"/>
            <a:ext cx="3090395" cy="602025"/>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686812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Classification of alcohols</a:t>
            </a:r>
          </a:p>
        </p:txBody>
      </p:sp>
      <p:graphicFrame>
        <p:nvGraphicFramePr>
          <p:cNvPr id="16" name="Table 15"/>
          <p:cNvGraphicFramePr>
            <a:graphicFrameLocks noGrp="1"/>
          </p:cNvGraphicFramePr>
          <p:nvPr/>
        </p:nvGraphicFramePr>
        <p:xfrm>
          <a:off x="3431487" y="2023963"/>
          <a:ext cx="5389985" cy="3771936"/>
        </p:xfrm>
        <a:graphic>
          <a:graphicData uri="http://schemas.openxmlformats.org/drawingml/2006/table">
            <a:tbl>
              <a:tblPr firstRow="1" firstCol="1" bandRow="1">
                <a:tableStyleId>{3B4B98B0-60AC-42C2-AFA5-B58CD77FA1E5}</a:tableStyleId>
              </a:tblPr>
              <a:tblGrid>
                <a:gridCol w="2001870">
                  <a:extLst>
                    <a:ext uri="{9D8B030D-6E8A-4147-A177-3AD203B41FA5}">
                      <a16:colId xmlns:a16="http://schemas.microsoft.com/office/drawing/2014/main" val="20000"/>
                    </a:ext>
                  </a:extLst>
                </a:gridCol>
                <a:gridCol w="3388115">
                  <a:extLst>
                    <a:ext uri="{9D8B030D-6E8A-4147-A177-3AD203B41FA5}">
                      <a16:colId xmlns:a16="http://schemas.microsoft.com/office/drawing/2014/main" val="20001"/>
                    </a:ext>
                  </a:extLst>
                </a:gridCol>
              </a:tblGrid>
              <a:tr h="1928072">
                <a:tc>
                  <a:txBody>
                    <a:bodyPr/>
                    <a:lstStyle/>
                    <a:p>
                      <a:pPr algn="ctr">
                        <a:lnSpc>
                          <a:spcPct val="107000"/>
                        </a:lnSpc>
                        <a:spcAft>
                          <a:spcPts val="0"/>
                        </a:spcAft>
                      </a:pPr>
                      <a:r>
                        <a:rPr lang="en-AU" sz="1800" dirty="0">
                          <a:effectLst/>
                        </a:rPr>
                        <a:t>Diagram</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endParaRPr lang="en-AU"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921932">
                <a:tc>
                  <a:txBody>
                    <a:bodyPr/>
                    <a:lstStyle/>
                    <a:p>
                      <a:pPr algn="ctr">
                        <a:lnSpc>
                          <a:spcPct val="107000"/>
                        </a:lnSpc>
                        <a:spcAft>
                          <a:spcPts val="0"/>
                        </a:spcAft>
                      </a:pPr>
                      <a:r>
                        <a:rPr lang="en-AU" sz="1800" dirty="0">
                          <a:effectLst/>
                        </a:rPr>
                        <a:t>Name</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AU" sz="1800" dirty="0">
                          <a:effectLst/>
                        </a:rPr>
                        <a:t> </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921932">
                <a:tc>
                  <a:txBody>
                    <a:bodyPr/>
                    <a:lstStyle/>
                    <a:p>
                      <a:pPr algn="ctr">
                        <a:lnSpc>
                          <a:spcPct val="107000"/>
                        </a:lnSpc>
                        <a:spcAft>
                          <a:spcPts val="0"/>
                        </a:spcAft>
                      </a:pPr>
                      <a:r>
                        <a:rPr lang="en-AU" sz="1800">
                          <a:effectLst/>
                        </a:rPr>
                        <a:t>Type of alcohol</a:t>
                      </a:r>
                      <a:endParaRPr lang="en-AU"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AU" sz="1800" dirty="0">
                          <a:effectLst/>
                        </a:rPr>
                        <a:t> </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bl>
          </a:graphicData>
        </a:graphic>
      </p:graphicFrame>
      <p:sp>
        <p:nvSpPr>
          <p:cNvPr id="31" name="TextBox 30"/>
          <p:cNvSpPr txBox="1"/>
          <p:nvPr/>
        </p:nvSpPr>
        <p:spPr>
          <a:xfrm>
            <a:off x="5663209" y="4231975"/>
            <a:ext cx="3039292" cy="400110"/>
          </a:xfrm>
          <a:prstGeom prst="rect">
            <a:avLst/>
          </a:prstGeom>
          <a:noFill/>
        </p:spPr>
        <p:txBody>
          <a:bodyPr wrap="square" rtlCol="0">
            <a:spAutoFit/>
          </a:bodyPr>
          <a:lstStyle/>
          <a:p>
            <a:pPr algn="ctr"/>
            <a:r>
              <a:rPr lang="en-AU" sz="2000" b="1" dirty="0">
                <a:solidFill>
                  <a:srgbClr val="FF0000"/>
                </a:solidFill>
              </a:rPr>
              <a:t>pentan-3-ol</a:t>
            </a:r>
            <a:endParaRPr lang="en-AU" sz="1400" b="1" dirty="0">
              <a:solidFill>
                <a:srgbClr val="FF0000"/>
              </a:solidFill>
            </a:endParaRPr>
          </a:p>
        </p:txBody>
      </p:sp>
      <p:sp>
        <p:nvSpPr>
          <p:cNvPr id="32" name="TextBox 31"/>
          <p:cNvSpPr txBox="1"/>
          <p:nvPr/>
        </p:nvSpPr>
        <p:spPr>
          <a:xfrm>
            <a:off x="5663209" y="5112273"/>
            <a:ext cx="3039292" cy="400110"/>
          </a:xfrm>
          <a:prstGeom prst="rect">
            <a:avLst/>
          </a:prstGeom>
          <a:noFill/>
        </p:spPr>
        <p:txBody>
          <a:bodyPr wrap="square" rtlCol="0">
            <a:spAutoFit/>
          </a:bodyPr>
          <a:lstStyle/>
          <a:p>
            <a:pPr algn="ctr"/>
            <a:r>
              <a:rPr lang="en-AU" sz="2000" b="1" dirty="0">
                <a:solidFill>
                  <a:srgbClr val="FF0000"/>
                </a:solidFill>
              </a:rPr>
              <a:t>secondary</a:t>
            </a:r>
            <a:endParaRPr lang="en-AU" sz="1400" b="1" dirty="0">
              <a:solidFill>
                <a:srgbClr val="FF0000"/>
              </a:solidFill>
            </a:endParaRPr>
          </a:p>
        </p:txBody>
      </p:sp>
      <p:pic>
        <p:nvPicPr>
          <p:cNvPr id="8" name="Picture 7" descr="This page may take several seconds to load fully."/>
          <p:cNvPicPr/>
          <p:nvPr/>
        </p:nvPicPr>
        <p:blipFill rotWithShape="1">
          <a:blip r:embed="rId2">
            <a:biLevel thresh="75000"/>
            <a:extLst>
              <a:ext uri="{28A0092B-C50C-407E-A947-70E740481C1C}">
                <a14:useLocalDpi xmlns:a14="http://schemas.microsoft.com/office/drawing/2010/main" val="0"/>
              </a:ext>
            </a:extLst>
          </a:blip>
          <a:srcRect l="22666" t="14001" r="21000" b="25332"/>
          <a:stretch/>
        </p:blipFill>
        <p:spPr bwMode="auto">
          <a:xfrm>
            <a:off x="5735542" y="2153994"/>
            <a:ext cx="2966959" cy="1597793"/>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486700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Classification of alcohols</a:t>
            </a:r>
          </a:p>
        </p:txBody>
      </p:sp>
      <p:graphicFrame>
        <p:nvGraphicFramePr>
          <p:cNvPr id="16" name="Table 15"/>
          <p:cNvGraphicFramePr>
            <a:graphicFrameLocks noGrp="1"/>
          </p:cNvGraphicFramePr>
          <p:nvPr>
            <p:extLst>
              <p:ext uri="{D42A27DB-BD31-4B8C-83A1-F6EECF244321}">
                <p14:modId xmlns:p14="http://schemas.microsoft.com/office/powerpoint/2010/main" val="3903030121"/>
              </p:ext>
            </p:extLst>
          </p:nvPr>
        </p:nvGraphicFramePr>
        <p:xfrm>
          <a:off x="3431487" y="2023963"/>
          <a:ext cx="5389985" cy="3771936"/>
        </p:xfrm>
        <a:graphic>
          <a:graphicData uri="http://schemas.openxmlformats.org/drawingml/2006/table">
            <a:tbl>
              <a:tblPr firstRow="1" firstCol="1" bandRow="1">
                <a:tableStyleId>{3B4B98B0-60AC-42C2-AFA5-B58CD77FA1E5}</a:tableStyleId>
              </a:tblPr>
              <a:tblGrid>
                <a:gridCol w="2001870">
                  <a:extLst>
                    <a:ext uri="{9D8B030D-6E8A-4147-A177-3AD203B41FA5}">
                      <a16:colId xmlns:a16="http://schemas.microsoft.com/office/drawing/2014/main" val="20000"/>
                    </a:ext>
                  </a:extLst>
                </a:gridCol>
                <a:gridCol w="3388115">
                  <a:extLst>
                    <a:ext uri="{9D8B030D-6E8A-4147-A177-3AD203B41FA5}">
                      <a16:colId xmlns:a16="http://schemas.microsoft.com/office/drawing/2014/main" val="20001"/>
                    </a:ext>
                  </a:extLst>
                </a:gridCol>
              </a:tblGrid>
              <a:tr h="1928072">
                <a:tc>
                  <a:txBody>
                    <a:bodyPr/>
                    <a:lstStyle/>
                    <a:p>
                      <a:pPr algn="ctr">
                        <a:lnSpc>
                          <a:spcPct val="107000"/>
                        </a:lnSpc>
                        <a:spcAft>
                          <a:spcPts val="0"/>
                        </a:spcAft>
                      </a:pPr>
                      <a:r>
                        <a:rPr lang="en-AU" sz="1800" dirty="0">
                          <a:effectLst/>
                        </a:rPr>
                        <a:t>Diagram</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endParaRPr lang="en-AU" sz="1800" dirty="0">
                        <a:effectLst/>
                        <a:latin typeface="Arial" panose="020B060402020202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0"/>
                  </a:ext>
                </a:extLst>
              </a:tr>
              <a:tr h="921932">
                <a:tc>
                  <a:txBody>
                    <a:bodyPr/>
                    <a:lstStyle/>
                    <a:p>
                      <a:pPr algn="ctr">
                        <a:lnSpc>
                          <a:spcPct val="107000"/>
                        </a:lnSpc>
                        <a:spcAft>
                          <a:spcPts val="0"/>
                        </a:spcAft>
                      </a:pPr>
                      <a:r>
                        <a:rPr lang="en-AU" sz="1800" dirty="0">
                          <a:effectLst/>
                        </a:rPr>
                        <a:t>Name</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AU" sz="1800" dirty="0">
                          <a:effectLst/>
                        </a:rPr>
                        <a:t> </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1"/>
                  </a:ext>
                </a:extLst>
              </a:tr>
              <a:tr h="921932">
                <a:tc>
                  <a:txBody>
                    <a:bodyPr/>
                    <a:lstStyle/>
                    <a:p>
                      <a:pPr algn="ctr">
                        <a:lnSpc>
                          <a:spcPct val="107000"/>
                        </a:lnSpc>
                        <a:spcAft>
                          <a:spcPts val="0"/>
                        </a:spcAft>
                      </a:pPr>
                      <a:r>
                        <a:rPr lang="en-AU" sz="1800">
                          <a:effectLst/>
                        </a:rPr>
                        <a:t>Type of alcohol</a:t>
                      </a:r>
                      <a:endParaRPr lang="en-AU"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0"/>
                        </a:spcAft>
                      </a:pPr>
                      <a:r>
                        <a:rPr lang="en-AU" sz="1800" dirty="0">
                          <a:effectLst/>
                        </a:rPr>
                        <a:t> </a:t>
                      </a:r>
                      <a:endParaRPr lang="en-AU"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0002"/>
                  </a:ext>
                </a:extLst>
              </a:tr>
            </a:tbl>
          </a:graphicData>
        </a:graphic>
      </p:graphicFrame>
      <p:sp>
        <p:nvSpPr>
          <p:cNvPr id="31" name="TextBox 30"/>
          <p:cNvSpPr txBox="1"/>
          <p:nvPr/>
        </p:nvSpPr>
        <p:spPr>
          <a:xfrm>
            <a:off x="5663209" y="4231975"/>
            <a:ext cx="3039292" cy="400110"/>
          </a:xfrm>
          <a:prstGeom prst="rect">
            <a:avLst/>
          </a:prstGeom>
          <a:noFill/>
        </p:spPr>
        <p:txBody>
          <a:bodyPr wrap="square" rtlCol="0">
            <a:spAutoFit/>
          </a:bodyPr>
          <a:lstStyle/>
          <a:p>
            <a:pPr algn="ctr"/>
            <a:r>
              <a:rPr lang="en-AU" sz="2000" b="1" dirty="0">
                <a:solidFill>
                  <a:srgbClr val="FF0000"/>
                </a:solidFill>
              </a:rPr>
              <a:t>2-methylpropan-2-ol</a:t>
            </a:r>
            <a:endParaRPr lang="en-AU" sz="1400" b="1" dirty="0">
              <a:solidFill>
                <a:srgbClr val="FF0000"/>
              </a:solidFill>
            </a:endParaRPr>
          </a:p>
        </p:txBody>
      </p:sp>
      <p:sp>
        <p:nvSpPr>
          <p:cNvPr id="32" name="TextBox 31"/>
          <p:cNvSpPr txBox="1"/>
          <p:nvPr/>
        </p:nvSpPr>
        <p:spPr>
          <a:xfrm>
            <a:off x="5663209" y="5112273"/>
            <a:ext cx="3039292" cy="400110"/>
          </a:xfrm>
          <a:prstGeom prst="rect">
            <a:avLst/>
          </a:prstGeom>
          <a:noFill/>
        </p:spPr>
        <p:txBody>
          <a:bodyPr wrap="square" rtlCol="0">
            <a:spAutoFit/>
          </a:bodyPr>
          <a:lstStyle/>
          <a:p>
            <a:pPr algn="ctr"/>
            <a:r>
              <a:rPr lang="en-AU" sz="2000" b="1" dirty="0">
                <a:solidFill>
                  <a:srgbClr val="FF0000"/>
                </a:solidFill>
              </a:rPr>
              <a:t>tertiary</a:t>
            </a:r>
            <a:endParaRPr lang="en-AU" sz="1400" b="1" dirty="0">
              <a:solidFill>
                <a:srgbClr val="FF0000"/>
              </a:solidFill>
            </a:endParaRPr>
          </a:p>
        </p:txBody>
      </p:sp>
      <p:pic>
        <p:nvPicPr>
          <p:cNvPr id="7" name="Picture 6" descr="This page may take several seconds to load fully."/>
          <p:cNvPicPr/>
          <p:nvPr/>
        </p:nvPicPr>
        <p:blipFill rotWithShape="1">
          <a:blip r:embed="rId2">
            <a:biLevel thresh="75000"/>
            <a:extLst>
              <a:ext uri="{28A0092B-C50C-407E-A947-70E740481C1C}">
                <a14:useLocalDpi xmlns:a14="http://schemas.microsoft.com/office/drawing/2010/main" val="0"/>
              </a:ext>
            </a:extLst>
          </a:blip>
          <a:srcRect l="31666" t="14000" r="30000" b="2000"/>
          <a:stretch/>
        </p:blipFill>
        <p:spPr bwMode="auto">
          <a:xfrm>
            <a:off x="6312746" y="2094284"/>
            <a:ext cx="1628987" cy="1784508"/>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880860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Physical properties of alcohols (cont.)</a:t>
            </a:r>
          </a:p>
        </p:txBody>
      </p:sp>
      <p:sp>
        <p:nvSpPr>
          <p:cNvPr id="3" name="Content Placeholder 2"/>
          <p:cNvSpPr>
            <a:spLocks noGrp="1"/>
          </p:cNvSpPr>
          <p:nvPr>
            <p:ph idx="1"/>
          </p:nvPr>
        </p:nvSpPr>
        <p:spPr/>
        <p:txBody>
          <a:bodyPr>
            <a:normAutofit lnSpcReduction="10000"/>
          </a:bodyPr>
          <a:lstStyle/>
          <a:p>
            <a:r>
              <a:rPr lang="en-AU" dirty="0"/>
              <a:t>The strength of hydrogen bonding in alcohols depends on the extent to which the –OH group is exposed and available for bonding. The –OH group is most exposed in primary alcohols and least exposed in tertiary alcohols. Hence, while all three classes of alcohols exhibit some common properties there are differences in both their physical and chemical properties. For example, primary alcohols have higher boiling points than secondary alcohols which in turn have higher boiling points than tertiary alcohols.</a:t>
            </a:r>
          </a:p>
          <a:p>
            <a:r>
              <a:rPr lang="en-AU" dirty="0"/>
              <a:t> </a:t>
            </a:r>
          </a:p>
          <a:p>
            <a:r>
              <a:rPr lang="en-AU" b="1" dirty="0"/>
              <a:t>Question:</a:t>
            </a:r>
            <a:endParaRPr lang="en-AU" dirty="0"/>
          </a:p>
          <a:p>
            <a:r>
              <a:rPr lang="en-AU" dirty="0"/>
              <a:t>Given that the chain branching lowers the boiling points of compounds and decreases the accessibility of the –OH group for hydrogen bonding, draw the structures of four isomeric alcohols with molecular formula C</a:t>
            </a:r>
            <a:r>
              <a:rPr lang="en-AU" baseline="-25000" dirty="0"/>
              <a:t>4</a:t>
            </a:r>
            <a:r>
              <a:rPr lang="en-AU" dirty="0"/>
              <a:t>H</a:t>
            </a:r>
            <a:r>
              <a:rPr lang="en-AU" baseline="-25000" dirty="0"/>
              <a:t>10</a:t>
            </a:r>
            <a:r>
              <a:rPr lang="en-AU" dirty="0"/>
              <a:t>O and match these structures with the boiling points of 83 °C, 100 °C, 108 °C and 118 °C. Justify your choice for the relative order you have assigned.</a:t>
            </a:r>
          </a:p>
          <a:p>
            <a:r>
              <a:rPr lang="en-AU" i="1" dirty="0"/>
              <a:t>Hint: Start by figuring out what the four isomers are!!</a:t>
            </a:r>
            <a:endParaRPr lang="en-AU" dirty="0"/>
          </a:p>
          <a:p>
            <a:endParaRPr lang="en-AU" dirty="0"/>
          </a:p>
        </p:txBody>
      </p:sp>
    </p:spTree>
    <p:extLst>
      <p:ext uri="{BB962C8B-B14F-4D97-AF65-F5344CB8AC3E}">
        <p14:creationId xmlns:p14="http://schemas.microsoft.com/office/powerpoint/2010/main" val="16888044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Physical properties of alcohols (cont.)</a:t>
            </a:r>
          </a:p>
        </p:txBody>
      </p:sp>
      <p:sp>
        <p:nvSpPr>
          <p:cNvPr id="3" name="Content Placeholder 2"/>
          <p:cNvSpPr>
            <a:spLocks noGrp="1"/>
          </p:cNvSpPr>
          <p:nvPr>
            <p:ph idx="1"/>
          </p:nvPr>
        </p:nvSpPr>
        <p:spPr/>
        <p:txBody>
          <a:bodyPr>
            <a:normAutofit/>
          </a:bodyPr>
          <a:lstStyle/>
          <a:p>
            <a:r>
              <a:rPr lang="en-AU" b="1" dirty="0"/>
              <a:t>Question:</a:t>
            </a:r>
            <a:endParaRPr lang="en-AU" dirty="0"/>
          </a:p>
          <a:p>
            <a:r>
              <a:rPr lang="en-AU" dirty="0"/>
              <a:t>Given that the chain branching lowers the boiling points of compounds and decreases the accessibility of the –OH group for hydrogen bonding, draw the structures of four isomeric alcohols with molecular formula C</a:t>
            </a:r>
            <a:r>
              <a:rPr lang="en-AU" baseline="-25000" dirty="0"/>
              <a:t>4</a:t>
            </a:r>
            <a:r>
              <a:rPr lang="en-AU" dirty="0"/>
              <a:t>H</a:t>
            </a:r>
            <a:r>
              <a:rPr lang="en-AU" baseline="-25000" dirty="0"/>
              <a:t>10</a:t>
            </a:r>
            <a:r>
              <a:rPr lang="en-AU" dirty="0"/>
              <a:t>O and match these structures with the boiling points of </a:t>
            </a:r>
            <a:br>
              <a:rPr lang="en-AU" dirty="0"/>
            </a:br>
            <a:r>
              <a:rPr lang="en-AU" dirty="0"/>
              <a:t>83 °C, 100 °C, 108 °C and 118 °C. Justify your choice for the relative order you have assigned.</a:t>
            </a:r>
          </a:p>
          <a:p>
            <a:r>
              <a:rPr lang="en-AU" i="1" dirty="0"/>
              <a:t>Hint: Start by figuring out what the four isomers are!!</a:t>
            </a:r>
            <a:endParaRPr lang="en-AU" dirty="0"/>
          </a:p>
        </p:txBody>
      </p:sp>
    </p:spTree>
    <p:extLst>
      <p:ext uri="{BB962C8B-B14F-4D97-AF65-F5344CB8AC3E}">
        <p14:creationId xmlns:p14="http://schemas.microsoft.com/office/powerpoint/2010/main" val="773268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Reactions of alcohols – Oxidation </a:t>
            </a:r>
          </a:p>
        </p:txBody>
      </p:sp>
      <p:pic>
        <p:nvPicPr>
          <p:cNvPr id="6" name="Picture 5" descr="http://www.bbc.co.uk/staticarchive/922d2ef4836e5c75cd44f5b717fc6da5f2a39074.gif"/>
          <p:cNvPicPr/>
          <p:nvPr/>
        </p:nvPicPr>
        <p:blipFill rotWithShape="1">
          <a:blip r:embed="rId2">
            <a:extLst>
              <a:ext uri="{28A0092B-C50C-407E-A947-70E740481C1C}">
                <a14:useLocalDpi xmlns:a14="http://schemas.microsoft.com/office/drawing/2010/main" val="0"/>
              </a:ext>
            </a:extLst>
          </a:blip>
          <a:srcRect b="32423"/>
          <a:stretch/>
        </p:blipFill>
        <p:spPr bwMode="auto">
          <a:xfrm>
            <a:off x="776498" y="1845734"/>
            <a:ext cx="10834987" cy="3630507"/>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722829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8400" y="1845733"/>
            <a:ext cx="9906000" cy="4529667"/>
          </a:xfrm>
        </p:spPr>
        <p:txBody>
          <a:bodyPr>
            <a:normAutofit/>
          </a:bodyPr>
          <a:lstStyle/>
          <a:p>
            <a:pPr>
              <a:lnSpc>
                <a:spcPct val="120000"/>
              </a:lnSpc>
              <a:spcBef>
                <a:spcPts val="0"/>
              </a:spcBef>
              <a:spcAft>
                <a:spcPts val="0"/>
              </a:spcAft>
            </a:pPr>
            <a:endParaRPr lang="en-AU" sz="2800" b="1" dirty="0"/>
          </a:p>
          <a:p>
            <a:pPr>
              <a:lnSpc>
                <a:spcPct val="120000"/>
              </a:lnSpc>
              <a:spcBef>
                <a:spcPts val="0"/>
              </a:spcBef>
              <a:spcAft>
                <a:spcPts val="0"/>
              </a:spcAft>
            </a:pPr>
            <a:r>
              <a:rPr lang="en-AU" sz="2800" b="1" dirty="0"/>
              <a:t>Functional group:</a:t>
            </a:r>
          </a:p>
          <a:p>
            <a:pPr>
              <a:lnSpc>
                <a:spcPct val="120000"/>
              </a:lnSpc>
              <a:spcBef>
                <a:spcPts val="0"/>
              </a:spcBef>
              <a:spcAft>
                <a:spcPts val="0"/>
              </a:spcAft>
            </a:pPr>
            <a:r>
              <a:rPr lang="en-AU" sz="2200" b="1" dirty="0"/>
              <a:t>(also written as –COO–)</a:t>
            </a:r>
            <a:endParaRPr lang="en-AU" sz="1700" b="1" dirty="0"/>
          </a:p>
          <a:p>
            <a:endParaRPr lang="en-AU" b="1" dirty="0"/>
          </a:p>
          <a:p>
            <a:r>
              <a:rPr lang="en-AU" dirty="0"/>
              <a:t>Esters are an important group of organic compounds found in a wide range of biological systems. They include vegetable and animal oils and fats, natural waxes and a range of natural flavours and fragrances.</a:t>
            </a:r>
          </a:p>
          <a:p>
            <a:r>
              <a:rPr lang="en-AU" dirty="0"/>
              <a:t>Esters are similar to carboxylic acids except that an alkyl group is attached to the oxygen atom rather than a hydrogen atom.</a:t>
            </a:r>
          </a:p>
        </p:txBody>
      </p:sp>
      <p:pic>
        <p:nvPicPr>
          <p:cNvPr id="55300" name="Picture 4" descr="http://www.chemeddl.org/resources/models360/files/7997/propyl_acetate-lewis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7044" y="1845733"/>
            <a:ext cx="4039423" cy="14041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AU" b="1" dirty="0"/>
              <a:t>Esters</a:t>
            </a:r>
          </a:p>
        </p:txBody>
      </p:sp>
      <p:sp>
        <p:nvSpPr>
          <p:cNvPr id="7" name="TextBox 6"/>
          <p:cNvSpPr txBox="1"/>
          <p:nvPr/>
        </p:nvSpPr>
        <p:spPr>
          <a:xfrm>
            <a:off x="8268313" y="3173541"/>
            <a:ext cx="2291236" cy="369332"/>
          </a:xfrm>
          <a:prstGeom prst="rect">
            <a:avLst/>
          </a:prstGeom>
          <a:noFill/>
        </p:spPr>
        <p:txBody>
          <a:bodyPr wrap="square" rtlCol="0">
            <a:spAutoFit/>
          </a:bodyPr>
          <a:lstStyle/>
          <a:p>
            <a:pPr algn="ctr"/>
            <a:r>
              <a:rPr lang="en-AU" b="1" dirty="0">
                <a:solidFill>
                  <a:srgbClr val="0070C0"/>
                </a:solidFill>
              </a:rPr>
              <a:t>propyl ethanoate</a:t>
            </a:r>
          </a:p>
        </p:txBody>
      </p:sp>
      <p:sp>
        <p:nvSpPr>
          <p:cNvPr id="10" name="Oval 9"/>
          <p:cNvSpPr/>
          <p:nvPr/>
        </p:nvSpPr>
        <p:spPr>
          <a:xfrm>
            <a:off x="7560492" y="2070661"/>
            <a:ext cx="1058575" cy="1434540"/>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pic>
        <p:nvPicPr>
          <p:cNvPr id="55298" name="Picture 2" descr="http://wiki.chemprime.chemeddl.org/images/b/b4/Ester_Functional_Group.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0897" y="1772016"/>
            <a:ext cx="1792565" cy="11321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38483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8400" y="1845733"/>
            <a:ext cx="9906000" cy="4529667"/>
          </a:xfrm>
        </p:spPr>
        <p:txBody>
          <a:bodyPr>
            <a:normAutofit lnSpcReduction="10000"/>
          </a:bodyPr>
          <a:lstStyle/>
          <a:p>
            <a:r>
              <a:rPr lang="en-AU" dirty="0"/>
              <a:t>Esters are formed from the reaction between an alcohol and a carboxylic acid.</a:t>
            </a:r>
          </a:p>
          <a:p>
            <a:r>
              <a:rPr lang="en-AU" dirty="0"/>
              <a:t>During this process the </a:t>
            </a:r>
            <a:r>
              <a:rPr lang="en-AU" b="1" dirty="0"/>
              <a:t>OH</a:t>
            </a:r>
            <a:r>
              <a:rPr lang="en-AU" dirty="0"/>
              <a:t> from the carboxylic acid and the </a:t>
            </a:r>
            <a:r>
              <a:rPr lang="en-AU" b="1" dirty="0"/>
              <a:t>H</a:t>
            </a:r>
            <a:r>
              <a:rPr lang="en-AU" dirty="0"/>
              <a:t> from the alcohol join to form water. The leftover molecules join to form an ester. </a:t>
            </a:r>
          </a:p>
          <a:p>
            <a:endParaRPr lang="en-AU" dirty="0"/>
          </a:p>
          <a:p>
            <a:endParaRPr lang="en-AU" dirty="0"/>
          </a:p>
          <a:p>
            <a:endParaRPr lang="en-AU" dirty="0"/>
          </a:p>
          <a:p>
            <a:endParaRPr lang="en-AU" dirty="0"/>
          </a:p>
          <a:p>
            <a:endParaRPr lang="en-AU" dirty="0"/>
          </a:p>
          <a:p>
            <a:r>
              <a:rPr lang="en-AU" dirty="0"/>
              <a:t>The reaction is acid catalysed and is a reversible reaction.</a:t>
            </a:r>
          </a:p>
          <a:p>
            <a:r>
              <a:rPr lang="en-AU" dirty="0"/>
              <a:t>Reactions that produce esters are called </a:t>
            </a:r>
            <a:r>
              <a:rPr lang="en-AU" b="1" dirty="0"/>
              <a:t>esterification reactions</a:t>
            </a:r>
            <a:r>
              <a:rPr lang="en-AU" dirty="0"/>
              <a:t>. You can also describe this reaction as a </a:t>
            </a:r>
            <a:r>
              <a:rPr lang="en-AU" b="1" dirty="0"/>
              <a:t>condensation reaction</a:t>
            </a:r>
            <a:r>
              <a:rPr lang="en-AU" dirty="0"/>
              <a:t> because water is produced as a by-product.</a:t>
            </a:r>
          </a:p>
        </p:txBody>
      </p:sp>
      <p:sp>
        <p:nvSpPr>
          <p:cNvPr id="2" name="Title 1"/>
          <p:cNvSpPr>
            <a:spLocks noGrp="1"/>
          </p:cNvSpPr>
          <p:nvPr>
            <p:ph type="title"/>
          </p:nvPr>
        </p:nvSpPr>
        <p:spPr/>
        <p:txBody>
          <a:bodyPr/>
          <a:lstStyle/>
          <a:p>
            <a:r>
              <a:rPr lang="en-AU" b="1" dirty="0"/>
              <a:t>Reactions that produce esters</a:t>
            </a:r>
          </a:p>
        </p:txBody>
      </p:sp>
      <p:pic>
        <p:nvPicPr>
          <p:cNvPr id="57350" name="Picture 6" descr="http://itech.dickinson.edu/chemistry/wp-content/uploads/2008/04/esterformation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7818" y="2881841"/>
            <a:ext cx="7410383" cy="1914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221488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68400" y="1845733"/>
            <a:ext cx="9906000" cy="4529667"/>
          </a:xfrm>
        </p:spPr>
        <p:txBody>
          <a:bodyPr>
            <a:normAutofit/>
          </a:bodyPr>
          <a:lstStyle/>
          <a:p>
            <a:r>
              <a:rPr lang="en-AU" dirty="0"/>
              <a:t>Esters have a two part name:</a:t>
            </a:r>
          </a:p>
          <a:p>
            <a:pPr lvl="1">
              <a:buFont typeface="Arial" panose="020B0604020202020204" pitchFamily="34" charset="0"/>
              <a:buChar char="•"/>
            </a:pPr>
            <a:r>
              <a:rPr lang="en-AU" dirty="0"/>
              <a:t>The first part is derived from the name of the </a:t>
            </a:r>
            <a:r>
              <a:rPr lang="en-AU" b="1" dirty="0"/>
              <a:t>alcohol precursor</a:t>
            </a:r>
            <a:r>
              <a:rPr lang="en-AU" dirty="0"/>
              <a:t> and has the suffix </a:t>
            </a:r>
            <a:r>
              <a:rPr lang="en-AU" b="1" dirty="0"/>
              <a:t>–</a:t>
            </a:r>
            <a:r>
              <a:rPr lang="en-AU" b="1" dirty="0" err="1"/>
              <a:t>yl</a:t>
            </a:r>
            <a:endParaRPr lang="en-AU" dirty="0"/>
          </a:p>
          <a:p>
            <a:pPr lvl="1">
              <a:buFont typeface="Arial" panose="020B0604020202020204" pitchFamily="34" charset="0"/>
              <a:buChar char="•"/>
            </a:pPr>
            <a:r>
              <a:rPr lang="en-AU" dirty="0"/>
              <a:t>The second part is derived form the name of the </a:t>
            </a:r>
            <a:r>
              <a:rPr lang="en-AU" b="1" dirty="0"/>
              <a:t>carboxylic acid precursor</a:t>
            </a:r>
            <a:r>
              <a:rPr lang="en-AU" dirty="0"/>
              <a:t> and has the suffix </a:t>
            </a:r>
            <a:r>
              <a:rPr lang="en-AU" b="1" dirty="0"/>
              <a:t>–</a:t>
            </a:r>
            <a:r>
              <a:rPr lang="en-AU" b="1" dirty="0" err="1"/>
              <a:t>oate</a:t>
            </a:r>
            <a:endParaRPr lang="en-AU" dirty="0"/>
          </a:p>
          <a:p>
            <a:pPr lvl="1">
              <a:buFont typeface="Arial" panose="020B0604020202020204" pitchFamily="34" charset="0"/>
              <a:buChar char="•"/>
            </a:pPr>
            <a:endParaRPr lang="en-AU" dirty="0"/>
          </a:p>
          <a:p>
            <a:pPr lvl="1">
              <a:buFont typeface="Arial" panose="020B0604020202020204" pitchFamily="34" charset="0"/>
              <a:buChar char="•"/>
            </a:pPr>
            <a:endParaRPr lang="en-AU" dirty="0"/>
          </a:p>
          <a:p>
            <a:pPr lvl="1">
              <a:buFont typeface="Arial" panose="020B0604020202020204" pitchFamily="34" charset="0"/>
              <a:buChar char="•"/>
            </a:pPr>
            <a:endParaRPr lang="en-AU" dirty="0"/>
          </a:p>
          <a:p>
            <a:pPr lvl="1">
              <a:buFont typeface="Arial" panose="020B0604020202020204" pitchFamily="34" charset="0"/>
              <a:buChar char="•"/>
            </a:pPr>
            <a:endParaRPr lang="en-AU" dirty="0"/>
          </a:p>
          <a:p>
            <a:pPr lvl="1">
              <a:buFont typeface="Arial" panose="020B0604020202020204" pitchFamily="34" charset="0"/>
              <a:buChar char="•"/>
            </a:pPr>
            <a:endParaRPr lang="en-AU" dirty="0"/>
          </a:p>
          <a:p>
            <a:pPr lvl="1">
              <a:buFont typeface="Arial" panose="020B0604020202020204" pitchFamily="34" charset="0"/>
              <a:buChar char="•"/>
            </a:pPr>
            <a:endParaRPr lang="en-AU" dirty="0"/>
          </a:p>
          <a:p>
            <a:pPr lvl="1">
              <a:buFont typeface="Arial" panose="020B0604020202020204" pitchFamily="34" charset="0"/>
              <a:buChar char="•"/>
            </a:pPr>
            <a:endParaRPr lang="en-AU" dirty="0"/>
          </a:p>
          <a:p>
            <a:pPr lvl="1">
              <a:buFont typeface="Arial" panose="020B0604020202020204" pitchFamily="34" charset="0"/>
              <a:buChar char="•"/>
            </a:pPr>
            <a:endParaRPr lang="en-AU" dirty="0"/>
          </a:p>
          <a:p>
            <a:pPr marL="201168" lvl="1" indent="0">
              <a:buNone/>
            </a:pPr>
            <a:r>
              <a:rPr lang="en-AU" i="1" dirty="0"/>
              <a:t>Confused about which part is which? </a:t>
            </a:r>
            <a:br>
              <a:rPr lang="en-AU" i="1" dirty="0"/>
            </a:br>
            <a:r>
              <a:rPr lang="en-AU" i="1" dirty="0"/>
              <a:t>The </a:t>
            </a:r>
            <a:r>
              <a:rPr lang="en-AU" b="1" i="1" dirty="0"/>
              <a:t>‘–</a:t>
            </a:r>
            <a:r>
              <a:rPr lang="en-AU" b="1" i="1" dirty="0" err="1"/>
              <a:t>oate</a:t>
            </a:r>
            <a:r>
              <a:rPr lang="en-AU" b="1" i="1" dirty="0"/>
              <a:t>’</a:t>
            </a:r>
            <a:r>
              <a:rPr lang="en-AU" i="1" dirty="0"/>
              <a:t> part (from the carboxylic acid) will be the part that starts from the C=O.</a:t>
            </a:r>
          </a:p>
        </p:txBody>
      </p:sp>
      <p:sp>
        <p:nvSpPr>
          <p:cNvPr id="2" name="Title 1"/>
          <p:cNvSpPr>
            <a:spLocks noGrp="1"/>
          </p:cNvSpPr>
          <p:nvPr>
            <p:ph type="title"/>
          </p:nvPr>
        </p:nvSpPr>
        <p:spPr/>
        <p:txBody>
          <a:bodyPr/>
          <a:lstStyle/>
          <a:p>
            <a:r>
              <a:rPr lang="en-AU" b="1" dirty="0"/>
              <a:t>Naming esters</a:t>
            </a:r>
          </a:p>
        </p:txBody>
      </p:sp>
      <p:pic>
        <p:nvPicPr>
          <p:cNvPr id="58370" name="Picture 2" descr="http://www.bbc.co.uk/staticarchive/f132bbfe11f0c16d31b7c971733e08e570fd9826.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2907" y="2894541"/>
            <a:ext cx="7767453" cy="2574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84441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60"/>
          <p:cNvSpPr/>
          <p:nvPr/>
        </p:nvSpPr>
        <p:spPr>
          <a:xfrm>
            <a:off x="8898465" y="3583565"/>
            <a:ext cx="1375439" cy="1462567"/>
          </a:xfrm>
          <a:prstGeom prst="rect">
            <a:avLst/>
          </a:prstGeom>
          <a:solidFill>
            <a:srgbClr val="FFCC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 name="Title 1"/>
          <p:cNvSpPr>
            <a:spLocks noGrp="1"/>
          </p:cNvSpPr>
          <p:nvPr>
            <p:ph type="title"/>
          </p:nvPr>
        </p:nvSpPr>
        <p:spPr/>
        <p:txBody>
          <a:bodyPr/>
          <a:lstStyle/>
          <a:p>
            <a:r>
              <a:rPr lang="en-AU" b="1" dirty="0"/>
              <a:t>Naming esters</a:t>
            </a:r>
          </a:p>
        </p:txBody>
      </p:sp>
      <p:grpSp>
        <p:nvGrpSpPr>
          <p:cNvPr id="11" name="Group 10"/>
          <p:cNvGrpSpPr/>
          <p:nvPr/>
        </p:nvGrpSpPr>
        <p:grpSpPr>
          <a:xfrm>
            <a:off x="875709" y="2116666"/>
            <a:ext cx="2450297" cy="897467"/>
            <a:chOff x="1329267" y="2455333"/>
            <a:chExt cx="2450297" cy="897467"/>
          </a:xfrm>
        </p:grpSpPr>
        <p:sp>
          <p:nvSpPr>
            <p:cNvPr id="10" name="Rectangle 9"/>
            <p:cNvSpPr/>
            <p:nvPr/>
          </p:nvSpPr>
          <p:spPr>
            <a:xfrm>
              <a:off x="1329267" y="2455333"/>
              <a:ext cx="1109132" cy="897467"/>
            </a:xfrm>
            <a:prstGeom prst="rect">
              <a:avLst/>
            </a:prstGeom>
            <a:solidFill>
              <a:srgbClr val="FFCC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9" name="Group 8"/>
            <p:cNvGrpSpPr/>
            <p:nvPr/>
          </p:nvGrpSpPr>
          <p:grpSpPr>
            <a:xfrm>
              <a:off x="1363134" y="2492400"/>
              <a:ext cx="2416430" cy="730198"/>
              <a:chOff x="1363134" y="2492400"/>
              <a:chExt cx="2416430" cy="730198"/>
            </a:xfrm>
          </p:grpSpPr>
          <p:sp>
            <p:nvSpPr>
              <p:cNvPr id="5" name="TextBox 4"/>
              <p:cNvSpPr txBox="1"/>
              <p:nvPr/>
            </p:nvSpPr>
            <p:spPr>
              <a:xfrm>
                <a:off x="1363134" y="2853266"/>
                <a:ext cx="2416430"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CH</a:t>
                </a:r>
                <a:r>
                  <a:rPr lang="en-AU" baseline="-25000" dirty="0">
                    <a:latin typeface="Arial" panose="020B0604020202020204" pitchFamily="34" charset="0"/>
                    <a:cs typeface="Arial" panose="020B0604020202020204" pitchFamily="34" charset="0"/>
                  </a:rPr>
                  <a:t>3 </a:t>
                </a:r>
                <a:r>
                  <a:rPr lang="en-AU" dirty="0">
                    <a:latin typeface="Arial" panose="020B0604020202020204" pitchFamily="34" charset="0"/>
                    <a:cs typeface="Arial" panose="020B0604020202020204" pitchFamily="34" charset="0"/>
                  </a:rPr>
                  <a:t>– C </a:t>
                </a:r>
                <a:r>
                  <a:rPr lang="en-AU" dirty="0"/>
                  <a:t>—</a:t>
                </a:r>
                <a:r>
                  <a:rPr lang="en-AU" dirty="0">
                    <a:latin typeface="Arial" panose="020B0604020202020204" pitchFamily="34" charset="0"/>
                    <a:cs typeface="Arial" panose="020B0604020202020204" pitchFamily="34" charset="0"/>
                  </a:rPr>
                  <a:t> O – CH</a:t>
                </a:r>
                <a:r>
                  <a:rPr lang="en-AU" baseline="-25000" dirty="0">
                    <a:latin typeface="Arial" panose="020B0604020202020204" pitchFamily="34" charset="0"/>
                    <a:cs typeface="Arial" panose="020B0604020202020204" pitchFamily="34" charset="0"/>
                  </a:rPr>
                  <a:t>3</a:t>
                </a:r>
                <a:endParaRPr lang="en-AU" dirty="0">
                  <a:latin typeface="Arial" panose="020B0604020202020204" pitchFamily="34" charset="0"/>
                  <a:cs typeface="Arial" panose="020B0604020202020204" pitchFamily="34" charset="0"/>
                </a:endParaRPr>
              </a:p>
            </p:txBody>
          </p:sp>
          <p:grpSp>
            <p:nvGrpSpPr>
              <p:cNvPr id="6" name="Group 5"/>
              <p:cNvGrpSpPr/>
              <p:nvPr/>
            </p:nvGrpSpPr>
            <p:grpSpPr>
              <a:xfrm>
                <a:off x="2016670" y="2492400"/>
                <a:ext cx="369332" cy="530198"/>
                <a:chOff x="2016670" y="2492400"/>
                <a:chExt cx="369332" cy="530198"/>
              </a:xfrm>
            </p:grpSpPr>
            <p:sp>
              <p:nvSpPr>
                <p:cNvPr id="7" name="TextBox 6"/>
                <p:cNvSpPr txBox="1"/>
                <p:nvPr/>
              </p:nvSpPr>
              <p:spPr>
                <a:xfrm rot="16200000">
                  <a:off x="2032002" y="2668599"/>
                  <a:ext cx="338667"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a:t>
                  </a:r>
                </a:p>
              </p:txBody>
            </p:sp>
            <p:sp>
              <p:nvSpPr>
                <p:cNvPr id="8" name="TextBox 7"/>
                <p:cNvSpPr txBox="1"/>
                <p:nvPr/>
              </p:nvSpPr>
              <p:spPr>
                <a:xfrm>
                  <a:off x="2021934" y="2492400"/>
                  <a:ext cx="338667"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O</a:t>
                  </a:r>
                </a:p>
              </p:txBody>
            </p:sp>
          </p:grpSp>
        </p:grpSp>
        <p:sp>
          <p:nvSpPr>
            <p:cNvPr id="12" name="Rectangle 11"/>
            <p:cNvSpPr/>
            <p:nvPr/>
          </p:nvSpPr>
          <p:spPr>
            <a:xfrm>
              <a:off x="2438398" y="2455333"/>
              <a:ext cx="1058335" cy="8974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14" name="Group 13"/>
          <p:cNvGrpSpPr/>
          <p:nvPr/>
        </p:nvGrpSpPr>
        <p:grpSpPr>
          <a:xfrm>
            <a:off x="3891339" y="2116666"/>
            <a:ext cx="2978663" cy="897467"/>
            <a:chOff x="1329267" y="2455333"/>
            <a:chExt cx="2978663" cy="897467"/>
          </a:xfrm>
        </p:grpSpPr>
        <p:sp>
          <p:nvSpPr>
            <p:cNvPr id="15" name="Rectangle 14"/>
            <p:cNvSpPr/>
            <p:nvPr/>
          </p:nvSpPr>
          <p:spPr>
            <a:xfrm>
              <a:off x="1329267" y="2455333"/>
              <a:ext cx="1750128" cy="897467"/>
            </a:xfrm>
            <a:prstGeom prst="rect">
              <a:avLst/>
            </a:prstGeom>
            <a:solidFill>
              <a:srgbClr val="FFCC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16" name="Group 15"/>
            <p:cNvGrpSpPr/>
            <p:nvPr/>
          </p:nvGrpSpPr>
          <p:grpSpPr>
            <a:xfrm>
              <a:off x="1363134" y="2492400"/>
              <a:ext cx="2944796" cy="730198"/>
              <a:chOff x="1363134" y="2492400"/>
              <a:chExt cx="2944796" cy="730198"/>
            </a:xfrm>
          </p:grpSpPr>
          <p:sp>
            <p:nvSpPr>
              <p:cNvPr id="18" name="TextBox 17"/>
              <p:cNvSpPr txBox="1"/>
              <p:nvPr/>
            </p:nvSpPr>
            <p:spPr>
              <a:xfrm>
                <a:off x="1363134" y="2853266"/>
                <a:ext cx="2944796"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CH</a:t>
                </a:r>
                <a:r>
                  <a:rPr lang="en-AU" baseline="-25000" dirty="0">
                    <a:latin typeface="Arial" panose="020B0604020202020204" pitchFamily="34" charset="0"/>
                    <a:cs typeface="Arial" panose="020B0604020202020204" pitchFamily="34" charset="0"/>
                  </a:rPr>
                  <a:t>3 </a:t>
                </a:r>
                <a:r>
                  <a:rPr lang="en-AU" dirty="0">
                    <a:latin typeface="Arial" panose="020B0604020202020204" pitchFamily="34" charset="0"/>
                    <a:cs typeface="Arial" panose="020B0604020202020204" pitchFamily="34" charset="0"/>
                  </a:rPr>
                  <a:t>– CH</a:t>
                </a:r>
                <a:r>
                  <a:rPr lang="en-AU" baseline="-25000" dirty="0">
                    <a:latin typeface="Arial" panose="020B0604020202020204" pitchFamily="34" charset="0"/>
                    <a:cs typeface="Arial" panose="020B0604020202020204" pitchFamily="34" charset="0"/>
                  </a:rPr>
                  <a:t>2 </a:t>
                </a:r>
                <a:r>
                  <a:rPr lang="en-AU" dirty="0">
                    <a:latin typeface="Arial" panose="020B0604020202020204" pitchFamily="34" charset="0"/>
                    <a:cs typeface="Arial" panose="020B0604020202020204" pitchFamily="34" charset="0"/>
                  </a:rPr>
                  <a:t>– C </a:t>
                </a:r>
                <a:r>
                  <a:rPr lang="en-AU" dirty="0"/>
                  <a:t>—</a:t>
                </a:r>
                <a:r>
                  <a:rPr lang="en-AU" dirty="0">
                    <a:latin typeface="Arial" panose="020B0604020202020204" pitchFamily="34" charset="0"/>
                    <a:cs typeface="Arial" panose="020B0604020202020204" pitchFamily="34" charset="0"/>
                  </a:rPr>
                  <a:t> O – CH</a:t>
                </a:r>
                <a:r>
                  <a:rPr lang="en-AU" baseline="-25000" dirty="0">
                    <a:latin typeface="Arial" panose="020B0604020202020204" pitchFamily="34" charset="0"/>
                    <a:cs typeface="Arial" panose="020B0604020202020204" pitchFamily="34" charset="0"/>
                  </a:rPr>
                  <a:t>3</a:t>
                </a:r>
                <a:endParaRPr lang="en-AU" dirty="0">
                  <a:latin typeface="Arial" panose="020B0604020202020204" pitchFamily="34" charset="0"/>
                  <a:cs typeface="Arial" panose="020B0604020202020204" pitchFamily="34" charset="0"/>
                </a:endParaRPr>
              </a:p>
            </p:txBody>
          </p:sp>
          <p:grpSp>
            <p:nvGrpSpPr>
              <p:cNvPr id="19" name="Group 18"/>
              <p:cNvGrpSpPr/>
              <p:nvPr/>
            </p:nvGrpSpPr>
            <p:grpSpPr>
              <a:xfrm>
                <a:off x="2656702" y="2492400"/>
                <a:ext cx="369332" cy="530198"/>
                <a:chOff x="2656702" y="2492400"/>
                <a:chExt cx="369332" cy="530198"/>
              </a:xfrm>
            </p:grpSpPr>
            <p:sp>
              <p:nvSpPr>
                <p:cNvPr id="20" name="TextBox 19"/>
                <p:cNvSpPr txBox="1"/>
                <p:nvPr/>
              </p:nvSpPr>
              <p:spPr>
                <a:xfrm rot="16200000">
                  <a:off x="2672034" y="2668599"/>
                  <a:ext cx="338667"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a:t>
                  </a:r>
                </a:p>
              </p:txBody>
            </p:sp>
            <p:sp>
              <p:nvSpPr>
                <p:cNvPr id="21" name="TextBox 20"/>
                <p:cNvSpPr txBox="1"/>
                <p:nvPr/>
              </p:nvSpPr>
              <p:spPr>
                <a:xfrm>
                  <a:off x="2670432" y="2492400"/>
                  <a:ext cx="338667"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O</a:t>
                  </a:r>
                </a:p>
              </p:txBody>
            </p:sp>
          </p:grpSp>
        </p:grpSp>
        <p:sp>
          <p:nvSpPr>
            <p:cNvPr id="17" name="Rectangle 16"/>
            <p:cNvSpPr/>
            <p:nvPr/>
          </p:nvSpPr>
          <p:spPr>
            <a:xfrm>
              <a:off x="3079394" y="2455333"/>
              <a:ext cx="1157895" cy="8974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30" name="Group 29"/>
          <p:cNvGrpSpPr/>
          <p:nvPr/>
        </p:nvGrpSpPr>
        <p:grpSpPr>
          <a:xfrm>
            <a:off x="7438873" y="2116665"/>
            <a:ext cx="4482193" cy="897467"/>
            <a:chOff x="1329267" y="2455333"/>
            <a:chExt cx="4482193" cy="897467"/>
          </a:xfrm>
        </p:grpSpPr>
        <p:sp>
          <p:nvSpPr>
            <p:cNvPr id="31" name="Rectangle 30"/>
            <p:cNvSpPr/>
            <p:nvPr/>
          </p:nvSpPr>
          <p:spPr>
            <a:xfrm>
              <a:off x="1329267" y="2455333"/>
              <a:ext cx="2389640" cy="897467"/>
            </a:xfrm>
            <a:prstGeom prst="rect">
              <a:avLst/>
            </a:prstGeom>
            <a:solidFill>
              <a:srgbClr val="FFCC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32" name="Group 31"/>
            <p:cNvGrpSpPr/>
            <p:nvPr/>
          </p:nvGrpSpPr>
          <p:grpSpPr>
            <a:xfrm>
              <a:off x="1363133" y="2492400"/>
              <a:ext cx="4448327" cy="730198"/>
              <a:chOff x="1363133" y="2492400"/>
              <a:chExt cx="4448327" cy="730198"/>
            </a:xfrm>
          </p:grpSpPr>
          <p:sp>
            <p:nvSpPr>
              <p:cNvPr id="34" name="TextBox 33"/>
              <p:cNvSpPr txBox="1"/>
              <p:nvPr/>
            </p:nvSpPr>
            <p:spPr>
              <a:xfrm>
                <a:off x="1363133" y="2853266"/>
                <a:ext cx="4448327"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CH</a:t>
                </a:r>
                <a:r>
                  <a:rPr lang="en-AU" baseline="-25000" dirty="0">
                    <a:latin typeface="Arial" panose="020B0604020202020204" pitchFamily="34" charset="0"/>
                    <a:cs typeface="Arial" panose="020B0604020202020204" pitchFamily="34" charset="0"/>
                  </a:rPr>
                  <a:t>3 </a:t>
                </a:r>
                <a:r>
                  <a:rPr lang="en-AU" dirty="0">
                    <a:latin typeface="Arial" panose="020B0604020202020204" pitchFamily="34" charset="0"/>
                    <a:cs typeface="Arial" panose="020B0604020202020204" pitchFamily="34" charset="0"/>
                  </a:rPr>
                  <a:t>– CH</a:t>
                </a:r>
                <a:r>
                  <a:rPr lang="en-AU" baseline="-25000" dirty="0">
                    <a:latin typeface="Arial" panose="020B0604020202020204" pitchFamily="34" charset="0"/>
                    <a:cs typeface="Arial" panose="020B0604020202020204" pitchFamily="34" charset="0"/>
                  </a:rPr>
                  <a:t>2 </a:t>
                </a:r>
                <a:r>
                  <a:rPr lang="en-AU" dirty="0">
                    <a:latin typeface="Arial" panose="020B0604020202020204" pitchFamily="34" charset="0"/>
                    <a:cs typeface="Arial" panose="020B0604020202020204" pitchFamily="34" charset="0"/>
                  </a:rPr>
                  <a:t>– CH</a:t>
                </a:r>
                <a:r>
                  <a:rPr lang="en-AU" baseline="-25000" dirty="0">
                    <a:latin typeface="Arial" panose="020B0604020202020204" pitchFamily="34" charset="0"/>
                    <a:cs typeface="Arial" panose="020B0604020202020204" pitchFamily="34" charset="0"/>
                  </a:rPr>
                  <a:t>2 </a:t>
                </a:r>
                <a:r>
                  <a:rPr lang="en-AU" dirty="0">
                    <a:latin typeface="Arial" panose="020B0604020202020204" pitchFamily="34" charset="0"/>
                    <a:cs typeface="Arial" panose="020B0604020202020204" pitchFamily="34" charset="0"/>
                  </a:rPr>
                  <a:t>– C </a:t>
                </a:r>
                <a:r>
                  <a:rPr lang="en-AU" dirty="0"/>
                  <a:t>—</a:t>
                </a:r>
                <a:r>
                  <a:rPr lang="en-AU" dirty="0">
                    <a:latin typeface="Arial" panose="020B0604020202020204" pitchFamily="34" charset="0"/>
                    <a:cs typeface="Arial" panose="020B0604020202020204" pitchFamily="34" charset="0"/>
                  </a:rPr>
                  <a:t> O – CH</a:t>
                </a:r>
                <a:r>
                  <a:rPr lang="en-AU" baseline="-25000" dirty="0">
                    <a:latin typeface="Arial" panose="020B0604020202020204" pitchFamily="34" charset="0"/>
                    <a:cs typeface="Arial" panose="020B0604020202020204" pitchFamily="34" charset="0"/>
                  </a:rPr>
                  <a:t>2 </a:t>
                </a:r>
                <a:r>
                  <a:rPr lang="en-AU" dirty="0">
                    <a:latin typeface="Arial" panose="020B0604020202020204" pitchFamily="34" charset="0"/>
                    <a:cs typeface="Arial" panose="020B0604020202020204" pitchFamily="34" charset="0"/>
                  </a:rPr>
                  <a:t>– CH</a:t>
                </a:r>
                <a:r>
                  <a:rPr lang="en-AU" baseline="-25000" dirty="0">
                    <a:latin typeface="Arial" panose="020B0604020202020204" pitchFamily="34" charset="0"/>
                    <a:cs typeface="Arial" panose="020B0604020202020204" pitchFamily="34" charset="0"/>
                  </a:rPr>
                  <a:t>3</a:t>
                </a:r>
                <a:endParaRPr lang="en-AU" dirty="0">
                  <a:latin typeface="Arial" panose="020B0604020202020204" pitchFamily="34" charset="0"/>
                  <a:cs typeface="Arial" panose="020B0604020202020204" pitchFamily="34" charset="0"/>
                </a:endParaRPr>
              </a:p>
            </p:txBody>
          </p:sp>
          <p:grpSp>
            <p:nvGrpSpPr>
              <p:cNvPr id="35" name="Group 34"/>
              <p:cNvGrpSpPr/>
              <p:nvPr/>
            </p:nvGrpSpPr>
            <p:grpSpPr>
              <a:xfrm>
                <a:off x="3290612" y="2492400"/>
                <a:ext cx="369332" cy="530198"/>
                <a:chOff x="3290612" y="2492400"/>
                <a:chExt cx="369332" cy="530198"/>
              </a:xfrm>
            </p:grpSpPr>
            <p:sp>
              <p:nvSpPr>
                <p:cNvPr id="36" name="TextBox 35"/>
                <p:cNvSpPr txBox="1"/>
                <p:nvPr/>
              </p:nvSpPr>
              <p:spPr>
                <a:xfrm rot="16200000">
                  <a:off x="3305944" y="2668599"/>
                  <a:ext cx="338667"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a:t>
                  </a:r>
                </a:p>
              </p:txBody>
            </p:sp>
            <p:sp>
              <p:nvSpPr>
                <p:cNvPr id="37" name="TextBox 36"/>
                <p:cNvSpPr txBox="1"/>
                <p:nvPr/>
              </p:nvSpPr>
              <p:spPr>
                <a:xfrm>
                  <a:off x="3304342" y="2492400"/>
                  <a:ext cx="338667"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O</a:t>
                  </a:r>
                </a:p>
              </p:txBody>
            </p:sp>
          </p:grpSp>
        </p:grpSp>
        <p:sp>
          <p:nvSpPr>
            <p:cNvPr id="33" name="Rectangle 32"/>
            <p:cNvSpPr/>
            <p:nvPr/>
          </p:nvSpPr>
          <p:spPr>
            <a:xfrm>
              <a:off x="3718907" y="2455333"/>
              <a:ext cx="1736841" cy="8974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38" name="Group 37"/>
          <p:cNvGrpSpPr/>
          <p:nvPr/>
        </p:nvGrpSpPr>
        <p:grpSpPr>
          <a:xfrm>
            <a:off x="4951858" y="3857504"/>
            <a:ext cx="2450297" cy="369332"/>
            <a:chOff x="1329267" y="2853266"/>
            <a:chExt cx="2450297" cy="369332"/>
          </a:xfrm>
        </p:grpSpPr>
        <p:sp>
          <p:nvSpPr>
            <p:cNvPr id="39" name="Rectangle 38"/>
            <p:cNvSpPr/>
            <p:nvPr/>
          </p:nvSpPr>
          <p:spPr>
            <a:xfrm>
              <a:off x="1329267" y="2853266"/>
              <a:ext cx="893824" cy="369332"/>
            </a:xfrm>
            <a:prstGeom prst="rect">
              <a:avLst/>
            </a:prstGeom>
            <a:solidFill>
              <a:srgbClr val="FFCC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2" name="TextBox 41"/>
            <p:cNvSpPr txBox="1"/>
            <p:nvPr/>
          </p:nvSpPr>
          <p:spPr>
            <a:xfrm>
              <a:off x="1363134" y="2853266"/>
              <a:ext cx="2416430"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CH</a:t>
              </a:r>
              <a:r>
                <a:rPr lang="en-AU" baseline="-25000" dirty="0">
                  <a:latin typeface="Arial" panose="020B0604020202020204" pitchFamily="34" charset="0"/>
                  <a:cs typeface="Arial" panose="020B0604020202020204" pitchFamily="34" charset="0"/>
                </a:rPr>
                <a:t>3</a:t>
              </a:r>
              <a:r>
                <a:rPr lang="en-AU" dirty="0">
                  <a:latin typeface="Arial" panose="020B0604020202020204" pitchFamily="34" charset="0"/>
                  <a:cs typeface="Arial" panose="020B0604020202020204" pitchFamily="34" charset="0"/>
                </a:rPr>
                <a:t>COOCH</a:t>
              </a:r>
              <a:r>
                <a:rPr lang="en-AU" baseline="-25000" dirty="0">
                  <a:latin typeface="Arial" panose="020B0604020202020204" pitchFamily="34" charset="0"/>
                  <a:cs typeface="Arial" panose="020B0604020202020204" pitchFamily="34" charset="0"/>
                </a:rPr>
                <a:t>2</a:t>
              </a:r>
              <a:r>
                <a:rPr lang="en-AU" dirty="0">
                  <a:latin typeface="Arial" panose="020B0604020202020204" pitchFamily="34" charset="0"/>
                  <a:cs typeface="Arial" panose="020B0604020202020204" pitchFamily="34" charset="0"/>
                </a:rPr>
                <a:t>CH</a:t>
              </a:r>
              <a:r>
                <a:rPr lang="en-AU" baseline="-25000" dirty="0">
                  <a:latin typeface="Arial" panose="020B0604020202020204" pitchFamily="34" charset="0"/>
                  <a:cs typeface="Arial" panose="020B0604020202020204" pitchFamily="34" charset="0"/>
                </a:rPr>
                <a:t>3</a:t>
              </a:r>
              <a:endParaRPr lang="en-AU" dirty="0">
                <a:latin typeface="Arial" panose="020B0604020202020204" pitchFamily="34" charset="0"/>
                <a:cs typeface="Arial" panose="020B0604020202020204" pitchFamily="34" charset="0"/>
              </a:endParaRPr>
            </a:p>
          </p:txBody>
        </p:sp>
        <p:sp>
          <p:nvSpPr>
            <p:cNvPr id="41" name="Rectangle 40"/>
            <p:cNvSpPr/>
            <p:nvPr/>
          </p:nvSpPr>
          <p:spPr>
            <a:xfrm>
              <a:off x="2223092" y="2853266"/>
              <a:ext cx="1134533"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46" name="Group 45"/>
          <p:cNvGrpSpPr/>
          <p:nvPr/>
        </p:nvGrpSpPr>
        <p:grpSpPr>
          <a:xfrm>
            <a:off x="1211697" y="4350170"/>
            <a:ext cx="2443317" cy="897468"/>
            <a:chOff x="1336247" y="2455332"/>
            <a:chExt cx="2443317" cy="897468"/>
          </a:xfrm>
        </p:grpSpPr>
        <p:sp>
          <p:nvSpPr>
            <p:cNvPr id="47" name="Rectangle 46"/>
            <p:cNvSpPr/>
            <p:nvPr/>
          </p:nvSpPr>
          <p:spPr>
            <a:xfrm>
              <a:off x="2486290" y="2455332"/>
              <a:ext cx="641816" cy="897467"/>
            </a:xfrm>
            <a:prstGeom prst="rect">
              <a:avLst/>
            </a:prstGeom>
            <a:solidFill>
              <a:srgbClr val="FFCC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48" name="Group 47"/>
            <p:cNvGrpSpPr/>
            <p:nvPr/>
          </p:nvGrpSpPr>
          <p:grpSpPr>
            <a:xfrm>
              <a:off x="1363134" y="2492400"/>
              <a:ext cx="2416430" cy="730198"/>
              <a:chOff x="1363134" y="2492400"/>
              <a:chExt cx="2416430" cy="730198"/>
            </a:xfrm>
          </p:grpSpPr>
          <p:sp>
            <p:nvSpPr>
              <p:cNvPr id="50" name="TextBox 49"/>
              <p:cNvSpPr txBox="1"/>
              <p:nvPr/>
            </p:nvSpPr>
            <p:spPr>
              <a:xfrm>
                <a:off x="1363134" y="2853266"/>
                <a:ext cx="2416430"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CH</a:t>
                </a:r>
                <a:r>
                  <a:rPr lang="en-AU" baseline="-25000" dirty="0">
                    <a:latin typeface="Arial" panose="020B0604020202020204" pitchFamily="34" charset="0"/>
                    <a:cs typeface="Arial" panose="020B0604020202020204" pitchFamily="34" charset="0"/>
                  </a:rPr>
                  <a:t>3 </a:t>
                </a:r>
                <a:r>
                  <a:rPr lang="en-AU" dirty="0">
                    <a:latin typeface="Arial" panose="020B0604020202020204" pitchFamily="34" charset="0"/>
                    <a:cs typeface="Arial" panose="020B0604020202020204" pitchFamily="34" charset="0"/>
                  </a:rPr>
                  <a:t>–  O </a:t>
                </a:r>
                <a:r>
                  <a:rPr lang="en-AU" dirty="0"/>
                  <a:t>—</a:t>
                </a:r>
                <a:r>
                  <a:rPr lang="en-AU" dirty="0">
                    <a:latin typeface="Arial" panose="020B0604020202020204" pitchFamily="34" charset="0"/>
                    <a:cs typeface="Arial" panose="020B0604020202020204" pitchFamily="34" charset="0"/>
                  </a:rPr>
                  <a:t> CH</a:t>
                </a:r>
              </a:p>
            </p:txBody>
          </p:sp>
          <p:grpSp>
            <p:nvGrpSpPr>
              <p:cNvPr id="51" name="Group 50"/>
              <p:cNvGrpSpPr/>
              <p:nvPr/>
            </p:nvGrpSpPr>
            <p:grpSpPr>
              <a:xfrm>
                <a:off x="2579818" y="2492400"/>
                <a:ext cx="369332" cy="530198"/>
                <a:chOff x="2579818" y="2492400"/>
                <a:chExt cx="369332" cy="530198"/>
              </a:xfrm>
            </p:grpSpPr>
            <p:sp>
              <p:nvSpPr>
                <p:cNvPr id="52" name="TextBox 51"/>
                <p:cNvSpPr txBox="1"/>
                <p:nvPr/>
              </p:nvSpPr>
              <p:spPr>
                <a:xfrm rot="16200000">
                  <a:off x="2595150" y="2668599"/>
                  <a:ext cx="338667"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a:t>
                  </a:r>
                </a:p>
              </p:txBody>
            </p:sp>
            <p:sp>
              <p:nvSpPr>
                <p:cNvPr id="53" name="TextBox 52"/>
                <p:cNvSpPr txBox="1"/>
                <p:nvPr/>
              </p:nvSpPr>
              <p:spPr>
                <a:xfrm>
                  <a:off x="2585082" y="2492400"/>
                  <a:ext cx="338667"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O</a:t>
                  </a:r>
                </a:p>
              </p:txBody>
            </p:sp>
          </p:grpSp>
        </p:grpSp>
        <p:sp>
          <p:nvSpPr>
            <p:cNvPr id="49" name="Rectangle 48"/>
            <p:cNvSpPr/>
            <p:nvPr/>
          </p:nvSpPr>
          <p:spPr>
            <a:xfrm>
              <a:off x="1336247" y="2455333"/>
              <a:ext cx="1148393" cy="8974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grpSp>
        <p:nvGrpSpPr>
          <p:cNvPr id="54" name="Group 53"/>
          <p:cNvGrpSpPr/>
          <p:nvPr/>
        </p:nvGrpSpPr>
        <p:grpSpPr>
          <a:xfrm>
            <a:off x="4687136" y="5134277"/>
            <a:ext cx="2458765" cy="370838"/>
            <a:chOff x="4385734" y="2113464"/>
            <a:chExt cx="2458765" cy="370838"/>
          </a:xfrm>
        </p:grpSpPr>
        <p:sp>
          <p:nvSpPr>
            <p:cNvPr id="55" name="Rectangle 54"/>
            <p:cNvSpPr/>
            <p:nvPr/>
          </p:nvSpPr>
          <p:spPr>
            <a:xfrm>
              <a:off x="5942207" y="2113464"/>
              <a:ext cx="855288" cy="369332"/>
            </a:xfrm>
            <a:prstGeom prst="rect">
              <a:avLst/>
            </a:prstGeom>
            <a:solidFill>
              <a:srgbClr val="FFCC99"/>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6" name="TextBox 55"/>
            <p:cNvSpPr txBox="1"/>
            <p:nvPr/>
          </p:nvSpPr>
          <p:spPr>
            <a:xfrm>
              <a:off x="4428069" y="2113464"/>
              <a:ext cx="2416430" cy="369332"/>
            </a:xfrm>
            <a:prstGeom prst="rect">
              <a:avLst/>
            </a:prstGeom>
            <a:noFill/>
          </p:spPr>
          <p:txBody>
            <a:bodyPr wrap="square" rtlCol="0">
              <a:spAutoFit/>
            </a:bodyPr>
            <a:lstStyle/>
            <a:p>
              <a:r>
                <a:rPr lang="en-AU" dirty="0">
                  <a:latin typeface="Arial" panose="020B0604020202020204" pitchFamily="34" charset="0"/>
                  <a:cs typeface="Arial" panose="020B0604020202020204" pitchFamily="34" charset="0"/>
                </a:rPr>
                <a:t>CH</a:t>
              </a:r>
              <a:r>
                <a:rPr lang="en-AU" baseline="-25000" dirty="0">
                  <a:latin typeface="Arial" panose="020B0604020202020204" pitchFamily="34" charset="0"/>
                  <a:cs typeface="Arial" panose="020B0604020202020204" pitchFamily="34" charset="0"/>
                </a:rPr>
                <a:t>3</a:t>
              </a:r>
              <a:r>
                <a:rPr lang="en-AU" dirty="0">
                  <a:latin typeface="Arial" panose="020B0604020202020204" pitchFamily="34" charset="0"/>
                  <a:cs typeface="Arial" panose="020B0604020202020204" pitchFamily="34" charset="0"/>
                </a:rPr>
                <a:t>CH</a:t>
              </a:r>
              <a:r>
                <a:rPr lang="en-AU" baseline="-25000" dirty="0">
                  <a:latin typeface="Arial" panose="020B0604020202020204" pitchFamily="34" charset="0"/>
                  <a:cs typeface="Arial" panose="020B0604020202020204" pitchFamily="34" charset="0"/>
                </a:rPr>
                <a:t>2</a:t>
              </a:r>
              <a:r>
                <a:rPr lang="en-AU" dirty="0">
                  <a:latin typeface="Arial" panose="020B0604020202020204" pitchFamily="34" charset="0"/>
                  <a:cs typeface="Arial" panose="020B0604020202020204" pitchFamily="34" charset="0"/>
                </a:rPr>
                <a:t>CH</a:t>
              </a:r>
              <a:r>
                <a:rPr lang="en-AU" baseline="-25000" dirty="0">
                  <a:latin typeface="Arial" panose="020B0604020202020204" pitchFamily="34" charset="0"/>
                  <a:cs typeface="Arial" panose="020B0604020202020204" pitchFamily="34" charset="0"/>
                </a:rPr>
                <a:t>2</a:t>
              </a:r>
              <a:r>
                <a:rPr lang="en-AU" dirty="0">
                  <a:latin typeface="Arial" panose="020B0604020202020204" pitchFamily="34" charset="0"/>
                  <a:cs typeface="Arial" panose="020B0604020202020204" pitchFamily="34" charset="0"/>
                </a:rPr>
                <a:t>OOCCH</a:t>
              </a:r>
              <a:r>
                <a:rPr lang="en-AU" baseline="-25000" dirty="0">
                  <a:latin typeface="Arial" panose="020B0604020202020204" pitchFamily="34" charset="0"/>
                  <a:cs typeface="Arial" panose="020B0604020202020204" pitchFamily="34" charset="0"/>
                </a:rPr>
                <a:t>3</a:t>
              </a:r>
              <a:endParaRPr lang="en-AU" dirty="0">
                <a:latin typeface="Arial" panose="020B0604020202020204" pitchFamily="34" charset="0"/>
                <a:cs typeface="Arial" panose="020B0604020202020204" pitchFamily="34" charset="0"/>
              </a:endParaRPr>
            </a:p>
          </p:txBody>
        </p:sp>
        <p:sp>
          <p:nvSpPr>
            <p:cNvPr id="57" name="Rectangle 56"/>
            <p:cNvSpPr/>
            <p:nvPr/>
          </p:nvSpPr>
          <p:spPr>
            <a:xfrm>
              <a:off x="4385734" y="2114970"/>
              <a:ext cx="1556473" cy="36933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pic>
        <p:nvPicPr>
          <p:cNvPr id="59394" name="Picture 2" descr="https://upload.wikimedia.org/wikipedia/commons/thumb/a/a2/Benzoic_acid.svg/704px-Benzoic_acid.svg.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696902" y="5505115"/>
            <a:ext cx="932035" cy="754631"/>
          </a:xfrm>
          <a:prstGeom prst="rect">
            <a:avLst/>
          </a:prstGeom>
          <a:noFill/>
          <a:extLst>
            <a:ext uri="{909E8E84-426E-40DD-AFC4-6F175D3DCCD1}">
              <a14:hiddenFill xmlns:a14="http://schemas.microsoft.com/office/drawing/2010/main">
                <a:solidFill>
                  <a:srgbClr val="FFFFFF"/>
                </a:solidFill>
              </a14:hiddenFill>
            </a:ext>
          </a:extLst>
        </p:spPr>
      </p:pic>
      <p:pic>
        <p:nvPicPr>
          <p:cNvPr id="59396" name="Picture 4" descr="https://upload.wikimedia.org/wikipedia/commons/thumb/1/18/Methyl_benzoate.png/1024px-Methyl_benzoate.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049885" y="3628529"/>
            <a:ext cx="2041188" cy="1327570"/>
          </a:xfrm>
          <a:prstGeom prst="rect">
            <a:avLst/>
          </a:prstGeom>
          <a:noFill/>
          <a:extLst>
            <a:ext uri="{909E8E84-426E-40DD-AFC4-6F175D3DCCD1}">
              <a14:hiddenFill xmlns:a14="http://schemas.microsoft.com/office/drawing/2010/main">
                <a:solidFill>
                  <a:srgbClr val="FFFFFF"/>
                </a:solidFill>
              </a14:hiddenFill>
            </a:ext>
          </a:extLst>
        </p:spPr>
      </p:pic>
      <p:sp>
        <p:nvSpPr>
          <p:cNvPr id="63" name="Rectangle 62"/>
          <p:cNvSpPr/>
          <p:nvPr/>
        </p:nvSpPr>
        <p:spPr>
          <a:xfrm>
            <a:off x="10273904" y="3583564"/>
            <a:ext cx="811109" cy="146256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3" name="TextBox 12"/>
          <p:cNvSpPr txBox="1"/>
          <p:nvPr/>
        </p:nvSpPr>
        <p:spPr>
          <a:xfrm>
            <a:off x="9049885" y="5811609"/>
            <a:ext cx="3226782" cy="338554"/>
          </a:xfrm>
          <a:prstGeom prst="rect">
            <a:avLst/>
          </a:prstGeom>
          <a:noFill/>
        </p:spPr>
        <p:txBody>
          <a:bodyPr wrap="square" rtlCol="0">
            <a:spAutoFit/>
          </a:bodyPr>
          <a:lstStyle/>
          <a:p>
            <a:r>
              <a:rPr lang="en-AU" sz="1600" dirty="0"/>
              <a:t>Note:                       is benzoic acid</a:t>
            </a:r>
          </a:p>
        </p:txBody>
      </p:sp>
      <p:sp>
        <p:nvSpPr>
          <p:cNvPr id="65" name="TextBox 64"/>
          <p:cNvSpPr txBox="1"/>
          <p:nvPr/>
        </p:nvSpPr>
        <p:spPr>
          <a:xfrm>
            <a:off x="387397" y="3051200"/>
            <a:ext cx="3039292" cy="707886"/>
          </a:xfrm>
          <a:prstGeom prst="rect">
            <a:avLst/>
          </a:prstGeom>
          <a:noFill/>
        </p:spPr>
        <p:txBody>
          <a:bodyPr wrap="square" rtlCol="0">
            <a:spAutoFit/>
          </a:bodyPr>
          <a:lstStyle/>
          <a:p>
            <a:pPr algn="ctr"/>
            <a:r>
              <a:rPr lang="en-AU" sz="2000" b="1" dirty="0"/>
              <a:t>methyl</a:t>
            </a:r>
            <a:r>
              <a:rPr lang="en-AU" sz="2000" b="1" dirty="0">
                <a:solidFill>
                  <a:srgbClr val="FF0000"/>
                </a:solidFill>
              </a:rPr>
              <a:t> ethanoate</a:t>
            </a:r>
          </a:p>
          <a:p>
            <a:pPr algn="ctr"/>
            <a:r>
              <a:rPr lang="en-AU" sz="2000" b="1" dirty="0"/>
              <a:t>(methyl </a:t>
            </a:r>
            <a:r>
              <a:rPr lang="en-AU" sz="2000" b="1" dirty="0">
                <a:solidFill>
                  <a:srgbClr val="FF0000"/>
                </a:solidFill>
              </a:rPr>
              <a:t>acetate)</a:t>
            </a:r>
            <a:endParaRPr lang="en-AU" sz="1400" b="1" dirty="0">
              <a:solidFill>
                <a:srgbClr val="FF0000"/>
              </a:solidFill>
            </a:endParaRPr>
          </a:p>
        </p:txBody>
      </p:sp>
      <p:sp>
        <p:nvSpPr>
          <p:cNvPr id="66" name="TextBox 65"/>
          <p:cNvSpPr txBox="1"/>
          <p:nvPr/>
        </p:nvSpPr>
        <p:spPr>
          <a:xfrm>
            <a:off x="3891339" y="3081865"/>
            <a:ext cx="3039292" cy="400110"/>
          </a:xfrm>
          <a:prstGeom prst="rect">
            <a:avLst/>
          </a:prstGeom>
          <a:noFill/>
        </p:spPr>
        <p:txBody>
          <a:bodyPr wrap="square" rtlCol="0">
            <a:spAutoFit/>
          </a:bodyPr>
          <a:lstStyle/>
          <a:p>
            <a:pPr algn="ctr"/>
            <a:r>
              <a:rPr lang="en-AU" sz="2000" b="1" dirty="0"/>
              <a:t>methyl</a:t>
            </a:r>
            <a:r>
              <a:rPr lang="en-AU" sz="2000" b="1" dirty="0">
                <a:solidFill>
                  <a:srgbClr val="FF0000"/>
                </a:solidFill>
              </a:rPr>
              <a:t> propanoate</a:t>
            </a:r>
          </a:p>
        </p:txBody>
      </p:sp>
      <p:sp>
        <p:nvSpPr>
          <p:cNvPr id="67" name="TextBox 66"/>
          <p:cNvSpPr txBox="1"/>
          <p:nvPr/>
        </p:nvSpPr>
        <p:spPr>
          <a:xfrm>
            <a:off x="7894302" y="3005608"/>
            <a:ext cx="3039292" cy="400110"/>
          </a:xfrm>
          <a:prstGeom prst="rect">
            <a:avLst/>
          </a:prstGeom>
          <a:noFill/>
        </p:spPr>
        <p:txBody>
          <a:bodyPr wrap="square" rtlCol="0">
            <a:spAutoFit/>
          </a:bodyPr>
          <a:lstStyle/>
          <a:p>
            <a:pPr algn="ctr"/>
            <a:r>
              <a:rPr lang="en-AU" sz="2000" b="1" dirty="0"/>
              <a:t>ethyl </a:t>
            </a:r>
            <a:r>
              <a:rPr lang="en-AU" sz="2000" b="1" dirty="0" err="1">
                <a:solidFill>
                  <a:srgbClr val="FF0000"/>
                </a:solidFill>
              </a:rPr>
              <a:t>butanoate</a:t>
            </a:r>
            <a:endParaRPr lang="en-AU" sz="2000" b="1" dirty="0">
              <a:solidFill>
                <a:srgbClr val="FF0000"/>
              </a:solidFill>
            </a:endParaRPr>
          </a:p>
        </p:txBody>
      </p:sp>
      <p:sp>
        <p:nvSpPr>
          <p:cNvPr id="68" name="TextBox 67"/>
          <p:cNvSpPr txBox="1"/>
          <p:nvPr/>
        </p:nvSpPr>
        <p:spPr>
          <a:xfrm>
            <a:off x="598145" y="5303554"/>
            <a:ext cx="3039292" cy="400110"/>
          </a:xfrm>
          <a:prstGeom prst="rect">
            <a:avLst/>
          </a:prstGeom>
          <a:noFill/>
        </p:spPr>
        <p:txBody>
          <a:bodyPr wrap="square" rtlCol="0">
            <a:spAutoFit/>
          </a:bodyPr>
          <a:lstStyle/>
          <a:p>
            <a:pPr algn="ctr"/>
            <a:r>
              <a:rPr lang="en-AU" sz="2000" b="1" dirty="0"/>
              <a:t>methyl </a:t>
            </a:r>
            <a:r>
              <a:rPr lang="en-AU" sz="2000" b="1" dirty="0" err="1">
                <a:solidFill>
                  <a:srgbClr val="FF0000"/>
                </a:solidFill>
              </a:rPr>
              <a:t>methanoate</a:t>
            </a:r>
            <a:endParaRPr lang="en-AU" sz="2000" b="1" dirty="0">
              <a:solidFill>
                <a:srgbClr val="FF0000"/>
              </a:solidFill>
            </a:endParaRPr>
          </a:p>
        </p:txBody>
      </p:sp>
      <p:sp>
        <p:nvSpPr>
          <p:cNvPr id="70" name="TextBox 69"/>
          <p:cNvSpPr txBox="1"/>
          <p:nvPr/>
        </p:nvSpPr>
        <p:spPr>
          <a:xfrm>
            <a:off x="4488072" y="4203054"/>
            <a:ext cx="3039292" cy="707886"/>
          </a:xfrm>
          <a:prstGeom prst="rect">
            <a:avLst/>
          </a:prstGeom>
          <a:noFill/>
        </p:spPr>
        <p:txBody>
          <a:bodyPr wrap="square" rtlCol="0">
            <a:spAutoFit/>
          </a:bodyPr>
          <a:lstStyle/>
          <a:p>
            <a:pPr algn="ctr"/>
            <a:r>
              <a:rPr lang="en-AU" sz="2000" b="1" dirty="0"/>
              <a:t>ethyl</a:t>
            </a:r>
            <a:r>
              <a:rPr lang="en-AU" sz="2000" b="1" dirty="0">
                <a:solidFill>
                  <a:srgbClr val="FF0000"/>
                </a:solidFill>
              </a:rPr>
              <a:t> ethanoate</a:t>
            </a:r>
          </a:p>
          <a:p>
            <a:pPr algn="ctr"/>
            <a:r>
              <a:rPr lang="en-AU" sz="2000" b="1" dirty="0"/>
              <a:t>(ethyl </a:t>
            </a:r>
            <a:r>
              <a:rPr lang="en-AU" sz="2000" b="1" dirty="0">
                <a:solidFill>
                  <a:srgbClr val="FF0000"/>
                </a:solidFill>
              </a:rPr>
              <a:t>acetate)</a:t>
            </a:r>
            <a:endParaRPr lang="en-AU" sz="1400" b="1" dirty="0">
              <a:solidFill>
                <a:srgbClr val="FF0000"/>
              </a:solidFill>
            </a:endParaRPr>
          </a:p>
        </p:txBody>
      </p:sp>
      <p:sp>
        <p:nvSpPr>
          <p:cNvPr id="71" name="TextBox 70"/>
          <p:cNvSpPr txBox="1"/>
          <p:nvPr/>
        </p:nvSpPr>
        <p:spPr>
          <a:xfrm>
            <a:off x="4470044" y="5503609"/>
            <a:ext cx="3039292" cy="400110"/>
          </a:xfrm>
          <a:prstGeom prst="rect">
            <a:avLst/>
          </a:prstGeom>
          <a:noFill/>
        </p:spPr>
        <p:txBody>
          <a:bodyPr wrap="square" rtlCol="0">
            <a:spAutoFit/>
          </a:bodyPr>
          <a:lstStyle/>
          <a:p>
            <a:pPr algn="ctr"/>
            <a:r>
              <a:rPr lang="en-AU" sz="2000" b="1" dirty="0"/>
              <a:t>propyl </a:t>
            </a:r>
            <a:r>
              <a:rPr lang="en-AU" sz="2000" b="1" dirty="0">
                <a:solidFill>
                  <a:srgbClr val="FF0000"/>
                </a:solidFill>
              </a:rPr>
              <a:t>ethanoate</a:t>
            </a:r>
          </a:p>
        </p:txBody>
      </p:sp>
      <p:sp>
        <p:nvSpPr>
          <p:cNvPr id="72" name="TextBox 71"/>
          <p:cNvSpPr txBox="1"/>
          <p:nvPr/>
        </p:nvSpPr>
        <p:spPr>
          <a:xfrm>
            <a:off x="8550833" y="5029036"/>
            <a:ext cx="3039292" cy="400110"/>
          </a:xfrm>
          <a:prstGeom prst="rect">
            <a:avLst/>
          </a:prstGeom>
          <a:noFill/>
        </p:spPr>
        <p:txBody>
          <a:bodyPr wrap="square" rtlCol="0">
            <a:spAutoFit/>
          </a:bodyPr>
          <a:lstStyle/>
          <a:p>
            <a:pPr algn="ctr"/>
            <a:r>
              <a:rPr lang="en-AU" sz="2000" b="1" dirty="0"/>
              <a:t>methyl </a:t>
            </a:r>
            <a:r>
              <a:rPr lang="en-AU" sz="2000" b="1" dirty="0">
                <a:solidFill>
                  <a:srgbClr val="FF0000"/>
                </a:solidFill>
              </a:rPr>
              <a:t>benzoate</a:t>
            </a:r>
          </a:p>
        </p:txBody>
      </p:sp>
    </p:spTree>
    <p:extLst>
      <p:ext uri="{BB962C8B-B14F-4D97-AF65-F5344CB8AC3E}">
        <p14:creationId xmlns:p14="http://schemas.microsoft.com/office/powerpoint/2010/main" val="2498718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500"/>
                                        <p:tgtEl>
                                          <p:spTgt spid="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7"/>
                                        </p:tgtEl>
                                        <p:attrNameLst>
                                          <p:attrName>style.visibility</p:attrName>
                                        </p:attrNameLst>
                                      </p:cBhvr>
                                      <p:to>
                                        <p:strVal val="visible"/>
                                      </p:to>
                                    </p:set>
                                    <p:animEffect transition="in" filter="fade">
                                      <p:cBhvr>
                                        <p:cTn id="17" dur="500"/>
                                        <p:tgtEl>
                                          <p:spTgt spid="6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8"/>
                                        </p:tgtEl>
                                        <p:attrNameLst>
                                          <p:attrName>style.visibility</p:attrName>
                                        </p:attrNameLst>
                                      </p:cBhvr>
                                      <p:to>
                                        <p:strVal val="visible"/>
                                      </p:to>
                                    </p:set>
                                    <p:animEffect transition="in" filter="fade">
                                      <p:cBhvr>
                                        <p:cTn id="22" dur="500"/>
                                        <p:tgtEl>
                                          <p:spTgt spid="6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0"/>
                                        </p:tgtEl>
                                        <p:attrNameLst>
                                          <p:attrName>style.visibility</p:attrName>
                                        </p:attrNameLst>
                                      </p:cBhvr>
                                      <p:to>
                                        <p:strVal val="visible"/>
                                      </p:to>
                                    </p:set>
                                    <p:animEffect transition="in" filter="fade">
                                      <p:cBhvr>
                                        <p:cTn id="27" dur="500"/>
                                        <p:tgtEl>
                                          <p:spTgt spid="7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71"/>
                                        </p:tgtEl>
                                        <p:attrNameLst>
                                          <p:attrName>style.visibility</p:attrName>
                                        </p:attrNameLst>
                                      </p:cBhvr>
                                      <p:to>
                                        <p:strVal val="visible"/>
                                      </p:to>
                                    </p:set>
                                    <p:animEffect transition="in" filter="fade">
                                      <p:cBhvr>
                                        <p:cTn id="32" dur="500"/>
                                        <p:tgtEl>
                                          <p:spTgt spid="7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72"/>
                                        </p:tgtEl>
                                        <p:attrNameLst>
                                          <p:attrName>style.visibility</p:attrName>
                                        </p:attrNameLst>
                                      </p:cBhvr>
                                      <p:to>
                                        <p:strVal val="visible"/>
                                      </p:to>
                                    </p:set>
                                    <p:animEffect transition="in" filter="fade">
                                      <p:cBhvr>
                                        <p:cTn id="37"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P spid="66" grpId="0"/>
      <p:bldP spid="67" grpId="0"/>
      <p:bldP spid="68" grpId="0"/>
      <p:bldP spid="70" grpId="0"/>
      <p:bldP spid="71" grpId="0"/>
      <p:bldP spid="72"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43150" y="33337"/>
            <a:ext cx="7505700" cy="6791325"/>
          </a:xfrm>
          <a:prstGeom prst="rect">
            <a:avLst/>
          </a:prstGeom>
        </p:spPr>
      </p:pic>
    </p:spTree>
    <p:extLst>
      <p:ext uri="{BB962C8B-B14F-4D97-AF65-F5344CB8AC3E}">
        <p14:creationId xmlns:p14="http://schemas.microsoft.com/office/powerpoint/2010/main" val="31559551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Properties of esters</a:t>
            </a:r>
          </a:p>
        </p:txBody>
      </p:sp>
      <p:sp>
        <p:nvSpPr>
          <p:cNvPr id="3" name="Content Placeholder 2"/>
          <p:cNvSpPr>
            <a:spLocks noGrp="1"/>
          </p:cNvSpPr>
          <p:nvPr>
            <p:ph idx="1"/>
          </p:nvPr>
        </p:nvSpPr>
        <p:spPr/>
        <p:txBody>
          <a:bodyPr/>
          <a:lstStyle/>
          <a:p>
            <a:pPr>
              <a:buFont typeface="Arial" panose="020B0604020202020204" pitchFamily="34" charset="0"/>
              <a:buChar char="•"/>
            </a:pPr>
            <a:r>
              <a:rPr lang="en-AU" b="1" dirty="0"/>
              <a:t>Intermolecular forces:</a:t>
            </a:r>
          </a:p>
          <a:p>
            <a:pPr lvl="1">
              <a:buFont typeface="Arial" panose="020B0604020202020204" pitchFamily="34" charset="0"/>
              <a:buChar char="•"/>
            </a:pPr>
            <a:r>
              <a:rPr lang="en-AU" dirty="0"/>
              <a:t>Combination of dispersion forces and dipole-dipole forces</a:t>
            </a:r>
          </a:p>
          <a:p>
            <a:pPr lvl="2">
              <a:buFont typeface="Arial" panose="020B0604020202020204" pitchFamily="34" charset="0"/>
              <a:buChar char="•"/>
            </a:pPr>
            <a:endParaRPr lang="en-AU" dirty="0"/>
          </a:p>
          <a:p>
            <a:pPr>
              <a:buFont typeface="Arial" panose="020B0604020202020204" pitchFamily="34" charset="0"/>
              <a:buChar char="•"/>
            </a:pPr>
            <a:r>
              <a:rPr lang="en-AU" b="1" dirty="0"/>
              <a:t>Boiling Point / Melting point:</a:t>
            </a:r>
          </a:p>
          <a:p>
            <a:pPr lvl="1">
              <a:buFont typeface="Arial" panose="020B0604020202020204" pitchFamily="34" charset="0"/>
              <a:buChar char="•"/>
            </a:pPr>
            <a:r>
              <a:rPr lang="en-AU" dirty="0"/>
              <a:t>Usually liquid at room temperature</a:t>
            </a:r>
          </a:p>
          <a:p>
            <a:pPr lvl="1">
              <a:buFont typeface="Arial" panose="020B0604020202020204" pitchFamily="34" charset="0"/>
              <a:buChar char="•"/>
            </a:pPr>
            <a:r>
              <a:rPr lang="en-AU" dirty="0"/>
              <a:t>Lower MP/BP than alcohols and carboxylic acids with similar molecular weight (no hydrogen bonding)</a:t>
            </a:r>
          </a:p>
          <a:p>
            <a:pPr lvl="2">
              <a:buFont typeface="Arial" panose="020B0604020202020204" pitchFamily="34" charset="0"/>
              <a:buChar char="•"/>
            </a:pPr>
            <a:endParaRPr lang="en-AU" dirty="0"/>
          </a:p>
          <a:p>
            <a:pPr>
              <a:buFont typeface="Arial" panose="020B0604020202020204" pitchFamily="34" charset="0"/>
              <a:buChar char="•"/>
            </a:pPr>
            <a:r>
              <a:rPr lang="en-AU" b="1" dirty="0"/>
              <a:t>Solubility:</a:t>
            </a:r>
          </a:p>
          <a:p>
            <a:pPr lvl="1">
              <a:buFont typeface="Arial" panose="020B0604020202020204" pitchFamily="34" charset="0"/>
              <a:buChar char="•"/>
            </a:pPr>
            <a:r>
              <a:rPr lang="en-AU" dirty="0"/>
              <a:t>Small esters are soluble in water (form hydrogen bonds with water molecules)</a:t>
            </a:r>
          </a:p>
          <a:p>
            <a:pPr lvl="1">
              <a:buFont typeface="Arial" panose="020B0604020202020204" pitchFamily="34" charset="0"/>
              <a:buChar char="•"/>
            </a:pPr>
            <a:r>
              <a:rPr lang="en-AU" dirty="0"/>
              <a:t>Solubility rapidly decreases as chain length increases</a:t>
            </a:r>
          </a:p>
        </p:txBody>
      </p:sp>
    </p:spTree>
    <p:extLst>
      <p:ext uri="{BB962C8B-B14F-4D97-AF65-F5344CB8AC3E}">
        <p14:creationId xmlns:p14="http://schemas.microsoft.com/office/powerpoint/2010/main" val="173803417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Properties of esters</a:t>
            </a:r>
          </a:p>
        </p:txBody>
      </p:sp>
      <p:sp>
        <p:nvSpPr>
          <p:cNvPr id="3" name="Content Placeholder 2"/>
          <p:cNvSpPr>
            <a:spLocks noGrp="1"/>
          </p:cNvSpPr>
          <p:nvPr>
            <p:ph idx="1"/>
          </p:nvPr>
        </p:nvSpPr>
        <p:spPr>
          <a:xfrm>
            <a:off x="1097279" y="1845734"/>
            <a:ext cx="10589623" cy="4023360"/>
          </a:xfrm>
        </p:spPr>
        <p:txBody>
          <a:bodyPr/>
          <a:lstStyle/>
          <a:p>
            <a:pPr>
              <a:buFont typeface="Arial" panose="020B0604020202020204" pitchFamily="34" charset="0"/>
              <a:buChar char="•"/>
            </a:pPr>
            <a:r>
              <a:rPr lang="en-AU" b="1" dirty="0"/>
              <a:t>Odour:</a:t>
            </a:r>
          </a:p>
          <a:p>
            <a:pPr lvl="1">
              <a:buFont typeface="Arial" panose="020B0604020202020204" pitchFamily="34" charset="0"/>
              <a:buChar char="•"/>
            </a:pPr>
            <a:r>
              <a:rPr lang="en-AU" dirty="0"/>
              <a:t>Many volatile esters have a ‘fruity’ odour. These compounds are naturally generated by fruit and gives them their characteristic odours.</a:t>
            </a:r>
            <a:br>
              <a:rPr lang="en-AU" dirty="0"/>
            </a:br>
            <a:endParaRPr lang="en-AU" dirty="0"/>
          </a:p>
          <a:p>
            <a:pPr lvl="1">
              <a:buFont typeface="Arial" panose="020B0604020202020204" pitchFamily="34" charset="0"/>
              <a:buChar char="•"/>
            </a:pPr>
            <a:r>
              <a:rPr lang="en-AU" dirty="0"/>
              <a:t>Esters are commonly used as natural flavours and fragrances. </a:t>
            </a:r>
            <a:br>
              <a:rPr lang="en-AU" dirty="0"/>
            </a:br>
            <a:r>
              <a:rPr lang="en-AU" dirty="0"/>
              <a:t>For example, fake banana lollies may contain </a:t>
            </a:r>
            <a:r>
              <a:rPr lang="en-AU" dirty="0" err="1"/>
              <a:t>pentyl</a:t>
            </a:r>
            <a:r>
              <a:rPr lang="en-AU" dirty="0"/>
              <a:t> ethanoate to simulate the smell of a banana. </a:t>
            </a:r>
          </a:p>
          <a:p>
            <a:pPr lvl="1">
              <a:buFont typeface="Arial" panose="020B0604020202020204" pitchFamily="34" charset="0"/>
              <a:buChar char="•"/>
            </a:pPr>
            <a:endParaRPr lang="en-AU" dirty="0"/>
          </a:p>
          <a:p>
            <a:pPr lvl="1">
              <a:buFont typeface="Arial" panose="020B0604020202020204" pitchFamily="34" charset="0"/>
              <a:buChar char="•"/>
            </a:pPr>
            <a:r>
              <a:rPr lang="en-AU" b="1" u="sng" dirty="0"/>
              <a:t>A fruity odour is a key observation that an ester has been produced in a chemical reaction.</a:t>
            </a:r>
          </a:p>
          <a:p>
            <a:pPr lvl="2">
              <a:buFont typeface="Arial" panose="020B0604020202020204" pitchFamily="34" charset="0"/>
              <a:buChar char="•"/>
            </a:pPr>
            <a:r>
              <a:rPr lang="en-AU" sz="1600" i="1" dirty="0"/>
              <a:t>Q: Give a full set of observations for the reaction between butanol and ethanoic acid in the presence of an acid catalyst</a:t>
            </a:r>
          </a:p>
          <a:p>
            <a:pPr lvl="2">
              <a:buFont typeface="Arial" panose="020B0604020202020204" pitchFamily="34" charset="0"/>
              <a:buChar char="•"/>
            </a:pPr>
            <a:r>
              <a:rPr lang="en-AU" sz="1600" i="1" dirty="0"/>
              <a:t>A: Two colourless liquids are mixed. The resulting mixture has a fruity odour.</a:t>
            </a:r>
          </a:p>
          <a:p>
            <a:pPr lvl="1">
              <a:buFont typeface="Arial" panose="020B0604020202020204" pitchFamily="34" charset="0"/>
              <a:buChar char="•"/>
            </a:pPr>
            <a:endParaRPr lang="en-AU" i="1" u="sng" dirty="0"/>
          </a:p>
        </p:txBody>
      </p:sp>
      <p:pic>
        <p:nvPicPr>
          <p:cNvPr id="61450" name="Picture 10" descr="http://media.candystore.com/catalog/category/banana-candy.jpg"/>
          <p:cNvPicPr>
            <a:picLocks noChangeAspect="1" noChangeArrowheads="1"/>
          </p:cNvPicPr>
          <p:nvPr/>
        </p:nvPicPr>
        <p:blipFill rotWithShape="1">
          <a:blip r:embed="rId2">
            <a:extLst>
              <a:ext uri="{28A0092B-C50C-407E-A947-70E740481C1C}">
                <a14:useLocalDpi xmlns:a14="http://schemas.microsoft.com/office/drawing/2010/main" val="0"/>
              </a:ext>
            </a:extLst>
          </a:blip>
          <a:srcRect l="17637" r="23437"/>
          <a:stretch/>
        </p:blipFill>
        <p:spPr bwMode="auto">
          <a:xfrm>
            <a:off x="10771300" y="2907636"/>
            <a:ext cx="1082268" cy="12637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537494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Reactions of esters</a:t>
            </a:r>
          </a:p>
        </p:txBody>
      </p:sp>
      <p:sp>
        <p:nvSpPr>
          <p:cNvPr id="3" name="Content Placeholder 2"/>
          <p:cNvSpPr>
            <a:spLocks noGrp="1"/>
          </p:cNvSpPr>
          <p:nvPr>
            <p:ph idx="1"/>
          </p:nvPr>
        </p:nvSpPr>
        <p:spPr>
          <a:xfrm>
            <a:off x="1097279" y="1845734"/>
            <a:ext cx="10589623" cy="4023360"/>
          </a:xfrm>
        </p:spPr>
        <p:txBody>
          <a:bodyPr/>
          <a:lstStyle/>
          <a:p>
            <a:pPr>
              <a:buFont typeface="Arial" panose="020B0604020202020204" pitchFamily="34" charset="0"/>
              <a:buChar char="•"/>
            </a:pPr>
            <a:r>
              <a:rPr lang="en-AU" b="1" dirty="0"/>
              <a:t>Hydrolysis:</a:t>
            </a:r>
          </a:p>
          <a:p>
            <a:pPr lvl="1">
              <a:buFont typeface="Arial" panose="020B0604020202020204" pitchFamily="34" charset="0"/>
              <a:buChar char="•"/>
            </a:pPr>
            <a:r>
              <a:rPr lang="en-AU" dirty="0"/>
              <a:t>As mentioned previously, esterification reactions are reversible. The reverse reaction is a </a:t>
            </a:r>
            <a:r>
              <a:rPr lang="en-AU" u="sng" dirty="0"/>
              <a:t>hydrolysis reaction</a:t>
            </a:r>
            <a:r>
              <a:rPr lang="en-AU" dirty="0"/>
              <a:t> as it involves the addition of water </a:t>
            </a:r>
            <a:r>
              <a:rPr lang="en-AU" i="1" dirty="0"/>
              <a:t>(c.f. hydrolysis of alkenes)</a:t>
            </a:r>
            <a:r>
              <a:rPr lang="en-AU" dirty="0"/>
              <a:t/>
            </a:r>
            <a:br>
              <a:rPr lang="en-AU" dirty="0"/>
            </a:br>
            <a:endParaRPr lang="en-AU" dirty="0"/>
          </a:p>
          <a:p>
            <a:pPr lvl="1">
              <a:buFont typeface="Arial" panose="020B0604020202020204" pitchFamily="34" charset="0"/>
              <a:buChar char="•"/>
            </a:pPr>
            <a:r>
              <a:rPr lang="en-AU" b="1" dirty="0"/>
              <a:t>In acid conditions…</a:t>
            </a:r>
            <a:endParaRPr lang="en-AU" i="1" u="sng" dirty="0"/>
          </a:p>
          <a:p>
            <a:pPr marL="201168" lvl="1" indent="0">
              <a:buNone/>
            </a:pPr>
            <a:endParaRPr lang="en-AU" i="1" u="sng" dirty="0"/>
          </a:p>
        </p:txBody>
      </p:sp>
      <p:pic>
        <p:nvPicPr>
          <p:cNvPr id="63490" name="Picture 2" descr="http://ibchem.com/IB/ibfiles/organic/org_img/structures/esters/ethyl%20ethanoat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022" y="3568520"/>
            <a:ext cx="2316694" cy="14181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682067" y="4077547"/>
            <a:ext cx="2260600" cy="400110"/>
          </a:xfrm>
          <a:prstGeom prst="rect">
            <a:avLst/>
          </a:prstGeom>
          <a:noFill/>
        </p:spPr>
        <p:txBody>
          <a:bodyPr wrap="square" rtlCol="0">
            <a:spAutoFit/>
          </a:bodyPr>
          <a:lstStyle/>
          <a:p>
            <a:r>
              <a:rPr lang="en-AU" sz="2000" dirty="0"/>
              <a:t>+   H</a:t>
            </a:r>
            <a:r>
              <a:rPr lang="en-AU" sz="2000" baseline="-25000" dirty="0"/>
              <a:t>2</a:t>
            </a:r>
            <a:r>
              <a:rPr lang="en-AU" sz="2000" dirty="0"/>
              <a:t>O    ⇌ </a:t>
            </a:r>
          </a:p>
        </p:txBody>
      </p:sp>
      <p:pic>
        <p:nvPicPr>
          <p:cNvPr id="6" name="Picture 5"/>
          <p:cNvPicPr>
            <a:picLocks noChangeAspect="1"/>
          </p:cNvPicPr>
          <p:nvPr/>
        </p:nvPicPr>
        <p:blipFill>
          <a:blip r:embed="rId3"/>
          <a:stretch>
            <a:fillRect/>
          </a:stretch>
        </p:blipFill>
        <p:spPr>
          <a:xfrm>
            <a:off x="6372058" y="3706087"/>
            <a:ext cx="1547132" cy="1143030"/>
          </a:xfrm>
          <a:prstGeom prst="rect">
            <a:avLst/>
          </a:prstGeom>
        </p:spPr>
      </p:pic>
      <p:sp>
        <p:nvSpPr>
          <p:cNvPr id="9" name="TextBox 8"/>
          <p:cNvSpPr txBox="1"/>
          <p:nvPr/>
        </p:nvSpPr>
        <p:spPr>
          <a:xfrm>
            <a:off x="8153157" y="4077547"/>
            <a:ext cx="381244" cy="400110"/>
          </a:xfrm>
          <a:prstGeom prst="rect">
            <a:avLst/>
          </a:prstGeom>
          <a:noFill/>
        </p:spPr>
        <p:txBody>
          <a:bodyPr wrap="square" rtlCol="0">
            <a:spAutoFit/>
          </a:bodyPr>
          <a:lstStyle/>
          <a:p>
            <a:r>
              <a:rPr lang="en-AU" sz="2000" dirty="0"/>
              <a:t>+</a:t>
            </a:r>
          </a:p>
        </p:txBody>
      </p:sp>
      <p:pic>
        <p:nvPicPr>
          <p:cNvPr id="7" name="Picture 6"/>
          <p:cNvPicPr>
            <a:picLocks noChangeAspect="1"/>
          </p:cNvPicPr>
          <p:nvPr/>
        </p:nvPicPr>
        <p:blipFill>
          <a:blip r:embed="rId4"/>
          <a:stretch>
            <a:fillRect/>
          </a:stretch>
        </p:blipFill>
        <p:spPr>
          <a:xfrm>
            <a:off x="8632658" y="3685880"/>
            <a:ext cx="1733671" cy="1163237"/>
          </a:xfrm>
          <a:prstGeom prst="rect">
            <a:avLst/>
          </a:prstGeom>
        </p:spPr>
      </p:pic>
      <p:sp>
        <p:nvSpPr>
          <p:cNvPr id="11" name="TextBox 10"/>
          <p:cNvSpPr txBox="1"/>
          <p:nvPr/>
        </p:nvSpPr>
        <p:spPr>
          <a:xfrm>
            <a:off x="1531747" y="5095058"/>
            <a:ext cx="3357243" cy="461665"/>
          </a:xfrm>
          <a:prstGeom prst="rect">
            <a:avLst/>
          </a:prstGeom>
          <a:noFill/>
        </p:spPr>
        <p:txBody>
          <a:bodyPr wrap="square" rtlCol="0">
            <a:spAutoFit/>
          </a:bodyPr>
          <a:lstStyle/>
          <a:p>
            <a:pPr algn="ctr"/>
            <a:r>
              <a:rPr lang="en-AU" sz="2400" b="1" dirty="0">
                <a:solidFill>
                  <a:srgbClr val="0070C0"/>
                </a:solidFill>
              </a:rPr>
              <a:t>ethyl ethanoate</a:t>
            </a:r>
          </a:p>
        </p:txBody>
      </p:sp>
      <p:sp>
        <p:nvSpPr>
          <p:cNvPr id="12" name="TextBox 11"/>
          <p:cNvSpPr txBox="1"/>
          <p:nvPr/>
        </p:nvSpPr>
        <p:spPr>
          <a:xfrm>
            <a:off x="1531746" y="5692449"/>
            <a:ext cx="3357243" cy="461665"/>
          </a:xfrm>
          <a:prstGeom prst="rect">
            <a:avLst/>
          </a:prstGeom>
          <a:noFill/>
        </p:spPr>
        <p:txBody>
          <a:bodyPr wrap="square" rtlCol="0">
            <a:spAutoFit/>
          </a:bodyPr>
          <a:lstStyle/>
          <a:p>
            <a:pPr algn="ctr"/>
            <a:r>
              <a:rPr lang="en-AU" sz="2400" b="1" dirty="0"/>
              <a:t>ester</a:t>
            </a:r>
          </a:p>
        </p:txBody>
      </p:sp>
      <p:sp>
        <p:nvSpPr>
          <p:cNvPr id="13" name="TextBox 12"/>
          <p:cNvSpPr txBox="1"/>
          <p:nvPr/>
        </p:nvSpPr>
        <p:spPr>
          <a:xfrm>
            <a:off x="5467002" y="5083170"/>
            <a:ext cx="3357243" cy="461665"/>
          </a:xfrm>
          <a:prstGeom prst="rect">
            <a:avLst/>
          </a:prstGeom>
          <a:noFill/>
        </p:spPr>
        <p:txBody>
          <a:bodyPr wrap="square" rtlCol="0">
            <a:spAutoFit/>
          </a:bodyPr>
          <a:lstStyle/>
          <a:p>
            <a:pPr algn="ctr"/>
            <a:r>
              <a:rPr lang="en-AU" sz="2400" b="1" dirty="0">
                <a:solidFill>
                  <a:srgbClr val="0070C0"/>
                </a:solidFill>
              </a:rPr>
              <a:t>ethanoic acid</a:t>
            </a:r>
          </a:p>
        </p:txBody>
      </p:sp>
      <p:sp>
        <p:nvSpPr>
          <p:cNvPr id="14" name="TextBox 13"/>
          <p:cNvSpPr txBox="1"/>
          <p:nvPr/>
        </p:nvSpPr>
        <p:spPr>
          <a:xfrm>
            <a:off x="5612680" y="3777697"/>
            <a:ext cx="2260600" cy="400110"/>
          </a:xfrm>
          <a:prstGeom prst="rect">
            <a:avLst/>
          </a:prstGeom>
          <a:noFill/>
        </p:spPr>
        <p:txBody>
          <a:bodyPr wrap="square" rtlCol="0">
            <a:spAutoFit/>
          </a:bodyPr>
          <a:lstStyle/>
          <a:p>
            <a:r>
              <a:rPr lang="en-AU" sz="2000" dirty="0"/>
              <a:t>H</a:t>
            </a:r>
            <a:r>
              <a:rPr lang="en-AU" sz="2000" baseline="30000" dirty="0"/>
              <a:t>+</a:t>
            </a:r>
            <a:endParaRPr lang="en-AU" sz="2000" dirty="0"/>
          </a:p>
        </p:txBody>
      </p:sp>
      <p:sp>
        <p:nvSpPr>
          <p:cNvPr id="15" name="TextBox 14"/>
          <p:cNvSpPr txBox="1"/>
          <p:nvPr/>
        </p:nvSpPr>
        <p:spPr>
          <a:xfrm>
            <a:off x="7919190" y="5083170"/>
            <a:ext cx="3357243" cy="461665"/>
          </a:xfrm>
          <a:prstGeom prst="rect">
            <a:avLst/>
          </a:prstGeom>
          <a:noFill/>
        </p:spPr>
        <p:txBody>
          <a:bodyPr wrap="square" rtlCol="0">
            <a:spAutoFit/>
          </a:bodyPr>
          <a:lstStyle/>
          <a:p>
            <a:pPr algn="ctr"/>
            <a:r>
              <a:rPr lang="en-AU" sz="2400" b="1" dirty="0">
                <a:solidFill>
                  <a:srgbClr val="0070C0"/>
                </a:solidFill>
              </a:rPr>
              <a:t>ethanol</a:t>
            </a:r>
          </a:p>
        </p:txBody>
      </p:sp>
      <p:sp>
        <p:nvSpPr>
          <p:cNvPr id="16" name="TextBox 15"/>
          <p:cNvSpPr txBox="1"/>
          <p:nvPr/>
        </p:nvSpPr>
        <p:spPr>
          <a:xfrm>
            <a:off x="5467002" y="5692449"/>
            <a:ext cx="3357243" cy="461665"/>
          </a:xfrm>
          <a:prstGeom prst="rect">
            <a:avLst/>
          </a:prstGeom>
          <a:noFill/>
        </p:spPr>
        <p:txBody>
          <a:bodyPr wrap="square" rtlCol="0">
            <a:spAutoFit/>
          </a:bodyPr>
          <a:lstStyle/>
          <a:p>
            <a:pPr algn="ctr"/>
            <a:r>
              <a:rPr lang="en-AU" sz="2400" b="1" dirty="0"/>
              <a:t>carboxylic acid</a:t>
            </a:r>
          </a:p>
        </p:txBody>
      </p:sp>
      <p:sp>
        <p:nvSpPr>
          <p:cNvPr id="17" name="TextBox 16"/>
          <p:cNvSpPr txBox="1"/>
          <p:nvPr/>
        </p:nvSpPr>
        <p:spPr>
          <a:xfrm>
            <a:off x="7919190" y="5692449"/>
            <a:ext cx="3357243" cy="461665"/>
          </a:xfrm>
          <a:prstGeom prst="rect">
            <a:avLst/>
          </a:prstGeom>
          <a:noFill/>
        </p:spPr>
        <p:txBody>
          <a:bodyPr wrap="square" rtlCol="0">
            <a:spAutoFit/>
          </a:bodyPr>
          <a:lstStyle/>
          <a:p>
            <a:pPr algn="ctr"/>
            <a:r>
              <a:rPr lang="en-AU" sz="2400" b="1" dirty="0"/>
              <a:t>alcohol</a:t>
            </a:r>
          </a:p>
        </p:txBody>
      </p:sp>
    </p:spTree>
    <p:extLst>
      <p:ext uri="{BB962C8B-B14F-4D97-AF65-F5344CB8AC3E}">
        <p14:creationId xmlns:p14="http://schemas.microsoft.com/office/powerpoint/2010/main" val="338688421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Reactions of esters</a:t>
            </a:r>
          </a:p>
        </p:txBody>
      </p:sp>
      <p:sp>
        <p:nvSpPr>
          <p:cNvPr id="3" name="Content Placeholder 2"/>
          <p:cNvSpPr>
            <a:spLocks noGrp="1"/>
          </p:cNvSpPr>
          <p:nvPr>
            <p:ph idx="1"/>
          </p:nvPr>
        </p:nvSpPr>
        <p:spPr>
          <a:xfrm>
            <a:off x="1097279" y="1845734"/>
            <a:ext cx="10589623" cy="4023360"/>
          </a:xfrm>
        </p:spPr>
        <p:txBody>
          <a:bodyPr/>
          <a:lstStyle/>
          <a:p>
            <a:pPr lvl="1">
              <a:buFont typeface="Arial" panose="020B0604020202020204" pitchFamily="34" charset="0"/>
              <a:buChar char="•"/>
            </a:pPr>
            <a:r>
              <a:rPr lang="en-AU" b="1" dirty="0"/>
              <a:t>In basic conditions…</a:t>
            </a:r>
            <a:endParaRPr lang="en-AU" i="1" u="sng" dirty="0"/>
          </a:p>
          <a:p>
            <a:pPr marL="201168" lvl="1" indent="0">
              <a:buNone/>
            </a:pPr>
            <a:r>
              <a:rPr lang="en-AU" i="1" dirty="0"/>
              <a:t>	Similar to acidic conditions, but the hydroxide removes the acidic proton from the carboxylic acid.</a:t>
            </a:r>
          </a:p>
        </p:txBody>
      </p:sp>
      <p:pic>
        <p:nvPicPr>
          <p:cNvPr id="63490" name="Picture 2" descr="http://ibchem.com/IB/ibfiles/organic/org_img/structures/esters/ethyl%20ethanoat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2022" y="2840387"/>
            <a:ext cx="2316694" cy="141816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4682067" y="3349414"/>
            <a:ext cx="2260600" cy="400110"/>
          </a:xfrm>
          <a:prstGeom prst="rect">
            <a:avLst/>
          </a:prstGeom>
          <a:noFill/>
        </p:spPr>
        <p:txBody>
          <a:bodyPr wrap="square" rtlCol="0">
            <a:spAutoFit/>
          </a:bodyPr>
          <a:lstStyle/>
          <a:p>
            <a:r>
              <a:rPr lang="en-AU" sz="2000" dirty="0"/>
              <a:t>+   OH</a:t>
            </a:r>
            <a:r>
              <a:rPr lang="en-AU" sz="2000" baseline="30000" dirty="0"/>
              <a:t>-</a:t>
            </a:r>
            <a:r>
              <a:rPr lang="en-AU" sz="2000" dirty="0"/>
              <a:t>    ⇌ </a:t>
            </a:r>
          </a:p>
        </p:txBody>
      </p:sp>
      <p:sp>
        <p:nvSpPr>
          <p:cNvPr id="9" name="TextBox 8"/>
          <p:cNvSpPr txBox="1"/>
          <p:nvPr/>
        </p:nvSpPr>
        <p:spPr>
          <a:xfrm>
            <a:off x="8153157" y="3349414"/>
            <a:ext cx="381244" cy="400110"/>
          </a:xfrm>
          <a:prstGeom prst="rect">
            <a:avLst/>
          </a:prstGeom>
          <a:noFill/>
        </p:spPr>
        <p:txBody>
          <a:bodyPr wrap="square" rtlCol="0">
            <a:spAutoFit/>
          </a:bodyPr>
          <a:lstStyle/>
          <a:p>
            <a:r>
              <a:rPr lang="en-AU" sz="2000" dirty="0"/>
              <a:t>+</a:t>
            </a:r>
          </a:p>
        </p:txBody>
      </p:sp>
      <p:pic>
        <p:nvPicPr>
          <p:cNvPr id="7" name="Picture 6"/>
          <p:cNvPicPr>
            <a:picLocks noChangeAspect="1"/>
          </p:cNvPicPr>
          <p:nvPr/>
        </p:nvPicPr>
        <p:blipFill>
          <a:blip r:embed="rId3"/>
          <a:stretch>
            <a:fillRect/>
          </a:stretch>
        </p:blipFill>
        <p:spPr>
          <a:xfrm>
            <a:off x="8632658" y="2957747"/>
            <a:ext cx="1733671" cy="1163237"/>
          </a:xfrm>
          <a:prstGeom prst="rect">
            <a:avLst/>
          </a:prstGeom>
        </p:spPr>
      </p:pic>
      <p:sp>
        <p:nvSpPr>
          <p:cNvPr id="11" name="TextBox 10"/>
          <p:cNvSpPr txBox="1"/>
          <p:nvPr/>
        </p:nvSpPr>
        <p:spPr>
          <a:xfrm>
            <a:off x="1531747" y="4366925"/>
            <a:ext cx="3357243" cy="461665"/>
          </a:xfrm>
          <a:prstGeom prst="rect">
            <a:avLst/>
          </a:prstGeom>
          <a:noFill/>
        </p:spPr>
        <p:txBody>
          <a:bodyPr wrap="square" rtlCol="0">
            <a:spAutoFit/>
          </a:bodyPr>
          <a:lstStyle/>
          <a:p>
            <a:pPr algn="ctr"/>
            <a:r>
              <a:rPr lang="en-AU" sz="2400" b="1" dirty="0">
                <a:solidFill>
                  <a:srgbClr val="0070C0"/>
                </a:solidFill>
              </a:rPr>
              <a:t>ethyl ethanoate</a:t>
            </a:r>
          </a:p>
        </p:txBody>
      </p:sp>
      <p:sp>
        <p:nvSpPr>
          <p:cNvPr id="12" name="TextBox 11"/>
          <p:cNvSpPr txBox="1"/>
          <p:nvPr/>
        </p:nvSpPr>
        <p:spPr>
          <a:xfrm>
            <a:off x="1531746" y="4964316"/>
            <a:ext cx="3357243" cy="461665"/>
          </a:xfrm>
          <a:prstGeom prst="rect">
            <a:avLst/>
          </a:prstGeom>
          <a:noFill/>
        </p:spPr>
        <p:txBody>
          <a:bodyPr wrap="square" rtlCol="0">
            <a:spAutoFit/>
          </a:bodyPr>
          <a:lstStyle/>
          <a:p>
            <a:pPr algn="ctr"/>
            <a:r>
              <a:rPr lang="en-AU" sz="2400" b="1" dirty="0"/>
              <a:t>ester</a:t>
            </a:r>
          </a:p>
        </p:txBody>
      </p:sp>
      <p:sp>
        <p:nvSpPr>
          <p:cNvPr id="13" name="TextBox 12"/>
          <p:cNvSpPr txBox="1"/>
          <p:nvPr/>
        </p:nvSpPr>
        <p:spPr>
          <a:xfrm>
            <a:off x="5467002" y="4355037"/>
            <a:ext cx="3357243" cy="461665"/>
          </a:xfrm>
          <a:prstGeom prst="rect">
            <a:avLst/>
          </a:prstGeom>
          <a:noFill/>
        </p:spPr>
        <p:txBody>
          <a:bodyPr wrap="square" rtlCol="0">
            <a:spAutoFit/>
          </a:bodyPr>
          <a:lstStyle/>
          <a:p>
            <a:pPr algn="ctr"/>
            <a:r>
              <a:rPr lang="en-AU" sz="2400" b="1" dirty="0">
                <a:solidFill>
                  <a:srgbClr val="0070C0"/>
                </a:solidFill>
              </a:rPr>
              <a:t>ethanoate ion</a:t>
            </a:r>
          </a:p>
        </p:txBody>
      </p:sp>
      <p:sp>
        <p:nvSpPr>
          <p:cNvPr id="15" name="TextBox 14"/>
          <p:cNvSpPr txBox="1"/>
          <p:nvPr/>
        </p:nvSpPr>
        <p:spPr>
          <a:xfrm>
            <a:off x="7919190" y="4355037"/>
            <a:ext cx="3357243" cy="461665"/>
          </a:xfrm>
          <a:prstGeom prst="rect">
            <a:avLst/>
          </a:prstGeom>
          <a:noFill/>
        </p:spPr>
        <p:txBody>
          <a:bodyPr wrap="square" rtlCol="0">
            <a:spAutoFit/>
          </a:bodyPr>
          <a:lstStyle/>
          <a:p>
            <a:pPr algn="ctr"/>
            <a:r>
              <a:rPr lang="en-AU" sz="2400" b="1" dirty="0">
                <a:solidFill>
                  <a:srgbClr val="0070C0"/>
                </a:solidFill>
              </a:rPr>
              <a:t>ethanol</a:t>
            </a:r>
          </a:p>
        </p:txBody>
      </p:sp>
      <p:sp>
        <p:nvSpPr>
          <p:cNvPr id="16" name="TextBox 15"/>
          <p:cNvSpPr txBox="1"/>
          <p:nvPr/>
        </p:nvSpPr>
        <p:spPr>
          <a:xfrm>
            <a:off x="5467002" y="4964316"/>
            <a:ext cx="3357243" cy="461665"/>
          </a:xfrm>
          <a:prstGeom prst="rect">
            <a:avLst/>
          </a:prstGeom>
          <a:noFill/>
        </p:spPr>
        <p:txBody>
          <a:bodyPr wrap="square" rtlCol="0">
            <a:spAutoFit/>
          </a:bodyPr>
          <a:lstStyle/>
          <a:p>
            <a:pPr algn="ctr"/>
            <a:r>
              <a:rPr lang="en-AU" sz="2400" b="1" dirty="0"/>
              <a:t>carboxylate ion</a:t>
            </a:r>
          </a:p>
        </p:txBody>
      </p:sp>
      <p:sp>
        <p:nvSpPr>
          <p:cNvPr id="17" name="TextBox 16"/>
          <p:cNvSpPr txBox="1"/>
          <p:nvPr/>
        </p:nvSpPr>
        <p:spPr>
          <a:xfrm>
            <a:off x="7919190" y="4964316"/>
            <a:ext cx="3357243" cy="461665"/>
          </a:xfrm>
          <a:prstGeom prst="rect">
            <a:avLst/>
          </a:prstGeom>
          <a:noFill/>
        </p:spPr>
        <p:txBody>
          <a:bodyPr wrap="square" rtlCol="0">
            <a:spAutoFit/>
          </a:bodyPr>
          <a:lstStyle/>
          <a:p>
            <a:pPr algn="ctr"/>
            <a:r>
              <a:rPr lang="en-AU" sz="2400" b="1" dirty="0"/>
              <a:t>alcohol</a:t>
            </a:r>
          </a:p>
        </p:txBody>
      </p:sp>
      <p:pic>
        <p:nvPicPr>
          <p:cNvPr id="4" name="Picture 3"/>
          <p:cNvPicPr>
            <a:picLocks noChangeAspect="1"/>
          </p:cNvPicPr>
          <p:nvPr/>
        </p:nvPicPr>
        <p:blipFill>
          <a:blip r:embed="rId4"/>
          <a:stretch>
            <a:fillRect/>
          </a:stretch>
        </p:blipFill>
        <p:spPr>
          <a:xfrm>
            <a:off x="6312791" y="2958936"/>
            <a:ext cx="1456266" cy="1181066"/>
          </a:xfrm>
          <a:prstGeom prst="rect">
            <a:avLst/>
          </a:prstGeom>
        </p:spPr>
      </p:pic>
    </p:spTree>
    <p:extLst>
      <p:ext uri="{BB962C8B-B14F-4D97-AF65-F5344CB8AC3E}">
        <p14:creationId xmlns:p14="http://schemas.microsoft.com/office/powerpoint/2010/main" val="81119135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43137" y="523875"/>
            <a:ext cx="7705725" cy="5810250"/>
          </a:xfrm>
          <a:prstGeom prst="rect">
            <a:avLst/>
          </a:prstGeom>
        </p:spPr>
      </p:pic>
    </p:spTree>
    <p:extLst>
      <p:ext uri="{BB962C8B-B14F-4D97-AF65-F5344CB8AC3E}">
        <p14:creationId xmlns:p14="http://schemas.microsoft.com/office/powerpoint/2010/main" val="256041673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b="1" u="sng" dirty="0"/>
              <a:t>ORGANIC REACTIONS – PRACTICE QUESTIONS</a:t>
            </a:r>
          </a:p>
          <a:p>
            <a:r>
              <a:rPr lang="en-AU" i="1" dirty="0"/>
              <a:t>Questions in workbook</a:t>
            </a:r>
          </a:p>
        </p:txBody>
      </p:sp>
    </p:spTree>
    <p:extLst>
      <p:ext uri="{BB962C8B-B14F-4D97-AF65-F5344CB8AC3E}">
        <p14:creationId xmlns:p14="http://schemas.microsoft.com/office/powerpoint/2010/main" val="339372865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Amines</a:t>
            </a:r>
          </a:p>
        </p:txBody>
      </p:sp>
      <p:sp>
        <p:nvSpPr>
          <p:cNvPr id="3" name="Content Placeholder 2"/>
          <p:cNvSpPr>
            <a:spLocks noGrp="1"/>
          </p:cNvSpPr>
          <p:nvPr>
            <p:ph idx="1"/>
          </p:nvPr>
        </p:nvSpPr>
        <p:spPr>
          <a:xfrm>
            <a:off x="855133" y="1845733"/>
            <a:ext cx="11296033" cy="4529667"/>
          </a:xfrm>
        </p:spPr>
        <p:txBody>
          <a:bodyPr>
            <a:normAutofit/>
          </a:bodyPr>
          <a:lstStyle/>
          <a:p>
            <a:r>
              <a:rPr lang="en-AU" sz="2800" b="1" dirty="0"/>
              <a:t>Functional group: R-NH</a:t>
            </a:r>
            <a:r>
              <a:rPr lang="en-AU" sz="2800" b="1" baseline="-25000" dirty="0"/>
              <a:t>2</a:t>
            </a:r>
            <a:endParaRPr lang="en-AU" sz="2800" b="1" dirty="0"/>
          </a:p>
          <a:p>
            <a:pPr marL="0" indent="0">
              <a:buNone/>
            </a:pPr>
            <a:endParaRPr lang="en-AU" b="1" dirty="0"/>
          </a:p>
          <a:p>
            <a:r>
              <a:rPr lang="en-AU" b="1" dirty="0"/>
              <a:t>Naming:</a:t>
            </a:r>
          </a:p>
          <a:p>
            <a:pPr marL="457200" indent="-457200">
              <a:buFont typeface="+mj-lt"/>
              <a:buAutoNum type="arabicPeriod"/>
            </a:pPr>
            <a:r>
              <a:rPr lang="en-AU" dirty="0"/>
              <a:t>Choose the longest carbon chain including the </a:t>
            </a:r>
            <a:r>
              <a:rPr lang="en-AU" b="1" dirty="0"/>
              <a:t>NH</a:t>
            </a:r>
            <a:r>
              <a:rPr lang="en-AU" b="1" baseline="-25000" dirty="0"/>
              <a:t>2</a:t>
            </a:r>
            <a:r>
              <a:rPr lang="en-AU" dirty="0"/>
              <a:t> </a:t>
            </a:r>
            <a:r>
              <a:rPr lang="en-AU" b="1" dirty="0"/>
              <a:t>group</a:t>
            </a:r>
          </a:p>
          <a:p>
            <a:pPr marL="457200" indent="-457200">
              <a:buFont typeface="+mj-lt"/>
              <a:buAutoNum type="arabicPeriod"/>
            </a:pPr>
            <a:r>
              <a:rPr lang="en-AU" dirty="0"/>
              <a:t>Name the longest chain, replacing the last ‘e’ with the suffix ‘amine’</a:t>
            </a:r>
          </a:p>
          <a:p>
            <a:pPr marL="457200" indent="-457200">
              <a:buFont typeface="+mj-lt"/>
              <a:buAutoNum type="arabicPeriod"/>
            </a:pPr>
            <a:r>
              <a:rPr lang="en-AU" dirty="0">
                <a:sym typeface="Wingdings" panose="05000000000000000000" pitchFamily="2" charset="2"/>
              </a:rPr>
              <a:t>Number the carbon chain so that the </a:t>
            </a:r>
            <a:r>
              <a:rPr lang="en-AU" b="1" dirty="0">
                <a:sym typeface="Wingdings" panose="05000000000000000000" pitchFamily="2" charset="2"/>
              </a:rPr>
              <a:t>NH</a:t>
            </a:r>
            <a:r>
              <a:rPr lang="en-AU" b="1" baseline="-25000" dirty="0">
                <a:sym typeface="Wingdings" panose="05000000000000000000" pitchFamily="2" charset="2"/>
              </a:rPr>
              <a:t>2</a:t>
            </a:r>
            <a:r>
              <a:rPr lang="en-AU" b="1" dirty="0">
                <a:sym typeface="Wingdings" panose="05000000000000000000" pitchFamily="2" charset="2"/>
              </a:rPr>
              <a:t> </a:t>
            </a:r>
            <a:r>
              <a:rPr lang="en-AU" dirty="0">
                <a:sym typeface="Wingdings" panose="05000000000000000000" pitchFamily="2" charset="2"/>
              </a:rPr>
              <a:t>group has the lowest number. </a:t>
            </a:r>
            <a:endParaRPr lang="en-AU" b="1" dirty="0">
              <a:sym typeface="Wingdings" panose="05000000000000000000" pitchFamily="2" charset="2"/>
            </a:endParaRPr>
          </a:p>
        </p:txBody>
      </p:sp>
      <p:sp>
        <p:nvSpPr>
          <p:cNvPr id="7" name="TextBox 6"/>
          <p:cNvSpPr txBox="1"/>
          <p:nvPr/>
        </p:nvSpPr>
        <p:spPr>
          <a:xfrm>
            <a:off x="7339382" y="3096260"/>
            <a:ext cx="2291236" cy="369332"/>
          </a:xfrm>
          <a:prstGeom prst="rect">
            <a:avLst/>
          </a:prstGeom>
          <a:noFill/>
        </p:spPr>
        <p:txBody>
          <a:bodyPr wrap="square" rtlCol="0">
            <a:spAutoFit/>
          </a:bodyPr>
          <a:lstStyle/>
          <a:p>
            <a:pPr algn="ctr"/>
            <a:r>
              <a:rPr lang="en-AU" b="1" dirty="0" err="1">
                <a:solidFill>
                  <a:srgbClr val="0070C0"/>
                </a:solidFill>
              </a:rPr>
              <a:t>methanamine</a:t>
            </a:r>
            <a:endParaRPr lang="en-AU" b="1" dirty="0">
              <a:solidFill>
                <a:srgbClr val="0070C0"/>
              </a:solidFill>
            </a:endParaRPr>
          </a:p>
        </p:txBody>
      </p:sp>
      <p:pic>
        <p:nvPicPr>
          <p:cNvPr id="64514" name="Picture 2" descr="http://static.wikidoc.org/7/7f/Methylamine-2D.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95867" y="1810327"/>
            <a:ext cx="1530828" cy="1177560"/>
          </a:xfrm>
          <a:prstGeom prst="rect">
            <a:avLst/>
          </a:prstGeom>
          <a:noFill/>
          <a:extLst>
            <a:ext uri="{909E8E84-426E-40DD-AFC4-6F175D3DCCD1}">
              <a14:hiddenFill xmlns:a14="http://schemas.microsoft.com/office/drawing/2010/main">
                <a:solidFill>
                  <a:srgbClr val="FFFFFF"/>
                </a:solidFill>
              </a14:hiddenFill>
            </a:ext>
          </a:extLst>
        </p:spPr>
      </p:pic>
      <p:pic>
        <p:nvPicPr>
          <p:cNvPr id="64516" name="Picture 4" descr="https://upload.wikimedia.org/wikipedia/commons/4/44/Ethylamine-2D-flat.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82959" y="1845733"/>
            <a:ext cx="1759943" cy="1177562"/>
          </a:xfrm>
          <a:prstGeom prst="rect">
            <a:avLst/>
          </a:prstGeom>
          <a:noFill/>
          <a:extLst>
            <a:ext uri="{909E8E84-426E-40DD-AFC4-6F175D3DCCD1}">
              <a14:hiddenFill xmlns:a14="http://schemas.microsoft.com/office/drawing/2010/main">
                <a:solidFill>
                  <a:srgbClr val="FFFFFF"/>
                </a:solidFill>
              </a14:hiddenFill>
            </a:ext>
          </a:extLst>
        </p:spPr>
      </p:pic>
      <p:sp>
        <p:nvSpPr>
          <p:cNvPr id="10" name="Oval 9"/>
          <p:cNvSpPr/>
          <p:nvPr/>
        </p:nvSpPr>
        <p:spPr>
          <a:xfrm>
            <a:off x="8364695" y="2018783"/>
            <a:ext cx="810000" cy="1042071"/>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11" name="Oval 10"/>
          <p:cNvSpPr/>
          <p:nvPr/>
        </p:nvSpPr>
        <p:spPr>
          <a:xfrm>
            <a:off x="10960166" y="1824720"/>
            <a:ext cx="810000" cy="1198575"/>
          </a:xfrm>
          <a:prstGeom prst="ellipse">
            <a:avLst/>
          </a:prstGeom>
          <a:noFill/>
          <a:ln w="28575">
            <a:solidFill>
              <a:srgbClr val="FF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AU"/>
          </a:p>
        </p:txBody>
      </p:sp>
      <p:sp>
        <p:nvSpPr>
          <p:cNvPr id="12" name="TextBox 11"/>
          <p:cNvSpPr txBox="1"/>
          <p:nvPr/>
        </p:nvSpPr>
        <p:spPr>
          <a:xfrm>
            <a:off x="9630618" y="3096260"/>
            <a:ext cx="2291236" cy="369332"/>
          </a:xfrm>
          <a:prstGeom prst="rect">
            <a:avLst/>
          </a:prstGeom>
          <a:noFill/>
        </p:spPr>
        <p:txBody>
          <a:bodyPr wrap="square" rtlCol="0">
            <a:spAutoFit/>
          </a:bodyPr>
          <a:lstStyle/>
          <a:p>
            <a:pPr algn="ctr"/>
            <a:r>
              <a:rPr lang="en-AU" b="1" dirty="0" err="1">
                <a:solidFill>
                  <a:srgbClr val="0070C0"/>
                </a:solidFill>
              </a:rPr>
              <a:t>ethanamine</a:t>
            </a:r>
            <a:endParaRPr lang="en-AU" b="1" dirty="0">
              <a:solidFill>
                <a:srgbClr val="0070C0"/>
              </a:solidFill>
            </a:endParaRPr>
          </a:p>
        </p:txBody>
      </p:sp>
      <p:pic>
        <p:nvPicPr>
          <p:cNvPr id="4" name="Picture 3"/>
          <p:cNvPicPr>
            <a:picLocks noChangeAspect="1"/>
          </p:cNvPicPr>
          <p:nvPr/>
        </p:nvPicPr>
        <p:blipFill>
          <a:blip r:embed="rId4"/>
          <a:stretch>
            <a:fillRect/>
          </a:stretch>
        </p:blipFill>
        <p:spPr>
          <a:xfrm>
            <a:off x="1898226" y="4776126"/>
            <a:ext cx="4228254" cy="479105"/>
          </a:xfrm>
          <a:prstGeom prst="rect">
            <a:avLst/>
          </a:prstGeom>
        </p:spPr>
      </p:pic>
      <p:pic>
        <p:nvPicPr>
          <p:cNvPr id="5" name="Picture 4"/>
          <p:cNvPicPr>
            <a:picLocks noChangeAspect="1"/>
          </p:cNvPicPr>
          <p:nvPr/>
        </p:nvPicPr>
        <p:blipFill>
          <a:blip r:embed="rId5"/>
          <a:stretch>
            <a:fillRect/>
          </a:stretch>
        </p:blipFill>
        <p:spPr>
          <a:xfrm>
            <a:off x="8054205" y="4780852"/>
            <a:ext cx="3101475" cy="948759"/>
          </a:xfrm>
          <a:prstGeom prst="rect">
            <a:avLst/>
          </a:prstGeom>
        </p:spPr>
      </p:pic>
      <p:sp>
        <p:nvSpPr>
          <p:cNvPr id="15" name="TextBox 14"/>
          <p:cNvSpPr txBox="1"/>
          <p:nvPr/>
        </p:nvSpPr>
        <p:spPr>
          <a:xfrm>
            <a:off x="2866735" y="5721460"/>
            <a:ext cx="2291236" cy="369332"/>
          </a:xfrm>
          <a:prstGeom prst="rect">
            <a:avLst/>
          </a:prstGeom>
          <a:noFill/>
        </p:spPr>
        <p:txBody>
          <a:bodyPr wrap="square" rtlCol="0">
            <a:spAutoFit/>
          </a:bodyPr>
          <a:lstStyle/>
          <a:p>
            <a:pPr algn="ctr"/>
            <a:r>
              <a:rPr lang="en-AU" b="1" dirty="0">
                <a:solidFill>
                  <a:srgbClr val="0070C0"/>
                </a:solidFill>
              </a:rPr>
              <a:t>butan-1-amine</a:t>
            </a:r>
          </a:p>
        </p:txBody>
      </p:sp>
      <p:sp>
        <p:nvSpPr>
          <p:cNvPr id="16" name="TextBox 15"/>
          <p:cNvSpPr txBox="1"/>
          <p:nvPr/>
        </p:nvSpPr>
        <p:spPr>
          <a:xfrm>
            <a:off x="8668930" y="5765017"/>
            <a:ext cx="2291236" cy="369332"/>
          </a:xfrm>
          <a:prstGeom prst="rect">
            <a:avLst/>
          </a:prstGeom>
          <a:noFill/>
        </p:spPr>
        <p:txBody>
          <a:bodyPr wrap="square" rtlCol="0">
            <a:spAutoFit/>
          </a:bodyPr>
          <a:lstStyle/>
          <a:p>
            <a:pPr algn="ctr"/>
            <a:r>
              <a:rPr lang="en-AU" b="1" dirty="0">
                <a:solidFill>
                  <a:srgbClr val="0070C0"/>
                </a:solidFill>
              </a:rPr>
              <a:t>butan-2-amine</a:t>
            </a:r>
          </a:p>
        </p:txBody>
      </p:sp>
    </p:spTree>
    <p:extLst>
      <p:ext uri="{BB962C8B-B14F-4D97-AF65-F5344CB8AC3E}">
        <p14:creationId xmlns:p14="http://schemas.microsoft.com/office/powerpoint/2010/main" val="341915043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81050" y="1204912"/>
            <a:ext cx="10629900" cy="4448175"/>
          </a:xfrm>
          <a:prstGeom prst="rect">
            <a:avLst/>
          </a:prstGeom>
        </p:spPr>
      </p:pic>
    </p:spTree>
    <p:extLst>
      <p:ext uri="{BB962C8B-B14F-4D97-AF65-F5344CB8AC3E}">
        <p14:creationId xmlns:p14="http://schemas.microsoft.com/office/powerpoint/2010/main" val="342287445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Properties of amines</a:t>
            </a:r>
          </a:p>
        </p:txBody>
      </p:sp>
      <p:sp>
        <p:nvSpPr>
          <p:cNvPr id="3" name="Content Placeholder 2"/>
          <p:cNvSpPr>
            <a:spLocks noGrp="1"/>
          </p:cNvSpPr>
          <p:nvPr>
            <p:ph idx="1"/>
          </p:nvPr>
        </p:nvSpPr>
        <p:spPr>
          <a:xfrm>
            <a:off x="855133" y="1845733"/>
            <a:ext cx="11296033" cy="4529667"/>
          </a:xfrm>
        </p:spPr>
        <p:txBody>
          <a:bodyPr>
            <a:normAutofit/>
          </a:bodyPr>
          <a:lstStyle/>
          <a:p>
            <a:pPr marL="0" lvl="0" indent="0" eaLnBrk="0" fontAlgn="base" hangingPunct="0">
              <a:lnSpc>
                <a:spcPct val="100000"/>
              </a:lnSpc>
              <a:spcBef>
                <a:spcPct val="0"/>
              </a:spcBef>
              <a:spcAft>
                <a:spcPct val="0"/>
              </a:spcAft>
              <a:buClrTx/>
              <a:buSzTx/>
              <a:buNone/>
            </a:pPr>
            <a:r>
              <a:rPr lang="en-AU" altLang="en-US" sz="1800" dirty="0">
                <a:solidFill>
                  <a:schemeClr val="tx1"/>
                </a:solidFill>
                <a:latin typeface="Arial" panose="020B0604020202020204" pitchFamily="34" charset="0"/>
                <a:ea typeface="Calibri" panose="020F0502020204030204" pitchFamily="34" charset="0"/>
                <a:cs typeface="Arial" panose="020B0604020202020204" pitchFamily="34" charset="0"/>
              </a:rPr>
              <a:t>Amines can form hydrogen bonds due to the presence of polar N-H bonds within the molecules. Hydrogen bonds formed by amines are weaker than the hydrogen bonding that exists in alcohols because nitrogen is less electronegative than oxygen. As a result, boiling points of amines are lower than similarly sized alcohols.</a:t>
            </a:r>
          </a:p>
          <a:p>
            <a:pPr marL="0" lvl="0" indent="0" eaLnBrk="0" fontAlgn="base" hangingPunct="0">
              <a:lnSpc>
                <a:spcPct val="100000"/>
              </a:lnSpc>
              <a:spcBef>
                <a:spcPct val="0"/>
              </a:spcBef>
              <a:spcAft>
                <a:spcPct val="0"/>
              </a:spcAft>
              <a:buClrTx/>
              <a:buSzTx/>
              <a:buNone/>
            </a:pPr>
            <a:endParaRPr lang="en-AU" altLang="en-US" sz="1800" dirty="0">
              <a:solidFill>
                <a:schemeClr val="tx1"/>
              </a:solidFill>
              <a:latin typeface="Arial" panose="020B0604020202020204" pitchFamily="34" charset="0"/>
              <a:cs typeface="Arial" panose="020B0604020202020204" pitchFamily="34" charset="0"/>
            </a:endParaRPr>
          </a:p>
          <a:p>
            <a:pPr marL="0" lvl="0" indent="0" eaLnBrk="0" fontAlgn="base" hangingPunct="0">
              <a:lnSpc>
                <a:spcPct val="100000"/>
              </a:lnSpc>
              <a:spcBef>
                <a:spcPct val="0"/>
              </a:spcBef>
              <a:spcAft>
                <a:spcPct val="0"/>
              </a:spcAft>
              <a:buClrTx/>
              <a:buSzTx/>
              <a:buNone/>
            </a:pPr>
            <a:endParaRPr lang="en-AU" altLang="en-US" sz="1100" dirty="0">
              <a:solidFill>
                <a:schemeClr val="tx1"/>
              </a:solidFill>
            </a:endParaRPr>
          </a:p>
          <a:p>
            <a:pPr marL="0" lvl="0" indent="0" eaLnBrk="0" fontAlgn="base" hangingPunct="0">
              <a:lnSpc>
                <a:spcPct val="100000"/>
              </a:lnSpc>
              <a:spcBef>
                <a:spcPct val="0"/>
              </a:spcBef>
              <a:spcAft>
                <a:spcPct val="0"/>
              </a:spcAft>
              <a:buClrTx/>
              <a:buSzTx/>
              <a:buNone/>
            </a:pPr>
            <a:r>
              <a:rPr lang="en-AU" altLang="en-US" sz="1800" b="1" dirty="0">
                <a:solidFill>
                  <a:schemeClr val="tx1"/>
                </a:solidFill>
                <a:latin typeface="Arial" panose="020B0604020202020204" pitchFamily="34" charset="0"/>
                <a:ea typeface="Calibri" panose="020F0502020204030204" pitchFamily="34" charset="0"/>
                <a:cs typeface="Arial" panose="020B0604020202020204" pitchFamily="34" charset="0"/>
              </a:rPr>
              <a:t>Boiling point trends: </a:t>
            </a:r>
            <a:r>
              <a:rPr lang="en-AU" altLang="en-US" sz="1800" dirty="0">
                <a:solidFill>
                  <a:schemeClr val="tx1"/>
                </a:solidFill>
                <a:latin typeface="Arial" panose="020B0604020202020204" pitchFamily="34" charset="0"/>
                <a:ea typeface="Calibri" panose="020F0502020204030204" pitchFamily="34" charset="0"/>
                <a:cs typeface="Arial" panose="020B0604020202020204" pitchFamily="34" charset="0"/>
              </a:rPr>
              <a:t>Hydrocarbons  &lt;  Aldehydes/Ketones/Esters  &lt;  Amines  &lt;  Alcohols  &lt;  Carboxylic acids</a:t>
            </a:r>
            <a:endParaRPr lang="en-AU" altLang="en-US" sz="1100" dirty="0">
              <a:solidFill>
                <a:schemeClr val="tx1"/>
              </a:solidFill>
            </a:endParaRPr>
          </a:p>
          <a:p>
            <a:pPr marL="0" lvl="0" indent="0" eaLnBrk="0" fontAlgn="base" hangingPunct="0">
              <a:lnSpc>
                <a:spcPct val="100000"/>
              </a:lnSpc>
              <a:spcBef>
                <a:spcPct val="0"/>
              </a:spcBef>
              <a:spcAft>
                <a:spcPct val="0"/>
              </a:spcAft>
              <a:buClrTx/>
              <a:buSzTx/>
              <a:buNone/>
            </a:pPr>
            <a:r>
              <a:rPr lang="en-AU" altLang="en-US" sz="1100" dirty="0">
                <a:solidFill>
                  <a:schemeClr val="tx1"/>
                </a:solidFill>
                <a:latin typeface="Arial" panose="020B0604020202020204" pitchFamily="34" charset="0"/>
                <a:ea typeface="Calibri" panose="020F0502020204030204" pitchFamily="34" charset="0"/>
                <a:cs typeface="Arial" panose="020B0604020202020204" pitchFamily="34" charset="0"/>
              </a:rPr>
              <a:t/>
            </a:r>
            <a:br>
              <a:rPr lang="en-AU" altLang="en-US" sz="1100" dirty="0">
                <a:solidFill>
                  <a:schemeClr val="tx1"/>
                </a:solidFill>
                <a:latin typeface="Arial" panose="020B0604020202020204" pitchFamily="34" charset="0"/>
                <a:ea typeface="Calibri" panose="020F0502020204030204" pitchFamily="34" charset="0"/>
                <a:cs typeface="Arial" panose="020B0604020202020204" pitchFamily="34" charset="0"/>
              </a:rPr>
            </a:br>
            <a:r>
              <a:rPr lang="en-AU" altLang="en-US" sz="1800" dirty="0">
                <a:solidFill>
                  <a:schemeClr val="tx1"/>
                </a:solidFill>
                <a:latin typeface="Arial" panose="020B0604020202020204" pitchFamily="34" charset="0"/>
                <a:ea typeface="Calibri" panose="020F0502020204030204" pitchFamily="34" charset="0"/>
                <a:cs typeface="Arial" panose="020B0604020202020204" pitchFamily="34" charset="0"/>
              </a:rPr>
              <a:t>                                      </a:t>
            </a:r>
            <a:r>
              <a:rPr lang="en-AU" altLang="en-US" sz="1400" dirty="0">
                <a:solidFill>
                  <a:schemeClr val="tx1"/>
                </a:solidFill>
                <a:latin typeface="Arial" panose="020B0604020202020204" pitchFamily="34" charset="0"/>
                <a:ea typeface="Calibri" panose="020F0502020204030204" pitchFamily="34" charset="0"/>
                <a:cs typeface="Arial" panose="020B0604020202020204" pitchFamily="34" charset="0"/>
              </a:rPr>
              <a:t>     </a:t>
            </a:r>
            <a:r>
              <a:rPr lang="en-AU" altLang="en-US" sz="1400" b="1" i="1" dirty="0">
                <a:solidFill>
                  <a:schemeClr val="tx1"/>
                </a:solidFill>
                <a:latin typeface="Arial" panose="020B0604020202020204" pitchFamily="34" charset="0"/>
                <a:ea typeface="Calibri" panose="020F0502020204030204" pitchFamily="34" charset="0"/>
                <a:cs typeface="Arial" panose="020B0604020202020204" pitchFamily="34" charset="0"/>
              </a:rPr>
              <a:t>dispersion</a:t>
            </a:r>
            <a:r>
              <a:rPr lang="en-AU" altLang="en-US" sz="1400" i="1" dirty="0">
                <a:solidFill>
                  <a:schemeClr val="tx1"/>
                </a:solidFill>
                <a:latin typeface="Arial" panose="020B0604020202020204" pitchFamily="34" charset="0"/>
                <a:ea typeface="Calibri" panose="020F0502020204030204" pitchFamily="34" charset="0"/>
                <a:cs typeface="Arial" panose="020B0604020202020204" pitchFamily="34" charset="0"/>
              </a:rPr>
              <a:t>                  </a:t>
            </a:r>
            <a:r>
              <a:rPr lang="en-AU" altLang="en-US" sz="1400" i="1" dirty="0" err="1">
                <a:solidFill>
                  <a:schemeClr val="tx1"/>
                </a:solidFill>
                <a:latin typeface="Arial" panose="020B0604020202020204" pitchFamily="34" charset="0"/>
                <a:ea typeface="Calibri" panose="020F0502020204030204" pitchFamily="34" charset="0"/>
                <a:cs typeface="Arial" panose="020B0604020202020204" pitchFamily="34" charset="0"/>
              </a:rPr>
              <a:t>dispersion</a:t>
            </a:r>
            <a:r>
              <a:rPr lang="en-AU" altLang="en-US" sz="1400" i="1" dirty="0">
                <a:solidFill>
                  <a:schemeClr val="tx1"/>
                </a:solidFill>
                <a:latin typeface="Arial" panose="020B0604020202020204" pitchFamily="34" charset="0"/>
                <a:ea typeface="Calibri" panose="020F0502020204030204" pitchFamily="34" charset="0"/>
                <a:cs typeface="Arial" panose="020B0604020202020204" pitchFamily="34" charset="0"/>
              </a:rPr>
              <a:t> + </a:t>
            </a:r>
            <a:r>
              <a:rPr lang="en-AU" altLang="en-US" sz="1400" b="1" i="1" dirty="0">
                <a:solidFill>
                  <a:schemeClr val="tx1"/>
                </a:solidFill>
                <a:latin typeface="Arial" panose="020B0604020202020204" pitchFamily="34" charset="0"/>
                <a:ea typeface="Calibri" panose="020F0502020204030204" pitchFamily="34" charset="0"/>
                <a:cs typeface="Arial" panose="020B0604020202020204" pitchFamily="34" charset="0"/>
              </a:rPr>
              <a:t>dipole-dipole</a:t>
            </a:r>
            <a:r>
              <a:rPr lang="en-AU" altLang="en-US" sz="1400" i="1" dirty="0">
                <a:solidFill>
                  <a:schemeClr val="tx1"/>
                </a:solidFill>
                <a:latin typeface="Arial" panose="020B0604020202020204" pitchFamily="34" charset="0"/>
                <a:ea typeface="Calibri" panose="020F0502020204030204" pitchFamily="34" charset="0"/>
                <a:cs typeface="Arial" panose="020B0604020202020204" pitchFamily="34" charset="0"/>
              </a:rPr>
              <a:t>               dispersion + dipole-dipole + </a:t>
            </a:r>
            <a:r>
              <a:rPr lang="en-AU" altLang="en-US" sz="1400" b="1" i="1" dirty="0">
                <a:solidFill>
                  <a:schemeClr val="tx1"/>
                </a:solidFill>
                <a:latin typeface="Arial" panose="020B0604020202020204" pitchFamily="34" charset="0"/>
                <a:ea typeface="Calibri" panose="020F0502020204030204" pitchFamily="34" charset="0"/>
                <a:cs typeface="Arial" panose="020B0604020202020204" pitchFamily="34" charset="0"/>
              </a:rPr>
              <a:t>hydrogen bonding</a:t>
            </a:r>
            <a:endParaRPr lang="en-AU" altLang="en-US" sz="1000" dirty="0">
              <a:solidFill>
                <a:schemeClr val="tx1"/>
              </a:solidFill>
            </a:endParaRPr>
          </a:p>
          <a:p>
            <a:pPr marL="0" lvl="0" indent="0" eaLnBrk="0" fontAlgn="base" hangingPunct="0">
              <a:lnSpc>
                <a:spcPct val="100000"/>
              </a:lnSpc>
              <a:spcBef>
                <a:spcPct val="0"/>
              </a:spcBef>
              <a:spcAft>
                <a:spcPct val="0"/>
              </a:spcAft>
              <a:buClrTx/>
              <a:buSzTx/>
              <a:buNone/>
            </a:pPr>
            <a:endParaRPr lang="en-AU" altLang="en-US" sz="1800" dirty="0">
              <a:solidFill>
                <a:schemeClr val="tx1"/>
              </a:solidFill>
              <a:latin typeface="Arial" panose="020B0604020202020204" pitchFamily="34" charset="0"/>
              <a:ea typeface="Calibri" panose="020F0502020204030204" pitchFamily="34" charset="0"/>
              <a:cs typeface="Arial" panose="020B0604020202020204" pitchFamily="34" charset="0"/>
            </a:endParaRPr>
          </a:p>
          <a:p>
            <a:pPr marL="0" lvl="0" indent="0" eaLnBrk="0" fontAlgn="base" hangingPunct="0">
              <a:lnSpc>
                <a:spcPct val="100000"/>
              </a:lnSpc>
              <a:spcBef>
                <a:spcPct val="0"/>
              </a:spcBef>
              <a:spcAft>
                <a:spcPct val="0"/>
              </a:spcAft>
              <a:buClrTx/>
              <a:buSzTx/>
              <a:buNone/>
            </a:pPr>
            <a:endParaRPr lang="en-AU" altLang="en-US" sz="1800" dirty="0">
              <a:solidFill>
                <a:schemeClr val="tx1"/>
              </a:solidFill>
              <a:latin typeface="Arial" panose="020B0604020202020204" pitchFamily="34" charset="0"/>
              <a:ea typeface="Calibri" panose="020F0502020204030204" pitchFamily="34" charset="0"/>
              <a:cs typeface="Arial" panose="020B0604020202020204" pitchFamily="34" charset="0"/>
            </a:endParaRPr>
          </a:p>
          <a:p>
            <a:r>
              <a:rPr lang="en-AU" sz="1800" b="1" dirty="0">
                <a:solidFill>
                  <a:schemeClr val="tx1"/>
                </a:solidFill>
                <a:latin typeface="Arial" panose="020B0604020202020204" pitchFamily="34" charset="0"/>
                <a:cs typeface="Arial" panose="020B0604020202020204" pitchFamily="34" charset="0"/>
              </a:rPr>
              <a:t>Odour: </a:t>
            </a:r>
            <a:r>
              <a:rPr lang="en-AU" sz="1800" dirty="0">
                <a:solidFill>
                  <a:schemeClr val="tx1"/>
                </a:solidFill>
                <a:latin typeface="Arial" panose="020B0604020202020204" pitchFamily="34" charset="0"/>
                <a:cs typeface="Arial" panose="020B0604020202020204" pitchFamily="34" charset="0"/>
              </a:rPr>
              <a:t>‘Fishy’ or ‘foul-smelling’ odour. </a:t>
            </a:r>
            <a:r>
              <a:rPr lang="en-AU" sz="1800" i="1" dirty="0">
                <a:solidFill>
                  <a:schemeClr val="tx1"/>
                </a:solidFill>
                <a:latin typeface="Arial" panose="020B0604020202020204" pitchFamily="34" charset="0"/>
                <a:cs typeface="Arial" panose="020B0604020202020204" pitchFamily="34" charset="0"/>
              </a:rPr>
              <a:t>(Volatile amines are produced during animal decomposition)</a:t>
            </a:r>
            <a:endParaRPr lang="en-AU" sz="1800" dirty="0">
              <a:solidFill>
                <a:schemeClr val="tx1"/>
              </a:solidFill>
              <a:latin typeface="Arial" panose="020B0604020202020204" pitchFamily="34" charset="0"/>
              <a:cs typeface="Arial" panose="020B0604020202020204" pitchFamily="34" charset="0"/>
            </a:endParaRPr>
          </a:p>
          <a:p>
            <a:r>
              <a:rPr lang="en-AU" sz="800" b="1" dirty="0">
                <a:solidFill>
                  <a:schemeClr val="tx1"/>
                </a:solidFill>
                <a:latin typeface="Arial" panose="020B0604020202020204" pitchFamily="34" charset="0"/>
                <a:cs typeface="Arial" panose="020B0604020202020204" pitchFamily="34" charset="0"/>
              </a:rPr>
              <a:t> </a:t>
            </a:r>
            <a:endParaRPr lang="en-AU" sz="300" dirty="0">
              <a:solidFill>
                <a:schemeClr val="tx1"/>
              </a:solidFill>
              <a:latin typeface="Arial" panose="020B0604020202020204" pitchFamily="34" charset="0"/>
              <a:cs typeface="Arial" panose="020B0604020202020204" pitchFamily="34" charset="0"/>
            </a:endParaRPr>
          </a:p>
          <a:p>
            <a:r>
              <a:rPr lang="en-AU" sz="1800" b="1" dirty="0">
                <a:solidFill>
                  <a:schemeClr val="tx1"/>
                </a:solidFill>
                <a:latin typeface="Arial" panose="020B0604020202020204" pitchFamily="34" charset="0"/>
                <a:cs typeface="Arial" panose="020B0604020202020204" pitchFamily="34" charset="0"/>
              </a:rPr>
              <a:t>Basic: </a:t>
            </a:r>
            <a:r>
              <a:rPr lang="en-AU" sz="1800" dirty="0">
                <a:solidFill>
                  <a:schemeClr val="tx1"/>
                </a:solidFill>
                <a:latin typeface="Arial" panose="020B0604020202020204" pitchFamily="34" charset="0"/>
                <a:cs typeface="Arial" panose="020B0604020202020204" pitchFamily="34" charset="0"/>
              </a:rPr>
              <a:t>A key feature of amines is their ability to act as bases in the same manner as ammonia. Amines can act as proton acceptors as shown in the following equation:</a:t>
            </a:r>
          </a:p>
          <a:p>
            <a:pPr marL="0" lvl="0" indent="0" algn="ctr" eaLnBrk="0" fontAlgn="base" hangingPunct="0">
              <a:lnSpc>
                <a:spcPct val="100000"/>
              </a:lnSpc>
              <a:spcBef>
                <a:spcPct val="0"/>
              </a:spcBef>
              <a:spcAft>
                <a:spcPct val="0"/>
              </a:spcAft>
              <a:buClrTx/>
              <a:buSzTx/>
              <a:buNone/>
            </a:pPr>
            <a:r>
              <a:rPr lang="en-AU" altLang="en-US" sz="2800" b="1" dirty="0">
                <a:solidFill>
                  <a:schemeClr val="tx1"/>
                </a:solidFill>
                <a:latin typeface="Arial" panose="020B0604020202020204" pitchFamily="34" charset="0"/>
                <a:ea typeface="Calibri" panose="020F0502020204030204" pitchFamily="34" charset="0"/>
                <a:cs typeface="Arial" panose="020B0604020202020204" pitchFamily="34" charset="0"/>
              </a:rPr>
              <a:t>RNH</a:t>
            </a:r>
            <a:r>
              <a:rPr lang="en-AU" altLang="en-US" sz="2800" b="1" baseline="-30000" dirty="0">
                <a:solidFill>
                  <a:schemeClr val="tx1"/>
                </a:solidFill>
                <a:latin typeface="Arial" panose="020B0604020202020204" pitchFamily="34" charset="0"/>
                <a:ea typeface="Calibri" panose="020F0502020204030204" pitchFamily="34" charset="0"/>
                <a:cs typeface="Arial" panose="020B0604020202020204" pitchFamily="34" charset="0"/>
              </a:rPr>
              <a:t>2</a:t>
            </a:r>
            <a:r>
              <a:rPr lang="en-AU" altLang="en-US" sz="2800" b="1" dirty="0">
                <a:solidFill>
                  <a:schemeClr val="tx1"/>
                </a:solidFill>
                <a:latin typeface="Arial" panose="020B0604020202020204" pitchFamily="34" charset="0"/>
                <a:ea typeface="Calibri" panose="020F0502020204030204" pitchFamily="34" charset="0"/>
                <a:cs typeface="Arial" panose="020B0604020202020204" pitchFamily="34" charset="0"/>
              </a:rPr>
              <a:t>   +   H</a:t>
            </a:r>
            <a:r>
              <a:rPr lang="en-AU" altLang="en-US" sz="2800" b="1" baseline="30000" dirty="0">
                <a:solidFill>
                  <a:schemeClr val="tx1"/>
                </a:solidFill>
                <a:latin typeface="Arial" panose="020B0604020202020204" pitchFamily="34" charset="0"/>
                <a:ea typeface="Calibri" panose="020F0502020204030204" pitchFamily="34" charset="0"/>
                <a:cs typeface="Arial" panose="020B0604020202020204" pitchFamily="34" charset="0"/>
              </a:rPr>
              <a:t>+</a:t>
            </a:r>
            <a:r>
              <a:rPr lang="en-AU" altLang="en-US" sz="2800" b="1" dirty="0">
                <a:solidFill>
                  <a:schemeClr val="tx1"/>
                </a:solidFill>
                <a:latin typeface="Arial" panose="020B0604020202020204" pitchFamily="34" charset="0"/>
                <a:ea typeface="Calibri" panose="020F0502020204030204" pitchFamily="34" charset="0"/>
                <a:cs typeface="Arial" panose="020B0604020202020204" pitchFamily="34" charset="0"/>
              </a:rPr>
              <a:t>   </a:t>
            </a:r>
            <a:r>
              <a:rPr lang="en-AU" altLang="en-US" sz="2800" b="1" dirty="0">
                <a:solidFill>
                  <a:schemeClr val="tx1"/>
                </a:solidFill>
                <a:latin typeface="Calibri" panose="020F0502020204030204" pitchFamily="34" charset="0"/>
                <a:ea typeface="Calibri" panose="020F0502020204030204" pitchFamily="34" charset="0"/>
                <a:cs typeface="Cambria Math" panose="02040503050406030204" pitchFamily="18" charset="0"/>
              </a:rPr>
              <a:t>⇌</a:t>
            </a:r>
            <a:r>
              <a:rPr lang="en-AU" altLang="en-US" sz="2800" b="1" dirty="0">
                <a:solidFill>
                  <a:schemeClr val="tx1"/>
                </a:solidFill>
                <a:latin typeface="Arial" panose="020B0604020202020204" pitchFamily="34" charset="0"/>
                <a:ea typeface="Calibri" panose="020F0502020204030204" pitchFamily="34" charset="0"/>
                <a:cs typeface="Arial" panose="020B0604020202020204" pitchFamily="34" charset="0"/>
              </a:rPr>
              <a:t>   RNH</a:t>
            </a:r>
            <a:r>
              <a:rPr lang="en-AU" altLang="en-US" sz="2800" b="1" baseline="-30000" dirty="0">
                <a:solidFill>
                  <a:schemeClr val="tx1"/>
                </a:solidFill>
                <a:latin typeface="Arial" panose="020B0604020202020204" pitchFamily="34" charset="0"/>
                <a:ea typeface="Calibri" panose="020F0502020204030204" pitchFamily="34" charset="0"/>
                <a:cs typeface="Arial" panose="020B0604020202020204" pitchFamily="34" charset="0"/>
              </a:rPr>
              <a:t>3</a:t>
            </a:r>
            <a:r>
              <a:rPr lang="en-AU" altLang="en-US" sz="2800" b="1" baseline="30000" dirty="0">
                <a:solidFill>
                  <a:schemeClr val="tx1"/>
                </a:solidFill>
                <a:latin typeface="Arial" panose="020B0604020202020204" pitchFamily="34" charset="0"/>
                <a:ea typeface="Calibri" panose="020F0502020204030204" pitchFamily="34" charset="0"/>
                <a:cs typeface="Arial" panose="020B0604020202020204" pitchFamily="34" charset="0"/>
              </a:rPr>
              <a:t>+</a:t>
            </a:r>
            <a:endParaRPr lang="en-AU" altLang="en-US" sz="4400" dirty="0">
              <a:solidFill>
                <a:schemeClr val="tx1"/>
              </a:solidFill>
              <a:latin typeface="Arial" panose="020B0604020202020204" pitchFamily="34" charset="0"/>
            </a:endParaRPr>
          </a:p>
        </p:txBody>
      </p:sp>
      <p:sp>
        <p:nvSpPr>
          <p:cNvPr id="6"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9" name="Right Brace 8"/>
          <p:cNvSpPr/>
          <p:nvPr/>
        </p:nvSpPr>
        <p:spPr>
          <a:xfrm rot="5400000">
            <a:off x="3792457" y="2801860"/>
            <a:ext cx="167642" cy="1467643"/>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
        <p:nvSpPr>
          <p:cNvPr id="19" name="Right Brace 18"/>
          <p:cNvSpPr/>
          <p:nvPr/>
        </p:nvSpPr>
        <p:spPr>
          <a:xfrm rot="5400000">
            <a:off x="6204081" y="2222637"/>
            <a:ext cx="135468" cy="2658268"/>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
        <p:nvSpPr>
          <p:cNvPr id="20" name="Right Brace 19"/>
          <p:cNvSpPr/>
          <p:nvPr/>
        </p:nvSpPr>
        <p:spPr>
          <a:xfrm rot="5400000">
            <a:off x="9961695" y="1560648"/>
            <a:ext cx="135466" cy="3982244"/>
          </a:xfrm>
          <a:prstGeom prst="righ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AU"/>
          </a:p>
        </p:txBody>
      </p:sp>
    </p:spTree>
    <p:extLst>
      <p:ext uri="{BB962C8B-B14F-4D97-AF65-F5344CB8AC3E}">
        <p14:creationId xmlns:p14="http://schemas.microsoft.com/office/powerpoint/2010/main" val="20875927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p:nvPr/>
        </p:nvPicPr>
        <p:blipFill rotWithShape="1">
          <a:blip r:embed="rId2"/>
          <a:srcRect t="13890" b="8324"/>
          <a:stretch/>
        </p:blipFill>
        <p:spPr bwMode="auto">
          <a:xfrm>
            <a:off x="0" y="982254"/>
            <a:ext cx="12039600" cy="5266976"/>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5687449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rotWithShape="1">
          <a:blip r:embed="rId2"/>
          <a:srcRect t="15293" b="11749"/>
          <a:stretch/>
        </p:blipFill>
        <p:spPr bwMode="auto">
          <a:xfrm>
            <a:off x="-187339" y="958850"/>
            <a:ext cx="12611452" cy="51752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9908260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66700" y="500062"/>
            <a:ext cx="11684030" cy="5253038"/>
          </a:xfrm>
          <a:prstGeom prst="rect">
            <a:avLst/>
          </a:prstGeom>
        </p:spPr>
      </p:pic>
      <p:pic>
        <p:nvPicPr>
          <p:cNvPr id="70658" name="Picture 2" descr="http://img1.mnimgs.com/img/shared/content_ck_images/images/5%282%29.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31925" y="1314450"/>
            <a:ext cx="3659863" cy="1600200"/>
          </a:xfrm>
          <a:prstGeom prst="rect">
            <a:avLst/>
          </a:prstGeom>
          <a:noFill/>
          <a:extLst>
            <a:ext uri="{909E8E84-426E-40DD-AFC4-6F175D3DCCD1}">
              <a14:hiddenFill xmlns:a14="http://schemas.microsoft.com/office/drawing/2010/main">
                <a:solidFill>
                  <a:srgbClr val="FFFFFF"/>
                </a:solidFill>
              </a14:hiddenFill>
            </a:ext>
          </a:extLst>
        </p:spPr>
      </p:pic>
      <p:pic>
        <p:nvPicPr>
          <p:cNvPr id="70660" name="Picture 4" descr="https://o.quizlet.com/dVZqDmg4mSzqwPfCgHocJQ_m.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8374" y="1314450"/>
            <a:ext cx="3216275" cy="162154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5"/>
          <a:stretch>
            <a:fillRect/>
          </a:stretch>
        </p:blipFill>
        <p:spPr>
          <a:xfrm>
            <a:off x="517524" y="4005262"/>
            <a:ext cx="11274425" cy="1317441"/>
          </a:xfrm>
          <a:prstGeom prst="rect">
            <a:avLst/>
          </a:prstGeom>
        </p:spPr>
      </p:pic>
    </p:spTree>
    <p:extLst>
      <p:ext uri="{BB962C8B-B14F-4D97-AF65-F5344CB8AC3E}">
        <p14:creationId xmlns:p14="http://schemas.microsoft.com/office/powerpoint/2010/main" val="26878403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0658"/>
                                        </p:tgtEl>
                                        <p:attrNameLst>
                                          <p:attrName>style.visibility</p:attrName>
                                        </p:attrNameLst>
                                      </p:cBhvr>
                                      <p:to>
                                        <p:strVal val="visible"/>
                                      </p:to>
                                    </p:set>
                                    <p:animEffect transition="in" filter="fade">
                                      <p:cBhvr>
                                        <p:cTn id="7" dur="500"/>
                                        <p:tgtEl>
                                          <p:spTgt spid="7065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0660"/>
                                        </p:tgtEl>
                                        <p:attrNameLst>
                                          <p:attrName>style.visibility</p:attrName>
                                        </p:attrNameLst>
                                      </p:cBhvr>
                                      <p:to>
                                        <p:strVal val="visible"/>
                                      </p:to>
                                    </p:set>
                                    <p:animEffect transition="in" filter="fade">
                                      <p:cBhvr>
                                        <p:cTn id="12" dur="500"/>
                                        <p:tgtEl>
                                          <p:spTgt spid="706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Amino acids</a:t>
            </a:r>
          </a:p>
        </p:txBody>
      </p:sp>
      <p:sp>
        <p:nvSpPr>
          <p:cNvPr id="3" name="Content Placeholder 2"/>
          <p:cNvSpPr>
            <a:spLocks noGrp="1"/>
          </p:cNvSpPr>
          <p:nvPr>
            <p:ph idx="1"/>
          </p:nvPr>
        </p:nvSpPr>
        <p:spPr/>
        <p:txBody>
          <a:bodyPr/>
          <a:lstStyle/>
          <a:p>
            <a:r>
              <a:rPr lang="en-AU" dirty="0"/>
              <a:t>Amino acids are molecules which have an </a:t>
            </a:r>
            <a:r>
              <a:rPr lang="en-AU" b="1" dirty="0">
                <a:solidFill>
                  <a:srgbClr val="0033CC"/>
                </a:solidFill>
              </a:rPr>
              <a:t>amine group</a:t>
            </a:r>
            <a:r>
              <a:rPr lang="en-AU" dirty="0"/>
              <a:t> AND a </a:t>
            </a:r>
            <a:r>
              <a:rPr lang="en-AU" b="1" dirty="0">
                <a:solidFill>
                  <a:srgbClr val="FF0000"/>
                </a:solidFill>
              </a:rPr>
              <a:t>carboxylic acid group</a:t>
            </a:r>
            <a:r>
              <a:rPr lang="en-AU" dirty="0">
                <a:solidFill>
                  <a:srgbClr val="FF0000"/>
                </a:solidFill>
              </a:rPr>
              <a:t>.</a:t>
            </a:r>
          </a:p>
          <a:p>
            <a:endParaRPr lang="en-AU" dirty="0"/>
          </a:p>
          <a:p>
            <a:endParaRPr lang="en-AU" dirty="0"/>
          </a:p>
          <a:p>
            <a:endParaRPr lang="en-AU" dirty="0"/>
          </a:p>
          <a:p>
            <a:endParaRPr lang="en-AU" dirty="0"/>
          </a:p>
          <a:p>
            <a:endParaRPr lang="en-AU" dirty="0"/>
          </a:p>
          <a:p>
            <a:endParaRPr lang="en-AU" dirty="0"/>
          </a:p>
          <a:p>
            <a:endParaRPr lang="en-AU" dirty="0"/>
          </a:p>
        </p:txBody>
      </p:sp>
      <p:pic>
        <p:nvPicPr>
          <p:cNvPr id="67586" name="Picture 2" descr="https://upload.wikimedia.org/wikipedia/commons/thumb/6/6b/Glycine-2D-flat.png/640px-Glycine-2D-flat.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08157" y="2360915"/>
            <a:ext cx="3883343" cy="2336074"/>
          </a:xfrm>
          <a:prstGeom prst="rect">
            <a:avLst/>
          </a:prstGeom>
          <a:noFill/>
          <a:extLst>
            <a:ext uri="{909E8E84-426E-40DD-AFC4-6F175D3DCCD1}">
              <a14:hiddenFill xmlns:a14="http://schemas.microsoft.com/office/drawing/2010/main">
                <a:solidFill>
                  <a:srgbClr val="FFFFFF"/>
                </a:solidFill>
              </a14:hiddenFill>
            </a:ext>
          </a:extLst>
        </p:spPr>
      </p:pic>
      <p:sp>
        <p:nvSpPr>
          <p:cNvPr id="4" name="Oval 3"/>
          <p:cNvSpPr/>
          <p:nvPr/>
        </p:nvSpPr>
        <p:spPr>
          <a:xfrm>
            <a:off x="4019550" y="2360915"/>
            <a:ext cx="1362075" cy="2336074"/>
          </a:xfrm>
          <a:prstGeom prst="ellipse">
            <a:avLst/>
          </a:prstGeom>
          <a:noFill/>
          <a:ln>
            <a:solidFill>
              <a:srgbClr val="0033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Oval 6"/>
          <p:cNvSpPr/>
          <p:nvPr/>
        </p:nvSpPr>
        <p:spPr>
          <a:xfrm>
            <a:off x="6249828" y="2360915"/>
            <a:ext cx="2230279" cy="233607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TextBox 7"/>
          <p:cNvSpPr txBox="1"/>
          <p:nvPr/>
        </p:nvSpPr>
        <p:spPr>
          <a:xfrm>
            <a:off x="4815257" y="4729043"/>
            <a:ext cx="2291236" cy="369332"/>
          </a:xfrm>
          <a:prstGeom prst="rect">
            <a:avLst/>
          </a:prstGeom>
          <a:noFill/>
        </p:spPr>
        <p:txBody>
          <a:bodyPr wrap="square" rtlCol="0">
            <a:spAutoFit/>
          </a:bodyPr>
          <a:lstStyle/>
          <a:p>
            <a:pPr algn="ctr"/>
            <a:r>
              <a:rPr lang="en-AU" b="1" dirty="0">
                <a:solidFill>
                  <a:srgbClr val="0070C0"/>
                </a:solidFill>
              </a:rPr>
              <a:t>glycine</a:t>
            </a:r>
          </a:p>
        </p:txBody>
      </p:sp>
    </p:spTree>
    <p:extLst>
      <p:ext uri="{BB962C8B-B14F-4D97-AF65-F5344CB8AC3E}">
        <p14:creationId xmlns:p14="http://schemas.microsoft.com/office/powerpoint/2010/main" val="8454227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Amino acids</a:t>
            </a:r>
          </a:p>
        </p:txBody>
      </p:sp>
      <p:sp>
        <p:nvSpPr>
          <p:cNvPr id="3" name="Content Placeholder 2"/>
          <p:cNvSpPr>
            <a:spLocks noGrp="1"/>
          </p:cNvSpPr>
          <p:nvPr>
            <p:ph idx="1"/>
          </p:nvPr>
        </p:nvSpPr>
        <p:spPr/>
        <p:txBody>
          <a:bodyPr/>
          <a:lstStyle/>
          <a:p>
            <a:r>
              <a:rPr lang="en-AU" dirty="0"/>
              <a:t>Amino acids can be classified based on how many carbons separate the two groups. </a:t>
            </a:r>
          </a:p>
        </p:txBody>
      </p:sp>
      <p:pic>
        <p:nvPicPr>
          <p:cNvPr id="5" name="Picture 4"/>
          <p:cNvPicPr>
            <a:picLocks noChangeAspect="1"/>
          </p:cNvPicPr>
          <p:nvPr/>
        </p:nvPicPr>
        <p:blipFill>
          <a:blip r:embed="rId2"/>
          <a:stretch>
            <a:fillRect/>
          </a:stretch>
        </p:blipFill>
        <p:spPr>
          <a:xfrm>
            <a:off x="300037" y="2900362"/>
            <a:ext cx="5629275" cy="2066925"/>
          </a:xfrm>
          <a:prstGeom prst="rect">
            <a:avLst/>
          </a:prstGeom>
        </p:spPr>
      </p:pic>
      <p:sp>
        <p:nvSpPr>
          <p:cNvPr id="6" name="TextBox 5"/>
          <p:cNvSpPr txBox="1"/>
          <p:nvPr/>
        </p:nvSpPr>
        <p:spPr>
          <a:xfrm>
            <a:off x="3676651" y="2531030"/>
            <a:ext cx="1031082" cy="369332"/>
          </a:xfrm>
          <a:prstGeom prst="rect">
            <a:avLst/>
          </a:prstGeom>
          <a:noFill/>
        </p:spPr>
        <p:txBody>
          <a:bodyPr wrap="square" rtlCol="0">
            <a:spAutoFit/>
          </a:bodyPr>
          <a:lstStyle/>
          <a:p>
            <a:r>
              <a:rPr lang="el-GR" dirty="0">
                <a:solidFill>
                  <a:srgbClr val="FF0000"/>
                </a:solidFill>
              </a:rPr>
              <a:t>α</a:t>
            </a:r>
            <a:r>
              <a:rPr lang="en-AU" dirty="0">
                <a:solidFill>
                  <a:srgbClr val="FF0000"/>
                </a:solidFill>
              </a:rPr>
              <a:t> carbon</a:t>
            </a:r>
          </a:p>
        </p:txBody>
      </p:sp>
      <p:sp>
        <p:nvSpPr>
          <p:cNvPr id="10" name="TextBox 9"/>
          <p:cNvSpPr txBox="1"/>
          <p:nvPr/>
        </p:nvSpPr>
        <p:spPr>
          <a:xfrm>
            <a:off x="2678907" y="2531030"/>
            <a:ext cx="1073944" cy="369332"/>
          </a:xfrm>
          <a:prstGeom prst="rect">
            <a:avLst/>
          </a:prstGeom>
          <a:noFill/>
        </p:spPr>
        <p:txBody>
          <a:bodyPr wrap="square" rtlCol="0">
            <a:spAutoFit/>
          </a:bodyPr>
          <a:lstStyle/>
          <a:p>
            <a:r>
              <a:rPr lang="el-GR" dirty="0">
                <a:solidFill>
                  <a:srgbClr val="FF0000"/>
                </a:solidFill>
              </a:rPr>
              <a:t>β</a:t>
            </a:r>
            <a:r>
              <a:rPr lang="en-AU" dirty="0">
                <a:solidFill>
                  <a:srgbClr val="FF0000"/>
                </a:solidFill>
              </a:rPr>
              <a:t> carbon</a:t>
            </a:r>
          </a:p>
        </p:txBody>
      </p:sp>
      <p:sp>
        <p:nvSpPr>
          <p:cNvPr id="11" name="TextBox 10"/>
          <p:cNvSpPr txBox="1"/>
          <p:nvPr/>
        </p:nvSpPr>
        <p:spPr>
          <a:xfrm>
            <a:off x="1724026" y="2531030"/>
            <a:ext cx="1097756" cy="369332"/>
          </a:xfrm>
          <a:prstGeom prst="rect">
            <a:avLst/>
          </a:prstGeom>
          <a:noFill/>
        </p:spPr>
        <p:txBody>
          <a:bodyPr wrap="square" rtlCol="0">
            <a:spAutoFit/>
          </a:bodyPr>
          <a:lstStyle/>
          <a:p>
            <a:r>
              <a:rPr lang="el-GR" dirty="0">
                <a:solidFill>
                  <a:srgbClr val="FF0000"/>
                </a:solidFill>
              </a:rPr>
              <a:t>γ</a:t>
            </a:r>
            <a:r>
              <a:rPr lang="en-AU" dirty="0">
                <a:solidFill>
                  <a:srgbClr val="FF0000"/>
                </a:solidFill>
              </a:rPr>
              <a:t> carbon</a:t>
            </a:r>
          </a:p>
        </p:txBody>
      </p:sp>
      <p:sp>
        <p:nvSpPr>
          <p:cNvPr id="15" name="Freeform 14"/>
          <p:cNvSpPr/>
          <p:nvPr/>
        </p:nvSpPr>
        <p:spPr>
          <a:xfrm>
            <a:off x="3752850" y="2857500"/>
            <a:ext cx="390525" cy="895350"/>
          </a:xfrm>
          <a:custGeom>
            <a:avLst/>
            <a:gdLst>
              <a:gd name="connsiteX0" fmla="*/ 361950 w 361950"/>
              <a:gd name="connsiteY0" fmla="*/ 0 h 819150"/>
              <a:gd name="connsiteX1" fmla="*/ 257175 w 361950"/>
              <a:gd name="connsiteY1" fmla="*/ 504825 h 819150"/>
              <a:gd name="connsiteX2" fmla="*/ 0 w 361950"/>
              <a:gd name="connsiteY2" fmla="*/ 819150 h 819150"/>
            </a:gdLst>
            <a:ahLst/>
            <a:cxnLst>
              <a:cxn ang="0">
                <a:pos x="connsiteX0" y="connsiteY0"/>
              </a:cxn>
              <a:cxn ang="0">
                <a:pos x="connsiteX1" y="connsiteY1"/>
              </a:cxn>
              <a:cxn ang="0">
                <a:pos x="connsiteX2" y="connsiteY2"/>
              </a:cxn>
            </a:cxnLst>
            <a:rect l="l" t="t" r="r" b="b"/>
            <a:pathLst>
              <a:path w="361950" h="819150">
                <a:moveTo>
                  <a:pt x="361950" y="0"/>
                </a:moveTo>
                <a:cubicBezTo>
                  <a:pt x="339725" y="184150"/>
                  <a:pt x="317500" y="368300"/>
                  <a:pt x="257175" y="504825"/>
                </a:cubicBezTo>
                <a:cubicBezTo>
                  <a:pt x="196850" y="641350"/>
                  <a:pt x="98425" y="730250"/>
                  <a:pt x="0" y="819150"/>
                </a:cubicBezTo>
              </a:path>
            </a:pathLst>
          </a:custGeom>
          <a:noFill/>
          <a:ln>
            <a:solidFill>
              <a:srgbClr val="FF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7" name="Freeform 16"/>
          <p:cNvSpPr/>
          <p:nvPr/>
        </p:nvSpPr>
        <p:spPr>
          <a:xfrm>
            <a:off x="2821781" y="2857500"/>
            <a:ext cx="390525" cy="895350"/>
          </a:xfrm>
          <a:custGeom>
            <a:avLst/>
            <a:gdLst>
              <a:gd name="connsiteX0" fmla="*/ 361950 w 361950"/>
              <a:gd name="connsiteY0" fmla="*/ 0 h 819150"/>
              <a:gd name="connsiteX1" fmla="*/ 257175 w 361950"/>
              <a:gd name="connsiteY1" fmla="*/ 504825 h 819150"/>
              <a:gd name="connsiteX2" fmla="*/ 0 w 361950"/>
              <a:gd name="connsiteY2" fmla="*/ 819150 h 819150"/>
            </a:gdLst>
            <a:ahLst/>
            <a:cxnLst>
              <a:cxn ang="0">
                <a:pos x="connsiteX0" y="connsiteY0"/>
              </a:cxn>
              <a:cxn ang="0">
                <a:pos x="connsiteX1" y="connsiteY1"/>
              </a:cxn>
              <a:cxn ang="0">
                <a:pos x="connsiteX2" y="connsiteY2"/>
              </a:cxn>
            </a:cxnLst>
            <a:rect l="l" t="t" r="r" b="b"/>
            <a:pathLst>
              <a:path w="361950" h="819150">
                <a:moveTo>
                  <a:pt x="361950" y="0"/>
                </a:moveTo>
                <a:cubicBezTo>
                  <a:pt x="339725" y="184150"/>
                  <a:pt x="317500" y="368300"/>
                  <a:pt x="257175" y="504825"/>
                </a:cubicBezTo>
                <a:cubicBezTo>
                  <a:pt x="196850" y="641350"/>
                  <a:pt x="98425" y="730250"/>
                  <a:pt x="0" y="819150"/>
                </a:cubicBezTo>
              </a:path>
            </a:pathLst>
          </a:custGeom>
          <a:noFill/>
          <a:ln>
            <a:solidFill>
              <a:srgbClr val="FF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8" name="Freeform 17"/>
          <p:cNvSpPr/>
          <p:nvPr/>
        </p:nvSpPr>
        <p:spPr>
          <a:xfrm>
            <a:off x="1984772" y="2822019"/>
            <a:ext cx="390525" cy="895350"/>
          </a:xfrm>
          <a:custGeom>
            <a:avLst/>
            <a:gdLst>
              <a:gd name="connsiteX0" fmla="*/ 361950 w 361950"/>
              <a:gd name="connsiteY0" fmla="*/ 0 h 819150"/>
              <a:gd name="connsiteX1" fmla="*/ 257175 w 361950"/>
              <a:gd name="connsiteY1" fmla="*/ 504825 h 819150"/>
              <a:gd name="connsiteX2" fmla="*/ 0 w 361950"/>
              <a:gd name="connsiteY2" fmla="*/ 819150 h 819150"/>
            </a:gdLst>
            <a:ahLst/>
            <a:cxnLst>
              <a:cxn ang="0">
                <a:pos x="connsiteX0" y="connsiteY0"/>
              </a:cxn>
              <a:cxn ang="0">
                <a:pos x="connsiteX1" y="connsiteY1"/>
              </a:cxn>
              <a:cxn ang="0">
                <a:pos x="connsiteX2" y="connsiteY2"/>
              </a:cxn>
            </a:cxnLst>
            <a:rect l="l" t="t" r="r" b="b"/>
            <a:pathLst>
              <a:path w="361950" h="819150">
                <a:moveTo>
                  <a:pt x="361950" y="0"/>
                </a:moveTo>
                <a:cubicBezTo>
                  <a:pt x="339725" y="184150"/>
                  <a:pt x="317500" y="368300"/>
                  <a:pt x="257175" y="504825"/>
                </a:cubicBezTo>
                <a:cubicBezTo>
                  <a:pt x="196850" y="641350"/>
                  <a:pt x="98425" y="730250"/>
                  <a:pt x="0" y="819150"/>
                </a:cubicBezTo>
              </a:path>
            </a:pathLst>
          </a:custGeom>
          <a:noFill/>
          <a:ln>
            <a:solidFill>
              <a:srgbClr val="FF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19" name="Picture 18"/>
          <p:cNvPicPr>
            <a:picLocks noChangeAspect="1"/>
          </p:cNvPicPr>
          <p:nvPr/>
        </p:nvPicPr>
        <p:blipFill>
          <a:blip r:embed="rId3"/>
          <a:stretch>
            <a:fillRect/>
          </a:stretch>
        </p:blipFill>
        <p:spPr>
          <a:xfrm>
            <a:off x="6688455" y="2822019"/>
            <a:ext cx="4886325" cy="2085975"/>
          </a:xfrm>
          <a:prstGeom prst="rect">
            <a:avLst/>
          </a:prstGeom>
        </p:spPr>
      </p:pic>
      <p:sp>
        <p:nvSpPr>
          <p:cNvPr id="37" name="TextBox 36"/>
          <p:cNvSpPr txBox="1"/>
          <p:nvPr/>
        </p:nvSpPr>
        <p:spPr>
          <a:xfrm>
            <a:off x="9382364" y="2452687"/>
            <a:ext cx="1031082" cy="369332"/>
          </a:xfrm>
          <a:prstGeom prst="rect">
            <a:avLst/>
          </a:prstGeom>
          <a:noFill/>
        </p:spPr>
        <p:txBody>
          <a:bodyPr wrap="square" rtlCol="0">
            <a:spAutoFit/>
          </a:bodyPr>
          <a:lstStyle/>
          <a:p>
            <a:r>
              <a:rPr lang="el-GR" dirty="0">
                <a:solidFill>
                  <a:srgbClr val="FF0000"/>
                </a:solidFill>
              </a:rPr>
              <a:t>α</a:t>
            </a:r>
            <a:r>
              <a:rPr lang="en-AU" dirty="0">
                <a:solidFill>
                  <a:srgbClr val="FF0000"/>
                </a:solidFill>
              </a:rPr>
              <a:t> carbon</a:t>
            </a:r>
          </a:p>
        </p:txBody>
      </p:sp>
      <p:sp>
        <p:nvSpPr>
          <p:cNvPr id="38" name="TextBox 37"/>
          <p:cNvSpPr txBox="1"/>
          <p:nvPr/>
        </p:nvSpPr>
        <p:spPr>
          <a:xfrm>
            <a:off x="8384620" y="2452687"/>
            <a:ext cx="1073944" cy="369332"/>
          </a:xfrm>
          <a:prstGeom prst="rect">
            <a:avLst/>
          </a:prstGeom>
          <a:noFill/>
        </p:spPr>
        <p:txBody>
          <a:bodyPr wrap="square" rtlCol="0">
            <a:spAutoFit/>
          </a:bodyPr>
          <a:lstStyle/>
          <a:p>
            <a:r>
              <a:rPr lang="el-GR" dirty="0">
                <a:solidFill>
                  <a:srgbClr val="FF0000"/>
                </a:solidFill>
              </a:rPr>
              <a:t>β</a:t>
            </a:r>
            <a:r>
              <a:rPr lang="en-AU" dirty="0">
                <a:solidFill>
                  <a:srgbClr val="FF0000"/>
                </a:solidFill>
              </a:rPr>
              <a:t> carbon</a:t>
            </a:r>
          </a:p>
        </p:txBody>
      </p:sp>
      <p:sp>
        <p:nvSpPr>
          <p:cNvPr id="39" name="Freeform 38"/>
          <p:cNvSpPr/>
          <p:nvPr/>
        </p:nvSpPr>
        <p:spPr>
          <a:xfrm>
            <a:off x="9458563" y="2779157"/>
            <a:ext cx="390525" cy="895350"/>
          </a:xfrm>
          <a:custGeom>
            <a:avLst/>
            <a:gdLst>
              <a:gd name="connsiteX0" fmla="*/ 361950 w 361950"/>
              <a:gd name="connsiteY0" fmla="*/ 0 h 819150"/>
              <a:gd name="connsiteX1" fmla="*/ 257175 w 361950"/>
              <a:gd name="connsiteY1" fmla="*/ 504825 h 819150"/>
              <a:gd name="connsiteX2" fmla="*/ 0 w 361950"/>
              <a:gd name="connsiteY2" fmla="*/ 819150 h 819150"/>
            </a:gdLst>
            <a:ahLst/>
            <a:cxnLst>
              <a:cxn ang="0">
                <a:pos x="connsiteX0" y="connsiteY0"/>
              </a:cxn>
              <a:cxn ang="0">
                <a:pos x="connsiteX1" y="connsiteY1"/>
              </a:cxn>
              <a:cxn ang="0">
                <a:pos x="connsiteX2" y="connsiteY2"/>
              </a:cxn>
            </a:cxnLst>
            <a:rect l="l" t="t" r="r" b="b"/>
            <a:pathLst>
              <a:path w="361950" h="819150">
                <a:moveTo>
                  <a:pt x="361950" y="0"/>
                </a:moveTo>
                <a:cubicBezTo>
                  <a:pt x="339725" y="184150"/>
                  <a:pt x="317500" y="368300"/>
                  <a:pt x="257175" y="504825"/>
                </a:cubicBezTo>
                <a:cubicBezTo>
                  <a:pt x="196850" y="641350"/>
                  <a:pt x="98425" y="730250"/>
                  <a:pt x="0" y="819150"/>
                </a:cubicBezTo>
              </a:path>
            </a:pathLst>
          </a:custGeom>
          <a:noFill/>
          <a:ln>
            <a:solidFill>
              <a:srgbClr val="FF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0" name="Freeform 39"/>
          <p:cNvSpPr/>
          <p:nvPr/>
        </p:nvSpPr>
        <p:spPr>
          <a:xfrm>
            <a:off x="8527494" y="2779157"/>
            <a:ext cx="390525" cy="895350"/>
          </a:xfrm>
          <a:custGeom>
            <a:avLst/>
            <a:gdLst>
              <a:gd name="connsiteX0" fmla="*/ 361950 w 361950"/>
              <a:gd name="connsiteY0" fmla="*/ 0 h 819150"/>
              <a:gd name="connsiteX1" fmla="*/ 257175 w 361950"/>
              <a:gd name="connsiteY1" fmla="*/ 504825 h 819150"/>
              <a:gd name="connsiteX2" fmla="*/ 0 w 361950"/>
              <a:gd name="connsiteY2" fmla="*/ 819150 h 819150"/>
            </a:gdLst>
            <a:ahLst/>
            <a:cxnLst>
              <a:cxn ang="0">
                <a:pos x="connsiteX0" y="connsiteY0"/>
              </a:cxn>
              <a:cxn ang="0">
                <a:pos x="connsiteX1" y="connsiteY1"/>
              </a:cxn>
              <a:cxn ang="0">
                <a:pos x="connsiteX2" y="connsiteY2"/>
              </a:cxn>
            </a:cxnLst>
            <a:rect l="l" t="t" r="r" b="b"/>
            <a:pathLst>
              <a:path w="361950" h="819150">
                <a:moveTo>
                  <a:pt x="361950" y="0"/>
                </a:moveTo>
                <a:cubicBezTo>
                  <a:pt x="339725" y="184150"/>
                  <a:pt x="317500" y="368300"/>
                  <a:pt x="257175" y="504825"/>
                </a:cubicBezTo>
                <a:cubicBezTo>
                  <a:pt x="196850" y="641350"/>
                  <a:pt x="98425" y="730250"/>
                  <a:pt x="0" y="819150"/>
                </a:cubicBezTo>
              </a:path>
            </a:pathLst>
          </a:custGeom>
          <a:noFill/>
          <a:ln>
            <a:solidFill>
              <a:srgbClr val="FF0000"/>
            </a:solidFill>
            <a:tailEnd type="triangle"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1" name="TextBox 40"/>
          <p:cNvSpPr txBox="1"/>
          <p:nvPr/>
        </p:nvSpPr>
        <p:spPr>
          <a:xfrm>
            <a:off x="1710930" y="5222763"/>
            <a:ext cx="2291236" cy="646331"/>
          </a:xfrm>
          <a:prstGeom prst="rect">
            <a:avLst/>
          </a:prstGeom>
          <a:noFill/>
        </p:spPr>
        <p:txBody>
          <a:bodyPr wrap="square" rtlCol="0">
            <a:spAutoFit/>
          </a:bodyPr>
          <a:lstStyle/>
          <a:p>
            <a:pPr algn="ctr"/>
            <a:r>
              <a:rPr lang="el-GR" b="1" dirty="0">
                <a:solidFill>
                  <a:srgbClr val="0070C0"/>
                </a:solidFill>
              </a:rPr>
              <a:t>γ</a:t>
            </a:r>
            <a:r>
              <a:rPr lang="en-AU" b="1" dirty="0">
                <a:solidFill>
                  <a:srgbClr val="0070C0"/>
                </a:solidFill>
              </a:rPr>
              <a:t>-amino acid</a:t>
            </a:r>
          </a:p>
          <a:p>
            <a:pPr algn="ctr"/>
            <a:r>
              <a:rPr lang="en-AU" b="1" dirty="0">
                <a:solidFill>
                  <a:srgbClr val="0070C0"/>
                </a:solidFill>
              </a:rPr>
              <a:t>(gamma-amino acid)</a:t>
            </a:r>
          </a:p>
        </p:txBody>
      </p:sp>
      <p:sp>
        <p:nvSpPr>
          <p:cNvPr id="42" name="TextBox 41"/>
          <p:cNvSpPr txBox="1"/>
          <p:nvPr/>
        </p:nvSpPr>
        <p:spPr>
          <a:xfrm>
            <a:off x="8122210" y="5196807"/>
            <a:ext cx="2291236" cy="646331"/>
          </a:xfrm>
          <a:prstGeom prst="rect">
            <a:avLst/>
          </a:prstGeom>
          <a:noFill/>
        </p:spPr>
        <p:txBody>
          <a:bodyPr wrap="square" rtlCol="0">
            <a:spAutoFit/>
          </a:bodyPr>
          <a:lstStyle/>
          <a:p>
            <a:pPr algn="ctr"/>
            <a:r>
              <a:rPr lang="el-GR" b="1" dirty="0">
                <a:solidFill>
                  <a:srgbClr val="0070C0"/>
                </a:solidFill>
              </a:rPr>
              <a:t>β</a:t>
            </a:r>
            <a:r>
              <a:rPr lang="en-AU" b="1" dirty="0">
                <a:solidFill>
                  <a:srgbClr val="0070C0"/>
                </a:solidFill>
              </a:rPr>
              <a:t>-amino acid</a:t>
            </a:r>
          </a:p>
          <a:p>
            <a:pPr algn="ctr"/>
            <a:r>
              <a:rPr lang="en-AU" b="1" dirty="0">
                <a:solidFill>
                  <a:srgbClr val="0070C0"/>
                </a:solidFill>
              </a:rPr>
              <a:t>(beta-amino acid)</a:t>
            </a:r>
          </a:p>
        </p:txBody>
      </p:sp>
    </p:spTree>
    <p:extLst>
      <p:ext uri="{BB962C8B-B14F-4D97-AF65-F5344CB8AC3E}">
        <p14:creationId xmlns:p14="http://schemas.microsoft.com/office/powerpoint/2010/main" val="377220798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l-GR" b="1" dirty="0"/>
              <a:t>α-</a:t>
            </a:r>
            <a:r>
              <a:rPr lang="en-AU" b="1" dirty="0"/>
              <a:t>Amino acids</a:t>
            </a:r>
          </a:p>
        </p:txBody>
      </p:sp>
      <p:sp>
        <p:nvSpPr>
          <p:cNvPr id="3" name="Content Placeholder 2"/>
          <p:cNvSpPr>
            <a:spLocks noGrp="1"/>
          </p:cNvSpPr>
          <p:nvPr>
            <p:ph idx="1"/>
          </p:nvPr>
        </p:nvSpPr>
        <p:spPr>
          <a:xfrm>
            <a:off x="1097280" y="2038350"/>
            <a:ext cx="10351770" cy="2769962"/>
          </a:xfrm>
        </p:spPr>
        <p:txBody>
          <a:bodyPr>
            <a:normAutofit lnSpcReduction="10000"/>
          </a:bodyPr>
          <a:lstStyle/>
          <a:p>
            <a:r>
              <a:rPr lang="el-GR" dirty="0"/>
              <a:t>α-</a:t>
            </a:r>
            <a:r>
              <a:rPr lang="en-AU" dirty="0"/>
              <a:t>Amino acids are acids where the NH</a:t>
            </a:r>
            <a:r>
              <a:rPr lang="en-AU" baseline="-25000" dirty="0"/>
              <a:t>2</a:t>
            </a:r>
            <a:r>
              <a:rPr lang="en-AU" dirty="0"/>
              <a:t> group and the COOH group are both attached to the </a:t>
            </a:r>
            <a:br>
              <a:rPr lang="en-AU" dirty="0"/>
            </a:br>
            <a:r>
              <a:rPr lang="en-AU" b="1" dirty="0"/>
              <a:t>same carbon atom (the </a:t>
            </a:r>
            <a:r>
              <a:rPr lang="el-GR" b="1" dirty="0"/>
              <a:t>α</a:t>
            </a:r>
            <a:r>
              <a:rPr lang="en-AU" b="1" dirty="0"/>
              <a:t> carbon). </a:t>
            </a:r>
            <a:endParaRPr lang="en-AU" dirty="0"/>
          </a:p>
          <a:p>
            <a:endParaRPr lang="en-AU" dirty="0"/>
          </a:p>
          <a:p>
            <a:r>
              <a:rPr lang="el-GR" dirty="0"/>
              <a:t>α-</a:t>
            </a:r>
            <a:r>
              <a:rPr lang="en-AU" dirty="0"/>
              <a:t>Amino acids are essential chemicals in biological systems.</a:t>
            </a:r>
            <a:br>
              <a:rPr lang="en-AU" dirty="0"/>
            </a:br>
            <a:r>
              <a:rPr lang="en-AU" dirty="0"/>
              <a:t>Proteins and enzymes are composed of very large series</a:t>
            </a:r>
            <a:br>
              <a:rPr lang="en-AU" dirty="0"/>
            </a:br>
            <a:r>
              <a:rPr lang="en-AU" dirty="0"/>
              <a:t>of chemically-bonded </a:t>
            </a:r>
            <a:r>
              <a:rPr lang="el-GR" dirty="0"/>
              <a:t>α-</a:t>
            </a:r>
            <a:r>
              <a:rPr lang="en-AU" dirty="0"/>
              <a:t>amino acids.</a:t>
            </a:r>
          </a:p>
          <a:p>
            <a:endParaRPr lang="en-AU" dirty="0"/>
          </a:p>
          <a:p>
            <a:r>
              <a:rPr lang="en-AU" dirty="0"/>
              <a:t>Glycine (shown earlier) is the simplest </a:t>
            </a:r>
            <a:r>
              <a:rPr lang="el-GR" dirty="0"/>
              <a:t>α-</a:t>
            </a:r>
            <a:r>
              <a:rPr lang="en-AU" dirty="0"/>
              <a:t>amino acid.</a:t>
            </a:r>
          </a:p>
        </p:txBody>
      </p:sp>
      <p:pic>
        <p:nvPicPr>
          <p:cNvPr id="69634" name="Picture 2" descr="https://upload.wikimedia.org/wikipedia/commons/7/74/Alpha-amino-acid-general-2D.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038068" y="2399927"/>
            <a:ext cx="3676651" cy="2476727"/>
          </a:xfrm>
          <a:prstGeom prst="rect">
            <a:avLst/>
          </a:prstGeom>
          <a:noFill/>
          <a:extLst>
            <a:ext uri="{909E8E84-426E-40DD-AFC4-6F175D3DCCD1}">
              <a14:hiddenFill xmlns:a14="http://schemas.microsoft.com/office/drawing/2010/main">
                <a:solidFill>
                  <a:srgbClr val="FFFFFF"/>
                </a:solidFill>
              </a14:hiddenFill>
            </a:ext>
          </a:extLst>
        </p:spPr>
      </p:pic>
      <p:sp>
        <p:nvSpPr>
          <p:cNvPr id="24" name="TextBox 23"/>
          <p:cNvSpPr txBox="1"/>
          <p:nvPr/>
        </p:nvSpPr>
        <p:spPr>
          <a:xfrm>
            <a:off x="7951312" y="4808312"/>
            <a:ext cx="3392964" cy="369332"/>
          </a:xfrm>
          <a:prstGeom prst="rect">
            <a:avLst/>
          </a:prstGeom>
          <a:noFill/>
        </p:spPr>
        <p:txBody>
          <a:bodyPr wrap="square" rtlCol="0">
            <a:spAutoFit/>
          </a:bodyPr>
          <a:lstStyle/>
          <a:p>
            <a:pPr algn="ctr"/>
            <a:r>
              <a:rPr lang="el-GR" b="1" dirty="0">
                <a:solidFill>
                  <a:srgbClr val="0070C0"/>
                </a:solidFill>
              </a:rPr>
              <a:t>α</a:t>
            </a:r>
            <a:r>
              <a:rPr lang="en-AU" b="1" dirty="0">
                <a:solidFill>
                  <a:srgbClr val="0070C0"/>
                </a:solidFill>
              </a:rPr>
              <a:t>-amino acid</a:t>
            </a:r>
          </a:p>
        </p:txBody>
      </p:sp>
      <p:pic>
        <p:nvPicPr>
          <p:cNvPr id="69636" name="Picture 4" descr="https://upload.wikimedia.org/wikipedia/commons/6/62/Alanin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505" y="5055379"/>
            <a:ext cx="1292327" cy="840013"/>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5" descr="https://upload.wikimedia.org/wikipedia/commons/9/9b/Valine.png"/>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711359" y="5068534"/>
            <a:ext cx="1208625" cy="982888"/>
          </a:xfrm>
          <a:prstGeom prst="rect">
            <a:avLst/>
          </a:prstGeom>
          <a:noFill/>
          <a:ln>
            <a:noFill/>
          </a:ln>
        </p:spPr>
      </p:pic>
      <p:pic>
        <p:nvPicPr>
          <p:cNvPr id="27" name="Picture 26" descr="http://photos1.blogger.com/blogger/2040/1480/400/aaLeucine.jpg"/>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401542" y="4876654"/>
            <a:ext cx="1203483" cy="1244038"/>
          </a:xfrm>
          <a:prstGeom prst="rect">
            <a:avLst/>
          </a:prstGeom>
          <a:noFill/>
          <a:ln>
            <a:noFill/>
          </a:ln>
        </p:spPr>
      </p:pic>
      <p:sp>
        <p:nvSpPr>
          <p:cNvPr id="7" name="Rectangle 6"/>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graphicFrame>
        <p:nvGraphicFramePr>
          <p:cNvPr id="8" name="Object 7"/>
          <p:cNvGraphicFramePr>
            <a:graphicFrameLocks noChangeAspect="1"/>
          </p:cNvGraphicFramePr>
          <p:nvPr>
            <p:extLst>
              <p:ext uri="{D42A27DB-BD31-4B8C-83A1-F6EECF244321}">
                <p14:modId xmlns:p14="http://schemas.microsoft.com/office/powerpoint/2010/main" val="2835947093"/>
              </p:ext>
            </p:extLst>
          </p:nvPr>
        </p:nvGraphicFramePr>
        <p:xfrm>
          <a:off x="5937445" y="4899559"/>
          <a:ext cx="1166739" cy="1320837"/>
        </p:xfrm>
        <a:graphic>
          <a:graphicData uri="http://schemas.openxmlformats.org/presentationml/2006/ole">
            <mc:AlternateContent xmlns:mc="http://schemas.openxmlformats.org/markup-compatibility/2006">
              <mc:Choice xmlns:v="urn:schemas-microsoft-com:vml" Requires="v">
                <p:oleObj spid="_x0000_s69669" name="Bitmap Image" r:id="rId7" imgW="3048120" imgH="3467160" progId="Paint.Picture">
                  <p:embed/>
                </p:oleObj>
              </mc:Choice>
              <mc:Fallback>
                <p:oleObj name="Bitmap Image" r:id="rId7" imgW="3048120" imgH="3467160" progId="Paint.Picture">
                  <p:embed/>
                  <p:pic>
                    <p:nvPicPr>
                      <p:cNvPr id="0" name="Object 5"/>
                      <p:cNvPicPr>
                        <a:picLocks noChangeAspect="1" noChangeArrowheads="1"/>
                      </p:cNvPicPr>
                      <p:nvPr/>
                    </p:nvPicPr>
                    <p:blipFill>
                      <a:blip r:embed="rId8"/>
                      <a:srcRect/>
                      <a:stretch>
                        <a:fillRect/>
                      </a:stretch>
                    </p:blipFill>
                    <p:spPr bwMode="auto">
                      <a:xfrm>
                        <a:off x="5937445" y="4899559"/>
                        <a:ext cx="1166739" cy="1320837"/>
                      </a:xfrm>
                      <a:prstGeom prst="rect">
                        <a:avLst/>
                      </a:prstGeom>
                      <a:noFill/>
                    </p:spPr>
                  </p:pic>
                </p:oleObj>
              </mc:Fallback>
            </mc:AlternateContent>
          </a:graphicData>
        </a:graphic>
      </p:graphicFrame>
    </p:spTree>
    <p:extLst>
      <p:ext uri="{BB962C8B-B14F-4D97-AF65-F5344CB8AC3E}">
        <p14:creationId xmlns:p14="http://schemas.microsoft.com/office/powerpoint/2010/main" val="228590573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Chemistry of amino acids</a:t>
            </a:r>
          </a:p>
        </p:txBody>
      </p:sp>
      <p:sp>
        <p:nvSpPr>
          <p:cNvPr id="3" name="Content Placeholder 2"/>
          <p:cNvSpPr>
            <a:spLocks noGrp="1"/>
          </p:cNvSpPr>
          <p:nvPr>
            <p:ph idx="1"/>
          </p:nvPr>
        </p:nvSpPr>
        <p:spPr>
          <a:xfrm>
            <a:off x="819573" y="1845733"/>
            <a:ext cx="10613813" cy="4639734"/>
          </a:xfrm>
        </p:spPr>
        <p:txBody>
          <a:bodyPr>
            <a:normAutofit/>
          </a:bodyPr>
          <a:lstStyle/>
          <a:p>
            <a:r>
              <a:rPr lang="en-AU" dirty="0"/>
              <a:t>Properties are heavily influenced by the presence of the NH</a:t>
            </a:r>
            <a:r>
              <a:rPr lang="en-AU" baseline="-25000" dirty="0"/>
              <a:t>2</a:t>
            </a:r>
            <a:r>
              <a:rPr lang="en-AU" dirty="0"/>
              <a:t> and COOH groups</a:t>
            </a:r>
          </a:p>
          <a:p>
            <a:pPr lvl="1"/>
            <a:r>
              <a:rPr lang="en-AU" dirty="0"/>
              <a:t>NH</a:t>
            </a:r>
            <a:r>
              <a:rPr lang="en-AU" baseline="-25000" dirty="0"/>
              <a:t>2</a:t>
            </a:r>
            <a:r>
              <a:rPr lang="en-AU" dirty="0"/>
              <a:t>groups are basic – accept protons</a:t>
            </a:r>
          </a:p>
          <a:p>
            <a:pPr lvl="1"/>
            <a:r>
              <a:rPr lang="en-AU" dirty="0"/>
              <a:t>COOH groups are acidic – donate protons</a:t>
            </a:r>
          </a:p>
          <a:p>
            <a:endParaRPr lang="en-AU" dirty="0"/>
          </a:p>
          <a:p>
            <a:r>
              <a:rPr lang="en-AU" dirty="0"/>
              <a:t>In the neutral state, the COOH group donates protons to the NH</a:t>
            </a:r>
            <a:r>
              <a:rPr lang="en-AU" baseline="-25000" dirty="0"/>
              <a:t>2</a:t>
            </a:r>
            <a:r>
              <a:rPr lang="en-AU" dirty="0"/>
              <a:t> group, producing COO⁻ and NH</a:t>
            </a:r>
            <a:r>
              <a:rPr lang="en-AU" baseline="-25000" dirty="0"/>
              <a:t>3</a:t>
            </a:r>
            <a:r>
              <a:rPr lang="en-AU" baseline="30000" dirty="0"/>
              <a:t>+</a:t>
            </a:r>
          </a:p>
          <a:p>
            <a:endParaRPr lang="en-AU" baseline="30000" dirty="0"/>
          </a:p>
          <a:p>
            <a:endParaRPr lang="en-AU" baseline="30000" dirty="0"/>
          </a:p>
          <a:p>
            <a:endParaRPr lang="en-AU" baseline="30000" dirty="0"/>
          </a:p>
          <a:p>
            <a:endParaRPr lang="en-AU" baseline="30000" dirty="0"/>
          </a:p>
          <a:p>
            <a:r>
              <a:rPr lang="en-AU" dirty="0"/>
              <a:t>Molecules that have both positive and negative charges like this are called </a:t>
            </a:r>
            <a:r>
              <a:rPr lang="en-AU" b="1" dirty="0"/>
              <a:t>zwitterions</a:t>
            </a:r>
            <a:r>
              <a:rPr lang="en-AU" dirty="0"/>
              <a:t>. All amino acids in the solid state and in aqueous solutions adopt this form.</a:t>
            </a:r>
          </a:p>
        </p:txBody>
      </p:sp>
      <p:pic>
        <p:nvPicPr>
          <p:cNvPr id="6" name="Picture 5"/>
          <p:cNvPicPr>
            <a:picLocks noChangeAspect="1"/>
          </p:cNvPicPr>
          <p:nvPr/>
        </p:nvPicPr>
        <p:blipFill>
          <a:blip r:embed="rId2"/>
          <a:stretch>
            <a:fillRect/>
          </a:stretch>
        </p:blipFill>
        <p:spPr>
          <a:xfrm>
            <a:off x="4530300" y="3877733"/>
            <a:ext cx="2107567" cy="1321906"/>
          </a:xfrm>
          <a:prstGeom prst="rect">
            <a:avLst/>
          </a:prstGeom>
        </p:spPr>
      </p:pic>
    </p:spTree>
    <p:extLst>
      <p:ext uri="{BB962C8B-B14F-4D97-AF65-F5344CB8AC3E}">
        <p14:creationId xmlns:p14="http://schemas.microsoft.com/office/powerpoint/2010/main" val="20475325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Chemistry of amino acids</a:t>
            </a:r>
          </a:p>
        </p:txBody>
      </p:sp>
      <p:sp>
        <p:nvSpPr>
          <p:cNvPr id="3" name="Content Placeholder 2"/>
          <p:cNvSpPr>
            <a:spLocks noGrp="1"/>
          </p:cNvSpPr>
          <p:nvPr>
            <p:ph idx="1"/>
          </p:nvPr>
        </p:nvSpPr>
        <p:spPr>
          <a:xfrm>
            <a:off x="904875" y="1845734"/>
            <a:ext cx="10496549" cy="4307416"/>
          </a:xfrm>
        </p:spPr>
        <p:txBody>
          <a:bodyPr>
            <a:normAutofit/>
          </a:bodyPr>
          <a:lstStyle/>
          <a:p>
            <a:r>
              <a:rPr lang="en-AU" b="1" dirty="0"/>
              <a:t>Properties:</a:t>
            </a:r>
          </a:p>
          <a:p>
            <a:pPr>
              <a:buFont typeface="Arial" panose="020B0604020202020204" pitchFamily="34" charset="0"/>
              <a:buChar char="•"/>
            </a:pPr>
            <a:r>
              <a:rPr lang="en-AU" dirty="0"/>
              <a:t>How would the zwitterion form affect bonding within solid amino acids?</a:t>
            </a:r>
          </a:p>
          <a:p>
            <a:pPr>
              <a:buFont typeface="Arial" panose="020B0604020202020204" pitchFamily="34" charset="0"/>
              <a:buChar char="•"/>
            </a:pPr>
            <a:endParaRPr lang="en-AU" dirty="0"/>
          </a:p>
          <a:p>
            <a:pPr>
              <a:buFont typeface="Arial" panose="020B0604020202020204" pitchFamily="34" charset="0"/>
              <a:buChar char="•"/>
            </a:pPr>
            <a:r>
              <a:rPr lang="en-AU" dirty="0"/>
              <a:t>What would their melting points and boiling points be like?</a:t>
            </a:r>
          </a:p>
          <a:p>
            <a:pPr>
              <a:buFont typeface="Arial" panose="020B0604020202020204" pitchFamily="34" charset="0"/>
              <a:buChar char="•"/>
            </a:pPr>
            <a:endParaRPr lang="en-AU" dirty="0"/>
          </a:p>
          <a:p>
            <a:pPr>
              <a:buFont typeface="Arial" panose="020B0604020202020204" pitchFamily="34" charset="0"/>
              <a:buChar char="•"/>
            </a:pPr>
            <a:r>
              <a:rPr lang="en-AU" dirty="0"/>
              <a:t>How would the zwitterion form affect solubility of amino acids in polar solvents (e.g. water)?</a:t>
            </a:r>
          </a:p>
          <a:p>
            <a:pPr>
              <a:buFont typeface="Arial" panose="020B0604020202020204" pitchFamily="34" charset="0"/>
              <a:buChar char="•"/>
            </a:pPr>
            <a:endParaRPr lang="en-AU" dirty="0"/>
          </a:p>
          <a:p>
            <a:pPr>
              <a:buFont typeface="Arial" panose="020B0604020202020204" pitchFamily="34" charset="0"/>
              <a:buChar char="•"/>
            </a:pPr>
            <a:r>
              <a:rPr lang="en-AU" dirty="0"/>
              <a:t>How would the zwitterion form affect solubility of amino acids in non-polar solvent?</a:t>
            </a:r>
          </a:p>
        </p:txBody>
      </p:sp>
    </p:spTree>
    <p:extLst>
      <p:ext uri="{BB962C8B-B14F-4D97-AF65-F5344CB8AC3E}">
        <p14:creationId xmlns:p14="http://schemas.microsoft.com/office/powerpoint/2010/main" val="18233956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Chemistry of amino acids</a:t>
            </a:r>
          </a:p>
        </p:txBody>
      </p:sp>
      <p:sp>
        <p:nvSpPr>
          <p:cNvPr id="3" name="Content Placeholder 2"/>
          <p:cNvSpPr>
            <a:spLocks noGrp="1"/>
          </p:cNvSpPr>
          <p:nvPr>
            <p:ph idx="1"/>
          </p:nvPr>
        </p:nvSpPr>
        <p:spPr>
          <a:xfrm>
            <a:off x="904875" y="1845734"/>
            <a:ext cx="10496549" cy="4307416"/>
          </a:xfrm>
        </p:spPr>
        <p:txBody>
          <a:bodyPr/>
          <a:lstStyle/>
          <a:p>
            <a:r>
              <a:rPr lang="en-AU" dirty="0"/>
              <a:t>a) Redraw serine (below) as a zwitterion.</a:t>
            </a:r>
          </a:p>
        </p:txBody>
      </p:sp>
      <p:pic>
        <p:nvPicPr>
          <p:cNvPr id="71686" name="Picture 6" descr="https://upload.wikimedia.org/wikipedia/commons/2/27/L-Serin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8150" y="2773624"/>
            <a:ext cx="2857500" cy="24003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1589087" y="2651653"/>
            <a:ext cx="3268663" cy="2644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8" name="Rectangle 7"/>
          <p:cNvSpPr/>
          <p:nvPr/>
        </p:nvSpPr>
        <p:spPr>
          <a:xfrm>
            <a:off x="6654005" y="2651652"/>
            <a:ext cx="3268663" cy="2644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TextBox 8"/>
          <p:cNvSpPr txBox="1"/>
          <p:nvPr/>
        </p:nvSpPr>
        <p:spPr>
          <a:xfrm>
            <a:off x="2077800" y="5295896"/>
            <a:ext cx="2291236" cy="369332"/>
          </a:xfrm>
          <a:prstGeom prst="rect">
            <a:avLst/>
          </a:prstGeom>
          <a:noFill/>
        </p:spPr>
        <p:txBody>
          <a:bodyPr wrap="square" rtlCol="0">
            <a:spAutoFit/>
          </a:bodyPr>
          <a:lstStyle/>
          <a:p>
            <a:pPr algn="ctr"/>
            <a:r>
              <a:rPr lang="en-AU" b="1" dirty="0">
                <a:solidFill>
                  <a:srgbClr val="0070C0"/>
                </a:solidFill>
              </a:rPr>
              <a:t>serine</a:t>
            </a:r>
          </a:p>
        </p:txBody>
      </p:sp>
      <p:sp>
        <p:nvSpPr>
          <p:cNvPr id="10" name="TextBox 9"/>
          <p:cNvSpPr txBox="1"/>
          <p:nvPr/>
        </p:nvSpPr>
        <p:spPr>
          <a:xfrm>
            <a:off x="7142718" y="5295896"/>
            <a:ext cx="2291236" cy="369332"/>
          </a:xfrm>
          <a:prstGeom prst="rect">
            <a:avLst/>
          </a:prstGeom>
          <a:noFill/>
        </p:spPr>
        <p:txBody>
          <a:bodyPr wrap="square" rtlCol="0">
            <a:spAutoFit/>
          </a:bodyPr>
          <a:lstStyle/>
          <a:p>
            <a:pPr algn="ctr"/>
            <a:r>
              <a:rPr lang="en-AU" b="1" dirty="0">
                <a:solidFill>
                  <a:srgbClr val="0070C0"/>
                </a:solidFill>
              </a:rPr>
              <a:t>serine (zwitterion)</a:t>
            </a:r>
          </a:p>
        </p:txBody>
      </p:sp>
      <p:pic>
        <p:nvPicPr>
          <p:cNvPr id="5" name="Picture 4"/>
          <p:cNvPicPr>
            <a:picLocks noChangeAspect="1"/>
          </p:cNvPicPr>
          <p:nvPr/>
        </p:nvPicPr>
        <p:blipFill>
          <a:blip r:embed="rId3"/>
          <a:stretch>
            <a:fillRect/>
          </a:stretch>
        </p:blipFill>
        <p:spPr>
          <a:xfrm>
            <a:off x="6888161" y="2773624"/>
            <a:ext cx="2800350" cy="2362200"/>
          </a:xfrm>
          <a:prstGeom prst="rect">
            <a:avLst/>
          </a:prstGeom>
        </p:spPr>
      </p:pic>
    </p:spTree>
    <p:extLst>
      <p:ext uri="{BB962C8B-B14F-4D97-AF65-F5344CB8AC3E}">
        <p14:creationId xmlns:p14="http://schemas.microsoft.com/office/powerpoint/2010/main" val="2535232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Chemistry of amino acids</a:t>
            </a:r>
          </a:p>
        </p:txBody>
      </p:sp>
      <p:sp>
        <p:nvSpPr>
          <p:cNvPr id="3" name="Content Placeholder 2"/>
          <p:cNvSpPr>
            <a:spLocks noGrp="1"/>
          </p:cNvSpPr>
          <p:nvPr>
            <p:ph idx="1"/>
          </p:nvPr>
        </p:nvSpPr>
        <p:spPr>
          <a:xfrm>
            <a:off x="904875" y="1845734"/>
            <a:ext cx="10496549" cy="4307416"/>
          </a:xfrm>
        </p:spPr>
        <p:txBody>
          <a:bodyPr/>
          <a:lstStyle/>
          <a:p>
            <a:r>
              <a:rPr lang="en-AU" dirty="0"/>
              <a:t>b) Serine exists as a zwitterion in </a:t>
            </a:r>
            <a:r>
              <a:rPr lang="en-AU" u="sng" dirty="0"/>
              <a:t>neutral</a:t>
            </a:r>
            <a:r>
              <a:rPr lang="en-AU" dirty="0"/>
              <a:t> solutions. Write an equation showing what happens to serine when the pH of the solution is lowered </a:t>
            </a:r>
            <a:r>
              <a:rPr lang="en-AU" i="1" dirty="0"/>
              <a:t>(more acidic).</a:t>
            </a:r>
            <a:endParaRPr lang="en-AU" dirty="0"/>
          </a:p>
        </p:txBody>
      </p:sp>
      <p:sp>
        <p:nvSpPr>
          <p:cNvPr id="4" name="Rectangle 3"/>
          <p:cNvSpPr/>
          <p:nvPr/>
        </p:nvSpPr>
        <p:spPr>
          <a:xfrm>
            <a:off x="1589087" y="2651653"/>
            <a:ext cx="8802688" cy="2644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p:cNvSpPr txBox="1"/>
          <p:nvPr/>
        </p:nvSpPr>
        <p:spPr>
          <a:xfrm>
            <a:off x="5337968" y="3712166"/>
            <a:ext cx="1304925" cy="523220"/>
          </a:xfrm>
          <a:prstGeom prst="rect">
            <a:avLst/>
          </a:prstGeom>
          <a:noFill/>
        </p:spPr>
        <p:txBody>
          <a:bodyPr wrap="square" rtlCol="0">
            <a:spAutoFit/>
          </a:bodyPr>
          <a:lstStyle/>
          <a:p>
            <a:r>
              <a:rPr lang="en-AU" sz="2800" dirty="0"/>
              <a:t>+ H</a:t>
            </a:r>
            <a:r>
              <a:rPr lang="en-AU" sz="2800" baseline="30000" dirty="0"/>
              <a:t>+</a:t>
            </a:r>
            <a:r>
              <a:rPr lang="en-AU" sz="2800" dirty="0"/>
              <a:t> ⇌ </a:t>
            </a:r>
          </a:p>
        </p:txBody>
      </p:sp>
      <p:sp>
        <p:nvSpPr>
          <p:cNvPr id="11" name="TextBox 10"/>
          <p:cNvSpPr txBox="1"/>
          <p:nvPr/>
        </p:nvSpPr>
        <p:spPr>
          <a:xfrm>
            <a:off x="2142093" y="4926568"/>
            <a:ext cx="2291236" cy="369332"/>
          </a:xfrm>
          <a:prstGeom prst="rect">
            <a:avLst/>
          </a:prstGeom>
          <a:noFill/>
        </p:spPr>
        <p:txBody>
          <a:bodyPr wrap="square" rtlCol="0">
            <a:spAutoFit/>
          </a:bodyPr>
          <a:lstStyle/>
          <a:p>
            <a:pPr algn="ctr"/>
            <a:r>
              <a:rPr lang="en-AU" b="1" dirty="0">
                <a:solidFill>
                  <a:srgbClr val="0070C0"/>
                </a:solidFill>
              </a:rPr>
              <a:t>serine (zwitterion)</a:t>
            </a:r>
          </a:p>
        </p:txBody>
      </p:sp>
      <p:pic>
        <p:nvPicPr>
          <p:cNvPr id="12" name="Picture 11"/>
          <p:cNvPicPr>
            <a:picLocks noChangeAspect="1"/>
          </p:cNvPicPr>
          <p:nvPr/>
        </p:nvPicPr>
        <p:blipFill>
          <a:blip r:embed="rId2"/>
          <a:stretch>
            <a:fillRect/>
          </a:stretch>
        </p:blipFill>
        <p:spPr>
          <a:xfrm>
            <a:off x="2185985" y="2773624"/>
            <a:ext cx="2247344" cy="1895719"/>
          </a:xfrm>
          <a:prstGeom prst="rect">
            <a:avLst/>
          </a:prstGeom>
        </p:spPr>
      </p:pic>
      <p:grpSp>
        <p:nvGrpSpPr>
          <p:cNvPr id="7" name="Group 6"/>
          <p:cNvGrpSpPr/>
          <p:nvPr/>
        </p:nvGrpSpPr>
        <p:grpSpPr>
          <a:xfrm>
            <a:off x="7069693" y="2773624"/>
            <a:ext cx="2291236" cy="2522276"/>
            <a:chOff x="7069693" y="2773624"/>
            <a:chExt cx="2291236" cy="2522276"/>
          </a:xfrm>
        </p:grpSpPr>
        <p:pic>
          <p:nvPicPr>
            <p:cNvPr id="13" name="Picture 12"/>
            <p:cNvPicPr>
              <a:picLocks noChangeAspect="1"/>
            </p:cNvPicPr>
            <p:nvPr/>
          </p:nvPicPr>
          <p:blipFill>
            <a:blip r:embed="rId3"/>
            <a:stretch>
              <a:fillRect/>
            </a:stretch>
          </p:blipFill>
          <p:spPr>
            <a:xfrm>
              <a:off x="7096124" y="2773624"/>
              <a:ext cx="2238375" cy="1806793"/>
            </a:xfrm>
            <a:prstGeom prst="rect">
              <a:avLst/>
            </a:prstGeom>
          </p:spPr>
        </p:pic>
        <p:sp>
          <p:nvSpPr>
            <p:cNvPr id="14" name="TextBox 13"/>
            <p:cNvSpPr txBox="1"/>
            <p:nvPr/>
          </p:nvSpPr>
          <p:spPr>
            <a:xfrm>
              <a:off x="7069693" y="4926568"/>
              <a:ext cx="2291236" cy="369332"/>
            </a:xfrm>
            <a:prstGeom prst="rect">
              <a:avLst/>
            </a:prstGeom>
            <a:noFill/>
          </p:spPr>
          <p:txBody>
            <a:bodyPr wrap="square" rtlCol="0">
              <a:spAutoFit/>
            </a:bodyPr>
            <a:lstStyle/>
            <a:p>
              <a:pPr algn="ctr"/>
              <a:r>
                <a:rPr lang="en-AU" b="1" dirty="0">
                  <a:solidFill>
                    <a:srgbClr val="0070C0"/>
                  </a:solidFill>
                </a:rPr>
                <a:t>serine (protonated)</a:t>
              </a:r>
            </a:p>
          </p:txBody>
        </p:sp>
      </p:grpSp>
    </p:spTree>
    <p:extLst>
      <p:ext uri="{BB962C8B-B14F-4D97-AF65-F5344CB8AC3E}">
        <p14:creationId xmlns:p14="http://schemas.microsoft.com/office/powerpoint/2010/main" val="3325634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Chemistry of amino acids</a:t>
            </a:r>
          </a:p>
        </p:txBody>
      </p:sp>
      <p:sp>
        <p:nvSpPr>
          <p:cNvPr id="3" name="Content Placeholder 2"/>
          <p:cNvSpPr>
            <a:spLocks noGrp="1"/>
          </p:cNvSpPr>
          <p:nvPr>
            <p:ph idx="1"/>
          </p:nvPr>
        </p:nvSpPr>
        <p:spPr>
          <a:xfrm>
            <a:off x="904875" y="1845734"/>
            <a:ext cx="10496549" cy="4307416"/>
          </a:xfrm>
        </p:spPr>
        <p:txBody>
          <a:bodyPr/>
          <a:lstStyle/>
          <a:p>
            <a:r>
              <a:rPr lang="en-AU" dirty="0"/>
              <a:t>c) Write an equation showing what happens to serine when the pH of the solution is made basic</a:t>
            </a:r>
            <a:r>
              <a:rPr lang="en-AU" i="1" dirty="0"/>
              <a:t>.</a:t>
            </a:r>
            <a:endParaRPr lang="en-AU" dirty="0"/>
          </a:p>
        </p:txBody>
      </p:sp>
      <p:sp>
        <p:nvSpPr>
          <p:cNvPr id="4" name="Rectangle 3"/>
          <p:cNvSpPr/>
          <p:nvPr/>
        </p:nvSpPr>
        <p:spPr>
          <a:xfrm>
            <a:off x="1589087" y="2308753"/>
            <a:ext cx="8802688" cy="2644247"/>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TextBox 5"/>
          <p:cNvSpPr txBox="1"/>
          <p:nvPr/>
        </p:nvSpPr>
        <p:spPr>
          <a:xfrm>
            <a:off x="4883547" y="3369266"/>
            <a:ext cx="1566068" cy="523220"/>
          </a:xfrm>
          <a:prstGeom prst="rect">
            <a:avLst/>
          </a:prstGeom>
          <a:noFill/>
        </p:spPr>
        <p:txBody>
          <a:bodyPr wrap="square" rtlCol="0">
            <a:spAutoFit/>
          </a:bodyPr>
          <a:lstStyle/>
          <a:p>
            <a:r>
              <a:rPr lang="en-AU" sz="2800" dirty="0"/>
              <a:t>+ OH</a:t>
            </a:r>
            <a:r>
              <a:rPr lang="en-AU" sz="2800" baseline="30000" dirty="0"/>
              <a:t>-</a:t>
            </a:r>
            <a:r>
              <a:rPr lang="en-AU" sz="2800" dirty="0"/>
              <a:t> ⇌ </a:t>
            </a:r>
          </a:p>
        </p:txBody>
      </p:sp>
      <p:sp>
        <p:nvSpPr>
          <p:cNvPr id="7" name="TextBox 6"/>
          <p:cNvSpPr txBox="1"/>
          <p:nvPr/>
        </p:nvSpPr>
        <p:spPr>
          <a:xfrm>
            <a:off x="2142093" y="4583668"/>
            <a:ext cx="2291236" cy="369332"/>
          </a:xfrm>
          <a:prstGeom prst="rect">
            <a:avLst/>
          </a:prstGeom>
          <a:noFill/>
        </p:spPr>
        <p:txBody>
          <a:bodyPr wrap="square" rtlCol="0">
            <a:spAutoFit/>
          </a:bodyPr>
          <a:lstStyle/>
          <a:p>
            <a:pPr algn="ctr"/>
            <a:r>
              <a:rPr lang="en-AU" b="1" dirty="0">
                <a:solidFill>
                  <a:srgbClr val="0070C0"/>
                </a:solidFill>
              </a:rPr>
              <a:t>serine (zwitterion)</a:t>
            </a:r>
          </a:p>
        </p:txBody>
      </p:sp>
      <p:pic>
        <p:nvPicPr>
          <p:cNvPr id="8" name="Picture 7"/>
          <p:cNvPicPr>
            <a:picLocks noChangeAspect="1"/>
          </p:cNvPicPr>
          <p:nvPr/>
        </p:nvPicPr>
        <p:blipFill>
          <a:blip r:embed="rId2"/>
          <a:stretch>
            <a:fillRect/>
          </a:stretch>
        </p:blipFill>
        <p:spPr>
          <a:xfrm>
            <a:off x="2185985" y="2498351"/>
            <a:ext cx="2247344" cy="1895719"/>
          </a:xfrm>
          <a:prstGeom prst="rect">
            <a:avLst/>
          </a:prstGeom>
        </p:spPr>
      </p:pic>
      <p:grpSp>
        <p:nvGrpSpPr>
          <p:cNvPr id="11" name="Group 10"/>
          <p:cNvGrpSpPr/>
          <p:nvPr/>
        </p:nvGrpSpPr>
        <p:grpSpPr>
          <a:xfrm>
            <a:off x="7133827" y="2527047"/>
            <a:ext cx="2291236" cy="2425953"/>
            <a:chOff x="7133827" y="2527047"/>
            <a:chExt cx="2291236" cy="2425953"/>
          </a:xfrm>
        </p:grpSpPr>
        <p:pic>
          <p:nvPicPr>
            <p:cNvPr id="9" name="Picture 8"/>
            <p:cNvPicPr>
              <a:picLocks noChangeAspect="1"/>
            </p:cNvPicPr>
            <p:nvPr/>
          </p:nvPicPr>
          <p:blipFill>
            <a:blip r:embed="rId3"/>
            <a:stretch>
              <a:fillRect/>
            </a:stretch>
          </p:blipFill>
          <p:spPr>
            <a:xfrm>
              <a:off x="7133827" y="2527047"/>
              <a:ext cx="2219325" cy="1838325"/>
            </a:xfrm>
            <a:prstGeom prst="rect">
              <a:avLst/>
            </a:prstGeom>
          </p:spPr>
        </p:pic>
        <p:sp>
          <p:nvSpPr>
            <p:cNvPr id="10" name="TextBox 9"/>
            <p:cNvSpPr txBox="1"/>
            <p:nvPr/>
          </p:nvSpPr>
          <p:spPr>
            <a:xfrm>
              <a:off x="7133827" y="4583668"/>
              <a:ext cx="2291236" cy="369332"/>
            </a:xfrm>
            <a:prstGeom prst="rect">
              <a:avLst/>
            </a:prstGeom>
            <a:noFill/>
          </p:spPr>
          <p:txBody>
            <a:bodyPr wrap="square" rtlCol="0">
              <a:spAutoFit/>
            </a:bodyPr>
            <a:lstStyle/>
            <a:p>
              <a:pPr algn="ctr"/>
              <a:r>
                <a:rPr lang="en-AU" b="1" dirty="0">
                  <a:solidFill>
                    <a:srgbClr val="0070C0"/>
                  </a:solidFill>
                </a:rPr>
                <a:t>serine (deprotonated)</a:t>
              </a:r>
            </a:p>
          </p:txBody>
        </p:sp>
      </p:grpSp>
    </p:spTree>
    <p:extLst>
      <p:ext uri="{BB962C8B-B14F-4D97-AF65-F5344CB8AC3E}">
        <p14:creationId xmlns:p14="http://schemas.microsoft.com/office/powerpoint/2010/main" val="25999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Chemistry of amino acids</a:t>
            </a:r>
          </a:p>
        </p:txBody>
      </p:sp>
      <p:sp>
        <p:nvSpPr>
          <p:cNvPr id="3" name="Content Placeholder 2"/>
          <p:cNvSpPr>
            <a:spLocks noGrp="1"/>
          </p:cNvSpPr>
          <p:nvPr>
            <p:ph idx="1"/>
          </p:nvPr>
        </p:nvSpPr>
        <p:spPr>
          <a:xfrm>
            <a:off x="904875" y="1845734"/>
            <a:ext cx="10496549" cy="4307416"/>
          </a:xfrm>
        </p:spPr>
        <p:txBody>
          <a:bodyPr/>
          <a:lstStyle/>
          <a:p>
            <a:r>
              <a:rPr lang="en-AU" dirty="0"/>
              <a:t>d) Apply your understanding from the previous three questions to answer this past exam question.</a:t>
            </a:r>
          </a:p>
          <a:p>
            <a:endParaRPr lang="en-AU" dirty="0"/>
          </a:p>
          <a:p>
            <a:r>
              <a:rPr lang="en-AU" i="1" dirty="0"/>
              <a:t>The structure for the </a:t>
            </a:r>
            <a:r>
              <a:rPr lang="el-GR" i="1" dirty="0"/>
              <a:t>α-</a:t>
            </a:r>
            <a:r>
              <a:rPr lang="en-AU" i="1" dirty="0"/>
              <a:t>amino acid alanine is shown below. Redraw the structure for alanine under acidic, neutral and basic conditions.</a:t>
            </a:r>
          </a:p>
        </p:txBody>
      </p:sp>
      <p:pic>
        <p:nvPicPr>
          <p:cNvPr id="5" name="Picture 4"/>
          <p:cNvPicPr>
            <a:picLocks noChangeAspect="1"/>
          </p:cNvPicPr>
          <p:nvPr/>
        </p:nvPicPr>
        <p:blipFill>
          <a:blip r:embed="rId2"/>
          <a:stretch>
            <a:fillRect/>
          </a:stretch>
        </p:blipFill>
        <p:spPr>
          <a:xfrm>
            <a:off x="904875" y="4094692"/>
            <a:ext cx="2393176" cy="1313032"/>
          </a:xfrm>
          <a:prstGeom prst="rect">
            <a:avLst/>
          </a:prstGeom>
        </p:spPr>
      </p:pic>
      <p:graphicFrame>
        <p:nvGraphicFramePr>
          <p:cNvPr id="12" name="Table 11"/>
          <p:cNvGraphicFramePr>
            <a:graphicFrameLocks noGrp="1"/>
          </p:cNvGraphicFramePr>
          <p:nvPr>
            <p:extLst>
              <p:ext uri="{D42A27DB-BD31-4B8C-83A1-F6EECF244321}">
                <p14:modId xmlns:p14="http://schemas.microsoft.com/office/powerpoint/2010/main" val="2187988096"/>
              </p:ext>
            </p:extLst>
          </p:nvPr>
        </p:nvGraphicFramePr>
        <p:xfrm>
          <a:off x="3508375" y="3434289"/>
          <a:ext cx="8127999" cy="2385486"/>
        </p:xfrm>
        <a:graphic>
          <a:graphicData uri="http://schemas.openxmlformats.org/drawingml/2006/table">
            <a:tbl>
              <a:tblPr firstRow="1" bandRow="1">
                <a:tableStyleId>{93296810-A885-4BE3-A3E7-6D5BEEA58F35}</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413811">
                <a:tc>
                  <a:txBody>
                    <a:bodyPr/>
                    <a:lstStyle/>
                    <a:p>
                      <a:r>
                        <a:rPr lang="en-AU" dirty="0"/>
                        <a:t>Structure in acidic pH</a:t>
                      </a:r>
                    </a:p>
                  </a:txBody>
                  <a:tcPr/>
                </a:tc>
                <a:tc>
                  <a:txBody>
                    <a:bodyPr/>
                    <a:lstStyle/>
                    <a:p>
                      <a:r>
                        <a:rPr lang="en-AU" dirty="0"/>
                        <a:t>Structure in neutral pH</a:t>
                      </a:r>
                    </a:p>
                  </a:txBody>
                  <a:tcPr/>
                </a:tc>
                <a:tc>
                  <a:txBody>
                    <a:bodyPr/>
                    <a:lstStyle/>
                    <a:p>
                      <a:r>
                        <a:rPr lang="en-AU" dirty="0"/>
                        <a:t>Structure</a:t>
                      </a:r>
                      <a:r>
                        <a:rPr lang="en-AU" baseline="0" dirty="0"/>
                        <a:t> in basic pH</a:t>
                      </a:r>
                      <a:endParaRPr lang="en-AU" dirty="0"/>
                    </a:p>
                  </a:txBody>
                  <a:tcPr/>
                </a:tc>
                <a:extLst>
                  <a:ext uri="{0D108BD9-81ED-4DB2-BD59-A6C34878D82A}">
                    <a16:rowId xmlns:a16="http://schemas.microsoft.com/office/drawing/2014/main" val="10000"/>
                  </a:ext>
                </a:extLst>
              </a:tr>
              <a:tr h="1971675">
                <a:tc>
                  <a:txBody>
                    <a:bodyPr/>
                    <a:lstStyle/>
                    <a:p>
                      <a:endParaRPr lang="en-AU" dirty="0"/>
                    </a:p>
                  </a:txBody>
                  <a:tcPr/>
                </a:tc>
                <a:tc>
                  <a:txBody>
                    <a:bodyPr/>
                    <a:lstStyle/>
                    <a:p>
                      <a:endParaRPr lang="en-AU" dirty="0"/>
                    </a:p>
                  </a:txBody>
                  <a:tcPr/>
                </a:tc>
                <a:tc>
                  <a:txBody>
                    <a:bodyPr/>
                    <a:lstStyle/>
                    <a:p>
                      <a:endParaRPr lang="en-AU"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7613838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Chemistry of amino acids</a:t>
            </a:r>
          </a:p>
        </p:txBody>
      </p:sp>
      <p:sp>
        <p:nvSpPr>
          <p:cNvPr id="4" name="Content Placeholder 3"/>
          <p:cNvSpPr>
            <a:spLocks noGrp="1"/>
          </p:cNvSpPr>
          <p:nvPr>
            <p:ph idx="1"/>
          </p:nvPr>
        </p:nvSpPr>
        <p:spPr/>
        <p:txBody>
          <a:bodyPr/>
          <a:lstStyle/>
          <a:p>
            <a:endParaRPr lang="en-AU"/>
          </a:p>
        </p:txBody>
      </p:sp>
      <p:pic>
        <p:nvPicPr>
          <p:cNvPr id="7" name="Content Placeholder 3"/>
          <p:cNvPicPr>
            <a:picLocks noChangeAspect="1"/>
          </p:cNvPicPr>
          <p:nvPr/>
        </p:nvPicPr>
        <p:blipFill rotWithShape="1">
          <a:blip r:embed="rId2"/>
          <a:srcRect l="-15118" r="-15118" b="7793"/>
          <a:stretch/>
        </p:blipFill>
        <p:spPr>
          <a:xfrm>
            <a:off x="1776094" y="1845734"/>
            <a:ext cx="8700771" cy="4412191"/>
          </a:xfrm>
          <a:prstGeom prst="rect">
            <a:avLst/>
          </a:prstGeom>
        </p:spPr>
      </p:pic>
    </p:spTree>
    <p:extLst>
      <p:ext uri="{BB962C8B-B14F-4D97-AF65-F5344CB8AC3E}">
        <p14:creationId xmlns:p14="http://schemas.microsoft.com/office/powerpoint/2010/main" val="22636697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Reactions of amino acids</a:t>
            </a:r>
          </a:p>
        </p:txBody>
      </p:sp>
      <p:sp>
        <p:nvSpPr>
          <p:cNvPr id="4" name="Content Placeholder 3"/>
          <p:cNvSpPr>
            <a:spLocks noGrp="1"/>
          </p:cNvSpPr>
          <p:nvPr>
            <p:ph idx="1"/>
          </p:nvPr>
        </p:nvSpPr>
        <p:spPr/>
        <p:txBody>
          <a:bodyPr/>
          <a:lstStyle/>
          <a:p>
            <a:r>
              <a:rPr lang="en-AU" b="1" dirty="0"/>
              <a:t>Condensation reactions:</a:t>
            </a:r>
          </a:p>
          <a:p>
            <a:r>
              <a:rPr lang="en-AU" dirty="0"/>
              <a:t>Carboxylic acids react with amines to produce an amide and water.</a:t>
            </a:r>
          </a:p>
          <a:p>
            <a:endParaRPr lang="en-AU" b="1" dirty="0"/>
          </a:p>
          <a:p>
            <a:endParaRPr lang="en-AU" b="1" dirty="0"/>
          </a:p>
          <a:p>
            <a:endParaRPr lang="en-AU" b="1" dirty="0"/>
          </a:p>
          <a:p>
            <a:endParaRPr lang="en-AU" b="1" dirty="0"/>
          </a:p>
          <a:p>
            <a:endParaRPr lang="en-AU" b="1" dirty="0"/>
          </a:p>
          <a:p>
            <a:pPr marL="0" indent="0">
              <a:buNone/>
            </a:pPr>
            <a:endParaRPr lang="en-AU" dirty="0"/>
          </a:p>
        </p:txBody>
      </p:sp>
      <p:pic>
        <p:nvPicPr>
          <p:cNvPr id="75780" name="Picture 4" descr="http://www.materialsworldmodules.org/resources/polimarization/amidelinkeqn.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485" y="2713091"/>
            <a:ext cx="9289195" cy="22886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016087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Reactions of amino acids</a:t>
            </a:r>
          </a:p>
        </p:txBody>
      </p:sp>
      <p:sp>
        <p:nvSpPr>
          <p:cNvPr id="4" name="Content Placeholder 3"/>
          <p:cNvSpPr>
            <a:spLocks noGrp="1"/>
          </p:cNvSpPr>
          <p:nvPr>
            <p:ph idx="1"/>
          </p:nvPr>
        </p:nvSpPr>
        <p:spPr>
          <a:xfrm>
            <a:off x="638175" y="1845734"/>
            <a:ext cx="11010900" cy="4459816"/>
          </a:xfrm>
        </p:spPr>
        <p:txBody>
          <a:bodyPr>
            <a:normAutofit/>
          </a:bodyPr>
          <a:lstStyle/>
          <a:p>
            <a:r>
              <a:rPr lang="en-AU" dirty="0"/>
              <a:t>Amino acids have both functional groups, so the carboxylic acid of one molecule can react with the amine group of another.</a:t>
            </a:r>
          </a:p>
          <a:p>
            <a:endParaRPr lang="en-AU" dirty="0"/>
          </a:p>
          <a:p>
            <a:endParaRPr lang="en-AU" dirty="0"/>
          </a:p>
          <a:p>
            <a:endParaRPr lang="en-AU" dirty="0"/>
          </a:p>
          <a:p>
            <a:endParaRPr lang="en-AU" dirty="0"/>
          </a:p>
          <a:p>
            <a:endParaRPr lang="en-AU" dirty="0"/>
          </a:p>
          <a:p>
            <a:r>
              <a:rPr lang="en-AU" dirty="0"/>
              <a:t>The functional group joining both molecules (                        ) is called an </a:t>
            </a:r>
            <a:r>
              <a:rPr lang="en-AU" b="1" dirty="0"/>
              <a:t>amide</a:t>
            </a:r>
            <a:r>
              <a:rPr lang="en-AU" dirty="0"/>
              <a:t>.</a:t>
            </a:r>
            <a:br>
              <a:rPr lang="en-AU" dirty="0"/>
            </a:br>
            <a:r>
              <a:rPr lang="en-AU" dirty="0"/>
              <a:t/>
            </a:r>
            <a:br>
              <a:rPr lang="en-AU" dirty="0"/>
            </a:br>
            <a:endParaRPr lang="en-AU" dirty="0"/>
          </a:p>
          <a:p>
            <a:r>
              <a:rPr lang="en-AU" dirty="0"/>
              <a:t>In biological systems, this group is referred to as a</a:t>
            </a:r>
            <a:r>
              <a:rPr lang="en-AU" b="1" dirty="0"/>
              <a:t> peptide link.</a:t>
            </a:r>
            <a:r>
              <a:rPr lang="en-AU" dirty="0"/>
              <a:t> Two amino acids joined is a </a:t>
            </a:r>
            <a:r>
              <a:rPr lang="en-AU" b="1" dirty="0"/>
              <a:t>dipeptide</a:t>
            </a:r>
            <a:r>
              <a:rPr lang="en-AU" dirty="0"/>
              <a:t>.</a:t>
            </a:r>
          </a:p>
          <a:p>
            <a:endParaRPr lang="en-AU" b="1" dirty="0"/>
          </a:p>
          <a:p>
            <a:endParaRPr lang="en-AU" b="1" dirty="0"/>
          </a:p>
          <a:p>
            <a:endParaRPr lang="en-AU" b="1" dirty="0"/>
          </a:p>
          <a:p>
            <a:endParaRPr lang="en-AU" b="1" dirty="0"/>
          </a:p>
          <a:p>
            <a:endParaRPr lang="en-AU" b="1" dirty="0"/>
          </a:p>
          <a:p>
            <a:pPr marL="0" indent="0">
              <a:buNone/>
            </a:pPr>
            <a:endParaRPr lang="en-AU" dirty="0"/>
          </a:p>
        </p:txBody>
      </p:sp>
      <p:pic>
        <p:nvPicPr>
          <p:cNvPr id="5" name="Picture 2" descr="https://upload.wikimedia.org/wikipedia/commons/thumb/6/6b/Glycine-2D-flat.png/640px-Glycine-2D-fla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12532" y="2827640"/>
            <a:ext cx="2035493" cy="122447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https://upload.wikimedia.org/wikipedia/commons/thumb/6/6b/Glycine-2D-flat.png/640px-Glycine-2D-flat.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99559" y="2827639"/>
            <a:ext cx="2035493" cy="1224477"/>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p:cNvCxnSpPr/>
          <p:nvPr/>
        </p:nvCxnSpPr>
        <p:spPr>
          <a:xfrm>
            <a:off x="6305550" y="3438525"/>
            <a:ext cx="74295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3348037" y="3119765"/>
            <a:ext cx="581025" cy="523220"/>
          </a:xfrm>
          <a:prstGeom prst="rect">
            <a:avLst/>
          </a:prstGeom>
          <a:noFill/>
        </p:spPr>
        <p:txBody>
          <a:bodyPr wrap="square" rtlCol="0">
            <a:spAutoFit/>
          </a:bodyPr>
          <a:lstStyle/>
          <a:p>
            <a:r>
              <a:rPr lang="en-AU" sz="2800" dirty="0"/>
              <a:t>+</a:t>
            </a:r>
          </a:p>
        </p:txBody>
      </p:sp>
      <p:pic>
        <p:nvPicPr>
          <p:cNvPr id="80898" name="Picture 2" descr="http://2012books.lardbucket.org/books/introduction-to-chemistry-general-organic-and-biological/section_18/e11549e934cd1fbee854d2e55519b929.jpg"/>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1711" t="4389" r="40089" b="22106"/>
          <a:stretch/>
        </p:blipFill>
        <p:spPr bwMode="auto">
          <a:xfrm>
            <a:off x="5551511" y="4457002"/>
            <a:ext cx="1125514" cy="933376"/>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p:cNvSpPr/>
          <p:nvPr/>
        </p:nvSpPr>
        <p:spPr>
          <a:xfrm>
            <a:off x="1097280" y="2667000"/>
            <a:ext cx="10275570" cy="151447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39211862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66862" y="0"/>
            <a:ext cx="9463088" cy="6080932"/>
          </a:xfrm>
          <a:prstGeom prst="rect">
            <a:avLst/>
          </a:prstGeom>
        </p:spPr>
      </p:pic>
    </p:spTree>
    <p:extLst>
      <p:ext uri="{BB962C8B-B14F-4D97-AF65-F5344CB8AC3E}">
        <p14:creationId xmlns:p14="http://schemas.microsoft.com/office/powerpoint/2010/main" val="43088899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Polypeptides (proteins)</a:t>
            </a:r>
          </a:p>
        </p:txBody>
      </p:sp>
      <p:sp>
        <p:nvSpPr>
          <p:cNvPr id="3" name="Content Placeholder 2"/>
          <p:cNvSpPr>
            <a:spLocks noGrp="1"/>
          </p:cNvSpPr>
          <p:nvPr>
            <p:ph idx="1"/>
          </p:nvPr>
        </p:nvSpPr>
        <p:spPr/>
        <p:txBody>
          <a:bodyPr/>
          <a:lstStyle/>
          <a:p>
            <a:r>
              <a:rPr lang="en-AU" dirty="0"/>
              <a:t>A polypeptide is a long chain of many amino acids joined by peptide bonds. The 20 amino acids can combine in many different ways to make millions of different polypeptides.</a:t>
            </a:r>
          </a:p>
          <a:p>
            <a:r>
              <a:rPr lang="en-AU" dirty="0"/>
              <a:t>Proteins are usually made of one polypeptide chain (although some proteins have more than one). The number and sequence of the amino acids determines the properties of the protein and this affects its functions.</a:t>
            </a:r>
          </a:p>
        </p:txBody>
      </p:sp>
    </p:spTree>
    <p:extLst>
      <p:ext uri="{BB962C8B-B14F-4D97-AF65-F5344CB8AC3E}">
        <p14:creationId xmlns:p14="http://schemas.microsoft.com/office/powerpoint/2010/main" val="184585661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2" descr="http://interactive-biology.com/wp-content/uploads/2012/05/Human-Insulin-Protein-Structure-917x102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8774" y="0"/>
            <a:ext cx="6220512" cy="69485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42765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726576" y="0"/>
            <a:ext cx="11157575" cy="6858000"/>
          </a:xfrm>
          <a:prstGeom prst="rect">
            <a:avLst/>
          </a:prstGeom>
          <a:noFill/>
          <a:ln>
            <a:noFill/>
          </a:ln>
        </p:spPr>
      </p:pic>
    </p:spTree>
    <p:extLst>
      <p:ext uri="{BB962C8B-B14F-4D97-AF65-F5344CB8AC3E}">
        <p14:creationId xmlns:p14="http://schemas.microsoft.com/office/powerpoint/2010/main" val="6315234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Protein Shape and Structure</a:t>
            </a:r>
          </a:p>
        </p:txBody>
      </p:sp>
      <p:sp>
        <p:nvSpPr>
          <p:cNvPr id="3" name="Content Placeholder 2"/>
          <p:cNvSpPr>
            <a:spLocks noGrp="1"/>
          </p:cNvSpPr>
          <p:nvPr>
            <p:ph idx="1"/>
          </p:nvPr>
        </p:nvSpPr>
        <p:spPr>
          <a:xfrm>
            <a:off x="1097280" y="1845734"/>
            <a:ext cx="5010222" cy="4023360"/>
          </a:xfrm>
        </p:spPr>
        <p:txBody>
          <a:bodyPr>
            <a:normAutofit fontScale="92500" lnSpcReduction="20000"/>
          </a:bodyPr>
          <a:lstStyle/>
          <a:p>
            <a:r>
              <a:rPr lang="en-AU" dirty="0"/>
              <a:t>The function of proteins and enzymes is related to their shape, which can be quite complex. </a:t>
            </a:r>
          </a:p>
          <a:p>
            <a:r>
              <a:rPr lang="en-AU" dirty="0"/>
              <a:t>The shapes of these molecules depends on </a:t>
            </a:r>
            <a:r>
              <a:rPr lang="en-AU" b="1" dirty="0"/>
              <a:t>intermolecular forces</a:t>
            </a:r>
            <a:r>
              <a:rPr lang="en-AU" dirty="0"/>
              <a:t> between different functional groups on the polypeptide chains.</a:t>
            </a:r>
          </a:p>
          <a:p>
            <a:endParaRPr lang="en-AU" dirty="0"/>
          </a:p>
          <a:p>
            <a:r>
              <a:rPr lang="en-AU" dirty="0"/>
              <a:t>The structure of a protein can be understood on a number of levels:</a:t>
            </a:r>
          </a:p>
          <a:p>
            <a:pPr>
              <a:buFont typeface="Wingdings" panose="05000000000000000000" pitchFamily="2" charset="2"/>
              <a:buChar char="Ø"/>
            </a:pPr>
            <a:r>
              <a:rPr lang="en-AU" dirty="0"/>
              <a:t> Primary structure</a:t>
            </a:r>
          </a:p>
          <a:p>
            <a:pPr>
              <a:buFont typeface="Wingdings" panose="05000000000000000000" pitchFamily="2" charset="2"/>
              <a:buChar char="Ø"/>
            </a:pPr>
            <a:r>
              <a:rPr lang="en-AU" dirty="0"/>
              <a:t> Secondary structure</a:t>
            </a:r>
          </a:p>
          <a:p>
            <a:pPr>
              <a:buFont typeface="Wingdings" panose="05000000000000000000" pitchFamily="2" charset="2"/>
              <a:buChar char="Ø"/>
            </a:pPr>
            <a:r>
              <a:rPr lang="en-AU" dirty="0"/>
              <a:t> Tertiary structure</a:t>
            </a:r>
          </a:p>
          <a:p>
            <a:pPr>
              <a:buFont typeface="Wingdings" panose="05000000000000000000" pitchFamily="2" charset="2"/>
              <a:buChar char="Ø"/>
            </a:pPr>
            <a:r>
              <a:rPr lang="en-AU" dirty="0"/>
              <a:t> Quaternary structure   </a:t>
            </a:r>
            <a:r>
              <a:rPr lang="en-AU" sz="1700" i="1" dirty="0"/>
              <a:t>*Not in syllabus</a:t>
            </a:r>
            <a:endParaRPr lang="en-AU" i="1" dirty="0"/>
          </a:p>
        </p:txBody>
      </p:sp>
      <p:pic>
        <p:nvPicPr>
          <p:cNvPr id="4" name="Picture 3"/>
          <p:cNvPicPr>
            <a:picLocks noChangeAspect="1"/>
          </p:cNvPicPr>
          <p:nvPr/>
        </p:nvPicPr>
        <p:blipFill>
          <a:blip r:embed="rId2"/>
          <a:stretch>
            <a:fillRect/>
          </a:stretch>
        </p:blipFill>
        <p:spPr>
          <a:xfrm>
            <a:off x="6232130" y="1845734"/>
            <a:ext cx="5621731" cy="3278357"/>
          </a:xfrm>
          <a:prstGeom prst="rect">
            <a:avLst/>
          </a:prstGeom>
        </p:spPr>
      </p:pic>
    </p:spTree>
    <p:extLst>
      <p:ext uri="{BB962C8B-B14F-4D97-AF65-F5344CB8AC3E}">
        <p14:creationId xmlns:p14="http://schemas.microsoft.com/office/powerpoint/2010/main" val="411863708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Primary structure</a:t>
            </a:r>
          </a:p>
        </p:txBody>
      </p:sp>
      <p:sp>
        <p:nvSpPr>
          <p:cNvPr id="3" name="Content Placeholder 2"/>
          <p:cNvSpPr>
            <a:spLocks noGrp="1"/>
          </p:cNvSpPr>
          <p:nvPr>
            <p:ph idx="1"/>
          </p:nvPr>
        </p:nvSpPr>
        <p:spPr>
          <a:xfrm>
            <a:off x="929927" y="1845734"/>
            <a:ext cx="10393105" cy="4023360"/>
          </a:xfrm>
        </p:spPr>
        <p:txBody>
          <a:bodyPr/>
          <a:lstStyle/>
          <a:p>
            <a:r>
              <a:rPr lang="en-AU" dirty="0"/>
              <a:t>The </a:t>
            </a:r>
            <a:r>
              <a:rPr lang="en-AU" b="1" dirty="0"/>
              <a:t>primary structure </a:t>
            </a:r>
            <a:r>
              <a:rPr lang="en-AU" dirty="0"/>
              <a:t>refers to the </a:t>
            </a:r>
            <a:r>
              <a:rPr lang="en-AU" b="1" dirty="0"/>
              <a:t>number</a:t>
            </a:r>
            <a:r>
              <a:rPr lang="en-AU" dirty="0"/>
              <a:t> and </a:t>
            </a:r>
            <a:r>
              <a:rPr lang="en-AU" b="1" dirty="0"/>
              <a:t>sequence</a:t>
            </a:r>
            <a:r>
              <a:rPr lang="en-AU" dirty="0"/>
              <a:t> of amino acids in the polypeptide chain. The amino acids are joined by covalent bonds (very strong).</a:t>
            </a:r>
          </a:p>
        </p:txBody>
      </p:sp>
      <p:pic>
        <p:nvPicPr>
          <p:cNvPr id="73734" name="Picture 6" descr="http://images.tutorvista.com/content/cellular-macromolecules/protein-primary-structure.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0317" y="2666683"/>
            <a:ext cx="7992324" cy="2381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901758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Secondary structure</a:t>
            </a:r>
          </a:p>
        </p:txBody>
      </p:sp>
      <p:sp>
        <p:nvSpPr>
          <p:cNvPr id="3" name="Content Placeholder 2"/>
          <p:cNvSpPr>
            <a:spLocks noGrp="1"/>
          </p:cNvSpPr>
          <p:nvPr>
            <p:ph idx="1"/>
          </p:nvPr>
        </p:nvSpPr>
        <p:spPr>
          <a:xfrm>
            <a:off x="929928" y="1845734"/>
            <a:ext cx="7075386" cy="4023360"/>
          </a:xfrm>
        </p:spPr>
        <p:txBody>
          <a:bodyPr>
            <a:normAutofit/>
          </a:bodyPr>
          <a:lstStyle/>
          <a:p>
            <a:r>
              <a:rPr lang="en-AU" dirty="0"/>
              <a:t>The different parts of the polypeptide chain attract each other due to </a:t>
            </a:r>
            <a:r>
              <a:rPr lang="en-AU" b="1" dirty="0"/>
              <a:t>hydrogen bonds</a:t>
            </a:r>
            <a:r>
              <a:rPr lang="en-AU" dirty="0"/>
              <a:t> between the different parts of the polypeptide chains. This can lead to two different formations:</a:t>
            </a:r>
          </a:p>
          <a:p>
            <a:endParaRPr lang="en-AU" dirty="0"/>
          </a:p>
          <a:p>
            <a:pPr>
              <a:buFont typeface="Wingdings" panose="05000000000000000000" pitchFamily="2" charset="2"/>
              <a:buChar char="Ø"/>
            </a:pPr>
            <a:r>
              <a:rPr lang="en-AU" b="1" dirty="0"/>
              <a:t>Alpha helix (</a:t>
            </a:r>
            <a:r>
              <a:rPr lang="el-GR" b="1" dirty="0"/>
              <a:t>α-</a:t>
            </a:r>
            <a:r>
              <a:rPr lang="en-AU" b="1" dirty="0"/>
              <a:t>helix)</a:t>
            </a:r>
          </a:p>
          <a:p>
            <a:pPr marL="0" indent="0">
              <a:buNone/>
            </a:pPr>
            <a:r>
              <a:rPr lang="en-AU" dirty="0"/>
              <a:t>In this structure, the polypeptide is twisted into a spiral. There are hydrogen bonds between the C=O group of one part of the chain and the –NH group from another part.</a:t>
            </a:r>
          </a:p>
        </p:txBody>
      </p:sp>
      <p:pic>
        <p:nvPicPr>
          <p:cNvPr id="4" name="Picture 3"/>
          <p:cNvPicPr>
            <a:picLocks noChangeAspect="1"/>
          </p:cNvPicPr>
          <p:nvPr/>
        </p:nvPicPr>
        <p:blipFill>
          <a:blip r:embed="rId2"/>
          <a:stretch>
            <a:fillRect/>
          </a:stretch>
        </p:blipFill>
        <p:spPr>
          <a:xfrm>
            <a:off x="8798333" y="129396"/>
            <a:ext cx="1951905" cy="6069492"/>
          </a:xfrm>
          <a:prstGeom prst="rect">
            <a:avLst/>
          </a:prstGeom>
        </p:spPr>
      </p:pic>
    </p:spTree>
    <p:extLst>
      <p:ext uri="{BB962C8B-B14F-4D97-AF65-F5344CB8AC3E}">
        <p14:creationId xmlns:p14="http://schemas.microsoft.com/office/powerpoint/2010/main" val="36677530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Secondary structure</a:t>
            </a:r>
          </a:p>
        </p:txBody>
      </p:sp>
      <p:sp>
        <p:nvSpPr>
          <p:cNvPr id="3" name="Content Placeholder 2"/>
          <p:cNvSpPr>
            <a:spLocks noGrp="1"/>
          </p:cNvSpPr>
          <p:nvPr>
            <p:ph idx="1"/>
          </p:nvPr>
        </p:nvSpPr>
        <p:spPr>
          <a:xfrm>
            <a:off x="929928" y="1845734"/>
            <a:ext cx="7075386" cy="4023360"/>
          </a:xfrm>
        </p:spPr>
        <p:txBody>
          <a:bodyPr>
            <a:normAutofit/>
          </a:bodyPr>
          <a:lstStyle/>
          <a:p>
            <a:pPr>
              <a:buFont typeface="Wingdings" panose="05000000000000000000" pitchFamily="2" charset="2"/>
              <a:buChar char="Ø"/>
            </a:pPr>
            <a:r>
              <a:rPr lang="en-AU" b="1" dirty="0"/>
              <a:t>Beta pleated sheet (</a:t>
            </a:r>
            <a:r>
              <a:rPr lang="el-GR" b="1" dirty="0"/>
              <a:t>β-</a:t>
            </a:r>
            <a:r>
              <a:rPr lang="en-AU" b="1" dirty="0"/>
              <a:t>pleated sheet)</a:t>
            </a:r>
          </a:p>
          <a:p>
            <a:pPr marL="0" indent="0">
              <a:buNone/>
            </a:pPr>
            <a:r>
              <a:rPr lang="en-AU" dirty="0"/>
              <a:t>In this structure two different parts of polypeptide chain are aligned adjacent to each other. There are hydrogen bonds between C=O groups and –NH groups.</a:t>
            </a:r>
          </a:p>
        </p:txBody>
      </p:sp>
      <p:pic>
        <p:nvPicPr>
          <p:cNvPr id="5" name="Picture 4"/>
          <p:cNvPicPr>
            <a:picLocks noChangeAspect="1"/>
          </p:cNvPicPr>
          <p:nvPr/>
        </p:nvPicPr>
        <p:blipFill>
          <a:blip r:embed="rId2"/>
          <a:stretch>
            <a:fillRect/>
          </a:stretch>
        </p:blipFill>
        <p:spPr>
          <a:xfrm>
            <a:off x="8267700" y="0"/>
            <a:ext cx="3181350" cy="6200775"/>
          </a:xfrm>
          <a:prstGeom prst="rect">
            <a:avLst/>
          </a:prstGeom>
        </p:spPr>
      </p:pic>
    </p:spTree>
    <p:extLst>
      <p:ext uri="{BB962C8B-B14F-4D97-AF65-F5344CB8AC3E}">
        <p14:creationId xmlns:p14="http://schemas.microsoft.com/office/powerpoint/2010/main" val="2517742176"/>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endParaRPr lang="en-AU"/>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1678305" y="0"/>
            <a:ext cx="9199245" cy="6861619"/>
          </a:xfrm>
          <a:prstGeom prst="rect">
            <a:avLst/>
          </a:prstGeom>
          <a:noFill/>
          <a:ln>
            <a:noFill/>
          </a:ln>
        </p:spPr>
      </p:pic>
    </p:spTree>
    <p:extLst>
      <p:ext uri="{BB962C8B-B14F-4D97-AF65-F5344CB8AC3E}">
        <p14:creationId xmlns:p14="http://schemas.microsoft.com/office/powerpoint/2010/main" val="85526584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Secondary structure</a:t>
            </a:r>
          </a:p>
        </p:txBody>
      </p:sp>
      <p:sp>
        <p:nvSpPr>
          <p:cNvPr id="3" name="Content Placeholder 2"/>
          <p:cNvSpPr>
            <a:spLocks noGrp="1"/>
          </p:cNvSpPr>
          <p:nvPr>
            <p:ph idx="1"/>
          </p:nvPr>
        </p:nvSpPr>
        <p:spPr>
          <a:xfrm>
            <a:off x="929927" y="1845734"/>
            <a:ext cx="10310291" cy="4023360"/>
          </a:xfrm>
        </p:spPr>
        <p:txBody>
          <a:bodyPr>
            <a:normAutofit/>
          </a:bodyPr>
          <a:lstStyle/>
          <a:p>
            <a:r>
              <a:rPr lang="en-AU" dirty="0"/>
              <a:t>Physical properties:</a:t>
            </a:r>
          </a:p>
          <a:p>
            <a:pPr>
              <a:buFont typeface="Arial" panose="020B0604020202020204" pitchFamily="34" charset="0"/>
              <a:buChar char="•"/>
            </a:pPr>
            <a:r>
              <a:rPr lang="en-AU" dirty="0"/>
              <a:t> The alpha helix shape can lead to proteins that are elastic and stretch. </a:t>
            </a:r>
            <a:br>
              <a:rPr lang="en-AU" dirty="0"/>
            </a:br>
            <a:r>
              <a:rPr lang="en-AU" dirty="0"/>
              <a:t>e.g. elastin in elastic connective tissues of the body.</a:t>
            </a:r>
          </a:p>
          <a:p>
            <a:pPr>
              <a:buFont typeface="Arial" panose="020B0604020202020204" pitchFamily="34" charset="0"/>
              <a:buChar char="•"/>
            </a:pPr>
            <a:r>
              <a:rPr lang="en-AU" dirty="0"/>
              <a:t> The beta-pleated shape produces a protein that is flexible but not elastic. </a:t>
            </a:r>
            <a:br>
              <a:rPr lang="en-AU" dirty="0"/>
            </a:br>
            <a:r>
              <a:rPr lang="en-AU" dirty="0"/>
              <a:t>e.g. keratin in silk. </a:t>
            </a:r>
          </a:p>
          <a:p>
            <a:endParaRPr lang="en-AU" dirty="0"/>
          </a:p>
          <a:p>
            <a:endParaRPr lang="en-AU" dirty="0"/>
          </a:p>
          <a:p>
            <a:r>
              <a:rPr lang="en-AU" b="1" dirty="0"/>
              <a:t>Note: </a:t>
            </a:r>
            <a:r>
              <a:rPr lang="en-AU" dirty="0"/>
              <a:t>An individual protein can have different sections of </a:t>
            </a:r>
            <a:br>
              <a:rPr lang="en-AU" dirty="0"/>
            </a:br>
            <a:r>
              <a:rPr lang="en-AU" dirty="0"/>
              <a:t>alpha helixes </a:t>
            </a:r>
            <a:r>
              <a:rPr lang="en-AU" b="1" dirty="0"/>
              <a:t>and </a:t>
            </a:r>
            <a:r>
              <a:rPr lang="en-AU" dirty="0"/>
              <a:t>beta-pleated sheets.</a:t>
            </a:r>
          </a:p>
        </p:txBody>
      </p:sp>
      <p:pic>
        <p:nvPicPr>
          <p:cNvPr id="4" name="Picture 3"/>
          <p:cNvPicPr>
            <a:picLocks noChangeAspect="1"/>
          </p:cNvPicPr>
          <p:nvPr/>
        </p:nvPicPr>
        <p:blipFill>
          <a:blip r:embed="rId2"/>
          <a:stretch>
            <a:fillRect/>
          </a:stretch>
        </p:blipFill>
        <p:spPr>
          <a:xfrm>
            <a:off x="7532587" y="3501686"/>
            <a:ext cx="3623093" cy="2717320"/>
          </a:xfrm>
          <a:prstGeom prst="rect">
            <a:avLst/>
          </a:prstGeom>
        </p:spPr>
      </p:pic>
    </p:spTree>
    <p:extLst>
      <p:ext uri="{BB962C8B-B14F-4D97-AF65-F5344CB8AC3E}">
        <p14:creationId xmlns:p14="http://schemas.microsoft.com/office/powerpoint/2010/main" val="248238680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Tertiary Structure</a:t>
            </a:r>
          </a:p>
        </p:txBody>
      </p:sp>
      <p:sp>
        <p:nvSpPr>
          <p:cNvPr id="3" name="Content Placeholder 2"/>
          <p:cNvSpPr>
            <a:spLocks noGrp="1"/>
          </p:cNvSpPr>
          <p:nvPr>
            <p:ph idx="1"/>
          </p:nvPr>
        </p:nvSpPr>
        <p:spPr/>
        <p:txBody>
          <a:bodyPr/>
          <a:lstStyle/>
          <a:p>
            <a:r>
              <a:rPr lang="en-AU" dirty="0"/>
              <a:t>The polypeptide undergoes further folding and curling to form of the overall 3D structure. </a:t>
            </a:r>
          </a:p>
          <a:p>
            <a:r>
              <a:rPr lang="en-AU" dirty="0"/>
              <a:t>This is caused by interactions between the </a:t>
            </a:r>
            <a:r>
              <a:rPr lang="en-AU" b="1" dirty="0"/>
              <a:t>side-chains </a:t>
            </a:r>
            <a:r>
              <a:rPr lang="en-AU" dirty="0"/>
              <a:t>from the amino acids (the ‘R’ groups).</a:t>
            </a:r>
          </a:p>
        </p:txBody>
      </p:sp>
    </p:spTree>
    <p:extLst>
      <p:ext uri="{BB962C8B-B14F-4D97-AF65-F5344CB8AC3E}">
        <p14:creationId xmlns:p14="http://schemas.microsoft.com/office/powerpoint/2010/main" val="4251311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Tertiary Structure</a:t>
            </a:r>
          </a:p>
        </p:txBody>
      </p:sp>
      <p:sp>
        <p:nvSpPr>
          <p:cNvPr id="3" name="Content Placeholder 2"/>
          <p:cNvSpPr>
            <a:spLocks noGrp="1"/>
          </p:cNvSpPr>
          <p:nvPr>
            <p:ph idx="1"/>
          </p:nvPr>
        </p:nvSpPr>
        <p:spPr/>
        <p:txBody>
          <a:bodyPr/>
          <a:lstStyle/>
          <a:p>
            <a:r>
              <a:rPr lang="en-AU" b="1" u="sng" dirty="0"/>
              <a:t>Ionic Bond: </a:t>
            </a:r>
          </a:p>
          <a:p>
            <a:r>
              <a:rPr lang="en-AU" dirty="0"/>
              <a:t>When two oppositely charged R groups are near each other they can form an ionic bond</a:t>
            </a:r>
          </a:p>
          <a:p>
            <a:pPr marL="0" indent="0">
              <a:buNone/>
            </a:pPr>
            <a:endParaRPr lang="en-AU" dirty="0"/>
          </a:p>
        </p:txBody>
      </p:sp>
      <p:pic>
        <p:nvPicPr>
          <p:cNvPr id="74754" name="Picture 2" descr="http://www.chemguide.co.uk/organicprops/aminoacids/ionicbond.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732" y="2809875"/>
            <a:ext cx="4341495" cy="3267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834764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Tertiary Structure</a:t>
            </a:r>
          </a:p>
        </p:txBody>
      </p:sp>
      <p:sp>
        <p:nvSpPr>
          <p:cNvPr id="3" name="Content Placeholder 2"/>
          <p:cNvSpPr>
            <a:spLocks noGrp="1"/>
          </p:cNvSpPr>
          <p:nvPr>
            <p:ph idx="1"/>
          </p:nvPr>
        </p:nvSpPr>
        <p:spPr/>
        <p:txBody>
          <a:bodyPr/>
          <a:lstStyle/>
          <a:p>
            <a:r>
              <a:rPr lang="en-AU" b="1" u="sng" dirty="0"/>
              <a:t>Hydrogen bond:</a:t>
            </a:r>
          </a:p>
          <a:p>
            <a:r>
              <a:rPr lang="en-AU" dirty="0"/>
              <a:t>If side chains contain –OH or –NH groups then hydrogen bonds could be formed between the side chains. </a:t>
            </a:r>
          </a:p>
          <a:p>
            <a:pPr marL="0" indent="0">
              <a:buNone/>
            </a:pPr>
            <a:endParaRPr lang="en-AU" dirty="0"/>
          </a:p>
        </p:txBody>
      </p:sp>
      <p:pic>
        <p:nvPicPr>
          <p:cNvPr id="78850" name="Picture 2" descr="http://www.chemguide.co.uk/organicprops/aminoacids/serinehbond.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3975" y="2918333"/>
            <a:ext cx="4965406" cy="3218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95312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Tertiary Structure</a:t>
            </a:r>
          </a:p>
        </p:txBody>
      </p:sp>
      <p:sp>
        <p:nvSpPr>
          <p:cNvPr id="3" name="Content Placeholder 2"/>
          <p:cNvSpPr>
            <a:spLocks noGrp="1"/>
          </p:cNvSpPr>
          <p:nvPr>
            <p:ph idx="1"/>
          </p:nvPr>
        </p:nvSpPr>
        <p:spPr/>
        <p:txBody>
          <a:bodyPr/>
          <a:lstStyle/>
          <a:p>
            <a:r>
              <a:rPr lang="en-AU" b="1" u="sng" dirty="0"/>
              <a:t>Dispersion force:</a:t>
            </a:r>
          </a:p>
          <a:p>
            <a:r>
              <a:rPr lang="en-AU" dirty="0"/>
              <a:t>Some amino acids have large hydrocarbon groups with significant dispersion forces. These side chains could attract each other through dispersion forces.</a:t>
            </a:r>
          </a:p>
          <a:p>
            <a:pPr marL="0" indent="0">
              <a:buNone/>
            </a:pPr>
            <a:endParaRPr lang="en-AU" dirty="0"/>
          </a:p>
        </p:txBody>
      </p:sp>
      <p:pic>
        <p:nvPicPr>
          <p:cNvPr id="79874" name="Picture 2" descr="http://www.chemguide.co.uk/organicprops/aminoacids/hydrocarbs.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1180" y="3035300"/>
            <a:ext cx="3530600" cy="2700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287316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Tertiary Structure</a:t>
            </a:r>
          </a:p>
        </p:txBody>
      </p:sp>
      <p:sp>
        <p:nvSpPr>
          <p:cNvPr id="3" name="Content Placeholder 2"/>
          <p:cNvSpPr>
            <a:spLocks noGrp="1"/>
          </p:cNvSpPr>
          <p:nvPr>
            <p:ph idx="1"/>
          </p:nvPr>
        </p:nvSpPr>
        <p:spPr/>
        <p:txBody>
          <a:bodyPr/>
          <a:lstStyle/>
          <a:p>
            <a:r>
              <a:rPr lang="en-AU" b="1" u="sng" dirty="0" err="1"/>
              <a:t>Disulfide</a:t>
            </a:r>
            <a:r>
              <a:rPr lang="en-AU" b="1" u="sng" dirty="0"/>
              <a:t> bridges:</a:t>
            </a:r>
          </a:p>
          <a:p>
            <a:r>
              <a:rPr lang="en-AU" dirty="0" err="1"/>
              <a:t>Disulfide</a:t>
            </a:r>
            <a:r>
              <a:rPr lang="en-AU" dirty="0"/>
              <a:t> bridges are </a:t>
            </a:r>
            <a:r>
              <a:rPr lang="en-AU" b="1" dirty="0"/>
              <a:t>covalent bonds</a:t>
            </a:r>
            <a:r>
              <a:rPr lang="en-AU" dirty="0"/>
              <a:t> that form between the sulfur atoms of nearby cysteine molecules. These bonds are very strong.</a:t>
            </a:r>
          </a:p>
          <a:p>
            <a:pPr marL="0" indent="0">
              <a:buNone/>
            </a:pPr>
            <a:endParaRPr lang="en-AU" dirty="0"/>
          </a:p>
        </p:txBody>
      </p:sp>
      <p:pic>
        <p:nvPicPr>
          <p:cNvPr id="80898" name="Picture 2" descr="http://www.chemguide.co.uk/organicprops/aminoacids/cysteine.gif"/>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9598" y="3837741"/>
            <a:ext cx="1890610" cy="1365443"/>
          </a:xfrm>
          <a:prstGeom prst="rect">
            <a:avLst/>
          </a:prstGeom>
          <a:noFill/>
          <a:extLst>
            <a:ext uri="{909E8E84-426E-40DD-AFC4-6F175D3DCCD1}">
              <a14:hiddenFill xmlns:a14="http://schemas.microsoft.com/office/drawing/2010/main">
                <a:solidFill>
                  <a:srgbClr val="FFFFFF"/>
                </a:solidFill>
              </a14:hiddenFill>
            </a:ext>
          </a:extLst>
        </p:spPr>
      </p:pic>
      <p:pic>
        <p:nvPicPr>
          <p:cNvPr id="80900" name="Picture 4" descr="http://www.chemguide.co.uk/organicprops/aminoacids/sbridge.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3835" y="3063459"/>
            <a:ext cx="3559176" cy="29140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433769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281112" y="0"/>
            <a:ext cx="9839325" cy="5991225"/>
          </a:xfrm>
          <a:prstGeom prst="rect">
            <a:avLst/>
          </a:prstGeom>
        </p:spPr>
      </p:pic>
    </p:spTree>
    <p:extLst>
      <p:ext uri="{BB962C8B-B14F-4D97-AF65-F5344CB8AC3E}">
        <p14:creationId xmlns:p14="http://schemas.microsoft.com/office/powerpoint/2010/main" val="288278801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err="1"/>
              <a:t>Quarternary</a:t>
            </a:r>
            <a:r>
              <a:rPr lang="en-AU" b="1" dirty="0"/>
              <a:t> Structure</a:t>
            </a:r>
          </a:p>
        </p:txBody>
      </p:sp>
      <p:sp>
        <p:nvSpPr>
          <p:cNvPr id="3" name="Content Placeholder 2"/>
          <p:cNvSpPr>
            <a:spLocks noGrp="1"/>
          </p:cNvSpPr>
          <p:nvPr>
            <p:ph idx="1"/>
          </p:nvPr>
        </p:nvSpPr>
        <p:spPr/>
        <p:txBody>
          <a:bodyPr/>
          <a:lstStyle/>
          <a:p>
            <a:r>
              <a:rPr lang="en-AU" dirty="0"/>
              <a:t>This refers to the ways proteins with two or more polypeptide chains fit their chains together. </a:t>
            </a:r>
          </a:p>
        </p:txBody>
      </p:sp>
      <p:pic>
        <p:nvPicPr>
          <p:cNvPr id="81922" name="Picture 2" descr="https://dlc.dcccd.edu/images/biology/lesson3/quaternary_structur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6550" y="2295313"/>
            <a:ext cx="3524250" cy="33718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54543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Shape and Function</a:t>
            </a:r>
          </a:p>
        </p:txBody>
      </p:sp>
      <p:sp>
        <p:nvSpPr>
          <p:cNvPr id="3" name="Content Placeholder 2"/>
          <p:cNvSpPr>
            <a:spLocks noGrp="1"/>
          </p:cNvSpPr>
          <p:nvPr>
            <p:ph idx="1"/>
          </p:nvPr>
        </p:nvSpPr>
        <p:spPr/>
        <p:txBody>
          <a:bodyPr/>
          <a:lstStyle/>
          <a:p>
            <a:r>
              <a:rPr lang="en-AU" dirty="0"/>
              <a:t>The shape of proteins determines their function.</a:t>
            </a:r>
          </a:p>
          <a:p>
            <a:endParaRPr lang="en-AU" dirty="0"/>
          </a:p>
          <a:p>
            <a:r>
              <a:rPr lang="en-AU" i="1" dirty="0"/>
              <a:t>“</a:t>
            </a:r>
            <a:r>
              <a:rPr lang="en-AU" b="1" dirty="0"/>
              <a:t>The protein folding problem: a major conundrum of science: Ken Dill at </a:t>
            </a:r>
            <a:r>
              <a:rPr lang="en-AU" b="1" dirty="0" err="1"/>
              <a:t>TEDxSBU</a:t>
            </a:r>
            <a:r>
              <a:rPr lang="en-AU" b="1" dirty="0"/>
              <a:t>” </a:t>
            </a:r>
            <a:r>
              <a:rPr lang="en-AU" b="1" u="sng" dirty="0">
                <a:hlinkClick r:id="rId2"/>
              </a:rPr>
              <a:t>https://www.youtube.com/watch?v=zm-3kovWpNQ</a:t>
            </a:r>
            <a:r>
              <a:rPr lang="en-AU" b="1" dirty="0"/>
              <a:t> </a:t>
            </a:r>
            <a:endParaRPr lang="en-AU" dirty="0"/>
          </a:p>
          <a:p>
            <a:r>
              <a:rPr lang="en-AU" dirty="0"/>
              <a:t> </a:t>
            </a:r>
          </a:p>
        </p:txBody>
      </p:sp>
    </p:spTree>
    <p:extLst>
      <p:ext uri="{BB962C8B-B14F-4D97-AF65-F5344CB8AC3E}">
        <p14:creationId xmlns:p14="http://schemas.microsoft.com/office/powerpoint/2010/main" val="77630097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Denaturing proteins</a:t>
            </a:r>
          </a:p>
        </p:txBody>
      </p:sp>
      <p:sp>
        <p:nvSpPr>
          <p:cNvPr id="3" name="Content Placeholder 2"/>
          <p:cNvSpPr>
            <a:spLocks noGrp="1"/>
          </p:cNvSpPr>
          <p:nvPr>
            <p:ph idx="1"/>
          </p:nvPr>
        </p:nvSpPr>
        <p:spPr/>
        <p:txBody>
          <a:bodyPr/>
          <a:lstStyle/>
          <a:p>
            <a:r>
              <a:rPr lang="en-AU" dirty="0"/>
              <a:t>Proteins can become </a:t>
            </a:r>
            <a:r>
              <a:rPr lang="en-AU" b="1" dirty="0"/>
              <a:t>denatured</a:t>
            </a:r>
            <a:r>
              <a:rPr lang="en-AU" dirty="0"/>
              <a:t> and loss function depending on their environment.</a:t>
            </a:r>
          </a:p>
        </p:txBody>
      </p:sp>
      <p:pic>
        <p:nvPicPr>
          <p:cNvPr id="70658" name="Picture 2" descr="http://3.bp.blogspot.com/_cwtoon2Nz0Y/TNGzrNU0weI/AAAAAAAAAHs/xucVTMWMgUQ/s1600/protein.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4174" y="2191289"/>
            <a:ext cx="6433449" cy="26135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507957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Denaturing proteins</a:t>
            </a:r>
          </a:p>
        </p:txBody>
      </p:sp>
      <p:sp>
        <p:nvSpPr>
          <p:cNvPr id="3" name="Content Placeholder 2"/>
          <p:cNvSpPr>
            <a:spLocks noGrp="1"/>
          </p:cNvSpPr>
          <p:nvPr>
            <p:ph idx="1"/>
          </p:nvPr>
        </p:nvSpPr>
        <p:spPr/>
        <p:txBody>
          <a:bodyPr/>
          <a:lstStyle/>
          <a:p>
            <a:r>
              <a:rPr lang="en-AU" b="1" dirty="0"/>
              <a:t>Heat</a:t>
            </a:r>
            <a:r>
              <a:rPr lang="en-AU" dirty="0"/>
              <a:t> can disrupt dispersion forces and hydrogen bonds</a:t>
            </a:r>
          </a:p>
          <a:p>
            <a:endParaRPr lang="en-AU" b="1" dirty="0"/>
          </a:p>
          <a:p>
            <a:r>
              <a:rPr lang="en-AU" b="1" dirty="0"/>
              <a:t>pH</a:t>
            </a:r>
            <a:r>
              <a:rPr lang="en-AU" dirty="0"/>
              <a:t> can affect ionic bonds. Can protonate COO⁻ group or deprotonate NH</a:t>
            </a:r>
            <a:r>
              <a:rPr lang="en-AU" baseline="-25000" dirty="0"/>
              <a:t>3</a:t>
            </a:r>
            <a:r>
              <a:rPr lang="en-AU" baseline="30000" dirty="0"/>
              <a:t>+</a:t>
            </a:r>
            <a:r>
              <a:rPr lang="en-AU" dirty="0"/>
              <a:t> group.</a:t>
            </a:r>
            <a:endParaRPr lang="en-AU" b="1" dirty="0"/>
          </a:p>
          <a:p>
            <a:endParaRPr lang="en-AU" b="1" dirty="0"/>
          </a:p>
        </p:txBody>
      </p:sp>
      <p:grpSp>
        <p:nvGrpSpPr>
          <p:cNvPr id="18" name="Group 17"/>
          <p:cNvGrpSpPr/>
          <p:nvPr/>
        </p:nvGrpSpPr>
        <p:grpSpPr>
          <a:xfrm>
            <a:off x="1229264" y="3261837"/>
            <a:ext cx="9563435" cy="1297717"/>
            <a:chOff x="3532517" y="3117705"/>
            <a:chExt cx="9563435" cy="1297717"/>
          </a:xfrm>
        </p:grpSpPr>
        <p:grpSp>
          <p:nvGrpSpPr>
            <p:cNvPr id="5" name="Group 4"/>
            <p:cNvGrpSpPr/>
            <p:nvPr/>
          </p:nvGrpSpPr>
          <p:grpSpPr>
            <a:xfrm>
              <a:off x="3648974" y="3484071"/>
              <a:ext cx="1587260" cy="746685"/>
              <a:chOff x="2044461" y="3625304"/>
              <a:chExt cx="1587260" cy="746685"/>
            </a:xfrm>
          </p:grpSpPr>
          <p:sp>
            <p:nvSpPr>
              <p:cNvPr id="4" name="TextBox 3"/>
              <p:cNvSpPr txBox="1"/>
              <p:nvPr/>
            </p:nvSpPr>
            <p:spPr>
              <a:xfrm>
                <a:off x="2044461" y="4002657"/>
                <a:ext cx="1587260" cy="369332"/>
              </a:xfrm>
              <a:prstGeom prst="rect">
                <a:avLst/>
              </a:prstGeom>
              <a:noFill/>
            </p:spPr>
            <p:txBody>
              <a:bodyPr wrap="square" rtlCol="0">
                <a:spAutoFit/>
              </a:bodyPr>
              <a:lstStyle/>
              <a:p>
                <a:r>
                  <a:rPr lang="en-AU" dirty="0">
                    <a:solidFill>
                      <a:srgbClr val="0070C0"/>
                    </a:solidFill>
                  </a:rPr>
                  <a:t>-CH</a:t>
                </a:r>
                <a:r>
                  <a:rPr lang="en-AU" baseline="-25000" dirty="0">
                    <a:solidFill>
                      <a:srgbClr val="0070C0"/>
                    </a:solidFill>
                  </a:rPr>
                  <a:t>2</a:t>
                </a:r>
                <a:r>
                  <a:rPr lang="en-AU" dirty="0">
                    <a:solidFill>
                      <a:srgbClr val="0070C0"/>
                    </a:solidFill>
                  </a:rPr>
                  <a:t>CH</a:t>
                </a:r>
                <a:r>
                  <a:rPr lang="en-AU" baseline="-25000" dirty="0">
                    <a:solidFill>
                      <a:srgbClr val="0070C0"/>
                    </a:solidFill>
                  </a:rPr>
                  <a:t>2</a:t>
                </a:r>
                <a:r>
                  <a:rPr lang="en-AU" dirty="0">
                    <a:solidFill>
                      <a:srgbClr val="0070C0"/>
                    </a:solidFill>
                  </a:rPr>
                  <a:t>-C-O⁻</a:t>
                </a:r>
              </a:p>
            </p:txBody>
          </p:sp>
          <p:sp>
            <p:nvSpPr>
              <p:cNvPr id="7" name="TextBox 6"/>
              <p:cNvSpPr txBox="1"/>
              <p:nvPr/>
            </p:nvSpPr>
            <p:spPr>
              <a:xfrm>
                <a:off x="2872597" y="3864157"/>
                <a:ext cx="422694" cy="276999"/>
              </a:xfrm>
              <a:prstGeom prst="rect">
                <a:avLst/>
              </a:prstGeom>
              <a:noFill/>
            </p:spPr>
            <p:txBody>
              <a:bodyPr wrap="square" rtlCol="0">
                <a:spAutoFit/>
              </a:bodyPr>
              <a:lstStyle/>
              <a:p>
                <a:r>
                  <a:rPr lang="en-AU" sz="1200" dirty="0">
                    <a:solidFill>
                      <a:srgbClr val="0070C0"/>
                    </a:solidFill>
                  </a:rPr>
                  <a:t>||</a:t>
                </a:r>
              </a:p>
            </p:txBody>
          </p:sp>
          <p:sp>
            <p:nvSpPr>
              <p:cNvPr id="8" name="TextBox 7"/>
              <p:cNvSpPr txBox="1"/>
              <p:nvPr/>
            </p:nvSpPr>
            <p:spPr>
              <a:xfrm>
                <a:off x="2872597" y="3625304"/>
                <a:ext cx="336429" cy="369332"/>
              </a:xfrm>
              <a:prstGeom prst="rect">
                <a:avLst/>
              </a:prstGeom>
              <a:noFill/>
            </p:spPr>
            <p:txBody>
              <a:bodyPr wrap="square" rtlCol="0">
                <a:spAutoFit/>
              </a:bodyPr>
              <a:lstStyle/>
              <a:p>
                <a:r>
                  <a:rPr lang="en-AU" dirty="0">
                    <a:solidFill>
                      <a:srgbClr val="0070C0"/>
                    </a:solidFill>
                  </a:rPr>
                  <a:t>O</a:t>
                </a:r>
              </a:p>
            </p:txBody>
          </p:sp>
        </p:grpSp>
        <p:sp>
          <p:nvSpPr>
            <p:cNvPr id="6" name="Can 5"/>
            <p:cNvSpPr/>
            <p:nvPr/>
          </p:nvSpPr>
          <p:spPr>
            <a:xfrm>
              <a:off x="3532517" y="3327572"/>
              <a:ext cx="232914" cy="1051662"/>
            </a:xfrm>
            <a:prstGeom prst="ca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AU"/>
            </a:p>
          </p:txBody>
        </p:sp>
        <p:sp>
          <p:nvSpPr>
            <p:cNvPr id="11" name="Can 10"/>
            <p:cNvSpPr/>
            <p:nvPr/>
          </p:nvSpPr>
          <p:spPr>
            <a:xfrm>
              <a:off x="7405663" y="3327572"/>
              <a:ext cx="232914" cy="1051662"/>
            </a:xfrm>
            <a:prstGeom prst="ca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AU"/>
            </a:p>
          </p:txBody>
        </p:sp>
        <p:sp>
          <p:nvSpPr>
            <p:cNvPr id="13" name="TextBox 12"/>
            <p:cNvSpPr txBox="1"/>
            <p:nvPr/>
          </p:nvSpPr>
          <p:spPr>
            <a:xfrm>
              <a:off x="5365513" y="3853403"/>
              <a:ext cx="2191111" cy="369332"/>
            </a:xfrm>
            <a:prstGeom prst="rect">
              <a:avLst/>
            </a:prstGeom>
            <a:noFill/>
          </p:spPr>
          <p:txBody>
            <a:bodyPr wrap="square" rtlCol="0">
              <a:spAutoFit/>
            </a:bodyPr>
            <a:lstStyle/>
            <a:p>
              <a:r>
                <a:rPr lang="en-AU" baseline="30000" dirty="0">
                  <a:solidFill>
                    <a:srgbClr val="009644"/>
                  </a:solidFill>
                </a:rPr>
                <a:t>+</a:t>
              </a:r>
              <a:r>
                <a:rPr lang="en-AU" dirty="0">
                  <a:solidFill>
                    <a:srgbClr val="009644"/>
                  </a:solidFill>
                </a:rPr>
                <a:t>H</a:t>
              </a:r>
              <a:r>
                <a:rPr lang="en-AU" baseline="-25000" dirty="0">
                  <a:solidFill>
                    <a:srgbClr val="009644"/>
                  </a:solidFill>
                </a:rPr>
                <a:t>3</a:t>
              </a:r>
              <a:r>
                <a:rPr lang="en-AU" dirty="0">
                  <a:solidFill>
                    <a:srgbClr val="009644"/>
                  </a:solidFill>
                </a:rPr>
                <a:t>N-CH</a:t>
              </a:r>
              <a:r>
                <a:rPr lang="en-AU" baseline="-25000" dirty="0">
                  <a:solidFill>
                    <a:srgbClr val="009644"/>
                  </a:solidFill>
                </a:rPr>
                <a:t>2</a:t>
              </a:r>
              <a:r>
                <a:rPr lang="en-AU" dirty="0">
                  <a:solidFill>
                    <a:srgbClr val="009644"/>
                  </a:solidFill>
                </a:rPr>
                <a:t>CH</a:t>
              </a:r>
              <a:r>
                <a:rPr lang="en-AU" baseline="-25000" dirty="0">
                  <a:solidFill>
                    <a:srgbClr val="009644"/>
                  </a:solidFill>
                </a:rPr>
                <a:t>2</a:t>
              </a:r>
              <a:r>
                <a:rPr lang="en-AU" dirty="0">
                  <a:solidFill>
                    <a:srgbClr val="009644"/>
                  </a:solidFill>
                </a:rPr>
                <a:t>CH</a:t>
              </a:r>
              <a:r>
                <a:rPr lang="en-AU" baseline="-25000" dirty="0">
                  <a:solidFill>
                    <a:srgbClr val="009644"/>
                  </a:solidFill>
                </a:rPr>
                <a:t>2</a:t>
              </a:r>
              <a:r>
                <a:rPr lang="en-AU" dirty="0">
                  <a:solidFill>
                    <a:srgbClr val="009644"/>
                  </a:solidFill>
                </a:rPr>
                <a:t>CH</a:t>
              </a:r>
              <a:r>
                <a:rPr lang="en-AU" baseline="-25000" dirty="0">
                  <a:solidFill>
                    <a:srgbClr val="009644"/>
                  </a:solidFill>
                </a:rPr>
                <a:t>2</a:t>
              </a:r>
              <a:r>
                <a:rPr lang="en-AU" dirty="0">
                  <a:solidFill>
                    <a:srgbClr val="009644"/>
                  </a:solidFill>
                </a:rPr>
                <a:t>-</a:t>
              </a:r>
            </a:p>
          </p:txBody>
        </p:sp>
        <p:cxnSp>
          <p:nvCxnSpPr>
            <p:cNvPr id="10" name="Straight Connector 9"/>
            <p:cNvCxnSpPr>
              <a:endCxn id="13" idx="1"/>
            </p:cNvCxnSpPr>
            <p:nvPr/>
          </p:nvCxnSpPr>
          <p:spPr>
            <a:xfrm flipV="1">
              <a:off x="5029083" y="4038069"/>
              <a:ext cx="336430" cy="8022"/>
            </a:xfrm>
            <a:prstGeom prst="line">
              <a:avLst/>
            </a:prstGeom>
            <a:ln>
              <a:solidFill>
                <a:srgbClr val="FF0000"/>
              </a:solidFill>
              <a:prstDash val="dash"/>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755253" y="4138423"/>
              <a:ext cx="1565695" cy="276999"/>
            </a:xfrm>
            <a:prstGeom prst="rect">
              <a:avLst/>
            </a:prstGeom>
            <a:noFill/>
          </p:spPr>
          <p:txBody>
            <a:bodyPr wrap="square" rtlCol="0">
              <a:spAutoFit/>
            </a:bodyPr>
            <a:lstStyle/>
            <a:p>
              <a:r>
                <a:rPr lang="en-AU" sz="1200" dirty="0">
                  <a:solidFill>
                    <a:srgbClr val="FF0000"/>
                  </a:solidFill>
                </a:rPr>
                <a:t>Ionic bond</a:t>
              </a:r>
            </a:p>
          </p:txBody>
        </p:sp>
        <p:sp>
          <p:nvSpPr>
            <p:cNvPr id="35" name="TextBox 34"/>
            <p:cNvSpPr txBox="1"/>
            <p:nvPr/>
          </p:nvSpPr>
          <p:spPr>
            <a:xfrm>
              <a:off x="11102180" y="3117705"/>
              <a:ext cx="1993772" cy="461665"/>
            </a:xfrm>
            <a:prstGeom prst="rect">
              <a:avLst/>
            </a:prstGeom>
            <a:noFill/>
          </p:spPr>
          <p:txBody>
            <a:bodyPr wrap="square" rtlCol="0">
              <a:spAutoFit/>
            </a:bodyPr>
            <a:lstStyle/>
            <a:p>
              <a:r>
                <a:rPr lang="en-AU" sz="1200" dirty="0">
                  <a:solidFill>
                    <a:srgbClr val="FF0000"/>
                  </a:solidFill>
                </a:rPr>
                <a:t>Protonated COO⁻ group is </a:t>
              </a:r>
              <a:br>
                <a:rPr lang="en-AU" sz="1200" dirty="0">
                  <a:solidFill>
                    <a:srgbClr val="FF0000"/>
                  </a:solidFill>
                </a:rPr>
              </a:br>
              <a:r>
                <a:rPr lang="en-AU" sz="1200" dirty="0">
                  <a:solidFill>
                    <a:srgbClr val="FF0000"/>
                  </a:solidFill>
                </a:rPr>
                <a:t>no longer negatively charged</a:t>
              </a:r>
            </a:p>
          </p:txBody>
        </p:sp>
      </p:grpSp>
      <p:grpSp>
        <p:nvGrpSpPr>
          <p:cNvPr id="20" name="Group 19"/>
          <p:cNvGrpSpPr/>
          <p:nvPr/>
        </p:nvGrpSpPr>
        <p:grpSpPr>
          <a:xfrm rot="20375834">
            <a:off x="7181849" y="3243908"/>
            <a:ext cx="1703717" cy="1051662"/>
            <a:chOff x="7049620" y="3313489"/>
            <a:chExt cx="1703717" cy="1051662"/>
          </a:xfrm>
        </p:grpSpPr>
        <p:grpSp>
          <p:nvGrpSpPr>
            <p:cNvPr id="22" name="Group 21"/>
            <p:cNvGrpSpPr/>
            <p:nvPr/>
          </p:nvGrpSpPr>
          <p:grpSpPr>
            <a:xfrm>
              <a:off x="7166077" y="3469988"/>
              <a:ext cx="1587260" cy="746685"/>
              <a:chOff x="2044461" y="3625304"/>
              <a:chExt cx="1587260" cy="746685"/>
            </a:xfrm>
          </p:grpSpPr>
          <p:sp>
            <p:nvSpPr>
              <p:cNvPr id="28" name="TextBox 27"/>
              <p:cNvSpPr txBox="1"/>
              <p:nvPr/>
            </p:nvSpPr>
            <p:spPr>
              <a:xfrm>
                <a:off x="2044461" y="4002657"/>
                <a:ext cx="1587260" cy="369332"/>
              </a:xfrm>
              <a:prstGeom prst="rect">
                <a:avLst/>
              </a:prstGeom>
              <a:noFill/>
            </p:spPr>
            <p:txBody>
              <a:bodyPr wrap="square" rtlCol="0">
                <a:spAutoFit/>
              </a:bodyPr>
              <a:lstStyle/>
              <a:p>
                <a:r>
                  <a:rPr lang="en-AU" dirty="0">
                    <a:solidFill>
                      <a:srgbClr val="0070C0"/>
                    </a:solidFill>
                  </a:rPr>
                  <a:t>-CH</a:t>
                </a:r>
                <a:r>
                  <a:rPr lang="en-AU" baseline="-25000" dirty="0">
                    <a:solidFill>
                      <a:srgbClr val="0070C0"/>
                    </a:solidFill>
                  </a:rPr>
                  <a:t>2</a:t>
                </a:r>
                <a:r>
                  <a:rPr lang="en-AU" dirty="0">
                    <a:solidFill>
                      <a:srgbClr val="0070C0"/>
                    </a:solidFill>
                  </a:rPr>
                  <a:t>CH</a:t>
                </a:r>
                <a:r>
                  <a:rPr lang="en-AU" baseline="-25000" dirty="0">
                    <a:solidFill>
                      <a:srgbClr val="0070C0"/>
                    </a:solidFill>
                  </a:rPr>
                  <a:t>2</a:t>
                </a:r>
                <a:r>
                  <a:rPr lang="en-AU" dirty="0">
                    <a:solidFill>
                      <a:srgbClr val="0070C0"/>
                    </a:solidFill>
                  </a:rPr>
                  <a:t>-C-OH</a:t>
                </a:r>
              </a:p>
            </p:txBody>
          </p:sp>
          <p:sp>
            <p:nvSpPr>
              <p:cNvPr id="29" name="TextBox 28"/>
              <p:cNvSpPr txBox="1"/>
              <p:nvPr/>
            </p:nvSpPr>
            <p:spPr>
              <a:xfrm>
                <a:off x="2872597" y="3864157"/>
                <a:ext cx="422694" cy="276999"/>
              </a:xfrm>
              <a:prstGeom prst="rect">
                <a:avLst/>
              </a:prstGeom>
              <a:noFill/>
            </p:spPr>
            <p:txBody>
              <a:bodyPr wrap="square" rtlCol="0">
                <a:spAutoFit/>
              </a:bodyPr>
              <a:lstStyle/>
              <a:p>
                <a:r>
                  <a:rPr lang="en-AU" sz="1200" dirty="0">
                    <a:solidFill>
                      <a:srgbClr val="0070C0"/>
                    </a:solidFill>
                  </a:rPr>
                  <a:t>||</a:t>
                </a:r>
              </a:p>
            </p:txBody>
          </p:sp>
          <p:sp>
            <p:nvSpPr>
              <p:cNvPr id="30" name="TextBox 29"/>
              <p:cNvSpPr txBox="1"/>
              <p:nvPr/>
            </p:nvSpPr>
            <p:spPr>
              <a:xfrm>
                <a:off x="2872597" y="3625304"/>
                <a:ext cx="336429" cy="369332"/>
              </a:xfrm>
              <a:prstGeom prst="rect">
                <a:avLst/>
              </a:prstGeom>
              <a:noFill/>
            </p:spPr>
            <p:txBody>
              <a:bodyPr wrap="square" rtlCol="0">
                <a:spAutoFit/>
              </a:bodyPr>
              <a:lstStyle/>
              <a:p>
                <a:r>
                  <a:rPr lang="en-AU" dirty="0">
                    <a:solidFill>
                      <a:srgbClr val="0070C0"/>
                    </a:solidFill>
                  </a:rPr>
                  <a:t>O</a:t>
                </a:r>
              </a:p>
            </p:txBody>
          </p:sp>
        </p:grpSp>
        <p:sp>
          <p:nvSpPr>
            <p:cNvPr id="23" name="Can 22"/>
            <p:cNvSpPr/>
            <p:nvPr/>
          </p:nvSpPr>
          <p:spPr>
            <a:xfrm>
              <a:off x="7049620" y="3313489"/>
              <a:ext cx="232914" cy="1051662"/>
            </a:xfrm>
            <a:prstGeom prst="ca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AU"/>
            </a:p>
          </p:txBody>
        </p:sp>
      </p:grpSp>
      <p:grpSp>
        <p:nvGrpSpPr>
          <p:cNvPr id="19" name="Group 18"/>
          <p:cNvGrpSpPr/>
          <p:nvPr/>
        </p:nvGrpSpPr>
        <p:grpSpPr>
          <a:xfrm>
            <a:off x="9482047" y="3404207"/>
            <a:ext cx="2273064" cy="1051662"/>
            <a:chOff x="8882616" y="3313489"/>
            <a:chExt cx="2273064" cy="1051662"/>
          </a:xfrm>
        </p:grpSpPr>
        <p:sp>
          <p:nvSpPr>
            <p:cNvPr id="24" name="Can 23"/>
            <p:cNvSpPr/>
            <p:nvPr/>
          </p:nvSpPr>
          <p:spPr>
            <a:xfrm>
              <a:off x="10922766" y="3313489"/>
              <a:ext cx="232914" cy="1051662"/>
            </a:xfrm>
            <a:prstGeom prst="ca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AU"/>
            </a:p>
          </p:txBody>
        </p:sp>
        <p:sp>
          <p:nvSpPr>
            <p:cNvPr id="25" name="TextBox 24"/>
            <p:cNvSpPr txBox="1"/>
            <p:nvPr/>
          </p:nvSpPr>
          <p:spPr>
            <a:xfrm>
              <a:off x="8882616" y="3839320"/>
              <a:ext cx="2191111" cy="369332"/>
            </a:xfrm>
            <a:prstGeom prst="rect">
              <a:avLst/>
            </a:prstGeom>
            <a:noFill/>
          </p:spPr>
          <p:txBody>
            <a:bodyPr wrap="square" rtlCol="0">
              <a:spAutoFit/>
            </a:bodyPr>
            <a:lstStyle/>
            <a:p>
              <a:r>
                <a:rPr lang="en-AU" baseline="30000" dirty="0">
                  <a:solidFill>
                    <a:srgbClr val="009644"/>
                  </a:solidFill>
                </a:rPr>
                <a:t>+</a:t>
              </a:r>
              <a:r>
                <a:rPr lang="en-AU" dirty="0">
                  <a:solidFill>
                    <a:srgbClr val="009644"/>
                  </a:solidFill>
                </a:rPr>
                <a:t>H</a:t>
              </a:r>
              <a:r>
                <a:rPr lang="en-AU" baseline="-25000" dirty="0">
                  <a:solidFill>
                    <a:srgbClr val="009644"/>
                  </a:solidFill>
                </a:rPr>
                <a:t>3</a:t>
              </a:r>
              <a:r>
                <a:rPr lang="en-AU" dirty="0">
                  <a:solidFill>
                    <a:srgbClr val="009644"/>
                  </a:solidFill>
                </a:rPr>
                <a:t>N-CH</a:t>
              </a:r>
              <a:r>
                <a:rPr lang="en-AU" baseline="-25000" dirty="0">
                  <a:solidFill>
                    <a:srgbClr val="009644"/>
                  </a:solidFill>
                </a:rPr>
                <a:t>2</a:t>
              </a:r>
              <a:r>
                <a:rPr lang="en-AU" dirty="0">
                  <a:solidFill>
                    <a:srgbClr val="009644"/>
                  </a:solidFill>
                </a:rPr>
                <a:t>CH</a:t>
              </a:r>
              <a:r>
                <a:rPr lang="en-AU" baseline="-25000" dirty="0">
                  <a:solidFill>
                    <a:srgbClr val="009644"/>
                  </a:solidFill>
                </a:rPr>
                <a:t>2</a:t>
              </a:r>
              <a:r>
                <a:rPr lang="en-AU" dirty="0">
                  <a:solidFill>
                    <a:srgbClr val="009644"/>
                  </a:solidFill>
                </a:rPr>
                <a:t>CH</a:t>
              </a:r>
              <a:r>
                <a:rPr lang="en-AU" baseline="-25000" dirty="0">
                  <a:solidFill>
                    <a:srgbClr val="009644"/>
                  </a:solidFill>
                </a:rPr>
                <a:t>2</a:t>
              </a:r>
              <a:r>
                <a:rPr lang="en-AU" dirty="0">
                  <a:solidFill>
                    <a:srgbClr val="009644"/>
                  </a:solidFill>
                </a:rPr>
                <a:t>CH</a:t>
              </a:r>
              <a:r>
                <a:rPr lang="en-AU" baseline="-25000" dirty="0">
                  <a:solidFill>
                    <a:srgbClr val="009644"/>
                  </a:solidFill>
                </a:rPr>
                <a:t>2</a:t>
              </a:r>
              <a:r>
                <a:rPr lang="en-AU" dirty="0">
                  <a:solidFill>
                    <a:srgbClr val="009644"/>
                  </a:solidFill>
                </a:rPr>
                <a:t>-</a:t>
              </a:r>
            </a:p>
          </p:txBody>
        </p:sp>
      </p:grpSp>
      <p:sp>
        <p:nvSpPr>
          <p:cNvPr id="31" name="Rectangle 30"/>
          <p:cNvSpPr/>
          <p:nvPr/>
        </p:nvSpPr>
        <p:spPr>
          <a:xfrm>
            <a:off x="785004" y="3119998"/>
            <a:ext cx="5003321" cy="1564145"/>
          </a:xfrm>
          <a:prstGeom prst="rect">
            <a:avLst/>
          </a:prstGeom>
          <a:noFill/>
        </p:spPr>
        <p:style>
          <a:lnRef idx="2">
            <a:schemeClr val="dk1"/>
          </a:lnRef>
          <a:fillRef idx="1">
            <a:schemeClr val="lt1"/>
          </a:fillRef>
          <a:effectRef idx="0">
            <a:schemeClr val="dk1"/>
          </a:effectRef>
          <a:fontRef idx="minor">
            <a:schemeClr val="dk1"/>
          </a:fontRef>
        </p:style>
        <p:txBody>
          <a:bodyPr rtlCol="0" anchor="t" anchorCtr="0"/>
          <a:lstStyle/>
          <a:p>
            <a:r>
              <a:rPr lang="en-AU" sz="1400" b="1" dirty="0"/>
              <a:t>Intermediate pH</a:t>
            </a:r>
          </a:p>
        </p:txBody>
      </p:sp>
      <p:sp>
        <p:nvSpPr>
          <p:cNvPr id="34" name="Rectangle 33"/>
          <p:cNvSpPr/>
          <p:nvPr/>
        </p:nvSpPr>
        <p:spPr>
          <a:xfrm>
            <a:off x="6702492" y="3119998"/>
            <a:ext cx="5297406" cy="1564145"/>
          </a:xfrm>
          <a:prstGeom prst="rect">
            <a:avLst/>
          </a:prstGeom>
          <a:noFill/>
        </p:spPr>
        <p:style>
          <a:lnRef idx="2">
            <a:schemeClr val="dk1"/>
          </a:lnRef>
          <a:fillRef idx="1">
            <a:schemeClr val="lt1"/>
          </a:fillRef>
          <a:effectRef idx="0">
            <a:schemeClr val="dk1"/>
          </a:effectRef>
          <a:fontRef idx="minor">
            <a:schemeClr val="dk1"/>
          </a:fontRef>
        </p:style>
        <p:txBody>
          <a:bodyPr rtlCol="0" anchor="t" anchorCtr="0"/>
          <a:lstStyle/>
          <a:p>
            <a:r>
              <a:rPr lang="en-AU" sz="1400" b="1" dirty="0"/>
              <a:t>Low pH   </a:t>
            </a:r>
            <a:r>
              <a:rPr lang="en-AU" sz="1400" b="1" i="1" dirty="0"/>
              <a:t>(high acidity)</a:t>
            </a:r>
          </a:p>
        </p:txBody>
      </p:sp>
    </p:spTree>
    <p:extLst>
      <p:ext uri="{BB962C8B-B14F-4D97-AF65-F5344CB8AC3E}">
        <p14:creationId xmlns:p14="http://schemas.microsoft.com/office/powerpoint/2010/main" val="2582084300"/>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b="1" dirty="0"/>
              <a:t>Denaturing proteins</a:t>
            </a:r>
          </a:p>
        </p:txBody>
      </p:sp>
      <p:sp>
        <p:nvSpPr>
          <p:cNvPr id="3" name="Content Placeholder 2"/>
          <p:cNvSpPr>
            <a:spLocks noGrp="1"/>
          </p:cNvSpPr>
          <p:nvPr>
            <p:ph idx="1"/>
          </p:nvPr>
        </p:nvSpPr>
        <p:spPr>
          <a:xfrm>
            <a:off x="1097280" y="1845734"/>
            <a:ext cx="10561320" cy="4023360"/>
          </a:xfrm>
        </p:spPr>
        <p:txBody>
          <a:bodyPr/>
          <a:lstStyle/>
          <a:p>
            <a:r>
              <a:rPr lang="en-AU" b="1" dirty="0"/>
              <a:t>Reducing agents</a:t>
            </a:r>
            <a:r>
              <a:rPr lang="en-AU" dirty="0"/>
              <a:t> chemically react with </a:t>
            </a:r>
            <a:r>
              <a:rPr lang="en-AU" dirty="0" err="1"/>
              <a:t>disulfide</a:t>
            </a:r>
            <a:r>
              <a:rPr lang="en-AU" dirty="0"/>
              <a:t> bridges, converting them back to thiol groups (-SH)</a:t>
            </a:r>
          </a:p>
          <a:p>
            <a:endParaRPr lang="en-AU" b="1" dirty="0"/>
          </a:p>
        </p:txBody>
      </p:sp>
      <p:grpSp>
        <p:nvGrpSpPr>
          <p:cNvPr id="14" name="Group 13"/>
          <p:cNvGrpSpPr/>
          <p:nvPr/>
        </p:nvGrpSpPr>
        <p:grpSpPr>
          <a:xfrm>
            <a:off x="2877482" y="2690654"/>
            <a:ext cx="1737284" cy="1051662"/>
            <a:chOff x="1229264" y="3471704"/>
            <a:chExt cx="1737284" cy="1051662"/>
          </a:xfrm>
        </p:grpSpPr>
        <p:sp>
          <p:nvSpPr>
            <p:cNvPr id="4" name="TextBox 3"/>
            <p:cNvSpPr txBox="1"/>
            <p:nvPr/>
          </p:nvSpPr>
          <p:spPr>
            <a:xfrm>
              <a:off x="1379288" y="3994570"/>
              <a:ext cx="1587260" cy="369332"/>
            </a:xfrm>
            <a:prstGeom prst="rect">
              <a:avLst/>
            </a:prstGeom>
            <a:noFill/>
          </p:spPr>
          <p:txBody>
            <a:bodyPr wrap="square" rtlCol="0">
              <a:spAutoFit/>
            </a:bodyPr>
            <a:lstStyle/>
            <a:p>
              <a:r>
                <a:rPr lang="en-AU" dirty="0">
                  <a:solidFill>
                    <a:srgbClr val="0070C0"/>
                  </a:solidFill>
                </a:rPr>
                <a:t>– CH</a:t>
              </a:r>
              <a:r>
                <a:rPr lang="en-AU" baseline="-25000" dirty="0">
                  <a:solidFill>
                    <a:srgbClr val="0070C0"/>
                  </a:solidFill>
                </a:rPr>
                <a:t>2 </a:t>
              </a:r>
              <a:r>
                <a:rPr lang="en-AU" dirty="0">
                  <a:solidFill>
                    <a:srgbClr val="0070C0"/>
                  </a:solidFill>
                </a:rPr>
                <a:t>– S </a:t>
              </a:r>
              <a:r>
                <a:rPr lang="en-AU" dirty="0">
                  <a:solidFill>
                    <a:srgbClr val="FF0000"/>
                  </a:solidFill>
                </a:rPr>
                <a:t>–</a:t>
              </a:r>
            </a:p>
          </p:txBody>
        </p:sp>
        <p:sp>
          <p:nvSpPr>
            <p:cNvPr id="6" name="Can 5"/>
            <p:cNvSpPr/>
            <p:nvPr/>
          </p:nvSpPr>
          <p:spPr>
            <a:xfrm>
              <a:off x="1229264" y="3471704"/>
              <a:ext cx="232914" cy="1051662"/>
            </a:xfrm>
            <a:prstGeom prst="ca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AU"/>
            </a:p>
          </p:txBody>
        </p:sp>
      </p:grpSp>
      <p:grpSp>
        <p:nvGrpSpPr>
          <p:cNvPr id="12" name="Group 11"/>
          <p:cNvGrpSpPr/>
          <p:nvPr/>
        </p:nvGrpSpPr>
        <p:grpSpPr>
          <a:xfrm>
            <a:off x="4042410" y="2686708"/>
            <a:ext cx="1231059" cy="1051662"/>
            <a:chOff x="3062260" y="3471704"/>
            <a:chExt cx="1231059" cy="1051662"/>
          </a:xfrm>
        </p:grpSpPr>
        <p:sp>
          <p:nvSpPr>
            <p:cNvPr id="11" name="Can 10"/>
            <p:cNvSpPr/>
            <p:nvPr/>
          </p:nvSpPr>
          <p:spPr>
            <a:xfrm>
              <a:off x="3976427" y="3471704"/>
              <a:ext cx="232914" cy="1051662"/>
            </a:xfrm>
            <a:prstGeom prst="ca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AU"/>
            </a:p>
          </p:txBody>
        </p:sp>
        <p:sp>
          <p:nvSpPr>
            <p:cNvPr id="13" name="TextBox 12"/>
            <p:cNvSpPr txBox="1"/>
            <p:nvPr/>
          </p:nvSpPr>
          <p:spPr>
            <a:xfrm>
              <a:off x="3062260" y="3997535"/>
              <a:ext cx="1231059" cy="369332"/>
            </a:xfrm>
            <a:prstGeom prst="rect">
              <a:avLst/>
            </a:prstGeom>
            <a:noFill/>
          </p:spPr>
          <p:txBody>
            <a:bodyPr wrap="square" rtlCol="0">
              <a:spAutoFit/>
            </a:bodyPr>
            <a:lstStyle/>
            <a:p>
              <a:r>
                <a:rPr lang="en-AU" dirty="0">
                  <a:solidFill>
                    <a:srgbClr val="009644"/>
                  </a:solidFill>
                </a:rPr>
                <a:t>S – CH</a:t>
              </a:r>
              <a:r>
                <a:rPr lang="en-AU" baseline="-25000" dirty="0">
                  <a:solidFill>
                    <a:srgbClr val="009644"/>
                  </a:solidFill>
                </a:rPr>
                <a:t>2</a:t>
              </a:r>
              <a:r>
                <a:rPr lang="en-AU" dirty="0">
                  <a:solidFill>
                    <a:srgbClr val="009644"/>
                  </a:solidFill>
                </a:rPr>
                <a:t> –</a:t>
              </a:r>
            </a:p>
          </p:txBody>
        </p:sp>
      </p:grpSp>
      <p:sp>
        <p:nvSpPr>
          <p:cNvPr id="31" name="Rectangle 30"/>
          <p:cNvSpPr/>
          <p:nvPr/>
        </p:nvSpPr>
        <p:spPr>
          <a:xfrm>
            <a:off x="2433222" y="2338948"/>
            <a:ext cx="3320271" cy="1564145"/>
          </a:xfrm>
          <a:prstGeom prst="rect">
            <a:avLst/>
          </a:prstGeom>
          <a:noFill/>
        </p:spPr>
        <p:style>
          <a:lnRef idx="2">
            <a:schemeClr val="dk1"/>
          </a:lnRef>
          <a:fillRef idx="1">
            <a:schemeClr val="lt1"/>
          </a:fillRef>
          <a:effectRef idx="0">
            <a:schemeClr val="dk1"/>
          </a:effectRef>
          <a:fontRef idx="minor">
            <a:schemeClr val="dk1"/>
          </a:fontRef>
        </p:style>
        <p:txBody>
          <a:bodyPr rtlCol="0" anchor="t" anchorCtr="0"/>
          <a:lstStyle/>
          <a:p>
            <a:r>
              <a:rPr lang="en-AU" sz="1400" b="1" dirty="0"/>
              <a:t>Oxidised form   (</a:t>
            </a:r>
            <a:r>
              <a:rPr lang="en-AU" sz="1400" b="1" dirty="0" err="1"/>
              <a:t>disulfide</a:t>
            </a:r>
            <a:r>
              <a:rPr lang="en-AU" sz="1400" b="1" dirty="0"/>
              <a:t> bridge present)</a:t>
            </a:r>
          </a:p>
        </p:txBody>
      </p:sp>
      <p:grpSp>
        <p:nvGrpSpPr>
          <p:cNvPr id="32" name="Group 31"/>
          <p:cNvGrpSpPr/>
          <p:nvPr/>
        </p:nvGrpSpPr>
        <p:grpSpPr>
          <a:xfrm rot="21037215">
            <a:off x="7212206" y="2602290"/>
            <a:ext cx="1737285" cy="1051662"/>
            <a:chOff x="1229263" y="3471703"/>
            <a:chExt cx="1737285" cy="1051662"/>
          </a:xfrm>
        </p:grpSpPr>
        <p:sp>
          <p:nvSpPr>
            <p:cNvPr id="33" name="TextBox 32"/>
            <p:cNvSpPr txBox="1"/>
            <p:nvPr/>
          </p:nvSpPr>
          <p:spPr>
            <a:xfrm>
              <a:off x="1379288" y="3994570"/>
              <a:ext cx="1587260" cy="369332"/>
            </a:xfrm>
            <a:prstGeom prst="rect">
              <a:avLst/>
            </a:prstGeom>
            <a:noFill/>
          </p:spPr>
          <p:txBody>
            <a:bodyPr wrap="square" rtlCol="0">
              <a:spAutoFit/>
            </a:bodyPr>
            <a:lstStyle/>
            <a:p>
              <a:r>
                <a:rPr lang="en-AU" dirty="0">
                  <a:solidFill>
                    <a:srgbClr val="0070C0"/>
                  </a:solidFill>
                </a:rPr>
                <a:t>– CH</a:t>
              </a:r>
              <a:r>
                <a:rPr lang="en-AU" baseline="-25000" dirty="0">
                  <a:solidFill>
                    <a:srgbClr val="0070C0"/>
                  </a:solidFill>
                </a:rPr>
                <a:t>2 </a:t>
              </a:r>
              <a:r>
                <a:rPr lang="en-AU" dirty="0">
                  <a:solidFill>
                    <a:srgbClr val="0070C0"/>
                  </a:solidFill>
                </a:rPr>
                <a:t>– S – H</a:t>
              </a:r>
              <a:endParaRPr lang="en-AU" dirty="0">
                <a:solidFill>
                  <a:srgbClr val="FF0000"/>
                </a:solidFill>
              </a:endParaRPr>
            </a:p>
          </p:txBody>
        </p:sp>
        <p:sp>
          <p:nvSpPr>
            <p:cNvPr id="36" name="Can 35"/>
            <p:cNvSpPr/>
            <p:nvPr/>
          </p:nvSpPr>
          <p:spPr>
            <a:xfrm>
              <a:off x="1229263" y="3471703"/>
              <a:ext cx="232914" cy="1051662"/>
            </a:xfrm>
            <a:prstGeom prst="can">
              <a:avLst/>
            </a:prstGeom>
          </p:spPr>
          <p:style>
            <a:lnRef idx="1">
              <a:schemeClr val="accent5"/>
            </a:lnRef>
            <a:fillRef idx="3">
              <a:schemeClr val="accent5"/>
            </a:fillRef>
            <a:effectRef idx="2">
              <a:schemeClr val="accent5"/>
            </a:effectRef>
            <a:fontRef idx="minor">
              <a:schemeClr val="lt1"/>
            </a:fontRef>
          </p:style>
          <p:txBody>
            <a:bodyPr rtlCol="0" anchor="ctr"/>
            <a:lstStyle/>
            <a:p>
              <a:pPr algn="ctr"/>
              <a:endParaRPr lang="en-AU"/>
            </a:p>
          </p:txBody>
        </p:sp>
      </p:grpSp>
      <p:grpSp>
        <p:nvGrpSpPr>
          <p:cNvPr id="37" name="Group 36"/>
          <p:cNvGrpSpPr/>
          <p:nvPr/>
        </p:nvGrpSpPr>
        <p:grpSpPr>
          <a:xfrm rot="20417982">
            <a:off x="8791993" y="2753816"/>
            <a:ext cx="1523143" cy="1051662"/>
            <a:chOff x="2686198" y="3471705"/>
            <a:chExt cx="1523143" cy="1051662"/>
          </a:xfrm>
        </p:grpSpPr>
        <p:sp>
          <p:nvSpPr>
            <p:cNvPr id="38" name="Can 37"/>
            <p:cNvSpPr/>
            <p:nvPr/>
          </p:nvSpPr>
          <p:spPr>
            <a:xfrm>
              <a:off x="3976427" y="3471705"/>
              <a:ext cx="232914" cy="1051662"/>
            </a:xfrm>
            <a:prstGeom prst="can">
              <a:avLst/>
            </a:prstGeom>
          </p:spPr>
          <p:style>
            <a:lnRef idx="1">
              <a:schemeClr val="accent2"/>
            </a:lnRef>
            <a:fillRef idx="3">
              <a:schemeClr val="accent2"/>
            </a:fillRef>
            <a:effectRef idx="2">
              <a:schemeClr val="accent2"/>
            </a:effectRef>
            <a:fontRef idx="minor">
              <a:schemeClr val="lt1"/>
            </a:fontRef>
          </p:style>
          <p:txBody>
            <a:bodyPr rtlCol="0" anchor="ctr"/>
            <a:lstStyle/>
            <a:p>
              <a:pPr algn="ctr"/>
              <a:endParaRPr lang="en-AU"/>
            </a:p>
          </p:txBody>
        </p:sp>
        <p:sp>
          <p:nvSpPr>
            <p:cNvPr id="39" name="TextBox 38"/>
            <p:cNvSpPr txBox="1"/>
            <p:nvPr/>
          </p:nvSpPr>
          <p:spPr>
            <a:xfrm>
              <a:off x="2686198" y="4017199"/>
              <a:ext cx="1496790" cy="369332"/>
            </a:xfrm>
            <a:prstGeom prst="rect">
              <a:avLst/>
            </a:prstGeom>
            <a:noFill/>
          </p:spPr>
          <p:txBody>
            <a:bodyPr wrap="square" rtlCol="0">
              <a:spAutoFit/>
            </a:bodyPr>
            <a:lstStyle/>
            <a:p>
              <a:r>
                <a:rPr lang="en-AU" dirty="0">
                  <a:solidFill>
                    <a:srgbClr val="009644"/>
                  </a:solidFill>
                </a:rPr>
                <a:t>H – S – CH</a:t>
              </a:r>
              <a:r>
                <a:rPr lang="en-AU" baseline="-25000" dirty="0">
                  <a:solidFill>
                    <a:srgbClr val="009644"/>
                  </a:solidFill>
                </a:rPr>
                <a:t>2</a:t>
              </a:r>
              <a:r>
                <a:rPr lang="en-AU" dirty="0">
                  <a:solidFill>
                    <a:srgbClr val="009644"/>
                  </a:solidFill>
                </a:rPr>
                <a:t> –</a:t>
              </a:r>
            </a:p>
          </p:txBody>
        </p:sp>
      </p:grpSp>
      <p:sp>
        <p:nvSpPr>
          <p:cNvPr id="40" name="Rectangle 39"/>
          <p:cNvSpPr/>
          <p:nvPr/>
        </p:nvSpPr>
        <p:spPr>
          <a:xfrm>
            <a:off x="6894188" y="2338949"/>
            <a:ext cx="3640462" cy="1563652"/>
          </a:xfrm>
          <a:prstGeom prst="rect">
            <a:avLst/>
          </a:prstGeom>
          <a:noFill/>
        </p:spPr>
        <p:style>
          <a:lnRef idx="2">
            <a:schemeClr val="dk1"/>
          </a:lnRef>
          <a:fillRef idx="1">
            <a:schemeClr val="lt1"/>
          </a:fillRef>
          <a:effectRef idx="0">
            <a:schemeClr val="dk1"/>
          </a:effectRef>
          <a:fontRef idx="minor">
            <a:schemeClr val="dk1"/>
          </a:fontRef>
        </p:style>
        <p:txBody>
          <a:bodyPr rtlCol="0" anchor="t" anchorCtr="0"/>
          <a:lstStyle/>
          <a:p>
            <a:r>
              <a:rPr lang="en-AU" sz="1400" b="1" dirty="0"/>
              <a:t>Reduced form  (thiol groups present)</a:t>
            </a:r>
          </a:p>
        </p:txBody>
      </p:sp>
    </p:spTree>
    <p:extLst>
      <p:ext uri="{BB962C8B-B14F-4D97-AF65-F5344CB8AC3E}">
        <p14:creationId xmlns:p14="http://schemas.microsoft.com/office/powerpoint/2010/main" val="2342195713"/>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6B9F25"/>
      </a:hlink>
      <a:folHlink>
        <a:srgbClr val="B26B02"/>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D26EA377-59BD-4C9C-9D94-EE8416EE4C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16325</TotalTime>
  <Words>3524</Words>
  <Application>Microsoft Office PowerPoint</Application>
  <PresentationFormat>Widescreen</PresentationFormat>
  <Paragraphs>811</Paragraphs>
  <Slides>108</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108</vt:i4>
      </vt:variant>
    </vt:vector>
  </HeadingPairs>
  <TitlesOfParts>
    <vt:vector size="116" baseType="lpstr">
      <vt:lpstr>Arial</vt:lpstr>
      <vt:lpstr>Calibri</vt:lpstr>
      <vt:lpstr>Calibri Light</vt:lpstr>
      <vt:lpstr>Cambria Math</vt:lpstr>
      <vt:lpstr>Times New Roman</vt:lpstr>
      <vt:lpstr>Wingdings</vt:lpstr>
      <vt:lpstr>Retrospect</vt:lpstr>
      <vt:lpstr>Bitmap Image</vt:lpstr>
      <vt:lpstr>Organic  Chemistry</vt:lpstr>
      <vt:lpstr>Organic chemistry</vt:lpstr>
      <vt:lpstr>Types of hydrocarbons</vt:lpstr>
      <vt:lpstr>Types of hydrocarbons</vt:lpstr>
      <vt:lpstr>Classifying hydrocarbons</vt:lpstr>
      <vt:lpstr>Classifying hydrocarbons - Examples</vt:lpstr>
      <vt:lpstr>Over to you…</vt:lpstr>
      <vt:lpstr>Physical properties of hydrocarbons</vt:lpstr>
      <vt:lpstr>Physical properties of hydrocarbons</vt:lpstr>
      <vt:lpstr>Isomers</vt:lpstr>
      <vt:lpstr>PowerPoint Presentation</vt:lpstr>
      <vt:lpstr>Isomers – Effect on properties</vt:lpstr>
      <vt:lpstr>Naming Alkanes</vt:lpstr>
      <vt:lpstr>Naming Alkanes</vt:lpstr>
      <vt:lpstr>Naming Alkanes</vt:lpstr>
      <vt:lpstr>Naming alkenes</vt:lpstr>
      <vt:lpstr>Naming alkenes</vt:lpstr>
      <vt:lpstr>Geometric isomers</vt:lpstr>
      <vt:lpstr>Geometric isomers</vt:lpstr>
      <vt:lpstr>Combustion reactions</vt:lpstr>
      <vt:lpstr>Substitution Reactions</vt:lpstr>
      <vt:lpstr>Substitution Reactions</vt:lpstr>
      <vt:lpstr>Substitution Reactions</vt:lpstr>
      <vt:lpstr>Addition Reactions</vt:lpstr>
      <vt:lpstr>Addition Reactions</vt:lpstr>
      <vt:lpstr>Addition Reactions</vt:lpstr>
      <vt:lpstr>Chemical tests for alkanes and alkenes</vt:lpstr>
      <vt:lpstr>Reaction flowchart</vt:lpstr>
      <vt:lpstr>Functional groups</vt:lpstr>
      <vt:lpstr>Functional groups</vt:lpstr>
      <vt:lpstr>Identifying functional groups</vt:lpstr>
      <vt:lpstr>PowerPoint Presentation</vt:lpstr>
      <vt:lpstr>PowerPoint Presentation</vt:lpstr>
      <vt:lpstr>2007 TEE Exam:</vt:lpstr>
      <vt:lpstr>Alcohols</vt:lpstr>
      <vt:lpstr>Alcohols</vt:lpstr>
      <vt:lpstr>Alcohols</vt:lpstr>
      <vt:lpstr>Alcohol – Naming questions</vt:lpstr>
      <vt:lpstr>Aldehydes</vt:lpstr>
      <vt:lpstr>Ketones   (pronounced ‘key-tones’)</vt:lpstr>
      <vt:lpstr>PowerPoint Presentation</vt:lpstr>
      <vt:lpstr>Carboxylic acids</vt:lpstr>
      <vt:lpstr>Carboxylic acids</vt:lpstr>
      <vt:lpstr>PowerPoint Presentation</vt:lpstr>
      <vt:lpstr>PowerPoint Presentation</vt:lpstr>
      <vt:lpstr>Functional Groups &amp; Properties</vt:lpstr>
      <vt:lpstr>Functional Groups &amp; Properties</vt:lpstr>
      <vt:lpstr>Functional Groups &amp; Properties</vt:lpstr>
      <vt:lpstr>Classification of alcohols</vt:lpstr>
      <vt:lpstr>Classification of alcohols</vt:lpstr>
      <vt:lpstr>Classification of alcohols</vt:lpstr>
      <vt:lpstr>Classification of alcohols</vt:lpstr>
      <vt:lpstr>Classification of alcohols</vt:lpstr>
      <vt:lpstr>Classification of alcohols</vt:lpstr>
      <vt:lpstr>Classification of alcohols</vt:lpstr>
      <vt:lpstr>Physical properties of alcohols (cont.)</vt:lpstr>
      <vt:lpstr>Physical properties of alcohols (cont.)</vt:lpstr>
      <vt:lpstr>Reactions of alcohols – Oxidation </vt:lpstr>
      <vt:lpstr>Esters</vt:lpstr>
      <vt:lpstr>Reactions that produce esters</vt:lpstr>
      <vt:lpstr>Naming esters</vt:lpstr>
      <vt:lpstr>Naming esters</vt:lpstr>
      <vt:lpstr>PowerPoint Presentation</vt:lpstr>
      <vt:lpstr>Properties of esters</vt:lpstr>
      <vt:lpstr>Properties of esters</vt:lpstr>
      <vt:lpstr>Reactions of esters</vt:lpstr>
      <vt:lpstr>Reactions of esters</vt:lpstr>
      <vt:lpstr>PowerPoint Presentation</vt:lpstr>
      <vt:lpstr>PowerPoint Presentation</vt:lpstr>
      <vt:lpstr>Amines</vt:lpstr>
      <vt:lpstr>PowerPoint Presentation</vt:lpstr>
      <vt:lpstr>Properties of amines</vt:lpstr>
      <vt:lpstr>PowerPoint Presentation</vt:lpstr>
      <vt:lpstr>PowerPoint Presentation</vt:lpstr>
      <vt:lpstr>PowerPoint Presentation</vt:lpstr>
      <vt:lpstr>Amino acids</vt:lpstr>
      <vt:lpstr>Amino acids</vt:lpstr>
      <vt:lpstr>α-Amino acids</vt:lpstr>
      <vt:lpstr>Chemistry of amino acids</vt:lpstr>
      <vt:lpstr>Chemistry of amino acids</vt:lpstr>
      <vt:lpstr>Chemistry of amino acids</vt:lpstr>
      <vt:lpstr>Chemistry of amino acids</vt:lpstr>
      <vt:lpstr>Chemistry of amino acids</vt:lpstr>
      <vt:lpstr>Chemistry of amino acids</vt:lpstr>
      <vt:lpstr>Chemistry of amino acids</vt:lpstr>
      <vt:lpstr>Reactions of amino acids</vt:lpstr>
      <vt:lpstr>Reactions of amino acids</vt:lpstr>
      <vt:lpstr>PowerPoint Presentation</vt:lpstr>
      <vt:lpstr>Polypeptides (proteins)</vt:lpstr>
      <vt:lpstr>PowerPoint Presentation</vt:lpstr>
      <vt:lpstr>PowerPoint Presentation</vt:lpstr>
      <vt:lpstr>Protein Shape and Structure</vt:lpstr>
      <vt:lpstr>Primary structure</vt:lpstr>
      <vt:lpstr>Secondary structure</vt:lpstr>
      <vt:lpstr>Secondary structure</vt:lpstr>
      <vt:lpstr>PowerPoint Presentation</vt:lpstr>
      <vt:lpstr>Secondary structure</vt:lpstr>
      <vt:lpstr>Tertiary Structure</vt:lpstr>
      <vt:lpstr>Tertiary Structure</vt:lpstr>
      <vt:lpstr>Tertiary Structure</vt:lpstr>
      <vt:lpstr>Tertiary Structure</vt:lpstr>
      <vt:lpstr>Tertiary Structure</vt:lpstr>
      <vt:lpstr>PowerPoint Presentation</vt:lpstr>
      <vt:lpstr>Quarternary Structure</vt:lpstr>
      <vt:lpstr>Shape and Function</vt:lpstr>
      <vt:lpstr>Denaturing proteins</vt:lpstr>
      <vt:lpstr>Denaturing proteins</vt:lpstr>
      <vt:lpstr>Denaturing proteins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Reduction and Oxidation</dc:title>
  <dc:creator>Hayden McKenna</dc:creator>
  <cp:lastModifiedBy>D'CRUZ Jijy [Safety Bay Senior High School]</cp:lastModifiedBy>
  <cp:revision>226</cp:revision>
  <dcterms:created xsi:type="dcterms:W3CDTF">2015-06-01T11:27:54Z</dcterms:created>
  <dcterms:modified xsi:type="dcterms:W3CDTF">2018-06-18T12:24:49Z</dcterms:modified>
</cp:coreProperties>
</file>